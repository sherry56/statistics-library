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handoutMasterIdLst>
    <p:handoutMasterId r:id="rId106"/>
  </p:handoutMasterIdLst>
  <p:sldIdLst>
    <p:sldId id="264" r:id="rId2"/>
    <p:sldId id="373" r:id="rId3"/>
    <p:sldId id="265" r:id="rId4"/>
    <p:sldId id="266" r:id="rId5"/>
    <p:sldId id="269" r:id="rId6"/>
    <p:sldId id="271" r:id="rId7"/>
    <p:sldId id="272" r:id="rId8"/>
    <p:sldId id="273" r:id="rId9"/>
    <p:sldId id="276" r:id="rId10"/>
    <p:sldId id="274"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53" r:id="rId88"/>
    <p:sldId id="354" r:id="rId89"/>
    <p:sldId id="355" r:id="rId90"/>
    <p:sldId id="356" r:id="rId91"/>
    <p:sldId id="357" r:id="rId92"/>
    <p:sldId id="358" r:id="rId93"/>
    <p:sldId id="359" r:id="rId94"/>
    <p:sldId id="360" r:id="rId95"/>
    <p:sldId id="361" r:id="rId96"/>
    <p:sldId id="362" r:id="rId97"/>
    <p:sldId id="363" r:id="rId98"/>
    <p:sldId id="364" r:id="rId99"/>
    <p:sldId id="365" r:id="rId100"/>
    <p:sldId id="366" r:id="rId101"/>
    <p:sldId id="367" r:id="rId102"/>
    <p:sldId id="368" r:id="rId103"/>
    <p:sldId id="371" r:id="rId10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5209" autoAdjust="0"/>
  </p:normalViewPr>
  <p:slideViewPr>
    <p:cSldViewPr snapToGrid="0">
      <p:cViewPr varScale="1">
        <p:scale>
          <a:sx n="157" d="100"/>
          <a:sy n="157" d="100"/>
        </p:scale>
        <p:origin x="162" y="408"/>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Lst>
  </p:outlineViewPr>
  <p:notesTextViewPr>
    <p:cViewPr>
      <p:scale>
        <a:sx n="1" d="1"/>
        <a:sy n="1" d="1"/>
      </p:scale>
      <p:origin x="0" y="0"/>
    </p:cViewPr>
  </p:notesTextViewPr>
  <p:notesViewPr>
    <p:cSldViewPr snapToGrid="0">
      <p:cViewPr varScale="1">
        <p:scale>
          <a:sx n="63" d="100"/>
          <a:sy n="63" d="100"/>
        </p:scale>
        <p:origin x="1986"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_rels/viewProps.xml.rels><?xml version="1.0" encoding="UTF-8" standalone="yes"?>
<Relationships xmlns="http://schemas.openxmlformats.org/package/2006/relationships"><Relationship Id="rId13" Type="http://schemas.openxmlformats.org/officeDocument/2006/relationships/slide" Target="slides/slide21.xml"/><Relationship Id="rId18" Type="http://schemas.openxmlformats.org/officeDocument/2006/relationships/slide" Target="slides/slide28.xml"/><Relationship Id="rId26" Type="http://schemas.openxmlformats.org/officeDocument/2006/relationships/slide" Target="slides/slide43.xml"/><Relationship Id="rId39" Type="http://schemas.openxmlformats.org/officeDocument/2006/relationships/slide" Target="slides/slide69.xml"/><Relationship Id="rId21" Type="http://schemas.openxmlformats.org/officeDocument/2006/relationships/slide" Target="slides/slide36.xml"/><Relationship Id="rId34" Type="http://schemas.openxmlformats.org/officeDocument/2006/relationships/slide" Target="slides/slide59.xml"/><Relationship Id="rId42" Type="http://schemas.openxmlformats.org/officeDocument/2006/relationships/slide" Target="slides/slide75.xml"/><Relationship Id="rId47" Type="http://schemas.openxmlformats.org/officeDocument/2006/relationships/slide" Target="slides/slide85.xml"/><Relationship Id="rId50" Type="http://schemas.openxmlformats.org/officeDocument/2006/relationships/slide" Target="slides/slide88.xml"/><Relationship Id="rId55" Type="http://schemas.openxmlformats.org/officeDocument/2006/relationships/slide" Target="slides/slide94.xml"/><Relationship Id="rId7" Type="http://schemas.openxmlformats.org/officeDocument/2006/relationships/slide" Target="slides/slide13.xml"/><Relationship Id="rId12" Type="http://schemas.openxmlformats.org/officeDocument/2006/relationships/slide" Target="slides/slide19.xml"/><Relationship Id="rId17" Type="http://schemas.openxmlformats.org/officeDocument/2006/relationships/slide" Target="slides/slide26.xml"/><Relationship Id="rId25" Type="http://schemas.openxmlformats.org/officeDocument/2006/relationships/slide" Target="slides/slide42.xml"/><Relationship Id="rId33" Type="http://schemas.openxmlformats.org/officeDocument/2006/relationships/slide" Target="slides/slide58.xml"/><Relationship Id="rId38" Type="http://schemas.openxmlformats.org/officeDocument/2006/relationships/slide" Target="slides/slide67.xml"/><Relationship Id="rId46" Type="http://schemas.openxmlformats.org/officeDocument/2006/relationships/slide" Target="slides/slide84.xml"/><Relationship Id="rId2" Type="http://schemas.openxmlformats.org/officeDocument/2006/relationships/slide" Target="slides/slide4.xml"/><Relationship Id="rId16" Type="http://schemas.openxmlformats.org/officeDocument/2006/relationships/slide" Target="slides/slide25.xml"/><Relationship Id="rId20" Type="http://schemas.openxmlformats.org/officeDocument/2006/relationships/slide" Target="slides/slide31.xml"/><Relationship Id="rId29" Type="http://schemas.openxmlformats.org/officeDocument/2006/relationships/slide" Target="slides/slide53.xml"/><Relationship Id="rId41" Type="http://schemas.openxmlformats.org/officeDocument/2006/relationships/slide" Target="slides/slide74.xml"/><Relationship Id="rId54" Type="http://schemas.openxmlformats.org/officeDocument/2006/relationships/slide" Target="slides/slide92.xml"/><Relationship Id="rId1" Type="http://schemas.openxmlformats.org/officeDocument/2006/relationships/slide" Target="slides/slide1.xml"/><Relationship Id="rId6" Type="http://schemas.openxmlformats.org/officeDocument/2006/relationships/slide" Target="slides/slide9.xml"/><Relationship Id="rId11" Type="http://schemas.openxmlformats.org/officeDocument/2006/relationships/slide" Target="slides/slide18.xml"/><Relationship Id="rId24" Type="http://schemas.openxmlformats.org/officeDocument/2006/relationships/slide" Target="slides/slide40.xml"/><Relationship Id="rId32" Type="http://schemas.openxmlformats.org/officeDocument/2006/relationships/slide" Target="slides/slide56.xml"/><Relationship Id="rId37" Type="http://schemas.openxmlformats.org/officeDocument/2006/relationships/slide" Target="slides/slide66.xml"/><Relationship Id="rId40" Type="http://schemas.openxmlformats.org/officeDocument/2006/relationships/slide" Target="slides/slide73.xml"/><Relationship Id="rId45" Type="http://schemas.openxmlformats.org/officeDocument/2006/relationships/slide" Target="slides/slide78.xml"/><Relationship Id="rId53" Type="http://schemas.openxmlformats.org/officeDocument/2006/relationships/slide" Target="slides/slide91.xml"/><Relationship Id="rId58" Type="http://schemas.openxmlformats.org/officeDocument/2006/relationships/slide" Target="slides/slide103.xml"/><Relationship Id="rId5" Type="http://schemas.openxmlformats.org/officeDocument/2006/relationships/slide" Target="slides/slide7.xml"/><Relationship Id="rId15" Type="http://schemas.openxmlformats.org/officeDocument/2006/relationships/slide" Target="slides/slide24.xml"/><Relationship Id="rId23" Type="http://schemas.openxmlformats.org/officeDocument/2006/relationships/slide" Target="slides/slide39.xml"/><Relationship Id="rId28" Type="http://schemas.openxmlformats.org/officeDocument/2006/relationships/slide" Target="slides/slide52.xml"/><Relationship Id="rId36" Type="http://schemas.openxmlformats.org/officeDocument/2006/relationships/slide" Target="slides/slide63.xml"/><Relationship Id="rId49" Type="http://schemas.openxmlformats.org/officeDocument/2006/relationships/slide" Target="slides/slide87.xml"/><Relationship Id="rId57" Type="http://schemas.openxmlformats.org/officeDocument/2006/relationships/slide" Target="slides/slide100.xml"/><Relationship Id="rId10" Type="http://schemas.openxmlformats.org/officeDocument/2006/relationships/slide" Target="slides/slide17.xml"/><Relationship Id="rId19" Type="http://schemas.openxmlformats.org/officeDocument/2006/relationships/slide" Target="slides/slide30.xml"/><Relationship Id="rId31" Type="http://schemas.openxmlformats.org/officeDocument/2006/relationships/slide" Target="slides/slide55.xml"/><Relationship Id="rId44" Type="http://schemas.openxmlformats.org/officeDocument/2006/relationships/slide" Target="slides/slide77.xml"/><Relationship Id="rId52" Type="http://schemas.openxmlformats.org/officeDocument/2006/relationships/slide" Target="slides/slide90.xml"/><Relationship Id="rId4" Type="http://schemas.openxmlformats.org/officeDocument/2006/relationships/slide" Target="slides/slide6.xml"/><Relationship Id="rId9" Type="http://schemas.openxmlformats.org/officeDocument/2006/relationships/slide" Target="slides/slide15.xml"/><Relationship Id="rId14" Type="http://schemas.openxmlformats.org/officeDocument/2006/relationships/slide" Target="slides/slide22.xml"/><Relationship Id="rId22" Type="http://schemas.openxmlformats.org/officeDocument/2006/relationships/slide" Target="slides/slide37.xml"/><Relationship Id="rId27" Type="http://schemas.openxmlformats.org/officeDocument/2006/relationships/slide" Target="slides/slide44.xml"/><Relationship Id="rId30" Type="http://schemas.openxmlformats.org/officeDocument/2006/relationships/slide" Target="slides/slide54.xml"/><Relationship Id="rId35" Type="http://schemas.openxmlformats.org/officeDocument/2006/relationships/slide" Target="slides/slide60.xml"/><Relationship Id="rId43" Type="http://schemas.openxmlformats.org/officeDocument/2006/relationships/slide" Target="slides/slide76.xml"/><Relationship Id="rId48" Type="http://schemas.openxmlformats.org/officeDocument/2006/relationships/slide" Target="slides/slide86.xml"/><Relationship Id="rId56" Type="http://schemas.openxmlformats.org/officeDocument/2006/relationships/slide" Target="slides/slide99.xml"/><Relationship Id="rId8" Type="http://schemas.openxmlformats.org/officeDocument/2006/relationships/slide" Target="slides/slide14.xml"/><Relationship Id="rId51" Type="http://schemas.openxmlformats.org/officeDocument/2006/relationships/slide" Target="slides/slide89.xml"/><Relationship Id="rId3"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031423655923235"/>
          <c:y val="2.8594619561497663E-2"/>
          <c:w val="0.80085449377999351"/>
          <c:h val="0.81575762493816562"/>
        </c:manualLayout>
      </c:layout>
      <c:scatterChart>
        <c:scatterStyle val="lineMarker"/>
        <c:varyColors val="0"/>
        <c:ser>
          <c:idx val="0"/>
          <c:order val="0"/>
          <c:tx>
            <c:strRef>
              <c:f>Sheet1!$B$1</c:f>
              <c:strCache>
                <c:ptCount val="1"/>
                <c:pt idx="0">
                  <c:v>广告费X</c:v>
                </c:pt>
              </c:strCache>
            </c:strRef>
          </c:tx>
          <c:spPr>
            <a:ln w="19050" cap="rnd">
              <a:noFill/>
              <a:round/>
            </a:ln>
            <a:effectLst/>
          </c:spPr>
          <c:marker>
            <c:symbol val="circle"/>
            <c:size val="5"/>
            <c:spPr>
              <a:solidFill>
                <a:schemeClr val="accent1"/>
              </a:solidFill>
              <a:ln w="25400">
                <a:solidFill>
                  <a:schemeClr val="accent1"/>
                </a:solidFill>
              </a:ln>
              <a:effectLst/>
            </c:spPr>
          </c:marker>
          <c:trendline>
            <c:spPr>
              <a:ln w="38100" cap="rnd">
                <a:solidFill>
                  <a:sysClr val="windowText" lastClr="000000"/>
                </a:solidFill>
                <a:prstDash val="sysDot"/>
              </a:ln>
              <a:effectLst/>
            </c:spPr>
            <c:trendlineType val="linear"/>
            <c:dispRSqr val="0"/>
            <c:dispEq val="0"/>
          </c:trendline>
          <c:xVal>
            <c:numRef>
              <c:f>Sheet1!$A$2:$A$9</c:f>
              <c:numCache>
                <c:formatCode>General</c:formatCode>
                <c:ptCount val="8"/>
                <c:pt idx="0">
                  <c:v>32</c:v>
                </c:pt>
                <c:pt idx="1">
                  <c:v>34</c:v>
                </c:pt>
                <c:pt idx="2">
                  <c:v>48</c:v>
                </c:pt>
                <c:pt idx="3">
                  <c:v>55</c:v>
                </c:pt>
                <c:pt idx="4">
                  <c:v>50</c:v>
                </c:pt>
                <c:pt idx="5">
                  <c:v>60</c:v>
                </c:pt>
                <c:pt idx="6">
                  <c:v>78</c:v>
                </c:pt>
                <c:pt idx="7">
                  <c:v>64</c:v>
                </c:pt>
              </c:numCache>
            </c:numRef>
          </c:xVal>
          <c:yVal>
            <c:numRef>
              <c:f>Sheet1!$B$2:$B$9</c:f>
              <c:numCache>
                <c:formatCode>General</c:formatCode>
                <c:ptCount val="8"/>
                <c:pt idx="0">
                  <c:v>40</c:v>
                </c:pt>
                <c:pt idx="1">
                  <c:v>45</c:v>
                </c:pt>
                <c:pt idx="2">
                  <c:v>45</c:v>
                </c:pt>
                <c:pt idx="3">
                  <c:v>65</c:v>
                </c:pt>
                <c:pt idx="4">
                  <c:v>80</c:v>
                </c:pt>
                <c:pt idx="5">
                  <c:v>92</c:v>
                </c:pt>
                <c:pt idx="6">
                  <c:v>105</c:v>
                </c:pt>
                <c:pt idx="7">
                  <c:v>110</c:v>
                </c:pt>
              </c:numCache>
            </c:numRef>
          </c:yVal>
          <c:smooth val="0"/>
          <c:extLst>
            <c:ext xmlns:c16="http://schemas.microsoft.com/office/drawing/2014/chart" uri="{C3380CC4-5D6E-409C-BE32-E72D297353CC}">
              <c16:uniqueId val="{00000000-4A07-4FE7-B471-63CC10B4C117}"/>
            </c:ext>
          </c:extLst>
        </c:ser>
        <c:dLbls>
          <c:showLegendKey val="0"/>
          <c:showVal val="0"/>
          <c:showCatName val="0"/>
          <c:showSerName val="0"/>
          <c:showPercent val="0"/>
          <c:showBubbleSize val="0"/>
        </c:dLbls>
        <c:axId val="592983536"/>
        <c:axId val="583988416"/>
      </c:scatterChart>
      <c:valAx>
        <c:axId val="592983536"/>
        <c:scaling>
          <c:orientation val="minMax"/>
        </c:scaling>
        <c:delete val="0"/>
        <c:axPos val="b"/>
        <c:title>
          <c:tx>
            <c:rich>
              <a:bodyPr rot="0" spcFirstLastPara="1" vertOverflow="ellipsis" vert="horz" wrap="square" anchor="ctr" anchorCtr="1"/>
              <a:lstStyle/>
              <a:p>
                <a:pPr>
                  <a:defRPr sz="2000" b="0" i="0" u="none" strike="noStrike" kern="1200" baseline="0">
                    <a:solidFill>
                      <a:srgbClr val="0070C0"/>
                    </a:solidFill>
                    <a:latin typeface="+mn-lt"/>
                    <a:ea typeface="+mn-ea"/>
                    <a:cs typeface="+mn-cs"/>
                  </a:defRPr>
                </a:pPr>
                <a:r>
                  <a:rPr lang="zh-CN" altLang="en-US" sz="2000">
                    <a:solidFill>
                      <a:srgbClr val="0070C0"/>
                    </a:solidFill>
                  </a:rPr>
                  <a:t>广告费</a:t>
                </a:r>
                <a:r>
                  <a:rPr lang="en-US" altLang="zh-CN" sz="2000">
                    <a:solidFill>
                      <a:srgbClr val="0070C0"/>
                    </a:solidFill>
                  </a:rPr>
                  <a:t>X</a:t>
                </a:r>
                <a:endParaRPr lang="zh-CN" altLang="en-US" sz="2000">
                  <a:solidFill>
                    <a:srgbClr val="0070C0"/>
                  </a:solidFill>
                </a:endParaRPr>
              </a:p>
            </c:rich>
          </c:tx>
          <c:layout>
            <c:manualLayout>
              <c:xMode val="edge"/>
              <c:yMode val="edge"/>
              <c:x val="0.80768191888397167"/>
              <c:y val="0.9224219847873123"/>
            </c:manualLayout>
          </c:layout>
          <c:overlay val="0"/>
          <c:spPr>
            <a:noFill/>
            <a:ln>
              <a:noFill/>
            </a:ln>
            <a:effectLst/>
          </c:spPr>
          <c:txPr>
            <a:bodyPr rot="0" spcFirstLastPara="1" vertOverflow="ellipsis" vert="horz" wrap="square" anchor="ctr" anchorCtr="1"/>
            <a:lstStyle/>
            <a:p>
              <a:pPr>
                <a:defRPr sz="2000" b="0" i="0" u="none" strike="noStrike" kern="1200" baseline="0">
                  <a:solidFill>
                    <a:srgbClr val="0070C0"/>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rgbClr val="0070C0"/>
                </a:solidFill>
                <a:latin typeface="+mn-lt"/>
                <a:ea typeface="+mn-ea"/>
                <a:cs typeface="+mn-cs"/>
              </a:defRPr>
            </a:pPr>
            <a:endParaRPr lang="zh-CN"/>
          </a:p>
        </c:txPr>
        <c:crossAx val="583988416"/>
        <c:crosses val="autoZero"/>
        <c:crossBetween val="midCat"/>
      </c:valAx>
      <c:valAx>
        <c:axId val="583988416"/>
        <c:scaling>
          <c:orientation val="minMax"/>
        </c:scaling>
        <c:delete val="0"/>
        <c:axPos val="l"/>
        <c:majorGridlines>
          <c:spPr>
            <a:ln w="317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rgbClr val="0070C0"/>
                    </a:solidFill>
                    <a:latin typeface="+mn-lt"/>
                    <a:ea typeface="+mn-ea"/>
                    <a:cs typeface="+mn-cs"/>
                  </a:defRPr>
                </a:pPr>
                <a:r>
                  <a:rPr lang="zh-CN" altLang="en-US" sz="2400">
                    <a:solidFill>
                      <a:srgbClr val="0070C0"/>
                    </a:solidFill>
                  </a:rPr>
                  <a:t>销售量</a:t>
                </a:r>
                <a:r>
                  <a:rPr lang="en-US" altLang="zh-CN" sz="2400">
                    <a:solidFill>
                      <a:srgbClr val="0070C0"/>
                    </a:solidFill>
                  </a:rPr>
                  <a:t>Y</a:t>
                </a:r>
                <a:endParaRPr lang="zh-CN" altLang="en-US" sz="2400">
                  <a:solidFill>
                    <a:srgbClr val="0070C0"/>
                  </a:solidFill>
                </a:endParaRPr>
              </a:p>
            </c:rich>
          </c:tx>
          <c:layout>
            <c:manualLayout>
              <c:xMode val="edge"/>
              <c:yMode val="edge"/>
              <c:x val="1.234010617506217E-2"/>
              <c:y val="8.5397346165062712E-2"/>
            </c:manualLayout>
          </c:layout>
          <c:overlay val="0"/>
          <c:spPr>
            <a:noFill/>
            <a:ln>
              <a:noFill/>
            </a:ln>
            <a:effectLst/>
          </c:spPr>
          <c:txPr>
            <a:bodyPr rot="-5400000" spcFirstLastPara="1" vertOverflow="ellipsis" vert="horz" wrap="square" anchor="ctr" anchorCtr="1"/>
            <a:lstStyle/>
            <a:p>
              <a:pPr>
                <a:defRPr sz="2400" b="0" i="0" u="none" strike="noStrike" kern="1200" baseline="0">
                  <a:solidFill>
                    <a:srgbClr val="0070C0"/>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592983536"/>
        <c:crosses val="autoZero"/>
        <c:crossBetween val="midCat"/>
      </c:valAx>
      <c:spPr>
        <a:noFill/>
        <a:ln w="25400">
          <a:noFill/>
        </a:ln>
        <a:effectLst/>
      </c:spPr>
    </c:plotArea>
    <c:plotVisOnly val="1"/>
    <c:dispBlanksAs val="gap"/>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91D0A5E-FA7B-DACE-14BA-D1FC110A20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EBAD23-764C-C31C-8CF5-ED7DA599AA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6E752C-FE40-4A84-8DB9-FF3FD7239BDC}" type="datetimeFigureOut">
              <a:rPr lang="zh-CN" altLang="en-US" smtClean="0"/>
              <a:t>2024/1/2</a:t>
            </a:fld>
            <a:endParaRPr lang="zh-CN" altLang="en-US"/>
          </a:p>
        </p:txBody>
      </p:sp>
      <p:sp>
        <p:nvSpPr>
          <p:cNvPr id="4" name="页脚占位符 3">
            <a:extLst>
              <a:ext uri="{FF2B5EF4-FFF2-40B4-BE49-F238E27FC236}">
                <a16:creationId xmlns:a16="http://schemas.microsoft.com/office/drawing/2014/main" id="{EF21BE92-56D8-FBF4-E590-9C209A9398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FD35447-A950-6DBA-F664-98F4675EC9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F0ADA3-9B9A-4657-9395-985FB66FAED0}" type="slidenum">
              <a:rPr lang="zh-CN" altLang="en-US" smtClean="0"/>
              <a:t>‹#›</a:t>
            </a:fld>
            <a:endParaRPr lang="zh-CN" altLang="en-US"/>
          </a:p>
        </p:txBody>
      </p:sp>
    </p:spTree>
    <p:extLst>
      <p:ext uri="{BB962C8B-B14F-4D97-AF65-F5344CB8AC3E}">
        <p14:creationId xmlns:p14="http://schemas.microsoft.com/office/powerpoint/2010/main" val="4222845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6DD43-4F40-4208-88D0-5622562EF30F}"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9AB4D-55C9-4E03-92E9-EE7DF995422D}" type="slidenum">
              <a:rPr lang="zh-CN" altLang="en-US" smtClean="0"/>
              <a:t>‹#›</a:t>
            </a:fld>
            <a:endParaRPr lang="zh-CN" altLang="en-US"/>
          </a:p>
        </p:txBody>
      </p:sp>
    </p:spTree>
    <p:extLst>
      <p:ext uri="{BB962C8B-B14F-4D97-AF65-F5344CB8AC3E}">
        <p14:creationId xmlns:p14="http://schemas.microsoft.com/office/powerpoint/2010/main" val="216478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1D9E3F81-0F83-42C5-A35F-830730D9FA71}" type="slidenum">
              <a:rPr lang="en-US" altLang="zh-CN" smtClean="0"/>
              <a:pPr/>
              <a:t>1</a:t>
            </a:fld>
            <a:endParaRPr lang="en-US" altLang="zh-CN"/>
          </a:p>
        </p:txBody>
      </p:sp>
      <p:sp>
        <p:nvSpPr>
          <p:cNvPr id="11878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1878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337433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9E7589A7-7CF3-458A-A8C4-F1EDA17EDBE4}" type="slidenum">
              <a:rPr lang="en-US" altLang="zh-CN" smtClean="0"/>
              <a:pPr/>
              <a:t>3</a:t>
            </a:fld>
            <a:endParaRPr lang="en-US" altLang="zh-CN"/>
          </a:p>
        </p:txBody>
      </p:sp>
      <p:sp>
        <p:nvSpPr>
          <p:cNvPr id="119811" name="Rectangle 2"/>
          <p:cNvSpPr>
            <a:spLocks noGrp="1" noRot="1" noChangeAspect="1" noChangeArrowheads="1" noTextEdit="1"/>
          </p:cNvSpPr>
          <p:nvPr>
            <p:ph type="sldImg"/>
          </p:nvPr>
        </p:nvSpPr>
        <p:spPr>
          <a:xfrm>
            <a:off x="1163638" y="739775"/>
            <a:ext cx="4318000" cy="2430463"/>
          </a:xfrm>
          <a:ln w="12700" cap="flat">
            <a:solidFill>
              <a:schemeClr val="tx1"/>
            </a:solidFill>
          </a:ln>
        </p:spPr>
      </p:sp>
      <p:sp>
        <p:nvSpPr>
          <p:cNvPr id="119812" name="Rectangle 3"/>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Tree>
    <p:extLst>
      <p:ext uri="{BB962C8B-B14F-4D97-AF65-F5344CB8AC3E}">
        <p14:creationId xmlns:p14="http://schemas.microsoft.com/office/powerpoint/2010/main" val="2486715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E3375423-61AD-4B45-AF9B-11691881E785}" type="slidenum">
              <a:rPr lang="en-US" altLang="zh-CN" smtClean="0"/>
              <a:pPr/>
              <a:t>4</a:t>
            </a:fld>
            <a:endParaRPr lang="en-US" altLang="zh-CN"/>
          </a:p>
        </p:txBody>
      </p:sp>
      <p:sp>
        <p:nvSpPr>
          <p:cNvPr id="12083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2083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49488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22CEE3-42CD-4E1B-AD1D-EC52D71FAF55}" type="slidenum">
              <a:rPr lang="en-US" altLang="zh-CN" smtClean="0"/>
              <a:pPr/>
              <a:t>5</a:t>
            </a:fld>
            <a:endParaRPr lang="en-US" altLang="zh-CN"/>
          </a:p>
        </p:txBody>
      </p:sp>
      <p:sp>
        <p:nvSpPr>
          <p:cNvPr id="12390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2390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541975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E15A48E9-E45E-40EC-8F91-5CA1A6D6366A}" type="slidenum">
              <a:rPr lang="en-US" altLang="zh-CN" smtClean="0"/>
              <a:pPr/>
              <a:t>14</a:t>
            </a:fld>
            <a:endParaRPr lang="en-US" altLang="zh-CN"/>
          </a:p>
        </p:txBody>
      </p:sp>
      <p:sp>
        <p:nvSpPr>
          <p:cNvPr id="12595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2595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606684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86029CC0-579A-40AD-BD24-B43555EE100D}" type="slidenum">
              <a:rPr lang="en-US" altLang="zh-CN" smtClean="0"/>
              <a:pPr/>
              <a:t>15</a:t>
            </a:fld>
            <a:endParaRPr lang="en-US" altLang="zh-CN"/>
          </a:p>
        </p:txBody>
      </p:sp>
      <p:sp>
        <p:nvSpPr>
          <p:cNvPr id="12697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2698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107176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055489E7-6AC6-45B6-A667-BD424F307DDF}" type="slidenum">
              <a:rPr lang="en-US" altLang="zh-CN" smtClean="0"/>
              <a:pPr/>
              <a:t>16</a:t>
            </a:fld>
            <a:endParaRPr lang="en-US" altLang="zh-CN"/>
          </a:p>
        </p:txBody>
      </p:sp>
      <p:sp>
        <p:nvSpPr>
          <p:cNvPr id="128003" name="Rectangle 2"/>
          <p:cNvSpPr>
            <a:spLocks noGrp="1" noRot="1" noChangeAspect="1" noChangeArrowheads="1" noTextEdit="1"/>
          </p:cNvSpPr>
          <p:nvPr>
            <p:ph type="sldImg"/>
          </p:nvPr>
        </p:nvSpPr>
        <p:spPr>
          <a:xfrm>
            <a:off x="1163638" y="739775"/>
            <a:ext cx="4318000" cy="2430463"/>
          </a:xfrm>
          <a:ln w="12700" cap="flat">
            <a:solidFill>
              <a:schemeClr val="tx1"/>
            </a:solidFill>
          </a:ln>
        </p:spPr>
      </p:sp>
      <p:sp>
        <p:nvSpPr>
          <p:cNvPr id="128004" name="Rectangle 3"/>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Tree>
    <p:extLst>
      <p:ext uri="{BB962C8B-B14F-4D97-AF65-F5344CB8AC3E}">
        <p14:creationId xmlns:p14="http://schemas.microsoft.com/office/powerpoint/2010/main" val="3859720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66D1752D-7958-4A05-93A9-3FC81EDB443E}" type="slidenum">
              <a:rPr lang="en-US" altLang="zh-CN" smtClean="0"/>
              <a:pPr/>
              <a:t>17</a:t>
            </a:fld>
            <a:endParaRPr lang="en-US" altLang="zh-CN"/>
          </a:p>
        </p:txBody>
      </p:sp>
      <p:sp>
        <p:nvSpPr>
          <p:cNvPr id="12902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2902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395665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AD88C105-B2AE-47A4-B70C-B66F6FD40350}" type="slidenum">
              <a:rPr lang="en-US" altLang="zh-CN" smtClean="0"/>
              <a:pPr/>
              <a:t>18</a:t>
            </a:fld>
            <a:endParaRPr lang="en-US" altLang="zh-CN"/>
          </a:p>
        </p:txBody>
      </p:sp>
      <p:sp>
        <p:nvSpPr>
          <p:cNvPr id="13005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005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453566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4E5B106D-BE26-4197-8D22-82FA4721A3F0}" type="slidenum">
              <a:rPr lang="en-US" altLang="zh-CN" smtClean="0"/>
              <a:pPr/>
              <a:t>19</a:t>
            </a:fld>
            <a:endParaRPr lang="en-US" altLang="zh-CN"/>
          </a:p>
        </p:txBody>
      </p:sp>
      <p:sp>
        <p:nvSpPr>
          <p:cNvPr id="13107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107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632180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FF967A71-11C5-424F-8CFE-986628F0D7EA}" type="slidenum">
              <a:rPr lang="en-US" altLang="zh-CN" smtClean="0"/>
              <a:pPr/>
              <a:t>20</a:t>
            </a:fld>
            <a:endParaRPr lang="en-US" altLang="zh-CN"/>
          </a:p>
        </p:txBody>
      </p:sp>
      <p:sp>
        <p:nvSpPr>
          <p:cNvPr id="13209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210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725709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FEECBA90-E875-479F-99F0-E7779766690F}" type="slidenum">
              <a:rPr lang="en-US" altLang="zh-CN" smtClean="0"/>
              <a:pPr/>
              <a:t>21</a:t>
            </a:fld>
            <a:endParaRPr lang="en-US" altLang="zh-CN"/>
          </a:p>
        </p:txBody>
      </p:sp>
      <p:sp>
        <p:nvSpPr>
          <p:cNvPr id="13312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312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370241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C9A617FC-CAB1-4C2B-A326-64E57B080C51}" type="slidenum">
              <a:rPr lang="en-US" altLang="zh-CN" smtClean="0"/>
              <a:pPr/>
              <a:t>23</a:t>
            </a:fld>
            <a:endParaRPr lang="en-US" altLang="zh-CN"/>
          </a:p>
        </p:txBody>
      </p:sp>
      <p:sp>
        <p:nvSpPr>
          <p:cNvPr id="13414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41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881453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8035EAEF-B2F0-4E93-B191-770537592FD4}" type="slidenum">
              <a:rPr lang="en-US" altLang="zh-CN" smtClean="0"/>
              <a:pPr/>
              <a:t>24</a:t>
            </a:fld>
            <a:endParaRPr lang="en-US" altLang="zh-CN"/>
          </a:p>
        </p:txBody>
      </p:sp>
      <p:sp>
        <p:nvSpPr>
          <p:cNvPr id="13517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517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172372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F88C67F7-FA4C-44EB-A855-7D524121D038}" type="slidenum">
              <a:rPr lang="en-US" altLang="zh-CN" smtClean="0"/>
              <a:pPr/>
              <a:t>25</a:t>
            </a:fld>
            <a:endParaRPr lang="en-US" altLang="zh-CN"/>
          </a:p>
        </p:txBody>
      </p:sp>
      <p:sp>
        <p:nvSpPr>
          <p:cNvPr id="13619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619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40591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F95FB11A-7B4C-4BDA-AA19-A3C263D02EFC}" type="slidenum">
              <a:rPr lang="en-US" altLang="zh-CN" smtClean="0"/>
              <a:pPr/>
              <a:t>26</a:t>
            </a:fld>
            <a:endParaRPr lang="en-US" altLang="zh-CN"/>
          </a:p>
        </p:txBody>
      </p:sp>
      <p:sp>
        <p:nvSpPr>
          <p:cNvPr id="13721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722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28459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2313C744-5D4A-4925-AD95-527457EF8DBE}" type="slidenum">
              <a:rPr lang="en-US" altLang="zh-CN" smtClean="0"/>
              <a:pPr/>
              <a:t>31</a:t>
            </a:fld>
            <a:endParaRPr lang="en-US" altLang="zh-CN"/>
          </a:p>
        </p:txBody>
      </p:sp>
      <p:sp>
        <p:nvSpPr>
          <p:cNvPr id="13824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3824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972170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059E531F-C414-4A00-A34A-41AEC7178FE5}" type="slidenum">
              <a:rPr lang="en-US" altLang="zh-CN" smtClean="0"/>
              <a:pPr/>
              <a:t>34</a:t>
            </a:fld>
            <a:endParaRPr lang="en-US" altLang="zh-CN"/>
          </a:p>
        </p:txBody>
      </p:sp>
      <p:sp>
        <p:nvSpPr>
          <p:cNvPr id="139267" name="Rectangle 2"/>
          <p:cNvSpPr>
            <a:spLocks noGrp="1" noRot="1" noChangeAspect="1" noChangeArrowheads="1" noTextEdit="1"/>
          </p:cNvSpPr>
          <p:nvPr>
            <p:ph type="sldImg"/>
          </p:nvPr>
        </p:nvSpPr>
        <p:spPr>
          <a:xfrm>
            <a:off x="1163638" y="739775"/>
            <a:ext cx="4318000" cy="2430463"/>
          </a:xfrm>
          <a:ln w="12700" cap="flat">
            <a:solidFill>
              <a:schemeClr val="tx1"/>
            </a:solidFill>
          </a:ln>
        </p:spPr>
      </p:sp>
      <p:sp>
        <p:nvSpPr>
          <p:cNvPr id="139268" name="Rectangle 3"/>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Tree>
    <p:extLst>
      <p:ext uri="{BB962C8B-B14F-4D97-AF65-F5344CB8AC3E}">
        <p14:creationId xmlns:p14="http://schemas.microsoft.com/office/powerpoint/2010/main" val="4090716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Font typeface="Wingdings" panose="05000000000000000000" pitchFamily="2" charset="2"/>
              <a:buChar char="Ø"/>
            </a:pPr>
            <a:r>
              <a:rPr lang="zh-CN" altLang="en-US" sz="1200" dirty="0">
                <a:latin typeface="微软雅黑" pitchFamily="34" charset="-122"/>
                <a:ea typeface="微软雅黑" pitchFamily="34" charset="-122"/>
              </a:rPr>
              <a:t>湖北体育科学研究所得到的公式为：</a:t>
            </a:r>
            <a:endParaRPr lang="en-US" altLang="zh-CN" sz="1200" dirty="0">
              <a:latin typeface="微软雅黑" pitchFamily="34" charset="-122"/>
              <a:ea typeface="微软雅黑" pitchFamily="34" charset="-122"/>
            </a:endParaRPr>
          </a:p>
          <a:p>
            <a:pPr>
              <a:buFontTx/>
              <a:buNone/>
            </a:pPr>
            <a:r>
              <a:rPr lang="en-US" altLang="zh-CN" sz="1200" dirty="0">
                <a:solidFill>
                  <a:srgbClr val="990099"/>
                </a:solidFill>
                <a:latin typeface="华文楷体" panose="02010600040101010101" pitchFamily="2" charset="-122"/>
                <a:ea typeface="华文楷体" panose="02010600040101010101" pitchFamily="2" charset="-122"/>
              </a:rPr>
              <a:t>  </a:t>
            </a:r>
            <a:r>
              <a:rPr lang="en-US" altLang="zh-CN" sz="1200" dirty="0" err="1">
                <a:solidFill>
                  <a:srgbClr val="990099"/>
                </a:solidFill>
                <a:latin typeface="华文楷体" panose="02010600040101010101" pitchFamily="2" charset="-122"/>
                <a:ea typeface="华文楷体" panose="02010600040101010101" pitchFamily="2" charset="-122"/>
              </a:rPr>
              <a:t>成年儿子身高</a:t>
            </a:r>
            <a:r>
              <a:rPr lang="en-US" altLang="zh-CN" sz="1200" dirty="0">
                <a:solidFill>
                  <a:srgbClr val="990099"/>
                </a:solidFill>
                <a:latin typeface="华文楷体" panose="02010600040101010101" pitchFamily="2" charset="-122"/>
                <a:ea typeface="华文楷体" panose="02010600040101010101" pitchFamily="2" charset="-122"/>
              </a:rPr>
              <a:t>=56.699+0.419×父亲身高+0.265×母亲身高</a:t>
            </a:r>
            <a:r>
              <a:rPr lang="en-US" altLang="zh-CN" sz="1200" dirty="0">
                <a:solidFill>
                  <a:srgbClr val="990099"/>
                </a:solidFill>
              </a:rPr>
              <a:t>±3</a:t>
            </a:r>
          </a:p>
          <a:p>
            <a:pPr>
              <a:buFontTx/>
              <a:buNone/>
            </a:pPr>
            <a:r>
              <a:rPr lang="en-US" altLang="zh-CN" sz="1200" dirty="0">
                <a:solidFill>
                  <a:srgbClr val="990099"/>
                </a:solidFill>
                <a:latin typeface="华文楷体" panose="02010600040101010101" pitchFamily="2" charset="-122"/>
                <a:ea typeface="华文楷体" panose="02010600040101010101" pitchFamily="2" charset="-122"/>
              </a:rPr>
              <a:t>  </a:t>
            </a:r>
            <a:r>
              <a:rPr lang="en-US" altLang="zh-CN" sz="1200" dirty="0" err="1">
                <a:solidFill>
                  <a:srgbClr val="990099"/>
                </a:solidFill>
                <a:latin typeface="华文楷体" panose="02010600040101010101" pitchFamily="2" charset="-122"/>
                <a:ea typeface="华文楷体" panose="02010600040101010101" pitchFamily="2" charset="-122"/>
              </a:rPr>
              <a:t>成年女儿身高</a:t>
            </a:r>
            <a:r>
              <a:rPr lang="en-US" altLang="zh-CN" sz="1200" dirty="0">
                <a:solidFill>
                  <a:srgbClr val="990099"/>
                </a:solidFill>
                <a:latin typeface="华文楷体" panose="02010600040101010101" pitchFamily="2" charset="-122"/>
                <a:ea typeface="华文楷体" panose="02010600040101010101" pitchFamily="2" charset="-122"/>
              </a:rPr>
              <a:t>=40.089+0.306×父亲身高+0.431×母亲身高</a:t>
            </a:r>
            <a:r>
              <a:rPr lang="en-US" altLang="zh-CN" sz="1200" dirty="0">
                <a:solidFill>
                  <a:srgbClr val="990099"/>
                </a:solidFill>
              </a:rPr>
              <a:t>±3</a:t>
            </a:r>
            <a:endParaRPr lang="zh-CN" altLang="en-US" dirty="0"/>
          </a:p>
        </p:txBody>
      </p:sp>
      <p:sp>
        <p:nvSpPr>
          <p:cNvPr id="4" name="灯片编号占位符 3"/>
          <p:cNvSpPr>
            <a:spLocks noGrp="1"/>
          </p:cNvSpPr>
          <p:nvPr>
            <p:ph type="sldNum" sz="quarter" idx="10"/>
          </p:nvPr>
        </p:nvSpPr>
        <p:spPr/>
        <p:txBody>
          <a:bodyPr/>
          <a:lstStyle/>
          <a:p>
            <a:pPr>
              <a:defRPr/>
            </a:pPr>
            <a:fld id="{69BCAA8D-1F19-4223-9516-C13C18FAE36B}" type="slidenum">
              <a:rPr lang="en-US" altLang="zh-CN" smtClean="0"/>
              <a:pPr>
                <a:defRPr/>
              </a:pPr>
              <a:t>35</a:t>
            </a:fld>
            <a:endParaRPr lang="en-US" altLang="zh-CN"/>
          </a:p>
        </p:txBody>
      </p:sp>
    </p:spTree>
    <p:extLst>
      <p:ext uri="{BB962C8B-B14F-4D97-AF65-F5344CB8AC3E}">
        <p14:creationId xmlns:p14="http://schemas.microsoft.com/office/powerpoint/2010/main" val="1200254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69BCAA8D-1F19-4223-9516-C13C18FAE36B}" type="slidenum">
              <a:rPr lang="en-US" altLang="zh-CN" smtClean="0"/>
              <a:pPr>
                <a:defRPr/>
              </a:pPr>
              <a:t>36</a:t>
            </a:fld>
            <a:endParaRPr lang="en-US" altLang="zh-CN"/>
          </a:p>
        </p:txBody>
      </p:sp>
    </p:spTree>
    <p:extLst>
      <p:ext uri="{BB962C8B-B14F-4D97-AF65-F5344CB8AC3E}">
        <p14:creationId xmlns:p14="http://schemas.microsoft.com/office/powerpoint/2010/main" val="1927098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134E39D3-D3C5-43B3-BDE6-6D3D6CED4CE0}" type="slidenum">
              <a:rPr lang="en-US" altLang="zh-CN" smtClean="0"/>
              <a:pPr/>
              <a:t>37</a:t>
            </a:fld>
            <a:endParaRPr lang="en-US" altLang="zh-CN"/>
          </a:p>
        </p:txBody>
      </p:sp>
      <p:sp>
        <p:nvSpPr>
          <p:cNvPr id="14029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029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072566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68069484-1810-4CDB-85A2-5343C4DD688D}" type="slidenum">
              <a:rPr lang="en-US" altLang="zh-CN" smtClean="0"/>
              <a:pPr/>
              <a:t>38</a:t>
            </a:fld>
            <a:endParaRPr lang="en-US" altLang="zh-CN"/>
          </a:p>
        </p:txBody>
      </p:sp>
      <p:sp>
        <p:nvSpPr>
          <p:cNvPr id="141315" name="Rectangle 2"/>
          <p:cNvSpPr>
            <a:spLocks noChangeArrowheads="1"/>
          </p:cNvSpPr>
          <p:nvPr/>
        </p:nvSpPr>
        <p:spPr bwMode="auto">
          <a:xfrm>
            <a:off x="3765550" y="0"/>
            <a:ext cx="2879725" cy="488950"/>
          </a:xfrm>
          <a:prstGeom prst="rect">
            <a:avLst/>
          </a:prstGeom>
          <a:noFill/>
          <a:ln w="12700">
            <a:noFill/>
            <a:miter lim="800000"/>
            <a:headEnd/>
            <a:tailEnd/>
          </a:ln>
        </p:spPr>
        <p:txBody>
          <a:bodyPr wrap="none" anchor="ctr"/>
          <a:lstStyle/>
          <a:p>
            <a:endParaRPr lang="zh-CN" altLang="en-US"/>
          </a:p>
        </p:txBody>
      </p:sp>
      <p:sp>
        <p:nvSpPr>
          <p:cNvPr id="141316" name="Rectangle 3"/>
          <p:cNvSpPr>
            <a:spLocks noChangeArrowheads="1"/>
          </p:cNvSpPr>
          <p:nvPr/>
        </p:nvSpPr>
        <p:spPr bwMode="auto">
          <a:xfrm>
            <a:off x="3765550" y="9288463"/>
            <a:ext cx="2879725" cy="488950"/>
          </a:xfrm>
          <a:prstGeom prst="rect">
            <a:avLst/>
          </a:prstGeom>
          <a:noFill/>
          <a:ln w="12700">
            <a:noFill/>
            <a:miter lim="800000"/>
            <a:headEnd/>
            <a:tailEnd/>
          </a:ln>
        </p:spPr>
        <p:txBody>
          <a:bodyPr lIns="19050" tIns="0" rIns="19050" bIns="0" anchor="b"/>
          <a:lstStyle/>
          <a:p>
            <a:pPr algn="r" eaLnBrk="0" hangingPunct="0"/>
            <a:r>
              <a:rPr kumimoji="1" lang="en-US" altLang="zh-CN" sz="1000" i="1" baseline="0">
                <a:latin typeface="Times New Roman" pitchFamily="18" charset="0"/>
              </a:rPr>
              <a:t>24</a:t>
            </a:r>
          </a:p>
        </p:txBody>
      </p:sp>
      <p:sp>
        <p:nvSpPr>
          <p:cNvPr id="141317" name="Rectangle 4"/>
          <p:cNvSpPr>
            <a:spLocks noChangeArrowheads="1"/>
          </p:cNvSpPr>
          <p:nvPr/>
        </p:nvSpPr>
        <p:spPr bwMode="auto">
          <a:xfrm>
            <a:off x="0" y="9288463"/>
            <a:ext cx="2879725" cy="488950"/>
          </a:xfrm>
          <a:prstGeom prst="rect">
            <a:avLst/>
          </a:prstGeom>
          <a:noFill/>
          <a:ln w="12700">
            <a:noFill/>
            <a:miter lim="800000"/>
            <a:headEnd/>
            <a:tailEnd/>
          </a:ln>
        </p:spPr>
        <p:txBody>
          <a:bodyPr wrap="none" anchor="ctr"/>
          <a:lstStyle/>
          <a:p>
            <a:endParaRPr lang="zh-CN" altLang="en-US"/>
          </a:p>
        </p:txBody>
      </p:sp>
      <p:sp>
        <p:nvSpPr>
          <p:cNvPr id="141318" name="Rectangle 5"/>
          <p:cNvSpPr>
            <a:spLocks noChangeArrowheads="1"/>
          </p:cNvSpPr>
          <p:nvPr/>
        </p:nvSpPr>
        <p:spPr bwMode="auto">
          <a:xfrm>
            <a:off x="0" y="0"/>
            <a:ext cx="2879725" cy="488950"/>
          </a:xfrm>
          <a:prstGeom prst="rect">
            <a:avLst/>
          </a:prstGeom>
          <a:noFill/>
          <a:ln w="12700">
            <a:noFill/>
            <a:miter lim="800000"/>
            <a:headEnd/>
            <a:tailEnd/>
          </a:ln>
        </p:spPr>
        <p:txBody>
          <a:bodyPr wrap="none" anchor="ctr"/>
          <a:lstStyle/>
          <a:p>
            <a:endParaRPr lang="zh-CN" altLang="en-US"/>
          </a:p>
        </p:txBody>
      </p:sp>
      <p:sp>
        <p:nvSpPr>
          <p:cNvPr id="141319" name="Rectangle 6"/>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1320" name="Rectangle 7"/>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9819318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378B1D04-C87B-4579-A09A-4646DF97B4F5}" type="slidenum">
              <a:rPr lang="en-US" altLang="zh-CN" smtClean="0"/>
              <a:pPr/>
              <a:t>42</a:t>
            </a:fld>
            <a:endParaRPr lang="en-US" altLang="zh-CN"/>
          </a:p>
        </p:txBody>
      </p:sp>
      <p:sp>
        <p:nvSpPr>
          <p:cNvPr id="14233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dirty="0"/>
          </a:p>
        </p:txBody>
      </p:sp>
      <p:sp>
        <p:nvSpPr>
          <p:cNvPr id="14234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504817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A64C12CE-E9F3-4700-A4E1-CBC59666C7F8}" type="slidenum">
              <a:rPr lang="en-US" altLang="zh-CN" smtClean="0"/>
              <a:pPr/>
              <a:t>43</a:t>
            </a:fld>
            <a:endParaRPr lang="en-US" altLang="zh-CN"/>
          </a:p>
        </p:txBody>
      </p:sp>
      <p:sp>
        <p:nvSpPr>
          <p:cNvPr id="14336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336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319432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86165DC9-5672-4E93-977F-6D8140459B12}" type="slidenum">
              <a:rPr lang="en-US" altLang="zh-CN" smtClean="0"/>
              <a:pPr/>
              <a:t>46</a:t>
            </a:fld>
            <a:endParaRPr lang="en-US" altLang="zh-CN"/>
          </a:p>
        </p:txBody>
      </p:sp>
      <p:sp>
        <p:nvSpPr>
          <p:cNvPr id="14438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438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8062230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CC2A25DB-3EBA-4D70-B130-C17B882D9B52}" type="slidenum">
              <a:rPr lang="en-US" altLang="zh-CN" smtClean="0"/>
              <a:pPr/>
              <a:t>47</a:t>
            </a:fld>
            <a:endParaRPr lang="en-US" altLang="zh-CN" dirty="0"/>
          </a:p>
        </p:txBody>
      </p:sp>
      <p:sp>
        <p:nvSpPr>
          <p:cNvPr id="14541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541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53736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F6F023BE-C9B7-4973-8913-7CA5E987F353}" type="slidenum">
              <a:rPr lang="en-US" altLang="zh-CN" smtClean="0"/>
              <a:pPr/>
              <a:t>48</a:t>
            </a:fld>
            <a:endParaRPr lang="en-US" altLang="zh-CN" dirty="0"/>
          </a:p>
        </p:txBody>
      </p:sp>
      <p:sp>
        <p:nvSpPr>
          <p:cNvPr id="14643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643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2388335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C9A617FC-CAB1-4C2B-A326-64E57B080C51}" type="slidenum">
              <a:rPr lang="en-US" altLang="zh-CN" smtClean="0"/>
              <a:pPr/>
              <a:t>49</a:t>
            </a:fld>
            <a:endParaRPr lang="en-US" altLang="zh-CN"/>
          </a:p>
        </p:txBody>
      </p:sp>
      <p:sp>
        <p:nvSpPr>
          <p:cNvPr id="13414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dirty="0"/>
          </a:p>
        </p:txBody>
      </p:sp>
      <p:sp>
        <p:nvSpPr>
          <p:cNvPr id="1341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834187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40A683B7-E9A3-4C85-BAE7-A7E1DAB34E4B}" type="slidenum">
              <a:rPr lang="en-US" altLang="zh-CN" smtClean="0"/>
              <a:pPr/>
              <a:t>50</a:t>
            </a:fld>
            <a:endParaRPr lang="en-US" altLang="zh-CN" dirty="0"/>
          </a:p>
        </p:txBody>
      </p:sp>
      <p:sp>
        <p:nvSpPr>
          <p:cNvPr id="14848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848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31337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A71DB089-D7B1-4BAD-9FE8-D85A47BD8FB2}" type="slidenum">
              <a:rPr lang="en-US" altLang="zh-CN" smtClean="0"/>
              <a:pPr/>
              <a:t>51</a:t>
            </a:fld>
            <a:endParaRPr lang="en-US" altLang="zh-CN" dirty="0"/>
          </a:p>
        </p:txBody>
      </p:sp>
      <p:sp>
        <p:nvSpPr>
          <p:cNvPr id="14950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4950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223246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5F5D0FF6-7EEB-4C25-9A77-09AE3FB00D92}" type="slidenum">
              <a:rPr lang="en-US" altLang="zh-CN" smtClean="0"/>
              <a:pPr/>
              <a:t>56</a:t>
            </a:fld>
            <a:endParaRPr lang="en-US" altLang="zh-CN" dirty="0"/>
          </a:p>
        </p:txBody>
      </p:sp>
      <p:sp>
        <p:nvSpPr>
          <p:cNvPr id="15053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053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2625103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9E60C120-4434-41E5-82AC-3A9D228A438B}" type="slidenum">
              <a:rPr lang="en-US" altLang="zh-CN" smtClean="0"/>
              <a:pPr/>
              <a:t>57</a:t>
            </a:fld>
            <a:endParaRPr lang="en-US" altLang="zh-CN" dirty="0"/>
          </a:p>
        </p:txBody>
      </p:sp>
      <p:sp>
        <p:nvSpPr>
          <p:cNvPr id="15155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155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4915623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DBAF94BF-6309-4F83-ABB0-AAE037BB3AC4}" type="slidenum">
              <a:rPr lang="en-US" altLang="zh-CN" smtClean="0"/>
              <a:pPr/>
              <a:t>58</a:t>
            </a:fld>
            <a:endParaRPr lang="en-US" altLang="zh-CN" dirty="0"/>
          </a:p>
        </p:txBody>
      </p:sp>
      <p:sp>
        <p:nvSpPr>
          <p:cNvPr id="15257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258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60423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fld id="{EAA63911-3AB9-48E5-9336-EFE9ADB1B50D}" type="slidenum">
              <a:rPr lang="en-US" altLang="zh-CN" smtClean="0"/>
              <a:pPr/>
              <a:t>59</a:t>
            </a:fld>
            <a:endParaRPr lang="en-US" altLang="zh-CN" dirty="0"/>
          </a:p>
        </p:txBody>
      </p:sp>
      <p:sp>
        <p:nvSpPr>
          <p:cNvPr id="15360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360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930230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fld id="{EAA8A285-C97C-4261-B061-C1B903B99A4F}" type="slidenum">
              <a:rPr lang="en-US" altLang="zh-CN" smtClean="0"/>
              <a:pPr/>
              <a:t>60</a:t>
            </a:fld>
            <a:endParaRPr lang="en-US" altLang="zh-CN" dirty="0"/>
          </a:p>
        </p:txBody>
      </p:sp>
      <p:sp>
        <p:nvSpPr>
          <p:cNvPr id="15462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462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3659045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8B81D07B-4B20-4EFC-9C85-118BC2443C46}" type="slidenum">
              <a:rPr lang="en-US" altLang="zh-CN" smtClean="0"/>
              <a:pPr/>
              <a:t>61</a:t>
            </a:fld>
            <a:endParaRPr lang="en-US" altLang="zh-CN" dirty="0"/>
          </a:p>
        </p:txBody>
      </p:sp>
      <p:sp>
        <p:nvSpPr>
          <p:cNvPr id="15565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565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1500038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34DF118E-C1F5-445B-A5D0-794C4B3D49A9}" type="slidenum">
              <a:rPr lang="en-US" altLang="zh-CN" smtClean="0"/>
              <a:pPr/>
              <a:t>68</a:t>
            </a:fld>
            <a:endParaRPr lang="en-US" altLang="zh-CN" dirty="0"/>
          </a:p>
        </p:txBody>
      </p:sp>
      <p:sp>
        <p:nvSpPr>
          <p:cNvPr id="15667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667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7452754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94522293-1917-4AAC-AE54-BD4D58C9F9F2}" type="slidenum">
              <a:rPr lang="en-US" altLang="zh-CN" smtClean="0"/>
              <a:pPr/>
              <a:t>69</a:t>
            </a:fld>
            <a:endParaRPr lang="en-US" altLang="zh-CN" dirty="0"/>
          </a:p>
        </p:txBody>
      </p:sp>
      <p:sp>
        <p:nvSpPr>
          <p:cNvPr id="15769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770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507569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5FB92F4B-355F-4E49-9787-54CBA54753B3}" type="slidenum">
              <a:rPr lang="en-US" altLang="zh-CN" smtClean="0"/>
              <a:pPr/>
              <a:t>71</a:t>
            </a:fld>
            <a:endParaRPr lang="en-US" altLang="zh-CN" dirty="0"/>
          </a:p>
        </p:txBody>
      </p:sp>
      <p:sp>
        <p:nvSpPr>
          <p:cNvPr id="15872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872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5440116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E1C692CE-9818-45EA-8C3C-7FF51FB1C0D4}" type="slidenum">
              <a:rPr lang="en-US" altLang="zh-CN" smtClean="0"/>
              <a:pPr/>
              <a:t>72</a:t>
            </a:fld>
            <a:endParaRPr lang="en-US" altLang="zh-CN" dirty="0"/>
          </a:p>
        </p:txBody>
      </p:sp>
      <p:sp>
        <p:nvSpPr>
          <p:cNvPr id="15974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597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202865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5D109FA1-2E88-49DE-B573-C6FB447CB166}" type="slidenum">
              <a:rPr lang="en-US" altLang="zh-CN" smtClean="0"/>
              <a:pPr/>
              <a:t>73</a:t>
            </a:fld>
            <a:endParaRPr lang="en-US" altLang="zh-CN" dirty="0"/>
          </a:p>
        </p:txBody>
      </p:sp>
      <p:sp>
        <p:nvSpPr>
          <p:cNvPr id="16077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077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1557379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9BEC0F3A-5A2B-46C6-B8C2-E12DD7D12215}" type="slidenum">
              <a:rPr lang="en-US" altLang="zh-CN" smtClean="0"/>
              <a:pPr/>
              <a:t>74</a:t>
            </a:fld>
            <a:endParaRPr lang="en-US" altLang="zh-CN"/>
          </a:p>
        </p:txBody>
      </p:sp>
      <p:sp>
        <p:nvSpPr>
          <p:cNvPr id="16179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179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3186720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DF8B0E2B-D415-4AF1-9B89-C44583ABB24F}" type="slidenum">
              <a:rPr lang="en-US" altLang="zh-CN" smtClean="0"/>
              <a:pPr/>
              <a:t>75</a:t>
            </a:fld>
            <a:endParaRPr lang="en-US" altLang="zh-CN"/>
          </a:p>
        </p:txBody>
      </p:sp>
      <p:sp>
        <p:nvSpPr>
          <p:cNvPr id="16281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282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958745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p>
            <a:fld id="{B6F7D9A9-D1B5-4EAF-80B7-3CBDBB7DB244}" type="slidenum">
              <a:rPr lang="en-US" altLang="zh-CN" smtClean="0"/>
              <a:pPr/>
              <a:t>76</a:t>
            </a:fld>
            <a:endParaRPr lang="en-US" altLang="zh-CN"/>
          </a:p>
        </p:txBody>
      </p:sp>
      <p:sp>
        <p:nvSpPr>
          <p:cNvPr id="16384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384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8956075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6AD69A75-01E5-48A8-B5D2-FBA7EF30D7FB}" type="slidenum">
              <a:rPr lang="en-US" altLang="zh-CN" smtClean="0"/>
              <a:pPr/>
              <a:t>77</a:t>
            </a:fld>
            <a:endParaRPr lang="en-US" altLang="zh-CN"/>
          </a:p>
        </p:txBody>
      </p:sp>
      <p:sp>
        <p:nvSpPr>
          <p:cNvPr id="16486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486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6394107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A1036651-CDA0-4FB7-8CEA-10056E0FB366}" type="slidenum">
              <a:rPr lang="en-US" altLang="zh-CN" smtClean="0"/>
              <a:pPr/>
              <a:t>78</a:t>
            </a:fld>
            <a:endParaRPr lang="en-US" altLang="zh-CN"/>
          </a:p>
        </p:txBody>
      </p:sp>
      <p:sp>
        <p:nvSpPr>
          <p:cNvPr id="16589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589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7452030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6ACCF029-3071-4058-B118-81DBD72540C1}" type="slidenum">
              <a:rPr lang="en-US" altLang="zh-CN" smtClean="0"/>
              <a:pPr/>
              <a:t>79</a:t>
            </a:fld>
            <a:endParaRPr lang="en-US" altLang="zh-CN"/>
          </a:p>
        </p:txBody>
      </p:sp>
      <p:sp>
        <p:nvSpPr>
          <p:cNvPr id="166915" name="Rectangle 2"/>
          <p:cNvSpPr>
            <a:spLocks noChangeArrowheads="1"/>
          </p:cNvSpPr>
          <p:nvPr/>
        </p:nvSpPr>
        <p:spPr bwMode="auto">
          <a:xfrm>
            <a:off x="3765550" y="0"/>
            <a:ext cx="2879725" cy="488950"/>
          </a:xfrm>
          <a:prstGeom prst="rect">
            <a:avLst/>
          </a:prstGeom>
          <a:noFill/>
          <a:ln w="12700">
            <a:noFill/>
            <a:miter lim="800000"/>
            <a:headEnd/>
            <a:tailEnd/>
          </a:ln>
        </p:spPr>
        <p:txBody>
          <a:bodyPr wrap="none" anchor="ctr"/>
          <a:lstStyle/>
          <a:p>
            <a:endParaRPr lang="zh-CN" altLang="en-US"/>
          </a:p>
        </p:txBody>
      </p:sp>
      <p:sp>
        <p:nvSpPr>
          <p:cNvPr id="166916" name="Rectangle 3"/>
          <p:cNvSpPr>
            <a:spLocks noChangeArrowheads="1"/>
          </p:cNvSpPr>
          <p:nvPr/>
        </p:nvSpPr>
        <p:spPr bwMode="auto">
          <a:xfrm>
            <a:off x="3765550" y="9288463"/>
            <a:ext cx="2879725" cy="488950"/>
          </a:xfrm>
          <a:prstGeom prst="rect">
            <a:avLst/>
          </a:prstGeom>
          <a:noFill/>
          <a:ln w="12700">
            <a:noFill/>
            <a:miter lim="800000"/>
            <a:headEnd/>
            <a:tailEnd/>
          </a:ln>
        </p:spPr>
        <p:txBody>
          <a:bodyPr lIns="19050" tIns="0" rIns="19050" bIns="0" anchor="b"/>
          <a:lstStyle/>
          <a:p>
            <a:pPr algn="r" eaLnBrk="0" hangingPunct="0"/>
            <a:r>
              <a:rPr kumimoji="1" lang="en-US" altLang="zh-CN" sz="1000" i="1" baseline="0">
                <a:latin typeface="Times New Roman" pitchFamily="18" charset="0"/>
              </a:rPr>
              <a:t>124</a:t>
            </a:r>
          </a:p>
        </p:txBody>
      </p:sp>
      <p:sp>
        <p:nvSpPr>
          <p:cNvPr id="166917" name="Rectangle 4"/>
          <p:cNvSpPr>
            <a:spLocks noChangeArrowheads="1"/>
          </p:cNvSpPr>
          <p:nvPr/>
        </p:nvSpPr>
        <p:spPr bwMode="auto">
          <a:xfrm>
            <a:off x="0" y="9288463"/>
            <a:ext cx="2879725" cy="488950"/>
          </a:xfrm>
          <a:prstGeom prst="rect">
            <a:avLst/>
          </a:prstGeom>
          <a:noFill/>
          <a:ln w="12700">
            <a:noFill/>
            <a:miter lim="800000"/>
            <a:headEnd/>
            <a:tailEnd/>
          </a:ln>
        </p:spPr>
        <p:txBody>
          <a:bodyPr wrap="none" anchor="ctr"/>
          <a:lstStyle/>
          <a:p>
            <a:endParaRPr lang="zh-CN" altLang="en-US"/>
          </a:p>
        </p:txBody>
      </p:sp>
      <p:sp>
        <p:nvSpPr>
          <p:cNvPr id="166918" name="Rectangle 5"/>
          <p:cNvSpPr>
            <a:spLocks noChangeArrowheads="1"/>
          </p:cNvSpPr>
          <p:nvPr/>
        </p:nvSpPr>
        <p:spPr bwMode="auto">
          <a:xfrm>
            <a:off x="0" y="0"/>
            <a:ext cx="2879725" cy="488950"/>
          </a:xfrm>
          <a:prstGeom prst="rect">
            <a:avLst/>
          </a:prstGeom>
          <a:noFill/>
          <a:ln w="12700">
            <a:noFill/>
            <a:miter lim="800000"/>
            <a:headEnd/>
            <a:tailEnd/>
          </a:ln>
        </p:spPr>
        <p:txBody>
          <a:bodyPr wrap="none" anchor="ctr"/>
          <a:lstStyle/>
          <a:p>
            <a:endParaRPr lang="zh-CN" altLang="en-US"/>
          </a:p>
        </p:txBody>
      </p:sp>
      <p:sp>
        <p:nvSpPr>
          <p:cNvPr id="166919" name="Rectangle 6"/>
          <p:cNvSpPr>
            <a:spLocks noGrp="1" noChangeArrowheads="1"/>
          </p:cNvSpPr>
          <p:nvPr>
            <p:ph type="body" idx="1"/>
          </p:nvPr>
        </p:nvSpPr>
        <p:spPr>
          <a:xfrm>
            <a:off x="885825" y="3505200"/>
            <a:ext cx="4873625" cy="5538788"/>
          </a:xfrm>
          <a:noFill/>
          <a:ln/>
        </p:spPr>
        <p:txBody>
          <a:bodyPr lIns="90488" tIns="44450" rIns="90488" bIns="44450"/>
          <a:lstStyle/>
          <a:p>
            <a:pPr eaLnBrk="1" hangingPunct="1"/>
            <a:r>
              <a:rPr lang="en-US" altLang="zh-CN"/>
              <a:t>Note:</a:t>
            </a:r>
          </a:p>
          <a:p>
            <a:pPr eaLnBrk="1" hangingPunct="1"/>
            <a:r>
              <a:rPr lang="en-US" altLang="zh-CN"/>
              <a:t>1. As we move farther from the mean, the bands get wider. </a:t>
            </a:r>
          </a:p>
          <a:p>
            <a:pPr eaLnBrk="1" hangingPunct="1"/>
            <a:r>
              <a:rPr lang="en-US" altLang="zh-CN"/>
              <a:t>2. The prediction interval bands are wider.  Why? (extra Syx)</a:t>
            </a:r>
          </a:p>
        </p:txBody>
      </p:sp>
      <p:sp>
        <p:nvSpPr>
          <p:cNvPr id="166920" name="Rectangle 7"/>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5380625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CD6B005C-7739-42BA-A2B3-463C2754A4F1}" type="slidenum">
              <a:rPr lang="en-US" altLang="zh-CN" smtClean="0"/>
              <a:pPr/>
              <a:t>80</a:t>
            </a:fld>
            <a:endParaRPr lang="en-US" altLang="zh-CN"/>
          </a:p>
        </p:txBody>
      </p:sp>
      <p:sp>
        <p:nvSpPr>
          <p:cNvPr id="16793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794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817524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6C73206E-0763-4C2F-9AE4-E3E44348E203}" type="slidenum">
              <a:rPr lang="en-US" altLang="zh-CN" smtClean="0"/>
              <a:pPr/>
              <a:t>82</a:t>
            </a:fld>
            <a:endParaRPr lang="en-US" altLang="zh-CN"/>
          </a:p>
        </p:txBody>
      </p:sp>
      <p:sp>
        <p:nvSpPr>
          <p:cNvPr id="168963" name="Rectangle 2"/>
          <p:cNvSpPr>
            <a:spLocks noChangeArrowheads="1"/>
          </p:cNvSpPr>
          <p:nvPr/>
        </p:nvSpPr>
        <p:spPr bwMode="auto">
          <a:xfrm>
            <a:off x="3765550" y="0"/>
            <a:ext cx="2879725" cy="488950"/>
          </a:xfrm>
          <a:prstGeom prst="rect">
            <a:avLst/>
          </a:prstGeom>
          <a:noFill/>
          <a:ln w="12700">
            <a:noFill/>
            <a:miter lim="800000"/>
            <a:headEnd/>
            <a:tailEnd/>
          </a:ln>
        </p:spPr>
        <p:txBody>
          <a:bodyPr wrap="none" anchor="ctr"/>
          <a:lstStyle/>
          <a:p>
            <a:endParaRPr lang="zh-CN" altLang="en-US"/>
          </a:p>
        </p:txBody>
      </p:sp>
      <p:sp>
        <p:nvSpPr>
          <p:cNvPr id="168964" name="Rectangle 3"/>
          <p:cNvSpPr>
            <a:spLocks noChangeArrowheads="1"/>
          </p:cNvSpPr>
          <p:nvPr/>
        </p:nvSpPr>
        <p:spPr bwMode="auto">
          <a:xfrm>
            <a:off x="3765550" y="9288463"/>
            <a:ext cx="2879725" cy="488950"/>
          </a:xfrm>
          <a:prstGeom prst="rect">
            <a:avLst/>
          </a:prstGeom>
          <a:noFill/>
          <a:ln w="12700">
            <a:noFill/>
            <a:miter lim="800000"/>
            <a:headEnd/>
            <a:tailEnd/>
          </a:ln>
        </p:spPr>
        <p:txBody>
          <a:bodyPr lIns="19050" tIns="0" rIns="19050" bIns="0" anchor="b"/>
          <a:lstStyle/>
          <a:p>
            <a:pPr algn="r" eaLnBrk="0" hangingPunct="0"/>
            <a:r>
              <a:rPr kumimoji="1" lang="en-US" altLang="zh-CN" sz="1000" i="1" baseline="0">
                <a:latin typeface="Times New Roman" pitchFamily="18" charset="0"/>
              </a:rPr>
              <a:t>124</a:t>
            </a:r>
          </a:p>
        </p:txBody>
      </p:sp>
      <p:sp>
        <p:nvSpPr>
          <p:cNvPr id="168965" name="Rectangle 4"/>
          <p:cNvSpPr>
            <a:spLocks noChangeArrowheads="1"/>
          </p:cNvSpPr>
          <p:nvPr/>
        </p:nvSpPr>
        <p:spPr bwMode="auto">
          <a:xfrm>
            <a:off x="0" y="9288463"/>
            <a:ext cx="2879725" cy="488950"/>
          </a:xfrm>
          <a:prstGeom prst="rect">
            <a:avLst/>
          </a:prstGeom>
          <a:noFill/>
          <a:ln w="12700">
            <a:noFill/>
            <a:miter lim="800000"/>
            <a:headEnd/>
            <a:tailEnd/>
          </a:ln>
        </p:spPr>
        <p:txBody>
          <a:bodyPr wrap="none" anchor="ctr"/>
          <a:lstStyle/>
          <a:p>
            <a:endParaRPr lang="zh-CN" altLang="en-US"/>
          </a:p>
        </p:txBody>
      </p:sp>
      <p:sp>
        <p:nvSpPr>
          <p:cNvPr id="168966" name="Rectangle 5"/>
          <p:cNvSpPr>
            <a:spLocks noChangeArrowheads="1"/>
          </p:cNvSpPr>
          <p:nvPr/>
        </p:nvSpPr>
        <p:spPr bwMode="auto">
          <a:xfrm>
            <a:off x="0" y="0"/>
            <a:ext cx="2879725" cy="488950"/>
          </a:xfrm>
          <a:prstGeom prst="rect">
            <a:avLst/>
          </a:prstGeom>
          <a:noFill/>
          <a:ln w="12700">
            <a:noFill/>
            <a:miter lim="800000"/>
            <a:headEnd/>
            <a:tailEnd/>
          </a:ln>
        </p:spPr>
        <p:txBody>
          <a:bodyPr wrap="none" anchor="ctr"/>
          <a:lstStyle/>
          <a:p>
            <a:endParaRPr lang="zh-CN" altLang="en-US"/>
          </a:p>
        </p:txBody>
      </p:sp>
      <p:sp>
        <p:nvSpPr>
          <p:cNvPr id="168967" name="Rectangle 6"/>
          <p:cNvSpPr>
            <a:spLocks noGrp="1" noChangeArrowheads="1"/>
          </p:cNvSpPr>
          <p:nvPr>
            <p:ph type="body" idx="1"/>
          </p:nvPr>
        </p:nvSpPr>
        <p:spPr>
          <a:xfrm>
            <a:off x="885825" y="3505200"/>
            <a:ext cx="4873625" cy="5538788"/>
          </a:xfrm>
          <a:noFill/>
          <a:ln/>
        </p:spPr>
        <p:txBody>
          <a:bodyPr lIns="90488" tIns="44450" rIns="90488" bIns="44450"/>
          <a:lstStyle/>
          <a:p>
            <a:pPr eaLnBrk="1" hangingPunct="1"/>
            <a:r>
              <a:rPr lang="en-US" altLang="zh-CN"/>
              <a:t>Note:</a:t>
            </a:r>
          </a:p>
          <a:p>
            <a:pPr eaLnBrk="1" hangingPunct="1"/>
            <a:r>
              <a:rPr lang="en-US" altLang="zh-CN"/>
              <a:t>1. As we move farther from the mean, the bands get wider. </a:t>
            </a:r>
          </a:p>
          <a:p>
            <a:pPr eaLnBrk="1" hangingPunct="1"/>
            <a:r>
              <a:rPr lang="en-US" altLang="zh-CN"/>
              <a:t>2. The prediction interval bands are wider.  Why? (extra Syx)</a:t>
            </a:r>
          </a:p>
        </p:txBody>
      </p:sp>
      <p:sp>
        <p:nvSpPr>
          <p:cNvPr id="168968" name="Rectangle 7"/>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1145820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853325F9-4C96-42AD-8028-64ADFE1625E6}" type="slidenum">
              <a:rPr lang="en-US" altLang="zh-CN" smtClean="0"/>
              <a:pPr/>
              <a:t>91</a:t>
            </a:fld>
            <a:endParaRPr lang="en-US" altLang="zh-CN"/>
          </a:p>
        </p:txBody>
      </p:sp>
      <p:sp>
        <p:nvSpPr>
          <p:cNvPr id="16998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6998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730955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6F361633-E08A-41C0-B321-1308C1DB8AAC}" type="slidenum">
              <a:rPr lang="en-US" altLang="zh-CN" smtClean="0"/>
              <a:pPr/>
              <a:t>103</a:t>
            </a:fld>
            <a:endParaRPr lang="en-US" altLang="zh-CN"/>
          </a:p>
        </p:txBody>
      </p:sp>
      <p:sp>
        <p:nvSpPr>
          <p:cNvPr id="17101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p>
        </p:txBody>
      </p:sp>
      <p:sp>
        <p:nvSpPr>
          <p:cNvPr id="17101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50173993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0E1A95C-AB60-11CE-9FCC-A12789A51D6F}"/>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a:extLst>
              <a:ext uri="{FF2B5EF4-FFF2-40B4-BE49-F238E27FC236}">
                <a16:creationId xmlns:a16="http://schemas.microsoft.com/office/drawing/2014/main" id="{69AC3648-3719-56A4-E63A-102A57745D08}"/>
              </a:ext>
            </a:extLst>
          </p:cNvPr>
          <p:cNvSpPr>
            <a:spLocks noGrp="1"/>
          </p:cNvSpPr>
          <p:nvPr>
            <p:ph type="subTitle" idx="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zh-CN" altLang="en-US"/>
              <a:t>单击以编辑母版副标题样式</a:t>
            </a:r>
            <a:endParaRPr lang="zh-CN" altLang="en-US" dirty="0"/>
          </a:p>
        </p:txBody>
      </p:sp>
      <p:grpSp>
        <p:nvGrpSpPr>
          <p:cNvPr id="14" name="组合 13">
            <a:extLst>
              <a:ext uri="{FF2B5EF4-FFF2-40B4-BE49-F238E27FC236}">
                <a16:creationId xmlns:a16="http://schemas.microsoft.com/office/drawing/2014/main" id="{2D2A6A41-A5E3-1F93-8042-1A6754E98F5D}"/>
              </a:ext>
            </a:extLst>
          </p:cNvPr>
          <p:cNvGrpSpPr/>
          <p:nvPr userDrawn="1"/>
        </p:nvGrpSpPr>
        <p:grpSpPr>
          <a:xfrm>
            <a:off x="0" y="2"/>
            <a:ext cx="2091691" cy="1988141"/>
            <a:chOff x="1234440" y="204112"/>
            <a:chExt cx="2091690" cy="1988141"/>
          </a:xfrm>
        </p:grpSpPr>
        <p:pic>
          <p:nvPicPr>
            <p:cNvPr id="15" name="图片 14">
              <a:extLst>
                <a:ext uri="{FF2B5EF4-FFF2-40B4-BE49-F238E27FC236}">
                  <a16:creationId xmlns:a16="http://schemas.microsoft.com/office/drawing/2014/main" id="{85EC5039-FEDC-5D6B-0723-F481246B9DBA}"/>
                </a:ext>
              </a:extLst>
            </p:cNvPr>
            <p:cNvPicPr>
              <a:picLocks noChangeAspect="1"/>
            </p:cNvPicPr>
            <p:nvPr userDrawn="1"/>
          </p:nvPicPr>
          <p:blipFill>
            <a:blip r:embed="rId4">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a:extLst>
                <a:ext uri="{FF2B5EF4-FFF2-40B4-BE49-F238E27FC236}">
                  <a16:creationId xmlns:a16="http://schemas.microsoft.com/office/drawing/2014/main" id="{97E70C10-17B3-00AF-8350-5E3351AFADF7}"/>
                </a:ext>
              </a:extLst>
            </p:cNvPr>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a:extLst>
              <a:ext uri="{FF2B5EF4-FFF2-40B4-BE49-F238E27FC236}">
                <a16:creationId xmlns:a16="http://schemas.microsoft.com/office/drawing/2014/main" id="{A9181C8E-6D4D-B027-9E6C-866691379494}"/>
              </a:ext>
            </a:extLst>
          </p:cNvPr>
          <p:cNvPicPr>
            <a:picLocks noChangeAspect="1"/>
          </p:cNvPicPr>
          <p:nvPr userDrawn="1"/>
        </p:nvPicPr>
        <p:blipFill>
          <a:blip r:embed="rId6">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a:extLst>
              <a:ext uri="{FF2B5EF4-FFF2-40B4-BE49-F238E27FC236}">
                <a16:creationId xmlns:a16="http://schemas.microsoft.com/office/drawing/2014/main" id="{2377F44A-D5B9-E04F-1B3F-9093D830C895}"/>
              </a:ext>
            </a:extLst>
          </p:cNvPr>
          <p:cNvSpPr>
            <a:spLocks noGrp="1"/>
          </p:cNvSpPr>
          <p:nvPr>
            <p:ph type="ctrTitle" hasCustomPrompt="1"/>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71008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7D82B74-71A0-CFA3-1FA7-332CD870E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a:extLst>
              <a:ext uri="{FF2B5EF4-FFF2-40B4-BE49-F238E27FC236}">
                <a16:creationId xmlns:a16="http://schemas.microsoft.com/office/drawing/2014/main" id="{60FD8E30-EE8C-6BA1-37A7-35AC8E4EB2FE}"/>
              </a:ext>
            </a:extLst>
          </p:cNvPr>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a:extLst>
              <a:ext uri="{FF2B5EF4-FFF2-40B4-BE49-F238E27FC236}">
                <a16:creationId xmlns:a16="http://schemas.microsoft.com/office/drawing/2014/main" id="{584FD515-82E0-BD09-1A11-7E0F3E4C8ACD}"/>
              </a:ext>
            </a:extLst>
          </p:cNvPr>
          <p:cNvGrpSpPr/>
          <p:nvPr userDrawn="1"/>
        </p:nvGrpSpPr>
        <p:grpSpPr>
          <a:xfrm>
            <a:off x="0" y="1657350"/>
            <a:ext cx="12192000" cy="5333761"/>
            <a:chOff x="0" y="1657350"/>
            <a:chExt cx="12192000" cy="5333761"/>
          </a:xfrm>
        </p:grpSpPr>
        <p:pic>
          <p:nvPicPr>
            <p:cNvPr id="17" name="图片 16">
              <a:extLst>
                <a:ext uri="{FF2B5EF4-FFF2-40B4-BE49-F238E27FC236}">
                  <a16:creationId xmlns:a16="http://schemas.microsoft.com/office/drawing/2014/main" id="{B19E2A8D-64C0-E12E-C096-D098B85881F5}"/>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a:extLst>
                <a:ext uri="{FF2B5EF4-FFF2-40B4-BE49-F238E27FC236}">
                  <a16:creationId xmlns:a16="http://schemas.microsoft.com/office/drawing/2014/main" id="{4D6BE784-25C5-37C0-351D-C4EEE1B54C40}"/>
                </a:ext>
              </a:extLst>
            </p:cNvPr>
            <p:cNvSpPr/>
            <p:nvPr userDrawn="1"/>
          </p:nvSpPr>
          <p:spPr>
            <a:xfrm>
              <a:off x="0" y="2944887"/>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a:extLst>
              <a:ext uri="{FF2B5EF4-FFF2-40B4-BE49-F238E27FC236}">
                <a16:creationId xmlns:a16="http://schemas.microsoft.com/office/drawing/2014/main" id="{CDDD5C83-4DF3-4112-E273-EE8C9786D90E}"/>
              </a:ext>
            </a:extLst>
          </p:cNvPr>
          <p:cNvSpPr>
            <a:spLocks noGrp="1"/>
          </p:cNvSpPr>
          <p:nvPr>
            <p:ph type="title"/>
          </p:nvPr>
        </p:nvSpPr>
        <p:spPr>
          <a:xfrm>
            <a:off x="1244600" y="119066"/>
            <a:ext cx="10947400" cy="662782"/>
          </a:xfrm>
          <a:prstGeom prst="rect">
            <a:avLst/>
          </a:prstGeom>
        </p:spPr>
        <p:txBody>
          <a:bodyPr vert="horz" lIns="91440" tIns="45720" rIns="91440" bIns="45720" rtlCol="0" anchor="ctr">
            <a:normAutofit/>
          </a:bodyPr>
          <a:lstStyle>
            <a:lvl1pPr>
              <a:defRPr sz="3600" b="1">
                <a:effectLs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BC57549-1377-1308-C899-C4200C56E9E9}"/>
              </a:ext>
            </a:extLst>
          </p:cNvPr>
          <p:cNvSpPr>
            <a:spLocks noGrp="1"/>
          </p:cNvSpPr>
          <p:nvPr>
            <p:ph idx="1" hasCustomPrompt="1"/>
          </p:nvPr>
        </p:nvSpPr>
        <p:spPr>
          <a:xfrm>
            <a:off x="990599" y="800100"/>
            <a:ext cx="10668001" cy="5333761"/>
          </a:xfrm>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a:extLst>
              <a:ext uri="{FF2B5EF4-FFF2-40B4-BE49-F238E27FC236}">
                <a16:creationId xmlns:a16="http://schemas.microsoft.com/office/drawing/2014/main" id="{68452FB3-A5EC-64BE-3BF3-9BF67E719F8A}"/>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107669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a:extLst>
              <a:ext uri="{FF2B5EF4-FFF2-40B4-BE49-F238E27FC236}">
                <a16:creationId xmlns:a16="http://schemas.microsoft.com/office/drawing/2014/main" id="{2FAB0E7E-6947-3D38-E752-CB13A2398E95}"/>
              </a:ext>
            </a:extLst>
          </p:cNvPr>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a:extLst>
              <a:ext uri="{FF2B5EF4-FFF2-40B4-BE49-F238E27FC236}">
                <a16:creationId xmlns:a16="http://schemas.microsoft.com/office/drawing/2014/main" id="{9405B5EC-0BD8-8A12-B164-D066FD3CDA96}"/>
              </a:ext>
            </a:extLst>
          </p:cNvPr>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a:extLst>
              <a:ext uri="{FF2B5EF4-FFF2-40B4-BE49-F238E27FC236}">
                <a16:creationId xmlns:a16="http://schemas.microsoft.com/office/drawing/2014/main" id="{23C37A6F-817C-92B1-88E7-09099749A8C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350724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63373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4FC9EE5B-B788-51F5-CBD3-DD8EDF521B83}"/>
              </a:ext>
            </a:extLst>
          </p:cNvPr>
          <p:cNvGrpSpPr/>
          <p:nvPr userDrawn="1"/>
        </p:nvGrpSpPr>
        <p:grpSpPr>
          <a:xfrm>
            <a:off x="0" y="1657350"/>
            <a:ext cx="12192000" cy="5212084"/>
            <a:chOff x="0" y="1657350"/>
            <a:chExt cx="12192000" cy="5212084"/>
          </a:xfrm>
        </p:grpSpPr>
        <p:pic>
          <p:nvPicPr>
            <p:cNvPr id="7" name="图片 6">
              <a:extLst>
                <a:ext uri="{FF2B5EF4-FFF2-40B4-BE49-F238E27FC236}">
                  <a16:creationId xmlns:a16="http://schemas.microsoft.com/office/drawing/2014/main" id="{9D8A08C6-FD02-1EFB-898D-62FC4271ECB7}"/>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a:extLst>
                <a:ext uri="{FF2B5EF4-FFF2-40B4-BE49-F238E27FC236}">
                  <a16:creationId xmlns:a16="http://schemas.microsoft.com/office/drawing/2014/main" id="{A6BA4D1C-3C58-19A2-3199-37843C7107B6}"/>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45032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A9CA9-31DD-83B3-3E76-B30B001E4634}"/>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2491F11-3B28-CCCD-8457-E079270E01B7}"/>
              </a:ext>
            </a:extLst>
          </p:cNvPr>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a:extLst>
              <a:ext uri="{FF2B5EF4-FFF2-40B4-BE49-F238E27FC236}">
                <a16:creationId xmlns:a16="http://schemas.microsoft.com/office/drawing/2014/main" id="{7D46468F-0755-E29B-F298-04DA71683A95}"/>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2745580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6" r:id="rId4"/>
    <p:sldLayoutId id="2147483655" r:id="rId5"/>
  </p:sldLayoutIdLst>
  <p:hf hdr="0" ftr="0" dt="0"/>
  <p:txStyles>
    <p:title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p:titleStyle>
    <p:body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zh-CN"/>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oleObject" Target="../embeddings/oleObject12.bin"/></Relationships>
</file>

<file path=ppt/slides/_rels/slide4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4.bin"/></Relationships>
</file>

<file path=ppt/slides/_rels/slide4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17.bin"/><Relationship Id="rId4" Type="http://schemas.openxmlformats.org/officeDocument/2006/relationships/image" Target="../media/image23.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20.bin"/><Relationship Id="rId4" Type="http://schemas.openxmlformats.org/officeDocument/2006/relationships/image" Target="../media/image26.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29.wmf"/><Relationship Id="rId4" Type="http://schemas.openxmlformats.org/officeDocument/2006/relationships/oleObject" Target="../embeddings/oleObject22.bin"/><Relationship Id="rId9" Type="http://schemas.openxmlformats.org/officeDocument/2006/relationships/image" Target="../media/image31.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33.wmf"/><Relationship Id="rId4" Type="http://schemas.openxmlformats.org/officeDocument/2006/relationships/oleObject" Target="../embeddings/oleObject26.bin"/><Relationship Id="rId9" Type="http://schemas.openxmlformats.org/officeDocument/2006/relationships/image" Target="../media/image35.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7.wmf"/><Relationship Id="rId5" Type="http://schemas.openxmlformats.org/officeDocument/2006/relationships/oleObject" Target="../embeddings/oleObject30.bin"/><Relationship Id="rId4" Type="http://schemas.openxmlformats.org/officeDocument/2006/relationships/image" Target="../media/image3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32.bin"/><Relationship Id="rId4" Type="http://schemas.openxmlformats.org/officeDocument/2006/relationships/image" Target="../media/image38.wmf"/></Relationships>
</file>

<file path=ppt/slides/_rels/slide48.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44.wmf"/><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1.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36.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5.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46.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48.wmf"/><Relationship Id="rId4" Type="http://schemas.openxmlformats.org/officeDocument/2006/relationships/oleObject" Target="../embeddings/oleObject41.bin"/><Relationship Id="rId9" Type="http://schemas.openxmlformats.org/officeDocument/2006/relationships/image" Target="../media/image50.wmf"/></Relationships>
</file>

<file path=ppt/slides/_rels/slide53.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4.bin"/><Relationship Id="rId1" Type="http://schemas.openxmlformats.org/officeDocument/2006/relationships/slideLayout" Target="../slideLayouts/slideLayout2.xml"/><Relationship Id="rId5" Type="http://schemas.openxmlformats.org/officeDocument/2006/relationships/image" Target="../media/image52.wmf"/><Relationship Id="rId4" Type="http://schemas.openxmlformats.org/officeDocument/2006/relationships/oleObject" Target="../embeddings/oleObject45.bin"/></Relationships>
</file>

<file path=ppt/slides/_rels/slide54.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46.bin"/><Relationship Id="rId1" Type="http://schemas.openxmlformats.org/officeDocument/2006/relationships/slideLayout" Target="../slideLayouts/slideLayout4.xml"/><Relationship Id="rId5" Type="http://schemas.openxmlformats.org/officeDocument/2006/relationships/image" Target="../media/image54.wmf"/><Relationship Id="rId4" Type="http://schemas.openxmlformats.org/officeDocument/2006/relationships/oleObject" Target="../embeddings/oleObject47.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57.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60.e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7.emf"/><Relationship Id="rId11" Type="http://schemas.openxmlformats.org/officeDocument/2006/relationships/oleObject" Target="../embeddings/oleObject53.bin"/><Relationship Id="rId5" Type="http://schemas.openxmlformats.org/officeDocument/2006/relationships/oleObject" Target="../embeddings/oleObject50.bin"/><Relationship Id="rId10" Type="http://schemas.openxmlformats.org/officeDocument/2006/relationships/image" Target="../media/image59.emf"/><Relationship Id="rId4" Type="http://schemas.openxmlformats.org/officeDocument/2006/relationships/image" Target="../media/image56.emf"/><Relationship Id="rId9" Type="http://schemas.openxmlformats.org/officeDocument/2006/relationships/oleObject" Target="../embeddings/oleObject52.bin"/><Relationship Id="rId14" Type="http://schemas.openxmlformats.org/officeDocument/2006/relationships/image" Target="../media/image61.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oleObject" Target="../embeddings/oleObject56.bin"/><Relationship Id="rId4" Type="http://schemas.openxmlformats.org/officeDocument/2006/relationships/image" Target="../media/image62.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59.bin"/><Relationship Id="rId1" Type="http://schemas.openxmlformats.org/officeDocument/2006/relationships/slideLayout" Target="../slideLayouts/slideLayout2.xml"/><Relationship Id="rId5" Type="http://schemas.openxmlformats.org/officeDocument/2006/relationships/image" Target="../media/image67.emf"/><Relationship Id="rId4" Type="http://schemas.openxmlformats.org/officeDocument/2006/relationships/oleObject" Target="../embeddings/oleObject60.bin"/></Relationships>
</file>

<file path=ppt/slides/_rels/slide6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61.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69.wmf"/><Relationship Id="rId7" Type="http://schemas.openxmlformats.org/officeDocument/2006/relationships/image" Target="../media/image71.wmf"/><Relationship Id="rId2"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oleObject" Target="../embeddings/oleObject64.bin"/><Relationship Id="rId5" Type="http://schemas.openxmlformats.org/officeDocument/2006/relationships/image" Target="../media/image70.wmf"/><Relationship Id="rId4" Type="http://schemas.openxmlformats.org/officeDocument/2006/relationships/oleObject" Target="../embeddings/oleObject63.bin"/><Relationship Id="rId9" Type="http://schemas.openxmlformats.org/officeDocument/2006/relationships/image" Target="../media/image72.wmf"/></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3.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74.e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76.wmf"/><Relationship Id="rId5" Type="http://schemas.openxmlformats.org/officeDocument/2006/relationships/oleObject" Target="../embeddings/oleObject69.bin"/><Relationship Id="rId4" Type="http://schemas.openxmlformats.org/officeDocument/2006/relationships/image" Target="../media/image75.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8.wmf"/><Relationship Id="rId5" Type="http://schemas.openxmlformats.org/officeDocument/2006/relationships/oleObject" Target="../embeddings/oleObject71.bin"/><Relationship Id="rId4" Type="http://schemas.openxmlformats.org/officeDocument/2006/relationships/image" Target="../media/image77.emf"/></Relationships>
</file>

<file path=ppt/slides/_rels/slide7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80.wmf"/><Relationship Id="rId5" Type="http://schemas.openxmlformats.org/officeDocument/2006/relationships/oleObject" Target="../embeddings/oleObject73.bin"/><Relationship Id="rId10" Type="http://schemas.openxmlformats.org/officeDocument/2006/relationships/image" Target="../media/image82.wmf"/><Relationship Id="rId4" Type="http://schemas.openxmlformats.org/officeDocument/2006/relationships/image" Target="../media/image79.emf"/><Relationship Id="rId9" Type="http://schemas.openxmlformats.org/officeDocument/2006/relationships/oleObject" Target="../embeddings/oleObject75.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83.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oleObject" Target="../embeddings/oleObject78.bin"/><Relationship Id="rId4" Type="http://schemas.openxmlformats.org/officeDocument/2006/relationships/image" Target="../media/image84.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80.bin"/><Relationship Id="rId4" Type="http://schemas.openxmlformats.org/officeDocument/2006/relationships/image" Target="../media/image85.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87.wmf"/></Relationships>
</file>

<file path=ppt/slides/_rels/slide81.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oleObject" Target="../embeddings/oleObject82.bin"/><Relationship Id="rId1" Type="http://schemas.openxmlformats.org/officeDocument/2006/relationships/slideLayout" Target="../slideLayouts/slideLayout4.xml"/><Relationship Id="rId5" Type="http://schemas.openxmlformats.org/officeDocument/2006/relationships/image" Target="../media/image89.emf"/><Relationship Id="rId4" Type="http://schemas.openxmlformats.org/officeDocument/2006/relationships/oleObject" Target="../embeddings/oleObject83.bin"/></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91.wmf"/><Relationship Id="rId5" Type="http://schemas.openxmlformats.org/officeDocument/2006/relationships/oleObject" Target="../embeddings/oleObject85.bin"/><Relationship Id="rId4" Type="http://schemas.openxmlformats.org/officeDocument/2006/relationships/image" Target="../media/image90.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92.wmf"/><Relationship Id="rId7" Type="http://schemas.openxmlformats.org/officeDocument/2006/relationships/image" Target="../media/image94.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93.wmf"/><Relationship Id="rId4" Type="http://schemas.openxmlformats.org/officeDocument/2006/relationships/oleObject" Target="../embeddings/oleObject87.bin"/></Relationships>
</file>

<file path=ppt/slides/_rels/slide85.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oleObject" Target="../embeddings/oleObject89.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93.bin"/><Relationship Id="rId13"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98.wmf"/><Relationship Id="rId12" Type="http://schemas.openxmlformats.org/officeDocument/2006/relationships/oleObject" Target="../embeddings/oleObject95.bin"/><Relationship Id="rId2" Type="http://schemas.openxmlformats.org/officeDocument/2006/relationships/oleObject" Target="../embeddings/oleObject90.bin"/><Relationship Id="rId1" Type="http://schemas.openxmlformats.org/officeDocument/2006/relationships/slideLayout" Target="../slideLayouts/slideLayout2.xml"/><Relationship Id="rId6" Type="http://schemas.openxmlformats.org/officeDocument/2006/relationships/oleObject" Target="../embeddings/oleObject92.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94.bin"/><Relationship Id="rId4" Type="http://schemas.openxmlformats.org/officeDocument/2006/relationships/oleObject" Target="../embeddings/oleObject91.bin"/><Relationship Id="rId9" Type="http://schemas.openxmlformats.org/officeDocument/2006/relationships/image" Target="../media/image99.wmf"/><Relationship Id="rId14" Type="http://schemas.openxmlformats.org/officeDocument/2006/relationships/oleObject" Target="../embeddings/oleObject96.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97.bin"/><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07.wmf"/><Relationship Id="rId2" Type="http://schemas.openxmlformats.org/officeDocument/2006/relationships/oleObject" Target="../embeddings/oleObject98.bin"/><Relationship Id="rId1" Type="http://schemas.openxmlformats.org/officeDocument/2006/relationships/slideLayout" Target="../slideLayouts/slideLayout2.xml"/><Relationship Id="rId6" Type="http://schemas.openxmlformats.org/officeDocument/2006/relationships/oleObject" Target="../embeddings/oleObject100.bin"/><Relationship Id="rId5" Type="http://schemas.openxmlformats.org/officeDocument/2006/relationships/image" Target="../media/image106.wmf"/><Relationship Id="rId4" Type="http://schemas.openxmlformats.org/officeDocument/2006/relationships/oleObject" Target="../embeddings/oleObject99.bin"/></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09.wmf"/><Relationship Id="rId5" Type="http://schemas.openxmlformats.org/officeDocument/2006/relationships/oleObject" Target="../embeddings/oleObject102.bin"/><Relationship Id="rId4" Type="http://schemas.openxmlformats.org/officeDocument/2006/relationships/image" Target="../media/image108.wmf"/></Relationships>
</file>

<file path=ppt/slides/_rels/slide92.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oleObject" Target="../embeddings/oleObject103.bin"/><Relationship Id="rId1" Type="http://schemas.openxmlformats.org/officeDocument/2006/relationships/slideLayout" Target="../slideLayouts/slideLayout2.xml"/><Relationship Id="rId5" Type="http://schemas.openxmlformats.org/officeDocument/2006/relationships/image" Target="../media/image111.wmf"/><Relationship Id="rId4" Type="http://schemas.openxmlformats.org/officeDocument/2006/relationships/oleObject" Target="../embeddings/oleObject104.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image" Target="../media/image5.png"/><Relationship Id="rId7" Type="http://schemas.openxmlformats.org/officeDocument/2006/relationships/image" Target="../media/image114.wmf"/><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oleObject" Target="../embeddings/oleObject106.bin"/><Relationship Id="rId11" Type="http://schemas.openxmlformats.org/officeDocument/2006/relationships/image" Target="../media/image116.wmf"/><Relationship Id="rId5" Type="http://schemas.openxmlformats.org/officeDocument/2006/relationships/image" Target="../media/image113.wmf"/><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115.wmf"/></Relationships>
</file>

<file path=ppt/slides/_rels/slide9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oleObject" Target="../embeddings/oleObject109.bin"/><Relationship Id="rId1" Type="http://schemas.openxmlformats.org/officeDocument/2006/relationships/slideLayout" Target="../slideLayouts/slideLayout2.xml"/><Relationship Id="rId6" Type="http://schemas.openxmlformats.org/officeDocument/2006/relationships/image" Target="../media/image118.wmf"/><Relationship Id="rId5" Type="http://schemas.openxmlformats.org/officeDocument/2006/relationships/oleObject" Target="../embeddings/oleObject110.bin"/><Relationship Id="rId4" Type="http://schemas.openxmlformats.org/officeDocument/2006/relationships/image" Target="../media/image11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4" name="Rectangle 3"/>
          <p:cNvSpPr>
            <a:spLocks noGrp="1" noChangeArrowheads="1"/>
          </p:cNvSpPr>
          <p:nvPr>
            <p:ph type="subTitle" idx="1"/>
          </p:nvPr>
        </p:nvSpPr>
        <p:spPr>
          <a:xfrm>
            <a:off x="3619500" y="2868932"/>
            <a:ext cx="7048500" cy="2709570"/>
          </a:xfrm>
          <a:noFill/>
        </p:spPr>
        <p:txBody>
          <a:bodyPr vert="horz" lIns="90488" tIns="44450" rIns="90488" bIns="44450" rtlCol="0" anchorCtr="0">
            <a:noAutofit/>
          </a:bodyPr>
          <a:lstStyle/>
          <a:p>
            <a:pPr algn="l" eaLnBrk="1" hangingPunct="1">
              <a:spcBef>
                <a:spcPct val="30000"/>
              </a:spcBef>
            </a:pPr>
            <a:r>
              <a:rPr lang="en-US" altLang="zh-CN" dirty="0"/>
              <a:t>9.1 </a:t>
            </a:r>
            <a:r>
              <a:rPr lang="zh-CN" altLang="en-US" dirty="0"/>
              <a:t>相关与回归分析概述</a:t>
            </a:r>
            <a:r>
              <a:rPr lang="zh-CN" altLang="en-US" b="0" dirty="0"/>
              <a:t> </a:t>
            </a:r>
          </a:p>
          <a:p>
            <a:pPr algn="l" eaLnBrk="1" hangingPunct="1">
              <a:spcBef>
                <a:spcPct val="30000"/>
              </a:spcBef>
            </a:pPr>
            <a:r>
              <a:rPr lang="en-US" altLang="zh-CN" dirty="0"/>
              <a:t>9.2 </a:t>
            </a:r>
            <a:r>
              <a:rPr lang="zh-CN" altLang="en-US" dirty="0"/>
              <a:t>一元线性相关分析</a:t>
            </a:r>
          </a:p>
          <a:p>
            <a:pPr algn="l" eaLnBrk="1" hangingPunct="1">
              <a:spcBef>
                <a:spcPct val="30000"/>
              </a:spcBef>
            </a:pPr>
            <a:r>
              <a:rPr lang="en-US" altLang="zh-CN" dirty="0"/>
              <a:t>9.3 </a:t>
            </a:r>
            <a:r>
              <a:rPr lang="zh-CN" altLang="en-US" dirty="0"/>
              <a:t>一元线性回归分析</a:t>
            </a:r>
          </a:p>
          <a:p>
            <a:pPr algn="l" eaLnBrk="1" hangingPunct="1">
              <a:spcBef>
                <a:spcPct val="30000"/>
              </a:spcBef>
            </a:pPr>
            <a:r>
              <a:rPr lang="en-US" altLang="zh-CN" b="0" dirty="0"/>
              <a:t>*9.4  </a:t>
            </a:r>
            <a:r>
              <a:rPr lang="zh-CN" altLang="en-US" b="0" dirty="0"/>
              <a:t>多元线性回归分析</a:t>
            </a:r>
            <a:r>
              <a:rPr lang="en-US" altLang="zh-CN" sz="2400" b="0" dirty="0">
                <a:solidFill>
                  <a:schemeClr val="accent5">
                    <a:lumMod val="60000"/>
                    <a:lumOff val="40000"/>
                  </a:schemeClr>
                </a:solidFill>
              </a:rPr>
              <a:t>——</a:t>
            </a:r>
            <a:r>
              <a:rPr lang="zh-CN" altLang="en-US" sz="2400" b="0" dirty="0">
                <a:solidFill>
                  <a:schemeClr val="accent5">
                    <a:lumMod val="60000"/>
                    <a:lumOff val="40000"/>
                  </a:schemeClr>
                </a:solidFill>
              </a:rPr>
              <a:t>可略</a:t>
            </a:r>
            <a:endParaRPr lang="en-US" altLang="zh-CN" sz="2400" b="0" dirty="0">
              <a:solidFill>
                <a:schemeClr val="accent5">
                  <a:lumMod val="60000"/>
                  <a:lumOff val="40000"/>
                </a:schemeClr>
              </a:solidFill>
            </a:endParaRPr>
          </a:p>
        </p:txBody>
      </p:sp>
      <p:sp>
        <p:nvSpPr>
          <p:cNvPr id="56323" name="Rectangle 2"/>
          <p:cNvSpPr>
            <a:spLocks noGrp="1" noChangeArrowheads="1"/>
          </p:cNvSpPr>
          <p:nvPr>
            <p:ph type="ctrTitle"/>
          </p:nvPr>
        </p:nvSpPr>
        <p:spPr>
          <a:noFill/>
        </p:spPr>
        <p:txBody>
          <a:bodyPr vert="horz" lIns="90488" tIns="44450" rIns="90488" bIns="44450" rtlCol="0" anchor="ctr" anchorCtr="0">
            <a:normAutofit/>
          </a:bodyPr>
          <a:lstStyle/>
          <a:p>
            <a:pPr eaLnBrk="1" hangingPunct="1"/>
            <a:r>
              <a:rPr lang="zh-CN" altLang="en-US" sz="4800" dirty="0"/>
              <a:t>第</a:t>
            </a:r>
            <a:r>
              <a:rPr lang="en-US" altLang="zh-CN" sz="4800" dirty="0"/>
              <a:t>9</a:t>
            </a:r>
            <a:r>
              <a:rPr lang="zh-CN" altLang="en-US" sz="4800" dirty="0"/>
              <a:t>章   相关与回归分析</a:t>
            </a:r>
            <a:endParaRPr lang="zh-CN" altLang="en-US" sz="4800" b="0" dirty="0"/>
          </a:p>
        </p:txBody>
      </p:sp>
      <p:grpSp>
        <p:nvGrpSpPr>
          <p:cNvPr id="6" name="Group 102"/>
          <p:cNvGrpSpPr>
            <a:grpSpLocks/>
          </p:cNvGrpSpPr>
          <p:nvPr/>
        </p:nvGrpSpPr>
        <p:grpSpPr bwMode="auto">
          <a:xfrm rot="2977960">
            <a:off x="10575525" y="5341918"/>
            <a:ext cx="1209697" cy="1327125"/>
            <a:chOff x="1632" y="1248"/>
            <a:chExt cx="2682" cy="2286"/>
          </a:xfrm>
        </p:grpSpPr>
        <p:sp>
          <p:nvSpPr>
            <p:cNvPr id="7" name="Gear"/>
            <p:cNvSpPr>
              <a:spLocks noEditPoints="1" noChangeArrowheads="1"/>
            </p:cNvSpPr>
            <p:nvPr/>
          </p:nvSpPr>
          <p:spPr bwMode="auto">
            <a:xfrm>
              <a:off x="3119" y="1248"/>
              <a:ext cx="1195" cy="10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4 w 21600"/>
                <a:gd name="T13" fmla="*/ 3957 h 21600"/>
                <a:gd name="T14" fmla="*/ 17840 w 21600"/>
                <a:gd name="T15" fmla="*/ 17643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C99FF"/>
            </a:solidFill>
            <a:ln w="9525">
              <a:miter lim="800000"/>
              <a:headEnd/>
              <a:tailEnd/>
            </a:ln>
            <a:scene3d>
              <a:camera prst="legacyPerspectiveFront">
                <a:rot lat="20099983" lon="1500000" rev="0"/>
              </a:camera>
              <a:lightRig rig="legacyFlat4" dir="b"/>
            </a:scene3d>
            <a:sp3d extrusionH="430200" prstMaterial="legacyMatte">
              <a:bevelT w="13500" h="13500" prst="angle"/>
              <a:bevelB w="13500" h="13500" prst="angle"/>
              <a:extrusionClr>
                <a:srgbClr val="CC99FF"/>
              </a:extrusionClr>
            </a:sp3d>
          </p:spPr>
          <p:txBody>
            <a:bodyPr>
              <a:flatTx/>
            </a:bodyPr>
            <a:lstStyle/>
            <a:p>
              <a:endParaRPr lang="zh-CN" altLang="en-US"/>
            </a:p>
          </p:txBody>
        </p:sp>
        <p:sp>
          <p:nvSpPr>
            <p:cNvPr id="8" name="AutoShape 104"/>
            <p:cNvSpPr>
              <a:spLocks noEditPoints="1" noChangeArrowheads="1"/>
            </p:cNvSpPr>
            <p:nvPr/>
          </p:nvSpPr>
          <p:spPr bwMode="auto">
            <a:xfrm>
              <a:off x="1632" y="1680"/>
              <a:ext cx="1429" cy="12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C99FF"/>
            </a:solidFill>
            <a:ln w="9525">
              <a:miter lim="800000"/>
              <a:headEnd/>
              <a:tailEnd/>
            </a:ln>
            <a:scene3d>
              <a:camera prst="legacyPerspectiveFront">
                <a:rot lat="20099983" lon="1500000" rev="0"/>
              </a:camera>
              <a:lightRig rig="legacyFlat4" dir="b"/>
            </a:scene3d>
            <a:sp3d extrusionH="430200" prstMaterial="legacyMatte">
              <a:bevelT w="13500" h="13500" prst="angle"/>
              <a:bevelB w="13500" h="13500" prst="angle"/>
              <a:extrusionClr>
                <a:srgbClr val="CC99FF"/>
              </a:extrusionClr>
            </a:sp3d>
          </p:spPr>
          <p:txBody>
            <a:bodyPr rot="10800000" vert="eaVert">
              <a:flatTx/>
            </a:bodyPr>
            <a:lstStyle/>
            <a:p>
              <a:r>
                <a:rPr lang="en-US" altLang="zh-CN" dirty="0"/>
                <a:t>,,,,</a:t>
              </a:r>
            </a:p>
          </p:txBody>
        </p:sp>
        <p:sp>
          <p:nvSpPr>
            <p:cNvPr id="9" name="AutoShape 105"/>
            <p:cNvSpPr>
              <a:spLocks noEditPoints="1" noChangeArrowheads="1"/>
            </p:cNvSpPr>
            <p:nvPr/>
          </p:nvSpPr>
          <p:spPr bwMode="auto">
            <a:xfrm>
              <a:off x="2559" y="2142"/>
              <a:ext cx="1588"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80 w 21600"/>
                <a:gd name="T13" fmla="*/ 3957 h 21600"/>
                <a:gd name="T14" fmla="*/ 17846 w 21600"/>
                <a:gd name="T15" fmla="*/ 17628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C99FF"/>
            </a:solidFill>
            <a:ln w="9525">
              <a:miter lim="800000"/>
              <a:headEnd/>
              <a:tailEnd/>
            </a:ln>
            <a:scene3d>
              <a:camera prst="legacyPerspectiveFront">
                <a:rot lat="20099983" lon="1500000" rev="0"/>
              </a:camera>
              <a:lightRig rig="legacyFlat4" dir="b"/>
            </a:scene3d>
            <a:sp3d extrusionH="430200" prstMaterial="legacyMatte">
              <a:bevelT w="13500" h="13500" prst="angle"/>
              <a:bevelB w="13500" h="13500" prst="angle"/>
              <a:extrusionClr>
                <a:srgbClr val="CC99FF"/>
              </a:extrusionClr>
            </a:sp3d>
          </p:spPr>
          <p:txBody>
            <a:bodyPr rot="10800000" vert="eaVert">
              <a:flatTx/>
            </a:bodyPr>
            <a:lstStyle/>
            <a:p>
              <a:r>
                <a:rPr lang="en-US" altLang="zh-CN" dirty="0"/>
                <a:t>……</a:t>
              </a:r>
            </a:p>
          </p:txBody>
        </p:sp>
      </p:grpSp>
    </p:spTree>
    <p:extLst>
      <p:ext uri="{BB962C8B-B14F-4D97-AF65-F5344CB8AC3E}">
        <p14:creationId xmlns:p14="http://schemas.microsoft.com/office/powerpoint/2010/main" val="3605213368"/>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9800" y="119066"/>
            <a:ext cx="9982200" cy="662782"/>
          </a:xfrm>
        </p:spPr>
        <p:txBody>
          <a:bodyPr/>
          <a:lstStyle/>
          <a:p>
            <a:r>
              <a:rPr lang="zh-CN" altLang="en-US" dirty="0"/>
              <a:t>引例</a:t>
            </a:r>
          </a:p>
        </p:txBody>
      </p:sp>
      <p:sp>
        <p:nvSpPr>
          <p:cNvPr id="3" name="内容占位符 2"/>
          <p:cNvSpPr>
            <a:spLocks noGrp="1"/>
          </p:cNvSpPr>
          <p:nvPr>
            <p:ph idx="1"/>
          </p:nvPr>
        </p:nvSpPr>
        <p:spPr>
          <a:xfrm>
            <a:off x="990599" y="800100"/>
            <a:ext cx="10668001" cy="5876368"/>
          </a:xfrm>
        </p:spPr>
        <p:txBody>
          <a:bodyPr>
            <a:normAutofit/>
          </a:bodyPr>
          <a:lstStyle/>
          <a:p>
            <a:pPr marL="0" indent="0">
              <a:lnSpc>
                <a:spcPct val="150000"/>
              </a:lnSpc>
              <a:spcBef>
                <a:spcPts val="600"/>
              </a:spcBef>
              <a:spcAft>
                <a:spcPts val="0"/>
              </a:spcAft>
              <a:buNone/>
            </a:pPr>
            <a:r>
              <a:rPr lang="zh-CN" altLang="en-US" dirty="0"/>
              <a:t>       影响人均寿命的因素很多，不仅有经济发展、医疗卫生、文教体育等方面的发展水平，也有生活方式、人口结构、自然环境等诸多因素。</a:t>
            </a:r>
            <a:r>
              <a:rPr lang="zh-CN" altLang="en-US" dirty="0">
                <a:solidFill>
                  <a:srgbClr val="0070C0"/>
                </a:solidFill>
              </a:rPr>
              <a:t>各地区的人均寿命究竟与哪些因素密切相关呢？如何找出导致不同地区人均寿命存在显著差异的主要影响因素？人均寿命与其主要影响因素之间存在什么样的数量依存关系？如何根据各主要影响因素的变化对人均寿命进行预测呢？</a:t>
            </a:r>
            <a:r>
              <a:rPr lang="zh-CN" altLang="en-US" dirty="0"/>
              <a:t>要解决此类问题，可运用本章所介绍的相关分析法与回归分析法。</a:t>
            </a: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2</a:t>
            </a:fld>
            <a:endParaRPr lang="zh-CN" altLang="en-US"/>
          </a:p>
        </p:txBody>
      </p:sp>
    </p:spTree>
    <p:extLst>
      <p:ext uri="{BB962C8B-B14F-4D97-AF65-F5344CB8AC3E}">
        <p14:creationId xmlns:p14="http://schemas.microsoft.com/office/powerpoint/2010/main" val="1848350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ctrTitle"/>
          </p:nvPr>
        </p:nvSpPr>
        <p:spPr>
          <a:noFill/>
        </p:spPr>
        <p:txBody>
          <a:bodyPr vert="horz" lIns="90488" tIns="44450" rIns="90488" bIns="44450" rtlCol="0" anchor="ctr" anchorCtr="0">
            <a:normAutofit/>
          </a:bodyPr>
          <a:lstStyle/>
          <a:p>
            <a:pPr eaLnBrk="1" hangingPunct="1"/>
            <a:r>
              <a:rPr lang="en-US" altLang="zh-CN" sz="4800" dirty="0"/>
              <a:t>9.1 </a:t>
            </a:r>
            <a:r>
              <a:rPr lang="zh-CN" altLang="en-US" sz="4800" dirty="0"/>
              <a:t>相关与回归分析的概述</a:t>
            </a:r>
            <a:br>
              <a:rPr lang="zh-CN" altLang="en-US" sz="4800" b="0" dirty="0"/>
            </a:br>
            <a:endParaRPr lang="zh-CN" altLang="en-US" sz="4800" b="0" dirty="0"/>
          </a:p>
        </p:txBody>
      </p:sp>
      <p:sp>
        <p:nvSpPr>
          <p:cNvPr id="57346" name="Rectangle 33"/>
          <p:cNvSpPr>
            <a:spLocks noGrp="1" noChangeArrowheads="1"/>
          </p:cNvSpPr>
          <p:nvPr>
            <p:ph type="sldNum" sz="quarter" idx="4294967295"/>
          </p:nvPr>
        </p:nvSpPr>
        <p:spPr>
          <a:xfrm>
            <a:off x="9448800" y="6311900"/>
            <a:ext cx="2743200" cy="365125"/>
          </a:xfrm>
          <a:noFill/>
        </p:spPr>
        <p:txBody>
          <a:bodyPr/>
          <a:lstStyle/>
          <a:p>
            <a:r>
              <a:rPr lang="en-US" altLang="zh-CN" dirty="0"/>
              <a:t>9-</a:t>
            </a:r>
            <a:fld id="{6F27FF4B-C4B6-405C-BA21-08D44E7030DB}" type="slidenum">
              <a:rPr lang="en-US" altLang="zh-CN" smtClean="0"/>
              <a:pPr/>
              <a:t>3</a:t>
            </a:fld>
            <a:endParaRPr lang="en-US" altLang="zh-CN" dirty="0"/>
          </a:p>
        </p:txBody>
      </p:sp>
      <p:sp>
        <p:nvSpPr>
          <p:cNvPr id="57348" name="Rectangle 3"/>
          <p:cNvSpPr>
            <a:spLocks noChangeArrowheads="1"/>
          </p:cNvSpPr>
          <p:nvPr/>
        </p:nvSpPr>
        <p:spPr bwMode="auto">
          <a:xfrm>
            <a:off x="2901950" y="2700339"/>
            <a:ext cx="8007320" cy="2800767"/>
          </a:xfrm>
          <a:prstGeom prst="rect">
            <a:avLst/>
          </a:prstGeom>
          <a:noFill/>
          <a:ln w="12700">
            <a:noFill/>
            <a:miter lim="800000"/>
            <a:headEnd/>
            <a:tailEnd/>
          </a:ln>
        </p:spPr>
        <p:txBody>
          <a:bodyPr wrap="none">
            <a:spAutoFit/>
          </a:bodyPr>
          <a:lstStyle/>
          <a:p>
            <a:pPr eaLnBrk="0" hangingPunct="0">
              <a:lnSpc>
                <a:spcPct val="110000"/>
              </a:lnSpc>
            </a:pPr>
            <a:r>
              <a:rPr kumimoji="1" lang="en-US" altLang="zh-CN" sz="4000" b="1" dirty="0">
                <a:solidFill>
                  <a:srgbClr val="0070C0"/>
                </a:solidFill>
                <a:latin typeface="Book Antiqua" pitchFamily="18" charset="0"/>
              </a:rPr>
              <a:t>9.1.1  </a:t>
            </a:r>
            <a:r>
              <a:rPr kumimoji="1" lang="zh-CN" altLang="en-US" sz="4000" b="1" dirty="0">
                <a:solidFill>
                  <a:srgbClr val="0070C0"/>
                </a:solidFill>
                <a:latin typeface="Book Antiqua" pitchFamily="18" charset="0"/>
              </a:rPr>
              <a:t>相关关系的概念</a:t>
            </a:r>
          </a:p>
          <a:p>
            <a:pPr eaLnBrk="0" hangingPunct="0">
              <a:lnSpc>
                <a:spcPct val="110000"/>
              </a:lnSpc>
            </a:pPr>
            <a:r>
              <a:rPr kumimoji="1" lang="en-US" altLang="zh-CN" sz="4000" b="1" dirty="0">
                <a:solidFill>
                  <a:srgbClr val="0070C0"/>
                </a:solidFill>
                <a:latin typeface="Book Antiqua" pitchFamily="18" charset="0"/>
              </a:rPr>
              <a:t>9.1.2  </a:t>
            </a:r>
            <a:r>
              <a:rPr kumimoji="1" lang="zh-CN" altLang="en-US" sz="4000" b="1" dirty="0">
                <a:solidFill>
                  <a:srgbClr val="0070C0"/>
                </a:solidFill>
                <a:latin typeface="Book Antiqua" pitchFamily="18" charset="0"/>
              </a:rPr>
              <a:t>相关系数的类型</a:t>
            </a:r>
          </a:p>
          <a:p>
            <a:pPr eaLnBrk="0" hangingPunct="0">
              <a:lnSpc>
                <a:spcPct val="110000"/>
              </a:lnSpc>
            </a:pPr>
            <a:r>
              <a:rPr kumimoji="1" lang="en-US" altLang="zh-CN" sz="4000" b="1" dirty="0">
                <a:solidFill>
                  <a:srgbClr val="0070C0"/>
                </a:solidFill>
                <a:latin typeface="Book Antiqua" pitchFamily="18" charset="0"/>
              </a:rPr>
              <a:t>9.1.3  </a:t>
            </a:r>
            <a:r>
              <a:rPr kumimoji="1" lang="zh-CN" altLang="en-US" sz="4000" b="1" dirty="0">
                <a:solidFill>
                  <a:srgbClr val="0070C0"/>
                </a:solidFill>
                <a:latin typeface="Book Antiqua" pitchFamily="18" charset="0"/>
              </a:rPr>
              <a:t>散点图</a:t>
            </a:r>
          </a:p>
          <a:p>
            <a:pPr eaLnBrk="0" hangingPunct="0">
              <a:lnSpc>
                <a:spcPct val="110000"/>
              </a:lnSpc>
            </a:pPr>
            <a:r>
              <a:rPr kumimoji="1" lang="en-US" altLang="zh-CN" sz="4000" b="1" dirty="0">
                <a:solidFill>
                  <a:srgbClr val="0070C0"/>
                </a:solidFill>
                <a:latin typeface="Book Antiqua" pitchFamily="18" charset="0"/>
              </a:rPr>
              <a:t>9.1.4 </a:t>
            </a:r>
            <a:r>
              <a:rPr kumimoji="1" lang="zh-CN" altLang="en-US" sz="4000" b="1" dirty="0">
                <a:solidFill>
                  <a:srgbClr val="0070C0"/>
                </a:solidFill>
                <a:latin typeface="Book Antiqua" pitchFamily="18" charset="0"/>
              </a:rPr>
              <a:t>相关关系定量分析的基本内容</a:t>
            </a:r>
          </a:p>
        </p:txBody>
      </p:sp>
    </p:spTree>
    <p:extLst>
      <p:ext uri="{BB962C8B-B14F-4D97-AF65-F5344CB8AC3E}">
        <p14:creationId xmlns:p14="http://schemas.microsoft.com/office/powerpoint/2010/main" val="1478722719"/>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7"/>
          <p:cNvSpPr>
            <a:spLocks noGrp="1"/>
          </p:cNvSpPr>
          <p:nvPr>
            <p:ph type="sldNum" sz="quarter" idx="10"/>
          </p:nvPr>
        </p:nvSpPr>
        <p:spPr>
          <a:noFill/>
        </p:spPr>
        <p:txBody>
          <a:bodyPr/>
          <a:lstStyle/>
          <a:p>
            <a:r>
              <a:rPr lang="en-US" altLang="zh-CN"/>
              <a:t>9--</a:t>
            </a:r>
            <a:fld id="{B74B9B44-6C8D-4235-8A8B-E525CCF85EFA}" type="slidenum">
              <a:rPr lang="en-US" altLang="zh-CN" smtClean="0"/>
              <a:pPr/>
              <a:t>4</a:t>
            </a:fld>
            <a:endParaRPr lang="en-US" altLang="zh-CN"/>
          </a:p>
        </p:txBody>
      </p:sp>
      <p:sp>
        <p:nvSpPr>
          <p:cNvPr id="58371" name="Rectangle 2"/>
          <p:cNvSpPr>
            <a:spLocks noGrp="1" noChangeArrowheads="1"/>
          </p:cNvSpPr>
          <p:nvPr>
            <p:ph type="title" idx="4294967295"/>
          </p:nvPr>
        </p:nvSpPr>
        <p:spPr>
          <a:xfrm>
            <a:off x="1807337" y="203121"/>
            <a:ext cx="5854700" cy="990600"/>
          </a:xfrm>
          <a:noFill/>
        </p:spPr>
        <p:txBody>
          <a:bodyPr vert="horz" lIns="90488" tIns="44450" rIns="90488" bIns="44450" rtlCol="0" anchor="ctr" anchorCtr="1">
            <a:normAutofit/>
          </a:bodyPr>
          <a:lstStyle/>
          <a:p>
            <a:pPr eaLnBrk="1" hangingPunct="1"/>
            <a:r>
              <a:rPr kumimoji="1" lang="en-US" altLang="zh-CN" sz="4000" b="1" dirty="0">
                <a:solidFill>
                  <a:srgbClr val="0070C0"/>
                </a:solidFill>
                <a:effectLst/>
              </a:rPr>
              <a:t>9.1.1  </a:t>
            </a:r>
            <a:r>
              <a:rPr lang="zh-CN" altLang="en-US" sz="4000" b="1" dirty="0">
                <a:solidFill>
                  <a:srgbClr val="0070C0"/>
                </a:solidFill>
                <a:effectLst/>
              </a:rPr>
              <a:t>相关关系的概念</a:t>
            </a:r>
          </a:p>
        </p:txBody>
      </p:sp>
      <p:sp>
        <p:nvSpPr>
          <p:cNvPr id="58372" name="Rectangle 3"/>
          <p:cNvSpPr>
            <a:spLocks noGrp="1" noChangeArrowheads="1"/>
          </p:cNvSpPr>
          <p:nvPr>
            <p:ph type="body" sz="half" idx="4294967295"/>
          </p:nvPr>
        </p:nvSpPr>
        <p:spPr>
          <a:xfrm>
            <a:off x="737616" y="954428"/>
            <a:ext cx="10479024" cy="4598430"/>
          </a:xfrm>
          <a:noFill/>
        </p:spPr>
        <p:txBody>
          <a:bodyPr vert="horz" lIns="90488" tIns="44450" rIns="90488" bIns="44450" rtlCol="0">
            <a:noAutofit/>
          </a:bodyPr>
          <a:lstStyle/>
          <a:p>
            <a:pPr lvl="1" indent="0">
              <a:lnSpc>
                <a:spcPct val="150000"/>
              </a:lnSpc>
              <a:spcBef>
                <a:spcPts val="600"/>
              </a:spcBef>
              <a:buNone/>
            </a:pPr>
            <a:r>
              <a:rPr lang="zh-CN" altLang="en-US" dirty="0">
                <a:solidFill>
                  <a:srgbClr val="000000"/>
                </a:solidFill>
              </a:rPr>
              <a:t>变量间的相互依存关系有两大类型</a:t>
            </a:r>
            <a:r>
              <a:rPr lang="zh-CN" altLang="en-US" sz="2400" dirty="0">
                <a:solidFill>
                  <a:srgbClr val="000000"/>
                </a:solidFill>
              </a:rPr>
              <a:t>：</a:t>
            </a:r>
            <a:r>
              <a:rPr lang="zh-CN" altLang="en-US" sz="2000" dirty="0">
                <a:solidFill>
                  <a:srgbClr val="002060"/>
                </a:solidFill>
              </a:rPr>
              <a:t>函数关系和相关关系</a:t>
            </a:r>
            <a:endParaRPr lang="en-US" altLang="zh-CN" sz="2000" dirty="0">
              <a:solidFill>
                <a:srgbClr val="002060"/>
              </a:solidFill>
            </a:endParaRPr>
          </a:p>
          <a:p>
            <a:pPr marL="609600" indent="-609600" algn="just">
              <a:lnSpc>
                <a:spcPct val="150000"/>
              </a:lnSpc>
              <a:spcBef>
                <a:spcPts val="600"/>
              </a:spcBef>
              <a:buNone/>
            </a:pPr>
            <a:r>
              <a:rPr lang="zh-CN" altLang="en-US" sz="3000" b="1" dirty="0">
                <a:solidFill>
                  <a:srgbClr val="FF00FF"/>
                </a:solidFill>
              </a:rPr>
              <a:t>函数关系</a:t>
            </a:r>
            <a:r>
              <a:rPr lang="en-US" altLang="zh-CN" sz="2800" dirty="0">
                <a:solidFill>
                  <a:schemeClr val="tx1"/>
                </a:solidFill>
              </a:rPr>
              <a:t>——</a:t>
            </a:r>
            <a:r>
              <a:rPr lang="zh-CN" altLang="en-US" sz="2800" dirty="0">
                <a:solidFill>
                  <a:srgbClr val="000000"/>
                </a:solidFill>
                <a:latin typeface="Times New Roman" pitchFamily="18" charset="0"/>
              </a:rPr>
              <a:t>变量之间确定性的数量依存关系。</a:t>
            </a:r>
            <a:endParaRPr lang="en-US" altLang="zh-CN" sz="2800" dirty="0">
              <a:solidFill>
                <a:srgbClr val="000000"/>
              </a:solidFill>
              <a:latin typeface="Times New Roman" pitchFamily="18" charset="0"/>
            </a:endParaRPr>
          </a:p>
          <a:p>
            <a:pPr marL="533400" lvl="1" indent="-266700" algn="just">
              <a:lnSpc>
                <a:spcPct val="150000"/>
              </a:lnSpc>
              <a:spcBef>
                <a:spcPts val="600"/>
              </a:spcBef>
              <a:buSzPct val="75000"/>
              <a:buFont typeface="Wingdings" panose="05000000000000000000" pitchFamily="2" charset="2"/>
              <a:buChar char="Ø"/>
            </a:pPr>
            <a:r>
              <a:rPr lang="zh-CN" altLang="en-US" sz="2400" dirty="0">
                <a:solidFill>
                  <a:srgbClr val="000000"/>
                </a:solidFill>
                <a:latin typeface="Times New Roman" pitchFamily="18" charset="0"/>
              </a:rPr>
              <a:t>当变量</a:t>
            </a:r>
            <a:r>
              <a:rPr lang="en-US" altLang="zh-CN" sz="2400" i="1" dirty="0">
                <a:solidFill>
                  <a:srgbClr val="000000"/>
                </a:solidFill>
                <a:latin typeface="Times New Roman" pitchFamily="18" charset="0"/>
              </a:rPr>
              <a:t>X</a:t>
            </a:r>
            <a:r>
              <a:rPr lang="zh-CN" altLang="en-US" sz="2400" dirty="0">
                <a:solidFill>
                  <a:srgbClr val="000000"/>
                </a:solidFill>
                <a:latin typeface="Times New Roman" pitchFamily="18" charset="0"/>
              </a:rPr>
              <a:t>取某一数值时，变量</a:t>
            </a:r>
            <a:r>
              <a:rPr lang="en-US" altLang="zh-CN" sz="2400" i="1" dirty="0">
                <a:solidFill>
                  <a:srgbClr val="000000"/>
                </a:solidFill>
                <a:latin typeface="Times New Roman" pitchFamily="18" charset="0"/>
              </a:rPr>
              <a:t>Y</a:t>
            </a:r>
            <a:r>
              <a:rPr lang="zh-CN" altLang="en-US" sz="2400" dirty="0">
                <a:solidFill>
                  <a:srgbClr val="000000"/>
                </a:solidFill>
                <a:latin typeface="Times New Roman" pitchFamily="18" charset="0"/>
              </a:rPr>
              <a:t>总有确定的值与之对应，则称</a:t>
            </a:r>
            <a:r>
              <a:rPr lang="en-US" altLang="zh-CN" sz="2400" i="1" dirty="0">
                <a:solidFill>
                  <a:srgbClr val="000000"/>
                </a:solidFill>
                <a:latin typeface="Times New Roman" pitchFamily="18" charset="0"/>
              </a:rPr>
              <a:t>Y</a:t>
            </a:r>
            <a:r>
              <a:rPr lang="zh-CN" altLang="en-US" sz="2400" dirty="0">
                <a:solidFill>
                  <a:srgbClr val="000000"/>
                </a:solidFill>
                <a:latin typeface="Times New Roman" pitchFamily="18" charset="0"/>
              </a:rPr>
              <a:t>是</a:t>
            </a:r>
            <a:r>
              <a:rPr lang="en-US" altLang="zh-CN" sz="2400" i="1" dirty="0">
                <a:solidFill>
                  <a:srgbClr val="000000"/>
                </a:solidFill>
                <a:latin typeface="Times New Roman" pitchFamily="18" charset="0"/>
              </a:rPr>
              <a:t>X</a:t>
            </a:r>
            <a:r>
              <a:rPr lang="zh-CN" altLang="en-US" sz="2400" dirty="0">
                <a:solidFill>
                  <a:srgbClr val="000000"/>
                </a:solidFill>
                <a:latin typeface="Times New Roman" pitchFamily="18" charset="0"/>
              </a:rPr>
              <a:t>的函数</a:t>
            </a:r>
            <a:r>
              <a:rPr lang="en-US" altLang="zh-CN" sz="2400" i="1" dirty="0">
                <a:solidFill>
                  <a:srgbClr val="000000"/>
                </a:solidFill>
                <a:latin typeface="Times New Roman" pitchFamily="18" charset="0"/>
              </a:rPr>
              <a:t>Y</a:t>
            </a:r>
            <a:r>
              <a:rPr lang="en-US" altLang="zh-CN" sz="2400" dirty="0">
                <a:solidFill>
                  <a:srgbClr val="000000"/>
                </a:solidFill>
              </a:rPr>
              <a:t>= </a:t>
            </a:r>
            <a:r>
              <a:rPr lang="en-US" altLang="zh-CN" sz="2400" i="1" dirty="0">
                <a:solidFill>
                  <a:srgbClr val="000000"/>
                </a:solidFill>
                <a:latin typeface="Times New Roman" pitchFamily="18" charset="0"/>
              </a:rPr>
              <a:t>f </a:t>
            </a:r>
            <a:r>
              <a:rPr lang="en-US" altLang="zh-CN" sz="2400" dirty="0">
                <a:solidFill>
                  <a:srgbClr val="000000"/>
                </a:solidFill>
                <a:latin typeface="Times New Roman" pitchFamily="18" charset="0"/>
              </a:rPr>
              <a:t>(</a:t>
            </a:r>
            <a:r>
              <a:rPr lang="en-US" altLang="zh-CN" sz="2400" i="1" dirty="0">
                <a:solidFill>
                  <a:srgbClr val="000000"/>
                </a:solidFill>
                <a:latin typeface="Times New Roman" pitchFamily="18" charset="0"/>
              </a:rPr>
              <a:t>X</a:t>
            </a:r>
            <a:r>
              <a:rPr lang="en-US" altLang="zh-CN" sz="2400" dirty="0">
                <a:solidFill>
                  <a:srgbClr val="000000"/>
                </a:solidFill>
                <a:latin typeface="Times New Roman" pitchFamily="18" charset="0"/>
              </a:rPr>
              <a:t>)</a:t>
            </a:r>
            <a:r>
              <a:rPr lang="zh-CN" altLang="en-US" sz="2400" dirty="0">
                <a:solidFill>
                  <a:srgbClr val="000000"/>
                </a:solidFill>
                <a:latin typeface="Times New Roman" pitchFamily="18" charset="0"/>
              </a:rPr>
              <a:t>，</a:t>
            </a:r>
            <a:r>
              <a:rPr lang="en-US" altLang="zh-CN" sz="2400" i="1" dirty="0">
                <a:solidFill>
                  <a:srgbClr val="000000"/>
                </a:solidFill>
                <a:latin typeface="Times New Roman" pitchFamily="18" charset="0"/>
              </a:rPr>
              <a:t>X--</a:t>
            </a:r>
            <a:r>
              <a:rPr lang="zh-CN" altLang="en-US" sz="2000" dirty="0">
                <a:solidFill>
                  <a:schemeClr val="tx2"/>
                </a:solidFill>
                <a:latin typeface="Times New Roman" pitchFamily="18" charset="0"/>
              </a:rPr>
              <a:t>自变量</a:t>
            </a:r>
            <a:r>
              <a:rPr lang="zh-CN" altLang="en-US" sz="2000" dirty="0">
                <a:solidFill>
                  <a:schemeClr val="tx1"/>
                </a:solidFill>
                <a:latin typeface="Times New Roman" pitchFamily="18" charset="0"/>
              </a:rPr>
              <a:t>，</a:t>
            </a:r>
            <a:r>
              <a:rPr lang="en-US" altLang="zh-CN" sz="2400" i="1" dirty="0">
                <a:solidFill>
                  <a:srgbClr val="000000"/>
                </a:solidFill>
                <a:latin typeface="Times New Roman" pitchFamily="18" charset="0"/>
              </a:rPr>
              <a:t>Y--</a:t>
            </a:r>
            <a:r>
              <a:rPr lang="zh-CN" altLang="en-US" sz="2000" dirty="0">
                <a:solidFill>
                  <a:schemeClr val="tx2"/>
                </a:solidFill>
                <a:latin typeface="Times New Roman" pitchFamily="18" charset="0"/>
              </a:rPr>
              <a:t>因变量</a:t>
            </a:r>
            <a:endParaRPr lang="en-US" altLang="zh-CN" sz="2000" dirty="0">
              <a:solidFill>
                <a:schemeClr val="tx2"/>
              </a:solidFill>
              <a:latin typeface="Times New Roman" pitchFamily="18" charset="0"/>
            </a:endParaRPr>
          </a:p>
          <a:p>
            <a:pPr marL="533400" lvl="1" indent="-266700" algn="just">
              <a:lnSpc>
                <a:spcPct val="150000"/>
              </a:lnSpc>
              <a:spcBef>
                <a:spcPts val="600"/>
              </a:spcBef>
              <a:buSzPct val="75000"/>
              <a:buFont typeface="Wingdings" panose="05000000000000000000" pitchFamily="2" charset="2"/>
              <a:buChar char="Ø"/>
            </a:pPr>
            <a:r>
              <a:rPr lang="zh-CN" altLang="en-US" sz="2400" dirty="0">
                <a:solidFill>
                  <a:srgbClr val="000000"/>
                </a:solidFill>
                <a:latin typeface="Times New Roman" pitchFamily="18" charset="0"/>
              </a:rPr>
              <a:t>所有观察点全都落在一条线</a:t>
            </a:r>
            <a:r>
              <a:rPr lang="zh-CN" altLang="en-US" sz="2000" dirty="0">
                <a:solidFill>
                  <a:schemeClr val="tx1"/>
                </a:solidFill>
                <a:latin typeface="等线" panose="02010600030101010101" pitchFamily="2" charset="-122"/>
                <a:ea typeface="等线" panose="02010600030101010101" pitchFamily="2" charset="-122"/>
              </a:rPr>
              <a:t>（直线或曲线）</a:t>
            </a:r>
            <a:r>
              <a:rPr lang="zh-CN" altLang="en-US" sz="2400" dirty="0">
                <a:solidFill>
                  <a:srgbClr val="000000"/>
                </a:solidFill>
                <a:latin typeface="Times New Roman" pitchFamily="18" charset="0"/>
              </a:rPr>
              <a:t>上</a:t>
            </a:r>
            <a:endParaRPr lang="en-US" altLang="zh-CN" sz="2400" dirty="0">
              <a:solidFill>
                <a:srgbClr val="000000"/>
              </a:solidFill>
              <a:latin typeface="Times New Roman" pitchFamily="18" charset="0"/>
            </a:endParaRPr>
          </a:p>
          <a:p>
            <a:pPr marL="533400" lvl="1" indent="-268288" algn="just">
              <a:lnSpc>
                <a:spcPct val="150000"/>
              </a:lnSpc>
              <a:spcBef>
                <a:spcPts val="600"/>
              </a:spcBef>
              <a:buSzPct val="60000"/>
              <a:buFont typeface="Wingdings" panose="05000000000000000000" pitchFamily="2" charset="2"/>
              <a:buChar char="Ø"/>
            </a:pPr>
            <a:r>
              <a:rPr lang="zh-CN" altLang="en-US" sz="2400" dirty="0">
                <a:solidFill>
                  <a:srgbClr val="000000"/>
                </a:solidFill>
                <a:latin typeface="Times New Roman" pitchFamily="18" charset="0"/>
              </a:rPr>
              <a:t>如：</a:t>
            </a:r>
            <a:r>
              <a:rPr lang="zh-CN" altLang="en-US" sz="2400" b="1" dirty="0">
                <a:solidFill>
                  <a:srgbClr val="000000"/>
                </a:solidFill>
                <a:latin typeface="仿宋" panose="02010609060101010101" pitchFamily="49" charset="-122"/>
                <a:ea typeface="仿宋" panose="02010609060101010101" pitchFamily="49" charset="-122"/>
              </a:rPr>
              <a:t>圆的面积（</a:t>
            </a:r>
            <a:r>
              <a:rPr lang="en-US" altLang="zh-CN" sz="2400" b="1" dirty="0">
                <a:solidFill>
                  <a:srgbClr val="000000"/>
                </a:solidFill>
                <a:latin typeface="仿宋" panose="02010609060101010101" pitchFamily="49" charset="-122"/>
                <a:ea typeface="仿宋" panose="02010609060101010101" pitchFamily="49" charset="-122"/>
              </a:rPr>
              <a:t>S</a:t>
            </a:r>
            <a:r>
              <a:rPr lang="zh-CN" altLang="en-US" sz="2400" b="1" dirty="0">
                <a:solidFill>
                  <a:srgbClr val="000000"/>
                </a:solidFill>
                <a:latin typeface="仿宋" panose="02010609060101010101" pitchFamily="49" charset="-122"/>
                <a:ea typeface="仿宋" panose="02010609060101010101" pitchFamily="49" charset="-122"/>
              </a:rPr>
              <a:t>）与半径</a:t>
            </a:r>
            <a:r>
              <a:rPr lang="en-US" altLang="zh-CN" sz="2400" b="1" dirty="0">
                <a:solidFill>
                  <a:srgbClr val="000000"/>
                </a:solidFill>
                <a:latin typeface="仿宋" panose="02010609060101010101" pitchFamily="49" charset="-122"/>
                <a:ea typeface="仿宋" panose="02010609060101010101" pitchFamily="49" charset="-122"/>
              </a:rPr>
              <a:t>R</a:t>
            </a:r>
            <a:r>
              <a:rPr lang="zh-CN" altLang="en-US" sz="2400" b="1" dirty="0">
                <a:solidFill>
                  <a:srgbClr val="000000"/>
                </a:solidFill>
                <a:latin typeface="仿宋" panose="02010609060101010101" pitchFamily="49" charset="-122"/>
                <a:ea typeface="仿宋" panose="02010609060101010101" pitchFamily="49" charset="-122"/>
              </a:rPr>
              <a:t>：</a:t>
            </a:r>
            <a:r>
              <a:rPr lang="en-US" altLang="zh-CN" sz="2400" b="1" dirty="0">
                <a:solidFill>
                  <a:srgbClr val="000000"/>
                </a:solidFill>
                <a:latin typeface="仿宋" panose="02010609060101010101" pitchFamily="49" charset="-122"/>
                <a:ea typeface="仿宋" panose="02010609060101010101" pitchFamily="49" charset="-122"/>
              </a:rPr>
              <a:t>S = πR</a:t>
            </a:r>
            <a:r>
              <a:rPr lang="en-US" altLang="zh-CN" sz="2400" b="1" baseline="30000" dirty="0">
                <a:solidFill>
                  <a:srgbClr val="000000"/>
                </a:solidFill>
                <a:latin typeface="仿宋" panose="02010609060101010101" pitchFamily="49" charset="-122"/>
                <a:ea typeface="仿宋" panose="02010609060101010101" pitchFamily="49" charset="-122"/>
              </a:rPr>
              <a:t>2</a:t>
            </a:r>
            <a:r>
              <a:rPr lang="en-US" altLang="zh-CN" sz="2400" b="1" dirty="0">
                <a:solidFill>
                  <a:srgbClr val="000000"/>
                </a:solidFill>
                <a:latin typeface="仿宋" panose="02010609060101010101" pitchFamily="49" charset="-122"/>
                <a:ea typeface="仿宋" panose="02010609060101010101" pitchFamily="49" charset="-122"/>
              </a:rPr>
              <a:t> </a:t>
            </a:r>
            <a:endParaRPr lang="en-US" altLang="zh-CN" b="1" dirty="0">
              <a:solidFill>
                <a:srgbClr val="000000"/>
              </a:solidFill>
              <a:latin typeface="仿宋" panose="02010609060101010101" pitchFamily="49" charset="-122"/>
              <a:ea typeface="仿宋" panose="02010609060101010101" pitchFamily="49" charset="-122"/>
            </a:endParaRPr>
          </a:p>
          <a:p>
            <a:pPr marL="723900" lvl="2" indent="-133350" algn="just">
              <a:lnSpc>
                <a:spcPct val="150000"/>
              </a:lnSpc>
              <a:spcBef>
                <a:spcPts val="600"/>
              </a:spcBef>
              <a:buSzPct val="60000"/>
              <a:buFont typeface="Wingdings" panose="05000000000000000000" pitchFamily="2" charset="2"/>
              <a:buChar char="l"/>
            </a:pPr>
            <a:r>
              <a:rPr lang="zh-CN" altLang="en-US" b="1" dirty="0">
                <a:solidFill>
                  <a:srgbClr val="000000"/>
                </a:solidFill>
                <a:latin typeface="仿宋" panose="02010609060101010101" pitchFamily="49" charset="-122"/>
                <a:ea typeface="仿宋" panose="02010609060101010101" pitchFamily="49" charset="-122"/>
              </a:rPr>
              <a:t>里程 </a:t>
            </a:r>
            <a:r>
              <a:rPr lang="en-US" altLang="zh-CN" b="1" dirty="0">
                <a:solidFill>
                  <a:srgbClr val="000000"/>
                </a:solidFill>
                <a:latin typeface="仿宋" panose="02010609060101010101" pitchFamily="49" charset="-122"/>
                <a:ea typeface="仿宋" panose="02010609060101010101" pitchFamily="49" charset="-122"/>
              </a:rPr>
              <a:t>(D)</a:t>
            </a:r>
            <a:r>
              <a:rPr lang="zh-CN" altLang="en-US" b="1" dirty="0">
                <a:solidFill>
                  <a:srgbClr val="000000"/>
                </a:solidFill>
                <a:latin typeface="仿宋" panose="02010609060101010101" pitchFamily="49" charset="-122"/>
                <a:ea typeface="仿宋" panose="02010609060101010101" pitchFamily="49" charset="-122"/>
              </a:rPr>
              <a:t>与速度</a:t>
            </a:r>
            <a:r>
              <a:rPr lang="en-US" altLang="zh-CN" b="1" dirty="0">
                <a:solidFill>
                  <a:srgbClr val="000000"/>
                </a:solidFill>
                <a:latin typeface="仿宋" panose="02010609060101010101" pitchFamily="49" charset="-122"/>
                <a:ea typeface="仿宋" panose="02010609060101010101" pitchFamily="49" charset="-122"/>
              </a:rPr>
              <a:t>(V)</a:t>
            </a:r>
            <a:r>
              <a:rPr lang="zh-CN" altLang="en-US" b="1" dirty="0">
                <a:solidFill>
                  <a:srgbClr val="000000"/>
                </a:solidFill>
                <a:latin typeface="仿宋" panose="02010609060101010101" pitchFamily="49" charset="-122"/>
                <a:ea typeface="仿宋" panose="02010609060101010101" pitchFamily="49" charset="-122"/>
              </a:rPr>
              <a:t>、时间</a:t>
            </a:r>
            <a:r>
              <a:rPr lang="en-US" altLang="zh-CN" b="1" dirty="0">
                <a:solidFill>
                  <a:srgbClr val="000000"/>
                </a:solidFill>
                <a:latin typeface="仿宋" panose="02010609060101010101" pitchFamily="49" charset="-122"/>
                <a:ea typeface="仿宋" panose="02010609060101010101" pitchFamily="49" charset="-122"/>
              </a:rPr>
              <a:t>(t)</a:t>
            </a:r>
            <a:r>
              <a:rPr lang="zh-CN" altLang="en-US" b="1" dirty="0">
                <a:solidFill>
                  <a:srgbClr val="000000"/>
                </a:solidFill>
                <a:latin typeface="仿宋" panose="02010609060101010101" pitchFamily="49" charset="-122"/>
                <a:ea typeface="仿宋" panose="02010609060101010101" pitchFamily="49" charset="-122"/>
              </a:rPr>
              <a:t>：</a:t>
            </a:r>
            <a:r>
              <a:rPr lang="en-US" altLang="zh-CN" b="1" dirty="0">
                <a:solidFill>
                  <a:srgbClr val="000000"/>
                </a:solidFill>
                <a:latin typeface="仿宋" panose="02010609060101010101" pitchFamily="49" charset="-122"/>
                <a:ea typeface="仿宋" panose="02010609060101010101" pitchFamily="49" charset="-122"/>
              </a:rPr>
              <a:t>D=V t</a:t>
            </a:r>
          </a:p>
          <a:p>
            <a:pPr marL="723900" lvl="2" indent="-133350" algn="just">
              <a:lnSpc>
                <a:spcPct val="150000"/>
              </a:lnSpc>
              <a:spcBef>
                <a:spcPts val="600"/>
              </a:spcBef>
              <a:buSzPct val="60000"/>
              <a:buFont typeface="Wingdings" panose="05000000000000000000" pitchFamily="2" charset="2"/>
              <a:buChar char="l"/>
            </a:pPr>
            <a:r>
              <a:rPr lang="zh-CN" altLang="en-US" b="1" dirty="0">
                <a:solidFill>
                  <a:srgbClr val="000000"/>
                </a:solidFill>
                <a:latin typeface="仿宋" panose="02010609060101010101" pitchFamily="49" charset="-122"/>
                <a:ea typeface="仿宋" panose="02010609060101010101" pitchFamily="49" charset="-122"/>
              </a:rPr>
              <a:t>企业的原材料消耗额</a:t>
            </a:r>
            <a:r>
              <a:rPr lang="en-US" altLang="zh-CN" b="1" dirty="0">
                <a:solidFill>
                  <a:srgbClr val="000000"/>
                </a:solidFill>
                <a:latin typeface="仿宋" panose="02010609060101010101" pitchFamily="49" charset="-122"/>
                <a:ea typeface="仿宋" panose="02010609060101010101" pitchFamily="49" charset="-122"/>
              </a:rPr>
              <a:t>(</a:t>
            </a:r>
            <a:r>
              <a:rPr lang="en-US" altLang="zh-CN" b="1" i="1" dirty="0">
                <a:solidFill>
                  <a:srgbClr val="000000"/>
                </a:solidFill>
                <a:latin typeface="仿宋" panose="02010609060101010101" pitchFamily="49" charset="-122"/>
                <a:ea typeface="仿宋" panose="02010609060101010101" pitchFamily="49" charset="-122"/>
              </a:rPr>
              <a:t>Y</a:t>
            </a:r>
            <a:r>
              <a:rPr lang="en-US" altLang="zh-CN" b="1" dirty="0">
                <a:solidFill>
                  <a:srgbClr val="000000"/>
                </a:solidFill>
                <a:latin typeface="仿宋" panose="02010609060101010101" pitchFamily="49" charset="-122"/>
                <a:ea typeface="仿宋" panose="02010609060101010101" pitchFamily="49" charset="-122"/>
              </a:rPr>
              <a:t>)</a:t>
            </a:r>
            <a:r>
              <a:rPr lang="zh-CN" altLang="en-US" b="1" dirty="0">
                <a:solidFill>
                  <a:srgbClr val="000000"/>
                </a:solidFill>
                <a:latin typeface="仿宋" panose="02010609060101010101" pitchFamily="49" charset="-122"/>
                <a:ea typeface="仿宋" panose="02010609060101010101" pitchFamily="49" charset="-122"/>
              </a:rPr>
              <a:t>与产量</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1</a:t>
            </a:r>
            <a:r>
              <a:rPr lang="en-US" altLang="zh-CN" b="1" dirty="0">
                <a:solidFill>
                  <a:srgbClr val="000000"/>
                </a:solidFill>
                <a:latin typeface="仿宋" panose="02010609060101010101" pitchFamily="49" charset="-122"/>
                <a:ea typeface="仿宋" panose="02010609060101010101" pitchFamily="49" charset="-122"/>
              </a:rPr>
              <a:t>) </a:t>
            </a:r>
            <a:r>
              <a:rPr lang="zh-CN" altLang="en-US" b="1" dirty="0">
                <a:solidFill>
                  <a:srgbClr val="000000"/>
                </a:solidFill>
                <a:latin typeface="仿宋" panose="02010609060101010101" pitchFamily="49" charset="-122"/>
                <a:ea typeface="仿宋" panose="02010609060101010101" pitchFamily="49" charset="-122"/>
              </a:rPr>
              <a:t>、单耗</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2</a:t>
            </a:r>
            <a:r>
              <a:rPr lang="en-US" altLang="zh-CN" b="1" dirty="0">
                <a:solidFill>
                  <a:srgbClr val="000000"/>
                </a:solidFill>
                <a:latin typeface="仿宋" panose="02010609060101010101" pitchFamily="49" charset="-122"/>
                <a:ea typeface="仿宋" panose="02010609060101010101" pitchFamily="49" charset="-122"/>
              </a:rPr>
              <a:t>) </a:t>
            </a:r>
            <a:r>
              <a:rPr lang="zh-CN" altLang="en-US" b="1" dirty="0">
                <a:solidFill>
                  <a:srgbClr val="000000"/>
                </a:solidFill>
                <a:latin typeface="仿宋" panose="02010609060101010101" pitchFamily="49" charset="-122"/>
                <a:ea typeface="仿宋" panose="02010609060101010101" pitchFamily="49" charset="-122"/>
              </a:rPr>
              <a:t>、原材料价格</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3</a:t>
            </a:r>
            <a:r>
              <a:rPr lang="en-US" altLang="zh-CN" b="1" dirty="0">
                <a:solidFill>
                  <a:srgbClr val="000000"/>
                </a:solidFill>
                <a:latin typeface="仿宋" panose="02010609060101010101" pitchFamily="49" charset="-122"/>
                <a:ea typeface="仿宋" panose="02010609060101010101" pitchFamily="49" charset="-122"/>
              </a:rPr>
              <a:t>)</a:t>
            </a:r>
            <a:r>
              <a:rPr lang="zh-CN" altLang="en-US" b="1" dirty="0">
                <a:solidFill>
                  <a:srgbClr val="000000"/>
                </a:solidFill>
                <a:latin typeface="仿宋" panose="02010609060101010101" pitchFamily="49" charset="-122"/>
                <a:ea typeface="仿宋" panose="02010609060101010101" pitchFamily="49" charset="-122"/>
              </a:rPr>
              <a:t>之间的关系：</a:t>
            </a:r>
            <a:r>
              <a:rPr lang="en-US" altLang="zh-CN" b="1" i="1" dirty="0">
                <a:solidFill>
                  <a:srgbClr val="000000"/>
                </a:solidFill>
                <a:latin typeface="仿宋" panose="02010609060101010101" pitchFamily="49" charset="-122"/>
                <a:ea typeface="仿宋" panose="02010609060101010101" pitchFamily="49" charset="-122"/>
              </a:rPr>
              <a:t>Y</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1</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2</a:t>
            </a:r>
            <a:r>
              <a:rPr lang="en-US" altLang="zh-CN" b="1" dirty="0">
                <a:solidFill>
                  <a:srgbClr val="000000"/>
                </a:solidFill>
                <a:latin typeface="仿宋" panose="02010609060101010101" pitchFamily="49" charset="-122"/>
                <a:ea typeface="仿宋" panose="02010609060101010101" pitchFamily="49" charset="-122"/>
              </a:rPr>
              <a:t>X</a:t>
            </a:r>
            <a:r>
              <a:rPr lang="en-US" altLang="zh-CN" b="1" baseline="-25000" dirty="0">
                <a:solidFill>
                  <a:srgbClr val="000000"/>
                </a:solidFill>
                <a:latin typeface="仿宋" panose="02010609060101010101" pitchFamily="49" charset="-122"/>
                <a:ea typeface="仿宋" panose="02010609060101010101" pitchFamily="49" charset="-122"/>
              </a:rPr>
              <a:t>3</a:t>
            </a:r>
            <a:endParaRPr lang="en-US" altLang="zh-CN" b="1" dirty="0">
              <a:solidFill>
                <a:srgbClr val="000000"/>
              </a:solidFill>
              <a:latin typeface="仿宋" panose="02010609060101010101" pitchFamily="49" charset="-122"/>
              <a:ea typeface="仿宋" panose="02010609060101010101" pitchFamily="49" charset="-122"/>
            </a:endParaRPr>
          </a:p>
          <a:p>
            <a:pPr marL="266700" lvl="1" indent="177800" algn="just">
              <a:lnSpc>
                <a:spcPct val="150000"/>
              </a:lnSpc>
              <a:spcBef>
                <a:spcPts val="600"/>
              </a:spcBef>
              <a:buSzPct val="60000"/>
            </a:pPr>
            <a:endParaRPr lang="zh-CN" altLang="en-US" sz="2400" dirty="0">
              <a:solidFill>
                <a:srgbClr val="000000"/>
              </a:solidFill>
              <a:latin typeface="Times New Roman" pitchFamily="18" charset="0"/>
            </a:endParaRPr>
          </a:p>
          <a:p>
            <a:pPr lvl="1" indent="0">
              <a:lnSpc>
                <a:spcPct val="130000"/>
              </a:lnSpc>
              <a:spcBef>
                <a:spcPts val="600"/>
              </a:spcBef>
              <a:buNone/>
            </a:pPr>
            <a:endParaRPr lang="zh-CN" altLang="en-US" b="1" dirty="0">
              <a:solidFill>
                <a:srgbClr val="000000"/>
              </a:solidFill>
              <a:latin typeface="Tahoma" pitchFamily="34" charset="0"/>
            </a:endParaRPr>
          </a:p>
          <a:p>
            <a:pPr marL="457200" lvl="1">
              <a:lnSpc>
                <a:spcPct val="130000"/>
              </a:lnSpc>
              <a:spcBef>
                <a:spcPts val="600"/>
              </a:spcBef>
              <a:buFont typeface="Wingdings" panose="05000000000000000000" pitchFamily="2" charset="2"/>
              <a:buChar char="n"/>
            </a:pPr>
            <a:endParaRPr lang="en-US" altLang="zh-CN" dirty="0">
              <a:solidFill>
                <a:srgbClr val="FF00FF"/>
              </a:solidFill>
            </a:endParaRPr>
          </a:p>
          <a:p>
            <a:pPr marL="457200" lvl="1">
              <a:lnSpc>
                <a:spcPct val="130000"/>
              </a:lnSpc>
              <a:spcBef>
                <a:spcPts val="600"/>
              </a:spcBef>
              <a:buFont typeface="Wingdings" panose="05000000000000000000" pitchFamily="2" charset="2"/>
              <a:buChar char="n"/>
            </a:pPr>
            <a:endParaRPr lang="zh-CN" altLang="en-US" dirty="0">
              <a:solidFill>
                <a:srgbClr val="FF00FF"/>
              </a:solidFill>
            </a:endParaRPr>
          </a:p>
        </p:txBody>
      </p:sp>
      <p:grpSp>
        <p:nvGrpSpPr>
          <p:cNvPr id="8" name="Group 22"/>
          <p:cNvGrpSpPr>
            <a:grpSpLocks/>
          </p:cNvGrpSpPr>
          <p:nvPr/>
        </p:nvGrpSpPr>
        <p:grpSpPr bwMode="auto">
          <a:xfrm>
            <a:off x="9086517" y="3947191"/>
            <a:ext cx="1463374" cy="1653535"/>
            <a:chOff x="3653" y="1531"/>
            <a:chExt cx="1949" cy="1589"/>
          </a:xfrm>
        </p:grpSpPr>
        <p:sp>
          <p:nvSpPr>
            <p:cNvPr id="9" name="Line 17"/>
            <p:cNvSpPr>
              <a:spLocks noChangeShapeType="1"/>
            </p:cNvSpPr>
            <p:nvPr/>
          </p:nvSpPr>
          <p:spPr bwMode="auto">
            <a:xfrm flipV="1">
              <a:off x="3787" y="1884"/>
              <a:ext cx="1769" cy="1043"/>
            </a:xfrm>
            <a:prstGeom prst="line">
              <a:avLst/>
            </a:prstGeom>
            <a:noFill/>
            <a:ln w="28575">
              <a:solidFill>
                <a:srgbClr val="3333FF"/>
              </a:solidFill>
              <a:round/>
              <a:headEnd/>
              <a:tailEnd/>
            </a:ln>
            <a:effectLst>
              <a:outerShdw dist="12700" dir="5400000" algn="ctr" rotWithShape="0">
                <a:schemeClr val="bg2"/>
              </a:outerShdw>
            </a:effectLst>
          </p:spPr>
          <p:txBody>
            <a:bodyPr/>
            <a:lstStyle/>
            <a:p>
              <a:pPr>
                <a:defRPr/>
              </a:pPr>
              <a:endParaRPr lang="zh-CN" altLang="en-US"/>
            </a:p>
          </p:txBody>
        </p:sp>
        <p:sp>
          <p:nvSpPr>
            <p:cNvPr id="10" name="Line 5"/>
            <p:cNvSpPr>
              <a:spLocks noChangeShapeType="1"/>
            </p:cNvSpPr>
            <p:nvPr/>
          </p:nvSpPr>
          <p:spPr bwMode="auto">
            <a:xfrm>
              <a:off x="3744" y="1584"/>
              <a:ext cx="0" cy="1536"/>
            </a:xfrm>
            <a:prstGeom prst="line">
              <a:avLst/>
            </a:prstGeom>
            <a:noFill/>
            <a:ln w="38100">
              <a:solidFill>
                <a:schemeClr val="tx1"/>
              </a:solidFill>
              <a:round/>
              <a:headEnd type="triangle" w="med" len="med"/>
              <a:tailEnd/>
            </a:ln>
          </p:spPr>
          <p:txBody>
            <a:bodyPr/>
            <a:lstStyle/>
            <a:p>
              <a:endParaRPr lang="zh-CN" altLang="en-US"/>
            </a:p>
          </p:txBody>
        </p:sp>
        <p:sp>
          <p:nvSpPr>
            <p:cNvPr id="11" name="Line 6"/>
            <p:cNvSpPr>
              <a:spLocks noChangeShapeType="1"/>
            </p:cNvSpPr>
            <p:nvPr/>
          </p:nvSpPr>
          <p:spPr bwMode="auto">
            <a:xfrm>
              <a:off x="3744" y="3120"/>
              <a:ext cx="1824" cy="0"/>
            </a:xfrm>
            <a:prstGeom prst="line">
              <a:avLst/>
            </a:prstGeom>
            <a:noFill/>
            <a:ln w="38100">
              <a:solidFill>
                <a:schemeClr val="tx1"/>
              </a:solidFill>
              <a:round/>
              <a:headEnd/>
              <a:tailEnd type="triangle" w="med" len="med"/>
            </a:ln>
          </p:spPr>
          <p:txBody>
            <a:bodyPr/>
            <a:lstStyle/>
            <a:p>
              <a:endParaRPr lang="zh-CN" altLang="en-US"/>
            </a:p>
          </p:txBody>
        </p:sp>
        <p:sp>
          <p:nvSpPr>
            <p:cNvPr id="12" name="Text Box 7"/>
            <p:cNvSpPr txBox="1">
              <a:spLocks noChangeArrowheads="1"/>
            </p:cNvSpPr>
            <p:nvPr/>
          </p:nvSpPr>
          <p:spPr bwMode="auto">
            <a:xfrm>
              <a:off x="5265" y="1752"/>
              <a:ext cx="337"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3" name="Text Box 8"/>
            <p:cNvSpPr txBox="1">
              <a:spLocks noChangeArrowheads="1"/>
            </p:cNvSpPr>
            <p:nvPr/>
          </p:nvSpPr>
          <p:spPr bwMode="auto">
            <a:xfrm>
              <a:off x="5140" y="1824"/>
              <a:ext cx="337"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nvGrpSpPr>
            <p:cNvPr id="14" name="Group 9"/>
            <p:cNvGrpSpPr>
              <a:grpSpLocks/>
            </p:cNvGrpSpPr>
            <p:nvPr/>
          </p:nvGrpSpPr>
          <p:grpSpPr bwMode="auto">
            <a:xfrm>
              <a:off x="3923" y="1954"/>
              <a:ext cx="1349" cy="831"/>
              <a:chOff x="3744" y="2544"/>
              <a:chExt cx="1152" cy="800"/>
            </a:xfrm>
          </p:grpSpPr>
          <p:sp>
            <p:nvSpPr>
              <p:cNvPr id="18" name="Text Box 10"/>
              <p:cNvSpPr txBox="1">
                <a:spLocks noChangeArrowheads="1"/>
              </p:cNvSpPr>
              <p:nvPr/>
            </p:nvSpPr>
            <p:spPr bwMode="auto">
              <a:xfrm>
                <a:off x="4464" y="2640"/>
                <a:ext cx="288"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9" name="Text Box 11"/>
              <p:cNvSpPr txBox="1">
                <a:spLocks noChangeArrowheads="1"/>
              </p:cNvSpPr>
              <p:nvPr/>
            </p:nvSpPr>
            <p:spPr bwMode="auto">
              <a:xfrm>
                <a:off x="4609" y="2544"/>
                <a:ext cx="287"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0" name="Text Box 12"/>
              <p:cNvSpPr txBox="1">
                <a:spLocks noChangeArrowheads="1"/>
              </p:cNvSpPr>
              <p:nvPr/>
            </p:nvSpPr>
            <p:spPr bwMode="auto">
              <a:xfrm>
                <a:off x="4325" y="2736"/>
                <a:ext cx="288"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1" name="Text Box 13"/>
              <p:cNvSpPr txBox="1">
                <a:spLocks noChangeArrowheads="1"/>
              </p:cNvSpPr>
              <p:nvPr/>
            </p:nvSpPr>
            <p:spPr bwMode="auto">
              <a:xfrm>
                <a:off x="4176" y="2832"/>
                <a:ext cx="288"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2" name="Text Box 14"/>
              <p:cNvSpPr txBox="1">
                <a:spLocks noChangeArrowheads="1"/>
              </p:cNvSpPr>
              <p:nvPr/>
            </p:nvSpPr>
            <p:spPr bwMode="auto">
              <a:xfrm>
                <a:off x="4033" y="2928"/>
                <a:ext cx="293"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3" name="Text Box 15"/>
              <p:cNvSpPr txBox="1">
                <a:spLocks noChangeArrowheads="1"/>
              </p:cNvSpPr>
              <p:nvPr/>
            </p:nvSpPr>
            <p:spPr bwMode="auto">
              <a:xfrm>
                <a:off x="3744" y="3120"/>
                <a:ext cx="289"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4" name="Text Box 16"/>
              <p:cNvSpPr txBox="1">
                <a:spLocks noChangeArrowheads="1"/>
              </p:cNvSpPr>
              <p:nvPr/>
            </p:nvSpPr>
            <p:spPr bwMode="auto">
              <a:xfrm>
                <a:off x="3890" y="3023"/>
                <a:ext cx="287" cy="224"/>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15" name="Rectangle 19"/>
            <p:cNvSpPr>
              <a:spLocks noChangeArrowheads="1"/>
            </p:cNvSpPr>
            <p:nvPr/>
          </p:nvSpPr>
          <p:spPr bwMode="auto">
            <a:xfrm>
              <a:off x="3742" y="2651"/>
              <a:ext cx="218" cy="233"/>
            </a:xfrm>
            <a:prstGeom prst="rect">
              <a:avLst/>
            </a:prstGeom>
            <a:noFill/>
            <a:ln w="9525">
              <a:noFill/>
              <a:miter lim="800000"/>
              <a:headEnd/>
              <a:tailEnd/>
            </a:ln>
            <a:effectLst/>
          </p:spPr>
          <p:txBody>
            <a:bodyPr wrap="none">
              <a:spAutoFit/>
            </a:bodyPr>
            <a:lstStyle/>
            <a:p>
              <a:pPr>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6" name="Text Box 20"/>
            <p:cNvSpPr txBox="1">
              <a:spLocks noChangeArrowheads="1"/>
            </p:cNvSpPr>
            <p:nvPr/>
          </p:nvSpPr>
          <p:spPr bwMode="auto">
            <a:xfrm>
              <a:off x="5100" y="2795"/>
              <a:ext cx="318" cy="233"/>
            </a:xfrm>
            <a:prstGeom prst="rect">
              <a:avLst/>
            </a:prstGeom>
            <a:noFill/>
            <a:ln w="9525">
              <a:noFill/>
              <a:miter lim="800000"/>
              <a:headEnd/>
              <a:tailEnd/>
            </a:ln>
          </p:spPr>
          <p:txBody>
            <a:bodyPr>
              <a:spAutoFit/>
            </a:bodyPr>
            <a:lstStyle/>
            <a:p>
              <a:pPr>
                <a:spcBef>
                  <a:spcPct val="50000"/>
                </a:spcBef>
              </a:pPr>
              <a:r>
                <a:rPr lang="en-US" altLang="zh-CN" b="1" i="1"/>
                <a:t>X</a:t>
              </a:r>
            </a:p>
          </p:txBody>
        </p:sp>
        <p:sp>
          <p:nvSpPr>
            <p:cNvPr id="17" name="Text Box 21"/>
            <p:cNvSpPr txBox="1">
              <a:spLocks noChangeArrowheads="1"/>
            </p:cNvSpPr>
            <p:nvPr/>
          </p:nvSpPr>
          <p:spPr bwMode="auto">
            <a:xfrm>
              <a:off x="3653" y="1531"/>
              <a:ext cx="307" cy="355"/>
            </a:xfrm>
            <a:prstGeom prst="rect">
              <a:avLst/>
            </a:prstGeom>
            <a:noFill/>
            <a:ln w="9525">
              <a:noFill/>
              <a:miter lim="800000"/>
              <a:headEnd/>
              <a:tailEnd/>
            </a:ln>
          </p:spPr>
          <p:txBody>
            <a:bodyPr wrap="square">
              <a:spAutoFit/>
            </a:bodyPr>
            <a:lstStyle/>
            <a:p>
              <a:pPr>
                <a:spcBef>
                  <a:spcPct val="50000"/>
                </a:spcBef>
              </a:pPr>
              <a:r>
                <a:rPr lang="en-US" altLang="zh-CN" b="1" i="1" dirty="0"/>
                <a:t>Y</a:t>
              </a:r>
            </a:p>
          </p:txBody>
        </p:sp>
      </p:grpSp>
    </p:spTree>
    <p:extLst>
      <p:ext uri="{BB962C8B-B14F-4D97-AF65-F5344CB8AC3E}">
        <p14:creationId xmlns:p14="http://schemas.microsoft.com/office/powerpoint/2010/main" val="3857810176"/>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8" name="日期占位符 23"/>
          <p:cNvSpPr>
            <a:spLocks noGrp="1"/>
          </p:cNvSpPr>
          <p:nvPr>
            <p:ph type="dt" sz="half" idx="10"/>
          </p:nvPr>
        </p:nvSpPr>
        <p:spPr>
          <a:noFill/>
        </p:spPr>
        <p:txBody>
          <a:bodyPr/>
          <a:lstStyle/>
          <a:p>
            <a:endParaRPr lang="en-US" altLang="zh-CN"/>
          </a:p>
        </p:txBody>
      </p:sp>
      <p:sp>
        <p:nvSpPr>
          <p:cNvPr id="61443" name="Rectangle 2"/>
          <p:cNvSpPr>
            <a:spLocks noGrp="1" noChangeArrowheads="1"/>
          </p:cNvSpPr>
          <p:nvPr>
            <p:ph type="title"/>
          </p:nvPr>
        </p:nvSpPr>
        <p:spPr>
          <a:xfrm>
            <a:off x="800100" y="499951"/>
            <a:ext cx="4508500" cy="662782"/>
          </a:xfrm>
          <a:noFill/>
        </p:spPr>
        <p:txBody>
          <a:bodyPr vert="horz" lIns="90488" tIns="44450" rIns="90488" bIns="44450" rtlCol="0" anchor="ctr" anchorCtr="1">
            <a:normAutofit/>
          </a:bodyPr>
          <a:lstStyle/>
          <a:p>
            <a:pPr eaLnBrk="1" hangingPunct="1"/>
            <a:r>
              <a:rPr lang="zh-CN" altLang="en-US" dirty="0">
                <a:solidFill>
                  <a:srgbClr val="FF00FF"/>
                </a:solidFill>
                <a:cs typeface="+mn-cs"/>
              </a:rPr>
              <a:t>相关关系</a:t>
            </a:r>
          </a:p>
        </p:txBody>
      </p:sp>
      <p:sp>
        <p:nvSpPr>
          <p:cNvPr id="61444" name="Rectangle 3"/>
          <p:cNvSpPr>
            <a:spLocks noGrp="1" noChangeArrowheads="1"/>
          </p:cNvSpPr>
          <p:nvPr>
            <p:ph idx="1"/>
          </p:nvPr>
        </p:nvSpPr>
        <p:spPr>
          <a:xfrm>
            <a:off x="990599" y="2006600"/>
            <a:ext cx="6804841" cy="4127261"/>
          </a:xfrm>
          <a:noFill/>
        </p:spPr>
        <p:txBody>
          <a:bodyPr vert="horz" lIns="90488" tIns="44450" rIns="90488" bIns="44450" rtlCol="0">
            <a:normAutofit/>
          </a:bodyPr>
          <a:lstStyle/>
          <a:p>
            <a:pPr marL="533400" lvl="1" indent="-266700" algn="just">
              <a:lnSpc>
                <a:spcPct val="110000"/>
              </a:lnSpc>
              <a:spcBef>
                <a:spcPts val="600"/>
              </a:spcBef>
              <a:buSzPct val="75000"/>
              <a:buFont typeface="Wingdings" panose="05000000000000000000" pitchFamily="2" charset="2"/>
              <a:buChar char="Ø"/>
            </a:pPr>
            <a:r>
              <a:rPr lang="zh-CN" altLang="en-US" sz="2400" dirty="0">
                <a:solidFill>
                  <a:srgbClr val="000000"/>
                </a:solidFill>
                <a:latin typeface="Times New Roman" pitchFamily="18" charset="0"/>
              </a:rPr>
              <a:t>一个变量的取值不能唯一地由另一个变量来确定。当变量 </a:t>
            </a:r>
            <a:r>
              <a:rPr lang="en-US" altLang="zh-CN" sz="2400" i="1" dirty="0">
                <a:solidFill>
                  <a:srgbClr val="000000"/>
                </a:solidFill>
                <a:latin typeface="Times New Roman" pitchFamily="18" charset="0"/>
              </a:rPr>
              <a:t>X</a:t>
            </a:r>
            <a:r>
              <a:rPr lang="zh-CN" altLang="en-US" sz="2400" dirty="0">
                <a:solidFill>
                  <a:srgbClr val="000000"/>
                </a:solidFill>
                <a:latin typeface="Times New Roman" pitchFamily="18" charset="0"/>
              </a:rPr>
              <a:t>取某个值时，与之相关的变量</a:t>
            </a:r>
            <a:r>
              <a:rPr lang="en-US" altLang="zh-CN" sz="2400" i="1" dirty="0">
                <a:solidFill>
                  <a:srgbClr val="000000"/>
                </a:solidFill>
                <a:latin typeface="Times New Roman" pitchFamily="18" charset="0"/>
              </a:rPr>
              <a:t>Y</a:t>
            </a:r>
            <a:r>
              <a:rPr lang="zh-CN" altLang="en-US" sz="2400" dirty="0">
                <a:solidFill>
                  <a:srgbClr val="000000"/>
                </a:solidFill>
                <a:latin typeface="Times New Roman" pitchFamily="18" charset="0"/>
              </a:rPr>
              <a:t>的取值可能有若干个（按某种规律在一定范围内变化 ） </a:t>
            </a:r>
            <a:r>
              <a:rPr lang="en-US" altLang="zh-CN" sz="2400" i="1" dirty="0">
                <a:solidFill>
                  <a:srgbClr val="000000"/>
                </a:solidFill>
                <a:latin typeface="Times New Roman" pitchFamily="18" charset="0"/>
              </a:rPr>
              <a:t>Y</a:t>
            </a:r>
            <a:r>
              <a:rPr lang="en-US" altLang="zh-CN" sz="2400" dirty="0">
                <a:solidFill>
                  <a:srgbClr val="000000"/>
                </a:solidFill>
                <a:latin typeface="Times New Roman" pitchFamily="18" charset="0"/>
              </a:rPr>
              <a:t> = </a:t>
            </a:r>
            <a:r>
              <a:rPr lang="en-US" altLang="zh-CN" sz="2400" i="1" dirty="0">
                <a:solidFill>
                  <a:srgbClr val="000000"/>
                </a:solidFill>
                <a:latin typeface="Times New Roman" pitchFamily="18" charset="0"/>
              </a:rPr>
              <a:t>f</a:t>
            </a:r>
            <a:r>
              <a:rPr lang="en-US" altLang="zh-CN" sz="2400" dirty="0">
                <a:solidFill>
                  <a:srgbClr val="000000"/>
                </a:solidFill>
                <a:latin typeface="Times New Roman" pitchFamily="18" charset="0"/>
              </a:rPr>
              <a:t> (</a:t>
            </a:r>
            <a:r>
              <a:rPr lang="en-US" altLang="zh-CN" sz="2400" i="1" dirty="0">
                <a:solidFill>
                  <a:srgbClr val="000000"/>
                </a:solidFill>
                <a:latin typeface="Times New Roman" pitchFamily="18" charset="0"/>
              </a:rPr>
              <a:t>X</a:t>
            </a:r>
            <a:r>
              <a:rPr lang="zh-CN" altLang="en-US" sz="2400" dirty="0">
                <a:solidFill>
                  <a:srgbClr val="000000"/>
                </a:solidFill>
                <a:latin typeface="Times New Roman" pitchFamily="18" charset="0"/>
              </a:rPr>
              <a:t>，</a:t>
            </a:r>
            <a:r>
              <a:rPr lang="el-GR" altLang="zh-CN" sz="2400" dirty="0">
                <a:solidFill>
                  <a:srgbClr val="000000"/>
                </a:solidFill>
                <a:latin typeface="Times New Roman" pitchFamily="18" charset="0"/>
              </a:rPr>
              <a:t>ε</a:t>
            </a:r>
            <a:r>
              <a:rPr lang="en-US" altLang="zh-CN" sz="2400" dirty="0">
                <a:solidFill>
                  <a:srgbClr val="000000"/>
                </a:solidFill>
                <a:latin typeface="Times New Roman" pitchFamily="18" charset="0"/>
              </a:rPr>
              <a:t>) , </a:t>
            </a:r>
            <a:r>
              <a:rPr lang="el-GR" altLang="zh-CN" sz="2400" dirty="0">
                <a:solidFill>
                  <a:srgbClr val="000000"/>
                </a:solidFill>
                <a:latin typeface="Times New Roman" pitchFamily="18" charset="0"/>
              </a:rPr>
              <a:t>ε</a:t>
            </a:r>
            <a:r>
              <a:rPr lang="zh-CN" altLang="en-US" sz="2400" dirty="0">
                <a:solidFill>
                  <a:srgbClr val="000000"/>
                </a:solidFill>
                <a:latin typeface="Times New Roman" pitchFamily="18" charset="0"/>
              </a:rPr>
              <a:t>为随机变量</a:t>
            </a:r>
            <a:endParaRPr lang="en-US" altLang="zh-CN" sz="2400" dirty="0">
              <a:solidFill>
                <a:srgbClr val="000000"/>
              </a:solidFill>
              <a:latin typeface="Times New Roman" pitchFamily="18" charset="0"/>
            </a:endParaRPr>
          </a:p>
          <a:p>
            <a:pPr marL="533400" lvl="1" indent="-266700" algn="just">
              <a:lnSpc>
                <a:spcPct val="110000"/>
              </a:lnSpc>
              <a:spcBef>
                <a:spcPts val="600"/>
              </a:spcBef>
              <a:buSzPct val="75000"/>
              <a:buFont typeface="Wingdings" panose="05000000000000000000" pitchFamily="2" charset="2"/>
              <a:buChar char="Ø"/>
            </a:pPr>
            <a:r>
              <a:rPr lang="zh-CN" altLang="en-US" sz="2400" dirty="0">
                <a:solidFill>
                  <a:schemeClr val="tx1"/>
                </a:solidFill>
                <a:latin typeface="Times New Roman" pitchFamily="18" charset="0"/>
              </a:rPr>
              <a:t>各观察点分布在直线（或曲线）周围</a:t>
            </a:r>
            <a:endParaRPr lang="en-US" altLang="zh-CN" sz="2400" dirty="0">
              <a:solidFill>
                <a:schemeClr val="tx1"/>
              </a:solidFill>
              <a:latin typeface="Times New Roman" pitchFamily="18" charset="0"/>
            </a:endParaRPr>
          </a:p>
        </p:txBody>
      </p:sp>
      <p:sp>
        <p:nvSpPr>
          <p:cNvPr id="61442" name="灯片编号占位符 5"/>
          <p:cNvSpPr>
            <a:spLocks noGrp="1"/>
          </p:cNvSpPr>
          <p:nvPr>
            <p:ph type="sldNum" sz="quarter" idx="4"/>
          </p:nvPr>
        </p:nvSpPr>
        <p:spPr>
          <a:noFill/>
        </p:spPr>
        <p:txBody>
          <a:bodyPr/>
          <a:lstStyle/>
          <a:p>
            <a:r>
              <a:rPr lang="en-US" altLang="zh-CN"/>
              <a:t>9--</a:t>
            </a:r>
            <a:fld id="{A14D4E21-743A-4320-815B-3D22A537C28B}" type="slidenum">
              <a:rPr lang="en-US" altLang="zh-CN" smtClean="0"/>
              <a:pPr/>
              <a:t>5</a:t>
            </a:fld>
            <a:endParaRPr lang="en-US" altLang="zh-CN"/>
          </a:p>
        </p:txBody>
      </p:sp>
      <p:grpSp>
        <p:nvGrpSpPr>
          <p:cNvPr id="61445" name="Group 36"/>
          <p:cNvGrpSpPr>
            <a:grpSpLocks/>
          </p:cNvGrpSpPr>
          <p:nvPr/>
        </p:nvGrpSpPr>
        <p:grpSpPr bwMode="auto">
          <a:xfrm>
            <a:off x="7772399" y="2252663"/>
            <a:ext cx="2311401" cy="2611437"/>
            <a:chOff x="3696" y="1629"/>
            <a:chExt cx="1906" cy="1762"/>
          </a:xfrm>
        </p:grpSpPr>
        <p:sp>
          <p:nvSpPr>
            <p:cNvPr id="17429" name="Text Box 21"/>
            <p:cNvSpPr txBox="1">
              <a:spLocks noChangeArrowheads="1"/>
            </p:cNvSpPr>
            <p:nvPr/>
          </p:nvSpPr>
          <p:spPr bwMode="auto">
            <a:xfrm>
              <a:off x="5297" y="1752"/>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61450" name="Line 18"/>
            <p:cNvSpPr>
              <a:spLocks noChangeShapeType="1"/>
            </p:cNvSpPr>
            <p:nvPr/>
          </p:nvSpPr>
          <p:spPr bwMode="auto">
            <a:xfrm>
              <a:off x="3702" y="1629"/>
              <a:ext cx="0" cy="1536"/>
            </a:xfrm>
            <a:prstGeom prst="line">
              <a:avLst/>
            </a:prstGeom>
            <a:noFill/>
            <a:ln w="38100">
              <a:solidFill>
                <a:schemeClr val="tx1"/>
              </a:solidFill>
              <a:round/>
              <a:headEnd type="triangle" w="med" len="med"/>
              <a:tailEnd/>
            </a:ln>
          </p:spPr>
          <p:txBody>
            <a:bodyPr/>
            <a:lstStyle/>
            <a:p>
              <a:endParaRPr lang="zh-CN" altLang="en-US"/>
            </a:p>
          </p:txBody>
        </p:sp>
        <p:sp>
          <p:nvSpPr>
            <p:cNvPr id="61451" name="Line 19"/>
            <p:cNvSpPr>
              <a:spLocks noChangeShapeType="1"/>
            </p:cNvSpPr>
            <p:nvPr/>
          </p:nvSpPr>
          <p:spPr bwMode="auto">
            <a:xfrm>
              <a:off x="3702" y="3165"/>
              <a:ext cx="1651" cy="0"/>
            </a:xfrm>
            <a:prstGeom prst="line">
              <a:avLst/>
            </a:prstGeom>
            <a:noFill/>
            <a:ln w="38100">
              <a:solidFill>
                <a:schemeClr val="tx1"/>
              </a:solidFill>
              <a:round/>
              <a:headEnd/>
              <a:tailEnd type="triangle" w="med" len="med"/>
            </a:ln>
          </p:spPr>
          <p:txBody>
            <a:bodyPr/>
            <a:lstStyle/>
            <a:p>
              <a:endParaRPr lang="zh-CN" altLang="en-US"/>
            </a:p>
          </p:txBody>
        </p:sp>
        <p:sp>
          <p:nvSpPr>
            <p:cNvPr id="17428" name="Text Box 20"/>
            <p:cNvSpPr txBox="1">
              <a:spLocks noChangeArrowheads="1"/>
            </p:cNvSpPr>
            <p:nvPr/>
          </p:nvSpPr>
          <p:spPr bwMode="auto">
            <a:xfrm>
              <a:off x="5037" y="1747"/>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1" name="Text Box 23"/>
            <p:cNvSpPr txBox="1">
              <a:spLocks noChangeArrowheads="1"/>
            </p:cNvSpPr>
            <p:nvPr/>
          </p:nvSpPr>
          <p:spPr bwMode="auto">
            <a:xfrm>
              <a:off x="4784" y="2160"/>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2" name="Text Box 24"/>
            <p:cNvSpPr txBox="1">
              <a:spLocks noChangeArrowheads="1"/>
            </p:cNvSpPr>
            <p:nvPr/>
          </p:nvSpPr>
          <p:spPr bwMode="auto">
            <a:xfrm>
              <a:off x="4920" y="1979"/>
              <a:ext cx="304"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3" name="Text Box 25"/>
            <p:cNvSpPr txBox="1">
              <a:spLocks noChangeArrowheads="1"/>
            </p:cNvSpPr>
            <p:nvPr/>
          </p:nvSpPr>
          <p:spPr bwMode="auto">
            <a:xfrm>
              <a:off x="4468" y="2160"/>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4" name="Text Box 26"/>
            <p:cNvSpPr txBox="1">
              <a:spLocks noChangeArrowheads="1"/>
            </p:cNvSpPr>
            <p:nvPr/>
          </p:nvSpPr>
          <p:spPr bwMode="auto">
            <a:xfrm>
              <a:off x="4426" y="2368"/>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5" name="Text Box 27"/>
            <p:cNvSpPr txBox="1">
              <a:spLocks noChangeArrowheads="1"/>
            </p:cNvSpPr>
            <p:nvPr/>
          </p:nvSpPr>
          <p:spPr bwMode="auto">
            <a:xfrm>
              <a:off x="4195" y="2387"/>
              <a:ext cx="306"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6" name="Text Box 28"/>
            <p:cNvSpPr txBox="1">
              <a:spLocks noChangeArrowheads="1"/>
            </p:cNvSpPr>
            <p:nvPr/>
          </p:nvSpPr>
          <p:spPr bwMode="auto">
            <a:xfrm>
              <a:off x="3968" y="2667"/>
              <a:ext cx="306"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7" name="Text Box 29"/>
            <p:cNvSpPr txBox="1">
              <a:spLocks noChangeArrowheads="1"/>
            </p:cNvSpPr>
            <p:nvPr/>
          </p:nvSpPr>
          <p:spPr bwMode="auto">
            <a:xfrm>
              <a:off x="3922" y="2387"/>
              <a:ext cx="304"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7438" name="Line 30"/>
            <p:cNvSpPr>
              <a:spLocks noChangeShapeType="1"/>
            </p:cNvSpPr>
            <p:nvPr/>
          </p:nvSpPr>
          <p:spPr bwMode="auto">
            <a:xfrm flipV="1">
              <a:off x="3786" y="1842"/>
              <a:ext cx="1601" cy="1043"/>
            </a:xfrm>
            <a:prstGeom prst="line">
              <a:avLst/>
            </a:prstGeom>
            <a:noFill/>
            <a:ln w="28575">
              <a:solidFill>
                <a:srgbClr val="3333FF"/>
              </a:solidFill>
              <a:round/>
              <a:headEnd/>
              <a:tailEnd/>
            </a:ln>
            <a:effectLst>
              <a:outerShdw dist="12700" dir="5400000" algn="ctr" rotWithShape="0">
                <a:schemeClr val="bg2"/>
              </a:outerShdw>
            </a:effectLst>
          </p:spPr>
          <p:txBody>
            <a:bodyPr/>
            <a:lstStyle/>
            <a:p>
              <a:pPr>
                <a:defRPr/>
              </a:pPr>
              <a:endParaRPr lang="zh-CN" altLang="en-US"/>
            </a:p>
          </p:txBody>
        </p:sp>
        <p:sp>
          <p:nvSpPr>
            <p:cNvPr id="17439" name="Rectangle 31"/>
            <p:cNvSpPr>
              <a:spLocks noChangeArrowheads="1"/>
            </p:cNvSpPr>
            <p:nvPr/>
          </p:nvSpPr>
          <p:spPr bwMode="auto">
            <a:xfrm>
              <a:off x="3696" y="2614"/>
              <a:ext cx="197" cy="233"/>
            </a:xfrm>
            <a:prstGeom prst="rect">
              <a:avLst/>
            </a:prstGeom>
            <a:noFill/>
            <a:ln w="9525">
              <a:noFill/>
              <a:miter lim="800000"/>
              <a:headEnd/>
              <a:tailEnd/>
            </a:ln>
            <a:effectLst/>
          </p:spPr>
          <p:txBody>
            <a:bodyPr wrap="none">
              <a:spAutoFit/>
            </a:bodyPr>
            <a:lstStyle/>
            <a:p>
              <a:pPr>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61462" name="Text Box 32"/>
            <p:cNvSpPr txBox="1">
              <a:spLocks noChangeArrowheads="1"/>
            </p:cNvSpPr>
            <p:nvPr/>
          </p:nvSpPr>
          <p:spPr bwMode="auto">
            <a:xfrm>
              <a:off x="5136" y="3158"/>
              <a:ext cx="288" cy="233"/>
            </a:xfrm>
            <a:prstGeom prst="rect">
              <a:avLst/>
            </a:prstGeom>
            <a:noFill/>
            <a:ln w="9525">
              <a:noFill/>
              <a:miter lim="800000"/>
              <a:headEnd/>
              <a:tailEnd/>
            </a:ln>
          </p:spPr>
          <p:txBody>
            <a:bodyPr>
              <a:spAutoFit/>
            </a:bodyPr>
            <a:lstStyle/>
            <a:p>
              <a:pPr>
                <a:spcBef>
                  <a:spcPct val="50000"/>
                </a:spcBef>
              </a:pPr>
              <a:r>
                <a:rPr lang="en-US" altLang="zh-CN" b="1" i="1"/>
                <a:t>X</a:t>
              </a:r>
            </a:p>
          </p:txBody>
        </p:sp>
        <p:sp>
          <p:nvSpPr>
            <p:cNvPr id="61463" name="Text Box 33"/>
            <p:cNvSpPr txBox="1">
              <a:spLocks noChangeArrowheads="1"/>
            </p:cNvSpPr>
            <p:nvPr/>
          </p:nvSpPr>
          <p:spPr bwMode="auto">
            <a:xfrm>
              <a:off x="3741" y="1661"/>
              <a:ext cx="288" cy="233"/>
            </a:xfrm>
            <a:prstGeom prst="rect">
              <a:avLst/>
            </a:prstGeom>
            <a:noFill/>
            <a:ln w="9525">
              <a:noFill/>
              <a:miter lim="800000"/>
              <a:headEnd/>
              <a:tailEnd/>
            </a:ln>
          </p:spPr>
          <p:txBody>
            <a:bodyPr>
              <a:spAutoFit/>
            </a:bodyPr>
            <a:lstStyle/>
            <a:p>
              <a:pPr>
                <a:spcBef>
                  <a:spcPct val="50000"/>
                </a:spcBef>
              </a:pPr>
              <a:r>
                <a:rPr lang="en-US" altLang="zh-CN" b="1" i="1"/>
                <a:t>Y</a:t>
              </a:r>
            </a:p>
          </p:txBody>
        </p:sp>
        <p:sp>
          <p:nvSpPr>
            <p:cNvPr id="17442" name="Text Box 34"/>
            <p:cNvSpPr txBox="1">
              <a:spLocks noChangeArrowheads="1"/>
            </p:cNvSpPr>
            <p:nvPr/>
          </p:nvSpPr>
          <p:spPr bwMode="auto">
            <a:xfrm>
              <a:off x="4603" y="1979"/>
              <a:ext cx="305" cy="233"/>
            </a:xfrm>
            <a:prstGeom prst="rect">
              <a:avLst/>
            </a:prstGeom>
            <a:noFill/>
            <a:ln w="12700">
              <a:noFill/>
              <a:miter lim="800000"/>
              <a:headEnd/>
              <a:tailEnd/>
            </a:ln>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61446" name="Rectangle 37"/>
          <p:cNvSpPr>
            <a:spLocks noChangeArrowheads="1"/>
          </p:cNvSpPr>
          <p:nvPr/>
        </p:nvSpPr>
        <p:spPr bwMode="auto">
          <a:xfrm>
            <a:off x="2188171" y="1230202"/>
            <a:ext cx="7848600" cy="649287"/>
          </a:xfrm>
          <a:prstGeom prst="rect">
            <a:avLst/>
          </a:prstGeom>
          <a:noFill/>
          <a:ln w="12700">
            <a:noFill/>
            <a:miter lim="800000"/>
            <a:headEnd/>
            <a:tailEnd/>
          </a:ln>
        </p:spPr>
        <p:txBody>
          <a:bodyPr lIns="90488" tIns="44450" rIns="90488" bIns="44450"/>
          <a:lstStyle/>
          <a:p>
            <a:pPr marL="609600" indent="-609600" algn="just">
              <a:lnSpc>
                <a:spcPct val="110000"/>
              </a:lnSpc>
              <a:spcBef>
                <a:spcPct val="20000"/>
              </a:spcBef>
              <a:buSzPct val="90000"/>
            </a:pPr>
            <a:r>
              <a:rPr lang="en-US" altLang="zh-CN" sz="3200" b="1" dirty="0">
                <a:solidFill>
                  <a:srgbClr val="000000"/>
                </a:solidFill>
                <a:latin typeface="Times New Roman" pitchFamily="18" charset="0"/>
              </a:rPr>
              <a:t>——</a:t>
            </a:r>
            <a:r>
              <a:rPr lang="zh-CN" altLang="en-US" sz="3200" b="1" dirty="0">
                <a:solidFill>
                  <a:srgbClr val="000000"/>
                </a:solidFill>
                <a:latin typeface="Times New Roman" pitchFamily="18" charset="0"/>
              </a:rPr>
              <a:t>变量间数量上</a:t>
            </a:r>
            <a:r>
              <a:rPr lang="zh-CN" altLang="en-US" sz="3200" b="1" dirty="0">
                <a:solidFill>
                  <a:srgbClr val="0070C0"/>
                </a:solidFill>
                <a:latin typeface="Times New Roman" pitchFamily="18" charset="0"/>
              </a:rPr>
              <a:t>不确定的</a:t>
            </a:r>
            <a:r>
              <a:rPr lang="zh-CN" altLang="en-US" sz="3200" b="1" dirty="0">
                <a:solidFill>
                  <a:srgbClr val="000000"/>
                </a:solidFill>
                <a:latin typeface="Times New Roman" pitchFamily="18" charset="0"/>
              </a:rPr>
              <a:t>依存关系；</a:t>
            </a:r>
          </a:p>
        </p:txBody>
      </p:sp>
      <p:sp>
        <p:nvSpPr>
          <p:cNvPr id="2" name="矩形 1"/>
          <p:cNvSpPr/>
          <p:nvPr/>
        </p:nvSpPr>
        <p:spPr>
          <a:xfrm>
            <a:off x="984248" y="4342549"/>
            <a:ext cx="8653858" cy="1826141"/>
          </a:xfrm>
          <a:prstGeom prst="rect">
            <a:avLst/>
          </a:prstGeom>
        </p:spPr>
        <p:txBody>
          <a:bodyPr wrap="square">
            <a:spAutoFit/>
          </a:bodyPr>
          <a:lstStyle/>
          <a:p>
            <a:pPr marL="266700" lvl="1" algn="just" defTabSz="685783" fontAlgn="ctr">
              <a:spcBef>
                <a:spcPts val="600"/>
              </a:spcBef>
              <a:spcAft>
                <a:spcPts val="225"/>
              </a:spcAft>
              <a:buSzPct val="75000"/>
            </a:pPr>
            <a:r>
              <a:rPr lang="zh-CN" altLang="en-US" sz="2400" dirty="0">
                <a:latin typeface="Times New Roman" pitchFamily="18" charset="0"/>
                <a:ea typeface="微软雅黑" panose="020B0503020204020204" pitchFamily="34" charset="-122"/>
              </a:rPr>
              <a:t>如：</a:t>
            </a:r>
            <a:endParaRPr lang="en-US" altLang="zh-CN" sz="2400" dirty="0">
              <a:latin typeface="Times New Roman" pitchFamily="18" charset="0"/>
              <a:ea typeface="微软雅黑" panose="020B0503020204020204" pitchFamily="34" charset="-122"/>
            </a:endParaRPr>
          </a:p>
          <a:p>
            <a:pPr marL="622300" lvl="1" indent="-165100" algn="just" eaLnBrk="0" hangingPunct="0">
              <a:spcBef>
                <a:spcPts val="600"/>
              </a:spcBef>
              <a:buClr>
                <a:schemeClr val="hlink"/>
              </a:buClr>
              <a:buFont typeface="Wingdings" pitchFamily="2" charset="2"/>
              <a:buChar char="§"/>
            </a:pPr>
            <a:r>
              <a:rPr kumimoji="1" lang="zh-CN" altLang="en-US" sz="2400" dirty="0">
                <a:solidFill>
                  <a:srgbClr val="000000"/>
                </a:solidFill>
                <a:latin typeface="Times New Roman" pitchFamily="18" charset="0"/>
              </a:rPr>
              <a:t>产品单位成本</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Y</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与产量</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X</a:t>
            </a:r>
            <a:r>
              <a:rPr kumimoji="1" lang="en-US" altLang="zh-CN" sz="2400" dirty="0">
                <a:solidFill>
                  <a:srgbClr val="000000"/>
                </a:solidFill>
                <a:latin typeface="Times New Roman" pitchFamily="18" charset="0"/>
              </a:rPr>
              <a:t>) </a:t>
            </a:r>
            <a:r>
              <a:rPr kumimoji="1" lang="zh-CN" altLang="en-US" sz="2400" dirty="0">
                <a:solidFill>
                  <a:srgbClr val="000000"/>
                </a:solidFill>
                <a:latin typeface="Times New Roman" pitchFamily="18" charset="0"/>
              </a:rPr>
              <a:t>的关系</a:t>
            </a:r>
            <a:r>
              <a:rPr kumimoji="1" lang="en-US" altLang="zh-CN" sz="2400" dirty="0">
                <a:solidFill>
                  <a:srgbClr val="000000"/>
                </a:solidFill>
                <a:latin typeface="Times New Roman" pitchFamily="18" charset="0"/>
              </a:rPr>
              <a:t>……</a:t>
            </a:r>
          </a:p>
          <a:p>
            <a:pPr marL="622300" lvl="1" indent="-165100" algn="just" eaLnBrk="0" hangingPunct="0">
              <a:spcBef>
                <a:spcPts val="600"/>
              </a:spcBef>
              <a:buClr>
                <a:schemeClr val="hlink"/>
              </a:buClr>
              <a:buFont typeface="Wingdings" pitchFamily="2" charset="2"/>
              <a:buChar char="§"/>
            </a:pPr>
            <a:r>
              <a:rPr kumimoji="1" lang="zh-CN" altLang="en-US" sz="2400" dirty="0">
                <a:solidFill>
                  <a:srgbClr val="000000"/>
                </a:solidFill>
                <a:latin typeface="Times New Roman" pitchFamily="18" charset="0"/>
              </a:rPr>
              <a:t>社会商品零售额</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Y</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与居民可支配收入</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X</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 的关系</a:t>
            </a:r>
          </a:p>
          <a:p>
            <a:pPr marL="622300" lvl="1" indent="-165100" algn="just" eaLnBrk="0" hangingPunct="0">
              <a:spcBef>
                <a:spcPts val="600"/>
              </a:spcBef>
              <a:buClr>
                <a:schemeClr val="hlink"/>
              </a:buClr>
              <a:buFont typeface="Wingdings" pitchFamily="2" charset="2"/>
              <a:buChar char="§"/>
            </a:pPr>
            <a:r>
              <a:rPr kumimoji="1" lang="zh-CN" altLang="en-US" sz="2400" dirty="0">
                <a:solidFill>
                  <a:srgbClr val="000000"/>
                </a:solidFill>
                <a:latin typeface="Times New Roman" pitchFamily="18" charset="0"/>
              </a:rPr>
              <a:t>商品销售量</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Y</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与广告费支出</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X</a:t>
            </a:r>
            <a:r>
              <a:rPr kumimoji="1" lang="en-US" altLang="zh-CN" sz="2400" baseline="-25000" dirty="0">
                <a:solidFill>
                  <a:srgbClr val="000000"/>
                </a:solidFill>
                <a:latin typeface="Times New Roman" pitchFamily="18" charset="0"/>
              </a:rPr>
              <a:t>1</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、价格</a:t>
            </a:r>
            <a:r>
              <a:rPr kumimoji="1" lang="en-US" altLang="zh-CN" sz="2400" dirty="0">
                <a:solidFill>
                  <a:srgbClr val="000000"/>
                </a:solidFill>
                <a:latin typeface="Times New Roman" pitchFamily="18" charset="0"/>
              </a:rPr>
              <a:t>(</a:t>
            </a:r>
            <a:r>
              <a:rPr kumimoji="1" lang="en-US" altLang="zh-CN" sz="2400" i="1" dirty="0">
                <a:solidFill>
                  <a:srgbClr val="000000"/>
                </a:solidFill>
                <a:latin typeface="Times New Roman" pitchFamily="18" charset="0"/>
              </a:rPr>
              <a:t>X</a:t>
            </a:r>
            <a:r>
              <a:rPr kumimoji="1" lang="en-US" altLang="zh-CN" sz="2400" baseline="-25000" dirty="0">
                <a:solidFill>
                  <a:srgbClr val="000000"/>
                </a:solidFill>
                <a:latin typeface="Times New Roman" pitchFamily="18" charset="0"/>
              </a:rPr>
              <a:t>2</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之间的关系</a:t>
            </a:r>
            <a:endParaRPr lang="zh-CN" altLang="en-US" sz="2400" dirty="0">
              <a:latin typeface="Times New Roman" pitchFamily="18" charset="0"/>
            </a:endParaRPr>
          </a:p>
        </p:txBody>
      </p:sp>
    </p:spTree>
    <p:extLst>
      <p:ext uri="{BB962C8B-B14F-4D97-AF65-F5344CB8AC3E}">
        <p14:creationId xmlns:p14="http://schemas.microsoft.com/office/powerpoint/2010/main" val="1102006387"/>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日期占位符 4"/>
          <p:cNvSpPr>
            <a:spLocks noGrp="1"/>
          </p:cNvSpPr>
          <p:nvPr>
            <p:ph type="dt" sz="half" idx="10"/>
          </p:nvPr>
        </p:nvSpPr>
        <p:spPr>
          <a:noFill/>
        </p:spPr>
        <p:txBody>
          <a:bodyPr/>
          <a:lstStyle/>
          <a:p>
            <a:endParaRPr lang="en-US" altLang="zh-CN"/>
          </a:p>
        </p:txBody>
      </p:sp>
      <p:sp>
        <p:nvSpPr>
          <p:cNvPr id="63492" name="Rectangle 3"/>
          <p:cNvSpPr>
            <a:spLocks noGrp="1" noChangeArrowheads="1"/>
          </p:cNvSpPr>
          <p:nvPr>
            <p:ph idx="1"/>
          </p:nvPr>
        </p:nvSpPr>
        <p:spPr>
          <a:xfrm>
            <a:off x="1244600" y="800100"/>
            <a:ext cx="8255000" cy="5333761"/>
          </a:xfrm>
        </p:spPr>
        <p:txBody>
          <a:bodyPr>
            <a:normAutofit/>
          </a:bodyPr>
          <a:lstStyle/>
          <a:p>
            <a:pPr marL="0" indent="0" eaLnBrk="1" hangingPunct="1">
              <a:lnSpc>
                <a:spcPct val="125000"/>
              </a:lnSpc>
              <a:spcBef>
                <a:spcPts val="600"/>
              </a:spcBef>
              <a:spcAft>
                <a:spcPts val="0"/>
              </a:spcAft>
              <a:buNone/>
            </a:pPr>
            <a:r>
              <a:rPr lang="zh-CN" altLang="en-US" dirty="0"/>
              <a:t>    变量之间的</a:t>
            </a:r>
            <a:r>
              <a:rPr lang="zh-CN" altLang="en-US" dirty="0">
                <a:solidFill>
                  <a:srgbClr val="0070C0"/>
                </a:solidFill>
              </a:rPr>
              <a:t>函数关系和相关关系</a:t>
            </a:r>
            <a:r>
              <a:rPr lang="zh-CN" altLang="en-US" dirty="0"/>
              <a:t>并不是绝对的，在一定条件下二者可以</a:t>
            </a:r>
            <a:r>
              <a:rPr lang="zh-CN" altLang="en-US" dirty="0">
                <a:solidFill>
                  <a:srgbClr val="0070C0"/>
                </a:solidFill>
              </a:rPr>
              <a:t>相互转化</a:t>
            </a:r>
            <a:r>
              <a:rPr lang="zh-CN" altLang="en-US" dirty="0"/>
              <a:t>。</a:t>
            </a:r>
          </a:p>
          <a:p>
            <a:pPr marL="444500" lvl="2" indent="279400">
              <a:lnSpc>
                <a:spcPct val="125000"/>
              </a:lnSpc>
              <a:spcBef>
                <a:spcPts val="600"/>
              </a:spcBef>
              <a:spcAft>
                <a:spcPts val="0"/>
              </a:spcAft>
            </a:pPr>
            <a:r>
              <a:rPr lang="zh-CN" altLang="en-US" sz="2800" dirty="0">
                <a:solidFill>
                  <a:schemeClr val="tx1"/>
                </a:solidFill>
              </a:rPr>
              <a:t>由于存在观测误差，其函数关系往往会以相关关系表现出来；</a:t>
            </a:r>
          </a:p>
          <a:p>
            <a:pPr marL="444500" lvl="2" indent="279400">
              <a:lnSpc>
                <a:spcPct val="125000"/>
              </a:lnSpc>
              <a:spcBef>
                <a:spcPts val="600"/>
              </a:spcBef>
              <a:spcAft>
                <a:spcPts val="0"/>
              </a:spcAft>
            </a:pPr>
            <a:r>
              <a:rPr lang="zh-CN" altLang="en-US" sz="2800" dirty="0">
                <a:solidFill>
                  <a:schemeClr val="tx1"/>
                </a:solidFill>
              </a:rPr>
              <a:t>如果能够把影响变量变动的其他所有因素全部都控制不变，这时原来的相关关系也可能会趋近于函数关系。</a:t>
            </a:r>
          </a:p>
          <a:p>
            <a:pPr marL="444500" lvl="2" indent="279400">
              <a:lnSpc>
                <a:spcPct val="125000"/>
              </a:lnSpc>
              <a:spcBef>
                <a:spcPts val="600"/>
              </a:spcBef>
              <a:spcAft>
                <a:spcPts val="0"/>
              </a:spcAft>
            </a:pPr>
            <a:r>
              <a:rPr lang="zh-CN" altLang="en-US" sz="2800" dirty="0">
                <a:solidFill>
                  <a:schemeClr val="tx1"/>
                </a:solidFill>
              </a:rPr>
              <a:t>相关关系经常可以用一定的函数关系去近似地刻画。</a:t>
            </a:r>
          </a:p>
        </p:txBody>
      </p:sp>
      <p:sp>
        <p:nvSpPr>
          <p:cNvPr id="63490" name="灯片编号占位符 5"/>
          <p:cNvSpPr>
            <a:spLocks noGrp="1"/>
          </p:cNvSpPr>
          <p:nvPr>
            <p:ph type="sldNum" sz="quarter" idx="4"/>
          </p:nvPr>
        </p:nvSpPr>
        <p:spPr>
          <a:noFill/>
        </p:spPr>
        <p:txBody>
          <a:bodyPr/>
          <a:lstStyle/>
          <a:p>
            <a:r>
              <a:rPr lang="en-US" altLang="zh-CN"/>
              <a:t>9--</a:t>
            </a:r>
            <a:fld id="{C22FE35F-9133-4B00-B482-BACF7AFAF8F2}" type="slidenum">
              <a:rPr lang="en-US" altLang="zh-CN" smtClean="0"/>
              <a:pPr/>
              <a:t>6</a:t>
            </a:fld>
            <a:endParaRPr lang="en-US" altLang="zh-CN"/>
          </a:p>
        </p:txBody>
      </p:sp>
    </p:spTree>
    <p:extLst>
      <p:ext uri="{BB962C8B-B14F-4D97-AF65-F5344CB8AC3E}">
        <p14:creationId xmlns:p14="http://schemas.microsoft.com/office/powerpoint/2010/main" val="413564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灯片编号占位符 5"/>
          <p:cNvSpPr>
            <a:spLocks noGrp="1"/>
          </p:cNvSpPr>
          <p:nvPr>
            <p:ph type="sldNum" sz="quarter" idx="10"/>
          </p:nvPr>
        </p:nvSpPr>
        <p:spPr>
          <a:noFill/>
        </p:spPr>
        <p:txBody>
          <a:bodyPr/>
          <a:lstStyle/>
          <a:p>
            <a:r>
              <a:rPr lang="en-US" altLang="zh-CN"/>
              <a:t>9--</a:t>
            </a:r>
            <a:fld id="{EECD7E78-7B85-450A-B3D2-9C04043598B6}" type="slidenum">
              <a:rPr lang="en-US" altLang="zh-CN" smtClean="0"/>
              <a:pPr/>
              <a:t>7</a:t>
            </a:fld>
            <a:endParaRPr lang="en-US" altLang="zh-CN"/>
          </a:p>
        </p:txBody>
      </p:sp>
      <p:sp>
        <p:nvSpPr>
          <p:cNvPr id="64515" name="Rectangle 2"/>
          <p:cNvSpPr>
            <a:spLocks noGrp="1" noChangeArrowheads="1"/>
          </p:cNvSpPr>
          <p:nvPr>
            <p:ph type="title" idx="4294967295"/>
          </p:nvPr>
        </p:nvSpPr>
        <p:spPr>
          <a:xfrm>
            <a:off x="1866900" y="476250"/>
            <a:ext cx="3975100" cy="990600"/>
          </a:xfrm>
        </p:spPr>
        <p:txBody>
          <a:bodyPr/>
          <a:lstStyle/>
          <a:p>
            <a:pPr eaLnBrk="1" hangingPunct="1">
              <a:buFont typeface="Wingdings 3" pitchFamily="18" charset="2"/>
              <a:buNone/>
            </a:pPr>
            <a:r>
              <a:rPr lang="zh-CN" altLang="en-US" sz="3600" b="1" dirty="0">
                <a:effectLst/>
                <a:latin typeface="Times New Roman" pitchFamily="18" charset="0"/>
              </a:rPr>
              <a:t> 其它有关概念</a:t>
            </a:r>
          </a:p>
        </p:txBody>
      </p:sp>
      <p:sp>
        <p:nvSpPr>
          <p:cNvPr id="21507" name="Rectangle 3"/>
          <p:cNvSpPr>
            <a:spLocks noGrp="1" noChangeArrowheads="1"/>
          </p:cNvSpPr>
          <p:nvPr>
            <p:ph type="body" idx="4294967295"/>
          </p:nvPr>
        </p:nvSpPr>
        <p:spPr>
          <a:xfrm>
            <a:off x="1727200" y="1466850"/>
            <a:ext cx="8458200" cy="4751387"/>
          </a:xfrm>
        </p:spPr>
        <p:txBody>
          <a:bodyPr/>
          <a:lstStyle/>
          <a:p>
            <a:pPr marL="571500" indent="-571500">
              <a:spcBef>
                <a:spcPct val="25000"/>
              </a:spcBef>
            </a:pPr>
            <a:r>
              <a:rPr lang="zh-CN" altLang="en-US" sz="3000" dirty="0">
                <a:solidFill>
                  <a:srgbClr val="FF00FF"/>
                </a:solidFill>
                <a:latin typeface="Times New Roman" pitchFamily="18" charset="0"/>
              </a:rPr>
              <a:t>假 相 关</a:t>
            </a:r>
            <a:r>
              <a:rPr lang="en-US" altLang="zh-CN" dirty="0"/>
              <a:t>(</a:t>
            </a:r>
            <a:r>
              <a:rPr lang="zh-CN" altLang="en-US" dirty="0"/>
              <a:t>伪相关</a:t>
            </a:r>
            <a:r>
              <a:rPr lang="en-US" altLang="zh-CN" dirty="0"/>
              <a:t>) </a:t>
            </a:r>
            <a:endParaRPr lang="en-US" altLang="zh-CN" sz="3000" dirty="0">
              <a:solidFill>
                <a:srgbClr val="FF00FF"/>
              </a:solidFill>
              <a:latin typeface="Times New Roman" pitchFamily="18" charset="0"/>
            </a:endParaRPr>
          </a:p>
          <a:p>
            <a:pPr marL="514350" lvl="1" indent="0">
              <a:spcBef>
                <a:spcPct val="25000"/>
              </a:spcBef>
              <a:buNone/>
            </a:pPr>
            <a:r>
              <a:rPr lang="zh-CN" altLang="en-US" sz="2600" dirty="0">
                <a:latin typeface="Times New Roman" pitchFamily="18" charset="0"/>
              </a:rPr>
              <a:t>     没有本质联系，只是表面数字的偶然的巧合；</a:t>
            </a:r>
          </a:p>
          <a:p>
            <a:pPr marL="857250" lvl="2" indent="0">
              <a:spcBef>
                <a:spcPct val="25000"/>
              </a:spcBef>
              <a:buNone/>
            </a:pPr>
            <a:r>
              <a:rPr lang="zh-CN" altLang="en-US" sz="2600" dirty="0">
                <a:latin typeface="Times New Roman" pitchFamily="18" charset="0"/>
              </a:rPr>
              <a:t> 如上证股票价格综合指数与气温的关系。</a:t>
            </a:r>
          </a:p>
          <a:p>
            <a:pPr marL="571500" indent="-571500">
              <a:spcBef>
                <a:spcPct val="25000"/>
              </a:spcBef>
            </a:pPr>
            <a:r>
              <a:rPr lang="zh-CN" altLang="en-US" sz="2800" dirty="0">
                <a:solidFill>
                  <a:srgbClr val="FF00FF"/>
                </a:solidFill>
                <a:latin typeface="Times New Roman" pitchFamily="18" charset="0"/>
              </a:rPr>
              <a:t>因果关系</a:t>
            </a:r>
          </a:p>
          <a:p>
            <a:pPr marL="971550" lvl="1">
              <a:spcBef>
                <a:spcPct val="25000"/>
              </a:spcBef>
            </a:pPr>
            <a:r>
              <a:rPr lang="zh-CN" altLang="en-US" sz="2400" dirty="0">
                <a:latin typeface="Times New Roman" pitchFamily="18" charset="0"/>
              </a:rPr>
              <a:t>原因与结果之间、影响因素与被影响因素之间的关系。</a:t>
            </a:r>
          </a:p>
          <a:p>
            <a:pPr marL="971550" lvl="1">
              <a:spcBef>
                <a:spcPct val="25000"/>
              </a:spcBef>
            </a:pPr>
            <a:r>
              <a:rPr lang="zh-CN" altLang="en-US" sz="2400" dirty="0">
                <a:latin typeface="Times New Roman" pitchFamily="18" charset="0"/>
              </a:rPr>
              <a:t>相关关系比因果关系包括的范围更广泛。即，</a:t>
            </a:r>
            <a:r>
              <a:rPr lang="zh-CN" altLang="en-US" sz="2600" dirty="0">
                <a:latin typeface="Times New Roman" pitchFamily="18" charset="0"/>
              </a:rPr>
              <a:t>因果关系属于相关关系，但相关关系不一定是因果关系。</a:t>
            </a:r>
          </a:p>
          <a:p>
            <a:pPr marL="971550" lvl="1">
              <a:spcBef>
                <a:spcPct val="25000"/>
              </a:spcBef>
            </a:pPr>
            <a:r>
              <a:rPr lang="zh-CN" altLang="en-US" sz="2600" dirty="0">
                <a:latin typeface="Times New Roman" pitchFamily="18" charset="0"/>
              </a:rPr>
              <a:t>统计只能说明现象间有无数量上的关系，不能说明谁因谁果</a:t>
            </a:r>
          </a:p>
        </p:txBody>
      </p:sp>
    </p:spTree>
    <p:extLst>
      <p:ext uri="{BB962C8B-B14F-4D97-AF65-F5344CB8AC3E}">
        <p14:creationId xmlns:p14="http://schemas.microsoft.com/office/powerpoint/2010/main" val="326077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anim calcmode="lin" valueType="num">
                                      <p:cBhvr additive="base">
                                        <p:cTn id="11" dur="500" fill="hold"/>
                                        <p:tgtEl>
                                          <p:spTgt spid="2150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150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anim calcmode="lin" valueType="num">
                                      <p:cBhvr additive="base">
                                        <p:cTn id="15" dur="500" fill="hold"/>
                                        <p:tgtEl>
                                          <p:spTgt spid="2150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15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1507">
                                            <p:txEl>
                                              <p:pRg st="3" end="3"/>
                                            </p:txEl>
                                          </p:spTgt>
                                        </p:tgtEl>
                                        <p:attrNameLst>
                                          <p:attrName>style.visibility</p:attrName>
                                        </p:attrNameLst>
                                      </p:cBhvr>
                                      <p:to>
                                        <p:strVal val="visible"/>
                                      </p:to>
                                    </p:set>
                                    <p:anim calcmode="lin" valueType="num">
                                      <p:cBhvr additive="base">
                                        <p:cTn id="21" dur="500" fill="hold"/>
                                        <p:tgtEl>
                                          <p:spTgt spid="2150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150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1507">
                                            <p:txEl>
                                              <p:pRg st="4" end="4"/>
                                            </p:txEl>
                                          </p:spTgt>
                                        </p:tgtEl>
                                        <p:attrNameLst>
                                          <p:attrName>style.visibility</p:attrName>
                                        </p:attrNameLst>
                                      </p:cBhvr>
                                      <p:to>
                                        <p:strVal val="visible"/>
                                      </p:to>
                                    </p:set>
                                    <p:anim calcmode="lin" valueType="num">
                                      <p:cBhvr additive="base">
                                        <p:cTn id="25" dur="500" fill="hold"/>
                                        <p:tgtEl>
                                          <p:spTgt spid="2150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50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1507">
                                            <p:txEl>
                                              <p:pRg st="5" end="5"/>
                                            </p:txEl>
                                          </p:spTgt>
                                        </p:tgtEl>
                                        <p:attrNameLst>
                                          <p:attrName>style.visibility</p:attrName>
                                        </p:attrNameLst>
                                      </p:cBhvr>
                                      <p:to>
                                        <p:strVal val="visible"/>
                                      </p:to>
                                    </p:set>
                                    <p:anim calcmode="lin" valueType="num">
                                      <p:cBhvr additive="base">
                                        <p:cTn id="29" dur="500" fill="hold"/>
                                        <p:tgtEl>
                                          <p:spTgt spid="2150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50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1507">
                                            <p:txEl>
                                              <p:pRg st="6" end="6"/>
                                            </p:txEl>
                                          </p:spTgt>
                                        </p:tgtEl>
                                        <p:attrNameLst>
                                          <p:attrName>style.visibility</p:attrName>
                                        </p:attrNameLst>
                                      </p:cBhvr>
                                      <p:to>
                                        <p:strVal val="visible"/>
                                      </p:to>
                                    </p:set>
                                    <p:anim calcmode="lin" valueType="num">
                                      <p:cBhvr additive="base">
                                        <p:cTn id="33" dur="500" fill="hold"/>
                                        <p:tgtEl>
                                          <p:spTgt spid="2150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150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0"/>
          </p:nvPr>
        </p:nvSpPr>
        <p:spPr>
          <a:noFill/>
        </p:spPr>
        <p:txBody>
          <a:bodyPr/>
          <a:lstStyle/>
          <a:p>
            <a:r>
              <a:rPr lang="en-US" altLang="zh-CN"/>
              <a:t>9--</a:t>
            </a:r>
            <a:fld id="{CE49F399-D1B9-47CB-A4E6-7DDEFB48735C}" type="slidenum">
              <a:rPr lang="en-US" altLang="zh-CN" smtClean="0"/>
              <a:pPr/>
              <a:t>8</a:t>
            </a:fld>
            <a:endParaRPr lang="en-US" altLang="zh-CN"/>
          </a:p>
        </p:txBody>
      </p:sp>
      <p:sp>
        <p:nvSpPr>
          <p:cNvPr id="65539" name="Rectangle 2"/>
          <p:cNvSpPr>
            <a:spLocks noGrp="1" noChangeArrowheads="1"/>
          </p:cNvSpPr>
          <p:nvPr>
            <p:ph type="title" idx="4294967295"/>
          </p:nvPr>
        </p:nvSpPr>
        <p:spPr>
          <a:xfrm>
            <a:off x="1587500" y="460933"/>
            <a:ext cx="6159500" cy="990600"/>
          </a:xfrm>
        </p:spPr>
        <p:txBody>
          <a:bodyPr>
            <a:normAutofit/>
          </a:bodyPr>
          <a:lstStyle/>
          <a:p>
            <a:pPr eaLnBrk="1" hangingPunct="1"/>
            <a:r>
              <a:rPr kumimoji="1" lang="en-US" altLang="zh-CN" sz="3600" b="1" dirty="0">
                <a:solidFill>
                  <a:srgbClr val="0070C0"/>
                </a:solidFill>
                <a:effectLst/>
              </a:rPr>
              <a:t>9.1.</a:t>
            </a:r>
            <a:r>
              <a:rPr lang="en-US" altLang="zh-CN" sz="3600" b="1" dirty="0">
                <a:solidFill>
                  <a:srgbClr val="0070C0"/>
                </a:solidFill>
                <a:effectLst/>
              </a:rPr>
              <a:t>2  </a:t>
            </a:r>
            <a:r>
              <a:rPr lang="zh-CN" altLang="en-US" sz="3600" b="1" dirty="0">
                <a:solidFill>
                  <a:srgbClr val="0070C0"/>
                </a:solidFill>
                <a:effectLst/>
              </a:rPr>
              <a:t>相关关系的种类</a:t>
            </a:r>
          </a:p>
        </p:txBody>
      </p:sp>
      <p:sp>
        <p:nvSpPr>
          <p:cNvPr id="22556" name="Rectangle 28"/>
          <p:cNvSpPr>
            <a:spLocks noChangeArrowheads="1"/>
          </p:cNvSpPr>
          <p:nvPr/>
        </p:nvSpPr>
        <p:spPr bwMode="auto">
          <a:xfrm>
            <a:off x="2513014" y="1451533"/>
            <a:ext cx="7450137" cy="4648200"/>
          </a:xfrm>
          <a:prstGeom prst="rect">
            <a:avLst/>
          </a:prstGeom>
          <a:noFill/>
          <a:ln w="9525">
            <a:noFill/>
            <a:miter lim="800000"/>
            <a:headEnd/>
            <a:tailEnd/>
          </a:ln>
        </p:spPr>
        <p:txBody>
          <a:bodyPr/>
          <a:lstStyle/>
          <a:p>
            <a:pPr>
              <a:spcBef>
                <a:spcPct val="20000"/>
              </a:spcBef>
              <a:buSzPct val="90000"/>
            </a:pPr>
            <a:r>
              <a:rPr lang="en-US" altLang="zh-CN" sz="3000" b="1" dirty="0">
                <a:solidFill>
                  <a:srgbClr val="0070C0"/>
                </a:solidFill>
                <a:latin typeface="Times New Roman" pitchFamily="18" charset="0"/>
              </a:rPr>
              <a:t>1.  </a:t>
            </a:r>
            <a:r>
              <a:rPr lang="zh-CN" altLang="en-US" sz="3000" b="1" dirty="0">
                <a:solidFill>
                  <a:srgbClr val="0070C0"/>
                </a:solidFill>
                <a:latin typeface="Times New Roman" pitchFamily="18" charset="0"/>
              </a:rPr>
              <a:t>按涉及变量多少分为：</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单相关（一元相关）</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复相关（多元相关</a:t>
            </a:r>
            <a:r>
              <a:rPr lang="zh-CN" altLang="en-US" sz="3000" dirty="0">
                <a:solidFill>
                  <a:srgbClr val="000000"/>
                </a:solidFill>
                <a:latin typeface="Times New Roman" pitchFamily="18" charset="0"/>
              </a:rPr>
              <a:t>）</a:t>
            </a:r>
          </a:p>
          <a:p>
            <a:pPr>
              <a:spcBef>
                <a:spcPct val="20000"/>
              </a:spcBef>
              <a:buSzPct val="90000"/>
            </a:pPr>
            <a:r>
              <a:rPr lang="en-US" altLang="zh-CN" sz="2800" b="1" dirty="0">
                <a:solidFill>
                  <a:srgbClr val="0070C0"/>
                </a:solidFill>
                <a:latin typeface="Times New Roman" pitchFamily="18" charset="0"/>
              </a:rPr>
              <a:t>2.  </a:t>
            </a:r>
            <a:r>
              <a:rPr lang="zh-CN" altLang="en-US" sz="2800" b="1" dirty="0">
                <a:solidFill>
                  <a:srgbClr val="0070C0"/>
                </a:solidFill>
                <a:latin typeface="Times New Roman" pitchFamily="18" charset="0"/>
              </a:rPr>
              <a:t>按相关关系的表现形式分为：</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直线相关（线性相关）</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曲线相关（非线性相关</a:t>
            </a:r>
            <a:r>
              <a:rPr lang="zh-CN" altLang="en-US" dirty="0">
                <a:solidFill>
                  <a:srgbClr val="000000"/>
                </a:solidFill>
                <a:latin typeface="Times New Roman" pitchFamily="18" charset="0"/>
              </a:rPr>
              <a:t>）</a:t>
            </a:r>
          </a:p>
          <a:p>
            <a:pPr>
              <a:spcBef>
                <a:spcPct val="20000"/>
              </a:spcBef>
              <a:buSzPct val="90000"/>
            </a:pPr>
            <a:r>
              <a:rPr lang="en-US" altLang="zh-CN" sz="2800" b="1" dirty="0">
                <a:solidFill>
                  <a:srgbClr val="0070C0"/>
                </a:solidFill>
                <a:latin typeface="Times New Roman" pitchFamily="18" charset="0"/>
              </a:rPr>
              <a:t>3.  </a:t>
            </a:r>
            <a:r>
              <a:rPr lang="zh-CN" altLang="en-US" sz="2800" b="1" dirty="0">
                <a:solidFill>
                  <a:srgbClr val="0070C0"/>
                </a:solidFill>
                <a:latin typeface="Times New Roman" pitchFamily="18" charset="0"/>
              </a:rPr>
              <a:t>按相关方向</a:t>
            </a:r>
            <a:r>
              <a:rPr lang="zh-CN" altLang="en-US" sz="2800" dirty="0">
                <a:solidFill>
                  <a:srgbClr val="0070C0"/>
                </a:solidFill>
                <a:latin typeface="Times New Roman" pitchFamily="18" charset="0"/>
              </a:rPr>
              <a:t>（变量变化方向）</a:t>
            </a:r>
            <a:r>
              <a:rPr lang="zh-CN" altLang="en-US" sz="2800" b="1" dirty="0">
                <a:solidFill>
                  <a:srgbClr val="0070C0"/>
                </a:solidFill>
                <a:latin typeface="Times New Roman" pitchFamily="18" charset="0"/>
              </a:rPr>
              <a:t>分为：</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正相关 </a:t>
            </a:r>
          </a:p>
          <a:p>
            <a:pPr marL="971550" lvl="1" indent="-285750">
              <a:spcBef>
                <a:spcPct val="20000"/>
              </a:spcBef>
              <a:buSzPct val="80000"/>
              <a:buBlip>
                <a:blip r:embed="rId2"/>
              </a:buBlip>
            </a:pPr>
            <a:r>
              <a:rPr lang="zh-CN" altLang="en-US" sz="2800" b="1" dirty="0">
                <a:solidFill>
                  <a:srgbClr val="000000"/>
                </a:solidFill>
                <a:latin typeface="Times New Roman" pitchFamily="18" charset="0"/>
              </a:rPr>
              <a:t>负相关</a:t>
            </a:r>
          </a:p>
        </p:txBody>
      </p:sp>
    </p:spTree>
    <p:extLst>
      <p:ext uri="{BB962C8B-B14F-4D97-AF65-F5344CB8AC3E}">
        <p14:creationId xmlns:p14="http://schemas.microsoft.com/office/powerpoint/2010/main" val="3261603103"/>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56">
                                            <p:txEl>
                                              <p:pRg st="0" end="0"/>
                                            </p:txEl>
                                          </p:spTgt>
                                        </p:tgtEl>
                                        <p:attrNameLst>
                                          <p:attrName>style.visibility</p:attrName>
                                        </p:attrNameLst>
                                      </p:cBhvr>
                                      <p:to>
                                        <p:strVal val="visible"/>
                                      </p:to>
                                    </p:set>
                                    <p:anim calcmode="lin" valueType="num">
                                      <p:cBhvr additive="base">
                                        <p:cTn id="7" dur="500" fill="hold"/>
                                        <p:tgtEl>
                                          <p:spTgt spid="2255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5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2556">
                                            <p:txEl>
                                              <p:pRg st="1" end="1"/>
                                            </p:txEl>
                                          </p:spTgt>
                                        </p:tgtEl>
                                        <p:attrNameLst>
                                          <p:attrName>style.visibility</p:attrName>
                                        </p:attrNameLst>
                                      </p:cBhvr>
                                      <p:to>
                                        <p:strVal val="visible"/>
                                      </p:to>
                                    </p:set>
                                    <p:anim calcmode="lin" valueType="num">
                                      <p:cBhvr additive="base">
                                        <p:cTn id="11" dur="500" fill="hold"/>
                                        <p:tgtEl>
                                          <p:spTgt spid="22556">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2556">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2556">
                                            <p:txEl>
                                              <p:pRg st="2" end="2"/>
                                            </p:txEl>
                                          </p:spTgt>
                                        </p:tgtEl>
                                        <p:attrNameLst>
                                          <p:attrName>style.visibility</p:attrName>
                                        </p:attrNameLst>
                                      </p:cBhvr>
                                      <p:to>
                                        <p:strVal val="visible"/>
                                      </p:to>
                                    </p:set>
                                    <p:anim calcmode="lin" valueType="num">
                                      <p:cBhvr additive="base">
                                        <p:cTn id="15" dur="500" fill="hold"/>
                                        <p:tgtEl>
                                          <p:spTgt spid="22556">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255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2556">
                                            <p:txEl>
                                              <p:pRg st="3" end="3"/>
                                            </p:txEl>
                                          </p:spTgt>
                                        </p:tgtEl>
                                        <p:attrNameLst>
                                          <p:attrName>style.visibility</p:attrName>
                                        </p:attrNameLst>
                                      </p:cBhvr>
                                      <p:to>
                                        <p:strVal val="visible"/>
                                      </p:to>
                                    </p:set>
                                    <p:anim calcmode="lin" valueType="num">
                                      <p:cBhvr additive="base">
                                        <p:cTn id="21" dur="500" fill="hold"/>
                                        <p:tgtEl>
                                          <p:spTgt spid="22556">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2556">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2556">
                                            <p:txEl>
                                              <p:pRg st="4" end="4"/>
                                            </p:txEl>
                                          </p:spTgt>
                                        </p:tgtEl>
                                        <p:attrNameLst>
                                          <p:attrName>style.visibility</p:attrName>
                                        </p:attrNameLst>
                                      </p:cBhvr>
                                      <p:to>
                                        <p:strVal val="visible"/>
                                      </p:to>
                                    </p:set>
                                    <p:anim calcmode="lin" valueType="num">
                                      <p:cBhvr additive="base">
                                        <p:cTn id="25" dur="500" fill="hold"/>
                                        <p:tgtEl>
                                          <p:spTgt spid="22556">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56">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2556">
                                            <p:txEl>
                                              <p:pRg st="5" end="5"/>
                                            </p:txEl>
                                          </p:spTgt>
                                        </p:tgtEl>
                                        <p:attrNameLst>
                                          <p:attrName>style.visibility</p:attrName>
                                        </p:attrNameLst>
                                      </p:cBhvr>
                                      <p:to>
                                        <p:strVal val="visible"/>
                                      </p:to>
                                    </p:set>
                                    <p:anim calcmode="lin" valueType="num">
                                      <p:cBhvr additive="base">
                                        <p:cTn id="29" dur="500" fill="hold"/>
                                        <p:tgtEl>
                                          <p:spTgt spid="22556">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255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2556">
                                            <p:txEl>
                                              <p:pRg st="6" end="6"/>
                                            </p:txEl>
                                          </p:spTgt>
                                        </p:tgtEl>
                                        <p:attrNameLst>
                                          <p:attrName>style.visibility</p:attrName>
                                        </p:attrNameLst>
                                      </p:cBhvr>
                                      <p:to>
                                        <p:strVal val="visible"/>
                                      </p:to>
                                    </p:set>
                                    <p:anim calcmode="lin" valueType="num">
                                      <p:cBhvr additive="base">
                                        <p:cTn id="35" dur="500" fill="hold"/>
                                        <p:tgtEl>
                                          <p:spTgt spid="22556">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2556">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2556">
                                            <p:txEl>
                                              <p:pRg st="7" end="7"/>
                                            </p:txEl>
                                          </p:spTgt>
                                        </p:tgtEl>
                                        <p:attrNameLst>
                                          <p:attrName>style.visibility</p:attrName>
                                        </p:attrNameLst>
                                      </p:cBhvr>
                                      <p:to>
                                        <p:strVal val="visible"/>
                                      </p:to>
                                    </p:set>
                                    <p:anim calcmode="lin" valueType="num">
                                      <p:cBhvr additive="base">
                                        <p:cTn id="39" dur="500" fill="hold"/>
                                        <p:tgtEl>
                                          <p:spTgt spid="22556">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2556">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2556">
                                            <p:txEl>
                                              <p:pRg st="8" end="8"/>
                                            </p:txEl>
                                          </p:spTgt>
                                        </p:tgtEl>
                                        <p:attrNameLst>
                                          <p:attrName>style.visibility</p:attrName>
                                        </p:attrNameLst>
                                      </p:cBhvr>
                                      <p:to>
                                        <p:strVal val="visible"/>
                                      </p:to>
                                    </p:set>
                                    <p:anim calcmode="lin" valueType="num">
                                      <p:cBhvr additive="base">
                                        <p:cTn id="43" dur="500" fill="hold"/>
                                        <p:tgtEl>
                                          <p:spTgt spid="22556">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55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6"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3" name="日期占位符 4"/>
          <p:cNvSpPr>
            <a:spLocks noGrp="1"/>
          </p:cNvSpPr>
          <p:nvPr>
            <p:ph type="dt" sz="half" idx="10"/>
          </p:nvPr>
        </p:nvSpPr>
        <p:spPr>
          <a:noFill/>
        </p:spPr>
        <p:txBody>
          <a:bodyPr/>
          <a:lstStyle/>
          <a:p>
            <a:endParaRPr lang="en-US" altLang="zh-CN"/>
          </a:p>
        </p:txBody>
      </p:sp>
      <p:sp>
        <p:nvSpPr>
          <p:cNvPr id="68611" name="Rectangle 2"/>
          <p:cNvSpPr>
            <a:spLocks noGrp="1" noChangeArrowheads="1"/>
          </p:cNvSpPr>
          <p:nvPr>
            <p:ph type="title"/>
          </p:nvPr>
        </p:nvSpPr>
        <p:spPr>
          <a:xfrm>
            <a:off x="2235200" y="119066"/>
            <a:ext cx="7899400" cy="662782"/>
          </a:xfrm>
        </p:spPr>
        <p:txBody>
          <a:bodyPr/>
          <a:lstStyle/>
          <a:p>
            <a:r>
              <a:rPr kumimoji="1" lang="en-US" altLang="zh-CN" dirty="0">
                <a:solidFill>
                  <a:srgbClr val="0070C0"/>
                </a:solidFill>
              </a:rPr>
              <a:t>9.1.3 </a:t>
            </a:r>
            <a:r>
              <a:rPr lang="zh-CN" altLang="en-US" dirty="0">
                <a:solidFill>
                  <a:srgbClr val="0070C0"/>
                </a:solidFill>
              </a:rPr>
              <a:t>散点图</a:t>
            </a:r>
            <a:r>
              <a:rPr lang="zh-CN" altLang="en-US" dirty="0"/>
              <a:t>（</a:t>
            </a:r>
            <a:r>
              <a:rPr lang="zh-CN" altLang="en-US" dirty="0">
                <a:solidFill>
                  <a:srgbClr val="0070C0"/>
                </a:solidFill>
              </a:rPr>
              <a:t>相关图</a:t>
            </a:r>
            <a:r>
              <a:rPr lang="zh-CN" altLang="en-US" dirty="0"/>
              <a:t>）</a:t>
            </a:r>
          </a:p>
        </p:txBody>
      </p:sp>
      <p:sp>
        <p:nvSpPr>
          <p:cNvPr id="68612" name="Rectangle 3"/>
          <p:cNvSpPr>
            <a:spLocks noGrp="1" noChangeArrowheads="1"/>
          </p:cNvSpPr>
          <p:nvPr>
            <p:ph idx="1"/>
          </p:nvPr>
        </p:nvSpPr>
        <p:spPr>
          <a:xfrm>
            <a:off x="1638300" y="1092200"/>
            <a:ext cx="8851900" cy="5041661"/>
          </a:xfrm>
        </p:spPr>
        <p:txBody>
          <a:bodyPr>
            <a:normAutofit lnSpcReduction="10000"/>
          </a:bodyPr>
          <a:lstStyle/>
          <a:p>
            <a:pPr marL="0" indent="0">
              <a:lnSpc>
                <a:spcPct val="120000"/>
              </a:lnSpc>
              <a:spcBef>
                <a:spcPts val="600"/>
              </a:spcBef>
              <a:spcAft>
                <a:spcPts val="0"/>
              </a:spcAft>
              <a:buNone/>
            </a:pPr>
            <a:r>
              <a:rPr lang="zh-CN" altLang="en-US" sz="2800" b="1" dirty="0">
                <a:solidFill>
                  <a:srgbClr val="CC0099"/>
                </a:solidFill>
              </a:rPr>
              <a:t>散点图</a:t>
            </a:r>
          </a:p>
          <a:p>
            <a:pPr marL="514350" lvl="1" indent="0">
              <a:lnSpc>
                <a:spcPct val="150000"/>
              </a:lnSpc>
              <a:spcBef>
                <a:spcPts val="600"/>
              </a:spcBef>
              <a:spcAft>
                <a:spcPts val="0"/>
              </a:spcAft>
              <a:buNone/>
            </a:pPr>
            <a:r>
              <a:rPr lang="zh-CN" altLang="en-US" dirty="0"/>
              <a:t>    将两个变量成对的观测数据在坐标图上标示出来，变量 </a:t>
            </a:r>
            <a:r>
              <a:rPr lang="en-US" altLang="zh-CN" i="1" dirty="0">
                <a:latin typeface="Times New Roman" pitchFamily="18" charset="0"/>
              </a:rPr>
              <a:t>X </a:t>
            </a:r>
            <a:r>
              <a:rPr lang="zh-CN" altLang="en-US" dirty="0"/>
              <a:t>的值为横坐标，另一个变量 </a:t>
            </a:r>
            <a:r>
              <a:rPr lang="en-US" altLang="zh-CN" i="1" dirty="0">
                <a:latin typeface="Times New Roman" pitchFamily="18" charset="0"/>
              </a:rPr>
              <a:t>Y</a:t>
            </a:r>
            <a:r>
              <a:rPr lang="en-US" altLang="zh-CN" dirty="0"/>
              <a:t> </a:t>
            </a:r>
            <a:r>
              <a:rPr lang="zh-CN" altLang="en-US" dirty="0"/>
              <a:t>对应的数值为纵坐标，一对观测值对应一个点，样本数据若有</a:t>
            </a:r>
            <a:r>
              <a:rPr lang="en-US" altLang="zh-CN" i="1" dirty="0">
                <a:latin typeface="Times New Roman" pitchFamily="18" charset="0"/>
              </a:rPr>
              <a:t>n </a:t>
            </a:r>
            <a:r>
              <a:rPr lang="zh-CN" altLang="en-US" dirty="0"/>
              <a:t>对观测值，则相应的</a:t>
            </a:r>
            <a:r>
              <a:rPr lang="zh-CN" altLang="en-US" i="1" dirty="0"/>
              <a:t> </a:t>
            </a:r>
            <a:r>
              <a:rPr lang="en-US" altLang="zh-CN" i="1" dirty="0">
                <a:latin typeface="Times New Roman" pitchFamily="18" charset="0"/>
              </a:rPr>
              <a:t>n </a:t>
            </a:r>
            <a:r>
              <a:rPr lang="zh-CN" altLang="en-US" dirty="0"/>
              <a:t>个点形成的图形就称为散点图</a:t>
            </a:r>
            <a:r>
              <a:rPr lang="zh-CN" altLang="en-US" sz="2600" dirty="0"/>
              <a:t>。</a:t>
            </a:r>
          </a:p>
          <a:p>
            <a:pPr marL="857250" lvl="2" indent="0">
              <a:lnSpc>
                <a:spcPct val="150000"/>
              </a:lnSpc>
              <a:spcBef>
                <a:spcPts val="600"/>
              </a:spcBef>
              <a:spcAft>
                <a:spcPts val="0"/>
              </a:spcAft>
              <a:buNone/>
            </a:pPr>
            <a:r>
              <a:rPr lang="zh-CN" altLang="en-US" b="0" dirty="0"/>
              <a:t>    如果一个是解释变量另一个是被解释变量，则通常将解释变量放在横轴。</a:t>
            </a:r>
          </a:p>
          <a:p>
            <a:pPr marL="0" indent="0">
              <a:lnSpc>
                <a:spcPct val="150000"/>
              </a:lnSpc>
              <a:spcBef>
                <a:spcPts val="600"/>
              </a:spcBef>
              <a:spcAft>
                <a:spcPts val="0"/>
              </a:spcAft>
              <a:buNone/>
            </a:pPr>
            <a:r>
              <a:rPr lang="zh-CN" altLang="en-US" sz="2800" dirty="0">
                <a:solidFill>
                  <a:srgbClr val="000000"/>
                </a:solidFill>
              </a:rPr>
              <a:t>有助于判断相关的</a:t>
            </a:r>
            <a:r>
              <a:rPr lang="zh-CN" altLang="en-US" sz="2800" dirty="0">
                <a:solidFill>
                  <a:srgbClr val="C00000"/>
                </a:solidFill>
              </a:rPr>
              <a:t>有无、方向、形态、密切程度</a:t>
            </a:r>
            <a:r>
              <a:rPr lang="zh-CN" altLang="en-US" sz="2800" dirty="0"/>
              <a:t>。</a:t>
            </a:r>
            <a:endParaRPr lang="zh-CN" altLang="en-US" b="0" dirty="0"/>
          </a:p>
        </p:txBody>
      </p:sp>
      <p:sp>
        <p:nvSpPr>
          <p:cNvPr id="68610" name="灯片编号占位符 5"/>
          <p:cNvSpPr>
            <a:spLocks noGrp="1"/>
          </p:cNvSpPr>
          <p:nvPr>
            <p:ph type="sldNum" sz="quarter" idx="4"/>
          </p:nvPr>
        </p:nvSpPr>
        <p:spPr>
          <a:noFill/>
        </p:spPr>
        <p:txBody>
          <a:bodyPr/>
          <a:lstStyle/>
          <a:p>
            <a:r>
              <a:rPr lang="en-US" altLang="zh-CN"/>
              <a:t>9--</a:t>
            </a:r>
            <a:fld id="{7896CD6F-2D9C-41FA-845C-CACE949B58A0}" type="slidenum">
              <a:rPr lang="en-US" altLang="zh-CN" smtClean="0"/>
              <a:pPr/>
              <a:t>9</a:t>
            </a:fld>
            <a:endParaRPr lang="en-US" altLang="zh-CN"/>
          </a:p>
        </p:txBody>
      </p:sp>
    </p:spTree>
    <p:extLst>
      <p:ext uri="{BB962C8B-B14F-4D97-AF65-F5344CB8AC3E}">
        <p14:creationId xmlns:p14="http://schemas.microsoft.com/office/powerpoint/2010/main" val="684796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6"/>
          <p:cNvSpPr>
            <a:spLocks noGrp="1"/>
          </p:cNvSpPr>
          <p:nvPr>
            <p:ph type="sldNum" sz="quarter" idx="10"/>
          </p:nvPr>
        </p:nvSpPr>
        <p:spPr>
          <a:noFill/>
        </p:spPr>
        <p:txBody>
          <a:bodyPr/>
          <a:lstStyle/>
          <a:p>
            <a:r>
              <a:rPr lang="en-US" altLang="zh-CN"/>
              <a:t>9--</a:t>
            </a:r>
            <a:fld id="{D9F0B975-B5C2-4B7F-866A-DD0CE1F6DA3D}" type="slidenum">
              <a:rPr lang="en-US" altLang="zh-CN" smtClean="0"/>
              <a:pPr/>
              <a:t>10</a:t>
            </a:fld>
            <a:endParaRPr lang="en-US" altLang="zh-CN"/>
          </a:p>
        </p:txBody>
      </p:sp>
      <p:sp>
        <p:nvSpPr>
          <p:cNvPr id="66563" name="Rectangle 5"/>
          <p:cNvSpPr>
            <a:spLocks noGrp="1" noChangeArrowheads="1"/>
          </p:cNvSpPr>
          <p:nvPr>
            <p:ph type="title" idx="4294967295"/>
          </p:nvPr>
        </p:nvSpPr>
        <p:spPr>
          <a:xfrm>
            <a:off x="2133600" y="628650"/>
            <a:ext cx="6438900" cy="663575"/>
          </a:xfrm>
        </p:spPr>
        <p:txBody>
          <a:bodyPr>
            <a:normAutofit fontScale="90000"/>
          </a:bodyPr>
          <a:lstStyle/>
          <a:p>
            <a:pPr eaLnBrk="1" hangingPunct="1"/>
            <a:r>
              <a:rPr lang="zh-CN" altLang="en-US" sz="4000" dirty="0">
                <a:solidFill>
                  <a:srgbClr val="0070C0"/>
                </a:solidFill>
                <a:effectLst/>
                <a:latin typeface="黑体" panose="02010609060101010101" pitchFamily="49" charset="-122"/>
                <a:ea typeface="黑体" panose="02010609060101010101" pitchFamily="49" charset="-122"/>
              </a:rPr>
              <a:t>广告投入和销售量之间的关系</a:t>
            </a:r>
          </a:p>
        </p:txBody>
      </p:sp>
      <p:graphicFrame>
        <p:nvGraphicFramePr>
          <p:cNvPr id="7" name="图表 6"/>
          <p:cNvGraphicFramePr>
            <a:graphicFrameLocks/>
          </p:cNvGraphicFramePr>
          <p:nvPr>
            <p:extLst>
              <p:ext uri="{D42A27DB-BD31-4B8C-83A1-F6EECF244321}">
                <p14:modId xmlns:p14="http://schemas.microsoft.com/office/powerpoint/2010/main" val="3723748829"/>
              </p:ext>
            </p:extLst>
          </p:nvPr>
        </p:nvGraphicFramePr>
        <p:xfrm>
          <a:off x="2133600" y="1292225"/>
          <a:ext cx="6743700" cy="4879974"/>
        </p:xfrm>
        <a:graphic>
          <a:graphicData uri="http://schemas.openxmlformats.org/drawingml/2006/chart">
            <c:chart xmlns:c="http://schemas.openxmlformats.org/drawingml/2006/chart" xmlns:r="http://schemas.openxmlformats.org/officeDocument/2006/relationships" r:id="rId2"/>
          </a:graphicData>
        </a:graphic>
      </p:graphicFrame>
      <p:sp>
        <p:nvSpPr>
          <p:cNvPr id="3" name="文本框 2"/>
          <p:cNvSpPr txBox="1"/>
          <p:nvPr/>
        </p:nvSpPr>
        <p:spPr>
          <a:xfrm>
            <a:off x="7647941" y="3254285"/>
            <a:ext cx="1530350" cy="1200329"/>
          </a:xfrm>
          <a:prstGeom prst="rect">
            <a:avLst/>
          </a:prstGeom>
          <a:noFill/>
        </p:spPr>
        <p:txBody>
          <a:bodyPr wrap="square" rtlCol="0">
            <a:spAutoFit/>
          </a:bodyPr>
          <a:lstStyle/>
          <a:p>
            <a:pPr marL="285750" indent="-285750">
              <a:buFont typeface="Wingdings" panose="05000000000000000000" pitchFamily="2" charset="2"/>
              <a:buChar char="l"/>
            </a:pPr>
            <a:r>
              <a:rPr lang="zh-CN" altLang="en-US" sz="2400" dirty="0">
                <a:solidFill>
                  <a:srgbClr val="7030A0"/>
                </a:solidFill>
              </a:rPr>
              <a:t>一元、线性、正相关</a:t>
            </a:r>
          </a:p>
        </p:txBody>
      </p:sp>
    </p:spTree>
    <p:extLst>
      <p:ext uri="{BB962C8B-B14F-4D97-AF65-F5344CB8AC3E}">
        <p14:creationId xmlns:p14="http://schemas.microsoft.com/office/powerpoint/2010/main" val="3261978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0" name="日期占位符 71"/>
          <p:cNvSpPr>
            <a:spLocks noGrp="1"/>
          </p:cNvSpPr>
          <p:nvPr>
            <p:ph type="dt" sz="half" idx="10"/>
          </p:nvPr>
        </p:nvSpPr>
        <p:spPr>
          <a:noFill/>
        </p:spPr>
        <p:txBody>
          <a:bodyPr/>
          <a:lstStyle/>
          <a:p>
            <a:endParaRPr lang="en-US" altLang="zh-CN"/>
          </a:p>
        </p:txBody>
      </p:sp>
      <p:sp>
        <p:nvSpPr>
          <p:cNvPr id="69635" name="Rectangle 2"/>
          <p:cNvSpPr>
            <a:spLocks noGrp="1" noChangeArrowheads="1"/>
          </p:cNvSpPr>
          <p:nvPr>
            <p:ph type="title"/>
          </p:nvPr>
        </p:nvSpPr>
        <p:spPr>
          <a:xfrm>
            <a:off x="1879600" y="308769"/>
            <a:ext cx="9423400" cy="662782"/>
          </a:xfrm>
        </p:spPr>
        <p:txBody>
          <a:bodyPr/>
          <a:lstStyle/>
          <a:p>
            <a:r>
              <a:rPr lang="zh-CN" altLang="zh-CN" dirty="0"/>
              <a:t>不同类型相关关系的散点图</a:t>
            </a:r>
            <a:endParaRPr lang="zh-CN" altLang="en-US" dirty="0">
              <a:solidFill>
                <a:schemeClr val="hlink"/>
              </a:solidFill>
            </a:endParaRPr>
          </a:p>
        </p:txBody>
      </p:sp>
      <p:sp>
        <p:nvSpPr>
          <p:cNvPr id="69634" name="灯片编号占位符 5"/>
          <p:cNvSpPr>
            <a:spLocks noGrp="1"/>
          </p:cNvSpPr>
          <p:nvPr>
            <p:ph type="sldNum" sz="quarter" idx="4"/>
          </p:nvPr>
        </p:nvSpPr>
        <p:spPr>
          <a:noFill/>
        </p:spPr>
        <p:txBody>
          <a:bodyPr/>
          <a:lstStyle/>
          <a:p>
            <a:r>
              <a:rPr lang="en-US" altLang="zh-CN" dirty="0"/>
              <a:t>9--</a:t>
            </a:r>
            <a:fld id="{5C340C4D-3089-42CA-808B-96EFA383E6EB}" type="slidenum">
              <a:rPr lang="en-US" altLang="zh-CN" smtClean="0"/>
              <a:pPr/>
              <a:t>11</a:t>
            </a:fld>
            <a:endParaRPr lang="en-US" altLang="zh-CN" dirty="0"/>
          </a:p>
        </p:txBody>
      </p:sp>
      <p:grpSp>
        <p:nvGrpSpPr>
          <p:cNvPr id="6" name="Group 125"/>
          <p:cNvGrpSpPr>
            <a:grpSpLocks/>
          </p:cNvGrpSpPr>
          <p:nvPr/>
        </p:nvGrpSpPr>
        <p:grpSpPr bwMode="auto">
          <a:xfrm>
            <a:off x="2855913" y="1412876"/>
            <a:ext cx="2768600" cy="2314575"/>
            <a:chOff x="839" y="890"/>
            <a:chExt cx="1744" cy="1458"/>
          </a:xfrm>
        </p:grpSpPr>
        <p:sp>
          <p:nvSpPr>
            <p:cNvPr id="148486" name="Line 6"/>
            <p:cNvSpPr>
              <a:spLocks noChangeShapeType="1"/>
            </p:cNvSpPr>
            <p:nvPr/>
          </p:nvSpPr>
          <p:spPr bwMode="auto">
            <a:xfrm>
              <a:off x="975" y="981"/>
              <a:ext cx="0" cy="1056"/>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148487" name="Line 7"/>
            <p:cNvSpPr>
              <a:spLocks noChangeShapeType="1"/>
            </p:cNvSpPr>
            <p:nvPr/>
          </p:nvSpPr>
          <p:spPr bwMode="auto">
            <a:xfrm>
              <a:off x="975" y="2037"/>
              <a:ext cx="1392"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148593" name="Text Box 113"/>
            <p:cNvSpPr txBox="1">
              <a:spLocks noChangeArrowheads="1"/>
            </p:cNvSpPr>
            <p:nvPr/>
          </p:nvSpPr>
          <p:spPr bwMode="auto">
            <a:xfrm>
              <a:off x="975" y="1579"/>
              <a:ext cx="321" cy="32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94" name="Text Box 114"/>
            <p:cNvSpPr txBox="1">
              <a:spLocks noChangeArrowheads="1"/>
            </p:cNvSpPr>
            <p:nvPr/>
          </p:nvSpPr>
          <p:spPr bwMode="auto">
            <a:xfrm>
              <a:off x="2262" y="890"/>
              <a:ext cx="321" cy="32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nvGrpSpPr>
            <p:cNvPr id="69663" name="Group 115"/>
            <p:cNvGrpSpPr>
              <a:grpSpLocks/>
            </p:cNvGrpSpPr>
            <p:nvPr/>
          </p:nvGrpSpPr>
          <p:grpSpPr bwMode="auto">
            <a:xfrm>
              <a:off x="1136" y="966"/>
              <a:ext cx="1286" cy="846"/>
              <a:chOff x="3744" y="2544"/>
              <a:chExt cx="1152" cy="943"/>
            </a:xfrm>
          </p:grpSpPr>
          <p:sp>
            <p:nvSpPr>
              <p:cNvPr id="148596" name="Text Box 116"/>
              <p:cNvSpPr txBox="1">
                <a:spLocks noChangeArrowheads="1"/>
              </p:cNvSpPr>
              <p:nvPr/>
            </p:nvSpPr>
            <p:spPr bwMode="auto">
              <a:xfrm>
                <a:off x="4464" y="2638"/>
                <a:ext cx="288" cy="36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97" name="Text Box 117"/>
              <p:cNvSpPr txBox="1">
                <a:spLocks noChangeArrowheads="1"/>
              </p:cNvSpPr>
              <p:nvPr/>
            </p:nvSpPr>
            <p:spPr bwMode="auto">
              <a:xfrm>
                <a:off x="4609" y="2544"/>
                <a:ext cx="287" cy="365"/>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98" name="Text Box 118"/>
              <p:cNvSpPr txBox="1">
                <a:spLocks noChangeArrowheads="1"/>
              </p:cNvSpPr>
              <p:nvPr/>
            </p:nvSpPr>
            <p:spPr bwMode="auto">
              <a:xfrm>
                <a:off x="4321" y="2737"/>
                <a:ext cx="288" cy="365"/>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99" name="Text Box 119"/>
              <p:cNvSpPr txBox="1">
                <a:spLocks noChangeArrowheads="1"/>
              </p:cNvSpPr>
              <p:nvPr/>
            </p:nvSpPr>
            <p:spPr bwMode="auto">
              <a:xfrm>
                <a:off x="4176" y="2832"/>
                <a:ext cx="288" cy="36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00" name="Text Box 120"/>
              <p:cNvSpPr txBox="1">
                <a:spLocks noChangeArrowheads="1"/>
              </p:cNvSpPr>
              <p:nvPr/>
            </p:nvSpPr>
            <p:spPr bwMode="auto">
              <a:xfrm>
                <a:off x="4033" y="2928"/>
                <a:ext cx="288" cy="36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01" name="Text Box 121"/>
              <p:cNvSpPr txBox="1">
                <a:spLocks noChangeArrowheads="1"/>
              </p:cNvSpPr>
              <p:nvPr/>
            </p:nvSpPr>
            <p:spPr bwMode="auto">
              <a:xfrm>
                <a:off x="3744" y="3119"/>
                <a:ext cx="289" cy="368"/>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02" name="Text Box 122"/>
              <p:cNvSpPr txBox="1">
                <a:spLocks noChangeArrowheads="1"/>
              </p:cNvSpPr>
              <p:nvPr/>
            </p:nvSpPr>
            <p:spPr bwMode="auto">
              <a:xfrm>
                <a:off x="3888" y="3024"/>
                <a:ext cx="288" cy="368"/>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80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148603" name="Line 123"/>
            <p:cNvSpPr>
              <a:spLocks noChangeShapeType="1"/>
            </p:cNvSpPr>
            <p:nvPr/>
          </p:nvSpPr>
          <p:spPr bwMode="auto">
            <a:xfrm flipV="1">
              <a:off x="975" y="981"/>
              <a:ext cx="1497" cy="816"/>
            </a:xfrm>
            <a:prstGeom prst="line">
              <a:avLst/>
            </a:prstGeom>
            <a:noFill/>
            <a:ln w="28575">
              <a:solidFill>
                <a:schemeClr val="hlink"/>
              </a:solidFill>
              <a:round/>
              <a:headEnd/>
              <a:tailEnd/>
            </a:ln>
            <a:effectLst>
              <a:outerShdw dist="12700" dir="10800000" algn="ctr" rotWithShape="0">
                <a:schemeClr val="bg2"/>
              </a:outerShdw>
            </a:effectLst>
          </p:spPr>
          <p:txBody>
            <a:bodyPr/>
            <a:lstStyle/>
            <a:p>
              <a:pPr>
                <a:defRPr/>
              </a:pPr>
              <a:endParaRPr lang="zh-CN" altLang="en-US"/>
            </a:p>
          </p:txBody>
        </p:sp>
        <p:sp>
          <p:nvSpPr>
            <p:cNvPr id="69665" name="Text Box 124"/>
            <p:cNvSpPr txBox="1">
              <a:spLocks noChangeArrowheads="1"/>
            </p:cNvSpPr>
            <p:nvPr/>
          </p:nvSpPr>
          <p:spPr bwMode="auto">
            <a:xfrm>
              <a:off x="839" y="2115"/>
              <a:ext cx="1542" cy="233"/>
            </a:xfrm>
            <a:prstGeom prst="rect">
              <a:avLst/>
            </a:prstGeom>
            <a:noFill/>
            <a:ln w="12700">
              <a:noFill/>
              <a:miter lim="800000"/>
              <a:headEnd/>
              <a:tailEnd/>
            </a:ln>
          </p:spPr>
          <p:txBody>
            <a:bodyPr>
              <a:spAutoFit/>
            </a:bodyPr>
            <a:lstStyle/>
            <a:p>
              <a:pPr algn="ctr" eaLnBrk="0" hangingPunct="0">
                <a:spcBef>
                  <a:spcPct val="50000"/>
                </a:spcBef>
              </a:pPr>
              <a:r>
                <a:rPr kumimoji="1" lang="zh-CN" altLang="en-US" b="1">
                  <a:solidFill>
                    <a:srgbClr val="CC0099"/>
                  </a:solidFill>
                </a:rPr>
                <a:t>完全线性正相关</a:t>
              </a:r>
            </a:p>
          </p:txBody>
        </p:sp>
      </p:grpSp>
      <p:sp>
        <p:nvSpPr>
          <p:cNvPr id="73" name="TextBox 72"/>
          <p:cNvSpPr txBox="1"/>
          <p:nvPr/>
        </p:nvSpPr>
        <p:spPr>
          <a:xfrm>
            <a:off x="2711624" y="1268761"/>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Y</a:t>
            </a:r>
            <a:endParaRPr lang="zh-CN" altLang="en-US" sz="3600" b="1" i="1" dirty="0">
              <a:latin typeface="Times New Roman" pitchFamily="18" charset="0"/>
              <a:cs typeface="Times New Roman" pitchFamily="18" charset="0"/>
            </a:endParaRPr>
          </a:p>
        </p:txBody>
      </p:sp>
      <p:sp>
        <p:nvSpPr>
          <p:cNvPr id="74" name="TextBox 73"/>
          <p:cNvSpPr txBox="1"/>
          <p:nvPr/>
        </p:nvSpPr>
        <p:spPr>
          <a:xfrm>
            <a:off x="5303912" y="2924945"/>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X</a:t>
            </a:r>
            <a:endParaRPr lang="zh-CN" altLang="en-US" sz="3600" b="1" i="1" dirty="0">
              <a:latin typeface="Times New Roman" pitchFamily="18" charset="0"/>
              <a:cs typeface="Times New Roman" pitchFamily="18" charset="0"/>
            </a:endParaRPr>
          </a:p>
        </p:txBody>
      </p:sp>
      <p:grpSp>
        <p:nvGrpSpPr>
          <p:cNvPr id="84" name="组合 83"/>
          <p:cNvGrpSpPr/>
          <p:nvPr/>
        </p:nvGrpSpPr>
        <p:grpSpPr>
          <a:xfrm>
            <a:off x="6672064" y="1268761"/>
            <a:ext cx="2952328" cy="2458692"/>
            <a:chOff x="5148064" y="1268760"/>
            <a:chExt cx="2952328" cy="2458692"/>
          </a:xfrm>
        </p:grpSpPr>
        <p:grpSp>
          <p:nvGrpSpPr>
            <p:cNvPr id="3" name="Group 147"/>
            <p:cNvGrpSpPr>
              <a:grpSpLocks/>
            </p:cNvGrpSpPr>
            <p:nvPr/>
          </p:nvGrpSpPr>
          <p:grpSpPr bwMode="auto">
            <a:xfrm>
              <a:off x="5435600" y="1524001"/>
              <a:ext cx="2447925" cy="2203451"/>
              <a:chOff x="3424" y="960"/>
              <a:chExt cx="1542" cy="1388"/>
            </a:xfrm>
          </p:grpSpPr>
          <p:sp>
            <p:nvSpPr>
              <p:cNvPr id="148501" name="Line 21"/>
              <p:cNvSpPr>
                <a:spLocks noChangeShapeType="1"/>
              </p:cNvSpPr>
              <p:nvPr/>
            </p:nvSpPr>
            <p:spPr bwMode="auto">
              <a:xfrm>
                <a:off x="3470" y="1026"/>
                <a:ext cx="0" cy="1056"/>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148502" name="Line 22"/>
              <p:cNvSpPr>
                <a:spLocks noChangeShapeType="1"/>
              </p:cNvSpPr>
              <p:nvPr/>
            </p:nvSpPr>
            <p:spPr bwMode="auto">
              <a:xfrm>
                <a:off x="3470" y="2069"/>
                <a:ext cx="1392"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grpSp>
            <p:nvGrpSpPr>
              <p:cNvPr id="69675" name="Group 98"/>
              <p:cNvGrpSpPr>
                <a:grpSpLocks/>
              </p:cNvGrpSpPr>
              <p:nvPr/>
            </p:nvGrpSpPr>
            <p:grpSpPr bwMode="auto">
              <a:xfrm rot="3474445">
                <a:off x="3574" y="1179"/>
                <a:ext cx="1273" cy="835"/>
                <a:chOff x="1006" y="1154"/>
                <a:chExt cx="1406" cy="784"/>
              </a:xfrm>
            </p:grpSpPr>
            <p:sp>
              <p:nvSpPr>
                <p:cNvPr id="148579" name="Text Box 99"/>
                <p:cNvSpPr txBox="1">
                  <a:spLocks noChangeArrowheads="1"/>
                </p:cNvSpPr>
                <p:nvPr/>
              </p:nvSpPr>
              <p:spPr bwMode="auto">
                <a:xfrm>
                  <a:off x="1007" y="1720"/>
                  <a:ext cx="256" cy="218"/>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0" name="Text Box 100"/>
                <p:cNvSpPr txBox="1">
                  <a:spLocks noChangeArrowheads="1"/>
                </p:cNvSpPr>
                <p:nvPr/>
              </p:nvSpPr>
              <p:spPr bwMode="auto">
                <a:xfrm>
                  <a:off x="2032" y="1178"/>
                  <a:ext cx="252" cy="218"/>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nvGrpSpPr>
                <p:cNvPr id="69679" name="Group 101"/>
                <p:cNvGrpSpPr>
                  <a:grpSpLocks/>
                </p:cNvGrpSpPr>
                <p:nvPr/>
              </p:nvGrpSpPr>
              <p:grpSpPr bwMode="auto">
                <a:xfrm>
                  <a:off x="1138" y="1241"/>
                  <a:ext cx="1024" cy="623"/>
                  <a:chOff x="3742" y="2590"/>
                  <a:chExt cx="1148" cy="874"/>
                </a:xfrm>
              </p:grpSpPr>
              <p:sp>
                <p:nvSpPr>
                  <p:cNvPr id="148582" name="Text Box 102"/>
                  <p:cNvSpPr txBox="1">
                    <a:spLocks noChangeArrowheads="1"/>
                  </p:cNvSpPr>
                  <p:nvPr/>
                </p:nvSpPr>
                <p:spPr bwMode="auto">
                  <a:xfrm>
                    <a:off x="4461" y="2675"/>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3" name="Text Box 103"/>
                  <p:cNvSpPr txBox="1">
                    <a:spLocks noChangeArrowheads="1"/>
                  </p:cNvSpPr>
                  <p:nvPr/>
                </p:nvSpPr>
                <p:spPr bwMode="auto">
                  <a:xfrm>
                    <a:off x="4601" y="2590"/>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4" name="Text Box 104"/>
                  <p:cNvSpPr txBox="1">
                    <a:spLocks noChangeArrowheads="1"/>
                  </p:cNvSpPr>
                  <p:nvPr/>
                </p:nvSpPr>
                <p:spPr bwMode="auto">
                  <a:xfrm>
                    <a:off x="4312" y="2784"/>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5" name="Text Box 105"/>
                  <p:cNvSpPr txBox="1">
                    <a:spLocks noChangeArrowheads="1"/>
                  </p:cNvSpPr>
                  <p:nvPr/>
                </p:nvSpPr>
                <p:spPr bwMode="auto">
                  <a:xfrm>
                    <a:off x="4166" y="2870"/>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6" name="Text Box 106"/>
                  <p:cNvSpPr txBox="1">
                    <a:spLocks noChangeArrowheads="1"/>
                  </p:cNvSpPr>
                  <p:nvPr/>
                </p:nvSpPr>
                <p:spPr bwMode="auto">
                  <a:xfrm>
                    <a:off x="4020" y="2978"/>
                    <a:ext cx="285"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7" name="Text Box 107"/>
                  <p:cNvSpPr txBox="1">
                    <a:spLocks noChangeArrowheads="1"/>
                  </p:cNvSpPr>
                  <p:nvPr/>
                </p:nvSpPr>
                <p:spPr bwMode="auto">
                  <a:xfrm>
                    <a:off x="3742" y="3158"/>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88" name="Text Box 108"/>
                  <p:cNvSpPr txBox="1">
                    <a:spLocks noChangeArrowheads="1"/>
                  </p:cNvSpPr>
                  <p:nvPr/>
                </p:nvSpPr>
                <p:spPr bwMode="auto">
                  <a:xfrm>
                    <a:off x="3886" y="3062"/>
                    <a:ext cx="289" cy="306"/>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148589" name="Line 109"/>
                <p:cNvSpPr>
                  <a:spLocks noChangeShapeType="1"/>
                </p:cNvSpPr>
                <p:nvPr/>
              </p:nvSpPr>
              <p:spPr bwMode="auto">
                <a:xfrm flipV="1">
                  <a:off x="1006" y="1154"/>
                  <a:ext cx="1406" cy="726"/>
                </a:xfrm>
                <a:prstGeom prst="line">
                  <a:avLst/>
                </a:prstGeom>
                <a:noFill/>
                <a:ln w="28575">
                  <a:solidFill>
                    <a:schemeClr val="hlink"/>
                  </a:solidFill>
                  <a:round/>
                  <a:headEnd/>
                  <a:tailEnd/>
                </a:ln>
                <a:effectLst>
                  <a:outerShdw dist="12700" dir="10800000" algn="ctr" rotWithShape="0">
                    <a:schemeClr val="bg2"/>
                  </a:outerShdw>
                </a:effectLst>
              </p:spPr>
              <p:txBody>
                <a:bodyPr/>
                <a:lstStyle/>
                <a:p>
                  <a:pPr>
                    <a:defRPr/>
                  </a:pPr>
                  <a:endParaRPr lang="zh-CN" altLang="en-US"/>
                </a:p>
              </p:txBody>
            </p:sp>
          </p:grpSp>
          <p:sp>
            <p:nvSpPr>
              <p:cNvPr id="69676" name="Text Box 111"/>
              <p:cNvSpPr txBox="1">
                <a:spLocks noChangeArrowheads="1"/>
              </p:cNvSpPr>
              <p:nvPr/>
            </p:nvSpPr>
            <p:spPr bwMode="auto">
              <a:xfrm>
                <a:off x="3424" y="2115"/>
                <a:ext cx="1542" cy="233"/>
              </a:xfrm>
              <a:prstGeom prst="rect">
                <a:avLst/>
              </a:prstGeom>
              <a:noFill/>
              <a:ln w="12700">
                <a:noFill/>
                <a:miter lim="800000"/>
                <a:headEnd/>
                <a:tailEnd/>
              </a:ln>
            </p:spPr>
            <p:txBody>
              <a:bodyPr>
                <a:spAutoFit/>
              </a:bodyPr>
              <a:lstStyle/>
              <a:p>
                <a:pPr algn="ctr" eaLnBrk="0" hangingPunct="0">
                  <a:spcBef>
                    <a:spcPct val="50000"/>
                  </a:spcBef>
                </a:pPr>
                <a:r>
                  <a:rPr kumimoji="1" lang="zh-CN" altLang="en-US" b="1" dirty="0">
                    <a:solidFill>
                      <a:srgbClr val="CC0099"/>
                    </a:solidFill>
                  </a:rPr>
                  <a:t>完全线性负相关</a:t>
                </a:r>
              </a:p>
            </p:txBody>
          </p:sp>
        </p:grpSp>
        <p:sp>
          <p:nvSpPr>
            <p:cNvPr id="75" name="TextBox 74"/>
            <p:cNvSpPr txBox="1"/>
            <p:nvPr/>
          </p:nvSpPr>
          <p:spPr>
            <a:xfrm>
              <a:off x="7812360" y="3068960"/>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X</a:t>
              </a:r>
              <a:endParaRPr lang="zh-CN" altLang="en-US" sz="3600" b="1" i="1" dirty="0">
                <a:latin typeface="Times New Roman" pitchFamily="18" charset="0"/>
                <a:cs typeface="Times New Roman" pitchFamily="18" charset="0"/>
              </a:endParaRPr>
            </a:p>
          </p:txBody>
        </p:sp>
        <p:sp>
          <p:nvSpPr>
            <p:cNvPr id="78" name="TextBox 77"/>
            <p:cNvSpPr txBox="1"/>
            <p:nvPr/>
          </p:nvSpPr>
          <p:spPr>
            <a:xfrm>
              <a:off x="5148064" y="1268760"/>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Y</a:t>
              </a:r>
              <a:endParaRPr lang="zh-CN" altLang="en-US" sz="3600" b="1" i="1" dirty="0">
                <a:latin typeface="Times New Roman" pitchFamily="18" charset="0"/>
                <a:cs typeface="Times New Roman" pitchFamily="18" charset="0"/>
              </a:endParaRPr>
            </a:p>
          </p:txBody>
        </p:sp>
      </p:grpSp>
      <p:grpSp>
        <p:nvGrpSpPr>
          <p:cNvPr id="85" name="组合 84"/>
          <p:cNvGrpSpPr/>
          <p:nvPr/>
        </p:nvGrpSpPr>
        <p:grpSpPr>
          <a:xfrm>
            <a:off x="6672064" y="3903439"/>
            <a:ext cx="2880320" cy="2404140"/>
            <a:chOff x="5148064" y="3903439"/>
            <a:chExt cx="2880320" cy="2404140"/>
          </a:xfrm>
        </p:grpSpPr>
        <p:grpSp>
          <p:nvGrpSpPr>
            <p:cNvPr id="8" name="Group 146"/>
            <p:cNvGrpSpPr>
              <a:grpSpLocks/>
            </p:cNvGrpSpPr>
            <p:nvPr/>
          </p:nvGrpSpPr>
          <p:grpSpPr bwMode="auto">
            <a:xfrm>
              <a:off x="5292725" y="3935412"/>
              <a:ext cx="2447925" cy="2311400"/>
              <a:chOff x="3334" y="2479"/>
              <a:chExt cx="1542" cy="1456"/>
            </a:xfrm>
          </p:grpSpPr>
          <p:sp>
            <p:nvSpPr>
              <p:cNvPr id="69641" name="Text Box 128"/>
              <p:cNvSpPr txBox="1">
                <a:spLocks noChangeArrowheads="1"/>
              </p:cNvSpPr>
              <p:nvPr/>
            </p:nvSpPr>
            <p:spPr bwMode="auto">
              <a:xfrm>
                <a:off x="3334" y="3702"/>
                <a:ext cx="1542" cy="233"/>
              </a:xfrm>
              <a:prstGeom prst="rect">
                <a:avLst/>
              </a:prstGeom>
              <a:noFill/>
              <a:ln w="12700">
                <a:noFill/>
                <a:miter lim="800000"/>
                <a:headEnd/>
                <a:tailEnd/>
              </a:ln>
            </p:spPr>
            <p:txBody>
              <a:bodyPr>
                <a:spAutoFit/>
              </a:bodyPr>
              <a:lstStyle/>
              <a:p>
                <a:pPr algn="ctr" eaLnBrk="0" hangingPunct="0">
                  <a:spcBef>
                    <a:spcPct val="50000"/>
                  </a:spcBef>
                </a:pPr>
                <a:r>
                  <a:rPr kumimoji="1" lang="zh-CN" altLang="en-US" b="1">
                    <a:solidFill>
                      <a:srgbClr val="CC0099"/>
                    </a:solidFill>
                  </a:rPr>
                  <a:t>线性负相关</a:t>
                </a:r>
              </a:p>
            </p:txBody>
          </p:sp>
          <p:sp>
            <p:nvSpPr>
              <p:cNvPr id="148614" name="Line 134"/>
              <p:cNvSpPr>
                <a:spLocks noChangeShapeType="1"/>
              </p:cNvSpPr>
              <p:nvPr/>
            </p:nvSpPr>
            <p:spPr bwMode="auto">
              <a:xfrm>
                <a:off x="3470" y="2614"/>
                <a:ext cx="0" cy="1056"/>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148615" name="Line 135"/>
              <p:cNvSpPr>
                <a:spLocks noChangeShapeType="1"/>
              </p:cNvSpPr>
              <p:nvPr/>
            </p:nvSpPr>
            <p:spPr bwMode="auto">
              <a:xfrm>
                <a:off x="3470" y="3657"/>
                <a:ext cx="1392"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grpSp>
            <p:nvGrpSpPr>
              <p:cNvPr id="69644" name="Group 145"/>
              <p:cNvGrpSpPr>
                <a:grpSpLocks/>
              </p:cNvGrpSpPr>
              <p:nvPr/>
            </p:nvGrpSpPr>
            <p:grpSpPr bwMode="auto">
              <a:xfrm rot="3345645">
                <a:off x="3519" y="2697"/>
                <a:ext cx="1428" cy="992"/>
                <a:chOff x="3538" y="2596"/>
                <a:chExt cx="1428" cy="992"/>
              </a:xfrm>
            </p:grpSpPr>
            <p:sp>
              <p:nvSpPr>
                <p:cNvPr id="148609" name="Text Box 129"/>
                <p:cNvSpPr txBox="1">
                  <a:spLocks noChangeArrowheads="1"/>
                </p:cNvSpPr>
                <p:nvPr/>
              </p:nvSpPr>
              <p:spPr bwMode="auto">
                <a:xfrm>
                  <a:off x="4695" y="2596"/>
                  <a:ext cx="246"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0" name="Text Box 130"/>
                <p:cNvSpPr txBox="1">
                  <a:spLocks noChangeArrowheads="1"/>
                </p:cNvSpPr>
                <p:nvPr/>
              </p:nvSpPr>
              <p:spPr bwMode="auto">
                <a:xfrm>
                  <a:off x="4458" y="2865"/>
                  <a:ext cx="24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1" name="Text Box 131"/>
                <p:cNvSpPr txBox="1">
                  <a:spLocks noChangeArrowheads="1"/>
                </p:cNvSpPr>
                <p:nvPr/>
              </p:nvSpPr>
              <p:spPr bwMode="auto">
                <a:xfrm>
                  <a:off x="3970" y="3050"/>
                  <a:ext cx="24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2" name="Text Box 132"/>
                <p:cNvSpPr txBox="1">
                  <a:spLocks noChangeArrowheads="1"/>
                </p:cNvSpPr>
                <p:nvPr/>
              </p:nvSpPr>
              <p:spPr bwMode="auto">
                <a:xfrm>
                  <a:off x="3961" y="3181"/>
                  <a:ext cx="24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3" name="Line 133"/>
                <p:cNvSpPr>
                  <a:spLocks noChangeShapeType="1"/>
                </p:cNvSpPr>
                <p:nvPr/>
              </p:nvSpPr>
              <p:spPr bwMode="auto">
                <a:xfrm flipV="1">
                  <a:off x="3560" y="2659"/>
                  <a:ext cx="1406" cy="848"/>
                </a:xfrm>
                <a:prstGeom prst="line">
                  <a:avLst/>
                </a:prstGeom>
                <a:noFill/>
                <a:ln w="38100">
                  <a:solidFill>
                    <a:schemeClr val="hlink"/>
                  </a:solidFill>
                  <a:round/>
                  <a:headEnd/>
                  <a:tailEnd/>
                </a:ln>
                <a:effectLst>
                  <a:outerShdw dist="12700" dir="10800000" algn="ctr" rotWithShape="0">
                    <a:schemeClr val="bg2"/>
                  </a:outerShdw>
                </a:effectLst>
              </p:spPr>
              <p:txBody>
                <a:bodyPr/>
                <a:lstStyle/>
                <a:p>
                  <a:pPr>
                    <a:defRPr/>
                  </a:pPr>
                  <a:endParaRPr lang="zh-CN" altLang="en-US"/>
                </a:p>
              </p:txBody>
            </p:sp>
            <p:sp>
              <p:nvSpPr>
                <p:cNvPr id="148616" name="Text Box 136"/>
                <p:cNvSpPr txBox="1">
                  <a:spLocks noChangeArrowheads="1"/>
                </p:cNvSpPr>
                <p:nvPr/>
              </p:nvSpPr>
              <p:spPr bwMode="auto">
                <a:xfrm>
                  <a:off x="3538" y="3319"/>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7" name="Text Box 137"/>
                <p:cNvSpPr txBox="1">
                  <a:spLocks noChangeArrowheads="1"/>
                </p:cNvSpPr>
                <p:nvPr/>
              </p:nvSpPr>
              <p:spPr bwMode="auto">
                <a:xfrm>
                  <a:off x="4547" y="2754"/>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8" name="Text Box 138"/>
                <p:cNvSpPr txBox="1">
                  <a:spLocks noChangeArrowheads="1"/>
                </p:cNvSpPr>
                <p:nvPr/>
              </p:nvSpPr>
              <p:spPr bwMode="auto">
                <a:xfrm>
                  <a:off x="4301" y="2971"/>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19" name="Text Box 139"/>
                <p:cNvSpPr txBox="1">
                  <a:spLocks noChangeArrowheads="1"/>
                </p:cNvSpPr>
                <p:nvPr/>
              </p:nvSpPr>
              <p:spPr bwMode="auto">
                <a:xfrm>
                  <a:off x="4440" y="2673"/>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20" name="Text Box 140"/>
                <p:cNvSpPr txBox="1">
                  <a:spLocks noChangeArrowheads="1"/>
                </p:cNvSpPr>
                <p:nvPr/>
              </p:nvSpPr>
              <p:spPr bwMode="auto">
                <a:xfrm>
                  <a:off x="4126" y="2874"/>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21" name="Text Box 141"/>
                <p:cNvSpPr txBox="1">
                  <a:spLocks noChangeArrowheads="1"/>
                </p:cNvSpPr>
                <p:nvPr/>
              </p:nvSpPr>
              <p:spPr bwMode="auto">
                <a:xfrm>
                  <a:off x="4051" y="3047"/>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22" name="Text Box 142"/>
                <p:cNvSpPr txBox="1">
                  <a:spLocks noChangeArrowheads="1"/>
                </p:cNvSpPr>
                <p:nvPr/>
              </p:nvSpPr>
              <p:spPr bwMode="auto">
                <a:xfrm>
                  <a:off x="3839" y="2943"/>
                  <a:ext cx="256"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23" name="Text Box 143"/>
                <p:cNvSpPr txBox="1">
                  <a:spLocks noChangeArrowheads="1"/>
                </p:cNvSpPr>
                <p:nvPr/>
              </p:nvSpPr>
              <p:spPr bwMode="auto">
                <a:xfrm>
                  <a:off x="3643" y="3198"/>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624" name="Text Box 144"/>
                <p:cNvSpPr txBox="1">
                  <a:spLocks noChangeArrowheads="1"/>
                </p:cNvSpPr>
                <p:nvPr/>
              </p:nvSpPr>
              <p:spPr bwMode="auto">
                <a:xfrm>
                  <a:off x="3780" y="3264"/>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grpSp>
        <p:sp>
          <p:nvSpPr>
            <p:cNvPr id="76" name="TextBox 75"/>
            <p:cNvSpPr txBox="1"/>
            <p:nvPr/>
          </p:nvSpPr>
          <p:spPr>
            <a:xfrm>
              <a:off x="7740352" y="5661248"/>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X</a:t>
              </a:r>
              <a:endParaRPr lang="zh-CN" altLang="en-US" sz="3600" b="1" i="1" dirty="0">
                <a:latin typeface="Times New Roman" pitchFamily="18" charset="0"/>
                <a:cs typeface="Times New Roman" pitchFamily="18" charset="0"/>
              </a:endParaRPr>
            </a:p>
          </p:txBody>
        </p:sp>
        <p:sp>
          <p:nvSpPr>
            <p:cNvPr id="79" name="TextBox 78"/>
            <p:cNvSpPr txBox="1"/>
            <p:nvPr/>
          </p:nvSpPr>
          <p:spPr>
            <a:xfrm>
              <a:off x="5148064" y="3903439"/>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Y</a:t>
              </a:r>
              <a:endParaRPr lang="zh-CN" altLang="en-US" sz="3600" b="1" i="1" dirty="0">
                <a:latin typeface="Times New Roman" pitchFamily="18" charset="0"/>
                <a:cs typeface="Times New Roman" pitchFamily="18" charset="0"/>
              </a:endParaRPr>
            </a:p>
          </p:txBody>
        </p:sp>
      </p:grpSp>
      <p:grpSp>
        <p:nvGrpSpPr>
          <p:cNvPr id="82" name="组合 81"/>
          <p:cNvGrpSpPr/>
          <p:nvPr/>
        </p:nvGrpSpPr>
        <p:grpSpPr>
          <a:xfrm>
            <a:off x="2711624" y="4077073"/>
            <a:ext cx="2808312" cy="2374523"/>
            <a:chOff x="1187624" y="4077072"/>
            <a:chExt cx="2808312" cy="2374523"/>
          </a:xfrm>
        </p:grpSpPr>
        <p:grpSp>
          <p:nvGrpSpPr>
            <p:cNvPr id="2" name="Group 126"/>
            <p:cNvGrpSpPr>
              <a:grpSpLocks/>
            </p:cNvGrpSpPr>
            <p:nvPr/>
          </p:nvGrpSpPr>
          <p:grpSpPr bwMode="auto">
            <a:xfrm>
              <a:off x="1258888" y="4221164"/>
              <a:ext cx="2592387" cy="2170113"/>
              <a:chOff x="793" y="2659"/>
              <a:chExt cx="1633" cy="1367"/>
            </a:xfrm>
          </p:grpSpPr>
          <p:sp>
            <p:nvSpPr>
              <p:cNvPr id="69688" name="Text Box 4"/>
              <p:cNvSpPr txBox="1">
                <a:spLocks noChangeArrowheads="1"/>
              </p:cNvSpPr>
              <p:nvPr/>
            </p:nvSpPr>
            <p:spPr bwMode="auto">
              <a:xfrm>
                <a:off x="793" y="3793"/>
                <a:ext cx="1542" cy="233"/>
              </a:xfrm>
              <a:prstGeom prst="rect">
                <a:avLst/>
              </a:prstGeom>
              <a:noFill/>
              <a:ln w="12700">
                <a:noFill/>
                <a:miter lim="800000"/>
                <a:headEnd/>
                <a:tailEnd/>
              </a:ln>
            </p:spPr>
            <p:txBody>
              <a:bodyPr>
                <a:spAutoFit/>
              </a:bodyPr>
              <a:lstStyle/>
              <a:p>
                <a:pPr algn="ctr" eaLnBrk="0" hangingPunct="0">
                  <a:spcBef>
                    <a:spcPct val="50000"/>
                  </a:spcBef>
                </a:pPr>
                <a:r>
                  <a:rPr kumimoji="1" lang="zh-CN" altLang="en-US" b="1">
                    <a:solidFill>
                      <a:srgbClr val="CC0099"/>
                    </a:solidFill>
                  </a:rPr>
                  <a:t>线性正相关</a:t>
                </a:r>
              </a:p>
            </p:txBody>
          </p:sp>
          <p:sp>
            <p:nvSpPr>
              <p:cNvPr id="148492" name="Text Box 12"/>
              <p:cNvSpPr txBox="1">
                <a:spLocks noChangeArrowheads="1"/>
              </p:cNvSpPr>
              <p:nvPr/>
            </p:nvSpPr>
            <p:spPr bwMode="auto">
              <a:xfrm>
                <a:off x="2154" y="2659"/>
                <a:ext cx="246"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493" name="Text Box 13"/>
              <p:cNvSpPr txBox="1">
                <a:spLocks noChangeArrowheads="1"/>
              </p:cNvSpPr>
              <p:nvPr/>
            </p:nvSpPr>
            <p:spPr bwMode="auto">
              <a:xfrm>
                <a:off x="1927" y="2931"/>
                <a:ext cx="24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495" name="Text Box 15"/>
              <p:cNvSpPr txBox="1">
                <a:spLocks noChangeArrowheads="1"/>
              </p:cNvSpPr>
              <p:nvPr/>
            </p:nvSpPr>
            <p:spPr bwMode="auto">
              <a:xfrm>
                <a:off x="1429" y="3113"/>
                <a:ext cx="24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497" name="Text Box 17"/>
              <p:cNvSpPr txBox="1">
                <a:spLocks noChangeArrowheads="1"/>
              </p:cNvSpPr>
              <p:nvPr/>
            </p:nvSpPr>
            <p:spPr bwMode="auto">
              <a:xfrm>
                <a:off x="1429" y="3249"/>
                <a:ext cx="24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498" name="Line 18"/>
              <p:cNvSpPr>
                <a:spLocks noChangeShapeType="1"/>
              </p:cNvSpPr>
              <p:nvPr/>
            </p:nvSpPr>
            <p:spPr bwMode="auto">
              <a:xfrm flipV="1">
                <a:off x="1020" y="2750"/>
                <a:ext cx="1406" cy="848"/>
              </a:xfrm>
              <a:prstGeom prst="line">
                <a:avLst/>
              </a:prstGeom>
              <a:noFill/>
              <a:ln w="38100">
                <a:solidFill>
                  <a:schemeClr val="hlink"/>
                </a:solidFill>
                <a:round/>
                <a:headEnd/>
                <a:tailEnd/>
              </a:ln>
              <a:effectLst>
                <a:outerShdw dist="12700" dir="10800000" algn="ctr" rotWithShape="0">
                  <a:schemeClr val="bg2"/>
                </a:outerShdw>
              </a:effectLst>
            </p:spPr>
            <p:txBody>
              <a:bodyPr/>
              <a:lstStyle/>
              <a:p>
                <a:pPr>
                  <a:defRPr/>
                </a:pPr>
                <a:endParaRPr lang="zh-CN" altLang="en-US"/>
              </a:p>
            </p:txBody>
          </p:sp>
          <p:sp>
            <p:nvSpPr>
              <p:cNvPr id="148529" name="Line 49"/>
              <p:cNvSpPr>
                <a:spLocks noChangeShapeType="1"/>
              </p:cNvSpPr>
              <p:nvPr/>
            </p:nvSpPr>
            <p:spPr bwMode="auto">
              <a:xfrm>
                <a:off x="972" y="2692"/>
                <a:ext cx="0" cy="1056"/>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148530" name="Line 50"/>
              <p:cNvSpPr>
                <a:spLocks noChangeShapeType="1"/>
              </p:cNvSpPr>
              <p:nvPr/>
            </p:nvSpPr>
            <p:spPr bwMode="auto">
              <a:xfrm>
                <a:off x="972" y="3748"/>
                <a:ext cx="1392"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148531" name="Text Box 51"/>
              <p:cNvSpPr txBox="1">
                <a:spLocks noChangeArrowheads="1"/>
              </p:cNvSpPr>
              <p:nvPr/>
            </p:nvSpPr>
            <p:spPr bwMode="auto">
              <a:xfrm>
                <a:off x="1007" y="3406"/>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2" name="Text Box 52"/>
              <p:cNvSpPr txBox="1">
                <a:spLocks noChangeArrowheads="1"/>
              </p:cNvSpPr>
              <p:nvPr/>
            </p:nvSpPr>
            <p:spPr bwMode="auto">
              <a:xfrm>
                <a:off x="2018" y="2840"/>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3" name="Text Box 53"/>
              <p:cNvSpPr txBox="1">
                <a:spLocks noChangeArrowheads="1"/>
              </p:cNvSpPr>
              <p:nvPr/>
            </p:nvSpPr>
            <p:spPr bwMode="auto">
              <a:xfrm>
                <a:off x="1772" y="305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4" name="Text Box 54"/>
              <p:cNvSpPr txBox="1">
                <a:spLocks noChangeArrowheads="1"/>
              </p:cNvSpPr>
              <p:nvPr/>
            </p:nvSpPr>
            <p:spPr bwMode="auto">
              <a:xfrm>
                <a:off x="1882" y="2840"/>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5" name="Text Box 55"/>
              <p:cNvSpPr txBox="1">
                <a:spLocks noChangeArrowheads="1"/>
              </p:cNvSpPr>
              <p:nvPr/>
            </p:nvSpPr>
            <p:spPr bwMode="auto">
              <a:xfrm>
                <a:off x="1598" y="295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6" name="Text Box 56"/>
              <p:cNvSpPr txBox="1">
                <a:spLocks noChangeArrowheads="1"/>
              </p:cNvSpPr>
              <p:nvPr/>
            </p:nvSpPr>
            <p:spPr bwMode="auto">
              <a:xfrm>
                <a:off x="1522" y="3131"/>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7" name="Text Box 57"/>
              <p:cNvSpPr txBox="1">
                <a:spLocks noChangeArrowheads="1"/>
              </p:cNvSpPr>
              <p:nvPr/>
            </p:nvSpPr>
            <p:spPr bwMode="auto">
              <a:xfrm>
                <a:off x="1308" y="3028"/>
                <a:ext cx="256"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8" name="Text Box 58"/>
              <p:cNvSpPr txBox="1">
                <a:spLocks noChangeArrowheads="1"/>
              </p:cNvSpPr>
              <p:nvPr/>
            </p:nvSpPr>
            <p:spPr bwMode="auto">
              <a:xfrm>
                <a:off x="1112" y="3286"/>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148539" name="Text Box 59"/>
              <p:cNvSpPr txBox="1">
                <a:spLocks noChangeArrowheads="1"/>
              </p:cNvSpPr>
              <p:nvPr/>
            </p:nvSpPr>
            <p:spPr bwMode="auto">
              <a:xfrm>
                <a:off x="1250" y="3352"/>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77" name="TextBox 76"/>
            <p:cNvSpPr txBox="1"/>
            <p:nvPr/>
          </p:nvSpPr>
          <p:spPr>
            <a:xfrm>
              <a:off x="3707904" y="5805264"/>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X</a:t>
              </a:r>
              <a:endParaRPr lang="zh-CN" altLang="en-US" sz="3600" b="1" i="1" dirty="0">
                <a:latin typeface="Times New Roman" pitchFamily="18" charset="0"/>
                <a:cs typeface="Times New Roman" pitchFamily="18" charset="0"/>
              </a:endParaRPr>
            </a:p>
          </p:txBody>
        </p:sp>
        <p:sp>
          <p:nvSpPr>
            <p:cNvPr id="80" name="TextBox 79"/>
            <p:cNvSpPr txBox="1"/>
            <p:nvPr/>
          </p:nvSpPr>
          <p:spPr>
            <a:xfrm>
              <a:off x="1187624" y="4077072"/>
              <a:ext cx="288032" cy="646331"/>
            </a:xfrm>
            <a:prstGeom prst="rect">
              <a:avLst/>
            </a:prstGeom>
            <a:noFill/>
          </p:spPr>
          <p:txBody>
            <a:bodyPr wrap="square" rtlCol="0">
              <a:spAutoFit/>
            </a:bodyPr>
            <a:lstStyle/>
            <a:p>
              <a:r>
                <a:rPr lang="en-US" altLang="zh-CN" sz="3600" b="1" i="1" dirty="0">
                  <a:latin typeface="Times New Roman" pitchFamily="18" charset="0"/>
                  <a:cs typeface="Times New Roman" pitchFamily="18" charset="0"/>
                </a:rPr>
                <a:t>Y</a:t>
              </a:r>
              <a:endParaRPr lang="zh-CN" altLang="en-US" sz="3600" b="1" i="1" dirty="0">
                <a:latin typeface="Times New Roman" pitchFamily="18" charset="0"/>
                <a:cs typeface="Times New Roman" pitchFamily="18" charset="0"/>
              </a:endParaRPr>
            </a:p>
          </p:txBody>
        </p:sp>
      </p:grpSp>
    </p:spTree>
    <p:extLst>
      <p:ext uri="{BB962C8B-B14F-4D97-AF65-F5344CB8AC3E}">
        <p14:creationId xmlns:p14="http://schemas.microsoft.com/office/powerpoint/2010/main" val="35605544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wipe(left)">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left)">
                                      <p:cBhvr>
                                        <p:cTn id="17"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 Box 106"/>
          <p:cNvSpPr txBox="1">
            <a:spLocks noChangeArrowheads="1"/>
          </p:cNvSpPr>
          <p:nvPr/>
        </p:nvSpPr>
        <p:spPr bwMode="auto">
          <a:xfrm>
            <a:off x="5663953" y="2060849"/>
            <a:ext cx="409575" cy="42703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70664" name="日期占位符 89"/>
          <p:cNvSpPr>
            <a:spLocks noGrp="1"/>
          </p:cNvSpPr>
          <p:nvPr>
            <p:ph type="dt" sz="half" idx="10"/>
          </p:nvPr>
        </p:nvSpPr>
        <p:spPr>
          <a:noFill/>
        </p:spPr>
        <p:txBody>
          <a:bodyPr/>
          <a:lstStyle/>
          <a:p>
            <a:endParaRPr lang="en-US" altLang="zh-CN"/>
          </a:p>
        </p:txBody>
      </p:sp>
      <p:sp>
        <p:nvSpPr>
          <p:cNvPr id="70659" name="Rectangle 2"/>
          <p:cNvSpPr>
            <a:spLocks noGrp="1" noChangeArrowheads="1"/>
          </p:cNvSpPr>
          <p:nvPr>
            <p:ph type="title"/>
          </p:nvPr>
        </p:nvSpPr>
        <p:spPr/>
        <p:txBody>
          <a:bodyPr/>
          <a:lstStyle/>
          <a:p>
            <a:pPr eaLnBrk="1" hangingPunct="1"/>
            <a:r>
              <a:rPr lang="zh-CN" altLang="en-US"/>
              <a:t>相关关系的图示（续）</a:t>
            </a:r>
          </a:p>
        </p:txBody>
      </p:sp>
      <p:sp>
        <p:nvSpPr>
          <p:cNvPr id="70658" name="灯片编号占位符 5"/>
          <p:cNvSpPr>
            <a:spLocks noGrp="1"/>
          </p:cNvSpPr>
          <p:nvPr>
            <p:ph type="sldNum" sz="quarter" idx="4"/>
          </p:nvPr>
        </p:nvSpPr>
        <p:spPr>
          <a:noFill/>
        </p:spPr>
        <p:txBody>
          <a:bodyPr/>
          <a:lstStyle/>
          <a:p>
            <a:r>
              <a:rPr lang="en-US" altLang="zh-CN" dirty="0"/>
              <a:t>9--</a:t>
            </a:r>
            <a:fld id="{C741625F-CC13-4BDE-893A-0351E9844F40}" type="slidenum">
              <a:rPr lang="en-US" altLang="zh-CN" smtClean="0"/>
              <a:pPr/>
              <a:t>12</a:t>
            </a:fld>
            <a:endParaRPr lang="en-US" altLang="zh-CN" dirty="0"/>
          </a:p>
        </p:txBody>
      </p:sp>
      <p:grpSp>
        <p:nvGrpSpPr>
          <p:cNvPr id="70660" name="Group 121"/>
          <p:cNvGrpSpPr>
            <a:grpSpLocks/>
          </p:cNvGrpSpPr>
          <p:nvPr/>
        </p:nvGrpSpPr>
        <p:grpSpPr bwMode="auto">
          <a:xfrm>
            <a:off x="2566988" y="1125538"/>
            <a:ext cx="3287712" cy="2709863"/>
            <a:chOff x="884" y="1570"/>
            <a:chExt cx="2071" cy="1707"/>
          </a:xfrm>
        </p:grpSpPr>
        <p:sp>
          <p:nvSpPr>
            <p:cNvPr id="25681" name="Line 81"/>
            <p:cNvSpPr>
              <a:spLocks noChangeShapeType="1"/>
            </p:cNvSpPr>
            <p:nvPr/>
          </p:nvSpPr>
          <p:spPr bwMode="auto">
            <a:xfrm>
              <a:off x="929" y="1570"/>
              <a:ext cx="0" cy="1361"/>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25682" name="Line 82"/>
            <p:cNvSpPr>
              <a:spLocks noChangeShapeType="1"/>
            </p:cNvSpPr>
            <p:nvPr/>
          </p:nvSpPr>
          <p:spPr bwMode="auto">
            <a:xfrm>
              <a:off x="929" y="2931"/>
              <a:ext cx="2001"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25683" name="Text Box 83"/>
            <p:cNvSpPr txBox="1">
              <a:spLocks noChangeArrowheads="1"/>
            </p:cNvSpPr>
            <p:nvPr/>
          </p:nvSpPr>
          <p:spPr bwMode="auto">
            <a:xfrm>
              <a:off x="884" y="2589"/>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4" name="Text Box 84"/>
            <p:cNvSpPr txBox="1">
              <a:spLocks noChangeArrowheads="1"/>
            </p:cNvSpPr>
            <p:nvPr/>
          </p:nvSpPr>
          <p:spPr bwMode="auto">
            <a:xfrm>
              <a:off x="2698" y="2069"/>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5" name="Text Box 85"/>
            <p:cNvSpPr txBox="1">
              <a:spLocks noChangeArrowheads="1"/>
            </p:cNvSpPr>
            <p:nvPr/>
          </p:nvSpPr>
          <p:spPr bwMode="auto">
            <a:xfrm>
              <a:off x="1644" y="1971"/>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6" name="Text Box 86"/>
            <p:cNvSpPr txBox="1">
              <a:spLocks noChangeArrowheads="1"/>
            </p:cNvSpPr>
            <p:nvPr/>
          </p:nvSpPr>
          <p:spPr bwMode="auto">
            <a:xfrm>
              <a:off x="2018" y="170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7" name="Text Box 87"/>
            <p:cNvSpPr txBox="1">
              <a:spLocks noChangeArrowheads="1"/>
            </p:cNvSpPr>
            <p:nvPr/>
          </p:nvSpPr>
          <p:spPr bwMode="auto">
            <a:xfrm>
              <a:off x="1452" y="1891"/>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8" name="Text Box 88"/>
            <p:cNvSpPr txBox="1">
              <a:spLocks noChangeArrowheads="1"/>
            </p:cNvSpPr>
            <p:nvPr/>
          </p:nvSpPr>
          <p:spPr bwMode="auto">
            <a:xfrm>
              <a:off x="1404" y="2072"/>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89" name="Text Box 89"/>
            <p:cNvSpPr txBox="1">
              <a:spLocks noChangeArrowheads="1"/>
            </p:cNvSpPr>
            <p:nvPr/>
          </p:nvSpPr>
          <p:spPr bwMode="auto">
            <a:xfrm>
              <a:off x="1260" y="2211"/>
              <a:ext cx="256"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90" name="Text Box 90"/>
            <p:cNvSpPr txBox="1">
              <a:spLocks noChangeArrowheads="1"/>
            </p:cNvSpPr>
            <p:nvPr/>
          </p:nvSpPr>
          <p:spPr bwMode="auto">
            <a:xfrm>
              <a:off x="1116" y="2499"/>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91" name="Text Box 91"/>
            <p:cNvSpPr txBox="1">
              <a:spLocks noChangeArrowheads="1"/>
            </p:cNvSpPr>
            <p:nvPr/>
          </p:nvSpPr>
          <p:spPr bwMode="auto">
            <a:xfrm>
              <a:off x="974" y="2296"/>
              <a:ext cx="257"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95" name="Text Box 95"/>
            <p:cNvSpPr txBox="1">
              <a:spLocks noChangeArrowheads="1"/>
            </p:cNvSpPr>
            <p:nvPr/>
          </p:nvSpPr>
          <p:spPr bwMode="auto">
            <a:xfrm>
              <a:off x="1212" y="2067"/>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70735" name="Text Box 97"/>
            <p:cNvSpPr txBox="1">
              <a:spLocks noChangeArrowheads="1"/>
            </p:cNvSpPr>
            <p:nvPr/>
          </p:nvSpPr>
          <p:spPr bwMode="auto">
            <a:xfrm>
              <a:off x="1177" y="3044"/>
              <a:ext cx="1734" cy="233"/>
            </a:xfrm>
            <a:prstGeom prst="rect">
              <a:avLst/>
            </a:prstGeom>
            <a:noFill/>
            <a:ln w="9525">
              <a:noFill/>
              <a:miter lim="800000"/>
              <a:headEnd/>
              <a:tailEnd/>
            </a:ln>
          </p:spPr>
          <p:txBody>
            <a:bodyPr wrap="square">
              <a:spAutoFit/>
            </a:bodyPr>
            <a:lstStyle/>
            <a:p>
              <a:pPr>
                <a:spcBef>
                  <a:spcPct val="50000"/>
                </a:spcBef>
              </a:pPr>
              <a:r>
                <a:rPr kumimoji="1" lang="zh-CN" altLang="en-US" b="1" dirty="0">
                  <a:solidFill>
                    <a:srgbClr val="CC0099"/>
                  </a:solidFill>
                </a:rPr>
                <a:t>曲线相关（非线性相关）</a:t>
              </a:r>
            </a:p>
          </p:txBody>
        </p:sp>
        <p:sp>
          <p:nvSpPr>
            <p:cNvPr id="25698" name="Text Box 98"/>
            <p:cNvSpPr txBox="1">
              <a:spLocks noChangeArrowheads="1"/>
            </p:cNvSpPr>
            <p:nvPr/>
          </p:nvSpPr>
          <p:spPr bwMode="auto">
            <a:xfrm>
              <a:off x="2305" y="170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99" name="Text Box 99"/>
            <p:cNvSpPr txBox="1">
              <a:spLocks noChangeArrowheads="1"/>
            </p:cNvSpPr>
            <p:nvPr/>
          </p:nvSpPr>
          <p:spPr bwMode="auto">
            <a:xfrm>
              <a:off x="1836" y="170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0" name="Text Box 100"/>
            <p:cNvSpPr txBox="1">
              <a:spLocks noChangeArrowheads="1"/>
            </p:cNvSpPr>
            <p:nvPr/>
          </p:nvSpPr>
          <p:spPr bwMode="auto">
            <a:xfrm>
              <a:off x="2108" y="1660"/>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1" name="Text Box 101"/>
            <p:cNvSpPr txBox="1">
              <a:spLocks noChangeArrowheads="1"/>
            </p:cNvSpPr>
            <p:nvPr/>
          </p:nvSpPr>
          <p:spPr bwMode="auto">
            <a:xfrm>
              <a:off x="2335" y="1842"/>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2" name="Text Box 102"/>
            <p:cNvSpPr txBox="1">
              <a:spLocks noChangeArrowheads="1"/>
            </p:cNvSpPr>
            <p:nvPr/>
          </p:nvSpPr>
          <p:spPr bwMode="auto">
            <a:xfrm>
              <a:off x="2516" y="2072"/>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3" name="Text Box 103"/>
            <p:cNvSpPr txBox="1">
              <a:spLocks noChangeArrowheads="1"/>
            </p:cNvSpPr>
            <p:nvPr/>
          </p:nvSpPr>
          <p:spPr bwMode="auto">
            <a:xfrm>
              <a:off x="1609" y="170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5" name="Text Box 105"/>
            <p:cNvSpPr txBox="1">
              <a:spLocks noChangeArrowheads="1"/>
            </p:cNvSpPr>
            <p:nvPr/>
          </p:nvSpPr>
          <p:spPr bwMode="auto">
            <a:xfrm>
              <a:off x="2335" y="1979"/>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6" name="Text Box 106"/>
            <p:cNvSpPr txBox="1">
              <a:spLocks noChangeArrowheads="1"/>
            </p:cNvSpPr>
            <p:nvPr/>
          </p:nvSpPr>
          <p:spPr bwMode="auto">
            <a:xfrm>
              <a:off x="2531" y="1796"/>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7" name="Text Box 107"/>
            <p:cNvSpPr txBox="1">
              <a:spLocks noChangeArrowheads="1"/>
            </p:cNvSpPr>
            <p:nvPr/>
          </p:nvSpPr>
          <p:spPr bwMode="auto">
            <a:xfrm>
              <a:off x="2063" y="1933"/>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08" name="Text Box 108"/>
            <p:cNvSpPr txBox="1">
              <a:spLocks noChangeArrowheads="1"/>
            </p:cNvSpPr>
            <p:nvPr/>
          </p:nvSpPr>
          <p:spPr bwMode="auto">
            <a:xfrm>
              <a:off x="1836" y="1842"/>
              <a:ext cx="258" cy="269"/>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70746" name="Freeform 109"/>
            <p:cNvSpPr>
              <a:spLocks/>
            </p:cNvSpPr>
            <p:nvPr/>
          </p:nvSpPr>
          <p:spPr bwMode="auto">
            <a:xfrm>
              <a:off x="1065" y="1887"/>
              <a:ext cx="1860" cy="862"/>
            </a:xfrm>
            <a:custGeom>
              <a:avLst/>
              <a:gdLst>
                <a:gd name="T0" fmla="*/ 0 w 1678"/>
                <a:gd name="T1" fmla="*/ 1239 h 824"/>
                <a:gd name="T2" fmla="*/ 435 w 1678"/>
                <a:gd name="T3" fmla="*/ 554 h 824"/>
                <a:gd name="T4" fmla="*/ 870 w 1678"/>
                <a:gd name="T5" fmla="*/ 148 h 824"/>
                <a:gd name="T6" fmla="*/ 1452 w 1678"/>
                <a:gd name="T7" fmla="*/ 7 h 824"/>
                <a:gd name="T8" fmla="*/ 1887 w 1678"/>
                <a:gd name="T9" fmla="*/ 80 h 824"/>
                <a:gd name="T10" fmla="*/ 2321 w 1678"/>
                <a:gd name="T11" fmla="*/ 283 h 824"/>
                <a:gd name="T12" fmla="*/ 2686 w 1678"/>
                <a:gd name="T13" fmla="*/ 554 h 824"/>
                <a:gd name="T14" fmla="*/ 0 60000 65536"/>
                <a:gd name="T15" fmla="*/ 0 60000 65536"/>
                <a:gd name="T16" fmla="*/ 0 60000 65536"/>
                <a:gd name="T17" fmla="*/ 0 60000 65536"/>
                <a:gd name="T18" fmla="*/ 0 60000 65536"/>
                <a:gd name="T19" fmla="*/ 0 60000 65536"/>
                <a:gd name="T20" fmla="*/ 0 60000 65536"/>
                <a:gd name="T21" fmla="*/ 0 w 1678"/>
                <a:gd name="T22" fmla="*/ 0 h 824"/>
                <a:gd name="T23" fmla="*/ 1678 w 1678"/>
                <a:gd name="T24" fmla="*/ 824 h 8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824">
                  <a:moveTo>
                    <a:pt x="0" y="824"/>
                  </a:moveTo>
                  <a:cubicBezTo>
                    <a:pt x="90" y="657"/>
                    <a:pt x="181" y="491"/>
                    <a:pt x="272" y="370"/>
                  </a:cubicBezTo>
                  <a:cubicBezTo>
                    <a:pt x="363" y="249"/>
                    <a:pt x="438" y="158"/>
                    <a:pt x="544" y="98"/>
                  </a:cubicBezTo>
                  <a:cubicBezTo>
                    <a:pt x="650" y="38"/>
                    <a:pt x="801" y="14"/>
                    <a:pt x="907" y="7"/>
                  </a:cubicBezTo>
                  <a:cubicBezTo>
                    <a:pt x="1013" y="0"/>
                    <a:pt x="1088" y="23"/>
                    <a:pt x="1179" y="53"/>
                  </a:cubicBezTo>
                  <a:cubicBezTo>
                    <a:pt x="1270" y="83"/>
                    <a:pt x="1368" y="136"/>
                    <a:pt x="1451" y="189"/>
                  </a:cubicBezTo>
                  <a:cubicBezTo>
                    <a:pt x="1534" y="242"/>
                    <a:pt x="1606" y="306"/>
                    <a:pt x="1678" y="370"/>
                  </a:cubicBezTo>
                </a:path>
              </a:pathLst>
            </a:custGeom>
            <a:noFill/>
            <a:ln w="57150">
              <a:solidFill>
                <a:schemeClr val="hlink"/>
              </a:solidFill>
              <a:round/>
              <a:headEnd/>
              <a:tailEnd/>
            </a:ln>
          </p:spPr>
          <p:txBody>
            <a:bodyPr/>
            <a:lstStyle/>
            <a:p>
              <a:endParaRPr lang="zh-CN" altLang="en-US"/>
            </a:p>
          </p:txBody>
        </p:sp>
      </p:grpSp>
      <p:grpSp>
        <p:nvGrpSpPr>
          <p:cNvPr id="92" name="组合 91"/>
          <p:cNvGrpSpPr/>
          <p:nvPr/>
        </p:nvGrpSpPr>
        <p:grpSpPr>
          <a:xfrm>
            <a:off x="2279650" y="4572000"/>
            <a:ext cx="2808288" cy="1460500"/>
            <a:chOff x="755650" y="4572000"/>
            <a:chExt cx="2808288" cy="1460500"/>
          </a:xfrm>
        </p:grpSpPr>
        <p:grpSp>
          <p:nvGrpSpPr>
            <p:cNvPr id="5" name="组合 87"/>
            <p:cNvGrpSpPr>
              <a:grpSpLocks/>
            </p:cNvGrpSpPr>
            <p:nvPr/>
          </p:nvGrpSpPr>
          <p:grpSpPr bwMode="auto">
            <a:xfrm>
              <a:off x="755650" y="4572000"/>
              <a:ext cx="2808288" cy="1460500"/>
              <a:chOff x="755650" y="4572008"/>
              <a:chExt cx="2808288" cy="1460500"/>
            </a:xfrm>
          </p:grpSpPr>
          <p:grpSp>
            <p:nvGrpSpPr>
              <p:cNvPr id="70665" name="Group 177"/>
              <p:cNvGrpSpPr>
                <a:grpSpLocks/>
              </p:cNvGrpSpPr>
              <p:nvPr/>
            </p:nvGrpSpPr>
            <p:grpSpPr bwMode="auto">
              <a:xfrm>
                <a:off x="755650" y="4572008"/>
                <a:ext cx="2808288" cy="1460500"/>
                <a:chOff x="476" y="2840"/>
                <a:chExt cx="1769" cy="920"/>
              </a:xfrm>
            </p:grpSpPr>
            <p:grpSp>
              <p:nvGrpSpPr>
                <p:cNvPr id="70667" name="Group 176"/>
                <p:cNvGrpSpPr>
                  <a:grpSpLocks/>
                </p:cNvGrpSpPr>
                <p:nvPr/>
              </p:nvGrpSpPr>
              <p:grpSpPr bwMode="auto">
                <a:xfrm>
                  <a:off x="476" y="2840"/>
                  <a:ext cx="1769" cy="920"/>
                  <a:chOff x="476" y="2840"/>
                  <a:chExt cx="1769" cy="920"/>
                </a:xfrm>
              </p:grpSpPr>
              <p:sp>
                <p:nvSpPr>
                  <p:cNvPr id="25723" name="Line 123"/>
                  <p:cNvSpPr>
                    <a:spLocks noChangeShapeType="1"/>
                  </p:cNvSpPr>
                  <p:nvPr/>
                </p:nvSpPr>
                <p:spPr bwMode="auto">
                  <a:xfrm>
                    <a:off x="476" y="2840"/>
                    <a:ext cx="0" cy="904"/>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25724" name="Line 124"/>
                  <p:cNvSpPr>
                    <a:spLocks noChangeShapeType="1"/>
                  </p:cNvSpPr>
                  <p:nvPr/>
                </p:nvSpPr>
                <p:spPr bwMode="auto">
                  <a:xfrm flipV="1">
                    <a:off x="476" y="3747"/>
                    <a:ext cx="1769" cy="13"/>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25726" name="Text Box 126"/>
                  <p:cNvSpPr txBox="1">
                    <a:spLocks noChangeArrowheads="1"/>
                  </p:cNvSpPr>
                  <p:nvPr/>
                </p:nvSpPr>
                <p:spPr bwMode="auto">
                  <a:xfrm>
                    <a:off x="975" y="3249"/>
                    <a:ext cx="286"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27" name="Text Box 127"/>
                  <p:cNvSpPr txBox="1">
                    <a:spLocks noChangeArrowheads="1"/>
                  </p:cNvSpPr>
                  <p:nvPr/>
                </p:nvSpPr>
                <p:spPr bwMode="auto">
                  <a:xfrm>
                    <a:off x="1153" y="3067"/>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28" name="Text Box 128"/>
                  <p:cNvSpPr txBox="1">
                    <a:spLocks noChangeArrowheads="1"/>
                  </p:cNvSpPr>
                  <p:nvPr/>
                </p:nvSpPr>
                <p:spPr bwMode="auto">
                  <a:xfrm>
                    <a:off x="1422" y="3092"/>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30" name="Text Box 130"/>
                  <p:cNvSpPr txBox="1">
                    <a:spLocks noChangeArrowheads="1"/>
                  </p:cNvSpPr>
                  <p:nvPr/>
                </p:nvSpPr>
                <p:spPr bwMode="auto">
                  <a:xfrm>
                    <a:off x="835" y="3158"/>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31" name="Text Box 131"/>
                  <p:cNvSpPr txBox="1">
                    <a:spLocks noChangeArrowheads="1"/>
                  </p:cNvSpPr>
                  <p:nvPr/>
                </p:nvSpPr>
                <p:spPr bwMode="auto">
                  <a:xfrm>
                    <a:off x="665" y="3206"/>
                    <a:ext cx="285"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34" name="Text Box 134"/>
                  <p:cNvSpPr txBox="1">
                    <a:spLocks noChangeArrowheads="1"/>
                  </p:cNvSpPr>
                  <p:nvPr/>
                </p:nvSpPr>
                <p:spPr bwMode="auto">
                  <a:xfrm>
                    <a:off x="930" y="3067"/>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36" name="Text Box 136"/>
                  <p:cNvSpPr txBox="1">
                    <a:spLocks noChangeArrowheads="1"/>
                  </p:cNvSpPr>
                  <p:nvPr/>
                </p:nvSpPr>
                <p:spPr bwMode="auto">
                  <a:xfrm>
                    <a:off x="612" y="3062"/>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38" name="Text Box 138"/>
                  <p:cNvSpPr txBox="1">
                    <a:spLocks noChangeArrowheads="1"/>
                  </p:cNvSpPr>
                  <p:nvPr/>
                </p:nvSpPr>
                <p:spPr bwMode="auto">
                  <a:xfrm>
                    <a:off x="1302" y="3188"/>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41" name="Text Box 141"/>
                  <p:cNvSpPr txBox="1">
                    <a:spLocks noChangeArrowheads="1"/>
                  </p:cNvSpPr>
                  <p:nvPr/>
                </p:nvSpPr>
                <p:spPr bwMode="auto">
                  <a:xfrm>
                    <a:off x="1504" y="3278"/>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43" name="Text Box 143"/>
                  <p:cNvSpPr txBox="1">
                    <a:spLocks noChangeArrowheads="1"/>
                  </p:cNvSpPr>
                  <p:nvPr/>
                </p:nvSpPr>
                <p:spPr bwMode="auto">
                  <a:xfrm>
                    <a:off x="1605" y="3052"/>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44" name="Text Box 144"/>
                  <p:cNvSpPr txBox="1">
                    <a:spLocks noChangeArrowheads="1"/>
                  </p:cNvSpPr>
                  <p:nvPr/>
                </p:nvSpPr>
                <p:spPr bwMode="auto">
                  <a:xfrm>
                    <a:off x="1610" y="3193"/>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45" name="Text Box 145"/>
                  <p:cNvSpPr txBox="1">
                    <a:spLocks noChangeArrowheads="1"/>
                  </p:cNvSpPr>
                  <p:nvPr/>
                </p:nvSpPr>
                <p:spPr bwMode="auto">
                  <a:xfrm>
                    <a:off x="1788" y="3158"/>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25774" name="Text Box 174"/>
                <p:cNvSpPr txBox="1">
                  <a:spLocks noChangeArrowheads="1"/>
                </p:cNvSpPr>
                <p:nvPr/>
              </p:nvSpPr>
              <p:spPr bwMode="auto">
                <a:xfrm>
                  <a:off x="1066" y="3203"/>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75" name="Text Box 175"/>
                <p:cNvSpPr txBox="1">
                  <a:spLocks noChangeArrowheads="1"/>
                </p:cNvSpPr>
                <p:nvPr/>
              </p:nvSpPr>
              <p:spPr bwMode="auto">
                <a:xfrm>
                  <a:off x="778" y="3278"/>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87" name="Text Box 175"/>
              <p:cNvSpPr txBox="1">
                <a:spLocks noChangeArrowheads="1"/>
              </p:cNvSpPr>
              <p:nvPr/>
            </p:nvSpPr>
            <p:spPr bwMode="auto">
              <a:xfrm>
                <a:off x="1900238" y="5275271"/>
                <a:ext cx="457200"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91" name="Text Box 175"/>
            <p:cNvSpPr txBox="1">
              <a:spLocks noChangeArrowheads="1"/>
            </p:cNvSpPr>
            <p:nvPr/>
          </p:nvSpPr>
          <p:spPr bwMode="auto">
            <a:xfrm>
              <a:off x="2771800" y="5204048"/>
              <a:ext cx="457200"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93" name="Text Box 106"/>
          <p:cNvSpPr txBox="1">
            <a:spLocks noChangeArrowheads="1"/>
          </p:cNvSpPr>
          <p:nvPr/>
        </p:nvSpPr>
        <p:spPr bwMode="auto">
          <a:xfrm>
            <a:off x="5614418" y="1772817"/>
            <a:ext cx="409575" cy="42703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94" name="Text Box 106"/>
          <p:cNvSpPr txBox="1">
            <a:spLocks noChangeArrowheads="1"/>
          </p:cNvSpPr>
          <p:nvPr/>
        </p:nvSpPr>
        <p:spPr bwMode="auto">
          <a:xfrm>
            <a:off x="5375921" y="1700809"/>
            <a:ext cx="409575" cy="427037"/>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sz="2200"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nvGrpSpPr>
          <p:cNvPr id="101" name="组合 100"/>
          <p:cNvGrpSpPr/>
          <p:nvPr/>
        </p:nvGrpSpPr>
        <p:grpSpPr>
          <a:xfrm>
            <a:off x="6959600" y="1125538"/>
            <a:ext cx="2808288" cy="2635252"/>
            <a:chOff x="5435600" y="1268413"/>
            <a:chExt cx="2808288" cy="2492376"/>
          </a:xfrm>
        </p:grpSpPr>
        <p:grpSp>
          <p:nvGrpSpPr>
            <p:cNvPr id="3" name="Group 120"/>
            <p:cNvGrpSpPr>
              <a:grpSpLocks/>
            </p:cNvGrpSpPr>
            <p:nvPr/>
          </p:nvGrpSpPr>
          <p:grpSpPr bwMode="auto">
            <a:xfrm>
              <a:off x="5435600" y="1268413"/>
              <a:ext cx="2808288" cy="2492376"/>
              <a:chOff x="3560" y="1706"/>
              <a:chExt cx="1588" cy="1570"/>
            </a:xfrm>
          </p:grpSpPr>
          <p:sp>
            <p:nvSpPr>
              <p:cNvPr id="25664" name="Line 64"/>
              <p:cNvSpPr>
                <a:spLocks noChangeShapeType="1"/>
              </p:cNvSpPr>
              <p:nvPr/>
            </p:nvSpPr>
            <p:spPr bwMode="auto">
              <a:xfrm>
                <a:off x="3560" y="1706"/>
                <a:ext cx="0" cy="1283"/>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25665" name="Line 65"/>
              <p:cNvSpPr>
                <a:spLocks noChangeShapeType="1"/>
              </p:cNvSpPr>
              <p:nvPr/>
            </p:nvSpPr>
            <p:spPr bwMode="auto">
              <a:xfrm flipV="1">
                <a:off x="3560" y="2976"/>
                <a:ext cx="1588" cy="13"/>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25666" name="Text Box 66"/>
              <p:cNvSpPr txBox="1">
                <a:spLocks noChangeArrowheads="1"/>
              </p:cNvSpPr>
              <p:nvPr/>
            </p:nvSpPr>
            <p:spPr bwMode="auto">
              <a:xfrm>
                <a:off x="3944" y="2653"/>
                <a:ext cx="25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67" name="Text Box 67"/>
              <p:cNvSpPr txBox="1">
                <a:spLocks noChangeArrowheads="1"/>
              </p:cNvSpPr>
              <p:nvPr/>
            </p:nvSpPr>
            <p:spPr bwMode="auto">
              <a:xfrm>
                <a:off x="4376" y="2509"/>
                <a:ext cx="25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68" name="Text Box 68"/>
              <p:cNvSpPr txBox="1">
                <a:spLocks noChangeArrowheads="1"/>
              </p:cNvSpPr>
              <p:nvPr/>
            </p:nvSpPr>
            <p:spPr bwMode="auto">
              <a:xfrm>
                <a:off x="4280" y="2029"/>
                <a:ext cx="25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69" name="Text Box 69"/>
              <p:cNvSpPr txBox="1">
                <a:spLocks noChangeArrowheads="1"/>
              </p:cNvSpPr>
              <p:nvPr/>
            </p:nvSpPr>
            <p:spPr bwMode="auto">
              <a:xfrm>
                <a:off x="4520" y="2077"/>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0" name="Text Box 70"/>
              <p:cNvSpPr txBox="1">
                <a:spLocks noChangeArrowheads="1"/>
              </p:cNvSpPr>
              <p:nvPr/>
            </p:nvSpPr>
            <p:spPr bwMode="auto">
              <a:xfrm>
                <a:off x="4088" y="1981"/>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1" name="Text Box 71"/>
              <p:cNvSpPr txBox="1">
                <a:spLocks noChangeArrowheads="1"/>
              </p:cNvSpPr>
              <p:nvPr/>
            </p:nvSpPr>
            <p:spPr bwMode="auto">
              <a:xfrm>
                <a:off x="4040" y="2365"/>
                <a:ext cx="25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2" name="Text Box 72"/>
              <p:cNvSpPr txBox="1">
                <a:spLocks noChangeArrowheads="1"/>
              </p:cNvSpPr>
              <p:nvPr/>
            </p:nvSpPr>
            <p:spPr bwMode="auto">
              <a:xfrm>
                <a:off x="3896" y="2269"/>
                <a:ext cx="256"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3" name="Text Box 73"/>
              <p:cNvSpPr txBox="1">
                <a:spLocks noChangeArrowheads="1"/>
              </p:cNvSpPr>
              <p:nvPr/>
            </p:nvSpPr>
            <p:spPr bwMode="auto">
              <a:xfrm>
                <a:off x="3752" y="2557"/>
                <a:ext cx="25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4" name="Text Box 74"/>
              <p:cNvSpPr txBox="1">
                <a:spLocks noChangeArrowheads="1"/>
              </p:cNvSpPr>
              <p:nvPr/>
            </p:nvSpPr>
            <p:spPr bwMode="auto">
              <a:xfrm>
                <a:off x="3752" y="2365"/>
                <a:ext cx="25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5" name="Text Box 75"/>
              <p:cNvSpPr txBox="1">
                <a:spLocks noChangeArrowheads="1"/>
              </p:cNvSpPr>
              <p:nvPr/>
            </p:nvSpPr>
            <p:spPr bwMode="auto">
              <a:xfrm>
                <a:off x="4195" y="2205"/>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6" name="Text Box 76"/>
              <p:cNvSpPr txBox="1">
                <a:spLocks noChangeArrowheads="1"/>
              </p:cNvSpPr>
              <p:nvPr/>
            </p:nvSpPr>
            <p:spPr bwMode="auto">
              <a:xfrm>
                <a:off x="4520" y="2509"/>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677" name="Text Box 77"/>
              <p:cNvSpPr txBox="1">
                <a:spLocks noChangeArrowheads="1"/>
              </p:cNvSpPr>
              <p:nvPr/>
            </p:nvSpPr>
            <p:spPr bwMode="auto">
              <a:xfrm>
                <a:off x="3848" y="2125"/>
                <a:ext cx="25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0" name="Text Box 110"/>
              <p:cNvSpPr txBox="1">
                <a:spLocks noChangeArrowheads="1"/>
              </p:cNvSpPr>
              <p:nvPr/>
            </p:nvSpPr>
            <p:spPr bwMode="auto">
              <a:xfrm>
                <a:off x="4195" y="2614"/>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1" name="Text Box 111"/>
              <p:cNvSpPr txBox="1">
                <a:spLocks noChangeArrowheads="1"/>
              </p:cNvSpPr>
              <p:nvPr/>
            </p:nvSpPr>
            <p:spPr bwMode="auto">
              <a:xfrm>
                <a:off x="4468" y="2251"/>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2" name="Text Box 112"/>
              <p:cNvSpPr txBox="1">
                <a:spLocks noChangeArrowheads="1"/>
              </p:cNvSpPr>
              <p:nvPr/>
            </p:nvSpPr>
            <p:spPr bwMode="auto">
              <a:xfrm>
                <a:off x="4604" y="1842"/>
                <a:ext cx="25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3" name="Text Box 113"/>
              <p:cNvSpPr txBox="1">
                <a:spLocks noChangeArrowheads="1"/>
              </p:cNvSpPr>
              <p:nvPr/>
            </p:nvSpPr>
            <p:spPr bwMode="auto">
              <a:xfrm>
                <a:off x="4377" y="1888"/>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4" name="Text Box 114"/>
              <p:cNvSpPr txBox="1">
                <a:spLocks noChangeArrowheads="1"/>
              </p:cNvSpPr>
              <p:nvPr/>
            </p:nvSpPr>
            <p:spPr bwMode="auto">
              <a:xfrm>
                <a:off x="4649" y="2341"/>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5" name="Text Box 115"/>
              <p:cNvSpPr txBox="1">
                <a:spLocks noChangeArrowheads="1"/>
              </p:cNvSpPr>
              <p:nvPr/>
            </p:nvSpPr>
            <p:spPr bwMode="auto">
              <a:xfrm>
                <a:off x="4468" y="2659"/>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6" name="Text Box 116"/>
              <p:cNvSpPr txBox="1">
                <a:spLocks noChangeArrowheads="1"/>
              </p:cNvSpPr>
              <p:nvPr/>
            </p:nvSpPr>
            <p:spPr bwMode="auto">
              <a:xfrm>
                <a:off x="4740" y="2115"/>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7" name="Text Box 117"/>
              <p:cNvSpPr txBox="1">
                <a:spLocks noChangeArrowheads="1"/>
              </p:cNvSpPr>
              <p:nvPr/>
            </p:nvSpPr>
            <p:spPr bwMode="auto">
              <a:xfrm>
                <a:off x="4740" y="2478"/>
                <a:ext cx="259"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18" name="Text Box 118"/>
              <p:cNvSpPr txBox="1">
                <a:spLocks noChangeArrowheads="1"/>
              </p:cNvSpPr>
              <p:nvPr/>
            </p:nvSpPr>
            <p:spPr bwMode="auto">
              <a:xfrm>
                <a:off x="4876" y="2341"/>
                <a:ext cx="25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70722" name="Text Box 119"/>
              <p:cNvSpPr txBox="1">
                <a:spLocks noChangeArrowheads="1"/>
              </p:cNvSpPr>
              <p:nvPr/>
            </p:nvSpPr>
            <p:spPr bwMode="auto">
              <a:xfrm>
                <a:off x="3886" y="3043"/>
                <a:ext cx="1198" cy="233"/>
              </a:xfrm>
              <a:prstGeom prst="rect">
                <a:avLst/>
              </a:prstGeom>
              <a:noFill/>
              <a:ln w="9525">
                <a:noFill/>
                <a:miter lim="800000"/>
                <a:headEnd/>
                <a:tailEnd/>
              </a:ln>
            </p:spPr>
            <p:txBody>
              <a:bodyPr wrap="square">
                <a:spAutoFit/>
              </a:bodyPr>
              <a:lstStyle/>
              <a:p>
                <a:pPr algn="ctr"/>
                <a:r>
                  <a:rPr kumimoji="1" lang="zh-CN" altLang="en-US" b="1" dirty="0">
                    <a:solidFill>
                      <a:srgbClr val="CC0099"/>
                    </a:solidFill>
                  </a:rPr>
                  <a:t>不相关（零相关）</a:t>
                </a:r>
              </a:p>
            </p:txBody>
          </p:sp>
        </p:grpSp>
        <p:sp>
          <p:nvSpPr>
            <p:cNvPr id="96" name="Text Box 70"/>
            <p:cNvSpPr txBox="1">
              <a:spLocks noChangeArrowheads="1"/>
            </p:cNvSpPr>
            <p:nvPr/>
          </p:nvSpPr>
          <p:spPr bwMode="auto">
            <a:xfrm>
              <a:off x="6562245" y="2323728"/>
              <a:ext cx="458027"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97" name="Text Box 70"/>
            <p:cNvSpPr txBox="1">
              <a:spLocks noChangeArrowheads="1"/>
            </p:cNvSpPr>
            <p:nvPr/>
          </p:nvSpPr>
          <p:spPr bwMode="auto">
            <a:xfrm>
              <a:off x="5724128" y="1772816"/>
              <a:ext cx="458027"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98" name="Text Box 70"/>
            <p:cNvSpPr txBox="1">
              <a:spLocks noChangeArrowheads="1"/>
            </p:cNvSpPr>
            <p:nvPr/>
          </p:nvSpPr>
          <p:spPr bwMode="auto">
            <a:xfrm>
              <a:off x="6156176" y="1556792"/>
              <a:ext cx="458027"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grpSp>
        <p:nvGrpSpPr>
          <p:cNvPr id="100" name="组合 99"/>
          <p:cNvGrpSpPr/>
          <p:nvPr/>
        </p:nvGrpSpPr>
        <p:grpSpPr>
          <a:xfrm>
            <a:off x="6296026" y="4214813"/>
            <a:ext cx="1800225" cy="2036762"/>
            <a:chOff x="4772025" y="4214813"/>
            <a:chExt cx="1800225" cy="2036762"/>
          </a:xfrm>
        </p:grpSpPr>
        <p:grpSp>
          <p:nvGrpSpPr>
            <p:cNvPr id="4" name="Group 173"/>
            <p:cNvGrpSpPr>
              <a:grpSpLocks/>
            </p:cNvGrpSpPr>
            <p:nvPr/>
          </p:nvGrpSpPr>
          <p:grpSpPr bwMode="auto">
            <a:xfrm>
              <a:off x="4772025" y="4214813"/>
              <a:ext cx="1800225" cy="2036762"/>
              <a:chOff x="3107" y="2601"/>
              <a:chExt cx="1134" cy="1283"/>
            </a:xfrm>
          </p:grpSpPr>
          <p:sp>
            <p:nvSpPr>
              <p:cNvPr id="25749" name="Line 149"/>
              <p:cNvSpPr>
                <a:spLocks noChangeShapeType="1"/>
              </p:cNvSpPr>
              <p:nvPr/>
            </p:nvSpPr>
            <p:spPr bwMode="auto">
              <a:xfrm>
                <a:off x="3107" y="2601"/>
                <a:ext cx="0" cy="1283"/>
              </a:xfrm>
              <a:prstGeom prst="line">
                <a:avLst/>
              </a:prstGeom>
              <a:noFill/>
              <a:ln w="28575">
                <a:solidFill>
                  <a:schemeClr val="tx1"/>
                </a:solidFill>
                <a:round/>
                <a:headEnd type="triangle" w="med" len="med"/>
                <a:tailEnd/>
              </a:ln>
              <a:effectLst>
                <a:outerShdw dist="17961" dir="2700000" algn="ctr" rotWithShape="0">
                  <a:schemeClr val="bg2"/>
                </a:outerShdw>
              </a:effectLst>
            </p:spPr>
            <p:txBody>
              <a:bodyPr/>
              <a:lstStyle/>
              <a:p>
                <a:pPr>
                  <a:defRPr/>
                </a:pPr>
                <a:endParaRPr lang="zh-CN" altLang="en-US"/>
              </a:p>
            </p:txBody>
          </p:sp>
          <p:sp>
            <p:nvSpPr>
              <p:cNvPr id="25750" name="Line 150"/>
              <p:cNvSpPr>
                <a:spLocks noChangeShapeType="1"/>
              </p:cNvSpPr>
              <p:nvPr/>
            </p:nvSpPr>
            <p:spPr bwMode="auto">
              <a:xfrm flipV="1">
                <a:off x="3107" y="3884"/>
                <a:ext cx="1134" cy="0"/>
              </a:xfrm>
              <a:prstGeom prst="line">
                <a:avLst/>
              </a:prstGeom>
              <a:noFill/>
              <a:ln w="28575">
                <a:solidFill>
                  <a:schemeClr val="tx1"/>
                </a:solidFill>
                <a:round/>
                <a:headEnd/>
                <a:tailEnd type="triangle" w="med" len="med"/>
              </a:ln>
              <a:effectLst>
                <a:outerShdw dist="17961" dir="2700000" algn="ctr" rotWithShape="0">
                  <a:schemeClr val="bg2"/>
                </a:outerShdw>
              </a:effectLst>
            </p:spPr>
            <p:txBody>
              <a:bodyPr/>
              <a:lstStyle/>
              <a:p>
                <a:pPr>
                  <a:defRPr/>
                </a:pPr>
                <a:endParaRPr lang="zh-CN" altLang="en-US"/>
              </a:p>
            </p:txBody>
          </p:sp>
          <p:sp>
            <p:nvSpPr>
              <p:cNvPr id="25752" name="Text Box 152"/>
              <p:cNvSpPr txBox="1">
                <a:spLocks noChangeArrowheads="1"/>
              </p:cNvSpPr>
              <p:nvPr/>
            </p:nvSpPr>
            <p:spPr bwMode="auto">
              <a:xfrm>
                <a:off x="3479" y="2750"/>
                <a:ext cx="286"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53" name="Text Box 153"/>
              <p:cNvSpPr txBox="1">
                <a:spLocks noChangeArrowheads="1"/>
              </p:cNvSpPr>
              <p:nvPr/>
            </p:nvSpPr>
            <p:spPr bwMode="auto">
              <a:xfrm>
                <a:off x="3737" y="2924"/>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55" name="Text Box 155"/>
              <p:cNvSpPr txBox="1">
                <a:spLocks noChangeArrowheads="1"/>
              </p:cNvSpPr>
              <p:nvPr/>
            </p:nvSpPr>
            <p:spPr bwMode="auto">
              <a:xfrm>
                <a:off x="3523" y="2876"/>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56" name="Text Box 156"/>
              <p:cNvSpPr txBox="1">
                <a:spLocks noChangeArrowheads="1"/>
              </p:cNvSpPr>
              <p:nvPr/>
            </p:nvSpPr>
            <p:spPr bwMode="auto">
              <a:xfrm>
                <a:off x="3470" y="3260"/>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57" name="Text Box 157"/>
              <p:cNvSpPr txBox="1">
                <a:spLocks noChangeArrowheads="1"/>
              </p:cNvSpPr>
              <p:nvPr/>
            </p:nvSpPr>
            <p:spPr bwMode="auto">
              <a:xfrm>
                <a:off x="3615" y="3203"/>
                <a:ext cx="285"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0" name="Text Box 160"/>
              <p:cNvSpPr txBox="1">
                <a:spLocks noChangeArrowheads="1"/>
              </p:cNvSpPr>
              <p:nvPr/>
            </p:nvSpPr>
            <p:spPr bwMode="auto">
              <a:xfrm>
                <a:off x="3661" y="3067"/>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1" name="Text Box 161"/>
              <p:cNvSpPr txBox="1">
                <a:spLocks noChangeArrowheads="1"/>
              </p:cNvSpPr>
              <p:nvPr/>
            </p:nvSpPr>
            <p:spPr bwMode="auto">
              <a:xfrm>
                <a:off x="3524" y="3612"/>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2" name="Text Box 162"/>
              <p:cNvSpPr txBox="1">
                <a:spLocks noChangeArrowheads="1"/>
              </p:cNvSpPr>
              <p:nvPr/>
            </p:nvSpPr>
            <p:spPr bwMode="auto">
              <a:xfrm>
                <a:off x="3479" y="3022"/>
                <a:ext cx="287"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3" name="Text Box 163"/>
              <p:cNvSpPr txBox="1">
                <a:spLocks noChangeArrowheads="1"/>
              </p:cNvSpPr>
              <p:nvPr/>
            </p:nvSpPr>
            <p:spPr bwMode="auto">
              <a:xfrm>
                <a:off x="3661" y="3596"/>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4" name="Text Box 164"/>
              <p:cNvSpPr txBox="1">
                <a:spLocks noChangeArrowheads="1"/>
              </p:cNvSpPr>
              <p:nvPr/>
            </p:nvSpPr>
            <p:spPr bwMode="auto">
              <a:xfrm>
                <a:off x="3706" y="3339"/>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6" name="Text Box 166"/>
              <p:cNvSpPr txBox="1">
                <a:spLocks noChangeArrowheads="1"/>
              </p:cNvSpPr>
              <p:nvPr/>
            </p:nvSpPr>
            <p:spPr bwMode="auto">
              <a:xfrm>
                <a:off x="3615" y="2783"/>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25768" name="Text Box 168"/>
              <p:cNvSpPr txBox="1">
                <a:spLocks noChangeArrowheads="1"/>
              </p:cNvSpPr>
              <p:nvPr/>
            </p:nvSpPr>
            <p:spPr bwMode="auto">
              <a:xfrm>
                <a:off x="3479" y="3475"/>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sp>
            <p:nvSpPr>
              <p:cNvPr id="89" name="Text Box 164"/>
              <p:cNvSpPr txBox="1">
                <a:spLocks noChangeArrowheads="1"/>
              </p:cNvSpPr>
              <p:nvPr/>
            </p:nvSpPr>
            <p:spPr bwMode="auto">
              <a:xfrm>
                <a:off x="3593" y="3393"/>
                <a:ext cx="288" cy="233"/>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99" name="Text Box 70"/>
            <p:cNvSpPr txBox="1">
              <a:spLocks noChangeArrowheads="1"/>
            </p:cNvSpPr>
            <p:nvPr/>
          </p:nvSpPr>
          <p:spPr bwMode="auto">
            <a:xfrm>
              <a:off x="5698149" y="4293096"/>
              <a:ext cx="458027" cy="369332"/>
            </a:xfrm>
            <a:prstGeom prst="rect">
              <a:avLst/>
            </a:prstGeom>
            <a:noFill/>
            <a:ln w="12700">
              <a:noFill/>
              <a:miter lim="800000"/>
              <a:headEnd/>
              <a:tailEnd/>
            </a:ln>
            <a:effectLst>
              <a:outerShdw dist="17961" dir="2700000" algn="ctr" rotWithShape="0">
                <a:schemeClr val="bg2"/>
              </a:outerShdw>
            </a:effectLst>
          </p:spPr>
          <p:txBody>
            <a:bodyPr>
              <a:spAutoFit/>
            </a:bodyPr>
            <a:lstStyle/>
            <a:p>
              <a:pPr eaLnBrk="0" hangingPunct="0">
                <a:spcBef>
                  <a:spcPct val="50000"/>
                </a:spcBef>
                <a:defRPr/>
              </a:pPr>
              <a:r>
                <a:rPr kumimoji="1" lang="en-US" altLang="zh-CN" dirty="0">
                  <a:solidFill>
                    <a:srgbClr val="FF00FF"/>
                  </a:solidFill>
                  <a:effectLst>
                    <a:outerShdw blurRad="38100" dist="38100" dir="2700000" algn="tl">
                      <a:srgbClr val="C0C0C0"/>
                    </a:outerShdw>
                  </a:effectLst>
                  <a:latin typeface="Times New Roman" pitchFamily="18" charset="0"/>
                  <a:sym typeface="Wingdings 2" pitchFamily="18" charset="2"/>
                </a:rPr>
                <a:t></a:t>
              </a:r>
            </a:p>
          </p:txBody>
        </p:sp>
      </p:grpSp>
      <p:sp>
        <p:nvSpPr>
          <p:cNvPr id="2" name="文本框 1"/>
          <p:cNvSpPr txBox="1"/>
          <p:nvPr/>
        </p:nvSpPr>
        <p:spPr>
          <a:xfrm>
            <a:off x="3305177" y="6164262"/>
            <a:ext cx="1063624" cy="369332"/>
          </a:xfrm>
          <a:prstGeom prst="rect">
            <a:avLst/>
          </a:prstGeom>
          <a:solidFill>
            <a:schemeClr val="accent4">
              <a:lumMod val="40000"/>
              <a:lumOff val="60000"/>
            </a:schemeClr>
          </a:solidFill>
        </p:spPr>
        <p:txBody>
          <a:bodyPr wrap="square" rtlCol="0">
            <a:spAutoFit/>
          </a:bodyPr>
          <a:lstStyle/>
          <a:p>
            <a:r>
              <a:rPr lang="zh-CN" altLang="en-US" b="1" dirty="0"/>
              <a:t>？相关</a:t>
            </a:r>
          </a:p>
        </p:txBody>
      </p:sp>
      <p:sp>
        <p:nvSpPr>
          <p:cNvPr id="103" name="文本框 102"/>
          <p:cNvSpPr txBox="1"/>
          <p:nvPr/>
        </p:nvSpPr>
        <p:spPr>
          <a:xfrm>
            <a:off x="6796090" y="6313488"/>
            <a:ext cx="1063624" cy="369332"/>
          </a:xfrm>
          <a:prstGeom prst="rect">
            <a:avLst/>
          </a:prstGeom>
          <a:solidFill>
            <a:schemeClr val="accent4">
              <a:lumMod val="40000"/>
              <a:lumOff val="60000"/>
            </a:schemeClr>
          </a:solidFill>
        </p:spPr>
        <p:txBody>
          <a:bodyPr wrap="square" rtlCol="0">
            <a:spAutoFit/>
          </a:bodyPr>
          <a:lstStyle/>
          <a:p>
            <a:r>
              <a:rPr lang="zh-CN" altLang="en-US" b="1" dirty="0"/>
              <a:t>？相关</a:t>
            </a:r>
          </a:p>
        </p:txBody>
      </p:sp>
    </p:spTree>
    <p:extLst>
      <p:ext uri="{BB962C8B-B14F-4D97-AF65-F5344CB8AC3E}">
        <p14:creationId xmlns:p14="http://schemas.microsoft.com/office/powerpoint/2010/main" val="133006692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left)">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wipe(left)">
                                      <p:cBhvr>
                                        <p:cTn id="12" dur="500"/>
                                        <p:tgtEl>
                                          <p:spTgt spid="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down)">
                                      <p:cBhvr>
                                        <p:cTn id="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日期占位符 4"/>
          <p:cNvSpPr>
            <a:spLocks noGrp="1"/>
          </p:cNvSpPr>
          <p:nvPr>
            <p:ph type="dt" sz="half" idx="10"/>
          </p:nvPr>
        </p:nvSpPr>
        <p:spPr>
          <a:noFill/>
        </p:spPr>
        <p:txBody>
          <a:bodyPr/>
          <a:lstStyle/>
          <a:p>
            <a:endParaRPr lang="en-US" altLang="zh-CN"/>
          </a:p>
        </p:txBody>
      </p:sp>
      <p:sp>
        <p:nvSpPr>
          <p:cNvPr id="71683" name="Rectangle 2"/>
          <p:cNvSpPr>
            <a:spLocks noGrp="1" noChangeArrowheads="1"/>
          </p:cNvSpPr>
          <p:nvPr>
            <p:ph type="title"/>
          </p:nvPr>
        </p:nvSpPr>
        <p:spPr>
          <a:xfrm>
            <a:off x="1244600" y="225583"/>
            <a:ext cx="10947400" cy="662782"/>
          </a:xfrm>
        </p:spPr>
        <p:txBody>
          <a:bodyPr/>
          <a:lstStyle/>
          <a:p>
            <a:pPr eaLnBrk="1" hangingPunct="1"/>
            <a:r>
              <a:rPr kumimoji="1" lang="en-US" altLang="zh-CN" sz="4000" dirty="0"/>
              <a:t>9.1.4 </a:t>
            </a:r>
            <a:r>
              <a:rPr kumimoji="1" lang="zh-CN" altLang="en-US" sz="4000" dirty="0"/>
              <a:t>相关关系定量分析的基本内容</a:t>
            </a:r>
          </a:p>
        </p:txBody>
      </p:sp>
      <p:sp>
        <p:nvSpPr>
          <p:cNvPr id="71684" name="Rectangle 3"/>
          <p:cNvSpPr>
            <a:spLocks noGrp="1" noChangeArrowheads="1"/>
          </p:cNvSpPr>
          <p:nvPr>
            <p:ph idx="1"/>
          </p:nvPr>
        </p:nvSpPr>
        <p:spPr>
          <a:xfrm>
            <a:off x="990600" y="965200"/>
            <a:ext cx="9169400" cy="5168661"/>
          </a:xfrm>
        </p:spPr>
        <p:txBody>
          <a:bodyPr>
            <a:normAutofit lnSpcReduction="10000"/>
          </a:bodyPr>
          <a:lstStyle/>
          <a:p>
            <a:pPr eaLnBrk="1" hangingPunct="1">
              <a:lnSpc>
                <a:spcPct val="120000"/>
              </a:lnSpc>
              <a:spcBef>
                <a:spcPts val="600"/>
              </a:spcBef>
              <a:spcAft>
                <a:spcPts val="0"/>
              </a:spcAft>
            </a:pPr>
            <a:r>
              <a:rPr lang="zh-CN" altLang="en-US" dirty="0">
                <a:solidFill>
                  <a:srgbClr val="CC0099"/>
                </a:solidFill>
              </a:rPr>
              <a:t>相关分析</a:t>
            </a:r>
            <a:r>
              <a:rPr lang="en-US" altLang="zh-CN" sz="2800" dirty="0">
                <a:solidFill>
                  <a:schemeClr val="tx2"/>
                </a:solidFill>
                <a:latin typeface="Arial" charset="0"/>
              </a:rPr>
              <a:t>——</a:t>
            </a:r>
            <a:r>
              <a:rPr lang="zh-CN" altLang="en-US" sz="2800" dirty="0">
                <a:solidFill>
                  <a:schemeClr val="tx2"/>
                </a:solidFill>
              </a:rPr>
              <a:t>说明变量之间有无相关关系、相关的方向、关系的密切程度。</a:t>
            </a:r>
          </a:p>
          <a:p>
            <a:pPr marL="622300" lvl="1" indent="279400" eaLnBrk="1" hangingPunct="1">
              <a:lnSpc>
                <a:spcPct val="120000"/>
              </a:lnSpc>
              <a:spcBef>
                <a:spcPts val="600"/>
              </a:spcBef>
              <a:spcAft>
                <a:spcPts val="0"/>
              </a:spcAft>
            </a:pPr>
            <a:r>
              <a:rPr lang="zh-CN" altLang="en-US" dirty="0"/>
              <a:t>绘制相关图（散点图）</a:t>
            </a:r>
          </a:p>
          <a:p>
            <a:pPr marL="622300" lvl="1" indent="279400" eaLnBrk="1" hangingPunct="1">
              <a:lnSpc>
                <a:spcPct val="120000"/>
              </a:lnSpc>
              <a:spcBef>
                <a:spcPts val="600"/>
              </a:spcBef>
              <a:spcAft>
                <a:spcPts val="0"/>
              </a:spcAft>
            </a:pPr>
            <a:r>
              <a:rPr lang="zh-CN" altLang="en-US" dirty="0"/>
              <a:t>计算相关系数</a:t>
            </a:r>
          </a:p>
          <a:p>
            <a:pPr eaLnBrk="1" hangingPunct="1">
              <a:lnSpc>
                <a:spcPct val="120000"/>
              </a:lnSpc>
              <a:spcBef>
                <a:spcPts val="600"/>
              </a:spcBef>
              <a:spcAft>
                <a:spcPts val="0"/>
              </a:spcAft>
            </a:pPr>
            <a:r>
              <a:rPr lang="zh-CN" altLang="en-US" dirty="0">
                <a:solidFill>
                  <a:srgbClr val="CC0099"/>
                </a:solidFill>
              </a:rPr>
              <a:t>回归分析</a:t>
            </a:r>
            <a:r>
              <a:rPr lang="en-US" altLang="zh-CN" sz="2800" dirty="0">
                <a:solidFill>
                  <a:schemeClr val="tx2"/>
                </a:solidFill>
                <a:latin typeface="Arial" charset="0"/>
              </a:rPr>
              <a:t>——</a:t>
            </a:r>
            <a:r>
              <a:rPr lang="zh-CN" altLang="en-US" sz="2800" dirty="0">
                <a:solidFill>
                  <a:schemeClr val="tx2"/>
                </a:solidFill>
              </a:rPr>
              <a:t>揭示具有相关关系的变量之间具体的数量变化关系。</a:t>
            </a:r>
          </a:p>
          <a:p>
            <a:pPr marL="622300" lvl="1" indent="279400">
              <a:lnSpc>
                <a:spcPct val="130000"/>
              </a:lnSpc>
              <a:spcBef>
                <a:spcPts val="600"/>
              </a:spcBef>
              <a:spcAft>
                <a:spcPts val="0"/>
              </a:spcAft>
            </a:pPr>
            <a:r>
              <a:rPr lang="zh-CN" altLang="en-US" dirty="0"/>
              <a:t>根据样本数据建立回归方程；</a:t>
            </a:r>
          </a:p>
          <a:p>
            <a:pPr marL="622300" lvl="1" indent="279400">
              <a:lnSpc>
                <a:spcPct val="130000"/>
              </a:lnSpc>
              <a:spcBef>
                <a:spcPts val="600"/>
              </a:spcBef>
              <a:spcAft>
                <a:spcPts val="0"/>
              </a:spcAft>
            </a:pPr>
            <a:r>
              <a:rPr lang="zh-CN" altLang="en-US" dirty="0"/>
              <a:t>对样本回归方程进行检验；</a:t>
            </a:r>
          </a:p>
          <a:p>
            <a:pPr marL="622300" lvl="1" indent="279400">
              <a:lnSpc>
                <a:spcPct val="130000"/>
              </a:lnSpc>
              <a:spcBef>
                <a:spcPts val="600"/>
              </a:spcBef>
              <a:spcAft>
                <a:spcPts val="0"/>
              </a:spcAft>
            </a:pPr>
            <a:r>
              <a:rPr lang="zh-CN" altLang="en-US" dirty="0"/>
              <a:t>利用所求的回归方程进行分析、预测。</a:t>
            </a:r>
          </a:p>
        </p:txBody>
      </p:sp>
      <p:sp>
        <p:nvSpPr>
          <p:cNvPr id="71682" name="灯片编号占位符 5"/>
          <p:cNvSpPr>
            <a:spLocks noGrp="1"/>
          </p:cNvSpPr>
          <p:nvPr>
            <p:ph type="sldNum" sz="quarter" idx="4"/>
          </p:nvPr>
        </p:nvSpPr>
        <p:spPr>
          <a:noFill/>
        </p:spPr>
        <p:txBody>
          <a:bodyPr/>
          <a:lstStyle/>
          <a:p>
            <a:r>
              <a:rPr lang="en-US" altLang="zh-CN" dirty="0"/>
              <a:t>9-</a:t>
            </a:r>
            <a:fld id="{13ED49A4-FA82-4F99-A597-15B606C99EB9}" type="slidenum">
              <a:rPr lang="en-US" altLang="zh-CN" smtClean="0"/>
              <a:pPr/>
              <a:t>13</a:t>
            </a:fld>
            <a:endParaRPr lang="en-US" altLang="zh-CN" dirty="0"/>
          </a:p>
        </p:txBody>
      </p:sp>
    </p:spTree>
    <p:extLst>
      <p:ext uri="{BB962C8B-B14F-4D97-AF65-F5344CB8AC3E}">
        <p14:creationId xmlns:p14="http://schemas.microsoft.com/office/powerpoint/2010/main" val="246596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11" name="日期占位符 6"/>
          <p:cNvSpPr>
            <a:spLocks noGrp="1"/>
          </p:cNvSpPr>
          <p:nvPr>
            <p:ph type="dt" sz="half" idx="10"/>
          </p:nvPr>
        </p:nvSpPr>
        <p:spPr>
          <a:noFill/>
        </p:spPr>
        <p:txBody>
          <a:bodyPr/>
          <a:lstStyle/>
          <a:p>
            <a:endParaRPr lang="en-US" altLang="zh-CN"/>
          </a:p>
        </p:txBody>
      </p:sp>
      <p:sp>
        <p:nvSpPr>
          <p:cNvPr id="72707" name="Rectangle 2"/>
          <p:cNvSpPr>
            <a:spLocks noGrp="1" noChangeArrowheads="1"/>
          </p:cNvSpPr>
          <p:nvPr>
            <p:ph type="title"/>
          </p:nvPr>
        </p:nvSpPr>
        <p:spPr>
          <a:xfrm>
            <a:off x="1219200" y="321469"/>
            <a:ext cx="7493000" cy="662782"/>
          </a:xfrm>
          <a:noFill/>
        </p:spPr>
        <p:txBody>
          <a:bodyPr vert="horz" lIns="90488" tIns="44450" rIns="90488" bIns="44450" rtlCol="0" anchor="ctr" anchorCtr="1">
            <a:normAutofit/>
          </a:bodyPr>
          <a:lstStyle/>
          <a:p>
            <a:pPr eaLnBrk="1" hangingPunct="1"/>
            <a:r>
              <a:rPr lang="zh-CN" altLang="en-US" sz="4000" dirty="0"/>
              <a:t>相关与回归分析的联系</a:t>
            </a:r>
          </a:p>
        </p:txBody>
      </p:sp>
      <p:sp>
        <p:nvSpPr>
          <p:cNvPr id="72708" name="Rectangle 3"/>
          <p:cNvSpPr>
            <a:spLocks noGrp="1" noChangeArrowheads="1"/>
          </p:cNvSpPr>
          <p:nvPr>
            <p:ph idx="1"/>
          </p:nvPr>
        </p:nvSpPr>
        <p:spPr>
          <a:xfrm>
            <a:off x="1992313" y="1117600"/>
            <a:ext cx="9842500" cy="5005157"/>
          </a:xfrm>
          <a:noFill/>
        </p:spPr>
        <p:txBody>
          <a:bodyPr vert="horz" lIns="90488" tIns="44450" rIns="90488" bIns="44450" rtlCol="0">
            <a:normAutofit/>
          </a:bodyPr>
          <a:lstStyle/>
          <a:p>
            <a:pPr marL="609600" indent="-609600" algn="just">
              <a:lnSpc>
                <a:spcPct val="110000"/>
              </a:lnSpc>
              <a:spcBef>
                <a:spcPct val="25000"/>
              </a:spcBef>
              <a:buNone/>
            </a:pPr>
            <a:r>
              <a:rPr lang="zh-CN" altLang="en-US" sz="3600" b="1" dirty="0">
                <a:solidFill>
                  <a:srgbClr val="0070C0"/>
                </a:solidFill>
                <a:latin typeface="Times New Roman" pitchFamily="18" charset="0"/>
              </a:rPr>
              <a:t>变量之间相关关系的分析</a:t>
            </a:r>
            <a:r>
              <a:rPr lang="en-US" altLang="zh-CN" sz="3600" b="1" dirty="0">
                <a:solidFill>
                  <a:srgbClr val="0070C0"/>
                </a:solidFill>
                <a:latin typeface="Times New Roman" pitchFamily="18" charset="0"/>
              </a:rPr>
              <a:t>:</a:t>
            </a:r>
          </a:p>
          <a:p>
            <a:pPr marL="1219200" lvl="1" indent="-533400" algn="just">
              <a:lnSpc>
                <a:spcPct val="110000"/>
              </a:lnSpc>
              <a:spcBef>
                <a:spcPct val="25000"/>
              </a:spcBef>
              <a:buNone/>
            </a:pPr>
            <a:r>
              <a:rPr lang="zh-CN" altLang="en-US" sz="3200" dirty="0">
                <a:latin typeface="Times New Roman" pitchFamily="18" charset="0"/>
              </a:rPr>
              <a:t>相关分析</a:t>
            </a:r>
            <a:r>
              <a:rPr lang="en-US" altLang="zh-CN" dirty="0"/>
              <a:t>__</a:t>
            </a:r>
            <a:r>
              <a:rPr lang="zh-CN" altLang="en-US" dirty="0"/>
              <a:t>表明变量间相关关系的性质和程度</a:t>
            </a:r>
            <a:endParaRPr lang="zh-CN" altLang="en-US" sz="3200" dirty="0">
              <a:latin typeface="Times New Roman" pitchFamily="18" charset="0"/>
            </a:endParaRPr>
          </a:p>
          <a:p>
            <a:pPr marL="1219200" lvl="1" indent="-533400" algn="just">
              <a:lnSpc>
                <a:spcPct val="110000"/>
              </a:lnSpc>
              <a:spcBef>
                <a:spcPct val="25000"/>
              </a:spcBef>
              <a:buNone/>
            </a:pPr>
            <a:r>
              <a:rPr lang="zh-CN" altLang="en-US" sz="3200" dirty="0">
                <a:latin typeface="Times New Roman" pitchFamily="18" charset="0"/>
              </a:rPr>
              <a:t>回归分析</a:t>
            </a:r>
            <a:r>
              <a:rPr lang="en-US" altLang="zh-CN" dirty="0"/>
              <a:t>__</a:t>
            </a:r>
            <a:r>
              <a:rPr lang="zh-CN" altLang="en-US" dirty="0"/>
              <a:t>确定变量间相关的具体数学形式</a:t>
            </a:r>
          </a:p>
        </p:txBody>
      </p:sp>
      <p:sp>
        <p:nvSpPr>
          <p:cNvPr id="72706" name="灯片编号占位符 5"/>
          <p:cNvSpPr>
            <a:spLocks noGrp="1"/>
          </p:cNvSpPr>
          <p:nvPr>
            <p:ph type="sldNum" sz="quarter" idx="4"/>
          </p:nvPr>
        </p:nvSpPr>
        <p:spPr>
          <a:noFill/>
        </p:spPr>
        <p:txBody>
          <a:bodyPr/>
          <a:lstStyle/>
          <a:p>
            <a:r>
              <a:rPr lang="en-US" altLang="zh-CN"/>
              <a:t>9--</a:t>
            </a:r>
            <a:fld id="{D4592D47-F802-442B-9A49-476364D889A4}" type="slidenum">
              <a:rPr lang="en-US" altLang="zh-CN" smtClean="0"/>
              <a:pPr/>
              <a:t>14</a:t>
            </a:fld>
            <a:endParaRPr lang="en-US" altLang="zh-CN"/>
          </a:p>
        </p:txBody>
      </p:sp>
      <p:sp>
        <p:nvSpPr>
          <p:cNvPr id="72709" name="AutoShape 4"/>
          <p:cNvSpPr>
            <a:spLocks/>
          </p:cNvSpPr>
          <p:nvPr/>
        </p:nvSpPr>
        <p:spPr bwMode="auto">
          <a:xfrm>
            <a:off x="2414588" y="2152651"/>
            <a:ext cx="328612" cy="863600"/>
          </a:xfrm>
          <a:prstGeom prst="leftBrace">
            <a:avLst>
              <a:gd name="adj1" fmla="val 16667"/>
              <a:gd name="adj2" fmla="val 50000"/>
            </a:avLst>
          </a:prstGeom>
          <a:noFill/>
          <a:ln w="57150">
            <a:solidFill>
              <a:schemeClr val="accent1"/>
            </a:solidFill>
            <a:round/>
            <a:headEnd/>
            <a:tailEnd/>
          </a:ln>
        </p:spPr>
        <p:txBody>
          <a:bodyPr wrap="none" anchor="ctr"/>
          <a:lstStyle/>
          <a:p>
            <a:pPr algn="ctr"/>
            <a:endParaRPr lang="zh-CN" altLang="zh-CN">
              <a:solidFill>
                <a:srgbClr val="FF0000"/>
              </a:solidFill>
            </a:endParaRPr>
          </a:p>
        </p:txBody>
      </p:sp>
      <p:sp>
        <p:nvSpPr>
          <p:cNvPr id="328709" name="Rectangle 5"/>
          <p:cNvSpPr>
            <a:spLocks noChangeArrowheads="1"/>
          </p:cNvSpPr>
          <p:nvPr/>
        </p:nvSpPr>
        <p:spPr bwMode="auto">
          <a:xfrm>
            <a:off x="1789113" y="3327400"/>
            <a:ext cx="8280400" cy="2592388"/>
          </a:xfrm>
          <a:prstGeom prst="rect">
            <a:avLst/>
          </a:prstGeom>
          <a:noFill/>
          <a:ln w="12700">
            <a:noFill/>
            <a:miter lim="800000"/>
            <a:headEnd/>
            <a:tailEnd/>
          </a:ln>
        </p:spPr>
        <p:txBody>
          <a:bodyPr lIns="18000" tIns="7200" rIns="18000" bIns="7200"/>
          <a:lstStyle/>
          <a:p>
            <a:pPr marL="609600" indent="-609600">
              <a:lnSpc>
                <a:spcPct val="130000"/>
              </a:lnSpc>
              <a:spcBef>
                <a:spcPct val="30000"/>
              </a:spcBef>
              <a:buSzPct val="90000"/>
              <a:buFontTx/>
              <a:buChar char="•"/>
            </a:pPr>
            <a:r>
              <a:rPr lang="zh-CN" altLang="en-US" sz="3200" b="1" dirty="0">
                <a:solidFill>
                  <a:srgbClr val="000000"/>
                </a:solidFill>
                <a:latin typeface="Tahoma" pitchFamily="34" charset="0"/>
              </a:rPr>
              <a:t>只有当变量间相关程度较高时，进行回归分析才有实际意义</a:t>
            </a:r>
            <a:r>
              <a:rPr lang="en-US" altLang="zh-CN" sz="3200" b="1" dirty="0">
                <a:solidFill>
                  <a:srgbClr val="000000"/>
                </a:solidFill>
                <a:latin typeface="Times New Roman" pitchFamily="18" charset="0"/>
              </a:rPr>
              <a:t>;</a:t>
            </a:r>
          </a:p>
          <a:p>
            <a:pPr marL="609600" indent="-609600">
              <a:lnSpc>
                <a:spcPct val="130000"/>
              </a:lnSpc>
              <a:spcBef>
                <a:spcPct val="30000"/>
              </a:spcBef>
              <a:buSzPct val="90000"/>
              <a:buFontTx/>
              <a:buChar char="•"/>
            </a:pPr>
            <a:r>
              <a:rPr lang="zh-CN" altLang="en-US" sz="3200" b="1" dirty="0">
                <a:solidFill>
                  <a:srgbClr val="000000"/>
                </a:solidFill>
                <a:latin typeface="Tahoma" pitchFamily="34" charset="0"/>
              </a:rPr>
              <a:t>多变量相关分析中，相关系数的确定则是建立在回归分析基础上的。</a:t>
            </a:r>
          </a:p>
        </p:txBody>
      </p:sp>
    </p:spTree>
    <p:extLst>
      <p:ext uri="{BB962C8B-B14F-4D97-AF65-F5344CB8AC3E}">
        <p14:creationId xmlns:p14="http://schemas.microsoft.com/office/powerpoint/2010/main" val="409860012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blinds(horizontal)">
                                      <p:cBhvr>
                                        <p:cTn id="7" dur="5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3" name="日期占位符 4"/>
          <p:cNvSpPr>
            <a:spLocks noGrp="1"/>
          </p:cNvSpPr>
          <p:nvPr>
            <p:ph type="dt" sz="half" idx="10"/>
          </p:nvPr>
        </p:nvSpPr>
        <p:spPr>
          <a:noFill/>
        </p:spPr>
        <p:txBody>
          <a:bodyPr/>
          <a:lstStyle/>
          <a:p>
            <a:endParaRPr lang="en-US" altLang="zh-CN"/>
          </a:p>
        </p:txBody>
      </p:sp>
      <p:sp>
        <p:nvSpPr>
          <p:cNvPr id="73731" name="Rectangle 2"/>
          <p:cNvSpPr>
            <a:spLocks noGrp="1" noChangeArrowheads="1"/>
          </p:cNvSpPr>
          <p:nvPr>
            <p:ph type="title"/>
          </p:nvPr>
        </p:nvSpPr>
        <p:spPr>
          <a:xfrm>
            <a:off x="1270000" y="565466"/>
            <a:ext cx="7200900" cy="662782"/>
          </a:xfrm>
          <a:noFill/>
        </p:spPr>
        <p:txBody>
          <a:bodyPr vert="horz" lIns="90488" tIns="44450" rIns="90488" bIns="44450" rtlCol="0" anchor="ctr" anchorCtr="1">
            <a:normAutofit/>
          </a:bodyPr>
          <a:lstStyle/>
          <a:p>
            <a:pPr eaLnBrk="1" hangingPunct="1"/>
            <a:r>
              <a:rPr lang="zh-CN" altLang="en-US" dirty="0"/>
              <a:t>回归分析与相关分析的区别</a:t>
            </a:r>
            <a:endParaRPr lang="zh-CN" altLang="en-US" sz="4000" dirty="0">
              <a:solidFill>
                <a:schemeClr val="hlink"/>
              </a:solidFill>
            </a:endParaRPr>
          </a:p>
        </p:txBody>
      </p:sp>
      <p:sp>
        <p:nvSpPr>
          <p:cNvPr id="330755" name="Rectangle 3"/>
          <p:cNvSpPr>
            <a:spLocks noGrp="1" noChangeArrowheads="1"/>
          </p:cNvSpPr>
          <p:nvPr>
            <p:ph idx="1"/>
          </p:nvPr>
        </p:nvSpPr>
        <p:spPr>
          <a:xfrm>
            <a:off x="1498600" y="1587500"/>
            <a:ext cx="8661400" cy="4546361"/>
          </a:xfrm>
          <a:noFill/>
        </p:spPr>
        <p:txBody>
          <a:bodyPr vert="horz" lIns="90488" tIns="44450" rIns="90488" bIns="44450" rtlCol="0">
            <a:normAutofit/>
          </a:bodyPr>
          <a:lstStyle/>
          <a:p>
            <a:pPr marL="609600" indent="-609600" algn="just">
              <a:lnSpc>
                <a:spcPct val="120000"/>
              </a:lnSpc>
              <a:buNone/>
            </a:pPr>
            <a:r>
              <a:rPr lang="en-US" altLang="zh-CN" sz="2800" dirty="0">
                <a:solidFill>
                  <a:srgbClr val="CC0099"/>
                </a:solidFill>
                <a:latin typeface="Times New Roman" pitchFamily="18" charset="0"/>
              </a:rPr>
              <a:t>1.  </a:t>
            </a:r>
            <a:r>
              <a:rPr lang="zh-CN" altLang="en-US" sz="2800" dirty="0">
                <a:solidFill>
                  <a:srgbClr val="CC0099"/>
                </a:solidFill>
                <a:latin typeface="Times New Roman" pitchFamily="18" charset="0"/>
              </a:rPr>
              <a:t>变量的地位</a:t>
            </a:r>
          </a:p>
          <a:p>
            <a:pPr marL="1219200" lvl="1" indent="-533400" algn="just">
              <a:lnSpc>
                <a:spcPct val="120000"/>
              </a:lnSpc>
              <a:buFontTx/>
              <a:buChar char="•"/>
            </a:pPr>
            <a:r>
              <a:rPr lang="zh-CN" altLang="en-US" sz="2600" dirty="0">
                <a:latin typeface="Times New Roman" pitchFamily="18" charset="0"/>
              </a:rPr>
              <a:t>相关分析中，变量 </a:t>
            </a:r>
            <a:r>
              <a:rPr lang="en-US" altLang="zh-CN" sz="2600" i="1" dirty="0">
                <a:latin typeface="Times New Roman" pitchFamily="18" charset="0"/>
              </a:rPr>
              <a:t>X</a:t>
            </a:r>
            <a:r>
              <a:rPr lang="zh-CN" altLang="en-US" sz="2600" i="1" dirty="0">
                <a:latin typeface="Times New Roman" pitchFamily="18" charset="0"/>
              </a:rPr>
              <a:t>、</a:t>
            </a:r>
            <a:r>
              <a:rPr lang="zh-CN" altLang="en-US" sz="2600" dirty="0">
                <a:latin typeface="Times New Roman" pitchFamily="18" charset="0"/>
              </a:rPr>
              <a:t> </a:t>
            </a:r>
            <a:r>
              <a:rPr lang="en-US" altLang="zh-CN" sz="2600" i="1" dirty="0">
                <a:latin typeface="Times New Roman" pitchFamily="18" charset="0"/>
              </a:rPr>
              <a:t>Y </a:t>
            </a:r>
            <a:r>
              <a:rPr lang="zh-CN" altLang="en-US" sz="2600" dirty="0">
                <a:latin typeface="Times New Roman" pitchFamily="18" charset="0"/>
              </a:rPr>
              <a:t>处于对等（对称）地位。</a:t>
            </a:r>
          </a:p>
          <a:p>
            <a:pPr marL="1219200" lvl="1" indent="-533400" algn="just">
              <a:lnSpc>
                <a:spcPct val="120000"/>
              </a:lnSpc>
              <a:buFontTx/>
              <a:buChar char="•"/>
            </a:pPr>
            <a:r>
              <a:rPr lang="zh-CN" altLang="en-US" sz="2600" dirty="0">
                <a:latin typeface="Times New Roman" pitchFamily="18" charset="0"/>
              </a:rPr>
              <a:t>回归分析中， </a:t>
            </a:r>
            <a:r>
              <a:rPr lang="en-US" altLang="zh-CN" sz="2600" i="1" dirty="0">
                <a:latin typeface="Times New Roman" pitchFamily="18" charset="0"/>
              </a:rPr>
              <a:t>Y </a:t>
            </a:r>
            <a:r>
              <a:rPr lang="zh-CN" altLang="en-US" sz="2600" dirty="0">
                <a:latin typeface="Times New Roman" pitchFamily="18" charset="0"/>
              </a:rPr>
              <a:t>为因变量，处在被解释的地位；  </a:t>
            </a:r>
            <a:r>
              <a:rPr lang="en-US" altLang="zh-CN" sz="2600" i="1" dirty="0">
                <a:latin typeface="Times New Roman" pitchFamily="18" charset="0"/>
              </a:rPr>
              <a:t>X </a:t>
            </a:r>
            <a:r>
              <a:rPr lang="zh-CN" altLang="en-US" sz="2600" dirty="0">
                <a:latin typeface="Times New Roman" pitchFamily="18" charset="0"/>
              </a:rPr>
              <a:t>为自变量，用于解释和预测因变量变化。</a:t>
            </a:r>
          </a:p>
          <a:p>
            <a:pPr marL="609600" indent="-609600" algn="just">
              <a:lnSpc>
                <a:spcPct val="120000"/>
              </a:lnSpc>
              <a:buNone/>
            </a:pPr>
            <a:r>
              <a:rPr lang="en-US" altLang="zh-CN" sz="2800" dirty="0">
                <a:solidFill>
                  <a:srgbClr val="CC0099"/>
                </a:solidFill>
                <a:latin typeface="Times New Roman" pitchFamily="18" charset="0"/>
              </a:rPr>
              <a:t>2.  </a:t>
            </a:r>
            <a:r>
              <a:rPr lang="zh-CN" altLang="en-US" sz="2800" dirty="0">
                <a:solidFill>
                  <a:srgbClr val="CC0099"/>
                </a:solidFill>
                <a:latin typeface="Times New Roman" pitchFamily="18" charset="0"/>
              </a:rPr>
              <a:t>变量的性质</a:t>
            </a:r>
          </a:p>
          <a:p>
            <a:pPr marL="1219200" lvl="1" indent="-533400" algn="just">
              <a:lnSpc>
                <a:spcPct val="120000"/>
              </a:lnSpc>
              <a:buFontTx/>
              <a:buChar char="•"/>
            </a:pPr>
            <a:r>
              <a:rPr lang="zh-CN" altLang="en-US" sz="2600" dirty="0">
                <a:latin typeface="Times New Roman" pitchFamily="18" charset="0"/>
              </a:rPr>
              <a:t>相关分析中所涉及的变量 </a:t>
            </a:r>
            <a:r>
              <a:rPr lang="en-US" altLang="zh-CN" sz="2600" dirty="0">
                <a:latin typeface="Times New Roman" pitchFamily="18" charset="0"/>
              </a:rPr>
              <a:t>X </a:t>
            </a:r>
            <a:r>
              <a:rPr lang="zh-CN" altLang="en-US" sz="2600" dirty="0">
                <a:latin typeface="Times New Roman" pitchFamily="18" charset="0"/>
              </a:rPr>
              <a:t>和 </a:t>
            </a:r>
            <a:r>
              <a:rPr lang="en-US" altLang="zh-CN" sz="2600" i="1" dirty="0">
                <a:latin typeface="Times New Roman" pitchFamily="18" charset="0"/>
              </a:rPr>
              <a:t>Y</a:t>
            </a:r>
            <a:r>
              <a:rPr lang="en-US" altLang="zh-CN" sz="2600" dirty="0">
                <a:latin typeface="Times New Roman" pitchFamily="18" charset="0"/>
              </a:rPr>
              <a:t> </a:t>
            </a:r>
            <a:r>
              <a:rPr lang="zh-CN" altLang="en-US" sz="2600" dirty="0">
                <a:latin typeface="Times New Roman" pitchFamily="18" charset="0"/>
              </a:rPr>
              <a:t>都是随机变量；</a:t>
            </a:r>
          </a:p>
          <a:p>
            <a:pPr marL="1219200" lvl="1" indent="-533400" algn="just">
              <a:lnSpc>
                <a:spcPct val="120000"/>
              </a:lnSpc>
              <a:buFontTx/>
              <a:buChar char="•"/>
            </a:pPr>
            <a:r>
              <a:rPr lang="zh-CN" altLang="en-US" sz="2600" dirty="0">
                <a:latin typeface="Times New Roman" pitchFamily="18" charset="0"/>
              </a:rPr>
              <a:t>回归分析中，因变量 </a:t>
            </a:r>
            <a:r>
              <a:rPr lang="en-US" altLang="zh-CN" sz="2600" i="1" dirty="0">
                <a:latin typeface="Times New Roman" pitchFamily="18" charset="0"/>
              </a:rPr>
              <a:t>Y</a:t>
            </a:r>
            <a:r>
              <a:rPr lang="en-US" altLang="zh-CN" sz="2600" dirty="0">
                <a:latin typeface="Times New Roman" pitchFamily="18" charset="0"/>
              </a:rPr>
              <a:t> </a:t>
            </a:r>
            <a:r>
              <a:rPr lang="zh-CN" altLang="en-US" sz="2600" dirty="0">
                <a:latin typeface="Times New Roman" pitchFamily="18" charset="0"/>
              </a:rPr>
              <a:t>是随机变量，</a:t>
            </a:r>
            <a:r>
              <a:rPr lang="zh-CN" altLang="en-US" sz="2400" dirty="0"/>
              <a:t>通常假定自变量是非随机变量。 </a:t>
            </a:r>
          </a:p>
        </p:txBody>
      </p:sp>
      <p:sp>
        <p:nvSpPr>
          <p:cNvPr id="73730" name="灯片编号占位符 5"/>
          <p:cNvSpPr>
            <a:spLocks noGrp="1"/>
          </p:cNvSpPr>
          <p:nvPr>
            <p:ph type="sldNum" sz="quarter" idx="4"/>
          </p:nvPr>
        </p:nvSpPr>
        <p:spPr>
          <a:noFill/>
        </p:spPr>
        <p:txBody>
          <a:bodyPr/>
          <a:lstStyle/>
          <a:p>
            <a:r>
              <a:rPr lang="en-US" altLang="zh-CN"/>
              <a:t>9--</a:t>
            </a:r>
            <a:fld id="{3FC2E048-A9C6-49AE-8922-4D4C075ED230}" type="slidenum">
              <a:rPr lang="en-US" altLang="zh-CN" smtClean="0"/>
              <a:pPr/>
              <a:t>15</a:t>
            </a:fld>
            <a:endParaRPr lang="en-US" altLang="zh-CN"/>
          </a:p>
        </p:txBody>
      </p:sp>
    </p:spTree>
    <p:extLst>
      <p:ext uri="{BB962C8B-B14F-4D97-AF65-F5344CB8AC3E}">
        <p14:creationId xmlns:p14="http://schemas.microsoft.com/office/powerpoint/2010/main" val="216386569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30755">
                                            <p:txEl>
                                              <p:pRg st="1" end="1"/>
                                            </p:txEl>
                                          </p:spTgt>
                                        </p:tgtEl>
                                        <p:attrNameLst>
                                          <p:attrName>style.visibility</p:attrName>
                                        </p:attrNameLst>
                                      </p:cBhvr>
                                      <p:to>
                                        <p:strVal val="visible"/>
                                      </p:to>
                                    </p:set>
                                    <p:animEffect transition="in" filter="wipe(left)">
                                      <p:cBhvr>
                                        <p:cTn id="7" dur="3000"/>
                                        <p:tgtEl>
                                          <p:spTgt spid="330755">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0755">
                                            <p:txEl>
                                              <p:pRg st="2" end="2"/>
                                            </p:txEl>
                                          </p:spTgt>
                                        </p:tgtEl>
                                        <p:attrNameLst>
                                          <p:attrName>style.visibility</p:attrName>
                                        </p:attrNameLst>
                                      </p:cBhvr>
                                      <p:to>
                                        <p:strVal val="visible"/>
                                      </p:to>
                                    </p:set>
                                    <p:animEffect transition="in" filter="wipe(left)">
                                      <p:cBhvr>
                                        <p:cTn id="10" dur="3000"/>
                                        <p:tgtEl>
                                          <p:spTgt spid="3307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0755">
                                            <p:txEl>
                                              <p:pRg st="3" end="3"/>
                                            </p:txEl>
                                          </p:spTgt>
                                        </p:tgtEl>
                                        <p:attrNameLst>
                                          <p:attrName>style.visibility</p:attrName>
                                        </p:attrNameLst>
                                      </p:cBhvr>
                                      <p:to>
                                        <p:strVal val="visible"/>
                                      </p:to>
                                    </p:set>
                                    <p:animEffect transition="in" filter="wipe(left)">
                                      <p:cBhvr>
                                        <p:cTn id="15" dur="500"/>
                                        <p:tgtEl>
                                          <p:spTgt spid="330755">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30755">
                                            <p:txEl>
                                              <p:pRg st="4" end="4"/>
                                            </p:txEl>
                                          </p:spTgt>
                                        </p:tgtEl>
                                        <p:attrNameLst>
                                          <p:attrName>style.visibility</p:attrName>
                                        </p:attrNameLst>
                                      </p:cBhvr>
                                      <p:to>
                                        <p:strVal val="visible"/>
                                      </p:to>
                                    </p:set>
                                    <p:animEffect transition="in" filter="wipe(left)">
                                      <p:cBhvr>
                                        <p:cTn id="18" dur="500"/>
                                        <p:tgtEl>
                                          <p:spTgt spid="33075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30755">
                                            <p:txEl>
                                              <p:pRg st="5" end="5"/>
                                            </p:txEl>
                                          </p:spTgt>
                                        </p:tgtEl>
                                        <p:attrNameLst>
                                          <p:attrName>style.visibility</p:attrName>
                                        </p:attrNameLst>
                                      </p:cBhvr>
                                      <p:to>
                                        <p:strVal val="visible"/>
                                      </p:to>
                                    </p:set>
                                    <p:animEffect transition="in" filter="wipe(left)">
                                      <p:cBhvr>
                                        <p:cTn id="21" dur="500"/>
                                        <p:tgtEl>
                                          <p:spTgt spid="3307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ctrTitle"/>
          </p:nvPr>
        </p:nvSpPr>
        <p:spPr>
          <a:noFill/>
        </p:spPr>
        <p:txBody>
          <a:bodyPr vert="horz" lIns="90488" tIns="44450" rIns="90488" bIns="44450" rtlCol="0" anchor="ctr" anchorCtr="0">
            <a:normAutofit/>
          </a:bodyPr>
          <a:lstStyle/>
          <a:p>
            <a:pPr eaLnBrk="1" hangingPunct="1"/>
            <a:r>
              <a:rPr lang="en-US" altLang="zh-CN" sz="5400" dirty="0"/>
              <a:t>9.2 </a:t>
            </a:r>
            <a:r>
              <a:rPr lang="zh-CN" altLang="en-US" sz="4800" dirty="0"/>
              <a:t>一元线性相关分析</a:t>
            </a:r>
            <a:br>
              <a:rPr lang="zh-CN" altLang="en-US" b="0" dirty="0"/>
            </a:br>
            <a:endParaRPr lang="zh-CN" altLang="en-US" b="0" dirty="0"/>
          </a:p>
        </p:txBody>
      </p:sp>
      <p:sp>
        <p:nvSpPr>
          <p:cNvPr id="74754" name="Rectangle 33"/>
          <p:cNvSpPr>
            <a:spLocks noGrp="1" noChangeArrowheads="1"/>
          </p:cNvSpPr>
          <p:nvPr>
            <p:ph type="sldNum" sz="quarter" idx="4294967295"/>
          </p:nvPr>
        </p:nvSpPr>
        <p:spPr>
          <a:noFill/>
        </p:spPr>
        <p:txBody>
          <a:bodyPr/>
          <a:lstStyle/>
          <a:p>
            <a:r>
              <a:rPr lang="en-US" altLang="zh-CN"/>
              <a:t>9-</a:t>
            </a:r>
            <a:fld id="{C0D91D68-3BEC-452F-AC2F-53B2F2CED9B3}" type="slidenum">
              <a:rPr lang="en-US" altLang="zh-CN" smtClean="0"/>
              <a:pPr/>
              <a:t>16</a:t>
            </a:fld>
            <a:endParaRPr lang="en-US" altLang="zh-CN"/>
          </a:p>
        </p:txBody>
      </p:sp>
      <p:sp>
        <p:nvSpPr>
          <p:cNvPr id="74756" name="Rectangle 3"/>
          <p:cNvSpPr>
            <a:spLocks noChangeArrowheads="1"/>
          </p:cNvSpPr>
          <p:nvPr/>
        </p:nvSpPr>
        <p:spPr bwMode="auto">
          <a:xfrm>
            <a:off x="3228975" y="2106932"/>
            <a:ext cx="7802136" cy="3036409"/>
          </a:xfrm>
          <a:prstGeom prst="rect">
            <a:avLst/>
          </a:prstGeom>
          <a:noFill/>
          <a:ln w="12700">
            <a:noFill/>
            <a:miter lim="800000"/>
            <a:headEnd/>
            <a:tailEnd/>
          </a:ln>
        </p:spPr>
        <p:txBody>
          <a:bodyPr wrap="none">
            <a:spAutoFit/>
          </a:bodyPr>
          <a:lstStyle/>
          <a:p>
            <a:pPr eaLnBrk="0" hangingPunct="0">
              <a:lnSpc>
                <a:spcPct val="150000"/>
              </a:lnSpc>
            </a:pPr>
            <a:r>
              <a:rPr kumimoji="1" lang="en-US" altLang="zh-CN" sz="4400" b="1" dirty="0">
                <a:solidFill>
                  <a:srgbClr val="0070C0"/>
                </a:solidFill>
                <a:latin typeface="Book Antiqua" pitchFamily="18" charset="0"/>
              </a:rPr>
              <a:t>9.2.1  </a:t>
            </a:r>
            <a:r>
              <a:rPr kumimoji="1" lang="zh-CN" altLang="en-US" sz="4400" b="1" dirty="0">
                <a:solidFill>
                  <a:srgbClr val="0070C0"/>
                </a:solidFill>
                <a:latin typeface="Book Antiqua" pitchFamily="18" charset="0"/>
              </a:rPr>
              <a:t>简单线性相关系数</a:t>
            </a:r>
          </a:p>
          <a:p>
            <a:pPr eaLnBrk="0" hangingPunct="0">
              <a:lnSpc>
                <a:spcPct val="150000"/>
              </a:lnSpc>
            </a:pPr>
            <a:r>
              <a:rPr kumimoji="1" lang="en-US" altLang="zh-CN" sz="4400" b="1" dirty="0">
                <a:solidFill>
                  <a:srgbClr val="0070C0"/>
                </a:solidFill>
                <a:latin typeface="Book Antiqua" pitchFamily="18" charset="0"/>
              </a:rPr>
              <a:t>9.2.2  </a:t>
            </a:r>
            <a:r>
              <a:rPr kumimoji="1" lang="zh-CN" altLang="en-US" sz="4400" b="1" dirty="0">
                <a:solidFill>
                  <a:srgbClr val="0070C0"/>
                </a:solidFill>
                <a:latin typeface="Book Antiqua" pitchFamily="18" charset="0"/>
              </a:rPr>
              <a:t>简单线性相关系数的检验</a:t>
            </a:r>
          </a:p>
          <a:p>
            <a:pPr eaLnBrk="0" hangingPunct="0">
              <a:lnSpc>
                <a:spcPct val="150000"/>
              </a:lnSpc>
            </a:pPr>
            <a:r>
              <a:rPr kumimoji="1" lang="en-US" altLang="zh-CN" sz="4400" b="1" dirty="0">
                <a:solidFill>
                  <a:srgbClr val="0070C0"/>
                </a:solidFill>
                <a:latin typeface="Book Antiqua" pitchFamily="18" charset="0"/>
              </a:rPr>
              <a:t>9.2.3  </a:t>
            </a:r>
            <a:r>
              <a:rPr kumimoji="1" lang="zh-CN" altLang="en-US" sz="4400" b="1" dirty="0">
                <a:solidFill>
                  <a:srgbClr val="0070C0"/>
                </a:solidFill>
                <a:latin typeface="Book Antiqua" pitchFamily="18" charset="0"/>
              </a:rPr>
              <a:t>等级相关系数</a:t>
            </a:r>
          </a:p>
        </p:txBody>
      </p:sp>
    </p:spTree>
    <p:extLst>
      <p:ext uri="{BB962C8B-B14F-4D97-AF65-F5344CB8AC3E}">
        <p14:creationId xmlns:p14="http://schemas.microsoft.com/office/powerpoint/2010/main" val="3418643920"/>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81" name="日期占位符 4"/>
          <p:cNvSpPr>
            <a:spLocks noGrp="1"/>
          </p:cNvSpPr>
          <p:nvPr>
            <p:ph type="dt" sz="half" idx="10"/>
          </p:nvPr>
        </p:nvSpPr>
        <p:spPr>
          <a:noFill/>
        </p:spPr>
        <p:txBody>
          <a:bodyPr/>
          <a:lstStyle/>
          <a:p>
            <a:endParaRPr lang="en-US" altLang="zh-CN"/>
          </a:p>
        </p:txBody>
      </p:sp>
      <p:sp>
        <p:nvSpPr>
          <p:cNvPr id="75779" name="Rectangle 2"/>
          <p:cNvSpPr>
            <a:spLocks noGrp="1" noChangeArrowheads="1"/>
          </p:cNvSpPr>
          <p:nvPr>
            <p:ph type="title"/>
          </p:nvPr>
        </p:nvSpPr>
        <p:spPr>
          <a:xfrm>
            <a:off x="974091" y="222566"/>
            <a:ext cx="6988809" cy="662782"/>
          </a:xfrm>
          <a:noFill/>
        </p:spPr>
        <p:txBody>
          <a:bodyPr vert="horz" lIns="90488" tIns="44450" rIns="90488" bIns="44450" rtlCol="0" anchor="ctr" anchorCtr="1">
            <a:normAutofit/>
          </a:bodyPr>
          <a:lstStyle/>
          <a:p>
            <a:pPr eaLnBrk="1" hangingPunct="1"/>
            <a:r>
              <a:rPr kumimoji="1" lang="en-US" altLang="zh-CN" sz="4000" dirty="0"/>
              <a:t>9.2.1  </a:t>
            </a:r>
            <a:r>
              <a:rPr kumimoji="1" lang="zh-CN" altLang="en-US" sz="4000" dirty="0"/>
              <a:t>简单线性相关系数</a:t>
            </a:r>
          </a:p>
        </p:txBody>
      </p:sp>
      <p:sp>
        <p:nvSpPr>
          <p:cNvPr id="26627" name="Rectangle 3"/>
          <p:cNvSpPr>
            <a:spLocks noGrp="1" noChangeArrowheads="1"/>
          </p:cNvSpPr>
          <p:nvPr>
            <p:ph idx="1"/>
          </p:nvPr>
        </p:nvSpPr>
        <p:spPr>
          <a:xfrm>
            <a:off x="990599" y="1257300"/>
            <a:ext cx="9448801" cy="4876561"/>
          </a:xfrm>
          <a:noFill/>
        </p:spPr>
        <p:txBody>
          <a:bodyPr vert="horz" lIns="90488" tIns="44450" rIns="90488" bIns="44450" rtlCol="0">
            <a:normAutofit/>
          </a:bodyPr>
          <a:lstStyle/>
          <a:p>
            <a:pPr marL="0" indent="0" algn="just">
              <a:buNone/>
            </a:pPr>
            <a:r>
              <a:rPr lang="zh-CN" altLang="en-US" b="1" dirty="0">
                <a:solidFill>
                  <a:srgbClr val="3333FF"/>
                </a:solidFill>
                <a:latin typeface="Times New Roman" pitchFamily="18" charset="0"/>
              </a:rPr>
              <a:t>相关系数</a:t>
            </a:r>
            <a:r>
              <a:rPr lang="en-US" altLang="zh-CN" dirty="0">
                <a:solidFill>
                  <a:srgbClr val="000000"/>
                </a:solidFill>
                <a:latin typeface="Arial" charset="0"/>
              </a:rPr>
              <a:t>——</a:t>
            </a:r>
            <a:r>
              <a:rPr lang="zh-CN" altLang="en-US" dirty="0">
                <a:solidFill>
                  <a:srgbClr val="000000"/>
                </a:solidFill>
                <a:latin typeface="Times New Roman" pitchFamily="18" charset="0"/>
              </a:rPr>
              <a:t>测度变量之间关系密切程度的指标；</a:t>
            </a:r>
          </a:p>
          <a:p>
            <a:pPr marL="0" indent="0" algn="just">
              <a:buNone/>
            </a:pPr>
            <a:r>
              <a:rPr lang="zh-CN" altLang="en-US" dirty="0">
                <a:solidFill>
                  <a:srgbClr val="000000"/>
                </a:solidFill>
                <a:latin typeface="Times New Roman" pitchFamily="18" charset="0"/>
              </a:rPr>
              <a:t>    对不同类型的相关关系</a:t>
            </a:r>
            <a:r>
              <a:rPr lang="en-US" altLang="zh-CN" dirty="0">
                <a:solidFill>
                  <a:srgbClr val="000000"/>
                </a:solidFill>
                <a:latin typeface="Times New Roman" pitchFamily="18" charset="0"/>
              </a:rPr>
              <a:t>, </a:t>
            </a:r>
            <a:r>
              <a:rPr lang="zh-CN" altLang="en-US" dirty="0">
                <a:solidFill>
                  <a:srgbClr val="000000"/>
                </a:solidFill>
                <a:latin typeface="Times New Roman" pitchFamily="18" charset="0"/>
              </a:rPr>
              <a:t>其相关系数的计算方法也不同，主要介绍：</a:t>
            </a:r>
          </a:p>
          <a:p>
            <a:pPr marL="990600" lvl="1" indent="-304800" algn="just">
              <a:spcBef>
                <a:spcPts val="1200"/>
              </a:spcBef>
            </a:pPr>
            <a:r>
              <a:rPr lang="zh-CN" altLang="en-US" b="1" dirty="0">
                <a:solidFill>
                  <a:srgbClr val="FF00FF"/>
                </a:solidFill>
                <a:latin typeface="Times New Roman" pitchFamily="18" charset="0"/>
              </a:rPr>
              <a:t>简单线性相关系数 </a:t>
            </a:r>
            <a:endParaRPr lang="zh-CN" altLang="en-US" b="1" i="1" dirty="0">
              <a:solidFill>
                <a:schemeClr val="tx2"/>
              </a:solidFill>
              <a:latin typeface="Times New Roman" pitchFamily="18" charset="0"/>
              <a:cs typeface="Times New Roman" pitchFamily="18" charset="0"/>
            </a:endParaRPr>
          </a:p>
          <a:p>
            <a:pPr marL="1346200" lvl="2" indent="-260350" algn="just">
              <a:spcBef>
                <a:spcPts val="1200"/>
              </a:spcBef>
            </a:pPr>
            <a:r>
              <a:rPr lang="zh-CN" altLang="en-US" sz="2800" b="1" dirty="0">
                <a:latin typeface="Times New Roman" pitchFamily="18" charset="0"/>
              </a:rPr>
              <a:t>对两个定量变量之间线性相关程度的度量</a:t>
            </a:r>
            <a:r>
              <a:rPr lang="zh-CN" altLang="en-US" sz="2800" dirty="0">
                <a:latin typeface="Times New Roman" pitchFamily="18" charset="0"/>
              </a:rPr>
              <a:t>。</a:t>
            </a:r>
          </a:p>
          <a:p>
            <a:pPr marL="1346200" lvl="2" indent="-260350" algn="just">
              <a:spcBef>
                <a:spcPts val="1200"/>
              </a:spcBef>
            </a:pPr>
            <a:r>
              <a:rPr lang="zh-CN" altLang="en-US" sz="2800" dirty="0">
                <a:latin typeface="Times New Roman" pitchFamily="18" charset="0"/>
              </a:rPr>
              <a:t>也称</a:t>
            </a:r>
            <a:r>
              <a:rPr lang="zh-CN" altLang="en-US" sz="2800" dirty="0">
                <a:solidFill>
                  <a:srgbClr val="FF0000"/>
                </a:solidFill>
                <a:latin typeface="Times New Roman" pitchFamily="18" charset="0"/>
              </a:rPr>
              <a:t>直线相关系数</a:t>
            </a:r>
            <a:r>
              <a:rPr lang="en-US" altLang="zh-CN" sz="2800" dirty="0">
                <a:latin typeface="Times New Roman" pitchFamily="18" charset="0"/>
              </a:rPr>
              <a:t>,  </a:t>
            </a:r>
            <a:r>
              <a:rPr lang="zh-CN" altLang="en-US" sz="2800" dirty="0">
                <a:solidFill>
                  <a:srgbClr val="FF0000"/>
                </a:solidFill>
                <a:latin typeface="Times New Roman" pitchFamily="18" charset="0"/>
              </a:rPr>
              <a:t>常简称相关系数。</a:t>
            </a:r>
          </a:p>
          <a:p>
            <a:pPr marL="990600" lvl="1" indent="-304800" algn="just">
              <a:spcBef>
                <a:spcPts val="1200"/>
              </a:spcBef>
            </a:pPr>
            <a:r>
              <a:rPr lang="zh-CN" altLang="en-US" b="1" dirty="0">
                <a:solidFill>
                  <a:srgbClr val="FF00FF"/>
                </a:solidFill>
                <a:latin typeface="Times New Roman" pitchFamily="18" charset="0"/>
              </a:rPr>
              <a:t>等级相关</a:t>
            </a:r>
            <a:r>
              <a:rPr lang="zh-CN" altLang="en-US" dirty="0">
                <a:solidFill>
                  <a:srgbClr val="FF00FF"/>
                </a:solidFill>
                <a:latin typeface="Times New Roman" pitchFamily="18" charset="0"/>
              </a:rPr>
              <a:t>（秩相关）</a:t>
            </a:r>
          </a:p>
          <a:p>
            <a:pPr marL="1085850" lvl="2" indent="0" algn="just">
              <a:spcBef>
                <a:spcPts val="1200"/>
              </a:spcBef>
              <a:buNone/>
            </a:pPr>
            <a:r>
              <a:rPr lang="zh-CN" altLang="en-US" sz="2800" b="1" dirty="0">
                <a:latin typeface="Times New Roman" pitchFamily="18" charset="0"/>
              </a:rPr>
              <a:t> 对两个定序变量之间线性相关程度的度量</a:t>
            </a:r>
            <a:r>
              <a:rPr lang="zh-CN" altLang="en-US" sz="2800" dirty="0">
                <a:latin typeface="Times New Roman" pitchFamily="18" charset="0"/>
              </a:rPr>
              <a:t>。</a:t>
            </a:r>
          </a:p>
        </p:txBody>
      </p:sp>
      <p:sp>
        <p:nvSpPr>
          <p:cNvPr id="75778" name="灯片编号占位符 5"/>
          <p:cNvSpPr>
            <a:spLocks noGrp="1"/>
          </p:cNvSpPr>
          <p:nvPr>
            <p:ph type="sldNum" sz="quarter" idx="4"/>
          </p:nvPr>
        </p:nvSpPr>
        <p:spPr>
          <a:noFill/>
        </p:spPr>
        <p:txBody>
          <a:bodyPr/>
          <a:lstStyle/>
          <a:p>
            <a:r>
              <a:rPr lang="en-US" altLang="zh-CN"/>
              <a:t>9--</a:t>
            </a:r>
            <a:fld id="{FD20FC2A-962A-4EF8-99BA-D883A5BDD974}" type="slidenum">
              <a:rPr lang="en-US" altLang="zh-CN" smtClean="0"/>
              <a:pPr/>
              <a:t>17</a:t>
            </a:fld>
            <a:endParaRPr lang="en-US" altLang="zh-CN"/>
          </a:p>
        </p:txBody>
      </p:sp>
    </p:spTree>
    <p:extLst>
      <p:ext uri="{BB962C8B-B14F-4D97-AF65-F5344CB8AC3E}">
        <p14:creationId xmlns:p14="http://schemas.microsoft.com/office/powerpoint/2010/main" val="262611962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7" dur="500"/>
                                        <p:tgtEl>
                                          <p:spTgt spid="26627">
                                            <p:txEl>
                                              <p:pRg st="2" end="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10" dur="500"/>
                                        <p:tgtEl>
                                          <p:spTgt spid="26627">
                                            <p:txEl>
                                              <p:pRg st="3" end="3"/>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13" dur="500"/>
                                        <p:tgtEl>
                                          <p:spTgt spid="26627">
                                            <p:txEl>
                                              <p:pRg st="4" end="4"/>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16" dur="500"/>
                                        <p:tgtEl>
                                          <p:spTgt spid="26627">
                                            <p:txEl>
                                              <p:pRg st="5" end="5"/>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19" dur="5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5" name="日期占位符 4"/>
          <p:cNvSpPr>
            <a:spLocks noGrp="1"/>
          </p:cNvSpPr>
          <p:nvPr>
            <p:ph type="dt" sz="half" idx="10"/>
          </p:nvPr>
        </p:nvSpPr>
        <p:spPr>
          <a:noFill/>
        </p:spPr>
        <p:txBody>
          <a:bodyPr/>
          <a:lstStyle/>
          <a:p>
            <a:endParaRPr lang="en-US" altLang="zh-CN"/>
          </a:p>
        </p:txBody>
      </p:sp>
      <p:sp>
        <p:nvSpPr>
          <p:cNvPr id="76803" name="Rectangle 2"/>
          <p:cNvSpPr>
            <a:spLocks noGrp="1" noChangeArrowheads="1"/>
          </p:cNvSpPr>
          <p:nvPr>
            <p:ph type="title"/>
          </p:nvPr>
        </p:nvSpPr>
        <p:spPr>
          <a:xfrm>
            <a:off x="1244600" y="546100"/>
            <a:ext cx="6235700" cy="796607"/>
          </a:xfrm>
          <a:noFill/>
        </p:spPr>
        <p:txBody>
          <a:bodyPr vert="horz" lIns="90488" tIns="44450" rIns="90488" bIns="44450" rtlCol="0" anchor="ctr" anchorCtr="1">
            <a:normAutofit/>
          </a:bodyPr>
          <a:lstStyle/>
          <a:p>
            <a:pPr eaLnBrk="1" hangingPunct="1"/>
            <a:r>
              <a:rPr lang="en-US" altLang="zh-CN" dirty="0"/>
              <a:t>【</a:t>
            </a:r>
            <a:r>
              <a:rPr lang="zh-CN" altLang="en-US" dirty="0"/>
              <a:t>附</a:t>
            </a:r>
            <a:r>
              <a:rPr lang="en-US" altLang="zh-CN" dirty="0"/>
              <a:t>】</a:t>
            </a:r>
            <a:r>
              <a:rPr lang="zh-CN" altLang="en-US" dirty="0"/>
              <a:t>其它相关系数</a:t>
            </a:r>
          </a:p>
        </p:txBody>
      </p:sp>
      <p:sp>
        <p:nvSpPr>
          <p:cNvPr id="206851" name="Rectangle 3"/>
          <p:cNvSpPr>
            <a:spLocks noGrp="1" noChangeArrowheads="1"/>
          </p:cNvSpPr>
          <p:nvPr>
            <p:ph idx="1"/>
          </p:nvPr>
        </p:nvSpPr>
        <p:spPr>
          <a:xfrm>
            <a:off x="1244600" y="1342707"/>
            <a:ext cx="9093201" cy="5460215"/>
          </a:xfrm>
          <a:noFill/>
        </p:spPr>
        <p:txBody>
          <a:bodyPr vert="horz" lIns="90488" tIns="44450" rIns="90488" bIns="44450" rtlCol="0">
            <a:normAutofit/>
          </a:bodyPr>
          <a:lstStyle/>
          <a:p>
            <a:pPr marL="1219200" lvl="1" indent="-533400" algn="just">
              <a:lnSpc>
                <a:spcPct val="105000"/>
              </a:lnSpc>
            </a:pPr>
            <a:r>
              <a:rPr lang="zh-CN" altLang="en-US" sz="3200" dirty="0">
                <a:solidFill>
                  <a:srgbClr val="7030A0"/>
                </a:solidFill>
                <a:latin typeface="Times New Roman" pitchFamily="18" charset="0"/>
              </a:rPr>
              <a:t>非线性相关系数</a:t>
            </a:r>
          </a:p>
          <a:p>
            <a:pPr marL="1219200" lvl="1" indent="-533400" algn="just">
              <a:lnSpc>
                <a:spcPct val="105000"/>
              </a:lnSpc>
            </a:pPr>
            <a:r>
              <a:rPr lang="zh-CN" altLang="en-US" sz="3200" dirty="0">
                <a:solidFill>
                  <a:srgbClr val="7030A0"/>
                </a:solidFill>
                <a:latin typeface="Times New Roman" pitchFamily="18" charset="0"/>
              </a:rPr>
              <a:t>复相关系数</a:t>
            </a:r>
          </a:p>
          <a:p>
            <a:pPr marL="1085850" lvl="2" indent="0" algn="just">
              <a:lnSpc>
                <a:spcPct val="105000"/>
              </a:lnSpc>
              <a:buNone/>
            </a:pPr>
            <a:r>
              <a:rPr lang="zh-CN" altLang="en-US" sz="2800" dirty="0">
                <a:latin typeface="Times New Roman" pitchFamily="18" charset="0"/>
              </a:rPr>
              <a:t>   一个变量与一组变量之间的线性相关程度</a:t>
            </a:r>
          </a:p>
          <a:p>
            <a:pPr marL="1219200" lvl="1" indent="-533400" algn="just">
              <a:lnSpc>
                <a:spcPct val="105000"/>
              </a:lnSpc>
            </a:pPr>
            <a:r>
              <a:rPr lang="zh-CN" altLang="en-US" sz="3200" dirty="0">
                <a:solidFill>
                  <a:srgbClr val="7030A0"/>
                </a:solidFill>
                <a:latin typeface="Times New Roman" pitchFamily="18" charset="0"/>
              </a:rPr>
              <a:t>偏相关系数</a:t>
            </a:r>
          </a:p>
          <a:p>
            <a:pPr marL="1085850" lvl="2" indent="0" algn="just">
              <a:lnSpc>
                <a:spcPct val="105000"/>
              </a:lnSpc>
              <a:buNone/>
            </a:pPr>
            <a:r>
              <a:rPr lang="zh-CN" altLang="en-US" sz="2800" dirty="0">
                <a:latin typeface="Times New Roman" pitchFamily="18" charset="0"/>
              </a:rPr>
              <a:t>   消除其它因素影响以后的两个变量之间的线性相关；例如：</a:t>
            </a:r>
            <a:r>
              <a:rPr lang="en-US" altLang="zh-CN" sz="4000" b="1" i="1" dirty="0" err="1">
                <a:latin typeface="Times New Roman" pitchFamily="18" charset="0"/>
              </a:rPr>
              <a:t>r</a:t>
            </a:r>
            <a:r>
              <a:rPr lang="en-US" altLang="zh-CN" sz="2000" b="1" i="1" baseline="-40000" dirty="0" err="1">
                <a:latin typeface="Times New Roman" pitchFamily="18" charset="0"/>
              </a:rPr>
              <a:t>YX</a:t>
            </a:r>
            <a:r>
              <a:rPr lang="en-US" altLang="zh-CN" b="1" i="1" baseline="-40000" dirty="0" err="1">
                <a:solidFill>
                  <a:srgbClr val="FF0000"/>
                </a:solidFill>
                <a:latin typeface="Times New Roman" pitchFamily="18" charset="0"/>
              </a:rPr>
              <a:t>.</a:t>
            </a:r>
            <a:r>
              <a:rPr lang="en-US" altLang="zh-CN" sz="2000" b="1" i="1" baseline="-40000" dirty="0" err="1">
                <a:solidFill>
                  <a:srgbClr val="FF0000"/>
                </a:solidFill>
                <a:latin typeface="Times New Roman" pitchFamily="18" charset="0"/>
              </a:rPr>
              <a:t>Z</a:t>
            </a:r>
            <a:endParaRPr lang="en-US" altLang="zh-CN" b="1" i="1" baseline="-40000" dirty="0">
              <a:solidFill>
                <a:srgbClr val="FF0000"/>
              </a:solidFill>
              <a:latin typeface="Times New Roman" pitchFamily="18" charset="0"/>
            </a:endParaRPr>
          </a:p>
          <a:p>
            <a:pPr marL="1219200" lvl="1" indent="-533400" algn="just">
              <a:lnSpc>
                <a:spcPct val="105000"/>
              </a:lnSpc>
            </a:pPr>
            <a:r>
              <a:rPr lang="zh-CN" altLang="en-US" sz="3200" dirty="0">
                <a:solidFill>
                  <a:srgbClr val="7030A0"/>
                </a:solidFill>
                <a:latin typeface="Times New Roman" pitchFamily="18" charset="0"/>
              </a:rPr>
              <a:t>典型相关系数</a:t>
            </a:r>
          </a:p>
          <a:p>
            <a:pPr marL="1085850" lvl="2" indent="0" algn="just">
              <a:lnSpc>
                <a:spcPct val="105000"/>
              </a:lnSpc>
              <a:buNone/>
            </a:pPr>
            <a:r>
              <a:rPr lang="zh-CN" altLang="en-US" sz="2800" dirty="0">
                <a:latin typeface="Times New Roman" pitchFamily="18" charset="0"/>
              </a:rPr>
              <a:t>  两组随机变量间的相关程度</a:t>
            </a:r>
          </a:p>
        </p:txBody>
      </p:sp>
      <p:sp>
        <p:nvSpPr>
          <p:cNvPr id="76802" name="灯片编号占位符 5"/>
          <p:cNvSpPr>
            <a:spLocks noGrp="1"/>
          </p:cNvSpPr>
          <p:nvPr>
            <p:ph type="sldNum" sz="quarter" idx="4"/>
          </p:nvPr>
        </p:nvSpPr>
        <p:spPr>
          <a:noFill/>
        </p:spPr>
        <p:txBody>
          <a:bodyPr/>
          <a:lstStyle/>
          <a:p>
            <a:r>
              <a:rPr lang="en-US" altLang="zh-CN" dirty="0"/>
              <a:t>9--</a:t>
            </a:r>
            <a:fld id="{77A61B4D-6C4F-415A-A93B-017BFB58FB8A}" type="slidenum">
              <a:rPr lang="en-US" altLang="zh-CN" smtClean="0"/>
              <a:pPr/>
              <a:t>18</a:t>
            </a:fld>
            <a:endParaRPr lang="en-US" altLang="zh-CN" dirty="0"/>
          </a:p>
        </p:txBody>
      </p:sp>
    </p:spTree>
    <p:extLst>
      <p:ext uri="{BB962C8B-B14F-4D97-AF65-F5344CB8AC3E}">
        <p14:creationId xmlns:p14="http://schemas.microsoft.com/office/powerpoint/2010/main" val="199910603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wipe(left)">
                                      <p:cBhvr>
                                        <p:cTn id="7" dur="500"/>
                                        <p:tgtEl>
                                          <p:spTgt spid="20685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6851">
                                            <p:txEl>
                                              <p:pRg st="1" end="1"/>
                                            </p:txEl>
                                          </p:spTgt>
                                        </p:tgtEl>
                                        <p:attrNameLst>
                                          <p:attrName>style.visibility</p:attrName>
                                        </p:attrNameLst>
                                      </p:cBhvr>
                                      <p:to>
                                        <p:strVal val="visible"/>
                                      </p:to>
                                    </p:set>
                                    <p:animEffect transition="in" filter="wipe(left)">
                                      <p:cBhvr>
                                        <p:cTn id="10" dur="500"/>
                                        <p:tgtEl>
                                          <p:spTgt spid="20685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06851">
                                            <p:txEl>
                                              <p:pRg st="2" end="2"/>
                                            </p:txEl>
                                          </p:spTgt>
                                        </p:tgtEl>
                                        <p:attrNameLst>
                                          <p:attrName>style.visibility</p:attrName>
                                        </p:attrNameLst>
                                      </p:cBhvr>
                                      <p:to>
                                        <p:strVal val="visible"/>
                                      </p:to>
                                    </p:set>
                                    <p:animEffect transition="in" filter="wipe(left)">
                                      <p:cBhvr>
                                        <p:cTn id="13" dur="500"/>
                                        <p:tgtEl>
                                          <p:spTgt spid="206851">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06851">
                                            <p:txEl>
                                              <p:pRg st="3" end="3"/>
                                            </p:txEl>
                                          </p:spTgt>
                                        </p:tgtEl>
                                        <p:attrNameLst>
                                          <p:attrName>style.visibility</p:attrName>
                                        </p:attrNameLst>
                                      </p:cBhvr>
                                      <p:to>
                                        <p:strVal val="visible"/>
                                      </p:to>
                                    </p:set>
                                    <p:animEffect transition="in" filter="wipe(left)">
                                      <p:cBhvr>
                                        <p:cTn id="16" dur="500"/>
                                        <p:tgtEl>
                                          <p:spTgt spid="206851">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06851">
                                            <p:txEl>
                                              <p:pRg st="4" end="4"/>
                                            </p:txEl>
                                          </p:spTgt>
                                        </p:tgtEl>
                                        <p:attrNameLst>
                                          <p:attrName>style.visibility</p:attrName>
                                        </p:attrNameLst>
                                      </p:cBhvr>
                                      <p:to>
                                        <p:strVal val="visible"/>
                                      </p:to>
                                    </p:set>
                                    <p:animEffect transition="in" filter="wipe(left)">
                                      <p:cBhvr>
                                        <p:cTn id="19" dur="500"/>
                                        <p:tgtEl>
                                          <p:spTgt spid="206851">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06851">
                                            <p:txEl>
                                              <p:pRg st="5" end="5"/>
                                            </p:txEl>
                                          </p:spTgt>
                                        </p:tgtEl>
                                        <p:attrNameLst>
                                          <p:attrName>style.visibility</p:attrName>
                                        </p:attrNameLst>
                                      </p:cBhvr>
                                      <p:to>
                                        <p:strVal val="visible"/>
                                      </p:to>
                                    </p:set>
                                    <p:animEffect transition="in" filter="wipe(left)">
                                      <p:cBhvr>
                                        <p:cTn id="22" dur="500"/>
                                        <p:tgtEl>
                                          <p:spTgt spid="206851">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06851">
                                            <p:txEl>
                                              <p:pRg st="6" end="6"/>
                                            </p:txEl>
                                          </p:spTgt>
                                        </p:tgtEl>
                                        <p:attrNameLst>
                                          <p:attrName>style.visibility</p:attrName>
                                        </p:attrNameLst>
                                      </p:cBhvr>
                                      <p:to>
                                        <p:strVal val="visible"/>
                                      </p:to>
                                    </p:set>
                                    <p:animEffect transition="in" filter="wipe(left)">
                                      <p:cBhvr>
                                        <p:cTn id="25" dur="500"/>
                                        <p:tgtEl>
                                          <p:spTgt spid="206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1" name="日期占位符 6"/>
          <p:cNvSpPr>
            <a:spLocks noGrp="1"/>
          </p:cNvSpPr>
          <p:nvPr>
            <p:ph type="dt" sz="half" idx="10"/>
          </p:nvPr>
        </p:nvSpPr>
        <p:spPr>
          <a:noFill/>
        </p:spPr>
        <p:txBody>
          <a:bodyPr/>
          <a:lstStyle/>
          <a:p>
            <a:endParaRPr lang="en-US" altLang="zh-CN"/>
          </a:p>
        </p:txBody>
      </p:sp>
      <p:sp>
        <p:nvSpPr>
          <p:cNvPr id="1028" name="Rectangle 2"/>
          <p:cNvSpPr>
            <a:spLocks noGrp="1" noChangeArrowheads="1"/>
          </p:cNvSpPr>
          <p:nvPr>
            <p:ph type="title"/>
          </p:nvPr>
        </p:nvSpPr>
        <p:spPr>
          <a:xfrm>
            <a:off x="1244600" y="696436"/>
            <a:ext cx="10172700" cy="662782"/>
          </a:xfrm>
          <a:noFill/>
        </p:spPr>
        <p:txBody>
          <a:bodyPr vert="horz" lIns="90488" tIns="44450" rIns="90488" bIns="44450" rtlCol="0" anchor="ctr" anchorCtr="1">
            <a:normAutofit/>
          </a:bodyPr>
          <a:lstStyle/>
          <a:p>
            <a:pPr eaLnBrk="1" hangingPunct="1"/>
            <a:r>
              <a:rPr lang="zh-CN" altLang="en-US" sz="4000" dirty="0"/>
              <a:t>相关系数</a:t>
            </a:r>
            <a:r>
              <a:rPr lang="zh-CN" altLang="en-US" sz="3200" dirty="0"/>
              <a:t>（</a:t>
            </a:r>
            <a:r>
              <a:rPr lang="en-US" altLang="zh-CN" sz="3200" dirty="0"/>
              <a:t>Pearson</a:t>
            </a:r>
            <a:r>
              <a:rPr lang="en-US" altLang="zh-CN" sz="3200" dirty="0">
                <a:latin typeface="Arial" charset="0"/>
              </a:rPr>
              <a:t>’</a:t>
            </a:r>
            <a:r>
              <a:rPr lang="en-US" altLang="zh-CN" sz="3200" dirty="0"/>
              <a:t>s correlation coefficient</a:t>
            </a:r>
            <a:r>
              <a:rPr lang="zh-CN" altLang="en-US" sz="3200" dirty="0"/>
              <a:t>）</a:t>
            </a:r>
            <a:r>
              <a:rPr lang="zh-CN" altLang="en-US" dirty="0"/>
              <a:t> </a:t>
            </a:r>
            <a:endParaRPr lang="zh-CN" altLang="en-US" sz="4000" dirty="0"/>
          </a:p>
        </p:txBody>
      </p:sp>
      <p:sp>
        <p:nvSpPr>
          <p:cNvPr id="1029" name="Rectangle 3"/>
          <p:cNvSpPr>
            <a:spLocks noGrp="1" noChangeArrowheads="1"/>
          </p:cNvSpPr>
          <p:nvPr>
            <p:ph idx="1"/>
          </p:nvPr>
        </p:nvSpPr>
        <p:spPr>
          <a:xfrm>
            <a:off x="1841500" y="1421328"/>
            <a:ext cx="9753600" cy="4597161"/>
          </a:xfrm>
          <a:noFill/>
        </p:spPr>
        <p:txBody>
          <a:bodyPr vert="horz" lIns="90488" tIns="44450" rIns="90488" bIns="44450" rtlCol="0">
            <a:normAutofit/>
          </a:bodyPr>
          <a:lstStyle/>
          <a:p>
            <a:pPr marL="609600" indent="-609600" algn="just">
              <a:lnSpc>
                <a:spcPct val="110000"/>
              </a:lnSpc>
              <a:buNone/>
            </a:pPr>
            <a:r>
              <a:rPr lang="zh-CN" altLang="en-US" sz="3400" dirty="0">
                <a:solidFill>
                  <a:srgbClr val="CC0099"/>
                </a:solidFill>
                <a:latin typeface="Times New Roman" pitchFamily="18" charset="0"/>
              </a:rPr>
              <a:t>有总体相关系数与样本相关系数之分：</a:t>
            </a:r>
          </a:p>
          <a:p>
            <a:pPr marL="444500" lvl="1" indent="0" algn="just">
              <a:lnSpc>
                <a:spcPct val="110000"/>
              </a:lnSpc>
              <a:buNone/>
            </a:pPr>
            <a:r>
              <a:rPr lang="zh-CN" altLang="en-US" sz="3600" b="1" dirty="0">
                <a:solidFill>
                  <a:srgbClr val="3333FF"/>
                </a:solidFill>
                <a:latin typeface="Times New Roman" pitchFamily="18" charset="0"/>
              </a:rPr>
              <a:t>总体相关系数  </a:t>
            </a:r>
            <a:r>
              <a:rPr lang="en-US" altLang="zh-CN" sz="3600" b="1" i="1" dirty="0">
                <a:solidFill>
                  <a:srgbClr val="3333FF"/>
                </a:solidFill>
                <a:latin typeface="Times New Roman" pitchFamily="18" charset="0"/>
              </a:rPr>
              <a:t>ρ</a:t>
            </a:r>
          </a:p>
          <a:p>
            <a:pPr marL="1346200" lvl="2" indent="-177800" algn="just">
              <a:lnSpc>
                <a:spcPct val="110000"/>
              </a:lnSpc>
              <a:buNone/>
            </a:pPr>
            <a:r>
              <a:rPr lang="en-US" altLang="zh-CN" sz="2800" i="1" dirty="0">
                <a:solidFill>
                  <a:srgbClr val="000000"/>
                </a:solidFill>
                <a:latin typeface="Arial" charset="0"/>
              </a:rPr>
              <a:t>——</a:t>
            </a:r>
            <a:r>
              <a:rPr lang="zh-CN" altLang="en-US" sz="2800" dirty="0">
                <a:solidFill>
                  <a:srgbClr val="000000"/>
                </a:solidFill>
                <a:latin typeface="Times New Roman" pitchFamily="18" charset="0"/>
              </a:rPr>
              <a:t>根据总体数据计算的</a:t>
            </a:r>
            <a:endParaRPr lang="zh-CN" altLang="en-US" sz="2800" i="1" dirty="0">
              <a:solidFill>
                <a:srgbClr val="000000"/>
              </a:solidFill>
              <a:latin typeface="Times New Roman" pitchFamily="18" charset="0"/>
            </a:endParaRPr>
          </a:p>
        </p:txBody>
      </p:sp>
      <p:sp>
        <p:nvSpPr>
          <p:cNvPr id="1027" name="灯片编号占位符 5"/>
          <p:cNvSpPr>
            <a:spLocks noGrp="1"/>
          </p:cNvSpPr>
          <p:nvPr>
            <p:ph type="sldNum" sz="quarter" idx="4"/>
          </p:nvPr>
        </p:nvSpPr>
        <p:spPr>
          <a:noFill/>
        </p:spPr>
        <p:txBody>
          <a:bodyPr/>
          <a:lstStyle/>
          <a:p>
            <a:r>
              <a:rPr lang="en-US" altLang="zh-CN"/>
              <a:t>9--</a:t>
            </a:r>
            <a:fld id="{327C3F6A-3130-435C-87BC-6ECE5517D182}" type="slidenum">
              <a:rPr lang="en-US" altLang="zh-CN" smtClean="0"/>
              <a:pPr/>
              <a:t>19</a:t>
            </a:fld>
            <a:endParaRPr lang="en-US" altLang="zh-CN"/>
          </a:p>
        </p:txBody>
      </p:sp>
      <p:graphicFrame>
        <p:nvGraphicFramePr>
          <p:cNvPr id="1026" name="Object 6"/>
          <p:cNvGraphicFramePr>
            <a:graphicFrameLocks noChangeAspect="1"/>
          </p:cNvGraphicFramePr>
          <p:nvPr>
            <p:extLst>
              <p:ext uri="{D42A27DB-BD31-4B8C-83A1-F6EECF244321}">
                <p14:modId xmlns:p14="http://schemas.microsoft.com/office/powerpoint/2010/main" val="1311422501"/>
              </p:ext>
            </p:extLst>
          </p:nvPr>
        </p:nvGraphicFramePr>
        <p:xfrm>
          <a:off x="2616200" y="3835280"/>
          <a:ext cx="5313363" cy="1547812"/>
        </p:xfrm>
        <a:graphic>
          <a:graphicData uri="http://schemas.openxmlformats.org/presentationml/2006/ole">
            <mc:AlternateContent xmlns:mc="http://schemas.openxmlformats.org/markup-compatibility/2006">
              <mc:Choice xmlns:v="urn:schemas-microsoft-com:vml" Requires="v">
                <p:oleObj name="Equation" r:id="rId3" imgW="1688760" imgH="431640" progId="Equation.DSMT4">
                  <p:embed/>
                </p:oleObj>
              </mc:Choice>
              <mc:Fallback>
                <p:oleObj name="Equation" r:id="rId3" imgW="1688760" imgH="431640" progId="Equation.DSMT4">
                  <p:embed/>
                  <p:pic>
                    <p:nvPicPr>
                      <p:cNvPr id="10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0" y="3835280"/>
                        <a:ext cx="5313363" cy="1547812"/>
                      </a:xfrm>
                      <a:prstGeom prst="rect">
                        <a:avLst/>
                      </a:prstGeom>
                      <a:noFill/>
                      <a:ln>
                        <a:noFill/>
                      </a:ln>
                    </p:spPr>
                  </p:pic>
                </p:oleObj>
              </mc:Fallback>
            </mc:AlternateContent>
          </a:graphicData>
        </a:graphic>
      </p:graphicFrame>
      <p:sp>
        <p:nvSpPr>
          <p:cNvPr id="1030" name="Text Box 8"/>
          <p:cNvSpPr txBox="1">
            <a:spLocks noChangeArrowheads="1"/>
          </p:cNvSpPr>
          <p:nvPr/>
        </p:nvSpPr>
        <p:spPr bwMode="auto">
          <a:xfrm>
            <a:off x="9478169" y="4490124"/>
            <a:ext cx="1223962" cy="369332"/>
          </a:xfrm>
          <a:prstGeom prst="rect">
            <a:avLst/>
          </a:prstGeom>
          <a:noFill/>
          <a:ln w="9525">
            <a:noFill/>
            <a:miter lim="800000"/>
            <a:headEnd/>
            <a:tailEnd/>
          </a:ln>
        </p:spPr>
        <p:txBody>
          <a:bodyPr>
            <a:spAutoFit/>
          </a:bodyPr>
          <a:lstStyle/>
          <a:p>
            <a:pPr>
              <a:spcBef>
                <a:spcPct val="50000"/>
              </a:spcBef>
            </a:pPr>
            <a:r>
              <a:rPr lang="zh-CN" altLang="en-US" dirty="0"/>
              <a:t>（</a:t>
            </a:r>
            <a:r>
              <a:rPr lang="en-US" altLang="zh-CN" dirty="0"/>
              <a:t>9.1</a:t>
            </a:r>
            <a:r>
              <a:rPr lang="zh-CN" altLang="en-US" dirty="0"/>
              <a:t>）</a:t>
            </a:r>
          </a:p>
        </p:txBody>
      </p:sp>
    </p:spTree>
    <p:extLst>
      <p:ext uri="{BB962C8B-B14F-4D97-AF65-F5344CB8AC3E}">
        <p14:creationId xmlns:p14="http://schemas.microsoft.com/office/powerpoint/2010/main" val="3728938105"/>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日期占位符 8"/>
          <p:cNvSpPr>
            <a:spLocks noGrp="1"/>
          </p:cNvSpPr>
          <p:nvPr>
            <p:ph type="dt" sz="half" idx="10"/>
          </p:nvPr>
        </p:nvSpPr>
        <p:spPr>
          <a:noFill/>
        </p:spPr>
        <p:txBody>
          <a:bodyPr/>
          <a:lstStyle/>
          <a:p>
            <a:endParaRPr lang="en-US" altLang="zh-CN"/>
          </a:p>
        </p:txBody>
      </p:sp>
      <p:sp>
        <p:nvSpPr>
          <p:cNvPr id="2053" name="Rectangle 2"/>
          <p:cNvSpPr>
            <a:spLocks noGrp="1" noChangeArrowheads="1"/>
          </p:cNvSpPr>
          <p:nvPr>
            <p:ph type="title"/>
          </p:nvPr>
        </p:nvSpPr>
        <p:spPr>
          <a:xfrm>
            <a:off x="1030288" y="584200"/>
            <a:ext cx="5029200" cy="914400"/>
          </a:xfrm>
          <a:noFill/>
        </p:spPr>
        <p:txBody>
          <a:bodyPr vert="horz" lIns="90488" tIns="44450" rIns="90488" bIns="44450" rtlCol="0" anchor="ctr" anchorCtr="1">
            <a:normAutofit/>
          </a:bodyPr>
          <a:lstStyle/>
          <a:p>
            <a:pPr eaLnBrk="1" hangingPunct="1"/>
            <a:r>
              <a:rPr lang="zh-CN" altLang="en-US" dirty="0"/>
              <a:t>样本相关系数 </a:t>
            </a:r>
            <a:r>
              <a:rPr lang="en-US" altLang="zh-CN" sz="4400" i="1" dirty="0">
                <a:solidFill>
                  <a:srgbClr val="00B0F0"/>
                </a:solidFill>
                <a:latin typeface="Times New Roman" pitchFamily="18" charset="0"/>
              </a:rPr>
              <a:t>r</a:t>
            </a:r>
            <a:endParaRPr lang="en-US" altLang="zh-CN" sz="4400" dirty="0">
              <a:solidFill>
                <a:srgbClr val="00B0F0"/>
              </a:solidFill>
            </a:endParaRPr>
          </a:p>
        </p:txBody>
      </p:sp>
      <p:sp>
        <p:nvSpPr>
          <p:cNvPr id="2052" name="灯片编号占位符 5"/>
          <p:cNvSpPr>
            <a:spLocks noGrp="1"/>
          </p:cNvSpPr>
          <p:nvPr>
            <p:ph type="sldNum" sz="quarter" idx="4"/>
          </p:nvPr>
        </p:nvSpPr>
        <p:spPr>
          <a:noFill/>
        </p:spPr>
        <p:txBody>
          <a:bodyPr/>
          <a:lstStyle/>
          <a:p>
            <a:r>
              <a:rPr lang="en-US" altLang="zh-CN"/>
              <a:t>9--</a:t>
            </a:r>
            <a:fld id="{AF18521A-7480-426D-9B78-AD24870AB248}" type="slidenum">
              <a:rPr lang="en-US" altLang="zh-CN" smtClean="0"/>
              <a:pPr/>
              <a:t>20</a:t>
            </a:fld>
            <a:endParaRPr lang="en-US" altLang="zh-CN"/>
          </a:p>
        </p:txBody>
      </p:sp>
      <p:graphicFrame>
        <p:nvGraphicFramePr>
          <p:cNvPr id="2050" name="Object 3">
            <a:hlinkClick r:id="" action="ppaction://ole?verb=0"/>
          </p:cNvPr>
          <p:cNvGraphicFramePr>
            <a:graphicFrameLocks/>
          </p:cNvGraphicFramePr>
          <p:nvPr>
            <p:extLst>
              <p:ext uri="{D42A27DB-BD31-4B8C-83A1-F6EECF244321}">
                <p14:modId xmlns:p14="http://schemas.microsoft.com/office/powerpoint/2010/main" val="180645693"/>
              </p:ext>
            </p:extLst>
          </p:nvPr>
        </p:nvGraphicFramePr>
        <p:xfrm>
          <a:off x="2524126" y="1862928"/>
          <a:ext cx="6580188" cy="1560513"/>
        </p:xfrm>
        <a:graphic>
          <a:graphicData uri="http://schemas.openxmlformats.org/presentationml/2006/ole">
            <mc:AlternateContent xmlns:mc="http://schemas.openxmlformats.org/markup-compatibility/2006">
              <mc:Choice xmlns:v="urn:schemas-microsoft-com:vml" Requires="v">
                <p:oleObj name="Equation" r:id="rId3" imgW="2463480" imgH="545760" progId="Equation.3">
                  <p:embed/>
                </p:oleObj>
              </mc:Choice>
              <mc:Fallback>
                <p:oleObj name="Equation" r:id="rId3" imgW="2463480" imgH="545760" progId="Equation.3">
                  <p:embed/>
                  <p:pic>
                    <p:nvPicPr>
                      <p:cNvPr id="2050"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26" y="1862928"/>
                        <a:ext cx="6580188" cy="156051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054" name="Text Box 4"/>
          <p:cNvSpPr txBox="1">
            <a:spLocks noChangeArrowheads="1"/>
          </p:cNvSpPr>
          <p:nvPr/>
        </p:nvSpPr>
        <p:spPr bwMode="auto">
          <a:xfrm>
            <a:off x="1749426" y="3636962"/>
            <a:ext cx="2373313" cy="549275"/>
          </a:xfrm>
          <a:prstGeom prst="rect">
            <a:avLst/>
          </a:prstGeom>
          <a:noFill/>
          <a:ln w="12700">
            <a:noFill/>
            <a:miter lim="800000"/>
            <a:headEnd/>
            <a:tailEnd/>
          </a:ln>
        </p:spPr>
        <p:txBody>
          <a:bodyPr>
            <a:spAutoFit/>
          </a:bodyPr>
          <a:lstStyle/>
          <a:p>
            <a:pPr algn="ctr" eaLnBrk="0" hangingPunct="0">
              <a:spcBef>
                <a:spcPct val="50000"/>
              </a:spcBef>
            </a:pPr>
            <a:r>
              <a:rPr kumimoji="1" lang="zh-CN" altLang="en-US" sz="3000" b="1" dirty="0"/>
              <a:t>或化简为：</a:t>
            </a:r>
          </a:p>
        </p:txBody>
      </p:sp>
      <p:graphicFrame>
        <p:nvGraphicFramePr>
          <p:cNvPr id="28677" name="Object 5">
            <a:hlinkClick r:id="" action="ppaction://ole?verb=0"/>
          </p:cNvPr>
          <p:cNvGraphicFramePr>
            <a:graphicFrameLocks/>
          </p:cNvGraphicFramePr>
          <p:nvPr>
            <p:extLst>
              <p:ext uri="{D42A27DB-BD31-4B8C-83A1-F6EECF244321}">
                <p14:modId xmlns:p14="http://schemas.microsoft.com/office/powerpoint/2010/main" val="2093686968"/>
              </p:ext>
            </p:extLst>
          </p:nvPr>
        </p:nvGraphicFramePr>
        <p:xfrm>
          <a:off x="3386138" y="3814760"/>
          <a:ext cx="5575300" cy="1573212"/>
        </p:xfrm>
        <a:graphic>
          <a:graphicData uri="http://schemas.openxmlformats.org/presentationml/2006/ole">
            <mc:AlternateContent xmlns:mc="http://schemas.openxmlformats.org/markup-compatibility/2006">
              <mc:Choice xmlns:v="urn:schemas-microsoft-com:vml" Requires="v">
                <p:oleObj name="公式" r:id="rId5" imgW="2260440" imgH="495000" progId="Equation.3">
                  <p:embed/>
                </p:oleObj>
              </mc:Choice>
              <mc:Fallback>
                <p:oleObj name="公式" r:id="rId5" imgW="2260440" imgH="495000" progId="Equation.3">
                  <p:embed/>
                  <p:pic>
                    <p:nvPicPr>
                      <p:cNvPr id="28677" name="Object 5">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6138" y="3814760"/>
                        <a:ext cx="5575300" cy="15732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055" name="Rectangle 8"/>
          <p:cNvSpPr>
            <a:spLocks noChangeArrowheads="1"/>
          </p:cNvSpPr>
          <p:nvPr/>
        </p:nvSpPr>
        <p:spPr bwMode="auto">
          <a:xfrm>
            <a:off x="4030028" y="1254126"/>
            <a:ext cx="5148263" cy="519112"/>
          </a:xfrm>
          <a:prstGeom prst="rect">
            <a:avLst/>
          </a:prstGeom>
          <a:noFill/>
          <a:ln w="9525">
            <a:noFill/>
            <a:miter lim="800000"/>
            <a:headEnd/>
            <a:tailEnd/>
          </a:ln>
        </p:spPr>
        <p:txBody>
          <a:bodyPr>
            <a:spAutoFit/>
          </a:bodyPr>
          <a:lstStyle/>
          <a:p>
            <a:pPr lvl="1"/>
            <a:r>
              <a:rPr lang="en-US" altLang="zh-CN" sz="2800" i="1" dirty="0">
                <a:solidFill>
                  <a:srgbClr val="000000"/>
                </a:solidFill>
              </a:rPr>
              <a:t>——</a:t>
            </a:r>
            <a:r>
              <a:rPr lang="zh-CN" altLang="en-US" sz="2800" b="1" dirty="0">
                <a:solidFill>
                  <a:srgbClr val="000000"/>
                </a:solidFill>
              </a:rPr>
              <a:t>根据样本数据计算的。</a:t>
            </a:r>
          </a:p>
        </p:txBody>
      </p:sp>
      <p:sp>
        <p:nvSpPr>
          <p:cNvPr id="2056" name="Text Box 9"/>
          <p:cNvSpPr txBox="1">
            <a:spLocks noChangeArrowheads="1"/>
          </p:cNvSpPr>
          <p:nvPr/>
        </p:nvSpPr>
        <p:spPr bwMode="auto">
          <a:xfrm>
            <a:off x="4675188" y="5565770"/>
            <a:ext cx="4608512" cy="549275"/>
          </a:xfrm>
          <a:prstGeom prst="rect">
            <a:avLst/>
          </a:prstGeom>
          <a:noFill/>
          <a:ln w="12700">
            <a:noFill/>
            <a:miter lim="800000"/>
            <a:headEnd/>
            <a:tailEnd/>
          </a:ln>
        </p:spPr>
        <p:txBody>
          <a:bodyPr>
            <a:spAutoFit/>
          </a:bodyPr>
          <a:lstStyle/>
          <a:p>
            <a:pPr algn="ctr" eaLnBrk="0" hangingPunct="0">
              <a:spcBef>
                <a:spcPct val="50000"/>
              </a:spcBef>
            </a:pPr>
            <a:r>
              <a:rPr kumimoji="1" lang="en-US" altLang="zh-CN" sz="3000" b="1" i="1" dirty="0">
                <a:solidFill>
                  <a:srgbClr val="6666FF"/>
                </a:solidFill>
                <a:latin typeface="Times New Roman" pitchFamily="18" charset="0"/>
              </a:rPr>
              <a:t>r</a:t>
            </a:r>
            <a:r>
              <a:rPr kumimoji="1" lang="en-US" altLang="zh-CN" sz="3000" b="1" dirty="0">
                <a:solidFill>
                  <a:srgbClr val="6666FF"/>
                </a:solidFill>
              </a:rPr>
              <a:t>—</a:t>
            </a:r>
            <a:r>
              <a:rPr kumimoji="1" lang="en-US" altLang="zh-CN" sz="3000" b="1" dirty="0">
                <a:solidFill>
                  <a:srgbClr val="6666FF"/>
                </a:solidFill>
                <a:latin typeface="Times New Roman" pitchFamily="18" charset="0"/>
              </a:rPr>
              <a:t>Pearson</a:t>
            </a:r>
            <a:r>
              <a:rPr kumimoji="1" lang="zh-CN" altLang="en-US" sz="3000" b="1" dirty="0">
                <a:solidFill>
                  <a:srgbClr val="6666FF"/>
                </a:solidFill>
              </a:rPr>
              <a:t>积矩相关系数</a:t>
            </a:r>
          </a:p>
        </p:txBody>
      </p:sp>
    </p:spTree>
    <p:extLst>
      <p:ext uri="{BB962C8B-B14F-4D97-AF65-F5344CB8AC3E}">
        <p14:creationId xmlns:p14="http://schemas.microsoft.com/office/powerpoint/2010/main" val="695956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0-#ppt_w/2"/>
                                          </p:val>
                                        </p:tav>
                                        <p:tav tm="100000">
                                          <p:val>
                                            <p:strVal val="#ppt_x"/>
                                          </p:val>
                                        </p:tav>
                                      </p:tavLst>
                                    </p:anim>
                                    <p:anim calcmode="lin" valueType="num">
                                      <p:cBhvr additive="base">
                                        <p:cTn id="8" dur="500" fill="hold"/>
                                        <p:tgtEl>
                                          <p:spTgt spid="286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9" name="日期占位符 4"/>
          <p:cNvSpPr>
            <a:spLocks noGrp="1"/>
          </p:cNvSpPr>
          <p:nvPr>
            <p:ph type="dt" sz="half" idx="10"/>
          </p:nvPr>
        </p:nvSpPr>
        <p:spPr>
          <a:noFill/>
        </p:spPr>
        <p:txBody>
          <a:bodyPr/>
          <a:lstStyle/>
          <a:p>
            <a:endParaRPr lang="en-US" altLang="zh-CN"/>
          </a:p>
        </p:txBody>
      </p:sp>
      <p:sp>
        <p:nvSpPr>
          <p:cNvPr id="77827" name="Rectangle 2"/>
          <p:cNvSpPr>
            <a:spLocks noGrp="1" noChangeArrowheads="1"/>
          </p:cNvSpPr>
          <p:nvPr>
            <p:ph type="title"/>
          </p:nvPr>
        </p:nvSpPr>
        <p:spPr>
          <a:xfrm>
            <a:off x="1244600" y="119066"/>
            <a:ext cx="6108700" cy="662782"/>
          </a:xfrm>
          <a:noFill/>
        </p:spPr>
        <p:txBody>
          <a:bodyPr vert="horz" lIns="90488" tIns="44450" rIns="90488" bIns="44450" rtlCol="0" anchor="ctr" anchorCtr="1">
            <a:normAutofit/>
          </a:bodyPr>
          <a:lstStyle/>
          <a:p>
            <a:pPr eaLnBrk="1" hangingPunct="1"/>
            <a:r>
              <a:rPr lang="zh-CN" altLang="en-US" sz="4000" dirty="0"/>
              <a:t>相关系数的特点</a:t>
            </a:r>
          </a:p>
        </p:txBody>
      </p:sp>
      <p:sp>
        <p:nvSpPr>
          <p:cNvPr id="30723" name="Rectangle 3"/>
          <p:cNvSpPr>
            <a:spLocks noGrp="1" noChangeArrowheads="1"/>
          </p:cNvSpPr>
          <p:nvPr>
            <p:ph idx="1"/>
          </p:nvPr>
        </p:nvSpPr>
        <p:spPr>
          <a:xfrm>
            <a:off x="2070099" y="995087"/>
            <a:ext cx="8187692" cy="5333761"/>
          </a:xfrm>
          <a:noFill/>
        </p:spPr>
        <p:txBody>
          <a:bodyPr vert="horz" lIns="90488" tIns="44450" rIns="90488" bIns="44450" rtlCol="0">
            <a:normAutofit/>
          </a:bodyPr>
          <a:lstStyle/>
          <a:p>
            <a:pPr marL="355600" indent="-355600" algn="just">
              <a:lnSpc>
                <a:spcPct val="125000"/>
              </a:lnSpc>
              <a:spcBef>
                <a:spcPts val="600"/>
              </a:spcBef>
              <a:spcAft>
                <a:spcPts val="0"/>
              </a:spcAft>
              <a:buFontTx/>
              <a:buChar char="•"/>
            </a:pPr>
            <a:r>
              <a:rPr lang="en-US" altLang="zh-CN" b="1" i="1" dirty="0">
                <a:solidFill>
                  <a:srgbClr val="000000"/>
                </a:solidFill>
                <a:latin typeface="Times New Roman" pitchFamily="18" charset="0"/>
              </a:rPr>
              <a:t> r</a:t>
            </a:r>
            <a:r>
              <a:rPr lang="en-US" altLang="zh-CN" b="1" dirty="0">
                <a:solidFill>
                  <a:srgbClr val="000000"/>
                </a:solidFill>
              </a:rPr>
              <a:t> </a:t>
            </a:r>
            <a:r>
              <a:rPr lang="zh-CN" altLang="en-US" b="1" dirty="0">
                <a:solidFill>
                  <a:srgbClr val="000000"/>
                </a:solidFill>
              </a:rPr>
              <a:t>的取值范围是 </a:t>
            </a:r>
            <a:r>
              <a:rPr lang="en-US" altLang="zh-CN" b="1" dirty="0">
                <a:solidFill>
                  <a:srgbClr val="000000"/>
                </a:solidFill>
              </a:rPr>
              <a:t>[-1,1]</a:t>
            </a:r>
          </a:p>
          <a:p>
            <a:pPr marL="355600" indent="-355600" algn="just">
              <a:lnSpc>
                <a:spcPct val="125000"/>
              </a:lnSpc>
              <a:spcBef>
                <a:spcPts val="600"/>
              </a:spcBef>
              <a:spcAft>
                <a:spcPts val="0"/>
              </a:spcAft>
              <a:buFontTx/>
              <a:buChar char="•"/>
            </a:pPr>
            <a:r>
              <a:rPr lang="en-US" altLang="zh-CN" b="1" dirty="0">
                <a:solidFill>
                  <a:srgbClr val="FF00FF"/>
                </a:solidFill>
                <a:cs typeface="Arial" charset="0"/>
              </a:rPr>
              <a:t>|</a:t>
            </a:r>
            <a:r>
              <a:rPr lang="en-US" altLang="zh-CN" b="1" dirty="0">
                <a:solidFill>
                  <a:srgbClr val="FF00FF"/>
                </a:solidFill>
                <a:latin typeface="Times New Roman" pitchFamily="18" charset="0"/>
              </a:rPr>
              <a:t>r</a:t>
            </a:r>
            <a:r>
              <a:rPr lang="en-US" altLang="zh-CN" b="1" dirty="0">
                <a:solidFill>
                  <a:srgbClr val="FF00FF"/>
                </a:solidFill>
                <a:cs typeface="Arial" charset="0"/>
              </a:rPr>
              <a:t>|=1</a:t>
            </a:r>
            <a:r>
              <a:rPr lang="zh-CN" altLang="en-US" b="1" dirty="0">
                <a:solidFill>
                  <a:srgbClr val="000000"/>
                </a:solidFill>
                <a:cs typeface="Arial" charset="0"/>
              </a:rPr>
              <a:t>，</a:t>
            </a:r>
            <a:r>
              <a:rPr lang="zh-CN" altLang="en-US" b="1" dirty="0">
                <a:solidFill>
                  <a:srgbClr val="000000"/>
                </a:solidFill>
                <a:latin typeface="宋体" pitchFamily="2" charset="-122"/>
              </a:rPr>
              <a:t>为完全</a:t>
            </a:r>
            <a:r>
              <a:rPr lang="en-US" altLang="zh-CN" sz="2800" b="1" dirty="0">
                <a:solidFill>
                  <a:schemeClr val="tx1"/>
                </a:solidFill>
                <a:latin typeface="宋体" pitchFamily="2" charset="-122"/>
              </a:rPr>
              <a:t>(</a:t>
            </a:r>
            <a:r>
              <a:rPr lang="zh-CN" altLang="en-US" sz="2800" b="1" dirty="0">
                <a:solidFill>
                  <a:schemeClr val="tx1"/>
                </a:solidFill>
                <a:latin typeface="宋体" pitchFamily="2" charset="-122"/>
              </a:rPr>
              <a:t>线性</a:t>
            </a:r>
            <a:r>
              <a:rPr lang="en-US" altLang="zh-CN" sz="2800" b="1" dirty="0">
                <a:solidFill>
                  <a:schemeClr val="tx1"/>
                </a:solidFill>
                <a:latin typeface="宋体" pitchFamily="2" charset="-122"/>
              </a:rPr>
              <a:t>)</a:t>
            </a:r>
            <a:r>
              <a:rPr lang="zh-CN" altLang="en-US" b="1" dirty="0">
                <a:solidFill>
                  <a:srgbClr val="000000"/>
                </a:solidFill>
                <a:latin typeface="宋体" pitchFamily="2" charset="-122"/>
              </a:rPr>
              <a:t>相关；</a:t>
            </a:r>
          </a:p>
          <a:p>
            <a:pPr marL="990600" lvl="2" indent="-266700" algn="just">
              <a:lnSpc>
                <a:spcPct val="125000"/>
              </a:lnSpc>
              <a:spcBef>
                <a:spcPts val="600"/>
              </a:spcBef>
              <a:spcAft>
                <a:spcPts val="0"/>
              </a:spcAft>
            </a:pPr>
            <a:r>
              <a:rPr lang="en-US" altLang="zh-CN" sz="2800" b="1" i="1" dirty="0">
                <a:latin typeface="Times New Roman" pitchFamily="18" charset="0"/>
              </a:rPr>
              <a:t>r </a:t>
            </a:r>
            <a:r>
              <a:rPr lang="en-US" altLang="zh-CN" sz="2800" b="1" dirty="0">
                <a:latin typeface="宋体" pitchFamily="2" charset="-122"/>
                <a:sym typeface="Symbol" pitchFamily="18" charset="2"/>
              </a:rPr>
              <a:t>=1</a:t>
            </a:r>
            <a:r>
              <a:rPr lang="zh-CN" altLang="en-US" sz="2800" b="1" dirty="0">
                <a:latin typeface="宋体" pitchFamily="2" charset="-122"/>
                <a:sym typeface="Symbol" pitchFamily="18" charset="2"/>
              </a:rPr>
              <a:t>，为完全</a:t>
            </a:r>
            <a:r>
              <a:rPr lang="zh-CN" altLang="en-US" sz="2800" b="1" dirty="0">
                <a:latin typeface="宋体" pitchFamily="2" charset="-122"/>
              </a:rPr>
              <a:t>线性</a:t>
            </a:r>
            <a:r>
              <a:rPr lang="zh-CN" altLang="en-US" sz="2800" b="1" dirty="0">
                <a:solidFill>
                  <a:srgbClr val="CC0099"/>
                </a:solidFill>
                <a:latin typeface="宋体" pitchFamily="2" charset="-122"/>
                <a:sym typeface="Symbol" pitchFamily="18" charset="2"/>
              </a:rPr>
              <a:t>正</a:t>
            </a:r>
            <a:r>
              <a:rPr lang="zh-CN" altLang="en-US" sz="2800" b="1" dirty="0">
                <a:latin typeface="宋体" pitchFamily="2" charset="-122"/>
                <a:sym typeface="Symbol" pitchFamily="18" charset="2"/>
              </a:rPr>
              <a:t>相关</a:t>
            </a:r>
          </a:p>
          <a:p>
            <a:pPr marL="990600" lvl="2" indent="-266700" algn="just">
              <a:lnSpc>
                <a:spcPct val="125000"/>
              </a:lnSpc>
              <a:spcBef>
                <a:spcPts val="600"/>
              </a:spcBef>
              <a:spcAft>
                <a:spcPts val="0"/>
              </a:spcAft>
            </a:pPr>
            <a:r>
              <a:rPr lang="en-US" altLang="zh-CN" sz="2800" b="1" i="1" dirty="0">
                <a:latin typeface="Times New Roman" pitchFamily="18" charset="0"/>
              </a:rPr>
              <a:t>r </a:t>
            </a:r>
            <a:r>
              <a:rPr lang="en-US" altLang="zh-CN" sz="2800" b="1" dirty="0">
                <a:latin typeface="宋体" pitchFamily="2" charset="-122"/>
                <a:sym typeface="Symbol" pitchFamily="18" charset="2"/>
              </a:rPr>
              <a:t>=-1</a:t>
            </a:r>
            <a:r>
              <a:rPr lang="zh-CN" altLang="en-US" sz="2800" b="1" dirty="0">
                <a:latin typeface="宋体" pitchFamily="2" charset="-122"/>
                <a:sym typeface="Symbol" pitchFamily="18" charset="2"/>
              </a:rPr>
              <a:t>，为完全</a:t>
            </a:r>
            <a:r>
              <a:rPr lang="zh-CN" altLang="en-US" sz="2800" b="1" dirty="0">
                <a:latin typeface="宋体" pitchFamily="2" charset="-122"/>
              </a:rPr>
              <a:t>线性</a:t>
            </a:r>
            <a:r>
              <a:rPr lang="zh-CN" altLang="en-US" sz="2800" b="1" dirty="0">
                <a:solidFill>
                  <a:srgbClr val="CC0099"/>
                </a:solidFill>
                <a:latin typeface="宋体" pitchFamily="2" charset="-122"/>
                <a:sym typeface="Symbol" pitchFamily="18" charset="2"/>
              </a:rPr>
              <a:t>负</a:t>
            </a:r>
            <a:r>
              <a:rPr lang="zh-CN" altLang="en-US" sz="2800" b="1" dirty="0">
                <a:latin typeface="宋体" pitchFamily="2" charset="-122"/>
                <a:sym typeface="Symbol" pitchFamily="18" charset="2"/>
              </a:rPr>
              <a:t>相关</a:t>
            </a:r>
          </a:p>
          <a:p>
            <a:pPr marL="355600" indent="-355600" algn="just">
              <a:lnSpc>
                <a:spcPct val="125000"/>
              </a:lnSpc>
              <a:spcBef>
                <a:spcPts val="600"/>
              </a:spcBef>
              <a:spcAft>
                <a:spcPts val="0"/>
              </a:spcAft>
              <a:buFontTx/>
              <a:buChar char="•"/>
            </a:pPr>
            <a:r>
              <a:rPr lang="en-US" altLang="zh-CN" b="1" i="1" dirty="0">
                <a:solidFill>
                  <a:srgbClr val="FF00FF"/>
                </a:solidFill>
                <a:latin typeface="Times New Roman" pitchFamily="18" charset="0"/>
              </a:rPr>
              <a:t>r </a:t>
            </a:r>
            <a:r>
              <a:rPr lang="en-US" altLang="zh-CN" b="1" dirty="0">
                <a:solidFill>
                  <a:srgbClr val="FF00FF"/>
                </a:solidFill>
                <a:cs typeface="Arial" charset="0"/>
              </a:rPr>
              <a:t>= 0</a:t>
            </a:r>
            <a:r>
              <a:rPr lang="zh-CN" altLang="en-US" b="1" dirty="0">
                <a:solidFill>
                  <a:srgbClr val="000000"/>
                </a:solidFill>
                <a:cs typeface="Arial" charset="0"/>
              </a:rPr>
              <a:t>，</a:t>
            </a:r>
            <a:r>
              <a:rPr lang="zh-CN" altLang="en-US" b="1" dirty="0">
                <a:solidFill>
                  <a:srgbClr val="000000"/>
                </a:solidFill>
                <a:latin typeface="宋体" pitchFamily="2" charset="-122"/>
              </a:rPr>
              <a:t>不存在</a:t>
            </a:r>
            <a:r>
              <a:rPr lang="zh-CN" altLang="en-US" b="1" dirty="0">
                <a:solidFill>
                  <a:srgbClr val="CC0099"/>
                </a:solidFill>
                <a:latin typeface="宋体" pitchFamily="2" charset="-122"/>
              </a:rPr>
              <a:t>线性</a:t>
            </a:r>
            <a:r>
              <a:rPr lang="zh-CN" altLang="en-US" b="1" dirty="0">
                <a:solidFill>
                  <a:srgbClr val="000000"/>
                </a:solidFill>
                <a:latin typeface="宋体" pitchFamily="2" charset="-122"/>
              </a:rPr>
              <a:t>相关；</a:t>
            </a:r>
            <a:endParaRPr lang="zh-CN" altLang="en-US" b="1" dirty="0">
              <a:solidFill>
                <a:srgbClr val="000000"/>
              </a:solidFill>
              <a:latin typeface="Times New Roman" pitchFamily="18" charset="0"/>
            </a:endParaRPr>
          </a:p>
          <a:p>
            <a:pPr marL="355600" indent="-355600" algn="just">
              <a:lnSpc>
                <a:spcPct val="125000"/>
              </a:lnSpc>
              <a:spcBef>
                <a:spcPts val="600"/>
              </a:spcBef>
              <a:spcAft>
                <a:spcPts val="0"/>
              </a:spcAft>
              <a:buFontTx/>
              <a:buChar char="•"/>
            </a:pPr>
            <a:r>
              <a:rPr lang="en-US" altLang="zh-CN" b="1" i="1" dirty="0">
                <a:solidFill>
                  <a:srgbClr val="FF00FF"/>
                </a:solidFill>
                <a:latin typeface="Times New Roman" pitchFamily="18" charset="0"/>
              </a:rPr>
              <a:t>r </a:t>
            </a:r>
            <a:r>
              <a:rPr lang="en-US" altLang="zh-CN" b="1" dirty="0">
                <a:solidFill>
                  <a:srgbClr val="FF00FF"/>
                </a:solidFill>
                <a:cs typeface="Arial" charset="0"/>
              </a:rPr>
              <a:t>&lt;0</a:t>
            </a:r>
            <a:r>
              <a:rPr lang="zh-CN" altLang="en-US" b="1" dirty="0">
                <a:solidFill>
                  <a:srgbClr val="000000"/>
                </a:solidFill>
                <a:cs typeface="Arial" charset="0"/>
              </a:rPr>
              <a:t>，</a:t>
            </a:r>
            <a:r>
              <a:rPr lang="zh-CN" altLang="en-US" b="1" dirty="0">
                <a:solidFill>
                  <a:srgbClr val="000000"/>
                </a:solidFill>
                <a:latin typeface="宋体" pitchFamily="2" charset="-122"/>
              </a:rPr>
              <a:t>负相关；</a:t>
            </a:r>
            <a:r>
              <a:rPr lang="en-US" altLang="zh-CN" b="1" i="1" dirty="0">
                <a:solidFill>
                  <a:srgbClr val="FF00FF"/>
                </a:solidFill>
                <a:latin typeface="Times New Roman" pitchFamily="18" charset="0"/>
              </a:rPr>
              <a:t>r &gt;</a:t>
            </a:r>
            <a:r>
              <a:rPr lang="en-US" altLang="zh-CN" b="1" dirty="0">
                <a:solidFill>
                  <a:srgbClr val="FF00FF"/>
                </a:solidFill>
                <a:latin typeface="Times New Roman" pitchFamily="18" charset="0"/>
              </a:rPr>
              <a:t>0</a:t>
            </a:r>
            <a:r>
              <a:rPr lang="en-US" altLang="zh-CN" b="1" i="1" dirty="0">
                <a:solidFill>
                  <a:srgbClr val="000000"/>
                </a:solidFill>
                <a:latin typeface="Times New Roman" pitchFamily="18" charset="0"/>
              </a:rPr>
              <a:t> </a:t>
            </a:r>
            <a:r>
              <a:rPr lang="zh-CN" altLang="en-US" b="1" dirty="0">
                <a:solidFill>
                  <a:srgbClr val="000000"/>
                </a:solidFill>
                <a:cs typeface="Arial" charset="0"/>
              </a:rPr>
              <a:t>，</a:t>
            </a:r>
            <a:r>
              <a:rPr lang="zh-CN" altLang="en-US" b="1" dirty="0">
                <a:solidFill>
                  <a:srgbClr val="000000"/>
                </a:solidFill>
                <a:latin typeface="宋体" pitchFamily="2" charset="-122"/>
              </a:rPr>
              <a:t>正相关</a:t>
            </a:r>
          </a:p>
          <a:p>
            <a:pPr marL="355600" indent="-355600" algn="just">
              <a:lnSpc>
                <a:spcPct val="125000"/>
              </a:lnSpc>
              <a:spcBef>
                <a:spcPts val="600"/>
              </a:spcBef>
              <a:spcAft>
                <a:spcPts val="0"/>
              </a:spcAft>
              <a:buFontTx/>
              <a:buChar char="•"/>
            </a:pPr>
            <a:r>
              <a:rPr lang="en-US" altLang="zh-CN" b="1" dirty="0">
                <a:solidFill>
                  <a:srgbClr val="000000"/>
                </a:solidFill>
                <a:cs typeface="Arial" charset="0"/>
              </a:rPr>
              <a:t>|</a:t>
            </a:r>
            <a:r>
              <a:rPr lang="en-US" altLang="zh-CN" b="1" i="1" dirty="0">
                <a:solidFill>
                  <a:srgbClr val="000000"/>
                </a:solidFill>
                <a:latin typeface="Times New Roman" pitchFamily="18" charset="0"/>
              </a:rPr>
              <a:t>r</a:t>
            </a:r>
            <a:r>
              <a:rPr lang="en-US" altLang="zh-CN" b="1" dirty="0">
                <a:solidFill>
                  <a:srgbClr val="000000"/>
                </a:solidFill>
                <a:cs typeface="Arial" charset="0"/>
              </a:rPr>
              <a:t>|</a:t>
            </a:r>
            <a:r>
              <a:rPr lang="en-US" altLang="zh-CN" b="1" dirty="0">
                <a:solidFill>
                  <a:srgbClr val="000000"/>
                </a:solidFill>
              </a:rPr>
              <a:t>→</a:t>
            </a:r>
            <a:r>
              <a:rPr lang="en-US" altLang="zh-CN" b="1" dirty="0">
                <a:solidFill>
                  <a:srgbClr val="000000"/>
                </a:solidFill>
                <a:latin typeface="宋体" pitchFamily="2" charset="-122"/>
              </a:rPr>
              <a:t>1</a:t>
            </a:r>
            <a:r>
              <a:rPr lang="zh-CN" altLang="en-US" b="1" dirty="0">
                <a:solidFill>
                  <a:srgbClr val="000000"/>
                </a:solidFill>
                <a:latin typeface="宋体" pitchFamily="2" charset="-122"/>
              </a:rPr>
              <a:t>关系越密切（相关程度越高）；</a:t>
            </a:r>
            <a:r>
              <a:rPr lang="en-US" altLang="zh-CN" b="1" dirty="0">
                <a:solidFill>
                  <a:srgbClr val="000000"/>
                </a:solidFill>
                <a:cs typeface="Arial" charset="0"/>
              </a:rPr>
              <a:t>|</a:t>
            </a:r>
            <a:r>
              <a:rPr lang="en-US" altLang="zh-CN" b="1" i="1" dirty="0">
                <a:solidFill>
                  <a:srgbClr val="000000"/>
                </a:solidFill>
                <a:latin typeface="Times New Roman" pitchFamily="18" charset="0"/>
              </a:rPr>
              <a:t>r</a:t>
            </a:r>
            <a:r>
              <a:rPr lang="en-US" altLang="zh-CN" b="1" dirty="0">
                <a:solidFill>
                  <a:srgbClr val="000000"/>
                </a:solidFill>
                <a:cs typeface="Arial" charset="0"/>
              </a:rPr>
              <a:t>|</a:t>
            </a:r>
            <a:r>
              <a:rPr lang="en-US" altLang="zh-CN" b="1" dirty="0">
                <a:solidFill>
                  <a:srgbClr val="000000"/>
                </a:solidFill>
              </a:rPr>
              <a:t>→</a:t>
            </a:r>
            <a:r>
              <a:rPr lang="en-US" altLang="zh-CN" b="1" dirty="0">
                <a:solidFill>
                  <a:srgbClr val="000000"/>
                </a:solidFill>
                <a:latin typeface="宋体" pitchFamily="2" charset="-122"/>
              </a:rPr>
              <a:t>0</a:t>
            </a:r>
            <a:r>
              <a:rPr lang="zh-CN" altLang="en-US" b="1" dirty="0">
                <a:solidFill>
                  <a:srgbClr val="000000"/>
                </a:solidFill>
                <a:latin typeface="宋体" pitchFamily="2" charset="-122"/>
              </a:rPr>
              <a:t>关系越不密切（相关程度越低）</a:t>
            </a:r>
          </a:p>
        </p:txBody>
      </p:sp>
      <p:sp>
        <p:nvSpPr>
          <p:cNvPr id="77826" name="灯片编号占位符 5"/>
          <p:cNvSpPr>
            <a:spLocks noGrp="1"/>
          </p:cNvSpPr>
          <p:nvPr>
            <p:ph type="sldNum" sz="quarter" idx="4"/>
          </p:nvPr>
        </p:nvSpPr>
        <p:spPr>
          <a:noFill/>
        </p:spPr>
        <p:txBody>
          <a:bodyPr/>
          <a:lstStyle/>
          <a:p>
            <a:r>
              <a:rPr lang="en-US" altLang="zh-CN"/>
              <a:t>9--</a:t>
            </a:r>
            <a:fld id="{2DCD2E8B-8DA4-405F-A050-E822F41002DA}" type="slidenum">
              <a:rPr lang="en-US" altLang="zh-CN" smtClean="0"/>
              <a:pPr/>
              <a:t>21</a:t>
            </a:fld>
            <a:endParaRPr lang="en-US" altLang="zh-CN"/>
          </a:p>
        </p:txBody>
      </p:sp>
    </p:spTree>
    <p:extLst>
      <p:ext uri="{BB962C8B-B14F-4D97-AF65-F5344CB8AC3E}">
        <p14:creationId xmlns:p14="http://schemas.microsoft.com/office/powerpoint/2010/main" val="33490749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left)">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wipe(left)">
                                      <p:cBhvr>
                                        <p:cTn id="12" dur="500"/>
                                        <p:tgtEl>
                                          <p:spTgt spid="3072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animEffect transition="in" filter="wipe(left)">
                                      <p:cBhvr>
                                        <p:cTn id="15" dur="500"/>
                                        <p:tgtEl>
                                          <p:spTgt spid="3072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0723">
                                            <p:txEl>
                                              <p:pRg st="3" end="3"/>
                                            </p:txEl>
                                          </p:spTgt>
                                        </p:tgtEl>
                                        <p:attrNameLst>
                                          <p:attrName>style.visibility</p:attrName>
                                        </p:attrNameLst>
                                      </p:cBhvr>
                                      <p:to>
                                        <p:strVal val="visible"/>
                                      </p:to>
                                    </p:set>
                                    <p:animEffect transition="in" filter="wipe(left)">
                                      <p:cBhvr>
                                        <p:cTn id="18" dur="500"/>
                                        <p:tgtEl>
                                          <p:spTgt spid="3072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animEffect transition="in" filter="wipe(left)">
                                      <p:cBhvr>
                                        <p:cTn id="23" dur="500"/>
                                        <p:tgtEl>
                                          <p:spTgt spid="3072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723">
                                            <p:txEl>
                                              <p:pRg st="5" end="5"/>
                                            </p:txEl>
                                          </p:spTgt>
                                        </p:tgtEl>
                                        <p:attrNameLst>
                                          <p:attrName>style.visibility</p:attrName>
                                        </p:attrNameLst>
                                      </p:cBhvr>
                                      <p:to>
                                        <p:strVal val="visible"/>
                                      </p:to>
                                    </p:set>
                                    <p:animEffect transition="in" filter="wipe(left)">
                                      <p:cBhvr>
                                        <p:cTn id="28" dur="500"/>
                                        <p:tgtEl>
                                          <p:spTgt spid="3072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0723">
                                            <p:txEl>
                                              <p:pRg st="6" end="6"/>
                                            </p:txEl>
                                          </p:spTgt>
                                        </p:tgtEl>
                                        <p:attrNameLst>
                                          <p:attrName>style.visibility</p:attrName>
                                        </p:attrNameLst>
                                      </p:cBhvr>
                                      <p:to>
                                        <p:strVal val="visible"/>
                                      </p:to>
                                    </p:set>
                                    <p:animEffect transition="in" filter="wipe(left)">
                                      <p:cBhvr>
                                        <p:cTn id="33" dur="500"/>
                                        <p:tgtEl>
                                          <p:spTgt spid="307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7" name="日期占位符 13"/>
          <p:cNvSpPr>
            <a:spLocks noGrp="1"/>
          </p:cNvSpPr>
          <p:nvPr>
            <p:ph type="dt" sz="half" idx="10"/>
          </p:nvPr>
        </p:nvSpPr>
        <p:spPr>
          <a:noFill/>
        </p:spPr>
        <p:txBody>
          <a:bodyPr/>
          <a:lstStyle/>
          <a:p>
            <a:endParaRPr lang="en-US" altLang="zh-CN"/>
          </a:p>
        </p:txBody>
      </p:sp>
      <p:sp>
        <p:nvSpPr>
          <p:cNvPr id="78851" name="Rectangle 2"/>
          <p:cNvSpPr>
            <a:spLocks noGrp="1" noChangeArrowheads="1"/>
          </p:cNvSpPr>
          <p:nvPr>
            <p:ph type="title"/>
          </p:nvPr>
        </p:nvSpPr>
        <p:spPr>
          <a:xfrm>
            <a:off x="1446214" y="690566"/>
            <a:ext cx="10745786" cy="662782"/>
          </a:xfrm>
        </p:spPr>
        <p:txBody>
          <a:bodyPr/>
          <a:lstStyle/>
          <a:p>
            <a:pPr eaLnBrk="1" hangingPunct="1"/>
            <a:r>
              <a:rPr lang="en-US" altLang="zh-CN" sz="4000" dirty="0"/>
              <a:t>【</a:t>
            </a:r>
            <a:r>
              <a:rPr lang="zh-CN" altLang="en-US" sz="4000" dirty="0"/>
              <a:t>附</a:t>
            </a:r>
            <a:r>
              <a:rPr lang="en-US" altLang="zh-CN" sz="4000" dirty="0"/>
              <a:t>】</a:t>
            </a:r>
            <a:r>
              <a:rPr lang="zh-CN" altLang="en-US" sz="4000" dirty="0"/>
              <a:t>相关程度的等级</a:t>
            </a:r>
            <a:endParaRPr lang="zh-CN" altLang="en-US" dirty="0"/>
          </a:p>
        </p:txBody>
      </p:sp>
      <p:sp>
        <p:nvSpPr>
          <p:cNvPr id="32771" name="Rectangle 3"/>
          <p:cNvSpPr>
            <a:spLocks noGrp="1" noChangeArrowheads="1"/>
          </p:cNvSpPr>
          <p:nvPr>
            <p:ph idx="1"/>
          </p:nvPr>
        </p:nvSpPr>
        <p:spPr>
          <a:xfrm>
            <a:off x="2197100" y="4227515"/>
            <a:ext cx="7277100" cy="650852"/>
          </a:xfrm>
        </p:spPr>
        <p:txBody>
          <a:bodyPr/>
          <a:lstStyle/>
          <a:p>
            <a:pPr marL="571500" indent="-571500">
              <a:buNone/>
            </a:pPr>
            <a:r>
              <a:rPr lang="en-US" altLang="zh-CN" sz="2800" b="1" dirty="0">
                <a:solidFill>
                  <a:srgbClr val="3333FF"/>
                </a:solidFill>
              </a:rPr>
              <a:t>0                </a:t>
            </a:r>
            <a:r>
              <a:rPr lang="en-US" altLang="zh-CN" sz="2800" b="1" dirty="0">
                <a:solidFill>
                  <a:srgbClr val="CC0099"/>
                </a:solidFill>
              </a:rPr>
              <a:t>0.4  </a:t>
            </a:r>
            <a:r>
              <a:rPr lang="en-US" altLang="zh-CN" sz="2800" b="1" dirty="0">
                <a:solidFill>
                  <a:srgbClr val="3333FF"/>
                </a:solidFill>
              </a:rPr>
              <a:t>          </a:t>
            </a:r>
            <a:r>
              <a:rPr lang="en-US" altLang="zh-CN" sz="2800" b="1" dirty="0">
                <a:solidFill>
                  <a:srgbClr val="FF00FF"/>
                </a:solidFill>
              </a:rPr>
              <a:t> 0.7   </a:t>
            </a:r>
            <a:r>
              <a:rPr lang="en-US" altLang="zh-CN" sz="2800" b="1" dirty="0">
                <a:solidFill>
                  <a:srgbClr val="3333FF"/>
                </a:solidFill>
              </a:rPr>
              <a:t>             </a:t>
            </a:r>
            <a:r>
              <a:rPr lang="en-US" altLang="zh-CN" sz="2800" b="1" dirty="0">
                <a:solidFill>
                  <a:srgbClr val="FF0000"/>
                </a:solidFill>
              </a:rPr>
              <a:t>1.0</a:t>
            </a:r>
          </a:p>
        </p:txBody>
      </p:sp>
      <p:sp>
        <p:nvSpPr>
          <p:cNvPr id="78850" name="灯片编号占位符 5"/>
          <p:cNvSpPr>
            <a:spLocks noGrp="1"/>
          </p:cNvSpPr>
          <p:nvPr>
            <p:ph type="sldNum" sz="quarter" idx="4"/>
          </p:nvPr>
        </p:nvSpPr>
        <p:spPr>
          <a:noFill/>
        </p:spPr>
        <p:txBody>
          <a:bodyPr/>
          <a:lstStyle/>
          <a:p>
            <a:r>
              <a:rPr lang="en-US" altLang="zh-CN"/>
              <a:t>9--</a:t>
            </a:r>
            <a:fld id="{D4459DF9-DDD1-463B-8C9A-7817C52191BE}" type="slidenum">
              <a:rPr lang="en-US" altLang="zh-CN" smtClean="0"/>
              <a:pPr/>
              <a:t>22</a:t>
            </a:fld>
            <a:endParaRPr lang="en-US" altLang="zh-CN"/>
          </a:p>
        </p:txBody>
      </p:sp>
      <p:grpSp>
        <p:nvGrpSpPr>
          <p:cNvPr id="78853" name="Group 13"/>
          <p:cNvGrpSpPr>
            <a:grpSpLocks/>
          </p:cNvGrpSpPr>
          <p:nvPr/>
        </p:nvGrpSpPr>
        <p:grpSpPr bwMode="auto">
          <a:xfrm>
            <a:off x="2381250" y="3852863"/>
            <a:ext cx="6343650" cy="228600"/>
            <a:chOff x="1020" y="2115"/>
            <a:chExt cx="3996" cy="144"/>
          </a:xfrm>
        </p:grpSpPr>
        <p:sp>
          <p:nvSpPr>
            <p:cNvPr id="78858" name="Line 4"/>
            <p:cNvSpPr>
              <a:spLocks noChangeShapeType="1"/>
            </p:cNvSpPr>
            <p:nvPr/>
          </p:nvSpPr>
          <p:spPr bwMode="auto">
            <a:xfrm>
              <a:off x="1032" y="2259"/>
              <a:ext cx="3984" cy="0"/>
            </a:xfrm>
            <a:prstGeom prst="line">
              <a:avLst/>
            </a:prstGeom>
            <a:noFill/>
            <a:ln w="38100">
              <a:solidFill>
                <a:schemeClr val="tx1"/>
              </a:solidFill>
              <a:round/>
              <a:headEnd/>
              <a:tailEnd/>
            </a:ln>
          </p:spPr>
          <p:txBody>
            <a:bodyPr wrap="none"/>
            <a:lstStyle/>
            <a:p>
              <a:endParaRPr lang="zh-CN" altLang="en-US"/>
            </a:p>
          </p:txBody>
        </p:sp>
        <p:sp>
          <p:nvSpPr>
            <p:cNvPr id="78859" name="Line 5"/>
            <p:cNvSpPr>
              <a:spLocks noChangeShapeType="1"/>
            </p:cNvSpPr>
            <p:nvPr/>
          </p:nvSpPr>
          <p:spPr bwMode="auto">
            <a:xfrm>
              <a:off x="1020" y="2115"/>
              <a:ext cx="0" cy="144"/>
            </a:xfrm>
            <a:prstGeom prst="line">
              <a:avLst/>
            </a:prstGeom>
            <a:noFill/>
            <a:ln w="38100">
              <a:solidFill>
                <a:schemeClr val="tx1"/>
              </a:solidFill>
              <a:round/>
              <a:headEnd/>
              <a:tailEnd/>
            </a:ln>
          </p:spPr>
          <p:txBody>
            <a:bodyPr wrap="none"/>
            <a:lstStyle/>
            <a:p>
              <a:endParaRPr lang="zh-CN" altLang="en-US"/>
            </a:p>
          </p:txBody>
        </p:sp>
        <p:sp>
          <p:nvSpPr>
            <p:cNvPr id="78860" name="Line 6"/>
            <p:cNvSpPr>
              <a:spLocks noChangeShapeType="1"/>
            </p:cNvSpPr>
            <p:nvPr/>
          </p:nvSpPr>
          <p:spPr bwMode="auto">
            <a:xfrm>
              <a:off x="2412" y="2115"/>
              <a:ext cx="0" cy="144"/>
            </a:xfrm>
            <a:prstGeom prst="line">
              <a:avLst/>
            </a:prstGeom>
            <a:noFill/>
            <a:ln w="38100">
              <a:solidFill>
                <a:schemeClr val="tx1"/>
              </a:solidFill>
              <a:round/>
              <a:headEnd/>
              <a:tailEnd/>
            </a:ln>
          </p:spPr>
          <p:txBody>
            <a:bodyPr wrap="none"/>
            <a:lstStyle/>
            <a:p>
              <a:endParaRPr lang="zh-CN" altLang="en-US"/>
            </a:p>
          </p:txBody>
        </p:sp>
        <p:sp>
          <p:nvSpPr>
            <p:cNvPr id="78861" name="Line 7"/>
            <p:cNvSpPr>
              <a:spLocks noChangeShapeType="1"/>
            </p:cNvSpPr>
            <p:nvPr/>
          </p:nvSpPr>
          <p:spPr bwMode="auto">
            <a:xfrm>
              <a:off x="3564" y="2115"/>
              <a:ext cx="0" cy="144"/>
            </a:xfrm>
            <a:prstGeom prst="line">
              <a:avLst/>
            </a:prstGeom>
            <a:noFill/>
            <a:ln w="38100">
              <a:solidFill>
                <a:schemeClr val="tx1"/>
              </a:solidFill>
              <a:round/>
              <a:headEnd/>
              <a:tailEnd/>
            </a:ln>
          </p:spPr>
          <p:txBody>
            <a:bodyPr wrap="none"/>
            <a:lstStyle/>
            <a:p>
              <a:endParaRPr lang="zh-CN" altLang="en-US"/>
            </a:p>
          </p:txBody>
        </p:sp>
        <p:sp>
          <p:nvSpPr>
            <p:cNvPr id="78862" name="Line 8"/>
            <p:cNvSpPr>
              <a:spLocks noChangeShapeType="1"/>
            </p:cNvSpPr>
            <p:nvPr/>
          </p:nvSpPr>
          <p:spPr bwMode="auto">
            <a:xfrm>
              <a:off x="5004" y="2115"/>
              <a:ext cx="0" cy="144"/>
            </a:xfrm>
            <a:prstGeom prst="line">
              <a:avLst/>
            </a:prstGeom>
            <a:noFill/>
            <a:ln w="38100">
              <a:solidFill>
                <a:schemeClr val="tx1"/>
              </a:solidFill>
              <a:round/>
              <a:headEnd/>
              <a:tailEnd/>
            </a:ln>
          </p:spPr>
          <p:txBody>
            <a:bodyPr wrap="none"/>
            <a:lstStyle/>
            <a:p>
              <a:endParaRPr lang="zh-CN" altLang="en-US"/>
            </a:p>
          </p:txBody>
        </p:sp>
      </p:grpSp>
      <p:sp>
        <p:nvSpPr>
          <p:cNvPr id="32777" name="Text Box 9"/>
          <p:cNvSpPr txBox="1">
            <a:spLocks noChangeArrowheads="1"/>
          </p:cNvSpPr>
          <p:nvPr/>
        </p:nvSpPr>
        <p:spPr bwMode="auto">
          <a:xfrm>
            <a:off x="1446214" y="3276601"/>
            <a:ext cx="8675687" cy="519113"/>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a:solidFill>
                  <a:srgbClr val="000000"/>
                </a:solidFill>
              </a:rPr>
              <a:t>不相关</a:t>
            </a:r>
            <a:r>
              <a:rPr kumimoji="1" lang="zh-CN" altLang="en-US" sz="2800" b="1"/>
              <a:t>   </a:t>
            </a:r>
            <a:r>
              <a:rPr kumimoji="1" lang="zh-CN" altLang="en-US" sz="2800" b="1">
                <a:solidFill>
                  <a:schemeClr val="tx2"/>
                </a:solidFill>
              </a:rPr>
              <a:t>                                                     </a:t>
            </a:r>
            <a:r>
              <a:rPr kumimoji="1" lang="zh-CN" altLang="en-US" sz="2800" b="1"/>
              <a:t> </a:t>
            </a:r>
            <a:r>
              <a:rPr kumimoji="1" lang="zh-CN" altLang="en-US" sz="2800" b="1">
                <a:solidFill>
                  <a:srgbClr val="FF0000"/>
                </a:solidFill>
              </a:rPr>
              <a:t>完全相关</a:t>
            </a:r>
          </a:p>
        </p:txBody>
      </p:sp>
      <p:sp>
        <p:nvSpPr>
          <p:cNvPr id="78855" name="Text Box 10"/>
          <p:cNvSpPr txBox="1">
            <a:spLocks noChangeArrowheads="1"/>
          </p:cNvSpPr>
          <p:nvPr/>
        </p:nvSpPr>
        <p:spPr bwMode="auto">
          <a:xfrm>
            <a:off x="1992314" y="1761574"/>
            <a:ext cx="7560840" cy="584775"/>
          </a:xfrm>
          <a:prstGeom prst="rect">
            <a:avLst/>
          </a:prstGeom>
          <a:noFill/>
          <a:ln w="12700">
            <a:noFill/>
            <a:miter lim="800000"/>
            <a:headEnd/>
            <a:tailEnd/>
          </a:ln>
        </p:spPr>
        <p:txBody>
          <a:bodyPr wrap="square">
            <a:spAutoFit/>
          </a:bodyPr>
          <a:lstStyle/>
          <a:p>
            <a:pPr algn="ctr" eaLnBrk="0" hangingPunct="0">
              <a:spcBef>
                <a:spcPct val="50000"/>
              </a:spcBef>
            </a:pPr>
            <a:r>
              <a:rPr kumimoji="1" lang="en-US" altLang="zh-CN" sz="3200" b="1" dirty="0">
                <a:solidFill>
                  <a:srgbClr val="000000"/>
                </a:solidFill>
                <a:latin typeface="Times New Roman" pitchFamily="18" charset="0"/>
              </a:rPr>
              <a:t>——</a:t>
            </a:r>
            <a:r>
              <a:rPr kumimoji="1" lang="zh-CN" altLang="en-US" sz="3200" b="1" dirty="0">
                <a:solidFill>
                  <a:srgbClr val="000000"/>
                </a:solidFill>
              </a:rPr>
              <a:t>相关程度  </a:t>
            </a:r>
            <a:r>
              <a:rPr kumimoji="1" lang="en-US" altLang="zh-CN" sz="3200" b="1" dirty="0">
                <a:solidFill>
                  <a:srgbClr val="C00000"/>
                </a:solidFill>
              </a:rPr>
              <a:t>|</a:t>
            </a:r>
            <a:r>
              <a:rPr kumimoji="1" lang="en-US" altLang="zh-CN" sz="3200" b="1" i="1" dirty="0">
                <a:solidFill>
                  <a:srgbClr val="C00000"/>
                </a:solidFill>
                <a:latin typeface="Times New Roman" pitchFamily="18" charset="0"/>
                <a:cs typeface="Times New Roman" pitchFamily="18" charset="0"/>
              </a:rPr>
              <a:t>r</a:t>
            </a:r>
            <a:r>
              <a:rPr kumimoji="1" lang="en-US" altLang="zh-CN" sz="3200" b="1" dirty="0">
                <a:solidFill>
                  <a:srgbClr val="C00000"/>
                </a:solidFill>
              </a:rPr>
              <a:t>| </a:t>
            </a:r>
            <a:r>
              <a:rPr kumimoji="1" lang="zh-CN" altLang="en-US" sz="3200" b="1" dirty="0">
                <a:solidFill>
                  <a:srgbClr val="000000"/>
                </a:solidFill>
              </a:rPr>
              <a:t>的三级划分法：</a:t>
            </a:r>
            <a:endParaRPr kumimoji="1" lang="zh-CN" altLang="en-US" sz="3200" b="1" dirty="0">
              <a:solidFill>
                <a:srgbClr val="C00000"/>
              </a:solidFill>
            </a:endParaRPr>
          </a:p>
        </p:txBody>
      </p:sp>
      <p:sp>
        <p:nvSpPr>
          <p:cNvPr id="32782" name="Text Box 14"/>
          <p:cNvSpPr txBox="1">
            <a:spLocks noChangeArrowheads="1"/>
          </p:cNvSpPr>
          <p:nvPr/>
        </p:nvSpPr>
        <p:spPr bwMode="auto">
          <a:xfrm>
            <a:off x="1301751" y="3492501"/>
            <a:ext cx="8569325" cy="519113"/>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a:solidFill>
                  <a:schemeClr val="tx2"/>
                </a:solidFill>
              </a:rPr>
              <a:t>低度相关</a:t>
            </a:r>
            <a:r>
              <a:rPr kumimoji="1" lang="zh-CN" altLang="en-US" sz="2800" b="1"/>
              <a:t>     </a:t>
            </a:r>
            <a:r>
              <a:rPr kumimoji="1" lang="zh-CN" altLang="en-US" sz="2800" b="1">
                <a:solidFill>
                  <a:srgbClr val="CC0099"/>
                </a:solidFill>
              </a:rPr>
              <a:t>中度相关</a:t>
            </a:r>
            <a:r>
              <a:rPr kumimoji="1" lang="zh-CN" altLang="en-US" sz="2800" b="1"/>
              <a:t>     </a:t>
            </a:r>
            <a:r>
              <a:rPr kumimoji="1" lang="zh-CN" altLang="en-US" sz="2800" b="1">
                <a:solidFill>
                  <a:srgbClr val="FF00FF"/>
                </a:solidFill>
              </a:rPr>
              <a:t>高度相关</a:t>
            </a:r>
            <a:endParaRPr kumimoji="1" lang="zh-CN" altLang="en-US" sz="2800" b="1">
              <a:solidFill>
                <a:srgbClr val="FF0000"/>
              </a:solidFill>
            </a:endParaRPr>
          </a:p>
        </p:txBody>
      </p:sp>
    </p:spTree>
    <p:extLst>
      <p:ext uri="{BB962C8B-B14F-4D97-AF65-F5344CB8AC3E}">
        <p14:creationId xmlns:p14="http://schemas.microsoft.com/office/powerpoint/2010/main" val="208159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3000"/>
                                        <p:tgtEl>
                                          <p:spTgt spid="3277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2777"/>
                                        </p:tgtEl>
                                        <p:attrNameLst>
                                          <p:attrName>style.visibility</p:attrName>
                                        </p:attrNameLst>
                                      </p:cBhvr>
                                      <p:to>
                                        <p:strVal val="visible"/>
                                      </p:to>
                                    </p:set>
                                    <p:animEffect transition="in" filter="wipe(left)">
                                      <p:cBhvr>
                                        <p:cTn id="10" dur="2000"/>
                                        <p:tgtEl>
                                          <p:spTgt spid="3277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2782"/>
                                        </p:tgtEl>
                                        <p:attrNameLst>
                                          <p:attrName>style.visibility</p:attrName>
                                        </p:attrNameLst>
                                      </p:cBhvr>
                                      <p:to>
                                        <p:strVal val="visible"/>
                                      </p:to>
                                    </p:set>
                                    <p:animEffect transition="in" filter="wipe(left)">
                                      <p:cBhvr>
                                        <p:cTn id="15" dur="5000"/>
                                        <p:tgtEl>
                                          <p:spTgt spid="32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2777" grpId="0"/>
      <p:bldP spid="3278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10"/>
          </p:nvPr>
        </p:nvSpPr>
        <p:spPr>
          <a:noFill/>
        </p:spPr>
        <p:txBody>
          <a:bodyPr/>
          <a:lstStyle/>
          <a:p>
            <a:r>
              <a:rPr lang="en-US" altLang="zh-CN"/>
              <a:t>9--</a:t>
            </a:r>
            <a:fld id="{E5F40AB1-1F2F-48AF-92CC-07FA6B12E0A7}" type="slidenum">
              <a:rPr lang="en-US" altLang="zh-CN" smtClean="0"/>
              <a:pPr/>
              <a:t>23</a:t>
            </a:fld>
            <a:endParaRPr lang="en-US" altLang="zh-CN"/>
          </a:p>
        </p:txBody>
      </p:sp>
      <p:sp>
        <p:nvSpPr>
          <p:cNvPr id="79875" name="Rectangle 32"/>
          <p:cNvSpPr>
            <a:spLocks noGrp="1" noChangeArrowheads="1"/>
          </p:cNvSpPr>
          <p:nvPr>
            <p:ph type="ctrTitle" idx="4294967295"/>
          </p:nvPr>
        </p:nvSpPr>
        <p:spPr>
          <a:xfrm>
            <a:off x="1371600" y="0"/>
            <a:ext cx="10820400" cy="1746250"/>
          </a:xfrm>
        </p:spPr>
        <p:txBody>
          <a:bodyPr/>
          <a:lstStyle/>
          <a:p>
            <a:pPr eaLnBrk="1" hangingPunct="1"/>
            <a:r>
              <a:rPr lang="en-US" altLang="zh-CN" dirty="0"/>
              <a:t>【</a:t>
            </a:r>
            <a:r>
              <a:rPr lang="zh-CN" altLang="en-US" dirty="0"/>
              <a:t>例</a:t>
            </a:r>
            <a:r>
              <a:rPr lang="en-US" altLang="zh-CN" dirty="0"/>
              <a:t>9-1】</a:t>
            </a:r>
            <a:r>
              <a:rPr lang="zh-CN" altLang="en-US" dirty="0"/>
              <a:t>计算表</a:t>
            </a:r>
            <a:r>
              <a:rPr lang="zh-CN" altLang="en-US" sz="2800" dirty="0">
                <a:solidFill>
                  <a:srgbClr val="FF0000"/>
                </a:solidFill>
              </a:rPr>
              <a:t>（</a:t>
            </a:r>
            <a:r>
              <a:rPr lang="en-US" altLang="zh-CN" sz="2800" dirty="0">
                <a:solidFill>
                  <a:srgbClr val="FF0000"/>
                </a:solidFill>
              </a:rPr>
              <a:t>+</a:t>
            </a:r>
            <a:r>
              <a:rPr lang="zh-CN" altLang="en-US" sz="2800" dirty="0">
                <a:solidFill>
                  <a:srgbClr val="FF0000"/>
                </a:solidFill>
              </a:rPr>
              <a:t>简化计算表）</a:t>
            </a:r>
          </a:p>
        </p:txBody>
      </p:sp>
      <p:graphicFrame>
        <p:nvGraphicFramePr>
          <p:cNvPr id="242086" name="Group 1446"/>
          <p:cNvGraphicFramePr>
            <a:graphicFrameLocks noGrp="1"/>
          </p:cNvGraphicFramePr>
          <p:nvPr>
            <p:extLst>
              <p:ext uri="{D42A27DB-BD31-4B8C-83A1-F6EECF244321}">
                <p14:modId xmlns:p14="http://schemas.microsoft.com/office/powerpoint/2010/main" val="2169058207"/>
              </p:ext>
            </p:extLst>
          </p:nvPr>
        </p:nvGraphicFramePr>
        <p:xfrm>
          <a:off x="1992313" y="1196975"/>
          <a:ext cx="7848600" cy="4874264"/>
        </p:xfrm>
        <a:graphic>
          <a:graphicData uri="http://schemas.openxmlformats.org/drawingml/2006/table">
            <a:tbl>
              <a:tblPr/>
              <a:tblGrid>
                <a:gridCol w="935037">
                  <a:extLst>
                    <a:ext uri="{9D8B030D-6E8A-4147-A177-3AD203B41FA5}">
                      <a16:colId xmlns:a16="http://schemas.microsoft.com/office/drawing/2014/main" val="20000"/>
                    </a:ext>
                  </a:extLst>
                </a:gridCol>
                <a:gridCol w="1439863">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1296987">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1800225">
                  <a:extLst>
                    <a:ext uri="{9D8B030D-6E8A-4147-A177-3AD203B41FA5}">
                      <a16:colId xmlns:a16="http://schemas.microsoft.com/office/drawing/2014/main" val="20005"/>
                    </a:ext>
                  </a:extLst>
                </a:gridCol>
              </a:tblGrid>
              <a:tr h="552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宋体" pitchFamily="2" charset="-122"/>
                          <a:ea typeface="宋体" pitchFamily="2" charset="-122"/>
                        </a:rPr>
                        <a:t>序号</a:t>
                      </a:r>
                      <a:endParaRPr kumimoji="0" lang="zh-CN" altLang="en-US" sz="2400" b="1" i="0" u="none" strike="noStrike" cap="none" normalizeH="0" baseline="0" dirty="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宋体" pitchFamily="2" charset="-122"/>
                          <a:ea typeface="宋体" pitchFamily="2" charset="-122"/>
                        </a:rPr>
                        <a:t>广告费</a:t>
                      </a:r>
                      <a:r>
                        <a:rPr kumimoji="0" lang="en-US" altLang="zh-CN" sz="2400" b="1" i="0" u="none" strike="noStrike" cap="none" normalizeH="0" baseline="0" dirty="0">
                          <a:ln>
                            <a:noFill/>
                          </a:ln>
                          <a:solidFill>
                            <a:srgbClr val="FF0000"/>
                          </a:solidFill>
                          <a:effectLst/>
                          <a:latin typeface="宋体" pitchFamily="2" charset="-122"/>
                          <a:ea typeface="宋体" pitchFamily="2" charset="-122"/>
                        </a:rPr>
                        <a:t>X</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销售量</a:t>
                      </a:r>
                      <a:r>
                        <a:rPr kumimoji="0" lang="en-US" altLang="zh-CN" sz="2400" b="1" i="0" u="none" strike="noStrike" cap="none" normalizeH="0" baseline="0" dirty="0">
                          <a:ln>
                            <a:noFill/>
                          </a:ln>
                          <a:solidFill>
                            <a:srgbClr val="FF0000"/>
                          </a:solidFill>
                          <a:effectLst/>
                          <a:latin typeface="宋体" pitchFamily="2" charset="-122"/>
                          <a:ea typeface="宋体" pitchFamily="2" charset="-122"/>
                        </a:rPr>
                        <a:t>Y</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XY</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X</a:t>
                      </a:r>
                      <a:r>
                        <a:rPr kumimoji="0" lang="en-US" altLang="zh-CN" sz="2400" b="1" i="0" u="none" strike="noStrike" cap="none" normalizeH="0" baseline="30000" dirty="0">
                          <a:ln>
                            <a:noFill/>
                          </a:ln>
                          <a:solidFill>
                            <a:srgbClr val="FF0000"/>
                          </a:solidFill>
                          <a:effectLst/>
                          <a:latin typeface="宋体" pitchFamily="2" charset="-122"/>
                          <a:ea typeface="宋体" pitchFamily="2" charset="-122"/>
                        </a:rPr>
                        <a:t>2</a:t>
                      </a:r>
                      <a:endParaRPr kumimoji="0" lang="en-US" altLang="zh-CN" sz="2400" b="1" i="0" u="none" strike="noStrike" cap="none" normalizeH="0" baseline="3000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Y</a:t>
                      </a:r>
                      <a:r>
                        <a:rPr kumimoji="0" lang="en-US" altLang="zh-CN" sz="2400" b="1" i="0" u="none" strike="noStrike" cap="none" normalizeH="0" baseline="30000" dirty="0">
                          <a:ln>
                            <a:noFill/>
                          </a:ln>
                          <a:solidFill>
                            <a:srgbClr val="FF0000"/>
                          </a:solidFill>
                          <a:effectLst/>
                          <a:latin typeface="宋体" pitchFamily="2" charset="-122"/>
                          <a:ea typeface="宋体" pitchFamily="2" charset="-122"/>
                        </a:rPr>
                        <a:t>2</a:t>
                      </a:r>
                      <a:endParaRPr kumimoji="0" lang="en-US" altLang="zh-CN" sz="2400" b="1" i="0" u="none" strike="noStrike" cap="none" normalizeH="0" baseline="3000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宋体" pitchFamily="2" charset="-122"/>
                          <a:ea typeface="宋体" pitchFamily="2" charset="-122"/>
                        </a:rPr>
                        <a:t>1</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32</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1280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1600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1024</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2</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34</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1530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2025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1156</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52546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3</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48</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2160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2025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2304</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4</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65</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55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3575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4225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3025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5</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80</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50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4000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6400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2500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6</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92</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60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5520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8464</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3600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7</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105</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78</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8190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11025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6084</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8</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110</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64</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7040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12100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4096</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468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lang="zh-CN" altLang="en-US" sz="2800" b="1" i="0" u="none" strike="noStrike" kern="1200" dirty="0">
                          <a:solidFill>
                            <a:srgbClr val="FF0000"/>
                          </a:solidFill>
                          <a:latin typeface="宋体"/>
                          <a:ea typeface="+mn-ea"/>
                          <a:cs typeface="+mn-cs"/>
                        </a:rPr>
                        <a:t>合计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algn="ctr" defTabSz="914400" rtl="0" eaLnBrk="1" fontAlgn="b" latinLnBrk="0" hangingPunct="1">
                        <a:spcAft>
                          <a:spcPts val="0"/>
                        </a:spcAft>
                      </a:pPr>
                      <a:r>
                        <a:rPr lang="en-US" altLang="zh-CN" sz="2800" b="1" i="0" u="none" strike="noStrike" kern="1200" dirty="0">
                          <a:solidFill>
                            <a:srgbClr val="FF0000"/>
                          </a:solidFill>
                          <a:latin typeface="宋体"/>
                          <a:ea typeface="+mn-ea"/>
                          <a:cs typeface="+mn-cs"/>
                        </a:rPr>
                        <a:t>582</a:t>
                      </a:r>
                      <a:endParaRPr lang="zh-CN" altLang="zh-CN" sz="2800" b="1" i="0" u="none" strike="noStrike" kern="1200" dirty="0">
                        <a:solidFill>
                          <a:srgbClr val="FF0000"/>
                        </a:solidFill>
                        <a:latin typeface="宋体"/>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algn="ctr" defTabSz="914400" rtl="0" eaLnBrk="1" fontAlgn="b" latinLnBrk="0" hangingPunct="1">
                        <a:spcAft>
                          <a:spcPts val="0"/>
                        </a:spcAft>
                      </a:pPr>
                      <a:r>
                        <a:rPr lang="en-US" altLang="zh-CN" sz="2800" b="1" i="0" u="none" strike="noStrike" kern="1200" dirty="0">
                          <a:solidFill>
                            <a:srgbClr val="FF0000"/>
                          </a:solidFill>
                          <a:latin typeface="宋体"/>
                          <a:ea typeface="+mn-ea"/>
                          <a:cs typeface="+mn-cs"/>
                        </a:rPr>
                        <a:t>421</a:t>
                      </a:r>
                      <a:endParaRPr lang="zh-CN" altLang="zh-CN" sz="2800" b="1" i="0" u="none" strike="noStrike" kern="1200" dirty="0">
                        <a:solidFill>
                          <a:srgbClr val="FF0000"/>
                        </a:solidFill>
                        <a:latin typeface="宋体"/>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algn="ctr" fontAlgn="b"/>
                      <a:r>
                        <a:rPr lang="en-US" altLang="zh-CN" sz="2800" b="1" i="0" u="none" strike="noStrike" dirty="0">
                          <a:solidFill>
                            <a:srgbClr val="FF0000"/>
                          </a:solidFill>
                          <a:latin typeface="宋体"/>
                        </a:rPr>
                        <a:t>33295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algn="ctr" fontAlgn="b"/>
                      <a:r>
                        <a:rPr lang="en-US" altLang="zh-CN" sz="2800" b="1" i="0" u="none" strike="noStrike" dirty="0">
                          <a:solidFill>
                            <a:srgbClr val="FF0000"/>
                          </a:solidFill>
                          <a:latin typeface="宋体"/>
                        </a:rPr>
                        <a:t>47864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algn="ctr" fontAlgn="b"/>
                      <a:r>
                        <a:rPr lang="en-US" altLang="zh-CN" sz="2800" b="1" i="0" u="none" strike="noStrike" dirty="0">
                          <a:solidFill>
                            <a:srgbClr val="FF0000"/>
                          </a:solidFill>
                          <a:latin typeface="宋体"/>
                        </a:rPr>
                        <a:t>23789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80016986"/>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日期占位符 8"/>
          <p:cNvSpPr>
            <a:spLocks noGrp="1"/>
          </p:cNvSpPr>
          <p:nvPr>
            <p:ph type="dt" sz="half" idx="10"/>
          </p:nvPr>
        </p:nvSpPr>
        <p:spPr>
          <a:noFill/>
        </p:spPr>
        <p:txBody>
          <a:bodyPr/>
          <a:lstStyle/>
          <a:p>
            <a:endParaRPr lang="en-US" altLang="zh-CN"/>
          </a:p>
        </p:txBody>
      </p:sp>
      <p:sp>
        <p:nvSpPr>
          <p:cNvPr id="3077" name="Rectangle 2"/>
          <p:cNvSpPr>
            <a:spLocks noGrp="1" noChangeArrowheads="1"/>
          </p:cNvSpPr>
          <p:nvPr>
            <p:ph type="title"/>
          </p:nvPr>
        </p:nvSpPr>
        <p:spPr>
          <a:xfrm>
            <a:off x="1244600" y="119066"/>
            <a:ext cx="5181600" cy="662782"/>
          </a:xfrm>
          <a:noFill/>
        </p:spPr>
        <p:txBody>
          <a:bodyPr vert="horz" lIns="90488" tIns="44450" rIns="90488" bIns="44450" rtlCol="0" anchor="ctr" anchorCtr="1">
            <a:normAutofit/>
          </a:bodyPr>
          <a:lstStyle/>
          <a:p>
            <a:pPr eaLnBrk="1" hangingPunct="1"/>
            <a:r>
              <a:rPr lang="en-US" altLang="zh-CN" dirty="0"/>
              <a:t>【</a:t>
            </a:r>
            <a:r>
              <a:rPr lang="zh-CN" altLang="en-US" dirty="0"/>
              <a:t>例</a:t>
            </a:r>
            <a:r>
              <a:rPr lang="en-US" altLang="zh-CN" dirty="0"/>
              <a:t>9-1】</a:t>
            </a:r>
            <a:r>
              <a:rPr lang="zh-CN" altLang="en-US" sz="4000" dirty="0"/>
              <a:t>计算结果</a:t>
            </a:r>
          </a:p>
        </p:txBody>
      </p:sp>
      <p:sp>
        <p:nvSpPr>
          <p:cNvPr id="35843" name="Rectangle 3"/>
          <p:cNvSpPr>
            <a:spLocks noGrp="1" noChangeArrowheads="1"/>
          </p:cNvSpPr>
          <p:nvPr>
            <p:ph idx="1"/>
          </p:nvPr>
        </p:nvSpPr>
        <p:spPr>
          <a:xfrm>
            <a:off x="1244600" y="4998361"/>
            <a:ext cx="7372349" cy="1129469"/>
          </a:xfrm>
          <a:noFill/>
        </p:spPr>
        <p:txBody>
          <a:bodyPr vert="horz" lIns="90488" tIns="44450" rIns="90488" bIns="44450" rtlCol="0">
            <a:noAutofit/>
          </a:bodyPr>
          <a:lstStyle/>
          <a:p>
            <a:pPr marL="0" indent="0" algn="just">
              <a:lnSpc>
                <a:spcPct val="150000"/>
              </a:lnSpc>
              <a:spcBef>
                <a:spcPts val="600"/>
              </a:spcBef>
              <a:spcAft>
                <a:spcPts val="0"/>
              </a:spcAft>
              <a:buNone/>
            </a:pPr>
            <a:r>
              <a:rPr lang="zh-CN" altLang="en-US" sz="2800" dirty="0">
                <a:solidFill>
                  <a:srgbClr val="000000"/>
                </a:solidFill>
                <a:latin typeface="Times New Roman" pitchFamily="18" charset="0"/>
              </a:rPr>
              <a:t>     广告费</a:t>
            </a:r>
            <a:r>
              <a:rPr lang="en-US" altLang="zh-CN" sz="2800" dirty="0">
                <a:solidFill>
                  <a:srgbClr val="000000"/>
                </a:solidFill>
                <a:latin typeface="Times New Roman" pitchFamily="18" charset="0"/>
              </a:rPr>
              <a:t>X</a:t>
            </a:r>
            <a:r>
              <a:rPr lang="zh-CN" altLang="en-US" sz="2800" dirty="0">
                <a:solidFill>
                  <a:srgbClr val="000000"/>
                </a:solidFill>
                <a:latin typeface="Times New Roman" pitchFamily="18" charset="0"/>
              </a:rPr>
              <a:t>和销售量</a:t>
            </a:r>
            <a:r>
              <a:rPr lang="en-US" altLang="zh-CN" sz="2800" dirty="0">
                <a:solidFill>
                  <a:srgbClr val="000000"/>
                </a:solidFill>
                <a:latin typeface="Times New Roman" pitchFamily="18" charset="0"/>
              </a:rPr>
              <a:t>Y</a:t>
            </a:r>
            <a:r>
              <a:rPr lang="zh-CN" altLang="en-US" sz="2800" dirty="0">
                <a:solidFill>
                  <a:srgbClr val="000000"/>
                </a:solidFill>
                <a:latin typeface="Times New Roman" pitchFamily="18" charset="0"/>
              </a:rPr>
              <a:t>的相关系数为</a:t>
            </a:r>
            <a:r>
              <a:rPr lang="en-US" altLang="zh-CN" sz="2800" dirty="0">
                <a:solidFill>
                  <a:srgbClr val="000000"/>
                </a:solidFill>
                <a:latin typeface="Times New Roman" pitchFamily="18" charset="0"/>
              </a:rPr>
              <a:t>0.888</a:t>
            </a:r>
            <a:r>
              <a:rPr lang="en-US" altLang="zh-CN" sz="2800" dirty="0"/>
              <a:t> </a:t>
            </a:r>
            <a:r>
              <a:rPr lang="zh-CN" altLang="en-US" sz="2800" dirty="0">
                <a:solidFill>
                  <a:srgbClr val="000000"/>
                </a:solidFill>
                <a:latin typeface="Times New Roman" pitchFamily="18" charset="0"/>
              </a:rPr>
              <a:t>，为</a:t>
            </a:r>
            <a:r>
              <a:rPr lang="zh-CN" altLang="en-US" sz="2800" dirty="0">
                <a:solidFill>
                  <a:srgbClr val="FF00FF"/>
                </a:solidFill>
                <a:latin typeface="Times New Roman" pitchFamily="18" charset="0"/>
              </a:rPr>
              <a:t>高度线性正相关</a:t>
            </a:r>
            <a:r>
              <a:rPr lang="zh-CN" altLang="en-US" sz="2800" dirty="0">
                <a:solidFill>
                  <a:srgbClr val="000000"/>
                </a:solidFill>
                <a:latin typeface="Times New Roman" pitchFamily="18" charset="0"/>
              </a:rPr>
              <a:t>关系。</a:t>
            </a:r>
          </a:p>
        </p:txBody>
      </p:sp>
      <p:sp>
        <p:nvSpPr>
          <p:cNvPr id="3076" name="灯片编号占位符 5"/>
          <p:cNvSpPr>
            <a:spLocks noGrp="1"/>
          </p:cNvSpPr>
          <p:nvPr>
            <p:ph type="sldNum" sz="quarter" idx="4"/>
          </p:nvPr>
        </p:nvSpPr>
        <p:spPr>
          <a:noFill/>
        </p:spPr>
        <p:txBody>
          <a:bodyPr/>
          <a:lstStyle/>
          <a:p>
            <a:r>
              <a:rPr lang="en-US" altLang="zh-CN" dirty="0"/>
              <a:t>9--</a:t>
            </a:r>
            <a:fld id="{24E9D93B-6C22-4E85-AB2B-F9865E96C2AC}" type="slidenum">
              <a:rPr lang="en-US" altLang="zh-CN" smtClean="0"/>
              <a:pPr/>
              <a:t>24</a:t>
            </a:fld>
            <a:endParaRPr lang="en-US" altLang="zh-CN" dirty="0"/>
          </a:p>
        </p:txBody>
      </p:sp>
      <p:graphicFrame>
        <p:nvGraphicFramePr>
          <p:cNvPr id="3074" name="Object 4">
            <a:hlinkClick r:id="" action="ppaction://ole?verb=0"/>
          </p:cNvPr>
          <p:cNvGraphicFramePr>
            <a:graphicFrameLocks/>
          </p:cNvGraphicFramePr>
          <p:nvPr>
            <p:extLst>
              <p:ext uri="{D42A27DB-BD31-4B8C-83A1-F6EECF244321}">
                <p14:modId xmlns:p14="http://schemas.microsoft.com/office/powerpoint/2010/main" val="1910371960"/>
              </p:ext>
            </p:extLst>
          </p:nvPr>
        </p:nvGraphicFramePr>
        <p:xfrm>
          <a:off x="2254249" y="945356"/>
          <a:ext cx="6362700" cy="1519238"/>
        </p:xfrm>
        <a:graphic>
          <a:graphicData uri="http://schemas.openxmlformats.org/presentationml/2006/ole">
            <mc:AlternateContent xmlns:mc="http://schemas.openxmlformats.org/markup-compatibility/2006">
              <mc:Choice xmlns:v="urn:schemas-microsoft-com:vml" Requires="v">
                <p:oleObj name="公式" r:id="rId3" imgW="2514600" imgH="558720" progId="Equation.3">
                  <p:embed/>
                </p:oleObj>
              </mc:Choice>
              <mc:Fallback>
                <p:oleObj name="公式" r:id="rId3" imgW="2514600" imgH="558720" progId="Equation.3">
                  <p:embed/>
                  <p:pic>
                    <p:nvPicPr>
                      <p:cNvPr id="3074"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249" y="945356"/>
                        <a:ext cx="6362700" cy="151923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3079" name="Text Box 5"/>
          <p:cNvSpPr txBox="1">
            <a:spLocks noChangeArrowheads="1"/>
          </p:cNvSpPr>
          <p:nvPr/>
        </p:nvSpPr>
        <p:spPr bwMode="auto">
          <a:xfrm>
            <a:off x="9178291" y="5942011"/>
            <a:ext cx="1763712" cy="461665"/>
          </a:xfrm>
          <a:prstGeom prst="rect">
            <a:avLst/>
          </a:prstGeom>
          <a:noFill/>
          <a:ln w="9525">
            <a:noFill/>
            <a:miter lim="800000"/>
            <a:headEnd/>
            <a:tailEnd/>
          </a:ln>
        </p:spPr>
        <p:txBody>
          <a:bodyPr>
            <a:spAutoFit/>
          </a:bodyPr>
          <a:lstStyle/>
          <a:p>
            <a:pPr>
              <a:spcBef>
                <a:spcPct val="50000"/>
              </a:spcBef>
            </a:pPr>
            <a:r>
              <a:rPr lang="zh-CN" altLang="en-US" sz="2400" b="1" dirty="0">
                <a:solidFill>
                  <a:schemeClr val="tx2"/>
                </a:solidFill>
              </a:rPr>
              <a:t>见 </a:t>
            </a:r>
            <a:r>
              <a:rPr lang="en-US" altLang="zh-CN" sz="2400" b="1" u="sng" dirty="0">
                <a:solidFill>
                  <a:schemeClr val="tx2"/>
                </a:solidFill>
              </a:rPr>
              <a:t>EXCEL</a:t>
            </a:r>
          </a:p>
        </p:txBody>
      </p:sp>
      <p:sp>
        <p:nvSpPr>
          <p:cNvPr id="3080" name="Rectangle 7"/>
          <p:cNvSpPr>
            <a:spLocks noChangeArrowheads="1"/>
          </p:cNvSpPr>
          <p:nvPr/>
        </p:nvSpPr>
        <p:spPr bwMode="auto">
          <a:xfrm>
            <a:off x="1524001" y="30395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075" name="Object 6"/>
          <p:cNvGraphicFramePr>
            <a:graphicFrameLocks noChangeAspect="1"/>
          </p:cNvGraphicFramePr>
          <p:nvPr>
            <p:extLst>
              <p:ext uri="{D42A27DB-BD31-4B8C-83A1-F6EECF244321}">
                <p14:modId xmlns:p14="http://schemas.microsoft.com/office/powerpoint/2010/main" val="2073964093"/>
              </p:ext>
            </p:extLst>
          </p:nvPr>
        </p:nvGraphicFramePr>
        <p:xfrm>
          <a:off x="2215516" y="2755304"/>
          <a:ext cx="6962775" cy="1828800"/>
        </p:xfrm>
        <a:graphic>
          <a:graphicData uri="http://schemas.openxmlformats.org/presentationml/2006/ole">
            <mc:AlternateContent xmlns:mc="http://schemas.openxmlformats.org/markup-compatibility/2006">
              <mc:Choice xmlns:v="urn:schemas-microsoft-com:vml" Requires="v">
                <p:oleObj name="公式" r:id="rId5" imgW="3195720" imgH="863640" progId="Equation.3">
                  <p:embed/>
                </p:oleObj>
              </mc:Choice>
              <mc:Fallback>
                <p:oleObj name="公式" r:id="rId5" imgW="3195720" imgH="863640" progId="Equation.3">
                  <p:embed/>
                  <p:pic>
                    <p:nvPicPr>
                      <p:cNvPr id="307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5516" y="2755304"/>
                        <a:ext cx="69627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925218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additive="base">
                                        <p:cTn id="7" dur="500" fill="hold"/>
                                        <p:tgtEl>
                                          <p:spTgt spid="358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3" name="日期占位符 6"/>
          <p:cNvSpPr>
            <a:spLocks noGrp="1"/>
          </p:cNvSpPr>
          <p:nvPr>
            <p:ph type="dt" sz="half" idx="10"/>
          </p:nvPr>
        </p:nvSpPr>
        <p:spPr>
          <a:noFill/>
        </p:spPr>
        <p:txBody>
          <a:bodyPr/>
          <a:lstStyle/>
          <a:p>
            <a:endParaRPr lang="en-US" altLang="zh-CN"/>
          </a:p>
        </p:txBody>
      </p:sp>
      <p:sp>
        <p:nvSpPr>
          <p:cNvPr id="4100" name="Rectangle 2"/>
          <p:cNvSpPr>
            <a:spLocks noGrp="1" noChangeArrowheads="1"/>
          </p:cNvSpPr>
          <p:nvPr>
            <p:ph type="title"/>
          </p:nvPr>
        </p:nvSpPr>
        <p:spPr>
          <a:xfrm>
            <a:off x="1244600" y="228770"/>
            <a:ext cx="8267700" cy="662782"/>
          </a:xfrm>
          <a:noFill/>
        </p:spPr>
        <p:txBody>
          <a:bodyPr vert="horz" lIns="90488" tIns="44450" rIns="90488" bIns="44450" rtlCol="0" anchor="ctr" anchorCtr="1">
            <a:normAutofit/>
          </a:bodyPr>
          <a:lstStyle/>
          <a:p>
            <a:pPr eaLnBrk="1" hangingPunct="1"/>
            <a:r>
              <a:rPr kumimoji="1" lang="en-US" altLang="zh-CN" sz="4000" dirty="0"/>
              <a:t>9.2.2  </a:t>
            </a:r>
            <a:r>
              <a:rPr kumimoji="1" lang="zh-CN" altLang="en-US" sz="4000" dirty="0"/>
              <a:t>简单线性相关系数的检验</a:t>
            </a:r>
            <a:endParaRPr lang="zh-CN" altLang="en-US" sz="4000" dirty="0"/>
          </a:p>
        </p:txBody>
      </p:sp>
      <p:sp>
        <p:nvSpPr>
          <p:cNvPr id="153603" name="Rectangle 3"/>
          <p:cNvSpPr>
            <a:spLocks noGrp="1" noChangeArrowheads="1"/>
          </p:cNvSpPr>
          <p:nvPr>
            <p:ph idx="1"/>
          </p:nvPr>
        </p:nvSpPr>
        <p:spPr>
          <a:xfrm>
            <a:off x="990599" y="1001255"/>
            <a:ext cx="10668001" cy="5132606"/>
          </a:xfrm>
          <a:noFill/>
        </p:spPr>
        <p:txBody>
          <a:bodyPr vert="horz" lIns="90488" tIns="44450" rIns="90488" bIns="44450" rtlCol="0">
            <a:normAutofit/>
          </a:bodyPr>
          <a:lstStyle/>
          <a:p>
            <a:pPr marL="609600" indent="-609600">
              <a:lnSpc>
                <a:spcPct val="120000"/>
              </a:lnSpc>
            </a:pPr>
            <a:r>
              <a:rPr lang="zh-CN" altLang="en-US" sz="3600" dirty="0">
                <a:solidFill>
                  <a:schemeClr val="tx1"/>
                </a:solidFill>
              </a:rPr>
              <a:t>提出假设：</a:t>
            </a:r>
            <a:r>
              <a:rPr lang="en-US" altLang="zh-CN" sz="3600" i="1" dirty="0">
                <a:solidFill>
                  <a:srgbClr val="CC0099"/>
                </a:solidFill>
                <a:latin typeface="Times New Roman" pitchFamily="18" charset="0"/>
              </a:rPr>
              <a:t>H</a:t>
            </a:r>
            <a:r>
              <a:rPr lang="en-US" altLang="zh-CN" sz="3600" baseline="-25000" dirty="0">
                <a:solidFill>
                  <a:srgbClr val="CC0099"/>
                </a:solidFill>
              </a:rPr>
              <a:t>0</a:t>
            </a:r>
            <a:r>
              <a:rPr lang="zh-CN" altLang="en-US" sz="3600" dirty="0">
                <a:solidFill>
                  <a:srgbClr val="CC0099"/>
                </a:solidFill>
              </a:rPr>
              <a:t>：</a:t>
            </a:r>
            <a:r>
              <a:rPr lang="zh-CN" altLang="en-US" sz="3600" i="1" dirty="0">
                <a:solidFill>
                  <a:srgbClr val="CC0099"/>
                </a:solidFill>
                <a:sym typeface="Symbol" pitchFamily="18" charset="2"/>
              </a:rPr>
              <a:t></a:t>
            </a:r>
            <a:r>
              <a:rPr lang="zh-CN" altLang="en-US" sz="3600" dirty="0">
                <a:solidFill>
                  <a:srgbClr val="CC0099"/>
                </a:solidFill>
                <a:sym typeface="Symbol" pitchFamily="18" charset="2"/>
              </a:rPr>
              <a:t> ；</a:t>
            </a:r>
            <a:r>
              <a:rPr lang="en-US" altLang="zh-CN" sz="3600" i="1" dirty="0">
                <a:solidFill>
                  <a:srgbClr val="CC0099"/>
                </a:solidFill>
                <a:latin typeface="Times New Roman" pitchFamily="18" charset="0"/>
                <a:sym typeface="Symbol" pitchFamily="18" charset="2"/>
              </a:rPr>
              <a:t>H</a:t>
            </a:r>
            <a:r>
              <a:rPr lang="en-US" altLang="zh-CN" sz="3600" baseline="-25000" dirty="0">
                <a:solidFill>
                  <a:srgbClr val="CC0099"/>
                </a:solidFill>
                <a:sym typeface="Symbol" pitchFamily="18" charset="2"/>
              </a:rPr>
              <a:t>1</a:t>
            </a:r>
            <a:r>
              <a:rPr lang="zh-CN" altLang="en-US" sz="3600" dirty="0">
                <a:solidFill>
                  <a:srgbClr val="CC0099"/>
                </a:solidFill>
                <a:sym typeface="Symbol" pitchFamily="18" charset="2"/>
              </a:rPr>
              <a:t>：</a:t>
            </a:r>
            <a:r>
              <a:rPr lang="zh-CN" altLang="en-US" sz="3600" i="1" dirty="0">
                <a:solidFill>
                  <a:srgbClr val="CC0099"/>
                </a:solidFill>
                <a:sym typeface="Symbol" pitchFamily="18" charset="2"/>
              </a:rPr>
              <a:t></a:t>
            </a:r>
            <a:r>
              <a:rPr lang="zh-CN" altLang="en-US" sz="3600" dirty="0">
                <a:solidFill>
                  <a:srgbClr val="CC0099"/>
                </a:solidFill>
                <a:sym typeface="Symbol" pitchFamily="18" charset="2"/>
              </a:rPr>
              <a:t></a:t>
            </a:r>
            <a:r>
              <a:rPr lang="en-US" altLang="zh-CN" sz="3600" dirty="0">
                <a:solidFill>
                  <a:srgbClr val="CC0099"/>
                </a:solidFill>
                <a:sym typeface="Symbol" pitchFamily="18" charset="2"/>
              </a:rPr>
              <a:t>0</a:t>
            </a:r>
          </a:p>
          <a:p>
            <a:pPr marL="609600" indent="-609600">
              <a:lnSpc>
                <a:spcPct val="120000"/>
              </a:lnSpc>
            </a:pPr>
            <a:r>
              <a:rPr lang="zh-CN" altLang="en-US" sz="3600" dirty="0">
                <a:solidFill>
                  <a:schemeClr val="tx1"/>
                </a:solidFill>
                <a:sym typeface="Symbol" pitchFamily="18" charset="2"/>
              </a:rPr>
              <a:t>确定检验的统计量：</a:t>
            </a:r>
          </a:p>
          <a:p>
            <a:pPr marL="685800" lvl="1" indent="0">
              <a:lnSpc>
                <a:spcPct val="120000"/>
              </a:lnSpc>
              <a:buNone/>
            </a:pPr>
            <a:r>
              <a:rPr lang="zh-CN" altLang="en-US" sz="2400" dirty="0">
                <a:sym typeface="Symbol" pitchFamily="18" charset="2"/>
              </a:rPr>
              <a:t>  当</a:t>
            </a:r>
            <a:r>
              <a:rPr lang="en-US" altLang="zh-CN" sz="2400" dirty="0">
                <a:sym typeface="Symbol" pitchFamily="18" charset="2"/>
              </a:rPr>
              <a:t>X,Y</a:t>
            </a:r>
            <a:r>
              <a:rPr lang="zh-CN" altLang="en-US" sz="2400" dirty="0">
                <a:sym typeface="Symbol" pitchFamily="18" charset="2"/>
              </a:rPr>
              <a:t>均为正态随机变量时，</a:t>
            </a:r>
          </a:p>
        </p:txBody>
      </p:sp>
      <p:sp>
        <p:nvSpPr>
          <p:cNvPr id="4099" name="灯片编号占位符 5"/>
          <p:cNvSpPr>
            <a:spLocks noGrp="1"/>
          </p:cNvSpPr>
          <p:nvPr>
            <p:ph type="sldNum" sz="quarter" idx="4"/>
          </p:nvPr>
        </p:nvSpPr>
        <p:spPr>
          <a:noFill/>
        </p:spPr>
        <p:txBody>
          <a:bodyPr/>
          <a:lstStyle/>
          <a:p>
            <a:r>
              <a:rPr lang="en-US" altLang="zh-CN" dirty="0"/>
              <a:t>9--</a:t>
            </a:r>
            <a:fld id="{53C8F521-A9D2-4D72-A51B-733343A03BA7}" type="slidenum">
              <a:rPr lang="en-US" altLang="zh-CN" smtClean="0"/>
              <a:pPr/>
              <a:t>25</a:t>
            </a:fld>
            <a:endParaRPr lang="en-US" altLang="zh-CN" dirty="0"/>
          </a:p>
        </p:txBody>
      </p:sp>
      <p:graphicFrame>
        <p:nvGraphicFramePr>
          <p:cNvPr id="153605" name="Object 5">
            <a:hlinkClick r:id="" action="ppaction://ole?verb=0"/>
          </p:cNvPr>
          <p:cNvGraphicFramePr>
            <a:graphicFrameLocks/>
          </p:cNvGraphicFramePr>
          <p:nvPr>
            <p:extLst>
              <p:ext uri="{D42A27DB-BD31-4B8C-83A1-F6EECF244321}">
                <p14:modId xmlns:p14="http://schemas.microsoft.com/office/powerpoint/2010/main" val="3971923119"/>
              </p:ext>
            </p:extLst>
          </p:nvPr>
        </p:nvGraphicFramePr>
        <p:xfrm>
          <a:off x="6131719" y="2070100"/>
          <a:ext cx="3380581" cy="1309521"/>
        </p:xfrm>
        <a:graphic>
          <a:graphicData uri="http://schemas.openxmlformats.org/presentationml/2006/ole">
            <mc:AlternateContent xmlns:mc="http://schemas.openxmlformats.org/markup-compatibility/2006">
              <mc:Choice xmlns:v="urn:schemas-microsoft-com:vml" Requires="v">
                <p:oleObj name="Equation" r:id="rId3" imgW="1434960" imgH="469800" progId="Equation.3">
                  <p:embed/>
                </p:oleObj>
              </mc:Choice>
              <mc:Fallback>
                <p:oleObj name="Equation" r:id="rId3" imgW="1434960" imgH="469800" progId="Equation.3">
                  <p:embed/>
                  <p:pic>
                    <p:nvPicPr>
                      <p:cNvPr id="153605"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1719" y="2070100"/>
                        <a:ext cx="3380581" cy="1309521"/>
                      </a:xfrm>
                      <a:prstGeom prst="rect">
                        <a:avLst/>
                      </a:prstGeom>
                      <a:noFill/>
                      <a:ln>
                        <a:noFill/>
                      </a:ln>
                      <a:effectLst>
                        <a:outerShdw dist="17961" dir="2700000" algn="ctr" rotWithShape="0">
                          <a:schemeClr val="bg2"/>
                        </a:outerShdw>
                      </a:effectLst>
                    </p:spPr>
                  </p:pic>
                </p:oleObj>
              </mc:Fallback>
            </mc:AlternateContent>
          </a:graphicData>
        </a:graphic>
      </p:graphicFrame>
      <p:sp>
        <p:nvSpPr>
          <p:cNvPr id="153607" name="Rectangle 7"/>
          <p:cNvSpPr>
            <a:spLocks noChangeArrowheads="1"/>
          </p:cNvSpPr>
          <p:nvPr/>
        </p:nvSpPr>
        <p:spPr bwMode="auto">
          <a:xfrm>
            <a:off x="1021556" y="3274526"/>
            <a:ext cx="8713788" cy="2527872"/>
          </a:xfrm>
          <a:prstGeom prst="rect">
            <a:avLst/>
          </a:prstGeom>
          <a:noFill/>
          <a:ln w="12700">
            <a:noFill/>
            <a:miter lim="800000"/>
            <a:headEnd/>
            <a:tailEnd/>
          </a:ln>
        </p:spPr>
        <p:txBody>
          <a:bodyPr>
            <a:spAutoFit/>
          </a:bodyPr>
          <a:lstStyle/>
          <a:p>
            <a:pPr marL="444500" indent="-444500" defTabSz="685783">
              <a:lnSpc>
                <a:spcPct val="120000"/>
              </a:lnSpc>
              <a:spcBef>
                <a:spcPts val="751"/>
              </a:spcBef>
              <a:spcAft>
                <a:spcPts val="225"/>
              </a:spcAft>
              <a:buSzPct val="80000"/>
              <a:buFont typeface="Wingdings" panose="05000000000000000000" pitchFamily="2" charset="2"/>
              <a:buChar char="n"/>
            </a:pPr>
            <a:r>
              <a:rPr lang="zh-CN" altLang="en-US" sz="3000" dirty="0">
                <a:latin typeface="微软雅黑" panose="020B0503020204020204" pitchFamily="34" charset="-122"/>
                <a:ea typeface="微软雅黑" panose="020B0503020204020204" pitchFamily="34" charset="-122"/>
                <a:sym typeface="Symbol" pitchFamily="18" charset="2"/>
              </a:rPr>
              <a:t>计算检验统计量的值 或 </a:t>
            </a:r>
            <a:r>
              <a:rPr lang="en-US" altLang="zh-CN" sz="3000" dirty="0">
                <a:latin typeface="微软雅黑" panose="020B0503020204020204" pitchFamily="34" charset="-122"/>
                <a:ea typeface="微软雅黑" panose="020B0503020204020204" pitchFamily="34" charset="-122"/>
                <a:sym typeface="Symbol" pitchFamily="18" charset="2"/>
              </a:rPr>
              <a:t>P</a:t>
            </a:r>
            <a:r>
              <a:rPr lang="zh-CN" altLang="en-US" sz="3000" dirty="0">
                <a:latin typeface="微软雅黑" panose="020B0503020204020204" pitchFamily="34" charset="-122"/>
                <a:ea typeface="微软雅黑" panose="020B0503020204020204" pitchFamily="34" charset="-122"/>
                <a:sym typeface="Symbol" pitchFamily="18" charset="2"/>
              </a:rPr>
              <a:t>值，确定显著性水平</a:t>
            </a:r>
          </a:p>
          <a:p>
            <a:pPr marL="1079500" lvl="2" indent="-457200" eaLnBrk="0" hangingPunct="0">
              <a:lnSpc>
                <a:spcPct val="120000"/>
              </a:lnSpc>
              <a:spcBef>
                <a:spcPts val="600"/>
              </a:spcBef>
              <a:buClr>
                <a:schemeClr val="hlink"/>
              </a:buClr>
              <a:buSzPct val="65000"/>
              <a:buFont typeface="Wingdings" panose="05000000000000000000" pitchFamily="2" charset="2"/>
              <a:buChar char="l"/>
            </a:pPr>
            <a:r>
              <a:rPr kumimoji="1" lang="zh-CN" altLang="en-US" sz="2800" b="1" dirty="0">
                <a:solidFill>
                  <a:srgbClr val="CC0099"/>
                </a:solidFill>
                <a:sym typeface="Symbol" pitchFamily="18" charset="2"/>
              </a:rPr>
              <a:t> </a:t>
            </a:r>
            <a:r>
              <a:rPr kumimoji="1" lang="zh-CN" altLang="en-US" sz="2800" b="1" dirty="0">
                <a:solidFill>
                  <a:srgbClr val="000000"/>
                </a:solidFill>
                <a:sym typeface="Symbol" pitchFamily="18" charset="2"/>
              </a:rPr>
              <a:t>若</a:t>
            </a:r>
            <a:r>
              <a:rPr kumimoji="1" lang="en-US" altLang="zh-CN" sz="2800" b="1" i="1" dirty="0">
                <a:solidFill>
                  <a:srgbClr val="000000"/>
                </a:solidFill>
                <a:sym typeface="Symbol" pitchFamily="18" charset="2"/>
              </a:rPr>
              <a:t>t </a:t>
            </a:r>
            <a:r>
              <a:rPr kumimoji="1" lang="en-US" altLang="zh-CN" sz="2800" b="1" dirty="0">
                <a:solidFill>
                  <a:srgbClr val="000000"/>
                </a:solidFill>
                <a:sym typeface="Symbol" pitchFamily="18" charset="2"/>
              </a:rPr>
              <a:t>&gt;</a:t>
            </a:r>
            <a:r>
              <a:rPr kumimoji="1" lang="en-US" altLang="zh-CN" sz="3200" b="1" i="1" dirty="0">
                <a:solidFill>
                  <a:srgbClr val="000000"/>
                </a:solidFill>
                <a:sym typeface="Symbol" pitchFamily="18" charset="2"/>
              </a:rPr>
              <a:t>t</a:t>
            </a:r>
            <a:r>
              <a:rPr kumimoji="1" lang="en-US" altLang="zh-CN" sz="2800" b="1" baseline="-25000" dirty="0">
                <a:solidFill>
                  <a:srgbClr val="000000"/>
                </a:solidFill>
                <a:sym typeface="Symbol" pitchFamily="18" charset="2"/>
              </a:rPr>
              <a:t></a:t>
            </a:r>
            <a:r>
              <a:rPr kumimoji="1" lang="en-US" altLang="zh-CN" sz="2800" b="1" dirty="0">
                <a:solidFill>
                  <a:srgbClr val="000000"/>
                </a:solidFill>
                <a:sym typeface="Symbol" pitchFamily="18" charset="2"/>
              </a:rPr>
              <a:t>  </a:t>
            </a:r>
            <a:r>
              <a:rPr kumimoji="1" lang="zh-CN" altLang="en-US" sz="2800" b="1" dirty="0">
                <a:sym typeface="Symbol" pitchFamily="18" charset="2"/>
              </a:rPr>
              <a:t>或 </a:t>
            </a:r>
            <a:r>
              <a:rPr kumimoji="1" lang="en-US" altLang="zh-CN" sz="2800" b="1" dirty="0">
                <a:sym typeface="Symbol" pitchFamily="18" charset="2"/>
              </a:rPr>
              <a:t>P</a:t>
            </a:r>
            <a:r>
              <a:rPr kumimoji="1" lang="zh-CN" altLang="en-US" sz="2800" b="1" dirty="0">
                <a:sym typeface="Symbol" pitchFamily="18" charset="2"/>
              </a:rPr>
              <a:t>值</a:t>
            </a:r>
            <a:r>
              <a:rPr kumimoji="1" lang="en-US" altLang="zh-CN" sz="2800" b="1" dirty="0">
                <a:sym typeface="Symbol" pitchFamily="18" charset="2"/>
              </a:rPr>
              <a:t>&lt;</a:t>
            </a:r>
            <a:r>
              <a:rPr kumimoji="1" lang="en-US" altLang="zh-CN" sz="2800" b="1" i="1" dirty="0">
                <a:sym typeface="Symbol" pitchFamily="18" charset="2"/>
              </a:rPr>
              <a:t></a:t>
            </a:r>
            <a:r>
              <a:rPr kumimoji="1" lang="zh-CN" altLang="en-US" sz="2800" b="1" dirty="0">
                <a:sym typeface="Symbol" pitchFamily="18" charset="2"/>
              </a:rPr>
              <a:t>，</a:t>
            </a:r>
            <a:r>
              <a:rPr kumimoji="1" lang="zh-CN" altLang="en-US" sz="2800" b="1" dirty="0">
                <a:solidFill>
                  <a:srgbClr val="000000"/>
                </a:solidFill>
                <a:sym typeface="Symbol" pitchFamily="18" charset="2"/>
              </a:rPr>
              <a:t>拒绝</a:t>
            </a:r>
            <a:r>
              <a:rPr kumimoji="1" lang="en-US" altLang="zh-CN" sz="2800" b="1" i="1" dirty="0">
                <a:solidFill>
                  <a:srgbClr val="000000"/>
                </a:solidFill>
                <a:latin typeface="Times New Roman" pitchFamily="18" charset="0"/>
                <a:sym typeface="Symbol" pitchFamily="18" charset="2"/>
              </a:rPr>
              <a:t>H</a:t>
            </a:r>
            <a:r>
              <a:rPr kumimoji="1" lang="en-US" altLang="zh-CN" sz="2800" b="1" baseline="-25000" dirty="0">
                <a:solidFill>
                  <a:srgbClr val="000000"/>
                </a:solidFill>
                <a:sym typeface="Symbol" pitchFamily="18" charset="2"/>
              </a:rPr>
              <a:t>0</a:t>
            </a:r>
          </a:p>
          <a:p>
            <a:pPr marL="1079500" lvl="3" indent="-457200" eaLnBrk="0" hangingPunct="0">
              <a:lnSpc>
                <a:spcPct val="120000"/>
              </a:lnSpc>
              <a:spcBef>
                <a:spcPts val="600"/>
              </a:spcBef>
              <a:buClr>
                <a:schemeClr val="hlink"/>
              </a:buClr>
              <a:buSzPct val="65000"/>
              <a:buFont typeface="Wingdings" panose="05000000000000000000" pitchFamily="2" charset="2"/>
              <a:buChar char="l"/>
            </a:pPr>
            <a:r>
              <a:rPr kumimoji="1" lang="en-US" altLang="zh-CN" sz="2800" b="1" dirty="0">
                <a:solidFill>
                  <a:srgbClr val="000000"/>
                </a:solidFill>
                <a:sym typeface="Symbol" pitchFamily="18" charset="2"/>
              </a:rPr>
              <a:t>                         </a:t>
            </a:r>
            <a:r>
              <a:rPr kumimoji="1" lang="zh-CN" altLang="en-US" sz="2800" b="1" dirty="0">
                <a:solidFill>
                  <a:srgbClr val="000000"/>
                </a:solidFill>
                <a:sym typeface="Symbol" pitchFamily="18" charset="2"/>
              </a:rPr>
              <a:t>（即总体</a:t>
            </a:r>
            <a:r>
              <a:rPr kumimoji="1" lang="zh-CN" altLang="en-US" sz="2800" b="1" dirty="0">
                <a:solidFill>
                  <a:schemeClr val="tx2"/>
                </a:solidFill>
                <a:sym typeface="Symbol" pitchFamily="18" charset="2"/>
              </a:rPr>
              <a:t>线性相关</a:t>
            </a:r>
            <a:r>
              <a:rPr kumimoji="1" lang="zh-CN" altLang="en-US" sz="2800" b="1" u="sng" dirty="0">
                <a:solidFill>
                  <a:srgbClr val="CC0099"/>
                </a:solidFill>
                <a:sym typeface="Symbol" pitchFamily="18" charset="2"/>
              </a:rPr>
              <a:t>显著 </a:t>
            </a:r>
            <a:r>
              <a:rPr kumimoji="1" lang="en-US" altLang="zh-CN" sz="2800" b="1" dirty="0">
                <a:solidFill>
                  <a:srgbClr val="CC0099"/>
                </a:solidFill>
                <a:sym typeface="Symbol" pitchFamily="18" charset="2"/>
              </a:rPr>
              <a:t>.</a:t>
            </a:r>
            <a:r>
              <a:rPr kumimoji="1" lang="zh-CN" altLang="en-US" sz="2800" b="1" dirty="0">
                <a:solidFill>
                  <a:srgbClr val="000000"/>
                </a:solidFill>
                <a:sym typeface="Symbol" pitchFamily="18" charset="2"/>
              </a:rPr>
              <a:t>）</a:t>
            </a:r>
          </a:p>
          <a:p>
            <a:pPr marL="1079500" lvl="2" indent="-457200" eaLnBrk="0" hangingPunct="0">
              <a:lnSpc>
                <a:spcPct val="120000"/>
              </a:lnSpc>
              <a:spcBef>
                <a:spcPts val="600"/>
              </a:spcBef>
              <a:buClr>
                <a:schemeClr val="hlink"/>
              </a:buClr>
              <a:buSzPct val="65000"/>
              <a:buFont typeface="Wingdings" panose="05000000000000000000" pitchFamily="2" charset="2"/>
              <a:buChar char="l"/>
            </a:pPr>
            <a:r>
              <a:rPr kumimoji="1" lang="zh-CN" altLang="en-US" sz="2800" b="1" dirty="0">
                <a:solidFill>
                  <a:srgbClr val="000000"/>
                </a:solidFill>
                <a:sym typeface="Symbol" pitchFamily="18" charset="2"/>
              </a:rPr>
              <a:t> 反之不能拒绝</a:t>
            </a:r>
            <a:r>
              <a:rPr kumimoji="1" lang="en-US" altLang="zh-CN" sz="2800" b="1" i="1" dirty="0">
                <a:solidFill>
                  <a:srgbClr val="000000"/>
                </a:solidFill>
                <a:latin typeface="Times New Roman" pitchFamily="18" charset="0"/>
                <a:sym typeface="Symbol" pitchFamily="18" charset="2"/>
              </a:rPr>
              <a:t>H</a:t>
            </a:r>
            <a:r>
              <a:rPr kumimoji="1" lang="en-US" altLang="zh-CN" sz="2800" b="1" dirty="0">
                <a:solidFill>
                  <a:srgbClr val="000000"/>
                </a:solidFill>
                <a:sym typeface="Symbol" pitchFamily="18" charset="2"/>
              </a:rPr>
              <a:t>0 </a:t>
            </a:r>
            <a:r>
              <a:rPr kumimoji="1" lang="zh-CN" altLang="en-US" sz="2800" b="1" dirty="0">
                <a:solidFill>
                  <a:srgbClr val="000000"/>
                </a:solidFill>
                <a:sym typeface="Symbol" pitchFamily="18" charset="2"/>
              </a:rPr>
              <a:t>（即总体线性相关不显著）</a:t>
            </a:r>
          </a:p>
        </p:txBody>
      </p:sp>
    </p:spTree>
    <p:extLst>
      <p:ext uri="{BB962C8B-B14F-4D97-AF65-F5344CB8AC3E}">
        <p14:creationId xmlns:p14="http://schemas.microsoft.com/office/powerpoint/2010/main" val="142077676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wipe(left)">
                                      <p:cBhvr>
                                        <p:cTn id="12" dur="500"/>
                                        <p:tgtEl>
                                          <p:spTgt spid="15360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3603">
                                            <p:txEl>
                                              <p:pRg st="2" end="2"/>
                                            </p:txEl>
                                          </p:spTgt>
                                        </p:tgtEl>
                                        <p:attrNameLst>
                                          <p:attrName>style.visibility</p:attrName>
                                        </p:attrNameLst>
                                      </p:cBhvr>
                                      <p:to>
                                        <p:strVal val="visible"/>
                                      </p:to>
                                    </p:set>
                                    <p:animEffect transition="in" filter="wipe(left)">
                                      <p:cBhvr>
                                        <p:cTn id="15" dur="500"/>
                                        <p:tgtEl>
                                          <p:spTgt spid="153603">
                                            <p:txEl>
                                              <p:pRg st="2" end="2"/>
                                            </p:txEl>
                                          </p:spTgt>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53605"/>
                                        </p:tgtEl>
                                        <p:attrNameLst>
                                          <p:attrName>style.visibility</p:attrName>
                                        </p:attrNameLst>
                                      </p:cBhvr>
                                      <p:to>
                                        <p:strVal val="visible"/>
                                      </p:to>
                                    </p:set>
                                    <p:animEffect transition="in" filter="wipe(left)">
                                      <p:cBhvr>
                                        <p:cTn id="19" dur="10"/>
                                        <p:tgtEl>
                                          <p:spTgt spid="15360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3607">
                                            <p:txEl>
                                              <p:pRg st="0" end="0"/>
                                            </p:txEl>
                                          </p:spTgt>
                                        </p:tgtEl>
                                        <p:attrNameLst>
                                          <p:attrName>style.visibility</p:attrName>
                                        </p:attrNameLst>
                                      </p:cBhvr>
                                      <p:to>
                                        <p:strVal val="visible"/>
                                      </p:to>
                                    </p:set>
                                    <p:animEffect transition="in" filter="wipe(left)">
                                      <p:cBhvr>
                                        <p:cTn id="24" dur="500"/>
                                        <p:tgtEl>
                                          <p:spTgt spid="153607">
                                            <p:txEl>
                                              <p:pRg st="0" end="0"/>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53607">
                                            <p:txEl>
                                              <p:pRg st="1" end="1"/>
                                            </p:txEl>
                                          </p:spTgt>
                                        </p:tgtEl>
                                        <p:attrNameLst>
                                          <p:attrName>style.visibility</p:attrName>
                                        </p:attrNameLst>
                                      </p:cBhvr>
                                      <p:to>
                                        <p:strVal val="visible"/>
                                      </p:to>
                                    </p:set>
                                    <p:animEffect transition="in" filter="wipe(left)">
                                      <p:cBhvr>
                                        <p:cTn id="27" dur="500"/>
                                        <p:tgtEl>
                                          <p:spTgt spid="153607">
                                            <p:txEl>
                                              <p:pRg st="1" end="1"/>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3607">
                                            <p:txEl>
                                              <p:pRg st="2" end="2"/>
                                            </p:txEl>
                                          </p:spTgt>
                                        </p:tgtEl>
                                        <p:attrNameLst>
                                          <p:attrName>style.visibility</p:attrName>
                                        </p:attrNameLst>
                                      </p:cBhvr>
                                      <p:to>
                                        <p:strVal val="visible"/>
                                      </p:to>
                                    </p:set>
                                    <p:animEffect transition="in" filter="wipe(left)">
                                      <p:cBhvr>
                                        <p:cTn id="30" dur="500"/>
                                        <p:tgtEl>
                                          <p:spTgt spid="153607">
                                            <p:txEl>
                                              <p:pRg st="2" end="2"/>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53607">
                                            <p:txEl>
                                              <p:pRg st="3" end="3"/>
                                            </p:txEl>
                                          </p:spTgt>
                                        </p:tgtEl>
                                        <p:attrNameLst>
                                          <p:attrName>style.visibility</p:attrName>
                                        </p:attrNameLst>
                                      </p:cBhvr>
                                      <p:to>
                                        <p:strVal val="visible"/>
                                      </p:to>
                                    </p:set>
                                    <p:animEffect transition="in" filter="wipe(left)">
                                      <p:cBhvr>
                                        <p:cTn id="33" dur="500"/>
                                        <p:tgtEl>
                                          <p:spTgt spid="1536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autoUpdateAnimBg="0"/>
      <p:bldP spid="15360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30" name="日期占位符 9"/>
          <p:cNvSpPr>
            <a:spLocks noGrp="1"/>
          </p:cNvSpPr>
          <p:nvPr>
            <p:ph type="dt" sz="half" idx="10"/>
          </p:nvPr>
        </p:nvSpPr>
        <p:spPr>
          <a:noFill/>
        </p:spPr>
        <p:txBody>
          <a:bodyPr/>
          <a:lstStyle/>
          <a:p>
            <a:endParaRPr lang="en-US" altLang="zh-CN"/>
          </a:p>
        </p:txBody>
      </p:sp>
      <p:sp>
        <p:nvSpPr>
          <p:cNvPr id="5124" name="Rectangle 2"/>
          <p:cNvSpPr>
            <a:spLocks noGrp="1" noChangeArrowheads="1"/>
          </p:cNvSpPr>
          <p:nvPr>
            <p:ph type="title"/>
          </p:nvPr>
        </p:nvSpPr>
        <p:spPr>
          <a:xfrm>
            <a:off x="1193800" y="937321"/>
            <a:ext cx="8343900" cy="662782"/>
          </a:xfrm>
          <a:noFill/>
        </p:spPr>
        <p:txBody>
          <a:bodyPr vert="horz" lIns="90488" tIns="44450" rIns="90488" bIns="44450" rtlCol="0" anchor="ctr" anchorCtr="1">
            <a:noAutofit/>
          </a:bodyPr>
          <a:lstStyle/>
          <a:p>
            <a:r>
              <a:rPr lang="en-US" altLang="zh-CN" sz="3200" dirty="0">
                <a:solidFill>
                  <a:srgbClr val="0070C0"/>
                </a:solidFill>
              </a:rPr>
              <a:t>【</a:t>
            </a:r>
            <a:r>
              <a:rPr lang="zh-CN" altLang="en-US" sz="3200" dirty="0">
                <a:solidFill>
                  <a:srgbClr val="0070C0"/>
                </a:solidFill>
              </a:rPr>
              <a:t>例</a:t>
            </a:r>
            <a:r>
              <a:rPr lang="en-US" altLang="zh-CN" sz="3200" dirty="0">
                <a:solidFill>
                  <a:srgbClr val="0070C0"/>
                </a:solidFill>
              </a:rPr>
              <a:t>9-1】</a:t>
            </a:r>
            <a:r>
              <a:rPr lang="zh-CN" altLang="en-US" sz="3200" dirty="0">
                <a:solidFill>
                  <a:srgbClr val="0070C0"/>
                </a:solidFill>
              </a:rPr>
              <a:t>对上例的相关系数进行显著性检</a:t>
            </a:r>
            <a:r>
              <a:rPr lang="en-US" altLang="zh-CN" sz="2800" b="0" dirty="0">
                <a:solidFill>
                  <a:srgbClr val="0070C0"/>
                </a:solidFill>
              </a:rPr>
              <a:t>(</a:t>
            </a:r>
            <a:r>
              <a:rPr lang="en-US" altLang="zh-CN" sz="2800" b="0" i="1" dirty="0">
                <a:solidFill>
                  <a:srgbClr val="0070C0"/>
                </a:solidFill>
                <a:sym typeface="Symbol" pitchFamily="18" charset="2"/>
              </a:rPr>
              <a:t></a:t>
            </a:r>
            <a:r>
              <a:rPr lang="en-US" altLang="zh-CN" sz="2800" b="0" dirty="0">
                <a:solidFill>
                  <a:srgbClr val="0070C0"/>
                </a:solidFill>
                <a:sym typeface="Symbol" pitchFamily="18" charset="2"/>
              </a:rPr>
              <a:t>0.05</a:t>
            </a:r>
            <a:r>
              <a:rPr lang="en-US" altLang="zh-CN" sz="2800" b="0" dirty="0">
                <a:solidFill>
                  <a:srgbClr val="0070C0"/>
                </a:solidFill>
              </a:rPr>
              <a:t>)</a:t>
            </a:r>
            <a:br>
              <a:rPr lang="en-US" altLang="zh-CN" sz="2800" b="0" dirty="0">
                <a:solidFill>
                  <a:srgbClr val="0070C0"/>
                </a:solidFill>
              </a:rPr>
            </a:br>
            <a:endParaRPr lang="en-US" altLang="zh-CN" sz="3200" b="0" dirty="0">
              <a:solidFill>
                <a:srgbClr val="0070C0"/>
              </a:solidFill>
            </a:endParaRPr>
          </a:p>
        </p:txBody>
      </p:sp>
      <p:sp>
        <p:nvSpPr>
          <p:cNvPr id="155651" name="Rectangle 3"/>
          <p:cNvSpPr>
            <a:spLocks noGrp="1" noChangeArrowheads="1"/>
          </p:cNvSpPr>
          <p:nvPr>
            <p:ph idx="1"/>
          </p:nvPr>
        </p:nvSpPr>
        <p:spPr>
          <a:xfrm>
            <a:off x="1708732" y="1542186"/>
            <a:ext cx="9949868" cy="4691484"/>
          </a:xfrm>
          <a:noFill/>
        </p:spPr>
        <p:txBody>
          <a:bodyPr vert="horz" lIns="90488" tIns="44450" rIns="90488" bIns="44450" rtlCol="0">
            <a:normAutofit/>
          </a:bodyPr>
          <a:lstStyle/>
          <a:p>
            <a:pPr marL="355600" indent="-355600">
              <a:buFontTx/>
              <a:buChar char="•"/>
            </a:pPr>
            <a:r>
              <a:rPr lang="zh-CN" altLang="en-US" dirty="0">
                <a:solidFill>
                  <a:srgbClr val="0070C0"/>
                </a:solidFill>
              </a:rPr>
              <a:t>提出假设：</a:t>
            </a:r>
            <a:r>
              <a:rPr lang="en-US" altLang="zh-CN" i="1" dirty="0">
                <a:solidFill>
                  <a:srgbClr val="0070C0"/>
                </a:solidFill>
                <a:latin typeface="Times New Roman" pitchFamily="18" charset="0"/>
              </a:rPr>
              <a:t>H</a:t>
            </a:r>
            <a:r>
              <a:rPr lang="en-US" altLang="zh-CN" baseline="-25000" dirty="0">
                <a:solidFill>
                  <a:srgbClr val="0070C0"/>
                </a:solidFill>
              </a:rPr>
              <a:t>0</a:t>
            </a:r>
            <a:r>
              <a:rPr lang="zh-CN" altLang="en-US" dirty="0">
                <a:solidFill>
                  <a:srgbClr val="0070C0"/>
                </a:solidFill>
              </a:rPr>
              <a:t>：</a:t>
            </a:r>
            <a:r>
              <a:rPr lang="zh-CN" altLang="en-US" i="1" dirty="0">
                <a:solidFill>
                  <a:srgbClr val="0070C0"/>
                </a:solidFill>
                <a:sym typeface="Symbol" pitchFamily="18" charset="2"/>
              </a:rPr>
              <a:t></a:t>
            </a:r>
            <a:r>
              <a:rPr lang="zh-CN" altLang="en-US" dirty="0">
                <a:solidFill>
                  <a:srgbClr val="0070C0"/>
                </a:solidFill>
                <a:sym typeface="Symbol" pitchFamily="18" charset="2"/>
              </a:rPr>
              <a:t>   ；</a:t>
            </a:r>
            <a:r>
              <a:rPr lang="en-US" altLang="zh-CN" i="1" dirty="0">
                <a:solidFill>
                  <a:srgbClr val="0070C0"/>
                </a:solidFill>
                <a:latin typeface="Times New Roman" pitchFamily="18" charset="0"/>
                <a:sym typeface="Symbol" pitchFamily="18" charset="2"/>
              </a:rPr>
              <a:t>H</a:t>
            </a:r>
            <a:r>
              <a:rPr lang="en-US" altLang="zh-CN" baseline="-25000" dirty="0">
                <a:solidFill>
                  <a:srgbClr val="0070C0"/>
                </a:solidFill>
                <a:sym typeface="Symbol" pitchFamily="18" charset="2"/>
              </a:rPr>
              <a:t>1</a:t>
            </a:r>
            <a:r>
              <a:rPr lang="zh-CN" altLang="en-US" dirty="0">
                <a:solidFill>
                  <a:srgbClr val="0070C0"/>
                </a:solidFill>
                <a:sym typeface="Symbol" pitchFamily="18" charset="2"/>
              </a:rPr>
              <a:t>： </a:t>
            </a:r>
            <a:r>
              <a:rPr lang="zh-CN" altLang="en-US" i="1" dirty="0">
                <a:solidFill>
                  <a:srgbClr val="0070C0"/>
                </a:solidFill>
                <a:sym typeface="Symbol" pitchFamily="18" charset="2"/>
              </a:rPr>
              <a:t></a:t>
            </a:r>
            <a:r>
              <a:rPr lang="zh-CN" altLang="en-US" dirty="0">
                <a:solidFill>
                  <a:srgbClr val="0070C0"/>
                </a:solidFill>
                <a:sym typeface="Symbol" pitchFamily="18" charset="2"/>
              </a:rPr>
              <a:t>  </a:t>
            </a:r>
            <a:r>
              <a:rPr lang="en-US" altLang="zh-CN" dirty="0">
                <a:solidFill>
                  <a:srgbClr val="0070C0"/>
                </a:solidFill>
                <a:sym typeface="Symbol" pitchFamily="18" charset="2"/>
              </a:rPr>
              <a:t>0</a:t>
            </a:r>
          </a:p>
          <a:p>
            <a:pPr marL="355600" indent="-355600">
              <a:buFontTx/>
              <a:buChar char="•"/>
            </a:pPr>
            <a:r>
              <a:rPr lang="zh-CN" altLang="en-US" dirty="0">
                <a:solidFill>
                  <a:srgbClr val="0070C0"/>
                </a:solidFill>
                <a:sym typeface="Symbol" pitchFamily="18" charset="2"/>
              </a:rPr>
              <a:t>计算检验统计量的值及其</a:t>
            </a:r>
            <a:r>
              <a:rPr lang="en-US" altLang="zh-CN" dirty="0">
                <a:solidFill>
                  <a:srgbClr val="0070C0"/>
                </a:solidFill>
                <a:sym typeface="Symbol" pitchFamily="18" charset="2"/>
              </a:rPr>
              <a:t>P</a:t>
            </a:r>
            <a:r>
              <a:rPr lang="zh-CN" altLang="en-US" dirty="0">
                <a:solidFill>
                  <a:srgbClr val="0070C0"/>
                </a:solidFill>
                <a:sym typeface="Symbol" pitchFamily="18" charset="2"/>
              </a:rPr>
              <a:t>值：</a:t>
            </a:r>
          </a:p>
        </p:txBody>
      </p:sp>
      <p:sp>
        <p:nvSpPr>
          <p:cNvPr id="5123" name="灯片编号占位符 5"/>
          <p:cNvSpPr>
            <a:spLocks noGrp="1"/>
          </p:cNvSpPr>
          <p:nvPr>
            <p:ph type="sldNum" sz="quarter" idx="4"/>
          </p:nvPr>
        </p:nvSpPr>
        <p:spPr>
          <a:noFill/>
        </p:spPr>
        <p:txBody>
          <a:bodyPr/>
          <a:lstStyle/>
          <a:p>
            <a:r>
              <a:rPr lang="en-US" altLang="zh-CN"/>
              <a:t>9--</a:t>
            </a:r>
            <a:fld id="{9C8C39B2-9DC7-4D59-B9D8-1C477349BE1D}" type="slidenum">
              <a:rPr lang="en-US" altLang="zh-CN" smtClean="0"/>
              <a:pPr/>
              <a:t>26</a:t>
            </a:fld>
            <a:endParaRPr lang="en-US" altLang="zh-CN"/>
          </a:p>
        </p:txBody>
      </p:sp>
      <p:sp>
        <p:nvSpPr>
          <p:cNvPr id="155653" name="Rectangle 5"/>
          <p:cNvSpPr>
            <a:spLocks noChangeArrowheads="1"/>
          </p:cNvSpPr>
          <p:nvPr/>
        </p:nvSpPr>
        <p:spPr bwMode="auto">
          <a:xfrm>
            <a:off x="1616366" y="4955313"/>
            <a:ext cx="8530934" cy="1082348"/>
          </a:xfrm>
          <a:prstGeom prst="rect">
            <a:avLst/>
          </a:prstGeom>
          <a:noFill/>
          <a:ln w="12700">
            <a:noFill/>
            <a:miter lim="800000"/>
            <a:headEnd/>
            <a:tailEnd/>
          </a:ln>
        </p:spPr>
        <p:txBody>
          <a:bodyPr wrap="square">
            <a:spAutoFit/>
          </a:bodyPr>
          <a:lstStyle/>
          <a:p>
            <a:pPr marL="355600" indent="-355600" defTabSz="685783">
              <a:spcBef>
                <a:spcPts val="751"/>
              </a:spcBef>
              <a:spcAft>
                <a:spcPts val="225"/>
              </a:spcAft>
              <a:buClr>
                <a:schemeClr val="tx1"/>
              </a:buClr>
              <a:buSzPct val="80000"/>
              <a:buFontTx/>
              <a:buChar char="•"/>
            </a:pP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a:t>
            </a:r>
            <a:r>
              <a:rPr lang="zh-CN" altLang="en-US" sz="2800" dirty="0">
                <a:solidFill>
                  <a:srgbClr val="0070C0"/>
                </a:solidFill>
                <a:latin typeface="微软雅黑" panose="020B0503020204020204" pitchFamily="34" charset="-122"/>
                <a:ea typeface="微软雅黑" panose="020B0503020204020204" pitchFamily="34" charset="-122"/>
                <a:sym typeface="Symbol" pitchFamily="18" charset="2"/>
              </a:rPr>
              <a:t>＝</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0.05</a:t>
            </a:r>
            <a:r>
              <a:rPr lang="zh-CN" altLang="en-US" sz="2800" dirty="0">
                <a:solidFill>
                  <a:srgbClr val="0070C0"/>
                </a:solidFill>
                <a:latin typeface="微软雅黑" panose="020B0503020204020204" pitchFamily="34" charset="-122"/>
                <a:ea typeface="微软雅黑" panose="020B0503020204020204" pitchFamily="34" charset="-122"/>
                <a:sym typeface="Symbol" pitchFamily="18" charset="2"/>
              </a:rPr>
              <a:t>，临界值为 </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t</a:t>
            </a:r>
            <a:r>
              <a:rPr lang="en-US" altLang="zh-CN" sz="2800" baseline="-25000" dirty="0">
                <a:solidFill>
                  <a:srgbClr val="0070C0"/>
                </a:solidFill>
                <a:latin typeface="微软雅黑" panose="020B0503020204020204" pitchFamily="34" charset="-122"/>
                <a:ea typeface="微软雅黑" panose="020B0503020204020204" pitchFamily="34" charset="-122"/>
                <a:sym typeface="Symbol" pitchFamily="18" charset="2"/>
              </a:rPr>
              <a:t></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(n-2)=t</a:t>
            </a:r>
            <a:r>
              <a:rPr lang="en-US" altLang="zh-CN" sz="2800" baseline="-25000" dirty="0">
                <a:solidFill>
                  <a:srgbClr val="0070C0"/>
                </a:solidFill>
                <a:latin typeface="微软雅黑" panose="020B0503020204020204" pitchFamily="34" charset="-122"/>
                <a:ea typeface="微软雅黑" panose="020B0503020204020204" pitchFamily="34" charset="-122"/>
                <a:sym typeface="Symbol" pitchFamily="18" charset="2"/>
              </a:rPr>
              <a:t>0.025</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(6)=2.447</a:t>
            </a:r>
          </a:p>
          <a:p>
            <a:pPr marL="355600" indent="-355600" defTabSz="685783">
              <a:spcBef>
                <a:spcPts val="751"/>
              </a:spcBef>
              <a:spcAft>
                <a:spcPts val="225"/>
              </a:spcAft>
              <a:buClr>
                <a:schemeClr val="tx1"/>
              </a:buClr>
              <a:buSzPct val="80000"/>
              <a:buFontTx/>
              <a:buChar char="•"/>
            </a:pPr>
            <a:r>
              <a:rPr lang="zh-CN" altLang="en-US" sz="2800" dirty="0">
                <a:solidFill>
                  <a:srgbClr val="0070C0"/>
                </a:solidFill>
                <a:latin typeface="微软雅黑" panose="020B0503020204020204" pitchFamily="34" charset="-122"/>
                <a:ea typeface="微软雅黑" panose="020B0503020204020204" pitchFamily="34" charset="-122"/>
                <a:sym typeface="Symbol" pitchFamily="18" charset="2"/>
              </a:rPr>
              <a:t>结论：拒绝</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H</a:t>
            </a:r>
            <a:r>
              <a:rPr lang="en-US" altLang="zh-CN" sz="2800" baseline="-25000" dirty="0">
                <a:solidFill>
                  <a:srgbClr val="0070C0"/>
                </a:solidFill>
                <a:latin typeface="微软雅黑" panose="020B0503020204020204" pitchFamily="34" charset="-122"/>
                <a:ea typeface="微软雅黑" panose="020B0503020204020204" pitchFamily="34" charset="-122"/>
                <a:sym typeface="Symbol" pitchFamily="18" charset="2"/>
              </a:rPr>
              <a:t>0</a:t>
            </a:r>
            <a:r>
              <a:rPr lang="en-US" altLang="zh-CN" sz="2800" dirty="0">
                <a:solidFill>
                  <a:srgbClr val="0070C0"/>
                </a:solidFill>
                <a:latin typeface="微软雅黑" panose="020B0503020204020204" pitchFamily="34" charset="-122"/>
                <a:ea typeface="微软雅黑" panose="020B0503020204020204" pitchFamily="34" charset="-122"/>
                <a:sym typeface="Symbol" pitchFamily="18" charset="2"/>
              </a:rPr>
              <a:t> </a:t>
            </a:r>
            <a:r>
              <a:rPr lang="zh-CN" altLang="en-US" sz="2800" dirty="0">
                <a:solidFill>
                  <a:srgbClr val="0070C0"/>
                </a:solidFill>
                <a:latin typeface="微软雅黑" panose="020B0503020204020204" pitchFamily="34" charset="-122"/>
                <a:ea typeface="微软雅黑" panose="020B0503020204020204" pitchFamily="34" charset="-122"/>
                <a:sym typeface="Symbol" pitchFamily="18" charset="2"/>
              </a:rPr>
              <a:t>，广告费和销售量之间线性相关显著</a:t>
            </a:r>
            <a:endParaRPr kumimoji="1" lang="zh-CN" altLang="en-US" sz="2800" dirty="0">
              <a:solidFill>
                <a:srgbClr val="000000"/>
              </a:solidFill>
              <a:sym typeface="Symbol" pitchFamily="18" charset="2"/>
            </a:endParaRPr>
          </a:p>
        </p:txBody>
      </p:sp>
      <p:sp>
        <p:nvSpPr>
          <p:cNvPr id="155654" name="Text Box 6"/>
          <p:cNvSpPr txBox="1">
            <a:spLocks noChangeArrowheads="1"/>
          </p:cNvSpPr>
          <p:nvPr/>
        </p:nvSpPr>
        <p:spPr bwMode="auto">
          <a:xfrm>
            <a:off x="6522466" y="3789039"/>
            <a:ext cx="3425100" cy="1168400"/>
          </a:xfrm>
          <a:prstGeom prst="rect">
            <a:avLst/>
          </a:prstGeom>
          <a:noFill/>
          <a:ln w="9525">
            <a:noFill/>
            <a:miter lim="800000"/>
            <a:headEnd/>
            <a:tailEnd/>
          </a:ln>
        </p:spPr>
        <p:txBody>
          <a:bodyPr wrap="square">
            <a:spAutoFit/>
          </a:bodyPr>
          <a:lstStyle/>
          <a:p>
            <a:pPr>
              <a:spcBef>
                <a:spcPct val="50000"/>
              </a:spcBef>
            </a:pPr>
            <a:r>
              <a:rPr kumimoji="1" lang="en-US" altLang="zh-CN" sz="2800" b="1" i="1" dirty="0">
                <a:solidFill>
                  <a:srgbClr val="3333FF"/>
                </a:solidFill>
                <a:latin typeface="Times New Roman" pitchFamily="18" charset="0"/>
                <a:sym typeface="Symbol" pitchFamily="18" charset="2"/>
              </a:rPr>
              <a:t>P</a:t>
            </a:r>
            <a:r>
              <a:rPr kumimoji="1" lang="zh-CN" altLang="en-US" sz="2800" b="1" dirty="0">
                <a:solidFill>
                  <a:srgbClr val="3333FF"/>
                </a:solidFill>
                <a:sym typeface="Symbol" pitchFamily="18" charset="2"/>
              </a:rPr>
              <a:t>值</a:t>
            </a:r>
            <a:r>
              <a:rPr kumimoji="1" lang="en-US" altLang="zh-CN" sz="2800" b="1" dirty="0">
                <a:solidFill>
                  <a:srgbClr val="3333FF"/>
                </a:solidFill>
                <a:sym typeface="Symbol" pitchFamily="18" charset="2"/>
              </a:rPr>
              <a:t>=2×P{</a:t>
            </a:r>
            <a:r>
              <a:rPr kumimoji="1" lang="en-US" altLang="zh-CN" sz="2800" b="1" dirty="0">
                <a:solidFill>
                  <a:schemeClr val="tx2"/>
                </a:solidFill>
                <a:sym typeface="Symbol" pitchFamily="18" charset="2"/>
              </a:rPr>
              <a:t>t(6)&gt;4.73</a:t>
            </a:r>
            <a:r>
              <a:rPr kumimoji="1" lang="en-US" altLang="zh-CN" sz="2800" b="1" dirty="0">
                <a:solidFill>
                  <a:srgbClr val="3333FF"/>
                </a:solidFill>
                <a:sym typeface="Symbol" pitchFamily="18" charset="2"/>
              </a:rPr>
              <a:t>}</a:t>
            </a:r>
          </a:p>
          <a:p>
            <a:pPr>
              <a:spcBef>
                <a:spcPct val="50000"/>
              </a:spcBef>
            </a:pPr>
            <a:r>
              <a:rPr kumimoji="1" lang="en-US" altLang="zh-CN" sz="2800" b="1" dirty="0">
                <a:solidFill>
                  <a:srgbClr val="3333FF"/>
                </a:solidFill>
                <a:sym typeface="Symbol" pitchFamily="18" charset="2"/>
              </a:rPr>
              <a:t>       =</a:t>
            </a:r>
            <a:r>
              <a:rPr lang="en-US" altLang="zh-CN" sz="2800" b="1" dirty="0">
                <a:solidFill>
                  <a:srgbClr val="3333FF"/>
                </a:solidFill>
                <a:latin typeface="Times New Roman" pitchFamily="18" charset="0"/>
              </a:rPr>
              <a:t>0.0032</a:t>
            </a:r>
            <a:endParaRPr kumimoji="1" lang="en-US" altLang="zh-CN" sz="2800" b="1" dirty="0">
              <a:solidFill>
                <a:srgbClr val="3333FF"/>
              </a:solidFill>
              <a:latin typeface="Times New Roman" pitchFamily="18" charset="0"/>
              <a:sym typeface="Symbol" pitchFamily="18" charset="2"/>
            </a:endParaRPr>
          </a:p>
        </p:txBody>
      </p:sp>
      <p:sp>
        <p:nvSpPr>
          <p:cNvPr id="5128" name="Rectangle 62"/>
          <p:cNvSpPr>
            <a:spLocks noChangeArrowheads="1"/>
          </p:cNvSpPr>
          <p:nvPr/>
        </p:nvSpPr>
        <p:spPr bwMode="auto">
          <a:xfrm>
            <a:off x="1524001" y="3010972"/>
            <a:ext cx="184731" cy="369332"/>
          </a:xfrm>
          <a:prstGeom prst="rect">
            <a:avLst/>
          </a:prstGeom>
          <a:noFill/>
          <a:ln w="9525">
            <a:noFill/>
            <a:miter lim="800000"/>
            <a:headEnd/>
            <a:tailEnd/>
          </a:ln>
        </p:spPr>
        <p:txBody>
          <a:bodyPr wrap="none" anchor="ctr">
            <a:spAutoFit/>
          </a:bodyPr>
          <a:lstStyle/>
          <a:p>
            <a:endParaRPr lang="zh-CN" altLang="en-US"/>
          </a:p>
        </p:txBody>
      </p:sp>
      <p:sp>
        <p:nvSpPr>
          <p:cNvPr id="5129"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5122" name="Object 9"/>
          <p:cNvGraphicFramePr>
            <a:graphicFrameLocks noChangeAspect="1"/>
          </p:cNvGraphicFramePr>
          <p:nvPr>
            <p:extLst>
              <p:ext uri="{D42A27DB-BD31-4B8C-83A1-F6EECF244321}">
                <p14:modId xmlns:p14="http://schemas.microsoft.com/office/powerpoint/2010/main" val="3597898840"/>
              </p:ext>
            </p:extLst>
          </p:nvPr>
        </p:nvGraphicFramePr>
        <p:xfrm>
          <a:off x="2063998" y="2872066"/>
          <a:ext cx="4619667" cy="1450974"/>
        </p:xfrm>
        <a:graphic>
          <a:graphicData uri="http://schemas.openxmlformats.org/presentationml/2006/ole">
            <mc:AlternateContent xmlns:mc="http://schemas.openxmlformats.org/markup-compatibility/2006">
              <mc:Choice xmlns:v="urn:schemas-microsoft-com:vml" Requires="v">
                <p:oleObj name="Equation" r:id="rId3" imgW="1485900" imgH="469900" progId="Equation.DSMT4">
                  <p:embed/>
                </p:oleObj>
              </mc:Choice>
              <mc:Fallback>
                <p:oleObj name="Equation" r:id="rId3" imgW="1485900" imgH="469900" progId="Equation.DSMT4">
                  <p:embed/>
                  <p:pic>
                    <p:nvPicPr>
                      <p:cNvPr id="5122"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998" y="2872066"/>
                        <a:ext cx="4619667" cy="1450974"/>
                      </a:xfrm>
                      <a:prstGeom prst="rect">
                        <a:avLst/>
                      </a:prstGeom>
                      <a:noFill/>
                    </p:spPr>
                  </p:pic>
                </p:oleObj>
              </mc:Fallback>
            </mc:AlternateContent>
          </a:graphicData>
        </a:graphic>
      </p:graphicFrame>
    </p:spTree>
    <p:extLst>
      <p:ext uri="{BB962C8B-B14F-4D97-AF65-F5344CB8AC3E}">
        <p14:creationId xmlns:p14="http://schemas.microsoft.com/office/powerpoint/2010/main" val="107660510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1">
                                            <p:txEl>
                                              <p:pRg st="1" end="1"/>
                                            </p:txEl>
                                          </p:spTgt>
                                        </p:tgtEl>
                                        <p:attrNameLst>
                                          <p:attrName>style.visibility</p:attrName>
                                        </p:attrNameLst>
                                      </p:cBhvr>
                                      <p:to>
                                        <p:strVal val="visible"/>
                                      </p:to>
                                    </p:set>
                                    <p:animEffect transition="in" filter="wipe(left)">
                                      <p:cBhvr>
                                        <p:cTn id="7" dur="500"/>
                                        <p:tgtEl>
                                          <p:spTgt spid="155651">
                                            <p:txEl>
                                              <p:pRg st="1" end="1"/>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5654"/>
                                        </p:tgtEl>
                                        <p:attrNameLst>
                                          <p:attrName>style.visibility</p:attrName>
                                        </p:attrNameLst>
                                      </p:cBhvr>
                                      <p:to>
                                        <p:strVal val="visible"/>
                                      </p:to>
                                    </p:set>
                                    <p:animEffect transition="in" filter="blinds(horizontal)">
                                      <p:cBhvr>
                                        <p:cTn id="15" dur="500"/>
                                        <p:tgtEl>
                                          <p:spTgt spid="15565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5653">
                                            <p:txEl>
                                              <p:pRg st="0" end="0"/>
                                            </p:txEl>
                                          </p:spTgt>
                                        </p:tgtEl>
                                        <p:attrNameLst>
                                          <p:attrName>style.visibility</p:attrName>
                                        </p:attrNameLst>
                                      </p:cBhvr>
                                      <p:to>
                                        <p:strVal val="visible"/>
                                      </p:to>
                                    </p:set>
                                    <p:animEffect transition="in" filter="wipe(left)">
                                      <p:cBhvr>
                                        <p:cTn id="20" dur="500"/>
                                        <p:tgtEl>
                                          <p:spTgt spid="15565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5653">
                                            <p:txEl>
                                              <p:pRg st="1" end="1"/>
                                            </p:txEl>
                                          </p:spTgt>
                                        </p:tgtEl>
                                        <p:attrNameLst>
                                          <p:attrName>style.visibility</p:attrName>
                                        </p:attrNameLst>
                                      </p:cBhvr>
                                      <p:to>
                                        <p:strVal val="visible"/>
                                      </p:to>
                                    </p:set>
                                    <p:animEffect transition="in" filter="wipe(left)">
                                      <p:cBhvr>
                                        <p:cTn id="25" dur="500"/>
                                        <p:tgtEl>
                                          <p:spTgt spid="15565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uiExpand="1" build="p" autoUpdateAnimBg="0"/>
      <p:bldP spid="155653" grpId="0" build="p" autoUpdateAnimBg="0"/>
      <p:bldP spid="15565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1"/>
          <p:cNvPicPr>
            <a:picLocks noChangeAspect="1" noChangeArrowheads="1"/>
          </p:cNvPicPr>
          <p:nvPr/>
        </p:nvPicPr>
        <p:blipFill>
          <a:blip r:embed="rId2" cstate="print"/>
          <a:srcRect/>
          <a:stretch>
            <a:fillRect/>
          </a:stretch>
        </p:blipFill>
        <p:spPr bwMode="auto">
          <a:xfrm>
            <a:off x="1820286" y="3064905"/>
            <a:ext cx="8280920" cy="3429000"/>
          </a:xfrm>
          <a:prstGeom prst="rect">
            <a:avLst/>
          </a:prstGeom>
          <a:noFill/>
          <a:ln w="9525">
            <a:noFill/>
            <a:miter lim="800000"/>
            <a:headEnd/>
            <a:tailEnd/>
          </a:ln>
        </p:spPr>
      </p:pic>
      <p:sp>
        <p:nvSpPr>
          <p:cNvPr id="80902" name="日期占位符 5"/>
          <p:cNvSpPr>
            <a:spLocks noGrp="1"/>
          </p:cNvSpPr>
          <p:nvPr>
            <p:ph type="dt" sz="half" idx="10"/>
          </p:nvPr>
        </p:nvSpPr>
        <p:spPr>
          <a:noFill/>
        </p:spPr>
        <p:txBody>
          <a:bodyPr/>
          <a:lstStyle/>
          <a:p>
            <a:endParaRPr lang="en-US" altLang="zh-CN"/>
          </a:p>
        </p:txBody>
      </p:sp>
      <p:sp>
        <p:nvSpPr>
          <p:cNvPr id="80898" name="标题 1"/>
          <p:cNvSpPr>
            <a:spLocks noGrp="1"/>
          </p:cNvSpPr>
          <p:nvPr>
            <p:ph type="title"/>
          </p:nvPr>
        </p:nvSpPr>
        <p:spPr>
          <a:xfrm>
            <a:off x="880872" y="235310"/>
            <a:ext cx="10778491" cy="662782"/>
          </a:xfrm>
        </p:spPr>
        <p:txBody>
          <a:bodyPr/>
          <a:lstStyle/>
          <a:p>
            <a:r>
              <a:rPr lang="en-US" altLang="zh-CN" dirty="0"/>
              <a:t>【</a:t>
            </a:r>
            <a:r>
              <a:rPr lang="zh-CN" altLang="en-US" dirty="0"/>
              <a:t>附</a:t>
            </a:r>
            <a:r>
              <a:rPr lang="en-US" altLang="zh-CN" dirty="0"/>
              <a:t>】</a:t>
            </a:r>
            <a:r>
              <a:rPr lang="zh-CN" altLang="en-US" dirty="0"/>
              <a:t>利用</a:t>
            </a:r>
            <a:r>
              <a:rPr lang="en-US" altLang="zh-CN" dirty="0"/>
              <a:t>SPSS</a:t>
            </a:r>
            <a:r>
              <a:rPr lang="zh-CN" altLang="en-US" dirty="0"/>
              <a:t>计算相关系数及其检验的</a:t>
            </a:r>
            <a:r>
              <a:rPr lang="en-US" altLang="zh-CN" dirty="0"/>
              <a:t>P</a:t>
            </a:r>
            <a:r>
              <a:rPr lang="zh-CN" altLang="en-US" dirty="0"/>
              <a:t>值</a:t>
            </a:r>
          </a:p>
        </p:txBody>
      </p:sp>
      <p:sp>
        <p:nvSpPr>
          <p:cNvPr id="80899" name="内容占位符 2"/>
          <p:cNvSpPr>
            <a:spLocks noGrp="1"/>
          </p:cNvSpPr>
          <p:nvPr>
            <p:ph idx="1"/>
          </p:nvPr>
        </p:nvSpPr>
        <p:spPr>
          <a:xfrm>
            <a:off x="880872" y="841860"/>
            <a:ext cx="10024873" cy="4877474"/>
          </a:xfrm>
        </p:spPr>
        <p:txBody>
          <a:bodyPr/>
          <a:lstStyle/>
          <a:p>
            <a:pPr marL="0" indent="0">
              <a:lnSpc>
                <a:spcPct val="150000"/>
              </a:lnSpc>
              <a:buNone/>
            </a:pPr>
            <a:r>
              <a:rPr lang="zh-CN" altLang="en-US" sz="2400" dirty="0">
                <a:solidFill>
                  <a:srgbClr val="000000"/>
                </a:solidFill>
              </a:rPr>
              <a:t>    在</a:t>
            </a:r>
            <a:r>
              <a:rPr lang="en-US" altLang="zh-CN" sz="2400" dirty="0">
                <a:solidFill>
                  <a:srgbClr val="000000"/>
                </a:solidFill>
              </a:rPr>
              <a:t>SPSS</a:t>
            </a:r>
            <a:r>
              <a:rPr lang="zh-CN" altLang="en-US" sz="2400" dirty="0">
                <a:solidFill>
                  <a:srgbClr val="000000"/>
                </a:solidFill>
              </a:rPr>
              <a:t>数据文件中依次点击菜单栏的“</a:t>
            </a:r>
            <a:r>
              <a:rPr lang="en-US" altLang="zh-CN" sz="2400" dirty="0">
                <a:solidFill>
                  <a:srgbClr val="000000"/>
                </a:solidFill>
              </a:rPr>
              <a:t>Analyze</a:t>
            </a:r>
            <a:r>
              <a:rPr lang="zh-CN" altLang="en-US" sz="2400" dirty="0">
                <a:solidFill>
                  <a:srgbClr val="000000"/>
                </a:solidFill>
              </a:rPr>
              <a:t>－</a:t>
            </a:r>
            <a:r>
              <a:rPr lang="en-US" altLang="zh-CN" sz="2400" dirty="0">
                <a:solidFill>
                  <a:srgbClr val="000000"/>
                </a:solidFill>
              </a:rPr>
              <a:t>Correlate</a:t>
            </a:r>
            <a:r>
              <a:rPr lang="zh-CN" altLang="en-US" sz="2400" dirty="0">
                <a:solidFill>
                  <a:srgbClr val="000000"/>
                </a:solidFill>
              </a:rPr>
              <a:t>－</a:t>
            </a:r>
            <a:r>
              <a:rPr lang="en-US" altLang="zh-CN" sz="2400" dirty="0">
                <a:solidFill>
                  <a:srgbClr val="000000"/>
                </a:solidFill>
              </a:rPr>
              <a:t>Bivariate</a:t>
            </a:r>
            <a:r>
              <a:rPr lang="zh-CN" altLang="en-US" sz="2400" dirty="0">
                <a:solidFill>
                  <a:srgbClr val="000000"/>
                </a:solidFill>
              </a:rPr>
              <a:t>”，在选项卡中，把所要分析的变量从左侧选入右侧的变量框中，选择所要计算的相关系数“</a:t>
            </a:r>
            <a:r>
              <a:rPr lang="en-US" altLang="zh-CN" sz="2400" dirty="0">
                <a:solidFill>
                  <a:srgbClr val="000000"/>
                </a:solidFill>
              </a:rPr>
              <a:t>Pearson</a:t>
            </a:r>
            <a:r>
              <a:rPr lang="zh-CN" altLang="en-US" sz="2400" dirty="0">
                <a:solidFill>
                  <a:srgbClr val="000000"/>
                </a:solidFill>
              </a:rPr>
              <a:t>”（可同时选择“</a:t>
            </a:r>
            <a:r>
              <a:rPr lang="en-US" altLang="zh-CN" sz="2400" dirty="0">
                <a:solidFill>
                  <a:srgbClr val="000000"/>
                </a:solidFill>
              </a:rPr>
              <a:t>Spearman</a:t>
            </a:r>
            <a:r>
              <a:rPr lang="zh-CN" altLang="en-US" sz="2400" dirty="0">
                <a:solidFill>
                  <a:srgbClr val="000000"/>
                </a:solidFill>
              </a:rPr>
              <a:t>”和“</a:t>
            </a:r>
            <a:r>
              <a:rPr lang="en-US" altLang="zh-CN" sz="2400" dirty="0">
                <a:solidFill>
                  <a:srgbClr val="000000"/>
                </a:solidFill>
              </a:rPr>
              <a:t>Kendall</a:t>
            </a:r>
            <a:r>
              <a:rPr lang="zh-CN" altLang="en-US" sz="2400" dirty="0">
                <a:solidFill>
                  <a:srgbClr val="000000"/>
                </a:solidFill>
              </a:rPr>
              <a:t>”），点击“</a:t>
            </a:r>
            <a:r>
              <a:rPr lang="en-US" altLang="zh-CN" sz="2400" dirty="0">
                <a:solidFill>
                  <a:srgbClr val="000000"/>
                </a:solidFill>
              </a:rPr>
              <a:t>OK</a:t>
            </a:r>
            <a:r>
              <a:rPr lang="zh-CN" altLang="en-US" sz="2400" dirty="0">
                <a:solidFill>
                  <a:srgbClr val="000000"/>
                </a:solidFill>
              </a:rPr>
              <a:t>” 即可。</a:t>
            </a:r>
          </a:p>
        </p:txBody>
      </p:sp>
      <p:sp>
        <p:nvSpPr>
          <p:cNvPr id="80900" name="灯片编号占位符 3"/>
          <p:cNvSpPr>
            <a:spLocks noGrp="1"/>
          </p:cNvSpPr>
          <p:nvPr>
            <p:ph type="sldNum" sz="quarter" idx="4"/>
          </p:nvPr>
        </p:nvSpPr>
        <p:spPr>
          <a:noFill/>
        </p:spPr>
        <p:txBody>
          <a:bodyPr/>
          <a:lstStyle/>
          <a:p>
            <a:r>
              <a:rPr lang="en-US" altLang="zh-CN"/>
              <a:t>9--</a:t>
            </a:r>
            <a:fld id="{4949F8B6-E08D-455A-B586-87334294DB77}" type="slidenum">
              <a:rPr lang="en-US" altLang="zh-CN" smtClean="0"/>
              <a:pPr/>
              <a:t>27</a:t>
            </a:fld>
            <a:endParaRPr lang="en-US" altLang="zh-CN"/>
          </a:p>
        </p:txBody>
      </p:sp>
    </p:spTree>
    <p:extLst>
      <p:ext uri="{BB962C8B-B14F-4D97-AF65-F5344CB8AC3E}">
        <p14:creationId xmlns:p14="http://schemas.microsoft.com/office/powerpoint/2010/main" val="4111022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日期占位符 7"/>
          <p:cNvSpPr>
            <a:spLocks noGrp="1"/>
          </p:cNvSpPr>
          <p:nvPr>
            <p:ph type="dt" sz="half" idx="10"/>
          </p:nvPr>
        </p:nvSpPr>
        <p:spPr>
          <a:noFill/>
        </p:spPr>
        <p:txBody>
          <a:bodyPr/>
          <a:lstStyle/>
          <a:p>
            <a:endParaRPr lang="en-US" altLang="zh-CN"/>
          </a:p>
        </p:txBody>
      </p:sp>
      <p:sp>
        <p:nvSpPr>
          <p:cNvPr id="6148" name="Rectangle 2"/>
          <p:cNvSpPr>
            <a:spLocks noGrp="1" noChangeArrowheads="1"/>
          </p:cNvSpPr>
          <p:nvPr>
            <p:ph type="title"/>
          </p:nvPr>
        </p:nvSpPr>
        <p:spPr>
          <a:xfrm>
            <a:off x="2501899" y="619005"/>
            <a:ext cx="5384801" cy="662782"/>
          </a:xfrm>
        </p:spPr>
        <p:txBody>
          <a:bodyPr/>
          <a:lstStyle/>
          <a:p>
            <a:pPr eaLnBrk="1" hangingPunct="1"/>
            <a:r>
              <a:rPr kumimoji="1" lang="en-US" altLang="zh-CN" dirty="0"/>
              <a:t>9.2.</a:t>
            </a:r>
            <a:r>
              <a:rPr lang="en-US" altLang="zh-CN" dirty="0"/>
              <a:t>3  </a:t>
            </a:r>
            <a:r>
              <a:rPr lang="zh-CN" altLang="en-US" dirty="0"/>
              <a:t>等级相关系数</a:t>
            </a:r>
          </a:p>
        </p:txBody>
      </p:sp>
      <p:sp>
        <p:nvSpPr>
          <p:cNvPr id="6149" name="Rectangle 3"/>
          <p:cNvSpPr>
            <a:spLocks noGrp="1" noChangeArrowheads="1"/>
          </p:cNvSpPr>
          <p:nvPr>
            <p:ph idx="1"/>
          </p:nvPr>
        </p:nvSpPr>
        <p:spPr>
          <a:xfrm>
            <a:off x="2946400" y="1485900"/>
            <a:ext cx="6807200" cy="4647961"/>
          </a:xfrm>
        </p:spPr>
        <p:txBody>
          <a:bodyPr/>
          <a:lstStyle/>
          <a:p>
            <a:pPr eaLnBrk="1" hangingPunct="1">
              <a:lnSpc>
                <a:spcPct val="115000"/>
              </a:lnSpc>
              <a:spcBef>
                <a:spcPct val="30000"/>
              </a:spcBef>
            </a:pPr>
            <a:r>
              <a:rPr lang="zh-CN" altLang="en-US" dirty="0"/>
              <a:t>主要适用于定序变量</a:t>
            </a:r>
          </a:p>
          <a:p>
            <a:pPr eaLnBrk="1" hangingPunct="1">
              <a:lnSpc>
                <a:spcPct val="115000"/>
              </a:lnSpc>
              <a:spcBef>
                <a:spcPct val="30000"/>
              </a:spcBef>
            </a:pPr>
            <a:r>
              <a:rPr lang="zh-CN" altLang="en-US" dirty="0"/>
              <a:t>也可以用于定量变量</a:t>
            </a:r>
          </a:p>
          <a:p>
            <a:pPr lvl="1" eaLnBrk="1" hangingPunct="1">
              <a:lnSpc>
                <a:spcPct val="115000"/>
              </a:lnSpc>
              <a:spcBef>
                <a:spcPct val="30000"/>
              </a:spcBef>
            </a:pPr>
            <a:r>
              <a:rPr lang="zh-CN" altLang="en-US" sz="3200" dirty="0"/>
              <a:t>未知其总体分布时</a:t>
            </a:r>
          </a:p>
          <a:p>
            <a:pPr lvl="1" eaLnBrk="1" hangingPunct="1">
              <a:lnSpc>
                <a:spcPct val="115000"/>
              </a:lnSpc>
              <a:spcBef>
                <a:spcPct val="30000"/>
              </a:spcBef>
            </a:pPr>
            <a:r>
              <a:rPr lang="zh-CN" altLang="en-US" sz="3200" dirty="0"/>
              <a:t>先计算等级（排序位次）差 </a:t>
            </a:r>
            <a:r>
              <a:rPr lang="en-US" altLang="zh-CN" i="1" dirty="0">
                <a:latin typeface="Times New Roman" pitchFamily="18" charset="0"/>
              </a:rPr>
              <a:t>d</a:t>
            </a:r>
            <a:r>
              <a:rPr lang="en-US" altLang="zh-CN" i="1" baseline="-25000" dirty="0">
                <a:latin typeface="Times New Roman" pitchFamily="18" charset="0"/>
              </a:rPr>
              <a:t>i </a:t>
            </a:r>
            <a:r>
              <a:rPr lang="zh-CN" altLang="en-US" sz="3200" dirty="0"/>
              <a:t>：</a:t>
            </a:r>
          </a:p>
        </p:txBody>
      </p:sp>
      <p:sp>
        <p:nvSpPr>
          <p:cNvPr id="6147" name="灯片编号占位符 5"/>
          <p:cNvSpPr>
            <a:spLocks noGrp="1"/>
          </p:cNvSpPr>
          <p:nvPr>
            <p:ph type="sldNum" sz="quarter" idx="4"/>
          </p:nvPr>
        </p:nvSpPr>
        <p:spPr>
          <a:noFill/>
        </p:spPr>
        <p:txBody>
          <a:bodyPr/>
          <a:lstStyle/>
          <a:p>
            <a:r>
              <a:rPr lang="en-US" altLang="zh-CN"/>
              <a:t>9--</a:t>
            </a:r>
            <a:fld id="{AE20E611-B7DA-441E-B2F5-47540926D892}" type="slidenum">
              <a:rPr lang="en-US" altLang="zh-CN" smtClean="0"/>
              <a:pPr/>
              <a:t>28</a:t>
            </a:fld>
            <a:endParaRPr lang="en-US" altLang="zh-CN"/>
          </a:p>
        </p:txBody>
      </p:sp>
      <p:sp>
        <p:nvSpPr>
          <p:cNvPr id="6150" name="Rectangle 15"/>
          <p:cNvSpPr>
            <a:spLocks noChangeArrowheads="1"/>
          </p:cNvSpPr>
          <p:nvPr/>
        </p:nvSpPr>
        <p:spPr bwMode="auto">
          <a:xfrm>
            <a:off x="1524001" y="2192338"/>
            <a:ext cx="184731" cy="369332"/>
          </a:xfrm>
          <a:prstGeom prst="rect">
            <a:avLst/>
          </a:prstGeom>
          <a:noFill/>
          <a:ln w="9525">
            <a:noFill/>
            <a:miter lim="800000"/>
            <a:headEnd/>
            <a:tailEnd/>
          </a:ln>
        </p:spPr>
        <p:txBody>
          <a:bodyPr wrap="none">
            <a:spAutoFit/>
          </a:bodyPr>
          <a:lstStyle/>
          <a:p>
            <a:endParaRPr lang="zh-CN" altLang="zh-CN"/>
          </a:p>
        </p:txBody>
      </p:sp>
      <p:sp>
        <p:nvSpPr>
          <p:cNvPr id="6151" name="Line 157"/>
          <p:cNvSpPr>
            <a:spLocks noChangeShapeType="1"/>
          </p:cNvSpPr>
          <p:nvPr/>
        </p:nvSpPr>
        <p:spPr bwMode="auto">
          <a:xfrm>
            <a:off x="5321300" y="2436813"/>
            <a:ext cx="0" cy="0"/>
          </a:xfrm>
          <a:prstGeom prst="line">
            <a:avLst/>
          </a:prstGeom>
          <a:noFill/>
          <a:ln w="12700" cap="rnd">
            <a:solidFill>
              <a:srgbClr val="000000"/>
            </a:solidFill>
            <a:round/>
            <a:headEnd/>
            <a:tailEnd/>
          </a:ln>
        </p:spPr>
        <p:txBody>
          <a:bodyPr/>
          <a:lstStyle/>
          <a:p>
            <a:endParaRPr lang="zh-CN" altLang="en-US"/>
          </a:p>
        </p:txBody>
      </p:sp>
      <p:graphicFrame>
        <p:nvGraphicFramePr>
          <p:cNvPr id="6146" name="Object 417"/>
          <p:cNvGraphicFramePr>
            <a:graphicFrameLocks noChangeAspect="1"/>
          </p:cNvGraphicFramePr>
          <p:nvPr>
            <p:extLst>
              <p:ext uri="{D42A27DB-BD31-4B8C-83A1-F6EECF244321}">
                <p14:modId xmlns:p14="http://schemas.microsoft.com/office/powerpoint/2010/main" val="407908215"/>
              </p:ext>
            </p:extLst>
          </p:nvPr>
        </p:nvGraphicFramePr>
        <p:xfrm>
          <a:off x="4457700" y="4445000"/>
          <a:ext cx="2592388" cy="876300"/>
        </p:xfrm>
        <a:graphic>
          <a:graphicData uri="http://schemas.openxmlformats.org/presentationml/2006/ole">
            <mc:AlternateContent xmlns:mc="http://schemas.openxmlformats.org/markup-compatibility/2006">
              <mc:Choice xmlns:v="urn:schemas-microsoft-com:vml" Requires="v">
                <p:oleObj r:id="rId2" imgW="672808" imgH="228501" progId="Equation.DSMT4">
                  <p:embed/>
                </p:oleObj>
              </mc:Choice>
              <mc:Fallback>
                <p:oleObj r:id="rId2" imgW="672808" imgH="228501" progId="Equation.DSMT4">
                  <p:embed/>
                  <p:pic>
                    <p:nvPicPr>
                      <p:cNvPr id="6146" name="Object 4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7700" y="4445000"/>
                        <a:ext cx="2592388"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0639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9" name="日期占位符 7"/>
          <p:cNvSpPr>
            <a:spLocks noGrp="1"/>
          </p:cNvSpPr>
          <p:nvPr>
            <p:ph type="dt" sz="half" idx="10"/>
          </p:nvPr>
        </p:nvSpPr>
        <p:spPr>
          <a:noFill/>
        </p:spPr>
        <p:txBody>
          <a:bodyPr/>
          <a:lstStyle/>
          <a:p>
            <a:endParaRPr lang="en-US" altLang="zh-CN"/>
          </a:p>
        </p:txBody>
      </p:sp>
      <p:sp>
        <p:nvSpPr>
          <p:cNvPr id="81923" name="Rectangle 2"/>
          <p:cNvSpPr>
            <a:spLocks noGrp="1" noChangeArrowheads="1"/>
          </p:cNvSpPr>
          <p:nvPr>
            <p:ph type="title"/>
          </p:nvPr>
        </p:nvSpPr>
        <p:spPr>
          <a:xfrm>
            <a:off x="1930400" y="119066"/>
            <a:ext cx="10261600" cy="662782"/>
          </a:xfrm>
        </p:spPr>
        <p:txBody>
          <a:bodyPr/>
          <a:lstStyle/>
          <a:p>
            <a:pPr eaLnBrk="1" hangingPunct="1"/>
            <a:r>
              <a:rPr kumimoji="1" lang="en-US" altLang="zh-CN" dirty="0"/>
              <a:t>【</a:t>
            </a:r>
            <a:r>
              <a:rPr kumimoji="1" lang="zh-CN" altLang="en-US" dirty="0"/>
              <a:t>例</a:t>
            </a:r>
            <a:r>
              <a:rPr kumimoji="1" lang="en-US" altLang="zh-CN" dirty="0"/>
              <a:t>9-2】</a:t>
            </a:r>
            <a:endParaRPr lang="en-US" altLang="zh-CN" dirty="0"/>
          </a:p>
        </p:txBody>
      </p:sp>
      <p:sp>
        <p:nvSpPr>
          <p:cNvPr id="81922" name="灯片编号占位符 5"/>
          <p:cNvSpPr>
            <a:spLocks noGrp="1"/>
          </p:cNvSpPr>
          <p:nvPr>
            <p:ph type="sldNum" sz="quarter" idx="4"/>
          </p:nvPr>
        </p:nvSpPr>
        <p:spPr>
          <a:noFill/>
        </p:spPr>
        <p:txBody>
          <a:bodyPr/>
          <a:lstStyle/>
          <a:p>
            <a:r>
              <a:rPr lang="en-US" altLang="zh-CN"/>
              <a:t>9--</a:t>
            </a:r>
            <a:fld id="{7F5E3247-10B5-48AD-83BE-4624AB5E36B0}" type="slidenum">
              <a:rPr lang="en-US" altLang="zh-CN" smtClean="0"/>
              <a:pPr/>
              <a:t>29</a:t>
            </a:fld>
            <a:endParaRPr lang="en-US" altLang="zh-CN"/>
          </a:p>
        </p:txBody>
      </p:sp>
      <p:sp>
        <p:nvSpPr>
          <p:cNvPr id="81924" name="Rectangle 4"/>
          <p:cNvSpPr>
            <a:spLocks noChangeArrowheads="1"/>
          </p:cNvSpPr>
          <p:nvPr/>
        </p:nvSpPr>
        <p:spPr bwMode="auto">
          <a:xfrm>
            <a:off x="1524001" y="2192338"/>
            <a:ext cx="184731" cy="369332"/>
          </a:xfrm>
          <a:prstGeom prst="rect">
            <a:avLst/>
          </a:prstGeom>
          <a:noFill/>
          <a:ln w="9525">
            <a:noFill/>
            <a:miter lim="800000"/>
            <a:headEnd/>
            <a:tailEnd/>
          </a:ln>
        </p:spPr>
        <p:txBody>
          <a:bodyPr wrap="none">
            <a:spAutoFit/>
          </a:bodyPr>
          <a:lstStyle/>
          <a:p>
            <a:endParaRPr lang="zh-CN" altLang="zh-CN"/>
          </a:p>
        </p:txBody>
      </p:sp>
      <p:sp>
        <p:nvSpPr>
          <p:cNvPr id="81925" name="Line 5"/>
          <p:cNvSpPr>
            <a:spLocks noChangeShapeType="1"/>
          </p:cNvSpPr>
          <p:nvPr/>
        </p:nvSpPr>
        <p:spPr bwMode="auto">
          <a:xfrm>
            <a:off x="5321300" y="2436813"/>
            <a:ext cx="0" cy="0"/>
          </a:xfrm>
          <a:prstGeom prst="line">
            <a:avLst/>
          </a:prstGeom>
          <a:noFill/>
          <a:ln w="12700" cap="rnd">
            <a:solidFill>
              <a:srgbClr val="000000"/>
            </a:solidFill>
            <a:round/>
            <a:headEnd/>
            <a:tailEnd/>
          </a:ln>
        </p:spPr>
        <p:txBody>
          <a:bodyPr/>
          <a:lstStyle/>
          <a:p>
            <a:endParaRPr lang="zh-CN" altLang="en-US"/>
          </a:p>
        </p:txBody>
      </p:sp>
      <p:graphicFrame>
        <p:nvGraphicFramePr>
          <p:cNvPr id="386564" name="Group 516"/>
          <p:cNvGraphicFramePr>
            <a:graphicFrameLocks noGrp="1"/>
          </p:cNvGraphicFramePr>
          <p:nvPr/>
        </p:nvGraphicFramePr>
        <p:xfrm>
          <a:off x="2208213" y="1341438"/>
          <a:ext cx="3744910" cy="5087960"/>
        </p:xfrm>
        <a:graphic>
          <a:graphicData uri="http://schemas.openxmlformats.org/drawingml/2006/table">
            <a:tbl>
              <a:tblPr/>
              <a:tblGrid>
                <a:gridCol w="900674">
                  <a:extLst>
                    <a:ext uri="{9D8B030D-6E8A-4147-A177-3AD203B41FA5}">
                      <a16:colId xmlns:a16="http://schemas.microsoft.com/office/drawing/2014/main" val="20000"/>
                    </a:ext>
                  </a:extLst>
                </a:gridCol>
                <a:gridCol w="1318135">
                  <a:extLst>
                    <a:ext uri="{9D8B030D-6E8A-4147-A177-3AD203B41FA5}">
                      <a16:colId xmlns:a16="http://schemas.microsoft.com/office/drawing/2014/main" val="20001"/>
                    </a:ext>
                  </a:extLst>
                </a:gridCol>
                <a:gridCol w="1526101">
                  <a:extLst>
                    <a:ext uri="{9D8B030D-6E8A-4147-A177-3AD203B41FA5}">
                      <a16:colId xmlns:a16="http://schemas.microsoft.com/office/drawing/2014/main" val="20002"/>
                    </a:ext>
                  </a:extLst>
                </a:gridCol>
              </a:tblGrid>
              <a:tr h="941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序号</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广告费（万元）</a:t>
                      </a:r>
                      <a:endParaRPr kumimoji="0" lang="zh-CN" altLang="en-US" sz="2400" b="1" i="0" u="none" strike="noStrike" cap="none" normalizeH="0" baseline="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销售量</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（万套）</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270">
                <a:tc>
                  <a:txBody>
                    <a:bodyPr/>
                    <a:lstStyle/>
                    <a:p>
                      <a:pPr algn="ctr">
                        <a:spcAft>
                          <a:spcPts val="0"/>
                        </a:spcAft>
                      </a:pPr>
                      <a:r>
                        <a:rPr lang="en-US" sz="2800" b="1" kern="100" dirty="0">
                          <a:latin typeface="Times New Roman"/>
                          <a:ea typeface="宋体"/>
                          <a:cs typeface="Times New Roman"/>
                        </a:rPr>
                        <a:t>1</a:t>
                      </a:r>
                      <a:endParaRPr lang="zh-CN" sz="2800" b="1" kern="100" dirty="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40</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32</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270">
                <a:tc>
                  <a:txBody>
                    <a:bodyPr/>
                    <a:lstStyle/>
                    <a:p>
                      <a:pPr algn="ctr">
                        <a:spcAft>
                          <a:spcPts val="0"/>
                        </a:spcAft>
                      </a:pPr>
                      <a:r>
                        <a:rPr lang="en-US" sz="2800" b="1" kern="100">
                          <a:latin typeface="Times New Roman"/>
                          <a:ea typeface="宋体"/>
                          <a:cs typeface="Times New Roman"/>
                        </a:rPr>
                        <a:t>2</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45</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34</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270">
                <a:tc>
                  <a:txBody>
                    <a:bodyPr/>
                    <a:lstStyle/>
                    <a:p>
                      <a:pPr algn="ctr">
                        <a:spcAft>
                          <a:spcPts val="0"/>
                        </a:spcAft>
                      </a:pPr>
                      <a:r>
                        <a:rPr lang="en-US" sz="2800" b="1" kern="100">
                          <a:latin typeface="Times New Roman"/>
                          <a:ea typeface="宋体"/>
                          <a:cs typeface="Times New Roman"/>
                        </a:rPr>
                        <a:t>3</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45</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48</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270">
                <a:tc>
                  <a:txBody>
                    <a:bodyPr/>
                    <a:lstStyle/>
                    <a:p>
                      <a:pPr algn="ctr">
                        <a:spcAft>
                          <a:spcPts val="0"/>
                        </a:spcAft>
                      </a:pPr>
                      <a:r>
                        <a:rPr lang="en-US" sz="2800" b="1" kern="100">
                          <a:latin typeface="Times New Roman"/>
                          <a:ea typeface="宋体"/>
                          <a:cs typeface="Times New Roman"/>
                        </a:rPr>
                        <a:t>4</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65</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55</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270">
                <a:tc>
                  <a:txBody>
                    <a:bodyPr/>
                    <a:lstStyle/>
                    <a:p>
                      <a:pPr algn="ctr">
                        <a:spcAft>
                          <a:spcPts val="0"/>
                        </a:spcAft>
                      </a:pPr>
                      <a:r>
                        <a:rPr lang="en-US" sz="2800" b="1" kern="100">
                          <a:latin typeface="Times New Roman"/>
                          <a:ea typeface="宋体"/>
                          <a:cs typeface="Times New Roman"/>
                        </a:rPr>
                        <a:t>5</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80</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50</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4037">
                <a:tc>
                  <a:txBody>
                    <a:bodyPr/>
                    <a:lstStyle/>
                    <a:p>
                      <a:pPr algn="ctr">
                        <a:spcAft>
                          <a:spcPts val="0"/>
                        </a:spcAft>
                      </a:pPr>
                      <a:r>
                        <a:rPr lang="en-US" sz="2800" b="1" kern="100">
                          <a:latin typeface="Times New Roman"/>
                          <a:ea typeface="宋体"/>
                          <a:cs typeface="Times New Roman"/>
                        </a:rPr>
                        <a:t>6</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92</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60</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270">
                <a:tc>
                  <a:txBody>
                    <a:bodyPr/>
                    <a:lstStyle/>
                    <a:p>
                      <a:pPr algn="ctr">
                        <a:spcAft>
                          <a:spcPts val="0"/>
                        </a:spcAft>
                      </a:pPr>
                      <a:r>
                        <a:rPr lang="en-US" sz="2800" b="1" kern="100">
                          <a:latin typeface="Times New Roman"/>
                          <a:ea typeface="宋体"/>
                          <a:cs typeface="Times New Roman"/>
                        </a:rPr>
                        <a:t>7</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105</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78</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0270">
                <a:tc>
                  <a:txBody>
                    <a:bodyPr/>
                    <a:lstStyle/>
                    <a:p>
                      <a:pPr algn="ctr">
                        <a:spcAft>
                          <a:spcPts val="0"/>
                        </a:spcAft>
                      </a:pPr>
                      <a:r>
                        <a:rPr lang="en-US" sz="2800" b="1" kern="100">
                          <a:latin typeface="Times New Roman"/>
                          <a:ea typeface="宋体"/>
                          <a:cs typeface="Times New Roman"/>
                        </a:rPr>
                        <a:t>8</a:t>
                      </a:r>
                      <a:endParaRPr lang="zh-CN" sz="2800" b="1" kern="100">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110</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latin typeface="Times New Roman"/>
                          <a:ea typeface="宋体"/>
                          <a:cs typeface="Times New Roman"/>
                        </a:rPr>
                        <a:t>64</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0270">
                <a:tc>
                  <a:txBody>
                    <a:bodyPr/>
                    <a:lstStyle/>
                    <a:p>
                      <a:pPr algn="ctr">
                        <a:spcAft>
                          <a:spcPts val="0"/>
                        </a:spcAft>
                      </a:pPr>
                      <a:r>
                        <a:rPr lang="zh-CN" sz="2800" b="1" kern="100">
                          <a:latin typeface="Times New Roman"/>
                          <a:ea typeface="宋体"/>
                          <a:cs typeface="Times New Roman"/>
                        </a:rPr>
                        <a:t>合计</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p>
                      <a:pPr algn="ctr">
                        <a:spcAft>
                          <a:spcPts val="0"/>
                        </a:spcAft>
                      </a:pPr>
                      <a:r>
                        <a:rPr lang="en-US" sz="2800" b="1" kern="100">
                          <a:latin typeface="Times New Roman"/>
                          <a:ea typeface="宋体"/>
                          <a:cs typeface="Times New Roman"/>
                        </a:rPr>
                        <a:t>582</a:t>
                      </a:r>
                      <a:endParaRPr lang="zh-CN" sz="2800" b="1" kern="10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p>
                      <a:pPr algn="ctr">
                        <a:spcAft>
                          <a:spcPts val="0"/>
                        </a:spcAft>
                      </a:pPr>
                      <a:r>
                        <a:rPr lang="en-US" sz="2800" b="1" kern="100" dirty="0">
                          <a:latin typeface="Times New Roman"/>
                          <a:ea typeface="宋体"/>
                          <a:cs typeface="Times New Roman"/>
                        </a:rPr>
                        <a:t>421</a:t>
                      </a:r>
                      <a:endParaRPr lang="zh-CN" sz="2800" b="1" kern="100" dirty="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9"/>
                  </a:ext>
                </a:extLst>
              </a:tr>
            </a:tbl>
          </a:graphicData>
        </a:graphic>
      </p:graphicFrame>
      <p:graphicFrame>
        <p:nvGraphicFramePr>
          <p:cNvPr id="386563" name="Group 515"/>
          <p:cNvGraphicFramePr>
            <a:graphicFrameLocks noGrp="1"/>
          </p:cNvGraphicFramePr>
          <p:nvPr/>
        </p:nvGraphicFramePr>
        <p:xfrm>
          <a:off x="6096001" y="1341438"/>
          <a:ext cx="3960813" cy="5049838"/>
        </p:xfrm>
        <a:graphic>
          <a:graphicData uri="http://schemas.openxmlformats.org/drawingml/2006/table">
            <a:tbl>
              <a:tblPr/>
              <a:tblGrid>
                <a:gridCol w="1041400">
                  <a:extLst>
                    <a:ext uri="{9D8B030D-6E8A-4147-A177-3AD203B41FA5}">
                      <a16:colId xmlns:a16="http://schemas.microsoft.com/office/drawing/2014/main" val="20000"/>
                    </a:ext>
                  </a:extLst>
                </a:gridCol>
                <a:gridCol w="1227138">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tblGrid>
              <a:tr h="935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广告费排序</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18000" marR="18000" marT="46800" marB="4680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销售量的排序</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位次差</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400" b="1" i="1" u="none" strike="noStrike" cap="none" normalizeH="0" baseline="-30000">
                          <a:ln>
                            <a:noFill/>
                          </a:ln>
                          <a:solidFill>
                            <a:schemeClr val="tx1"/>
                          </a:solidFill>
                          <a:effectLst/>
                          <a:latin typeface="Times New Roman" pitchFamily="18" charset="0"/>
                          <a:ea typeface="宋体" pitchFamily="2" charset="-122"/>
                          <a:cs typeface="Times New Roman" pitchFamily="18" charset="0"/>
                        </a:rPr>
                        <a:t>i</a:t>
                      </a:r>
                      <a:endParaRPr kumimoji="0" lang="en-US" altLang="zh-CN" sz="2400" b="1" i="0" u="none" strike="noStrike" cap="none" normalizeH="0" baseline="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4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2400" b="1" i="1"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i</a:t>
                      </a:r>
                      <a:r>
                        <a:rPr kumimoji="0" lang="en-US" altLang="zh-CN" sz="2400" b="1" i="1"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2400" b="1" i="0" u="none" strike="noStrike" cap="none" normalizeH="0" baseline="0" dirty="0">
                        <a:ln>
                          <a:noFill/>
                        </a:ln>
                        <a:solidFill>
                          <a:schemeClr val="tx1"/>
                        </a:solidFill>
                        <a:effectLst/>
                        <a:latin typeface="Arial" charset="0"/>
                        <a:ea typeface="宋体" pitchFamily="2"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414338">
                <a:tc>
                  <a:txBody>
                    <a:bodyPr/>
                    <a:lstStyle/>
                    <a:p>
                      <a:pPr algn="ctr">
                        <a:spcAft>
                          <a:spcPts val="0"/>
                        </a:spcAft>
                      </a:pPr>
                      <a:r>
                        <a:rPr lang="en-US" sz="3000" b="1" kern="100" dirty="0">
                          <a:solidFill>
                            <a:srgbClr val="CC0099"/>
                          </a:solidFill>
                          <a:latin typeface="Times New Roman"/>
                          <a:ea typeface="宋体"/>
                          <a:cs typeface="Times New Roman"/>
                        </a:rPr>
                        <a:t>1</a:t>
                      </a:r>
                      <a:endParaRPr lang="zh-CN" sz="3000" b="1" kern="100" dirty="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CC0099"/>
                          </a:solidFill>
                          <a:latin typeface="Times New Roman"/>
                          <a:ea typeface="宋体"/>
                          <a:cs typeface="Times New Roman"/>
                        </a:rPr>
                        <a:t>1</a:t>
                      </a:r>
                      <a:endParaRPr lang="zh-CN" sz="3000" b="1" kern="10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14338">
                <a:tc>
                  <a:txBody>
                    <a:bodyPr/>
                    <a:lstStyle/>
                    <a:p>
                      <a:pPr algn="ctr">
                        <a:spcAft>
                          <a:spcPts val="0"/>
                        </a:spcAft>
                      </a:pPr>
                      <a:r>
                        <a:rPr lang="en-US" sz="3000" b="1" kern="100" dirty="0">
                          <a:solidFill>
                            <a:srgbClr val="CC0099"/>
                          </a:solidFill>
                          <a:latin typeface="Times New Roman"/>
                          <a:ea typeface="宋体"/>
                          <a:cs typeface="Times New Roman"/>
                        </a:rPr>
                        <a:t>2.5</a:t>
                      </a:r>
                      <a:endParaRPr lang="zh-CN" sz="3000" b="1" kern="100" dirty="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2</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0.5</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0.25</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414338">
                <a:tc>
                  <a:txBody>
                    <a:bodyPr/>
                    <a:lstStyle/>
                    <a:p>
                      <a:pPr algn="ctr">
                        <a:spcAft>
                          <a:spcPts val="0"/>
                        </a:spcAft>
                      </a:pPr>
                      <a:r>
                        <a:rPr lang="en-US" sz="3000" b="1" kern="100" dirty="0">
                          <a:solidFill>
                            <a:srgbClr val="CC0099"/>
                          </a:solidFill>
                          <a:latin typeface="Times New Roman"/>
                          <a:ea typeface="宋体"/>
                          <a:cs typeface="Times New Roman"/>
                        </a:rPr>
                        <a:t>2.5</a:t>
                      </a:r>
                      <a:endParaRPr lang="zh-CN" sz="3000" b="1" kern="100" dirty="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3</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-0.5</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0.25</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14338">
                <a:tc>
                  <a:txBody>
                    <a:bodyPr/>
                    <a:lstStyle/>
                    <a:p>
                      <a:pPr algn="ctr">
                        <a:spcAft>
                          <a:spcPts val="0"/>
                        </a:spcAft>
                      </a:pPr>
                      <a:r>
                        <a:rPr lang="en-US" sz="3000" b="1" kern="100">
                          <a:solidFill>
                            <a:srgbClr val="CC0099"/>
                          </a:solidFill>
                          <a:latin typeface="Times New Roman"/>
                          <a:ea typeface="宋体"/>
                          <a:cs typeface="Times New Roman"/>
                        </a:rPr>
                        <a:t>4</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5</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14338">
                <a:tc>
                  <a:txBody>
                    <a:bodyPr/>
                    <a:lstStyle/>
                    <a:p>
                      <a:pPr algn="ctr">
                        <a:spcAft>
                          <a:spcPts val="0"/>
                        </a:spcAft>
                      </a:pPr>
                      <a:r>
                        <a:rPr lang="en-US" sz="3000" b="1" kern="100">
                          <a:solidFill>
                            <a:srgbClr val="CC0099"/>
                          </a:solidFill>
                          <a:latin typeface="Times New Roman"/>
                          <a:ea typeface="宋体"/>
                          <a:cs typeface="Times New Roman"/>
                        </a:rPr>
                        <a:t>5</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4</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430213">
                <a:tc>
                  <a:txBody>
                    <a:bodyPr/>
                    <a:lstStyle/>
                    <a:p>
                      <a:pPr algn="ctr">
                        <a:spcAft>
                          <a:spcPts val="0"/>
                        </a:spcAft>
                      </a:pPr>
                      <a:r>
                        <a:rPr lang="en-US" sz="3000" b="1" kern="100">
                          <a:solidFill>
                            <a:srgbClr val="CC0099"/>
                          </a:solidFill>
                          <a:latin typeface="Times New Roman"/>
                          <a:ea typeface="宋体"/>
                          <a:cs typeface="Times New Roman"/>
                        </a:rPr>
                        <a:t>6</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6</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0</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14338">
                <a:tc>
                  <a:txBody>
                    <a:bodyPr/>
                    <a:lstStyle/>
                    <a:p>
                      <a:pPr algn="ctr">
                        <a:spcAft>
                          <a:spcPts val="0"/>
                        </a:spcAft>
                      </a:pPr>
                      <a:r>
                        <a:rPr lang="en-US" sz="3000" b="1" kern="100">
                          <a:solidFill>
                            <a:srgbClr val="CC0099"/>
                          </a:solidFill>
                          <a:latin typeface="Times New Roman"/>
                          <a:ea typeface="宋体"/>
                          <a:cs typeface="Times New Roman"/>
                        </a:rPr>
                        <a:t>7</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8</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414338">
                <a:tc>
                  <a:txBody>
                    <a:bodyPr/>
                    <a:lstStyle/>
                    <a:p>
                      <a:pPr algn="ctr">
                        <a:spcAft>
                          <a:spcPts val="0"/>
                        </a:spcAft>
                      </a:pPr>
                      <a:r>
                        <a:rPr lang="en-US" sz="3000" b="1" kern="100">
                          <a:solidFill>
                            <a:srgbClr val="CC0099"/>
                          </a:solidFill>
                          <a:latin typeface="Times New Roman"/>
                          <a:ea typeface="宋体"/>
                          <a:cs typeface="Times New Roman"/>
                        </a:rPr>
                        <a:t>8</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dirty="0">
                          <a:solidFill>
                            <a:srgbClr val="CC0099"/>
                          </a:solidFill>
                          <a:latin typeface="Times New Roman"/>
                          <a:ea typeface="宋体"/>
                          <a:cs typeface="Times New Roman"/>
                        </a:rPr>
                        <a:t>7</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a:spcAft>
                          <a:spcPts val="0"/>
                        </a:spcAft>
                      </a:pPr>
                      <a:r>
                        <a:rPr lang="en-US" sz="3000" b="1" kern="100">
                          <a:solidFill>
                            <a:srgbClr val="FF0000"/>
                          </a:solidFill>
                          <a:latin typeface="Times New Roman"/>
                          <a:ea typeface="宋体"/>
                          <a:cs typeface="Times New Roman"/>
                        </a:rPr>
                        <a:t>1</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414338">
                <a:tc>
                  <a:txBody>
                    <a:bodyPr/>
                    <a:lstStyle/>
                    <a:p>
                      <a:pPr algn="ctr">
                        <a:spcAft>
                          <a:spcPts val="0"/>
                        </a:spcAft>
                      </a:pPr>
                      <a:r>
                        <a:rPr lang="en-US" sz="3000" b="1" kern="100">
                          <a:solidFill>
                            <a:srgbClr val="CC0099"/>
                          </a:solidFill>
                          <a:latin typeface="Times New Roman"/>
                          <a:ea typeface="宋体"/>
                          <a:cs typeface="Times New Roman"/>
                        </a:rPr>
                        <a:t>36</a:t>
                      </a:r>
                      <a:endParaRPr lang="zh-CN" sz="3000" b="1" kern="100">
                        <a:solidFill>
                          <a:srgbClr val="CC0099"/>
                        </a:solidFill>
                        <a:latin typeface="Times New Roman"/>
                        <a:ea typeface="宋体"/>
                        <a:cs typeface="Times New Roman"/>
                      </a:endParaRPr>
                    </a:p>
                  </a:txBody>
                  <a:tcPr marL="0" marR="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p>
                      <a:pPr algn="ctr">
                        <a:spcAft>
                          <a:spcPts val="0"/>
                        </a:spcAft>
                      </a:pPr>
                      <a:r>
                        <a:rPr lang="en-US" sz="3000" b="1" kern="100" dirty="0">
                          <a:solidFill>
                            <a:srgbClr val="CC0099"/>
                          </a:solidFill>
                          <a:latin typeface="Times New Roman"/>
                          <a:ea typeface="宋体"/>
                          <a:cs typeface="Times New Roman"/>
                        </a:rPr>
                        <a:t>36</a:t>
                      </a:r>
                      <a:endParaRPr lang="zh-CN" sz="3000" b="1" kern="100" dirty="0">
                        <a:solidFill>
                          <a:srgbClr val="CC0099"/>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p>
                      <a:pPr algn="ctr">
                        <a:spcAft>
                          <a:spcPts val="0"/>
                        </a:spcAft>
                      </a:pPr>
                      <a:r>
                        <a:rPr lang="en-US" sz="3000" b="1" kern="100">
                          <a:solidFill>
                            <a:srgbClr val="FF0000"/>
                          </a:solidFill>
                          <a:latin typeface="Times New Roman"/>
                          <a:ea typeface="宋体"/>
                          <a:cs typeface="Times New Roman"/>
                        </a:rPr>
                        <a:t>0</a:t>
                      </a:r>
                      <a:endParaRPr lang="zh-CN" sz="3000" b="1" kern="10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p>
                      <a:pPr algn="ctr">
                        <a:spcAft>
                          <a:spcPts val="0"/>
                        </a:spcAft>
                      </a:pPr>
                      <a:r>
                        <a:rPr lang="en-US" sz="3000" b="1" kern="100" dirty="0">
                          <a:solidFill>
                            <a:srgbClr val="FF0000"/>
                          </a:solidFill>
                          <a:latin typeface="Times New Roman"/>
                          <a:ea typeface="宋体"/>
                          <a:cs typeface="Times New Roman"/>
                        </a:rPr>
                        <a:t>4.5</a:t>
                      </a:r>
                      <a:endParaRPr lang="zh-CN" sz="3000" b="1" kern="100" dirty="0">
                        <a:solidFill>
                          <a:srgbClr val="FF000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0896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386563"/>
                                        </p:tgtEl>
                                        <p:attrNameLst>
                                          <p:attrName>style.visibility</p:attrName>
                                        </p:attrNameLst>
                                      </p:cBhvr>
                                      <p:to>
                                        <p:strVal val="visible"/>
                                      </p:to>
                                    </p:set>
                                    <p:animEffect transition="in" filter="slide(fromRight)">
                                      <p:cBhvr>
                                        <p:cTn id="7" dur="2000"/>
                                        <p:tgtEl>
                                          <p:spTgt spid="38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0" name="日期占位符 11"/>
          <p:cNvSpPr>
            <a:spLocks noGrp="1"/>
          </p:cNvSpPr>
          <p:nvPr>
            <p:ph type="dt" sz="half" idx="10"/>
          </p:nvPr>
        </p:nvSpPr>
        <p:spPr>
          <a:noFill/>
        </p:spPr>
        <p:txBody>
          <a:bodyPr/>
          <a:lstStyle/>
          <a:p>
            <a:endParaRPr lang="en-US" altLang="zh-CN"/>
          </a:p>
        </p:txBody>
      </p:sp>
      <p:sp>
        <p:nvSpPr>
          <p:cNvPr id="7173" name="Rectangle 2"/>
          <p:cNvSpPr>
            <a:spLocks noGrp="1" noChangeArrowheads="1"/>
          </p:cNvSpPr>
          <p:nvPr>
            <p:ph type="title"/>
          </p:nvPr>
        </p:nvSpPr>
        <p:spPr>
          <a:xfrm>
            <a:off x="2006600" y="198834"/>
            <a:ext cx="10185400" cy="662782"/>
          </a:xfrm>
        </p:spPr>
        <p:txBody>
          <a:bodyPr/>
          <a:lstStyle/>
          <a:p>
            <a:pPr eaLnBrk="1" hangingPunct="1"/>
            <a:r>
              <a:rPr lang="en-US" altLang="zh-CN" dirty="0">
                <a:latin typeface="Times New Roman" pitchFamily="18" charset="0"/>
              </a:rPr>
              <a:t>Spearman</a:t>
            </a:r>
            <a:r>
              <a:rPr lang="zh-CN" altLang="en-US" dirty="0"/>
              <a:t>等级相关系数</a:t>
            </a:r>
          </a:p>
        </p:txBody>
      </p:sp>
      <p:sp>
        <p:nvSpPr>
          <p:cNvPr id="7174" name="Rectangle 3"/>
          <p:cNvSpPr>
            <a:spLocks noGrp="1" noChangeArrowheads="1"/>
          </p:cNvSpPr>
          <p:nvPr>
            <p:ph idx="1"/>
          </p:nvPr>
        </p:nvSpPr>
        <p:spPr>
          <a:xfrm>
            <a:off x="1967870" y="1227217"/>
            <a:ext cx="7210422" cy="1274684"/>
          </a:xfrm>
        </p:spPr>
        <p:txBody>
          <a:bodyPr/>
          <a:lstStyle/>
          <a:p>
            <a:pPr lvl="1" indent="0" eaLnBrk="1" hangingPunct="1">
              <a:buNone/>
            </a:pPr>
            <a:r>
              <a:rPr lang="zh-CN" altLang="en-US" dirty="0"/>
              <a:t>计算公式：</a:t>
            </a:r>
          </a:p>
        </p:txBody>
      </p:sp>
      <p:sp>
        <p:nvSpPr>
          <p:cNvPr id="7172" name="灯片编号占位符 5"/>
          <p:cNvSpPr>
            <a:spLocks noGrp="1"/>
          </p:cNvSpPr>
          <p:nvPr>
            <p:ph type="sldNum" sz="quarter" idx="4"/>
          </p:nvPr>
        </p:nvSpPr>
        <p:spPr>
          <a:noFill/>
        </p:spPr>
        <p:txBody>
          <a:bodyPr/>
          <a:lstStyle/>
          <a:p>
            <a:r>
              <a:rPr lang="en-US" altLang="zh-CN"/>
              <a:t>9--</a:t>
            </a:r>
            <a:fld id="{6B497526-0CCD-42D1-A53D-C977B6D9767F}" type="slidenum">
              <a:rPr lang="en-US" altLang="zh-CN" smtClean="0"/>
              <a:pPr/>
              <a:t>30</a:t>
            </a:fld>
            <a:endParaRPr lang="en-US" altLang="zh-CN"/>
          </a:p>
        </p:txBody>
      </p:sp>
      <p:graphicFrame>
        <p:nvGraphicFramePr>
          <p:cNvPr id="7170" name="Object 4"/>
          <p:cNvGraphicFramePr>
            <a:graphicFrameLocks noChangeAspect="1"/>
          </p:cNvGraphicFramePr>
          <p:nvPr>
            <p:extLst>
              <p:ext uri="{D42A27DB-BD31-4B8C-83A1-F6EECF244321}">
                <p14:modId xmlns:p14="http://schemas.microsoft.com/office/powerpoint/2010/main" val="3044796882"/>
              </p:ext>
            </p:extLst>
          </p:nvPr>
        </p:nvGraphicFramePr>
        <p:xfrm>
          <a:off x="4351338" y="1173958"/>
          <a:ext cx="4392612" cy="1568450"/>
        </p:xfrm>
        <a:graphic>
          <a:graphicData uri="http://schemas.openxmlformats.org/presentationml/2006/ole">
            <mc:AlternateContent xmlns:mc="http://schemas.openxmlformats.org/markup-compatibility/2006">
              <mc:Choice xmlns:v="urn:schemas-microsoft-com:vml" Requires="v">
                <p:oleObj r:id="rId2" imgW="1041400" imgH="457200" progId="Equation.DSMT4">
                  <p:embed/>
                </p:oleObj>
              </mc:Choice>
              <mc:Fallback>
                <p:oleObj r:id="rId2" imgW="1041400" imgH="45720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1338" y="1173958"/>
                        <a:ext cx="4392612" cy="156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Rectangle 5"/>
          <p:cNvSpPr>
            <a:spLocks noChangeArrowheads="1"/>
          </p:cNvSpPr>
          <p:nvPr/>
        </p:nvSpPr>
        <p:spPr bwMode="auto">
          <a:xfrm>
            <a:off x="1524001" y="2852221"/>
            <a:ext cx="7920038" cy="936625"/>
          </a:xfrm>
          <a:prstGeom prst="rect">
            <a:avLst/>
          </a:prstGeom>
          <a:noFill/>
          <a:ln w="9525">
            <a:noFill/>
            <a:miter lim="800000"/>
            <a:headEnd/>
            <a:tailEnd/>
          </a:ln>
        </p:spPr>
        <p:txBody>
          <a:bodyPr/>
          <a:lstStyle/>
          <a:p>
            <a:pPr lvl="1">
              <a:spcBef>
                <a:spcPct val="20000"/>
              </a:spcBef>
              <a:buSzPct val="80000"/>
            </a:pPr>
            <a:r>
              <a:rPr lang="zh-CN" altLang="en-US" sz="2800" b="1" dirty="0">
                <a:solidFill>
                  <a:srgbClr val="000000"/>
                </a:solidFill>
                <a:latin typeface="Tahoma" pitchFamily="34" charset="0"/>
              </a:rPr>
              <a:t>表</a:t>
            </a:r>
            <a:r>
              <a:rPr lang="en-US" altLang="zh-CN" sz="2800" b="1" dirty="0">
                <a:solidFill>
                  <a:srgbClr val="000000"/>
                </a:solidFill>
                <a:latin typeface="Tahoma" pitchFamily="34" charset="0"/>
              </a:rPr>
              <a:t>9.2</a:t>
            </a:r>
            <a:r>
              <a:rPr lang="zh-CN" altLang="en-US" sz="2800" b="1" dirty="0">
                <a:solidFill>
                  <a:srgbClr val="000000"/>
                </a:solidFill>
                <a:latin typeface="Tahoma" pitchFamily="34" charset="0"/>
              </a:rPr>
              <a:t>的计算结果：</a:t>
            </a:r>
          </a:p>
        </p:txBody>
      </p:sp>
      <p:sp>
        <p:nvSpPr>
          <p:cNvPr id="7176" name="Rectangle 6"/>
          <p:cNvSpPr>
            <a:spLocks noChangeArrowheads="1"/>
          </p:cNvSpPr>
          <p:nvPr/>
        </p:nvSpPr>
        <p:spPr bwMode="auto">
          <a:xfrm>
            <a:off x="1524002" y="5027336"/>
            <a:ext cx="7920037" cy="936625"/>
          </a:xfrm>
          <a:prstGeom prst="rect">
            <a:avLst/>
          </a:prstGeom>
          <a:noFill/>
          <a:ln w="9525">
            <a:noFill/>
            <a:miter lim="800000"/>
            <a:headEnd/>
            <a:tailEnd/>
          </a:ln>
        </p:spPr>
        <p:txBody>
          <a:bodyPr/>
          <a:lstStyle/>
          <a:p>
            <a:pPr lvl="1">
              <a:lnSpc>
                <a:spcPct val="150000"/>
              </a:lnSpc>
              <a:spcBef>
                <a:spcPct val="20000"/>
              </a:spcBef>
              <a:buSzPct val="80000"/>
            </a:pPr>
            <a:r>
              <a:rPr lang="zh-CN" altLang="en-US" sz="2800" b="1" dirty="0">
                <a:solidFill>
                  <a:srgbClr val="000000"/>
                </a:solidFill>
                <a:latin typeface="Tahoma" pitchFamily="34" charset="0"/>
              </a:rPr>
              <a:t>    表明该公司广告费与销售量之间的等级正相关程度很高。</a:t>
            </a:r>
          </a:p>
        </p:txBody>
      </p:sp>
      <p:sp>
        <p:nvSpPr>
          <p:cNvPr id="7177" name="Rectangle 8"/>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sp>
        <p:nvSpPr>
          <p:cNvPr id="7178" name="Rectangle 10"/>
          <p:cNvSpPr>
            <a:spLocks noChangeArrowheads="1"/>
          </p:cNvSpPr>
          <p:nvPr/>
        </p:nvSpPr>
        <p:spPr bwMode="auto">
          <a:xfrm>
            <a:off x="1524001" y="3034784"/>
            <a:ext cx="184731" cy="369332"/>
          </a:xfrm>
          <a:prstGeom prst="rect">
            <a:avLst/>
          </a:prstGeom>
          <a:noFill/>
          <a:ln w="9525">
            <a:noFill/>
            <a:miter lim="800000"/>
            <a:headEnd/>
            <a:tailEnd/>
          </a:ln>
        </p:spPr>
        <p:txBody>
          <a:bodyPr wrap="none" anchor="ctr">
            <a:spAutoFit/>
          </a:bodyPr>
          <a:lstStyle/>
          <a:p>
            <a:endParaRPr lang="zh-CN" altLang="en-US"/>
          </a:p>
        </p:txBody>
      </p:sp>
      <p:sp>
        <p:nvSpPr>
          <p:cNvPr id="7179"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7171" name="Object 11"/>
          <p:cNvGraphicFramePr>
            <a:graphicFrameLocks noChangeAspect="1"/>
          </p:cNvGraphicFramePr>
          <p:nvPr>
            <p:extLst>
              <p:ext uri="{D42A27DB-BD31-4B8C-83A1-F6EECF244321}">
                <p14:modId xmlns:p14="http://schemas.microsoft.com/office/powerpoint/2010/main" val="762212324"/>
              </p:ext>
            </p:extLst>
          </p:nvPr>
        </p:nvGraphicFramePr>
        <p:xfrm>
          <a:off x="4141788" y="3495677"/>
          <a:ext cx="4349750" cy="1357313"/>
        </p:xfrm>
        <a:graphic>
          <a:graphicData uri="http://schemas.openxmlformats.org/presentationml/2006/ole">
            <mc:AlternateContent xmlns:mc="http://schemas.openxmlformats.org/markup-compatibility/2006">
              <mc:Choice xmlns:v="urn:schemas-microsoft-com:vml" Requires="v">
                <p:oleObj name="Equation" r:id="rId4" imgW="1346200" imgH="419100" progId="Equation.DSMT4">
                  <p:embed/>
                </p:oleObj>
              </mc:Choice>
              <mc:Fallback>
                <p:oleObj name="Equation" r:id="rId4" imgW="1346200" imgH="419100" progId="Equation.DSMT4">
                  <p:embed/>
                  <p:pic>
                    <p:nvPicPr>
                      <p:cNvPr id="717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1788" y="3495677"/>
                        <a:ext cx="4349750" cy="1357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46562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9" name="日期占位符 4"/>
          <p:cNvSpPr>
            <a:spLocks noGrp="1"/>
          </p:cNvSpPr>
          <p:nvPr>
            <p:ph type="dt" sz="half" idx="10"/>
          </p:nvPr>
        </p:nvSpPr>
        <p:spPr>
          <a:noFill/>
        </p:spPr>
        <p:txBody>
          <a:bodyPr/>
          <a:lstStyle/>
          <a:p>
            <a:endParaRPr lang="en-US" altLang="zh-CN"/>
          </a:p>
        </p:txBody>
      </p:sp>
      <p:sp>
        <p:nvSpPr>
          <p:cNvPr id="82947" name="Rectangle 2"/>
          <p:cNvSpPr>
            <a:spLocks noGrp="1" noChangeArrowheads="1"/>
          </p:cNvSpPr>
          <p:nvPr>
            <p:ph type="title"/>
          </p:nvPr>
        </p:nvSpPr>
        <p:spPr>
          <a:xfrm>
            <a:off x="1003300" y="625355"/>
            <a:ext cx="7061200" cy="662782"/>
          </a:xfrm>
          <a:noFill/>
        </p:spPr>
        <p:txBody>
          <a:bodyPr vert="horz" lIns="90488" tIns="44450" rIns="90488" bIns="44450" rtlCol="0" anchor="ctr" anchorCtr="1">
            <a:normAutofit fontScale="90000"/>
          </a:bodyPr>
          <a:lstStyle/>
          <a:p>
            <a:pPr eaLnBrk="1" hangingPunct="1"/>
            <a:r>
              <a:rPr lang="zh-CN" altLang="en-US" sz="4000" dirty="0"/>
              <a:t>等级相关系数 </a:t>
            </a:r>
            <a:r>
              <a:rPr lang="en-US" altLang="zh-CN" sz="4400" i="1" dirty="0" err="1">
                <a:solidFill>
                  <a:srgbClr val="CC0099"/>
                </a:solidFill>
                <a:latin typeface="Times New Roman" pitchFamily="18" charset="0"/>
              </a:rPr>
              <a:t>r</a:t>
            </a:r>
            <a:r>
              <a:rPr lang="en-US" altLang="zh-CN" sz="4000" i="1" baseline="-25000" dirty="0" err="1">
                <a:solidFill>
                  <a:srgbClr val="CC0099"/>
                </a:solidFill>
                <a:latin typeface="Times New Roman" pitchFamily="18" charset="0"/>
              </a:rPr>
              <a:t>s</a:t>
            </a:r>
            <a:r>
              <a:rPr lang="zh-CN" altLang="en-US" sz="4000" dirty="0"/>
              <a:t>的特点</a:t>
            </a:r>
          </a:p>
        </p:txBody>
      </p:sp>
      <p:sp>
        <p:nvSpPr>
          <p:cNvPr id="82948" name="Rectangle 3"/>
          <p:cNvSpPr>
            <a:spLocks noGrp="1" noChangeArrowheads="1"/>
          </p:cNvSpPr>
          <p:nvPr>
            <p:ph idx="1"/>
          </p:nvPr>
        </p:nvSpPr>
        <p:spPr>
          <a:xfrm>
            <a:off x="1904999" y="1485900"/>
            <a:ext cx="8356601" cy="4660661"/>
          </a:xfrm>
          <a:noFill/>
        </p:spPr>
        <p:txBody>
          <a:bodyPr vert="horz" lIns="90488" tIns="44450" rIns="90488" bIns="44450" rtlCol="0">
            <a:normAutofit/>
          </a:bodyPr>
          <a:lstStyle/>
          <a:p>
            <a:pPr marL="609600" indent="-609600" algn="just">
              <a:lnSpc>
                <a:spcPct val="120000"/>
              </a:lnSpc>
              <a:spcBef>
                <a:spcPts val="600"/>
              </a:spcBef>
              <a:spcAft>
                <a:spcPts val="0"/>
              </a:spcAft>
              <a:buNone/>
            </a:pPr>
            <a:r>
              <a:rPr lang="en-US" altLang="zh-CN" b="0" i="1" dirty="0">
                <a:solidFill>
                  <a:srgbClr val="000000"/>
                </a:solidFill>
                <a:latin typeface="Times New Roman" pitchFamily="18" charset="0"/>
              </a:rPr>
              <a:t> </a:t>
            </a:r>
            <a:r>
              <a:rPr lang="en-US" altLang="zh-CN" i="1" dirty="0" err="1">
                <a:solidFill>
                  <a:srgbClr val="000000"/>
                </a:solidFill>
                <a:latin typeface="Times New Roman" pitchFamily="18" charset="0"/>
              </a:rPr>
              <a:t>r</a:t>
            </a:r>
            <a:r>
              <a:rPr lang="en-US" altLang="zh-CN" i="1" baseline="-25000" dirty="0" err="1">
                <a:solidFill>
                  <a:srgbClr val="000000"/>
                </a:solidFill>
                <a:latin typeface="Times New Roman" pitchFamily="18" charset="0"/>
              </a:rPr>
              <a:t>s</a:t>
            </a:r>
            <a:r>
              <a:rPr lang="en-US" altLang="zh-CN" dirty="0">
                <a:solidFill>
                  <a:srgbClr val="000000"/>
                </a:solidFill>
              </a:rPr>
              <a:t> </a:t>
            </a:r>
            <a:r>
              <a:rPr lang="zh-CN" altLang="en-US" dirty="0">
                <a:solidFill>
                  <a:srgbClr val="000000"/>
                </a:solidFill>
              </a:rPr>
              <a:t>的取值范围是 </a:t>
            </a:r>
            <a:r>
              <a:rPr lang="en-US" altLang="zh-CN" dirty="0">
                <a:solidFill>
                  <a:srgbClr val="000000"/>
                </a:solidFill>
              </a:rPr>
              <a:t>[-1,1]</a:t>
            </a:r>
          </a:p>
          <a:p>
            <a:pPr algn="just">
              <a:lnSpc>
                <a:spcPct val="120000"/>
              </a:lnSpc>
              <a:spcBef>
                <a:spcPts val="600"/>
              </a:spcBef>
              <a:spcAft>
                <a:spcPts val="0"/>
              </a:spcAft>
              <a:buSzPct val="50000"/>
              <a:buFont typeface="Wingdings" panose="05000000000000000000" pitchFamily="2" charset="2"/>
              <a:buChar char="l"/>
            </a:pPr>
            <a:r>
              <a:rPr lang="en-US" altLang="zh-CN" dirty="0">
                <a:solidFill>
                  <a:srgbClr val="FF00FF"/>
                </a:solidFill>
                <a:cs typeface="Arial" charset="0"/>
              </a:rPr>
              <a:t>|</a:t>
            </a:r>
            <a:r>
              <a:rPr lang="en-US" altLang="zh-CN" i="1" dirty="0" err="1">
                <a:solidFill>
                  <a:srgbClr val="FF00FF"/>
                </a:solidFill>
                <a:latin typeface="Times New Roman" pitchFamily="18" charset="0"/>
              </a:rPr>
              <a:t>r</a:t>
            </a:r>
            <a:r>
              <a:rPr lang="en-US" altLang="zh-CN" i="1" baseline="-25000" dirty="0" err="1">
                <a:solidFill>
                  <a:srgbClr val="CC0099"/>
                </a:solidFill>
                <a:latin typeface="Times New Roman" pitchFamily="18" charset="0"/>
              </a:rPr>
              <a:t>s</a:t>
            </a:r>
            <a:r>
              <a:rPr lang="en-US" altLang="zh-CN" dirty="0">
                <a:solidFill>
                  <a:srgbClr val="FF00FF"/>
                </a:solidFill>
                <a:cs typeface="Arial" charset="0"/>
              </a:rPr>
              <a:t>|=1</a:t>
            </a:r>
            <a:r>
              <a:rPr lang="zh-CN" altLang="en-US" dirty="0">
                <a:solidFill>
                  <a:srgbClr val="000000"/>
                </a:solidFill>
                <a:cs typeface="Arial" charset="0"/>
              </a:rPr>
              <a:t>，</a:t>
            </a:r>
            <a:r>
              <a:rPr lang="zh-CN" altLang="en-US" dirty="0">
                <a:solidFill>
                  <a:srgbClr val="000000"/>
                </a:solidFill>
                <a:latin typeface="宋体" pitchFamily="2" charset="-122"/>
              </a:rPr>
              <a:t>为样本等级完全</a:t>
            </a:r>
            <a:r>
              <a:rPr lang="en-US" altLang="zh-CN" sz="2800" dirty="0">
                <a:solidFill>
                  <a:schemeClr val="tx1"/>
                </a:solidFill>
                <a:latin typeface="宋体" pitchFamily="2" charset="-122"/>
              </a:rPr>
              <a:t>(</a:t>
            </a:r>
            <a:r>
              <a:rPr lang="zh-CN" altLang="en-US" sz="2800" dirty="0">
                <a:solidFill>
                  <a:schemeClr val="tx1"/>
                </a:solidFill>
                <a:latin typeface="宋体" pitchFamily="2" charset="-122"/>
              </a:rPr>
              <a:t>线性</a:t>
            </a:r>
            <a:r>
              <a:rPr lang="en-US" altLang="zh-CN" sz="2800" dirty="0">
                <a:solidFill>
                  <a:schemeClr val="tx1"/>
                </a:solidFill>
                <a:latin typeface="宋体" pitchFamily="2" charset="-122"/>
              </a:rPr>
              <a:t>)</a:t>
            </a:r>
            <a:r>
              <a:rPr lang="en-US" altLang="zh-CN" dirty="0">
                <a:solidFill>
                  <a:srgbClr val="000000"/>
                </a:solidFill>
                <a:latin typeface="宋体" pitchFamily="2" charset="-122"/>
              </a:rPr>
              <a:t> </a:t>
            </a:r>
            <a:r>
              <a:rPr lang="zh-CN" altLang="en-US" dirty="0">
                <a:solidFill>
                  <a:srgbClr val="000000"/>
                </a:solidFill>
                <a:latin typeface="宋体" pitchFamily="2" charset="-122"/>
              </a:rPr>
              <a:t>相关；</a:t>
            </a:r>
            <a:endParaRPr lang="en-US" altLang="zh-CN" dirty="0">
              <a:solidFill>
                <a:srgbClr val="000000"/>
              </a:solidFill>
              <a:latin typeface="宋体" pitchFamily="2" charset="-122"/>
            </a:endParaRPr>
          </a:p>
          <a:p>
            <a:pPr marL="0" lvl="2" indent="0" algn="just">
              <a:lnSpc>
                <a:spcPct val="120000"/>
              </a:lnSpc>
              <a:spcBef>
                <a:spcPts val="600"/>
              </a:spcBef>
              <a:spcAft>
                <a:spcPts val="0"/>
              </a:spcAft>
              <a:buNone/>
            </a:pPr>
            <a:r>
              <a:rPr lang="en-US" altLang="zh-CN" i="1" dirty="0">
                <a:solidFill>
                  <a:schemeClr val="tx1"/>
                </a:solidFill>
                <a:latin typeface="Times New Roman" pitchFamily="18" charset="0"/>
              </a:rPr>
              <a:t>             </a:t>
            </a:r>
            <a:r>
              <a:rPr lang="en-US" altLang="zh-CN" i="1" dirty="0" err="1">
                <a:solidFill>
                  <a:schemeClr val="tx1"/>
                </a:solidFill>
                <a:latin typeface="Times New Roman" pitchFamily="18" charset="0"/>
              </a:rPr>
              <a:t>r</a:t>
            </a:r>
            <a:r>
              <a:rPr lang="en-US" altLang="zh-CN" i="1" baseline="-25000" dirty="0" err="1">
                <a:solidFill>
                  <a:schemeClr val="tx1"/>
                </a:solidFill>
                <a:latin typeface="Times New Roman" pitchFamily="18" charset="0"/>
              </a:rPr>
              <a:t>s</a:t>
            </a:r>
            <a:r>
              <a:rPr lang="en-US" altLang="zh-CN" dirty="0">
                <a:solidFill>
                  <a:schemeClr val="tx1"/>
                </a:solidFill>
                <a:cs typeface="Arial" charset="0"/>
              </a:rPr>
              <a:t>=1,</a:t>
            </a:r>
            <a:r>
              <a:rPr lang="zh-CN" altLang="en-US" dirty="0">
                <a:solidFill>
                  <a:schemeClr val="tx1"/>
                </a:solidFill>
                <a:latin typeface="宋体" pitchFamily="2" charset="-122"/>
              </a:rPr>
              <a:t>等级顺序完全一致；</a:t>
            </a:r>
            <a:r>
              <a:rPr lang="en-US" altLang="zh-CN" i="1" dirty="0" err="1">
                <a:solidFill>
                  <a:schemeClr val="tx1"/>
                </a:solidFill>
                <a:latin typeface="Times New Roman" pitchFamily="18" charset="0"/>
              </a:rPr>
              <a:t>r</a:t>
            </a:r>
            <a:r>
              <a:rPr lang="en-US" altLang="zh-CN" i="1" baseline="-25000" dirty="0" err="1">
                <a:solidFill>
                  <a:schemeClr val="tx1"/>
                </a:solidFill>
                <a:latin typeface="Times New Roman" pitchFamily="18" charset="0"/>
              </a:rPr>
              <a:t>s</a:t>
            </a:r>
            <a:r>
              <a:rPr lang="en-US" altLang="zh-CN" dirty="0">
                <a:solidFill>
                  <a:schemeClr val="tx1"/>
                </a:solidFill>
                <a:cs typeface="Arial" charset="0"/>
              </a:rPr>
              <a:t>=-1,</a:t>
            </a:r>
            <a:r>
              <a:rPr lang="zh-CN" altLang="en-US" dirty="0">
                <a:solidFill>
                  <a:schemeClr val="tx1"/>
                </a:solidFill>
                <a:latin typeface="宋体" pitchFamily="2" charset="-122"/>
              </a:rPr>
              <a:t>等级顺序完全相反</a:t>
            </a:r>
            <a:endParaRPr lang="en-US" altLang="zh-CN" dirty="0">
              <a:solidFill>
                <a:schemeClr val="tx1"/>
              </a:solidFill>
              <a:latin typeface="宋体" pitchFamily="2" charset="-122"/>
            </a:endParaRPr>
          </a:p>
          <a:p>
            <a:pPr marL="457200" lvl="2" algn="just">
              <a:lnSpc>
                <a:spcPct val="120000"/>
              </a:lnSpc>
              <a:spcBef>
                <a:spcPts val="600"/>
              </a:spcBef>
              <a:spcAft>
                <a:spcPts val="0"/>
              </a:spcAft>
              <a:buClr>
                <a:srgbClr val="FF66FF"/>
              </a:buClr>
              <a:buSzPct val="50000"/>
              <a:buFont typeface="Wingdings" panose="05000000000000000000" pitchFamily="2" charset="2"/>
              <a:buChar char="l"/>
            </a:pPr>
            <a:r>
              <a:rPr lang="en-US" altLang="zh-CN" sz="3200" dirty="0" err="1">
                <a:solidFill>
                  <a:srgbClr val="FF00FF"/>
                </a:solidFill>
                <a:cs typeface="Arial" charset="0"/>
              </a:rPr>
              <a:t>r</a:t>
            </a:r>
            <a:r>
              <a:rPr lang="en-US" altLang="zh-CN" sz="3200" baseline="-25000" dirty="0" err="1">
                <a:solidFill>
                  <a:srgbClr val="FF00FF"/>
                </a:solidFill>
                <a:cs typeface="Arial" charset="0"/>
              </a:rPr>
              <a:t>s</a:t>
            </a:r>
            <a:r>
              <a:rPr lang="en-US" altLang="zh-CN" sz="3200" dirty="0">
                <a:solidFill>
                  <a:srgbClr val="FF00FF"/>
                </a:solidFill>
                <a:cs typeface="Arial" charset="0"/>
              </a:rPr>
              <a:t>=0</a:t>
            </a:r>
            <a:r>
              <a:rPr lang="zh-CN" altLang="en-US" sz="3200" dirty="0">
                <a:solidFill>
                  <a:srgbClr val="FF00FF"/>
                </a:solidFill>
                <a:cs typeface="Arial" charset="0"/>
              </a:rPr>
              <a:t>，</a:t>
            </a:r>
            <a:r>
              <a:rPr lang="zh-CN" altLang="en-US" sz="3200" dirty="0">
                <a:solidFill>
                  <a:srgbClr val="000000"/>
                </a:solidFill>
                <a:cs typeface="Arial" charset="0"/>
              </a:rPr>
              <a:t>样本等级不相关</a:t>
            </a:r>
            <a:r>
              <a:rPr lang="zh-CN" altLang="en-US" dirty="0">
                <a:solidFill>
                  <a:srgbClr val="000000"/>
                </a:solidFill>
                <a:cs typeface="Arial" charset="0"/>
              </a:rPr>
              <a:t>（</a:t>
            </a:r>
            <a:r>
              <a:rPr lang="zh-CN" altLang="en-US" dirty="0">
                <a:solidFill>
                  <a:srgbClr val="000000"/>
                </a:solidFill>
                <a:latin typeface="宋体" pitchFamily="2" charset="-122"/>
              </a:rPr>
              <a:t>不存在线性相关）；</a:t>
            </a:r>
            <a:endParaRPr lang="zh-CN" altLang="en-US" dirty="0">
              <a:solidFill>
                <a:srgbClr val="000000"/>
              </a:solidFill>
              <a:latin typeface="Times New Roman" pitchFamily="18" charset="0"/>
            </a:endParaRPr>
          </a:p>
          <a:p>
            <a:pPr algn="just">
              <a:lnSpc>
                <a:spcPct val="120000"/>
              </a:lnSpc>
              <a:spcBef>
                <a:spcPts val="600"/>
              </a:spcBef>
              <a:spcAft>
                <a:spcPts val="0"/>
              </a:spcAft>
              <a:buClr>
                <a:srgbClr val="FF66FF"/>
              </a:buClr>
              <a:buSzPct val="50000"/>
              <a:buFont typeface="Wingdings" panose="05000000000000000000" pitchFamily="2" charset="2"/>
              <a:buChar char="l"/>
            </a:pPr>
            <a:r>
              <a:rPr lang="en-US" altLang="zh-CN" i="1" dirty="0" err="1">
                <a:solidFill>
                  <a:srgbClr val="FF00FF"/>
                </a:solidFill>
                <a:latin typeface="Times New Roman" pitchFamily="18" charset="0"/>
              </a:rPr>
              <a:t>r</a:t>
            </a:r>
            <a:r>
              <a:rPr lang="en-US" altLang="zh-CN" i="1" baseline="-25000" dirty="0" err="1">
                <a:solidFill>
                  <a:srgbClr val="CC0099"/>
                </a:solidFill>
                <a:latin typeface="Times New Roman" pitchFamily="18" charset="0"/>
              </a:rPr>
              <a:t>s</a:t>
            </a:r>
            <a:r>
              <a:rPr lang="en-US" altLang="zh-CN" dirty="0">
                <a:solidFill>
                  <a:srgbClr val="FF00FF"/>
                </a:solidFill>
                <a:cs typeface="Arial" charset="0"/>
              </a:rPr>
              <a:t>&lt;0</a:t>
            </a:r>
            <a:r>
              <a:rPr lang="zh-CN" altLang="en-US" dirty="0">
                <a:solidFill>
                  <a:srgbClr val="000000"/>
                </a:solidFill>
                <a:cs typeface="Arial" charset="0"/>
              </a:rPr>
              <a:t>，</a:t>
            </a:r>
            <a:r>
              <a:rPr lang="zh-CN" altLang="en-US" dirty="0">
                <a:solidFill>
                  <a:srgbClr val="000000"/>
                </a:solidFill>
                <a:latin typeface="宋体" pitchFamily="2" charset="-122"/>
              </a:rPr>
              <a:t>负相关；</a:t>
            </a:r>
            <a:r>
              <a:rPr lang="en-US" altLang="zh-CN" i="1" dirty="0" err="1">
                <a:solidFill>
                  <a:srgbClr val="FF00FF"/>
                </a:solidFill>
                <a:latin typeface="Times New Roman" pitchFamily="18" charset="0"/>
              </a:rPr>
              <a:t>r</a:t>
            </a:r>
            <a:r>
              <a:rPr lang="en-US" altLang="zh-CN" i="1" baseline="-25000" dirty="0" err="1">
                <a:solidFill>
                  <a:srgbClr val="CC0099"/>
                </a:solidFill>
                <a:latin typeface="Times New Roman" pitchFamily="18" charset="0"/>
              </a:rPr>
              <a:t>s</a:t>
            </a:r>
            <a:r>
              <a:rPr lang="en-US" altLang="zh-CN" i="1" dirty="0">
                <a:solidFill>
                  <a:srgbClr val="000000"/>
                </a:solidFill>
                <a:latin typeface="Times New Roman" pitchFamily="18" charset="0"/>
              </a:rPr>
              <a:t> </a:t>
            </a:r>
            <a:r>
              <a:rPr lang="en-US" altLang="zh-CN" dirty="0">
                <a:solidFill>
                  <a:srgbClr val="FF00FF"/>
                </a:solidFill>
                <a:latin typeface="Times New Roman" pitchFamily="18" charset="0"/>
              </a:rPr>
              <a:t>&gt;0</a:t>
            </a:r>
            <a:r>
              <a:rPr lang="zh-CN" altLang="en-US" dirty="0">
                <a:solidFill>
                  <a:srgbClr val="000000"/>
                </a:solidFill>
                <a:cs typeface="Arial" charset="0"/>
              </a:rPr>
              <a:t>，</a:t>
            </a:r>
            <a:r>
              <a:rPr lang="zh-CN" altLang="en-US" dirty="0">
                <a:solidFill>
                  <a:srgbClr val="000000"/>
                </a:solidFill>
                <a:latin typeface="宋体" pitchFamily="2" charset="-122"/>
              </a:rPr>
              <a:t>正相关</a:t>
            </a:r>
          </a:p>
          <a:p>
            <a:pPr marL="609600" indent="-609600" algn="just">
              <a:lnSpc>
                <a:spcPct val="120000"/>
              </a:lnSpc>
              <a:spcBef>
                <a:spcPts val="600"/>
              </a:spcBef>
              <a:spcAft>
                <a:spcPts val="0"/>
              </a:spcAft>
              <a:buFontTx/>
              <a:buChar char="•"/>
            </a:pPr>
            <a:r>
              <a:rPr lang="en-US" altLang="zh-CN" dirty="0">
                <a:solidFill>
                  <a:srgbClr val="000000"/>
                </a:solidFill>
                <a:cs typeface="Arial" charset="0"/>
              </a:rPr>
              <a:t>|</a:t>
            </a:r>
            <a:r>
              <a:rPr lang="en-US" altLang="zh-CN" i="1" dirty="0" err="1">
                <a:solidFill>
                  <a:srgbClr val="000000"/>
                </a:solidFill>
                <a:latin typeface="Times New Roman" pitchFamily="18" charset="0"/>
              </a:rPr>
              <a:t>r</a:t>
            </a:r>
            <a:r>
              <a:rPr lang="en-US" altLang="zh-CN" i="1" baseline="-25000" dirty="0" err="1">
                <a:solidFill>
                  <a:srgbClr val="000000"/>
                </a:solidFill>
                <a:latin typeface="Times New Roman" pitchFamily="18" charset="0"/>
              </a:rPr>
              <a:t>s</a:t>
            </a:r>
            <a:r>
              <a:rPr lang="en-US" altLang="zh-CN" dirty="0">
                <a:solidFill>
                  <a:srgbClr val="000000"/>
                </a:solidFill>
                <a:cs typeface="Arial" charset="0"/>
              </a:rPr>
              <a:t>|</a:t>
            </a:r>
            <a:r>
              <a:rPr lang="en-US" altLang="zh-CN" dirty="0">
                <a:solidFill>
                  <a:srgbClr val="000000"/>
                </a:solidFill>
              </a:rPr>
              <a:t>→</a:t>
            </a:r>
            <a:r>
              <a:rPr lang="en-US" altLang="zh-CN" dirty="0">
                <a:solidFill>
                  <a:srgbClr val="000000"/>
                </a:solidFill>
                <a:latin typeface="宋体" pitchFamily="2" charset="-122"/>
              </a:rPr>
              <a:t>1</a:t>
            </a:r>
            <a:r>
              <a:rPr lang="zh-CN" altLang="en-US" dirty="0">
                <a:solidFill>
                  <a:srgbClr val="000000"/>
                </a:solidFill>
                <a:cs typeface="Arial" charset="0"/>
              </a:rPr>
              <a:t>等级相关</a:t>
            </a:r>
            <a:r>
              <a:rPr lang="zh-CN" altLang="en-US" dirty="0">
                <a:solidFill>
                  <a:srgbClr val="000000"/>
                </a:solidFill>
                <a:latin typeface="宋体" pitchFamily="2" charset="-122"/>
              </a:rPr>
              <a:t>关系越密切；</a:t>
            </a:r>
          </a:p>
          <a:p>
            <a:pPr marL="609600" indent="-609600" algn="just">
              <a:lnSpc>
                <a:spcPct val="120000"/>
              </a:lnSpc>
              <a:spcBef>
                <a:spcPts val="600"/>
              </a:spcBef>
              <a:spcAft>
                <a:spcPts val="0"/>
              </a:spcAft>
              <a:buNone/>
            </a:pPr>
            <a:r>
              <a:rPr lang="zh-CN" altLang="en-US" dirty="0">
                <a:solidFill>
                  <a:srgbClr val="000000"/>
                </a:solidFill>
                <a:cs typeface="Arial" charset="0"/>
              </a:rPr>
              <a:t>     </a:t>
            </a:r>
            <a:r>
              <a:rPr lang="en-US" altLang="zh-CN" dirty="0">
                <a:solidFill>
                  <a:srgbClr val="000000"/>
                </a:solidFill>
                <a:cs typeface="Arial" charset="0"/>
              </a:rPr>
              <a:t>|</a:t>
            </a:r>
            <a:r>
              <a:rPr lang="en-US" altLang="zh-CN" i="1" dirty="0" err="1">
                <a:solidFill>
                  <a:srgbClr val="000000"/>
                </a:solidFill>
                <a:latin typeface="Times New Roman" pitchFamily="18" charset="0"/>
              </a:rPr>
              <a:t>r</a:t>
            </a:r>
            <a:r>
              <a:rPr lang="en-US" altLang="zh-CN" i="1" baseline="-25000" dirty="0" err="1">
                <a:solidFill>
                  <a:srgbClr val="000000"/>
                </a:solidFill>
                <a:latin typeface="Times New Roman" pitchFamily="18" charset="0"/>
              </a:rPr>
              <a:t>s</a:t>
            </a:r>
            <a:r>
              <a:rPr lang="en-US" altLang="zh-CN" dirty="0">
                <a:solidFill>
                  <a:srgbClr val="000000"/>
                </a:solidFill>
                <a:cs typeface="Arial" charset="0"/>
              </a:rPr>
              <a:t>|</a:t>
            </a:r>
            <a:r>
              <a:rPr lang="en-US" altLang="zh-CN" dirty="0">
                <a:solidFill>
                  <a:srgbClr val="000000"/>
                </a:solidFill>
              </a:rPr>
              <a:t>→</a:t>
            </a:r>
            <a:r>
              <a:rPr lang="en-US" altLang="zh-CN" dirty="0">
                <a:solidFill>
                  <a:srgbClr val="000000"/>
                </a:solidFill>
                <a:latin typeface="宋体" pitchFamily="2" charset="-122"/>
              </a:rPr>
              <a:t>0</a:t>
            </a:r>
            <a:r>
              <a:rPr lang="zh-CN" altLang="en-US" dirty="0">
                <a:solidFill>
                  <a:srgbClr val="000000"/>
                </a:solidFill>
                <a:cs typeface="Arial" charset="0"/>
              </a:rPr>
              <a:t>等级相关</a:t>
            </a:r>
            <a:r>
              <a:rPr lang="zh-CN" altLang="en-US" dirty="0">
                <a:solidFill>
                  <a:srgbClr val="000000"/>
                </a:solidFill>
                <a:latin typeface="宋体" pitchFamily="2" charset="-122"/>
              </a:rPr>
              <a:t>关系越不密切。</a:t>
            </a:r>
          </a:p>
        </p:txBody>
      </p:sp>
      <p:sp>
        <p:nvSpPr>
          <p:cNvPr id="82946" name="灯片编号占位符 5"/>
          <p:cNvSpPr>
            <a:spLocks noGrp="1"/>
          </p:cNvSpPr>
          <p:nvPr>
            <p:ph type="sldNum" sz="quarter" idx="4"/>
          </p:nvPr>
        </p:nvSpPr>
        <p:spPr>
          <a:noFill/>
        </p:spPr>
        <p:txBody>
          <a:bodyPr/>
          <a:lstStyle/>
          <a:p>
            <a:r>
              <a:rPr lang="en-US" altLang="zh-CN"/>
              <a:t>9--</a:t>
            </a:r>
            <a:fld id="{6EEB32F2-047F-4A71-959B-BBF028B7A425}" type="slidenum">
              <a:rPr lang="en-US" altLang="zh-CN" smtClean="0"/>
              <a:pPr/>
              <a:t>31</a:t>
            </a:fld>
            <a:endParaRPr lang="en-US" altLang="zh-CN"/>
          </a:p>
        </p:txBody>
      </p:sp>
    </p:spTree>
    <p:extLst>
      <p:ext uri="{BB962C8B-B14F-4D97-AF65-F5344CB8AC3E}">
        <p14:creationId xmlns:p14="http://schemas.microsoft.com/office/powerpoint/2010/main" val="1165053709"/>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6"/>
          <p:cNvSpPr>
            <a:spLocks noGrp="1"/>
          </p:cNvSpPr>
          <p:nvPr>
            <p:ph type="sldNum" sz="quarter" idx="10"/>
          </p:nvPr>
        </p:nvSpPr>
        <p:spPr>
          <a:noFill/>
        </p:spPr>
        <p:txBody>
          <a:bodyPr/>
          <a:lstStyle/>
          <a:p>
            <a:r>
              <a:rPr lang="en-US" altLang="zh-CN"/>
              <a:t>9--</a:t>
            </a:r>
            <a:fld id="{151E0DEE-751D-4999-99BD-A230F7BF81AF}" type="slidenum">
              <a:rPr lang="en-US" altLang="zh-CN" smtClean="0"/>
              <a:pPr/>
              <a:t>32</a:t>
            </a:fld>
            <a:endParaRPr lang="en-US" altLang="zh-CN"/>
          </a:p>
        </p:txBody>
      </p:sp>
      <p:sp>
        <p:nvSpPr>
          <p:cNvPr id="83971" name="Rectangle 2"/>
          <p:cNvSpPr>
            <a:spLocks noGrp="1" noChangeArrowheads="1"/>
          </p:cNvSpPr>
          <p:nvPr>
            <p:ph type="title" idx="4294967295"/>
          </p:nvPr>
        </p:nvSpPr>
        <p:spPr>
          <a:xfrm>
            <a:off x="1638300" y="612775"/>
            <a:ext cx="5803900" cy="990600"/>
          </a:xfrm>
        </p:spPr>
        <p:txBody>
          <a:bodyPr>
            <a:normAutofit fontScale="90000"/>
          </a:bodyPr>
          <a:lstStyle/>
          <a:p>
            <a:pPr eaLnBrk="1" hangingPunct="1">
              <a:lnSpc>
                <a:spcPct val="100000"/>
              </a:lnSpc>
            </a:pPr>
            <a:r>
              <a:rPr lang="en-US" altLang="zh-CN" sz="4000" dirty="0"/>
              <a:t>Spearman</a:t>
            </a:r>
            <a:r>
              <a:rPr lang="zh-CN" altLang="en-US" sz="4000" dirty="0"/>
              <a:t>等级相关系数是简单线性相关系数 </a:t>
            </a:r>
            <a:r>
              <a:rPr lang="en-US" altLang="zh-CN" sz="4000" i="1" dirty="0">
                <a:latin typeface="Times New Roman" pitchFamily="18" charset="0"/>
              </a:rPr>
              <a:t>r </a:t>
            </a:r>
            <a:r>
              <a:rPr lang="zh-CN" altLang="en-US" sz="4000" dirty="0"/>
              <a:t>的特例</a:t>
            </a:r>
          </a:p>
        </p:txBody>
      </p:sp>
      <p:graphicFrame>
        <p:nvGraphicFramePr>
          <p:cNvPr id="256180" name="Group 180"/>
          <p:cNvGraphicFramePr>
            <a:graphicFrameLocks noGrp="1"/>
          </p:cNvGraphicFramePr>
          <p:nvPr>
            <p:ph sz="half" idx="4294967295"/>
            <p:extLst>
              <p:ext uri="{D42A27DB-BD31-4B8C-83A1-F6EECF244321}">
                <p14:modId xmlns:p14="http://schemas.microsoft.com/office/powerpoint/2010/main" val="3558432103"/>
              </p:ext>
            </p:extLst>
          </p:nvPr>
        </p:nvGraphicFramePr>
        <p:xfrm>
          <a:off x="7273291" y="3281363"/>
          <a:ext cx="3810000" cy="2384425"/>
        </p:xfrm>
        <a:graphic>
          <a:graphicData uri="http://schemas.openxmlformats.org/drawingml/2006/table">
            <a:tbl>
              <a:tblPr/>
              <a:tblGrid>
                <a:gridCol w="784225">
                  <a:extLst>
                    <a:ext uri="{9D8B030D-6E8A-4147-A177-3AD203B41FA5}">
                      <a16:colId xmlns:a16="http://schemas.microsoft.com/office/drawing/2014/main" val="20000"/>
                    </a:ext>
                  </a:extLst>
                </a:gridCol>
                <a:gridCol w="1819275">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tblGrid>
              <a:tr h="86360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0070C0"/>
                          </a:solidFill>
                          <a:effectLst/>
                          <a:latin typeface="Times New Roman" pitchFamily="18" charset="0"/>
                          <a:ea typeface="宋体" pitchFamily="2" charset="-122"/>
                        </a:rPr>
                        <a:t>　</a:t>
                      </a:r>
                    </a:p>
                  </a:txBody>
                  <a:tcPr anchor="b"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70C0"/>
                          </a:solidFill>
                          <a:effectLst/>
                          <a:latin typeface="Times New Roman" pitchFamily="18" charset="0"/>
                          <a:ea typeface="宋体" pitchFamily="2" charset="-122"/>
                        </a:rPr>
                        <a:t>XS</a:t>
                      </a:r>
                      <a:endParaRPr kumimoji="0" lang="en-US" altLang="zh-CN" sz="3200" b="1" i="1" u="none" strike="noStrike" cap="none" normalizeH="0" baseline="-25000" dirty="0">
                        <a:ln>
                          <a:noFill/>
                        </a:ln>
                        <a:solidFill>
                          <a:srgbClr val="0070C0"/>
                        </a:solidFill>
                        <a:effectLst/>
                        <a:latin typeface="Times New Roman" pitchFamily="18" charset="0"/>
                        <a:ea typeface="宋体" pitchFamily="2" charset="-122"/>
                      </a:endParaRPr>
                    </a:p>
                  </a:txBody>
                  <a:tcPr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70C0"/>
                          </a:solidFill>
                          <a:effectLst/>
                          <a:latin typeface="Times New Roman" pitchFamily="18" charset="0"/>
                          <a:ea typeface="宋体" pitchFamily="2" charset="-122"/>
                        </a:rPr>
                        <a:t>YS</a:t>
                      </a:r>
                      <a:endParaRPr kumimoji="0" lang="en-US" altLang="zh-CN" sz="3200" b="1" i="1" u="none" strike="noStrike" cap="none" normalizeH="0" baseline="-25000" dirty="0">
                        <a:ln>
                          <a:noFill/>
                        </a:ln>
                        <a:solidFill>
                          <a:srgbClr val="0070C0"/>
                        </a:solidFill>
                        <a:effectLst/>
                        <a:latin typeface="Times New Roman" pitchFamily="18" charset="0"/>
                        <a:ea typeface="宋体" pitchFamily="2" charset="-122"/>
                      </a:endParaRPr>
                    </a:p>
                  </a:txBody>
                  <a:tcPr anchor="b"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7207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70C0"/>
                          </a:solidFill>
                          <a:effectLst/>
                          <a:latin typeface="Times New Roman" pitchFamily="18" charset="0"/>
                          <a:ea typeface="宋体" pitchFamily="2" charset="-122"/>
                        </a:rPr>
                        <a:t>XS</a:t>
                      </a:r>
                      <a:endParaRPr kumimoji="0" lang="en-US" altLang="zh-CN" sz="3200" b="1" i="1" u="none" strike="noStrike" cap="none" normalizeH="0" baseline="-25000" dirty="0">
                        <a:ln>
                          <a:noFill/>
                        </a:ln>
                        <a:solidFill>
                          <a:srgbClr val="0070C0"/>
                        </a:solidFill>
                        <a:effectLst/>
                        <a:latin typeface="Times New Roman" pitchFamily="18" charset="0"/>
                        <a:ea typeface="宋体" pitchFamily="2" charset="-122"/>
                      </a:endParaRPr>
                    </a:p>
                  </a:txBody>
                  <a:tcPr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3200" b="1" i="0" u="none" strike="noStrike" cap="none" normalizeH="0" baseline="0" dirty="0">
                          <a:ln>
                            <a:noFill/>
                          </a:ln>
                          <a:solidFill>
                            <a:srgbClr val="0070C0"/>
                          </a:solidFill>
                          <a:effectLst/>
                          <a:latin typeface="Times New Roman" pitchFamily="18" charset="0"/>
                          <a:ea typeface="宋体" pitchFamily="2" charset="-122"/>
                        </a:rPr>
                        <a:t>1</a:t>
                      </a: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3200" b="1" i="0" u="none" strike="noStrike" cap="none" normalizeH="0" baseline="0">
                        <a:ln>
                          <a:noFill/>
                        </a:ln>
                        <a:solidFill>
                          <a:srgbClr val="0070C0"/>
                        </a:solidFill>
                        <a:effectLst/>
                        <a:latin typeface="Times New Roman" pitchFamily="18" charset="0"/>
                        <a:ea typeface="宋体" pitchFamily="2" charset="-122"/>
                      </a:endParaRPr>
                    </a:p>
                  </a:txBody>
                  <a:tcPr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80010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70C0"/>
                          </a:solidFill>
                          <a:effectLst/>
                          <a:latin typeface="Times New Roman" pitchFamily="18" charset="0"/>
                          <a:ea typeface="宋体" pitchFamily="2" charset="-122"/>
                        </a:rPr>
                        <a:t>YS</a:t>
                      </a:r>
                      <a:endParaRPr kumimoji="0" lang="en-US" altLang="zh-CN" sz="3200" b="1" i="1" u="none" strike="noStrike" cap="none" normalizeH="0" baseline="-25000" dirty="0">
                        <a:ln>
                          <a:noFill/>
                        </a:ln>
                        <a:solidFill>
                          <a:srgbClr val="0070C0"/>
                        </a:solidFill>
                        <a:effectLst/>
                        <a:latin typeface="Times New Roman" pitchFamily="18" charset="0"/>
                        <a:ea typeface="宋体" pitchFamily="2" charset="-122"/>
                      </a:endParaRPr>
                    </a:p>
                  </a:txBody>
                  <a:tcPr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3200" b="1" i="0" u="none" strike="noStrike" cap="none" normalizeH="0" baseline="0" dirty="0">
                          <a:ln>
                            <a:noFill/>
                          </a:ln>
                          <a:solidFill>
                            <a:srgbClr val="0070C0"/>
                          </a:solidFill>
                          <a:effectLst/>
                          <a:latin typeface="Times New Roman" pitchFamily="18" charset="0"/>
                          <a:ea typeface="宋体" pitchFamily="2" charset="-122"/>
                        </a:rPr>
                        <a:t>0.946</a:t>
                      </a: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3200" b="1" i="0" u="none" strike="noStrike" cap="none" normalizeH="0" baseline="0" dirty="0">
                          <a:ln>
                            <a:noFill/>
                          </a:ln>
                          <a:solidFill>
                            <a:srgbClr val="0070C0"/>
                          </a:solidFill>
                          <a:effectLst/>
                          <a:latin typeface="Times New Roman" pitchFamily="18" charset="0"/>
                          <a:ea typeface="宋体" pitchFamily="2" charset="-122"/>
                        </a:rPr>
                        <a:t>1</a:t>
                      </a:r>
                    </a:p>
                  </a:txBody>
                  <a:tcPr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256280" name="Group 280"/>
          <p:cNvGraphicFramePr>
            <a:graphicFrameLocks noGrp="1"/>
          </p:cNvGraphicFramePr>
          <p:nvPr>
            <p:extLst>
              <p:ext uri="{D42A27DB-BD31-4B8C-83A1-F6EECF244321}">
                <p14:modId xmlns:p14="http://schemas.microsoft.com/office/powerpoint/2010/main" val="3597218384"/>
              </p:ext>
            </p:extLst>
          </p:nvPr>
        </p:nvGraphicFramePr>
        <p:xfrm>
          <a:off x="1992314" y="1773239"/>
          <a:ext cx="4103687" cy="4606925"/>
        </p:xfrm>
        <a:graphic>
          <a:graphicData uri="http://schemas.openxmlformats.org/drawingml/2006/table">
            <a:tbl>
              <a:tblPr/>
              <a:tblGrid>
                <a:gridCol w="2052637">
                  <a:extLst>
                    <a:ext uri="{9D8B030D-6E8A-4147-A177-3AD203B41FA5}">
                      <a16:colId xmlns:a16="http://schemas.microsoft.com/office/drawing/2014/main" val="20000"/>
                    </a:ext>
                  </a:extLst>
                </a:gridCol>
                <a:gridCol w="2051050">
                  <a:extLst>
                    <a:ext uri="{9D8B030D-6E8A-4147-A177-3AD203B41FA5}">
                      <a16:colId xmlns:a16="http://schemas.microsoft.com/office/drawing/2014/main" val="20001"/>
                    </a:ext>
                  </a:extLst>
                </a:gridCol>
              </a:tblGrid>
              <a:tr h="9493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广告费的排序位次</a:t>
                      </a:r>
                      <a:r>
                        <a:rPr kumimoji="0" lang="en-US" altLang="zh-CN" sz="2400" b="1" i="1" u="none" strike="noStrike" cap="none" normalizeH="0" baseline="0" dirty="0">
                          <a:ln>
                            <a:noFill/>
                          </a:ln>
                          <a:solidFill>
                            <a:srgbClr val="0070C0"/>
                          </a:solidFill>
                          <a:effectLst/>
                          <a:latin typeface="Times New Roman" pitchFamily="18" charset="0"/>
                          <a:ea typeface="宋体" pitchFamily="2" charset="-122"/>
                          <a:cs typeface="Times New Roman" pitchFamily="18" charset="0"/>
                        </a:rPr>
                        <a:t>XS</a:t>
                      </a:r>
                      <a:endParaRPr kumimoji="0" lang="zh-CN" altLang="en-US" sz="2400" b="1" i="1" u="none" strike="noStrike" cap="none" normalizeH="0" baseline="0" dirty="0">
                        <a:ln>
                          <a:noFill/>
                        </a:ln>
                        <a:solidFill>
                          <a:srgbClr val="0070C0"/>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销售额的排序位次</a:t>
                      </a:r>
                      <a:r>
                        <a:rPr kumimoji="0" lang="en-US" altLang="zh-CN" sz="2400" b="1" i="1" u="none" strike="noStrike" cap="none" normalizeH="0" baseline="0" dirty="0">
                          <a:ln>
                            <a:noFill/>
                          </a:ln>
                          <a:solidFill>
                            <a:srgbClr val="0070C0"/>
                          </a:solidFill>
                          <a:effectLst/>
                          <a:latin typeface="Times New Roman" pitchFamily="18" charset="0"/>
                          <a:ea typeface="宋体" pitchFamily="2" charset="-122"/>
                          <a:cs typeface="Times New Roman" pitchFamily="18" charset="0"/>
                        </a:rPr>
                        <a:t>YS</a:t>
                      </a:r>
                      <a:endParaRPr kumimoji="0" lang="zh-CN" altLang="en-US" sz="2400" b="1" i="0" u="none" strike="noStrike" cap="none" normalizeH="0" baseline="0" dirty="0">
                        <a:ln>
                          <a:noFill/>
                        </a:ln>
                        <a:solidFill>
                          <a:srgbClr val="0070C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algn="ctr">
                        <a:spcAft>
                          <a:spcPts val="0"/>
                        </a:spcAft>
                      </a:pPr>
                      <a:r>
                        <a:rPr lang="en-US" sz="3000" b="1" kern="100" dirty="0">
                          <a:solidFill>
                            <a:srgbClr val="0070C0"/>
                          </a:solidFill>
                          <a:latin typeface="Times New Roman"/>
                          <a:ea typeface="宋体"/>
                          <a:cs typeface="Times New Roman"/>
                        </a:rPr>
                        <a:t>1</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1</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0688">
                <a:tc>
                  <a:txBody>
                    <a:bodyPr/>
                    <a:lstStyle/>
                    <a:p>
                      <a:pPr algn="ctr">
                        <a:spcAft>
                          <a:spcPts val="0"/>
                        </a:spcAft>
                      </a:pPr>
                      <a:r>
                        <a:rPr lang="en-US" sz="3000" b="1" kern="100" dirty="0">
                          <a:solidFill>
                            <a:srgbClr val="0070C0"/>
                          </a:solidFill>
                          <a:latin typeface="Times New Roman"/>
                          <a:ea typeface="宋体"/>
                          <a:cs typeface="Times New Roman"/>
                        </a:rPr>
                        <a:t>2.5</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2</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688">
                <a:tc>
                  <a:txBody>
                    <a:bodyPr/>
                    <a:lstStyle/>
                    <a:p>
                      <a:pPr algn="ctr">
                        <a:spcAft>
                          <a:spcPts val="0"/>
                        </a:spcAft>
                      </a:pPr>
                      <a:r>
                        <a:rPr lang="en-US" sz="3000" b="1" kern="100" dirty="0">
                          <a:solidFill>
                            <a:srgbClr val="0070C0"/>
                          </a:solidFill>
                          <a:latin typeface="Times New Roman"/>
                          <a:ea typeface="宋体"/>
                          <a:cs typeface="Times New Roman"/>
                        </a:rPr>
                        <a:t>2.5</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3</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2275">
                <a:tc>
                  <a:txBody>
                    <a:bodyPr/>
                    <a:lstStyle/>
                    <a:p>
                      <a:pPr algn="ctr">
                        <a:spcAft>
                          <a:spcPts val="0"/>
                        </a:spcAft>
                      </a:pPr>
                      <a:r>
                        <a:rPr lang="en-US" sz="3000" b="1" kern="100">
                          <a:solidFill>
                            <a:srgbClr val="0070C0"/>
                          </a:solidFill>
                          <a:latin typeface="Times New Roman"/>
                          <a:ea typeface="宋体"/>
                          <a:cs typeface="Times New Roman"/>
                        </a:rPr>
                        <a:t>4</a:t>
                      </a:r>
                      <a:endParaRPr lang="zh-CN" sz="3000" b="1" kern="10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5</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0688">
                <a:tc>
                  <a:txBody>
                    <a:bodyPr/>
                    <a:lstStyle/>
                    <a:p>
                      <a:pPr algn="ctr">
                        <a:spcAft>
                          <a:spcPts val="0"/>
                        </a:spcAft>
                      </a:pPr>
                      <a:r>
                        <a:rPr lang="en-US" sz="3000" b="1" kern="100">
                          <a:solidFill>
                            <a:srgbClr val="0070C0"/>
                          </a:solidFill>
                          <a:latin typeface="Times New Roman"/>
                          <a:ea typeface="宋体"/>
                          <a:cs typeface="Times New Roman"/>
                        </a:rPr>
                        <a:t>5</a:t>
                      </a:r>
                      <a:endParaRPr lang="zh-CN" sz="3000" b="1" kern="10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4</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0688">
                <a:tc>
                  <a:txBody>
                    <a:bodyPr/>
                    <a:lstStyle/>
                    <a:p>
                      <a:pPr algn="ctr">
                        <a:spcAft>
                          <a:spcPts val="0"/>
                        </a:spcAft>
                      </a:pPr>
                      <a:r>
                        <a:rPr lang="en-US" sz="3000" b="1" kern="100">
                          <a:solidFill>
                            <a:srgbClr val="0070C0"/>
                          </a:solidFill>
                          <a:latin typeface="Times New Roman"/>
                          <a:ea typeface="宋体"/>
                          <a:cs typeface="Times New Roman"/>
                        </a:rPr>
                        <a:t>6</a:t>
                      </a:r>
                      <a:endParaRPr lang="zh-CN" sz="3000" b="1" kern="10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6</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2275">
                <a:tc>
                  <a:txBody>
                    <a:bodyPr/>
                    <a:lstStyle/>
                    <a:p>
                      <a:pPr algn="ctr">
                        <a:spcAft>
                          <a:spcPts val="0"/>
                        </a:spcAft>
                      </a:pPr>
                      <a:r>
                        <a:rPr lang="en-US" sz="3000" b="1" kern="100">
                          <a:solidFill>
                            <a:srgbClr val="0070C0"/>
                          </a:solidFill>
                          <a:latin typeface="Times New Roman"/>
                          <a:ea typeface="宋体"/>
                          <a:cs typeface="Times New Roman"/>
                        </a:rPr>
                        <a:t>7</a:t>
                      </a:r>
                      <a:endParaRPr lang="zh-CN" sz="3000" b="1" kern="10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8</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0688">
                <a:tc>
                  <a:txBody>
                    <a:bodyPr/>
                    <a:lstStyle/>
                    <a:p>
                      <a:pPr algn="ctr">
                        <a:spcAft>
                          <a:spcPts val="0"/>
                        </a:spcAft>
                      </a:pPr>
                      <a:r>
                        <a:rPr lang="en-US" sz="3000" b="1" kern="100">
                          <a:solidFill>
                            <a:srgbClr val="0070C0"/>
                          </a:solidFill>
                          <a:latin typeface="Times New Roman"/>
                          <a:ea typeface="宋体"/>
                          <a:cs typeface="Times New Roman"/>
                        </a:rPr>
                        <a:t>8</a:t>
                      </a:r>
                      <a:endParaRPr lang="zh-CN" sz="3000" b="1" kern="100">
                        <a:solidFill>
                          <a:srgbClr val="0070C0"/>
                        </a:solidFill>
                        <a:latin typeface="Times New Roman"/>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3000" b="1" kern="100" dirty="0">
                          <a:solidFill>
                            <a:srgbClr val="0070C0"/>
                          </a:solidFill>
                          <a:latin typeface="Times New Roman"/>
                          <a:ea typeface="宋体"/>
                          <a:cs typeface="Times New Roman"/>
                        </a:rPr>
                        <a:t>7</a:t>
                      </a:r>
                      <a:endParaRPr lang="zh-CN" sz="3000" b="1" kern="100" dirty="0">
                        <a:solidFill>
                          <a:srgbClr val="0070C0"/>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文本框 1"/>
          <p:cNvSpPr txBox="1"/>
          <p:nvPr/>
        </p:nvSpPr>
        <p:spPr>
          <a:xfrm>
            <a:off x="7237095" y="2696976"/>
            <a:ext cx="3882391" cy="523220"/>
          </a:xfrm>
          <a:prstGeom prst="rect">
            <a:avLst/>
          </a:prstGeom>
          <a:solidFill>
            <a:schemeClr val="accent2">
              <a:lumMod val="20000"/>
              <a:lumOff val="80000"/>
            </a:schemeClr>
          </a:solidFill>
        </p:spPr>
        <p:txBody>
          <a:bodyPr wrap="square" rtlCol="0">
            <a:spAutoFit/>
          </a:bodyPr>
          <a:lstStyle/>
          <a:p>
            <a:r>
              <a:rPr lang="en-US" altLang="zh-CN" sz="2800" b="1" dirty="0"/>
              <a:t>EXCEL</a:t>
            </a:r>
            <a:r>
              <a:rPr lang="zh-CN" altLang="en-US" sz="2800" b="1" dirty="0"/>
              <a:t>输出的相关系数</a:t>
            </a:r>
            <a:r>
              <a:rPr lang="en-US" altLang="zh-CN" sz="2800" b="1" dirty="0"/>
              <a:t> </a:t>
            </a:r>
            <a:endParaRPr lang="zh-CN" altLang="en-US" sz="2800" b="1" dirty="0"/>
          </a:p>
        </p:txBody>
      </p:sp>
      <p:sp>
        <p:nvSpPr>
          <p:cNvPr id="3" name="右箭头 2"/>
          <p:cNvSpPr/>
          <p:nvPr/>
        </p:nvSpPr>
        <p:spPr>
          <a:xfrm>
            <a:off x="6252846" y="3879851"/>
            <a:ext cx="863600" cy="393700"/>
          </a:xfrm>
          <a:prstGeom prst="righ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14037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灯片编号占位符 4"/>
          <p:cNvSpPr>
            <a:spLocks noGrp="1"/>
          </p:cNvSpPr>
          <p:nvPr>
            <p:ph type="sldNum" sz="quarter" idx="10"/>
          </p:nvPr>
        </p:nvSpPr>
        <p:spPr>
          <a:noFill/>
        </p:spPr>
        <p:txBody>
          <a:bodyPr/>
          <a:lstStyle/>
          <a:p>
            <a:r>
              <a:rPr lang="en-US" altLang="zh-CN"/>
              <a:t>9--</a:t>
            </a:r>
            <a:fld id="{03CF233B-9288-4F76-8E4A-859C1E41313C}" type="slidenum">
              <a:rPr lang="en-US" altLang="zh-CN" smtClean="0"/>
              <a:pPr/>
              <a:t>33</a:t>
            </a:fld>
            <a:endParaRPr lang="en-US" altLang="zh-CN"/>
          </a:p>
        </p:txBody>
      </p:sp>
      <p:sp>
        <p:nvSpPr>
          <p:cNvPr id="84994" name="标题 1"/>
          <p:cNvSpPr>
            <a:spLocks noGrp="1"/>
          </p:cNvSpPr>
          <p:nvPr>
            <p:ph type="title" idx="4294967295"/>
          </p:nvPr>
        </p:nvSpPr>
        <p:spPr>
          <a:xfrm>
            <a:off x="1978883" y="38100"/>
            <a:ext cx="5854700" cy="990600"/>
          </a:xfrm>
        </p:spPr>
        <p:txBody>
          <a:bodyPr/>
          <a:lstStyle/>
          <a:p>
            <a:r>
              <a:rPr lang="en-US" altLang="zh-CN" b="1" dirty="0">
                <a:solidFill>
                  <a:srgbClr val="0070C0"/>
                </a:solidFill>
                <a:effectLst/>
              </a:rPr>
              <a:t>【</a:t>
            </a:r>
            <a:r>
              <a:rPr lang="zh-CN" altLang="en-US" b="1" dirty="0">
                <a:solidFill>
                  <a:srgbClr val="0070C0"/>
                </a:solidFill>
                <a:effectLst/>
              </a:rPr>
              <a:t>附</a:t>
            </a:r>
            <a:r>
              <a:rPr lang="en-US" altLang="zh-CN" b="1" dirty="0">
                <a:solidFill>
                  <a:srgbClr val="0070C0"/>
                </a:solidFill>
                <a:effectLst/>
              </a:rPr>
              <a:t>】SPSS</a:t>
            </a:r>
            <a:r>
              <a:rPr lang="zh-CN" altLang="en-US" b="1" dirty="0">
                <a:solidFill>
                  <a:srgbClr val="0070C0"/>
                </a:solidFill>
                <a:effectLst/>
              </a:rPr>
              <a:t>计算等级相关系数</a:t>
            </a:r>
          </a:p>
        </p:txBody>
      </p:sp>
      <p:sp>
        <p:nvSpPr>
          <p:cNvPr id="84996" name="矩形 9"/>
          <p:cNvSpPr>
            <a:spLocks noChangeArrowheads="1"/>
          </p:cNvSpPr>
          <p:nvPr/>
        </p:nvSpPr>
        <p:spPr bwMode="auto">
          <a:xfrm>
            <a:off x="352043" y="533400"/>
            <a:ext cx="11569447" cy="2344360"/>
          </a:xfrm>
          <a:prstGeom prst="rect">
            <a:avLst/>
          </a:prstGeom>
          <a:noFill/>
          <a:ln w="9525">
            <a:noFill/>
            <a:miter lim="800000"/>
            <a:headEnd/>
            <a:tailEnd/>
          </a:ln>
        </p:spPr>
        <p:txBody>
          <a:bodyPr wrap="square">
            <a:spAutoFit/>
          </a:bodyPr>
          <a:lstStyle/>
          <a:p>
            <a:pPr>
              <a:lnSpc>
                <a:spcPct val="150000"/>
              </a:lnSpc>
            </a:pPr>
            <a:r>
              <a:rPr lang="zh-CN" altLang="en-US" sz="2800" b="1" dirty="0">
                <a:solidFill>
                  <a:srgbClr val="000000"/>
                </a:solidFill>
              </a:rPr>
              <a:t>    </a:t>
            </a:r>
            <a:r>
              <a:rPr lang="zh-CN" altLang="en-US" sz="2400" b="1" dirty="0">
                <a:solidFill>
                  <a:srgbClr val="000000"/>
                </a:solidFill>
              </a:rPr>
              <a:t>在</a:t>
            </a:r>
            <a:r>
              <a:rPr lang="en-US" altLang="zh-CN" sz="2400" b="1" dirty="0">
                <a:solidFill>
                  <a:srgbClr val="000000"/>
                </a:solidFill>
              </a:rPr>
              <a:t>SPSS</a:t>
            </a:r>
            <a:r>
              <a:rPr lang="zh-CN" altLang="en-US" sz="2400" b="1" dirty="0">
                <a:solidFill>
                  <a:srgbClr val="000000"/>
                </a:solidFill>
              </a:rPr>
              <a:t>数据文件中点击菜单栏的“</a:t>
            </a:r>
            <a:r>
              <a:rPr lang="en-US" altLang="zh-CN" sz="2400" b="1" dirty="0">
                <a:solidFill>
                  <a:srgbClr val="000000"/>
                </a:solidFill>
              </a:rPr>
              <a:t>Analyze</a:t>
            </a:r>
            <a:r>
              <a:rPr lang="zh-CN" altLang="en-US" sz="2400" b="1" dirty="0">
                <a:solidFill>
                  <a:srgbClr val="000000"/>
                </a:solidFill>
              </a:rPr>
              <a:t>－</a:t>
            </a:r>
            <a:r>
              <a:rPr lang="en-US" altLang="zh-CN" sz="2400" b="1" dirty="0">
                <a:solidFill>
                  <a:srgbClr val="000000"/>
                </a:solidFill>
              </a:rPr>
              <a:t>Correlate</a:t>
            </a:r>
            <a:r>
              <a:rPr lang="zh-CN" altLang="en-US" sz="2400" b="1" dirty="0">
                <a:solidFill>
                  <a:srgbClr val="000000"/>
                </a:solidFill>
              </a:rPr>
              <a:t>－</a:t>
            </a:r>
            <a:r>
              <a:rPr lang="en-US" altLang="zh-CN" sz="2400" b="1" dirty="0">
                <a:solidFill>
                  <a:srgbClr val="000000"/>
                </a:solidFill>
              </a:rPr>
              <a:t>Bivariate</a:t>
            </a:r>
            <a:r>
              <a:rPr lang="zh-CN" altLang="en-US" sz="2400" b="1" dirty="0">
                <a:solidFill>
                  <a:srgbClr val="000000"/>
                </a:solidFill>
              </a:rPr>
              <a:t>”，在弹出的“</a:t>
            </a:r>
            <a:r>
              <a:rPr lang="en-US" altLang="zh-CN" sz="2400" b="1" dirty="0">
                <a:solidFill>
                  <a:srgbClr val="000000"/>
                </a:solidFill>
              </a:rPr>
              <a:t>Bivariate  Correlations</a:t>
            </a:r>
            <a:r>
              <a:rPr lang="zh-CN" altLang="en-US" sz="2400" b="1" dirty="0">
                <a:solidFill>
                  <a:srgbClr val="000000"/>
                </a:solidFill>
              </a:rPr>
              <a:t>”选项卡中，</a:t>
            </a:r>
            <a:r>
              <a:rPr lang="zh-CN" altLang="en-US" sz="2400" dirty="0">
                <a:solidFill>
                  <a:srgbClr val="000000"/>
                </a:solidFill>
              </a:rPr>
              <a:t>把所要分析的变量从左侧选入右侧的变量框中，</a:t>
            </a:r>
            <a:r>
              <a:rPr lang="zh-CN" altLang="en-US" sz="2400" b="1" dirty="0">
                <a:solidFill>
                  <a:srgbClr val="000000"/>
                </a:solidFill>
              </a:rPr>
              <a:t>选中所要计算的相关系数“</a:t>
            </a:r>
            <a:r>
              <a:rPr lang="en-US" altLang="zh-CN" sz="2400" b="1" dirty="0">
                <a:solidFill>
                  <a:srgbClr val="000000"/>
                </a:solidFill>
              </a:rPr>
              <a:t>Spearman</a:t>
            </a:r>
            <a:r>
              <a:rPr lang="zh-CN" altLang="en-US" sz="2400" b="1" dirty="0">
                <a:solidFill>
                  <a:srgbClr val="000000"/>
                </a:solidFill>
              </a:rPr>
              <a:t>”即可</a:t>
            </a:r>
            <a:r>
              <a:rPr lang="zh-CN" altLang="en-US" sz="2400" dirty="0">
                <a:solidFill>
                  <a:srgbClr val="000000"/>
                </a:solidFill>
              </a:rPr>
              <a:t>（可同时选择</a:t>
            </a:r>
            <a:r>
              <a:rPr lang="en-US" altLang="zh-CN" sz="2400" dirty="0">
                <a:solidFill>
                  <a:srgbClr val="000000"/>
                </a:solidFill>
              </a:rPr>
              <a:t>Pearson</a:t>
            </a:r>
            <a:r>
              <a:rPr lang="zh-CN" altLang="en-US" sz="2400" dirty="0">
                <a:solidFill>
                  <a:srgbClr val="000000"/>
                </a:solidFill>
              </a:rPr>
              <a:t> 和</a:t>
            </a:r>
            <a:r>
              <a:rPr lang="en-US" altLang="zh-CN" sz="2400" dirty="0">
                <a:solidFill>
                  <a:srgbClr val="000000"/>
                </a:solidFill>
              </a:rPr>
              <a:t>Kendall</a:t>
            </a:r>
            <a:r>
              <a:rPr lang="zh-CN" altLang="en-US" sz="2400" dirty="0">
                <a:solidFill>
                  <a:srgbClr val="000000"/>
                </a:solidFill>
              </a:rPr>
              <a:t>）</a:t>
            </a:r>
            <a:r>
              <a:rPr lang="zh-CN" altLang="en-US" sz="2400" b="1" dirty="0">
                <a:solidFill>
                  <a:srgbClr val="000000"/>
                </a:solidFill>
              </a:rPr>
              <a:t>。</a:t>
            </a:r>
            <a:endParaRPr lang="en-US" altLang="zh-CN" sz="2400" b="1" dirty="0">
              <a:solidFill>
                <a:srgbClr val="000000"/>
              </a:solidFill>
            </a:endParaRPr>
          </a:p>
          <a:p>
            <a:pPr>
              <a:lnSpc>
                <a:spcPct val="150000"/>
              </a:lnSpc>
            </a:pPr>
            <a:r>
              <a:rPr lang="zh-CN" altLang="en-US" sz="2400" b="1" dirty="0">
                <a:solidFill>
                  <a:srgbClr val="000000"/>
                </a:solidFill>
              </a:rPr>
              <a:t>    不仅显示相关系数，也给出了检验的</a:t>
            </a:r>
            <a:r>
              <a:rPr lang="en-US" altLang="zh-CN" sz="2400" b="1" dirty="0">
                <a:solidFill>
                  <a:srgbClr val="000000"/>
                </a:solidFill>
              </a:rPr>
              <a:t>P</a:t>
            </a:r>
            <a:r>
              <a:rPr lang="zh-CN" altLang="en-US" sz="2400" b="1" dirty="0">
                <a:solidFill>
                  <a:srgbClr val="000000"/>
                </a:solidFill>
              </a:rPr>
              <a:t>值和样本量。</a:t>
            </a:r>
          </a:p>
        </p:txBody>
      </p:sp>
      <p:pic>
        <p:nvPicPr>
          <p:cNvPr id="84997" name="Picture 6"/>
          <p:cNvPicPr>
            <a:picLocks noChangeAspect="1" noChangeArrowheads="1"/>
          </p:cNvPicPr>
          <p:nvPr/>
        </p:nvPicPr>
        <p:blipFill>
          <a:blip r:embed="rId2" cstate="print"/>
          <a:srcRect/>
          <a:stretch>
            <a:fillRect/>
          </a:stretch>
        </p:blipFill>
        <p:spPr bwMode="auto">
          <a:xfrm>
            <a:off x="1314927" y="2823251"/>
            <a:ext cx="8307388" cy="3380953"/>
          </a:xfrm>
          <a:prstGeom prst="rect">
            <a:avLst/>
          </a:prstGeom>
          <a:ln>
            <a:noFill/>
          </a:ln>
          <a:effectLst>
            <a:softEdge rad="112500"/>
          </a:effectLst>
        </p:spPr>
      </p:pic>
    </p:spTree>
    <p:extLst>
      <p:ext uri="{BB962C8B-B14F-4D97-AF65-F5344CB8AC3E}">
        <p14:creationId xmlns:p14="http://schemas.microsoft.com/office/powerpoint/2010/main" val="3447311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5"/>
          <p:cNvSpPr>
            <a:spLocks noGrp="1" noChangeArrowheads="1"/>
          </p:cNvSpPr>
          <p:nvPr>
            <p:ph type="ctrTitle"/>
          </p:nvPr>
        </p:nvSpPr>
        <p:spPr>
          <a:xfrm>
            <a:off x="2451100" y="876292"/>
            <a:ext cx="6388100" cy="1746567"/>
          </a:xfrm>
        </p:spPr>
        <p:txBody>
          <a:bodyPr>
            <a:normAutofit/>
          </a:bodyPr>
          <a:lstStyle/>
          <a:p>
            <a:pPr algn="r" eaLnBrk="1" hangingPunct="1"/>
            <a:r>
              <a:rPr lang="en-US" altLang="zh-CN" sz="4800" dirty="0"/>
              <a:t>9.3  </a:t>
            </a:r>
            <a:r>
              <a:rPr lang="zh-CN" altLang="en-US" sz="4800" dirty="0"/>
              <a:t>一元线性回归分析</a:t>
            </a:r>
          </a:p>
        </p:txBody>
      </p:sp>
      <p:sp>
        <p:nvSpPr>
          <p:cNvPr id="86018" name="Rectangle 33"/>
          <p:cNvSpPr>
            <a:spLocks noGrp="1" noChangeArrowheads="1"/>
          </p:cNvSpPr>
          <p:nvPr>
            <p:ph type="sldNum" sz="quarter" idx="4294967295"/>
          </p:nvPr>
        </p:nvSpPr>
        <p:spPr>
          <a:noFill/>
        </p:spPr>
        <p:txBody>
          <a:bodyPr/>
          <a:lstStyle/>
          <a:p>
            <a:r>
              <a:rPr lang="en-US" altLang="zh-CN"/>
              <a:t>9-</a:t>
            </a:r>
            <a:fld id="{F1788E11-A501-442A-A549-7BECAE14CAE4}" type="slidenum">
              <a:rPr lang="en-US" altLang="zh-CN" smtClean="0"/>
              <a:pPr/>
              <a:t>34</a:t>
            </a:fld>
            <a:endParaRPr lang="en-US" altLang="zh-CN"/>
          </a:p>
        </p:txBody>
      </p:sp>
      <p:sp>
        <p:nvSpPr>
          <p:cNvPr id="86019" name="Rectangle 3"/>
          <p:cNvSpPr>
            <a:spLocks noChangeArrowheads="1"/>
          </p:cNvSpPr>
          <p:nvPr/>
        </p:nvSpPr>
        <p:spPr bwMode="auto">
          <a:xfrm>
            <a:off x="2652317" y="2472054"/>
            <a:ext cx="8002983" cy="2823845"/>
          </a:xfrm>
          <a:prstGeom prst="rect">
            <a:avLst/>
          </a:prstGeom>
          <a:noFill/>
          <a:ln w="12700">
            <a:noFill/>
            <a:miter lim="800000"/>
            <a:headEnd/>
            <a:tailEnd/>
          </a:ln>
        </p:spPr>
        <p:txBody>
          <a:bodyPr lIns="90488" tIns="44450" rIns="90488" bIns="44450"/>
          <a:lstStyle/>
          <a:p>
            <a:pPr marL="812800" indent="-812800">
              <a:lnSpc>
                <a:spcPct val="110000"/>
              </a:lnSpc>
              <a:spcBef>
                <a:spcPct val="20000"/>
              </a:spcBef>
              <a:buSzPct val="90000"/>
            </a:pPr>
            <a:r>
              <a:rPr lang="en-US" altLang="zh-CN" sz="3600" b="1" dirty="0">
                <a:solidFill>
                  <a:srgbClr val="0070C0"/>
                </a:solidFill>
                <a:latin typeface="Tahoma" pitchFamily="34" charset="0"/>
              </a:rPr>
              <a:t>9.3.1 </a:t>
            </a:r>
            <a:r>
              <a:rPr lang="zh-CN" altLang="en-US" sz="3600" b="1" dirty="0">
                <a:solidFill>
                  <a:srgbClr val="0070C0"/>
                </a:solidFill>
                <a:latin typeface="Tahoma" pitchFamily="34" charset="0"/>
              </a:rPr>
              <a:t>一元线性回归方程的估计 </a:t>
            </a:r>
          </a:p>
          <a:p>
            <a:pPr marL="812800" indent="-812800">
              <a:lnSpc>
                <a:spcPct val="110000"/>
              </a:lnSpc>
              <a:spcBef>
                <a:spcPct val="20000"/>
              </a:spcBef>
              <a:buSzPct val="90000"/>
            </a:pPr>
            <a:r>
              <a:rPr lang="en-US" altLang="zh-CN" sz="3600" b="1" dirty="0">
                <a:solidFill>
                  <a:srgbClr val="0070C0"/>
                </a:solidFill>
                <a:latin typeface="Tahoma" pitchFamily="34" charset="0"/>
              </a:rPr>
              <a:t>9.3.2 </a:t>
            </a:r>
            <a:r>
              <a:rPr lang="zh-CN" altLang="en-US" sz="3600" b="1" dirty="0">
                <a:solidFill>
                  <a:srgbClr val="0070C0"/>
                </a:solidFill>
                <a:latin typeface="Tahoma" pitchFamily="34" charset="0"/>
              </a:rPr>
              <a:t>一元线性回归方程的拟合效果</a:t>
            </a:r>
          </a:p>
          <a:p>
            <a:pPr marL="812800" indent="-812800">
              <a:lnSpc>
                <a:spcPct val="110000"/>
              </a:lnSpc>
              <a:spcBef>
                <a:spcPct val="20000"/>
              </a:spcBef>
              <a:buSzPct val="90000"/>
            </a:pPr>
            <a:r>
              <a:rPr lang="en-US" altLang="zh-CN" sz="3600" b="1" dirty="0">
                <a:solidFill>
                  <a:srgbClr val="0070C0"/>
                </a:solidFill>
                <a:latin typeface="Tahoma" pitchFamily="34" charset="0"/>
              </a:rPr>
              <a:t>9.3.3 </a:t>
            </a:r>
            <a:r>
              <a:rPr lang="zh-CN" altLang="en-US" sz="3600" b="1" dirty="0">
                <a:solidFill>
                  <a:srgbClr val="0070C0"/>
                </a:solidFill>
                <a:latin typeface="Tahoma" pitchFamily="34" charset="0"/>
              </a:rPr>
              <a:t>一元线性回归方程的显著性检验</a:t>
            </a:r>
          </a:p>
          <a:p>
            <a:pPr marL="812800" indent="-812800">
              <a:lnSpc>
                <a:spcPct val="110000"/>
              </a:lnSpc>
              <a:spcBef>
                <a:spcPct val="20000"/>
              </a:spcBef>
              <a:buSzPct val="90000"/>
            </a:pPr>
            <a:r>
              <a:rPr lang="en-US" altLang="zh-CN" sz="3600" b="1" dirty="0">
                <a:solidFill>
                  <a:srgbClr val="0070C0"/>
                </a:solidFill>
                <a:latin typeface="Tahoma" pitchFamily="34" charset="0"/>
              </a:rPr>
              <a:t>9.3.4 </a:t>
            </a:r>
            <a:r>
              <a:rPr lang="zh-CN" altLang="en-US" sz="3600" b="1" dirty="0">
                <a:solidFill>
                  <a:srgbClr val="0070C0"/>
                </a:solidFill>
                <a:latin typeface="Tahoma" pitchFamily="34" charset="0"/>
              </a:rPr>
              <a:t>利用一元线性回归方程进行预测</a:t>
            </a:r>
          </a:p>
        </p:txBody>
      </p:sp>
    </p:spTree>
    <p:extLst>
      <p:ext uri="{BB962C8B-B14F-4D97-AF65-F5344CB8AC3E}">
        <p14:creationId xmlns:p14="http://schemas.microsoft.com/office/powerpoint/2010/main" val="4195204164"/>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stretch>
            <a:fillRect/>
          </a:stretch>
        </p:blipFill>
        <p:spPr>
          <a:xfrm>
            <a:off x="1515730" y="535488"/>
            <a:ext cx="8981151" cy="5059409"/>
          </a:xfrm>
          <a:prstGeom prst="rect">
            <a:avLst/>
          </a:prstGeom>
        </p:spPr>
      </p:pic>
      <p:sp>
        <p:nvSpPr>
          <p:cNvPr id="5" name="灯片编号占位符 4"/>
          <p:cNvSpPr>
            <a:spLocks noGrp="1"/>
          </p:cNvSpPr>
          <p:nvPr>
            <p:ph type="sldNum" sz="quarter" idx="10"/>
          </p:nvPr>
        </p:nvSpPr>
        <p:spPr/>
        <p:txBody>
          <a:bodyPr/>
          <a:lstStyle/>
          <a:p>
            <a:pPr>
              <a:defRPr/>
            </a:pPr>
            <a:r>
              <a:rPr lang="en-US" altLang="zh-CN"/>
              <a:t>9--</a:t>
            </a:r>
            <a:fld id="{6050C46A-8244-4810-B9D7-66AB581ECD28}" type="slidenum">
              <a:rPr lang="en-US" altLang="zh-CN" smtClean="0"/>
              <a:pPr>
                <a:defRPr/>
              </a:pPr>
              <a:t>35</a:t>
            </a:fld>
            <a:endParaRPr lang="en-US" altLang="zh-CN"/>
          </a:p>
        </p:txBody>
      </p:sp>
      <p:sp>
        <p:nvSpPr>
          <p:cNvPr id="2" name="标题 1"/>
          <p:cNvSpPr>
            <a:spLocks noGrp="1"/>
          </p:cNvSpPr>
          <p:nvPr>
            <p:ph type="title" idx="4294967295"/>
          </p:nvPr>
        </p:nvSpPr>
        <p:spPr>
          <a:xfrm>
            <a:off x="4419600" y="0"/>
            <a:ext cx="7772400" cy="836613"/>
          </a:xfrm>
        </p:spPr>
        <p:txBody>
          <a:bodyPr/>
          <a:lstStyle/>
          <a:p>
            <a:r>
              <a:rPr lang="zh-CN" altLang="en-US" dirty="0"/>
              <a:t>父子身高的关系</a:t>
            </a:r>
          </a:p>
        </p:txBody>
      </p:sp>
      <p:sp>
        <p:nvSpPr>
          <p:cNvPr id="3" name="内容占位符 2"/>
          <p:cNvSpPr>
            <a:spLocks noGrp="1"/>
          </p:cNvSpPr>
          <p:nvPr>
            <p:ph idx="4294967295"/>
          </p:nvPr>
        </p:nvSpPr>
        <p:spPr>
          <a:xfrm>
            <a:off x="1308100" y="5505450"/>
            <a:ext cx="9188781" cy="947738"/>
          </a:xfrm>
        </p:spPr>
        <p:txBody>
          <a:bodyPr>
            <a:normAutofit/>
          </a:bodyPr>
          <a:lstStyle/>
          <a:p>
            <a:pPr marL="0" indent="0">
              <a:buNone/>
            </a:pPr>
            <a:r>
              <a:rPr lang="zh-CN" altLang="en-US" sz="2400" dirty="0">
                <a:solidFill>
                  <a:srgbClr val="333333"/>
                </a:solidFill>
              </a:rPr>
              <a:t>高尔顿根据</a:t>
            </a:r>
            <a:r>
              <a:rPr lang="en-US" altLang="zh-CN" sz="2400" dirty="0">
                <a:solidFill>
                  <a:srgbClr val="333333"/>
                </a:solidFill>
              </a:rPr>
              <a:t>1078个父亲及其成年儿子的身高值 (cm)</a:t>
            </a:r>
            <a:r>
              <a:rPr lang="en-US" altLang="zh-CN" sz="2400" dirty="0">
                <a:solidFill>
                  <a:srgbClr val="990099"/>
                </a:solidFill>
                <a:latin typeface="华文楷体" panose="02010600040101010101" pitchFamily="2" charset="-122"/>
                <a:ea typeface="华文楷体" panose="02010600040101010101" pitchFamily="2" charset="-122"/>
              </a:rPr>
              <a:t> </a:t>
            </a:r>
            <a:r>
              <a:rPr lang="en-US" altLang="zh-CN" sz="2400" dirty="0">
                <a:solidFill>
                  <a:srgbClr val="333333"/>
                </a:solidFill>
              </a:rPr>
              <a:t>，</a:t>
            </a:r>
            <a:r>
              <a:rPr lang="en-US" altLang="zh-CN" sz="2400" dirty="0" err="1">
                <a:solidFill>
                  <a:srgbClr val="333333"/>
                </a:solidFill>
              </a:rPr>
              <a:t>研究发现</a:t>
            </a:r>
            <a:r>
              <a:rPr lang="zh-CN" altLang="en-US" sz="2400" dirty="0">
                <a:solidFill>
                  <a:srgbClr val="333333"/>
                </a:solidFill>
              </a:rPr>
              <a:t>：</a:t>
            </a:r>
            <a:r>
              <a:rPr lang="en-US" altLang="zh-CN" sz="2600" b="1" dirty="0" err="1">
                <a:solidFill>
                  <a:srgbClr val="990099"/>
                </a:solidFill>
                <a:latin typeface="华文楷体" panose="02010600040101010101" pitchFamily="2" charset="-122"/>
                <a:ea typeface="华文楷体" panose="02010600040101010101" pitchFamily="2" charset="-122"/>
              </a:rPr>
              <a:t>成年儿子身高</a:t>
            </a:r>
            <a:r>
              <a:rPr lang="en-US" altLang="zh-CN" sz="2600" b="1" dirty="0">
                <a:solidFill>
                  <a:srgbClr val="990099"/>
                </a:solidFill>
                <a:latin typeface="华文楷体" panose="02010600040101010101" pitchFamily="2" charset="-122"/>
                <a:ea typeface="华文楷体" panose="02010600040101010101" pitchFamily="2" charset="-122"/>
              </a:rPr>
              <a:t>=85.67+0.516 ×父亲身高</a:t>
            </a:r>
            <a:r>
              <a:rPr lang="en-US" altLang="zh-CN" sz="2600" b="1" dirty="0">
                <a:solidFill>
                  <a:srgbClr val="990099"/>
                </a:solidFill>
              </a:rPr>
              <a:t>±9.51</a:t>
            </a:r>
            <a:endParaRPr lang="en-US" altLang="zh-CN" sz="2600" b="1" dirty="0">
              <a:solidFill>
                <a:srgbClr val="990099"/>
              </a:solidFill>
              <a:latin typeface="华文楷体" panose="02010600040101010101" pitchFamily="2" charset="-122"/>
              <a:ea typeface="华文楷体" panose="02010600040101010101" pitchFamily="2" charset="-122"/>
            </a:endParaRPr>
          </a:p>
          <a:p>
            <a:endParaRPr lang="zh-CN" altLang="en-US" sz="2400" dirty="0"/>
          </a:p>
        </p:txBody>
      </p:sp>
      <p:sp>
        <p:nvSpPr>
          <p:cNvPr id="7" name="TextBox 6"/>
          <p:cNvSpPr txBox="1"/>
          <p:nvPr/>
        </p:nvSpPr>
        <p:spPr>
          <a:xfrm>
            <a:off x="10153847" y="4962561"/>
            <a:ext cx="792088" cy="369332"/>
          </a:xfrm>
          <a:prstGeom prst="rect">
            <a:avLst/>
          </a:prstGeom>
          <a:noFill/>
        </p:spPr>
        <p:txBody>
          <a:bodyPr wrap="square" rtlCol="0">
            <a:spAutoFit/>
          </a:bodyPr>
          <a:lstStyle/>
          <a:p>
            <a:r>
              <a:rPr lang="en-US" altLang="zh-CN" i="1" dirty="0">
                <a:solidFill>
                  <a:srgbClr val="0070C0"/>
                </a:solidFill>
                <a:latin typeface="Times New Roman" pitchFamily="18" charset="0"/>
                <a:cs typeface="Times New Roman" pitchFamily="18" charset="0"/>
              </a:rPr>
              <a:t>In</a:t>
            </a:r>
            <a:r>
              <a:rPr lang="zh-CN" altLang="en-US" dirty="0"/>
              <a:t>？</a:t>
            </a:r>
          </a:p>
        </p:txBody>
      </p:sp>
    </p:spTree>
    <p:extLst>
      <p:ext uri="{BB962C8B-B14F-4D97-AF65-F5344CB8AC3E}">
        <p14:creationId xmlns:p14="http://schemas.microsoft.com/office/powerpoint/2010/main" val="212738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日期占位符 4"/>
          <p:cNvSpPr>
            <a:spLocks noGrp="1"/>
          </p:cNvSpPr>
          <p:nvPr>
            <p:ph type="dt" sz="half" idx="10"/>
          </p:nvPr>
        </p:nvSpPr>
        <p:spPr>
          <a:noFill/>
        </p:spPr>
        <p:txBody>
          <a:bodyPr/>
          <a:lstStyle/>
          <a:p>
            <a:endParaRPr lang="en-US" altLang="zh-CN"/>
          </a:p>
        </p:txBody>
      </p:sp>
      <p:sp>
        <p:nvSpPr>
          <p:cNvPr id="87043" name="Rectangle 2"/>
          <p:cNvSpPr>
            <a:spLocks noGrp="1" noChangeArrowheads="1"/>
          </p:cNvSpPr>
          <p:nvPr>
            <p:ph type="title"/>
          </p:nvPr>
        </p:nvSpPr>
        <p:spPr>
          <a:xfrm>
            <a:off x="1841500" y="204325"/>
            <a:ext cx="7924800" cy="662782"/>
          </a:xfrm>
        </p:spPr>
        <p:txBody>
          <a:bodyPr/>
          <a:lstStyle/>
          <a:p>
            <a:pPr eaLnBrk="1" hangingPunct="1"/>
            <a:r>
              <a:rPr lang="en-US" altLang="zh-CN" sz="4000" dirty="0">
                <a:latin typeface="Arial" charset="0"/>
              </a:rPr>
              <a:t>“</a:t>
            </a:r>
            <a:r>
              <a:rPr lang="zh-CN" altLang="en-US" sz="4000" dirty="0"/>
              <a:t>回归</a:t>
            </a:r>
            <a:r>
              <a:rPr lang="zh-CN" altLang="en-US" sz="4000" dirty="0">
                <a:latin typeface="Arial" charset="0"/>
              </a:rPr>
              <a:t>”</a:t>
            </a:r>
            <a:r>
              <a:rPr lang="zh-CN" altLang="en-US" sz="4000" dirty="0"/>
              <a:t>的古典含义与现代含义</a:t>
            </a:r>
          </a:p>
        </p:txBody>
      </p:sp>
      <p:sp>
        <p:nvSpPr>
          <p:cNvPr id="249859" name="Rectangle 3"/>
          <p:cNvSpPr>
            <a:spLocks noGrp="1" noChangeArrowheads="1"/>
          </p:cNvSpPr>
          <p:nvPr>
            <p:ph idx="1"/>
          </p:nvPr>
        </p:nvSpPr>
        <p:spPr>
          <a:xfrm>
            <a:off x="1092199" y="1104907"/>
            <a:ext cx="8978901" cy="5333761"/>
          </a:xfrm>
        </p:spPr>
        <p:txBody>
          <a:bodyPr>
            <a:normAutofit/>
          </a:bodyPr>
          <a:lstStyle/>
          <a:p>
            <a:pPr eaLnBrk="1" hangingPunct="1">
              <a:lnSpc>
                <a:spcPct val="110000"/>
              </a:lnSpc>
              <a:spcBef>
                <a:spcPct val="25000"/>
              </a:spcBef>
            </a:pPr>
            <a:r>
              <a:rPr lang="en-US" altLang="zh-CN" sz="2800" dirty="0">
                <a:solidFill>
                  <a:srgbClr val="CC0099"/>
                </a:solidFill>
                <a:latin typeface="Arial" charset="0"/>
              </a:rPr>
              <a:t>“</a:t>
            </a:r>
            <a:r>
              <a:rPr lang="zh-CN" altLang="en-US" sz="2800" dirty="0">
                <a:solidFill>
                  <a:srgbClr val="CC0099"/>
                </a:solidFill>
              </a:rPr>
              <a:t>回归</a:t>
            </a:r>
            <a:r>
              <a:rPr lang="zh-CN" altLang="en-US" sz="2800" dirty="0">
                <a:solidFill>
                  <a:srgbClr val="CC0099"/>
                </a:solidFill>
                <a:latin typeface="Arial" charset="0"/>
              </a:rPr>
              <a:t>”</a:t>
            </a:r>
            <a:r>
              <a:rPr lang="zh-CN" altLang="en-US" sz="2800" dirty="0">
                <a:solidFill>
                  <a:srgbClr val="CC0099"/>
                </a:solidFill>
              </a:rPr>
              <a:t>的古典意义</a:t>
            </a:r>
            <a:r>
              <a:rPr lang="en-US" altLang="zh-CN" sz="2800" dirty="0">
                <a:latin typeface="Arial" charset="0"/>
              </a:rPr>
              <a:t>——</a:t>
            </a:r>
            <a:endParaRPr lang="en-US" altLang="zh-CN" sz="2800" dirty="0"/>
          </a:p>
          <a:p>
            <a:pPr marL="355600" lvl="1" indent="266700" eaLnBrk="1" hangingPunct="1">
              <a:lnSpc>
                <a:spcPct val="110000"/>
              </a:lnSpc>
              <a:spcBef>
                <a:spcPct val="25000"/>
              </a:spcBef>
            </a:pPr>
            <a:r>
              <a:rPr lang="zh-CN" altLang="en-US" sz="2400" dirty="0"/>
              <a:t>相对于一定身高的父母，子女的平均身高有朝向人类平均身高移动或回归的趋势。</a:t>
            </a:r>
          </a:p>
          <a:p>
            <a:pPr marL="355600" lvl="1" indent="266700">
              <a:lnSpc>
                <a:spcPct val="110000"/>
              </a:lnSpc>
              <a:spcBef>
                <a:spcPct val="25000"/>
              </a:spcBef>
            </a:pPr>
            <a:r>
              <a:rPr lang="zh-CN" altLang="en-US" sz="2400" dirty="0"/>
              <a:t>英国生物学家高尔顿在遗传学研究中提出</a:t>
            </a:r>
          </a:p>
          <a:p>
            <a:pPr eaLnBrk="1" hangingPunct="1">
              <a:lnSpc>
                <a:spcPct val="110000"/>
              </a:lnSpc>
              <a:spcBef>
                <a:spcPct val="25000"/>
              </a:spcBef>
            </a:pPr>
            <a:r>
              <a:rPr lang="zh-CN" altLang="en-US" sz="2800" dirty="0">
                <a:solidFill>
                  <a:srgbClr val="CC0099"/>
                </a:solidFill>
              </a:rPr>
              <a:t>现代意义的</a:t>
            </a:r>
            <a:r>
              <a:rPr lang="zh-CN" altLang="en-US" dirty="0">
                <a:solidFill>
                  <a:srgbClr val="CC0099"/>
                </a:solidFill>
              </a:rPr>
              <a:t>回归分析</a:t>
            </a:r>
            <a:r>
              <a:rPr kumimoji="1" lang="en-US" altLang="zh-CN" sz="2800" dirty="0"/>
              <a:t>(Regession Analysis)</a:t>
            </a:r>
            <a:endParaRPr lang="zh-CN" altLang="en-US" sz="2800" dirty="0"/>
          </a:p>
          <a:p>
            <a:pPr marL="355600" lvl="1" indent="266700">
              <a:lnSpc>
                <a:spcPct val="110000"/>
              </a:lnSpc>
              <a:spcBef>
                <a:spcPct val="25000"/>
              </a:spcBef>
            </a:pPr>
            <a:r>
              <a:rPr lang="zh-CN" altLang="en-US" sz="2400" dirty="0"/>
              <a:t>一个变量</a:t>
            </a:r>
            <a:r>
              <a:rPr lang="en-US" altLang="zh-CN" sz="2400" dirty="0"/>
              <a:t>(</a:t>
            </a:r>
            <a:r>
              <a:rPr lang="zh-CN" altLang="en-US" sz="2400" dirty="0"/>
              <a:t>因变量</a:t>
            </a:r>
            <a:r>
              <a:rPr lang="en-US" altLang="zh-CN" sz="2400" dirty="0"/>
              <a:t>)</a:t>
            </a:r>
            <a:r>
              <a:rPr lang="zh-CN" altLang="en-US" sz="2400" dirty="0"/>
              <a:t>对另外一个或多个变量</a:t>
            </a:r>
            <a:r>
              <a:rPr lang="en-US" altLang="zh-CN" sz="2400" dirty="0"/>
              <a:t>(</a:t>
            </a:r>
            <a:r>
              <a:rPr lang="zh-CN" altLang="en-US" sz="2400" dirty="0"/>
              <a:t>自变量</a:t>
            </a:r>
            <a:r>
              <a:rPr lang="en-US" altLang="zh-CN" sz="2400" dirty="0"/>
              <a:t>)</a:t>
            </a:r>
            <a:r>
              <a:rPr lang="zh-CN" altLang="en-US" sz="2400" dirty="0"/>
              <a:t>依存关系的研究，用适当的数学模型去近似地表达或估计变量之间的平均变化关系，</a:t>
            </a:r>
          </a:p>
          <a:p>
            <a:pPr marL="355600" lvl="1" indent="266700">
              <a:lnSpc>
                <a:spcPct val="110000"/>
              </a:lnSpc>
              <a:spcBef>
                <a:spcPct val="25000"/>
              </a:spcBef>
            </a:pPr>
            <a:r>
              <a:rPr lang="zh-CN" altLang="en-US" sz="2400" dirty="0"/>
              <a:t>其目的是要根据已知的或固定的自变量的数值，去估计因变量的总体平均值。</a:t>
            </a:r>
          </a:p>
        </p:txBody>
      </p:sp>
      <p:sp>
        <p:nvSpPr>
          <p:cNvPr id="87042" name="灯片编号占位符 5"/>
          <p:cNvSpPr>
            <a:spLocks noGrp="1"/>
          </p:cNvSpPr>
          <p:nvPr>
            <p:ph type="sldNum" sz="quarter" idx="4"/>
          </p:nvPr>
        </p:nvSpPr>
        <p:spPr>
          <a:noFill/>
        </p:spPr>
        <p:txBody>
          <a:bodyPr/>
          <a:lstStyle/>
          <a:p>
            <a:r>
              <a:rPr lang="en-US" altLang="zh-CN"/>
              <a:t>9--</a:t>
            </a:r>
            <a:fld id="{BB323944-F71C-490F-A2C8-585EBDEB82AB}" type="slidenum">
              <a:rPr lang="en-US" altLang="zh-CN" smtClean="0"/>
              <a:pPr/>
              <a:t>36</a:t>
            </a:fld>
            <a:endParaRPr lang="en-US" altLang="zh-CN"/>
          </a:p>
        </p:txBody>
      </p:sp>
    </p:spTree>
    <p:extLst>
      <p:ext uri="{BB962C8B-B14F-4D97-AF65-F5344CB8AC3E}">
        <p14:creationId xmlns:p14="http://schemas.microsoft.com/office/powerpoint/2010/main" val="424601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49859">
                                            <p:txEl>
                                              <p:pRg st="1" end="1"/>
                                            </p:txEl>
                                          </p:spTgt>
                                        </p:tgtEl>
                                        <p:attrNameLst>
                                          <p:attrName>style.visibility</p:attrName>
                                        </p:attrNameLst>
                                      </p:cBhvr>
                                      <p:to>
                                        <p:strVal val="visible"/>
                                      </p:to>
                                    </p:set>
                                    <p:animEffect transition="in" filter="blinds(horizontal)">
                                      <p:cBhvr>
                                        <p:cTn id="7" dur="500"/>
                                        <p:tgtEl>
                                          <p:spTgt spid="249859">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9859">
                                            <p:txEl>
                                              <p:pRg st="2" end="2"/>
                                            </p:txEl>
                                          </p:spTgt>
                                        </p:tgtEl>
                                        <p:attrNameLst>
                                          <p:attrName>style.visibility</p:attrName>
                                        </p:attrNameLst>
                                      </p:cBhvr>
                                      <p:to>
                                        <p:strVal val="visible"/>
                                      </p:to>
                                    </p:set>
                                    <p:animEffect transition="in" filter="blinds(horizontal)">
                                      <p:cBhvr>
                                        <p:cTn id="10" dur="500"/>
                                        <p:tgtEl>
                                          <p:spTgt spid="2498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49859">
                                            <p:txEl>
                                              <p:pRg st="3" end="3"/>
                                            </p:txEl>
                                          </p:spTgt>
                                        </p:tgtEl>
                                        <p:attrNameLst>
                                          <p:attrName>style.visibility</p:attrName>
                                        </p:attrNameLst>
                                      </p:cBhvr>
                                      <p:to>
                                        <p:strVal val="visible"/>
                                      </p:to>
                                    </p:set>
                                    <p:animEffect transition="in" filter="blinds(horizontal)">
                                      <p:cBhvr>
                                        <p:cTn id="15" dur="500"/>
                                        <p:tgtEl>
                                          <p:spTgt spid="249859">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9859">
                                            <p:txEl>
                                              <p:pRg st="4" end="4"/>
                                            </p:txEl>
                                          </p:spTgt>
                                        </p:tgtEl>
                                        <p:attrNameLst>
                                          <p:attrName>style.visibility</p:attrName>
                                        </p:attrNameLst>
                                      </p:cBhvr>
                                      <p:to>
                                        <p:strVal val="visible"/>
                                      </p:to>
                                    </p:set>
                                    <p:animEffect transition="in" filter="blinds(horizontal)">
                                      <p:cBhvr>
                                        <p:cTn id="18" dur="500"/>
                                        <p:tgtEl>
                                          <p:spTgt spid="249859">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49859">
                                            <p:txEl>
                                              <p:pRg st="5" end="5"/>
                                            </p:txEl>
                                          </p:spTgt>
                                        </p:tgtEl>
                                        <p:attrNameLst>
                                          <p:attrName>style.visibility</p:attrName>
                                        </p:attrNameLst>
                                      </p:cBhvr>
                                      <p:to>
                                        <p:strVal val="visible"/>
                                      </p:to>
                                    </p:set>
                                    <p:animEffect transition="in" filter="blinds(horizontal)">
                                      <p:cBhvr>
                                        <p:cTn id="21" dur="500"/>
                                        <p:tgtEl>
                                          <p:spTgt spid="2498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9" name="日期占位符 4"/>
          <p:cNvSpPr>
            <a:spLocks noGrp="1"/>
          </p:cNvSpPr>
          <p:nvPr>
            <p:ph type="dt" sz="half" idx="10"/>
          </p:nvPr>
        </p:nvSpPr>
        <p:spPr>
          <a:noFill/>
        </p:spPr>
        <p:txBody>
          <a:bodyPr/>
          <a:lstStyle/>
          <a:p>
            <a:endParaRPr lang="en-US" altLang="zh-CN"/>
          </a:p>
        </p:txBody>
      </p:sp>
      <p:sp>
        <p:nvSpPr>
          <p:cNvPr id="88067" name="Rectangle 2"/>
          <p:cNvSpPr>
            <a:spLocks noGrp="1" noChangeArrowheads="1"/>
          </p:cNvSpPr>
          <p:nvPr>
            <p:ph type="title"/>
          </p:nvPr>
        </p:nvSpPr>
        <p:spPr>
          <a:xfrm>
            <a:off x="1244600" y="144466"/>
            <a:ext cx="6616700" cy="662782"/>
          </a:xfrm>
          <a:noFill/>
        </p:spPr>
        <p:txBody>
          <a:bodyPr vert="horz" lIns="90488" tIns="44450" rIns="90488" bIns="44450" rtlCol="0" anchor="ctr" anchorCtr="1">
            <a:normAutofit/>
          </a:bodyPr>
          <a:lstStyle/>
          <a:p>
            <a:pPr eaLnBrk="1" hangingPunct="1"/>
            <a:r>
              <a:rPr lang="zh-CN" altLang="en-US" dirty="0"/>
              <a:t>回归分析的主要内容和程序</a:t>
            </a:r>
            <a:endParaRPr lang="zh-CN" altLang="en-US" sz="4000" dirty="0">
              <a:solidFill>
                <a:schemeClr val="hlink"/>
              </a:solidFill>
            </a:endParaRPr>
          </a:p>
        </p:txBody>
      </p:sp>
      <p:sp>
        <p:nvSpPr>
          <p:cNvPr id="41987" name="Rectangle 3"/>
          <p:cNvSpPr>
            <a:spLocks noGrp="1" noChangeArrowheads="1"/>
          </p:cNvSpPr>
          <p:nvPr>
            <p:ph idx="1"/>
          </p:nvPr>
        </p:nvSpPr>
        <p:spPr>
          <a:xfrm>
            <a:off x="1727200" y="1016000"/>
            <a:ext cx="8064500" cy="4622561"/>
          </a:xfrm>
          <a:noFill/>
        </p:spPr>
        <p:txBody>
          <a:bodyPr vert="horz" lIns="90488" tIns="44450" rIns="90488" bIns="44450" rtlCol="0">
            <a:normAutofit/>
          </a:bodyPr>
          <a:lstStyle/>
          <a:p>
            <a:pPr marL="88900" indent="266700" algn="just">
              <a:lnSpc>
                <a:spcPct val="120000"/>
              </a:lnSpc>
              <a:spcBef>
                <a:spcPts val="1200"/>
              </a:spcBef>
              <a:spcAft>
                <a:spcPts val="0"/>
              </a:spcAft>
              <a:buFontTx/>
              <a:buAutoNum type="arabicPeriod"/>
            </a:pPr>
            <a:r>
              <a:rPr lang="zh-CN" altLang="en-US" sz="2800" dirty="0">
                <a:solidFill>
                  <a:schemeClr val="tx2"/>
                </a:solidFill>
                <a:latin typeface="Times New Roman" pitchFamily="18" charset="0"/>
              </a:rPr>
              <a:t>确定变量间相关关系的数学表达式</a:t>
            </a:r>
            <a:r>
              <a:rPr lang="en-US" altLang="zh-CN" sz="2800" dirty="0">
                <a:solidFill>
                  <a:schemeClr val="tx2"/>
                </a:solidFill>
                <a:latin typeface="Arial" charset="0"/>
              </a:rPr>
              <a:t>——</a:t>
            </a:r>
            <a:r>
              <a:rPr lang="zh-CN" altLang="en-US" sz="2800" dirty="0">
                <a:solidFill>
                  <a:srgbClr val="FF00FF"/>
                </a:solidFill>
                <a:latin typeface="Times New Roman" pitchFamily="18" charset="0"/>
              </a:rPr>
              <a:t>建立总体回归模型</a:t>
            </a:r>
            <a:r>
              <a:rPr lang="zh-CN" altLang="en-US" sz="2800" dirty="0">
                <a:latin typeface="Times New Roman" pitchFamily="18" charset="0"/>
              </a:rPr>
              <a:t>；</a:t>
            </a:r>
          </a:p>
          <a:p>
            <a:pPr marL="88900" indent="266700" algn="just">
              <a:lnSpc>
                <a:spcPct val="120000"/>
              </a:lnSpc>
              <a:spcBef>
                <a:spcPts val="1200"/>
              </a:spcBef>
              <a:spcAft>
                <a:spcPts val="0"/>
              </a:spcAft>
              <a:buFontTx/>
              <a:buAutoNum type="arabicPeriod"/>
            </a:pPr>
            <a:r>
              <a:rPr lang="zh-CN" altLang="en-US" sz="2800" dirty="0">
                <a:solidFill>
                  <a:schemeClr val="tx2"/>
                </a:solidFill>
                <a:latin typeface="Times New Roman" pitchFamily="18" charset="0"/>
              </a:rPr>
              <a:t>从一组样本数据出发，</a:t>
            </a:r>
            <a:r>
              <a:rPr lang="zh-CN" altLang="en-US" sz="2800" dirty="0">
                <a:solidFill>
                  <a:srgbClr val="FF00FF"/>
                </a:solidFill>
                <a:latin typeface="Times New Roman" pitchFamily="18" charset="0"/>
              </a:rPr>
              <a:t>估计总体回归模型的参数；</a:t>
            </a:r>
            <a:endParaRPr lang="zh-CN" altLang="en-US" sz="2800" dirty="0">
              <a:latin typeface="Times New Roman" pitchFamily="18" charset="0"/>
            </a:endParaRPr>
          </a:p>
          <a:p>
            <a:pPr marL="88900" indent="266700" algn="just">
              <a:lnSpc>
                <a:spcPct val="120000"/>
              </a:lnSpc>
              <a:spcBef>
                <a:spcPts val="1200"/>
              </a:spcBef>
              <a:spcAft>
                <a:spcPts val="0"/>
              </a:spcAft>
              <a:buFontTx/>
              <a:buAutoNum type="arabicPeriod"/>
            </a:pPr>
            <a:r>
              <a:rPr lang="zh-CN" altLang="en-US" sz="2800" dirty="0">
                <a:solidFill>
                  <a:schemeClr val="tx2"/>
                </a:solidFill>
                <a:latin typeface="Times New Roman" pitchFamily="18" charset="0"/>
              </a:rPr>
              <a:t>对这些关系式的可信程度</a:t>
            </a:r>
            <a:r>
              <a:rPr lang="zh-CN" altLang="en-US" sz="2800" dirty="0">
                <a:solidFill>
                  <a:srgbClr val="FF00FF"/>
                </a:solidFill>
                <a:latin typeface="Times New Roman" pitchFamily="18" charset="0"/>
              </a:rPr>
              <a:t>进行各种统计检验；</a:t>
            </a:r>
          </a:p>
          <a:p>
            <a:pPr marL="355600" lvl="1" indent="0" algn="just">
              <a:lnSpc>
                <a:spcPct val="120000"/>
              </a:lnSpc>
              <a:spcBef>
                <a:spcPts val="1200"/>
              </a:spcBef>
              <a:spcAft>
                <a:spcPts val="0"/>
              </a:spcAft>
              <a:buNone/>
            </a:pPr>
            <a:r>
              <a:rPr lang="zh-CN" altLang="en-US" sz="2400" dirty="0">
                <a:solidFill>
                  <a:schemeClr val="tx2"/>
                </a:solidFill>
                <a:latin typeface="Times New Roman" pitchFamily="18" charset="0"/>
              </a:rPr>
              <a:t>多元回归分析中找出哪些变量的影响显著、哪些不显著</a:t>
            </a:r>
          </a:p>
          <a:p>
            <a:pPr marL="88900" indent="266700" algn="just">
              <a:lnSpc>
                <a:spcPct val="120000"/>
              </a:lnSpc>
              <a:spcBef>
                <a:spcPts val="1200"/>
              </a:spcBef>
              <a:spcAft>
                <a:spcPts val="0"/>
              </a:spcAft>
              <a:buFontTx/>
              <a:buAutoNum type="arabicPeriod"/>
            </a:pPr>
            <a:r>
              <a:rPr lang="zh-CN" altLang="en-US" sz="2800" dirty="0">
                <a:solidFill>
                  <a:schemeClr val="tx2"/>
                </a:solidFill>
                <a:latin typeface="Times New Roman" pitchFamily="18" charset="0"/>
              </a:rPr>
              <a:t>利用所求的回归模型进行</a:t>
            </a:r>
            <a:r>
              <a:rPr lang="zh-CN" altLang="en-US" sz="2800" dirty="0">
                <a:solidFill>
                  <a:srgbClr val="FF00FF"/>
                </a:solidFill>
                <a:latin typeface="Times New Roman" pitchFamily="18" charset="0"/>
              </a:rPr>
              <a:t>分析</a:t>
            </a:r>
            <a:r>
              <a:rPr lang="en-US" altLang="zh-CN" sz="2800" dirty="0">
                <a:solidFill>
                  <a:srgbClr val="FF00FF"/>
                </a:solidFill>
                <a:latin typeface="Times New Roman" pitchFamily="18" charset="0"/>
              </a:rPr>
              <a:t>,</a:t>
            </a:r>
            <a:r>
              <a:rPr lang="zh-CN" altLang="en-US" sz="2800" dirty="0">
                <a:solidFill>
                  <a:srgbClr val="FF00FF"/>
                </a:solidFill>
                <a:latin typeface="Times New Roman" pitchFamily="18" charset="0"/>
              </a:rPr>
              <a:t>预测或控制。</a:t>
            </a:r>
          </a:p>
          <a:p>
            <a:pPr marL="355600" lvl="1" indent="0" algn="just">
              <a:lnSpc>
                <a:spcPct val="120000"/>
              </a:lnSpc>
              <a:spcBef>
                <a:spcPts val="1200"/>
              </a:spcBef>
              <a:spcAft>
                <a:spcPts val="0"/>
              </a:spcAft>
              <a:buNone/>
            </a:pPr>
            <a:r>
              <a:rPr lang="zh-CN" altLang="en-US" sz="2400" dirty="0">
                <a:solidFill>
                  <a:schemeClr val="tx2"/>
                </a:solidFill>
                <a:latin typeface="Times New Roman" pitchFamily="18" charset="0"/>
              </a:rPr>
              <a:t>并给出这种预测或控制的精确程度</a:t>
            </a:r>
          </a:p>
        </p:txBody>
      </p:sp>
      <p:sp>
        <p:nvSpPr>
          <p:cNvPr id="88066" name="灯片编号占位符 5"/>
          <p:cNvSpPr>
            <a:spLocks noGrp="1"/>
          </p:cNvSpPr>
          <p:nvPr>
            <p:ph type="sldNum" sz="quarter" idx="4"/>
          </p:nvPr>
        </p:nvSpPr>
        <p:spPr>
          <a:noFill/>
        </p:spPr>
        <p:txBody>
          <a:bodyPr/>
          <a:lstStyle/>
          <a:p>
            <a:r>
              <a:rPr lang="en-US" altLang="zh-CN" dirty="0"/>
              <a:t>9--</a:t>
            </a:r>
            <a:fld id="{8913BB18-11B3-466E-984C-FED217E1F76B}" type="slidenum">
              <a:rPr lang="en-US" altLang="zh-CN" smtClean="0"/>
              <a:pPr/>
              <a:t>37</a:t>
            </a:fld>
            <a:endParaRPr lang="en-US" altLang="zh-CN" dirty="0"/>
          </a:p>
        </p:txBody>
      </p:sp>
    </p:spTree>
    <p:extLst>
      <p:ext uri="{BB962C8B-B14F-4D97-AF65-F5344CB8AC3E}">
        <p14:creationId xmlns:p14="http://schemas.microsoft.com/office/powerpoint/2010/main" val="165359795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7">
                                            <p:txEl>
                                              <p:pRg st="2" end="2"/>
                                            </p:txEl>
                                          </p:spTgt>
                                        </p:tgtEl>
                                        <p:attrNameLst>
                                          <p:attrName>style.visibility</p:attrName>
                                        </p:attrNameLst>
                                      </p:cBhvr>
                                      <p:to>
                                        <p:strVal val="visible"/>
                                      </p:to>
                                    </p:set>
                                    <p:animEffect transition="in" filter="wipe(left)">
                                      <p:cBhvr>
                                        <p:cTn id="7" dur="500"/>
                                        <p:tgtEl>
                                          <p:spTgt spid="41987">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987">
                                            <p:txEl>
                                              <p:pRg st="3" end="3"/>
                                            </p:txEl>
                                          </p:spTgt>
                                        </p:tgtEl>
                                        <p:attrNameLst>
                                          <p:attrName>style.visibility</p:attrName>
                                        </p:attrNameLst>
                                      </p:cBhvr>
                                      <p:to>
                                        <p:strVal val="visible"/>
                                      </p:to>
                                    </p:set>
                                    <p:animEffect transition="in" filter="wipe(left)">
                                      <p:cBhvr>
                                        <p:cTn id="10" dur="500"/>
                                        <p:tgtEl>
                                          <p:spTgt spid="4198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animEffect transition="in" filter="wipe(left)">
                                      <p:cBhvr>
                                        <p:cTn id="15" dur="500"/>
                                        <p:tgtEl>
                                          <p:spTgt spid="41987">
                                            <p:txEl>
                                              <p:pRg st="4" end="4"/>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1987">
                                            <p:txEl>
                                              <p:pRg st="5" end="5"/>
                                            </p:txEl>
                                          </p:spTgt>
                                        </p:tgtEl>
                                        <p:attrNameLst>
                                          <p:attrName>style.visibility</p:attrName>
                                        </p:attrNameLst>
                                      </p:cBhvr>
                                      <p:to>
                                        <p:strVal val="visible"/>
                                      </p:to>
                                    </p:set>
                                    <p:animEffect transition="in" filter="wipe(left)">
                                      <p:cBhvr>
                                        <p:cTn id="18" dur="500"/>
                                        <p:tgtEl>
                                          <p:spTgt spid="419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日期占位符 4"/>
          <p:cNvSpPr>
            <a:spLocks noGrp="1"/>
          </p:cNvSpPr>
          <p:nvPr>
            <p:ph type="dt" sz="half" idx="10"/>
          </p:nvPr>
        </p:nvSpPr>
        <p:spPr>
          <a:noFill/>
        </p:spPr>
        <p:txBody>
          <a:bodyPr/>
          <a:lstStyle/>
          <a:p>
            <a:endParaRPr lang="en-US" altLang="zh-CN"/>
          </a:p>
        </p:txBody>
      </p:sp>
      <p:sp>
        <p:nvSpPr>
          <p:cNvPr id="89091" name="Rectangle 2"/>
          <p:cNvSpPr>
            <a:spLocks noGrp="1" noChangeArrowheads="1"/>
          </p:cNvSpPr>
          <p:nvPr>
            <p:ph type="title"/>
          </p:nvPr>
        </p:nvSpPr>
        <p:spPr>
          <a:xfrm>
            <a:off x="1143000" y="594518"/>
            <a:ext cx="6223000" cy="662782"/>
          </a:xfrm>
          <a:noFill/>
        </p:spPr>
        <p:txBody>
          <a:bodyPr vert="horz" lIns="90488" tIns="44450" rIns="90488" bIns="44450" rtlCol="0" anchor="ctr" anchorCtr="1">
            <a:normAutofit/>
          </a:bodyPr>
          <a:lstStyle/>
          <a:p>
            <a:pPr eaLnBrk="1" hangingPunct="1"/>
            <a:r>
              <a:rPr lang="zh-CN" altLang="en-US" dirty="0"/>
              <a:t>回归的类型</a:t>
            </a:r>
          </a:p>
        </p:txBody>
      </p:sp>
      <p:sp>
        <p:nvSpPr>
          <p:cNvPr id="89090" name="灯片编号占位符 5"/>
          <p:cNvSpPr>
            <a:spLocks noGrp="1"/>
          </p:cNvSpPr>
          <p:nvPr>
            <p:ph type="sldNum" sz="quarter" idx="4"/>
          </p:nvPr>
        </p:nvSpPr>
        <p:spPr>
          <a:noFill/>
        </p:spPr>
        <p:txBody>
          <a:bodyPr/>
          <a:lstStyle/>
          <a:p>
            <a:r>
              <a:rPr lang="en-US" altLang="zh-CN"/>
              <a:t>9--</a:t>
            </a:r>
            <a:fld id="{145F6104-90A5-416F-B3A6-8AE2607C7E67}" type="slidenum">
              <a:rPr lang="en-US" altLang="zh-CN" smtClean="0"/>
              <a:pPr/>
              <a:t>38</a:t>
            </a:fld>
            <a:endParaRPr lang="en-US" altLang="zh-CN"/>
          </a:p>
        </p:txBody>
      </p:sp>
      <p:sp>
        <p:nvSpPr>
          <p:cNvPr id="44061" name="Rectangle 29"/>
          <p:cNvSpPr>
            <a:spLocks noChangeArrowheads="1"/>
          </p:cNvSpPr>
          <p:nvPr/>
        </p:nvSpPr>
        <p:spPr bwMode="auto">
          <a:xfrm>
            <a:off x="2343150" y="1257300"/>
            <a:ext cx="7450138" cy="4728767"/>
          </a:xfrm>
          <a:prstGeom prst="rect">
            <a:avLst/>
          </a:prstGeom>
          <a:noFill/>
          <a:ln w="9525">
            <a:noFill/>
            <a:miter lim="800000"/>
            <a:headEnd/>
            <a:tailEnd/>
          </a:ln>
        </p:spPr>
        <p:txBody>
          <a:bodyPr/>
          <a:lstStyle/>
          <a:p>
            <a:pPr>
              <a:lnSpc>
                <a:spcPct val="114000"/>
              </a:lnSpc>
              <a:spcBef>
                <a:spcPts val="1200"/>
              </a:spcBef>
              <a:buSzPct val="90000"/>
            </a:pPr>
            <a:r>
              <a:rPr lang="en-US" altLang="zh-CN" sz="3200" b="1" dirty="0">
                <a:solidFill>
                  <a:srgbClr val="0070C0"/>
                </a:solidFill>
                <a:latin typeface="Times New Roman" pitchFamily="18" charset="0"/>
              </a:rPr>
              <a:t>1.  </a:t>
            </a:r>
            <a:r>
              <a:rPr lang="zh-CN" altLang="en-US" sz="3200" b="1" dirty="0">
                <a:solidFill>
                  <a:srgbClr val="0070C0"/>
                </a:solidFill>
                <a:latin typeface="Times New Roman" pitchFamily="18" charset="0"/>
              </a:rPr>
              <a:t>按涉及变量多少分为：</a:t>
            </a:r>
          </a:p>
          <a:p>
            <a:pPr marL="971550" lvl="1" indent="-285750">
              <a:lnSpc>
                <a:spcPct val="114000"/>
              </a:lnSpc>
              <a:spcBef>
                <a:spcPts val="1200"/>
              </a:spcBef>
              <a:buSzPct val="80000"/>
              <a:buBlip>
                <a:blip r:embed="rId3"/>
              </a:buBlip>
            </a:pPr>
            <a:r>
              <a:rPr lang="zh-CN" altLang="en-US" sz="2800" dirty="0">
                <a:solidFill>
                  <a:srgbClr val="000000"/>
                </a:solidFill>
                <a:latin typeface="Times New Roman" pitchFamily="18" charset="0"/>
              </a:rPr>
              <a:t>简单回归（一元回归）</a:t>
            </a:r>
          </a:p>
          <a:p>
            <a:pPr marL="971550" lvl="1" indent="-285750">
              <a:lnSpc>
                <a:spcPct val="114000"/>
              </a:lnSpc>
              <a:spcBef>
                <a:spcPts val="1200"/>
              </a:spcBef>
              <a:buSzPct val="80000"/>
              <a:buBlip>
                <a:blip r:embed="rId3"/>
              </a:buBlip>
            </a:pPr>
            <a:r>
              <a:rPr lang="zh-CN" altLang="en-US" sz="2800" dirty="0">
                <a:solidFill>
                  <a:srgbClr val="000000"/>
                </a:solidFill>
                <a:latin typeface="Times New Roman" pitchFamily="18" charset="0"/>
              </a:rPr>
              <a:t>复回归（多元回归）</a:t>
            </a:r>
          </a:p>
          <a:p>
            <a:pPr>
              <a:lnSpc>
                <a:spcPct val="114000"/>
              </a:lnSpc>
              <a:spcBef>
                <a:spcPts val="1200"/>
              </a:spcBef>
              <a:buSzPct val="90000"/>
            </a:pPr>
            <a:r>
              <a:rPr lang="en-US" altLang="zh-CN" sz="3200" b="1" dirty="0">
                <a:solidFill>
                  <a:srgbClr val="0070C0"/>
                </a:solidFill>
                <a:latin typeface="Times New Roman" pitchFamily="18" charset="0"/>
              </a:rPr>
              <a:t>2.  </a:t>
            </a:r>
            <a:r>
              <a:rPr lang="zh-CN" altLang="en-US" sz="3200" b="1" dirty="0">
                <a:solidFill>
                  <a:srgbClr val="0070C0"/>
                </a:solidFill>
                <a:latin typeface="Times New Roman" pitchFamily="18" charset="0"/>
              </a:rPr>
              <a:t>按回归曲线的形态分为：</a:t>
            </a:r>
          </a:p>
          <a:p>
            <a:pPr marL="971550" lvl="1" indent="-285750">
              <a:lnSpc>
                <a:spcPct val="114000"/>
              </a:lnSpc>
              <a:spcBef>
                <a:spcPts val="1200"/>
              </a:spcBef>
              <a:buSzPct val="80000"/>
              <a:buBlip>
                <a:blip r:embed="rId3"/>
              </a:buBlip>
            </a:pPr>
            <a:r>
              <a:rPr lang="zh-CN" altLang="en-US" sz="2800" dirty="0">
                <a:solidFill>
                  <a:srgbClr val="000000"/>
                </a:solidFill>
                <a:latin typeface="Times New Roman" pitchFamily="18" charset="0"/>
              </a:rPr>
              <a:t>直线回归（线性回归）</a:t>
            </a:r>
          </a:p>
          <a:p>
            <a:pPr marL="971550" lvl="1" indent="-285750">
              <a:lnSpc>
                <a:spcPct val="114000"/>
              </a:lnSpc>
              <a:spcBef>
                <a:spcPts val="1200"/>
              </a:spcBef>
              <a:buSzPct val="80000"/>
              <a:buBlip>
                <a:blip r:embed="rId3"/>
              </a:buBlip>
            </a:pPr>
            <a:r>
              <a:rPr lang="zh-CN" altLang="en-US" sz="2800" dirty="0">
                <a:solidFill>
                  <a:srgbClr val="000000"/>
                </a:solidFill>
                <a:latin typeface="Times New Roman" pitchFamily="18" charset="0"/>
              </a:rPr>
              <a:t>曲线回归（非线性回归）</a:t>
            </a:r>
          </a:p>
          <a:p>
            <a:pPr>
              <a:lnSpc>
                <a:spcPct val="114000"/>
              </a:lnSpc>
              <a:spcBef>
                <a:spcPts val="1200"/>
              </a:spcBef>
              <a:buSzPct val="90000"/>
            </a:pPr>
            <a:r>
              <a:rPr lang="zh-CN" altLang="en-US" sz="3200" b="1" dirty="0">
                <a:solidFill>
                  <a:schemeClr val="tx2"/>
                </a:solidFill>
                <a:latin typeface="Times New Roman" pitchFamily="18" charset="0"/>
              </a:rPr>
              <a:t>主要介绍一元线性回归</a:t>
            </a:r>
            <a:r>
              <a:rPr lang="en-US" altLang="zh-CN" sz="3200" b="1" dirty="0">
                <a:solidFill>
                  <a:schemeClr val="tx2"/>
                </a:solidFill>
              </a:rPr>
              <a:t>——</a:t>
            </a:r>
            <a:r>
              <a:rPr lang="zh-CN" altLang="en-US" sz="3200" b="1" dirty="0">
                <a:solidFill>
                  <a:schemeClr val="tx2"/>
                </a:solidFill>
                <a:latin typeface="Times New Roman" pitchFamily="18" charset="0"/>
              </a:rPr>
              <a:t>直线回归</a:t>
            </a:r>
          </a:p>
        </p:txBody>
      </p:sp>
    </p:spTree>
    <p:extLst>
      <p:ext uri="{BB962C8B-B14F-4D97-AF65-F5344CB8AC3E}">
        <p14:creationId xmlns:p14="http://schemas.microsoft.com/office/powerpoint/2010/main" val="199110322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61">
                                            <p:txEl>
                                              <p:pRg st="3" end="3"/>
                                            </p:txEl>
                                          </p:spTgt>
                                        </p:tgtEl>
                                        <p:attrNameLst>
                                          <p:attrName>style.visibility</p:attrName>
                                        </p:attrNameLst>
                                      </p:cBhvr>
                                      <p:to>
                                        <p:strVal val="visible"/>
                                      </p:to>
                                    </p:set>
                                    <p:anim calcmode="lin" valueType="num">
                                      <p:cBhvr additive="base">
                                        <p:cTn id="7" dur="500" fill="hold"/>
                                        <p:tgtEl>
                                          <p:spTgt spid="44061">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61">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4061">
                                            <p:txEl>
                                              <p:pRg st="4" end="4"/>
                                            </p:txEl>
                                          </p:spTgt>
                                        </p:tgtEl>
                                        <p:attrNameLst>
                                          <p:attrName>style.visibility</p:attrName>
                                        </p:attrNameLst>
                                      </p:cBhvr>
                                      <p:to>
                                        <p:strVal val="visible"/>
                                      </p:to>
                                    </p:set>
                                    <p:anim calcmode="lin" valueType="num">
                                      <p:cBhvr additive="base">
                                        <p:cTn id="11" dur="500" fill="hold"/>
                                        <p:tgtEl>
                                          <p:spTgt spid="44061">
                                            <p:txEl>
                                              <p:pRg st="4" end="4"/>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4061">
                                            <p:txEl>
                                              <p:pRg st="4" end="4"/>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4061">
                                            <p:txEl>
                                              <p:pRg st="5" end="5"/>
                                            </p:txEl>
                                          </p:spTgt>
                                        </p:tgtEl>
                                        <p:attrNameLst>
                                          <p:attrName>style.visibility</p:attrName>
                                        </p:attrNameLst>
                                      </p:cBhvr>
                                      <p:to>
                                        <p:strVal val="visible"/>
                                      </p:to>
                                    </p:set>
                                    <p:anim calcmode="lin" valueType="num">
                                      <p:cBhvr additive="base">
                                        <p:cTn id="15" dur="500" fill="hold"/>
                                        <p:tgtEl>
                                          <p:spTgt spid="44061">
                                            <p:txEl>
                                              <p:pRg st="5" end="5"/>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406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4061">
                                            <p:txEl>
                                              <p:pRg st="6" end="6"/>
                                            </p:txEl>
                                          </p:spTgt>
                                        </p:tgtEl>
                                        <p:attrNameLst>
                                          <p:attrName>style.visibility</p:attrName>
                                        </p:attrNameLst>
                                      </p:cBhvr>
                                      <p:to>
                                        <p:strVal val="visible"/>
                                      </p:to>
                                    </p:set>
                                    <p:anim calcmode="lin" valueType="num">
                                      <p:cBhvr additive="base">
                                        <p:cTn id="21" dur="500" fill="hold"/>
                                        <p:tgtEl>
                                          <p:spTgt spid="44061">
                                            <p:txEl>
                                              <p:pRg st="6" end="6"/>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406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1"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日期占位符 8"/>
          <p:cNvSpPr>
            <a:spLocks noGrp="1"/>
          </p:cNvSpPr>
          <p:nvPr>
            <p:ph type="dt" sz="half" idx="10"/>
          </p:nvPr>
        </p:nvSpPr>
        <p:spPr>
          <a:noFill/>
        </p:spPr>
        <p:txBody>
          <a:bodyPr/>
          <a:lstStyle/>
          <a:p>
            <a:endParaRPr lang="en-US" altLang="zh-CN"/>
          </a:p>
        </p:txBody>
      </p:sp>
      <p:sp>
        <p:nvSpPr>
          <p:cNvPr id="8197" name="Rectangle 2"/>
          <p:cNvSpPr>
            <a:spLocks noGrp="1" noChangeArrowheads="1"/>
          </p:cNvSpPr>
          <p:nvPr>
            <p:ph type="title"/>
          </p:nvPr>
        </p:nvSpPr>
        <p:spPr>
          <a:xfrm>
            <a:off x="1616367" y="592812"/>
            <a:ext cx="10312400" cy="662782"/>
          </a:xfrm>
        </p:spPr>
        <p:txBody>
          <a:bodyPr/>
          <a:lstStyle/>
          <a:p>
            <a:pPr eaLnBrk="1" hangingPunct="1"/>
            <a:r>
              <a:rPr lang="en-US" altLang="zh-CN" dirty="0"/>
              <a:t>9.3.1</a:t>
            </a:r>
            <a:r>
              <a:rPr lang="zh-CN" altLang="en-US" dirty="0"/>
              <a:t>一元线性回归方程的估计 </a:t>
            </a:r>
          </a:p>
        </p:txBody>
      </p:sp>
      <p:sp>
        <p:nvSpPr>
          <p:cNvPr id="250883" name="Rectangle 3"/>
          <p:cNvSpPr>
            <a:spLocks noGrp="1" noChangeArrowheads="1"/>
          </p:cNvSpPr>
          <p:nvPr>
            <p:ph idx="1"/>
          </p:nvPr>
        </p:nvSpPr>
        <p:spPr>
          <a:xfrm>
            <a:off x="1524001" y="1255594"/>
            <a:ext cx="8534399" cy="4878267"/>
          </a:xfrm>
        </p:spPr>
        <p:txBody>
          <a:bodyPr/>
          <a:lstStyle/>
          <a:p>
            <a:pPr eaLnBrk="1" hangingPunct="1">
              <a:lnSpc>
                <a:spcPct val="115000"/>
              </a:lnSpc>
              <a:spcBef>
                <a:spcPct val="25000"/>
              </a:spcBef>
            </a:pPr>
            <a:r>
              <a:rPr lang="zh-CN" altLang="en-US" sz="3000" dirty="0">
                <a:solidFill>
                  <a:srgbClr val="000000"/>
                </a:solidFill>
                <a:latin typeface="Times New Roman" pitchFamily="18" charset="0"/>
              </a:rPr>
              <a:t>当自变量</a:t>
            </a:r>
            <a:r>
              <a:rPr lang="en-US" altLang="zh-CN" sz="3000" i="1" dirty="0">
                <a:solidFill>
                  <a:srgbClr val="000000"/>
                </a:solidFill>
                <a:latin typeface="Times New Roman" pitchFamily="18" charset="0"/>
              </a:rPr>
              <a:t>X </a:t>
            </a:r>
            <a:r>
              <a:rPr lang="zh-CN" altLang="en-US" sz="3000" dirty="0">
                <a:solidFill>
                  <a:srgbClr val="000000"/>
                </a:solidFill>
                <a:latin typeface="Times New Roman" pitchFamily="18" charset="0"/>
              </a:rPr>
              <a:t>取某固定值时，</a:t>
            </a:r>
            <a:r>
              <a:rPr lang="en-US" altLang="zh-CN" sz="3000" i="1" dirty="0">
                <a:solidFill>
                  <a:srgbClr val="000000"/>
                </a:solidFill>
                <a:latin typeface="Times New Roman" pitchFamily="18" charset="0"/>
              </a:rPr>
              <a:t>Y </a:t>
            </a:r>
            <a:r>
              <a:rPr lang="zh-CN" altLang="en-US" sz="3000" dirty="0">
                <a:solidFill>
                  <a:srgbClr val="000000"/>
                </a:solidFill>
                <a:latin typeface="Times New Roman" pitchFamily="18" charset="0"/>
              </a:rPr>
              <a:t>的取值是随机的，会形成一定的分布（即在</a:t>
            </a:r>
            <a:r>
              <a:rPr lang="en-US" altLang="zh-CN" sz="3000" i="1" dirty="0">
                <a:solidFill>
                  <a:srgbClr val="000000"/>
                </a:solidFill>
                <a:latin typeface="Times New Roman" pitchFamily="18" charset="0"/>
              </a:rPr>
              <a:t>X</a:t>
            </a:r>
            <a:r>
              <a:rPr lang="zh-CN" altLang="en-US" sz="3000" dirty="0">
                <a:solidFill>
                  <a:srgbClr val="000000"/>
                </a:solidFill>
                <a:latin typeface="Times New Roman" pitchFamily="18" charset="0"/>
              </a:rPr>
              <a:t>取某固定值时</a:t>
            </a:r>
            <a:r>
              <a:rPr lang="en-US" altLang="zh-CN" sz="3000" i="1" dirty="0">
                <a:solidFill>
                  <a:srgbClr val="FF00FF"/>
                </a:solidFill>
                <a:latin typeface="Times New Roman" pitchFamily="18" charset="0"/>
              </a:rPr>
              <a:t>Y </a:t>
            </a:r>
            <a:r>
              <a:rPr lang="zh-CN" altLang="en-US" sz="3000" dirty="0">
                <a:solidFill>
                  <a:srgbClr val="FF00FF"/>
                </a:solidFill>
                <a:latin typeface="Times New Roman" pitchFamily="18" charset="0"/>
              </a:rPr>
              <a:t>的条件分布）</a:t>
            </a:r>
            <a:r>
              <a:rPr lang="zh-CN" altLang="en-US" sz="3000" dirty="0">
                <a:latin typeface="Times New Roman" pitchFamily="18" charset="0"/>
              </a:rPr>
              <a:t>。</a:t>
            </a:r>
          </a:p>
          <a:p>
            <a:pPr eaLnBrk="1" hangingPunct="1">
              <a:lnSpc>
                <a:spcPct val="115000"/>
              </a:lnSpc>
              <a:spcBef>
                <a:spcPct val="25000"/>
              </a:spcBef>
            </a:pPr>
            <a:r>
              <a:rPr lang="zh-CN" altLang="en-US" sz="3000" dirty="0">
                <a:solidFill>
                  <a:srgbClr val="000000"/>
                </a:solidFill>
                <a:latin typeface="Times New Roman" pitchFamily="18" charset="0"/>
              </a:rPr>
              <a:t>对该条件分布确定其期望或均值，称为</a:t>
            </a:r>
            <a:r>
              <a:rPr lang="en-US" altLang="zh-CN" sz="3000" i="1" dirty="0">
                <a:solidFill>
                  <a:srgbClr val="FF00FF"/>
                </a:solidFill>
                <a:latin typeface="Times New Roman" pitchFamily="18" charset="0"/>
              </a:rPr>
              <a:t>Y</a:t>
            </a:r>
            <a:r>
              <a:rPr lang="zh-CN" altLang="en-US" sz="3000" dirty="0">
                <a:solidFill>
                  <a:srgbClr val="FF00FF"/>
                </a:solidFill>
                <a:latin typeface="Times New Roman" pitchFamily="18" charset="0"/>
              </a:rPr>
              <a:t>的条件期望或条件均值</a:t>
            </a:r>
            <a:endParaRPr lang="zh-CN" altLang="en-US" sz="3000" dirty="0">
              <a:latin typeface="Times New Roman" pitchFamily="18" charset="0"/>
            </a:endParaRPr>
          </a:p>
          <a:p>
            <a:pPr eaLnBrk="1" hangingPunct="1">
              <a:lnSpc>
                <a:spcPct val="115000"/>
              </a:lnSpc>
              <a:spcBef>
                <a:spcPct val="25000"/>
              </a:spcBef>
            </a:pPr>
            <a:r>
              <a:rPr lang="zh-CN" altLang="en-US" sz="3000" dirty="0">
                <a:solidFill>
                  <a:srgbClr val="000000"/>
                </a:solidFill>
              </a:rPr>
              <a:t>坐标图上</a:t>
            </a:r>
            <a:r>
              <a:rPr lang="en-US" altLang="zh-CN" sz="3000" i="1" dirty="0">
                <a:solidFill>
                  <a:srgbClr val="000000"/>
                </a:solidFill>
              </a:rPr>
              <a:t>Y </a:t>
            </a:r>
            <a:r>
              <a:rPr lang="zh-CN" altLang="en-US" sz="3000" dirty="0">
                <a:solidFill>
                  <a:srgbClr val="000000"/>
                </a:solidFill>
              </a:rPr>
              <a:t>的条件期望随</a:t>
            </a:r>
            <a:r>
              <a:rPr lang="en-US" altLang="zh-CN" sz="3000" i="1" dirty="0">
                <a:solidFill>
                  <a:srgbClr val="000000"/>
                </a:solidFill>
              </a:rPr>
              <a:t>X</a:t>
            </a:r>
            <a:r>
              <a:rPr lang="zh-CN" altLang="en-US" sz="3000" dirty="0">
                <a:solidFill>
                  <a:srgbClr val="000000"/>
                </a:solidFill>
              </a:rPr>
              <a:t>而变化的轨迹所形成的直线或曲线称为</a:t>
            </a:r>
            <a:r>
              <a:rPr lang="zh-CN" altLang="en-US" sz="3000" dirty="0">
                <a:solidFill>
                  <a:srgbClr val="FF00FF"/>
                </a:solidFill>
              </a:rPr>
              <a:t>回归线</a:t>
            </a:r>
            <a:r>
              <a:rPr lang="zh-CN" altLang="en-US" sz="3000" dirty="0">
                <a:solidFill>
                  <a:srgbClr val="000000"/>
                </a:solidFill>
              </a:rPr>
              <a:t>，该回归线的数学表达式称为</a:t>
            </a:r>
            <a:r>
              <a:rPr lang="zh-CN" altLang="en-US" sz="3000" dirty="0">
                <a:solidFill>
                  <a:srgbClr val="FF00FF"/>
                </a:solidFill>
              </a:rPr>
              <a:t>回归模型</a:t>
            </a:r>
            <a:endParaRPr lang="zh-CN" altLang="en-US" sz="3000" dirty="0"/>
          </a:p>
        </p:txBody>
      </p:sp>
      <p:sp>
        <p:nvSpPr>
          <p:cNvPr id="8196" name="灯片编号占位符 5"/>
          <p:cNvSpPr>
            <a:spLocks noGrp="1"/>
          </p:cNvSpPr>
          <p:nvPr>
            <p:ph type="sldNum" sz="quarter" idx="4"/>
          </p:nvPr>
        </p:nvSpPr>
        <p:spPr>
          <a:noFill/>
        </p:spPr>
        <p:txBody>
          <a:bodyPr/>
          <a:lstStyle/>
          <a:p>
            <a:r>
              <a:rPr lang="en-US" altLang="zh-CN"/>
              <a:t>9--</a:t>
            </a:r>
            <a:fld id="{E296BD0C-A6F2-4924-8761-38DCB56C06B1}" type="slidenum">
              <a:rPr lang="en-US" altLang="zh-CN" smtClean="0"/>
              <a:pPr/>
              <a:t>39</a:t>
            </a:fld>
            <a:endParaRPr lang="en-US" altLang="zh-CN"/>
          </a:p>
        </p:txBody>
      </p:sp>
      <p:sp>
        <p:nvSpPr>
          <p:cNvPr id="8199"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4"/>
          <p:cNvGraphicFramePr>
            <a:graphicFrameLocks noChangeAspect="1"/>
          </p:cNvGraphicFramePr>
          <p:nvPr>
            <p:extLst>
              <p:ext uri="{D42A27DB-BD31-4B8C-83A1-F6EECF244321}">
                <p14:modId xmlns:p14="http://schemas.microsoft.com/office/powerpoint/2010/main" val="4064264311"/>
              </p:ext>
            </p:extLst>
          </p:nvPr>
        </p:nvGraphicFramePr>
        <p:xfrm>
          <a:off x="4826001" y="3387387"/>
          <a:ext cx="1655763" cy="792162"/>
        </p:xfrm>
        <a:graphic>
          <a:graphicData uri="http://schemas.openxmlformats.org/presentationml/2006/ole">
            <mc:AlternateContent xmlns:mc="http://schemas.openxmlformats.org/markup-compatibility/2006">
              <mc:Choice xmlns:v="urn:schemas-microsoft-com:vml" Requires="v">
                <p:oleObj name="公式" r:id="rId2" imgW="545626" imgH="253780" progId="Equation.3">
                  <p:embed/>
                </p:oleObj>
              </mc:Choice>
              <mc:Fallback>
                <p:oleObj name="公式" r:id="rId2" imgW="545626" imgH="253780" progId="Equation.3">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1" y="3387387"/>
                        <a:ext cx="1655763" cy="792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7"/>
          <p:cNvSpPr>
            <a:spLocks noChangeArrowheads="1"/>
          </p:cNvSpPr>
          <p:nvPr/>
        </p:nvSpPr>
        <p:spPr bwMode="auto">
          <a:xfrm>
            <a:off x="1524001" y="31157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50886" name="Object 6"/>
          <p:cNvGraphicFramePr>
            <a:graphicFrameLocks noChangeAspect="1"/>
          </p:cNvGraphicFramePr>
          <p:nvPr>
            <p:extLst>
              <p:ext uri="{D42A27DB-BD31-4B8C-83A1-F6EECF244321}">
                <p14:modId xmlns:p14="http://schemas.microsoft.com/office/powerpoint/2010/main" val="3740902140"/>
              </p:ext>
            </p:extLst>
          </p:nvPr>
        </p:nvGraphicFramePr>
        <p:xfrm>
          <a:off x="5105401" y="5216406"/>
          <a:ext cx="3097213" cy="747712"/>
        </p:xfrm>
        <a:graphic>
          <a:graphicData uri="http://schemas.openxmlformats.org/presentationml/2006/ole">
            <mc:AlternateContent xmlns:mc="http://schemas.openxmlformats.org/markup-compatibility/2006">
              <mc:Choice xmlns:v="urn:schemas-microsoft-com:vml" Requires="v">
                <p:oleObj name="公式" r:id="rId4" imgW="1066337" imgH="253890" progId="Equation.3">
                  <p:embed/>
                </p:oleObj>
              </mc:Choice>
              <mc:Fallback>
                <p:oleObj name="公式" r:id="rId4" imgW="1066337" imgH="253890" progId="Equation.3">
                  <p:embed/>
                  <p:pic>
                    <p:nvPicPr>
                      <p:cNvPr id="25088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1" y="5216406"/>
                        <a:ext cx="3097213" cy="747712"/>
                      </a:xfrm>
                      <a:prstGeom prst="rect">
                        <a:avLst/>
                      </a:prstGeom>
                      <a:noFill/>
                      <a:extLst>
                        <a:ext uri="{909E8E84-426E-40DD-AFC4-6F175D3DCCD1}">
                          <a14:hiddenFill xmlns:a14="http://schemas.microsoft.com/office/drawing/2010/main">
                            <a:solidFill>
                              <a:srgbClr val="FFFF00"/>
                            </a:solidFill>
                          </a14:hiddenFill>
                        </a:ext>
                      </a:extLst>
                    </p:spPr>
                  </p:pic>
                </p:oleObj>
              </mc:Fallback>
            </mc:AlternateContent>
          </a:graphicData>
        </a:graphic>
      </p:graphicFrame>
    </p:spTree>
    <p:extLst>
      <p:ext uri="{BB962C8B-B14F-4D97-AF65-F5344CB8AC3E}">
        <p14:creationId xmlns:p14="http://schemas.microsoft.com/office/powerpoint/2010/main" val="65036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883">
                                            <p:txEl>
                                              <p:pRg st="1" end="1"/>
                                            </p:txEl>
                                          </p:spTgt>
                                        </p:tgtEl>
                                        <p:attrNameLst>
                                          <p:attrName>style.visibility</p:attrName>
                                        </p:attrNameLst>
                                      </p:cBhvr>
                                      <p:to>
                                        <p:strVal val="visible"/>
                                      </p:to>
                                    </p:set>
                                    <p:animEffect transition="in" filter="blinds(horizontal)">
                                      <p:cBhvr>
                                        <p:cTn id="7" dur="500"/>
                                        <p:tgtEl>
                                          <p:spTgt spid="250883">
                                            <p:txEl>
                                              <p:pRg st="1" end="1"/>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50883">
                                            <p:txEl>
                                              <p:pRg st="2" end="2"/>
                                            </p:txEl>
                                          </p:spTgt>
                                        </p:tgtEl>
                                        <p:attrNameLst>
                                          <p:attrName>style.visibility</p:attrName>
                                        </p:attrNameLst>
                                      </p:cBhvr>
                                      <p:to>
                                        <p:strVal val="visible"/>
                                      </p:to>
                                    </p:set>
                                    <p:animEffect transition="in" filter="blinds(horizontal)">
                                      <p:cBhvr>
                                        <p:cTn id="15" dur="500"/>
                                        <p:tgtEl>
                                          <p:spTgt spid="250883">
                                            <p:txEl>
                                              <p:pRg st="2" end="2"/>
                                            </p:txEl>
                                          </p:spTgt>
                                        </p:tgtEl>
                                      </p:cBhvr>
                                    </p:animEffect>
                                  </p:childTnLst>
                                </p:cTn>
                              </p:par>
                            </p:childTnLst>
                          </p:cTn>
                        </p:par>
                        <p:par>
                          <p:cTn id="16" fill="hold">
                            <p:stCondLst>
                              <p:cond delay="500"/>
                            </p:stCondLst>
                            <p:childTnLst>
                              <p:par>
                                <p:cTn id="17" presetID="12" presetClass="entr" presetSubtype="8" fill="hold" nodeType="afterEffect">
                                  <p:stCondLst>
                                    <p:cond delay="0"/>
                                  </p:stCondLst>
                                  <p:childTnLst>
                                    <p:set>
                                      <p:cBhvr>
                                        <p:cTn id="18" dur="1" fill="hold">
                                          <p:stCondLst>
                                            <p:cond delay="0"/>
                                          </p:stCondLst>
                                        </p:cTn>
                                        <p:tgtEl>
                                          <p:spTgt spid="250886"/>
                                        </p:tgtEl>
                                        <p:attrNameLst>
                                          <p:attrName>style.visibility</p:attrName>
                                        </p:attrNameLst>
                                      </p:cBhvr>
                                      <p:to>
                                        <p:strVal val="visible"/>
                                      </p:to>
                                    </p:set>
                                    <p:animEffect transition="in" filter="slide(fromLeft)">
                                      <p:cBhvr>
                                        <p:cTn id="19" dur="500"/>
                                        <p:tgtEl>
                                          <p:spTgt spid="250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日期占位符 9"/>
          <p:cNvSpPr>
            <a:spLocks noGrp="1"/>
          </p:cNvSpPr>
          <p:nvPr>
            <p:ph type="dt" sz="half" idx="10"/>
          </p:nvPr>
        </p:nvSpPr>
        <p:spPr>
          <a:noFill/>
        </p:spPr>
        <p:txBody>
          <a:bodyPr/>
          <a:lstStyle/>
          <a:p>
            <a:endParaRPr lang="en-US" altLang="zh-CN"/>
          </a:p>
        </p:txBody>
      </p:sp>
      <p:sp>
        <p:nvSpPr>
          <p:cNvPr id="9221" name="Rectangle 2"/>
          <p:cNvSpPr>
            <a:spLocks noGrp="1" noChangeArrowheads="1"/>
          </p:cNvSpPr>
          <p:nvPr>
            <p:ph type="title"/>
          </p:nvPr>
        </p:nvSpPr>
        <p:spPr>
          <a:xfrm>
            <a:off x="1847850" y="592892"/>
            <a:ext cx="6654800" cy="662782"/>
          </a:xfrm>
        </p:spPr>
        <p:txBody>
          <a:bodyPr>
            <a:normAutofit/>
          </a:bodyPr>
          <a:lstStyle/>
          <a:p>
            <a:pPr eaLnBrk="1" hangingPunct="1"/>
            <a:r>
              <a:rPr lang="en-US" altLang="zh-CN" sz="4000" dirty="0"/>
              <a:t>1. </a:t>
            </a:r>
            <a:r>
              <a:rPr lang="zh-CN" altLang="en-US" sz="4000" dirty="0"/>
              <a:t>总体回归方程（</a:t>
            </a:r>
            <a:r>
              <a:rPr lang="en-US" altLang="zh-CN" sz="4000" dirty="0"/>
              <a:t>PRF</a:t>
            </a:r>
            <a:r>
              <a:rPr lang="zh-CN" altLang="en-US" sz="4000" dirty="0"/>
              <a:t>） </a:t>
            </a:r>
          </a:p>
        </p:txBody>
      </p:sp>
      <p:sp>
        <p:nvSpPr>
          <p:cNvPr id="9222" name="Rectangle 3"/>
          <p:cNvSpPr>
            <a:spLocks noGrp="1" noChangeArrowheads="1"/>
          </p:cNvSpPr>
          <p:nvPr>
            <p:ph idx="1"/>
          </p:nvPr>
        </p:nvSpPr>
        <p:spPr>
          <a:xfrm>
            <a:off x="1696033" y="1384533"/>
            <a:ext cx="10134599" cy="4774961"/>
          </a:xfrm>
          <a:noFill/>
        </p:spPr>
        <p:txBody>
          <a:bodyPr/>
          <a:lstStyle/>
          <a:p>
            <a:pPr eaLnBrk="1" hangingPunct="1">
              <a:buFontTx/>
              <a:buNone/>
            </a:pPr>
            <a:r>
              <a:rPr lang="zh-CN" altLang="en-US" dirty="0">
                <a:solidFill>
                  <a:srgbClr val="C00000"/>
                </a:solidFill>
              </a:rPr>
              <a:t>一元线性回归</a:t>
            </a:r>
            <a:r>
              <a:rPr lang="zh-CN" altLang="en-US" dirty="0"/>
              <a:t>的</a:t>
            </a:r>
            <a:r>
              <a:rPr lang="zh-CN" altLang="en-US" dirty="0">
                <a:solidFill>
                  <a:srgbClr val="0070C0"/>
                </a:solidFill>
              </a:rPr>
              <a:t>总体回归函数</a:t>
            </a:r>
            <a:r>
              <a:rPr lang="zh-CN" altLang="en-US" dirty="0"/>
              <a:t>有两种表现形式：</a:t>
            </a:r>
          </a:p>
          <a:p>
            <a:pPr lvl="1" indent="0" eaLnBrk="1" hangingPunct="1">
              <a:buNone/>
            </a:pPr>
            <a:r>
              <a:rPr lang="zh-CN" altLang="en-US" dirty="0"/>
              <a:t>（</a:t>
            </a:r>
            <a:r>
              <a:rPr lang="en-US" altLang="zh-CN" dirty="0"/>
              <a:t>1</a:t>
            </a:r>
            <a:r>
              <a:rPr lang="zh-CN" altLang="en-US" dirty="0"/>
              <a:t>）个别值表现形式（随机设定形式）</a:t>
            </a:r>
            <a:r>
              <a:rPr lang="zh-CN" altLang="en-US" sz="3200" dirty="0">
                <a:solidFill>
                  <a:srgbClr val="C56B9E"/>
                </a:solidFill>
              </a:rPr>
              <a:t> </a:t>
            </a:r>
          </a:p>
        </p:txBody>
      </p:sp>
      <p:sp>
        <p:nvSpPr>
          <p:cNvPr id="9220" name="灯片编号占位符 5"/>
          <p:cNvSpPr>
            <a:spLocks noGrp="1"/>
          </p:cNvSpPr>
          <p:nvPr>
            <p:ph type="sldNum" sz="quarter" idx="4"/>
          </p:nvPr>
        </p:nvSpPr>
        <p:spPr>
          <a:noFill/>
        </p:spPr>
        <p:txBody>
          <a:bodyPr/>
          <a:lstStyle/>
          <a:p>
            <a:r>
              <a:rPr lang="en-US" altLang="zh-CN"/>
              <a:t>9--</a:t>
            </a:r>
            <a:fld id="{7DE57760-8591-4FF8-A89C-E77873732D5B}" type="slidenum">
              <a:rPr lang="en-US" altLang="zh-CN" smtClean="0"/>
              <a:pPr/>
              <a:t>40</a:t>
            </a:fld>
            <a:endParaRPr lang="en-US" altLang="zh-CN"/>
          </a:p>
        </p:txBody>
      </p:sp>
      <p:graphicFrame>
        <p:nvGraphicFramePr>
          <p:cNvPr id="9218" name="Object 5"/>
          <p:cNvGraphicFramePr>
            <a:graphicFrameLocks noChangeAspect="1"/>
          </p:cNvGraphicFramePr>
          <p:nvPr/>
        </p:nvGraphicFramePr>
        <p:xfrm>
          <a:off x="3575050" y="3860801"/>
          <a:ext cx="5881688" cy="936625"/>
        </p:xfrm>
        <a:graphic>
          <a:graphicData uri="http://schemas.openxmlformats.org/presentationml/2006/ole">
            <mc:AlternateContent xmlns:mc="http://schemas.openxmlformats.org/markup-compatibility/2006">
              <mc:Choice xmlns:v="urn:schemas-microsoft-com:vml" Requires="v">
                <p:oleObj name="公式" r:id="rId2" imgW="1663560" imgH="253800" progId="Equation.3">
                  <p:embed/>
                </p:oleObj>
              </mc:Choice>
              <mc:Fallback>
                <p:oleObj name="公式" r:id="rId2" imgW="1663560" imgH="253800" progId="Equation.3">
                  <p:embed/>
                  <p:pic>
                    <p:nvPicPr>
                      <p:cNvPr id="9218"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0" y="3860801"/>
                        <a:ext cx="5881688"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4"/>
          <p:cNvGraphicFramePr>
            <a:graphicFrameLocks noChangeAspect="1"/>
          </p:cNvGraphicFramePr>
          <p:nvPr/>
        </p:nvGraphicFramePr>
        <p:xfrm>
          <a:off x="4440239" y="2492375"/>
          <a:ext cx="3813175" cy="884238"/>
        </p:xfrm>
        <a:graphic>
          <a:graphicData uri="http://schemas.openxmlformats.org/presentationml/2006/ole">
            <mc:AlternateContent xmlns:mc="http://schemas.openxmlformats.org/markup-compatibility/2006">
              <mc:Choice xmlns:v="urn:schemas-microsoft-com:vml" Requires="v">
                <p:oleObj name="公式" r:id="rId4" imgW="1028520" imgH="228600" progId="Equation.3">
                  <p:embed/>
                </p:oleObj>
              </mc:Choice>
              <mc:Fallback>
                <p:oleObj name="公式" r:id="rId4" imgW="1028520" imgH="228600" progId="Equation.3">
                  <p:embed/>
                  <p:pic>
                    <p:nvPicPr>
                      <p:cNvPr id="921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0239" y="2492375"/>
                        <a:ext cx="3813175" cy="88423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9223" name="Rectangle 10"/>
          <p:cNvSpPr>
            <a:spLocks noChangeArrowheads="1"/>
          </p:cNvSpPr>
          <p:nvPr/>
        </p:nvSpPr>
        <p:spPr bwMode="auto">
          <a:xfrm>
            <a:off x="2063750" y="4797153"/>
            <a:ext cx="7920038" cy="1616075"/>
          </a:xfrm>
          <a:prstGeom prst="rect">
            <a:avLst/>
          </a:prstGeom>
          <a:noFill/>
          <a:ln w="9525">
            <a:noFill/>
            <a:miter lim="800000"/>
            <a:headEnd/>
            <a:tailEnd/>
          </a:ln>
        </p:spPr>
        <p:txBody>
          <a:bodyPr/>
          <a:lstStyle/>
          <a:p>
            <a:pPr marL="990600" lvl="1" indent="-533400">
              <a:buSzPct val="80000"/>
            </a:pPr>
            <a:r>
              <a:rPr lang="el-GR" altLang="zh-CN" sz="4000" b="1" i="1" dirty="0">
                <a:solidFill>
                  <a:srgbClr val="C00000"/>
                </a:solidFill>
                <a:latin typeface="Times New Roman" pitchFamily="18" charset="0"/>
                <a:cs typeface="Times New Roman" pitchFamily="18" charset="0"/>
              </a:rPr>
              <a:t>ε</a:t>
            </a:r>
            <a:r>
              <a:rPr lang="en-US" altLang="zh-CN" sz="2800" b="1" dirty="0">
                <a:solidFill>
                  <a:srgbClr val="000000"/>
                </a:solidFill>
              </a:rPr>
              <a:t>—</a:t>
            </a:r>
            <a:r>
              <a:rPr lang="zh-CN" altLang="en-US" sz="2800" b="1" dirty="0">
                <a:solidFill>
                  <a:srgbClr val="000000"/>
                </a:solidFill>
                <a:latin typeface="Tahoma" pitchFamily="34" charset="0"/>
              </a:rPr>
              <a:t>随机误差项，代表自变量以外的所有因素对</a:t>
            </a:r>
            <a:r>
              <a:rPr lang="en-US" altLang="zh-CN" sz="2800" b="1" i="1" dirty="0">
                <a:solidFill>
                  <a:srgbClr val="000000"/>
                </a:solidFill>
                <a:latin typeface="Tahoma" pitchFamily="34" charset="0"/>
              </a:rPr>
              <a:t>Y </a:t>
            </a:r>
            <a:r>
              <a:rPr lang="zh-CN" altLang="en-US" sz="2800" b="1" dirty="0">
                <a:solidFill>
                  <a:srgbClr val="000000"/>
                </a:solidFill>
                <a:latin typeface="Tahoma" pitchFamily="34" charset="0"/>
              </a:rPr>
              <a:t>的影响。</a:t>
            </a:r>
          </a:p>
          <a:p>
            <a:pPr marL="990600" lvl="1" indent="-533400">
              <a:buSzPct val="80000"/>
            </a:pPr>
            <a:r>
              <a:rPr lang="en-US" altLang="zh-CN" sz="3200" b="1" i="1" dirty="0"/>
              <a:t>X</a:t>
            </a:r>
            <a:r>
              <a:rPr lang="zh-CN" altLang="en-US" sz="3200" b="1" i="1" dirty="0"/>
              <a:t>为非随机变量</a:t>
            </a:r>
            <a:endParaRPr lang="zh-CN" altLang="en-US" sz="3200" b="1" i="1" dirty="0">
              <a:solidFill>
                <a:srgbClr val="000000"/>
              </a:solidFill>
              <a:latin typeface="Tahoma" pitchFamily="34" charset="0"/>
            </a:endParaRPr>
          </a:p>
        </p:txBody>
      </p:sp>
      <p:sp>
        <p:nvSpPr>
          <p:cNvPr id="9224"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9225" name="Rectangle 13"/>
          <p:cNvSpPr>
            <a:spLocks noChangeArrowheads="1"/>
          </p:cNvSpPr>
          <p:nvPr/>
        </p:nvSpPr>
        <p:spPr bwMode="auto">
          <a:xfrm>
            <a:off x="1696033" y="3339829"/>
            <a:ext cx="8820150" cy="1544637"/>
          </a:xfrm>
          <a:prstGeom prst="rect">
            <a:avLst/>
          </a:prstGeom>
          <a:noFill/>
          <a:ln w="9525">
            <a:noFill/>
            <a:miter lim="800000"/>
            <a:headEnd/>
            <a:tailEnd/>
          </a:ln>
        </p:spPr>
        <p:txBody>
          <a:bodyPr/>
          <a:lstStyle/>
          <a:p>
            <a:pPr marL="0" lvl="1" defTabSz="685783" fontAlgn="ctr">
              <a:spcBef>
                <a:spcPts val="375"/>
              </a:spcBef>
              <a:spcAft>
                <a:spcPts val="225"/>
              </a:spcAft>
              <a:buSzPct val="80000"/>
            </a:pPr>
            <a:r>
              <a:rPr lang="zh-CN" altLang="en-US" sz="2800" dirty="0">
                <a:solidFill>
                  <a:srgbClr val="2F5597"/>
                </a:solidFill>
                <a:latin typeface="微软雅黑" panose="020B0503020204020204" pitchFamily="34" charset="-122"/>
                <a:ea typeface="微软雅黑" panose="020B0503020204020204" pitchFamily="34" charset="-122"/>
              </a:rPr>
              <a:t>（</a:t>
            </a:r>
            <a:r>
              <a:rPr lang="en-US" altLang="zh-CN" sz="2800" dirty="0">
                <a:solidFill>
                  <a:srgbClr val="2F5597"/>
                </a:solidFill>
                <a:latin typeface="微软雅黑" panose="020B0503020204020204" pitchFamily="34" charset="-122"/>
                <a:ea typeface="微软雅黑" panose="020B0503020204020204" pitchFamily="34" charset="-122"/>
              </a:rPr>
              <a:t>2</a:t>
            </a:r>
            <a:r>
              <a:rPr lang="zh-CN" altLang="en-US" sz="2800" dirty="0">
                <a:solidFill>
                  <a:srgbClr val="2F5597"/>
                </a:solidFill>
                <a:latin typeface="微软雅黑" panose="020B0503020204020204" pitchFamily="34" charset="-122"/>
                <a:ea typeface="微软雅黑" panose="020B0503020204020204" pitchFamily="34" charset="-122"/>
              </a:rPr>
              <a:t>）条件均值表现形式</a:t>
            </a:r>
          </a:p>
        </p:txBody>
      </p:sp>
    </p:spTree>
    <p:extLst>
      <p:ext uri="{BB962C8B-B14F-4D97-AF65-F5344CB8AC3E}">
        <p14:creationId xmlns:p14="http://schemas.microsoft.com/office/powerpoint/2010/main" val="1207749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日期占位符 6"/>
          <p:cNvSpPr>
            <a:spLocks noGrp="1"/>
          </p:cNvSpPr>
          <p:nvPr>
            <p:ph type="dt" sz="half" idx="10"/>
          </p:nvPr>
        </p:nvSpPr>
        <p:spPr>
          <a:noFill/>
        </p:spPr>
        <p:txBody>
          <a:bodyPr/>
          <a:lstStyle/>
          <a:p>
            <a:endParaRPr lang="en-US" altLang="zh-CN"/>
          </a:p>
        </p:txBody>
      </p:sp>
      <p:sp>
        <p:nvSpPr>
          <p:cNvPr id="10244" name="Rectangle 2"/>
          <p:cNvSpPr>
            <a:spLocks noGrp="1" noChangeArrowheads="1"/>
          </p:cNvSpPr>
          <p:nvPr>
            <p:ph type="title"/>
          </p:nvPr>
        </p:nvSpPr>
        <p:spPr>
          <a:xfrm>
            <a:off x="1708732" y="751682"/>
            <a:ext cx="10128250" cy="662782"/>
          </a:xfrm>
        </p:spPr>
        <p:txBody>
          <a:bodyPr/>
          <a:lstStyle/>
          <a:p>
            <a:pPr eaLnBrk="1" hangingPunct="1"/>
            <a:r>
              <a:rPr lang="zh-CN" altLang="en-US" dirty="0"/>
              <a:t>总体回归方程参数 </a:t>
            </a:r>
          </a:p>
        </p:txBody>
      </p:sp>
      <p:sp>
        <p:nvSpPr>
          <p:cNvPr id="10243" name="灯片编号占位符 5"/>
          <p:cNvSpPr>
            <a:spLocks noGrp="1"/>
          </p:cNvSpPr>
          <p:nvPr>
            <p:ph type="sldNum" sz="quarter" idx="4"/>
          </p:nvPr>
        </p:nvSpPr>
        <p:spPr>
          <a:noFill/>
        </p:spPr>
        <p:txBody>
          <a:bodyPr/>
          <a:lstStyle/>
          <a:p>
            <a:r>
              <a:rPr lang="en-US" altLang="zh-CN"/>
              <a:t>9--</a:t>
            </a:r>
            <a:fld id="{F27DD76C-C48C-472E-8C4B-CED5C197599E}" type="slidenum">
              <a:rPr lang="en-US" altLang="zh-CN" smtClean="0"/>
              <a:pPr/>
              <a:t>41</a:t>
            </a:fld>
            <a:endParaRPr lang="en-US" altLang="zh-CN"/>
          </a:p>
        </p:txBody>
      </p:sp>
      <p:graphicFrame>
        <p:nvGraphicFramePr>
          <p:cNvPr id="10242" name="Object 4"/>
          <p:cNvGraphicFramePr>
            <a:graphicFrameLocks noChangeAspect="1"/>
          </p:cNvGraphicFramePr>
          <p:nvPr>
            <p:extLst>
              <p:ext uri="{D42A27DB-BD31-4B8C-83A1-F6EECF244321}">
                <p14:modId xmlns:p14="http://schemas.microsoft.com/office/powerpoint/2010/main" val="1240340032"/>
              </p:ext>
            </p:extLst>
          </p:nvPr>
        </p:nvGraphicFramePr>
        <p:xfrm>
          <a:off x="2936875" y="1557339"/>
          <a:ext cx="5881688" cy="936625"/>
        </p:xfrm>
        <a:graphic>
          <a:graphicData uri="http://schemas.openxmlformats.org/presentationml/2006/ole">
            <mc:AlternateContent xmlns:mc="http://schemas.openxmlformats.org/markup-compatibility/2006">
              <mc:Choice xmlns:v="urn:schemas-microsoft-com:vml" Requires="v">
                <p:oleObj name="公式" r:id="rId2" imgW="1663560" imgH="253800" progId="Equation.3">
                  <p:embed/>
                </p:oleObj>
              </mc:Choice>
              <mc:Fallback>
                <p:oleObj name="公式" r:id="rId2" imgW="1663560" imgH="253800" progId="Equation.3">
                  <p:embed/>
                  <p:pic>
                    <p:nvPicPr>
                      <p:cNvPr id="1024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75" y="1557339"/>
                        <a:ext cx="5881688"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6902" name="Rectangle 6"/>
          <p:cNvSpPr>
            <a:spLocks noChangeArrowheads="1"/>
          </p:cNvSpPr>
          <p:nvPr/>
        </p:nvSpPr>
        <p:spPr bwMode="auto">
          <a:xfrm>
            <a:off x="2063750" y="2636839"/>
            <a:ext cx="8135938" cy="3024187"/>
          </a:xfrm>
          <a:prstGeom prst="rect">
            <a:avLst/>
          </a:prstGeom>
          <a:noFill/>
          <a:ln w="9525">
            <a:noFill/>
            <a:miter lim="800000"/>
            <a:headEnd/>
            <a:tailEnd/>
          </a:ln>
          <a:effectLst/>
        </p:spPr>
        <p:txBody>
          <a:bodyPr/>
          <a:lstStyle/>
          <a:p>
            <a:pPr marL="990600" lvl="1" indent="-990600">
              <a:spcBef>
                <a:spcPct val="20000"/>
              </a:spcBef>
              <a:buSzPct val="80000"/>
              <a:defRPr/>
            </a:pPr>
            <a:r>
              <a:rPr lang="zh-CN" altLang="en-US" sz="3200" b="1" dirty="0">
                <a:solidFill>
                  <a:srgbClr val="C00000"/>
                </a:solidFill>
                <a:latin typeface="Times New Roman" pitchFamily="18" charset="0"/>
              </a:rPr>
              <a:t>模型参数</a:t>
            </a:r>
            <a:r>
              <a:rPr lang="en-US" altLang="zh-CN" sz="3200" b="1" dirty="0">
                <a:solidFill>
                  <a:srgbClr val="C00000"/>
                </a:solidFill>
                <a:latin typeface="Times New Roman" pitchFamily="18" charset="0"/>
                <a:cs typeface="Times New Roman" pitchFamily="18" charset="0"/>
              </a:rPr>
              <a:t>:</a:t>
            </a:r>
          </a:p>
          <a:p>
            <a:pPr marL="990600" lvl="1" indent="-533400">
              <a:spcBef>
                <a:spcPct val="20000"/>
              </a:spcBef>
              <a:buSzPct val="80000"/>
              <a:defRPr/>
            </a:pPr>
            <a:r>
              <a:rPr lang="el-GR" altLang="zh-CN" sz="3600" b="1" i="1" dirty="0">
                <a:solidFill>
                  <a:srgbClr val="CC0099"/>
                </a:solidFill>
                <a:latin typeface="Times New Roman" pitchFamily="18" charset="0"/>
                <a:cs typeface="Times New Roman" pitchFamily="18" charset="0"/>
              </a:rPr>
              <a:t>α </a:t>
            </a:r>
            <a:r>
              <a:rPr lang="en-US" altLang="zh-CN" sz="3000" b="1" dirty="0">
                <a:solidFill>
                  <a:srgbClr val="000000"/>
                </a:solidFill>
                <a:latin typeface="Times New Roman" pitchFamily="18" charset="0"/>
              </a:rPr>
              <a:t>(</a:t>
            </a:r>
            <a:r>
              <a:rPr kumimoji="1" lang="zh-CN" altLang="en-US" sz="2800" dirty="0">
                <a:solidFill>
                  <a:srgbClr val="7030A0"/>
                </a:solidFill>
                <a:latin typeface="Tahoma" pitchFamily="34" charset="0"/>
              </a:rPr>
              <a:t>截距，常数项</a:t>
            </a:r>
            <a:r>
              <a:rPr lang="en-US" altLang="zh-CN" sz="3000" b="1" dirty="0">
                <a:solidFill>
                  <a:srgbClr val="000000"/>
                </a:solidFill>
                <a:latin typeface="Times New Roman" pitchFamily="18" charset="0"/>
              </a:rPr>
              <a:t>) </a:t>
            </a:r>
            <a:r>
              <a:rPr lang="en-US" altLang="zh-CN" sz="3600" b="1" i="1" dirty="0">
                <a:latin typeface="Times New Roman" pitchFamily="18" charset="0"/>
                <a:cs typeface="Times New Roman" pitchFamily="18" charset="0"/>
              </a:rPr>
              <a:t>—</a:t>
            </a:r>
            <a:r>
              <a:rPr kumimoji="1" lang="en-US" altLang="zh-CN" sz="2800" b="1" i="1" dirty="0">
                <a:solidFill>
                  <a:srgbClr val="000000"/>
                </a:solidFill>
                <a:latin typeface="Tahoma" pitchFamily="34" charset="0"/>
              </a:rPr>
              <a:t>X </a:t>
            </a:r>
            <a:r>
              <a:rPr kumimoji="1" lang="zh-CN" altLang="en-US" sz="2800" b="1" dirty="0">
                <a:solidFill>
                  <a:srgbClr val="000000"/>
                </a:solidFill>
                <a:latin typeface="Tahoma" pitchFamily="34" charset="0"/>
              </a:rPr>
              <a:t>以外的所有因素对</a:t>
            </a:r>
            <a:r>
              <a:rPr kumimoji="1" lang="en-US" altLang="zh-CN" sz="2800" b="1" i="1" dirty="0">
                <a:solidFill>
                  <a:srgbClr val="000000"/>
                </a:solidFill>
                <a:latin typeface="Tahoma" pitchFamily="34" charset="0"/>
              </a:rPr>
              <a:t>Y </a:t>
            </a:r>
            <a:r>
              <a:rPr kumimoji="1" lang="zh-CN" altLang="en-US" sz="2800" b="1" dirty="0">
                <a:solidFill>
                  <a:srgbClr val="000000"/>
                </a:solidFill>
                <a:latin typeface="Tahoma" pitchFamily="34" charset="0"/>
              </a:rPr>
              <a:t>的平均影响数量，即</a:t>
            </a:r>
            <a:r>
              <a:rPr kumimoji="1" lang="en-US" altLang="zh-CN" sz="2800" b="1" i="1" dirty="0">
                <a:solidFill>
                  <a:srgbClr val="000000"/>
                </a:solidFill>
                <a:latin typeface="Tahoma" pitchFamily="34" charset="0"/>
              </a:rPr>
              <a:t>X </a:t>
            </a:r>
            <a:r>
              <a:rPr kumimoji="1" lang="en-US" altLang="zh-CN" sz="2800" b="1" dirty="0">
                <a:solidFill>
                  <a:srgbClr val="000000"/>
                </a:solidFill>
                <a:latin typeface="Tahoma" pitchFamily="34" charset="0"/>
              </a:rPr>
              <a:t>=0</a:t>
            </a:r>
            <a:r>
              <a:rPr kumimoji="1" lang="zh-CN" altLang="en-US" sz="2800" b="1" dirty="0">
                <a:solidFill>
                  <a:srgbClr val="000000"/>
                </a:solidFill>
                <a:latin typeface="Tahoma" pitchFamily="34" charset="0"/>
              </a:rPr>
              <a:t>时</a:t>
            </a:r>
            <a:r>
              <a:rPr kumimoji="1" lang="en-US" altLang="zh-CN" sz="2800" b="1" i="1" dirty="0">
                <a:solidFill>
                  <a:srgbClr val="000000"/>
                </a:solidFill>
                <a:latin typeface="Tahoma" pitchFamily="34" charset="0"/>
              </a:rPr>
              <a:t>Y </a:t>
            </a:r>
            <a:r>
              <a:rPr kumimoji="1" lang="zh-CN" altLang="en-US" sz="2800" b="1" dirty="0">
                <a:solidFill>
                  <a:srgbClr val="000000"/>
                </a:solidFill>
                <a:latin typeface="Tahoma" pitchFamily="34" charset="0"/>
              </a:rPr>
              <a:t>的平均值</a:t>
            </a:r>
            <a:r>
              <a:rPr kumimoji="1" lang="zh-CN" altLang="en-US" sz="2800" dirty="0">
                <a:solidFill>
                  <a:srgbClr val="000000"/>
                </a:solidFill>
                <a:effectLst>
                  <a:outerShdw blurRad="38100" dist="38100" dir="2700000" algn="tl">
                    <a:srgbClr val="C0C0C0"/>
                  </a:outerShdw>
                </a:effectLst>
                <a:latin typeface="Tahoma" pitchFamily="34" charset="0"/>
              </a:rPr>
              <a:t>；</a:t>
            </a:r>
            <a:endParaRPr lang="zh-CN" altLang="en-US" sz="3600" b="1" i="1" dirty="0">
              <a:solidFill>
                <a:srgbClr val="CC0099"/>
              </a:solidFill>
              <a:latin typeface="Times New Roman" pitchFamily="18" charset="0"/>
              <a:cs typeface="Times New Roman" pitchFamily="18" charset="0"/>
            </a:endParaRPr>
          </a:p>
          <a:p>
            <a:pPr marL="990600" lvl="1" indent="-533400">
              <a:spcBef>
                <a:spcPct val="20000"/>
              </a:spcBef>
              <a:buSzPct val="80000"/>
              <a:defRPr/>
            </a:pPr>
            <a:r>
              <a:rPr lang="el-GR" altLang="zh-CN" sz="3600" b="1" i="1" dirty="0">
                <a:solidFill>
                  <a:srgbClr val="CC0099"/>
                </a:solidFill>
                <a:latin typeface="Times New Roman" pitchFamily="18" charset="0"/>
                <a:cs typeface="Times New Roman" pitchFamily="18" charset="0"/>
              </a:rPr>
              <a:t>β</a:t>
            </a:r>
            <a:r>
              <a:rPr kumimoji="1" lang="en-US" altLang="zh-CN" sz="2800" dirty="0">
                <a:effectLst>
                  <a:outerShdw blurRad="38100" dist="38100" dir="2700000" algn="tl">
                    <a:srgbClr val="C0C0C0"/>
                  </a:outerShdw>
                </a:effectLst>
                <a:latin typeface="Tahoma" pitchFamily="34" charset="0"/>
                <a:cs typeface="Times New Roman" pitchFamily="18" charset="0"/>
              </a:rPr>
              <a:t>(</a:t>
            </a:r>
            <a:r>
              <a:rPr kumimoji="1" lang="zh-CN" altLang="en-US" sz="2800" dirty="0">
                <a:solidFill>
                  <a:srgbClr val="7030A0"/>
                </a:solidFill>
                <a:latin typeface="Tahoma" pitchFamily="34" charset="0"/>
              </a:rPr>
              <a:t>斜率，回归系数</a:t>
            </a:r>
            <a:r>
              <a:rPr lang="en-US" altLang="zh-CN" sz="3000" b="1" dirty="0">
                <a:solidFill>
                  <a:srgbClr val="000000"/>
                </a:solidFill>
                <a:latin typeface="Times New Roman" pitchFamily="18" charset="0"/>
              </a:rPr>
              <a:t>)</a:t>
            </a:r>
            <a:r>
              <a:rPr kumimoji="1" lang="en-US" altLang="zh-CN" sz="2800" dirty="0">
                <a:solidFill>
                  <a:srgbClr val="000000"/>
                </a:solidFill>
                <a:latin typeface="Arial"/>
              </a:rPr>
              <a:t>—</a:t>
            </a:r>
            <a:r>
              <a:rPr kumimoji="1" lang="en-US" altLang="zh-CN" sz="2800" b="1" i="1" dirty="0">
                <a:solidFill>
                  <a:srgbClr val="000000"/>
                </a:solidFill>
                <a:effectLst>
                  <a:outerShdw blurRad="38100" dist="38100" dir="2700000" algn="tl">
                    <a:srgbClr val="C0C0C0"/>
                  </a:outerShdw>
                </a:effectLst>
                <a:latin typeface="Tahoma" pitchFamily="34" charset="0"/>
              </a:rPr>
              <a:t>X </a:t>
            </a:r>
            <a:r>
              <a:rPr kumimoji="1" lang="zh-CN" altLang="en-US" sz="2800" b="1" dirty="0">
                <a:solidFill>
                  <a:srgbClr val="000000"/>
                </a:solidFill>
                <a:effectLst>
                  <a:outerShdw blurRad="38100" dist="38100" dir="2700000" algn="tl">
                    <a:srgbClr val="C0C0C0"/>
                  </a:outerShdw>
                </a:effectLst>
                <a:latin typeface="Tahoma" pitchFamily="34" charset="0"/>
              </a:rPr>
              <a:t>每增加一个单位</a:t>
            </a:r>
            <a:r>
              <a:rPr kumimoji="1" lang="en-US" altLang="zh-CN" sz="2800" b="1" dirty="0">
                <a:solidFill>
                  <a:srgbClr val="000000"/>
                </a:solidFill>
                <a:effectLst>
                  <a:outerShdw blurRad="38100" dist="38100" dir="2700000" algn="tl">
                    <a:srgbClr val="C0C0C0"/>
                  </a:outerShdw>
                </a:effectLst>
                <a:latin typeface="Tahoma" pitchFamily="34" charset="0"/>
              </a:rPr>
              <a:t>,</a:t>
            </a:r>
            <a:r>
              <a:rPr kumimoji="1" lang="en-US" altLang="zh-CN" sz="2800" b="1" i="1" dirty="0">
                <a:solidFill>
                  <a:srgbClr val="000000"/>
                </a:solidFill>
                <a:effectLst>
                  <a:outerShdw blurRad="38100" dist="38100" dir="2700000" algn="tl">
                    <a:srgbClr val="C0C0C0"/>
                  </a:outerShdw>
                </a:effectLst>
                <a:latin typeface="Tahoma" pitchFamily="34" charset="0"/>
              </a:rPr>
              <a:t>Y </a:t>
            </a:r>
            <a:r>
              <a:rPr kumimoji="1" lang="zh-CN" altLang="en-US" sz="2800" b="1" dirty="0">
                <a:solidFill>
                  <a:srgbClr val="000000"/>
                </a:solidFill>
                <a:effectLst>
                  <a:outerShdw blurRad="38100" dist="38100" dir="2700000" algn="tl">
                    <a:srgbClr val="C0C0C0"/>
                  </a:outerShdw>
                </a:effectLst>
                <a:latin typeface="Tahoma" pitchFamily="34" charset="0"/>
              </a:rPr>
              <a:t>平均增加 </a:t>
            </a:r>
            <a:r>
              <a:rPr lang="el-GR" altLang="zh-CN" sz="3600" b="1" i="1" dirty="0">
                <a:solidFill>
                  <a:srgbClr val="000000"/>
                </a:solidFill>
                <a:latin typeface="Times New Roman" pitchFamily="18" charset="0"/>
                <a:cs typeface="Times New Roman" pitchFamily="18" charset="0"/>
              </a:rPr>
              <a:t>β</a:t>
            </a:r>
            <a:r>
              <a:rPr kumimoji="1" lang="zh-CN" altLang="en-US" sz="2800" b="1" dirty="0">
                <a:solidFill>
                  <a:srgbClr val="000000"/>
                </a:solidFill>
                <a:effectLst>
                  <a:outerShdw blurRad="38100" dist="38100" dir="2700000" algn="tl">
                    <a:srgbClr val="C0C0C0"/>
                  </a:outerShdw>
                </a:effectLst>
                <a:latin typeface="Tahoma" pitchFamily="34" charset="0"/>
              </a:rPr>
              <a:t>个单位。</a:t>
            </a:r>
            <a:endParaRPr kumimoji="1" lang="el-GR" altLang="zh-CN" sz="2800" b="1" dirty="0">
              <a:solidFill>
                <a:srgbClr val="000000"/>
              </a:solidFill>
              <a:effectLst>
                <a:outerShdw blurRad="38100" dist="38100" dir="2700000" algn="tl">
                  <a:srgbClr val="C0C0C0"/>
                </a:outerShdw>
              </a:effectLst>
              <a:latin typeface="Tahoma" pitchFamily="34" charset="0"/>
            </a:endParaRPr>
          </a:p>
        </p:txBody>
      </p:sp>
      <p:sp>
        <p:nvSpPr>
          <p:cNvPr id="10246" name="Rectangle 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1824591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73" name="日期占位符 8"/>
          <p:cNvSpPr>
            <a:spLocks noGrp="1"/>
          </p:cNvSpPr>
          <p:nvPr>
            <p:ph type="dt" sz="half" idx="10"/>
          </p:nvPr>
        </p:nvSpPr>
        <p:spPr>
          <a:noFill/>
        </p:spPr>
        <p:txBody>
          <a:bodyPr/>
          <a:lstStyle/>
          <a:p>
            <a:endParaRPr lang="en-US" altLang="zh-CN"/>
          </a:p>
        </p:txBody>
      </p:sp>
      <p:sp>
        <p:nvSpPr>
          <p:cNvPr id="11269" name="Rectangle 2"/>
          <p:cNvSpPr>
            <a:spLocks noGrp="1" noChangeArrowheads="1"/>
          </p:cNvSpPr>
          <p:nvPr>
            <p:ph type="title"/>
          </p:nvPr>
        </p:nvSpPr>
        <p:spPr>
          <a:xfrm>
            <a:off x="1711325" y="529171"/>
            <a:ext cx="6616700" cy="662782"/>
          </a:xfrm>
          <a:noFill/>
        </p:spPr>
        <p:txBody>
          <a:bodyPr vert="horz" lIns="90488" tIns="44450" rIns="90488" bIns="44450" rtlCol="0" anchor="ctr" anchorCtr="1">
            <a:normAutofit/>
          </a:bodyPr>
          <a:lstStyle/>
          <a:p>
            <a:pPr eaLnBrk="1" hangingPunct="1"/>
            <a:r>
              <a:rPr lang="zh-CN" altLang="en-US" dirty="0"/>
              <a:t>一元线性回归模型的基本假定</a:t>
            </a:r>
          </a:p>
        </p:txBody>
      </p:sp>
      <p:sp>
        <p:nvSpPr>
          <p:cNvPr id="332803" name="Rectangle 3"/>
          <p:cNvSpPr>
            <a:spLocks noGrp="1" noChangeArrowheads="1"/>
          </p:cNvSpPr>
          <p:nvPr>
            <p:ph idx="1"/>
          </p:nvPr>
        </p:nvSpPr>
        <p:spPr>
          <a:xfrm>
            <a:off x="1371601" y="977582"/>
            <a:ext cx="8636000" cy="5333761"/>
          </a:xfrm>
          <a:noFill/>
        </p:spPr>
        <p:txBody>
          <a:bodyPr vert="horz" lIns="90488" tIns="44450" rIns="90488" bIns="44450" rtlCol="0">
            <a:normAutofit/>
          </a:bodyPr>
          <a:lstStyle/>
          <a:p>
            <a:pPr marL="1079500" lvl="2" indent="6350">
              <a:lnSpc>
                <a:spcPct val="130000"/>
              </a:lnSpc>
              <a:buNone/>
            </a:pPr>
            <a:r>
              <a:rPr lang="en-US" altLang="zh-CN" sz="4000" i="1" dirty="0">
                <a:solidFill>
                  <a:srgbClr val="FF00FF"/>
                </a:solidFill>
                <a:latin typeface="Times New Roman" pitchFamily="18" charset="0"/>
              </a:rPr>
              <a:t>   </a:t>
            </a:r>
            <a:r>
              <a:rPr lang="en-US" altLang="zh-CN" sz="4400" b="1" i="1" dirty="0">
                <a:solidFill>
                  <a:srgbClr val="FF00FF"/>
                </a:solidFill>
                <a:latin typeface="Times New Roman" pitchFamily="18" charset="0"/>
              </a:rPr>
              <a:t>ε</a:t>
            </a:r>
            <a:r>
              <a:rPr lang="en-US" altLang="zh-CN" sz="3200" baseline="-25000" dirty="0">
                <a:solidFill>
                  <a:srgbClr val="FF00FF"/>
                </a:solidFill>
                <a:latin typeface="Times New Roman" pitchFamily="18" charset="0"/>
              </a:rPr>
              <a:t> </a:t>
            </a:r>
            <a:r>
              <a:rPr lang="en-US" altLang="zh-CN" sz="3200" baseline="-25000" dirty="0" err="1">
                <a:solidFill>
                  <a:srgbClr val="FF00FF"/>
                </a:solidFill>
                <a:latin typeface="Times New Roman" pitchFamily="18" charset="0"/>
              </a:rPr>
              <a:t>iid</a:t>
            </a:r>
            <a:r>
              <a:rPr lang="en-US" altLang="zh-CN" sz="3200" dirty="0">
                <a:solidFill>
                  <a:srgbClr val="FF00FF"/>
                </a:solidFill>
                <a:latin typeface="Times New Roman" pitchFamily="18" charset="0"/>
              </a:rPr>
              <a:t>~ </a:t>
            </a:r>
            <a:r>
              <a:rPr lang="en-US" altLang="zh-CN" sz="3200" i="1" dirty="0">
                <a:solidFill>
                  <a:srgbClr val="FF00FF"/>
                </a:solidFill>
                <a:latin typeface="Times New Roman" pitchFamily="18" charset="0"/>
              </a:rPr>
              <a:t>N</a:t>
            </a:r>
            <a:r>
              <a:rPr lang="en-US" altLang="zh-CN" sz="3200" dirty="0">
                <a:solidFill>
                  <a:srgbClr val="FF00FF"/>
                </a:solidFill>
                <a:latin typeface="Times New Roman" pitchFamily="18" charset="0"/>
              </a:rPr>
              <a:t>(0,</a:t>
            </a:r>
            <a:r>
              <a:rPr lang="en-US" altLang="zh-CN" sz="3200" i="1" dirty="0">
                <a:solidFill>
                  <a:srgbClr val="FF00FF"/>
                </a:solidFill>
                <a:latin typeface="Times New Roman" pitchFamily="18" charset="0"/>
              </a:rPr>
              <a:t>σ</a:t>
            </a:r>
            <a:r>
              <a:rPr lang="en-US" altLang="zh-CN" sz="3200" baseline="30000" dirty="0">
                <a:solidFill>
                  <a:srgbClr val="FF00FF"/>
                </a:solidFill>
                <a:latin typeface="Times New Roman" pitchFamily="18" charset="0"/>
              </a:rPr>
              <a:t>2</a:t>
            </a:r>
            <a:r>
              <a:rPr lang="en-US" altLang="zh-CN" sz="3200" dirty="0">
                <a:solidFill>
                  <a:srgbClr val="FF00FF"/>
                </a:solidFill>
                <a:latin typeface="Times New Roman" pitchFamily="18" charset="0"/>
              </a:rPr>
              <a:t>)</a:t>
            </a:r>
            <a:endParaRPr lang="en-US" altLang="zh-CN" sz="3200" i="1" dirty="0">
              <a:latin typeface="Times New Roman" pitchFamily="18" charset="0"/>
            </a:endParaRPr>
          </a:p>
          <a:p>
            <a:pPr marL="609600" indent="-609600" algn="just">
              <a:lnSpc>
                <a:spcPct val="130000"/>
              </a:lnSpc>
              <a:buNone/>
            </a:pPr>
            <a:r>
              <a:rPr lang="zh-CN" altLang="en-US" dirty="0">
                <a:solidFill>
                  <a:srgbClr val="0000FF"/>
                </a:solidFill>
              </a:rPr>
              <a:t>假定</a:t>
            </a:r>
            <a:r>
              <a:rPr lang="en-US" altLang="zh-CN" dirty="0">
                <a:solidFill>
                  <a:srgbClr val="0000FF"/>
                </a:solidFill>
              </a:rPr>
              <a:t>1</a:t>
            </a:r>
            <a:r>
              <a:rPr lang="zh-CN" altLang="en-US" dirty="0">
                <a:solidFill>
                  <a:srgbClr val="0000FF"/>
                </a:solidFill>
              </a:rPr>
              <a:t>：零均值：</a:t>
            </a:r>
            <a:r>
              <a:rPr lang="zh-CN" altLang="en-US" dirty="0">
                <a:solidFill>
                  <a:schemeClr val="tx2"/>
                </a:solidFill>
                <a:latin typeface="Times New Roman" pitchFamily="18" charset="0"/>
              </a:rPr>
              <a:t> </a:t>
            </a:r>
            <a:r>
              <a:rPr lang="en-US" altLang="zh-CN" i="1" dirty="0">
                <a:solidFill>
                  <a:schemeClr val="tx2"/>
                </a:solidFill>
                <a:latin typeface="Times New Roman" pitchFamily="18" charset="0"/>
              </a:rPr>
              <a:t>E</a:t>
            </a:r>
            <a:r>
              <a:rPr lang="en-US" altLang="zh-CN" dirty="0">
                <a:solidFill>
                  <a:schemeClr val="tx2"/>
                </a:solidFill>
                <a:latin typeface="Times New Roman" pitchFamily="18" charset="0"/>
              </a:rPr>
              <a:t>(</a:t>
            </a:r>
            <a:r>
              <a:rPr lang="en-US" altLang="zh-CN" i="1" dirty="0" err="1">
                <a:solidFill>
                  <a:schemeClr val="tx2"/>
                </a:solidFill>
                <a:latin typeface="Times New Roman" pitchFamily="18" charset="0"/>
              </a:rPr>
              <a:t>ε</a:t>
            </a:r>
            <a:r>
              <a:rPr lang="en-US" altLang="zh-CN" i="1" baseline="-25000" dirty="0" err="1">
                <a:solidFill>
                  <a:schemeClr val="tx2"/>
                </a:solidFill>
                <a:latin typeface="Times New Roman" pitchFamily="18" charset="0"/>
              </a:rPr>
              <a:t>i</a:t>
            </a:r>
            <a:r>
              <a:rPr lang="en-US" altLang="zh-CN" i="1" baseline="-25000" dirty="0">
                <a:solidFill>
                  <a:schemeClr val="tx2"/>
                </a:solidFill>
                <a:latin typeface="Times New Roman" pitchFamily="18" charset="0"/>
              </a:rPr>
              <a:t> </a:t>
            </a:r>
            <a:r>
              <a:rPr lang="en-US" altLang="zh-CN" dirty="0">
                <a:solidFill>
                  <a:schemeClr val="tx2"/>
                </a:solidFill>
                <a:latin typeface="Times New Roman" pitchFamily="18" charset="0"/>
              </a:rPr>
              <a:t>)=0</a:t>
            </a:r>
            <a:r>
              <a:rPr lang="zh-CN" altLang="en-US" dirty="0">
                <a:solidFill>
                  <a:schemeClr val="tx2"/>
                </a:solidFill>
                <a:latin typeface="Times New Roman" pitchFamily="18" charset="0"/>
              </a:rPr>
              <a:t>　或</a:t>
            </a:r>
          </a:p>
          <a:p>
            <a:pPr marL="685800" lvl="1" indent="0" algn="just">
              <a:lnSpc>
                <a:spcPct val="130000"/>
              </a:lnSpc>
              <a:buNone/>
            </a:pPr>
            <a:r>
              <a:rPr lang="zh-CN" altLang="en-US" dirty="0">
                <a:latin typeface="Times New Roman" pitchFamily="18" charset="0"/>
              </a:rPr>
              <a:t>      即</a:t>
            </a:r>
            <a:r>
              <a:rPr lang="zh-CN" altLang="en-US" dirty="0"/>
              <a:t>在给定</a:t>
            </a:r>
            <a:r>
              <a:rPr lang="en-US" altLang="zh-CN" dirty="0"/>
              <a:t>X</a:t>
            </a:r>
            <a:r>
              <a:rPr lang="zh-CN" altLang="en-US" dirty="0"/>
              <a:t>的条件下，</a:t>
            </a:r>
            <a:r>
              <a:rPr lang="zh-CN" altLang="en-US" dirty="0">
                <a:latin typeface="Times New Roman" pitchFamily="18" charset="0"/>
              </a:rPr>
              <a:t>误差项</a:t>
            </a:r>
            <a:r>
              <a:rPr lang="en-US" altLang="zh-CN" i="1" dirty="0">
                <a:latin typeface="Times New Roman" pitchFamily="18" charset="0"/>
              </a:rPr>
              <a:t>ε</a:t>
            </a:r>
            <a:r>
              <a:rPr lang="zh-CN" altLang="en-US" dirty="0">
                <a:latin typeface="Times New Roman" pitchFamily="18" charset="0"/>
              </a:rPr>
              <a:t>是一个期望值（</a:t>
            </a:r>
            <a:r>
              <a:rPr lang="zh-CN" altLang="en-US" dirty="0"/>
              <a:t>条件</a:t>
            </a:r>
            <a:r>
              <a:rPr lang="zh-CN" altLang="en-US" dirty="0">
                <a:latin typeface="Times New Roman" pitchFamily="18" charset="0"/>
              </a:rPr>
              <a:t>期望值）为 </a:t>
            </a:r>
            <a:r>
              <a:rPr lang="en-US" altLang="zh-CN" dirty="0">
                <a:latin typeface="Times New Roman" pitchFamily="18" charset="0"/>
              </a:rPr>
              <a:t>0 </a:t>
            </a:r>
            <a:r>
              <a:rPr lang="zh-CN" altLang="en-US" dirty="0">
                <a:latin typeface="Times New Roman" pitchFamily="18" charset="0"/>
              </a:rPr>
              <a:t>的随机变量。</a:t>
            </a:r>
          </a:p>
          <a:p>
            <a:pPr marL="609600" indent="-609600" algn="just">
              <a:lnSpc>
                <a:spcPct val="130000"/>
              </a:lnSpc>
              <a:buNone/>
            </a:pPr>
            <a:r>
              <a:rPr lang="zh-CN" altLang="en-US" dirty="0">
                <a:solidFill>
                  <a:srgbClr val="0000FF"/>
                </a:solidFill>
              </a:rPr>
              <a:t>假定</a:t>
            </a:r>
            <a:r>
              <a:rPr lang="en-US" altLang="zh-CN" dirty="0">
                <a:solidFill>
                  <a:srgbClr val="0000FF"/>
                </a:solidFill>
              </a:rPr>
              <a:t>2</a:t>
            </a:r>
            <a:r>
              <a:rPr lang="zh-CN" altLang="en-US" dirty="0">
                <a:solidFill>
                  <a:srgbClr val="0000FF"/>
                </a:solidFill>
              </a:rPr>
              <a:t>：同方差：                  </a:t>
            </a:r>
            <a:r>
              <a:rPr lang="zh-CN" altLang="en-US" dirty="0">
                <a:solidFill>
                  <a:srgbClr val="000000"/>
                </a:solidFill>
                <a:latin typeface="Times New Roman" pitchFamily="18" charset="0"/>
              </a:rPr>
              <a:t>或</a:t>
            </a:r>
            <a:endParaRPr lang="zh-CN" altLang="en-US" dirty="0">
              <a:solidFill>
                <a:srgbClr val="000000"/>
              </a:solidFill>
            </a:endParaRPr>
          </a:p>
          <a:p>
            <a:pPr marL="685800" lvl="1" indent="0" algn="just">
              <a:lnSpc>
                <a:spcPct val="130000"/>
              </a:lnSpc>
              <a:buNone/>
            </a:pPr>
            <a:r>
              <a:rPr lang="zh-CN" altLang="en-US" dirty="0">
                <a:latin typeface="Times New Roman" pitchFamily="18" charset="0"/>
              </a:rPr>
              <a:t>      即在给定</a:t>
            </a:r>
            <a:r>
              <a:rPr lang="en-US" altLang="zh-CN" dirty="0">
                <a:latin typeface="Times New Roman" pitchFamily="18" charset="0"/>
              </a:rPr>
              <a:t>X</a:t>
            </a:r>
            <a:r>
              <a:rPr lang="zh-CN" altLang="en-US" dirty="0">
                <a:latin typeface="Times New Roman" pitchFamily="18" charset="0"/>
              </a:rPr>
              <a:t>的条件下，误差项</a:t>
            </a:r>
            <a:r>
              <a:rPr lang="en-US" altLang="zh-CN" sz="3200" i="1" dirty="0">
                <a:latin typeface="Times New Roman" pitchFamily="18" charset="0"/>
              </a:rPr>
              <a:t>ε</a:t>
            </a:r>
            <a:r>
              <a:rPr lang="zh-CN" altLang="en-US" dirty="0">
                <a:latin typeface="Times New Roman" pitchFamily="18" charset="0"/>
              </a:rPr>
              <a:t>的条件方差为某个常数</a:t>
            </a:r>
            <a:r>
              <a:rPr lang="en-US" altLang="zh-CN" i="1" dirty="0">
                <a:latin typeface="Times New Roman" pitchFamily="18" charset="0"/>
              </a:rPr>
              <a:t>σ</a:t>
            </a:r>
            <a:r>
              <a:rPr lang="en-US" altLang="zh-CN" i="1" baseline="30000" dirty="0">
                <a:latin typeface="Times New Roman" pitchFamily="18" charset="0"/>
              </a:rPr>
              <a:t>2</a:t>
            </a:r>
            <a:r>
              <a:rPr lang="zh-CN" altLang="en-US" dirty="0">
                <a:latin typeface="Times New Roman" pitchFamily="18" charset="0"/>
              </a:rPr>
              <a:t>，</a:t>
            </a:r>
            <a:r>
              <a:rPr lang="en-US" altLang="zh-CN" i="1" baseline="30000" dirty="0">
                <a:latin typeface="Times New Roman" pitchFamily="18" charset="0"/>
              </a:rPr>
              <a:t> </a:t>
            </a:r>
            <a:r>
              <a:rPr lang="zh-CN" altLang="en-US" dirty="0">
                <a:latin typeface="Times New Roman" pitchFamily="18" charset="0"/>
              </a:rPr>
              <a:t>对于所有</a:t>
            </a:r>
            <a:r>
              <a:rPr lang="en-US" altLang="zh-CN" dirty="0">
                <a:latin typeface="Times New Roman" pitchFamily="18" charset="0"/>
              </a:rPr>
              <a:t>x</a:t>
            </a:r>
            <a:r>
              <a:rPr lang="zh-CN" altLang="en-US" dirty="0">
                <a:latin typeface="Times New Roman" pitchFamily="18" charset="0"/>
              </a:rPr>
              <a:t>值</a:t>
            </a:r>
            <a:r>
              <a:rPr lang="en-US" altLang="zh-CN" dirty="0">
                <a:latin typeface="Times New Roman" pitchFamily="18" charset="0"/>
              </a:rPr>
              <a:t>, </a:t>
            </a:r>
            <a:r>
              <a:rPr lang="en-US" altLang="zh-CN" sz="3200" b="1" i="1" dirty="0">
                <a:latin typeface="Times New Roman" pitchFamily="18" charset="0"/>
              </a:rPr>
              <a:t>ε</a:t>
            </a:r>
            <a:r>
              <a:rPr lang="zh-CN" altLang="en-US" dirty="0">
                <a:latin typeface="Times New Roman" pitchFamily="18" charset="0"/>
              </a:rPr>
              <a:t>的方差都相同 ）</a:t>
            </a:r>
          </a:p>
        </p:txBody>
      </p:sp>
      <p:sp>
        <p:nvSpPr>
          <p:cNvPr id="11268" name="灯片编号占位符 5"/>
          <p:cNvSpPr>
            <a:spLocks noGrp="1"/>
          </p:cNvSpPr>
          <p:nvPr>
            <p:ph type="sldNum" sz="quarter" idx="4"/>
          </p:nvPr>
        </p:nvSpPr>
        <p:spPr>
          <a:noFill/>
        </p:spPr>
        <p:txBody>
          <a:bodyPr/>
          <a:lstStyle/>
          <a:p>
            <a:r>
              <a:rPr lang="en-US" altLang="zh-CN" dirty="0"/>
              <a:t>9--</a:t>
            </a:r>
            <a:fld id="{477D192D-5CD0-4BAC-8392-F15A775E55DF}" type="slidenum">
              <a:rPr lang="en-US" altLang="zh-CN" smtClean="0"/>
              <a:pPr/>
              <a:t>42</a:t>
            </a:fld>
            <a:endParaRPr lang="en-US" altLang="zh-CN" dirty="0"/>
          </a:p>
        </p:txBody>
      </p:sp>
      <p:sp>
        <p:nvSpPr>
          <p:cNvPr id="11271"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1266" name="Object 5"/>
          <p:cNvGraphicFramePr>
            <a:graphicFrameLocks noChangeAspect="1"/>
          </p:cNvGraphicFramePr>
          <p:nvPr>
            <p:extLst>
              <p:ext uri="{D42A27DB-BD31-4B8C-83A1-F6EECF244321}">
                <p14:modId xmlns:p14="http://schemas.microsoft.com/office/powerpoint/2010/main" val="3978336454"/>
              </p:ext>
            </p:extLst>
          </p:nvPr>
        </p:nvGraphicFramePr>
        <p:xfrm>
          <a:off x="6878042" y="1984869"/>
          <a:ext cx="1892300" cy="647700"/>
        </p:xfrm>
        <a:graphic>
          <a:graphicData uri="http://schemas.openxmlformats.org/presentationml/2006/ole">
            <mc:AlternateContent xmlns:mc="http://schemas.openxmlformats.org/markup-compatibility/2006">
              <mc:Choice xmlns:v="urn:schemas-microsoft-com:vml" Requires="v">
                <p:oleObj name="公式" r:id="rId3" imgW="799920" imgH="253800" progId="Equation.3">
                  <p:embed/>
                </p:oleObj>
              </mc:Choice>
              <mc:Fallback>
                <p:oleObj name="公式" r:id="rId3" imgW="799920" imgH="253800" progId="Equation.3">
                  <p:embed/>
                  <p:pic>
                    <p:nvPicPr>
                      <p:cNvPr id="1126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8042" y="1984869"/>
                        <a:ext cx="189230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2" name="Rectangle 6"/>
          <p:cNvSpPr>
            <a:spLocks noChangeArrowheads="1"/>
          </p:cNvSpPr>
          <p:nvPr/>
        </p:nvSpPr>
        <p:spPr bwMode="auto">
          <a:xfrm>
            <a:off x="1524001" y="30871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32808" name="Object 8"/>
          <p:cNvGraphicFramePr>
            <a:graphicFrameLocks noChangeAspect="1"/>
          </p:cNvGraphicFramePr>
          <p:nvPr>
            <p:extLst>
              <p:ext uri="{D42A27DB-BD31-4B8C-83A1-F6EECF244321}">
                <p14:modId xmlns:p14="http://schemas.microsoft.com/office/powerpoint/2010/main" val="716496519"/>
              </p:ext>
            </p:extLst>
          </p:nvPr>
        </p:nvGraphicFramePr>
        <p:xfrm>
          <a:off x="4677296" y="3967236"/>
          <a:ext cx="1739900" cy="617538"/>
        </p:xfrm>
        <a:graphic>
          <a:graphicData uri="http://schemas.openxmlformats.org/presentationml/2006/ole">
            <mc:AlternateContent xmlns:mc="http://schemas.openxmlformats.org/markup-compatibility/2006">
              <mc:Choice xmlns:v="urn:schemas-microsoft-com:vml" Requires="v">
                <p:oleObj name="公式" r:id="rId5" imgW="736560" imgH="241200" progId="Equation.3">
                  <p:embed/>
                </p:oleObj>
              </mc:Choice>
              <mc:Fallback>
                <p:oleObj name="公式" r:id="rId5" imgW="736560" imgH="241200" progId="Equation.3">
                  <p:embed/>
                  <p:pic>
                    <p:nvPicPr>
                      <p:cNvPr id="33280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7296" y="3967236"/>
                        <a:ext cx="1739900"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2680714866"/>
              </p:ext>
            </p:extLst>
          </p:nvPr>
        </p:nvGraphicFramePr>
        <p:xfrm>
          <a:off x="7262019" y="3967236"/>
          <a:ext cx="2132012" cy="712788"/>
        </p:xfrm>
        <a:graphic>
          <a:graphicData uri="http://schemas.openxmlformats.org/presentationml/2006/ole">
            <mc:AlternateContent xmlns:mc="http://schemas.openxmlformats.org/markup-compatibility/2006">
              <mc:Choice xmlns:v="urn:schemas-microsoft-com:vml" Requires="v">
                <p:oleObj name="公式" r:id="rId7" imgW="901440" imgH="279360" progId="Equation.3">
                  <p:embed/>
                </p:oleObj>
              </mc:Choice>
              <mc:Fallback>
                <p:oleObj name="公式" r:id="rId7" imgW="901440" imgH="279360" progId="Equation.3">
                  <p:embed/>
                  <p:pic>
                    <p:nvPicPr>
                      <p:cNvPr id="1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62019" y="3967236"/>
                        <a:ext cx="2132012"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359748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2803">
                                            <p:txEl>
                                              <p:pRg st="1" end="1"/>
                                            </p:txEl>
                                          </p:spTgt>
                                        </p:tgtEl>
                                        <p:attrNameLst>
                                          <p:attrName>style.visibility</p:attrName>
                                        </p:attrNameLst>
                                      </p:cBhvr>
                                      <p:to>
                                        <p:strVal val="visible"/>
                                      </p:to>
                                    </p:set>
                                    <p:animEffect transition="in" filter="wipe(left)">
                                      <p:cBhvr>
                                        <p:cTn id="7" dur="500"/>
                                        <p:tgtEl>
                                          <p:spTgt spid="332803">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2803">
                                            <p:txEl>
                                              <p:pRg st="2" end="2"/>
                                            </p:txEl>
                                          </p:spTgt>
                                        </p:tgtEl>
                                        <p:attrNameLst>
                                          <p:attrName>style.visibility</p:attrName>
                                        </p:attrNameLst>
                                      </p:cBhvr>
                                      <p:to>
                                        <p:strVal val="visible"/>
                                      </p:to>
                                    </p:set>
                                    <p:animEffect transition="in" filter="wipe(left)">
                                      <p:cBhvr>
                                        <p:cTn id="10" dur="500"/>
                                        <p:tgtEl>
                                          <p:spTgt spid="33280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1266"/>
                                        </p:tgtEl>
                                        <p:attrNameLst>
                                          <p:attrName>style.visibility</p:attrName>
                                        </p:attrNameLst>
                                      </p:cBhvr>
                                      <p:to>
                                        <p:strVal val="visible"/>
                                      </p:to>
                                    </p:set>
                                    <p:animEffect transition="in" filter="wipe(left)">
                                      <p:cBhvr>
                                        <p:cTn id="13" dur="500"/>
                                        <p:tgtEl>
                                          <p:spTgt spid="1126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32803">
                                            <p:txEl>
                                              <p:pRg st="3" end="3"/>
                                            </p:txEl>
                                          </p:spTgt>
                                        </p:tgtEl>
                                        <p:attrNameLst>
                                          <p:attrName>style.visibility</p:attrName>
                                        </p:attrNameLst>
                                      </p:cBhvr>
                                      <p:to>
                                        <p:strVal val="visible"/>
                                      </p:to>
                                    </p:set>
                                    <p:animEffect transition="in" filter="wipe(left)">
                                      <p:cBhvr>
                                        <p:cTn id="18" dur="500"/>
                                        <p:tgtEl>
                                          <p:spTgt spid="332803">
                                            <p:txEl>
                                              <p:pRg st="3" end="3"/>
                                            </p:txEl>
                                          </p:spTgt>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332808"/>
                                        </p:tgtEl>
                                        <p:attrNameLst>
                                          <p:attrName>style.visibility</p:attrName>
                                        </p:attrNameLst>
                                      </p:cBhvr>
                                      <p:to>
                                        <p:strVal val="visible"/>
                                      </p:to>
                                    </p:set>
                                    <p:animEffect transition="in" filter="blinds(horizontal)">
                                      <p:cBhvr>
                                        <p:cTn id="22" dur="10"/>
                                        <p:tgtEl>
                                          <p:spTgt spid="332808"/>
                                        </p:tgtEl>
                                      </p:cBhvr>
                                    </p:animEffect>
                                  </p:childTnLst>
                                </p:cTn>
                              </p:par>
                            </p:childTnLst>
                          </p:cTn>
                        </p:par>
                        <p:par>
                          <p:cTn id="23" fill="hold">
                            <p:stCondLst>
                              <p:cond delay="510"/>
                            </p:stCondLst>
                            <p:childTnLst>
                              <p:par>
                                <p:cTn id="24" presetID="3" presetClass="entr" presetSubtype="1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25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32803">
                                            <p:txEl>
                                              <p:pRg st="4" end="4"/>
                                            </p:txEl>
                                          </p:spTgt>
                                        </p:tgtEl>
                                        <p:attrNameLst>
                                          <p:attrName>style.visibility</p:attrName>
                                        </p:attrNameLst>
                                      </p:cBhvr>
                                      <p:to>
                                        <p:strVal val="visible"/>
                                      </p:to>
                                    </p:set>
                                    <p:animEffect transition="in" filter="wipe(left)">
                                      <p:cBhvr>
                                        <p:cTn id="29" dur="250"/>
                                        <p:tgtEl>
                                          <p:spTgt spid="3328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uiExpand="1"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7" name="日期占位符 8"/>
          <p:cNvSpPr>
            <a:spLocks noGrp="1"/>
          </p:cNvSpPr>
          <p:nvPr>
            <p:ph type="dt" sz="half" idx="10"/>
          </p:nvPr>
        </p:nvSpPr>
        <p:spPr>
          <a:noFill/>
        </p:spPr>
        <p:txBody>
          <a:bodyPr/>
          <a:lstStyle/>
          <a:p>
            <a:endParaRPr lang="en-US" altLang="zh-CN"/>
          </a:p>
        </p:txBody>
      </p:sp>
      <p:sp>
        <p:nvSpPr>
          <p:cNvPr id="12293" name="Rectangle 2"/>
          <p:cNvSpPr>
            <a:spLocks noGrp="1" noChangeArrowheads="1"/>
          </p:cNvSpPr>
          <p:nvPr>
            <p:ph type="title"/>
          </p:nvPr>
        </p:nvSpPr>
        <p:spPr>
          <a:xfrm>
            <a:off x="1244600" y="159386"/>
            <a:ext cx="7083426" cy="662782"/>
          </a:xfrm>
          <a:noFill/>
        </p:spPr>
        <p:txBody>
          <a:bodyPr vert="horz" lIns="90488" tIns="44450" rIns="90488" bIns="44450" rtlCol="0" anchor="ctr" anchorCtr="1">
            <a:normAutofit/>
          </a:bodyPr>
          <a:lstStyle/>
          <a:p>
            <a:pPr eaLnBrk="1" hangingPunct="1"/>
            <a:r>
              <a:rPr lang="zh-CN" altLang="en-US" sz="3600" dirty="0"/>
              <a:t>一元线性回归模型的基本假定</a:t>
            </a:r>
            <a:r>
              <a:rPr lang="en-US" altLang="zh-CN" sz="3600" dirty="0"/>
              <a:t>(</a:t>
            </a:r>
            <a:r>
              <a:rPr lang="zh-CN" altLang="en-US" sz="3600" dirty="0"/>
              <a:t>续</a:t>
            </a:r>
            <a:r>
              <a:rPr lang="en-US" altLang="zh-CN" sz="3600" dirty="0"/>
              <a:t>)</a:t>
            </a:r>
          </a:p>
        </p:txBody>
      </p:sp>
      <p:sp>
        <p:nvSpPr>
          <p:cNvPr id="334851" name="Rectangle 3"/>
          <p:cNvSpPr>
            <a:spLocks noGrp="1" noChangeArrowheads="1"/>
          </p:cNvSpPr>
          <p:nvPr>
            <p:ph idx="1"/>
          </p:nvPr>
        </p:nvSpPr>
        <p:spPr>
          <a:xfrm>
            <a:off x="1708732" y="1311553"/>
            <a:ext cx="6965368" cy="4999790"/>
          </a:xfrm>
          <a:noFill/>
        </p:spPr>
        <p:txBody>
          <a:bodyPr vert="horz" lIns="90488" tIns="44450" rIns="90488" bIns="44450" rtlCol="0">
            <a:normAutofit fontScale="92500"/>
          </a:bodyPr>
          <a:lstStyle/>
          <a:p>
            <a:pPr marL="609600" indent="-609600" algn="just">
              <a:lnSpc>
                <a:spcPct val="110000"/>
              </a:lnSpc>
              <a:buNone/>
            </a:pPr>
            <a:r>
              <a:rPr lang="zh-CN" altLang="en-US" sz="3500" dirty="0">
                <a:solidFill>
                  <a:srgbClr val="0000FF"/>
                </a:solidFill>
              </a:rPr>
              <a:t>假定</a:t>
            </a:r>
            <a:r>
              <a:rPr lang="en-US" altLang="zh-CN" sz="3500" dirty="0">
                <a:solidFill>
                  <a:srgbClr val="0000FF"/>
                </a:solidFill>
              </a:rPr>
              <a:t>3</a:t>
            </a:r>
            <a:r>
              <a:rPr lang="zh-CN" altLang="en-US" sz="3500" dirty="0">
                <a:solidFill>
                  <a:srgbClr val="0000FF"/>
                </a:solidFill>
              </a:rPr>
              <a:t>：无自相关</a:t>
            </a:r>
            <a:r>
              <a:rPr lang="en-US" altLang="zh-CN" sz="3500" dirty="0">
                <a:solidFill>
                  <a:srgbClr val="0000FF"/>
                </a:solidFill>
              </a:rPr>
              <a:t>:</a:t>
            </a:r>
          </a:p>
          <a:p>
            <a:pPr marL="1543050" lvl="2" algn="just">
              <a:lnSpc>
                <a:spcPct val="110000"/>
              </a:lnSpc>
              <a:buFontTx/>
              <a:buChar char="•"/>
            </a:pPr>
            <a:r>
              <a:rPr lang="zh-CN" altLang="en-US" sz="2600" dirty="0"/>
              <a:t>即随机扰动项</a:t>
            </a:r>
            <a:r>
              <a:rPr lang="en-US" altLang="zh-CN" sz="2600" dirty="0"/>
              <a:t>ε</a:t>
            </a:r>
            <a:r>
              <a:rPr lang="zh-CN" altLang="en-US" sz="2600" dirty="0"/>
              <a:t>的逐次值互不相关</a:t>
            </a:r>
            <a:endParaRPr lang="zh-CN" altLang="en-US" sz="2600" dirty="0">
              <a:latin typeface="Times New Roman" pitchFamily="18" charset="0"/>
            </a:endParaRPr>
          </a:p>
          <a:p>
            <a:pPr marL="609600" indent="-609600" algn="just">
              <a:lnSpc>
                <a:spcPct val="110000"/>
              </a:lnSpc>
              <a:buNone/>
            </a:pPr>
            <a:r>
              <a:rPr lang="zh-CN" altLang="en-US" sz="3500" dirty="0">
                <a:solidFill>
                  <a:srgbClr val="0000FF"/>
                </a:solidFill>
              </a:rPr>
              <a:t>假定</a:t>
            </a:r>
            <a:r>
              <a:rPr lang="en-US" altLang="zh-CN" sz="3500" dirty="0">
                <a:solidFill>
                  <a:srgbClr val="0000FF"/>
                </a:solidFill>
              </a:rPr>
              <a:t>4</a:t>
            </a:r>
            <a:r>
              <a:rPr lang="zh-CN" altLang="en-US" sz="3500" dirty="0">
                <a:solidFill>
                  <a:srgbClr val="0000FF"/>
                </a:solidFill>
              </a:rPr>
              <a:t>：随机扰动与自变量不相关</a:t>
            </a:r>
            <a:r>
              <a:rPr lang="en-US" altLang="zh-CN" sz="3500" dirty="0">
                <a:solidFill>
                  <a:srgbClr val="0000FF"/>
                </a:solidFill>
              </a:rPr>
              <a:t>:</a:t>
            </a:r>
          </a:p>
          <a:p>
            <a:pPr marL="1219200" lvl="1" indent="-533400" algn="just">
              <a:lnSpc>
                <a:spcPct val="110000"/>
              </a:lnSpc>
              <a:buNone/>
            </a:pPr>
            <a:endParaRPr lang="en-US" altLang="zh-CN" sz="3200" dirty="0">
              <a:solidFill>
                <a:srgbClr val="0000FF"/>
              </a:solidFill>
            </a:endParaRPr>
          </a:p>
          <a:p>
            <a:pPr marL="609600" indent="-609600" algn="just">
              <a:lnSpc>
                <a:spcPct val="110000"/>
              </a:lnSpc>
              <a:buNone/>
            </a:pPr>
            <a:r>
              <a:rPr lang="zh-CN" altLang="en-US" sz="3500" dirty="0">
                <a:solidFill>
                  <a:srgbClr val="0000FF"/>
                </a:solidFill>
              </a:rPr>
              <a:t>假定</a:t>
            </a:r>
            <a:r>
              <a:rPr lang="en-US" altLang="zh-CN" sz="3500" dirty="0">
                <a:solidFill>
                  <a:srgbClr val="0000FF"/>
                </a:solidFill>
              </a:rPr>
              <a:t>5</a:t>
            </a:r>
            <a:r>
              <a:rPr lang="zh-CN" altLang="en-US" sz="3500" dirty="0">
                <a:solidFill>
                  <a:srgbClr val="0000FF"/>
                </a:solidFill>
              </a:rPr>
              <a:t>：正态性</a:t>
            </a:r>
            <a:r>
              <a:rPr lang="zh-CN" altLang="en-US" sz="3000" dirty="0">
                <a:solidFill>
                  <a:schemeClr val="tx2"/>
                </a:solidFill>
              </a:rPr>
              <a:t>即误差项</a:t>
            </a:r>
            <a:r>
              <a:rPr lang="en-US" altLang="zh-CN" sz="3000" dirty="0">
                <a:solidFill>
                  <a:schemeClr val="tx2"/>
                </a:solidFill>
              </a:rPr>
              <a:t>ε</a:t>
            </a:r>
            <a:r>
              <a:rPr lang="zh-CN" altLang="en-US" sz="3000" dirty="0">
                <a:solidFill>
                  <a:schemeClr val="tx2"/>
                </a:solidFill>
              </a:rPr>
              <a:t>服从正态分布</a:t>
            </a:r>
            <a:r>
              <a:rPr lang="zh-CN" altLang="en-US" sz="2800" dirty="0">
                <a:solidFill>
                  <a:schemeClr val="tx2"/>
                </a:solidFill>
              </a:rPr>
              <a:t>。</a:t>
            </a:r>
          </a:p>
          <a:p>
            <a:pPr marL="609600" indent="-609600" algn="just">
              <a:lnSpc>
                <a:spcPct val="110000"/>
              </a:lnSpc>
            </a:pPr>
            <a:r>
              <a:rPr lang="zh-CN" altLang="en-US" dirty="0">
                <a:solidFill>
                  <a:srgbClr val="FF00FF"/>
                </a:solidFill>
                <a:latin typeface="Times New Roman" pitchFamily="18" charset="0"/>
              </a:rPr>
              <a:t>综上所述，</a:t>
            </a:r>
            <a:r>
              <a:rPr lang="en-US" altLang="zh-CN" i="1" dirty="0" err="1">
                <a:solidFill>
                  <a:srgbClr val="FF00FF"/>
                </a:solidFill>
                <a:latin typeface="Times New Roman" pitchFamily="18" charset="0"/>
              </a:rPr>
              <a:t>ε</a:t>
            </a:r>
            <a:r>
              <a:rPr lang="en-US" altLang="zh-CN" baseline="-25000" dirty="0" err="1">
                <a:solidFill>
                  <a:srgbClr val="FF00FF"/>
                </a:solidFill>
                <a:latin typeface="Times New Roman" pitchFamily="18" charset="0"/>
              </a:rPr>
              <a:t>iid</a:t>
            </a:r>
            <a:r>
              <a:rPr lang="en-US" altLang="zh-CN" dirty="0" err="1">
                <a:solidFill>
                  <a:srgbClr val="FF00FF"/>
                </a:solidFill>
                <a:latin typeface="Times New Roman" pitchFamily="18" charset="0"/>
              </a:rPr>
              <a:t>~</a:t>
            </a:r>
            <a:r>
              <a:rPr lang="en-US" altLang="zh-CN" i="1" dirty="0" err="1">
                <a:solidFill>
                  <a:srgbClr val="FF00FF"/>
                </a:solidFill>
                <a:latin typeface="Times New Roman" pitchFamily="18" charset="0"/>
              </a:rPr>
              <a:t>N</a:t>
            </a:r>
            <a:r>
              <a:rPr lang="en-US" altLang="zh-CN" dirty="0">
                <a:solidFill>
                  <a:srgbClr val="FF00FF"/>
                </a:solidFill>
                <a:latin typeface="Times New Roman" pitchFamily="18" charset="0"/>
              </a:rPr>
              <a:t>(0,</a:t>
            </a:r>
            <a:r>
              <a:rPr lang="en-US" altLang="zh-CN" i="1" dirty="0">
                <a:solidFill>
                  <a:srgbClr val="FF00FF"/>
                </a:solidFill>
                <a:latin typeface="Times New Roman" pitchFamily="18" charset="0"/>
              </a:rPr>
              <a:t>σ</a:t>
            </a:r>
            <a:r>
              <a:rPr lang="en-US" altLang="zh-CN" baseline="30000" dirty="0">
                <a:solidFill>
                  <a:srgbClr val="FF00FF"/>
                </a:solidFill>
                <a:latin typeface="Times New Roman" pitchFamily="18" charset="0"/>
              </a:rPr>
              <a:t>2</a:t>
            </a:r>
            <a:r>
              <a:rPr lang="en-US" altLang="zh-CN" dirty="0">
                <a:solidFill>
                  <a:srgbClr val="FF00FF"/>
                </a:solidFill>
                <a:latin typeface="Times New Roman" pitchFamily="18" charset="0"/>
              </a:rPr>
              <a:t>)</a:t>
            </a:r>
          </a:p>
          <a:p>
            <a:pPr marL="609600" indent="-609600" algn="just">
              <a:lnSpc>
                <a:spcPct val="110000"/>
              </a:lnSpc>
              <a:buNone/>
            </a:pPr>
            <a:r>
              <a:rPr lang="zh-CN" altLang="en-US" sz="2800" dirty="0">
                <a:solidFill>
                  <a:schemeClr val="tx2"/>
                </a:solidFill>
              </a:rPr>
              <a:t>　完全满足以上基本假定的线性回归模型称为</a:t>
            </a:r>
            <a:r>
              <a:rPr lang="zh-CN" altLang="en-US" dirty="0">
                <a:solidFill>
                  <a:srgbClr val="FF0000"/>
                </a:solidFill>
              </a:rPr>
              <a:t>古典线性回归模型</a:t>
            </a:r>
            <a:r>
              <a:rPr lang="zh-CN" altLang="en-US" dirty="0"/>
              <a:t>。</a:t>
            </a:r>
            <a:endParaRPr lang="zh-CN" altLang="en-US" dirty="0">
              <a:solidFill>
                <a:srgbClr val="0000FF"/>
              </a:solidFill>
            </a:endParaRPr>
          </a:p>
        </p:txBody>
      </p:sp>
      <p:sp>
        <p:nvSpPr>
          <p:cNvPr id="12292" name="灯片编号占位符 5"/>
          <p:cNvSpPr>
            <a:spLocks noGrp="1"/>
          </p:cNvSpPr>
          <p:nvPr>
            <p:ph type="sldNum" sz="quarter" idx="4"/>
          </p:nvPr>
        </p:nvSpPr>
        <p:spPr>
          <a:noFill/>
        </p:spPr>
        <p:txBody>
          <a:bodyPr/>
          <a:lstStyle/>
          <a:p>
            <a:r>
              <a:rPr lang="en-US" altLang="zh-CN"/>
              <a:t>9--</a:t>
            </a:r>
            <a:fld id="{062F19DE-3E56-407A-A7F9-29CCDC304E17}" type="slidenum">
              <a:rPr lang="en-US" altLang="zh-CN" smtClean="0"/>
              <a:pPr/>
              <a:t>43</a:t>
            </a:fld>
            <a:endParaRPr lang="en-US" altLang="zh-CN"/>
          </a:p>
        </p:txBody>
      </p:sp>
      <p:sp>
        <p:nvSpPr>
          <p:cNvPr id="12295" name="Rectangle 4"/>
          <p:cNvSpPr>
            <a:spLocks noChangeArrowheads="1"/>
          </p:cNvSpPr>
          <p:nvPr/>
        </p:nvSpPr>
        <p:spPr bwMode="auto">
          <a:xfrm>
            <a:off x="1524001" y="31252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2290" name="Object 5"/>
          <p:cNvGraphicFramePr>
            <a:graphicFrameLocks noChangeAspect="1"/>
          </p:cNvGraphicFramePr>
          <p:nvPr>
            <p:extLst>
              <p:ext uri="{D42A27DB-BD31-4B8C-83A1-F6EECF244321}">
                <p14:modId xmlns:p14="http://schemas.microsoft.com/office/powerpoint/2010/main" val="2809008119"/>
              </p:ext>
            </p:extLst>
          </p:nvPr>
        </p:nvGraphicFramePr>
        <p:xfrm>
          <a:off x="5189539" y="1311553"/>
          <a:ext cx="2592387" cy="673100"/>
        </p:xfrm>
        <a:graphic>
          <a:graphicData uri="http://schemas.openxmlformats.org/presentationml/2006/ole">
            <mc:AlternateContent xmlns:mc="http://schemas.openxmlformats.org/markup-compatibility/2006">
              <mc:Choice xmlns:v="urn:schemas-microsoft-com:vml" Requires="v">
                <p:oleObj name="公式" r:id="rId3" imgW="939600" imgH="241200" progId="Equation.3">
                  <p:embed/>
                </p:oleObj>
              </mc:Choice>
              <mc:Fallback>
                <p:oleObj name="公式" r:id="rId3" imgW="939600" imgH="241200" progId="Equation.3">
                  <p:embed/>
                  <p:pic>
                    <p:nvPicPr>
                      <p:cNvPr id="1229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9539" y="1311553"/>
                        <a:ext cx="259238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6" name="Rectangle 6"/>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34855" name="Object 7"/>
          <p:cNvGraphicFramePr>
            <a:graphicFrameLocks noChangeAspect="1"/>
          </p:cNvGraphicFramePr>
          <p:nvPr>
            <p:extLst>
              <p:ext uri="{D42A27DB-BD31-4B8C-83A1-F6EECF244321}">
                <p14:modId xmlns:p14="http://schemas.microsoft.com/office/powerpoint/2010/main" val="4207800601"/>
              </p:ext>
            </p:extLst>
          </p:nvPr>
        </p:nvGraphicFramePr>
        <p:xfrm>
          <a:off x="5224754" y="3034427"/>
          <a:ext cx="2808288" cy="647700"/>
        </p:xfrm>
        <a:graphic>
          <a:graphicData uri="http://schemas.openxmlformats.org/presentationml/2006/ole">
            <mc:AlternateContent xmlns:mc="http://schemas.openxmlformats.org/markup-compatibility/2006">
              <mc:Choice xmlns:v="urn:schemas-microsoft-com:vml" Requires="v">
                <p:oleObj name="公式" r:id="rId5" imgW="965160" imgH="228600" progId="Equation.3">
                  <p:embed/>
                </p:oleObj>
              </mc:Choice>
              <mc:Fallback>
                <p:oleObj name="公式" r:id="rId5" imgW="965160" imgH="228600" progId="Equation.3">
                  <p:embed/>
                  <p:pic>
                    <p:nvPicPr>
                      <p:cNvPr id="33485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4754" y="3034427"/>
                        <a:ext cx="2808288"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270423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34851">
                                            <p:txEl>
                                              <p:pRg st="1" end="1"/>
                                            </p:txEl>
                                          </p:spTgt>
                                        </p:tgtEl>
                                        <p:attrNameLst>
                                          <p:attrName>style.visibility</p:attrName>
                                        </p:attrNameLst>
                                      </p:cBhvr>
                                      <p:to>
                                        <p:strVal val="visible"/>
                                      </p:to>
                                    </p:set>
                                    <p:animEffect transition="in" filter="wipe(left)">
                                      <p:cBhvr>
                                        <p:cTn id="7" dur="500"/>
                                        <p:tgtEl>
                                          <p:spTgt spid="3348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4851">
                                            <p:txEl>
                                              <p:pRg st="2" end="2"/>
                                            </p:txEl>
                                          </p:spTgt>
                                        </p:tgtEl>
                                        <p:attrNameLst>
                                          <p:attrName>style.visibility</p:attrName>
                                        </p:attrNameLst>
                                      </p:cBhvr>
                                      <p:to>
                                        <p:strVal val="visible"/>
                                      </p:to>
                                    </p:set>
                                    <p:animEffect transition="in" filter="wipe(left)">
                                      <p:cBhvr>
                                        <p:cTn id="12" dur="500"/>
                                        <p:tgtEl>
                                          <p:spTgt spid="334851">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34855"/>
                                        </p:tgtEl>
                                        <p:attrNameLst>
                                          <p:attrName>style.visibility</p:attrName>
                                        </p:attrNameLst>
                                      </p:cBhvr>
                                      <p:to>
                                        <p:strVal val="visible"/>
                                      </p:to>
                                    </p:set>
                                    <p:animEffect transition="in" filter="wipe(left)">
                                      <p:cBhvr>
                                        <p:cTn id="16" dur="500"/>
                                        <p:tgtEl>
                                          <p:spTgt spid="33485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4851">
                                            <p:txEl>
                                              <p:pRg st="4" end="4"/>
                                            </p:txEl>
                                          </p:spTgt>
                                        </p:tgtEl>
                                        <p:attrNameLst>
                                          <p:attrName>style.visibility</p:attrName>
                                        </p:attrNameLst>
                                      </p:cBhvr>
                                      <p:to>
                                        <p:strVal val="visible"/>
                                      </p:to>
                                    </p:set>
                                    <p:animEffect transition="in" filter="wipe(left)">
                                      <p:cBhvr>
                                        <p:cTn id="21" dur="500"/>
                                        <p:tgtEl>
                                          <p:spTgt spid="33485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4851">
                                            <p:txEl>
                                              <p:pRg st="5" end="5"/>
                                            </p:txEl>
                                          </p:spTgt>
                                        </p:tgtEl>
                                        <p:attrNameLst>
                                          <p:attrName>style.visibility</p:attrName>
                                        </p:attrNameLst>
                                      </p:cBhvr>
                                      <p:to>
                                        <p:strVal val="visible"/>
                                      </p:to>
                                    </p:set>
                                    <p:animEffect transition="in" filter="wipe(left)">
                                      <p:cBhvr>
                                        <p:cTn id="26" dur="500"/>
                                        <p:tgtEl>
                                          <p:spTgt spid="334851">
                                            <p:txEl>
                                              <p:pRg st="5" end="5"/>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334851">
                                            <p:txEl>
                                              <p:pRg st="6" end="6"/>
                                            </p:txEl>
                                          </p:spTgt>
                                        </p:tgtEl>
                                        <p:attrNameLst>
                                          <p:attrName>style.visibility</p:attrName>
                                        </p:attrNameLst>
                                      </p:cBhvr>
                                      <p:to>
                                        <p:strVal val="visible"/>
                                      </p:to>
                                    </p:set>
                                    <p:animEffect transition="in" filter="wipe(left)">
                                      <p:cBhvr>
                                        <p:cTn id="30" dur="250"/>
                                        <p:tgtEl>
                                          <p:spTgt spid="334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uiExpand="1"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3" name="日期占位符 10"/>
          <p:cNvSpPr>
            <a:spLocks noGrp="1"/>
          </p:cNvSpPr>
          <p:nvPr>
            <p:ph type="dt" sz="half" idx="10"/>
          </p:nvPr>
        </p:nvSpPr>
        <p:spPr>
          <a:noFill/>
        </p:spPr>
        <p:txBody>
          <a:bodyPr/>
          <a:lstStyle/>
          <a:p>
            <a:endParaRPr lang="en-US" altLang="zh-CN"/>
          </a:p>
        </p:txBody>
      </p:sp>
      <p:sp>
        <p:nvSpPr>
          <p:cNvPr id="13318" name="Rectangle 2"/>
          <p:cNvSpPr>
            <a:spLocks noGrp="1" noChangeArrowheads="1"/>
          </p:cNvSpPr>
          <p:nvPr>
            <p:ph type="title"/>
          </p:nvPr>
        </p:nvSpPr>
        <p:spPr>
          <a:xfrm>
            <a:off x="1917700" y="582136"/>
            <a:ext cx="7068132" cy="662782"/>
          </a:xfrm>
        </p:spPr>
        <p:txBody>
          <a:bodyPr>
            <a:normAutofit/>
          </a:bodyPr>
          <a:lstStyle/>
          <a:p>
            <a:pPr eaLnBrk="1" hangingPunct="1"/>
            <a:r>
              <a:rPr lang="en-US" altLang="zh-CN" sz="4000" dirty="0"/>
              <a:t>2. </a:t>
            </a:r>
            <a:r>
              <a:rPr lang="zh-CN" altLang="en-US" sz="4000" dirty="0"/>
              <a:t>样本回归方程（</a:t>
            </a:r>
            <a:r>
              <a:rPr lang="en-US" altLang="zh-CN" sz="4000" dirty="0"/>
              <a:t>SRF</a:t>
            </a:r>
            <a:r>
              <a:rPr lang="zh-CN" altLang="en-US" sz="4000" dirty="0"/>
              <a:t>） </a:t>
            </a:r>
          </a:p>
        </p:txBody>
      </p:sp>
      <p:sp>
        <p:nvSpPr>
          <p:cNvPr id="13319" name="Rectangle 3"/>
          <p:cNvSpPr>
            <a:spLocks noGrp="1" noChangeArrowheads="1"/>
          </p:cNvSpPr>
          <p:nvPr>
            <p:ph idx="1"/>
          </p:nvPr>
        </p:nvSpPr>
        <p:spPr>
          <a:xfrm>
            <a:off x="1244600" y="1422400"/>
            <a:ext cx="10414000" cy="4711461"/>
          </a:xfrm>
        </p:spPr>
        <p:txBody>
          <a:bodyPr/>
          <a:lstStyle/>
          <a:p>
            <a:pPr eaLnBrk="1" hangingPunct="1">
              <a:lnSpc>
                <a:spcPct val="105000"/>
              </a:lnSpc>
              <a:buFontTx/>
              <a:buNone/>
            </a:pPr>
            <a:r>
              <a:rPr lang="zh-CN" altLang="en-US" sz="2600" dirty="0">
                <a:solidFill>
                  <a:schemeClr val="tx1"/>
                </a:solidFill>
              </a:rPr>
              <a:t>实际中只能通过样本信息去估计总体回归方程的参数。</a:t>
            </a:r>
          </a:p>
          <a:p>
            <a:pPr eaLnBrk="1" hangingPunct="1">
              <a:lnSpc>
                <a:spcPct val="105000"/>
              </a:lnSpc>
              <a:buFontTx/>
              <a:buNone/>
            </a:pPr>
            <a:r>
              <a:rPr lang="zh-CN" altLang="en-US" b="1" dirty="0"/>
              <a:t>一元线性回归</a:t>
            </a:r>
            <a:r>
              <a:rPr lang="zh-CN" altLang="en-US" dirty="0"/>
              <a:t>的</a:t>
            </a:r>
            <a:r>
              <a:rPr lang="zh-CN" altLang="en-US" dirty="0">
                <a:solidFill>
                  <a:srgbClr val="CC0099"/>
                </a:solidFill>
              </a:rPr>
              <a:t>样本</a:t>
            </a:r>
            <a:r>
              <a:rPr lang="zh-CN" altLang="en-US" dirty="0"/>
              <a:t>回归方程的形式：</a:t>
            </a:r>
          </a:p>
        </p:txBody>
      </p:sp>
      <p:sp>
        <p:nvSpPr>
          <p:cNvPr id="13317" name="灯片编号占位符 5"/>
          <p:cNvSpPr>
            <a:spLocks noGrp="1"/>
          </p:cNvSpPr>
          <p:nvPr>
            <p:ph type="sldNum" sz="quarter" idx="4"/>
          </p:nvPr>
        </p:nvSpPr>
        <p:spPr>
          <a:noFill/>
        </p:spPr>
        <p:txBody>
          <a:bodyPr/>
          <a:lstStyle/>
          <a:p>
            <a:r>
              <a:rPr lang="en-US" altLang="zh-CN"/>
              <a:t>9--</a:t>
            </a:r>
            <a:fld id="{AF6840B4-2E7F-426F-AC04-032FE4A61CB7}" type="slidenum">
              <a:rPr lang="en-US" altLang="zh-CN" smtClean="0"/>
              <a:pPr/>
              <a:t>44</a:t>
            </a:fld>
            <a:endParaRPr lang="en-US" altLang="zh-CN"/>
          </a:p>
        </p:txBody>
      </p:sp>
      <p:sp>
        <p:nvSpPr>
          <p:cNvPr id="13320" name="Rectangle 9"/>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3314" name="Object 4"/>
          <p:cNvGraphicFramePr>
            <a:graphicFrameLocks noChangeAspect="1"/>
          </p:cNvGraphicFramePr>
          <p:nvPr/>
        </p:nvGraphicFramePr>
        <p:xfrm>
          <a:off x="3503712" y="2492897"/>
          <a:ext cx="5130800" cy="982663"/>
        </p:xfrm>
        <a:graphic>
          <a:graphicData uri="http://schemas.openxmlformats.org/presentationml/2006/ole">
            <mc:AlternateContent xmlns:mc="http://schemas.openxmlformats.org/markup-compatibility/2006">
              <mc:Choice xmlns:v="urn:schemas-microsoft-com:vml" Requires="v">
                <p:oleObj name="公式" r:id="rId2" imgW="1307880" imgH="253800" progId="Equation.3">
                  <p:embed/>
                </p:oleObj>
              </mc:Choice>
              <mc:Fallback>
                <p:oleObj name="公式" r:id="rId2" imgW="1307880" imgH="253800" progId="Equation.3">
                  <p:embed/>
                  <p:pic>
                    <p:nvPicPr>
                      <p:cNvPr id="1331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712" y="2492897"/>
                        <a:ext cx="5130800" cy="982663"/>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3321" name="Rectangle 13"/>
          <p:cNvSpPr>
            <a:spLocks noChangeArrowheads="1"/>
          </p:cNvSpPr>
          <p:nvPr/>
        </p:nvSpPr>
        <p:spPr bwMode="auto">
          <a:xfrm>
            <a:off x="2639616" y="4869160"/>
            <a:ext cx="7272338" cy="576262"/>
          </a:xfrm>
          <a:prstGeom prst="rect">
            <a:avLst/>
          </a:prstGeom>
          <a:noFill/>
          <a:ln w="9525">
            <a:noFill/>
            <a:miter lim="800000"/>
            <a:headEnd/>
            <a:tailEnd/>
          </a:ln>
        </p:spPr>
        <p:txBody>
          <a:bodyPr/>
          <a:lstStyle/>
          <a:p>
            <a:pPr marL="990600" lvl="1" indent="-533400">
              <a:spcBef>
                <a:spcPct val="20000"/>
              </a:spcBef>
              <a:buSzPct val="80000"/>
            </a:pPr>
            <a:r>
              <a:rPr lang="zh-CN" altLang="en-US" sz="2800" b="1" dirty="0">
                <a:solidFill>
                  <a:srgbClr val="000000"/>
                </a:solidFill>
                <a:latin typeface="Tahoma" pitchFamily="34" charset="0"/>
              </a:rPr>
              <a:t>是对 </a:t>
            </a:r>
            <a:r>
              <a:rPr lang="en-US" altLang="zh-CN" sz="2800" b="1" i="1" dirty="0">
                <a:solidFill>
                  <a:srgbClr val="000000"/>
                </a:solidFill>
                <a:latin typeface="Times New Roman" pitchFamily="18" charset="0"/>
                <a:cs typeface="Times New Roman" pitchFamily="18" charset="0"/>
              </a:rPr>
              <a:t>Y</a:t>
            </a:r>
            <a:r>
              <a:rPr lang="en-US" altLang="zh-CN" sz="2800" b="1" i="1" dirty="0">
                <a:solidFill>
                  <a:srgbClr val="000000"/>
                </a:solidFill>
                <a:latin typeface="Tahoma" pitchFamily="34" charset="0"/>
              </a:rPr>
              <a:t> </a:t>
            </a:r>
            <a:r>
              <a:rPr lang="zh-CN" altLang="en-US" sz="2800" b="1" dirty="0">
                <a:solidFill>
                  <a:srgbClr val="000000"/>
                </a:solidFill>
                <a:latin typeface="Tahoma" pitchFamily="34" charset="0"/>
              </a:rPr>
              <a:t>的估计，亦是对</a:t>
            </a:r>
            <a:r>
              <a:rPr lang="en-US" altLang="zh-CN" sz="2800" b="1" i="1" dirty="0">
                <a:solidFill>
                  <a:srgbClr val="000000"/>
                </a:solidFill>
                <a:latin typeface="Times New Roman" pitchFamily="18" charset="0"/>
                <a:cs typeface="Times New Roman" pitchFamily="18" charset="0"/>
              </a:rPr>
              <a:t>Y </a:t>
            </a:r>
            <a:r>
              <a:rPr lang="zh-CN" altLang="en-US" sz="2800" b="1" dirty="0">
                <a:solidFill>
                  <a:srgbClr val="000000"/>
                </a:solidFill>
                <a:latin typeface="Tahoma" pitchFamily="34" charset="0"/>
              </a:rPr>
              <a:t>的条件均值</a:t>
            </a:r>
            <a:endParaRPr lang="en-US" altLang="zh-CN" sz="2800" b="1" dirty="0">
              <a:solidFill>
                <a:srgbClr val="000000"/>
              </a:solidFill>
              <a:latin typeface="Tahoma" pitchFamily="34" charset="0"/>
            </a:endParaRPr>
          </a:p>
          <a:p>
            <a:pPr marL="990600" lvl="1" indent="-533400">
              <a:spcBef>
                <a:spcPct val="20000"/>
              </a:spcBef>
              <a:buSzPct val="80000"/>
            </a:pPr>
            <a:r>
              <a:rPr lang="zh-CN" altLang="en-US" sz="2800" b="1" dirty="0">
                <a:solidFill>
                  <a:srgbClr val="000000"/>
                </a:solidFill>
                <a:latin typeface="Tahoma" pitchFamily="34" charset="0"/>
              </a:rPr>
              <a:t>                                                  的估计；</a:t>
            </a:r>
          </a:p>
        </p:txBody>
      </p:sp>
      <p:graphicFrame>
        <p:nvGraphicFramePr>
          <p:cNvPr id="13315" name="Object 16"/>
          <p:cNvGraphicFramePr>
            <a:graphicFrameLocks noChangeAspect="1"/>
          </p:cNvGraphicFramePr>
          <p:nvPr/>
        </p:nvGraphicFramePr>
        <p:xfrm>
          <a:off x="2625725" y="3500438"/>
          <a:ext cx="1104900" cy="863600"/>
        </p:xfrm>
        <a:graphic>
          <a:graphicData uri="http://schemas.openxmlformats.org/presentationml/2006/ole">
            <mc:AlternateContent xmlns:mc="http://schemas.openxmlformats.org/markup-compatibility/2006">
              <mc:Choice xmlns:v="urn:schemas-microsoft-com:vml" Requires="v">
                <p:oleObj name="公式" r:id="rId4" imgW="304560" imgH="241200" progId="Equation.3">
                  <p:embed/>
                </p:oleObj>
              </mc:Choice>
              <mc:Fallback>
                <p:oleObj name="公式" r:id="rId4" imgW="304560" imgH="241200" progId="Equation.3">
                  <p:embed/>
                  <p:pic>
                    <p:nvPicPr>
                      <p:cNvPr id="13315"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5725" y="3500438"/>
                        <a:ext cx="1104900" cy="86360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3322" name="Rectangle 17"/>
          <p:cNvSpPr>
            <a:spLocks noChangeArrowheads="1"/>
          </p:cNvSpPr>
          <p:nvPr/>
        </p:nvSpPr>
        <p:spPr bwMode="auto">
          <a:xfrm>
            <a:off x="3647728" y="3645024"/>
            <a:ext cx="5976664" cy="1152128"/>
          </a:xfrm>
          <a:prstGeom prst="rect">
            <a:avLst/>
          </a:prstGeom>
          <a:noFill/>
          <a:ln w="9525">
            <a:noFill/>
            <a:miter lim="800000"/>
            <a:headEnd/>
            <a:tailEnd/>
          </a:ln>
        </p:spPr>
        <p:txBody>
          <a:bodyPr/>
          <a:lstStyle/>
          <a:p>
            <a:pPr marL="0" lvl="1" indent="84138">
              <a:spcBef>
                <a:spcPct val="20000"/>
              </a:spcBef>
              <a:buSzPct val="80000"/>
            </a:pPr>
            <a:r>
              <a:rPr lang="zh-CN" altLang="en-US" sz="2800" b="1" dirty="0">
                <a:solidFill>
                  <a:srgbClr val="000000"/>
                </a:solidFill>
                <a:latin typeface="Tahoma" pitchFamily="34" charset="0"/>
              </a:rPr>
              <a:t>是样本回归方程的截距和斜率，</a:t>
            </a:r>
            <a:endParaRPr lang="en-US" altLang="zh-CN" sz="2800" b="1" dirty="0">
              <a:solidFill>
                <a:srgbClr val="000000"/>
              </a:solidFill>
              <a:latin typeface="Tahoma" pitchFamily="34" charset="0"/>
            </a:endParaRPr>
          </a:p>
          <a:p>
            <a:pPr marL="0" lvl="1" indent="84138">
              <a:spcBef>
                <a:spcPct val="20000"/>
              </a:spcBef>
              <a:buSzPct val="80000"/>
            </a:pPr>
            <a:r>
              <a:rPr lang="zh-CN" altLang="en-US" sz="2800" b="1" dirty="0">
                <a:solidFill>
                  <a:srgbClr val="000000"/>
                </a:solidFill>
                <a:latin typeface="Tahoma" pitchFamily="34" charset="0"/>
              </a:rPr>
              <a:t>是对总体回归模型参数</a:t>
            </a:r>
            <a:r>
              <a:rPr lang="en-US" altLang="zh-CN" sz="2800" b="1" i="1" dirty="0">
                <a:solidFill>
                  <a:srgbClr val="000000"/>
                </a:solidFill>
                <a:latin typeface="Times New Roman" pitchFamily="18" charset="0"/>
                <a:cs typeface="Times New Roman" pitchFamily="18" charset="0"/>
              </a:rPr>
              <a:t>α</a:t>
            </a:r>
            <a:r>
              <a:rPr lang="zh-CN" altLang="en-US" sz="2800" b="1" dirty="0">
                <a:solidFill>
                  <a:srgbClr val="000000"/>
                </a:solidFill>
                <a:latin typeface="Times New Roman" pitchFamily="18" charset="0"/>
                <a:cs typeface="Times New Roman" pitchFamily="18" charset="0"/>
              </a:rPr>
              <a:t>和</a:t>
            </a:r>
            <a:r>
              <a:rPr lang="en-US" altLang="zh-CN" sz="2800" b="1" i="1" dirty="0">
                <a:solidFill>
                  <a:srgbClr val="000000"/>
                </a:solidFill>
                <a:latin typeface="Times New Roman" pitchFamily="18" charset="0"/>
                <a:cs typeface="Times New Roman" pitchFamily="18" charset="0"/>
              </a:rPr>
              <a:t>β</a:t>
            </a:r>
            <a:r>
              <a:rPr lang="zh-CN" altLang="en-US" sz="2800" b="1" dirty="0">
                <a:solidFill>
                  <a:srgbClr val="000000"/>
                </a:solidFill>
                <a:latin typeface="Tahoma" pitchFamily="34" charset="0"/>
              </a:rPr>
              <a:t>的估计</a:t>
            </a:r>
            <a:r>
              <a:rPr lang="en-US" altLang="zh-CN" sz="2800" b="1" dirty="0">
                <a:solidFill>
                  <a:srgbClr val="000000"/>
                </a:solidFill>
                <a:latin typeface="Tahoma" pitchFamily="34" charset="0"/>
              </a:rPr>
              <a:t> </a:t>
            </a:r>
            <a:r>
              <a:rPr lang="zh-CN" altLang="en-US" sz="2800" b="1" dirty="0">
                <a:solidFill>
                  <a:srgbClr val="000000"/>
                </a:solidFill>
                <a:latin typeface="Tahoma" pitchFamily="34" charset="0"/>
              </a:rPr>
              <a:t>；</a:t>
            </a:r>
          </a:p>
        </p:txBody>
      </p:sp>
      <p:graphicFrame>
        <p:nvGraphicFramePr>
          <p:cNvPr id="13316" name="Object 21"/>
          <p:cNvGraphicFramePr>
            <a:graphicFrameLocks noChangeAspect="1"/>
          </p:cNvGraphicFramePr>
          <p:nvPr/>
        </p:nvGraphicFramePr>
        <p:xfrm>
          <a:off x="2495600" y="4653137"/>
          <a:ext cx="647700" cy="884237"/>
        </p:xfrm>
        <a:graphic>
          <a:graphicData uri="http://schemas.openxmlformats.org/presentationml/2006/ole">
            <mc:AlternateContent xmlns:mc="http://schemas.openxmlformats.org/markup-compatibility/2006">
              <mc:Choice xmlns:v="urn:schemas-microsoft-com:vml" Requires="v">
                <p:oleObj name="公式" r:id="rId6" imgW="164880" imgH="228600" progId="Equation.3">
                  <p:embed/>
                </p:oleObj>
              </mc:Choice>
              <mc:Fallback>
                <p:oleObj name="公式" r:id="rId6" imgW="164880" imgH="228600" progId="Equation.3">
                  <p:embed/>
                  <p:pic>
                    <p:nvPicPr>
                      <p:cNvPr id="13316"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600" y="4653137"/>
                        <a:ext cx="647700" cy="884237"/>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2" name="Object 8"/>
          <p:cNvGraphicFramePr>
            <a:graphicFrameLocks noChangeAspect="1"/>
          </p:cNvGraphicFramePr>
          <p:nvPr/>
        </p:nvGraphicFramePr>
        <p:xfrm>
          <a:off x="6816081" y="5373142"/>
          <a:ext cx="1616075" cy="792162"/>
        </p:xfrm>
        <a:graphic>
          <a:graphicData uri="http://schemas.openxmlformats.org/presentationml/2006/ole">
            <mc:AlternateContent xmlns:mc="http://schemas.openxmlformats.org/markup-compatibility/2006">
              <mc:Choice xmlns:v="urn:schemas-microsoft-com:vml" Requires="v">
                <p:oleObj name="公式" r:id="rId8" imgW="533160" imgH="253800" progId="Equation.3">
                  <p:embed/>
                </p:oleObj>
              </mc:Choice>
              <mc:Fallback>
                <p:oleObj name="公式" r:id="rId8" imgW="533160" imgH="253800" progId="Equation.3">
                  <p:embed/>
                  <p:pic>
                    <p:nvPicPr>
                      <p:cNvPr id="2"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16081" y="5373142"/>
                        <a:ext cx="1616075" cy="792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04275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日期占位符 25"/>
          <p:cNvSpPr>
            <a:spLocks noGrp="1"/>
          </p:cNvSpPr>
          <p:nvPr>
            <p:ph type="dt" sz="half" idx="10"/>
          </p:nvPr>
        </p:nvSpPr>
        <p:spPr>
          <a:noFill/>
        </p:spPr>
        <p:txBody>
          <a:bodyPr/>
          <a:lstStyle/>
          <a:p>
            <a:endParaRPr lang="en-US" altLang="zh-CN"/>
          </a:p>
        </p:txBody>
      </p:sp>
      <p:sp>
        <p:nvSpPr>
          <p:cNvPr id="15367" name="Rectangle 28"/>
          <p:cNvSpPr>
            <a:spLocks noGrp="1" noChangeArrowheads="1"/>
          </p:cNvSpPr>
          <p:nvPr>
            <p:ph type="title"/>
          </p:nvPr>
        </p:nvSpPr>
        <p:spPr>
          <a:xfrm>
            <a:off x="974091" y="563959"/>
            <a:ext cx="10947400" cy="662782"/>
          </a:xfrm>
        </p:spPr>
        <p:txBody>
          <a:bodyPr vert="horz" lIns="90488" tIns="44450" rIns="90488" bIns="44450" rtlCol="0" anchor="ctr" anchorCtr="1">
            <a:normAutofit/>
          </a:bodyPr>
          <a:lstStyle/>
          <a:p>
            <a:pPr eaLnBrk="1" hangingPunct="1">
              <a:defRPr/>
            </a:pPr>
            <a:r>
              <a:rPr lang="zh-CN" altLang="en-US" sz="4000" dirty="0">
                <a:solidFill>
                  <a:schemeClr val="bg2">
                    <a:lumMod val="50000"/>
                  </a:schemeClr>
                </a:solidFill>
              </a:rPr>
              <a:t>总体回归线</a:t>
            </a:r>
            <a:r>
              <a:rPr lang="zh-CN" altLang="en-US" sz="4000" dirty="0">
                <a:solidFill>
                  <a:srgbClr val="000000"/>
                </a:solidFill>
              </a:rPr>
              <a:t>与</a:t>
            </a:r>
            <a:r>
              <a:rPr lang="zh-CN" altLang="en-US" sz="4000" dirty="0">
                <a:solidFill>
                  <a:srgbClr val="0000FF"/>
                </a:solidFill>
              </a:rPr>
              <a:t>样本回归线</a:t>
            </a:r>
            <a:r>
              <a:rPr lang="zh-CN" altLang="en-US" sz="4000" dirty="0">
                <a:solidFill>
                  <a:schemeClr val="tx2"/>
                </a:solidFill>
              </a:rPr>
              <a:t>（图示）</a:t>
            </a:r>
          </a:p>
        </p:txBody>
      </p:sp>
      <p:sp>
        <p:nvSpPr>
          <p:cNvPr id="15366" name="灯片编号占位符 3"/>
          <p:cNvSpPr>
            <a:spLocks noGrp="1"/>
          </p:cNvSpPr>
          <p:nvPr>
            <p:ph type="sldNum" sz="quarter" idx="4"/>
          </p:nvPr>
        </p:nvSpPr>
        <p:spPr>
          <a:noFill/>
        </p:spPr>
        <p:txBody>
          <a:bodyPr/>
          <a:lstStyle/>
          <a:p>
            <a:r>
              <a:rPr lang="en-US" altLang="zh-CN"/>
              <a:t>9--</a:t>
            </a:r>
            <a:fld id="{75756A8D-ADE8-480E-BA6E-F6365C000CEC}" type="slidenum">
              <a:rPr lang="en-US" altLang="zh-CN" smtClean="0"/>
              <a:pPr/>
              <a:t>45</a:t>
            </a:fld>
            <a:endParaRPr lang="en-US" altLang="zh-CN"/>
          </a:p>
        </p:txBody>
      </p:sp>
      <p:grpSp>
        <p:nvGrpSpPr>
          <p:cNvPr id="2" name="Group 39"/>
          <p:cNvGrpSpPr>
            <a:grpSpLocks/>
          </p:cNvGrpSpPr>
          <p:nvPr/>
        </p:nvGrpSpPr>
        <p:grpSpPr bwMode="auto">
          <a:xfrm>
            <a:off x="2711450" y="1739901"/>
            <a:ext cx="7812088" cy="3705225"/>
            <a:chOff x="748" y="1186"/>
            <a:chExt cx="4766" cy="2199"/>
          </a:xfrm>
        </p:grpSpPr>
        <p:sp>
          <p:nvSpPr>
            <p:cNvPr id="15386" name="Line 10"/>
            <p:cNvSpPr>
              <a:spLocks noChangeShapeType="1"/>
            </p:cNvSpPr>
            <p:nvPr/>
          </p:nvSpPr>
          <p:spPr bwMode="auto">
            <a:xfrm flipV="1">
              <a:off x="748" y="1570"/>
              <a:ext cx="3765" cy="1815"/>
            </a:xfrm>
            <a:prstGeom prst="line">
              <a:avLst/>
            </a:prstGeom>
            <a:noFill/>
            <a:ln w="57150">
              <a:solidFill>
                <a:srgbClr val="0000FF"/>
              </a:solidFill>
              <a:round/>
              <a:headEnd/>
              <a:tailEnd/>
            </a:ln>
          </p:spPr>
          <p:txBody>
            <a:bodyPr/>
            <a:lstStyle/>
            <a:p>
              <a:endParaRPr lang="zh-CN" altLang="en-US"/>
            </a:p>
          </p:txBody>
        </p:sp>
        <p:graphicFrame>
          <p:nvGraphicFramePr>
            <p:cNvPr id="15365" name="Object 27"/>
            <p:cNvGraphicFramePr>
              <a:graphicFrameLocks noChangeAspect="1"/>
            </p:cNvGraphicFramePr>
            <p:nvPr/>
          </p:nvGraphicFramePr>
          <p:xfrm>
            <a:off x="4283" y="1186"/>
            <a:ext cx="1231" cy="421"/>
          </p:xfrm>
          <a:graphic>
            <a:graphicData uri="http://schemas.openxmlformats.org/presentationml/2006/ole">
              <mc:AlternateContent xmlns:mc="http://schemas.openxmlformats.org/markup-compatibility/2006">
                <mc:Choice xmlns:v="urn:schemas-microsoft-com:vml" Requires="v">
                  <p:oleObj name="Equation" r:id="rId2" imgW="711000" imgH="228600" progId="Equation.DSMT4">
                    <p:embed/>
                  </p:oleObj>
                </mc:Choice>
                <mc:Fallback>
                  <p:oleObj name="Equation" r:id="rId2" imgW="711000" imgH="228600" progId="Equation.DSMT4">
                    <p:embed/>
                    <p:pic>
                      <p:nvPicPr>
                        <p:cNvPr id="15365"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 y="1186"/>
                          <a:ext cx="1231"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pSp>
      <p:grpSp>
        <p:nvGrpSpPr>
          <p:cNvPr id="3" name="Group 42"/>
          <p:cNvGrpSpPr>
            <a:grpSpLocks/>
          </p:cNvGrpSpPr>
          <p:nvPr/>
        </p:nvGrpSpPr>
        <p:grpSpPr bwMode="auto">
          <a:xfrm>
            <a:off x="2063750" y="1484313"/>
            <a:ext cx="8604250" cy="4756150"/>
            <a:chOff x="340" y="1025"/>
            <a:chExt cx="5420" cy="2996"/>
          </a:xfrm>
        </p:grpSpPr>
        <p:grpSp>
          <p:nvGrpSpPr>
            <p:cNvPr id="15373" name="Group 6"/>
            <p:cNvGrpSpPr>
              <a:grpSpLocks/>
            </p:cNvGrpSpPr>
            <p:nvPr/>
          </p:nvGrpSpPr>
          <p:grpSpPr bwMode="auto">
            <a:xfrm>
              <a:off x="703" y="1116"/>
              <a:ext cx="4176" cy="2627"/>
              <a:chOff x="672" y="1248"/>
              <a:chExt cx="4176" cy="2400"/>
            </a:xfrm>
          </p:grpSpPr>
          <p:sp>
            <p:nvSpPr>
              <p:cNvPr id="96263" name="Line 7"/>
              <p:cNvSpPr>
                <a:spLocks noChangeShapeType="1"/>
              </p:cNvSpPr>
              <p:nvPr/>
            </p:nvSpPr>
            <p:spPr bwMode="auto">
              <a:xfrm>
                <a:off x="672" y="1248"/>
                <a:ext cx="0" cy="2400"/>
              </a:xfrm>
              <a:prstGeom prst="line">
                <a:avLst/>
              </a:prstGeom>
              <a:noFill/>
              <a:ln w="38100">
                <a:solidFill>
                  <a:schemeClr val="tx1"/>
                </a:solidFill>
                <a:round/>
                <a:headEnd type="triangle" w="med" len="med"/>
                <a:tailEnd/>
              </a:ln>
              <a:effectLst>
                <a:outerShdw dist="35921" dir="2700000" algn="ctr" rotWithShape="0">
                  <a:schemeClr val="bg2"/>
                </a:outerShdw>
              </a:effectLst>
            </p:spPr>
            <p:txBody>
              <a:bodyPr/>
              <a:lstStyle/>
              <a:p>
                <a:pPr>
                  <a:defRPr/>
                </a:pPr>
                <a:endParaRPr lang="zh-CN" altLang="en-US"/>
              </a:p>
            </p:txBody>
          </p:sp>
          <p:sp>
            <p:nvSpPr>
              <p:cNvPr id="96264" name="Line 8"/>
              <p:cNvSpPr>
                <a:spLocks noChangeShapeType="1"/>
              </p:cNvSpPr>
              <p:nvPr/>
            </p:nvSpPr>
            <p:spPr bwMode="auto">
              <a:xfrm>
                <a:off x="672" y="3648"/>
                <a:ext cx="4176"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sp>
          <p:nvSpPr>
            <p:cNvPr id="15374" name="Text Box 9"/>
            <p:cNvSpPr txBox="1">
              <a:spLocks noChangeArrowheads="1"/>
            </p:cNvSpPr>
            <p:nvPr/>
          </p:nvSpPr>
          <p:spPr bwMode="auto">
            <a:xfrm>
              <a:off x="4831" y="3683"/>
              <a:ext cx="288" cy="327"/>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i="1">
                  <a:solidFill>
                    <a:srgbClr val="000000"/>
                  </a:solidFill>
                  <a:latin typeface="Times New Roman" pitchFamily="18" charset="0"/>
                </a:rPr>
                <a:t>Ｘ</a:t>
              </a:r>
            </a:p>
          </p:txBody>
        </p:sp>
        <p:sp>
          <p:nvSpPr>
            <p:cNvPr id="96275" name="Text Box 19"/>
            <p:cNvSpPr txBox="1">
              <a:spLocks noChangeArrowheads="1"/>
            </p:cNvSpPr>
            <p:nvPr/>
          </p:nvSpPr>
          <p:spPr bwMode="auto">
            <a:xfrm>
              <a:off x="3288" y="1524"/>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15376" name="Text Box 21"/>
            <p:cNvSpPr txBox="1">
              <a:spLocks noChangeArrowheads="1"/>
            </p:cNvSpPr>
            <p:nvPr/>
          </p:nvSpPr>
          <p:spPr bwMode="auto">
            <a:xfrm>
              <a:off x="3038" y="1297"/>
              <a:ext cx="861" cy="330"/>
            </a:xfrm>
            <a:prstGeom prst="rect">
              <a:avLst/>
            </a:prstGeom>
            <a:noFill/>
            <a:ln w="12700">
              <a:noFill/>
              <a:miter lim="800000"/>
              <a:headEnd/>
              <a:tailEnd/>
            </a:ln>
          </p:spPr>
          <p:txBody>
            <a:bodyPr wrap="square">
              <a:spAutoFit/>
            </a:bodyPr>
            <a:lstStyle/>
            <a:p>
              <a:pPr algn="ctr" eaLnBrk="0" hangingPunct="0">
                <a:spcBef>
                  <a:spcPct val="50000"/>
                </a:spcBef>
              </a:pPr>
              <a:r>
                <a:rPr kumimoji="1" lang="en-US" altLang="zh-CN" sz="2800" b="1" dirty="0">
                  <a:solidFill>
                    <a:srgbClr val="000000"/>
                  </a:solidFill>
                  <a:latin typeface="Times New Roman" pitchFamily="18" charset="0"/>
                </a:rPr>
                <a:t>(</a:t>
              </a:r>
              <a:r>
                <a:rPr kumimoji="1" lang="en-US" altLang="zh-CN" sz="2800" b="1" i="1" dirty="0">
                  <a:solidFill>
                    <a:srgbClr val="000000"/>
                  </a:solidFill>
                  <a:latin typeface="Times New Roman" pitchFamily="18" charset="0"/>
                </a:rPr>
                <a:t>x</a:t>
              </a:r>
              <a:r>
                <a:rPr kumimoji="1" lang="en-US" altLang="zh-CN" sz="2800" b="1" i="1" baseline="-25000" dirty="0">
                  <a:solidFill>
                    <a:srgbClr val="000000"/>
                  </a:solidFill>
                  <a:latin typeface="Times New Roman" pitchFamily="18" charset="0"/>
                </a:rPr>
                <a:t>i</a:t>
              </a:r>
              <a:r>
                <a:rPr kumimoji="1" lang="en-US" altLang="zh-CN" sz="2800" b="1" i="1" dirty="0">
                  <a:solidFill>
                    <a:srgbClr val="000000"/>
                  </a:solidFill>
                  <a:latin typeface="Times New Roman" pitchFamily="18" charset="0"/>
                </a:rPr>
                <a:t> , </a:t>
              </a:r>
              <a:r>
                <a:rPr kumimoji="1" lang="en-US" altLang="zh-CN" sz="2800" b="1" i="1" dirty="0" err="1">
                  <a:solidFill>
                    <a:srgbClr val="000000"/>
                  </a:solidFill>
                  <a:latin typeface="Times New Roman" pitchFamily="18" charset="0"/>
                </a:rPr>
                <a:t>y</a:t>
              </a:r>
              <a:r>
                <a:rPr kumimoji="1" lang="en-US" altLang="zh-CN" sz="2800" b="1" i="1" baseline="-25000" dirty="0" err="1">
                  <a:solidFill>
                    <a:srgbClr val="000000"/>
                  </a:solidFill>
                  <a:latin typeface="Times New Roman" pitchFamily="18" charset="0"/>
                </a:rPr>
                <a:t>i</a:t>
              </a:r>
              <a:r>
                <a:rPr kumimoji="1" lang="en-US" altLang="zh-CN" sz="2800" b="1" dirty="0">
                  <a:solidFill>
                    <a:srgbClr val="000000"/>
                  </a:solidFill>
                  <a:latin typeface="Times New Roman" pitchFamily="18" charset="0"/>
                </a:rPr>
                <a:t> )</a:t>
              </a:r>
            </a:p>
          </p:txBody>
        </p:sp>
        <p:sp>
          <p:nvSpPr>
            <p:cNvPr id="15377" name="Text Box 27"/>
            <p:cNvSpPr txBox="1">
              <a:spLocks noChangeArrowheads="1"/>
            </p:cNvSpPr>
            <p:nvPr/>
          </p:nvSpPr>
          <p:spPr bwMode="auto">
            <a:xfrm>
              <a:off x="385" y="1025"/>
              <a:ext cx="288" cy="327"/>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i="1">
                  <a:solidFill>
                    <a:srgbClr val="000000"/>
                  </a:solidFill>
                  <a:latin typeface="Times New Roman" pitchFamily="18" charset="0"/>
                </a:rPr>
                <a:t>Ｙ</a:t>
              </a:r>
            </a:p>
          </p:txBody>
        </p:sp>
        <p:sp>
          <p:nvSpPr>
            <p:cNvPr id="15378" name="Text Box 21"/>
            <p:cNvSpPr txBox="1">
              <a:spLocks noChangeArrowheads="1"/>
            </p:cNvSpPr>
            <p:nvPr/>
          </p:nvSpPr>
          <p:spPr bwMode="auto">
            <a:xfrm>
              <a:off x="3152" y="3656"/>
              <a:ext cx="498" cy="365"/>
            </a:xfrm>
            <a:prstGeom prst="rect">
              <a:avLst/>
            </a:prstGeom>
            <a:noFill/>
            <a:ln w="12700">
              <a:noFill/>
              <a:miter lim="800000"/>
              <a:headEnd/>
              <a:tailEnd/>
            </a:ln>
          </p:spPr>
          <p:txBody>
            <a:bodyPr>
              <a:spAutoFit/>
            </a:bodyPr>
            <a:lstStyle/>
            <a:p>
              <a:pPr algn="ctr" eaLnBrk="0" hangingPunct="0">
                <a:spcBef>
                  <a:spcPct val="50000"/>
                </a:spcBef>
              </a:pPr>
              <a:r>
                <a:rPr kumimoji="1" lang="en-US" altLang="zh-CN" sz="3200" b="1" i="1" dirty="0">
                  <a:solidFill>
                    <a:srgbClr val="000000"/>
                  </a:solidFill>
                  <a:latin typeface="Times New Roman" pitchFamily="18" charset="0"/>
                </a:rPr>
                <a:t>x</a:t>
              </a:r>
              <a:r>
                <a:rPr kumimoji="1" lang="en-US" altLang="zh-CN" sz="3200" b="1" i="1" baseline="-25000" dirty="0">
                  <a:solidFill>
                    <a:srgbClr val="000000"/>
                  </a:solidFill>
                  <a:latin typeface="Times New Roman" pitchFamily="18" charset="0"/>
                </a:rPr>
                <a:t>i</a:t>
              </a:r>
            </a:p>
          </p:txBody>
        </p:sp>
        <p:sp>
          <p:nvSpPr>
            <p:cNvPr id="15379" name="Text Box 21"/>
            <p:cNvSpPr txBox="1">
              <a:spLocks noChangeArrowheads="1"/>
            </p:cNvSpPr>
            <p:nvPr/>
          </p:nvSpPr>
          <p:spPr bwMode="auto">
            <a:xfrm>
              <a:off x="340" y="1388"/>
              <a:ext cx="431" cy="365"/>
            </a:xfrm>
            <a:prstGeom prst="rect">
              <a:avLst/>
            </a:prstGeom>
            <a:noFill/>
            <a:ln w="12700">
              <a:noFill/>
              <a:miter lim="800000"/>
              <a:headEnd/>
              <a:tailEnd/>
            </a:ln>
          </p:spPr>
          <p:txBody>
            <a:bodyPr>
              <a:spAutoFit/>
            </a:bodyPr>
            <a:lstStyle/>
            <a:p>
              <a:pPr algn="ctr" eaLnBrk="0" hangingPunct="0">
                <a:spcBef>
                  <a:spcPct val="50000"/>
                </a:spcBef>
              </a:pPr>
              <a:r>
                <a:rPr kumimoji="1" lang="en-US" altLang="zh-CN" sz="3200" b="1" i="1" dirty="0" err="1">
                  <a:solidFill>
                    <a:srgbClr val="000000"/>
                  </a:solidFill>
                  <a:latin typeface="Times New Roman" pitchFamily="18" charset="0"/>
                </a:rPr>
                <a:t>y</a:t>
              </a:r>
              <a:r>
                <a:rPr kumimoji="1" lang="en-US" altLang="zh-CN" sz="3200" b="1" i="1" baseline="-25000" dirty="0" err="1">
                  <a:solidFill>
                    <a:srgbClr val="000000"/>
                  </a:solidFill>
                  <a:latin typeface="Times New Roman" pitchFamily="18" charset="0"/>
                </a:rPr>
                <a:t>i</a:t>
              </a:r>
              <a:endParaRPr kumimoji="1" lang="en-US" altLang="zh-CN" sz="3200" b="1" i="1" baseline="-25000" dirty="0">
                <a:solidFill>
                  <a:srgbClr val="000000"/>
                </a:solidFill>
                <a:latin typeface="Times New Roman" pitchFamily="18" charset="0"/>
              </a:endParaRPr>
            </a:p>
          </p:txBody>
        </p:sp>
        <p:sp>
          <p:nvSpPr>
            <p:cNvPr id="15380" name="Line 10"/>
            <p:cNvSpPr>
              <a:spLocks noChangeShapeType="1"/>
            </p:cNvSpPr>
            <p:nvPr/>
          </p:nvSpPr>
          <p:spPr bwMode="auto">
            <a:xfrm flipV="1">
              <a:off x="703" y="2114"/>
              <a:ext cx="4246" cy="1089"/>
            </a:xfrm>
            <a:prstGeom prst="line">
              <a:avLst/>
            </a:prstGeom>
            <a:noFill/>
            <a:ln w="57150">
              <a:solidFill>
                <a:schemeClr val="bg2"/>
              </a:solidFill>
              <a:round/>
              <a:headEnd/>
              <a:tailEnd/>
            </a:ln>
          </p:spPr>
          <p:txBody>
            <a:bodyPr/>
            <a:lstStyle/>
            <a:p>
              <a:endParaRPr lang="zh-CN" altLang="en-US"/>
            </a:p>
          </p:txBody>
        </p:sp>
        <p:sp>
          <p:nvSpPr>
            <p:cNvPr id="15381" name="Line 20"/>
            <p:cNvSpPr>
              <a:spLocks noChangeShapeType="1"/>
            </p:cNvSpPr>
            <p:nvPr/>
          </p:nvSpPr>
          <p:spPr bwMode="auto">
            <a:xfrm flipH="1">
              <a:off x="3379" y="1706"/>
              <a:ext cx="45" cy="2041"/>
            </a:xfrm>
            <a:prstGeom prst="line">
              <a:avLst/>
            </a:prstGeom>
            <a:noFill/>
            <a:ln w="28575" cap="rnd">
              <a:solidFill>
                <a:schemeClr val="tx2"/>
              </a:solidFill>
              <a:prstDash val="sysDot"/>
              <a:round/>
              <a:headEnd/>
              <a:tailEnd/>
            </a:ln>
          </p:spPr>
          <p:txBody>
            <a:bodyPr/>
            <a:lstStyle/>
            <a:p>
              <a:endParaRPr lang="zh-CN" altLang="en-US"/>
            </a:p>
          </p:txBody>
        </p:sp>
        <p:sp>
          <p:nvSpPr>
            <p:cNvPr id="15382" name="Line 20"/>
            <p:cNvSpPr>
              <a:spLocks noChangeShapeType="1"/>
            </p:cNvSpPr>
            <p:nvPr/>
          </p:nvSpPr>
          <p:spPr bwMode="auto">
            <a:xfrm flipH="1">
              <a:off x="703" y="1660"/>
              <a:ext cx="2721" cy="46"/>
            </a:xfrm>
            <a:prstGeom prst="line">
              <a:avLst/>
            </a:prstGeom>
            <a:noFill/>
            <a:ln w="28575" cap="rnd">
              <a:solidFill>
                <a:schemeClr val="tx2"/>
              </a:solidFill>
              <a:prstDash val="sysDot"/>
              <a:round/>
              <a:headEnd/>
              <a:tailEnd/>
            </a:ln>
          </p:spPr>
          <p:txBody>
            <a:bodyPr/>
            <a:lstStyle/>
            <a:p>
              <a:endParaRPr lang="zh-CN" altLang="en-US"/>
            </a:p>
          </p:txBody>
        </p:sp>
        <p:sp>
          <p:nvSpPr>
            <p:cNvPr id="15383" name="AutoShape 25"/>
            <p:cNvSpPr>
              <a:spLocks/>
            </p:cNvSpPr>
            <p:nvPr/>
          </p:nvSpPr>
          <p:spPr bwMode="auto">
            <a:xfrm flipH="1">
              <a:off x="2971" y="1706"/>
              <a:ext cx="409" cy="771"/>
            </a:xfrm>
            <a:prstGeom prst="rightBrace">
              <a:avLst>
                <a:gd name="adj1" fmla="val 15709"/>
                <a:gd name="adj2" fmla="val 50000"/>
              </a:avLst>
            </a:prstGeom>
            <a:noFill/>
            <a:ln w="38100">
              <a:solidFill>
                <a:schemeClr val="tx1"/>
              </a:solidFill>
              <a:round/>
              <a:headEnd/>
              <a:tailEnd/>
            </a:ln>
          </p:spPr>
          <p:txBody>
            <a:bodyPr wrap="none" anchor="ctr"/>
            <a:lstStyle/>
            <a:p>
              <a:endParaRPr kumimoji="1" lang="zh-CN" altLang="zh-CN">
                <a:latin typeface="Tahoma" pitchFamily="34" charset="0"/>
              </a:endParaRPr>
            </a:p>
          </p:txBody>
        </p:sp>
        <p:graphicFrame>
          <p:nvGraphicFramePr>
            <p:cNvPr id="15363" name="Object 29"/>
            <p:cNvGraphicFramePr>
              <a:graphicFrameLocks noChangeAspect="1"/>
            </p:cNvGraphicFramePr>
            <p:nvPr/>
          </p:nvGraphicFramePr>
          <p:xfrm>
            <a:off x="3742" y="2296"/>
            <a:ext cx="2018" cy="463"/>
          </p:xfrm>
          <a:graphic>
            <a:graphicData uri="http://schemas.openxmlformats.org/presentationml/2006/ole">
              <mc:AlternateContent xmlns:mc="http://schemas.openxmlformats.org/markup-compatibility/2006">
                <mc:Choice xmlns:v="urn:schemas-microsoft-com:vml" Requires="v">
                  <p:oleObj r:id="rId4" imgW="1244600" imgH="254000" progId="Equation.DSMT4">
                    <p:embed/>
                  </p:oleObj>
                </mc:Choice>
                <mc:Fallback>
                  <p:oleObj r:id="rId4" imgW="1244600" imgH="254000" progId="Equation.DSMT4">
                    <p:embed/>
                    <p:pic>
                      <p:nvPicPr>
                        <p:cNvPr id="15363"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2" y="2296"/>
                          <a:ext cx="2018"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333FF"/>
                              </a:solidFill>
                              <a:miter lim="800000"/>
                              <a:headEnd/>
                              <a:tailEnd/>
                            </a14:hiddenLine>
                          </a:ext>
                        </a:extLst>
                      </p:spPr>
                    </p:pic>
                  </p:oleObj>
                </mc:Fallback>
              </mc:AlternateContent>
            </a:graphicData>
          </a:graphic>
        </p:graphicFrame>
        <p:graphicFrame>
          <p:nvGraphicFramePr>
            <p:cNvPr id="15364" name="Object 36"/>
            <p:cNvGraphicFramePr>
              <a:graphicFrameLocks noChangeAspect="1"/>
            </p:cNvGraphicFramePr>
            <p:nvPr/>
          </p:nvGraphicFramePr>
          <p:xfrm>
            <a:off x="1429" y="1979"/>
            <a:ext cx="1633" cy="490"/>
          </p:xfrm>
          <a:graphic>
            <a:graphicData uri="http://schemas.openxmlformats.org/presentationml/2006/ole">
              <mc:AlternateContent xmlns:mc="http://schemas.openxmlformats.org/markup-compatibility/2006">
                <mc:Choice xmlns:v="urn:schemas-microsoft-com:vml" Requires="v">
                  <p:oleObj name="公式" r:id="rId6" imgW="1117440" imgH="228600" progId="Equation.3">
                    <p:embed/>
                  </p:oleObj>
                </mc:Choice>
                <mc:Fallback>
                  <p:oleObj name="公式" r:id="rId6" imgW="1117440" imgH="228600" progId="Equation.3">
                    <p:embed/>
                    <p:pic>
                      <p:nvPicPr>
                        <p:cNvPr id="15364"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9" y="1979"/>
                          <a:ext cx="1633" cy="4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43"/>
          <p:cNvGrpSpPr>
            <a:grpSpLocks/>
          </p:cNvGrpSpPr>
          <p:nvPr/>
        </p:nvGrpSpPr>
        <p:grpSpPr bwMode="auto">
          <a:xfrm>
            <a:off x="6959601" y="2435226"/>
            <a:ext cx="1814513" cy="849313"/>
            <a:chOff x="3424" y="1534"/>
            <a:chExt cx="1143" cy="535"/>
          </a:xfrm>
        </p:grpSpPr>
        <p:graphicFrame>
          <p:nvGraphicFramePr>
            <p:cNvPr id="15362" name="Object 24"/>
            <p:cNvGraphicFramePr>
              <a:graphicFrameLocks noChangeAspect="1"/>
            </p:cNvGraphicFramePr>
            <p:nvPr/>
          </p:nvGraphicFramePr>
          <p:xfrm>
            <a:off x="3606" y="1534"/>
            <a:ext cx="961" cy="490"/>
          </p:xfrm>
          <a:graphic>
            <a:graphicData uri="http://schemas.openxmlformats.org/presentationml/2006/ole">
              <mc:AlternateContent xmlns:mc="http://schemas.openxmlformats.org/markup-compatibility/2006">
                <mc:Choice xmlns:v="urn:schemas-microsoft-com:vml" Requires="v">
                  <p:oleObj name="公式" r:id="rId8" imgW="685800" imgH="228600" progId="Equation.3">
                    <p:embed/>
                  </p:oleObj>
                </mc:Choice>
                <mc:Fallback>
                  <p:oleObj name="公式" r:id="rId8" imgW="685800" imgH="228600" progId="Equation.3">
                    <p:embed/>
                    <p:pic>
                      <p:nvPicPr>
                        <p:cNvPr id="15362"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6" y="1534"/>
                          <a:ext cx="961" cy="4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2" name="AutoShape 25"/>
            <p:cNvSpPr>
              <a:spLocks/>
            </p:cNvSpPr>
            <p:nvPr/>
          </p:nvSpPr>
          <p:spPr bwMode="auto">
            <a:xfrm>
              <a:off x="3424" y="1570"/>
              <a:ext cx="181" cy="499"/>
            </a:xfrm>
            <a:prstGeom prst="rightBrace">
              <a:avLst>
                <a:gd name="adj1" fmla="val 22974"/>
                <a:gd name="adj2" fmla="val 50000"/>
              </a:avLst>
            </a:prstGeom>
            <a:noFill/>
            <a:ln w="38100">
              <a:solidFill>
                <a:srgbClr val="CC0099"/>
              </a:solidFill>
              <a:round/>
              <a:headEnd/>
              <a:tailEnd/>
            </a:ln>
          </p:spPr>
          <p:txBody>
            <a:bodyPr wrap="none" anchor="ctr"/>
            <a:lstStyle/>
            <a:p>
              <a:endParaRPr kumimoji="1" lang="zh-CN" altLang="zh-CN">
                <a:latin typeface="Tahoma" pitchFamily="34" charset="0"/>
              </a:endParaRPr>
            </a:p>
          </p:txBody>
        </p:sp>
      </p:grpSp>
    </p:spTree>
    <p:extLst>
      <p:ext uri="{BB962C8B-B14F-4D97-AF65-F5344CB8AC3E}">
        <p14:creationId xmlns:p14="http://schemas.microsoft.com/office/powerpoint/2010/main" val="319775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灯片编号占位符 6"/>
          <p:cNvSpPr>
            <a:spLocks noGrp="1"/>
          </p:cNvSpPr>
          <p:nvPr>
            <p:ph type="sldNum" sz="quarter" idx="10"/>
          </p:nvPr>
        </p:nvSpPr>
        <p:spPr>
          <a:noFill/>
        </p:spPr>
        <p:txBody>
          <a:bodyPr/>
          <a:lstStyle/>
          <a:p>
            <a:r>
              <a:rPr lang="en-US" altLang="zh-CN"/>
              <a:t>9--</a:t>
            </a:r>
            <a:fld id="{50F14391-C75F-4E1A-8A1B-C12838403832}" type="slidenum">
              <a:rPr lang="en-US" altLang="zh-CN" smtClean="0"/>
              <a:pPr/>
              <a:t>46</a:t>
            </a:fld>
            <a:endParaRPr lang="en-US" altLang="zh-CN"/>
          </a:p>
        </p:txBody>
      </p:sp>
      <p:sp>
        <p:nvSpPr>
          <p:cNvPr id="16389" name="Rectangle 2"/>
          <p:cNvSpPr>
            <a:spLocks noGrp="1" noChangeArrowheads="1"/>
          </p:cNvSpPr>
          <p:nvPr>
            <p:ph type="title" idx="4294967295"/>
          </p:nvPr>
        </p:nvSpPr>
        <p:spPr>
          <a:xfrm>
            <a:off x="1966914" y="314326"/>
            <a:ext cx="7772400" cy="990600"/>
          </a:xfrm>
          <a:noFill/>
        </p:spPr>
        <p:txBody>
          <a:bodyPr vert="horz" lIns="90488" tIns="44450" rIns="90488" bIns="44450" rtlCol="0" anchor="ctr" anchorCtr="1">
            <a:normAutofit/>
          </a:bodyPr>
          <a:lstStyle/>
          <a:p>
            <a:pPr eaLnBrk="1" hangingPunct="1"/>
            <a:r>
              <a:rPr lang="zh-CN" altLang="en-US" sz="4000" b="1" dirty="0">
                <a:effectLst/>
              </a:rPr>
              <a:t>观察点与样本回归线（图示）</a:t>
            </a:r>
          </a:p>
        </p:txBody>
      </p:sp>
      <p:sp>
        <p:nvSpPr>
          <p:cNvPr id="16390" name="Rectangle 42"/>
          <p:cNvSpPr>
            <a:spLocks noChangeArrowheads="1"/>
          </p:cNvSpPr>
          <p:nvPr/>
        </p:nvSpPr>
        <p:spPr bwMode="auto">
          <a:xfrm>
            <a:off x="2063751" y="5553077"/>
            <a:ext cx="8218487" cy="549275"/>
          </a:xfrm>
          <a:prstGeom prst="rect">
            <a:avLst/>
          </a:prstGeom>
          <a:noFill/>
          <a:ln w="12700">
            <a:noFill/>
            <a:miter lim="800000"/>
            <a:headEnd/>
            <a:tailEnd/>
          </a:ln>
        </p:spPr>
        <p:txBody>
          <a:bodyPr wrap="none">
            <a:spAutoFit/>
          </a:bodyPr>
          <a:lstStyle/>
          <a:p>
            <a:pPr algn="ctr" eaLnBrk="0" hangingPunct="0"/>
            <a:r>
              <a:rPr kumimoji="1" lang="zh-CN" altLang="en-US" sz="3000" b="1" dirty="0">
                <a:solidFill>
                  <a:srgbClr val="00B0F0"/>
                </a:solidFill>
                <a:latin typeface="Times New Roman" pitchFamily="18" charset="0"/>
              </a:rPr>
              <a:t>理想的回归线应该尽可能接近各个实际观察点。</a:t>
            </a:r>
          </a:p>
        </p:txBody>
      </p:sp>
      <p:grpSp>
        <p:nvGrpSpPr>
          <p:cNvPr id="16391" name="Group 64"/>
          <p:cNvGrpSpPr>
            <a:grpSpLocks/>
          </p:cNvGrpSpPr>
          <p:nvPr/>
        </p:nvGrpSpPr>
        <p:grpSpPr bwMode="auto">
          <a:xfrm>
            <a:off x="1524001" y="1412876"/>
            <a:ext cx="8126413" cy="4162425"/>
            <a:chOff x="0" y="890"/>
            <a:chExt cx="5119" cy="2622"/>
          </a:xfrm>
        </p:grpSpPr>
        <p:grpSp>
          <p:nvGrpSpPr>
            <p:cNvPr id="16400" name="Group 4"/>
            <p:cNvGrpSpPr>
              <a:grpSpLocks/>
            </p:cNvGrpSpPr>
            <p:nvPr/>
          </p:nvGrpSpPr>
          <p:grpSpPr bwMode="auto">
            <a:xfrm>
              <a:off x="703" y="929"/>
              <a:ext cx="4176" cy="2400"/>
              <a:chOff x="672" y="1248"/>
              <a:chExt cx="4176" cy="2400"/>
            </a:xfrm>
          </p:grpSpPr>
          <p:sp>
            <p:nvSpPr>
              <p:cNvPr id="54277" name="Line 5"/>
              <p:cNvSpPr>
                <a:spLocks noChangeShapeType="1"/>
              </p:cNvSpPr>
              <p:nvPr/>
            </p:nvSpPr>
            <p:spPr bwMode="auto">
              <a:xfrm>
                <a:off x="672" y="1248"/>
                <a:ext cx="0" cy="2400"/>
              </a:xfrm>
              <a:prstGeom prst="line">
                <a:avLst/>
              </a:prstGeom>
              <a:noFill/>
              <a:ln w="28575">
                <a:solidFill>
                  <a:schemeClr val="tx1"/>
                </a:solidFill>
                <a:round/>
                <a:headEnd type="triangle" w="med" len="med"/>
                <a:tailEnd/>
              </a:ln>
              <a:effectLst>
                <a:outerShdw dist="35921" dir="2700000" algn="ctr" rotWithShape="0">
                  <a:schemeClr val="bg2"/>
                </a:outerShdw>
              </a:effectLst>
            </p:spPr>
            <p:txBody>
              <a:bodyPr/>
              <a:lstStyle/>
              <a:p>
                <a:pPr>
                  <a:defRPr/>
                </a:pPr>
                <a:endParaRPr lang="zh-CN" altLang="en-US"/>
              </a:p>
            </p:txBody>
          </p:sp>
          <p:sp>
            <p:nvSpPr>
              <p:cNvPr id="54278" name="Line 6"/>
              <p:cNvSpPr>
                <a:spLocks noChangeShapeType="1"/>
              </p:cNvSpPr>
              <p:nvPr/>
            </p:nvSpPr>
            <p:spPr bwMode="auto">
              <a:xfrm>
                <a:off x="672" y="3648"/>
                <a:ext cx="4176" cy="0"/>
              </a:xfrm>
              <a:prstGeom prst="line">
                <a:avLst/>
              </a:prstGeom>
              <a:noFill/>
              <a:ln w="28575">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sp>
          <p:nvSpPr>
            <p:cNvPr id="16401" name="Text Box 7"/>
            <p:cNvSpPr txBox="1">
              <a:spLocks noChangeArrowheads="1"/>
            </p:cNvSpPr>
            <p:nvPr/>
          </p:nvSpPr>
          <p:spPr bwMode="auto">
            <a:xfrm>
              <a:off x="4831" y="3185"/>
              <a:ext cx="288" cy="327"/>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i="1">
                  <a:solidFill>
                    <a:srgbClr val="000000"/>
                  </a:solidFill>
                  <a:latin typeface="Times New Roman" pitchFamily="18" charset="0"/>
                </a:rPr>
                <a:t>Ｘ</a:t>
              </a:r>
            </a:p>
          </p:txBody>
        </p:sp>
        <p:sp>
          <p:nvSpPr>
            <p:cNvPr id="54282" name="Text Box 10"/>
            <p:cNvSpPr txBox="1">
              <a:spLocks noChangeArrowheads="1"/>
            </p:cNvSpPr>
            <p:nvPr/>
          </p:nvSpPr>
          <p:spPr bwMode="auto">
            <a:xfrm>
              <a:off x="913" y="2820"/>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3" name="Text Box 11"/>
            <p:cNvSpPr txBox="1">
              <a:spLocks noChangeArrowheads="1"/>
            </p:cNvSpPr>
            <p:nvPr/>
          </p:nvSpPr>
          <p:spPr bwMode="auto">
            <a:xfrm>
              <a:off x="1820" y="2639"/>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4" name="Text Box 12"/>
            <p:cNvSpPr txBox="1">
              <a:spLocks noChangeArrowheads="1"/>
            </p:cNvSpPr>
            <p:nvPr/>
          </p:nvSpPr>
          <p:spPr bwMode="auto">
            <a:xfrm>
              <a:off x="1094" y="2276"/>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5" name="Text Box 13"/>
            <p:cNvSpPr txBox="1">
              <a:spLocks noChangeArrowheads="1"/>
            </p:cNvSpPr>
            <p:nvPr/>
          </p:nvSpPr>
          <p:spPr bwMode="auto">
            <a:xfrm>
              <a:off x="2047" y="1793"/>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6" name="Text Box 14"/>
            <p:cNvSpPr txBox="1">
              <a:spLocks noChangeArrowheads="1"/>
            </p:cNvSpPr>
            <p:nvPr/>
          </p:nvSpPr>
          <p:spPr bwMode="auto">
            <a:xfrm>
              <a:off x="2727" y="2094"/>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7" name="Text Box 15"/>
            <p:cNvSpPr txBox="1">
              <a:spLocks noChangeArrowheads="1"/>
            </p:cNvSpPr>
            <p:nvPr/>
          </p:nvSpPr>
          <p:spPr bwMode="auto">
            <a:xfrm>
              <a:off x="2183" y="2094"/>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8" name="Text Box 16"/>
            <p:cNvSpPr txBox="1">
              <a:spLocks noChangeArrowheads="1"/>
            </p:cNvSpPr>
            <p:nvPr/>
          </p:nvSpPr>
          <p:spPr bwMode="auto">
            <a:xfrm>
              <a:off x="2911" y="1601"/>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89" name="Text Box 17"/>
            <p:cNvSpPr txBox="1">
              <a:spLocks noChangeArrowheads="1"/>
            </p:cNvSpPr>
            <p:nvPr/>
          </p:nvSpPr>
          <p:spPr bwMode="auto">
            <a:xfrm>
              <a:off x="3498" y="1278"/>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290" name="Text Box 18"/>
            <p:cNvSpPr txBox="1">
              <a:spLocks noChangeArrowheads="1"/>
            </p:cNvSpPr>
            <p:nvPr/>
          </p:nvSpPr>
          <p:spPr bwMode="auto">
            <a:xfrm>
              <a:off x="3317" y="2230"/>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315" name="Text Box 43"/>
            <p:cNvSpPr txBox="1">
              <a:spLocks noChangeArrowheads="1"/>
            </p:cNvSpPr>
            <p:nvPr/>
          </p:nvSpPr>
          <p:spPr bwMode="auto">
            <a:xfrm>
              <a:off x="1593" y="2276"/>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54316" name="Text Box 44"/>
            <p:cNvSpPr txBox="1">
              <a:spLocks noChangeArrowheads="1"/>
            </p:cNvSpPr>
            <p:nvPr/>
          </p:nvSpPr>
          <p:spPr bwMode="auto">
            <a:xfrm>
              <a:off x="3952" y="1505"/>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16413" name="Text Box 52"/>
            <p:cNvSpPr txBox="1">
              <a:spLocks noChangeArrowheads="1"/>
            </p:cNvSpPr>
            <p:nvPr/>
          </p:nvSpPr>
          <p:spPr bwMode="auto">
            <a:xfrm>
              <a:off x="340" y="890"/>
              <a:ext cx="288" cy="327"/>
            </a:xfrm>
            <a:prstGeom prst="rect">
              <a:avLst/>
            </a:prstGeom>
            <a:noFill/>
            <a:ln w="12700">
              <a:noFill/>
              <a:miter lim="800000"/>
              <a:headEnd/>
              <a:tailEnd/>
            </a:ln>
          </p:spPr>
          <p:txBody>
            <a:bodyPr>
              <a:spAutoFit/>
            </a:bodyPr>
            <a:lstStyle/>
            <a:p>
              <a:pPr algn="ctr" eaLnBrk="0" hangingPunct="0">
                <a:spcBef>
                  <a:spcPct val="50000"/>
                </a:spcBef>
              </a:pPr>
              <a:r>
                <a:rPr kumimoji="1" lang="zh-CN" altLang="en-US" sz="2800" b="1" i="1">
                  <a:solidFill>
                    <a:srgbClr val="000000"/>
                  </a:solidFill>
                  <a:latin typeface="Times New Roman" pitchFamily="18" charset="0"/>
                </a:rPr>
                <a:t>Ｙ</a:t>
              </a:r>
            </a:p>
          </p:txBody>
        </p:sp>
        <p:sp>
          <p:nvSpPr>
            <p:cNvPr id="16414" name="Rectangle 63"/>
            <p:cNvSpPr>
              <a:spLocks noChangeArrowheads="1"/>
            </p:cNvSpPr>
            <p:nvPr/>
          </p:nvSpPr>
          <p:spPr bwMode="auto">
            <a:xfrm>
              <a:off x="0" y="1978"/>
              <a:ext cx="116" cy="233"/>
            </a:xfrm>
            <a:prstGeom prst="rect">
              <a:avLst/>
            </a:prstGeom>
            <a:noFill/>
            <a:ln w="9525">
              <a:noFill/>
              <a:miter lim="800000"/>
              <a:headEnd/>
              <a:tailEnd/>
            </a:ln>
          </p:spPr>
          <p:txBody>
            <a:bodyPr wrap="none" anchor="ctr">
              <a:spAutoFit/>
            </a:bodyPr>
            <a:lstStyle/>
            <a:p>
              <a:endParaRPr lang="zh-CN" altLang="en-US"/>
            </a:p>
          </p:txBody>
        </p:sp>
      </p:grpSp>
      <p:grpSp>
        <p:nvGrpSpPr>
          <p:cNvPr id="4" name="Group 65"/>
          <p:cNvGrpSpPr>
            <a:grpSpLocks/>
          </p:cNvGrpSpPr>
          <p:nvPr/>
        </p:nvGrpSpPr>
        <p:grpSpPr bwMode="auto">
          <a:xfrm>
            <a:off x="2855914" y="1589089"/>
            <a:ext cx="7221537" cy="2974975"/>
            <a:chOff x="839" y="1001"/>
            <a:chExt cx="4549" cy="1874"/>
          </a:xfrm>
        </p:grpSpPr>
        <p:sp>
          <p:nvSpPr>
            <p:cNvPr id="54331" name="Line 59"/>
            <p:cNvSpPr>
              <a:spLocks noChangeShapeType="1"/>
            </p:cNvSpPr>
            <p:nvPr/>
          </p:nvSpPr>
          <p:spPr bwMode="auto">
            <a:xfrm flipV="1">
              <a:off x="839" y="1344"/>
              <a:ext cx="3856" cy="1531"/>
            </a:xfrm>
            <a:prstGeom prst="line">
              <a:avLst/>
            </a:prstGeom>
            <a:noFill/>
            <a:ln w="38100">
              <a:solidFill>
                <a:schemeClr val="hlink"/>
              </a:solidFill>
              <a:round/>
              <a:headEnd/>
              <a:tailEnd/>
            </a:ln>
            <a:effectLst>
              <a:outerShdw dist="35921" dir="2700000" algn="ctr" rotWithShape="0">
                <a:schemeClr val="bg2"/>
              </a:outerShdw>
            </a:effectLst>
          </p:spPr>
          <p:txBody>
            <a:bodyPr/>
            <a:lstStyle/>
            <a:p>
              <a:pPr>
                <a:defRPr/>
              </a:pPr>
              <a:endParaRPr lang="zh-CN" altLang="en-US"/>
            </a:p>
          </p:txBody>
        </p:sp>
        <p:graphicFrame>
          <p:nvGraphicFramePr>
            <p:cNvPr id="16387" name="Object 62"/>
            <p:cNvGraphicFramePr>
              <a:graphicFrameLocks noChangeAspect="1"/>
            </p:cNvGraphicFramePr>
            <p:nvPr/>
          </p:nvGraphicFramePr>
          <p:xfrm>
            <a:off x="4317" y="1001"/>
            <a:ext cx="1071" cy="367"/>
          </p:xfrm>
          <a:graphic>
            <a:graphicData uri="http://schemas.openxmlformats.org/presentationml/2006/ole">
              <mc:AlternateContent xmlns:mc="http://schemas.openxmlformats.org/markup-compatibility/2006">
                <mc:Choice xmlns:v="urn:schemas-microsoft-com:vml" Requires="v">
                  <p:oleObj name="Equation" r:id="rId3" imgW="711000" imgH="228600" progId="Equation.DSMT4">
                    <p:embed/>
                  </p:oleObj>
                </mc:Choice>
                <mc:Fallback>
                  <p:oleObj name="Equation" r:id="rId3" imgW="711000" imgH="228600" progId="Equation.DSMT4">
                    <p:embed/>
                    <p:pic>
                      <p:nvPicPr>
                        <p:cNvPr id="16387"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7" y="1001"/>
                          <a:ext cx="1071" cy="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66"/>
          <p:cNvGrpSpPr>
            <a:grpSpLocks/>
          </p:cNvGrpSpPr>
          <p:nvPr/>
        </p:nvGrpSpPr>
        <p:grpSpPr bwMode="auto">
          <a:xfrm>
            <a:off x="6602415" y="2963864"/>
            <a:ext cx="2346326" cy="1460500"/>
            <a:chOff x="3199" y="1867"/>
            <a:chExt cx="1478" cy="920"/>
          </a:xfrm>
        </p:grpSpPr>
        <p:sp>
          <p:nvSpPr>
            <p:cNvPr id="54339" name="Text Box 67"/>
            <p:cNvSpPr txBox="1">
              <a:spLocks noChangeArrowheads="1"/>
            </p:cNvSpPr>
            <p:nvPr/>
          </p:nvSpPr>
          <p:spPr bwMode="auto">
            <a:xfrm>
              <a:off x="3317" y="2230"/>
              <a:ext cx="288" cy="233"/>
            </a:xfrm>
            <a:prstGeom prst="rect">
              <a:avLst/>
            </a:prstGeom>
            <a:noFill/>
            <a:ln w="12700">
              <a:noFill/>
              <a:miter lim="800000"/>
              <a:headEnd/>
              <a:tailEnd/>
            </a:ln>
            <a:effectLst>
              <a:outerShdw dist="35921" dir="2700000" algn="ctr" rotWithShape="0">
                <a:schemeClr val="bg2"/>
              </a:outerShdw>
            </a:effectLst>
          </p:spPr>
          <p:txBody>
            <a:bodyPr>
              <a:spAutoFit/>
            </a:bodyPr>
            <a:lstStyle/>
            <a:p>
              <a:pPr algn="ctr" eaLnBrk="0" hangingPunct="0">
                <a:spcBef>
                  <a:spcPct val="50000"/>
                </a:spcBef>
                <a:defRPr/>
              </a:pPr>
              <a:r>
                <a:rPr kumimoji="1" lang="en-US" altLang="zh-CN">
                  <a:solidFill>
                    <a:srgbClr val="FF00FF"/>
                  </a:solidFill>
                  <a:sym typeface="Wingdings 2" pitchFamily="18" charset="2"/>
                </a:rPr>
                <a:t></a:t>
              </a:r>
              <a:endParaRPr kumimoji="1" lang="en-US" altLang="zh-CN">
                <a:solidFill>
                  <a:srgbClr val="FF00FF"/>
                </a:solidFill>
              </a:endParaRPr>
            </a:p>
          </p:txBody>
        </p:sp>
        <p:sp>
          <p:nvSpPr>
            <p:cNvPr id="16396" name="Line 68"/>
            <p:cNvSpPr>
              <a:spLocks noChangeShapeType="1"/>
            </p:cNvSpPr>
            <p:nvPr/>
          </p:nvSpPr>
          <p:spPr bwMode="auto">
            <a:xfrm>
              <a:off x="3453" y="1867"/>
              <a:ext cx="0" cy="480"/>
            </a:xfrm>
            <a:prstGeom prst="line">
              <a:avLst/>
            </a:prstGeom>
            <a:noFill/>
            <a:ln w="19050">
              <a:solidFill>
                <a:srgbClr val="3333FF"/>
              </a:solidFill>
              <a:round/>
              <a:headEnd/>
              <a:tailEnd/>
            </a:ln>
          </p:spPr>
          <p:txBody>
            <a:bodyPr/>
            <a:lstStyle/>
            <a:p>
              <a:endParaRPr lang="zh-CN" altLang="en-US"/>
            </a:p>
          </p:txBody>
        </p:sp>
        <p:sp>
          <p:nvSpPr>
            <p:cNvPr id="16397" name="Text Box 69"/>
            <p:cNvSpPr txBox="1">
              <a:spLocks noChangeArrowheads="1"/>
            </p:cNvSpPr>
            <p:nvPr/>
          </p:nvSpPr>
          <p:spPr bwMode="auto">
            <a:xfrm>
              <a:off x="3199" y="2457"/>
              <a:ext cx="881" cy="330"/>
            </a:xfrm>
            <a:prstGeom prst="rect">
              <a:avLst/>
            </a:prstGeom>
            <a:noFill/>
            <a:ln w="12700">
              <a:noFill/>
              <a:miter lim="800000"/>
              <a:headEnd/>
              <a:tailEnd/>
            </a:ln>
          </p:spPr>
          <p:txBody>
            <a:bodyPr wrap="square">
              <a:spAutoFit/>
            </a:bodyPr>
            <a:lstStyle/>
            <a:p>
              <a:pPr algn="ctr" eaLnBrk="0" hangingPunct="0">
                <a:spcBef>
                  <a:spcPct val="50000"/>
                </a:spcBef>
              </a:pPr>
              <a:r>
                <a:rPr kumimoji="1" lang="en-US" altLang="zh-CN" sz="2800" b="1" dirty="0">
                  <a:solidFill>
                    <a:srgbClr val="000000"/>
                  </a:solidFill>
                  <a:latin typeface="Times New Roman" pitchFamily="18" charset="0"/>
                </a:rPr>
                <a:t>(x</a:t>
              </a:r>
              <a:r>
                <a:rPr kumimoji="1" lang="en-US" altLang="zh-CN" sz="2800" b="1" baseline="-25000" dirty="0">
                  <a:solidFill>
                    <a:srgbClr val="000000"/>
                  </a:solidFill>
                  <a:latin typeface="Times New Roman" pitchFamily="18" charset="0"/>
                </a:rPr>
                <a:t>i</a:t>
              </a:r>
              <a:r>
                <a:rPr kumimoji="1" lang="en-US" altLang="zh-CN" sz="2800" b="1" dirty="0">
                  <a:solidFill>
                    <a:srgbClr val="000000"/>
                  </a:solidFill>
                  <a:latin typeface="Times New Roman" pitchFamily="18" charset="0"/>
                </a:rPr>
                <a:t> , </a:t>
              </a:r>
              <a:r>
                <a:rPr kumimoji="1" lang="en-US" altLang="zh-CN" sz="2800" b="1" dirty="0" err="1">
                  <a:solidFill>
                    <a:srgbClr val="000000"/>
                  </a:solidFill>
                  <a:latin typeface="Times New Roman" pitchFamily="18" charset="0"/>
                </a:rPr>
                <a:t>y</a:t>
              </a:r>
              <a:r>
                <a:rPr kumimoji="1" lang="en-US" altLang="zh-CN" sz="2800" b="1" baseline="-25000" dirty="0" err="1">
                  <a:solidFill>
                    <a:srgbClr val="000000"/>
                  </a:solidFill>
                  <a:latin typeface="Times New Roman" pitchFamily="18" charset="0"/>
                </a:rPr>
                <a:t>i</a:t>
              </a:r>
              <a:r>
                <a:rPr kumimoji="1" lang="en-US" altLang="zh-CN" sz="2800" b="1" dirty="0">
                  <a:solidFill>
                    <a:srgbClr val="000000"/>
                  </a:solidFill>
                  <a:latin typeface="Times New Roman" pitchFamily="18" charset="0"/>
                </a:rPr>
                <a:t> )</a:t>
              </a:r>
            </a:p>
          </p:txBody>
        </p:sp>
        <p:graphicFrame>
          <p:nvGraphicFramePr>
            <p:cNvPr id="16386" name="Object 70"/>
            <p:cNvGraphicFramePr>
              <a:graphicFrameLocks noChangeAspect="1"/>
            </p:cNvGraphicFramePr>
            <p:nvPr/>
          </p:nvGraphicFramePr>
          <p:xfrm>
            <a:off x="3770" y="1913"/>
            <a:ext cx="907" cy="408"/>
          </p:xfrm>
          <a:graphic>
            <a:graphicData uri="http://schemas.openxmlformats.org/presentationml/2006/ole">
              <mc:AlternateContent xmlns:mc="http://schemas.openxmlformats.org/markup-compatibility/2006">
                <mc:Choice xmlns:v="urn:schemas-microsoft-com:vml" Requires="v">
                  <p:oleObj name="公式" r:id="rId5" imgW="647640" imgH="190440" progId="Equation.3">
                    <p:embed/>
                  </p:oleObj>
                </mc:Choice>
                <mc:Fallback>
                  <p:oleObj name="公式" r:id="rId5" imgW="647640" imgH="190440" progId="Equation.3">
                    <p:embed/>
                    <p:pic>
                      <p:nvPicPr>
                        <p:cNvPr id="16386" name="Object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0" y="1913"/>
                          <a:ext cx="907"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8" name="AutoShape 71"/>
            <p:cNvSpPr>
              <a:spLocks/>
            </p:cNvSpPr>
            <p:nvPr/>
          </p:nvSpPr>
          <p:spPr bwMode="auto">
            <a:xfrm>
              <a:off x="3453" y="1867"/>
              <a:ext cx="272" cy="499"/>
            </a:xfrm>
            <a:prstGeom prst="rightBrace">
              <a:avLst>
                <a:gd name="adj1" fmla="val 15288"/>
                <a:gd name="adj2" fmla="val 50000"/>
              </a:avLst>
            </a:prstGeom>
            <a:noFill/>
            <a:ln w="38100">
              <a:solidFill>
                <a:srgbClr val="FF0000"/>
              </a:solidFill>
              <a:round/>
              <a:headEnd/>
              <a:tailEnd/>
            </a:ln>
          </p:spPr>
          <p:txBody>
            <a:bodyPr wrap="none" anchor="ctr"/>
            <a:lstStyle/>
            <a:p>
              <a:endParaRPr lang="zh-CN" altLang="en-US"/>
            </a:p>
          </p:txBody>
        </p:sp>
      </p:grpSp>
    </p:spTree>
    <p:extLst>
      <p:ext uri="{BB962C8B-B14F-4D97-AF65-F5344CB8AC3E}">
        <p14:creationId xmlns:p14="http://schemas.microsoft.com/office/powerpoint/2010/main" val="22842257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a:xfrm>
            <a:off x="406400" y="813916"/>
            <a:ext cx="9702800" cy="662782"/>
          </a:xfrm>
          <a:noFill/>
        </p:spPr>
        <p:txBody>
          <a:bodyPr vert="horz" lIns="90488" tIns="44450" rIns="90488" bIns="44450" rtlCol="0" anchor="ctr" anchorCtr="1">
            <a:normAutofit fontScale="90000"/>
          </a:bodyPr>
          <a:lstStyle/>
          <a:p>
            <a:pPr eaLnBrk="1" hangingPunct="1">
              <a:lnSpc>
                <a:spcPct val="150000"/>
              </a:lnSpc>
            </a:pPr>
            <a:r>
              <a:rPr lang="zh-CN" altLang="en-US" sz="4000" dirty="0"/>
              <a:t>２</a:t>
            </a:r>
            <a:r>
              <a:rPr lang="en-US" altLang="zh-CN" sz="4000" dirty="0"/>
              <a:t>.</a:t>
            </a:r>
            <a:r>
              <a:rPr lang="zh-CN" altLang="en-US" sz="4000" dirty="0"/>
              <a:t>估计参数的最小二乘法</a:t>
            </a:r>
            <a:br>
              <a:rPr lang="zh-CN" altLang="en-US" dirty="0"/>
            </a:br>
            <a:r>
              <a:rPr lang="zh-CN" altLang="en-US" sz="4000" dirty="0"/>
              <a:t>（</a:t>
            </a:r>
            <a:r>
              <a:rPr lang="en-US" altLang="zh-CN" sz="4000" dirty="0">
                <a:solidFill>
                  <a:srgbClr val="FF00FF"/>
                </a:solidFill>
              </a:rPr>
              <a:t>L</a:t>
            </a:r>
            <a:r>
              <a:rPr lang="en-US" altLang="zh-CN" sz="4000" dirty="0"/>
              <a:t>east  </a:t>
            </a:r>
            <a:r>
              <a:rPr lang="en-US" altLang="zh-CN" sz="4000" dirty="0">
                <a:solidFill>
                  <a:srgbClr val="FF00FF"/>
                </a:solidFill>
              </a:rPr>
              <a:t>S</a:t>
            </a:r>
            <a:r>
              <a:rPr lang="en-US" altLang="zh-CN" sz="4000" dirty="0"/>
              <a:t>quare  Method</a:t>
            </a:r>
            <a:r>
              <a:rPr lang="zh-CN" altLang="en-US" sz="4000" dirty="0"/>
              <a:t>）</a:t>
            </a:r>
          </a:p>
        </p:txBody>
      </p:sp>
      <p:sp>
        <p:nvSpPr>
          <p:cNvPr id="17412" name="灯片编号占位符 5"/>
          <p:cNvSpPr>
            <a:spLocks noGrp="1"/>
          </p:cNvSpPr>
          <p:nvPr>
            <p:ph type="sldNum" sz="quarter" idx="4"/>
          </p:nvPr>
        </p:nvSpPr>
        <p:spPr>
          <a:noFill/>
        </p:spPr>
        <p:txBody>
          <a:bodyPr/>
          <a:lstStyle/>
          <a:p>
            <a:r>
              <a:rPr lang="en-US" altLang="zh-CN" dirty="0"/>
              <a:t>9--</a:t>
            </a:r>
            <a:fld id="{9EAC2F22-6678-4087-8C4F-46AF423FA0E3}" type="slidenum">
              <a:rPr lang="en-US" altLang="zh-CN" smtClean="0"/>
              <a:pPr/>
              <a:t>47</a:t>
            </a:fld>
            <a:endParaRPr lang="en-US" altLang="zh-CN" dirty="0"/>
          </a:p>
        </p:txBody>
      </p:sp>
      <p:sp>
        <p:nvSpPr>
          <p:cNvPr id="56324" name="Rectangle 4"/>
          <p:cNvSpPr>
            <a:spLocks noChangeArrowheads="1"/>
          </p:cNvSpPr>
          <p:nvPr/>
        </p:nvSpPr>
        <p:spPr bwMode="auto">
          <a:xfrm>
            <a:off x="2130426" y="2001584"/>
            <a:ext cx="7715250" cy="2135187"/>
          </a:xfrm>
          <a:prstGeom prst="rect">
            <a:avLst/>
          </a:prstGeom>
          <a:noFill/>
          <a:ln w="12700">
            <a:noFill/>
            <a:miter lim="800000"/>
            <a:headEnd/>
            <a:tailEnd/>
          </a:ln>
        </p:spPr>
        <p:txBody>
          <a:bodyPr>
            <a:spAutoFit/>
          </a:bodyPr>
          <a:lstStyle/>
          <a:p>
            <a:pPr eaLnBrk="0" hangingPunct="0">
              <a:spcBef>
                <a:spcPct val="20000"/>
              </a:spcBef>
            </a:pPr>
            <a:r>
              <a:rPr kumimoji="1" lang="zh-CN" altLang="en-US" sz="3600" b="1" dirty="0">
                <a:solidFill>
                  <a:srgbClr val="FF00FF"/>
                </a:solidFill>
                <a:latin typeface="Times New Roman" pitchFamily="18" charset="0"/>
              </a:rPr>
              <a:t>最小平方法</a:t>
            </a:r>
            <a:r>
              <a:rPr kumimoji="1" lang="en-US" altLang="zh-CN" sz="3000" dirty="0">
                <a:solidFill>
                  <a:srgbClr val="000000"/>
                </a:solidFill>
                <a:latin typeface="Times New Roman" pitchFamily="18" charset="0"/>
              </a:rPr>
              <a:t>——</a:t>
            </a:r>
            <a:r>
              <a:rPr kumimoji="1" lang="zh-CN" altLang="en-US" sz="3000" dirty="0">
                <a:solidFill>
                  <a:srgbClr val="000000"/>
                </a:solidFill>
                <a:latin typeface="Times New Roman" pitchFamily="18" charset="0"/>
              </a:rPr>
              <a:t>也称为</a:t>
            </a:r>
            <a:r>
              <a:rPr lang="zh-CN" altLang="en-US" sz="3600" b="1" dirty="0">
                <a:solidFill>
                  <a:srgbClr val="3333FF"/>
                </a:solidFill>
                <a:latin typeface="Tahoma" pitchFamily="34" charset="0"/>
              </a:rPr>
              <a:t>最小二乘法</a:t>
            </a:r>
            <a:r>
              <a:rPr lang="en-US" altLang="zh-CN" sz="3600" b="1" dirty="0">
                <a:solidFill>
                  <a:srgbClr val="3333FF"/>
                </a:solidFill>
                <a:latin typeface="Times New Roman" pitchFamily="18" charset="0"/>
              </a:rPr>
              <a:t>,</a:t>
            </a:r>
            <a:endParaRPr kumimoji="1" lang="en-US" altLang="zh-CN" sz="3600" dirty="0">
              <a:solidFill>
                <a:srgbClr val="000000"/>
              </a:solidFill>
              <a:latin typeface="Times New Roman" pitchFamily="18" charset="0"/>
            </a:endParaRPr>
          </a:p>
          <a:p>
            <a:pPr eaLnBrk="0" hangingPunct="0">
              <a:spcBef>
                <a:spcPct val="20000"/>
              </a:spcBef>
            </a:pPr>
            <a:r>
              <a:rPr kumimoji="1" lang="zh-CN" altLang="en-US" sz="3000" dirty="0">
                <a:solidFill>
                  <a:srgbClr val="000000"/>
                </a:solidFill>
                <a:latin typeface="Times New Roman" pitchFamily="18" charset="0"/>
              </a:rPr>
              <a:t>使</a:t>
            </a:r>
            <a:r>
              <a:rPr kumimoji="1" lang="zh-CN" altLang="en-US" sz="3000" b="1" dirty="0">
                <a:solidFill>
                  <a:srgbClr val="000000"/>
                </a:solidFill>
                <a:latin typeface="Times New Roman" pitchFamily="18" charset="0"/>
              </a:rPr>
              <a:t>因变量的观察值与估计值之间的离差平方和达到最小</a:t>
            </a:r>
            <a:r>
              <a:rPr kumimoji="1" lang="zh-CN" altLang="en-US" sz="3000" dirty="0">
                <a:solidFill>
                  <a:srgbClr val="000000"/>
                </a:solidFill>
                <a:latin typeface="Times New Roman" pitchFamily="18" charset="0"/>
              </a:rPr>
              <a:t>来求得 </a:t>
            </a:r>
            <a:r>
              <a:rPr kumimoji="1" lang="en-US" altLang="zh-CN" sz="3000" i="1" dirty="0">
                <a:solidFill>
                  <a:srgbClr val="000000"/>
                </a:solidFill>
                <a:latin typeface="Times New Roman" pitchFamily="18" charset="0"/>
              </a:rPr>
              <a:t>a, b</a:t>
            </a:r>
            <a:r>
              <a:rPr kumimoji="1" lang="en-US" altLang="zh-CN" sz="3200" b="1" i="1" dirty="0">
                <a:solidFill>
                  <a:srgbClr val="000000"/>
                </a:solidFill>
                <a:latin typeface="Times New Roman" pitchFamily="18" charset="0"/>
                <a:sym typeface="Symbol" pitchFamily="18" charset="2"/>
              </a:rPr>
              <a:t> </a:t>
            </a:r>
            <a:r>
              <a:rPr kumimoji="1" lang="zh-CN" altLang="en-US" sz="3000" dirty="0">
                <a:solidFill>
                  <a:srgbClr val="000000"/>
                </a:solidFill>
                <a:latin typeface="Times New Roman" pitchFamily="18" charset="0"/>
              </a:rPr>
              <a:t>的方法，即满足下列条件：</a:t>
            </a:r>
          </a:p>
        </p:txBody>
      </p:sp>
      <p:graphicFrame>
        <p:nvGraphicFramePr>
          <p:cNvPr id="17410" name="Object 5"/>
          <p:cNvGraphicFramePr>
            <a:graphicFrameLocks noChangeAspect="1"/>
          </p:cNvGraphicFramePr>
          <p:nvPr/>
        </p:nvGraphicFramePr>
        <p:xfrm>
          <a:off x="2678114" y="4103688"/>
          <a:ext cx="6619875" cy="908050"/>
        </p:xfrm>
        <a:graphic>
          <a:graphicData uri="http://schemas.openxmlformats.org/presentationml/2006/ole">
            <mc:AlternateContent xmlns:mc="http://schemas.openxmlformats.org/markup-compatibility/2006">
              <mc:Choice xmlns:v="urn:schemas-microsoft-com:vml" Requires="v">
                <p:oleObj name="公式" r:id="rId3" imgW="1854000" imgH="253800" progId="Equation.3">
                  <p:embed/>
                </p:oleObj>
              </mc:Choice>
              <mc:Fallback>
                <p:oleObj name="公式" r:id="rId3" imgW="1854000" imgH="253800" progId="Equation.3">
                  <p:embed/>
                  <p:pic>
                    <p:nvPicPr>
                      <p:cNvPr id="1741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8114" y="4103688"/>
                        <a:ext cx="6619875" cy="908050"/>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graphicFrame>
        <p:nvGraphicFramePr>
          <p:cNvPr id="56326" name="Object 6"/>
          <p:cNvGraphicFramePr>
            <a:graphicFrameLocks noChangeAspect="1"/>
          </p:cNvGraphicFramePr>
          <p:nvPr/>
        </p:nvGraphicFramePr>
        <p:xfrm>
          <a:off x="2974976" y="5135564"/>
          <a:ext cx="6505575" cy="852487"/>
        </p:xfrm>
        <a:graphic>
          <a:graphicData uri="http://schemas.openxmlformats.org/presentationml/2006/ole">
            <mc:AlternateContent xmlns:mc="http://schemas.openxmlformats.org/markup-compatibility/2006">
              <mc:Choice xmlns:v="urn:schemas-microsoft-com:vml" Requires="v">
                <p:oleObj name="公式" r:id="rId5" imgW="1841400" imgH="241200" progId="Equation.3">
                  <p:embed/>
                </p:oleObj>
              </mc:Choice>
              <mc:Fallback>
                <p:oleObj name="公式" r:id="rId5" imgW="1841400" imgH="241200" progId="Equation.3">
                  <p:embed/>
                  <p:pic>
                    <p:nvPicPr>
                      <p:cNvPr id="5632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4976" y="5135564"/>
                        <a:ext cx="6505575" cy="852487"/>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sp>
        <p:nvSpPr>
          <p:cNvPr id="17415" name="Text Box 7"/>
          <p:cNvSpPr txBox="1">
            <a:spLocks noChangeArrowheads="1"/>
          </p:cNvSpPr>
          <p:nvPr/>
        </p:nvSpPr>
        <p:spPr bwMode="auto">
          <a:xfrm>
            <a:off x="2424114" y="5229226"/>
            <a:ext cx="1150937" cy="519113"/>
          </a:xfrm>
          <a:prstGeom prst="rect">
            <a:avLst/>
          </a:prstGeom>
          <a:noFill/>
          <a:ln w="9525">
            <a:noFill/>
            <a:miter lim="800000"/>
            <a:headEnd/>
            <a:tailEnd/>
          </a:ln>
        </p:spPr>
        <p:txBody>
          <a:bodyPr>
            <a:spAutoFit/>
          </a:bodyPr>
          <a:lstStyle/>
          <a:p>
            <a:pPr>
              <a:spcBef>
                <a:spcPct val="50000"/>
              </a:spcBef>
            </a:pPr>
            <a:r>
              <a:rPr lang="zh-CN" altLang="en-US" sz="2800" b="1"/>
              <a:t>即：</a:t>
            </a:r>
          </a:p>
        </p:txBody>
      </p:sp>
      <p:sp>
        <p:nvSpPr>
          <p:cNvPr id="10" name="矩形 9"/>
          <p:cNvSpPr/>
          <p:nvPr/>
        </p:nvSpPr>
        <p:spPr>
          <a:xfrm>
            <a:off x="1524000" y="6273225"/>
            <a:ext cx="6335688" cy="369332"/>
          </a:xfrm>
          <a:prstGeom prst="rect">
            <a:avLst/>
          </a:prstGeom>
        </p:spPr>
        <p:txBody>
          <a:bodyPr wrap="square">
            <a:spAutoFit/>
          </a:bodyPr>
          <a:lstStyle/>
          <a:p>
            <a:r>
              <a:rPr lang="en-US" altLang="zh-CN" b="1" dirty="0" err="1">
                <a:latin typeface="Times New Roman" pitchFamily="18" charset="0"/>
                <a:cs typeface="Times New Roman" pitchFamily="18" charset="0"/>
              </a:rPr>
              <a:t>OLS</a:t>
            </a:r>
            <a:r>
              <a:rPr lang="en-US" altLang="zh-CN" dirty="0"/>
              <a:t>【ordinary least square</a:t>
            </a:r>
            <a:r>
              <a:rPr lang="zh-CN" altLang="en-US" dirty="0"/>
              <a:t>的简称，普通最小二乘法</a:t>
            </a:r>
            <a:r>
              <a:rPr lang="en-US" altLang="zh-CN" dirty="0"/>
              <a:t>】</a:t>
            </a:r>
            <a:endParaRPr lang="zh-CN" altLang="en-US" dirty="0"/>
          </a:p>
        </p:txBody>
      </p:sp>
    </p:spTree>
    <p:extLst>
      <p:ext uri="{BB962C8B-B14F-4D97-AF65-F5344CB8AC3E}">
        <p14:creationId xmlns:p14="http://schemas.microsoft.com/office/powerpoint/2010/main" val="9875048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326"/>
                                        </p:tgtEl>
                                        <p:attrNameLst>
                                          <p:attrName>style.visibility</p:attrName>
                                        </p:attrNameLst>
                                      </p:cBhvr>
                                      <p:to>
                                        <p:strVal val="visible"/>
                                      </p:to>
                                    </p:set>
                                    <p:anim calcmode="lin" valueType="num">
                                      <p:cBhvr additive="base">
                                        <p:cTn id="7" dur="500" fill="hold"/>
                                        <p:tgtEl>
                                          <p:spTgt spid="56326"/>
                                        </p:tgtEl>
                                        <p:attrNameLst>
                                          <p:attrName>ppt_x</p:attrName>
                                        </p:attrNameLst>
                                      </p:cBhvr>
                                      <p:tavLst>
                                        <p:tav tm="0">
                                          <p:val>
                                            <p:strVal val="0-#ppt_w/2"/>
                                          </p:val>
                                        </p:tav>
                                        <p:tav tm="100000">
                                          <p:val>
                                            <p:strVal val="#ppt_x"/>
                                          </p:val>
                                        </p:tav>
                                      </p:tavLst>
                                    </p:anim>
                                    <p:anim calcmode="lin" valueType="num">
                                      <p:cBhvr additive="base">
                                        <p:cTn id="8" dur="500" fill="hold"/>
                                        <p:tgtEl>
                                          <p:spTgt spid="563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9" name="日期占位符 19"/>
          <p:cNvSpPr>
            <a:spLocks noGrp="1"/>
          </p:cNvSpPr>
          <p:nvPr>
            <p:ph type="dt" sz="half" idx="10"/>
          </p:nvPr>
        </p:nvSpPr>
        <p:spPr>
          <a:noFill/>
        </p:spPr>
        <p:txBody>
          <a:bodyPr/>
          <a:lstStyle/>
          <a:p>
            <a:endParaRPr lang="en-US" altLang="zh-CN" dirty="0"/>
          </a:p>
        </p:txBody>
      </p:sp>
      <p:sp>
        <p:nvSpPr>
          <p:cNvPr id="18441" name="Rectangle 2"/>
          <p:cNvSpPr>
            <a:spLocks noGrp="1" noChangeArrowheads="1"/>
          </p:cNvSpPr>
          <p:nvPr>
            <p:ph type="title"/>
          </p:nvPr>
        </p:nvSpPr>
        <p:spPr>
          <a:xfrm>
            <a:off x="1244600" y="119066"/>
            <a:ext cx="7696200" cy="662782"/>
          </a:xfrm>
          <a:noFill/>
        </p:spPr>
        <p:txBody>
          <a:bodyPr vert="horz" lIns="90488" tIns="44450" rIns="90488" bIns="44450" rtlCol="0" anchor="ctr" anchorCtr="1">
            <a:normAutofit/>
          </a:bodyPr>
          <a:lstStyle/>
          <a:p>
            <a:pPr eaLnBrk="1" hangingPunct="1"/>
            <a:r>
              <a:rPr lang="en-US" altLang="zh-CN" sz="4000" dirty="0">
                <a:latin typeface="Times New Roman" pitchFamily="18" charset="0"/>
                <a:sym typeface="Symbol" pitchFamily="18" charset="2"/>
              </a:rPr>
              <a:t>OLS</a:t>
            </a:r>
            <a:r>
              <a:rPr lang="zh-CN" altLang="en-US" sz="4000" dirty="0">
                <a:sym typeface="Symbol" pitchFamily="18" charset="2"/>
              </a:rPr>
              <a:t>的计算公式</a:t>
            </a:r>
          </a:p>
        </p:txBody>
      </p:sp>
      <p:sp>
        <p:nvSpPr>
          <p:cNvPr id="18440" name="灯片编号占位符 5"/>
          <p:cNvSpPr>
            <a:spLocks noGrp="1"/>
          </p:cNvSpPr>
          <p:nvPr>
            <p:ph type="sldNum" sz="quarter" idx="4"/>
          </p:nvPr>
        </p:nvSpPr>
        <p:spPr>
          <a:noFill/>
        </p:spPr>
        <p:txBody>
          <a:bodyPr/>
          <a:lstStyle/>
          <a:p>
            <a:r>
              <a:rPr lang="en-US" altLang="zh-CN" dirty="0"/>
              <a:t>9--</a:t>
            </a:r>
            <a:fld id="{FF3C4AB7-33D2-4D94-BBAF-0043EA089218}" type="slidenum">
              <a:rPr lang="en-US" altLang="zh-CN" smtClean="0"/>
              <a:pPr/>
              <a:t>48</a:t>
            </a:fld>
            <a:endParaRPr lang="en-US" altLang="zh-CN" dirty="0"/>
          </a:p>
        </p:txBody>
      </p:sp>
      <p:sp>
        <p:nvSpPr>
          <p:cNvPr id="18442" name="Text Box 3"/>
          <p:cNvSpPr txBox="1">
            <a:spLocks noChangeArrowheads="1"/>
          </p:cNvSpPr>
          <p:nvPr/>
        </p:nvSpPr>
        <p:spPr bwMode="auto">
          <a:xfrm>
            <a:off x="1992315" y="1196975"/>
            <a:ext cx="6796086" cy="1143000"/>
          </a:xfrm>
          <a:prstGeom prst="rect">
            <a:avLst/>
          </a:prstGeom>
          <a:noFill/>
          <a:ln w="12700">
            <a:noFill/>
            <a:miter lim="800000"/>
            <a:headEnd/>
            <a:tailEnd/>
          </a:ln>
        </p:spPr>
        <p:txBody>
          <a:bodyPr wrap="square">
            <a:spAutoFit/>
          </a:bodyPr>
          <a:lstStyle/>
          <a:p>
            <a:pPr marL="457200" indent="-457200" eaLnBrk="0" hangingPunct="0">
              <a:lnSpc>
                <a:spcPct val="115000"/>
              </a:lnSpc>
              <a:spcBef>
                <a:spcPct val="25000"/>
              </a:spcBef>
            </a:pPr>
            <a:r>
              <a:rPr kumimoji="1" lang="zh-CN" altLang="en-US" sz="3000" b="1" dirty="0">
                <a:solidFill>
                  <a:srgbClr val="0070C0"/>
                </a:solidFill>
                <a:latin typeface="Times New Roman" pitchFamily="18" charset="0"/>
              </a:rPr>
              <a:t>根据最小平方法的原则，利用微分求解极值（最优值）的原理，可得</a:t>
            </a:r>
            <a:r>
              <a:rPr kumimoji="1" lang="zh-CN" altLang="en-US" sz="3000" b="1" dirty="0">
                <a:solidFill>
                  <a:srgbClr val="0070C0"/>
                </a:solidFill>
                <a:sym typeface="Symbol" pitchFamily="18" charset="2"/>
              </a:rPr>
              <a:t>：</a:t>
            </a:r>
            <a:endParaRPr kumimoji="1" lang="zh-CN" altLang="en-US" sz="3000" b="1" dirty="0">
              <a:solidFill>
                <a:srgbClr val="0070C0"/>
              </a:solidFill>
              <a:latin typeface="Times New Roman" pitchFamily="18" charset="0"/>
              <a:sym typeface="Symbol" pitchFamily="18" charset="2"/>
            </a:endParaRPr>
          </a:p>
        </p:txBody>
      </p:sp>
      <p:sp>
        <p:nvSpPr>
          <p:cNvPr id="58377" name="AutoShape 9"/>
          <p:cNvSpPr>
            <a:spLocks noChangeArrowheads="1"/>
          </p:cNvSpPr>
          <p:nvPr/>
        </p:nvSpPr>
        <p:spPr bwMode="auto">
          <a:xfrm>
            <a:off x="1924142" y="4179421"/>
            <a:ext cx="422838" cy="323192"/>
          </a:xfrm>
          <a:prstGeom prst="rightArrow">
            <a:avLst>
              <a:gd name="adj1" fmla="val 50000"/>
              <a:gd name="adj2" fmla="val 29029"/>
            </a:avLst>
          </a:prstGeom>
          <a:solidFill>
            <a:schemeClr val="accent5">
              <a:lumMod val="20000"/>
              <a:lumOff val="80000"/>
            </a:schemeClr>
          </a:solidFill>
          <a:ln w="9525">
            <a:solidFill>
              <a:schemeClr val="tx1"/>
            </a:solidFill>
            <a:miter lim="800000"/>
            <a:headEnd/>
            <a:tailEnd/>
          </a:ln>
        </p:spPr>
        <p:txBody>
          <a:bodyPr wrap="none" anchor="ctr"/>
          <a:lstStyle/>
          <a:p>
            <a:endParaRPr lang="zh-CN" altLang="en-US"/>
          </a:p>
        </p:txBody>
      </p:sp>
      <p:grpSp>
        <p:nvGrpSpPr>
          <p:cNvPr id="18444" name="Group 20"/>
          <p:cNvGrpSpPr>
            <a:grpSpLocks/>
          </p:cNvGrpSpPr>
          <p:nvPr/>
        </p:nvGrpSpPr>
        <p:grpSpPr bwMode="auto">
          <a:xfrm>
            <a:off x="3071664" y="2349450"/>
            <a:ext cx="4183062" cy="1619250"/>
            <a:chOff x="295" y="1542"/>
            <a:chExt cx="2635" cy="1020"/>
          </a:xfrm>
        </p:grpSpPr>
        <p:graphicFrame>
          <p:nvGraphicFramePr>
            <p:cNvPr id="18438" name="Object 11"/>
            <p:cNvGraphicFramePr>
              <a:graphicFrameLocks noChangeAspect="1"/>
            </p:cNvGraphicFramePr>
            <p:nvPr/>
          </p:nvGraphicFramePr>
          <p:xfrm>
            <a:off x="613" y="1542"/>
            <a:ext cx="2300" cy="488"/>
          </p:xfrm>
          <a:graphic>
            <a:graphicData uri="http://schemas.openxmlformats.org/presentationml/2006/ole">
              <mc:AlternateContent xmlns:mc="http://schemas.openxmlformats.org/markup-compatibility/2006">
                <mc:Choice xmlns:v="urn:schemas-microsoft-com:vml" Requires="v">
                  <p:oleObj name="Equation" r:id="rId3" imgW="1765080" imgH="393480" progId="Equation.DSMT4">
                    <p:embed/>
                  </p:oleObj>
                </mc:Choice>
                <mc:Fallback>
                  <p:oleObj name="Equation" r:id="rId3" imgW="1765080" imgH="393480" progId="Equation.DSMT4">
                    <p:embed/>
                    <p:pic>
                      <p:nvPicPr>
                        <p:cNvPr id="18438"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 y="1542"/>
                          <a:ext cx="2300" cy="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9" name="Object 13"/>
            <p:cNvGraphicFramePr>
              <a:graphicFrameLocks noChangeAspect="1"/>
            </p:cNvGraphicFramePr>
            <p:nvPr/>
          </p:nvGraphicFramePr>
          <p:xfrm>
            <a:off x="613" y="2086"/>
            <a:ext cx="2317" cy="476"/>
          </p:xfrm>
          <a:graphic>
            <a:graphicData uri="http://schemas.openxmlformats.org/presentationml/2006/ole">
              <mc:AlternateContent xmlns:mc="http://schemas.openxmlformats.org/markup-compatibility/2006">
                <mc:Choice xmlns:v="urn:schemas-microsoft-com:vml" Requires="v">
                  <p:oleObj name="Equation" r:id="rId5" imgW="1930320" imgH="393480" progId="Equation.DSMT4">
                    <p:embed/>
                  </p:oleObj>
                </mc:Choice>
                <mc:Fallback>
                  <p:oleObj name="Equation" r:id="rId5" imgW="1930320" imgH="393480" progId="Equation.DSMT4">
                    <p:embed/>
                    <p:pic>
                      <p:nvPicPr>
                        <p:cNvPr id="18439"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 y="2086"/>
                          <a:ext cx="2317" cy="4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2" name="AutoShape 15"/>
            <p:cNvSpPr>
              <a:spLocks/>
            </p:cNvSpPr>
            <p:nvPr/>
          </p:nvSpPr>
          <p:spPr bwMode="auto">
            <a:xfrm>
              <a:off x="295" y="1752"/>
              <a:ext cx="272" cy="681"/>
            </a:xfrm>
            <a:prstGeom prst="leftBrace">
              <a:avLst>
                <a:gd name="adj1" fmla="val 20864"/>
                <a:gd name="adj2" fmla="val 50000"/>
              </a:avLst>
            </a:prstGeom>
            <a:noFill/>
            <a:ln w="28575">
              <a:solidFill>
                <a:schemeClr val="tx1"/>
              </a:solidFill>
              <a:round/>
              <a:headEnd/>
              <a:tailEnd/>
            </a:ln>
          </p:spPr>
          <p:txBody>
            <a:bodyPr wrap="none" anchor="ctr"/>
            <a:lstStyle/>
            <a:p>
              <a:endParaRPr lang="zh-CN" altLang="en-US"/>
            </a:p>
          </p:txBody>
        </p:sp>
      </p:grpSp>
      <p:grpSp>
        <p:nvGrpSpPr>
          <p:cNvPr id="3" name="Group 30"/>
          <p:cNvGrpSpPr>
            <a:grpSpLocks/>
          </p:cNvGrpSpPr>
          <p:nvPr/>
        </p:nvGrpSpPr>
        <p:grpSpPr bwMode="auto">
          <a:xfrm>
            <a:off x="2135561" y="4653707"/>
            <a:ext cx="3773487" cy="1311275"/>
            <a:chOff x="431" y="3077"/>
            <a:chExt cx="2377" cy="826"/>
          </a:xfrm>
        </p:grpSpPr>
        <p:graphicFrame>
          <p:nvGraphicFramePr>
            <p:cNvPr id="18436" name="Object 16"/>
            <p:cNvGraphicFramePr>
              <a:graphicFrameLocks noChangeAspect="1"/>
            </p:cNvGraphicFramePr>
            <p:nvPr/>
          </p:nvGraphicFramePr>
          <p:xfrm>
            <a:off x="658" y="3077"/>
            <a:ext cx="1612" cy="363"/>
          </p:xfrm>
          <a:graphic>
            <a:graphicData uri="http://schemas.openxmlformats.org/presentationml/2006/ole">
              <mc:AlternateContent xmlns:mc="http://schemas.openxmlformats.org/markup-compatibility/2006">
                <mc:Choice xmlns:v="urn:schemas-microsoft-com:vml" Requires="v">
                  <p:oleObj name="Equation" r:id="rId7" imgW="1206360" imgH="253800" progId="Equation.DSMT4">
                    <p:embed/>
                  </p:oleObj>
                </mc:Choice>
                <mc:Fallback>
                  <p:oleObj name="Equation" r:id="rId7" imgW="1206360" imgH="253800" progId="Equation.DSMT4">
                    <p:embed/>
                    <p:pic>
                      <p:nvPicPr>
                        <p:cNvPr id="18436"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 y="3077"/>
                          <a:ext cx="1612"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7" name="Object 18"/>
            <p:cNvGraphicFramePr>
              <a:graphicFrameLocks noChangeAspect="1"/>
            </p:cNvGraphicFramePr>
            <p:nvPr/>
          </p:nvGraphicFramePr>
          <p:xfrm>
            <a:off x="658" y="3530"/>
            <a:ext cx="2150" cy="373"/>
          </p:xfrm>
          <a:graphic>
            <a:graphicData uri="http://schemas.openxmlformats.org/presentationml/2006/ole">
              <mc:AlternateContent xmlns:mc="http://schemas.openxmlformats.org/markup-compatibility/2006">
                <mc:Choice xmlns:v="urn:schemas-microsoft-com:vml" Requires="v">
                  <p:oleObj name="Equation" r:id="rId9" imgW="1663560" imgH="253800" progId="Equation.DSMT4">
                    <p:embed/>
                  </p:oleObj>
                </mc:Choice>
                <mc:Fallback>
                  <p:oleObj name="Equation" r:id="rId9" imgW="1663560" imgH="253800" progId="Equation.DSMT4">
                    <p:embed/>
                    <p:pic>
                      <p:nvPicPr>
                        <p:cNvPr id="18437"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 y="3530"/>
                          <a:ext cx="2150" cy="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1" name="AutoShape 21"/>
            <p:cNvSpPr>
              <a:spLocks/>
            </p:cNvSpPr>
            <p:nvPr/>
          </p:nvSpPr>
          <p:spPr bwMode="auto">
            <a:xfrm>
              <a:off x="431" y="3249"/>
              <a:ext cx="188" cy="631"/>
            </a:xfrm>
            <a:prstGeom prst="leftBrace">
              <a:avLst>
                <a:gd name="adj1" fmla="val 27970"/>
                <a:gd name="adj2" fmla="val 50000"/>
              </a:avLst>
            </a:prstGeom>
            <a:noFill/>
            <a:ln w="28575">
              <a:solidFill>
                <a:schemeClr val="tx1"/>
              </a:solidFill>
              <a:round/>
              <a:headEnd/>
              <a:tailEnd/>
            </a:ln>
          </p:spPr>
          <p:txBody>
            <a:bodyPr wrap="none" anchor="ctr"/>
            <a:lstStyle/>
            <a:p>
              <a:endParaRPr lang="zh-CN" altLang="en-US"/>
            </a:p>
          </p:txBody>
        </p:sp>
      </p:grpSp>
      <p:sp>
        <p:nvSpPr>
          <p:cNvPr id="18446" name="Rectangle 23"/>
          <p:cNvSpPr>
            <a:spLocks noChangeArrowheads="1"/>
          </p:cNvSpPr>
          <p:nvPr/>
        </p:nvSpPr>
        <p:spPr bwMode="auto">
          <a:xfrm>
            <a:off x="1524001" y="2991922"/>
            <a:ext cx="184731" cy="369332"/>
          </a:xfrm>
          <a:prstGeom prst="rect">
            <a:avLst/>
          </a:prstGeom>
          <a:noFill/>
          <a:ln w="9525">
            <a:noFill/>
            <a:miter lim="800000"/>
            <a:headEnd/>
            <a:tailEnd/>
          </a:ln>
        </p:spPr>
        <p:txBody>
          <a:bodyPr wrap="none" anchor="ctr">
            <a:spAutoFit/>
          </a:bodyPr>
          <a:lstStyle/>
          <a:p>
            <a:endParaRPr lang="zh-CN" altLang="en-US"/>
          </a:p>
        </p:txBody>
      </p:sp>
      <p:sp>
        <p:nvSpPr>
          <p:cNvPr id="58397" name="Rectangle 29"/>
          <p:cNvSpPr>
            <a:spLocks noChangeArrowheads="1"/>
          </p:cNvSpPr>
          <p:nvPr/>
        </p:nvSpPr>
        <p:spPr bwMode="auto">
          <a:xfrm>
            <a:off x="2306780" y="4079407"/>
            <a:ext cx="3602268" cy="523220"/>
          </a:xfrm>
          <a:prstGeom prst="rect">
            <a:avLst/>
          </a:prstGeom>
          <a:noFill/>
          <a:ln w="9525">
            <a:noFill/>
            <a:miter lim="800000"/>
            <a:headEnd/>
            <a:tailEnd/>
          </a:ln>
        </p:spPr>
        <p:txBody>
          <a:bodyPr wrap="none" anchor="ctr">
            <a:spAutoFit/>
          </a:bodyPr>
          <a:lstStyle/>
          <a:p>
            <a:r>
              <a:rPr lang="zh-CN" altLang="en-US" sz="2800" b="1" dirty="0">
                <a:solidFill>
                  <a:srgbClr val="0070C0"/>
                </a:solidFill>
              </a:rPr>
              <a:t>最小二乘的正规方程</a:t>
            </a:r>
            <a:r>
              <a:rPr lang="en-US" altLang="zh-CN" sz="2800" b="1" dirty="0">
                <a:solidFill>
                  <a:srgbClr val="0070C0"/>
                </a:solidFill>
              </a:rPr>
              <a:t>: </a:t>
            </a:r>
          </a:p>
        </p:txBody>
      </p:sp>
      <p:graphicFrame>
        <p:nvGraphicFramePr>
          <p:cNvPr id="21" name="Object 7">
            <a:hlinkClick r:id="" action="ppaction://ole?verb=0"/>
          </p:cNvPr>
          <p:cNvGraphicFramePr>
            <a:graphicFrameLocks/>
          </p:cNvGraphicFramePr>
          <p:nvPr>
            <p:extLst>
              <p:ext uri="{D42A27DB-BD31-4B8C-83A1-F6EECF244321}">
                <p14:modId xmlns:p14="http://schemas.microsoft.com/office/powerpoint/2010/main" val="1236051883"/>
              </p:ext>
            </p:extLst>
          </p:nvPr>
        </p:nvGraphicFramePr>
        <p:xfrm>
          <a:off x="6506840" y="4055920"/>
          <a:ext cx="3384376" cy="1773237"/>
        </p:xfrm>
        <a:graphic>
          <a:graphicData uri="http://schemas.openxmlformats.org/presentationml/2006/ole">
            <mc:AlternateContent xmlns:mc="http://schemas.openxmlformats.org/markup-compatibility/2006">
              <mc:Choice xmlns:v="urn:schemas-microsoft-com:vml" Requires="v">
                <p:oleObj name="公式" r:id="rId11" imgW="1777680" imgH="787320" progId="Equation.3">
                  <p:embed/>
                </p:oleObj>
              </mc:Choice>
              <mc:Fallback>
                <p:oleObj name="公式" r:id="rId11" imgW="1777680" imgH="787320" progId="Equation.3">
                  <p:embed/>
                  <p:pic>
                    <p:nvPicPr>
                      <p:cNvPr id="21" name="Object 7">
                        <a:hlinkClick r:id="" action="ppaction://ole?verb=0"/>
                      </p:cNvPr>
                      <p:cNvPicPr>
                        <a:picLocks noChangeArrowheads="1"/>
                      </p:cNvPicPr>
                      <p:nvPr/>
                    </p:nvPicPr>
                    <p:blipFill>
                      <a:blip r:embed="rId12"/>
                      <a:srcRect/>
                      <a:stretch>
                        <a:fillRect/>
                      </a:stretch>
                    </p:blipFill>
                    <p:spPr bwMode="auto">
                      <a:xfrm>
                        <a:off x="6506840" y="4055920"/>
                        <a:ext cx="3384376" cy="1773237"/>
                      </a:xfrm>
                      <a:prstGeom prst="rect">
                        <a:avLst/>
                      </a:prstGeom>
                      <a:noFill/>
                      <a:ln w="28575">
                        <a:solidFill>
                          <a:srgbClr val="CC0099"/>
                        </a:solidFill>
                        <a:miter lim="800000"/>
                        <a:headEnd/>
                        <a:tailEnd/>
                      </a:ln>
                      <a:effectLst>
                        <a:outerShdw dist="17961" dir="2700000" algn="ctr" rotWithShape="0">
                          <a:schemeClr val="bg2"/>
                        </a:outerShdw>
                      </a:effectLst>
                    </p:spPr>
                  </p:pic>
                </p:oleObj>
              </mc:Fallback>
            </mc:AlternateContent>
          </a:graphicData>
        </a:graphic>
      </p:graphicFrame>
    </p:spTree>
    <p:extLst>
      <p:ext uri="{BB962C8B-B14F-4D97-AF65-F5344CB8AC3E}">
        <p14:creationId xmlns:p14="http://schemas.microsoft.com/office/powerpoint/2010/main" val="286604662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7"/>
                                        </p:tgtEl>
                                        <p:attrNameLst>
                                          <p:attrName>style.visibility</p:attrName>
                                        </p:attrNameLst>
                                      </p:cBhvr>
                                      <p:to>
                                        <p:strVal val="visible"/>
                                      </p:to>
                                    </p:set>
                                    <p:animEffect transition="in" filter="wipe(left)">
                                      <p:cBhvr>
                                        <p:cTn id="7" dur="500"/>
                                        <p:tgtEl>
                                          <p:spTgt spid="5837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397"/>
                                        </p:tgtEl>
                                        <p:attrNameLst>
                                          <p:attrName>style.visibility</p:attrName>
                                        </p:attrNameLst>
                                      </p:cBhvr>
                                      <p:to>
                                        <p:strVal val="visible"/>
                                      </p:to>
                                    </p:set>
                                    <p:animEffect transition="in" filter="wipe(left)">
                                      <p:cBhvr>
                                        <p:cTn id="11" dur="500"/>
                                        <p:tgtEl>
                                          <p:spTgt spid="5839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checkerboard(across)">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7" grpId="0" animBg="1"/>
      <p:bldP spid="5839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10"/>
          </p:nvPr>
        </p:nvSpPr>
        <p:spPr>
          <a:noFill/>
        </p:spPr>
        <p:txBody>
          <a:bodyPr/>
          <a:lstStyle/>
          <a:p>
            <a:r>
              <a:rPr lang="en-US" altLang="zh-CN"/>
              <a:t>9--</a:t>
            </a:r>
            <a:fld id="{E5F40AB1-1F2F-48AF-92CC-07FA6B12E0A7}" type="slidenum">
              <a:rPr lang="en-US" altLang="zh-CN" smtClean="0"/>
              <a:pPr/>
              <a:t>49</a:t>
            </a:fld>
            <a:endParaRPr lang="en-US" altLang="zh-CN"/>
          </a:p>
        </p:txBody>
      </p:sp>
      <p:sp>
        <p:nvSpPr>
          <p:cNvPr id="79875" name="Rectangle 32"/>
          <p:cNvSpPr>
            <a:spLocks noGrp="1" noChangeArrowheads="1"/>
          </p:cNvSpPr>
          <p:nvPr>
            <p:ph type="title" idx="4294967295"/>
          </p:nvPr>
        </p:nvSpPr>
        <p:spPr>
          <a:xfrm>
            <a:off x="2413000" y="431800"/>
            <a:ext cx="6553200" cy="990600"/>
          </a:xfrm>
        </p:spPr>
        <p:txBody>
          <a:bodyPr/>
          <a:lstStyle/>
          <a:p>
            <a:pPr eaLnBrk="1" hangingPunct="1"/>
            <a:r>
              <a:rPr lang="en-US" altLang="zh-CN" b="1" dirty="0">
                <a:effectLst/>
              </a:rPr>
              <a:t>【</a:t>
            </a:r>
            <a:r>
              <a:rPr lang="zh-CN" altLang="en-US" b="1" dirty="0">
                <a:effectLst/>
              </a:rPr>
              <a:t>例</a:t>
            </a:r>
            <a:r>
              <a:rPr lang="en-US" altLang="zh-CN" b="1" dirty="0">
                <a:effectLst/>
              </a:rPr>
              <a:t>9-3】</a:t>
            </a:r>
            <a:r>
              <a:rPr lang="zh-CN" altLang="en-US" b="1" dirty="0">
                <a:effectLst/>
                <a:latin typeface="Times New Roman" pitchFamily="18" charset="0"/>
              </a:rPr>
              <a:t> </a:t>
            </a:r>
            <a:r>
              <a:rPr lang="en-US" altLang="zh-CN" b="1" dirty="0">
                <a:effectLst/>
                <a:latin typeface="Times New Roman" pitchFamily="18" charset="0"/>
              </a:rPr>
              <a:t>(</a:t>
            </a:r>
            <a:r>
              <a:rPr lang="zh-CN" altLang="en-US" b="1" dirty="0">
                <a:effectLst/>
                <a:latin typeface="Times New Roman" pitchFamily="18" charset="0"/>
              </a:rPr>
              <a:t>简化</a:t>
            </a:r>
            <a:r>
              <a:rPr lang="en-US" altLang="zh-CN" b="1" dirty="0">
                <a:effectLst/>
                <a:latin typeface="Times New Roman" pitchFamily="18" charset="0"/>
              </a:rPr>
              <a:t>)</a:t>
            </a:r>
            <a:r>
              <a:rPr lang="zh-CN" altLang="en-US" b="1" dirty="0">
                <a:effectLst/>
                <a:latin typeface="Times New Roman" pitchFamily="18" charset="0"/>
              </a:rPr>
              <a:t>计算表</a:t>
            </a:r>
            <a:endParaRPr lang="zh-CN" altLang="en-US" sz="2800" b="1" dirty="0">
              <a:solidFill>
                <a:srgbClr val="FF0000"/>
              </a:solidFill>
              <a:effectLst/>
            </a:endParaRPr>
          </a:p>
        </p:txBody>
      </p:sp>
      <p:graphicFrame>
        <p:nvGraphicFramePr>
          <p:cNvPr id="242086" name="Group 1446"/>
          <p:cNvGraphicFramePr>
            <a:graphicFrameLocks noGrp="1"/>
          </p:cNvGraphicFramePr>
          <p:nvPr>
            <p:extLst>
              <p:ext uri="{D42A27DB-BD31-4B8C-83A1-F6EECF244321}">
                <p14:modId xmlns:p14="http://schemas.microsoft.com/office/powerpoint/2010/main" val="1848354802"/>
              </p:ext>
            </p:extLst>
          </p:nvPr>
        </p:nvGraphicFramePr>
        <p:xfrm>
          <a:off x="2817813" y="1328139"/>
          <a:ext cx="6519862" cy="4874264"/>
        </p:xfrm>
        <a:graphic>
          <a:graphicData uri="http://schemas.openxmlformats.org/drawingml/2006/table">
            <a:tbl>
              <a:tblPr/>
              <a:tblGrid>
                <a:gridCol w="1007926">
                  <a:extLst>
                    <a:ext uri="{9D8B030D-6E8A-4147-A177-3AD203B41FA5}">
                      <a16:colId xmlns:a16="http://schemas.microsoft.com/office/drawing/2014/main" val="20000"/>
                    </a:ext>
                  </a:extLst>
                </a:gridCol>
                <a:gridCol w="1552104">
                  <a:extLst>
                    <a:ext uri="{9D8B030D-6E8A-4147-A177-3AD203B41FA5}">
                      <a16:colId xmlns:a16="http://schemas.microsoft.com/office/drawing/2014/main" val="20001"/>
                    </a:ext>
                  </a:extLst>
                </a:gridCol>
                <a:gridCol w="1475097">
                  <a:extLst>
                    <a:ext uri="{9D8B030D-6E8A-4147-A177-3AD203B41FA5}">
                      <a16:colId xmlns:a16="http://schemas.microsoft.com/office/drawing/2014/main" val="20002"/>
                    </a:ext>
                  </a:extLst>
                </a:gridCol>
                <a:gridCol w="1398091">
                  <a:extLst>
                    <a:ext uri="{9D8B030D-6E8A-4147-A177-3AD203B41FA5}">
                      <a16:colId xmlns:a16="http://schemas.microsoft.com/office/drawing/2014/main" val="20003"/>
                    </a:ext>
                  </a:extLst>
                </a:gridCol>
                <a:gridCol w="1086644">
                  <a:extLst>
                    <a:ext uri="{9D8B030D-6E8A-4147-A177-3AD203B41FA5}">
                      <a16:colId xmlns:a16="http://schemas.microsoft.com/office/drawing/2014/main" val="20004"/>
                    </a:ext>
                  </a:extLst>
                </a:gridCol>
              </a:tblGrid>
              <a:tr h="552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宋体" pitchFamily="2" charset="-122"/>
                          <a:ea typeface="宋体" pitchFamily="2" charset="-122"/>
                        </a:rPr>
                        <a:t>序号</a:t>
                      </a:r>
                      <a:endParaRPr kumimoji="0" lang="zh-CN" altLang="en-US" sz="2400" b="1" i="0" u="none" strike="noStrike" cap="none" normalizeH="0" baseline="0" dirty="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宋体" pitchFamily="2" charset="-122"/>
                          <a:ea typeface="宋体" pitchFamily="2" charset="-122"/>
                        </a:rPr>
                        <a:t>广告费</a:t>
                      </a:r>
                      <a:r>
                        <a:rPr kumimoji="0" lang="en-US" altLang="zh-CN" sz="2400" b="1" i="0" u="none" strike="noStrike" cap="none" normalizeH="0" baseline="0" dirty="0">
                          <a:ln>
                            <a:noFill/>
                          </a:ln>
                          <a:solidFill>
                            <a:srgbClr val="FF0000"/>
                          </a:solidFill>
                          <a:effectLst/>
                          <a:latin typeface="宋体" pitchFamily="2" charset="-122"/>
                          <a:ea typeface="宋体" pitchFamily="2" charset="-122"/>
                        </a:rPr>
                        <a:t>X</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销售量</a:t>
                      </a:r>
                      <a:r>
                        <a:rPr kumimoji="0" lang="en-US" altLang="zh-CN" sz="2400" b="1" i="0" u="none" strike="noStrike" cap="none" normalizeH="0" baseline="0" dirty="0">
                          <a:ln>
                            <a:noFill/>
                          </a:ln>
                          <a:solidFill>
                            <a:srgbClr val="FF0000"/>
                          </a:solidFill>
                          <a:effectLst/>
                          <a:latin typeface="宋体" pitchFamily="2" charset="-122"/>
                          <a:ea typeface="宋体" pitchFamily="2" charset="-122"/>
                        </a:rPr>
                        <a:t>Y</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XY</a:t>
                      </a:r>
                      <a:endParaRPr kumimoji="0" lang="en-US" altLang="zh-CN" sz="2400" b="1" i="0" u="none" strike="noStrike" cap="none" normalizeH="0" baseline="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X</a:t>
                      </a:r>
                      <a:r>
                        <a:rPr kumimoji="0" lang="en-US" altLang="zh-CN" sz="2400" b="1" i="0" u="none" strike="noStrike" cap="none" normalizeH="0" baseline="30000" dirty="0">
                          <a:ln>
                            <a:noFill/>
                          </a:ln>
                          <a:solidFill>
                            <a:srgbClr val="FF0000"/>
                          </a:solidFill>
                          <a:effectLst/>
                          <a:latin typeface="宋体" pitchFamily="2" charset="-122"/>
                          <a:ea typeface="宋体" pitchFamily="2" charset="-122"/>
                        </a:rPr>
                        <a:t>2</a:t>
                      </a:r>
                      <a:endParaRPr kumimoji="0" lang="en-US" altLang="zh-CN" sz="2400" b="1" i="0" u="none" strike="noStrike" cap="none" normalizeH="0" baseline="30000" dirty="0">
                        <a:ln>
                          <a:noFill/>
                        </a:ln>
                        <a:solidFill>
                          <a:srgbClr val="FF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宋体" pitchFamily="2" charset="-122"/>
                          <a:ea typeface="宋体" pitchFamily="2" charset="-122"/>
                        </a:rPr>
                        <a:t>1</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32</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1280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1600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2</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34</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1530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2025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52546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3</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48</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2160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2025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4</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65</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55</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3575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4225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5</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80</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50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dirty="0">
                          <a:solidFill>
                            <a:srgbClr val="C00000"/>
                          </a:solidFill>
                          <a:latin typeface="Times New Roman"/>
                        </a:rPr>
                        <a:t>4000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6400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6</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92</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60</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5520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8464</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7</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105</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78</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8190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dirty="0">
                          <a:solidFill>
                            <a:srgbClr val="C00000"/>
                          </a:solidFill>
                          <a:latin typeface="Times New Roman"/>
                        </a:rPr>
                        <a:t>11025</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宋体" pitchFamily="2" charset="-122"/>
                          <a:ea typeface="宋体" pitchFamily="2" charset="-122"/>
                        </a:rPr>
                        <a:t>8</a:t>
                      </a:r>
                      <a:endParaRPr kumimoji="0" lang="en-US" altLang="zh-CN" sz="2400" b="1" i="0" u="none" strike="noStrike" cap="none" normalizeH="0" baseline="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a:solidFill>
                            <a:srgbClr val="000000"/>
                          </a:solidFill>
                          <a:latin typeface="Times New Roman"/>
                          <a:ea typeface="宋体"/>
                          <a:cs typeface="Times New Roman"/>
                        </a:rPr>
                        <a:t>110</a:t>
                      </a:r>
                      <a:endParaRPr lang="zh-CN" sz="28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800" b="1" kern="100" dirty="0">
                          <a:solidFill>
                            <a:srgbClr val="000000"/>
                          </a:solidFill>
                          <a:latin typeface="Times New Roman"/>
                          <a:ea typeface="宋体"/>
                          <a:cs typeface="Times New Roman"/>
                        </a:rPr>
                        <a:t>64</a:t>
                      </a:r>
                      <a:endParaRPr lang="zh-CN" sz="28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b"/>
                      <a:r>
                        <a:rPr lang="en-US" altLang="zh-CN" sz="2400" b="1" i="0" u="none" strike="noStrike">
                          <a:solidFill>
                            <a:srgbClr val="C00000"/>
                          </a:solidFill>
                          <a:latin typeface="Times New Roman"/>
                        </a:rPr>
                        <a:t>7040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algn="ctr" fontAlgn="b"/>
                      <a:r>
                        <a:rPr lang="en-US" altLang="zh-CN" sz="2400" b="1" i="0" u="none" strike="noStrike">
                          <a:solidFill>
                            <a:srgbClr val="C00000"/>
                          </a:solidFill>
                          <a:latin typeface="Times New Roman"/>
                        </a:rPr>
                        <a:t>12100</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468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lang="zh-CN" altLang="en-US" sz="2800" b="1" i="0" u="none" strike="noStrike" kern="1200" dirty="0">
                          <a:solidFill>
                            <a:srgbClr val="FF0000"/>
                          </a:solidFill>
                          <a:latin typeface="宋体"/>
                          <a:ea typeface="+mn-ea"/>
                          <a:cs typeface="+mn-cs"/>
                        </a:rPr>
                        <a:t>合计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algn="ctr" defTabSz="914400" rtl="0" eaLnBrk="1" fontAlgn="b" latinLnBrk="0" hangingPunct="1">
                        <a:spcAft>
                          <a:spcPts val="0"/>
                        </a:spcAft>
                      </a:pPr>
                      <a:r>
                        <a:rPr lang="en-US" altLang="zh-CN" sz="2800" b="1" i="0" u="none" strike="noStrike" kern="1200" dirty="0">
                          <a:solidFill>
                            <a:srgbClr val="FF0000"/>
                          </a:solidFill>
                          <a:latin typeface="宋体"/>
                          <a:ea typeface="+mn-ea"/>
                          <a:cs typeface="+mn-cs"/>
                        </a:rPr>
                        <a:t>582</a:t>
                      </a:r>
                      <a:endParaRPr lang="zh-CN" altLang="zh-CN" sz="2800" b="1" i="0" u="none" strike="noStrike" kern="1200" dirty="0">
                        <a:solidFill>
                          <a:srgbClr val="FF0000"/>
                        </a:solidFill>
                        <a:latin typeface="宋体"/>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algn="ctr" defTabSz="914400" rtl="0" eaLnBrk="1" fontAlgn="b" latinLnBrk="0" hangingPunct="1">
                        <a:spcAft>
                          <a:spcPts val="0"/>
                        </a:spcAft>
                      </a:pPr>
                      <a:r>
                        <a:rPr lang="en-US" altLang="zh-CN" sz="2800" b="1" i="0" u="none" strike="noStrike" kern="1200" dirty="0">
                          <a:solidFill>
                            <a:srgbClr val="FF0000"/>
                          </a:solidFill>
                          <a:latin typeface="宋体"/>
                          <a:ea typeface="+mn-ea"/>
                          <a:cs typeface="+mn-cs"/>
                        </a:rPr>
                        <a:t>421</a:t>
                      </a:r>
                      <a:endParaRPr lang="zh-CN" altLang="zh-CN" sz="2800" b="1" i="0" u="none" strike="noStrike" kern="1200" dirty="0">
                        <a:solidFill>
                          <a:srgbClr val="FF0000"/>
                        </a:solidFill>
                        <a:latin typeface="宋体"/>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algn="ctr" fontAlgn="b"/>
                      <a:r>
                        <a:rPr lang="en-US" altLang="zh-CN" sz="2800" b="1" i="0" u="none" strike="noStrike" dirty="0">
                          <a:solidFill>
                            <a:srgbClr val="FF0000"/>
                          </a:solidFill>
                          <a:latin typeface="宋体"/>
                        </a:rPr>
                        <a:t>33295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algn="ctr" fontAlgn="b"/>
                      <a:r>
                        <a:rPr lang="en-US" altLang="zh-CN" sz="2800" b="1" i="0" u="none" strike="noStrike" dirty="0">
                          <a:solidFill>
                            <a:srgbClr val="FF0000"/>
                          </a:solidFill>
                          <a:latin typeface="宋体"/>
                        </a:rPr>
                        <a:t>47864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463189198"/>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灯片编号占位符 6"/>
          <p:cNvSpPr>
            <a:spLocks noGrp="1"/>
          </p:cNvSpPr>
          <p:nvPr>
            <p:ph type="sldNum" sz="quarter" idx="10"/>
          </p:nvPr>
        </p:nvSpPr>
        <p:spPr>
          <a:noFill/>
        </p:spPr>
        <p:txBody>
          <a:bodyPr/>
          <a:lstStyle/>
          <a:p>
            <a:r>
              <a:rPr lang="en-US" altLang="zh-CN" dirty="0"/>
              <a:t>9--</a:t>
            </a:r>
            <a:fld id="{FBADC6F1-998A-4E60-9C7E-F974D05028A6}" type="slidenum">
              <a:rPr lang="en-US" altLang="zh-CN" smtClean="0"/>
              <a:pPr/>
              <a:t>50</a:t>
            </a:fld>
            <a:endParaRPr lang="en-US" altLang="zh-CN" dirty="0"/>
          </a:p>
        </p:txBody>
      </p:sp>
      <p:sp>
        <p:nvSpPr>
          <p:cNvPr id="21508" name="Rectangle 2"/>
          <p:cNvSpPr>
            <a:spLocks noGrp="1" noChangeArrowheads="1"/>
          </p:cNvSpPr>
          <p:nvPr>
            <p:ph type="title" idx="4294967295"/>
          </p:nvPr>
        </p:nvSpPr>
        <p:spPr>
          <a:xfrm>
            <a:off x="1403932" y="538808"/>
            <a:ext cx="6647868" cy="801687"/>
          </a:xfrm>
          <a:noFill/>
        </p:spPr>
        <p:txBody>
          <a:bodyPr vert="horz" lIns="90488" tIns="44450" rIns="90488" bIns="44450" rtlCol="0" anchor="ctr" anchorCtr="1">
            <a:normAutofit/>
          </a:bodyPr>
          <a:lstStyle/>
          <a:p>
            <a:pPr eaLnBrk="1" hangingPunct="1"/>
            <a:r>
              <a:rPr lang="en-US" altLang="zh-CN" b="1" dirty="0">
                <a:effectLst/>
              </a:rPr>
              <a:t>【</a:t>
            </a:r>
            <a:r>
              <a:rPr lang="zh-CN" altLang="en-US" b="1" dirty="0">
                <a:effectLst/>
              </a:rPr>
              <a:t>例</a:t>
            </a:r>
            <a:r>
              <a:rPr lang="en-US" altLang="zh-CN" b="1" dirty="0">
                <a:effectLst/>
              </a:rPr>
              <a:t>9-3】Excel</a:t>
            </a:r>
            <a:r>
              <a:rPr lang="zh-CN" altLang="en-US" sz="4300" b="1" dirty="0">
                <a:effectLst/>
                <a:latin typeface="Times New Roman" pitchFamily="18" charset="0"/>
              </a:rPr>
              <a:t>输出结果</a:t>
            </a:r>
          </a:p>
        </p:txBody>
      </p:sp>
      <p:sp>
        <p:nvSpPr>
          <p:cNvPr id="21509" name="Rectangle 3"/>
          <p:cNvSpPr>
            <a:spLocks noChangeArrowheads="1"/>
          </p:cNvSpPr>
          <p:nvPr/>
        </p:nvSpPr>
        <p:spPr bwMode="auto">
          <a:xfrm>
            <a:off x="1524001" y="3115747"/>
            <a:ext cx="184731" cy="369332"/>
          </a:xfrm>
          <a:prstGeom prst="rect">
            <a:avLst/>
          </a:prstGeom>
          <a:noFill/>
          <a:ln w="9525">
            <a:noFill/>
            <a:miter lim="800000"/>
            <a:headEnd/>
            <a:tailEnd/>
          </a:ln>
        </p:spPr>
        <p:txBody>
          <a:bodyPr wrap="none" anchor="ctr">
            <a:spAutoFit/>
          </a:bodyPr>
          <a:lstStyle/>
          <a:p>
            <a:endParaRPr lang="zh-CN" altLang="en-US"/>
          </a:p>
        </p:txBody>
      </p:sp>
      <p:sp>
        <p:nvSpPr>
          <p:cNvPr id="21510" name="Rectangle 5"/>
          <p:cNvSpPr>
            <a:spLocks noChangeArrowheads="1"/>
          </p:cNvSpPr>
          <p:nvPr/>
        </p:nvSpPr>
        <p:spPr bwMode="auto">
          <a:xfrm>
            <a:off x="1775520" y="4149081"/>
            <a:ext cx="4679950" cy="574675"/>
          </a:xfrm>
          <a:prstGeom prst="rect">
            <a:avLst/>
          </a:prstGeom>
          <a:noFill/>
          <a:ln w="12700">
            <a:noFill/>
            <a:miter lim="800000"/>
            <a:headEnd/>
            <a:tailEnd/>
          </a:ln>
        </p:spPr>
        <p:txBody>
          <a:bodyPr lIns="90488" tIns="44450" rIns="90488" bIns="44450"/>
          <a:lstStyle/>
          <a:p>
            <a:pPr marL="609600" indent="-609600" algn="just">
              <a:lnSpc>
                <a:spcPct val="120000"/>
              </a:lnSpc>
              <a:spcBef>
                <a:spcPct val="20000"/>
              </a:spcBef>
              <a:buSzPct val="90000"/>
            </a:pPr>
            <a:r>
              <a:rPr lang="zh-CN" altLang="en-US" sz="3200" b="1" dirty="0">
                <a:solidFill>
                  <a:srgbClr val="000000"/>
                </a:solidFill>
                <a:latin typeface="宋体" pitchFamily="2" charset="-122"/>
                <a:sym typeface="Symbol" pitchFamily="18" charset="2"/>
              </a:rPr>
              <a:t>所估计的样本回归方程为</a:t>
            </a:r>
            <a:r>
              <a:rPr lang="en-US" altLang="zh-CN" sz="3200" b="1" dirty="0">
                <a:solidFill>
                  <a:srgbClr val="000000"/>
                </a:solidFill>
                <a:latin typeface="宋体" pitchFamily="2" charset="-122"/>
                <a:sym typeface="Symbol" pitchFamily="18" charset="2"/>
              </a:rPr>
              <a:t>:</a:t>
            </a:r>
          </a:p>
        </p:txBody>
      </p:sp>
      <p:graphicFrame>
        <p:nvGraphicFramePr>
          <p:cNvPr id="377919" name="Group 63"/>
          <p:cNvGraphicFramePr>
            <a:graphicFrameLocks noGrp="1"/>
          </p:cNvGraphicFramePr>
          <p:nvPr>
            <p:extLst>
              <p:ext uri="{D42A27DB-BD31-4B8C-83A1-F6EECF244321}">
                <p14:modId xmlns:p14="http://schemas.microsoft.com/office/powerpoint/2010/main" val="753529667"/>
              </p:ext>
            </p:extLst>
          </p:nvPr>
        </p:nvGraphicFramePr>
        <p:xfrm>
          <a:off x="1809751" y="1628775"/>
          <a:ext cx="8606731" cy="2232026"/>
        </p:xfrm>
        <a:graphic>
          <a:graphicData uri="http://schemas.openxmlformats.org/drawingml/2006/table">
            <a:tbl>
              <a:tblPr/>
              <a:tblGrid>
                <a:gridCol w="1377949">
                  <a:extLst>
                    <a:ext uri="{9D8B030D-6E8A-4147-A177-3AD203B41FA5}">
                      <a16:colId xmlns:a16="http://schemas.microsoft.com/office/drawing/2014/main" val="20000"/>
                    </a:ext>
                  </a:extLst>
                </a:gridCol>
                <a:gridCol w="17399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019487">
                  <a:extLst>
                    <a:ext uri="{9D8B030D-6E8A-4147-A177-3AD203B41FA5}">
                      <a16:colId xmlns:a16="http://schemas.microsoft.com/office/drawing/2014/main" val="20004"/>
                    </a:ext>
                  </a:extLst>
                </a:gridCol>
                <a:gridCol w="1198870">
                  <a:extLst>
                    <a:ext uri="{9D8B030D-6E8A-4147-A177-3AD203B41FA5}">
                      <a16:colId xmlns:a16="http://schemas.microsoft.com/office/drawing/2014/main" val="20005"/>
                    </a:ext>
                  </a:extLst>
                </a:gridCol>
                <a:gridCol w="1200425">
                  <a:extLst>
                    <a:ext uri="{9D8B030D-6E8A-4147-A177-3AD203B41FA5}">
                      <a16:colId xmlns:a16="http://schemas.microsoft.com/office/drawing/2014/main" val="20006"/>
                    </a:ext>
                  </a:extLst>
                </a:gridCol>
              </a:tblGrid>
              <a:tr h="10112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chemeClr val="tx1"/>
                          </a:solidFill>
                          <a:effectLst/>
                          <a:latin typeface="宋体" pitchFamily="2" charset="-122"/>
                          <a:ea typeface="宋体" pitchFamily="2" charset="-122"/>
                        </a:rPr>
                        <a:t>　</a:t>
                      </a:r>
                      <a:endParaRPr kumimoji="0" lang="zh-CN" altLang="en-US" sz="2200" b="1" i="0" u="none" strike="noStrike" cap="none" normalizeH="0" baseline="0" dirty="0">
                        <a:ln>
                          <a:noFill/>
                        </a:ln>
                        <a:solidFill>
                          <a:schemeClr val="tx1"/>
                        </a:solidFill>
                        <a:effectLst/>
                        <a:latin typeface="Arial" charset="0"/>
                        <a:ea typeface="宋体" pitchFamily="2" charset="-122"/>
                      </a:endParaRPr>
                    </a:p>
                  </a:txBody>
                  <a:tcPr marL="0" marR="0" marT="46800" marB="4680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FF0000"/>
                          </a:solidFill>
                          <a:effectLst/>
                          <a:latin typeface="宋体" pitchFamily="2" charset="-122"/>
                          <a:ea typeface="宋体" pitchFamily="2" charset="-122"/>
                        </a:rPr>
                        <a:t>Coefficients</a:t>
                      </a:r>
                      <a:endParaRPr kumimoji="0" lang="en-US" altLang="zh-CN" sz="2200" b="1" i="0" u="none" strike="noStrike" cap="none" normalizeH="0" baseline="0" dirty="0">
                        <a:ln>
                          <a:noFill/>
                        </a:ln>
                        <a:solidFill>
                          <a:srgbClr val="FF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rgbClr val="000000"/>
                          </a:solidFill>
                          <a:effectLst/>
                          <a:latin typeface="宋体" pitchFamily="2" charset="-122"/>
                          <a:ea typeface="宋体" pitchFamily="2" charset="-122"/>
                        </a:rPr>
                        <a:t>标准</a:t>
                      </a:r>
                      <a:endParaRPr kumimoji="0" lang="en-US" altLang="zh-CN" sz="2200" b="1" i="0" u="none" strike="noStrike" cap="none" normalizeH="0" baseline="0" dirty="0">
                        <a:ln>
                          <a:noFill/>
                        </a:ln>
                        <a:solidFill>
                          <a:srgbClr val="000000"/>
                        </a:solidFill>
                        <a:effectLst/>
                        <a:latin typeface="宋体" pitchFamily="2" charset="-122"/>
                        <a:ea typeface="宋体" pitchFamily="2" charset="-122"/>
                      </a:endParaRPr>
                    </a:p>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rgbClr val="000000"/>
                          </a:solidFill>
                          <a:effectLst/>
                          <a:latin typeface="宋体" pitchFamily="2" charset="-122"/>
                          <a:ea typeface="宋体" pitchFamily="2" charset="-122"/>
                        </a:rPr>
                        <a:t>误差</a:t>
                      </a:r>
                      <a:endParaRPr kumimoji="0" lang="zh-CN" altLang="en-US"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0000"/>
                          </a:solidFill>
                          <a:effectLst/>
                          <a:latin typeface="宋体" pitchFamily="2" charset="-122"/>
                          <a:ea typeface="宋体" pitchFamily="2" charset="-122"/>
                        </a:rPr>
                        <a:t>t Stat</a:t>
                      </a:r>
                      <a:endParaRPr kumimoji="0" lang="en-US" altLang="zh-CN"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0000"/>
                          </a:solidFill>
                          <a:effectLst/>
                          <a:latin typeface="宋体" pitchFamily="2" charset="-122"/>
                          <a:ea typeface="宋体" pitchFamily="2" charset="-122"/>
                        </a:rPr>
                        <a:t>P-value</a:t>
                      </a:r>
                      <a:endParaRPr kumimoji="0" lang="en-US" altLang="zh-CN"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0000"/>
                          </a:solidFill>
                          <a:effectLst/>
                          <a:latin typeface="宋体" pitchFamily="2" charset="-122"/>
                          <a:ea typeface="宋体" pitchFamily="2" charset="-122"/>
                        </a:rPr>
                        <a:t>Lower 95%</a:t>
                      </a:r>
                      <a:endParaRPr kumimoji="0" lang="en-US" altLang="zh-CN"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0000"/>
                          </a:solidFill>
                          <a:effectLst/>
                          <a:latin typeface="宋体" pitchFamily="2" charset="-122"/>
                          <a:ea typeface="宋体" pitchFamily="2" charset="-122"/>
                        </a:rPr>
                        <a:t>Upper 95%</a:t>
                      </a:r>
                      <a:endParaRPr kumimoji="0" lang="en-US" altLang="zh-CN"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118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0000"/>
                          </a:solidFill>
                          <a:effectLst/>
                          <a:latin typeface="宋体" pitchFamily="2" charset="-122"/>
                          <a:ea typeface="宋体" pitchFamily="2" charset="-122"/>
                        </a:rPr>
                        <a:t>Intercept</a:t>
                      </a:r>
                      <a:endParaRPr kumimoji="0" lang="en-US" altLang="zh-CN"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800" b="1" i="0" u="none" strike="noStrike" dirty="0">
                          <a:solidFill>
                            <a:srgbClr val="FF0000"/>
                          </a:solidFill>
                          <a:latin typeface="宋体"/>
                        </a:rPr>
                        <a:t>17.4947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7.9021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2.2139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0.0688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-1.8410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36.8304 </a:t>
                      </a: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rgbClr val="000000"/>
                          </a:solidFill>
                          <a:effectLst/>
                          <a:latin typeface="宋体" pitchFamily="2" charset="-122"/>
                          <a:ea typeface="宋体" pitchFamily="2" charset="-122"/>
                        </a:rPr>
                        <a:t>广告费</a:t>
                      </a:r>
                      <a:endParaRPr kumimoji="0" lang="zh-CN" altLang="en-US" sz="2200" b="1" i="0" u="none" strike="noStrike" cap="none" normalizeH="0" baseline="0" dirty="0">
                        <a:ln>
                          <a:noFill/>
                        </a:ln>
                        <a:solidFill>
                          <a:srgbClr val="000000"/>
                        </a:solidFill>
                        <a:effectLst/>
                        <a:latin typeface="Arial" charset="0"/>
                        <a:ea typeface="宋体" pitchFamily="2" charset="-122"/>
                      </a:endParaRPr>
                    </a:p>
                  </a:txBody>
                  <a:tcPr marL="0" marR="0" marT="46800" marB="4680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1" i="0" u="none" strike="noStrike" dirty="0">
                          <a:solidFill>
                            <a:srgbClr val="FF0000"/>
                          </a:solidFill>
                          <a:latin typeface="宋体"/>
                        </a:rPr>
                        <a:t>0.4829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0.1022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4.7268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0.0032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0.2329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400" b="0" i="0" u="none" strike="noStrike" dirty="0">
                          <a:solidFill>
                            <a:srgbClr val="000000"/>
                          </a:solidFill>
                          <a:latin typeface="宋体"/>
                        </a:rPr>
                        <a:t>0.7329 </a:t>
                      </a:r>
                    </a:p>
                  </a:txBody>
                  <a:tcPr marL="0" marR="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1545" name="Rectangle 4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1506" name="Object 41"/>
          <p:cNvGraphicFramePr>
            <a:graphicFrameLocks noChangeAspect="1"/>
          </p:cNvGraphicFramePr>
          <p:nvPr/>
        </p:nvGraphicFramePr>
        <p:xfrm>
          <a:off x="3257551" y="4824413"/>
          <a:ext cx="6303963" cy="874712"/>
        </p:xfrm>
        <a:graphic>
          <a:graphicData uri="http://schemas.openxmlformats.org/presentationml/2006/ole">
            <mc:AlternateContent xmlns:mc="http://schemas.openxmlformats.org/markup-compatibility/2006">
              <mc:Choice xmlns:v="urn:schemas-microsoft-com:vml" Requires="v">
                <p:oleObj name="公式" r:id="rId3" imgW="1422360" imgH="203040" progId="Equation.3">
                  <p:embed/>
                </p:oleObj>
              </mc:Choice>
              <mc:Fallback>
                <p:oleObj name="公式" r:id="rId3" imgW="1422360" imgH="203040" progId="Equation.3">
                  <p:embed/>
                  <p:pic>
                    <p:nvPicPr>
                      <p:cNvPr id="21506"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7551" y="4824413"/>
                        <a:ext cx="6303963" cy="874712"/>
                      </a:xfrm>
                      <a:prstGeom prst="rect">
                        <a:avLst/>
                      </a:prstGeom>
                      <a:noFill/>
                      <a:extLst>
                        <a:ext uri="{909E8E84-426E-40DD-AFC4-6F175D3DCCD1}">
                          <a14:hiddenFill xmlns:a14="http://schemas.microsoft.com/office/drawing/2010/main">
                            <a:solidFill>
                              <a:srgbClr val="C7C7DF"/>
                            </a:solidFill>
                          </a14:hiddenFill>
                        </a:ext>
                      </a:extLst>
                    </p:spPr>
                  </p:pic>
                </p:oleObj>
              </mc:Fallback>
            </mc:AlternateContent>
          </a:graphicData>
        </a:graphic>
      </p:graphicFrame>
    </p:spTree>
    <p:extLst>
      <p:ext uri="{BB962C8B-B14F-4D97-AF65-F5344CB8AC3E}">
        <p14:creationId xmlns:p14="http://schemas.microsoft.com/office/powerpoint/2010/main" val="2741458774"/>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灯片编号占位符 6"/>
          <p:cNvSpPr>
            <a:spLocks noGrp="1"/>
          </p:cNvSpPr>
          <p:nvPr>
            <p:ph type="sldNum" sz="quarter" idx="10"/>
          </p:nvPr>
        </p:nvSpPr>
        <p:spPr>
          <a:noFill/>
        </p:spPr>
        <p:txBody>
          <a:bodyPr/>
          <a:lstStyle/>
          <a:p>
            <a:r>
              <a:rPr lang="en-US" altLang="zh-CN" dirty="0"/>
              <a:t>9--</a:t>
            </a:r>
            <a:fld id="{A1A2F67B-EB6C-40C2-9B33-F30C2B1E409E}" type="slidenum">
              <a:rPr lang="en-US" altLang="zh-CN" smtClean="0"/>
              <a:pPr/>
              <a:t>51</a:t>
            </a:fld>
            <a:endParaRPr lang="en-US" altLang="zh-CN" dirty="0"/>
          </a:p>
        </p:txBody>
      </p:sp>
      <p:sp>
        <p:nvSpPr>
          <p:cNvPr id="22532" name="Rectangle 2"/>
          <p:cNvSpPr>
            <a:spLocks noGrp="1" noChangeArrowheads="1"/>
          </p:cNvSpPr>
          <p:nvPr>
            <p:ph type="title" idx="4294967295"/>
          </p:nvPr>
        </p:nvSpPr>
        <p:spPr>
          <a:xfrm>
            <a:off x="1333500" y="576388"/>
            <a:ext cx="7112000" cy="663575"/>
          </a:xfrm>
          <a:noFill/>
        </p:spPr>
        <p:txBody>
          <a:bodyPr vert="horz" lIns="90488" tIns="44450" rIns="90488" bIns="44450" rtlCol="0" anchor="ctr" anchorCtr="1">
            <a:normAutofit/>
          </a:bodyPr>
          <a:lstStyle/>
          <a:p>
            <a:pPr eaLnBrk="1" hangingPunct="1"/>
            <a:r>
              <a:rPr lang="en-US" altLang="zh-CN" sz="3600" b="1" dirty="0">
                <a:effectLst/>
              </a:rPr>
              <a:t>【</a:t>
            </a:r>
            <a:r>
              <a:rPr lang="zh-CN" altLang="en-US" sz="3600" b="1">
                <a:effectLst/>
              </a:rPr>
              <a:t>例</a:t>
            </a:r>
            <a:r>
              <a:rPr lang="en-US" altLang="zh-CN" sz="3600" b="1" dirty="0">
                <a:effectLst/>
              </a:rPr>
              <a:t>9-3】</a:t>
            </a:r>
            <a:r>
              <a:rPr lang="zh-CN" altLang="en-US" b="1">
                <a:effectLst/>
                <a:latin typeface="Times New Roman" pitchFamily="18" charset="0"/>
              </a:rPr>
              <a:t>参数估计值的经济意义</a:t>
            </a:r>
          </a:p>
        </p:txBody>
      </p:sp>
      <p:sp>
        <p:nvSpPr>
          <p:cNvPr id="22533" name="Rectangle 3"/>
          <p:cNvSpPr>
            <a:spLocks noChangeArrowheads="1"/>
          </p:cNvSpPr>
          <p:nvPr/>
        </p:nvSpPr>
        <p:spPr bwMode="auto">
          <a:xfrm>
            <a:off x="1847850" y="1412876"/>
            <a:ext cx="4679950" cy="574675"/>
          </a:xfrm>
          <a:prstGeom prst="rect">
            <a:avLst/>
          </a:prstGeom>
          <a:noFill/>
          <a:ln w="12700">
            <a:noFill/>
            <a:miter lim="800000"/>
            <a:headEnd/>
            <a:tailEnd/>
          </a:ln>
        </p:spPr>
        <p:txBody>
          <a:bodyPr lIns="90488" tIns="44450" rIns="90488" bIns="44450"/>
          <a:lstStyle/>
          <a:p>
            <a:pPr marL="609600" indent="-609600" algn="just">
              <a:lnSpc>
                <a:spcPct val="120000"/>
              </a:lnSpc>
              <a:spcBef>
                <a:spcPct val="20000"/>
              </a:spcBef>
              <a:buSzPct val="90000"/>
            </a:pPr>
            <a:r>
              <a:rPr lang="zh-CN" altLang="en-US" sz="2800" b="1">
                <a:solidFill>
                  <a:srgbClr val="000000"/>
                </a:solidFill>
                <a:latin typeface="宋体" pitchFamily="2" charset="-122"/>
                <a:sym typeface="Symbol" pitchFamily="18" charset="2"/>
              </a:rPr>
              <a:t>所估计的样本回归方程为</a:t>
            </a:r>
            <a:r>
              <a:rPr lang="en-US" altLang="zh-CN" sz="2800" b="1" dirty="0">
                <a:solidFill>
                  <a:srgbClr val="000000"/>
                </a:solidFill>
                <a:latin typeface="宋体" pitchFamily="2" charset="-122"/>
                <a:sym typeface="Symbol" pitchFamily="18" charset="2"/>
              </a:rPr>
              <a:t>:</a:t>
            </a:r>
          </a:p>
        </p:txBody>
      </p:sp>
      <p:sp>
        <p:nvSpPr>
          <p:cNvPr id="379908" name="Rectangle 4"/>
          <p:cNvSpPr>
            <a:spLocks noChangeArrowheads="1"/>
          </p:cNvSpPr>
          <p:nvPr/>
        </p:nvSpPr>
        <p:spPr bwMode="auto">
          <a:xfrm>
            <a:off x="2063552" y="2996953"/>
            <a:ext cx="7992888" cy="3216265"/>
          </a:xfrm>
          <a:prstGeom prst="rect">
            <a:avLst/>
          </a:prstGeom>
          <a:noFill/>
          <a:ln w="12700">
            <a:noFill/>
            <a:miter lim="800000"/>
            <a:headEnd/>
            <a:tailEnd/>
          </a:ln>
        </p:spPr>
        <p:txBody>
          <a:bodyPr wrap="square">
            <a:spAutoFit/>
          </a:bodyPr>
          <a:lstStyle/>
          <a:p>
            <a:pPr marL="457200" indent="-457200" algn="just" eaLnBrk="0" hangingPunct="0">
              <a:lnSpc>
                <a:spcPct val="115000"/>
              </a:lnSpc>
              <a:spcBef>
                <a:spcPct val="20000"/>
              </a:spcBef>
              <a:buClr>
                <a:schemeClr val="hlink"/>
              </a:buClr>
              <a:buSzPct val="140000"/>
            </a:pPr>
            <a:r>
              <a:rPr kumimoji="1" lang="zh-CN" altLang="en-US" sz="3600" b="1" dirty="0">
                <a:solidFill>
                  <a:srgbClr val="000000"/>
                </a:solidFill>
                <a:latin typeface="Times New Roman" pitchFamily="18" charset="0"/>
                <a:cs typeface="Times New Roman" pitchFamily="18" charset="0"/>
              </a:rPr>
              <a:t>参数估计值的经济意义：</a:t>
            </a:r>
          </a:p>
          <a:p>
            <a:pPr marL="457200" indent="-457200" algn="just" eaLnBrk="0" hangingPunct="0">
              <a:lnSpc>
                <a:spcPct val="115000"/>
              </a:lnSpc>
              <a:spcBef>
                <a:spcPct val="20000"/>
              </a:spcBef>
              <a:buClr>
                <a:schemeClr val="hlink"/>
              </a:buClr>
              <a:buSzPct val="140000"/>
              <a:buFont typeface="Wingdings" pitchFamily="2" charset="2"/>
              <a:buChar char="§"/>
            </a:pPr>
            <a:r>
              <a:rPr kumimoji="1" lang="en-US" altLang="zh-CN" sz="3600" b="1" i="1" dirty="0">
                <a:solidFill>
                  <a:srgbClr val="FF00FF"/>
                </a:solidFill>
                <a:latin typeface="Times New Roman" pitchFamily="18" charset="0"/>
                <a:cs typeface="Times New Roman" pitchFamily="18" charset="0"/>
              </a:rPr>
              <a:t>a=17.4927</a:t>
            </a:r>
            <a:r>
              <a:rPr kumimoji="1" lang="zh-CN" altLang="en-US" sz="2800" b="1" dirty="0">
                <a:latin typeface="Times New Roman" pitchFamily="18" charset="0"/>
              </a:rPr>
              <a:t>，表示当广告费</a:t>
            </a:r>
            <a:r>
              <a:rPr kumimoji="1" lang="en-US" altLang="zh-CN" sz="2800" b="1" i="1" dirty="0">
                <a:latin typeface="Times New Roman" pitchFamily="18" charset="0"/>
              </a:rPr>
              <a:t>X</a:t>
            </a:r>
            <a:r>
              <a:rPr kumimoji="1" lang="en-US" altLang="zh-CN" sz="2800" b="1" dirty="0">
                <a:latin typeface="Times New Roman" pitchFamily="18" charset="0"/>
              </a:rPr>
              <a:t>=0 </a:t>
            </a:r>
            <a:r>
              <a:rPr kumimoji="1" lang="zh-CN" altLang="en-US" sz="2800" b="1" dirty="0">
                <a:latin typeface="Times New Roman" pitchFamily="18" charset="0"/>
              </a:rPr>
              <a:t>时销售量</a:t>
            </a:r>
            <a:r>
              <a:rPr kumimoji="1" lang="zh-CN" altLang="en-US" sz="2800" b="1" i="1" dirty="0">
                <a:latin typeface="Times New Roman" pitchFamily="18" charset="0"/>
              </a:rPr>
              <a:t>Ｙ </a:t>
            </a:r>
            <a:r>
              <a:rPr kumimoji="1" lang="zh-CN" altLang="en-US" sz="2800" b="1" dirty="0">
                <a:latin typeface="Times New Roman" pitchFamily="18" charset="0"/>
              </a:rPr>
              <a:t>的平均值为</a:t>
            </a:r>
            <a:r>
              <a:rPr kumimoji="1" lang="en-US" altLang="zh-CN" sz="2800" b="1" dirty="0">
                <a:latin typeface="Times New Roman" pitchFamily="18" charset="0"/>
                <a:cs typeface="Times New Roman" pitchFamily="18" charset="0"/>
              </a:rPr>
              <a:t>17.4927 </a:t>
            </a:r>
            <a:r>
              <a:rPr kumimoji="1" lang="zh-CN" altLang="en-US" sz="2800" b="1" dirty="0">
                <a:latin typeface="Times New Roman" pitchFamily="18" charset="0"/>
              </a:rPr>
              <a:t>万套；</a:t>
            </a:r>
            <a:endParaRPr kumimoji="1" lang="zh-CN" altLang="en-US" sz="2800" b="1" dirty="0">
              <a:solidFill>
                <a:srgbClr val="FF00FF"/>
              </a:solidFill>
              <a:latin typeface="Times New Roman" pitchFamily="18" charset="0"/>
            </a:endParaRPr>
          </a:p>
          <a:p>
            <a:pPr marL="457200" indent="-457200" algn="just" eaLnBrk="0" hangingPunct="0">
              <a:lnSpc>
                <a:spcPct val="115000"/>
              </a:lnSpc>
              <a:spcBef>
                <a:spcPct val="20000"/>
              </a:spcBef>
              <a:buClr>
                <a:schemeClr val="hlink"/>
              </a:buClr>
              <a:buSzPct val="140000"/>
              <a:buFont typeface="Wingdings" pitchFamily="2" charset="2"/>
              <a:buChar char="§"/>
            </a:pPr>
            <a:r>
              <a:rPr kumimoji="1" lang="en-US" altLang="zh-CN" sz="3600" b="1" i="1" dirty="0">
                <a:solidFill>
                  <a:srgbClr val="FF00FF"/>
                </a:solidFill>
                <a:latin typeface="Times New Roman" pitchFamily="18" charset="0"/>
                <a:cs typeface="Times New Roman" pitchFamily="18" charset="0"/>
              </a:rPr>
              <a:t>b=0.4829</a:t>
            </a:r>
            <a:r>
              <a:rPr kumimoji="1" lang="zh-CN" altLang="en-US" sz="2800" b="1" dirty="0">
                <a:latin typeface="Times New Roman" pitchFamily="18" charset="0"/>
              </a:rPr>
              <a:t>，表示当广告费Ｘ每增加１万元，销售量</a:t>
            </a:r>
            <a:r>
              <a:rPr kumimoji="1" lang="zh-CN" altLang="en-US" sz="2800" b="1" i="1" dirty="0">
                <a:latin typeface="Times New Roman" pitchFamily="18" charset="0"/>
              </a:rPr>
              <a:t>Ｙ</a:t>
            </a:r>
            <a:r>
              <a:rPr kumimoji="1" lang="zh-CN" altLang="en-US" sz="2800" b="1" dirty="0">
                <a:latin typeface="Times New Roman" pitchFamily="18" charset="0"/>
              </a:rPr>
              <a:t>的</a:t>
            </a:r>
            <a:r>
              <a:rPr kumimoji="1" lang="zh-CN" altLang="en-US" sz="2800" b="1" dirty="0">
                <a:solidFill>
                  <a:srgbClr val="C00000"/>
                </a:solidFill>
                <a:latin typeface="Times New Roman" pitchFamily="18" charset="0"/>
              </a:rPr>
              <a:t>平均</a:t>
            </a:r>
            <a:r>
              <a:rPr kumimoji="1" lang="zh-CN" altLang="en-US" sz="2800" b="1" dirty="0">
                <a:latin typeface="Times New Roman" pitchFamily="18" charset="0"/>
              </a:rPr>
              <a:t>增加  </a:t>
            </a:r>
            <a:r>
              <a:rPr kumimoji="1" lang="en-US" altLang="zh-CN" sz="2800" b="1" dirty="0">
                <a:latin typeface="Times New Roman" pitchFamily="18" charset="0"/>
              </a:rPr>
              <a:t>0.4829 </a:t>
            </a:r>
            <a:r>
              <a:rPr kumimoji="1" lang="zh-CN" altLang="en-US" sz="2800" b="1" dirty="0">
                <a:latin typeface="Times New Roman" pitchFamily="18" charset="0"/>
              </a:rPr>
              <a:t>万套（</a:t>
            </a:r>
            <a:r>
              <a:rPr kumimoji="1" lang="en-US" altLang="zh-CN" sz="2800" b="1" dirty="0">
                <a:latin typeface="Times New Roman" pitchFamily="18" charset="0"/>
              </a:rPr>
              <a:t>4829</a:t>
            </a:r>
            <a:r>
              <a:rPr kumimoji="1" lang="zh-CN" altLang="en-US" sz="2800" b="1" dirty="0">
                <a:latin typeface="Times New Roman" pitchFamily="18" charset="0"/>
              </a:rPr>
              <a:t>套）。</a:t>
            </a:r>
          </a:p>
        </p:txBody>
      </p:sp>
      <p:graphicFrame>
        <p:nvGraphicFramePr>
          <p:cNvPr id="22530" name="Object 7"/>
          <p:cNvGraphicFramePr>
            <a:graphicFrameLocks noChangeAspect="1"/>
          </p:cNvGraphicFramePr>
          <p:nvPr/>
        </p:nvGraphicFramePr>
        <p:xfrm>
          <a:off x="2917826" y="2098676"/>
          <a:ext cx="6303963" cy="874713"/>
        </p:xfrm>
        <a:graphic>
          <a:graphicData uri="http://schemas.openxmlformats.org/presentationml/2006/ole">
            <mc:AlternateContent xmlns:mc="http://schemas.openxmlformats.org/markup-compatibility/2006">
              <mc:Choice xmlns:v="urn:schemas-microsoft-com:vml" Requires="v">
                <p:oleObj name="公式" r:id="rId3" imgW="1422360" imgH="203040" progId="Equation.3">
                  <p:embed/>
                </p:oleObj>
              </mc:Choice>
              <mc:Fallback>
                <p:oleObj name="公式" r:id="rId3" imgW="1422360" imgH="203040" progId="Equation.3">
                  <p:embed/>
                  <p:pic>
                    <p:nvPicPr>
                      <p:cNvPr id="2253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7826" y="2098676"/>
                        <a:ext cx="6303963" cy="874713"/>
                      </a:xfrm>
                      <a:prstGeom prst="rect">
                        <a:avLst/>
                      </a:prstGeom>
                      <a:noFill/>
                      <a:extLst>
                        <a:ext uri="{909E8E84-426E-40DD-AFC4-6F175D3DCCD1}">
                          <a14:hiddenFill xmlns:a14="http://schemas.microsoft.com/office/drawing/2010/main">
                            <a:solidFill>
                              <a:srgbClr val="C7C7DF"/>
                            </a:solidFill>
                          </a14:hiddenFill>
                        </a:ext>
                      </a:extLst>
                    </p:spPr>
                  </p:pic>
                </p:oleObj>
              </mc:Fallback>
            </mc:AlternateContent>
          </a:graphicData>
        </a:graphic>
      </p:graphicFrame>
    </p:spTree>
    <p:extLst>
      <p:ext uri="{BB962C8B-B14F-4D97-AF65-F5344CB8AC3E}">
        <p14:creationId xmlns:p14="http://schemas.microsoft.com/office/powerpoint/2010/main" val="30652735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9908">
                                            <p:txEl>
                                              <p:pRg st="1" end="1"/>
                                            </p:txEl>
                                          </p:spTgt>
                                        </p:tgtEl>
                                        <p:attrNameLst>
                                          <p:attrName>style.visibility</p:attrName>
                                        </p:attrNameLst>
                                      </p:cBhvr>
                                      <p:to>
                                        <p:strVal val="visible"/>
                                      </p:to>
                                    </p:set>
                                    <p:animEffect transition="in" filter="wipe(left)">
                                      <p:cBhvr>
                                        <p:cTn id="7" dur="500"/>
                                        <p:tgtEl>
                                          <p:spTgt spid="37990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9908">
                                            <p:txEl>
                                              <p:pRg st="2" end="2"/>
                                            </p:txEl>
                                          </p:spTgt>
                                        </p:tgtEl>
                                        <p:attrNameLst>
                                          <p:attrName>style.visibility</p:attrName>
                                        </p:attrNameLst>
                                      </p:cBhvr>
                                      <p:to>
                                        <p:strVal val="visible"/>
                                      </p:to>
                                    </p:set>
                                    <p:animEffect transition="in" filter="wipe(left)">
                                      <p:cBhvr>
                                        <p:cTn id="12" dur="500"/>
                                        <p:tgtEl>
                                          <p:spTgt spid="37990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日期占位符 12"/>
          <p:cNvSpPr>
            <a:spLocks noGrp="1"/>
          </p:cNvSpPr>
          <p:nvPr>
            <p:ph type="dt" sz="half" idx="10"/>
          </p:nvPr>
        </p:nvSpPr>
        <p:spPr>
          <a:noFill/>
        </p:spPr>
        <p:txBody>
          <a:bodyPr/>
          <a:lstStyle/>
          <a:p>
            <a:endParaRPr lang="en-US" altLang="zh-CN" dirty="0"/>
          </a:p>
        </p:txBody>
      </p:sp>
      <p:sp>
        <p:nvSpPr>
          <p:cNvPr id="19463" name="Rectangle 2"/>
          <p:cNvSpPr>
            <a:spLocks noGrp="1" noChangeArrowheads="1"/>
          </p:cNvSpPr>
          <p:nvPr>
            <p:ph type="title"/>
          </p:nvPr>
        </p:nvSpPr>
        <p:spPr>
          <a:xfrm>
            <a:off x="2019300" y="119066"/>
            <a:ext cx="10172700" cy="662782"/>
          </a:xfrm>
        </p:spPr>
        <p:txBody>
          <a:bodyPr/>
          <a:lstStyle/>
          <a:p>
            <a:pPr eaLnBrk="1" hangingPunct="1"/>
            <a:r>
              <a:rPr lang="zh-CN" altLang="en-US" dirty="0"/>
              <a:t>最小二乘估计的性质</a:t>
            </a:r>
          </a:p>
        </p:txBody>
      </p:sp>
      <p:sp>
        <p:nvSpPr>
          <p:cNvPr id="19464" name="Rectangle 3"/>
          <p:cNvSpPr>
            <a:spLocks noGrp="1" noChangeArrowheads="1"/>
          </p:cNvSpPr>
          <p:nvPr>
            <p:ph idx="1"/>
          </p:nvPr>
        </p:nvSpPr>
        <p:spPr>
          <a:xfrm>
            <a:off x="1295400" y="800100"/>
            <a:ext cx="10363200" cy="5333761"/>
          </a:xfrm>
        </p:spPr>
        <p:txBody>
          <a:bodyPr/>
          <a:lstStyle/>
          <a:p>
            <a:pPr eaLnBrk="1" hangingPunct="1">
              <a:lnSpc>
                <a:spcPct val="120000"/>
              </a:lnSpc>
              <a:spcBef>
                <a:spcPct val="35000"/>
              </a:spcBef>
              <a:buFontTx/>
              <a:buNone/>
            </a:pPr>
            <a:r>
              <a:rPr lang="zh-CN" altLang="en-US" b="1" dirty="0"/>
              <a:t>（</a:t>
            </a:r>
            <a:r>
              <a:rPr lang="en-US" altLang="zh-CN" b="1" dirty="0"/>
              <a:t>1</a:t>
            </a:r>
            <a:r>
              <a:rPr lang="zh-CN" altLang="en-US" b="1" dirty="0"/>
              <a:t>）</a:t>
            </a:r>
            <a:r>
              <a:rPr lang="en-US" altLang="zh-CN" b="1" i="1" dirty="0">
                <a:latin typeface="Times New Roman" pitchFamily="18" charset="0"/>
              </a:rPr>
              <a:t>a, b</a:t>
            </a:r>
            <a:r>
              <a:rPr lang="en-US" altLang="zh-CN" b="1" dirty="0"/>
              <a:t> </a:t>
            </a:r>
            <a:r>
              <a:rPr lang="zh-CN" altLang="en-US" b="1" dirty="0"/>
              <a:t>的分布性质</a:t>
            </a:r>
            <a:r>
              <a:rPr lang="en-US" altLang="zh-CN" b="1" dirty="0">
                <a:latin typeface="Arial" charset="0"/>
              </a:rPr>
              <a:t>——</a:t>
            </a:r>
            <a:r>
              <a:rPr lang="zh-CN" altLang="en-US" b="1" dirty="0"/>
              <a:t>正态分布</a:t>
            </a:r>
          </a:p>
          <a:p>
            <a:pPr marL="901700" lvl="1" indent="0" eaLnBrk="1" hangingPunct="1">
              <a:lnSpc>
                <a:spcPct val="120000"/>
              </a:lnSpc>
              <a:spcBef>
                <a:spcPct val="35000"/>
              </a:spcBef>
              <a:buNone/>
            </a:pPr>
            <a:r>
              <a:rPr lang="zh-CN" altLang="en-US" dirty="0"/>
              <a:t>它们都是因变量观测值</a:t>
            </a:r>
            <a:r>
              <a:rPr lang="en-US" altLang="zh-CN" i="1" dirty="0">
                <a:latin typeface="Times New Roman" pitchFamily="18" charset="0"/>
              </a:rPr>
              <a:t>Y</a:t>
            </a:r>
            <a:r>
              <a:rPr lang="en-US" altLang="zh-CN" i="1" baseline="-25000" dirty="0">
                <a:latin typeface="Times New Roman" pitchFamily="18" charset="0"/>
              </a:rPr>
              <a:t>i </a:t>
            </a:r>
            <a:r>
              <a:rPr lang="zh-CN" altLang="en-US" dirty="0"/>
              <a:t>的线性函数。</a:t>
            </a:r>
          </a:p>
          <a:p>
            <a:pPr eaLnBrk="1" hangingPunct="1">
              <a:lnSpc>
                <a:spcPct val="120000"/>
              </a:lnSpc>
              <a:spcBef>
                <a:spcPct val="35000"/>
              </a:spcBef>
              <a:buFontTx/>
              <a:buNone/>
            </a:pPr>
            <a:r>
              <a:rPr lang="zh-CN" altLang="en-US" b="1" dirty="0"/>
              <a:t>（</a:t>
            </a:r>
            <a:r>
              <a:rPr lang="en-US" altLang="zh-CN" b="1" dirty="0"/>
              <a:t>2 </a:t>
            </a:r>
            <a:r>
              <a:rPr lang="zh-CN" altLang="en-US" b="1" dirty="0"/>
              <a:t>）</a:t>
            </a:r>
            <a:r>
              <a:rPr lang="en-US" altLang="zh-CN" b="1" i="1" dirty="0">
                <a:latin typeface="Times New Roman" pitchFamily="18" charset="0"/>
              </a:rPr>
              <a:t>a, b</a:t>
            </a:r>
            <a:r>
              <a:rPr lang="zh-CN" altLang="en-US" b="1" dirty="0"/>
              <a:t>都是无偏估计量。 </a:t>
            </a:r>
          </a:p>
          <a:p>
            <a:pPr lvl="3" eaLnBrk="1" hangingPunct="1">
              <a:lnSpc>
                <a:spcPct val="120000"/>
              </a:lnSpc>
              <a:spcBef>
                <a:spcPct val="35000"/>
              </a:spcBef>
            </a:pPr>
            <a:endParaRPr lang="zh-CN" altLang="en-US" b="1" dirty="0"/>
          </a:p>
          <a:p>
            <a:pPr eaLnBrk="1" hangingPunct="1">
              <a:lnSpc>
                <a:spcPct val="120000"/>
              </a:lnSpc>
              <a:spcBef>
                <a:spcPct val="35000"/>
              </a:spcBef>
              <a:buFontTx/>
              <a:buNone/>
            </a:pPr>
            <a:r>
              <a:rPr lang="zh-CN" altLang="en-US" b="1" dirty="0"/>
              <a:t>（</a:t>
            </a:r>
            <a:r>
              <a:rPr lang="en-US" altLang="zh-CN" b="1" dirty="0"/>
              <a:t>3</a:t>
            </a:r>
            <a:r>
              <a:rPr lang="zh-CN" altLang="en-US" b="1" dirty="0"/>
              <a:t>）</a:t>
            </a:r>
            <a:r>
              <a:rPr lang="en-US" altLang="zh-CN" b="1" i="1" dirty="0">
                <a:latin typeface="Times New Roman" pitchFamily="18" charset="0"/>
              </a:rPr>
              <a:t>a, b</a:t>
            </a:r>
            <a:r>
              <a:rPr lang="en-US" altLang="zh-CN" b="1" dirty="0"/>
              <a:t>  </a:t>
            </a:r>
            <a:r>
              <a:rPr lang="zh-CN" altLang="en-US" b="1" dirty="0"/>
              <a:t>的方差</a:t>
            </a:r>
          </a:p>
        </p:txBody>
      </p:sp>
      <p:sp>
        <p:nvSpPr>
          <p:cNvPr id="19462" name="灯片编号占位符 5"/>
          <p:cNvSpPr>
            <a:spLocks noGrp="1"/>
          </p:cNvSpPr>
          <p:nvPr>
            <p:ph type="sldNum" sz="quarter" idx="4"/>
          </p:nvPr>
        </p:nvSpPr>
        <p:spPr>
          <a:noFill/>
        </p:spPr>
        <p:txBody>
          <a:bodyPr/>
          <a:lstStyle/>
          <a:p>
            <a:r>
              <a:rPr lang="en-US" altLang="zh-CN" dirty="0"/>
              <a:t>9--</a:t>
            </a:r>
            <a:fld id="{EA2D2F3B-C3AB-40C4-B8CE-09D3C3F8DCAC}" type="slidenum">
              <a:rPr lang="en-US" altLang="zh-CN" smtClean="0"/>
              <a:pPr/>
              <a:t>52</a:t>
            </a:fld>
            <a:endParaRPr lang="en-US" altLang="zh-CN" dirty="0"/>
          </a:p>
        </p:txBody>
      </p:sp>
      <p:sp>
        <p:nvSpPr>
          <p:cNvPr id="19465" name="Rectangle 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9458" name="Object 7"/>
          <p:cNvGraphicFramePr>
            <a:graphicFrameLocks noChangeAspect="1"/>
          </p:cNvGraphicFramePr>
          <p:nvPr>
            <p:extLst>
              <p:ext uri="{D42A27DB-BD31-4B8C-83A1-F6EECF244321}">
                <p14:modId xmlns:p14="http://schemas.microsoft.com/office/powerpoint/2010/main" val="870556191"/>
              </p:ext>
            </p:extLst>
          </p:nvPr>
        </p:nvGraphicFramePr>
        <p:xfrm>
          <a:off x="6165875" y="2901830"/>
          <a:ext cx="1692275" cy="565150"/>
        </p:xfrm>
        <a:graphic>
          <a:graphicData uri="http://schemas.openxmlformats.org/presentationml/2006/ole">
            <mc:AlternateContent xmlns:mc="http://schemas.openxmlformats.org/markup-compatibility/2006">
              <mc:Choice xmlns:v="urn:schemas-microsoft-com:vml" Requires="v">
                <p:oleObj name="Equation" r:id="rId2" imgW="596880" imgH="203040" progId="Equation.DSMT4">
                  <p:embed/>
                </p:oleObj>
              </mc:Choice>
              <mc:Fallback>
                <p:oleObj name="Equation" r:id="rId2" imgW="596880" imgH="203040" progId="Equation.DSMT4">
                  <p:embed/>
                  <p:pic>
                    <p:nvPicPr>
                      <p:cNvPr id="1945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875" y="2901830"/>
                        <a:ext cx="1692275"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Rectangle 11"/>
          <p:cNvSpPr>
            <a:spLocks noChangeArrowheads="1"/>
          </p:cNvSpPr>
          <p:nvPr/>
        </p:nvSpPr>
        <p:spPr bwMode="auto">
          <a:xfrm>
            <a:off x="1524001" y="30109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9459" name="Object 12"/>
          <p:cNvGraphicFramePr>
            <a:graphicFrameLocks noChangeAspect="1"/>
          </p:cNvGraphicFramePr>
          <p:nvPr>
            <p:extLst>
              <p:ext uri="{D42A27DB-BD31-4B8C-83A1-F6EECF244321}">
                <p14:modId xmlns:p14="http://schemas.microsoft.com/office/powerpoint/2010/main" val="1149166806"/>
              </p:ext>
            </p:extLst>
          </p:nvPr>
        </p:nvGraphicFramePr>
        <p:xfrm>
          <a:off x="6191275" y="4393407"/>
          <a:ext cx="3217862" cy="1150937"/>
        </p:xfrm>
        <a:graphic>
          <a:graphicData uri="http://schemas.openxmlformats.org/presentationml/2006/ole">
            <mc:AlternateContent xmlns:mc="http://schemas.openxmlformats.org/markup-compatibility/2006">
              <mc:Choice xmlns:v="urn:schemas-microsoft-com:vml" Requires="v">
                <p:oleObj name="Equation" r:id="rId4" imgW="1307880" imgH="469800" progId="Equation.DSMT4">
                  <p:embed/>
                </p:oleObj>
              </mc:Choice>
              <mc:Fallback>
                <p:oleObj name="Equation" r:id="rId4" imgW="1307880" imgH="469800" progId="Equation.DSMT4">
                  <p:embed/>
                  <p:pic>
                    <p:nvPicPr>
                      <p:cNvPr id="19459"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275" y="4393407"/>
                        <a:ext cx="3217862" cy="1150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7" name="Rectangle 13"/>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9460" name="Object 14"/>
          <p:cNvGraphicFramePr>
            <a:graphicFrameLocks noChangeAspect="1"/>
          </p:cNvGraphicFramePr>
          <p:nvPr>
            <p:extLst>
              <p:ext uri="{D42A27DB-BD31-4B8C-83A1-F6EECF244321}">
                <p14:modId xmlns:p14="http://schemas.microsoft.com/office/powerpoint/2010/main" val="3979556053"/>
              </p:ext>
            </p:extLst>
          </p:nvPr>
        </p:nvGraphicFramePr>
        <p:xfrm>
          <a:off x="1862237" y="4365625"/>
          <a:ext cx="3902075" cy="1206500"/>
        </p:xfrm>
        <a:graphic>
          <a:graphicData uri="http://schemas.openxmlformats.org/presentationml/2006/ole">
            <mc:AlternateContent xmlns:mc="http://schemas.openxmlformats.org/markup-compatibility/2006">
              <mc:Choice xmlns:v="urn:schemas-microsoft-com:vml" Requires="v">
                <p:oleObj name="Equation" r:id="rId6" imgW="1574640" imgH="482400" progId="Equation.DSMT4">
                  <p:embed/>
                </p:oleObj>
              </mc:Choice>
              <mc:Fallback>
                <p:oleObj name="Equation" r:id="rId6" imgW="1574640" imgH="482400" progId="Equation.DSMT4">
                  <p:embed/>
                  <p:pic>
                    <p:nvPicPr>
                      <p:cNvPr id="1946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2237" y="4365625"/>
                        <a:ext cx="3902075" cy="1206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8" name="Rectangle 15"/>
          <p:cNvSpPr>
            <a:spLocks noChangeArrowheads="1"/>
          </p:cNvSpPr>
          <p:nvPr/>
        </p:nvSpPr>
        <p:spPr bwMode="auto">
          <a:xfrm>
            <a:off x="1524001" y="30109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9461" name="Object 4"/>
          <p:cNvGraphicFramePr>
            <a:graphicFrameLocks noChangeAspect="1"/>
          </p:cNvGraphicFramePr>
          <p:nvPr>
            <p:extLst>
              <p:ext uri="{D42A27DB-BD31-4B8C-83A1-F6EECF244321}">
                <p14:modId xmlns:p14="http://schemas.microsoft.com/office/powerpoint/2010/main" val="260879820"/>
              </p:ext>
            </p:extLst>
          </p:nvPr>
        </p:nvGraphicFramePr>
        <p:xfrm>
          <a:off x="3448100" y="2908300"/>
          <a:ext cx="2301875" cy="574675"/>
        </p:xfrm>
        <a:graphic>
          <a:graphicData uri="http://schemas.openxmlformats.org/presentationml/2006/ole">
            <mc:AlternateContent xmlns:mc="http://schemas.openxmlformats.org/markup-compatibility/2006">
              <mc:Choice xmlns:v="urn:schemas-microsoft-com:vml" Requires="v">
                <p:oleObj name="公式" r:id="rId8" imgW="596880" imgH="203040" progId="Equation.3">
                  <p:embed/>
                </p:oleObj>
              </mc:Choice>
              <mc:Fallback>
                <p:oleObj name="公式" r:id="rId8" imgW="596880" imgH="203040" progId="Equation.3">
                  <p:embed/>
                  <p:pic>
                    <p:nvPicPr>
                      <p:cNvPr id="19461"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8100" y="2908300"/>
                        <a:ext cx="2301875" cy="57467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Tree>
    <p:extLst>
      <p:ext uri="{BB962C8B-B14F-4D97-AF65-F5344CB8AC3E}">
        <p14:creationId xmlns:p14="http://schemas.microsoft.com/office/powerpoint/2010/main" val="15098950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日期占位符 7"/>
          <p:cNvSpPr>
            <a:spLocks noGrp="1"/>
          </p:cNvSpPr>
          <p:nvPr>
            <p:ph type="dt" sz="half" idx="10"/>
          </p:nvPr>
        </p:nvSpPr>
        <p:spPr>
          <a:noFill/>
        </p:spPr>
        <p:txBody>
          <a:bodyPr/>
          <a:lstStyle/>
          <a:p>
            <a:endParaRPr lang="en-US" altLang="zh-CN" dirty="0"/>
          </a:p>
        </p:txBody>
      </p:sp>
      <p:sp>
        <p:nvSpPr>
          <p:cNvPr id="20485" name="Rectangle 2"/>
          <p:cNvSpPr>
            <a:spLocks noGrp="1" noChangeArrowheads="1"/>
          </p:cNvSpPr>
          <p:nvPr>
            <p:ph type="title"/>
          </p:nvPr>
        </p:nvSpPr>
        <p:spPr/>
        <p:txBody>
          <a:bodyPr/>
          <a:lstStyle/>
          <a:p>
            <a:pPr eaLnBrk="1" hangingPunct="1"/>
            <a:r>
              <a:rPr lang="zh-CN" altLang="en-US" dirty="0"/>
              <a:t>最小二乘估计的性质（续）</a:t>
            </a:r>
          </a:p>
        </p:txBody>
      </p:sp>
      <p:sp>
        <p:nvSpPr>
          <p:cNvPr id="273411" name="Rectangle 3"/>
          <p:cNvSpPr>
            <a:spLocks noGrp="1" noChangeArrowheads="1"/>
          </p:cNvSpPr>
          <p:nvPr>
            <p:ph idx="1"/>
          </p:nvPr>
        </p:nvSpPr>
        <p:spPr>
          <a:xfrm>
            <a:off x="990599" y="4343400"/>
            <a:ext cx="9334501" cy="1790461"/>
          </a:xfrm>
        </p:spPr>
        <p:txBody>
          <a:bodyPr>
            <a:normAutofit/>
          </a:bodyPr>
          <a:lstStyle/>
          <a:p>
            <a:pPr marL="0" indent="0">
              <a:lnSpc>
                <a:spcPct val="114000"/>
              </a:lnSpc>
              <a:spcBef>
                <a:spcPts val="1200"/>
              </a:spcBef>
              <a:buNone/>
            </a:pPr>
            <a:r>
              <a:rPr lang="zh-CN" altLang="en-US" dirty="0">
                <a:solidFill>
                  <a:srgbClr val="7030A0"/>
                </a:solidFill>
              </a:rPr>
              <a:t>     高斯</a:t>
            </a:r>
            <a:r>
              <a:rPr lang="en-US" altLang="zh-CN" dirty="0">
                <a:solidFill>
                  <a:srgbClr val="7030A0"/>
                </a:solidFill>
                <a:latin typeface="Arial" charset="0"/>
              </a:rPr>
              <a:t>—</a:t>
            </a:r>
            <a:r>
              <a:rPr lang="zh-CN" altLang="en-US" dirty="0">
                <a:solidFill>
                  <a:srgbClr val="7030A0"/>
                </a:solidFill>
              </a:rPr>
              <a:t>马尔可夫定理：</a:t>
            </a:r>
            <a:r>
              <a:rPr lang="zh-CN" altLang="en-US" dirty="0">
                <a:solidFill>
                  <a:srgbClr val="000000"/>
                </a:solidFill>
              </a:rPr>
              <a:t>满足基本假定的情况下，在所有的线性无偏估计中，最小二乘估计的方差最小</a:t>
            </a:r>
            <a:r>
              <a:rPr lang="en-US" altLang="zh-CN" dirty="0">
                <a:solidFill>
                  <a:srgbClr val="000000"/>
                </a:solidFill>
                <a:latin typeface="Arial" charset="0"/>
              </a:rPr>
              <a:t>——</a:t>
            </a:r>
            <a:r>
              <a:rPr lang="zh-CN" altLang="en-US" dirty="0">
                <a:solidFill>
                  <a:srgbClr val="0000FF"/>
                </a:solidFill>
              </a:rPr>
              <a:t>最佳线性无偏估计（</a:t>
            </a:r>
            <a:r>
              <a:rPr lang="en-US" altLang="zh-CN" dirty="0">
                <a:solidFill>
                  <a:srgbClr val="0000FF"/>
                </a:solidFill>
              </a:rPr>
              <a:t>BLUE</a:t>
            </a:r>
            <a:r>
              <a:rPr lang="zh-CN" altLang="en-US" dirty="0">
                <a:solidFill>
                  <a:srgbClr val="0000FF"/>
                </a:solidFill>
              </a:rPr>
              <a:t>）</a:t>
            </a:r>
            <a:r>
              <a:rPr lang="zh-CN" altLang="en-US" dirty="0"/>
              <a:t>。</a:t>
            </a:r>
            <a:endParaRPr lang="zh-CN" altLang="en-US" dirty="0">
              <a:solidFill>
                <a:srgbClr val="000000"/>
              </a:solidFill>
            </a:endParaRPr>
          </a:p>
        </p:txBody>
      </p:sp>
      <p:sp>
        <p:nvSpPr>
          <p:cNvPr id="20484" name="灯片编号占位符 5"/>
          <p:cNvSpPr>
            <a:spLocks noGrp="1"/>
          </p:cNvSpPr>
          <p:nvPr>
            <p:ph type="sldNum" sz="quarter" idx="4"/>
          </p:nvPr>
        </p:nvSpPr>
        <p:spPr>
          <a:noFill/>
        </p:spPr>
        <p:txBody>
          <a:bodyPr/>
          <a:lstStyle/>
          <a:p>
            <a:r>
              <a:rPr lang="en-US" altLang="zh-CN" dirty="0"/>
              <a:t>9--</a:t>
            </a:r>
            <a:fld id="{43BBC99F-B901-4728-BB5E-99ED2F6351B7}" type="slidenum">
              <a:rPr lang="en-US" altLang="zh-CN" smtClean="0"/>
              <a:pPr/>
              <a:t>53</a:t>
            </a:fld>
            <a:endParaRPr lang="en-US" altLang="zh-CN" dirty="0"/>
          </a:p>
        </p:txBody>
      </p:sp>
      <p:graphicFrame>
        <p:nvGraphicFramePr>
          <p:cNvPr id="20482" name="Object 9"/>
          <p:cNvGraphicFramePr>
            <a:graphicFrameLocks noChangeAspect="1"/>
          </p:cNvGraphicFramePr>
          <p:nvPr/>
        </p:nvGraphicFramePr>
        <p:xfrm>
          <a:off x="3903663" y="1124745"/>
          <a:ext cx="5648721" cy="1508125"/>
        </p:xfrm>
        <a:graphic>
          <a:graphicData uri="http://schemas.openxmlformats.org/presentationml/2006/ole">
            <mc:AlternateContent xmlns:mc="http://schemas.openxmlformats.org/markup-compatibility/2006">
              <mc:Choice xmlns:v="urn:schemas-microsoft-com:vml" Requires="v">
                <p:oleObj name="Equation" r:id="rId2" imgW="1688760" imgH="482400" progId="Equation.DSMT4">
                  <p:embed/>
                </p:oleObj>
              </mc:Choice>
              <mc:Fallback>
                <p:oleObj name="Equation" r:id="rId2" imgW="1688760" imgH="482400" progId="Equation.DSMT4">
                  <p:embed/>
                  <p:pic>
                    <p:nvPicPr>
                      <p:cNvPr id="20482"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3663" y="1124745"/>
                        <a:ext cx="5648721" cy="150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10"/>
          <p:cNvGraphicFramePr>
            <a:graphicFrameLocks noChangeAspect="1"/>
          </p:cNvGraphicFramePr>
          <p:nvPr>
            <p:extLst>
              <p:ext uri="{D42A27DB-BD31-4B8C-83A1-F6EECF244321}">
                <p14:modId xmlns:p14="http://schemas.microsoft.com/office/powerpoint/2010/main" val="824573727"/>
              </p:ext>
            </p:extLst>
          </p:nvPr>
        </p:nvGraphicFramePr>
        <p:xfrm>
          <a:off x="3935412" y="2708921"/>
          <a:ext cx="4954588" cy="1439863"/>
        </p:xfrm>
        <a:graphic>
          <a:graphicData uri="http://schemas.openxmlformats.org/presentationml/2006/ole">
            <mc:AlternateContent xmlns:mc="http://schemas.openxmlformats.org/markup-compatibility/2006">
              <mc:Choice xmlns:v="urn:schemas-microsoft-com:vml" Requires="v">
                <p:oleObj name="Equation" r:id="rId4" imgW="1473120" imgH="469800" progId="Equation.DSMT4">
                  <p:embed/>
                </p:oleObj>
              </mc:Choice>
              <mc:Fallback>
                <p:oleObj name="Equation" r:id="rId4" imgW="1473120" imgH="469800" progId="Equation.DSMT4">
                  <p:embed/>
                  <p:pic>
                    <p:nvPicPr>
                      <p:cNvPr id="20483"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5412" y="2708921"/>
                        <a:ext cx="4954588" cy="1439863"/>
                      </a:xfrm>
                      <a:prstGeom prst="rect">
                        <a:avLst/>
                      </a:prstGeom>
                      <a:noFill/>
                    </p:spPr>
                  </p:pic>
                </p:oleObj>
              </mc:Fallback>
            </mc:AlternateContent>
          </a:graphicData>
        </a:graphic>
      </p:graphicFrame>
      <p:sp>
        <p:nvSpPr>
          <p:cNvPr id="20487" name="Rectangle 11"/>
          <p:cNvSpPr>
            <a:spLocks noChangeArrowheads="1"/>
          </p:cNvSpPr>
          <p:nvPr/>
        </p:nvSpPr>
        <p:spPr bwMode="auto">
          <a:xfrm>
            <a:off x="1702468" y="930129"/>
            <a:ext cx="2232944" cy="648419"/>
          </a:xfrm>
          <a:prstGeom prst="rect">
            <a:avLst/>
          </a:prstGeom>
          <a:noFill/>
          <a:ln w="9525">
            <a:noFill/>
            <a:miter lim="800000"/>
            <a:headEnd/>
            <a:tailEnd/>
          </a:ln>
        </p:spPr>
        <p:txBody>
          <a:bodyPr/>
          <a:lstStyle/>
          <a:p>
            <a:pPr marL="342900" indent="-342900">
              <a:spcBef>
                <a:spcPct val="20000"/>
              </a:spcBef>
              <a:buSzPct val="90000"/>
            </a:pPr>
            <a:r>
              <a:rPr lang="zh-CN" altLang="en-US" sz="3200" b="1" dirty="0">
                <a:solidFill>
                  <a:srgbClr val="0070C0"/>
                </a:solidFill>
                <a:latin typeface="Tahoma" pitchFamily="34" charset="0"/>
              </a:rPr>
              <a:t>综上所述：</a:t>
            </a:r>
            <a:endParaRPr lang="zh-CN" altLang="en-US" sz="4800" b="1" dirty="0">
              <a:solidFill>
                <a:srgbClr val="0070C0"/>
              </a:solidFill>
              <a:latin typeface="Tahoma" pitchFamily="34" charset="0"/>
            </a:endParaRPr>
          </a:p>
        </p:txBody>
      </p:sp>
      <p:sp>
        <p:nvSpPr>
          <p:cNvPr id="9" name="Rectangle 11"/>
          <p:cNvSpPr>
            <a:spLocks noChangeArrowheads="1"/>
          </p:cNvSpPr>
          <p:nvPr/>
        </p:nvSpPr>
        <p:spPr bwMode="auto">
          <a:xfrm>
            <a:off x="9408368" y="1484785"/>
            <a:ext cx="576064" cy="648419"/>
          </a:xfrm>
          <a:prstGeom prst="rect">
            <a:avLst/>
          </a:prstGeom>
          <a:noFill/>
          <a:ln w="9525">
            <a:noFill/>
            <a:miter lim="800000"/>
            <a:headEnd/>
            <a:tailEnd/>
          </a:ln>
        </p:spPr>
        <p:txBody>
          <a:bodyPr/>
          <a:lstStyle/>
          <a:p>
            <a:pPr marL="342900" indent="-342900">
              <a:spcBef>
                <a:spcPct val="20000"/>
              </a:spcBef>
              <a:buSzPct val="90000"/>
            </a:pPr>
            <a:r>
              <a:rPr lang="zh-CN" altLang="en-US" sz="4800" dirty="0">
                <a:solidFill>
                  <a:srgbClr val="000000"/>
                </a:solidFill>
                <a:latin typeface="仿宋" panose="02010609060101010101" pitchFamily="49" charset="-122"/>
                <a:ea typeface="仿宋" panose="02010609060101010101" pitchFamily="49" charset="-122"/>
              </a:rPr>
              <a:t>）</a:t>
            </a:r>
          </a:p>
        </p:txBody>
      </p:sp>
    </p:spTree>
    <p:extLst>
      <p:ext uri="{BB962C8B-B14F-4D97-AF65-F5344CB8AC3E}">
        <p14:creationId xmlns:p14="http://schemas.microsoft.com/office/powerpoint/2010/main" val="208966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wipe(left)">
                                      <p:cBhvr>
                                        <p:cTn id="7" dur="500"/>
                                        <p:tgtEl>
                                          <p:spTgt spid="2734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60" name="Rectangle 6"/>
          <p:cNvSpPr>
            <a:spLocks noChangeArrowheads="1"/>
          </p:cNvSpPr>
          <p:nvPr/>
        </p:nvSpPr>
        <p:spPr bwMode="auto">
          <a:xfrm>
            <a:off x="2025810" y="1291002"/>
            <a:ext cx="6508590" cy="1138773"/>
          </a:xfrm>
          <a:prstGeom prst="rect">
            <a:avLst/>
          </a:prstGeom>
          <a:noFill/>
          <a:ln w="12700">
            <a:noFill/>
            <a:miter lim="800000"/>
            <a:headEnd/>
            <a:tailEnd/>
          </a:ln>
        </p:spPr>
        <p:txBody>
          <a:bodyPr wrap="square">
            <a:spAutoFit/>
          </a:bodyPr>
          <a:lstStyle/>
          <a:p>
            <a:pPr eaLnBrk="0" hangingPunct="0"/>
            <a:r>
              <a:rPr lang="en-US" altLang="zh-CN" sz="3200" dirty="0">
                <a:solidFill>
                  <a:srgbClr val="0070C0"/>
                </a:solidFill>
                <a:latin typeface="微软雅黑" panose="020B0503020204020204" pitchFamily="34" charset="-122"/>
                <a:ea typeface="微软雅黑" panose="020B0503020204020204" pitchFamily="34" charset="-122"/>
              </a:rPr>
              <a:t>1. </a:t>
            </a:r>
            <a:r>
              <a:rPr lang="zh-CN" altLang="en-US" sz="3200" dirty="0">
                <a:solidFill>
                  <a:srgbClr val="0070C0"/>
                </a:solidFill>
                <a:latin typeface="微软雅黑" panose="020B0503020204020204" pitchFamily="34" charset="-122"/>
                <a:ea typeface="微软雅黑" panose="020B0503020204020204" pitchFamily="34" charset="-122"/>
              </a:rPr>
              <a:t>样本回归直线必定经过各散点的中心               </a:t>
            </a:r>
            <a:r>
              <a:rPr kumimoji="1" lang="zh-CN" altLang="en-US" sz="3600" dirty="0">
                <a:solidFill>
                  <a:srgbClr val="000000"/>
                </a:solidFill>
              </a:rPr>
              <a:t>；</a:t>
            </a:r>
          </a:p>
        </p:txBody>
      </p:sp>
      <p:sp>
        <p:nvSpPr>
          <p:cNvPr id="23556" name="灯片编号占位符 6"/>
          <p:cNvSpPr>
            <a:spLocks noGrp="1"/>
          </p:cNvSpPr>
          <p:nvPr>
            <p:ph type="sldNum" sz="quarter" idx="10"/>
          </p:nvPr>
        </p:nvSpPr>
        <p:spPr>
          <a:noFill/>
        </p:spPr>
        <p:txBody>
          <a:bodyPr/>
          <a:lstStyle/>
          <a:p>
            <a:r>
              <a:rPr lang="en-US" altLang="zh-CN" dirty="0"/>
              <a:t>9--</a:t>
            </a:r>
            <a:fld id="{BADE9F25-53D7-4B50-BDD5-23AF37272041}" type="slidenum">
              <a:rPr lang="en-US" altLang="zh-CN" smtClean="0"/>
              <a:pPr/>
              <a:t>54</a:t>
            </a:fld>
            <a:endParaRPr lang="en-US" altLang="zh-CN" dirty="0"/>
          </a:p>
        </p:txBody>
      </p:sp>
      <p:sp>
        <p:nvSpPr>
          <p:cNvPr id="23557" name="Rectangle 2"/>
          <p:cNvSpPr>
            <a:spLocks noGrp="1" noChangeArrowheads="1"/>
          </p:cNvSpPr>
          <p:nvPr>
            <p:ph type="title" idx="4294967295"/>
          </p:nvPr>
        </p:nvSpPr>
        <p:spPr>
          <a:xfrm>
            <a:off x="2245519" y="550073"/>
            <a:ext cx="7772400" cy="792162"/>
          </a:xfrm>
        </p:spPr>
        <p:txBody>
          <a:bodyPr>
            <a:normAutofit/>
          </a:bodyPr>
          <a:lstStyle/>
          <a:p>
            <a:pPr eaLnBrk="1" hangingPunct="1"/>
            <a:r>
              <a:rPr lang="zh-CN" altLang="en-US" sz="4000" b="1">
                <a:effectLst/>
              </a:rPr>
              <a:t>几点补充</a:t>
            </a:r>
          </a:p>
        </p:txBody>
      </p:sp>
      <p:sp>
        <p:nvSpPr>
          <p:cNvPr id="64515" name="Text Box 3"/>
          <p:cNvSpPr>
            <a:spLocks noGrp="1" noChangeArrowheads="1"/>
          </p:cNvSpPr>
          <p:nvPr>
            <p:ph type="body" sz="half" idx="4294967295"/>
          </p:nvPr>
        </p:nvSpPr>
        <p:spPr>
          <a:xfrm>
            <a:off x="1511300" y="2502084"/>
            <a:ext cx="7416800" cy="576262"/>
          </a:xfrm>
          <a:noFill/>
        </p:spPr>
        <p:txBody>
          <a:bodyPr vert="horz" lIns="90488" tIns="44450" rIns="90488" bIns="44450" rtlCol="0">
            <a:normAutofit fontScale="92500" lnSpcReduction="20000"/>
          </a:bodyPr>
          <a:lstStyle/>
          <a:p>
            <a:pPr marL="971550" lvl="1">
              <a:lnSpc>
                <a:spcPct val="110000"/>
              </a:lnSpc>
              <a:spcBef>
                <a:spcPct val="10000"/>
              </a:spcBef>
              <a:buNone/>
            </a:pPr>
            <a:r>
              <a:rPr lang="en-US" altLang="zh-CN" sz="3500" dirty="0">
                <a:solidFill>
                  <a:srgbClr val="0070C0"/>
                </a:solidFill>
              </a:rPr>
              <a:t>2. </a:t>
            </a:r>
            <a:r>
              <a:rPr lang="zh-CN" altLang="en-US" sz="3500" dirty="0">
                <a:solidFill>
                  <a:srgbClr val="0070C0"/>
                </a:solidFill>
              </a:rPr>
              <a:t>回归系数</a:t>
            </a:r>
            <a:r>
              <a:rPr lang="en-US" altLang="zh-CN" sz="3500" i="1" dirty="0">
                <a:solidFill>
                  <a:srgbClr val="0070C0"/>
                </a:solidFill>
              </a:rPr>
              <a:t>b </a:t>
            </a:r>
            <a:r>
              <a:rPr lang="zh-CN" altLang="en-US" sz="3500" dirty="0">
                <a:solidFill>
                  <a:srgbClr val="0070C0"/>
                </a:solidFill>
              </a:rPr>
              <a:t>与相关系数 </a:t>
            </a:r>
            <a:r>
              <a:rPr lang="en-US" altLang="zh-CN" sz="3500" i="1" dirty="0">
                <a:solidFill>
                  <a:srgbClr val="0070C0"/>
                </a:solidFill>
                <a:latin typeface="Times New Roman" pitchFamily="18" charset="0"/>
                <a:cs typeface="Times New Roman" pitchFamily="18" charset="0"/>
              </a:rPr>
              <a:t>r </a:t>
            </a:r>
            <a:r>
              <a:rPr lang="zh-CN" altLang="en-US" sz="3500" dirty="0">
                <a:solidFill>
                  <a:srgbClr val="0070C0"/>
                </a:solidFill>
              </a:rPr>
              <a:t>同号</a:t>
            </a:r>
            <a:r>
              <a:rPr lang="zh-CN" altLang="en-US" dirty="0">
                <a:solidFill>
                  <a:srgbClr val="0070C0"/>
                </a:solidFill>
              </a:rPr>
              <a:t>：                         </a:t>
            </a:r>
          </a:p>
        </p:txBody>
      </p:sp>
      <p:graphicFrame>
        <p:nvGraphicFramePr>
          <p:cNvPr id="23555" name="Object 8"/>
          <p:cNvGraphicFramePr>
            <a:graphicFrameLocks noGrp="1" noChangeAspect="1"/>
          </p:cNvGraphicFramePr>
          <p:nvPr>
            <p:ph sz="half" idx="4294967295"/>
            <p:extLst>
              <p:ext uri="{D42A27DB-BD31-4B8C-83A1-F6EECF244321}">
                <p14:modId xmlns:p14="http://schemas.microsoft.com/office/powerpoint/2010/main" val="1541850126"/>
              </p:ext>
            </p:extLst>
          </p:nvPr>
        </p:nvGraphicFramePr>
        <p:xfrm>
          <a:off x="3162301" y="1802713"/>
          <a:ext cx="1657350" cy="647700"/>
        </p:xfrm>
        <a:graphic>
          <a:graphicData uri="http://schemas.openxmlformats.org/presentationml/2006/ole">
            <mc:AlternateContent xmlns:mc="http://schemas.openxmlformats.org/markup-compatibility/2006">
              <mc:Choice xmlns:v="urn:schemas-microsoft-com:vml" Requires="v">
                <p:oleObj name="公式" r:id="rId2" imgW="380880" imgH="203040" progId="Equation.3">
                  <p:embed/>
                </p:oleObj>
              </mc:Choice>
              <mc:Fallback>
                <p:oleObj name="公式" r:id="rId2" imgW="380880" imgH="203040" progId="Equation.3">
                  <p:embed/>
                  <p:pic>
                    <p:nvPicPr>
                      <p:cNvPr id="23555"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1" y="1802713"/>
                        <a:ext cx="165735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516" name="Object 4"/>
          <p:cNvGraphicFramePr>
            <a:graphicFrameLocks noChangeAspect="1"/>
          </p:cNvGraphicFramePr>
          <p:nvPr>
            <p:extLst>
              <p:ext uri="{D42A27DB-BD31-4B8C-83A1-F6EECF244321}">
                <p14:modId xmlns:p14="http://schemas.microsoft.com/office/powerpoint/2010/main" val="2305271190"/>
              </p:ext>
            </p:extLst>
          </p:nvPr>
        </p:nvGraphicFramePr>
        <p:xfrm>
          <a:off x="3162301" y="3015743"/>
          <a:ext cx="4294187" cy="1147762"/>
        </p:xfrm>
        <a:graphic>
          <a:graphicData uri="http://schemas.openxmlformats.org/presentationml/2006/ole">
            <mc:AlternateContent xmlns:mc="http://schemas.openxmlformats.org/markup-compatibility/2006">
              <mc:Choice xmlns:v="urn:schemas-microsoft-com:vml" Requires="v">
                <p:oleObj name="Equation" r:id="rId4" imgW="1815840" imgH="469800" progId="Equation.3">
                  <p:embed/>
                </p:oleObj>
              </mc:Choice>
              <mc:Fallback>
                <p:oleObj name="Equation" r:id="rId4" imgW="1815840" imgH="469800" progId="Equation.3">
                  <p:embed/>
                  <p:pic>
                    <p:nvPicPr>
                      <p:cNvPr id="6451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1" y="3015743"/>
                        <a:ext cx="4294187" cy="1147762"/>
                      </a:xfrm>
                      <a:prstGeom prst="rect">
                        <a:avLst/>
                      </a:prstGeom>
                      <a:noFill/>
                    </p:spPr>
                  </p:pic>
                </p:oleObj>
              </mc:Fallback>
            </mc:AlternateContent>
          </a:graphicData>
        </a:graphic>
      </p:graphicFrame>
      <p:sp>
        <p:nvSpPr>
          <p:cNvPr id="64517" name="Rectangle 5"/>
          <p:cNvSpPr>
            <a:spLocks noChangeArrowheads="1"/>
          </p:cNvSpPr>
          <p:nvPr/>
        </p:nvSpPr>
        <p:spPr bwMode="auto">
          <a:xfrm>
            <a:off x="2351087" y="4124660"/>
            <a:ext cx="7561263" cy="461665"/>
          </a:xfrm>
          <a:prstGeom prst="rect">
            <a:avLst/>
          </a:prstGeom>
          <a:noFill/>
          <a:ln w="12700">
            <a:noFill/>
            <a:miter lim="800000"/>
            <a:headEnd/>
            <a:tailEnd/>
          </a:ln>
        </p:spPr>
        <p:txBody>
          <a:bodyPr>
            <a:spAutoFit/>
          </a:bodyPr>
          <a:lstStyle/>
          <a:p>
            <a:pPr>
              <a:spcBef>
                <a:spcPct val="20000"/>
              </a:spcBef>
              <a:buClr>
                <a:schemeClr val="folHlink"/>
              </a:buClr>
              <a:buSzPct val="60000"/>
              <a:buFont typeface="Wingdings" pitchFamily="2" charset="2"/>
              <a:buNone/>
            </a:pPr>
            <a:r>
              <a:rPr kumimoji="1" lang="zh-CN" altLang="en-US" sz="2400" dirty="0">
                <a:solidFill>
                  <a:srgbClr val="000000"/>
                </a:solidFill>
                <a:latin typeface="Tahoma" pitchFamily="34" charset="0"/>
              </a:rPr>
              <a:t>回归系数与相关系数的符号都取决于的 </a:t>
            </a:r>
            <a:r>
              <a:rPr kumimoji="1" lang="en-US" altLang="zh-CN" sz="2400" dirty="0">
                <a:solidFill>
                  <a:srgbClr val="000000"/>
                </a:solidFill>
                <a:latin typeface="Tahoma" pitchFamily="34" charset="0"/>
              </a:rPr>
              <a:t>x</a:t>
            </a:r>
            <a:r>
              <a:rPr kumimoji="1" lang="zh-CN" altLang="en-US" sz="2400" dirty="0">
                <a:solidFill>
                  <a:srgbClr val="000000"/>
                </a:solidFill>
                <a:latin typeface="Tahoma" pitchFamily="34" charset="0"/>
              </a:rPr>
              <a:t>、</a:t>
            </a:r>
            <a:r>
              <a:rPr kumimoji="1" lang="en-US" altLang="zh-CN" sz="2400" dirty="0">
                <a:solidFill>
                  <a:srgbClr val="000000"/>
                </a:solidFill>
                <a:latin typeface="Tahoma" pitchFamily="34" charset="0"/>
              </a:rPr>
              <a:t>y</a:t>
            </a:r>
            <a:r>
              <a:rPr kumimoji="1" lang="zh-CN" altLang="en-US" sz="2400" dirty="0">
                <a:solidFill>
                  <a:srgbClr val="000000"/>
                </a:solidFill>
                <a:latin typeface="Tahoma" pitchFamily="34" charset="0"/>
              </a:rPr>
              <a:t>的协方差。</a:t>
            </a:r>
          </a:p>
        </p:txBody>
      </p:sp>
      <p:sp>
        <p:nvSpPr>
          <p:cNvPr id="23561" name="Rectangle 10"/>
          <p:cNvSpPr>
            <a:spLocks noChangeArrowheads="1"/>
          </p:cNvSpPr>
          <p:nvPr/>
        </p:nvSpPr>
        <p:spPr bwMode="auto">
          <a:xfrm>
            <a:off x="1511300" y="4667934"/>
            <a:ext cx="7886700" cy="1643527"/>
          </a:xfrm>
          <a:prstGeom prst="rect">
            <a:avLst/>
          </a:prstGeom>
          <a:noFill/>
          <a:ln w="12700">
            <a:noFill/>
            <a:miter lim="800000"/>
            <a:headEnd/>
            <a:tailEnd/>
          </a:ln>
        </p:spPr>
        <p:txBody>
          <a:bodyPr wrap="square">
            <a:spAutoFit/>
          </a:bodyPr>
          <a:lstStyle/>
          <a:p>
            <a:pPr marL="444500" lvl="1" defTabSz="685783" fontAlgn="ctr">
              <a:lnSpc>
                <a:spcPct val="105000"/>
              </a:lnSpc>
              <a:buSzPct val="80000"/>
            </a:pPr>
            <a:r>
              <a:rPr lang="en-US" altLang="zh-CN" sz="3200" dirty="0">
                <a:solidFill>
                  <a:srgbClr val="0070C0"/>
                </a:solidFill>
                <a:latin typeface="微软雅黑" panose="020B0503020204020204" pitchFamily="34" charset="-122"/>
                <a:ea typeface="微软雅黑" panose="020B0503020204020204" pitchFamily="34" charset="-122"/>
              </a:rPr>
              <a:t>3. </a:t>
            </a:r>
            <a:r>
              <a:rPr lang="zh-CN" altLang="en-US" sz="3200" dirty="0">
                <a:solidFill>
                  <a:srgbClr val="0070C0"/>
                </a:solidFill>
                <a:latin typeface="微软雅黑" panose="020B0503020204020204" pitchFamily="34" charset="-122"/>
                <a:ea typeface="微软雅黑" panose="020B0503020204020204" pitchFamily="34" charset="-122"/>
              </a:rPr>
              <a:t>最小平方法既可用于拟合直线回归，也可用于拟合曲线回归；既可用于一元回归，也可用于多元回归。</a:t>
            </a:r>
            <a:endParaRPr lang="en-US" altLang="zh-CN" sz="32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927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wipe(left)">
                                      <p:cBhvr>
                                        <p:cTn id="12" dur="500"/>
                                        <p:tgtEl>
                                          <p:spTgt spid="64516"/>
                                        </p:tgtEl>
                                      </p:cBhvr>
                                    </p:animEffect>
                                  </p:childTnLst>
                                </p:cTn>
                              </p:par>
                            </p:childTnLst>
                          </p:cTn>
                        </p:par>
                        <p:par>
                          <p:cTn id="13" fill="hold">
                            <p:stCondLst>
                              <p:cond delay="1000"/>
                            </p:stCondLst>
                            <p:childTnLst>
                              <p:par>
                                <p:cTn id="14" presetID="3" presetClass="entr" presetSubtype="10" fill="hold" grpId="0" nodeType="afterEffect">
                                  <p:stCondLst>
                                    <p:cond delay="0"/>
                                  </p:stCondLst>
                                  <p:childTnLst>
                                    <p:set>
                                      <p:cBhvr>
                                        <p:cTn id="15" dur="1" fill="hold">
                                          <p:stCondLst>
                                            <p:cond delay="0"/>
                                          </p:stCondLst>
                                        </p:cTn>
                                        <p:tgtEl>
                                          <p:spTgt spid="64517"/>
                                        </p:tgtEl>
                                        <p:attrNameLst>
                                          <p:attrName>style.visibility</p:attrName>
                                        </p:attrNameLst>
                                      </p:cBhvr>
                                      <p:to>
                                        <p:strVal val="visible"/>
                                      </p:to>
                                    </p:set>
                                    <p:animEffect transition="in" filter="blinds(horizontal)">
                                      <p:cBhvr>
                                        <p:cTn id="16" dur="500"/>
                                        <p:tgtEl>
                                          <p:spTgt spid="64517"/>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23561"/>
                                        </p:tgtEl>
                                        <p:attrNameLst>
                                          <p:attrName>style.visibility</p:attrName>
                                        </p:attrNameLst>
                                      </p:cBhvr>
                                      <p:to>
                                        <p:strVal val="visible"/>
                                      </p:to>
                                    </p:set>
                                    <p:animEffect transition="in" filter="diamond(in)">
                                      <p:cBhvr>
                                        <p:cTn id="21" dur="10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autoUpdateAnimBg="0"/>
      <p:bldP spid="64517" grpId="0" autoUpdateAnimBg="0"/>
      <p:bldP spid="2356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5" name="日期占位符 4"/>
          <p:cNvSpPr>
            <a:spLocks noGrp="1"/>
          </p:cNvSpPr>
          <p:nvPr>
            <p:ph type="dt" sz="half" idx="10"/>
          </p:nvPr>
        </p:nvSpPr>
        <p:spPr>
          <a:noFill/>
        </p:spPr>
        <p:txBody>
          <a:bodyPr/>
          <a:lstStyle/>
          <a:p>
            <a:endParaRPr lang="en-US" altLang="zh-CN" dirty="0"/>
          </a:p>
        </p:txBody>
      </p:sp>
      <p:sp>
        <p:nvSpPr>
          <p:cNvPr id="92163" name="Rectangle 2"/>
          <p:cNvSpPr>
            <a:spLocks noGrp="1" noChangeArrowheads="1"/>
          </p:cNvSpPr>
          <p:nvPr>
            <p:ph type="title"/>
          </p:nvPr>
        </p:nvSpPr>
        <p:spPr>
          <a:xfrm>
            <a:off x="1828800" y="1033466"/>
            <a:ext cx="8585200" cy="662782"/>
          </a:xfrm>
        </p:spPr>
        <p:txBody>
          <a:bodyPr>
            <a:normAutofit/>
          </a:bodyPr>
          <a:lstStyle/>
          <a:p>
            <a:pPr eaLnBrk="1" hangingPunct="1"/>
            <a:r>
              <a:rPr lang="en-US" altLang="zh-CN" sz="4000" dirty="0"/>
              <a:t>9.3.2  </a:t>
            </a:r>
            <a:r>
              <a:rPr lang="zh-CN" altLang="en-US" sz="4000" dirty="0"/>
              <a:t>一元线性回归方程的拟合效果</a:t>
            </a:r>
          </a:p>
        </p:txBody>
      </p:sp>
      <p:sp>
        <p:nvSpPr>
          <p:cNvPr id="92164" name="Rectangle 3"/>
          <p:cNvSpPr>
            <a:spLocks noGrp="1" noChangeArrowheads="1"/>
          </p:cNvSpPr>
          <p:nvPr>
            <p:ph idx="1"/>
          </p:nvPr>
        </p:nvSpPr>
        <p:spPr>
          <a:xfrm>
            <a:off x="2184400" y="2315887"/>
            <a:ext cx="9499600" cy="3606561"/>
          </a:xfrm>
        </p:spPr>
        <p:txBody>
          <a:bodyPr/>
          <a:lstStyle/>
          <a:p>
            <a:pPr eaLnBrk="1" hangingPunct="1">
              <a:lnSpc>
                <a:spcPct val="140000"/>
              </a:lnSpc>
            </a:pPr>
            <a:r>
              <a:rPr lang="zh-CN" altLang="en-US" sz="3600" dirty="0">
                <a:solidFill>
                  <a:srgbClr val="0070C0"/>
                </a:solidFill>
              </a:rPr>
              <a:t>判定系数</a:t>
            </a:r>
            <a:endParaRPr lang="en-US" altLang="zh-CN" sz="3600" dirty="0">
              <a:solidFill>
                <a:srgbClr val="0070C0"/>
              </a:solidFill>
            </a:endParaRPr>
          </a:p>
          <a:p>
            <a:pPr eaLnBrk="1" hangingPunct="1">
              <a:lnSpc>
                <a:spcPct val="140000"/>
              </a:lnSpc>
            </a:pPr>
            <a:r>
              <a:rPr lang="zh-CN" altLang="en-US" sz="3600" dirty="0">
                <a:solidFill>
                  <a:srgbClr val="0070C0"/>
                </a:solidFill>
              </a:rPr>
              <a:t>回归估计的标准误差 </a:t>
            </a:r>
          </a:p>
        </p:txBody>
      </p:sp>
      <p:sp>
        <p:nvSpPr>
          <p:cNvPr id="92162" name="灯片编号占位符 5"/>
          <p:cNvSpPr>
            <a:spLocks noGrp="1"/>
          </p:cNvSpPr>
          <p:nvPr>
            <p:ph type="sldNum" sz="quarter" idx="4"/>
          </p:nvPr>
        </p:nvSpPr>
        <p:spPr>
          <a:noFill/>
        </p:spPr>
        <p:txBody>
          <a:bodyPr/>
          <a:lstStyle/>
          <a:p>
            <a:r>
              <a:rPr lang="en-US" altLang="zh-CN" dirty="0"/>
              <a:t>9--</a:t>
            </a:r>
            <a:fld id="{8814A6CA-6EAB-4081-A047-86E6F2CB636D}" type="slidenum">
              <a:rPr lang="en-US" altLang="zh-CN" smtClean="0"/>
              <a:pPr/>
              <a:t>55</a:t>
            </a:fld>
            <a:endParaRPr lang="en-US" altLang="zh-CN" dirty="0"/>
          </a:p>
        </p:txBody>
      </p:sp>
    </p:spTree>
    <p:extLst>
      <p:ext uri="{BB962C8B-B14F-4D97-AF65-F5344CB8AC3E}">
        <p14:creationId xmlns:p14="http://schemas.microsoft.com/office/powerpoint/2010/main" val="36864308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日期占位符 5"/>
          <p:cNvSpPr>
            <a:spLocks noGrp="1"/>
          </p:cNvSpPr>
          <p:nvPr>
            <p:ph type="dt" sz="half" idx="10"/>
          </p:nvPr>
        </p:nvSpPr>
        <p:spPr>
          <a:noFill/>
        </p:spPr>
        <p:txBody>
          <a:bodyPr/>
          <a:lstStyle/>
          <a:p>
            <a:endParaRPr lang="en-US" altLang="zh-CN" dirty="0"/>
          </a:p>
        </p:txBody>
      </p:sp>
      <p:sp>
        <p:nvSpPr>
          <p:cNvPr id="24580" name="Rectangle 2"/>
          <p:cNvSpPr>
            <a:spLocks noGrp="1" noChangeArrowheads="1"/>
          </p:cNvSpPr>
          <p:nvPr>
            <p:ph type="title"/>
          </p:nvPr>
        </p:nvSpPr>
        <p:spPr>
          <a:xfrm>
            <a:off x="1244600" y="795892"/>
            <a:ext cx="3898900" cy="662782"/>
          </a:xfrm>
          <a:noFill/>
        </p:spPr>
        <p:txBody>
          <a:bodyPr vert="horz" lIns="90488" tIns="44450" rIns="90488" bIns="44450" rtlCol="0" anchor="ctr" anchorCtr="1">
            <a:normAutofit/>
          </a:bodyPr>
          <a:lstStyle/>
          <a:p>
            <a:pPr eaLnBrk="1" hangingPunct="1"/>
            <a:r>
              <a:rPr lang="en-US" altLang="zh-CN" dirty="0"/>
              <a:t>1. </a:t>
            </a:r>
            <a:r>
              <a:rPr lang="zh-CN" altLang="en-US" dirty="0"/>
              <a:t>判定系数</a:t>
            </a:r>
          </a:p>
        </p:txBody>
      </p:sp>
      <p:sp>
        <p:nvSpPr>
          <p:cNvPr id="69635" name="Rectangle 3"/>
          <p:cNvSpPr>
            <a:spLocks noGrp="1" noChangeArrowheads="1"/>
          </p:cNvSpPr>
          <p:nvPr>
            <p:ph idx="1"/>
          </p:nvPr>
        </p:nvSpPr>
        <p:spPr>
          <a:xfrm>
            <a:off x="1647191" y="1458674"/>
            <a:ext cx="8373109" cy="4266961"/>
          </a:xfrm>
          <a:noFill/>
        </p:spPr>
        <p:txBody>
          <a:bodyPr vert="horz" lIns="90488" tIns="44450" rIns="90488" bIns="44450" rtlCol="0">
            <a:normAutofit lnSpcReduction="10000"/>
          </a:bodyPr>
          <a:lstStyle/>
          <a:p>
            <a:pPr marL="609600" indent="-609600" algn="just">
              <a:lnSpc>
                <a:spcPct val="110000"/>
              </a:lnSpc>
              <a:spcBef>
                <a:spcPct val="25000"/>
              </a:spcBef>
              <a:buNone/>
            </a:pPr>
            <a:r>
              <a:rPr lang="zh-CN" altLang="en-US" dirty="0">
                <a:solidFill>
                  <a:schemeClr val="tx2"/>
                </a:solidFill>
                <a:latin typeface="Times New Roman" pitchFamily="18" charset="0"/>
              </a:rPr>
              <a:t>因变量 </a:t>
            </a:r>
            <a:r>
              <a:rPr lang="en-US" altLang="zh-CN" i="1" dirty="0">
                <a:solidFill>
                  <a:schemeClr val="tx2"/>
                </a:solidFill>
                <a:latin typeface="Times New Roman" pitchFamily="18" charset="0"/>
              </a:rPr>
              <a:t>y </a:t>
            </a:r>
            <a:r>
              <a:rPr lang="zh-CN" altLang="en-US" dirty="0">
                <a:solidFill>
                  <a:schemeClr val="tx2"/>
                </a:solidFill>
                <a:latin typeface="Times New Roman" pitchFamily="18" charset="0"/>
              </a:rPr>
              <a:t>的取值是不同的，</a:t>
            </a:r>
            <a:r>
              <a:rPr lang="en-US" altLang="zh-CN" i="1" dirty="0">
                <a:solidFill>
                  <a:schemeClr val="tx2"/>
                </a:solidFill>
                <a:latin typeface="Times New Roman" pitchFamily="18" charset="0"/>
              </a:rPr>
              <a:t>y </a:t>
            </a:r>
            <a:r>
              <a:rPr lang="zh-CN" altLang="en-US" dirty="0">
                <a:solidFill>
                  <a:schemeClr val="tx2"/>
                </a:solidFill>
                <a:latin typeface="Times New Roman" pitchFamily="18" charset="0"/>
              </a:rPr>
              <a:t>取值的这种波动称为</a:t>
            </a:r>
            <a:r>
              <a:rPr lang="zh-CN" altLang="en-US" dirty="0">
                <a:solidFill>
                  <a:srgbClr val="3333FF"/>
                </a:solidFill>
                <a:latin typeface="Times New Roman" pitchFamily="18" charset="0"/>
              </a:rPr>
              <a:t>变差或离差</a:t>
            </a:r>
            <a:r>
              <a:rPr lang="zh-CN" altLang="en-US" dirty="0">
                <a:solidFill>
                  <a:schemeClr val="tx2"/>
                </a:solidFill>
                <a:latin typeface="Times New Roman" pitchFamily="18" charset="0"/>
              </a:rPr>
              <a:t>。对一个具体的观测值来说，变差的大小可以通过该实际观测值与其均值之差                来表示。</a:t>
            </a:r>
          </a:p>
          <a:p>
            <a:pPr marL="609600" indent="-609600" algn="just">
              <a:lnSpc>
                <a:spcPct val="110000"/>
              </a:lnSpc>
              <a:spcBef>
                <a:spcPct val="25000"/>
              </a:spcBef>
              <a:buNone/>
            </a:pPr>
            <a:r>
              <a:rPr lang="zh-CN" altLang="en-US" b="1" dirty="0">
                <a:solidFill>
                  <a:schemeClr val="tx2"/>
                </a:solidFill>
                <a:latin typeface="Times New Roman" pitchFamily="18" charset="0"/>
              </a:rPr>
              <a:t>变差来源于两个方面</a:t>
            </a:r>
            <a:r>
              <a:rPr lang="zh-CN" altLang="en-US" dirty="0">
                <a:solidFill>
                  <a:schemeClr val="tx2"/>
                </a:solidFill>
                <a:latin typeface="Times New Roman" pitchFamily="18" charset="0"/>
              </a:rPr>
              <a:t>：</a:t>
            </a:r>
          </a:p>
          <a:p>
            <a:pPr marL="1219200" lvl="1" indent="-533400" algn="just">
              <a:lnSpc>
                <a:spcPct val="110000"/>
              </a:lnSpc>
              <a:spcBef>
                <a:spcPct val="25000"/>
              </a:spcBef>
            </a:pPr>
            <a:r>
              <a:rPr lang="zh-CN" altLang="en-US" dirty="0">
                <a:latin typeface="Times New Roman" pitchFamily="18" charset="0"/>
              </a:rPr>
              <a:t>由于自变量 </a:t>
            </a:r>
            <a:r>
              <a:rPr lang="en-US" altLang="zh-CN" i="1" dirty="0">
                <a:latin typeface="Times New Roman" pitchFamily="18" charset="0"/>
              </a:rPr>
              <a:t>x </a:t>
            </a:r>
            <a:r>
              <a:rPr lang="zh-CN" altLang="en-US" dirty="0">
                <a:latin typeface="Times New Roman" pitchFamily="18" charset="0"/>
              </a:rPr>
              <a:t>的取值不同造成的；</a:t>
            </a:r>
          </a:p>
          <a:p>
            <a:pPr marL="1219200" lvl="1" indent="-533400" algn="just">
              <a:lnSpc>
                <a:spcPct val="110000"/>
              </a:lnSpc>
              <a:spcBef>
                <a:spcPct val="25000"/>
              </a:spcBef>
            </a:pPr>
            <a:r>
              <a:rPr lang="zh-CN" altLang="en-US" dirty="0">
                <a:latin typeface="Times New Roman" pitchFamily="18" charset="0"/>
              </a:rPr>
              <a:t>除 </a:t>
            </a:r>
            <a:r>
              <a:rPr lang="en-US" altLang="zh-CN" i="1" dirty="0">
                <a:latin typeface="Times New Roman" pitchFamily="18" charset="0"/>
              </a:rPr>
              <a:t>x </a:t>
            </a:r>
            <a:r>
              <a:rPr lang="zh-CN" altLang="en-US" dirty="0">
                <a:latin typeface="Times New Roman" pitchFamily="18" charset="0"/>
              </a:rPr>
              <a:t>以外的其他因素 </a:t>
            </a:r>
            <a:r>
              <a:rPr lang="en-US" altLang="zh-CN" dirty="0">
                <a:latin typeface="Times New Roman" pitchFamily="18" charset="0"/>
              </a:rPr>
              <a:t>(</a:t>
            </a:r>
            <a:r>
              <a:rPr lang="zh-CN" altLang="en-US" dirty="0">
                <a:latin typeface="Times New Roman" pitchFamily="18" charset="0"/>
              </a:rPr>
              <a:t>包括 </a:t>
            </a:r>
            <a:r>
              <a:rPr lang="en-US" altLang="zh-CN" i="1" dirty="0">
                <a:latin typeface="Times New Roman" pitchFamily="18" charset="0"/>
              </a:rPr>
              <a:t>x </a:t>
            </a:r>
            <a:r>
              <a:rPr lang="zh-CN" altLang="en-US" dirty="0">
                <a:latin typeface="Times New Roman" pitchFamily="18" charset="0"/>
              </a:rPr>
              <a:t>对 </a:t>
            </a:r>
            <a:r>
              <a:rPr lang="en-US" altLang="zh-CN" i="1" dirty="0">
                <a:latin typeface="Times New Roman" pitchFamily="18" charset="0"/>
              </a:rPr>
              <a:t>y </a:t>
            </a:r>
            <a:r>
              <a:rPr lang="zh-CN" altLang="en-US" dirty="0">
                <a:latin typeface="Times New Roman" pitchFamily="18" charset="0"/>
              </a:rPr>
              <a:t>的非线性影响、测量误差等</a:t>
            </a:r>
            <a:r>
              <a:rPr lang="en-US" altLang="zh-CN" dirty="0">
                <a:latin typeface="Times New Roman" pitchFamily="18" charset="0"/>
              </a:rPr>
              <a:t>)</a:t>
            </a:r>
            <a:r>
              <a:rPr lang="zh-CN" altLang="en-US" dirty="0">
                <a:latin typeface="Times New Roman" pitchFamily="18" charset="0"/>
              </a:rPr>
              <a:t>的影 响。</a:t>
            </a:r>
          </a:p>
        </p:txBody>
      </p:sp>
      <p:sp>
        <p:nvSpPr>
          <p:cNvPr id="24579" name="灯片编号占位符 5"/>
          <p:cNvSpPr>
            <a:spLocks noGrp="1"/>
          </p:cNvSpPr>
          <p:nvPr>
            <p:ph type="sldNum" sz="quarter" idx="4"/>
          </p:nvPr>
        </p:nvSpPr>
        <p:spPr>
          <a:noFill/>
        </p:spPr>
        <p:txBody>
          <a:bodyPr/>
          <a:lstStyle/>
          <a:p>
            <a:r>
              <a:rPr lang="en-US" altLang="zh-CN" dirty="0"/>
              <a:t>9--</a:t>
            </a:r>
            <a:fld id="{0191D5AD-9804-421B-9169-D61021B864B7}" type="slidenum">
              <a:rPr lang="en-US" altLang="zh-CN" smtClean="0"/>
              <a:pPr/>
              <a:t>56</a:t>
            </a:fld>
            <a:endParaRPr lang="en-US" altLang="zh-CN" dirty="0"/>
          </a:p>
        </p:txBody>
      </p:sp>
      <p:graphicFrame>
        <p:nvGraphicFramePr>
          <p:cNvPr id="24578" name="Object 4">
            <a:hlinkClick r:id="" action="ppaction://ole?verb=0"/>
          </p:cNvPr>
          <p:cNvGraphicFramePr>
            <a:graphicFrameLocks/>
          </p:cNvGraphicFramePr>
          <p:nvPr>
            <p:extLst>
              <p:ext uri="{D42A27DB-BD31-4B8C-83A1-F6EECF244321}">
                <p14:modId xmlns:p14="http://schemas.microsoft.com/office/powerpoint/2010/main" val="4224178183"/>
              </p:ext>
            </p:extLst>
          </p:nvPr>
        </p:nvGraphicFramePr>
        <p:xfrm>
          <a:off x="4511675" y="2903216"/>
          <a:ext cx="1263650" cy="568325"/>
        </p:xfrm>
        <a:graphic>
          <a:graphicData uri="http://schemas.openxmlformats.org/presentationml/2006/ole">
            <mc:AlternateContent xmlns:mc="http://schemas.openxmlformats.org/markup-compatibility/2006">
              <mc:Choice xmlns:v="urn:schemas-microsoft-com:vml" Requires="v">
                <p:oleObj name="Equation" r:id="rId3" imgW="469800" imgH="203040" progId="Equation.DSMT4">
                  <p:embed/>
                </p:oleObj>
              </mc:Choice>
              <mc:Fallback>
                <p:oleObj name="Equation" r:id="rId3" imgW="469800" imgH="203040" progId="Equation.DSMT4">
                  <p:embed/>
                  <p:pic>
                    <p:nvPicPr>
                      <p:cNvPr id="24578"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675" y="2903216"/>
                        <a:ext cx="1263650" cy="5683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2361361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wipe(left)">
                                      <p:cBhvr>
                                        <p:cTn id="7" dur="500"/>
                                        <p:tgtEl>
                                          <p:spTgt spid="69635">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9635">
                                            <p:txEl>
                                              <p:pRg st="2" end="2"/>
                                            </p:txEl>
                                          </p:spTgt>
                                        </p:tgtEl>
                                        <p:attrNameLst>
                                          <p:attrName>style.visibility</p:attrName>
                                        </p:attrNameLst>
                                      </p:cBhvr>
                                      <p:to>
                                        <p:strVal val="visible"/>
                                      </p:to>
                                    </p:set>
                                    <p:animEffect transition="in" filter="wipe(left)">
                                      <p:cBhvr>
                                        <p:cTn id="10" dur="500"/>
                                        <p:tgtEl>
                                          <p:spTgt spid="69635">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9635">
                                            <p:txEl>
                                              <p:pRg st="3" end="3"/>
                                            </p:txEl>
                                          </p:spTgt>
                                        </p:tgtEl>
                                        <p:attrNameLst>
                                          <p:attrName>style.visibility</p:attrName>
                                        </p:attrNameLst>
                                      </p:cBhvr>
                                      <p:to>
                                        <p:strVal val="visible"/>
                                      </p:to>
                                    </p:set>
                                    <p:animEffect transition="in" filter="wipe(left)">
                                      <p:cBhvr>
                                        <p:cTn id="13" dur="500"/>
                                        <p:tgtEl>
                                          <p:spTgt spid="69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4" name="日期占位符 26"/>
          <p:cNvSpPr>
            <a:spLocks noGrp="1"/>
          </p:cNvSpPr>
          <p:nvPr>
            <p:ph type="dt" sz="half" idx="10"/>
          </p:nvPr>
        </p:nvSpPr>
        <p:spPr>
          <a:noFill/>
        </p:spPr>
        <p:txBody>
          <a:bodyPr/>
          <a:lstStyle/>
          <a:p>
            <a:endParaRPr lang="en-US" altLang="zh-CN" dirty="0"/>
          </a:p>
        </p:txBody>
      </p:sp>
      <p:sp>
        <p:nvSpPr>
          <p:cNvPr id="25609" name="Rectangle 2"/>
          <p:cNvSpPr>
            <a:spLocks noGrp="1" noChangeArrowheads="1"/>
          </p:cNvSpPr>
          <p:nvPr>
            <p:ph type="title"/>
          </p:nvPr>
        </p:nvSpPr>
        <p:spPr>
          <a:xfrm>
            <a:off x="1701800" y="587773"/>
            <a:ext cx="6969125" cy="662782"/>
          </a:xfrm>
          <a:noFill/>
        </p:spPr>
        <p:txBody>
          <a:bodyPr vert="horz" lIns="90488" tIns="44450" rIns="90488" bIns="44450" rtlCol="0" anchor="ctr" anchorCtr="1">
            <a:normAutofit/>
          </a:bodyPr>
          <a:lstStyle/>
          <a:p>
            <a:pPr eaLnBrk="1" hangingPunct="1"/>
            <a:r>
              <a:rPr lang="zh-CN" altLang="en-US" dirty="0"/>
              <a:t>离差平方和的分解</a:t>
            </a:r>
            <a:r>
              <a:rPr lang="zh-CN" altLang="en-US" sz="4000" dirty="0"/>
              <a:t>（图示）</a:t>
            </a:r>
          </a:p>
        </p:txBody>
      </p:sp>
      <p:sp>
        <p:nvSpPr>
          <p:cNvPr id="25608" name="灯片编号占位符 5"/>
          <p:cNvSpPr>
            <a:spLocks noGrp="1"/>
          </p:cNvSpPr>
          <p:nvPr>
            <p:ph type="sldNum" sz="quarter" idx="4"/>
          </p:nvPr>
        </p:nvSpPr>
        <p:spPr>
          <a:noFill/>
        </p:spPr>
        <p:txBody>
          <a:bodyPr/>
          <a:lstStyle/>
          <a:p>
            <a:r>
              <a:rPr lang="en-US" altLang="zh-CN" dirty="0"/>
              <a:t>9--</a:t>
            </a:r>
            <a:fld id="{7FE36921-7BC6-4F70-B126-C32E93EE5DB5}" type="slidenum">
              <a:rPr lang="en-US" altLang="zh-CN" smtClean="0"/>
              <a:pPr/>
              <a:t>57</a:t>
            </a:fld>
            <a:endParaRPr lang="en-US" altLang="zh-CN" dirty="0"/>
          </a:p>
        </p:txBody>
      </p:sp>
      <p:sp>
        <p:nvSpPr>
          <p:cNvPr id="25610" name="Text Box 25"/>
          <p:cNvSpPr txBox="1">
            <a:spLocks noChangeArrowheads="1"/>
          </p:cNvSpPr>
          <p:nvPr/>
        </p:nvSpPr>
        <p:spPr bwMode="auto">
          <a:xfrm>
            <a:off x="4598195" y="5657854"/>
            <a:ext cx="2374900" cy="519112"/>
          </a:xfrm>
          <a:prstGeom prst="rect">
            <a:avLst/>
          </a:prstGeom>
          <a:solidFill>
            <a:schemeClr val="accent2">
              <a:lumMod val="20000"/>
              <a:lumOff val="80000"/>
            </a:schemeClr>
          </a:solidFill>
          <a:ln w="12700">
            <a:noFill/>
            <a:miter lim="800000"/>
            <a:headEnd/>
            <a:tailEnd/>
          </a:ln>
        </p:spPr>
        <p:txBody>
          <a:bodyPr>
            <a:spAutoFit/>
          </a:bodyPr>
          <a:lstStyle/>
          <a:p>
            <a:pPr algn="ctr" eaLnBrk="0" hangingPunct="0">
              <a:spcBef>
                <a:spcPct val="50000"/>
              </a:spcBef>
            </a:pPr>
            <a:r>
              <a:rPr kumimoji="1" lang="zh-CN" altLang="en-US" sz="2800" dirty="0">
                <a:solidFill>
                  <a:srgbClr val="000000"/>
                </a:solidFill>
              </a:rPr>
              <a:t>离差分解图</a:t>
            </a:r>
          </a:p>
        </p:txBody>
      </p:sp>
      <p:grpSp>
        <p:nvGrpSpPr>
          <p:cNvPr id="25611" name="Group 36"/>
          <p:cNvGrpSpPr>
            <a:grpSpLocks/>
          </p:cNvGrpSpPr>
          <p:nvPr/>
        </p:nvGrpSpPr>
        <p:grpSpPr bwMode="auto">
          <a:xfrm>
            <a:off x="2279651" y="1628776"/>
            <a:ext cx="7777163" cy="4468813"/>
            <a:chOff x="458" y="1017"/>
            <a:chExt cx="4899" cy="2815"/>
          </a:xfrm>
        </p:grpSpPr>
        <p:grpSp>
          <p:nvGrpSpPr>
            <p:cNvPr id="25617" name="Group 4"/>
            <p:cNvGrpSpPr>
              <a:grpSpLocks/>
            </p:cNvGrpSpPr>
            <p:nvPr/>
          </p:nvGrpSpPr>
          <p:grpSpPr bwMode="auto">
            <a:xfrm>
              <a:off x="838" y="1108"/>
              <a:ext cx="4032" cy="2400"/>
              <a:chOff x="816" y="1248"/>
              <a:chExt cx="4032" cy="2400"/>
            </a:xfrm>
          </p:grpSpPr>
          <p:sp>
            <p:nvSpPr>
              <p:cNvPr id="71685" name="Line 5"/>
              <p:cNvSpPr>
                <a:spLocks noChangeShapeType="1"/>
              </p:cNvSpPr>
              <p:nvPr/>
            </p:nvSpPr>
            <p:spPr bwMode="auto">
              <a:xfrm>
                <a:off x="816" y="1248"/>
                <a:ext cx="0" cy="2400"/>
              </a:xfrm>
              <a:prstGeom prst="line">
                <a:avLst/>
              </a:prstGeom>
              <a:noFill/>
              <a:ln w="38100">
                <a:solidFill>
                  <a:schemeClr val="tx1"/>
                </a:solidFill>
                <a:round/>
                <a:headEnd type="triangle" w="med" len="med"/>
                <a:tailEnd/>
              </a:ln>
              <a:effectLst>
                <a:outerShdw dist="35921" dir="2700000" algn="ctr" rotWithShape="0">
                  <a:schemeClr val="bg2"/>
                </a:outerShdw>
              </a:effectLst>
            </p:spPr>
            <p:txBody>
              <a:bodyPr/>
              <a:lstStyle/>
              <a:p>
                <a:pPr>
                  <a:defRPr/>
                </a:pPr>
                <a:endParaRPr lang="zh-CN" altLang="en-US"/>
              </a:p>
            </p:txBody>
          </p:sp>
          <p:sp>
            <p:nvSpPr>
              <p:cNvPr id="71686" name="Line 6"/>
              <p:cNvSpPr>
                <a:spLocks noChangeShapeType="1"/>
              </p:cNvSpPr>
              <p:nvPr/>
            </p:nvSpPr>
            <p:spPr bwMode="auto">
              <a:xfrm>
                <a:off x="816" y="3648"/>
                <a:ext cx="4032" cy="0"/>
              </a:xfrm>
              <a:prstGeom prst="line">
                <a:avLst/>
              </a:prstGeom>
              <a:noFill/>
              <a:ln w="38100">
                <a:solidFill>
                  <a:schemeClr val="tx1"/>
                </a:solidFill>
                <a:round/>
                <a:headEnd/>
                <a:tailEnd type="triangle" w="med" len="med"/>
              </a:ln>
              <a:effectLst>
                <a:outerShdw dist="35921" dir="2700000" algn="ctr" rotWithShape="0">
                  <a:schemeClr val="bg2"/>
                </a:outerShdw>
              </a:effectLst>
            </p:spPr>
            <p:txBody>
              <a:bodyPr/>
              <a:lstStyle/>
              <a:p>
                <a:pPr>
                  <a:defRPr/>
                </a:pPr>
                <a:endParaRPr lang="zh-CN" altLang="en-US"/>
              </a:p>
            </p:txBody>
          </p:sp>
        </p:grpSp>
        <p:sp>
          <p:nvSpPr>
            <p:cNvPr id="25618" name="Text Box 7"/>
            <p:cNvSpPr txBox="1">
              <a:spLocks noChangeArrowheads="1"/>
            </p:cNvSpPr>
            <p:nvPr/>
          </p:nvSpPr>
          <p:spPr bwMode="auto">
            <a:xfrm>
              <a:off x="4649" y="3467"/>
              <a:ext cx="288" cy="365"/>
            </a:xfrm>
            <a:prstGeom prst="rect">
              <a:avLst/>
            </a:prstGeom>
            <a:noFill/>
            <a:ln w="12700">
              <a:noFill/>
              <a:miter lim="800000"/>
              <a:headEnd/>
              <a:tailEnd/>
            </a:ln>
          </p:spPr>
          <p:txBody>
            <a:bodyPr>
              <a:spAutoFit/>
            </a:bodyPr>
            <a:lstStyle/>
            <a:p>
              <a:pPr algn="ctr" eaLnBrk="0" hangingPunct="0">
                <a:spcBef>
                  <a:spcPct val="50000"/>
                </a:spcBef>
              </a:pPr>
              <a:r>
                <a:rPr kumimoji="1" lang="en-US" altLang="zh-CN" sz="3200" b="1" i="1" dirty="0">
                  <a:solidFill>
                    <a:srgbClr val="000000"/>
                  </a:solidFill>
                  <a:latin typeface="Times New Roman" pitchFamily="18" charset="0"/>
                </a:rPr>
                <a:t>X</a:t>
              </a:r>
            </a:p>
          </p:txBody>
        </p:sp>
        <p:sp>
          <p:nvSpPr>
            <p:cNvPr id="71689" name="Line 9"/>
            <p:cNvSpPr>
              <a:spLocks noChangeShapeType="1"/>
            </p:cNvSpPr>
            <p:nvPr/>
          </p:nvSpPr>
          <p:spPr bwMode="auto">
            <a:xfrm flipV="1">
              <a:off x="884" y="1425"/>
              <a:ext cx="3447" cy="1824"/>
            </a:xfrm>
            <a:prstGeom prst="line">
              <a:avLst/>
            </a:prstGeom>
            <a:noFill/>
            <a:ln w="57150">
              <a:solidFill>
                <a:schemeClr val="hlink"/>
              </a:solidFill>
              <a:round/>
              <a:headEnd/>
              <a:tailEnd/>
            </a:ln>
            <a:effectLst>
              <a:outerShdw dist="35921" dir="2700000" algn="ctr" rotWithShape="0">
                <a:schemeClr val="bg2"/>
              </a:outerShdw>
            </a:effectLst>
          </p:spPr>
          <p:txBody>
            <a:bodyPr/>
            <a:lstStyle/>
            <a:p>
              <a:pPr>
                <a:defRPr/>
              </a:pPr>
              <a:endParaRPr lang="zh-CN" altLang="en-US"/>
            </a:p>
          </p:txBody>
        </p:sp>
        <p:sp>
          <p:nvSpPr>
            <p:cNvPr id="71692" name="Line 12"/>
            <p:cNvSpPr>
              <a:spLocks noChangeShapeType="1"/>
            </p:cNvSpPr>
            <p:nvPr/>
          </p:nvSpPr>
          <p:spPr bwMode="auto">
            <a:xfrm flipV="1">
              <a:off x="884" y="2559"/>
              <a:ext cx="3696" cy="0"/>
            </a:xfrm>
            <a:prstGeom prst="line">
              <a:avLst/>
            </a:prstGeom>
            <a:noFill/>
            <a:ln w="57150">
              <a:solidFill>
                <a:srgbClr val="FFCC00"/>
              </a:solidFill>
              <a:round/>
              <a:headEnd/>
              <a:tailEnd/>
            </a:ln>
            <a:effectLst>
              <a:outerShdw dist="28398" dir="1593903" algn="ctr" rotWithShape="0">
                <a:schemeClr val="bg2"/>
              </a:outerShdw>
            </a:effectLst>
          </p:spPr>
          <p:txBody>
            <a:bodyPr/>
            <a:lstStyle/>
            <a:p>
              <a:pPr>
                <a:defRPr/>
              </a:pPr>
              <a:endParaRPr lang="zh-CN" altLang="en-US"/>
            </a:p>
          </p:txBody>
        </p:sp>
        <p:graphicFrame>
          <p:nvGraphicFramePr>
            <p:cNvPr id="25604" name="Object 16">
              <a:hlinkClick r:id="" action="ppaction://ole?verb=0"/>
            </p:cNvPr>
            <p:cNvGraphicFramePr>
              <a:graphicFrameLocks/>
            </p:cNvGraphicFramePr>
            <p:nvPr/>
          </p:nvGraphicFramePr>
          <p:xfrm>
            <a:off x="4150" y="1661"/>
            <a:ext cx="1207" cy="484"/>
          </p:xfrm>
          <a:graphic>
            <a:graphicData uri="http://schemas.openxmlformats.org/presentationml/2006/ole">
              <mc:AlternateContent xmlns:mc="http://schemas.openxmlformats.org/markup-compatibility/2006">
                <mc:Choice xmlns:v="urn:schemas-microsoft-com:vml" Requires="v">
                  <p:oleObj name="Equation" r:id="rId3" imgW="647640" imgH="203040" progId="Equation.DSMT4">
                    <p:embed/>
                  </p:oleObj>
                </mc:Choice>
                <mc:Fallback>
                  <p:oleObj name="Equation" r:id="rId3" imgW="647640" imgH="203040" progId="Equation.DSMT4">
                    <p:embed/>
                    <p:pic>
                      <p:nvPicPr>
                        <p:cNvPr id="25604" name="Object 16">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 y="1661"/>
                          <a:ext cx="1207" cy="484"/>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25605" name="Object 17">
              <a:hlinkClick r:id="" action="ppaction://ole?verb=0"/>
            </p:cNvPr>
            <p:cNvGraphicFramePr>
              <a:graphicFrameLocks/>
            </p:cNvGraphicFramePr>
            <p:nvPr/>
          </p:nvGraphicFramePr>
          <p:xfrm>
            <a:off x="1734" y="1913"/>
            <a:ext cx="854" cy="365"/>
          </p:xfrm>
          <a:graphic>
            <a:graphicData uri="http://schemas.openxmlformats.org/presentationml/2006/ole">
              <mc:AlternateContent xmlns:mc="http://schemas.openxmlformats.org/markup-compatibility/2006">
                <mc:Choice xmlns:v="urn:schemas-microsoft-com:vml" Requires="v">
                  <p:oleObj name="Equation" r:id="rId5" imgW="469800" imgH="203040" progId="Equation.DSMT4">
                    <p:embed/>
                  </p:oleObj>
                </mc:Choice>
                <mc:Fallback>
                  <p:oleObj name="Equation" r:id="rId5" imgW="469800" imgH="203040" progId="Equation.DSMT4">
                    <p:embed/>
                    <p:pic>
                      <p:nvPicPr>
                        <p:cNvPr id="25605" name="Object 17">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4" y="1913"/>
                          <a:ext cx="854" cy="36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22" name="Text Box 23"/>
            <p:cNvSpPr txBox="1">
              <a:spLocks noChangeArrowheads="1"/>
            </p:cNvSpPr>
            <p:nvPr/>
          </p:nvSpPr>
          <p:spPr bwMode="auto">
            <a:xfrm>
              <a:off x="2653" y="1509"/>
              <a:ext cx="480" cy="233"/>
            </a:xfrm>
            <a:prstGeom prst="rect">
              <a:avLst/>
            </a:prstGeom>
            <a:noFill/>
            <a:ln w="12700">
              <a:noFill/>
              <a:miter lim="800000"/>
              <a:headEnd/>
              <a:tailEnd/>
            </a:ln>
          </p:spPr>
          <p:txBody>
            <a:bodyPr>
              <a:spAutoFit/>
            </a:bodyPr>
            <a:lstStyle/>
            <a:p>
              <a:pPr algn="ctr" eaLnBrk="0" hangingPunct="0">
                <a:spcBef>
                  <a:spcPct val="50000"/>
                </a:spcBef>
              </a:pPr>
              <a:r>
                <a:rPr kumimoji="1" lang="en-US" altLang="zh-CN" dirty="0">
                  <a:solidFill>
                    <a:srgbClr val="FF00FF"/>
                  </a:solidFill>
                  <a:sym typeface="Wingdings 2" pitchFamily="18" charset="2"/>
                </a:rPr>
                <a:t></a:t>
              </a:r>
              <a:endParaRPr kumimoji="1" lang="en-US" altLang="zh-CN" dirty="0">
                <a:solidFill>
                  <a:srgbClr val="FF00FF"/>
                </a:solidFill>
              </a:endParaRPr>
            </a:p>
          </p:txBody>
        </p:sp>
        <p:graphicFrame>
          <p:nvGraphicFramePr>
            <p:cNvPr id="25606" name="Object 24">
              <a:hlinkClick r:id="" action="ppaction://ole?verb=0"/>
            </p:cNvPr>
            <p:cNvGraphicFramePr>
              <a:graphicFrameLocks/>
            </p:cNvGraphicFramePr>
            <p:nvPr/>
          </p:nvGraphicFramePr>
          <p:xfrm>
            <a:off x="2517" y="1253"/>
            <a:ext cx="771" cy="376"/>
          </p:xfrm>
          <a:graphic>
            <a:graphicData uri="http://schemas.openxmlformats.org/presentationml/2006/ole">
              <mc:AlternateContent xmlns:mc="http://schemas.openxmlformats.org/markup-compatibility/2006">
                <mc:Choice xmlns:v="urn:schemas-microsoft-com:vml" Requires="v">
                  <p:oleObj name="公式" r:id="rId7" imgW="431640" imgH="190440" progId="Equation.3">
                    <p:embed/>
                  </p:oleObj>
                </mc:Choice>
                <mc:Fallback>
                  <p:oleObj name="公式" r:id="rId7" imgW="431640" imgH="190440" progId="Equation.3">
                    <p:embed/>
                    <p:pic>
                      <p:nvPicPr>
                        <p:cNvPr id="25606" name="Object 24">
                          <a:hlinkClick r:id="" action="ppaction://ole?verb=0"/>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 y="1253"/>
                          <a:ext cx="771" cy="376"/>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23" name="AutoShape 27"/>
            <p:cNvSpPr>
              <a:spLocks/>
            </p:cNvSpPr>
            <p:nvPr/>
          </p:nvSpPr>
          <p:spPr bwMode="auto">
            <a:xfrm>
              <a:off x="2562" y="1652"/>
              <a:ext cx="209" cy="907"/>
            </a:xfrm>
            <a:prstGeom prst="leftBrace">
              <a:avLst>
                <a:gd name="adj1" fmla="val 31608"/>
                <a:gd name="adj2" fmla="val 50000"/>
              </a:avLst>
            </a:prstGeom>
            <a:noFill/>
            <a:ln w="57150">
              <a:solidFill>
                <a:srgbClr val="3333FF"/>
              </a:solidFill>
              <a:round/>
              <a:headEnd/>
              <a:tailEnd/>
            </a:ln>
          </p:spPr>
          <p:txBody>
            <a:bodyPr wrap="none" anchor="ctr"/>
            <a:lstStyle/>
            <a:p>
              <a:pPr algn="ctr"/>
              <a:endParaRPr lang="zh-CN" altLang="zh-CN">
                <a:solidFill>
                  <a:srgbClr val="000000"/>
                </a:solidFill>
              </a:endParaRPr>
            </a:p>
          </p:txBody>
        </p:sp>
        <p:graphicFrame>
          <p:nvGraphicFramePr>
            <p:cNvPr id="25607" name="Object 30">
              <a:hlinkClick r:id="" action="ppaction://ole?verb=0"/>
            </p:cNvPr>
            <p:cNvGraphicFramePr>
              <a:graphicFrameLocks/>
            </p:cNvGraphicFramePr>
            <p:nvPr/>
          </p:nvGraphicFramePr>
          <p:xfrm>
            <a:off x="458" y="2278"/>
            <a:ext cx="399" cy="535"/>
          </p:xfrm>
          <a:graphic>
            <a:graphicData uri="http://schemas.openxmlformats.org/presentationml/2006/ole">
              <mc:AlternateContent xmlns:mc="http://schemas.openxmlformats.org/markup-compatibility/2006">
                <mc:Choice xmlns:v="urn:schemas-microsoft-com:vml" Requires="v">
                  <p:oleObj name="Equation" r:id="rId9" imgW="139680" imgH="190440" progId="Equation.DSMT4">
                    <p:embed/>
                  </p:oleObj>
                </mc:Choice>
                <mc:Fallback>
                  <p:oleObj name="Equation" r:id="rId9" imgW="139680" imgH="190440" progId="Equation.DSMT4">
                    <p:embed/>
                    <p:pic>
                      <p:nvPicPr>
                        <p:cNvPr id="25607" name="Object 30">
                          <a:hlinkClick r:id="" action="ppaction://ole?verb=0"/>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 y="2278"/>
                          <a:ext cx="399" cy="53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24" name="Line 31"/>
            <p:cNvSpPr>
              <a:spLocks noChangeShapeType="1"/>
            </p:cNvSpPr>
            <p:nvPr/>
          </p:nvSpPr>
          <p:spPr bwMode="auto">
            <a:xfrm flipH="1" flipV="1">
              <a:off x="4331" y="1516"/>
              <a:ext cx="181" cy="272"/>
            </a:xfrm>
            <a:prstGeom prst="line">
              <a:avLst/>
            </a:prstGeom>
            <a:noFill/>
            <a:ln w="57150">
              <a:solidFill>
                <a:srgbClr val="FF0000"/>
              </a:solidFill>
              <a:round/>
              <a:headEnd/>
              <a:tailEnd type="triangle" w="med" len="med"/>
            </a:ln>
          </p:spPr>
          <p:txBody>
            <a:bodyPr/>
            <a:lstStyle/>
            <a:p>
              <a:endParaRPr lang="zh-CN" altLang="en-US"/>
            </a:p>
          </p:txBody>
        </p:sp>
        <p:sp>
          <p:nvSpPr>
            <p:cNvPr id="25625" name="Text Box 32"/>
            <p:cNvSpPr txBox="1">
              <a:spLocks noChangeArrowheads="1"/>
            </p:cNvSpPr>
            <p:nvPr/>
          </p:nvSpPr>
          <p:spPr bwMode="auto">
            <a:xfrm>
              <a:off x="521" y="1017"/>
              <a:ext cx="288" cy="365"/>
            </a:xfrm>
            <a:prstGeom prst="rect">
              <a:avLst/>
            </a:prstGeom>
            <a:noFill/>
            <a:ln w="12700">
              <a:noFill/>
              <a:miter lim="800000"/>
              <a:headEnd/>
              <a:tailEnd/>
            </a:ln>
          </p:spPr>
          <p:txBody>
            <a:bodyPr>
              <a:spAutoFit/>
            </a:bodyPr>
            <a:lstStyle/>
            <a:p>
              <a:pPr algn="ctr" eaLnBrk="0" hangingPunct="0">
                <a:spcBef>
                  <a:spcPct val="50000"/>
                </a:spcBef>
              </a:pPr>
              <a:r>
                <a:rPr kumimoji="1" lang="en-US" altLang="zh-CN" sz="3200" b="1" i="1" dirty="0">
                  <a:solidFill>
                    <a:srgbClr val="000000"/>
                  </a:solidFill>
                  <a:latin typeface="Times New Roman" pitchFamily="18" charset="0"/>
                </a:rPr>
                <a:t>Y</a:t>
              </a:r>
            </a:p>
          </p:txBody>
        </p:sp>
        <p:sp>
          <p:nvSpPr>
            <p:cNvPr id="71690" name="Line 10"/>
            <p:cNvSpPr>
              <a:spLocks noChangeShapeType="1"/>
            </p:cNvSpPr>
            <p:nvPr/>
          </p:nvSpPr>
          <p:spPr bwMode="auto">
            <a:xfrm>
              <a:off x="2862" y="1607"/>
              <a:ext cx="0" cy="952"/>
            </a:xfrm>
            <a:prstGeom prst="line">
              <a:avLst/>
            </a:prstGeom>
            <a:noFill/>
            <a:ln w="44450">
              <a:solidFill>
                <a:srgbClr val="33CC33"/>
              </a:solidFill>
              <a:round/>
              <a:headEnd/>
              <a:tailEnd/>
            </a:ln>
            <a:effectLst>
              <a:outerShdw dist="28398" dir="3806097" algn="ctr" rotWithShape="0">
                <a:schemeClr val="bg2"/>
              </a:outerShdw>
            </a:effectLst>
          </p:spPr>
          <p:txBody>
            <a:bodyPr/>
            <a:lstStyle/>
            <a:p>
              <a:pPr>
                <a:defRPr/>
              </a:pPr>
              <a:endParaRPr lang="zh-CN" altLang="en-US" sz="2800"/>
            </a:p>
          </p:txBody>
        </p:sp>
      </p:grpSp>
      <p:grpSp>
        <p:nvGrpSpPr>
          <p:cNvPr id="4" name="Group 35"/>
          <p:cNvGrpSpPr>
            <a:grpSpLocks/>
          </p:cNvGrpSpPr>
          <p:nvPr/>
        </p:nvGrpSpPr>
        <p:grpSpPr bwMode="auto">
          <a:xfrm>
            <a:off x="6240017" y="3501008"/>
            <a:ext cx="1412875" cy="615950"/>
            <a:chOff x="2925" y="2184"/>
            <a:chExt cx="890" cy="388"/>
          </a:xfrm>
        </p:grpSpPr>
        <p:graphicFrame>
          <p:nvGraphicFramePr>
            <p:cNvPr id="25603" name="Object 22">
              <a:hlinkClick r:id="" action="ppaction://ole?verb=0"/>
            </p:cNvPr>
            <p:cNvGraphicFramePr>
              <a:graphicFrameLocks/>
            </p:cNvGraphicFramePr>
            <p:nvPr/>
          </p:nvGraphicFramePr>
          <p:xfrm>
            <a:off x="3055" y="2184"/>
            <a:ext cx="760" cy="388"/>
          </p:xfrm>
          <a:graphic>
            <a:graphicData uri="http://schemas.openxmlformats.org/presentationml/2006/ole">
              <mc:AlternateContent xmlns:mc="http://schemas.openxmlformats.org/markup-compatibility/2006">
                <mc:Choice xmlns:v="urn:schemas-microsoft-com:vml" Requires="v">
                  <p:oleObj name="Equation" r:id="rId11" imgW="469800" imgH="203040" progId="Equation.DSMT4">
                    <p:embed/>
                  </p:oleObj>
                </mc:Choice>
                <mc:Fallback>
                  <p:oleObj name="Equation" r:id="rId11" imgW="469800" imgH="203040" progId="Equation.DSMT4">
                    <p:embed/>
                    <p:pic>
                      <p:nvPicPr>
                        <p:cNvPr id="25603" name="Object 22">
                          <a:hlinkClick r:id="" action="ppaction://ole?verb=0"/>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5" y="2184"/>
                          <a:ext cx="760" cy="3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16" name="AutoShape 29"/>
            <p:cNvSpPr>
              <a:spLocks/>
            </p:cNvSpPr>
            <p:nvPr/>
          </p:nvSpPr>
          <p:spPr bwMode="auto">
            <a:xfrm flipV="1">
              <a:off x="2925" y="2197"/>
              <a:ext cx="181" cy="363"/>
            </a:xfrm>
            <a:prstGeom prst="rightBrace">
              <a:avLst>
                <a:gd name="adj1" fmla="val 16713"/>
                <a:gd name="adj2" fmla="val 49583"/>
              </a:avLst>
            </a:prstGeom>
            <a:noFill/>
            <a:ln w="28575">
              <a:solidFill>
                <a:srgbClr val="FF0000"/>
              </a:solidFill>
              <a:round/>
              <a:headEnd/>
              <a:tailEnd/>
            </a:ln>
          </p:spPr>
          <p:txBody>
            <a:bodyPr rot="10800000" wrap="none" anchor="ctr"/>
            <a:lstStyle/>
            <a:p>
              <a:pPr algn="ctr"/>
              <a:endParaRPr lang="zh-CN" altLang="zh-CN">
                <a:solidFill>
                  <a:srgbClr val="FF0000"/>
                </a:solidFill>
              </a:endParaRPr>
            </a:p>
          </p:txBody>
        </p:sp>
      </p:grpSp>
      <p:grpSp>
        <p:nvGrpSpPr>
          <p:cNvPr id="5" name="Group 34"/>
          <p:cNvGrpSpPr>
            <a:grpSpLocks/>
          </p:cNvGrpSpPr>
          <p:nvPr/>
        </p:nvGrpSpPr>
        <p:grpSpPr bwMode="auto">
          <a:xfrm>
            <a:off x="6164186" y="2564904"/>
            <a:ext cx="1587998" cy="936786"/>
            <a:chOff x="2938" y="1557"/>
            <a:chExt cx="1246" cy="640"/>
          </a:xfrm>
        </p:grpSpPr>
        <p:graphicFrame>
          <p:nvGraphicFramePr>
            <p:cNvPr id="25602" name="Object 21">
              <a:hlinkClick r:id="" action="ppaction://ole?verb=0"/>
            </p:cNvPr>
            <p:cNvGraphicFramePr>
              <a:graphicFrameLocks/>
            </p:cNvGraphicFramePr>
            <p:nvPr/>
          </p:nvGraphicFramePr>
          <p:xfrm>
            <a:off x="2941" y="1621"/>
            <a:ext cx="1243" cy="379"/>
          </p:xfrm>
          <a:graphic>
            <a:graphicData uri="http://schemas.openxmlformats.org/presentationml/2006/ole">
              <mc:AlternateContent xmlns:mc="http://schemas.openxmlformats.org/markup-compatibility/2006">
                <mc:Choice xmlns:v="urn:schemas-microsoft-com:vml" Requires="v">
                  <p:oleObj name="Equation" r:id="rId13" imgW="799920" imgH="203040" progId="Equation.DSMT4">
                    <p:embed/>
                  </p:oleObj>
                </mc:Choice>
                <mc:Fallback>
                  <p:oleObj name="Equation" r:id="rId13" imgW="799920" imgH="203040" progId="Equation.DSMT4">
                    <p:embed/>
                    <p:pic>
                      <p:nvPicPr>
                        <p:cNvPr id="25602" name="Object 21">
                          <a:hlinkClick r:id="" action="ppaction://ole?verb=0"/>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41" y="1621"/>
                          <a:ext cx="1243" cy="379"/>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15" name="AutoShape 28"/>
            <p:cNvSpPr>
              <a:spLocks/>
            </p:cNvSpPr>
            <p:nvPr/>
          </p:nvSpPr>
          <p:spPr bwMode="auto">
            <a:xfrm>
              <a:off x="2938" y="1557"/>
              <a:ext cx="226" cy="640"/>
            </a:xfrm>
            <a:prstGeom prst="rightBrace">
              <a:avLst>
                <a:gd name="adj1" fmla="val 27164"/>
                <a:gd name="adj2" fmla="val 50000"/>
              </a:avLst>
            </a:prstGeom>
            <a:noFill/>
            <a:ln w="28575">
              <a:solidFill>
                <a:srgbClr val="333333"/>
              </a:solidFill>
              <a:round/>
              <a:headEnd/>
              <a:tailEnd/>
            </a:ln>
          </p:spPr>
          <p:txBody>
            <a:bodyPr wrap="none" anchor="ctr"/>
            <a:lstStyle/>
            <a:p>
              <a:pPr algn="ctr"/>
              <a:endParaRPr lang="zh-CN" altLang="zh-CN" sz="1050" dirty="0">
                <a:ln w="12700">
                  <a:solidFill>
                    <a:schemeClr val="tx1"/>
                  </a:solidFill>
                </a:ln>
              </a:endParaRPr>
            </a:p>
          </p:txBody>
        </p:sp>
      </p:grpSp>
      <p:sp>
        <p:nvSpPr>
          <p:cNvPr id="28" name="Line 10"/>
          <p:cNvSpPr>
            <a:spLocks noChangeShapeType="1"/>
          </p:cNvSpPr>
          <p:nvPr/>
        </p:nvSpPr>
        <p:spPr bwMode="auto">
          <a:xfrm>
            <a:off x="6164186" y="2564904"/>
            <a:ext cx="0" cy="972000"/>
          </a:xfrm>
          <a:prstGeom prst="line">
            <a:avLst/>
          </a:prstGeom>
          <a:noFill/>
          <a:ln w="38100">
            <a:solidFill>
              <a:srgbClr val="000000"/>
            </a:solidFill>
            <a:round/>
            <a:headEnd/>
            <a:tailEnd/>
          </a:ln>
          <a:effectLst>
            <a:outerShdw dist="28398" dir="3806097" algn="ctr" rotWithShape="0">
              <a:schemeClr val="bg2"/>
            </a:outerShdw>
          </a:effectLst>
        </p:spPr>
        <p:txBody>
          <a:bodyPr/>
          <a:lstStyle/>
          <a:p>
            <a:pPr>
              <a:defRPr/>
            </a:pPr>
            <a:endParaRPr lang="zh-CN" altLang="en-US" sz="2800"/>
          </a:p>
        </p:txBody>
      </p:sp>
      <p:sp>
        <p:nvSpPr>
          <p:cNvPr id="29" name="Line 10"/>
          <p:cNvSpPr>
            <a:spLocks noChangeShapeType="1"/>
          </p:cNvSpPr>
          <p:nvPr/>
        </p:nvSpPr>
        <p:spPr bwMode="auto">
          <a:xfrm>
            <a:off x="6168008" y="3501008"/>
            <a:ext cx="0" cy="576000"/>
          </a:xfrm>
          <a:prstGeom prst="line">
            <a:avLst/>
          </a:prstGeom>
          <a:noFill/>
          <a:ln w="38100">
            <a:solidFill>
              <a:srgbClr val="FF0000"/>
            </a:solidFill>
            <a:round/>
            <a:headEnd/>
            <a:tailEnd/>
          </a:ln>
          <a:effectLst>
            <a:outerShdw dist="28398" dir="3806097" algn="ctr" rotWithShape="0">
              <a:schemeClr val="bg2"/>
            </a:outerShdw>
          </a:effectLst>
        </p:spPr>
        <p:txBody>
          <a:bodyPr/>
          <a:lstStyle/>
          <a:p>
            <a:pPr>
              <a:defRPr/>
            </a:pPr>
            <a:endParaRPr lang="zh-CN" altLang="en-US" sz="2800"/>
          </a:p>
        </p:txBody>
      </p:sp>
    </p:spTree>
    <p:extLst>
      <p:ext uri="{BB962C8B-B14F-4D97-AF65-F5344CB8AC3E}">
        <p14:creationId xmlns:p14="http://schemas.microsoft.com/office/powerpoint/2010/main" val="31193927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3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35" name="日期占位符 10"/>
          <p:cNvSpPr>
            <a:spLocks noGrp="1"/>
          </p:cNvSpPr>
          <p:nvPr>
            <p:ph type="dt" sz="half" idx="10"/>
          </p:nvPr>
        </p:nvSpPr>
        <p:spPr>
          <a:noFill/>
        </p:spPr>
        <p:txBody>
          <a:bodyPr/>
          <a:lstStyle/>
          <a:p>
            <a:endParaRPr lang="en-US" altLang="zh-CN" dirty="0"/>
          </a:p>
        </p:txBody>
      </p:sp>
      <p:sp>
        <p:nvSpPr>
          <p:cNvPr id="26630" name="Rectangle 2"/>
          <p:cNvSpPr>
            <a:spLocks noGrp="1" noChangeArrowheads="1"/>
          </p:cNvSpPr>
          <p:nvPr>
            <p:ph type="title"/>
          </p:nvPr>
        </p:nvSpPr>
        <p:spPr>
          <a:xfrm>
            <a:off x="1244600" y="144466"/>
            <a:ext cx="7011989" cy="662782"/>
          </a:xfrm>
          <a:noFill/>
        </p:spPr>
        <p:txBody>
          <a:bodyPr vert="horz" lIns="90488" tIns="44450" rIns="90488" bIns="44450" rtlCol="0" anchor="ctr" anchorCtr="1">
            <a:normAutofit/>
          </a:bodyPr>
          <a:lstStyle/>
          <a:p>
            <a:pPr eaLnBrk="1" hangingPunct="1"/>
            <a:r>
              <a:rPr lang="zh-CN" altLang="en-US" dirty="0"/>
              <a:t>离差平方和的分解</a:t>
            </a:r>
            <a:endParaRPr lang="zh-CN" altLang="en-US" sz="4000" dirty="0">
              <a:solidFill>
                <a:schemeClr val="hlink"/>
              </a:solidFill>
            </a:endParaRPr>
          </a:p>
        </p:txBody>
      </p:sp>
      <p:sp>
        <p:nvSpPr>
          <p:cNvPr id="73731" name="Rectangle 3"/>
          <p:cNvSpPr>
            <a:spLocks noGrp="1" noChangeArrowheads="1"/>
          </p:cNvSpPr>
          <p:nvPr>
            <p:ph idx="1"/>
          </p:nvPr>
        </p:nvSpPr>
        <p:spPr>
          <a:xfrm>
            <a:off x="1371600" y="3326958"/>
            <a:ext cx="10668001" cy="5333761"/>
          </a:xfrm>
          <a:noFill/>
        </p:spPr>
        <p:txBody>
          <a:bodyPr vert="horz" lIns="90488" tIns="44450" rIns="90488" bIns="44450" rtlCol="0">
            <a:normAutofit/>
          </a:bodyPr>
          <a:lstStyle/>
          <a:p>
            <a:pPr marL="609600" indent="-609600" algn="just">
              <a:buNone/>
            </a:pPr>
            <a:r>
              <a:rPr lang="en-US" altLang="zh-CN" sz="3000" b="1" dirty="0">
                <a:solidFill>
                  <a:srgbClr val="000000"/>
                </a:solidFill>
                <a:latin typeface="Times New Roman" pitchFamily="18" charset="0"/>
              </a:rPr>
              <a:t>2</a:t>
            </a:r>
            <a:r>
              <a:rPr kumimoji="1" lang="en-US" altLang="zh-CN" sz="3000" b="1" dirty="0">
                <a:solidFill>
                  <a:srgbClr val="000000"/>
                </a:solidFill>
                <a:latin typeface="Times New Roman" pitchFamily="18" charset="0"/>
                <a:ea typeface="+mn-ea"/>
              </a:rPr>
              <a:t>.  </a:t>
            </a:r>
            <a:r>
              <a:rPr kumimoji="1" lang="zh-CN" altLang="en-US" sz="3000" b="1" dirty="0">
                <a:solidFill>
                  <a:srgbClr val="000000"/>
                </a:solidFill>
                <a:latin typeface="Times New Roman" pitchFamily="18" charset="0"/>
                <a:ea typeface="+mn-ea"/>
              </a:rPr>
              <a:t>对于全部观察点，两端平方后求和，有：</a:t>
            </a:r>
          </a:p>
        </p:txBody>
      </p:sp>
      <p:sp>
        <p:nvSpPr>
          <p:cNvPr id="26628" name="灯片编号占位符 5"/>
          <p:cNvSpPr>
            <a:spLocks noGrp="1"/>
          </p:cNvSpPr>
          <p:nvPr>
            <p:ph type="sldNum" sz="quarter" idx="4"/>
          </p:nvPr>
        </p:nvSpPr>
        <p:spPr>
          <a:noFill/>
        </p:spPr>
        <p:txBody>
          <a:bodyPr/>
          <a:lstStyle/>
          <a:p>
            <a:r>
              <a:rPr lang="en-US" altLang="zh-CN" dirty="0"/>
              <a:t>9--</a:t>
            </a:r>
            <a:fld id="{9F093196-58F4-4FCA-8AD4-33CB0AFA43B6}" type="slidenum">
              <a:rPr lang="en-US" altLang="zh-CN" smtClean="0"/>
              <a:pPr/>
              <a:t>58</a:t>
            </a:fld>
            <a:endParaRPr lang="en-US" altLang="zh-CN" dirty="0"/>
          </a:p>
        </p:txBody>
      </p:sp>
      <p:sp>
        <p:nvSpPr>
          <p:cNvPr id="73733" name="Rectangle 5"/>
          <p:cNvSpPr>
            <a:spLocks noChangeArrowheads="1"/>
          </p:cNvSpPr>
          <p:nvPr/>
        </p:nvSpPr>
        <p:spPr bwMode="auto">
          <a:xfrm>
            <a:off x="1436576" y="947746"/>
            <a:ext cx="8151812" cy="2205375"/>
          </a:xfrm>
          <a:prstGeom prst="rect">
            <a:avLst/>
          </a:prstGeom>
          <a:noFill/>
          <a:ln w="12700">
            <a:noFill/>
            <a:miter lim="800000"/>
            <a:headEnd/>
            <a:tailEnd/>
          </a:ln>
        </p:spPr>
        <p:txBody>
          <a:bodyPr lIns="90488" tIns="44450" rIns="90488" bIns="44450"/>
          <a:lstStyle/>
          <a:p>
            <a:pPr marL="609600" indent="-609600" algn="just" eaLnBrk="0" hangingPunct="0">
              <a:spcBef>
                <a:spcPts val="600"/>
              </a:spcBef>
              <a:buFontTx/>
              <a:buAutoNum type="arabicPeriod"/>
            </a:pPr>
            <a:r>
              <a:rPr kumimoji="1" lang="zh-CN" altLang="en-US" sz="3000" b="1" dirty="0">
                <a:solidFill>
                  <a:srgbClr val="000000"/>
                </a:solidFill>
                <a:latin typeface="Times New Roman" pitchFamily="18" charset="0"/>
              </a:rPr>
              <a:t>对于任意一个观察点，有：</a:t>
            </a:r>
          </a:p>
          <a:p>
            <a:pPr marL="609600" indent="-609600" algn="just" eaLnBrk="0" hangingPunct="0">
              <a:spcBef>
                <a:spcPts val="600"/>
              </a:spcBef>
              <a:buFontTx/>
              <a:buAutoNum type="arabicPeriod"/>
            </a:pPr>
            <a:endParaRPr kumimoji="1" lang="zh-CN" altLang="en-US" sz="3000" b="1" dirty="0">
              <a:solidFill>
                <a:srgbClr val="000000"/>
              </a:solidFill>
              <a:latin typeface="Times New Roman" pitchFamily="18" charset="0"/>
            </a:endParaRPr>
          </a:p>
          <a:p>
            <a:pPr marL="1219200" lvl="1" indent="-533400" algn="just" eaLnBrk="0" hangingPunct="0">
              <a:spcBef>
                <a:spcPts val="600"/>
              </a:spcBef>
            </a:pPr>
            <a:endParaRPr kumimoji="1" lang="zh-CN" altLang="en-US" sz="3000" b="1" dirty="0">
              <a:solidFill>
                <a:srgbClr val="000000"/>
              </a:solidFill>
              <a:latin typeface="Times New Roman" pitchFamily="18" charset="0"/>
            </a:endParaRPr>
          </a:p>
          <a:p>
            <a:pPr marL="685800" lvl="1" algn="just" eaLnBrk="0" hangingPunct="0">
              <a:spcBef>
                <a:spcPts val="600"/>
              </a:spcBef>
            </a:pPr>
            <a:r>
              <a:rPr kumimoji="1" lang="zh-CN" altLang="en-US" sz="3000" b="1" dirty="0">
                <a:solidFill>
                  <a:srgbClr val="3333FF"/>
                </a:solidFill>
                <a:latin typeface="Times New Roman" pitchFamily="18" charset="0"/>
              </a:rPr>
              <a:t>总变差</a:t>
            </a:r>
            <a:r>
              <a:rPr kumimoji="1" lang="zh-CN" altLang="en-US" sz="3000" b="1" dirty="0">
                <a:solidFill>
                  <a:srgbClr val="000000"/>
                </a:solidFill>
                <a:latin typeface="Times New Roman" pitchFamily="18" charset="0"/>
              </a:rPr>
              <a:t>＝</a:t>
            </a:r>
            <a:r>
              <a:rPr kumimoji="1" lang="zh-CN" altLang="en-US" sz="3000" b="1" dirty="0">
                <a:solidFill>
                  <a:srgbClr val="FF0000"/>
                </a:solidFill>
                <a:latin typeface="Times New Roman" pitchFamily="18" charset="0"/>
              </a:rPr>
              <a:t>回归变差</a:t>
            </a:r>
            <a:r>
              <a:rPr kumimoji="1" lang="en-US" altLang="zh-CN" sz="3000" b="1" dirty="0">
                <a:solidFill>
                  <a:srgbClr val="000000"/>
                </a:solidFill>
                <a:latin typeface="Times New Roman" pitchFamily="18" charset="0"/>
              </a:rPr>
              <a:t>+</a:t>
            </a:r>
            <a:r>
              <a:rPr kumimoji="1" lang="zh-CN" altLang="en-US" sz="3000" b="1" dirty="0">
                <a:solidFill>
                  <a:srgbClr val="000000"/>
                </a:solidFill>
                <a:latin typeface="Times New Roman" pitchFamily="18" charset="0"/>
              </a:rPr>
              <a:t>剩余变差</a:t>
            </a:r>
          </a:p>
        </p:txBody>
      </p:sp>
      <p:graphicFrame>
        <p:nvGraphicFramePr>
          <p:cNvPr id="26626" name="Object 4">
            <a:hlinkClick r:id="" action="ppaction://ole?verb=0"/>
          </p:cNvPr>
          <p:cNvGraphicFramePr>
            <a:graphicFrameLocks/>
          </p:cNvGraphicFramePr>
          <p:nvPr>
            <p:extLst>
              <p:ext uri="{D42A27DB-BD31-4B8C-83A1-F6EECF244321}">
                <p14:modId xmlns:p14="http://schemas.microsoft.com/office/powerpoint/2010/main" val="4200520907"/>
              </p:ext>
            </p:extLst>
          </p:nvPr>
        </p:nvGraphicFramePr>
        <p:xfrm>
          <a:off x="2855914" y="1550986"/>
          <a:ext cx="5123656" cy="836612"/>
        </p:xfrm>
        <a:graphic>
          <a:graphicData uri="http://schemas.openxmlformats.org/presentationml/2006/ole">
            <mc:AlternateContent xmlns:mc="http://schemas.openxmlformats.org/markup-compatibility/2006">
              <mc:Choice xmlns:v="urn:schemas-microsoft-com:vml" Requires="v">
                <p:oleObj name="Equation" r:id="rId3" imgW="1536480" imgH="253800" progId="Equation.DSMT4">
                  <p:embed/>
                </p:oleObj>
              </mc:Choice>
              <mc:Fallback>
                <p:oleObj name="Equation" r:id="rId3" imgW="1536480" imgH="253800" progId="Equation.DSMT4">
                  <p:embed/>
                  <p:pic>
                    <p:nvPicPr>
                      <p:cNvPr id="26626"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914" y="1550986"/>
                        <a:ext cx="5123656" cy="836612"/>
                      </a:xfrm>
                      <a:prstGeom prst="rect">
                        <a:avLst/>
                      </a:prstGeom>
                      <a:noFill/>
                      <a:ln>
                        <a:noFill/>
                      </a:ln>
                      <a:effectLst>
                        <a:outerShdw dist="17961" dir="2700000" algn="ctr" rotWithShape="0">
                          <a:schemeClr val="bg2"/>
                        </a:outerShdw>
                      </a:effectLst>
                    </p:spPr>
                  </p:pic>
                </p:oleObj>
              </mc:Fallback>
            </mc:AlternateContent>
          </a:graphicData>
        </a:graphic>
      </p:graphicFrame>
      <p:sp>
        <p:nvSpPr>
          <p:cNvPr id="73734" name="Rectangle 6"/>
          <p:cNvSpPr>
            <a:spLocks noChangeArrowheads="1"/>
          </p:cNvSpPr>
          <p:nvPr/>
        </p:nvSpPr>
        <p:spPr bwMode="auto">
          <a:xfrm>
            <a:off x="2855914" y="5517233"/>
            <a:ext cx="5400675" cy="549275"/>
          </a:xfrm>
          <a:prstGeom prst="rect">
            <a:avLst/>
          </a:prstGeom>
          <a:noFill/>
          <a:ln w="12700">
            <a:noFill/>
            <a:miter lim="800000"/>
            <a:headEnd/>
            <a:tailEnd/>
          </a:ln>
        </p:spPr>
        <p:txBody>
          <a:bodyPr>
            <a:spAutoFit/>
          </a:bodyPr>
          <a:lstStyle/>
          <a:p>
            <a:pPr eaLnBrk="0" hangingPunct="0"/>
            <a:r>
              <a:rPr kumimoji="1" lang="zh-CN" altLang="en-US" sz="3000" b="1" i="1" dirty="0">
                <a:solidFill>
                  <a:srgbClr val="000000"/>
                </a:solidFill>
              </a:rPr>
              <a:t>记为：</a:t>
            </a:r>
            <a:r>
              <a:rPr kumimoji="1" lang="zh-CN" altLang="en-US" sz="3000" i="1" dirty="0">
                <a:solidFill>
                  <a:srgbClr val="000000"/>
                </a:solidFill>
              </a:rPr>
              <a:t> </a:t>
            </a:r>
            <a:r>
              <a:rPr kumimoji="1" lang="en-US" altLang="zh-CN" sz="3000" b="1" i="1" dirty="0">
                <a:solidFill>
                  <a:srgbClr val="3333FF"/>
                </a:solidFill>
                <a:latin typeface="Times New Roman" pitchFamily="18" charset="0"/>
              </a:rPr>
              <a:t>SST</a:t>
            </a:r>
            <a:r>
              <a:rPr kumimoji="1" lang="en-US" altLang="zh-CN" sz="3000" b="1" dirty="0">
                <a:solidFill>
                  <a:srgbClr val="000000"/>
                </a:solidFill>
                <a:latin typeface="Times New Roman" pitchFamily="18" charset="0"/>
              </a:rPr>
              <a:t> </a:t>
            </a:r>
            <a:r>
              <a:rPr kumimoji="1" lang="zh-CN" altLang="en-US" sz="3000" b="1" dirty="0">
                <a:solidFill>
                  <a:srgbClr val="000000"/>
                </a:solidFill>
                <a:latin typeface="Times New Roman" pitchFamily="18" charset="0"/>
              </a:rPr>
              <a:t>＝ </a:t>
            </a:r>
            <a:r>
              <a:rPr kumimoji="1" lang="en-US" altLang="zh-CN" sz="3000" b="1" i="1" dirty="0">
                <a:solidFill>
                  <a:srgbClr val="FF0000"/>
                </a:solidFill>
                <a:latin typeface="Times New Roman" pitchFamily="18" charset="0"/>
              </a:rPr>
              <a:t>SSR</a:t>
            </a:r>
            <a:r>
              <a:rPr kumimoji="1" lang="en-US" altLang="zh-CN" sz="3000" b="1" dirty="0">
                <a:solidFill>
                  <a:srgbClr val="FF0000"/>
                </a:solidFill>
                <a:latin typeface="Times New Roman" pitchFamily="18" charset="0"/>
              </a:rPr>
              <a:t> </a:t>
            </a:r>
            <a:r>
              <a:rPr kumimoji="1" lang="en-US" altLang="zh-CN" sz="3000" b="1" dirty="0">
                <a:solidFill>
                  <a:srgbClr val="000000"/>
                </a:solidFill>
                <a:latin typeface="Times New Roman" pitchFamily="18" charset="0"/>
              </a:rPr>
              <a:t>+ </a:t>
            </a:r>
            <a:r>
              <a:rPr kumimoji="1" lang="en-US" altLang="zh-CN" sz="3000" b="1" i="1" dirty="0">
                <a:solidFill>
                  <a:srgbClr val="000000"/>
                </a:solidFill>
                <a:latin typeface="Times New Roman" pitchFamily="18" charset="0"/>
              </a:rPr>
              <a:t>SSE</a:t>
            </a:r>
          </a:p>
        </p:txBody>
      </p:sp>
      <p:sp>
        <p:nvSpPr>
          <p:cNvPr id="73738" name="Rectangle 10"/>
          <p:cNvSpPr>
            <a:spLocks noChangeArrowheads="1"/>
          </p:cNvSpPr>
          <p:nvPr/>
        </p:nvSpPr>
        <p:spPr bwMode="auto">
          <a:xfrm>
            <a:off x="2279650" y="4868863"/>
            <a:ext cx="7272338" cy="553998"/>
          </a:xfrm>
          <a:prstGeom prst="rect">
            <a:avLst/>
          </a:prstGeom>
          <a:noFill/>
          <a:ln w="12700">
            <a:noFill/>
            <a:miter lim="800000"/>
            <a:headEnd/>
            <a:tailEnd/>
          </a:ln>
        </p:spPr>
        <p:txBody>
          <a:bodyPr>
            <a:spAutoFit/>
          </a:bodyPr>
          <a:lstStyle/>
          <a:p>
            <a:pPr algn="ctr" eaLnBrk="0" hangingPunct="0"/>
            <a:r>
              <a:rPr kumimoji="1" lang="zh-CN" altLang="en-US" sz="3000" b="1" dirty="0">
                <a:solidFill>
                  <a:srgbClr val="3333FF"/>
                </a:solidFill>
                <a:latin typeface="Times New Roman" pitchFamily="18" charset="0"/>
              </a:rPr>
              <a:t>总变差平方和</a:t>
            </a:r>
            <a:r>
              <a:rPr kumimoji="1" lang="zh-CN" altLang="en-US" sz="3000" b="1" dirty="0">
                <a:solidFill>
                  <a:srgbClr val="000000"/>
                </a:solidFill>
                <a:latin typeface="Times New Roman" pitchFamily="18" charset="0"/>
              </a:rPr>
              <a:t>＝</a:t>
            </a:r>
            <a:r>
              <a:rPr kumimoji="1" lang="zh-CN" altLang="en-US" sz="3000" b="1" dirty="0">
                <a:solidFill>
                  <a:srgbClr val="FF0000"/>
                </a:solidFill>
              </a:rPr>
              <a:t>回归平方和</a:t>
            </a:r>
            <a:r>
              <a:rPr kumimoji="1" lang="zh-CN" altLang="en-US" sz="3000" b="1" dirty="0">
                <a:solidFill>
                  <a:srgbClr val="000000"/>
                </a:solidFill>
              </a:rPr>
              <a:t>＋残差平方和</a:t>
            </a:r>
          </a:p>
        </p:txBody>
      </p:sp>
      <p:sp>
        <p:nvSpPr>
          <p:cNvPr id="26634" name="AutoShape 19"/>
          <p:cNvSpPr>
            <a:spLocks noChangeAspect="1" noChangeArrowheads="1" noTextEdit="1"/>
          </p:cNvSpPr>
          <p:nvPr/>
        </p:nvSpPr>
        <p:spPr bwMode="auto">
          <a:xfrm>
            <a:off x="3287713" y="3716339"/>
            <a:ext cx="5916612" cy="1000125"/>
          </a:xfrm>
          <a:prstGeom prst="rect">
            <a:avLst/>
          </a:prstGeom>
          <a:noFill/>
          <a:ln w="9525">
            <a:noFill/>
            <a:miter lim="800000"/>
            <a:headEnd/>
            <a:tailEnd/>
          </a:ln>
        </p:spPr>
        <p:txBody>
          <a:bodyPr/>
          <a:lstStyle/>
          <a:p>
            <a:endParaRPr lang="zh-CN" altLang="en-US"/>
          </a:p>
        </p:txBody>
      </p:sp>
      <p:graphicFrame>
        <p:nvGraphicFramePr>
          <p:cNvPr id="73791" name="Object 63">
            <a:hlinkClick r:id="" action="ppaction://ole?verb=0"/>
          </p:cNvPr>
          <p:cNvGraphicFramePr>
            <a:graphicFrameLocks/>
          </p:cNvGraphicFramePr>
          <p:nvPr>
            <p:extLst>
              <p:ext uri="{D42A27DB-BD31-4B8C-83A1-F6EECF244321}">
                <p14:modId xmlns:p14="http://schemas.microsoft.com/office/powerpoint/2010/main" val="1553761046"/>
              </p:ext>
            </p:extLst>
          </p:nvPr>
        </p:nvGraphicFramePr>
        <p:xfrm>
          <a:off x="2847975" y="3763964"/>
          <a:ext cx="6105525" cy="1057275"/>
        </p:xfrm>
        <a:graphic>
          <a:graphicData uri="http://schemas.openxmlformats.org/presentationml/2006/ole">
            <mc:AlternateContent xmlns:mc="http://schemas.openxmlformats.org/markup-compatibility/2006">
              <mc:Choice xmlns:v="urn:schemas-microsoft-com:vml" Requires="v">
                <p:oleObj name="Equation" r:id="rId5" imgW="2184120" imgH="279360" progId="Equation.DSMT4">
                  <p:embed/>
                </p:oleObj>
              </mc:Choice>
              <mc:Fallback>
                <p:oleObj name="Equation" r:id="rId5" imgW="2184120" imgH="279360" progId="Equation.DSMT4">
                  <p:embed/>
                  <p:pic>
                    <p:nvPicPr>
                      <p:cNvPr id="73791" name="Object 63">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7975" y="3763964"/>
                        <a:ext cx="6105525" cy="1057275"/>
                      </a:xfrm>
                      <a:prstGeom prst="rect">
                        <a:avLst/>
                      </a:prstGeom>
                      <a:noFill/>
                      <a:ln>
                        <a:noFill/>
                      </a:ln>
                      <a:effectLst>
                        <a:outerShdw dist="17961" dir="2700000" algn="ctr" rotWithShape="0">
                          <a:schemeClr val="bg2"/>
                        </a:outerShdw>
                      </a:effectLst>
                    </p:spPr>
                  </p:pic>
                </p:oleObj>
              </mc:Fallback>
            </mc:AlternateContent>
          </a:graphicData>
        </a:graphic>
      </p:graphicFrame>
      <p:sp>
        <p:nvSpPr>
          <p:cNvPr id="12" name="TextBox 11"/>
          <p:cNvSpPr txBox="1"/>
          <p:nvPr/>
        </p:nvSpPr>
        <p:spPr>
          <a:xfrm>
            <a:off x="7522107" y="6272945"/>
            <a:ext cx="1656184" cy="369332"/>
          </a:xfrm>
          <a:prstGeom prst="rect">
            <a:avLst/>
          </a:prstGeom>
          <a:noFill/>
        </p:spPr>
        <p:txBody>
          <a:bodyPr wrap="square" rtlCol="0">
            <a:spAutoFit/>
          </a:bodyPr>
          <a:lstStyle/>
          <a:p>
            <a:r>
              <a:rPr lang="en-US" altLang="zh-CN" dirty="0"/>
              <a:t>【</a:t>
            </a:r>
            <a:r>
              <a:rPr lang="zh-CN" altLang="en-US" dirty="0"/>
              <a:t>见补充证明</a:t>
            </a:r>
            <a:r>
              <a:rPr lang="en-US" altLang="zh-CN" dirty="0"/>
              <a:t>】</a:t>
            </a:r>
            <a:endParaRPr lang="zh-CN" altLang="en-US" dirty="0"/>
          </a:p>
        </p:txBody>
      </p:sp>
    </p:spTree>
    <p:extLst>
      <p:ext uri="{BB962C8B-B14F-4D97-AF65-F5344CB8AC3E}">
        <p14:creationId xmlns:p14="http://schemas.microsoft.com/office/powerpoint/2010/main" val="351129981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3733">
                                            <p:txEl>
                                              <p:pRg st="3" end="3"/>
                                            </p:txEl>
                                          </p:spTgt>
                                        </p:tgtEl>
                                        <p:attrNameLst>
                                          <p:attrName>style.visibility</p:attrName>
                                        </p:attrNameLst>
                                      </p:cBhvr>
                                      <p:to>
                                        <p:strVal val="visible"/>
                                      </p:to>
                                    </p:set>
                                    <p:animEffect transition="in" filter="wipe(left)">
                                      <p:cBhvr>
                                        <p:cTn id="7" dur="5000"/>
                                        <p:tgtEl>
                                          <p:spTgt spid="73733">
                                            <p:txEl>
                                              <p:pRg st="3" end="3"/>
                                            </p:txEl>
                                          </p:spTgt>
                                        </p:tgtEl>
                                      </p:cBhvr>
                                    </p:animEffect>
                                  </p:childTnLst>
                                  <p:subTnLst>
                                    <p:animClr clrSpc="rgb" dir="cw">
                                      <p:cBhvr override="childStyle">
                                        <p:cTn dur="1" fill="hold" display="0" masterRel="nextClick" afterEffect="1"/>
                                        <p:tgtEl>
                                          <p:spTgt spid="73733">
                                            <p:txEl>
                                              <p:pRg st="3" end="3"/>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1">
                                            <p:txEl>
                                              <p:pRg st="0" end="0"/>
                                            </p:txEl>
                                          </p:spTgt>
                                        </p:tgtEl>
                                        <p:attrNameLst>
                                          <p:attrName>style.visibility</p:attrName>
                                        </p:attrNameLst>
                                      </p:cBhvr>
                                      <p:to>
                                        <p:strVal val="visible"/>
                                      </p:to>
                                    </p:set>
                                    <p:animEffect transition="in" filter="wipe(left)">
                                      <p:cBhvr>
                                        <p:cTn id="12" dur="500"/>
                                        <p:tgtEl>
                                          <p:spTgt spid="73731">
                                            <p:txEl>
                                              <p:pRg st="0" end="0"/>
                                            </p:txEl>
                                          </p:spTgt>
                                        </p:tgtEl>
                                      </p:cBhvr>
                                    </p:animEffect>
                                  </p:childTnLst>
                                  <p:subTnLst>
                                    <p:animClr clrSpc="rgb" dir="cw">
                                      <p:cBhvr override="childStyle">
                                        <p:cTn dur="1" fill="hold" display="0" masterRel="nextClick" afterEffect="1"/>
                                        <p:tgtEl>
                                          <p:spTgt spid="73731">
                                            <p:txEl>
                                              <p:pRg st="0" end="0"/>
                                            </p:txEl>
                                          </p:spTgt>
                                        </p:tgtEl>
                                        <p:attrNameLst>
                                          <p:attrName>ppt_c</p:attrName>
                                        </p:attrNameLst>
                                      </p:cBhvr>
                                      <p:to>
                                        <a:schemeClr val="fo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791"/>
                                        </p:tgtEl>
                                        <p:attrNameLst>
                                          <p:attrName>style.visibility</p:attrName>
                                        </p:attrNameLst>
                                      </p:cBhvr>
                                      <p:to>
                                        <p:strVal val="visible"/>
                                      </p:to>
                                    </p:set>
                                    <p:animEffect transition="in" filter="wipe(left)">
                                      <p:cBhvr>
                                        <p:cTn id="17" dur="500"/>
                                        <p:tgtEl>
                                          <p:spTgt spid="73791"/>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73738"/>
                                        </p:tgtEl>
                                        <p:attrNameLst>
                                          <p:attrName>style.visibility</p:attrName>
                                        </p:attrNameLst>
                                      </p:cBhvr>
                                      <p:to>
                                        <p:strVal val="visible"/>
                                      </p:to>
                                    </p:set>
                                    <p:animEffect transition="in" filter="wipe(up)">
                                      <p:cBhvr>
                                        <p:cTn id="20" dur="500"/>
                                        <p:tgtEl>
                                          <p:spTgt spid="7373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73734">
                                            <p:txEl>
                                              <p:pRg st="0" end="0"/>
                                            </p:txEl>
                                          </p:spTgt>
                                        </p:tgtEl>
                                        <p:attrNameLst>
                                          <p:attrName>style.visibility</p:attrName>
                                        </p:attrNameLst>
                                      </p:cBhvr>
                                      <p:to>
                                        <p:strVal val="visible"/>
                                      </p:to>
                                    </p:set>
                                    <p:animEffect transition="in" filter="wipe(left)">
                                      <p:cBhvr>
                                        <p:cTn id="23" dur="500"/>
                                        <p:tgtEl>
                                          <p:spTgt spid="737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autoUpdateAnimBg="0"/>
      <p:bldP spid="73733" grpId="0" build="p" autoUpdateAnimBg="0"/>
      <p:bldP spid="73734" grpId="0" build="p" autoUpdateAnimBg="0"/>
      <p:bldP spid="73738" grpId="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9" name="日期占位符 4"/>
          <p:cNvSpPr>
            <a:spLocks noGrp="1"/>
          </p:cNvSpPr>
          <p:nvPr>
            <p:ph type="dt" sz="half" idx="10"/>
          </p:nvPr>
        </p:nvSpPr>
        <p:spPr>
          <a:noFill/>
        </p:spPr>
        <p:txBody>
          <a:bodyPr/>
          <a:lstStyle/>
          <a:p>
            <a:endParaRPr lang="en-US" altLang="zh-CN" dirty="0"/>
          </a:p>
        </p:txBody>
      </p:sp>
      <p:sp>
        <p:nvSpPr>
          <p:cNvPr id="93187" name="Rectangle 2"/>
          <p:cNvSpPr>
            <a:spLocks noGrp="1" noChangeArrowheads="1"/>
          </p:cNvSpPr>
          <p:nvPr>
            <p:ph type="title"/>
          </p:nvPr>
        </p:nvSpPr>
        <p:spPr>
          <a:xfrm>
            <a:off x="1244600" y="169866"/>
            <a:ext cx="6070600" cy="662782"/>
          </a:xfrm>
          <a:noFill/>
        </p:spPr>
        <p:txBody>
          <a:bodyPr vert="horz" lIns="90488" tIns="44450" rIns="90488" bIns="44450" rtlCol="0" anchor="ctr" anchorCtr="1">
            <a:normAutofit/>
          </a:bodyPr>
          <a:lstStyle/>
          <a:p>
            <a:pPr eaLnBrk="1" hangingPunct="1"/>
            <a:r>
              <a:rPr lang="zh-CN" altLang="en-US" sz="4000" dirty="0"/>
              <a:t>三个离差平方和的意义</a:t>
            </a:r>
          </a:p>
        </p:txBody>
      </p:sp>
      <p:sp>
        <p:nvSpPr>
          <p:cNvPr id="75779" name="Rectangle 3"/>
          <p:cNvSpPr>
            <a:spLocks noGrp="1" noChangeArrowheads="1"/>
          </p:cNvSpPr>
          <p:nvPr>
            <p:ph idx="1"/>
          </p:nvPr>
        </p:nvSpPr>
        <p:spPr>
          <a:xfrm>
            <a:off x="990599" y="832648"/>
            <a:ext cx="7950201" cy="5301213"/>
          </a:xfrm>
          <a:noFill/>
        </p:spPr>
        <p:txBody>
          <a:bodyPr vert="horz" lIns="90488" tIns="44450" rIns="90488" bIns="44450" rtlCol="0">
            <a:normAutofit/>
          </a:bodyPr>
          <a:lstStyle/>
          <a:p>
            <a:pPr marL="609600" indent="-609600" algn="just">
              <a:lnSpc>
                <a:spcPct val="105000"/>
              </a:lnSpc>
              <a:buFontTx/>
              <a:buAutoNum type="arabicPeriod"/>
            </a:pPr>
            <a:r>
              <a:rPr kumimoji="1" lang="zh-CN" altLang="en-US" b="1" dirty="0">
                <a:solidFill>
                  <a:srgbClr val="3333FF"/>
                </a:solidFill>
                <a:latin typeface="Times New Roman" pitchFamily="18" charset="0"/>
                <a:ea typeface="+mn-ea"/>
              </a:rPr>
              <a:t>总</a:t>
            </a:r>
            <a:r>
              <a:rPr kumimoji="1" lang="zh-CN" altLang="en-US" b="1" dirty="0">
                <a:solidFill>
                  <a:srgbClr val="3333FF"/>
                </a:solidFill>
                <a:latin typeface="仿宋" panose="02010609060101010101" pitchFamily="49" charset="-122"/>
                <a:ea typeface="仿宋" panose="02010609060101010101" pitchFamily="49" charset="-122"/>
              </a:rPr>
              <a:t>（</a:t>
            </a:r>
            <a:r>
              <a:rPr kumimoji="1" lang="zh-CN" altLang="en-US" b="1" dirty="0">
                <a:solidFill>
                  <a:srgbClr val="3333FF"/>
                </a:solidFill>
                <a:latin typeface="Times New Roman" pitchFamily="18" charset="0"/>
                <a:ea typeface="+mn-ea"/>
              </a:rPr>
              <a:t>离差</a:t>
            </a:r>
            <a:r>
              <a:rPr kumimoji="1" lang="zh-CN" altLang="en-US" b="1" dirty="0">
                <a:solidFill>
                  <a:srgbClr val="3333FF"/>
                </a:solidFill>
                <a:latin typeface="仿宋" panose="02010609060101010101" pitchFamily="49" charset="-122"/>
                <a:ea typeface="仿宋" panose="02010609060101010101" pitchFamily="49" charset="-122"/>
              </a:rPr>
              <a:t>）</a:t>
            </a:r>
            <a:r>
              <a:rPr kumimoji="1" lang="zh-CN" altLang="en-US" b="1" dirty="0">
                <a:solidFill>
                  <a:srgbClr val="3333FF"/>
                </a:solidFill>
                <a:latin typeface="Times New Roman" pitchFamily="18" charset="0"/>
                <a:ea typeface="+mn-ea"/>
              </a:rPr>
              <a:t>平方和（</a:t>
            </a:r>
            <a:r>
              <a:rPr kumimoji="1" lang="en-US" altLang="zh-CN" b="1" dirty="0">
                <a:solidFill>
                  <a:srgbClr val="3333FF"/>
                </a:solidFill>
                <a:latin typeface="Times New Roman" pitchFamily="18" charset="0"/>
                <a:ea typeface="+mn-ea"/>
              </a:rPr>
              <a:t>SST</a:t>
            </a:r>
            <a:r>
              <a:rPr kumimoji="1" lang="zh-CN" altLang="en-US" b="1" dirty="0">
                <a:solidFill>
                  <a:srgbClr val="3333FF"/>
                </a:solidFill>
                <a:latin typeface="Times New Roman" pitchFamily="18" charset="0"/>
                <a:ea typeface="+mn-ea"/>
              </a:rPr>
              <a:t>）</a:t>
            </a:r>
          </a:p>
          <a:p>
            <a:pPr marL="685800" lvl="1" indent="0" algn="just">
              <a:lnSpc>
                <a:spcPct val="105000"/>
              </a:lnSpc>
              <a:buNone/>
            </a:pPr>
            <a:r>
              <a:rPr lang="zh-CN" altLang="en-US" sz="2600" dirty="0">
                <a:latin typeface="Times New Roman" pitchFamily="18" charset="0"/>
              </a:rPr>
              <a:t>   反映因变量的 </a:t>
            </a:r>
            <a:r>
              <a:rPr lang="en-US" altLang="zh-CN" sz="2600" i="1" dirty="0">
                <a:latin typeface="Times New Roman" pitchFamily="18" charset="0"/>
              </a:rPr>
              <a:t>n </a:t>
            </a:r>
            <a:r>
              <a:rPr lang="zh-CN" altLang="en-US" sz="2600" dirty="0">
                <a:latin typeface="Times New Roman" pitchFamily="18" charset="0"/>
              </a:rPr>
              <a:t>个观察值与其均值的总离差</a:t>
            </a:r>
          </a:p>
          <a:p>
            <a:pPr marL="609600" indent="-609600" algn="just">
              <a:lnSpc>
                <a:spcPct val="105000"/>
              </a:lnSpc>
              <a:buFontTx/>
              <a:buAutoNum type="arabicPeriod"/>
            </a:pPr>
            <a:r>
              <a:rPr lang="zh-CN" altLang="en-US" sz="3000" b="1" dirty="0">
                <a:solidFill>
                  <a:srgbClr val="FF0000"/>
                </a:solidFill>
                <a:latin typeface="Times New Roman" pitchFamily="18" charset="0"/>
              </a:rPr>
              <a:t>回归平方和（</a:t>
            </a:r>
            <a:r>
              <a:rPr lang="en-US" altLang="zh-CN" sz="3000" b="1" i="1" dirty="0">
                <a:solidFill>
                  <a:srgbClr val="FF0000"/>
                </a:solidFill>
                <a:latin typeface="Times New Roman" pitchFamily="18" charset="0"/>
              </a:rPr>
              <a:t>SSR</a:t>
            </a:r>
            <a:r>
              <a:rPr lang="zh-CN" altLang="en-US" sz="3000" b="1" dirty="0">
                <a:solidFill>
                  <a:srgbClr val="FF0000"/>
                </a:solidFill>
                <a:latin typeface="Times New Roman" pitchFamily="18" charset="0"/>
              </a:rPr>
              <a:t>）</a:t>
            </a:r>
          </a:p>
          <a:p>
            <a:pPr marL="1219200" lvl="1" indent="-533400" algn="just">
              <a:lnSpc>
                <a:spcPct val="105000"/>
              </a:lnSpc>
            </a:pPr>
            <a:r>
              <a:rPr lang="zh-CN" altLang="en-US" sz="2600" dirty="0">
                <a:latin typeface="Times New Roman" pitchFamily="18" charset="0"/>
              </a:rPr>
              <a:t>反映自变量 </a:t>
            </a:r>
            <a:r>
              <a:rPr lang="en-US" altLang="zh-CN" sz="2600" i="1" dirty="0">
                <a:latin typeface="Times New Roman" pitchFamily="18" charset="0"/>
              </a:rPr>
              <a:t>x </a:t>
            </a:r>
            <a:r>
              <a:rPr lang="zh-CN" altLang="en-US" sz="2600" dirty="0">
                <a:latin typeface="Times New Roman" pitchFamily="18" charset="0"/>
              </a:rPr>
              <a:t>的变化对因变量 </a:t>
            </a:r>
            <a:r>
              <a:rPr lang="en-US" altLang="zh-CN" sz="2600" i="1" dirty="0">
                <a:latin typeface="Times New Roman" pitchFamily="18" charset="0"/>
              </a:rPr>
              <a:t>y </a:t>
            </a:r>
            <a:r>
              <a:rPr lang="zh-CN" altLang="en-US" sz="2600" dirty="0">
                <a:latin typeface="Times New Roman" pitchFamily="18" charset="0"/>
              </a:rPr>
              <a:t>取值变化的影响，或者说，是由于</a:t>
            </a:r>
            <a:r>
              <a:rPr lang="en-US" altLang="zh-CN" sz="2600" i="1" dirty="0">
                <a:latin typeface="Times New Roman" pitchFamily="18" charset="0"/>
              </a:rPr>
              <a:t>x</a:t>
            </a:r>
            <a:r>
              <a:rPr lang="zh-CN" altLang="en-US" sz="2600" dirty="0">
                <a:latin typeface="Times New Roman" pitchFamily="18" charset="0"/>
              </a:rPr>
              <a:t>与</a:t>
            </a:r>
            <a:r>
              <a:rPr lang="en-US" altLang="zh-CN" sz="2600" i="1" dirty="0">
                <a:latin typeface="Times New Roman" pitchFamily="18" charset="0"/>
              </a:rPr>
              <a:t>y</a:t>
            </a:r>
            <a:r>
              <a:rPr lang="zh-CN" altLang="en-US" sz="2600" dirty="0">
                <a:latin typeface="Times New Roman" pitchFamily="18" charset="0"/>
              </a:rPr>
              <a:t>之间的线性关系引起的</a:t>
            </a:r>
            <a:r>
              <a:rPr lang="en-US" altLang="zh-CN" sz="2600" i="1" dirty="0">
                <a:latin typeface="Times New Roman" pitchFamily="18" charset="0"/>
              </a:rPr>
              <a:t>y</a:t>
            </a:r>
            <a:r>
              <a:rPr lang="zh-CN" altLang="en-US" sz="2600" dirty="0">
                <a:latin typeface="Times New Roman" pitchFamily="18" charset="0"/>
              </a:rPr>
              <a:t>的取值变化。</a:t>
            </a:r>
          </a:p>
          <a:p>
            <a:pPr marL="1219200" lvl="1" indent="-533400" algn="just">
              <a:lnSpc>
                <a:spcPct val="105000"/>
              </a:lnSpc>
            </a:pPr>
            <a:r>
              <a:rPr lang="zh-CN" altLang="en-US" sz="2600" dirty="0">
                <a:latin typeface="Times New Roman" pitchFamily="18" charset="0"/>
              </a:rPr>
              <a:t>也称为可解释的平方和。</a:t>
            </a:r>
          </a:p>
          <a:p>
            <a:pPr marL="609600" indent="-609600" algn="just">
              <a:lnSpc>
                <a:spcPct val="105000"/>
              </a:lnSpc>
              <a:buFontTx/>
              <a:buAutoNum type="arabicPeriod"/>
            </a:pPr>
            <a:r>
              <a:rPr lang="zh-CN" altLang="en-US" sz="3000" b="1" dirty="0">
                <a:solidFill>
                  <a:srgbClr val="FF00FF"/>
                </a:solidFill>
                <a:latin typeface="Times New Roman" pitchFamily="18" charset="0"/>
              </a:rPr>
              <a:t>残差平方和</a:t>
            </a:r>
            <a:r>
              <a:rPr lang="zh-CN" altLang="en-US" sz="3000" b="1" dirty="0">
                <a:solidFill>
                  <a:srgbClr val="000000"/>
                </a:solidFill>
                <a:latin typeface="Times New Roman" pitchFamily="18" charset="0"/>
              </a:rPr>
              <a:t>（</a:t>
            </a:r>
            <a:r>
              <a:rPr lang="en-US" altLang="zh-CN" sz="3000" b="1" i="1" dirty="0">
                <a:solidFill>
                  <a:srgbClr val="000000"/>
                </a:solidFill>
                <a:latin typeface="Times New Roman" pitchFamily="18" charset="0"/>
              </a:rPr>
              <a:t>SSE</a:t>
            </a:r>
            <a:r>
              <a:rPr lang="zh-CN" altLang="en-US" sz="3000" b="1" i="1" dirty="0">
                <a:solidFill>
                  <a:srgbClr val="000000"/>
                </a:solidFill>
                <a:latin typeface="Times New Roman" pitchFamily="18" charset="0"/>
              </a:rPr>
              <a:t>、</a:t>
            </a:r>
            <a:r>
              <a:rPr lang="en-US" altLang="zh-CN" sz="3000" b="1" i="1" dirty="0">
                <a:solidFill>
                  <a:srgbClr val="000000"/>
                </a:solidFill>
                <a:latin typeface="Times New Roman" pitchFamily="18" charset="0"/>
              </a:rPr>
              <a:t>Q</a:t>
            </a:r>
            <a:r>
              <a:rPr lang="zh-CN" altLang="en-US" sz="3000" b="1" dirty="0">
                <a:solidFill>
                  <a:srgbClr val="000000"/>
                </a:solidFill>
                <a:latin typeface="Times New Roman" pitchFamily="18" charset="0"/>
              </a:rPr>
              <a:t>）</a:t>
            </a:r>
          </a:p>
          <a:p>
            <a:pPr marL="1219200" lvl="1" indent="-533400" algn="just">
              <a:lnSpc>
                <a:spcPct val="105000"/>
              </a:lnSpc>
            </a:pPr>
            <a:r>
              <a:rPr lang="zh-CN" altLang="en-US" sz="2600" dirty="0">
                <a:latin typeface="Times New Roman" pitchFamily="18" charset="0"/>
              </a:rPr>
              <a:t>反映除 </a:t>
            </a:r>
            <a:r>
              <a:rPr lang="en-US" altLang="zh-CN" sz="2600" i="1" dirty="0">
                <a:latin typeface="Times New Roman" pitchFamily="18" charset="0"/>
              </a:rPr>
              <a:t>x </a:t>
            </a:r>
            <a:r>
              <a:rPr lang="zh-CN" altLang="en-US" sz="2600" dirty="0">
                <a:latin typeface="Times New Roman" pitchFamily="18" charset="0"/>
              </a:rPr>
              <a:t>以外的其他因素对 </a:t>
            </a:r>
            <a:r>
              <a:rPr lang="en-US" altLang="zh-CN" sz="2600" i="1" dirty="0">
                <a:latin typeface="Times New Roman" pitchFamily="18" charset="0"/>
              </a:rPr>
              <a:t>y </a:t>
            </a:r>
            <a:r>
              <a:rPr lang="zh-CN" altLang="en-US" sz="2600" dirty="0">
                <a:latin typeface="Times New Roman" pitchFamily="18" charset="0"/>
              </a:rPr>
              <a:t>取值的影响，</a:t>
            </a:r>
          </a:p>
          <a:p>
            <a:pPr marL="1219200" lvl="1" indent="-533400" algn="just">
              <a:lnSpc>
                <a:spcPct val="105000"/>
              </a:lnSpc>
            </a:pPr>
            <a:r>
              <a:rPr lang="zh-CN" altLang="en-US" sz="2600" dirty="0">
                <a:latin typeface="Times New Roman" pitchFamily="18" charset="0"/>
              </a:rPr>
              <a:t>也称为不可解释的平方和或剩余平方和。</a:t>
            </a:r>
          </a:p>
        </p:txBody>
      </p:sp>
      <p:sp>
        <p:nvSpPr>
          <p:cNvPr id="93186" name="灯片编号占位符 5"/>
          <p:cNvSpPr>
            <a:spLocks noGrp="1"/>
          </p:cNvSpPr>
          <p:nvPr>
            <p:ph type="sldNum" sz="quarter" idx="4"/>
          </p:nvPr>
        </p:nvSpPr>
        <p:spPr>
          <a:noFill/>
        </p:spPr>
        <p:txBody>
          <a:bodyPr/>
          <a:lstStyle/>
          <a:p>
            <a:r>
              <a:rPr lang="en-US" altLang="zh-CN" dirty="0"/>
              <a:t>9--</a:t>
            </a:r>
            <a:fld id="{8C1AAD54-359F-4BC6-8937-FC5EA7838FDF}" type="slidenum">
              <a:rPr lang="en-US" altLang="zh-CN" smtClean="0"/>
              <a:pPr/>
              <a:t>59</a:t>
            </a:fld>
            <a:endParaRPr lang="en-US" altLang="zh-CN" dirty="0"/>
          </a:p>
        </p:txBody>
      </p:sp>
    </p:spTree>
    <p:extLst>
      <p:ext uri="{BB962C8B-B14F-4D97-AF65-F5344CB8AC3E}">
        <p14:creationId xmlns:p14="http://schemas.microsoft.com/office/powerpoint/2010/main" val="262012169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animEffect transition="in" filter="wipe(left)">
                                      <p:cBhvr>
                                        <p:cTn id="7" dur="500"/>
                                        <p:tgtEl>
                                          <p:spTgt spid="757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2" end="2"/>
                                            </p:txEl>
                                          </p:spTgt>
                                        </p:tgtEl>
                                        <p:attrNameLst>
                                          <p:attrName>style.visibility</p:attrName>
                                        </p:attrNameLst>
                                      </p:cBhvr>
                                      <p:to>
                                        <p:strVal val="visible"/>
                                      </p:to>
                                    </p:set>
                                    <p:animEffect transition="in" filter="wipe(left)">
                                      <p:cBhvr>
                                        <p:cTn id="12" dur="500"/>
                                        <p:tgtEl>
                                          <p:spTgt spid="75779">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5779">
                                            <p:txEl>
                                              <p:pRg st="3" end="3"/>
                                            </p:txEl>
                                          </p:spTgt>
                                        </p:tgtEl>
                                        <p:attrNameLst>
                                          <p:attrName>style.visibility</p:attrName>
                                        </p:attrNameLst>
                                      </p:cBhvr>
                                      <p:to>
                                        <p:strVal val="visible"/>
                                      </p:to>
                                    </p:set>
                                    <p:animEffect transition="in" filter="wipe(left)">
                                      <p:cBhvr>
                                        <p:cTn id="15" dur="500"/>
                                        <p:tgtEl>
                                          <p:spTgt spid="75779">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5779">
                                            <p:txEl>
                                              <p:pRg st="4" end="4"/>
                                            </p:txEl>
                                          </p:spTgt>
                                        </p:tgtEl>
                                        <p:attrNameLst>
                                          <p:attrName>style.visibility</p:attrName>
                                        </p:attrNameLst>
                                      </p:cBhvr>
                                      <p:to>
                                        <p:strVal val="visible"/>
                                      </p:to>
                                    </p:set>
                                    <p:animEffect transition="in" filter="wipe(left)">
                                      <p:cBhvr>
                                        <p:cTn id="18" dur="500"/>
                                        <p:tgtEl>
                                          <p:spTgt spid="7577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5779">
                                            <p:txEl>
                                              <p:pRg st="5" end="5"/>
                                            </p:txEl>
                                          </p:spTgt>
                                        </p:tgtEl>
                                        <p:attrNameLst>
                                          <p:attrName>style.visibility</p:attrName>
                                        </p:attrNameLst>
                                      </p:cBhvr>
                                      <p:to>
                                        <p:strVal val="visible"/>
                                      </p:to>
                                    </p:set>
                                    <p:animEffect transition="in" filter="wipe(left)">
                                      <p:cBhvr>
                                        <p:cTn id="23" dur="500"/>
                                        <p:tgtEl>
                                          <p:spTgt spid="75779">
                                            <p:txEl>
                                              <p:pRg st="5" end="5"/>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5779">
                                            <p:txEl>
                                              <p:pRg st="6" end="6"/>
                                            </p:txEl>
                                          </p:spTgt>
                                        </p:tgtEl>
                                        <p:attrNameLst>
                                          <p:attrName>style.visibility</p:attrName>
                                        </p:attrNameLst>
                                      </p:cBhvr>
                                      <p:to>
                                        <p:strVal val="visible"/>
                                      </p:to>
                                    </p:set>
                                    <p:animEffect transition="in" filter="wipe(left)">
                                      <p:cBhvr>
                                        <p:cTn id="26" dur="500"/>
                                        <p:tgtEl>
                                          <p:spTgt spid="75779">
                                            <p:txEl>
                                              <p:pRg st="6" end="6"/>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5779">
                                            <p:txEl>
                                              <p:pRg st="7" end="7"/>
                                            </p:txEl>
                                          </p:spTgt>
                                        </p:tgtEl>
                                        <p:attrNameLst>
                                          <p:attrName>style.visibility</p:attrName>
                                        </p:attrNameLst>
                                      </p:cBhvr>
                                      <p:to>
                                        <p:strVal val="visible"/>
                                      </p:to>
                                    </p:set>
                                    <p:animEffect transition="in" filter="wipe(left)">
                                      <p:cBhvr>
                                        <p:cTn id="29" dur="500"/>
                                        <p:tgtEl>
                                          <p:spTgt spid="757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5" name="日期占位符 6"/>
          <p:cNvSpPr>
            <a:spLocks noGrp="1"/>
          </p:cNvSpPr>
          <p:nvPr>
            <p:ph type="dt" sz="half" idx="10"/>
          </p:nvPr>
        </p:nvSpPr>
        <p:spPr>
          <a:noFill/>
        </p:spPr>
        <p:txBody>
          <a:bodyPr/>
          <a:lstStyle/>
          <a:p>
            <a:endParaRPr lang="en-US" altLang="zh-CN" dirty="0"/>
          </a:p>
        </p:txBody>
      </p:sp>
      <p:sp>
        <p:nvSpPr>
          <p:cNvPr id="27652" name="Rectangle 2"/>
          <p:cNvSpPr>
            <a:spLocks noGrp="1" noChangeArrowheads="1"/>
          </p:cNvSpPr>
          <p:nvPr>
            <p:ph type="title"/>
          </p:nvPr>
        </p:nvSpPr>
        <p:spPr>
          <a:xfrm>
            <a:off x="1231900" y="581266"/>
            <a:ext cx="7785100" cy="662782"/>
          </a:xfrm>
          <a:noFill/>
        </p:spPr>
        <p:txBody>
          <a:bodyPr vert="horz" lIns="90488" tIns="44450" rIns="90488" bIns="44450" rtlCol="0" anchor="ctr" anchorCtr="1">
            <a:normAutofit/>
          </a:bodyPr>
          <a:lstStyle/>
          <a:p>
            <a:pPr eaLnBrk="1" hangingPunct="1"/>
            <a:r>
              <a:rPr lang="zh-CN" altLang="en-US" dirty="0"/>
              <a:t>可决系数（判定系数</a:t>
            </a:r>
            <a:r>
              <a:rPr lang="en-US" altLang="zh-CN" i="1" dirty="0">
                <a:latin typeface="Times New Roman" pitchFamily="18" charset="0"/>
              </a:rPr>
              <a:t>r</a:t>
            </a:r>
            <a:r>
              <a:rPr lang="en-US" altLang="zh-CN" sz="4000" baseline="30000" dirty="0"/>
              <a:t>2 </a:t>
            </a:r>
            <a:r>
              <a:rPr lang="zh-CN" altLang="en-US" sz="2800" dirty="0">
                <a:solidFill>
                  <a:srgbClr val="002060"/>
                </a:solidFill>
              </a:rPr>
              <a:t>或</a:t>
            </a:r>
            <a:r>
              <a:rPr lang="zh-CN" altLang="en-US" sz="2800" dirty="0">
                <a:solidFill>
                  <a:srgbClr val="CC0099"/>
                </a:solidFill>
              </a:rPr>
              <a:t> </a:t>
            </a:r>
            <a:r>
              <a:rPr lang="en-US" altLang="zh-CN" sz="3600" i="1" dirty="0">
                <a:solidFill>
                  <a:schemeClr val="tx1"/>
                </a:solidFill>
                <a:latin typeface="Times New Roman" pitchFamily="18" charset="0"/>
              </a:rPr>
              <a:t>R</a:t>
            </a:r>
            <a:r>
              <a:rPr lang="en-US" altLang="zh-CN" sz="4000" baseline="30000" dirty="0">
                <a:solidFill>
                  <a:schemeClr val="tx1"/>
                </a:solidFill>
              </a:rPr>
              <a:t>2</a:t>
            </a:r>
            <a:r>
              <a:rPr lang="en-US" altLang="zh-CN" baseline="30000" dirty="0"/>
              <a:t> </a:t>
            </a:r>
            <a:r>
              <a:rPr lang="zh-CN" altLang="en-US" dirty="0"/>
              <a:t>）</a:t>
            </a:r>
          </a:p>
        </p:txBody>
      </p:sp>
      <p:sp>
        <p:nvSpPr>
          <p:cNvPr id="27653" name="Rectangle 3"/>
          <p:cNvSpPr>
            <a:spLocks noGrp="1" noChangeArrowheads="1"/>
          </p:cNvSpPr>
          <p:nvPr>
            <p:ph idx="1"/>
          </p:nvPr>
        </p:nvSpPr>
        <p:spPr>
          <a:xfrm>
            <a:off x="1762126" y="1707355"/>
            <a:ext cx="9919902" cy="4330461"/>
          </a:xfrm>
          <a:noFill/>
        </p:spPr>
        <p:txBody>
          <a:bodyPr vert="horz" lIns="90488" tIns="44450" rIns="90488" bIns="44450" rtlCol="0">
            <a:normAutofit/>
          </a:bodyPr>
          <a:lstStyle/>
          <a:p>
            <a:pPr marL="0" indent="0">
              <a:spcBef>
                <a:spcPct val="0"/>
              </a:spcBef>
              <a:buNone/>
            </a:pPr>
            <a:r>
              <a:rPr lang="zh-CN" altLang="en-US" sz="3000" b="1" dirty="0">
                <a:solidFill>
                  <a:srgbClr val="FF00FF"/>
                </a:solidFill>
                <a:latin typeface="Times New Roman" pitchFamily="18" charset="0"/>
              </a:rPr>
              <a:t>可决系数</a:t>
            </a:r>
            <a:r>
              <a:rPr lang="en-US" altLang="zh-CN" sz="3000" b="1" dirty="0">
                <a:latin typeface="Times New Roman" pitchFamily="18" charset="0"/>
              </a:rPr>
              <a:t>=</a:t>
            </a:r>
            <a:r>
              <a:rPr lang="zh-CN" altLang="en-US" sz="3000" b="1" dirty="0">
                <a:latin typeface="Times New Roman" pitchFamily="18" charset="0"/>
              </a:rPr>
              <a:t>回归平方和占总离差平方和的比例</a:t>
            </a:r>
          </a:p>
        </p:txBody>
      </p:sp>
      <p:sp>
        <p:nvSpPr>
          <p:cNvPr id="27651" name="灯片编号占位符 5"/>
          <p:cNvSpPr>
            <a:spLocks noGrp="1"/>
          </p:cNvSpPr>
          <p:nvPr>
            <p:ph type="sldNum" sz="quarter" idx="4"/>
          </p:nvPr>
        </p:nvSpPr>
        <p:spPr>
          <a:noFill/>
        </p:spPr>
        <p:txBody>
          <a:bodyPr/>
          <a:lstStyle/>
          <a:p>
            <a:r>
              <a:rPr lang="en-US" altLang="zh-CN" dirty="0"/>
              <a:t>9--</a:t>
            </a:r>
            <a:fld id="{3197D710-6782-4ADF-9C70-E9ED4F995EE8}" type="slidenum">
              <a:rPr lang="en-US" altLang="zh-CN" smtClean="0"/>
              <a:pPr/>
              <a:t>60</a:t>
            </a:fld>
            <a:endParaRPr lang="en-US" altLang="zh-CN" dirty="0"/>
          </a:p>
        </p:txBody>
      </p:sp>
      <p:graphicFrame>
        <p:nvGraphicFramePr>
          <p:cNvPr id="27650" name="Object 4">
            <a:hlinkClick r:id="" action="ppaction://ole?verb=0"/>
          </p:cNvPr>
          <p:cNvGraphicFramePr>
            <a:graphicFrameLocks/>
          </p:cNvGraphicFramePr>
          <p:nvPr>
            <p:extLst>
              <p:ext uri="{D42A27DB-BD31-4B8C-83A1-F6EECF244321}">
                <p14:modId xmlns:p14="http://schemas.microsoft.com/office/powerpoint/2010/main" val="4031741564"/>
              </p:ext>
            </p:extLst>
          </p:nvPr>
        </p:nvGraphicFramePr>
        <p:xfrm>
          <a:off x="2209800" y="2535755"/>
          <a:ext cx="7277101" cy="1152525"/>
        </p:xfrm>
        <a:graphic>
          <a:graphicData uri="http://schemas.openxmlformats.org/presentationml/2006/ole">
            <mc:AlternateContent xmlns:mc="http://schemas.openxmlformats.org/markup-compatibility/2006">
              <mc:Choice xmlns:v="urn:schemas-microsoft-com:vml" Requires="v">
                <p:oleObj name="公式" r:id="rId3" imgW="2958840" imgH="419040" progId="Equation.3">
                  <p:embed/>
                </p:oleObj>
              </mc:Choice>
              <mc:Fallback>
                <p:oleObj name="公式" r:id="rId3" imgW="2958840" imgH="419040" progId="Equation.3">
                  <p:embed/>
                  <p:pic>
                    <p:nvPicPr>
                      <p:cNvPr id="27650"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535755"/>
                        <a:ext cx="7277101" cy="1152525"/>
                      </a:xfrm>
                      <a:prstGeom prst="rect">
                        <a:avLst/>
                      </a:prstGeom>
                      <a:noFill/>
                      <a:ln>
                        <a:noFill/>
                      </a:ln>
                      <a:effectLst>
                        <a:outerShdw dist="17961" dir="2700000" algn="ctr" rotWithShape="0">
                          <a:schemeClr val="bg2"/>
                        </a:outerShdw>
                      </a:effectLst>
                    </p:spPr>
                  </p:pic>
                </p:oleObj>
              </mc:Fallback>
            </mc:AlternateContent>
          </a:graphicData>
        </a:graphic>
      </p:graphicFrame>
      <p:sp>
        <p:nvSpPr>
          <p:cNvPr id="27654" name="Rectangle 5"/>
          <p:cNvSpPr>
            <a:spLocks noChangeArrowheads="1"/>
          </p:cNvSpPr>
          <p:nvPr/>
        </p:nvSpPr>
        <p:spPr bwMode="auto">
          <a:xfrm>
            <a:off x="1996369" y="4192551"/>
            <a:ext cx="7992888" cy="1569660"/>
          </a:xfrm>
          <a:prstGeom prst="rect">
            <a:avLst/>
          </a:prstGeom>
          <a:noFill/>
          <a:ln w="12700">
            <a:noFill/>
            <a:miter lim="800000"/>
            <a:headEnd/>
            <a:tailEnd/>
          </a:ln>
        </p:spPr>
        <p:txBody>
          <a:bodyPr wrap="square">
            <a:spAutoFit/>
          </a:bodyPr>
          <a:lstStyle/>
          <a:p>
            <a:pPr marL="457200" indent="-457200" eaLnBrk="0" hangingPunct="0">
              <a:lnSpc>
                <a:spcPct val="150000"/>
              </a:lnSpc>
            </a:pPr>
            <a:r>
              <a:rPr kumimoji="1" lang="zh-CN" altLang="en-US" sz="3200" b="1" dirty="0">
                <a:solidFill>
                  <a:srgbClr val="000000"/>
                </a:solidFill>
                <a:latin typeface="Times New Roman" pitchFamily="18" charset="0"/>
              </a:rPr>
              <a:t>综合度量回归方程对样本观测值拟合优度，衡量变量之间的相关程度。</a:t>
            </a:r>
            <a:endParaRPr kumimoji="1" lang="zh-CN" altLang="en-US" sz="3200" b="1" dirty="0">
              <a:solidFill>
                <a:srgbClr val="000000"/>
              </a:solidFill>
              <a:latin typeface="Times New Roman" pitchFamily="18" charset="0"/>
              <a:sym typeface="Symbol" pitchFamily="18" charset="2"/>
            </a:endParaRPr>
          </a:p>
        </p:txBody>
      </p:sp>
    </p:spTree>
    <p:extLst>
      <p:ext uri="{BB962C8B-B14F-4D97-AF65-F5344CB8AC3E}">
        <p14:creationId xmlns:p14="http://schemas.microsoft.com/office/powerpoint/2010/main" val="1173066038"/>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3" name="日期占位符 4"/>
          <p:cNvSpPr>
            <a:spLocks noGrp="1"/>
          </p:cNvSpPr>
          <p:nvPr>
            <p:ph type="dt" sz="half" idx="10"/>
          </p:nvPr>
        </p:nvSpPr>
        <p:spPr>
          <a:noFill/>
        </p:spPr>
        <p:txBody>
          <a:bodyPr/>
          <a:lstStyle/>
          <a:p>
            <a:endParaRPr lang="en-US" altLang="zh-CN" dirty="0"/>
          </a:p>
        </p:txBody>
      </p:sp>
      <p:sp>
        <p:nvSpPr>
          <p:cNvPr id="94211" name="Rectangle 2"/>
          <p:cNvSpPr>
            <a:spLocks noGrp="1" noChangeArrowheads="1"/>
          </p:cNvSpPr>
          <p:nvPr>
            <p:ph type="title"/>
          </p:nvPr>
        </p:nvSpPr>
        <p:spPr>
          <a:xfrm>
            <a:off x="1917700" y="860822"/>
            <a:ext cx="5435600" cy="662782"/>
          </a:xfrm>
          <a:noFill/>
        </p:spPr>
        <p:txBody>
          <a:bodyPr vert="horz" lIns="90488" tIns="44450" rIns="90488" bIns="44450" rtlCol="0" anchor="ctr" anchorCtr="1">
            <a:normAutofit/>
          </a:bodyPr>
          <a:lstStyle/>
          <a:p>
            <a:pPr eaLnBrk="1" hangingPunct="1"/>
            <a:r>
              <a:rPr lang="zh-CN" altLang="en-US" dirty="0"/>
              <a:t>可决系数 </a:t>
            </a:r>
            <a:r>
              <a:rPr lang="en-US" altLang="zh-CN" sz="4000" i="1" dirty="0">
                <a:latin typeface="Times New Roman" pitchFamily="18" charset="0"/>
              </a:rPr>
              <a:t>r</a:t>
            </a:r>
            <a:r>
              <a:rPr lang="en-US" altLang="zh-CN" sz="4000" baseline="30000" dirty="0"/>
              <a:t>2 </a:t>
            </a:r>
            <a:r>
              <a:rPr lang="zh-CN" altLang="en-US" dirty="0"/>
              <a:t>的特点 </a:t>
            </a:r>
          </a:p>
        </p:txBody>
      </p:sp>
      <p:sp>
        <p:nvSpPr>
          <p:cNvPr id="94210" name="灯片编号占位符 5"/>
          <p:cNvSpPr>
            <a:spLocks noGrp="1"/>
          </p:cNvSpPr>
          <p:nvPr>
            <p:ph type="sldNum" sz="quarter" idx="4"/>
          </p:nvPr>
        </p:nvSpPr>
        <p:spPr>
          <a:noFill/>
        </p:spPr>
        <p:txBody>
          <a:bodyPr/>
          <a:lstStyle/>
          <a:p>
            <a:r>
              <a:rPr lang="en-US" altLang="zh-CN" dirty="0"/>
              <a:t>9--</a:t>
            </a:r>
            <a:fld id="{FE9BDFB3-EA72-463D-8E45-5A93D2D3040F}" type="slidenum">
              <a:rPr lang="en-US" altLang="zh-CN" smtClean="0"/>
              <a:pPr/>
              <a:t>61</a:t>
            </a:fld>
            <a:endParaRPr lang="en-US" altLang="zh-CN" dirty="0"/>
          </a:p>
        </p:txBody>
      </p:sp>
      <p:sp>
        <p:nvSpPr>
          <p:cNvPr id="276485" name="Rectangle 5"/>
          <p:cNvSpPr>
            <a:spLocks noChangeArrowheads="1"/>
          </p:cNvSpPr>
          <p:nvPr/>
        </p:nvSpPr>
        <p:spPr bwMode="auto">
          <a:xfrm>
            <a:off x="2095500" y="1857375"/>
            <a:ext cx="8001000" cy="3354388"/>
          </a:xfrm>
          <a:prstGeom prst="rect">
            <a:avLst/>
          </a:prstGeom>
          <a:noFill/>
          <a:ln w="12700">
            <a:noFill/>
            <a:miter lim="800000"/>
            <a:headEnd/>
            <a:tailEnd/>
          </a:ln>
        </p:spPr>
        <p:txBody>
          <a:bodyPr>
            <a:spAutoFit/>
          </a:bodyPr>
          <a:lstStyle/>
          <a:p>
            <a:pPr marL="457200" indent="-457200" eaLnBrk="0" hangingPunct="0">
              <a:lnSpc>
                <a:spcPct val="125000"/>
              </a:lnSpc>
              <a:spcBef>
                <a:spcPct val="25000"/>
              </a:spcBef>
            </a:pPr>
            <a:r>
              <a:rPr kumimoji="1" lang="zh-CN" altLang="en-US" sz="3200" b="1" dirty="0">
                <a:solidFill>
                  <a:srgbClr val="0070C0"/>
                </a:solidFill>
                <a:latin typeface="Times New Roman" pitchFamily="18" charset="0"/>
              </a:rPr>
              <a:t>（</a:t>
            </a:r>
            <a:r>
              <a:rPr kumimoji="1" lang="en-US" altLang="zh-CN" sz="3200" b="1" dirty="0">
                <a:solidFill>
                  <a:srgbClr val="0070C0"/>
                </a:solidFill>
                <a:latin typeface="Times New Roman" pitchFamily="18" charset="0"/>
              </a:rPr>
              <a:t>1</a:t>
            </a:r>
            <a:r>
              <a:rPr kumimoji="1" lang="zh-CN" altLang="en-US" sz="3200" b="1" dirty="0">
                <a:solidFill>
                  <a:srgbClr val="0070C0"/>
                </a:solidFill>
                <a:latin typeface="Times New Roman" pitchFamily="18" charset="0"/>
              </a:rPr>
              <a:t>）</a:t>
            </a:r>
            <a:r>
              <a:rPr lang="en-US" altLang="zh-CN" sz="3200" b="1" i="1" dirty="0">
                <a:solidFill>
                  <a:srgbClr val="0070C0"/>
                </a:solidFill>
                <a:latin typeface="Times New Roman" pitchFamily="18" charset="0"/>
              </a:rPr>
              <a:t>r</a:t>
            </a:r>
            <a:r>
              <a:rPr lang="en-US" altLang="zh-CN" sz="3200" b="1" baseline="30000" dirty="0">
                <a:solidFill>
                  <a:srgbClr val="0070C0"/>
                </a:solidFill>
                <a:latin typeface="Tahoma" pitchFamily="34" charset="0"/>
              </a:rPr>
              <a:t>2</a:t>
            </a:r>
            <a:r>
              <a:rPr lang="zh-CN" altLang="en-US" sz="3200" b="1" dirty="0">
                <a:solidFill>
                  <a:srgbClr val="0070C0"/>
                </a:solidFill>
                <a:latin typeface="Tahoma" pitchFamily="34" charset="0"/>
              </a:rPr>
              <a:t>的</a:t>
            </a:r>
            <a:r>
              <a:rPr kumimoji="1" lang="zh-CN" altLang="en-US" sz="3200" b="1" dirty="0">
                <a:solidFill>
                  <a:srgbClr val="0070C0"/>
                </a:solidFill>
                <a:latin typeface="Times New Roman" pitchFamily="18" charset="0"/>
              </a:rPr>
              <a:t>取值范围：</a:t>
            </a:r>
            <a:r>
              <a:rPr kumimoji="1" lang="en-US" altLang="zh-CN" sz="3200" b="1" dirty="0">
                <a:solidFill>
                  <a:srgbClr val="0070C0"/>
                </a:solidFill>
                <a:latin typeface="Times New Roman" pitchFamily="18" charset="0"/>
              </a:rPr>
              <a:t>[ 0 , 1 ] </a:t>
            </a:r>
            <a:r>
              <a:rPr kumimoji="1" lang="zh-CN" altLang="en-US" sz="3200" b="1" dirty="0">
                <a:solidFill>
                  <a:srgbClr val="000000"/>
                </a:solidFill>
                <a:latin typeface="Times New Roman" pitchFamily="18" charset="0"/>
              </a:rPr>
              <a:t>；</a:t>
            </a:r>
          </a:p>
          <a:p>
            <a:pPr marL="914400" lvl="1" indent="-457200" eaLnBrk="0" hangingPunct="0">
              <a:lnSpc>
                <a:spcPct val="125000"/>
              </a:lnSpc>
              <a:spcBef>
                <a:spcPct val="25000"/>
              </a:spcBef>
              <a:buFontTx/>
              <a:buChar char="•"/>
            </a:pPr>
            <a:r>
              <a:rPr kumimoji="1" lang="en-US" altLang="zh-CN" sz="2800" b="1" i="1" dirty="0">
                <a:solidFill>
                  <a:srgbClr val="000000"/>
                </a:solidFill>
                <a:latin typeface="Times New Roman" pitchFamily="18" charset="0"/>
              </a:rPr>
              <a:t>r</a:t>
            </a:r>
            <a:r>
              <a:rPr kumimoji="1" lang="en-US" altLang="zh-CN" sz="2800" b="1" baseline="30000" dirty="0">
                <a:solidFill>
                  <a:srgbClr val="000000"/>
                </a:solidFill>
                <a:latin typeface="Times New Roman" pitchFamily="18" charset="0"/>
              </a:rPr>
              <a:t>2 </a:t>
            </a:r>
            <a:r>
              <a:rPr kumimoji="1" lang="en-US" altLang="zh-CN" sz="2800" b="1" dirty="0">
                <a:solidFill>
                  <a:srgbClr val="000000"/>
                </a:solidFill>
                <a:latin typeface="Times New Roman" pitchFamily="18" charset="0"/>
                <a:sym typeface="Symbol" pitchFamily="18" charset="2"/>
              </a:rPr>
              <a:t>1</a:t>
            </a:r>
            <a:r>
              <a:rPr kumimoji="1" lang="zh-CN" altLang="en-US" sz="2800" b="1" dirty="0">
                <a:solidFill>
                  <a:srgbClr val="000000"/>
                </a:solidFill>
                <a:latin typeface="Times New Roman" pitchFamily="18" charset="0"/>
                <a:sym typeface="Symbol" pitchFamily="18" charset="2"/>
              </a:rPr>
              <a:t>，说明回归方程拟合效果越好；</a:t>
            </a:r>
          </a:p>
          <a:p>
            <a:pPr marL="914400" lvl="1" indent="-457200" eaLnBrk="0" hangingPunct="0">
              <a:lnSpc>
                <a:spcPct val="125000"/>
              </a:lnSpc>
              <a:spcBef>
                <a:spcPct val="25000"/>
              </a:spcBef>
              <a:buFontTx/>
              <a:buChar char="•"/>
            </a:pPr>
            <a:r>
              <a:rPr kumimoji="1" lang="en-US" altLang="zh-CN" sz="2800" b="1" i="1" dirty="0">
                <a:solidFill>
                  <a:srgbClr val="000000"/>
                </a:solidFill>
                <a:latin typeface="Times New Roman" pitchFamily="18" charset="0"/>
              </a:rPr>
              <a:t>r</a:t>
            </a:r>
            <a:r>
              <a:rPr kumimoji="1" lang="en-US" altLang="zh-CN" sz="2800" b="1" baseline="30000" dirty="0">
                <a:solidFill>
                  <a:srgbClr val="000000"/>
                </a:solidFill>
                <a:latin typeface="Times New Roman" pitchFamily="18" charset="0"/>
              </a:rPr>
              <a:t>2</a:t>
            </a:r>
            <a:r>
              <a:rPr kumimoji="1" lang="en-US" altLang="zh-CN" sz="2800" b="1" dirty="0">
                <a:solidFill>
                  <a:srgbClr val="000000"/>
                </a:solidFill>
                <a:latin typeface="Times New Roman" pitchFamily="18" charset="0"/>
                <a:sym typeface="Symbol" pitchFamily="18" charset="2"/>
              </a:rPr>
              <a:t>0</a:t>
            </a:r>
            <a:r>
              <a:rPr kumimoji="1" lang="zh-CN" altLang="en-US" sz="2800" b="1" dirty="0">
                <a:solidFill>
                  <a:srgbClr val="000000"/>
                </a:solidFill>
                <a:latin typeface="Times New Roman" pitchFamily="18" charset="0"/>
                <a:sym typeface="Symbol" pitchFamily="18" charset="2"/>
              </a:rPr>
              <a:t>，说明回归方程拟合得越差。</a:t>
            </a:r>
          </a:p>
          <a:p>
            <a:pPr marL="457200" indent="-457200" eaLnBrk="0" hangingPunct="0">
              <a:lnSpc>
                <a:spcPct val="125000"/>
              </a:lnSpc>
              <a:spcBef>
                <a:spcPct val="25000"/>
              </a:spcBef>
            </a:pPr>
            <a:r>
              <a:rPr kumimoji="1" lang="zh-CN" altLang="en-US" sz="3200" b="1" dirty="0">
                <a:solidFill>
                  <a:srgbClr val="0070C0"/>
                </a:solidFill>
                <a:latin typeface="Times New Roman" pitchFamily="18" charset="0"/>
              </a:rPr>
              <a:t>（</a:t>
            </a:r>
            <a:r>
              <a:rPr kumimoji="1" lang="en-US" altLang="zh-CN" sz="3200" b="1" dirty="0">
                <a:solidFill>
                  <a:srgbClr val="0070C0"/>
                </a:solidFill>
                <a:latin typeface="Times New Roman" pitchFamily="18" charset="0"/>
              </a:rPr>
              <a:t>2</a:t>
            </a:r>
            <a:r>
              <a:rPr kumimoji="1" lang="zh-CN" altLang="en-US" sz="3200" b="1" dirty="0">
                <a:solidFill>
                  <a:srgbClr val="0070C0"/>
                </a:solidFill>
                <a:latin typeface="Times New Roman" pitchFamily="18" charset="0"/>
              </a:rPr>
              <a:t>）在一元线性回归中，</a:t>
            </a:r>
            <a:r>
              <a:rPr lang="en-US" altLang="zh-CN" sz="3200" b="1" i="1" dirty="0">
                <a:solidFill>
                  <a:srgbClr val="0070C0"/>
                </a:solidFill>
                <a:latin typeface="Times New Roman" pitchFamily="18" charset="0"/>
              </a:rPr>
              <a:t>r</a:t>
            </a:r>
            <a:r>
              <a:rPr lang="en-US" altLang="zh-CN" sz="3200" b="1" baseline="30000" dirty="0">
                <a:solidFill>
                  <a:srgbClr val="0070C0"/>
                </a:solidFill>
                <a:latin typeface="Tahoma" pitchFamily="34" charset="0"/>
              </a:rPr>
              <a:t>2</a:t>
            </a:r>
            <a:r>
              <a:rPr kumimoji="1" lang="zh-CN" altLang="en-US" sz="3200" b="1" dirty="0">
                <a:solidFill>
                  <a:srgbClr val="0070C0"/>
                </a:solidFill>
                <a:latin typeface="Times New Roman" pitchFamily="18" charset="0"/>
              </a:rPr>
              <a:t>是简单线性相关系数的平方：</a:t>
            </a:r>
            <a:r>
              <a:rPr kumimoji="1" lang="en-US" altLang="zh-CN" sz="3200" b="1" i="1" dirty="0">
                <a:solidFill>
                  <a:srgbClr val="0070C0"/>
                </a:solidFill>
                <a:latin typeface="Times New Roman" pitchFamily="18" charset="0"/>
              </a:rPr>
              <a:t>r</a:t>
            </a:r>
            <a:r>
              <a:rPr kumimoji="1" lang="en-US" altLang="zh-CN" sz="3200" b="1" baseline="30000" dirty="0">
                <a:solidFill>
                  <a:srgbClr val="0070C0"/>
                </a:solidFill>
                <a:latin typeface="Times New Roman" pitchFamily="18" charset="0"/>
              </a:rPr>
              <a:t>2</a:t>
            </a:r>
            <a:r>
              <a:rPr kumimoji="1" lang="zh-CN" altLang="en-US" sz="3200" b="1" dirty="0">
                <a:solidFill>
                  <a:srgbClr val="0070C0"/>
                </a:solidFill>
                <a:latin typeface="Times New Roman" pitchFamily="18" charset="0"/>
              </a:rPr>
              <a:t>＝</a:t>
            </a:r>
            <a:r>
              <a:rPr kumimoji="1" lang="en-US" altLang="zh-CN" sz="3200" b="1" dirty="0">
                <a:solidFill>
                  <a:srgbClr val="0070C0"/>
                </a:solidFill>
                <a:latin typeface="Times New Roman" pitchFamily="18" charset="0"/>
              </a:rPr>
              <a:t>(</a:t>
            </a:r>
            <a:r>
              <a:rPr kumimoji="1" lang="en-US" altLang="zh-CN" sz="3200" b="1" i="1" dirty="0">
                <a:solidFill>
                  <a:srgbClr val="0070C0"/>
                </a:solidFill>
                <a:latin typeface="Times New Roman" pitchFamily="18" charset="0"/>
              </a:rPr>
              <a:t>r</a:t>
            </a:r>
            <a:r>
              <a:rPr kumimoji="1" lang="en-US" altLang="zh-CN" sz="3200" b="1" dirty="0">
                <a:solidFill>
                  <a:srgbClr val="0070C0"/>
                </a:solidFill>
                <a:latin typeface="Times New Roman" pitchFamily="18" charset="0"/>
              </a:rPr>
              <a:t>)</a:t>
            </a:r>
            <a:r>
              <a:rPr kumimoji="1" lang="en-US" altLang="zh-CN" sz="3200" b="1" baseline="30000" dirty="0">
                <a:solidFill>
                  <a:srgbClr val="0070C0"/>
                </a:solidFill>
                <a:latin typeface="Times New Roman" pitchFamily="18" charset="0"/>
              </a:rPr>
              <a:t>2</a:t>
            </a:r>
          </a:p>
        </p:txBody>
      </p:sp>
    </p:spTree>
    <p:extLst>
      <p:ext uri="{BB962C8B-B14F-4D97-AF65-F5344CB8AC3E}">
        <p14:creationId xmlns:p14="http://schemas.microsoft.com/office/powerpoint/2010/main" val="4206977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6485">
                                            <p:txEl>
                                              <p:pRg st="2" end="2"/>
                                            </p:txEl>
                                          </p:spTgt>
                                        </p:tgtEl>
                                        <p:attrNameLst>
                                          <p:attrName>style.visibility</p:attrName>
                                        </p:attrNameLst>
                                      </p:cBhvr>
                                      <p:to>
                                        <p:strVal val="visible"/>
                                      </p:to>
                                    </p:set>
                                    <p:animEffect transition="in" filter="wipe(left)">
                                      <p:cBhvr>
                                        <p:cTn id="7" dur="250"/>
                                        <p:tgtEl>
                                          <p:spTgt spid="27648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485">
                                            <p:txEl>
                                              <p:pRg st="3" end="3"/>
                                            </p:txEl>
                                          </p:spTgt>
                                        </p:tgtEl>
                                        <p:attrNameLst>
                                          <p:attrName>style.visibility</p:attrName>
                                        </p:attrNameLst>
                                      </p:cBhvr>
                                      <p:to>
                                        <p:strVal val="visible"/>
                                      </p:to>
                                    </p:set>
                                    <p:animEffect transition="in" filter="wipe(left)">
                                      <p:cBhvr>
                                        <p:cTn id="12" dur="250"/>
                                        <p:tgtEl>
                                          <p:spTgt spid="2764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5" grpId="0" uiExpand="1"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9" name="日期占位符 6"/>
          <p:cNvSpPr>
            <a:spLocks noGrp="1"/>
          </p:cNvSpPr>
          <p:nvPr>
            <p:ph type="dt" sz="half" idx="10"/>
          </p:nvPr>
        </p:nvSpPr>
        <p:spPr>
          <a:noFill/>
        </p:spPr>
        <p:txBody>
          <a:bodyPr/>
          <a:lstStyle/>
          <a:p>
            <a:endParaRPr lang="en-US" altLang="zh-CN" dirty="0"/>
          </a:p>
        </p:txBody>
      </p:sp>
      <p:sp>
        <p:nvSpPr>
          <p:cNvPr id="28676" name="Rectangle 2"/>
          <p:cNvSpPr>
            <a:spLocks noGrp="1" noChangeArrowheads="1"/>
          </p:cNvSpPr>
          <p:nvPr>
            <p:ph type="title"/>
          </p:nvPr>
        </p:nvSpPr>
        <p:spPr>
          <a:xfrm>
            <a:off x="1797844" y="677986"/>
            <a:ext cx="8451850" cy="662782"/>
          </a:xfrm>
          <a:noFill/>
        </p:spPr>
        <p:txBody>
          <a:bodyPr/>
          <a:lstStyle/>
          <a:p>
            <a:pPr eaLnBrk="1" hangingPunct="1"/>
            <a:r>
              <a:rPr lang="zh-CN" altLang="en-US" sz="4000" dirty="0"/>
              <a:t>相关系数的另一个计算公式</a:t>
            </a:r>
          </a:p>
        </p:txBody>
      </p:sp>
      <p:graphicFrame>
        <p:nvGraphicFramePr>
          <p:cNvPr id="28674" name="Object 10">
            <a:hlinkClick r:id="" action="ppaction://ole?verb=0"/>
          </p:cNvPr>
          <p:cNvGraphicFramePr>
            <a:graphicFrameLocks noGrp="1"/>
          </p:cNvGraphicFramePr>
          <p:nvPr>
            <p:ph idx="1"/>
            <p:extLst>
              <p:ext uri="{D42A27DB-BD31-4B8C-83A1-F6EECF244321}">
                <p14:modId xmlns:p14="http://schemas.microsoft.com/office/powerpoint/2010/main" val="2850430692"/>
              </p:ext>
            </p:extLst>
          </p:nvPr>
        </p:nvGraphicFramePr>
        <p:xfrm>
          <a:off x="3975100" y="3320412"/>
          <a:ext cx="2730500" cy="1003938"/>
        </p:xfrm>
        <a:graphic>
          <a:graphicData uri="http://schemas.openxmlformats.org/presentationml/2006/ole">
            <mc:AlternateContent xmlns:mc="http://schemas.openxmlformats.org/markup-compatibility/2006">
              <mc:Choice xmlns:v="urn:schemas-microsoft-com:vml" Requires="v">
                <p:oleObj name="Equation" r:id="rId2" imgW="1143000" imgH="444240" progId="Equation.DSMT4">
                  <p:embed/>
                </p:oleObj>
              </mc:Choice>
              <mc:Fallback>
                <p:oleObj name="Equation" r:id="rId2" imgW="1143000" imgH="444240" progId="Equation.DSMT4">
                  <p:embed/>
                  <p:pic>
                    <p:nvPicPr>
                      <p:cNvPr id="28674" name="Object 10">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100" y="3320412"/>
                        <a:ext cx="2730500" cy="1003938"/>
                      </a:xfrm>
                      <a:prstGeom prst="rect">
                        <a:avLst/>
                      </a:prstGeom>
                      <a:noFill/>
                      <a:ln>
                        <a:noFill/>
                      </a:ln>
                      <a:effectLst>
                        <a:outerShdw dist="17961" dir="2700000" algn="ctr" rotWithShape="0">
                          <a:schemeClr val="bg2"/>
                        </a:outerShdw>
                      </a:effectLst>
                    </p:spPr>
                  </p:pic>
                </p:oleObj>
              </mc:Fallback>
            </mc:AlternateContent>
          </a:graphicData>
        </a:graphic>
      </p:graphicFrame>
      <p:sp>
        <p:nvSpPr>
          <p:cNvPr id="28675" name="灯片编号占位符 5"/>
          <p:cNvSpPr>
            <a:spLocks noGrp="1"/>
          </p:cNvSpPr>
          <p:nvPr>
            <p:ph type="sldNum" sz="quarter" idx="4"/>
          </p:nvPr>
        </p:nvSpPr>
        <p:spPr>
          <a:noFill/>
        </p:spPr>
        <p:txBody>
          <a:bodyPr/>
          <a:lstStyle/>
          <a:p>
            <a:r>
              <a:rPr lang="en-US" altLang="zh-CN" dirty="0"/>
              <a:t>9--</a:t>
            </a:r>
            <a:fld id="{0EC3B020-BF2F-46A2-9CF6-994831EB2139}" type="slidenum">
              <a:rPr lang="en-US" altLang="zh-CN" smtClean="0"/>
              <a:pPr/>
              <a:t>62</a:t>
            </a:fld>
            <a:endParaRPr lang="en-US" altLang="zh-CN" dirty="0"/>
          </a:p>
        </p:txBody>
      </p:sp>
      <p:sp>
        <p:nvSpPr>
          <p:cNvPr id="28677" name="Text Box 9"/>
          <p:cNvSpPr txBox="1">
            <a:spLocks noChangeArrowheads="1"/>
          </p:cNvSpPr>
          <p:nvPr/>
        </p:nvSpPr>
        <p:spPr bwMode="auto">
          <a:xfrm>
            <a:off x="2118519" y="1472562"/>
            <a:ext cx="7345362" cy="1847850"/>
          </a:xfrm>
          <a:prstGeom prst="rect">
            <a:avLst/>
          </a:prstGeom>
          <a:noFill/>
          <a:ln w="9525">
            <a:noFill/>
            <a:miter lim="800000"/>
            <a:headEnd/>
            <a:tailEnd/>
          </a:ln>
        </p:spPr>
        <p:txBody>
          <a:bodyPr>
            <a:spAutoFit/>
          </a:bodyPr>
          <a:lstStyle/>
          <a:p>
            <a:pPr>
              <a:lnSpc>
                <a:spcPct val="120000"/>
              </a:lnSpc>
              <a:spcBef>
                <a:spcPct val="30000"/>
              </a:spcBef>
            </a:pPr>
            <a:r>
              <a:rPr lang="zh-CN" altLang="en-US" sz="2800" b="1" dirty="0"/>
              <a:t>在直线相关的条件下，由于</a:t>
            </a:r>
            <a:r>
              <a:rPr lang="en-US" altLang="zh-CN" sz="2800" b="1" i="1" dirty="0">
                <a:latin typeface="Times New Roman" pitchFamily="18" charset="0"/>
              </a:rPr>
              <a:t>r</a:t>
            </a:r>
            <a:r>
              <a:rPr lang="en-US" altLang="zh-CN" sz="2800" b="1" baseline="30000" dirty="0"/>
              <a:t>2</a:t>
            </a:r>
            <a:r>
              <a:rPr lang="zh-CN" altLang="en-US" sz="2800" b="1" dirty="0"/>
              <a:t>是简单线性相关系数的平方，所以：</a:t>
            </a:r>
          </a:p>
          <a:p>
            <a:pPr>
              <a:lnSpc>
                <a:spcPct val="120000"/>
              </a:lnSpc>
              <a:spcBef>
                <a:spcPct val="30000"/>
              </a:spcBef>
            </a:pPr>
            <a:r>
              <a:rPr lang="zh-CN" altLang="en-US" sz="2800" b="1" dirty="0">
                <a:solidFill>
                  <a:srgbClr val="FF00FF"/>
                </a:solidFill>
              </a:rPr>
              <a:t>         </a:t>
            </a:r>
            <a:r>
              <a:rPr lang="zh-CN" altLang="en-US" sz="3200" b="1" dirty="0">
                <a:solidFill>
                  <a:srgbClr val="FF00FF"/>
                </a:solidFill>
              </a:rPr>
              <a:t>相关系数</a:t>
            </a:r>
            <a:r>
              <a:rPr lang="en-US" altLang="zh-CN" sz="3200" b="1" dirty="0">
                <a:solidFill>
                  <a:srgbClr val="FF00FF"/>
                </a:solidFill>
              </a:rPr>
              <a:t>=</a:t>
            </a:r>
            <a:r>
              <a:rPr lang="zh-CN" altLang="en-US" sz="3200" b="1" dirty="0">
                <a:solidFill>
                  <a:srgbClr val="FF00FF"/>
                </a:solidFill>
              </a:rPr>
              <a:t>判定系数的平方根</a:t>
            </a:r>
            <a:endParaRPr lang="zh-CN" altLang="en-US" sz="3200" b="1" dirty="0"/>
          </a:p>
        </p:txBody>
      </p:sp>
      <p:sp>
        <p:nvSpPr>
          <p:cNvPr id="28678" name="Rectangle 13"/>
          <p:cNvSpPr>
            <a:spLocks noChangeArrowheads="1"/>
          </p:cNvSpPr>
          <p:nvPr/>
        </p:nvSpPr>
        <p:spPr bwMode="auto">
          <a:xfrm>
            <a:off x="1797844" y="4552886"/>
            <a:ext cx="7841456" cy="1717393"/>
          </a:xfrm>
          <a:prstGeom prst="rect">
            <a:avLst/>
          </a:prstGeom>
          <a:noFill/>
          <a:ln w="9525">
            <a:noFill/>
            <a:miter lim="800000"/>
            <a:headEnd/>
            <a:tailEnd/>
          </a:ln>
        </p:spPr>
        <p:txBody>
          <a:bodyPr wrap="square">
            <a:spAutoFit/>
          </a:bodyPr>
          <a:lstStyle/>
          <a:p>
            <a:pPr lvl="1">
              <a:lnSpc>
                <a:spcPct val="110000"/>
              </a:lnSpc>
              <a:buFontTx/>
              <a:buChar char="•"/>
            </a:pPr>
            <a:r>
              <a:rPr lang="en-US" altLang="zh-CN" sz="3200" b="1" dirty="0">
                <a:solidFill>
                  <a:schemeClr val="tx2"/>
                </a:solidFill>
              </a:rPr>
              <a:t> </a:t>
            </a:r>
            <a:r>
              <a:rPr lang="zh-CN" altLang="en-US" sz="3200" b="1" dirty="0">
                <a:solidFill>
                  <a:schemeClr val="tx2"/>
                </a:solidFill>
              </a:rPr>
              <a:t>但不能判明相关方向，须通过</a:t>
            </a:r>
            <a:r>
              <a:rPr lang="zh-CN" altLang="en-US" sz="3200" b="1" u="sng" dirty="0">
                <a:solidFill>
                  <a:srgbClr val="C00000"/>
                </a:solidFill>
              </a:rPr>
              <a:t>其他方法</a:t>
            </a:r>
            <a:r>
              <a:rPr lang="zh-CN" altLang="en-US" sz="3200" b="1" dirty="0">
                <a:solidFill>
                  <a:schemeClr val="tx2"/>
                </a:solidFill>
              </a:rPr>
              <a:t>确定相关系数的正负。</a:t>
            </a:r>
          </a:p>
          <a:p>
            <a:pPr lvl="1">
              <a:lnSpc>
                <a:spcPct val="110000"/>
              </a:lnSpc>
              <a:buFontTx/>
              <a:buChar char="•"/>
            </a:pPr>
            <a:r>
              <a:rPr lang="zh-CN" altLang="en-US" sz="3200" b="1" dirty="0">
                <a:solidFill>
                  <a:schemeClr val="tx2"/>
                </a:solidFill>
              </a:rPr>
              <a:t> 可用于测定多元、非线性的相关程度。</a:t>
            </a:r>
          </a:p>
        </p:txBody>
      </p:sp>
    </p:spTree>
    <p:extLst>
      <p:ext uri="{BB962C8B-B14F-4D97-AF65-F5344CB8AC3E}">
        <p14:creationId xmlns:p14="http://schemas.microsoft.com/office/powerpoint/2010/main" val="2318297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4" name="日期占位符 7"/>
          <p:cNvSpPr>
            <a:spLocks noGrp="1"/>
          </p:cNvSpPr>
          <p:nvPr>
            <p:ph type="dt" sz="half" idx="10"/>
          </p:nvPr>
        </p:nvSpPr>
        <p:spPr>
          <a:noFill/>
        </p:spPr>
        <p:txBody>
          <a:bodyPr/>
          <a:lstStyle/>
          <a:p>
            <a:endParaRPr lang="en-US" altLang="zh-CN" dirty="0"/>
          </a:p>
        </p:txBody>
      </p:sp>
      <p:sp>
        <p:nvSpPr>
          <p:cNvPr id="29701" name="Rectangle 2"/>
          <p:cNvSpPr>
            <a:spLocks noGrp="1" noChangeArrowheads="1"/>
          </p:cNvSpPr>
          <p:nvPr>
            <p:ph type="title"/>
          </p:nvPr>
        </p:nvSpPr>
        <p:spPr>
          <a:xfrm>
            <a:off x="1917700" y="630415"/>
            <a:ext cx="6248400" cy="662782"/>
          </a:xfrm>
        </p:spPr>
        <p:txBody>
          <a:bodyPr/>
          <a:lstStyle/>
          <a:p>
            <a:pPr eaLnBrk="1" hangingPunct="1"/>
            <a:r>
              <a:rPr lang="en-US" altLang="zh-CN" dirty="0"/>
              <a:t>2.</a:t>
            </a:r>
            <a:r>
              <a:rPr lang="zh-CN" altLang="en-US" dirty="0"/>
              <a:t>回归估计的标准误差 </a:t>
            </a:r>
          </a:p>
        </p:txBody>
      </p:sp>
      <p:sp>
        <p:nvSpPr>
          <p:cNvPr id="29702" name="Rectangle 3"/>
          <p:cNvSpPr>
            <a:spLocks noGrp="1" noChangeArrowheads="1"/>
          </p:cNvSpPr>
          <p:nvPr>
            <p:ph idx="1"/>
          </p:nvPr>
        </p:nvSpPr>
        <p:spPr>
          <a:xfrm>
            <a:off x="2231391" y="4771469"/>
            <a:ext cx="7573010" cy="1539874"/>
          </a:xfrm>
        </p:spPr>
        <p:txBody>
          <a:bodyPr>
            <a:noAutofit/>
          </a:bodyPr>
          <a:lstStyle/>
          <a:p>
            <a:pPr marL="0" indent="0" eaLnBrk="1" hangingPunct="1">
              <a:lnSpc>
                <a:spcPct val="150000"/>
              </a:lnSpc>
              <a:buNone/>
            </a:pPr>
            <a:r>
              <a:rPr lang="zh-CN" altLang="en-US" sz="2800" b="1" dirty="0"/>
              <a:t>在最小二乘估计的基础上，上式是残差项 </a:t>
            </a:r>
            <a:r>
              <a:rPr lang="el-GR" altLang="zh-CN" sz="3600" b="1" i="1" dirty="0">
                <a:solidFill>
                  <a:srgbClr val="C00000"/>
                </a:solidFill>
                <a:latin typeface="Times New Roman" pitchFamily="18" charset="0"/>
                <a:cs typeface="Times New Roman" pitchFamily="18" charset="0"/>
              </a:rPr>
              <a:t>ε</a:t>
            </a:r>
            <a:r>
              <a:rPr lang="en-US" altLang="zh-CN" b="1" i="1" dirty="0">
                <a:solidFill>
                  <a:schemeClr val="tx2"/>
                </a:solidFill>
                <a:latin typeface="Times New Roman" pitchFamily="18" charset="0"/>
                <a:cs typeface="Times New Roman" pitchFamily="18" charset="0"/>
              </a:rPr>
              <a:t> </a:t>
            </a:r>
            <a:r>
              <a:rPr lang="zh-CN" altLang="en-US" sz="2800" b="1" dirty="0"/>
              <a:t>的方差</a:t>
            </a:r>
            <a:r>
              <a:rPr lang="el-GR" altLang="zh-CN" b="1" i="1" dirty="0">
                <a:latin typeface="宋体" pitchFamily="2" charset="-122"/>
              </a:rPr>
              <a:t>σ</a:t>
            </a:r>
            <a:r>
              <a:rPr lang="zh-CN" altLang="en-US" sz="2800" b="1" baseline="30000" dirty="0">
                <a:latin typeface="宋体" pitchFamily="2" charset="-122"/>
              </a:rPr>
              <a:t>２</a:t>
            </a:r>
            <a:r>
              <a:rPr lang="zh-CN" altLang="en-US" sz="2800" b="1" dirty="0"/>
              <a:t>的无偏估计。</a:t>
            </a:r>
          </a:p>
        </p:txBody>
      </p:sp>
      <p:sp>
        <p:nvSpPr>
          <p:cNvPr id="29700" name="灯片编号占位符 5"/>
          <p:cNvSpPr>
            <a:spLocks noGrp="1"/>
          </p:cNvSpPr>
          <p:nvPr>
            <p:ph type="sldNum" sz="quarter" idx="4"/>
          </p:nvPr>
        </p:nvSpPr>
        <p:spPr>
          <a:noFill/>
        </p:spPr>
        <p:txBody>
          <a:bodyPr/>
          <a:lstStyle/>
          <a:p>
            <a:r>
              <a:rPr lang="en-US" altLang="zh-CN" dirty="0"/>
              <a:t>9--</a:t>
            </a:r>
            <a:fld id="{2B6F4CEE-EF46-48DC-9E78-A29B089DDB23}" type="slidenum">
              <a:rPr lang="en-US" altLang="zh-CN" smtClean="0"/>
              <a:pPr/>
              <a:t>63</a:t>
            </a:fld>
            <a:endParaRPr lang="en-US" altLang="zh-CN" dirty="0"/>
          </a:p>
        </p:txBody>
      </p:sp>
      <p:graphicFrame>
        <p:nvGraphicFramePr>
          <p:cNvPr id="29698" name="Object 4"/>
          <p:cNvGraphicFramePr>
            <a:graphicFrameLocks noChangeAspect="1"/>
          </p:cNvGraphicFramePr>
          <p:nvPr>
            <p:extLst>
              <p:ext uri="{D42A27DB-BD31-4B8C-83A1-F6EECF244321}">
                <p14:modId xmlns:p14="http://schemas.microsoft.com/office/powerpoint/2010/main" val="337308170"/>
              </p:ext>
            </p:extLst>
          </p:nvPr>
        </p:nvGraphicFramePr>
        <p:xfrm>
          <a:off x="2349501" y="3034858"/>
          <a:ext cx="4103687" cy="1524000"/>
        </p:xfrm>
        <a:graphic>
          <a:graphicData uri="http://schemas.openxmlformats.org/presentationml/2006/ole">
            <mc:AlternateContent xmlns:mc="http://schemas.openxmlformats.org/markup-compatibility/2006">
              <mc:Choice xmlns:v="urn:schemas-microsoft-com:vml" Requires="v">
                <p:oleObj name="Equation" r:id="rId2" imgW="1168200" imgH="431640" progId="Equation.DSMT4">
                  <p:embed/>
                </p:oleObj>
              </mc:Choice>
              <mc:Fallback>
                <p:oleObj name="Equation" r:id="rId2" imgW="1168200" imgH="431640" progId="Equation.DSMT4">
                  <p:embed/>
                  <p:pic>
                    <p:nvPicPr>
                      <p:cNvPr id="296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1" y="3034858"/>
                        <a:ext cx="4103687"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699" name="Object 7">
            <a:hlinkClick r:id="" action="ppaction://ole?verb=0"/>
          </p:cNvPr>
          <p:cNvGraphicFramePr>
            <a:graphicFrameLocks/>
          </p:cNvGraphicFramePr>
          <p:nvPr>
            <p:extLst>
              <p:ext uri="{D42A27DB-BD31-4B8C-83A1-F6EECF244321}">
                <p14:modId xmlns:p14="http://schemas.microsoft.com/office/powerpoint/2010/main" val="608810170"/>
              </p:ext>
            </p:extLst>
          </p:nvPr>
        </p:nvGraphicFramePr>
        <p:xfrm>
          <a:off x="6453188" y="2614642"/>
          <a:ext cx="2807989" cy="1944216"/>
        </p:xfrm>
        <a:graphic>
          <a:graphicData uri="http://schemas.openxmlformats.org/presentationml/2006/ole">
            <mc:AlternateContent xmlns:mc="http://schemas.openxmlformats.org/markup-compatibility/2006">
              <mc:Choice xmlns:v="urn:schemas-microsoft-com:vml" Requires="v">
                <p:oleObj name="Equation" r:id="rId4" imgW="939600" imgH="609480" progId="Equation.DSMT4">
                  <p:embed/>
                </p:oleObj>
              </mc:Choice>
              <mc:Fallback>
                <p:oleObj name="Equation" r:id="rId4" imgW="939600" imgH="609480" progId="Equation.DSMT4">
                  <p:embed/>
                  <p:pic>
                    <p:nvPicPr>
                      <p:cNvPr id="29699" name="Object 7">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3188" y="2614642"/>
                        <a:ext cx="2807989" cy="1944216"/>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9703" name="Rectangle 9"/>
          <p:cNvSpPr>
            <a:spLocks noChangeArrowheads="1"/>
          </p:cNvSpPr>
          <p:nvPr/>
        </p:nvSpPr>
        <p:spPr bwMode="auto">
          <a:xfrm>
            <a:off x="1649476" y="1293197"/>
            <a:ext cx="8356599" cy="1080939"/>
          </a:xfrm>
          <a:prstGeom prst="rect">
            <a:avLst/>
          </a:prstGeom>
          <a:noFill/>
          <a:ln w="9525">
            <a:noFill/>
            <a:miter lim="800000"/>
            <a:headEnd/>
            <a:tailEnd/>
          </a:ln>
        </p:spPr>
        <p:txBody>
          <a:bodyPr/>
          <a:lstStyle/>
          <a:p>
            <a:pPr>
              <a:lnSpc>
                <a:spcPct val="150000"/>
              </a:lnSpc>
              <a:spcBef>
                <a:spcPct val="20000"/>
              </a:spcBef>
              <a:buSzPct val="90000"/>
            </a:pPr>
            <a:r>
              <a:rPr lang="zh-CN" altLang="en-US" sz="3200" b="1" dirty="0">
                <a:latin typeface="Tahoma" pitchFamily="34" charset="0"/>
              </a:rPr>
              <a:t>     为了反映因变量的实际值与回归估计值的离差（残差）的平均水平，可计算</a:t>
            </a:r>
            <a:r>
              <a:rPr lang="zh-CN" altLang="en-US" sz="3200" b="1" dirty="0">
                <a:solidFill>
                  <a:srgbClr val="C00000"/>
                </a:solidFill>
                <a:latin typeface="Tahoma" pitchFamily="34" charset="0"/>
              </a:rPr>
              <a:t>均方误差</a:t>
            </a:r>
            <a:r>
              <a:rPr lang="en-US" altLang="zh-CN" sz="3200" b="1" i="1" dirty="0">
                <a:solidFill>
                  <a:srgbClr val="C00000"/>
                </a:solidFill>
                <a:latin typeface="Times New Roman" pitchFamily="18" charset="0"/>
              </a:rPr>
              <a:t>MSE</a:t>
            </a:r>
            <a:r>
              <a:rPr lang="zh-CN" altLang="en-US" sz="3200" b="1" dirty="0">
                <a:latin typeface="Tahoma" pitchFamily="34" charset="0"/>
              </a:rPr>
              <a:t>：</a:t>
            </a:r>
          </a:p>
        </p:txBody>
      </p:sp>
    </p:spTree>
    <p:extLst>
      <p:ext uri="{BB962C8B-B14F-4D97-AF65-F5344CB8AC3E}">
        <p14:creationId xmlns:p14="http://schemas.microsoft.com/office/powerpoint/2010/main" val="470644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日期占位符 6"/>
          <p:cNvSpPr>
            <a:spLocks noGrp="1"/>
          </p:cNvSpPr>
          <p:nvPr>
            <p:ph type="dt" sz="half" idx="10"/>
          </p:nvPr>
        </p:nvSpPr>
        <p:spPr>
          <a:noFill/>
        </p:spPr>
        <p:txBody>
          <a:bodyPr/>
          <a:lstStyle/>
          <a:p>
            <a:endParaRPr lang="en-US" altLang="zh-CN" dirty="0"/>
          </a:p>
        </p:txBody>
      </p:sp>
      <p:sp>
        <p:nvSpPr>
          <p:cNvPr id="30724" name="Rectangle 2"/>
          <p:cNvSpPr>
            <a:spLocks noGrp="1" noChangeArrowheads="1"/>
          </p:cNvSpPr>
          <p:nvPr>
            <p:ph type="title"/>
          </p:nvPr>
        </p:nvSpPr>
        <p:spPr>
          <a:xfrm>
            <a:off x="1651000" y="728666"/>
            <a:ext cx="7670800" cy="662782"/>
          </a:xfrm>
        </p:spPr>
        <p:txBody>
          <a:bodyPr/>
          <a:lstStyle/>
          <a:p>
            <a:pPr eaLnBrk="1" hangingPunct="1"/>
            <a:r>
              <a:rPr lang="en-US" altLang="zh-CN" dirty="0"/>
              <a:t>2.</a:t>
            </a:r>
            <a:r>
              <a:rPr lang="zh-CN" altLang="en-US" dirty="0"/>
              <a:t>回归估计的标准误差（续） </a:t>
            </a:r>
          </a:p>
        </p:txBody>
      </p:sp>
      <p:sp>
        <p:nvSpPr>
          <p:cNvPr id="30725" name="Rectangle 3"/>
          <p:cNvSpPr>
            <a:spLocks noGrp="1" noChangeArrowheads="1"/>
          </p:cNvSpPr>
          <p:nvPr>
            <p:ph idx="1"/>
          </p:nvPr>
        </p:nvSpPr>
        <p:spPr>
          <a:xfrm>
            <a:off x="2146299" y="1504023"/>
            <a:ext cx="6680201" cy="4076461"/>
          </a:xfrm>
        </p:spPr>
        <p:txBody>
          <a:bodyPr/>
          <a:lstStyle/>
          <a:p>
            <a:pPr eaLnBrk="1" hangingPunct="1">
              <a:lnSpc>
                <a:spcPct val="150000"/>
              </a:lnSpc>
            </a:pPr>
            <a:r>
              <a:rPr lang="zh-CN" altLang="en-US" b="1" dirty="0"/>
              <a:t>均方误差（</a:t>
            </a:r>
            <a:r>
              <a:rPr lang="en-US" altLang="zh-CN" b="1" dirty="0"/>
              <a:t>MSE</a:t>
            </a:r>
            <a:r>
              <a:rPr lang="zh-CN" altLang="en-US" b="1" dirty="0"/>
              <a:t>）的平方根也称为</a:t>
            </a:r>
            <a:r>
              <a:rPr lang="zh-CN" altLang="en-US" b="1" dirty="0">
                <a:solidFill>
                  <a:srgbClr val="FF0000"/>
                </a:solidFill>
              </a:rPr>
              <a:t>回归估计的标准误差</a:t>
            </a:r>
            <a:r>
              <a:rPr lang="zh-CN" altLang="en-US" b="1" dirty="0"/>
              <a:t> </a:t>
            </a:r>
          </a:p>
        </p:txBody>
      </p:sp>
      <p:sp>
        <p:nvSpPr>
          <p:cNvPr id="30723" name="灯片编号占位符 5"/>
          <p:cNvSpPr>
            <a:spLocks noGrp="1"/>
          </p:cNvSpPr>
          <p:nvPr>
            <p:ph type="sldNum" sz="quarter" idx="4"/>
          </p:nvPr>
        </p:nvSpPr>
        <p:spPr>
          <a:noFill/>
        </p:spPr>
        <p:txBody>
          <a:bodyPr/>
          <a:lstStyle/>
          <a:p>
            <a:r>
              <a:rPr lang="en-US" altLang="zh-CN" dirty="0"/>
              <a:t>9--</a:t>
            </a:r>
            <a:fld id="{738136C9-8D03-4E17-B8AE-A86E17C886EA}" type="slidenum">
              <a:rPr lang="en-US" altLang="zh-CN" smtClean="0"/>
              <a:pPr/>
              <a:t>64</a:t>
            </a:fld>
            <a:endParaRPr lang="en-US" altLang="zh-CN" dirty="0"/>
          </a:p>
        </p:txBody>
      </p:sp>
      <p:graphicFrame>
        <p:nvGraphicFramePr>
          <p:cNvPr id="344070" name="Object 6">
            <a:hlinkClick r:id="" action="ppaction://ole?verb=0"/>
          </p:cNvPr>
          <p:cNvGraphicFramePr>
            <a:graphicFrameLocks/>
          </p:cNvGraphicFramePr>
          <p:nvPr>
            <p:extLst>
              <p:ext uri="{D42A27DB-BD31-4B8C-83A1-F6EECF244321}">
                <p14:modId xmlns:p14="http://schemas.microsoft.com/office/powerpoint/2010/main" val="2414365690"/>
              </p:ext>
            </p:extLst>
          </p:nvPr>
        </p:nvGraphicFramePr>
        <p:xfrm>
          <a:off x="2481548" y="3310262"/>
          <a:ext cx="6696743" cy="2520280"/>
        </p:xfrm>
        <a:graphic>
          <a:graphicData uri="http://schemas.openxmlformats.org/presentationml/2006/ole">
            <mc:AlternateContent xmlns:mc="http://schemas.openxmlformats.org/markup-compatibility/2006">
              <mc:Choice xmlns:v="urn:schemas-microsoft-com:vml" Requires="v">
                <p:oleObj name="Equation" r:id="rId2" imgW="2108160" imgH="660240" progId="Equation.DSMT4">
                  <p:embed/>
                </p:oleObj>
              </mc:Choice>
              <mc:Fallback>
                <p:oleObj name="Equation" r:id="rId2" imgW="2108160" imgH="660240" progId="Equation.DSMT4">
                  <p:embed/>
                  <p:pic>
                    <p:nvPicPr>
                      <p:cNvPr id="344070" name="Object 6">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548" y="3310262"/>
                        <a:ext cx="6696743" cy="252028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1075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4070"/>
                                        </p:tgtEl>
                                        <p:attrNameLst>
                                          <p:attrName>style.visibility</p:attrName>
                                        </p:attrNameLst>
                                      </p:cBhvr>
                                      <p:to>
                                        <p:strVal val="visible"/>
                                      </p:to>
                                    </p:set>
                                    <p:animEffect transition="in" filter="wipe(left)">
                                      <p:cBhvr>
                                        <p:cTn id="7" dur="1000"/>
                                        <p:tgtEl>
                                          <p:spTgt spid="344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7" name="日期占位符 4"/>
          <p:cNvSpPr>
            <a:spLocks noGrp="1"/>
          </p:cNvSpPr>
          <p:nvPr>
            <p:ph type="dt" sz="half" idx="10"/>
          </p:nvPr>
        </p:nvSpPr>
        <p:spPr>
          <a:noFill/>
        </p:spPr>
        <p:txBody>
          <a:bodyPr/>
          <a:lstStyle/>
          <a:p>
            <a:endParaRPr lang="en-US" altLang="zh-CN" dirty="0"/>
          </a:p>
        </p:txBody>
      </p:sp>
      <p:sp>
        <p:nvSpPr>
          <p:cNvPr id="95235" name="Rectangle 2"/>
          <p:cNvSpPr>
            <a:spLocks noGrp="1" noChangeArrowheads="1"/>
          </p:cNvSpPr>
          <p:nvPr>
            <p:ph type="title"/>
          </p:nvPr>
        </p:nvSpPr>
        <p:spPr>
          <a:xfrm>
            <a:off x="1919288" y="584201"/>
            <a:ext cx="7823200" cy="662782"/>
          </a:xfrm>
        </p:spPr>
        <p:txBody>
          <a:bodyPr/>
          <a:lstStyle/>
          <a:p>
            <a:pPr eaLnBrk="1" hangingPunct="1"/>
            <a:r>
              <a:rPr lang="zh-CN" altLang="en-US" dirty="0"/>
              <a:t>回归估计标准差的作用</a:t>
            </a:r>
          </a:p>
        </p:txBody>
      </p:sp>
      <p:sp>
        <p:nvSpPr>
          <p:cNvPr id="95234" name="灯片编号占位符 5"/>
          <p:cNvSpPr>
            <a:spLocks noGrp="1"/>
          </p:cNvSpPr>
          <p:nvPr>
            <p:ph type="sldNum" sz="quarter" idx="4"/>
          </p:nvPr>
        </p:nvSpPr>
        <p:spPr>
          <a:noFill/>
        </p:spPr>
        <p:txBody>
          <a:bodyPr/>
          <a:lstStyle/>
          <a:p>
            <a:r>
              <a:rPr lang="en-US" altLang="zh-CN" dirty="0"/>
              <a:t>9--</a:t>
            </a:r>
            <a:fld id="{D178A07A-F26F-42CE-A6E6-EC4545064BCE}" type="slidenum">
              <a:rPr lang="en-US" altLang="zh-CN" smtClean="0"/>
              <a:pPr/>
              <a:t>65</a:t>
            </a:fld>
            <a:endParaRPr lang="en-US" altLang="zh-CN" dirty="0"/>
          </a:p>
        </p:txBody>
      </p:sp>
      <p:sp>
        <p:nvSpPr>
          <p:cNvPr id="343043" name="Rectangle 3"/>
          <p:cNvSpPr>
            <a:spLocks noChangeArrowheads="1"/>
          </p:cNvSpPr>
          <p:nvPr/>
        </p:nvSpPr>
        <p:spPr bwMode="auto">
          <a:xfrm>
            <a:off x="1919288" y="1484313"/>
            <a:ext cx="8305800" cy="4056062"/>
          </a:xfrm>
          <a:prstGeom prst="rect">
            <a:avLst/>
          </a:prstGeom>
          <a:noFill/>
          <a:ln w="12700">
            <a:noFill/>
            <a:miter lim="800000"/>
            <a:headEnd/>
            <a:tailEnd/>
          </a:ln>
        </p:spPr>
        <p:txBody>
          <a:bodyPr>
            <a:spAutoFit/>
          </a:bodyPr>
          <a:lstStyle/>
          <a:p>
            <a:pPr marL="457200" indent="-457200" eaLnBrk="0" hangingPunct="0">
              <a:lnSpc>
                <a:spcPct val="120000"/>
              </a:lnSpc>
              <a:spcBef>
                <a:spcPct val="30000"/>
              </a:spcBef>
              <a:buFontTx/>
              <a:buAutoNum type="arabicPeriod"/>
            </a:pPr>
            <a:r>
              <a:rPr kumimoji="1" lang="zh-CN" altLang="en-US" sz="3000" b="1" dirty="0">
                <a:solidFill>
                  <a:srgbClr val="000000"/>
                </a:solidFill>
                <a:latin typeface="Times New Roman" pitchFamily="18" charset="0"/>
              </a:rPr>
              <a:t>反映实际观察值在回归直线周围的分散状况；</a:t>
            </a:r>
            <a:r>
              <a:rPr kumimoji="1" lang="zh-CN" altLang="en-US" sz="2800" b="1" dirty="0">
                <a:solidFill>
                  <a:srgbClr val="000000"/>
                </a:solidFill>
                <a:latin typeface="Times New Roman" pitchFamily="18" charset="0"/>
              </a:rPr>
              <a:t>反映因变量各实际值与其回归估计值之间的平均差异程度；</a:t>
            </a:r>
            <a:endParaRPr kumimoji="1" lang="zh-CN" altLang="en-US" sz="3000" b="1" dirty="0">
              <a:solidFill>
                <a:srgbClr val="000000"/>
              </a:solidFill>
              <a:latin typeface="Times New Roman" pitchFamily="18" charset="0"/>
            </a:endParaRPr>
          </a:p>
          <a:p>
            <a:pPr marL="457200" indent="-457200" eaLnBrk="0" hangingPunct="0">
              <a:lnSpc>
                <a:spcPct val="120000"/>
              </a:lnSpc>
              <a:spcBef>
                <a:spcPct val="30000"/>
              </a:spcBef>
              <a:buFontTx/>
              <a:buAutoNum type="arabicPeriod"/>
            </a:pPr>
            <a:r>
              <a:rPr kumimoji="1" lang="zh-CN" altLang="en-US" sz="3000" b="1" dirty="0">
                <a:solidFill>
                  <a:srgbClr val="000000"/>
                </a:solidFill>
                <a:latin typeface="Times New Roman" pitchFamily="18" charset="0"/>
              </a:rPr>
              <a:t>说明了回归直线的拟合程度（衡量回归方程的代表性，</a:t>
            </a:r>
            <a:r>
              <a:rPr kumimoji="1" lang="zh-CN" altLang="en-US" sz="2800" b="1" dirty="0">
                <a:solidFill>
                  <a:srgbClr val="000000"/>
                </a:solidFill>
                <a:latin typeface="Times New Roman" pitchFamily="18" charset="0"/>
              </a:rPr>
              <a:t>测定回归估计的精度</a:t>
            </a:r>
            <a:r>
              <a:rPr kumimoji="1" lang="zh-CN" altLang="en-US" sz="3000" b="1" dirty="0">
                <a:solidFill>
                  <a:srgbClr val="000000"/>
                </a:solidFill>
                <a:latin typeface="Times New Roman" pitchFamily="18" charset="0"/>
              </a:rPr>
              <a:t>）</a:t>
            </a:r>
          </a:p>
          <a:p>
            <a:pPr lvl="1" eaLnBrk="0" hangingPunct="0">
              <a:lnSpc>
                <a:spcPct val="120000"/>
              </a:lnSpc>
              <a:spcBef>
                <a:spcPct val="30000"/>
              </a:spcBef>
            </a:pPr>
            <a:r>
              <a:rPr kumimoji="1" lang="zh-CN" altLang="en-US" sz="2800" b="1" dirty="0">
                <a:solidFill>
                  <a:schemeClr val="tx2"/>
                </a:solidFill>
                <a:latin typeface="Times New Roman" pitchFamily="18" charset="0"/>
              </a:rPr>
              <a:t>      其值越小，估计值（或回归方程）的代表性越强，用回归方程估计或预测的结果越准确</a:t>
            </a:r>
            <a:endParaRPr kumimoji="1" lang="zh-CN" altLang="en-US" sz="3000" b="1" dirty="0">
              <a:solidFill>
                <a:schemeClr val="tx2"/>
              </a:solidFill>
              <a:latin typeface="Times New Roman" pitchFamily="18" charset="0"/>
            </a:endParaRPr>
          </a:p>
        </p:txBody>
      </p:sp>
    </p:spTree>
    <p:extLst>
      <p:ext uri="{BB962C8B-B14F-4D97-AF65-F5344CB8AC3E}">
        <p14:creationId xmlns:p14="http://schemas.microsoft.com/office/powerpoint/2010/main" val="287678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3043">
                                            <p:txEl>
                                              <p:pRg st="1" end="1"/>
                                            </p:txEl>
                                          </p:spTgt>
                                        </p:tgtEl>
                                        <p:attrNameLst>
                                          <p:attrName>style.visibility</p:attrName>
                                        </p:attrNameLst>
                                      </p:cBhvr>
                                      <p:to>
                                        <p:strVal val="visible"/>
                                      </p:to>
                                    </p:set>
                                    <p:animEffect transition="in" filter="wipe(left)">
                                      <p:cBhvr>
                                        <p:cTn id="7" dur="500"/>
                                        <p:tgtEl>
                                          <p:spTgt spid="343043">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3043">
                                            <p:txEl>
                                              <p:pRg st="2" end="2"/>
                                            </p:txEl>
                                          </p:spTgt>
                                        </p:tgtEl>
                                        <p:attrNameLst>
                                          <p:attrName>style.visibility</p:attrName>
                                        </p:attrNameLst>
                                      </p:cBhvr>
                                      <p:to>
                                        <p:strVal val="visible"/>
                                      </p:to>
                                    </p:set>
                                    <p:animEffect transition="in" filter="wipe(left)">
                                      <p:cBhvr>
                                        <p:cTn id="10" dur="500"/>
                                        <p:tgtEl>
                                          <p:spTgt spid="343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日期占位符 4"/>
          <p:cNvSpPr>
            <a:spLocks noGrp="1"/>
          </p:cNvSpPr>
          <p:nvPr>
            <p:ph type="dt" sz="half" idx="10"/>
          </p:nvPr>
        </p:nvSpPr>
        <p:spPr>
          <a:noFill/>
        </p:spPr>
        <p:txBody>
          <a:bodyPr/>
          <a:lstStyle/>
          <a:p>
            <a:endParaRPr lang="en-US" altLang="zh-CN" dirty="0"/>
          </a:p>
        </p:txBody>
      </p:sp>
      <p:sp>
        <p:nvSpPr>
          <p:cNvPr id="96259" name="Rectangle 2"/>
          <p:cNvSpPr>
            <a:spLocks noGrp="1" noChangeArrowheads="1"/>
          </p:cNvSpPr>
          <p:nvPr>
            <p:ph type="title"/>
          </p:nvPr>
        </p:nvSpPr>
        <p:spPr>
          <a:xfrm>
            <a:off x="1790700" y="246066"/>
            <a:ext cx="9078468" cy="1989134"/>
          </a:xfrm>
        </p:spPr>
        <p:txBody>
          <a:bodyPr>
            <a:normAutofit/>
          </a:bodyPr>
          <a:lstStyle/>
          <a:p>
            <a:pPr>
              <a:lnSpc>
                <a:spcPct val="105000"/>
              </a:lnSpc>
            </a:pPr>
            <a:r>
              <a:rPr lang="zh-CN" altLang="en-US" dirty="0"/>
              <a:t>回归估计标准误差 </a:t>
            </a:r>
            <a:r>
              <a:rPr lang="en-US" altLang="zh-CN" i="1" dirty="0"/>
              <a:t>S</a:t>
            </a:r>
            <a:r>
              <a:rPr lang="en-US" altLang="zh-CN" i="1" baseline="-25000" dirty="0"/>
              <a:t>e</a:t>
            </a:r>
            <a:r>
              <a:rPr lang="zh-CN" altLang="en-US" dirty="0"/>
              <a:t>与一般的标准差的异同</a:t>
            </a:r>
            <a:br>
              <a:rPr lang="en-US" altLang="zh-CN" i="1" baseline="-25000" dirty="0"/>
            </a:br>
            <a:endParaRPr lang="zh-CN" altLang="en-US" dirty="0"/>
          </a:p>
        </p:txBody>
      </p:sp>
      <p:sp>
        <p:nvSpPr>
          <p:cNvPr id="96260" name="Rectangle 3"/>
          <p:cNvSpPr>
            <a:spLocks noGrp="1" noChangeArrowheads="1"/>
          </p:cNvSpPr>
          <p:nvPr>
            <p:ph idx="1"/>
          </p:nvPr>
        </p:nvSpPr>
        <p:spPr>
          <a:xfrm>
            <a:off x="1790700" y="1535176"/>
            <a:ext cx="9867900" cy="4025661"/>
          </a:xfrm>
        </p:spPr>
        <p:txBody>
          <a:bodyPr/>
          <a:lstStyle/>
          <a:p>
            <a:pPr marL="571500" indent="-571500">
              <a:lnSpc>
                <a:spcPct val="120000"/>
              </a:lnSpc>
              <a:spcBef>
                <a:spcPct val="0"/>
              </a:spcBef>
            </a:pPr>
            <a:r>
              <a:rPr lang="zh-CN" altLang="en-US" sz="2800" b="1" dirty="0">
                <a:solidFill>
                  <a:srgbClr val="00B0F0"/>
                </a:solidFill>
                <a:latin typeface="Book Antiqua" pitchFamily="18" charset="0"/>
              </a:rPr>
              <a:t>相同：</a:t>
            </a:r>
          </a:p>
          <a:p>
            <a:pPr marL="971550" lvl="1">
              <a:lnSpc>
                <a:spcPct val="120000"/>
              </a:lnSpc>
              <a:spcBef>
                <a:spcPct val="0"/>
              </a:spcBef>
            </a:pPr>
            <a:r>
              <a:rPr lang="zh-CN" altLang="en-US" dirty="0">
                <a:latin typeface="Book Antiqua" pitchFamily="18" charset="0"/>
              </a:rPr>
              <a:t>都是离差的平方的平均数的平方根；</a:t>
            </a:r>
          </a:p>
          <a:p>
            <a:pPr marL="971550" lvl="1">
              <a:lnSpc>
                <a:spcPct val="120000"/>
              </a:lnSpc>
              <a:spcBef>
                <a:spcPct val="0"/>
              </a:spcBef>
            </a:pPr>
            <a:r>
              <a:rPr lang="zh-CN" altLang="en-US" dirty="0">
                <a:latin typeface="Book Antiqua" pitchFamily="18" charset="0"/>
              </a:rPr>
              <a:t> 反映平均差异程度；</a:t>
            </a:r>
          </a:p>
          <a:p>
            <a:pPr marL="971550" lvl="1">
              <a:lnSpc>
                <a:spcPct val="120000"/>
              </a:lnSpc>
              <a:spcBef>
                <a:spcPct val="0"/>
              </a:spcBef>
            </a:pPr>
            <a:r>
              <a:rPr lang="zh-CN" altLang="en-US" dirty="0">
                <a:latin typeface="Book Antiqua" pitchFamily="18" charset="0"/>
              </a:rPr>
              <a:t>衡量代表性大小。</a:t>
            </a:r>
            <a:endParaRPr lang="zh-CN" altLang="en-US" sz="2400" dirty="0">
              <a:latin typeface="Book Antiqua" pitchFamily="18" charset="0"/>
            </a:endParaRPr>
          </a:p>
          <a:p>
            <a:pPr marL="571500" indent="-571500">
              <a:lnSpc>
                <a:spcPct val="120000"/>
              </a:lnSpc>
              <a:spcBef>
                <a:spcPct val="0"/>
              </a:spcBef>
            </a:pPr>
            <a:r>
              <a:rPr lang="zh-CN" altLang="en-US" sz="2800" b="1" dirty="0">
                <a:solidFill>
                  <a:srgbClr val="00B0F0"/>
                </a:solidFill>
                <a:latin typeface="Book Antiqua" pitchFamily="18" charset="0"/>
              </a:rPr>
              <a:t>主要区别</a:t>
            </a:r>
          </a:p>
          <a:p>
            <a:pPr marL="971550" lvl="1">
              <a:lnSpc>
                <a:spcPct val="120000"/>
              </a:lnSpc>
              <a:spcBef>
                <a:spcPct val="0"/>
              </a:spcBef>
            </a:pPr>
            <a:r>
              <a:rPr lang="zh-CN" altLang="en-US" dirty="0">
                <a:latin typeface="Book Antiqua" pitchFamily="18" charset="0"/>
              </a:rPr>
              <a:t>与什么的离差、差异；</a:t>
            </a:r>
          </a:p>
          <a:p>
            <a:pPr marL="971550" lvl="1">
              <a:lnSpc>
                <a:spcPct val="120000"/>
              </a:lnSpc>
              <a:spcBef>
                <a:spcPct val="0"/>
              </a:spcBef>
            </a:pPr>
            <a:r>
              <a:rPr lang="zh-CN" altLang="en-US" dirty="0">
                <a:latin typeface="Book Antiqua" pitchFamily="18" charset="0"/>
              </a:rPr>
              <a:t>衡量谁的代表性。</a:t>
            </a:r>
            <a:r>
              <a:rPr lang="zh-CN" altLang="en-US" sz="2400" dirty="0">
                <a:latin typeface="Book Antiqua" pitchFamily="18" charset="0"/>
              </a:rPr>
              <a:t>           </a:t>
            </a:r>
          </a:p>
        </p:txBody>
      </p:sp>
      <p:sp>
        <p:nvSpPr>
          <p:cNvPr id="96258" name="灯片编号占位符 5"/>
          <p:cNvSpPr>
            <a:spLocks noGrp="1"/>
          </p:cNvSpPr>
          <p:nvPr>
            <p:ph type="sldNum" sz="quarter" idx="4"/>
          </p:nvPr>
        </p:nvSpPr>
        <p:spPr>
          <a:noFill/>
        </p:spPr>
        <p:txBody>
          <a:bodyPr/>
          <a:lstStyle/>
          <a:p>
            <a:r>
              <a:rPr lang="en-US" altLang="zh-CN" dirty="0"/>
              <a:t>9--</a:t>
            </a:r>
            <a:fld id="{86F946F2-9734-4A2F-8C8A-BB621A1EAE74}" type="slidenum">
              <a:rPr lang="en-US" altLang="zh-CN" smtClean="0"/>
              <a:pPr/>
              <a:t>66</a:t>
            </a:fld>
            <a:endParaRPr lang="en-US" altLang="zh-CN" dirty="0"/>
          </a:p>
        </p:txBody>
      </p:sp>
    </p:spTree>
    <p:extLst>
      <p:ext uri="{BB962C8B-B14F-4D97-AF65-F5344CB8AC3E}">
        <p14:creationId xmlns:p14="http://schemas.microsoft.com/office/powerpoint/2010/main" val="24962211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56" name="日期占位符 11"/>
          <p:cNvSpPr>
            <a:spLocks noGrp="1"/>
          </p:cNvSpPr>
          <p:nvPr>
            <p:ph type="dt" sz="half" idx="10"/>
          </p:nvPr>
        </p:nvSpPr>
        <p:spPr>
          <a:noFill/>
        </p:spPr>
        <p:txBody>
          <a:bodyPr/>
          <a:lstStyle/>
          <a:p>
            <a:endParaRPr lang="en-US" altLang="zh-CN" dirty="0"/>
          </a:p>
        </p:txBody>
      </p:sp>
      <p:sp>
        <p:nvSpPr>
          <p:cNvPr id="31751" name="Rectangle 2"/>
          <p:cNvSpPr>
            <a:spLocks noGrp="1" noChangeArrowheads="1"/>
          </p:cNvSpPr>
          <p:nvPr>
            <p:ph type="title"/>
          </p:nvPr>
        </p:nvSpPr>
        <p:spPr>
          <a:xfrm>
            <a:off x="1708731" y="184666"/>
            <a:ext cx="8059157" cy="1987452"/>
          </a:xfrm>
          <a:noFill/>
        </p:spPr>
        <p:txBody>
          <a:bodyPr>
            <a:normAutofit/>
          </a:bodyPr>
          <a:lstStyle/>
          <a:p>
            <a:r>
              <a:rPr lang="zh-CN" altLang="en-US" sz="4000" dirty="0"/>
              <a:t>回归估计标准差与相关系数的关系</a:t>
            </a:r>
            <a:br>
              <a:rPr lang="zh-CN" altLang="en-US" sz="4000" dirty="0"/>
            </a:br>
            <a:r>
              <a:rPr lang="zh-CN" altLang="en-US" sz="4000" dirty="0"/>
              <a:t>                 </a:t>
            </a:r>
          </a:p>
        </p:txBody>
      </p:sp>
      <p:sp>
        <p:nvSpPr>
          <p:cNvPr id="31752" name="Rectangle 3"/>
          <p:cNvSpPr>
            <a:spLocks noGrp="1" noChangeArrowheads="1"/>
          </p:cNvSpPr>
          <p:nvPr>
            <p:ph idx="1"/>
          </p:nvPr>
        </p:nvSpPr>
        <p:spPr>
          <a:xfrm>
            <a:off x="1524001" y="3131042"/>
            <a:ext cx="8470899" cy="2783399"/>
          </a:xfrm>
        </p:spPr>
        <p:txBody>
          <a:bodyPr/>
          <a:lstStyle/>
          <a:p>
            <a:pPr marL="0" indent="0">
              <a:lnSpc>
                <a:spcPct val="110000"/>
              </a:lnSpc>
              <a:buNone/>
            </a:pPr>
            <a:r>
              <a:rPr lang="zh-CN" altLang="en-US" dirty="0">
                <a:solidFill>
                  <a:srgbClr val="000000"/>
                </a:solidFill>
              </a:rPr>
              <a:t>大样本条件下，近似地：</a:t>
            </a:r>
            <a:endParaRPr lang="zh-CN" altLang="en-US" dirty="0"/>
          </a:p>
          <a:p>
            <a:pPr marL="971550" lvl="1">
              <a:lnSpc>
                <a:spcPct val="110000"/>
              </a:lnSpc>
              <a:buNone/>
            </a:pPr>
            <a:r>
              <a:rPr lang="zh-CN" altLang="en-US" sz="1400" dirty="0"/>
              <a:t>                               </a:t>
            </a:r>
          </a:p>
          <a:p>
            <a:pPr marL="971550" lvl="1">
              <a:lnSpc>
                <a:spcPct val="110000"/>
              </a:lnSpc>
              <a:buNone/>
            </a:pPr>
            <a:r>
              <a:rPr lang="zh-CN" altLang="en-US" dirty="0"/>
              <a:t>                               </a:t>
            </a:r>
            <a:r>
              <a:rPr lang="zh-CN" altLang="en-US" sz="2400" dirty="0">
                <a:solidFill>
                  <a:schemeClr val="tx2"/>
                </a:solidFill>
              </a:rPr>
              <a:t>或：</a:t>
            </a:r>
            <a:endParaRPr lang="zh-CN" altLang="en-US" dirty="0">
              <a:solidFill>
                <a:schemeClr val="tx2"/>
              </a:solidFill>
            </a:endParaRPr>
          </a:p>
        </p:txBody>
      </p:sp>
      <p:sp>
        <p:nvSpPr>
          <p:cNvPr id="31750" name="灯片编号占位符 5"/>
          <p:cNvSpPr>
            <a:spLocks noGrp="1"/>
          </p:cNvSpPr>
          <p:nvPr>
            <p:ph type="sldNum" sz="quarter" idx="4"/>
          </p:nvPr>
        </p:nvSpPr>
        <p:spPr>
          <a:noFill/>
        </p:spPr>
        <p:txBody>
          <a:bodyPr/>
          <a:lstStyle/>
          <a:p>
            <a:r>
              <a:rPr lang="en-US" altLang="zh-CN" dirty="0"/>
              <a:t>9--</a:t>
            </a:r>
            <a:fld id="{706FEBD8-21AD-4667-964E-02587B603CAF}" type="slidenum">
              <a:rPr lang="en-US" altLang="zh-CN" smtClean="0"/>
              <a:pPr/>
              <a:t>67</a:t>
            </a:fld>
            <a:endParaRPr lang="en-US" altLang="zh-CN" dirty="0"/>
          </a:p>
        </p:txBody>
      </p:sp>
      <p:graphicFrame>
        <p:nvGraphicFramePr>
          <p:cNvPr id="173062" name="Object 6"/>
          <p:cNvGraphicFramePr>
            <a:graphicFrameLocks noChangeAspect="1"/>
          </p:cNvGraphicFramePr>
          <p:nvPr>
            <p:extLst>
              <p:ext uri="{D42A27DB-BD31-4B8C-83A1-F6EECF244321}">
                <p14:modId xmlns:p14="http://schemas.microsoft.com/office/powerpoint/2010/main" val="3437200835"/>
              </p:ext>
            </p:extLst>
          </p:nvPr>
        </p:nvGraphicFramePr>
        <p:xfrm>
          <a:off x="6232312" y="3743739"/>
          <a:ext cx="2808288" cy="914400"/>
        </p:xfrm>
        <a:graphic>
          <a:graphicData uri="http://schemas.openxmlformats.org/presentationml/2006/ole">
            <mc:AlternateContent xmlns:mc="http://schemas.openxmlformats.org/markup-compatibility/2006">
              <mc:Choice xmlns:v="urn:schemas-microsoft-com:vml" Requires="v">
                <p:oleObj name="Equation" r:id="rId2" imgW="927000" imgH="291960" progId="Equation.DSMT4">
                  <p:embed/>
                </p:oleObj>
              </mc:Choice>
              <mc:Fallback>
                <p:oleObj name="Equation" r:id="rId2" imgW="927000" imgH="291960" progId="Equation.DSMT4">
                  <p:embed/>
                  <p:pic>
                    <p:nvPicPr>
                      <p:cNvPr id="173062"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2312" y="3743739"/>
                        <a:ext cx="2808288" cy="914400"/>
                      </a:xfrm>
                      <a:prstGeom prst="rect">
                        <a:avLst/>
                      </a:prstGeom>
                      <a:noFill/>
                      <a:ln w="28575">
                        <a:noFill/>
                        <a:miter lim="800000"/>
                        <a:headEnd/>
                        <a:tailEnd/>
                      </a:ln>
                    </p:spPr>
                  </p:pic>
                </p:oleObj>
              </mc:Fallback>
            </mc:AlternateContent>
          </a:graphicData>
        </a:graphic>
      </p:graphicFrame>
      <p:sp>
        <p:nvSpPr>
          <p:cNvPr id="173064" name="Text Box 8"/>
          <p:cNvSpPr txBox="1">
            <a:spLocks noChangeArrowheads="1"/>
          </p:cNvSpPr>
          <p:nvPr/>
        </p:nvSpPr>
        <p:spPr bwMode="auto">
          <a:xfrm>
            <a:off x="2208214" y="4856164"/>
            <a:ext cx="7559675" cy="1501775"/>
          </a:xfrm>
          <a:prstGeom prst="rect">
            <a:avLst/>
          </a:prstGeom>
          <a:noFill/>
          <a:ln w="9525">
            <a:noFill/>
            <a:miter lim="800000"/>
            <a:headEnd/>
            <a:tailEnd/>
          </a:ln>
        </p:spPr>
        <p:txBody>
          <a:bodyPr>
            <a:spAutoFit/>
          </a:bodyPr>
          <a:lstStyle/>
          <a:p>
            <a:pPr>
              <a:lnSpc>
                <a:spcPct val="110000"/>
              </a:lnSpc>
              <a:spcBef>
                <a:spcPct val="20000"/>
              </a:spcBef>
              <a:buSzPct val="90000"/>
            </a:pPr>
            <a:r>
              <a:rPr lang="zh-CN" altLang="en-US" sz="2800" b="1" dirty="0">
                <a:solidFill>
                  <a:srgbClr val="00B0F0"/>
                </a:solidFill>
                <a:latin typeface="Tahoma" pitchFamily="34" charset="0"/>
              </a:rPr>
              <a:t>表明：</a:t>
            </a:r>
            <a:r>
              <a:rPr lang="zh-CN" altLang="en-US" sz="2800" b="1" dirty="0">
                <a:solidFill>
                  <a:srgbClr val="000000"/>
                </a:solidFill>
                <a:latin typeface="Tahoma" pitchFamily="34" charset="0"/>
              </a:rPr>
              <a:t>相关系数可以间接说明回归估计的精确度；回归估计标准误差也可以间接说明变量之间相关的密切程度。</a:t>
            </a:r>
            <a:endParaRPr lang="zh-CN" altLang="en-US" dirty="0">
              <a:solidFill>
                <a:srgbClr val="000000"/>
              </a:solidFill>
            </a:endParaRPr>
          </a:p>
        </p:txBody>
      </p:sp>
      <p:sp>
        <p:nvSpPr>
          <p:cNvPr id="31754" name="Rectangle 10"/>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1747" name="Object 9"/>
          <p:cNvGraphicFramePr>
            <a:graphicFrameLocks noChangeAspect="1"/>
          </p:cNvGraphicFramePr>
          <p:nvPr>
            <p:extLst>
              <p:ext uri="{D42A27DB-BD31-4B8C-83A1-F6EECF244321}">
                <p14:modId xmlns:p14="http://schemas.microsoft.com/office/powerpoint/2010/main" val="2987022316"/>
              </p:ext>
            </p:extLst>
          </p:nvPr>
        </p:nvGraphicFramePr>
        <p:xfrm>
          <a:off x="1906086" y="1756287"/>
          <a:ext cx="4751388" cy="1335088"/>
        </p:xfrm>
        <a:graphic>
          <a:graphicData uri="http://schemas.openxmlformats.org/presentationml/2006/ole">
            <mc:AlternateContent xmlns:mc="http://schemas.openxmlformats.org/markup-compatibility/2006">
              <mc:Choice xmlns:v="urn:schemas-microsoft-com:vml" Requires="v">
                <p:oleObj name="Equation" r:id="rId4" imgW="1905000" imgH="482600" progId="Equation.DSMT4">
                  <p:embed/>
                </p:oleObj>
              </mc:Choice>
              <mc:Fallback>
                <p:oleObj name="Equation" r:id="rId4" imgW="1905000" imgH="482600" progId="Equation.DSMT4">
                  <p:embed/>
                  <p:pic>
                    <p:nvPicPr>
                      <p:cNvPr id="31747"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086" y="1756287"/>
                        <a:ext cx="4751388" cy="1335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8" name="Object 11"/>
          <p:cNvGraphicFramePr>
            <a:graphicFrameLocks noChangeAspect="1"/>
          </p:cNvGraphicFramePr>
          <p:nvPr>
            <p:extLst>
              <p:ext uri="{D42A27DB-BD31-4B8C-83A1-F6EECF244321}">
                <p14:modId xmlns:p14="http://schemas.microsoft.com/office/powerpoint/2010/main" val="1421917003"/>
              </p:ext>
            </p:extLst>
          </p:nvPr>
        </p:nvGraphicFramePr>
        <p:xfrm>
          <a:off x="6588164" y="1780100"/>
          <a:ext cx="2232025" cy="1287463"/>
        </p:xfrm>
        <a:graphic>
          <a:graphicData uri="http://schemas.openxmlformats.org/presentationml/2006/ole">
            <mc:AlternateContent xmlns:mc="http://schemas.openxmlformats.org/markup-compatibility/2006">
              <mc:Choice xmlns:v="urn:schemas-microsoft-com:vml" Requires="v">
                <p:oleObj name="Equation" r:id="rId6" imgW="812447" imgH="469696" progId="Equation.DSMT4">
                  <p:embed/>
                </p:oleObj>
              </mc:Choice>
              <mc:Fallback>
                <p:oleObj name="Equation" r:id="rId6" imgW="812447" imgH="469696" progId="Equation.DSMT4">
                  <p:embed/>
                  <p:pic>
                    <p:nvPicPr>
                      <p:cNvPr id="31748"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164" y="1780100"/>
                        <a:ext cx="2232025" cy="1287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5"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1749" name="Object 13"/>
          <p:cNvGraphicFramePr>
            <a:graphicFrameLocks noChangeAspect="1"/>
          </p:cNvGraphicFramePr>
          <p:nvPr>
            <p:extLst>
              <p:ext uri="{D42A27DB-BD31-4B8C-83A1-F6EECF244321}">
                <p14:modId xmlns:p14="http://schemas.microsoft.com/office/powerpoint/2010/main" val="1569758825"/>
              </p:ext>
            </p:extLst>
          </p:nvPr>
        </p:nvGraphicFramePr>
        <p:xfrm>
          <a:off x="3051969" y="3563939"/>
          <a:ext cx="2087563" cy="1292225"/>
        </p:xfrm>
        <a:graphic>
          <a:graphicData uri="http://schemas.openxmlformats.org/presentationml/2006/ole">
            <mc:AlternateContent xmlns:mc="http://schemas.openxmlformats.org/markup-compatibility/2006">
              <mc:Choice xmlns:v="urn:schemas-microsoft-com:vml" Requires="v">
                <p:oleObj name="Equation" r:id="rId8" imgW="672808" imgH="469696" progId="Equation.DSMT4">
                  <p:embed/>
                </p:oleObj>
              </mc:Choice>
              <mc:Fallback>
                <p:oleObj name="Equation" r:id="rId8" imgW="672808" imgH="469696" progId="Equation.DSMT4">
                  <p:embed/>
                  <p:pic>
                    <p:nvPicPr>
                      <p:cNvPr id="31749"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1969" y="3563939"/>
                        <a:ext cx="2087563" cy="1292225"/>
                      </a:xfrm>
                      <a:prstGeom prst="rect">
                        <a:avLst/>
                      </a:prstGeom>
                      <a:noFill/>
                      <a:ln w="28575">
                        <a:noFill/>
                        <a:miter lim="800000"/>
                        <a:headEnd/>
                        <a:tailEnd/>
                      </a:ln>
                    </p:spPr>
                  </p:pic>
                </p:oleObj>
              </mc:Fallback>
            </mc:AlternateContent>
          </a:graphicData>
        </a:graphic>
      </p:graphicFrame>
    </p:spTree>
    <p:extLst>
      <p:ext uri="{BB962C8B-B14F-4D97-AF65-F5344CB8AC3E}">
        <p14:creationId xmlns:p14="http://schemas.microsoft.com/office/powerpoint/2010/main" val="272106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3064"/>
                                        </p:tgtEl>
                                        <p:attrNameLst>
                                          <p:attrName>style.visibility</p:attrName>
                                        </p:attrNameLst>
                                      </p:cBhvr>
                                      <p:to>
                                        <p:strVal val="visible"/>
                                      </p:to>
                                    </p:set>
                                    <p:anim calcmode="lin" valueType="num">
                                      <p:cBhvr additive="base">
                                        <p:cTn id="7" dur="500" fill="hold"/>
                                        <p:tgtEl>
                                          <p:spTgt spid="173064"/>
                                        </p:tgtEl>
                                        <p:attrNameLst>
                                          <p:attrName>ppt_x</p:attrName>
                                        </p:attrNameLst>
                                      </p:cBhvr>
                                      <p:tavLst>
                                        <p:tav tm="0">
                                          <p:val>
                                            <p:strVal val="#ppt_x"/>
                                          </p:val>
                                        </p:tav>
                                        <p:tav tm="100000">
                                          <p:val>
                                            <p:strVal val="#ppt_x"/>
                                          </p:val>
                                        </p:tav>
                                      </p:tavLst>
                                    </p:anim>
                                    <p:anim calcmode="lin" valueType="num">
                                      <p:cBhvr additive="base">
                                        <p:cTn id="8" dur="500" fill="hold"/>
                                        <p:tgtEl>
                                          <p:spTgt spid="1730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日期占位符 4"/>
          <p:cNvSpPr>
            <a:spLocks noGrp="1"/>
          </p:cNvSpPr>
          <p:nvPr>
            <p:ph type="dt" sz="half" idx="10"/>
          </p:nvPr>
        </p:nvSpPr>
        <p:spPr>
          <a:noFill/>
        </p:spPr>
        <p:txBody>
          <a:bodyPr/>
          <a:lstStyle/>
          <a:p>
            <a:endParaRPr lang="en-US" altLang="zh-CN" dirty="0"/>
          </a:p>
        </p:txBody>
      </p:sp>
      <p:sp>
        <p:nvSpPr>
          <p:cNvPr id="97283" name="Rectangle 2"/>
          <p:cNvSpPr>
            <a:spLocks noGrp="1" noChangeArrowheads="1"/>
          </p:cNvSpPr>
          <p:nvPr>
            <p:ph type="title"/>
          </p:nvPr>
        </p:nvSpPr>
        <p:spPr>
          <a:xfrm>
            <a:off x="1879600" y="643480"/>
            <a:ext cx="6858000" cy="662782"/>
          </a:xfrm>
          <a:noFill/>
        </p:spPr>
        <p:txBody>
          <a:bodyPr vert="horz" lIns="90488" tIns="44450" rIns="90488" bIns="44450" rtlCol="0" anchor="ctr" anchorCtr="1">
            <a:normAutofit/>
          </a:bodyPr>
          <a:lstStyle/>
          <a:p>
            <a:pPr eaLnBrk="1" hangingPunct="1"/>
            <a:r>
              <a:rPr lang="en-US" altLang="zh-CN" sz="4000" dirty="0"/>
              <a:t>9.3.3 </a:t>
            </a:r>
            <a:r>
              <a:rPr lang="zh-CN" altLang="en-US" sz="4000" dirty="0"/>
              <a:t>回归方程的显著性检验</a:t>
            </a:r>
          </a:p>
        </p:txBody>
      </p:sp>
      <p:sp>
        <p:nvSpPr>
          <p:cNvPr id="97282" name="灯片编号占位符 5"/>
          <p:cNvSpPr>
            <a:spLocks noGrp="1"/>
          </p:cNvSpPr>
          <p:nvPr>
            <p:ph type="sldNum" sz="quarter" idx="4"/>
          </p:nvPr>
        </p:nvSpPr>
        <p:spPr>
          <a:noFill/>
        </p:spPr>
        <p:txBody>
          <a:bodyPr/>
          <a:lstStyle/>
          <a:p>
            <a:r>
              <a:rPr lang="en-US" altLang="zh-CN" dirty="0"/>
              <a:t>9--</a:t>
            </a:r>
            <a:fld id="{2DD762AC-A684-40A2-9293-6F356705486E}" type="slidenum">
              <a:rPr lang="en-US" altLang="zh-CN" smtClean="0"/>
              <a:pPr/>
              <a:t>68</a:t>
            </a:fld>
            <a:endParaRPr lang="en-US" altLang="zh-CN" dirty="0"/>
          </a:p>
        </p:txBody>
      </p:sp>
      <p:sp>
        <p:nvSpPr>
          <p:cNvPr id="97284" name="Rectangle 6"/>
          <p:cNvSpPr>
            <a:spLocks noChangeArrowheads="1"/>
          </p:cNvSpPr>
          <p:nvPr/>
        </p:nvSpPr>
        <p:spPr bwMode="auto">
          <a:xfrm>
            <a:off x="1703388" y="1506538"/>
            <a:ext cx="8280400" cy="4114973"/>
          </a:xfrm>
          <a:prstGeom prst="rect">
            <a:avLst/>
          </a:prstGeom>
          <a:noFill/>
          <a:ln w="12700">
            <a:noFill/>
            <a:miter lim="800000"/>
            <a:headEnd/>
            <a:tailEnd/>
          </a:ln>
        </p:spPr>
        <p:txBody>
          <a:bodyPr>
            <a:spAutoFit/>
          </a:bodyPr>
          <a:lstStyle/>
          <a:p>
            <a:pPr indent="355600">
              <a:lnSpc>
                <a:spcPct val="110000"/>
              </a:lnSpc>
              <a:spcBef>
                <a:spcPts val="600"/>
              </a:spcBef>
              <a:buSzPct val="80000"/>
            </a:pPr>
            <a:r>
              <a:rPr kumimoji="1" lang="zh-CN" altLang="en-US" sz="3200" dirty="0">
                <a:solidFill>
                  <a:srgbClr val="000000"/>
                </a:solidFill>
              </a:rPr>
              <a:t>    对总体回归函数的有关假设进行检验，通常更为关注</a:t>
            </a:r>
            <a:r>
              <a:rPr kumimoji="1" lang="en-US" altLang="zh-CN" sz="3200" b="1" dirty="0">
                <a:solidFill>
                  <a:srgbClr val="000000"/>
                </a:solidFill>
                <a:latin typeface="Times New Roman" pitchFamily="18" charset="0"/>
              </a:rPr>
              <a:t>Y</a:t>
            </a:r>
            <a:r>
              <a:rPr kumimoji="1" lang="zh-CN" altLang="en-US" sz="3200" b="1" dirty="0">
                <a:solidFill>
                  <a:srgbClr val="000000"/>
                </a:solidFill>
                <a:latin typeface="Times New Roman" pitchFamily="18" charset="0"/>
              </a:rPr>
              <a:t>与</a:t>
            </a:r>
            <a:r>
              <a:rPr kumimoji="1" lang="en-US" altLang="zh-CN" sz="3200" b="1" i="1" dirty="0">
                <a:solidFill>
                  <a:srgbClr val="000000"/>
                </a:solidFill>
                <a:latin typeface="Times New Roman" pitchFamily="18" charset="0"/>
              </a:rPr>
              <a:t>X</a:t>
            </a:r>
            <a:r>
              <a:rPr kumimoji="1" lang="zh-CN" altLang="en-US" sz="3200" b="1" dirty="0">
                <a:solidFill>
                  <a:srgbClr val="000000"/>
                </a:solidFill>
              </a:rPr>
              <a:t>之间是否具有线性关系</a:t>
            </a:r>
            <a:r>
              <a:rPr kumimoji="1" lang="zh-CN" altLang="en-US" sz="3200" dirty="0">
                <a:solidFill>
                  <a:srgbClr val="000000"/>
                </a:solidFill>
              </a:rPr>
              <a:t>，即检验自变量 </a:t>
            </a:r>
            <a:r>
              <a:rPr kumimoji="1" lang="en-US" altLang="zh-CN" sz="3200" i="1" dirty="0">
                <a:solidFill>
                  <a:srgbClr val="000000"/>
                </a:solidFill>
                <a:latin typeface="Times New Roman" pitchFamily="18" charset="0"/>
              </a:rPr>
              <a:t>X</a:t>
            </a:r>
            <a:r>
              <a:rPr kumimoji="1" lang="zh-CN" altLang="en-US" sz="3200" dirty="0">
                <a:solidFill>
                  <a:srgbClr val="000000"/>
                </a:solidFill>
              </a:rPr>
              <a:t>对因变量</a:t>
            </a:r>
            <a:r>
              <a:rPr kumimoji="1" lang="en-US" altLang="zh-CN" sz="3200" dirty="0">
                <a:solidFill>
                  <a:srgbClr val="000000"/>
                </a:solidFill>
                <a:latin typeface="Times New Roman" pitchFamily="18" charset="0"/>
              </a:rPr>
              <a:t>Y</a:t>
            </a:r>
            <a:r>
              <a:rPr kumimoji="1" lang="zh-CN" altLang="en-US" sz="3200" dirty="0">
                <a:solidFill>
                  <a:srgbClr val="000000"/>
                </a:solidFill>
              </a:rPr>
              <a:t>的线性影响是否显著；</a:t>
            </a:r>
          </a:p>
          <a:p>
            <a:pPr marL="457200" indent="-457200">
              <a:lnSpc>
                <a:spcPct val="110000"/>
              </a:lnSpc>
              <a:spcBef>
                <a:spcPts val="600"/>
              </a:spcBef>
              <a:buSzPct val="80000"/>
            </a:pPr>
            <a:r>
              <a:rPr kumimoji="1" lang="zh-CN" altLang="en-US" sz="3200" dirty="0">
                <a:solidFill>
                  <a:srgbClr val="000000"/>
                </a:solidFill>
              </a:rPr>
              <a:t>          </a:t>
            </a:r>
            <a:r>
              <a:rPr lang="en-US" altLang="zh-CN" sz="2600" b="1" i="1" dirty="0">
                <a:solidFill>
                  <a:srgbClr val="0000FF"/>
                </a:solidFill>
                <a:latin typeface="Times New Roman" pitchFamily="18" charset="0"/>
              </a:rPr>
              <a:t>H</a:t>
            </a:r>
            <a:r>
              <a:rPr lang="en-US" altLang="zh-CN" sz="2600" b="1" baseline="-25000" dirty="0">
                <a:solidFill>
                  <a:srgbClr val="0000FF"/>
                </a:solidFill>
                <a:latin typeface="Tahoma" pitchFamily="34" charset="0"/>
              </a:rPr>
              <a:t>0</a:t>
            </a:r>
            <a:r>
              <a:rPr lang="en-US" altLang="zh-CN" sz="2600" b="1" dirty="0">
                <a:solidFill>
                  <a:srgbClr val="0000FF"/>
                </a:solidFill>
                <a:latin typeface="Tahoma" pitchFamily="34" charset="0"/>
              </a:rPr>
              <a:t>: </a:t>
            </a:r>
            <a:r>
              <a:rPr lang="en-US" altLang="zh-CN" sz="2600" b="1" i="1" dirty="0">
                <a:solidFill>
                  <a:srgbClr val="0000FF"/>
                </a:solidFill>
                <a:latin typeface="Symbol" pitchFamily="18" charset="2"/>
              </a:rPr>
              <a:t>b </a:t>
            </a:r>
            <a:r>
              <a:rPr lang="en-US" altLang="zh-CN" sz="2600" b="1" dirty="0">
                <a:solidFill>
                  <a:srgbClr val="0000FF"/>
                </a:solidFill>
                <a:latin typeface="Tahoma" pitchFamily="34" charset="0"/>
              </a:rPr>
              <a:t>= 0</a:t>
            </a:r>
            <a:r>
              <a:rPr lang="zh-CN" altLang="en-US" sz="2600" b="1" dirty="0">
                <a:solidFill>
                  <a:srgbClr val="0000FF"/>
                </a:solidFill>
                <a:latin typeface="Tahoma" pitchFamily="34" charset="0"/>
              </a:rPr>
              <a:t>， </a:t>
            </a:r>
            <a:r>
              <a:rPr lang="en-US" altLang="zh-CN" sz="2600" b="1" i="1" dirty="0">
                <a:solidFill>
                  <a:srgbClr val="0000FF"/>
                </a:solidFill>
                <a:latin typeface="Times New Roman" pitchFamily="18" charset="0"/>
              </a:rPr>
              <a:t>H</a:t>
            </a:r>
            <a:r>
              <a:rPr lang="en-US" altLang="zh-CN" sz="2600" b="1" baseline="-25000" dirty="0">
                <a:solidFill>
                  <a:srgbClr val="0000FF"/>
                </a:solidFill>
                <a:latin typeface="Tahoma" pitchFamily="34" charset="0"/>
              </a:rPr>
              <a:t>1</a:t>
            </a:r>
            <a:r>
              <a:rPr lang="en-US" altLang="zh-CN" sz="2600" b="1" dirty="0">
                <a:solidFill>
                  <a:srgbClr val="0000FF"/>
                </a:solidFill>
                <a:latin typeface="Tahoma" pitchFamily="34" charset="0"/>
              </a:rPr>
              <a:t>: </a:t>
            </a:r>
            <a:r>
              <a:rPr lang="en-US" altLang="zh-CN" sz="2600" b="1" i="1" dirty="0">
                <a:solidFill>
                  <a:srgbClr val="0000FF"/>
                </a:solidFill>
                <a:latin typeface="Symbol" pitchFamily="18" charset="2"/>
              </a:rPr>
              <a:t>b</a:t>
            </a:r>
            <a:r>
              <a:rPr lang="en-US" altLang="zh-CN" sz="2800" b="1" dirty="0">
                <a:solidFill>
                  <a:srgbClr val="0000FF"/>
                </a:solidFill>
                <a:latin typeface="Tahoma" pitchFamily="34" charset="0"/>
              </a:rPr>
              <a:t> </a:t>
            </a:r>
            <a:r>
              <a:rPr lang="en-US" altLang="zh-CN" sz="2600" b="1" dirty="0">
                <a:solidFill>
                  <a:srgbClr val="0000FF"/>
                </a:solidFill>
                <a:latin typeface="Symbol" pitchFamily="18" charset="2"/>
                <a:sym typeface="Symbol" pitchFamily="18" charset="2"/>
              </a:rPr>
              <a:t> </a:t>
            </a:r>
            <a:r>
              <a:rPr lang="en-US" altLang="zh-CN" sz="2600" b="1" dirty="0">
                <a:solidFill>
                  <a:srgbClr val="0000FF"/>
                </a:solidFill>
                <a:latin typeface="Tahoma" pitchFamily="34" charset="0"/>
              </a:rPr>
              <a:t>0</a:t>
            </a:r>
            <a:r>
              <a:rPr lang="en-US" altLang="zh-CN" sz="2600" b="1" dirty="0">
                <a:solidFill>
                  <a:srgbClr val="000000"/>
                </a:solidFill>
                <a:latin typeface="Tahoma" pitchFamily="34" charset="0"/>
              </a:rPr>
              <a:t> </a:t>
            </a:r>
          </a:p>
          <a:p>
            <a:pPr marL="1371600" lvl="2" indent="-457200">
              <a:lnSpc>
                <a:spcPct val="110000"/>
              </a:lnSpc>
              <a:spcBef>
                <a:spcPts val="600"/>
              </a:spcBef>
              <a:buSzPct val="80000"/>
              <a:buBlip>
                <a:blip r:embed="rId3"/>
              </a:buBlip>
            </a:pPr>
            <a:r>
              <a:rPr kumimoji="1" lang="zh-CN" altLang="en-US" sz="3200" b="1" dirty="0">
                <a:solidFill>
                  <a:srgbClr val="000000"/>
                </a:solidFill>
              </a:rPr>
              <a:t>从离差平方和分解的角度</a:t>
            </a:r>
            <a:r>
              <a:rPr kumimoji="1" lang="en-US" altLang="zh-CN" sz="3200" b="1" dirty="0">
                <a:solidFill>
                  <a:srgbClr val="000000"/>
                </a:solidFill>
                <a:latin typeface="Times New Roman" pitchFamily="18" charset="0"/>
              </a:rPr>
              <a:t>——</a:t>
            </a:r>
            <a:r>
              <a:rPr kumimoji="1" lang="en-US" altLang="zh-CN" sz="3200" b="1" dirty="0">
                <a:solidFill>
                  <a:srgbClr val="000000"/>
                </a:solidFill>
              </a:rPr>
              <a:t>F</a:t>
            </a:r>
            <a:r>
              <a:rPr kumimoji="1" lang="zh-CN" altLang="en-US" sz="3200" b="1" dirty="0">
                <a:solidFill>
                  <a:srgbClr val="000000"/>
                </a:solidFill>
              </a:rPr>
              <a:t>检验</a:t>
            </a:r>
          </a:p>
          <a:p>
            <a:pPr marL="1371600" lvl="2" indent="-457200">
              <a:lnSpc>
                <a:spcPct val="110000"/>
              </a:lnSpc>
              <a:spcBef>
                <a:spcPts val="600"/>
              </a:spcBef>
              <a:buSzPct val="80000"/>
              <a:buBlip>
                <a:blip r:embed="rId3"/>
              </a:buBlip>
            </a:pPr>
            <a:r>
              <a:rPr kumimoji="1" lang="zh-CN" altLang="en-US" sz="3200" b="1" dirty="0">
                <a:solidFill>
                  <a:srgbClr val="000000"/>
                </a:solidFill>
              </a:rPr>
              <a:t>从估计量</a:t>
            </a:r>
            <a:r>
              <a:rPr kumimoji="1" lang="en-US" altLang="zh-CN" sz="3200" b="1" i="1" dirty="0">
                <a:solidFill>
                  <a:srgbClr val="000000"/>
                </a:solidFill>
                <a:latin typeface="Times New Roman" pitchFamily="18" charset="0"/>
              </a:rPr>
              <a:t>b</a:t>
            </a:r>
            <a:r>
              <a:rPr kumimoji="1" lang="zh-CN" altLang="en-US" sz="3200" b="1" dirty="0">
                <a:solidFill>
                  <a:srgbClr val="000000"/>
                </a:solidFill>
              </a:rPr>
              <a:t>的抽样分布出发</a:t>
            </a:r>
            <a:r>
              <a:rPr kumimoji="1" lang="en-US" altLang="zh-CN" sz="3200" b="1" dirty="0">
                <a:solidFill>
                  <a:srgbClr val="000000"/>
                </a:solidFill>
                <a:latin typeface="Times New Roman" pitchFamily="18" charset="0"/>
              </a:rPr>
              <a:t>——</a:t>
            </a:r>
            <a:r>
              <a:rPr kumimoji="1" lang="en-US" altLang="zh-CN" sz="3200" b="1" dirty="0">
                <a:solidFill>
                  <a:srgbClr val="000000"/>
                </a:solidFill>
              </a:rPr>
              <a:t> t </a:t>
            </a:r>
            <a:r>
              <a:rPr kumimoji="1" lang="zh-CN" altLang="en-US" sz="3200" b="1" dirty="0">
                <a:solidFill>
                  <a:srgbClr val="000000"/>
                </a:solidFill>
              </a:rPr>
              <a:t>检验</a:t>
            </a:r>
          </a:p>
        </p:txBody>
      </p:sp>
    </p:spTree>
    <p:extLst>
      <p:ext uri="{BB962C8B-B14F-4D97-AF65-F5344CB8AC3E}">
        <p14:creationId xmlns:p14="http://schemas.microsoft.com/office/powerpoint/2010/main" val="1214838542"/>
      </p:ext>
    </p:extLst>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5" name="日期占位符 6"/>
          <p:cNvSpPr>
            <a:spLocks noGrp="1"/>
          </p:cNvSpPr>
          <p:nvPr>
            <p:ph type="dt" sz="half" idx="10"/>
          </p:nvPr>
        </p:nvSpPr>
        <p:spPr>
          <a:noFill/>
        </p:spPr>
        <p:txBody>
          <a:bodyPr/>
          <a:lstStyle/>
          <a:p>
            <a:endParaRPr lang="en-US" altLang="zh-CN" dirty="0"/>
          </a:p>
        </p:txBody>
      </p:sp>
      <p:sp>
        <p:nvSpPr>
          <p:cNvPr id="32772" name="Rectangle 2"/>
          <p:cNvSpPr>
            <a:spLocks noGrp="1" noChangeArrowheads="1"/>
          </p:cNvSpPr>
          <p:nvPr>
            <p:ph type="title"/>
          </p:nvPr>
        </p:nvSpPr>
        <p:spPr>
          <a:xfrm>
            <a:off x="1371600" y="513116"/>
            <a:ext cx="7048500" cy="662782"/>
          </a:xfrm>
          <a:noFill/>
        </p:spPr>
        <p:txBody>
          <a:bodyPr vert="horz" lIns="90488" tIns="44450" rIns="90488" bIns="44450" rtlCol="0" anchor="ctr" anchorCtr="1">
            <a:normAutofit/>
          </a:bodyPr>
          <a:lstStyle/>
          <a:p>
            <a:pPr eaLnBrk="1" hangingPunct="1"/>
            <a:r>
              <a:rPr lang="zh-CN" altLang="en-US" sz="3600" dirty="0"/>
              <a:t>回归方程的显著性检验</a:t>
            </a:r>
          </a:p>
        </p:txBody>
      </p:sp>
      <p:sp>
        <p:nvSpPr>
          <p:cNvPr id="95235" name="Rectangle 3"/>
          <p:cNvSpPr>
            <a:spLocks noGrp="1" noChangeArrowheads="1"/>
          </p:cNvSpPr>
          <p:nvPr>
            <p:ph idx="1"/>
          </p:nvPr>
        </p:nvSpPr>
        <p:spPr>
          <a:xfrm>
            <a:off x="2063750" y="1295400"/>
            <a:ext cx="9594850" cy="4838461"/>
          </a:xfrm>
          <a:noFill/>
        </p:spPr>
        <p:txBody>
          <a:bodyPr vert="horz" lIns="90488" tIns="44450" rIns="90488" bIns="44450" rtlCol="0">
            <a:normAutofit/>
          </a:bodyPr>
          <a:lstStyle/>
          <a:p>
            <a:pPr marL="444500" indent="-444500">
              <a:buFontTx/>
              <a:buAutoNum type="arabicPeriod"/>
            </a:pPr>
            <a:r>
              <a:rPr lang="zh-CN" altLang="en-US" sz="2800" b="1" dirty="0"/>
              <a:t>提出假设</a:t>
            </a:r>
          </a:p>
          <a:p>
            <a:pPr marL="1219200" lvl="1" indent="-533400"/>
            <a:r>
              <a:rPr lang="en-US" altLang="zh-CN" sz="2600" i="1" dirty="0">
                <a:latin typeface="Times New Roman" pitchFamily="18" charset="0"/>
              </a:rPr>
              <a:t>H</a:t>
            </a:r>
            <a:r>
              <a:rPr lang="en-US" altLang="zh-CN" sz="2600" baseline="-25000" dirty="0"/>
              <a:t>0</a:t>
            </a:r>
            <a:r>
              <a:rPr lang="en-US" altLang="zh-CN" sz="2600" dirty="0"/>
              <a:t>: </a:t>
            </a:r>
            <a:r>
              <a:rPr lang="en-US" altLang="zh-CN" sz="2600" i="1" dirty="0">
                <a:latin typeface="Symbol" pitchFamily="18" charset="2"/>
              </a:rPr>
              <a:t>b </a:t>
            </a:r>
            <a:r>
              <a:rPr lang="en-US" altLang="zh-CN" sz="2600" dirty="0"/>
              <a:t>= 0 (</a:t>
            </a:r>
            <a:r>
              <a:rPr kumimoji="1" lang="en-US" altLang="zh-CN" sz="2400" i="1" dirty="0"/>
              <a:t>x </a:t>
            </a:r>
            <a:r>
              <a:rPr kumimoji="1" lang="zh-CN" altLang="en-US" sz="2400" dirty="0"/>
              <a:t>与 </a:t>
            </a:r>
            <a:r>
              <a:rPr kumimoji="1" lang="en-US" altLang="zh-CN" sz="2400" i="1" dirty="0"/>
              <a:t>y </a:t>
            </a:r>
            <a:r>
              <a:rPr kumimoji="1" lang="zh-CN" altLang="en-US" sz="2400" dirty="0"/>
              <a:t>之间</a:t>
            </a:r>
            <a:r>
              <a:rPr lang="zh-CN" altLang="en-US" sz="2600" dirty="0">
                <a:solidFill>
                  <a:srgbClr val="00B0F0"/>
                </a:solidFill>
              </a:rPr>
              <a:t>没有</a:t>
            </a:r>
            <a:r>
              <a:rPr lang="zh-CN" altLang="en-US" sz="2600" dirty="0"/>
              <a:t>线性关系</a:t>
            </a:r>
            <a:r>
              <a:rPr lang="en-US" altLang="zh-CN" sz="2600" dirty="0"/>
              <a:t>) </a:t>
            </a:r>
          </a:p>
          <a:p>
            <a:pPr marL="1219200" lvl="1" indent="-533400"/>
            <a:r>
              <a:rPr lang="en-US" altLang="zh-CN" sz="2600" i="1" dirty="0">
                <a:latin typeface="Times New Roman" pitchFamily="18" charset="0"/>
              </a:rPr>
              <a:t>H</a:t>
            </a:r>
            <a:r>
              <a:rPr lang="en-US" altLang="zh-CN" sz="2600" baseline="-25000" dirty="0"/>
              <a:t>1</a:t>
            </a:r>
            <a:r>
              <a:rPr lang="en-US" altLang="zh-CN" sz="2600" dirty="0"/>
              <a:t>: </a:t>
            </a:r>
            <a:r>
              <a:rPr lang="en-US" altLang="zh-CN" sz="2600" i="1" dirty="0">
                <a:latin typeface="Symbol" pitchFamily="18" charset="2"/>
              </a:rPr>
              <a:t>b</a:t>
            </a:r>
            <a:r>
              <a:rPr lang="en-US" altLang="zh-CN" dirty="0"/>
              <a:t> </a:t>
            </a:r>
            <a:r>
              <a:rPr lang="en-US" altLang="zh-CN" sz="2600" dirty="0">
                <a:latin typeface="Symbol" pitchFamily="18" charset="2"/>
                <a:sym typeface="Symbol" pitchFamily="18" charset="2"/>
              </a:rPr>
              <a:t> </a:t>
            </a:r>
            <a:r>
              <a:rPr lang="en-US" altLang="zh-CN" sz="2600" dirty="0"/>
              <a:t>0  (</a:t>
            </a:r>
            <a:r>
              <a:rPr kumimoji="1" lang="en-US" altLang="zh-CN" sz="2400" i="1" dirty="0"/>
              <a:t>x </a:t>
            </a:r>
            <a:r>
              <a:rPr kumimoji="1" lang="zh-CN" altLang="en-US" sz="2400" dirty="0"/>
              <a:t>与 </a:t>
            </a:r>
            <a:r>
              <a:rPr kumimoji="1" lang="en-US" altLang="zh-CN" sz="2400" i="1" dirty="0"/>
              <a:t>y </a:t>
            </a:r>
            <a:r>
              <a:rPr kumimoji="1" lang="zh-CN" altLang="en-US" sz="2400" dirty="0"/>
              <a:t>之间</a:t>
            </a:r>
            <a:r>
              <a:rPr lang="zh-CN" altLang="en-US" sz="2600" dirty="0"/>
              <a:t>存在线性关系</a:t>
            </a:r>
            <a:r>
              <a:rPr lang="en-US" altLang="zh-CN" sz="2600" dirty="0"/>
              <a:t>) </a:t>
            </a:r>
          </a:p>
          <a:p>
            <a:pPr marL="444500" indent="-444500">
              <a:buFontTx/>
              <a:buAutoNum type="arabicPeriod"/>
            </a:pPr>
            <a:r>
              <a:rPr lang="zh-CN" altLang="en-US" sz="2800" b="1" dirty="0"/>
              <a:t>计算检验统计量的值或</a:t>
            </a:r>
            <a:r>
              <a:rPr lang="en-US" altLang="zh-CN" sz="2800" b="1" dirty="0"/>
              <a:t>P</a:t>
            </a:r>
            <a:r>
              <a:rPr lang="zh-CN" altLang="en-US" sz="2800" b="1" dirty="0"/>
              <a:t>值</a:t>
            </a:r>
          </a:p>
        </p:txBody>
      </p:sp>
      <p:sp>
        <p:nvSpPr>
          <p:cNvPr id="32771" name="灯片编号占位符 5"/>
          <p:cNvSpPr>
            <a:spLocks noGrp="1"/>
          </p:cNvSpPr>
          <p:nvPr>
            <p:ph type="sldNum" sz="quarter" idx="4"/>
          </p:nvPr>
        </p:nvSpPr>
        <p:spPr>
          <a:noFill/>
        </p:spPr>
        <p:txBody>
          <a:bodyPr/>
          <a:lstStyle/>
          <a:p>
            <a:r>
              <a:rPr lang="en-US" altLang="zh-CN" dirty="0"/>
              <a:t>9--</a:t>
            </a:r>
            <a:fld id="{560B7384-5066-411E-B17B-8AD3606DE8A4}" type="slidenum">
              <a:rPr lang="en-US" altLang="zh-CN" smtClean="0"/>
              <a:pPr/>
              <a:t>69</a:t>
            </a:fld>
            <a:endParaRPr lang="en-US" altLang="zh-CN" dirty="0"/>
          </a:p>
        </p:txBody>
      </p:sp>
      <p:sp>
        <p:nvSpPr>
          <p:cNvPr id="95236" name="Rectangle 4"/>
          <p:cNvSpPr>
            <a:spLocks noChangeArrowheads="1"/>
          </p:cNvSpPr>
          <p:nvPr/>
        </p:nvSpPr>
        <p:spPr bwMode="auto">
          <a:xfrm>
            <a:off x="2063750" y="4581129"/>
            <a:ext cx="8083550" cy="1629164"/>
          </a:xfrm>
          <a:prstGeom prst="rect">
            <a:avLst/>
          </a:prstGeom>
          <a:noFill/>
          <a:ln w="12700">
            <a:noFill/>
            <a:miter lim="800000"/>
            <a:headEnd/>
            <a:tailEnd/>
          </a:ln>
        </p:spPr>
        <p:txBody>
          <a:bodyPr wrap="square">
            <a:spAutoFit/>
          </a:bodyPr>
          <a:lstStyle/>
          <a:p>
            <a:pPr defTabSz="685783">
              <a:spcBef>
                <a:spcPts val="751"/>
              </a:spcBef>
              <a:spcAft>
                <a:spcPts val="225"/>
              </a:spcAft>
              <a:buSzPct val="80000"/>
            </a:pPr>
            <a:r>
              <a:rPr lang="en-US" altLang="zh-CN" sz="2400" b="1" dirty="0">
                <a:solidFill>
                  <a:srgbClr val="2F5597"/>
                </a:solidFill>
                <a:latin typeface="微软雅黑" panose="020B0503020204020204" pitchFamily="34" charset="-122"/>
                <a:ea typeface="微软雅黑" panose="020B0503020204020204" pitchFamily="34" charset="-122"/>
              </a:rPr>
              <a:t>3.  </a:t>
            </a:r>
            <a:r>
              <a:rPr lang="zh-CN" altLang="en-US" sz="2800" b="1" dirty="0">
                <a:solidFill>
                  <a:srgbClr val="2F5597"/>
                </a:solidFill>
                <a:latin typeface="微软雅黑" panose="020B0503020204020204" pitchFamily="34" charset="-122"/>
                <a:ea typeface="微软雅黑" panose="020B0503020204020204" pitchFamily="34" charset="-122"/>
              </a:rPr>
              <a:t>确定显著性水平</a:t>
            </a:r>
            <a:r>
              <a:rPr lang="zh-CN" altLang="en-US" sz="2800" b="1" dirty="0">
                <a:solidFill>
                  <a:srgbClr val="2F5597"/>
                </a:solidFill>
                <a:latin typeface="微软雅黑" panose="020B0503020204020204" pitchFamily="34" charset="-122"/>
                <a:ea typeface="微软雅黑" panose="020B0503020204020204" pitchFamily="34" charset="-122"/>
                <a:sym typeface="Symbol" pitchFamily="18" charset="2"/>
              </a:rPr>
              <a:t> 和临界值，并作出结论</a:t>
            </a:r>
          </a:p>
          <a:p>
            <a:pPr marL="914400" lvl="1" indent="-457200" eaLnBrk="0" hangingPunct="0">
              <a:spcBef>
                <a:spcPct val="30000"/>
              </a:spcBef>
              <a:buClr>
                <a:schemeClr val="hlink"/>
              </a:buClr>
              <a:buSzPct val="135000"/>
              <a:buFont typeface="Wingdings" pitchFamily="2" charset="2"/>
              <a:buChar char="§"/>
            </a:pPr>
            <a:r>
              <a:rPr kumimoji="1" lang="en-US" altLang="zh-CN" sz="2600" b="1" dirty="0">
                <a:solidFill>
                  <a:schemeClr val="tx2"/>
                </a:solidFill>
                <a:sym typeface="Symbol" pitchFamily="18" charset="2"/>
              </a:rPr>
              <a:t>F &gt;</a:t>
            </a:r>
            <a:r>
              <a:rPr kumimoji="1" lang="en-US" altLang="zh-CN" sz="2600" b="1" i="1" dirty="0">
                <a:solidFill>
                  <a:schemeClr val="tx2"/>
                </a:solidFill>
                <a:sym typeface="Symbol" pitchFamily="18" charset="2"/>
              </a:rPr>
              <a:t>F</a:t>
            </a:r>
            <a:r>
              <a:rPr kumimoji="1" lang="en-US" altLang="zh-CN" sz="2600" b="1" dirty="0">
                <a:solidFill>
                  <a:schemeClr val="tx2"/>
                </a:solidFill>
                <a:sym typeface="Symbol" pitchFamily="18" charset="2"/>
              </a:rPr>
              <a:t> (1</a:t>
            </a:r>
            <a:r>
              <a:rPr kumimoji="1" lang="zh-CN" altLang="en-US" sz="2600" b="1" dirty="0">
                <a:solidFill>
                  <a:schemeClr val="tx2"/>
                </a:solidFill>
                <a:sym typeface="Symbol" pitchFamily="18" charset="2"/>
              </a:rPr>
              <a:t>，</a:t>
            </a:r>
            <a:r>
              <a:rPr kumimoji="1" lang="en-US" altLang="zh-CN" sz="2600" b="1" dirty="0">
                <a:solidFill>
                  <a:schemeClr val="tx2"/>
                </a:solidFill>
                <a:sym typeface="Symbol" pitchFamily="18" charset="2"/>
              </a:rPr>
              <a:t>n-2)</a:t>
            </a:r>
            <a:r>
              <a:rPr kumimoji="1" lang="en-US" altLang="zh-CN" sz="2600" b="1" dirty="0">
                <a:solidFill>
                  <a:srgbClr val="000000"/>
                </a:solidFill>
                <a:sym typeface="Symbol" pitchFamily="18" charset="2"/>
              </a:rPr>
              <a:t> </a:t>
            </a:r>
            <a:r>
              <a:rPr kumimoji="1" lang="zh-CN" altLang="en-US" sz="2600" b="1" dirty="0">
                <a:solidFill>
                  <a:srgbClr val="000000"/>
                </a:solidFill>
                <a:sym typeface="Symbol" pitchFamily="18" charset="2"/>
              </a:rPr>
              <a:t>，</a:t>
            </a:r>
            <a:r>
              <a:rPr kumimoji="1" lang="zh-CN" altLang="en-US" sz="2800" b="1" dirty="0">
                <a:solidFill>
                  <a:srgbClr val="000000"/>
                </a:solidFill>
                <a:sym typeface="Symbol" pitchFamily="18" charset="2"/>
              </a:rPr>
              <a:t>或 </a:t>
            </a:r>
            <a:r>
              <a:rPr kumimoji="1" lang="en-US" altLang="zh-CN" sz="2800" b="1" i="1" dirty="0">
                <a:solidFill>
                  <a:schemeClr val="tx2"/>
                </a:solidFill>
                <a:latin typeface="Times New Roman" panose="02020603050405020304" pitchFamily="18" charset="0"/>
                <a:cs typeface="Times New Roman" panose="02020603050405020304" pitchFamily="18" charset="0"/>
                <a:sym typeface="Symbol" pitchFamily="18" charset="2"/>
              </a:rPr>
              <a:t>P</a:t>
            </a:r>
            <a:r>
              <a:rPr kumimoji="1" lang="zh-CN" altLang="en-US" sz="2800" b="1" dirty="0">
                <a:solidFill>
                  <a:schemeClr val="tx2"/>
                </a:solidFill>
                <a:sym typeface="Symbol" pitchFamily="18" charset="2"/>
              </a:rPr>
              <a:t>值</a:t>
            </a:r>
            <a:r>
              <a:rPr kumimoji="1" lang="en-US" altLang="zh-CN" sz="2800" b="1" dirty="0">
                <a:solidFill>
                  <a:schemeClr val="tx2"/>
                </a:solidFill>
                <a:sym typeface="Symbol" pitchFamily="18" charset="2"/>
              </a:rPr>
              <a:t>(Sig.)&lt;</a:t>
            </a:r>
            <a:r>
              <a:rPr kumimoji="1" lang="en-US" altLang="zh-CN" sz="2800" b="1" i="1" dirty="0">
                <a:solidFill>
                  <a:schemeClr val="tx2"/>
                </a:solidFill>
                <a:sym typeface="Symbol" pitchFamily="18" charset="2"/>
              </a:rPr>
              <a:t> </a:t>
            </a:r>
            <a:r>
              <a:rPr kumimoji="1" lang="zh-CN" altLang="en-US" sz="2800" b="1" dirty="0">
                <a:solidFill>
                  <a:schemeClr val="tx2"/>
                </a:solidFill>
                <a:sym typeface="Symbol" pitchFamily="18" charset="2"/>
              </a:rPr>
              <a:t>，</a:t>
            </a:r>
            <a:r>
              <a:rPr kumimoji="1" lang="zh-CN" altLang="en-US" sz="2600" b="1" dirty="0">
                <a:solidFill>
                  <a:srgbClr val="000000"/>
                </a:solidFill>
                <a:sym typeface="Symbol" pitchFamily="18" charset="2"/>
              </a:rPr>
              <a:t>拒绝</a:t>
            </a:r>
            <a:r>
              <a:rPr kumimoji="1" lang="en-US" altLang="zh-CN" sz="2600" b="1" i="1" dirty="0">
                <a:solidFill>
                  <a:srgbClr val="000000"/>
                </a:solidFill>
                <a:latin typeface="Times New Roman" pitchFamily="18" charset="0"/>
                <a:sym typeface="Symbol" pitchFamily="18" charset="2"/>
              </a:rPr>
              <a:t>H</a:t>
            </a:r>
            <a:r>
              <a:rPr kumimoji="1" lang="en-US" altLang="zh-CN" sz="2600" b="1" baseline="-25000" dirty="0">
                <a:solidFill>
                  <a:srgbClr val="000000"/>
                </a:solidFill>
                <a:sym typeface="Symbol" pitchFamily="18" charset="2"/>
              </a:rPr>
              <a:t>0</a:t>
            </a:r>
            <a:r>
              <a:rPr kumimoji="1" lang="zh-CN" altLang="en-US" sz="2600" b="1" dirty="0">
                <a:solidFill>
                  <a:srgbClr val="000000"/>
                </a:solidFill>
                <a:sym typeface="Symbol" pitchFamily="18" charset="2"/>
              </a:rPr>
              <a:t>；</a:t>
            </a:r>
          </a:p>
          <a:p>
            <a:pPr marL="914400" lvl="1" indent="-457200" eaLnBrk="0" hangingPunct="0">
              <a:spcBef>
                <a:spcPct val="30000"/>
              </a:spcBef>
              <a:buClr>
                <a:schemeClr val="hlink"/>
              </a:buClr>
              <a:buSzPct val="135000"/>
              <a:buFont typeface="Wingdings" pitchFamily="2" charset="2"/>
              <a:buChar char="§"/>
            </a:pPr>
            <a:r>
              <a:rPr kumimoji="1" lang="zh-CN" altLang="en-US" sz="2600" b="1" dirty="0">
                <a:solidFill>
                  <a:srgbClr val="000000"/>
                </a:solidFill>
                <a:sym typeface="Symbol" pitchFamily="18" charset="2"/>
              </a:rPr>
              <a:t>反之，不能拒绝 </a:t>
            </a:r>
            <a:r>
              <a:rPr kumimoji="1" lang="en-US" altLang="zh-CN" sz="2600" b="1" i="1" dirty="0">
                <a:solidFill>
                  <a:srgbClr val="000000"/>
                </a:solidFill>
                <a:latin typeface="Times New Roman" pitchFamily="18" charset="0"/>
                <a:sym typeface="Symbol" pitchFamily="18" charset="2"/>
              </a:rPr>
              <a:t>H</a:t>
            </a:r>
            <a:r>
              <a:rPr kumimoji="1" lang="en-US" altLang="zh-CN" sz="2600" b="1" baseline="-25000" dirty="0">
                <a:solidFill>
                  <a:srgbClr val="000000"/>
                </a:solidFill>
                <a:sym typeface="Symbol" pitchFamily="18" charset="2"/>
              </a:rPr>
              <a:t>0</a:t>
            </a:r>
          </a:p>
        </p:txBody>
      </p:sp>
      <p:graphicFrame>
        <p:nvGraphicFramePr>
          <p:cNvPr id="95237" name="Object 5">
            <a:hlinkClick r:id="" action="ppaction://ole?verb=0"/>
          </p:cNvPr>
          <p:cNvGraphicFramePr>
            <a:graphicFrameLocks/>
          </p:cNvGraphicFramePr>
          <p:nvPr>
            <p:extLst>
              <p:ext uri="{D42A27DB-BD31-4B8C-83A1-F6EECF244321}">
                <p14:modId xmlns:p14="http://schemas.microsoft.com/office/powerpoint/2010/main" val="2449476934"/>
              </p:ext>
            </p:extLst>
          </p:nvPr>
        </p:nvGraphicFramePr>
        <p:xfrm>
          <a:off x="3267075" y="3329166"/>
          <a:ext cx="5153025" cy="1192212"/>
        </p:xfrm>
        <a:graphic>
          <a:graphicData uri="http://schemas.openxmlformats.org/presentationml/2006/ole">
            <mc:AlternateContent xmlns:mc="http://schemas.openxmlformats.org/markup-compatibility/2006">
              <mc:Choice xmlns:v="urn:schemas-microsoft-com:vml" Requires="v">
                <p:oleObj name="Equation" r:id="rId3" imgW="2006280" imgH="419040" progId="Equation.DSMT4">
                  <p:embed/>
                </p:oleObj>
              </mc:Choice>
              <mc:Fallback>
                <p:oleObj name="Equation" r:id="rId3" imgW="2006280" imgH="419040" progId="Equation.DSMT4">
                  <p:embed/>
                  <p:pic>
                    <p:nvPicPr>
                      <p:cNvPr id="95237"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7075" y="3329166"/>
                        <a:ext cx="5153025" cy="11922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84308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5">
                                            <p:txEl>
                                              <p:pRg st="3" end="3"/>
                                            </p:txEl>
                                          </p:spTgt>
                                        </p:tgtEl>
                                        <p:attrNameLst>
                                          <p:attrName>style.visibility</p:attrName>
                                        </p:attrNameLst>
                                      </p:cBhvr>
                                      <p:to>
                                        <p:strVal val="visible"/>
                                      </p:to>
                                    </p:set>
                                    <p:animEffect transition="in" filter="wipe(left)">
                                      <p:cBhvr>
                                        <p:cTn id="7" dur="500"/>
                                        <p:tgtEl>
                                          <p:spTgt spid="95235">
                                            <p:txEl>
                                              <p:pRg st="3" end="3"/>
                                            </p:txEl>
                                          </p:spTgt>
                                        </p:tgtEl>
                                      </p:cBhvr>
                                    </p:animEffect>
                                  </p:childTnLst>
                                  <p:subTnLst>
                                    <p:animClr clrSpc="rgb" dir="cw">
                                      <p:cBhvr override="childStyle">
                                        <p:cTn dur="1" fill="hold" display="0" masterRel="nextClick" afterEffect="1"/>
                                        <p:tgtEl>
                                          <p:spTgt spid="95235">
                                            <p:txEl>
                                              <p:pRg st="3" end="3"/>
                                            </p:txEl>
                                          </p:spTgt>
                                        </p:tgtEl>
                                        <p:attrNameLst>
                                          <p:attrName>ppt_c</p:attrName>
                                        </p:attrNameLst>
                                      </p:cBhvr>
                                      <p:to>
                                        <a:schemeClr val="folHlink"/>
                                      </p:to>
                                    </p:animClr>
                                  </p:subTnLst>
                                </p:cTn>
                              </p:par>
                              <p:par>
                                <p:cTn id="8" presetID="22" presetClass="entr" presetSubtype="8" fill="hold" nodeType="withEffect">
                                  <p:stCondLst>
                                    <p:cond delay="0"/>
                                  </p:stCondLst>
                                  <p:childTnLst>
                                    <p:set>
                                      <p:cBhvr>
                                        <p:cTn id="9" dur="1" fill="hold">
                                          <p:stCondLst>
                                            <p:cond delay="0"/>
                                          </p:stCondLst>
                                        </p:cTn>
                                        <p:tgtEl>
                                          <p:spTgt spid="95237"/>
                                        </p:tgtEl>
                                        <p:attrNameLst>
                                          <p:attrName>style.visibility</p:attrName>
                                        </p:attrNameLst>
                                      </p:cBhvr>
                                      <p:to>
                                        <p:strVal val="visible"/>
                                      </p:to>
                                    </p:set>
                                    <p:animEffect transition="in" filter="wipe(left)">
                                      <p:cBhvr>
                                        <p:cTn id="10" dur="3000"/>
                                        <p:tgtEl>
                                          <p:spTgt spid="9523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5236">
                                            <p:txEl>
                                              <p:pRg st="0" end="0"/>
                                            </p:txEl>
                                          </p:spTgt>
                                        </p:tgtEl>
                                        <p:attrNameLst>
                                          <p:attrName>style.visibility</p:attrName>
                                        </p:attrNameLst>
                                      </p:cBhvr>
                                      <p:to>
                                        <p:strVal val="visible"/>
                                      </p:to>
                                    </p:set>
                                    <p:animEffect transition="in" filter="wipe(left)">
                                      <p:cBhvr>
                                        <p:cTn id="15" dur="500"/>
                                        <p:tgtEl>
                                          <p:spTgt spid="95236">
                                            <p:txEl>
                                              <p:pRg st="0" end="0"/>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5236">
                                            <p:txEl>
                                              <p:pRg st="1" end="1"/>
                                            </p:txEl>
                                          </p:spTgt>
                                        </p:tgtEl>
                                        <p:attrNameLst>
                                          <p:attrName>style.visibility</p:attrName>
                                        </p:attrNameLst>
                                      </p:cBhvr>
                                      <p:to>
                                        <p:strVal val="visible"/>
                                      </p:to>
                                    </p:set>
                                    <p:animEffect transition="in" filter="wipe(left)">
                                      <p:cBhvr>
                                        <p:cTn id="18" dur="500"/>
                                        <p:tgtEl>
                                          <p:spTgt spid="95236">
                                            <p:txEl>
                                              <p:pRg st="1" end="1"/>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5236">
                                            <p:txEl>
                                              <p:pRg st="2" end="2"/>
                                            </p:txEl>
                                          </p:spTgt>
                                        </p:tgtEl>
                                        <p:attrNameLst>
                                          <p:attrName>style.visibility</p:attrName>
                                        </p:attrNameLst>
                                      </p:cBhvr>
                                      <p:to>
                                        <p:strVal val="visible"/>
                                      </p:to>
                                    </p:set>
                                    <p:animEffect transition="in" filter="wipe(left)">
                                      <p:cBhvr>
                                        <p:cTn id="21" dur="500"/>
                                        <p:tgtEl>
                                          <p:spTgt spid="952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autoUpdateAnimBg="0"/>
      <p:bldP spid="95236"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44" name="日期占位符 5"/>
          <p:cNvSpPr>
            <a:spLocks noGrp="1"/>
          </p:cNvSpPr>
          <p:nvPr>
            <p:ph type="dt" sz="half" idx="10"/>
          </p:nvPr>
        </p:nvSpPr>
        <p:spPr>
          <a:noFill/>
        </p:spPr>
        <p:txBody>
          <a:bodyPr/>
          <a:lstStyle/>
          <a:p>
            <a:endParaRPr lang="en-US" altLang="zh-CN" dirty="0"/>
          </a:p>
        </p:txBody>
      </p:sp>
      <p:sp>
        <p:nvSpPr>
          <p:cNvPr id="98306" name="标题 1"/>
          <p:cNvSpPr>
            <a:spLocks noGrp="1"/>
          </p:cNvSpPr>
          <p:nvPr>
            <p:ph type="title"/>
          </p:nvPr>
        </p:nvSpPr>
        <p:spPr>
          <a:xfrm>
            <a:off x="1206499" y="976092"/>
            <a:ext cx="10541001" cy="662782"/>
          </a:xfrm>
        </p:spPr>
        <p:txBody>
          <a:bodyPr>
            <a:normAutofit/>
          </a:bodyPr>
          <a:lstStyle/>
          <a:p>
            <a:pPr eaLnBrk="1" hangingPunct="1"/>
            <a:r>
              <a:rPr lang="en-US" altLang="zh-CN" sz="4000" dirty="0"/>
              <a:t>(Excel</a:t>
            </a:r>
            <a:r>
              <a:rPr lang="zh-CN" altLang="en-US" sz="4000" dirty="0"/>
              <a:t>输出</a:t>
            </a:r>
            <a:r>
              <a:rPr lang="en-US" altLang="zh-CN" sz="4000" dirty="0"/>
              <a:t>——</a:t>
            </a:r>
            <a:r>
              <a:rPr lang="zh-CN" altLang="en-US" sz="4000" dirty="0"/>
              <a:t>回归分析的方差分析表）</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384149663"/>
              </p:ext>
            </p:extLst>
          </p:nvPr>
        </p:nvGraphicFramePr>
        <p:xfrm>
          <a:off x="1393192" y="2512064"/>
          <a:ext cx="9156699" cy="3089276"/>
        </p:xfrm>
        <a:graphic>
          <a:graphicData uri="http://schemas.openxmlformats.org/drawingml/2006/table">
            <a:tbl>
              <a:tblPr/>
              <a:tblGrid>
                <a:gridCol w="1561390">
                  <a:extLst>
                    <a:ext uri="{9D8B030D-6E8A-4147-A177-3AD203B41FA5}">
                      <a16:colId xmlns:a16="http://schemas.microsoft.com/office/drawing/2014/main" val="20000"/>
                    </a:ext>
                  </a:extLst>
                </a:gridCol>
                <a:gridCol w="639697">
                  <a:extLst>
                    <a:ext uri="{9D8B030D-6E8A-4147-A177-3AD203B41FA5}">
                      <a16:colId xmlns:a16="http://schemas.microsoft.com/office/drawing/2014/main" val="20001"/>
                    </a:ext>
                  </a:extLst>
                </a:gridCol>
                <a:gridCol w="1597067">
                  <a:extLst>
                    <a:ext uri="{9D8B030D-6E8A-4147-A177-3AD203B41FA5}">
                      <a16:colId xmlns:a16="http://schemas.microsoft.com/office/drawing/2014/main" val="20002"/>
                    </a:ext>
                  </a:extLst>
                </a:gridCol>
                <a:gridCol w="1632965">
                  <a:extLst>
                    <a:ext uri="{9D8B030D-6E8A-4147-A177-3AD203B41FA5}">
                      <a16:colId xmlns:a16="http://schemas.microsoft.com/office/drawing/2014/main" val="20003"/>
                    </a:ext>
                  </a:extLst>
                </a:gridCol>
                <a:gridCol w="1209604">
                  <a:extLst>
                    <a:ext uri="{9D8B030D-6E8A-4147-A177-3AD203B41FA5}">
                      <a16:colId xmlns:a16="http://schemas.microsoft.com/office/drawing/2014/main" val="20004"/>
                    </a:ext>
                  </a:extLst>
                </a:gridCol>
                <a:gridCol w="2515976">
                  <a:extLst>
                    <a:ext uri="{9D8B030D-6E8A-4147-A177-3AD203B41FA5}">
                      <a16:colId xmlns:a16="http://schemas.microsoft.com/office/drawing/2014/main" val="20005"/>
                    </a:ext>
                  </a:extLst>
                </a:gridCol>
              </a:tblGrid>
              <a:tr h="75715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　</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err="1">
                          <a:ln>
                            <a:noFill/>
                          </a:ln>
                          <a:solidFill>
                            <a:schemeClr val="tx1"/>
                          </a:solidFill>
                          <a:effectLst/>
                          <a:latin typeface="宋体" pitchFamily="2" charset="-122"/>
                          <a:ea typeface="宋体" pitchFamily="2" charset="-122"/>
                        </a:rPr>
                        <a:t>df</a:t>
                      </a:r>
                      <a:endParaRPr kumimoji="0" lang="en-US" altLang="zh-CN" sz="2400" b="1"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宋体" pitchFamily="2" charset="-122"/>
                          <a:ea typeface="宋体" pitchFamily="2" charset="-122"/>
                        </a:rPr>
                        <a:t>SS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宋体" pitchFamily="2" charset="-122"/>
                          <a:ea typeface="宋体" pitchFamily="2" charset="-122"/>
                        </a:rPr>
                        <a:t>MS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宋体" pitchFamily="2" charset="-122"/>
                          <a:ea typeface="宋体" pitchFamily="2"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宋体" pitchFamily="2" charset="-122"/>
                          <a:ea typeface="宋体" pitchFamily="2" charset="-122"/>
                        </a:rPr>
                        <a:t>Significance F</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748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rgbClr val="000000"/>
                          </a:solidFill>
                          <a:effectLst/>
                          <a:latin typeface="宋体" pitchFamily="2" charset="-122"/>
                          <a:ea typeface="宋体" pitchFamily="2" charset="-122"/>
                        </a:rPr>
                        <a:t>回归分析</a:t>
                      </a:r>
                    </a:p>
                  </a:txBody>
                  <a:tcPr marL="0" marR="0" marT="0" marB="0" anchor="ctr" horzOverflow="overflow">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zh-CN" sz="2800" b="0" i="0" u="none" strike="noStrike" dirty="0">
                          <a:solidFill>
                            <a:srgbClr val="000000"/>
                          </a:solidFill>
                          <a:latin typeface="宋体"/>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0" i="0" u="none" strike="noStrike" dirty="0">
                          <a:solidFill>
                            <a:srgbClr val="000000"/>
                          </a:solidFill>
                          <a:latin typeface="宋体"/>
                        </a:rPr>
                        <a:t>1287.992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0" i="0" u="none" strike="noStrike" dirty="0">
                          <a:solidFill>
                            <a:srgbClr val="000000"/>
                          </a:solidFill>
                          <a:latin typeface="宋体"/>
                        </a:rPr>
                        <a:t>1287.992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1" i="0" u="none" strike="noStrike" dirty="0">
                          <a:solidFill>
                            <a:srgbClr val="0000FF"/>
                          </a:solidFill>
                          <a:latin typeface="宋体"/>
                        </a:rPr>
                        <a:t>22.343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zh-CN" sz="2800" b="1" i="0" u="none" strike="noStrike" dirty="0">
                          <a:solidFill>
                            <a:srgbClr val="FF0000"/>
                          </a:solidFill>
                          <a:latin typeface="宋体"/>
                        </a:rPr>
                        <a:t>0.003235</a:t>
                      </a:r>
                    </a:p>
                  </a:txBody>
                  <a:tcPr marL="0" marR="0" marT="0"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715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00"/>
                          </a:solidFill>
                          <a:effectLst/>
                          <a:latin typeface="宋体" pitchFamily="2" charset="-122"/>
                          <a:ea typeface="宋体" pitchFamily="2" charset="-122"/>
                        </a:rPr>
                        <a:t>残差</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US" altLang="zh-CN" sz="2800" b="0" i="0" u="none" strike="noStrike" dirty="0">
                          <a:solidFill>
                            <a:srgbClr val="000000"/>
                          </a:solidFill>
                          <a:latin typeface="宋体"/>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0" i="0" u="none" strike="noStrike" dirty="0">
                          <a:solidFill>
                            <a:srgbClr val="000000"/>
                          </a:solidFill>
                          <a:latin typeface="宋体"/>
                        </a:rPr>
                        <a:t>345.883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2800" b="0" i="0" u="none" strike="noStrike" dirty="0">
                          <a:solidFill>
                            <a:srgbClr val="000000"/>
                          </a:solidFill>
                          <a:latin typeface="宋体"/>
                        </a:rPr>
                        <a:t>57.647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endParaRPr lang="zh-CN" altLang="en-US" sz="2800" b="0" i="0" u="none" strike="noStrike" dirty="0">
                        <a:solidFill>
                          <a:srgbClr val="000000"/>
                        </a:solidFill>
                        <a:latin typeface="宋体"/>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endParaRPr lang="zh-CN" altLang="en-US" sz="2800" b="0" i="0" u="none" strike="noStrike">
                        <a:solidFill>
                          <a:srgbClr val="000000"/>
                        </a:solidFill>
                        <a:latin typeface="宋体"/>
                      </a:endParaRP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748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rgbClr val="000000"/>
                          </a:solidFill>
                          <a:effectLst/>
                          <a:latin typeface="宋体" pitchFamily="2" charset="-122"/>
                          <a:ea typeface="宋体" pitchFamily="2" charset="-122"/>
                        </a:rPr>
                        <a:t>总计</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r>
                        <a:rPr lang="en-US" altLang="zh-CN" sz="2800" b="0" i="0" u="none" strike="noStrike" dirty="0">
                          <a:solidFill>
                            <a:srgbClr val="000000"/>
                          </a:solidFill>
                          <a:latin typeface="宋体"/>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2800" b="0" i="0" u="none" strike="noStrike" dirty="0">
                          <a:solidFill>
                            <a:srgbClr val="000000"/>
                          </a:solidFill>
                          <a:latin typeface="宋体"/>
                        </a:rPr>
                        <a:t>1633.875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zh-CN" altLang="en-US" sz="2800" b="0" i="0" u="none" strike="noStrike" dirty="0">
                          <a:solidFill>
                            <a:srgbClr val="000000"/>
                          </a:solidFill>
                          <a:latin typeface="宋体"/>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zh-CN" altLang="en-US" sz="2800" b="0" i="0" u="none" strike="noStrike" dirty="0">
                          <a:solidFill>
                            <a:srgbClr val="000000"/>
                          </a:solidFill>
                          <a:latin typeface="宋体"/>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zh-CN" altLang="en-US" sz="2800" b="0" i="0" u="none" strike="noStrike" dirty="0">
                          <a:solidFill>
                            <a:srgbClr val="000000"/>
                          </a:solidFill>
                          <a:latin typeface="宋体"/>
                        </a:rPr>
                        <a:t>　</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8342" name="灯片编号占位符 3"/>
          <p:cNvSpPr>
            <a:spLocks noGrp="1"/>
          </p:cNvSpPr>
          <p:nvPr>
            <p:ph type="sldNum" sz="quarter" idx="4"/>
          </p:nvPr>
        </p:nvSpPr>
        <p:spPr>
          <a:noFill/>
        </p:spPr>
        <p:txBody>
          <a:bodyPr/>
          <a:lstStyle/>
          <a:p>
            <a:r>
              <a:rPr lang="en-US" altLang="zh-CN" dirty="0"/>
              <a:t>9--</a:t>
            </a:r>
            <a:fld id="{28A6E182-0EB2-4519-8FDC-A22D2A9D2D87}" type="slidenum">
              <a:rPr lang="en-US" altLang="zh-CN" smtClean="0"/>
              <a:pPr/>
              <a:t>70</a:t>
            </a:fld>
            <a:endParaRPr lang="en-US" altLang="zh-CN" dirty="0"/>
          </a:p>
        </p:txBody>
      </p:sp>
      <p:sp>
        <p:nvSpPr>
          <p:cNvPr id="98343" name="TextBox 6"/>
          <p:cNvSpPr txBox="1">
            <a:spLocks noChangeArrowheads="1"/>
          </p:cNvSpPr>
          <p:nvPr/>
        </p:nvSpPr>
        <p:spPr bwMode="auto">
          <a:xfrm>
            <a:off x="7300914" y="1865733"/>
            <a:ext cx="3405186" cy="646331"/>
          </a:xfrm>
          <a:prstGeom prst="rect">
            <a:avLst/>
          </a:prstGeom>
          <a:noFill/>
          <a:ln w="9525">
            <a:solidFill>
              <a:schemeClr val="bg1"/>
            </a:solidFill>
            <a:miter lim="800000"/>
            <a:headEnd/>
            <a:tailEnd/>
          </a:ln>
        </p:spPr>
        <p:txBody>
          <a:bodyPr wrap="square" anchor="ctr">
            <a:spAutoFit/>
          </a:bodyPr>
          <a:lstStyle/>
          <a:p>
            <a:pPr algn="ctr"/>
            <a:r>
              <a:rPr lang="zh-CN" altLang="en-US" sz="3600" b="1" dirty="0"/>
              <a:t>   </a:t>
            </a:r>
            <a:r>
              <a:rPr lang="zh-CN" altLang="en-US" sz="2800" b="1" dirty="0"/>
              <a:t>图</a:t>
            </a:r>
            <a:r>
              <a:rPr lang="en-US" altLang="zh-CN" sz="2800" b="1" dirty="0"/>
              <a:t>9-2</a:t>
            </a:r>
            <a:r>
              <a:rPr lang="zh-CN" altLang="en-US" sz="2400" b="1" dirty="0"/>
              <a:t>（第二部分）</a:t>
            </a:r>
          </a:p>
        </p:txBody>
      </p:sp>
    </p:spTree>
    <p:extLst>
      <p:ext uri="{BB962C8B-B14F-4D97-AF65-F5344CB8AC3E}">
        <p14:creationId xmlns:p14="http://schemas.microsoft.com/office/powerpoint/2010/main" val="6881623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9" name="日期占位符 6"/>
          <p:cNvSpPr>
            <a:spLocks noGrp="1"/>
          </p:cNvSpPr>
          <p:nvPr>
            <p:ph type="dt" sz="half" idx="10"/>
          </p:nvPr>
        </p:nvSpPr>
        <p:spPr>
          <a:noFill/>
        </p:spPr>
        <p:txBody>
          <a:bodyPr/>
          <a:lstStyle/>
          <a:p>
            <a:endParaRPr lang="en-US" altLang="zh-CN" dirty="0"/>
          </a:p>
        </p:txBody>
      </p:sp>
      <p:sp>
        <p:nvSpPr>
          <p:cNvPr id="33796" name="Rectangle 2"/>
          <p:cNvSpPr>
            <a:spLocks noGrp="1" noChangeArrowheads="1"/>
          </p:cNvSpPr>
          <p:nvPr>
            <p:ph type="title"/>
          </p:nvPr>
        </p:nvSpPr>
        <p:spPr>
          <a:xfrm>
            <a:off x="1473200" y="560767"/>
            <a:ext cx="7340600" cy="662782"/>
          </a:xfrm>
          <a:noFill/>
        </p:spPr>
        <p:txBody>
          <a:bodyPr vert="horz" lIns="90488" tIns="44450" rIns="90488" bIns="44450" rtlCol="0" anchor="ctr" anchorCtr="1">
            <a:normAutofit/>
          </a:bodyPr>
          <a:lstStyle/>
          <a:p>
            <a:pPr eaLnBrk="1" hangingPunct="1"/>
            <a:r>
              <a:rPr lang="zh-CN" altLang="en-US" sz="3600" dirty="0"/>
              <a:t>回归系数显著性检验的</a:t>
            </a:r>
            <a:r>
              <a:rPr lang="zh-CN" altLang="en-US" dirty="0"/>
              <a:t>步骤</a:t>
            </a:r>
          </a:p>
        </p:txBody>
      </p:sp>
      <p:sp>
        <p:nvSpPr>
          <p:cNvPr id="373763" name="Rectangle 3"/>
          <p:cNvSpPr>
            <a:spLocks noGrp="1" noChangeArrowheads="1"/>
          </p:cNvSpPr>
          <p:nvPr>
            <p:ph idx="1"/>
          </p:nvPr>
        </p:nvSpPr>
        <p:spPr>
          <a:xfrm>
            <a:off x="2063750" y="1251894"/>
            <a:ext cx="9671050" cy="4800361"/>
          </a:xfrm>
          <a:noFill/>
        </p:spPr>
        <p:txBody>
          <a:bodyPr vert="horz" lIns="90488" tIns="44450" rIns="90488" bIns="44450" rtlCol="0">
            <a:normAutofit/>
          </a:bodyPr>
          <a:lstStyle/>
          <a:p>
            <a:pPr marL="609600" indent="-609600">
              <a:buFontTx/>
              <a:buAutoNum type="arabicPeriod"/>
            </a:pPr>
            <a:r>
              <a:rPr lang="zh-CN" altLang="en-US" sz="2800" b="1" dirty="0"/>
              <a:t>提出假设</a:t>
            </a:r>
          </a:p>
          <a:p>
            <a:pPr marL="1219200" lvl="1" indent="-533400"/>
            <a:r>
              <a:rPr lang="en-US" altLang="zh-CN" sz="2600" b="1" i="1" dirty="0">
                <a:latin typeface="Times New Roman" pitchFamily="18" charset="0"/>
              </a:rPr>
              <a:t>H</a:t>
            </a:r>
            <a:r>
              <a:rPr lang="en-US" altLang="zh-CN" sz="2600" b="1" baseline="-25000" dirty="0"/>
              <a:t>0</a:t>
            </a:r>
            <a:r>
              <a:rPr lang="en-US" altLang="zh-CN" sz="2600" b="1" dirty="0"/>
              <a:t>: </a:t>
            </a:r>
            <a:r>
              <a:rPr lang="en-US" altLang="zh-CN" sz="2600" b="1" i="1" dirty="0">
                <a:latin typeface="Symbol" pitchFamily="18" charset="2"/>
              </a:rPr>
              <a:t>b </a:t>
            </a:r>
            <a:r>
              <a:rPr lang="en-US" altLang="zh-CN" sz="2600" b="1" dirty="0"/>
              <a:t>= 0 (</a:t>
            </a:r>
            <a:r>
              <a:rPr kumimoji="1" lang="en-US" altLang="zh-CN" sz="2400" b="1" i="1" dirty="0"/>
              <a:t>x </a:t>
            </a:r>
            <a:r>
              <a:rPr kumimoji="1" lang="zh-CN" altLang="en-US" sz="2400" b="1" dirty="0"/>
              <a:t>与 </a:t>
            </a:r>
            <a:r>
              <a:rPr kumimoji="1" lang="en-US" altLang="zh-CN" sz="2400" b="1" i="1" dirty="0"/>
              <a:t>y </a:t>
            </a:r>
            <a:r>
              <a:rPr kumimoji="1" lang="zh-CN" altLang="en-US" sz="2400" b="1" dirty="0"/>
              <a:t>之间</a:t>
            </a:r>
            <a:r>
              <a:rPr lang="zh-CN" altLang="en-US" sz="2600" b="1" dirty="0">
                <a:solidFill>
                  <a:srgbClr val="00B0F0"/>
                </a:solidFill>
              </a:rPr>
              <a:t>没有</a:t>
            </a:r>
            <a:r>
              <a:rPr lang="zh-CN" altLang="en-US" sz="2600" b="1" dirty="0"/>
              <a:t>线性关系</a:t>
            </a:r>
            <a:r>
              <a:rPr lang="en-US" altLang="zh-CN" sz="2600" b="1" dirty="0"/>
              <a:t>) </a:t>
            </a:r>
          </a:p>
          <a:p>
            <a:pPr marL="1219200" lvl="1" indent="-533400"/>
            <a:r>
              <a:rPr lang="en-US" altLang="zh-CN" sz="2600" b="1" i="1" dirty="0">
                <a:latin typeface="Times New Roman" pitchFamily="18" charset="0"/>
              </a:rPr>
              <a:t>H</a:t>
            </a:r>
            <a:r>
              <a:rPr lang="en-US" altLang="zh-CN" sz="2600" b="1" baseline="-25000" dirty="0"/>
              <a:t>1</a:t>
            </a:r>
            <a:r>
              <a:rPr lang="en-US" altLang="zh-CN" sz="2600" b="1" dirty="0"/>
              <a:t>: </a:t>
            </a:r>
            <a:r>
              <a:rPr lang="en-US" altLang="zh-CN" sz="2600" b="1" i="1" dirty="0">
                <a:latin typeface="Symbol" pitchFamily="18" charset="2"/>
              </a:rPr>
              <a:t>b</a:t>
            </a:r>
            <a:r>
              <a:rPr lang="en-US" altLang="zh-CN" b="1" dirty="0"/>
              <a:t> </a:t>
            </a:r>
            <a:r>
              <a:rPr lang="en-US" altLang="zh-CN" sz="2600" b="1" dirty="0">
                <a:latin typeface="Symbol" pitchFamily="18" charset="2"/>
                <a:sym typeface="Symbol" pitchFamily="18" charset="2"/>
              </a:rPr>
              <a:t> </a:t>
            </a:r>
            <a:r>
              <a:rPr lang="en-US" altLang="zh-CN" sz="2600" b="1" dirty="0"/>
              <a:t>0  (</a:t>
            </a:r>
            <a:r>
              <a:rPr kumimoji="1" lang="en-US" altLang="zh-CN" sz="2400" b="1" i="1" dirty="0"/>
              <a:t>x </a:t>
            </a:r>
            <a:r>
              <a:rPr kumimoji="1" lang="zh-CN" altLang="en-US" sz="2400" b="1" dirty="0"/>
              <a:t>与 </a:t>
            </a:r>
            <a:r>
              <a:rPr kumimoji="1" lang="en-US" altLang="zh-CN" sz="2400" b="1" i="1" dirty="0"/>
              <a:t>y </a:t>
            </a:r>
            <a:r>
              <a:rPr kumimoji="1" lang="zh-CN" altLang="en-US" sz="2400" b="1" dirty="0"/>
              <a:t>之间</a:t>
            </a:r>
            <a:r>
              <a:rPr lang="zh-CN" altLang="en-US" sz="2600" b="1" dirty="0"/>
              <a:t>存在线性关系</a:t>
            </a:r>
            <a:r>
              <a:rPr lang="en-US" altLang="zh-CN" sz="2600" b="1" dirty="0"/>
              <a:t>) </a:t>
            </a:r>
          </a:p>
          <a:p>
            <a:pPr marL="609600" indent="-609600">
              <a:buFontTx/>
              <a:buAutoNum type="arabicPeriod"/>
            </a:pPr>
            <a:r>
              <a:rPr lang="zh-CN" altLang="en-US" sz="2800" b="1" dirty="0"/>
              <a:t>计算检验统计量的值或</a:t>
            </a:r>
            <a:r>
              <a:rPr lang="en-US" altLang="zh-CN" sz="2800" b="1" dirty="0"/>
              <a:t>P</a:t>
            </a:r>
            <a:r>
              <a:rPr lang="zh-CN" altLang="en-US" sz="2800" b="1" dirty="0"/>
              <a:t>值</a:t>
            </a:r>
          </a:p>
        </p:txBody>
      </p:sp>
      <p:sp>
        <p:nvSpPr>
          <p:cNvPr id="33795" name="灯片编号占位符 5"/>
          <p:cNvSpPr>
            <a:spLocks noGrp="1"/>
          </p:cNvSpPr>
          <p:nvPr>
            <p:ph type="sldNum" sz="quarter" idx="4"/>
          </p:nvPr>
        </p:nvSpPr>
        <p:spPr>
          <a:noFill/>
        </p:spPr>
        <p:txBody>
          <a:bodyPr/>
          <a:lstStyle/>
          <a:p>
            <a:r>
              <a:rPr lang="en-US" altLang="zh-CN" dirty="0"/>
              <a:t>9--</a:t>
            </a:r>
            <a:fld id="{D4AADA68-A659-4E23-A1BB-EAB5E1434F95}" type="slidenum">
              <a:rPr lang="en-US" altLang="zh-CN" smtClean="0"/>
              <a:pPr/>
              <a:t>71</a:t>
            </a:fld>
            <a:endParaRPr lang="en-US" altLang="zh-CN" dirty="0"/>
          </a:p>
        </p:txBody>
      </p:sp>
      <p:sp>
        <p:nvSpPr>
          <p:cNvPr id="373764" name="Rectangle 4"/>
          <p:cNvSpPr>
            <a:spLocks noChangeArrowheads="1"/>
          </p:cNvSpPr>
          <p:nvPr/>
        </p:nvSpPr>
        <p:spPr bwMode="auto">
          <a:xfrm>
            <a:off x="2063750" y="4653137"/>
            <a:ext cx="7848600" cy="1590675"/>
          </a:xfrm>
          <a:prstGeom prst="rect">
            <a:avLst/>
          </a:prstGeom>
          <a:noFill/>
          <a:ln w="12700">
            <a:noFill/>
            <a:miter lim="800000"/>
            <a:headEnd/>
            <a:tailEnd/>
          </a:ln>
        </p:spPr>
        <p:txBody>
          <a:bodyPr>
            <a:spAutoFit/>
          </a:bodyPr>
          <a:lstStyle/>
          <a:p>
            <a:pPr marL="457200" indent="-457200" eaLnBrk="0" hangingPunct="0">
              <a:spcBef>
                <a:spcPct val="30000"/>
              </a:spcBef>
              <a:buFontTx/>
              <a:buAutoNum type="arabicPeriod" startAt="3"/>
            </a:pPr>
            <a:r>
              <a:rPr lang="en-US" altLang="zh-CN" sz="2800" b="1" dirty="0">
                <a:solidFill>
                  <a:srgbClr val="2F5597"/>
                </a:solidFill>
                <a:latin typeface="微软雅黑" panose="020B0503020204020204" pitchFamily="34" charset="-122"/>
                <a:ea typeface="微软雅黑" panose="020B0503020204020204" pitchFamily="34" charset="-122"/>
              </a:rPr>
              <a:t> </a:t>
            </a:r>
            <a:r>
              <a:rPr lang="zh-CN" altLang="en-US" sz="2800" b="1" dirty="0">
                <a:solidFill>
                  <a:srgbClr val="2F5597"/>
                </a:solidFill>
                <a:latin typeface="微软雅黑" panose="020B0503020204020204" pitchFamily="34" charset="-122"/>
                <a:ea typeface="微软雅黑" panose="020B0503020204020204" pitchFamily="34" charset="-122"/>
              </a:rPr>
              <a:t>确定显著性水平</a:t>
            </a:r>
            <a:r>
              <a:rPr lang="zh-CN" altLang="en-US" sz="2800" b="1" dirty="0">
                <a:solidFill>
                  <a:srgbClr val="2F5597"/>
                </a:solidFill>
                <a:latin typeface="微软雅黑" panose="020B0503020204020204" pitchFamily="34" charset="-122"/>
                <a:ea typeface="微软雅黑" panose="020B0503020204020204" pitchFamily="34" charset="-122"/>
                <a:sym typeface="Symbol" pitchFamily="18" charset="2"/>
              </a:rPr>
              <a:t> 和临界值，并进行决策</a:t>
            </a:r>
          </a:p>
          <a:p>
            <a:pPr marL="914400" lvl="1" indent="-457200" eaLnBrk="0" hangingPunct="0">
              <a:spcBef>
                <a:spcPct val="30000"/>
              </a:spcBef>
              <a:buClr>
                <a:schemeClr val="hlink"/>
              </a:buClr>
              <a:buSzPct val="135000"/>
              <a:buFont typeface="Wingdings" pitchFamily="2" charset="2"/>
              <a:buChar char="§"/>
            </a:pPr>
            <a:r>
              <a:rPr kumimoji="1" lang="zh-CN" altLang="en-US" sz="2600" b="1" dirty="0">
                <a:solidFill>
                  <a:schemeClr val="tx2"/>
                </a:solidFill>
                <a:sym typeface="Symbol" pitchFamily="18" charset="2"/>
              </a:rPr>
              <a:t> </a:t>
            </a:r>
            <a:r>
              <a:rPr kumimoji="1" lang="en-US" altLang="zh-CN" sz="2800" b="1" i="1" dirty="0">
                <a:sym typeface="Symbol" pitchFamily="18" charset="2"/>
              </a:rPr>
              <a:t>t</a:t>
            </a:r>
            <a:r>
              <a:rPr kumimoji="1" lang="en-US" altLang="zh-CN" sz="2600" b="1" dirty="0">
                <a:solidFill>
                  <a:schemeClr val="tx2"/>
                </a:solidFill>
                <a:sym typeface="Symbol" pitchFamily="18" charset="2"/>
              </a:rPr>
              <a:t> &gt;</a:t>
            </a:r>
            <a:r>
              <a:rPr kumimoji="1" lang="en-US" altLang="zh-CN" sz="2800" b="1" i="1" dirty="0">
                <a:sym typeface="Symbol" pitchFamily="18" charset="2"/>
              </a:rPr>
              <a:t>t</a:t>
            </a:r>
            <a:r>
              <a:rPr kumimoji="1" lang="en-US" altLang="zh-CN" sz="2600" b="1" baseline="-25000" dirty="0">
                <a:solidFill>
                  <a:schemeClr val="tx2"/>
                </a:solidFill>
                <a:sym typeface="Symbol" pitchFamily="18" charset="2"/>
              </a:rPr>
              <a:t></a:t>
            </a:r>
            <a:r>
              <a:rPr kumimoji="1" lang="en-US" altLang="zh-CN" sz="2600" b="1" dirty="0">
                <a:solidFill>
                  <a:schemeClr val="tx2"/>
                </a:solidFill>
                <a:sym typeface="Symbol" pitchFamily="18" charset="2"/>
              </a:rPr>
              <a:t> (n-2)</a:t>
            </a:r>
            <a:r>
              <a:rPr kumimoji="1" lang="en-US" altLang="zh-CN" sz="2600" b="1" dirty="0">
                <a:solidFill>
                  <a:srgbClr val="000000"/>
                </a:solidFill>
                <a:sym typeface="Symbol" pitchFamily="18" charset="2"/>
              </a:rPr>
              <a:t> </a:t>
            </a:r>
            <a:r>
              <a:rPr kumimoji="1" lang="zh-CN" altLang="en-US" sz="2600" b="1" dirty="0">
                <a:solidFill>
                  <a:srgbClr val="000000"/>
                </a:solidFill>
                <a:sym typeface="Symbol" pitchFamily="18" charset="2"/>
              </a:rPr>
              <a:t>，</a:t>
            </a:r>
            <a:r>
              <a:rPr kumimoji="1" lang="zh-CN" altLang="en-US" sz="2800" b="1" dirty="0">
                <a:solidFill>
                  <a:srgbClr val="000000"/>
                </a:solidFill>
                <a:sym typeface="Symbol" pitchFamily="18" charset="2"/>
              </a:rPr>
              <a:t>或 </a:t>
            </a:r>
            <a:r>
              <a:rPr kumimoji="1" lang="en-US" altLang="zh-CN" sz="2800" b="1" i="1" dirty="0">
                <a:solidFill>
                  <a:schemeClr val="tx2"/>
                </a:solidFill>
                <a:latin typeface="Times New Roman" panose="02020603050405020304" pitchFamily="18" charset="0"/>
                <a:cs typeface="Times New Roman" panose="02020603050405020304" pitchFamily="18" charset="0"/>
                <a:sym typeface="Symbol" pitchFamily="18" charset="2"/>
              </a:rPr>
              <a:t>P</a:t>
            </a:r>
            <a:r>
              <a:rPr kumimoji="1" lang="zh-CN" altLang="en-US" sz="2800" b="1" dirty="0">
                <a:solidFill>
                  <a:schemeClr val="tx2"/>
                </a:solidFill>
                <a:sym typeface="Symbol" pitchFamily="18" charset="2"/>
              </a:rPr>
              <a:t>值</a:t>
            </a:r>
            <a:r>
              <a:rPr kumimoji="1" lang="en-US" altLang="zh-CN" sz="2800" b="1" dirty="0">
                <a:solidFill>
                  <a:schemeClr val="tx2"/>
                </a:solidFill>
                <a:sym typeface="Symbol" pitchFamily="18" charset="2"/>
              </a:rPr>
              <a:t>&lt;</a:t>
            </a:r>
            <a:r>
              <a:rPr kumimoji="1" lang="en-US" altLang="zh-CN" sz="2800" b="1" i="1" dirty="0">
                <a:solidFill>
                  <a:schemeClr val="tx2"/>
                </a:solidFill>
                <a:sym typeface="Symbol" pitchFamily="18" charset="2"/>
              </a:rPr>
              <a:t> </a:t>
            </a:r>
            <a:r>
              <a:rPr kumimoji="1" lang="zh-CN" altLang="en-US" sz="2800" b="1" dirty="0">
                <a:solidFill>
                  <a:schemeClr val="tx2"/>
                </a:solidFill>
                <a:sym typeface="Symbol" pitchFamily="18" charset="2"/>
              </a:rPr>
              <a:t>，</a:t>
            </a:r>
            <a:r>
              <a:rPr kumimoji="1" lang="zh-CN" altLang="en-US" sz="2600" b="1" dirty="0">
                <a:solidFill>
                  <a:srgbClr val="000000"/>
                </a:solidFill>
                <a:sym typeface="Symbol" pitchFamily="18" charset="2"/>
              </a:rPr>
              <a:t>拒绝</a:t>
            </a:r>
            <a:r>
              <a:rPr kumimoji="1" lang="en-US" altLang="zh-CN" sz="2600" b="1" i="1" dirty="0">
                <a:solidFill>
                  <a:srgbClr val="000000"/>
                </a:solidFill>
                <a:latin typeface="Times New Roman" pitchFamily="18" charset="0"/>
                <a:sym typeface="Symbol" pitchFamily="18" charset="2"/>
              </a:rPr>
              <a:t>H</a:t>
            </a:r>
            <a:r>
              <a:rPr kumimoji="1" lang="en-US" altLang="zh-CN" sz="2600" b="1" baseline="-25000" dirty="0">
                <a:solidFill>
                  <a:srgbClr val="000000"/>
                </a:solidFill>
                <a:sym typeface="Symbol" pitchFamily="18" charset="2"/>
              </a:rPr>
              <a:t>0</a:t>
            </a:r>
            <a:r>
              <a:rPr kumimoji="1" lang="zh-CN" altLang="en-US" sz="2600" b="1" dirty="0">
                <a:solidFill>
                  <a:srgbClr val="000000"/>
                </a:solidFill>
                <a:sym typeface="Symbol" pitchFamily="18" charset="2"/>
              </a:rPr>
              <a:t>；</a:t>
            </a:r>
          </a:p>
          <a:p>
            <a:pPr marL="914400" lvl="1" indent="-457200" eaLnBrk="0" hangingPunct="0">
              <a:spcBef>
                <a:spcPct val="30000"/>
              </a:spcBef>
              <a:buClr>
                <a:schemeClr val="hlink"/>
              </a:buClr>
              <a:buSzPct val="135000"/>
              <a:buFont typeface="Wingdings" pitchFamily="2" charset="2"/>
              <a:buChar char="§"/>
            </a:pPr>
            <a:r>
              <a:rPr kumimoji="1" lang="zh-CN" altLang="en-US" sz="2600" b="1" dirty="0">
                <a:solidFill>
                  <a:srgbClr val="000000"/>
                </a:solidFill>
                <a:sym typeface="Symbol" pitchFamily="18" charset="2"/>
              </a:rPr>
              <a:t>反之，不能拒绝 </a:t>
            </a:r>
            <a:r>
              <a:rPr kumimoji="1" lang="en-US" altLang="zh-CN" sz="2600" b="1" i="1" dirty="0">
                <a:solidFill>
                  <a:srgbClr val="000000"/>
                </a:solidFill>
                <a:latin typeface="Times New Roman" pitchFamily="18" charset="0"/>
                <a:sym typeface="Symbol" pitchFamily="18" charset="2"/>
              </a:rPr>
              <a:t>H</a:t>
            </a:r>
            <a:r>
              <a:rPr kumimoji="1" lang="en-US" altLang="zh-CN" sz="2600" b="1" baseline="-25000" dirty="0">
                <a:solidFill>
                  <a:srgbClr val="000000"/>
                </a:solidFill>
                <a:sym typeface="Symbol" pitchFamily="18" charset="2"/>
              </a:rPr>
              <a:t>0</a:t>
            </a:r>
          </a:p>
        </p:txBody>
      </p:sp>
      <p:graphicFrame>
        <p:nvGraphicFramePr>
          <p:cNvPr id="373765" name="Object 5">
            <a:hlinkClick r:id="" action="ppaction://ole?verb=0"/>
          </p:cNvPr>
          <p:cNvGraphicFramePr>
            <a:graphicFrameLocks/>
          </p:cNvGraphicFramePr>
          <p:nvPr/>
        </p:nvGraphicFramePr>
        <p:xfrm>
          <a:off x="3465513" y="3140968"/>
          <a:ext cx="6424612" cy="1446212"/>
        </p:xfrm>
        <a:graphic>
          <a:graphicData uri="http://schemas.openxmlformats.org/presentationml/2006/ole">
            <mc:AlternateContent xmlns:mc="http://schemas.openxmlformats.org/markup-compatibility/2006">
              <mc:Choice xmlns:v="urn:schemas-microsoft-com:vml" Requires="v">
                <p:oleObj name="Equation" r:id="rId3" imgW="2501640" imgH="507960" progId="Equation.DSMT4">
                  <p:embed/>
                </p:oleObj>
              </mc:Choice>
              <mc:Fallback>
                <p:oleObj name="Equation" r:id="rId3" imgW="2501640" imgH="507960" progId="Equation.DSMT4">
                  <p:embed/>
                  <p:pic>
                    <p:nvPicPr>
                      <p:cNvPr id="373765"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5513" y="3140968"/>
                        <a:ext cx="6424612" cy="14462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890951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3763">
                                            <p:txEl>
                                              <p:pRg st="3" end="3"/>
                                            </p:txEl>
                                          </p:spTgt>
                                        </p:tgtEl>
                                        <p:attrNameLst>
                                          <p:attrName>style.visibility</p:attrName>
                                        </p:attrNameLst>
                                      </p:cBhvr>
                                      <p:to>
                                        <p:strVal val="visible"/>
                                      </p:to>
                                    </p:set>
                                    <p:animEffect transition="in" filter="wipe(left)">
                                      <p:cBhvr>
                                        <p:cTn id="7" dur="500"/>
                                        <p:tgtEl>
                                          <p:spTgt spid="373763">
                                            <p:txEl>
                                              <p:pRg st="3" end="3"/>
                                            </p:txEl>
                                          </p:spTgt>
                                        </p:tgtEl>
                                      </p:cBhvr>
                                    </p:animEffect>
                                  </p:childTnLst>
                                  <p:subTnLst>
                                    <p:animClr clrSpc="rgb" dir="cw">
                                      <p:cBhvr override="childStyle">
                                        <p:cTn dur="1" fill="hold" display="0" masterRel="nextClick" afterEffect="1"/>
                                        <p:tgtEl>
                                          <p:spTgt spid="373763">
                                            <p:txEl>
                                              <p:pRg st="3" end="3"/>
                                            </p:txEl>
                                          </p:spTgt>
                                        </p:tgtEl>
                                        <p:attrNameLst>
                                          <p:attrName>ppt_c</p:attrName>
                                        </p:attrNameLst>
                                      </p:cBhvr>
                                      <p:to>
                                        <a:schemeClr val="folHlink"/>
                                      </p:to>
                                    </p:animClr>
                                  </p:subTnLst>
                                </p:cTn>
                              </p:par>
                              <p:par>
                                <p:cTn id="8" presetID="22" presetClass="entr" presetSubtype="8" fill="hold" nodeType="withEffect">
                                  <p:stCondLst>
                                    <p:cond delay="0"/>
                                  </p:stCondLst>
                                  <p:childTnLst>
                                    <p:set>
                                      <p:cBhvr>
                                        <p:cTn id="9" dur="1" fill="hold">
                                          <p:stCondLst>
                                            <p:cond delay="0"/>
                                          </p:stCondLst>
                                        </p:cTn>
                                        <p:tgtEl>
                                          <p:spTgt spid="373765"/>
                                        </p:tgtEl>
                                        <p:attrNameLst>
                                          <p:attrName>style.visibility</p:attrName>
                                        </p:attrNameLst>
                                      </p:cBhvr>
                                      <p:to>
                                        <p:strVal val="visible"/>
                                      </p:to>
                                    </p:set>
                                    <p:animEffect transition="in" filter="wipe(left)">
                                      <p:cBhvr>
                                        <p:cTn id="10" dur="3000"/>
                                        <p:tgtEl>
                                          <p:spTgt spid="37376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73764">
                                            <p:txEl>
                                              <p:pRg st="0" end="0"/>
                                            </p:txEl>
                                          </p:spTgt>
                                        </p:tgtEl>
                                        <p:attrNameLst>
                                          <p:attrName>style.visibility</p:attrName>
                                        </p:attrNameLst>
                                      </p:cBhvr>
                                      <p:to>
                                        <p:strVal val="visible"/>
                                      </p:to>
                                    </p:set>
                                    <p:animEffect transition="in" filter="wipe(left)">
                                      <p:cBhvr>
                                        <p:cTn id="15" dur="500"/>
                                        <p:tgtEl>
                                          <p:spTgt spid="373764">
                                            <p:txEl>
                                              <p:pRg st="0" end="0"/>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73764">
                                            <p:txEl>
                                              <p:pRg st="1" end="1"/>
                                            </p:txEl>
                                          </p:spTgt>
                                        </p:tgtEl>
                                        <p:attrNameLst>
                                          <p:attrName>style.visibility</p:attrName>
                                        </p:attrNameLst>
                                      </p:cBhvr>
                                      <p:to>
                                        <p:strVal val="visible"/>
                                      </p:to>
                                    </p:set>
                                    <p:animEffect transition="in" filter="wipe(left)">
                                      <p:cBhvr>
                                        <p:cTn id="18" dur="500"/>
                                        <p:tgtEl>
                                          <p:spTgt spid="373764">
                                            <p:txEl>
                                              <p:pRg st="1" end="1"/>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73764">
                                            <p:txEl>
                                              <p:pRg st="2" end="2"/>
                                            </p:txEl>
                                          </p:spTgt>
                                        </p:tgtEl>
                                        <p:attrNameLst>
                                          <p:attrName>style.visibility</p:attrName>
                                        </p:attrNameLst>
                                      </p:cBhvr>
                                      <p:to>
                                        <p:strVal val="visible"/>
                                      </p:to>
                                    </p:set>
                                    <p:animEffect transition="in" filter="wipe(left)">
                                      <p:cBhvr>
                                        <p:cTn id="21" dur="500"/>
                                        <p:tgtEl>
                                          <p:spTgt spid="3737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autoUpdateAnimBg="0"/>
      <p:bldP spid="373764"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64" name="日期占位符 10"/>
          <p:cNvSpPr>
            <a:spLocks noGrp="1"/>
          </p:cNvSpPr>
          <p:nvPr>
            <p:ph type="dt" sz="half" idx="10"/>
          </p:nvPr>
        </p:nvSpPr>
        <p:spPr>
          <a:noFill/>
        </p:spPr>
        <p:txBody>
          <a:bodyPr/>
          <a:lstStyle/>
          <a:p>
            <a:endParaRPr lang="en-US" altLang="zh-CN" dirty="0"/>
          </a:p>
        </p:txBody>
      </p:sp>
      <p:sp>
        <p:nvSpPr>
          <p:cNvPr id="99331" name="Rectangle 2"/>
          <p:cNvSpPr>
            <a:spLocks noGrp="1" noChangeArrowheads="1"/>
          </p:cNvSpPr>
          <p:nvPr>
            <p:ph type="title"/>
          </p:nvPr>
        </p:nvSpPr>
        <p:spPr>
          <a:xfrm>
            <a:off x="1737521" y="452320"/>
            <a:ext cx="8042275" cy="1305996"/>
          </a:xfrm>
          <a:noFill/>
        </p:spPr>
        <p:txBody>
          <a:bodyPr vert="horz" lIns="90488" tIns="44450" rIns="90488" bIns="44450" rtlCol="0" anchor="ctr" anchorCtr="1">
            <a:normAutofit/>
          </a:bodyPr>
          <a:lstStyle/>
          <a:p>
            <a:pPr algn="ctr" eaLnBrk="1" hangingPunct="1">
              <a:lnSpc>
                <a:spcPct val="100000"/>
              </a:lnSpc>
            </a:pPr>
            <a:r>
              <a:rPr lang="zh-CN" altLang="en-US" sz="4000" dirty="0"/>
              <a:t>回归系数的 </a:t>
            </a:r>
            <a:r>
              <a:rPr lang="en-US" altLang="zh-CN" sz="4000" dirty="0"/>
              <a:t>t </a:t>
            </a:r>
            <a:r>
              <a:rPr lang="zh-CN" altLang="en-US" sz="4000" dirty="0"/>
              <a:t>检验</a:t>
            </a:r>
            <a:br>
              <a:rPr lang="zh-CN" altLang="en-US" dirty="0"/>
            </a:br>
            <a:r>
              <a:rPr lang="en-US" altLang="zh-CN" sz="3200" dirty="0"/>
              <a:t>(Excel</a:t>
            </a:r>
            <a:r>
              <a:rPr lang="zh-CN" altLang="en-US" sz="3200" dirty="0"/>
              <a:t>输出的结果）</a:t>
            </a:r>
          </a:p>
        </p:txBody>
      </p:sp>
      <p:sp>
        <p:nvSpPr>
          <p:cNvPr id="99330" name="灯片编号占位符 5"/>
          <p:cNvSpPr>
            <a:spLocks noGrp="1"/>
          </p:cNvSpPr>
          <p:nvPr>
            <p:ph type="sldNum" sz="quarter" idx="4"/>
          </p:nvPr>
        </p:nvSpPr>
        <p:spPr>
          <a:noFill/>
        </p:spPr>
        <p:txBody>
          <a:bodyPr/>
          <a:lstStyle/>
          <a:p>
            <a:r>
              <a:rPr lang="en-US" altLang="zh-CN" dirty="0"/>
              <a:t>9--</a:t>
            </a:r>
            <a:fld id="{D1E507B6-8181-4CF2-B73A-341A233E17E8}" type="slidenum">
              <a:rPr lang="en-US" altLang="zh-CN" smtClean="0"/>
              <a:pPr/>
              <a:t>72</a:t>
            </a:fld>
            <a:endParaRPr lang="en-US" altLang="zh-CN" dirty="0"/>
          </a:p>
        </p:txBody>
      </p:sp>
      <p:sp>
        <p:nvSpPr>
          <p:cNvPr id="99332" name="AutoShape 3"/>
          <p:cNvSpPr>
            <a:spLocks noChangeArrowheads="1"/>
          </p:cNvSpPr>
          <p:nvPr/>
        </p:nvSpPr>
        <p:spPr bwMode="auto">
          <a:xfrm>
            <a:off x="1716881" y="4581526"/>
            <a:ext cx="2052638" cy="1008062"/>
          </a:xfrm>
          <a:prstGeom prst="wedgeRoundRectCallout">
            <a:avLst>
              <a:gd name="adj1" fmla="val 62809"/>
              <a:gd name="adj2" fmla="val -83102"/>
              <a:gd name="adj3" fmla="val 16667"/>
            </a:avLst>
          </a:prstGeom>
          <a:noFill/>
          <a:ln w="28575">
            <a:solidFill>
              <a:srgbClr val="FF0000"/>
            </a:solidFill>
            <a:miter lim="800000"/>
            <a:headEnd/>
            <a:tailEnd/>
          </a:ln>
        </p:spPr>
        <p:txBody>
          <a:bodyPr lIns="36000" rIns="36000"/>
          <a:lstStyle/>
          <a:p>
            <a:pPr algn="ctr"/>
            <a:r>
              <a:rPr lang="zh-CN" altLang="en-US" sz="2800" b="1" dirty="0">
                <a:solidFill>
                  <a:srgbClr val="000000"/>
                </a:solidFill>
              </a:rPr>
              <a:t>回归模型参数估计值</a:t>
            </a:r>
          </a:p>
        </p:txBody>
      </p:sp>
      <p:sp>
        <p:nvSpPr>
          <p:cNvPr id="381956" name="AutoShape 4"/>
          <p:cNvSpPr>
            <a:spLocks noChangeArrowheads="1"/>
          </p:cNvSpPr>
          <p:nvPr/>
        </p:nvSpPr>
        <p:spPr bwMode="auto">
          <a:xfrm>
            <a:off x="6311535" y="4747409"/>
            <a:ext cx="2241549" cy="1008063"/>
          </a:xfrm>
          <a:prstGeom prst="wedgeRoundRectCallout">
            <a:avLst>
              <a:gd name="adj1" fmla="val -1292"/>
              <a:gd name="adj2" fmla="val -102616"/>
              <a:gd name="adj3" fmla="val 16667"/>
            </a:avLst>
          </a:prstGeom>
          <a:noFill/>
          <a:ln w="28575">
            <a:solidFill>
              <a:srgbClr val="0000FF"/>
            </a:solidFill>
            <a:miter lim="800000"/>
            <a:headEnd/>
            <a:tailEnd/>
          </a:ln>
        </p:spPr>
        <p:txBody>
          <a:bodyPr lIns="0" rIns="0"/>
          <a:lstStyle/>
          <a:p>
            <a:pPr algn="ctr"/>
            <a:r>
              <a:rPr lang="zh-CN" altLang="en-US" sz="2800" b="1" dirty="0">
                <a:solidFill>
                  <a:srgbClr val="0000FF"/>
                </a:solidFill>
              </a:rPr>
              <a:t>回归系数的 </a:t>
            </a:r>
            <a:r>
              <a:rPr lang="en-US" altLang="zh-CN" sz="2800" b="1" i="1" dirty="0">
                <a:solidFill>
                  <a:srgbClr val="0000FF"/>
                </a:solidFill>
              </a:rPr>
              <a:t>t</a:t>
            </a:r>
            <a:r>
              <a:rPr lang="en-US" altLang="zh-CN" sz="2800" b="1" dirty="0">
                <a:solidFill>
                  <a:srgbClr val="0000FF"/>
                </a:solidFill>
              </a:rPr>
              <a:t> </a:t>
            </a:r>
            <a:r>
              <a:rPr lang="zh-CN" altLang="en-US" sz="2800" b="1" dirty="0">
                <a:solidFill>
                  <a:srgbClr val="0000FF"/>
                </a:solidFill>
              </a:rPr>
              <a:t>检验统计值</a:t>
            </a:r>
          </a:p>
        </p:txBody>
      </p:sp>
      <p:sp>
        <p:nvSpPr>
          <p:cNvPr id="381957" name="AutoShape 5"/>
          <p:cNvSpPr>
            <a:spLocks noChangeArrowheads="1"/>
          </p:cNvSpPr>
          <p:nvPr/>
        </p:nvSpPr>
        <p:spPr bwMode="auto">
          <a:xfrm>
            <a:off x="8723314" y="4652964"/>
            <a:ext cx="1944687" cy="865187"/>
          </a:xfrm>
          <a:prstGeom prst="wedgeRoundRectCallout">
            <a:avLst>
              <a:gd name="adj1" fmla="val -9871"/>
              <a:gd name="adj2" fmla="val -98564"/>
              <a:gd name="adj3" fmla="val 16667"/>
            </a:avLst>
          </a:prstGeom>
          <a:noFill/>
          <a:ln w="28575">
            <a:solidFill>
              <a:srgbClr val="CC0099"/>
            </a:solidFill>
            <a:miter lim="800000"/>
            <a:headEnd/>
            <a:tailEnd/>
          </a:ln>
        </p:spPr>
        <p:txBody>
          <a:bodyPr/>
          <a:lstStyle/>
          <a:p>
            <a:pPr algn="ctr"/>
            <a:r>
              <a:rPr lang="zh-CN" altLang="en-US" sz="2600" b="1" dirty="0">
                <a:solidFill>
                  <a:srgbClr val="FF00FF"/>
                </a:solidFill>
              </a:rPr>
              <a:t>回归系数检验的</a:t>
            </a:r>
            <a:r>
              <a:rPr lang="en-US" altLang="zh-CN" sz="2600" b="1" dirty="0">
                <a:solidFill>
                  <a:srgbClr val="FF00FF"/>
                </a:solidFill>
              </a:rPr>
              <a:t>P</a:t>
            </a:r>
            <a:r>
              <a:rPr lang="zh-CN" altLang="en-US" sz="2600" b="1" dirty="0">
                <a:solidFill>
                  <a:srgbClr val="FF00FF"/>
                </a:solidFill>
              </a:rPr>
              <a:t>值</a:t>
            </a:r>
          </a:p>
        </p:txBody>
      </p:sp>
      <p:sp>
        <p:nvSpPr>
          <p:cNvPr id="381958" name="AutoShape 6"/>
          <p:cNvSpPr>
            <a:spLocks noChangeArrowheads="1"/>
          </p:cNvSpPr>
          <p:nvPr/>
        </p:nvSpPr>
        <p:spPr bwMode="auto">
          <a:xfrm>
            <a:off x="3909281" y="4560907"/>
            <a:ext cx="2232025" cy="1008063"/>
          </a:xfrm>
          <a:prstGeom prst="wedgeRoundRectCallout">
            <a:avLst>
              <a:gd name="adj1" fmla="val 52034"/>
              <a:gd name="adj2" fmla="val -84645"/>
              <a:gd name="adj3" fmla="val 16667"/>
            </a:avLst>
          </a:prstGeom>
          <a:noFill/>
          <a:ln w="28575">
            <a:solidFill>
              <a:srgbClr val="000000"/>
            </a:solidFill>
            <a:miter lim="800000"/>
            <a:headEnd/>
            <a:tailEnd/>
          </a:ln>
        </p:spPr>
        <p:txBody>
          <a:bodyPr/>
          <a:lstStyle/>
          <a:p>
            <a:pPr algn="ctr"/>
            <a:r>
              <a:rPr lang="zh-CN" altLang="en-US" sz="2800" b="1">
                <a:solidFill>
                  <a:srgbClr val="000000"/>
                </a:solidFill>
              </a:rPr>
              <a:t>回归系数的标准误差</a:t>
            </a:r>
          </a:p>
        </p:txBody>
      </p:sp>
      <p:sp>
        <p:nvSpPr>
          <p:cNvPr id="99336" name="Text Box 7"/>
          <p:cNvSpPr txBox="1">
            <a:spLocks noChangeArrowheads="1"/>
          </p:cNvSpPr>
          <p:nvPr/>
        </p:nvSpPr>
        <p:spPr bwMode="auto">
          <a:xfrm>
            <a:off x="2598059" y="5916669"/>
            <a:ext cx="2722085" cy="461665"/>
          </a:xfrm>
          <a:prstGeom prst="rect">
            <a:avLst/>
          </a:prstGeom>
          <a:noFill/>
          <a:ln w="9525">
            <a:noFill/>
            <a:miter lim="800000"/>
            <a:headEnd/>
            <a:tailEnd/>
          </a:ln>
        </p:spPr>
        <p:txBody>
          <a:bodyPr wrap="square">
            <a:spAutoFit/>
          </a:bodyPr>
          <a:lstStyle/>
          <a:p>
            <a:pPr>
              <a:spcBef>
                <a:spcPct val="50000"/>
              </a:spcBef>
            </a:pPr>
            <a:r>
              <a:rPr lang="zh-CN" altLang="en-US" sz="2400" dirty="0"/>
              <a:t>结论：</a:t>
            </a:r>
          </a:p>
        </p:txBody>
      </p:sp>
      <p:sp>
        <p:nvSpPr>
          <p:cNvPr id="381960" name="Rectangle 8"/>
          <p:cNvSpPr>
            <a:spLocks noChangeArrowheads="1"/>
          </p:cNvSpPr>
          <p:nvPr/>
        </p:nvSpPr>
        <p:spPr bwMode="auto">
          <a:xfrm>
            <a:off x="2467438" y="5885891"/>
            <a:ext cx="2619951" cy="523220"/>
          </a:xfrm>
          <a:prstGeom prst="rect">
            <a:avLst/>
          </a:prstGeom>
          <a:solidFill>
            <a:schemeClr val="accent4">
              <a:lumMod val="20000"/>
              <a:lumOff val="80000"/>
            </a:schemeClr>
          </a:solidFill>
          <a:ln w="28575">
            <a:solidFill>
              <a:srgbClr val="CC0099"/>
            </a:solidFill>
            <a:miter lim="800000"/>
            <a:headEnd/>
            <a:tailEnd/>
          </a:ln>
        </p:spPr>
        <p:txBody>
          <a:bodyPr wrap="square" anchor="ctr">
            <a:spAutoFit/>
          </a:bodyPr>
          <a:lstStyle/>
          <a:p>
            <a:r>
              <a:rPr lang="zh-CN" altLang="en-US" sz="2800" b="1" dirty="0">
                <a:solidFill>
                  <a:srgbClr val="FF0000"/>
                </a:solidFill>
              </a:rPr>
              <a:t>结论：拒绝</a:t>
            </a:r>
            <a:r>
              <a:rPr lang="en-US" altLang="zh-CN" sz="2800" b="1" dirty="0">
                <a:solidFill>
                  <a:srgbClr val="FF0000"/>
                </a:solidFill>
              </a:rPr>
              <a:t>H0 </a:t>
            </a:r>
          </a:p>
        </p:txBody>
      </p:sp>
      <p:graphicFrame>
        <p:nvGraphicFramePr>
          <p:cNvPr id="381961" name="Group 9"/>
          <p:cNvGraphicFramePr>
            <a:graphicFrameLocks noGrp="1"/>
          </p:cNvGraphicFramePr>
          <p:nvPr>
            <p:extLst>
              <p:ext uri="{D42A27DB-BD31-4B8C-83A1-F6EECF244321}">
                <p14:modId xmlns:p14="http://schemas.microsoft.com/office/powerpoint/2010/main" val="2466319087"/>
              </p:ext>
            </p:extLst>
          </p:nvPr>
        </p:nvGraphicFramePr>
        <p:xfrm>
          <a:off x="1524000" y="1916113"/>
          <a:ext cx="8318269" cy="2381251"/>
        </p:xfrm>
        <a:graphic>
          <a:graphicData uri="http://schemas.openxmlformats.org/drawingml/2006/table">
            <a:tbl>
              <a:tblPr/>
              <a:tblGrid>
                <a:gridCol w="1668087">
                  <a:extLst>
                    <a:ext uri="{9D8B030D-6E8A-4147-A177-3AD203B41FA5}">
                      <a16:colId xmlns:a16="http://schemas.microsoft.com/office/drawing/2014/main" val="20000"/>
                    </a:ext>
                  </a:extLst>
                </a:gridCol>
                <a:gridCol w="2078182">
                  <a:extLst>
                    <a:ext uri="{9D8B030D-6E8A-4147-A177-3AD203B41FA5}">
                      <a16:colId xmlns:a16="http://schemas.microsoft.com/office/drawing/2014/main" val="20001"/>
                    </a:ext>
                  </a:extLst>
                </a:gridCol>
                <a:gridCol w="1610251">
                  <a:extLst>
                    <a:ext uri="{9D8B030D-6E8A-4147-A177-3AD203B41FA5}">
                      <a16:colId xmlns:a16="http://schemas.microsoft.com/office/drawing/2014/main" val="20002"/>
                    </a:ext>
                  </a:extLst>
                </a:gridCol>
                <a:gridCol w="1398956">
                  <a:extLst>
                    <a:ext uri="{9D8B030D-6E8A-4147-A177-3AD203B41FA5}">
                      <a16:colId xmlns:a16="http://schemas.microsoft.com/office/drawing/2014/main" val="20003"/>
                    </a:ext>
                  </a:extLst>
                </a:gridCol>
                <a:gridCol w="1562793">
                  <a:extLst>
                    <a:ext uri="{9D8B030D-6E8A-4147-A177-3AD203B41FA5}">
                      <a16:colId xmlns:a16="http://schemas.microsoft.com/office/drawing/2014/main" val="20004"/>
                    </a:ext>
                  </a:extLst>
                </a:gridCol>
              </a:tblGrid>
              <a:tr h="10112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itchFamily="2" charset="-122"/>
                          <a:ea typeface="宋体" pitchFamily="2" charset="-122"/>
                        </a:rPr>
                        <a:t>　</a:t>
                      </a:r>
                      <a:endParaRPr kumimoji="0" lang="zh-CN" altLang="en-US" sz="2800" b="1" i="0" u="none" strike="noStrike" cap="none" normalizeH="0" baseline="0" dirty="0">
                        <a:ln>
                          <a:noFill/>
                        </a:ln>
                        <a:solidFill>
                          <a:schemeClr val="tx1"/>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600" b="1" i="0" u="none" strike="noStrike" cap="none" normalizeH="0" baseline="0" dirty="0">
                          <a:ln>
                            <a:noFill/>
                          </a:ln>
                          <a:solidFill>
                            <a:srgbClr val="FF0000"/>
                          </a:solidFill>
                          <a:effectLst/>
                          <a:latin typeface="宋体" pitchFamily="2" charset="-122"/>
                          <a:ea typeface="宋体" pitchFamily="2" charset="-122"/>
                        </a:rPr>
                        <a:t>Coefficients</a:t>
                      </a:r>
                      <a:endParaRPr kumimoji="0" lang="en-US" altLang="zh-CN" sz="2600" b="1" i="0" u="none" strike="noStrike" cap="none" normalizeH="0" baseline="0" dirty="0">
                        <a:ln>
                          <a:noFill/>
                        </a:ln>
                        <a:solidFill>
                          <a:srgbClr val="FF0000"/>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itchFamily="2" charset="-122"/>
                          <a:ea typeface="宋体" pitchFamily="2" charset="-122"/>
                        </a:rPr>
                        <a:t>标准误差</a:t>
                      </a:r>
                      <a:endParaRPr kumimoji="0" lang="zh-CN" altLang="en-US" sz="2800" b="1" i="0" u="none" strike="noStrike" cap="none" normalizeH="0" baseline="0" dirty="0">
                        <a:ln>
                          <a:noFill/>
                        </a:ln>
                        <a:solidFill>
                          <a:schemeClr val="tx1"/>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0000FF"/>
                          </a:solidFill>
                          <a:effectLst/>
                          <a:latin typeface="宋体" pitchFamily="2" charset="-122"/>
                          <a:ea typeface="宋体" pitchFamily="2" charset="-122"/>
                        </a:rPr>
                        <a:t>t Stat</a:t>
                      </a:r>
                      <a:endParaRPr kumimoji="0" lang="en-US" altLang="zh-CN" sz="2800" b="1" i="0" u="none" strike="noStrike" cap="none" normalizeH="0" baseline="0" dirty="0">
                        <a:ln>
                          <a:noFill/>
                        </a:ln>
                        <a:solidFill>
                          <a:srgbClr val="0000FF"/>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CC0099"/>
                          </a:solidFill>
                          <a:effectLst/>
                          <a:latin typeface="宋体" pitchFamily="2" charset="-122"/>
                          <a:ea typeface="宋体" pitchFamily="2" charset="-122"/>
                        </a:rPr>
                        <a:t>P-value</a:t>
                      </a:r>
                      <a:endParaRPr kumimoji="0" lang="en-US" altLang="zh-CN" sz="2800" b="1" i="0" u="none" strike="noStrike" cap="none" normalizeH="0" baseline="0" dirty="0">
                        <a:ln>
                          <a:noFill/>
                        </a:ln>
                        <a:solidFill>
                          <a:srgbClr val="CC0099"/>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04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宋体" pitchFamily="2" charset="-122"/>
                          <a:ea typeface="宋体" pitchFamily="2" charset="-122"/>
                        </a:rPr>
                        <a:t>Intercept</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FF0000"/>
                          </a:solidFill>
                          <a:latin typeface="宋体"/>
                        </a:rPr>
                        <a:t>17.4947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000000"/>
                          </a:solidFill>
                          <a:latin typeface="宋体"/>
                        </a:rPr>
                        <a:t>7.9021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0000FF"/>
                          </a:solidFill>
                          <a:latin typeface="宋体"/>
                        </a:rPr>
                        <a:t>2.2139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CC0099"/>
                          </a:solidFill>
                          <a:latin typeface="宋体"/>
                        </a:rPr>
                        <a:t>0.0688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itchFamily="2" charset="-122"/>
                          <a:ea typeface="宋体" pitchFamily="2" charset="-122"/>
                        </a:rPr>
                        <a:t>广告费</a:t>
                      </a:r>
                      <a:endParaRPr kumimoji="0" lang="zh-CN" altLang="en-US" sz="2800" b="1" i="0" u="none" strike="noStrike" cap="none" normalizeH="0" baseline="0" dirty="0">
                        <a:ln>
                          <a:noFill/>
                        </a:ln>
                        <a:solidFill>
                          <a:schemeClr val="tx1"/>
                        </a:solidFill>
                        <a:effectLst/>
                        <a:latin typeface="Arial" charset="0"/>
                        <a:ea typeface="宋体" pitchFamily="2"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FF0000"/>
                          </a:solidFill>
                          <a:latin typeface="宋体"/>
                        </a:rPr>
                        <a:t>0.4829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000000"/>
                          </a:solidFill>
                          <a:latin typeface="宋体"/>
                        </a:rPr>
                        <a:t>0.1022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0000FF"/>
                          </a:solidFill>
                          <a:latin typeface="宋体"/>
                        </a:rPr>
                        <a:t>4.7268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fontAlgn="ctr"/>
                      <a:r>
                        <a:rPr lang="en-US" altLang="zh-CN" sz="3200" b="1" i="0" u="none" strike="noStrike" dirty="0">
                          <a:solidFill>
                            <a:srgbClr val="CC0099"/>
                          </a:solidFill>
                          <a:latin typeface="宋体"/>
                        </a:rPr>
                        <a:t>0.0032 </a:t>
                      </a: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7138044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81958"/>
                                        </p:tgtEl>
                                        <p:attrNameLst>
                                          <p:attrName>style.visibility</p:attrName>
                                        </p:attrNameLst>
                                      </p:cBhvr>
                                      <p:to>
                                        <p:strVal val="visible"/>
                                      </p:to>
                                    </p:set>
                                    <p:anim calcmode="lin" valueType="num">
                                      <p:cBhvr>
                                        <p:cTn id="7" dur="500" decel="50000" fill="hold">
                                          <p:stCondLst>
                                            <p:cond delay="0"/>
                                          </p:stCondLst>
                                        </p:cTn>
                                        <p:tgtEl>
                                          <p:spTgt spid="381958"/>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81958"/>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81958"/>
                                        </p:tgtEl>
                                        <p:attrNameLst>
                                          <p:attrName>ppt_w</p:attrName>
                                        </p:attrNameLst>
                                      </p:cBhvr>
                                      <p:tavLst>
                                        <p:tav tm="0">
                                          <p:val>
                                            <p:strVal val="#ppt_w*.05"/>
                                          </p:val>
                                        </p:tav>
                                        <p:tav tm="100000">
                                          <p:val>
                                            <p:strVal val="#ppt_w"/>
                                          </p:val>
                                        </p:tav>
                                      </p:tavLst>
                                    </p:anim>
                                    <p:anim calcmode="lin" valueType="num">
                                      <p:cBhvr>
                                        <p:cTn id="10" dur="1000" fill="hold"/>
                                        <p:tgtEl>
                                          <p:spTgt spid="381958"/>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81958"/>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81958"/>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81958"/>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81958"/>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grpId="0" nodeType="clickEffect">
                                  <p:stCondLst>
                                    <p:cond delay="0"/>
                                  </p:stCondLst>
                                  <p:childTnLst>
                                    <p:set>
                                      <p:cBhvr>
                                        <p:cTn id="18" dur="1" fill="hold">
                                          <p:stCondLst>
                                            <p:cond delay="0"/>
                                          </p:stCondLst>
                                        </p:cTn>
                                        <p:tgtEl>
                                          <p:spTgt spid="381956"/>
                                        </p:tgtEl>
                                        <p:attrNameLst>
                                          <p:attrName>style.visibility</p:attrName>
                                        </p:attrNameLst>
                                      </p:cBhvr>
                                      <p:to>
                                        <p:strVal val="visible"/>
                                      </p:to>
                                    </p:set>
                                    <p:animEffect transition="in" filter="slide(fromTop)">
                                      <p:cBhvr>
                                        <p:cTn id="19" dur="1000"/>
                                        <p:tgtEl>
                                          <p:spTgt spid="381956"/>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ntr" presetSubtype="0" fill="hold" grpId="0" nodeType="clickEffect">
                                  <p:stCondLst>
                                    <p:cond delay="0"/>
                                  </p:stCondLst>
                                  <p:childTnLst>
                                    <p:set>
                                      <p:cBhvr>
                                        <p:cTn id="23" dur="1" fill="hold">
                                          <p:stCondLst>
                                            <p:cond delay="0"/>
                                          </p:stCondLst>
                                        </p:cTn>
                                        <p:tgtEl>
                                          <p:spTgt spid="381957"/>
                                        </p:tgtEl>
                                        <p:attrNameLst>
                                          <p:attrName>style.visibility</p:attrName>
                                        </p:attrNameLst>
                                      </p:cBhvr>
                                      <p:to>
                                        <p:strVal val="visible"/>
                                      </p:to>
                                    </p:set>
                                    <p:anim calcmode="lin" valueType="num">
                                      <p:cBhvr>
                                        <p:cTn id="24" dur="500" decel="50000" fill="hold">
                                          <p:stCondLst>
                                            <p:cond delay="0"/>
                                          </p:stCondLst>
                                        </p:cTn>
                                        <p:tgtEl>
                                          <p:spTgt spid="381957"/>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381957"/>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381957"/>
                                        </p:tgtEl>
                                        <p:attrNameLst>
                                          <p:attrName>ppt_w</p:attrName>
                                        </p:attrNameLst>
                                      </p:cBhvr>
                                      <p:tavLst>
                                        <p:tav tm="0">
                                          <p:val>
                                            <p:strVal val="#ppt_w*.05"/>
                                          </p:val>
                                        </p:tav>
                                        <p:tav tm="100000">
                                          <p:val>
                                            <p:strVal val="#ppt_w"/>
                                          </p:val>
                                        </p:tav>
                                      </p:tavLst>
                                    </p:anim>
                                    <p:anim calcmode="lin" valueType="num">
                                      <p:cBhvr>
                                        <p:cTn id="27" dur="1000" fill="hold"/>
                                        <p:tgtEl>
                                          <p:spTgt spid="381957"/>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381957"/>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381957"/>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381957"/>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381957"/>
                                        </p:tgtEl>
                                      </p:cBhvr>
                                    </p:animEffect>
                                  </p:childTnLst>
                                </p:cTn>
                              </p:par>
                            </p:childTnLst>
                          </p:cTn>
                        </p:par>
                        <p:par>
                          <p:cTn id="32" fill="hold">
                            <p:stCondLst>
                              <p:cond delay="1000"/>
                            </p:stCondLst>
                            <p:childTnLst>
                              <p:par>
                                <p:cTn id="33" presetID="25" presetClass="entr" presetSubtype="0" fill="hold" grpId="0" nodeType="afterEffect">
                                  <p:stCondLst>
                                    <p:cond delay="0"/>
                                  </p:stCondLst>
                                  <p:childTnLst>
                                    <p:set>
                                      <p:cBhvr>
                                        <p:cTn id="34" dur="1" fill="hold">
                                          <p:stCondLst>
                                            <p:cond delay="0"/>
                                          </p:stCondLst>
                                        </p:cTn>
                                        <p:tgtEl>
                                          <p:spTgt spid="381960"/>
                                        </p:tgtEl>
                                        <p:attrNameLst>
                                          <p:attrName>style.visibility</p:attrName>
                                        </p:attrNameLst>
                                      </p:cBhvr>
                                      <p:to>
                                        <p:strVal val="visible"/>
                                      </p:to>
                                    </p:set>
                                    <p:anim calcmode="lin" valueType="num">
                                      <p:cBhvr>
                                        <p:cTn id="35" dur="500" decel="50000" fill="hold">
                                          <p:stCondLst>
                                            <p:cond delay="0"/>
                                          </p:stCondLst>
                                        </p:cTn>
                                        <p:tgtEl>
                                          <p:spTgt spid="381960"/>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381960"/>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381960"/>
                                        </p:tgtEl>
                                        <p:attrNameLst>
                                          <p:attrName>ppt_w</p:attrName>
                                        </p:attrNameLst>
                                      </p:cBhvr>
                                      <p:tavLst>
                                        <p:tav tm="0">
                                          <p:val>
                                            <p:strVal val="#ppt_w*.05"/>
                                          </p:val>
                                        </p:tav>
                                        <p:tav tm="100000">
                                          <p:val>
                                            <p:strVal val="#ppt_w"/>
                                          </p:val>
                                        </p:tav>
                                      </p:tavLst>
                                    </p:anim>
                                    <p:anim calcmode="lin" valueType="num">
                                      <p:cBhvr>
                                        <p:cTn id="38" dur="1000" fill="hold"/>
                                        <p:tgtEl>
                                          <p:spTgt spid="381960"/>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381960"/>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381960"/>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381960"/>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381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6" grpId="0" animBg="1"/>
      <p:bldP spid="381957" grpId="0" animBg="1"/>
      <p:bldP spid="381958" grpId="0" animBg="1"/>
      <p:bldP spid="381960"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7" name="日期占位符 4"/>
          <p:cNvSpPr>
            <a:spLocks noGrp="1"/>
          </p:cNvSpPr>
          <p:nvPr>
            <p:ph type="dt" sz="half" idx="10"/>
          </p:nvPr>
        </p:nvSpPr>
        <p:spPr>
          <a:noFill/>
        </p:spPr>
        <p:txBody>
          <a:bodyPr/>
          <a:lstStyle/>
          <a:p>
            <a:endParaRPr lang="en-US" altLang="zh-CN" dirty="0"/>
          </a:p>
        </p:txBody>
      </p:sp>
      <p:sp>
        <p:nvSpPr>
          <p:cNvPr id="100355" name="Rectangle 2"/>
          <p:cNvSpPr>
            <a:spLocks noGrp="1" noChangeArrowheads="1"/>
          </p:cNvSpPr>
          <p:nvPr>
            <p:ph type="title"/>
          </p:nvPr>
        </p:nvSpPr>
        <p:spPr>
          <a:xfrm>
            <a:off x="1988127" y="896521"/>
            <a:ext cx="7355378" cy="662782"/>
          </a:xfrm>
          <a:noFill/>
        </p:spPr>
        <p:txBody>
          <a:bodyPr vert="horz" lIns="90488" tIns="44450" rIns="90488" bIns="44450" rtlCol="0" anchor="ctr" anchorCtr="1">
            <a:noAutofit/>
          </a:bodyPr>
          <a:lstStyle/>
          <a:p>
            <a:pPr eaLnBrk="1" hangingPunct="1"/>
            <a:r>
              <a:rPr lang="en-US" altLang="zh-CN" sz="4400" dirty="0"/>
              <a:t>9.3.4 </a:t>
            </a:r>
            <a:r>
              <a:rPr lang="zh-CN" altLang="en-US" sz="4400" dirty="0"/>
              <a:t>一元线性回归预测 </a:t>
            </a:r>
          </a:p>
        </p:txBody>
      </p:sp>
      <p:sp>
        <p:nvSpPr>
          <p:cNvPr id="100356" name="Rectangle 3"/>
          <p:cNvSpPr>
            <a:spLocks noGrp="1" noChangeArrowheads="1"/>
          </p:cNvSpPr>
          <p:nvPr>
            <p:ph idx="1"/>
          </p:nvPr>
        </p:nvSpPr>
        <p:spPr>
          <a:xfrm>
            <a:off x="1371600" y="1800424"/>
            <a:ext cx="9003145" cy="4039054"/>
          </a:xfrm>
          <a:noFill/>
        </p:spPr>
        <p:txBody>
          <a:bodyPr vert="horz" lIns="90488" tIns="44450" rIns="90488" bIns="44450" rtlCol="0">
            <a:normAutofit/>
          </a:bodyPr>
          <a:lstStyle/>
          <a:p>
            <a:pPr marL="609600" indent="-609600">
              <a:lnSpc>
                <a:spcPct val="125000"/>
              </a:lnSpc>
              <a:spcBef>
                <a:spcPts val="600"/>
              </a:spcBef>
              <a:spcAft>
                <a:spcPts val="0"/>
              </a:spcAft>
              <a:buFontTx/>
              <a:buChar char="•"/>
            </a:pPr>
            <a:r>
              <a:rPr lang="zh-CN" altLang="en-US" sz="3600" b="1" dirty="0">
                <a:solidFill>
                  <a:srgbClr val="000000"/>
                </a:solidFill>
              </a:rPr>
              <a:t>回归分析的</a:t>
            </a:r>
            <a:r>
              <a:rPr lang="zh-CN" altLang="en-US" sz="3600" b="1" dirty="0">
                <a:solidFill>
                  <a:srgbClr val="FF0000"/>
                </a:solidFill>
              </a:rPr>
              <a:t>目的</a:t>
            </a:r>
            <a:r>
              <a:rPr lang="zh-CN" altLang="en-US" sz="3600" b="1" dirty="0">
                <a:solidFill>
                  <a:srgbClr val="000000"/>
                </a:solidFill>
              </a:rPr>
              <a:t>之一是根据自变量 </a:t>
            </a:r>
            <a:r>
              <a:rPr lang="en-US" altLang="zh-CN" sz="3600" b="1" dirty="0">
                <a:solidFill>
                  <a:srgbClr val="000000"/>
                </a:solidFill>
              </a:rPr>
              <a:t>X </a:t>
            </a:r>
            <a:r>
              <a:rPr lang="zh-CN" altLang="en-US" sz="3600" b="1" dirty="0">
                <a:solidFill>
                  <a:srgbClr val="000000"/>
                </a:solidFill>
              </a:rPr>
              <a:t>的取值对因变量</a:t>
            </a:r>
            <a:r>
              <a:rPr lang="en-US" altLang="zh-CN" sz="3600" b="1" dirty="0">
                <a:solidFill>
                  <a:srgbClr val="000000"/>
                </a:solidFill>
              </a:rPr>
              <a:t>Y</a:t>
            </a:r>
            <a:r>
              <a:rPr lang="zh-CN" altLang="en-US" sz="3600" b="1" dirty="0">
                <a:solidFill>
                  <a:srgbClr val="000000"/>
                </a:solidFill>
              </a:rPr>
              <a:t>作合理的估计或预测。</a:t>
            </a:r>
          </a:p>
          <a:p>
            <a:pPr marL="609600" indent="-609600">
              <a:lnSpc>
                <a:spcPct val="125000"/>
              </a:lnSpc>
              <a:spcBef>
                <a:spcPts val="600"/>
              </a:spcBef>
              <a:spcAft>
                <a:spcPts val="0"/>
              </a:spcAft>
              <a:buFontTx/>
              <a:buChar char="•"/>
            </a:pPr>
            <a:r>
              <a:rPr lang="zh-CN" altLang="en-US" sz="3600" b="1" dirty="0">
                <a:solidFill>
                  <a:srgbClr val="000000"/>
                </a:solidFill>
              </a:rPr>
              <a:t>预测的</a:t>
            </a:r>
            <a:r>
              <a:rPr lang="zh-CN" altLang="en-US" sz="3600" b="1" dirty="0">
                <a:solidFill>
                  <a:srgbClr val="FF0000"/>
                </a:solidFill>
              </a:rPr>
              <a:t>前提</a:t>
            </a:r>
            <a:r>
              <a:rPr lang="zh-CN" altLang="en-US" sz="3600" b="1" dirty="0">
                <a:solidFill>
                  <a:srgbClr val="000000"/>
                </a:solidFill>
              </a:rPr>
              <a:t>：</a:t>
            </a:r>
          </a:p>
          <a:p>
            <a:pPr marL="1219200" lvl="1" indent="-533400">
              <a:lnSpc>
                <a:spcPct val="125000"/>
              </a:lnSpc>
              <a:spcBef>
                <a:spcPts val="600"/>
              </a:spcBef>
              <a:spcAft>
                <a:spcPts val="0"/>
              </a:spcAft>
              <a:buFontTx/>
              <a:buChar char="–"/>
            </a:pPr>
            <a:r>
              <a:rPr lang="zh-CN" altLang="en-US" sz="3200" b="1" dirty="0">
                <a:solidFill>
                  <a:schemeClr val="tx1"/>
                </a:solidFill>
              </a:rPr>
              <a:t>所建立的回归方程通过了各项统计检验，</a:t>
            </a:r>
          </a:p>
          <a:p>
            <a:pPr marL="1219200" lvl="1" indent="-533400">
              <a:lnSpc>
                <a:spcPct val="125000"/>
              </a:lnSpc>
              <a:spcBef>
                <a:spcPts val="600"/>
              </a:spcBef>
              <a:spcAft>
                <a:spcPts val="0"/>
              </a:spcAft>
              <a:buFontTx/>
              <a:buChar char="–"/>
            </a:pPr>
            <a:r>
              <a:rPr lang="zh-CN" altLang="en-US" sz="3200" b="1" dirty="0">
                <a:solidFill>
                  <a:schemeClr val="tx1"/>
                </a:solidFill>
              </a:rPr>
              <a:t>在经济上也是有实际意义的。</a:t>
            </a:r>
          </a:p>
        </p:txBody>
      </p:sp>
      <p:sp>
        <p:nvSpPr>
          <p:cNvPr id="100354" name="灯片编号占位符 5"/>
          <p:cNvSpPr>
            <a:spLocks noGrp="1"/>
          </p:cNvSpPr>
          <p:nvPr>
            <p:ph type="sldNum" sz="quarter" idx="4"/>
          </p:nvPr>
        </p:nvSpPr>
        <p:spPr>
          <a:noFill/>
        </p:spPr>
        <p:txBody>
          <a:bodyPr/>
          <a:lstStyle/>
          <a:p>
            <a:r>
              <a:rPr lang="en-US" altLang="zh-CN" dirty="0"/>
              <a:t>9--</a:t>
            </a:r>
            <a:fld id="{78B29F54-8EF1-423A-A0D4-90F2543C8826}" type="slidenum">
              <a:rPr lang="en-US" altLang="zh-CN" smtClean="0"/>
              <a:pPr/>
              <a:t>73</a:t>
            </a:fld>
            <a:endParaRPr lang="en-US" altLang="zh-CN" dirty="0"/>
          </a:p>
        </p:txBody>
      </p:sp>
    </p:spTree>
    <p:extLst>
      <p:ext uri="{BB962C8B-B14F-4D97-AF65-F5344CB8AC3E}">
        <p14:creationId xmlns:p14="http://schemas.microsoft.com/office/powerpoint/2010/main" val="3654252135"/>
      </p:ext>
    </p:extLst>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7" name="日期占位符 10"/>
          <p:cNvSpPr>
            <a:spLocks noGrp="1"/>
          </p:cNvSpPr>
          <p:nvPr>
            <p:ph type="dt" sz="half" idx="10"/>
          </p:nvPr>
        </p:nvSpPr>
        <p:spPr>
          <a:noFill/>
        </p:spPr>
        <p:txBody>
          <a:bodyPr/>
          <a:lstStyle/>
          <a:p>
            <a:endParaRPr lang="en-US" altLang="zh-CN"/>
          </a:p>
        </p:txBody>
      </p:sp>
      <p:sp>
        <p:nvSpPr>
          <p:cNvPr id="34821" name="Rectangle 2"/>
          <p:cNvSpPr>
            <a:spLocks noGrp="1" noChangeArrowheads="1"/>
          </p:cNvSpPr>
          <p:nvPr>
            <p:ph type="title"/>
          </p:nvPr>
        </p:nvSpPr>
        <p:spPr>
          <a:xfrm>
            <a:off x="1708732" y="659269"/>
            <a:ext cx="6171577" cy="662782"/>
          </a:xfrm>
          <a:noFill/>
        </p:spPr>
        <p:txBody>
          <a:bodyPr vert="horz" lIns="90488" tIns="44450" rIns="90488" bIns="44450" rtlCol="0" anchor="ctr" anchorCtr="1">
            <a:normAutofit/>
          </a:bodyPr>
          <a:lstStyle/>
          <a:p>
            <a:pPr eaLnBrk="1" hangingPunct="1"/>
            <a:r>
              <a:rPr lang="zh-CN" altLang="en-US" sz="4000" dirty="0"/>
              <a:t>点预测（点估计值）</a:t>
            </a:r>
          </a:p>
        </p:txBody>
      </p:sp>
      <p:sp>
        <p:nvSpPr>
          <p:cNvPr id="34822" name="Rectangle 3"/>
          <p:cNvSpPr>
            <a:spLocks noGrp="1" noChangeArrowheads="1"/>
          </p:cNvSpPr>
          <p:nvPr>
            <p:ph idx="1"/>
          </p:nvPr>
        </p:nvSpPr>
        <p:spPr>
          <a:xfrm>
            <a:off x="1030400" y="1360569"/>
            <a:ext cx="8978761" cy="5333761"/>
          </a:xfrm>
          <a:noFill/>
        </p:spPr>
        <p:txBody>
          <a:bodyPr vert="horz" lIns="90488" tIns="44450" rIns="90488" bIns="44450" rtlCol="0">
            <a:normAutofit/>
          </a:bodyPr>
          <a:lstStyle/>
          <a:p>
            <a:pPr marL="685800" lvl="1" indent="0">
              <a:lnSpc>
                <a:spcPct val="120000"/>
              </a:lnSpc>
              <a:buNone/>
            </a:pPr>
            <a:r>
              <a:rPr lang="zh-CN" altLang="en-US" sz="3200" b="1" dirty="0"/>
              <a:t>      是将自变量</a:t>
            </a:r>
            <a:r>
              <a:rPr lang="en-US" altLang="zh-CN" sz="3200" b="1" i="1" dirty="0">
                <a:latin typeface="Times New Roman" pitchFamily="18" charset="0"/>
              </a:rPr>
              <a:t>X </a:t>
            </a:r>
            <a:r>
              <a:rPr lang="zh-CN" altLang="en-US" sz="3200" b="1" dirty="0"/>
              <a:t>预测期的数值 </a:t>
            </a:r>
            <a:r>
              <a:rPr lang="en-US" altLang="zh-CN" sz="3200" b="1" i="1" dirty="0" err="1">
                <a:latin typeface="Times New Roman" pitchFamily="18" charset="0"/>
              </a:rPr>
              <a:t>X</a:t>
            </a:r>
            <a:r>
              <a:rPr lang="en-US" altLang="zh-CN" sz="3200" b="1" i="1" baseline="-25000" dirty="0" err="1">
                <a:latin typeface="Times New Roman" pitchFamily="18" charset="0"/>
              </a:rPr>
              <a:t>f</a:t>
            </a:r>
            <a:r>
              <a:rPr lang="en-US" altLang="zh-CN" sz="3200" b="1" i="1" baseline="-25000" dirty="0">
                <a:latin typeface="Times New Roman" pitchFamily="18" charset="0"/>
              </a:rPr>
              <a:t>  </a:t>
            </a:r>
            <a:r>
              <a:rPr lang="zh-CN" altLang="en-US" sz="3200" b="1" dirty="0"/>
              <a:t>代入估计的模型，计算出因变量</a:t>
            </a:r>
            <a:r>
              <a:rPr lang="en-US" altLang="zh-CN" sz="3200" b="1" i="1" dirty="0">
                <a:latin typeface="Times New Roman" pitchFamily="18" charset="0"/>
              </a:rPr>
              <a:t>Y </a:t>
            </a:r>
            <a:r>
              <a:rPr lang="zh-CN" altLang="en-US" sz="3200" b="1" dirty="0"/>
              <a:t>的预测值：</a:t>
            </a:r>
          </a:p>
        </p:txBody>
      </p:sp>
      <p:sp>
        <p:nvSpPr>
          <p:cNvPr id="34820" name="灯片编号占位符 5"/>
          <p:cNvSpPr>
            <a:spLocks noGrp="1"/>
          </p:cNvSpPr>
          <p:nvPr>
            <p:ph type="sldNum" sz="quarter" idx="4"/>
          </p:nvPr>
        </p:nvSpPr>
        <p:spPr>
          <a:noFill/>
        </p:spPr>
        <p:txBody>
          <a:bodyPr/>
          <a:lstStyle/>
          <a:p>
            <a:r>
              <a:rPr lang="en-US" altLang="zh-CN" dirty="0"/>
              <a:t>9--</a:t>
            </a:r>
            <a:fld id="{EF282784-0E4E-4633-AE4C-1E36B7F4EED4}" type="slidenum">
              <a:rPr lang="en-US" altLang="zh-CN" smtClean="0"/>
              <a:pPr/>
              <a:t>74</a:t>
            </a:fld>
            <a:endParaRPr lang="en-US" altLang="zh-CN" dirty="0"/>
          </a:p>
        </p:txBody>
      </p:sp>
      <p:sp>
        <p:nvSpPr>
          <p:cNvPr id="34823" name="Rectangle 7"/>
          <p:cNvSpPr>
            <a:spLocks noChangeArrowheads="1"/>
          </p:cNvSpPr>
          <p:nvPr/>
        </p:nvSpPr>
        <p:spPr bwMode="auto">
          <a:xfrm>
            <a:off x="1524001" y="311098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4818" name="Object 6"/>
          <p:cNvGraphicFramePr>
            <a:graphicFrameLocks noChangeAspect="1"/>
          </p:cNvGraphicFramePr>
          <p:nvPr>
            <p:extLst>
              <p:ext uri="{D42A27DB-BD31-4B8C-83A1-F6EECF244321}">
                <p14:modId xmlns:p14="http://schemas.microsoft.com/office/powerpoint/2010/main" val="1282721364"/>
              </p:ext>
            </p:extLst>
          </p:nvPr>
        </p:nvGraphicFramePr>
        <p:xfrm>
          <a:off x="4489800" y="2533163"/>
          <a:ext cx="3576637" cy="998538"/>
        </p:xfrm>
        <a:graphic>
          <a:graphicData uri="http://schemas.openxmlformats.org/presentationml/2006/ole">
            <mc:AlternateContent xmlns:mc="http://schemas.openxmlformats.org/markup-compatibility/2006">
              <mc:Choice xmlns:v="urn:schemas-microsoft-com:vml" Requires="v">
                <p:oleObj name="Equation" r:id="rId3" imgW="774360" imgH="241200" progId="Equation.DSMT4">
                  <p:embed/>
                </p:oleObj>
              </mc:Choice>
              <mc:Fallback>
                <p:oleObj name="Equation" r:id="rId3" imgW="774360" imgH="241200" progId="Equation.DSMT4">
                  <p:embed/>
                  <p:pic>
                    <p:nvPicPr>
                      <p:cNvPr id="3481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9800" y="2533163"/>
                        <a:ext cx="3576637" cy="998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2098420" y="3604556"/>
            <a:ext cx="7138727" cy="1846659"/>
          </a:xfrm>
          <a:prstGeom prst="rect">
            <a:avLst/>
          </a:prstGeom>
        </p:spPr>
        <p:txBody>
          <a:bodyPr wrap="square" lIns="0" tIns="0" rIns="0" bIns="0" anchor="ctr">
            <a:spAutoFit/>
          </a:bodyPr>
          <a:lstStyle/>
          <a:p>
            <a:pPr algn="ctr">
              <a:defRPr/>
            </a:pPr>
            <a:r>
              <a:rPr lang="zh-CN" altLang="en-US" sz="4000" b="1" dirty="0">
                <a:solidFill>
                  <a:srgbClr val="000000"/>
                </a:solidFill>
                <a:latin typeface="+mj-ea"/>
                <a:ea typeface="+mj-ea"/>
              </a:rPr>
              <a:t>预测当</a:t>
            </a:r>
            <a:r>
              <a:rPr kumimoji="1" lang="zh-CN" altLang="en-US" sz="4000" b="1" dirty="0">
                <a:solidFill>
                  <a:srgbClr val="000000"/>
                </a:solidFill>
                <a:latin typeface="+mj-ea"/>
                <a:ea typeface="+mj-ea"/>
              </a:rPr>
              <a:t>广告费为</a:t>
            </a:r>
            <a:r>
              <a:rPr kumimoji="1" lang="en-US" altLang="zh-CN" sz="4000" b="1" dirty="0">
                <a:solidFill>
                  <a:srgbClr val="000000"/>
                </a:solidFill>
                <a:latin typeface="+mj-ea"/>
                <a:ea typeface="+mj-ea"/>
              </a:rPr>
              <a:t>80</a:t>
            </a:r>
            <a:r>
              <a:rPr kumimoji="1" lang="zh-CN" altLang="en-US" sz="4000" b="1" dirty="0">
                <a:solidFill>
                  <a:srgbClr val="000000"/>
                </a:solidFill>
                <a:latin typeface="+mj-ea"/>
                <a:ea typeface="+mj-ea"/>
              </a:rPr>
              <a:t>（万元）</a:t>
            </a:r>
            <a:r>
              <a:rPr lang="zh-CN" altLang="en-US" sz="4000" b="1" dirty="0">
                <a:solidFill>
                  <a:srgbClr val="000000"/>
                </a:solidFill>
                <a:latin typeface="+mj-ea"/>
                <a:ea typeface="+mj-ea"/>
              </a:rPr>
              <a:t>时，销售额的点估计值</a:t>
            </a:r>
            <a:r>
              <a:rPr lang="en-US" altLang="zh-CN" sz="4000" b="1" dirty="0">
                <a:solidFill>
                  <a:srgbClr val="000000"/>
                </a:solidFill>
                <a:latin typeface="+mj-ea"/>
                <a:ea typeface="+mj-ea"/>
              </a:rPr>
              <a:t>:</a:t>
            </a:r>
          </a:p>
          <a:p>
            <a:pPr algn="ctr">
              <a:defRPr/>
            </a:pPr>
            <a:endParaRPr lang="zh-CN" altLang="en-US" sz="4000" b="1" dirty="0">
              <a:latin typeface="+mj-ea"/>
              <a:ea typeface="+mj-ea"/>
            </a:endParaRPr>
          </a:p>
        </p:txBody>
      </p:sp>
      <p:sp>
        <p:nvSpPr>
          <p:cNvPr id="34825"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4819" name="Object 9"/>
          <p:cNvGraphicFramePr>
            <a:graphicFrameLocks noChangeAspect="1"/>
          </p:cNvGraphicFramePr>
          <p:nvPr>
            <p:extLst>
              <p:ext uri="{D42A27DB-BD31-4B8C-83A1-F6EECF244321}">
                <p14:modId xmlns:p14="http://schemas.microsoft.com/office/powerpoint/2010/main" val="3591057518"/>
              </p:ext>
            </p:extLst>
          </p:nvPr>
        </p:nvGraphicFramePr>
        <p:xfrm>
          <a:off x="2170449" y="5064290"/>
          <a:ext cx="6572250" cy="733425"/>
        </p:xfrm>
        <a:graphic>
          <a:graphicData uri="http://schemas.openxmlformats.org/presentationml/2006/ole">
            <mc:AlternateContent xmlns:mc="http://schemas.openxmlformats.org/markup-compatibility/2006">
              <mc:Choice xmlns:v="urn:schemas-microsoft-com:vml" Requires="v">
                <p:oleObj name="公式" r:id="rId5" imgW="1879600" imgH="215900" progId="Equation.3">
                  <p:embed/>
                </p:oleObj>
              </mc:Choice>
              <mc:Fallback>
                <p:oleObj name="公式" r:id="rId5" imgW="1879600" imgH="215900" progId="Equation.3">
                  <p:embed/>
                  <p:pic>
                    <p:nvPicPr>
                      <p:cNvPr id="3481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0449" y="5064290"/>
                        <a:ext cx="6572250" cy="733425"/>
                      </a:xfrm>
                      <a:prstGeom prst="rect">
                        <a:avLst/>
                      </a:prstGeom>
                      <a:noFill/>
                      <a:extLst>
                        <a:ext uri="{909E8E84-426E-40DD-AFC4-6F175D3DCCD1}">
                          <a14:hiddenFill xmlns:a14="http://schemas.microsoft.com/office/drawing/2010/main">
                            <a:solidFill>
                              <a:srgbClr val="C7C7DF"/>
                            </a:solidFill>
                          </a14:hiddenFill>
                        </a:ext>
                      </a:extLst>
                    </p:spPr>
                  </p:pic>
                </p:oleObj>
              </mc:Fallback>
            </mc:AlternateContent>
          </a:graphicData>
        </a:graphic>
      </p:graphicFrame>
      <p:sp>
        <p:nvSpPr>
          <p:cNvPr id="34826" name="矩形 10"/>
          <p:cNvSpPr>
            <a:spLocks noChangeArrowheads="1"/>
          </p:cNvSpPr>
          <p:nvPr/>
        </p:nvSpPr>
        <p:spPr bwMode="auto">
          <a:xfrm>
            <a:off x="8362443" y="5138616"/>
            <a:ext cx="1942724" cy="584775"/>
          </a:xfrm>
          <a:prstGeom prst="rect">
            <a:avLst/>
          </a:prstGeom>
          <a:noFill/>
          <a:ln w="9525">
            <a:noFill/>
            <a:miter lim="800000"/>
            <a:headEnd/>
            <a:tailEnd/>
          </a:ln>
        </p:spPr>
        <p:txBody>
          <a:bodyPr wrap="square">
            <a:spAutoFit/>
          </a:bodyPr>
          <a:lstStyle/>
          <a:p>
            <a:r>
              <a:rPr lang="zh-CN" altLang="en-US" sz="3200" b="1" dirty="0"/>
              <a:t>（万套）</a:t>
            </a:r>
          </a:p>
        </p:txBody>
      </p:sp>
    </p:spTree>
    <p:extLst>
      <p:ext uri="{BB962C8B-B14F-4D97-AF65-F5344CB8AC3E}">
        <p14:creationId xmlns:p14="http://schemas.microsoft.com/office/powerpoint/2010/main" val="4285874720"/>
      </p:ext>
    </p:extLst>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8" name="日期占位符 7"/>
          <p:cNvSpPr>
            <a:spLocks noGrp="1"/>
          </p:cNvSpPr>
          <p:nvPr>
            <p:ph type="dt" sz="half" idx="10"/>
          </p:nvPr>
        </p:nvSpPr>
        <p:spPr>
          <a:noFill/>
        </p:spPr>
        <p:txBody>
          <a:bodyPr/>
          <a:lstStyle/>
          <a:p>
            <a:endParaRPr lang="en-US" altLang="zh-CN"/>
          </a:p>
        </p:txBody>
      </p:sp>
      <p:sp>
        <p:nvSpPr>
          <p:cNvPr id="35845" name="Rectangle 2"/>
          <p:cNvSpPr>
            <a:spLocks noGrp="1" noChangeArrowheads="1"/>
          </p:cNvSpPr>
          <p:nvPr>
            <p:ph type="title"/>
          </p:nvPr>
        </p:nvSpPr>
        <p:spPr>
          <a:xfrm>
            <a:off x="1206500" y="536219"/>
            <a:ext cx="5143500" cy="662782"/>
          </a:xfrm>
          <a:noFill/>
        </p:spPr>
        <p:txBody>
          <a:bodyPr vert="horz" lIns="90488" tIns="44450" rIns="90488" bIns="44450" rtlCol="0" anchor="ctr" anchorCtr="1">
            <a:normAutofit/>
          </a:bodyPr>
          <a:lstStyle/>
          <a:p>
            <a:pPr eaLnBrk="1" hangingPunct="1"/>
            <a:r>
              <a:rPr lang="zh-CN" altLang="en-US" sz="4000" dirty="0"/>
              <a:t>区间预测</a:t>
            </a:r>
          </a:p>
        </p:txBody>
      </p:sp>
      <p:sp>
        <p:nvSpPr>
          <p:cNvPr id="35846" name="Rectangle 3"/>
          <p:cNvSpPr>
            <a:spLocks noGrp="1" noChangeArrowheads="1"/>
          </p:cNvSpPr>
          <p:nvPr>
            <p:ph idx="1"/>
          </p:nvPr>
        </p:nvSpPr>
        <p:spPr>
          <a:xfrm>
            <a:off x="850899" y="1360569"/>
            <a:ext cx="9459915" cy="5333761"/>
          </a:xfrm>
          <a:noFill/>
        </p:spPr>
        <p:txBody>
          <a:bodyPr vert="horz" lIns="90488" tIns="44450" rIns="90488" bIns="44450" rtlCol="0">
            <a:normAutofit/>
          </a:bodyPr>
          <a:lstStyle/>
          <a:p>
            <a:pPr marL="0" indent="0">
              <a:lnSpc>
                <a:spcPct val="150000"/>
              </a:lnSpc>
              <a:buNone/>
            </a:pPr>
            <a:r>
              <a:rPr lang="zh-CN" altLang="en-US" dirty="0">
                <a:solidFill>
                  <a:srgbClr val="000000"/>
                </a:solidFill>
                <a:latin typeface="Times New Roman" pitchFamily="18" charset="0"/>
              </a:rPr>
              <a:t>     对于自变量的一定值 </a:t>
            </a:r>
            <a:r>
              <a:rPr lang="en-US" altLang="zh-CN" i="1" dirty="0" err="1">
                <a:solidFill>
                  <a:srgbClr val="000000"/>
                </a:solidFill>
                <a:latin typeface="Times New Roman" pitchFamily="18" charset="0"/>
              </a:rPr>
              <a:t>x</a:t>
            </a:r>
            <a:r>
              <a:rPr lang="en-US" altLang="zh-CN" i="1" baseline="-25000" dirty="0" err="1">
                <a:solidFill>
                  <a:srgbClr val="000000"/>
                </a:solidFill>
                <a:latin typeface="Times New Roman" pitchFamily="18" charset="0"/>
              </a:rPr>
              <a:t>f</a:t>
            </a:r>
            <a:r>
              <a:rPr lang="en-US" altLang="zh-CN" i="1" dirty="0">
                <a:solidFill>
                  <a:srgbClr val="000000"/>
                </a:solidFill>
                <a:latin typeface="Times New Roman" pitchFamily="18" charset="0"/>
              </a:rPr>
              <a:t> </a:t>
            </a:r>
            <a:r>
              <a:rPr lang="zh-CN" altLang="en-US" dirty="0">
                <a:solidFill>
                  <a:srgbClr val="000000"/>
                </a:solidFill>
                <a:latin typeface="Times New Roman" pitchFamily="18" charset="0"/>
              </a:rPr>
              <a:t>，在（</a:t>
            </a:r>
            <a:r>
              <a:rPr lang="en-US" altLang="zh-CN" dirty="0">
                <a:solidFill>
                  <a:srgbClr val="000000"/>
                </a:solidFill>
                <a:latin typeface="Times New Roman" pitchFamily="18" charset="0"/>
              </a:rPr>
              <a:t>1-</a:t>
            </a:r>
            <a:r>
              <a:rPr lang="en-US" altLang="zh-CN" dirty="0">
                <a:solidFill>
                  <a:srgbClr val="000000"/>
                </a:solidFill>
                <a:latin typeface="Times New Roman" pitchFamily="18" charset="0"/>
                <a:sym typeface="Symbol" pitchFamily="18" charset="2"/>
              </a:rPr>
              <a:t></a:t>
            </a:r>
            <a:r>
              <a:rPr lang="zh-CN" altLang="en-US" dirty="0">
                <a:solidFill>
                  <a:srgbClr val="000000"/>
                </a:solidFill>
                <a:latin typeface="Times New Roman" pitchFamily="18" charset="0"/>
                <a:sym typeface="Symbol" pitchFamily="18" charset="2"/>
              </a:rPr>
              <a:t>）置信水平下，</a:t>
            </a:r>
            <a:r>
              <a:rPr lang="zh-CN" altLang="en-US" dirty="0">
                <a:solidFill>
                  <a:srgbClr val="000000"/>
                </a:solidFill>
                <a:latin typeface="Times New Roman" pitchFamily="18" charset="0"/>
              </a:rPr>
              <a:t>因变量的取值 </a:t>
            </a:r>
            <a:r>
              <a:rPr lang="en-US" altLang="zh-CN" i="1" dirty="0" err="1">
                <a:solidFill>
                  <a:srgbClr val="000000"/>
                </a:solidFill>
                <a:latin typeface="Times New Roman" pitchFamily="18" charset="0"/>
              </a:rPr>
              <a:t>y</a:t>
            </a:r>
            <a:r>
              <a:rPr lang="en-US" altLang="zh-CN" i="1" baseline="-25000" dirty="0" err="1">
                <a:solidFill>
                  <a:srgbClr val="000000"/>
                </a:solidFill>
                <a:latin typeface="Times New Roman" pitchFamily="18" charset="0"/>
              </a:rPr>
              <a:t>f</a:t>
            </a:r>
            <a:r>
              <a:rPr lang="en-US" altLang="zh-CN" i="1" baseline="-25000" dirty="0">
                <a:solidFill>
                  <a:srgbClr val="000000"/>
                </a:solidFill>
                <a:latin typeface="Times New Roman" pitchFamily="18" charset="0"/>
              </a:rPr>
              <a:t> </a:t>
            </a:r>
            <a:r>
              <a:rPr lang="zh-CN" altLang="en-US" dirty="0">
                <a:solidFill>
                  <a:srgbClr val="000000"/>
                </a:solidFill>
                <a:latin typeface="Times New Roman" pitchFamily="18" charset="0"/>
              </a:rPr>
              <a:t>的</a:t>
            </a:r>
            <a:r>
              <a:rPr lang="zh-CN" altLang="en-US" dirty="0">
                <a:solidFill>
                  <a:srgbClr val="FF00FF"/>
                </a:solidFill>
                <a:latin typeface="Times New Roman" pitchFamily="18" charset="0"/>
              </a:rPr>
              <a:t>置信区间（区间预测）</a:t>
            </a:r>
            <a:r>
              <a:rPr lang="zh-CN" altLang="en-US" dirty="0">
                <a:solidFill>
                  <a:srgbClr val="000000"/>
                </a:solidFill>
                <a:latin typeface="Times New Roman" pitchFamily="18" charset="0"/>
                <a:sym typeface="Symbol" pitchFamily="18" charset="2"/>
              </a:rPr>
              <a:t>为：</a:t>
            </a:r>
          </a:p>
        </p:txBody>
      </p:sp>
      <p:sp>
        <p:nvSpPr>
          <p:cNvPr id="35844" name="灯片编号占位符 5"/>
          <p:cNvSpPr>
            <a:spLocks noGrp="1"/>
          </p:cNvSpPr>
          <p:nvPr>
            <p:ph type="sldNum" sz="quarter" idx="4"/>
          </p:nvPr>
        </p:nvSpPr>
        <p:spPr>
          <a:noFill/>
        </p:spPr>
        <p:txBody>
          <a:bodyPr/>
          <a:lstStyle/>
          <a:p>
            <a:r>
              <a:rPr lang="en-US" altLang="zh-CN"/>
              <a:t>9--</a:t>
            </a:r>
            <a:fld id="{1FD2E2F0-48BC-4507-B77C-B3D3AE5B373A}" type="slidenum">
              <a:rPr lang="en-US" altLang="zh-CN" smtClean="0"/>
              <a:pPr/>
              <a:t>75</a:t>
            </a:fld>
            <a:endParaRPr lang="en-US" altLang="zh-CN"/>
          </a:p>
        </p:txBody>
      </p:sp>
      <p:graphicFrame>
        <p:nvGraphicFramePr>
          <p:cNvPr id="114692" name="Object 4">
            <a:hlinkClick r:id="" action="ppaction://ole?verb=0"/>
          </p:cNvPr>
          <p:cNvGraphicFramePr>
            <a:graphicFrameLocks/>
          </p:cNvGraphicFramePr>
          <p:nvPr>
            <p:extLst>
              <p:ext uri="{D42A27DB-BD31-4B8C-83A1-F6EECF244321}">
                <p14:modId xmlns:p14="http://schemas.microsoft.com/office/powerpoint/2010/main" val="1698606518"/>
              </p:ext>
            </p:extLst>
          </p:nvPr>
        </p:nvGraphicFramePr>
        <p:xfrm>
          <a:off x="1885282" y="3847902"/>
          <a:ext cx="8501063" cy="2422525"/>
        </p:xfrm>
        <a:graphic>
          <a:graphicData uri="http://schemas.openxmlformats.org/presentationml/2006/ole">
            <mc:AlternateContent xmlns:mc="http://schemas.openxmlformats.org/markup-compatibility/2006">
              <mc:Choice xmlns:v="urn:schemas-microsoft-com:vml" Requires="v">
                <p:oleObj name="公式" r:id="rId3" imgW="2222280" imgH="545760" progId="Equation.3">
                  <p:embed/>
                </p:oleObj>
              </mc:Choice>
              <mc:Fallback>
                <p:oleObj name="公式" r:id="rId3" imgW="2222280" imgH="545760" progId="Equation.3">
                  <p:embed/>
                  <p:pic>
                    <p:nvPicPr>
                      <p:cNvPr id="114692"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282" y="3847902"/>
                        <a:ext cx="8501063" cy="24225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Lst>
                    </p:spPr>
                  </p:pic>
                </p:oleObj>
              </mc:Fallback>
            </mc:AlternateContent>
          </a:graphicData>
        </a:graphic>
      </p:graphicFrame>
      <p:graphicFrame>
        <p:nvGraphicFramePr>
          <p:cNvPr id="114695" name="Object 7"/>
          <p:cNvGraphicFramePr>
            <a:graphicFrameLocks noChangeAspect="1"/>
          </p:cNvGraphicFramePr>
          <p:nvPr>
            <p:extLst>
              <p:ext uri="{D42A27DB-BD31-4B8C-83A1-F6EECF244321}">
                <p14:modId xmlns:p14="http://schemas.microsoft.com/office/powerpoint/2010/main" val="2046864761"/>
              </p:ext>
            </p:extLst>
          </p:nvPr>
        </p:nvGraphicFramePr>
        <p:xfrm>
          <a:off x="4018757" y="2705259"/>
          <a:ext cx="4321175" cy="981075"/>
        </p:xfrm>
        <a:graphic>
          <a:graphicData uri="http://schemas.openxmlformats.org/presentationml/2006/ole">
            <mc:AlternateContent xmlns:mc="http://schemas.openxmlformats.org/markup-compatibility/2006">
              <mc:Choice xmlns:v="urn:schemas-microsoft-com:vml" Requires="v">
                <p:oleObj name="公式" r:id="rId5" imgW="977760" imgH="241200" progId="Equation.3">
                  <p:embed/>
                </p:oleObj>
              </mc:Choice>
              <mc:Fallback>
                <p:oleObj name="公式" r:id="rId5" imgW="977760" imgH="241200" progId="Equation.3">
                  <p:embed/>
                  <p:pic>
                    <p:nvPicPr>
                      <p:cNvPr id="11469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8757" y="2705259"/>
                        <a:ext cx="4321175" cy="981075"/>
                      </a:xfrm>
                      <a:prstGeom prst="rect">
                        <a:avLst/>
                      </a:prstGeom>
                      <a:noFill/>
                      <a:ln w="28575">
                        <a:noFill/>
                        <a:miter lim="800000"/>
                        <a:headEnd/>
                        <a:tailEnd/>
                      </a:ln>
                    </p:spPr>
                  </p:pic>
                </p:oleObj>
              </mc:Fallback>
            </mc:AlternateContent>
          </a:graphicData>
        </a:graphic>
      </p:graphicFrame>
      <p:sp>
        <p:nvSpPr>
          <p:cNvPr id="114696" name="Text Box 8"/>
          <p:cNvSpPr txBox="1">
            <a:spLocks noChangeArrowheads="1"/>
          </p:cNvSpPr>
          <p:nvPr/>
        </p:nvSpPr>
        <p:spPr bwMode="auto">
          <a:xfrm>
            <a:off x="1928814" y="3733801"/>
            <a:ext cx="1462086" cy="584775"/>
          </a:xfrm>
          <a:prstGeom prst="rect">
            <a:avLst/>
          </a:prstGeom>
          <a:noFill/>
          <a:ln w="9525">
            <a:noFill/>
            <a:miter lim="800000"/>
            <a:headEnd/>
            <a:tailEnd/>
          </a:ln>
        </p:spPr>
        <p:txBody>
          <a:bodyPr wrap="square">
            <a:spAutoFit/>
          </a:bodyPr>
          <a:lstStyle/>
          <a:p>
            <a:pPr>
              <a:spcBef>
                <a:spcPct val="50000"/>
              </a:spcBef>
            </a:pPr>
            <a:r>
              <a:rPr lang="zh-CN" altLang="en-US" sz="3200" b="1" dirty="0"/>
              <a:t>其中，</a:t>
            </a:r>
            <a:endParaRPr lang="zh-CN" altLang="en-US" sz="2000" dirty="0">
              <a:latin typeface="Times New Roman" pitchFamily="18" charset="0"/>
            </a:endParaRPr>
          </a:p>
        </p:txBody>
      </p:sp>
    </p:spTree>
    <p:extLst>
      <p:ext uri="{BB962C8B-B14F-4D97-AF65-F5344CB8AC3E}">
        <p14:creationId xmlns:p14="http://schemas.microsoft.com/office/powerpoint/2010/main" val="64697539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14695"/>
                                        </p:tgtEl>
                                        <p:attrNameLst>
                                          <p:attrName>style.visibility</p:attrName>
                                        </p:attrNameLst>
                                      </p:cBhvr>
                                      <p:to>
                                        <p:strVal val="visible"/>
                                      </p:to>
                                    </p:set>
                                    <p:animEffect transition="in" filter="slide(fromLeft)">
                                      <p:cBhvr>
                                        <p:cTn id="7" dur="1000"/>
                                        <p:tgtEl>
                                          <p:spTgt spid="114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6"/>
                                        </p:tgtEl>
                                        <p:attrNameLst>
                                          <p:attrName>style.visibility</p:attrName>
                                        </p:attrNameLst>
                                      </p:cBhvr>
                                      <p:to>
                                        <p:strVal val="visible"/>
                                      </p:to>
                                    </p:set>
                                    <p:animEffect transition="in" filter="wipe(left)">
                                      <p:cBhvr>
                                        <p:cTn id="12" dur="500"/>
                                        <p:tgtEl>
                                          <p:spTgt spid="114696"/>
                                        </p:tgtEl>
                                      </p:cBhvr>
                                    </p:animEffect>
                                  </p:childTnLst>
                                </p:cTn>
                              </p:par>
                              <p:par>
                                <p:cTn id="13" presetID="22" presetClass="entr" presetSubtype="8" fill="hold" nodeType="withEffect">
                                  <p:stCondLst>
                                    <p:cond delay="0"/>
                                  </p:stCondLst>
                                  <p:childTnLst>
                                    <p:set>
                                      <p:cBhvr>
                                        <p:cTn id="14" dur="1" fill="hold">
                                          <p:stCondLst>
                                            <p:cond delay="0"/>
                                          </p:stCondLst>
                                        </p:cTn>
                                        <p:tgtEl>
                                          <p:spTgt spid="114692"/>
                                        </p:tgtEl>
                                        <p:attrNameLst>
                                          <p:attrName>style.visibility</p:attrName>
                                        </p:attrNameLst>
                                      </p:cBhvr>
                                      <p:to>
                                        <p:strVal val="visible"/>
                                      </p:to>
                                    </p:set>
                                    <p:animEffect transition="in" filter="wipe(left)">
                                      <p:cBhvr>
                                        <p:cTn id="15" dur="500"/>
                                        <p:tgtEl>
                                          <p:spTgt spid="11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6" grpId="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76" name="日期占位符 11"/>
          <p:cNvSpPr>
            <a:spLocks noGrp="1"/>
          </p:cNvSpPr>
          <p:nvPr>
            <p:ph type="dt" sz="half" idx="10"/>
          </p:nvPr>
        </p:nvSpPr>
        <p:spPr>
          <a:noFill/>
        </p:spPr>
        <p:txBody>
          <a:bodyPr/>
          <a:lstStyle/>
          <a:p>
            <a:endParaRPr lang="en-US" altLang="zh-CN"/>
          </a:p>
        </p:txBody>
      </p:sp>
      <p:sp>
        <p:nvSpPr>
          <p:cNvPr id="36871" name="Rectangle 2"/>
          <p:cNvSpPr>
            <a:spLocks noGrp="1" noChangeArrowheads="1"/>
          </p:cNvSpPr>
          <p:nvPr>
            <p:ph type="title"/>
          </p:nvPr>
        </p:nvSpPr>
        <p:spPr>
          <a:xfrm>
            <a:off x="711200" y="571897"/>
            <a:ext cx="8064500" cy="662782"/>
          </a:xfrm>
          <a:noFill/>
        </p:spPr>
        <p:txBody>
          <a:bodyPr vert="horz" lIns="90488" tIns="44450" rIns="90488" bIns="44450" rtlCol="0" anchor="ctr" anchorCtr="1">
            <a:normAutofit/>
          </a:bodyPr>
          <a:lstStyle/>
          <a:p>
            <a:pPr eaLnBrk="1" hangingPunct="1"/>
            <a:r>
              <a:rPr lang="zh-CN" altLang="en-US" sz="3600" dirty="0"/>
              <a:t>区间预测公式的</a:t>
            </a:r>
            <a:r>
              <a:rPr lang="zh-CN" altLang="en-US" dirty="0"/>
              <a:t>证明</a:t>
            </a:r>
          </a:p>
        </p:txBody>
      </p:sp>
      <p:sp>
        <p:nvSpPr>
          <p:cNvPr id="36872" name="Rectangle 8"/>
          <p:cNvSpPr>
            <a:spLocks noGrp="1" noChangeArrowheads="1"/>
          </p:cNvSpPr>
          <p:nvPr>
            <p:ph idx="1"/>
          </p:nvPr>
        </p:nvSpPr>
        <p:spPr>
          <a:xfrm>
            <a:off x="1955800" y="1422400"/>
            <a:ext cx="9702800" cy="4711461"/>
          </a:xfrm>
        </p:spPr>
        <p:txBody>
          <a:bodyPr/>
          <a:lstStyle/>
          <a:p>
            <a:pPr marL="0" indent="0" eaLnBrk="1" hangingPunct="1">
              <a:buNone/>
            </a:pPr>
            <a:r>
              <a:rPr lang="zh-CN" altLang="en-US" dirty="0"/>
              <a:t>在一元线性回归时</a:t>
            </a:r>
            <a:endParaRPr lang="zh-CN" altLang="en-US" dirty="0">
              <a:solidFill>
                <a:srgbClr val="FF0000"/>
              </a:solidFill>
            </a:endParaRPr>
          </a:p>
        </p:txBody>
      </p:sp>
      <p:sp>
        <p:nvSpPr>
          <p:cNvPr id="36870" name="灯片编号占位符 5"/>
          <p:cNvSpPr>
            <a:spLocks noGrp="1"/>
          </p:cNvSpPr>
          <p:nvPr>
            <p:ph type="sldNum" sz="quarter" idx="4"/>
          </p:nvPr>
        </p:nvSpPr>
        <p:spPr>
          <a:noFill/>
        </p:spPr>
        <p:txBody>
          <a:bodyPr/>
          <a:lstStyle/>
          <a:p>
            <a:r>
              <a:rPr lang="en-US" altLang="zh-CN"/>
              <a:t>9--</a:t>
            </a:r>
            <a:fld id="{BD38119B-0C72-45B6-923F-3F9A628FA473}" type="slidenum">
              <a:rPr lang="en-US" altLang="zh-CN" smtClean="0"/>
              <a:pPr/>
              <a:t>76</a:t>
            </a:fld>
            <a:endParaRPr lang="en-US" altLang="zh-CN"/>
          </a:p>
        </p:txBody>
      </p:sp>
      <p:graphicFrame>
        <p:nvGraphicFramePr>
          <p:cNvPr id="301063" name="Object 7">
            <a:hlinkClick r:id="" action="ppaction://ole?verb=0"/>
          </p:cNvPr>
          <p:cNvGraphicFramePr>
            <a:graphicFrameLocks/>
          </p:cNvGraphicFramePr>
          <p:nvPr/>
        </p:nvGraphicFramePr>
        <p:xfrm>
          <a:off x="2208214" y="1700214"/>
          <a:ext cx="8008937" cy="1582737"/>
        </p:xfrm>
        <a:graphic>
          <a:graphicData uri="http://schemas.openxmlformats.org/presentationml/2006/ole">
            <mc:AlternateContent xmlns:mc="http://schemas.openxmlformats.org/markup-compatibility/2006">
              <mc:Choice xmlns:v="urn:schemas-microsoft-com:vml" Requires="v">
                <p:oleObj name="Equation" r:id="rId3" imgW="2781000" imgH="558720" progId="Equation.DSMT4">
                  <p:embed/>
                </p:oleObj>
              </mc:Choice>
              <mc:Fallback>
                <p:oleObj name="Equation" r:id="rId3" imgW="2781000" imgH="558720" progId="Equation.DSMT4">
                  <p:embed/>
                  <p:pic>
                    <p:nvPicPr>
                      <p:cNvPr id="301063" name="Object 7">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4" y="1700214"/>
                        <a:ext cx="8008937" cy="1582737"/>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solidFill>
                              <a:srgbClr val="FF00FF"/>
                            </a:solidFill>
                            <a:miter lim="800000"/>
                            <a:headEnd/>
                            <a:tailEnd/>
                          </a14:hiddenLine>
                        </a:ext>
                      </a:extLst>
                    </p:spPr>
                  </p:pic>
                </p:oleObj>
              </mc:Fallback>
            </mc:AlternateContent>
          </a:graphicData>
        </a:graphic>
      </p:graphicFrame>
      <p:sp>
        <p:nvSpPr>
          <p:cNvPr id="36873" name="Rectangle 10"/>
          <p:cNvSpPr>
            <a:spLocks noChangeArrowheads="1"/>
          </p:cNvSpPr>
          <p:nvPr/>
        </p:nvSpPr>
        <p:spPr bwMode="auto">
          <a:xfrm>
            <a:off x="1524001" y="29823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01065" name="Object 9"/>
          <p:cNvGraphicFramePr>
            <a:graphicFrameLocks noChangeAspect="1"/>
          </p:cNvGraphicFramePr>
          <p:nvPr>
            <p:extLst>
              <p:ext uri="{D42A27DB-BD31-4B8C-83A1-F6EECF244321}">
                <p14:modId xmlns:p14="http://schemas.microsoft.com/office/powerpoint/2010/main" val="2617517596"/>
              </p:ext>
            </p:extLst>
          </p:nvPr>
        </p:nvGraphicFramePr>
        <p:xfrm>
          <a:off x="6504281" y="5016544"/>
          <a:ext cx="3679825" cy="1270000"/>
        </p:xfrm>
        <a:graphic>
          <a:graphicData uri="http://schemas.openxmlformats.org/presentationml/2006/ole">
            <mc:AlternateContent xmlns:mc="http://schemas.openxmlformats.org/markup-compatibility/2006">
              <mc:Choice xmlns:v="urn:schemas-microsoft-com:vml" Requires="v">
                <p:oleObj name="Equation" r:id="rId5" imgW="1714320" imgH="520560" progId="Equation.DSMT4">
                  <p:embed/>
                </p:oleObj>
              </mc:Choice>
              <mc:Fallback>
                <p:oleObj name="Equation" r:id="rId5" imgW="1714320" imgH="520560" progId="Equation.DSMT4">
                  <p:embed/>
                  <p:pic>
                    <p:nvPicPr>
                      <p:cNvPr id="30106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4281" y="5016544"/>
                        <a:ext cx="3679825" cy="127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4" name="Rectangle 13"/>
          <p:cNvSpPr>
            <a:spLocks noChangeArrowheads="1"/>
          </p:cNvSpPr>
          <p:nvPr/>
        </p:nvSpPr>
        <p:spPr bwMode="auto">
          <a:xfrm>
            <a:off x="1524001" y="31157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01068" name="Object 12"/>
          <p:cNvGraphicFramePr>
            <a:graphicFrameLocks noChangeAspect="1"/>
          </p:cNvGraphicFramePr>
          <p:nvPr/>
        </p:nvGraphicFramePr>
        <p:xfrm>
          <a:off x="2279651" y="3141664"/>
          <a:ext cx="4608513" cy="1095375"/>
        </p:xfrm>
        <a:graphic>
          <a:graphicData uri="http://schemas.openxmlformats.org/presentationml/2006/ole">
            <mc:AlternateContent xmlns:mc="http://schemas.openxmlformats.org/markup-compatibility/2006">
              <mc:Choice xmlns:v="urn:schemas-microsoft-com:vml" Requires="v">
                <p:oleObj name="Equation" r:id="rId7" imgW="1841400" imgH="431640" progId="Equation.DSMT4">
                  <p:embed/>
                </p:oleObj>
              </mc:Choice>
              <mc:Fallback>
                <p:oleObj name="Equation" r:id="rId7" imgW="1841400" imgH="431640" progId="Equation.DSMT4">
                  <p:embed/>
                  <p:pic>
                    <p:nvPicPr>
                      <p:cNvPr id="301068"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1" y="3141664"/>
                        <a:ext cx="4608513"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1070" name="Object 14"/>
          <p:cNvGraphicFramePr>
            <a:graphicFrameLocks noChangeAspect="1"/>
          </p:cNvGraphicFramePr>
          <p:nvPr>
            <p:extLst>
              <p:ext uri="{D42A27DB-BD31-4B8C-83A1-F6EECF244321}">
                <p14:modId xmlns:p14="http://schemas.microsoft.com/office/powerpoint/2010/main" val="3855259613"/>
              </p:ext>
            </p:extLst>
          </p:nvPr>
        </p:nvGraphicFramePr>
        <p:xfrm>
          <a:off x="2279651" y="4321176"/>
          <a:ext cx="4608513" cy="1268413"/>
        </p:xfrm>
        <a:graphic>
          <a:graphicData uri="http://schemas.openxmlformats.org/presentationml/2006/ole">
            <mc:AlternateContent xmlns:mc="http://schemas.openxmlformats.org/markup-compatibility/2006">
              <mc:Choice xmlns:v="urn:schemas-microsoft-com:vml" Requires="v">
                <p:oleObj r:id="rId9" imgW="2146300" imgH="520700" progId="Equation.DSMT4">
                  <p:embed/>
                </p:oleObj>
              </mc:Choice>
              <mc:Fallback>
                <p:oleObj r:id="rId9" imgW="2146300" imgH="520700" progId="Equation.DSMT4">
                  <p:embed/>
                  <p:pic>
                    <p:nvPicPr>
                      <p:cNvPr id="30107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9651" y="4321176"/>
                        <a:ext cx="4608513" cy="1268413"/>
                      </a:xfrm>
                      <a:prstGeom prst="rect">
                        <a:avLst/>
                      </a:prstGeom>
                      <a:noFill/>
                    </p:spPr>
                  </p:pic>
                </p:oleObj>
              </mc:Fallback>
            </mc:AlternateContent>
          </a:graphicData>
        </a:graphic>
      </p:graphicFrame>
      <p:sp>
        <p:nvSpPr>
          <p:cNvPr id="301071" name="Text Box 15"/>
          <p:cNvSpPr txBox="1">
            <a:spLocks noChangeArrowheads="1"/>
          </p:cNvSpPr>
          <p:nvPr/>
        </p:nvSpPr>
        <p:spPr bwMode="auto">
          <a:xfrm>
            <a:off x="5505742" y="5616414"/>
            <a:ext cx="1152525" cy="461665"/>
          </a:xfrm>
          <a:prstGeom prst="rect">
            <a:avLst/>
          </a:prstGeom>
          <a:noFill/>
          <a:ln w="9525">
            <a:noFill/>
            <a:miter lim="800000"/>
            <a:headEnd/>
            <a:tailEnd/>
          </a:ln>
        </p:spPr>
        <p:txBody>
          <a:bodyPr>
            <a:spAutoFit/>
          </a:bodyPr>
          <a:lstStyle/>
          <a:p>
            <a:pPr>
              <a:spcBef>
                <a:spcPct val="50000"/>
              </a:spcBef>
            </a:pPr>
            <a:r>
              <a:rPr lang="zh-CN" altLang="en-US" sz="2400" b="1" dirty="0"/>
              <a:t>其中，</a:t>
            </a:r>
            <a:endParaRPr lang="zh-CN" altLang="en-US" sz="2400" dirty="0">
              <a:latin typeface="Times New Roman" pitchFamily="18" charset="0"/>
            </a:endParaRPr>
          </a:p>
        </p:txBody>
      </p:sp>
    </p:spTree>
    <p:extLst>
      <p:ext uri="{BB962C8B-B14F-4D97-AF65-F5344CB8AC3E}">
        <p14:creationId xmlns:p14="http://schemas.microsoft.com/office/powerpoint/2010/main" val="252516621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01063"/>
                                        </p:tgtEl>
                                        <p:attrNameLst>
                                          <p:attrName>style.visibility</p:attrName>
                                        </p:attrNameLst>
                                      </p:cBhvr>
                                      <p:to>
                                        <p:strVal val="visible"/>
                                      </p:to>
                                    </p:set>
                                    <p:animEffect transition="in" filter="wipe(left)">
                                      <p:cBhvr>
                                        <p:cTn id="7" dur="1000"/>
                                        <p:tgtEl>
                                          <p:spTgt spid="3010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1068"/>
                                        </p:tgtEl>
                                        <p:attrNameLst>
                                          <p:attrName>style.visibility</p:attrName>
                                        </p:attrNameLst>
                                      </p:cBhvr>
                                      <p:to>
                                        <p:strVal val="visible"/>
                                      </p:to>
                                    </p:set>
                                    <p:animEffect transition="in" filter="wipe(left)">
                                      <p:cBhvr>
                                        <p:cTn id="12" dur="500"/>
                                        <p:tgtEl>
                                          <p:spTgt spid="30106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01070"/>
                                        </p:tgtEl>
                                        <p:attrNameLst>
                                          <p:attrName>style.visibility</p:attrName>
                                        </p:attrNameLst>
                                      </p:cBhvr>
                                      <p:to>
                                        <p:strVal val="visible"/>
                                      </p:to>
                                    </p:set>
                                    <p:animEffect transition="in" filter="wipe(left)">
                                      <p:cBhvr>
                                        <p:cTn id="16" dur="500"/>
                                        <p:tgtEl>
                                          <p:spTgt spid="30107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1071"/>
                                        </p:tgtEl>
                                        <p:attrNameLst>
                                          <p:attrName>style.visibility</p:attrName>
                                        </p:attrNameLst>
                                      </p:cBhvr>
                                      <p:to>
                                        <p:strVal val="visible"/>
                                      </p:to>
                                    </p:set>
                                    <p:animEffect transition="in" filter="wipe(left)">
                                      <p:cBhvr>
                                        <p:cTn id="21" dur="500"/>
                                        <p:tgtEl>
                                          <p:spTgt spid="301071"/>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01065"/>
                                        </p:tgtEl>
                                        <p:attrNameLst>
                                          <p:attrName>style.visibility</p:attrName>
                                        </p:attrNameLst>
                                      </p:cBhvr>
                                      <p:to>
                                        <p:strVal val="visible"/>
                                      </p:to>
                                    </p:set>
                                    <p:animEffect transition="in" filter="wipe(left)">
                                      <p:cBhvr>
                                        <p:cTn id="25" dur="500"/>
                                        <p:tgtEl>
                                          <p:spTgt spid="30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71" grpId="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4" name="日期占位符 5"/>
          <p:cNvSpPr>
            <a:spLocks noGrp="1"/>
          </p:cNvSpPr>
          <p:nvPr>
            <p:ph type="dt" sz="half" idx="10"/>
          </p:nvPr>
        </p:nvSpPr>
        <p:spPr>
          <a:noFill/>
        </p:spPr>
        <p:txBody>
          <a:bodyPr/>
          <a:lstStyle/>
          <a:p>
            <a:endParaRPr lang="en-US" altLang="zh-CN"/>
          </a:p>
        </p:txBody>
      </p:sp>
      <p:sp>
        <p:nvSpPr>
          <p:cNvPr id="37893" name="Rectangle 2"/>
          <p:cNvSpPr>
            <a:spLocks noGrp="1" noChangeArrowheads="1"/>
          </p:cNvSpPr>
          <p:nvPr>
            <p:ph type="title"/>
          </p:nvPr>
        </p:nvSpPr>
        <p:spPr>
          <a:xfrm>
            <a:off x="1371600" y="246384"/>
            <a:ext cx="7480300" cy="2001834"/>
          </a:xfrm>
          <a:noFill/>
        </p:spPr>
        <p:txBody>
          <a:bodyPr vert="horz" lIns="90488" tIns="44450" rIns="90488" bIns="44450" rtlCol="0" anchor="ctr" anchorCtr="1">
            <a:normAutofit/>
          </a:bodyPr>
          <a:lstStyle/>
          <a:p>
            <a:pPr eaLnBrk="1" hangingPunct="1"/>
            <a:r>
              <a:rPr lang="zh-CN" altLang="en-US" sz="4000" dirty="0"/>
              <a:t>影响预测区间宽度的因素</a:t>
            </a:r>
            <a:br>
              <a:rPr lang="zh-CN" altLang="en-US" sz="4000" dirty="0"/>
            </a:br>
            <a:r>
              <a:rPr lang="zh-CN" altLang="en-US" sz="4000" dirty="0"/>
              <a:t>（区间预测的特点 ）</a:t>
            </a:r>
          </a:p>
        </p:txBody>
      </p:sp>
      <p:sp>
        <p:nvSpPr>
          <p:cNvPr id="118787" name="Rectangle 3"/>
          <p:cNvSpPr>
            <a:spLocks noGrp="1" noChangeArrowheads="1"/>
          </p:cNvSpPr>
          <p:nvPr>
            <p:ph idx="1"/>
          </p:nvPr>
        </p:nvSpPr>
        <p:spPr>
          <a:xfrm>
            <a:off x="2159000" y="2425700"/>
            <a:ext cx="9499600" cy="3708161"/>
          </a:xfrm>
          <a:noFill/>
        </p:spPr>
        <p:txBody>
          <a:bodyPr vert="horz" lIns="90488" tIns="44450" rIns="90488" bIns="44450" rtlCol="0">
            <a:normAutofit/>
          </a:bodyPr>
          <a:lstStyle/>
          <a:p>
            <a:pPr marL="0" indent="0" algn="just">
              <a:spcBef>
                <a:spcPts val="1800"/>
              </a:spcBef>
              <a:spcAft>
                <a:spcPts val="0"/>
              </a:spcAft>
              <a:buNone/>
            </a:pPr>
            <a:r>
              <a:rPr lang="en-US" altLang="zh-CN" sz="3600" dirty="0">
                <a:solidFill>
                  <a:srgbClr val="0000FF"/>
                </a:solidFill>
              </a:rPr>
              <a:t>1. </a:t>
            </a:r>
            <a:r>
              <a:rPr lang="zh-CN" altLang="en-US" sz="3600" dirty="0">
                <a:solidFill>
                  <a:srgbClr val="0000FF"/>
                </a:solidFill>
              </a:rPr>
              <a:t>置信水平 </a:t>
            </a:r>
            <a:r>
              <a:rPr lang="en-US" altLang="zh-CN" sz="3600" dirty="0">
                <a:solidFill>
                  <a:srgbClr val="0000FF"/>
                </a:solidFill>
              </a:rPr>
              <a:t>(1 - </a:t>
            </a:r>
            <a:r>
              <a:rPr lang="en-US" altLang="zh-CN" sz="3600" dirty="0">
                <a:solidFill>
                  <a:srgbClr val="0000FF"/>
                </a:solidFill>
                <a:latin typeface="Symbol" pitchFamily="18" charset="2"/>
              </a:rPr>
              <a:t>a</a:t>
            </a:r>
            <a:r>
              <a:rPr lang="en-US" altLang="zh-CN" sz="3600" dirty="0">
                <a:solidFill>
                  <a:srgbClr val="0000FF"/>
                </a:solidFill>
              </a:rPr>
              <a:t>)</a:t>
            </a:r>
          </a:p>
          <a:p>
            <a:pPr marL="514350" lvl="1" indent="0" algn="just">
              <a:spcBef>
                <a:spcPts val="1800"/>
              </a:spcBef>
              <a:spcAft>
                <a:spcPts val="0"/>
              </a:spcAft>
              <a:buNone/>
            </a:pPr>
            <a:r>
              <a:rPr lang="zh-CN" altLang="en-US" sz="3200" dirty="0"/>
              <a:t>区间宽度随置信水平的增大而增大</a:t>
            </a:r>
            <a:endParaRPr lang="en-US" altLang="zh-CN" sz="3200" dirty="0"/>
          </a:p>
          <a:p>
            <a:pPr marL="1943526" lvl="4" algn="just">
              <a:lnSpc>
                <a:spcPct val="100000"/>
              </a:lnSpc>
              <a:spcBef>
                <a:spcPts val="1800"/>
              </a:spcBef>
            </a:pPr>
            <a:endParaRPr lang="zh-CN" altLang="en-US" sz="800" dirty="0"/>
          </a:p>
          <a:p>
            <a:pPr marL="0" indent="0" algn="just">
              <a:spcBef>
                <a:spcPts val="1800"/>
              </a:spcBef>
              <a:spcAft>
                <a:spcPts val="0"/>
              </a:spcAft>
              <a:buNone/>
            </a:pPr>
            <a:r>
              <a:rPr lang="en-US" altLang="zh-CN" sz="3600" dirty="0">
                <a:solidFill>
                  <a:srgbClr val="0000FF"/>
                </a:solidFill>
              </a:rPr>
              <a:t>2. </a:t>
            </a:r>
            <a:r>
              <a:rPr lang="zh-CN" altLang="en-US" sz="3600" dirty="0">
                <a:solidFill>
                  <a:srgbClr val="0000FF"/>
                </a:solidFill>
              </a:rPr>
              <a:t>回归估计的标准误差 </a:t>
            </a:r>
            <a:r>
              <a:rPr lang="en-US" altLang="zh-CN" sz="3600" dirty="0">
                <a:solidFill>
                  <a:srgbClr val="0000FF"/>
                </a:solidFill>
              </a:rPr>
              <a:t>(    )</a:t>
            </a:r>
          </a:p>
          <a:p>
            <a:pPr marL="514350" lvl="1" indent="0" algn="just">
              <a:spcBef>
                <a:spcPts val="1800"/>
              </a:spcBef>
              <a:spcAft>
                <a:spcPts val="0"/>
              </a:spcAft>
              <a:buNone/>
            </a:pPr>
            <a:r>
              <a:rPr lang="zh-CN" altLang="en-US" sz="3200" dirty="0"/>
              <a:t>区间宽度随标准误差的增大而增大</a:t>
            </a:r>
            <a:endParaRPr lang="zh-CN" altLang="en-US" dirty="0"/>
          </a:p>
        </p:txBody>
      </p:sp>
      <p:sp>
        <p:nvSpPr>
          <p:cNvPr id="37891" name="灯片编号占位符 5"/>
          <p:cNvSpPr>
            <a:spLocks noGrp="1"/>
          </p:cNvSpPr>
          <p:nvPr>
            <p:ph type="sldNum" sz="quarter" idx="4"/>
          </p:nvPr>
        </p:nvSpPr>
        <p:spPr>
          <a:noFill/>
        </p:spPr>
        <p:txBody>
          <a:bodyPr/>
          <a:lstStyle/>
          <a:p>
            <a:r>
              <a:rPr lang="en-US" altLang="zh-CN"/>
              <a:t>9--</a:t>
            </a:r>
            <a:fld id="{5D0E2E0D-8FDC-46FB-81DD-932A36966E27}" type="slidenum">
              <a:rPr lang="en-US" altLang="zh-CN" smtClean="0"/>
              <a:pPr/>
              <a:t>77</a:t>
            </a:fld>
            <a:endParaRPr lang="en-US" altLang="zh-CN"/>
          </a:p>
        </p:txBody>
      </p:sp>
      <p:graphicFrame>
        <p:nvGraphicFramePr>
          <p:cNvPr id="37890" name="Object 6"/>
          <p:cNvGraphicFramePr>
            <a:graphicFrameLocks noChangeAspect="1"/>
          </p:cNvGraphicFramePr>
          <p:nvPr>
            <p:extLst>
              <p:ext uri="{D42A27DB-BD31-4B8C-83A1-F6EECF244321}">
                <p14:modId xmlns:p14="http://schemas.microsoft.com/office/powerpoint/2010/main" val="3666560527"/>
              </p:ext>
            </p:extLst>
          </p:nvPr>
        </p:nvGraphicFramePr>
        <p:xfrm>
          <a:off x="7762876" y="4279780"/>
          <a:ext cx="519113" cy="669925"/>
        </p:xfrm>
        <a:graphic>
          <a:graphicData uri="http://schemas.openxmlformats.org/presentationml/2006/ole">
            <mc:AlternateContent xmlns:mc="http://schemas.openxmlformats.org/markup-compatibility/2006">
              <mc:Choice xmlns:v="urn:schemas-microsoft-com:vml" Requires="v">
                <p:oleObj name="公式" r:id="rId3" imgW="177480" imgH="228600" progId="Equation.3">
                  <p:embed/>
                </p:oleObj>
              </mc:Choice>
              <mc:Fallback>
                <p:oleObj name="公式" r:id="rId3" imgW="177480" imgH="228600" progId="Equation.3">
                  <p:embed/>
                  <p:pic>
                    <p:nvPicPr>
                      <p:cNvPr id="3789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876" y="4279780"/>
                        <a:ext cx="519113"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1112274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wipe(left)">
                                      <p:cBhvr>
                                        <p:cTn id="7" dur="500"/>
                                        <p:tgtEl>
                                          <p:spTgt spid="1187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8787">
                                            <p:txEl>
                                              <p:pRg st="1" end="1"/>
                                            </p:txEl>
                                          </p:spTgt>
                                        </p:tgtEl>
                                        <p:attrNameLst>
                                          <p:attrName>style.visibility</p:attrName>
                                        </p:attrNameLst>
                                      </p:cBhvr>
                                      <p:to>
                                        <p:strVal val="visible"/>
                                      </p:to>
                                    </p:set>
                                    <p:animEffect transition="in" filter="wipe(left)">
                                      <p:cBhvr>
                                        <p:cTn id="10" dur="500"/>
                                        <p:tgtEl>
                                          <p:spTgt spid="11878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8787">
                                            <p:txEl>
                                              <p:pRg st="3" end="3"/>
                                            </p:txEl>
                                          </p:spTgt>
                                        </p:tgtEl>
                                        <p:attrNameLst>
                                          <p:attrName>style.visibility</p:attrName>
                                        </p:attrNameLst>
                                      </p:cBhvr>
                                      <p:to>
                                        <p:strVal val="visible"/>
                                      </p:to>
                                    </p:set>
                                    <p:animEffect transition="in" filter="wipe(left)">
                                      <p:cBhvr>
                                        <p:cTn id="15" dur="500"/>
                                        <p:tgtEl>
                                          <p:spTgt spid="118787">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8787">
                                            <p:txEl>
                                              <p:pRg st="4" end="4"/>
                                            </p:txEl>
                                          </p:spTgt>
                                        </p:tgtEl>
                                        <p:attrNameLst>
                                          <p:attrName>style.visibility</p:attrName>
                                        </p:attrNameLst>
                                      </p:cBhvr>
                                      <p:to>
                                        <p:strVal val="visible"/>
                                      </p:to>
                                    </p:set>
                                    <p:animEffect transition="in" filter="wipe(left)">
                                      <p:cBhvr>
                                        <p:cTn id="18" dur="500"/>
                                        <p:tgtEl>
                                          <p:spTgt spid="118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20" name="日期占位符 9"/>
          <p:cNvSpPr>
            <a:spLocks noGrp="1"/>
          </p:cNvSpPr>
          <p:nvPr>
            <p:ph type="dt" sz="half" idx="10"/>
          </p:nvPr>
        </p:nvSpPr>
        <p:spPr>
          <a:noFill/>
        </p:spPr>
        <p:txBody>
          <a:bodyPr/>
          <a:lstStyle/>
          <a:p>
            <a:endParaRPr lang="en-US" altLang="zh-CN"/>
          </a:p>
        </p:txBody>
      </p:sp>
      <p:sp>
        <p:nvSpPr>
          <p:cNvPr id="38918" name="Rectangle 3"/>
          <p:cNvSpPr>
            <a:spLocks noGrp="1" noChangeArrowheads="1"/>
          </p:cNvSpPr>
          <p:nvPr>
            <p:ph type="title"/>
          </p:nvPr>
        </p:nvSpPr>
        <p:spPr>
          <a:xfrm>
            <a:off x="1157288" y="824713"/>
            <a:ext cx="8369300" cy="662782"/>
          </a:xfrm>
          <a:noFill/>
        </p:spPr>
        <p:txBody>
          <a:bodyPr vert="horz" lIns="90488" tIns="44450" rIns="90488" bIns="44450" rtlCol="0" anchor="ctr" anchorCtr="1">
            <a:normAutofit fontScale="90000"/>
          </a:bodyPr>
          <a:lstStyle/>
          <a:p>
            <a:pPr eaLnBrk="1" hangingPunct="1"/>
            <a:r>
              <a:rPr lang="zh-CN" altLang="en-US" sz="4000" dirty="0"/>
              <a:t>影响预测区间宽度的因素</a:t>
            </a:r>
            <a:br>
              <a:rPr lang="zh-CN" altLang="en-US" sz="4000" dirty="0"/>
            </a:br>
            <a:r>
              <a:rPr lang="zh-CN" altLang="en-US" sz="4000" dirty="0"/>
              <a:t>（区间预测的特点 ）</a:t>
            </a:r>
          </a:p>
        </p:txBody>
      </p:sp>
      <p:sp>
        <p:nvSpPr>
          <p:cNvPr id="304130" name="Rectangle 2"/>
          <p:cNvSpPr>
            <a:spLocks noGrp="1" noChangeArrowheads="1"/>
          </p:cNvSpPr>
          <p:nvPr>
            <p:ph idx="1"/>
          </p:nvPr>
        </p:nvSpPr>
        <p:spPr>
          <a:xfrm>
            <a:off x="1765300" y="1765300"/>
            <a:ext cx="9893300" cy="4368561"/>
          </a:xfrm>
          <a:noFill/>
        </p:spPr>
        <p:txBody>
          <a:bodyPr vert="horz" lIns="90488" tIns="44450" rIns="90488" bIns="44450" rtlCol="0">
            <a:normAutofit fontScale="92500" lnSpcReduction="10000"/>
          </a:bodyPr>
          <a:lstStyle/>
          <a:p>
            <a:pPr marL="609600" indent="-609600" algn="just">
              <a:lnSpc>
                <a:spcPct val="110000"/>
              </a:lnSpc>
            </a:pPr>
            <a:r>
              <a:rPr lang="en-US" altLang="zh-CN" sz="3600" dirty="0">
                <a:solidFill>
                  <a:srgbClr val="0000FF"/>
                </a:solidFill>
              </a:rPr>
              <a:t>3.  </a:t>
            </a:r>
            <a:r>
              <a:rPr lang="zh-CN" altLang="en-US" sz="3600" dirty="0">
                <a:solidFill>
                  <a:srgbClr val="0000FF"/>
                </a:solidFill>
              </a:rPr>
              <a:t>样本容量 </a:t>
            </a:r>
            <a:r>
              <a:rPr lang="en-US" altLang="zh-CN" sz="4300" i="1" dirty="0">
                <a:solidFill>
                  <a:srgbClr val="0000FF"/>
                </a:solidFill>
                <a:latin typeface="Times New Roman" panose="02020603050405020304" pitchFamily="18" charset="0"/>
                <a:cs typeface="Times New Roman" panose="02020603050405020304" pitchFamily="18" charset="0"/>
              </a:rPr>
              <a:t>n</a:t>
            </a:r>
            <a:endParaRPr lang="en-US" altLang="zh-CN" sz="3600" i="1" dirty="0">
              <a:solidFill>
                <a:srgbClr val="0000FF"/>
              </a:solidFill>
              <a:latin typeface="Times New Roman" panose="02020603050405020304" pitchFamily="18" charset="0"/>
              <a:cs typeface="Times New Roman" panose="02020603050405020304" pitchFamily="18" charset="0"/>
            </a:endParaRPr>
          </a:p>
          <a:p>
            <a:pPr marL="1219200" lvl="1" indent="-533400" algn="just">
              <a:lnSpc>
                <a:spcPct val="110000"/>
              </a:lnSpc>
            </a:pPr>
            <a:r>
              <a:rPr lang="zh-CN" altLang="en-US" sz="2600" dirty="0"/>
              <a:t>区间宽度随样本容量的增大而减小</a:t>
            </a:r>
          </a:p>
          <a:p>
            <a:pPr marL="1219200" lvl="1" indent="-533400" algn="just">
              <a:lnSpc>
                <a:spcPct val="110000"/>
              </a:lnSpc>
            </a:pPr>
            <a:r>
              <a:rPr lang="zh-CN" altLang="en-US" sz="2600" dirty="0"/>
              <a:t>注意：</a:t>
            </a:r>
            <a:r>
              <a:rPr lang="en-US" altLang="zh-CN" sz="2600" i="1" dirty="0">
                <a:latin typeface="Times New Roman" pitchFamily="18" charset="0"/>
              </a:rPr>
              <a:t>n</a:t>
            </a:r>
            <a:r>
              <a:rPr lang="en-US" altLang="zh-CN" sz="2600" dirty="0"/>
              <a:t> </a:t>
            </a:r>
            <a:r>
              <a:rPr lang="zh-CN" altLang="en-US" sz="2600" dirty="0"/>
              <a:t>不能太小</a:t>
            </a:r>
          </a:p>
          <a:p>
            <a:pPr marL="609600" indent="-609600" algn="just">
              <a:lnSpc>
                <a:spcPct val="120000"/>
              </a:lnSpc>
            </a:pPr>
            <a:r>
              <a:rPr lang="en-US" altLang="zh-CN" sz="3600" dirty="0">
                <a:solidFill>
                  <a:srgbClr val="0000FF"/>
                </a:solidFill>
              </a:rPr>
              <a:t>4. </a:t>
            </a:r>
            <a:r>
              <a:rPr lang="zh-CN" altLang="en-US" sz="3600" dirty="0">
                <a:solidFill>
                  <a:srgbClr val="0000FF"/>
                </a:solidFill>
              </a:rPr>
              <a:t>自变量预测值 </a:t>
            </a:r>
            <a:r>
              <a:rPr lang="en-US" altLang="zh-CN" sz="3600" i="1" dirty="0" err="1">
                <a:solidFill>
                  <a:srgbClr val="0000FF"/>
                </a:solidFill>
                <a:latin typeface="Times New Roman" panose="02020603050405020304" pitchFamily="18" charset="0"/>
                <a:cs typeface="Times New Roman" panose="02020603050405020304" pitchFamily="18" charset="0"/>
              </a:rPr>
              <a:t>x</a:t>
            </a:r>
            <a:r>
              <a:rPr lang="en-US" altLang="zh-CN" sz="3600" baseline="-25000" dirty="0" err="1">
                <a:solidFill>
                  <a:srgbClr val="0000FF"/>
                </a:solidFill>
              </a:rPr>
              <a:t>f</a:t>
            </a:r>
            <a:r>
              <a:rPr lang="en-US" altLang="zh-CN" sz="3600" dirty="0">
                <a:solidFill>
                  <a:srgbClr val="0000FF"/>
                </a:solidFill>
              </a:rPr>
              <a:t> </a:t>
            </a:r>
            <a:r>
              <a:rPr lang="zh-CN" altLang="en-US" sz="3600" dirty="0">
                <a:solidFill>
                  <a:srgbClr val="0000FF"/>
                </a:solidFill>
              </a:rPr>
              <a:t>与      的差异程度</a:t>
            </a:r>
          </a:p>
          <a:p>
            <a:pPr marL="1219200" lvl="1" indent="-533400" algn="just">
              <a:lnSpc>
                <a:spcPct val="110000"/>
              </a:lnSpc>
            </a:pPr>
            <a:r>
              <a:rPr lang="zh-CN" altLang="en-US" sz="2600" dirty="0"/>
              <a:t>区间宽度随 </a:t>
            </a:r>
            <a:r>
              <a:rPr lang="en-US" altLang="zh-CN" i="1" dirty="0" err="1">
                <a:latin typeface="Times New Roman" panose="02020603050405020304" pitchFamily="18" charset="0"/>
                <a:cs typeface="Times New Roman" panose="02020603050405020304" pitchFamily="18" charset="0"/>
              </a:rPr>
              <a:t>x</a:t>
            </a:r>
            <a:r>
              <a:rPr lang="en-US" altLang="zh-CN" sz="2600" i="1" baseline="-25000" dirty="0" err="1">
                <a:latin typeface="Times New Roman" pitchFamily="18" charset="0"/>
              </a:rPr>
              <a:t>f</a:t>
            </a:r>
            <a:r>
              <a:rPr lang="en-US" altLang="zh-CN" sz="2600" dirty="0"/>
              <a:t> </a:t>
            </a:r>
            <a:r>
              <a:rPr lang="zh-CN" altLang="en-US" sz="2600" dirty="0"/>
              <a:t>与      的差异程度的增大而增大</a:t>
            </a:r>
          </a:p>
          <a:p>
            <a:pPr marL="1219200" lvl="1" indent="-533400" algn="just">
              <a:lnSpc>
                <a:spcPct val="110000"/>
              </a:lnSpc>
            </a:pPr>
            <a:r>
              <a:rPr lang="zh-CN" altLang="en-US" sz="2600" dirty="0"/>
              <a:t>内插效果优于外推效果，不宜外推太远；</a:t>
            </a:r>
          </a:p>
          <a:p>
            <a:pPr marL="1543050" lvl="2">
              <a:lnSpc>
                <a:spcPct val="120000"/>
              </a:lnSpc>
              <a:spcBef>
                <a:spcPct val="30000"/>
              </a:spcBef>
              <a:buFontTx/>
              <a:buChar char="•"/>
            </a:pPr>
            <a:r>
              <a:rPr lang="zh-CN" altLang="en-US" dirty="0"/>
              <a:t>内插： </a:t>
            </a:r>
            <a:r>
              <a:rPr lang="en-US" altLang="zh-CN" i="1" dirty="0" err="1">
                <a:latin typeface="Times New Roman" pitchFamily="18" charset="0"/>
              </a:rPr>
              <a:t>X</a:t>
            </a:r>
            <a:r>
              <a:rPr lang="en-US" altLang="zh-CN" baseline="-25000" dirty="0" err="1">
                <a:latin typeface="Arial" charset="0"/>
              </a:rPr>
              <a:t>f</a:t>
            </a:r>
            <a:r>
              <a:rPr lang="en-US" altLang="zh-CN" baseline="-25000" dirty="0">
                <a:latin typeface="Arial" charset="0"/>
              </a:rPr>
              <a:t> </a:t>
            </a:r>
            <a:r>
              <a:rPr lang="en-US" altLang="zh-CN" dirty="0"/>
              <a:t>∈ </a:t>
            </a:r>
            <a:r>
              <a:rPr lang="zh-CN" altLang="en-US" dirty="0"/>
              <a:t>（</a:t>
            </a:r>
            <a:r>
              <a:rPr lang="zh-CN" altLang="en-US" i="1" dirty="0"/>
              <a:t> </a:t>
            </a:r>
            <a:r>
              <a:rPr lang="en-US" altLang="zh-CN" i="1" dirty="0" err="1">
                <a:latin typeface="Times New Roman" pitchFamily="18" charset="0"/>
              </a:rPr>
              <a:t>X</a:t>
            </a:r>
            <a:r>
              <a:rPr lang="en-US" altLang="zh-CN" baseline="-25000" dirty="0" err="1">
                <a:latin typeface="Times New Roman" pitchFamily="18" charset="0"/>
              </a:rPr>
              <a:t>min</a:t>
            </a:r>
            <a:r>
              <a:rPr lang="en-US" altLang="zh-CN" dirty="0">
                <a:latin typeface="Times New Roman" pitchFamily="18" charset="0"/>
              </a:rPr>
              <a:t> , </a:t>
            </a:r>
            <a:r>
              <a:rPr lang="en-US" altLang="zh-CN" i="1" dirty="0" err="1">
                <a:latin typeface="Times New Roman" pitchFamily="18" charset="0"/>
              </a:rPr>
              <a:t>X</a:t>
            </a:r>
            <a:r>
              <a:rPr lang="en-US" altLang="zh-CN" baseline="-25000" dirty="0" err="1">
                <a:latin typeface="Times New Roman" pitchFamily="18" charset="0"/>
              </a:rPr>
              <a:t>max</a:t>
            </a:r>
            <a:r>
              <a:rPr lang="zh-CN" altLang="en-US" dirty="0"/>
              <a:t>）</a:t>
            </a:r>
            <a:r>
              <a:rPr lang="zh-CN" altLang="en-US" dirty="0">
                <a:latin typeface="Arial" charset="0"/>
              </a:rPr>
              <a:t>时</a:t>
            </a:r>
          </a:p>
          <a:p>
            <a:pPr marL="1543050" lvl="2">
              <a:lnSpc>
                <a:spcPct val="120000"/>
              </a:lnSpc>
              <a:spcBef>
                <a:spcPct val="30000"/>
              </a:spcBef>
              <a:buFontTx/>
              <a:buChar char="•"/>
            </a:pPr>
            <a:r>
              <a:rPr lang="zh-CN" altLang="en-US" dirty="0"/>
              <a:t>外推： </a:t>
            </a:r>
            <a:r>
              <a:rPr lang="en-US" altLang="zh-CN" i="1" dirty="0" err="1">
                <a:latin typeface="Times New Roman" pitchFamily="18" charset="0"/>
              </a:rPr>
              <a:t>X</a:t>
            </a:r>
            <a:r>
              <a:rPr lang="en-US" altLang="zh-CN" baseline="-25000" dirty="0" err="1">
                <a:latin typeface="Arial" charset="0"/>
              </a:rPr>
              <a:t>f</a:t>
            </a:r>
            <a:r>
              <a:rPr lang="en-US" altLang="zh-CN" dirty="0"/>
              <a:t>     </a:t>
            </a:r>
            <a:r>
              <a:rPr lang="zh-CN" altLang="en-US" dirty="0"/>
              <a:t>（ </a:t>
            </a:r>
            <a:r>
              <a:rPr lang="en-US" altLang="zh-CN" i="1" dirty="0" err="1">
                <a:latin typeface="Times New Roman" pitchFamily="18" charset="0"/>
              </a:rPr>
              <a:t>X</a:t>
            </a:r>
            <a:r>
              <a:rPr lang="en-US" altLang="zh-CN" baseline="-25000" dirty="0" err="1">
                <a:latin typeface="Times New Roman" pitchFamily="18" charset="0"/>
              </a:rPr>
              <a:t>min</a:t>
            </a:r>
            <a:r>
              <a:rPr lang="en-US" altLang="zh-CN" dirty="0">
                <a:latin typeface="Times New Roman" pitchFamily="18" charset="0"/>
              </a:rPr>
              <a:t> , </a:t>
            </a:r>
            <a:r>
              <a:rPr lang="en-US" altLang="zh-CN" i="1" dirty="0" err="1">
                <a:latin typeface="Times New Roman" pitchFamily="18" charset="0"/>
              </a:rPr>
              <a:t>X</a:t>
            </a:r>
            <a:r>
              <a:rPr lang="en-US" altLang="zh-CN" baseline="-25000" dirty="0" err="1">
                <a:latin typeface="Times New Roman" pitchFamily="18" charset="0"/>
              </a:rPr>
              <a:t>max</a:t>
            </a:r>
            <a:r>
              <a:rPr lang="en-US" altLang="zh-CN" dirty="0"/>
              <a:t> </a:t>
            </a:r>
            <a:r>
              <a:rPr lang="zh-CN" altLang="en-US" dirty="0"/>
              <a:t>）</a:t>
            </a:r>
            <a:r>
              <a:rPr lang="zh-CN" altLang="en-US" dirty="0">
                <a:latin typeface="Arial" charset="0"/>
              </a:rPr>
              <a:t>时</a:t>
            </a:r>
          </a:p>
        </p:txBody>
      </p:sp>
      <p:sp>
        <p:nvSpPr>
          <p:cNvPr id="38916" name="灯片编号占位符 5"/>
          <p:cNvSpPr>
            <a:spLocks noGrp="1"/>
          </p:cNvSpPr>
          <p:nvPr>
            <p:ph type="sldNum" sz="quarter" idx="4"/>
          </p:nvPr>
        </p:nvSpPr>
        <p:spPr>
          <a:noFill/>
        </p:spPr>
        <p:txBody>
          <a:bodyPr/>
          <a:lstStyle/>
          <a:p>
            <a:r>
              <a:rPr lang="en-US" altLang="zh-CN"/>
              <a:t>9--</a:t>
            </a:r>
            <a:fld id="{99F689F6-34AC-45FF-8D97-010264231ECD}" type="slidenum">
              <a:rPr lang="en-US" altLang="zh-CN" smtClean="0"/>
              <a:pPr/>
              <a:t>78</a:t>
            </a:fld>
            <a:endParaRPr lang="en-US" altLang="zh-CN"/>
          </a:p>
        </p:txBody>
      </p:sp>
      <p:graphicFrame>
        <p:nvGraphicFramePr>
          <p:cNvPr id="38914" name="Object 5"/>
          <p:cNvGraphicFramePr>
            <a:graphicFrameLocks noChangeAspect="1"/>
          </p:cNvGraphicFramePr>
          <p:nvPr>
            <p:extLst>
              <p:ext uri="{D42A27DB-BD31-4B8C-83A1-F6EECF244321}">
                <p14:modId xmlns:p14="http://schemas.microsoft.com/office/powerpoint/2010/main" val="4163078043"/>
              </p:ext>
            </p:extLst>
          </p:nvPr>
        </p:nvGraphicFramePr>
        <p:xfrm>
          <a:off x="6513512" y="3403600"/>
          <a:ext cx="516209" cy="611191"/>
        </p:xfrm>
        <a:graphic>
          <a:graphicData uri="http://schemas.openxmlformats.org/presentationml/2006/ole">
            <mc:AlternateContent xmlns:mc="http://schemas.openxmlformats.org/markup-compatibility/2006">
              <mc:Choice xmlns:v="urn:schemas-microsoft-com:vml" Requires="v">
                <p:oleObj name="公式" r:id="rId3" imgW="139680" imgH="164880" progId="Equation.3">
                  <p:embed/>
                </p:oleObj>
              </mc:Choice>
              <mc:Fallback>
                <p:oleObj name="公式" r:id="rId3" imgW="139680" imgH="164880" progId="Equation.3">
                  <p:embed/>
                  <p:pic>
                    <p:nvPicPr>
                      <p:cNvPr id="389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3512" y="3403600"/>
                        <a:ext cx="516209" cy="611191"/>
                      </a:xfrm>
                      <a:prstGeom prst="rect">
                        <a:avLst/>
                      </a:prstGeom>
                      <a:noFill/>
                    </p:spPr>
                  </p:pic>
                </p:oleObj>
              </mc:Fallback>
            </mc:AlternateContent>
          </a:graphicData>
        </a:graphic>
      </p:graphicFrame>
      <p:grpSp>
        <p:nvGrpSpPr>
          <p:cNvPr id="2" name="Group 7"/>
          <p:cNvGrpSpPr>
            <a:grpSpLocks/>
          </p:cNvGrpSpPr>
          <p:nvPr/>
        </p:nvGrpSpPr>
        <p:grpSpPr bwMode="auto">
          <a:xfrm>
            <a:off x="4487863" y="5508267"/>
            <a:ext cx="541338" cy="519112"/>
            <a:chOff x="2120" y="2287"/>
            <a:chExt cx="341" cy="336"/>
          </a:xfrm>
        </p:grpSpPr>
        <p:sp>
          <p:nvSpPr>
            <p:cNvPr id="38921" name="Line 8"/>
            <p:cNvSpPr>
              <a:spLocks noChangeShapeType="1"/>
            </p:cNvSpPr>
            <p:nvPr/>
          </p:nvSpPr>
          <p:spPr bwMode="auto">
            <a:xfrm>
              <a:off x="2200" y="2341"/>
              <a:ext cx="181" cy="0"/>
            </a:xfrm>
            <a:prstGeom prst="line">
              <a:avLst/>
            </a:prstGeom>
            <a:noFill/>
            <a:ln w="28575">
              <a:solidFill>
                <a:schemeClr val="tx1"/>
              </a:solidFill>
              <a:round/>
              <a:headEnd/>
              <a:tailEnd/>
            </a:ln>
          </p:spPr>
          <p:txBody>
            <a:bodyPr/>
            <a:lstStyle/>
            <a:p>
              <a:endParaRPr lang="zh-CN" altLang="en-US"/>
            </a:p>
          </p:txBody>
        </p:sp>
        <p:sp>
          <p:nvSpPr>
            <p:cNvPr id="38922" name="Rectangle 9"/>
            <p:cNvSpPr>
              <a:spLocks noChangeArrowheads="1"/>
            </p:cNvSpPr>
            <p:nvPr/>
          </p:nvSpPr>
          <p:spPr bwMode="auto">
            <a:xfrm>
              <a:off x="2120" y="2287"/>
              <a:ext cx="341" cy="336"/>
            </a:xfrm>
            <a:prstGeom prst="rect">
              <a:avLst/>
            </a:prstGeom>
            <a:noFill/>
            <a:ln w="9525">
              <a:noFill/>
              <a:miter lim="800000"/>
              <a:headEnd/>
              <a:tailEnd/>
            </a:ln>
          </p:spPr>
          <p:txBody>
            <a:bodyPr wrap="none">
              <a:spAutoFit/>
            </a:bodyPr>
            <a:lstStyle/>
            <a:p>
              <a:r>
                <a:rPr lang="en-US" altLang="zh-CN" sz="2800" b="1" dirty="0">
                  <a:solidFill>
                    <a:srgbClr val="000000"/>
                  </a:solidFill>
                </a:rPr>
                <a:t>∈</a:t>
              </a:r>
            </a:p>
          </p:txBody>
        </p:sp>
      </p:grpSp>
      <p:graphicFrame>
        <p:nvGraphicFramePr>
          <p:cNvPr id="38915" name="Object 10"/>
          <p:cNvGraphicFramePr>
            <a:graphicFrameLocks noChangeAspect="1"/>
          </p:cNvGraphicFramePr>
          <p:nvPr>
            <p:extLst>
              <p:ext uri="{D42A27DB-BD31-4B8C-83A1-F6EECF244321}">
                <p14:modId xmlns:p14="http://schemas.microsoft.com/office/powerpoint/2010/main" val="1062645899"/>
              </p:ext>
            </p:extLst>
          </p:nvPr>
        </p:nvGraphicFramePr>
        <p:xfrm>
          <a:off x="5341938" y="4014791"/>
          <a:ext cx="396875" cy="469900"/>
        </p:xfrm>
        <a:graphic>
          <a:graphicData uri="http://schemas.openxmlformats.org/presentationml/2006/ole">
            <mc:AlternateContent xmlns:mc="http://schemas.openxmlformats.org/markup-compatibility/2006">
              <mc:Choice xmlns:v="urn:schemas-microsoft-com:vml" Requires="v">
                <p:oleObj name="公式" r:id="rId5" imgW="139680" imgH="164880" progId="Equation.3">
                  <p:embed/>
                </p:oleObj>
              </mc:Choice>
              <mc:Fallback>
                <p:oleObj name="公式" r:id="rId5" imgW="139680" imgH="164880" progId="Equation.3">
                  <p:embed/>
                  <p:pic>
                    <p:nvPicPr>
                      <p:cNvPr id="3891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1938" y="4014791"/>
                        <a:ext cx="39687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065667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4130">
                                            <p:txEl>
                                              <p:pRg st="1" end="1"/>
                                            </p:txEl>
                                          </p:spTgt>
                                        </p:tgtEl>
                                        <p:attrNameLst>
                                          <p:attrName>style.visibility</p:attrName>
                                        </p:attrNameLst>
                                      </p:cBhvr>
                                      <p:to>
                                        <p:strVal val="visible"/>
                                      </p:to>
                                    </p:set>
                                    <p:animEffect transition="in" filter="wipe(left)">
                                      <p:cBhvr>
                                        <p:cTn id="7" dur="500"/>
                                        <p:tgtEl>
                                          <p:spTgt spid="304130">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4130">
                                            <p:txEl>
                                              <p:pRg st="2" end="2"/>
                                            </p:txEl>
                                          </p:spTgt>
                                        </p:tgtEl>
                                        <p:attrNameLst>
                                          <p:attrName>style.visibility</p:attrName>
                                        </p:attrNameLst>
                                      </p:cBhvr>
                                      <p:to>
                                        <p:strVal val="visible"/>
                                      </p:to>
                                    </p:set>
                                    <p:animEffect transition="in" filter="wipe(left)">
                                      <p:cBhvr>
                                        <p:cTn id="10" dur="500"/>
                                        <p:tgtEl>
                                          <p:spTgt spid="30413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04130">
                                            <p:txEl>
                                              <p:pRg st="3" end="3"/>
                                            </p:txEl>
                                          </p:spTgt>
                                        </p:tgtEl>
                                        <p:attrNameLst>
                                          <p:attrName>style.visibility</p:attrName>
                                        </p:attrNameLst>
                                      </p:cBhvr>
                                      <p:to>
                                        <p:strVal val="visible"/>
                                      </p:to>
                                    </p:set>
                                    <p:animEffect transition="in" filter="wipe(left)">
                                      <p:cBhvr>
                                        <p:cTn id="15" dur="500"/>
                                        <p:tgtEl>
                                          <p:spTgt spid="304130">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04130">
                                            <p:txEl>
                                              <p:pRg st="4" end="4"/>
                                            </p:txEl>
                                          </p:spTgt>
                                        </p:tgtEl>
                                        <p:attrNameLst>
                                          <p:attrName>style.visibility</p:attrName>
                                        </p:attrNameLst>
                                      </p:cBhvr>
                                      <p:to>
                                        <p:strVal val="visible"/>
                                      </p:to>
                                    </p:set>
                                    <p:animEffect transition="in" filter="wipe(left)">
                                      <p:cBhvr>
                                        <p:cTn id="18" dur="500"/>
                                        <p:tgtEl>
                                          <p:spTgt spid="304130">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4130">
                                            <p:txEl>
                                              <p:pRg st="5" end="5"/>
                                            </p:txEl>
                                          </p:spTgt>
                                        </p:tgtEl>
                                        <p:attrNameLst>
                                          <p:attrName>style.visibility</p:attrName>
                                        </p:attrNameLst>
                                      </p:cBhvr>
                                      <p:to>
                                        <p:strVal val="visible"/>
                                      </p:to>
                                    </p:set>
                                    <p:animEffect transition="in" filter="wipe(left)">
                                      <p:cBhvr>
                                        <p:cTn id="21" dur="500"/>
                                        <p:tgtEl>
                                          <p:spTgt spid="304130">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04130">
                                            <p:txEl>
                                              <p:pRg st="6" end="6"/>
                                            </p:txEl>
                                          </p:spTgt>
                                        </p:tgtEl>
                                        <p:attrNameLst>
                                          <p:attrName>style.visibility</p:attrName>
                                        </p:attrNameLst>
                                      </p:cBhvr>
                                      <p:to>
                                        <p:strVal val="visible"/>
                                      </p:to>
                                    </p:set>
                                    <p:animEffect transition="in" filter="wipe(left)">
                                      <p:cBhvr>
                                        <p:cTn id="24" dur="500"/>
                                        <p:tgtEl>
                                          <p:spTgt spid="304130">
                                            <p:txEl>
                                              <p:pRg st="6" end="6"/>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04130">
                                            <p:txEl>
                                              <p:pRg st="7" end="7"/>
                                            </p:txEl>
                                          </p:spTgt>
                                        </p:tgtEl>
                                        <p:attrNameLst>
                                          <p:attrName>style.visibility</p:attrName>
                                        </p:attrNameLst>
                                      </p:cBhvr>
                                      <p:to>
                                        <p:strVal val="visible"/>
                                      </p:to>
                                    </p:set>
                                    <p:animEffect transition="in" filter="wipe(left)">
                                      <p:cBhvr>
                                        <p:cTn id="27" dur="500"/>
                                        <p:tgtEl>
                                          <p:spTgt spid="304130">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linds(horizont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9" name="日期占位符 22"/>
          <p:cNvSpPr>
            <a:spLocks noGrp="1"/>
          </p:cNvSpPr>
          <p:nvPr>
            <p:ph type="dt" sz="half" idx="10"/>
          </p:nvPr>
        </p:nvSpPr>
        <p:spPr>
          <a:noFill/>
        </p:spPr>
        <p:txBody>
          <a:bodyPr/>
          <a:lstStyle/>
          <a:p>
            <a:endParaRPr lang="en-US" altLang="zh-CN"/>
          </a:p>
        </p:txBody>
      </p:sp>
      <p:sp>
        <p:nvSpPr>
          <p:cNvPr id="39941" name="Rectangle 2"/>
          <p:cNvSpPr>
            <a:spLocks noGrp="1" noChangeArrowheads="1"/>
          </p:cNvSpPr>
          <p:nvPr>
            <p:ph type="title"/>
          </p:nvPr>
        </p:nvSpPr>
        <p:spPr>
          <a:xfrm>
            <a:off x="1677987" y="602456"/>
            <a:ext cx="6723063" cy="662782"/>
          </a:xfrm>
          <a:noFill/>
        </p:spPr>
        <p:txBody>
          <a:bodyPr vert="horz" lIns="90488" tIns="44450" rIns="90488" bIns="44450" rtlCol="0" anchor="ctr" anchorCtr="1">
            <a:normAutofit/>
          </a:bodyPr>
          <a:lstStyle/>
          <a:p>
            <a:pPr eaLnBrk="1" hangingPunct="1"/>
            <a:r>
              <a:rPr lang="zh-CN" altLang="en-US" dirty="0"/>
              <a:t>回归预测的置信区间</a:t>
            </a:r>
          </a:p>
        </p:txBody>
      </p:sp>
      <p:graphicFrame>
        <p:nvGraphicFramePr>
          <p:cNvPr id="39938" name="Object 37"/>
          <p:cNvGraphicFramePr>
            <a:graphicFrameLocks noGrp="1" noChangeAspect="1"/>
          </p:cNvGraphicFramePr>
          <p:nvPr>
            <p:ph idx="1"/>
            <p:extLst>
              <p:ext uri="{D42A27DB-BD31-4B8C-83A1-F6EECF244321}">
                <p14:modId xmlns:p14="http://schemas.microsoft.com/office/powerpoint/2010/main" val="1244421768"/>
              </p:ext>
            </p:extLst>
          </p:nvPr>
        </p:nvGraphicFramePr>
        <p:xfrm>
          <a:off x="5694363" y="5762657"/>
          <a:ext cx="572795" cy="655667"/>
        </p:xfrm>
        <a:graphic>
          <a:graphicData uri="http://schemas.openxmlformats.org/presentationml/2006/ole">
            <mc:AlternateContent xmlns:mc="http://schemas.openxmlformats.org/markup-compatibility/2006">
              <mc:Choice xmlns:v="urn:schemas-microsoft-com:vml" Requires="v">
                <p:oleObj name="公式" r:id="rId3" imgW="139680" imgH="164880" progId="Equation.3">
                  <p:embed/>
                </p:oleObj>
              </mc:Choice>
              <mc:Fallback>
                <p:oleObj name="公式" r:id="rId3" imgW="139680" imgH="164880" progId="Equation.3">
                  <p:embed/>
                  <p:pic>
                    <p:nvPicPr>
                      <p:cNvPr id="39938"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4363" y="5762657"/>
                        <a:ext cx="572795" cy="655667"/>
                      </a:xfrm>
                      <a:prstGeom prst="rect">
                        <a:avLst/>
                      </a:prstGeom>
                      <a:noFill/>
                    </p:spPr>
                  </p:pic>
                </p:oleObj>
              </mc:Fallback>
            </mc:AlternateContent>
          </a:graphicData>
        </a:graphic>
      </p:graphicFrame>
      <p:sp>
        <p:nvSpPr>
          <p:cNvPr id="39940" name="灯片编号占位符 5"/>
          <p:cNvSpPr>
            <a:spLocks noGrp="1"/>
          </p:cNvSpPr>
          <p:nvPr>
            <p:ph type="sldNum" sz="quarter" idx="4"/>
          </p:nvPr>
        </p:nvSpPr>
        <p:spPr>
          <a:noFill/>
        </p:spPr>
        <p:txBody>
          <a:bodyPr/>
          <a:lstStyle/>
          <a:p>
            <a:r>
              <a:rPr lang="en-US" altLang="zh-CN"/>
              <a:t>9--</a:t>
            </a:r>
            <a:fld id="{8F3BC20C-F892-414C-B685-54F04F5F1B6D}" type="slidenum">
              <a:rPr lang="en-US" altLang="zh-CN" smtClean="0"/>
              <a:pPr/>
              <a:t>79</a:t>
            </a:fld>
            <a:endParaRPr lang="en-US" altLang="zh-CN"/>
          </a:p>
        </p:txBody>
      </p:sp>
      <p:sp>
        <p:nvSpPr>
          <p:cNvPr id="120835" name="Line 3"/>
          <p:cNvSpPr>
            <a:spLocks noChangeShapeType="1"/>
          </p:cNvSpPr>
          <p:nvPr/>
        </p:nvSpPr>
        <p:spPr bwMode="auto">
          <a:xfrm>
            <a:off x="5880100" y="3068639"/>
            <a:ext cx="0" cy="1584325"/>
          </a:xfrm>
          <a:prstGeom prst="line">
            <a:avLst/>
          </a:prstGeom>
          <a:noFill/>
          <a:ln w="38100">
            <a:solidFill>
              <a:schemeClr val="tx1"/>
            </a:solidFill>
            <a:prstDash val="dash"/>
            <a:round/>
            <a:headEnd/>
            <a:tailEnd/>
          </a:ln>
          <a:effectLst>
            <a:outerShdw dist="35921" dir="2700000" algn="ctr" rotWithShape="0">
              <a:schemeClr val="bg2"/>
            </a:outerShdw>
          </a:effectLst>
        </p:spPr>
        <p:txBody>
          <a:bodyPr/>
          <a:lstStyle/>
          <a:p>
            <a:pPr>
              <a:defRPr/>
            </a:pPr>
            <a:endParaRPr lang="zh-CN" altLang="en-US"/>
          </a:p>
        </p:txBody>
      </p:sp>
      <p:sp>
        <p:nvSpPr>
          <p:cNvPr id="120836" name="Line 4"/>
          <p:cNvSpPr>
            <a:spLocks noChangeShapeType="1"/>
          </p:cNvSpPr>
          <p:nvPr/>
        </p:nvSpPr>
        <p:spPr bwMode="auto">
          <a:xfrm flipH="1">
            <a:off x="7824788" y="1484314"/>
            <a:ext cx="23812" cy="2905125"/>
          </a:xfrm>
          <a:prstGeom prst="line">
            <a:avLst/>
          </a:prstGeom>
          <a:noFill/>
          <a:ln w="38100" cap="rnd">
            <a:solidFill>
              <a:schemeClr val="tx1"/>
            </a:solidFill>
            <a:prstDash val="sysDot"/>
            <a:round/>
            <a:headEnd/>
            <a:tailEnd/>
          </a:ln>
          <a:effectLst>
            <a:outerShdw dist="35921" dir="2700000" algn="ctr" rotWithShape="0">
              <a:schemeClr val="bg2"/>
            </a:outerShdw>
          </a:effectLst>
        </p:spPr>
        <p:txBody>
          <a:bodyPr/>
          <a:lstStyle/>
          <a:p>
            <a:pPr>
              <a:defRPr/>
            </a:pPr>
            <a:endParaRPr lang="zh-CN" altLang="en-US"/>
          </a:p>
        </p:txBody>
      </p:sp>
      <p:sp>
        <p:nvSpPr>
          <p:cNvPr id="120837" name="Freeform 5"/>
          <p:cNvSpPr>
            <a:spLocks/>
          </p:cNvSpPr>
          <p:nvPr/>
        </p:nvSpPr>
        <p:spPr bwMode="auto">
          <a:xfrm>
            <a:off x="2593975" y="1949451"/>
            <a:ext cx="6921500" cy="3768725"/>
          </a:xfrm>
          <a:custGeom>
            <a:avLst/>
            <a:gdLst/>
            <a:ahLst/>
            <a:cxnLst>
              <a:cxn ang="0">
                <a:pos x="0" y="0"/>
              </a:cxn>
              <a:cxn ang="0">
                <a:pos x="0" y="1960"/>
              </a:cxn>
              <a:cxn ang="0">
                <a:pos x="4360" y="1960"/>
              </a:cxn>
            </a:cxnLst>
            <a:rect l="0" t="0" r="r" b="b"/>
            <a:pathLst>
              <a:path w="4360" h="1960">
                <a:moveTo>
                  <a:pt x="0" y="0"/>
                </a:moveTo>
                <a:lnTo>
                  <a:pt x="0" y="1960"/>
                </a:lnTo>
                <a:lnTo>
                  <a:pt x="4360" y="1960"/>
                </a:lnTo>
              </a:path>
            </a:pathLst>
          </a:custGeom>
          <a:noFill/>
          <a:ln w="57150" cmpd="sng">
            <a:solidFill>
              <a:schemeClr val="tx1"/>
            </a:solidFill>
            <a:prstDash val="solid"/>
            <a:round/>
            <a:headEnd type="triangle" w="med" len="med"/>
            <a:tailEnd type="triangle" w="med" len="med"/>
          </a:ln>
          <a:effectLst>
            <a:outerShdw dist="28398" dir="3806097" algn="ctr" rotWithShape="0">
              <a:schemeClr val="bg2"/>
            </a:outerShdw>
          </a:effectLst>
        </p:spPr>
        <p:txBody>
          <a:bodyPr/>
          <a:lstStyle/>
          <a:p>
            <a:pPr>
              <a:defRPr/>
            </a:pPr>
            <a:endParaRPr lang="zh-CN" altLang="en-US"/>
          </a:p>
        </p:txBody>
      </p:sp>
      <p:sp>
        <p:nvSpPr>
          <p:cNvPr id="39945" name="Rectangle 26"/>
          <p:cNvSpPr>
            <a:spLocks noChangeArrowheads="1"/>
          </p:cNvSpPr>
          <p:nvPr/>
        </p:nvSpPr>
        <p:spPr bwMode="auto">
          <a:xfrm>
            <a:off x="7608889" y="5661026"/>
            <a:ext cx="560387"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dirty="0" err="1">
                <a:solidFill>
                  <a:srgbClr val="000000"/>
                </a:solidFill>
                <a:latin typeface="Times New Roman" pitchFamily="18" charset="0"/>
              </a:rPr>
              <a:t>x</a:t>
            </a:r>
            <a:r>
              <a:rPr kumimoji="1" lang="en-US" altLang="zh-CN" sz="2600" b="1" i="1" baseline="-25000" dirty="0" err="1">
                <a:solidFill>
                  <a:srgbClr val="000000"/>
                </a:solidFill>
                <a:latin typeface="Times New Roman" pitchFamily="18" charset="0"/>
              </a:rPr>
              <a:t>f</a:t>
            </a:r>
            <a:endParaRPr kumimoji="1" lang="en-US" altLang="zh-CN" sz="2600" i="1" baseline="-25000" dirty="0">
              <a:solidFill>
                <a:srgbClr val="000000"/>
              </a:solidFill>
              <a:latin typeface="Times New Roman" pitchFamily="18" charset="0"/>
            </a:endParaRPr>
          </a:p>
        </p:txBody>
      </p:sp>
      <p:sp>
        <p:nvSpPr>
          <p:cNvPr id="39946" name="Rectangle 28"/>
          <p:cNvSpPr>
            <a:spLocks noChangeArrowheads="1"/>
          </p:cNvSpPr>
          <p:nvPr/>
        </p:nvSpPr>
        <p:spPr bwMode="auto">
          <a:xfrm>
            <a:off x="2135188" y="1700214"/>
            <a:ext cx="381000"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a:solidFill>
                  <a:srgbClr val="000000"/>
                </a:solidFill>
                <a:latin typeface="Times New Roman" pitchFamily="18" charset="0"/>
              </a:rPr>
              <a:t>Y</a:t>
            </a:r>
            <a:endParaRPr kumimoji="1" lang="en-US" altLang="zh-CN" i="1">
              <a:solidFill>
                <a:srgbClr val="000000"/>
              </a:solidFill>
              <a:latin typeface="Times New Roman" pitchFamily="18" charset="0"/>
            </a:endParaRPr>
          </a:p>
        </p:txBody>
      </p:sp>
      <p:sp>
        <p:nvSpPr>
          <p:cNvPr id="39947" name="Text Box 31"/>
          <p:cNvSpPr txBox="1">
            <a:spLocks noChangeArrowheads="1"/>
          </p:cNvSpPr>
          <p:nvPr/>
        </p:nvSpPr>
        <p:spPr bwMode="auto">
          <a:xfrm rot="20375902">
            <a:off x="4440238" y="2492376"/>
            <a:ext cx="2362200" cy="549275"/>
          </a:xfrm>
          <a:prstGeom prst="rect">
            <a:avLst/>
          </a:prstGeom>
          <a:noFill/>
          <a:ln w="12700">
            <a:noFill/>
            <a:miter lim="800000"/>
            <a:headEnd/>
            <a:tailEnd/>
          </a:ln>
        </p:spPr>
        <p:txBody>
          <a:bodyPr>
            <a:spAutoFit/>
          </a:bodyPr>
          <a:lstStyle/>
          <a:p>
            <a:pPr algn="ctr" eaLnBrk="0" hangingPunct="0">
              <a:spcBef>
                <a:spcPct val="50000"/>
              </a:spcBef>
            </a:pPr>
            <a:r>
              <a:rPr kumimoji="1" lang="zh-CN" altLang="en-US" sz="3000">
                <a:solidFill>
                  <a:srgbClr val="FF00FF"/>
                </a:solidFill>
                <a:ea typeface="隶书" pitchFamily="49" charset="-122"/>
              </a:rPr>
              <a:t>置信上限</a:t>
            </a:r>
          </a:p>
        </p:txBody>
      </p:sp>
      <p:sp>
        <p:nvSpPr>
          <p:cNvPr id="39948" name="Text Box 32"/>
          <p:cNvSpPr txBox="1">
            <a:spLocks noChangeArrowheads="1"/>
          </p:cNvSpPr>
          <p:nvPr/>
        </p:nvSpPr>
        <p:spPr bwMode="auto">
          <a:xfrm rot="20296336">
            <a:off x="5375275" y="4508501"/>
            <a:ext cx="2133600" cy="549275"/>
          </a:xfrm>
          <a:prstGeom prst="rect">
            <a:avLst/>
          </a:prstGeom>
          <a:noFill/>
          <a:ln w="12700">
            <a:noFill/>
            <a:miter lim="800000"/>
            <a:headEnd/>
            <a:tailEnd/>
          </a:ln>
        </p:spPr>
        <p:txBody>
          <a:bodyPr>
            <a:spAutoFit/>
          </a:bodyPr>
          <a:lstStyle/>
          <a:p>
            <a:pPr algn="ctr" eaLnBrk="0" hangingPunct="0">
              <a:spcBef>
                <a:spcPct val="50000"/>
              </a:spcBef>
            </a:pPr>
            <a:r>
              <a:rPr kumimoji="1" lang="zh-CN" altLang="en-US" sz="3000">
                <a:solidFill>
                  <a:srgbClr val="FF00FF"/>
                </a:solidFill>
                <a:ea typeface="隶书" pitchFamily="49" charset="-122"/>
              </a:rPr>
              <a:t>置信下限</a:t>
            </a:r>
          </a:p>
        </p:txBody>
      </p:sp>
      <p:sp>
        <p:nvSpPr>
          <p:cNvPr id="120865" name="Freeform 33"/>
          <p:cNvSpPr>
            <a:spLocks/>
          </p:cNvSpPr>
          <p:nvPr/>
        </p:nvSpPr>
        <p:spPr bwMode="auto">
          <a:xfrm>
            <a:off x="2971800" y="1455738"/>
            <a:ext cx="4876800" cy="2322512"/>
          </a:xfrm>
          <a:custGeom>
            <a:avLst/>
            <a:gdLst/>
            <a:ahLst/>
            <a:cxnLst>
              <a:cxn ang="0">
                <a:pos x="0" y="1212"/>
              </a:cxn>
              <a:cxn ang="0">
                <a:pos x="217" y="1189"/>
              </a:cxn>
              <a:cxn ang="0">
                <a:pos x="434" y="1161"/>
              </a:cxn>
              <a:cxn ang="0">
                <a:pos x="647" y="1130"/>
              </a:cxn>
              <a:cxn ang="0">
                <a:pos x="856" y="1096"/>
              </a:cxn>
              <a:cxn ang="0">
                <a:pos x="1066" y="1057"/>
              </a:cxn>
              <a:cxn ang="0">
                <a:pos x="1267" y="1010"/>
              </a:cxn>
              <a:cxn ang="0">
                <a:pos x="1461" y="960"/>
              </a:cxn>
              <a:cxn ang="0">
                <a:pos x="1651" y="910"/>
              </a:cxn>
              <a:cxn ang="0">
                <a:pos x="1829" y="852"/>
              </a:cxn>
              <a:cxn ang="0">
                <a:pos x="2003" y="794"/>
              </a:cxn>
              <a:cxn ang="0">
                <a:pos x="2166" y="732"/>
              </a:cxn>
              <a:cxn ang="0">
                <a:pos x="2317" y="666"/>
              </a:cxn>
              <a:cxn ang="0">
                <a:pos x="2457" y="596"/>
              </a:cxn>
              <a:cxn ang="0">
                <a:pos x="2589" y="526"/>
              </a:cxn>
              <a:cxn ang="0">
                <a:pos x="2705" y="453"/>
              </a:cxn>
              <a:cxn ang="0">
                <a:pos x="2813" y="379"/>
              </a:cxn>
              <a:cxn ang="0">
                <a:pos x="2906" y="306"/>
              </a:cxn>
              <a:cxn ang="0">
                <a:pos x="2984" y="228"/>
              </a:cxn>
              <a:cxn ang="0">
                <a:pos x="3050" y="151"/>
              </a:cxn>
              <a:cxn ang="0">
                <a:pos x="3100" y="77"/>
              </a:cxn>
              <a:cxn ang="0">
                <a:pos x="3139" y="0"/>
              </a:cxn>
            </a:cxnLst>
            <a:rect l="0" t="0" r="r" b="b"/>
            <a:pathLst>
              <a:path w="3139" h="1212">
                <a:moveTo>
                  <a:pt x="0" y="1212"/>
                </a:moveTo>
                <a:lnTo>
                  <a:pt x="217" y="1189"/>
                </a:lnTo>
                <a:lnTo>
                  <a:pt x="434" y="1161"/>
                </a:lnTo>
                <a:lnTo>
                  <a:pt x="647" y="1130"/>
                </a:lnTo>
                <a:lnTo>
                  <a:pt x="856" y="1096"/>
                </a:lnTo>
                <a:lnTo>
                  <a:pt x="1066" y="1057"/>
                </a:lnTo>
                <a:lnTo>
                  <a:pt x="1267" y="1010"/>
                </a:lnTo>
                <a:lnTo>
                  <a:pt x="1461" y="960"/>
                </a:lnTo>
                <a:lnTo>
                  <a:pt x="1651" y="910"/>
                </a:lnTo>
                <a:lnTo>
                  <a:pt x="1829" y="852"/>
                </a:lnTo>
                <a:lnTo>
                  <a:pt x="2003" y="794"/>
                </a:lnTo>
                <a:lnTo>
                  <a:pt x="2166" y="732"/>
                </a:lnTo>
                <a:lnTo>
                  <a:pt x="2317" y="666"/>
                </a:lnTo>
                <a:lnTo>
                  <a:pt x="2457" y="596"/>
                </a:lnTo>
                <a:lnTo>
                  <a:pt x="2589" y="526"/>
                </a:lnTo>
                <a:lnTo>
                  <a:pt x="2705" y="453"/>
                </a:lnTo>
                <a:lnTo>
                  <a:pt x="2813" y="379"/>
                </a:lnTo>
                <a:lnTo>
                  <a:pt x="2906" y="306"/>
                </a:lnTo>
                <a:lnTo>
                  <a:pt x="2984" y="228"/>
                </a:lnTo>
                <a:lnTo>
                  <a:pt x="3050" y="151"/>
                </a:lnTo>
                <a:lnTo>
                  <a:pt x="3100" y="77"/>
                </a:lnTo>
                <a:lnTo>
                  <a:pt x="3139" y="0"/>
                </a:lnTo>
              </a:path>
            </a:pathLst>
          </a:custGeom>
          <a:noFill/>
          <a:ln w="38100" cmpd="sng">
            <a:solidFill>
              <a:srgbClr val="FF00FF"/>
            </a:solidFill>
            <a:prstDash val="solid"/>
            <a:round/>
            <a:headEnd/>
            <a:tailEnd/>
          </a:ln>
          <a:effectLst>
            <a:outerShdw dist="35921" dir="2700000" algn="ctr" rotWithShape="0">
              <a:schemeClr val="bg2"/>
            </a:outerShdw>
          </a:effectLst>
        </p:spPr>
        <p:txBody>
          <a:bodyPr/>
          <a:lstStyle/>
          <a:p>
            <a:pPr>
              <a:defRPr/>
            </a:pPr>
            <a:endParaRPr lang="zh-CN" altLang="en-US"/>
          </a:p>
        </p:txBody>
      </p:sp>
      <p:sp>
        <p:nvSpPr>
          <p:cNvPr id="120866" name="Line 34"/>
          <p:cNvSpPr>
            <a:spLocks noChangeShapeType="1"/>
          </p:cNvSpPr>
          <p:nvPr/>
        </p:nvSpPr>
        <p:spPr bwMode="auto">
          <a:xfrm flipV="1">
            <a:off x="2538892" y="2625756"/>
            <a:ext cx="6343650" cy="2520950"/>
          </a:xfrm>
          <a:prstGeom prst="line">
            <a:avLst/>
          </a:prstGeom>
          <a:noFill/>
          <a:ln w="76200">
            <a:solidFill>
              <a:schemeClr val="hlink"/>
            </a:solidFill>
            <a:round/>
            <a:headEnd/>
            <a:tailEnd/>
          </a:ln>
          <a:effectLst>
            <a:outerShdw dist="35921" dir="2700000" algn="ctr" rotWithShape="0">
              <a:schemeClr val="bg2"/>
            </a:outerShdw>
          </a:effectLst>
        </p:spPr>
        <p:txBody>
          <a:bodyPr/>
          <a:lstStyle/>
          <a:p>
            <a:pPr>
              <a:defRPr/>
            </a:pPr>
            <a:endParaRPr lang="zh-CN" altLang="en-US"/>
          </a:p>
        </p:txBody>
      </p:sp>
      <p:sp>
        <p:nvSpPr>
          <p:cNvPr id="120867" name="Freeform 35"/>
          <p:cNvSpPr>
            <a:spLocks/>
          </p:cNvSpPr>
          <p:nvPr/>
        </p:nvSpPr>
        <p:spPr bwMode="auto">
          <a:xfrm>
            <a:off x="3575050" y="4311651"/>
            <a:ext cx="5761038" cy="1420813"/>
          </a:xfrm>
          <a:custGeom>
            <a:avLst/>
            <a:gdLst/>
            <a:ahLst/>
            <a:cxnLst>
              <a:cxn ang="0">
                <a:pos x="0" y="936"/>
              </a:cxn>
              <a:cxn ang="0">
                <a:pos x="1728" y="216"/>
              </a:cxn>
              <a:cxn ang="0">
                <a:pos x="3552" y="24"/>
              </a:cxn>
              <a:cxn ang="0">
                <a:pos x="4608" y="360"/>
              </a:cxn>
            </a:cxnLst>
            <a:rect l="0" t="0" r="r" b="b"/>
            <a:pathLst>
              <a:path w="4608" h="936">
                <a:moveTo>
                  <a:pt x="0" y="936"/>
                </a:moveTo>
                <a:cubicBezTo>
                  <a:pt x="568" y="652"/>
                  <a:pt x="1136" y="368"/>
                  <a:pt x="1728" y="216"/>
                </a:cubicBezTo>
                <a:cubicBezTo>
                  <a:pt x="2320" y="64"/>
                  <a:pt x="3072" y="0"/>
                  <a:pt x="3552" y="24"/>
                </a:cubicBezTo>
                <a:cubicBezTo>
                  <a:pt x="4032" y="48"/>
                  <a:pt x="4320" y="204"/>
                  <a:pt x="4608" y="360"/>
                </a:cubicBezTo>
              </a:path>
            </a:pathLst>
          </a:custGeom>
          <a:noFill/>
          <a:ln w="38100" cap="flat"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p>
        </p:txBody>
      </p:sp>
      <p:cxnSp>
        <p:nvCxnSpPr>
          <p:cNvPr id="39952" name="AutoShape 36"/>
          <p:cNvCxnSpPr>
            <a:cxnSpLocks noChangeShapeType="1"/>
          </p:cNvCxnSpPr>
          <p:nvPr/>
        </p:nvCxnSpPr>
        <p:spPr bwMode="auto">
          <a:xfrm flipH="1" flipV="1">
            <a:off x="7848601" y="1531938"/>
            <a:ext cx="9525" cy="2824162"/>
          </a:xfrm>
          <a:prstGeom prst="straightConnector1">
            <a:avLst/>
          </a:prstGeom>
          <a:noFill/>
          <a:ln w="38100" cap="rnd">
            <a:solidFill>
              <a:srgbClr val="FF37AE"/>
            </a:solidFill>
            <a:prstDash val="sysDot"/>
            <a:round/>
            <a:headEnd/>
            <a:tailEnd/>
          </a:ln>
        </p:spPr>
      </p:cxnSp>
      <p:sp>
        <p:nvSpPr>
          <p:cNvPr id="39953" name="Oval 39"/>
          <p:cNvSpPr>
            <a:spLocks noChangeArrowheads="1"/>
          </p:cNvSpPr>
          <p:nvPr/>
        </p:nvSpPr>
        <p:spPr bwMode="auto">
          <a:xfrm>
            <a:off x="5808663" y="5589588"/>
            <a:ext cx="215900" cy="215900"/>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39954" name="Oval 40"/>
          <p:cNvSpPr>
            <a:spLocks noChangeArrowheads="1"/>
          </p:cNvSpPr>
          <p:nvPr/>
        </p:nvSpPr>
        <p:spPr bwMode="auto">
          <a:xfrm>
            <a:off x="7751763" y="5589588"/>
            <a:ext cx="215900" cy="215900"/>
          </a:xfrm>
          <a:prstGeom prst="ellipse">
            <a:avLst/>
          </a:prstGeom>
          <a:solidFill>
            <a:srgbClr val="FF00FF"/>
          </a:solidFill>
          <a:ln w="9525">
            <a:solidFill>
              <a:schemeClr val="tx1"/>
            </a:solidFill>
            <a:round/>
            <a:headEnd/>
            <a:tailEnd/>
          </a:ln>
        </p:spPr>
        <p:txBody>
          <a:bodyPr wrap="none" anchor="ctr"/>
          <a:lstStyle/>
          <a:p>
            <a:endParaRPr lang="zh-CN" altLang="en-US"/>
          </a:p>
        </p:txBody>
      </p:sp>
      <p:sp>
        <p:nvSpPr>
          <p:cNvPr id="39955" name="AutoShape 41"/>
          <p:cNvSpPr>
            <a:spLocks/>
          </p:cNvSpPr>
          <p:nvPr/>
        </p:nvSpPr>
        <p:spPr bwMode="auto">
          <a:xfrm>
            <a:off x="7896225" y="3140076"/>
            <a:ext cx="431800" cy="1223963"/>
          </a:xfrm>
          <a:prstGeom prst="rightBrace">
            <a:avLst>
              <a:gd name="adj1" fmla="val 23621"/>
              <a:gd name="adj2" fmla="val 53694"/>
            </a:avLst>
          </a:prstGeom>
          <a:noFill/>
          <a:ln w="38100">
            <a:solidFill>
              <a:srgbClr val="FF0000"/>
            </a:solidFill>
            <a:round/>
            <a:headEnd/>
            <a:tailEnd/>
          </a:ln>
        </p:spPr>
        <p:txBody>
          <a:bodyPr wrap="none" anchor="ctr"/>
          <a:lstStyle/>
          <a:p>
            <a:endParaRPr lang="zh-CN" altLang="en-US"/>
          </a:p>
        </p:txBody>
      </p:sp>
      <p:sp>
        <p:nvSpPr>
          <p:cNvPr id="39956" name="Text Box 43"/>
          <p:cNvSpPr txBox="1">
            <a:spLocks noChangeArrowheads="1"/>
          </p:cNvSpPr>
          <p:nvPr/>
        </p:nvSpPr>
        <p:spPr bwMode="auto">
          <a:xfrm>
            <a:off x="8151237" y="3394355"/>
            <a:ext cx="1296988" cy="701675"/>
          </a:xfrm>
          <a:prstGeom prst="rect">
            <a:avLst/>
          </a:prstGeom>
          <a:noFill/>
          <a:ln w="9525">
            <a:noFill/>
            <a:miter lim="800000"/>
            <a:headEnd/>
            <a:tailEnd/>
          </a:ln>
        </p:spPr>
        <p:txBody>
          <a:bodyPr>
            <a:spAutoFit/>
          </a:bodyPr>
          <a:lstStyle/>
          <a:p>
            <a:pPr algn="ctr">
              <a:spcBef>
                <a:spcPct val="50000"/>
              </a:spcBef>
            </a:pPr>
            <a:r>
              <a:rPr lang="zh-CN" altLang="en-US" sz="2000" dirty="0">
                <a:solidFill>
                  <a:srgbClr val="CC0099"/>
                </a:solidFill>
              </a:rPr>
              <a:t>置信区间半径</a:t>
            </a:r>
            <a:r>
              <a:rPr lang="zh-CN" altLang="en-US" sz="2000" dirty="0">
                <a:solidFill>
                  <a:srgbClr val="CC0099"/>
                </a:solidFill>
                <a:latin typeface="宋体" pitchFamily="2" charset="-122"/>
              </a:rPr>
              <a:t>⊿</a:t>
            </a:r>
          </a:p>
        </p:txBody>
      </p:sp>
      <p:sp>
        <p:nvSpPr>
          <p:cNvPr id="39957" name="Rectangle 44"/>
          <p:cNvSpPr>
            <a:spLocks noChangeArrowheads="1"/>
          </p:cNvSpPr>
          <p:nvPr/>
        </p:nvSpPr>
        <p:spPr bwMode="auto">
          <a:xfrm>
            <a:off x="9480550" y="5661026"/>
            <a:ext cx="381000"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a:solidFill>
                  <a:srgbClr val="000000"/>
                </a:solidFill>
                <a:latin typeface="Times New Roman" pitchFamily="18" charset="0"/>
              </a:rPr>
              <a:t>X</a:t>
            </a:r>
            <a:endParaRPr kumimoji="1" lang="en-US" altLang="zh-CN" i="1">
              <a:solidFill>
                <a:srgbClr val="000000"/>
              </a:solidFill>
              <a:latin typeface="Times New Roman" pitchFamily="18" charset="0"/>
            </a:endParaRPr>
          </a:p>
        </p:txBody>
      </p:sp>
      <p:sp>
        <p:nvSpPr>
          <p:cNvPr id="39958" name="Rectangle 47"/>
          <p:cNvSpPr>
            <a:spLocks noChangeArrowheads="1"/>
          </p:cNvSpPr>
          <p:nvPr/>
        </p:nvSpPr>
        <p:spPr bwMode="auto">
          <a:xfrm>
            <a:off x="1524001" y="31252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9939" name="Object 46"/>
          <p:cNvGraphicFramePr>
            <a:graphicFrameLocks noChangeAspect="1"/>
          </p:cNvGraphicFramePr>
          <p:nvPr>
            <p:extLst>
              <p:ext uri="{D42A27DB-BD31-4B8C-83A1-F6EECF244321}">
                <p14:modId xmlns:p14="http://schemas.microsoft.com/office/powerpoint/2010/main" val="673672809"/>
              </p:ext>
            </p:extLst>
          </p:nvPr>
        </p:nvGraphicFramePr>
        <p:xfrm>
          <a:off x="8594725" y="2024063"/>
          <a:ext cx="1411288" cy="468312"/>
        </p:xfrm>
        <a:graphic>
          <a:graphicData uri="http://schemas.openxmlformats.org/presentationml/2006/ole">
            <mc:AlternateContent xmlns:mc="http://schemas.openxmlformats.org/markup-compatibility/2006">
              <mc:Choice xmlns:v="urn:schemas-microsoft-com:vml" Requires="v">
                <p:oleObj name="Equation" r:id="rId5" imgW="660240" imgH="215640" progId="Equation.DSMT4">
                  <p:embed/>
                </p:oleObj>
              </mc:Choice>
              <mc:Fallback>
                <p:oleObj name="Equation" r:id="rId5" imgW="660240" imgH="215640" progId="Equation.DSMT4">
                  <p:embed/>
                  <p:pic>
                    <p:nvPicPr>
                      <p:cNvPr id="39939"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4725" y="2024063"/>
                        <a:ext cx="1411288" cy="468312"/>
                      </a:xfrm>
                      <a:prstGeom prst="rect">
                        <a:avLst/>
                      </a:prstGeom>
                      <a:noFill/>
                    </p:spPr>
                  </p:pic>
                </p:oleObj>
              </mc:Fallback>
            </mc:AlternateContent>
          </a:graphicData>
        </a:graphic>
      </p:graphicFrame>
    </p:spTree>
    <p:extLst>
      <p:ext uri="{BB962C8B-B14F-4D97-AF65-F5344CB8AC3E}">
        <p14:creationId xmlns:p14="http://schemas.microsoft.com/office/powerpoint/2010/main" val="1452862801"/>
      </p:ext>
    </p:extLst>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灯片编号占位符 6"/>
          <p:cNvSpPr>
            <a:spLocks noGrp="1"/>
          </p:cNvSpPr>
          <p:nvPr>
            <p:ph type="sldNum" sz="quarter" idx="10"/>
          </p:nvPr>
        </p:nvSpPr>
        <p:spPr>
          <a:noFill/>
        </p:spPr>
        <p:txBody>
          <a:bodyPr/>
          <a:lstStyle/>
          <a:p>
            <a:r>
              <a:rPr lang="en-US" altLang="zh-CN"/>
              <a:t>9--</a:t>
            </a:r>
            <a:fld id="{41A0DF91-1BD0-4BAF-B4B0-FC33C074AE36}" type="slidenum">
              <a:rPr lang="en-US" altLang="zh-CN" smtClean="0"/>
              <a:pPr/>
              <a:t>80</a:t>
            </a:fld>
            <a:endParaRPr lang="en-US" altLang="zh-CN"/>
          </a:p>
        </p:txBody>
      </p:sp>
      <p:sp>
        <p:nvSpPr>
          <p:cNvPr id="40964" name="Rectangle 2"/>
          <p:cNvSpPr>
            <a:spLocks noGrp="1" noChangeArrowheads="1"/>
          </p:cNvSpPr>
          <p:nvPr>
            <p:ph type="title" idx="4294967295"/>
          </p:nvPr>
        </p:nvSpPr>
        <p:spPr>
          <a:xfrm>
            <a:off x="889000" y="130459"/>
            <a:ext cx="4622800" cy="990600"/>
          </a:xfrm>
          <a:noFill/>
        </p:spPr>
        <p:txBody>
          <a:bodyPr vert="horz" lIns="90488" tIns="44450" rIns="90488" bIns="44450" rtlCol="0" anchor="ctr" anchorCtr="1">
            <a:normAutofit/>
          </a:bodyPr>
          <a:lstStyle/>
          <a:p>
            <a:pPr eaLnBrk="1" hangingPunct="1"/>
            <a:r>
              <a:rPr lang="en-US" altLang="zh-CN" sz="4000" b="1" dirty="0">
                <a:effectLst/>
              </a:rPr>
              <a:t>【</a:t>
            </a:r>
            <a:r>
              <a:rPr lang="zh-CN" altLang="en-US" sz="4000" b="1" dirty="0">
                <a:effectLst/>
              </a:rPr>
              <a:t>例</a:t>
            </a:r>
            <a:r>
              <a:rPr lang="en-US" altLang="zh-CN" sz="4000" b="1" dirty="0">
                <a:effectLst/>
              </a:rPr>
              <a:t>9-4】</a:t>
            </a:r>
          </a:p>
        </p:txBody>
      </p:sp>
      <p:sp>
        <p:nvSpPr>
          <p:cNvPr id="40965" name="Rectangle 3"/>
          <p:cNvSpPr>
            <a:spLocks noGrp="1" noChangeArrowheads="1"/>
          </p:cNvSpPr>
          <p:nvPr>
            <p:ph type="body" sz="half" idx="4294967295"/>
          </p:nvPr>
        </p:nvSpPr>
        <p:spPr>
          <a:xfrm>
            <a:off x="1426656" y="887619"/>
            <a:ext cx="8924352" cy="1663700"/>
          </a:xfrm>
        </p:spPr>
        <p:txBody>
          <a:bodyPr>
            <a:normAutofit fontScale="92500" lnSpcReduction="20000"/>
          </a:bodyPr>
          <a:lstStyle/>
          <a:p>
            <a:pPr marL="0" indent="628650" algn="just">
              <a:lnSpc>
                <a:spcPct val="150000"/>
              </a:lnSpc>
              <a:spcBef>
                <a:spcPct val="10000"/>
              </a:spcBef>
              <a:buNone/>
            </a:pPr>
            <a:r>
              <a:rPr lang="zh-CN" altLang="en-US" sz="2800" dirty="0">
                <a:solidFill>
                  <a:srgbClr val="000000"/>
                </a:solidFill>
                <a:latin typeface="Times New Roman" pitchFamily="18" charset="0"/>
              </a:rPr>
              <a:t>根据所求回归方程，预测当</a:t>
            </a:r>
            <a:r>
              <a:rPr kumimoji="1" lang="zh-CN" altLang="en-US" sz="2800" dirty="0">
                <a:solidFill>
                  <a:srgbClr val="000000"/>
                </a:solidFill>
              </a:rPr>
              <a:t>广告费为</a:t>
            </a:r>
            <a:r>
              <a:rPr kumimoji="1" lang="en-US" altLang="zh-CN" sz="2800" dirty="0">
                <a:solidFill>
                  <a:srgbClr val="000000"/>
                </a:solidFill>
              </a:rPr>
              <a:t>80</a:t>
            </a:r>
            <a:r>
              <a:rPr kumimoji="1" lang="zh-CN" altLang="en-US" sz="2800" dirty="0">
                <a:solidFill>
                  <a:srgbClr val="000000"/>
                </a:solidFill>
              </a:rPr>
              <a:t>（万元）</a:t>
            </a:r>
            <a:r>
              <a:rPr lang="zh-CN" altLang="en-US" sz="2800" dirty="0">
                <a:solidFill>
                  <a:srgbClr val="000000"/>
                </a:solidFill>
                <a:latin typeface="Times New Roman" pitchFamily="18" charset="0"/>
              </a:rPr>
              <a:t>时，相应销售额的预测区间（置信度</a:t>
            </a:r>
            <a:r>
              <a:rPr lang="en-US" altLang="zh-CN" sz="2800" dirty="0">
                <a:solidFill>
                  <a:srgbClr val="000000"/>
                </a:solidFill>
                <a:latin typeface="Times New Roman" pitchFamily="18" charset="0"/>
              </a:rPr>
              <a:t>95%</a:t>
            </a:r>
            <a:r>
              <a:rPr lang="zh-CN" altLang="en-US" sz="2800" dirty="0">
                <a:solidFill>
                  <a:srgbClr val="000000"/>
                </a:solidFill>
                <a:latin typeface="Times New Roman" pitchFamily="18" charset="0"/>
              </a:rPr>
              <a:t>）：</a:t>
            </a:r>
          </a:p>
          <a:p>
            <a:pPr marL="0" indent="0" algn="just">
              <a:lnSpc>
                <a:spcPct val="150000"/>
              </a:lnSpc>
              <a:spcBef>
                <a:spcPct val="10000"/>
              </a:spcBef>
              <a:buNone/>
            </a:pPr>
            <a:r>
              <a:rPr lang="zh-CN" altLang="en-US" sz="2800" dirty="0">
                <a:solidFill>
                  <a:srgbClr val="00B0F0"/>
                </a:solidFill>
                <a:latin typeface="Times New Roman" pitchFamily="18" charset="0"/>
              </a:rPr>
              <a:t>解： </a:t>
            </a:r>
            <a:r>
              <a:rPr lang="en-US" altLang="zh-CN" sz="2800" i="1" dirty="0">
                <a:solidFill>
                  <a:srgbClr val="000000"/>
                </a:solidFill>
                <a:latin typeface="Times New Roman" pitchFamily="18" charset="0"/>
                <a:sym typeface="Symbol" pitchFamily="18" charset="2"/>
              </a:rPr>
              <a:t>n</a:t>
            </a:r>
            <a:r>
              <a:rPr lang="en-US" altLang="zh-CN" sz="2800" dirty="0">
                <a:solidFill>
                  <a:srgbClr val="000000"/>
                </a:solidFill>
                <a:latin typeface="Times New Roman" pitchFamily="18" charset="0"/>
                <a:sym typeface="Symbol" pitchFamily="18" charset="2"/>
              </a:rPr>
              <a:t>=8</a:t>
            </a:r>
            <a:r>
              <a:rPr lang="zh-CN" altLang="en-US" sz="2800" dirty="0">
                <a:solidFill>
                  <a:srgbClr val="000000"/>
                </a:solidFill>
                <a:latin typeface="Times New Roman" pitchFamily="18" charset="0"/>
                <a:sym typeface="Symbol" pitchFamily="18" charset="2"/>
              </a:rPr>
              <a:t>， </a:t>
            </a:r>
            <a:r>
              <a:rPr lang="en-US" altLang="zh-CN" sz="2800" i="1" dirty="0">
                <a:solidFill>
                  <a:srgbClr val="000000"/>
                </a:solidFill>
                <a:latin typeface="Times New Roman" pitchFamily="18" charset="0"/>
                <a:sym typeface="Symbol" pitchFamily="18" charset="2"/>
              </a:rPr>
              <a:t>t</a:t>
            </a:r>
            <a:r>
              <a:rPr lang="en-US" altLang="zh-CN" sz="2800" baseline="-25000" dirty="0">
                <a:solidFill>
                  <a:srgbClr val="000000"/>
                </a:solidFill>
                <a:latin typeface="Times New Roman" pitchFamily="18" charset="0"/>
                <a:sym typeface="Symbol" pitchFamily="18" charset="2"/>
              </a:rPr>
              <a:t></a:t>
            </a:r>
            <a:r>
              <a:rPr lang="en-US" altLang="zh-CN" sz="2800" dirty="0">
                <a:solidFill>
                  <a:srgbClr val="000000"/>
                </a:solidFill>
                <a:latin typeface="Times New Roman" pitchFamily="18" charset="0"/>
                <a:sym typeface="Symbol" pitchFamily="18" charset="2"/>
              </a:rPr>
              <a:t>(8-2)</a:t>
            </a:r>
            <a:r>
              <a:rPr lang="zh-CN" altLang="en-US" sz="2800" dirty="0">
                <a:solidFill>
                  <a:srgbClr val="000000"/>
                </a:solidFill>
                <a:latin typeface="Times New Roman" pitchFamily="18" charset="0"/>
                <a:sym typeface="Symbol" pitchFamily="18" charset="2"/>
              </a:rPr>
              <a:t>＝</a:t>
            </a:r>
            <a:r>
              <a:rPr lang="en-US" altLang="zh-CN" sz="2800" dirty="0">
                <a:solidFill>
                  <a:srgbClr val="000000"/>
                </a:solidFill>
                <a:latin typeface="Times New Roman" pitchFamily="18" charset="0"/>
                <a:sym typeface="Symbol" pitchFamily="18" charset="2"/>
              </a:rPr>
              <a:t>2.447</a:t>
            </a:r>
            <a:r>
              <a:rPr lang="zh-CN" altLang="en-US" sz="2800" dirty="0">
                <a:solidFill>
                  <a:srgbClr val="000000"/>
                </a:solidFill>
                <a:latin typeface="Times New Roman" pitchFamily="18" charset="0"/>
                <a:sym typeface="Symbol" pitchFamily="18" charset="2"/>
              </a:rPr>
              <a:t>，</a:t>
            </a:r>
            <a:r>
              <a:rPr lang="en-US" altLang="zh-CN" sz="2800" i="1" dirty="0">
                <a:solidFill>
                  <a:srgbClr val="000000"/>
                </a:solidFill>
                <a:latin typeface="Times New Roman" panose="02020603050405020304" pitchFamily="18" charset="0"/>
                <a:cs typeface="Times New Roman" panose="02020603050405020304" pitchFamily="18" charset="0"/>
                <a:sym typeface="Symbol" pitchFamily="18" charset="2"/>
              </a:rPr>
              <a:t>S</a:t>
            </a:r>
            <a:r>
              <a:rPr lang="en-US" altLang="zh-CN" sz="2800" i="1" baseline="-25000" dirty="0">
                <a:solidFill>
                  <a:srgbClr val="000000"/>
                </a:solidFill>
                <a:sym typeface="Symbol" pitchFamily="18" charset="2"/>
              </a:rPr>
              <a:t>e</a:t>
            </a:r>
            <a:r>
              <a:rPr lang="en-US" altLang="zh-CN" sz="2800" dirty="0">
                <a:solidFill>
                  <a:srgbClr val="000000"/>
                </a:solidFill>
                <a:sym typeface="Symbol" pitchFamily="18" charset="2"/>
              </a:rPr>
              <a:t>=</a:t>
            </a:r>
            <a:r>
              <a:rPr lang="en-US" altLang="zh-CN" sz="2800" dirty="0">
                <a:solidFill>
                  <a:srgbClr val="000000"/>
                </a:solidFill>
              </a:rPr>
              <a:t>7.59258</a:t>
            </a:r>
            <a:r>
              <a:rPr lang="zh-CN" altLang="en-US" sz="2800" dirty="0">
                <a:solidFill>
                  <a:srgbClr val="000000"/>
                </a:solidFill>
                <a:sym typeface="Symbol" pitchFamily="18" charset="2"/>
              </a:rPr>
              <a:t> </a:t>
            </a:r>
          </a:p>
        </p:txBody>
      </p:sp>
      <p:sp>
        <p:nvSpPr>
          <p:cNvPr id="384004" name="Text Box 4"/>
          <p:cNvSpPr txBox="1">
            <a:spLocks noChangeArrowheads="1"/>
          </p:cNvSpPr>
          <p:nvPr/>
        </p:nvSpPr>
        <p:spPr bwMode="auto">
          <a:xfrm>
            <a:off x="1708733" y="5138531"/>
            <a:ext cx="8273468" cy="1231684"/>
          </a:xfrm>
          <a:prstGeom prst="rect">
            <a:avLst/>
          </a:prstGeom>
          <a:noFill/>
          <a:ln w="12700">
            <a:noFill/>
            <a:miter lim="800000"/>
            <a:headEnd/>
            <a:tailEnd/>
          </a:ln>
        </p:spPr>
        <p:txBody>
          <a:bodyPr wrap="square">
            <a:spAutoFit/>
          </a:bodyPr>
          <a:lstStyle/>
          <a:p>
            <a:pPr algn="just" eaLnBrk="0" hangingPunct="0">
              <a:lnSpc>
                <a:spcPct val="150000"/>
              </a:lnSpc>
              <a:spcBef>
                <a:spcPct val="50000"/>
              </a:spcBef>
            </a:pPr>
            <a:r>
              <a:rPr kumimoji="1" lang="zh-CN" altLang="en-US" sz="2600" b="1" dirty="0"/>
              <a:t>   当广告费达到</a:t>
            </a:r>
            <a:r>
              <a:rPr kumimoji="1" lang="en-US" altLang="zh-CN" sz="2600" b="1" dirty="0"/>
              <a:t>80</a:t>
            </a:r>
            <a:r>
              <a:rPr kumimoji="1" lang="zh-CN" altLang="en-US" sz="2600" b="1" dirty="0"/>
              <a:t>万元时，在</a:t>
            </a:r>
            <a:r>
              <a:rPr kumimoji="1" lang="en-US" altLang="zh-CN" sz="2600" b="1" dirty="0"/>
              <a:t>95%</a:t>
            </a:r>
            <a:r>
              <a:rPr kumimoji="1" lang="zh-CN" altLang="en-US" sz="2600" b="1" dirty="0"/>
              <a:t>置信水平下，销售额预测区间为（</a:t>
            </a:r>
            <a:r>
              <a:rPr kumimoji="1" lang="en-US" altLang="zh-CN" sz="2600" b="1" dirty="0">
                <a:solidFill>
                  <a:srgbClr val="0000FF"/>
                </a:solidFill>
              </a:rPr>
              <a:t>56.13</a:t>
            </a:r>
            <a:r>
              <a:rPr kumimoji="1" lang="en-US" altLang="zh-CN" sz="2600" b="1" dirty="0">
                <a:solidFill>
                  <a:srgbClr val="CC0099"/>
                </a:solidFill>
              </a:rPr>
              <a:t>±19.79</a:t>
            </a:r>
            <a:r>
              <a:rPr kumimoji="1" lang="zh-CN" altLang="en-US" sz="2600" b="1" dirty="0"/>
              <a:t>）即（</a:t>
            </a:r>
            <a:r>
              <a:rPr kumimoji="1" lang="en-US" altLang="zh-CN" sz="2600" b="1" dirty="0"/>
              <a:t>36.34</a:t>
            </a:r>
            <a:r>
              <a:rPr kumimoji="1" lang="zh-CN" altLang="en-US" sz="2600" b="1" dirty="0"/>
              <a:t>，</a:t>
            </a:r>
            <a:r>
              <a:rPr kumimoji="1" lang="en-US" altLang="zh-CN" sz="2600" b="1" dirty="0"/>
              <a:t>75.92</a:t>
            </a:r>
            <a:r>
              <a:rPr kumimoji="1" lang="zh-CN" altLang="en-US" sz="2600" b="1" dirty="0"/>
              <a:t>）万套。</a:t>
            </a:r>
          </a:p>
        </p:txBody>
      </p:sp>
      <p:sp>
        <p:nvSpPr>
          <p:cNvPr id="40967"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40968" name="Rectangle 7"/>
          <p:cNvSpPr>
            <a:spLocks noChangeArrowheads="1"/>
          </p:cNvSpPr>
          <p:nvPr/>
        </p:nvSpPr>
        <p:spPr bwMode="auto">
          <a:xfrm>
            <a:off x="1524001" y="3125272"/>
            <a:ext cx="184731" cy="369332"/>
          </a:xfrm>
          <a:prstGeom prst="rect">
            <a:avLst/>
          </a:prstGeom>
          <a:noFill/>
          <a:ln w="9525">
            <a:noFill/>
            <a:miter lim="800000"/>
            <a:headEnd/>
            <a:tailEnd/>
          </a:ln>
        </p:spPr>
        <p:txBody>
          <a:bodyPr wrap="none" anchor="ctr">
            <a:spAutoFit/>
          </a:bodyPr>
          <a:lstStyle/>
          <a:p>
            <a:endParaRPr lang="zh-CN" altLang="en-US"/>
          </a:p>
        </p:txBody>
      </p:sp>
      <p:sp>
        <p:nvSpPr>
          <p:cNvPr id="40969" name="Rectangle 8"/>
          <p:cNvSpPr>
            <a:spLocks noChangeArrowheads="1"/>
          </p:cNvSpPr>
          <p:nvPr/>
        </p:nvSpPr>
        <p:spPr bwMode="auto">
          <a:xfrm>
            <a:off x="1524001" y="3125272"/>
            <a:ext cx="184731" cy="369332"/>
          </a:xfrm>
          <a:prstGeom prst="rect">
            <a:avLst/>
          </a:prstGeom>
          <a:noFill/>
          <a:ln w="9525">
            <a:noFill/>
            <a:miter lim="800000"/>
            <a:headEnd/>
            <a:tailEnd/>
          </a:ln>
        </p:spPr>
        <p:txBody>
          <a:bodyPr wrap="none" anchor="ctr">
            <a:spAutoFit/>
          </a:bodyPr>
          <a:lstStyle/>
          <a:p>
            <a:endParaRPr lang="zh-CN" altLang="en-US"/>
          </a:p>
        </p:txBody>
      </p:sp>
      <p:sp>
        <p:nvSpPr>
          <p:cNvPr id="40970" name="Rectangle 10"/>
          <p:cNvSpPr>
            <a:spLocks noChangeArrowheads="1"/>
          </p:cNvSpPr>
          <p:nvPr/>
        </p:nvSpPr>
        <p:spPr bwMode="auto">
          <a:xfrm>
            <a:off x="1524001" y="2749034"/>
            <a:ext cx="184731" cy="369332"/>
          </a:xfrm>
          <a:prstGeom prst="rect">
            <a:avLst/>
          </a:prstGeom>
          <a:noFill/>
          <a:ln w="9525">
            <a:noFill/>
            <a:miter lim="800000"/>
            <a:headEnd/>
            <a:tailEnd/>
          </a:ln>
        </p:spPr>
        <p:txBody>
          <a:bodyPr wrap="none" anchor="ctr">
            <a:spAutoFit/>
          </a:bodyPr>
          <a:lstStyle/>
          <a:p>
            <a:endParaRPr lang="zh-CN" altLang="en-US"/>
          </a:p>
        </p:txBody>
      </p:sp>
      <p:sp>
        <p:nvSpPr>
          <p:cNvPr id="40971"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0962" name="Object 13"/>
          <p:cNvGraphicFramePr>
            <a:graphicFrameLocks noChangeAspect="1"/>
          </p:cNvGraphicFramePr>
          <p:nvPr>
            <p:extLst>
              <p:ext uri="{D42A27DB-BD31-4B8C-83A1-F6EECF244321}">
                <p14:modId xmlns:p14="http://schemas.microsoft.com/office/powerpoint/2010/main" val="2426170586"/>
              </p:ext>
            </p:extLst>
          </p:nvPr>
        </p:nvGraphicFramePr>
        <p:xfrm>
          <a:off x="1524001" y="2749034"/>
          <a:ext cx="7922206" cy="2365375"/>
        </p:xfrm>
        <a:graphic>
          <a:graphicData uri="http://schemas.openxmlformats.org/presentationml/2006/ole">
            <mc:AlternateContent xmlns:mc="http://schemas.openxmlformats.org/markup-compatibility/2006">
              <mc:Choice xmlns:v="urn:schemas-microsoft-com:vml" Requires="v">
                <p:oleObj name="公式" r:id="rId3" imgW="3340080" imgH="965160" progId="Equation.3">
                  <p:embed/>
                </p:oleObj>
              </mc:Choice>
              <mc:Fallback>
                <p:oleObj name="公式" r:id="rId3" imgW="3340080" imgH="965160" progId="Equation.3">
                  <p:embed/>
                  <p:pic>
                    <p:nvPicPr>
                      <p:cNvPr id="40962"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2749034"/>
                        <a:ext cx="7922206" cy="2365375"/>
                      </a:xfrm>
                      <a:prstGeom prst="rect">
                        <a:avLst/>
                      </a:prstGeom>
                      <a:noFill/>
                    </p:spPr>
                  </p:pic>
                </p:oleObj>
              </mc:Fallback>
            </mc:AlternateContent>
          </a:graphicData>
        </a:graphic>
      </p:graphicFrame>
    </p:spTree>
    <p:extLst>
      <p:ext uri="{BB962C8B-B14F-4D97-AF65-F5344CB8AC3E}">
        <p14:creationId xmlns:p14="http://schemas.microsoft.com/office/powerpoint/2010/main" val="365298392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4004"/>
                                        </p:tgtEl>
                                        <p:attrNameLst>
                                          <p:attrName>style.visibility</p:attrName>
                                        </p:attrNameLst>
                                      </p:cBhvr>
                                      <p:to>
                                        <p:strVal val="visible"/>
                                      </p:to>
                                    </p:set>
                                    <p:animEffect transition="in" filter="blinds(horizontal)">
                                      <p:cBhvr>
                                        <p:cTn id="7" dur="500"/>
                                        <p:tgtEl>
                                          <p:spTgt spid="384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4"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灯片编号占位符 6"/>
          <p:cNvSpPr>
            <a:spLocks noGrp="1"/>
          </p:cNvSpPr>
          <p:nvPr>
            <p:ph type="sldNum" sz="quarter" idx="10"/>
          </p:nvPr>
        </p:nvSpPr>
        <p:spPr>
          <a:noFill/>
        </p:spPr>
        <p:txBody>
          <a:bodyPr/>
          <a:lstStyle/>
          <a:p>
            <a:r>
              <a:rPr lang="en-US" altLang="zh-CN"/>
              <a:t>9--</a:t>
            </a:r>
            <a:fld id="{90D2C685-F70C-4F5B-8D61-4FAF35106010}" type="slidenum">
              <a:rPr lang="en-US" altLang="zh-CN" smtClean="0"/>
              <a:pPr/>
              <a:t>81</a:t>
            </a:fld>
            <a:endParaRPr lang="en-US" altLang="zh-CN"/>
          </a:p>
        </p:txBody>
      </p:sp>
      <p:sp>
        <p:nvSpPr>
          <p:cNvPr id="41989" name="Rectangle 2"/>
          <p:cNvSpPr>
            <a:spLocks noGrp="1" noChangeArrowheads="1"/>
          </p:cNvSpPr>
          <p:nvPr>
            <p:ph type="title" idx="4294967295"/>
          </p:nvPr>
        </p:nvSpPr>
        <p:spPr>
          <a:xfrm>
            <a:off x="2036564" y="473820"/>
            <a:ext cx="7772400" cy="990600"/>
          </a:xfrm>
        </p:spPr>
        <p:txBody>
          <a:bodyPr>
            <a:normAutofit/>
          </a:bodyPr>
          <a:lstStyle/>
          <a:p>
            <a:pPr eaLnBrk="1" hangingPunct="1"/>
            <a:r>
              <a:rPr lang="zh-CN" altLang="en-US" sz="3600" dirty="0"/>
              <a:t>大样本下的预测区间</a:t>
            </a:r>
          </a:p>
        </p:txBody>
      </p:sp>
      <p:graphicFrame>
        <p:nvGraphicFramePr>
          <p:cNvPr id="214020" name="Object 4"/>
          <p:cNvGraphicFramePr>
            <a:graphicFrameLocks noGrp="1" noChangeAspect="1"/>
          </p:cNvGraphicFramePr>
          <p:nvPr>
            <p:ph sz="half" idx="4294967295"/>
            <p:extLst>
              <p:ext uri="{D42A27DB-BD31-4B8C-83A1-F6EECF244321}">
                <p14:modId xmlns:p14="http://schemas.microsoft.com/office/powerpoint/2010/main" val="666142097"/>
              </p:ext>
            </p:extLst>
          </p:nvPr>
        </p:nvGraphicFramePr>
        <p:xfrm>
          <a:off x="3356570" y="2260506"/>
          <a:ext cx="4121150" cy="1016000"/>
        </p:xfrm>
        <a:graphic>
          <a:graphicData uri="http://schemas.openxmlformats.org/presentationml/2006/ole">
            <mc:AlternateContent xmlns:mc="http://schemas.openxmlformats.org/markup-compatibility/2006">
              <mc:Choice xmlns:v="urn:schemas-microsoft-com:vml" Requires="v">
                <p:oleObj name="公式" r:id="rId2" imgW="977760" imgH="241200" progId="Equation.3">
                  <p:embed/>
                </p:oleObj>
              </mc:Choice>
              <mc:Fallback>
                <p:oleObj name="公式" r:id="rId2" imgW="977760" imgH="241200" progId="Equation.3">
                  <p:embed/>
                  <p:pic>
                    <p:nvPicPr>
                      <p:cNvPr id="2140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6570" y="2260506"/>
                        <a:ext cx="4121150" cy="1016000"/>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graphicFrame>
        <p:nvGraphicFramePr>
          <p:cNvPr id="214024" name="Object 8">
            <a:hlinkClick r:id="" action="ppaction://ole?verb=0"/>
          </p:cNvPr>
          <p:cNvGraphicFramePr>
            <a:graphicFrameLocks/>
          </p:cNvGraphicFramePr>
          <p:nvPr>
            <p:extLst>
              <p:ext uri="{D42A27DB-BD31-4B8C-83A1-F6EECF244321}">
                <p14:modId xmlns:p14="http://schemas.microsoft.com/office/powerpoint/2010/main" val="3019963240"/>
              </p:ext>
            </p:extLst>
          </p:nvPr>
        </p:nvGraphicFramePr>
        <p:xfrm>
          <a:off x="4367808" y="4221088"/>
          <a:ext cx="3109912" cy="1017588"/>
        </p:xfrm>
        <a:graphic>
          <a:graphicData uri="http://schemas.openxmlformats.org/presentationml/2006/ole">
            <mc:AlternateContent xmlns:mc="http://schemas.openxmlformats.org/markup-compatibility/2006">
              <mc:Choice xmlns:v="urn:schemas-microsoft-com:vml" Requires="v">
                <p:oleObj name="Equation" r:id="rId4" imgW="660240" imgH="241200" progId="Equation.DSMT4">
                  <p:embed/>
                </p:oleObj>
              </mc:Choice>
              <mc:Fallback>
                <p:oleObj name="Equation" r:id="rId4" imgW="660240" imgH="241200" progId="Equation.DSMT4">
                  <p:embed/>
                  <p:pic>
                    <p:nvPicPr>
                      <p:cNvPr id="214024" name="Object 8">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7808" y="4221088"/>
                        <a:ext cx="3109912" cy="1017588"/>
                      </a:xfrm>
                      <a:prstGeom prst="rect">
                        <a:avLst/>
                      </a:prstGeom>
                      <a:noFill/>
                      <a:ln w="38100">
                        <a:noFill/>
                        <a:miter lim="800000"/>
                        <a:headEnd/>
                        <a:tailEnd/>
                      </a:ln>
                      <a:effectLst>
                        <a:outerShdw dist="17961" dir="2700000" algn="ctr" rotWithShape="0">
                          <a:schemeClr val="bg2"/>
                        </a:outerShdw>
                      </a:effectLst>
                    </p:spPr>
                  </p:pic>
                </p:oleObj>
              </mc:Fallback>
            </mc:AlternateContent>
          </a:graphicData>
        </a:graphic>
      </p:graphicFrame>
      <p:sp>
        <p:nvSpPr>
          <p:cNvPr id="41990" name="Text Box 12"/>
          <p:cNvSpPr txBox="1">
            <a:spLocks noChangeArrowheads="1"/>
          </p:cNvSpPr>
          <p:nvPr/>
        </p:nvSpPr>
        <p:spPr bwMode="auto">
          <a:xfrm>
            <a:off x="2018060" y="1567234"/>
            <a:ext cx="7489825" cy="519113"/>
          </a:xfrm>
          <a:prstGeom prst="rect">
            <a:avLst/>
          </a:prstGeom>
          <a:noFill/>
          <a:ln w="9525">
            <a:noFill/>
            <a:miter lim="800000"/>
            <a:headEnd/>
            <a:tailEnd/>
          </a:ln>
        </p:spPr>
        <p:txBody>
          <a:bodyPr>
            <a:spAutoFit/>
          </a:bodyPr>
          <a:lstStyle/>
          <a:p>
            <a:pPr>
              <a:spcBef>
                <a:spcPct val="50000"/>
              </a:spcBef>
            </a:pPr>
            <a:r>
              <a:rPr lang="en-US" altLang="zh-CN" sz="2800" b="1" i="1" dirty="0">
                <a:solidFill>
                  <a:srgbClr val="000000"/>
                </a:solidFill>
                <a:latin typeface="Times New Roman" pitchFamily="18" charset="0"/>
              </a:rPr>
              <a:t>n </a:t>
            </a:r>
            <a:r>
              <a:rPr lang="zh-CN" altLang="en-US" sz="2800" b="1" dirty="0">
                <a:solidFill>
                  <a:srgbClr val="000000"/>
                </a:solidFill>
              </a:rPr>
              <a:t>充分大时，</a:t>
            </a:r>
            <a:r>
              <a:rPr lang="zh-CN" altLang="en-US" sz="2800" dirty="0"/>
              <a:t> </a:t>
            </a:r>
            <a:r>
              <a:rPr lang="en-US" altLang="zh-CN" sz="2800" i="1" dirty="0">
                <a:solidFill>
                  <a:srgbClr val="000000"/>
                </a:solidFill>
                <a:latin typeface="Times New Roman" pitchFamily="18" charset="0"/>
              </a:rPr>
              <a:t>X</a:t>
            </a:r>
            <a:r>
              <a:rPr lang="en-US" altLang="zh-CN" sz="2800" b="1" i="1" dirty="0">
                <a:solidFill>
                  <a:srgbClr val="000000"/>
                </a:solidFill>
                <a:latin typeface="Times New Roman" pitchFamily="18" charset="0"/>
              </a:rPr>
              <a:t>=</a:t>
            </a:r>
            <a:r>
              <a:rPr lang="en-US" altLang="zh-CN" sz="2800" b="1" i="1" dirty="0" err="1">
                <a:solidFill>
                  <a:srgbClr val="000000"/>
                </a:solidFill>
                <a:latin typeface="Times New Roman" pitchFamily="18" charset="0"/>
              </a:rPr>
              <a:t>x</a:t>
            </a:r>
            <a:r>
              <a:rPr lang="en-US" altLang="zh-CN" sz="2800" b="1" i="1" baseline="-25000" dirty="0" err="1">
                <a:solidFill>
                  <a:srgbClr val="000000"/>
                </a:solidFill>
                <a:latin typeface="Times New Roman" pitchFamily="18" charset="0"/>
              </a:rPr>
              <a:t>f</a:t>
            </a:r>
            <a:r>
              <a:rPr lang="en-US" altLang="zh-CN" sz="2800" b="1" i="1" baseline="-25000" dirty="0">
                <a:solidFill>
                  <a:srgbClr val="000000"/>
                </a:solidFill>
                <a:latin typeface="Times New Roman" pitchFamily="18" charset="0"/>
              </a:rPr>
              <a:t> </a:t>
            </a:r>
            <a:r>
              <a:rPr lang="zh-CN" altLang="en-US" sz="2800" b="1" dirty="0">
                <a:solidFill>
                  <a:srgbClr val="000000"/>
                </a:solidFill>
              </a:rPr>
              <a:t>时，</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i="1" baseline="-25000" dirty="0" err="1">
                <a:solidFill>
                  <a:srgbClr val="000000"/>
                </a:solidFill>
                <a:latin typeface="Times New Roman" pitchFamily="18" charset="0"/>
              </a:rPr>
              <a:t>f</a:t>
            </a:r>
            <a:r>
              <a:rPr lang="en-US" altLang="zh-CN" sz="2800" b="1" i="1" dirty="0">
                <a:solidFill>
                  <a:srgbClr val="000000"/>
                </a:solidFill>
                <a:latin typeface="Times New Roman" pitchFamily="18" charset="0"/>
              </a:rPr>
              <a:t> </a:t>
            </a:r>
            <a:r>
              <a:rPr lang="zh-CN" altLang="en-US" sz="2800" b="1" dirty="0">
                <a:solidFill>
                  <a:srgbClr val="000000"/>
                </a:solidFill>
              </a:rPr>
              <a:t>的置信区间为：</a:t>
            </a:r>
          </a:p>
        </p:txBody>
      </p:sp>
      <p:sp>
        <p:nvSpPr>
          <p:cNvPr id="41991" name="Text Box 13"/>
          <p:cNvSpPr txBox="1">
            <a:spLocks noChangeArrowheads="1"/>
          </p:cNvSpPr>
          <p:nvPr/>
        </p:nvSpPr>
        <p:spPr bwMode="auto">
          <a:xfrm>
            <a:off x="2711624" y="3933057"/>
            <a:ext cx="1296144" cy="519113"/>
          </a:xfrm>
          <a:prstGeom prst="rect">
            <a:avLst/>
          </a:prstGeom>
          <a:noFill/>
          <a:ln w="9525">
            <a:noFill/>
            <a:miter lim="800000"/>
            <a:headEnd/>
            <a:tailEnd/>
          </a:ln>
        </p:spPr>
        <p:txBody>
          <a:bodyPr wrap="square">
            <a:spAutoFit/>
          </a:bodyPr>
          <a:lstStyle/>
          <a:p>
            <a:pPr>
              <a:spcBef>
                <a:spcPct val="50000"/>
              </a:spcBef>
            </a:pPr>
            <a:r>
              <a:rPr lang="zh-CN" altLang="en-US" sz="2800" b="1" dirty="0">
                <a:solidFill>
                  <a:srgbClr val="000000"/>
                </a:solidFill>
              </a:rPr>
              <a:t>其中，</a:t>
            </a:r>
          </a:p>
        </p:txBody>
      </p:sp>
    </p:spTree>
    <p:extLst>
      <p:ext uri="{BB962C8B-B14F-4D97-AF65-F5344CB8AC3E}">
        <p14:creationId xmlns:p14="http://schemas.microsoft.com/office/powerpoint/2010/main" val="139030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14020"/>
                                        </p:tgtEl>
                                        <p:attrNameLst>
                                          <p:attrName>style.visibility</p:attrName>
                                        </p:attrNameLst>
                                      </p:cBhvr>
                                      <p:to>
                                        <p:strVal val="visible"/>
                                      </p:to>
                                    </p:set>
                                    <p:animEffect transition="in" filter="slide(fromLeft)">
                                      <p:cBhvr>
                                        <p:cTn id="7" dur="500"/>
                                        <p:tgtEl>
                                          <p:spTgt spid="2140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4024"/>
                                        </p:tgtEl>
                                        <p:attrNameLst>
                                          <p:attrName>style.visibility</p:attrName>
                                        </p:attrNameLst>
                                      </p:cBhvr>
                                      <p:to>
                                        <p:strVal val="visible"/>
                                      </p:to>
                                    </p:set>
                                    <p:animEffect transition="in" filter="wipe(left)">
                                      <p:cBhvr>
                                        <p:cTn id="11" dur="250"/>
                                        <p:tgtEl>
                                          <p:spTgt spid="214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灯片编号占位符 5"/>
          <p:cNvSpPr>
            <a:spLocks noGrp="1"/>
          </p:cNvSpPr>
          <p:nvPr>
            <p:ph type="sldNum" sz="quarter" idx="10"/>
          </p:nvPr>
        </p:nvSpPr>
        <p:spPr>
          <a:noFill/>
        </p:spPr>
        <p:txBody>
          <a:bodyPr/>
          <a:lstStyle/>
          <a:p>
            <a:r>
              <a:rPr lang="en-US" altLang="zh-CN"/>
              <a:t>9--</a:t>
            </a:r>
            <a:fld id="{54A3A397-E2BE-4C0C-A451-2D614233CF07}" type="slidenum">
              <a:rPr lang="en-US" altLang="zh-CN" smtClean="0"/>
              <a:pPr/>
              <a:t>82</a:t>
            </a:fld>
            <a:endParaRPr lang="en-US" altLang="zh-CN"/>
          </a:p>
        </p:txBody>
      </p:sp>
      <p:sp>
        <p:nvSpPr>
          <p:cNvPr id="43013" name="Rectangle 2"/>
          <p:cNvSpPr>
            <a:spLocks noGrp="1" noChangeArrowheads="1"/>
          </p:cNvSpPr>
          <p:nvPr>
            <p:ph type="title" idx="4294967295"/>
          </p:nvPr>
        </p:nvSpPr>
        <p:spPr>
          <a:xfrm>
            <a:off x="2180828" y="315512"/>
            <a:ext cx="5715397" cy="1400175"/>
          </a:xfrm>
          <a:noFill/>
        </p:spPr>
        <p:txBody>
          <a:bodyPr vert="horz" lIns="90488" tIns="44450" rIns="90488" bIns="44450" rtlCol="0" anchor="ctr" anchorCtr="1">
            <a:normAutofit/>
          </a:bodyPr>
          <a:lstStyle/>
          <a:p>
            <a:pPr eaLnBrk="1" hangingPunct="1"/>
            <a:r>
              <a:rPr lang="zh-CN" altLang="en-US" sz="3600" b="1" dirty="0">
                <a:effectLst/>
              </a:rPr>
              <a:t>大样本条件下的预测区间</a:t>
            </a:r>
          </a:p>
        </p:txBody>
      </p:sp>
      <p:graphicFrame>
        <p:nvGraphicFramePr>
          <p:cNvPr id="43010" name="Object 16"/>
          <p:cNvGraphicFramePr>
            <a:graphicFrameLocks noGrp="1" noChangeAspect="1"/>
          </p:cNvGraphicFramePr>
          <p:nvPr>
            <p:ph idx="4294967295"/>
          </p:nvPr>
        </p:nvGraphicFramePr>
        <p:xfrm>
          <a:off x="0" y="5805488"/>
          <a:ext cx="458788" cy="541337"/>
        </p:xfrm>
        <a:graphic>
          <a:graphicData uri="http://schemas.openxmlformats.org/presentationml/2006/ole">
            <mc:AlternateContent xmlns:mc="http://schemas.openxmlformats.org/markup-compatibility/2006">
              <mc:Choice xmlns:v="urn:schemas-microsoft-com:vml" Requires="v">
                <p:oleObj name="公式" r:id="rId3" imgW="139680" imgH="164880" progId="Equation.3">
                  <p:embed/>
                </p:oleObj>
              </mc:Choice>
              <mc:Fallback>
                <p:oleObj name="公式" r:id="rId3" imgW="139680" imgH="164880" progId="Equation.3">
                  <p:embed/>
                  <p:pic>
                    <p:nvPicPr>
                      <p:cNvPr id="4301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805488"/>
                        <a:ext cx="458788"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8116" name="Line 4"/>
          <p:cNvSpPr>
            <a:spLocks noChangeShapeType="1"/>
          </p:cNvSpPr>
          <p:nvPr/>
        </p:nvSpPr>
        <p:spPr bwMode="auto">
          <a:xfrm>
            <a:off x="5880100" y="3068639"/>
            <a:ext cx="0" cy="1584325"/>
          </a:xfrm>
          <a:prstGeom prst="line">
            <a:avLst/>
          </a:prstGeom>
          <a:noFill/>
          <a:ln w="38100">
            <a:solidFill>
              <a:schemeClr val="tx1"/>
            </a:solidFill>
            <a:prstDash val="dash"/>
            <a:round/>
            <a:headEnd/>
            <a:tailEnd/>
          </a:ln>
          <a:effectLst>
            <a:outerShdw dist="35921" dir="2700000" algn="ctr" rotWithShape="0">
              <a:schemeClr val="bg2"/>
            </a:outerShdw>
          </a:effectLst>
        </p:spPr>
        <p:txBody>
          <a:bodyPr/>
          <a:lstStyle/>
          <a:p>
            <a:pPr>
              <a:defRPr/>
            </a:pPr>
            <a:endParaRPr lang="zh-CN" altLang="en-US"/>
          </a:p>
        </p:txBody>
      </p:sp>
      <p:sp>
        <p:nvSpPr>
          <p:cNvPr id="218118" name="Freeform 6"/>
          <p:cNvSpPr>
            <a:spLocks/>
          </p:cNvSpPr>
          <p:nvPr/>
        </p:nvSpPr>
        <p:spPr bwMode="auto">
          <a:xfrm>
            <a:off x="2593975" y="1949451"/>
            <a:ext cx="6921500" cy="3768725"/>
          </a:xfrm>
          <a:custGeom>
            <a:avLst/>
            <a:gdLst/>
            <a:ahLst/>
            <a:cxnLst>
              <a:cxn ang="0">
                <a:pos x="0" y="0"/>
              </a:cxn>
              <a:cxn ang="0">
                <a:pos x="0" y="1960"/>
              </a:cxn>
              <a:cxn ang="0">
                <a:pos x="4360" y="1960"/>
              </a:cxn>
            </a:cxnLst>
            <a:rect l="0" t="0" r="r" b="b"/>
            <a:pathLst>
              <a:path w="4360" h="1960">
                <a:moveTo>
                  <a:pt x="0" y="0"/>
                </a:moveTo>
                <a:lnTo>
                  <a:pt x="0" y="1960"/>
                </a:lnTo>
                <a:lnTo>
                  <a:pt x="4360" y="1960"/>
                </a:lnTo>
              </a:path>
            </a:pathLst>
          </a:custGeom>
          <a:noFill/>
          <a:ln w="57150" cmpd="sng">
            <a:solidFill>
              <a:schemeClr val="tx1"/>
            </a:solidFill>
            <a:prstDash val="solid"/>
            <a:round/>
            <a:headEnd type="triangle" w="med" len="med"/>
            <a:tailEnd type="triangle" w="med" len="med"/>
          </a:ln>
          <a:effectLst>
            <a:outerShdw dist="28398" dir="3806097" algn="ctr" rotWithShape="0">
              <a:schemeClr val="bg2"/>
            </a:outerShdw>
          </a:effectLst>
        </p:spPr>
        <p:txBody>
          <a:bodyPr/>
          <a:lstStyle/>
          <a:p>
            <a:pPr>
              <a:defRPr/>
            </a:pPr>
            <a:endParaRPr lang="zh-CN" altLang="en-US"/>
          </a:p>
        </p:txBody>
      </p:sp>
      <p:sp>
        <p:nvSpPr>
          <p:cNvPr id="43016" name="Rectangle 7"/>
          <p:cNvSpPr>
            <a:spLocks noChangeArrowheads="1"/>
          </p:cNvSpPr>
          <p:nvPr/>
        </p:nvSpPr>
        <p:spPr bwMode="auto">
          <a:xfrm>
            <a:off x="7608889" y="5661026"/>
            <a:ext cx="560387"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a:solidFill>
                  <a:srgbClr val="000000"/>
                </a:solidFill>
                <a:latin typeface="Times New Roman" pitchFamily="18" charset="0"/>
              </a:rPr>
              <a:t>x</a:t>
            </a:r>
            <a:r>
              <a:rPr kumimoji="1" lang="en-US" altLang="zh-CN" sz="2600" b="1" i="1">
                <a:solidFill>
                  <a:srgbClr val="000000"/>
                </a:solidFill>
                <a:latin typeface="Times New Roman" pitchFamily="18" charset="0"/>
              </a:rPr>
              <a:t>f</a:t>
            </a:r>
            <a:endParaRPr kumimoji="1" lang="en-US" altLang="zh-CN" sz="2600" i="1">
              <a:solidFill>
                <a:srgbClr val="000000"/>
              </a:solidFill>
              <a:latin typeface="Times New Roman" pitchFamily="18" charset="0"/>
            </a:endParaRPr>
          </a:p>
        </p:txBody>
      </p:sp>
      <p:sp>
        <p:nvSpPr>
          <p:cNvPr id="43017" name="Rectangle 9"/>
          <p:cNvSpPr>
            <a:spLocks noChangeArrowheads="1"/>
          </p:cNvSpPr>
          <p:nvPr/>
        </p:nvSpPr>
        <p:spPr bwMode="auto">
          <a:xfrm>
            <a:off x="2135188" y="1989139"/>
            <a:ext cx="381000"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a:solidFill>
                  <a:srgbClr val="000000"/>
                </a:solidFill>
                <a:latin typeface="Times New Roman" pitchFamily="18" charset="0"/>
              </a:rPr>
              <a:t>Y</a:t>
            </a:r>
            <a:endParaRPr kumimoji="1" lang="en-US" altLang="zh-CN" i="1">
              <a:solidFill>
                <a:srgbClr val="000000"/>
              </a:solidFill>
              <a:latin typeface="Times New Roman" pitchFamily="18" charset="0"/>
            </a:endParaRPr>
          </a:p>
        </p:txBody>
      </p:sp>
      <p:sp>
        <p:nvSpPr>
          <p:cNvPr id="43018" name="Text Box 10"/>
          <p:cNvSpPr txBox="1">
            <a:spLocks noChangeArrowheads="1"/>
          </p:cNvSpPr>
          <p:nvPr/>
        </p:nvSpPr>
        <p:spPr bwMode="auto">
          <a:xfrm rot="20375902">
            <a:off x="4440238" y="2492376"/>
            <a:ext cx="2362200" cy="549275"/>
          </a:xfrm>
          <a:prstGeom prst="rect">
            <a:avLst/>
          </a:prstGeom>
          <a:noFill/>
          <a:ln w="12700">
            <a:noFill/>
            <a:miter lim="800000"/>
            <a:headEnd/>
            <a:tailEnd/>
          </a:ln>
        </p:spPr>
        <p:txBody>
          <a:bodyPr>
            <a:spAutoFit/>
          </a:bodyPr>
          <a:lstStyle/>
          <a:p>
            <a:pPr algn="ctr" eaLnBrk="0" hangingPunct="0">
              <a:spcBef>
                <a:spcPct val="50000"/>
              </a:spcBef>
            </a:pPr>
            <a:r>
              <a:rPr kumimoji="1" lang="zh-CN" altLang="en-US" sz="3000">
                <a:solidFill>
                  <a:srgbClr val="FF00FF"/>
                </a:solidFill>
                <a:ea typeface="隶书" pitchFamily="49" charset="-122"/>
              </a:rPr>
              <a:t>置信上限</a:t>
            </a:r>
          </a:p>
        </p:txBody>
      </p:sp>
      <p:sp>
        <p:nvSpPr>
          <p:cNvPr id="43019" name="Text Box 11"/>
          <p:cNvSpPr txBox="1">
            <a:spLocks noChangeArrowheads="1"/>
          </p:cNvSpPr>
          <p:nvPr/>
        </p:nvSpPr>
        <p:spPr bwMode="auto">
          <a:xfrm rot="20296336">
            <a:off x="5375275" y="4508501"/>
            <a:ext cx="2133600" cy="549275"/>
          </a:xfrm>
          <a:prstGeom prst="rect">
            <a:avLst/>
          </a:prstGeom>
          <a:noFill/>
          <a:ln w="12700">
            <a:noFill/>
            <a:miter lim="800000"/>
            <a:headEnd/>
            <a:tailEnd/>
          </a:ln>
        </p:spPr>
        <p:txBody>
          <a:bodyPr>
            <a:spAutoFit/>
          </a:bodyPr>
          <a:lstStyle/>
          <a:p>
            <a:pPr algn="ctr" eaLnBrk="0" hangingPunct="0">
              <a:spcBef>
                <a:spcPct val="50000"/>
              </a:spcBef>
            </a:pPr>
            <a:r>
              <a:rPr kumimoji="1" lang="zh-CN" altLang="en-US" sz="3000">
                <a:solidFill>
                  <a:srgbClr val="FF00FF"/>
                </a:solidFill>
                <a:ea typeface="隶书" pitchFamily="49" charset="-122"/>
              </a:rPr>
              <a:t>置信下限</a:t>
            </a:r>
          </a:p>
        </p:txBody>
      </p:sp>
      <p:sp>
        <p:nvSpPr>
          <p:cNvPr id="218125" name="Line 13"/>
          <p:cNvSpPr>
            <a:spLocks noChangeShapeType="1"/>
          </p:cNvSpPr>
          <p:nvPr/>
        </p:nvSpPr>
        <p:spPr bwMode="auto">
          <a:xfrm flipV="1">
            <a:off x="2711450" y="2565400"/>
            <a:ext cx="6343650" cy="2520950"/>
          </a:xfrm>
          <a:prstGeom prst="line">
            <a:avLst/>
          </a:prstGeom>
          <a:noFill/>
          <a:ln w="76200">
            <a:solidFill>
              <a:schemeClr val="hlink"/>
            </a:solidFill>
            <a:round/>
            <a:headEnd/>
            <a:tailEnd/>
          </a:ln>
          <a:effectLst>
            <a:outerShdw dist="35921" dir="2700000" algn="ctr" rotWithShape="0">
              <a:schemeClr val="bg2"/>
            </a:outerShdw>
          </a:effectLst>
        </p:spPr>
        <p:txBody>
          <a:bodyPr/>
          <a:lstStyle/>
          <a:p>
            <a:pPr>
              <a:defRPr/>
            </a:pPr>
            <a:endParaRPr lang="zh-CN" altLang="en-US"/>
          </a:p>
        </p:txBody>
      </p:sp>
      <p:sp>
        <p:nvSpPr>
          <p:cNvPr id="43021" name="Oval 17"/>
          <p:cNvSpPr>
            <a:spLocks noChangeArrowheads="1"/>
          </p:cNvSpPr>
          <p:nvPr/>
        </p:nvSpPr>
        <p:spPr bwMode="auto">
          <a:xfrm>
            <a:off x="5808663" y="5589588"/>
            <a:ext cx="215900" cy="215900"/>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3022" name="Oval 18"/>
          <p:cNvSpPr>
            <a:spLocks noChangeArrowheads="1"/>
          </p:cNvSpPr>
          <p:nvPr/>
        </p:nvSpPr>
        <p:spPr bwMode="auto">
          <a:xfrm>
            <a:off x="7751763" y="5589588"/>
            <a:ext cx="215900" cy="215900"/>
          </a:xfrm>
          <a:prstGeom prst="ellipse">
            <a:avLst/>
          </a:prstGeom>
          <a:solidFill>
            <a:srgbClr val="FF00FF"/>
          </a:solidFill>
          <a:ln w="9525">
            <a:solidFill>
              <a:schemeClr val="tx1"/>
            </a:solidFill>
            <a:round/>
            <a:headEnd/>
            <a:tailEnd/>
          </a:ln>
        </p:spPr>
        <p:txBody>
          <a:bodyPr wrap="none" anchor="ctr"/>
          <a:lstStyle/>
          <a:p>
            <a:endParaRPr lang="zh-CN" altLang="en-US"/>
          </a:p>
        </p:txBody>
      </p:sp>
      <p:sp>
        <p:nvSpPr>
          <p:cNvPr id="43023" name="Rectangle 22"/>
          <p:cNvSpPr>
            <a:spLocks noChangeArrowheads="1"/>
          </p:cNvSpPr>
          <p:nvPr/>
        </p:nvSpPr>
        <p:spPr bwMode="auto">
          <a:xfrm>
            <a:off x="9048750" y="5661026"/>
            <a:ext cx="381000" cy="549275"/>
          </a:xfrm>
          <a:prstGeom prst="rect">
            <a:avLst/>
          </a:prstGeom>
          <a:noFill/>
          <a:ln w="9525">
            <a:noFill/>
            <a:miter lim="800000"/>
            <a:headEnd/>
            <a:tailEnd/>
          </a:ln>
        </p:spPr>
        <p:txBody>
          <a:bodyPr lIns="0" tIns="0" rIns="0" bIns="0">
            <a:spAutoFit/>
          </a:bodyPr>
          <a:lstStyle/>
          <a:p>
            <a:pPr algn="ctr" eaLnBrk="0" hangingPunct="0"/>
            <a:r>
              <a:rPr kumimoji="1" lang="en-US" altLang="zh-CN" sz="3600" b="1" i="1">
                <a:solidFill>
                  <a:srgbClr val="000000"/>
                </a:solidFill>
                <a:latin typeface="Times New Roman" pitchFamily="18" charset="0"/>
              </a:rPr>
              <a:t>X</a:t>
            </a:r>
            <a:endParaRPr kumimoji="1" lang="en-US" altLang="zh-CN" i="1">
              <a:solidFill>
                <a:srgbClr val="000000"/>
              </a:solidFill>
              <a:latin typeface="Times New Roman" pitchFamily="18" charset="0"/>
            </a:endParaRPr>
          </a:p>
        </p:txBody>
      </p:sp>
      <p:sp>
        <p:nvSpPr>
          <p:cNvPr id="218135" name="Line 23"/>
          <p:cNvSpPr>
            <a:spLocks noChangeShapeType="1"/>
          </p:cNvSpPr>
          <p:nvPr/>
        </p:nvSpPr>
        <p:spPr bwMode="auto">
          <a:xfrm flipV="1">
            <a:off x="2927350" y="3213100"/>
            <a:ext cx="6343650" cy="2520950"/>
          </a:xfrm>
          <a:prstGeom prst="line">
            <a:avLst/>
          </a:prstGeom>
          <a:noFill/>
          <a:ln w="76200">
            <a:solidFill>
              <a:srgbClr val="FF00FF"/>
            </a:solidFill>
            <a:round/>
            <a:headEnd/>
            <a:tailEnd/>
          </a:ln>
          <a:effectLst>
            <a:outerShdw dist="35921" dir="2700000" algn="ctr" rotWithShape="0">
              <a:schemeClr val="bg2"/>
            </a:outerShdw>
          </a:effectLst>
        </p:spPr>
        <p:txBody>
          <a:bodyPr/>
          <a:lstStyle/>
          <a:p>
            <a:pPr>
              <a:defRPr/>
            </a:pPr>
            <a:endParaRPr lang="zh-CN" altLang="en-US"/>
          </a:p>
        </p:txBody>
      </p:sp>
      <p:sp>
        <p:nvSpPr>
          <p:cNvPr id="218136" name="Line 24"/>
          <p:cNvSpPr>
            <a:spLocks noChangeShapeType="1"/>
          </p:cNvSpPr>
          <p:nvPr/>
        </p:nvSpPr>
        <p:spPr bwMode="auto">
          <a:xfrm flipV="1">
            <a:off x="2705100" y="1844675"/>
            <a:ext cx="6343650" cy="2520950"/>
          </a:xfrm>
          <a:prstGeom prst="line">
            <a:avLst/>
          </a:prstGeom>
          <a:noFill/>
          <a:ln w="76200">
            <a:solidFill>
              <a:srgbClr val="FF00FF"/>
            </a:solidFill>
            <a:round/>
            <a:headEnd/>
            <a:tailEnd/>
          </a:ln>
          <a:effectLst>
            <a:outerShdw dist="35921" dir="2700000" algn="ctr" rotWithShape="0">
              <a:schemeClr val="bg2"/>
            </a:outerShdw>
          </a:effectLst>
        </p:spPr>
        <p:txBody>
          <a:bodyPr/>
          <a:lstStyle/>
          <a:p>
            <a:pPr>
              <a:defRPr/>
            </a:pPr>
            <a:endParaRPr lang="zh-CN" altLang="en-US"/>
          </a:p>
        </p:txBody>
      </p:sp>
      <p:sp>
        <p:nvSpPr>
          <p:cNvPr id="43026" name="AutoShape 19"/>
          <p:cNvSpPr>
            <a:spLocks/>
          </p:cNvSpPr>
          <p:nvPr/>
        </p:nvSpPr>
        <p:spPr bwMode="auto">
          <a:xfrm>
            <a:off x="7896225" y="3140076"/>
            <a:ext cx="431800" cy="576263"/>
          </a:xfrm>
          <a:prstGeom prst="rightBrace">
            <a:avLst>
              <a:gd name="adj1" fmla="val 11121"/>
              <a:gd name="adj2" fmla="val 53694"/>
            </a:avLst>
          </a:prstGeom>
          <a:noFill/>
          <a:ln w="38100">
            <a:solidFill>
              <a:srgbClr val="FF0000"/>
            </a:solidFill>
            <a:round/>
            <a:headEnd/>
            <a:tailEnd/>
          </a:ln>
        </p:spPr>
        <p:txBody>
          <a:bodyPr wrap="none" anchor="ctr"/>
          <a:lstStyle/>
          <a:p>
            <a:endParaRPr lang="zh-CN" altLang="en-US"/>
          </a:p>
        </p:txBody>
      </p:sp>
      <p:sp>
        <p:nvSpPr>
          <p:cNvPr id="43027" name="Text Box 21"/>
          <p:cNvSpPr txBox="1">
            <a:spLocks noChangeArrowheads="1"/>
          </p:cNvSpPr>
          <p:nvPr/>
        </p:nvSpPr>
        <p:spPr bwMode="auto">
          <a:xfrm>
            <a:off x="8273258" y="3213100"/>
            <a:ext cx="1458117" cy="396875"/>
          </a:xfrm>
          <a:prstGeom prst="rect">
            <a:avLst/>
          </a:prstGeom>
          <a:solidFill>
            <a:srgbClr val="FFCC00"/>
          </a:solidFill>
          <a:ln w="9525">
            <a:noFill/>
            <a:miter lim="800000"/>
            <a:headEnd/>
            <a:tailEnd/>
          </a:ln>
        </p:spPr>
        <p:txBody>
          <a:bodyPr wrap="square">
            <a:spAutoFit/>
          </a:bodyPr>
          <a:lstStyle/>
          <a:p>
            <a:pPr algn="ctr">
              <a:spcBef>
                <a:spcPct val="50000"/>
              </a:spcBef>
            </a:pPr>
            <a:r>
              <a:rPr lang="zh-CN" altLang="en-US" sz="2000">
                <a:solidFill>
                  <a:srgbClr val="CC0099"/>
                </a:solidFill>
              </a:rPr>
              <a:t>区间半径</a:t>
            </a:r>
            <a:r>
              <a:rPr lang="zh-CN" altLang="en-US" sz="2000">
                <a:solidFill>
                  <a:srgbClr val="CC0099"/>
                </a:solidFill>
                <a:latin typeface="宋体" pitchFamily="2" charset="-122"/>
              </a:rPr>
              <a:t>⊿</a:t>
            </a:r>
          </a:p>
        </p:txBody>
      </p:sp>
      <p:sp>
        <p:nvSpPr>
          <p:cNvPr id="218117" name="Line 5"/>
          <p:cNvSpPr>
            <a:spLocks noChangeShapeType="1"/>
          </p:cNvSpPr>
          <p:nvPr/>
        </p:nvSpPr>
        <p:spPr bwMode="auto">
          <a:xfrm flipH="1">
            <a:off x="7824788" y="2349501"/>
            <a:ext cx="0" cy="1439863"/>
          </a:xfrm>
          <a:prstGeom prst="line">
            <a:avLst/>
          </a:prstGeom>
          <a:noFill/>
          <a:ln w="38100" cap="rnd">
            <a:solidFill>
              <a:srgbClr val="FFCC00"/>
            </a:solidFill>
            <a:prstDash val="sysDot"/>
            <a:round/>
            <a:headEnd/>
            <a:tailEnd/>
          </a:ln>
          <a:effectLst>
            <a:outerShdw dist="35921" dir="2700000" algn="ctr" rotWithShape="0">
              <a:schemeClr val="bg2"/>
            </a:outerShdw>
          </a:effectLst>
        </p:spPr>
        <p:txBody>
          <a:bodyPr/>
          <a:lstStyle/>
          <a:p>
            <a:pPr>
              <a:defRPr/>
            </a:pPr>
            <a:endParaRPr lang="zh-CN" altLang="en-US"/>
          </a:p>
        </p:txBody>
      </p:sp>
      <p:graphicFrame>
        <p:nvGraphicFramePr>
          <p:cNvPr id="43011" name="Object 26"/>
          <p:cNvGraphicFramePr>
            <a:graphicFrameLocks noChangeAspect="1"/>
          </p:cNvGraphicFramePr>
          <p:nvPr>
            <p:extLst>
              <p:ext uri="{D42A27DB-BD31-4B8C-83A1-F6EECF244321}">
                <p14:modId xmlns:p14="http://schemas.microsoft.com/office/powerpoint/2010/main" val="4178152656"/>
              </p:ext>
            </p:extLst>
          </p:nvPr>
        </p:nvGraphicFramePr>
        <p:xfrm>
          <a:off x="9039225" y="2252663"/>
          <a:ext cx="1412875" cy="468312"/>
        </p:xfrm>
        <a:graphic>
          <a:graphicData uri="http://schemas.openxmlformats.org/presentationml/2006/ole">
            <mc:AlternateContent xmlns:mc="http://schemas.openxmlformats.org/markup-compatibility/2006">
              <mc:Choice xmlns:v="urn:schemas-microsoft-com:vml" Requires="v">
                <p:oleObj name="Equation" r:id="rId5" imgW="660240" imgH="215640" progId="Equation.DSMT4">
                  <p:embed/>
                </p:oleObj>
              </mc:Choice>
              <mc:Fallback>
                <p:oleObj name="Equation" r:id="rId5" imgW="660240" imgH="215640" progId="Equation.DSMT4">
                  <p:embed/>
                  <p:pic>
                    <p:nvPicPr>
                      <p:cNvPr id="43011"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9225" y="2252663"/>
                        <a:ext cx="1412875" cy="468312"/>
                      </a:xfrm>
                      <a:prstGeom prst="rect">
                        <a:avLst/>
                      </a:prstGeom>
                      <a:noFill/>
                    </p:spPr>
                  </p:pic>
                </p:oleObj>
              </mc:Fallback>
            </mc:AlternateContent>
          </a:graphicData>
        </a:graphic>
      </p:graphicFrame>
    </p:spTree>
    <p:extLst>
      <p:ext uri="{BB962C8B-B14F-4D97-AF65-F5344CB8AC3E}">
        <p14:creationId xmlns:p14="http://schemas.microsoft.com/office/powerpoint/2010/main" val="4214045703"/>
      </p:ext>
    </p:extLst>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ctrTitle"/>
          </p:nvPr>
        </p:nvSpPr>
        <p:spPr>
          <a:xfrm>
            <a:off x="812800" y="923888"/>
            <a:ext cx="10795000" cy="1746567"/>
          </a:xfrm>
          <a:noFill/>
        </p:spPr>
        <p:txBody>
          <a:bodyPr>
            <a:normAutofit/>
          </a:bodyPr>
          <a:lstStyle/>
          <a:p>
            <a:pPr eaLnBrk="1" hangingPunct="1"/>
            <a:r>
              <a:rPr lang="en-US" altLang="zh-CN" sz="4800" dirty="0"/>
              <a:t>*9.4  </a:t>
            </a:r>
            <a:r>
              <a:rPr lang="zh-CN" altLang="en-US" sz="4800" dirty="0"/>
              <a:t>多元线性回归分析</a:t>
            </a:r>
            <a:endParaRPr lang="zh-CN" altLang="en-US" sz="3600" b="0" dirty="0">
              <a:solidFill>
                <a:srgbClr val="0070C0"/>
              </a:solidFill>
            </a:endParaRPr>
          </a:p>
        </p:txBody>
      </p:sp>
      <p:sp>
        <p:nvSpPr>
          <p:cNvPr id="101378" name="Rectangle 33"/>
          <p:cNvSpPr>
            <a:spLocks noGrp="1" noChangeArrowheads="1"/>
          </p:cNvSpPr>
          <p:nvPr>
            <p:ph type="sldNum" sz="quarter" idx="4294967295"/>
          </p:nvPr>
        </p:nvSpPr>
        <p:spPr>
          <a:noFill/>
        </p:spPr>
        <p:txBody>
          <a:bodyPr/>
          <a:lstStyle/>
          <a:p>
            <a:r>
              <a:rPr lang="en-US" altLang="zh-CN"/>
              <a:t>9-</a:t>
            </a:r>
            <a:fld id="{E6492183-201F-4908-A80A-C72384DA4EAA}" type="slidenum">
              <a:rPr lang="en-US" altLang="zh-CN" smtClean="0"/>
              <a:pPr/>
              <a:t>83</a:t>
            </a:fld>
            <a:endParaRPr lang="en-US" altLang="zh-CN"/>
          </a:p>
        </p:txBody>
      </p:sp>
      <p:sp>
        <p:nvSpPr>
          <p:cNvPr id="101380" name="Rectangle 3"/>
          <p:cNvSpPr>
            <a:spLocks noChangeArrowheads="1"/>
          </p:cNvSpPr>
          <p:nvPr/>
        </p:nvSpPr>
        <p:spPr bwMode="auto">
          <a:xfrm>
            <a:off x="3232150" y="3005139"/>
            <a:ext cx="6985000" cy="2636837"/>
          </a:xfrm>
          <a:prstGeom prst="rect">
            <a:avLst/>
          </a:prstGeom>
          <a:noFill/>
          <a:ln w="9525">
            <a:noFill/>
            <a:miter lim="800000"/>
            <a:headEnd/>
            <a:tailEnd/>
          </a:ln>
        </p:spPr>
        <p:txBody>
          <a:bodyPr/>
          <a:lstStyle/>
          <a:p>
            <a:pPr marL="609600" indent="-609600">
              <a:lnSpc>
                <a:spcPct val="120000"/>
              </a:lnSpc>
              <a:spcBef>
                <a:spcPct val="20000"/>
              </a:spcBef>
              <a:buSzPct val="90000"/>
            </a:pPr>
            <a:r>
              <a:rPr lang="en-US" altLang="zh-CN" sz="3600" b="1" dirty="0">
                <a:solidFill>
                  <a:srgbClr val="00B0F0"/>
                </a:solidFill>
                <a:latin typeface="Tahoma" pitchFamily="34" charset="0"/>
              </a:rPr>
              <a:t>9.4.1 </a:t>
            </a:r>
            <a:r>
              <a:rPr lang="zh-CN" altLang="en-US" sz="3600" b="1" dirty="0">
                <a:solidFill>
                  <a:srgbClr val="00B0F0"/>
                </a:solidFill>
                <a:latin typeface="Tahoma" pitchFamily="34" charset="0"/>
              </a:rPr>
              <a:t>多元线性回归模型及假定</a:t>
            </a:r>
          </a:p>
          <a:p>
            <a:pPr marL="609600" indent="-609600">
              <a:lnSpc>
                <a:spcPct val="120000"/>
              </a:lnSpc>
              <a:spcBef>
                <a:spcPct val="20000"/>
              </a:spcBef>
              <a:buSzPct val="90000"/>
            </a:pPr>
            <a:r>
              <a:rPr lang="en-US" altLang="zh-CN" sz="3600" b="1" dirty="0">
                <a:solidFill>
                  <a:srgbClr val="00B0F0"/>
                </a:solidFill>
                <a:latin typeface="Tahoma" pitchFamily="34" charset="0"/>
              </a:rPr>
              <a:t>9.4.2 </a:t>
            </a:r>
            <a:r>
              <a:rPr lang="zh-CN" altLang="en-US" sz="3600" b="1" dirty="0">
                <a:solidFill>
                  <a:srgbClr val="00B0F0"/>
                </a:solidFill>
                <a:latin typeface="Tahoma" pitchFamily="34" charset="0"/>
              </a:rPr>
              <a:t>多元线性回归模型的估计 </a:t>
            </a:r>
          </a:p>
          <a:p>
            <a:pPr marL="609600" indent="-609600">
              <a:lnSpc>
                <a:spcPct val="120000"/>
              </a:lnSpc>
              <a:spcBef>
                <a:spcPct val="20000"/>
              </a:spcBef>
              <a:buSzPct val="90000"/>
            </a:pPr>
            <a:r>
              <a:rPr lang="en-US" altLang="zh-CN" sz="3600" b="1" dirty="0">
                <a:solidFill>
                  <a:srgbClr val="00B0F0"/>
                </a:solidFill>
                <a:latin typeface="Tahoma" pitchFamily="34" charset="0"/>
              </a:rPr>
              <a:t>9.4.3 </a:t>
            </a:r>
            <a:r>
              <a:rPr lang="zh-CN" altLang="en-US" sz="3600" b="1" dirty="0">
                <a:solidFill>
                  <a:srgbClr val="00B0F0"/>
                </a:solidFill>
                <a:latin typeface="Tahoma" pitchFamily="34" charset="0"/>
              </a:rPr>
              <a:t>多元线性回归模型的检验</a:t>
            </a:r>
          </a:p>
        </p:txBody>
      </p:sp>
    </p:spTree>
    <p:extLst>
      <p:ext uri="{BB962C8B-B14F-4D97-AF65-F5344CB8AC3E}">
        <p14:creationId xmlns:p14="http://schemas.microsoft.com/office/powerpoint/2010/main" val="12378792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1" name="日期占位符 8"/>
          <p:cNvSpPr>
            <a:spLocks noGrp="1"/>
          </p:cNvSpPr>
          <p:nvPr>
            <p:ph type="dt" sz="half" idx="10"/>
          </p:nvPr>
        </p:nvSpPr>
        <p:spPr>
          <a:noFill/>
        </p:spPr>
        <p:txBody>
          <a:bodyPr/>
          <a:lstStyle/>
          <a:p>
            <a:endParaRPr lang="en-US" altLang="zh-CN"/>
          </a:p>
        </p:txBody>
      </p:sp>
      <p:sp>
        <p:nvSpPr>
          <p:cNvPr id="44038" name="Rectangle 2"/>
          <p:cNvSpPr>
            <a:spLocks noGrp="1" noChangeArrowheads="1"/>
          </p:cNvSpPr>
          <p:nvPr>
            <p:ph type="title"/>
          </p:nvPr>
        </p:nvSpPr>
        <p:spPr>
          <a:xfrm>
            <a:off x="1917700" y="488830"/>
            <a:ext cx="10160000" cy="662782"/>
          </a:xfrm>
        </p:spPr>
        <p:txBody>
          <a:bodyPr/>
          <a:lstStyle/>
          <a:p>
            <a:pPr eaLnBrk="1" hangingPunct="1"/>
            <a:r>
              <a:rPr lang="en-US" altLang="zh-CN" sz="4000" dirty="0"/>
              <a:t>9.4.1 </a:t>
            </a:r>
            <a:r>
              <a:rPr lang="zh-CN" altLang="en-US" sz="4000" dirty="0"/>
              <a:t>多元线性回归模型及假定</a:t>
            </a:r>
          </a:p>
        </p:txBody>
      </p:sp>
      <p:sp>
        <p:nvSpPr>
          <p:cNvPr id="44039" name="Rectangle 3"/>
          <p:cNvSpPr>
            <a:spLocks noGrp="1" noChangeArrowheads="1"/>
          </p:cNvSpPr>
          <p:nvPr>
            <p:ph idx="1"/>
          </p:nvPr>
        </p:nvSpPr>
        <p:spPr>
          <a:xfrm>
            <a:off x="990599" y="1460500"/>
            <a:ext cx="9398001" cy="4673361"/>
          </a:xfrm>
          <a:noFill/>
        </p:spPr>
        <p:txBody>
          <a:bodyPr/>
          <a:lstStyle/>
          <a:p>
            <a:pPr eaLnBrk="1" hangingPunct="1">
              <a:buFontTx/>
              <a:buNone/>
            </a:pPr>
            <a:r>
              <a:rPr lang="en-US" altLang="zh-CN" dirty="0">
                <a:solidFill>
                  <a:srgbClr val="0000FF"/>
                </a:solidFill>
              </a:rPr>
              <a:t>1.</a:t>
            </a:r>
            <a:r>
              <a:rPr lang="zh-CN" altLang="en-US" dirty="0">
                <a:solidFill>
                  <a:srgbClr val="0000FF"/>
                </a:solidFill>
              </a:rPr>
              <a:t>多元线性回归模型</a:t>
            </a:r>
          </a:p>
          <a:p>
            <a:pPr eaLnBrk="1" hangingPunct="1"/>
            <a:r>
              <a:rPr lang="zh-CN" altLang="en-US" sz="2800" dirty="0">
                <a:solidFill>
                  <a:schemeClr val="tx1"/>
                </a:solidFill>
              </a:rPr>
              <a:t>研究因变量与两个或两个以上自变量的线性关系，称为</a:t>
            </a:r>
            <a:r>
              <a:rPr lang="zh-CN" altLang="en-US" sz="2800" dirty="0">
                <a:solidFill>
                  <a:srgbClr val="CC0099"/>
                </a:solidFill>
              </a:rPr>
              <a:t>多元线性回归分析</a:t>
            </a:r>
          </a:p>
          <a:p>
            <a:pPr eaLnBrk="1" hangingPunct="1"/>
            <a:r>
              <a:rPr lang="zh-CN" altLang="en-US" sz="2800" dirty="0">
                <a:solidFill>
                  <a:schemeClr val="tx1"/>
                </a:solidFill>
              </a:rPr>
              <a:t>表现多个变量的线性关系的数学公式称为</a:t>
            </a:r>
            <a:r>
              <a:rPr lang="zh-CN" altLang="en-US" sz="2800" dirty="0">
                <a:solidFill>
                  <a:srgbClr val="CC0099"/>
                </a:solidFill>
              </a:rPr>
              <a:t>多元线性回归模型</a:t>
            </a:r>
            <a:r>
              <a:rPr lang="zh-CN" altLang="en-US" sz="2800" dirty="0">
                <a:solidFill>
                  <a:schemeClr val="tx1"/>
                </a:solidFill>
              </a:rPr>
              <a:t>：</a:t>
            </a:r>
          </a:p>
          <a:p>
            <a:pPr eaLnBrk="1" hangingPunct="1"/>
            <a:endParaRPr lang="zh-CN" altLang="en-US" sz="2800" dirty="0">
              <a:solidFill>
                <a:schemeClr val="tx1"/>
              </a:solidFill>
            </a:endParaRPr>
          </a:p>
          <a:p>
            <a:pPr lvl="5"/>
            <a:endParaRPr lang="zh-CN" altLang="en-US" sz="951" dirty="0">
              <a:solidFill>
                <a:schemeClr val="tx1"/>
              </a:solidFill>
            </a:endParaRPr>
          </a:p>
          <a:p>
            <a:pPr eaLnBrk="1" hangingPunct="1"/>
            <a:r>
              <a:rPr lang="zh-CN" altLang="en-US" b="0" dirty="0">
                <a:solidFill>
                  <a:schemeClr val="tx1"/>
                </a:solidFill>
              </a:rPr>
              <a:t>多元总体线性回归函数的条件均值形式为：</a:t>
            </a:r>
            <a:endParaRPr lang="zh-CN" altLang="en-US" dirty="0">
              <a:solidFill>
                <a:schemeClr val="tx1"/>
              </a:solidFill>
            </a:endParaRPr>
          </a:p>
        </p:txBody>
      </p:sp>
      <p:sp>
        <p:nvSpPr>
          <p:cNvPr id="44037" name="灯片编号占位符 5"/>
          <p:cNvSpPr>
            <a:spLocks noGrp="1"/>
          </p:cNvSpPr>
          <p:nvPr>
            <p:ph type="sldNum" sz="quarter" idx="4"/>
          </p:nvPr>
        </p:nvSpPr>
        <p:spPr>
          <a:noFill/>
        </p:spPr>
        <p:txBody>
          <a:bodyPr/>
          <a:lstStyle/>
          <a:p>
            <a:r>
              <a:rPr lang="en-US" altLang="zh-CN"/>
              <a:t>9--</a:t>
            </a:r>
            <a:fld id="{65CF2CAE-BBC5-4367-8412-32FC5404B962}" type="slidenum">
              <a:rPr lang="en-US" altLang="zh-CN" smtClean="0"/>
              <a:pPr/>
              <a:t>84</a:t>
            </a:fld>
            <a:endParaRPr lang="en-US" altLang="zh-CN"/>
          </a:p>
        </p:txBody>
      </p:sp>
      <p:sp>
        <p:nvSpPr>
          <p:cNvPr id="44040"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4034" name="Object 4"/>
          <p:cNvGraphicFramePr>
            <a:graphicFrameLocks noChangeAspect="1"/>
          </p:cNvGraphicFramePr>
          <p:nvPr>
            <p:extLst>
              <p:ext uri="{D42A27DB-BD31-4B8C-83A1-F6EECF244321}">
                <p14:modId xmlns:p14="http://schemas.microsoft.com/office/powerpoint/2010/main" val="1365868228"/>
              </p:ext>
            </p:extLst>
          </p:nvPr>
        </p:nvGraphicFramePr>
        <p:xfrm>
          <a:off x="2400300" y="3797180"/>
          <a:ext cx="7270750" cy="676275"/>
        </p:xfrm>
        <a:graphic>
          <a:graphicData uri="http://schemas.openxmlformats.org/presentationml/2006/ole">
            <mc:AlternateContent xmlns:mc="http://schemas.openxmlformats.org/markup-compatibility/2006">
              <mc:Choice xmlns:v="urn:schemas-microsoft-com:vml" Requires="v">
                <p:oleObj name="Equation" r:id="rId2" imgW="2463480" imgH="228600" progId="Equation.DSMT4">
                  <p:embed/>
                </p:oleObj>
              </mc:Choice>
              <mc:Fallback>
                <p:oleObj name="Equation" r:id="rId2" imgW="2463480" imgH="228600" progId="Equation.DSMT4">
                  <p:embed/>
                  <p:pic>
                    <p:nvPicPr>
                      <p:cNvPr id="4403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3797180"/>
                        <a:ext cx="727075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5" name="Object 7"/>
          <p:cNvGraphicFramePr>
            <a:graphicFrameLocks noChangeAspect="1"/>
          </p:cNvGraphicFramePr>
          <p:nvPr>
            <p:extLst>
              <p:ext uri="{D42A27DB-BD31-4B8C-83A1-F6EECF244321}">
                <p14:modId xmlns:p14="http://schemas.microsoft.com/office/powerpoint/2010/main" val="1265296247"/>
              </p:ext>
            </p:extLst>
          </p:nvPr>
        </p:nvGraphicFramePr>
        <p:xfrm>
          <a:off x="2509837" y="5445125"/>
          <a:ext cx="3179762" cy="561975"/>
        </p:xfrm>
        <a:graphic>
          <a:graphicData uri="http://schemas.openxmlformats.org/presentationml/2006/ole">
            <mc:AlternateContent xmlns:mc="http://schemas.openxmlformats.org/markup-compatibility/2006">
              <mc:Choice xmlns:v="urn:schemas-microsoft-com:vml" Requires="v">
                <p:oleObj name="Equation" r:id="rId4" imgW="1460160" imgH="253800" progId="Equation.DSMT4">
                  <p:embed/>
                </p:oleObj>
              </mc:Choice>
              <mc:Fallback>
                <p:oleObj name="Equation" r:id="rId4" imgW="1460160" imgH="253800" progId="Equation.DSMT4">
                  <p:embed/>
                  <p:pic>
                    <p:nvPicPr>
                      <p:cNvPr id="4403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9837" y="5445125"/>
                        <a:ext cx="3179762"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6" name="Object 6"/>
          <p:cNvGraphicFramePr>
            <a:graphicFrameLocks noChangeAspect="1"/>
          </p:cNvGraphicFramePr>
          <p:nvPr>
            <p:extLst>
              <p:ext uri="{D42A27DB-BD31-4B8C-83A1-F6EECF244321}">
                <p14:modId xmlns:p14="http://schemas.microsoft.com/office/powerpoint/2010/main" val="3844633061"/>
              </p:ext>
            </p:extLst>
          </p:nvPr>
        </p:nvGraphicFramePr>
        <p:xfrm>
          <a:off x="5689599" y="5474493"/>
          <a:ext cx="3671887" cy="503238"/>
        </p:xfrm>
        <a:graphic>
          <a:graphicData uri="http://schemas.openxmlformats.org/presentationml/2006/ole">
            <mc:AlternateContent xmlns:mc="http://schemas.openxmlformats.org/markup-compatibility/2006">
              <mc:Choice xmlns:v="urn:schemas-microsoft-com:vml" Requires="v">
                <p:oleObj name="Equation" r:id="rId6" imgW="1930320" imgH="228600" progId="Equation.DSMT4">
                  <p:embed/>
                </p:oleObj>
              </mc:Choice>
              <mc:Fallback>
                <p:oleObj name="Equation" r:id="rId6" imgW="1930320" imgH="228600" progId="Equation.DSMT4">
                  <p:embed/>
                  <p:pic>
                    <p:nvPicPr>
                      <p:cNvPr id="4403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599" y="5474493"/>
                        <a:ext cx="36718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684814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3" name="日期占位符 6"/>
          <p:cNvSpPr>
            <a:spLocks noGrp="1"/>
          </p:cNvSpPr>
          <p:nvPr>
            <p:ph type="dt" sz="half" idx="10"/>
          </p:nvPr>
        </p:nvSpPr>
        <p:spPr>
          <a:noFill/>
        </p:spPr>
        <p:txBody>
          <a:bodyPr/>
          <a:lstStyle/>
          <a:p>
            <a:endParaRPr lang="en-US" altLang="zh-CN"/>
          </a:p>
        </p:txBody>
      </p:sp>
      <p:sp>
        <p:nvSpPr>
          <p:cNvPr id="45060" name="Rectangle 2"/>
          <p:cNvSpPr>
            <a:spLocks noGrp="1" noChangeArrowheads="1"/>
          </p:cNvSpPr>
          <p:nvPr>
            <p:ph type="title"/>
          </p:nvPr>
        </p:nvSpPr>
        <p:spPr>
          <a:xfrm>
            <a:off x="2019300" y="675342"/>
            <a:ext cx="4724400" cy="662782"/>
          </a:xfrm>
        </p:spPr>
        <p:txBody>
          <a:bodyPr/>
          <a:lstStyle/>
          <a:p>
            <a:pPr eaLnBrk="1" hangingPunct="1"/>
            <a:r>
              <a:rPr lang="zh-CN" altLang="en-US" dirty="0"/>
              <a:t>偏回归系数</a:t>
            </a:r>
          </a:p>
        </p:txBody>
      </p:sp>
      <p:sp>
        <p:nvSpPr>
          <p:cNvPr id="45061" name="Rectangle 3"/>
          <p:cNvSpPr>
            <a:spLocks noGrp="1" noChangeArrowheads="1"/>
          </p:cNvSpPr>
          <p:nvPr>
            <p:ph idx="1"/>
          </p:nvPr>
        </p:nvSpPr>
        <p:spPr>
          <a:xfrm>
            <a:off x="1524001" y="1828801"/>
            <a:ext cx="9359899" cy="2810256"/>
          </a:xfrm>
        </p:spPr>
        <p:txBody>
          <a:bodyPr/>
          <a:lstStyle/>
          <a:p>
            <a:pPr marL="0" indent="0" eaLnBrk="1" hangingPunct="1">
              <a:lnSpc>
                <a:spcPct val="150000"/>
              </a:lnSpc>
              <a:spcBef>
                <a:spcPct val="35000"/>
              </a:spcBef>
              <a:buNone/>
            </a:pPr>
            <a:r>
              <a:rPr lang="zh-CN" altLang="en-US" dirty="0"/>
              <a:t>    回归系数                      表示当控制其它自变量不变的条件下，第</a:t>
            </a:r>
            <a:r>
              <a:rPr lang="en-US" altLang="zh-CN" dirty="0"/>
              <a:t>j</a:t>
            </a:r>
            <a:r>
              <a:rPr lang="zh-CN" altLang="en-US" dirty="0"/>
              <a:t>个自变量的单位变动对因变量均值的影响，这样的回归系数称为</a:t>
            </a:r>
            <a:r>
              <a:rPr lang="zh-CN" altLang="en-US" dirty="0">
                <a:solidFill>
                  <a:srgbClr val="CC0099"/>
                </a:solidFill>
              </a:rPr>
              <a:t>偏回归系数</a:t>
            </a:r>
            <a:r>
              <a:rPr lang="zh-CN" altLang="en-US" dirty="0"/>
              <a:t>。</a:t>
            </a:r>
          </a:p>
        </p:txBody>
      </p:sp>
      <p:sp>
        <p:nvSpPr>
          <p:cNvPr id="45059" name="灯片编号占位符 5"/>
          <p:cNvSpPr>
            <a:spLocks noGrp="1"/>
          </p:cNvSpPr>
          <p:nvPr>
            <p:ph type="sldNum" sz="quarter" idx="4"/>
          </p:nvPr>
        </p:nvSpPr>
        <p:spPr>
          <a:noFill/>
        </p:spPr>
        <p:txBody>
          <a:bodyPr/>
          <a:lstStyle/>
          <a:p>
            <a:r>
              <a:rPr lang="en-US" altLang="zh-CN"/>
              <a:t>9--</a:t>
            </a:r>
            <a:fld id="{F9C61F46-D18F-451F-A580-6D1484928179}" type="slidenum">
              <a:rPr lang="en-US" altLang="zh-CN" smtClean="0"/>
              <a:pPr/>
              <a:t>85</a:t>
            </a:fld>
            <a:endParaRPr lang="en-US" altLang="zh-CN"/>
          </a:p>
        </p:txBody>
      </p:sp>
      <p:sp>
        <p:nvSpPr>
          <p:cNvPr id="45062"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5058" name="Object 4"/>
          <p:cNvGraphicFramePr>
            <a:graphicFrameLocks noChangeAspect="1"/>
          </p:cNvGraphicFramePr>
          <p:nvPr>
            <p:extLst>
              <p:ext uri="{D42A27DB-BD31-4B8C-83A1-F6EECF244321}">
                <p14:modId xmlns:p14="http://schemas.microsoft.com/office/powerpoint/2010/main" val="2683438371"/>
              </p:ext>
            </p:extLst>
          </p:nvPr>
        </p:nvGraphicFramePr>
        <p:xfrm>
          <a:off x="3754437" y="1958975"/>
          <a:ext cx="2449513" cy="566738"/>
        </p:xfrm>
        <a:graphic>
          <a:graphicData uri="http://schemas.openxmlformats.org/presentationml/2006/ole">
            <mc:AlternateContent xmlns:mc="http://schemas.openxmlformats.org/markup-compatibility/2006">
              <mc:Choice xmlns:v="urn:schemas-microsoft-com:vml" Requires="v">
                <p:oleObj name="Equation" r:id="rId2" imgW="1028254" imgH="241195" progId="Equation.DSMT4">
                  <p:embed/>
                </p:oleObj>
              </mc:Choice>
              <mc:Fallback>
                <p:oleObj name="Equation" r:id="rId2" imgW="1028254" imgH="241195" progId="Equation.DSMT4">
                  <p:embed/>
                  <p:pic>
                    <p:nvPicPr>
                      <p:cNvPr id="4505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437" y="1958975"/>
                        <a:ext cx="2449513" cy="566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168286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9" name="日期占位符 18"/>
          <p:cNvSpPr>
            <a:spLocks noGrp="1"/>
          </p:cNvSpPr>
          <p:nvPr>
            <p:ph type="dt" sz="half" idx="10"/>
          </p:nvPr>
        </p:nvSpPr>
        <p:spPr>
          <a:noFill/>
        </p:spPr>
        <p:txBody>
          <a:bodyPr/>
          <a:lstStyle/>
          <a:p>
            <a:endParaRPr lang="en-US" altLang="zh-CN"/>
          </a:p>
        </p:txBody>
      </p:sp>
      <p:sp>
        <p:nvSpPr>
          <p:cNvPr id="46090" name="Rectangle 2"/>
          <p:cNvSpPr>
            <a:spLocks noGrp="1" noChangeArrowheads="1"/>
          </p:cNvSpPr>
          <p:nvPr>
            <p:ph type="title"/>
          </p:nvPr>
        </p:nvSpPr>
        <p:spPr>
          <a:xfrm>
            <a:off x="1343026" y="645636"/>
            <a:ext cx="9324974" cy="662782"/>
          </a:xfrm>
        </p:spPr>
        <p:txBody>
          <a:bodyPr/>
          <a:lstStyle/>
          <a:p>
            <a:pPr eaLnBrk="1" hangingPunct="1"/>
            <a:r>
              <a:rPr lang="en-US" altLang="zh-CN" sz="3600" dirty="0"/>
              <a:t>2.</a:t>
            </a:r>
            <a:r>
              <a:rPr lang="zh-CN" altLang="en-US" sz="3600" dirty="0"/>
              <a:t>多元线性回归模型的矩阵表示</a:t>
            </a:r>
          </a:p>
        </p:txBody>
      </p:sp>
      <p:sp>
        <p:nvSpPr>
          <p:cNvPr id="46091" name="Rectangle 3"/>
          <p:cNvSpPr>
            <a:spLocks noGrp="1" noChangeArrowheads="1"/>
          </p:cNvSpPr>
          <p:nvPr>
            <p:ph idx="1"/>
          </p:nvPr>
        </p:nvSpPr>
        <p:spPr>
          <a:xfrm>
            <a:off x="1524001" y="1485900"/>
            <a:ext cx="10134599" cy="4647961"/>
          </a:xfrm>
        </p:spPr>
        <p:txBody>
          <a:bodyPr>
            <a:normAutofit/>
          </a:bodyPr>
          <a:lstStyle/>
          <a:p>
            <a:pPr marL="533400" indent="0" eaLnBrk="1" hangingPunct="1">
              <a:lnSpc>
                <a:spcPct val="120000"/>
              </a:lnSpc>
            </a:pPr>
            <a:r>
              <a:rPr lang="zh-CN" altLang="en-US" dirty="0"/>
              <a:t> 多元</a:t>
            </a:r>
            <a:r>
              <a:rPr lang="zh-CN" altLang="en-US" dirty="0">
                <a:solidFill>
                  <a:srgbClr val="CC0099"/>
                </a:solidFill>
              </a:rPr>
              <a:t>总体</a:t>
            </a:r>
            <a:r>
              <a:rPr lang="zh-CN" altLang="en-US" dirty="0"/>
              <a:t>线性回归模型可用矩阵表示为：                                      </a:t>
            </a:r>
            <a:endParaRPr lang="en-US" altLang="zh-CN" dirty="0"/>
          </a:p>
          <a:p>
            <a:pPr marL="533400" indent="0" eaLnBrk="1" hangingPunct="1">
              <a:lnSpc>
                <a:spcPct val="120000"/>
              </a:lnSpc>
              <a:buNone/>
            </a:pPr>
            <a:r>
              <a:rPr lang="en-US" altLang="zh-CN" dirty="0"/>
              <a:t>                Y=X</a:t>
            </a:r>
            <a:r>
              <a:rPr lang="en-US" altLang="zh-CN" i="1" dirty="0"/>
              <a:t>β</a:t>
            </a:r>
            <a:r>
              <a:rPr lang="en-US" altLang="zh-CN" dirty="0"/>
              <a:t>+E </a:t>
            </a:r>
          </a:p>
        </p:txBody>
      </p:sp>
      <p:sp>
        <p:nvSpPr>
          <p:cNvPr id="46089" name="灯片编号占位符 5"/>
          <p:cNvSpPr>
            <a:spLocks noGrp="1"/>
          </p:cNvSpPr>
          <p:nvPr>
            <p:ph type="sldNum" sz="quarter" idx="4"/>
          </p:nvPr>
        </p:nvSpPr>
        <p:spPr>
          <a:noFill/>
        </p:spPr>
        <p:txBody>
          <a:bodyPr/>
          <a:lstStyle/>
          <a:p>
            <a:r>
              <a:rPr lang="en-US" altLang="zh-CN"/>
              <a:t>9--</a:t>
            </a:r>
            <a:fld id="{2B08E696-55B6-4281-BBAD-1FE58CBBE03F}" type="slidenum">
              <a:rPr lang="en-US" altLang="zh-CN" smtClean="0"/>
              <a:pPr/>
              <a:t>86</a:t>
            </a:fld>
            <a:endParaRPr lang="en-US" altLang="zh-CN"/>
          </a:p>
        </p:txBody>
      </p:sp>
      <p:sp>
        <p:nvSpPr>
          <p:cNvPr id="46092" name="Rectangle 4"/>
          <p:cNvSpPr>
            <a:spLocks noChangeArrowheads="1"/>
          </p:cNvSpPr>
          <p:nvPr/>
        </p:nvSpPr>
        <p:spPr bwMode="auto">
          <a:xfrm>
            <a:off x="1774826" y="3042167"/>
            <a:ext cx="7993063" cy="1584325"/>
          </a:xfrm>
          <a:prstGeom prst="rect">
            <a:avLst/>
          </a:prstGeom>
          <a:noFill/>
          <a:ln w="9525">
            <a:noFill/>
            <a:miter lim="800000"/>
            <a:headEnd/>
            <a:tailEnd/>
          </a:ln>
        </p:spPr>
        <p:txBody>
          <a:bodyPr/>
          <a:lstStyle/>
          <a:p>
            <a:pPr marL="12700" indent="-12700" algn="ctr">
              <a:lnSpc>
                <a:spcPct val="120000"/>
              </a:lnSpc>
              <a:spcBef>
                <a:spcPct val="20000"/>
              </a:spcBef>
              <a:buSzPct val="90000"/>
              <a:buFont typeface="Wingdings" panose="05000000000000000000" pitchFamily="2" charset="2"/>
              <a:buChar char="n"/>
            </a:pPr>
            <a:r>
              <a:rPr lang="zh-CN" altLang="en-US" sz="3200" dirty="0">
                <a:solidFill>
                  <a:srgbClr val="2F5597"/>
                </a:solidFill>
                <a:latin typeface="微软雅黑" panose="020B0503020204020204" pitchFamily="34" charset="-122"/>
                <a:ea typeface="微软雅黑" panose="020B0503020204020204" pitchFamily="34" charset="-122"/>
              </a:rPr>
              <a:t>多元线性</a:t>
            </a:r>
            <a:r>
              <a:rPr lang="zh-CN" altLang="en-US" sz="3200" dirty="0">
                <a:solidFill>
                  <a:srgbClr val="C00000"/>
                </a:solidFill>
                <a:latin typeface="微软雅黑" panose="020B0503020204020204" pitchFamily="34" charset="-122"/>
                <a:ea typeface="微软雅黑" panose="020B0503020204020204" pitchFamily="34" charset="-122"/>
              </a:rPr>
              <a:t>样本</a:t>
            </a:r>
            <a:r>
              <a:rPr lang="zh-CN" altLang="en-US" sz="3200" dirty="0">
                <a:solidFill>
                  <a:srgbClr val="2F5597"/>
                </a:solidFill>
                <a:latin typeface="微软雅黑" panose="020B0503020204020204" pitchFamily="34" charset="-122"/>
                <a:ea typeface="微软雅黑" panose="020B0503020204020204" pitchFamily="34" charset="-122"/>
              </a:rPr>
              <a:t>回归函数可用矩阵表示为：      </a:t>
            </a:r>
            <a:r>
              <a:rPr lang="en-US" altLang="zh-CN" sz="3600" b="1" dirty="0">
                <a:solidFill>
                  <a:srgbClr val="C56B9E"/>
                </a:solidFill>
                <a:latin typeface="Tahoma" pitchFamily="34" charset="0"/>
              </a:rPr>
              <a:t>Y=X   +e</a:t>
            </a:r>
          </a:p>
        </p:txBody>
      </p:sp>
      <p:sp>
        <p:nvSpPr>
          <p:cNvPr id="46093" name="Rectangle 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2" name="Object 5"/>
          <p:cNvGraphicFramePr>
            <a:graphicFrameLocks noChangeAspect="1"/>
          </p:cNvGraphicFramePr>
          <p:nvPr>
            <p:extLst>
              <p:ext uri="{D42A27DB-BD31-4B8C-83A1-F6EECF244321}">
                <p14:modId xmlns:p14="http://schemas.microsoft.com/office/powerpoint/2010/main" val="4143692169"/>
              </p:ext>
            </p:extLst>
          </p:nvPr>
        </p:nvGraphicFramePr>
        <p:xfrm>
          <a:off x="5765801" y="3615256"/>
          <a:ext cx="474662" cy="742950"/>
        </p:xfrm>
        <a:graphic>
          <a:graphicData uri="http://schemas.openxmlformats.org/presentationml/2006/ole">
            <mc:AlternateContent xmlns:mc="http://schemas.openxmlformats.org/markup-compatibility/2006">
              <mc:Choice xmlns:v="urn:schemas-microsoft-com:vml" Requires="v">
                <p:oleObj name="Equation" r:id="rId2" imgW="152280" imgH="241200" progId="Equation.DSMT4">
                  <p:embed/>
                </p:oleObj>
              </mc:Choice>
              <mc:Fallback>
                <p:oleObj name="Equation" r:id="rId2" imgW="152280" imgH="241200" progId="Equation.DSMT4">
                  <p:embed/>
                  <p:pic>
                    <p:nvPicPr>
                      <p:cNvPr id="4608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5801" y="3615256"/>
                        <a:ext cx="47466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4" name="Rectangle 8"/>
          <p:cNvSpPr>
            <a:spLocks noChangeArrowheads="1"/>
          </p:cNvSpPr>
          <p:nvPr/>
        </p:nvSpPr>
        <p:spPr bwMode="auto">
          <a:xfrm>
            <a:off x="1524001" y="27728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3" name="Object 7"/>
          <p:cNvGraphicFramePr>
            <a:graphicFrameLocks noChangeAspect="1"/>
          </p:cNvGraphicFramePr>
          <p:nvPr>
            <p:extLst>
              <p:ext uri="{D42A27DB-BD31-4B8C-83A1-F6EECF244321}">
                <p14:modId xmlns:p14="http://schemas.microsoft.com/office/powerpoint/2010/main" val="2616689397"/>
              </p:ext>
            </p:extLst>
          </p:nvPr>
        </p:nvGraphicFramePr>
        <p:xfrm>
          <a:off x="1520825" y="4405831"/>
          <a:ext cx="925513" cy="1808162"/>
        </p:xfrm>
        <a:graphic>
          <a:graphicData uri="http://schemas.openxmlformats.org/presentationml/2006/ole">
            <mc:AlternateContent xmlns:mc="http://schemas.openxmlformats.org/markup-compatibility/2006">
              <mc:Choice xmlns:v="urn:schemas-microsoft-com:vml" Requires="v">
                <p:oleObj name="Equation" r:id="rId4" imgW="558720" imgH="939600" progId="Equation.DSMT4">
                  <p:embed/>
                </p:oleObj>
              </mc:Choice>
              <mc:Fallback>
                <p:oleObj name="Equation" r:id="rId4" imgW="558720" imgH="939600" progId="Equation.DSMT4">
                  <p:embed/>
                  <p:pic>
                    <p:nvPicPr>
                      <p:cNvPr id="4608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0825" y="4405831"/>
                        <a:ext cx="925513" cy="180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5" name="Rectangle 10"/>
          <p:cNvSpPr>
            <a:spLocks noChangeArrowheads="1"/>
          </p:cNvSpPr>
          <p:nvPr/>
        </p:nvSpPr>
        <p:spPr bwMode="auto">
          <a:xfrm>
            <a:off x="1524001" y="27728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4" name="Object 9"/>
          <p:cNvGraphicFramePr>
            <a:graphicFrameLocks noChangeAspect="1"/>
          </p:cNvGraphicFramePr>
          <p:nvPr>
            <p:extLst>
              <p:ext uri="{D42A27DB-BD31-4B8C-83A1-F6EECF244321}">
                <p14:modId xmlns:p14="http://schemas.microsoft.com/office/powerpoint/2010/main" val="1081328941"/>
              </p:ext>
            </p:extLst>
          </p:nvPr>
        </p:nvGraphicFramePr>
        <p:xfrm>
          <a:off x="2682081" y="4440480"/>
          <a:ext cx="2720975" cy="1787525"/>
        </p:xfrm>
        <a:graphic>
          <a:graphicData uri="http://schemas.openxmlformats.org/presentationml/2006/ole">
            <mc:AlternateContent xmlns:mc="http://schemas.openxmlformats.org/markup-compatibility/2006">
              <mc:Choice xmlns:v="urn:schemas-microsoft-com:vml" Requires="v">
                <p:oleObj name="Equation" r:id="rId6" imgW="1981080" imgH="939600" progId="Equation.DSMT4">
                  <p:embed/>
                </p:oleObj>
              </mc:Choice>
              <mc:Fallback>
                <p:oleObj name="Equation" r:id="rId6" imgW="1981080" imgH="939600" progId="Equation.DSMT4">
                  <p:embed/>
                  <p:pic>
                    <p:nvPicPr>
                      <p:cNvPr id="46084"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2081" y="4440480"/>
                        <a:ext cx="2720975" cy="178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6" name="Rectangle 12"/>
          <p:cNvSpPr>
            <a:spLocks noChangeArrowheads="1"/>
          </p:cNvSpPr>
          <p:nvPr/>
        </p:nvSpPr>
        <p:spPr bwMode="auto">
          <a:xfrm>
            <a:off x="1524001" y="27728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5" name="Object 11"/>
          <p:cNvGraphicFramePr>
            <a:graphicFrameLocks noChangeAspect="1"/>
          </p:cNvGraphicFramePr>
          <p:nvPr>
            <p:extLst>
              <p:ext uri="{D42A27DB-BD31-4B8C-83A1-F6EECF244321}">
                <p14:modId xmlns:p14="http://schemas.microsoft.com/office/powerpoint/2010/main" val="5744669"/>
              </p:ext>
            </p:extLst>
          </p:nvPr>
        </p:nvGraphicFramePr>
        <p:xfrm>
          <a:off x="5648564" y="4440480"/>
          <a:ext cx="1152525" cy="1806575"/>
        </p:xfrm>
        <a:graphic>
          <a:graphicData uri="http://schemas.openxmlformats.org/presentationml/2006/ole">
            <mc:AlternateContent xmlns:mc="http://schemas.openxmlformats.org/markup-compatibility/2006">
              <mc:Choice xmlns:v="urn:schemas-microsoft-com:vml" Requires="v">
                <p:oleObj name="Equation" r:id="rId8" imgW="596880" imgH="939600" progId="Equation.DSMT4">
                  <p:embed/>
                </p:oleObj>
              </mc:Choice>
              <mc:Fallback>
                <p:oleObj name="Equation" r:id="rId8" imgW="596880" imgH="939600" progId="Equation.DSMT4">
                  <p:embed/>
                  <p:pic>
                    <p:nvPicPr>
                      <p:cNvPr id="46085"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8564" y="4440480"/>
                        <a:ext cx="1152525"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7" name="Rectangle 14"/>
          <p:cNvSpPr>
            <a:spLocks noChangeArrowheads="1"/>
          </p:cNvSpPr>
          <p:nvPr/>
        </p:nvSpPr>
        <p:spPr bwMode="auto">
          <a:xfrm>
            <a:off x="1524001" y="27728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6" name="Object 13"/>
          <p:cNvGraphicFramePr>
            <a:graphicFrameLocks noChangeAspect="1"/>
          </p:cNvGraphicFramePr>
          <p:nvPr>
            <p:extLst>
              <p:ext uri="{D42A27DB-BD31-4B8C-83A1-F6EECF244321}">
                <p14:modId xmlns:p14="http://schemas.microsoft.com/office/powerpoint/2010/main" val="646954089"/>
              </p:ext>
            </p:extLst>
          </p:nvPr>
        </p:nvGraphicFramePr>
        <p:xfrm>
          <a:off x="6948486" y="4392338"/>
          <a:ext cx="920750" cy="1808162"/>
        </p:xfrm>
        <a:graphic>
          <a:graphicData uri="http://schemas.openxmlformats.org/presentationml/2006/ole">
            <mc:AlternateContent xmlns:mc="http://schemas.openxmlformats.org/markup-compatibility/2006">
              <mc:Choice xmlns:v="urn:schemas-microsoft-com:vml" Requires="v">
                <p:oleObj name="Equation" r:id="rId10" imgW="558720" imgH="939600" progId="Equation.DSMT4">
                  <p:embed/>
                </p:oleObj>
              </mc:Choice>
              <mc:Fallback>
                <p:oleObj name="Equation" r:id="rId10" imgW="558720" imgH="939600" progId="Equation.DSMT4">
                  <p:embed/>
                  <p:pic>
                    <p:nvPicPr>
                      <p:cNvPr id="46086"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8486" y="4392338"/>
                        <a:ext cx="920750" cy="180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8" name="Rectangle 16"/>
          <p:cNvSpPr>
            <a:spLocks noChangeArrowheads="1"/>
          </p:cNvSpPr>
          <p:nvPr/>
        </p:nvSpPr>
        <p:spPr bwMode="auto">
          <a:xfrm>
            <a:off x="1524001" y="27633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6087" name="Object 15"/>
          <p:cNvGraphicFramePr>
            <a:graphicFrameLocks noChangeAspect="1"/>
          </p:cNvGraphicFramePr>
          <p:nvPr>
            <p:extLst>
              <p:ext uri="{D42A27DB-BD31-4B8C-83A1-F6EECF244321}">
                <p14:modId xmlns:p14="http://schemas.microsoft.com/office/powerpoint/2010/main" val="965859951"/>
              </p:ext>
            </p:extLst>
          </p:nvPr>
        </p:nvGraphicFramePr>
        <p:xfrm>
          <a:off x="8073232" y="4317761"/>
          <a:ext cx="1105060" cy="1816100"/>
        </p:xfrm>
        <a:graphic>
          <a:graphicData uri="http://schemas.openxmlformats.org/presentationml/2006/ole">
            <mc:AlternateContent xmlns:mc="http://schemas.openxmlformats.org/markup-compatibility/2006">
              <mc:Choice xmlns:v="urn:schemas-microsoft-com:vml" Requires="v">
                <p:oleObj name="Equation" r:id="rId12" imgW="596880" imgH="1041120" progId="Equation.DSMT4">
                  <p:embed/>
                </p:oleObj>
              </mc:Choice>
              <mc:Fallback>
                <p:oleObj name="Equation" r:id="rId12" imgW="596880" imgH="1041120" progId="Equation.DSMT4">
                  <p:embed/>
                  <p:pic>
                    <p:nvPicPr>
                      <p:cNvPr id="46087"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3232" y="4317761"/>
                        <a:ext cx="1105060" cy="1816100"/>
                      </a:xfrm>
                      <a:prstGeom prst="rect">
                        <a:avLst/>
                      </a:prstGeom>
                      <a:noFill/>
                    </p:spPr>
                  </p:pic>
                </p:oleObj>
              </mc:Fallback>
            </mc:AlternateContent>
          </a:graphicData>
        </a:graphic>
      </p:graphicFrame>
      <p:graphicFrame>
        <p:nvGraphicFramePr>
          <p:cNvPr id="46088" name="Object 17"/>
          <p:cNvGraphicFramePr>
            <a:graphicFrameLocks noChangeAspect="1"/>
          </p:cNvGraphicFramePr>
          <p:nvPr>
            <p:extLst>
              <p:ext uri="{D42A27DB-BD31-4B8C-83A1-F6EECF244321}">
                <p14:modId xmlns:p14="http://schemas.microsoft.com/office/powerpoint/2010/main" val="1256973969"/>
              </p:ext>
            </p:extLst>
          </p:nvPr>
        </p:nvGraphicFramePr>
        <p:xfrm>
          <a:off x="9324277" y="4284840"/>
          <a:ext cx="966787" cy="1735137"/>
        </p:xfrm>
        <a:graphic>
          <a:graphicData uri="http://schemas.openxmlformats.org/presentationml/2006/ole">
            <mc:AlternateContent xmlns:mc="http://schemas.openxmlformats.org/markup-compatibility/2006">
              <mc:Choice xmlns:v="urn:schemas-microsoft-com:vml" Requires="v">
                <p:oleObj name="Equation" r:id="rId14" imgW="533160" imgH="939600" progId="Equation.DSMT4">
                  <p:embed/>
                </p:oleObj>
              </mc:Choice>
              <mc:Fallback>
                <p:oleObj name="Equation" r:id="rId14" imgW="533160" imgH="939600" progId="Equation.DSMT4">
                  <p:embed/>
                  <p:pic>
                    <p:nvPicPr>
                      <p:cNvPr id="46088"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24277" y="4284840"/>
                        <a:ext cx="966787" cy="173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476911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5" name="日期占位符 4"/>
          <p:cNvSpPr>
            <a:spLocks noGrp="1"/>
          </p:cNvSpPr>
          <p:nvPr>
            <p:ph type="dt" sz="half" idx="10"/>
          </p:nvPr>
        </p:nvSpPr>
        <p:spPr>
          <a:noFill/>
        </p:spPr>
        <p:txBody>
          <a:bodyPr/>
          <a:lstStyle/>
          <a:p>
            <a:endParaRPr lang="en-US" altLang="zh-CN"/>
          </a:p>
        </p:txBody>
      </p:sp>
      <p:sp>
        <p:nvSpPr>
          <p:cNvPr id="102403" name="Rectangle 2"/>
          <p:cNvSpPr>
            <a:spLocks noGrp="1" noChangeArrowheads="1"/>
          </p:cNvSpPr>
          <p:nvPr>
            <p:ph type="title"/>
          </p:nvPr>
        </p:nvSpPr>
        <p:spPr>
          <a:xfrm>
            <a:off x="2159000" y="902175"/>
            <a:ext cx="6731000" cy="662782"/>
          </a:xfrm>
        </p:spPr>
        <p:txBody>
          <a:bodyPr/>
          <a:lstStyle/>
          <a:p>
            <a:pPr eaLnBrk="1" hangingPunct="1"/>
            <a:r>
              <a:rPr lang="en-US" altLang="zh-CN" dirty="0"/>
              <a:t>3.</a:t>
            </a:r>
            <a:r>
              <a:rPr lang="zh-CN" altLang="en-US" dirty="0"/>
              <a:t>多元回归模型的假定</a:t>
            </a:r>
          </a:p>
        </p:txBody>
      </p:sp>
      <p:sp>
        <p:nvSpPr>
          <p:cNvPr id="102404" name="Rectangle 3"/>
          <p:cNvSpPr>
            <a:spLocks noGrp="1" noChangeArrowheads="1"/>
          </p:cNvSpPr>
          <p:nvPr>
            <p:ph idx="1"/>
          </p:nvPr>
        </p:nvSpPr>
        <p:spPr>
          <a:xfrm>
            <a:off x="1955799" y="1930082"/>
            <a:ext cx="7772401" cy="4381261"/>
          </a:xfrm>
        </p:spPr>
        <p:txBody>
          <a:bodyPr/>
          <a:lstStyle/>
          <a:p>
            <a:pPr marL="0" indent="719138" eaLnBrk="1" hangingPunct="1">
              <a:lnSpc>
                <a:spcPct val="150000"/>
              </a:lnSpc>
              <a:spcBef>
                <a:spcPct val="30000"/>
              </a:spcBef>
              <a:buFontTx/>
              <a:buNone/>
            </a:pPr>
            <a:r>
              <a:rPr lang="zh-CN" altLang="en-US" dirty="0"/>
              <a:t>除了简单线性回归中的零均值、同方差、无自相关、随机扰动项与自变量不相关以及正态性假定以外，还要增加</a:t>
            </a:r>
            <a:r>
              <a:rPr lang="en-US" altLang="zh-CN" dirty="0"/>
              <a:t>:</a:t>
            </a:r>
          </a:p>
          <a:p>
            <a:pPr lvl="1" indent="0" eaLnBrk="1" hangingPunct="1">
              <a:lnSpc>
                <a:spcPct val="150000"/>
              </a:lnSpc>
              <a:spcBef>
                <a:spcPct val="30000"/>
              </a:spcBef>
              <a:buNone/>
            </a:pPr>
            <a:r>
              <a:rPr lang="zh-CN" altLang="en-US" sz="3200" dirty="0">
                <a:solidFill>
                  <a:srgbClr val="0000FF"/>
                </a:solidFill>
              </a:rPr>
              <a:t>   各自变量之间不存在线性关系的假定</a:t>
            </a:r>
          </a:p>
        </p:txBody>
      </p:sp>
      <p:sp>
        <p:nvSpPr>
          <p:cNvPr id="102402" name="灯片编号占位符 5"/>
          <p:cNvSpPr>
            <a:spLocks noGrp="1"/>
          </p:cNvSpPr>
          <p:nvPr>
            <p:ph type="sldNum" sz="quarter" idx="4"/>
          </p:nvPr>
        </p:nvSpPr>
        <p:spPr>
          <a:noFill/>
        </p:spPr>
        <p:txBody>
          <a:bodyPr/>
          <a:lstStyle/>
          <a:p>
            <a:r>
              <a:rPr lang="en-US" altLang="zh-CN"/>
              <a:t>9--</a:t>
            </a:r>
            <a:fld id="{593DC6DF-CE26-4E59-AA7C-3891590B6801}" type="slidenum">
              <a:rPr lang="en-US" altLang="zh-CN" smtClean="0"/>
              <a:pPr/>
              <a:t>87</a:t>
            </a:fld>
            <a:endParaRPr lang="en-US" altLang="zh-CN"/>
          </a:p>
        </p:txBody>
      </p:sp>
    </p:spTree>
    <p:extLst>
      <p:ext uri="{BB962C8B-B14F-4D97-AF65-F5344CB8AC3E}">
        <p14:creationId xmlns:p14="http://schemas.microsoft.com/office/powerpoint/2010/main" val="30031401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42" name="日期占位符 6"/>
          <p:cNvSpPr>
            <a:spLocks noGrp="1"/>
          </p:cNvSpPr>
          <p:nvPr>
            <p:ph type="dt" sz="half" idx="10"/>
          </p:nvPr>
        </p:nvSpPr>
        <p:spPr>
          <a:noFill/>
        </p:spPr>
        <p:txBody>
          <a:bodyPr/>
          <a:lstStyle/>
          <a:p>
            <a:endParaRPr lang="en-US" altLang="zh-CN" dirty="0"/>
          </a:p>
        </p:txBody>
      </p:sp>
      <p:sp>
        <p:nvSpPr>
          <p:cNvPr id="47108" name="Rectangle 2"/>
          <p:cNvSpPr>
            <a:spLocks noGrp="1" noChangeArrowheads="1"/>
          </p:cNvSpPr>
          <p:nvPr>
            <p:ph type="title"/>
          </p:nvPr>
        </p:nvSpPr>
        <p:spPr>
          <a:xfrm>
            <a:off x="1943100" y="680423"/>
            <a:ext cx="8329364" cy="662782"/>
          </a:xfrm>
        </p:spPr>
        <p:txBody>
          <a:bodyPr/>
          <a:lstStyle/>
          <a:p>
            <a:pPr eaLnBrk="1" hangingPunct="1"/>
            <a:r>
              <a:rPr lang="en-US" altLang="zh-CN" sz="4000" dirty="0"/>
              <a:t>9.4.2 </a:t>
            </a:r>
            <a:r>
              <a:rPr lang="zh-CN" altLang="en-US" sz="4000" dirty="0"/>
              <a:t>多元线性回归模型的估计</a:t>
            </a:r>
          </a:p>
        </p:txBody>
      </p:sp>
      <p:sp>
        <p:nvSpPr>
          <p:cNvPr id="47109" name="Rectangle 3"/>
          <p:cNvSpPr>
            <a:spLocks noGrp="1" noChangeArrowheads="1"/>
          </p:cNvSpPr>
          <p:nvPr>
            <p:ph idx="1"/>
          </p:nvPr>
        </p:nvSpPr>
        <p:spPr>
          <a:xfrm>
            <a:off x="1596232" y="1631500"/>
            <a:ext cx="8995568" cy="1642644"/>
          </a:xfrm>
        </p:spPr>
        <p:txBody>
          <a:bodyPr/>
          <a:lstStyle/>
          <a:p>
            <a:pPr eaLnBrk="1" hangingPunct="1"/>
            <a:r>
              <a:rPr lang="en-US" altLang="zh-CN" b="1" dirty="0"/>
              <a:t>1.</a:t>
            </a:r>
            <a:r>
              <a:rPr lang="zh-CN" altLang="en-US" b="1" dirty="0"/>
              <a:t>参数的最小二乘估计</a:t>
            </a:r>
          </a:p>
          <a:p>
            <a:pPr marL="266700" lvl="1" indent="355600" eaLnBrk="1" hangingPunct="1"/>
            <a:r>
              <a:rPr lang="zh-CN" altLang="en-US" dirty="0"/>
              <a:t>基本原理及</a:t>
            </a:r>
            <a:r>
              <a:rPr lang="en-US" altLang="zh-CN" dirty="0"/>
              <a:t>Excel</a:t>
            </a:r>
            <a:r>
              <a:rPr lang="zh-CN" altLang="en-US" dirty="0"/>
              <a:t>的操作步骤与一元线性回归相同。 </a:t>
            </a:r>
          </a:p>
          <a:p>
            <a:pPr marL="266700" lvl="1" indent="355600"/>
            <a:r>
              <a:rPr lang="en-US" altLang="zh-CN" dirty="0"/>
              <a:t>Excel</a:t>
            </a:r>
            <a:r>
              <a:rPr lang="zh-CN" altLang="en-US" dirty="0"/>
              <a:t>的输出结果：</a:t>
            </a:r>
            <a:r>
              <a:rPr lang="zh-CN" altLang="zh-CN" sz="2400" b="1" dirty="0">
                <a:solidFill>
                  <a:srgbClr val="7030A0"/>
                </a:solidFill>
              </a:rPr>
              <a:t>【例</a:t>
            </a:r>
            <a:r>
              <a:rPr lang="en-US" altLang="zh-CN" sz="2400" b="1" dirty="0">
                <a:solidFill>
                  <a:srgbClr val="7030A0"/>
                </a:solidFill>
              </a:rPr>
              <a:t>9-5</a:t>
            </a:r>
            <a:r>
              <a:rPr lang="zh-CN" altLang="zh-CN" sz="2400" b="1" dirty="0">
                <a:solidFill>
                  <a:srgbClr val="7030A0"/>
                </a:solidFill>
              </a:rPr>
              <a:t>】</a:t>
            </a:r>
            <a:r>
              <a:rPr lang="zh-CN" altLang="en-US" sz="2400" b="1" dirty="0">
                <a:solidFill>
                  <a:srgbClr val="7030A0"/>
                </a:solidFill>
              </a:rPr>
              <a:t>的输出结果（图</a:t>
            </a:r>
            <a:r>
              <a:rPr lang="en-US" altLang="zh-CN" sz="2400" b="1" dirty="0">
                <a:solidFill>
                  <a:srgbClr val="7030A0"/>
                </a:solidFill>
              </a:rPr>
              <a:t>9-5</a:t>
            </a:r>
            <a:r>
              <a:rPr lang="zh-CN" altLang="en-US" sz="2400" b="1" dirty="0">
                <a:solidFill>
                  <a:srgbClr val="7030A0"/>
                </a:solidFill>
              </a:rPr>
              <a:t>）部分</a:t>
            </a:r>
          </a:p>
        </p:txBody>
      </p:sp>
      <p:sp>
        <p:nvSpPr>
          <p:cNvPr id="47107" name="灯片编号占位符 5"/>
          <p:cNvSpPr>
            <a:spLocks noGrp="1"/>
          </p:cNvSpPr>
          <p:nvPr>
            <p:ph type="sldNum" sz="quarter" idx="4"/>
          </p:nvPr>
        </p:nvSpPr>
        <p:spPr>
          <a:noFill/>
        </p:spPr>
        <p:txBody>
          <a:bodyPr/>
          <a:lstStyle/>
          <a:p>
            <a:r>
              <a:rPr lang="en-US" altLang="zh-CN"/>
              <a:t>9--</a:t>
            </a:r>
            <a:fld id="{DAF885B0-A4A3-4089-83D4-F367D69C01A6}" type="slidenum">
              <a:rPr lang="en-US" altLang="zh-CN" smtClean="0"/>
              <a:pPr/>
              <a:t>88</a:t>
            </a:fld>
            <a:endParaRPr lang="en-US" altLang="zh-CN"/>
          </a:p>
        </p:txBody>
      </p:sp>
      <p:sp>
        <p:nvSpPr>
          <p:cNvPr id="2" name="Rectangle 4"/>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Object 3"/>
          <p:cNvGraphicFramePr>
            <a:graphicFrameLocks noChangeAspect="1"/>
          </p:cNvGraphicFramePr>
          <p:nvPr/>
        </p:nvGraphicFramePr>
        <p:xfrm>
          <a:off x="1524001" y="457200"/>
          <a:ext cx="144463" cy="198438"/>
        </p:xfrm>
        <a:graphic>
          <a:graphicData uri="http://schemas.openxmlformats.org/presentationml/2006/ole">
            <mc:AlternateContent xmlns:mc="http://schemas.openxmlformats.org/markup-compatibility/2006">
              <mc:Choice xmlns:v="urn:schemas-microsoft-com:vml" Requires="v">
                <p:oleObj name="公式" r:id="rId2" imgW="140554" imgH="204442" progId="Equation.3">
                  <p:embed/>
                </p:oleObj>
              </mc:Choice>
              <mc:Fallback>
                <p:oleObj name="公式" r:id="rId2" imgW="140554" imgH="204442" progId="Equation.3">
                  <p:embed/>
                  <p:pic>
                    <p:nvPicPr>
                      <p:cNvPr id="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457200"/>
                        <a:ext cx="144463"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Rectangle 5"/>
              <p:cNvSpPr>
                <a:spLocks noChangeArrowheads="1"/>
              </p:cNvSpPr>
              <p:nvPr/>
            </p:nvSpPr>
            <p:spPr bwMode="auto">
              <a:xfrm>
                <a:off x="2447764" y="5151038"/>
                <a:ext cx="4880135" cy="5347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14:m>
                  <m:oMath xmlns:m="http://schemas.openxmlformats.org/officeDocument/2006/math">
                    <m:acc>
                      <m:accPr>
                        <m:chr m:val="̂"/>
                        <m:ctrlPr>
                          <a:rPr lang="en-US" altLang="zh-CN" sz="2800" i="1" smtClean="0">
                            <a:solidFill>
                              <a:srgbClr val="C00000"/>
                            </a:solidFill>
                            <a:latin typeface="Cambria Math" panose="02040503050406030204" pitchFamily="18" charset="0"/>
                            <a:ea typeface="宋体" pitchFamily="2" charset="-122"/>
                            <a:cs typeface="Times New Roman" pitchFamily="18" charset="0"/>
                          </a:rPr>
                        </m:ctrlPr>
                      </m:accPr>
                      <m:e>
                        <m:r>
                          <a:rPr lang="en-US" altLang="zh-CN" sz="2800" b="0" i="1" smtClean="0">
                            <a:solidFill>
                              <a:srgbClr val="C00000"/>
                            </a:solidFill>
                            <a:latin typeface="Cambria Math" panose="02040503050406030204" pitchFamily="18" charset="0"/>
                            <a:ea typeface="宋体" pitchFamily="2" charset="-122"/>
                            <a:cs typeface="Times New Roman" pitchFamily="18" charset="0"/>
                          </a:rPr>
                          <m:t>𝑌</m:t>
                        </m:r>
                      </m:e>
                    </m:acc>
                  </m:oMath>
                </a14:m>
                <a:r>
                  <a:rPr lang="en-US" altLang="zh-CN" sz="2800" dirty="0">
                    <a:solidFill>
                      <a:srgbClr val="C00000"/>
                    </a:solidFill>
                    <a:latin typeface="Times New Roman" pitchFamily="18" charset="0"/>
                    <a:ea typeface="宋体" pitchFamily="2" charset="-122"/>
                    <a:cs typeface="Times New Roman" pitchFamily="18" charset="0"/>
                  </a:rPr>
                  <a:t>=76.294+0.215X</a:t>
                </a:r>
                <a:r>
                  <a:rPr lang="en-US" altLang="zh-CN" sz="2800" baseline="-30000" dirty="0">
                    <a:solidFill>
                      <a:srgbClr val="C00000"/>
                    </a:solidFill>
                    <a:latin typeface="Times New Roman" pitchFamily="18" charset="0"/>
                    <a:ea typeface="宋体" pitchFamily="2" charset="-122"/>
                    <a:cs typeface="Times New Roman" pitchFamily="18" charset="0"/>
                  </a:rPr>
                  <a:t>1</a:t>
                </a:r>
                <a:r>
                  <a:rPr lang="en-US" altLang="zh-CN" sz="2800" dirty="0">
                    <a:solidFill>
                      <a:srgbClr val="C00000"/>
                    </a:solidFill>
                    <a:latin typeface="Times New Roman" pitchFamily="18" charset="0"/>
                    <a:ea typeface="宋体" pitchFamily="2" charset="-122"/>
                    <a:cs typeface="Times New Roman" pitchFamily="18" charset="0"/>
                  </a:rPr>
                  <a:t>-0.25X</a:t>
                </a:r>
                <a:r>
                  <a:rPr lang="en-US" altLang="zh-CN" sz="2800" baseline="-30000" dirty="0">
                    <a:solidFill>
                      <a:srgbClr val="C00000"/>
                    </a:solidFill>
                    <a:latin typeface="Times New Roman" pitchFamily="18" charset="0"/>
                    <a:ea typeface="宋体" pitchFamily="2" charset="-122"/>
                    <a:cs typeface="Times New Roman" pitchFamily="18" charset="0"/>
                  </a:rPr>
                  <a:t>2</a:t>
                </a:r>
                <a:endParaRPr lang="en-US" altLang="zh-CN" sz="5400" dirty="0">
                  <a:solidFill>
                    <a:srgbClr val="C00000"/>
                  </a:solidFill>
                  <a:latin typeface="Arial" pitchFamily="34" charset="0"/>
                  <a:ea typeface="宋体" pitchFamily="2" charset="-122"/>
                  <a:cs typeface="宋体" pitchFamily="2" charset="-122"/>
                </a:endParaRPr>
              </a:p>
            </p:txBody>
          </p:sp>
        </mc:Choice>
        <mc:Fallback xmlns="">
          <p:sp>
            <p:nvSpPr>
              <p:cNvPr id="4" name="Rectangle 5"/>
              <p:cNvSpPr>
                <a:spLocks noRot="1" noChangeAspect="1" noMove="1" noResize="1" noEditPoints="1" noAdjustHandles="1" noChangeArrowheads="1" noChangeShapeType="1" noTextEdit="1"/>
              </p:cNvSpPr>
              <p:nvPr/>
            </p:nvSpPr>
            <p:spPr bwMode="auto">
              <a:xfrm>
                <a:off x="2447764" y="5151038"/>
                <a:ext cx="4880135" cy="534762"/>
              </a:xfrm>
              <a:prstGeom prst="rect">
                <a:avLst/>
              </a:prstGeom>
              <a:blipFill>
                <a:blip r:embed="rId5"/>
                <a:stretch>
                  <a:fillRect t="-9091" b="-31818"/>
                </a:stretch>
              </a:blipFill>
              <a:ln w="9525">
                <a:noFill/>
                <a:miter lim="800000"/>
                <a:headEnd/>
                <a:tailEnd/>
              </a:ln>
              <a:effectLst/>
            </p:spPr>
            <p:txBody>
              <a:bodyPr/>
              <a:lstStyle/>
              <a:p>
                <a:r>
                  <a:rPr lang="zh-CN" altLang="en-US">
                    <a:noFill/>
                  </a:rPr>
                  <a:t> </a:t>
                </a:r>
              </a:p>
            </p:txBody>
          </p:sp>
        </mc:Fallback>
      </mc:AlternateContent>
      <p:sp>
        <p:nvSpPr>
          <p:cNvPr id="11" name="TextBox 10"/>
          <p:cNvSpPr txBox="1"/>
          <p:nvPr/>
        </p:nvSpPr>
        <p:spPr>
          <a:xfrm>
            <a:off x="6795059" y="5062596"/>
            <a:ext cx="2016224" cy="1015663"/>
          </a:xfrm>
          <a:prstGeom prst="rect">
            <a:avLst/>
          </a:prstGeom>
          <a:noFill/>
        </p:spPr>
        <p:txBody>
          <a:bodyPr wrap="square" rtlCol="0">
            <a:spAutoFit/>
          </a:bodyPr>
          <a:lstStyle/>
          <a:p>
            <a:r>
              <a:rPr lang="en-US" altLang="zh-CN" sz="2000" b="1" dirty="0">
                <a:solidFill>
                  <a:srgbClr val="000000"/>
                </a:solidFill>
              </a:rPr>
              <a:t>Y-</a:t>
            </a:r>
            <a:r>
              <a:rPr lang="zh-CN" altLang="en-US" sz="2000" b="1" dirty="0">
                <a:solidFill>
                  <a:srgbClr val="000000"/>
                </a:solidFill>
              </a:rPr>
              <a:t>平均预期寿命</a:t>
            </a:r>
            <a:endParaRPr lang="en-US" altLang="zh-CN" sz="2000" b="1" dirty="0">
              <a:solidFill>
                <a:srgbClr val="000000"/>
              </a:solidFill>
            </a:endParaRPr>
          </a:p>
          <a:p>
            <a:r>
              <a:rPr lang="en-US" altLang="zh-CN" sz="2000" b="1" dirty="0">
                <a:solidFill>
                  <a:srgbClr val="000000"/>
                </a:solidFill>
              </a:rPr>
              <a:t>X1-</a:t>
            </a:r>
            <a:r>
              <a:rPr lang="zh-CN" altLang="en-US" sz="2000" b="1" dirty="0">
                <a:solidFill>
                  <a:srgbClr val="000000"/>
                </a:solidFill>
              </a:rPr>
              <a:t>人均</a:t>
            </a:r>
            <a:r>
              <a:rPr lang="en-US" altLang="zh-CN" sz="2000" b="1" dirty="0">
                <a:solidFill>
                  <a:srgbClr val="000000"/>
                </a:solidFill>
              </a:rPr>
              <a:t>GDP</a:t>
            </a:r>
          </a:p>
          <a:p>
            <a:r>
              <a:rPr lang="en-US" altLang="zh-CN" sz="2000" b="1" dirty="0">
                <a:solidFill>
                  <a:srgbClr val="000000"/>
                </a:solidFill>
              </a:rPr>
              <a:t>X2-</a:t>
            </a:r>
            <a:r>
              <a:rPr lang="zh-CN" altLang="en-US" sz="2000" b="1" dirty="0">
                <a:solidFill>
                  <a:srgbClr val="000000"/>
                </a:solidFill>
              </a:rPr>
              <a:t>婴儿死亡率</a:t>
            </a:r>
          </a:p>
        </p:txBody>
      </p:sp>
      <p:pic>
        <p:nvPicPr>
          <p:cNvPr id="6" name="图片 5"/>
          <p:cNvPicPr>
            <a:picLocks noChangeAspect="1"/>
          </p:cNvPicPr>
          <p:nvPr/>
        </p:nvPicPr>
        <p:blipFill>
          <a:blip r:embed="rId6"/>
          <a:stretch>
            <a:fillRect/>
          </a:stretch>
        </p:blipFill>
        <p:spPr>
          <a:xfrm>
            <a:off x="1943100" y="3290783"/>
            <a:ext cx="8298868" cy="1538730"/>
          </a:xfrm>
          <a:prstGeom prst="rect">
            <a:avLst/>
          </a:prstGeom>
        </p:spPr>
      </p:pic>
      <p:sp>
        <p:nvSpPr>
          <p:cNvPr id="7" name="矩形 6"/>
          <p:cNvSpPr/>
          <p:nvPr/>
        </p:nvSpPr>
        <p:spPr>
          <a:xfrm>
            <a:off x="3111500" y="3288917"/>
            <a:ext cx="1422400" cy="16132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198697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日期占位符 4"/>
          <p:cNvSpPr>
            <a:spLocks noGrp="1"/>
          </p:cNvSpPr>
          <p:nvPr>
            <p:ph type="dt" sz="half" idx="10"/>
          </p:nvPr>
        </p:nvSpPr>
        <p:spPr>
          <a:noFill/>
        </p:spPr>
        <p:txBody>
          <a:bodyPr/>
          <a:lstStyle/>
          <a:p>
            <a:endParaRPr lang="en-US" altLang="zh-CN"/>
          </a:p>
        </p:txBody>
      </p:sp>
      <p:sp>
        <p:nvSpPr>
          <p:cNvPr id="103427" name="Rectangle 2"/>
          <p:cNvSpPr>
            <a:spLocks noGrp="1" noChangeArrowheads="1"/>
          </p:cNvSpPr>
          <p:nvPr>
            <p:ph type="title"/>
          </p:nvPr>
        </p:nvSpPr>
        <p:spPr>
          <a:xfrm>
            <a:off x="1917699" y="868366"/>
            <a:ext cx="7048500" cy="662782"/>
          </a:xfrm>
        </p:spPr>
        <p:txBody>
          <a:bodyPr/>
          <a:lstStyle/>
          <a:p>
            <a:pPr eaLnBrk="1" hangingPunct="1"/>
            <a:r>
              <a:rPr lang="en-US" altLang="zh-CN" sz="4000" dirty="0"/>
              <a:t>2.</a:t>
            </a:r>
            <a:r>
              <a:rPr lang="zh-CN" altLang="en-US" sz="4000" dirty="0"/>
              <a:t>参数最小二乘估计的性质</a:t>
            </a:r>
          </a:p>
        </p:txBody>
      </p:sp>
      <p:sp>
        <p:nvSpPr>
          <p:cNvPr id="103428" name="Rectangle 3"/>
          <p:cNvSpPr>
            <a:spLocks noGrp="1" noChangeArrowheads="1"/>
          </p:cNvSpPr>
          <p:nvPr>
            <p:ph idx="1"/>
          </p:nvPr>
        </p:nvSpPr>
        <p:spPr>
          <a:xfrm>
            <a:off x="1917699" y="2246037"/>
            <a:ext cx="8420101" cy="3581161"/>
          </a:xfrm>
        </p:spPr>
        <p:txBody>
          <a:bodyPr/>
          <a:lstStyle/>
          <a:p>
            <a:pPr eaLnBrk="1" hangingPunct="1">
              <a:lnSpc>
                <a:spcPct val="120000"/>
              </a:lnSpc>
            </a:pPr>
            <a:r>
              <a:rPr lang="zh-CN" altLang="en-US" dirty="0"/>
              <a:t>类似于简单线性回归，在模型古典假定成立的情况下，可以证明多元线性回归模型参数的最小二乘估计也是因变量观测值的线性组合，并具有无偏性与最小方差性。因此</a:t>
            </a:r>
            <a:r>
              <a:rPr lang="zh-CN" altLang="en-US" dirty="0">
                <a:solidFill>
                  <a:srgbClr val="0000FF"/>
                </a:solidFill>
              </a:rPr>
              <a:t>多元线性回归的最小二乘估计也是最佳线性无偏估计</a:t>
            </a:r>
            <a:r>
              <a:rPr lang="zh-CN" altLang="en-US" dirty="0"/>
              <a:t>。</a:t>
            </a:r>
          </a:p>
        </p:txBody>
      </p:sp>
      <p:sp>
        <p:nvSpPr>
          <p:cNvPr id="103426" name="灯片编号占位符 5"/>
          <p:cNvSpPr>
            <a:spLocks noGrp="1"/>
          </p:cNvSpPr>
          <p:nvPr>
            <p:ph type="sldNum" sz="quarter" idx="4"/>
          </p:nvPr>
        </p:nvSpPr>
        <p:spPr>
          <a:noFill/>
        </p:spPr>
        <p:txBody>
          <a:bodyPr/>
          <a:lstStyle/>
          <a:p>
            <a:r>
              <a:rPr lang="en-US" altLang="zh-CN"/>
              <a:t>9--</a:t>
            </a:r>
            <a:fld id="{147D7A65-A3B8-461E-B055-DA21BF239B76}" type="slidenum">
              <a:rPr lang="en-US" altLang="zh-CN" smtClean="0"/>
              <a:pPr/>
              <a:t>89</a:t>
            </a:fld>
            <a:endParaRPr lang="en-US" altLang="zh-CN"/>
          </a:p>
        </p:txBody>
      </p:sp>
    </p:spTree>
    <p:extLst>
      <p:ext uri="{BB962C8B-B14F-4D97-AF65-F5344CB8AC3E}">
        <p14:creationId xmlns:p14="http://schemas.microsoft.com/office/powerpoint/2010/main" val="36533276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9" name="日期占位符 10"/>
          <p:cNvSpPr>
            <a:spLocks noGrp="1"/>
          </p:cNvSpPr>
          <p:nvPr>
            <p:ph type="dt" sz="half" idx="10"/>
          </p:nvPr>
        </p:nvSpPr>
        <p:spPr>
          <a:noFill/>
        </p:spPr>
        <p:txBody>
          <a:bodyPr/>
          <a:lstStyle/>
          <a:p>
            <a:endParaRPr lang="en-US" altLang="zh-CN"/>
          </a:p>
        </p:txBody>
      </p:sp>
      <p:sp>
        <p:nvSpPr>
          <p:cNvPr id="48134" name="Rectangle 2"/>
          <p:cNvSpPr>
            <a:spLocks noGrp="1" noChangeArrowheads="1"/>
          </p:cNvSpPr>
          <p:nvPr>
            <p:ph type="title"/>
          </p:nvPr>
        </p:nvSpPr>
        <p:spPr>
          <a:xfrm>
            <a:off x="1993900" y="575725"/>
            <a:ext cx="8744532" cy="662782"/>
          </a:xfrm>
        </p:spPr>
        <p:txBody>
          <a:bodyPr/>
          <a:lstStyle/>
          <a:p>
            <a:pPr eaLnBrk="1" hangingPunct="1"/>
            <a:r>
              <a:rPr lang="en-US" altLang="zh-CN" dirty="0"/>
              <a:t>3.</a:t>
            </a:r>
            <a:r>
              <a:rPr lang="zh-CN" altLang="en-US" dirty="0"/>
              <a:t>随机误差项方差的估计</a:t>
            </a:r>
          </a:p>
        </p:txBody>
      </p:sp>
      <p:sp>
        <p:nvSpPr>
          <p:cNvPr id="48135" name="Rectangle 3"/>
          <p:cNvSpPr>
            <a:spLocks noGrp="1" noChangeArrowheads="1"/>
          </p:cNvSpPr>
          <p:nvPr>
            <p:ph idx="1"/>
          </p:nvPr>
        </p:nvSpPr>
        <p:spPr>
          <a:xfrm>
            <a:off x="1993900" y="1652012"/>
            <a:ext cx="9563100" cy="4348997"/>
          </a:xfrm>
        </p:spPr>
        <p:txBody>
          <a:bodyPr/>
          <a:lstStyle/>
          <a:p>
            <a:pPr eaLnBrk="1" hangingPunct="1">
              <a:lnSpc>
                <a:spcPct val="90000"/>
              </a:lnSpc>
            </a:pPr>
            <a:r>
              <a:rPr lang="zh-CN" altLang="en-US" dirty="0"/>
              <a:t>随机扰动项方差        的无偏估计：</a:t>
            </a:r>
          </a:p>
        </p:txBody>
      </p:sp>
      <p:sp>
        <p:nvSpPr>
          <p:cNvPr id="48133" name="灯片编号占位符 5"/>
          <p:cNvSpPr>
            <a:spLocks noGrp="1"/>
          </p:cNvSpPr>
          <p:nvPr>
            <p:ph type="sldNum" sz="quarter" idx="4"/>
          </p:nvPr>
        </p:nvSpPr>
        <p:spPr>
          <a:noFill/>
        </p:spPr>
        <p:txBody>
          <a:bodyPr/>
          <a:lstStyle/>
          <a:p>
            <a:r>
              <a:rPr lang="en-US" altLang="zh-CN"/>
              <a:t>9--</a:t>
            </a:r>
            <a:fld id="{6615A0AE-A555-4CF1-9AE1-8F798411E387}" type="slidenum">
              <a:rPr lang="en-US" altLang="zh-CN" smtClean="0"/>
              <a:pPr/>
              <a:t>90</a:t>
            </a:fld>
            <a:endParaRPr lang="en-US" altLang="zh-CN"/>
          </a:p>
        </p:txBody>
      </p:sp>
      <p:sp>
        <p:nvSpPr>
          <p:cNvPr id="48136"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130" name="Object 4"/>
          <p:cNvGraphicFramePr>
            <a:graphicFrameLocks noChangeAspect="1"/>
          </p:cNvGraphicFramePr>
          <p:nvPr>
            <p:extLst>
              <p:ext uri="{D42A27DB-BD31-4B8C-83A1-F6EECF244321}">
                <p14:modId xmlns:p14="http://schemas.microsoft.com/office/powerpoint/2010/main" val="2585577345"/>
              </p:ext>
            </p:extLst>
          </p:nvPr>
        </p:nvGraphicFramePr>
        <p:xfrm>
          <a:off x="5466556" y="1405196"/>
          <a:ext cx="827088" cy="920750"/>
        </p:xfrm>
        <a:graphic>
          <a:graphicData uri="http://schemas.openxmlformats.org/presentationml/2006/ole">
            <mc:AlternateContent xmlns:mc="http://schemas.openxmlformats.org/markup-compatibility/2006">
              <mc:Choice xmlns:v="urn:schemas-microsoft-com:vml" Requires="v">
                <p:oleObj name="Equation" r:id="rId2" imgW="215713" imgH="203024" progId="Equation.DSMT4">
                  <p:embed/>
                </p:oleObj>
              </mc:Choice>
              <mc:Fallback>
                <p:oleObj name="Equation" r:id="rId2" imgW="215713" imgH="203024" progId="Equation.DSMT4">
                  <p:embed/>
                  <p:pic>
                    <p:nvPicPr>
                      <p:cNvPr id="4813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6556" y="1405196"/>
                        <a:ext cx="827088"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7" name="Rectangle 7"/>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131" name="Object 6"/>
          <p:cNvGraphicFramePr>
            <a:graphicFrameLocks noChangeAspect="1"/>
          </p:cNvGraphicFramePr>
          <p:nvPr>
            <p:extLst>
              <p:ext uri="{D42A27DB-BD31-4B8C-83A1-F6EECF244321}">
                <p14:modId xmlns:p14="http://schemas.microsoft.com/office/powerpoint/2010/main" val="1014320899"/>
              </p:ext>
            </p:extLst>
          </p:nvPr>
        </p:nvGraphicFramePr>
        <p:xfrm>
          <a:off x="3473450" y="2351388"/>
          <a:ext cx="5041900" cy="1408113"/>
        </p:xfrm>
        <a:graphic>
          <a:graphicData uri="http://schemas.openxmlformats.org/presentationml/2006/ole">
            <mc:AlternateContent xmlns:mc="http://schemas.openxmlformats.org/markup-compatibility/2006">
              <mc:Choice xmlns:v="urn:schemas-microsoft-com:vml" Requires="v">
                <p:oleObj name="Equation" r:id="rId4" imgW="1587240" imgH="444240" progId="Equation.DSMT4">
                  <p:embed/>
                </p:oleObj>
              </mc:Choice>
              <mc:Fallback>
                <p:oleObj name="Equation" r:id="rId4" imgW="1587240" imgH="444240" progId="Equation.DSMT4">
                  <p:embed/>
                  <p:pic>
                    <p:nvPicPr>
                      <p:cNvPr id="4813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3450" y="2351388"/>
                        <a:ext cx="5041900" cy="1408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4376" name="Rectangle 8"/>
          <p:cNvSpPr>
            <a:spLocks noChangeArrowheads="1"/>
          </p:cNvSpPr>
          <p:nvPr/>
        </p:nvSpPr>
        <p:spPr bwMode="auto">
          <a:xfrm>
            <a:off x="1993900" y="3903921"/>
            <a:ext cx="6804025" cy="576263"/>
          </a:xfrm>
          <a:prstGeom prst="rect">
            <a:avLst/>
          </a:prstGeom>
          <a:noFill/>
          <a:ln w="9525">
            <a:noFill/>
            <a:miter lim="800000"/>
            <a:headEnd/>
            <a:tailEnd/>
          </a:ln>
        </p:spPr>
        <p:txBody>
          <a:bodyPr/>
          <a:lstStyle/>
          <a:p>
            <a:pPr marL="457200" indent="-457200" defTabSz="685783">
              <a:lnSpc>
                <a:spcPct val="90000"/>
              </a:lnSpc>
              <a:spcBef>
                <a:spcPts val="751"/>
              </a:spcBef>
              <a:spcAft>
                <a:spcPts val="225"/>
              </a:spcAft>
              <a:buSzPct val="80000"/>
              <a:buFont typeface="Wingdings" panose="05000000000000000000" pitchFamily="2" charset="2"/>
              <a:buChar char="n"/>
            </a:pPr>
            <a:r>
              <a:rPr lang="zh-CN" altLang="en-US" sz="3200" dirty="0">
                <a:solidFill>
                  <a:srgbClr val="2F5597"/>
                </a:solidFill>
                <a:latin typeface="微软雅黑" panose="020B0503020204020204" pitchFamily="34" charset="-122"/>
                <a:ea typeface="微软雅黑" panose="020B0503020204020204" pitchFamily="34" charset="-122"/>
              </a:rPr>
              <a:t>回归估计标准误差：</a:t>
            </a:r>
          </a:p>
        </p:txBody>
      </p:sp>
      <p:graphicFrame>
        <p:nvGraphicFramePr>
          <p:cNvPr id="314377" name="Object 9"/>
          <p:cNvGraphicFramePr>
            <a:graphicFrameLocks noChangeAspect="1"/>
          </p:cNvGraphicFramePr>
          <p:nvPr>
            <p:extLst>
              <p:ext uri="{D42A27DB-BD31-4B8C-83A1-F6EECF244321}">
                <p14:modId xmlns:p14="http://schemas.microsoft.com/office/powerpoint/2010/main" val="1369299390"/>
              </p:ext>
            </p:extLst>
          </p:nvPr>
        </p:nvGraphicFramePr>
        <p:xfrm>
          <a:off x="3334041" y="4361359"/>
          <a:ext cx="6064250" cy="1520825"/>
        </p:xfrm>
        <a:graphic>
          <a:graphicData uri="http://schemas.openxmlformats.org/presentationml/2006/ole">
            <mc:AlternateContent xmlns:mc="http://schemas.openxmlformats.org/markup-compatibility/2006">
              <mc:Choice xmlns:v="urn:schemas-microsoft-com:vml" Requires="v">
                <p:oleObj name="Equation" r:id="rId6" imgW="2044440" imgH="495000" progId="Equation.DSMT4">
                  <p:embed/>
                </p:oleObj>
              </mc:Choice>
              <mc:Fallback>
                <p:oleObj name="Equation" r:id="rId6" imgW="2044440" imgH="495000" progId="Equation.DSMT4">
                  <p:embed/>
                  <p:pic>
                    <p:nvPicPr>
                      <p:cNvPr id="31437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4041" y="4361359"/>
                        <a:ext cx="6064250" cy="1520825"/>
                      </a:xfrm>
                      <a:prstGeom prst="rect">
                        <a:avLst/>
                      </a:prstGeom>
                      <a:noFill/>
                    </p:spPr>
                  </p:pic>
                </p:oleObj>
              </mc:Fallback>
            </mc:AlternateContent>
          </a:graphicData>
        </a:graphic>
      </p:graphicFrame>
    </p:spTree>
    <p:extLst>
      <p:ext uri="{BB962C8B-B14F-4D97-AF65-F5344CB8AC3E}">
        <p14:creationId xmlns:p14="http://schemas.microsoft.com/office/powerpoint/2010/main" val="88994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4376"/>
                                        </p:tgtEl>
                                        <p:attrNameLst>
                                          <p:attrName>style.visibility</p:attrName>
                                        </p:attrNameLst>
                                      </p:cBhvr>
                                      <p:to>
                                        <p:strVal val="visible"/>
                                      </p:to>
                                    </p:set>
                                    <p:animEffect transition="in" filter="wipe(up)">
                                      <p:cBhvr>
                                        <p:cTn id="7" dur="2000"/>
                                        <p:tgtEl>
                                          <p:spTgt spid="314376"/>
                                        </p:tgtEl>
                                      </p:cBhvr>
                                    </p:animEffect>
                                  </p:childTnLst>
                                </p:cTn>
                              </p:par>
                              <p:par>
                                <p:cTn id="8" presetID="22" presetClass="entr" presetSubtype="1" fill="hold" nodeType="withEffect">
                                  <p:stCondLst>
                                    <p:cond delay="0"/>
                                  </p:stCondLst>
                                  <p:childTnLst>
                                    <p:set>
                                      <p:cBhvr>
                                        <p:cTn id="9" dur="1" fill="hold">
                                          <p:stCondLst>
                                            <p:cond delay="0"/>
                                          </p:stCondLst>
                                        </p:cTn>
                                        <p:tgtEl>
                                          <p:spTgt spid="314377"/>
                                        </p:tgtEl>
                                        <p:attrNameLst>
                                          <p:attrName>style.visibility</p:attrName>
                                        </p:attrNameLst>
                                      </p:cBhvr>
                                      <p:to>
                                        <p:strVal val="visible"/>
                                      </p:to>
                                    </p:set>
                                    <p:animEffect transition="in" filter="wipe(up)">
                                      <p:cBhvr>
                                        <p:cTn id="10" dur="2000"/>
                                        <p:tgtEl>
                                          <p:spTgt spid="314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6" grpId="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62" name="日期占位符 9"/>
          <p:cNvSpPr>
            <a:spLocks noGrp="1"/>
          </p:cNvSpPr>
          <p:nvPr>
            <p:ph type="dt" sz="half" idx="10"/>
          </p:nvPr>
        </p:nvSpPr>
        <p:spPr>
          <a:noFill/>
        </p:spPr>
        <p:txBody>
          <a:bodyPr/>
          <a:lstStyle/>
          <a:p>
            <a:endParaRPr lang="en-US" altLang="zh-CN"/>
          </a:p>
        </p:txBody>
      </p:sp>
      <p:sp>
        <p:nvSpPr>
          <p:cNvPr id="49157" name="Rectangle 2"/>
          <p:cNvSpPr>
            <a:spLocks noGrp="1" noChangeArrowheads="1"/>
          </p:cNvSpPr>
          <p:nvPr>
            <p:ph type="title"/>
          </p:nvPr>
        </p:nvSpPr>
        <p:spPr>
          <a:xfrm>
            <a:off x="1398589" y="546892"/>
            <a:ext cx="8128000" cy="662782"/>
          </a:xfrm>
          <a:noFill/>
        </p:spPr>
        <p:txBody>
          <a:bodyPr vert="horz" lIns="90488" tIns="44450" rIns="90488" bIns="44450" rtlCol="0" anchor="ctr" anchorCtr="1">
            <a:normAutofit/>
          </a:bodyPr>
          <a:lstStyle/>
          <a:p>
            <a:pPr eaLnBrk="1" hangingPunct="1"/>
            <a:r>
              <a:rPr lang="en-US" altLang="zh-CN" sz="4000" dirty="0"/>
              <a:t>9.4.3 </a:t>
            </a:r>
            <a:r>
              <a:rPr lang="zh-CN" altLang="en-US" sz="4000" dirty="0"/>
              <a:t>多元线性回归模型的检验</a:t>
            </a:r>
          </a:p>
        </p:txBody>
      </p:sp>
      <p:sp>
        <p:nvSpPr>
          <p:cNvPr id="49158" name="Rectangle 3"/>
          <p:cNvSpPr>
            <a:spLocks noGrp="1" noChangeArrowheads="1"/>
          </p:cNvSpPr>
          <p:nvPr>
            <p:ph idx="1"/>
          </p:nvPr>
        </p:nvSpPr>
        <p:spPr>
          <a:xfrm>
            <a:off x="1828799" y="1455578"/>
            <a:ext cx="8877301" cy="4609861"/>
          </a:xfrm>
          <a:noFill/>
        </p:spPr>
        <p:txBody>
          <a:bodyPr vert="horz" lIns="90488" tIns="44450" rIns="90488" bIns="44450" rtlCol="0">
            <a:normAutofit/>
          </a:bodyPr>
          <a:lstStyle/>
          <a:p>
            <a:pPr marL="609600" indent="-342900" algn="just">
              <a:lnSpc>
                <a:spcPct val="125000"/>
              </a:lnSpc>
              <a:spcBef>
                <a:spcPct val="0"/>
              </a:spcBef>
              <a:buFontTx/>
              <a:buAutoNum type="arabicPeriod"/>
            </a:pPr>
            <a:r>
              <a:rPr lang="zh-CN" altLang="en-US" sz="3000" b="1" dirty="0"/>
              <a:t>多元线性回归的拟合优度</a:t>
            </a:r>
            <a:r>
              <a:rPr lang="en-US" altLang="zh-CN" sz="3000" b="1" dirty="0">
                <a:latin typeface="Arial" charset="0"/>
              </a:rPr>
              <a:t>——</a:t>
            </a:r>
            <a:r>
              <a:rPr lang="zh-CN" altLang="en-US" sz="3000" b="1" dirty="0"/>
              <a:t>多重可决系数</a:t>
            </a:r>
            <a:r>
              <a:rPr lang="en-US" altLang="zh-CN" sz="3000" b="1" dirty="0"/>
              <a:t>R</a:t>
            </a:r>
            <a:r>
              <a:rPr lang="en-US" altLang="zh-CN" sz="3000" b="1" baseline="30000" dirty="0"/>
              <a:t>2</a:t>
            </a:r>
          </a:p>
          <a:p>
            <a:pPr marL="533400" lvl="1" indent="-533400" algn="just">
              <a:lnSpc>
                <a:spcPct val="125000"/>
              </a:lnSpc>
              <a:spcBef>
                <a:spcPct val="0"/>
              </a:spcBef>
              <a:buNone/>
            </a:pPr>
            <a:r>
              <a:rPr lang="en-US" altLang="zh-CN" sz="2400" dirty="0">
                <a:latin typeface="Arial" charset="0"/>
              </a:rPr>
              <a:t>——</a:t>
            </a:r>
            <a:r>
              <a:rPr lang="en-US" altLang="zh-CN" sz="2400" dirty="0"/>
              <a:t>Y</a:t>
            </a:r>
            <a:r>
              <a:rPr lang="zh-CN" altLang="en-US" sz="2400" dirty="0"/>
              <a:t>的总离差平方和中由各个自变量所解释的那部分占的比重，即回归平方和与总平方和的比值。</a:t>
            </a:r>
          </a:p>
        </p:txBody>
      </p:sp>
      <p:sp>
        <p:nvSpPr>
          <p:cNvPr id="49156" name="灯片编号占位符 5"/>
          <p:cNvSpPr>
            <a:spLocks noGrp="1"/>
          </p:cNvSpPr>
          <p:nvPr>
            <p:ph type="sldNum" sz="quarter" idx="4"/>
          </p:nvPr>
        </p:nvSpPr>
        <p:spPr>
          <a:noFill/>
        </p:spPr>
        <p:txBody>
          <a:bodyPr/>
          <a:lstStyle/>
          <a:p>
            <a:r>
              <a:rPr lang="en-US" altLang="zh-CN"/>
              <a:t>9--</a:t>
            </a:r>
            <a:fld id="{5E8F96EB-D320-4545-8AAF-70E5747640F5}" type="slidenum">
              <a:rPr lang="en-US" altLang="zh-CN" smtClean="0"/>
              <a:pPr/>
              <a:t>91</a:t>
            </a:fld>
            <a:endParaRPr lang="en-US" altLang="zh-CN"/>
          </a:p>
        </p:txBody>
      </p:sp>
      <p:sp>
        <p:nvSpPr>
          <p:cNvPr id="49159" name="Rectangle 8"/>
          <p:cNvSpPr>
            <a:spLocks noChangeArrowheads="1"/>
          </p:cNvSpPr>
          <p:nvPr/>
        </p:nvSpPr>
        <p:spPr bwMode="auto">
          <a:xfrm>
            <a:off x="1524001" y="299668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9154" name="Object 7"/>
          <p:cNvGraphicFramePr>
            <a:graphicFrameLocks noChangeAspect="1"/>
          </p:cNvGraphicFramePr>
          <p:nvPr>
            <p:extLst>
              <p:ext uri="{D42A27DB-BD31-4B8C-83A1-F6EECF244321}">
                <p14:modId xmlns:p14="http://schemas.microsoft.com/office/powerpoint/2010/main" val="1920839879"/>
              </p:ext>
            </p:extLst>
          </p:nvPr>
        </p:nvGraphicFramePr>
        <p:xfrm>
          <a:off x="4440239" y="3240880"/>
          <a:ext cx="2808287" cy="1270000"/>
        </p:xfrm>
        <a:graphic>
          <a:graphicData uri="http://schemas.openxmlformats.org/presentationml/2006/ole">
            <mc:AlternateContent xmlns:mc="http://schemas.openxmlformats.org/markup-compatibility/2006">
              <mc:Choice xmlns:v="urn:schemas-microsoft-com:vml" Requires="v">
                <p:oleObj name="Equation" r:id="rId3" imgW="1091726" imgH="495085" progId="Equation.DSMT4">
                  <p:embed/>
                </p:oleObj>
              </mc:Choice>
              <mc:Fallback>
                <p:oleObj name="Equation" r:id="rId3" imgW="1091726" imgH="495085" progId="Equation.DSMT4">
                  <p:embed/>
                  <p:pic>
                    <p:nvPicPr>
                      <p:cNvPr id="4915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239" y="3240880"/>
                        <a:ext cx="2808287" cy="127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0" name="Rectangle 10"/>
          <p:cNvSpPr>
            <a:spLocks noChangeArrowheads="1"/>
          </p:cNvSpPr>
          <p:nvPr/>
        </p:nvSpPr>
        <p:spPr bwMode="auto">
          <a:xfrm>
            <a:off x="1524001" y="29919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9155" name="Object 9"/>
          <p:cNvGraphicFramePr>
            <a:graphicFrameLocks noChangeAspect="1"/>
          </p:cNvGraphicFramePr>
          <p:nvPr>
            <p:extLst>
              <p:ext uri="{D42A27DB-BD31-4B8C-83A1-F6EECF244321}">
                <p14:modId xmlns:p14="http://schemas.microsoft.com/office/powerpoint/2010/main" val="4270290191"/>
              </p:ext>
            </p:extLst>
          </p:nvPr>
        </p:nvGraphicFramePr>
        <p:xfrm>
          <a:off x="3719514" y="4927916"/>
          <a:ext cx="5807075" cy="1260475"/>
        </p:xfrm>
        <a:graphic>
          <a:graphicData uri="http://schemas.openxmlformats.org/presentationml/2006/ole">
            <mc:AlternateContent xmlns:mc="http://schemas.openxmlformats.org/markup-compatibility/2006">
              <mc:Choice xmlns:v="urn:schemas-microsoft-com:vml" Requires="v">
                <p:oleObj name="Equation" r:id="rId5" imgW="2323800" imgH="507960" progId="Equation.DSMT4">
                  <p:embed/>
                </p:oleObj>
              </mc:Choice>
              <mc:Fallback>
                <p:oleObj name="Equation" r:id="rId5" imgW="2323800" imgH="507960" progId="Equation.DSMT4">
                  <p:embed/>
                  <p:pic>
                    <p:nvPicPr>
                      <p:cNvPr id="4915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9514" y="4927916"/>
                        <a:ext cx="5807075" cy="126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1" name="Text Box 11"/>
          <p:cNvSpPr txBox="1">
            <a:spLocks noChangeArrowheads="1"/>
          </p:cNvSpPr>
          <p:nvPr/>
        </p:nvSpPr>
        <p:spPr bwMode="auto">
          <a:xfrm>
            <a:off x="2626519" y="4627563"/>
            <a:ext cx="1016000" cy="461665"/>
          </a:xfrm>
          <a:prstGeom prst="rect">
            <a:avLst/>
          </a:prstGeom>
          <a:noFill/>
          <a:ln w="9525">
            <a:noFill/>
            <a:miter lim="800000"/>
            <a:headEnd/>
            <a:tailEnd/>
          </a:ln>
        </p:spPr>
        <p:txBody>
          <a:bodyPr wrap="square">
            <a:spAutoFit/>
          </a:bodyPr>
          <a:lstStyle/>
          <a:p>
            <a:pPr>
              <a:spcBef>
                <a:spcPct val="50000"/>
              </a:spcBef>
            </a:pPr>
            <a:r>
              <a:rPr lang="zh-CN" altLang="en-US" sz="2400"/>
              <a:t>或：</a:t>
            </a:r>
          </a:p>
        </p:txBody>
      </p:sp>
    </p:spTree>
    <p:extLst>
      <p:ext uri="{BB962C8B-B14F-4D97-AF65-F5344CB8AC3E}">
        <p14:creationId xmlns:p14="http://schemas.microsoft.com/office/powerpoint/2010/main" val="4196803808"/>
      </p:ext>
    </p:extLst>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日期占位符 6"/>
          <p:cNvSpPr>
            <a:spLocks noGrp="1"/>
          </p:cNvSpPr>
          <p:nvPr>
            <p:ph type="dt" sz="half" idx="10"/>
          </p:nvPr>
        </p:nvSpPr>
        <p:spPr>
          <a:noFill/>
        </p:spPr>
        <p:txBody>
          <a:bodyPr/>
          <a:lstStyle/>
          <a:p>
            <a:endParaRPr lang="en-US" altLang="zh-CN"/>
          </a:p>
        </p:txBody>
      </p:sp>
      <p:sp>
        <p:nvSpPr>
          <p:cNvPr id="50181" name="Rectangle 2"/>
          <p:cNvSpPr>
            <a:spLocks noGrp="1" noChangeArrowheads="1"/>
          </p:cNvSpPr>
          <p:nvPr>
            <p:ph type="title"/>
          </p:nvPr>
        </p:nvSpPr>
        <p:spPr>
          <a:xfrm>
            <a:off x="1511301" y="143748"/>
            <a:ext cx="7137399" cy="662782"/>
          </a:xfrm>
        </p:spPr>
        <p:txBody>
          <a:bodyPr/>
          <a:lstStyle/>
          <a:p>
            <a:pPr eaLnBrk="1" hangingPunct="1"/>
            <a:r>
              <a:rPr lang="zh-CN" altLang="en-US" dirty="0"/>
              <a:t>修正的可决系数</a:t>
            </a:r>
          </a:p>
        </p:txBody>
      </p:sp>
      <p:sp>
        <p:nvSpPr>
          <p:cNvPr id="50182" name="Rectangle 3"/>
          <p:cNvSpPr>
            <a:spLocks noGrp="1" noChangeArrowheads="1"/>
          </p:cNvSpPr>
          <p:nvPr>
            <p:ph idx="1"/>
          </p:nvPr>
        </p:nvSpPr>
        <p:spPr>
          <a:xfrm>
            <a:off x="1371600" y="752257"/>
            <a:ext cx="9534144" cy="5092461"/>
          </a:xfrm>
        </p:spPr>
        <p:txBody>
          <a:bodyPr/>
          <a:lstStyle/>
          <a:p>
            <a:pPr marL="0" indent="0" eaLnBrk="1" hangingPunct="1">
              <a:lnSpc>
                <a:spcPct val="150000"/>
              </a:lnSpc>
              <a:buNone/>
            </a:pPr>
            <a:r>
              <a:rPr lang="zh-CN" altLang="en-US" sz="2800" dirty="0"/>
              <a:t>    在样本量一定的情况下，可决系数是回归模型中自变量个数的不减函数。</a:t>
            </a:r>
          </a:p>
          <a:p>
            <a:pPr lvl="1" indent="0" eaLnBrk="1" hangingPunct="1">
              <a:lnSpc>
                <a:spcPct val="150000"/>
              </a:lnSpc>
              <a:buNone/>
            </a:pPr>
            <a:r>
              <a:rPr lang="zh-CN" altLang="en-US" sz="2400" dirty="0"/>
              <a:t>     错觉：只要增加自变量，就会改善模型拟合效果。但增加自变量必定使得待估参数的个数增加，损失自由度，从而增加估计误差、降低估计的可靠度。为此，需要用相应自由度对判定系数</a:t>
            </a:r>
            <a:r>
              <a:rPr lang="en-US" altLang="zh-CN" sz="2400" i="1" dirty="0">
                <a:latin typeface="Times New Roman" pitchFamily="18" charset="0"/>
              </a:rPr>
              <a:t>R</a:t>
            </a:r>
            <a:r>
              <a:rPr lang="en-US" altLang="zh-CN" sz="2400" i="1" baseline="30000" dirty="0">
                <a:latin typeface="Times New Roman" pitchFamily="18" charset="0"/>
              </a:rPr>
              <a:t>2</a:t>
            </a:r>
            <a:r>
              <a:rPr lang="en-US" altLang="zh-CN" sz="2400" dirty="0"/>
              <a:t> </a:t>
            </a:r>
            <a:r>
              <a:rPr lang="zh-CN" altLang="en-US" sz="2400" dirty="0"/>
              <a:t>进行修正。</a:t>
            </a:r>
          </a:p>
        </p:txBody>
      </p:sp>
      <p:sp>
        <p:nvSpPr>
          <p:cNvPr id="50180" name="灯片编号占位符 5"/>
          <p:cNvSpPr>
            <a:spLocks noGrp="1"/>
          </p:cNvSpPr>
          <p:nvPr>
            <p:ph type="sldNum" sz="quarter" idx="4"/>
          </p:nvPr>
        </p:nvSpPr>
        <p:spPr>
          <a:noFill/>
        </p:spPr>
        <p:txBody>
          <a:bodyPr/>
          <a:lstStyle/>
          <a:p>
            <a:r>
              <a:rPr lang="en-US" altLang="zh-CN"/>
              <a:t>9--</a:t>
            </a:r>
            <a:fld id="{55595C61-E726-4A6A-818A-C3BA3C166245}" type="slidenum">
              <a:rPr lang="en-US" altLang="zh-CN" smtClean="0"/>
              <a:pPr/>
              <a:t>92</a:t>
            </a:fld>
            <a:endParaRPr lang="en-US" altLang="zh-CN"/>
          </a:p>
        </p:txBody>
      </p:sp>
      <p:graphicFrame>
        <p:nvGraphicFramePr>
          <p:cNvPr id="318469" name="Object 5"/>
          <p:cNvGraphicFramePr>
            <a:graphicFrameLocks noChangeAspect="1"/>
          </p:cNvGraphicFramePr>
          <p:nvPr>
            <p:extLst>
              <p:ext uri="{D42A27DB-BD31-4B8C-83A1-F6EECF244321}">
                <p14:modId xmlns:p14="http://schemas.microsoft.com/office/powerpoint/2010/main" val="4014216255"/>
              </p:ext>
            </p:extLst>
          </p:nvPr>
        </p:nvGraphicFramePr>
        <p:xfrm>
          <a:off x="2542032" y="5161527"/>
          <a:ext cx="3819525" cy="1031875"/>
        </p:xfrm>
        <a:graphic>
          <a:graphicData uri="http://schemas.openxmlformats.org/presentationml/2006/ole">
            <mc:AlternateContent xmlns:mc="http://schemas.openxmlformats.org/markup-compatibility/2006">
              <mc:Choice xmlns:v="urn:schemas-microsoft-com:vml" Requires="v">
                <p:oleObj name="Equation" r:id="rId2" imgW="1346040" imgH="393480" progId="Equation.DSMT4">
                  <p:embed/>
                </p:oleObj>
              </mc:Choice>
              <mc:Fallback>
                <p:oleObj name="Equation" r:id="rId2" imgW="1346040" imgH="393480" progId="Equation.DSMT4">
                  <p:embed/>
                  <p:pic>
                    <p:nvPicPr>
                      <p:cNvPr id="31846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2032" y="5161527"/>
                        <a:ext cx="3819525" cy="1031875"/>
                      </a:xfrm>
                      <a:prstGeom prst="rect">
                        <a:avLst/>
                      </a:prstGeom>
                      <a:noFill/>
                      <a:ln w="9525">
                        <a:solidFill>
                          <a:srgbClr val="FF00FF"/>
                        </a:solidFill>
                        <a:miter lim="800000"/>
                        <a:headEnd/>
                        <a:tailEnd/>
                      </a:ln>
                    </p:spPr>
                  </p:pic>
                </p:oleObj>
              </mc:Fallback>
            </mc:AlternateContent>
          </a:graphicData>
        </a:graphic>
      </p:graphicFrame>
      <p:graphicFrame>
        <p:nvGraphicFramePr>
          <p:cNvPr id="318473" name="Object 9"/>
          <p:cNvGraphicFramePr>
            <a:graphicFrameLocks noChangeAspect="1"/>
          </p:cNvGraphicFramePr>
          <p:nvPr>
            <p:extLst>
              <p:ext uri="{D42A27DB-BD31-4B8C-83A1-F6EECF244321}">
                <p14:modId xmlns:p14="http://schemas.microsoft.com/office/powerpoint/2010/main" val="1733097417"/>
              </p:ext>
            </p:extLst>
          </p:nvPr>
        </p:nvGraphicFramePr>
        <p:xfrm>
          <a:off x="2584704" y="3837835"/>
          <a:ext cx="5905500" cy="1149350"/>
        </p:xfrm>
        <a:graphic>
          <a:graphicData uri="http://schemas.openxmlformats.org/presentationml/2006/ole">
            <mc:AlternateContent xmlns:mc="http://schemas.openxmlformats.org/markup-compatibility/2006">
              <mc:Choice xmlns:v="urn:schemas-microsoft-com:vml" Requires="v">
                <p:oleObj name="Equation" r:id="rId4" imgW="3098520" imgH="482400" progId="Equation.DSMT4">
                  <p:embed/>
                </p:oleObj>
              </mc:Choice>
              <mc:Fallback>
                <p:oleObj name="Equation" r:id="rId4" imgW="3098520" imgH="482400" progId="Equation.DSMT4">
                  <p:embed/>
                  <p:pic>
                    <p:nvPicPr>
                      <p:cNvPr id="31847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4704" y="3837835"/>
                        <a:ext cx="5905500" cy="1149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6973271" y="5383053"/>
            <a:ext cx="3576620" cy="461665"/>
          </a:xfrm>
          <a:prstGeom prst="rect">
            <a:avLst/>
          </a:prstGeom>
        </p:spPr>
        <p:txBody>
          <a:bodyPr wrap="none">
            <a:spAutoFit/>
          </a:bodyPr>
          <a:lstStyle/>
          <a:p>
            <a:pPr marL="0" lvl="3"/>
            <a:r>
              <a:rPr lang="en-US" altLang="zh-CN" sz="2400" dirty="0">
                <a:solidFill>
                  <a:srgbClr val="0070C0"/>
                </a:solidFill>
              </a:rPr>
              <a:t>n</a:t>
            </a:r>
            <a:r>
              <a:rPr lang="zh-CN" altLang="en-US" sz="2400" dirty="0">
                <a:solidFill>
                  <a:srgbClr val="0070C0"/>
                </a:solidFill>
              </a:rPr>
              <a:t>为样本量，</a:t>
            </a:r>
            <a:r>
              <a:rPr lang="en-US" altLang="zh-CN" sz="2400" dirty="0">
                <a:solidFill>
                  <a:srgbClr val="0070C0"/>
                </a:solidFill>
              </a:rPr>
              <a:t>k</a:t>
            </a:r>
            <a:r>
              <a:rPr lang="zh-CN" altLang="en-US" sz="2400" dirty="0">
                <a:solidFill>
                  <a:srgbClr val="0070C0"/>
                </a:solidFill>
              </a:rPr>
              <a:t>为参数个数</a:t>
            </a:r>
          </a:p>
        </p:txBody>
      </p:sp>
    </p:spTree>
    <p:extLst>
      <p:ext uri="{BB962C8B-B14F-4D97-AF65-F5344CB8AC3E}">
        <p14:creationId xmlns:p14="http://schemas.microsoft.com/office/powerpoint/2010/main" val="254325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8473"/>
                                        </p:tgtEl>
                                        <p:attrNameLst>
                                          <p:attrName>style.visibility</p:attrName>
                                        </p:attrNameLst>
                                      </p:cBhvr>
                                      <p:to>
                                        <p:strVal val="visible"/>
                                      </p:to>
                                    </p:set>
                                    <p:animEffect transition="in" filter="wipe(left)">
                                      <p:cBhvr>
                                        <p:cTn id="7" dur="500"/>
                                        <p:tgtEl>
                                          <p:spTgt spid="3184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8469"/>
                                        </p:tgtEl>
                                        <p:attrNameLst>
                                          <p:attrName>style.visibility</p:attrName>
                                        </p:attrNameLst>
                                      </p:cBhvr>
                                      <p:to>
                                        <p:strVal val="visible"/>
                                      </p:to>
                                    </p:set>
                                    <p:animEffect transition="in" filter="wipe(left)">
                                      <p:cBhvr>
                                        <p:cTn id="12" dur="500"/>
                                        <p:tgtEl>
                                          <p:spTgt spid="318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69" name="日期占位符 4"/>
          <p:cNvSpPr>
            <a:spLocks noGrp="1"/>
          </p:cNvSpPr>
          <p:nvPr>
            <p:ph type="dt" sz="half" idx="10"/>
          </p:nvPr>
        </p:nvSpPr>
        <p:spPr>
          <a:noFill/>
        </p:spPr>
        <p:txBody>
          <a:bodyPr/>
          <a:lstStyle/>
          <a:p>
            <a:endParaRPr lang="en-US" altLang="zh-CN"/>
          </a:p>
        </p:txBody>
      </p:sp>
      <p:sp>
        <p:nvSpPr>
          <p:cNvPr id="104451" name="Rectangle 2"/>
          <p:cNvSpPr>
            <a:spLocks noGrp="1" noChangeArrowheads="1"/>
          </p:cNvSpPr>
          <p:nvPr>
            <p:ph type="title"/>
          </p:nvPr>
        </p:nvSpPr>
        <p:spPr>
          <a:xfrm>
            <a:off x="2358391" y="779466"/>
            <a:ext cx="5477509" cy="662782"/>
          </a:xfrm>
        </p:spPr>
        <p:txBody>
          <a:bodyPr/>
          <a:lstStyle/>
          <a:p>
            <a:pPr eaLnBrk="1" hangingPunct="1"/>
            <a:r>
              <a:rPr lang="en-US" altLang="zh-CN" dirty="0"/>
              <a:t>EXCEL</a:t>
            </a:r>
            <a:r>
              <a:rPr lang="zh-CN" altLang="en-US" dirty="0"/>
              <a:t>的回归输出</a:t>
            </a:r>
            <a:r>
              <a:rPr lang="en-US" altLang="zh-CN" sz="4000" dirty="0">
                <a:latin typeface="Times New Roman" pitchFamily="18" charset="0"/>
              </a:rPr>
              <a:t>(1)</a:t>
            </a:r>
          </a:p>
        </p:txBody>
      </p:sp>
      <p:sp>
        <p:nvSpPr>
          <p:cNvPr id="104450" name="灯片编号占位符 5"/>
          <p:cNvSpPr>
            <a:spLocks noGrp="1"/>
          </p:cNvSpPr>
          <p:nvPr>
            <p:ph type="sldNum" sz="quarter" idx="4"/>
          </p:nvPr>
        </p:nvSpPr>
        <p:spPr>
          <a:noFill/>
        </p:spPr>
        <p:txBody>
          <a:bodyPr/>
          <a:lstStyle/>
          <a:p>
            <a:r>
              <a:rPr lang="en-US" altLang="zh-CN"/>
              <a:t>9--</a:t>
            </a:r>
            <a:fld id="{CA44E356-1E46-4705-A8F3-E251B695EB1D}" type="slidenum">
              <a:rPr lang="en-US" altLang="zh-CN" smtClean="0"/>
              <a:pPr/>
              <a:t>93</a:t>
            </a:fld>
            <a:endParaRPr lang="en-US" altLang="zh-CN"/>
          </a:p>
        </p:txBody>
      </p:sp>
      <p:graphicFrame>
        <p:nvGraphicFramePr>
          <p:cNvPr id="7" name="表格 6"/>
          <p:cNvGraphicFramePr>
            <a:graphicFrameLocks noGrp="1"/>
          </p:cNvGraphicFramePr>
          <p:nvPr>
            <p:extLst>
              <p:ext uri="{D42A27DB-BD31-4B8C-83A1-F6EECF244321}">
                <p14:modId xmlns:p14="http://schemas.microsoft.com/office/powerpoint/2010/main" val="147916330"/>
              </p:ext>
            </p:extLst>
          </p:nvPr>
        </p:nvGraphicFramePr>
        <p:xfrm>
          <a:off x="3118273" y="1827735"/>
          <a:ext cx="5112568" cy="4176464"/>
        </p:xfrm>
        <a:graphic>
          <a:graphicData uri="http://schemas.openxmlformats.org/drawingml/2006/table">
            <a:tbl>
              <a:tblPr/>
              <a:tblGrid>
                <a:gridCol w="3212028">
                  <a:extLst>
                    <a:ext uri="{9D8B030D-6E8A-4147-A177-3AD203B41FA5}">
                      <a16:colId xmlns:a16="http://schemas.microsoft.com/office/drawing/2014/main" val="20000"/>
                    </a:ext>
                  </a:extLst>
                </a:gridCol>
                <a:gridCol w="1900540">
                  <a:extLst>
                    <a:ext uri="{9D8B030D-6E8A-4147-A177-3AD203B41FA5}">
                      <a16:colId xmlns:a16="http://schemas.microsoft.com/office/drawing/2014/main" val="20001"/>
                    </a:ext>
                  </a:extLst>
                </a:gridCol>
              </a:tblGrid>
              <a:tr h="536974">
                <a:tc gridSpan="2">
                  <a:txBody>
                    <a:bodyPr/>
                    <a:lstStyle/>
                    <a:p>
                      <a:pPr algn="l" fontAlgn="ctr"/>
                      <a:r>
                        <a:rPr lang="en-US" sz="2800" b="1" i="0" u="none" strike="noStrike" dirty="0">
                          <a:solidFill>
                            <a:srgbClr val="000000"/>
                          </a:solidFill>
                          <a:latin typeface="宋体"/>
                        </a:rPr>
                        <a:t>SUMMARY OUTPUT</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0"/>
                  </a:ext>
                </a:extLst>
              </a:tr>
              <a:tr h="536974">
                <a:tc gridSpan="2">
                  <a:txBody>
                    <a:bodyPr/>
                    <a:lstStyle/>
                    <a:p>
                      <a:pPr algn="ctr" fontAlgn="ctr"/>
                      <a:r>
                        <a:rPr lang="zh-CN" altLang="en-US" sz="2800" b="1" i="0" u="none" strike="noStrike">
                          <a:solidFill>
                            <a:srgbClr val="000000"/>
                          </a:solidFill>
                          <a:latin typeface="宋体"/>
                        </a:rPr>
                        <a:t>回归统计</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1"/>
                  </a:ext>
                </a:extLst>
              </a:tr>
              <a:tr h="536974">
                <a:tc>
                  <a:txBody>
                    <a:bodyPr/>
                    <a:lstStyle/>
                    <a:p>
                      <a:pPr algn="l" fontAlgn="ctr"/>
                      <a:r>
                        <a:rPr lang="en-US" sz="2800" b="1" i="0" u="none" strike="noStrike" dirty="0">
                          <a:solidFill>
                            <a:srgbClr val="000000"/>
                          </a:solidFill>
                          <a:latin typeface="宋体"/>
                        </a:rPr>
                        <a:t>Multiple R</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zh-CN" sz="2800" b="1" i="0" u="none" strike="noStrike" dirty="0">
                          <a:solidFill>
                            <a:srgbClr val="000000"/>
                          </a:solidFill>
                          <a:latin typeface="宋体"/>
                        </a:rPr>
                        <a:t>0.9060682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536974">
                <a:tc>
                  <a:txBody>
                    <a:bodyPr/>
                    <a:lstStyle/>
                    <a:p>
                      <a:pPr algn="l" fontAlgn="ctr"/>
                      <a:r>
                        <a:rPr lang="en-US" sz="2800" b="1" i="0" u="none" strike="noStrike" dirty="0">
                          <a:solidFill>
                            <a:srgbClr val="C00000"/>
                          </a:solidFill>
                          <a:latin typeface="宋体"/>
                        </a:rPr>
                        <a:t>R Square</a:t>
                      </a:r>
                    </a:p>
                  </a:txBody>
                  <a:tcPr marL="0" marR="0" marT="0" marB="0" anchor="ctr">
                    <a:lnL>
                      <a:noFill/>
                    </a:lnL>
                    <a:lnR>
                      <a:noFill/>
                    </a:lnR>
                    <a:lnT>
                      <a:noFill/>
                    </a:lnT>
                    <a:lnB>
                      <a:noFill/>
                    </a:lnB>
                  </a:tcPr>
                </a:tc>
                <a:tc>
                  <a:txBody>
                    <a:bodyPr/>
                    <a:lstStyle/>
                    <a:p>
                      <a:pPr algn="r" fontAlgn="ctr"/>
                      <a:r>
                        <a:rPr lang="en-US" altLang="zh-CN" sz="2800" b="1" i="0" u="none" strike="noStrike" dirty="0">
                          <a:solidFill>
                            <a:srgbClr val="000000"/>
                          </a:solidFill>
                          <a:latin typeface="宋体"/>
                        </a:rPr>
                        <a:t>0.8209595</a:t>
                      </a:r>
                    </a:p>
                  </a:txBody>
                  <a:tcPr marL="0" marR="0" marT="0" marB="0" anchor="ctr">
                    <a:lnL>
                      <a:noFill/>
                    </a:lnL>
                    <a:lnR>
                      <a:noFill/>
                    </a:lnR>
                    <a:lnT>
                      <a:noFill/>
                    </a:lnT>
                    <a:lnB>
                      <a:noFill/>
                    </a:lnB>
                  </a:tcPr>
                </a:tc>
                <a:extLst>
                  <a:ext uri="{0D108BD9-81ED-4DB2-BD59-A6C34878D82A}">
                    <a16:rowId xmlns:a16="http://schemas.microsoft.com/office/drawing/2014/main" val="10003"/>
                  </a:ext>
                </a:extLst>
              </a:tr>
              <a:tr h="954620">
                <a:tc>
                  <a:txBody>
                    <a:bodyPr/>
                    <a:lstStyle/>
                    <a:p>
                      <a:pPr algn="l" fontAlgn="ctr"/>
                      <a:r>
                        <a:rPr lang="en-US" sz="2800" b="1" i="0" u="none" strike="noStrike" dirty="0">
                          <a:solidFill>
                            <a:srgbClr val="C00000"/>
                          </a:solidFill>
                          <a:latin typeface="宋体"/>
                        </a:rPr>
                        <a:t>Adjusted R Square</a:t>
                      </a:r>
                    </a:p>
                  </a:txBody>
                  <a:tcPr marL="0" marR="0" marT="0" marB="0" anchor="ctr">
                    <a:lnL>
                      <a:noFill/>
                    </a:lnL>
                    <a:lnR>
                      <a:noFill/>
                    </a:lnR>
                    <a:lnT>
                      <a:noFill/>
                    </a:lnT>
                    <a:lnB>
                      <a:noFill/>
                    </a:lnB>
                  </a:tcPr>
                </a:tc>
                <a:tc>
                  <a:txBody>
                    <a:bodyPr/>
                    <a:lstStyle/>
                    <a:p>
                      <a:pPr algn="r" fontAlgn="ctr"/>
                      <a:r>
                        <a:rPr lang="en-US" altLang="zh-CN" sz="2800" b="1" i="0" u="none" strike="noStrike" dirty="0">
                          <a:solidFill>
                            <a:srgbClr val="000000"/>
                          </a:solidFill>
                          <a:latin typeface="宋体"/>
                        </a:rPr>
                        <a:t>0.8076973</a:t>
                      </a:r>
                    </a:p>
                  </a:txBody>
                  <a:tcPr marL="0" marR="0" marT="0" marB="0" anchor="ctr">
                    <a:lnL>
                      <a:noFill/>
                    </a:lnL>
                    <a:lnR>
                      <a:noFill/>
                    </a:lnR>
                    <a:lnT>
                      <a:noFill/>
                    </a:lnT>
                    <a:lnB>
                      <a:noFill/>
                    </a:lnB>
                  </a:tcPr>
                </a:tc>
                <a:extLst>
                  <a:ext uri="{0D108BD9-81ED-4DB2-BD59-A6C34878D82A}">
                    <a16:rowId xmlns:a16="http://schemas.microsoft.com/office/drawing/2014/main" val="10004"/>
                  </a:ext>
                </a:extLst>
              </a:tr>
              <a:tr h="536974">
                <a:tc>
                  <a:txBody>
                    <a:bodyPr/>
                    <a:lstStyle/>
                    <a:p>
                      <a:pPr algn="l" fontAlgn="ctr"/>
                      <a:r>
                        <a:rPr lang="zh-CN" altLang="en-US" sz="2800" b="1" i="0" u="none" strike="noStrike">
                          <a:solidFill>
                            <a:srgbClr val="000000"/>
                          </a:solidFill>
                          <a:latin typeface="宋体"/>
                        </a:rPr>
                        <a:t>标准误差</a:t>
                      </a:r>
                    </a:p>
                  </a:txBody>
                  <a:tcPr marL="0" marR="0" marT="0" marB="0" anchor="ctr">
                    <a:lnL>
                      <a:noFill/>
                    </a:lnL>
                    <a:lnR>
                      <a:noFill/>
                    </a:lnR>
                    <a:lnT>
                      <a:noFill/>
                    </a:lnT>
                    <a:lnB>
                      <a:noFill/>
                    </a:lnB>
                  </a:tcPr>
                </a:tc>
                <a:tc>
                  <a:txBody>
                    <a:bodyPr/>
                    <a:lstStyle/>
                    <a:p>
                      <a:pPr algn="r" fontAlgn="ctr"/>
                      <a:r>
                        <a:rPr lang="en-US" altLang="zh-CN" sz="2800" b="1" i="0" u="none" strike="noStrike" dirty="0">
                          <a:solidFill>
                            <a:srgbClr val="000000"/>
                          </a:solidFill>
                          <a:latin typeface="宋体"/>
                        </a:rPr>
                        <a:t>2.8518171</a:t>
                      </a:r>
                    </a:p>
                  </a:txBody>
                  <a:tcPr marL="0" marR="0" marT="0" marB="0" anchor="ctr">
                    <a:lnL>
                      <a:noFill/>
                    </a:lnL>
                    <a:lnR>
                      <a:noFill/>
                    </a:lnR>
                    <a:lnT>
                      <a:noFill/>
                    </a:lnT>
                    <a:lnB>
                      <a:noFill/>
                    </a:lnB>
                  </a:tcPr>
                </a:tc>
                <a:extLst>
                  <a:ext uri="{0D108BD9-81ED-4DB2-BD59-A6C34878D82A}">
                    <a16:rowId xmlns:a16="http://schemas.microsoft.com/office/drawing/2014/main" val="10005"/>
                  </a:ext>
                </a:extLst>
              </a:tr>
              <a:tr h="536974">
                <a:tc>
                  <a:txBody>
                    <a:bodyPr/>
                    <a:lstStyle/>
                    <a:p>
                      <a:pPr algn="l" fontAlgn="ctr"/>
                      <a:r>
                        <a:rPr lang="zh-CN" altLang="en-US" sz="2800" b="1" i="0" u="none" strike="noStrike">
                          <a:solidFill>
                            <a:srgbClr val="000000"/>
                          </a:solidFill>
                          <a:latin typeface="宋体"/>
                        </a:rPr>
                        <a:t>观测值</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ctr"/>
                      <a:r>
                        <a:rPr lang="en-US" altLang="zh-CN" sz="2800" b="1" i="0" u="none" strike="noStrike" dirty="0">
                          <a:solidFill>
                            <a:srgbClr val="000000"/>
                          </a:solidFill>
                          <a:latin typeface="宋体"/>
                        </a:rPr>
                        <a:t>30</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23300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5" name="日期占位符 14"/>
          <p:cNvSpPr>
            <a:spLocks noGrp="1"/>
          </p:cNvSpPr>
          <p:nvPr>
            <p:ph type="dt" sz="half" idx="10"/>
          </p:nvPr>
        </p:nvSpPr>
        <p:spPr>
          <a:noFill/>
        </p:spPr>
        <p:txBody>
          <a:bodyPr/>
          <a:lstStyle/>
          <a:p>
            <a:endParaRPr lang="en-US" altLang="zh-CN"/>
          </a:p>
        </p:txBody>
      </p:sp>
      <p:sp>
        <p:nvSpPr>
          <p:cNvPr id="51207" name="Rectangle 2"/>
          <p:cNvSpPr>
            <a:spLocks noGrp="1" noChangeArrowheads="1"/>
          </p:cNvSpPr>
          <p:nvPr>
            <p:ph type="title"/>
          </p:nvPr>
        </p:nvSpPr>
        <p:spPr>
          <a:xfrm>
            <a:off x="1438275" y="445454"/>
            <a:ext cx="8855075" cy="662782"/>
          </a:xfrm>
        </p:spPr>
        <p:txBody>
          <a:bodyPr/>
          <a:lstStyle/>
          <a:p>
            <a:pPr eaLnBrk="1" hangingPunct="1"/>
            <a:r>
              <a:rPr kumimoji="1" lang="en-US" altLang="zh-CN" sz="4000" dirty="0">
                <a:sym typeface="Symbol" pitchFamily="18" charset="2"/>
              </a:rPr>
              <a:t>2.</a:t>
            </a:r>
            <a:r>
              <a:rPr kumimoji="1" lang="zh-CN" altLang="en-US" sz="4000" dirty="0">
                <a:sym typeface="Symbol" pitchFamily="18" charset="2"/>
              </a:rPr>
              <a:t>回归参数的显著性检验（</a:t>
            </a:r>
            <a:r>
              <a:rPr kumimoji="1" lang="en-US" altLang="zh-CN" sz="4000" i="1" dirty="0">
                <a:sym typeface="Symbol" pitchFamily="18" charset="2"/>
              </a:rPr>
              <a:t>t</a:t>
            </a:r>
            <a:r>
              <a:rPr kumimoji="1" lang="en-US" altLang="zh-CN" sz="4000" dirty="0">
                <a:sym typeface="Symbol" pitchFamily="18" charset="2"/>
              </a:rPr>
              <a:t>-</a:t>
            </a:r>
            <a:r>
              <a:rPr kumimoji="1" lang="zh-CN" altLang="en-US" sz="4000" dirty="0">
                <a:sym typeface="Symbol" pitchFamily="18" charset="2"/>
              </a:rPr>
              <a:t>检验）</a:t>
            </a:r>
          </a:p>
        </p:txBody>
      </p:sp>
      <p:sp>
        <p:nvSpPr>
          <p:cNvPr id="51208" name="Rectangle 3"/>
          <p:cNvSpPr>
            <a:spLocks noGrp="1" noChangeArrowheads="1"/>
          </p:cNvSpPr>
          <p:nvPr>
            <p:ph idx="1"/>
          </p:nvPr>
        </p:nvSpPr>
        <p:spPr>
          <a:xfrm>
            <a:off x="1524000" y="1160187"/>
            <a:ext cx="8893175" cy="5003561"/>
          </a:xfrm>
          <a:noFill/>
        </p:spPr>
        <p:txBody>
          <a:bodyPr/>
          <a:lstStyle/>
          <a:p>
            <a:pPr marL="0" indent="804863" algn="just">
              <a:lnSpc>
                <a:spcPct val="115000"/>
              </a:lnSpc>
              <a:buSzTx/>
              <a:buNone/>
            </a:pPr>
            <a:r>
              <a:rPr kumimoji="1" lang="zh-CN" altLang="en-US" sz="2800" b="0" dirty="0">
                <a:solidFill>
                  <a:srgbClr val="000000"/>
                </a:solidFill>
              </a:rPr>
              <a:t>在多元回归中，回归方程显著，不等于每个回归系数都显著</a:t>
            </a:r>
            <a:r>
              <a:rPr kumimoji="1" lang="en-US" altLang="zh-CN" sz="2800" b="0" dirty="0">
                <a:solidFill>
                  <a:srgbClr val="000000"/>
                </a:solidFill>
              </a:rPr>
              <a:t>.</a:t>
            </a:r>
          </a:p>
        </p:txBody>
      </p:sp>
      <p:sp>
        <p:nvSpPr>
          <p:cNvPr id="51206" name="灯片编号占位符 5"/>
          <p:cNvSpPr>
            <a:spLocks noGrp="1"/>
          </p:cNvSpPr>
          <p:nvPr>
            <p:ph type="sldNum" sz="quarter" idx="4"/>
          </p:nvPr>
        </p:nvSpPr>
        <p:spPr>
          <a:noFill/>
        </p:spPr>
        <p:txBody>
          <a:bodyPr/>
          <a:lstStyle/>
          <a:p>
            <a:r>
              <a:rPr lang="en-US" altLang="zh-CN"/>
              <a:t>9--</a:t>
            </a:r>
            <a:fld id="{6CC5D885-8F43-449A-A941-171C1CA4FCA6}" type="slidenum">
              <a:rPr lang="en-US" altLang="zh-CN" smtClean="0"/>
              <a:pPr/>
              <a:t>94</a:t>
            </a:fld>
            <a:endParaRPr lang="en-US" altLang="zh-CN"/>
          </a:p>
        </p:txBody>
      </p:sp>
      <p:sp>
        <p:nvSpPr>
          <p:cNvPr id="51209" name="Rectangle 4"/>
          <p:cNvSpPr>
            <a:spLocks noChangeArrowheads="1"/>
          </p:cNvSpPr>
          <p:nvPr/>
        </p:nvSpPr>
        <p:spPr bwMode="auto">
          <a:xfrm>
            <a:off x="1919288" y="2223432"/>
            <a:ext cx="8497887" cy="2016125"/>
          </a:xfrm>
          <a:prstGeom prst="rect">
            <a:avLst/>
          </a:prstGeom>
          <a:noFill/>
          <a:ln w="28575">
            <a:noFill/>
            <a:miter lim="800000"/>
            <a:headEnd/>
            <a:tailEnd/>
          </a:ln>
        </p:spPr>
        <p:txBody>
          <a:bodyPr lIns="90488" tIns="44450" rIns="90488" bIns="44450"/>
          <a:lstStyle/>
          <a:p>
            <a:pPr marL="609600" indent="-609600" algn="just">
              <a:lnSpc>
                <a:spcPct val="105000"/>
              </a:lnSpc>
              <a:buSzPct val="90000"/>
              <a:buBlip>
                <a:blip r:embed="rId2"/>
              </a:buBlip>
            </a:pPr>
            <a:r>
              <a:rPr lang="zh-CN" altLang="en-US" sz="3200" b="1" dirty="0">
                <a:solidFill>
                  <a:srgbClr val="C56B9E"/>
                </a:solidFill>
                <a:latin typeface="Times New Roman" pitchFamily="18" charset="0"/>
              </a:rPr>
              <a:t>对回归系数的</a:t>
            </a:r>
            <a:r>
              <a:rPr lang="zh-CN" altLang="en-US" sz="3600" b="1" dirty="0">
                <a:solidFill>
                  <a:srgbClr val="C56B9E"/>
                </a:solidFill>
                <a:latin typeface="Times New Roman" pitchFamily="18" charset="0"/>
              </a:rPr>
              <a:t> </a:t>
            </a:r>
            <a:r>
              <a:rPr lang="en-US" altLang="zh-CN" sz="3600" b="1" i="1" dirty="0">
                <a:solidFill>
                  <a:srgbClr val="C56B9E"/>
                </a:solidFill>
                <a:latin typeface="Times New Roman" pitchFamily="18" charset="0"/>
              </a:rPr>
              <a:t>t </a:t>
            </a:r>
            <a:r>
              <a:rPr lang="zh-CN" altLang="en-US" sz="3200" b="1" dirty="0">
                <a:solidFill>
                  <a:srgbClr val="C56B9E"/>
                </a:solidFill>
                <a:latin typeface="Times New Roman" pitchFamily="18" charset="0"/>
              </a:rPr>
              <a:t>检验</a:t>
            </a:r>
            <a:r>
              <a:rPr lang="en-US" altLang="zh-CN" sz="3200" b="1" dirty="0">
                <a:solidFill>
                  <a:srgbClr val="C56B9E"/>
                </a:solidFill>
                <a:latin typeface="Times New Roman" pitchFamily="18" charset="0"/>
              </a:rPr>
              <a:t>:</a:t>
            </a:r>
          </a:p>
          <a:p>
            <a:pPr marL="1219200" lvl="1" indent="-533400" algn="just">
              <a:lnSpc>
                <a:spcPct val="105000"/>
              </a:lnSpc>
              <a:buSzPct val="80000"/>
              <a:buBlip>
                <a:blip r:embed="rId3"/>
              </a:buBlip>
            </a:pPr>
            <a:r>
              <a:rPr lang="en-US" altLang="zh-CN" sz="2800" b="1" i="1" dirty="0">
                <a:solidFill>
                  <a:srgbClr val="000000"/>
                </a:solidFill>
                <a:latin typeface="Times New Roman" pitchFamily="18" charset="0"/>
              </a:rPr>
              <a:t>H</a:t>
            </a:r>
            <a:r>
              <a:rPr lang="en-US" altLang="zh-CN" sz="2800" b="1" baseline="-25000" dirty="0">
                <a:solidFill>
                  <a:srgbClr val="000000"/>
                </a:solidFill>
                <a:latin typeface="Times New Roman" pitchFamily="18" charset="0"/>
              </a:rPr>
              <a:t>0</a:t>
            </a:r>
            <a:r>
              <a:rPr lang="zh-CN" altLang="en-US" sz="2800" b="1" dirty="0">
                <a:solidFill>
                  <a:srgbClr val="000000"/>
                </a:solidFill>
                <a:latin typeface="Times New Roman" pitchFamily="18" charset="0"/>
              </a:rPr>
              <a:t>：</a:t>
            </a:r>
            <a:r>
              <a:rPr lang="zh-CN" altLang="en-US" sz="2800" i="1" dirty="0">
                <a:solidFill>
                  <a:srgbClr val="000000"/>
                </a:solidFill>
                <a:latin typeface="Tahoma" pitchFamily="34" charset="0"/>
                <a:sym typeface="Symbol" pitchFamily="18" charset="2"/>
              </a:rPr>
              <a:t></a:t>
            </a:r>
            <a:r>
              <a:rPr lang="en-US" altLang="zh-CN" sz="2800" b="1" baseline="-25000" dirty="0">
                <a:solidFill>
                  <a:srgbClr val="000000"/>
                </a:solidFill>
                <a:latin typeface="Times New Roman" pitchFamily="18" charset="0"/>
                <a:sym typeface="Symbol" pitchFamily="18" charset="2"/>
              </a:rPr>
              <a:t>j</a:t>
            </a:r>
            <a:r>
              <a:rPr lang="en-US" altLang="zh-CN" sz="2800" dirty="0">
                <a:solidFill>
                  <a:srgbClr val="000000"/>
                </a:solidFill>
                <a:latin typeface="Tahoma" pitchFamily="34" charset="0"/>
                <a:sym typeface="Symbol" pitchFamily="18" charset="2"/>
              </a:rPr>
              <a:t>=0</a:t>
            </a:r>
            <a:r>
              <a:rPr lang="zh-CN" altLang="en-US" sz="2800" dirty="0">
                <a:solidFill>
                  <a:srgbClr val="000000"/>
                </a:solidFill>
                <a:latin typeface="Tahoma" pitchFamily="34" charset="0"/>
                <a:sym typeface="Symbol" pitchFamily="18" charset="2"/>
              </a:rPr>
              <a:t>（ </a:t>
            </a:r>
            <a:r>
              <a:rPr lang="en-US" altLang="zh-CN" sz="2800" i="1" dirty="0" err="1">
                <a:solidFill>
                  <a:srgbClr val="000000"/>
                </a:solidFill>
                <a:latin typeface="Times New Roman" pitchFamily="18" charset="0"/>
                <a:sym typeface="Symbol" pitchFamily="18" charset="2"/>
              </a:rPr>
              <a:t>X</a:t>
            </a:r>
            <a:r>
              <a:rPr lang="en-US" altLang="zh-CN" sz="2800" b="1" baseline="-25000" dirty="0" err="1">
                <a:solidFill>
                  <a:srgbClr val="000000"/>
                </a:solidFill>
                <a:latin typeface="Times New Roman" pitchFamily="18" charset="0"/>
                <a:sym typeface="Symbol" pitchFamily="18" charset="2"/>
              </a:rPr>
              <a:t>j</a:t>
            </a:r>
            <a:r>
              <a:rPr lang="en-US" altLang="zh-CN" sz="2800" b="1" i="1" dirty="0">
                <a:solidFill>
                  <a:srgbClr val="000000"/>
                </a:solidFill>
                <a:latin typeface="Times New Roman" pitchFamily="18" charset="0"/>
                <a:sym typeface="Symbol" pitchFamily="18" charset="2"/>
              </a:rPr>
              <a:t> </a:t>
            </a:r>
            <a:r>
              <a:rPr lang="zh-CN" altLang="en-US" sz="2800" b="1" dirty="0">
                <a:solidFill>
                  <a:srgbClr val="000000"/>
                </a:solidFill>
                <a:latin typeface="Times New Roman" pitchFamily="18" charset="0"/>
              </a:rPr>
              <a:t>与</a:t>
            </a:r>
            <a:r>
              <a:rPr lang="en-US" altLang="zh-CN" sz="2800" b="1" dirty="0">
                <a:solidFill>
                  <a:srgbClr val="000000"/>
                </a:solidFill>
                <a:latin typeface="Times New Roman" pitchFamily="18" charset="0"/>
              </a:rPr>
              <a:t>Y</a:t>
            </a:r>
            <a:r>
              <a:rPr lang="zh-CN" altLang="en-US" sz="2800" b="1" dirty="0">
                <a:solidFill>
                  <a:srgbClr val="000000"/>
                </a:solidFill>
                <a:latin typeface="Times New Roman" pitchFamily="18" charset="0"/>
              </a:rPr>
              <a:t>的线性关系不显著）；</a:t>
            </a:r>
          </a:p>
          <a:p>
            <a:pPr marL="1219200" lvl="1" indent="-533400" algn="just">
              <a:lnSpc>
                <a:spcPct val="105000"/>
              </a:lnSpc>
              <a:buSzPct val="80000"/>
              <a:buBlip>
                <a:blip r:embed="rId3"/>
              </a:buBlip>
            </a:pPr>
            <a:r>
              <a:rPr lang="en-US" altLang="zh-CN" sz="2800" b="1" i="1" dirty="0">
                <a:solidFill>
                  <a:srgbClr val="000000"/>
                </a:solidFill>
                <a:latin typeface="Times New Roman" pitchFamily="18" charset="0"/>
              </a:rPr>
              <a:t>H</a:t>
            </a:r>
            <a:r>
              <a:rPr lang="en-US" altLang="zh-CN" sz="2800" b="1" baseline="-25000" dirty="0">
                <a:solidFill>
                  <a:srgbClr val="000000"/>
                </a:solidFill>
                <a:latin typeface="Times New Roman" pitchFamily="18" charset="0"/>
              </a:rPr>
              <a:t>1</a:t>
            </a:r>
            <a:r>
              <a:rPr lang="en-US" altLang="zh-CN" sz="2800" dirty="0">
                <a:solidFill>
                  <a:srgbClr val="000000"/>
                </a:solidFill>
                <a:latin typeface="Tahoma" pitchFamily="34" charset="0"/>
                <a:sym typeface="Symbol" pitchFamily="18" charset="2"/>
              </a:rPr>
              <a:t> </a:t>
            </a:r>
            <a:r>
              <a:rPr lang="zh-CN" altLang="en-US" sz="2800" dirty="0">
                <a:solidFill>
                  <a:srgbClr val="000000"/>
                </a:solidFill>
                <a:latin typeface="Tahoma" pitchFamily="34" charset="0"/>
                <a:sym typeface="Symbol" pitchFamily="18" charset="2"/>
              </a:rPr>
              <a:t>：</a:t>
            </a:r>
            <a:r>
              <a:rPr lang="zh-CN" altLang="en-US" sz="2800" i="1" dirty="0">
                <a:solidFill>
                  <a:srgbClr val="000000"/>
                </a:solidFill>
                <a:latin typeface="Tahoma" pitchFamily="34" charset="0"/>
                <a:sym typeface="Symbol" pitchFamily="18" charset="2"/>
              </a:rPr>
              <a:t></a:t>
            </a:r>
            <a:r>
              <a:rPr lang="en-US" altLang="zh-CN" sz="2800" b="1" baseline="-25000" dirty="0">
                <a:solidFill>
                  <a:srgbClr val="000000"/>
                </a:solidFill>
                <a:latin typeface="Times New Roman" pitchFamily="18" charset="0"/>
                <a:sym typeface="Symbol" pitchFamily="18" charset="2"/>
              </a:rPr>
              <a:t>j</a:t>
            </a:r>
            <a:r>
              <a:rPr lang="en-US" altLang="zh-CN" sz="2800" dirty="0">
                <a:solidFill>
                  <a:srgbClr val="000000"/>
                </a:solidFill>
                <a:latin typeface="Tahoma" pitchFamily="34" charset="0"/>
                <a:sym typeface="Symbol" pitchFamily="18" charset="2"/>
              </a:rPr>
              <a:t>0 </a:t>
            </a:r>
            <a:r>
              <a:rPr lang="zh-CN" altLang="en-US" sz="2800" dirty="0">
                <a:solidFill>
                  <a:srgbClr val="000000"/>
                </a:solidFill>
                <a:latin typeface="Tahoma" pitchFamily="34" charset="0"/>
                <a:sym typeface="Symbol" pitchFamily="18" charset="2"/>
              </a:rPr>
              <a:t>（ </a:t>
            </a:r>
            <a:r>
              <a:rPr lang="en-US" altLang="zh-CN" sz="2800" i="1" dirty="0" err="1">
                <a:solidFill>
                  <a:srgbClr val="000000"/>
                </a:solidFill>
                <a:latin typeface="Times New Roman" pitchFamily="18" charset="0"/>
                <a:sym typeface="Symbol" pitchFamily="18" charset="2"/>
              </a:rPr>
              <a:t>X</a:t>
            </a:r>
            <a:r>
              <a:rPr lang="en-US" altLang="zh-CN" sz="2800" b="1" baseline="-25000" dirty="0" err="1">
                <a:solidFill>
                  <a:srgbClr val="000000"/>
                </a:solidFill>
                <a:latin typeface="Times New Roman" pitchFamily="18" charset="0"/>
                <a:sym typeface="Symbol" pitchFamily="18" charset="2"/>
              </a:rPr>
              <a:t>j</a:t>
            </a:r>
            <a:r>
              <a:rPr lang="en-US" altLang="zh-CN" sz="2800" b="1" baseline="-25000" dirty="0">
                <a:solidFill>
                  <a:srgbClr val="000000"/>
                </a:solidFill>
                <a:latin typeface="Times New Roman" pitchFamily="18" charset="0"/>
                <a:sym typeface="Symbol" pitchFamily="18" charset="2"/>
              </a:rPr>
              <a:t> </a:t>
            </a:r>
            <a:r>
              <a:rPr lang="zh-CN" altLang="en-US" sz="2800" b="1" dirty="0">
                <a:solidFill>
                  <a:srgbClr val="000000"/>
                </a:solidFill>
                <a:latin typeface="Times New Roman" pitchFamily="18" charset="0"/>
              </a:rPr>
              <a:t>与</a:t>
            </a:r>
            <a:r>
              <a:rPr lang="en-US" altLang="zh-CN" sz="2800" b="1" dirty="0">
                <a:solidFill>
                  <a:srgbClr val="000000"/>
                </a:solidFill>
                <a:latin typeface="Times New Roman" pitchFamily="18" charset="0"/>
              </a:rPr>
              <a:t>Y</a:t>
            </a:r>
            <a:r>
              <a:rPr lang="zh-CN" altLang="en-US" sz="2800" b="1" dirty="0">
                <a:solidFill>
                  <a:srgbClr val="000000"/>
                </a:solidFill>
                <a:latin typeface="Times New Roman" pitchFamily="18" charset="0"/>
              </a:rPr>
              <a:t>的线性关系显著）</a:t>
            </a:r>
          </a:p>
          <a:p>
            <a:pPr marL="609600" indent="-609600" algn="just">
              <a:lnSpc>
                <a:spcPct val="105000"/>
              </a:lnSpc>
              <a:buSzPct val="90000"/>
              <a:buBlip>
                <a:blip r:embed="rId2"/>
              </a:buBlip>
            </a:pPr>
            <a:r>
              <a:rPr lang="zh-CN" altLang="en-US" sz="3200" b="1" dirty="0">
                <a:solidFill>
                  <a:srgbClr val="C56B9E"/>
                </a:solidFill>
                <a:latin typeface="Tahoma" pitchFamily="34" charset="0"/>
              </a:rPr>
              <a:t>检验统计量及其分布： </a:t>
            </a:r>
          </a:p>
        </p:txBody>
      </p:sp>
      <p:sp>
        <p:nvSpPr>
          <p:cNvPr id="51210" name="Rectangle 7"/>
          <p:cNvSpPr>
            <a:spLocks noChangeArrowheads="1"/>
          </p:cNvSpPr>
          <p:nvPr/>
        </p:nvSpPr>
        <p:spPr bwMode="auto">
          <a:xfrm>
            <a:off x="1524001" y="2982397"/>
            <a:ext cx="184731" cy="369332"/>
          </a:xfrm>
          <a:prstGeom prst="rect">
            <a:avLst/>
          </a:prstGeom>
          <a:noFill/>
          <a:ln w="9525">
            <a:noFill/>
            <a:miter lim="800000"/>
            <a:headEnd/>
            <a:tailEnd/>
          </a:ln>
        </p:spPr>
        <p:txBody>
          <a:bodyPr wrap="none" anchor="ctr">
            <a:spAutoFit/>
          </a:bodyPr>
          <a:lstStyle/>
          <a:p>
            <a:endParaRPr lang="zh-CN" altLang="en-US"/>
          </a:p>
        </p:txBody>
      </p:sp>
      <p:sp>
        <p:nvSpPr>
          <p:cNvPr id="51211" name="Rectangle 9"/>
          <p:cNvSpPr>
            <a:spLocks noChangeArrowheads="1"/>
          </p:cNvSpPr>
          <p:nvPr/>
        </p:nvSpPr>
        <p:spPr bwMode="auto">
          <a:xfrm>
            <a:off x="1524001" y="29823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51202" name="Object 8"/>
          <p:cNvGraphicFramePr>
            <a:graphicFrameLocks noChangeAspect="1"/>
          </p:cNvGraphicFramePr>
          <p:nvPr>
            <p:extLst>
              <p:ext uri="{D42A27DB-BD31-4B8C-83A1-F6EECF244321}">
                <p14:modId xmlns:p14="http://schemas.microsoft.com/office/powerpoint/2010/main" val="2809284825"/>
              </p:ext>
            </p:extLst>
          </p:nvPr>
        </p:nvGraphicFramePr>
        <p:xfrm>
          <a:off x="3079752" y="4335006"/>
          <a:ext cx="3736976" cy="1135264"/>
        </p:xfrm>
        <a:graphic>
          <a:graphicData uri="http://schemas.openxmlformats.org/presentationml/2006/ole">
            <mc:AlternateContent xmlns:mc="http://schemas.openxmlformats.org/markup-compatibility/2006">
              <mc:Choice xmlns:v="urn:schemas-microsoft-com:vml" Requires="v">
                <p:oleObj name="Equation" r:id="rId4" imgW="1904760" imgH="520560" progId="Equation.DSMT4">
                  <p:embed/>
                </p:oleObj>
              </mc:Choice>
              <mc:Fallback>
                <p:oleObj name="Equation" r:id="rId4" imgW="1904760" imgH="520560" progId="Equation.DSMT4">
                  <p:embed/>
                  <p:pic>
                    <p:nvPicPr>
                      <p:cNvPr id="51202"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2" y="4335006"/>
                        <a:ext cx="3736976" cy="1135264"/>
                      </a:xfrm>
                      <a:prstGeom prst="rect">
                        <a:avLst/>
                      </a:prstGeom>
                      <a:noFill/>
                    </p:spPr>
                  </p:pic>
                </p:oleObj>
              </mc:Fallback>
            </mc:AlternateContent>
          </a:graphicData>
        </a:graphic>
      </p:graphicFrame>
      <p:sp>
        <p:nvSpPr>
          <p:cNvPr id="51212" name="Rectangle 14"/>
          <p:cNvSpPr>
            <a:spLocks noChangeArrowheads="1"/>
          </p:cNvSpPr>
          <p:nvPr/>
        </p:nvSpPr>
        <p:spPr bwMode="auto">
          <a:xfrm>
            <a:off x="7215984" y="4681164"/>
            <a:ext cx="3025775" cy="677108"/>
          </a:xfrm>
          <a:prstGeom prst="rect">
            <a:avLst/>
          </a:prstGeom>
          <a:noFill/>
          <a:ln w="9525">
            <a:noFill/>
            <a:miter lim="800000"/>
            <a:headEnd/>
            <a:tailEnd/>
          </a:ln>
        </p:spPr>
        <p:txBody>
          <a:bodyPr anchor="ctr">
            <a:spAutoFit/>
          </a:bodyPr>
          <a:lstStyle/>
          <a:p>
            <a:r>
              <a:rPr lang="en-US" altLang="zh-CN" b="1" dirty="0"/>
              <a:t> </a:t>
            </a:r>
            <a:r>
              <a:rPr lang="zh-CN" altLang="en-US" b="1" dirty="0"/>
              <a:t>其中：    是矩阵</a:t>
            </a:r>
          </a:p>
          <a:p>
            <a:r>
              <a:rPr lang="zh-CN" altLang="en-US" sz="2000" b="1" dirty="0">
                <a:latin typeface="Times New Roman" pitchFamily="18" charset="0"/>
                <a:cs typeface="Times New Roman" pitchFamily="18" charset="0"/>
              </a:rPr>
              <a:t>第 </a:t>
            </a:r>
            <a:r>
              <a:rPr lang="en-US" altLang="zh-CN" sz="2000" b="1" dirty="0">
                <a:latin typeface="Times New Roman" pitchFamily="18" charset="0"/>
                <a:cs typeface="Times New Roman" pitchFamily="18" charset="0"/>
              </a:rPr>
              <a:t>j </a:t>
            </a:r>
            <a:r>
              <a:rPr lang="zh-CN" altLang="en-US" sz="2000" b="1" dirty="0">
                <a:latin typeface="Times New Roman" pitchFamily="18" charset="0"/>
                <a:cs typeface="Times New Roman" pitchFamily="18" charset="0"/>
              </a:rPr>
              <a:t>行第 </a:t>
            </a:r>
            <a:r>
              <a:rPr lang="en-US" altLang="zh-CN" sz="2000" b="1" dirty="0">
                <a:latin typeface="Times New Roman" pitchFamily="18" charset="0"/>
                <a:cs typeface="Times New Roman" pitchFamily="18" charset="0"/>
              </a:rPr>
              <a:t>j </a:t>
            </a:r>
            <a:r>
              <a:rPr lang="zh-CN" altLang="en-US" sz="2000" b="1" dirty="0">
                <a:latin typeface="Times New Roman" pitchFamily="18" charset="0"/>
                <a:cs typeface="Times New Roman" pitchFamily="18" charset="0"/>
              </a:rPr>
              <a:t>列的元素。</a:t>
            </a:r>
            <a:r>
              <a:rPr lang="zh-CN" altLang="en-US" sz="2000" b="1" dirty="0"/>
              <a:t> </a:t>
            </a:r>
          </a:p>
        </p:txBody>
      </p:sp>
      <p:graphicFrame>
        <p:nvGraphicFramePr>
          <p:cNvPr id="51204" name="Object 10"/>
          <p:cNvGraphicFramePr>
            <a:graphicFrameLocks noChangeAspect="1"/>
          </p:cNvGraphicFramePr>
          <p:nvPr>
            <p:extLst>
              <p:ext uri="{D42A27DB-BD31-4B8C-83A1-F6EECF244321}">
                <p14:modId xmlns:p14="http://schemas.microsoft.com/office/powerpoint/2010/main" val="2850967407"/>
              </p:ext>
            </p:extLst>
          </p:nvPr>
        </p:nvGraphicFramePr>
        <p:xfrm>
          <a:off x="9009854" y="4622899"/>
          <a:ext cx="863600" cy="390525"/>
        </p:xfrm>
        <a:graphic>
          <a:graphicData uri="http://schemas.openxmlformats.org/presentationml/2006/ole">
            <mc:AlternateContent xmlns:mc="http://schemas.openxmlformats.org/markup-compatibility/2006">
              <mc:Choice xmlns:v="urn:schemas-microsoft-com:vml" Requires="v">
                <p:oleObj name="Equation" r:id="rId6" imgW="508000" imgH="228600" progId="Equation.DSMT4">
                  <p:embed/>
                </p:oleObj>
              </mc:Choice>
              <mc:Fallback>
                <p:oleObj name="Equation" r:id="rId6" imgW="508000" imgH="228600" progId="Equation.DSMT4">
                  <p:embed/>
                  <p:pic>
                    <p:nvPicPr>
                      <p:cNvPr id="51204"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9854" y="4622899"/>
                        <a:ext cx="8636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3" name="Rectangle 19"/>
          <p:cNvSpPr>
            <a:spLocks noChangeArrowheads="1"/>
          </p:cNvSpPr>
          <p:nvPr/>
        </p:nvSpPr>
        <p:spPr bwMode="auto">
          <a:xfrm>
            <a:off x="5643563" y="3786188"/>
            <a:ext cx="222250" cy="260350"/>
          </a:xfrm>
          <a:prstGeom prst="rect">
            <a:avLst/>
          </a:prstGeom>
          <a:noFill/>
          <a:ln w="9525">
            <a:noFill/>
            <a:miter lim="800000"/>
            <a:headEnd/>
            <a:tailEnd/>
          </a:ln>
        </p:spPr>
        <p:txBody>
          <a:bodyPr wrap="none" anchor="ctr">
            <a:spAutoFit/>
          </a:bodyPr>
          <a:lstStyle/>
          <a:p>
            <a:r>
              <a:rPr lang="en-US" altLang="zh-CN" sz="1100"/>
              <a:t> </a:t>
            </a:r>
            <a:endParaRPr lang="en-US" altLang="zh-CN"/>
          </a:p>
        </p:txBody>
      </p:sp>
      <p:sp>
        <p:nvSpPr>
          <p:cNvPr id="51214" name="Rectangle 20"/>
          <p:cNvSpPr>
            <a:spLocks noChangeArrowheads="1"/>
          </p:cNvSpPr>
          <p:nvPr/>
        </p:nvSpPr>
        <p:spPr bwMode="auto">
          <a:xfrm>
            <a:off x="1774826" y="5734050"/>
            <a:ext cx="7489825" cy="1123950"/>
          </a:xfrm>
          <a:prstGeom prst="rect">
            <a:avLst/>
          </a:prstGeom>
          <a:noFill/>
          <a:ln w="28575">
            <a:noFill/>
            <a:miter lim="800000"/>
            <a:headEnd/>
            <a:tailEnd/>
          </a:ln>
        </p:spPr>
        <p:txBody>
          <a:bodyPr lIns="90488" tIns="44450" rIns="90488" bIns="44450"/>
          <a:lstStyle/>
          <a:p>
            <a:pPr marL="609600" indent="-609600" algn="just">
              <a:lnSpc>
                <a:spcPct val="105000"/>
              </a:lnSpc>
              <a:buSzPct val="90000"/>
              <a:buBlip>
                <a:blip r:embed="rId2"/>
              </a:buBlip>
            </a:pPr>
            <a:r>
              <a:rPr lang="zh-CN" altLang="en-US" sz="3200" b="1" dirty="0">
                <a:solidFill>
                  <a:srgbClr val="00B0F0"/>
                </a:solidFill>
                <a:latin typeface="Times New Roman" pitchFamily="18" charset="0"/>
              </a:rPr>
              <a:t>当</a:t>
            </a:r>
            <a:r>
              <a:rPr lang="zh-CN" altLang="en-US" sz="3200" b="1" dirty="0">
                <a:solidFill>
                  <a:srgbClr val="C56B9E"/>
                </a:solidFill>
                <a:latin typeface="Times New Roman" pitchFamily="18" charset="0"/>
              </a:rPr>
              <a:t>                   </a:t>
            </a:r>
            <a:r>
              <a:rPr lang="zh-CN" altLang="en-US" sz="3200" b="1" dirty="0">
                <a:latin typeface="Times New Roman" pitchFamily="18" charset="0"/>
              </a:rPr>
              <a:t>，</a:t>
            </a:r>
            <a:r>
              <a:rPr lang="zh-CN" altLang="en-US" sz="3200" b="1" dirty="0">
                <a:solidFill>
                  <a:srgbClr val="00B0F0"/>
                </a:solidFill>
                <a:latin typeface="Times New Roman" pitchFamily="18" charset="0"/>
              </a:rPr>
              <a:t>或</a:t>
            </a:r>
            <a:r>
              <a:rPr lang="zh-CN" altLang="en-US" sz="3200" b="1" i="1" dirty="0">
                <a:solidFill>
                  <a:srgbClr val="C56B9E"/>
                </a:solidFill>
                <a:latin typeface="Times New Roman" pitchFamily="18" charset="0"/>
              </a:rPr>
              <a:t> </a:t>
            </a:r>
            <a:r>
              <a:rPr lang="en-US" altLang="zh-CN" sz="3200" b="1" i="1" dirty="0">
                <a:solidFill>
                  <a:srgbClr val="000000"/>
                </a:solidFill>
                <a:latin typeface="Times New Roman" pitchFamily="18" charset="0"/>
              </a:rPr>
              <a:t>P</a:t>
            </a:r>
            <a:r>
              <a:rPr lang="zh-CN" altLang="en-US" sz="3200" b="1" dirty="0">
                <a:solidFill>
                  <a:srgbClr val="000000"/>
                </a:solidFill>
                <a:latin typeface="Times New Roman" pitchFamily="18" charset="0"/>
              </a:rPr>
              <a:t>值</a:t>
            </a:r>
            <a:r>
              <a:rPr lang="en-US" altLang="zh-CN" sz="3200" b="1" dirty="0">
                <a:solidFill>
                  <a:srgbClr val="000000"/>
                </a:solidFill>
                <a:latin typeface="Times New Roman" pitchFamily="18" charset="0"/>
              </a:rPr>
              <a:t>&lt;</a:t>
            </a:r>
            <a:r>
              <a:rPr lang="el-GR" altLang="zh-CN" sz="3200" b="1" i="1" dirty="0">
                <a:solidFill>
                  <a:srgbClr val="000000"/>
                </a:solidFill>
                <a:latin typeface="Times New Roman" pitchFamily="18" charset="0"/>
                <a:cs typeface="Times New Roman" pitchFamily="18" charset="0"/>
              </a:rPr>
              <a:t>α</a:t>
            </a:r>
            <a:r>
              <a:rPr lang="zh-CN" altLang="en-US" sz="3200" b="1" dirty="0">
                <a:solidFill>
                  <a:srgbClr val="00B0F0"/>
                </a:solidFill>
                <a:latin typeface="Times New Roman" pitchFamily="18" charset="0"/>
                <a:cs typeface="Times New Roman" pitchFamily="18" charset="0"/>
              </a:rPr>
              <a:t>，</a:t>
            </a:r>
            <a:r>
              <a:rPr lang="zh-CN" altLang="en-US" sz="3200" b="1" dirty="0">
                <a:solidFill>
                  <a:srgbClr val="00B0F0"/>
                </a:solidFill>
                <a:latin typeface="Times New Roman" pitchFamily="18" charset="0"/>
              </a:rPr>
              <a:t>拒绝</a:t>
            </a:r>
            <a:r>
              <a:rPr lang="en-US" altLang="zh-CN" sz="3200" b="1" dirty="0">
                <a:solidFill>
                  <a:srgbClr val="00B0F0"/>
                </a:solidFill>
                <a:latin typeface="Times New Roman" pitchFamily="18" charset="0"/>
              </a:rPr>
              <a:t>H0</a:t>
            </a:r>
            <a:r>
              <a:rPr lang="zh-CN" altLang="en-US" sz="3200" b="1" dirty="0">
                <a:solidFill>
                  <a:srgbClr val="00B0F0"/>
                </a:solidFill>
                <a:latin typeface="Times New Roman" pitchFamily="18" charset="0"/>
              </a:rPr>
              <a:t>。</a:t>
            </a:r>
          </a:p>
        </p:txBody>
      </p:sp>
      <p:graphicFrame>
        <p:nvGraphicFramePr>
          <p:cNvPr id="51205" name="Object 16"/>
          <p:cNvGraphicFramePr>
            <a:graphicFrameLocks noChangeAspect="1"/>
          </p:cNvGraphicFramePr>
          <p:nvPr/>
        </p:nvGraphicFramePr>
        <p:xfrm>
          <a:off x="2927351" y="5754689"/>
          <a:ext cx="2016125" cy="573087"/>
        </p:xfrm>
        <a:graphic>
          <a:graphicData uri="http://schemas.openxmlformats.org/presentationml/2006/ole">
            <mc:AlternateContent xmlns:mc="http://schemas.openxmlformats.org/markup-compatibility/2006">
              <mc:Choice xmlns:v="urn:schemas-microsoft-com:vml" Requires="v">
                <p:oleObj name="Equation" r:id="rId8" imgW="901309" imgH="253890" progId="Equation.DSMT4">
                  <p:embed/>
                </p:oleObj>
              </mc:Choice>
              <mc:Fallback>
                <p:oleObj name="Equation" r:id="rId8" imgW="901309" imgH="253890" progId="Equation.DSMT4">
                  <p:embed/>
                  <p:pic>
                    <p:nvPicPr>
                      <p:cNvPr id="51205"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7351" y="5754689"/>
                        <a:ext cx="2016125" cy="573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3" name="Object 11"/>
          <p:cNvGraphicFramePr>
            <a:graphicFrameLocks noChangeAspect="1"/>
          </p:cNvGraphicFramePr>
          <p:nvPr>
            <p:extLst>
              <p:ext uri="{D42A27DB-BD31-4B8C-83A1-F6EECF244321}">
                <p14:modId xmlns:p14="http://schemas.microsoft.com/office/powerpoint/2010/main" val="1717501796"/>
              </p:ext>
            </p:extLst>
          </p:nvPr>
        </p:nvGraphicFramePr>
        <p:xfrm>
          <a:off x="7897019" y="4445000"/>
          <a:ext cx="431800" cy="594798"/>
        </p:xfrm>
        <a:graphic>
          <a:graphicData uri="http://schemas.openxmlformats.org/presentationml/2006/ole">
            <mc:AlternateContent xmlns:mc="http://schemas.openxmlformats.org/markup-compatibility/2006">
              <mc:Choice xmlns:v="urn:schemas-microsoft-com:vml" Requires="v">
                <p:oleObj name="Equation" r:id="rId10" imgW="177480" imgH="241200" progId="Equation.DSMT4">
                  <p:embed/>
                </p:oleObj>
              </mc:Choice>
              <mc:Fallback>
                <p:oleObj name="Equation" r:id="rId10" imgW="177480" imgH="241200" progId="Equation.DSMT4">
                  <p:embed/>
                  <p:pic>
                    <p:nvPicPr>
                      <p:cNvPr id="51203"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97019" y="4445000"/>
                        <a:ext cx="431800" cy="594798"/>
                      </a:xfrm>
                      <a:prstGeom prst="rect">
                        <a:avLst/>
                      </a:prstGeom>
                      <a:noFill/>
                    </p:spPr>
                  </p:pic>
                </p:oleObj>
              </mc:Fallback>
            </mc:AlternateContent>
          </a:graphicData>
        </a:graphic>
      </p:graphicFrame>
    </p:spTree>
    <p:extLst>
      <p:ext uri="{BB962C8B-B14F-4D97-AF65-F5344CB8AC3E}">
        <p14:creationId xmlns:p14="http://schemas.microsoft.com/office/powerpoint/2010/main" val="16064924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09" name="日期占位符 6"/>
          <p:cNvSpPr>
            <a:spLocks noGrp="1"/>
          </p:cNvSpPr>
          <p:nvPr>
            <p:ph type="dt" sz="half" idx="10"/>
          </p:nvPr>
        </p:nvSpPr>
        <p:spPr>
          <a:noFill/>
        </p:spPr>
        <p:txBody>
          <a:bodyPr/>
          <a:lstStyle/>
          <a:p>
            <a:endParaRPr lang="en-US" altLang="zh-CN"/>
          </a:p>
        </p:txBody>
      </p:sp>
      <p:sp>
        <p:nvSpPr>
          <p:cNvPr id="105475" name="Rectangle 2"/>
          <p:cNvSpPr>
            <a:spLocks noGrp="1" noChangeArrowheads="1"/>
          </p:cNvSpPr>
          <p:nvPr>
            <p:ph type="title"/>
          </p:nvPr>
        </p:nvSpPr>
        <p:spPr>
          <a:xfrm>
            <a:off x="1879600" y="818530"/>
            <a:ext cx="5626100" cy="662782"/>
          </a:xfrm>
        </p:spPr>
        <p:txBody>
          <a:bodyPr/>
          <a:lstStyle/>
          <a:p>
            <a:pPr eaLnBrk="1" hangingPunct="1"/>
            <a:r>
              <a:rPr lang="en-US" altLang="zh-CN" dirty="0"/>
              <a:t>EXCEL</a:t>
            </a:r>
            <a:r>
              <a:rPr lang="zh-CN" altLang="en-US" dirty="0"/>
              <a:t>的回归输出</a:t>
            </a:r>
            <a:r>
              <a:rPr lang="en-US" altLang="zh-CN" sz="4000" dirty="0">
                <a:latin typeface="Times New Roman" pitchFamily="18" charset="0"/>
              </a:rPr>
              <a:t>(2)</a:t>
            </a:r>
          </a:p>
        </p:txBody>
      </p:sp>
      <p:sp>
        <p:nvSpPr>
          <p:cNvPr id="105474" name="灯片编号占位符 5"/>
          <p:cNvSpPr>
            <a:spLocks noGrp="1"/>
          </p:cNvSpPr>
          <p:nvPr>
            <p:ph type="sldNum" sz="quarter" idx="4"/>
          </p:nvPr>
        </p:nvSpPr>
        <p:spPr>
          <a:noFill/>
        </p:spPr>
        <p:txBody>
          <a:bodyPr/>
          <a:lstStyle/>
          <a:p>
            <a:r>
              <a:rPr lang="en-US" altLang="zh-CN"/>
              <a:t>9--</a:t>
            </a:r>
            <a:fld id="{69E2955D-0021-4C2A-A260-168C55E24BCF}" type="slidenum">
              <a:rPr lang="en-US" altLang="zh-CN" smtClean="0"/>
              <a:pPr/>
              <a:t>95</a:t>
            </a:fld>
            <a:endParaRPr lang="en-US" altLang="zh-CN"/>
          </a:p>
        </p:txBody>
      </p:sp>
      <p:sp>
        <p:nvSpPr>
          <p:cNvPr id="105507" name="Rectangle 60"/>
          <p:cNvSpPr>
            <a:spLocks noChangeArrowheads="1"/>
          </p:cNvSpPr>
          <p:nvPr/>
        </p:nvSpPr>
        <p:spPr bwMode="auto">
          <a:xfrm>
            <a:off x="2102644" y="4412346"/>
            <a:ext cx="1255712" cy="519113"/>
          </a:xfrm>
          <a:prstGeom prst="rect">
            <a:avLst/>
          </a:prstGeom>
          <a:noFill/>
          <a:ln w="9525">
            <a:noFill/>
            <a:miter lim="800000"/>
            <a:headEnd/>
            <a:tailEnd/>
          </a:ln>
        </p:spPr>
        <p:txBody>
          <a:bodyPr wrap="none">
            <a:spAutoFit/>
          </a:bodyPr>
          <a:lstStyle/>
          <a:p>
            <a:r>
              <a:rPr lang="zh-CN" altLang="en-US" sz="2800" b="1" dirty="0"/>
              <a:t>结论：</a:t>
            </a:r>
          </a:p>
        </p:txBody>
      </p:sp>
      <p:sp>
        <p:nvSpPr>
          <p:cNvPr id="322619" name="Rectangle 59"/>
          <p:cNvSpPr>
            <a:spLocks noChangeArrowheads="1"/>
          </p:cNvSpPr>
          <p:nvPr/>
        </p:nvSpPr>
        <p:spPr bwMode="auto">
          <a:xfrm>
            <a:off x="2102644" y="4419365"/>
            <a:ext cx="7447756" cy="523220"/>
          </a:xfrm>
          <a:prstGeom prst="rect">
            <a:avLst/>
          </a:prstGeom>
          <a:noFill/>
          <a:ln w="9525">
            <a:noFill/>
            <a:miter lim="800000"/>
            <a:headEnd/>
            <a:tailEnd/>
          </a:ln>
        </p:spPr>
        <p:txBody>
          <a:bodyPr wrap="square" anchor="ctr">
            <a:spAutoFit/>
          </a:bodyPr>
          <a:lstStyle/>
          <a:p>
            <a:r>
              <a:rPr lang="zh-CN" altLang="en-US" sz="2800" b="1" dirty="0">
                <a:solidFill>
                  <a:srgbClr val="000000"/>
                </a:solidFill>
              </a:rPr>
              <a:t>结论：</a:t>
            </a:r>
            <a:r>
              <a:rPr lang="zh-CN" altLang="en-US" sz="2800" b="1" dirty="0">
                <a:solidFill>
                  <a:srgbClr val="000000"/>
                </a:solidFill>
                <a:latin typeface="Times New Roman" pitchFamily="18" charset="0"/>
                <a:cs typeface="Times New Roman" pitchFamily="18" charset="0"/>
              </a:rPr>
              <a:t>说明两个自变量对</a:t>
            </a:r>
            <a:r>
              <a:rPr lang="en-US" altLang="zh-CN" sz="2800" b="1" dirty="0">
                <a:solidFill>
                  <a:srgbClr val="000000"/>
                </a:solidFill>
                <a:latin typeface="Times New Roman" pitchFamily="18" charset="0"/>
                <a:cs typeface="Times New Roman" pitchFamily="18" charset="0"/>
              </a:rPr>
              <a:t>Y</a:t>
            </a:r>
            <a:r>
              <a:rPr lang="zh-CN" altLang="en-US" sz="2800" b="1" dirty="0">
                <a:solidFill>
                  <a:srgbClr val="000000"/>
                </a:solidFill>
                <a:latin typeface="Times New Roman" pitchFamily="18" charset="0"/>
                <a:cs typeface="Times New Roman" pitchFamily="18" charset="0"/>
              </a:rPr>
              <a:t>的影响都是显著的。</a:t>
            </a:r>
            <a:r>
              <a:rPr lang="zh-CN" altLang="en-US" sz="2800" b="1" dirty="0">
                <a:solidFill>
                  <a:srgbClr val="000000"/>
                </a:solidFill>
              </a:rPr>
              <a:t> </a:t>
            </a:r>
          </a:p>
        </p:txBody>
      </p:sp>
      <p:pic>
        <p:nvPicPr>
          <p:cNvPr id="9" name="图片 8"/>
          <p:cNvPicPr>
            <a:picLocks noChangeAspect="1"/>
          </p:cNvPicPr>
          <p:nvPr/>
        </p:nvPicPr>
        <p:blipFill>
          <a:blip r:embed="rId2"/>
          <a:stretch>
            <a:fillRect/>
          </a:stretch>
        </p:blipFill>
        <p:spPr>
          <a:xfrm>
            <a:off x="1879599" y="2058882"/>
            <a:ext cx="8293101" cy="1789217"/>
          </a:xfrm>
          <a:prstGeom prst="rect">
            <a:avLst/>
          </a:prstGeom>
        </p:spPr>
      </p:pic>
      <p:sp>
        <p:nvSpPr>
          <p:cNvPr id="10" name="矩形 9"/>
          <p:cNvSpPr/>
          <p:nvPr/>
        </p:nvSpPr>
        <p:spPr>
          <a:xfrm>
            <a:off x="5562600" y="2058883"/>
            <a:ext cx="2260600" cy="187811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6992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22619"/>
                                        </p:tgtEl>
                                        <p:attrNameLst>
                                          <p:attrName>style.visibility</p:attrName>
                                        </p:attrNameLst>
                                      </p:cBhvr>
                                      <p:to>
                                        <p:strVal val="visible"/>
                                      </p:to>
                                    </p:set>
                                    <p:anim calcmode="discrete" valueType="clr">
                                      <p:cBhvr override="childStyle">
                                        <p:cTn id="7" dur="250"/>
                                        <p:tgtEl>
                                          <p:spTgt spid="322619"/>
                                        </p:tgtEl>
                                        <p:attrNameLst>
                                          <p:attrName>style.color</p:attrName>
                                        </p:attrNameLst>
                                      </p:cBhvr>
                                      <p:tavLst>
                                        <p:tav tm="0">
                                          <p:val>
                                            <p:clrVal>
                                              <a:srgbClr val="6666FF"/>
                                            </p:clrVal>
                                          </p:val>
                                        </p:tav>
                                        <p:tav tm="50000">
                                          <p:val>
                                            <p:clrVal>
                                              <a:srgbClr val="CC0099"/>
                                            </p:clrVal>
                                          </p:val>
                                        </p:tav>
                                      </p:tavLst>
                                    </p:anim>
                                    <p:anim calcmode="discrete" valueType="clr">
                                      <p:cBhvr>
                                        <p:cTn id="8" dur="250"/>
                                        <p:tgtEl>
                                          <p:spTgt spid="322619"/>
                                        </p:tgtEl>
                                        <p:attrNameLst>
                                          <p:attrName>fillcolor</p:attrName>
                                        </p:attrNameLst>
                                      </p:cBhvr>
                                      <p:tavLst>
                                        <p:tav tm="0">
                                          <p:val>
                                            <p:clrVal>
                                              <a:schemeClr val="accent2"/>
                                            </p:clrVal>
                                          </p:val>
                                        </p:tav>
                                        <p:tav tm="50000">
                                          <p:val>
                                            <p:clrVal>
                                              <a:schemeClr val="hlink"/>
                                            </p:clrVal>
                                          </p:val>
                                        </p:tav>
                                      </p:tavLst>
                                    </p:anim>
                                    <p:set>
                                      <p:cBhvr>
                                        <p:cTn id="9" dur="250"/>
                                        <p:tgtEl>
                                          <p:spTgt spid="3226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61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4" name="日期占位符 9"/>
          <p:cNvSpPr>
            <a:spLocks noGrp="1"/>
          </p:cNvSpPr>
          <p:nvPr>
            <p:ph type="dt" sz="half" idx="10"/>
          </p:nvPr>
        </p:nvSpPr>
        <p:spPr>
          <a:noFill/>
        </p:spPr>
        <p:txBody>
          <a:bodyPr/>
          <a:lstStyle/>
          <a:p>
            <a:endParaRPr lang="en-US" altLang="zh-CN"/>
          </a:p>
        </p:txBody>
      </p:sp>
      <p:sp>
        <p:nvSpPr>
          <p:cNvPr id="52229" name="Rectangle 2"/>
          <p:cNvSpPr>
            <a:spLocks noGrp="1" noChangeArrowheads="1"/>
          </p:cNvSpPr>
          <p:nvPr>
            <p:ph type="title"/>
          </p:nvPr>
        </p:nvSpPr>
        <p:spPr>
          <a:xfrm>
            <a:off x="1708732" y="644205"/>
            <a:ext cx="7969250" cy="662782"/>
          </a:xfrm>
        </p:spPr>
        <p:txBody>
          <a:bodyPr/>
          <a:lstStyle/>
          <a:p>
            <a:pPr eaLnBrk="1" hangingPunct="1"/>
            <a:r>
              <a:rPr kumimoji="1" lang="en-US" altLang="zh-CN" sz="4000" dirty="0">
                <a:sym typeface="Symbol" pitchFamily="18" charset="2"/>
              </a:rPr>
              <a:t>3.</a:t>
            </a:r>
            <a:r>
              <a:rPr kumimoji="1" lang="zh-CN" altLang="en-US" sz="4000" dirty="0">
                <a:sym typeface="Symbol" pitchFamily="18" charset="2"/>
              </a:rPr>
              <a:t>回归方程的显著性检验</a:t>
            </a:r>
            <a:r>
              <a:rPr kumimoji="1" lang="zh-CN" altLang="en-US" dirty="0">
                <a:sym typeface="Symbol" pitchFamily="18" charset="2"/>
              </a:rPr>
              <a:t>（</a:t>
            </a:r>
            <a:r>
              <a:rPr kumimoji="1" lang="en-US" altLang="zh-CN" dirty="0">
                <a:sym typeface="Symbol" pitchFamily="18" charset="2"/>
              </a:rPr>
              <a:t>F-</a:t>
            </a:r>
            <a:r>
              <a:rPr kumimoji="1" lang="zh-CN" altLang="en-US" dirty="0">
                <a:sym typeface="Symbol" pitchFamily="18" charset="2"/>
              </a:rPr>
              <a:t>检验）</a:t>
            </a:r>
          </a:p>
        </p:txBody>
      </p:sp>
      <p:sp>
        <p:nvSpPr>
          <p:cNvPr id="52228" name="灯片编号占位符 5"/>
          <p:cNvSpPr>
            <a:spLocks noGrp="1"/>
          </p:cNvSpPr>
          <p:nvPr>
            <p:ph type="sldNum" sz="quarter" idx="4"/>
          </p:nvPr>
        </p:nvSpPr>
        <p:spPr>
          <a:noFill/>
        </p:spPr>
        <p:txBody>
          <a:bodyPr/>
          <a:lstStyle/>
          <a:p>
            <a:r>
              <a:rPr lang="en-US" altLang="zh-CN"/>
              <a:t>9--</a:t>
            </a:r>
            <a:fld id="{4B4BDC23-3AAA-4176-89D8-A70CB2BD0F5F}" type="slidenum">
              <a:rPr lang="en-US" altLang="zh-CN" smtClean="0"/>
              <a:pPr/>
              <a:t>96</a:t>
            </a:fld>
            <a:endParaRPr lang="en-US" altLang="zh-CN"/>
          </a:p>
        </p:txBody>
      </p:sp>
      <p:sp>
        <p:nvSpPr>
          <p:cNvPr id="52230" name="Rectangle 5"/>
          <p:cNvSpPr>
            <a:spLocks noChangeArrowheads="1"/>
          </p:cNvSpPr>
          <p:nvPr/>
        </p:nvSpPr>
        <p:spPr bwMode="auto">
          <a:xfrm>
            <a:off x="1371600" y="1377457"/>
            <a:ext cx="9509760" cy="3311525"/>
          </a:xfrm>
          <a:prstGeom prst="rect">
            <a:avLst/>
          </a:prstGeom>
          <a:noFill/>
          <a:ln w="38100">
            <a:noFill/>
            <a:miter lim="800000"/>
            <a:headEnd/>
            <a:tailEnd/>
          </a:ln>
        </p:spPr>
        <p:txBody>
          <a:bodyPr lIns="90488" tIns="44450" rIns="90488" bIns="44450"/>
          <a:lstStyle/>
          <a:p>
            <a:pPr algn="just">
              <a:lnSpc>
                <a:spcPct val="150000"/>
              </a:lnSpc>
              <a:buSzPct val="90000"/>
            </a:pPr>
            <a:r>
              <a:rPr lang="zh-CN" altLang="en-US" sz="2800" b="1" dirty="0">
                <a:latin typeface="Tahoma" pitchFamily="34" charset="0"/>
              </a:rPr>
              <a:t>      对回归系数进行整体检验</a:t>
            </a:r>
            <a:r>
              <a:rPr lang="en-US" altLang="zh-CN" sz="2800" b="1" dirty="0"/>
              <a:t>——</a:t>
            </a:r>
            <a:r>
              <a:rPr lang="zh-CN" altLang="en-US" sz="2800" b="1" dirty="0">
                <a:latin typeface="Tahoma" pitchFamily="34" charset="0"/>
              </a:rPr>
              <a:t>多个自变量联合起来同因变量之间是否存在显著的线性关系，即</a:t>
            </a:r>
            <a:r>
              <a:rPr lang="zh-CN" altLang="en-US" sz="2800" b="1" dirty="0">
                <a:latin typeface="Times New Roman" pitchFamily="18" charset="0"/>
              </a:rPr>
              <a:t>对回归方程的</a:t>
            </a:r>
            <a:r>
              <a:rPr lang="en-US" altLang="zh-CN" sz="2800" b="1" dirty="0">
                <a:latin typeface="Times New Roman" pitchFamily="18" charset="0"/>
              </a:rPr>
              <a:t>F</a:t>
            </a:r>
            <a:r>
              <a:rPr lang="en-US" altLang="zh-CN" sz="2800" b="1" i="1" dirty="0">
                <a:latin typeface="Times New Roman" pitchFamily="18" charset="0"/>
              </a:rPr>
              <a:t> </a:t>
            </a:r>
            <a:r>
              <a:rPr lang="zh-CN" altLang="en-US" sz="2800" b="1" dirty="0">
                <a:latin typeface="Times New Roman" pitchFamily="18" charset="0"/>
              </a:rPr>
              <a:t>检验</a:t>
            </a:r>
            <a:r>
              <a:rPr lang="en-US" altLang="zh-CN" sz="2800" b="1" dirty="0">
                <a:latin typeface="Times New Roman" pitchFamily="18" charset="0"/>
              </a:rPr>
              <a:t>:</a:t>
            </a:r>
          </a:p>
          <a:p>
            <a:pPr marL="444500" lvl="1" algn="just">
              <a:lnSpc>
                <a:spcPct val="150000"/>
              </a:lnSpc>
              <a:buSzPct val="80000"/>
            </a:pPr>
            <a:r>
              <a:rPr lang="en-US" altLang="zh-CN" sz="2800" b="1" i="1" dirty="0">
                <a:solidFill>
                  <a:srgbClr val="00B0F0"/>
                </a:solidFill>
                <a:latin typeface="Times New Roman" pitchFamily="18" charset="0"/>
              </a:rPr>
              <a:t>H</a:t>
            </a:r>
            <a:r>
              <a:rPr lang="en-US" altLang="zh-CN" sz="2800" b="1" i="1" baseline="-25000" dirty="0">
                <a:solidFill>
                  <a:srgbClr val="00B0F0"/>
                </a:solidFill>
                <a:latin typeface="Times New Roman" pitchFamily="18" charset="0"/>
              </a:rPr>
              <a:t>0</a:t>
            </a:r>
            <a:r>
              <a:rPr lang="zh-CN" altLang="en-US" sz="2800" b="1" dirty="0">
                <a:solidFill>
                  <a:srgbClr val="00B0F0"/>
                </a:solidFill>
                <a:latin typeface="Times New Roman" pitchFamily="18" charset="0"/>
              </a:rPr>
              <a:t>：</a:t>
            </a:r>
            <a:r>
              <a:rPr lang="zh-CN" altLang="en-US" sz="2800" i="1" dirty="0">
                <a:solidFill>
                  <a:srgbClr val="00B0F0"/>
                </a:solidFill>
                <a:latin typeface="Tahoma" pitchFamily="34" charset="0"/>
                <a:sym typeface="Symbol" pitchFamily="18" charset="2"/>
              </a:rPr>
              <a:t></a:t>
            </a:r>
            <a:r>
              <a:rPr lang="en-US" altLang="zh-CN" sz="2800" b="1" i="1" baseline="-25000" dirty="0">
                <a:solidFill>
                  <a:srgbClr val="00B0F0"/>
                </a:solidFill>
                <a:latin typeface="Times New Roman" pitchFamily="18" charset="0"/>
                <a:sym typeface="Symbol" pitchFamily="18" charset="2"/>
              </a:rPr>
              <a:t>1</a:t>
            </a:r>
            <a:r>
              <a:rPr lang="en-US" altLang="zh-CN" sz="2800" dirty="0">
                <a:solidFill>
                  <a:srgbClr val="00B0F0"/>
                </a:solidFill>
                <a:latin typeface="Tahoma" pitchFamily="34" charset="0"/>
                <a:sym typeface="Symbol" pitchFamily="18" charset="2"/>
              </a:rPr>
              <a:t>=</a:t>
            </a:r>
            <a:r>
              <a:rPr lang="en-US" altLang="zh-CN" sz="2800" i="1" dirty="0">
                <a:solidFill>
                  <a:srgbClr val="00B0F0"/>
                </a:solidFill>
                <a:latin typeface="Tahoma" pitchFamily="34" charset="0"/>
                <a:sym typeface="Symbol" pitchFamily="18" charset="2"/>
              </a:rPr>
              <a:t></a:t>
            </a:r>
            <a:r>
              <a:rPr lang="en-US" altLang="zh-CN" sz="2800" b="1" i="1" baseline="-25000" dirty="0">
                <a:solidFill>
                  <a:srgbClr val="00B0F0"/>
                </a:solidFill>
                <a:latin typeface="Times New Roman" pitchFamily="18" charset="0"/>
                <a:sym typeface="Symbol" pitchFamily="18" charset="2"/>
              </a:rPr>
              <a:t>2</a:t>
            </a:r>
            <a:r>
              <a:rPr lang="en-US" altLang="zh-CN" sz="2800" dirty="0">
                <a:solidFill>
                  <a:srgbClr val="00B0F0"/>
                </a:solidFill>
                <a:latin typeface="Tahoma" pitchFamily="34" charset="0"/>
                <a:sym typeface="Symbol" pitchFamily="18" charset="2"/>
              </a:rPr>
              <a:t>=</a:t>
            </a:r>
            <a:r>
              <a:rPr lang="en-US" altLang="zh-CN" sz="2800" dirty="0">
                <a:solidFill>
                  <a:srgbClr val="00B0F0"/>
                </a:solidFill>
                <a:sym typeface="Symbol" pitchFamily="18" charset="2"/>
              </a:rPr>
              <a:t>…</a:t>
            </a:r>
            <a:r>
              <a:rPr lang="en-US" altLang="zh-CN" sz="2800" dirty="0">
                <a:solidFill>
                  <a:srgbClr val="00B0F0"/>
                </a:solidFill>
                <a:latin typeface="Tahoma" pitchFamily="34" charset="0"/>
                <a:sym typeface="Symbol" pitchFamily="18" charset="2"/>
              </a:rPr>
              <a:t>=</a:t>
            </a:r>
            <a:r>
              <a:rPr lang="en-US" altLang="zh-CN" sz="2800" i="1" dirty="0">
                <a:solidFill>
                  <a:srgbClr val="00B0F0"/>
                </a:solidFill>
                <a:latin typeface="Tahoma" pitchFamily="34" charset="0"/>
                <a:sym typeface="Symbol" pitchFamily="18" charset="2"/>
              </a:rPr>
              <a:t></a:t>
            </a:r>
            <a:r>
              <a:rPr lang="en-US" altLang="zh-CN" sz="2800" b="1" i="1" baseline="-25000" dirty="0">
                <a:solidFill>
                  <a:srgbClr val="00B0F0"/>
                </a:solidFill>
                <a:latin typeface="Times New Roman" pitchFamily="18" charset="0"/>
                <a:sym typeface="Symbol" pitchFamily="18" charset="2"/>
              </a:rPr>
              <a:t>K</a:t>
            </a:r>
            <a:r>
              <a:rPr lang="en-US" altLang="zh-CN" sz="2800" dirty="0">
                <a:solidFill>
                  <a:srgbClr val="00B0F0"/>
                </a:solidFill>
                <a:latin typeface="Tahoma" pitchFamily="34" charset="0"/>
                <a:sym typeface="Symbol" pitchFamily="18" charset="2"/>
              </a:rPr>
              <a:t>=0 </a:t>
            </a:r>
            <a:r>
              <a:rPr lang="zh-CN" altLang="en-US" sz="2800" dirty="0">
                <a:latin typeface="Tahoma" pitchFamily="34" charset="0"/>
                <a:sym typeface="Symbol" pitchFamily="18" charset="2"/>
              </a:rPr>
              <a:t>（</a:t>
            </a:r>
            <a:r>
              <a:rPr lang="zh-CN" altLang="en-US" sz="2800" b="1" dirty="0">
                <a:latin typeface="Tahoma" pitchFamily="34" charset="0"/>
                <a:sym typeface="Symbol" pitchFamily="18" charset="2"/>
              </a:rPr>
              <a:t>所有</a:t>
            </a:r>
            <a:r>
              <a:rPr lang="en-US" altLang="zh-CN" sz="2800" i="1" dirty="0" err="1">
                <a:latin typeface="Times New Roman" pitchFamily="18" charset="0"/>
                <a:sym typeface="Symbol" pitchFamily="18" charset="2"/>
              </a:rPr>
              <a:t>X</a:t>
            </a:r>
            <a:r>
              <a:rPr lang="en-US" altLang="zh-CN" sz="2800" b="1" i="1" baseline="-25000" dirty="0" err="1">
                <a:latin typeface="Times New Roman" pitchFamily="18" charset="0"/>
                <a:sym typeface="Symbol" pitchFamily="18" charset="2"/>
              </a:rPr>
              <a:t>j</a:t>
            </a:r>
            <a:r>
              <a:rPr lang="zh-CN" altLang="en-US" sz="2800" b="1" dirty="0">
                <a:latin typeface="Times New Roman" pitchFamily="18" charset="0"/>
              </a:rPr>
              <a:t>与</a:t>
            </a:r>
            <a:r>
              <a:rPr lang="en-US" altLang="zh-CN" sz="2800" b="1" dirty="0">
                <a:latin typeface="Times New Roman" pitchFamily="18" charset="0"/>
              </a:rPr>
              <a:t>Y</a:t>
            </a:r>
            <a:r>
              <a:rPr lang="zh-CN" altLang="en-US" sz="2800" b="1" dirty="0">
                <a:latin typeface="Times New Roman" pitchFamily="18" charset="0"/>
              </a:rPr>
              <a:t>的线性关系都不显著）；</a:t>
            </a:r>
          </a:p>
          <a:p>
            <a:pPr algn="just">
              <a:lnSpc>
                <a:spcPct val="150000"/>
              </a:lnSpc>
              <a:buSzPct val="80000"/>
              <a:tabLst>
                <a:tab pos="804863" algn="l"/>
              </a:tabLst>
            </a:pPr>
            <a:r>
              <a:rPr lang="en-US" altLang="zh-CN" sz="2800" b="1" i="1" dirty="0">
                <a:solidFill>
                  <a:srgbClr val="00B0F0"/>
                </a:solidFill>
                <a:latin typeface="Times New Roman" pitchFamily="18" charset="0"/>
              </a:rPr>
              <a:t>    H</a:t>
            </a:r>
            <a:r>
              <a:rPr lang="en-US" altLang="zh-CN" sz="2800" b="1" i="1" baseline="-25000" dirty="0">
                <a:solidFill>
                  <a:srgbClr val="00B0F0"/>
                </a:solidFill>
                <a:latin typeface="Times New Roman" pitchFamily="18" charset="0"/>
              </a:rPr>
              <a:t>1</a:t>
            </a:r>
            <a:r>
              <a:rPr lang="zh-CN" altLang="en-US" sz="2800" dirty="0">
                <a:solidFill>
                  <a:srgbClr val="00B0F0"/>
                </a:solidFill>
                <a:latin typeface="Tahoma" pitchFamily="34" charset="0"/>
                <a:sym typeface="Symbol" pitchFamily="18" charset="2"/>
              </a:rPr>
              <a:t>：</a:t>
            </a:r>
            <a:r>
              <a:rPr lang="zh-CN" altLang="en-US" sz="2800" i="1" dirty="0">
                <a:solidFill>
                  <a:srgbClr val="00B0F0"/>
                </a:solidFill>
                <a:latin typeface="Tahoma" pitchFamily="34" charset="0"/>
                <a:sym typeface="Symbol" pitchFamily="18" charset="2"/>
              </a:rPr>
              <a:t></a:t>
            </a:r>
            <a:r>
              <a:rPr lang="en-US" altLang="zh-CN" sz="2800" b="1" i="1" baseline="-25000" dirty="0">
                <a:solidFill>
                  <a:srgbClr val="00B0F0"/>
                </a:solidFill>
                <a:latin typeface="Times New Roman" pitchFamily="18" charset="0"/>
                <a:sym typeface="Symbol" pitchFamily="18" charset="2"/>
              </a:rPr>
              <a:t>j</a:t>
            </a:r>
            <a:r>
              <a:rPr lang="en-US" altLang="zh-CN" sz="2800" dirty="0">
                <a:solidFill>
                  <a:srgbClr val="00B0F0"/>
                </a:solidFill>
                <a:latin typeface="Tahoma" pitchFamily="34" charset="0"/>
                <a:sym typeface="Symbol" pitchFamily="18" charset="2"/>
              </a:rPr>
              <a:t> </a:t>
            </a:r>
            <a:r>
              <a:rPr lang="zh-CN" altLang="en-US" sz="2800" b="1" dirty="0">
                <a:solidFill>
                  <a:srgbClr val="00B0F0"/>
                </a:solidFill>
                <a:latin typeface="Tahoma" pitchFamily="34" charset="0"/>
                <a:sym typeface="Symbol" pitchFamily="18" charset="2"/>
              </a:rPr>
              <a:t>不全为</a:t>
            </a:r>
            <a:r>
              <a:rPr lang="en-US" altLang="zh-CN" sz="2800" dirty="0">
                <a:solidFill>
                  <a:srgbClr val="00B0F0"/>
                </a:solidFill>
                <a:latin typeface="Tahoma" pitchFamily="34" charset="0"/>
                <a:sym typeface="Symbol" pitchFamily="18" charset="2"/>
              </a:rPr>
              <a:t>0</a:t>
            </a:r>
            <a:r>
              <a:rPr lang="zh-CN" altLang="en-US" sz="2400" dirty="0">
                <a:latin typeface="Tahoma" pitchFamily="34" charset="0"/>
                <a:sym typeface="Symbol" pitchFamily="18" charset="2"/>
              </a:rPr>
              <a:t>（</a:t>
            </a:r>
            <a:r>
              <a:rPr lang="zh-CN" altLang="en-US" sz="2400" b="1" dirty="0">
                <a:latin typeface="Tahoma" pitchFamily="34" charset="0"/>
                <a:sym typeface="Symbol" pitchFamily="18" charset="2"/>
              </a:rPr>
              <a:t>至少有一个</a:t>
            </a:r>
            <a:r>
              <a:rPr lang="en-US" altLang="zh-CN" sz="2400" i="1" dirty="0">
                <a:latin typeface="Times New Roman" pitchFamily="18" charset="0"/>
                <a:sym typeface="Symbol" pitchFamily="18" charset="2"/>
              </a:rPr>
              <a:t>X</a:t>
            </a:r>
            <a:r>
              <a:rPr lang="zh-CN" altLang="en-US" sz="2400" b="1" dirty="0">
                <a:latin typeface="Times New Roman" pitchFamily="18" charset="0"/>
              </a:rPr>
              <a:t>与</a:t>
            </a:r>
            <a:r>
              <a:rPr lang="en-US" altLang="zh-CN" sz="2400" b="1" dirty="0">
                <a:latin typeface="Times New Roman" pitchFamily="18" charset="0"/>
              </a:rPr>
              <a:t>Y</a:t>
            </a:r>
            <a:r>
              <a:rPr lang="zh-CN" altLang="en-US" sz="2400" b="1" dirty="0">
                <a:latin typeface="Times New Roman" pitchFamily="18" charset="0"/>
              </a:rPr>
              <a:t>的线性关系显著）</a:t>
            </a:r>
          </a:p>
        </p:txBody>
      </p:sp>
      <p:sp>
        <p:nvSpPr>
          <p:cNvPr id="52231" name="Rectangle 8"/>
          <p:cNvSpPr>
            <a:spLocks noChangeArrowheads="1"/>
          </p:cNvSpPr>
          <p:nvPr/>
        </p:nvSpPr>
        <p:spPr bwMode="auto">
          <a:xfrm>
            <a:off x="1524001" y="29919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52226" name="Object 7"/>
          <p:cNvGraphicFramePr>
            <a:graphicFrameLocks noChangeAspect="1"/>
          </p:cNvGraphicFramePr>
          <p:nvPr>
            <p:extLst>
              <p:ext uri="{D42A27DB-BD31-4B8C-83A1-F6EECF244321}">
                <p14:modId xmlns:p14="http://schemas.microsoft.com/office/powerpoint/2010/main" val="2091445056"/>
              </p:ext>
            </p:extLst>
          </p:nvPr>
        </p:nvGraphicFramePr>
        <p:xfrm>
          <a:off x="3296444" y="4248053"/>
          <a:ext cx="5381625" cy="1150815"/>
        </p:xfrm>
        <a:graphic>
          <a:graphicData uri="http://schemas.openxmlformats.org/presentationml/2006/ole">
            <mc:AlternateContent xmlns:mc="http://schemas.openxmlformats.org/markup-compatibility/2006">
              <mc:Choice xmlns:v="urn:schemas-microsoft-com:vml" Requires="v">
                <p:oleObj name="Equation" r:id="rId2" imgW="2603160" imgH="507960" progId="Equation.DSMT4">
                  <p:embed/>
                </p:oleObj>
              </mc:Choice>
              <mc:Fallback>
                <p:oleObj name="Equation" r:id="rId2" imgW="2603160" imgH="507960" progId="Equation.DSMT4">
                  <p:embed/>
                  <p:pic>
                    <p:nvPicPr>
                      <p:cNvPr id="52226"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6444" y="4248053"/>
                        <a:ext cx="5381625" cy="1150815"/>
                      </a:xfrm>
                      <a:prstGeom prst="rect">
                        <a:avLst/>
                      </a:prstGeom>
                      <a:noFill/>
                    </p:spPr>
                  </p:pic>
                </p:oleObj>
              </mc:Fallback>
            </mc:AlternateContent>
          </a:graphicData>
        </a:graphic>
      </p:graphicFrame>
      <p:sp>
        <p:nvSpPr>
          <p:cNvPr id="52232" name="Rectangle 10"/>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52233" name="Rectangle 11"/>
          <p:cNvSpPr>
            <a:spLocks noChangeArrowheads="1"/>
          </p:cNvSpPr>
          <p:nvPr/>
        </p:nvSpPr>
        <p:spPr bwMode="auto">
          <a:xfrm>
            <a:off x="1774826" y="5517233"/>
            <a:ext cx="8424863" cy="790575"/>
          </a:xfrm>
          <a:prstGeom prst="rect">
            <a:avLst/>
          </a:prstGeom>
          <a:noFill/>
          <a:ln w="28575">
            <a:noFill/>
            <a:miter lim="800000"/>
            <a:headEnd/>
            <a:tailEnd/>
          </a:ln>
        </p:spPr>
        <p:txBody>
          <a:bodyPr lIns="90488" tIns="44450" rIns="90488" bIns="44450"/>
          <a:lstStyle/>
          <a:p>
            <a:pPr marL="609600" indent="-609600" algn="just">
              <a:lnSpc>
                <a:spcPct val="105000"/>
              </a:lnSpc>
              <a:buSzPct val="90000"/>
              <a:buBlip>
                <a:blip r:embed="rId4"/>
              </a:buBlip>
            </a:pPr>
            <a:r>
              <a:rPr lang="zh-CN" altLang="en-US" sz="3200" b="1" dirty="0">
                <a:solidFill>
                  <a:srgbClr val="0070C0"/>
                </a:solidFill>
                <a:latin typeface="Times New Roman" pitchFamily="18" charset="0"/>
              </a:rPr>
              <a:t>当                      </a:t>
            </a:r>
            <a:r>
              <a:rPr lang="zh-CN" altLang="en-US" sz="2800" b="1" dirty="0">
                <a:latin typeface="Times New Roman" pitchFamily="18" charset="0"/>
              </a:rPr>
              <a:t>，或</a:t>
            </a:r>
            <a:r>
              <a:rPr lang="zh-CN" altLang="en-US" sz="3200" b="1" i="1" dirty="0">
                <a:solidFill>
                  <a:srgbClr val="0070C0"/>
                </a:solidFill>
                <a:latin typeface="Times New Roman" pitchFamily="18" charset="0"/>
              </a:rPr>
              <a:t> </a:t>
            </a:r>
            <a:r>
              <a:rPr lang="en-US" altLang="zh-CN" sz="3200" b="1" dirty="0">
                <a:solidFill>
                  <a:srgbClr val="0070C0"/>
                </a:solidFill>
                <a:latin typeface="Times New Roman" pitchFamily="18" charset="0"/>
              </a:rPr>
              <a:t>sig. (</a:t>
            </a:r>
            <a:r>
              <a:rPr lang="en-US" altLang="zh-CN" sz="3200" b="1" i="1" dirty="0">
                <a:solidFill>
                  <a:srgbClr val="0070C0"/>
                </a:solidFill>
                <a:latin typeface="Times New Roman" pitchFamily="18" charset="0"/>
              </a:rPr>
              <a:t>P</a:t>
            </a:r>
            <a:r>
              <a:rPr lang="zh-CN" altLang="en-US" sz="3200" b="1" dirty="0">
                <a:solidFill>
                  <a:srgbClr val="0070C0"/>
                </a:solidFill>
                <a:latin typeface="Times New Roman" pitchFamily="18" charset="0"/>
              </a:rPr>
              <a:t>值</a:t>
            </a:r>
            <a:r>
              <a:rPr lang="en-US" altLang="zh-CN" sz="3200" b="1" dirty="0">
                <a:solidFill>
                  <a:srgbClr val="0070C0"/>
                </a:solidFill>
                <a:latin typeface="Times New Roman" pitchFamily="18" charset="0"/>
              </a:rPr>
              <a:t>)&lt;</a:t>
            </a:r>
            <a:r>
              <a:rPr lang="el-GR" altLang="zh-CN" sz="3600" b="1" i="1" dirty="0">
                <a:solidFill>
                  <a:srgbClr val="0070C0"/>
                </a:solidFill>
                <a:latin typeface="Times New Roman" pitchFamily="18" charset="0"/>
                <a:cs typeface="Times New Roman" pitchFamily="18" charset="0"/>
              </a:rPr>
              <a:t>α</a:t>
            </a:r>
            <a:r>
              <a:rPr lang="zh-CN" altLang="en-US" sz="2800" dirty="0">
                <a:solidFill>
                  <a:srgbClr val="0070C0"/>
                </a:solidFill>
                <a:latin typeface="Times New Roman" pitchFamily="18" charset="0"/>
                <a:cs typeface="Times New Roman" pitchFamily="18" charset="0"/>
              </a:rPr>
              <a:t>，</a:t>
            </a:r>
            <a:r>
              <a:rPr lang="zh-CN" altLang="en-US" sz="3200" b="1" dirty="0">
                <a:solidFill>
                  <a:srgbClr val="0070C0"/>
                </a:solidFill>
                <a:latin typeface="Times New Roman" pitchFamily="18" charset="0"/>
              </a:rPr>
              <a:t>拒绝</a:t>
            </a:r>
            <a:r>
              <a:rPr lang="en-US" altLang="zh-CN" sz="3200" b="1" dirty="0">
                <a:solidFill>
                  <a:srgbClr val="0070C0"/>
                </a:solidFill>
                <a:latin typeface="Times New Roman" pitchFamily="18" charset="0"/>
              </a:rPr>
              <a:t>H</a:t>
            </a:r>
            <a:r>
              <a:rPr lang="en-US" altLang="zh-CN" sz="3200" b="1" baseline="-25000" dirty="0">
                <a:solidFill>
                  <a:srgbClr val="0070C0"/>
                </a:solidFill>
                <a:latin typeface="Times New Roman" pitchFamily="18" charset="0"/>
              </a:rPr>
              <a:t>0</a:t>
            </a:r>
          </a:p>
        </p:txBody>
      </p:sp>
      <p:graphicFrame>
        <p:nvGraphicFramePr>
          <p:cNvPr id="52227" name="Object 9"/>
          <p:cNvGraphicFramePr>
            <a:graphicFrameLocks noChangeAspect="1"/>
          </p:cNvGraphicFramePr>
          <p:nvPr/>
        </p:nvGraphicFramePr>
        <p:xfrm>
          <a:off x="2927350" y="5588670"/>
          <a:ext cx="2160588" cy="563562"/>
        </p:xfrm>
        <a:graphic>
          <a:graphicData uri="http://schemas.openxmlformats.org/presentationml/2006/ole">
            <mc:AlternateContent xmlns:mc="http://schemas.openxmlformats.org/markup-compatibility/2006">
              <mc:Choice xmlns:v="urn:schemas-microsoft-com:vml" Requires="v">
                <p:oleObj name="Equation" r:id="rId5" imgW="1193760" imgH="228600" progId="Equation.DSMT4">
                  <p:embed/>
                </p:oleObj>
              </mc:Choice>
              <mc:Fallback>
                <p:oleObj name="Equation" r:id="rId5" imgW="1193760" imgH="228600" progId="Equation.DSMT4">
                  <p:embed/>
                  <p:pic>
                    <p:nvPicPr>
                      <p:cNvPr id="5222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0" y="5588670"/>
                        <a:ext cx="2160588"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501096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35" name="日期占位符 6"/>
          <p:cNvSpPr>
            <a:spLocks noGrp="1"/>
          </p:cNvSpPr>
          <p:nvPr>
            <p:ph type="dt" sz="half" idx="10"/>
          </p:nvPr>
        </p:nvSpPr>
        <p:spPr>
          <a:noFill/>
        </p:spPr>
        <p:txBody>
          <a:bodyPr/>
          <a:lstStyle/>
          <a:p>
            <a:endParaRPr lang="en-US" altLang="zh-CN"/>
          </a:p>
        </p:txBody>
      </p:sp>
      <p:sp>
        <p:nvSpPr>
          <p:cNvPr id="106499" name="Rectangle 2"/>
          <p:cNvSpPr>
            <a:spLocks noGrp="1" noChangeArrowheads="1"/>
          </p:cNvSpPr>
          <p:nvPr>
            <p:ph type="title"/>
          </p:nvPr>
        </p:nvSpPr>
        <p:spPr>
          <a:xfrm>
            <a:off x="2032000" y="777566"/>
            <a:ext cx="5765800" cy="662782"/>
          </a:xfrm>
        </p:spPr>
        <p:txBody>
          <a:bodyPr/>
          <a:lstStyle/>
          <a:p>
            <a:pPr eaLnBrk="1" hangingPunct="1"/>
            <a:r>
              <a:rPr lang="en-US" altLang="zh-CN" dirty="0"/>
              <a:t>EXCEL</a:t>
            </a:r>
            <a:r>
              <a:rPr lang="zh-CN" altLang="en-US" dirty="0"/>
              <a:t>的回归输出</a:t>
            </a:r>
            <a:r>
              <a:rPr lang="en-US" altLang="zh-CN" sz="4000" dirty="0">
                <a:latin typeface="Times New Roman" pitchFamily="18" charset="0"/>
              </a:rPr>
              <a:t>(3)</a:t>
            </a:r>
          </a:p>
        </p:txBody>
      </p:sp>
      <p:sp>
        <p:nvSpPr>
          <p:cNvPr id="106498" name="灯片编号占位符 5"/>
          <p:cNvSpPr>
            <a:spLocks noGrp="1"/>
          </p:cNvSpPr>
          <p:nvPr>
            <p:ph type="sldNum" sz="quarter" idx="4"/>
          </p:nvPr>
        </p:nvSpPr>
        <p:spPr>
          <a:noFill/>
        </p:spPr>
        <p:txBody>
          <a:bodyPr/>
          <a:lstStyle/>
          <a:p>
            <a:r>
              <a:rPr lang="en-US" altLang="zh-CN"/>
              <a:t>9--</a:t>
            </a:r>
            <a:fld id="{68CB4E91-19C8-4238-8D39-DFAB41881D8F}" type="slidenum">
              <a:rPr lang="en-US" altLang="zh-CN" smtClean="0"/>
              <a:pPr/>
              <a:t>97</a:t>
            </a:fld>
            <a:endParaRPr lang="en-US" altLang="zh-CN"/>
          </a:p>
        </p:txBody>
      </p:sp>
      <p:sp>
        <p:nvSpPr>
          <p:cNvPr id="106500" name="Rectangle 38"/>
          <p:cNvSpPr>
            <a:spLocks noChangeArrowheads="1"/>
          </p:cNvSpPr>
          <p:nvPr/>
        </p:nvSpPr>
        <p:spPr bwMode="auto">
          <a:xfrm>
            <a:off x="2032000" y="4775200"/>
            <a:ext cx="1549400" cy="646331"/>
          </a:xfrm>
          <a:prstGeom prst="rect">
            <a:avLst/>
          </a:prstGeom>
          <a:noFill/>
          <a:ln w="9525">
            <a:noFill/>
            <a:miter lim="800000"/>
            <a:headEnd/>
            <a:tailEnd/>
          </a:ln>
        </p:spPr>
        <p:txBody>
          <a:bodyPr wrap="square">
            <a:spAutoFit/>
          </a:bodyPr>
          <a:lstStyle/>
          <a:p>
            <a:r>
              <a:rPr lang="zh-CN" altLang="en-US" sz="3600" b="1" dirty="0"/>
              <a:t>结论：</a:t>
            </a:r>
          </a:p>
        </p:txBody>
      </p:sp>
      <p:sp>
        <p:nvSpPr>
          <p:cNvPr id="323623" name="Rectangle 39"/>
          <p:cNvSpPr>
            <a:spLocks noChangeArrowheads="1"/>
          </p:cNvSpPr>
          <p:nvPr/>
        </p:nvSpPr>
        <p:spPr bwMode="auto">
          <a:xfrm>
            <a:off x="2032000" y="4775199"/>
            <a:ext cx="6048375" cy="646331"/>
          </a:xfrm>
          <a:prstGeom prst="rect">
            <a:avLst/>
          </a:prstGeom>
          <a:noFill/>
          <a:ln w="9525">
            <a:noFill/>
            <a:miter lim="800000"/>
            <a:headEnd/>
            <a:tailEnd/>
          </a:ln>
        </p:spPr>
        <p:txBody>
          <a:bodyPr anchor="ctr">
            <a:spAutoFit/>
          </a:bodyPr>
          <a:lstStyle/>
          <a:p>
            <a:r>
              <a:rPr lang="zh-CN" altLang="en-US" sz="3600" b="1" dirty="0">
                <a:solidFill>
                  <a:srgbClr val="000000"/>
                </a:solidFill>
              </a:rPr>
              <a:t>结论：</a:t>
            </a:r>
            <a:r>
              <a:rPr lang="zh-CN" altLang="en-US" sz="3600" b="1" dirty="0">
                <a:solidFill>
                  <a:srgbClr val="000000"/>
                </a:solidFill>
                <a:latin typeface="Times New Roman" pitchFamily="18" charset="0"/>
                <a:cs typeface="Times New Roman" pitchFamily="18" charset="0"/>
              </a:rPr>
              <a:t>说明回归方程显著。</a:t>
            </a:r>
            <a:r>
              <a:rPr lang="zh-CN" altLang="en-US" sz="3600" b="1" dirty="0">
                <a:solidFill>
                  <a:srgbClr val="000000"/>
                </a:solidFill>
              </a:rPr>
              <a:t> </a:t>
            </a:r>
          </a:p>
        </p:txBody>
      </p:sp>
      <p:graphicFrame>
        <p:nvGraphicFramePr>
          <p:cNvPr id="8" name="表格 7"/>
          <p:cNvGraphicFramePr>
            <a:graphicFrameLocks noGrp="1"/>
          </p:cNvGraphicFramePr>
          <p:nvPr>
            <p:extLst>
              <p:ext uri="{D42A27DB-BD31-4B8C-83A1-F6EECF244321}">
                <p14:modId xmlns:p14="http://schemas.microsoft.com/office/powerpoint/2010/main" val="231290063"/>
              </p:ext>
            </p:extLst>
          </p:nvPr>
        </p:nvGraphicFramePr>
        <p:xfrm>
          <a:off x="1879600" y="2214660"/>
          <a:ext cx="8077200" cy="2116020"/>
        </p:xfrm>
        <a:graphic>
          <a:graphicData uri="http://schemas.openxmlformats.org/drawingml/2006/table">
            <a:tbl>
              <a:tblPr/>
              <a:tblGrid>
                <a:gridCol w="12573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gridCol w="1460500">
                  <a:extLst>
                    <a:ext uri="{9D8B030D-6E8A-4147-A177-3AD203B41FA5}">
                      <a16:colId xmlns:a16="http://schemas.microsoft.com/office/drawing/2014/main" val="20003"/>
                    </a:ext>
                  </a:extLst>
                </a:gridCol>
                <a:gridCol w="1358900">
                  <a:extLst>
                    <a:ext uri="{9D8B030D-6E8A-4147-A177-3AD203B41FA5}">
                      <a16:colId xmlns:a16="http://schemas.microsoft.com/office/drawing/2014/main" val="20004"/>
                    </a:ext>
                  </a:extLst>
                </a:gridCol>
                <a:gridCol w="1943100">
                  <a:extLst>
                    <a:ext uri="{9D8B030D-6E8A-4147-A177-3AD203B41FA5}">
                      <a16:colId xmlns:a16="http://schemas.microsoft.com/office/drawing/2014/main" val="20005"/>
                    </a:ext>
                  </a:extLst>
                </a:gridCol>
              </a:tblGrid>
              <a:tr h="339666">
                <a:tc>
                  <a:txBody>
                    <a:bodyPr/>
                    <a:lstStyle/>
                    <a:p>
                      <a:pPr algn="l" fontAlgn="ctr"/>
                      <a:r>
                        <a:rPr lang="zh-CN" altLang="en-US" sz="2400" b="1" i="0" u="none" strike="noStrike">
                          <a:latin typeface="宋体"/>
                        </a:rPr>
                        <a:t>方差分析</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endParaRPr lang="zh-CN" altLang="en-US" sz="2400" b="1" i="0" u="none" strike="noStrike">
                        <a:latin typeface="宋体"/>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endParaRPr lang="zh-CN" altLang="en-US" sz="2400" b="1" i="0" u="none" strike="noStrike">
                        <a:latin typeface="宋体"/>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endParaRPr lang="zh-CN" altLang="en-US" sz="2400" b="1" i="0" u="none" strike="noStrike" dirty="0">
                        <a:latin typeface="宋体"/>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endParaRPr lang="zh-CN" altLang="en-US" sz="2400" b="1" i="0" u="none" strike="noStrike">
                        <a:latin typeface="宋体"/>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endParaRPr lang="zh-CN" altLang="en-US" sz="2400" b="1" i="0" u="none" strike="noStrike">
                        <a:latin typeface="宋体"/>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03850">
                <a:tc>
                  <a:txBody>
                    <a:bodyPr/>
                    <a:lstStyle/>
                    <a:p>
                      <a:pPr algn="ctr" fontAlgn="ctr"/>
                      <a:r>
                        <a:rPr lang="zh-CN" altLang="en-US" sz="2400" b="1" i="0" u="none" strike="noStrike">
                          <a:latin typeface="宋体"/>
                        </a:rPr>
                        <a:t>　</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1" i="0" u="none" strike="noStrike" dirty="0" err="1">
                          <a:latin typeface="宋体"/>
                        </a:rPr>
                        <a:t>df</a:t>
                      </a:r>
                      <a:endParaRPr lang="en-US" sz="2400" b="1" i="0" u="none" strike="noStrike" dirty="0">
                        <a:latin typeface="宋体"/>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1" i="0" u="none" strike="noStrike">
                          <a:latin typeface="宋体"/>
                        </a:rPr>
                        <a:t>SS</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1" i="0" u="none" strike="noStrike">
                          <a:latin typeface="宋体"/>
                        </a:rPr>
                        <a:t>MS</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400" b="1" i="0" u="none" strike="noStrike" dirty="0">
                          <a:solidFill>
                            <a:srgbClr val="C00000"/>
                          </a:solidFill>
                          <a:latin typeface="宋体"/>
                        </a:rPr>
                        <a:t>F</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100" b="1" i="0" u="none" strike="noStrike" dirty="0">
                          <a:solidFill>
                            <a:srgbClr val="CC0099"/>
                          </a:solidFill>
                          <a:latin typeface="宋体"/>
                        </a:rPr>
                        <a:t>Significance F</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4890">
                <a:tc>
                  <a:txBody>
                    <a:bodyPr/>
                    <a:lstStyle/>
                    <a:p>
                      <a:pPr algn="l" fontAlgn="ctr"/>
                      <a:r>
                        <a:rPr lang="zh-CN" altLang="en-US" sz="2400" b="1" i="0" u="none" strike="noStrike">
                          <a:latin typeface="宋体"/>
                        </a:rPr>
                        <a:t>回归分析</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zh-CN" sz="2400" b="1" i="0" u="none" strike="noStrike" dirty="0">
                          <a:latin typeface="宋体"/>
                        </a:rPr>
                        <a:t>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zh-CN" sz="2400" b="1" i="0" u="none" strike="noStrike" dirty="0">
                          <a:latin typeface="宋体"/>
                        </a:rPr>
                        <a:t>1006.88</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zh-CN" sz="2400" b="1" i="0" u="none" strike="noStrike" dirty="0">
                          <a:latin typeface="宋体"/>
                        </a:rPr>
                        <a:t>503.4399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zh-CN" sz="2400" b="1" i="0" u="none" strike="noStrike" dirty="0">
                          <a:solidFill>
                            <a:srgbClr val="C00000"/>
                          </a:solidFill>
                          <a:latin typeface="宋体"/>
                        </a:rPr>
                        <a:t>61.90194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sz="2400" b="1" i="0" u="none" strike="noStrike" dirty="0">
                          <a:solidFill>
                            <a:srgbClr val="CC0099"/>
                          </a:solidFill>
                          <a:latin typeface="宋体"/>
                        </a:rPr>
                        <a:t>8.219E-11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339666">
                <a:tc>
                  <a:txBody>
                    <a:bodyPr/>
                    <a:lstStyle/>
                    <a:p>
                      <a:pPr algn="l" fontAlgn="ctr"/>
                      <a:r>
                        <a:rPr lang="zh-CN" altLang="en-US" sz="2400" b="1" i="0" u="none" strike="noStrike">
                          <a:latin typeface="宋体"/>
                        </a:rPr>
                        <a:t>残差</a:t>
                      </a:r>
                    </a:p>
                  </a:txBody>
                  <a:tcPr marL="0" marR="0" marT="0" marB="0" anchor="ctr">
                    <a:lnL>
                      <a:noFill/>
                    </a:lnL>
                    <a:lnR>
                      <a:noFill/>
                    </a:lnR>
                    <a:lnT>
                      <a:noFill/>
                    </a:lnT>
                    <a:lnB>
                      <a:noFill/>
                    </a:lnB>
                  </a:tcPr>
                </a:tc>
                <a:tc>
                  <a:txBody>
                    <a:bodyPr/>
                    <a:lstStyle/>
                    <a:p>
                      <a:pPr algn="r" fontAlgn="ctr"/>
                      <a:r>
                        <a:rPr lang="en-US" altLang="zh-CN" sz="2400" b="1" i="0" u="none" strike="noStrike" dirty="0">
                          <a:latin typeface="宋体"/>
                        </a:rPr>
                        <a:t>27</a:t>
                      </a:r>
                    </a:p>
                  </a:txBody>
                  <a:tcPr marL="0" marR="0" marT="0" marB="0" anchor="ctr">
                    <a:lnL>
                      <a:noFill/>
                    </a:lnL>
                    <a:lnR>
                      <a:noFill/>
                    </a:lnR>
                    <a:lnT>
                      <a:noFill/>
                    </a:lnT>
                    <a:lnB>
                      <a:noFill/>
                    </a:lnB>
                  </a:tcPr>
                </a:tc>
                <a:tc>
                  <a:txBody>
                    <a:bodyPr/>
                    <a:lstStyle/>
                    <a:p>
                      <a:pPr algn="r" fontAlgn="ctr"/>
                      <a:r>
                        <a:rPr lang="en-US" altLang="zh-CN" sz="2400" b="1" i="0" u="none" strike="noStrike" dirty="0">
                          <a:latin typeface="宋体"/>
                        </a:rPr>
                        <a:t>219.5872</a:t>
                      </a:r>
                    </a:p>
                  </a:txBody>
                  <a:tcPr marL="0" marR="0" marT="0" marB="0" anchor="ctr">
                    <a:lnL>
                      <a:noFill/>
                    </a:lnL>
                    <a:lnR>
                      <a:noFill/>
                    </a:lnR>
                    <a:lnT>
                      <a:noFill/>
                    </a:lnT>
                    <a:lnB>
                      <a:noFill/>
                    </a:lnB>
                  </a:tcPr>
                </a:tc>
                <a:tc>
                  <a:txBody>
                    <a:bodyPr/>
                    <a:lstStyle/>
                    <a:p>
                      <a:pPr algn="r" fontAlgn="ctr"/>
                      <a:r>
                        <a:rPr lang="en-US" altLang="zh-CN" sz="2400" b="1" i="0" u="none" strike="noStrike" dirty="0">
                          <a:latin typeface="宋体"/>
                        </a:rPr>
                        <a:t>8.132861</a:t>
                      </a:r>
                    </a:p>
                  </a:txBody>
                  <a:tcPr marL="0" marR="0" marT="0" marB="0" anchor="ctr">
                    <a:lnL>
                      <a:noFill/>
                    </a:lnL>
                    <a:lnR>
                      <a:noFill/>
                    </a:lnR>
                    <a:lnT>
                      <a:noFill/>
                    </a:lnT>
                    <a:lnB>
                      <a:noFill/>
                    </a:lnB>
                  </a:tcPr>
                </a:tc>
                <a:tc>
                  <a:txBody>
                    <a:bodyPr/>
                    <a:lstStyle/>
                    <a:p>
                      <a:pPr algn="l" fontAlgn="ctr"/>
                      <a:endParaRPr lang="zh-CN" altLang="en-US" sz="2400" b="1" i="0" u="none" strike="noStrike" dirty="0">
                        <a:latin typeface="宋体"/>
                      </a:endParaRPr>
                    </a:p>
                  </a:txBody>
                  <a:tcPr marL="0" marR="0" marT="0" marB="0" anchor="ctr">
                    <a:lnL>
                      <a:noFill/>
                    </a:lnL>
                    <a:lnR>
                      <a:noFill/>
                    </a:lnR>
                    <a:lnT>
                      <a:noFill/>
                    </a:lnT>
                    <a:lnB>
                      <a:noFill/>
                    </a:lnB>
                  </a:tcPr>
                </a:tc>
                <a:tc>
                  <a:txBody>
                    <a:bodyPr/>
                    <a:lstStyle/>
                    <a:p>
                      <a:pPr algn="l" fontAlgn="ctr"/>
                      <a:endParaRPr lang="zh-CN" altLang="en-US" sz="2400" b="1" i="0" u="none" strike="noStrike" dirty="0">
                        <a:latin typeface="宋体"/>
                      </a:endParaRPr>
                    </a:p>
                  </a:txBody>
                  <a:tcPr marL="0" marR="0" marT="0" marB="0" anchor="ctr">
                    <a:lnL>
                      <a:noFill/>
                    </a:lnL>
                    <a:lnR>
                      <a:noFill/>
                    </a:lnR>
                    <a:lnT>
                      <a:noFill/>
                    </a:lnT>
                    <a:lnB>
                      <a:noFill/>
                    </a:lnB>
                  </a:tcPr>
                </a:tc>
                <a:extLst>
                  <a:ext uri="{0D108BD9-81ED-4DB2-BD59-A6C34878D82A}">
                    <a16:rowId xmlns:a16="http://schemas.microsoft.com/office/drawing/2014/main" val="10003"/>
                  </a:ext>
                </a:extLst>
              </a:tr>
              <a:tr h="339666">
                <a:tc>
                  <a:txBody>
                    <a:bodyPr/>
                    <a:lstStyle/>
                    <a:p>
                      <a:pPr algn="l" fontAlgn="ctr"/>
                      <a:r>
                        <a:rPr lang="zh-CN" altLang="en-US" sz="2400" b="1" i="0" u="none" strike="noStrike">
                          <a:latin typeface="宋体"/>
                        </a:rPr>
                        <a:t>总计</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ctr"/>
                      <a:r>
                        <a:rPr lang="en-US" altLang="zh-CN" sz="2400" b="1" i="0" u="none" strike="noStrike" dirty="0">
                          <a:latin typeface="宋体"/>
                        </a:rPr>
                        <a:t>29</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ctr"/>
                      <a:r>
                        <a:rPr lang="en-US" altLang="zh-CN" sz="2400" b="1" i="0" u="none" strike="noStrike" dirty="0">
                          <a:latin typeface="宋体"/>
                        </a:rPr>
                        <a:t>1226.467</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r>
                        <a:rPr lang="zh-CN" altLang="en-US" sz="2400" b="1" i="0" u="none" strike="noStrike" dirty="0">
                          <a:latin typeface="宋体"/>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r>
                        <a:rPr lang="zh-CN" altLang="en-US" sz="2400" b="1" i="0" u="none" strike="noStrike">
                          <a:latin typeface="宋体"/>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ctr"/>
                      <a:r>
                        <a:rPr lang="zh-CN" altLang="en-US" sz="2400" b="1" i="0" u="none" strike="noStrike" dirty="0">
                          <a:latin typeface="宋体"/>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541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23623"/>
                                        </p:tgtEl>
                                        <p:attrNameLst>
                                          <p:attrName>style.visibility</p:attrName>
                                        </p:attrNameLst>
                                      </p:cBhvr>
                                      <p:to>
                                        <p:strVal val="visible"/>
                                      </p:to>
                                    </p:set>
                                    <p:anim calcmode="discrete" valueType="clr">
                                      <p:cBhvr override="childStyle">
                                        <p:cTn id="7" dur="500"/>
                                        <p:tgtEl>
                                          <p:spTgt spid="323623"/>
                                        </p:tgtEl>
                                        <p:attrNameLst>
                                          <p:attrName>style.color</p:attrName>
                                        </p:attrNameLst>
                                      </p:cBhvr>
                                      <p:tavLst>
                                        <p:tav tm="0">
                                          <p:val>
                                            <p:clrVal>
                                              <a:srgbClr val="6666FF"/>
                                            </p:clrVal>
                                          </p:val>
                                        </p:tav>
                                        <p:tav tm="50000">
                                          <p:val>
                                            <p:clrVal>
                                              <a:srgbClr val="CC0099"/>
                                            </p:clrVal>
                                          </p:val>
                                        </p:tav>
                                      </p:tavLst>
                                    </p:anim>
                                    <p:anim calcmode="discrete" valueType="clr">
                                      <p:cBhvr>
                                        <p:cTn id="8" dur="500"/>
                                        <p:tgtEl>
                                          <p:spTgt spid="323623"/>
                                        </p:tgtEl>
                                        <p:attrNameLst>
                                          <p:attrName>fillcolor</p:attrName>
                                        </p:attrNameLst>
                                      </p:cBhvr>
                                      <p:tavLst>
                                        <p:tav tm="0">
                                          <p:val>
                                            <p:clrVal>
                                              <a:schemeClr val="accent2"/>
                                            </p:clrVal>
                                          </p:val>
                                        </p:tav>
                                        <p:tav tm="50000">
                                          <p:val>
                                            <p:clrVal>
                                              <a:schemeClr val="hlink"/>
                                            </p:clrVal>
                                          </p:val>
                                        </p:tav>
                                      </p:tavLst>
                                    </p:anim>
                                    <p:set>
                                      <p:cBhvr>
                                        <p:cTn id="9" dur="500"/>
                                        <p:tgtEl>
                                          <p:spTgt spid="32362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62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50" name="日期占位符 4"/>
          <p:cNvSpPr>
            <a:spLocks noGrp="1"/>
          </p:cNvSpPr>
          <p:nvPr>
            <p:ph type="dt" sz="half" idx="10"/>
          </p:nvPr>
        </p:nvSpPr>
        <p:spPr>
          <a:noFill/>
        </p:spPr>
        <p:txBody>
          <a:bodyPr/>
          <a:lstStyle/>
          <a:p>
            <a:endParaRPr lang="en-US" altLang="zh-CN"/>
          </a:p>
        </p:txBody>
      </p:sp>
      <p:sp>
        <p:nvSpPr>
          <p:cNvPr id="107523" name="Rectangle 2"/>
          <p:cNvSpPr>
            <a:spLocks noGrp="1" noChangeArrowheads="1"/>
          </p:cNvSpPr>
          <p:nvPr>
            <p:ph type="title"/>
          </p:nvPr>
        </p:nvSpPr>
        <p:spPr/>
        <p:txBody>
          <a:bodyPr>
            <a:normAutofit fontScale="90000"/>
          </a:bodyPr>
          <a:lstStyle/>
          <a:p>
            <a:pPr eaLnBrk="1" hangingPunct="1"/>
            <a:r>
              <a:rPr lang="en-US" altLang="zh-CN" sz="4800" dirty="0"/>
              <a:t>【</a:t>
            </a:r>
            <a:r>
              <a:rPr lang="zh-CN" altLang="en-US" sz="4800" dirty="0"/>
              <a:t>例</a:t>
            </a:r>
            <a:r>
              <a:rPr lang="en-US" altLang="zh-CN" sz="4800" dirty="0"/>
              <a:t>】 </a:t>
            </a:r>
            <a:r>
              <a:rPr lang="en-US" altLang="zh-CN" sz="3600" dirty="0"/>
              <a:t>EXCEL</a:t>
            </a:r>
            <a:r>
              <a:rPr lang="zh-CN" altLang="en-US" sz="3600" dirty="0"/>
              <a:t>的回归输出</a:t>
            </a:r>
            <a:r>
              <a:rPr lang="en-US" altLang="zh-CN" dirty="0">
                <a:latin typeface="Times New Roman" pitchFamily="18" charset="0"/>
              </a:rPr>
              <a:t>(</a:t>
            </a:r>
            <a:r>
              <a:rPr lang="zh-CN" altLang="en-US" dirty="0">
                <a:latin typeface="Times New Roman" pitchFamily="18" charset="0"/>
              </a:rPr>
              <a:t>全部</a:t>
            </a:r>
            <a:r>
              <a:rPr lang="en-US" altLang="zh-CN" dirty="0">
                <a:latin typeface="Times New Roman" pitchFamily="18" charset="0"/>
              </a:rPr>
              <a:t>)</a:t>
            </a:r>
          </a:p>
        </p:txBody>
      </p:sp>
      <p:sp>
        <p:nvSpPr>
          <p:cNvPr id="107522" name="灯片编号占位符 5"/>
          <p:cNvSpPr>
            <a:spLocks noGrp="1"/>
          </p:cNvSpPr>
          <p:nvPr>
            <p:ph type="sldNum" sz="quarter" idx="4"/>
          </p:nvPr>
        </p:nvSpPr>
        <p:spPr>
          <a:noFill/>
        </p:spPr>
        <p:txBody>
          <a:bodyPr/>
          <a:lstStyle/>
          <a:p>
            <a:r>
              <a:rPr lang="en-US" altLang="zh-CN"/>
              <a:t>9--</a:t>
            </a:r>
            <a:fld id="{C073E258-7C1E-4304-99E6-24A90731E3A1}" type="slidenum">
              <a:rPr lang="en-US" altLang="zh-CN" smtClean="0"/>
              <a:pPr/>
              <a:t>98</a:t>
            </a:fld>
            <a:endParaRPr lang="en-US" altLang="zh-CN"/>
          </a:p>
        </p:txBody>
      </p:sp>
      <p:pic>
        <p:nvPicPr>
          <p:cNvPr id="3" name="图片 2"/>
          <p:cNvPicPr>
            <a:picLocks noChangeAspect="1"/>
          </p:cNvPicPr>
          <p:nvPr/>
        </p:nvPicPr>
        <p:blipFill>
          <a:blip r:embed="rId2"/>
          <a:stretch>
            <a:fillRect/>
          </a:stretch>
        </p:blipFill>
        <p:spPr>
          <a:xfrm>
            <a:off x="1500169" y="781848"/>
            <a:ext cx="9200105" cy="5529495"/>
          </a:xfrm>
          <a:prstGeom prst="rect">
            <a:avLst/>
          </a:prstGeom>
        </p:spPr>
      </p:pic>
    </p:spTree>
    <p:extLst>
      <p:ext uri="{BB962C8B-B14F-4D97-AF65-F5344CB8AC3E}">
        <p14:creationId xmlns:p14="http://schemas.microsoft.com/office/powerpoint/2010/main" val="7707404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1" name="日期占位符 6"/>
          <p:cNvSpPr>
            <a:spLocks noGrp="1"/>
          </p:cNvSpPr>
          <p:nvPr>
            <p:ph type="dt" sz="half" idx="10"/>
          </p:nvPr>
        </p:nvSpPr>
        <p:spPr>
          <a:noFill/>
        </p:spPr>
        <p:txBody>
          <a:bodyPr/>
          <a:lstStyle/>
          <a:p>
            <a:endParaRPr lang="en-US" altLang="zh-CN"/>
          </a:p>
        </p:txBody>
      </p:sp>
      <p:sp>
        <p:nvSpPr>
          <p:cNvPr id="108547" name="Rectangle 2"/>
          <p:cNvSpPr>
            <a:spLocks noGrp="1" noChangeArrowheads="1"/>
          </p:cNvSpPr>
          <p:nvPr>
            <p:ph type="title"/>
          </p:nvPr>
        </p:nvSpPr>
        <p:spPr>
          <a:xfrm>
            <a:off x="1422400" y="732392"/>
            <a:ext cx="6197600" cy="662782"/>
          </a:xfrm>
        </p:spPr>
        <p:txBody>
          <a:bodyPr/>
          <a:lstStyle/>
          <a:p>
            <a:pPr eaLnBrk="1" hangingPunct="1"/>
            <a:r>
              <a:rPr kumimoji="1" lang="zh-CN" altLang="en-US" i="1" dirty="0">
                <a:solidFill>
                  <a:srgbClr val="00B0F0"/>
                </a:solidFill>
                <a:sym typeface="Symbol" pitchFamily="18" charset="2"/>
              </a:rPr>
              <a:t>Ｆ</a:t>
            </a:r>
            <a:r>
              <a:rPr kumimoji="1" lang="zh-CN" altLang="en-US" dirty="0">
                <a:solidFill>
                  <a:srgbClr val="00B0F0"/>
                </a:solidFill>
                <a:sym typeface="Symbol" pitchFamily="18" charset="2"/>
              </a:rPr>
              <a:t>检验与 </a:t>
            </a:r>
            <a:r>
              <a:rPr kumimoji="1" lang="en-US" altLang="zh-CN" i="1" dirty="0">
                <a:solidFill>
                  <a:srgbClr val="00B0F0"/>
                </a:solidFill>
                <a:sym typeface="Symbol" pitchFamily="18" charset="2"/>
              </a:rPr>
              <a:t>t</a:t>
            </a:r>
            <a:r>
              <a:rPr kumimoji="1" lang="en-US" altLang="zh-CN" dirty="0">
                <a:solidFill>
                  <a:srgbClr val="00B0F0"/>
                </a:solidFill>
                <a:sym typeface="Symbol" pitchFamily="18" charset="2"/>
              </a:rPr>
              <a:t> </a:t>
            </a:r>
            <a:r>
              <a:rPr kumimoji="1" lang="zh-CN" altLang="en-US" dirty="0">
                <a:solidFill>
                  <a:srgbClr val="00B0F0"/>
                </a:solidFill>
                <a:sym typeface="Symbol" pitchFamily="18" charset="2"/>
              </a:rPr>
              <a:t>检验的</a:t>
            </a:r>
            <a:r>
              <a:rPr kumimoji="1" lang="zh-CN" altLang="en-US" dirty="0">
                <a:solidFill>
                  <a:srgbClr val="C00000"/>
                </a:solidFill>
                <a:sym typeface="Symbol" pitchFamily="18" charset="2"/>
              </a:rPr>
              <a:t>一致性</a:t>
            </a:r>
          </a:p>
        </p:txBody>
      </p:sp>
      <p:sp>
        <p:nvSpPr>
          <p:cNvPr id="108548" name="Rectangle 3"/>
          <p:cNvSpPr>
            <a:spLocks noGrp="1" noChangeArrowheads="1"/>
          </p:cNvSpPr>
          <p:nvPr>
            <p:ph idx="1"/>
          </p:nvPr>
        </p:nvSpPr>
        <p:spPr>
          <a:xfrm>
            <a:off x="1422401" y="1572656"/>
            <a:ext cx="8343899" cy="4587563"/>
          </a:xfrm>
          <a:noFill/>
        </p:spPr>
        <p:txBody>
          <a:bodyPr/>
          <a:lstStyle/>
          <a:p>
            <a:pPr marL="609600" indent="-609600" algn="just">
              <a:lnSpc>
                <a:spcPct val="115000"/>
              </a:lnSpc>
              <a:buSzTx/>
              <a:buNone/>
            </a:pPr>
            <a:r>
              <a:rPr kumimoji="1" lang="zh-CN" altLang="en-US" dirty="0">
                <a:solidFill>
                  <a:srgbClr val="0000FF"/>
                </a:solidFill>
              </a:rPr>
              <a:t>一元线性回归中</a:t>
            </a:r>
            <a:r>
              <a:rPr kumimoji="1" lang="zh-CN" altLang="en-US" sz="2800" dirty="0">
                <a:solidFill>
                  <a:srgbClr val="000000"/>
                </a:solidFill>
              </a:rPr>
              <a:t>，回归方程显著就等于回归系数显著。因为 </a:t>
            </a:r>
            <a:r>
              <a:rPr kumimoji="1" lang="en-US" altLang="zh-CN" sz="2800" b="1" i="1" dirty="0">
                <a:solidFill>
                  <a:srgbClr val="C00000"/>
                </a:solidFill>
                <a:latin typeface="Times New Roman" pitchFamily="18" charset="0"/>
              </a:rPr>
              <a:t>F</a:t>
            </a:r>
            <a:r>
              <a:rPr kumimoji="1" lang="en-US" altLang="zh-CN" sz="2800" b="1" dirty="0">
                <a:solidFill>
                  <a:srgbClr val="C00000"/>
                </a:solidFill>
                <a:latin typeface="Times New Roman" pitchFamily="18" charset="0"/>
              </a:rPr>
              <a:t>=</a:t>
            </a:r>
            <a:r>
              <a:rPr kumimoji="1" lang="en-US" altLang="zh-CN" sz="2800" b="1" i="1" dirty="0">
                <a:solidFill>
                  <a:srgbClr val="C00000"/>
                </a:solidFill>
                <a:latin typeface="Times New Roman" pitchFamily="18" charset="0"/>
              </a:rPr>
              <a:t>t</a:t>
            </a:r>
            <a:r>
              <a:rPr kumimoji="1" lang="en-US" altLang="zh-CN" sz="2800" b="1" baseline="30000" dirty="0">
                <a:solidFill>
                  <a:srgbClr val="C00000"/>
                </a:solidFill>
              </a:rPr>
              <a:t>2</a:t>
            </a:r>
            <a:r>
              <a:rPr kumimoji="1" lang="zh-CN" altLang="en-US" sz="2800" dirty="0">
                <a:solidFill>
                  <a:srgbClr val="000000"/>
                </a:solidFill>
              </a:rPr>
              <a:t>，“</a:t>
            </a:r>
            <a:r>
              <a:rPr lang="en-US" altLang="zh-CN" sz="2800" b="1" dirty="0">
                <a:solidFill>
                  <a:srgbClr val="0070C0"/>
                </a:solidFill>
                <a:latin typeface="宋体" pitchFamily="2" charset="-122"/>
                <a:ea typeface="宋体" pitchFamily="2" charset="-122"/>
              </a:rPr>
              <a:t>Significance F</a:t>
            </a:r>
            <a:r>
              <a:rPr kumimoji="1" lang="zh-CN" altLang="en-US" sz="2800" dirty="0">
                <a:solidFill>
                  <a:srgbClr val="000000"/>
                </a:solidFill>
              </a:rPr>
              <a:t>”</a:t>
            </a:r>
            <a:r>
              <a:rPr lang="en-US" altLang="zh-CN" sz="2800" b="1" dirty="0">
                <a:solidFill>
                  <a:srgbClr val="000000"/>
                </a:solidFill>
                <a:latin typeface="宋体" pitchFamily="2" charset="-122"/>
                <a:ea typeface="宋体" pitchFamily="2" charset="-122"/>
              </a:rPr>
              <a:t>=</a:t>
            </a:r>
            <a:r>
              <a:rPr lang="zh-CN" altLang="en-US" sz="2800" b="1" dirty="0">
                <a:solidFill>
                  <a:srgbClr val="000000"/>
                </a:solidFill>
                <a:latin typeface="宋体" pitchFamily="2" charset="-122"/>
                <a:ea typeface="宋体" pitchFamily="2" charset="-122"/>
              </a:rPr>
              <a:t>回归系数</a:t>
            </a:r>
            <a:r>
              <a:rPr lang="en-US" altLang="zh-CN" sz="2800" b="1" dirty="0">
                <a:solidFill>
                  <a:srgbClr val="000000"/>
                </a:solidFill>
                <a:latin typeface="宋体" pitchFamily="2" charset="-122"/>
                <a:ea typeface="宋体" pitchFamily="2" charset="-122"/>
              </a:rPr>
              <a:t>t</a:t>
            </a:r>
            <a:r>
              <a:rPr lang="zh-CN" altLang="en-US" sz="2800" b="1" dirty="0">
                <a:solidFill>
                  <a:srgbClr val="000000"/>
                </a:solidFill>
                <a:latin typeface="宋体" pitchFamily="2" charset="-122"/>
                <a:ea typeface="宋体" pitchFamily="2" charset="-122"/>
              </a:rPr>
              <a:t>检验的</a:t>
            </a:r>
            <a:r>
              <a:rPr lang="zh-CN" altLang="en-US" sz="2800" dirty="0">
                <a:solidFill>
                  <a:srgbClr val="000000"/>
                </a:solidFill>
                <a:latin typeface="宋体" pitchFamily="2" charset="-122"/>
                <a:ea typeface="宋体" pitchFamily="2" charset="-122"/>
              </a:rPr>
              <a:t>“</a:t>
            </a:r>
            <a:r>
              <a:rPr lang="en-US" altLang="zh-CN" sz="2800" b="1" dirty="0">
                <a:solidFill>
                  <a:srgbClr val="0070C0"/>
                </a:solidFill>
                <a:latin typeface="宋体" pitchFamily="2" charset="-122"/>
                <a:ea typeface="宋体" pitchFamily="2" charset="-122"/>
              </a:rPr>
              <a:t>P-value</a:t>
            </a:r>
            <a:r>
              <a:rPr lang="zh-CN" altLang="en-US" sz="2800" dirty="0">
                <a:solidFill>
                  <a:srgbClr val="000000"/>
                </a:solidFill>
                <a:latin typeface="宋体" pitchFamily="2" charset="-122"/>
                <a:ea typeface="宋体" pitchFamily="2" charset="-122"/>
              </a:rPr>
              <a:t>”</a:t>
            </a:r>
            <a:r>
              <a:rPr lang="zh-CN" altLang="en-US" sz="2800" dirty="0">
                <a:solidFill>
                  <a:schemeClr val="tx1"/>
                </a:solidFill>
                <a:latin typeface="宋体" pitchFamily="2" charset="-122"/>
                <a:ea typeface="宋体" pitchFamily="2" charset="-122"/>
              </a:rPr>
              <a:t>。</a:t>
            </a:r>
            <a:endParaRPr lang="en-US" altLang="zh-CN" sz="2800" dirty="0">
              <a:solidFill>
                <a:schemeClr val="tx1"/>
              </a:solidFill>
              <a:latin typeface="Arial" charset="0"/>
              <a:ea typeface="宋体" pitchFamily="2" charset="-122"/>
            </a:endParaRPr>
          </a:p>
        </p:txBody>
      </p:sp>
      <p:sp>
        <p:nvSpPr>
          <p:cNvPr id="108546" name="灯片编号占位符 5"/>
          <p:cNvSpPr>
            <a:spLocks noGrp="1"/>
          </p:cNvSpPr>
          <p:nvPr>
            <p:ph type="sldNum" sz="quarter" idx="4"/>
          </p:nvPr>
        </p:nvSpPr>
        <p:spPr>
          <a:noFill/>
        </p:spPr>
        <p:txBody>
          <a:bodyPr/>
          <a:lstStyle/>
          <a:p>
            <a:r>
              <a:rPr lang="en-US" altLang="zh-CN"/>
              <a:t>9--</a:t>
            </a:r>
            <a:fld id="{31013DB6-86E2-4180-84F2-CC1EAEE2C5EC}" type="slidenum">
              <a:rPr lang="en-US" altLang="zh-CN" smtClean="0"/>
              <a:pPr/>
              <a:t>99</a:t>
            </a:fld>
            <a:endParaRPr lang="en-US" altLang="zh-CN"/>
          </a:p>
        </p:txBody>
      </p:sp>
      <p:sp>
        <p:nvSpPr>
          <p:cNvPr id="108549" name="Rectangle 4"/>
          <p:cNvSpPr>
            <a:spLocks noChangeArrowheads="1"/>
          </p:cNvSpPr>
          <p:nvPr/>
        </p:nvSpPr>
        <p:spPr bwMode="auto">
          <a:xfrm>
            <a:off x="1919288" y="2995910"/>
            <a:ext cx="8280400" cy="1873250"/>
          </a:xfrm>
          <a:prstGeom prst="rect">
            <a:avLst/>
          </a:prstGeom>
          <a:noFill/>
          <a:ln w="28575">
            <a:noFill/>
            <a:miter lim="800000"/>
            <a:headEnd/>
            <a:tailEnd/>
          </a:ln>
        </p:spPr>
        <p:txBody>
          <a:bodyPr lIns="90488" tIns="44450" rIns="90488" bIns="44450"/>
          <a:lstStyle/>
          <a:p>
            <a:pPr marL="609600" indent="-609600" algn="just">
              <a:buSzPct val="90000"/>
              <a:buBlip>
                <a:blip r:embed="rId2"/>
              </a:buBlip>
            </a:pPr>
            <a:r>
              <a:rPr lang="zh-CN" altLang="en-US" sz="3200" b="1" dirty="0">
                <a:solidFill>
                  <a:srgbClr val="C56B9E"/>
                </a:solidFill>
                <a:latin typeface="Times New Roman" pitchFamily="18" charset="0"/>
              </a:rPr>
              <a:t>对回归系数的</a:t>
            </a:r>
            <a:r>
              <a:rPr lang="zh-CN" altLang="en-US" sz="3600" b="1" dirty="0">
                <a:solidFill>
                  <a:srgbClr val="C56B9E"/>
                </a:solidFill>
                <a:latin typeface="Times New Roman" pitchFamily="18" charset="0"/>
              </a:rPr>
              <a:t> </a:t>
            </a:r>
            <a:r>
              <a:rPr lang="en-US" altLang="zh-CN" sz="3600" b="1" i="1" dirty="0">
                <a:solidFill>
                  <a:srgbClr val="C56B9E"/>
                </a:solidFill>
                <a:latin typeface="Times New Roman" pitchFamily="18" charset="0"/>
              </a:rPr>
              <a:t>t </a:t>
            </a:r>
            <a:r>
              <a:rPr lang="zh-CN" altLang="en-US" sz="3200" b="1" dirty="0">
                <a:solidFill>
                  <a:srgbClr val="C56B9E"/>
                </a:solidFill>
                <a:latin typeface="Times New Roman" pitchFamily="18" charset="0"/>
              </a:rPr>
              <a:t>检验</a:t>
            </a:r>
            <a:r>
              <a:rPr lang="en-US" altLang="zh-CN" sz="3200" b="1" dirty="0">
                <a:solidFill>
                  <a:srgbClr val="C56B9E"/>
                </a:solidFill>
                <a:latin typeface="Times New Roman" pitchFamily="18" charset="0"/>
              </a:rPr>
              <a:t>:</a:t>
            </a:r>
          </a:p>
          <a:p>
            <a:pPr marL="1219200" lvl="1" indent="-533400" algn="just">
              <a:buSzPct val="80000"/>
              <a:buBlip>
                <a:blip r:embed="rId3"/>
              </a:buBlip>
            </a:pPr>
            <a:r>
              <a:rPr lang="en-US" altLang="zh-CN" sz="2800" b="1" i="1" dirty="0">
                <a:solidFill>
                  <a:srgbClr val="000000"/>
                </a:solidFill>
                <a:latin typeface="Times New Roman" pitchFamily="18" charset="0"/>
              </a:rPr>
              <a:t>H</a:t>
            </a:r>
            <a:r>
              <a:rPr lang="en-US" altLang="zh-CN" sz="2800" b="1" dirty="0">
                <a:solidFill>
                  <a:srgbClr val="000000"/>
                </a:solidFill>
                <a:latin typeface="Times New Roman" pitchFamily="18" charset="0"/>
              </a:rPr>
              <a:t>0</a:t>
            </a:r>
            <a:r>
              <a:rPr lang="zh-CN" altLang="en-US" sz="2800" b="1" dirty="0">
                <a:solidFill>
                  <a:srgbClr val="000000"/>
                </a:solidFill>
                <a:latin typeface="Times New Roman" pitchFamily="18" charset="0"/>
              </a:rPr>
              <a:t>：</a:t>
            </a:r>
            <a:r>
              <a:rPr lang="zh-CN" altLang="en-US" sz="2800" i="1" dirty="0">
                <a:solidFill>
                  <a:srgbClr val="000000"/>
                </a:solidFill>
                <a:latin typeface="Tahoma" pitchFamily="34" charset="0"/>
                <a:sym typeface="Symbol" pitchFamily="18" charset="2"/>
              </a:rPr>
              <a:t></a:t>
            </a:r>
            <a:r>
              <a:rPr lang="en-US" altLang="zh-CN" sz="2800" dirty="0">
                <a:solidFill>
                  <a:srgbClr val="000000"/>
                </a:solidFill>
                <a:latin typeface="Tahoma" pitchFamily="34" charset="0"/>
                <a:sym typeface="Symbol" pitchFamily="18" charset="2"/>
              </a:rPr>
              <a:t>=0</a:t>
            </a:r>
            <a:r>
              <a:rPr lang="zh-CN" altLang="en-US" sz="2800" dirty="0">
                <a:solidFill>
                  <a:srgbClr val="000000"/>
                </a:solidFill>
                <a:latin typeface="Tahoma" pitchFamily="34" charset="0"/>
                <a:sym typeface="Symbol" pitchFamily="18" charset="2"/>
              </a:rPr>
              <a:t>（</a:t>
            </a:r>
            <a:r>
              <a:rPr lang="zh-CN" altLang="en-US" sz="2800" b="1" dirty="0">
                <a:solidFill>
                  <a:srgbClr val="000000"/>
                </a:solidFill>
                <a:latin typeface="Tahoma" pitchFamily="34" charset="0"/>
                <a:sym typeface="Symbol" pitchFamily="18" charset="2"/>
              </a:rPr>
              <a:t> </a:t>
            </a:r>
            <a:r>
              <a:rPr lang="en-US" altLang="zh-CN" sz="2800" b="1" i="1" dirty="0">
                <a:solidFill>
                  <a:srgbClr val="000000"/>
                </a:solidFill>
                <a:latin typeface="Times New Roman" pitchFamily="18" charset="0"/>
                <a:sym typeface="Symbol" pitchFamily="18" charset="2"/>
              </a:rPr>
              <a:t>X</a:t>
            </a:r>
            <a:r>
              <a:rPr lang="zh-CN" altLang="en-US" sz="2800" b="1" dirty="0">
                <a:solidFill>
                  <a:srgbClr val="000000"/>
                </a:solidFill>
                <a:latin typeface="Times New Roman" pitchFamily="18" charset="0"/>
              </a:rPr>
              <a:t>与</a:t>
            </a:r>
            <a:r>
              <a:rPr lang="en-US" altLang="zh-CN" sz="2800" b="1" i="1" dirty="0">
                <a:solidFill>
                  <a:srgbClr val="000000"/>
                </a:solidFill>
                <a:latin typeface="Times New Roman" pitchFamily="18" charset="0"/>
              </a:rPr>
              <a:t>Y </a:t>
            </a:r>
            <a:r>
              <a:rPr lang="zh-CN" altLang="en-US" sz="2800" b="1" dirty="0">
                <a:solidFill>
                  <a:srgbClr val="000000"/>
                </a:solidFill>
                <a:latin typeface="Times New Roman" pitchFamily="18" charset="0"/>
              </a:rPr>
              <a:t>的线性关系不显著）；</a:t>
            </a:r>
          </a:p>
          <a:p>
            <a:pPr marL="1219200" lvl="1" indent="-533400" algn="just">
              <a:buSzPct val="80000"/>
              <a:buBlip>
                <a:blip r:embed="rId3"/>
              </a:buBlip>
            </a:pPr>
            <a:r>
              <a:rPr lang="en-US" altLang="zh-CN" sz="2800" b="1" i="1" dirty="0">
                <a:solidFill>
                  <a:srgbClr val="000000"/>
                </a:solidFill>
                <a:latin typeface="Times New Roman" pitchFamily="18" charset="0"/>
              </a:rPr>
              <a:t>H</a:t>
            </a:r>
            <a:r>
              <a:rPr lang="en-US" altLang="zh-CN" sz="2800" b="1" dirty="0">
                <a:solidFill>
                  <a:srgbClr val="000000"/>
                </a:solidFill>
                <a:latin typeface="Times New Roman" pitchFamily="18" charset="0"/>
              </a:rPr>
              <a:t>1</a:t>
            </a:r>
            <a:r>
              <a:rPr lang="en-US" altLang="zh-CN" sz="2800" dirty="0">
                <a:solidFill>
                  <a:srgbClr val="000000"/>
                </a:solidFill>
                <a:latin typeface="Tahoma" pitchFamily="34" charset="0"/>
                <a:sym typeface="Symbol" pitchFamily="18" charset="2"/>
              </a:rPr>
              <a:t> </a:t>
            </a:r>
            <a:r>
              <a:rPr lang="zh-CN" altLang="en-US" sz="2800" dirty="0">
                <a:solidFill>
                  <a:srgbClr val="000000"/>
                </a:solidFill>
                <a:latin typeface="Tahoma" pitchFamily="34" charset="0"/>
                <a:sym typeface="Symbol" pitchFamily="18" charset="2"/>
              </a:rPr>
              <a:t>：</a:t>
            </a:r>
            <a:r>
              <a:rPr lang="zh-CN" altLang="en-US" sz="2800" i="1" dirty="0">
                <a:solidFill>
                  <a:srgbClr val="000000"/>
                </a:solidFill>
                <a:latin typeface="Tahoma" pitchFamily="34" charset="0"/>
                <a:sym typeface="Symbol" pitchFamily="18" charset="2"/>
              </a:rPr>
              <a:t></a:t>
            </a:r>
            <a:r>
              <a:rPr lang="zh-CN" altLang="en-US" sz="2800" dirty="0">
                <a:solidFill>
                  <a:srgbClr val="000000"/>
                </a:solidFill>
                <a:latin typeface="Tahoma" pitchFamily="34" charset="0"/>
                <a:sym typeface="Symbol" pitchFamily="18" charset="2"/>
              </a:rPr>
              <a:t></a:t>
            </a:r>
            <a:r>
              <a:rPr lang="en-US" altLang="zh-CN" sz="2800" dirty="0">
                <a:solidFill>
                  <a:srgbClr val="000000"/>
                </a:solidFill>
                <a:latin typeface="Tahoma" pitchFamily="34" charset="0"/>
                <a:sym typeface="Symbol" pitchFamily="18" charset="2"/>
              </a:rPr>
              <a:t>0 </a:t>
            </a:r>
            <a:r>
              <a:rPr lang="zh-CN" altLang="en-US" sz="2800" dirty="0">
                <a:solidFill>
                  <a:srgbClr val="000000"/>
                </a:solidFill>
                <a:latin typeface="Tahoma" pitchFamily="34" charset="0"/>
                <a:sym typeface="Symbol" pitchFamily="18" charset="2"/>
              </a:rPr>
              <a:t>（</a:t>
            </a:r>
            <a:r>
              <a:rPr lang="zh-CN" altLang="en-US" sz="2800" b="1" i="1" dirty="0">
                <a:solidFill>
                  <a:srgbClr val="000000"/>
                </a:solidFill>
                <a:latin typeface="Tahoma" pitchFamily="34" charset="0"/>
                <a:sym typeface="Symbol" pitchFamily="18" charset="2"/>
              </a:rPr>
              <a:t> </a:t>
            </a:r>
            <a:r>
              <a:rPr lang="en-US" altLang="zh-CN" sz="2800" b="1" i="1" dirty="0">
                <a:solidFill>
                  <a:srgbClr val="000000"/>
                </a:solidFill>
                <a:latin typeface="Times New Roman" pitchFamily="18" charset="0"/>
                <a:sym typeface="Symbol" pitchFamily="18" charset="2"/>
              </a:rPr>
              <a:t>X </a:t>
            </a:r>
            <a:r>
              <a:rPr lang="zh-CN" altLang="en-US" sz="2800" b="1" dirty="0">
                <a:solidFill>
                  <a:srgbClr val="000000"/>
                </a:solidFill>
                <a:latin typeface="Times New Roman" pitchFamily="18" charset="0"/>
              </a:rPr>
              <a:t>与</a:t>
            </a:r>
            <a:r>
              <a:rPr lang="en-US" altLang="zh-CN" sz="2800" b="1" i="1" dirty="0">
                <a:solidFill>
                  <a:srgbClr val="000000"/>
                </a:solidFill>
                <a:latin typeface="Times New Roman" pitchFamily="18" charset="0"/>
              </a:rPr>
              <a:t>Y </a:t>
            </a:r>
            <a:r>
              <a:rPr lang="zh-CN" altLang="en-US" sz="2800" b="1" dirty="0">
                <a:solidFill>
                  <a:srgbClr val="000000"/>
                </a:solidFill>
                <a:latin typeface="Times New Roman" pitchFamily="18" charset="0"/>
              </a:rPr>
              <a:t>的线性关系显著）</a:t>
            </a:r>
          </a:p>
        </p:txBody>
      </p:sp>
      <p:sp>
        <p:nvSpPr>
          <p:cNvPr id="108550" name="Rectangle 5"/>
          <p:cNvSpPr>
            <a:spLocks noChangeArrowheads="1"/>
          </p:cNvSpPr>
          <p:nvPr/>
        </p:nvSpPr>
        <p:spPr bwMode="auto">
          <a:xfrm>
            <a:off x="1991544" y="4582244"/>
            <a:ext cx="8101012" cy="1943100"/>
          </a:xfrm>
          <a:prstGeom prst="rect">
            <a:avLst/>
          </a:prstGeom>
          <a:noFill/>
          <a:ln w="38100">
            <a:noFill/>
            <a:miter lim="800000"/>
            <a:headEnd/>
            <a:tailEnd/>
          </a:ln>
        </p:spPr>
        <p:txBody>
          <a:bodyPr lIns="90488" tIns="44450" rIns="90488" bIns="44450"/>
          <a:lstStyle/>
          <a:p>
            <a:pPr marL="609600" indent="-609600" algn="just">
              <a:buSzPct val="90000"/>
              <a:buBlip>
                <a:blip r:embed="rId2"/>
              </a:buBlip>
            </a:pPr>
            <a:r>
              <a:rPr lang="zh-CN" altLang="en-US" sz="3200" b="1" dirty="0">
                <a:solidFill>
                  <a:srgbClr val="C56B9E"/>
                </a:solidFill>
                <a:latin typeface="Times New Roman" pitchFamily="18" charset="0"/>
              </a:rPr>
              <a:t>对回归方程的</a:t>
            </a:r>
            <a:r>
              <a:rPr lang="en-US" altLang="zh-CN" sz="3600" b="1" dirty="0">
                <a:solidFill>
                  <a:srgbClr val="C56B9E"/>
                </a:solidFill>
                <a:latin typeface="Times New Roman" pitchFamily="18" charset="0"/>
              </a:rPr>
              <a:t>F</a:t>
            </a:r>
            <a:r>
              <a:rPr lang="en-US" altLang="zh-CN" sz="3600" b="1" i="1" dirty="0">
                <a:solidFill>
                  <a:srgbClr val="C56B9E"/>
                </a:solidFill>
                <a:latin typeface="Times New Roman" pitchFamily="18" charset="0"/>
              </a:rPr>
              <a:t> </a:t>
            </a:r>
            <a:r>
              <a:rPr lang="zh-CN" altLang="en-US" sz="3200" b="1" dirty="0">
                <a:solidFill>
                  <a:srgbClr val="C56B9E"/>
                </a:solidFill>
                <a:latin typeface="Times New Roman" pitchFamily="18" charset="0"/>
              </a:rPr>
              <a:t>检验</a:t>
            </a:r>
            <a:r>
              <a:rPr lang="en-US" altLang="zh-CN" sz="3200" b="1" dirty="0">
                <a:solidFill>
                  <a:srgbClr val="C56B9E"/>
                </a:solidFill>
                <a:latin typeface="Times New Roman" pitchFamily="18" charset="0"/>
              </a:rPr>
              <a:t>:</a:t>
            </a:r>
          </a:p>
          <a:p>
            <a:pPr marL="1219200" lvl="1" indent="-533400" algn="just">
              <a:buSzPct val="80000"/>
              <a:buBlip>
                <a:blip r:embed="rId3"/>
              </a:buBlip>
            </a:pPr>
            <a:r>
              <a:rPr lang="en-US" altLang="zh-CN" sz="2800" b="1" i="1" dirty="0">
                <a:solidFill>
                  <a:srgbClr val="000000"/>
                </a:solidFill>
                <a:latin typeface="Times New Roman" pitchFamily="18" charset="0"/>
              </a:rPr>
              <a:t>H</a:t>
            </a:r>
            <a:r>
              <a:rPr lang="en-US" altLang="zh-CN" sz="2800" b="1" dirty="0">
                <a:solidFill>
                  <a:srgbClr val="000000"/>
                </a:solidFill>
                <a:latin typeface="Times New Roman" pitchFamily="18" charset="0"/>
              </a:rPr>
              <a:t>0</a:t>
            </a:r>
            <a:r>
              <a:rPr lang="zh-CN" altLang="en-US" sz="2800" b="1" dirty="0">
                <a:solidFill>
                  <a:srgbClr val="000000"/>
                </a:solidFill>
                <a:latin typeface="Times New Roman" pitchFamily="18" charset="0"/>
              </a:rPr>
              <a:t>：</a:t>
            </a:r>
            <a:r>
              <a:rPr lang="zh-CN" altLang="en-US" sz="2800" i="1" dirty="0">
                <a:solidFill>
                  <a:srgbClr val="000000"/>
                </a:solidFill>
                <a:latin typeface="Tahoma" pitchFamily="34" charset="0"/>
                <a:sym typeface="Symbol" pitchFamily="18" charset="2"/>
              </a:rPr>
              <a:t></a:t>
            </a:r>
            <a:r>
              <a:rPr lang="en-US" altLang="zh-CN" sz="2800" dirty="0">
                <a:solidFill>
                  <a:srgbClr val="000000"/>
                </a:solidFill>
                <a:latin typeface="Tahoma" pitchFamily="34" charset="0"/>
                <a:sym typeface="Symbol" pitchFamily="18" charset="2"/>
              </a:rPr>
              <a:t>=0 </a:t>
            </a:r>
            <a:r>
              <a:rPr lang="zh-CN" altLang="en-US" sz="2800" dirty="0">
                <a:solidFill>
                  <a:srgbClr val="000000"/>
                </a:solidFill>
                <a:latin typeface="Tahoma" pitchFamily="34" charset="0"/>
                <a:sym typeface="Symbol" pitchFamily="18" charset="2"/>
              </a:rPr>
              <a:t>（</a:t>
            </a:r>
            <a:r>
              <a:rPr lang="zh-CN" altLang="en-US" sz="2800" b="1" dirty="0">
                <a:solidFill>
                  <a:srgbClr val="000000"/>
                </a:solidFill>
                <a:latin typeface="Tahoma" pitchFamily="34" charset="0"/>
                <a:sym typeface="Symbol" pitchFamily="18" charset="2"/>
              </a:rPr>
              <a:t> </a:t>
            </a:r>
            <a:r>
              <a:rPr lang="en-US" altLang="zh-CN" sz="2800" b="1" i="1" dirty="0">
                <a:solidFill>
                  <a:srgbClr val="000000"/>
                </a:solidFill>
                <a:latin typeface="Times New Roman" pitchFamily="18" charset="0"/>
                <a:sym typeface="Symbol" pitchFamily="18" charset="2"/>
              </a:rPr>
              <a:t>X </a:t>
            </a:r>
            <a:r>
              <a:rPr lang="zh-CN" altLang="en-US" sz="2800" b="1" dirty="0">
                <a:solidFill>
                  <a:srgbClr val="000000"/>
                </a:solidFill>
                <a:latin typeface="Times New Roman" pitchFamily="18" charset="0"/>
              </a:rPr>
              <a:t>与</a:t>
            </a:r>
            <a:r>
              <a:rPr lang="en-US" altLang="zh-CN" sz="2800" b="1" i="1" dirty="0">
                <a:solidFill>
                  <a:srgbClr val="000000"/>
                </a:solidFill>
                <a:latin typeface="Times New Roman" pitchFamily="18" charset="0"/>
              </a:rPr>
              <a:t>Y </a:t>
            </a:r>
            <a:r>
              <a:rPr lang="zh-CN" altLang="en-US" sz="2800" b="1" dirty="0">
                <a:solidFill>
                  <a:srgbClr val="000000"/>
                </a:solidFill>
                <a:latin typeface="Times New Roman" pitchFamily="18" charset="0"/>
              </a:rPr>
              <a:t>的线性关系不显著）；</a:t>
            </a:r>
          </a:p>
          <a:p>
            <a:pPr marL="1219200" lvl="1" indent="-533400" algn="just">
              <a:buSzPct val="80000"/>
              <a:buBlip>
                <a:blip r:embed="rId3"/>
              </a:buBlip>
            </a:pPr>
            <a:r>
              <a:rPr lang="en-US" altLang="zh-CN" sz="2800" b="1" i="1" dirty="0">
                <a:solidFill>
                  <a:srgbClr val="000000"/>
                </a:solidFill>
                <a:latin typeface="Times New Roman" pitchFamily="18" charset="0"/>
              </a:rPr>
              <a:t>H</a:t>
            </a:r>
            <a:r>
              <a:rPr lang="en-US" altLang="zh-CN" sz="2800" b="1" dirty="0">
                <a:solidFill>
                  <a:srgbClr val="000000"/>
                </a:solidFill>
                <a:latin typeface="Times New Roman" pitchFamily="18" charset="0"/>
              </a:rPr>
              <a:t>1</a:t>
            </a:r>
            <a:r>
              <a:rPr lang="en-US" altLang="zh-CN" sz="2800" dirty="0">
                <a:solidFill>
                  <a:srgbClr val="000000"/>
                </a:solidFill>
                <a:latin typeface="Tahoma" pitchFamily="34" charset="0"/>
                <a:sym typeface="Symbol" pitchFamily="18" charset="2"/>
              </a:rPr>
              <a:t> </a:t>
            </a:r>
            <a:r>
              <a:rPr lang="zh-CN" altLang="en-US" sz="2800" dirty="0">
                <a:solidFill>
                  <a:srgbClr val="000000"/>
                </a:solidFill>
                <a:latin typeface="Tahoma" pitchFamily="34" charset="0"/>
                <a:sym typeface="Symbol" pitchFamily="18" charset="2"/>
              </a:rPr>
              <a:t>：</a:t>
            </a:r>
            <a:r>
              <a:rPr lang="zh-CN" altLang="en-US" sz="2800" i="1" dirty="0">
                <a:solidFill>
                  <a:srgbClr val="000000"/>
                </a:solidFill>
                <a:latin typeface="Tahoma" pitchFamily="34" charset="0"/>
                <a:sym typeface="Symbol" pitchFamily="18" charset="2"/>
              </a:rPr>
              <a:t> </a:t>
            </a:r>
            <a:r>
              <a:rPr lang="zh-CN" altLang="en-US" sz="2800" dirty="0">
                <a:solidFill>
                  <a:srgbClr val="000000"/>
                </a:solidFill>
                <a:latin typeface="Tahoma" pitchFamily="34" charset="0"/>
                <a:sym typeface="Symbol" pitchFamily="18" charset="2"/>
              </a:rPr>
              <a:t></a:t>
            </a:r>
            <a:r>
              <a:rPr lang="zh-CN" altLang="en-US" sz="2800" i="1" dirty="0">
                <a:solidFill>
                  <a:srgbClr val="000000"/>
                </a:solidFill>
                <a:latin typeface="Tahoma" pitchFamily="34" charset="0"/>
                <a:sym typeface="Symbol" pitchFamily="18" charset="2"/>
              </a:rPr>
              <a:t> </a:t>
            </a:r>
            <a:r>
              <a:rPr lang="en-US" altLang="zh-CN" sz="2800" dirty="0">
                <a:solidFill>
                  <a:srgbClr val="000000"/>
                </a:solidFill>
                <a:latin typeface="Tahoma" pitchFamily="34" charset="0"/>
                <a:sym typeface="Symbol" pitchFamily="18" charset="2"/>
              </a:rPr>
              <a:t>0</a:t>
            </a:r>
            <a:r>
              <a:rPr lang="zh-CN" altLang="en-US" sz="2800" b="1" dirty="0">
                <a:solidFill>
                  <a:srgbClr val="000000"/>
                </a:solidFill>
                <a:latin typeface="Times New Roman" pitchFamily="18" charset="0"/>
                <a:sym typeface="Symbol" pitchFamily="18" charset="2"/>
              </a:rPr>
              <a:t>（</a:t>
            </a:r>
            <a:r>
              <a:rPr lang="en-US" altLang="zh-CN" sz="2800" b="1" dirty="0">
                <a:solidFill>
                  <a:srgbClr val="000000"/>
                </a:solidFill>
                <a:latin typeface="Times New Roman" pitchFamily="18" charset="0"/>
                <a:sym typeface="Symbol" pitchFamily="18" charset="2"/>
              </a:rPr>
              <a:t>X</a:t>
            </a:r>
            <a:r>
              <a:rPr lang="zh-CN" altLang="en-US" sz="2800" b="1" dirty="0">
                <a:solidFill>
                  <a:srgbClr val="000000"/>
                </a:solidFill>
                <a:latin typeface="Times New Roman" pitchFamily="18" charset="0"/>
              </a:rPr>
              <a:t>与</a:t>
            </a:r>
            <a:r>
              <a:rPr lang="en-US" altLang="zh-CN" sz="2800" b="1" i="1" dirty="0">
                <a:solidFill>
                  <a:srgbClr val="000000"/>
                </a:solidFill>
                <a:latin typeface="Times New Roman" pitchFamily="18" charset="0"/>
              </a:rPr>
              <a:t>Y </a:t>
            </a:r>
            <a:r>
              <a:rPr lang="zh-CN" altLang="en-US" sz="2800" b="1" dirty="0">
                <a:solidFill>
                  <a:srgbClr val="000000"/>
                </a:solidFill>
                <a:latin typeface="Times New Roman" pitchFamily="18" charset="0"/>
              </a:rPr>
              <a:t>的线性关系显著）</a:t>
            </a:r>
          </a:p>
        </p:txBody>
      </p:sp>
    </p:spTree>
    <p:extLst>
      <p:ext uri="{BB962C8B-B14F-4D97-AF65-F5344CB8AC3E}">
        <p14:creationId xmlns:p14="http://schemas.microsoft.com/office/powerpoint/2010/main" val="16320386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5" name="日期占位符 6"/>
          <p:cNvSpPr>
            <a:spLocks noGrp="1"/>
          </p:cNvSpPr>
          <p:nvPr>
            <p:ph type="dt" sz="half" idx="10"/>
          </p:nvPr>
        </p:nvSpPr>
        <p:spPr>
          <a:noFill/>
        </p:spPr>
        <p:txBody>
          <a:bodyPr/>
          <a:lstStyle/>
          <a:p>
            <a:endParaRPr lang="en-US" altLang="zh-CN"/>
          </a:p>
        </p:txBody>
      </p:sp>
      <p:sp>
        <p:nvSpPr>
          <p:cNvPr id="109571" name="Rectangle 2"/>
          <p:cNvSpPr>
            <a:spLocks noGrp="1" noChangeArrowheads="1"/>
          </p:cNvSpPr>
          <p:nvPr>
            <p:ph type="title"/>
          </p:nvPr>
        </p:nvSpPr>
        <p:spPr>
          <a:xfrm>
            <a:off x="1473199" y="513437"/>
            <a:ext cx="8255000" cy="662782"/>
          </a:xfrm>
        </p:spPr>
        <p:txBody>
          <a:bodyPr/>
          <a:lstStyle/>
          <a:p>
            <a:pPr eaLnBrk="1" hangingPunct="1"/>
            <a:r>
              <a:rPr kumimoji="1" lang="zh-CN" altLang="en-US" i="1" dirty="0">
                <a:sym typeface="Symbol" pitchFamily="18" charset="2"/>
              </a:rPr>
              <a:t>Ｆ </a:t>
            </a:r>
            <a:r>
              <a:rPr kumimoji="1" lang="zh-CN" altLang="en-US" dirty="0">
                <a:sym typeface="Symbol" pitchFamily="18" charset="2"/>
              </a:rPr>
              <a:t>检验与 </a:t>
            </a:r>
            <a:r>
              <a:rPr kumimoji="1" lang="en-US" altLang="zh-CN" i="1" dirty="0">
                <a:sym typeface="Symbol" pitchFamily="18" charset="2"/>
              </a:rPr>
              <a:t>t</a:t>
            </a:r>
            <a:r>
              <a:rPr kumimoji="1" lang="en-US" altLang="zh-CN" dirty="0">
                <a:sym typeface="Symbol" pitchFamily="18" charset="2"/>
              </a:rPr>
              <a:t> </a:t>
            </a:r>
            <a:r>
              <a:rPr kumimoji="1" lang="zh-CN" altLang="en-US" dirty="0">
                <a:sym typeface="Symbol" pitchFamily="18" charset="2"/>
              </a:rPr>
              <a:t>检验的</a:t>
            </a:r>
            <a:r>
              <a:rPr kumimoji="1" lang="zh-CN" altLang="en-US" dirty="0">
                <a:solidFill>
                  <a:srgbClr val="FF00FF"/>
                </a:solidFill>
                <a:sym typeface="Symbol" pitchFamily="18" charset="2"/>
              </a:rPr>
              <a:t>不一致性</a:t>
            </a:r>
          </a:p>
        </p:txBody>
      </p:sp>
      <p:sp>
        <p:nvSpPr>
          <p:cNvPr id="109572" name="Rectangle 3"/>
          <p:cNvSpPr>
            <a:spLocks noGrp="1" noChangeArrowheads="1"/>
          </p:cNvSpPr>
          <p:nvPr>
            <p:ph idx="1"/>
          </p:nvPr>
        </p:nvSpPr>
        <p:spPr>
          <a:xfrm>
            <a:off x="1295399" y="1219319"/>
            <a:ext cx="8610601" cy="4419361"/>
          </a:xfrm>
          <a:noFill/>
        </p:spPr>
        <p:txBody>
          <a:bodyPr/>
          <a:lstStyle/>
          <a:p>
            <a:pPr marL="0" indent="895350" algn="just">
              <a:lnSpc>
                <a:spcPct val="150000"/>
              </a:lnSpc>
              <a:buSzTx/>
              <a:buNone/>
            </a:pPr>
            <a:r>
              <a:rPr kumimoji="1" lang="zh-CN" altLang="en-US" dirty="0">
                <a:solidFill>
                  <a:srgbClr val="0000FF"/>
                </a:solidFill>
              </a:rPr>
              <a:t>多元线性回归中</a:t>
            </a:r>
            <a:r>
              <a:rPr kumimoji="1" lang="zh-CN" altLang="en-US" b="0" dirty="0">
                <a:solidFill>
                  <a:srgbClr val="000000"/>
                </a:solidFill>
              </a:rPr>
              <a:t>，</a:t>
            </a:r>
            <a:r>
              <a:rPr kumimoji="1" lang="zh-CN" altLang="en-US" dirty="0">
                <a:solidFill>
                  <a:srgbClr val="000000"/>
                </a:solidFill>
              </a:rPr>
              <a:t>回归方程显著，不等于每个回归系数都显著。</a:t>
            </a:r>
            <a:endParaRPr kumimoji="1" lang="en-US" altLang="zh-CN" b="0" dirty="0">
              <a:solidFill>
                <a:srgbClr val="000000"/>
              </a:solidFill>
            </a:endParaRPr>
          </a:p>
        </p:txBody>
      </p:sp>
      <p:sp>
        <p:nvSpPr>
          <p:cNvPr id="109570" name="灯片编号占位符 5"/>
          <p:cNvSpPr>
            <a:spLocks noGrp="1"/>
          </p:cNvSpPr>
          <p:nvPr>
            <p:ph type="sldNum" sz="quarter" idx="4"/>
          </p:nvPr>
        </p:nvSpPr>
        <p:spPr>
          <a:noFill/>
        </p:spPr>
        <p:txBody>
          <a:bodyPr/>
          <a:lstStyle/>
          <a:p>
            <a:r>
              <a:rPr lang="en-US" altLang="zh-CN"/>
              <a:t>9--</a:t>
            </a:r>
            <a:fld id="{216277CE-D5C1-4DEC-8AF0-F94193CEA910}" type="slidenum">
              <a:rPr lang="en-US" altLang="zh-CN" smtClean="0"/>
              <a:pPr/>
              <a:t>100</a:t>
            </a:fld>
            <a:endParaRPr lang="en-US" altLang="zh-CN"/>
          </a:p>
        </p:txBody>
      </p:sp>
      <p:sp>
        <p:nvSpPr>
          <p:cNvPr id="109573" name="Rectangle 4"/>
          <p:cNvSpPr>
            <a:spLocks noChangeArrowheads="1"/>
          </p:cNvSpPr>
          <p:nvPr/>
        </p:nvSpPr>
        <p:spPr bwMode="auto">
          <a:xfrm>
            <a:off x="1836228" y="2544013"/>
            <a:ext cx="8280400" cy="1512887"/>
          </a:xfrm>
          <a:prstGeom prst="rect">
            <a:avLst/>
          </a:prstGeom>
          <a:noFill/>
          <a:ln w="28575">
            <a:noFill/>
            <a:miter lim="800000"/>
            <a:headEnd/>
            <a:tailEnd/>
          </a:ln>
        </p:spPr>
        <p:txBody>
          <a:bodyPr lIns="90488" tIns="44450" rIns="90488" bIns="44450"/>
          <a:lstStyle/>
          <a:p>
            <a:pPr marL="609600" indent="-609600" algn="just">
              <a:buSzPct val="90000"/>
              <a:buBlip>
                <a:blip r:embed="rId2"/>
              </a:buBlip>
            </a:pPr>
            <a:r>
              <a:rPr lang="zh-CN" altLang="en-US" sz="3200" b="1" dirty="0">
                <a:solidFill>
                  <a:srgbClr val="C56B9E"/>
                </a:solidFill>
                <a:latin typeface="Times New Roman" pitchFamily="18" charset="0"/>
              </a:rPr>
              <a:t>对回归系数的</a:t>
            </a:r>
            <a:r>
              <a:rPr lang="zh-CN" altLang="en-US" sz="3600" b="1" dirty="0">
                <a:solidFill>
                  <a:srgbClr val="C56B9E"/>
                </a:solidFill>
                <a:latin typeface="Times New Roman" pitchFamily="18" charset="0"/>
              </a:rPr>
              <a:t> </a:t>
            </a:r>
            <a:r>
              <a:rPr lang="en-US" altLang="zh-CN" sz="3600" b="1" i="1" dirty="0">
                <a:solidFill>
                  <a:srgbClr val="C56B9E"/>
                </a:solidFill>
                <a:latin typeface="Times New Roman" pitchFamily="18" charset="0"/>
              </a:rPr>
              <a:t>t </a:t>
            </a:r>
            <a:r>
              <a:rPr lang="zh-CN" altLang="en-US" sz="3200" b="1" dirty="0">
                <a:solidFill>
                  <a:srgbClr val="C56B9E"/>
                </a:solidFill>
                <a:latin typeface="Times New Roman" pitchFamily="18" charset="0"/>
              </a:rPr>
              <a:t>检验</a:t>
            </a:r>
            <a:r>
              <a:rPr lang="en-US" altLang="zh-CN" sz="3200" b="1" dirty="0">
                <a:solidFill>
                  <a:srgbClr val="C56B9E"/>
                </a:solidFill>
                <a:latin typeface="Times New Roman" pitchFamily="18" charset="0"/>
              </a:rPr>
              <a:t>:</a:t>
            </a:r>
          </a:p>
          <a:p>
            <a:pPr marL="1219200" lvl="1" indent="-533400" algn="just">
              <a:lnSpc>
                <a:spcPct val="105000"/>
              </a:lnSpc>
              <a:buSzPct val="80000"/>
              <a:buBlip>
                <a:blip r:embed="rId3"/>
              </a:buBlip>
            </a:pPr>
            <a:r>
              <a:rPr lang="en-US" altLang="zh-CN" sz="2800" b="1" i="1" dirty="0">
                <a:solidFill>
                  <a:srgbClr val="000000"/>
                </a:solidFill>
                <a:latin typeface="Times New Roman" pitchFamily="18" charset="0"/>
              </a:rPr>
              <a:t>H</a:t>
            </a:r>
            <a:r>
              <a:rPr lang="en-US" altLang="zh-CN" sz="2800" b="1" baseline="-25000" dirty="0">
                <a:solidFill>
                  <a:srgbClr val="000000"/>
                </a:solidFill>
                <a:latin typeface="Times New Roman" pitchFamily="18" charset="0"/>
              </a:rPr>
              <a:t>0</a:t>
            </a:r>
            <a:r>
              <a:rPr lang="zh-CN" altLang="en-US" sz="2800" b="1" dirty="0">
                <a:solidFill>
                  <a:srgbClr val="000000"/>
                </a:solidFill>
                <a:latin typeface="Times New Roman" pitchFamily="18" charset="0"/>
              </a:rPr>
              <a:t>：</a:t>
            </a:r>
            <a:r>
              <a:rPr lang="zh-CN" altLang="en-US" sz="2800" i="1" dirty="0">
                <a:solidFill>
                  <a:srgbClr val="000000"/>
                </a:solidFill>
                <a:latin typeface="Tahoma" pitchFamily="34" charset="0"/>
                <a:sym typeface="Symbol" pitchFamily="18" charset="2"/>
              </a:rPr>
              <a:t></a:t>
            </a:r>
            <a:r>
              <a:rPr lang="en-US" altLang="zh-CN" sz="2800" b="1" baseline="-25000" dirty="0">
                <a:solidFill>
                  <a:srgbClr val="000000"/>
                </a:solidFill>
                <a:latin typeface="Times New Roman" pitchFamily="18" charset="0"/>
                <a:sym typeface="Symbol" pitchFamily="18" charset="2"/>
              </a:rPr>
              <a:t>j</a:t>
            </a:r>
            <a:r>
              <a:rPr lang="en-US" altLang="zh-CN" sz="2800" dirty="0">
                <a:solidFill>
                  <a:srgbClr val="000000"/>
                </a:solidFill>
                <a:latin typeface="Tahoma" pitchFamily="34" charset="0"/>
                <a:sym typeface="Symbol" pitchFamily="18" charset="2"/>
              </a:rPr>
              <a:t>=0</a:t>
            </a:r>
            <a:r>
              <a:rPr lang="zh-CN" altLang="en-US" sz="2800" dirty="0">
                <a:solidFill>
                  <a:srgbClr val="000000"/>
                </a:solidFill>
                <a:latin typeface="Tahoma" pitchFamily="34" charset="0"/>
                <a:sym typeface="Symbol" pitchFamily="18" charset="2"/>
              </a:rPr>
              <a:t>（ </a:t>
            </a:r>
            <a:r>
              <a:rPr lang="en-US" altLang="zh-CN" sz="2800" i="1" dirty="0" err="1">
                <a:solidFill>
                  <a:srgbClr val="000000"/>
                </a:solidFill>
                <a:latin typeface="Times New Roman" pitchFamily="18" charset="0"/>
                <a:sym typeface="Symbol" pitchFamily="18" charset="2"/>
              </a:rPr>
              <a:t>X</a:t>
            </a:r>
            <a:r>
              <a:rPr lang="en-US" altLang="zh-CN" sz="2800" b="1" baseline="-25000" dirty="0" err="1">
                <a:solidFill>
                  <a:srgbClr val="000000"/>
                </a:solidFill>
                <a:latin typeface="Times New Roman" pitchFamily="18" charset="0"/>
                <a:sym typeface="Symbol" pitchFamily="18" charset="2"/>
              </a:rPr>
              <a:t>j</a:t>
            </a:r>
            <a:r>
              <a:rPr lang="en-US" altLang="zh-CN" sz="2800" b="1" i="1" dirty="0">
                <a:solidFill>
                  <a:srgbClr val="000000"/>
                </a:solidFill>
                <a:latin typeface="Times New Roman" pitchFamily="18" charset="0"/>
                <a:sym typeface="Symbol" pitchFamily="18" charset="2"/>
              </a:rPr>
              <a:t> </a:t>
            </a:r>
            <a:r>
              <a:rPr lang="zh-CN" altLang="en-US" sz="2800" b="1" dirty="0">
                <a:solidFill>
                  <a:srgbClr val="000000"/>
                </a:solidFill>
                <a:latin typeface="Times New Roman" pitchFamily="18" charset="0"/>
              </a:rPr>
              <a:t>与</a:t>
            </a:r>
            <a:r>
              <a:rPr lang="en-US" altLang="zh-CN" sz="2800" b="1" dirty="0">
                <a:solidFill>
                  <a:srgbClr val="000000"/>
                </a:solidFill>
                <a:latin typeface="Times New Roman" pitchFamily="18" charset="0"/>
              </a:rPr>
              <a:t>Y</a:t>
            </a:r>
            <a:r>
              <a:rPr lang="zh-CN" altLang="en-US" sz="2800" b="1" dirty="0">
                <a:solidFill>
                  <a:srgbClr val="000000"/>
                </a:solidFill>
                <a:latin typeface="Times New Roman" pitchFamily="18" charset="0"/>
              </a:rPr>
              <a:t>的线性关系不显著）；</a:t>
            </a:r>
          </a:p>
          <a:p>
            <a:pPr marL="1219200" lvl="1" indent="-533400" algn="just">
              <a:lnSpc>
                <a:spcPct val="105000"/>
              </a:lnSpc>
              <a:buSzPct val="80000"/>
              <a:buBlip>
                <a:blip r:embed="rId3"/>
              </a:buBlip>
            </a:pPr>
            <a:r>
              <a:rPr lang="en-US" altLang="zh-CN" sz="2800" b="1" i="1" dirty="0">
                <a:solidFill>
                  <a:srgbClr val="000000"/>
                </a:solidFill>
                <a:latin typeface="Times New Roman" pitchFamily="18" charset="0"/>
              </a:rPr>
              <a:t>H</a:t>
            </a:r>
            <a:r>
              <a:rPr lang="en-US" altLang="zh-CN" sz="2800" b="1" baseline="-25000" dirty="0">
                <a:solidFill>
                  <a:srgbClr val="000000"/>
                </a:solidFill>
                <a:latin typeface="Times New Roman" pitchFamily="18" charset="0"/>
              </a:rPr>
              <a:t>1</a:t>
            </a:r>
            <a:r>
              <a:rPr lang="en-US" altLang="zh-CN" sz="2800" dirty="0">
                <a:solidFill>
                  <a:srgbClr val="000000"/>
                </a:solidFill>
                <a:latin typeface="Tahoma" pitchFamily="34" charset="0"/>
                <a:sym typeface="Symbol" pitchFamily="18" charset="2"/>
              </a:rPr>
              <a:t> </a:t>
            </a:r>
            <a:r>
              <a:rPr lang="zh-CN" altLang="en-US" sz="2800" dirty="0">
                <a:solidFill>
                  <a:srgbClr val="000000"/>
                </a:solidFill>
                <a:latin typeface="Tahoma" pitchFamily="34" charset="0"/>
                <a:sym typeface="Symbol" pitchFamily="18" charset="2"/>
              </a:rPr>
              <a:t>：</a:t>
            </a:r>
            <a:r>
              <a:rPr lang="zh-CN" altLang="en-US" sz="2800" i="1" dirty="0">
                <a:solidFill>
                  <a:srgbClr val="000000"/>
                </a:solidFill>
                <a:latin typeface="Tahoma" pitchFamily="34" charset="0"/>
                <a:sym typeface="Symbol" pitchFamily="18" charset="2"/>
              </a:rPr>
              <a:t></a:t>
            </a:r>
            <a:r>
              <a:rPr lang="en-US" altLang="zh-CN" sz="2800" b="1" baseline="-25000" dirty="0">
                <a:solidFill>
                  <a:srgbClr val="000000"/>
                </a:solidFill>
                <a:latin typeface="Times New Roman" pitchFamily="18" charset="0"/>
                <a:sym typeface="Symbol" pitchFamily="18" charset="2"/>
              </a:rPr>
              <a:t>j</a:t>
            </a:r>
            <a:r>
              <a:rPr lang="en-US" altLang="zh-CN" sz="2800" dirty="0">
                <a:solidFill>
                  <a:srgbClr val="000000"/>
                </a:solidFill>
                <a:latin typeface="Tahoma" pitchFamily="34" charset="0"/>
                <a:sym typeface="Symbol" pitchFamily="18" charset="2"/>
              </a:rPr>
              <a:t>0 </a:t>
            </a:r>
            <a:r>
              <a:rPr lang="zh-CN" altLang="en-US" sz="2800" dirty="0">
                <a:solidFill>
                  <a:srgbClr val="000000"/>
                </a:solidFill>
                <a:latin typeface="Tahoma" pitchFamily="34" charset="0"/>
                <a:sym typeface="Symbol" pitchFamily="18" charset="2"/>
              </a:rPr>
              <a:t>（ </a:t>
            </a:r>
            <a:r>
              <a:rPr lang="en-US" altLang="zh-CN" sz="2800" i="1" dirty="0" err="1">
                <a:solidFill>
                  <a:srgbClr val="000000"/>
                </a:solidFill>
                <a:latin typeface="Times New Roman" pitchFamily="18" charset="0"/>
                <a:sym typeface="Symbol" pitchFamily="18" charset="2"/>
              </a:rPr>
              <a:t>X</a:t>
            </a:r>
            <a:r>
              <a:rPr lang="en-US" altLang="zh-CN" sz="2800" b="1" baseline="-25000" dirty="0" err="1">
                <a:solidFill>
                  <a:srgbClr val="000000"/>
                </a:solidFill>
                <a:latin typeface="Times New Roman" pitchFamily="18" charset="0"/>
                <a:sym typeface="Symbol" pitchFamily="18" charset="2"/>
              </a:rPr>
              <a:t>j</a:t>
            </a:r>
            <a:r>
              <a:rPr lang="en-US" altLang="zh-CN" sz="2800" b="1" baseline="-25000" dirty="0">
                <a:solidFill>
                  <a:srgbClr val="000000"/>
                </a:solidFill>
                <a:latin typeface="Times New Roman" pitchFamily="18" charset="0"/>
                <a:sym typeface="Symbol" pitchFamily="18" charset="2"/>
              </a:rPr>
              <a:t> </a:t>
            </a:r>
            <a:r>
              <a:rPr lang="zh-CN" altLang="en-US" sz="2800" b="1" dirty="0">
                <a:solidFill>
                  <a:srgbClr val="000000"/>
                </a:solidFill>
                <a:latin typeface="Times New Roman" pitchFamily="18" charset="0"/>
              </a:rPr>
              <a:t>与</a:t>
            </a:r>
            <a:r>
              <a:rPr lang="en-US" altLang="zh-CN" sz="2800" b="1" dirty="0">
                <a:solidFill>
                  <a:srgbClr val="000000"/>
                </a:solidFill>
                <a:latin typeface="Times New Roman" pitchFamily="18" charset="0"/>
              </a:rPr>
              <a:t>Y</a:t>
            </a:r>
            <a:r>
              <a:rPr lang="zh-CN" altLang="en-US" sz="2800" b="1" dirty="0">
                <a:solidFill>
                  <a:srgbClr val="000000"/>
                </a:solidFill>
                <a:latin typeface="Times New Roman" pitchFamily="18" charset="0"/>
              </a:rPr>
              <a:t>的线性关系显著）</a:t>
            </a:r>
          </a:p>
        </p:txBody>
      </p:sp>
      <p:sp>
        <p:nvSpPr>
          <p:cNvPr id="109574" name="Rectangle 5"/>
          <p:cNvSpPr>
            <a:spLocks noChangeArrowheads="1"/>
          </p:cNvSpPr>
          <p:nvPr/>
        </p:nvSpPr>
        <p:spPr bwMode="auto">
          <a:xfrm>
            <a:off x="1836228" y="4100000"/>
            <a:ext cx="8713663" cy="2211343"/>
          </a:xfrm>
          <a:prstGeom prst="rect">
            <a:avLst/>
          </a:prstGeom>
          <a:noFill/>
          <a:ln w="38100">
            <a:noFill/>
            <a:miter lim="800000"/>
            <a:headEnd/>
            <a:tailEnd/>
          </a:ln>
        </p:spPr>
        <p:txBody>
          <a:bodyPr lIns="90488" tIns="44450" rIns="90488" bIns="44450"/>
          <a:lstStyle/>
          <a:p>
            <a:pPr marL="609600" indent="-609600" algn="just">
              <a:buSzPct val="90000"/>
              <a:buBlip>
                <a:blip r:embed="rId2"/>
              </a:buBlip>
            </a:pPr>
            <a:r>
              <a:rPr lang="zh-CN" altLang="en-US" sz="3200" b="1" dirty="0">
                <a:solidFill>
                  <a:srgbClr val="C56B9E"/>
                </a:solidFill>
                <a:latin typeface="Times New Roman" pitchFamily="18" charset="0"/>
              </a:rPr>
              <a:t>对回归方程的</a:t>
            </a:r>
            <a:r>
              <a:rPr lang="en-US" altLang="zh-CN" sz="3600" b="1" i="1" dirty="0">
                <a:solidFill>
                  <a:srgbClr val="C56B9E"/>
                </a:solidFill>
                <a:latin typeface="Times New Roman" pitchFamily="18" charset="0"/>
              </a:rPr>
              <a:t>F </a:t>
            </a:r>
            <a:r>
              <a:rPr lang="zh-CN" altLang="en-US" sz="3200" b="1" dirty="0">
                <a:solidFill>
                  <a:srgbClr val="C56B9E"/>
                </a:solidFill>
                <a:latin typeface="Times New Roman" pitchFamily="18" charset="0"/>
              </a:rPr>
              <a:t>检验</a:t>
            </a:r>
            <a:r>
              <a:rPr lang="en-US" altLang="zh-CN" sz="3200" b="1" dirty="0">
                <a:solidFill>
                  <a:srgbClr val="C56B9E"/>
                </a:solidFill>
                <a:latin typeface="Times New Roman" pitchFamily="18" charset="0"/>
              </a:rPr>
              <a:t>:</a:t>
            </a:r>
          </a:p>
          <a:p>
            <a:pPr marL="1219200" lvl="1" indent="-533400" algn="just">
              <a:lnSpc>
                <a:spcPct val="110000"/>
              </a:lnSpc>
              <a:buSzPct val="80000"/>
              <a:buBlip>
                <a:blip r:embed="rId3"/>
              </a:buBlip>
            </a:pPr>
            <a:r>
              <a:rPr lang="en-US" altLang="zh-CN" sz="2800" b="1" i="1" dirty="0">
                <a:latin typeface="Times New Roman" pitchFamily="18" charset="0"/>
              </a:rPr>
              <a:t>H</a:t>
            </a:r>
            <a:r>
              <a:rPr lang="en-US" altLang="zh-CN" sz="2800" b="1" i="1" baseline="-25000" dirty="0">
                <a:latin typeface="Times New Roman" pitchFamily="18" charset="0"/>
              </a:rPr>
              <a:t>0</a:t>
            </a:r>
            <a:r>
              <a:rPr lang="zh-CN" altLang="en-US" sz="2800" b="1" dirty="0">
                <a:latin typeface="Times New Roman" pitchFamily="18" charset="0"/>
              </a:rPr>
              <a:t>：</a:t>
            </a:r>
            <a:r>
              <a:rPr lang="zh-CN" altLang="en-US" sz="2800" i="1" dirty="0">
                <a:latin typeface="Tahoma" pitchFamily="34" charset="0"/>
                <a:sym typeface="Symbol" pitchFamily="18" charset="2"/>
              </a:rPr>
              <a:t></a:t>
            </a:r>
            <a:r>
              <a:rPr lang="en-US" altLang="zh-CN" sz="2800" b="1" i="1" baseline="-25000" dirty="0">
                <a:latin typeface="Times New Roman" pitchFamily="18" charset="0"/>
                <a:sym typeface="Symbol" pitchFamily="18" charset="2"/>
              </a:rPr>
              <a:t>1</a:t>
            </a:r>
            <a:r>
              <a:rPr lang="en-US" altLang="zh-CN" sz="2800" dirty="0">
                <a:latin typeface="Tahoma" pitchFamily="34" charset="0"/>
                <a:sym typeface="Symbol" pitchFamily="18" charset="2"/>
              </a:rPr>
              <a:t>=</a:t>
            </a:r>
            <a:r>
              <a:rPr lang="en-US" altLang="zh-CN" sz="2800" i="1" dirty="0">
                <a:latin typeface="Tahoma" pitchFamily="34" charset="0"/>
                <a:sym typeface="Symbol" pitchFamily="18" charset="2"/>
              </a:rPr>
              <a:t></a:t>
            </a:r>
            <a:r>
              <a:rPr lang="en-US" altLang="zh-CN" sz="2800" b="1" i="1" baseline="-25000" dirty="0">
                <a:latin typeface="Times New Roman" pitchFamily="18" charset="0"/>
                <a:sym typeface="Symbol" pitchFamily="18" charset="2"/>
              </a:rPr>
              <a:t>2</a:t>
            </a:r>
            <a:r>
              <a:rPr lang="en-US" altLang="zh-CN" sz="2800" dirty="0">
                <a:latin typeface="Tahoma" pitchFamily="34" charset="0"/>
                <a:sym typeface="Symbol" pitchFamily="18" charset="2"/>
              </a:rPr>
              <a:t>=</a:t>
            </a:r>
            <a:r>
              <a:rPr lang="en-US" altLang="zh-CN" sz="2800" dirty="0">
                <a:sym typeface="Symbol" pitchFamily="18" charset="2"/>
              </a:rPr>
              <a:t>…</a:t>
            </a:r>
            <a:r>
              <a:rPr lang="en-US" altLang="zh-CN" sz="2800" dirty="0">
                <a:latin typeface="Tahoma" pitchFamily="34" charset="0"/>
                <a:sym typeface="Symbol" pitchFamily="18" charset="2"/>
              </a:rPr>
              <a:t>=</a:t>
            </a:r>
            <a:r>
              <a:rPr lang="en-US" altLang="zh-CN" sz="2800" i="1" dirty="0">
                <a:latin typeface="Tahoma" pitchFamily="34" charset="0"/>
                <a:sym typeface="Symbol" pitchFamily="18" charset="2"/>
              </a:rPr>
              <a:t></a:t>
            </a:r>
            <a:r>
              <a:rPr lang="en-US" altLang="zh-CN" sz="2800" b="1" i="1" baseline="-25000" dirty="0">
                <a:latin typeface="Times New Roman" pitchFamily="18" charset="0"/>
                <a:sym typeface="Symbol" pitchFamily="18" charset="2"/>
              </a:rPr>
              <a:t>K</a:t>
            </a:r>
            <a:r>
              <a:rPr lang="en-US" altLang="zh-CN" sz="2800" dirty="0">
                <a:latin typeface="Tahoma" pitchFamily="34" charset="0"/>
                <a:sym typeface="Symbol" pitchFamily="18" charset="2"/>
              </a:rPr>
              <a:t>=0 </a:t>
            </a:r>
            <a:r>
              <a:rPr lang="zh-CN" altLang="en-US" sz="2800" dirty="0">
                <a:latin typeface="Tahoma" pitchFamily="34" charset="0"/>
                <a:sym typeface="Symbol" pitchFamily="18" charset="2"/>
              </a:rPr>
              <a:t>（</a:t>
            </a:r>
            <a:r>
              <a:rPr lang="zh-CN" altLang="en-US" sz="2800" b="1" dirty="0">
                <a:latin typeface="Tahoma" pitchFamily="34" charset="0"/>
                <a:sym typeface="Symbol" pitchFamily="18" charset="2"/>
              </a:rPr>
              <a:t>所有</a:t>
            </a:r>
            <a:r>
              <a:rPr lang="en-US" altLang="zh-CN" sz="2800" i="1" dirty="0" err="1">
                <a:latin typeface="Times New Roman" pitchFamily="18" charset="0"/>
                <a:sym typeface="Symbol" pitchFamily="18" charset="2"/>
              </a:rPr>
              <a:t>X</a:t>
            </a:r>
            <a:r>
              <a:rPr lang="en-US" altLang="zh-CN" sz="2800" b="1" i="1" baseline="-25000" dirty="0" err="1">
                <a:latin typeface="Times New Roman" pitchFamily="18" charset="0"/>
                <a:sym typeface="Symbol" pitchFamily="18" charset="2"/>
              </a:rPr>
              <a:t>j</a:t>
            </a:r>
            <a:r>
              <a:rPr lang="zh-CN" altLang="en-US" sz="2800" b="1" dirty="0">
                <a:latin typeface="Times New Roman" pitchFamily="18" charset="0"/>
              </a:rPr>
              <a:t>与</a:t>
            </a:r>
            <a:r>
              <a:rPr lang="en-US" altLang="zh-CN" sz="2800" b="1" dirty="0">
                <a:latin typeface="Times New Roman" pitchFamily="18" charset="0"/>
              </a:rPr>
              <a:t>Y</a:t>
            </a:r>
            <a:r>
              <a:rPr lang="zh-CN" altLang="en-US" sz="2800" b="1" dirty="0">
                <a:latin typeface="Times New Roman" pitchFamily="18" charset="0"/>
              </a:rPr>
              <a:t>的线性关系都不显著）；</a:t>
            </a:r>
          </a:p>
          <a:p>
            <a:pPr marL="1219200" lvl="1" indent="-533400" algn="just">
              <a:lnSpc>
                <a:spcPct val="110000"/>
              </a:lnSpc>
              <a:buSzPct val="80000"/>
              <a:buBlip>
                <a:blip r:embed="rId3"/>
              </a:buBlip>
            </a:pPr>
            <a:r>
              <a:rPr lang="en-US" altLang="zh-CN" sz="2800" b="1" i="1" dirty="0">
                <a:latin typeface="Times New Roman" pitchFamily="18" charset="0"/>
              </a:rPr>
              <a:t>H</a:t>
            </a:r>
            <a:r>
              <a:rPr lang="en-US" altLang="zh-CN" sz="2800" b="1" i="1" baseline="-25000" dirty="0">
                <a:latin typeface="Times New Roman" pitchFamily="18" charset="0"/>
              </a:rPr>
              <a:t>1</a:t>
            </a:r>
            <a:r>
              <a:rPr lang="zh-CN" altLang="en-US" sz="2800" dirty="0">
                <a:latin typeface="Tahoma" pitchFamily="34" charset="0"/>
                <a:sym typeface="Symbol" pitchFamily="18" charset="2"/>
              </a:rPr>
              <a:t>：</a:t>
            </a:r>
            <a:r>
              <a:rPr lang="zh-CN" altLang="en-US" sz="2800" i="1" dirty="0">
                <a:latin typeface="Tahoma" pitchFamily="34" charset="0"/>
                <a:sym typeface="Symbol" pitchFamily="18" charset="2"/>
              </a:rPr>
              <a:t></a:t>
            </a:r>
            <a:r>
              <a:rPr lang="en-US" altLang="zh-CN" sz="2800" b="1" i="1" baseline="-25000" dirty="0">
                <a:latin typeface="Times New Roman" pitchFamily="18" charset="0"/>
                <a:sym typeface="Symbol" pitchFamily="18" charset="2"/>
              </a:rPr>
              <a:t>j</a:t>
            </a:r>
            <a:r>
              <a:rPr lang="en-US" altLang="zh-CN" sz="2800" dirty="0">
                <a:latin typeface="Tahoma" pitchFamily="34" charset="0"/>
                <a:sym typeface="Symbol" pitchFamily="18" charset="2"/>
              </a:rPr>
              <a:t> </a:t>
            </a:r>
            <a:r>
              <a:rPr lang="zh-CN" altLang="en-US" sz="2800" b="1" dirty="0">
                <a:latin typeface="Tahoma" pitchFamily="34" charset="0"/>
                <a:sym typeface="Symbol" pitchFamily="18" charset="2"/>
              </a:rPr>
              <a:t>不全为</a:t>
            </a:r>
            <a:r>
              <a:rPr lang="en-US" altLang="zh-CN" sz="2800" dirty="0">
                <a:latin typeface="Tahoma" pitchFamily="34" charset="0"/>
                <a:sym typeface="Symbol" pitchFamily="18" charset="2"/>
              </a:rPr>
              <a:t>0</a:t>
            </a:r>
            <a:r>
              <a:rPr lang="zh-CN" altLang="en-US" sz="2400" dirty="0">
                <a:latin typeface="Tahoma" pitchFamily="34" charset="0"/>
                <a:sym typeface="Symbol" pitchFamily="18" charset="2"/>
              </a:rPr>
              <a:t>（</a:t>
            </a:r>
            <a:r>
              <a:rPr lang="zh-CN" altLang="en-US" sz="2400" b="1" dirty="0">
                <a:latin typeface="Tahoma" pitchFamily="34" charset="0"/>
                <a:sym typeface="Symbol" pitchFamily="18" charset="2"/>
              </a:rPr>
              <a:t>至少有一个</a:t>
            </a:r>
            <a:r>
              <a:rPr lang="en-US" altLang="zh-CN" sz="2400" i="1" dirty="0">
                <a:latin typeface="Times New Roman" pitchFamily="18" charset="0"/>
                <a:sym typeface="Symbol" pitchFamily="18" charset="2"/>
              </a:rPr>
              <a:t>X</a:t>
            </a:r>
            <a:r>
              <a:rPr lang="zh-CN" altLang="en-US" sz="2400" b="1" dirty="0">
                <a:latin typeface="Times New Roman" pitchFamily="18" charset="0"/>
              </a:rPr>
              <a:t>与</a:t>
            </a:r>
            <a:r>
              <a:rPr lang="en-US" altLang="zh-CN" sz="2400" b="1" dirty="0">
                <a:latin typeface="Times New Roman" pitchFamily="18" charset="0"/>
              </a:rPr>
              <a:t>Y</a:t>
            </a:r>
            <a:r>
              <a:rPr lang="zh-CN" altLang="en-US" sz="2400" b="1" dirty="0">
                <a:latin typeface="Times New Roman" pitchFamily="18" charset="0"/>
              </a:rPr>
              <a:t>的线性关系显著）</a:t>
            </a:r>
          </a:p>
        </p:txBody>
      </p:sp>
    </p:spTree>
    <p:extLst>
      <p:ext uri="{BB962C8B-B14F-4D97-AF65-F5344CB8AC3E}">
        <p14:creationId xmlns:p14="http://schemas.microsoft.com/office/powerpoint/2010/main" val="18644822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日期占位符 4"/>
          <p:cNvSpPr>
            <a:spLocks noGrp="1"/>
          </p:cNvSpPr>
          <p:nvPr>
            <p:ph type="dt" sz="half" idx="10"/>
          </p:nvPr>
        </p:nvSpPr>
        <p:spPr>
          <a:noFill/>
        </p:spPr>
        <p:txBody>
          <a:bodyPr/>
          <a:lstStyle/>
          <a:p>
            <a:endParaRPr lang="en-US" altLang="zh-CN"/>
          </a:p>
        </p:txBody>
      </p:sp>
      <p:sp>
        <p:nvSpPr>
          <p:cNvPr id="110595" name="Rectangle 2"/>
          <p:cNvSpPr>
            <a:spLocks noGrp="1" noChangeArrowheads="1"/>
          </p:cNvSpPr>
          <p:nvPr>
            <p:ph type="title"/>
          </p:nvPr>
        </p:nvSpPr>
        <p:spPr>
          <a:xfrm>
            <a:off x="1875391" y="969966"/>
            <a:ext cx="2432844" cy="662782"/>
          </a:xfrm>
        </p:spPr>
        <p:txBody>
          <a:bodyPr/>
          <a:lstStyle/>
          <a:p>
            <a:pPr eaLnBrk="1" hangingPunct="1"/>
            <a:r>
              <a:rPr lang="en-US" altLang="zh-CN" dirty="0"/>
              <a:t>【</a:t>
            </a:r>
            <a:r>
              <a:rPr lang="zh-CN" altLang="en-US" dirty="0"/>
              <a:t>附例</a:t>
            </a:r>
            <a:r>
              <a:rPr lang="en-US" altLang="zh-CN" dirty="0"/>
              <a:t>】</a:t>
            </a:r>
          </a:p>
        </p:txBody>
      </p:sp>
      <p:sp>
        <p:nvSpPr>
          <p:cNvPr id="110594" name="灯片编号占位符 5"/>
          <p:cNvSpPr>
            <a:spLocks noGrp="1"/>
          </p:cNvSpPr>
          <p:nvPr>
            <p:ph type="sldNum" sz="quarter" idx="4"/>
          </p:nvPr>
        </p:nvSpPr>
        <p:spPr>
          <a:noFill/>
        </p:spPr>
        <p:txBody>
          <a:bodyPr/>
          <a:lstStyle/>
          <a:p>
            <a:r>
              <a:rPr lang="en-US" altLang="zh-CN"/>
              <a:t>9--</a:t>
            </a:r>
            <a:fld id="{851E3716-5D1B-437F-A44A-070AC1EA224A}" type="slidenum">
              <a:rPr lang="en-US" altLang="zh-CN" smtClean="0"/>
              <a:pPr/>
              <a:t>101</a:t>
            </a:fld>
            <a:endParaRPr lang="en-US" altLang="zh-CN"/>
          </a:p>
        </p:txBody>
      </p:sp>
      <p:pic>
        <p:nvPicPr>
          <p:cNvPr id="110596" name="Picture 3"/>
          <p:cNvPicPr>
            <a:picLocks noChangeAspect="1" noChangeArrowheads="1"/>
          </p:cNvPicPr>
          <p:nvPr/>
        </p:nvPicPr>
        <p:blipFill>
          <a:blip r:embed="rId2" cstate="print"/>
          <a:srcRect/>
          <a:stretch>
            <a:fillRect/>
          </a:stretch>
        </p:blipFill>
        <p:spPr bwMode="auto">
          <a:xfrm>
            <a:off x="4308235" y="212052"/>
            <a:ext cx="5395912" cy="6669087"/>
          </a:xfrm>
          <a:prstGeom prst="rect">
            <a:avLst/>
          </a:prstGeom>
          <a:noFill/>
          <a:ln w="9525">
            <a:noFill/>
            <a:miter lim="800000"/>
            <a:headEnd/>
            <a:tailEnd/>
          </a:ln>
        </p:spPr>
      </p:pic>
    </p:spTree>
    <p:extLst>
      <p:ext uri="{BB962C8B-B14F-4D97-AF65-F5344CB8AC3E}">
        <p14:creationId xmlns:p14="http://schemas.microsoft.com/office/powerpoint/2010/main" val="31657300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7" name="日期占位符 6"/>
          <p:cNvSpPr>
            <a:spLocks noGrp="1"/>
          </p:cNvSpPr>
          <p:nvPr>
            <p:ph type="dt" sz="half" idx="10"/>
          </p:nvPr>
        </p:nvSpPr>
        <p:spPr>
          <a:noFill/>
        </p:spPr>
        <p:txBody>
          <a:bodyPr/>
          <a:lstStyle/>
          <a:p>
            <a:endParaRPr lang="en-US" altLang="zh-CN"/>
          </a:p>
        </p:txBody>
      </p:sp>
      <p:sp>
        <p:nvSpPr>
          <p:cNvPr id="2" name="标题 1"/>
          <p:cNvSpPr>
            <a:spLocks noGrp="1"/>
          </p:cNvSpPr>
          <p:nvPr>
            <p:ph type="title"/>
          </p:nvPr>
        </p:nvSpPr>
        <p:spPr>
          <a:xfrm>
            <a:off x="2012156" y="231775"/>
            <a:ext cx="10179844" cy="662782"/>
          </a:xfrm>
        </p:spPr>
        <p:txBody>
          <a:bodyPr/>
          <a:lstStyle/>
          <a:p>
            <a:r>
              <a:rPr lang="zh-CN" altLang="en-US" dirty="0"/>
              <a:t>附例的二元线性回归输出表</a:t>
            </a:r>
          </a:p>
        </p:txBody>
      </p:sp>
      <p:sp>
        <p:nvSpPr>
          <p:cNvPr id="112642" name="灯片编号占位符 5"/>
          <p:cNvSpPr>
            <a:spLocks noGrp="1"/>
          </p:cNvSpPr>
          <p:nvPr>
            <p:ph type="sldNum" sz="quarter" idx="4"/>
          </p:nvPr>
        </p:nvSpPr>
        <p:spPr>
          <a:noFill/>
        </p:spPr>
        <p:txBody>
          <a:bodyPr/>
          <a:lstStyle/>
          <a:p>
            <a:r>
              <a:rPr lang="en-US" altLang="zh-CN"/>
              <a:t>9--</a:t>
            </a:r>
            <a:fld id="{8ED6B0FD-D0C8-4A0C-934C-5BEDBC00D7C5}" type="slidenum">
              <a:rPr lang="en-US" altLang="zh-CN" smtClean="0"/>
              <a:pPr/>
              <a:t>102</a:t>
            </a:fld>
            <a:endParaRPr lang="en-US" altLang="zh-CN"/>
          </a:p>
        </p:txBody>
      </p:sp>
      <p:pic>
        <p:nvPicPr>
          <p:cNvPr id="112645" name="Picture 4"/>
          <p:cNvPicPr>
            <a:picLocks noChangeAspect="1" noChangeArrowheads="1"/>
          </p:cNvPicPr>
          <p:nvPr/>
        </p:nvPicPr>
        <p:blipFill>
          <a:blip r:embed="rId2" cstate="print"/>
          <a:srcRect/>
          <a:stretch>
            <a:fillRect/>
          </a:stretch>
        </p:blipFill>
        <p:spPr bwMode="auto">
          <a:xfrm>
            <a:off x="2012156" y="1003300"/>
            <a:ext cx="8439944" cy="5403909"/>
          </a:xfrm>
          <a:prstGeom prst="rect">
            <a:avLst/>
          </a:prstGeom>
          <a:noFill/>
          <a:ln w="9525">
            <a:noFill/>
            <a:miter lim="800000"/>
            <a:headEnd/>
            <a:tailEnd/>
          </a:ln>
        </p:spPr>
      </p:pic>
      <p:sp>
        <p:nvSpPr>
          <p:cNvPr id="112646" name="Rectangle 5"/>
          <p:cNvSpPr>
            <a:spLocks noChangeArrowheads="1"/>
          </p:cNvSpPr>
          <p:nvPr/>
        </p:nvSpPr>
        <p:spPr bwMode="auto">
          <a:xfrm>
            <a:off x="6039884" y="1181100"/>
            <a:ext cx="3138407" cy="1304925"/>
          </a:xfrm>
          <a:prstGeom prst="rect">
            <a:avLst/>
          </a:prstGeom>
          <a:solidFill>
            <a:srgbClr val="FFFF00"/>
          </a:solidFill>
          <a:ln w="9525">
            <a:noFill/>
            <a:miter lim="800000"/>
            <a:headEnd/>
            <a:tailEnd/>
          </a:ln>
        </p:spPr>
        <p:txBody>
          <a:bodyPr anchor="b"/>
          <a:lstStyle/>
          <a:p>
            <a:pPr algn="ctr"/>
            <a:r>
              <a:rPr lang="zh-CN" altLang="en-US" sz="3200" b="1" dirty="0">
                <a:solidFill>
                  <a:srgbClr val="3333FF"/>
                </a:solidFill>
                <a:latin typeface="Tahoma" pitchFamily="34" charset="0"/>
              </a:rPr>
              <a:t>回归方程和系数的显著性检验？</a:t>
            </a:r>
          </a:p>
        </p:txBody>
      </p:sp>
    </p:spTree>
    <p:extLst>
      <p:ext uri="{BB962C8B-B14F-4D97-AF65-F5344CB8AC3E}">
        <p14:creationId xmlns:p14="http://schemas.microsoft.com/office/powerpoint/2010/main" val="29431886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7" name="日期占位符 4"/>
          <p:cNvSpPr>
            <a:spLocks noGrp="1"/>
          </p:cNvSpPr>
          <p:nvPr>
            <p:ph type="dt" sz="half" idx="10"/>
          </p:nvPr>
        </p:nvSpPr>
        <p:spPr>
          <a:noFill/>
        </p:spPr>
        <p:txBody>
          <a:bodyPr/>
          <a:lstStyle/>
          <a:p>
            <a:endParaRPr lang="en-US" altLang="zh-CN"/>
          </a:p>
        </p:txBody>
      </p:sp>
      <p:sp>
        <p:nvSpPr>
          <p:cNvPr id="115715" name="Rectangle 2"/>
          <p:cNvSpPr>
            <a:spLocks noGrp="1" noChangeArrowheads="1"/>
          </p:cNvSpPr>
          <p:nvPr>
            <p:ph type="title"/>
          </p:nvPr>
        </p:nvSpPr>
        <p:spPr>
          <a:xfrm>
            <a:off x="974091" y="632777"/>
            <a:ext cx="6455409" cy="662782"/>
          </a:xfrm>
          <a:noFill/>
        </p:spPr>
        <p:txBody>
          <a:bodyPr vert="horz" lIns="90488" tIns="44450" rIns="90488" bIns="44450" rtlCol="0" anchor="ctr" anchorCtr="1">
            <a:normAutofit/>
          </a:bodyPr>
          <a:lstStyle/>
          <a:p>
            <a:pPr eaLnBrk="1" hangingPunct="1"/>
            <a:r>
              <a:rPr lang="zh-CN" altLang="en-US" sz="4000" dirty="0"/>
              <a:t>本章小结</a:t>
            </a:r>
          </a:p>
        </p:txBody>
      </p:sp>
      <p:sp>
        <p:nvSpPr>
          <p:cNvPr id="141315" name="Rectangle 3"/>
          <p:cNvSpPr>
            <a:spLocks noGrp="1" noChangeArrowheads="1"/>
          </p:cNvSpPr>
          <p:nvPr>
            <p:ph idx="1"/>
          </p:nvPr>
        </p:nvSpPr>
        <p:spPr>
          <a:xfrm>
            <a:off x="1854200" y="1384300"/>
            <a:ext cx="8089900" cy="4749561"/>
          </a:xfrm>
          <a:noFill/>
        </p:spPr>
        <p:txBody>
          <a:bodyPr vert="horz" lIns="90488" tIns="44450" rIns="90488" bIns="44450" rtlCol="0">
            <a:normAutofit/>
          </a:bodyPr>
          <a:lstStyle/>
          <a:p>
            <a:pPr marL="609600" indent="-609600" algn="just">
              <a:lnSpc>
                <a:spcPct val="110000"/>
              </a:lnSpc>
              <a:spcBef>
                <a:spcPct val="30000"/>
              </a:spcBef>
              <a:buFontTx/>
              <a:buChar char="•"/>
            </a:pPr>
            <a:r>
              <a:rPr lang="zh-CN" altLang="en-US" sz="2800" dirty="0"/>
              <a:t>相关关系的概念、种类</a:t>
            </a:r>
          </a:p>
          <a:p>
            <a:pPr marL="609600" indent="-609600" algn="just">
              <a:lnSpc>
                <a:spcPct val="110000"/>
              </a:lnSpc>
              <a:spcBef>
                <a:spcPct val="30000"/>
              </a:spcBef>
              <a:buFontTx/>
              <a:buChar char="•"/>
            </a:pPr>
            <a:r>
              <a:rPr lang="zh-CN" altLang="en-US" sz="2800" dirty="0"/>
              <a:t>相关关系的测定</a:t>
            </a:r>
            <a:r>
              <a:rPr lang="en-US" altLang="zh-CN" sz="2800" dirty="0">
                <a:latin typeface="Arial" charset="0"/>
              </a:rPr>
              <a:t>—</a:t>
            </a:r>
            <a:r>
              <a:rPr lang="zh-CN" altLang="en-US" sz="2800" dirty="0"/>
              <a:t>相关系数</a:t>
            </a:r>
            <a:r>
              <a:rPr lang="en-US" altLang="zh-CN" sz="2800" dirty="0">
                <a:latin typeface="Times New Roman" pitchFamily="18" charset="0"/>
              </a:rPr>
              <a:t>r</a:t>
            </a:r>
            <a:r>
              <a:rPr lang="zh-CN" altLang="en-US" sz="2800" dirty="0">
                <a:latin typeface="Times New Roman" pitchFamily="18" charset="0"/>
              </a:rPr>
              <a:t>及</a:t>
            </a:r>
            <a:r>
              <a:rPr lang="en-US" altLang="zh-CN" sz="2800" dirty="0" err="1">
                <a:latin typeface="Times New Roman" pitchFamily="18" charset="0"/>
              </a:rPr>
              <a:t>r</a:t>
            </a:r>
            <a:r>
              <a:rPr lang="en-US" altLang="zh-CN" sz="2800" baseline="-25000" dirty="0" err="1">
                <a:latin typeface="Times New Roman" pitchFamily="18" charset="0"/>
              </a:rPr>
              <a:t>s</a:t>
            </a:r>
            <a:r>
              <a:rPr lang="zh-CN" altLang="en-US" sz="2800" dirty="0"/>
              <a:t>的计算和应用</a:t>
            </a:r>
          </a:p>
          <a:p>
            <a:pPr marL="609600" indent="-609600" algn="just">
              <a:lnSpc>
                <a:spcPct val="110000"/>
              </a:lnSpc>
              <a:spcBef>
                <a:spcPct val="30000"/>
              </a:spcBef>
              <a:buFontTx/>
              <a:buChar char="•"/>
            </a:pPr>
            <a:r>
              <a:rPr lang="zh-CN" altLang="en-US" sz="2800" dirty="0"/>
              <a:t>线性回归模型的有关概念、估计</a:t>
            </a:r>
          </a:p>
          <a:p>
            <a:pPr marL="1219200" lvl="1" indent="-533400" algn="just">
              <a:lnSpc>
                <a:spcPct val="110000"/>
              </a:lnSpc>
              <a:spcBef>
                <a:spcPct val="30000"/>
              </a:spcBef>
              <a:buFontTx/>
              <a:buChar char="•"/>
            </a:pPr>
            <a:r>
              <a:rPr lang="zh-CN" altLang="en-US" sz="2400" dirty="0">
                <a:solidFill>
                  <a:schemeClr val="tx1"/>
                </a:solidFill>
              </a:rPr>
              <a:t>线性回归模型的</a:t>
            </a:r>
            <a:r>
              <a:rPr lang="en-US" altLang="zh-CN" sz="2400" dirty="0">
                <a:solidFill>
                  <a:schemeClr val="tx1"/>
                </a:solidFill>
              </a:rPr>
              <a:t>OLS</a:t>
            </a:r>
          </a:p>
          <a:p>
            <a:pPr marL="1219200" lvl="1" indent="-533400" algn="just">
              <a:lnSpc>
                <a:spcPct val="110000"/>
              </a:lnSpc>
              <a:spcBef>
                <a:spcPct val="30000"/>
              </a:spcBef>
              <a:buFontTx/>
              <a:buChar char="•"/>
            </a:pPr>
            <a:r>
              <a:rPr lang="zh-CN" altLang="en-US" sz="2400" dirty="0">
                <a:solidFill>
                  <a:schemeClr val="tx1"/>
                </a:solidFill>
              </a:rPr>
              <a:t>拟合优度的度量</a:t>
            </a:r>
          </a:p>
          <a:p>
            <a:pPr marL="609600" indent="-609600" algn="just">
              <a:lnSpc>
                <a:spcPct val="110000"/>
              </a:lnSpc>
              <a:spcBef>
                <a:spcPct val="30000"/>
              </a:spcBef>
              <a:buFontTx/>
              <a:buChar char="•"/>
            </a:pPr>
            <a:r>
              <a:rPr lang="zh-CN" altLang="en-US" sz="2800" dirty="0"/>
              <a:t>线性回归模型的显著性检验</a:t>
            </a:r>
            <a:r>
              <a:rPr lang="en-US" altLang="zh-CN" sz="2800" dirty="0">
                <a:solidFill>
                  <a:schemeClr val="tx1"/>
                </a:solidFill>
                <a:latin typeface="Arial" charset="0"/>
              </a:rPr>
              <a:t>——</a:t>
            </a:r>
            <a:r>
              <a:rPr lang="en-US" altLang="zh-CN" sz="2400" dirty="0">
                <a:solidFill>
                  <a:schemeClr val="tx1"/>
                </a:solidFill>
              </a:rPr>
              <a:t>t</a:t>
            </a:r>
            <a:r>
              <a:rPr lang="zh-CN" altLang="en-US" sz="2400" dirty="0">
                <a:solidFill>
                  <a:schemeClr val="tx1"/>
                </a:solidFill>
              </a:rPr>
              <a:t>，</a:t>
            </a:r>
            <a:r>
              <a:rPr lang="en-US" altLang="zh-CN" sz="2400" dirty="0">
                <a:solidFill>
                  <a:schemeClr val="tx1"/>
                </a:solidFill>
              </a:rPr>
              <a:t>F</a:t>
            </a:r>
            <a:r>
              <a:rPr lang="zh-CN" altLang="en-US" sz="2400" dirty="0">
                <a:solidFill>
                  <a:schemeClr val="tx1"/>
                </a:solidFill>
              </a:rPr>
              <a:t>检验</a:t>
            </a:r>
          </a:p>
          <a:p>
            <a:pPr marL="609600" indent="-609600" algn="just">
              <a:lnSpc>
                <a:spcPct val="110000"/>
              </a:lnSpc>
              <a:spcBef>
                <a:spcPct val="30000"/>
              </a:spcBef>
              <a:buFontTx/>
              <a:buChar char="•"/>
            </a:pPr>
            <a:r>
              <a:rPr lang="zh-CN" altLang="en-US" sz="2800" dirty="0"/>
              <a:t>利用线性回归模型进行预测</a:t>
            </a:r>
            <a:r>
              <a:rPr lang="en-US" altLang="zh-CN" sz="2400" dirty="0">
                <a:solidFill>
                  <a:schemeClr val="tx1"/>
                </a:solidFill>
                <a:latin typeface="Arial" charset="0"/>
              </a:rPr>
              <a:t>—</a:t>
            </a:r>
            <a:r>
              <a:rPr lang="zh-CN" altLang="en-US" sz="2400" dirty="0">
                <a:solidFill>
                  <a:srgbClr val="000000"/>
                </a:solidFill>
              </a:rPr>
              <a:t>点预测</a:t>
            </a:r>
            <a:r>
              <a:rPr lang="zh-CN" altLang="en-US" sz="2400" dirty="0">
                <a:solidFill>
                  <a:schemeClr val="tx1"/>
                </a:solidFill>
              </a:rPr>
              <a:t>、区间预测</a:t>
            </a:r>
          </a:p>
          <a:p>
            <a:pPr marL="609600" indent="-609600" algn="just">
              <a:lnSpc>
                <a:spcPct val="110000"/>
              </a:lnSpc>
              <a:spcBef>
                <a:spcPct val="30000"/>
              </a:spcBef>
              <a:buFontTx/>
              <a:buChar char="•"/>
            </a:pPr>
            <a:r>
              <a:rPr lang="en-US" altLang="zh-CN" sz="2800" dirty="0"/>
              <a:t>Excel </a:t>
            </a:r>
            <a:r>
              <a:rPr lang="zh-CN" altLang="en-US" sz="2800" dirty="0"/>
              <a:t>的运用与输出结果解读</a:t>
            </a:r>
          </a:p>
        </p:txBody>
      </p:sp>
      <p:sp>
        <p:nvSpPr>
          <p:cNvPr id="115714" name="灯片编号占位符 5"/>
          <p:cNvSpPr>
            <a:spLocks noGrp="1"/>
          </p:cNvSpPr>
          <p:nvPr>
            <p:ph type="sldNum" sz="quarter" idx="4"/>
          </p:nvPr>
        </p:nvSpPr>
        <p:spPr>
          <a:noFill/>
        </p:spPr>
        <p:txBody>
          <a:bodyPr/>
          <a:lstStyle/>
          <a:p>
            <a:r>
              <a:rPr lang="en-US" altLang="zh-CN"/>
              <a:t>9--</a:t>
            </a:r>
            <a:fld id="{75C0B0CF-469B-4377-A362-DBF1A03B1147}" type="slidenum">
              <a:rPr lang="en-US" altLang="zh-CN" smtClean="0"/>
              <a:pPr/>
              <a:t>103</a:t>
            </a:fld>
            <a:endParaRPr lang="en-US" altLang="zh-CN"/>
          </a:p>
        </p:txBody>
      </p:sp>
    </p:spTree>
    <p:extLst>
      <p:ext uri="{BB962C8B-B14F-4D97-AF65-F5344CB8AC3E}">
        <p14:creationId xmlns:p14="http://schemas.microsoft.com/office/powerpoint/2010/main" val="13813898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wipe(left)">
                                      <p:cBhvr>
                                        <p:cTn id="7" dur="500"/>
                                        <p:tgtEl>
                                          <p:spTgt spid="141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5">
                                            <p:txEl>
                                              <p:pRg st="1" end="1"/>
                                            </p:txEl>
                                          </p:spTgt>
                                        </p:tgtEl>
                                        <p:attrNameLst>
                                          <p:attrName>style.visibility</p:attrName>
                                        </p:attrNameLst>
                                      </p:cBhvr>
                                      <p:to>
                                        <p:strVal val="visible"/>
                                      </p:to>
                                    </p:set>
                                    <p:animEffect transition="in" filter="wipe(left)">
                                      <p:cBhvr>
                                        <p:cTn id="12" dur="500"/>
                                        <p:tgtEl>
                                          <p:spTgt spid="141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wipe(left)">
                                      <p:cBhvr>
                                        <p:cTn id="17" dur="500"/>
                                        <p:tgtEl>
                                          <p:spTgt spid="141315">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41315">
                                            <p:txEl>
                                              <p:pRg st="3" end="3"/>
                                            </p:txEl>
                                          </p:spTgt>
                                        </p:tgtEl>
                                        <p:attrNameLst>
                                          <p:attrName>style.visibility</p:attrName>
                                        </p:attrNameLst>
                                      </p:cBhvr>
                                      <p:to>
                                        <p:strVal val="visible"/>
                                      </p:to>
                                    </p:set>
                                    <p:animEffect transition="in" filter="wipe(left)">
                                      <p:cBhvr>
                                        <p:cTn id="20" dur="500"/>
                                        <p:tgtEl>
                                          <p:spTgt spid="141315">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41315">
                                            <p:txEl>
                                              <p:pRg st="4" end="4"/>
                                            </p:txEl>
                                          </p:spTgt>
                                        </p:tgtEl>
                                        <p:attrNameLst>
                                          <p:attrName>style.visibility</p:attrName>
                                        </p:attrNameLst>
                                      </p:cBhvr>
                                      <p:to>
                                        <p:strVal val="visible"/>
                                      </p:to>
                                    </p:set>
                                    <p:animEffect transition="in" filter="wipe(left)">
                                      <p:cBhvr>
                                        <p:cTn id="23" dur="500"/>
                                        <p:tgtEl>
                                          <p:spTgt spid="14131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1315">
                                            <p:txEl>
                                              <p:pRg st="5" end="5"/>
                                            </p:txEl>
                                          </p:spTgt>
                                        </p:tgtEl>
                                        <p:attrNameLst>
                                          <p:attrName>style.visibility</p:attrName>
                                        </p:attrNameLst>
                                      </p:cBhvr>
                                      <p:to>
                                        <p:strVal val="visible"/>
                                      </p:to>
                                    </p:set>
                                    <p:animEffect transition="in" filter="wipe(left)">
                                      <p:cBhvr>
                                        <p:cTn id="28" dur="500"/>
                                        <p:tgtEl>
                                          <p:spTgt spid="14131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1315">
                                            <p:txEl>
                                              <p:pRg st="6" end="6"/>
                                            </p:txEl>
                                          </p:spTgt>
                                        </p:tgtEl>
                                        <p:attrNameLst>
                                          <p:attrName>style.visibility</p:attrName>
                                        </p:attrNameLst>
                                      </p:cBhvr>
                                      <p:to>
                                        <p:strVal val="visible"/>
                                      </p:to>
                                    </p:set>
                                    <p:animEffect transition="in" filter="wipe(left)">
                                      <p:cBhvr>
                                        <p:cTn id="33" dur="500"/>
                                        <p:tgtEl>
                                          <p:spTgt spid="14131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1315">
                                            <p:txEl>
                                              <p:pRg st="7" end="7"/>
                                            </p:txEl>
                                          </p:spTgt>
                                        </p:tgtEl>
                                        <p:attrNameLst>
                                          <p:attrName>style.visibility</p:attrName>
                                        </p:attrNameLst>
                                      </p:cBhvr>
                                      <p:to>
                                        <p:strVal val="visible"/>
                                      </p:to>
                                    </p:set>
                                    <p:animEffect transition="in" filter="wipe(left)">
                                      <p:cBhvr>
                                        <p:cTn id="38" dur="500"/>
                                        <p:tgtEl>
                                          <p:spTgt spid="141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96D75287-E1B1-470A-8A19-45704DB33131}" vid="{D4134DCF-487D-446D-A1CF-501E36F006C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统计学（第3版）PPT模板</Template>
  <TotalTime>859</TotalTime>
  <Words>6170</Words>
  <Application>Microsoft Office PowerPoint</Application>
  <PresentationFormat>宽屏</PresentationFormat>
  <Paragraphs>1161</Paragraphs>
  <Slides>103</Slides>
  <Notes>51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103</vt:i4>
      </vt:variant>
    </vt:vector>
  </HeadingPairs>
  <TitlesOfParts>
    <vt:vector size="122" baseType="lpstr">
      <vt:lpstr>等线</vt:lpstr>
      <vt:lpstr>等线 Light</vt:lpstr>
      <vt:lpstr>仿宋</vt:lpstr>
      <vt:lpstr>黑体</vt:lpstr>
      <vt:lpstr>华文楷体</vt:lpstr>
      <vt:lpstr>宋体</vt:lpstr>
      <vt:lpstr>微软雅黑</vt:lpstr>
      <vt:lpstr>Arial</vt:lpstr>
      <vt:lpstr>Book Antiqua</vt:lpstr>
      <vt:lpstr>Cambria Math</vt:lpstr>
      <vt:lpstr>Symbol</vt:lpstr>
      <vt:lpstr>Tahoma</vt:lpstr>
      <vt:lpstr>Times New Roman</vt:lpstr>
      <vt:lpstr>Wingdings</vt:lpstr>
      <vt:lpstr>Wingdings 3</vt:lpstr>
      <vt:lpstr>Office 主题​​</vt:lpstr>
      <vt:lpstr>Equation</vt:lpstr>
      <vt:lpstr>公式</vt:lpstr>
      <vt:lpstr>Equation.DSMT4</vt:lpstr>
      <vt:lpstr>第9章   相关与回归分析</vt:lpstr>
      <vt:lpstr>引例</vt:lpstr>
      <vt:lpstr>9.1 相关与回归分析的概述 </vt:lpstr>
      <vt:lpstr>9.1.1  相关关系的概念</vt:lpstr>
      <vt:lpstr>相关关系</vt:lpstr>
      <vt:lpstr>PowerPoint 演示文稿</vt:lpstr>
      <vt:lpstr> 其它有关概念</vt:lpstr>
      <vt:lpstr>9.1.2  相关关系的种类</vt:lpstr>
      <vt:lpstr>9.1.3 散点图（相关图）</vt:lpstr>
      <vt:lpstr>广告投入和销售量之间的关系</vt:lpstr>
      <vt:lpstr>不同类型相关关系的散点图</vt:lpstr>
      <vt:lpstr>相关关系的图示（续）</vt:lpstr>
      <vt:lpstr>9.1.4 相关关系定量分析的基本内容</vt:lpstr>
      <vt:lpstr>相关与回归分析的联系</vt:lpstr>
      <vt:lpstr>回归分析与相关分析的区别</vt:lpstr>
      <vt:lpstr>9.2 一元线性相关分析 </vt:lpstr>
      <vt:lpstr>9.2.1  简单线性相关系数</vt:lpstr>
      <vt:lpstr>【附】其它相关系数</vt:lpstr>
      <vt:lpstr>相关系数（Pearson’s correlation coefficient） </vt:lpstr>
      <vt:lpstr>样本相关系数 r</vt:lpstr>
      <vt:lpstr>相关系数的特点</vt:lpstr>
      <vt:lpstr>【附】相关程度的等级</vt:lpstr>
      <vt:lpstr>【例9-1】计算表（+简化计算表）</vt:lpstr>
      <vt:lpstr>【例9-1】计算结果</vt:lpstr>
      <vt:lpstr>9.2.2  简单线性相关系数的检验</vt:lpstr>
      <vt:lpstr>【例9-1】对上例的相关系数进行显著性检(0.05) </vt:lpstr>
      <vt:lpstr>【附】利用SPSS计算相关系数及其检验的P值</vt:lpstr>
      <vt:lpstr>9.2.3  等级相关系数</vt:lpstr>
      <vt:lpstr>【例9-2】</vt:lpstr>
      <vt:lpstr>Spearman等级相关系数</vt:lpstr>
      <vt:lpstr>等级相关系数 rs的特点</vt:lpstr>
      <vt:lpstr>Spearman等级相关系数是简单线性相关系数 r 的特例</vt:lpstr>
      <vt:lpstr>【附】SPSS计算等级相关系数</vt:lpstr>
      <vt:lpstr>9.3  一元线性回归分析</vt:lpstr>
      <vt:lpstr>父子身高的关系</vt:lpstr>
      <vt:lpstr>“回归”的古典含义与现代含义</vt:lpstr>
      <vt:lpstr>回归分析的主要内容和程序</vt:lpstr>
      <vt:lpstr>回归的类型</vt:lpstr>
      <vt:lpstr>9.3.1一元线性回归方程的估计 </vt:lpstr>
      <vt:lpstr>1. 总体回归方程（PRF） </vt:lpstr>
      <vt:lpstr>总体回归方程参数 </vt:lpstr>
      <vt:lpstr>一元线性回归模型的基本假定</vt:lpstr>
      <vt:lpstr>一元线性回归模型的基本假定(续)</vt:lpstr>
      <vt:lpstr>2. 样本回归方程（SRF） </vt:lpstr>
      <vt:lpstr>总体回归线与样本回归线（图示）</vt:lpstr>
      <vt:lpstr>观察点与样本回归线（图示）</vt:lpstr>
      <vt:lpstr>２.估计参数的最小二乘法 （Least  Square  Method）</vt:lpstr>
      <vt:lpstr>OLS的计算公式</vt:lpstr>
      <vt:lpstr>【例9-3】 (简化)计算表</vt:lpstr>
      <vt:lpstr>【例9-3】Excel输出结果</vt:lpstr>
      <vt:lpstr>【例9-3】参数估计值的经济意义</vt:lpstr>
      <vt:lpstr>最小二乘估计的性质</vt:lpstr>
      <vt:lpstr>最小二乘估计的性质（续）</vt:lpstr>
      <vt:lpstr>几点补充</vt:lpstr>
      <vt:lpstr>9.3.2  一元线性回归方程的拟合效果</vt:lpstr>
      <vt:lpstr>1. 判定系数</vt:lpstr>
      <vt:lpstr>离差平方和的分解（图示）</vt:lpstr>
      <vt:lpstr>离差平方和的分解</vt:lpstr>
      <vt:lpstr>三个离差平方和的意义</vt:lpstr>
      <vt:lpstr>可决系数（判定系数r2 或 R2 ）</vt:lpstr>
      <vt:lpstr>可决系数 r2 的特点 </vt:lpstr>
      <vt:lpstr>相关系数的另一个计算公式</vt:lpstr>
      <vt:lpstr>2.回归估计的标准误差 </vt:lpstr>
      <vt:lpstr>2.回归估计的标准误差（续） </vt:lpstr>
      <vt:lpstr>回归估计标准差的作用</vt:lpstr>
      <vt:lpstr>回归估计标准误差 Se与一般的标准差的异同 </vt:lpstr>
      <vt:lpstr>回归估计标准差与相关系数的关系                  </vt:lpstr>
      <vt:lpstr>9.3.3 回归方程的显著性检验</vt:lpstr>
      <vt:lpstr>回归方程的显著性检验</vt:lpstr>
      <vt:lpstr>(Excel输出——回归分析的方差分析表）</vt:lpstr>
      <vt:lpstr>回归系数显著性检验的步骤</vt:lpstr>
      <vt:lpstr>回归系数的 t 检验 (Excel输出的结果）</vt:lpstr>
      <vt:lpstr>9.3.4 一元线性回归预测 </vt:lpstr>
      <vt:lpstr>点预测（点估计值）</vt:lpstr>
      <vt:lpstr>区间预测</vt:lpstr>
      <vt:lpstr>区间预测公式的证明</vt:lpstr>
      <vt:lpstr>影响预测区间宽度的因素 （区间预测的特点 ）</vt:lpstr>
      <vt:lpstr>影响预测区间宽度的因素 （区间预测的特点 ）</vt:lpstr>
      <vt:lpstr>回归预测的置信区间</vt:lpstr>
      <vt:lpstr>【例9-4】</vt:lpstr>
      <vt:lpstr>大样本下的预测区间</vt:lpstr>
      <vt:lpstr>大样本条件下的预测区间</vt:lpstr>
      <vt:lpstr>*9.4  多元线性回归分析</vt:lpstr>
      <vt:lpstr>9.4.1 多元线性回归模型及假定</vt:lpstr>
      <vt:lpstr>偏回归系数</vt:lpstr>
      <vt:lpstr>2.多元线性回归模型的矩阵表示</vt:lpstr>
      <vt:lpstr>3.多元回归模型的假定</vt:lpstr>
      <vt:lpstr>9.4.2 多元线性回归模型的估计</vt:lpstr>
      <vt:lpstr>2.参数最小二乘估计的性质</vt:lpstr>
      <vt:lpstr>3.随机误差项方差的估计</vt:lpstr>
      <vt:lpstr>9.4.3 多元线性回归模型的检验</vt:lpstr>
      <vt:lpstr>修正的可决系数</vt:lpstr>
      <vt:lpstr>EXCEL的回归输出(1)</vt:lpstr>
      <vt:lpstr>2.回归参数的显著性检验（t-检验）</vt:lpstr>
      <vt:lpstr>EXCEL的回归输出(2)</vt:lpstr>
      <vt:lpstr>3.回归方程的显著性检验（F-检验）</vt:lpstr>
      <vt:lpstr>EXCEL的回归输出(3)</vt:lpstr>
      <vt:lpstr>【例】 EXCEL的回归输出(全部)</vt:lpstr>
      <vt:lpstr>Ｆ检验与 t 检验的一致性</vt:lpstr>
      <vt:lpstr>Ｆ 检验与 t 检验的不一致性</vt:lpstr>
      <vt:lpstr>【附例】</vt:lpstr>
      <vt:lpstr>附例的二元线性回归输出表</vt:lpstr>
      <vt:lpstr>本章小结</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蓉美 向</cp:lastModifiedBy>
  <cp:revision>110</cp:revision>
  <dcterms:created xsi:type="dcterms:W3CDTF">2023-12-08T00:49:52Z</dcterms:created>
  <dcterms:modified xsi:type="dcterms:W3CDTF">2024-01-02T01:31:52Z</dcterms:modified>
</cp:coreProperties>
</file>