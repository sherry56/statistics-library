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57" r:id="rId2"/>
    <p:sldMasterId id="2147483663" r:id="rId3"/>
  </p:sldMasterIdLst>
  <p:notesMasterIdLst>
    <p:notesMasterId r:id="rId72"/>
  </p:notesMasterIdLst>
  <p:handoutMasterIdLst>
    <p:handoutMasterId r:id="rId73"/>
  </p:handoutMasterIdLst>
  <p:sldIdLst>
    <p:sldId id="256" r:id="rId4"/>
    <p:sldId id="290" r:id="rId5"/>
    <p:sldId id="291" r:id="rId6"/>
    <p:sldId id="292" r:id="rId7"/>
    <p:sldId id="271" r:id="rId8"/>
    <p:sldId id="294" r:id="rId9"/>
    <p:sldId id="295" r:id="rId10"/>
    <p:sldId id="296" r:id="rId11"/>
    <p:sldId id="297" r:id="rId12"/>
    <p:sldId id="298" r:id="rId13"/>
    <p:sldId id="299" r:id="rId14"/>
    <p:sldId id="312" r:id="rId15"/>
    <p:sldId id="313" r:id="rId16"/>
    <p:sldId id="314" r:id="rId17"/>
    <p:sldId id="315" r:id="rId18"/>
    <p:sldId id="321" r:id="rId19"/>
    <p:sldId id="322" r:id="rId20"/>
    <p:sldId id="260" r:id="rId21"/>
    <p:sldId id="320" r:id="rId22"/>
    <p:sldId id="272" r:id="rId23"/>
    <p:sldId id="257" r:id="rId24"/>
    <p:sldId id="261" r:id="rId25"/>
    <p:sldId id="262" r:id="rId26"/>
    <p:sldId id="263" r:id="rId27"/>
    <p:sldId id="353" r:id="rId28"/>
    <p:sldId id="264" r:id="rId29"/>
    <p:sldId id="265" r:id="rId30"/>
    <p:sldId id="266" r:id="rId31"/>
    <p:sldId id="267" r:id="rId32"/>
    <p:sldId id="268" r:id="rId33"/>
    <p:sldId id="323" r:id="rId34"/>
    <p:sldId id="324" r:id="rId35"/>
    <p:sldId id="326" r:id="rId36"/>
    <p:sldId id="325" r:id="rId37"/>
    <p:sldId id="354" r:id="rId38"/>
    <p:sldId id="351" r:id="rId39"/>
    <p:sldId id="352" r:id="rId40"/>
    <p:sldId id="350" r:id="rId41"/>
    <p:sldId id="328" r:id="rId42"/>
    <p:sldId id="355" r:id="rId43"/>
    <p:sldId id="330" r:id="rId44"/>
    <p:sldId id="331" r:id="rId45"/>
    <p:sldId id="332" r:id="rId46"/>
    <p:sldId id="333" r:id="rId47"/>
    <p:sldId id="334" r:id="rId48"/>
    <p:sldId id="358" r:id="rId49"/>
    <p:sldId id="356" r:id="rId50"/>
    <p:sldId id="357" r:id="rId51"/>
    <p:sldId id="336" r:id="rId52"/>
    <p:sldId id="337" r:id="rId53"/>
    <p:sldId id="278" r:id="rId54"/>
    <p:sldId id="338" r:id="rId55"/>
    <p:sldId id="339" r:id="rId56"/>
    <p:sldId id="359" r:id="rId57"/>
    <p:sldId id="360" r:id="rId58"/>
    <p:sldId id="361" r:id="rId59"/>
    <p:sldId id="340" r:id="rId60"/>
    <p:sldId id="341" r:id="rId61"/>
    <p:sldId id="342" r:id="rId62"/>
    <p:sldId id="343" r:id="rId63"/>
    <p:sldId id="362" r:id="rId64"/>
    <p:sldId id="344" r:id="rId65"/>
    <p:sldId id="345" r:id="rId66"/>
    <p:sldId id="346" r:id="rId67"/>
    <p:sldId id="347" r:id="rId68"/>
    <p:sldId id="348" r:id="rId69"/>
    <p:sldId id="363" r:id="rId70"/>
    <p:sldId id="349" r:id="rId7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66" autoAdjust="0"/>
    <p:restoredTop sz="95209" autoAdjust="0"/>
  </p:normalViewPr>
  <p:slideViewPr>
    <p:cSldViewPr snapToGrid="0">
      <p:cViewPr varScale="1">
        <p:scale>
          <a:sx n="157" d="100"/>
          <a:sy n="157" d="100"/>
        </p:scale>
        <p:origin x="156" y="408"/>
      </p:cViewPr>
      <p:guideLst/>
    </p:cSldViewPr>
  </p:slideViewPr>
  <p:outlineViewPr>
    <p:cViewPr>
      <p:scale>
        <a:sx n="33" d="100"/>
        <a:sy n="33" d="100"/>
      </p:scale>
      <p:origin x="0" y="0"/>
    </p:cViewPr>
    <p:sldLst>
      <p:sld r:id="rId1" collapse="1"/>
      <p:sld r:id="rId2" collapse="1"/>
      <p:sld r:id="rId3" collapse="1"/>
    </p:sldLst>
  </p:outlineViewPr>
  <p:notesTextViewPr>
    <p:cViewPr>
      <p:scale>
        <a:sx n="1" d="1"/>
        <a:sy n="1" d="1"/>
      </p:scale>
      <p:origin x="0" y="0"/>
    </p:cViewPr>
  </p:notesTextViewPr>
  <p:notesViewPr>
    <p:cSldViewPr snapToGrid="0">
      <p:cViewPr varScale="1">
        <p:scale>
          <a:sx n="63" d="100"/>
          <a:sy n="63" d="100"/>
        </p:scale>
        <p:origin x="1986"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s>
</file>

<file path=ppt/_rels/viewProps.xml.rels><?xml version="1.0" encoding="UTF-8" standalone="yes"?>
<Relationships xmlns="http://schemas.openxmlformats.org/package/2006/relationships"><Relationship Id="rId3" Type="http://schemas.openxmlformats.org/officeDocument/2006/relationships/slide" Target="slides/slide56.xml"/><Relationship Id="rId2" Type="http://schemas.openxmlformats.org/officeDocument/2006/relationships/slide" Target="slides/slide37.xml"/><Relationship Id="rId1"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91D0A5E-FA7B-DACE-14BA-D1FC110A20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8EBAD23-764C-C31C-8CF5-ED7DA599AA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6E752C-FE40-4A84-8DB9-FF3FD7239BDC}" type="datetimeFigureOut">
              <a:rPr lang="zh-CN" altLang="en-US" smtClean="0"/>
              <a:t>2024/1/2</a:t>
            </a:fld>
            <a:endParaRPr lang="zh-CN" altLang="en-US"/>
          </a:p>
        </p:txBody>
      </p:sp>
      <p:sp>
        <p:nvSpPr>
          <p:cNvPr id="4" name="页脚占位符 3">
            <a:extLst>
              <a:ext uri="{FF2B5EF4-FFF2-40B4-BE49-F238E27FC236}">
                <a16:creationId xmlns:a16="http://schemas.microsoft.com/office/drawing/2014/main" id="{EF21BE92-56D8-FBF4-E590-9C209A9398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FD35447-A950-6DBA-F664-98F4675EC9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F0ADA3-9B9A-4657-9395-985FB66FAED0}" type="slidenum">
              <a:rPr lang="zh-CN" altLang="en-US" smtClean="0"/>
              <a:t>‹#›</a:t>
            </a:fld>
            <a:endParaRPr lang="zh-CN" altLang="en-US"/>
          </a:p>
        </p:txBody>
      </p:sp>
    </p:spTree>
    <p:extLst>
      <p:ext uri="{BB962C8B-B14F-4D97-AF65-F5344CB8AC3E}">
        <p14:creationId xmlns:p14="http://schemas.microsoft.com/office/powerpoint/2010/main" val="4222845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6DD43-4F40-4208-88D0-5622562EF30F}" type="datetimeFigureOut">
              <a:rPr lang="zh-CN" altLang="en-US" smtClean="0"/>
              <a:t>2024/1/2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9AB4D-55C9-4E03-92E9-EE7DF995422D}" type="slidenum">
              <a:rPr lang="zh-CN" altLang="en-US" smtClean="0"/>
              <a:t>‹#›</a:t>
            </a:fld>
            <a:endParaRPr lang="zh-CN" altLang="en-US"/>
          </a:p>
        </p:txBody>
      </p:sp>
    </p:spTree>
    <p:extLst>
      <p:ext uri="{BB962C8B-B14F-4D97-AF65-F5344CB8AC3E}">
        <p14:creationId xmlns:p14="http://schemas.microsoft.com/office/powerpoint/2010/main" val="2164784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a typeface="宋体" panose="02010600030101010101" pitchFamily="2" charset="-122"/>
            </a:endParaRPr>
          </a:p>
        </p:txBody>
      </p:sp>
      <p:sp>
        <p:nvSpPr>
          <p:cNvPr id="737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7620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7620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7620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7620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06BE875-FDC6-4F3F-9A8A-97C5CC6B75F8}" type="slidenum">
              <a:rPr lang="en-US" altLang="zh-CN" sz="1000">
                <a:latin typeface="Times New Roman" panose="02020603050405020304" pitchFamily="18" charset="0"/>
                <a:ea typeface="仿宋_GB2312" pitchFamily="49" charset="-122"/>
              </a:rPr>
              <a:pPr>
                <a:spcBef>
                  <a:spcPct val="0"/>
                </a:spcBef>
              </a:pPr>
              <a:t>48</a:t>
            </a:fld>
            <a:endParaRPr lang="en-US" altLang="zh-CN" sz="1000">
              <a:latin typeface="Times New Roman" panose="02020603050405020304" pitchFamily="18" charset="0"/>
              <a:ea typeface="仿宋_GB2312" pitchFamily="49" charset="-122"/>
            </a:endParaRPr>
          </a:p>
        </p:txBody>
      </p:sp>
    </p:spTree>
    <p:extLst>
      <p:ext uri="{BB962C8B-B14F-4D97-AF65-F5344CB8AC3E}">
        <p14:creationId xmlns:p14="http://schemas.microsoft.com/office/powerpoint/2010/main" val="118469595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90E1A95C-AB60-11CE-9FCC-A12789A51D6F}"/>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6826"/>
            <a:ext cx="12192000" cy="6858000"/>
          </a:xfrm>
          <a:prstGeom prst="rect">
            <a:avLst/>
          </a:prstGeom>
        </p:spPr>
      </p:pic>
      <p:sp>
        <p:nvSpPr>
          <p:cNvPr id="3" name="副标题 2">
            <a:extLst>
              <a:ext uri="{FF2B5EF4-FFF2-40B4-BE49-F238E27FC236}">
                <a16:creationId xmlns:a16="http://schemas.microsoft.com/office/drawing/2014/main" id="{69AC3648-3719-56A4-E63A-102A57745D08}"/>
              </a:ext>
            </a:extLst>
          </p:cNvPr>
          <p:cNvSpPr>
            <a:spLocks noGrp="1"/>
          </p:cNvSpPr>
          <p:nvPr>
            <p:ph type="subTitle" idx="1"/>
          </p:nvPr>
        </p:nvSpPr>
        <p:spPr>
          <a:xfrm>
            <a:off x="1524000" y="3726180"/>
            <a:ext cx="9144000" cy="1120140"/>
          </a:xfrm>
        </p:spPr>
        <p:txBody>
          <a:bodyPr>
            <a:normAutofit/>
          </a:bodyPr>
          <a:lstStyle>
            <a:lvl1pPr marL="0" indent="0" algn="ctr">
              <a:buNone/>
              <a:defRPr sz="2800" b="1">
                <a:solidFill>
                  <a:schemeClr val="accent1">
                    <a:lumMod val="75000"/>
                  </a:schemeClr>
                </a:solidFill>
                <a:effectLst/>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zh-CN" altLang="en-US"/>
              <a:t>单击以编辑母版副标题样式</a:t>
            </a:r>
            <a:endParaRPr lang="zh-CN" altLang="en-US" dirty="0"/>
          </a:p>
        </p:txBody>
      </p:sp>
      <p:grpSp>
        <p:nvGrpSpPr>
          <p:cNvPr id="14" name="组合 13">
            <a:extLst>
              <a:ext uri="{FF2B5EF4-FFF2-40B4-BE49-F238E27FC236}">
                <a16:creationId xmlns:a16="http://schemas.microsoft.com/office/drawing/2014/main" id="{2D2A6A41-A5E3-1F93-8042-1A6754E98F5D}"/>
              </a:ext>
            </a:extLst>
          </p:cNvPr>
          <p:cNvGrpSpPr/>
          <p:nvPr userDrawn="1"/>
        </p:nvGrpSpPr>
        <p:grpSpPr>
          <a:xfrm>
            <a:off x="0" y="2"/>
            <a:ext cx="2091691" cy="1988141"/>
            <a:chOff x="1234440" y="204112"/>
            <a:chExt cx="2091690" cy="1988141"/>
          </a:xfrm>
        </p:grpSpPr>
        <p:pic>
          <p:nvPicPr>
            <p:cNvPr id="15" name="图片 14">
              <a:extLst>
                <a:ext uri="{FF2B5EF4-FFF2-40B4-BE49-F238E27FC236}">
                  <a16:creationId xmlns:a16="http://schemas.microsoft.com/office/drawing/2014/main" id="{85EC5039-FEDC-5D6B-0723-F481246B9DBA}"/>
                </a:ext>
              </a:extLst>
            </p:cNvPr>
            <p:cNvPicPr>
              <a:picLocks noChangeAspect="1"/>
            </p:cNvPicPr>
            <p:nvPr userDrawn="1"/>
          </p:nvPicPr>
          <p:blipFill>
            <a:blip r:embed="rId4">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234440" y="204112"/>
              <a:ext cx="2091690" cy="1988141"/>
            </a:xfrm>
            <a:prstGeom prst="rect">
              <a:avLst/>
            </a:prstGeom>
          </p:spPr>
        </p:pic>
        <p:sp>
          <p:nvSpPr>
            <p:cNvPr id="16" name="矩形 15">
              <a:extLst>
                <a:ext uri="{FF2B5EF4-FFF2-40B4-BE49-F238E27FC236}">
                  <a16:creationId xmlns:a16="http://schemas.microsoft.com/office/drawing/2014/main" id="{97E70C10-17B3-00AF-8350-5E3351AFADF7}"/>
                </a:ext>
              </a:extLst>
            </p:cNvPr>
            <p:cNvSpPr/>
            <p:nvPr userDrawn="1"/>
          </p:nvSpPr>
          <p:spPr>
            <a:xfrm>
              <a:off x="1234440" y="204112"/>
              <a:ext cx="2091690" cy="1988141"/>
            </a:xfrm>
            <a:prstGeom prst="rect">
              <a:avLst/>
            </a:prstGeom>
            <a:solidFill>
              <a:schemeClr val="bg1">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pic>
        <p:nvPicPr>
          <p:cNvPr id="10" name="图片 9">
            <a:extLst>
              <a:ext uri="{FF2B5EF4-FFF2-40B4-BE49-F238E27FC236}">
                <a16:creationId xmlns:a16="http://schemas.microsoft.com/office/drawing/2014/main" id="{A9181C8E-6D4D-B027-9E6C-866691379494}"/>
              </a:ext>
            </a:extLst>
          </p:cNvPr>
          <p:cNvPicPr>
            <a:picLocks noChangeAspect="1"/>
          </p:cNvPicPr>
          <p:nvPr userDrawn="1"/>
        </p:nvPicPr>
        <p:blipFill>
          <a:blip r:embed="rId6">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137161" y="37814"/>
            <a:ext cx="3599497" cy="523369"/>
          </a:xfrm>
          <a:prstGeom prst="rect">
            <a:avLst/>
          </a:prstGeom>
          <a:effectLst>
            <a:reflection blurRad="6350" stA="50000" endA="300" endPos="55000" dir="5400000" sy="-100000" algn="bl" rotWithShape="0"/>
          </a:effectLst>
        </p:spPr>
      </p:pic>
      <p:sp>
        <p:nvSpPr>
          <p:cNvPr id="2" name="标题 1">
            <a:extLst>
              <a:ext uri="{FF2B5EF4-FFF2-40B4-BE49-F238E27FC236}">
                <a16:creationId xmlns:a16="http://schemas.microsoft.com/office/drawing/2014/main" id="{2377F44A-D5B9-E04F-1B3F-9093D830C895}"/>
              </a:ext>
            </a:extLst>
          </p:cNvPr>
          <p:cNvSpPr>
            <a:spLocks noGrp="1"/>
          </p:cNvSpPr>
          <p:nvPr>
            <p:ph type="ctrTitle" hasCustomPrompt="1"/>
          </p:nvPr>
        </p:nvSpPr>
        <p:spPr>
          <a:xfrm>
            <a:off x="0" y="1122365"/>
            <a:ext cx="12192000" cy="1746567"/>
          </a:xfrm>
          <a:effectLst>
            <a:reflection blurRad="6350" stA="52000" endA="300" endPos="35000" dir="5400000" sy="-100000" algn="bl" rotWithShape="0"/>
          </a:effectLst>
        </p:spPr>
        <p:txBody>
          <a:bodyPr anchor="ctr"/>
          <a:lstStyle>
            <a:lvl1pPr algn="ctr">
              <a:defRPr sz="4500" b="1">
                <a:solidFill>
                  <a:schemeClr val="accent1">
                    <a:lumMod val="75000"/>
                  </a:schemeClr>
                </a:solidFill>
                <a:effectLst>
                  <a:reflection blurRad="63500" stA="50000" endA="300" endPos="50000" dist="88900" dir="5400000" sy="-100000" algn="bl" rotWithShape="0"/>
                </a:effectLst>
              </a:defRPr>
            </a:lvl1pPr>
          </a:lstStyle>
          <a:p>
            <a:r>
              <a:rPr lang="zh-CN" altLang="en-US" dirty="0"/>
              <a:t>单击此处编辑母版标题样式（章节）</a:t>
            </a:r>
          </a:p>
        </p:txBody>
      </p:sp>
    </p:spTree>
    <p:extLst>
      <p:ext uri="{BB962C8B-B14F-4D97-AF65-F5344CB8AC3E}">
        <p14:creationId xmlns:p14="http://schemas.microsoft.com/office/powerpoint/2010/main" val="710085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F7D82B74-71A0-CFA3-1FA7-332CD870E4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04"/>
            <a:ext cx="10894496" cy="1987468"/>
          </a:xfrm>
          <a:prstGeom prst="rect">
            <a:avLst/>
          </a:prstGeom>
        </p:spPr>
      </p:pic>
      <p:sp>
        <p:nvSpPr>
          <p:cNvPr id="4" name="日期占位符 3">
            <a:extLst>
              <a:ext uri="{FF2B5EF4-FFF2-40B4-BE49-F238E27FC236}">
                <a16:creationId xmlns:a16="http://schemas.microsoft.com/office/drawing/2014/main" id="{60FD8E30-EE8C-6BA1-37A7-35AC8E4EB2FE}"/>
              </a:ext>
            </a:extLst>
          </p:cNvPr>
          <p:cNvSpPr>
            <a:spLocks noGrp="1"/>
          </p:cNvSpPr>
          <p:nvPr>
            <p:ph type="dt" sz="half" idx="10"/>
          </p:nvPr>
        </p:nvSpPr>
        <p:spPr>
          <a:xfrm>
            <a:off x="0" y="6542087"/>
            <a:ext cx="2743200" cy="304487"/>
          </a:xfrm>
          <a:prstGeom prst="rect">
            <a:avLst/>
          </a:prstGeom>
        </p:spPr>
        <p:txBody>
          <a:bodyPr/>
          <a:lstStyle/>
          <a:p>
            <a:endParaRPr lang="zh-CN" altLang="en-US"/>
          </a:p>
        </p:txBody>
      </p:sp>
      <p:grpSp>
        <p:nvGrpSpPr>
          <p:cNvPr id="16" name="组合 15">
            <a:extLst>
              <a:ext uri="{FF2B5EF4-FFF2-40B4-BE49-F238E27FC236}">
                <a16:creationId xmlns:a16="http://schemas.microsoft.com/office/drawing/2014/main" id="{584FD515-82E0-BD09-1A11-7E0F3E4C8ACD}"/>
              </a:ext>
            </a:extLst>
          </p:cNvPr>
          <p:cNvGrpSpPr/>
          <p:nvPr userDrawn="1"/>
        </p:nvGrpSpPr>
        <p:grpSpPr>
          <a:xfrm>
            <a:off x="0" y="1657350"/>
            <a:ext cx="12192000" cy="5212084"/>
            <a:chOff x="0" y="1657350"/>
            <a:chExt cx="12192000" cy="5212084"/>
          </a:xfrm>
        </p:grpSpPr>
        <p:pic>
          <p:nvPicPr>
            <p:cNvPr id="17" name="图片 16">
              <a:extLst>
                <a:ext uri="{FF2B5EF4-FFF2-40B4-BE49-F238E27FC236}">
                  <a16:creationId xmlns:a16="http://schemas.microsoft.com/office/drawing/2014/main" id="{B19E2A8D-64C0-E12E-C096-D098B85881F5}"/>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8" name="矩形 17">
              <a:extLst>
                <a:ext uri="{FF2B5EF4-FFF2-40B4-BE49-F238E27FC236}">
                  <a16:creationId xmlns:a16="http://schemas.microsoft.com/office/drawing/2014/main" id="{4D6BE784-25C5-37C0-351D-C4EEE1B54C40}"/>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标题占位符 1">
            <a:extLst>
              <a:ext uri="{FF2B5EF4-FFF2-40B4-BE49-F238E27FC236}">
                <a16:creationId xmlns:a16="http://schemas.microsoft.com/office/drawing/2014/main" id="{CDDD5C83-4DF3-4112-E273-EE8C9786D90E}"/>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5BC57549-1377-1308-C899-C4200C56E9E9}"/>
              </a:ext>
            </a:extLst>
          </p:cNvPr>
          <p:cNvSpPr>
            <a:spLocks noGrp="1"/>
          </p:cNvSpPr>
          <p:nvPr>
            <p:ph idx="1" hasCustomPrompt="1"/>
          </p:nvPr>
        </p:nvSpPr>
        <p:spPr/>
        <p:txBody>
          <a:bodyPr/>
          <a:lstStyle>
            <a:lvl1pPr>
              <a:defRPr sz="3200">
                <a:solidFill>
                  <a:srgbClr val="2F5597"/>
                </a:solidFill>
              </a:defRPr>
            </a:lvl1pPr>
            <a:lvl2pPr>
              <a:defRPr sz="2800">
                <a:solidFill>
                  <a:srgbClr val="2F5597"/>
                </a:solidFill>
              </a:defRPr>
            </a:lvl2pPr>
            <a:lvl3pPr>
              <a:defRPr sz="2400">
                <a:solidFill>
                  <a:srgbClr val="2F5597"/>
                </a:solidFill>
              </a:defRPr>
            </a:lvl3pPr>
            <a:lvl4pPr>
              <a:defRPr sz="2400">
                <a:solidFill>
                  <a:schemeClr val="accent1">
                    <a:lumMod val="75000"/>
                  </a:schemeClr>
                </a:solidFill>
              </a:defRPr>
            </a:lvl4pPr>
          </a:lstStyle>
          <a:p>
            <a:pPr lvl="0"/>
            <a:r>
              <a:rPr lang="zh-CN" altLang="en-US" dirty="0"/>
              <a:t>一级标题</a:t>
            </a:r>
          </a:p>
          <a:p>
            <a:pPr lvl="1"/>
            <a:r>
              <a:rPr lang="zh-CN" altLang="en-US" dirty="0"/>
              <a:t>二级标题</a:t>
            </a:r>
          </a:p>
          <a:p>
            <a:pPr lvl="2"/>
            <a:r>
              <a:rPr lang="zh-CN" altLang="en-US" dirty="0"/>
              <a:t>三级标题</a:t>
            </a:r>
          </a:p>
        </p:txBody>
      </p:sp>
      <p:sp>
        <p:nvSpPr>
          <p:cNvPr id="8" name="灯片编号占位符 6">
            <a:extLst>
              <a:ext uri="{FF2B5EF4-FFF2-40B4-BE49-F238E27FC236}">
                <a16:creationId xmlns:a16="http://schemas.microsoft.com/office/drawing/2014/main" id="{68452FB3-A5EC-64BE-3BF3-9BF67E719F8A}"/>
              </a:ext>
            </a:extLst>
          </p:cNvPr>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107669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比较内容">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331B5B5-5011-E5B7-E9C3-F8B8D77BC4AE}"/>
              </a:ext>
            </a:extLst>
          </p:cNvPr>
          <p:cNvGrpSpPr/>
          <p:nvPr userDrawn="1"/>
        </p:nvGrpSpPr>
        <p:grpSpPr>
          <a:xfrm>
            <a:off x="0" y="1657350"/>
            <a:ext cx="12192000" cy="5212084"/>
            <a:chOff x="0" y="1657350"/>
            <a:chExt cx="12192000" cy="5212084"/>
          </a:xfrm>
        </p:grpSpPr>
        <p:pic>
          <p:nvPicPr>
            <p:cNvPr id="14" name="图片 13">
              <a:extLst>
                <a:ext uri="{FF2B5EF4-FFF2-40B4-BE49-F238E27FC236}">
                  <a16:creationId xmlns:a16="http://schemas.microsoft.com/office/drawing/2014/main" id="{9F9D7CE4-CCF5-2DFF-9AD5-33B1E1F2D97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a:extLst>
                <a:ext uri="{FF2B5EF4-FFF2-40B4-BE49-F238E27FC236}">
                  <a16:creationId xmlns:a16="http://schemas.microsoft.com/office/drawing/2014/main" id="{077499E2-9F90-B003-7BD2-F9D870619CC1}"/>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DCD5D946-4A4F-1ED9-0E35-F0EDD2EB18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4" name="内容占位符 3">
            <a:extLst>
              <a:ext uri="{FF2B5EF4-FFF2-40B4-BE49-F238E27FC236}">
                <a16:creationId xmlns:a16="http://schemas.microsoft.com/office/drawing/2014/main" id="{2FAB0E7E-6947-3D38-E752-CB13A2398E95}"/>
              </a:ext>
            </a:extLst>
          </p:cNvPr>
          <p:cNvSpPr>
            <a:spLocks noGrp="1"/>
          </p:cNvSpPr>
          <p:nvPr>
            <p:ph sz="half" idx="2" hasCustomPrompt="1"/>
          </p:nvPr>
        </p:nvSpPr>
        <p:spPr>
          <a:xfrm>
            <a:off x="270510" y="804704"/>
            <a:ext cx="5364481" cy="5207476"/>
          </a:xfrm>
        </p:spPr>
        <p:txBody>
          <a:bodyPr/>
          <a:lstStyle/>
          <a:p>
            <a:pPr lvl="0"/>
            <a:r>
              <a:rPr lang="zh-CN" altLang="en-US" dirty="0"/>
              <a:t>一级标题</a:t>
            </a:r>
          </a:p>
          <a:p>
            <a:pPr lvl="1"/>
            <a:r>
              <a:rPr lang="zh-CN" altLang="en-US" dirty="0"/>
              <a:t>二级标题</a:t>
            </a:r>
          </a:p>
          <a:p>
            <a:pPr lvl="2"/>
            <a:r>
              <a:rPr lang="zh-CN" altLang="en-US" dirty="0"/>
              <a:t>三级标题</a:t>
            </a:r>
          </a:p>
          <a:p>
            <a:pPr lvl="2"/>
            <a:endParaRPr lang="zh-CN" altLang="en-US" dirty="0"/>
          </a:p>
        </p:txBody>
      </p:sp>
      <p:sp>
        <p:nvSpPr>
          <p:cNvPr id="6" name="内容占位符 5">
            <a:extLst>
              <a:ext uri="{FF2B5EF4-FFF2-40B4-BE49-F238E27FC236}">
                <a16:creationId xmlns:a16="http://schemas.microsoft.com/office/drawing/2014/main" id="{9405B5EC-0BD8-8A12-B164-D066FD3CDA96}"/>
              </a:ext>
            </a:extLst>
          </p:cNvPr>
          <p:cNvSpPr>
            <a:spLocks noGrp="1"/>
          </p:cNvSpPr>
          <p:nvPr>
            <p:ph sz="quarter" idx="4" hasCustomPrompt="1"/>
          </p:nvPr>
        </p:nvSpPr>
        <p:spPr>
          <a:xfrm>
            <a:off x="6000751" y="804704"/>
            <a:ext cx="5920739" cy="5207476"/>
          </a:xfrm>
        </p:spPr>
        <p:txBody>
          <a:bodyPr/>
          <a:lstStyle/>
          <a:p>
            <a:pPr lvl="0"/>
            <a:r>
              <a:rPr lang="zh-CN" altLang="en-US" dirty="0"/>
              <a:t>一级标题</a:t>
            </a:r>
          </a:p>
          <a:p>
            <a:pPr lvl="1"/>
            <a:r>
              <a:rPr lang="zh-CN" altLang="en-US" dirty="0"/>
              <a:t>二级标题</a:t>
            </a:r>
          </a:p>
          <a:p>
            <a:pPr lvl="2"/>
            <a:r>
              <a:rPr lang="zh-CN" altLang="en-US" dirty="0"/>
              <a:t>三级标题</a:t>
            </a:r>
          </a:p>
        </p:txBody>
      </p:sp>
      <p:sp>
        <p:nvSpPr>
          <p:cNvPr id="2" name="标题占位符 1">
            <a:extLst>
              <a:ext uri="{FF2B5EF4-FFF2-40B4-BE49-F238E27FC236}">
                <a16:creationId xmlns:a16="http://schemas.microsoft.com/office/drawing/2014/main" id="{23C37A6F-817C-92B1-88E7-09099749A8CE}"/>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5" name="灯片编号占位符 6">
            <a:extLst>
              <a:ext uri="{FF2B5EF4-FFF2-40B4-BE49-F238E27FC236}">
                <a16:creationId xmlns:a16="http://schemas.microsoft.com/office/drawing/2014/main" id="{BD8FF8CF-E677-67C6-AB4E-A6BDDA8534BA}"/>
              </a:ext>
            </a:extLst>
          </p:cNvPr>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3507242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331B5B5-5011-E5B7-E9C3-F8B8D77BC4AE}"/>
              </a:ext>
            </a:extLst>
          </p:cNvPr>
          <p:cNvGrpSpPr/>
          <p:nvPr userDrawn="1"/>
        </p:nvGrpSpPr>
        <p:grpSpPr>
          <a:xfrm>
            <a:off x="0" y="1657350"/>
            <a:ext cx="12192000" cy="5212084"/>
            <a:chOff x="0" y="1657350"/>
            <a:chExt cx="12192000" cy="5212084"/>
          </a:xfrm>
        </p:grpSpPr>
        <p:pic>
          <p:nvPicPr>
            <p:cNvPr id="14" name="图片 13">
              <a:extLst>
                <a:ext uri="{FF2B5EF4-FFF2-40B4-BE49-F238E27FC236}">
                  <a16:creationId xmlns:a16="http://schemas.microsoft.com/office/drawing/2014/main" id="{9F9D7CE4-CCF5-2DFF-9AD5-33B1E1F2D97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a:extLst>
                <a:ext uri="{FF2B5EF4-FFF2-40B4-BE49-F238E27FC236}">
                  <a16:creationId xmlns:a16="http://schemas.microsoft.com/office/drawing/2014/main" id="{077499E2-9F90-B003-7BD2-F9D870619CC1}"/>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DCD5D946-4A4F-1ED9-0E35-F0EDD2EB18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5" name="灯片编号占位符 6">
            <a:extLst>
              <a:ext uri="{FF2B5EF4-FFF2-40B4-BE49-F238E27FC236}">
                <a16:creationId xmlns:a16="http://schemas.microsoft.com/office/drawing/2014/main" id="{BD8FF8CF-E677-67C6-AB4E-A6BDDA8534BA}"/>
              </a:ext>
            </a:extLst>
          </p:cNvPr>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633737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页（无题头页码）">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4FC9EE5B-B788-51F5-CBD3-DD8EDF521B83}"/>
              </a:ext>
            </a:extLst>
          </p:cNvPr>
          <p:cNvGrpSpPr/>
          <p:nvPr userDrawn="1"/>
        </p:nvGrpSpPr>
        <p:grpSpPr>
          <a:xfrm>
            <a:off x="0" y="1657350"/>
            <a:ext cx="12192000" cy="5212084"/>
            <a:chOff x="0" y="1657350"/>
            <a:chExt cx="12192000" cy="5212084"/>
          </a:xfrm>
        </p:grpSpPr>
        <p:pic>
          <p:nvPicPr>
            <p:cNvPr id="7" name="图片 6">
              <a:extLst>
                <a:ext uri="{FF2B5EF4-FFF2-40B4-BE49-F238E27FC236}">
                  <a16:creationId xmlns:a16="http://schemas.microsoft.com/office/drawing/2014/main" id="{9D8A08C6-FD02-1EFB-898D-62FC4271ECB7}"/>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8" name="矩形 7">
              <a:extLst>
                <a:ext uri="{FF2B5EF4-FFF2-40B4-BE49-F238E27FC236}">
                  <a16:creationId xmlns:a16="http://schemas.microsoft.com/office/drawing/2014/main" id="{A6BA4D1C-3C58-19A2-3199-37843C7107B6}"/>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4503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9" name="图片 18"/>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6826"/>
            <a:ext cx="12192000" cy="6858000"/>
          </a:xfrm>
          <a:prstGeom prst="rect">
            <a:avLst/>
          </a:prstGeom>
        </p:spPr>
      </p:pic>
      <p:sp>
        <p:nvSpPr>
          <p:cNvPr id="3" name="副标题 2"/>
          <p:cNvSpPr>
            <a:spLocks noGrp="1"/>
          </p:cNvSpPr>
          <p:nvPr>
            <p:ph type="subTitle" idx="1"/>
          </p:nvPr>
        </p:nvSpPr>
        <p:spPr>
          <a:xfrm>
            <a:off x="1524000" y="3726180"/>
            <a:ext cx="9144000" cy="1120140"/>
          </a:xfrm>
        </p:spPr>
        <p:txBody>
          <a:bodyPr>
            <a:normAutofit/>
          </a:bodyPr>
          <a:lstStyle>
            <a:lvl1pPr marL="0" indent="0" algn="ctr">
              <a:buNone/>
              <a:defRPr sz="2800" b="1">
                <a:solidFill>
                  <a:schemeClr val="accent1">
                    <a:lumMod val="75000"/>
                  </a:schemeClr>
                </a:solidFill>
                <a:effectLs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zh-CN" altLang="en-US" dirty="0"/>
          </a:p>
        </p:txBody>
      </p:sp>
      <p:grpSp>
        <p:nvGrpSpPr>
          <p:cNvPr id="14" name="组合 13"/>
          <p:cNvGrpSpPr/>
          <p:nvPr userDrawn="1"/>
        </p:nvGrpSpPr>
        <p:grpSpPr>
          <a:xfrm>
            <a:off x="0" y="2"/>
            <a:ext cx="2091691" cy="1988141"/>
            <a:chOff x="1234440" y="204112"/>
            <a:chExt cx="2091690" cy="1988141"/>
          </a:xfrm>
        </p:grpSpPr>
        <p:pic>
          <p:nvPicPr>
            <p:cNvPr id="15" name="图片 14"/>
            <p:cNvPicPr>
              <a:picLocks noChangeAspect="1"/>
            </p:cNvPicPr>
            <p:nvPr userDrawn="1"/>
          </p:nvPicPr>
          <p:blipFill>
            <a:blip r:embed="rId4">
              <a:extLst>
                <a:ext uri="{BEBA8EAE-BF5A-486C-A8C5-ECC9F3942E4B}">
                  <a14:imgProps xmlns:a14="http://schemas.microsoft.com/office/drawing/2010/main">
                    <a14:imgLayer r:embed="rId5">
                      <a14:imgEffect>
                        <a14:artisticPhotocopy detail="2"/>
                      </a14:imgEffect>
                    </a14:imgLayer>
                  </a14:imgProps>
                </a:ext>
                <a:ext uri="{28A0092B-C50C-407E-A947-70E740481C1C}">
                  <a14:useLocalDpi xmlns:a14="http://schemas.microsoft.com/office/drawing/2010/main" val="0"/>
                </a:ext>
              </a:extLst>
            </a:blip>
            <a:stretch>
              <a:fillRect/>
            </a:stretch>
          </p:blipFill>
          <p:spPr>
            <a:xfrm>
              <a:off x="1234440" y="204112"/>
              <a:ext cx="2091690" cy="1988141"/>
            </a:xfrm>
            <a:prstGeom prst="rect">
              <a:avLst/>
            </a:prstGeom>
          </p:spPr>
        </p:pic>
        <p:sp>
          <p:nvSpPr>
            <p:cNvPr id="16" name="矩形 15"/>
            <p:cNvSpPr/>
            <p:nvPr userDrawn="1"/>
          </p:nvSpPr>
          <p:spPr>
            <a:xfrm>
              <a:off x="1234440" y="204112"/>
              <a:ext cx="2091690" cy="1988141"/>
            </a:xfrm>
            <a:prstGeom prst="rect">
              <a:avLst/>
            </a:prstGeom>
            <a:solidFill>
              <a:schemeClr val="bg1">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pic>
        <p:nvPicPr>
          <p:cNvPr id="10" name="图片 9"/>
          <p:cNvPicPr>
            <a:picLocks noChangeAspect="1"/>
          </p:cNvPicPr>
          <p:nvPr userDrawn="1"/>
        </p:nvPicPr>
        <p:blipFill>
          <a:blip r:embed="rId6">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137161" y="37814"/>
            <a:ext cx="3599497" cy="523369"/>
          </a:xfrm>
          <a:prstGeom prst="rect">
            <a:avLst/>
          </a:prstGeom>
          <a:effectLst>
            <a:reflection blurRad="6350" stA="50000" endA="300" endPos="55000" dir="5400000" sy="-100000" algn="bl" rotWithShape="0"/>
          </a:effectLst>
        </p:spPr>
      </p:pic>
      <p:sp>
        <p:nvSpPr>
          <p:cNvPr id="2" name="标题 1"/>
          <p:cNvSpPr>
            <a:spLocks noGrp="1"/>
          </p:cNvSpPr>
          <p:nvPr>
            <p:ph type="ctrTitle"/>
          </p:nvPr>
        </p:nvSpPr>
        <p:spPr>
          <a:xfrm>
            <a:off x="0" y="1122365"/>
            <a:ext cx="12192000" cy="1746567"/>
          </a:xfrm>
          <a:effectLst>
            <a:reflection blurRad="6350" stA="52000" endA="300" endPos="35000" dir="5400000" sy="-100000" algn="bl" rotWithShape="0"/>
          </a:effectLst>
        </p:spPr>
        <p:txBody>
          <a:bodyPr anchor="ctr"/>
          <a:lstStyle>
            <a:lvl1pPr algn="ctr">
              <a:defRPr sz="4500" b="1">
                <a:solidFill>
                  <a:schemeClr val="accent1">
                    <a:lumMod val="75000"/>
                  </a:schemeClr>
                </a:solidFill>
                <a:effectLst>
                  <a:reflection blurRad="63500" stA="50000" endA="300" endPos="50000" dist="88900" dir="5400000" sy="-100000" algn="bl" rotWithShape="0"/>
                </a:effectLst>
              </a:defRPr>
            </a:lvl1pPr>
          </a:lstStyle>
          <a:p>
            <a:r>
              <a:rPr lang="zh-CN" altLang="en-US" dirty="0"/>
              <a:t>单击此处编辑母版标题样式（章节）</a:t>
            </a:r>
          </a:p>
        </p:txBody>
      </p:sp>
    </p:spTree>
    <p:extLst>
      <p:ext uri="{BB962C8B-B14F-4D97-AF65-F5344CB8AC3E}">
        <p14:creationId xmlns:p14="http://schemas.microsoft.com/office/powerpoint/2010/main" val="224908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04"/>
            <a:ext cx="10894496" cy="1987468"/>
          </a:xfrm>
          <a:prstGeom prst="rect">
            <a:avLst/>
          </a:prstGeom>
        </p:spPr>
      </p:pic>
      <p:sp>
        <p:nvSpPr>
          <p:cNvPr id="4" name="日期占位符 3"/>
          <p:cNvSpPr>
            <a:spLocks noGrp="1"/>
          </p:cNvSpPr>
          <p:nvPr>
            <p:ph type="dt" sz="half" idx="10"/>
          </p:nvPr>
        </p:nvSpPr>
        <p:spPr>
          <a:xfrm>
            <a:off x="0" y="6542087"/>
            <a:ext cx="2743200" cy="304487"/>
          </a:xfrm>
          <a:prstGeom prst="rect">
            <a:avLst/>
          </a:prstGeom>
        </p:spPr>
        <p:txBody>
          <a:bodyPr/>
          <a:lstStyle/>
          <a:p>
            <a:endParaRPr lang="zh-CN" altLang="en-US"/>
          </a:p>
        </p:txBody>
      </p:sp>
      <p:grpSp>
        <p:nvGrpSpPr>
          <p:cNvPr id="16" name="组合 15"/>
          <p:cNvGrpSpPr/>
          <p:nvPr userDrawn="1"/>
        </p:nvGrpSpPr>
        <p:grpSpPr>
          <a:xfrm>
            <a:off x="0" y="1657350"/>
            <a:ext cx="12192000" cy="5212084"/>
            <a:chOff x="0" y="1657350"/>
            <a:chExt cx="12192000" cy="5212084"/>
          </a:xfrm>
        </p:grpSpPr>
        <p:pic>
          <p:nvPicPr>
            <p:cNvPr id="17" name="图片 16"/>
            <p:cNvPicPr>
              <a:picLocks noChangeAspect="1"/>
            </p:cNvPicPr>
            <p:nvPr userDrawn="1"/>
          </p:nvPicPr>
          <p:blipFill>
            <a:blip r:embed="rId3">
              <a:extLst>
                <a:ext uri="{BEBA8EAE-BF5A-486C-A8C5-ECC9F3942E4B}">
                  <a14:imgProps xmlns:a14="http://schemas.microsoft.com/office/drawing/2010/main">
                    <a14:imgLayer r:embed="rId4">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8" name="矩形 17"/>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标题占位符 1"/>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3" name="内容占位符 2"/>
          <p:cNvSpPr>
            <a:spLocks noGrp="1"/>
          </p:cNvSpPr>
          <p:nvPr>
            <p:ph idx="1" hasCustomPrompt="1"/>
          </p:nvPr>
        </p:nvSpPr>
        <p:spPr/>
        <p:txBody>
          <a:bodyPr/>
          <a:lstStyle>
            <a:lvl1pPr>
              <a:defRPr sz="3200">
                <a:solidFill>
                  <a:srgbClr val="2F5597"/>
                </a:solidFill>
              </a:defRPr>
            </a:lvl1pPr>
            <a:lvl2pPr>
              <a:defRPr sz="2800">
                <a:solidFill>
                  <a:srgbClr val="2F5597"/>
                </a:solidFill>
              </a:defRPr>
            </a:lvl2pPr>
            <a:lvl3pPr>
              <a:defRPr sz="2400">
                <a:solidFill>
                  <a:srgbClr val="2F5597"/>
                </a:solidFill>
              </a:defRPr>
            </a:lvl3pPr>
            <a:lvl4pPr>
              <a:defRPr sz="2400">
                <a:solidFill>
                  <a:schemeClr val="accent1">
                    <a:lumMod val="75000"/>
                  </a:schemeClr>
                </a:solidFill>
              </a:defRPr>
            </a:lvl4pPr>
          </a:lstStyle>
          <a:p>
            <a:pPr lvl="0"/>
            <a:r>
              <a:rPr lang="zh-CN" altLang="en-US" dirty="0"/>
              <a:t>一级标题</a:t>
            </a:r>
          </a:p>
          <a:p>
            <a:pPr lvl="1"/>
            <a:r>
              <a:rPr lang="zh-CN" altLang="en-US" dirty="0"/>
              <a:t>二级标题</a:t>
            </a:r>
          </a:p>
          <a:p>
            <a:pPr lvl="2"/>
            <a:r>
              <a:rPr lang="zh-CN" altLang="en-US" dirty="0"/>
              <a:t>三级标题</a:t>
            </a:r>
          </a:p>
        </p:txBody>
      </p:sp>
      <p:sp>
        <p:nvSpPr>
          <p:cNvPr id="8" name="灯片编号占位符 6"/>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itchFamily="34" charset="-122"/>
                <a:ea typeface="微软雅黑" pitchFamily="34" charset="-122"/>
              </a:defRPr>
            </a:lvl1pPr>
          </a:lstStyle>
          <a:p>
            <a:fld id="{4ABD14BD-504E-42EC-A2AB-5F7BAF221D6C}" type="slidenum">
              <a:rPr lang="zh-CN" altLang="en-US" smtClean="0"/>
              <a:t>‹#›</a:t>
            </a:fld>
            <a:endParaRPr lang="zh-CN" altLang="en-US"/>
          </a:p>
        </p:txBody>
      </p:sp>
    </p:spTree>
    <p:extLst>
      <p:ext uri="{BB962C8B-B14F-4D97-AF65-F5344CB8AC3E}">
        <p14:creationId xmlns:p14="http://schemas.microsoft.com/office/powerpoint/2010/main" val="2943875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和比较内容">
    <p:spTree>
      <p:nvGrpSpPr>
        <p:cNvPr id="1" name=""/>
        <p:cNvGrpSpPr/>
        <p:nvPr/>
      </p:nvGrpSpPr>
      <p:grpSpPr>
        <a:xfrm>
          <a:off x="0" y="0"/>
          <a:ext cx="0" cy="0"/>
          <a:chOff x="0" y="0"/>
          <a:chExt cx="0" cy="0"/>
        </a:xfrm>
      </p:grpSpPr>
      <p:grpSp>
        <p:nvGrpSpPr>
          <p:cNvPr id="16" name="组合 15"/>
          <p:cNvGrpSpPr/>
          <p:nvPr userDrawn="1"/>
        </p:nvGrpSpPr>
        <p:grpSpPr>
          <a:xfrm>
            <a:off x="0" y="1657350"/>
            <a:ext cx="12192000" cy="5212084"/>
            <a:chOff x="0" y="1657350"/>
            <a:chExt cx="12192000" cy="5212084"/>
          </a:xfrm>
        </p:grpSpPr>
        <p:pic>
          <p:nvPicPr>
            <p:cNvPr id="14" name="图片 13"/>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4" name="内容占位符 3"/>
          <p:cNvSpPr>
            <a:spLocks noGrp="1"/>
          </p:cNvSpPr>
          <p:nvPr>
            <p:ph sz="half" idx="2" hasCustomPrompt="1"/>
          </p:nvPr>
        </p:nvSpPr>
        <p:spPr>
          <a:xfrm>
            <a:off x="270510" y="804704"/>
            <a:ext cx="5364481" cy="5207476"/>
          </a:xfrm>
        </p:spPr>
        <p:txBody>
          <a:bodyPr/>
          <a:lstStyle/>
          <a:p>
            <a:pPr lvl="0"/>
            <a:r>
              <a:rPr lang="zh-CN" altLang="en-US" dirty="0"/>
              <a:t>一级标题</a:t>
            </a:r>
          </a:p>
          <a:p>
            <a:pPr lvl="1"/>
            <a:r>
              <a:rPr lang="zh-CN" altLang="en-US" dirty="0"/>
              <a:t>二级标题</a:t>
            </a:r>
          </a:p>
          <a:p>
            <a:pPr lvl="2"/>
            <a:r>
              <a:rPr lang="zh-CN" altLang="en-US" dirty="0"/>
              <a:t>三级标题</a:t>
            </a:r>
          </a:p>
          <a:p>
            <a:pPr lvl="2"/>
            <a:endParaRPr lang="zh-CN" altLang="en-US" dirty="0"/>
          </a:p>
        </p:txBody>
      </p:sp>
      <p:sp>
        <p:nvSpPr>
          <p:cNvPr id="6" name="内容占位符 5"/>
          <p:cNvSpPr>
            <a:spLocks noGrp="1"/>
          </p:cNvSpPr>
          <p:nvPr>
            <p:ph sz="quarter" idx="4" hasCustomPrompt="1"/>
          </p:nvPr>
        </p:nvSpPr>
        <p:spPr>
          <a:xfrm>
            <a:off x="6000751" y="804704"/>
            <a:ext cx="5920739" cy="5207476"/>
          </a:xfrm>
        </p:spPr>
        <p:txBody>
          <a:bodyPr/>
          <a:lstStyle/>
          <a:p>
            <a:pPr lvl="0"/>
            <a:r>
              <a:rPr lang="zh-CN" altLang="en-US" dirty="0"/>
              <a:t>一级标题</a:t>
            </a:r>
          </a:p>
          <a:p>
            <a:pPr lvl="1"/>
            <a:r>
              <a:rPr lang="zh-CN" altLang="en-US" dirty="0"/>
              <a:t>二级标题</a:t>
            </a:r>
          </a:p>
          <a:p>
            <a:pPr lvl="2"/>
            <a:r>
              <a:rPr lang="zh-CN" altLang="en-US" dirty="0"/>
              <a:t>三级标题</a:t>
            </a:r>
          </a:p>
        </p:txBody>
      </p:sp>
      <p:sp>
        <p:nvSpPr>
          <p:cNvPr id="2" name="标题占位符 1"/>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5" name="灯片编号占位符 6"/>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itchFamily="34" charset="-122"/>
                <a:ea typeface="微软雅黑" pitchFamily="34" charset="-122"/>
              </a:defRPr>
            </a:lvl1pPr>
          </a:lstStyle>
          <a:p>
            <a:fld id="{4ABD14BD-504E-42EC-A2AB-5F7BAF221D6C}" type="slidenum">
              <a:rPr lang="zh-CN" altLang="en-US" smtClean="0"/>
              <a:t>‹#›</a:t>
            </a:fld>
            <a:endParaRPr lang="zh-CN" altLang="en-US"/>
          </a:p>
        </p:txBody>
      </p:sp>
    </p:spTree>
    <p:extLst>
      <p:ext uri="{BB962C8B-B14F-4D97-AF65-F5344CB8AC3E}">
        <p14:creationId xmlns:p14="http://schemas.microsoft.com/office/powerpoint/2010/main" val="226075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grpSp>
        <p:nvGrpSpPr>
          <p:cNvPr id="16" name="组合 15"/>
          <p:cNvGrpSpPr/>
          <p:nvPr userDrawn="1"/>
        </p:nvGrpSpPr>
        <p:grpSpPr>
          <a:xfrm>
            <a:off x="0" y="1657350"/>
            <a:ext cx="12192000" cy="5212084"/>
            <a:chOff x="0" y="1657350"/>
            <a:chExt cx="12192000" cy="5212084"/>
          </a:xfrm>
        </p:grpSpPr>
        <p:pic>
          <p:nvPicPr>
            <p:cNvPr id="14" name="图片 13"/>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5" name="灯片编号占位符 6"/>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itchFamily="34" charset="-122"/>
                <a:ea typeface="微软雅黑" pitchFamily="34" charset="-122"/>
              </a:defRPr>
            </a:lvl1pPr>
          </a:lstStyle>
          <a:p>
            <a:fld id="{4ABD14BD-504E-42EC-A2AB-5F7BAF221D6C}" type="slidenum">
              <a:rPr lang="zh-CN" altLang="en-US" smtClean="0"/>
              <a:t>‹#›</a:t>
            </a:fld>
            <a:endParaRPr lang="zh-CN" altLang="en-US"/>
          </a:p>
        </p:txBody>
      </p:sp>
    </p:spTree>
    <p:extLst>
      <p:ext uri="{BB962C8B-B14F-4D97-AF65-F5344CB8AC3E}">
        <p14:creationId xmlns:p14="http://schemas.microsoft.com/office/powerpoint/2010/main" val="796373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页（无题头页码）">
    <p:spTree>
      <p:nvGrpSpPr>
        <p:cNvPr id="1" name=""/>
        <p:cNvGrpSpPr/>
        <p:nvPr/>
      </p:nvGrpSpPr>
      <p:grpSpPr>
        <a:xfrm>
          <a:off x="0" y="0"/>
          <a:ext cx="0" cy="0"/>
          <a:chOff x="0" y="0"/>
          <a:chExt cx="0" cy="0"/>
        </a:xfrm>
      </p:grpSpPr>
      <p:grpSp>
        <p:nvGrpSpPr>
          <p:cNvPr id="6" name="组合 5"/>
          <p:cNvGrpSpPr/>
          <p:nvPr userDrawn="1"/>
        </p:nvGrpSpPr>
        <p:grpSpPr>
          <a:xfrm>
            <a:off x="0" y="1657350"/>
            <a:ext cx="12192000" cy="5212084"/>
            <a:chOff x="0" y="1657350"/>
            <a:chExt cx="12192000" cy="5212084"/>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8" name="矩形 7"/>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709369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9" name="图片 18"/>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6826"/>
            <a:ext cx="12192000" cy="6858000"/>
          </a:xfrm>
          <a:prstGeom prst="rect">
            <a:avLst/>
          </a:prstGeom>
        </p:spPr>
      </p:pic>
      <p:sp>
        <p:nvSpPr>
          <p:cNvPr id="3" name="副标题 2"/>
          <p:cNvSpPr>
            <a:spLocks noGrp="1"/>
          </p:cNvSpPr>
          <p:nvPr>
            <p:ph type="subTitle" idx="1" hasCustomPrompt="1"/>
          </p:nvPr>
        </p:nvSpPr>
        <p:spPr>
          <a:xfrm>
            <a:off x="1524000" y="3726180"/>
            <a:ext cx="9144000" cy="1120140"/>
          </a:xfrm>
        </p:spPr>
        <p:txBody>
          <a:bodyPr>
            <a:normAutofit/>
          </a:bodyPr>
          <a:lstStyle>
            <a:lvl1pPr marL="0" indent="0" algn="ctr">
              <a:buNone/>
              <a:defRPr sz="2800" b="1">
                <a:solidFill>
                  <a:schemeClr val="accent1">
                    <a:lumMod val="75000"/>
                  </a:schemeClr>
                </a:solidFill>
                <a:effectLs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zh-CN" altLang="en-US" dirty="0"/>
          </a:p>
        </p:txBody>
      </p:sp>
      <p:grpSp>
        <p:nvGrpSpPr>
          <p:cNvPr id="14" name="组合 13"/>
          <p:cNvGrpSpPr/>
          <p:nvPr userDrawn="1"/>
        </p:nvGrpSpPr>
        <p:grpSpPr>
          <a:xfrm>
            <a:off x="0" y="2"/>
            <a:ext cx="2091691" cy="1988141"/>
            <a:chOff x="1234440" y="204112"/>
            <a:chExt cx="2091690" cy="1988141"/>
          </a:xfrm>
        </p:grpSpPr>
        <p:pic>
          <p:nvPicPr>
            <p:cNvPr id="15" name="图片 14"/>
            <p:cNvPicPr>
              <a:picLocks noChangeAspect="1"/>
            </p:cNvPicPr>
            <p:nvPr userDrawn="1"/>
          </p:nvPicPr>
          <p:blipFill>
            <a:blip r:embed="rId4" cstate="print">
              <a:extLst>
                <a:ext uri="{BEBA8EAE-BF5A-486C-A8C5-ECC9F3942E4B}">
                  <a14:imgProps xmlns:a14="http://schemas.microsoft.com/office/drawing/2010/main">
                    <a14:imgLayer r:embed="rId5">
                      <a14:imgEffect>
                        <a14:artisticPhotocopy detail="2"/>
                      </a14:imgEffect>
                    </a14:imgLayer>
                  </a14:imgProps>
                </a:ext>
                <a:ext uri="{28A0092B-C50C-407E-A947-70E740481C1C}">
                  <a14:useLocalDpi xmlns:a14="http://schemas.microsoft.com/office/drawing/2010/main" val="0"/>
                </a:ext>
              </a:extLst>
            </a:blip>
            <a:stretch>
              <a:fillRect/>
            </a:stretch>
          </p:blipFill>
          <p:spPr>
            <a:xfrm>
              <a:off x="1234440" y="204112"/>
              <a:ext cx="2091690" cy="1988141"/>
            </a:xfrm>
            <a:prstGeom prst="rect">
              <a:avLst/>
            </a:prstGeom>
          </p:spPr>
        </p:pic>
        <p:sp>
          <p:nvSpPr>
            <p:cNvPr id="16" name="矩形 15"/>
            <p:cNvSpPr/>
            <p:nvPr userDrawn="1"/>
          </p:nvSpPr>
          <p:spPr>
            <a:xfrm>
              <a:off x="1234440" y="204112"/>
              <a:ext cx="2091690" cy="1988141"/>
            </a:xfrm>
            <a:prstGeom prst="rect">
              <a:avLst/>
            </a:prstGeom>
            <a:solidFill>
              <a:schemeClr val="bg1">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pic>
        <p:nvPicPr>
          <p:cNvPr id="10" name="图片 9"/>
          <p:cNvPicPr>
            <a:picLocks noChangeAspect="1"/>
          </p:cNvPicPr>
          <p:nvPr userDrawn="1"/>
        </p:nvPicPr>
        <p:blipFill>
          <a:blip r:embed="rId6" cstate="print">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137161" y="37814"/>
            <a:ext cx="3599497" cy="523369"/>
          </a:xfrm>
          <a:prstGeom prst="rect">
            <a:avLst/>
          </a:prstGeom>
          <a:effectLst>
            <a:reflection blurRad="6350" stA="50000" endA="300" endPos="55000" dir="5400000" sy="-100000" algn="bl" rotWithShape="0"/>
          </a:effectLst>
        </p:spPr>
      </p:pic>
      <p:sp>
        <p:nvSpPr>
          <p:cNvPr id="2" name="标题 1"/>
          <p:cNvSpPr>
            <a:spLocks noGrp="1"/>
          </p:cNvSpPr>
          <p:nvPr>
            <p:ph type="ctrTitle" hasCustomPrompt="1"/>
          </p:nvPr>
        </p:nvSpPr>
        <p:spPr>
          <a:xfrm>
            <a:off x="0" y="1122365"/>
            <a:ext cx="12192000" cy="1746567"/>
          </a:xfrm>
          <a:effectLst>
            <a:reflection blurRad="6350" stA="52000" endA="300" endPos="35000" dir="5400000" sy="-100000" algn="bl" rotWithShape="0"/>
          </a:effectLst>
        </p:spPr>
        <p:txBody>
          <a:bodyPr anchor="ctr"/>
          <a:lstStyle>
            <a:lvl1pPr algn="ctr">
              <a:defRPr sz="4500" b="1">
                <a:solidFill>
                  <a:schemeClr val="accent1">
                    <a:lumMod val="75000"/>
                  </a:schemeClr>
                </a:solidFill>
                <a:effectLst>
                  <a:reflection blurRad="63500" stA="50000" endA="300" endPos="50000" dist="88900" dir="5400000" sy="-100000" algn="bl" rotWithShape="0"/>
                </a:effectLst>
              </a:defRPr>
            </a:lvl1pPr>
          </a:lstStyle>
          <a:p>
            <a:r>
              <a:rPr lang="zh-CN" altLang="en-US" dirty="0"/>
              <a:t>单击此处编辑母版标题样式（章节）</a:t>
            </a:r>
          </a:p>
        </p:txBody>
      </p:sp>
    </p:spTree>
    <p:extLst>
      <p:ext uri="{BB962C8B-B14F-4D97-AF65-F5344CB8AC3E}">
        <p14:creationId xmlns:p14="http://schemas.microsoft.com/office/powerpoint/2010/main" val="298006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04"/>
            <a:ext cx="10894496" cy="1987468"/>
          </a:xfrm>
          <a:prstGeom prst="rect">
            <a:avLst/>
          </a:prstGeom>
        </p:spPr>
      </p:pic>
      <p:sp>
        <p:nvSpPr>
          <p:cNvPr id="4" name="日期占位符 3"/>
          <p:cNvSpPr>
            <a:spLocks noGrp="1"/>
          </p:cNvSpPr>
          <p:nvPr>
            <p:ph type="dt" sz="half" idx="10"/>
          </p:nvPr>
        </p:nvSpPr>
        <p:spPr>
          <a:xfrm>
            <a:off x="0" y="6542087"/>
            <a:ext cx="2743200" cy="304487"/>
          </a:xfrm>
          <a:prstGeom prst="rect">
            <a:avLst/>
          </a:prstGeom>
        </p:spPr>
        <p:txBody>
          <a:bodyPr/>
          <a:lstStyle/>
          <a:p>
            <a:endParaRPr lang="zh-CN" altLang="en-US"/>
          </a:p>
        </p:txBody>
      </p:sp>
      <p:grpSp>
        <p:nvGrpSpPr>
          <p:cNvPr id="16" name="组合 15"/>
          <p:cNvGrpSpPr/>
          <p:nvPr userDrawn="1"/>
        </p:nvGrpSpPr>
        <p:grpSpPr>
          <a:xfrm>
            <a:off x="0" y="1657350"/>
            <a:ext cx="12192000" cy="5212084"/>
            <a:chOff x="0" y="1657350"/>
            <a:chExt cx="12192000" cy="5212084"/>
          </a:xfrm>
        </p:grpSpPr>
        <p:pic>
          <p:nvPicPr>
            <p:cNvPr id="17" name="图片 16"/>
            <p:cNvPicPr>
              <a:picLocks noChangeAspect="1"/>
            </p:cNvPicPr>
            <p:nvPr userDrawn="1"/>
          </p:nvPicPr>
          <p:blipFill>
            <a:blip r:embed="rId3">
              <a:extLst>
                <a:ext uri="{BEBA8EAE-BF5A-486C-A8C5-ECC9F3942E4B}">
                  <a14:imgProps xmlns:a14="http://schemas.microsoft.com/office/drawing/2010/main">
                    <a14:imgLayer r:embed="rId4">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8" name="矩形 17"/>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标题占位符 1"/>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3" name="内容占位符 2"/>
          <p:cNvSpPr>
            <a:spLocks noGrp="1"/>
          </p:cNvSpPr>
          <p:nvPr>
            <p:ph idx="1" hasCustomPrompt="1"/>
          </p:nvPr>
        </p:nvSpPr>
        <p:spPr/>
        <p:txBody>
          <a:bodyPr/>
          <a:lstStyle>
            <a:lvl1pPr>
              <a:defRPr sz="3200">
                <a:solidFill>
                  <a:srgbClr val="2F5597"/>
                </a:solidFill>
              </a:defRPr>
            </a:lvl1pPr>
            <a:lvl2pPr>
              <a:defRPr sz="2800">
                <a:solidFill>
                  <a:srgbClr val="2F5597"/>
                </a:solidFill>
              </a:defRPr>
            </a:lvl2pPr>
            <a:lvl3pPr>
              <a:defRPr sz="2400">
                <a:solidFill>
                  <a:srgbClr val="2F5597"/>
                </a:solidFill>
              </a:defRPr>
            </a:lvl3pPr>
            <a:lvl4pPr>
              <a:defRPr sz="2400">
                <a:solidFill>
                  <a:schemeClr val="accent1">
                    <a:lumMod val="75000"/>
                  </a:schemeClr>
                </a:solidFill>
              </a:defRPr>
            </a:lvl4pPr>
          </a:lstStyle>
          <a:p>
            <a:pPr lvl="0"/>
            <a:r>
              <a:rPr lang="zh-CN" altLang="en-US" dirty="0"/>
              <a:t>一级标题</a:t>
            </a:r>
          </a:p>
          <a:p>
            <a:pPr lvl="1"/>
            <a:r>
              <a:rPr lang="zh-CN" altLang="en-US" dirty="0"/>
              <a:t>二级标题</a:t>
            </a:r>
          </a:p>
          <a:p>
            <a:pPr lvl="2"/>
            <a:r>
              <a:rPr lang="zh-CN" altLang="en-US" dirty="0"/>
              <a:t>三级标题</a:t>
            </a:r>
          </a:p>
        </p:txBody>
      </p:sp>
      <p:sp>
        <p:nvSpPr>
          <p:cNvPr id="8" name="灯片编号占位符 6"/>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t>‹#›</a:t>
            </a:fld>
            <a:endParaRPr lang="zh-CN" altLang="en-US"/>
          </a:p>
        </p:txBody>
      </p:sp>
    </p:spTree>
    <p:extLst>
      <p:ext uri="{BB962C8B-B14F-4D97-AF65-F5344CB8AC3E}">
        <p14:creationId xmlns:p14="http://schemas.microsoft.com/office/powerpoint/2010/main" val="1515320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比较内容">
    <p:spTree>
      <p:nvGrpSpPr>
        <p:cNvPr id="1" name=""/>
        <p:cNvGrpSpPr/>
        <p:nvPr/>
      </p:nvGrpSpPr>
      <p:grpSpPr>
        <a:xfrm>
          <a:off x="0" y="0"/>
          <a:ext cx="0" cy="0"/>
          <a:chOff x="0" y="0"/>
          <a:chExt cx="0" cy="0"/>
        </a:xfrm>
      </p:grpSpPr>
      <p:grpSp>
        <p:nvGrpSpPr>
          <p:cNvPr id="16" name="组合 15"/>
          <p:cNvGrpSpPr/>
          <p:nvPr userDrawn="1"/>
        </p:nvGrpSpPr>
        <p:grpSpPr>
          <a:xfrm>
            <a:off x="0" y="1657350"/>
            <a:ext cx="12192000" cy="5212084"/>
            <a:chOff x="0" y="1657350"/>
            <a:chExt cx="12192000" cy="5212084"/>
          </a:xfrm>
        </p:grpSpPr>
        <p:pic>
          <p:nvPicPr>
            <p:cNvPr id="14" name="图片 13"/>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4" name="内容占位符 3"/>
          <p:cNvSpPr>
            <a:spLocks noGrp="1"/>
          </p:cNvSpPr>
          <p:nvPr>
            <p:ph sz="half" idx="2" hasCustomPrompt="1"/>
          </p:nvPr>
        </p:nvSpPr>
        <p:spPr>
          <a:xfrm>
            <a:off x="270510" y="804704"/>
            <a:ext cx="5364481" cy="5207476"/>
          </a:xfrm>
        </p:spPr>
        <p:txBody>
          <a:bodyPr/>
          <a:lstStyle/>
          <a:p>
            <a:pPr lvl="0"/>
            <a:r>
              <a:rPr lang="zh-CN" altLang="en-US" dirty="0"/>
              <a:t>一级标题</a:t>
            </a:r>
          </a:p>
          <a:p>
            <a:pPr lvl="1"/>
            <a:r>
              <a:rPr lang="zh-CN" altLang="en-US" dirty="0"/>
              <a:t>二级标题</a:t>
            </a:r>
          </a:p>
          <a:p>
            <a:pPr lvl="2"/>
            <a:r>
              <a:rPr lang="zh-CN" altLang="en-US" dirty="0"/>
              <a:t>三级标题</a:t>
            </a:r>
          </a:p>
          <a:p>
            <a:pPr lvl="2"/>
            <a:endParaRPr lang="zh-CN" altLang="en-US" dirty="0"/>
          </a:p>
        </p:txBody>
      </p:sp>
      <p:sp>
        <p:nvSpPr>
          <p:cNvPr id="6" name="内容占位符 5"/>
          <p:cNvSpPr>
            <a:spLocks noGrp="1"/>
          </p:cNvSpPr>
          <p:nvPr>
            <p:ph sz="quarter" idx="4" hasCustomPrompt="1"/>
          </p:nvPr>
        </p:nvSpPr>
        <p:spPr>
          <a:xfrm>
            <a:off x="6000751" y="804704"/>
            <a:ext cx="5920739" cy="5207476"/>
          </a:xfrm>
        </p:spPr>
        <p:txBody>
          <a:bodyPr/>
          <a:lstStyle/>
          <a:p>
            <a:pPr lvl="0"/>
            <a:r>
              <a:rPr lang="zh-CN" altLang="en-US" dirty="0"/>
              <a:t>一级标题</a:t>
            </a:r>
          </a:p>
          <a:p>
            <a:pPr lvl="1"/>
            <a:r>
              <a:rPr lang="zh-CN" altLang="en-US" dirty="0"/>
              <a:t>二级标题</a:t>
            </a:r>
          </a:p>
          <a:p>
            <a:pPr lvl="2"/>
            <a:r>
              <a:rPr lang="zh-CN" altLang="en-US" dirty="0"/>
              <a:t>三级标题</a:t>
            </a:r>
          </a:p>
        </p:txBody>
      </p:sp>
      <p:sp>
        <p:nvSpPr>
          <p:cNvPr id="2" name="标题占位符 1"/>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5" name="灯片编号占位符 6"/>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t>‹#›</a:t>
            </a:fld>
            <a:endParaRPr lang="zh-CN" altLang="en-US"/>
          </a:p>
        </p:txBody>
      </p:sp>
    </p:spTree>
    <p:extLst>
      <p:ext uri="{BB962C8B-B14F-4D97-AF65-F5344CB8AC3E}">
        <p14:creationId xmlns:p14="http://schemas.microsoft.com/office/powerpoint/2010/main" val="1033688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grpSp>
        <p:nvGrpSpPr>
          <p:cNvPr id="16" name="组合 15"/>
          <p:cNvGrpSpPr/>
          <p:nvPr userDrawn="1"/>
        </p:nvGrpSpPr>
        <p:grpSpPr>
          <a:xfrm>
            <a:off x="0" y="1657350"/>
            <a:ext cx="12192000" cy="5212084"/>
            <a:chOff x="0" y="1657350"/>
            <a:chExt cx="12192000" cy="5212084"/>
          </a:xfrm>
        </p:grpSpPr>
        <p:pic>
          <p:nvPicPr>
            <p:cNvPr id="14" name="图片 13"/>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5" name="灯片编号占位符 6"/>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t>‹#›</a:t>
            </a:fld>
            <a:endParaRPr lang="zh-CN" altLang="en-US"/>
          </a:p>
        </p:txBody>
      </p:sp>
    </p:spTree>
    <p:extLst>
      <p:ext uri="{BB962C8B-B14F-4D97-AF65-F5344CB8AC3E}">
        <p14:creationId xmlns:p14="http://schemas.microsoft.com/office/powerpoint/2010/main" val="900010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页（无题头页码）">
    <p:spTree>
      <p:nvGrpSpPr>
        <p:cNvPr id="1" name=""/>
        <p:cNvGrpSpPr/>
        <p:nvPr/>
      </p:nvGrpSpPr>
      <p:grpSpPr>
        <a:xfrm>
          <a:off x="0" y="0"/>
          <a:ext cx="0" cy="0"/>
          <a:chOff x="0" y="0"/>
          <a:chExt cx="0" cy="0"/>
        </a:xfrm>
      </p:grpSpPr>
      <p:grpSp>
        <p:nvGrpSpPr>
          <p:cNvPr id="6" name="组合 5"/>
          <p:cNvGrpSpPr/>
          <p:nvPr userDrawn="1"/>
        </p:nvGrpSpPr>
        <p:grpSpPr>
          <a:xfrm>
            <a:off x="0" y="1657350"/>
            <a:ext cx="12192000" cy="5212084"/>
            <a:chOff x="0" y="1657350"/>
            <a:chExt cx="12192000" cy="5212084"/>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8" name="矩形 7"/>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352758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17600" y="228600"/>
            <a:ext cx="10363200" cy="990600"/>
          </a:xfrm>
        </p:spPr>
        <p:txBody>
          <a:bodyPr/>
          <a:lstStyle/>
          <a:p>
            <a:r>
              <a:rPr lang="zh-CN" altLang="en-US"/>
              <a:t>单击此处编辑母版标题样式</a:t>
            </a:r>
          </a:p>
        </p:txBody>
      </p:sp>
      <p:sp>
        <p:nvSpPr>
          <p:cNvPr id="3" name="文本占位符 2"/>
          <p:cNvSpPr>
            <a:spLocks noGrp="1"/>
          </p:cNvSpPr>
          <p:nvPr>
            <p:ph type="body" sz="half" idx="1"/>
          </p:nvPr>
        </p:nvSpPr>
        <p:spPr>
          <a:xfrm>
            <a:off x="10160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92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r>
              <a:rPr lang="en-US" altLang="zh-CN"/>
              <a:t>2.4--</a:t>
            </a:r>
            <a:fld id="{BF672229-ABE9-4514-BFDB-833C44810682}" type="slidenum">
              <a:rPr lang="en-US" altLang="zh-CN"/>
              <a:pPr>
                <a:defRPr/>
              </a:pPr>
              <a:t>‹#›</a:t>
            </a:fld>
            <a:endParaRPr lang="en-US" altLang="zh-CN"/>
          </a:p>
        </p:txBody>
      </p:sp>
    </p:spTree>
    <p:extLst>
      <p:ext uri="{BB962C8B-B14F-4D97-AF65-F5344CB8AC3E}">
        <p14:creationId xmlns:p14="http://schemas.microsoft.com/office/powerpoint/2010/main" val="4002401668"/>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09A9CA9-31DD-83B3-3E76-B30B001E4634}"/>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2491F11-3B28-CCCD-8457-E079270E01B7}"/>
              </a:ext>
            </a:extLst>
          </p:cNvPr>
          <p:cNvSpPr>
            <a:spLocks noGrp="1"/>
          </p:cNvSpPr>
          <p:nvPr>
            <p:ph type="body" idx="1"/>
          </p:nvPr>
        </p:nvSpPr>
        <p:spPr>
          <a:xfrm>
            <a:off x="270511" y="800100"/>
            <a:ext cx="11650980" cy="5333761"/>
          </a:xfrm>
          <a:prstGeom prst="rect">
            <a:avLst/>
          </a:prstGeom>
        </p:spPr>
        <p:txBody>
          <a:bodyPr vert="horz" lIns="91440" tIns="45720" rIns="91440" bIns="45720" rtlCol="0">
            <a:normAutofit/>
          </a:bodyPr>
          <a:lstStyle/>
          <a:p>
            <a:pPr lvl="0"/>
            <a:r>
              <a:rPr lang="zh-CN" altLang="en-US" dirty="0"/>
              <a:t>一级标题</a:t>
            </a:r>
          </a:p>
          <a:p>
            <a:pPr lvl="1"/>
            <a:r>
              <a:rPr lang="zh-CN" altLang="en-US" dirty="0"/>
              <a:t>二级标题</a:t>
            </a:r>
          </a:p>
          <a:p>
            <a:pPr lvl="2"/>
            <a:r>
              <a:rPr lang="zh-CN" altLang="en-US" dirty="0"/>
              <a:t>三级标题</a:t>
            </a:r>
          </a:p>
        </p:txBody>
      </p:sp>
      <p:sp>
        <p:nvSpPr>
          <p:cNvPr id="7" name="灯片编号占位符 6">
            <a:extLst>
              <a:ext uri="{FF2B5EF4-FFF2-40B4-BE49-F238E27FC236}">
                <a16:creationId xmlns:a16="http://schemas.microsoft.com/office/drawing/2014/main" id="{7D46468F-0755-E29B-F298-04DA71683A95}"/>
              </a:ext>
            </a:extLst>
          </p:cNvPr>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2745580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6" r:id="rId4"/>
    <p:sldLayoutId id="2147483655" r:id="rId5"/>
  </p:sldLayoutIdLst>
  <p:hf hdr="0" ftr="0" dt="0"/>
  <p:txStyles>
    <p:titleStyle>
      <a:lvl1pPr algn="l" defTabSz="685783"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p:titleStyle>
    <p:bodyStyle>
      <a:lvl1pPr marL="457200" indent="-457200" algn="l" defTabSz="685783" rtl="0" eaLnBrk="1" latinLnBrk="0" hangingPunct="1">
        <a:lnSpc>
          <a:spcPct val="100000"/>
        </a:lnSpc>
        <a:spcBef>
          <a:spcPts val="751"/>
        </a:spcBef>
        <a:spcAft>
          <a:spcPts val="225"/>
        </a:spcAft>
        <a:buSzPct val="80000"/>
        <a:buFont typeface="Wingdings" panose="05000000000000000000" pitchFamily="2" charset="2"/>
        <a:buChar char="n"/>
        <a:defRPr sz="3200" kern="1200">
          <a:solidFill>
            <a:srgbClr val="2F5597"/>
          </a:solidFill>
          <a:latin typeface="微软雅黑" panose="020B0503020204020204" pitchFamily="34" charset="-122"/>
          <a:ea typeface="微软雅黑" panose="020B0503020204020204" pitchFamily="34" charset="-122"/>
          <a:cs typeface="+mn-cs"/>
        </a:defRPr>
      </a:lvl1pPr>
      <a:lvl2pPr marL="0" indent="-457200" algn="l" defTabSz="685783" rtl="0" eaLnBrk="1" fontAlgn="ctr" latinLnBrk="0" hangingPunct="1">
        <a:lnSpc>
          <a:spcPct val="100000"/>
        </a:lnSpc>
        <a:spcBef>
          <a:spcPts val="375"/>
        </a:spcBef>
        <a:spcAft>
          <a:spcPts val="225"/>
        </a:spcAft>
        <a:buSzPct val="80000"/>
        <a:buFont typeface="Wingdings" panose="05000000000000000000" pitchFamily="2" charset="2"/>
        <a:buChar char="l"/>
        <a:defRPr sz="2800" kern="1200">
          <a:solidFill>
            <a:srgbClr val="2F5597"/>
          </a:solidFill>
          <a:latin typeface="微软雅黑" panose="020B0503020204020204" pitchFamily="34" charset="-122"/>
          <a:ea typeface="微软雅黑" panose="020B0503020204020204" pitchFamily="34" charset="-122"/>
          <a:cs typeface="+mn-cs"/>
        </a:defRPr>
      </a:lvl2pPr>
      <a:lvl3pPr marL="323992" indent="-457200" algn="l" defTabSz="685783" rtl="0" eaLnBrk="1" fontAlgn="ctr" latinLnBrk="0" hangingPunct="1">
        <a:lnSpc>
          <a:spcPct val="100000"/>
        </a:lnSpc>
        <a:spcBef>
          <a:spcPts val="375"/>
        </a:spcBef>
        <a:spcAft>
          <a:spcPts val="225"/>
        </a:spcAft>
        <a:buSzPct val="70000"/>
        <a:buFont typeface="Wingdings" panose="05000000000000000000" pitchFamily="2" charset="2"/>
        <a:buChar char="Ø"/>
        <a:defRPr sz="2400" kern="1200">
          <a:solidFill>
            <a:srgbClr val="2F5597"/>
          </a:solidFill>
          <a:latin typeface="微软雅黑" panose="020B0503020204020204" pitchFamily="34" charset="-122"/>
          <a:ea typeface="微软雅黑" panose="020B0503020204020204" pitchFamily="34" charset="-122"/>
          <a:cs typeface="+mn-cs"/>
        </a:defRPr>
      </a:lvl3pPr>
      <a:lvl4pPr marL="324000" indent="-216000" algn="l" defTabSz="685783" rtl="0" eaLnBrk="1" fontAlgn="ctr" latinLnBrk="0" hangingPunct="1">
        <a:lnSpc>
          <a:spcPct val="100000"/>
        </a:lnSpc>
        <a:spcBef>
          <a:spcPts val="375"/>
        </a:spcBef>
        <a:spcAft>
          <a:spcPts val="225"/>
        </a:spcAft>
        <a:buSzPct val="80000"/>
        <a:buFont typeface="Wingdings" panose="05000000000000000000" pitchFamily="2" charset="2"/>
        <a:buChar char="Ø"/>
        <a:defRPr sz="24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97197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微软雅黑" panose="020B0503020204020204" pitchFamily="34" charset="-122"/>
          <a:ea typeface="微软雅黑" panose="020B0503020204020204" pitchFamily="34" charset="-122"/>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zh-CN"/>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270511" y="800100"/>
            <a:ext cx="11650980" cy="5333761"/>
          </a:xfrm>
          <a:prstGeom prst="rect">
            <a:avLst/>
          </a:prstGeom>
        </p:spPr>
        <p:txBody>
          <a:bodyPr vert="horz" lIns="91440" tIns="45720" rIns="91440" bIns="45720" rtlCol="0">
            <a:normAutofit/>
          </a:bodyPr>
          <a:lstStyle/>
          <a:p>
            <a:pPr lvl="0"/>
            <a:r>
              <a:rPr lang="zh-CN" altLang="en-US" dirty="0"/>
              <a:t>一级标题</a:t>
            </a:r>
          </a:p>
          <a:p>
            <a:pPr lvl="1"/>
            <a:r>
              <a:rPr lang="zh-CN" altLang="en-US" dirty="0"/>
              <a:t>二级标题</a:t>
            </a:r>
          </a:p>
          <a:p>
            <a:pPr lvl="2"/>
            <a:r>
              <a:rPr lang="zh-CN" altLang="en-US" dirty="0"/>
              <a:t>三级标题</a:t>
            </a:r>
          </a:p>
        </p:txBody>
      </p:sp>
      <p:sp>
        <p:nvSpPr>
          <p:cNvPr id="7" name="灯片编号占位符 6"/>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itchFamily="34" charset="-122"/>
                <a:ea typeface="微软雅黑" pitchFamily="34" charset="-122"/>
              </a:defRPr>
            </a:lvl1pPr>
          </a:lstStyle>
          <a:p>
            <a:fld id="{4ABD14BD-504E-42EC-A2AB-5F7BAF221D6C}" type="slidenum">
              <a:rPr lang="zh-CN" altLang="en-US" smtClean="0"/>
              <a:t>‹#›</a:t>
            </a:fld>
            <a:endParaRPr lang="zh-CN" altLang="en-US"/>
          </a:p>
        </p:txBody>
      </p:sp>
    </p:spTree>
    <p:extLst>
      <p:ext uri="{BB962C8B-B14F-4D97-AF65-F5344CB8AC3E}">
        <p14:creationId xmlns:p14="http://schemas.microsoft.com/office/powerpoint/2010/main" val="45660262"/>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hf hdr="0" ftr="0" dt="0"/>
  <p:txStyles>
    <p:title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p:titleStyle>
    <p:bodyStyle>
      <a:lvl1pPr marL="457200" indent="-457200" algn="l" defTabSz="685165" rtl="0" eaLnBrk="1" latinLnBrk="0" hangingPunct="1">
        <a:lnSpc>
          <a:spcPct val="100000"/>
        </a:lnSpc>
        <a:spcBef>
          <a:spcPts val="750"/>
        </a:spcBef>
        <a:spcAft>
          <a:spcPts val="225"/>
        </a:spcAft>
        <a:buSzPct val="80000"/>
        <a:buFont typeface="Wingdings" charset="2"/>
        <a:buChar char="n"/>
        <a:defRPr sz="3200" kern="1200">
          <a:solidFill>
            <a:srgbClr val="2F5597"/>
          </a:solidFill>
          <a:latin typeface="微软雅黑" pitchFamily="34" charset="-122"/>
          <a:ea typeface="微软雅黑" pitchFamily="34" charset="-122"/>
          <a:cs typeface="+mn-cs"/>
        </a:defRPr>
      </a:lvl1pPr>
      <a:lvl2pPr marL="0" indent="-457200" algn="l" defTabSz="685165" rtl="0" eaLnBrk="1" fontAlgn="ctr" latinLnBrk="0" hangingPunct="1">
        <a:lnSpc>
          <a:spcPct val="100000"/>
        </a:lnSpc>
        <a:spcBef>
          <a:spcPts val="375"/>
        </a:spcBef>
        <a:spcAft>
          <a:spcPts val="225"/>
        </a:spcAft>
        <a:buSzPct val="80000"/>
        <a:buFont typeface="Wingdings" charset="2"/>
        <a:buChar char="l"/>
        <a:defRPr sz="2800" kern="1200">
          <a:solidFill>
            <a:srgbClr val="2F5597"/>
          </a:solidFill>
          <a:latin typeface="微软雅黑" pitchFamily="34" charset="-122"/>
          <a:ea typeface="微软雅黑" pitchFamily="34" charset="-122"/>
          <a:cs typeface="+mn-cs"/>
        </a:defRPr>
      </a:lvl2pPr>
      <a:lvl3pPr marL="323850" indent="-457200" algn="l" defTabSz="685165" rtl="0" eaLnBrk="1" fontAlgn="ctr" latinLnBrk="0" hangingPunct="1">
        <a:lnSpc>
          <a:spcPct val="100000"/>
        </a:lnSpc>
        <a:spcBef>
          <a:spcPts val="375"/>
        </a:spcBef>
        <a:spcAft>
          <a:spcPts val="225"/>
        </a:spcAft>
        <a:buSzPct val="70000"/>
        <a:buFont typeface="Wingdings" charset="2"/>
        <a:buChar char="Ø"/>
        <a:defRPr sz="2400" kern="1200">
          <a:solidFill>
            <a:srgbClr val="2F5597"/>
          </a:solidFill>
          <a:latin typeface="微软雅黑" pitchFamily="34" charset="-122"/>
          <a:ea typeface="微软雅黑" pitchFamily="34" charset="-122"/>
          <a:cs typeface="+mn-cs"/>
        </a:defRPr>
      </a:lvl3pPr>
      <a:lvl4pPr marL="323850" indent="-215900" algn="l" defTabSz="685165" rtl="0" eaLnBrk="1" fontAlgn="ctr" latinLnBrk="0" hangingPunct="1">
        <a:lnSpc>
          <a:spcPct val="100000"/>
        </a:lnSpc>
        <a:spcBef>
          <a:spcPts val="375"/>
        </a:spcBef>
        <a:spcAft>
          <a:spcPts val="225"/>
        </a:spcAft>
        <a:buSzPct val="80000"/>
        <a:buFont typeface="Wingdings" charset="2"/>
        <a:buChar char="Ø"/>
        <a:defRPr sz="2400" kern="1200">
          <a:solidFill>
            <a:schemeClr val="accent1">
              <a:lumMod val="75000"/>
            </a:schemeClr>
          </a:solidFill>
          <a:latin typeface="微软雅黑" pitchFamily="34" charset="-122"/>
          <a:ea typeface="微软雅黑" pitchFamily="34" charset="-122"/>
          <a:cs typeface="+mn-cs"/>
        </a:defRPr>
      </a:lvl4pPr>
      <a:lvl5pPr marL="972185" indent="-171450" algn="l" defTabSz="685165" rtl="0" eaLnBrk="1" latinLnBrk="0" hangingPunct="1">
        <a:lnSpc>
          <a:spcPct val="90000"/>
        </a:lnSpc>
        <a:spcBef>
          <a:spcPts val="375"/>
        </a:spcBef>
        <a:buFont typeface="Arial" charset="0"/>
        <a:buChar char="•"/>
        <a:defRPr sz="1350" kern="1200">
          <a:solidFill>
            <a:schemeClr val="tx1"/>
          </a:solidFill>
          <a:latin typeface="微软雅黑" pitchFamily="34" charset="-122"/>
          <a:ea typeface="微软雅黑" pitchFamily="34" charset="-122"/>
          <a:cs typeface="+mn-cs"/>
        </a:defRPr>
      </a:lvl5pPr>
      <a:lvl6pPr marL="1885950" indent="-171450" algn="l" defTabSz="685165" rtl="0" eaLnBrk="1" latinLnBrk="0" hangingPunct="1">
        <a:lnSpc>
          <a:spcPct val="90000"/>
        </a:lnSpc>
        <a:spcBef>
          <a:spcPts val="375"/>
        </a:spcBef>
        <a:buFont typeface="Arial" charset="0"/>
        <a:buChar char="•"/>
        <a:defRPr sz="135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charset="0"/>
        <a:buChar char="•"/>
        <a:defRPr sz="1350" kern="1200">
          <a:solidFill>
            <a:schemeClr val="tx1"/>
          </a:solidFill>
          <a:latin typeface="+mn-lt"/>
          <a:ea typeface="+mn-ea"/>
          <a:cs typeface="+mn-cs"/>
        </a:defRPr>
      </a:lvl9pPr>
    </p:bodyStyle>
    <p:otherStyle>
      <a:defPPr>
        <a:defRPr lang="zh-CN"/>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270511" y="800100"/>
            <a:ext cx="11650980" cy="5333761"/>
          </a:xfrm>
          <a:prstGeom prst="rect">
            <a:avLst/>
          </a:prstGeom>
        </p:spPr>
        <p:txBody>
          <a:bodyPr vert="horz" lIns="91440" tIns="45720" rIns="91440" bIns="45720" rtlCol="0">
            <a:normAutofit/>
          </a:bodyPr>
          <a:lstStyle/>
          <a:p>
            <a:pPr lvl="0"/>
            <a:r>
              <a:rPr lang="zh-CN" altLang="en-US" dirty="0"/>
              <a:t>一级标题</a:t>
            </a:r>
          </a:p>
          <a:p>
            <a:pPr lvl="1"/>
            <a:r>
              <a:rPr lang="zh-CN" altLang="en-US" dirty="0"/>
              <a:t>二级标题</a:t>
            </a:r>
          </a:p>
          <a:p>
            <a:pPr lvl="2"/>
            <a:r>
              <a:rPr lang="zh-CN" altLang="en-US" dirty="0"/>
              <a:t>三级标题</a:t>
            </a:r>
          </a:p>
        </p:txBody>
      </p:sp>
      <p:sp>
        <p:nvSpPr>
          <p:cNvPr id="7" name="灯片编号占位符 6"/>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t>‹#›</a:t>
            </a:fld>
            <a:endParaRPr lang="zh-CN" altLang="en-US"/>
          </a:p>
        </p:txBody>
      </p:sp>
    </p:spTree>
    <p:extLst>
      <p:ext uri="{BB962C8B-B14F-4D97-AF65-F5344CB8AC3E}">
        <p14:creationId xmlns:p14="http://schemas.microsoft.com/office/powerpoint/2010/main" val="124029878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Lst>
  <p:hf hdr="0" ftr="0" dt="0"/>
  <p:txStyles>
    <p:title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p:titleStyle>
    <p:bodyStyle>
      <a:lvl1pPr marL="457200" indent="-457200" algn="l" defTabSz="685800" rtl="0" eaLnBrk="1" latinLnBrk="0" hangingPunct="1">
        <a:lnSpc>
          <a:spcPct val="100000"/>
        </a:lnSpc>
        <a:spcBef>
          <a:spcPts val="750"/>
        </a:spcBef>
        <a:spcAft>
          <a:spcPts val="225"/>
        </a:spcAft>
        <a:buSzPct val="80000"/>
        <a:buFont typeface="Wingdings" panose="05000000000000000000" pitchFamily="2" charset="2"/>
        <a:buChar char="n"/>
        <a:defRPr sz="3200" kern="1200">
          <a:solidFill>
            <a:srgbClr val="2F5597"/>
          </a:solidFill>
          <a:latin typeface="微软雅黑" panose="020B0503020204020204" pitchFamily="34" charset="-122"/>
          <a:ea typeface="微软雅黑" panose="020B0503020204020204" pitchFamily="34" charset="-122"/>
          <a:cs typeface="+mn-cs"/>
        </a:defRPr>
      </a:lvl1pPr>
      <a:lvl2pPr marL="0" indent="-457200" algn="l" defTabSz="685800" rtl="0" eaLnBrk="1" fontAlgn="ctr" latinLnBrk="0" hangingPunct="1">
        <a:lnSpc>
          <a:spcPct val="100000"/>
        </a:lnSpc>
        <a:spcBef>
          <a:spcPts val="375"/>
        </a:spcBef>
        <a:spcAft>
          <a:spcPts val="225"/>
        </a:spcAft>
        <a:buSzPct val="80000"/>
        <a:buFont typeface="Wingdings" panose="05000000000000000000" pitchFamily="2" charset="2"/>
        <a:buChar char="l"/>
        <a:defRPr sz="2800" kern="1200">
          <a:solidFill>
            <a:srgbClr val="2F5597"/>
          </a:solidFill>
          <a:latin typeface="微软雅黑" panose="020B0503020204020204" pitchFamily="34" charset="-122"/>
          <a:ea typeface="微软雅黑" panose="020B0503020204020204" pitchFamily="34" charset="-122"/>
          <a:cs typeface="+mn-cs"/>
        </a:defRPr>
      </a:lvl2pPr>
      <a:lvl3pPr marL="323850" indent="-457200" algn="l" defTabSz="685800" rtl="0" eaLnBrk="1" fontAlgn="ctr" latinLnBrk="0" hangingPunct="1">
        <a:lnSpc>
          <a:spcPct val="100000"/>
        </a:lnSpc>
        <a:spcBef>
          <a:spcPts val="375"/>
        </a:spcBef>
        <a:spcAft>
          <a:spcPts val="225"/>
        </a:spcAft>
        <a:buSzPct val="70000"/>
        <a:buFont typeface="Wingdings" panose="05000000000000000000" pitchFamily="2" charset="2"/>
        <a:buChar char="Ø"/>
        <a:defRPr sz="2400" kern="1200">
          <a:solidFill>
            <a:srgbClr val="2F5597"/>
          </a:solidFill>
          <a:latin typeface="微软雅黑" panose="020B0503020204020204" pitchFamily="34" charset="-122"/>
          <a:ea typeface="微软雅黑" panose="020B0503020204020204" pitchFamily="34" charset="-122"/>
          <a:cs typeface="+mn-cs"/>
        </a:defRPr>
      </a:lvl3pPr>
      <a:lvl4pPr marL="323850" indent="-215900" algn="l" defTabSz="685800" rtl="0" eaLnBrk="1" fontAlgn="ctr" latinLnBrk="0" hangingPunct="1">
        <a:lnSpc>
          <a:spcPct val="100000"/>
        </a:lnSpc>
        <a:spcBef>
          <a:spcPts val="375"/>
        </a:spcBef>
        <a:spcAft>
          <a:spcPts val="225"/>
        </a:spcAft>
        <a:buSzPct val="80000"/>
        <a:buFont typeface="Wingdings" panose="05000000000000000000" pitchFamily="2" charset="2"/>
        <a:buChar char="Ø"/>
        <a:defRPr sz="24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9721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1.xml"/><Relationship Id="rId1" Type="http://schemas.openxmlformats.org/officeDocument/2006/relationships/tags" Target="../tags/tag1.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bin"/><Relationship Id="rId1" Type="http://schemas.openxmlformats.org/officeDocument/2006/relationships/slideLayout" Target="../slideLayouts/slideLayout12.xml"/><Relationship Id="rId5" Type="http://schemas.openxmlformats.org/officeDocument/2006/relationships/image" Target="../media/image30.w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0.wmf"/><Relationship Id="rId3" Type="http://schemas.openxmlformats.org/officeDocument/2006/relationships/image" Target="../media/image31.wmf"/><Relationship Id="rId7" Type="http://schemas.openxmlformats.org/officeDocument/2006/relationships/image" Target="../media/image35.png"/><Relationship Id="rId12" Type="http://schemas.openxmlformats.org/officeDocument/2006/relationships/oleObject" Target="../embeddings/oleObject5.bin"/><Relationship Id="rId2" Type="http://schemas.openxmlformats.org/officeDocument/2006/relationships/oleObject" Target="../embeddings/oleObject3.bin"/><Relationship Id="rId1" Type="http://schemas.openxmlformats.org/officeDocument/2006/relationships/slideLayout" Target="../slideLayouts/slideLayout1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2.wmf"/><Relationship Id="rId15" Type="http://schemas.openxmlformats.org/officeDocument/2006/relationships/image" Target="../media/image41.wmf"/><Relationship Id="rId10" Type="http://schemas.openxmlformats.org/officeDocument/2006/relationships/image" Target="../media/image38.png"/><Relationship Id="rId4" Type="http://schemas.openxmlformats.org/officeDocument/2006/relationships/oleObject" Target="../embeddings/oleObject4.bin"/><Relationship Id="rId9" Type="http://schemas.openxmlformats.org/officeDocument/2006/relationships/image" Target="../media/image37.png"/><Relationship Id="rId14"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14.xml"/><Relationship Id="rId1" Type="http://schemas.openxmlformats.org/officeDocument/2006/relationships/tags" Target="../tags/tag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44.wmf"/><Relationship Id="rId4" Type="http://schemas.openxmlformats.org/officeDocument/2006/relationships/oleObject" Target="../embeddings/oleObject7.bin"/></Relationships>
</file>

<file path=ppt/slides/_rels/slide4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8.wmf"/><Relationship Id="rId3" Type="http://schemas.openxmlformats.org/officeDocument/2006/relationships/oleObject" Target="../embeddings/oleObject8.bin"/><Relationship Id="rId7" Type="http://schemas.openxmlformats.org/officeDocument/2006/relationships/image" Target="../media/image36.png"/><Relationship Id="rId12" Type="http://schemas.openxmlformats.org/officeDocument/2006/relationships/oleObject" Target="../embeddings/oleObject10.bin"/><Relationship Id="rId2" Type="http://schemas.openxmlformats.org/officeDocument/2006/relationships/image" Target="../media/image45.png"/><Relationship Id="rId1" Type="http://schemas.openxmlformats.org/officeDocument/2006/relationships/slideLayout" Target="../slideLayouts/slideLayout12.xml"/><Relationship Id="rId6" Type="http://schemas.openxmlformats.org/officeDocument/2006/relationships/image" Target="../media/image35.png"/><Relationship Id="rId11" Type="http://schemas.openxmlformats.org/officeDocument/2006/relationships/image" Target="../media/image47.wmf"/><Relationship Id="rId5" Type="http://schemas.openxmlformats.org/officeDocument/2006/relationships/image" Target="../media/image34.png"/><Relationship Id="rId10" Type="http://schemas.openxmlformats.org/officeDocument/2006/relationships/oleObject" Target="../embeddings/oleObject9.bin"/><Relationship Id="rId4" Type="http://schemas.openxmlformats.org/officeDocument/2006/relationships/image" Target="../media/image46.wmf"/><Relationship Id="rId9" Type="http://schemas.openxmlformats.org/officeDocument/2006/relationships/image" Target="../media/image38.png"/></Relationships>
</file>

<file path=ppt/slides/_rels/slide4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52.png"/><Relationship Id="rId7" Type="http://schemas.openxmlformats.org/officeDocument/2006/relationships/image" Target="../media/image35.png"/><Relationship Id="rId12" Type="http://schemas.openxmlformats.org/officeDocument/2006/relationships/image" Target="../media/image40.wmf"/><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image" Target="../media/image34.png"/><Relationship Id="rId11" Type="http://schemas.openxmlformats.org/officeDocument/2006/relationships/oleObject" Target="../embeddings/oleObject12.bin"/><Relationship Id="rId5" Type="http://schemas.openxmlformats.org/officeDocument/2006/relationships/image" Target="../media/image53.wmf"/><Relationship Id="rId10" Type="http://schemas.openxmlformats.org/officeDocument/2006/relationships/image" Target="../media/image38.png"/><Relationship Id="rId4" Type="http://schemas.openxmlformats.org/officeDocument/2006/relationships/oleObject" Target="../embeddings/oleObject11.bin"/><Relationship Id="rId9" Type="http://schemas.openxmlformats.org/officeDocument/2006/relationships/image" Target="../media/image37.png"/></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4.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58.png"/><Relationship Id="rId1" Type="http://schemas.openxmlformats.org/officeDocument/2006/relationships/slideLayout" Target="../slideLayouts/slideLayout12.xml"/><Relationship Id="rId4" Type="http://schemas.openxmlformats.org/officeDocument/2006/relationships/image" Target="../media/image71.png"/></Relationships>
</file>

<file path=ppt/slides/_rels/slide5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35.png"/><Relationship Id="rId7" Type="http://schemas.openxmlformats.org/officeDocument/2006/relationships/image" Target="../media/image59.png"/><Relationship Id="rId2" Type="http://schemas.openxmlformats.org/officeDocument/2006/relationships/image" Target="../media/image34.png"/><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74.png"/></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7.png"/><Relationship Id="rId18" Type="http://schemas.openxmlformats.org/officeDocument/2006/relationships/image" Target="../media/image66.emf"/><Relationship Id="rId3" Type="http://schemas.openxmlformats.org/officeDocument/2006/relationships/image" Target="../media/image61.wmf"/><Relationship Id="rId7" Type="http://schemas.openxmlformats.org/officeDocument/2006/relationships/image" Target="../media/image63.wmf"/><Relationship Id="rId12" Type="http://schemas.openxmlformats.org/officeDocument/2006/relationships/image" Target="../media/image36.png"/><Relationship Id="rId17" Type="http://schemas.openxmlformats.org/officeDocument/2006/relationships/oleObject" Target="../embeddings/oleObject18.bin"/><Relationship Id="rId2" Type="http://schemas.openxmlformats.org/officeDocument/2006/relationships/oleObject" Target="../embeddings/oleObject13.bin"/><Relationship Id="rId16" Type="http://schemas.openxmlformats.org/officeDocument/2006/relationships/image" Target="../media/image65.wmf"/><Relationship Id="rId1" Type="http://schemas.openxmlformats.org/officeDocument/2006/relationships/slideLayout" Target="../slideLayouts/slideLayout12.xml"/><Relationship Id="rId6" Type="http://schemas.openxmlformats.org/officeDocument/2006/relationships/oleObject" Target="../embeddings/oleObject15.bin"/><Relationship Id="rId11" Type="http://schemas.openxmlformats.org/officeDocument/2006/relationships/image" Target="../media/image35.png"/><Relationship Id="rId5" Type="http://schemas.openxmlformats.org/officeDocument/2006/relationships/image" Target="../media/image62.wmf"/><Relationship Id="rId15" Type="http://schemas.openxmlformats.org/officeDocument/2006/relationships/oleObject" Target="../embeddings/oleObject17.bin"/><Relationship Id="rId10" Type="http://schemas.openxmlformats.org/officeDocument/2006/relationships/image" Target="../media/image34.png"/><Relationship Id="rId4" Type="http://schemas.openxmlformats.org/officeDocument/2006/relationships/oleObject" Target="../embeddings/oleObject14.bin"/><Relationship Id="rId9" Type="http://schemas.openxmlformats.org/officeDocument/2006/relationships/image" Target="../media/image64.wmf"/><Relationship Id="rId14" Type="http://schemas.openxmlformats.org/officeDocument/2006/relationships/image" Target="../media/image38.png"/></Relationships>
</file>

<file path=ppt/slides/_rels/slide56.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35.png"/><Relationship Id="rId7" Type="http://schemas.openxmlformats.org/officeDocument/2006/relationships/oleObject" Target="../embeddings/oleObject19.bin"/><Relationship Id="rId2" Type="http://schemas.openxmlformats.org/officeDocument/2006/relationships/image" Target="../media/image34.png"/><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68.wmf"/><Relationship Id="rId4" Type="http://schemas.openxmlformats.org/officeDocument/2006/relationships/image" Target="../media/image36.png"/><Relationship Id="rId9" Type="http://schemas.openxmlformats.org/officeDocument/2006/relationships/oleObject" Target="../embeddings/oleObject20.bin"/></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83.pn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5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88.pn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91.pn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92.pn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7.xml.rels><?xml version="1.0" encoding="UTF-8" standalone="yes"?>
<Relationships xmlns="http://schemas.openxmlformats.org/package/2006/relationships"><Relationship Id="rId8" Type="http://schemas.openxmlformats.org/officeDocument/2006/relationships/image" Target="../media/image69.wmf"/><Relationship Id="rId13" Type="http://schemas.openxmlformats.org/officeDocument/2006/relationships/oleObject" Target="../embeddings/oleObject24.bin"/><Relationship Id="rId18" Type="http://schemas.openxmlformats.org/officeDocument/2006/relationships/image" Target="../media/image74.wmf"/><Relationship Id="rId3" Type="http://schemas.openxmlformats.org/officeDocument/2006/relationships/image" Target="../media/image35.png"/><Relationship Id="rId7" Type="http://schemas.openxmlformats.org/officeDocument/2006/relationships/oleObject" Target="../embeddings/oleObject21.bin"/><Relationship Id="rId12" Type="http://schemas.openxmlformats.org/officeDocument/2006/relationships/image" Target="../media/image71.wmf"/><Relationship Id="rId17" Type="http://schemas.openxmlformats.org/officeDocument/2006/relationships/oleObject" Target="../embeddings/oleObject26.bin"/><Relationship Id="rId2" Type="http://schemas.openxmlformats.org/officeDocument/2006/relationships/image" Target="../media/image34.png"/><Relationship Id="rId16" Type="http://schemas.openxmlformats.org/officeDocument/2006/relationships/image" Target="../media/image73.wmf"/><Relationship Id="rId20" Type="http://schemas.openxmlformats.org/officeDocument/2006/relationships/image" Target="../media/image75.wmf"/><Relationship Id="rId1" Type="http://schemas.openxmlformats.org/officeDocument/2006/relationships/slideLayout" Target="../slideLayouts/slideLayout12.xml"/><Relationship Id="rId6" Type="http://schemas.openxmlformats.org/officeDocument/2006/relationships/image" Target="../media/image38.png"/><Relationship Id="rId11" Type="http://schemas.openxmlformats.org/officeDocument/2006/relationships/oleObject" Target="../embeddings/oleObject23.bin"/><Relationship Id="rId5" Type="http://schemas.openxmlformats.org/officeDocument/2006/relationships/image" Target="../media/image37.png"/><Relationship Id="rId15" Type="http://schemas.openxmlformats.org/officeDocument/2006/relationships/oleObject" Target="../embeddings/oleObject25.bin"/><Relationship Id="rId10" Type="http://schemas.openxmlformats.org/officeDocument/2006/relationships/image" Target="../media/image70.wmf"/><Relationship Id="rId19" Type="http://schemas.openxmlformats.org/officeDocument/2006/relationships/oleObject" Target="../embeddings/oleObject27.bin"/><Relationship Id="rId4" Type="http://schemas.openxmlformats.org/officeDocument/2006/relationships/image" Target="../media/image36.png"/><Relationship Id="rId9" Type="http://schemas.openxmlformats.org/officeDocument/2006/relationships/oleObject" Target="../embeddings/oleObject22.bin"/><Relationship Id="rId14" Type="http://schemas.openxmlformats.org/officeDocument/2006/relationships/image" Target="../media/image72.wmf"/></Relationships>
</file>

<file path=ppt/slides/_rels/slide6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67737696-94B0-B69F-91E2-A9C7C1347CF6}"/>
              </a:ext>
            </a:extLst>
          </p:cNvPr>
          <p:cNvSpPr>
            <a:spLocks noGrp="1"/>
          </p:cNvSpPr>
          <p:nvPr>
            <p:ph type="ctrTitle"/>
          </p:nvPr>
        </p:nvSpPr>
        <p:spPr>
          <a:xfrm>
            <a:off x="628650" y="717235"/>
            <a:ext cx="10363200" cy="1746567"/>
          </a:xfrm>
        </p:spPr>
        <p:txBody>
          <a:bodyPr>
            <a:normAutofit/>
          </a:bodyPr>
          <a:lstStyle/>
          <a:p>
            <a:r>
              <a:rPr lang="en-US" altLang="zh-CN" sz="5400" dirty="0"/>
              <a:t>6  </a:t>
            </a:r>
            <a:r>
              <a:rPr lang="en-US" altLang="zh-CN" sz="5400" dirty="0" err="1"/>
              <a:t>统计量</a:t>
            </a:r>
            <a:r>
              <a:rPr lang="zh-CN" altLang="en-US" sz="5400" dirty="0"/>
              <a:t>与</a:t>
            </a:r>
            <a:r>
              <a:rPr lang="en-US" altLang="zh-CN" sz="5400" dirty="0" err="1"/>
              <a:t>抽样分布</a:t>
            </a:r>
            <a:endParaRPr lang="zh-CN" altLang="en-US" sz="5400" dirty="0"/>
          </a:p>
        </p:txBody>
      </p:sp>
      <p:sp>
        <p:nvSpPr>
          <p:cNvPr id="2" name="副标题 6">
            <a:extLst>
              <a:ext uri="{FF2B5EF4-FFF2-40B4-BE49-F238E27FC236}">
                <a16:creationId xmlns:a16="http://schemas.microsoft.com/office/drawing/2014/main" id="{1B525F36-E51F-4E23-8CCC-D8015B12985A}"/>
              </a:ext>
            </a:extLst>
          </p:cNvPr>
          <p:cNvSpPr txBox="1">
            <a:spLocks/>
          </p:cNvSpPr>
          <p:nvPr/>
        </p:nvSpPr>
        <p:spPr>
          <a:xfrm>
            <a:off x="2997200" y="2222502"/>
            <a:ext cx="6515100" cy="3036568"/>
          </a:xfrm>
          <a:prstGeom prst="rect">
            <a:avLst/>
          </a:prstGeom>
        </p:spPr>
        <p:txBody>
          <a:bodyPr vert="horz" lIns="91440" tIns="45720" rIns="91440" bIns="45720" rtlCol="0">
            <a:noAutofit/>
          </a:bodyPr>
          <a:lstStyle>
            <a:lvl1pPr marL="0" indent="0" algn="ctr" defTabSz="685783" rtl="0" eaLnBrk="1" latinLnBrk="0" hangingPunct="1">
              <a:lnSpc>
                <a:spcPct val="100000"/>
              </a:lnSpc>
              <a:spcBef>
                <a:spcPts val="751"/>
              </a:spcBef>
              <a:spcAft>
                <a:spcPts val="225"/>
              </a:spcAft>
              <a:buSzPct val="80000"/>
              <a:buFont typeface="Wingdings" panose="05000000000000000000" pitchFamily="2" charset="2"/>
              <a:buNone/>
              <a:defRPr sz="2800" b="1" kern="1200">
                <a:solidFill>
                  <a:schemeClr val="accent1">
                    <a:lumMod val="75000"/>
                  </a:schemeClr>
                </a:solidFill>
                <a:effectLst/>
                <a:latin typeface="微软雅黑" panose="020B0503020204020204" pitchFamily="34" charset="-122"/>
                <a:ea typeface="微软雅黑" panose="020B0503020204020204" pitchFamily="34" charset="-122"/>
                <a:cs typeface="+mn-cs"/>
              </a:defRPr>
            </a:lvl1pPr>
            <a:lvl2pPr marL="342891" indent="0" algn="ctr" defTabSz="685783" rtl="0" eaLnBrk="1" fontAlgn="ctr" latinLnBrk="0" hangingPunct="1">
              <a:lnSpc>
                <a:spcPct val="100000"/>
              </a:lnSpc>
              <a:spcBef>
                <a:spcPts val="375"/>
              </a:spcBef>
              <a:spcAft>
                <a:spcPts val="225"/>
              </a:spcAft>
              <a:buSzPct val="80000"/>
              <a:buFont typeface="Wingdings" panose="05000000000000000000" pitchFamily="2" charset="2"/>
              <a:buNone/>
              <a:defRPr sz="1500" kern="1200">
                <a:solidFill>
                  <a:srgbClr val="2F5597"/>
                </a:solidFill>
                <a:latin typeface="微软雅黑" panose="020B0503020204020204" pitchFamily="34" charset="-122"/>
                <a:ea typeface="微软雅黑" panose="020B0503020204020204" pitchFamily="34" charset="-122"/>
                <a:cs typeface="+mn-cs"/>
              </a:defRPr>
            </a:lvl2pPr>
            <a:lvl3pPr marL="685783" indent="0" algn="ctr" defTabSz="685783" rtl="0" eaLnBrk="1" fontAlgn="ctr" latinLnBrk="0" hangingPunct="1">
              <a:lnSpc>
                <a:spcPct val="100000"/>
              </a:lnSpc>
              <a:spcBef>
                <a:spcPts val="375"/>
              </a:spcBef>
              <a:spcAft>
                <a:spcPts val="225"/>
              </a:spcAft>
              <a:buSzPct val="70000"/>
              <a:buFont typeface="Wingdings" panose="05000000000000000000" pitchFamily="2" charset="2"/>
              <a:buNone/>
              <a:defRPr sz="1351" kern="1200">
                <a:solidFill>
                  <a:srgbClr val="2F5597"/>
                </a:solidFill>
                <a:latin typeface="微软雅黑" panose="020B0503020204020204" pitchFamily="34" charset="-122"/>
                <a:ea typeface="微软雅黑" panose="020B0503020204020204" pitchFamily="34" charset="-122"/>
                <a:cs typeface="+mn-cs"/>
              </a:defRPr>
            </a:lvl3pPr>
            <a:lvl4pPr marL="1028674" indent="0" algn="ctr" defTabSz="685783" rtl="0" eaLnBrk="1" fontAlgn="ctr" latinLnBrk="0" hangingPunct="1">
              <a:lnSpc>
                <a:spcPct val="100000"/>
              </a:lnSpc>
              <a:spcBef>
                <a:spcPts val="375"/>
              </a:spcBef>
              <a:spcAft>
                <a:spcPts val="225"/>
              </a:spcAft>
              <a:buSzPct val="80000"/>
              <a:buFont typeface="Wingdings" panose="05000000000000000000" pitchFamily="2" charset="2"/>
              <a:buNone/>
              <a:defRPr sz="12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1371566"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微软雅黑" panose="020B0503020204020204" pitchFamily="34" charset="-122"/>
                <a:ea typeface="微软雅黑" panose="020B0503020204020204" pitchFamily="34" charset="-122"/>
                <a:cs typeface="+mn-cs"/>
              </a:defRPr>
            </a:lvl5pPr>
            <a:lvl6pPr marL="1714457"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349"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240"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131"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30000"/>
              </a:lnSpc>
              <a:spcBef>
                <a:spcPts val="600"/>
              </a:spcBef>
              <a:spcAft>
                <a:spcPts val="0"/>
              </a:spcAft>
            </a:pPr>
            <a:r>
              <a:rPr lang="en-US" altLang="zh-CN" sz="4000" dirty="0"/>
              <a:t>6.1 </a:t>
            </a:r>
            <a:r>
              <a:rPr lang="zh-CN" altLang="en-US" sz="4000" dirty="0"/>
              <a:t>总体与样本</a:t>
            </a:r>
          </a:p>
          <a:p>
            <a:pPr algn="l">
              <a:lnSpc>
                <a:spcPct val="130000"/>
              </a:lnSpc>
              <a:spcBef>
                <a:spcPts val="600"/>
              </a:spcBef>
              <a:spcAft>
                <a:spcPts val="0"/>
              </a:spcAft>
            </a:pPr>
            <a:r>
              <a:rPr lang="en-US" altLang="zh-CN" sz="4000" dirty="0"/>
              <a:t>6.2 </a:t>
            </a:r>
            <a:r>
              <a:rPr lang="zh-CN" altLang="en-US" sz="4000" dirty="0"/>
              <a:t>样本统计量及其分布</a:t>
            </a:r>
          </a:p>
          <a:p>
            <a:pPr marL="892175" indent="-892175" algn="l">
              <a:lnSpc>
                <a:spcPct val="130000"/>
              </a:lnSpc>
              <a:spcBef>
                <a:spcPts val="600"/>
              </a:spcBef>
              <a:spcAft>
                <a:spcPts val="0"/>
              </a:spcAft>
            </a:pPr>
            <a:r>
              <a:rPr lang="en-US" altLang="zh-CN" sz="4000" dirty="0"/>
              <a:t>6.3 </a:t>
            </a:r>
            <a:r>
              <a:rPr lang="zh-CN" altLang="en-US" sz="4000" dirty="0"/>
              <a:t>重要的抽样分布及</a:t>
            </a:r>
            <a:endParaRPr lang="en-US" altLang="zh-CN" sz="4000" dirty="0"/>
          </a:p>
          <a:p>
            <a:pPr marL="892175" indent="-892175" algn="l">
              <a:lnSpc>
                <a:spcPct val="130000"/>
              </a:lnSpc>
              <a:spcBef>
                <a:spcPts val="600"/>
              </a:spcBef>
              <a:spcAft>
                <a:spcPts val="0"/>
              </a:spcAft>
            </a:pPr>
            <a:r>
              <a:rPr lang="en-US" altLang="zh-CN" sz="4000" dirty="0"/>
              <a:t>                   </a:t>
            </a:r>
            <a:r>
              <a:rPr lang="zh-CN" altLang="en-US" sz="4000" dirty="0"/>
              <a:t>抽样分布定理</a:t>
            </a:r>
          </a:p>
        </p:txBody>
      </p:sp>
    </p:spTree>
    <p:extLst>
      <p:ext uri="{BB962C8B-B14F-4D97-AF65-F5344CB8AC3E}">
        <p14:creationId xmlns:p14="http://schemas.microsoft.com/office/powerpoint/2010/main" val="2584056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3" name="Rectangle 4"/>
          <p:cNvSpPr/>
          <p:nvPr/>
        </p:nvSpPr>
        <p:spPr>
          <a:xfrm>
            <a:off x="2061972" y="-66548"/>
            <a:ext cx="6936740" cy="1534795"/>
          </a:xfrm>
          <a:prstGeom prst="rect">
            <a:avLst/>
          </a:prstGeom>
          <a:ln w="9525">
            <a:noFill/>
          </a:ln>
        </p:spPr>
        <p:txBody>
          <a:bodyPr vert="horz" wrap="square" lIns="91440" tIns="45720" rIns="91440" bIns="45720" rtlCol="0" anchor="ct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pPr marL="0" marR="0" lvl="0" indent="0" algn="l" defTabSz="685165" rtl="0" eaLnBrk="1" fontAlgn="auto" latinLnBrk="0" hangingPunct="1">
              <a:lnSpc>
                <a:spcPct val="9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chemeClr val="accent1"/>
                </a:solidFill>
                <a:effectLst/>
                <a:uLnTx/>
                <a:uFillTx/>
              </a:rPr>
              <a:t>引例</a:t>
            </a:r>
          </a:p>
        </p:txBody>
      </p:sp>
      <p:sp>
        <p:nvSpPr>
          <p:cNvPr id="38961" name="Text Box 49"/>
          <p:cNvSpPr txBox="1"/>
          <p:nvPr/>
        </p:nvSpPr>
        <p:spPr>
          <a:xfrm>
            <a:off x="810641" y="959612"/>
            <a:ext cx="10485247" cy="580832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719455" algn="just" defTabSz="914400" rtl="0" eaLnBrk="0" fontAlgn="base" latinLnBrk="0" hangingPunct="0">
              <a:lnSpc>
                <a:spcPct val="150000"/>
              </a:lnSpc>
              <a:spcBef>
                <a:spcPct val="0"/>
              </a:spcBef>
              <a:spcAft>
                <a:spcPct val="0"/>
              </a:spcAft>
              <a:buClr>
                <a:srgbClr val="000000"/>
              </a:buClr>
              <a:buSzPct val="75000"/>
              <a:buFont typeface="Wingdings" charset="2"/>
              <a:buNone/>
              <a:tabLst/>
              <a:defRPr/>
            </a:pPr>
            <a:r>
              <a:rPr kumimoji="0" lang="en-US" altLang="zh-CN"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1899</a:t>
            </a:r>
            <a:r>
              <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年，戈塞特（</a:t>
            </a:r>
            <a:r>
              <a:rPr kumimoji="0" lang="en-US" altLang="zh-CN"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1876-1937</a:t>
            </a:r>
            <a:r>
              <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）进入都柏林</a:t>
            </a:r>
            <a:r>
              <a:rPr kumimoji="0" lang="en-US" altLang="zh-CN"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a:t>
            </a:r>
            <a:r>
              <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吉尼斯父子酿酒公司担任酿酒化学技师，主要从事统计和实验工作。他在工作中发现，供酿酒的每批麦子质量相差很大，而同一批麦子中能抽样供试验的麦子又很少，每批样本在不同的温度下做实验，其结果相差很大。这就决定了不同批次和温度的麦子样本是不相同的，不能进行样本合并。这样一来，实际上取得的麦子样本，不可能是大样本，只能是小样本。他在工作中还发现，利用小样本得出的结果，和正态分布有较大的差异，特别是两端尾部的概率，比正态分布明显高。</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38961" name="Text Box 49"/>
          <p:cNvSpPr txBox="1"/>
          <p:nvPr/>
        </p:nvSpPr>
        <p:spPr>
          <a:xfrm>
            <a:off x="1054099" y="946785"/>
            <a:ext cx="9093201" cy="472744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719455" algn="just" defTabSz="914400" rtl="0" eaLnBrk="0" fontAlgn="base" latinLnBrk="0" hangingPunct="0">
              <a:lnSpc>
                <a:spcPct val="130000"/>
              </a:lnSpc>
              <a:spcBef>
                <a:spcPts val="1200"/>
              </a:spcBef>
              <a:spcAft>
                <a:spcPct val="0"/>
              </a:spcAft>
              <a:buClr>
                <a:srgbClr val="000000"/>
              </a:buClr>
              <a:buSzPct val="75000"/>
              <a:buFont typeface="Wingdings" charset="2"/>
              <a:buNone/>
              <a:tabLst/>
              <a:defRPr/>
            </a:pP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1908</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年，戈塞特以“学生（</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Student</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）”为笔名在</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生物计量学</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杂志发表了论文</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平均数的规律误差</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这篇论文开创了小样本统计理论的先河，为研究样本分布理论奠定了重要基础。被统计学家誉为统计推断理论发展史上的里程碑。</a:t>
            </a:r>
          </a:p>
          <a:p>
            <a:pPr marL="0" marR="0" lvl="0" indent="719455" algn="just" defTabSz="914400" rtl="0" eaLnBrk="0" fontAlgn="base" latinLnBrk="0" hangingPunct="0">
              <a:lnSpc>
                <a:spcPct val="130000"/>
              </a:lnSpc>
              <a:spcBef>
                <a:spcPts val="1200"/>
              </a:spcBef>
              <a:spcAft>
                <a:spcPct val="0"/>
              </a:spcAft>
              <a:buClr>
                <a:srgbClr val="000000"/>
              </a:buClr>
              <a:buSzPct val="75000"/>
              <a:buFont typeface="Wingdings" charset="2"/>
              <a:buNone/>
              <a:tabLst/>
              <a:defRPr/>
            </a:pP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那么</a:t>
            </a:r>
            <a:r>
              <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总体和样本是如何联系的？大样本和小样本下究竟有什么差异？什么是</a:t>
            </a:r>
            <a:r>
              <a:rPr kumimoji="0" lang="en-US" altLang="zh-CN"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t</a:t>
            </a:r>
            <a:r>
              <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分布？它和正态分布有什么不同？它有什么作用？是否还有其他类似作用的分布</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p>
        </p:txBody>
      </p:sp>
      <p:sp>
        <p:nvSpPr>
          <p:cNvPr id="5" name="Rectangle 4"/>
          <p:cNvSpPr/>
          <p:nvPr/>
        </p:nvSpPr>
        <p:spPr>
          <a:xfrm>
            <a:off x="1524000" y="-309880"/>
            <a:ext cx="6936740" cy="1534795"/>
          </a:xfrm>
          <a:prstGeom prst="rect">
            <a:avLst/>
          </a:prstGeom>
          <a:ln w="9525">
            <a:noFill/>
          </a:ln>
        </p:spPr>
        <p:txBody>
          <a:bodyPr vert="horz" wrap="square" lIns="91440" tIns="45720" rIns="91440" bIns="45720" rtlCol="0" anchor="ct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pPr marL="0" marR="0" lvl="0" indent="0" algn="l" defTabSz="685165" rtl="0" eaLnBrk="1" fontAlgn="auto" latinLnBrk="0" hangingPunct="1">
              <a:lnSpc>
                <a:spcPct val="9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chemeClr val="accent1"/>
                </a:solidFill>
                <a:effectLst/>
                <a:uLnTx/>
                <a:uFillTx/>
              </a:rPr>
              <a:t>引例（续）</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9648191" y="6311343"/>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46084" name="Rectangle 25"/>
          <p:cNvSpPr/>
          <p:nvPr/>
        </p:nvSpPr>
        <p:spPr bwMode="auto">
          <a:xfrm>
            <a:off x="1243186" y="1129032"/>
            <a:ext cx="1014140" cy="4038423"/>
          </a:xfrm>
          <a:prstGeom prst="rect">
            <a:avLst/>
          </a:prstGeom>
          <a:noFill/>
          <a:ln>
            <a:noFill/>
          </a:ln>
        </p:spPr>
        <p:txBody>
          <a:bodyPr lIns="90488" tIns="44450" rIns="90488" bIns="44450" anchor="ctr" anchorCtr="1"/>
          <a:lstStyle>
            <a:lvl1pPr>
              <a:spcBef>
                <a:spcPct val="20000"/>
              </a:spcBef>
              <a:buClr>
                <a:schemeClr val="accent1"/>
              </a:buClr>
              <a:buFont typeface="Wingdings" charset="2"/>
              <a:buChar char="v"/>
              <a:defRPr sz="2400" b="1">
                <a:solidFill>
                  <a:schemeClr val="tx2"/>
                </a:solidFill>
                <a:latin typeface="Verdana" pitchFamily="34" charset="0"/>
                <a:ea typeface="HY견고딕"/>
              </a:defRPr>
            </a:lvl1pPr>
            <a:lvl2pPr marL="742950" indent="-285750">
              <a:spcBef>
                <a:spcPct val="20000"/>
              </a:spcBef>
              <a:buClr>
                <a:schemeClr val="accent1"/>
              </a:buClr>
              <a:buFont typeface="Wingdings" charset="2"/>
              <a:buChar char="n"/>
              <a:defRPr sz="2000">
                <a:solidFill>
                  <a:schemeClr val="tx2"/>
                </a:solidFill>
                <a:latin typeface="Verdana" pitchFamily="34" charset="0"/>
                <a:ea typeface="HY견고딕"/>
              </a:defRPr>
            </a:lvl2pPr>
            <a:lvl3pPr marL="1143000" indent="-228600">
              <a:spcBef>
                <a:spcPct val="20000"/>
              </a:spcBef>
              <a:buClr>
                <a:schemeClr val="accent1"/>
              </a:buClr>
              <a:buFont typeface="Wingdings" charset="2"/>
              <a:buChar char="n"/>
              <a:defRPr sz="2000">
                <a:solidFill>
                  <a:schemeClr val="tx2"/>
                </a:solidFill>
                <a:latin typeface="Verdana" pitchFamily="34" charset="0"/>
                <a:ea typeface="HY견고딕"/>
              </a:defRPr>
            </a:lvl3pPr>
            <a:lvl4pPr marL="1600200" indent="-228600">
              <a:spcBef>
                <a:spcPct val="20000"/>
              </a:spcBef>
              <a:buClr>
                <a:schemeClr val="accent1"/>
              </a:buClr>
              <a:buFont typeface="Wingdings" charset="2"/>
              <a:buChar char="n"/>
              <a:defRPr sz="2000">
                <a:solidFill>
                  <a:schemeClr val="tx2"/>
                </a:solidFill>
                <a:latin typeface="Verdana" pitchFamily="34" charset="0"/>
                <a:ea typeface="HY견고딕"/>
              </a:defRPr>
            </a:lvl4pPr>
            <a:lvl5pPr marL="2057400" indent="-228600">
              <a:spcBef>
                <a:spcPct val="20000"/>
              </a:spcBef>
              <a:buClr>
                <a:schemeClr val="accent1"/>
              </a:buClr>
              <a:buFont typeface="Wingdings" charset="2"/>
              <a:buChar char="n"/>
              <a:defRPr sz="2000">
                <a:solidFill>
                  <a:schemeClr val="tx2"/>
                </a:solidFill>
                <a:latin typeface="Verdana" pitchFamily="34" charset="0"/>
                <a:ea typeface="HY견고딕"/>
              </a:defRPr>
            </a:lvl5pPr>
            <a:lvl6pPr marL="2514600" indent="-228600" eaLnBrk="0" fontAlgn="base" hangingPunct="0">
              <a:spcBef>
                <a:spcPct val="20000"/>
              </a:spcBef>
              <a:spcAft>
                <a:spcPct val="0"/>
              </a:spcAft>
              <a:buClr>
                <a:schemeClr val="accent1"/>
              </a:buClr>
              <a:buFont typeface="Wingdings" charset="2"/>
              <a:buChar char="n"/>
              <a:defRPr sz="2000">
                <a:solidFill>
                  <a:schemeClr val="tx2"/>
                </a:solidFill>
                <a:latin typeface="Verdana" pitchFamily="34" charset="0"/>
                <a:ea typeface="HY견고딕"/>
              </a:defRPr>
            </a:lvl6pPr>
            <a:lvl7pPr marL="2971800" indent="-228600" eaLnBrk="0" fontAlgn="base" hangingPunct="0">
              <a:spcBef>
                <a:spcPct val="20000"/>
              </a:spcBef>
              <a:spcAft>
                <a:spcPct val="0"/>
              </a:spcAft>
              <a:buClr>
                <a:schemeClr val="accent1"/>
              </a:buClr>
              <a:buFont typeface="Wingdings" charset="2"/>
              <a:buChar char="n"/>
              <a:defRPr sz="2000">
                <a:solidFill>
                  <a:schemeClr val="tx2"/>
                </a:solidFill>
                <a:latin typeface="Verdana" pitchFamily="34" charset="0"/>
                <a:ea typeface="HY견고딕"/>
              </a:defRPr>
            </a:lvl7pPr>
            <a:lvl8pPr marL="3429000" indent="-228600" eaLnBrk="0" fontAlgn="base" hangingPunct="0">
              <a:spcBef>
                <a:spcPct val="20000"/>
              </a:spcBef>
              <a:spcAft>
                <a:spcPct val="0"/>
              </a:spcAft>
              <a:buClr>
                <a:schemeClr val="accent1"/>
              </a:buClr>
              <a:buFont typeface="Wingdings" charset="2"/>
              <a:buChar char="n"/>
              <a:defRPr sz="2000">
                <a:solidFill>
                  <a:schemeClr val="tx2"/>
                </a:solidFill>
                <a:latin typeface="Verdana" pitchFamily="34" charset="0"/>
                <a:ea typeface="HY견고딕"/>
              </a:defRPr>
            </a:lvl8pPr>
            <a:lvl9pPr marL="3886200" indent="-228600" eaLnBrk="0" fontAlgn="base" hangingPunct="0">
              <a:spcBef>
                <a:spcPct val="20000"/>
              </a:spcBef>
              <a:spcAft>
                <a:spcPct val="0"/>
              </a:spcAft>
              <a:buClr>
                <a:schemeClr val="accent1"/>
              </a:buClr>
              <a:buFont typeface="Wingdings" charset="2"/>
              <a:buChar char="n"/>
              <a:defRPr sz="2000">
                <a:solidFill>
                  <a:schemeClr val="tx2"/>
                </a:solidFill>
                <a:latin typeface="Verdana" pitchFamily="34" charset="0"/>
                <a:ea typeface="HY견고딕"/>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000" b="0" i="0" u="none" strike="noStrike" kern="1200" cap="none" spc="0" normalizeH="0" baseline="0" noProof="0" dirty="0">
                <a:ln>
                  <a:noFill/>
                </a:ln>
                <a:solidFill>
                  <a:srgbClr val="00B0F0"/>
                </a:solidFill>
                <a:effectLst/>
                <a:uLnTx/>
                <a:uFillTx/>
                <a:latin typeface="黑体" panose="02010609060101010101" pitchFamily="49" charset="-122"/>
                <a:ea typeface="黑体" panose="02010609060101010101" pitchFamily="49" charset="-122"/>
              </a:rPr>
              <a:t>描述统</a:t>
            </a:r>
            <a:br>
              <a:rPr kumimoji="0" lang="zh-CN" altLang="en-US" sz="4000" b="0" i="0" u="none" strike="noStrike" kern="1200" cap="none" spc="0" normalizeH="0" baseline="0" noProof="0" dirty="0">
                <a:ln>
                  <a:noFill/>
                </a:ln>
                <a:solidFill>
                  <a:srgbClr val="00B0F0"/>
                </a:solidFill>
                <a:effectLst/>
                <a:uLnTx/>
                <a:uFillTx/>
                <a:latin typeface="黑体" panose="02010609060101010101" pitchFamily="49" charset="-122"/>
                <a:ea typeface="黑体" panose="02010609060101010101" pitchFamily="49" charset="-122"/>
              </a:rPr>
            </a:br>
            <a:r>
              <a:rPr kumimoji="0" lang="zh-CN" altLang="en-US" sz="4000" b="0" i="0" u="none" strike="noStrike" kern="1200" cap="none" spc="0" normalizeH="0" baseline="0" noProof="0" dirty="0">
                <a:ln>
                  <a:noFill/>
                </a:ln>
                <a:solidFill>
                  <a:srgbClr val="00B0F0"/>
                </a:solidFill>
                <a:effectLst/>
                <a:uLnTx/>
                <a:uFillTx/>
                <a:latin typeface="黑体" panose="02010609060101010101" pitchFamily="49" charset="-122"/>
                <a:ea typeface="黑体" panose="02010609060101010101" pitchFamily="49" charset="-122"/>
              </a:rPr>
              <a:t>计</a:t>
            </a:r>
            <a:endParaRPr kumimoji="0" lang="zh-CN" altLang="en-US" sz="4400" b="0" i="0" u="none" strike="noStrike" kern="1200" cap="none" spc="0" normalizeH="0" baseline="0" noProof="0" dirty="0">
              <a:ln>
                <a:noFill/>
              </a:ln>
              <a:solidFill>
                <a:srgbClr val="00B0F0"/>
              </a:solidFill>
              <a:effectLst/>
              <a:uLnTx/>
              <a:uFillTx/>
              <a:latin typeface="黑体" panose="02010609060101010101" pitchFamily="49" charset="-122"/>
              <a:ea typeface="黑体" panose="02010609060101010101" pitchFamily="49" charset="-122"/>
            </a:endParaRPr>
          </a:p>
        </p:txBody>
      </p:sp>
      <p:grpSp>
        <p:nvGrpSpPr>
          <p:cNvPr id="12291" name="Group 3"/>
          <p:cNvGrpSpPr/>
          <p:nvPr/>
        </p:nvGrpSpPr>
        <p:grpSpPr>
          <a:xfrm>
            <a:off x="1996671" y="2731879"/>
            <a:ext cx="4095750" cy="3640138"/>
            <a:chOff x="2880" y="1104"/>
            <a:chExt cx="2580" cy="2293"/>
          </a:xfrm>
        </p:grpSpPr>
        <p:grpSp>
          <p:nvGrpSpPr>
            <p:cNvPr id="12293" name="Group 4"/>
            <p:cNvGrpSpPr/>
            <p:nvPr/>
          </p:nvGrpSpPr>
          <p:grpSpPr>
            <a:xfrm>
              <a:off x="2880" y="1104"/>
              <a:ext cx="2352" cy="1938"/>
              <a:chOff x="2880" y="1104"/>
              <a:chExt cx="2352" cy="1938"/>
            </a:xfrm>
          </p:grpSpPr>
          <p:sp>
            <p:nvSpPr>
              <p:cNvPr id="190469" name="Rectangle 5"/>
              <p:cNvSpPr/>
              <p:nvPr/>
            </p:nvSpPr>
            <p:spPr bwMode="auto">
              <a:xfrm>
                <a:off x="2976" y="2544"/>
                <a:ext cx="232" cy="309"/>
              </a:xfrm>
              <a:prstGeom prst="rect">
                <a:avLst/>
              </a:prstGeom>
              <a:noFill/>
              <a:ln>
                <a:noFill/>
              </a:ln>
              <a:effectLst>
                <a:outerShdw dist="35921" dir="2700000" algn="ctr" rotWithShape="0">
                  <a:schemeClr val="bg2"/>
                </a:outerShdw>
              </a:effec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600" b="1" i="0" u="none" strike="noStrike" kern="1200" cap="none" spc="0" normalizeH="0" baseline="0" noProof="0">
                    <a:ln>
                      <a:noFill/>
                    </a:ln>
                    <a:solidFill>
                      <a:prstClr val="black"/>
                    </a:solidFill>
                    <a:effectLst>
                      <a:outerShdw blurRad="38100" dist="38100" dir="2700000" algn="tl">
                        <a:srgbClr val="C0C0C0"/>
                      </a:outerShdw>
                    </a:effectLst>
                    <a:uLnTx/>
                    <a:uFillTx/>
                    <a:latin typeface="Arial" charset="0"/>
                    <a:ea typeface="宋体" charset="-122"/>
                    <a:cs typeface="+mn-cs"/>
                  </a:rPr>
                  <a:t>0</a:t>
                </a:r>
              </a:p>
            </p:txBody>
          </p:sp>
          <p:sp>
            <p:nvSpPr>
              <p:cNvPr id="190470" name="Rectangle 6"/>
              <p:cNvSpPr/>
              <p:nvPr/>
            </p:nvSpPr>
            <p:spPr bwMode="auto">
              <a:xfrm>
                <a:off x="2880" y="2016"/>
                <a:ext cx="349" cy="309"/>
              </a:xfrm>
              <a:prstGeom prst="rect">
                <a:avLst/>
              </a:prstGeom>
              <a:noFill/>
              <a:ln>
                <a:noFill/>
              </a:ln>
              <a:effectLst>
                <a:outerShdw dist="35921" dir="2700000" algn="ctr" rotWithShape="0">
                  <a:schemeClr val="bg2"/>
                </a:outerShdw>
              </a:effec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600" b="1" i="0" u="none" strike="noStrike" kern="1200" cap="none" spc="0" normalizeH="0" baseline="0" noProof="0">
                    <a:ln>
                      <a:noFill/>
                    </a:ln>
                    <a:solidFill>
                      <a:prstClr val="black"/>
                    </a:solidFill>
                    <a:effectLst>
                      <a:outerShdw blurRad="38100" dist="38100" dir="2700000" algn="tl">
                        <a:srgbClr val="C0C0C0"/>
                      </a:outerShdw>
                    </a:effectLst>
                    <a:uLnTx/>
                    <a:uFillTx/>
                    <a:latin typeface="Arial" charset="0"/>
                    <a:ea typeface="宋体" charset="-122"/>
                    <a:cs typeface="+mn-cs"/>
                  </a:rPr>
                  <a:t>25</a:t>
                </a:r>
              </a:p>
            </p:txBody>
          </p:sp>
          <p:sp>
            <p:nvSpPr>
              <p:cNvPr id="190471" name="Rectangle 7"/>
              <p:cNvSpPr/>
              <p:nvPr/>
            </p:nvSpPr>
            <p:spPr bwMode="auto">
              <a:xfrm>
                <a:off x="2880" y="1392"/>
                <a:ext cx="349" cy="309"/>
              </a:xfrm>
              <a:prstGeom prst="rect">
                <a:avLst/>
              </a:prstGeom>
              <a:noFill/>
              <a:ln>
                <a:noFill/>
              </a:ln>
              <a:effectLst>
                <a:outerShdw dist="35921" dir="2700000" algn="ctr" rotWithShape="0">
                  <a:schemeClr val="bg2"/>
                </a:outerShdw>
              </a:effec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600" b="1" i="0" u="none" strike="noStrike" kern="1200" cap="none" spc="0" normalizeH="0" baseline="0" noProof="0">
                    <a:ln>
                      <a:noFill/>
                    </a:ln>
                    <a:solidFill>
                      <a:prstClr val="black"/>
                    </a:solidFill>
                    <a:effectLst>
                      <a:outerShdw blurRad="38100" dist="38100" dir="2700000" algn="tl">
                        <a:srgbClr val="C0C0C0"/>
                      </a:outerShdw>
                    </a:effectLst>
                    <a:uLnTx/>
                    <a:uFillTx/>
                    <a:latin typeface="Arial" charset="0"/>
                    <a:ea typeface="宋体" charset="-122"/>
                    <a:cs typeface="+mn-cs"/>
                  </a:rPr>
                  <a:t>50</a:t>
                </a:r>
              </a:p>
            </p:txBody>
          </p:sp>
          <p:grpSp>
            <p:nvGrpSpPr>
              <p:cNvPr id="12300" name="Group 8"/>
              <p:cNvGrpSpPr/>
              <p:nvPr/>
            </p:nvGrpSpPr>
            <p:grpSpPr>
              <a:xfrm>
                <a:off x="3396" y="2736"/>
                <a:ext cx="1768" cy="306"/>
                <a:chOff x="3492" y="2736"/>
                <a:chExt cx="1902" cy="306"/>
              </a:xfrm>
            </p:grpSpPr>
            <p:sp>
              <p:nvSpPr>
                <p:cNvPr id="190473" name="Rectangle 9"/>
                <p:cNvSpPr/>
                <p:nvPr/>
              </p:nvSpPr>
              <p:spPr bwMode="auto">
                <a:xfrm>
                  <a:off x="3492" y="2736"/>
                  <a:ext cx="422" cy="306"/>
                </a:xfrm>
                <a:prstGeom prst="rect">
                  <a:avLst/>
                </a:prstGeom>
                <a:noFill/>
                <a:ln>
                  <a:noFill/>
                </a:ln>
                <a:effectLst>
                  <a:outerShdw dist="35921" dir="2700000" algn="ctr" rotWithShape="0">
                    <a:schemeClr val="bg2"/>
                  </a:outerShdw>
                </a:effec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600" b="1" i="0" u="none" strike="noStrike" kern="1200" cap="none" spc="0" normalizeH="0" baseline="0" noProof="0">
                      <a:ln>
                        <a:noFill/>
                      </a:ln>
                      <a:solidFill>
                        <a:prstClr val="black"/>
                      </a:solidFill>
                      <a:effectLst>
                        <a:outerShdw blurRad="38100" dist="38100" dir="2700000" algn="tl">
                          <a:srgbClr val="C0C0C0"/>
                        </a:outerShdw>
                      </a:effectLst>
                      <a:uLnTx/>
                      <a:uFillTx/>
                      <a:latin typeface="Arial" charset="0"/>
                      <a:ea typeface="宋体" charset="-122"/>
                      <a:cs typeface="+mn-cs"/>
                    </a:rPr>
                    <a:t>Q1</a:t>
                  </a:r>
                </a:p>
              </p:txBody>
            </p:sp>
            <p:sp>
              <p:nvSpPr>
                <p:cNvPr id="190474" name="Rectangle 10"/>
                <p:cNvSpPr/>
                <p:nvPr/>
              </p:nvSpPr>
              <p:spPr bwMode="auto">
                <a:xfrm>
                  <a:off x="3984" y="2736"/>
                  <a:ext cx="424" cy="306"/>
                </a:xfrm>
                <a:prstGeom prst="rect">
                  <a:avLst/>
                </a:prstGeom>
                <a:noFill/>
                <a:ln>
                  <a:noFill/>
                </a:ln>
                <a:effectLst>
                  <a:outerShdw dist="35921" dir="2700000" algn="ctr" rotWithShape="0">
                    <a:schemeClr val="bg2"/>
                  </a:outerShdw>
                </a:effec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600" b="1" i="0" u="none" strike="noStrike" kern="1200" cap="none" spc="0" normalizeH="0" baseline="0" noProof="0">
                      <a:ln>
                        <a:noFill/>
                      </a:ln>
                      <a:solidFill>
                        <a:prstClr val="black"/>
                      </a:solidFill>
                      <a:effectLst>
                        <a:outerShdw blurRad="38100" dist="38100" dir="2700000" algn="tl">
                          <a:srgbClr val="C0C0C0"/>
                        </a:outerShdw>
                      </a:effectLst>
                      <a:uLnTx/>
                      <a:uFillTx/>
                      <a:latin typeface="Arial" charset="0"/>
                      <a:ea typeface="宋体" charset="-122"/>
                      <a:cs typeface="+mn-cs"/>
                    </a:rPr>
                    <a:t>Q2</a:t>
                  </a:r>
                </a:p>
              </p:txBody>
            </p:sp>
            <p:sp>
              <p:nvSpPr>
                <p:cNvPr id="190475" name="Rectangle 11"/>
                <p:cNvSpPr/>
                <p:nvPr/>
              </p:nvSpPr>
              <p:spPr bwMode="auto">
                <a:xfrm>
                  <a:off x="4480" y="2736"/>
                  <a:ext cx="425" cy="306"/>
                </a:xfrm>
                <a:prstGeom prst="rect">
                  <a:avLst/>
                </a:prstGeom>
                <a:noFill/>
                <a:ln>
                  <a:noFill/>
                </a:ln>
                <a:effectLst>
                  <a:outerShdw dist="35921" dir="2700000" algn="ctr" rotWithShape="0">
                    <a:schemeClr val="bg2"/>
                  </a:outerShdw>
                </a:effec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600" b="1" i="0" u="none" strike="noStrike" kern="1200" cap="none" spc="0" normalizeH="0" baseline="0" noProof="0">
                      <a:ln>
                        <a:noFill/>
                      </a:ln>
                      <a:solidFill>
                        <a:prstClr val="black"/>
                      </a:solidFill>
                      <a:effectLst>
                        <a:outerShdw blurRad="38100" dist="38100" dir="2700000" algn="tl">
                          <a:srgbClr val="C0C0C0"/>
                        </a:outerShdw>
                      </a:effectLst>
                      <a:uLnTx/>
                      <a:uFillTx/>
                      <a:latin typeface="Arial" charset="0"/>
                      <a:ea typeface="宋体" charset="-122"/>
                      <a:cs typeface="+mn-cs"/>
                    </a:rPr>
                    <a:t>Q3</a:t>
                  </a:r>
                </a:p>
              </p:txBody>
            </p:sp>
            <p:sp>
              <p:nvSpPr>
                <p:cNvPr id="190476" name="Rectangle 12"/>
                <p:cNvSpPr/>
                <p:nvPr/>
              </p:nvSpPr>
              <p:spPr bwMode="auto">
                <a:xfrm>
                  <a:off x="4972" y="2736"/>
                  <a:ext cx="422" cy="306"/>
                </a:xfrm>
                <a:prstGeom prst="rect">
                  <a:avLst/>
                </a:prstGeom>
                <a:noFill/>
                <a:ln>
                  <a:noFill/>
                </a:ln>
                <a:effectLst>
                  <a:outerShdw dist="35921" dir="2700000" algn="ctr" rotWithShape="0">
                    <a:schemeClr val="bg2"/>
                  </a:outerShdw>
                </a:effec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600" b="1" i="0" u="none" strike="noStrike" kern="1200" cap="none" spc="0" normalizeH="0" baseline="0" noProof="0">
                      <a:ln>
                        <a:noFill/>
                      </a:ln>
                      <a:solidFill>
                        <a:prstClr val="black"/>
                      </a:solidFill>
                      <a:effectLst>
                        <a:outerShdw blurRad="38100" dist="38100" dir="2700000" algn="tl">
                          <a:srgbClr val="C0C0C0"/>
                        </a:outerShdw>
                      </a:effectLst>
                      <a:uLnTx/>
                      <a:uFillTx/>
                      <a:latin typeface="Arial" charset="0"/>
                      <a:ea typeface="宋体" charset="-122"/>
                      <a:cs typeface="+mn-cs"/>
                    </a:rPr>
                    <a:t>Q4</a:t>
                  </a:r>
                </a:p>
              </p:txBody>
            </p:sp>
          </p:grpSp>
          <p:sp>
            <p:nvSpPr>
              <p:cNvPr id="190477" name="Rectangle 13"/>
              <p:cNvSpPr/>
              <p:nvPr/>
            </p:nvSpPr>
            <p:spPr bwMode="auto">
              <a:xfrm>
                <a:off x="2880" y="1104"/>
                <a:ext cx="350" cy="338"/>
              </a:xfrm>
              <a:prstGeom prst="rect">
                <a:avLst/>
              </a:prstGeom>
              <a:noFill/>
              <a:ln>
                <a:noFill/>
              </a:ln>
              <a:effectLst>
                <a:outerShdw dist="35921" dir="2700000" algn="ctr" rotWithShape="0">
                  <a:schemeClr val="bg2"/>
                </a:outerShdw>
              </a:effectLst>
            </p:spPr>
            <p:txBody>
              <a:bodyPr wrap="none" lIns="90488" tIns="44450" rIns="90488" bIns="4445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900" b="1" i="0" u="none" strike="noStrike" kern="1200" cap="none" spc="0" normalizeH="0" baseline="0" noProof="0">
                    <a:ln>
                      <a:noFill/>
                    </a:ln>
                    <a:solidFill>
                      <a:prstClr val="black"/>
                    </a:solidFill>
                    <a:effectLst>
                      <a:outerShdw blurRad="38100" dist="38100" dir="2700000" algn="tl">
                        <a:srgbClr val="C0C0C0"/>
                      </a:outerShdw>
                    </a:effectLst>
                    <a:uLnTx/>
                    <a:uFillTx/>
                    <a:latin typeface="Arial" charset="0"/>
                    <a:ea typeface="宋体" charset="-122"/>
                    <a:cs typeface="+mn-cs"/>
                  </a:rPr>
                  <a:t>￥</a:t>
                </a:r>
              </a:p>
            </p:txBody>
          </p:sp>
          <p:sp>
            <p:nvSpPr>
              <p:cNvPr id="12302" name="Line 14"/>
              <p:cNvSpPr/>
              <p:nvPr/>
            </p:nvSpPr>
            <p:spPr>
              <a:xfrm>
                <a:off x="3264" y="1248"/>
                <a:ext cx="0" cy="1488"/>
              </a:xfrm>
              <a:prstGeom prst="line">
                <a:avLst/>
              </a:prstGeom>
              <a:ln w="28575" cap="flat" cmpd="sng">
                <a:solidFill>
                  <a:schemeClr val="tx1"/>
                </a:solidFill>
                <a:prstDash val="solid"/>
                <a:headEnd type="triangle" w="med" len="med"/>
                <a:tailEnd type="none" w="med" len="med"/>
              </a:ln>
              <a:effectLst>
                <a:outerShdw dist="35921" dir="2699999" algn="ctr" rotWithShape="0">
                  <a:schemeClr val="bg2"/>
                </a:outerShdw>
              </a:effectLst>
            </p:spPr>
          </p:sp>
          <p:sp>
            <p:nvSpPr>
              <p:cNvPr id="12303" name="Line 15"/>
              <p:cNvSpPr/>
              <p:nvPr/>
            </p:nvSpPr>
            <p:spPr>
              <a:xfrm>
                <a:off x="3216" y="2688"/>
                <a:ext cx="2016" cy="0"/>
              </a:xfrm>
              <a:prstGeom prst="line">
                <a:avLst/>
              </a:prstGeom>
              <a:ln w="28575" cap="flat" cmpd="sng">
                <a:solidFill>
                  <a:schemeClr val="tx1"/>
                </a:solidFill>
                <a:prstDash val="solid"/>
                <a:headEnd type="none" w="med" len="med"/>
                <a:tailEnd type="triangle" w="med" len="med"/>
              </a:ln>
              <a:effectLst>
                <a:outerShdw dist="35921" dir="2699999" algn="ctr" rotWithShape="0">
                  <a:schemeClr val="bg2"/>
                </a:outerShdw>
              </a:effectLst>
            </p:spPr>
          </p:sp>
          <p:sp>
            <p:nvSpPr>
              <p:cNvPr id="12304" name="Rectangle 16"/>
              <p:cNvSpPr/>
              <p:nvPr/>
            </p:nvSpPr>
            <p:spPr>
              <a:xfrm>
                <a:off x="3456" y="2160"/>
                <a:ext cx="288" cy="528"/>
              </a:xfrm>
              <a:prstGeom prst="rect">
                <a:avLst/>
              </a:prstGeom>
              <a:solidFill>
                <a:srgbClr val="FF9966"/>
              </a:solidFill>
              <a:ln w="12700" cap="flat" cmpd="sng">
                <a:solidFill>
                  <a:schemeClr val="tx1"/>
                </a:solidFill>
                <a:prstDash val="solid"/>
                <a:miter/>
                <a:headEnd type="none" w="med" len="med"/>
                <a:tailEnd type="none" w="med" len="med"/>
              </a:ln>
              <a:effectLst>
                <a:outerShdw dist="74053" dir="19742174" algn="ctr" rotWithShape="0">
                  <a:schemeClr val="bg2"/>
                </a:outerShdw>
              </a:effectLst>
            </p:spPr>
            <p:txBody>
              <a:bodyPr wrap="none" anchor="ct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0" algn="l" defTabSz="914400" rtl="0" eaLnBrk="0" fontAlgn="base" latinLnBrk="0" hangingPunct="0">
                  <a:lnSpc>
                    <a:spcPct val="100000"/>
                  </a:lnSpc>
                  <a:spcBef>
                    <a:spcPct val="0"/>
                  </a:spcBef>
                  <a:spcAft>
                    <a:spcPct val="0"/>
                  </a:spcAft>
                  <a:buClr>
                    <a:srgbClr val="000000"/>
                  </a:buClr>
                  <a:buSzPct val="75000"/>
                  <a:buFont typeface="Wingdings" charset="2"/>
                  <a:buNone/>
                  <a:tabLst/>
                  <a:defRPr/>
                </a:pPr>
                <a:endParaRPr kumimoji="0" lang="zh-CN" altLang="en-US" sz="2400" b="0" i="0" u="none" strike="noStrike" kern="1200" cap="none" spc="0" normalizeH="0" baseline="0" noProof="0" dirty="0">
                  <a:ln>
                    <a:noFill/>
                  </a:ln>
                  <a:solidFill>
                    <a:prstClr val="black"/>
                  </a:solidFill>
                  <a:effectLst/>
                  <a:uLnTx/>
                  <a:uFillTx/>
                  <a:latin typeface="等线"/>
                  <a:ea typeface="HY견고딕"/>
                  <a:cs typeface="+mn-cs"/>
                </a:endParaRPr>
              </a:p>
            </p:txBody>
          </p:sp>
          <p:sp>
            <p:nvSpPr>
              <p:cNvPr id="12305" name="Rectangle 17"/>
              <p:cNvSpPr/>
              <p:nvPr/>
            </p:nvSpPr>
            <p:spPr>
              <a:xfrm>
                <a:off x="3888" y="1920"/>
                <a:ext cx="288" cy="768"/>
              </a:xfrm>
              <a:prstGeom prst="rect">
                <a:avLst/>
              </a:prstGeom>
              <a:solidFill>
                <a:srgbClr val="FF9966"/>
              </a:solidFill>
              <a:ln w="12700" cap="flat" cmpd="sng">
                <a:solidFill>
                  <a:schemeClr val="tx1"/>
                </a:solidFill>
                <a:prstDash val="solid"/>
                <a:miter/>
                <a:headEnd type="none" w="med" len="med"/>
                <a:tailEnd type="none" w="med" len="med"/>
              </a:ln>
              <a:effectLst>
                <a:outerShdw dist="74053" dir="19742174" algn="ctr" rotWithShape="0">
                  <a:schemeClr val="bg2"/>
                </a:outerShdw>
              </a:effectLst>
            </p:spPr>
            <p:txBody>
              <a:bodyPr wrap="none" anchor="ct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0" algn="l" defTabSz="914400" rtl="0" eaLnBrk="0" fontAlgn="base" latinLnBrk="0" hangingPunct="0">
                  <a:lnSpc>
                    <a:spcPct val="100000"/>
                  </a:lnSpc>
                  <a:spcBef>
                    <a:spcPct val="0"/>
                  </a:spcBef>
                  <a:spcAft>
                    <a:spcPct val="0"/>
                  </a:spcAft>
                  <a:buClr>
                    <a:srgbClr val="000000"/>
                  </a:buClr>
                  <a:buSzPct val="75000"/>
                  <a:buFont typeface="Wingdings" charset="2"/>
                  <a:buNone/>
                  <a:tabLst/>
                  <a:defRPr/>
                </a:pPr>
                <a:endParaRPr kumimoji="0" lang="zh-CN" altLang="en-US" sz="2400" b="0" i="0" u="none" strike="noStrike" kern="1200" cap="none" spc="0" normalizeH="0" baseline="0" noProof="0" dirty="0">
                  <a:ln>
                    <a:noFill/>
                  </a:ln>
                  <a:solidFill>
                    <a:prstClr val="black"/>
                  </a:solidFill>
                  <a:effectLst/>
                  <a:uLnTx/>
                  <a:uFillTx/>
                  <a:latin typeface="等线"/>
                  <a:ea typeface="HY견고딕"/>
                  <a:cs typeface="+mn-cs"/>
                </a:endParaRPr>
              </a:p>
            </p:txBody>
          </p:sp>
          <p:sp>
            <p:nvSpPr>
              <p:cNvPr id="12306" name="Rectangle 18"/>
              <p:cNvSpPr/>
              <p:nvPr/>
            </p:nvSpPr>
            <p:spPr>
              <a:xfrm>
                <a:off x="4320" y="1536"/>
                <a:ext cx="288" cy="1152"/>
              </a:xfrm>
              <a:prstGeom prst="rect">
                <a:avLst/>
              </a:prstGeom>
              <a:solidFill>
                <a:srgbClr val="FF9966"/>
              </a:solidFill>
              <a:ln w="12700" cap="flat" cmpd="sng">
                <a:solidFill>
                  <a:schemeClr val="tx1"/>
                </a:solidFill>
                <a:prstDash val="solid"/>
                <a:miter/>
                <a:headEnd type="none" w="med" len="med"/>
                <a:tailEnd type="none" w="med" len="med"/>
              </a:ln>
              <a:effectLst>
                <a:outerShdw dist="74053" dir="19742174" algn="ctr" rotWithShape="0">
                  <a:schemeClr val="bg2"/>
                </a:outerShdw>
              </a:effectLst>
            </p:spPr>
            <p:txBody>
              <a:bodyPr wrap="none" anchor="ct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0" algn="l" defTabSz="914400" rtl="0" eaLnBrk="0" fontAlgn="base" latinLnBrk="0" hangingPunct="0">
                  <a:lnSpc>
                    <a:spcPct val="100000"/>
                  </a:lnSpc>
                  <a:spcBef>
                    <a:spcPct val="0"/>
                  </a:spcBef>
                  <a:spcAft>
                    <a:spcPct val="0"/>
                  </a:spcAft>
                  <a:buClr>
                    <a:srgbClr val="000000"/>
                  </a:buClr>
                  <a:buSzPct val="75000"/>
                  <a:buFont typeface="Wingdings" charset="2"/>
                  <a:buNone/>
                  <a:tabLst/>
                  <a:defRPr/>
                </a:pPr>
                <a:endParaRPr kumimoji="0" lang="zh-CN" altLang="en-US" sz="2400" b="0" i="0" u="none" strike="noStrike" kern="1200" cap="none" spc="0" normalizeH="0" baseline="0" noProof="0" dirty="0">
                  <a:ln>
                    <a:noFill/>
                  </a:ln>
                  <a:solidFill>
                    <a:prstClr val="black"/>
                  </a:solidFill>
                  <a:effectLst/>
                  <a:uLnTx/>
                  <a:uFillTx/>
                  <a:latin typeface="等线"/>
                  <a:ea typeface="HY견고딕"/>
                  <a:cs typeface="+mn-cs"/>
                </a:endParaRPr>
              </a:p>
            </p:txBody>
          </p:sp>
          <p:sp>
            <p:nvSpPr>
              <p:cNvPr id="12307" name="Rectangle 19"/>
              <p:cNvSpPr/>
              <p:nvPr/>
            </p:nvSpPr>
            <p:spPr>
              <a:xfrm>
                <a:off x="4752" y="2208"/>
                <a:ext cx="288" cy="480"/>
              </a:xfrm>
              <a:prstGeom prst="rect">
                <a:avLst/>
              </a:prstGeom>
              <a:solidFill>
                <a:srgbClr val="FF9966"/>
              </a:solidFill>
              <a:ln w="12700" cap="flat" cmpd="sng">
                <a:solidFill>
                  <a:schemeClr val="tx1"/>
                </a:solidFill>
                <a:prstDash val="solid"/>
                <a:miter/>
                <a:headEnd type="none" w="med" len="med"/>
                <a:tailEnd type="none" w="med" len="med"/>
              </a:ln>
              <a:effectLst>
                <a:outerShdw dist="74053" dir="19742174" algn="ctr" rotWithShape="0">
                  <a:schemeClr val="bg2"/>
                </a:outerShdw>
              </a:effectLst>
            </p:spPr>
            <p:txBody>
              <a:bodyPr wrap="none" anchor="ct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0" algn="l" defTabSz="914400" rtl="0" eaLnBrk="0" fontAlgn="base" latinLnBrk="0" hangingPunct="0">
                  <a:lnSpc>
                    <a:spcPct val="100000"/>
                  </a:lnSpc>
                  <a:spcBef>
                    <a:spcPct val="0"/>
                  </a:spcBef>
                  <a:spcAft>
                    <a:spcPct val="0"/>
                  </a:spcAft>
                  <a:buClr>
                    <a:srgbClr val="000000"/>
                  </a:buClr>
                  <a:buSzPct val="75000"/>
                  <a:buFont typeface="Wingdings" charset="2"/>
                  <a:buNone/>
                  <a:tabLst/>
                  <a:defRPr/>
                </a:pPr>
                <a:endParaRPr kumimoji="0" lang="zh-CN" altLang="en-US" sz="2400" b="0" i="0" u="none" strike="noStrike" kern="1200" cap="none" spc="0" normalizeH="0" baseline="0" noProof="0" dirty="0">
                  <a:ln>
                    <a:noFill/>
                  </a:ln>
                  <a:solidFill>
                    <a:prstClr val="black"/>
                  </a:solidFill>
                  <a:effectLst/>
                  <a:uLnTx/>
                  <a:uFillTx/>
                  <a:latin typeface="等线"/>
                  <a:ea typeface="HY견고딕"/>
                  <a:cs typeface="+mn-cs"/>
                </a:endParaRPr>
              </a:p>
            </p:txBody>
          </p:sp>
          <p:sp>
            <p:nvSpPr>
              <p:cNvPr id="12308" name="Line 20"/>
              <p:cNvSpPr/>
              <p:nvPr/>
            </p:nvSpPr>
            <p:spPr>
              <a:xfrm>
                <a:off x="3216" y="2160"/>
                <a:ext cx="48" cy="0"/>
              </a:xfrm>
              <a:prstGeom prst="line">
                <a:avLst/>
              </a:prstGeom>
              <a:ln w="12700" cap="flat" cmpd="sng">
                <a:solidFill>
                  <a:schemeClr val="tx1"/>
                </a:solidFill>
                <a:prstDash val="solid"/>
                <a:headEnd type="none" w="med" len="med"/>
                <a:tailEnd type="none" w="med" len="med"/>
              </a:ln>
            </p:spPr>
          </p:sp>
          <p:sp>
            <p:nvSpPr>
              <p:cNvPr id="12309" name="Line 21"/>
              <p:cNvSpPr/>
              <p:nvPr/>
            </p:nvSpPr>
            <p:spPr>
              <a:xfrm>
                <a:off x="3216" y="1536"/>
                <a:ext cx="48" cy="0"/>
              </a:xfrm>
              <a:prstGeom prst="line">
                <a:avLst/>
              </a:prstGeom>
              <a:ln w="12700" cap="flat" cmpd="sng">
                <a:solidFill>
                  <a:schemeClr val="tx1"/>
                </a:solidFill>
                <a:prstDash val="solid"/>
                <a:headEnd type="none" w="med" len="med"/>
                <a:tailEnd type="none" w="med" len="med"/>
              </a:ln>
            </p:spPr>
          </p:sp>
        </p:grpSp>
        <p:grpSp>
          <p:nvGrpSpPr>
            <p:cNvPr id="12294" name="Group 22"/>
            <p:cNvGrpSpPr/>
            <p:nvPr/>
          </p:nvGrpSpPr>
          <p:grpSpPr>
            <a:xfrm>
              <a:off x="2928" y="3072"/>
              <a:ext cx="2532" cy="325"/>
              <a:chOff x="2928" y="3072"/>
              <a:chExt cx="2532" cy="325"/>
            </a:xfrm>
          </p:grpSpPr>
          <p:sp>
            <p:nvSpPr>
              <p:cNvPr id="190487" name="Rectangle 23"/>
              <p:cNvSpPr/>
              <p:nvPr/>
            </p:nvSpPr>
            <p:spPr bwMode="auto">
              <a:xfrm>
                <a:off x="2928" y="3072"/>
                <a:ext cx="2532" cy="325"/>
              </a:xfrm>
              <a:prstGeom prst="rect">
                <a:avLst/>
              </a:prstGeom>
              <a:noFill/>
              <a:ln>
                <a:noFill/>
              </a:ln>
              <a:effectLst>
                <a:outerShdw dist="35921" dir="2700000" algn="ctr" rotWithShape="0">
                  <a:schemeClr val="bg2"/>
                </a:outerShdw>
              </a:effectLst>
            </p:spPr>
            <p:txBody>
              <a:bodyPr lIns="90488" tIns="44450" rIns="90488" bIns="44450">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宋体" charset="-122"/>
                    <a:cs typeface="+mn-cs"/>
                  </a:rPr>
                  <a:t>x= 30   </a:t>
                </a:r>
                <a:r>
                  <a:rPr kumimoji="1" lang="en-US" altLang="zh-CN" sz="2800" b="1" i="1" u="none" strike="noStrike" kern="1200" cap="none" spc="0" normalizeH="0" baseline="0" noProof="0" dirty="0">
                    <a:ln>
                      <a:noFill/>
                    </a:ln>
                    <a:solidFill>
                      <a:prstClr val="black"/>
                    </a:solidFill>
                    <a:effectLst>
                      <a:outerShdw blurRad="38100" dist="38100" dir="2700000" algn="tl">
                        <a:srgbClr val="C0C0C0"/>
                      </a:outerShdw>
                    </a:effectLst>
                    <a:uLnTx/>
                    <a:uFillTx/>
                    <a:latin typeface="Times New Roman" pitchFamily="18" charset="0"/>
                    <a:ea typeface="宋体" charset="-122"/>
                    <a:cs typeface="+mn-cs"/>
                  </a:rPr>
                  <a:t>s</a:t>
                </a:r>
                <a:r>
                  <a:rPr kumimoji="1" lang="en-US" altLang="zh-CN" sz="2000" b="1" i="0" u="none" strike="noStrike" kern="1200" cap="none" spc="0" normalizeH="0" baseline="30000" noProof="0" dirty="0">
                    <a:ln>
                      <a:noFill/>
                    </a:ln>
                    <a:solidFill>
                      <a:prstClr val="black"/>
                    </a:solidFill>
                    <a:effectLst>
                      <a:outerShdw blurRad="38100" dist="38100" dir="2700000" algn="tl">
                        <a:srgbClr val="C0C0C0"/>
                      </a:outerShdw>
                    </a:effectLst>
                    <a:uLnTx/>
                    <a:uFillTx/>
                    <a:latin typeface="Arial" charset="0"/>
                    <a:ea typeface="宋体" charset="-122"/>
                    <a:cs typeface="+mn-cs"/>
                  </a:rPr>
                  <a:t>2</a:t>
                </a:r>
                <a:r>
                  <a:rPr kumimoji="1" lang="en-US" altLang="zh-CN" sz="2800" b="1"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宋体" charset="-122"/>
                    <a:cs typeface="+mn-cs"/>
                  </a:rPr>
                  <a:t> = 105</a:t>
                </a:r>
              </a:p>
            </p:txBody>
          </p:sp>
          <p:sp>
            <p:nvSpPr>
              <p:cNvPr id="12296" name="Line 24"/>
              <p:cNvSpPr/>
              <p:nvPr/>
            </p:nvSpPr>
            <p:spPr>
              <a:xfrm>
                <a:off x="3408" y="3168"/>
                <a:ext cx="96" cy="0"/>
              </a:xfrm>
              <a:prstGeom prst="line">
                <a:avLst/>
              </a:prstGeom>
              <a:ln w="19050" cap="flat" cmpd="sng">
                <a:solidFill>
                  <a:srgbClr val="F0F0F0"/>
                </a:solidFill>
                <a:prstDash val="solid"/>
                <a:headEnd type="none" w="med" len="med"/>
                <a:tailEnd type="none" w="med" len="med"/>
              </a:ln>
            </p:spPr>
          </p:sp>
        </p:grpSp>
      </p:grpSp>
      <p:sp>
        <p:nvSpPr>
          <p:cNvPr id="3" name="文本框 2"/>
          <p:cNvSpPr txBox="1"/>
          <p:nvPr/>
        </p:nvSpPr>
        <p:spPr>
          <a:xfrm>
            <a:off x="1298448" y="402789"/>
            <a:ext cx="10389108" cy="646331"/>
          </a:xfrm>
          <a:prstGeom prst="rect">
            <a:avLst/>
          </a:prstGeom>
          <a:noFill/>
        </p:spPr>
        <p:txBody>
          <a:bodyPr wrap="square" rtlCol="0">
            <a:spAutoFit/>
          </a:bodyPr>
          <a:lstStyle/>
          <a:p>
            <a:r>
              <a:rPr kumimoji="1" lang="zh-CN" altLang="en-US" sz="3600" b="1" dirty="0">
                <a:solidFill>
                  <a:srgbClr val="0070C0"/>
                </a:solidFill>
              </a:rPr>
              <a:t>统计量与抽样分布是描述统计和推断统计的桥梁</a:t>
            </a:r>
          </a:p>
        </p:txBody>
      </p:sp>
      <p:sp>
        <p:nvSpPr>
          <p:cNvPr id="29" name="Rectangle 2"/>
          <p:cNvSpPr txBox="1">
            <a:spLocks/>
          </p:cNvSpPr>
          <p:nvPr/>
        </p:nvSpPr>
        <p:spPr>
          <a:xfrm>
            <a:off x="6554215" y="1426464"/>
            <a:ext cx="1143000" cy="3328416"/>
          </a:xfrm>
          <a:ln w="9525">
            <a:noFill/>
          </a:ln>
        </p:spPr>
        <p:txBody>
          <a:bodyPr vert="horz" wrap="square" lIns="90488" tIns="44450" rIns="90488" bIns="44450" anchor="ctr" anchorCtr="1"/>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pPr algn="ctr" defTabSz="914400" fontAlgn="base">
              <a:lnSpc>
                <a:spcPct val="100000"/>
              </a:lnSpc>
              <a:spcAft>
                <a:spcPct val="0"/>
              </a:spcAft>
              <a:defRPr/>
            </a:pPr>
            <a:r>
              <a:rPr lang="zh-CN" altLang="en-US" sz="4000" dirty="0">
                <a:solidFill>
                  <a:srgbClr val="00B0F0"/>
                </a:solidFill>
                <a:effectLst/>
                <a:latin typeface="黑体" panose="02010609060101010101" pitchFamily="49" charset="-122"/>
                <a:ea typeface="黑体" panose="02010609060101010101" pitchFamily="49" charset="-122"/>
                <a:cs typeface="+mn-cs"/>
              </a:rPr>
              <a:t>推</a:t>
            </a:r>
            <a:br>
              <a:rPr lang="zh-CN" altLang="en-US" sz="4000" dirty="0">
                <a:solidFill>
                  <a:srgbClr val="00B0F0"/>
                </a:solidFill>
                <a:effectLst/>
                <a:latin typeface="黑体" panose="02010609060101010101" pitchFamily="49" charset="-122"/>
                <a:ea typeface="黑体" panose="02010609060101010101" pitchFamily="49" charset="-122"/>
                <a:cs typeface="+mn-cs"/>
              </a:rPr>
            </a:br>
            <a:r>
              <a:rPr lang="zh-CN" altLang="en-US" sz="4000" dirty="0">
                <a:solidFill>
                  <a:srgbClr val="00B0F0"/>
                </a:solidFill>
                <a:effectLst/>
                <a:latin typeface="黑体" panose="02010609060101010101" pitchFamily="49" charset="-122"/>
                <a:ea typeface="黑体" panose="02010609060101010101" pitchFamily="49" charset="-122"/>
                <a:cs typeface="+mn-cs"/>
              </a:rPr>
              <a:t>断</a:t>
            </a:r>
            <a:br>
              <a:rPr lang="zh-CN" altLang="en-US" sz="4000" dirty="0">
                <a:solidFill>
                  <a:srgbClr val="00B0F0"/>
                </a:solidFill>
                <a:effectLst/>
                <a:latin typeface="黑体" panose="02010609060101010101" pitchFamily="49" charset="-122"/>
                <a:ea typeface="黑体" panose="02010609060101010101" pitchFamily="49" charset="-122"/>
                <a:cs typeface="+mn-cs"/>
              </a:rPr>
            </a:br>
            <a:r>
              <a:rPr lang="zh-CN" altLang="en-US" sz="4000" dirty="0">
                <a:solidFill>
                  <a:srgbClr val="00B0F0"/>
                </a:solidFill>
                <a:effectLst/>
                <a:latin typeface="黑体" panose="02010609060101010101" pitchFamily="49" charset="-122"/>
                <a:ea typeface="黑体" panose="02010609060101010101" pitchFamily="49" charset="-122"/>
                <a:cs typeface="+mn-cs"/>
              </a:rPr>
              <a:t>统</a:t>
            </a:r>
            <a:br>
              <a:rPr lang="zh-CN" altLang="en-US" sz="4000" dirty="0">
                <a:solidFill>
                  <a:srgbClr val="00B0F0"/>
                </a:solidFill>
                <a:effectLst/>
                <a:latin typeface="黑体" panose="02010609060101010101" pitchFamily="49" charset="-122"/>
                <a:ea typeface="黑体" panose="02010609060101010101" pitchFamily="49" charset="-122"/>
                <a:cs typeface="+mn-cs"/>
              </a:rPr>
            </a:br>
            <a:r>
              <a:rPr lang="zh-CN" altLang="en-US" sz="4000" dirty="0">
                <a:solidFill>
                  <a:srgbClr val="00B0F0"/>
                </a:solidFill>
                <a:effectLst/>
                <a:latin typeface="黑体" panose="02010609060101010101" pitchFamily="49" charset="-122"/>
                <a:ea typeface="黑体" panose="02010609060101010101" pitchFamily="49" charset="-122"/>
                <a:cs typeface="+mn-cs"/>
              </a:rPr>
              <a:t>计</a:t>
            </a:r>
          </a:p>
        </p:txBody>
      </p:sp>
      <p:grpSp>
        <p:nvGrpSpPr>
          <p:cNvPr id="30" name="Group 28"/>
          <p:cNvGrpSpPr/>
          <p:nvPr/>
        </p:nvGrpSpPr>
        <p:grpSpPr>
          <a:xfrm>
            <a:off x="7301758" y="1384932"/>
            <a:ext cx="2209801" cy="2248019"/>
            <a:chOff x="2112" y="899"/>
            <a:chExt cx="2448" cy="1789"/>
          </a:xfrm>
        </p:grpSpPr>
        <p:grpSp>
          <p:nvGrpSpPr>
            <p:cNvPr id="31" name="Group 29"/>
            <p:cNvGrpSpPr/>
            <p:nvPr/>
          </p:nvGrpSpPr>
          <p:grpSpPr>
            <a:xfrm>
              <a:off x="2246" y="1438"/>
              <a:ext cx="2162" cy="1186"/>
              <a:chOff x="2430" y="1923"/>
              <a:chExt cx="2415" cy="1436"/>
            </a:xfrm>
          </p:grpSpPr>
          <p:grpSp>
            <p:nvGrpSpPr>
              <p:cNvPr id="34" name="Group 30"/>
              <p:cNvGrpSpPr/>
              <p:nvPr/>
            </p:nvGrpSpPr>
            <p:grpSpPr>
              <a:xfrm>
                <a:off x="2580" y="1923"/>
                <a:ext cx="1976" cy="327"/>
                <a:chOff x="2580" y="1923"/>
                <a:chExt cx="1976" cy="327"/>
              </a:xfrm>
            </p:grpSpPr>
            <p:sp>
              <p:nvSpPr>
                <p:cNvPr id="59" name="Freeform 31"/>
                <p:cNvSpPr/>
                <p:nvPr/>
              </p:nvSpPr>
              <p:spPr>
                <a:xfrm>
                  <a:off x="2758" y="1992"/>
                  <a:ext cx="38" cy="209"/>
                </a:xfrm>
                <a:custGeom>
                  <a:avLst/>
                  <a:gdLst/>
                  <a:ahLst/>
                  <a:cxnLst>
                    <a:cxn ang="0">
                      <a:pos x="24" y="2"/>
                    </a:cxn>
                    <a:cxn ang="0">
                      <a:pos x="16" y="0"/>
                    </a:cxn>
                    <a:cxn ang="0">
                      <a:pos x="8" y="0"/>
                    </a:cxn>
                    <a:cxn ang="0">
                      <a:pos x="2" y="1"/>
                    </a:cxn>
                    <a:cxn ang="0">
                      <a:pos x="1" y="9"/>
                    </a:cxn>
                    <a:cxn ang="0">
                      <a:pos x="1" y="14"/>
                    </a:cxn>
                    <a:cxn ang="0">
                      <a:pos x="4" y="22"/>
                    </a:cxn>
                    <a:cxn ang="0">
                      <a:pos x="7" y="22"/>
                    </a:cxn>
                    <a:cxn ang="0">
                      <a:pos x="2" y="31"/>
                    </a:cxn>
                    <a:cxn ang="0">
                      <a:pos x="0" y="44"/>
                    </a:cxn>
                    <a:cxn ang="0">
                      <a:pos x="0" y="57"/>
                    </a:cxn>
                    <a:cxn ang="0">
                      <a:pos x="1" y="72"/>
                    </a:cxn>
                    <a:cxn ang="0">
                      <a:pos x="2" y="87"/>
                    </a:cxn>
                    <a:cxn ang="0">
                      <a:pos x="7" y="88"/>
                    </a:cxn>
                    <a:cxn ang="0">
                      <a:pos x="7" y="92"/>
                    </a:cxn>
                    <a:cxn ang="0">
                      <a:pos x="10" y="94"/>
                    </a:cxn>
                    <a:cxn ang="0">
                      <a:pos x="10" y="105"/>
                    </a:cxn>
                    <a:cxn ang="0">
                      <a:pos x="12" y="105"/>
                    </a:cxn>
                    <a:cxn ang="0">
                      <a:pos x="12" y="134"/>
                    </a:cxn>
                    <a:cxn ang="0">
                      <a:pos x="12" y="151"/>
                    </a:cxn>
                    <a:cxn ang="0">
                      <a:pos x="8" y="171"/>
                    </a:cxn>
                    <a:cxn ang="0">
                      <a:pos x="7" y="197"/>
                    </a:cxn>
                    <a:cxn ang="0">
                      <a:pos x="11" y="199"/>
                    </a:cxn>
                    <a:cxn ang="0">
                      <a:pos x="11" y="202"/>
                    </a:cxn>
                    <a:cxn ang="0">
                      <a:pos x="17" y="202"/>
                    </a:cxn>
                    <a:cxn ang="0">
                      <a:pos x="18" y="201"/>
                    </a:cxn>
                    <a:cxn ang="0">
                      <a:pos x="21" y="201"/>
                    </a:cxn>
                    <a:cxn ang="0">
                      <a:pos x="21" y="202"/>
                    </a:cxn>
                    <a:cxn ang="0">
                      <a:pos x="25" y="202"/>
                    </a:cxn>
                    <a:cxn ang="0">
                      <a:pos x="35" y="201"/>
                    </a:cxn>
                    <a:cxn ang="0">
                      <a:pos x="35" y="199"/>
                    </a:cxn>
                    <a:cxn ang="0">
                      <a:pos x="26" y="195"/>
                    </a:cxn>
                    <a:cxn ang="0">
                      <a:pos x="26" y="191"/>
                    </a:cxn>
                    <a:cxn ang="0">
                      <a:pos x="35" y="189"/>
                    </a:cxn>
                    <a:cxn ang="0">
                      <a:pos x="35" y="187"/>
                    </a:cxn>
                    <a:cxn ang="0">
                      <a:pos x="29" y="183"/>
                    </a:cxn>
                    <a:cxn ang="0">
                      <a:pos x="29" y="154"/>
                    </a:cxn>
                    <a:cxn ang="0">
                      <a:pos x="30" y="128"/>
                    </a:cxn>
                    <a:cxn ang="0">
                      <a:pos x="30" y="105"/>
                    </a:cxn>
                    <a:cxn ang="0">
                      <a:pos x="30" y="94"/>
                    </a:cxn>
                    <a:cxn ang="0">
                      <a:pos x="30" y="90"/>
                    </a:cxn>
                    <a:cxn ang="0">
                      <a:pos x="30" y="69"/>
                    </a:cxn>
                    <a:cxn ang="0">
                      <a:pos x="37" y="64"/>
                    </a:cxn>
                    <a:cxn ang="0">
                      <a:pos x="37" y="62"/>
                    </a:cxn>
                    <a:cxn ang="0">
                      <a:pos x="23" y="33"/>
                    </a:cxn>
                    <a:cxn ang="0">
                      <a:pos x="16" y="30"/>
                    </a:cxn>
                    <a:cxn ang="0">
                      <a:pos x="17" y="28"/>
                    </a:cxn>
                    <a:cxn ang="0">
                      <a:pos x="21" y="26"/>
                    </a:cxn>
                    <a:cxn ang="0">
                      <a:pos x="21" y="25"/>
                    </a:cxn>
                    <a:cxn ang="0">
                      <a:pos x="23" y="24"/>
                    </a:cxn>
                    <a:cxn ang="0">
                      <a:pos x="23" y="22"/>
                    </a:cxn>
                    <a:cxn ang="0">
                      <a:pos x="24" y="21"/>
                    </a:cxn>
                    <a:cxn ang="0">
                      <a:pos x="23" y="20"/>
                    </a:cxn>
                    <a:cxn ang="0">
                      <a:pos x="24" y="19"/>
                    </a:cxn>
                    <a:cxn ang="0">
                      <a:pos x="21" y="14"/>
                    </a:cxn>
                    <a:cxn ang="0">
                      <a:pos x="23" y="12"/>
                    </a:cxn>
                    <a:cxn ang="0">
                      <a:pos x="21" y="9"/>
                    </a:cxn>
                    <a:cxn ang="0">
                      <a:pos x="24" y="7"/>
                    </a:cxn>
                    <a:cxn ang="0">
                      <a:pos x="24" y="2"/>
                    </a:cxn>
                  </a:cxnLst>
                  <a:rect l="0" t="0" r="0" b="0"/>
                  <a:pathLst>
                    <a:path w="38" h="210">
                      <a:moveTo>
                        <a:pt x="24" y="2"/>
                      </a:moveTo>
                      <a:lnTo>
                        <a:pt x="16" y="0"/>
                      </a:lnTo>
                      <a:lnTo>
                        <a:pt x="8" y="0"/>
                      </a:lnTo>
                      <a:lnTo>
                        <a:pt x="2" y="1"/>
                      </a:lnTo>
                      <a:lnTo>
                        <a:pt x="1" y="9"/>
                      </a:lnTo>
                      <a:lnTo>
                        <a:pt x="1" y="14"/>
                      </a:lnTo>
                      <a:lnTo>
                        <a:pt x="4" y="22"/>
                      </a:lnTo>
                      <a:lnTo>
                        <a:pt x="7" y="22"/>
                      </a:lnTo>
                      <a:lnTo>
                        <a:pt x="2" y="31"/>
                      </a:lnTo>
                      <a:lnTo>
                        <a:pt x="0" y="44"/>
                      </a:lnTo>
                      <a:lnTo>
                        <a:pt x="0" y="57"/>
                      </a:lnTo>
                      <a:lnTo>
                        <a:pt x="1" y="72"/>
                      </a:lnTo>
                      <a:lnTo>
                        <a:pt x="2" y="87"/>
                      </a:lnTo>
                      <a:lnTo>
                        <a:pt x="7" y="88"/>
                      </a:lnTo>
                      <a:lnTo>
                        <a:pt x="7" y="92"/>
                      </a:lnTo>
                      <a:lnTo>
                        <a:pt x="10" y="94"/>
                      </a:lnTo>
                      <a:lnTo>
                        <a:pt x="10" y="110"/>
                      </a:lnTo>
                      <a:lnTo>
                        <a:pt x="12" y="112"/>
                      </a:lnTo>
                      <a:lnTo>
                        <a:pt x="12" y="141"/>
                      </a:lnTo>
                      <a:lnTo>
                        <a:pt x="12" y="158"/>
                      </a:lnTo>
                      <a:lnTo>
                        <a:pt x="8" y="178"/>
                      </a:lnTo>
                      <a:lnTo>
                        <a:pt x="7" y="204"/>
                      </a:lnTo>
                      <a:lnTo>
                        <a:pt x="11" y="206"/>
                      </a:lnTo>
                      <a:lnTo>
                        <a:pt x="11" y="209"/>
                      </a:lnTo>
                      <a:lnTo>
                        <a:pt x="17" y="209"/>
                      </a:lnTo>
                      <a:lnTo>
                        <a:pt x="18" y="208"/>
                      </a:lnTo>
                      <a:lnTo>
                        <a:pt x="21" y="208"/>
                      </a:lnTo>
                      <a:lnTo>
                        <a:pt x="21" y="209"/>
                      </a:lnTo>
                      <a:lnTo>
                        <a:pt x="25" y="209"/>
                      </a:lnTo>
                      <a:lnTo>
                        <a:pt x="35" y="208"/>
                      </a:lnTo>
                      <a:lnTo>
                        <a:pt x="35" y="206"/>
                      </a:lnTo>
                      <a:lnTo>
                        <a:pt x="26" y="202"/>
                      </a:lnTo>
                      <a:lnTo>
                        <a:pt x="26" y="198"/>
                      </a:lnTo>
                      <a:lnTo>
                        <a:pt x="35" y="196"/>
                      </a:lnTo>
                      <a:lnTo>
                        <a:pt x="35" y="194"/>
                      </a:lnTo>
                      <a:lnTo>
                        <a:pt x="29" y="190"/>
                      </a:lnTo>
                      <a:lnTo>
                        <a:pt x="29" y="161"/>
                      </a:lnTo>
                      <a:lnTo>
                        <a:pt x="30" y="135"/>
                      </a:lnTo>
                      <a:lnTo>
                        <a:pt x="30" y="109"/>
                      </a:lnTo>
                      <a:lnTo>
                        <a:pt x="30" y="94"/>
                      </a:lnTo>
                      <a:lnTo>
                        <a:pt x="30" y="90"/>
                      </a:lnTo>
                      <a:lnTo>
                        <a:pt x="30" y="69"/>
                      </a:lnTo>
                      <a:lnTo>
                        <a:pt x="37" y="64"/>
                      </a:lnTo>
                      <a:lnTo>
                        <a:pt x="37" y="62"/>
                      </a:lnTo>
                      <a:lnTo>
                        <a:pt x="23" y="33"/>
                      </a:lnTo>
                      <a:lnTo>
                        <a:pt x="16" y="30"/>
                      </a:lnTo>
                      <a:lnTo>
                        <a:pt x="17" y="28"/>
                      </a:lnTo>
                      <a:lnTo>
                        <a:pt x="21" y="26"/>
                      </a:lnTo>
                      <a:lnTo>
                        <a:pt x="21" y="25"/>
                      </a:lnTo>
                      <a:lnTo>
                        <a:pt x="23" y="24"/>
                      </a:lnTo>
                      <a:lnTo>
                        <a:pt x="23" y="22"/>
                      </a:lnTo>
                      <a:lnTo>
                        <a:pt x="24" y="21"/>
                      </a:lnTo>
                      <a:lnTo>
                        <a:pt x="23" y="20"/>
                      </a:lnTo>
                      <a:lnTo>
                        <a:pt x="24" y="19"/>
                      </a:lnTo>
                      <a:lnTo>
                        <a:pt x="21" y="14"/>
                      </a:lnTo>
                      <a:lnTo>
                        <a:pt x="23" y="12"/>
                      </a:lnTo>
                      <a:lnTo>
                        <a:pt x="21" y="9"/>
                      </a:lnTo>
                      <a:lnTo>
                        <a:pt x="24" y="7"/>
                      </a:lnTo>
                      <a:lnTo>
                        <a:pt x="24"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60" name="Freeform 32"/>
                <p:cNvSpPr/>
                <p:nvPr/>
              </p:nvSpPr>
              <p:spPr>
                <a:xfrm>
                  <a:off x="2580" y="1998"/>
                  <a:ext cx="68" cy="241"/>
                </a:xfrm>
                <a:custGeom>
                  <a:avLst/>
                  <a:gdLst/>
                  <a:ahLst/>
                  <a:cxnLst>
                    <a:cxn ang="0">
                      <a:pos x="40" y="3"/>
                    </a:cxn>
                    <a:cxn ang="0">
                      <a:pos x="54" y="0"/>
                    </a:cxn>
                    <a:cxn ang="0">
                      <a:pos x="59" y="5"/>
                    </a:cxn>
                    <a:cxn ang="0">
                      <a:pos x="61" y="3"/>
                    </a:cxn>
                    <a:cxn ang="0">
                      <a:pos x="64" y="14"/>
                    </a:cxn>
                    <a:cxn ang="0">
                      <a:pos x="57" y="20"/>
                    </a:cxn>
                    <a:cxn ang="0">
                      <a:pos x="56" y="26"/>
                    </a:cxn>
                    <a:cxn ang="0">
                      <a:pos x="55" y="27"/>
                    </a:cxn>
                    <a:cxn ang="0">
                      <a:pos x="54" y="32"/>
                    </a:cxn>
                    <a:cxn ang="0">
                      <a:pos x="48" y="34"/>
                    </a:cxn>
                    <a:cxn ang="0">
                      <a:pos x="48" y="36"/>
                    </a:cxn>
                    <a:cxn ang="0">
                      <a:pos x="57" y="43"/>
                    </a:cxn>
                    <a:cxn ang="0">
                      <a:pos x="64" y="77"/>
                    </a:cxn>
                    <a:cxn ang="0">
                      <a:pos x="59" y="86"/>
                    </a:cxn>
                    <a:cxn ang="0">
                      <a:pos x="59" y="149"/>
                    </a:cxn>
                    <a:cxn ang="0">
                      <a:pos x="52" y="151"/>
                    </a:cxn>
                    <a:cxn ang="0">
                      <a:pos x="50" y="162"/>
                    </a:cxn>
                    <a:cxn ang="0">
                      <a:pos x="48" y="189"/>
                    </a:cxn>
                    <a:cxn ang="0">
                      <a:pos x="48" y="202"/>
                    </a:cxn>
                    <a:cxn ang="0">
                      <a:pos x="59" y="211"/>
                    </a:cxn>
                    <a:cxn ang="0">
                      <a:pos x="67" y="216"/>
                    </a:cxn>
                    <a:cxn ang="0">
                      <a:pos x="67" y="219"/>
                    </a:cxn>
                    <a:cxn ang="0">
                      <a:pos x="50" y="215"/>
                    </a:cxn>
                    <a:cxn ang="0">
                      <a:pos x="48" y="212"/>
                    </a:cxn>
                    <a:cxn ang="0">
                      <a:pos x="46" y="215"/>
                    </a:cxn>
                    <a:cxn ang="0">
                      <a:pos x="44" y="215"/>
                    </a:cxn>
                    <a:cxn ang="0">
                      <a:pos x="42" y="204"/>
                    </a:cxn>
                    <a:cxn ang="0">
                      <a:pos x="40" y="159"/>
                    </a:cxn>
                    <a:cxn ang="0">
                      <a:pos x="37" y="159"/>
                    </a:cxn>
                    <a:cxn ang="0">
                      <a:pos x="28" y="199"/>
                    </a:cxn>
                    <a:cxn ang="0">
                      <a:pos x="28" y="225"/>
                    </a:cxn>
                    <a:cxn ang="0">
                      <a:pos x="24" y="237"/>
                    </a:cxn>
                    <a:cxn ang="0">
                      <a:pos x="20" y="240"/>
                    </a:cxn>
                    <a:cxn ang="0">
                      <a:pos x="18" y="233"/>
                    </a:cxn>
                    <a:cxn ang="0">
                      <a:pos x="21" y="226"/>
                    </a:cxn>
                    <a:cxn ang="0">
                      <a:pos x="24" y="210"/>
                    </a:cxn>
                    <a:cxn ang="0">
                      <a:pos x="24" y="152"/>
                    </a:cxn>
                    <a:cxn ang="0">
                      <a:pos x="28" y="96"/>
                    </a:cxn>
                    <a:cxn ang="0">
                      <a:pos x="21" y="91"/>
                    </a:cxn>
                    <a:cxn ang="0">
                      <a:pos x="21" y="83"/>
                    </a:cxn>
                    <a:cxn ang="0">
                      <a:pos x="21" y="68"/>
                    </a:cxn>
                    <a:cxn ang="0">
                      <a:pos x="14" y="72"/>
                    </a:cxn>
                    <a:cxn ang="0">
                      <a:pos x="21" y="81"/>
                    </a:cxn>
                    <a:cxn ang="0">
                      <a:pos x="21" y="90"/>
                    </a:cxn>
                    <a:cxn ang="0">
                      <a:pos x="14" y="85"/>
                    </a:cxn>
                    <a:cxn ang="0">
                      <a:pos x="11" y="79"/>
                    </a:cxn>
                    <a:cxn ang="0">
                      <a:pos x="7" y="80"/>
                    </a:cxn>
                    <a:cxn ang="0">
                      <a:pos x="0" y="72"/>
                    </a:cxn>
                    <a:cxn ang="0">
                      <a:pos x="0" y="68"/>
                    </a:cxn>
                    <a:cxn ang="0">
                      <a:pos x="4" y="67"/>
                    </a:cxn>
                    <a:cxn ang="0">
                      <a:pos x="12" y="56"/>
                    </a:cxn>
                    <a:cxn ang="0">
                      <a:pos x="21" y="47"/>
                    </a:cxn>
                    <a:cxn ang="0">
                      <a:pos x="32" y="36"/>
                    </a:cxn>
                    <a:cxn ang="0">
                      <a:pos x="40" y="32"/>
                    </a:cxn>
                    <a:cxn ang="0">
                      <a:pos x="40" y="25"/>
                    </a:cxn>
                    <a:cxn ang="0">
                      <a:pos x="37" y="21"/>
                    </a:cxn>
                    <a:cxn ang="0">
                      <a:pos x="37" y="12"/>
                    </a:cxn>
                    <a:cxn ang="0">
                      <a:pos x="35" y="10"/>
                    </a:cxn>
                    <a:cxn ang="0">
                      <a:pos x="40" y="3"/>
                    </a:cxn>
                  </a:cxnLst>
                  <a:rect l="0" t="0" r="0" b="0"/>
                  <a:pathLst>
                    <a:path w="68" h="241">
                      <a:moveTo>
                        <a:pt x="40" y="3"/>
                      </a:moveTo>
                      <a:lnTo>
                        <a:pt x="54" y="0"/>
                      </a:lnTo>
                      <a:lnTo>
                        <a:pt x="59" y="5"/>
                      </a:lnTo>
                      <a:lnTo>
                        <a:pt x="61" y="3"/>
                      </a:lnTo>
                      <a:lnTo>
                        <a:pt x="64" y="14"/>
                      </a:lnTo>
                      <a:lnTo>
                        <a:pt x="57" y="20"/>
                      </a:lnTo>
                      <a:lnTo>
                        <a:pt x="56" y="26"/>
                      </a:lnTo>
                      <a:lnTo>
                        <a:pt x="55" y="27"/>
                      </a:lnTo>
                      <a:lnTo>
                        <a:pt x="54" y="32"/>
                      </a:lnTo>
                      <a:lnTo>
                        <a:pt x="48" y="34"/>
                      </a:lnTo>
                      <a:lnTo>
                        <a:pt x="48" y="36"/>
                      </a:lnTo>
                      <a:lnTo>
                        <a:pt x="57" y="43"/>
                      </a:lnTo>
                      <a:lnTo>
                        <a:pt x="64" y="77"/>
                      </a:lnTo>
                      <a:lnTo>
                        <a:pt x="59" y="86"/>
                      </a:lnTo>
                      <a:lnTo>
                        <a:pt x="59" y="149"/>
                      </a:lnTo>
                      <a:lnTo>
                        <a:pt x="52" y="151"/>
                      </a:lnTo>
                      <a:lnTo>
                        <a:pt x="50" y="162"/>
                      </a:lnTo>
                      <a:lnTo>
                        <a:pt x="48" y="189"/>
                      </a:lnTo>
                      <a:lnTo>
                        <a:pt x="48" y="202"/>
                      </a:lnTo>
                      <a:lnTo>
                        <a:pt x="59" y="211"/>
                      </a:lnTo>
                      <a:lnTo>
                        <a:pt x="67" y="216"/>
                      </a:lnTo>
                      <a:lnTo>
                        <a:pt x="67" y="219"/>
                      </a:lnTo>
                      <a:lnTo>
                        <a:pt x="50" y="215"/>
                      </a:lnTo>
                      <a:lnTo>
                        <a:pt x="48" y="212"/>
                      </a:lnTo>
                      <a:lnTo>
                        <a:pt x="46" y="215"/>
                      </a:lnTo>
                      <a:lnTo>
                        <a:pt x="44" y="215"/>
                      </a:lnTo>
                      <a:lnTo>
                        <a:pt x="42" y="204"/>
                      </a:lnTo>
                      <a:lnTo>
                        <a:pt x="40" y="159"/>
                      </a:lnTo>
                      <a:lnTo>
                        <a:pt x="37" y="159"/>
                      </a:lnTo>
                      <a:lnTo>
                        <a:pt x="28" y="199"/>
                      </a:lnTo>
                      <a:lnTo>
                        <a:pt x="28" y="225"/>
                      </a:lnTo>
                      <a:lnTo>
                        <a:pt x="24" y="237"/>
                      </a:lnTo>
                      <a:lnTo>
                        <a:pt x="20" y="240"/>
                      </a:lnTo>
                      <a:lnTo>
                        <a:pt x="18" y="233"/>
                      </a:lnTo>
                      <a:lnTo>
                        <a:pt x="21" y="226"/>
                      </a:lnTo>
                      <a:lnTo>
                        <a:pt x="24" y="210"/>
                      </a:lnTo>
                      <a:lnTo>
                        <a:pt x="24" y="152"/>
                      </a:lnTo>
                      <a:lnTo>
                        <a:pt x="28" y="96"/>
                      </a:lnTo>
                      <a:lnTo>
                        <a:pt x="21" y="91"/>
                      </a:lnTo>
                      <a:lnTo>
                        <a:pt x="21" y="83"/>
                      </a:lnTo>
                      <a:lnTo>
                        <a:pt x="21" y="68"/>
                      </a:lnTo>
                      <a:lnTo>
                        <a:pt x="14" y="72"/>
                      </a:lnTo>
                      <a:lnTo>
                        <a:pt x="21" y="81"/>
                      </a:lnTo>
                      <a:lnTo>
                        <a:pt x="21" y="90"/>
                      </a:lnTo>
                      <a:lnTo>
                        <a:pt x="14" y="85"/>
                      </a:lnTo>
                      <a:lnTo>
                        <a:pt x="11" y="79"/>
                      </a:lnTo>
                      <a:lnTo>
                        <a:pt x="7" y="80"/>
                      </a:lnTo>
                      <a:lnTo>
                        <a:pt x="0" y="72"/>
                      </a:lnTo>
                      <a:lnTo>
                        <a:pt x="0" y="68"/>
                      </a:lnTo>
                      <a:lnTo>
                        <a:pt x="4" y="67"/>
                      </a:lnTo>
                      <a:lnTo>
                        <a:pt x="12" y="56"/>
                      </a:lnTo>
                      <a:lnTo>
                        <a:pt x="21" y="47"/>
                      </a:lnTo>
                      <a:lnTo>
                        <a:pt x="32" y="36"/>
                      </a:lnTo>
                      <a:lnTo>
                        <a:pt x="40" y="32"/>
                      </a:lnTo>
                      <a:lnTo>
                        <a:pt x="40" y="25"/>
                      </a:lnTo>
                      <a:lnTo>
                        <a:pt x="37" y="21"/>
                      </a:lnTo>
                      <a:lnTo>
                        <a:pt x="37" y="12"/>
                      </a:lnTo>
                      <a:lnTo>
                        <a:pt x="35" y="10"/>
                      </a:lnTo>
                      <a:lnTo>
                        <a:pt x="40" y="3"/>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61" name="Freeform 33"/>
                <p:cNvSpPr/>
                <p:nvPr/>
              </p:nvSpPr>
              <p:spPr>
                <a:xfrm>
                  <a:off x="2876" y="2007"/>
                  <a:ext cx="46" cy="172"/>
                </a:xfrm>
                <a:custGeom>
                  <a:avLst/>
                  <a:gdLst/>
                  <a:ahLst/>
                  <a:cxnLst>
                    <a:cxn ang="0">
                      <a:pos x="27" y="2"/>
                    </a:cxn>
                    <a:cxn ang="0">
                      <a:pos x="37" y="0"/>
                    </a:cxn>
                    <a:cxn ang="0">
                      <a:pos x="41" y="4"/>
                    </a:cxn>
                    <a:cxn ang="0">
                      <a:pos x="42" y="2"/>
                    </a:cxn>
                    <a:cxn ang="0">
                      <a:pos x="44" y="11"/>
                    </a:cxn>
                    <a:cxn ang="0">
                      <a:pos x="39" y="14"/>
                    </a:cxn>
                    <a:cxn ang="0">
                      <a:pos x="39" y="19"/>
                    </a:cxn>
                    <a:cxn ang="0">
                      <a:pos x="38" y="19"/>
                    </a:cxn>
                    <a:cxn ang="0">
                      <a:pos x="37" y="24"/>
                    </a:cxn>
                    <a:cxn ang="0">
                      <a:pos x="33" y="24"/>
                    </a:cxn>
                    <a:cxn ang="0">
                      <a:pos x="33" y="26"/>
                    </a:cxn>
                    <a:cxn ang="0">
                      <a:pos x="39" y="31"/>
                    </a:cxn>
                    <a:cxn ang="0">
                      <a:pos x="44" y="55"/>
                    </a:cxn>
                    <a:cxn ang="0">
                      <a:pos x="41" y="62"/>
                    </a:cxn>
                    <a:cxn ang="0">
                      <a:pos x="41" y="100"/>
                    </a:cxn>
                    <a:cxn ang="0">
                      <a:pos x="36" y="102"/>
                    </a:cxn>
                    <a:cxn ang="0">
                      <a:pos x="35" y="110"/>
                    </a:cxn>
                    <a:cxn ang="0">
                      <a:pos x="33" y="129"/>
                    </a:cxn>
                    <a:cxn ang="0">
                      <a:pos x="33" y="139"/>
                    </a:cxn>
                    <a:cxn ang="0">
                      <a:pos x="41" y="146"/>
                    </a:cxn>
                    <a:cxn ang="0">
                      <a:pos x="45" y="149"/>
                    </a:cxn>
                    <a:cxn ang="0">
                      <a:pos x="45" y="151"/>
                    </a:cxn>
                    <a:cxn ang="0">
                      <a:pos x="34" y="148"/>
                    </a:cxn>
                    <a:cxn ang="0">
                      <a:pos x="33" y="146"/>
                    </a:cxn>
                    <a:cxn ang="0">
                      <a:pos x="31" y="148"/>
                    </a:cxn>
                    <a:cxn ang="0">
                      <a:pos x="31" y="148"/>
                    </a:cxn>
                    <a:cxn ang="0">
                      <a:pos x="29" y="140"/>
                    </a:cxn>
                    <a:cxn ang="0">
                      <a:pos x="27" y="108"/>
                    </a:cxn>
                    <a:cxn ang="0">
                      <a:pos x="25" y="108"/>
                    </a:cxn>
                    <a:cxn ang="0">
                      <a:pos x="19" y="136"/>
                    </a:cxn>
                    <a:cxn ang="0">
                      <a:pos x="19" y="154"/>
                    </a:cxn>
                    <a:cxn ang="0">
                      <a:pos x="16" y="164"/>
                    </a:cxn>
                    <a:cxn ang="0">
                      <a:pos x="14" y="165"/>
                    </a:cxn>
                    <a:cxn ang="0">
                      <a:pos x="12" y="161"/>
                    </a:cxn>
                    <a:cxn ang="0">
                      <a:pos x="14" y="156"/>
                    </a:cxn>
                    <a:cxn ang="0">
                      <a:pos x="16" y="144"/>
                    </a:cxn>
                    <a:cxn ang="0">
                      <a:pos x="17" y="103"/>
                    </a:cxn>
                    <a:cxn ang="0">
                      <a:pos x="19" y="70"/>
                    </a:cxn>
                    <a:cxn ang="0">
                      <a:pos x="15" y="66"/>
                    </a:cxn>
                    <a:cxn ang="0">
                      <a:pos x="15" y="60"/>
                    </a:cxn>
                    <a:cxn ang="0">
                      <a:pos x="15" y="49"/>
                    </a:cxn>
                    <a:cxn ang="0">
                      <a:pos x="10" y="52"/>
                    </a:cxn>
                    <a:cxn ang="0">
                      <a:pos x="14" y="58"/>
                    </a:cxn>
                    <a:cxn ang="0">
                      <a:pos x="14" y="65"/>
                    </a:cxn>
                    <a:cxn ang="0">
                      <a:pos x="10" y="61"/>
                    </a:cxn>
                    <a:cxn ang="0">
                      <a:pos x="8" y="57"/>
                    </a:cxn>
                    <a:cxn ang="0">
                      <a:pos x="4" y="58"/>
                    </a:cxn>
                    <a:cxn ang="0">
                      <a:pos x="0" y="52"/>
                    </a:cxn>
                    <a:cxn ang="0">
                      <a:pos x="0" y="49"/>
                    </a:cxn>
                    <a:cxn ang="0">
                      <a:pos x="3" y="48"/>
                    </a:cxn>
                    <a:cxn ang="0">
                      <a:pos x="8" y="40"/>
                    </a:cxn>
                    <a:cxn ang="0">
                      <a:pos x="14" y="34"/>
                    </a:cxn>
                    <a:cxn ang="0">
                      <a:pos x="22" y="26"/>
                    </a:cxn>
                    <a:cxn ang="0">
                      <a:pos x="27" y="24"/>
                    </a:cxn>
                    <a:cxn ang="0">
                      <a:pos x="27" y="18"/>
                    </a:cxn>
                    <a:cxn ang="0">
                      <a:pos x="25" y="15"/>
                    </a:cxn>
                    <a:cxn ang="0">
                      <a:pos x="25" y="9"/>
                    </a:cxn>
                    <a:cxn ang="0">
                      <a:pos x="24" y="7"/>
                    </a:cxn>
                    <a:cxn ang="0">
                      <a:pos x="27" y="2"/>
                    </a:cxn>
                  </a:cxnLst>
                  <a:rect l="0" t="0" r="0" b="0"/>
                  <a:pathLst>
                    <a:path w="46" h="173">
                      <a:moveTo>
                        <a:pt x="27" y="2"/>
                      </a:moveTo>
                      <a:lnTo>
                        <a:pt x="37" y="0"/>
                      </a:lnTo>
                      <a:lnTo>
                        <a:pt x="41" y="4"/>
                      </a:lnTo>
                      <a:lnTo>
                        <a:pt x="42" y="2"/>
                      </a:lnTo>
                      <a:lnTo>
                        <a:pt x="44" y="11"/>
                      </a:lnTo>
                      <a:lnTo>
                        <a:pt x="39" y="14"/>
                      </a:lnTo>
                      <a:lnTo>
                        <a:pt x="39" y="19"/>
                      </a:lnTo>
                      <a:lnTo>
                        <a:pt x="38" y="19"/>
                      </a:lnTo>
                      <a:lnTo>
                        <a:pt x="37" y="24"/>
                      </a:lnTo>
                      <a:lnTo>
                        <a:pt x="33" y="24"/>
                      </a:lnTo>
                      <a:lnTo>
                        <a:pt x="33" y="26"/>
                      </a:lnTo>
                      <a:lnTo>
                        <a:pt x="39" y="31"/>
                      </a:lnTo>
                      <a:lnTo>
                        <a:pt x="44" y="55"/>
                      </a:lnTo>
                      <a:lnTo>
                        <a:pt x="41" y="62"/>
                      </a:lnTo>
                      <a:lnTo>
                        <a:pt x="41" y="107"/>
                      </a:lnTo>
                      <a:lnTo>
                        <a:pt x="36" y="109"/>
                      </a:lnTo>
                      <a:lnTo>
                        <a:pt x="35" y="117"/>
                      </a:lnTo>
                      <a:lnTo>
                        <a:pt x="33" y="136"/>
                      </a:lnTo>
                      <a:lnTo>
                        <a:pt x="33" y="146"/>
                      </a:lnTo>
                      <a:lnTo>
                        <a:pt x="41" y="153"/>
                      </a:lnTo>
                      <a:lnTo>
                        <a:pt x="45" y="156"/>
                      </a:lnTo>
                      <a:lnTo>
                        <a:pt x="45" y="158"/>
                      </a:lnTo>
                      <a:lnTo>
                        <a:pt x="34" y="155"/>
                      </a:lnTo>
                      <a:lnTo>
                        <a:pt x="33" y="153"/>
                      </a:lnTo>
                      <a:lnTo>
                        <a:pt x="31" y="155"/>
                      </a:lnTo>
                      <a:lnTo>
                        <a:pt x="29" y="147"/>
                      </a:lnTo>
                      <a:lnTo>
                        <a:pt x="27" y="115"/>
                      </a:lnTo>
                      <a:lnTo>
                        <a:pt x="25" y="115"/>
                      </a:lnTo>
                      <a:lnTo>
                        <a:pt x="19" y="143"/>
                      </a:lnTo>
                      <a:lnTo>
                        <a:pt x="19" y="161"/>
                      </a:lnTo>
                      <a:lnTo>
                        <a:pt x="16" y="171"/>
                      </a:lnTo>
                      <a:lnTo>
                        <a:pt x="14" y="172"/>
                      </a:lnTo>
                      <a:lnTo>
                        <a:pt x="12" y="168"/>
                      </a:lnTo>
                      <a:lnTo>
                        <a:pt x="14" y="163"/>
                      </a:lnTo>
                      <a:lnTo>
                        <a:pt x="16" y="151"/>
                      </a:lnTo>
                      <a:lnTo>
                        <a:pt x="17" y="110"/>
                      </a:lnTo>
                      <a:lnTo>
                        <a:pt x="19" y="70"/>
                      </a:lnTo>
                      <a:lnTo>
                        <a:pt x="15" y="66"/>
                      </a:lnTo>
                      <a:lnTo>
                        <a:pt x="15" y="60"/>
                      </a:lnTo>
                      <a:lnTo>
                        <a:pt x="15" y="49"/>
                      </a:lnTo>
                      <a:lnTo>
                        <a:pt x="10" y="52"/>
                      </a:lnTo>
                      <a:lnTo>
                        <a:pt x="14" y="58"/>
                      </a:lnTo>
                      <a:lnTo>
                        <a:pt x="14" y="65"/>
                      </a:lnTo>
                      <a:lnTo>
                        <a:pt x="10" y="61"/>
                      </a:lnTo>
                      <a:lnTo>
                        <a:pt x="8" y="57"/>
                      </a:lnTo>
                      <a:lnTo>
                        <a:pt x="4" y="58"/>
                      </a:lnTo>
                      <a:lnTo>
                        <a:pt x="0" y="52"/>
                      </a:lnTo>
                      <a:lnTo>
                        <a:pt x="0" y="49"/>
                      </a:lnTo>
                      <a:lnTo>
                        <a:pt x="3" y="48"/>
                      </a:lnTo>
                      <a:lnTo>
                        <a:pt x="8" y="40"/>
                      </a:lnTo>
                      <a:lnTo>
                        <a:pt x="14" y="34"/>
                      </a:lnTo>
                      <a:lnTo>
                        <a:pt x="22" y="26"/>
                      </a:lnTo>
                      <a:lnTo>
                        <a:pt x="27" y="24"/>
                      </a:lnTo>
                      <a:lnTo>
                        <a:pt x="27" y="18"/>
                      </a:lnTo>
                      <a:lnTo>
                        <a:pt x="25" y="15"/>
                      </a:lnTo>
                      <a:lnTo>
                        <a:pt x="25" y="9"/>
                      </a:lnTo>
                      <a:lnTo>
                        <a:pt x="24" y="7"/>
                      </a:lnTo>
                      <a:lnTo>
                        <a:pt x="27"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62" name="Freeform 34"/>
                <p:cNvSpPr/>
                <p:nvPr/>
              </p:nvSpPr>
              <p:spPr>
                <a:xfrm>
                  <a:off x="2966" y="1992"/>
                  <a:ext cx="38" cy="212"/>
                </a:xfrm>
                <a:custGeom>
                  <a:avLst/>
                  <a:gdLst/>
                  <a:ahLst/>
                  <a:cxnLst>
                    <a:cxn ang="0">
                      <a:pos x="25" y="2"/>
                    </a:cxn>
                    <a:cxn ang="0">
                      <a:pos x="16" y="0"/>
                    </a:cxn>
                    <a:cxn ang="0">
                      <a:pos x="8" y="0"/>
                    </a:cxn>
                    <a:cxn ang="0">
                      <a:pos x="2" y="1"/>
                    </a:cxn>
                    <a:cxn ang="0">
                      <a:pos x="1" y="9"/>
                    </a:cxn>
                    <a:cxn ang="0">
                      <a:pos x="1" y="15"/>
                    </a:cxn>
                    <a:cxn ang="0">
                      <a:pos x="4" y="22"/>
                    </a:cxn>
                    <a:cxn ang="0">
                      <a:pos x="7" y="22"/>
                    </a:cxn>
                    <a:cxn ang="0">
                      <a:pos x="2" y="31"/>
                    </a:cxn>
                    <a:cxn ang="0">
                      <a:pos x="0" y="44"/>
                    </a:cxn>
                    <a:cxn ang="0">
                      <a:pos x="0" y="57"/>
                    </a:cxn>
                    <a:cxn ang="0">
                      <a:pos x="1" y="72"/>
                    </a:cxn>
                    <a:cxn ang="0">
                      <a:pos x="2" y="88"/>
                    </a:cxn>
                    <a:cxn ang="0">
                      <a:pos x="7" y="88"/>
                    </a:cxn>
                    <a:cxn ang="0">
                      <a:pos x="7" y="92"/>
                    </a:cxn>
                    <a:cxn ang="0">
                      <a:pos x="10" y="94"/>
                    </a:cxn>
                    <a:cxn ang="0">
                      <a:pos x="10" y="110"/>
                    </a:cxn>
                    <a:cxn ang="0">
                      <a:pos x="12" y="114"/>
                    </a:cxn>
                    <a:cxn ang="0">
                      <a:pos x="12" y="142"/>
                    </a:cxn>
                    <a:cxn ang="0">
                      <a:pos x="12" y="160"/>
                    </a:cxn>
                    <a:cxn ang="0">
                      <a:pos x="8" y="180"/>
                    </a:cxn>
                    <a:cxn ang="0">
                      <a:pos x="7" y="206"/>
                    </a:cxn>
                    <a:cxn ang="0">
                      <a:pos x="11" y="208"/>
                    </a:cxn>
                    <a:cxn ang="0">
                      <a:pos x="11" y="211"/>
                    </a:cxn>
                    <a:cxn ang="0">
                      <a:pos x="17" y="211"/>
                    </a:cxn>
                    <a:cxn ang="0">
                      <a:pos x="18" y="210"/>
                    </a:cxn>
                    <a:cxn ang="0">
                      <a:pos x="21" y="210"/>
                    </a:cxn>
                    <a:cxn ang="0">
                      <a:pos x="21" y="211"/>
                    </a:cxn>
                    <a:cxn ang="0">
                      <a:pos x="25" y="211"/>
                    </a:cxn>
                    <a:cxn ang="0">
                      <a:pos x="35" y="210"/>
                    </a:cxn>
                    <a:cxn ang="0">
                      <a:pos x="35" y="208"/>
                    </a:cxn>
                    <a:cxn ang="0">
                      <a:pos x="27" y="204"/>
                    </a:cxn>
                    <a:cxn ang="0">
                      <a:pos x="27" y="200"/>
                    </a:cxn>
                    <a:cxn ang="0">
                      <a:pos x="35" y="198"/>
                    </a:cxn>
                    <a:cxn ang="0">
                      <a:pos x="35" y="196"/>
                    </a:cxn>
                    <a:cxn ang="0">
                      <a:pos x="29" y="192"/>
                    </a:cxn>
                    <a:cxn ang="0">
                      <a:pos x="29" y="163"/>
                    </a:cxn>
                    <a:cxn ang="0">
                      <a:pos x="30" y="137"/>
                    </a:cxn>
                    <a:cxn ang="0">
                      <a:pos x="30" y="110"/>
                    </a:cxn>
                    <a:cxn ang="0">
                      <a:pos x="30" y="94"/>
                    </a:cxn>
                    <a:cxn ang="0">
                      <a:pos x="30" y="91"/>
                    </a:cxn>
                    <a:cxn ang="0">
                      <a:pos x="30" y="69"/>
                    </a:cxn>
                    <a:cxn ang="0">
                      <a:pos x="37" y="65"/>
                    </a:cxn>
                    <a:cxn ang="0">
                      <a:pos x="37" y="62"/>
                    </a:cxn>
                    <a:cxn ang="0">
                      <a:pos x="23" y="34"/>
                    </a:cxn>
                    <a:cxn ang="0">
                      <a:pos x="16" y="30"/>
                    </a:cxn>
                    <a:cxn ang="0">
                      <a:pos x="17" y="28"/>
                    </a:cxn>
                    <a:cxn ang="0">
                      <a:pos x="22" y="26"/>
                    </a:cxn>
                    <a:cxn ang="0">
                      <a:pos x="22" y="25"/>
                    </a:cxn>
                    <a:cxn ang="0">
                      <a:pos x="23" y="24"/>
                    </a:cxn>
                    <a:cxn ang="0">
                      <a:pos x="23" y="22"/>
                    </a:cxn>
                    <a:cxn ang="0">
                      <a:pos x="25" y="21"/>
                    </a:cxn>
                    <a:cxn ang="0">
                      <a:pos x="23" y="20"/>
                    </a:cxn>
                    <a:cxn ang="0">
                      <a:pos x="24" y="19"/>
                    </a:cxn>
                    <a:cxn ang="0">
                      <a:pos x="22" y="15"/>
                    </a:cxn>
                    <a:cxn ang="0">
                      <a:pos x="23" y="12"/>
                    </a:cxn>
                    <a:cxn ang="0">
                      <a:pos x="22" y="9"/>
                    </a:cxn>
                    <a:cxn ang="0">
                      <a:pos x="24" y="7"/>
                    </a:cxn>
                    <a:cxn ang="0">
                      <a:pos x="25" y="2"/>
                    </a:cxn>
                  </a:cxnLst>
                  <a:rect l="0" t="0" r="0" b="0"/>
                  <a:pathLst>
                    <a:path w="38" h="212">
                      <a:moveTo>
                        <a:pt x="25" y="2"/>
                      </a:moveTo>
                      <a:lnTo>
                        <a:pt x="16" y="0"/>
                      </a:lnTo>
                      <a:lnTo>
                        <a:pt x="8" y="0"/>
                      </a:lnTo>
                      <a:lnTo>
                        <a:pt x="2" y="1"/>
                      </a:lnTo>
                      <a:lnTo>
                        <a:pt x="1" y="9"/>
                      </a:lnTo>
                      <a:lnTo>
                        <a:pt x="1" y="15"/>
                      </a:lnTo>
                      <a:lnTo>
                        <a:pt x="4" y="22"/>
                      </a:lnTo>
                      <a:lnTo>
                        <a:pt x="7" y="22"/>
                      </a:lnTo>
                      <a:lnTo>
                        <a:pt x="2" y="31"/>
                      </a:lnTo>
                      <a:lnTo>
                        <a:pt x="0" y="44"/>
                      </a:lnTo>
                      <a:lnTo>
                        <a:pt x="0" y="57"/>
                      </a:lnTo>
                      <a:lnTo>
                        <a:pt x="1" y="72"/>
                      </a:lnTo>
                      <a:lnTo>
                        <a:pt x="2" y="88"/>
                      </a:lnTo>
                      <a:lnTo>
                        <a:pt x="7" y="88"/>
                      </a:lnTo>
                      <a:lnTo>
                        <a:pt x="7" y="92"/>
                      </a:lnTo>
                      <a:lnTo>
                        <a:pt x="10" y="94"/>
                      </a:lnTo>
                      <a:lnTo>
                        <a:pt x="10" y="110"/>
                      </a:lnTo>
                      <a:lnTo>
                        <a:pt x="12" y="114"/>
                      </a:lnTo>
                      <a:lnTo>
                        <a:pt x="12" y="142"/>
                      </a:lnTo>
                      <a:lnTo>
                        <a:pt x="12" y="160"/>
                      </a:lnTo>
                      <a:lnTo>
                        <a:pt x="8" y="180"/>
                      </a:lnTo>
                      <a:lnTo>
                        <a:pt x="7" y="206"/>
                      </a:lnTo>
                      <a:lnTo>
                        <a:pt x="11" y="208"/>
                      </a:lnTo>
                      <a:lnTo>
                        <a:pt x="11" y="211"/>
                      </a:lnTo>
                      <a:lnTo>
                        <a:pt x="17" y="211"/>
                      </a:lnTo>
                      <a:lnTo>
                        <a:pt x="18" y="210"/>
                      </a:lnTo>
                      <a:lnTo>
                        <a:pt x="21" y="210"/>
                      </a:lnTo>
                      <a:lnTo>
                        <a:pt x="21" y="211"/>
                      </a:lnTo>
                      <a:lnTo>
                        <a:pt x="25" y="211"/>
                      </a:lnTo>
                      <a:lnTo>
                        <a:pt x="35" y="210"/>
                      </a:lnTo>
                      <a:lnTo>
                        <a:pt x="35" y="208"/>
                      </a:lnTo>
                      <a:lnTo>
                        <a:pt x="27" y="204"/>
                      </a:lnTo>
                      <a:lnTo>
                        <a:pt x="27" y="200"/>
                      </a:lnTo>
                      <a:lnTo>
                        <a:pt x="35" y="198"/>
                      </a:lnTo>
                      <a:lnTo>
                        <a:pt x="35" y="196"/>
                      </a:lnTo>
                      <a:lnTo>
                        <a:pt x="29" y="192"/>
                      </a:lnTo>
                      <a:lnTo>
                        <a:pt x="29" y="163"/>
                      </a:lnTo>
                      <a:lnTo>
                        <a:pt x="30" y="137"/>
                      </a:lnTo>
                      <a:lnTo>
                        <a:pt x="30" y="110"/>
                      </a:lnTo>
                      <a:lnTo>
                        <a:pt x="30" y="94"/>
                      </a:lnTo>
                      <a:lnTo>
                        <a:pt x="30" y="91"/>
                      </a:lnTo>
                      <a:lnTo>
                        <a:pt x="30" y="69"/>
                      </a:lnTo>
                      <a:lnTo>
                        <a:pt x="37" y="65"/>
                      </a:lnTo>
                      <a:lnTo>
                        <a:pt x="37" y="62"/>
                      </a:lnTo>
                      <a:lnTo>
                        <a:pt x="23" y="34"/>
                      </a:lnTo>
                      <a:lnTo>
                        <a:pt x="16" y="30"/>
                      </a:lnTo>
                      <a:lnTo>
                        <a:pt x="17" y="28"/>
                      </a:lnTo>
                      <a:lnTo>
                        <a:pt x="22" y="26"/>
                      </a:lnTo>
                      <a:lnTo>
                        <a:pt x="22" y="25"/>
                      </a:lnTo>
                      <a:lnTo>
                        <a:pt x="23" y="24"/>
                      </a:lnTo>
                      <a:lnTo>
                        <a:pt x="23" y="22"/>
                      </a:lnTo>
                      <a:lnTo>
                        <a:pt x="25" y="21"/>
                      </a:lnTo>
                      <a:lnTo>
                        <a:pt x="23" y="20"/>
                      </a:lnTo>
                      <a:lnTo>
                        <a:pt x="24" y="19"/>
                      </a:lnTo>
                      <a:lnTo>
                        <a:pt x="22" y="15"/>
                      </a:lnTo>
                      <a:lnTo>
                        <a:pt x="23" y="12"/>
                      </a:lnTo>
                      <a:lnTo>
                        <a:pt x="22" y="9"/>
                      </a:lnTo>
                      <a:lnTo>
                        <a:pt x="24" y="7"/>
                      </a:lnTo>
                      <a:lnTo>
                        <a:pt x="25"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nvGrpSpPr>
                <p:cNvPr id="63" name="Group 35"/>
                <p:cNvGrpSpPr/>
                <p:nvPr/>
              </p:nvGrpSpPr>
              <p:grpSpPr>
                <a:xfrm>
                  <a:off x="3758" y="1962"/>
                  <a:ext cx="124" cy="275"/>
                  <a:chOff x="3758" y="1962"/>
                  <a:chExt cx="124" cy="275"/>
                </a:xfrm>
              </p:grpSpPr>
              <p:sp>
                <p:nvSpPr>
                  <p:cNvPr id="69" name="Freeform 36"/>
                  <p:cNvSpPr/>
                  <p:nvPr/>
                </p:nvSpPr>
                <p:spPr>
                  <a:xfrm>
                    <a:off x="3805" y="1962"/>
                    <a:ext cx="77" cy="275"/>
                  </a:xfrm>
                  <a:custGeom>
                    <a:avLst/>
                    <a:gdLst/>
                    <a:ahLst/>
                    <a:cxnLst>
                      <a:cxn ang="0">
                        <a:pos x="30" y="3"/>
                      </a:cxn>
                      <a:cxn ang="0">
                        <a:pos x="14" y="0"/>
                      </a:cxn>
                      <a:cxn ang="0">
                        <a:pos x="9" y="7"/>
                      </a:cxn>
                      <a:cxn ang="0">
                        <a:pos x="6" y="4"/>
                      </a:cxn>
                      <a:cxn ang="0">
                        <a:pos x="2" y="16"/>
                      </a:cxn>
                      <a:cxn ang="0">
                        <a:pos x="10" y="24"/>
                      </a:cxn>
                      <a:cxn ang="0">
                        <a:pos x="11" y="30"/>
                      </a:cxn>
                      <a:cxn ang="0">
                        <a:pos x="13" y="31"/>
                      </a:cxn>
                      <a:cxn ang="0">
                        <a:pos x="14" y="37"/>
                      </a:cxn>
                      <a:cxn ang="0">
                        <a:pos x="21" y="38"/>
                      </a:cxn>
                      <a:cxn ang="0">
                        <a:pos x="21" y="40"/>
                      </a:cxn>
                      <a:cxn ang="0">
                        <a:pos x="10" y="49"/>
                      </a:cxn>
                      <a:cxn ang="0">
                        <a:pos x="2" y="88"/>
                      </a:cxn>
                      <a:cxn ang="0">
                        <a:pos x="9" y="98"/>
                      </a:cxn>
                      <a:cxn ang="0">
                        <a:pos x="9" y="171"/>
                      </a:cxn>
                      <a:cxn ang="0">
                        <a:pos x="16" y="173"/>
                      </a:cxn>
                      <a:cxn ang="0">
                        <a:pos x="18" y="185"/>
                      </a:cxn>
                      <a:cxn ang="0">
                        <a:pos x="22" y="216"/>
                      </a:cxn>
                      <a:cxn ang="0">
                        <a:pos x="22" y="232"/>
                      </a:cxn>
                      <a:cxn ang="0">
                        <a:pos x="9" y="242"/>
                      </a:cxn>
                      <a:cxn ang="0">
                        <a:pos x="0" y="247"/>
                      </a:cxn>
                      <a:cxn ang="0">
                        <a:pos x="0" y="251"/>
                      </a:cxn>
                      <a:cxn ang="0">
                        <a:pos x="19" y="246"/>
                      </a:cxn>
                      <a:cxn ang="0">
                        <a:pos x="22" y="242"/>
                      </a:cxn>
                      <a:cxn ang="0">
                        <a:pos x="24" y="246"/>
                      </a:cxn>
                      <a:cxn ang="0">
                        <a:pos x="25" y="246"/>
                      </a:cxn>
                      <a:cxn ang="0">
                        <a:pos x="28" y="234"/>
                      </a:cxn>
                      <a:cxn ang="0">
                        <a:pos x="30" y="182"/>
                      </a:cxn>
                      <a:cxn ang="0">
                        <a:pos x="33" y="182"/>
                      </a:cxn>
                      <a:cxn ang="0">
                        <a:pos x="44" y="228"/>
                      </a:cxn>
                      <a:cxn ang="0">
                        <a:pos x="44" y="257"/>
                      </a:cxn>
                      <a:cxn ang="0">
                        <a:pos x="49" y="271"/>
                      </a:cxn>
                      <a:cxn ang="0">
                        <a:pos x="53" y="274"/>
                      </a:cxn>
                      <a:cxn ang="0">
                        <a:pos x="55" y="266"/>
                      </a:cxn>
                      <a:cxn ang="0">
                        <a:pos x="52" y="258"/>
                      </a:cxn>
                      <a:cxn ang="0">
                        <a:pos x="49" y="240"/>
                      </a:cxn>
                      <a:cxn ang="0">
                        <a:pos x="48" y="175"/>
                      </a:cxn>
                      <a:cxn ang="0">
                        <a:pos x="45" y="110"/>
                      </a:cxn>
                      <a:cxn ang="0">
                        <a:pos x="52" y="105"/>
                      </a:cxn>
                      <a:cxn ang="0">
                        <a:pos x="52" y="95"/>
                      </a:cxn>
                      <a:cxn ang="0">
                        <a:pos x="52" y="78"/>
                      </a:cxn>
                      <a:cxn ang="0">
                        <a:pos x="60" y="83"/>
                      </a:cxn>
                      <a:cxn ang="0">
                        <a:pos x="52" y="93"/>
                      </a:cxn>
                      <a:cxn ang="0">
                        <a:pos x="52" y="103"/>
                      </a:cxn>
                      <a:cxn ang="0">
                        <a:pos x="60" y="97"/>
                      </a:cxn>
                      <a:cxn ang="0">
                        <a:pos x="64" y="90"/>
                      </a:cxn>
                      <a:cxn ang="0">
                        <a:pos x="68" y="92"/>
                      </a:cxn>
                      <a:cxn ang="0">
                        <a:pos x="76" y="81"/>
                      </a:cxn>
                      <a:cxn ang="0">
                        <a:pos x="76" y="78"/>
                      </a:cxn>
                      <a:cxn ang="0">
                        <a:pos x="72" y="76"/>
                      </a:cxn>
                      <a:cxn ang="0">
                        <a:pos x="62" y="64"/>
                      </a:cxn>
                      <a:cxn ang="0">
                        <a:pos x="52" y="53"/>
                      </a:cxn>
                      <a:cxn ang="0">
                        <a:pos x="39" y="41"/>
                      </a:cxn>
                      <a:cxn ang="0">
                        <a:pos x="30" y="37"/>
                      </a:cxn>
                      <a:cxn ang="0">
                        <a:pos x="30" y="29"/>
                      </a:cxn>
                      <a:cxn ang="0">
                        <a:pos x="33" y="24"/>
                      </a:cxn>
                      <a:cxn ang="0">
                        <a:pos x="33" y="14"/>
                      </a:cxn>
                      <a:cxn ang="0">
                        <a:pos x="36" y="11"/>
                      </a:cxn>
                      <a:cxn ang="0">
                        <a:pos x="30" y="3"/>
                      </a:cxn>
                    </a:cxnLst>
                    <a:rect l="0" t="0" r="0" b="0"/>
                    <a:pathLst>
                      <a:path w="77" h="275">
                        <a:moveTo>
                          <a:pt x="30" y="3"/>
                        </a:moveTo>
                        <a:lnTo>
                          <a:pt x="14" y="0"/>
                        </a:lnTo>
                        <a:lnTo>
                          <a:pt x="9" y="7"/>
                        </a:lnTo>
                        <a:lnTo>
                          <a:pt x="6" y="4"/>
                        </a:lnTo>
                        <a:lnTo>
                          <a:pt x="2" y="16"/>
                        </a:lnTo>
                        <a:lnTo>
                          <a:pt x="10" y="24"/>
                        </a:lnTo>
                        <a:lnTo>
                          <a:pt x="11" y="30"/>
                        </a:lnTo>
                        <a:lnTo>
                          <a:pt x="13" y="31"/>
                        </a:lnTo>
                        <a:lnTo>
                          <a:pt x="14" y="37"/>
                        </a:lnTo>
                        <a:lnTo>
                          <a:pt x="21" y="38"/>
                        </a:lnTo>
                        <a:lnTo>
                          <a:pt x="21" y="40"/>
                        </a:lnTo>
                        <a:lnTo>
                          <a:pt x="10" y="49"/>
                        </a:lnTo>
                        <a:lnTo>
                          <a:pt x="2" y="88"/>
                        </a:lnTo>
                        <a:lnTo>
                          <a:pt x="9" y="98"/>
                        </a:lnTo>
                        <a:lnTo>
                          <a:pt x="9" y="171"/>
                        </a:lnTo>
                        <a:lnTo>
                          <a:pt x="16" y="173"/>
                        </a:lnTo>
                        <a:lnTo>
                          <a:pt x="18" y="185"/>
                        </a:lnTo>
                        <a:lnTo>
                          <a:pt x="22" y="216"/>
                        </a:lnTo>
                        <a:lnTo>
                          <a:pt x="22" y="232"/>
                        </a:lnTo>
                        <a:lnTo>
                          <a:pt x="9" y="242"/>
                        </a:lnTo>
                        <a:lnTo>
                          <a:pt x="0" y="247"/>
                        </a:lnTo>
                        <a:lnTo>
                          <a:pt x="0" y="251"/>
                        </a:lnTo>
                        <a:lnTo>
                          <a:pt x="19" y="246"/>
                        </a:lnTo>
                        <a:lnTo>
                          <a:pt x="22" y="242"/>
                        </a:lnTo>
                        <a:lnTo>
                          <a:pt x="24" y="246"/>
                        </a:lnTo>
                        <a:lnTo>
                          <a:pt x="25" y="246"/>
                        </a:lnTo>
                        <a:lnTo>
                          <a:pt x="28" y="234"/>
                        </a:lnTo>
                        <a:lnTo>
                          <a:pt x="30" y="182"/>
                        </a:lnTo>
                        <a:lnTo>
                          <a:pt x="33" y="182"/>
                        </a:lnTo>
                        <a:lnTo>
                          <a:pt x="44" y="228"/>
                        </a:lnTo>
                        <a:lnTo>
                          <a:pt x="44" y="257"/>
                        </a:lnTo>
                        <a:lnTo>
                          <a:pt x="49" y="271"/>
                        </a:lnTo>
                        <a:lnTo>
                          <a:pt x="53" y="274"/>
                        </a:lnTo>
                        <a:lnTo>
                          <a:pt x="55" y="266"/>
                        </a:lnTo>
                        <a:lnTo>
                          <a:pt x="52" y="258"/>
                        </a:lnTo>
                        <a:lnTo>
                          <a:pt x="49" y="240"/>
                        </a:lnTo>
                        <a:lnTo>
                          <a:pt x="48" y="175"/>
                        </a:lnTo>
                        <a:lnTo>
                          <a:pt x="45" y="110"/>
                        </a:lnTo>
                        <a:lnTo>
                          <a:pt x="52" y="105"/>
                        </a:lnTo>
                        <a:lnTo>
                          <a:pt x="52" y="95"/>
                        </a:lnTo>
                        <a:lnTo>
                          <a:pt x="52" y="78"/>
                        </a:lnTo>
                        <a:lnTo>
                          <a:pt x="60" y="83"/>
                        </a:lnTo>
                        <a:lnTo>
                          <a:pt x="52" y="93"/>
                        </a:lnTo>
                        <a:lnTo>
                          <a:pt x="52" y="103"/>
                        </a:lnTo>
                        <a:lnTo>
                          <a:pt x="60" y="97"/>
                        </a:lnTo>
                        <a:lnTo>
                          <a:pt x="64" y="90"/>
                        </a:lnTo>
                        <a:lnTo>
                          <a:pt x="68" y="92"/>
                        </a:lnTo>
                        <a:lnTo>
                          <a:pt x="76" y="81"/>
                        </a:lnTo>
                        <a:lnTo>
                          <a:pt x="76" y="78"/>
                        </a:lnTo>
                        <a:lnTo>
                          <a:pt x="72" y="76"/>
                        </a:lnTo>
                        <a:lnTo>
                          <a:pt x="62" y="64"/>
                        </a:lnTo>
                        <a:lnTo>
                          <a:pt x="52" y="53"/>
                        </a:lnTo>
                        <a:lnTo>
                          <a:pt x="39" y="41"/>
                        </a:lnTo>
                        <a:lnTo>
                          <a:pt x="30" y="37"/>
                        </a:lnTo>
                        <a:lnTo>
                          <a:pt x="30" y="29"/>
                        </a:lnTo>
                        <a:lnTo>
                          <a:pt x="33" y="24"/>
                        </a:lnTo>
                        <a:lnTo>
                          <a:pt x="33" y="14"/>
                        </a:lnTo>
                        <a:lnTo>
                          <a:pt x="36" y="11"/>
                        </a:lnTo>
                        <a:lnTo>
                          <a:pt x="30" y="3"/>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70" name="Freeform 37"/>
                  <p:cNvSpPr/>
                  <p:nvPr/>
                </p:nvSpPr>
                <p:spPr>
                  <a:xfrm>
                    <a:off x="3758" y="1963"/>
                    <a:ext cx="54" cy="264"/>
                  </a:xfrm>
                  <a:custGeom>
                    <a:avLst/>
                    <a:gdLst/>
                    <a:ahLst/>
                    <a:cxnLst>
                      <a:cxn ang="0">
                        <a:pos x="41" y="5"/>
                      </a:cxn>
                      <a:cxn ang="0">
                        <a:pos x="41" y="12"/>
                      </a:cxn>
                      <a:cxn ang="0">
                        <a:pos x="40" y="14"/>
                      </a:cxn>
                      <a:cxn ang="0">
                        <a:pos x="43" y="19"/>
                      </a:cxn>
                      <a:cxn ang="0">
                        <a:pos x="41" y="20"/>
                      </a:cxn>
                      <a:cxn ang="0">
                        <a:pos x="41" y="22"/>
                      </a:cxn>
                      <a:cxn ang="0">
                        <a:pos x="40" y="30"/>
                      </a:cxn>
                      <a:cxn ang="0">
                        <a:pos x="49" y="38"/>
                      </a:cxn>
                      <a:cxn ang="0">
                        <a:pos x="53" y="92"/>
                      </a:cxn>
                      <a:cxn ang="0">
                        <a:pos x="48" y="102"/>
                      </a:cxn>
                      <a:cxn ang="0">
                        <a:pos x="50" y="131"/>
                      </a:cxn>
                      <a:cxn ang="0">
                        <a:pos x="47" y="135"/>
                      </a:cxn>
                      <a:cxn ang="0">
                        <a:pos x="44" y="181"/>
                      </a:cxn>
                      <a:cxn ang="0">
                        <a:pos x="42" y="228"/>
                      </a:cxn>
                      <a:cxn ang="0">
                        <a:pos x="43" y="230"/>
                      </a:cxn>
                      <a:cxn ang="0">
                        <a:pos x="53" y="239"/>
                      </a:cxn>
                      <a:cxn ang="0">
                        <a:pos x="51" y="241"/>
                      </a:cxn>
                      <a:cxn ang="0">
                        <a:pos x="48" y="242"/>
                      </a:cxn>
                      <a:cxn ang="0">
                        <a:pos x="43" y="241"/>
                      </a:cxn>
                      <a:cxn ang="0">
                        <a:pos x="36" y="237"/>
                      </a:cxn>
                      <a:cxn ang="0">
                        <a:pos x="32" y="235"/>
                      </a:cxn>
                      <a:cxn ang="0">
                        <a:pos x="32" y="244"/>
                      </a:cxn>
                      <a:cxn ang="0">
                        <a:pos x="30" y="244"/>
                      </a:cxn>
                      <a:cxn ang="0">
                        <a:pos x="34" y="250"/>
                      </a:cxn>
                      <a:cxn ang="0">
                        <a:pos x="32" y="261"/>
                      </a:cxn>
                      <a:cxn ang="0">
                        <a:pos x="29" y="263"/>
                      </a:cxn>
                      <a:cxn ang="0">
                        <a:pos x="23" y="254"/>
                      </a:cxn>
                      <a:cxn ang="0">
                        <a:pos x="23" y="247"/>
                      </a:cxn>
                      <a:cxn ang="0">
                        <a:pos x="21" y="246"/>
                      </a:cxn>
                      <a:cxn ang="0">
                        <a:pos x="19" y="186"/>
                      </a:cxn>
                      <a:cxn ang="0">
                        <a:pos x="21" y="181"/>
                      </a:cxn>
                      <a:cxn ang="0">
                        <a:pos x="15" y="140"/>
                      </a:cxn>
                      <a:cxn ang="0">
                        <a:pos x="10" y="139"/>
                      </a:cxn>
                      <a:cxn ang="0">
                        <a:pos x="10" y="97"/>
                      </a:cxn>
                      <a:cxn ang="0">
                        <a:pos x="0" y="92"/>
                      </a:cxn>
                      <a:cxn ang="0">
                        <a:pos x="3" y="47"/>
                      </a:cxn>
                      <a:cxn ang="0">
                        <a:pos x="19" y="35"/>
                      </a:cxn>
                      <a:cxn ang="0">
                        <a:pos x="23" y="30"/>
                      </a:cxn>
                      <a:cxn ang="0">
                        <a:pos x="23" y="26"/>
                      </a:cxn>
                      <a:cxn ang="0">
                        <a:pos x="22" y="23"/>
                      </a:cxn>
                      <a:cxn ang="0">
                        <a:pos x="20" y="21"/>
                      </a:cxn>
                      <a:cxn ang="0">
                        <a:pos x="18" y="17"/>
                      </a:cxn>
                      <a:cxn ang="0">
                        <a:pos x="17" y="15"/>
                      </a:cxn>
                      <a:cxn ang="0">
                        <a:pos x="17" y="12"/>
                      </a:cxn>
                      <a:cxn ang="0">
                        <a:pos x="18" y="8"/>
                      </a:cxn>
                      <a:cxn ang="0">
                        <a:pos x="21" y="4"/>
                      </a:cxn>
                      <a:cxn ang="0">
                        <a:pos x="23" y="1"/>
                      </a:cxn>
                      <a:cxn ang="0">
                        <a:pos x="27" y="0"/>
                      </a:cxn>
                      <a:cxn ang="0">
                        <a:pos x="30" y="0"/>
                      </a:cxn>
                      <a:cxn ang="0">
                        <a:pos x="34" y="0"/>
                      </a:cxn>
                      <a:cxn ang="0">
                        <a:pos x="36" y="1"/>
                      </a:cxn>
                      <a:cxn ang="0">
                        <a:pos x="41" y="5"/>
                      </a:cxn>
                    </a:cxnLst>
                    <a:rect l="0" t="0" r="0" b="0"/>
                    <a:pathLst>
                      <a:path w="54" h="264">
                        <a:moveTo>
                          <a:pt x="41" y="5"/>
                        </a:moveTo>
                        <a:lnTo>
                          <a:pt x="41" y="12"/>
                        </a:lnTo>
                        <a:lnTo>
                          <a:pt x="40" y="14"/>
                        </a:lnTo>
                        <a:lnTo>
                          <a:pt x="43" y="19"/>
                        </a:lnTo>
                        <a:lnTo>
                          <a:pt x="41" y="20"/>
                        </a:lnTo>
                        <a:lnTo>
                          <a:pt x="41" y="22"/>
                        </a:lnTo>
                        <a:lnTo>
                          <a:pt x="40" y="30"/>
                        </a:lnTo>
                        <a:lnTo>
                          <a:pt x="49" y="38"/>
                        </a:lnTo>
                        <a:lnTo>
                          <a:pt x="53" y="92"/>
                        </a:lnTo>
                        <a:lnTo>
                          <a:pt x="48" y="102"/>
                        </a:lnTo>
                        <a:lnTo>
                          <a:pt x="50" y="131"/>
                        </a:lnTo>
                        <a:lnTo>
                          <a:pt x="47" y="135"/>
                        </a:lnTo>
                        <a:lnTo>
                          <a:pt x="44" y="181"/>
                        </a:lnTo>
                        <a:lnTo>
                          <a:pt x="42" y="228"/>
                        </a:lnTo>
                        <a:lnTo>
                          <a:pt x="43" y="230"/>
                        </a:lnTo>
                        <a:lnTo>
                          <a:pt x="53" y="239"/>
                        </a:lnTo>
                        <a:lnTo>
                          <a:pt x="51" y="241"/>
                        </a:lnTo>
                        <a:lnTo>
                          <a:pt x="48" y="242"/>
                        </a:lnTo>
                        <a:lnTo>
                          <a:pt x="43" y="241"/>
                        </a:lnTo>
                        <a:lnTo>
                          <a:pt x="36" y="237"/>
                        </a:lnTo>
                        <a:lnTo>
                          <a:pt x="32" y="235"/>
                        </a:lnTo>
                        <a:lnTo>
                          <a:pt x="32" y="244"/>
                        </a:lnTo>
                        <a:lnTo>
                          <a:pt x="30" y="244"/>
                        </a:lnTo>
                        <a:lnTo>
                          <a:pt x="34" y="250"/>
                        </a:lnTo>
                        <a:lnTo>
                          <a:pt x="32" y="261"/>
                        </a:lnTo>
                        <a:lnTo>
                          <a:pt x="29" y="263"/>
                        </a:lnTo>
                        <a:lnTo>
                          <a:pt x="23" y="254"/>
                        </a:lnTo>
                        <a:lnTo>
                          <a:pt x="23" y="247"/>
                        </a:lnTo>
                        <a:lnTo>
                          <a:pt x="21" y="246"/>
                        </a:lnTo>
                        <a:lnTo>
                          <a:pt x="19" y="186"/>
                        </a:lnTo>
                        <a:lnTo>
                          <a:pt x="21" y="181"/>
                        </a:lnTo>
                        <a:lnTo>
                          <a:pt x="15" y="140"/>
                        </a:lnTo>
                        <a:lnTo>
                          <a:pt x="10" y="139"/>
                        </a:lnTo>
                        <a:lnTo>
                          <a:pt x="10" y="97"/>
                        </a:lnTo>
                        <a:lnTo>
                          <a:pt x="0" y="92"/>
                        </a:lnTo>
                        <a:lnTo>
                          <a:pt x="3" y="47"/>
                        </a:lnTo>
                        <a:lnTo>
                          <a:pt x="19" y="35"/>
                        </a:lnTo>
                        <a:lnTo>
                          <a:pt x="23" y="30"/>
                        </a:lnTo>
                        <a:lnTo>
                          <a:pt x="23" y="26"/>
                        </a:lnTo>
                        <a:lnTo>
                          <a:pt x="22" y="23"/>
                        </a:lnTo>
                        <a:lnTo>
                          <a:pt x="20" y="21"/>
                        </a:lnTo>
                        <a:lnTo>
                          <a:pt x="18" y="17"/>
                        </a:lnTo>
                        <a:lnTo>
                          <a:pt x="17" y="15"/>
                        </a:lnTo>
                        <a:lnTo>
                          <a:pt x="17" y="12"/>
                        </a:lnTo>
                        <a:lnTo>
                          <a:pt x="18" y="8"/>
                        </a:lnTo>
                        <a:lnTo>
                          <a:pt x="21" y="4"/>
                        </a:lnTo>
                        <a:lnTo>
                          <a:pt x="23" y="1"/>
                        </a:lnTo>
                        <a:lnTo>
                          <a:pt x="27" y="0"/>
                        </a:lnTo>
                        <a:lnTo>
                          <a:pt x="30" y="0"/>
                        </a:lnTo>
                        <a:lnTo>
                          <a:pt x="34" y="0"/>
                        </a:lnTo>
                        <a:lnTo>
                          <a:pt x="36" y="1"/>
                        </a:lnTo>
                        <a:lnTo>
                          <a:pt x="41" y="5"/>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sp>
              <p:nvSpPr>
                <p:cNvPr id="64" name="Freeform 38"/>
                <p:cNvSpPr/>
                <p:nvPr/>
              </p:nvSpPr>
              <p:spPr>
                <a:xfrm>
                  <a:off x="4322" y="1981"/>
                  <a:ext cx="67" cy="241"/>
                </a:xfrm>
                <a:custGeom>
                  <a:avLst/>
                  <a:gdLst/>
                  <a:ahLst/>
                  <a:cxnLst>
                    <a:cxn ang="0">
                      <a:pos x="34" y="3"/>
                    </a:cxn>
                    <a:cxn ang="0">
                      <a:pos x="47" y="0"/>
                    </a:cxn>
                    <a:cxn ang="0">
                      <a:pos x="52" y="6"/>
                    </a:cxn>
                    <a:cxn ang="0">
                      <a:pos x="54" y="4"/>
                    </a:cxn>
                    <a:cxn ang="0">
                      <a:pos x="58" y="15"/>
                    </a:cxn>
                    <a:cxn ang="0">
                      <a:pos x="50" y="21"/>
                    </a:cxn>
                    <a:cxn ang="0">
                      <a:pos x="50" y="26"/>
                    </a:cxn>
                    <a:cxn ang="0">
                      <a:pos x="48" y="27"/>
                    </a:cxn>
                    <a:cxn ang="0">
                      <a:pos x="47" y="33"/>
                    </a:cxn>
                    <a:cxn ang="0">
                      <a:pos x="41" y="34"/>
                    </a:cxn>
                    <a:cxn ang="0">
                      <a:pos x="41" y="36"/>
                    </a:cxn>
                    <a:cxn ang="0">
                      <a:pos x="50" y="43"/>
                    </a:cxn>
                    <a:cxn ang="0">
                      <a:pos x="58" y="77"/>
                    </a:cxn>
                    <a:cxn ang="0">
                      <a:pos x="52" y="86"/>
                    </a:cxn>
                    <a:cxn ang="0">
                      <a:pos x="52" y="149"/>
                    </a:cxn>
                    <a:cxn ang="0">
                      <a:pos x="45" y="152"/>
                    </a:cxn>
                    <a:cxn ang="0">
                      <a:pos x="44" y="162"/>
                    </a:cxn>
                    <a:cxn ang="0">
                      <a:pos x="41" y="189"/>
                    </a:cxn>
                    <a:cxn ang="0">
                      <a:pos x="41" y="203"/>
                    </a:cxn>
                    <a:cxn ang="0">
                      <a:pos x="52" y="212"/>
                    </a:cxn>
                    <a:cxn ang="0">
                      <a:pos x="60" y="216"/>
                    </a:cxn>
                    <a:cxn ang="0">
                      <a:pos x="60" y="219"/>
                    </a:cxn>
                    <a:cxn ang="0">
                      <a:pos x="43" y="215"/>
                    </a:cxn>
                    <a:cxn ang="0">
                      <a:pos x="41" y="212"/>
                    </a:cxn>
                    <a:cxn ang="0">
                      <a:pos x="39" y="215"/>
                    </a:cxn>
                    <a:cxn ang="0">
                      <a:pos x="38" y="215"/>
                    </a:cxn>
                    <a:cxn ang="0">
                      <a:pos x="36" y="205"/>
                    </a:cxn>
                    <a:cxn ang="0">
                      <a:pos x="34" y="159"/>
                    </a:cxn>
                    <a:cxn ang="0">
                      <a:pos x="34" y="159"/>
                    </a:cxn>
                    <a:cxn ang="0">
                      <a:pos x="28" y="199"/>
                    </a:cxn>
                    <a:cxn ang="0">
                      <a:pos x="28" y="225"/>
                    </a:cxn>
                    <a:cxn ang="0">
                      <a:pos x="24" y="237"/>
                    </a:cxn>
                    <a:cxn ang="0">
                      <a:pos x="20" y="240"/>
                    </a:cxn>
                    <a:cxn ang="0">
                      <a:pos x="18" y="233"/>
                    </a:cxn>
                    <a:cxn ang="0">
                      <a:pos x="21" y="226"/>
                    </a:cxn>
                    <a:cxn ang="0">
                      <a:pos x="24" y="210"/>
                    </a:cxn>
                    <a:cxn ang="0">
                      <a:pos x="24" y="152"/>
                    </a:cxn>
                    <a:cxn ang="0">
                      <a:pos x="28" y="97"/>
                    </a:cxn>
                    <a:cxn ang="0">
                      <a:pos x="22" y="92"/>
                    </a:cxn>
                    <a:cxn ang="0">
                      <a:pos x="22" y="83"/>
                    </a:cxn>
                    <a:cxn ang="0">
                      <a:pos x="22" y="68"/>
                    </a:cxn>
                    <a:cxn ang="0">
                      <a:pos x="14" y="73"/>
                    </a:cxn>
                    <a:cxn ang="0">
                      <a:pos x="21" y="81"/>
                    </a:cxn>
                    <a:cxn ang="0">
                      <a:pos x="21" y="90"/>
                    </a:cxn>
                    <a:cxn ang="0">
                      <a:pos x="14" y="85"/>
                    </a:cxn>
                    <a:cxn ang="0">
                      <a:pos x="11" y="79"/>
                    </a:cxn>
                    <a:cxn ang="0">
                      <a:pos x="7" y="81"/>
                    </a:cxn>
                    <a:cxn ang="0">
                      <a:pos x="0" y="72"/>
                    </a:cxn>
                    <a:cxn ang="0">
                      <a:pos x="0" y="68"/>
                    </a:cxn>
                    <a:cxn ang="0">
                      <a:pos x="4" y="67"/>
                    </a:cxn>
                    <a:cxn ang="0">
                      <a:pos x="12" y="56"/>
                    </a:cxn>
                    <a:cxn ang="0">
                      <a:pos x="21" y="47"/>
                    </a:cxn>
                    <a:cxn ang="0">
                      <a:pos x="32" y="37"/>
                    </a:cxn>
                    <a:cxn ang="0">
                      <a:pos x="34" y="33"/>
                    </a:cxn>
                    <a:cxn ang="0">
                      <a:pos x="34" y="25"/>
                    </a:cxn>
                    <a:cxn ang="0">
                      <a:pos x="34" y="21"/>
                    </a:cxn>
                    <a:cxn ang="0">
                      <a:pos x="34" y="12"/>
                    </a:cxn>
                    <a:cxn ang="0">
                      <a:pos x="34" y="10"/>
                    </a:cxn>
                    <a:cxn ang="0">
                      <a:pos x="34" y="3"/>
                    </a:cxn>
                  </a:cxnLst>
                  <a:rect l="0" t="0" r="0" b="0"/>
                  <a:pathLst>
                    <a:path w="68" h="241">
                      <a:moveTo>
                        <a:pt x="40" y="3"/>
                      </a:moveTo>
                      <a:lnTo>
                        <a:pt x="54" y="0"/>
                      </a:lnTo>
                      <a:lnTo>
                        <a:pt x="59" y="6"/>
                      </a:lnTo>
                      <a:lnTo>
                        <a:pt x="61" y="4"/>
                      </a:lnTo>
                      <a:lnTo>
                        <a:pt x="65" y="15"/>
                      </a:lnTo>
                      <a:lnTo>
                        <a:pt x="57" y="21"/>
                      </a:lnTo>
                      <a:lnTo>
                        <a:pt x="57" y="26"/>
                      </a:lnTo>
                      <a:lnTo>
                        <a:pt x="55" y="27"/>
                      </a:lnTo>
                      <a:lnTo>
                        <a:pt x="54" y="33"/>
                      </a:lnTo>
                      <a:lnTo>
                        <a:pt x="48" y="34"/>
                      </a:lnTo>
                      <a:lnTo>
                        <a:pt x="48" y="36"/>
                      </a:lnTo>
                      <a:lnTo>
                        <a:pt x="57" y="43"/>
                      </a:lnTo>
                      <a:lnTo>
                        <a:pt x="65" y="77"/>
                      </a:lnTo>
                      <a:lnTo>
                        <a:pt x="59" y="86"/>
                      </a:lnTo>
                      <a:lnTo>
                        <a:pt x="59" y="149"/>
                      </a:lnTo>
                      <a:lnTo>
                        <a:pt x="52" y="152"/>
                      </a:lnTo>
                      <a:lnTo>
                        <a:pt x="51" y="162"/>
                      </a:lnTo>
                      <a:lnTo>
                        <a:pt x="48" y="189"/>
                      </a:lnTo>
                      <a:lnTo>
                        <a:pt x="48" y="203"/>
                      </a:lnTo>
                      <a:lnTo>
                        <a:pt x="59" y="212"/>
                      </a:lnTo>
                      <a:lnTo>
                        <a:pt x="67" y="216"/>
                      </a:lnTo>
                      <a:lnTo>
                        <a:pt x="67" y="219"/>
                      </a:lnTo>
                      <a:lnTo>
                        <a:pt x="50" y="215"/>
                      </a:lnTo>
                      <a:lnTo>
                        <a:pt x="48" y="212"/>
                      </a:lnTo>
                      <a:lnTo>
                        <a:pt x="46" y="215"/>
                      </a:lnTo>
                      <a:lnTo>
                        <a:pt x="45" y="215"/>
                      </a:lnTo>
                      <a:lnTo>
                        <a:pt x="43" y="205"/>
                      </a:lnTo>
                      <a:lnTo>
                        <a:pt x="40" y="159"/>
                      </a:lnTo>
                      <a:lnTo>
                        <a:pt x="37" y="159"/>
                      </a:lnTo>
                      <a:lnTo>
                        <a:pt x="28" y="199"/>
                      </a:lnTo>
                      <a:lnTo>
                        <a:pt x="28" y="225"/>
                      </a:lnTo>
                      <a:lnTo>
                        <a:pt x="24" y="237"/>
                      </a:lnTo>
                      <a:lnTo>
                        <a:pt x="20" y="240"/>
                      </a:lnTo>
                      <a:lnTo>
                        <a:pt x="18" y="233"/>
                      </a:lnTo>
                      <a:lnTo>
                        <a:pt x="21" y="226"/>
                      </a:lnTo>
                      <a:lnTo>
                        <a:pt x="24" y="210"/>
                      </a:lnTo>
                      <a:lnTo>
                        <a:pt x="24" y="152"/>
                      </a:lnTo>
                      <a:lnTo>
                        <a:pt x="28" y="97"/>
                      </a:lnTo>
                      <a:lnTo>
                        <a:pt x="22" y="92"/>
                      </a:lnTo>
                      <a:lnTo>
                        <a:pt x="22" y="83"/>
                      </a:lnTo>
                      <a:lnTo>
                        <a:pt x="22" y="68"/>
                      </a:lnTo>
                      <a:lnTo>
                        <a:pt x="14" y="73"/>
                      </a:lnTo>
                      <a:lnTo>
                        <a:pt x="21" y="81"/>
                      </a:lnTo>
                      <a:lnTo>
                        <a:pt x="21" y="90"/>
                      </a:lnTo>
                      <a:lnTo>
                        <a:pt x="14" y="85"/>
                      </a:lnTo>
                      <a:lnTo>
                        <a:pt x="11" y="79"/>
                      </a:lnTo>
                      <a:lnTo>
                        <a:pt x="7" y="81"/>
                      </a:lnTo>
                      <a:lnTo>
                        <a:pt x="0" y="72"/>
                      </a:lnTo>
                      <a:lnTo>
                        <a:pt x="0" y="68"/>
                      </a:lnTo>
                      <a:lnTo>
                        <a:pt x="4" y="67"/>
                      </a:lnTo>
                      <a:lnTo>
                        <a:pt x="12" y="56"/>
                      </a:lnTo>
                      <a:lnTo>
                        <a:pt x="21" y="47"/>
                      </a:lnTo>
                      <a:lnTo>
                        <a:pt x="32" y="37"/>
                      </a:lnTo>
                      <a:lnTo>
                        <a:pt x="40" y="33"/>
                      </a:lnTo>
                      <a:lnTo>
                        <a:pt x="40" y="25"/>
                      </a:lnTo>
                      <a:lnTo>
                        <a:pt x="37" y="21"/>
                      </a:lnTo>
                      <a:lnTo>
                        <a:pt x="37" y="12"/>
                      </a:lnTo>
                      <a:lnTo>
                        <a:pt x="35" y="10"/>
                      </a:lnTo>
                      <a:lnTo>
                        <a:pt x="40" y="3"/>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65" name="Freeform 39"/>
                <p:cNvSpPr/>
                <p:nvPr/>
              </p:nvSpPr>
              <p:spPr>
                <a:xfrm>
                  <a:off x="4518" y="1925"/>
                  <a:ext cx="38" cy="211"/>
                </a:xfrm>
                <a:custGeom>
                  <a:avLst/>
                  <a:gdLst/>
                  <a:ahLst/>
                  <a:cxnLst>
                    <a:cxn ang="0">
                      <a:pos x="24" y="3"/>
                    </a:cxn>
                    <a:cxn ang="0">
                      <a:pos x="16" y="0"/>
                    </a:cxn>
                    <a:cxn ang="0">
                      <a:pos x="8" y="0"/>
                    </a:cxn>
                    <a:cxn ang="0">
                      <a:pos x="2" y="1"/>
                    </a:cxn>
                    <a:cxn ang="0">
                      <a:pos x="0" y="9"/>
                    </a:cxn>
                    <a:cxn ang="0">
                      <a:pos x="0" y="14"/>
                    </a:cxn>
                    <a:cxn ang="0">
                      <a:pos x="4" y="22"/>
                    </a:cxn>
                    <a:cxn ang="0">
                      <a:pos x="6" y="22"/>
                    </a:cxn>
                    <a:cxn ang="0">
                      <a:pos x="2" y="31"/>
                    </a:cxn>
                    <a:cxn ang="0">
                      <a:pos x="0" y="44"/>
                    </a:cxn>
                    <a:cxn ang="0">
                      <a:pos x="0" y="57"/>
                    </a:cxn>
                    <a:cxn ang="0">
                      <a:pos x="0" y="72"/>
                    </a:cxn>
                    <a:cxn ang="0">
                      <a:pos x="2" y="87"/>
                    </a:cxn>
                    <a:cxn ang="0">
                      <a:pos x="7" y="88"/>
                    </a:cxn>
                    <a:cxn ang="0">
                      <a:pos x="7" y="92"/>
                    </a:cxn>
                    <a:cxn ang="0">
                      <a:pos x="10" y="94"/>
                    </a:cxn>
                    <a:cxn ang="0">
                      <a:pos x="10" y="110"/>
                    </a:cxn>
                    <a:cxn ang="0">
                      <a:pos x="12" y="113"/>
                    </a:cxn>
                    <a:cxn ang="0">
                      <a:pos x="12" y="141"/>
                    </a:cxn>
                    <a:cxn ang="0">
                      <a:pos x="12" y="159"/>
                    </a:cxn>
                    <a:cxn ang="0">
                      <a:pos x="8" y="179"/>
                    </a:cxn>
                    <a:cxn ang="0">
                      <a:pos x="7" y="204"/>
                    </a:cxn>
                    <a:cxn ang="0">
                      <a:pos x="11" y="206"/>
                    </a:cxn>
                    <a:cxn ang="0">
                      <a:pos x="11" y="209"/>
                    </a:cxn>
                    <a:cxn ang="0">
                      <a:pos x="17" y="209"/>
                    </a:cxn>
                    <a:cxn ang="0">
                      <a:pos x="18" y="208"/>
                    </a:cxn>
                    <a:cxn ang="0">
                      <a:pos x="21" y="208"/>
                    </a:cxn>
                    <a:cxn ang="0">
                      <a:pos x="21" y="210"/>
                    </a:cxn>
                    <a:cxn ang="0">
                      <a:pos x="25" y="209"/>
                    </a:cxn>
                    <a:cxn ang="0">
                      <a:pos x="35" y="208"/>
                    </a:cxn>
                    <a:cxn ang="0">
                      <a:pos x="35" y="206"/>
                    </a:cxn>
                    <a:cxn ang="0">
                      <a:pos x="26" y="202"/>
                    </a:cxn>
                    <a:cxn ang="0">
                      <a:pos x="26" y="198"/>
                    </a:cxn>
                    <a:cxn ang="0">
                      <a:pos x="34" y="197"/>
                    </a:cxn>
                    <a:cxn ang="0">
                      <a:pos x="34" y="195"/>
                    </a:cxn>
                    <a:cxn ang="0">
                      <a:pos x="29" y="190"/>
                    </a:cxn>
                    <a:cxn ang="0">
                      <a:pos x="29" y="161"/>
                    </a:cxn>
                    <a:cxn ang="0">
                      <a:pos x="30" y="135"/>
                    </a:cxn>
                    <a:cxn ang="0">
                      <a:pos x="30" y="109"/>
                    </a:cxn>
                    <a:cxn ang="0">
                      <a:pos x="30" y="94"/>
                    </a:cxn>
                    <a:cxn ang="0">
                      <a:pos x="30" y="90"/>
                    </a:cxn>
                    <a:cxn ang="0">
                      <a:pos x="30" y="69"/>
                    </a:cxn>
                    <a:cxn ang="0">
                      <a:pos x="37" y="65"/>
                    </a:cxn>
                    <a:cxn ang="0">
                      <a:pos x="37" y="62"/>
                    </a:cxn>
                    <a:cxn ang="0">
                      <a:pos x="23" y="34"/>
                    </a:cxn>
                    <a:cxn ang="0">
                      <a:pos x="16" y="30"/>
                    </a:cxn>
                    <a:cxn ang="0">
                      <a:pos x="17" y="28"/>
                    </a:cxn>
                    <a:cxn ang="0">
                      <a:pos x="21" y="27"/>
                    </a:cxn>
                    <a:cxn ang="0">
                      <a:pos x="21" y="25"/>
                    </a:cxn>
                    <a:cxn ang="0">
                      <a:pos x="23" y="24"/>
                    </a:cxn>
                    <a:cxn ang="0">
                      <a:pos x="23" y="22"/>
                    </a:cxn>
                    <a:cxn ang="0">
                      <a:pos x="24" y="21"/>
                    </a:cxn>
                    <a:cxn ang="0">
                      <a:pos x="23" y="20"/>
                    </a:cxn>
                    <a:cxn ang="0">
                      <a:pos x="24" y="19"/>
                    </a:cxn>
                    <a:cxn ang="0">
                      <a:pos x="21" y="14"/>
                    </a:cxn>
                    <a:cxn ang="0">
                      <a:pos x="23" y="12"/>
                    </a:cxn>
                    <a:cxn ang="0">
                      <a:pos x="21" y="10"/>
                    </a:cxn>
                    <a:cxn ang="0">
                      <a:pos x="24" y="7"/>
                    </a:cxn>
                    <a:cxn ang="0">
                      <a:pos x="24" y="3"/>
                    </a:cxn>
                  </a:cxnLst>
                  <a:rect l="0" t="0" r="0" b="0"/>
                  <a:pathLst>
                    <a:path w="38" h="211">
                      <a:moveTo>
                        <a:pt x="24" y="3"/>
                      </a:moveTo>
                      <a:lnTo>
                        <a:pt x="16" y="0"/>
                      </a:lnTo>
                      <a:lnTo>
                        <a:pt x="8" y="0"/>
                      </a:lnTo>
                      <a:lnTo>
                        <a:pt x="2" y="1"/>
                      </a:lnTo>
                      <a:lnTo>
                        <a:pt x="0" y="9"/>
                      </a:lnTo>
                      <a:lnTo>
                        <a:pt x="0" y="14"/>
                      </a:lnTo>
                      <a:lnTo>
                        <a:pt x="4" y="22"/>
                      </a:lnTo>
                      <a:lnTo>
                        <a:pt x="6" y="22"/>
                      </a:lnTo>
                      <a:lnTo>
                        <a:pt x="2" y="31"/>
                      </a:lnTo>
                      <a:lnTo>
                        <a:pt x="0" y="44"/>
                      </a:lnTo>
                      <a:lnTo>
                        <a:pt x="0" y="57"/>
                      </a:lnTo>
                      <a:lnTo>
                        <a:pt x="0" y="72"/>
                      </a:lnTo>
                      <a:lnTo>
                        <a:pt x="2" y="87"/>
                      </a:lnTo>
                      <a:lnTo>
                        <a:pt x="7" y="88"/>
                      </a:lnTo>
                      <a:lnTo>
                        <a:pt x="7" y="92"/>
                      </a:lnTo>
                      <a:lnTo>
                        <a:pt x="10" y="94"/>
                      </a:lnTo>
                      <a:lnTo>
                        <a:pt x="10" y="110"/>
                      </a:lnTo>
                      <a:lnTo>
                        <a:pt x="12" y="113"/>
                      </a:lnTo>
                      <a:lnTo>
                        <a:pt x="12" y="141"/>
                      </a:lnTo>
                      <a:lnTo>
                        <a:pt x="12" y="159"/>
                      </a:lnTo>
                      <a:lnTo>
                        <a:pt x="8" y="179"/>
                      </a:lnTo>
                      <a:lnTo>
                        <a:pt x="7" y="204"/>
                      </a:lnTo>
                      <a:lnTo>
                        <a:pt x="11" y="206"/>
                      </a:lnTo>
                      <a:lnTo>
                        <a:pt x="11" y="209"/>
                      </a:lnTo>
                      <a:lnTo>
                        <a:pt x="17" y="209"/>
                      </a:lnTo>
                      <a:lnTo>
                        <a:pt x="18" y="208"/>
                      </a:lnTo>
                      <a:lnTo>
                        <a:pt x="21" y="208"/>
                      </a:lnTo>
                      <a:lnTo>
                        <a:pt x="21" y="210"/>
                      </a:lnTo>
                      <a:lnTo>
                        <a:pt x="25" y="209"/>
                      </a:lnTo>
                      <a:lnTo>
                        <a:pt x="35" y="208"/>
                      </a:lnTo>
                      <a:lnTo>
                        <a:pt x="35" y="206"/>
                      </a:lnTo>
                      <a:lnTo>
                        <a:pt x="26" y="202"/>
                      </a:lnTo>
                      <a:lnTo>
                        <a:pt x="26" y="198"/>
                      </a:lnTo>
                      <a:lnTo>
                        <a:pt x="34" y="197"/>
                      </a:lnTo>
                      <a:lnTo>
                        <a:pt x="34" y="195"/>
                      </a:lnTo>
                      <a:lnTo>
                        <a:pt x="29" y="190"/>
                      </a:lnTo>
                      <a:lnTo>
                        <a:pt x="29" y="161"/>
                      </a:lnTo>
                      <a:lnTo>
                        <a:pt x="30" y="135"/>
                      </a:lnTo>
                      <a:lnTo>
                        <a:pt x="30" y="109"/>
                      </a:lnTo>
                      <a:lnTo>
                        <a:pt x="30" y="94"/>
                      </a:lnTo>
                      <a:lnTo>
                        <a:pt x="30" y="90"/>
                      </a:lnTo>
                      <a:lnTo>
                        <a:pt x="30" y="69"/>
                      </a:lnTo>
                      <a:lnTo>
                        <a:pt x="37" y="65"/>
                      </a:lnTo>
                      <a:lnTo>
                        <a:pt x="37" y="62"/>
                      </a:lnTo>
                      <a:lnTo>
                        <a:pt x="23" y="34"/>
                      </a:lnTo>
                      <a:lnTo>
                        <a:pt x="16" y="30"/>
                      </a:lnTo>
                      <a:lnTo>
                        <a:pt x="17" y="28"/>
                      </a:lnTo>
                      <a:lnTo>
                        <a:pt x="21" y="27"/>
                      </a:lnTo>
                      <a:lnTo>
                        <a:pt x="21" y="25"/>
                      </a:lnTo>
                      <a:lnTo>
                        <a:pt x="23" y="24"/>
                      </a:lnTo>
                      <a:lnTo>
                        <a:pt x="23" y="22"/>
                      </a:lnTo>
                      <a:lnTo>
                        <a:pt x="24" y="21"/>
                      </a:lnTo>
                      <a:lnTo>
                        <a:pt x="23" y="20"/>
                      </a:lnTo>
                      <a:lnTo>
                        <a:pt x="24" y="19"/>
                      </a:lnTo>
                      <a:lnTo>
                        <a:pt x="21" y="14"/>
                      </a:lnTo>
                      <a:lnTo>
                        <a:pt x="23" y="12"/>
                      </a:lnTo>
                      <a:lnTo>
                        <a:pt x="21" y="10"/>
                      </a:lnTo>
                      <a:lnTo>
                        <a:pt x="24" y="7"/>
                      </a:lnTo>
                      <a:lnTo>
                        <a:pt x="24" y="3"/>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66" name="Freeform 40"/>
                <p:cNvSpPr/>
                <p:nvPr/>
              </p:nvSpPr>
              <p:spPr>
                <a:xfrm>
                  <a:off x="3391" y="1923"/>
                  <a:ext cx="51" cy="190"/>
                </a:xfrm>
                <a:custGeom>
                  <a:avLst/>
                  <a:gdLst/>
                  <a:ahLst/>
                  <a:cxnLst>
                    <a:cxn ang="0">
                      <a:pos x="30" y="2"/>
                    </a:cxn>
                    <a:cxn ang="0">
                      <a:pos x="41" y="0"/>
                    </a:cxn>
                    <a:cxn ang="0">
                      <a:pos x="45" y="4"/>
                    </a:cxn>
                    <a:cxn ang="0">
                      <a:pos x="46" y="2"/>
                    </a:cxn>
                    <a:cxn ang="0">
                      <a:pos x="49" y="11"/>
                    </a:cxn>
                    <a:cxn ang="0">
                      <a:pos x="43" y="15"/>
                    </a:cxn>
                    <a:cxn ang="0">
                      <a:pos x="43" y="20"/>
                    </a:cxn>
                    <a:cxn ang="0">
                      <a:pos x="41" y="20"/>
                    </a:cxn>
                    <a:cxn ang="0">
                      <a:pos x="41" y="25"/>
                    </a:cxn>
                    <a:cxn ang="0">
                      <a:pos x="36" y="26"/>
                    </a:cxn>
                    <a:cxn ang="0">
                      <a:pos x="36" y="28"/>
                    </a:cxn>
                    <a:cxn ang="0">
                      <a:pos x="43" y="33"/>
                    </a:cxn>
                    <a:cxn ang="0">
                      <a:pos x="49" y="60"/>
                    </a:cxn>
                    <a:cxn ang="0">
                      <a:pos x="45" y="68"/>
                    </a:cxn>
                    <a:cxn ang="0">
                      <a:pos x="45" y="117"/>
                    </a:cxn>
                    <a:cxn ang="0">
                      <a:pos x="39" y="119"/>
                    </a:cxn>
                    <a:cxn ang="0">
                      <a:pos x="38" y="128"/>
                    </a:cxn>
                    <a:cxn ang="0">
                      <a:pos x="36" y="149"/>
                    </a:cxn>
                    <a:cxn ang="0">
                      <a:pos x="36" y="160"/>
                    </a:cxn>
                    <a:cxn ang="0">
                      <a:pos x="45" y="167"/>
                    </a:cxn>
                    <a:cxn ang="0">
                      <a:pos x="50" y="171"/>
                    </a:cxn>
                    <a:cxn ang="0">
                      <a:pos x="50" y="173"/>
                    </a:cxn>
                    <a:cxn ang="0">
                      <a:pos x="37" y="169"/>
                    </a:cxn>
                    <a:cxn ang="0">
                      <a:pos x="36" y="167"/>
                    </a:cxn>
                    <a:cxn ang="0">
                      <a:pos x="34" y="169"/>
                    </a:cxn>
                    <a:cxn ang="0">
                      <a:pos x="34" y="169"/>
                    </a:cxn>
                    <a:cxn ang="0">
                      <a:pos x="32" y="161"/>
                    </a:cxn>
                    <a:cxn ang="0">
                      <a:pos x="30" y="125"/>
                    </a:cxn>
                    <a:cxn ang="0">
                      <a:pos x="28" y="125"/>
                    </a:cxn>
                    <a:cxn ang="0">
                      <a:pos x="20" y="157"/>
                    </a:cxn>
                    <a:cxn ang="0">
                      <a:pos x="20" y="177"/>
                    </a:cxn>
                    <a:cxn ang="0">
                      <a:pos x="17" y="187"/>
                    </a:cxn>
                    <a:cxn ang="0">
                      <a:pos x="15" y="189"/>
                    </a:cxn>
                    <a:cxn ang="0">
                      <a:pos x="14" y="184"/>
                    </a:cxn>
                    <a:cxn ang="0">
                      <a:pos x="16" y="178"/>
                    </a:cxn>
                    <a:cxn ang="0">
                      <a:pos x="17" y="165"/>
                    </a:cxn>
                    <a:cxn ang="0">
                      <a:pos x="17" y="120"/>
                    </a:cxn>
                    <a:cxn ang="0">
                      <a:pos x="20" y="76"/>
                    </a:cxn>
                    <a:cxn ang="0">
                      <a:pos x="16" y="72"/>
                    </a:cxn>
                    <a:cxn ang="0">
                      <a:pos x="16" y="65"/>
                    </a:cxn>
                    <a:cxn ang="0">
                      <a:pos x="16" y="53"/>
                    </a:cxn>
                    <a:cxn ang="0">
                      <a:pos x="10" y="57"/>
                    </a:cxn>
                    <a:cxn ang="0">
                      <a:pos x="16" y="63"/>
                    </a:cxn>
                    <a:cxn ang="0">
                      <a:pos x="16" y="70"/>
                    </a:cxn>
                    <a:cxn ang="0">
                      <a:pos x="10" y="66"/>
                    </a:cxn>
                    <a:cxn ang="0">
                      <a:pos x="8" y="62"/>
                    </a:cxn>
                    <a:cxn ang="0">
                      <a:pos x="4" y="63"/>
                    </a:cxn>
                    <a:cxn ang="0">
                      <a:pos x="0" y="56"/>
                    </a:cxn>
                    <a:cxn ang="0">
                      <a:pos x="0" y="53"/>
                    </a:cxn>
                    <a:cxn ang="0">
                      <a:pos x="2" y="52"/>
                    </a:cxn>
                    <a:cxn ang="0">
                      <a:pos x="9" y="44"/>
                    </a:cxn>
                    <a:cxn ang="0">
                      <a:pos x="16" y="36"/>
                    </a:cxn>
                    <a:cxn ang="0">
                      <a:pos x="24" y="29"/>
                    </a:cxn>
                    <a:cxn ang="0">
                      <a:pos x="30" y="25"/>
                    </a:cxn>
                    <a:cxn ang="0">
                      <a:pos x="30" y="19"/>
                    </a:cxn>
                    <a:cxn ang="0">
                      <a:pos x="28" y="16"/>
                    </a:cxn>
                    <a:cxn ang="0">
                      <a:pos x="28" y="9"/>
                    </a:cxn>
                    <a:cxn ang="0">
                      <a:pos x="26" y="7"/>
                    </a:cxn>
                    <a:cxn ang="0">
                      <a:pos x="30" y="2"/>
                    </a:cxn>
                  </a:cxnLst>
                  <a:rect l="0" t="0" r="0" b="0"/>
                  <a:pathLst>
                    <a:path w="51" h="190">
                      <a:moveTo>
                        <a:pt x="30" y="2"/>
                      </a:moveTo>
                      <a:lnTo>
                        <a:pt x="41" y="0"/>
                      </a:lnTo>
                      <a:lnTo>
                        <a:pt x="45" y="4"/>
                      </a:lnTo>
                      <a:lnTo>
                        <a:pt x="46" y="2"/>
                      </a:lnTo>
                      <a:lnTo>
                        <a:pt x="49" y="11"/>
                      </a:lnTo>
                      <a:lnTo>
                        <a:pt x="43" y="15"/>
                      </a:lnTo>
                      <a:lnTo>
                        <a:pt x="43" y="20"/>
                      </a:lnTo>
                      <a:lnTo>
                        <a:pt x="41" y="20"/>
                      </a:lnTo>
                      <a:lnTo>
                        <a:pt x="41" y="25"/>
                      </a:lnTo>
                      <a:lnTo>
                        <a:pt x="36" y="26"/>
                      </a:lnTo>
                      <a:lnTo>
                        <a:pt x="36" y="28"/>
                      </a:lnTo>
                      <a:lnTo>
                        <a:pt x="43" y="33"/>
                      </a:lnTo>
                      <a:lnTo>
                        <a:pt x="49" y="60"/>
                      </a:lnTo>
                      <a:lnTo>
                        <a:pt x="45" y="68"/>
                      </a:lnTo>
                      <a:lnTo>
                        <a:pt x="45" y="117"/>
                      </a:lnTo>
                      <a:lnTo>
                        <a:pt x="39" y="119"/>
                      </a:lnTo>
                      <a:lnTo>
                        <a:pt x="38" y="128"/>
                      </a:lnTo>
                      <a:lnTo>
                        <a:pt x="36" y="149"/>
                      </a:lnTo>
                      <a:lnTo>
                        <a:pt x="36" y="160"/>
                      </a:lnTo>
                      <a:lnTo>
                        <a:pt x="45" y="167"/>
                      </a:lnTo>
                      <a:lnTo>
                        <a:pt x="50" y="171"/>
                      </a:lnTo>
                      <a:lnTo>
                        <a:pt x="50" y="173"/>
                      </a:lnTo>
                      <a:lnTo>
                        <a:pt x="37" y="169"/>
                      </a:lnTo>
                      <a:lnTo>
                        <a:pt x="36" y="167"/>
                      </a:lnTo>
                      <a:lnTo>
                        <a:pt x="34" y="169"/>
                      </a:lnTo>
                      <a:lnTo>
                        <a:pt x="32" y="161"/>
                      </a:lnTo>
                      <a:lnTo>
                        <a:pt x="30" y="125"/>
                      </a:lnTo>
                      <a:lnTo>
                        <a:pt x="28" y="125"/>
                      </a:lnTo>
                      <a:lnTo>
                        <a:pt x="20" y="157"/>
                      </a:lnTo>
                      <a:lnTo>
                        <a:pt x="20" y="177"/>
                      </a:lnTo>
                      <a:lnTo>
                        <a:pt x="17" y="187"/>
                      </a:lnTo>
                      <a:lnTo>
                        <a:pt x="15" y="189"/>
                      </a:lnTo>
                      <a:lnTo>
                        <a:pt x="14" y="184"/>
                      </a:lnTo>
                      <a:lnTo>
                        <a:pt x="16" y="178"/>
                      </a:lnTo>
                      <a:lnTo>
                        <a:pt x="17" y="165"/>
                      </a:lnTo>
                      <a:lnTo>
                        <a:pt x="17" y="120"/>
                      </a:lnTo>
                      <a:lnTo>
                        <a:pt x="20" y="76"/>
                      </a:lnTo>
                      <a:lnTo>
                        <a:pt x="16" y="72"/>
                      </a:lnTo>
                      <a:lnTo>
                        <a:pt x="16" y="65"/>
                      </a:lnTo>
                      <a:lnTo>
                        <a:pt x="16" y="53"/>
                      </a:lnTo>
                      <a:lnTo>
                        <a:pt x="10" y="57"/>
                      </a:lnTo>
                      <a:lnTo>
                        <a:pt x="16" y="63"/>
                      </a:lnTo>
                      <a:lnTo>
                        <a:pt x="16" y="70"/>
                      </a:lnTo>
                      <a:lnTo>
                        <a:pt x="10" y="66"/>
                      </a:lnTo>
                      <a:lnTo>
                        <a:pt x="8" y="62"/>
                      </a:lnTo>
                      <a:lnTo>
                        <a:pt x="4" y="63"/>
                      </a:lnTo>
                      <a:lnTo>
                        <a:pt x="0" y="56"/>
                      </a:lnTo>
                      <a:lnTo>
                        <a:pt x="0" y="53"/>
                      </a:lnTo>
                      <a:lnTo>
                        <a:pt x="2" y="52"/>
                      </a:lnTo>
                      <a:lnTo>
                        <a:pt x="9" y="44"/>
                      </a:lnTo>
                      <a:lnTo>
                        <a:pt x="16" y="36"/>
                      </a:lnTo>
                      <a:lnTo>
                        <a:pt x="24" y="29"/>
                      </a:lnTo>
                      <a:lnTo>
                        <a:pt x="30" y="25"/>
                      </a:lnTo>
                      <a:lnTo>
                        <a:pt x="30" y="19"/>
                      </a:lnTo>
                      <a:lnTo>
                        <a:pt x="28" y="16"/>
                      </a:lnTo>
                      <a:lnTo>
                        <a:pt x="28" y="9"/>
                      </a:lnTo>
                      <a:lnTo>
                        <a:pt x="26" y="7"/>
                      </a:lnTo>
                      <a:lnTo>
                        <a:pt x="30"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67" name="Freeform 41"/>
                <p:cNvSpPr/>
                <p:nvPr/>
              </p:nvSpPr>
              <p:spPr>
                <a:xfrm>
                  <a:off x="3224" y="1976"/>
                  <a:ext cx="25" cy="133"/>
                </a:xfrm>
                <a:custGeom>
                  <a:avLst/>
                  <a:gdLst/>
                  <a:ahLst/>
                  <a:cxnLst>
                    <a:cxn ang="0">
                      <a:pos x="19" y="2"/>
                    </a:cxn>
                    <a:cxn ang="0">
                      <a:pos x="19" y="6"/>
                    </a:cxn>
                    <a:cxn ang="0">
                      <a:pos x="19" y="7"/>
                    </a:cxn>
                    <a:cxn ang="0">
                      <a:pos x="20" y="8"/>
                    </a:cxn>
                    <a:cxn ang="0">
                      <a:pos x="19" y="9"/>
                    </a:cxn>
                    <a:cxn ang="0">
                      <a:pos x="19" y="10"/>
                    </a:cxn>
                    <a:cxn ang="0">
                      <a:pos x="18" y="14"/>
                    </a:cxn>
                    <a:cxn ang="0">
                      <a:pos x="18" y="15"/>
                    </a:cxn>
                    <a:cxn ang="0">
                      <a:pos x="23" y="19"/>
                    </a:cxn>
                    <a:cxn ang="0">
                      <a:pos x="24" y="46"/>
                    </a:cxn>
                    <a:cxn ang="0">
                      <a:pos x="22" y="51"/>
                    </a:cxn>
                    <a:cxn ang="0">
                      <a:pos x="23" y="66"/>
                    </a:cxn>
                    <a:cxn ang="0">
                      <a:pos x="21" y="67"/>
                    </a:cxn>
                    <a:cxn ang="0">
                      <a:pos x="20" y="84"/>
                    </a:cxn>
                    <a:cxn ang="0">
                      <a:pos x="19" y="108"/>
                    </a:cxn>
                    <a:cxn ang="0">
                      <a:pos x="20" y="109"/>
                    </a:cxn>
                    <a:cxn ang="0">
                      <a:pos x="24" y="114"/>
                    </a:cxn>
                    <a:cxn ang="0">
                      <a:pos x="23" y="115"/>
                    </a:cxn>
                    <a:cxn ang="0">
                      <a:pos x="22" y="116"/>
                    </a:cxn>
                    <a:cxn ang="0">
                      <a:pos x="19" y="115"/>
                    </a:cxn>
                    <a:cxn ang="0">
                      <a:pos x="17" y="113"/>
                    </a:cxn>
                    <a:cxn ang="0">
                      <a:pos x="15" y="112"/>
                    </a:cxn>
                    <a:cxn ang="0">
                      <a:pos x="15" y="116"/>
                    </a:cxn>
                    <a:cxn ang="0">
                      <a:pos x="14" y="116"/>
                    </a:cxn>
                    <a:cxn ang="0">
                      <a:pos x="16" y="120"/>
                    </a:cxn>
                    <a:cxn ang="0">
                      <a:pos x="15" y="125"/>
                    </a:cxn>
                    <a:cxn ang="0">
                      <a:pos x="14" y="126"/>
                    </a:cxn>
                    <a:cxn ang="0">
                      <a:pos x="11" y="121"/>
                    </a:cxn>
                    <a:cxn ang="0">
                      <a:pos x="11" y="118"/>
                    </a:cxn>
                    <a:cxn ang="0">
                      <a:pos x="10" y="118"/>
                    </a:cxn>
                    <a:cxn ang="0">
                      <a:pos x="8" y="87"/>
                    </a:cxn>
                    <a:cxn ang="0">
                      <a:pos x="10" y="84"/>
                    </a:cxn>
                    <a:cxn ang="0">
                      <a:pos x="7" y="67"/>
                    </a:cxn>
                    <a:cxn ang="0">
                      <a:pos x="5" y="67"/>
                    </a:cxn>
                    <a:cxn ang="0">
                      <a:pos x="5" y="49"/>
                    </a:cxn>
                    <a:cxn ang="0">
                      <a:pos x="0" y="46"/>
                    </a:cxn>
                    <a:cxn ang="0">
                      <a:pos x="2" y="24"/>
                    </a:cxn>
                    <a:cxn ang="0">
                      <a:pos x="9" y="17"/>
                    </a:cxn>
                    <a:cxn ang="0">
                      <a:pos x="11" y="15"/>
                    </a:cxn>
                    <a:cxn ang="0">
                      <a:pos x="11" y="12"/>
                    </a:cxn>
                    <a:cxn ang="0">
                      <a:pos x="11" y="11"/>
                    </a:cxn>
                    <a:cxn ang="0">
                      <a:pos x="9" y="10"/>
                    </a:cxn>
                    <a:cxn ang="0">
                      <a:pos x="8" y="8"/>
                    </a:cxn>
                    <a:cxn ang="0">
                      <a:pos x="8" y="7"/>
                    </a:cxn>
                    <a:cxn ang="0">
                      <a:pos x="8" y="5"/>
                    </a:cxn>
                    <a:cxn ang="0">
                      <a:pos x="8" y="4"/>
                    </a:cxn>
                    <a:cxn ang="0">
                      <a:pos x="10" y="2"/>
                    </a:cxn>
                    <a:cxn ang="0">
                      <a:pos x="11" y="0"/>
                    </a:cxn>
                    <a:cxn ang="0">
                      <a:pos x="12" y="0"/>
                    </a:cxn>
                    <a:cxn ang="0">
                      <a:pos x="14" y="0"/>
                    </a:cxn>
                    <a:cxn ang="0">
                      <a:pos x="16" y="0"/>
                    </a:cxn>
                    <a:cxn ang="0">
                      <a:pos x="17" y="0"/>
                    </a:cxn>
                    <a:cxn ang="0">
                      <a:pos x="19" y="2"/>
                    </a:cxn>
                  </a:cxnLst>
                  <a:rect l="0" t="0" r="0" b="0"/>
                  <a:pathLst>
                    <a:path w="25" h="134">
                      <a:moveTo>
                        <a:pt x="19" y="2"/>
                      </a:moveTo>
                      <a:lnTo>
                        <a:pt x="19" y="6"/>
                      </a:lnTo>
                      <a:lnTo>
                        <a:pt x="19" y="7"/>
                      </a:lnTo>
                      <a:lnTo>
                        <a:pt x="20" y="8"/>
                      </a:lnTo>
                      <a:lnTo>
                        <a:pt x="19" y="9"/>
                      </a:lnTo>
                      <a:lnTo>
                        <a:pt x="19" y="10"/>
                      </a:lnTo>
                      <a:lnTo>
                        <a:pt x="18" y="14"/>
                      </a:lnTo>
                      <a:lnTo>
                        <a:pt x="18" y="15"/>
                      </a:lnTo>
                      <a:lnTo>
                        <a:pt x="23" y="19"/>
                      </a:lnTo>
                      <a:lnTo>
                        <a:pt x="24" y="46"/>
                      </a:lnTo>
                      <a:lnTo>
                        <a:pt x="22" y="51"/>
                      </a:lnTo>
                      <a:lnTo>
                        <a:pt x="23" y="66"/>
                      </a:lnTo>
                      <a:lnTo>
                        <a:pt x="21" y="68"/>
                      </a:lnTo>
                      <a:lnTo>
                        <a:pt x="20" y="91"/>
                      </a:lnTo>
                      <a:lnTo>
                        <a:pt x="19" y="115"/>
                      </a:lnTo>
                      <a:lnTo>
                        <a:pt x="20" y="116"/>
                      </a:lnTo>
                      <a:lnTo>
                        <a:pt x="24" y="121"/>
                      </a:lnTo>
                      <a:lnTo>
                        <a:pt x="23" y="122"/>
                      </a:lnTo>
                      <a:lnTo>
                        <a:pt x="22" y="123"/>
                      </a:lnTo>
                      <a:lnTo>
                        <a:pt x="19" y="122"/>
                      </a:lnTo>
                      <a:lnTo>
                        <a:pt x="17" y="120"/>
                      </a:lnTo>
                      <a:lnTo>
                        <a:pt x="15" y="119"/>
                      </a:lnTo>
                      <a:lnTo>
                        <a:pt x="15" y="123"/>
                      </a:lnTo>
                      <a:lnTo>
                        <a:pt x="14" y="123"/>
                      </a:lnTo>
                      <a:lnTo>
                        <a:pt x="16" y="127"/>
                      </a:lnTo>
                      <a:lnTo>
                        <a:pt x="15" y="132"/>
                      </a:lnTo>
                      <a:lnTo>
                        <a:pt x="14" y="133"/>
                      </a:lnTo>
                      <a:lnTo>
                        <a:pt x="11" y="128"/>
                      </a:lnTo>
                      <a:lnTo>
                        <a:pt x="11" y="125"/>
                      </a:lnTo>
                      <a:lnTo>
                        <a:pt x="10" y="125"/>
                      </a:lnTo>
                      <a:lnTo>
                        <a:pt x="8" y="94"/>
                      </a:lnTo>
                      <a:lnTo>
                        <a:pt x="10" y="91"/>
                      </a:lnTo>
                      <a:lnTo>
                        <a:pt x="7" y="71"/>
                      </a:lnTo>
                      <a:lnTo>
                        <a:pt x="5" y="70"/>
                      </a:lnTo>
                      <a:lnTo>
                        <a:pt x="5" y="49"/>
                      </a:lnTo>
                      <a:lnTo>
                        <a:pt x="0" y="46"/>
                      </a:lnTo>
                      <a:lnTo>
                        <a:pt x="2" y="24"/>
                      </a:lnTo>
                      <a:lnTo>
                        <a:pt x="9" y="17"/>
                      </a:lnTo>
                      <a:lnTo>
                        <a:pt x="11" y="15"/>
                      </a:lnTo>
                      <a:lnTo>
                        <a:pt x="11" y="12"/>
                      </a:lnTo>
                      <a:lnTo>
                        <a:pt x="11" y="11"/>
                      </a:lnTo>
                      <a:lnTo>
                        <a:pt x="9" y="10"/>
                      </a:lnTo>
                      <a:lnTo>
                        <a:pt x="8" y="8"/>
                      </a:lnTo>
                      <a:lnTo>
                        <a:pt x="8" y="7"/>
                      </a:lnTo>
                      <a:lnTo>
                        <a:pt x="8" y="5"/>
                      </a:lnTo>
                      <a:lnTo>
                        <a:pt x="8" y="4"/>
                      </a:lnTo>
                      <a:lnTo>
                        <a:pt x="10" y="2"/>
                      </a:lnTo>
                      <a:lnTo>
                        <a:pt x="11" y="0"/>
                      </a:lnTo>
                      <a:lnTo>
                        <a:pt x="12" y="0"/>
                      </a:lnTo>
                      <a:lnTo>
                        <a:pt x="14" y="0"/>
                      </a:lnTo>
                      <a:lnTo>
                        <a:pt x="16" y="0"/>
                      </a:lnTo>
                      <a:lnTo>
                        <a:pt x="17" y="0"/>
                      </a:lnTo>
                      <a:lnTo>
                        <a:pt x="19"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68" name="Freeform 42"/>
                <p:cNvSpPr/>
                <p:nvPr/>
              </p:nvSpPr>
              <p:spPr>
                <a:xfrm>
                  <a:off x="3131" y="1996"/>
                  <a:ext cx="54" cy="254"/>
                </a:xfrm>
                <a:custGeom>
                  <a:avLst/>
                  <a:gdLst/>
                  <a:ahLst/>
                  <a:cxnLst>
                    <a:cxn ang="0">
                      <a:pos x="47" y="5"/>
                    </a:cxn>
                    <a:cxn ang="0">
                      <a:pos x="47" y="12"/>
                    </a:cxn>
                    <a:cxn ang="0">
                      <a:pos x="47" y="14"/>
                    </a:cxn>
                    <a:cxn ang="0">
                      <a:pos x="49" y="18"/>
                    </a:cxn>
                    <a:cxn ang="0">
                      <a:pos x="47" y="20"/>
                    </a:cxn>
                    <a:cxn ang="0">
                      <a:pos x="48" y="22"/>
                    </a:cxn>
                    <a:cxn ang="0">
                      <a:pos x="46" y="29"/>
                    </a:cxn>
                    <a:cxn ang="0">
                      <a:pos x="46" y="30"/>
                    </a:cxn>
                    <a:cxn ang="0">
                      <a:pos x="55" y="37"/>
                    </a:cxn>
                    <a:cxn ang="0">
                      <a:pos x="59" y="89"/>
                    </a:cxn>
                    <a:cxn ang="0">
                      <a:pos x="54" y="98"/>
                    </a:cxn>
                    <a:cxn ang="0">
                      <a:pos x="56" y="127"/>
                    </a:cxn>
                    <a:cxn ang="0">
                      <a:pos x="53" y="129"/>
                    </a:cxn>
                    <a:cxn ang="0">
                      <a:pos x="51" y="174"/>
                    </a:cxn>
                    <a:cxn ang="0">
                      <a:pos x="49" y="219"/>
                    </a:cxn>
                    <a:cxn ang="0">
                      <a:pos x="49" y="221"/>
                    </a:cxn>
                    <a:cxn ang="0">
                      <a:pos x="59" y="230"/>
                    </a:cxn>
                    <a:cxn ang="0">
                      <a:pos x="57" y="231"/>
                    </a:cxn>
                    <a:cxn ang="0">
                      <a:pos x="54" y="233"/>
                    </a:cxn>
                    <a:cxn ang="0">
                      <a:pos x="49" y="231"/>
                    </a:cxn>
                    <a:cxn ang="0">
                      <a:pos x="43" y="228"/>
                    </a:cxn>
                    <a:cxn ang="0">
                      <a:pos x="39" y="227"/>
                    </a:cxn>
                    <a:cxn ang="0">
                      <a:pos x="39" y="234"/>
                    </a:cxn>
                    <a:cxn ang="0">
                      <a:pos x="37" y="234"/>
                    </a:cxn>
                    <a:cxn ang="0">
                      <a:pos x="40" y="240"/>
                    </a:cxn>
                    <a:cxn ang="0">
                      <a:pos x="39" y="251"/>
                    </a:cxn>
                    <a:cxn ang="0">
                      <a:pos x="35" y="253"/>
                    </a:cxn>
                    <a:cxn ang="0">
                      <a:pos x="23" y="244"/>
                    </a:cxn>
                    <a:cxn ang="0">
                      <a:pos x="23" y="237"/>
                    </a:cxn>
                    <a:cxn ang="0">
                      <a:pos x="21" y="237"/>
                    </a:cxn>
                    <a:cxn ang="0">
                      <a:pos x="19" y="179"/>
                    </a:cxn>
                    <a:cxn ang="0">
                      <a:pos x="21" y="174"/>
                    </a:cxn>
                    <a:cxn ang="0">
                      <a:pos x="15" y="135"/>
                    </a:cxn>
                    <a:cxn ang="0">
                      <a:pos x="11" y="134"/>
                    </a:cxn>
                    <a:cxn ang="0">
                      <a:pos x="10" y="93"/>
                    </a:cxn>
                    <a:cxn ang="0">
                      <a:pos x="0" y="89"/>
                    </a:cxn>
                    <a:cxn ang="0">
                      <a:pos x="4" y="46"/>
                    </a:cxn>
                    <a:cxn ang="0">
                      <a:pos x="19" y="34"/>
                    </a:cxn>
                    <a:cxn ang="0">
                      <a:pos x="23" y="30"/>
                    </a:cxn>
                    <a:cxn ang="0">
                      <a:pos x="23" y="25"/>
                    </a:cxn>
                    <a:cxn ang="0">
                      <a:pos x="22" y="22"/>
                    </a:cxn>
                    <a:cxn ang="0">
                      <a:pos x="20" y="20"/>
                    </a:cxn>
                    <a:cxn ang="0">
                      <a:pos x="18" y="17"/>
                    </a:cxn>
                    <a:cxn ang="0">
                      <a:pos x="17" y="14"/>
                    </a:cxn>
                    <a:cxn ang="0">
                      <a:pos x="17" y="12"/>
                    </a:cxn>
                    <a:cxn ang="0">
                      <a:pos x="18" y="8"/>
                    </a:cxn>
                    <a:cxn ang="0">
                      <a:pos x="20" y="5"/>
                    </a:cxn>
                    <a:cxn ang="0">
                      <a:pos x="23" y="2"/>
                    </a:cxn>
                    <a:cxn ang="0">
                      <a:pos x="26" y="0"/>
                    </a:cxn>
                    <a:cxn ang="0">
                      <a:pos x="37" y="0"/>
                    </a:cxn>
                    <a:cxn ang="0">
                      <a:pos x="40" y="1"/>
                    </a:cxn>
                    <a:cxn ang="0">
                      <a:pos x="43" y="2"/>
                    </a:cxn>
                    <a:cxn ang="0">
                      <a:pos x="47" y="5"/>
                    </a:cxn>
                  </a:cxnLst>
                  <a:rect l="0" t="0" r="0" b="0"/>
                  <a:pathLst>
                    <a:path w="53" h="254">
                      <a:moveTo>
                        <a:pt x="40" y="5"/>
                      </a:moveTo>
                      <a:lnTo>
                        <a:pt x="40" y="12"/>
                      </a:lnTo>
                      <a:lnTo>
                        <a:pt x="40" y="14"/>
                      </a:lnTo>
                      <a:lnTo>
                        <a:pt x="42" y="18"/>
                      </a:lnTo>
                      <a:lnTo>
                        <a:pt x="40" y="20"/>
                      </a:lnTo>
                      <a:lnTo>
                        <a:pt x="41" y="22"/>
                      </a:lnTo>
                      <a:lnTo>
                        <a:pt x="39" y="29"/>
                      </a:lnTo>
                      <a:lnTo>
                        <a:pt x="39" y="30"/>
                      </a:lnTo>
                      <a:lnTo>
                        <a:pt x="48" y="37"/>
                      </a:lnTo>
                      <a:lnTo>
                        <a:pt x="52" y="89"/>
                      </a:lnTo>
                      <a:lnTo>
                        <a:pt x="47" y="98"/>
                      </a:lnTo>
                      <a:lnTo>
                        <a:pt x="49" y="127"/>
                      </a:lnTo>
                      <a:lnTo>
                        <a:pt x="46" y="129"/>
                      </a:lnTo>
                      <a:lnTo>
                        <a:pt x="44" y="174"/>
                      </a:lnTo>
                      <a:lnTo>
                        <a:pt x="42" y="219"/>
                      </a:lnTo>
                      <a:lnTo>
                        <a:pt x="42" y="221"/>
                      </a:lnTo>
                      <a:lnTo>
                        <a:pt x="52" y="230"/>
                      </a:lnTo>
                      <a:lnTo>
                        <a:pt x="50" y="231"/>
                      </a:lnTo>
                      <a:lnTo>
                        <a:pt x="47" y="233"/>
                      </a:lnTo>
                      <a:lnTo>
                        <a:pt x="42" y="231"/>
                      </a:lnTo>
                      <a:lnTo>
                        <a:pt x="36" y="228"/>
                      </a:lnTo>
                      <a:lnTo>
                        <a:pt x="32" y="227"/>
                      </a:lnTo>
                      <a:lnTo>
                        <a:pt x="32" y="234"/>
                      </a:lnTo>
                      <a:lnTo>
                        <a:pt x="30" y="234"/>
                      </a:lnTo>
                      <a:lnTo>
                        <a:pt x="33" y="240"/>
                      </a:lnTo>
                      <a:lnTo>
                        <a:pt x="32" y="251"/>
                      </a:lnTo>
                      <a:lnTo>
                        <a:pt x="28" y="253"/>
                      </a:lnTo>
                      <a:lnTo>
                        <a:pt x="23" y="244"/>
                      </a:lnTo>
                      <a:lnTo>
                        <a:pt x="23" y="237"/>
                      </a:lnTo>
                      <a:lnTo>
                        <a:pt x="21" y="237"/>
                      </a:lnTo>
                      <a:lnTo>
                        <a:pt x="19" y="179"/>
                      </a:lnTo>
                      <a:lnTo>
                        <a:pt x="21" y="174"/>
                      </a:lnTo>
                      <a:lnTo>
                        <a:pt x="15" y="135"/>
                      </a:lnTo>
                      <a:lnTo>
                        <a:pt x="11" y="134"/>
                      </a:lnTo>
                      <a:lnTo>
                        <a:pt x="10" y="93"/>
                      </a:lnTo>
                      <a:lnTo>
                        <a:pt x="0" y="89"/>
                      </a:lnTo>
                      <a:lnTo>
                        <a:pt x="4" y="46"/>
                      </a:lnTo>
                      <a:lnTo>
                        <a:pt x="19" y="34"/>
                      </a:lnTo>
                      <a:lnTo>
                        <a:pt x="23" y="30"/>
                      </a:lnTo>
                      <a:lnTo>
                        <a:pt x="23" y="25"/>
                      </a:lnTo>
                      <a:lnTo>
                        <a:pt x="22" y="22"/>
                      </a:lnTo>
                      <a:lnTo>
                        <a:pt x="20" y="20"/>
                      </a:lnTo>
                      <a:lnTo>
                        <a:pt x="18" y="17"/>
                      </a:lnTo>
                      <a:lnTo>
                        <a:pt x="17" y="14"/>
                      </a:lnTo>
                      <a:lnTo>
                        <a:pt x="17" y="12"/>
                      </a:lnTo>
                      <a:lnTo>
                        <a:pt x="18" y="8"/>
                      </a:lnTo>
                      <a:lnTo>
                        <a:pt x="20" y="5"/>
                      </a:lnTo>
                      <a:lnTo>
                        <a:pt x="23" y="2"/>
                      </a:lnTo>
                      <a:lnTo>
                        <a:pt x="26" y="0"/>
                      </a:lnTo>
                      <a:lnTo>
                        <a:pt x="30" y="0"/>
                      </a:lnTo>
                      <a:lnTo>
                        <a:pt x="33" y="1"/>
                      </a:lnTo>
                      <a:lnTo>
                        <a:pt x="36" y="2"/>
                      </a:lnTo>
                      <a:lnTo>
                        <a:pt x="40" y="5"/>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grpSp>
            <p:nvGrpSpPr>
              <p:cNvPr id="35" name="Group 43"/>
              <p:cNvGrpSpPr/>
              <p:nvPr/>
            </p:nvGrpSpPr>
            <p:grpSpPr>
              <a:xfrm>
                <a:off x="2883" y="1991"/>
                <a:ext cx="1733" cy="849"/>
                <a:chOff x="2883" y="1991"/>
                <a:chExt cx="1733" cy="849"/>
              </a:xfrm>
            </p:grpSpPr>
            <p:grpSp>
              <p:nvGrpSpPr>
                <p:cNvPr id="51" name="Group 44"/>
                <p:cNvGrpSpPr/>
                <p:nvPr/>
              </p:nvGrpSpPr>
              <p:grpSpPr>
                <a:xfrm>
                  <a:off x="3908" y="2026"/>
                  <a:ext cx="279" cy="603"/>
                  <a:chOff x="3908" y="2026"/>
                  <a:chExt cx="279" cy="603"/>
                </a:xfrm>
              </p:grpSpPr>
              <p:sp>
                <p:nvSpPr>
                  <p:cNvPr id="57" name="Freeform 45"/>
                  <p:cNvSpPr/>
                  <p:nvPr/>
                </p:nvSpPr>
                <p:spPr>
                  <a:xfrm>
                    <a:off x="3908" y="2026"/>
                    <a:ext cx="176" cy="603"/>
                  </a:xfrm>
                  <a:custGeom>
                    <a:avLst/>
                    <a:gdLst/>
                    <a:ahLst/>
                    <a:cxnLst>
                      <a:cxn ang="0">
                        <a:pos x="107" y="8"/>
                      </a:cxn>
                      <a:cxn ang="0">
                        <a:pos x="141" y="0"/>
                      </a:cxn>
                      <a:cxn ang="0">
                        <a:pos x="154" y="16"/>
                      </a:cxn>
                      <a:cxn ang="0">
                        <a:pos x="160" y="11"/>
                      </a:cxn>
                      <a:cxn ang="0">
                        <a:pos x="169" y="37"/>
                      </a:cxn>
                      <a:cxn ang="0">
                        <a:pos x="150" y="54"/>
                      </a:cxn>
                      <a:cxn ang="0">
                        <a:pos x="149" y="67"/>
                      </a:cxn>
                      <a:cxn ang="0">
                        <a:pos x="144" y="68"/>
                      </a:cxn>
                      <a:cxn ang="0">
                        <a:pos x="141" y="82"/>
                      </a:cxn>
                      <a:cxn ang="0">
                        <a:pos x="127" y="85"/>
                      </a:cxn>
                      <a:cxn ang="0">
                        <a:pos x="127" y="91"/>
                      </a:cxn>
                      <a:cxn ang="0">
                        <a:pos x="150" y="109"/>
                      </a:cxn>
                      <a:cxn ang="0">
                        <a:pos x="169" y="194"/>
                      </a:cxn>
                      <a:cxn ang="0">
                        <a:pos x="154" y="217"/>
                      </a:cxn>
                      <a:cxn ang="0">
                        <a:pos x="154" y="375"/>
                      </a:cxn>
                      <a:cxn ang="0">
                        <a:pos x="136" y="382"/>
                      </a:cxn>
                      <a:cxn ang="0">
                        <a:pos x="133" y="407"/>
                      </a:cxn>
                      <a:cxn ang="0">
                        <a:pos x="125" y="473"/>
                      </a:cxn>
                      <a:cxn ang="0">
                        <a:pos x="125" y="509"/>
                      </a:cxn>
                      <a:cxn ang="0">
                        <a:pos x="154" y="531"/>
                      </a:cxn>
                      <a:cxn ang="0">
                        <a:pos x="175" y="542"/>
                      </a:cxn>
                      <a:cxn ang="0">
                        <a:pos x="175" y="550"/>
                      </a:cxn>
                      <a:cxn ang="0">
                        <a:pos x="131" y="539"/>
                      </a:cxn>
                      <a:cxn ang="0">
                        <a:pos x="125" y="532"/>
                      </a:cxn>
                      <a:cxn ang="0">
                        <a:pos x="121" y="539"/>
                      </a:cxn>
                      <a:cxn ang="0">
                        <a:pos x="116" y="539"/>
                      </a:cxn>
                      <a:cxn ang="0">
                        <a:pos x="111" y="514"/>
                      </a:cxn>
                      <a:cxn ang="0">
                        <a:pos x="107" y="400"/>
                      </a:cxn>
                      <a:cxn ang="0">
                        <a:pos x="98" y="400"/>
                      </a:cxn>
                      <a:cxn ang="0">
                        <a:pos x="73" y="501"/>
                      </a:cxn>
                      <a:cxn ang="0">
                        <a:pos x="73" y="564"/>
                      </a:cxn>
                      <a:cxn ang="0">
                        <a:pos x="63" y="595"/>
                      </a:cxn>
                      <a:cxn ang="0">
                        <a:pos x="54" y="602"/>
                      </a:cxn>
                      <a:cxn ang="0">
                        <a:pos x="48" y="585"/>
                      </a:cxn>
                      <a:cxn ang="0">
                        <a:pos x="55" y="567"/>
                      </a:cxn>
                      <a:cxn ang="0">
                        <a:pos x="63" y="528"/>
                      </a:cxn>
                      <a:cxn ang="0">
                        <a:pos x="64" y="384"/>
                      </a:cxn>
                      <a:cxn ang="0">
                        <a:pos x="72" y="242"/>
                      </a:cxn>
                      <a:cxn ang="0">
                        <a:pos x="57" y="230"/>
                      </a:cxn>
                      <a:cxn ang="0">
                        <a:pos x="57" y="210"/>
                      </a:cxn>
                      <a:cxn ang="0">
                        <a:pos x="57" y="172"/>
                      </a:cxn>
                      <a:cxn ang="0">
                        <a:pos x="38" y="181"/>
                      </a:cxn>
                      <a:cxn ang="0">
                        <a:pos x="55" y="205"/>
                      </a:cxn>
                      <a:cxn ang="0">
                        <a:pos x="55" y="227"/>
                      </a:cxn>
                      <a:cxn ang="0">
                        <a:pos x="37" y="213"/>
                      </a:cxn>
                      <a:cxn ang="0">
                        <a:pos x="28" y="199"/>
                      </a:cxn>
                      <a:cxn ang="0">
                        <a:pos x="19" y="203"/>
                      </a:cxn>
                      <a:cxn ang="0">
                        <a:pos x="0" y="179"/>
                      </a:cxn>
                      <a:cxn ang="0">
                        <a:pos x="0" y="172"/>
                      </a:cxn>
                      <a:cxn ang="0">
                        <a:pos x="10" y="167"/>
                      </a:cxn>
                      <a:cxn ang="0">
                        <a:pos x="32" y="142"/>
                      </a:cxn>
                      <a:cxn ang="0">
                        <a:pos x="55" y="119"/>
                      </a:cxn>
                      <a:cxn ang="0">
                        <a:pos x="84" y="92"/>
                      </a:cxn>
                      <a:cxn ang="0">
                        <a:pos x="107" y="83"/>
                      </a:cxn>
                      <a:cxn ang="0">
                        <a:pos x="107" y="64"/>
                      </a:cxn>
                      <a:cxn ang="0">
                        <a:pos x="98" y="54"/>
                      </a:cxn>
                      <a:cxn ang="0">
                        <a:pos x="98" y="30"/>
                      </a:cxn>
                      <a:cxn ang="0">
                        <a:pos x="92" y="26"/>
                      </a:cxn>
                      <a:cxn ang="0">
                        <a:pos x="107" y="8"/>
                      </a:cxn>
                    </a:cxnLst>
                    <a:rect l="0" t="0" r="0" b="0"/>
                    <a:pathLst>
                      <a:path w="176" h="603">
                        <a:moveTo>
                          <a:pt x="107" y="8"/>
                        </a:moveTo>
                        <a:lnTo>
                          <a:pt x="141" y="0"/>
                        </a:lnTo>
                        <a:lnTo>
                          <a:pt x="154" y="16"/>
                        </a:lnTo>
                        <a:lnTo>
                          <a:pt x="160" y="11"/>
                        </a:lnTo>
                        <a:lnTo>
                          <a:pt x="169" y="37"/>
                        </a:lnTo>
                        <a:lnTo>
                          <a:pt x="150" y="54"/>
                        </a:lnTo>
                        <a:lnTo>
                          <a:pt x="149" y="67"/>
                        </a:lnTo>
                        <a:lnTo>
                          <a:pt x="144" y="68"/>
                        </a:lnTo>
                        <a:lnTo>
                          <a:pt x="141" y="82"/>
                        </a:lnTo>
                        <a:lnTo>
                          <a:pt x="127" y="85"/>
                        </a:lnTo>
                        <a:lnTo>
                          <a:pt x="127" y="91"/>
                        </a:lnTo>
                        <a:lnTo>
                          <a:pt x="150" y="109"/>
                        </a:lnTo>
                        <a:lnTo>
                          <a:pt x="169" y="194"/>
                        </a:lnTo>
                        <a:lnTo>
                          <a:pt x="154" y="217"/>
                        </a:lnTo>
                        <a:lnTo>
                          <a:pt x="154" y="375"/>
                        </a:lnTo>
                        <a:lnTo>
                          <a:pt x="136" y="382"/>
                        </a:lnTo>
                        <a:lnTo>
                          <a:pt x="133" y="407"/>
                        </a:lnTo>
                        <a:lnTo>
                          <a:pt x="125" y="473"/>
                        </a:lnTo>
                        <a:lnTo>
                          <a:pt x="125" y="509"/>
                        </a:lnTo>
                        <a:lnTo>
                          <a:pt x="154" y="531"/>
                        </a:lnTo>
                        <a:lnTo>
                          <a:pt x="175" y="542"/>
                        </a:lnTo>
                        <a:lnTo>
                          <a:pt x="175" y="550"/>
                        </a:lnTo>
                        <a:lnTo>
                          <a:pt x="131" y="539"/>
                        </a:lnTo>
                        <a:lnTo>
                          <a:pt x="125" y="532"/>
                        </a:lnTo>
                        <a:lnTo>
                          <a:pt x="121" y="539"/>
                        </a:lnTo>
                        <a:lnTo>
                          <a:pt x="116" y="539"/>
                        </a:lnTo>
                        <a:lnTo>
                          <a:pt x="111" y="514"/>
                        </a:lnTo>
                        <a:lnTo>
                          <a:pt x="107" y="400"/>
                        </a:lnTo>
                        <a:lnTo>
                          <a:pt x="98" y="400"/>
                        </a:lnTo>
                        <a:lnTo>
                          <a:pt x="73" y="501"/>
                        </a:lnTo>
                        <a:lnTo>
                          <a:pt x="73" y="564"/>
                        </a:lnTo>
                        <a:lnTo>
                          <a:pt x="63" y="595"/>
                        </a:lnTo>
                        <a:lnTo>
                          <a:pt x="54" y="602"/>
                        </a:lnTo>
                        <a:lnTo>
                          <a:pt x="48" y="585"/>
                        </a:lnTo>
                        <a:lnTo>
                          <a:pt x="55" y="567"/>
                        </a:lnTo>
                        <a:lnTo>
                          <a:pt x="63" y="528"/>
                        </a:lnTo>
                        <a:lnTo>
                          <a:pt x="64" y="384"/>
                        </a:lnTo>
                        <a:lnTo>
                          <a:pt x="72" y="242"/>
                        </a:lnTo>
                        <a:lnTo>
                          <a:pt x="57" y="230"/>
                        </a:lnTo>
                        <a:lnTo>
                          <a:pt x="57" y="210"/>
                        </a:lnTo>
                        <a:lnTo>
                          <a:pt x="57" y="172"/>
                        </a:lnTo>
                        <a:lnTo>
                          <a:pt x="38" y="181"/>
                        </a:lnTo>
                        <a:lnTo>
                          <a:pt x="55" y="205"/>
                        </a:lnTo>
                        <a:lnTo>
                          <a:pt x="55" y="227"/>
                        </a:lnTo>
                        <a:lnTo>
                          <a:pt x="37" y="213"/>
                        </a:lnTo>
                        <a:lnTo>
                          <a:pt x="28" y="199"/>
                        </a:lnTo>
                        <a:lnTo>
                          <a:pt x="19" y="203"/>
                        </a:lnTo>
                        <a:lnTo>
                          <a:pt x="0" y="179"/>
                        </a:lnTo>
                        <a:lnTo>
                          <a:pt x="0" y="172"/>
                        </a:lnTo>
                        <a:lnTo>
                          <a:pt x="10" y="167"/>
                        </a:lnTo>
                        <a:lnTo>
                          <a:pt x="32" y="142"/>
                        </a:lnTo>
                        <a:lnTo>
                          <a:pt x="55" y="119"/>
                        </a:lnTo>
                        <a:lnTo>
                          <a:pt x="84" y="92"/>
                        </a:lnTo>
                        <a:lnTo>
                          <a:pt x="107" y="83"/>
                        </a:lnTo>
                        <a:lnTo>
                          <a:pt x="107" y="64"/>
                        </a:lnTo>
                        <a:lnTo>
                          <a:pt x="98" y="54"/>
                        </a:lnTo>
                        <a:lnTo>
                          <a:pt x="98" y="30"/>
                        </a:lnTo>
                        <a:lnTo>
                          <a:pt x="92" y="26"/>
                        </a:lnTo>
                        <a:lnTo>
                          <a:pt x="107" y="8"/>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58" name="Freeform 46"/>
                  <p:cNvSpPr/>
                  <p:nvPr/>
                </p:nvSpPr>
                <p:spPr>
                  <a:xfrm>
                    <a:off x="4059" y="2030"/>
                    <a:ext cx="128" cy="576"/>
                  </a:xfrm>
                  <a:custGeom>
                    <a:avLst/>
                    <a:gdLst/>
                    <a:ahLst/>
                    <a:cxnLst>
                      <a:cxn ang="0">
                        <a:pos x="30" y="11"/>
                      </a:cxn>
                      <a:cxn ang="0">
                        <a:pos x="30" y="26"/>
                      </a:cxn>
                      <a:cxn ang="0">
                        <a:pos x="32" y="30"/>
                      </a:cxn>
                      <a:cxn ang="0">
                        <a:pos x="26" y="41"/>
                      </a:cxn>
                      <a:cxn ang="0">
                        <a:pos x="30" y="44"/>
                      </a:cxn>
                      <a:cxn ang="0">
                        <a:pos x="29" y="48"/>
                      </a:cxn>
                      <a:cxn ang="0">
                        <a:pos x="32" y="64"/>
                      </a:cxn>
                      <a:cxn ang="0">
                        <a:pos x="32" y="67"/>
                      </a:cxn>
                      <a:cxn ang="0">
                        <a:pos x="10" y="82"/>
                      </a:cxn>
                      <a:cxn ang="0">
                        <a:pos x="0" y="201"/>
                      </a:cxn>
                      <a:cxn ang="0">
                        <a:pos x="13" y="222"/>
                      </a:cxn>
                      <a:cxn ang="0">
                        <a:pos x="8" y="287"/>
                      </a:cxn>
                      <a:cxn ang="0">
                        <a:pos x="17" y="294"/>
                      </a:cxn>
                      <a:cxn ang="0">
                        <a:pos x="21" y="395"/>
                      </a:cxn>
                      <a:cxn ang="0">
                        <a:pos x="27" y="497"/>
                      </a:cxn>
                      <a:cxn ang="0">
                        <a:pos x="25" y="504"/>
                      </a:cxn>
                      <a:cxn ang="0">
                        <a:pos x="3" y="522"/>
                      </a:cxn>
                      <a:cxn ang="0">
                        <a:pos x="5" y="526"/>
                      </a:cxn>
                      <a:cxn ang="0">
                        <a:pos x="13" y="530"/>
                      </a:cxn>
                      <a:cxn ang="0">
                        <a:pos x="27" y="526"/>
                      </a:cxn>
                      <a:cxn ang="0">
                        <a:pos x="40" y="519"/>
                      </a:cxn>
                      <a:cxn ang="0">
                        <a:pos x="50" y="515"/>
                      </a:cxn>
                      <a:cxn ang="0">
                        <a:pos x="50" y="532"/>
                      </a:cxn>
                      <a:cxn ang="0">
                        <a:pos x="55" y="533"/>
                      </a:cxn>
                      <a:cxn ang="0">
                        <a:pos x="47" y="548"/>
                      </a:cxn>
                      <a:cxn ang="0">
                        <a:pos x="51" y="571"/>
                      </a:cxn>
                      <a:cxn ang="0">
                        <a:pos x="58" y="575"/>
                      </a:cxn>
                      <a:cxn ang="0">
                        <a:pos x="71" y="555"/>
                      </a:cxn>
                      <a:cxn ang="0">
                        <a:pos x="71" y="540"/>
                      </a:cxn>
                      <a:cxn ang="0">
                        <a:pos x="76" y="539"/>
                      </a:cxn>
                      <a:cxn ang="0">
                        <a:pos x="82" y="407"/>
                      </a:cxn>
                      <a:cxn ang="0">
                        <a:pos x="76" y="395"/>
                      </a:cxn>
                      <a:cxn ang="0">
                        <a:pos x="91" y="307"/>
                      </a:cxn>
                      <a:cxn ang="0">
                        <a:pos x="100" y="303"/>
                      </a:cxn>
                      <a:cxn ang="0">
                        <a:pos x="103" y="211"/>
                      </a:cxn>
                      <a:cxn ang="0">
                        <a:pos x="127" y="201"/>
                      </a:cxn>
                      <a:cxn ang="0">
                        <a:pos x="117" y="103"/>
                      </a:cxn>
                      <a:cxn ang="0">
                        <a:pos x="81" y="76"/>
                      </a:cxn>
                      <a:cxn ang="0">
                        <a:pos x="71" y="66"/>
                      </a:cxn>
                      <a:cxn ang="0">
                        <a:pos x="71" y="57"/>
                      </a:cxn>
                      <a:cxn ang="0">
                        <a:pos x="75" y="50"/>
                      </a:cxn>
                      <a:cxn ang="0">
                        <a:pos x="79" y="45"/>
                      </a:cxn>
                      <a:cxn ang="0">
                        <a:pos x="83" y="38"/>
                      </a:cxn>
                      <a:cxn ang="0">
                        <a:pos x="85" y="32"/>
                      </a:cxn>
                      <a:cxn ang="0">
                        <a:pos x="85" y="25"/>
                      </a:cxn>
                      <a:cxn ang="0">
                        <a:pos x="83" y="17"/>
                      </a:cxn>
                      <a:cxn ang="0">
                        <a:pos x="78" y="10"/>
                      </a:cxn>
                      <a:cxn ang="0">
                        <a:pos x="71" y="3"/>
                      </a:cxn>
                      <a:cxn ang="0">
                        <a:pos x="64" y="0"/>
                      </a:cxn>
                      <a:cxn ang="0">
                        <a:pos x="56" y="0"/>
                      </a:cxn>
                      <a:cxn ang="0">
                        <a:pos x="47" y="1"/>
                      </a:cxn>
                      <a:cxn ang="0">
                        <a:pos x="40" y="3"/>
                      </a:cxn>
                      <a:cxn ang="0">
                        <a:pos x="30" y="11"/>
                      </a:cxn>
                    </a:cxnLst>
                    <a:rect l="0" t="0" r="0" b="0"/>
                    <a:pathLst>
                      <a:path w="128" h="576">
                        <a:moveTo>
                          <a:pt x="30" y="11"/>
                        </a:moveTo>
                        <a:lnTo>
                          <a:pt x="30" y="26"/>
                        </a:lnTo>
                        <a:lnTo>
                          <a:pt x="32" y="30"/>
                        </a:lnTo>
                        <a:lnTo>
                          <a:pt x="26" y="41"/>
                        </a:lnTo>
                        <a:lnTo>
                          <a:pt x="30" y="44"/>
                        </a:lnTo>
                        <a:lnTo>
                          <a:pt x="29" y="48"/>
                        </a:lnTo>
                        <a:lnTo>
                          <a:pt x="32" y="64"/>
                        </a:lnTo>
                        <a:lnTo>
                          <a:pt x="32" y="67"/>
                        </a:lnTo>
                        <a:lnTo>
                          <a:pt x="10" y="82"/>
                        </a:lnTo>
                        <a:lnTo>
                          <a:pt x="0" y="201"/>
                        </a:lnTo>
                        <a:lnTo>
                          <a:pt x="13" y="222"/>
                        </a:lnTo>
                        <a:lnTo>
                          <a:pt x="8" y="287"/>
                        </a:lnTo>
                        <a:lnTo>
                          <a:pt x="17" y="294"/>
                        </a:lnTo>
                        <a:lnTo>
                          <a:pt x="21" y="395"/>
                        </a:lnTo>
                        <a:lnTo>
                          <a:pt x="27" y="497"/>
                        </a:lnTo>
                        <a:lnTo>
                          <a:pt x="25" y="504"/>
                        </a:lnTo>
                        <a:lnTo>
                          <a:pt x="3" y="522"/>
                        </a:lnTo>
                        <a:lnTo>
                          <a:pt x="5" y="526"/>
                        </a:lnTo>
                        <a:lnTo>
                          <a:pt x="13" y="530"/>
                        </a:lnTo>
                        <a:lnTo>
                          <a:pt x="27" y="526"/>
                        </a:lnTo>
                        <a:lnTo>
                          <a:pt x="40" y="519"/>
                        </a:lnTo>
                        <a:lnTo>
                          <a:pt x="50" y="515"/>
                        </a:lnTo>
                        <a:lnTo>
                          <a:pt x="50" y="532"/>
                        </a:lnTo>
                        <a:lnTo>
                          <a:pt x="55" y="533"/>
                        </a:lnTo>
                        <a:lnTo>
                          <a:pt x="47" y="548"/>
                        </a:lnTo>
                        <a:lnTo>
                          <a:pt x="51" y="571"/>
                        </a:lnTo>
                        <a:lnTo>
                          <a:pt x="58" y="575"/>
                        </a:lnTo>
                        <a:lnTo>
                          <a:pt x="71" y="555"/>
                        </a:lnTo>
                        <a:lnTo>
                          <a:pt x="71" y="540"/>
                        </a:lnTo>
                        <a:lnTo>
                          <a:pt x="76" y="539"/>
                        </a:lnTo>
                        <a:lnTo>
                          <a:pt x="82" y="407"/>
                        </a:lnTo>
                        <a:lnTo>
                          <a:pt x="76" y="395"/>
                        </a:lnTo>
                        <a:lnTo>
                          <a:pt x="91" y="307"/>
                        </a:lnTo>
                        <a:lnTo>
                          <a:pt x="100" y="303"/>
                        </a:lnTo>
                        <a:lnTo>
                          <a:pt x="103" y="211"/>
                        </a:lnTo>
                        <a:lnTo>
                          <a:pt x="127" y="201"/>
                        </a:lnTo>
                        <a:lnTo>
                          <a:pt x="117" y="103"/>
                        </a:lnTo>
                        <a:lnTo>
                          <a:pt x="81" y="76"/>
                        </a:lnTo>
                        <a:lnTo>
                          <a:pt x="71" y="66"/>
                        </a:lnTo>
                        <a:lnTo>
                          <a:pt x="71" y="57"/>
                        </a:lnTo>
                        <a:lnTo>
                          <a:pt x="75" y="50"/>
                        </a:lnTo>
                        <a:lnTo>
                          <a:pt x="79" y="45"/>
                        </a:lnTo>
                        <a:lnTo>
                          <a:pt x="83" y="38"/>
                        </a:lnTo>
                        <a:lnTo>
                          <a:pt x="85" y="32"/>
                        </a:lnTo>
                        <a:lnTo>
                          <a:pt x="85" y="25"/>
                        </a:lnTo>
                        <a:lnTo>
                          <a:pt x="83" y="17"/>
                        </a:lnTo>
                        <a:lnTo>
                          <a:pt x="78" y="10"/>
                        </a:lnTo>
                        <a:lnTo>
                          <a:pt x="71" y="3"/>
                        </a:lnTo>
                        <a:lnTo>
                          <a:pt x="64" y="0"/>
                        </a:lnTo>
                        <a:lnTo>
                          <a:pt x="56" y="0"/>
                        </a:lnTo>
                        <a:lnTo>
                          <a:pt x="47" y="1"/>
                        </a:lnTo>
                        <a:lnTo>
                          <a:pt x="40" y="3"/>
                        </a:lnTo>
                        <a:lnTo>
                          <a:pt x="30" y="11"/>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sp>
              <p:nvSpPr>
                <p:cNvPr id="52" name="Freeform 47"/>
                <p:cNvSpPr/>
                <p:nvPr/>
              </p:nvSpPr>
              <p:spPr>
                <a:xfrm>
                  <a:off x="4471" y="2125"/>
                  <a:ext cx="145" cy="714"/>
                </a:xfrm>
                <a:custGeom>
                  <a:avLst/>
                  <a:gdLst/>
                  <a:ahLst/>
                  <a:cxnLst>
                    <a:cxn ang="0">
                      <a:pos x="51" y="11"/>
                    </a:cxn>
                    <a:cxn ang="0">
                      <a:pos x="84" y="0"/>
                    </a:cxn>
                    <a:cxn ang="0">
                      <a:pos x="110" y="0"/>
                    </a:cxn>
                    <a:cxn ang="0">
                      <a:pos x="132" y="6"/>
                    </a:cxn>
                    <a:cxn ang="0">
                      <a:pos x="141" y="31"/>
                    </a:cxn>
                    <a:cxn ang="0">
                      <a:pos x="141" y="51"/>
                    </a:cxn>
                    <a:cxn ang="0">
                      <a:pos x="128" y="77"/>
                    </a:cxn>
                    <a:cxn ang="0">
                      <a:pos x="118" y="76"/>
                    </a:cxn>
                    <a:cxn ang="0">
                      <a:pos x="133" y="106"/>
                    </a:cxn>
                    <a:cxn ang="0">
                      <a:pos x="144" y="153"/>
                    </a:cxn>
                    <a:cxn ang="0">
                      <a:pos x="144" y="195"/>
                    </a:cxn>
                    <a:cxn ang="0">
                      <a:pos x="141" y="246"/>
                    </a:cxn>
                    <a:cxn ang="0">
                      <a:pos x="132" y="298"/>
                    </a:cxn>
                    <a:cxn ang="0">
                      <a:pos x="116" y="301"/>
                    </a:cxn>
                    <a:cxn ang="0">
                      <a:pos x="116" y="316"/>
                    </a:cxn>
                    <a:cxn ang="0">
                      <a:pos x="107" y="322"/>
                    </a:cxn>
                    <a:cxn ang="0">
                      <a:pos x="107" y="366"/>
                    </a:cxn>
                    <a:cxn ang="0">
                      <a:pos x="98" y="377"/>
                    </a:cxn>
                    <a:cxn ang="0">
                      <a:pos x="98" y="472"/>
                    </a:cxn>
                    <a:cxn ang="0">
                      <a:pos x="98" y="533"/>
                    </a:cxn>
                    <a:cxn ang="0">
                      <a:pos x="111" y="601"/>
                    </a:cxn>
                    <a:cxn ang="0">
                      <a:pos x="116" y="687"/>
                    </a:cxn>
                    <a:cxn ang="0">
                      <a:pos x="101" y="694"/>
                    </a:cxn>
                    <a:cxn ang="0">
                      <a:pos x="101" y="704"/>
                    </a:cxn>
                    <a:cxn ang="0">
                      <a:pos x="77" y="704"/>
                    </a:cxn>
                    <a:cxn ang="0">
                      <a:pos x="73" y="700"/>
                    </a:cxn>
                    <a:cxn ang="0">
                      <a:pos x="63" y="700"/>
                    </a:cxn>
                    <a:cxn ang="0">
                      <a:pos x="63" y="707"/>
                    </a:cxn>
                    <a:cxn ang="0">
                      <a:pos x="45" y="704"/>
                    </a:cxn>
                    <a:cxn ang="0">
                      <a:pos x="8" y="700"/>
                    </a:cxn>
                    <a:cxn ang="0">
                      <a:pos x="8" y="694"/>
                    </a:cxn>
                    <a:cxn ang="0">
                      <a:pos x="43" y="681"/>
                    </a:cxn>
                    <a:cxn ang="0">
                      <a:pos x="43" y="668"/>
                    </a:cxn>
                    <a:cxn ang="0">
                      <a:pos x="12" y="662"/>
                    </a:cxn>
                    <a:cxn ang="0">
                      <a:pos x="12" y="653"/>
                    </a:cxn>
                    <a:cxn ang="0">
                      <a:pos x="33" y="640"/>
                    </a:cxn>
                    <a:cxn ang="0">
                      <a:pos x="33" y="543"/>
                    </a:cxn>
                    <a:cxn ang="0">
                      <a:pos x="25" y="454"/>
                    </a:cxn>
                    <a:cxn ang="0">
                      <a:pos x="27" y="365"/>
                    </a:cxn>
                    <a:cxn ang="0">
                      <a:pos x="28" y="322"/>
                    </a:cxn>
                    <a:cxn ang="0">
                      <a:pos x="26" y="307"/>
                    </a:cxn>
                    <a:cxn ang="0">
                      <a:pos x="26" y="237"/>
                    </a:cxn>
                    <a:cxn ang="0">
                      <a:pos x="0" y="221"/>
                    </a:cxn>
                    <a:cxn ang="0">
                      <a:pos x="0" y="212"/>
                    </a:cxn>
                    <a:cxn ang="0">
                      <a:pos x="55" y="116"/>
                    </a:cxn>
                    <a:cxn ang="0">
                      <a:pos x="81" y="103"/>
                    </a:cxn>
                    <a:cxn ang="0">
                      <a:pos x="78" y="97"/>
                    </a:cxn>
                    <a:cxn ang="0">
                      <a:pos x="60" y="93"/>
                    </a:cxn>
                    <a:cxn ang="0">
                      <a:pos x="60" y="87"/>
                    </a:cxn>
                    <a:cxn ang="0">
                      <a:pos x="55" y="84"/>
                    </a:cxn>
                    <a:cxn ang="0">
                      <a:pos x="55" y="77"/>
                    </a:cxn>
                    <a:cxn ang="0">
                      <a:pos x="51" y="74"/>
                    </a:cxn>
                    <a:cxn ang="0">
                      <a:pos x="55" y="71"/>
                    </a:cxn>
                    <a:cxn ang="0">
                      <a:pos x="51" y="68"/>
                    </a:cxn>
                    <a:cxn ang="0">
                      <a:pos x="60" y="51"/>
                    </a:cxn>
                    <a:cxn ang="0">
                      <a:pos x="55" y="43"/>
                    </a:cxn>
                    <a:cxn ang="0">
                      <a:pos x="60" y="34"/>
                    </a:cxn>
                    <a:cxn ang="0">
                      <a:pos x="51" y="27"/>
                    </a:cxn>
                    <a:cxn ang="0">
                      <a:pos x="51" y="11"/>
                    </a:cxn>
                  </a:cxnLst>
                  <a:rect l="0" t="0" r="0" b="0"/>
                  <a:pathLst>
                    <a:path w="145" h="715">
                      <a:moveTo>
                        <a:pt x="51" y="11"/>
                      </a:moveTo>
                      <a:lnTo>
                        <a:pt x="84" y="0"/>
                      </a:lnTo>
                      <a:lnTo>
                        <a:pt x="110" y="0"/>
                      </a:lnTo>
                      <a:lnTo>
                        <a:pt x="132" y="6"/>
                      </a:lnTo>
                      <a:lnTo>
                        <a:pt x="141" y="31"/>
                      </a:lnTo>
                      <a:lnTo>
                        <a:pt x="141" y="51"/>
                      </a:lnTo>
                      <a:lnTo>
                        <a:pt x="128" y="77"/>
                      </a:lnTo>
                      <a:lnTo>
                        <a:pt x="118" y="76"/>
                      </a:lnTo>
                      <a:lnTo>
                        <a:pt x="133" y="106"/>
                      </a:lnTo>
                      <a:lnTo>
                        <a:pt x="144" y="153"/>
                      </a:lnTo>
                      <a:lnTo>
                        <a:pt x="144" y="195"/>
                      </a:lnTo>
                      <a:lnTo>
                        <a:pt x="141" y="246"/>
                      </a:lnTo>
                      <a:lnTo>
                        <a:pt x="132" y="298"/>
                      </a:lnTo>
                      <a:lnTo>
                        <a:pt x="116" y="301"/>
                      </a:lnTo>
                      <a:lnTo>
                        <a:pt x="116" y="316"/>
                      </a:lnTo>
                      <a:lnTo>
                        <a:pt x="107" y="322"/>
                      </a:lnTo>
                      <a:lnTo>
                        <a:pt x="107" y="373"/>
                      </a:lnTo>
                      <a:lnTo>
                        <a:pt x="98" y="384"/>
                      </a:lnTo>
                      <a:lnTo>
                        <a:pt x="98" y="479"/>
                      </a:lnTo>
                      <a:lnTo>
                        <a:pt x="98" y="540"/>
                      </a:lnTo>
                      <a:lnTo>
                        <a:pt x="111" y="608"/>
                      </a:lnTo>
                      <a:lnTo>
                        <a:pt x="116" y="694"/>
                      </a:lnTo>
                      <a:lnTo>
                        <a:pt x="101" y="701"/>
                      </a:lnTo>
                      <a:lnTo>
                        <a:pt x="101" y="711"/>
                      </a:lnTo>
                      <a:lnTo>
                        <a:pt x="77" y="711"/>
                      </a:lnTo>
                      <a:lnTo>
                        <a:pt x="73" y="707"/>
                      </a:lnTo>
                      <a:lnTo>
                        <a:pt x="63" y="707"/>
                      </a:lnTo>
                      <a:lnTo>
                        <a:pt x="63" y="714"/>
                      </a:lnTo>
                      <a:lnTo>
                        <a:pt x="45" y="711"/>
                      </a:lnTo>
                      <a:lnTo>
                        <a:pt x="8" y="707"/>
                      </a:lnTo>
                      <a:lnTo>
                        <a:pt x="8" y="701"/>
                      </a:lnTo>
                      <a:lnTo>
                        <a:pt x="43" y="688"/>
                      </a:lnTo>
                      <a:lnTo>
                        <a:pt x="43" y="675"/>
                      </a:lnTo>
                      <a:lnTo>
                        <a:pt x="12" y="669"/>
                      </a:lnTo>
                      <a:lnTo>
                        <a:pt x="12" y="660"/>
                      </a:lnTo>
                      <a:lnTo>
                        <a:pt x="33" y="647"/>
                      </a:lnTo>
                      <a:lnTo>
                        <a:pt x="33" y="550"/>
                      </a:lnTo>
                      <a:lnTo>
                        <a:pt x="25" y="461"/>
                      </a:lnTo>
                      <a:lnTo>
                        <a:pt x="27" y="372"/>
                      </a:lnTo>
                      <a:lnTo>
                        <a:pt x="28" y="322"/>
                      </a:lnTo>
                      <a:lnTo>
                        <a:pt x="26" y="307"/>
                      </a:lnTo>
                      <a:lnTo>
                        <a:pt x="26" y="237"/>
                      </a:lnTo>
                      <a:lnTo>
                        <a:pt x="0" y="221"/>
                      </a:lnTo>
                      <a:lnTo>
                        <a:pt x="0" y="212"/>
                      </a:lnTo>
                      <a:lnTo>
                        <a:pt x="55" y="116"/>
                      </a:lnTo>
                      <a:lnTo>
                        <a:pt x="81" y="103"/>
                      </a:lnTo>
                      <a:lnTo>
                        <a:pt x="78" y="97"/>
                      </a:lnTo>
                      <a:lnTo>
                        <a:pt x="60" y="93"/>
                      </a:lnTo>
                      <a:lnTo>
                        <a:pt x="60" y="87"/>
                      </a:lnTo>
                      <a:lnTo>
                        <a:pt x="55" y="84"/>
                      </a:lnTo>
                      <a:lnTo>
                        <a:pt x="55" y="77"/>
                      </a:lnTo>
                      <a:lnTo>
                        <a:pt x="51" y="74"/>
                      </a:lnTo>
                      <a:lnTo>
                        <a:pt x="55" y="71"/>
                      </a:lnTo>
                      <a:lnTo>
                        <a:pt x="51" y="68"/>
                      </a:lnTo>
                      <a:lnTo>
                        <a:pt x="60" y="51"/>
                      </a:lnTo>
                      <a:lnTo>
                        <a:pt x="55" y="43"/>
                      </a:lnTo>
                      <a:lnTo>
                        <a:pt x="60" y="34"/>
                      </a:lnTo>
                      <a:lnTo>
                        <a:pt x="51" y="27"/>
                      </a:lnTo>
                      <a:lnTo>
                        <a:pt x="51" y="11"/>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53" name="Freeform 48"/>
                <p:cNvSpPr/>
                <p:nvPr/>
              </p:nvSpPr>
              <p:spPr>
                <a:xfrm>
                  <a:off x="2884" y="2120"/>
                  <a:ext cx="106" cy="378"/>
                </a:xfrm>
                <a:custGeom>
                  <a:avLst/>
                  <a:gdLst/>
                  <a:ahLst/>
                  <a:cxnLst>
                    <a:cxn ang="0">
                      <a:pos x="41" y="5"/>
                    </a:cxn>
                    <a:cxn ang="0">
                      <a:pos x="36" y="25"/>
                    </a:cxn>
                    <a:cxn ang="0">
                      <a:pos x="39" y="28"/>
                    </a:cxn>
                    <a:cxn ang="0">
                      <a:pos x="43" y="35"/>
                    </a:cxn>
                    <a:cxn ang="0">
                      <a:pos x="47" y="49"/>
                    </a:cxn>
                    <a:cxn ang="0">
                      <a:pos x="43" y="51"/>
                    </a:cxn>
                    <a:cxn ang="0">
                      <a:pos x="19" y="71"/>
                    </a:cxn>
                    <a:cxn ang="0">
                      <a:pos x="4" y="186"/>
                    </a:cxn>
                    <a:cxn ang="0">
                      <a:pos x="0" y="199"/>
                    </a:cxn>
                    <a:cxn ang="0">
                      <a:pos x="7" y="210"/>
                    </a:cxn>
                    <a:cxn ang="0">
                      <a:pos x="11" y="212"/>
                    </a:cxn>
                    <a:cxn ang="0">
                      <a:pos x="11" y="195"/>
                    </a:cxn>
                    <a:cxn ang="0">
                      <a:pos x="11" y="204"/>
                    </a:cxn>
                    <a:cxn ang="0">
                      <a:pos x="18" y="197"/>
                    </a:cxn>
                    <a:cxn ang="0">
                      <a:pos x="20" y="189"/>
                    </a:cxn>
                    <a:cxn ang="0">
                      <a:pos x="34" y="282"/>
                    </a:cxn>
                    <a:cxn ang="0">
                      <a:pos x="41" y="342"/>
                    </a:cxn>
                    <a:cxn ang="0">
                      <a:pos x="37" y="369"/>
                    </a:cxn>
                    <a:cxn ang="0">
                      <a:pos x="54" y="364"/>
                    </a:cxn>
                    <a:cxn ang="0">
                      <a:pos x="49" y="331"/>
                    </a:cxn>
                    <a:cxn ang="0">
                      <a:pos x="56" y="284"/>
                    </a:cxn>
                    <a:cxn ang="0">
                      <a:pos x="58" y="329"/>
                    </a:cxn>
                    <a:cxn ang="0">
                      <a:pos x="61" y="361"/>
                    </a:cxn>
                    <a:cxn ang="0">
                      <a:pos x="75" y="362"/>
                    </a:cxn>
                    <a:cxn ang="0">
                      <a:pos x="80" y="282"/>
                    </a:cxn>
                    <a:cxn ang="0">
                      <a:pos x="86" y="274"/>
                    </a:cxn>
                    <a:cxn ang="0">
                      <a:pos x="102" y="282"/>
                    </a:cxn>
                    <a:cxn ang="0">
                      <a:pos x="94" y="189"/>
                    </a:cxn>
                    <a:cxn ang="0">
                      <a:pos x="96" y="174"/>
                    </a:cxn>
                    <a:cxn ang="0">
                      <a:pos x="94" y="127"/>
                    </a:cxn>
                    <a:cxn ang="0">
                      <a:pos x="71" y="63"/>
                    </a:cxn>
                    <a:cxn ang="0">
                      <a:pos x="70" y="41"/>
                    </a:cxn>
                    <a:cxn ang="0">
                      <a:pos x="75" y="37"/>
                    </a:cxn>
                    <a:cxn ang="0">
                      <a:pos x="80" y="31"/>
                    </a:cxn>
                    <a:cxn ang="0">
                      <a:pos x="77" y="5"/>
                    </a:cxn>
                    <a:cxn ang="0">
                      <a:pos x="64" y="1"/>
                    </a:cxn>
                    <a:cxn ang="0">
                      <a:pos x="53" y="3"/>
                    </a:cxn>
                  </a:cxnLst>
                  <a:rect l="0" t="0" r="0" b="0"/>
                  <a:pathLst>
                    <a:path w="106" h="379">
                      <a:moveTo>
                        <a:pt x="53" y="3"/>
                      </a:moveTo>
                      <a:lnTo>
                        <a:pt x="41" y="5"/>
                      </a:lnTo>
                      <a:lnTo>
                        <a:pt x="36" y="19"/>
                      </a:lnTo>
                      <a:lnTo>
                        <a:pt x="36" y="25"/>
                      </a:lnTo>
                      <a:lnTo>
                        <a:pt x="41" y="25"/>
                      </a:lnTo>
                      <a:lnTo>
                        <a:pt x="39" y="28"/>
                      </a:lnTo>
                      <a:lnTo>
                        <a:pt x="41" y="29"/>
                      </a:lnTo>
                      <a:lnTo>
                        <a:pt x="43" y="35"/>
                      </a:lnTo>
                      <a:lnTo>
                        <a:pt x="44" y="37"/>
                      </a:lnTo>
                      <a:lnTo>
                        <a:pt x="47" y="49"/>
                      </a:lnTo>
                      <a:lnTo>
                        <a:pt x="47" y="51"/>
                      </a:lnTo>
                      <a:lnTo>
                        <a:pt x="43" y="51"/>
                      </a:lnTo>
                      <a:lnTo>
                        <a:pt x="34" y="66"/>
                      </a:lnTo>
                      <a:lnTo>
                        <a:pt x="19" y="71"/>
                      </a:lnTo>
                      <a:lnTo>
                        <a:pt x="11" y="82"/>
                      </a:lnTo>
                      <a:lnTo>
                        <a:pt x="4" y="186"/>
                      </a:lnTo>
                      <a:lnTo>
                        <a:pt x="7" y="187"/>
                      </a:lnTo>
                      <a:lnTo>
                        <a:pt x="0" y="206"/>
                      </a:lnTo>
                      <a:lnTo>
                        <a:pt x="4" y="217"/>
                      </a:lnTo>
                      <a:lnTo>
                        <a:pt x="7" y="217"/>
                      </a:lnTo>
                      <a:lnTo>
                        <a:pt x="8" y="219"/>
                      </a:lnTo>
                      <a:lnTo>
                        <a:pt x="11" y="219"/>
                      </a:lnTo>
                      <a:lnTo>
                        <a:pt x="10" y="208"/>
                      </a:lnTo>
                      <a:lnTo>
                        <a:pt x="11" y="202"/>
                      </a:lnTo>
                      <a:lnTo>
                        <a:pt x="13" y="207"/>
                      </a:lnTo>
                      <a:lnTo>
                        <a:pt x="11" y="211"/>
                      </a:lnTo>
                      <a:lnTo>
                        <a:pt x="13" y="213"/>
                      </a:lnTo>
                      <a:lnTo>
                        <a:pt x="18" y="204"/>
                      </a:lnTo>
                      <a:lnTo>
                        <a:pt x="15" y="189"/>
                      </a:lnTo>
                      <a:lnTo>
                        <a:pt x="20" y="190"/>
                      </a:lnTo>
                      <a:lnTo>
                        <a:pt x="18" y="283"/>
                      </a:lnTo>
                      <a:lnTo>
                        <a:pt x="34" y="289"/>
                      </a:lnTo>
                      <a:lnTo>
                        <a:pt x="43" y="343"/>
                      </a:lnTo>
                      <a:lnTo>
                        <a:pt x="41" y="349"/>
                      </a:lnTo>
                      <a:lnTo>
                        <a:pt x="37" y="371"/>
                      </a:lnTo>
                      <a:lnTo>
                        <a:pt x="37" y="376"/>
                      </a:lnTo>
                      <a:lnTo>
                        <a:pt x="49" y="378"/>
                      </a:lnTo>
                      <a:lnTo>
                        <a:pt x="54" y="371"/>
                      </a:lnTo>
                      <a:lnTo>
                        <a:pt x="51" y="352"/>
                      </a:lnTo>
                      <a:lnTo>
                        <a:pt x="49" y="338"/>
                      </a:lnTo>
                      <a:lnTo>
                        <a:pt x="55" y="291"/>
                      </a:lnTo>
                      <a:lnTo>
                        <a:pt x="56" y="291"/>
                      </a:lnTo>
                      <a:lnTo>
                        <a:pt x="61" y="308"/>
                      </a:lnTo>
                      <a:lnTo>
                        <a:pt x="58" y="336"/>
                      </a:lnTo>
                      <a:lnTo>
                        <a:pt x="54" y="339"/>
                      </a:lnTo>
                      <a:lnTo>
                        <a:pt x="61" y="368"/>
                      </a:lnTo>
                      <a:lnTo>
                        <a:pt x="72" y="371"/>
                      </a:lnTo>
                      <a:lnTo>
                        <a:pt x="75" y="369"/>
                      </a:lnTo>
                      <a:lnTo>
                        <a:pt x="66" y="339"/>
                      </a:lnTo>
                      <a:lnTo>
                        <a:pt x="80" y="289"/>
                      </a:lnTo>
                      <a:lnTo>
                        <a:pt x="86" y="284"/>
                      </a:lnTo>
                      <a:lnTo>
                        <a:pt x="86" y="281"/>
                      </a:lnTo>
                      <a:lnTo>
                        <a:pt x="98" y="282"/>
                      </a:lnTo>
                      <a:lnTo>
                        <a:pt x="102" y="289"/>
                      </a:lnTo>
                      <a:lnTo>
                        <a:pt x="105" y="284"/>
                      </a:lnTo>
                      <a:lnTo>
                        <a:pt x="94" y="193"/>
                      </a:lnTo>
                      <a:lnTo>
                        <a:pt x="96" y="193"/>
                      </a:lnTo>
                      <a:lnTo>
                        <a:pt x="96" y="174"/>
                      </a:lnTo>
                      <a:lnTo>
                        <a:pt x="97" y="172"/>
                      </a:lnTo>
                      <a:lnTo>
                        <a:pt x="94" y="127"/>
                      </a:lnTo>
                      <a:lnTo>
                        <a:pt x="90" y="73"/>
                      </a:lnTo>
                      <a:lnTo>
                        <a:pt x="71" y="63"/>
                      </a:lnTo>
                      <a:lnTo>
                        <a:pt x="64" y="51"/>
                      </a:lnTo>
                      <a:lnTo>
                        <a:pt x="70" y="41"/>
                      </a:lnTo>
                      <a:lnTo>
                        <a:pt x="72" y="42"/>
                      </a:lnTo>
                      <a:lnTo>
                        <a:pt x="75" y="37"/>
                      </a:lnTo>
                      <a:lnTo>
                        <a:pt x="75" y="31"/>
                      </a:lnTo>
                      <a:lnTo>
                        <a:pt x="80" y="31"/>
                      </a:lnTo>
                      <a:lnTo>
                        <a:pt x="82" y="16"/>
                      </a:lnTo>
                      <a:lnTo>
                        <a:pt x="77" y="5"/>
                      </a:lnTo>
                      <a:lnTo>
                        <a:pt x="72" y="1"/>
                      </a:lnTo>
                      <a:lnTo>
                        <a:pt x="64" y="1"/>
                      </a:lnTo>
                      <a:lnTo>
                        <a:pt x="59" y="0"/>
                      </a:lnTo>
                      <a:lnTo>
                        <a:pt x="53" y="3"/>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54" name="Freeform 49"/>
                <p:cNvSpPr/>
                <p:nvPr/>
              </p:nvSpPr>
              <p:spPr>
                <a:xfrm>
                  <a:off x="3681" y="2028"/>
                  <a:ext cx="74" cy="378"/>
                </a:xfrm>
                <a:custGeom>
                  <a:avLst/>
                  <a:gdLst/>
                  <a:ahLst/>
                  <a:cxnLst>
                    <a:cxn ang="0">
                      <a:pos x="25" y="5"/>
                    </a:cxn>
                    <a:cxn ang="0">
                      <a:pos x="43" y="0"/>
                    </a:cxn>
                    <a:cxn ang="0">
                      <a:pos x="56" y="0"/>
                    </a:cxn>
                    <a:cxn ang="0">
                      <a:pos x="68" y="3"/>
                    </a:cxn>
                    <a:cxn ang="0">
                      <a:pos x="72" y="16"/>
                    </a:cxn>
                    <a:cxn ang="0">
                      <a:pos x="72" y="27"/>
                    </a:cxn>
                    <a:cxn ang="0">
                      <a:pos x="65" y="40"/>
                    </a:cxn>
                    <a:cxn ang="0">
                      <a:pos x="60" y="40"/>
                    </a:cxn>
                    <a:cxn ang="0">
                      <a:pos x="68" y="56"/>
                    </a:cxn>
                    <a:cxn ang="0">
                      <a:pos x="73" y="80"/>
                    </a:cxn>
                    <a:cxn ang="0">
                      <a:pos x="73" y="102"/>
                    </a:cxn>
                    <a:cxn ang="0">
                      <a:pos x="72" y="129"/>
                    </a:cxn>
                    <a:cxn ang="0">
                      <a:pos x="68" y="156"/>
                    </a:cxn>
                    <a:cxn ang="0">
                      <a:pos x="59" y="158"/>
                    </a:cxn>
                    <a:cxn ang="0">
                      <a:pos x="59" y="165"/>
                    </a:cxn>
                    <a:cxn ang="0">
                      <a:pos x="54" y="169"/>
                    </a:cxn>
                    <a:cxn ang="0">
                      <a:pos x="54" y="204"/>
                    </a:cxn>
                    <a:cxn ang="0">
                      <a:pos x="50" y="209"/>
                    </a:cxn>
                    <a:cxn ang="0">
                      <a:pos x="50" y="260"/>
                    </a:cxn>
                    <a:cxn ang="0">
                      <a:pos x="50" y="292"/>
                    </a:cxn>
                    <a:cxn ang="0">
                      <a:pos x="56" y="327"/>
                    </a:cxn>
                    <a:cxn ang="0">
                      <a:pos x="59" y="373"/>
                    </a:cxn>
                    <a:cxn ang="0">
                      <a:pos x="51" y="377"/>
                    </a:cxn>
                    <a:cxn ang="0">
                      <a:pos x="51" y="383"/>
                    </a:cxn>
                    <a:cxn ang="0">
                      <a:pos x="40" y="383"/>
                    </a:cxn>
                    <a:cxn ang="0">
                      <a:pos x="37" y="380"/>
                    </a:cxn>
                    <a:cxn ang="0">
                      <a:pos x="32" y="380"/>
                    </a:cxn>
                    <a:cxn ang="0">
                      <a:pos x="32" y="383"/>
                    </a:cxn>
                    <a:cxn ang="0">
                      <a:pos x="23" y="383"/>
                    </a:cxn>
                    <a:cxn ang="0">
                      <a:pos x="5" y="380"/>
                    </a:cxn>
                    <a:cxn ang="0">
                      <a:pos x="5" y="377"/>
                    </a:cxn>
                    <a:cxn ang="0">
                      <a:pos x="21" y="370"/>
                    </a:cxn>
                    <a:cxn ang="0">
                      <a:pos x="21" y="363"/>
                    </a:cxn>
                    <a:cxn ang="0">
                      <a:pos x="6" y="360"/>
                    </a:cxn>
                    <a:cxn ang="0">
                      <a:pos x="6" y="356"/>
                    </a:cxn>
                    <a:cxn ang="0">
                      <a:pos x="17" y="349"/>
                    </a:cxn>
                    <a:cxn ang="0">
                      <a:pos x="17" y="297"/>
                    </a:cxn>
                    <a:cxn ang="0">
                      <a:pos x="13" y="250"/>
                    </a:cxn>
                    <a:cxn ang="0">
                      <a:pos x="14" y="203"/>
                    </a:cxn>
                    <a:cxn ang="0">
                      <a:pos x="14" y="169"/>
                    </a:cxn>
                    <a:cxn ang="0">
                      <a:pos x="13" y="161"/>
                    </a:cxn>
                    <a:cxn ang="0">
                      <a:pos x="13" y="124"/>
                    </a:cxn>
                    <a:cxn ang="0">
                      <a:pos x="0" y="116"/>
                    </a:cxn>
                    <a:cxn ang="0">
                      <a:pos x="0" y="112"/>
                    </a:cxn>
                    <a:cxn ang="0">
                      <a:pos x="28" y="61"/>
                    </a:cxn>
                    <a:cxn ang="0">
                      <a:pos x="41" y="54"/>
                    </a:cxn>
                    <a:cxn ang="0">
                      <a:pos x="40" y="51"/>
                    </a:cxn>
                    <a:cxn ang="0">
                      <a:pos x="30" y="49"/>
                    </a:cxn>
                    <a:cxn ang="0">
                      <a:pos x="30" y="46"/>
                    </a:cxn>
                    <a:cxn ang="0">
                      <a:pos x="28" y="44"/>
                    </a:cxn>
                    <a:cxn ang="0">
                      <a:pos x="28" y="40"/>
                    </a:cxn>
                    <a:cxn ang="0">
                      <a:pos x="25" y="39"/>
                    </a:cxn>
                    <a:cxn ang="0">
                      <a:pos x="28" y="37"/>
                    </a:cxn>
                    <a:cxn ang="0">
                      <a:pos x="26" y="35"/>
                    </a:cxn>
                    <a:cxn ang="0">
                      <a:pos x="30" y="27"/>
                    </a:cxn>
                    <a:cxn ang="0">
                      <a:pos x="28" y="22"/>
                    </a:cxn>
                    <a:cxn ang="0">
                      <a:pos x="30" y="18"/>
                    </a:cxn>
                    <a:cxn ang="0">
                      <a:pos x="26" y="14"/>
                    </a:cxn>
                    <a:cxn ang="0">
                      <a:pos x="25" y="5"/>
                    </a:cxn>
                  </a:cxnLst>
                  <a:rect l="0" t="0" r="0" b="0"/>
                  <a:pathLst>
                    <a:path w="74" h="377">
                      <a:moveTo>
                        <a:pt x="25" y="5"/>
                      </a:moveTo>
                      <a:lnTo>
                        <a:pt x="43" y="0"/>
                      </a:lnTo>
                      <a:lnTo>
                        <a:pt x="56" y="0"/>
                      </a:lnTo>
                      <a:lnTo>
                        <a:pt x="68" y="3"/>
                      </a:lnTo>
                      <a:lnTo>
                        <a:pt x="72" y="16"/>
                      </a:lnTo>
                      <a:lnTo>
                        <a:pt x="72" y="27"/>
                      </a:lnTo>
                      <a:lnTo>
                        <a:pt x="65" y="40"/>
                      </a:lnTo>
                      <a:lnTo>
                        <a:pt x="60" y="40"/>
                      </a:lnTo>
                      <a:lnTo>
                        <a:pt x="68" y="56"/>
                      </a:lnTo>
                      <a:lnTo>
                        <a:pt x="73" y="80"/>
                      </a:lnTo>
                      <a:lnTo>
                        <a:pt x="73" y="102"/>
                      </a:lnTo>
                      <a:lnTo>
                        <a:pt x="72" y="129"/>
                      </a:lnTo>
                      <a:lnTo>
                        <a:pt x="68" y="156"/>
                      </a:lnTo>
                      <a:lnTo>
                        <a:pt x="59" y="158"/>
                      </a:lnTo>
                      <a:lnTo>
                        <a:pt x="59" y="165"/>
                      </a:lnTo>
                      <a:lnTo>
                        <a:pt x="54" y="169"/>
                      </a:lnTo>
                      <a:lnTo>
                        <a:pt x="54" y="197"/>
                      </a:lnTo>
                      <a:lnTo>
                        <a:pt x="50" y="202"/>
                      </a:lnTo>
                      <a:lnTo>
                        <a:pt x="50" y="253"/>
                      </a:lnTo>
                      <a:lnTo>
                        <a:pt x="50" y="285"/>
                      </a:lnTo>
                      <a:lnTo>
                        <a:pt x="56" y="320"/>
                      </a:lnTo>
                      <a:lnTo>
                        <a:pt x="59" y="366"/>
                      </a:lnTo>
                      <a:lnTo>
                        <a:pt x="51" y="370"/>
                      </a:lnTo>
                      <a:lnTo>
                        <a:pt x="51" y="376"/>
                      </a:lnTo>
                      <a:lnTo>
                        <a:pt x="40" y="376"/>
                      </a:lnTo>
                      <a:lnTo>
                        <a:pt x="37" y="373"/>
                      </a:lnTo>
                      <a:lnTo>
                        <a:pt x="32" y="373"/>
                      </a:lnTo>
                      <a:lnTo>
                        <a:pt x="32" y="376"/>
                      </a:lnTo>
                      <a:lnTo>
                        <a:pt x="23" y="376"/>
                      </a:lnTo>
                      <a:lnTo>
                        <a:pt x="5" y="373"/>
                      </a:lnTo>
                      <a:lnTo>
                        <a:pt x="5" y="370"/>
                      </a:lnTo>
                      <a:lnTo>
                        <a:pt x="21" y="363"/>
                      </a:lnTo>
                      <a:lnTo>
                        <a:pt x="21" y="356"/>
                      </a:lnTo>
                      <a:lnTo>
                        <a:pt x="6" y="353"/>
                      </a:lnTo>
                      <a:lnTo>
                        <a:pt x="6" y="349"/>
                      </a:lnTo>
                      <a:lnTo>
                        <a:pt x="17" y="342"/>
                      </a:lnTo>
                      <a:lnTo>
                        <a:pt x="17" y="290"/>
                      </a:lnTo>
                      <a:lnTo>
                        <a:pt x="13" y="243"/>
                      </a:lnTo>
                      <a:lnTo>
                        <a:pt x="14" y="196"/>
                      </a:lnTo>
                      <a:lnTo>
                        <a:pt x="14" y="169"/>
                      </a:lnTo>
                      <a:lnTo>
                        <a:pt x="13" y="161"/>
                      </a:lnTo>
                      <a:lnTo>
                        <a:pt x="13" y="124"/>
                      </a:lnTo>
                      <a:lnTo>
                        <a:pt x="0" y="116"/>
                      </a:lnTo>
                      <a:lnTo>
                        <a:pt x="0" y="112"/>
                      </a:lnTo>
                      <a:lnTo>
                        <a:pt x="28" y="61"/>
                      </a:lnTo>
                      <a:lnTo>
                        <a:pt x="41" y="54"/>
                      </a:lnTo>
                      <a:lnTo>
                        <a:pt x="40" y="51"/>
                      </a:lnTo>
                      <a:lnTo>
                        <a:pt x="30" y="49"/>
                      </a:lnTo>
                      <a:lnTo>
                        <a:pt x="30" y="46"/>
                      </a:lnTo>
                      <a:lnTo>
                        <a:pt x="28" y="44"/>
                      </a:lnTo>
                      <a:lnTo>
                        <a:pt x="28" y="40"/>
                      </a:lnTo>
                      <a:lnTo>
                        <a:pt x="25" y="39"/>
                      </a:lnTo>
                      <a:lnTo>
                        <a:pt x="28" y="37"/>
                      </a:lnTo>
                      <a:lnTo>
                        <a:pt x="26" y="35"/>
                      </a:lnTo>
                      <a:lnTo>
                        <a:pt x="30" y="27"/>
                      </a:lnTo>
                      <a:lnTo>
                        <a:pt x="28" y="22"/>
                      </a:lnTo>
                      <a:lnTo>
                        <a:pt x="30" y="18"/>
                      </a:lnTo>
                      <a:lnTo>
                        <a:pt x="26" y="14"/>
                      </a:lnTo>
                      <a:lnTo>
                        <a:pt x="25" y="5"/>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55" name="Freeform 50"/>
                <p:cNvSpPr/>
                <p:nvPr/>
              </p:nvSpPr>
              <p:spPr>
                <a:xfrm>
                  <a:off x="3565" y="1991"/>
                  <a:ext cx="102" cy="337"/>
                </a:xfrm>
                <a:custGeom>
                  <a:avLst/>
                  <a:gdLst/>
                  <a:ahLst/>
                  <a:cxnLst>
                    <a:cxn ang="0">
                      <a:pos x="68" y="4"/>
                    </a:cxn>
                    <a:cxn ang="0">
                      <a:pos x="73" y="22"/>
                    </a:cxn>
                    <a:cxn ang="0">
                      <a:pos x="70" y="24"/>
                    </a:cxn>
                    <a:cxn ang="0">
                      <a:pos x="67" y="31"/>
                    </a:cxn>
                    <a:cxn ang="0">
                      <a:pos x="62" y="43"/>
                    </a:cxn>
                    <a:cxn ang="0">
                      <a:pos x="67" y="45"/>
                    </a:cxn>
                    <a:cxn ang="0">
                      <a:pos x="89" y="63"/>
                    </a:cxn>
                    <a:cxn ang="0">
                      <a:pos x="104" y="164"/>
                    </a:cxn>
                    <a:cxn ang="0">
                      <a:pos x="107" y="182"/>
                    </a:cxn>
                    <a:cxn ang="0">
                      <a:pos x="101" y="191"/>
                    </a:cxn>
                    <a:cxn ang="0">
                      <a:pos x="96" y="194"/>
                    </a:cxn>
                    <a:cxn ang="0">
                      <a:pos x="96" y="178"/>
                    </a:cxn>
                    <a:cxn ang="0">
                      <a:pos x="96" y="187"/>
                    </a:cxn>
                    <a:cxn ang="0">
                      <a:pos x="91" y="181"/>
                    </a:cxn>
                    <a:cxn ang="0">
                      <a:pos x="88" y="168"/>
                    </a:cxn>
                    <a:cxn ang="0">
                      <a:pos x="75" y="255"/>
                    </a:cxn>
                    <a:cxn ang="0">
                      <a:pos x="68" y="310"/>
                    </a:cxn>
                    <a:cxn ang="0">
                      <a:pos x="72" y="333"/>
                    </a:cxn>
                    <a:cxn ang="0">
                      <a:pos x="48" y="330"/>
                    </a:cxn>
                    <a:cxn ang="0">
                      <a:pos x="60" y="300"/>
                    </a:cxn>
                    <a:cxn ang="0">
                      <a:pos x="46" y="258"/>
                    </a:cxn>
                    <a:cxn ang="0">
                      <a:pos x="45" y="298"/>
                    </a:cxn>
                    <a:cxn ang="0">
                      <a:pos x="42" y="327"/>
                    </a:cxn>
                    <a:cxn ang="0">
                      <a:pos x="29" y="328"/>
                    </a:cxn>
                    <a:cxn ang="0">
                      <a:pos x="24" y="255"/>
                    </a:cxn>
                    <a:cxn ang="0">
                      <a:pos x="18" y="249"/>
                    </a:cxn>
                    <a:cxn ang="0">
                      <a:pos x="3" y="255"/>
                    </a:cxn>
                    <a:cxn ang="0">
                      <a:pos x="11" y="171"/>
                    </a:cxn>
                    <a:cxn ang="0">
                      <a:pos x="9" y="154"/>
                    </a:cxn>
                    <a:cxn ang="0">
                      <a:pos x="11" y="112"/>
                    </a:cxn>
                    <a:cxn ang="0">
                      <a:pos x="33" y="56"/>
                    </a:cxn>
                    <a:cxn ang="0">
                      <a:pos x="33" y="36"/>
                    </a:cxn>
                    <a:cxn ang="0">
                      <a:pos x="29" y="32"/>
                    </a:cxn>
                    <a:cxn ang="0">
                      <a:pos x="24" y="27"/>
                    </a:cxn>
                    <a:cxn ang="0">
                      <a:pos x="27" y="4"/>
                    </a:cxn>
                    <a:cxn ang="0">
                      <a:pos x="40" y="1"/>
                    </a:cxn>
                    <a:cxn ang="0">
                      <a:pos x="50" y="2"/>
                    </a:cxn>
                  </a:cxnLst>
                  <a:rect l="0" t="0" r="0" b="0"/>
                  <a:pathLst>
                    <a:path w="101" h="337">
                      <a:moveTo>
                        <a:pt x="50" y="2"/>
                      </a:moveTo>
                      <a:lnTo>
                        <a:pt x="61" y="4"/>
                      </a:lnTo>
                      <a:lnTo>
                        <a:pt x="66" y="17"/>
                      </a:lnTo>
                      <a:lnTo>
                        <a:pt x="66" y="22"/>
                      </a:lnTo>
                      <a:lnTo>
                        <a:pt x="61" y="22"/>
                      </a:lnTo>
                      <a:lnTo>
                        <a:pt x="63" y="24"/>
                      </a:lnTo>
                      <a:lnTo>
                        <a:pt x="61" y="25"/>
                      </a:lnTo>
                      <a:lnTo>
                        <a:pt x="60" y="31"/>
                      </a:lnTo>
                      <a:lnTo>
                        <a:pt x="58" y="32"/>
                      </a:lnTo>
                      <a:lnTo>
                        <a:pt x="55" y="43"/>
                      </a:lnTo>
                      <a:lnTo>
                        <a:pt x="55" y="45"/>
                      </a:lnTo>
                      <a:lnTo>
                        <a:pt x="60" y="45"/>
                      </a:lnTo>
                      <a:lnTo>
                        <a:pt x="68" y="58"/>
                      </a:lnTo>
                      <a:lnTo>
                        <a:pt x="82" y="63"/>
                      </a:lnTo>
                      <a:lnTo>
                        <a:pt x="89" y="72"/>
                      </a:lnTo>
                      <a:lnTo>
                        <a:pt x="97" y="164"/>
                      </a:lnTo>
                      <a:lnTo>
                        <a:pt x="94" y="166"/>
                      </a:lnTo>
                      <a:lnTo>
                        <a:pt x="100" y="182"/>
                      </a:lnTo>
                      <a:lnTo>
                        <a:pt x="97" y="191"/>
                      </a:lnTo>
                      <a:lnTo>
                        <a:pt x="94" y="191"/>
                      </a:lnTo>
                      <a:lnTo>
                        <a:pt x="93" y="194"/>
                      </a:lnTo>
                      <a:lnTo>
                        <a:pt x="89" y="194"/>
                      </a:lnTo>
                      <a:lnTo>
                        <a:pt x="91" y="184"/>
                      </a:lnTo>
                      <a:lnTo>
                        <a:pt x="89" y="178"/>
                      </a:lnTo>
                      <a:lnTo>
                        <a:pt x="88" y="183"/>
                      </a:lnTo>
                      <a:lnTo>
                        <a:pt x="89" y="187"/>
                      </a:lnTo>
                      <a:lnTo>
                        <a:pt x="87" y="189"/>
                      </a:lnTo>
                      <a:lnTo>
                        <a:pt x="84" y="181"/>
                      </a:lnTo>
                      <a:lnTo>
                        <a:pt x="86" y="167"/>
                      </a:lnTo>
                      <a:lnTo>
                        <a:pt x="81" y="168"/>
                      </a:lnTo>
                      <a:lnTo>
                        <a:pt x="84" y="251"/>
                      </a:lnTo>
                      <a:lnTo>
                        <a:pt x="68" y="255"/>
                      </a:lnTo>
                      <a:lnTo>
                        <a:pt x="60" y="305"/>
                      </a:lnTo>
                      <a:lnTo>
                        <a:pt x="61" y="310"/>
                      </a:lnTo>
                      <a:lnTo>
                        <a:pt x="65" y="330"/>
                      </a:lnTo>
                      <a:lnTo>
                        <a:pt x="65" y="333"/>
                      </a:lnTo>
                      <a:lnTo>
                        <a:pt x="53" y="336"/>
                      </a:lnTo>
                      <a:lnTo>
                        <a:pt x="48" y="330"/>
                      </a:lnTo>
                      <a:lnTo>
                        <a:pt x="51" y="313"/>
                      </a:lnTo>
                      <a:lnTo>
                        <a:pt x="53" y="300"/>
                      </a:lnTo>
                      <a:lnTo>
                        <a:pt x="48" y="258"/>
                      </a:lnTo>
                      <a:lnTo>
                        <a:pt x="46" y="258"/>
                      </a:lnTo>
                      <a:lnTo>
                        <a:pt x="42" y="273"/>
                      </a:lnTo>
                      <a:lnTo>
                        <a:pt x="45" y="298"/>
                      </a:lnTo>
                      <a:lnTo>
                        <a:pt x="48" y="301"/>
                      </a:lnTo>
                      <a:lnTo>
                        <a:pt x="42" y="327"/>
                      </a:lnTo>
                      <a:lnTo>
                        <a:pt x="31" y="330"/>
                      </a:lnTo>
                      <a:lnTo>
                        <a:pt x="29" y="328"/>
                      </a:lnTo>
                      <a:lnTo>
                        <a:pt x="37" y="302"/>
                      </a:lnTo>
                      <a:lnTo>
                        <a:pt x="24" y="255"/>
                      </a:lnTo>
                      <a:lnTo>
                        <a:pt x="18" y="252"/>
                      </a:lnTo>
                      <a:lnTo>
                        <a:pt x="18" y="249"/>
                      </a:lnTo>
                      <a:lnTo>
                        <a:pt x="6" y="250"/>
                      </a:lnTo>
                      <a:lnTo>
                        <a:pt x="3" y="255"/>
                      </a:lnTo>
                      <a:lnTo>
                        <a:pt x="0" y="252"/>
                      </a:lnTo>
                      <a:lnTo>
                        <a:pt x="11" y="171"/>
                      </a:lnTo>
                      <a:lnTo>
                        <a:pt x="9" y="171"/>
                      </a:lnTo>
                      <a:lnTo>
                        <a:pt x="9" y="154"/>
                      </a:lnTo>
                      <a:lnTo>
                        <a:pt x="8" y="152"/>
                      </a:lnTo>
                      <a:lnTo>
                        <a:pt x="11" y="112"/>
                      </a:lnTo>
                      <a:lnTo>
                        <a:pt x="15" y="65"/>
                      </a:lnTo>
                      <a:lnTo>
                        <a:pt x="33" y="56"/>
                      </a:lnTo>
                      <a:lnTo>
                        <a:pt x="39" y="45"/>
                      </a:lnTo>
                      <a:lnTo>
                        <a:pt x="33" y="36"/>
                      </a:lnTo>
                      <a:lnTo>
                        <a:pt x="31" y="37"/>
                      </a:lnTo>
                      <a:lnTo>
                        <a:pt x="29" y="32"/>
                      </a:lnTo>
                      <a:lnTo>
                        <a:pt x="29" y="27"/>
                      </a:lnTo>
                      <a:lnTo>
                        <a:pt x="24" y="27"/>
                      </a:lnTo>
                      <a:lnTo>
                        <a:pt x="23" y="14"/>
                      </a:lnTo>
                      <a:lnTo>
                        <a:pt x="27" y="4"/>
                      </a:lnTo>
                      <a:lnTo>
                        <a:pt x="32" y="1"/>
                      </a:lnTo>
                      <a:lnTo>
                        <a:pt x="40" y="1"/>
                      </a:lnTo>
                      <a:lnTo>
                        <a:pt x="44" y="0"/>
                      </a:lnTo>
                      <a:lnTo>
                        <a:pt x="50" y="2"/>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56" name="Freeform 51"/>
                <p:cNvSpPr/>
                <p:nvPr/>
              </p:nvSpPr>
              <p:spPr>
                <a:xfrm>
                  <a:off x="3018" y="2020"/>
                  <a:ext cx="65" cy="237"/>
                </a:xfrm>
                <a:custGeom>
                  <a:avLst/>
                  <a:gdLst/>
                  <a:ahLst/>
                  <a:cxnLst>
                    <a:cxn ang="0">
                      <a:pos x="25" y="3"/>
                    </a:cxn>
                    <a:cxn ang="0">
                      <a:pos x="21" y="15"/>
                    </a:cxn>
                    <a:cxn ang="0">
                      <a:pos x="24" y="17"/>
                    </a:cxn>
                    <a:cxn ang="0">
                      <a:pos x="26" y="22"/>
                    </a:cxn>
                    <a:cxn ang="0">
                      <a:pos x="29" y="30"/>
                    </a:cxn>
                    <a:cxn ang="0">
                      <a:pos x="26" y="32"/>
                    </a:cxn>
                    <a:cxn ang="0">
                      <a:pos x="12" y="44"/>
                    </a:cxn>
                    <a:cxn ang="0">
                      <a:pos x="2" y="116"/>
                    </a:cxn>
                    <a:cxn ang="0">
                      <a:pos x="0" y="128"/>
                    </a:cxn>
                    <a:cxn ang="0">
                      <a:pos x="4" y="135"/>
                    </a:cxn>
                    <a:cxn ang="0">
                      <a:pos x="7" y="136"/>
                    </a:cxn>
                    <a:cxn ang="0">
                      <a:pos x="7" y="126"/>
                    </a:cxn>
                    <a:cxn ang="0">
                      <a:pos x="7" y="131"/>
                    </a:cxn>
                    <a:cxn ang="0">
                      <a:pos x="10" y="128"/>
                    </a:cxn>
                    <a:cxn ang="0">
                      <a:pos x="12" y="118"/>
                    </a:cxn>
                    <a:cxn ang="0">
                      <a:pos x="21" y="180"/>
                    </a:cxn>
                    <a:cxn ang="0">
                      <a:pos x="25" y="218"/>
                    </a:cxn>
                    <a:cxn ang="0">
                      <a:pos x="23" y="234"/>
                    </a:cxn>
                    <a:cxn ang="0">
                      <a:pos x="33" y="232"/>
                    </a:cxn>
                    <a:cxn ang="0">
                      <a:pos x="30" y="211"/>
                    </a:cxn>
                    <a:cxn ang="0">
                      <a:pos x="34" y="182"/>
                    </a:cxn>
                    <a:cxn ang="0">
                      <a:pos x="36" y="209"/>
                    </a:cxn>
                    <a:cxn ang="0">
                      <a:pos x="37" y="229"/>
                    </a:cxn>
                    <a:cxn ang="0">
                      <a:pos x="45" y="230"/>
                    </a:cxn>
                    <a:cxn ang="0">
                      <a:pos x="49" y="180"/>
                    </a:cxn>
                    <a:cxn ang="0">
                      <a:pos x="52" y="175"/>
                    </a:cxn>
                    <a:cxn ang="0">
                      <a:pos x="62" y="180"/>
                    </a:cxn>
                    <a:cxn ang="0">
                      <a:pos x="57" y="120"/>
                    </a:cxn>
                    <a:cxn ang="0">
                      <a:pos x="58" y="108"/>
                    </a:cxn>
                    <a:cxn ang="0">
                      <a:pos x="57" y="79"/>
                    </a:cxn>
                    <a:cxn ang="0">
                      <a:pos x="43" y="39"/>
                    </a:cxn>
                    <a:cxn ang="0">
                      <a:pos x="43" y="26"/>
                    </a:cxn>
                    <a:cxn ang="0">
                      <a:pos x="45" y="23"/>
                    </a:cxn>
                    <a:cxn ang="0">
                      <a:pos x="49" y="19"/>
                    </a:cxn>
                    <a:cxn ang="0">
                      <a:pos x="46" y="3"/>
                    </a:cxn>
                    <a:cxn ang="0">
                      <a:pos x="39" y="1"/>
                    </a:cxn>
                    <a:cxn ang="0">
                      <a:pos x="32" y="1"/>
                    </a:cxn>
                  </a:cxnLst>
                  <a:rect l="0" t="0" r="0" b="0"/>
                  <a:pathLst>
                    <a:path w="65" h="237">
                      <a:moveTo>
                        <a:pt x="32" y="1"/>
                      </a:moveTo>
                      <a:lnTo>
                        <a:pt x="25" y="3"/>
                      </a:lnTo>
                      <a:lnTo>
                        <a:pt x="21" y="12"/>
                      </a:lnTo>
                      <a:lnTo>
                        <a:pt x="21" y="15"/>
                      </a:lnTo>
                      <a:lnTo>
                        <a:pt x="25" y="15"/>
                      </a:lnTo>
                      <a:lnTo>
                        <a:pt x="24" y="17"/>
                      </a:lnTo>
                      <a:lnTo>
                        <a:pt x="25" y="18"/>
                      </a:lnTo>
                      <a:lnTo>
                        <a:pt x="26" y="22"/>
                      </a:lnTo>
                      <a:lnTo>
                        <a:pt x="27" y="23"/>
                      </a:lnTo>
                      <a:lnTo>
                        <a:pt x="29" y="30"/>
                      </a:lnTo>
                      <a:lnTo>
                        <a:pt x="29" y="32"/>
                      </a:lnTo>
                      <a:lnTo>
                        <a:pt x="26" y="32"/>
                      </a:lnTo>
                      <a:lnTo>
                        <a:pt x="21" y="41"/>
                      </a:lnTo>
                      <a:lnTo>
                        <a:pt x="12" y="44"/>
                      </a:lnTo>
                      <a:lnTo>
                        <a:pt x="7" y="51"/>
                      </a:lnTo>
                      <a:lnTo>
                        <a:pt x="2" y="116"/>
                      </a:lnTo>
                      <a:lnTo>
                        <a:pt x="4" y="116"/>
                      </a:lnTo>
                      <a:lnTo>
                        <a:pt x="0" y="128"/>
                      </a:lnTo>
                      <a:lnTo>
                        <a:pt x="2" y="135"/>
                      </a:lnTo>
                      <a:lnTo>
                        <a:pt x="4" y="135"/>
                      </a:lnTo>
                      <a:lnTo>
                        <a:pt x="5" y="136"/>
                      </a:lnTo>
                      <a:lnTo>
                        <a:pt x="7" y="136"/>
                      </a:lnTo>
                      <a:lnTo>
                        <a:pt x="5" y="130"/>
                      </a:lnTo>
                      <a:lnTo>
                        <a:pt x="7" y="126"/>
                      </a:lnTo>
                      <a:lnTo>
                        <a:pt x="7" y="129"/>
                      </a:lnTo>
                      <a:lnTo>
                        <a:pt x="7" y="131"/>
                      </a:lnTo>
                      <a:lnTo>
                        <a:pt x="8" y="133"/>
                      </a:lnTo>
                      <a:lnTo>
                        <a:pt x="10" y="128"/>
                      </a:lnTo>
                      <a:lnTo>
                        <a:pt x="9" y="118"/>
                      </a:lnTo>
                      <a:lnTo>
                        <a:pt x="12" y="118"/>
                      </a:lnTo>
                      <a:lnTo>
                        <a:pt x="10" y="176"/>
                      </a:lnTo>
                      <a:lnTo>
                        <a:pt x="21" y="180"/>
                      </a:lnTo>
                      <a:lnTo>
                        <a:pt x="26" y="214"/>
                      </a:lnTo>
                      <a:lnTo>
                        <a:pt x="25" y="218"/>
                      </a:lnTo>
                      <a:lnTo>
                        <a:pt x="23" y="231"/>
                      </a:lnTo>
                      <a:lnTo>
                        <a:pt x="23" y="234"/>
                      </a:lnTo>
                      <a:lnTo>
                        <a:pt x="30" y="236"/>
                      </a:lnTo>
                      <a:lnTo>
                        <a:pt x="33" y="232"/>
                      </a:lnTo>
                      <a:lnTo>
                        <a:pt x="31" y="220"/>
                      </a:lnTo>
                      <a:lnTo>
                        <a:pt x="30" y="211"/>
                      </a:lnTo>
                      <a:lnTo>
                        <a:pt x="34" y="181"/>
                      </a:lnTo>
                      <a:lnTo>
                        <a:pt x="34" y="182"/>
                      </a:lnTo>
                      <a:lnTo>
                        <a:pt x="37" y="192"/>
                      </a:lnTo>
                      <a:lnTo>
                        <a:pt x="36" y="209"/>
                      </a:lnTo>
                      <a:lnTo>
                        <a:pt x="33" y="212"/>
                      </a:lnTo>
                      <a:lnTo>
                        <a:pt x="37" y="229"/>
                      </a:lnTo>
                      <a:lnTo>
                        <a:pt x="44" y="231"/>
                      </a:lnTo>
                      <a:lnTo>
                        <a:pt x="45" y="230"/>
                      </a:lnTo>
                      <a:lnTo>
                        <a:pt x="40" y="212"/>
                      </a:lnTo>
                      <a:lnTo>
                        <a:pt x="49" y="180"/>
                      </a:lnTo>
                      <a:lnTo>
                        <a:pt x="52" y="178"/>
                      </a:lnTo>
                      <a:lnTo>
                        <a:pt x="52" y="175"/>
                      </a:lnTo>
                      <a:lnTo>
                        <a:pt x="60" y="176"/>
                      </a:lnTo>
                      <a:lnTo>
                        <a:pt x="62" y="180"/>
                      </a:lnTo>
                      <a:lnTo>
                        <a:pt x="64" y="178"/>
                      </a:lnTo>
                      <a:lnTo>
                        <a:pt x="57" y="120"/>
                      </a:lnTo>
                      <a:lnTo>
                        <a:pt x="58" y="121"/>
                      </a:lnTo>
                      <a:lnTo>
                        <a:pt x="58" y="108"/>
                      </a:lnTo>
                      <a:lnTo>
                        <a:pt x="59" y="107"/>
                      </a:lnTo>
                      <a:lnTo>
                        <a:pt x="57" y="79"/>
                      </a:lnTo>
                      <a:lnTo>
                        <a:pt x="55" y="45"/>
                      </a:lnTo>
                      <a:lnTo>
                        <a:pt x="43" y="39"/>
                      </a:lnTo>
                      <a:lnTo>
                        <a:pt x="39" y="32"/>
                      </a:lnTo>
                      <a:lnTo>
                        <a:pt x="43" y="26"/>
                      </a:lnTo>
                      <a:lnTo>
                        <a:pt x="44" y="26"/>
                      </a:lnTo>
                      <a:lnTo>
                        <a:pt x="45" y="23"/>
                      </a:lnTo>
                      <a:lnTo>
                        <a:pt x="45" y="19"/>
                      </a:lnTo>
                      <a:lnTo>
                        <a:pt x="49" y="19"/>
                      </a:lnTo>
                      <a:lnTo>
                        <a:pt x="50" y="10"/>
                      </a:lnTo>
                      <a:lnTo>
                        <a:pt x="46" y="3"/>
                      </a:lnTo>
                      <a:lnTo>
                        <a:pt x="44" y="1"/>
                      </a:lnTo>
                      <a:lnTo>
                        <a:pt x="39" y="1"/>
                      </a:lnTo>
                      <a:lnTo>
                        <a:pt x="36" y="0"/>
                      </a:lnTo>
                      <a:lnTo>
                        <a:pt x="32" y="1"/>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grpSp>
            <p:nvGrpSpPr>
              <p:cNvPr id="36" name="Group 52"/>
              <p:cNvGrpSpPr/>
              <p:nvPr/>
            </p:nvGrpSpPr>
            <p:grpSpPr>
              <a:xfrm>
                <a:off x="2430" y="2042"/>
                <a:ext cx="2415" cy="1059"/>
                <a:chOff x="2430" y="2042"/>
                <a:chExt cx="2415" cy="1059"/>
              </a:xfrm>
            </p:grpSpPr>
            <p:sp>
              <p:nvSpPr>
                <p:cNvPr id="42" name="Freeform 53"/>
                <p:cNvSpPr/>
                <p:nvPr/>
              </p:nvSpPr>
              <p:spPr>
                <a:xfrm>
                  <a:off x="4331" y="2124"/>
                  <a:ext cx="210" cy="730"/>
                </a:xfrm>
                <a:custGeom>
                  <a:avLst/>
                  <a:gdLst/>
                  <a:ahLst/>
                  <a:cxnLst>
                    <a:cxn ang="0">
                      <a:pos x="81" y="10"/>
                    </a:cxn>
                    <a:cxn ang="0">
                      <a:pos x="70" y="50"/>
                    </a:cxn>
                    <a:cxn ang="0">
                      <a:pos x="77" y="54"/>
                    </a:cxn>
                    <a:cxn ang="0">
                      <a:pos x="84" y="70"/>
                    </a:cxn>
                    <a:cxn ang="0">
                      <a:pos x="94" y="95"/>
                    </a:cxn>
                    <a:cxn ang="0">
                      <a:pos x="84" y="100"/>
                    </a:cxn>
                    <a:cxn ang="0">
                      <a:pos x="37" y="137"/>
                    </a:cxn>
                    <a:cxn ang="0">
                      <a:pos x="7" y="359"/>
                    </a:cxn>
                    <a:cxn ang="0">
                      <a:pos x="0" y="397"/>
                    </a:cxn>
                    <a:cxn ang="0">
                      <a:pos x="13" y="418"/>
                    </a:cxn>
                    <a:cxn ang="0">
                      <a:pos x="22" y="423"/>
                    </a:cxn>
                    <a:cxn ang="0">
                      <a:pos x="22" y="390"/>
                    </a:cxn>
                    <a:cxn ang="0">
                      <a:pos x="22" y="406"/>
                    </a:cxn>
                    <a:cxn ang="0">
                      <a:pos x="33" y="394"/>
                    </a:cxn>
                    <a:cxn ang="0">
                      <a:pos x="40" y="366"/>
                    </a:cxn>
                    <a:cxn ang="0">
                      <a:pos x="68" y="557"/>
                    </a:cxn>
                    <a:cxn ang="0">
                      <a:pos x="81" y="673"/>
                    </a:cxn>
                    <a:cxn ang="0">
                      <a:pos x="74" y="724"/>
                    </a:cxn>
                    <a:cxn ang="0">
                      <a:pos x="108" y="717"/>
                    </a:cxn>
                    <a:cxn ang="0">
                      <a:pos x="98" y="651"/>
                    </a:cxn>
                    <a:cxn ang="0">
                      <a:pos x="111" y="562"/>
                    </a:cxn>
                    <a:cxn ang="0">
                      <a:pos x="115" y="648"/>
                    </a:cxn>
                    <a:cxn ang="0">
                      <a:pos x="121" y="710"/>
                    </a:cxn>
                    <a:cxn ang="0">
                      <a:pos x="149" y="713"/>
                    </a:cxn>
                    <a:cxn ang="0">
                      <a:pos x="159" y="557"/>
                    </a:cxn>
                    <a:cxn ang="0">
                      <a:pos x="171" y="542"/>
                    </a:cxn>
                    <a:cxn ang="0">
                      <a:pos x="203" y="557"/>
                    </a:cxn>
                    <a:cxn ang="0">
                      <a:pos x="186" y="373"/>
                    </a:cxn>
                    <a:cxn ang="0">
                      <a:pos x="189" y="337"/>
                    </a:cxn>
                    <a:cxn ang="0">
                      <a:pos x="186" y="246"/>
                    </a:cxn>
                    <a:cxn ang="0">
                      <a:pos x="139" y="123"/>
                    </a:cxn>
                    <a:cxn ang="0">
                      <a:pos x="139" y="79"/>
                    </a:cxn>
                    <a:cxn ang="0">
                      <a:pos x="149" y="72"/>
                    </a:cxn>
                    <a:cxn ang="0">
                      <a:pos x="159" y="59"/>
                    </a:cxn>
                    <a:cxn ang="0">
                      <a:pos x="152" y="10"/>
                    </a:cxn>
                    <a:cxn ang="0">
                      <a:pos x="126" y="3"/>
                    </a:cxn>
                    <a:cxn ang="0">
                      <a:pos x="106" y="5"/>
                    </a:cxn>
                  </a:cxnLst>
                  <a:rect l="0" t="0" r="0" b="0"/>
                  <a:pathLst>
                    <a:path w="210" h="730">
                      <a:moveTo>
                        <a:pt x="106" y="5"/>
                      </a:moveTo>
                      <a:lnTo>
                        <a:pt x="81" y="10"/>
                      </a:lnTo>
                      <a:lnTo>
                        <a:pt x="70" y="38"/>
                      </a:lnTo>
                      <a:lnTo>
                        <a:pt x="70" y="50"/>
                      </a:lnTo>
                      <a:lnTo>
                        <a:pt x="81" y="50"/>
                      </a:lnTo>
                      <a:lnTo>
                        <a:pt x="77" y="54"/>
                      </a:lnTo>
                      <a:lnTo>
                        <a:pt x="81" y="57"/>
                      </a:lnTo>
                      <a:lnTo>
                        <a:pt x="84" y="70"/>
                      </a:lnTo>
                      <a:lnTo>
                        <a:pt x="88" y="71"/>
                      </a:lnTo>
                      <a:lnTo>
                        <a:pt x="94" y="95"/>
                      </a:lnTo>
                      <a:lnTo>
                        <a:pt x="94" y="100"/>
                      </a:lnTo>
                      <a:lnTo>
                        <a:pt x="84" y="100"/>
                      </a:lnTo>
                      <a:lnTo>
                        <a:pt x="67" y="127"/>
                      </a:lnTo>
                      <a:lnTo>
                        <a:pt x="37" y="137"/>
                      </a:lnTo>
                      <a:lnTo>
                        <a:pt x="22" y="159"/>
                      </a:lnTo>
                      <a:lnTo>
                        <a:pt x="7" y="359"/>
                      </a:lnTo>
                      <a:lnTo>
                        <a:pt x="13" y="361"/>
                      </a:lnTo>
                      <a:lnTo>
                        <a:pt x="0" y="397"/>
                      </a:lnTo>
                      <a:lnTo>
                        <a:pt x="7" y="418"/>
                      </a:lnTo>
                      <a:lnTo>
                        <a:pt x="13" y="418"/>
                      </a:lnTo>
                      <a:lnTo>
                        <a:pt x="16" y="423"/>
                      </a:lnTo>
                      <a:lnTo>
                        <a:pt x="22" y="423"/>
                      </a:lnTo>
                      <a:lnTo>
                        <a:pt x="19" y="402"/>
                      </a:lnTo>
                      <a:lnTo>
                        <a:pt x="22" y="390"/>
                      </a:lnTo>
                      <a:lnTo>
                        <a:pt x="26" y="399"/>
                      </a:lnTo>
                      <a:lnTo>
                        <a:pt x="22" y="406"/>
                      </a:lnTo>
                      <a:lnTo>
                        <a:pt x="26" y="410"/>
                      </a:lnTo>
                      <a:lnTo>
                        <a:pt x="33" y="394"/>
                      </a:lnTo>
                      <a:lnTo>
                        <a:pt x="29" y="365"/>
                      </a:lnTo>
                      <a:lnTo>
                        <a:pt x="40" y="366"/>
                      </a:lnTo>
                      <a:lnTo>
                        <a:pt x="33" y="547"/>
                      </a:lnTo>
                      <a:lnTo>
                        <a:pt x="68" y="557"/>
                      </a:lnTo>
                      <a:lnTo>
                        <a:pt x="84" y="662"/>
                      </a:lnTo>
                      <a:lnTo>
                        <a:pt x="81" y="673"/>
                      </a:lnTo>
                      <a:lnTo>
                        <a:pt x="74" y="716"/>
                      </a:lnTo>
                      <a:lnTo>
                        <a:pt x="74" y="724"/>
                      </a:lnTo>
                      <a:lnTo>
                        <a:pt x="98" y="729"/>
                      </a:lnTo>
                      <a:lnTo>
                        <a:pt x="108" y="717"/>
                      </a:lnTo>
                      <a:lnTo>
                        <a:pt x="102" y="678"/>
                      </a:lnTo>
                      <a:lnTo>
                        <a:pt x="98" y="651"/>
                      </a:lnTo>
                      <a:lnTo>
                        <a:pt x="108" y="562"/>
                      </a:lnTo>
                      <a:lnTo>
                        <a:pt x="111" y="562"/>
                      </a:lnTo>
                      <a:lnTo>
                        <a:pt x="121" y="594"/>
                      </a:lnTo>
                      <a:lnTo>
                        <a:pt x="115" y="648"/>
                      </a:lnTo>
                      <a:lnTo>
                        <a:pt x="108" y="654"/>
                      </a:lnTo>
                      <a:lnTo>
                        <a:pt x="121" y="710"/>
                      </a:lnTo>
                      <a:lnTo>
                        <a:pt x="145" y="717"/>
                      </a:lnTo>
                      <a:lnTo>
                        <a:pt x="149" y="713"/>
                      </a:lnTo>
                      <a:lnTo>
                        <a:pt x="132" y="654"/>
                      </a:lnTo>
                      <a:lnTo>
                        <a:pt x="159" y="557"/>
                      </a:lnTo>
                      <a:lnTo>
                        <a:pt x="171" y="549"/>
                      </a:lnTo>
                      <a:lnTo>
                        <a:pt x="171" y="542"/>
                      </a:lnTo>
                      <a:lnTo>
                        <a:pt x="196" y="543"/>
                      </a:lnTo>
                      <a:lnTo>
                        <a:pt x="203" y="557"/>
                      </a:lnTo>
                      <a:lnTo>
                        <a:pt x="209" y="549"/>
                      </a:lnTo>
                      <a:lnTo>
                        <a:pt x="186" y="373"/>
                      </a:lnTo>
                      <a:lnTo>
                        <a:pt x="189" y="373"/>
                      </a:lnTo>
                      <a:lnTo>
                        <a:pt x="189" y="337"/>
                      </a:lnTo>
                      <a:lnTo>
                        <a:pt x="193" y="332"/>
                      </a:lnTo>
                      <a:lnTo>
                        <a:pt x="186" y="246"/>
                      </a:lnTo>
                      <a:lnTo>
                        <a:pt x="178" y="142"/>
                      </a:lnTo>
                      <a:lnTo>
                        <a:pt x="139" y="123"/>
                      </a:lnTo>
                      <a:lnTo>
                        <a:pt x="127" y="100"/>
                      </a:lnTo>
                      <a:lnTo>
                        <a:pt x="139" y="79"/>
                      </a:lnTo>
                      <a:lnTo>
                        <a:pt x="145" y="82"/>
                      </a:lnTo>
                      <a:lnTo>
                        <a:pt x="149" y="72"/>
                      </a:lnTo>
                      <a:lnTo>
                        <a:pt x="149" y="61"/>
                      </a:lnTo>
                      <a:lnTo>
                        <a:pt x="159" y="59"/>
                      </a:lnTo>
                      <a:lnTo>
                        <a:pt x="162" y="31"/>
                      </a:lnTo>
                      <a:lnTo>
                        <a:pt x="152" y="10"/>
                      </a:lnTo>
                      <a:lnTo>
                        <a:pt x="142" y="3"/>
                      </a:lnTo>
                      <a:lnTo>
                        <a:pt x="126" y="3"/>
                      </a:lnTo>
                      <a:lnTo>
                        <a:pt x="116" y="0"/>
                      </a:lnTo>
                      <a:lnTo>
                        <a:pt x="106" y="5"/>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3" name="Freeform 54"/>
                <p:cNvSpPr/>
                <p:nvPr/>
              </p:nvSpPr>
              <p:spPr>
                <a:xfrm>
                  <a:off x="3770" y="2168"/>
                  <a:ext cx="211" cy="724"/>
                </a:xfrm>
                <a:custGeom>
                  <a:avLst/>
                  <a:gdLst/>
                  <a:ahLst/>
                  <a:cxnLst>
                    <a:cxn ang="0">
                      <a:pos x="133" y="0"/>
                    </a:cxn>
                    <a:cxn ang="0">
                      <a:pos x="87" y="23"/>
                    </a:cxn>
                    <a:cxn ang="0">
                      <a:pos x="86" y="71"/>
                    </a:cxn>
                    <a:cxn ang="0">
                      <a:pos x="63" y="94"/>
                    </a:cxn>
                    <a:cxn ang="0">
                      <a:pos x="15" y="121"/>
                    </a:cxn>
                    <a:cxn ang="0">
                      <a:pos x="7" y="260"/>
                    </a:cxn>
                    <a:cxn ang="0">
                      <a:pos x="39" y="380"/>
                    </a:cxn>
                    <a:cxn ang="0">
                      <a:pos x="73" y="471"/>
                    </a:cxn>
                    <a:cxn ang="0">
                      <a:pos x="66" y="687"/>
                    </a:cxn>
                    <a:cxn ang="0">
                      <a:pos x="72" y="696"/>
                    </a:cxn>
                    <a:cxn ang="0">
                      <a:pos x="105" y="719"/>
                    </a:cxn>
                    <a:cxn ang="0">
                      <a:pos x="123" y="723"/>
                    </a:cxn>
                    <a:cxn ang="0">
                      <a:pos x="135" y="717"/>
                    </a:cxn>
                    <a:cxn ang="0">
                      <a:pos x="128" y="705"/>
                    </a:cxn>
                    <a:cxn ang="0">
                      <a:pos x="112" y="687"/>
                    </a:cxn>
                    <a:cxn ang="0">
                      <a:pos x="119" y="680"/>
                    </a:cxn>
                    <a:cxn ang="0">
                      <a:pos x="161" y="694"/>
                    </a:cxn>
                    <a:cxn ang="0">
                      <a:pos x="164" y="685"/>
                    </a:cxn>
                    <a:cxn ang="0">
                      <a:pos x="161" y="676"/>
                    </a:cxn>
                    <a:cxn ang="0">
                      <a:pos x="148" y="663"/>
                    </a:cxn>
                    <a:cxn ang="0">
                      <a:pos x="162" y="592"/>
                    </a:cxn>
                    <a:cxn ang="0">
                      <a:pos x="176" y="396"/>
                    </a:cxn>
                    <a:cxn ang="0">
                      <a:pos x="183" y="357"/>
                    </a:cxn>
                    <a:cxn ang="0">
                      <a:pos x="171" y="279"/>
                    </a:cxn>
                    <a:cxn ang="0">
                      <a:pos x="181" y="278"/>
                    </a:cxn>
                    <a:cxn ang="0">
                      <a:pos x="189" y="275"/>
                    </a:cxn>
                    <a:cxn ang="0">
                      <a:pos x="197" y="270"/>
                    </a:cxn>
                    <a:cxn ang="0">
                      <a:pos x="203" y="264"/>
                    </a:cxn>
                    <a:cxn ang="0">
                      <a:pos x="210" y="254"/>
                    </a:cxn>
                    <a:cxn ang="0">
                      <a:pos x="204" y="215"/>
                    </a:cxn>
                    <a:cxn ang="0">
                      <a:pos x="154" y="124"/>
                    </a:cxn>
                    <a:cxn ang="0">
                      <a:pos x="135" y="97"/>
                    </a:cxn>
                    <a:cxn ang="0">
                      <a:pos x="157" y="80"/>
                    </a:cxn>
                    <a:cxn ang="0">
                      <a:pos x="159" y="76"/>
                    </a:cxn>
                    <a:cxn ang="0">
                      <a:pos x="166" y="68"/>
                    </a:cxn>
                    <a:cxn ang="0">
                      <a:pos x="165" y="48"/>
                    </a:cxn>
                    <a:cxn ang="0">
                      <a:pos x="168" y="25"/>
                    </a:cxn>
                  </a:cxnLst>
                  <a:rect l="0" t="0" r="0" b="0"/>
                  <a:pathLst>
                    <a:path w="211" h="724">
                      <a:moveTo>
                        <a:pt x="158" y="9"/>
                      </a:moveTo>
                      <a:lnTo>
                        <a:pt x="133" y="0"/>
                      </a:lnTo>
                      <a:lnTo>
                        <a:pt x="105" y="4"/>
                      </a:lnTo>
                      <a:lnTo>
                        <a:pt x="87" y="23"/>
                      </a:lnTo>
                      <a:lnTo>
                        <a:pt x="80" y="45"/>
                      </a:lnTo>
                      <a:lnTo>
                        <a:pt x="86" y="71"/>
                      </a:lnTo>
                      <a:lnTo>
                        <a:pt x="76" y="87"/>
                      </a:lnTo>
                      <a:lnTo>
                        <a:pt x="63" y="94"/>
                      </a:lnTo>
                      <a:lnTo>
                        <a:pt x="26" y="110"/>
                      </a:lnTo>
                      <a:lnTo>
                        <a:pt x="15" y="121"/>
                      </a:lnTo>
                      <a:lnTo>
                        <a:pt x="0" y="236"/>
                      </a:lnTo>
                      <a:lnTo>
                        <a:pt x="7" y="260"/>
                      </a:lnTo>
                      <a:lnTo>
                        <a:pt x="45" y="270"/>
                      </a:lnTo>
                      <a:lnTo>
                        <a:pt x="39" y="380"/>
                      </a:lnTo>
                      <a:lnTo>
                        <a:pt x="66" y="390"/>
                      </a:lnTo>
                      <a:lnTo>
                        <a:pt x="73" y="471"/>
                      </a:lnTo>
                      <a:lnTo>
                        <a:pt x="67" y="610"/>
                      </a:lnTo>
                      <a:lnTo>
                        <a:pt x="66" y="687"/>
                      </a:lnTo>
                      <a:lnTo>
                        <a:pt x="72" y="689"/>
                      </a:lnTo>
                      <a:lnTo>
                        <a:pt x="72" y="696"/>
                      </a:lnTo>
                      <a:lnTo>
                        <a:pt x="93" y="710"/>
                      </a:lnTo>
                      <a:lnTo>
                        <a:pt x="105" y="719"/>
                      </a:lnTo>
                      <a:lnTo>
                        <a:pt x="113" y="723"/>
                      </a:lnTo>
                      <a:lnTo>
                        <a:pt x="123" y="723"/>
                      </a:lnTo>
                      <a:lnTo>
                        <a:pt x="133" y="720"/>
                      </a:lnTo>
                      <a:lnTo>
                        <a:pt x="135" y="717"/>
                      </a:lnTo>
                      <a:lnTo>
                        <a:pt x="133" y="711"/>
                      </a:lnTo>
                      <a:lnTo>
                        <a:pt x="128" y="705"/>
                      </a:lnTo>
                      <a:lnTo>
                        <a:pt x="121" y="695"/>
                      </a:lnTo>
                      <a:lnTo>
                        <a:pt x="112" y="687"/>
                      </a:lnTo>
                      <a:lnTo>
                        <a:pt x="119" y="689"/>
                      </a:lnTo>
                      <a:lnTo>
                        <a:pt x="119" y="680"/>
                      </a:lnTo>
                      <a:lnTo>
                        <a:pt x="148" y="694"/>
                      </a:lnTo>
                      <a:lnTo>
                        <a:pt x="161" y="694"/>
                      </a:lnTo>
                      <a:lnTo>
                        <a:pt x="164" y="689"/>
                      </a:lnTo>
                      <a:lnTo>
                        <a:pt x="164" y="685"/>
                      </a:lnTo>
                      <a:lnTo>
                        <a:pt x="163" y="680"/>
                      </a:lnTo>
                      <a:lnTo>
                        <a:pt x="161" y="676"/>
                      </a:lnTo>
                      <a:lnTo>
                        <a:pt x="153" y="669"/>
                      </a:lnTo>
                      <a:lnTo>
                        <a:pt x="148" y="663"/>
                      </a:lnTo>
                      <a:lnTo>
                        <a:pt x="155" y="661"/>
                      </a:lnTo>
                      <a:lnTo>
                        <a:pt x="162" y="592"/>
                      </a:lnTo>
                      <a:lnTo>
                        <a:pt x="165" y="484"/>
                      </a:lnTo>
                      <a:lnTo>
                        <a:pt x="176" y="396"/>
                      </a:lnTo>
                      <a:lnTo>
                        <a:pt x="180" y="371"/>
                      </a:lnTo>
                      <a:lnTo>
                        <a:pt x="183" y="357"/>
                      </a:lnTo>
                      <a:lnTo>
                        <a:pt x="174" y="303"/>
                      </a:lnTo>
                      <a:lnTo>
                        <a:pt x="171" y="279"/>
                      </a:lnTo>
                      <a:lnTo>
                        <a:pt x="177" y="282"/>
                      </a:lnTo>
                      <a:lnTo>
                        <a:pt x="181" y="278"/>
                      </a:lnTo>
                      <a:lnTo>
                        <a:pt x="183" y="278"/>
                      </a:lnTo>
                      <a:lnTo>
                        <a:pt x="189" y="275"/>
                      </a:lnTo>
                      <a:lnTo>
                        <a:pt x="195" y="276"/>
                      </a:lnTo>
                      <a:lnTo>
                        <a:pt x="197" y="270"/>
                      </a:lnTo>
                      <a:lnTo>
                        <a:pt x="201" y="269"/>
                      </a:lnTo>
                      <a:lnTo>
                        <a:pt x="203" y="264"/>
                      </a:lnTo>
                      <a:lnTo>
                        <a:pt x="207" y="260"/>
                      </a:lnTo>
                      <a:lnTo>
                        <a:pt x="210" y="254"/>
                      </a:lnTo>
                      <a:lnTo>
                        <a:pt x="199" y="230"/>
                      </a:lnTo>
                      <a:lnTo>
                        <a:pt x="204" y="215"/>
                      </a:lnTo>
                      <a:lnTo>
                        <a:pt x="184" y="230"/>
                      </a:lnTo>
                      <a:lnTo>
                        <a:pt x="154" y="124"/>
                      </a:lnTo>
                      <a:lnTo>
                        <a:pt x="130" y="102"/>
                      </a:lnTo>
                      <a:lnTo>
                        <a:pt x="135" y="97"/>
                      </a:lnTo>
                      <a:lnTo>
                        <a:pt x="155" y="94"/>
                      </a:lnTo>
                      <a:lnTo>
                        <a:pt x="157" y="80"/>
                      </a:lnTo>
                      <a:lnTo>
                        <a:pt x="151" y="77"/>
                      </a:lnTo>
                      <a:lnTo>
                        <a:pt x="159" y="76"/>
                      </a:lnTo>
                      <a:lnTo>
                        <a:pt x="158" y="71"/>
                      </a:lnTo>
                      <a:lnTo>
                        <a:pt x="166" y="68"/>
                      </a:lnTo>
                      <a:lnTo>
                        <a:pt x="160" y="50"/>
                      </a:lnTo>
                      <a:lnTo>
                        <a:pt x="165" y="48"/>
                      </a:lnTo>
                      <a:lnTo>
                        <a:pt x="162" y="25"/>
                      </a:lnTo>
                      <a:lnTo>
                        <a:pt x="168" y="25"/>
                      </a:lnTo>
                      <a:lnTo>
                        <a:pt x="158" y="9"/>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4" name="Freeform 55"/>
                <p:cNvSpPr/>
                <p:nvPr/>
              </p:nvSpPr>
              <p:spPr>
                <a:xfrm>
                  <a:off x="3358" y="2125"/>
                  <a:ext cx="155" cy="691"/>
                </a:xfrm>
                <a:custGeom>
                  <a:avLst/>
                  <a:gdLst/>
                  <a:ahLst/>
                  <a:cxnLst>
                    <a:cxn ang="0">
                      <a:pos x="111" y="14"/>
                    </a:cxn>
                    <a:cxn ang="0">
                      <a:pos x="111" y="31"/>
                    </a:cxn>
                    <a:cxn ang="0">
                      <a:pos x="109" y="36"/>
                    </a:cxn>
                    <a:cxn ang="0">
                      <a:pos x="116" y="50"/>
                    </a:cxn>
                    <a:cxn ang="0">
                      <a:pos x="111" y="53"/>
                    </a:cxn>
                    <a:cxn ang="0">
                      <a:pos x="113" y="59"/>
                    </a:cxn>
                    <a:cxn ang="0">
                      <a:pos x="108" y="77"/>
                    </a:cxn>
                    <a:cxn ang="0">
                      <a:pos x="108" y="82"/>
                    </a:cxn>
                    <a:cxn ang="0">
                      <a:pos x="135" y="100"/>
                    </a:cxn>
                    <a:cxn ang="0">
                      <a:pos x="148" y="242"/>
                    </a:cxn>
                    <a:cxn ang="0">
                      <a:pos x="131" y="268"/>
                    </a:cxn>
                    <a:cxn ang="0">
                      <a:pos x="138" y="344"/>
                    </a:cxn>
                    <a:cxn ang="0">
                      <a:pos x="126" y="353"/>
                    </a:cxn>
                    <a:cxn ang="0">
                      <a:pos x="122" y="474"/>
                    </a:cxn>
                    <a:cxn ang="0">
                      <a:pos x="114" y="596"/>
                    </a:cxn>
                    <a:cxn ang="0">
                      <a:pos x="117" y="603"/>
                    </a:cxn>
                    <a:cxn ang="0">
                      <a:pos x="144" y="627"/>
                    </a:cxn>
                    <a:cxn ang="0">
                      <a:pos x="141" y="631"/>
                    </a:cxn>
                    <a:cxn ang="0">
                      <a:pos x="131" y="635"/>
                    </a:cxn>
                    <a:cxn ang="0">
                      <a:pos x="115" y="631"/>
                    </a:cxn>
                    <a:cxn ang="0">
                      <a:pos x="100" y="622"/>
                    </a:cxn>
                    <a:cxn ang="0">
                      <a:pos x="87" y="617"/>
                    </a:cxn>
                    <a:cxn ang="0">
                      <a:pos x="87" y="638"/>
                    </a:cxn>
                    <a:cxn ang="0">
                      <a:pos x="81" y="639"/>
                    </a:cxn>
                    <a:cxn ang="0">
                      <a:pos x="90" y="656"/>
                    </a:cxn>
                    <a:cxn ang="0">
                      <a:pos x="86" y="686"/>
                    </a:cxn>
                    <a:cxn ang="0">
                      <a:pos x="78" y="690"/>
                    </a:cxn>
                    <a:cxn ang="0">
                      <a:pos x="67" y="665"/>
                    </a:cxn>
                    <a:cxn ang="0">
                      <a:pos x="67" y="648"/>
                    </a:cxn>
                    <a:cxn ang="0">
                      <a:pos x="62" y="646"/>
                    </a:cxn>
                    <a:cxn ang="0">
                      <a:pos x="55" y="489"/>
                    </a:cxn>
                    <a:cxn ang="0">
                      <a:pos x="62" y="474"/>
                    </a:cxn>
                    <a:cxn ang="0">
                      <a:pos x="44" y="368"/>
                    </a:cxn>
                    <a:cxn ang="0">
                      <a:pos x="33" y="364"/>
                    </a:cxn>
                    <a:cxn ang="0">
                      <a:pos x="29" y="255"/>
                    </a:cxn>
                    <a:cxn ang="0">
                      <a:pos x="0" y="242"/>
                    </a:cxn>
                    <a:cxn ang="0">
                      <a:pos x="12" y="124"/>
                    </a:cxn>
                    <a:cxn ang="0">
                      <a:pos x="56" y="91"/>
                    </a:cxn>
                    <a:cxn ang="0">
                      <a:pos x="68" y="81"/>
                    </a:cxn>
                    <a:cxn ang="0">
                      <a:pos x="68" y="69"/>
                    </a:cxn>
                    <a:cxn ang="0">
                      <a:pos x="64" y="61"/>
                    </a:cxn>
                    <a:cxn ang="0">
                      <a:pos x="59" y="55"/>
                    </a:cxn>
                    <a:cxn ang="0">
                      <a:pos x="54" y="46"/>
                    </a:cxn>
                    <a:cxn ang="0">
                      <a:pos x="51" y="39"/>
                    </a:cxn>
                    <a:cxn ang="0">
                      <a:pos x="51" y="30"/>
                    </a:cxn>
                    <a:cxn ang="0">
                      <a:pos x="54" y="22"/>
                    </a:cxn>
                    <a:cxn ang="0">
                      <a:pos x="60" y="12"/>
                    </a:cxn>
                    <a:cxn ang="0">
                      <a:pos x="68" y="5"/>
                    </a:cxn>
                    <a:cxn ang="0">
                      <a:pos x="77" y="1"/>
                    </a:cxn>
                    <a:cxn ang="0">
                      <a:pos x="80" y="0"/>
                    </a:cxn>
                    <a:cxn ang="0">
                      <a:pos x="90" y="2"/>
                    </a:cxn>
                    <a:cxn ang="0">
                      <a:pos x="100" y="5"/>
                    </a:cxn>
                    <a:cxn ang="0">
                      <a:pos x="111" y="14"/>
                    </a:cxn>
                  </a:cxnLst>
                  <a:rect l="0" t="0" r="0" b="0"/>
                  <a:pathLst>
                    <a:path w="156" h="691">
                      <a:moveTo>
                        <a:pt x="118" y="14"/>
                      </a:moveTo>
                      <a:lnTo>
                        <a:pt x="118" y="31"/>
                      </a:lnTo>
                      <a:lnTo>
                        <a:pt x="116" y="36"/>
                      </a:lnTo>
                      <a:lnTo>
                        <a:pt x="123" y="50"/>
                      </a:lnTo>
                      <a:lnTo>
                        <a:pt x="118" y="53"/>
                      </a:lnTo>
                      <a:lnTo>
                        <a:pt x="120" y="59"/>
                      </a:lnTo>
                      <a:lnTo>
                        <a:pt x="115" y="77"/>
                      </a:lnTo>
                      <a:lnTo>
                        <a:pt x="115" y="82"/>
                      </a:lnTo>
                      <a:lnTo>
                        <a:pt x="142" y="100"/>
                      </a:lnTo>
                      <a:lnTo>
                        <a:pt x="155" y="242"/>
                      </a:lnTo>
                      <a:lnTo>
                        <a:pt x="138" y="268"/>
                      </a:lnTo>
                      <a:lnTo>
                        <a:pt x="145" y="344"/>
                      </a:lnTo>
                      <a:lnTo>
                        <a:pt x="133" y="353"/>
                      </a:lnTo>
                      <a:lnTo>
                        <a:pt x="129" y="474"/>
                      </a:lnTo>
                      <a:lnTo>
                        <a:pt x="121" y="596"/>
                      </a:lnTo>
                      <a:lnTo>
                        <a:pt x="124" y="603"/>
                      </a:lnTo>
                      <a:lnTo>
                        <a:pt x="151" y="627"/>
                      </a:lnTo>
                      <a:lnTo>
                        <a:pt x="148" y="631"/>
                      </a:lnTo>
                      <a:lnTo>
                        <a:pt x="138" y="635"/>
                      </a:lnTo>
                      <a:lnTo>
                        <a:pt x="122" y="631"/>
                      </a:lnTo>
                      <a:lnTo>
                        <a:pt x="107" y="622"/>
                      </a:lnTo>
                      <a:lnTo>
                        <a:pt x="94" y="617"/>
                      </a:lnTo>
                      <a:lnTo>
                        <a:pt x="94" y="638"/>
                      </a:lnTo>
                      <a:lnTo>
                        <a:pt x="88" y="639"/>
                      </a:lnTo>
                      <a:lnTo>
                        <a:pt x="97" y="656"/>
                      </a:lnTo>
                      <a:lnTo>
                        <a:pt x="93" y="686"/>
                      </a:lnTo>
                      <a:lnTo>
                        <a:pt x="84" y="690"/>
                      </a:lnTo>
                      <a:lnTo>
                        <a:pt x="67" y="665"/>
                      </a:lnTo>
                      <a:lnTo>
                        <a:pt x="67" y="648"/>
                      </a:lnTo>
                      <a:lnTo>
                        <a:pt x="62" y="646"/>
                      </a:lnTo>
                      <a:lnTo>
                        <a:pt x="55" y="489"/>
                      </a:lnTo>
                      <a:lnTo>
                        <a:pt x="62" y="474"/>
                      </a:lnTo>
                      <a:lnTo>
                        <a:pt x="44" y="368"/>
                      </a:lnTo>
                      <a:lnTo>
                        <a:pt x="33" y="364"/>
                      </a:lnTo>
                      <a:lnTo>
                        <a:pt x="29" y="255"/>
                      </a:lnTo>
                      <a:lnTo>
                        <a:pt x="0" y="242"/>
                      </a:lnTo>
                      <a:lnTo>
                        <a:pt x="12" y="124"/>
                      </a:lnTo>
                      <a:lnTo>
                        <a:pt x="56" y="91"/>
                      </a:lnTo>
                      <a:lnTo>
                        <a:pt x="68" y="81"/>
                      </a:lnTo>
                      <a:lnTo>
                        <a:pt x="68" y="69"/>
                      </a:lnTo>
                      <a:lnTo>
                        <a:pt x="64" y="61"/>
                      </a:lnTo>
                      <a:lnTo>
                        <a:pt x="59" y="55"/>
                      </a:lnTo>
                      <a:lnTo>
                        <a:pt x="54" y="46"/>
                      </a:lnTo>
                      <a:lnTo>
                        <a:pt x="51" y="39"/>
                      </a:lnTo>
                      <a:lnTo>
                        <a:pt x="51" y="30"/>
                      </a:lnTo>
                      <a:lnTo>
                        <a:pt x="54" y="22"/>
                      </a:lnTo>
                      <a:lnTo>
                        <a:pt x="60" y="12"/>
                      </a:lnTo>
                      <a:lnTo>
                        <a:pt x="68" y="5"/>
                      </a:lnTo>
                      <a:lnTo>
                        <a:pt x="77" y="1"/>
                      </a:lnTo>
                      <a:lnTo>
                        <a:pt x="87" y="0"/>
                      </a:lnTo>
                      <a:lnTo>
                        <a:pt x="97" y="2"/>
                      </a:lnTo>
                      <a:lnTo>
                        <a:pt x="107" y="5"/>
                      </a:lnTo>
                      <a:lnTo>
                        <a:pt x="118" y="14"/>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5" name="Freeform 56"/>
                <p:cNvSpPr/>
                <p:nvPr/>
              </p:nvSpPr>
              <p:spPr>
                <a:xfrm>
                  <a:off x="3002" y="2119"/>
                  <a:ext cx="185" cy="628"/>
                </a:xfrm>
                <a:custGeom>
                  <a:avLst/>
                  <a:gdLst/>
                  <a:ahLst/>
                  <a:cxnLst>
                    <a:cxn ang="0">
                      <a:pos x="112" y="8"/>
                    </a:cxn>
                    <a:cxn ang="0">
                      <a:pos x="149" y="0"/>
                    </a:cxn>
                    <a:cxn ang="0">
                      <a:pos x="162" y="15"/>
                    </a:cxn>
                    <a:cxn ang="0">
                      <a:pos x="169" y="10"/>
                    </a:cxn>
                    <a:cxn ang="0">
                      <a:pos x="178" y="38"/>
                    </a:cxn>
                    <a:cxn ang="0">
                      <a:pos x="158" y="55"/>
                    </a:cxn>
                    <a:cxn ang="0">
                      <a:pos x="157" y="69"/>
                    </a:cxn>
                    <a:cxn ang="0">
                      <a:pos x="152" y="71"/>
                    </a:cxn>
                    <a:cxn ang="0">
                      <a:pos x="149" y="85"/>
                    </a:cxn>
                    <a:cxn ang="0">
                      <a:pos x="134" y="88"/>
                    </a:cxn>
                    <a:cxn ang="0">
                      <a:pos x="134" y="94"/>
                    </a:cxn>
                    <a:cxn ang="0">
                      <a:pos x="158" y="112"/>
                    </a:cxn>
                    <a:cxn ang="0">
                      <a:pos x="178" y="202"/>
                    </a:cxn>
                    <a:cxn ang="0">
                      <a:pos x="162" y="226"/>
                    </a:cxn>
                    <a:cxn ang="0">
                      <a:pos x="162" y="390"/>
                    </a:cxn>
                    <a:cxn ang="0">
                      <a:pos x="143" y="397"/>
                    </a:cxn>
                    <a:cxn ang="0">
                      <a:pos x="140" y="423"/>
                    </a:cxn>
                    <a:cxn ang="0">
                      <a:pos x="132" y="493"/>
                    </a:cxn>
                    <a:cxn ang="0">
                      <a:pos x="132" y="530"/>
                    </a:cxn>
                    <a:cxn ang="0">
                      <a:pos x="162" y="553"/>
                    </a:cxn>
                    <a:cxn ang="0">
                      <a:pos x="184" y="565"/>
                    </a:cxn>
                    <a:cxn ang="0">
                      <a:pos x="184" y="572"/>
                    </a:cxn>
                    <a:cxn ang="0">
                      <a:pos x="138" y="561"/>
                    </a:cxn>
                    <a:cxn ang="0">
                      <a:pos x="132" y="554"/>
                    </a:cxn>
                    <a:cxn ang="0">
                      <a:pos x="127" y="561"/>
                    </a:cxn>
                    <a:cxn ang="0">
                      <a:pos x="123" y="561"/>
                    </a:cxn>
                    <a:cxn ang="0">
                      <a:pos x="117" y="535"/>
                    </a:cxn>
                    <a:cxn ang="0">
                      <a:pos x="112" y="416"/>
                    </a:cxn>
                    <a:cxn ang="0">
                      <a:pos x="103" y="416"/>
                    </a:cxn>
                    <a:cxn ang="0">
                      <a:pos x="77" y="521"/>
                    </a:cxn>
                    <a:cxn ang="0">
                      <a:pos x="77" y="587"/>
                    </a:cxn>
                    <a:cxn ang="0">
                      <a:pos x="66" y="619"/>
                    </a:cxn>
                    <a:cxn ang="0">
                      <a:pos x="57" y="627"/>
                    </a:cxn>
                    <a:cxn ang="0">
                      <a:pos x="51" y="609"/>
                    </a:cxn>
                    <a:cxn ang="0">
                      <a:pos x="58" y="590"/>
                    </a:cxn>
                    <a:cxn ang="0">
                      <a:pos x="66" y="550"/>
                    </a:cxn>
                    <a:cxn ang="0">
                      <a:pos x="68" y="399"/>
                    </a:cxn>
                    <a:cxn ang="0">
                      <a:pos x="77" y="252"/>
                    </a:cxn>
                    <a:cxn ang="0">
                      <a:pos x="61" y="240"/>
                    </a:cxn>
                    <a:cxn ang="0">
                      <a:pos x="61" y="218"/>
                    </a:cxn>
                    <a:cxn ang="0">
                      <a:pos x="61" y="179"/>
                    </a:cxn>
                    <a:cxn ang="0">
                      <a:pos x="40" y="189"/>
                    </a:cxn>
                    <a:cxn ang="0">
                      <a:pos x="58" y="214"/>
                    </a:cxn>
                    <a:cxn ang="0">
                      <a:pos x="58" y="237"/>
                    </a:cxn>
                    <a:cxn ang="0">
                      <a:pos x="39" y="222"/>
                    </a:cxn>
                    <a:cxn ang="0">
                      <a:pos x="29" y="208"/>
                    </a:cxn>
                    <a:cxn ang="0">
                      <a:pos x="20" y="211"/>
                    </a:cxn>
                    <a:cxn ang="0">
                      <a:pos x="0" y="187"/>
                    </a:cxn>
                    <a:cxn ang="0">
                      <a:pos x="0" y="179"/>
                    </a:cxn>
                    <a:cxn ang="0">
                      <a:pos x="10" y="175"/>
                    </a:cxn>
                    <a:cxn ang="0">
                      <a:pos x="34" y="147"/>
                    </a:cxn>
                    <a:cxn ang="0">
                      <a:pos x="58" y="123"/>
                    </a:cxn>
                    <a:cxn ang="0">
                      <a:pos x="89" y="95"/>
                    </a:cxn>
                    <a:cxn ang="0">
                      <a:pos x="112" y="86"/>
                    </a:cxn>
                    <a:cxn ang="0">
                      <a:pos x="112" y="66"/>
                    </a:cxn>
                    <a:cxn ang="0">
                      <a:pos x="103" y="56"/>
                    </a:cxn>
                    <a:cxn ang="0">
                      <a:pos x="103" y="31"/>
                    </a:cxn>
                    <a:cxn ang="0">
                      <a:pos x="97" y="26"/>
                    </a:cxn>
                    <a:cxn ang="0">
                      <a:pos x="112" y="8"/>
                    </a:cxn>
                  </a:cxnLst>
                  <a:rect l="0" t="0" r="0" b="0"/>
                  <a:pathLst>
                    <a:path w="185" h="628">
                      <a:moveTo>
                        <a:pt x="112" y="8"/>
                      </a:moveTo>
                      <a:lnTo>
                        <a:pt x="149" y="0"/>
                      </a:lnTo>
                      <a:lnTo>
                        <a:pt x="162" y="15"/>
                      </a:lnTo>
                      <a:lnTo>
                        <a:pt x="169" y="10"/>
                      </a:lnTo>
                      <a:lnTo>
                        <a:pt x="178" y="38"/>
                      </a:lnTo>
                      <a:lnTo>
                        <a:pt x="158" y="55"/>
                      </a:lnTo>
                      <a:lnTo>
                        <a:pt x="157" y="69"/>
                      </a:lnTo>
                      <a:lnTo>
                        <a:pt x="152" y="71"/>
                      </a:lnTo>
                      <a:lnTo>
                        <a:pt x="149" y="85"/>
                      </a:lnTo>
                      <a:lnTo>
                        <a:pt x="134" y="88"/>
                      </a:lnTo>
                      <a:lnTo>
                        <a:pt x="134" y="94"/>
                      </a:lnTo>
                      <a:lnTo>
                        <a:pt x="158" y="112"/>
                      </a:lnTo>
                      <a:lnTo>
                        <a:pt x="178" y="202"/>
                      </a:lnTo>
                      <a:lnTo>
                        <a:pt x="162" y="226"/>
                      </a:lnTo>
                      <a:lnTo>
                        <a:pt x="162" y="390"/>
                      </a:lnTo>
                      <a:lnTo>
                        <a:pt x="143" y="397"/>
                      </a:lnTo>
                      <a:lnTo>
                        <a:pt x="140" y="423"/>
                      </a:lnTo>
                      <a:lnTo>
                        <a:pt x="132" y="493"/>
                      </a:lnTo>
                      <a:lnTo>
                        <a:pt x="132" y="530"/>
                      </a:lnTo>
                      <a:lnTo>
                        <a:pt x="162" y="553"/>
                      </a:lnTo>
                      <a:lnTo>
                        <a:pt x="184" y="565"/>
                      </a:lnTo>
                      <a:lnTo>
                        <a:pt x="184" y="572"/>
                      </a:lnTo>
                      <a:lnTo>
                        <a:pt x="138" y="561"/>
                      </a:lnTo>
                      <a:lnTo>
                        <a:pt x="132" y="554"/>
                      </a:lnTo>
                      <a:lnTo>
                        <a:pt x="127" y="561"/>
                      </a:lnTo>
                      <a:lnTo>
                        <a:pt x="123" y="561"/>
                      </a:lnTo>
                      <a:lnTo>
                        <a:pt x="117" y="535"/>
                      </a:lnTo>
                      <a:lnTo>
                        <a:pt x="112" y="416"/>
                      </a:lnTo>
                      <a:lnTo>
                        <a:pt x="103" y="416"/>
                      </a:lnTo>
                      <a:lnTo>
                        <a:pt x="77" y="521"/>
                      </a:lnTo>
                      <a:lnTo>
                        <a:pt x="77" y="587"/>
                      </a:lnTo>
                      <a:lnTo>
                        <a:pt x="66" y="619"/>
                      </a:lnTo>
                      <a:lnTo>
                        <a:pt x="57" y="627"/>
                      </a:lnTo>
                      <a:lnTo>
                        <a:pt x="51" y="609"/>
                      </a:lnTo>
                      <a:lnTo>
                        <a:pt x="58" y="590"/>
                      </a:lnTo>
                      <a:lnTo>
                        <a:pt x="66" y="550"/>
                      </a:lnTo>
                      <a:lnTo>
                        <a:pt x="68" y="399"/>
                      </a:lnTo>
                      <a:lnTo>
                        <a:pt x="77" y="252"/>
                      </a:lnTo>
                      <a:lnTo>
                        <a:pt x="61" y="240"/>
                      </a:lnTo>
                      <a:lnTo>
                        <a:pt x="61" y="218"/>
                      </a:lnTo>
                      <a:lnTo>
                        <a:pt x="61" y="179"/>
                      </a:lnTo>
                      <a:lnTo>
                        <a:pt x="40" y="189"/>
                      </a:lnTo>
                      <a:lnTo>
                        <a:pt x="58" y="214"/>
                      </a:lnTo>
                      <a:lnTo>
                        <a:pt x="58" y="237"/>
                      </a:lnTo>
                      <a:lnTo>
                        <a:pt x="39" y="222"/>
                      </a:lnTo>
                      <a:lnTo>
                        <a:pt x="29" y="208"/>
                      </a:lnTo>
                      <a:lnTo>
                        <a:pt x="20" y="211"/>
                      </a:lnTo>
                      <a:lnTo>
                        <a:pt x="0" y="187"/>
                      </a:lnTo>
                      <a:lnTo>
                        <a:pt x="0" y="179"/>
                      </a:lnTo>
                      <a:lnTo>
                        <a:pt x="10" y="175"/>
                      </a:lnTo>
                      <a:lnTo>
                        <a:pt x="34" y="147"/>
                      </a:lnTo>
                      <a:lnTo>
                        <a:pt x="58" y="123"/>
                      </a:lnTo>
                      <a:lnTo>
                        <a:pt x="89" y="95"/>
                      </a:lnTo>
                      <a:lnTo>
                        <a:pt x="112" y="86"/>
                      </a:lnTo>
                      <a:lnTo>
                        <a:pt x="112" y="66"/>
                      </a:lnTo>
                      <a:lnTo>
                        <a:pt x="103" y="56"/>
                      </a:lnTo>
                      <a:lnTo>
                        <a:pt x="103" y="31"/>
                      </a:lnTo>
                      <a:lnTo>
                        <a:pt x="97" y="26"/>
                      </a:lnTo>
                      <a:lnTo>
                        <a:pt x="112" y="8"/>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6" name="Freeform 57"/>
                <p:cNvSpPr/>
                <p:nvPr/>
              </p:nvSpPr>
              <p:spPr>
                <a:xfrm>
                  <a:off x="2430" y="2134"/>
                  <a:ext cx="178" cy="779"/>
                </a:xfrm>
                <a:custGeom>
                  <a:avLst/>
                  <a:gdLst/>
                  <a:ahLst/>
                  <a:cxnLst>
                    <a:cxn ang="0">
                      <a:pos x="42" y="16"/>
                    </a:cxn>
                    <a:cxn ang="0">
                      <a:pos x="42" y="35"/>
                    </a:cxn>
                    <a:cxn ang="0">
                      <a:pos x="45" y="41"/>
                    </a:cxn>
                    <a:cxn ang="0">
                      <a:pos x="37" y="56"/>
                    </a:cxn>
                    <a:cxn ang="0">
                      <a:pos x="42" y="60"/>
                    </a:cxn>
                    <a:cxn ang="0">
                      <a:pos x="40" y="66"/>
                    </a:cxn>
                    <a:cxn ang="0">
                      <a:pos x="46" y="88"/>
                    </a:cxn>
                    <a:cxn ang="0">
                      <a:pos x="46" y="92"/>
                    </a:cxn>
                    <a:cxn ang="0">
                      <a:pos x="15" y="113"/>
                    </a:cxn>
                    <a:cxn ang="0">
                      <a:pos x="0" y="273"/>
                    </a:cxn>
                    <a:cxn ang="0">
                      <a:pos x="19" y="301"/>
                    </a:cxn>
                    <a:cxn ang="0">
                      <a:pos x="12" y="388"/>
                    </a:cxn>
                    <a:cxn ang="0">
                      <a:pos x="25" y="405"/>
                    </a:cxn>
                    <a:cxn ang="0">
                      <a:pos x="30" y="541"/>
                    </a:cxn>
                    <a:cxn ang="0">
                      <a:pos x="38" y="679"/>
                    </a:cxn>
                    <a:cxn ang="0">
                      <a:pos x="35" y="687"/>
                    </a:cxn>
                    <a:cxn ang="0">
                      <a:pos x="4" y="713"/>
                    </a:cxn>
                    <a:cxn ang="0">
                      <a:pos x="8" y="718"/>
                    </a:cxn>
                    <a:cxn ang="0">
                      <a:pos x="19" y="722"/>
                    </a:cxn>
                    <a:cxn ang="0">
                      <a:pos x="37" y="718"/>
                    </a:cxn>
                    <a:cxn ang="0">
                      <a:pos x="55" y="708"/>
                    </a:cxn>
                    <a:cxn ang="0">
                      <a:pos x="70" y="702"/>
                    </a:cxn>
                    <a:cxn ang="0">
                      <a:pos x="70" y="726"/>
                    </a:cxn>
                    <a:cxn ang="0">
                      <a:pos x="76" y="727"/>
                    </a:cxn>
                    <a:cxn ang="0">
                      <a:pos x="66" y="746"/>
                    </a:cxn>
                    <a:cxn ang="0">
                      <a:pos x="71" y="780"/>
                    </a:cxn>
                    <a:cxn ang="0">
                      <a:pos x="81" y="784"/>
                    </a:cxn>
                    <a:cxn ang="0">
                      <a:pos x="101" y="757"/>
                    </a:cxn>
                    <a:cxn ang="0">
                      <a:pos x="101" y="737"/>
                    </a:cxn>
                    <a:cxn ang="0">
                      <a:pos x="107" y="735"/>
                    </a:cxn>
                    <a:cxn ang="0">
                      <a:pos x="114" y="558"/>
                    </a:cxn>
                    <a:cxn ang="0">
                      <a:pos x="107" y="541"/>
                    </a:cxn>
                    <a:cxn ang="0">
                      <a:pos x="127" y="422"/>
                    </a:cxn>
                    <a:cxn ang="0">
                      <a:pos x="140" y="417"/>
                    </a:cxn>
                    <a:cxn ang="0">
                      <a:pos x="144" y="287"/>
                    </a:cxn>
                    <a:cxn ang="0">
                      <a:pos x="177" y="273"/>
                    </a:cxn>
                    <a:cxn ang="0">
                      <a:pos x="163" y="140"/>
                    </a:cxn>
                    <a:cxn ang="0">
                      <a:pos x="113" y="103"/>
                    </a:cxn>
                    <a:cxn ang="0">
                      <a:pos x="100" y="91"/>
                    </a:cxn>
                    <a:cxn ang="0">
                      <a:pos x="99" y="78"/>
                    </a:cxn>
                    <a:cxn ang="0">
                      <a:pos x="104" y="69"/>
                    </a:cxn>
                    <a:cxn ang="0">
                      <a:pos x="110" y="62"/>
                    </a:cxn>
                    <a:cxn ang="0">
                      <a:pos x="115" y="52"/>
                    </a:cxn>
                    <a:cxn ang="0">
                      <a:pos x="119" y="44"/>
                    </a:cxn>
                    <a:cxn ang="0">
                      <a:pos x="119" y="34"/>
                    </a:cxn>
                    <a:cxn ang="0">
                      <a:pos x="115" y="25"/>
                    </a:cxn>
                    <a:cxn ang="0">
                      <a:pos x="109" y="14"/>
                    </a:cxn>
                    <a:cxn ang="0">
                      <a:pos x="100" y="6"/>
                    </a:cxn>
                    <a:cxn ang="0">
                      <a:pos x="90" y="2"/>
                    </a:cxn>
                    <a:cxn ang="0">
                      <a:pos x="77" y="0"/>
                    </a:cxn>
                    <a:cxn ang="0">
                      <a:pos x="66" y="2"/>
                    </a:cxn>
                    <a:cxn ang="0">
                      <a:pos x="55" y="5"/>
                    </a:cxn>
                    <a:cxn ang="0">
                      <a:pos x="42" y="16"/>
                    </a:cxn>
                  </a:cxnLst>
                  <a:rect l="0" t="0" r="0" b="0"/>
                  <a:pathLst>
                    <a:path w="178" h="778">
                      <a:moveTo>
                        <a:pt x="42" y="16"/>
                      </a:moveTo>
                      <a:lnTo>
                        <a:pt x="42" y="35"/>
                      </a:lnTo>
                      <a:lnTo>
                        <a:pt x="45" y="41"/>
                      </a:lnTo>
                      <a:lnTo>
                        <a:pt x="37" y="56"/>
                      </a:lnTo>
                      <a:lnTo>
                        <a:pt x="42" y="60"/>
                      </a:lnTo>
                      <a:lnTo>
                        <a:pt x="40" y="66"/>
                      </a:lnTo>
                      <a:lnTo>
                        <a:pt x="46" y="88"/>
                      </a:lnTo>
                      <a:lnTo>
                        <a:pt x="46" y="92"/>
                      </a:lnTo>
                      <a:lnTo>
                        <a:pt x="15" y="113"/>
                      </a:lnTo>
                      <a:lnTo>
                        <a:pt x="0" y="273"/>
                      </a:lnTo>
                      <a:lnTo>
                        <a:pt x="19" y="301"/>
                      </a:lnTo>
                      <a:lnTo>
                        <a:pt x="12" y="388"/>
                      </a:lnTo>
                      <a:lnTo>
                        <a:pt x="25" y="398"/>
                      </a:lnTo>
                      <a:lnTo>
                        <a:pt x="30" y="534"/>
                      </a:lnTo>
                      <a:lnTo>
                        <a:pt x="38" y="672"/>
                      </a:lnTo>
                      <a:lnTo>
                        <a:pt x="35" y="680"/>
                      </a:lnTo>
                      <a:lnTo>
                        <a:pt x="4" y="706"/>
                      </a:lnTo>
                      <a:lnTo>
                        <a:pt x="8" y="711"/>
                      </a:lnTo>
                      <a:lnTo>
                        <a:pt x="19" y="715"/>
                      </a:lnTo>
                      <a:lnTo>
                        <a:pt x="37" y="711"/>
                      </a:lnTo>
                      <a:lnTo>
                        <a:pt x="55" y="701"/>
                      </a:lnTo>
                      <a:lnTo>
                        <a:pt x="70" y="695"/>
                      </a:lnTo>
                      <a:lnTo>
                        <a:pt x="70" y="719"/>
                      </a:lnTo>
                      <a:lnTo>
                        <a:pt x="76" y="720"/>
                      </a:lnTo>
                      <a:lnTo>
                        <a:pt x="66" y="739"/>
                      </a:lnTo>
                      <a:lnTo>
                        <a:pt x="71" y="773"/>
                      </a:lnTo>
                      <a:lnTo>
                        <a:pt x="81" y="777"/>
                      </a:lnTo>
                      <a:lnTo>
                        <a:pt x="101" y="750"/>
                      </a:lnTo>
                      <a:lnTo>
                        <a:pt x="101" y="730"/>
                      </a:lnTo>
                      <a:lnTo>
                        <a:pt x="107" y="728"/>
                      </a:lnTo>
                      <a:lnTo>
                        <a:pt x="114" y="551"/>
                      </a:lnTo>
                      <a:lnTo>
                        <a:pt x="107" y="534"/>
                      </a:lnTo>
                      <a:lnTo>
                        <a:pt x="127" y="415"/>
                      </a:lnTo>
                      <a:lnTo>
                        <a:pt x="140" y="410"/>
                      </a:lnTo>
                      <a:lnTo>
                        <a:pt x="144" y="287"/>
                      </a:lnTo>
                      <a:lnTo>
                        <a:pt x="177" y="273"/>
                      </a:lnTo>
                      <a:lnTo>
                        <a:pt x="163" y="140"/>
                      </a:lnTo>
                      <a:lnTo>
                        <a:pt x="113" y="103"/>
                      </a:lnTo>
                      <a:lnTo>
                        <a:pt x="100" y="91"/>
                      </a:lnTo>
                      <a:lnTo>
                        <a:pt x="99" y="78"/>
                      </a:lnTo>
                      <a:lnTo>
                        <a:pt x="104" y="69"/>
                      </a:lnTo>
                      <a:lnTo>
                        <a:pt x="110" y="62"/>
                      </a:lnTo>
                      <a:lnTo>
                        <a:pt x="115" y="52"/>
                      </a:lnTo>
                      <a:lnTo>
                        <a:pt x="119" y="44"/>
                      </a:lnTo>
                      <a:lnTo>
                        <a:pt x="119" y="34"/>
                      </a:lnTo>
                      <a:lnTo>
                        <a:pt x="115" y="25"/>
                      </a:lnTo>
                      <a:lnTo>
                        <a:pt x="109" y="14"/>
                      </a:lnTo>
                      <a:lnTo>
                        <a:pt x="100" y="6"/>
                      </a:lnTo>
                      <a:lnTo>
                        <a:pt x="90" y="2"/>
                      </a:lnTo>
                      <a:lnTo>
                        <a:pt x="77" y="0"/>
                      </a:lnTo>
                      <a:lnTo>
                        <a:pt x="66" y="2"/>
                      </a:lnTo>
                      <a:lnTo>
                        <a:pt x="55" y="5"/>
                      </a:lnTo>
                      <a:lnTo>
                        <a:pt x="42" y="16"/>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7" name="Freeform 58"/>
                <p:cNvSpPr/>
                <p:nvPr/>
              </p:nvSpPr>
              <p:spPr>
                <a:xfrm>
                  <a:off x="4658" y="2042"/>
                  <a:ext cx="187" cy="608"/>
                </a:xfrm>
                <a:custGeom>
                  <a:avLst/>
                  <a:gdLst/>
                  <a:ahLst/>
                  <a:cxnLst>
                    <a:cxn ang="0">
                      <a:pos x="117" y="0"/>
                    </a:cxn>
                    <a:cxn ang="0">
                      <a:pos x="76" y="19"/>
                    </a:cxn>
                    <a:cxn ang="0">
                      <a:pos x="75" y="60"/>
                    </a:cxn>
                    <a:cxn ang="0">
                      <a:pos x="55" y="79"/>
                    </a:cxn>
                    <a:cxn ang="0">
                      <a:pos x="12" y="101"/>
                    </a:cxn>
                    <a:cxn ang="0">
                      <a:pos x="5" y="218"/>
                    </a:cxn>
                    <a:cxn ang="0">
                      <a:pos x="35" y="326"/>
                    </a:cxn>
                    <a:cxn ang="0">
                      <a:pos x="63" y="402"/>
                    </a:cxn>
                    <a:cxn ang="0">
                      <a:pos x="58" y="583"/>
                    </a:cxn>
                    <a:cxn ang="0">
                      <a:pos x="63" y="591"/>
                    </a:cxn>
                    <a:cxn ang="0">
                      <a:pos x="93" y="610"/>
                    </a:cxn>
                    <a:cxn ang="0">
                      <a:pos x="109" y="613"/>
                    </a:cxn>
                    <a:cxn ang="0">
                      <a:pos x="120" y="608"/>
                    </a:cxn>
                    <a:cxn ang="0">
                      <a:pos x="114" y="598"/>
                    </a:cxn>
                    <a:cxn ang="0">
                      <a:pos x="99" y="583"/>
                    </a:cxn>
                    <a:cxn ang="0">
                      <a:pos x="105" y="577"/>
                    </a:cxn>
                    <a:cxn ang="0">
                      <a:pos x="142" y="589"/>
                    </a:cxn>
                    <a:cxn ang="0">
                      <a:pos x="146" y="581"/>
                    </a:cxn>
                    <a:cxn ang="0">
                      <a:pos x="142" y="574"/>
                    </a:cxn>
                    <a:cxn ang="0">
                      <a:pos x="131" y="563"/>
                    </a:cxn>
                    <a:cxn ang="0">
                      <a:pos x="144" y="504"/>
                    </a:cxn>
                    <a:cxn ang="0">
                      <a:pos x="157" y="339"/>
                    </a:cxn>
                    <a:cxn ang="0">
                      <a:pos x="163" y="300"/>
                    </a:cxn>
                    <a:cxn ang="0">
                      <a:pos x="151" y="234"/>
                    </a:cxn>
                    <a:cxn ang="0">
                      <a:pos x="160" y="233"/>
                    </a:cxn>
                    <a:cxn ang="0">
                      <a:pos x="168" y="230"/>
                    </a:cxn>
                    <a:cxn ang="0">
                      <a:pos x="175" y="226"/>
                    </a:cxn>
                    <a:cxn ang="0">
                      <a:pos x="180" y="221"/>
                    </a:cxn>
                    <a:cxn ang="0">
                      <a:pos x="186" y="212"/>
                    </a:cxn>
                    <a:cxn ang="0">
                      <a:pos x="181" y="180"/>
                    </a:cxn>
                    <a:cxn ang="0">
                      <a:pos x="136" y="104"/>
                    </a:cxn>
                    <a:cxn ang="0">
                      <a:pos x="120" y="82"/>
                    </a:cxn>
                    <a:cxn ang="0">
                      <a:pos x="140" y="68"/>
                    </a:cxn>
                    <a:cxn ang="0">
                      <a:pos x="140" y="64"/>
                    </a:cxn>
                    <a:cxn ang="0">
                      <a:pos x="147" y="57"/>
                    </a:cxn>
                    <a:cxn ang="0">
                      <a:pos x="146" y="40"/>
                    </a:cxn>
                    <a:cxn ang="0">
                      <a:pos x="149" y="22"/>
                    </a:cxn>
                  </a:cxnLst>
                  <a:rect l="0" t="0" r="0" b="0"/>
                  <a:pathLst>
                    <a:path w="187" h="607">
                      <a:moveTo>
                        <a:pt x="140" y="7"/>
                      </a:moveTo>
                      <a:lnTo>
                        <a:pt x="117" y="0"/>
                      </a:lnTo>
                      <a:lnTo>
                        <a:pt x="93" y="4"/>
                      </a:lnTo>
                      <a:lnTo>
                        <a:pt x="76" y="19"/>
                      </a:lnTo>
                      <a:lnTo>
                        <a:pt x="70" y="38"/>
                      </a:lnTo>
                      <a:lnTo>
                        <a:pt x="75" y="60"/>
                      </a:lnTo>
                      <a:lnTo>
                        <a:pt x="67" y="73"/>
                      </a:lnTo>
                      <a:lnTo>
                        <a:pt x="55" y="79"/>
                      </a:lnTo>
                      <a:lnTo>
                        <a:pt x="22" y="93"/>
                      </a:lnTo>
                      <a:lnTo>
                        <a:pt x="12" y="101"/>
                      </a:lnTo>
                      <a:lnTo>
                        <a:pt x="0" y="198"/>
                      </a:lnTo>
                      <a:lnTo>
                        <a:pt x="5" y="218"/>
                      </a:lnTo>
                      <a:lnTo>
                        <a:pt x="39" y="226"/>
                      </a:lnTo>
                      <a:lnTo>
                        <a:pt x="35" y="319"/>
                      </a:lnTo>
                      <a:lnTo>
                        <a:pt x="58" y="328"/>
                      </a:lnTo>
                      <a:lnTo>
                        <a:pt x="63" y="395"/>
                      </a:lnTo>
                      <a:lnTo>
                        <a:pt x="59" y="512"/>
                      </a:lnTo>
                      <a:lnTo>
                        <a:pt x="58" y="576"/>
                      </a:lnTo>
                      <a:lnTo>
                        <a:pt x="63" y="578"/>
                      </a:lnTo>
                      <a:lnTo>
                        <a:pt x="63" y="584"/>
                      </a:lnTo>
                      <a:lnTo>
                        <a:pt x="81" y="595"/>
                      </a:lnTo>
                      <a:lnTo>
                        <a:pt x="93" y="603"/>
                      </a:lnTo>
                      <a:lnTo>
                        <a:pt x="100" y="606"/>
                      </a:lnTo>
                      <a:lnTo>
                        <a:pt x="109" y="606"/>
                      </a:lnTo>
                      <a:lnTo>
                        <a:pt x="118" y="604"/>
                      </a:lnTo>
                      <a:lnTo>
                        <a:pt x="120" y="601"/>
                      </a:lnTo>
                      <a:lnTo>
                        <a:pt x="118" y="596"/>
                      </a:lnTo>
                      <a:lnTo>
                        <a:pt x="114" y="591"/>
                      </a:lnTo>
                      <a:lnTo>
                        <a:pt x="107" y="583"/>
                      </a:lnTo>
                      <a:lnTo>
                        <a:pt x="99" y="576"/>
                      </a:lnTo>
                      <a:lnTo>
                        <a:pt x="105" y="578"/>
                      </a:lnTo>
                      <a:lnTo>
                        <a:pt x="105" y="570"/>
                      </a:lnTo>
                      <a:lnTo>
                        <a:pt x="131" y="582"/>
                      </a:lnTo>
                      <a:lnTo>
                        <a:pt x="142" y="582"/>
                      </a:lnTo>
                      <a:lnTo>
                        <a:pt x="146" y="578"/>
                      </a:lnTo>
                      <a:lnTo>
                        <a:pt x="146" y="574"/>
                      </a:lnTo>
                      <a:lnTo>
                        <a:pt x="145" y="571"/>
                      </a:lnTo>
                      <a:lnTo>
                        <a:pt x="142" y="567"/>
                      </a:lnTo>
                      <a:lnTo>
                        <a:pt x="136" y="561"/>
                      </a:lnTo>
                      <a:lnTo>
                        <a:pt x="131" y="556"/>
                      </a:lnTo>
                      <a:lnTo>
                        <a:pt x="138" y="555"/>
                      </a:lnTo>
                      <a:lnTo>
                        <a:pt x="144" y="497"/>
                      </a:lnTo>
                      <a:lnTo>
                        <a:pt x="146" y="407"/>
                      </a:lnTo>
                      <a:lnTo>
                        <a:pt x="157" y="332"/>
                      </a:lnTo>
                      <a:lnTo>
                        <a:pt x="160" y="311"/>
                      </a:lnTo>
                      <a:lnTo>
                        <a:pt x="163" y="300"/>
                      </a:lnTo>
                      <a:lnTo>
                        <a:pt x="155" y="255"/>
                      </a:lnTo>
                      <a:lnTo>
                        <a:pt x="151" y="234"/>
                      </a:lnTo>
                      <a:lnTo>
                        <a:pt x="157" y="236"/>
                      </a:lnTo>
                      <a:lnTo>
                        <a:pt x="160" y="233"/>
                      </a:lnTo>
                      <a:lnTo>
                        <a:pt x="163" y="233"/>
                      </a:lnTo>
                      <a:lnTo>
                        <a:pt x="168" y="230"/>
                      </a:lnTo>
                      <a:lnTo>
                        <a:pt x="173" y="230"/>
                      </a:lnTo>
                      <a:lnTo>
                        <a:pt x="175" y="226"/>
                      </a:lnTo>
                      <a:lnTo>
                        <a:pt x="178" y="225"/>
                      </a:lnTo>
                      <a:lnTo>
                        <a:pt x="180" y="221"/>
                      </a:lnTo>
                      <a:lnTo>
                        <a:pt x="184" y="218"/>
                      </a:lnTo>
                      <a:lnTo>
                        <a:pt x="186" y="212"/>
                      </a:lnTo>
                      <a:lnTo>
                        <a:pt x="177" y="192"/>
                      </a:lnTo>
                      <a:lnTo>
                        <a:pt x="181" y="180"/>
                      </a:lnTo>
                      <a:lnTo>
                        <a:pt x="163" y="192"/>
                      </a:lnTo>
                      <a:lnTo>
                        <a:pt x="136" y="104"/>
                      </a:lnTo>
                      <a:lnTo>
                        <a:pt x="116" y="86"/>
                      </a:lnTo>
                      <a:lnTo>
                        <a:pt x="120" y="82"/>
                      </a:lnTo>
                      <a:lnTo>
                        <a:pt x="138" y="79"/>
                      </a:lnTo>
                      <a:lnTo>
                        <a:pt x="140" y="68"/>
                      </a:lnTo>
                      <a:lnTo>
                        <a:pt x="133" y="65"/>
                      </a:lnTo>
                      <a:lnTo>
                        <a:pt x="140" y="64"/>
                      </a:lnTo>
                      <a:lnTo>
                        <a:pt x="140" y="60"/>
                      </a:lnTo>
                      <a:lnTo>
                        <a:pt x="147" y="57"/>
                      </a:lnTo>
                      <a:lnTo>
                        <a:pt x="142" y="43"/>
                      </a:lnTo>
                      <a:lnTo>
                        <a:pt x="146" y="40"/>
                      </a:lnTo>
                      <a:lnTo>
                        <a:pt x="144" y="22"/>
                      </a:lnTo>
                      <a:lnTo>
                        <a:pt x="149" y="22"/>
                      </a:lnTo>
                      <a:lnTo>
                        <a:pt x="140" y="7"/>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8" name="Freeform 59"/>
                <p:cNvSpPr/>
                <p:nvPr/>
              </p:nvSpPr>
              <p:spPr>
                <a:xfrm>
                  <a:off x="2617" y="2146"/>
                  <a:ext cx="166" cy="811"/>
                </a:xfrm>
                <a:custGeom>
                  <a:avLst/>
                  <a:gdLst/>
                  <a:ahLst/>
                  <a:cxnLst>
                    <a:cxn ang="0">
                      <a:pos x="108" y="12"/>
                    </a:cxn>
                    <a:cxn ang="0">
                      <a:pos x="69" y="0"/>
                    </a:cxn>
                    <a:cxn ang="0">
                      <a:pos x="40" y="0"/>
                    </a:cxn>
                    <a:cxn ang="0">
                      <a:pos x="14" y="7"/>
                    </a:cxn>
                    <a:cxn ang="0">
                      <a:pos x="4" y="35"/>
                    </a:cxn>
                    <a:cxn ang="0">
                      <a:pos x="4" y="59"/>
                    </a:cxn>
                    <a:cxn ang="0">
                      <a:pos x="18" y="87"/>
                    </a:cxn>
                    <a:cxn ang="0">
                      <a:pos x="30" y="87"/>
                    </a:cxn>
                    <a:cxn ang="0">
                      <a:pos x="14" y="119"/>
                    </a:cxn>
                    <a:cxn ang="0">
                      <a:pos x="0" y="174"/>
                    </a:cxn>
                    <a:cxn ang="0">
                      <a:pos x="0" y="221"/>
                    </a:cxn>
                    <a:cxn ang="0">
                      <a:pos x="4" y="280"/>
                    </a:cxn>
                    <a:cxn ang="0">
                      <a:pos x="14" y="338"/>
                    </a:cxn>
                    <a:cxn ang="0">
                      <a:pos x="33" y="341"/>
                    </a:cxn>
                    <a:cxn ang="0">
                      <a:pos x="33" y="358"/>
                    </a:cxn>
                    <a:cxn ang="0">
                      <a:pos x="43" y="365"/>
                    </a:cxn>
                    <a:cxn ang="0">
                      <a:pos x="43" y="424"/>
                    </a:cxn>
                    <a:cxn ang="0">
                      <a:pos x="53" y="435"/>
                    </a:cxn>
                    <a:cxn ang="0">
                      <a:pos x="53" y="544"/>
                    </a:cxn>
                    <a:cxn ang="0">
                      <a:pos x="53" y="613"/>
                    </a:cxn>
                    <a:cxn ang="0">
                      <a:pos x="38" y="689"/>
                    </a:cxn>
                    <a:cxn ang="0">
                      <a:pos x="32" y="788"/>
                    </a:cxn>
                    <a:cxn ang="0">
                      <a:pos x="49" y="795"/>
                    </a:cxn>
                    <a:cxn ang="0">
                      <a:pos x="49" y="807"/>
                    </a:cxn>
                    <a:cxn ang="0">
                      <a:pos x="77" y="807"/>
                    </a:cxn>
                    <a:cxn ang="0">
                      <a:pos x="82" y="803"/>
                    </a:cxn>
                    <a:cxn ang="0">
                      <a:pos x="93" y="803"/>
                    </a:cxn>
                    <a:cxn ang="0">
                      <a:pos x="93" y="810"/>
                    </a:cxn>
                    <a:cxn ang="0">
                      <a:pos x="113" y="807"/>
                    </a:cxn>
                    <a:cxn ang="0">
                      <a:pos x="156" y="803"/>
                    </a:cxn>
                    <a:cxn ang="0">
                      <a:pos x="156" y="796"/>
                    </a:cxn>
                    <a:cxn ang="0">
                      <a:pos x="117" y="780"/>
                    </a:cxn>
                    <a:cxn ang="0">
                      <a:pos x="117" y="766"/>
                    </a:cxn>
                    <a:cxn ang="0">
                      <a:pos x="152" y="759"/>
                    </a:cxn>
                    <a:cxn ang="0">
                      <a:pos x="152" y="749"/>
                    </a:cxn>
                    <a:cxn ang="0">
                      <a:pos x="128" y="734"/>
                    </a:cxn>
                    <a:cxn ang="0">
                      <a:pos x="128" y="624"/>
                    </a:cxn>
                    <a:cxn ang="0">
                      <a:pos x="136" y="523"/>
                    </a:cxn>
                    <a:cxn ang="0">
                      <a:pos x="134" y="422"/>
                    </a:cxn>
                    <a:cxn ang="0">
                      <a:pos x="132" y="365"/>
                    </a:cxn>
                    <a:cxn ang="0">
                      <a:pos x="136" y="348"/>
                    </a:cxn>
                    <a:cxn ang="0">
                      <a:pos x="136" y="268"/>
                    </a:cxn>
                    <a:cxn ang="0">
                      <a:pos x="165" y="251"/>
                    </a:cxn>
                    <a:cxn ang="0">
                      <a:pos x="165" y="240"/>
                    </a:cxn>
                    <a:cxn ang="0">
                      <a:pos x="103" y="131"/>
                    </a:cxn>
                    <a:cxn ang="0">
                      <a:pos x="72" y="117"/>
                    </a:cxn>
                    <a:cxn ang="0">
                      <a:pos x="77" y="110"/>
                    </a:cxn>
                    <a:cxn ang="0">
                      <a:pos x="97" y="105"/>
                    </a:cxn>
                    <a:cxn ang="0">
                      <a:pos x="97" y="99"/>
                    </a:cxn>
                    <a:cxn ang="0">
                      <a:pos x="103" y="95"/>
                    </a:cxn>
                    <a:cxn ang="0">
                      <a:pos x="103" y="87"/>
                    </a:cxn>
                    <a:cxn ang="0">
                      <a:pos x="108" y="84"/>
                    </a:cxn>
                    <a:cxn ang="0">
                      <a:pos x="103" y="80"/>
                    </a:cxn>
                    <a:cxn ang="0">
                      <a:pos x="107" y="77"/>
                    </a:cxn>
                    <a:cxn ang="0">
                      <a:pos x="97" y="59"/>
                    </a:cxn>
                    <a:cxn ang="0">
                      <a:pos x="103" y="49"/>
                    </a:cxn>
                    <a:cxn ang="0">
                      <a:pos x="97" y="38"/>
                    </a:cxn>
                    <a:cxn ang="0">
                      <a:pos x="107" y="30"/>
                    </a:cxn>
                    <a:cxn ang="0">
                      <a:pos x="108" y="12"/>
                    </a:cxn>
                  </a:cxnLst>
                  <a:rect l="0" t="0" r="0" b="0"/>
                  <a:pathLst>
                    <a:path w="166" h="811">
                      <a:moveTo>
                        <a:pt x="108" y="12"/>
                      </a:moveTo>
                      <a:lnTo>
                        <a:pt x="69" y="0"/>
                      </a:lnTo>
                      <a:lnTo>
                        <a:pt x="40" y="0"/>
                      </a:lnTo>
                      <a:lnTo>
                        <a:pt x="14" y="7"/>
                      </a:lnTo>
                      <a:lnTo>
                        <a:pt x="4" y="35"/>
                      </a:lnTo>
                      <a:lnTo>
                        <a:pt x="4" y="59"/>
                      </a:lnTo>
                      <a:lnTo>
                        <a:pt x="18" y="87"/>
                      </a:lnTo>
                      <a:lnTo>
                        <a:pt x="30" y="87"/>
                      </a:lnTo>
                      <a:lnTo>
                        <a:pt x="14" y="119"/>
                      </a:lnTo>
                      <a:lnTo>
                        <a:pt x="0" y="174"/>
                      </a:lnTo>
                      <a:lnTo>
                        <a:pt x="0" y="221"/>
                      </a:lnTo>
                      <a:lnTo>
                        <a:pt x="4" y="280"/>
                      </a:lnTo>
                      <a:lnTo>
                        <a:pt x="14" y="338"/>
                      </a:lnTo>
                      <a:lnTo>
                        <a:pt x="33" y="341"/>
                      </a:lnTo>
                      <a:lnTo>
                        <a:pt x="33" y="358"/>
                      </a:lnTo>
                      <a:lnTo>
                        <a:pt x="43" y="365"/>
                      </a:lnTo>
                      <a:lnTo>
                        <a:pt x="43" y="424"/>
                      </a:lnTo>
                      <a:lnTo>
                        <a:pt x="53" y="435"/>
                      </a:lnTo>
                      <a:lnTo>
                        <a:pt x="53" y="544"/>
                      </a:lnTo>
                      <a:lnTo>
                        <a:pt x="53" y="613"/>
                      </a:lnTo>
                      <a:lnTo>
                        <a:pt x="38" y="689"/>
                      </a:lnTo>
                      <a:lnTo>
                        <a:pt x="32" y="788"/>
                      </a:lnTo>
                      <a:lnTo>
                        <a:pt x="49" y="795"/>
                      </a:lnTo>
                      <a:lnTo>
                        <a:pt x="49" y="807"/>
                      </a:lnTo>
                      <a:lnTo>
                        <a:pt x="77" y="807"/>
                      </a:lnTo>
                      <a:lnTo>
                        <a:pt x="82" y="803"/>
                      </a:lnTo>
                      <a:lnTo>
                        <a:pt x="93" y="803"/>
                      </a:lnTo>
                      <a:lnTo>
                        <a:pt x="93" y="810"/>
                      </a:lnTo>
                      <a:lnTo>
                        <a:pt x="113" y="807"/>
                      </a:lnTo>
                      <a:lnTo>
                        <a:pt x="156" y="803"/>
                      </a:lnTo>
                      <a:lnTo>
                        <a:pt x="156" y="796"/>
                      </a:lnTo>
                      <a:lnTo>
                        <a:pt x="117" y="780"/>
                      </a:lnTo>
                      <a:lnTo>
                        <a:pt x="117" y="766"/>
                      </a:lnTo>
                      <a:lnTo>
                        <a:pt x="152" y="759"/>
                      </a:lnTo>
                      <a:lnTo>
                        <a:pt x="152" y="749"/>
                      </a:lnTo>
                      <a:lnTo>
                        <a:pt x="128" y="734"/>
                      </a:lnTo>
                      <a:lnTo>
                        <a:pt x="128" y="624"/>
                      </a:lnTo>
                      <a:lnTo>
                        <a:pt x="136" y="523"/>
                      </a:lnTo>
                      <a:lnTo>
                        <a:pt x="134" y="422"/>
                      </a:lnTo>
                      <a:lnTo>
                        <a:pt x="132" y="365"/>
                      </a:lnTo>
                      <a:lnTo>
                        <a:pt x="136" y="348"/>
                      </a:lnTo>
                      <a:lnTo>
                        <a:pt x="136" y="268"/>
                      </a:lnTo>
                      <a:lnTo>
                        <a:pt x="165" y="251"/>
                      </a:lnTo>
                      <a:lnTo>
                        <a:pt x="165" y="240"/>
                      </a:lnTo>
                      <a:lnTo>
                        <a:pt x="103" y="131"/>
                      </a:lnTo>
                      <a:lnTo>
                        <a:pt x="72" y="117"/>
                      </a:lnTo>
                      <a:lnTo>
                        <a:pt x="77" y="110"/>
                      </a:lnTo>
                      <a:lnTo>
                        <a:pt x="97" y="105"/>
                      </a:lnTo>
                      <a:lnTo>
                        <a:pt x="97" y="99"/>
                      </a:lnTo>
                      <a:lnTo>
                        <a:pt x="103" y="95"/>
                      </a:lnTo>
                      <a:lnTo>
                        <a:pt x="103" y="87"/>
                      </a:lnTo>
                      <a:lnTo>
                        <a:pt x="108" y="84"/>
                      </a:lnTo>
                      <a:lnTo>
                        <a:pt x="103" y="80"/>
                      </a:lnTo>
                      <a:lnTo>
                        <a:pt x="107" y="77"/>
                      </a:lnTo>
                      <a:lnTo>
                        <a:pt x="97" y="59"/>
                      </a:lnTo>
                      <a:lnTo>
                        <a:pt x="103" y="49"/>
                      </a:lnTo>
                      <a:lnTo>
                        <a:pt x="97" y="38"/>
                      </a:lnTo>
                      <a:lnTo>
                        <a:pt x="107" y="30"/>
                      </a:lnTo>
                      <a:lnTo>
                        <a:pt x="108" y="12"/>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9" name="Freeform 60"/>
                <p:cNvSpPr/>
                <p:nvPr/>
              </p:nvSpPr>
              <p:spPr>
                <a:xfrm>
                  <a:off x="2771" y="2257"/>
                  <a:ext cx="242" cy="835"/>
                </a:xfrm>
                <a:custGeom>
                  <a:avLst/>
                  <a:gdLst/>
                  <a:ahLst/>
                  <a:cxnLst>
                    <a:cxn ang="0">
                      <a:pos x="93" y="11"/>
                    </a:cxn>
                    <a:cxn ang="0">
                      <a:pos x="81" y="57"/>
                    </a:cxn>
                    <a:cxn ang="0">
                      <a:pos x="89" y="62"/>
                    </a:cxn>
                    <a:cxn ang="0">
                      <a:pos x="97" y="80"/>
                    </a:cxn>
                    <a:cxn ang="0">
                      <a:pos x="108" y="108"/>
                    </a:cxn>
                    <a:cxn ang="0">
                      <a:pos x="97" y="114"/>
                    </a:cxn>
                    <a:cxn ang="0">
                      <a:pos x="43" y="156"/>
                    </a:cxn>
                    <a:cxn ang="0">
                      <a:pos x="7" y="409"/>
                    </a:cxn>
                    <a:cxn ang="0">
                      <a:pos x="0" y="452"/>
                    </a:cxn>
                    <a:cxn ang="0">
                      <a:pos x="15" y="477"/>
                    </a:cxn>
                    <a:cxn ang="0">
                      <a:pos x="26" y="483"/>
                    </a:cxn>
                    <a:cxn ang="0">
                      <a:pos x="26" y="444"/>
                    </a:cxn>
                    <a:cxn ang="0">
                      <a:pos x="26" y="464"/>
                    </a:cxn>
                    <a:cxn ang="0">
                      <a:pos x="39" y="450"/>
                    </a:cxn>
                    <a:cxn ang="0">
                      <a:pos x="46" y="418"/>
                    </a:cxn>
                    <a:cxn ang="0">
                      <a:pos x="78" y="636"/>
                    </a:cxn>
                    <a:cxn ang="0">
                      <a:pos x="93" y="769"/>
                    </a:cxn>
                    <a:cxn ang="0">
                      <a:pos x="85" y="828"/>
                    </a:cxn>
                    <a:cxn ang="0">
                      <a:pos x="124" y="820"/>
                    </a:cxn>
                    <a:cxn ang="0">
                      <a:pos x="113" y="744"/>
                    </a:cxn>
                    <a:cxn ang="0">
                      <a:pos x="128" y="642"/>
                    </a:cxn>
                    <a:cxn ang="0">
                      <a:pos x="132" y="742"/>
                    </a:cxn>
                    <a:cxn ang="0">
                      <a:pos x="139" y="812"/>
                    </a:cxn>
                    <a:cxn ang="0">
                      <a:pos x="171" y="814"/>
                    </a:cxn>
                    <a:cxn ang="0">
                      <a:pos x="183" y="636"/>
                    </a:cxn>
                    <a:cxn ang="0">
                      <a:pos x="197" y="619"/>
                    </a:cxn>
                    <a:cxn ang="0">
                      <a:pos x="234" y="636"/>
                    </a:cxn>
                    <a:cxn ang="0">
                      <a:pos x="214" y="425"/>
                    </a:cxn>
                    <a:cxn ang="0">
                      <a:pos x="218" y="384"/>
                    </a:cxn>
                    <a:cxn ang="0">
                      <a:pos x="214" y="280"/>
                    </a:cxn>
                    <a:cxn ang="0">
                      <a:pos x="160" y="140"/>
                    </a:cxn>
                    <a:cxn ang="0">
                      <a:pos x="160" y="91"/>
                    </a:cxn>
                    <a:cxn ang="0">
                      <a:pos x="171" y="83"/>
                    </a:cxn>
                    <a:cxn ang="0">
                      <a:pos x="183" y="69"/>
                    </a:cxn>
                    <a:cxn ang="0">
                      <a:pos x="175" y="11"/>
                    </a:cxn>
                    <a:cxn ang="0">
                      <a:pos x="146" y="3"/>
                    </a:cxn>
                    <a:cxn ang="0">
                      <a:pos x="121" y="6"/>
                    </a:cxn>
                  </a:cxnLst>
                  <a:rect l="0" t="0" r="0" b="0"/>
                  <a:pathLst>
                    <a:path w="242" h="835">
                      <a:moveTo>
                        <a:pt x="121" y="6"/>
                      </a:moveTo>
                      <a:lnTo>
                        <a:pt x="93" y="11"/>
                      </a:lnTo>
                      <a:lnTo>
                        <a:pt x="81" y="43"/>
                      </a:lnTo>
                      <a:lnTo>
                        <a:pt x="81" y="57"/>
                      </a:lnTo>
                      <a:lnTo>
                        <a:pt x="93" y="57"/>
                      </a:lnTo>
                      <a:lnTo>
                        <a:pt x="89" y="62"/>
                      </a:lnTo>
                      <a:lnTo>
                        <a:pt x="93" y="66"/>
                      </a:lnTo>
                      <a:lnTo>
                        <a:pt x="97" y="80"/>
                      </a:lnTo>
                      <a:lnTo>
                        <a:pt x="100" y="82"/>
                      </a:lnTo>
                      <a:lnTo>
                        <a:pt x="108" y="108"/>
                      </a:lnTo>
                      <a:lnTo>
                        <a:pt x="108" y="114"/>
                      </a:lnTo>
                      <a:lnTo>
                        <a:pt x="97" y="114"/>
                      </a:lnTo>
                      <a:lnTo>
                        <a:pt x="77" y="146"/>
                      </a:lnTo>
                      <a:lnTo>
                        <a:pt x="43" y="156"/>
                      </a:lnTo>
                      <a:lnTo>
                        <a:pt x="26" y="181"/>
                      </a:lnTo>
                      <a:lnTo>
                        <a:pt x="7" y="409"/>
                      </a:lnTo>
                      <a:lnTo>
                        <a:pt x="15" y="412"/>
                      </a:lnTo>
                      <a:lnTo>
                        <a:pt x="0" y="452"/>
                      </a:lnTo>
                      <a:lnTo>
                        <a:pt x="7" y="477"/>
                      </a:lnTo>
                      <a:lnTo>
                        <a:pt x="15" y="477"/>
                      </a:lnTo>
                      <a:lnTo>
                        <a:pt x="19" y="483"/>
                      </a:lnTo>
                      <a:lnTo>
                        <a:pt x="26" y="483"/>
                      </a:lnTo>
                      <a:lnTo>
                        <a:pt x="22" y="459"/>
                      </a:lnTo>
                      <a:lnTo>
                        <a:pt x="26" y="444"/>
                      </a:lnTo>
                      <a:lnTo>
                        <a:pt x="30" y="456"/>
                      </a:lnTo>
                      <a:lnTo>
                        <a:pt x="26" y="464"/>
                      </a:lnTo>
                      <a:lnTo>
                        <a:pt x="31" y="469"/>
                      </a:lnTo>
                      <a:lnTo>
                        <a:pt x="39" y="450"/>
                      </a:lnTo>
                      <a:lnTo>
                        <a:pt x="33" y="416"/>
                      </a:lnTo>
                      <a:lnTo>
                        <a:pt x="46" y="418"/>
                      </a:lnTo>
                      <a:lnTo>
                        <a:pt x="39" y="624"/>
                      </a:lnTo>
                      <a:lnTo>
                        <a:pt x="78" y="636"/>
                      </a:lnTo>
                      <a:lnTo>
                        <a:pt x="97" y="757"/>
                      </a:lnTo>
                      <a:lnTo>
                        <a:pt x="93" y="769"/>
                      </a:lnTo>
                      <a:lnTo>
                        <a:pt x="85" y="819"/>
                      </a:lnTo>
                      <a:lnTo>
                        <a:pt x="85" y="828"/>
                      </a:lnTo>
                      <a:lnTo>
                        <a:pt x="113" y="834"/>
                      </a:lnTo>
                      <a:lnTo>
                        <a:pt x="124" y="820"/>
                      </a:lnTo>
                      <a:lnTo>
                        <a:pt x="117" y="776"/>
                      </a:lnTo>
                      <a:lnTo>
                        <a:pt x="113" y="744"/>
                      </a:lnTo>
                      <a:lnTo>
                        <a:pt x="124" y="641"/>
                      </a:lnTo>
                      <a:lnTo>
                        <a:pt x="128" y="642"/>
                      </a:lnTo>
                      <a:lnTo>
                        <a:pt x="139" y="679"/>
                      </a:lnTo>
                      <a:lnTo>
                        <a:pt x="132" y="742"/>
                      </a:lnTo>
                      <a:lnTo>
                        <a:pt x="124" y="747"/>
                      </a:lnTo>
                      <a:lnTo>
                        <a:pt x="139" y="812"/>
                      </a:lnTo>
                      <a:lnTo>
                        <a:pt x="166" y="819"/>
                      </a:lnTo>
                      <a:lnTo>
                        <a:pt x="171" y="814"/>
                      </a:lnTo>
                      <a:lnTo>
                        <a:pt x="151" y="749"/>
                      </a:lnTo>
                      <a:lnTo>
                        <a:pt x="183" y="636"/>
                      </a:lnTo>
                      <a:lnTo>
                        <a:pt x="197" y="627"/>
                      </a:lnTo>
                      <a:lnTo>
                        <a:pt x="197" y="619"/>
                      </a:lnTo>
                      <a:lnTo>
                        <a:pt x="226" y="621"/>
                      </a:lnTo>
                      <a:lnTo>
                        <a:pt x="234" y="636"/>
                      </a:lnTo>
                      <a:lnTo>
                        <a:pt x="241" y="627"/>
                      </a:lnTo>
                      <a:lnTo>
                        <a:pt x="214" y="425"/>
                      </a:lnTo>
                      <a:lnTo>
                        <a:pt x="218" y="426"/>
                      </a:lnTo>
                      <a:lnTo>
                        <a:pt x="218" y="384"/>
                      </a:lnTo>
                      <a:lnTo>
                        <a:pt x="222" y="379"/>
                      </a:lnTo>
                      <a:lnTo>
                        <a:pt x="214" y="280"/>
                      </a:lnTo>
                      <a:lnTo>
                        <a:pt x="206" y="163"/>
                      </a:lnTo>
                      <a:lnTo>
                        <a:pt x="160" y="140"/>
                      </a:lnTo>
                      <a:lnTo>
                        <a:pt x="147" y="114"/>
                      </a:lnTo>
                      <a:lnTo>
                        <a:pt x="160" y="91"/>
                      </a:lnTo>
                      <a:lnTo>
                        <a:pt x="166" y="94"/>
                      </a:lnTo>
                      <a:lnTo>
                        <a:pt x="171" y="83"/>
                      </a:lnTo>
                      <a:lnTo>
                        <a:pt x="171" y="70"/>
                      </a:lnTo>
                      <a:lnTo>
                        <a:pt x="183" y="69"/>
                      </a:lnTo>
                      <a:lnTo>
                        <a:pt x="186" y="36"/>
                      </a:lnTo>
                      <a:lnTo>
                        <a:pt x="175" y="11"/>
                      </a:lnTo>
                      <a:lnTo>
                        <a:pt x="163" y="3"/>
                      </a:lnTo>
                      <a:lnTo>
                        <a:pt x="146" y="3"/>
                      </a:lnTo>
                      <a:lnTo>
                        <a:pt x="133" y="0"/>
                      </a:lnTo>
                      <a:lnTo>
                        <a:pt x="121" y="6"/>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50" name="Freeform 61"/>
                <p:cNvSpPr/>
                <p:nvPr/>
              </p:nvSpPr>
              <p:spPr>
                <a:xfrm>
                  <a:off x="4083" y="2250"/>
                  <a:ext cx="268" cy="851"/>
                </a:xfrm>
                <a:custGeom>
                  <a:avLst/>
                  <a:gdLst/>
                  <a:ahLst/>
                  <a:cxnLst>
                    <a:cxn ang="0">
                      <a:pos x="163" y="11"/>
                    </a:cxn>
                    <a:cxn ang="0">
                      <a:pos x="176" y="58"/>
                    </a:cxn>
                    <a:cxn ang="0">
                      <a:pos x="167" y="63"/>
                    </a:cxn>
                    <a:cxn ang="0">
                      <a:pos x="159" y="81"/>
                    </a:cxn>
                    <a:cxn ang="0">
                      <a:pos x="145" y="110"/>
                    </a:cxn>
                    <a:cxn ang="0">
                      <a:pos x="159" y="116"/>
                    </a:cxn>
                    <a:cxn ang="0">
                      <a:pos x="219" y="159"/>
                    </a:cxn>
                    <a:cxn ang="0">
                      <a:pos x="258" y="417"/>
                    </a:cxn>
                    <a:cxn ang="0">
                      <a:pos x="267" y="461"/>
                    </a:cxn>
                    <a:cxn ang="0">
                      <a:pos x="250" y="486"/>
                    </a:cxn>
                    <a:cxn ang="0">
                      <a:pos x="237" y="492"/>
                    </a:cxn>
                    <a:cxn ang="0">
                      <a:pos x="237" y="453"/>
                    </a:cxn>
                    <a:cxn ang="0">
                      <a:pos x="237" y="472"/>
                    </a:cxn>
                    <a:cxn ang="0">
                      <a:pos x="223" y="458"/>
                    </a:cxn>
                    <a:cxn ang="0">
                      <a:pos x="215" y="426"/>
                    </a:cxn>
                    <a:cxn ang="0">
                      <a:pos x="180" y="648"/>
                    </a:cxn>
                    <a:cxn ang="0">
                      <a:pos x="163" y="784"/>
                    </a:cxn>
                    <a:cxn ang="0">
                      <a:pos x="172" y="845"/>
                    </a:cxn>
                    <a:cxn ang="0">
                      <a:pos x="129" y="836"/>
                    </a:cxn>
                    <a:cxn ang="0">
                      <a:pos x="141" y="759"/>
                    </a:cxn>
                    <a:cxn ang="0">
                      <a:pos x="124" y="655"/>
                    </a:cxn>
                    <a:cxn ang="0">
                      <a:pos x="120" y="756"/>
                    </a:cxn>
                    <a:cxn ang="0">
                      <a:pos x="112" y="827"/>
                    </a:cxn>
                    <a:cxn ang="0">
                      <a:pos x="77" y="831"/>
                    </a:cxn>
                    <a:cxn ang="0">
                      <a:pos x="63" y="648"/>
                    </a:cxn>
                    <a:cxn ang="0">
                      <a:pos x="48" y="631"/>
                    </a:cxn>
                    <a:cxn ang="0">
                      <a:pos x="8" y="648"/>
                    </a:cxn>
                    <a:cxn ang="0">
                      <a:pos x="30" y="433"/>
                    </a:cxn>
                    <a:cxn ang="0">
                      <a:pos x="25" y="392"/>
                    </a:cxn>
                    <a:cxn ang="0">
                      <a:pos x="29" y="285"/>
                    </a:cxn>
                    <a:cxn ang="0">
                      <a:pos x="89" y="143"/>
                    </a:cxn>
                    <a:cxn ang="0">
                      <a:pos x="89" y="93"/>
                    </a:cxn>
                    <a:cxn ang="0">
                      <a:pos x="77" y="84"/>
                    </a:cxn>
                    <a:cxn ang="0">
                      <a:pos x="63" y="70"/>
                    </a:cxn>
                    <a:cxn ang="0">
                      <a:pos x="72" y="11"/>
                    </a:cxn>
                    <a:cxn ang="0">
                      <a:pos x="105" y="2"/>
                    </a:cxn>
                    <a:cxn ang="0">
                      <a:pos x="132" y="6"/>
                    </a:cxn>
                  </a:cxnLst>
                  <a:rect l="0" t="0" r="0" b="0"/>
                  <a:pathLst>
                    <a:path w="268" h="851">
                      <a:moveTo>
                        <a:pt x="132" y="6"/>
                      </a:moveTo>
                      <a:lnTo>
                        <a:pt x="163" y="11"/>
                      </a:lnTo>
                      <a:lnTo>
                        <a:pt x="176" y="44"/>
                      </a:lnTo>
                      <a:lnTo>
                        <a:pt x="176" y="58"/>
                      </a:lnTo>
                      <a:lnTo>
                        <a:pt x="163" y="58"/>
                      </a:lnTo>
                      <a:lnTo>
                        <a:pt x="167" y="63"/>
                      </a:lnTo>
                      <a:lnTo>
                        <a:pt x="163" y="67"/>
                      </a:lnTo>
                      <a:lnTo>
                        <a:pt x="159" y="81"/>
                      </a:lnTo>
                      <a:lnTo>
                        <a:pt x="154" y="83"/>
                      </a:lnTo>
                      <a:lnTo>
                        <a:pt x="145" y="110"/>
                      </a:lnTo>
                      <a:lnTo>
                        <a:pt x="145" y="116"/>
                      </a:lnTo>
                      <a:lnTo>
                        <a:pt x="159" y="116"/>
                      </a:lnTo>
                      <a:lnTo>
                        <a:pt x="181" y="148"/>
                      </a:lnTo>
                      <a:lnTo>
                        <a:pt x="219" y="159"/>
                      </a:lnTo>
                      <a:lnTo>
                        <a:pt x="237" y="185"/>
                      </a:lnTo>
                      <a:lnTo>
                        <a:pt x="258" y="417"/>
                      </a:lnTo>
                      <a:lnTo>
                        <a:pt x="249" y="420"/>
                      </a:lnTo>
                      <a:lnTo>
                        <a:pt x="267" y="461"/>
                      </a:lnTo>
                      <a:lnTo>
                        <a:pt x="258" y="486"/>
                      </a:lnTo>
                      <a:lnTo>
                        <a:pt x="250" y="486"/>
                      </a:lnTo>
                      <a:lnTo>
                        <a:pt x="245" y="492"/>
                      </a:lnTo>
                      <a:lnTo>
                        <a:pt x="237" y="492"/>
                      </a:lnTo>
                      <a:lnTo>
                        <a:pt x="241" y="468"/>
                      </a:lnTo>
                      <a:lnTo>
                        <a:pt x="237" y="453"/>
                      </a:lnTo>
                      <a:lnTo>
                        <a:pt x="233" y="465"/>
                      </a:lnTo>
                      <a:lnTo>
                        <a:pt x="237" y="472"/>
                      </a:lnTo>
                      <a:lnTo>
                        <a:pt x="232" y="478"/>
                      </a:lnTo>
                      <a:lnTo>
                        <a:pt x="223" y="458"/>
                      </a:lnTo>
                      <a:lnTo>
                        <a:pt x="229" y="424"/>
                      </a:lnTo>
                      <a:lnTo>
                        <a:pt x="215" y="426"/>
                      </a:lnTo>
                      <a:lnTo>
                        <a:pt x="223" y="637"/>
                      </a:lnTo>
                      <a:lnTo>
                        <a:pt x="180" y="648"/>
                      </a:lnTo>
                      <a:lnTo>
                        <a:pt x="159" y="771"/>
                      </a:lnTo>
                      <a:lnTo>
                        <a:pt x="163" y="784"/>
                      </a:lnTo>
                      <a:lnTo>
                        <a:pt x="172" y="835"/>
                      </a:lnTo>
                      <a:lnTo>
                        <a:pt x="172" y="845"/>
                      </a:lnTo>
                      <a:lnTo>
                        <a:pt x="141" y="850"/>
                      </a:lnTo>
                      <a:lnTo>
                        <a:pt x="129" y="836"/>
                      </a:lnTo>
                      <a:lnTo>
                        <a:pt x="136" y="791"/>
                      </a:lnTo>
                      <a:lnTo>
                        <a:pt x="141" y="759"/>
                      </a:lnTo>
                      <a:lnTo>
                        <a:pt x="128" y="654"/>
                      </a:lnTo>
                      <a:lnTo>
                        <a:pt x="124" y="655"/>
                      </a:lnTo>
                      <a:lnTo>
                        <a:pt x="112" y="692"/>
                      </a:lnTo>
                      <a:lnTo>
                        <a:pt x="120" y="756"/>
                      </a:lnTo>
                      <a:lnTo>
                        <a:pt x="129" y="762"/>
                      </a:lnTo>
                      <a:lnTo>
                        <a:pt x="112" y="827"/>
                      </a:lnTo>
                      <a:lnTo>
                        <a:pt x="81" y="836"/>
                      </a:lnTo>
                      <a:lnTo>
                        <a:pt x="77" y="831"/>
                      </a:lnTo>
                      <a:lnTo>
                        <a:pt x="98" y="763"/>
                      </a:lnTo>
                      <a:lnTo>
                        <a:pt x="63" y="648"/>
                      </a:lnTo>
                      <a:lnTo>
                        <a:pt x="48" y="639"/>
                      </a:lnTo>
                      <a:lnTo>
                        <a:pt x="48" y="631"/>
                      </a:lnTo>
                      <a:lnTo>
                        <a:pt x="17" y="633"/>
                      </a:lnTo>
                      <a:lnTo>
                        <a:pt x="8" y="648"/>
                      </a:lnTo>
                      <a:lnTo>
                        <a:pt x="0" y="639"/>
                      </a:lnTo>
                      <a:lnTo>
                        <a:pt x="30" y="433"/>
                      </a:lnTo>
                      <a:lnTo>
                        <a:pt x="25" y="434"/>
                      </a:lnTo>
                      <a:lnTo>
                        <a:pt x="25" y="392"/>
                      </a:lnTo>
                      <a:lnTo>
                        <a:pt x="20" y="386"/>
                      </a:lnTo>
                      <a:lnTo>
                        <a:pt x="29" y="285"/>
                      </a:lnTo>
                      <a:lnTo>
                        <a:pt x="39" y="166"/>
                      </a:lnTo>
                      <a:lnTo>
                        <a:pt x="89" y="143"/>
                      </a:lnTo>
                      <a:lnTo>
                        <a:pt x="103" y="116"/>
                      </a:lnTo>
                      <a:lnTo>
                        <a:pt x="89" y="93"/>
                      </a:lnTo>
                      <a:lnTo>
                        <a:pt x="81" y="95"/>
                      </a:lnTo>
                      <a:lnTo>
                        <a:pt x="77" y="84"/>
                      </a:lnTo>
                      <a:lnTo>
                        <a:pt x="77" y="71"/>
                      </a:lnTo>
                      <a:lnTo>
                        <a:pt x="63" y="70"/>
                      </a:lnTo>
                      <a:lnTo>
                        <a:pt x="60" y="36"/>
                      </a:lnTo>
                      <a:lnTo>
                        <a:pt x="72" y="11"/>
                      </a:lnTo>
                      <a:lnTo>
                        <a:pt x="85" y="2"/>
                      </a:lnTo>
                      <a:lnTo>
                        <a:pt x="105" y="2"/>
                      </a:lnTo>
                      <a:lnTo>
                        <a:pt x="118" y="0"/>
                      </a:lnTo>
                      <a:lnTo>
                        <a:pt x="132" y="6"/>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sp>
            <p:nvSpPr>
              <p:cNvPr id="37" name="Freeform 62"/>
              <p:cNvSpPr/>
              <p:nvPr/>
            </p:nvSpPr>
            <p:spPr>
              <a:xfrm>
                <a:off x="3183" y="2118"/>
                <a:ext cx="134" cy="601"/>
              </a:xfrm>
              <a:custGeom>
                <a:avLst/>
                <a:gdLst/>
                <a:ahLst/>
                <a:cxnLst>
                  <a:cxn ang="0">
                    <a:pos x="30" y="11"/>
                  </a:cxn>
                  <a:cxn ang="0">
                    <a:pos x="30" y="27"/>
                  </a:cxn>
                  <a:cxn ang="0">
                    <a:pos x="33" y="31"/>
                  </a:cxn>
                  <a:cxn ang="0">
                    <a:pos x="27" y="42"/>
                  </a:cxn>
                  <a:cxn ang="0">
                    <a:pos x="30" y="46"/>
                  </a:cxn>
                  <a:cxn ang="0">
                    <a:pos x="30" y="51"/>
                  </a:cxn>
                  <a:cxn ang="0">
                    <a:pos x="34" y="67"/>
                  </a:cxn>
                  <a:cxn ang="0">
                    <a:pos x="34" y="70"/>
                  </a:cxn>
                  <a:cxn ang="0">
                    <a:pos x="10" y="86"/>
                  </a:cxn>
                  <a:cxn ang="0">
                    <a:pos x="0" y="211"/>
                  </a:cxn>
                  <a:cxn ang="0">
                    <a:pos x="13" y="232"/>
                  </a:cxn>
                  <a:cxn ang="0">
                    <a:pos x="8" y="300"/>
                  </a:cxn>
                  <a:cxn ang="0">
                    <a:pos x="17" y="307"/>
                  </a:cxn>
                  <a:cxn ang="0">
                    <a:pos x="22" y="413"/>
                  </a:cxn>
                  <a:cxn ang="0">
                    <a:pos x="28" y="519"/>
                  </a:cxn>
                  <a:cxn ang="0">
                    <a:pos x="25" y="525"/>
                  </a:cxn>
                  <a:cxn ang="0">
                    <a:pos x="2" y="545"/>
                  </a:cxn>
                  <a:cxn ang="0">
                    <a:pos x="5" y="548"/>
                  </a:cxn>
                  <a:cxn ang="0">
                    <a:pos x="13" y="553"/>
                  </a:cxn>
                  <a:cxn ang="0">
                    <a:pos x="28" y="548"/>
                  </a:cxn>
                  <a:cxn ang="0">
                    <a:pos x="41" y="541"/>
                  </a:cxn>
                  <a:cxn ang="0">
                    <a:pos x="52" y="537"/>
                  </a:cxn>
                  <a:cxn ang="0">
                    <a:pos x="52" y="555"/>
                  </a:cxn>
                  <a:cxn ang="0">
                    <a:pos x="57" y="555"/>
                  </a:cxn>
                  <a:cxn ang="0">
                    <a:pos x="49" y="571"/>
                  </a:cxn>
                  <a:cxn ang="0">
                    <a:pos x="53" y="596"/>
                  </a:cxn>
                  <a:cxn ang="0">
                    <a:pos x="61" y="600"/>
                  </a:cxn>
                  <a:cxn ang="0">
                    <a:pos x="75" y="579"/>
                  </a:cxn>
                  <a:cxn ang="0">
                    <a:pos x="75" y="563"/>
                  </a:cxn>
                  <a:cxn ang="0">
                    <a:pos x="79" y="562"/>
                  </a:cxn>
                  <a:cxn ang="0">
                    <a:pos x="85" y="425"/>
                  </a:cxn>
                  <a:cxn ang="0">
                    <a:pos x="79" y="412"/>
                  </a:cxn>
                  <a:cxn ang="0">
                    <a:pos x="95" y="320"/>
                  </a:cxn>
                  <a:cxn ang="0">
                    <a:pos x="105" y="316"/>
                  </a:cxn>
                  <a:cxn ang="0">
                    <a:pos x="108" y="221"/>
                  </a:cxn>
                  <a:cxn ang="0">
                    <a:pos x="133" y="210"/>
                  </a:cxn>
                  <a:cxn ang="0">
                    <a:pos x="123" y="107"/>
                  </a:cxn>
                  <a:cxn ang="0">
                    <a:pos x="84" y="79"/>
                  </a:cxn>
                  <a:cxn ang="0">
                    <a:pos x="75" y="69"/>
                  </a:cxn>
                  <a:cxn ang="0">
                    <a:pos x="75" y="60"/>
                  </a:cxn>
                  <a:cxn ang="0">
                    <a:pos x="78" y="53"/>
                  </a:cxn>
                  <a:cxn ang="0">
                    <a:pos x="82" y="47"/>
                  </a:cxn>
                  <a:cxn ang="0">
                    <a:pos x="86" y="40"/>
                  </a:cxn>
                  <a:cxn ang="0">
                    <a:pos x="89" y="33"/>
                  </a:cxn>
                  <a:cxn ang="0">
                    <a:pos x="89" y="26"/>
                  </a:cxn>
                  <a:cxn ang="0">
                    <a:pos x="86" y="18"/>
                  </a:cxn>
                  <a:cxn ang="0">
                    <a:pos x="82" y="10"/>
                  </a:cxn>
                  <a:cxn ang="0">
                    <a:pos x="75" y="4"/>
                  </a:cxn>
                  <a:cxn ang="0">
                    <a:pos x="67" y="0"/>
                  </a:cxn>
                  <a:cxn ang="0">
                    <a:pos x="58" y="0"/>
                  </a:cxn>
                  <a:cxn ang="0">
                    <a:pos x="49" y="1"/>
                  </a:cxn>
                  <a:cxn ang="0">
                    <a:pos x="41" y="4"/>
                  </a:cxn>
                  <a:cxn ang="0">
                    <a:pos x="30" y="11"/>
                  </a:cxn>
                </a:cxnLst>
                <a:rect l="0" t="0" r="0" b="0"/>
                <a:pathLst>
                  <a:path w="134" h="601">
                    <a:moveTo>
                      <a:pt x="30" y="11"/>
                    </a:moveTo>
                    <a:lnTo>
                      <a:pt x="30" y="27"/>
                    </a:lnTo>
                    <a:lnTo>
                      <a:pt x="33" y="31"/>
                    </a:lnTo>
                    <a:lnTo>
                      <a:pt x="27" y="42"/>
                    </a:lnTo>
                    <a:lnTo>
                      <a:pt x="30" y="46"/>
                    </a:lnTo>
                    <a:lnTo>
                      <a:pt x="30" y="51"/>
                    </a:lnTo>
                    <a:lnTo>
                      <a:pt x="34" y="67"/>
                    </a:lnTo>
                    <a:lnTo>
                      <a:pt x="34" y="70"/>
                    </a:lnTo>
                    <a:lnTo>
                      <a:pt x="10" y="86"/>
                    </a:lnTo>
                    <a:lnTo>
                      <a:pt x="0" y="211"/>
                    </a:lnTo>
                    <a:lnTo>
                      <a:pt x="13" y="232"/>
                    </a:lnTo>
                    <a:lnTo>
                      <a:pt x="8" y="300"/>
                    </a:lnTo>
                    <a:lnTo>
                      <a:pt x="17" y="307"/>
                    </a:lnTo>
                    <a:lnTo>
                      <a:pt x="22" y="413"/>
                    </a:lnTo>
                    <a:lnTo>
                      <a:pt x="28" y="519"/>
                    </a:lnTo>
                    <a:lnTo>
                      <a:pt x="25" y="525"/>
                    </a:lnTo>
                    <a:lnTo>
                      <a:pt x="2" y="545"/>
                    </a:lnTo>
                    <a:lnTo>
                      <a:pt x="5" y="548"/>
                    </a:lnTo>
                    <a:lnTo>
                      <a:pt x="13" y="553"/>
                    </a:lnTo>
                    <a:lnTo>
                      <a:pt x="28" y="548"/>
                    </a:lnTo>
                    <a:lnTo>
                      <a:pt x="41" y="541"/>
                    </a:lnTo>
                    <a:lnTo>
                      <a:pt x="52" y="537"/>
                    </a:lnTo>
                    <a:lnTo>
                      <a:pt x="52" y="555"/>
                    </a:lnTo>
                    <a:lnTo>
                      <a:pt x="57" y="555"/>
                    </a:lnTo>
                    <a:lnTo>
                      <a:pt x="49" y="571"/>
                    </a:lnTo>
                    <a:lnTo>
                      <a:pt x="53" y="596"/>
                    </a:lnTo>
                    <a:lnTo>
                      <a:pt x="61" y="600"/>
                    </a:lnTo>
                    <a:lnTo>
                      <a:pt x="75" y="579"/>
                    </a:lnTo>
                    <a:lnTo>
                      <a:pt x="75" y="563"/>
                    </a:lnTo>
                    <a:lnTo>
                      <a:pt x="79" y="562"/>
                    </a:lnTo>
                    <a:lnTo>
                      <a:pt x="85" y="425"/>
                    </a:lnTo>
                    <a:lnTo>
                      <a:pt x="79" y="412"/>
                    </a:lnTo>
                    <a:lnTo>
                      <a:pt x="95" y="320"/>
                    </a:lnTo>
                    <a:lnTo>
                      <a:pt x="105" y="316"/>
                    </a:lnTo>
                    <a:lnTo>
                      <a:pt x="108" y="221"/>
                    </a:lnTo>
                    <a:lnTo>
                      <a:pt x="133" y="210"/>
                    </a:lnTo>
                    <a:lnTo>
                      <a:pt x="123" y="107"/>
                    </a:lnTo>
                    <a:lnTo>
                      <a:pt x="84" y="79"/>
                    </a:lnTo>
                    <a:lnTo>
                      <a:pt x="75" y="69"/>
                    </a:lnTo>
                    <a:lnTo>
                      <a:pt x="75" y="60"/>
                    </a:lnTo>
                    <a:lnTo>
                      <a:pt x="78" y="53"/>
                    </a:lnTo>
                    <a:lnTo>
                      <a:pt x="82" y="47"/>
                    </a:lnTo>
                    <a:lnTo>
                      <a:pt x="86" y="40"/>
                    </a:lnTo>
                    <a:lnTo>
                      <a:pt x="89" y="33"/>
                    </a:lnTo>
                    <a:lnTo>
                      <a:pt x="89" y="26"/>
                    </a:lnTo>
                    <a:lnTo>
                      <a:pt x="86" y="18"/>
                    </a:lnTo>
                    <a:lnTo>
                      <a:pt x="82" y="10"/>
                    </a:lnTo>
                    <a:lnTo>
                      <a:pt x="75" y="4"/>
                    </a:lnTo>
                    <a:lnTo>
                      <a:pt x="67" y="0"/>
                    </a:lnTo>
                    <a:lnTo>
                      <a:pt x="58" y="0"/>
                    </a:lnTo>
                    <a:lnTo>
                      <a:pt x="49" y="1"/>
                    </a:lnTo>
                    <a:lnTo>
                      <a:pt x="41" y="4"/>
                    </a:lnTo>
                    <a:lnTo>
                      <a:pt x="30" y="11"/>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nvGrpSpPr>
              <p:cNvPr id="38" name="Group 63"/>
              <p:cNvGrpSpPr/>
              <p:nvPr/>
            </p:nvGrpSpPr>
            <p:grpSpPr>
              <a:xfrm>
                <a:off x="3210" y="2435"/>
                <a:ext cx="893" cy="924"/>
                <a:chOff x="3210" y="2435"/>
                <a:chExt cx="893" cy="924"/>
              </a:xfrm>
            </p:grpSpPr>
            <p:sp>
              <p:nvSpPr>
                <p:cNvPr id="39" name="Freeform 64"/>
                <p:cNvSpPr/>
                <p:nvPr/>
              </p:nvSpPr>
              <p:spPr>
                <a:xfrm>
                  <a:off x="3502" y="2438"/>
                  <a:ext cx="269" cy="919"/>
                </a:xfrm>
                <a:custGeom>
                  <a:avLst/>
                  <a:gdLst/>
                  <a:ahLst/>
                  <a:cxnLst>
                    <a:cxn ang="0">
                      <a:pos x="104" y="13"/>
                    </a:cxn>
                    <a:cxn ang="0">
                      <a:pos x="91" y="63"/>
                    </a:cxn>
                    <a:cxn ang="0">
                      <a:pos x="100" y="68"/>
                    </a:cxn>
                    <a:cxn ang="0">
                      <a:pos x="108" y="88"/>
                    </a:cxn>
                    <a:cxn ang="0">
                      <a:pos x="121" y="119"/>
                    </a:cxn>
                    <a:cxn ang="0">
                      <a:pos x="108" y="125"/>
                    </a:cxn>
                    <a:cxn ang="0">
                      <a:pos x="48" y="172"/>
                    </a:cxn>
                    <a:cxn ang="0">
                      <a:pos x="9" y="451"/>
                    </a:cxn>
                    <a:cxn ang="0">
                      <a:pos x="0" y="498"/>
                    </a:cxn>
                    <a:cxn ang="0">
                      <a:pos x="17" y="525"/>
                    </a:cxn>
                    <a:cxn ang="0">
                      <a:pos x="30" y="531"/>
                    </a:cxn>
                    <a:cxn ang="0">
                      <a:pos x="30" y="489"/>
                    </a:cxn>
                    <a:cxn ang="0">
                      <a:pos x="30" y="510"/>
                    </a:cxn>
                    <a:cxn ang="0">
                      <a:pos x="44" y="494"/>
                    </a:cxn>
                    <a:cxn ang="0">
                      <a:pos x="52" y="460"/>
                    </a:cxn>
                    <a:cxn ang="0">
                      <a:pos x="87" y="700"/>
                    </a:cxn>
                    <a:cxn ang="0">
                      <a:pos x="104" y="846"/>
                    </a:cxn>
                    <a:cxn ang="0">
                      <a:pos x="95" y="911"/>
                    </a:cxn>
                    <a:cxn ang="0">
                      <a:pos x="145" y="902"/>
                    </a:cxn>
                    <a:cxn ang="0">
                      <a:pos x="125" y="819"/>
                    </a:cxn>
                    <a:cxn ang="0">
                      <a:pos x="149" y="707"/>
                    </a:cxn>
                    <a:cxn ang="0">
                      <a:pos x="154" y="816"/>
                    </a:cxn>
                    <a:cxn ang="0">
                      <a:pos x="162" y="893"/>
                    </a:cxn>
                    <a:cxn ang="0">
                      <a:pos x="197" y="896"/>
                    </a:cxn>
                    <a:cxn ang="0">
                      <a:pos x="210" y="700"/>
                    </a:cxn>
                    <a:cxn ang="0">
                      <a:pos x="226" y="682"/>
                    </a:cxn>
                    <a:cxn ang="0">
                      <a:pos x="266" y="700"/>
                    </a:cxn>
                    <a:cxn ang="0">
                      <a:pos x="244" y="468"/>
                    </a:cxn>
                    <a:cxn ang="0">
                      <a:pos x="249" y="423"/>
                    </a:cxn>
                    <a:cxn ang="0">
                      <a:pos x="245" y="308"/>
                    </a:cxn>
                    <a:cxn ang="0">
                      <a:pos x="185" y="154"/>
                    </a:cxn>
                    <a:cxn ang="0">
                      <a:pos x="184" y="100"/>
                    </a:cxn>
                    <a:cxn ang="0">
                      <a:pos x="197" y="90"/>
                    </a:cxn>
                    <a:cxn ang="0">
                      <a:pos x="210" y="75"/>
                    </a:cxn>
                    <a:cxn ang="0">
                      <a:pos x="201" y="13"/>
                    </a:cxn>
                    <a:cxn ang="0">
                      <a:pos x="169" y="4"/>
                    </a:cxn>
                    <a:cxn ang="0">
                      <a:pos x="142" y="7"/>
                    </a:cxn>
                  </a:cxnLst>
                  <a:rect l="0" t="0" r="0" b="0"/>
                  <a:pathLst>
                    <a:path w="268" h="919">
                      <a:moveTo>
                        <a:pt x="135" y="7"/>
                      </a:moveTo>
                      <a:lnTo>
                        <a:pt x="104" y="13"/>
                      </a:lnTo>
                      <a:lnTo>
                        <a:pt x="91" y="48"/>
                      </a:lnTo>
                      <a:lnTo>
                        <a:pt x="91" y="63"/>
                      </a:lnTo>
                      <a:lnTo>
                        <a:pt x="104" y="63"/>
                      </a:lnTo>
                      <a:lnTo>
                        <a:pt x="100" y="68"/>
                      </a:lnTo>
                      <a:lnTo>
                        <a:pt x="104" y="72"/>
                      </a:lnTo>
                      <a:lnTo>
                        <a:pt x="108" y="88"/>
                      </a:lnTo>
                      <a:lnTo>
                        <a:pt x="112" y="90"/>
                      </a:lnTo>
                      <a:lnTo>
                        <a:pt x="121" y="119"/>
                      </a:lnTo>
                      <a:lnTo>
                        <a:pt x="121" y="125"/>
                      </a:lnTo>
                      <a:lnTo>
                        <a:pt x="108" y="125"/>
                      </a:lnTo>
                      <a:lnTo>
                        <a:pt x="86" y="160"/>
                      </a:lnTo>
                      <a:lnTo>
                        <a:pt x="48" y="172"/>
                      </a:lnTo>
                      <a:lnTo>
                        <a:pt x="30" y="199"/>
                      </a:lnTo>
                      <a:lnTo>
                        <a:pt x="9" y="451"/>
                      </a:lnTo>
                      <a:lnTo>
                        <a:pt x="18" y="453"/>
                      </a:lnTo>
                      <a:lnTo>
                        <a:pt x="0" y="498"/>
                      </a:lnTo>
                      <a:lnTo>
                        <a:pt x="9" y="525"/>
                      </a:lnTo>
                      <a:lnTo>
                        <a:pt x="17" y="525"/>
                      </a:lnTo>
                      <a:lnTo>
                        <a:pt x="22" y="531"/>
                      </a:lnTo>
                      <a:lnTo>
                        <a:pt x="30" y="531"/>
                      </a:lnTo>
                      <a:lnTo>
                        <a:pt x="26" y="505"/>
                      </a:lnTo>
                      <a:lnTo>
                        <a:pt x="30" y="489"/>
                      </a:lnTo>
                      <a:lnTo>
                        <a:pt x="34" y="501"/>
                      </a:lnTo>
                      <a:lnTo>
                        <a:pt x="30" y="510"/>
                      </a:lnTo>
                      <a:lnTo>
                        <a:pt x="35" y="516"/>
                      </a:lnTo>
                      <a:lnTo>
                        <a:pt x="44" y="494"/>
                      </a:lnTo>
                      <a:lnTo>
                        <a:pt x="38" y="458"/>
                      </a:lnTo>
                      <a:lnTo>
                        <a:pt x="52" y="460"/>
                      </a:lnTo>
                      <a:lnTo>
                        <a:pt x="44" y="688"/>
                      </a:lnTo>
                      <a:lnTo>
                        <a:pt x="87" y="700"/>
                      </a:lnTo>
                      <a:lnTo>
                        <a:pt x="108" y="832"/>
                      </a:lnTo>
                      <a:lnTo>
                        <a:pt x="104" y="846"/>
                      </a:lnTo>
                      <a:lnTo>
                        <a:pt x="95" y="901"/>
                      </a:lnTo>
                      <a:lnTo>
                        <a:pt x="95" y="911"/>
                      </a:lnTo>
                      <a:lnTo>
                        <a:pt x="125" y="918"/>
                      </a:lnTo>
                      <a:lnTo>
                        <a:pt x="138" y="902"/>
                      </a:lnTo>
                      <a:lnTo>
                        <a:pt x="131" y="853"/>
                      </a:lnTo>
                      <a:lnTo>
                        <a:pt x="125" y="819"/>
                      </a:lnTo>
                      <a:lnTo>
                        <a:pt x="138" y="706"/>
                      </a:lnTo>
                      <a:lnTo>
                        <a:pt x="142" y="707"/>
                      </a:lnTo>
                      <a:lnTo>
                        <a:pt x="155" y="747"/>
                      </a:lnTo>
                      <a:lnTo>
                        <a:pt x="147" y="816"/>
                      </a:lnTo>
                      <a:lnTo>
                        <a:pt x="138" y="822"/>
                      </a:lnTo>
                      <a:lnTo>
                        <a:pt x="155" y="893"/>
                      </a:lnTo>
                      <a:lnTo>
                        <a:pt x="185" y="902"/>
                      </a:lnTo>
                      <a:lnTo>
                        <a:pt x="190" y="896"/>
                      </a:lnTo>
                      <a:lnTo>
                        <a:pt x="168" y="823"/>
                      </a:lnTo>
                      <a:lnTo>
                        <a:pt x="203" y="700"/>
                      </a:lnTo>
                      <a:lnTo>
                        <a:pt x="219" y="691"/>
                      </a:lnTo>
                      <a:lnTo>
                        <a:pt x="219" y="682"/>
                      </a:lnTo>
                      <a:lnTo>
                        <a:pt x="250" y="684"/>
                      </a:lnTo>
                      <a:lnTo>
                        <a:pt x="259" y="700"/>
                      </a:lnTo>
                      <a:lnTo>
                        <a:pt x="267" y="691"/>
                      </a:lnTo>
                      <a:lnTo>
                        <a:pt x="237" y="468"/>
                      </a:lnTo>
                      <a:lnTo>
                        <a:pt x="242" y="469"/>
                      </a:lnTo>
                      <a:lnTo>
                        <a:pt x="242" y="423"/>
                      </a:lnTo>
                      <a:lnTo>
                        <a:pt x="246" y="416"/>
                      </a:lnTo>
                      <a:lnTo>
                        <a:pt x="238" y="308"/>
                      </a:lnTo>
                      <a:lnTo>
                        <a:pt x="228" y="179"/>
                      </a:lnTo>
                      <a:lnTo>
                        <a:pt x="178" y="154"/>
                      </a:lnTo>
                      <a:lnTo>
                        <a:pt x="163" y="125"/>
                      </a:lnTo>
                      <a:lnTo>
                        <a:pt x="177" y="100"/>
                      </a:lnTo>
                      <a:lnTo>
                        <a:pt x="185" y="103"/>
                      </a:lnTo>
                      <a:lnTo>
                        <a:pt x="190" y="90"/>
                      </a:lnTo>
                      <a:lnTo>
                        <a:pt x="190" y="77"/>
                      </a:lnTo>
                      <a:lnTo>
                        <a:pt x="203" y="75"/>
                      </a:lnTo>
                      <a:lnTo>
                        <a:pt x="207" y="39"/>
                      </a:lnTo>
                      <a:lnTo>
                        <a:pt x="194" y="13"/>
                      </a:lnTo>
                      <a:lnTo>
                        <a:pt x="181" y="4"/>
                      </a:lnTo>
                      <a:lnTo>
                        <a:pt x="162" y="4"/>
                      </a:lnTo>
                      <a:lnTo>
                        <a:pt x="148" y="0"/>
                      </a:lnTo>
                      <a:lnTo>
                        <a:pt x="135" y="7"/>
                      </a:lnTo>
                    </a:path>
                  </a:pathLst>
                </a:custGeom>
                <a:solidFill>
                  <a:srgbClr val="9FBFFF">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0" name="Freeform 65"/>
                <p:cNvSpPr/>
                <p:nvPr/>
              </p:nvSpPr>
              <p:spPr>
                <a:xfrm>
                  <a:off x="3833" y="2435"/>
                  <a:ext cx="270" cy="921"/>
                </a:xfrm>
                <a:custGeom>
                  <a:avLst/>
                  <a:gdLst/>
                  <a:ahLst/>
                  <a:cxnLst>
                    <a:cxn ang="0">
                      <a:pos x="100" y="0"/>
                    </a:cxn>
                    <a:cxn ang="0">
                      <a:pos x="159" y="30"/>
                    </a:cxn>
                    <a:cxn ang="0">
                      <a:pos x="160" y="92"/>
                    </a:cxn>
                    <a:cxn ang="0">
                      <a:pos x="188" y="121"/>
                    </a:cxn>
                    <a:cxn ang="0">
                      <a:pos x="249" y="155"/>
                    </a:cxn>
                    <a:cxn ang="0">
                      <a:pos x="261" y="331"/>
                    </a:cxn>
                    <a:cxn ang="0">
                      <a:pos x="219" y="483"/>
                    </a:cxn>
                    <a:cxn ang="0">
                      <a:pos x="177" y="599"/>
                    </a:cxn>
                    <a:cxn ang="0">
                      <a:pos x="185" y="874"/>
                    </a:cxn>
                    <a:cxn ang="0">
                      <a:pos x="177" y="885"/>
                    </a:cxn>
                    <a:cxn ang="0">
                      <a:pos x="135" y="915"/>
                    </a:cxn>
                    <a:cxn ang="0">
                      <a:pos x="112" y="920"/>
                    </a:cxn>
                    <a:cxn ang="0">
                      <a:pos x="96" y="912"/>
                    </a:cxn>
                    <a:cxn ang="0">
                      <a:pos x="105" y="896"/>
                    </a:cxn>
                    <a:cxn ang="0">
                      <a:pos x="126" y="873"/>
                    </a:cxn>
                    <a:cxn ang="0">
                      <a:pos x="117" y="865"/>
                    </a:cxn>
                    <a:cxn ang="0">
                      <a:pos x="64" y="882"/>
                    </a:cxn>
                    <a:cxn ang="0">
                      <a:pos x="59" y="871"/>
                    </a:cxn>
                    <a:cxn ang="0">
                      <a:pos x="64" y="860"/>
                    </a:cxn>
                    <a:cxn ang="0">
                      <a:pos x="81" y="843"/>
                    </a:cxn>
                    <a:cxn ang="0">
                      <a:pos x="62" y="754"/>
                    </a:cxn>
                    <a:cxn ang="0">
                      <a:pos x="44" y="503"/>
                    </a:cxn>
                    <a:cxn ang="0">
                      <a:pos x="35" y="454"/>
                    </a:cxn>
                    <a:cxn ang="0">
                      <a:pos x="50" y="355"/>
                    </a:cxn>
                    <a:cxn ang="0">
                      <a:pos x="38" y="354"/>
                    </a:cxn>
                    <a:cxn ang="0">
                      <a:pos x="28" y="350"/>
                    </a:cxn>
                    <a:cxn ang="0">
                      <a:pos x="17" y="343"/>
                    </a:cxn>
                    <a:cxn ang="0">
                      <a:pos x="11" y="336"/>
                    </a:cxn>
                    <a:cxn ang="0">
                      <a:pos x="0" y="323"/>
                    </a:cxn>
                    <a:cxn ang="0">
                      <a:pos x="8" y="273"/>
                    </a:cxn>
                    <a:cxn ang="0">
                      <a:pos x="73" y="158"/>
                    </a:cxn>
                    <a:cxn ang="0">
                      <a:pos x="96" y="125"/>
                    </a:cxn>
                    <a:cxn ang="0">
                      <a:pos x="68" y="103"/>
                    </a:cxn>
                    <a:cxn ang="0">
                      <a:pos x="66" y="98"/>
                    </a:cxn>
                    <a:cxn ang="0">
                      <a:pos x="58" y="88"/>
                    </a:cxn>
                    <a:cxn ang="0">
                      <a:pos x="59" y="62"/>
                    </a:cxn>
                    <a:cxn ang="0">
                      <a:pos x="55" y="33"/>
                    </a:cxn>
                  </a:cxnLst>
                  <a:rect l="0" t="0" r="0" b="0"/>
                  <a:pathLst>
                    <a:path w="270" h="921">
                      <a:moveTo>
                        <a:pt x="67" y="12"/>
                      </a:moveTo>
                      <a:lnTo>
                        <a:pt x="100" y="0"/>
                      </a:lnTo>
                      <a:lnTo>
                        <a:pt x="135" y="7"/>
                      </a:lnTo>
                      <a:lnTo>
                        <a:pt x="159" y="30"/>
                      </a:lnTo>
                      <a:lnTo>
                        <a:pt x="168" y="58"/>
                      </a:lnTo>
                      <a:lnTo>
                        <a:pt x="160" y="92"/>
                      </a:lnTo>
                      <a:lnTo>
                        <a:pt x="172" y="111"/>
                      </a:lnTo>
                      <a:lnTo>
                        <a:pt x="188" y="121"/>
                      </a:lnTo>
                      <a:lnTo>
                        <a:pt x="236" y="141"/>
                      </a:lnTo>
                      <a:lnTo>
                        <a:pt x="249" y="155"/>
                      </a:lnTo>
                      <a:lnTo>
                        <a:pt x="269" y="301"/>
                      </a:lnTo>
                      <a:lnTo>
                        <a:pt x="261" y="331"/>
                      </a:lnTo>
                      <a:lnTo>
                        <a:pt x="211" y="343"/>
                      </a:lnTo>
                      <a:lnTo>
                        <a:pt x="219" y="483"/>
                      </a:lnTo>
                      <a:lnTo>
                        <a:pt x="185" y="496"/>
                      </a:lnTo>
                      <a:lnTo>
                        <a:pt x="177" y="599"/>
                      </a:lnTo>
                      <a:lnTo>
                        <a:pt x="184" y="776"/>
                      </a:lnTo>
                      <a:lnTo>
                        <a:pt x="185" y="874"/>
                      </a:lnTo>
                      <a:lnTo>
                        <a:pt x="177" y="877"/>
                      </a:lnTo>
                      <a:lnTo>
                        <a:pt x="177" y="885"/>
                      </a:lnTo>
                      <a:lnTo>
                        <a:pt x="151" y="903"/>
                      </a:lnTo>
                      <a:lnTo>
                        <a:pt x="135" y="915"/>
                      </a:lnTo>
                      <a:lnTo>
                        <a:pt x="124" y="919"/>
                      </a:lnTo>
                      <a:lnTo>
                        <a:pt x="112" y="920"/>
                      </a:lnTo>
                      <a:lnTo>
                        <a:pt x="99" y="916"/>
                      </a:lnTo>
                      <a:lnTo>
                        <a:pt x="96" y="912"/>
                      </a:lnTo>
                      <a:lnTo>
                        <a:pt x="99" y="905"/>
                      </a:lnTo>
                      <a:lnTo>
                        <a:pt x="105" y="896"/>
                      </a:lnTo>
                      <a:lnTo>
                        <a:pt x="114" y="884"/>
                      </a:lnTo>
                      <a:lnTo>
                        <a:pt x="126" y="873"/>
                      </a:lnTo>
                      <a:lnTo>
                        <a:pt x="117" y="877"/>
                      </a:lnTo>
                      <a:lnTo>
                        <a:pt x="117" y="865"/>
                      </a:lnTo>
                      <a:lnTo>
                        <a:pt x="80" y="882"/>
                      </a:lnTo>
                      <a:lnTo>
                        <a:pt x="64" y="882"/>
                      </a:lnTo>
                      <a:lnTo>
                        <a:pt x="59" y="877"/>
                      </a:lnTo>
                      <a:lnTo>
                        <a:pt x="59" y="871"/>
                      </a:lnTo>
                      <a:lnTo>
                        <a:pt x="61" y="866"/>
                      </a:lnTo>
                      <a:lnTo>
                        <a:pt x="64" y="860"/>
                      </a:lnTo>
                      <a:lnTo>
                        <a:pt x="73" y="851"/>
                      </a:lnTo>
                      <a:lnTo>
                        <a:pt x="81" y="843"/>
                      </a:lnTo>
                      <a:lnTo>
                        <a:pt x="71" y="841"/>
                      </a:lnTo>
                      <a:lnTo>
                        <a:pt x="62" y="754"/>
                      </a:lnTo>
                      <a:lnTo>
                        <a:pt x="59" y="617"/>
                      </a:lnTo>
                      <a:lnTo>
                        <a:pt x="44" y="503"/>
                      </a:lnTo>
                      <a:lnTo>
                        <a:pt x="39" y="472"/>
                      </a:lnTo>
                      <a:lnTo>
                        <a:pt x="35" y="454"/>
                      </a:lnTo>
                      <a:lnTo>
                        <a:pt x="46" y="386"/>
                      </a:lnTo>
                      <a:lnTo>
                        <a:pt x="50" y="355"/>
                      </a:lnTo>
                      <a:lnTo>
                        <a:pt x="43" y="359"/>
                      </a:lnTo>
                      <a:lnTo>
                        <a:pt x="38" y="354"/>
                      </a:lnTo>
                      <a:lnTo>
                        <a:pt x="35" y="354"/>
                      </a:lnTo>
                      <a:lnTo>
                        <a:pt x="28" y="350"/>
                      </a:lnTo>
                      <a:lnTo>
                        <a:pt x="20" y="350"/>
                      </a:lnTo>
                      <a:lnTo>
                        <a:pt x="17" y="343"/>
                      </a:lnTo>
                      <a:lnTo>
                        <a:pt x="13" y="342"/>
                      </a:lnTo>
                      <a:lnTo>
                        <a:pt x="11" y="336"/>
                      </a:lnTo>
                      <a:lnTo>
                        <a:pt x="4" y="331"/>
                      </a:lnTo>
                      <a:lnTo>
                        <a:pt x="0" y="323"/>
                      </a:lnTo>
                      <a:lnTo>
                        <a:pt x="15" y="292"/>
                      </a:lnTo>
                      <a:lnTo>
                        <a:pt x="8" y="273"/>
                      </a:lnTo>
                      <a:lnTo>
                        <a:pt x="34" y="292"/>
                      </a:lnTo>
                      <a:lnTo>
                        <a:pt x="73" y="158"/>
                      </a:lnTo>
                      <a:lnTo>
                        <a:pt x="102" y="132"/>
                      </a:lnTo>
                      <a:lnTo>
                        <a:pt x="96" y="125"/>
                      </a:lnTo>
                      <a:lnTo>
                        <a:pt x="71" y="121"/>
                      </a:lnTo>
                      <a:lnTo>
                        <a:pt x="68" y="103"/>
                      </a:lnTo>
                      <a:lnTo>
                        <a:pt x="76" y="99"/>
                      </a:lnTo>
                      <a:lnTo>
                        <a:pt x="66" y="98"/>
                      </a:lnTo>
                      <a:lnTo>
                        <a:pt x="68" y="91"/>
                      </a:lnTo>
                      <a:lnTo>
                        <a:pt x="58" y="88"/>
                      </a:lnTo>
                      <a:lnTo>
                        <a:pt x="65" y="66"/>
                      </a:lnTo>
                      <a:lnTo>
                        <a:pt x="59" y="62"/>
                      </a:lnTo>
                      <a:lnTo>
                        <a:pt x="62" y="34"/>
                      </a:lnTo>
                      <a:lnTo>
                        <a:pt x="55" y="33"/>
                      </a:lnTo>
                      <a:lnTo>
                        <a:pt x="67" y="12"/>
                      </a:lnTo>
                    </a:path>
                  </a:pathLst>
                </a:custGeom>
                <a:solidFill>
                  <a:srgbClr val="3F7FFF">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41" name="Freeform 66"/>
                <p:cNvSpPr/>
                <p:nvPr/>
              </p:nvSpPr>
              <p:spPr>
                <a:xfrm>
                  <a:off x="3210" y="2435"/>
                  <a:ext cx="192" cy="924"/>
                </a:xfrm>
                <a:custGeom>
                  <a:avLst/>
                  <a:gdLst/>
                  <a:ahLst/>
                  <a:cxnLst>
                    <a:cxn ang="0">
                      <a:pos x="124" y="14"/>
                    </a:cxn>
                    <a:cxn ang="0">
                      <a:pos x="80" y="0"/>
                    </a:cxn>
                    <a:cxn ang="0">
                      <a:pos x="46" y="0"/>
                    </a:cxn>
                    <a:cxn ang="0">
                      <a:pos x="17" y="8"/>
                    </a:cxn>
                    <a:cxn ang="0">
                      <a:pos x="5" y="39"/>
                    </a:cxn>
                    <a:cxn ang="0">
                      <a:pos x="5" y="67"/>
                    </a:cxn>
                    <a:cxn ang="0">
                      <a:pos x="22" y="100"/>
                    </a:cxn>
                    <a:cxn ang="0">
                      <a:pos x="35" y="99"/>
                    </a:cxn>
                    <a:cxn ang="0">
                      <a:pos x="16" y="137"/>
                    </a:cxn>
                    <a:cxn ang="0">
                      <a:pos x="0" y="197"/>
                    </a:cxn>
                    <a:cxn ang="0">
                      <a:pos x="0" y="251"/>
                    </a:cxn>
                    <a:cxn ang="0">
                      <a:pos x="5" y="318"/>
                    </a:cxn>
                    <a:cxn ang="0">
                      <a:pos x="17" y="384"/>
                    </a:cxn>
                    <a:cxn ang="0">
                      <a:pos x="39" y="388"/>
                    </a:cxn>
                    <a:cxn ang="0">
                      <a:pos x="39" y="407"/>
                    </a:cxn>
                    <a:cxn ang="0">
                      <a:pos x="51" y="415"/>
                    </a:cxn>
                    <a:cxn ang="0">
                      <a:pos x="51" y="482"/>
                    </a:cxn>
                    <a:cxn ang="0">
                      <a:pos x="62" y="495"/>
                    </a:cxn>
                    <a:cxn ang="0">
                      <a:pos x="62" y="620"/>
                    </a:cxn>
                    <a:cxn ang="0">
                      <a:pos x="62" y="698"/>
                    </a:cxn>
                    <a:cxn ang="0">
                      <a:pos x="45" y="785"/>
                    </a:cxn>
                    <a:cxn ang="0">
                      <a:pos x="38" y="898"/>
                    </a:cxn>
                    <a:cxn ang="0">
                      <a:pos x="58" y="906"/>
                    </a:cxn>
                    <a:cxn ang="0">
                      <a:pos x="58" y="919"/>
                    </a:cxn>
                    <a:cxn ang="0">
                      <a:pos x="90" y="919"/>
                    </a:cxn>
                    <a:cxn ang="0">
                      <a:pos x="95" y="914"/>
                    </a:cxn>
                    <a:cxn ang="0">
                      <a:pos x="107" y="914"/>
                    </a:cxn>
                    <a:cxn ang="0">
                      <a:pos x="107" y="923"/>
                    </a:cxn>
                    <a:cxn ang="0">
                      <a:pos x="131" y="919"/>
                    </a:cxn>
                    <a:cxn ang="0">
                      <a:pos x="180" y="914"/>
                    </a:cxn>
                    <a:cxn ang="0">
                      <a:pos x="180" y="907"/>
                    </a:cxn>
                    <a:cxn ang="0">
                      <a:pos x="135" y="889"/>
                    </a:cxn>
                    <a:cxn ang="0">
                      <a:pos x="135" y="873"/>
                    </a:cxn>
                    <a:cxn ang="0">
                      <a:pos x="175" y="865"/>
                    </a:cxn>
                    <a:cxn ang="0">
                      <a:pos x="175" y="853"/>
                    </a:cxn>
                    <a:cxn ang="0">
                      <a:pos x="147" y="837"/>
                    </a:cxn>
                    <a:cxn ang="0">
                      <a:pos x="147" y="711"/>
                    </a:cxn>
                    <a:cxn ang="0">
                      <a:pos x="158" y="596"/>
                    </a:cxn>
                    <a:cxn ang="0">
                      <a:pos x="154" y="480"/>
                    </a:cxn>
                    <a:cxn ang="0">
                      <a:pos x="153" y="415"/>
                    </a:cxn>
                    <a:cxn ang="0">
                      <a:pos x="157" y="395"/>
                    </a:cxn>
                    <a:cxn ang="0">
                      <a:pos x="157" y="305"/>
                    </a:cxn>
                    <a:cxn ang="0">
                      <a:pos x="190" y="285"/>
                    </a:cxn>
                    <a:cxn ang="0">
                      <a:pos x="191" y="273"/>
                    </a:cxn>
                    <a:cxn ang="0">
                      <a:pos x="119" y="150"/>
                    </a:cxn>
                    <a:cxn ang="0">
                      <a:pos x="84" y="133"/>
                    </a:cxn>
                    <a:cxn ang="0">
                      <a:pos x="89" y="125"/>
                    </a:cxn>
                    <a:cxn ang="0">
                      <a:pos x="112" y="121"/>
                    </a:cxn>
                    <a:cxn ang="0">
                      <a:pos x="112" y="112"/>
                    </a:cxn>
                    <a:cxn ang="0">
                      <a:pos x="119" y="109"/>
                    </a:cxn>
                    <a:cxn ang="0">
                      <a:pos x="119" y="100"/>
                    </a:cxn>
                    <a:cxn ang="0">
                      <a:pos x="124" y="95"/>
                    </a:cxn>
                    <a:cxn ang="0">
                      <a:pos x="119" y="91"/>
                    </a:cxn>
                    <a:cxn ang="0">
                      <a:pos x="123" y="88"/>
                    </a:cxn>
                    <a:cxn ang="0">
                      <a:pos x="112" y="67"/>
                    </a:cxn>
                    <a:cxn ang="0">
                      <a:pos x="119" y="55"/>
                    </a:cxn>
                    <a:cxn ang="0">
                      <a:pos x="112" y="43"/>
                    </a:cxn>
                    <a:cxn ang="0">
                      <a:pos x="123" y="35"/>
                    </a:cxn>
                    <a:cxn ang="0">
                      <a:pos x="124" y="14"/>
                    </a:cxn>
                  </a:cxnLst>
                  <a:rect l="0" t="0" r="0" b="0"/>
                  <a:pathLst>
                    <a:path w="192" h="924">
                      <a:moveTo>
                        <a:pt x="124" y="14"/>
                      </a:moveTo>
                      <a:lnTo>
                        <a:pt x="80" y="0"/>
                      </a:lnTo>
                      <a:lnTo>
                        <a:pt x="46" y="0"/>
                      </a:lnTo>
                      <a:lnTo>
                        <a:pt x="17" y="8"/>
                      </a:lnTo>
                      <a:lnTo>
                        <a:pt x="5" y="39"/>
                      </a:lnTo>
                      <a:lnTo>
                        <a:pt x="5" y="67"/>
                      </a:lnTo>
                      <a:lnTo>
                        <a:pt x="22" y="100"/>
                      </a:lnTo>
                      <a:lnTo>
                        <a:pt x="35" y="99"/>
                      </a:lnTo>
                      <a:lnTo>
                        <a:pt x="16" y="137"/>
                      </a:lnTo>
                      <a:lnTo>
                        <a:pt x="0" y="197"/>
                      </a:lnTo>
                      <a:lnTo>
                        <a:pt x="0" y="251"/>
                      </a:lnTo>
                      <a:lnTo>
                        <a:pt x="5" y="318"/>
                      </a:lnTo>
                      <a:lnTo>
                        <a:pt x="17" y="384"/>
                      </a:lnTo>
                      <a:lnTo>
                        <a:pt x="39" y="388"/>
                      </a:lnTo>
                      <a:lnTo>
                        <a:pt x="39" y="407"/>
                      </a:lnTo>
                      <a:lnTo>
                        <a:pt x="51" y="415"/>
                      </a:lnTo>
                      <a:lnTo>
                        <a:pt x="51" y="482"/>
                      </a:lnTo>
                      <a:lnTo>
                        <a:pt x="62" y="495"/>
                      </a:lnTo>
                      <a:lnTo>
                        <a:pt x="62" y="620"/>
                      </a:lnTo>
                      <a:lnTo>
                        <a:pt x="62" y="698"/>
                      </a:lnTo>
                      <a:lnTo>
                        <a:pt x="45" y="785"/>
                      </a:lnTo>
                      <a:lnTo>
                        <a:pt x="38" y="898"/>
                      </a:lnTo>
                      <a:lnTo>
                        <a:pt x="58" y="906"/>
                      </a:lnTo>
                      <a:lnTo>
                        <a:pt x="58" y="919"/>
                      </a:lnTo>
                      <a:lnTo>
                        <a:pt x="90" y="919"/>
                      </a:lnTo>
                      <a:lnTo>
                        <a:pt x="95" y="914"/>
                      </a:lnTo>
                      <a:lnTo>
                        <a:pt x="107" y="914"/>
                      </a:lnTo>
                      <a:lnTo>
                        <a:pt x="107" y="923"/>
                      </a:lnTo>
                      <a:lnTo>
                        <a:pt x="131" y="919"/>
                      </a:lnTo>
                      <a:lnTo>
                        <a:pt x="180" y="914"/>
                      </a:lnTo>
                      <a:lnTo>
                        <a:pt x="180" y="907"/>
                      </a:lnTo>
                      <a:lnTo>
                        <a:pt x="135" y="889"/>
                      </a:lnTo>
                      <a:lnTo>
                        <a:pt x="135" y="873"/>
                      </a:lnTo>
                      <a:lnTo>
                        <a:pt x="175" y="865"/>
                      </a:lnTo>
                      <a:lnTo>
                        <a:pt x="175" y="853"/>
                      </a:lnTo>
                      <a:lnTo>
                        <a:pt x="147" y="837"/>
                      </a:lnTo>
                      <a:lnTo>
                        <a:pt x="147" y="711"/>
                      </a:lnTo>
                      <a:lnTo>
                        <a:pt x="158" y="596"/>
                      </a:lnTo>
                      <a:lnTo>
                        <a:pt x="154" y="480"/>
                      </a:lnTo>
                      <a:lnTo>
                        <a:pt x="153" y="415"/>
                      </a:lnTo>
                      <a:lnTo>
                        <a:pt x="157" y="395"/>
                      </a:lnTo>
                      <a:lnTo>
                        <a:pt x="157" y="305"/>
                      </a:lnTo>
                      <a:lnTo>
                        <a:pt x="190" y="285"/>
                      </a:lnTo>
                      <a:lnTo>
                        <a:pt x="191" y="273"/>
                      </a:lnTo>
                      <a:lnTo>
                        <a:pt x="119" y="150"/>
                      </a:lnTo>
                      <a:lnTo>
                        <a:pt x="84" y="133"/>
                      </a:lnTo>
                      <a:lnTo>
                        <a:pt x="89" y="125"/>
                      </a:lnTo>
                      <a:lnTo>
                        <a:pt x="112" y="121"/>
                      </a:lnTo>
                      <a:lnTo>
                        <a:pt x="112" y="112"/>
                      </a:lnTo>
                      <a:lnTo>
                        <a:pt x="119" y="109"/>
                      </a:lnTo>
                      <a:lnTo>
                        <a:pt x="119" y="100"/>
                      </a:lnTo>
                      <a:lnTo>
                        <a:pt x="124" y="95"/>
                      </a:lnTo>
                      <a:lnTo>
                        <a:pt x="119" y="91"/>
                      </a:lnTo>
                      <a:lnTo>
                        <a:pt x="123" y="88"/>
                      </a:lnTo>
                      <a:lnTo>
                        <a:pt x="112" y="67"/>
                      </a:lnTo>
                      <a:lnTo>
                        <a:pt x="119" y="55"/>
                      </a:lnTo>
                      <a:lnTo>
                        <a:pt x="112" y="43"/>
                      </a:lnTo>
                      <a:lnTo>
                        <a:pt x="123" y="35"/>
                      </a:lnTo>
                      <a:lnTo>
                        <a:pt x="124" y="14"/>
                      </a:lnTo>
                    </a:path>
                  </a:pathLst>
                </a:custGeom>
                <a:solidFill>
                  <a:srgbClr val="3F7FFF">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grpSp>
        <p:sp>
          <p:nvSpPr>
            <p:cNvPr id="32" name="Text Box 67"/>
            <p:cNvSpPr txBox="1"/>
            <p:nvPr/>
          </p:nvSpPr>
          <p:spPr bwMode="auto">
            <a:xfrm>
              <a:off x="3136" y="899"/>
              <a:ext cx="510" cy="661"/>
            </a:xfrm>
            <a:prstGeom prst="rect">
              <a:avLst/>
            </a:prstGeom>
            <a:noFill/>
            <a:ln>
              <a:noFill/>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总体</a:t>
              </a:r>
            </a:p>
          </p:txBody>
        </p:sp>
        <p:sp>
          <p:nvSpPr>
            <p:cNvPr id="33" name="Oval 68"/>
            <p:cNvSpPr/>
            <p:nvPr/>
          </p:nvSpPr>
          <p:spPr>
            <a:xfrm>
              <a:off x="2112" y="1200"/>
              <a:ext cx="2448" cy="1488"/>
            </a:xfrm>
            <a:prstGeom prst="ellipse">
              <a:avLst/>
            </a:prstGeom>
            <a:noFill/>
            <a:ln w="19050" cap="flat" cmpd="sng">
              <a:solidFill>
                <a:srgbClr val="FFFFA7"/>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0" algn="l" defTabSz="914400" rtl="0" eaLnBrk="0" fontAlgn="base" latinLnBrk="0" hangingPunct="0">
                <a:lnSpc>
                  <a:spcPct val="100000"/>
                </a:lnSpc>
                <a:spcBef>
                  <a:spcPct val="0"/>
                </a:spcBef>
                <a:spcAft>
                  <a:spcPct val="0"/>
                </a:spcAft>
                <a:buClr>
                  <a:srgbClr val="000000"/>
                </a:buClr>
                <a:buSzPct val="75000"/>
                <a:buFont typeface="Wingdings" charset="2"/>
                <a:buNone/>
                <a:tabLst/>
                <a:defRPr/>
              </a:pPr>
              <a:endParaRPr kumimoji="0" lang="zh-CN" altLang="en-US"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grpSp>
      <p:grpSp>
        <p:nvGrpSpPr>
          <p:cNvPr id="71" name="Group 5"/>
          <p:cNvGrpSpPr/>
          <p:nvPr/>
        </p:nvGrpSpPr>
        <p:grpSpPr>
          <a:xfrm>
            <a:off x="8172662" y="3395137"/>
            <a:ext cx="1690750" cy="1731565"/>
            <a:chOff x="3115" y="2510"/>
            <a:chExt cx="1873" cy="1378"/>
          </a:xfrm>
        </p:grpSpPr>
        <p:grpSp>
          <p:nvGrpSpPr>
            <p:cNvPr id="72" name="Group 6"/>
            <p:cNvGrpSpPr/>
            <p:nvPr/>
          </p:nvGrpSpPr>
          <p:grpSpPr>
            <a:xfrm>
              <a:off x="3789" y="2510"/>
              <a:ext cx="1199" cy="1378"/>
              <a:chOff x="3789" y="2510"/>
              <a:chExt cx="1199" cy="1378"/>
            </a:xfrm>
          </p:grpSpPr>
          <p:sp>
            <p:nvSpPr>
              <p:cNvPr id="74" name="Text Box 7"/>
              <p:cNvSpPr txBox="1"/>
              <p:nvPr/>
            </p:nvSpPr>
            <p:spPr bwMode="auto">
              <a:xfrm>
                <a:off x="4252" y="2510"/>
                <a:ext cx="278" cy="661"/>
              </a:xfrm>
              <a:prstGeom prst="rect">
                <a:avLst/>
              </a:prstGeom>
              <a:noFill/>
              <a:ln>
                <a:noFill/>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rPr>
                  <a:t>样本</a:t>
                </a:r>
              </a:p>
            </p:txBody>
          </p:sp>
          <p:grpSp>
            <p:nvGrpSpPr>
              <p:cNvPr id="75" name="Group 8"/>
              <p:cNvGrpSpPr/>
              <p:nvPr/>
            </p:nvGrpSpPr>
            <p:grpSpPr>
              <a:xfrm>
                <a:off x="3789" y="2976"/>
                <a:ext cx="1199" cy="912"/>
                <a:chOff x="2688" y="1776"/>
                <a:chExt cx="1632" cy="1200"/>
              </a:xfrm>
            </p:grpSpPr>
            <p:grpSp>
              <p:nvGrpSpPr>
                <p:cNvPr id="76" name="Group 9"/>
                <p:cNvGrpSpPr/>
                <p:nvPr/>
              </p:nvGrpSpPr>
              <p:grpSpPr>
                <a:xfrm>
                  <a:off x="2876" y="1923"/>
                  <a:ext cx="1105" cy="969"/>
                  <a:chOff x="2876" y="1923"/>
                  <a:chExt cx="1105" cy="969"/>
                </a:xfrm>
              </p:grpSpPr>
              <p:sp>
                <p:nvSpPr>
                  <p:cNvPr id="78" name="Freeform 10"/>
                  <p:cNvSpPr/>
                  <p:nvPr/>
                </p:nvSpPr>
                <p:spPr>
                  <a:xfrm>
                    <a:off x="2876" y="2006"/>
                    <a:ext cx="46" cy="172"/>
                  </a:xfrm>
                  <a:custGeom>
                    <a:avLst/>
                    <a:gdLst/>
                    <a:ahLst/>
                    <a:cxnLst>
                      <a:cxn ang="0">
                        <a:pos x="27" y="2"/>
                      </a:cxn>
                      <a:cxn ang="0">
                        <a:pos x="37" y="0"/>
                      </a:cxn>
                      <a:cxn ang="0">
                        <a:pos x="41" y="4"/>
                      </a:cxn>
                      <a:cxn ang="0">
                        <a:pos x="42" y="2"/>
                      </a:cxn>
                      <a:cxn ang="0">
                        <a:pos x="44" y="11"/>
                      </a:cxn>
                      <a:cxn ang="0">
                        <a:pos x="39" y="14"/>
                      </a:cxn>
                      <a:cxn ang="0">
                        <a:pos x="39" y="19"/>
                      </a:cxn>
                      <a:cxn ang="0">
                        <a:pos x="38" y="19"/>
                      </a:cxn>
                      <a:cxn ang="0">
                        <a:pos x="37" y="24"/>
                      </a:cxn>
                      <a:cxn ang="0">
                        <a:pos x="33" y="24"/>
                      </a:cxn>
                      <a:cxn ang="0">
                        <a:pos x="33" y="26"/>
                      </a:cxn>
                      <a:cxn ang="0">
                        <a:pos x="39" y="31"/>
                      </a:cxn>
                      <a:cxn ang="0">
                        <a:pos x="44" y="55"/>
                      </a:cxn>
                      <a:cxn ang="0">
                        <a:pos x="41" y="62"/>
                      </a:cxn>
                      <a:cxn ang="0">
                        <a:pos x="41" y="100"/>
                      </a:cxn>
                      <a:cxn ang="0">
                        <a:pos x="36" y="102"/>
                      </a:cxn>
                      <a:cxn ang="0">
                        <a:pos x="35" y="110"/>
                      </a:cxn>
                      <a:cxn ang="0">
                        <a:pos x="33" y="129"/>
                      </a:cxn>
                      <a:cxn ang="0">
                        <a:pos x="33" y="139"/>
                      </a:cxn>
                      <a:cxn ang="0">
                        <a:pos x="41" y="146"/>
                      </a:cxn>
                      <a:cxn ang="0">
                        <a:pos x="45" y="149"/>
                      </a:cxn>
                      <a:cxn ang="0">
                        <a:pos x="45" y="151"/>
                      </a:cxn>
                      <a:cxn ang="0">
                        <a:pos x="34" y="148"/>
                      </a:cxn>
                      <a:cxn ang="0">
                        <a:pos x="33" y="146"/>
                      </a:cxn>
                      <a:cxn ang="0">
                        <a:pos x="31" y="148"/>
                      </a:cxn>
                      <a:cxn ang="0">
                        <a:pos x="31" y="148"/>
                      </a:cxn>
                      <a:cxn ang="0">
                        <a:pos x="29" y="140"/>
                      </a:cxn>
                      <a:cxn ang="0">
                        <a:pos x="27" y="108"/>
                      </a:cxn>
                      <a:cxn ang="0">
                        <a:pos x="25" y="108"/>
                      </a:cxn>
                      <a:cxn ang="0">
                        <a:pos x="19" y="136"/>
                      </a:cxn>
                      <a:cxn ang="0">
                        <a:pos x="19" y="154"/>
                      </a:cxn>
                      <a:cxn ang="0">
                        <a:pos x="16" y="164"/>
                      </a:cxn>
                      <a:cxn ang="0">
                        <a:pos x="14" y="165"/>
                      </a:cxn>
                      <a:cxn ang="0">
                        <a:pos x="12" y="161"/>
                      </a:cxn>
                      <a:cxn ang="0">
                        <a:pos x="14" y="156"/>
                      </a:cxn>
                      <a:cxn ang="0">
                        <a:pos x="16" y="144"/>
                      </a:cxn>
                      <a:cxn ang="0">
                        <a:pos x="17" y="103"/>
                      </a:cxn>
                      <a:cxn ang="0">
                        <a:pos x="19" y="70"/>
                      </a:cxn>
                      <a:cxn ang="0">
                        <a:pos x="15" y="66"/>
                      </a:cxn>
                      <a:cxn ang="0">
                        <a:pos x="15" y="60"/>
                      </a:cxn>
                      <a:cxn ang="0">
                        <a:pos x="15" y="49"/>
                      </a:cxn>
                      <a:cxn ang="0">
                        <a:pos x="10" y="52"/>
                      </a:cxn>
                      <a:cxn ang="0">
                        <a:pos x="14" y="58"/>
                      </a:cxn>
                      <a:cxn ang="0">
                        <a:pos x="14" y="65"/>
                      </a:cxn>
                      <a:cxn ang="0">
                        <a:pos x="10" y="61"/>
                      </a:cxn>
                      <a:cxn ang="0">
                        <a:pos x="8" y="57"/>
                      </a:cxn>
                      <a:cxn ang="0">
                        <a:pos x="4" y="58"/>
                      </a:cxn>
                      <a:cxn ang="0">
                        <a:pos x="0" y="52"/>
                      </a:cxn>
                      <a:cxn ang="0">
                        <a:pos x="0" y="49"/>
                      </a:cxn>
                      <a:cxn ang="0">
                        <a:pos x="3" y="48"/>
                      </a:cxn>
                      <a:cxn ang="0">
                        <a:pos x="8" y="40"/>
                      </a:cxn>
                      <a:cxn ang="0">
                        <a:pos x="14" y="34"/>
                      </a:cxn>
                      <a:cxn ang="0">
                        <a:pos x="22" y="26"/>
                      </a:cxn>
                      <a:cxn ang="0">
                        <a:pos x="27" y="24"/>
                      </a:cxn>
                      <a:cxn ang="0">
                        <a:pos x="27" y="18"/>
                      </a:cxn>
                      <a:cxn ang="0">
                        <a:pos x="25" y="15"/>
                      </a:cxn>
                      <a:cxn ang="0">
                        <a:pos x="25" y="9"/>
                      </a:cxn>
                      <a:cxn ang="0">
                        <a:pos x="24" y="7"/>
                      </a:cxn>
                      <a:cxn ang="0">
                        <a:pos x="27" y="2"/>
                      </a:cxn>
                    </a:cxnLst>
                    <a:rect l="0" t="0" r="0" b="0"/>
                    <a:pathLst>
                      <a:path w="46" h="173">
                        <a:moveTo>
                          <a:pt x="27" y="2"/>
                        </a:moveTo>
                        <a:lnTo>
                          <a:pt x="37" y="0"/>
                        </a:lnTo>
                        <a:lnTo>
                          <a:pt x="41" y="4"/>
                        </a:lnTo>
                        <a:lnTo>
                          <a:pt x="42" y="2"/>
                        </a:lnTo>
                        <a:lnTo>
                          <a:pt x="44" y="11"/>
                        </a:lnTo>
                        <a:lnTo>
                          <a:pt x="39" y="14"/>
                        </a:lnTo>
                        <a:lnTo>
                          <a:pt x="39" y="19"/>
                        </a:lnTo>
                        <a:lnTo>
                          <a:pt x="38" y="19"/>
                        </a:lnTo>
                        <a:lnTo>
                          <a:pt x="37" y="24"/>
                        </a:lnTo>
                        <a:lnTo>
                          <a:pt x="33" y="24"/>
                        </a:lnTo>
                        <a:lnTo>
                          <a:pt x="33" y="26"/>
                        </a:lnTo>
                        <a:lnTo>
                          <a:pt x="39" y="31"/>
                        </a:lnTo>
                        <a:lnTo>
                          <a:pt x="44" y="55"/>
                        </a:lnTo>
                        <a:lnTo>
                          <a:pt x="41" y="62"/>
                        </a:lnTo>
                        <a:lnTo>
                          <a:pt x="41" y="107"/>
                        </a:lnTo>
                        <a:lnTo>
                          <a:pt x="36" y="109"/>
                        </a:lnTo>
                        <a:lnTo>
                          <a:pt x="35" y="117"/>
                        </a:lnTo>
                        <a:lnTo>
                          <a:pt x="33" y="136"/>
                        </a:lnTo>
                        <a:lnTo>
                          <a:pt x="33" y="146"/>
                        </a:lnTo>
                        <a:lnTo>
                          <a:pt x="41" y="153"/>
                        </a:lnTo>
                        <a:lnTo>
                          <a:pt x="45" y="156"/>
                        </a:lnTo>
                        <a:lnTo>
                          <a:pt x="45" y="158"/>
                        </a:lnTo>
                        <a:lnTo>
                          <a:pt x="34" y="155"/>
                        </a:lnTo>
                        <a:lnTo>
                          <a:pt x="33" y="153"/>
                        </a:lnTo>
                        <a:lnTo>
                          <a:pt x="31" y="155"/>
                        </a:lnTo>
                        <a:lnTo>
                          <a:pt x="29" y="147"/>
                        </a:lnTo>
                        <a:lnTo>
                          <a:pt x="27" y="115"/>
                        </a:lnTo>
                        <a:lnTo>
                          <a:pt x="25" y="115"/>
                        </a:lnTo>
                        <a:lnTo>
                          <a:pt x="19" y="143"/>
                        </a:lnTo>
                        <a:lnTo>
                          <a:pt x="19" y="161"/>
                        </a:lnTo>
                        <a:lnTo>
                          <a:pt x="16" y="171"/>
                        </a:lnTo>
                        <a:lnTo>
                          <a:pt x="14" y="172"/>
                        </a:lnTo>
                        <a:lnTo>
                          <a:pt x="12" y="168"/>
                        </a:lnTo>
                        <a:lnTo>
                          <a:pt x="14" y="163"/>
                        </a:lnTo>
                        <a:lnTo>
                          <a:pt x="16" y="151"/>
                        </a:lnTo>
                        <a:lnTo>
                          <a:pt x="17" y="110"/>
                        </a:lnTo>
                        <a:lnTo>
                          <a:pt x="19" y="70"/>
                        </a:lnTo>
                        <a:lnTo>
                          <a:pt x="15" y="66"/>
                        </a:lnTo>
                        <a:lnTo>
                          <a:pt x="15" y="60"/>
                        </a:lnTo>
                        <a:lnTo>
                          <a:pt x="15" y="49"/>
                        </a:lnTo>
                        <a:lnTo>
                          <a:pt x="10" y="52"/>
                        </a:lnTo>
                        <a:lnTo>
                          <a:pt x="14" y="58"/>
                        </a:lnTo>
                        <a:lnTo>
                          <a:pt x="14" y="65"/>
                        </a:lnTo>
                        <a:lnTo>
                          <a:pt x="10" y="61"/>
                        </a:lnTo>
                        <a:lnTo>
                          <a:pt x="8" y="57"/>
                        </a:lnTo>
                        <a:lnTo>
                          <a:pt x="4" y="58"/>
                        </a:lnTo>
                        <a:lnTo>
                          <a:pt x="0" y="52"/>
                        </a:lnTo>
                        <a:lnTo>
                          <a:pt x="0" y="49"/>
                        </a:lnTo>
                        <a:lnTo>
                          <a:pt x="3" y="48"/>
                        </a:lnTo>
                        <a:lnTo>
                          <a:pt x="8" y="40"/>
                        </a:lnTo>
                        <a:lnTo>
                          <a:pt x="14" y="34"/>
                        </a:lnTo>
                        <a:lnTo>
                          <a:pt x="22" y="26"/>
                        </a:lnTo>
                        <a:lnTo>
                          <a:pt x="27" y="24"/>
                        </a:lnTo>
                        <a:lnTo>
                          <a:pt x="27" y="18"/>
                        </a:lnTo>
                        <a:lnTo>
                          <a:pt x="25" y="15"/>
                        </a:lnTo>
                        <a:lnTo>
                          <a:pt x="25" y="9"/>
                        </a:lnTo>
                        <a:lnTo>
                          <a:pt x="24" y="7"/>
                        </a:lnTo>
                        <a:lnTo>
                          <a:pt x="27"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79" name="Freeform 11"/>
                  <p:cNvSpPr/>
                  <p:nvPr/>
                </p:nvSpPr>
                <p:spPr>
                  <a:xfrm>
                    <a:off x="2967" y="1992"/>
                    <a:ext cx="38" cy="212"/>
                  </a:xfrm>
                  <a:custGeom>
                    <a:avLst/>
                    <a:gdLst/>
                    <a:ahLst/>
                    <a:cxnLst>
                      <a:cxn ang="0">
                        <a:pos x="25" y="2"/>
                      </a:cxn>
                      <a:cxn ang="0">
                        <a:pos x="16" y="0"/>
                      </a:cxn>
                      <a:cxn ang="0">
                        <a:pos x="8" y="0"/>
                      </a:cxn>
                      <a:cxn ang="0">
                        <a:pos x="2" y="1"/>
                      </a:cxn>
                      <a:cxn ang="0">
                        <a:pos x="1" y="9"/>
                      </a:cxn>
                      <a:cxn ang="0">
                        <a:pos x="1" y="15"/>
                      </a:cxn>
                      <a:cxn ang="0">
                        <a:pos x="4" y="22"/>
                      </a:cxn>
                      <a:cxn ang="0">
                        <a:pos x="7" y="22"/>
                      </a:cxn>
                      <a:cxn ang="0">
                        <a:pos x="2" y="31"/>
                      </a:cxn>
                      <a:cxn ang="0">
                        <a:pos x="0" y="44"/>
                      </a:cxn>
                      <a:cxn ang="0">
                        <a:pos x="0" y="57"/>
                      </a:cxn>
                      <a:cxn ang="0">
                        <a:pos x="1" y="72"/>
                      </a:cxn>
                      <a:cxn ang="0">
                        <a:pos x="2" y="88"/>
                      </a:cxn>
                      <a:cxn ang="0">
                        <a:pos x="7" y="88"/>
                      </a:cxn>
                      <a:cxn ang="0">
                        <a:pos x="7" y="92"/>
                      </a:cxn>
                      <a:cxn ang="0">
                        <a:pos x="10" y="94"/>
                      </a:cxn>
                      <a:cxn ang="0">
                        <a:pos x="10" y="110"/>
                      </a:cxn>
                      <a:cxn ang="0">
                        <a:pos x="12" y="114"/>
                      </a:cxn>
                      <a:cxn ang="0">
                        <a:pos x="12" y="142"/>
                      </a:cxn>
                      <a:cxn ang="0">
                        <a:pos x="12" y="160"/>
                      </a:cxn>
                      <a:cxn ang="0">
                        <a:pos x="8" y="180"/>
                      </a:cxn>
                      <a:cxn ang="0">
                        <a:pos x="7" y="206"/>
                      </a:cxn>
                      <a:cxn ang="0">
                        <a:pos x="11" y="208"/>
                      </a:cxn>
                      <a:cxn ang="0">
                        <a:pos x="11" y="211"/>
                      </a:cxn>
                      <a:cxn ang="0">
                        <a:pos x="17" y="211"/>
                      </a:cxn>
                      <a:cxn ang="0">
                        <a:pos x="18" y="210"/>
                      </a:cxn>
                      <a:cxn ang="0">
                        <a:pos x="21" y="210"/>
                      </a:cxn>
                      <a:cxn ang="0">
                        <a:pos x="21" y="211"/>
                      </a:cxn>
                      <a:cxn ang="0">
                        <a:pos x="25" y="211"/>
                      </a:cxn>
                      <a:cxn ang="0">
                        <a:pos x="35" y="210"/>
                      </a:cxn>
                      <a:cxn ang="0">
                        <a:pos x="35" y="208"/>
                      </a:cxn>
                      <a:cxn ang="0">
                        <a:pos x="27" y="204"/>
                      </a:cxn>
                      <a:cxn ang="0">
                        <a:pos x="27" y="200"/>
                      </a:cxn>
                      <a:cxn ang="0">
                        <a:pos x="35" y="198"/>
                      </a:cxn>
                      <a:cxn ang="0">
                        <a:pos x="35" y="196"/>
                      </a:cxn>
                      <a:cxn ang="0">
                        <a:pos x="29" y="192"/>
                      </a:cxn>
                      <a:cxn ang="0">
                        <a:pos x="29" y="163"/>
                      </a:cxn>
                      <a:cxn ang="0">
                        <a:pos x="30" y="137"/>
                      </a:cxn>
                      <a:cxn ang="0">
                        <a:pos x="30" y="110"/>
                      </a:cxn>
                      <a:cxn ang="0">
                        <a:pos x="30" y="94"/>
                      </a:cxn>
                      <a:cxn ang="0">
                        <a:pos x="30" y="91"/>
                      </a:cxn>
                      <a:cxn ang="0">
                        <a:pos x="30" y="69"/>
                      </a:cxn>
                      <a:cxn ang="0">
                        <a:pos x="37" y="65"/>
                      </a:cxn>
                      <a:cxn ang="0">
                        <a:pos x="37" y="62"/>
                      </a:cxn>
                      <a:cxn ang="0">
                        <a:pos x="23" y="34"/>
                      </a:cxn>
                      <a:cxn ang="0">
                        <a:pos x="16" y="30"/>
                      </a:cxn>
                      <a:cxn ang="0">
                        <a:pos x="17" y="28"/>
                      </a:cxn>
                      <a:cxn ang="0">
                        <a:pos x="22" y="26"/>
                      </a:cxn>
                      <a:cxn ang="0">
                        <a:pos x="22" y="25"/>
                      </a:cxn>
                      <a:cxn ang="0">
                        <a:pos x="23" y="24"/>
                      </a:cxn>
                      <a:cxn ang="0">
                        <a:pos x="23" y="22"/>
                      </a:cxn>
                      <a:cxn ang="0">
                        <a:pos x="25" y="21"/>
                      </a:cxn>
                      <a:cxn ang="0">
                        <a:pos x="23" y="20"/>
                      </a:cxn>
                      <a:cxn ang="0">
                        <a:pos x="24" y="19"/>
                      </a:cxn>
                      <a:cxn ang="0">
                        <a:pos x="22" y="15"/>
                      </a:cxn>
                      <a:cxn ang="0">
                        <a:pos x="23" y="12"/>
                      </a:cxn>
                      <a:cxn ang="0">
                        <a:pos x="22" y="9"/>
                      </a:cxn>
                      <a:cxn ang="0">
                        <a:pos x="24" y="7"/>
                      </a:cxn>
                      <a:cxn ang="0">
                        <a:pos x="25" y="2"/>
                      </a:cxn>
                    </a:cxnLst>
                    <a:rect l="0" t="0" r="0" b="0"/>
                    <a:pathLst>
                      <a:path w="38" h="212">
                        <a:moveTo>
                          <a:pt x="25" y="2"/>
                        </a:moveTo>
                        <a:lnTo>
                          <a:pt x="16" y="0"/>
                        </a:lnTo>
                        <a:lnTo>
                          <a:pt x="8" y="0"/>
                        </a:lnTo>
                        <a:lnTo>
                          <a:pt x="2" y="1"/>
                        </a:lnTo>
                        <a:lnTo>
                          <a:pt x="1" y="9"/>
                        </a:lnTo>
                        <a:lnTo>
                          <a:pt x="1" y="15"/>
                        </a:lnTo>
                        <a:lnTo>
                          <a:pt x="4" y="22"/>
                        </a:lnTo>
                        <a:lnTo>
                          <a:pt x="7" y="22"/>
                        </a:lnTo>
                        <a:lnTo>
                          <a:pt x="2" y="31"/>
                        </a:lnTo>
                        <a:lnTo>
                          <a:pt x="0" y="44"/>
                        </a:lnTo>
                        <a:lnTo>
                          <a:pt x="0" y="57"/>
                        </a:lnTo>
                        <a:lnTo>
                          <a:pt x="1" y="72"/>
                        </a:lnTo>
                        <a:lnTo>
                          <a:pt x="2" y="88"/>
                        </a:lnTo>
                        <a:lnTo>
                          <a:pt x="7" y="88"/>
                        </a:lnTo>
                        <a:lnTo>
                          <a:pt x="7" y="92"/>
                        </a:lnTo>
                        <a:lnTo>
                          <a:pt x="10" y="94"/>
                        </a:lnTo>
                        <a:lnTo>
                          <a:pt x="10" y="110"/>
                        </a:lnTo>
                        <a:lnTo>
                          <a:pt x="12" y="114"/>
                        </a:lnTo>
                        <a:lnTo>
                          <a:pt x="12" y="142"/>
                        </a:lnTo>
                        <a:lnTo>
                          <a:pt x="12" y="160"/>
                        </a:lnTo>
                        <a:lnTo>
                          <a:pt x="8" y="180"/>
                        </a:lnTo>
                        <a:lnTo>
                          <a:pt x="7" y="206"/>
                        </a:lnTo>
                        <a:lnTo>
                          <a:pt x="11" y="208"/>
                        </a:lnTo>
                        <a:lnTo>
                          <a:pt x="11" y="211"/>
                        </a:lnTo>
                        <a:lnTo>
                          <a:pt x="17" y="211"/>
                        </a:lnTo>
                        <a:lnTo>
                          <a:pt x="18" y="210"/>
                        </a:lnTo>
                        <a:lnTo>
                          <a:pt x="21" y="210"/>
                        </a:lnTo>
                        <a:lnTo>
                          <a:pt x="21" y="211"/>
                        </a:lnTo>
                        <a:lnTo>
                          <a:pt x="25" y="211"/>
                        </a:lnTo>
                        <a:lnTo>
                          <a:pt x="35" y="210"/>
                        </a:lnTo>
                        <a:lnTo>
                          <a:pt x="35" y="208"/>
                        </a:lnTo>
                        <a:lnTo>
                          <a:pt x="27" y="204"/>
                        </a:lnTo>
                        <a:lnTo>
                          <a:pt x="27" y="200"/>
                        </a:lnTo>
                        <a:lnTo>
                          <a:pt x="35" y="198"/>
                        </a:lnTo>
                        <a:lnTo>
                          <a:pt x="35" y="196"/>
                        </a:lnTo>
                        <a:lnTo>
                          <a:pt x="29" y="192"/>
                        </a:lnTo>
                        <a:lnTo>
                          <a:pt x="29" y="163"/>
                        </a:lnTo>
                        <a:lnTo>
                          <a:pt x="30" y="137"/>
                        </a:lnTo>
                        <a:lnTo>
                          <a:pt x="30" y="110"/>
                        </a:lnTo>
                        <a:lnTo>
                          <a:pt x="30" y="94"/>
                        </a:lnTo>
                        <a:lnTo>
                          <a:pt x="30" y="91"/>
                        </a:lnTo>
                        <a:lnTo>
                          <a:pt x="30" y="69"/>
                        </a:lnTo>
                        <a:lnTo>
                          <a:pt x="37" y="65"/>
                        </a:lnTo>
                        <a:lnTo>
                          <a:pt x="37" y="62"/>
                        </a:lnTo>
                        <a:lnTo>
                          <a:pt x="23" y="34"/>
                        </a:lnTo>
                        <a:lnTo>
                          <a:pt x="16" y="30"/>
                        </a:lnTo>
                        <a:lnTo>
                          <a:pt x="17" y="28"/>
                        </a:lnTo>
                        <a:lnTo>
                          <a:pt x="22" y="26"/>
                        </a:lnTo>
                        <a:lnTo>
                          <a:pt x="22" y="25"/>
                        </a:lnTo>
                        <a:lnTo>
                          <a:pt x="23" y="24"/>
                        </a:lnTo>
                        <a:lnTo>
                          <a:pt x="23" y="22"/>
                        </a:lnTo>
                        <a:lnTo>
                          <a:pt x="25" y="21"/>
                        </a:lnTo>
                        <a:lnTo>
                          <a:pt x="23" y="20"/>
                        </a:lnTo>
                        <a:lnTo>
                          <a:pt x="24" y="19"/>
                        </a:lnTo>
                        <a:lnTo>
                          <a:pt x="22" y="15"/>
                        </a:lnTo>
                        <a:lnTo>
                          <a:pt x="23" y="12"/>
                        </a:lnTo>
                        <a:lnTo>
                          <a:pt x="22" y="9"/>
                        </a:lnTo>
                        <a:lnTo>
                          <a:pt x="24" y="7"/>
                        </a:lnTo>
                        <a:lnTo>
                          <a:pt x="25"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nvGrpSpPr>
                  <p:cNvPr id="80" name="Group 12"/>
                  <p:cNvGrpSpPr/>
                  <p:nvPr/>
                </p:nvGrpSpPr>
                <p:grpSpPr>
                  <a:xfrm>
                    <a:off x="3758" y="1962"/>
                    <a:ext cx="124" cy="275"/>
                    <a:chOff x="3758" y="1962"/>
                    <a:chExt cx="124" cy="275"/>
                  </a:xfrm>
                </p:grpSpPr>
                <p:sp>
                  <p:nvSpPr>
                    <p:cNvPr id="92" name="Freeform 13"/>
                    <p:cNvSpPr/>
                    <p:nvPr/>
                  </p:nvSpPr>
                  <p:spPr>
                    <a:xfrm>
                      <a:off x="3804" y="1963"/>
                      <a:ext cx="78" cy="274"/>
                    </a:xfrm>
                    <a:custGeom>
                      <a:avLst/>
                      <a:gdLst/>
                      <a:ahLst/>
                      <a:cxnLst>
                        <a:cxn ang="0">
                          <a:pos x="30" y="3"/>
                        </a:cxn>
                        <a:cxn ang="0">
                          <a:pos x="14" y="0"/>
                        </a:cxn>
                        <a:cxn ang="0">
                          <a:pos x="9" y="7"/>
                        </a:cxn>
                        <a:cxn ang="0">
                          <a:pos x="6" y="4"/>
                        </a:cxn>
                        <a:cxn ang="0">
                          <a:pos x="2" y="16"/>
                        </a:cxn>
                        <a:cxn ang="0">
                          <a:pos x="10" y="24"/>
                        </a:cxn>
                        <a:cxn ang="0">
                          <a:pos x="11" y="30"/>
                        </a:cxn>
                        <a:cxn ang="0">
                          <a:pos x="13" y="31"/>
                        </a:cxn>
                        <a:cxn ang="0">
                          <a:pos x="14" y="37"/>
                        </a:cxn>
                        <a:cxn ang="0">
                          <a:pos x="21" y="38"/>
                        </a:cxn>
                        <a:cxn ang="0">
                          <a:pos x="21" y="40"/>
                        </a:cxn>
                        <a:cxn ang="0">
                          <a:pos x="10" y="49"/>
                        </a:cxn>
                        <a:cxn ang="0">
                          <a:pos x="2" y="88"/>
                        </a:cxn>
                        <a:cxn ang="0">
                          <a:pos x="9" y="98"/>
                        </a:cxn>
                        <a:cxn ang="0">
                          <a:pos x="9" y="164"/>
                        </a:cxn>
                        <a:cxn ang="0">
                          <a:pos x="16" y="166"/>
                        </a:cxn>
                        <a:cxn ang="0">
                          <a:pos x="18" y="178"/>
                        </a:cxn>
                        <a:cxn ang="0">
                          <a:pos x="22" y="209"/>
                        </a:cxn>
                        <a:cxn ang="0">
                          <a:pos x="22" y="225"/>
                        </a:cxn>
                        <a:cxn ang="0">
                          <a:pos x="9" y="235"/>
                        </a:cxn>
                        <a:cxn ang="0">
                          <a:pos x="0" y="240"/>
                        </a:cxn>
                        <a:cxn ang="0">
                          <a:pos x="0" y="244"/>
                        </a:cxn>
                        <a:cxn ang="0">
                          <a:pos x="19" y="239"/>
                        </a:cxn>
                        <a:cxn ang="0">
                          <a:pos x="22" y="235"/>
                        </a:cxn>
                        <a:cxn ang="0">
                          <a:pos x="24" y="239"/>
                        </a:cxn>
                        <a:cxn ang="0">
                          <a:pos x="25" y="239"/>
                        </a:cxn>
                        <a:cxn ang="0">
                          <a:pos x="28" y="227"/>
                        </a:cxn>
                        <a:cxn ang="0">
                          <a:pos x="30" y="175"/>
                        </a:cxn>
                        <a:cxn ang="0">
                          <a:pos x="33" y="175"/>
                        </a:cxn>
                        <a:cxn ang="0">
                          <a:pos x="51" y="221"/>
                        </a:cxn>
                        <a:cxn ang="0">
                          <a:pos x="51" y="250"/>
                        </a:cxn>
                        <a:cxn ang="0">
                          <a:pos x="56" y="264"/>
                        </a:cxn>
                        <a:cxn ang="0">
                          <a:pos x="60" y="267"/>
                        </a:cxn>
                        <a:cxn ang="0">
                          <a:pos x="62" y="259"/>
                        </a:cxn>
                        <a:cxn ang="0">
                          <a:pos x="59" y="251"/>
                        </a:cxn>
                        <a:cxn ang="0">
                          <a:pos x="56" y="233"/>
                        </a:cxn>
                        <a:cxn ang="0">
                          <a:pos x="55" y="168"/>
                        </a:cxn>
                        <a:cxn ang="0">
                          <a:pos x="52" y="110"/>
                        </a:cxn>
                        <a:cxn ang="0">
                          <a:pos x="59" y="105"/>
                        </a:cxn>
                        <a:cxn ang="0">
                          <a:pos x="59" y="95"/>
                        </a:cxn>
                        <a:cxn ang="0">
                          <a:pos x="59" y="78"/>
                        </a:cxn>
                        <a:cxn ang="0">
                          <a:pos x="67" y="83"/>
                        </a:cxn>
                        <a:cxn ang="0">
                          <a:pos x="59" y="93"/>
                        </a:cxn>
                        <a:cxn ang="0">
                          <a:pos x="59" y="103"/>
                        </a:cxn>
                        <a:cxn ang="0">
                          <a:pos x="67" y="97"/>
                        </a:cxn>
                        <a:cxn ang="0">
                          <a:pos x="71" y="90"/>
                        </a:cxn>
                        <a:cxn ang="0">
                          <a:pos x="75" y="92"/>
                        </a:cxn>
                        <a:cxn ang="0">
                          <a:pos x="83" y="81"/>
                        </a:cxn>
                        <a:cxn ang="0">
                          <a:pos x="83" y="78"/>
                        </a:cxn>
                        <a:cxn ang="0">
                          <a:pos x="79" y="76"/>
                        </a:cxn>
                        <a:cxn ang="0">
                          <a:pos x="69" y="64"/>
                        </a:cxn>
                        <a:cxn ang="0">
                          <a:pos x="59" y="53"/>
                        </a:cxn>
                        <a:cxn ang="0">
                          <a:pos x="46" y="41"/>
                        </a:cxn>
                        <a:cxn ang="0">
                          <a:pos x="30" y="37"/>
                        </a:cxn>
                        <a:cxn ang="0">
                          <a:pos x="30" y="29"/>
                        </a:cxn>
                        <a:cxn ang="0">
                          <a:pos x="33" y="24"/>
                        </a:cxn>
                        <a:cxn ang="0">
                          <a:pos x="33" y="14"/>
                        </a:cxn>
                        <a:cxn ang="0">
                          <a:pos x="36" y="11"/>
                        </a:cxn>
                        <a:cxn ang="0">
                          <a:pos x="30" y="3"/>
                        </a:cxn>
                      </a:cxnLst>
                      <a:rect l="0" t="0" r="0" b="0"/>
                      <a:pathLst>
                        <a:path w="77" h="275">
                          <a:moveTo>
                            <a:pt x="30" y="3"/>
                          </a:moveTo>
                          <a:lnTo>
                            <a:pt x="14" y="0"/>
                          </a:lnTo>
                          <a:lnTo>
                            <a:pt x="9" y="7"/>
                          </a:lnTo>
                          <a:lnTo>
                            <a:pt x="6" y="4"/>
                          </a:lnTo>
                          <a:lnTo>
                            <a:pt x="2" y="16"/>
                          </a:lnTo>
                          <a:lnTo>
                            <a:pt x="10" y="24"/>
                          </a:lnTo>
                          <a:lnTo>
                            <a:pt x="11" y="30"/>
                          </a:lnTo>
                          <a:lnTo>
                            <a:pt x="13" y="31"/>
                          </a:lnTo>
                          <a:lnTo>
                            <a:pt x="14" y="37"/>
                          </a:lnTo>
                          <a:lnTo>
                            <a:pt x="21" y="38"/>
                          </a:lnTo>
                          <a:lnTo>
                            <a:pt x="21" y="40"/>
                          </a:lnTo>
                          <a:lnTo>
                            <a:pt x="10" y="49"/>
                          </a:lnTo>
                          <a:lnTo>
                            <a:pt x="2" y="88"/>
                          </a:lnTo>
                          <a:lnTo>
                            <a:pt x="9" y="98"/>
                          </a:lnTo>
                          <a:lnTo>
                            <a:pt x="9" y="171"/>
                          </a:lnTo>
                          <a:lnTo>
                            <a:pt x="16" y="173"/>
                          </a:lnTo>
                          <a:lnTo>
                            <a:pt x="18" y="185"/>
                          </a:lnTo>
                          <a:lnTo>
                            <a:pt x="22" y="216"/>
                          </a:lnTo>
                          <a:lnTo>
                            <a:pt x="22" y="232"/>
                          </a:lnTo>
                          <a:lnTo>
                            <a:pt x="9" y="242"/>
                          </a:lnTo>
                          <a:lnTo>
                            <a:pt x="0" y="247"/>
                          </a:lnTo>
                          <a:lnTo>
                            <a:pt x="0" y="251"/>
                          </a:lnTo>
                          <a:lnTo>
                            <a:pt x="19" y="246"/>
                          </a:lnTo>
                          <a:lnTo>
                            <a:pt x="22" y="242"/>
                          </a:lnTo>
                          <a:lnTo>
                            <a:pt x="24" y="246"/>
                          </a:lnTo>
                          <a:lnTo>
                            <a:pt x="25" y="246"/>
                          </a:lnTo>
                          <a:lnTo>
                            <a:pt x="28" y="234"/>
                          </a:lnTo>
                          <a:lnTo>
                            <a:pt x="30" y="182"/>
                          </a:lnTo>
                          <a:lnTo>
                            <a:pt x="33" y="182"/>
                          </a:lnTo>
                          <a:lnTo>
                            <a:pt x="44" y="228"/>
                          </a:lnTo>
                          <a:lnTo>
                            <a:pt x="44" y="257"/>
                          </a:lnTo>
                          <a:lnTo>
                            <a:pt x="49" y="271"/>
                          </a:lnTo>
                          <a:lnTo>
                            <a:pt x="53" y="274"/>
                          </a:lnTo>
                          <a:lnTo>
                            <a:pt x="55" y="266"/>
                          </a:lnTo>
                          <a:lnTo>
                            <a:pt x="52" y="258"/>
                          </a:lnTo>
                          <a:lnTo>
                            <a:pt x="49" y="240"/>
                          </a:lnTo>
                          <a:lnTo>
                            <a:pt x="48" y="175"/>
                          </a:lnTo>
                          <a:lnTo>
                            <a:pt x="45" y="110"/>
                          </a:lnTo>
                          <a:lnTo>
                            <a:pt x="52" y="105"/>
                          </a:lnTo>
                          <a:lnTo>
                            <a:pt x="52" y="95"/>
                          </a:lnTo>
                          <a:lnTo>
                            <a:pt x="52" y="78"/>
                          </a:lnTo>
                          <a:lnTo>
                            <a:pt x="60" y="83"/>
                          </a:lnTo>
                          <a:lnTo>
                            <a:pt x="52" y="93"/>
                          </a:lnTo>
                          <a:lnTo>
                            <a:pt x="52" y="103"/>
                          </a:lnTo>
                          <a:lnTo>
                            <a:pt x="60" y="97"/>
                          </a:lnTo>
                          <a:lnTo>
                            <a:pt x="64" y="90"/>
                          </a:lnTo>
                          <a:lnTo>
                            <a:pt x="68" y="92"/>
                          </a:lnTo>
                          <a:lnTo>
                            <a:pt x="76" y="81"/>
                          </a:lnTo>
                          <a:lnTo>
                            <a:pt x="76" y="78"/>
                          </a:lnTo>
                          <a:lnTo>
                            <a:pt x="72" y="76"/>
                          </a:lnTo>
                          <a:lnTo>
                            <a:pt x="62" y="64"/>
                          </a:lnTo>
                          <a:lnTo>
                            <a:pt x="52" y="53"/>
                          </a:lnTo>
                          <a:lnTo>
                            <a:pt x="39" y="41"/>
                          </a:lnTo>
                          <a:lnTo>
                            <a:pt x="30" y="37"/>
                          </a:lnTo>
                          <a:lnTo>
                            <a:pt x="30" y="29"/>
                          </a:lnTo>
                          <a:lnTo>
                            <a:pt x="33" y="24"/>
                          </a:lnTo>
                          <a:lnTo>
                            <a:pt x="33" y="14"/>
                          </a:lnTo>
                          <a:lnTo>
                            <a:pt x="36" y="11"/>
                          </a:lnTo>
                          <a:lnTo>
                            <a:pt x="30" y="3"/>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93" name="Freeform 14"/>
                    <p:cNvSpPr/>
                    <p:nvPr/>
                  </p:nvSpPr>
                  <p:spPr>
                    <a:xfrm>
                      <a:off x="3758" y="1964"/>
                      <a:ext cx="54" cy="262"/>
                    </a:xfrm>
                    <a:custGeom>
                      <a:avLst/>
                      <a:gdLst/>
                      <a:ahLst/>
                      <a:cxnLst>
                        <a:cxn ang="0">
                          <a:pos x="41" y="5"/>
                        </a:cxn>
                        <a:cxn ang="0">
                          <a:pos x="41" y="12"/>
                        </a:cxn>
                        <a:cxn ang="0">
                          <a:pos x="40" y="14"/>
                        </a:cxn>
                        <a:cxn ang="0">
                          <a:pos x="43" y="19"/>
                        </a:cxn>
                        <a:cxn ang="0">
                          <a:pos x="41" y="20"/>
                        </a:cxn>
                        <a:cxn ang="0">
                          <a:pos x="41" y="22"/>
                        </a:cxn>
                        <a:cxn ang="0">
                          <a:pos x="40" y="30"/>
                        </a:cxn>
                        <a:cxn ang="0">
                          <a:pos x="49" y="38"/>
                        </a:cxn>
                        <a:cxn ang="0">
                          <a:pos x="53" y="85"/>
                        </a:cxn>
                        <a:cxn ang="0">
                          <a:pos x="48" y="95"/>
                        </a:cxn>
                        <a:cxn ang="0">
                          <a:pos x="50" y="124"/>
                        </a:cxn>
                        <a:cxn ang="0">
                          <a:pos x="47" y="128"/>
                        </a:cxn>
                        <a:cxn ang="0">
                          <a:pos x="44" y="174"/>
                        </a:cxn>
                        <a:cxn ang="0">
                          <a:pos x="42" y="214"/>
                        </a:cxn>
                        <a:cxn ang="0">
                          <a:pos x="43" y="216"/>
                        </a:cxn>
                        <a:cxn ang="0">
                          <a:pos x="53" y="225"/>
                        </a:cxn>
                        <a:cxn ang="0">
                          <a:pos x="51" y="227"/>
                        </a:cxn>
                        <a:cxn ang="0">
                          <a:pos x="48" y="228"/>
                        </a:cxn>
                        <a:cxn ang="0">
                          <a:pos x="43" y="227"/>
                        </a:cxn>
                        <a:cxn ang="0">
                          <a:pos x="36" y="223"/>
                        </a:cxn>
                        <a:cxn ang="0">
                          <a:pos x="32" y="221"/>
                        </a:cxn>
                        <a:cxn ang="0">
                          <a:pos x="32" y="230"/>
                        </a:cxn>
                        <a:cxn ang="0">
                          <a:pos x="30" y="230"/>
                        </a:cxn>
                        <a:cxn ang="0">
                          <a:pos x="34" y="236"/>
                        </a:cxn>
                        <a:cxn ang="0">
                          <a:pos x="32" y="247"/>
                        </a:cxn>
                        <a:cxn ang="0">
                          <a:pos x="29" y="249"/>
                        </a:cxn>
                        <a:cxn ang="0">
                          <a:pos x="23" y="240"/>
                        </a:cxn>
                        <a:cxn ang="0">
                          <a:pos x="23" y="233"/>
                        </a:cxn>
                        <a:cxn ang="0">
                          <a:pos x="21" y="232"/>
                        </a:cxn>
                        <a:cxn ang="0">
                          <a:pos x="19" y="179"/>
                        </a:cxn>
                        <a:cxn ang="0">
                          <a:pos x="21" y="174"/>
                        </a:cxn>
                        <a:cxn ang="0">
                          <a:pos x="15" y="133"/>
                        </a:cxn>
                        <a:cxn ang="0">
                          <a:pos x="10" y="132"/>
                        </a:cxn>
                        <a:cxn ang="0">
                          <a:pos x="10" y="90"/>
                        </a:cxn>
                        <a:cxn ang="0">
                          <a:pos x="0" y="85"/>
                        </a:cxn>
                        <a:cxn ang="0">
                          <a:pos x="3" y="47"/>
                        </a:cxn>
                        <a:cxn ang="0">
                          <a:pos x="19" y="35"/>
                        </a:cxn>
                        <a:cxn ang="0">
                          <a:pos x="23" y="30"/>
                        </a:cxn>
                        <a:cxn ang="0">
                          <a:pos x="23" y="26"/>
                        </a:cxn>
                        <a:cxn ang="0">
                          <a:pos x="22" y="23"/>
                        </a:cxn>
                        <a:cxn ang="0">
                          <a:pos x="20" y="21"/>
                        </a:cxn>
                        <a:cxn ang="0">
                          <a:pos x="18" y="17"/>
                        </a:cxn>
                        <a:cxn ang="0">
                          <a:pos x="17" y="15"/>
                        </a:cxn>
                        <a:cxn ang="0">
                          <a:pos x="17" y="12"/>
                        </a:cxn>
                        <a:cxn ang="0">
                          <a:pos x="18" y="8"/>
                        </a:cxn>
                        <a:cxn ang="0">
                          <a:pos x="21" y="4"/>
                        </a:cxn>
                        <a:cxn ang="0">
                          <a:pos x="23" y="1"/>
                        </a:cxn>
                        <a:cxn ang="0">
                          <a:pos x="27" y="0"/>
                        </a:cxn>
                        <a:cxn ang="0">
                          <a:pos x="30" y="0"/>
                        </a:cxn>
                        <a:cxn ang="0">
                          <a:pos x="34" y="0"/>
                        </a:cxn>
                        <a:cxn ang="0">
                          <a:pos x="36" y="1"/>
                        </a:cxn>
                        <a:cxn ang="0">
                          <a:pos x="41" y="5"/>
                        </a:cxn>
                      </a:cxnLst>
                      <a:rect l="0" t="0" r="0" b="0"/>
                      <a:pathLst>
                        <a:path w="54" h="264">
                          <a:moveTo>
                            <a:pt x="41" y="5"/>
                          </a:moveTo>
                          <a:lnTo>
                            <a:pt x="41" y="12"/>
                          </a:lnTo>
                          <a:lnTo>
                            <a:pt x="40" y="14"/>
                          </a:lnTo>
                          <a:lnTo>
                            <a:pt x="43" y="19"/>
                          </a:lnTo>
                          <a:lnTo>
                            <a:pt x="41" y="20"/>
                          </a:lnTo>
                          <a:lnTo>
                            <a:pt x="41" y="22"/>
                          </a:lnTo>
                          <a:lnTo>
                            <a:pt x="40" y="30"/>
                          </a:lnTo>
                          <a:lnTo>
                            <a:pt x="49" y="38"/>
                          </a:lnTo>
                          <a:lnTo>
                            <a:pt x="53" y="92"/>
                          </a:lnTo>
                          <a:lnTo>
                            <a:pt x="48" y="102"/>
                          </a:lnTo>
                          <a:lnTo>
                            <a:pt x="50" y="131"/>
                          </a:lnTo>
                          <a:lnTo>
                            <a:pt x="47" y="135"/>
                          </a:lnTo>
                          <a:lnTo>
                            <a:pt x="44" y="181"/>
                          </a:lnTo>
                          <a:lnTo>
                            <a:pt x="42" y="228"/>
                          </a:lnTo>
                          <a:lnTo>
                            <a:pt x="43" y="230"/>
                          </a:lnTo>
                          <a:lnTo>
                            <a:pt x="53" y="239"/>
                          </a:lnTo>
                          <a:lnTo>
                            <a:pt x="51" y="241"/>
                          </a:lnTo>
                          <a:lnTo>
                            <a:pt x="48" y="242"/>
                          </a:lnTo>
                          <a:lnTo>
                            <a:pt x="43" y="241"/>
                          </a:lnTo>
                          <a:lnTo>
                            <a:pt x="36" y="237"/>
                          </a:lnTo>
                          <a:lnTo>
                            <a:pt x="32" y="235"/>
                          </a:lnTo>
                          <a:lnTo>
                            <a:pt x="32" y="244"/>
                          </a:lnTo>
                          <a:lnTo>
                            <a:pt x="30" y="244"/>
                          </a:lnTo>
                          <a:lnTo>
                            <a:pt x="34" y="250"/>
                          </a:lnTo>
                          <a:lnTo>
                            <a:pt x="32" y="261"/>
                          </a:lnTo>
                          <a:lnTo>
                            <a:pt x="29" y="263"/>
                          </a:lnTo>
                          <a:lnTo>
                            <a:pt x="23" y="254"/>
                          </a:lnTo>
                          <a:lnTo>
                            <a:pt x="23" y="247"/>
                          </a:lnTo>
                          <a:lnTo>
                            <a:pt x="21" y="246"/>
                          </a:lnTo>
                          <a:lnTo>
                            <a:pt x="19" y="186"/>
                          </a:lnTo>
                          <a:lnTo>
                            <a:pt x="21" y="181"/>
                          </a:lnTo>
                          <a:lnTo>
                            <a:pt x="15" y="140"/>
                          </a:lnTo>
                          <a:lnTo>
                            <a:pt x="10" y="139"/>
                          </a:lnTo>
                          <a:lnTo>
                            <a:pt x="10" y="97"/>
                          </a:lnTo>
                          <a:lnTo>
                            <a:pt x="0" y="92"/>
                          </a:lnTo>
                          <a:lnTo>
                            <a:pt x="3" y="47"/>
                          </a:lnTo>
                          <a:lnTo>
                            <a:pt x="19" y="35"/>
                          </a:lnTo>
                          <a:lnTo>
                            <a:pt x="23" y="30"/>
                          </a:lnTo>
                          <a:lnTo>
                            <a:pt x="23" y="26"/>
                          </a:lnTo>
                          <a:lnTo>
                            <a:pt x="22" y="23"/>
                          </a:lnTo>
                          <a:lnTo>
                            <a:pt x="20" y="21"/>
                          </a:lnTo>
                          <a:lnTo>
                            <a:pt x="18" y="17"/>
                          </a:lnTo>
                          <a:lnTo>
                            <a:pt x="17" y="15"/>
                          </a:lnTo>
                          <a:lnTo>
                            <a:pt x="17" y="12"/>
                          </a:lnTo>
                          <a:lnTo>
                            <a:pt x="18" y="8"/>
                          </a:lnTo>
                          <a:lnTo>
                            <a:pt x="21" y="4"/>
                          </a:lnTo>
                          <a:lnTo>
                            <a:pt x="23" y="1"/>
                          </a:lnTo>
                          <a:lnTo>
                            <a:pt x="27" y="0"/>
                          </a:lnTo>
                          <a:lnTo>
                            <a:pt x="30" y="0"/>
                          </a:lnTo>
                          <a:lnTo>
                            <a:pt x="34" y="0"/>
                          </a:lnTo>
                          <a:lnTo>
                            <a:pt x="36" y="1"/>
                          </a:lnTo>
                          <a:lnTo>
                            <a:pt x="41" y="5"/>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sp>
                <p:nvSpPr>
                  <p:cNvPr id="81" name="Freeform 15"/>
                  <p:cNvSpPr/>
                  <p:nvPr/>
                </p:nvSpPr>
                <p:spPr>
                  <a:xfrm>
                    <a:off x="3390" y="1923"/>
                    <a:ext cx="52" cy="189"/>
                  </a:xfrm>
                  <a:custGeom>
                    <a:avLst/>
                    <a:gdLst/>
                    <a:ahLst/>
                    <a:cxnLst>
                      <a:cxn ang="0">
                        <a:pos x="37" y="2"/>
                      </a:cxn>
                      <a:cxn ang="0">
                        <a:pos x="48" y="0"/>
                      </a:cxn>
                      <a:cxn ang="0">
                        <a:pos x="52" y="4"/>
                      </a:cxn>
                      <a:cxn ang="0">
                        <a:pos x="53" y="2"/>
                      </a:cxn>
                      <a:cxn ang="0">
                        <a:pos x="56" y="11"/>
                      </a:cxn>
                      <a:cxn ang="0">
                        <a:pos x="50" y="15"/>
                      </a:cxn>
                      <a:cxn ang="0">
                        <a:pos x="50" y="20"/>
                      </a:cxn>
                      <a:cxn ang="0">
                        <a:pos x="48" y="20"/>
                      </a:cxn>
                      <a:cxn ang="0">
                        <a:pos x="48" y="25"/>
                      </a:cxn>
                      <a:cxn ang="0">
                        <a:pos x="43" y="26"/>
                      </a:cxn>
                      <a:cxn ang="0">
                        <a:pos x="43" y="28"/>
                      </a:cxn>
                      <a:cxn ang="0">
                        <a:pos x="50" y="33"/>
                      </a:cxn>
                      <a:cxn ang="0">
                        <a:pos x="56" y="60"/>
                      </a:cxn>
                      <a:cxn ang="0">
                        <a:pos x="52" y="68"/>
                      </a:cxn>
                      <a:cxn ang="0">
                        <a:pos x="52" y="110"/>
                      </a:cxn>
                      <a:cxn ang="0">
                        <a:pos x="46" y="112"/>
                      </a:cxn>
                      <a:cxn ang="0">
                        <a:pos x="45" y="121"/>
                      </a:cxn>
                      <a:cxn ang="0">
                        <a:pos x="43" y="142"/>
                      </a:cxn>
                      <a:cxn ang="0">
                        <a:pos x="43" y="153"/>
                      </a:cxn>
                      <a:cxn ang="0">
                        <a:pos x="52" y="160"/>
                      </a:cxn>
                      <a:cxn ang="0">
                        <a:pos x="57" y="164"/>
                      </a:cxn>
                      <a:cxn ang="0">
                        <a:pos x="57" y="166"/>
                      </a:cxn>
                      <a:cxn ang="0">
                        <a:pos x="44" y="162"/>
                      </a:cxn>
                      <a:cxn ang="0">
                        <a:pos x="43" y="160"/>
                      </a:cxn>
                      <a:cxn ang="0">
                        <a:pos x="41" y="162"/>
                      </a:cxn>
                      <a:cxn ang="0">
                        <a:pos x="41" y="162"/>
                      </a:cxn>
                      <a:cxn ang="0">
                        <a:pos x="39" y="154"/>
                      </a:cxn>
                      <a:cxn ang="0">
                        <a:pos x="37" y="118"/>
                      </a:cxn>
                      <a:cxn ang="0">
                        <a:pos x="35" y="118"/>
                      </a:cxn>
                      <a:cxn ang="0">
                        <a:pos x="20" y="150"/>
                      </a:cxn>
                      <a:cxn ang="0">
                        <a:pos x="20" y="170"/>
                      </a:cxn>
                      <a:cxn ang="0">
                        <a:pos x="17" y="180"/>
                      </a:cxn>
                      <a:cxn ang="0">
                        <a:pos x="15" y="182"/>
                      </a:cxn>
                      <a:cxn ang="0">
                        <a:pos x="14" y="177"/>
                      </a:cxn>
                      <a:cxn ang="0">
                        <a:pos x="16" y="171"/>
                      </a:cxn>
                      <a:cxn ang="0">
                        <a:pos x="17" y="158"/>
                      </a:cxn>
                      <a:cxn ang="0">
                        <a:pos x="17" y="113"/>
                      </a:cxn>
                      <a:cxn ang="0">
                        <a:pos x="20" y="76"/>
                      </a:cxn>
                      <a:cxn ang="0">
                        <a:pos x="16" y="72"/>
                      </a:cxn>
                      <a:cxn ang="0">
                        <a:pos x="16" y="65"/>
                      </a:cxn>
                      <a:cxn ang="0">
                        <a:pos x="16" y="53"/>
                      </a:cxn>
                      <a:cxn ang="0">
                        <a:pos x="10" y="57"/>
                      </a:cxn>
                      <a:cxn ang="0">
                        <a:pos x="16" y="63"/>
                      </a:cxn>
                      <a:cxn ang="0">
                        <a:pos x="16" y="70"/>
                      </a:cxn>
                      <a:cxn ang="0">
                        <a:pos x="10" y="66"/>
                      </a:cxn>
                      <a:cxn ang="0">
                        <a:pos x="8" y="62"/>
                      </a:cxn>
                      <a:cxn ang="0">
                        <a:pos x="4" y="63"/>
                      </a:cxn>
                      <a:cxn ang="0">
                        <a:pos x="0" y="56"/>
                      </a:cxn>
                      <a:cxn ang="0">
                        <a:pos x="0" y="53"/>
                      </a:cxn>
                      <a:cxn ang="0">
                        <a:pos x="2" y="52"/>
                      </a:cxn>
                      <a:cxn ang="0">
                        <a:pos x="9" y="44"/>
                      </a:cxn>
                      <a:cxn ang="0">
                        <a:pos x="16" y="36"/>
                      </a:cxn>
                      <a:cxn ang="0">
                        <a:pos x="24" y="29"/>
                      </a:cxn>
                      <a:cxn ang="0">
                        <a:pos x="37" y="25"/>
                      </a:cxn>
                      <a:cxn ang="0">
                        <a:pos x="37" y="19"/>
                      </a:cxn>
                      <a:cxn ang="0">
                        <a:pos x="35" y="16"/>
                      </a:cxn>
                      <a:cxn ang="0">
                        <a:pos x="35" y="9"/>
                      </a:cxn>
                      <a:cxn ang="0">
                        <a:pos x="33" y="7"/>
                      </a:cxn>
                      <a:cxn ang="0">
                        <a:pos x="37" y="2"/>
                      </a:cxn>
                    </a:cxnLst>
                    <a:rect l="0" t="0" r="0" b="0"/>
                    <a:pathLst>
                      <a:path w="51" h="190">
                        <a:moveTo>
                          <a:pt x="30" y="2"/>
                        </a:moveTo>
                        <a:lnTo>
                          <a:pt x="41" y="0"/>
                        </a:lnTo>
                        <a:lnTo>
                          <a:pt x="45" y="4"/>
                        </a:lnTo>
                        <a:lnTo>
                          <a:pt x="46" y="2"/>
                        </a:lnTo>
                        <a:lnTo>
                          <a:pt x="49" y="11"/>
                        </a:lnTo>
                        <a:lnTo>
                          <a:pt x="43" y="15"/>
                        </a:lnTo>
                        <a:lnTo>
                          <a:pt x="43" y="20"/>
                        </a:lnTo>
                        <a:lnTo>
                          <a:pt x="41" y="20"/>
                        </a:lnTo>
                        <a:lnTo>
                          <a:pt x="41" y="25"/>
                        </a:lnTo>
                        <a:lnTo>
                          <a:pt x="36" y="26"/>
                        </a:lnTo>
                        <a:lnTo>
                          <a:pt x="36" y="28"/>
                        </a:lnTo>
                        <a:lnTo>
                          <a:pt x="43" y="33"/>
                        </a:lnTo>
                        <a:lnTo>
                          <a:pt x="49" y="60"/>
                        </a:lnTo>
                        <a:lnTo>
                          <a:pt x="45" y="68"/>
                        </a:lnTo>
                        <a:lnTo>
                          <a:pt x="45" y="117"/>
                        </a:lnTo>
                        <a:lnTo>
                          <a:pt x="39" y="119"/>
                        </a:lnTo>
                        <a:lnTo>
                          <a:pt x="38" y="128"/>
                        </a:lnTo>
                        <a:lnTo>
                          <a:pt x="36" y="149"/>
                        </a:lnTo>
                        <a:lnTo>
                          <a:pt x="36" y="160"/>
                        </a:lnTo>
                        <a:lnTo>
                          <a:pt x="45" y="167"/>
                        </a:lnTo>
                        <a:lnTo>
                          <a:pt x="50" y="171"/>
                        </a:lnTo>
                        <a:lnTo>
                          <a:pt x="50" y="173"/>
                        </a:lnTo>
                        <a:lnTo>
                          <a:pt x="37" y="169"/>
                        </a:lnTo>
                        <a:lnTo>
                          <a:pt x="36" y="167"/>
                        </a:lnTo>
                        <a:lnTo>
                          <a:pt x="34" y="169"/>
                        </a:lnTo>
                        <a:lnTo>
                          <a:pt x="32" y="161"/>
                        </a:lnTo>
                        <a:lnTo>
                          <a:pt x="30" y="125"/>
                        </a:lnTo>
                        <a:lnTo>
                          <a:pt x="28" y="125"/>
                        </a:lnTo>
                        <a:lnTo>
                          <a:pt x="20" y="157"/>
                        </a:lnTo>
                        <a:lnTo>
                          <a:pt x="20" y="177"/>
                        </a:lnTo>
                        <a:lnTo>
                          <a:pt x="17" y="187"/>
                        </a:lnTo>
                        <a:lnTo>
                          <a:pt x="15" y="189"/>
                        </a:lnTo>
                        <a:lnTo>
                          <a:pt x="14" y="184"/>
                        </a:lnTo>
                        <a:lnTo>
                          <a:pt x="16" y="178"/>
                        </a:lnTo>
                        <a:lnTo>
                          <a:pt x="17" y="165"/>
                        </a:lnTo>
                        <a:lnTo>
                          <a:pt x="17" y="120"/>
                        </a:lnTo>
                        <a:lnTo>
                          <a:pt x="20" y="76"/>
                        </a:lnTo>
                        <a:lnTo>
                          <a:pt x="16" y="72"/>
                        </a:lnTo>
                        <a:lnTo>
                          <a:pt x="16" y="65"/>
                        </a:lnTo>
                        <a:lnTo>
                          <a:pt x="16" y="53"/>
                        </a:lnTo>
                        <a:lnTo>
                          <a:pt x="10" y="57"/>
                        </a:lnTo>
                        <a:lnTo>
                          <a:pt x="16" y="63"/>
                        </a:lnTo>
                        <a:lnTo>
                          <a:pt x="16" y="70"/>
                        </a:lnTo>
                        <a:lnTo>
                          <a:pt x="10" y="66"/>
                        </a:lnTo>
                        <a:lnTo>
                          <a:pt x="8" y="62"/>
                        </a:lnTo>
                        <a:lnTo>
                          <a:pt x="4" y="63"/>
                        </a:lnTo>
                        <a:lnTo>
                          <a:pt x="0" y="56"/>
                        </a:lnTo>
                        <a:lnTo>
                          <a:pt x="0" y="53"/>
                        </a:lnTo>
                        <a:lnTo>
                          <a:pt x="2" y="52"/>
                        </a:lnTo>
                        <a:lnTo>
                          <a:pt x="9" y="44"/>
                        </a:lnTo>
                        <a:lnTo>
                          <a:pt x="16" y="36"/>
                        </a:lnTo>
                        <a:lnTo>
                          <a:pt x="24" y="29"/>
                        </a:lnTo>
                        <a:lnTo>
                          <a:pt x="30" y="25"/>
                        </a:lnTo>
                        <a:lnTo>
                          <a:pt x="30" y="19"/>
                        </a:lnTo>
                        <a:lnTo>
                          <a:pt x="28" y="16"/>
                        </a:lnTo>
                        <a:lnTo>
                          <a:pt x="28" y="9"/>
                        </a:lnTo>
                        <a:lnTo>
                          <a:pt x="26" y="7"/>
                        </a:lnTo>
                        <a:lnTo>
                          <a:pt x="30"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82" name="Freeform 16"/>
                  <p:cNvSpPr/>
                  <p:nvPr/>
                </p:nvSpPr>
                <p:spPr>
                  <a:xfrm>
                    <a:off x="3224" y="1976"/>
                    <a:ext cx="25" cy="134"/>
                  </a:xfrm>
                  <a:custGeom>
                    <a:avLst/>
                    <a:gdLst/>
                    <a:ahLst/>
                    <a:cxnLst>
                      <a:cxn ang="0">
                        <a:pos x="19" y="2"/>
                      </a:cxn>
                      <a:cxn ang="0">
                        <a:pos x="19" y="6"/>
                      </a:cxn>
                      <a:cxn ang="0">
                        <a:pos x="19" y="7"/>
                      </a:cxn>
                      <a:cxn ang="0">
                        <a:pos x="20" y="8"/>
                      </a:cxn>
                      <a:cxn ang="0">
                        <a:pos x="19" y="9"/>
                      </a:cxn>
                      <a:cxn ang="0">
                        <a:pos x="19" y="10"/>
                      </a:cxn>
                      <a:cxn ang="0">
                        <a:pos x="18" y="14"/>
                      </a:cxn>
                      <a:cxn ang="0">
                        <a:pos x="18" y="15"/>
                      </a:cxn>
                      <a:cxn ang="0">
                        <a:pos x="23" y="19"/>
                      </a:cxn>
                      <a:cxn ang="0">
                        <a:pos x="24" y="46"/>
                      </a:cxn>
                      <a:cxn ang="0">
                        <a:pos x="22" y="51"/>
                      </a:cxn>
                      <a:cxn ang="0">
                        <a:pos x="23" y="66"/>
                      </a:cxn>
                      <a:cxn ang="0">
                        <a:pos x="21" y="68"/>
                      </a:cxn>
                      <a:cxn ang="0">
                        <a:pos x="20" y="91"/>
                      </a:cxn>
                      <a:cxn ang="0">
                        <a:pos x="19" y="115"/>
                      </a:cxn>
                      <a:cxn ang="0">
                        <a:pos x="20" y="116"/>
                      </a:cxn>
                      <a:cxn ang="0">
                        <a:pos x="24" y="121"/>
                      </a:cxn>
                      <a:cxn ang="0">
                        <a:pos x="23" y="122"/>
                      </a:cxn>
                      <a:cxn ang="0">
                        <a:pos x="22" y="123"/>
                      </a:cxn>
                      <a:cxn ang="0">
                        <a:pos x="19" y="122"/>
                      </a:cxn>
                      <a:cxn ang="0">
                        <a:pos x="17" y="120"/>
                      </a:cxn>
                      <a:cxn ang="0">
                        <a:pos x="15" y="119"/>
                      </a:cxn>
                      <a:cxn ang="0">
                        <a:pos x="15" y="123"/>
                      </a:cxn>
                      <a:cxn ang="0">
                        <a:pos x="14" y="123"/>
                      </a:cxn>
                      <a:cxn ang="0">
                        <a:pos x="16" y="127"/>
                      </a:cxn>
                      <a:cxn ang="0">
                        <a:pos x="15" y="132"/>
                      </a:cxn>
                      <a:cxn ang="0">
                        <a:pos x="14" y="133"/>
                      </a:cxn>
                      <a:cxn ang="0">
                        <a:pos x="11" y="128"/>
                      </a:cxn>
                      <a:cxn ang="0">
                        <a:pos x="11" y="125"/>
                      </a:cxn>
                      <a:cxn ang="0">
                        <a:pos x="10" y="125"/>
                      </a:cxn>
                      <a:cxn ang="0">
                        <a:pos x="8" y="94"/>
                      </a:cxn>
                      <a:cxn ang="0">
                        <a:pos x="10" y="91"/>
                      </a:cxn>
                      <a:cxn ang="0">
                        <a:pos x="7" y="71"/>
                      </a:cxn>
                      <a:cxn ang="0">
                        <a:pos x="5" y="70"/>
                      </a:cxn>
                      <a:cxn ang="0">
                        <a:pos x="5" y="49"/>
                      </a:cxn>
                      <a:cxn ang="0">
                        <a:pos x="0" y="46"/>
                      </a:cxn>
                      <a:cxn ang="0">
                        <a:pos x="2" y="24"/>
                      </a:cxn>
                      <a:cxn ang="0">
                        <a:pos x="9" y="17"/>
                      </a:cxn>
                      <a:cxn ang="0">
                        <a:pos x="11" y="15"/>
                      </a:cxn>
                      <a:cxn ang="0">
                        <a:pos x="11" y="12"/>
                      </a:cxn>
                      <a:cxn ang="0">
                        <a:pos x="11" y="11"/>
                      </a:cxn>
                      <a:cxn ang="0">
                        <a:pos x="9" y="10"/>
                      </a:cxn>
                      <a:cxn ang="0">
                        <a:pos x="8" y="8"/>
                      </a:cxn>
                      <a:cxn ang="0">
                        <a:pos x="8" y="7"/>
                      </a:cxn>
                      <a:cxn ang="0">
                        <a:pos x="8" y="5"/>
                      </a:cxn>
                      <a:cxn ang="0">
                        <a:pos x="8" y="4"/>
                      </a:cxn>
                      <a:cxn ang="0">
                        <a:pos x="10" y="2"/>
                      </a:cxn>
                      <a:cxn ang="0">
                        <a:pos x="11" y="0"/>
                      </a:cxn>
                      <a:cxn ang="0">
                        <a:pos x="12" y="0"/>
                      </a:cxn>
                      <a:cxn ang="0">
                        <a:pos x="14" y="0"/>
                      </a:cxn>
                      <a:cxn ang="0">
                        <a:pos x="16" y="0"/>
                      </a:cxn>
                      <a:cxn ang="0">
                        <a:pos x="17" y="0"/>
                      </a:cxn>
                      <a:cxn ang="0">
                        <a:pos x="19" y="2"/>
                      </a:cxn>
                    </a:cxnLst>
                    <a:rect l="0" t="0" r="0" b="0"/>
                    <a:pathLst>
                      <a:path w="25" h="134">
                        <a:moveTo>
                          <a:pt x="19" y="2"/>
                        </a:moveTo>
                        <a:lnTo>
                          <a:pt x="19" y="6"/>
                        </a:lnTo>
                        <a:lnTo>
                          <a:pt x="19" y="7"/>
                        </a:lnTo>
                        <a:lnTo>
                          <a:pt x="20" y="8"/>
                        </a:lnTo>
                        <a:lnTo>
                          <a:pt x="19" y="9"/>
                        </a:lnTo>
                        <a:lnTo>
                          <a:pt x="19" y="10"/>
                        </a:lnTo>
                        <a:lnTo>
                          <a:pt x="18" y="14"/>
                        </a:lnTo>
                        <a:lnTo>
                          <a:pt x="18" y="15"/>
                        </a:lnTo>
                        <a:lnTo>
                          <a:pt x="23" y="19"/>
                        </a:lnTo>
                        <a:lnTo>
                          <a:pt x="24" y="46"/>
                        </a:lnTo>
                        <a:lnTo>
                          <a:pt x="22" y="51"/>
                        </a:lnTo>
                        <a:lnTo>
                          <a:pt x="23" y="66"/>
                        </a:lnTo>
                        <a:lnTo>
                          <a:pt x="21" y="68"/>
                        </a:lnTo>
                        <a:lnTo>
                          <a:pt x="20" y="91"/>
                        </a:lnTo>
                        <a:lnTo>
                          <a:pt x="19" y="115"/>
                        </a:lnTo>
                        <a:lnTo>
                          <a:pt x="20" y="116"/>
                        </a:lnTo>
                        <a:lnTo>
                          <a:pt x="24" y="121"/>
                        </a:lnTo>
                        <a:lnTo>
                          <a:pt x="23" y="122"/>
                        </a:lnTo>
                        <a:lnTo>
                          <a:pt x="22" y="123"/>
                        </a:lnTo>
                        <a:lnTo>
                          <a:pt x="19" y="122"/>
                        </a:lnTo>
                        <a:lnTo>
                          <a:pt x="17" y="120"/>
                        </a:lnTo>
                        <a:lnTo>
                          <a:pt x="15" y="119"/>
                        </a:lnTo>
                        <a:lnTo>
                          <a:pt x="15" y="123"/>
                        </a:lnTo>
                        <a:lnTo>
                          <a:pt x="14" y="123"/>
                        </a:lnTo>
                        <a:lnTo>
                          <a:pt x="16" y="127"/>
                        </a:lnTo>
                        <a:lnTo>
                          <a:pt x="15" y="132"/>
                        </a:lnTo>
                        <a:lnTo>
                          <a:pt x="14" y="133"/>
                        </a:lnTo>
                        <a:lnTo>
                          <a:pt x="11" y="128"/>
                        </a:lnTo>
                        <a:lnTo>
                          <a:pt x="11" y="125"/>
                        </a:lnTo>
                        <a:lnTo>
                          <a:pt x="10" y="125"/>
                        </a:lnTo>
                        <a:lnTo>
                          <a:pt x="8" y="94"/>
                        </a:lnTo>
                        <a:lnTo>
                          <a:pt x="10" y="91"/>
                        </a:lnTo>
                        <a:lnTo>
                          <a:pt x="7" y="71"/>
                        </a:lnTo>
                        <a:lnTo>
                          <a:pt x="5" y="70"/>
                        </a:lnTo>
                        <a:lnTo>
                          <a:pt x="5" y="49"/>
                        </a:lnTo>
                        <a:lnTo>
                          <a:pt x="0" y="46"/>
                        </a:lnTo>
                        <a:lnTo>
                          <a:pt x="2" y="24"/>
                        </a:lnTo>
                        <a:lnTo>
                          <a:pt x="9" y="17"/>
                        </a:lnTo>
                        <a:lnTo>
                          <a:pt x="11" y="15"/>
                        </a:lnTo>
                        <a:lnTo>
                          <a:pt x="11" y="12"/>
                        </a:lnTo>
                        <a:lnTo>
                          <a:pt x="11" y="11"/>
                        </a:lnTo>
                        <a:lnTo>
                          <a:pt x="9" y="10"/>
                        </a:lnTo>
                        <a:lnTo>
                          <a:pt x="8" y="8"/>
                        </a:lnTo>
                        <a:lnTo>
                          <a:pt x="8" y="7"/>
                        </a:lnTo>
                        <a:lnTo>
                          <a:pt x="8" y="5"/>
                        </a:lnTo>
                        <a:lnTo>
                          <a:pt x="8" y="4"/>
                        </a:lnTo>
                        <a:lnTo>
                          <a:pt x="10" y="2"/>
                        </a:lnTo>
                        <a:lnTo>
                          <a:pt x="11" y="0"/>
                        </a:lnTo>
                        <a:lnTo>
                          <a:pt x="12" y="0"/>
                        </a:lnTo>
                        <a:lnTo>
                          <a:pt x="14" y="0"/>
                        </a:lnTo>
                        <a:lnTo>
                          <a:pt x="16" y="0"/>
                        </a:lnTo>
                        <a:lnTo>
                          <a:pt x="17" y="0"/>
                        </a:lnTo>
                        <a:lnTo>
                          <a:pt x="19" y="2"/>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83" name="Freeform 17"/>
                  <p:cNvSpPr/>
                  <p:nvPr/>
                </p:nvSpPr>
                <p:spPr>
                  <a:xfrm>
                    <a:off x="3132" y="1996"/>
                    <a:ext cx="53" cy="254"/>
                  </a:xfrm>
                  <a:custGeom>
                    <a:avLst/>
                    <a:gdLst/>
                    <a:ahLst/>
                    <a:cxnLst>
                      <a:cxn ang="0">
                        <a:pos x="40" y="5"/>
                      </a:cxn>
                      <a:cxn ang="0">
                        <a:pos x="40" y="12"/>
                      </a:cxn>
                      <a:cxn ang="0">
                        <a:pos x="40" y="14"/>
                      </a:cxn>
                      <a:cxn ang="0">
                        <a:pos x="42" y="18"/>
                      </a:cxn>
                      <a:cxn ang="0">
                        <a:pos x="40" y="20"/>
                      </a:cxn>
                      <a:cxn ang="0">
                        <a:pos x="41" y="22"/>
                      </a:cxn>
                      <a:cxn ang="0">
                        <a:pos x="39" y="29"/>
                      </a:cxn>
                      <a:cxn ang="0">
                        <a:pos x="39" y="30"/>
                      </a:cxn>
                      <a:cxn ang="0">
                        <a:pos x="48" y="37"/>
                      </a:cxn>
                      <a:cxn ang="0">
                        <a:pos x="52" y="89"/>
                      </a:cxn>
                      <a:cxn ang="0">
                        <a:pos x="47" y="98"/>
                      </a:cxn>
                      <a:cxn ang="0">
                        <a:pos x="49" y="127"/>
                      </a:cxn>
                      <a:cxn ang="0">
                        <a:pos x="46" y="129"/>
                      </a:cxn>
                      <a:cxn ang="0">
                        <a:pos x="44" y="174"/>
                      </a:cxn>
                      <a:cxn ang="0">
                        <a:pos x="42" y="219"/>
                      </a:cxn>
                      <a:cxn ang="0">
                        <a:pos x="42" y="221"/>
                      </a:cxn>
                      <a:cxn ang="0">
                        <a:pos x="52" y="230"/>
                      </a:cxn>
                      <a:cxn ang="0">
                        <a:pos x="50" y="231"/>
                      </a:cxn>
                      <a:cxn ang="0">
                        <a:pos x="47" y="233"/>
                      </a:cxn>
                      <a:cxn ang="0">
                        <a:pos x="42" y="231"/>
                      </a:cxn>
                      <a:cxn ang="0">
                        <a:pos x="36" y="228"/>
                      </a:cxn>
                      <a:cxn ang="0">
                        <a:pos x="32" y="227"/>
                      </a:cxn>
                      <a:cxn ang="0">
                        <a:pos x="32" y="234"/>
                      </a:cxn>
                      <a:cxn ang="0">
                        <a:pos x="30" y="234"/>
                      </a:cxn>
                      <a:cxn ang="0">
                        <a:pos x="33" y="240"/>
                      </a:cxn>
                      <a:cxn ang="0">
                        <a:pos x="32" y="251"/>
                      </a:cxn>
                      <a:cxn ang="0">
                        <a:pos x="28" y="253"/>
                      </a:cxn>
                      <a:cxn ang="0">
                        <a:pos x="23" y="244"/>
                      </a:cxn>
                      <a:cxn ang="0">
                        <a:pos x="23" y="237"/>
                      </a:cxn>
                      <a:cxn ang="0">
                        <a:pos x="21" y="237"/>
                      </a:cxn>
                      <a:cxn ang="0">
                        <a:pos x="19" y="179"/>
                      </a:cxn>
                      <a:cxn ang="0">
                        <a:pos x="21" y="174"/>
                      </a:cxn>
                      <a:cxn ang="0">
                        <a:pos x="15" y="135"/>
                      </a:cxn>
                      <a:cxn ang="0">
                        <a:pos x="11" y="134"/>
                      </a:cxn>
                      <a:cxn ang="0">
                        <a:pos x="10" y="93"/>
                      </a:cxn>
                      <a:cxn ang="0">
                        <a:pos x="0" y="89"/>
                      </a:cxn>
                      <a:cxn ang="0">
                        <a:pos x="4" y="46"/>
                      </a:cxn>
                      <a:cxn ang="0">
                        <a:pos x="19" y="34"/>
                      </a:cxn>
                      <a:cxn ang="0">
                        <a:pos x="23" y="30"/>
                      </a:cxn>
                      <a:cxn ang="0">
                        <a:pos x="23" y="25"/>
                      </a:cxn>
                      <a:cxn ang="0">
                        <a:pos x="22" y="22"/>
                      </a:cxn>
                      <a:cxn ang="0">
                        <a:pos x="20" y="20"/>
                      </a:cxn>
                      <a:cxn ang="0">
                        <a:pos x="18" y="17"/>
                      </a:cxn>
                      <a:cxn ang="0">
                        <a:pos x="17" y="14"/>
                      </a:cxn>
                      <a:cxn ang="0">
                        <a:pos x="17" y="12"/>
                      </a:cxn>
                      <a:cxn ang="0">
                        <a:pos x="18" y="8"/>
                      </a:cxn>
                      <a:cxn ang="0">
                        <a:pos x="20" y="5"/>
                      </a:cxn>
                      <a:cxn ang="0">
                        <a:pos x="23" y="2"/>
                      </a:cxn>
                      <a:cxn ang="0">
                        <a:pos x="26" y="0"/>
                      </a:cxn>
                      <a:cxn ang="0">
                        <a:pos x="30" y="0"/>
                      </a:cxn>
                      <a:cxn ang="0">
                        <a:pos x="33" y="1"/>
                      </a:cxn>
                      <a:cxn ang="0">
                        <a:pos x="36" y="2"/>
                      </a:cxn>
                      <a:cxn ang="0">
                        <a:pos x="40" y="5"/>
                      </a:cxn>
                    </a:cxnLst>
                    <a:rect l="0" t="0" r="0" b="0"/>
                    <a:pathLst>
                      <a:path w="53" h="254">
                        <a:moveTo>
                          <a:pt x="40" y="5"/>
                        </a:moveTo>
                        <a:lnTo>
                          <a:pt x="40" y="12"/>
                        </a:lnTo>
                        <a:lnTo>
                          <a:pt x="40" y="14"/>
                        </a:lnTo>
                        <a:lnTo>
                          <a:pt x="42" y="18"/>
                        </a:lnTo>
                        <a:lnTo>
                          <a:pt x="40" y="20"/>
                        </a:lnTo>
                        <a:lnTo>
                          <a:pt x="41" y="22"/>
                        </a:lnTo>
                        <a:lnTo>
                          <a:pt x="39" y="29"/>
                        </a:lnTo>
                        <a:lnTo>
                          <a:pt x="39" y="30"/>
                        </a:lnTo>
                        <a:lnTo>
                          <a:pt x="48" y="37"/>
                        </a:lnTo>
                        <a:lnTo>
                          <a:pt x="52" y="89"/>
                        </a:lnTo>
                        <a:lnTo>
                          <a:pt x="47" y="98"/>
                        </a:lnTo>
                        <a:lnTo>
                          <a:pt x="49" y="127"/>
                        </a:lnTo>
                        <a:lnTo>
                          <a:pt x="46" y="129"/>
                        </a:lnTo>
                        <a:lnTo>
                          <a:pt x="44" y="174"/>
                        </a:lnTo>
                        <a:lnTo>
                          <a:pt x="42" y="219"/>
                        </a:lnTo>
                        <a:lnTo>
                          <a:pt x="42" y="221"/>
                        </a:lnTo>
                        <a:lnTo>
                          <a:pt x="52" y="230"/>
                        </a:lnTo>
                        <a:lnTo>
                          <a:pt x="50" y="231"/>
                        </a:lnTo>
                        <a:lnTo>
                          <a:pt x="47" y="233"/>
                        </a:lnTo>
                        <a:lnTo>
                          <a:pt x="42" y="231"/>
                        </a:lnTo>
                        <a:lnTo>
                          <a:pt x="36" y="228"/>
                        </a:lnTo>
                        <a:lnTo>
                          <a:pt x="32" y="227"/>
                        </a:lnTo>
                        <a:lnTo>
                          <a:pt x="32" y="234"/>
                        </a:lnTo>
                        <a:lnTo>
                          <a:pt x="30" y="234"/>
                        </a:lnTo>
                        <a:lnTo>
                          <a:pt x="33" y="240"/>
                        </a:lnTo>
                        <a:lnTo>
                          <a:pt x="32" y="251"/>
                        </a:lnTo>
                        <a:lnTo>
                          <a:pt x="28" y="253"/>
                        </a:lnTo>
                        <a:lnTo>
                          <a:pt x="23" y="244"/>
                        </a:lnTo>
                        <a:lnTo>
                          <a:pt x="23" y="237"/>
                        </a:lnTo>
                        <a:lnTo>
                          <a:pt x="21" y="237"/>
                        </a:lnTo>
                        <a:lnTo>
                          <a:pt x="19" y="179"/>
                        </a:lnTo>
                        <a:lnTo>
                          <a:pt x="21" y="174"/>
                        </a:lnTo>
                        <a:lnTo>
                          <a:pt x="15" y="135"/>
                        </a:lnTo>
                        <a:lnTo>
                          <a:pt x="11" y="134"/>
                        </a:lnTo>
                        <a:lnTo>
                          <a:pt x="10" y="93"/>
                        </a:lnTo>
                        <a:lnTo>
                          <a:pt x="0" y="89"/>
                        </a:lnTo>
                        <a:lnTo>
                          <a:pt x="4" y="46"/>
                        </a:lnTo>
                        <a:lnTo>
                          <a:pt x="19" y="34"/>
                        </a:lnTo>
                        <a:lnTo>
                          <a:pt x="23" y="30"/>
                        </a:lnTo>
                        <a:lnTo>
                          <a:pt x="23" y="25"/>
                        </a:lnTo>
                        <a:lnTo>
                          <a:pt x="22" y="22"/>
                        </a:lnTo>
                        <a:lnTo>
                          <a:pt x="20" y="20"/>
                        </a:lnTo>
                        <a:lnTo>
                          <a:pt x="18" y="17"/>
                        </a:lnTo>
                        <a:lnTo>
                          <a:pt x="17" y="14"/>
                        </a:lnTo>
                        <a:lnTo>
                          <a:pt x="17" y="12"/>
                        </a:lnTo>
                        <a:lnTo>
                          <a:pt x="18" y="8"/>
                        </a:lnTo>
                        <a:lnTo>
                          <a:pt x="20" y="5"/>
                        </a:lnTo>
                        <a:lnTo>
                          <a:pt x="23" y="2"/>
                        </a:lnTo>
                        <a:lnTo>
                          <a:pt x="26" y="0"/>
                        </a:lnTo>
                        <a:lnTo>
                          <a:pt x="30" y="0"/>
                        </a:lnTo>
                        <a:lnTo>
                          <a:pt x="33" y="1"/>
                        </a:lnTo>
                        <a:lnTo>
                          <a:pt x="36" y="2"/>
                        </a:lnTo>
                        <a:lnTo>
                          <a:pt x="40" y="5"/>
                        </a:lnTo>
                      </a:path>
                    </a:pathLst>
                  </a:custGeom>
                  <a:solidFill>
                    <a:schemeClr va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84" name="Freeform 18"/>
                  <p:cNvSpPr/>
                  <p:nvPr/>
                </p:nvSpPr>
                <p:spPr>
                  <a:xfrm>
                    <a:off x="2883" y="2121"/>
                    <a:ext cx="106" cy="378"/>
                  </a:xfrm>
                  <a:custGeom>
                    <a:avLst/>
                    <a:gdLst/>
                    <a:ahLst/>
                    <a:cxnLst>
                      <a:cxn ang="0">
                        <a:pos x="41" y="5"/>
                      </a:cxn>
                      <a:cxn ang="0">
                        <a:pos x="36" y="25"/>
                      </a:cxn>
                      <a:cxn ang="0">
                        <a:pos x="39" y="28"/>
                      </a:cxn>
                      <a:cxn ang="0">
                        <a:pos x="43" y="35"/>
                      </a:cxn>
                      <a:cxn ang="0">
                        <a:pos x="47" y="49"/>
                      </a:cxn>
                      <a:cxn ang="0">
                        <a:pos x="43" y="51"/>
                      </a:cxn>
                      <a:cxn ang="0">
                        <a:pos x="19" y="71"/>
                      </a:cxn>
                      <a:cxn ang="0">
                        <a:pos x="4" y="186"/>
                      </a:cxn>
                      <a:cxn ang="0">
                        <a:pos x="0" y="199"/>
                      </a:cxn>
                      <a:cxn ang="0">
                        <a:pos x="7" y="210"/>
                      </a:cxn>
                      <a:cxn ang="0">
                        <a:pos x="11" y="212"/>
                      </a:cxn>
                      <a:cxn ang="0">
                        <a:pos x="11" y="195"/>
                      </a:cxn>
                      <a:cxn ang="0">
                        <a:pos x="11" y="204"/>
                      </a:cxn>
                      <a:cxn ang="0">
                        <a:pos x="18" y="197"/>
                      </a:cxn>
                      <a:cxn ang="0">
                        <a:pos x="20" y="189"/>
                      </a:cxn>
                      <a:cxn ang="0">
                        <a:pos x="34" y="282"/>
                      </a:cxn>
                      <a:cxn ang="0">
                        <a:pos x="41" y="342"/>
                      </a:cxn>
                      <a:cxn ang="0">
                        <a:pos x="37" y="369"/>
                      </a:cxn>
                      <a:cxn ang="0">
                        <a:pos x="54" y="364"/>
                      </a:cxn>
                      <a:cxn ang="0">
                        <a:pos x="49" y="331"/>
                      </a:cxn>
                      <a:cxn ang="0">
                        <a:pos x="56" y="284"/>
                      </a:cxn>
                      <a:cxn ang="0">
                        <a:pos x="58" y="329"/>
                      </a:cxn>
                      <a:cxn ang="0">
                        <a:pos x="61" y="361"/>
                      </a:cxn>
                      <a:cxn ang="0">
                        <a:pos x="75" y="362"/>
                      </a:cxn>
                      <a:cxn ang="0">
                        <a:pos x="80" y="282"/>
                      </a:cxn>
                      <a:cxn ang="0">
                        <a:pos x="86" y="274"/>
                      </a:cxn>
                      <a:cxn ang="0">
                        <a:pos x="102" y="282"/>
                      </a:cxn>
                      <a:cxn ang="0">
                        <a:pos x="94" y="189"/>
                      </a:cxn>
                      <a:cxn ang="0">
                        <a:pos x="96" y="174"/>
                      </a:cxn>
                      <a:cxn ang="0">
                        <a:pos x="94" y="127"/>
                      </a:cxn>
                      <a:cxn ang="0">
                        <a:pos x="71" y="63"/>
                      </a:cxn>
                      <a:cxn ang="0">
                        <a:pos x="70" y="41"/>
                      </a:cxn>
                      <a:cxn ang="0">
                        <a:pos x="75" y="37"/>
                      </a:cxn>
                      <a:cxn ang="0">
                        <a:pos x="80" y="31"/>
                      </a:cxn>
                      <a:cxn ang="0">
                        <a:pos x="77" y="5"/>
                      </a:cxn>
                      <a:cxn ang="0">
                        <a:pos x="64" y="1"/>
                      </a:cxn>
                      <a:cxn ang="0">
                        <a:pos x="53" y="3"/>
                      </a:cxn>
                    </a:cxnLst>
                    <a:rect l="0" t="0" r="0" b="0"/>
                    <a:pathLst>
                      <a:path w="106" h="379">
                        <a:moveTo>
                          <a:pt x="53" y="3"/>
                        </a:moveTo>
                        <a:lnTo>
                          <a:pt x="41" y="5"/>
                        </a:lnTo>
                        <a:lnTo>
                          <a:pt x="36" y="19"/>
                        </a:lnTo>
                        <a:lnTo>
                          <a:pt x="36" y="25"/>
                        </a:lnTo>
                        <a:lnTo>
                          <a:pt x="41" y="25"/>
                        </a:lnTo>
                        <a:lnTo>
                          <a:pt x="39" y="28"/>
                        </a:lnTo>
                        <a:lnTo>
                          <a:pt x="41" y="29"/>
                        </a:lnTo>
                        <a:lnTo>
                          <a:pt x="43" y="35"/>
                        </a:lnTo>
                        <a:lnTo>
                          <a:pt x="44" y="37"/>
                        </a:lnTo>
                        <a:lnTo>
                          <a:pt x="47" y="49"/>
                        </a:lnTo>
                        <a:lnTo>
                          <a:pt x="47" y="51"/>
                        </a:lnTo>
                        <a:lnTo>
                          <a:pt x="43" y="51"/>
                        </a:lnTo>
                        <a:lnTo>
                          <a:pt x="34" y="66"/>
                        </a:lnTo>
                        <a:lnTo>
                          <a:pt x="19" y="71"/>
                        </a:lnTo>
                        <a:lnTo>
                          <a:pt x="11" y="82"/>
                        </a:lnTo>
                        <a:lnTo>
                          <a:pt x="4" y="186"/>
                        </a:lnTo>
                        <a:lnTo>
                          <a:pt x="7" y="187"/>
                        </a:lnTo>
                        <a:lnTo>
                          <a:pt x="0" y="206"/>
                        </a:lnTo>
                        <a:lnTo>
                          <a:pt x="4" y="217"/>
                        </a:lnTo>
                        <a:lnTo>
                          <a:pt x="7" y="217"/>
                        </a:lnTo>
                        <a:lnTo>
                          <a:pt x="8" y="219"/>
                        </a:lnTo>
                        <a:lnTo>
                          <a:pt x="11" y="219"/>
                        </a:lnTo>
                        <a:lnTo>
                          <a:pt x="10" y="208"/>
                        </a:lnTo>
                        <a:lnTo>
                          <a:pt x="11" y="202"/>
                        </a:lnTo>
                        <a:lnTo>
                          <a:pt x="13" y="207"/>
                        </a:lnTo>
                        <a:lnTo>
                          <a:pt x="11" y="211"/>
                        </a:lnTo>
                        <a:lnTo>
                          <a:pt x="13" y="213"/>
                        </a:lnTo>
                        <a:lnTo>
                          <a:pt x="18" y="204"/>
                        </a:lnTo>
                        <a:lnTo>
                          <a:pt x="15" y="189"/>
                        </a:lnTo>
                        <a:lnTo>
                          <a:pt x="20" y="190"/>
                        </a:lnTo>
                        <a:lnTo>
                          <a:pt x="18" y="283"/>
                        </a:lnTo>
                        <a:lnTo>
                          <a:pt x="34" y="289"/>
                        </a:lnTo>
                        <a:lnTo>
                          <a:pt x="43" y="343"/>
                        </a:lnTo>
                        <a:lnTo>
                          <a:pt x="41" y="349"/>
                        </a:lnTo>
                        <a:lnTo>
                          <a:pt x="37" y="371"/>
                        </a:lnTo>
                        <a:lnTo>
                          <a:pt x="37" y="376"/>
                        </a:lnTo>
                        <a:lnTo>
                          <a:pt x="49" y="378"/>
                        </a:lnTo>
                        <a:lnTo>
                          <a:pt x="54" y="371"/>
                        </a:lnTo>
                        <a:lnTo>
                          <a:pt x="51" y="352"/>
                        </a:lnTo>
                        <a:lnTo>
                          <a:pt x="49" y="338"/>
                        </a:lnTo>
                        <a:lnTo>
                          <a:pt x="55" y="291"/>
                        </a:lnTo>
                        <a:lnTo>
                          <a:pt x="56" y="291"/>
                        </a:lnTo>
                        <a:lnTo>
                          <a:pt x="61" y="308"/>
                        </a:lnTo>
                        <a:lnTo>
                          <a:pt x="58" y="336"/>
                        </a:lnTo>
                        <a:lnTo>
                          <a:pt x="54" y="339"/>
                        </a:lnTo>
                        <a:lnTo>
                          <a:pt x="61" y="368"/>
                        </a:lnTo>
                        <a:lnTo>
                          <a:pt x="72" y="371"/>
                        </a:lnTo>
                        <a:lnTo>
                          <a:pt x="75" y="369"/>
                        </a:lnTo>
                        <a:lnTo>
                          <a:pt x="66" y="339"/>
                        </a:lnTo>
                        <a:lnTo>
                          <a:pt x="80" y="289"/>
                        </a:lnTo>
                        <a:lnTo>
                          <a:pt x="86" y="284"/>
                        </a:lnTo>
                        <a:lnTo>
                          <a:pt x="86" y="281"/>
                        </a:lnTo>
                        <a:lnTo>
                          <a:pt x="98" y="282"/>
                        </a:lnTo>
                        <a:lnTo>
                          <a:pt x="102" y="289"/>
                        </a:lnTo>
                        <a:lnTo>
                          <a:pt x="105" y="284"/>
                        </a:lnTo>
                        <a:lnTo>
                          <a:pt x="94" y="193"/>
                        </a:lnTo>
                        <a:lnTo>
                          <a:pt x="96" y="193"/>
                        </a:lnTo>
                        <a:lnTo>
                          <a:pt x="96" y="174"/>
                        </a:lnTo>
                        <a:lnTo>
                          <a:pt x="97" y="172"/>
                        </a:lnTo>
                        <a:lnTo>
                          <a:pt x="94" y="127"/>
                        </a:lnTo>
                        <a:lnTo>
                          <a:pt x="90" y="73"/>
                        </a:lnTo>
                        <a:lnTo>
                          <a:pt x="71" y="63"/>
                        </a:lnTo>
                        <a:lnTo>
                          <a:pt x="64" y="51"/>
                        </a:lnTo>
                        <a:lnTo>
                          <a:pt x="70" y="41"/>
                        </a:lnTo>
                        <a:lnTo>
                          <a:pt x="72" y="42"/>
                        </a:lnTo>
                        <a:lnTo>
                          <a:pt x="75" y="37"/>
                        </a:lnTo>
                        <a:lnTo>
                          <a:pt x="75" y="31"/>
                        </a:lnTo>
                        <a:lnTo>
                          <a:pt x="80" y="31"/>
                        </a:lnTo>
                        <a:lnTo>
                          <a:pt x="82" y="16"/>
                        </a:lnTo>
                        <a:lnTo>
                          <a:pt x="77" y="5"/>
                        </a:lnTo>
                        <a:lnTo>
                          <a:pt x="72" y="1"/>
                        </a:lnTo>
                        <a:lnTo>
                          <a:pt x="64" y="1"/>
                        </a:lnTo>
                        <a:lnTo>
                          <a:pt x="59" y="0"/>
                        </a:lnTo>
                        <a:lnTo>
                          <a:pt x="53" y="3"/>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85" name="Freeform 19"/>
                  <p:cNvSpPr/>
                  <p:nvPr/>
                </p:nvSpPr>
                <p:spPr>
                  <a:xfrm>
                    <a:off x="3682" y="2030"/>
                    <a:ext cx="74" cy="376"/>
                  </a:xfrm>
                  <a:custGeom>
                    <a:avLst/>
                    <a:gdLst/>
                    <a:ahLst/>
                    <a:cxnLst>
                      <a:cxn ang="0">
                        <a:pos x="25" y="5"/>
                      </a:cxn>
                      <a:cxn ang="0">
                        <a:pos x="43" y="0"/>
                      </a:cxn>
                      <a:cxn ang="0">
                        <a:pos x="56" y="0"/>
                      </a:cxn>
                      <a:cxn ang="0">
                        <a:pos x="68" y="3"/>
                      </a:cxn>
                      <a:cxn ang="0">
                        <a:pos x="72" y="16"/>
                      </a:cxn>
                      <a:cxn ang="0">
                        <a:pos x="72" y="27"/>
                      </a:cxn>
                      <a:cxn ang="0">
                        <a:pos x="65" y="40"/>
                      </a:cxn>
                      <a:cxn ang="0">
                        <a:pos x="60" y="40"/>
                      </a:cxn>
                      <a:cxn ang="0">
                        <a:pos x="68" y="56"/>
                      </a:cxn>
                      <a:cxn ang="0">
                        <a:pos x="73" y="80"/>
                      </a:cxn>
                      <a:cxn ang="0">
                        <a:pos x="73" y="102"/>
                      </a:cxn>
                      <a:cxn ang="0">
                        <a:pos x="72" y="129"/>
                      </a:cxn>
                      <a:cxn ang="0">
                        <a:pos x="68" y="156"/>
                      </a:cxn>
                      <a:cxn ang="0">
                        <a:pos x="59" y="158"/>
                      </a:cxn>
                      <a:cxn ang="0">
                        <a:pos x="59" y="165"/>
                      </a:cxn>
                      <a:cxn ang="0">
                        <a:pos x="54" y="169"/>
                      </a:cxn>
                      <a:cxn ang="0">
                        <a:pos x="54" y="190"/>
                      </a:cxn>
                      <a:cxn ang="0">
                        <a:pos x="50" y="195"/>
                      </a:cxn>
                      <a:cxn ang="0">
                        <a:pos x="50" y="246"/>
                      </a:cxn>
                      <a:cxn ang="0">
                        <a:pos x="50" y="278"/>
                      </a:cxn>
                      <a:cxn ang="0">
                        <a:pos x="56" y="313"/>
                      </a:cxn>
                      <a:cxn ang="0">
                        <a:pos x="59" y="359"/>
                      </a:cxn>
                      <a:cxn ang="0">
                        <a:pos x="51" y="363"/>
                      </a:cxn>
                      <a:cxn ang="0">
                        <a:pos x="51" y="369"/>
                      </a:cxn>
                      <a:cxn ang="0">
                        <a:pos x="40" y="369"/>
                      </a:cxn>
                      <a:cxn ang="0">
                        <a:pos x="37" y="366"/>
                      </a:cxn>
                      <a:cxn ang="0">
                        <a:pos x="32" y="366"/>
                      </a:cxn>
                      <a:cxn ang="0">
                        <a:pos x="32" y="369"/>
                      </a:cxn>
                      <a:cxn ang="0">
                        <a:pos x="23" y="369"/>
                      </a:cxn>
                      <a:cxn ang="0">
                        <a:pos x="5" y="366"/>
                      </a:cxn>
                      <a:cxn ang="0">
                        <a:pos x="5" y="363"/>
                      </a:cxn>
                      <a:cxn ang="0">
                        <a:pos x="21" y="356"/>
                      </a:cxn>
                      <a:cxn ang="0">
                        <a:pos x="21" y="349"/>
                      </a:cxn>
                      <a:cxn ang="0">
                        <a:pos x="6" y="346"/>
                      </a:cxn>
                      <a:cxn ang="0">
                        <a:pos x="6" y="342"/>
                      </a:cxn>
                      <a:cxn ang="0">
                        <a:pos x="17" y="335"/>
                      </a:cxn>
                      <a:cxn ang="0">
                        <a:pos x="17" y="283"/>
                      </a:cxn>
                      <a:cxn ang="0">
                        <a:pos x="13" y="236"/>
                      </a:cxn>
                      <a:cxn ang="0">
                        <a:pos x="14" y="189"/>
                      </a:cxn>
                      <a:cxn ang="0">
                        <a:pos x="14" y="169"/>
                      </a:cxn>
                      <a:cxn ang="0">
                        <a:pos x="13" y="161"/>
                      </a:cxn>
                      <a:cxn ang="0">
                        <a:pos x="13" y="124"/>
                      </a:cxn>
                      <a:cxn ang="0">
                        <a:pos x="0" y="116"/>
                      </a:cxn>
                      <a:cxn ang="0">
                        <a:pos x="0" y="112"/>
                      </a:cxn>
                      <a:cxn ang="0">
                        <a:pos x="28" y="61"/>
                      </a:cxn>
                      <a:cxn ang="0">
                        <a:pos x="41" y="54"/>
                      </a:cxn>
                      <a:cxn ang="0">
                        <a:pos x="40" y="51"/>
                      </a:cxn>
                      <a:cxn ang="0">
                        <a:pos x="30" y="49"/>
                      </a:cxn>
                      <a:cxn ang="0">
                        <a:pos x="30" y="46"/>
                      </a:cxn>
                      <a:cxn ang="0">
                        <a:pos x="28" y="44"/>
                      </a:cxn>
                      <a:cxn ang="0">
                        <a:pos x="28" y="40"/>
                      </a:cxn>
                      <a:cxn ang="0">
                        <a:pos x="25" y="39"/>
                      </a:cxn>
                      <a:cxn ang="0">
                        <a:pos x="28" y="37"/>
                      </a:cxn>
                      <a:cxn ang="0">
                        <a:pos x="26" y="35"/>
                      </a:cxn>
                      <a:cxn ang="0">
                        <a:pos x="30" y="27"/>
                      </a:cxn>
                      <a:cxn ang="0">
                        <a:pos x="28" y="22"/>
                      </a:cxn>
                      <a:cxn ang="0">
                        <a:pos x="30" y="18"/>
                      </a:cxn>
                      <a:cxn ang="0">
                        <a:pos x="26" y="14"/>
                      </a:cxn>
                      <a:cxn ang="0">
                        <a:pos x="25" y="5"/>
                      </a:cxn>
                    </a:cxnLst>
                    <a:rect l="0" t="0" r="0" b="0"/>
                    <a:pathLst>
                      <a:path w="74" h="377">
                        <a:moveTo>
                          <a:pt x="25" y="5"/>
                        </a:moveTo>
                        <a:lnTo>
                          <a:pt x="43" y="0"/>
                        </a:lnTo>
                        <a:lnTo>
                          <a:pt x="56" y="0"/>
                        </a:lnTo>
                        <a:lnTo>
                          <a:pt x="68" y="3"/>
                        </a:lnTo>
                        <a:lnTo>
                          <a:pt x="72" y="16"/>
                        </a:lnTo>
                        <a:lnTo>
                          <a:pt x="72" y="27"/>
                        </a:lnTo>
                        <a:lnTo>
                          <a:pt x="65" y="40"/>
                        </a:lnTo>
                        <a:lnTo>
                          <a:pt x="60" y="40"/>
                        </a:lnTo>
                        <a:lnTo>
                          <a:pt x="68" y="56"/>
                        </a:lnTo>
                        <a:lnTo>
                          <a:pt x="73" y="80"/>
                        </a:lnTo>
                        <a:lnTo>
                          <a:pt x="73" y="102"/>
                        </a:lnTo>
                        <a:lnTo>
                          <a:pt x="72" y="129"/>
                        </a:lnTo>
                        <a:lnTo>
                          <a:pt x="68" y="156"/>
                        </a:lnTo>
                        <a:lnTo>
                          <a:pt x="59" y="158"/>
                        </a:lnTo>
                        <a:lnTo>
                          <a:pt x="59" y="165"/>
                        </a:lnTo>
                        <a:lnTo>
                          <a:pt x="54" y="169"/>
                        </a:lnTo>
                        <a:lnTo>
                          <a:pt x="54" y="197"/>
                        </a:lnTo>
                        <a:lnTo>
                          <a:pt x="50" y="202"/>
                        </a:lnTo>
                        <a:lnTo>
                          <a:pt x="50" y="253"/>
                        </a:lnTo>
                        <a:lnTo>
                          <a:pt x="50" y="285"/>
                        </a:lnTo>
                        <a:lnTo>
                          <a:pt x="56" y="320"/>
                        </a:lnTo>
                        <a:lnTo>
                          <a:pt x="59" y="366"/>
                        </a:lnTo>
                        <a:lnTo>
                          <a:pt x="51" y="370"/>
                        </a:lnTo>
                        <a:lnTo>
                          <a:pt x="51" y="376"/>
                        </a:lnTo>
                        <a:lnTo>
                          <a:pt x="40" y="376"/>
                        </a:lnTo>
                        <a:lnTo>
                          <a:pt x="37" y="373"/>
                        </a:lnTo>
                        <a:lnTo>
                          <a:pt x="32" y="373"/>
                        </a:lnTo>
                        <a:lnTo>
                          <a:pt x="32" y="376"/>
                        </a:lnTo>
                        <a:lnTo>
                          <a:pt x="23" y="376"/>
                        </a:lnTo>
                        <a:lnTo>
                          <a:pt x="5" y="373"/>
                        </a:lnTo>
                        <a:lnTo>
                          <a:pt x="5" y="370"/>
                        </a:lnTo>
                        <a:lnTo>
                          <a:pt x="21" y="363"/>
                        </a:lnTo>
                        <a:lnTo>
                          <a:pt x="21" y="356"/>
                        </a:lnTo>
                        <a:lnTo>
                          <a:pt x="6" y="353"/>
                        </a:lnTo>
                        <a:lnTo>
                          <a:pt x="6" y="349"/>
                        </a:lnTo>
                        <a:lnTo>
                          <a:pt x="17" y="342"/>
                        </a:lnTo>
                        <a:lnTo>
                          <a:pt x="17" y="290"/>
                        </a:lnTo>
                        <a:lnTo>
                          <a:pt x="13" y="243"/>
                        </a:lnTo>
                        <a:lnTo>
                          <a:pt x="14" y="196"/>
                        </a:lnTo>
                        <a:lnTo>
                          <a:pt x="14" y="169"/>
                        </a:lnTo>
                        <a:lnTo>
                          <a:pt x="13" y="161"/>
                        </a:lnTo>
                        <a:lnTo>
                          <a:pt x="13" y="124"/>
                        </a:lnTo>
                        <a:lnTo>
                          <a:pt x="0" y="116"/>
                        </a:lnTo>
                        <a:lnTo>
                          <a:pt x="0" y="112"/>
                        </a:lnTo>
                        <a:lnTo>
                          <a:pt x="28" y="61"/>
                        </a:lnTo>
                        <a:lnTo>
                          <a:pt x="41" y="54"/>
                        </a:lnTo>
                        <a:lnTo>
                          <a:pt x="40" y="51"/>
                        </a:lnTo>
                        <a:lnTo>
                          <a:pt x="30" y="49"/>
                        </a:lnTo>
                        <a:lnTo>
                          <a:pt x="30" y="46"/>
                        </a:lnTo>
                        <a:lnTo>
                          <a:pt x="28" y="44"/>
                        </a:lnTo>
                        <a:lnTo>
                          <a:pt x="28" y="40"/>
                        </a:lnTo>
                        <a:lnTo>
                          <a:pt x="25" y="39"/>
                        </a:lnTo>
                        <a:lnTo>
                          <a:pt x="28" y="37"/>
                        </a:lnTo>
                        <a:lnTo>
                          <a:pt x="26" y="35"/>
                        </a:lnTo>
                        <a:lnTo>
                          <a:pt x="30" y="27"/>
                        </a:lnTo>
                        <a:lnTo>
                          <a:pt x="28" y="22"/>
                        </a:lnTo>
                        <a:lnTo>
                          <a:pt x="30" y="18"/>
                        </a:lnTo>
                        <a:lnTo>
                          <a:pt x="26" y="14"/>
                        </a:lnTo>
                        <a:lnTo>
                          <a:pt x="25" y="5"/>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86" name="Freeform 20"/>
                  <p:cNvSpPr/>
                  <p:nvPr/>
                </p:nvSpPr>
                <p:spPr>
                  <a:xfrm>
                    <a:off x="3565" y="1992"/>
                    <a:ext cx="102" cy="337"/>
                  </a:xfrm>
                  <a:custGeom>
                    <a:avLst/>
                    <a:gdLst/>
                    <a:ahLst/>
                    <a:cxnLst>
                      <a:cxn ang="0">
                        <a:pos x="68" y="4"/>
                      </a:cxn>
                      <a:cxn ang="0">
                        <a:pos x="73" y="22"/>
                      </a:cxn>
                      <a:cxn ang="0">
                        <a:pos x="70" y="24"/>
                      </a:cxn>
                      <a:cxn ang="0">
                        <a:pos x="67" y="31"/>
                      </a:cxn>
                      <a:cxn ang="0">
                        <a:pos x="62" y="43"/>
                      </a:cxn>
                      <a:cxn ang="0">
                        <a:pos x="67" y="45"/>
                      </a:cxn>
                      <a:cxn ang="0">
                        <a:pos x="89" y="63"/>
                      </a:cxn>
                      <a:cxn ang="0">
                        <a:pos x="104" y="164"/>
                      </a:cxn>
                      <a:cxn ang="0">
                        <a:pos x="107" y="182"/>
                      </a:cxn>
                      <a:cxn ang="0">
                        <a:pos x="101" y="191"/>
                      </a:cxn>
                      <a:cxn ang="0">
                        <a:pos x="96" y="194"/>
                      </a:cxn>
                      <a:cxn ang="0">
                        <a:pos x="96" y="178"/>
                      </a:cxn>
                      <a:cxn ang="0">
                        <a:pos x="96" y="187"/>
                      </a:cxn>
                      <a:cxn ang="0">
                        <a:pos x="91" y="181"/>
                      </a:cxn>
                      <a:cxn ang="0">
                        <a:pos x="88" y="168"/>
                      </a:cxn>
                      <a:cxn ang="0">
                        <a:pos x="75" y="255"/>
                      </a:cxn>
                      <a:cxn ang="0">
                        <a:pos x="68" y="310"/>
                      </a:cxn>
                      <a:cxn ang="0">
                        <a:pos x="72" y="333"/>
                      </a:cxn>
                      <a:cxn ang="0">
                        <a:pos x="48" y="330"/>
                      </a:cxn>
                      <a:cxn ang="0">
                        <a:pos x="60" y="300"/>
                      </a:cxn>
                      <a:cxn ang="0">
                        <a:pos x="46" y="258"/>
                      </a:cxn>
                      <a:cxn ang="0">
                        <a:pos x="45" y="298"/>
                      </a:cxn>
                      <a:cxn ang="0">
                        <a:pos x="42" y="327"/>
                      </a:cxn>
                      <a:cxn ang="0">
                        <a:pos x="29" y="328"/>
                      </a:cxn>
                      <a:cxn ang="0">
                        <a:pos x="24" y="255"/>
                      </a:cxn>
                      <a:cxn ang="0">
                        <a:pos x="18" y="249"/>
                      </a:cxn>
                      <a:cxn ang="0">
                        <a:pos x="3" y="255"/>
                      </a:cxn>
                      <a:cxn ang="0">
                        <a:pos x="11" y="171"/>
                      </a:cxn>
                      <a:cxn ang="0">
                        <a:pos x="9" y="154"/>
                      </a:cxn>
                      <a:cxn ang="0">
                        <a:pos x="11" y="112"/>
                      </a:cxn>
                      <a:cxn ang="0">
                        <a:pos x="33" y="56"/>
                      </a:cxn>
                      <a:cxn ang="0">
                        <a:pos x="33" y="36"/>
                      </a:cxn>
                      <a:cxn ang="0">
                        <a:pos x="29" y="32"/>
                      </a:cxn>
                      <a:cxn ang="0">
                        <a:pos x="24" y="27"/>
                      </a:cxn>
                      <a:cxn ang="0">
                        <a:pos x="27" y="4"/>
                      </a:cxn>
                      <a:cxn ang="0">
                        <a:pos x="40" y="1"/>
                      </a:cxn>
                      <a:cxn ang="0">
                        <a:pos x="50" y="2"/>
                      </a:cxn>
                    </a:cxnLst>
                    <a:rect l="0" t="0" r="0" b="0"/>
                    <a:pathLst>
                      <a:path w="101" h="337">
                        <a:moveTo>
                          <a:pt x="50" y="2"/>
                        </a:moveTo>
                        <a:lnTo>
                          <a:pt x="61" y="4"/>
                        </a:lnTo>
                        <a:lnTo>
                          <a:pt x="66" y="17"/>
                        </a:lnTo>
                        <a:lnTo>
                          <a:pt x="66" y="22"/>
                        </a:lnTo>
                        <a:lnTo>
                          <a:pt x="61" y="22"/>
                        </a:lnTo>
                        <a:lnTo>
                          <a:pt x="63" y="24"/>
                        </a:lnTo>
                        <a:lnTo>
                          <a:pt x="61" y="25"/>
                        </a:lnTo>
                        <a:lnTo>
                          <a:pt x="60" y="31"/>
                        </a:lnTo>
                        <a:lnTo>
                          <a:pt x="58" y="32"/>
                        </a:lnTo>
                        <a:lnTo>
                          <a:pt x="55" y="43"/>
                        </a:lnTo>
                        <a:lnTo>
                          <a:pt x="55" y="45"/>
                        </a:lnTo>
                        <a:lnTo>
                          <a:pt x="60" y="45"/>
                        </a:lnTo>
                        <a:lnTo>
                          <a:pt x="68" y="58"/>
                        </a:lnTo>
                        <a:lnTo>
                          <a:pt x="82" y="63"/>
                        </a:lnTo>
                        <a:lnTo>
                          <a:pt x="89" y="72"/>
                        </a:lnTo>
                        <a:lnTo>
                          <a:pt x="97" y="164"/>
                        </a:lnTo>
                        <a:lnTo>
                          <a:pt x="94" y="166"/>
                        </a:lnTo>
                        <a:lnTo>
                          <a:pt x="100" y="182"/>
                        </a:lnTo>
                        <a:lnTo>
                          <a:pt x="97" y="191"/>
                        </a:lnTo>
                        <a:lnTo>
                          <a:pt x="94" y="191"/>
                        </a:lnTo>
                        <a:lnTo>
                          <a:pt x="93" y="194"/>
                        </a:lnTo>
                        <a:lnTo>
                          <a:pt x="89" y="194"/>
                        </a:lnTo>
                        <a:lnTo>
                          <a:pt x="91" y="184"/>
                        </a:lnTo>
                        <a:lnTo>
                          <a:pt x="89" y="178"/>
                        </a:lnTo>
                        <a:lnTo>
                          <a:pt x="88" y="183"/>
                        </a:lnTo>
                        <a:lnTo>
                          <a:pt x="89" y="187"/>
                        </a:lnTo>
                        <a:lnTo>
                          <a:pt x="87" y="189"/>
                        </a:lnTo>
                        <a:lnTo>
                          <a:pt x="84" y="181"/>
                        </a:lnTo>
                        <a:lnTo>
                          <a:pt x="86" y="167"/>
                        </a:lnTo>
                        <a:lnTo>
                          <a:pt x="81" y="168"/>
                        </a:lnTo>
                        <a:lnTo>
                          <a:pt x="84" y="251"/>
                        </a:lnTo>
                        <a:lnTo>
                          <a:pt x="68" y="255"/>
                        </a:lnTo>
                        <a:lnTo>
                          <a:pt x="60" y="305"/>
                        </a:lnTo>
                        <a:lnTo>
                          <a:pt x="61" y="310"/>
                        </a:lnTo>
                        <a:lnTo>
                          <a:pt x="65" y="330"/>
                        </a:lnTo>
                        <a:lnTo>
                          <a:pt x="65" y="333"/>
                        </a:lnTo>
                        <a:lnTo>
                          <a:pt x="53" y="336"/>
                        </a:lnTo>
                        <a:lnTo>
                          <a:pt x="48" y="330"/>
                        </a:lnTo>
                        <a:lnTo>
                          <a:pt x="51" y="313"/>
                        </a:lnTo>
                        <a:lnTo>
                          <a:pt x="53" y="300"/>
                        </a:lnTo>
                        <a:lnTo>
                          <a:pt x="48" y="258"/>
                        </a:lnTo>
                        <a:lnTo>
                          <a:pt x="46" y="258"/>
                        </a:lnTo>
                        <a:lnTo>
                          <a:pt x="42" y="273"/>
                        </a:lnTo>
                        <a:lnTo>
                          <a:pt x="45" y="298"/>
                        </a:lnTo>
                        <a:lnTo>
                          <a:pt x="48" y="301"/>
                        </a:lnTo>
                        <a:lnTo>
                          <a:pt x="42" y="327"/>
                        </a:lnTo>
                        <a:lnTo>
                          <a:pt x="31" y="330"/>
                        </a:lnTo>
                        <a:lnTo>
                          <a:pt x="29" y="328"/>
                        </a:lnTo>
                        <a:lnTo>
                          <a:pt x="37" y="302"/>
                        </a:lnTo>
                        <a:lnTo>
                          <a:pt x="24" y="255"/>
                        </a:lnTo>
                        <a:lnTo>
                          <a:pt x="18" y="252"/>
                        </a:lnTo>
                        <a:lnTo>
                          <a:pt x="18" y="249"/>
                        </a:lnTo>
                        <a:lnTo>
                          <a:pt x="6" y="250"/>
                        </a:lnTo>
                        <a:lnTo>
                          <a:pt x="3" y="255"/>
                        </a:lnTo>
                        <a:lnTo>
                          <a:pt x="0" y="252"/>
                        </a:lnTo>
                        <a:lnTo>
                          <a:pt x="11" y="171"/>
                        </a:lnTo>
                        <a:lnTo>
                          <a:pt x="9" y="171"/>
                        </a:lnTo>
                        <a:lnTo>
                          <a:pt x="9" y="154"/>
                        </a:lnTo>
                        <a:lnTo>
                          <a:pt x="8" y="152"/>
                        </a:lnTo>
                        <a:lnTo>
                          <a:pt x="11" y="112"/>
                        </a:lnTo>
                        <a:lnTo>
                          <a:pt x="15" y="65"/>
                        </a:lnTo>
                        <a:lnTo>
                          <a:pt x="33" y="56"/>
                        </a:lnTo>
                        <a:lnTo>
                          <a:pt x="39" y="45"/>
                        </a:lnTo>
                        <a:lnTo>
                          <a:pt x="33" y="36"/>
                        </a:lnTo>
                        <a:lnTo>
                          <a:pt x="31" y="37"/>
                        </a:lnTo>
                        <a:lnTo>
                          <a:pt x="29" y="32"/>
                        </a:lnTo>
                        <a:lnTo>
                          <a:pt x="29" y="27"/>
                        </a:lnTo>
                        <a:lnTo>
                          <a:pt x="24" y="27"/>
                        </a:lnTo>
                        <a:lnTo>
                          <a:pt x="23" y="14"/>
                        </a:lnTo>
                        <a:lnTo>
                          <a:pt x="27" y="4"/>
                        </a:lnTo>
                        <a:lnTo>
                          <a:pt x="32" y="1"/>
                        </a:lnTo>
                        <a:lnTo>
                          <a:pt x="40" y="1"/>
                        </a:lnTo>
                        <a:lnTo>
                          <a:pt x="44" y="0"/>
                        </a:lnTo>
                        <a:lnTo>
                          <a:pt x="50" y="2"/>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87" name="Freeform 21"/>
                  <p:cNvSpPr/>
                  <p:nvPr/>
                </p:nvSpPr>
                <p:spPr>
                  <a:xfrm>
                    <a:off x="3017" y="2021"/>
                    <a:ext cx="64" cy="237"/>
                  </a:xfrm>
                  <a:custGeom>
                    <a:avLst/>
                    <a:gdLst/>
                    <a:ahLst/>
                    <a:cxnLst>
                      <a:cxn ang="0">
                        <a:pos x="25" y="3"/>
                      </a:cxn>
                      <a:cxn ang="0">
                        <a:pos x="21" y="15"/>
                      </a:cxn>
                      <a:cxn ang="0">
                        <a:pos x="24" y="17"/>
                      </a:cxn>
                      <a:cxn ang="0">
                        <a:pos x="26" y="22"/>
                      </a:cxn>
                      <a:cxn ang="0">
                        <a:pos x="29" y="30"/>
                      </a:cxn>
                      <a:cxn ang="0">
                        <a:pos x="26" y="32"/>
                      </a:cxn>
                      <a:cxn ang="0">
                        <a:pos x="12" y="44"/>
                      </a:cxn>
                      <a:cxn ang="0">
                        <a:pos x="2" y="116"/>
                      </a:cxn>
                      <a:cxn ang="0">
                        <a:pos x="0" y="128"/>
                      </a:cxn>
                      <a:cxn ang="0">
                        <a:pos x="4" y="135"/>
                      </a:cxn>
                      <a:cxn ang="0">
                        <a:pos x="7" y="136"/>
                      </a:cxn>
                      <a:cxn ang="0">
                        <a:pos x="7" y="126"/>
                      </a:cxn>
                      <a:cxn ang="0">
                        <a:pos x="7" y="131"/>
                      </a:cxn>
                      <a:cxn ang="0">
                        <a:pos x="10" y="128"/>
                      </a:cxn>
                      <a:cxn ang="0">
                        <a:pos x="12" y="118"/>
                      </a:cxn>
                      <a:cxn ang="0">
                        <a:pos x="21" y="180"/>
                      </a:cxn>
                      <a:cxn ang="0">
                        <a:pos x="25" y="218"/>
                      </a:cxn>
                      <a:cxn ang="0">
                        <a:pos x="23" y="234"/>
                      </a:cxn>
                      <a:cxn ang="0">
                        <a:pos x="32" y="232"/>
                      </a:cxn>
                      <a:cxn ang="0">
                        <a:pos x="30" y="211"/>
                      </a:cxn>
                      <a:cxn ang="0">
                        <a:pos x="32" y="182"/>
                      </a:cxn>
                      <a:cxn ang="0">
                        <a:pos x="32" y="209"/>
                      </a:cxn>
                      <a:cxn ang="0">
                        <a:pos x="32" y="229"/>
                      </a:cxn>
                      <a:cxn ang="0">
                        <a:pos x="38" y="230"/>
                      </a:cxn>
                      <a:cxn ang="0">
                        <a:pos x="42" y="180"/>
                      </a:cxn>
                      <a:cxn ang="0">
                        <a:pos x="45" y="175"/>
                      </a:cxn>
                      <a:cxn ang="0">
                        <a:pos x="55" y="180"/>
                      </a:cxn>
                      <a:cxn ang="0">
                        <a:pos x="50" y="120"/>
                      </a:cxn>
                      <a:cxn ang="0">
                        <a:pos x="51" y="108"/>
                      </a:cxn>
                      <a:cxn ang="0">
                        <a:pos x="50" y="79"/>
                      </a:cxn>
                      <a:cxn ang="0">
                        <a:pos x="36" y="39"/>
                      </a:cxn>
                      <a:cxn ang="0">
                        <a:pos x="36" y="26"/>
                      </a:cxn>
                      <a:cxn ang="0">
                        <a:pos x="38" y="23"/>
                      </a:cxn>
                      <a:cxn ang="0">
                        <a:pos x="42" y="19"/>
                      </a:cxn>
                      <a:cxn ang="0">
                        <a:pos x="39" y="3"/>
                      </a:cxn>
                      <a:cxn ang="0">
                        <a:pos x="32" y="1"/>
                      </a:cxn>
                      <a:cxn ang="0">
                        <a:pos x="32" y="1"/>
                      </a:cxn>
                    </a:cxnLst>
                    <a:rect l="0" t="0" r="0" b="0"/>
                    <a:pathLst>
                      <a:path w="65" h="237">
                        <a:moveTo>
                          <a:pt x="32" y="1"/>
                        </a:moveTo>
                        <a:lnTo>
                          <a:pt x="25" y="3"/>
                        </a:lnTo>
                        <a:lnTo>
                          <a:pt x="21" y="12"/>
                        </a:lnTo>
                        <a:lnTo>
                          <a:pt x="21" y="15"/>
                        </a:lnTo>
                        <a:lnTo>
                          <a:pt x="25" y="15"/>
                        </a:lnTo>
                        <a:lnTo>
                          <a:pt x="24" y="17"/>
                        </a:lnTo>
                        <a:lnTo>
                          <a:pt x="25" y="18"/>
                        </a:lnTo>
                        <a:lnTo>
                          <a:pt x="26" y="22"/>
                        </a:lnTo>
                        <a:lnTo>
                          <a:pt x="27" y="23"/>
                        </a:lnTo>
                        <a:lnTo>
                          <a:pt x="29" y="30"/>
                        </a:lnTo>
                        <a:lnTo>
                          <a:pt x="29" y="32"/>
                        </a:lnTo>
                        <a:lnTo>
                          <a:pt x="26" y="32"/>
                        </a:lnTo>
                        <a:lnTo>
                          <a:pt x="21" y="41"/>
                        </a:lnTo>
                        <a:lnTo>
                          <a:pt x="12" y="44"/>
                        </a:lnTo>
                        <a:lnTo>
                          <a:pt x="7" y="51"/>
                        </a:lnTo>
                        <a:lnTo>
                          <a:pt x="2" y="116"/>
                        </a:lnTo>
                        <a:lnTo>
                          <a:pt x="4" y="116"/>
                        </a:lnTo>
                        <a:lnTo>
                          <a:pt x="0" y="128"/>
                        </a:lnTo>
                        <a:lnTo>
                          <a:pt x="2" y="135"/>
                        </a:lnTo>
                        <a:lnTo>
                          <a:pt x="4" y="135"/>
                        </a:lnTo>
                        <a:lnTo>
                          <a:pt x="5" y="136"/>
                        </a:lnTo>
                        <a:lnTo>
                          <a:pt x="7" y="136"/>
                        </a:lnTo>
                        <a:lnTo>
                          <a:pt x="5" y="130"/>
                        </a:lnTo>
                        <a:lnTo>
                          <a:pt x="7" y="126"/>
                        </a:lnTo>
                        <a:lnTo>
                          <a:pt x="7" y="129"/>
                        </a:lnTo>
                        <a:lnTo>
                          <a:pt x="7" y="131"/>
                        </a:lnTo>
                        <a:lnTo>
                          <a:pt x="8" y="133"/>
                        </a:lnTo>
                        <a:lnTo>
                          <a:pt x="10" y="128"/>
                        </a:lnTo>
                        <a:lnTo>
                          <a:pt x="9" y="118"/>
                        </a:lnTo>
                        <a:lnTo>
                          <a:pt x="12" y="118"/>
                        </a:lnTo>
                        <a:lnTo>
                          <a:pt x="10" y="176"/>
                        </a:lnTo>
                        <a:lnTo>
                          <a:pt x="21" y="180"/>
                        </a:lnTo>
                        <a:lnTo>
                          <a:pt x="26" y="214"/>
                        </a:lnTo>
                        <a:lnTo>
                          <a:pt x="25" y="218"/>
                        </a:lnTo>
                        <a:lnTo>
                          <a:pt x="23" y="231"/>
                        </a:lnTo>
                        <a:lnTo>
                          <a:pt x="23" y="234"/>
                        </a:lnTo>
                        <a:lnTo>
                          <a:pt x="30" y="236"/>
                        </a:lnTo>
                        <a:lnTo>
                          <a:pt x="33" y="232"/>
                        </a:lnTo>
                        <a:lnTo>
                          <a:pt x="31" y="220"/>
                        </a:lnTo>
                        <a:lnTo>
                          <a:pt x="30" y="211"/>
                        </a:lnTo>
                        <a:lnTo>
                          <a:pt x="34" y="181"/>
                        </a:lnTo>
                        <a:lnTo>
                          <a:pt x="34" y="182"/>
                        </a:lnTo>
                        <a:lnTo>
                          <a:pt x="37" y="192"/>
                        </a:lnTo>
                        <a:lnTo>
                          <a:pt x="36" y="209"/>
                        </a:lnTo>
                        <a:lnTo>
                          <a:pt x="33" y="212"/>
                        </a:lnTo>
                        <a:lnTo>
                          <a:pt x="37" y="229"/>
                        </a:lnTo>
                        <a:lnTo>
                          <a:pt x="44" y="231"/>
                        </a:lnTo>
                        <a:lnTo>
                          <a:pt x="45" y="230"/>
                        </a:lnTo>
                        <a:lnTo>
                          <a:pt x="40" y="212"/>
                        </a:lnTo>
                        <a:lnTo>
                          <a:pt x="49" y="180"/>
                        </a:lnTo>
                        <a:lnTo>
                          <a:pt x="52" y="178"/>
                        </a:lnTo>
                        <a:lnTo>
                          <a:pt x="52" y="175"/>
                        </a:lnTo>
                        <a:lnTo>
                          <a:pt x="60" y="176"/>
                        </a:lnTo>
                        <a:lnTo>
                          <a:pt x="62" y="180"/>
                        </a:lnTo>
                        <a:lnTo>
                          <a:pt x="64" y="178"/>
                        </a:lnTo>
                        <a:lnTo>
                          <a:pt x="57" y="120"/>
                        </a:lnTo>
                        <a:lnTo>
                          <a:pt x="58" y="121"/>
                        </a:lnTo>
                        <a:lnTo>
                          <a:pt x="58" y="108"/>
                        </a:lnTo>
                        <a:lnTo>
                          <a:pt x="59" y="107"/>
                        </a:lnTo>
                        <a:lnTo>
                          <a:pt x="57" y="79"/>
                        </a:lnTo>
                        <a:lnTo>
                          <a:pt x="55" y="45"/>
                        </a:lnTo>
                        <a:lnTo>
                          <a:pt x="43" y="39"/>
                        </a:lnTo>
                        <a:lnTo>
                          <a:pt x="39" y="32"/>
                        </a:lnTo>
                        <a:lnTo>
                          <a:pt x="43" y="26"/>
                        </a:lnTo>
                        <a:lnTo>
                          <a:pt x="44" y="26"/>
                        </a:lnTo>
                        <a:lnTo>
                          <a:pt x="45" y="23"/>
                        </a:lnTo>
                        <a:lnTo>
                          <a:pt x="45" y="19"/>
                        </a:lnTo>
                        <a:lnTo>
                          <a:pt x="49" y="19"/>
                        </a:lnTo>
                        <a:lnTo>
                          <a:pt x="50" y="10"/>
                        </a:lnTo>
                        <a:lnTo>
                          <a:pt x="46" y="3"/>
                        </a:lnTo>
                        <a:lnTo>
                          <a:pt x="44" y="1"/>
                        </a:lnTo>
                        <a:lnTo>
                          <a:pt x="39" y="1"/>
                        </a:lnTo>
                        <a:lnTo>
                          <a:pt x="36" y="0"/>
                        </a:lnTo>
                        <a:lnTo>
                          <a:pt x="32" y="1"/>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88" name="Freeform 22"/>
                  <p:cNvSpPr/>
                  <p:nvPr/>
                </p:nvSpPr>
                <p:spPr>
                  <a:xfrm>
                    <a:off x="3770" y="2168"/>
                    <a:ext cx="211" cy="724"/>
                  </a:xfrm>
                  <a:custGeom>
                    <a:avLst/>
                    <a:gdLst/>
                    <a:ahLst/>
                    <a:cxnLst>
                      <a:cxn ang="0">
                        <a:pos x="133" y="0"/>
                      </a:cxn>
                      <a:cxn ang="0">
                        <a:pos x="87" y="23"/>
                      </a:cxn>
                      <a:cxn ang="0">
                        <a:pos x="86" y="71"/>
                      </a:cxn>
                      <a:cxn ang="0">
                        <a:pos x="63" y="94"/>
                      </a:cxn>
                      <a:cxn ang="0">
                        <a:pos x="15" y="121"/>
                      </a:cxn>
                      <a:cxn ang="0">
                        <a:pos x="7" y="260"/>
                      </a:cxn>
                      <a:cxn ang="0">
                        <a:pos x="39" y="380"/>
                      </a:cxn>
                      <a:cxn ang="0">
                        <a:pos x="73" y="471"/>
                      </a:cxn>
                      <a:cxn ang="0">
                        <a:pos x="66" y="687"/>
                      </a:cxn>
                      <a:cxn ang="0">
                        <a:pos x="72" y="696"/>
                      </a:cxn>
                      <a:cxn ang="0">
                        <a:pos x="105" y="719"/>
                      </a:cxn>
                      <a:cxn ang="0">
                        <a:pos x="123" y="723"/>
                      </a:cxn>
                      <a:cxn ang="0">
                        <a:pos x="135" y="717"/>
                      </a:cxn>
                      <a:cxn ang="0">
                        <a:pos x="128" y="705"/>
                      </a:cxn>
                      <a:cxn ang="0">
                        <a:pos x="112" y="687"/>
                      </a:cxn>
                      <a:cxn ang="0">
                        <a:pos x="119" y="680"/>
                      </a:cxn>
                      <a:cxn ang="0">
                        <a:pos x="161" y="694"/>
                      </a:cxn>
                      <a:cxn ang="0">
                        <a:pos x="164" y="685"/>
                      </a:cxn>
                      <a:cxn ang="0">
                        <a:pos x="161" y="676"/>
                      </a:cxn>
                      <a:cxn ang="0">
                        <a:pos x="148" y="663"/>
                      </a:cxn>
                      <a:cxn ang="0">
                        <a:pos x="162" y="592"/>
                      </a:cxn>
                      <a:cxn ang="0">
                        <a:pos x="176" y="396"/>
                      </a:cxn>
                      <a:cxn ang="0">
                        <a:pos x="183" y="357"/>
                      </a:cxn>
                      <a:cxn ang="0">
                        <a:pos x="171" y="279"/>
                      </a:cxn>
                      <a:cxn ang="0">
                        <a:pos x="181" y="278"/>
                      </a:cxn>
                      <a:cxn ang="0">
                        <a:pos x="189" y="275"/>
                      </a:cxn>
                      <a:cxn ang="0">
                        <a:pos x="197" y="270"/>
                      </a:cxn>
                      <a:cxn ang="0">
                        <a:pos x="203" y="264"/>
                      </a:cxn>
                      <a:cxn ang="0">
                        <a:pos x="210" y="254"/>
                      </a:cxn>
                      <a:cxn ang="0">
                        <a:pos x="204" y="215"/>
                      </a:cxn>
                      <a:cxn ang="0">
                        <a:pos x="154" y="124"/>
                      </a:cxn>
                      <a:cxn ang="0">
                        <a:pos x="135" y="97"/>
                      </a:cxn>
                      <a:cxn ang="0">
                        <a:pos x="157" y="80"/>
                      </a:cxn>
                      <a:cxn ang="0">
                        <a:pos x="159" y="76"/>
                      </a:cxn>
                      <a:cxn ang="0">
                        <a:pos x="166" y="68"/>
                      </a:cxn>
                      <a:cxn ang="0">
                        <a:pos x="165" y="48"/>
                      </a:cxn>
                      <a:cxn ang="0">
                        <a:pos x="168" y="25"/>
                      </a:cxn>
                    </a:cxnLst>
                    <a:rect l="0" t="0" r="0" b="0"/>
                    <a:pathLst>
                      <a:path w="211" h="724">
                        <a:moveTo>
                          <a:pt x="158" y="9"/>
                        </a:moveTo>
                        <a:lnTo>
                          <a:pt x="133" y="0"/>
                        </a:lnTo>
                        <a:lnTo>
                          <a:pt x="105" y="4"/>
                        </a:lnTo>
                        <a:lnTo>
                          <a:pt x="87" y="23"/>
                        </a:lnTo>
                        <a:lnTo>
                          <a:pt x="80" y="45"/>
                        </a:lnTo>
                        <a:lnTo>
                          <a:pt x="86" y="71"/>
                        </a:lnTo>
                        <a:lnTo>
                          <a:pt x="76" y="87"/>
                        </a:lnTo>
                        <a:lnTo>
                          <a:pt x="63" y="94"/>
                        </a:lnTo>
                        <a:lnTo>
                          <a:pt x="26" y="110"/>
                        </a:lnTo>
                        <a:lnTo>
                          <a:pt x="15" y="121"/>
                        </a:lnTo>
                        <a:lnTo>
                          <a:pt x="0" y="236"/>
                        </a:lnTo>
                        <a:lnTo>
                          <a:pt x="7" y="260"/>
                        </a:lnTo>
                        <a:lnTo>
                          <a:pt x="45" y="270"/>
                        </a:lnTo>
                        <a:lnTo>
                          <a:pt x="39" y="380"/>
                        </a:lnTo>
                        <a:lnTo>
                          <a:pt x="66" y="390"/>
                        </a:lnTo>
                        <a:lnTo>
                          <a:pt x="73" y="471"/>
                        </a:lnTo>
                        <a:lnTo>
                          <a:pt x="67" y="610"/>
                        </a:lnTo>
                        <a:lnTo>
                          <a:pt x="66" y="687"/>
                        </a:lnTo>
                        <a:lnTo>
                          <a:pt x="72" y="689"/>
                        </a:lnTo>
                        <a:lnTo>
                          <a:pt x="72" y="696"/>
                        </a:lnTo>
                        <a:lnTo>
                          <a:pt x="93" y="710"/>
                        </a:lnTo>
                        <a:lnTo>
                          <a:pt x="105" y="719"/>
                        </a:lnTo>
                        <a:lnTo>
                          <a:pt x="113" y="723"/>
                        </a:lnTo>
                        <a:lnTo>
                          <a:pt x="123" y="723"/>
                        </a:lnTo>
                        <a:lnTo>
                          <a:pt x="133" y="720"/>
                        </a:lnTo>
                        <a:lnTo>
                          <a:pt x="135" y="717"/>
                        </a:lnTo>
                        <a:lnTo>
                          <a:pt x="133" y="711"/>
                        </a:lnTo>
                        <a:lnTo>
                          <a:pt x="128" y="705"/>
                        </a:lnTo>
                        <a:lnTo>
                          <a:pt x="121" y="695"/>
                        </a:lnTo>
                        <a:lnTo>
                          <a:pt x="112" y="687"/>
                        </a:lnTo>
                        <a:lnTo>
                          <a:pt x="119" y="689"/>
                        </a:lnTo>
                        <a:lnTo>
                          <a:pt x="119" y="680"/>
                        </a:lnTo>
                        <a:lnTo>
                          <a:pt x="148" y="694"/>
                        </a:lnTo>
                        <a:lnTo>
                          <a:pt x="161" y="694"/>
                        </a:lnTo>
                        <a:lnTo>
                          <a:pt x="164" y="689"/>
                        </a:lnTo>
                        <a:lnTo>
                          <a:pt x="164" y="685"/>
                        </a:lnTo>
                        <a:lnTo>
                          <a:pt x="163" y="680"/>
                        </a:lnTo>
                        <a:lnTo>
                          <a:pt x="161" y="676"/>
                        </a:lnTo>
                        <a:lnTo>
                          <a:pt x="153" y="669"/>
                        </a:lnTo>
                        <a:lnTo>
                          <a:pt x="148" y="663"/>
                        </a:lnTo>
                        <a:lnTo>
                          <a:pt x="155" y="661"/>
                        </a:lnTo>
                        <a:lnTo>
                          <a:pt x="162" y="592"/>
                        </a:lnTo>
                        <a:lnTo>
                          <a:pt x="165" y="484"/>
                        </a:lnTo>
                        <a:lnTo>
                          <a:pt x="176" y="396"/>
                        </a:lnTo>
                        <a:lnTo>
                          <a:pt x="180" y="371"/>
                        </a:lnTo>
                        <a:lnTo>
                          <a:pt x="183" y="357"/>
                        </a:lnTo>
                        <a:lnTo>
                          <a:pt x="174" y="303"/>
                        </a:lnTo>
                        <a:lnTo>
                          <a:pt x="171" y="279"/>
                        </a:lnTo>
                        <a:lnTo>
                          <a:pt x="177" y="282"/>
                        </a:lnTo>
                        <a:lnTo>
                          <a:pt x="181" y="278"/>
                        </a:lnTo>
                        <a:lnTo>
                          <a:pt x="183" y="278"/>
                        </a:lnTo>
                        <a:lnTo>
                          <a:pt x="189" y="275"/>
                        </a:lnTo>
                        <a:lnTo>
                          <a:pt x="195" y="276"/>
                        </a:lnTo>
                        <a:lnTo>
                          <a:pt x="197" y="270"/>
                        </a:lnTo>
                        <a:lnTo>
                          <a:pt x="201" y="269"/>
                        </a:lnTo>
                        <a:lnTo>
                          <a:pt x="203" y="264"/>
                        </a:lnTo>
                        <a:lnTo>
                          <a:pt x="207" y="260"/>
                        </a:lnTo>
                        <a:lnTo>
                          <a:pt x="210" y="254"/>
                        </a:lnTo>
                        <a:lnTo>
                          <a:pt x="199" y="230"/>
                        </a:lnTo>
                        <a:lnTo>
                          <a:pt x="204" y="215"/>
                        </a:lnTo>
                        <a:lnTo>
                          <a:pt x="184" y="230"/>
                        </a:lnTo>
                        <a:lnTo>
                          <a:pt x="154" y="124"/>
                        </a:lnTo>
                        <a:lnTo>
                          <a:pt x="130" y="102"/>
                        </a:lnTo>
                        <a:lnTo>
                          <a:pt x="135" y="97"/>
                        </a:lnTo>
                        <a:lnTo>
                          <a:pt x="155" y="94"/>
                        </a:lnTo>
                        <a:lnTo>
                          <a:pt x="157" y="80"/>
                        </a:lnTo>
                        <a:lnTo>
                          <a:pt x="151" y="77"/>
                        </a:lnTo>
                        <a:lnTo>
                          <a:pt x="159" y="76"/>
                        </a:lnTo>
                        <a:lnTo>
                          <a:pt x="158" y="71"/>
                        </a:lnTo>
                        <a:lnTo>
                          <a:pt x="166" y="68"/>
                        </a:lnTo>
                        <a:lnTo>
                          <a:pt x="160" y="50"/>
                        </a:lnTo>
                        <a:lnTo>
                          <a:pt x="165" y="48"/>
                        </a:lnTo>
                        <a:lnTo>
                          <a:pt x="162" y="25"/>
                        </a:lnTo>
                        <a:lnTo>
                          <a:pt x="168" y="25"/>
                        </a:lnTo>
                        <a:lnTo>
                          <a:pt x="158" y="9"/>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89" name="Freeform 23"/>
                  <p:cNvSpPr/>
                  <p:nvPr/>
                </p:nvSpPr>
                <p:spPr>
                  <a:xfrm>
                    <a:off x="3358" y="2126"/>
                    <a:ext cx="157" cy="691"/>
                  </a:xfrm>
                  <a:custGeom>
                    <a:avLst/>
                    <a:gdLst/>
                    <a:ahLst/>
                    <a:cxnLst>
                      <a:cxn ang="0">
                        <a:pos x="125" y="14"/>
                      </a:cxn>
                      <a:cxn ang="0">
                        <a:pos x="125" y="31"/>
                      </a:cxn>
                      <a:cxn ang="0">
                        <a:pos x="123" y="36"/>
                      </a:cxn>
                      <a:cxn ang="0">
                        <a:pos x="130" y="50"/>
                      </a:cxn>
                      <a:cxn ang="0">
                        <a:pos x="125" y="53"/>
                      </a:cxn>
                      <a:cxn ang="0">
                        <a:pos x="127" y="59"/>
                      </a:cxn>
                      <a:cxn ang="0">
                        <a:pos x="122" y="77"/>
                      </a:cxn>
                      <a:cxn ang="0">
                        <a:pos x="122" y="82"/>
                      </a:cxn>
                      <a:cxn ang="0">
                        <a:pos x="149" y="100"/>
                      </a:cxn>
                      <a:cxn ang="0">
                        <a:pos x="162" y="242"/>
                      </a:cxn>
                      <a:cxn ang="0">
                        <a:pos x="145" y="268"/>
                      </a:cxn>
                      <a:cxn ang="0">
                        <a:pos x="152" y="344"/>
                      </a:cxn>
                      <a:cxn ang="0">
                        <a:pos x="140" y="353"/>
                      </a:cxn>
                      <a:cxn ang="0">
                        <a:pos x="136" y="474"/>
                      </a:cxn>
                      <a:cxn ang="0">
                        <a:pos x="128" y="596"/>
                      </a:cxn>
                      <a:cxn ang="0">
                        <a:pos x="131" y="603"/>
                      </a:cxn>
                      <a:cxn ang="0">
                        <a:pos x="158" y="627"/>
                      </a:cxn>
                      <a:cxn ang="0">
                        <a:pos x="155" y="631"/>
                      </a:cxn>
                      <a:cxn ang="0">
                        <a:pos x="145" y="635"/>
                      </a:cxn>
                      <a:cxn ang="0">
                        <a:pos x="129" y="631"/>
                      </a:cxn>
                      <a:cxn ang="0">
                        <a:pos x="114" y="622"/>
                      </a:cxn>
                      <a:cxn ang="0">
                        <a:pos x="101" y="617"/>
                      </a:cxn>
                      <a:cxn ang="0">
                        <a:pos x="101" y="638"/>
                      </a:cxn>
                      <a:cxn ang="0">
                        <a:pos x="95" y="639"/>
                      </a:cxn>
                      <a:cxn ang="0">
                        <a:pos x="104" y="656"/>
                      </a:cxn>
                      <a:cxn ang="0">
                        <a:pos x="100" y="686"/>
                      </a:cxn>
                      <a:cxn ang="0">
                        <a:pos x="91" y="690"/>
                      </a:cxn>
                      <a:cxn ang="0">
                        <a:pos x="67" y="665"/>
                      </a:cxn>
                      <a:cxn ang="0">
                        <a:pos x="67" y="648"/>
                      </a:cxn>
                      <a:cxn ang="0">
                        <a:pos x="62" y="646"/>
                      </a:cxn>
                      <a:cxn ang="0">
                        <a:pos x="55" y="489"/>
                      </a:cxn>
                      <a:cxn ang="0">
                        <a:pos x="62" y="474"/>
                      </a:cxn>
                      <a:cxn ang="0">
                        <a:pos x="44" y="368"/>
                      </a:cxn>
                      <a:cxn ang="0">
                        <a:pos x="33" y="364"/>
                      </a:cxn>
                      <a:cxn ang="0">
                        <a:pos x="29" y="255"/>
                      </a:cxn>
                      <a:cxn ang="0">
                        <a:pos x="0" y="242"/>
                      </a:cxn>
                      <a:cxn ang="0">
                        <a:pos x="12" y="124"/>
                      </a:cxn>
                      <a:cxn ang="0">
                        <a:pos x="56" y="91"/>
                      </a:cxn>
                      <a:cxn ang="0">
                        <a:pos x="68" y="81"/>
                      </a:cxn>
                      <a:cxn ang="0">
                        <a:pos x="68" y="69"/>
                      </a:cxn>
                      <a:cxn ang="0">
                        <a:pos x="64" y="61"/>
                      </a:cxn>
                      <a:cxn ang="0">
                        <a:pos x="59" y="55"/>
                      </a:cxn>
                      <a:cxn ang="0">
                        <a:pos x="54" y="46"/>
                      </a:cxn>
                      <a:cxn ang="0">
                        <a:pos x="51" y="39"/>
                      </a:cxn>
                      <a:cxn ang="0">
                        <a:pos x="51" y="30"/>
                      </a:cxn>
                      <a:cxn ang="0">
                        <a:pos x="54" y="22"/>
                      </a:cxn>
                      <a:cxn ang="0">
                        <a:pos x="60" y="12"/>
                      </a:cxn>
                      <a:cxn ang="0">
                        <a:pos x="68" y="5"/>
                      </a:cxn>
                      <a:cxn ang="0">
                        <a:pos x="77" y="1"/>
                      </a:cxn>
                      <a:cxn ang="0">
                        <a:pos x="94" y="0"/>
                      </a:cxn>
                      <a:cxn ang="0">
                        <a:pos x="104" y="2"/>
                      </a:cxn>
                      <a:cxn ang="0">
                        <a:pos x="114" y="5"/>
                      </a:cxn>
                      <a:cxn ang="0">
                        <a:pos x="125" y="14"/>
                      </a:cxn>
                    </a:cxnLst>
                    <a:rect l="0" t="0" r="0" b="0"/>
                    <a:pathLst>
                      <a:path w="156" h="691">
                        <a:moveTo>
                          <a:pt x="118" y="14"/>
                        </a:moveTo>
                        <a:lnTo>
                          <a:pt x="118" y="31"/>
                        </a:lnTo>
                        <a:lnTo>
                          <a:pt x="116" y="36"/>
                        </a:lnTo>
                        <a:lnTo>
                          <a:pt x="123" y="50"/>
                        </a:lnTo>
                        <a:lnTo>
                          <a:pt x="118" y="53"/>
                        </a:lnTo>
                        <a:lnTo>
                          <a:pt x="120" y="59"/>
                        </a:lnTo>
                        <a:lnTo>
                          <a:pt x="115" y="77"/>
                        </a:lnTo>
                        <a:lnTo>
                          <a:pt x="115" y="82"/>
                        </a:lnTo>
                        <a:lnTo>
                          <a:pt x="142" y="100"/>
                        </a:lnTo>
                        <a:lnTo>
                          <a:pt x="155" y="242"/>
                        </a:lnTo>
                        <a:lnTo>
                          <a:pt x="138" y="268"/>
                        </a:lnTo>
                        <a:lnTo>
                          <a:pt x="145" y="344"/>
                        </a:lnTo>
                        <a:lnTo>
                          <a:pt x="133" y="353"/>
                        </a:lnTo>
                        <a:lnTo>
                          <a:pt x="129" y="474"/>
                        </a:lnTo>
                        <a:lnTo>
                          <a:pt x="121" y="596"/>
                        </a:lnTo>
                        <a:lnTo>
                          <a:pt x="124" y="603"/>
                        </a:lnTo>
                        <a:lnTo>
                          <a:pt x="151" y="627"/>
                        </a:lnTo>
                        <a:lnTo>
                          <a:pt x="148" y="631"/>
                        </a:lnTo>
                        <a:lnTo>
                          <a:pt x="138" y="635"/>
                        </a:lnTo>
                        <a:lnTo>
                          <a:pt x="122" y="631"/>
                        </a:lnTo>
                        <a:lnTo>
                          <a:pt x="107" y="622"/>
                        </a:lnTo>
                        <a:lnTo>
                          <a:pt x="94" y="617"/>
                        </a:lnTo>
                        <a:lnTo>
                          <a:pt x="94" y="638"/>
                        </a:lnTo>
                        <a:lnTo>
                          <a:pt x="88" y="639"/>
                        </a:lnTo>
                        <a:lnTo>
                          <a:pt x="97" y="656"/>
                        </a:lnTo>
                        <a:lnTo>
                          <a:pt x="93" y="686"/>
                        </a:lnTo>
                        <a:lnTo>
                          <a:pt x="84" y="690"/>
                        </a:lnTo>
                        <a:lnTo>
                          <a:pt x="67" y="665"/>
                        </a:lnTo>
                        <a:lnTo>
                          <a:pt x="67" y="648"/>
                        </a:lnTo>
                        <a:lnTo>
                          <a:pt x="62" y="646"/>
                        </a:lnTo>
                        <a:lnTo>
                          <a:pt x="55" y="489"/>
                        </a:lnTo>
                        <a:lnTo>
                          <a:pt x="62" y="474"/>
                        </a:lnTo>
                        <a:lnTo>
                          <a:pt x="44" y="368"/>
                        </a:lnTo>
                        <a:lnTo>
                          <a:pt x="33" y="364"/>
                        </a:lnTo>
                        <a:lnTo>
                          <a:pt x="29" y="255"/>
                        </a:lnTo>
                        <a:lnTo>
                          <a:pt x="0" y="242"/>
                        </a:lnTo>
                        <a:lnTo>
                          <a:pt x="12" y="124"/>
                        </a:lnTo>
                        <a:lnTo>
                          <a:pt x="56" y="91"/>
                        </a:lnTo>
                        <a:lnTo>
                          <a:pt x="68" y="81"/>
                        </a:lnTo>
                        <a:lnTo>
                          <a:pt x="68" y="69"/>
                        </a:lnTo>
                        <a:lnTo>
                          <a:pt x="64" y="61"/>
                        </a:lnTo>
                        <a:lnTo>
                          <a:pt x="59" y="55"/>
                        </a:lnTo>
                        <a:lnTo>
                          <a:pt x="54" y="46"/>
                        </a:lnTo>
                        <a:lnTo>
                          <a:pt x="51" y="39"/>
                        </a:lnTo>
                        <a:lnTo>
                          <a:pt x="51" y="30"/>
                        </a:lnTo>
                        <a:lnTo>
                          <a:pt x="54" y="22"/>
                        </a:lnTo>
                        <a:lnTo>
                          <a:pt x="60" y="12"/>
                        </a:lnTo>
                        <a:lnTo>
                          <a:pt x="68" y="5"/>
                        </a:lnTo>
                        <a:lnTo>
                          <a:pt x="77" y="1"/>
                        </a:lnTo>
                        <a:lnTo>
                          <a:pt x="87" y="0"/>
                        </a:lnTo>
                        <a:lnTo>
                          <a:pt x="97" y="2"/>
                        </a:lnTo>
                        <a:lnTo>
                          <a:pt x="107" y="5"/>
                        </a:lnTo>
                        <a:lnTo>
                          <a:pt x="118" y="14"/>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90" name="Freeform 24"/>
                  <p:cNvSpPr/>
                  <p:nvPr/>
                </p:nvSpPr>
                <p:spPr>
                  <a:xfrm>
                    <a:off x="3002" y="2119"/>
                    <a:ext cx="185" cy="628"/>
                  </a:xfrm>
                  <a:custGeom>
                    <a:avLst/>
                    <a:gdLst/>
                    <a:ahLst/>
                    <a:cxnLst>
                      <a:cxn ang="0">
                        <a:pos x="112" y="8"/>
                      </a:cxn>
                      <a:cxn ang="0">
                        <a:pos x="149" y="0"/>
                      </a:cxn>
                      <a:cxn ang="0">
                        <a:pos x="162" y="15"/>
                      </a:cxn>
                      <a:cxn ang="0">
                        <a:pos x="169" y="10"/>
                      </a:cxn>
                      <a:cxn ang="0">
                        <a:pos x="178" y="38"/>
                      </a:cxn>
                      <a:cxn ang="0">
                        <a:pos x="158" y="55"/>
                      </a:cxn>
                      <a:cxn ang="0">
                        <a:pos x="157" y="69"/>
                      </a:cxn>
                      <a:cxn ang="0">
                        <a:pos x="152" y="71"/>
                      </a:cxn>
                      <a:cxn ang="0">
                        <a:pos x="149" y="85"/>
                      </a:cxn>
                      <a:cxn ang="0">
                        <a:pos x="134" y="88"/>
                      </a:cxn>
                      <a:cxn ang="0">
                        <a:pos x="134" y="94"/>
                      </a:cxn>
                      <a:cxn ang="0">
                        <a:pos x="158" y="112"/>
                      </a:cxn>
                      <a:cxn ang="0">
                        <a:pos x="178" y="202"/>
                      </a:cxn>
                      <a:cxn ang="0">
                        <a:pos x="162" y="226"/>
                      </a:cxn>
                      <a:cxn ang="0">
                        <a:pos x="162" y="390"/>
                      </a:cxn>
                      <a:cxn ang="0">
                        <a:pos x="143" y="397"/>
                      </a:cxn>
                      <a:cxn ang="0">
                        <a:pos x="140" y="423"/>
                      </a:cxn>
                      <a:cxn ang="0">
                        <a:pos x="132" y="493"/>
                      </a:cxn>
                      <a:cxn ang="0">
                        <a:pos x="132" y="530"/>
                      </a:cxn>
                      <a:cxn ang="0">
                        <a:pos x="162" y="553"/>
                      </a:cxn>
                      <a:cxn ang="0">
                        <a:pos x="184" y="565"/>
                      </a:cxn>
                      <a:cxn ang="0">
                        <a:pos x="184" y="572"/>
                      </a:cxn>
                      <a:cxn ang="0">
                        <a:pos x="138" y="561"/>
                      </a:cxn>
                      <a:cxn ang="0">
                        <a:pos x="132" y="554"/>
                      </a:cxn>
                      <a:cxn ang="0">
                        <a:pos x="127" y="561"/>
                      </a:cxn>
                      <a:cxn ang="0">
                        <a:pos x="123" y="561"/>
                      </a:cxn>
                      <a:cxn ang="0">
                        <a:pos x="117" y="535"/>
                      </a:cxn>
                      <a:cxn ang="0">
                        <a:pos x="112" y="416"/>
                      </a:cxn>
                      <a:cxn ang="0">
                        <a:pos x="103" y="416"/>
                      </a:cxn>
                      <a:cxn ang="0">
                        <a:pos x="77" y="521"/>
                      </a:cxn>
                      <a:cxn ang="0">
                        <a:pos x="77" y="587"/>
                      </a:cxn>
                      <a:cxn ang="0">
                        <a:pos x="66" y="619"/>
                      </a:cxn>
                      <a:cxn ang="0">
                        <a:pos x="57" y="627"/>
                      </a:cxn>
                      <a:cxn ang="0">
                        <a:pos x="51" y="609"/>
                      </a:cxn>
                      <a:cxn ang="0">
                        <a:pos x="58" y="590"/>
                      </a:cxn>
                      <a:cxn ang="0">
                        <a:pos x="66" y="550"/>
                      </a:cxn>
                      <a:cxn ang="0">
                        <a:pos x="68" y="399"/>
                      </a:cxn>
                      <a:cxn ang="0">
                        <a:pos x="77" y="252"/>
                      </a:cxn>
                      <a:cxn ang="0">
                        <a:pos x="61" y="240"/>
                      </a:cxn>
                      <a:cxn ang="0">
                        <a:pos x="61" y="218"/>
                      </a:cxn>
                      <a:cxn ang="0">
                        <a:pos x="61" y="179"/>
                      </a:cxn>
                      <a:cxn ang="0">
                        <a:pos x="40" y="189"/>
                      </a:cxn>
                      <a:cxn ang="0">
                        <a:pos x="58" y="214"/>
                      </a:cxn>
                      <a:cxn ang="0">
                        <a:pos x="58" y="237"/>
                      </a:cxn>
                      <a:cxn ang="0">
                        <a:pos x="39" y="222"/>
                      </a:cxn>
                      <a:cxn ang="0">
                        <a:pos x="29" y="208"/>
                      </a:cxn>
                      <a:cxn ang="0">
                        <a:pos x="20" y="211"/>
                      </a:cxn>
                      <a:cxn ang="0">
                        <a:pos x="0" y="187"/>
                      </a:cxn>
                      <a:cxn ang="0">
                        <a:pos x="0" y="179"/>
                      </a:cxn>
                      <a:cxn ang="0">
                        <a:pos x="10" y="175"/>
                      </a:cxn>
                      <a:cxn ang="0">
                        <a:pos x="34" y="147"/>
                      </a:cxn>
                      <a:cxn ang="0">
                        <a:pos x="58" y="123"/>
                      </a:cxn>
                      <a:cxn ang="0">
                        <a:pos x="89" y="95"/>
                      </a:cxn>
                      <a:cxn ang="0">
                        <a:pos x="112" y="86"/>
                      </a:cxn>
                      <a:cxn ang="0">
                        <a:pos x="112" y="66"/>
                      </a:cxn>
                      <a:cxn ang="0">
                        <a:pos x="103" y="56"/>
                      </a:cxn>
                      <a:cxn ang="0">
                        <a:pos x="103" y="31"/>
                      </a:cxn>
                      <a:cxn ang="0">
                        <a:pos x="97" y="26"/>
                      </a:cxn>
                      <a:cxn ang="0">
                        <a:pos x="112" y="8"/>
                      </a:cxn>
                    </a:cxnLst>
                    <a:rect l="0" t="0" r="0" b="0"/>
                    <a:pathLst>
                      <a:path w="185" h="628">
                        <a:moveTo>
                          <a:pt x="112" y="8"/>
                        </a:moveTo>
                        <a:lnTo>
                          <a:pt x="149" y="0"/>
                        </a:lnTo>
                        <a:lnTo>
                          <a:pt x="162" y="15"/>
                        </a:lnTo>
                        <a:lnTo>
                          <a:pt x="169" y="10"/>
                        </a:lnTo>
                        <a:lnTo>
                          <a:pt x="178" y="38"/>
                        </a:lnTo>
                        <a:lnTo>
                          <a:pt x="158" y="55"/>
                        </a:lnTo>
                        <a:lnTo>
                          <a:pt x="157" y="69"/>
                        </a:lnTo>
                        <a:lnTo>
                          <a:pt x="152" y="71"/>
                        </a:lnTo>
                        <a:lnTo>
                          <a:pt x="149" y="85"/>
                        </a:lnTo>
                        <a:lnTo>
                          <a:pt x="134" y="88"/>
                        </a:lnTo>
                        <a:lnTo>
                          <a:pt x="134" y="94"/>
                        </a:lnTo>
                        <a:lnTo>
                          <a:pt x="158" y="112"/>
                        </a:lnTo>
                        <a:lnTo>
                          <a:pt x="178" y="202"/>
                        </a:lnTo>
                        <a:lnTo>
                          <a:pt x="162" y="226"/>
                        </a:lnTo>
                        <a:lnTo>
                          <a:pt x="162" y="390"/>
                        </a:lnTo>
                        <a:lnTo>
                          <a:pt x="143" y="397"/>
                        </a:lnTo>
                        <a:lnTo>
                          <a:pt x="140" y="423"/>
                        </a:lnTo>
                        <a:lnTo>
                          <a:pt x="132" y="493"/>
                        </a:lnTo>
                        <a:lnTo>
                          <a:pt x="132" y="530"/>
                        </a:lnTo>
                        <a:lnTo>
                          <a:pt x="162" y="553"/>
                        </a:lnTo>
                        <a:lnTo>
                          <a:pt x="184" y="565"/>
                        </a:lnTo>
                        <a:lnTo>
                          <a:pt x="184" y="572"/>
                        </a:lnTo>
                        <a:lnTo>
                          <a:pt x="138" y="561"/>
                        </a:lnTo>
                        <a:lnTo>
                          <a:pt x="132" y="554"/>
                        </a:lnTo>
                        <a:lnTo>
                          <a:pt x="127" y="561"/>
                        </a:lnTo>
                        <a:lnTo>
                          <a:pt x="123" y="561"/>
                        </a:lnTo>
                        <a:lnTo>
                          <a:pt x="117" y="535"/>
                        </a:lnTo>
                        <a:lnTo>
                          <a:pt x="112" y="416"/>
                        </a:lnTo>
                        <a:lnTo>
                          <a:pt x="103" y="416"/>
                        </a:lnTo>
                        <a:lnTo>
                          <a:pt x="77" y="521"/>
                        </a:lnTo>
                        <a:lnTo>
                          <a:pt x="77" y="587"/>
                        </a:lnTo>
                        <a:lnTo>
                          <a:pt x="66" y="619"/>
                        </a:lnTo>
                        <a:lnTo>
                          <a:pt x="57" y="627"/>
                        </a:lnTo>
                        <a:lnTo>
                          <a:pt x="51" y="609"/>
                        </a:lnTo>
                        <a:lnTo>
                          <a:pt x="58" y="590"/>
                        </a:lnTo>
                        <a:lnTo>
                          <a:pt x="66" y="550"/>
                        </a:lnTo>
                        <a:lnTo>
                          <a:pt x="68" y="399"/>
                        </a:lnTo>
                        <a:lnTo>
                          <a:pt x="77" y="252"/>
                        </a:lnTo>
                        <a:lnTo>
                          <a:pt x="61" y="240"/>
                        </a:lnTo>
                        <a:lnTo>
                          <a:pt x="61" y="218"/>
                        </a:lnTo>
                        <a:lnTo>
                          <a:pt x="61" y="179"/>
                        </a:lnTo>
                        <a:lnTo>
                          <a:pt x="40" y="189"/>
                        </a:lnTo>
                        <a:lnTo>
                          <a:pt x="58" y="214"/>
                        </a:lnTo>
                        <a:lnTo>
                          <a:pt x="58" y="237"/>
                        </a:lnTo>
                        <a:lnTo>
                          <a:pt x="39" y="222"/>
                        </a:lnTo>
                        <a:lnTo>
                          <a:pt x="29" y="208"/>
                        </a:lnTo>
                        <a:lnTo>
                          <a:pt x="20" y="211"/>
                        </a:lnTo>
                        <a:lnTo>
                          <a:pt x="0" y="187"/>
                        </a:lnTo>
                        <a:lnTo>
                          <a:pt x="0" y="179"/>
                        </a:lnTo>
                        <a:lnTo>
                          <a:pt x="10" y="175"/>
                        </a:lnTo>
                        <a:lnTo>
                          <a:pt x="34" y="147"/>
                        </a:lnTo>
                        <a:lnTo>
                          <a:pt x="58" y="123"/>
                        </a:lnTo>
                        <a:lnTo>
                          <a:pt x="89" y="95"/>
                        </a:lnTo>
                        <a:lnTo>
                          <a:pt x="112" y="86"/>
                        </a:lnTo>
                        <a:lnTo>
                          <a:pt x="112" y="66"/>
                        </a:lnTo>
                        <a:lnTo>
                          <a:pt x="103" y="56"/>
                        </a:lnTo>
                        <a:lnTo>
                          <a:pt x="103" y="31"/>
                        </a:lnTo>
                        <a:lnTo>
                          <a:pt x="97" y="26"/>
                        </a:lnTo>
                        <a:lnTo>
                          <a:pt x="112" y="8"/>
                        </a:lnTo>
                      </a:path>
                    </a:pathLst>
                  </a:custGeom>
                  <a:solidFill>
                    <a:schemeClr val="folHlink">
                      <a:alpha val="100000"/>
                    </a:scheme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sp>
                <p:nvSpPr>
                  <p:cNvPr id="91" name="Freeform 25"/>
                  <p:cNvSpPr/>
                  <p:nvPr/>
                </p:nvSpPr>
                <p:spPr>
                  <a:xfrm>
                    <a:off x="3183" y="2118"/>
                    <a:ext cx="133" cy="601"/>
                  </a:xfrm>
                  <a:custGeom>
                    <a:avLst/>
                    <a:gdLst/>
                    <a:ahLst/>
                    <a:cxnLst>
                      <a:cxn ang="0">
                        <a:pos x="30" y="11"/>
                      </a:cxn>
                      <a:cxn ang="0">
                        <a:pos x="30" y="27"/>
                      </a:cxn>
                      <a:cxn ang="0">
                        <a:pos x="33" y="31"/>
                      </a:cxn>
                      <a:cxn ang="0">
                        <a:pos x="27" y="42"/>
                      </a:cxn>
                      <a:cxn ang="0">
                        <a:pos x="30" y="46"/>
                      </a:cxn>
                      <a:cxn ang="0">
                        <a:pos x="30" y="51"/>
                      </a:cxn>
                      <a:cxn ang="0">
                        <a:pos x="34" y="67"/>
                      </a:cxn>
                      <a:cxn ang="0">
                        <a:pos x="34" y="70"/>
                      </a:cxn>
                      <a:cxn ang="0">
                        <a:pos x="10" y="86"/>
                      </a:cxn>
                      <a:cxn ang="0">
                        <a:pos x="0" y="211"/>
                      </a:cxn>
                      <a:cxn ang="0">
                        <a:pos x="13" y="232"/>
                      </a:cxn>
                      <a:cxn ang="0">
                        <a:pos x="8" y="300"/>
                      </a:cxn>
                      <a:cxn ang="0">
                        <a:pos x="17" y="307"/>
                      </a:cxn>
                      <a:cxn ang="0">
                        <a:pos x="22" y="413"/>
                      </a:cxn>
                      <a:cxn ang="0">
                        <a:pos x="28" y="519"/>
                      </a:cxn>
                      <a:cxn ang="0">
                        <a:pos x="25" y="525"/>
                      </a:cxn>
                      <a:cxn ang="0">
                        <a:pos x="2" y="545"/>
                      </a:cxn>
                      <a:cxn ang="0">
                        <a:pos x="5" y="548"/>
                      </a:cxn>
                      <a:cxn ang="0">
                        <a:pos x="13" y="553"/>
                      </a:cxn>
                      <a:cxn ang="0">
                        <a:pos x="28" y="548"/>
                      </a:cxn>
                      <a:cxn ang="0">
                        <a:pos x="41" y="541"/>
                      </a:cxn>
                      <a:cxn ang="0">
                        <a:pos x="52" y="537"/>
                      </a:cxn>
                      <a:cxn ang="0">
                        <a:pos x="52" y="555"/>
                      </a:cxn>
                      <a:cxn ang="0">
                        <a:pos x="57" y="555"/>
                      </a:cxn>
                      <a:cxn ang="0">
                        <a:pos x="49" y="571"/>
                      </a:cxn>
                      <a:cxn ang="0">
                        <a:pos x="53" y="596"/>
                      </a:cxn>
                      <a:cxn ang="0">
                        <a:pos x="61" y="600"/>
                      </a:cxn>
                      <a:cxn ang="0">
                        <a:pos x="68" y="579"/>
                      </a:cxn>
                      <a:cxn ang="0">
                        <a:pos x="68" y="563"/>
                      </a:cxn>
                      <a:cxn ang="0">
                        <a:pos x="72" y="562"/>
                      </a:cxn>
                      <a:cxn ang="0">
                        <a:pos x="78" y="425"/>
                      </a:cxn>
                      <a:cxn ang="0">
                        <a:pos x="72" y="412"/>
                      </a:cxn>
                      <a:cxn ang="0">
                        <a:pos x="88" y="320"/>
                      </a:cxn>
                      <a:cxn ang="0">
                        <a:pos x="98" y="316"/>
                      </a:cxn>
                      <a:cxn ang="0">
                        <a:pos x="101" y="221"/>
                      </a:cxn>
                      <a:cxn ang="0">
                        <a:pos x="126" y="210"/>
                      </a:cxn>
                      <a:cxn ang="0">
                        <a:pos x="116" y="107"/>
                      </a:cxn>
                      <a:cxn ang="0">
                        <a:pos x="77" y="79"/>
                      </a:cxn>
                      <a:cxn ang="0">
                        <a:pos x="68" y="69"/>
                      </a:cxn>
                      <a:cxn ang="0">
                        <a:pos x="68" y="60"/>
                      </a:cxn>
                      <a:cxn ang="0">
                        <a:pos x="71" y="53"/>
                      </a:cxn>
                      <a:cxn ang="0">
                        <a:pos x="75" y="47"/>
                      </a:cxn>
                      <a:cxn ang="0">
                        <a:pos x="79" y="40"/>
                      </a:cxn>
                      <a:cxn ang="0">
                        <a:pos x="82" y="33"/>
                      </a:cxn>
                      <a:cxn ang="0">
                        <a:pos x="82" y="26"/>
                      </a:cxn>
                      <a:cxn ang="0">
                        <a:pos x="79" y="18"/>
                      </a:cxn>
                      <a:cxn ang="0">
                        <a:pos x="75" y="10"/>
                      </a:cxn>
                      <a:cxn ang="0">
                        <a:pos x="68" y="4"/>
                      </a:cxn>
                      <a:cxn ang="0">
                        <a:pos x="67" y="0"/>
                      </a:cxn>
                      <a:cxn ang="0">
                        <a:pos x="58" y="0"/>
                      </a:cxn>
                      <a:cxn ang="0">
                        <a:pos x="49" y="1"/>
                      </a:cxn>
                      <a:cxn ang="0">
                        <a:pos x="41" y="4"/>
                      </a:cxn>
                      <a:cxn ang="0">
                        <a:pos x="30" y="11"/>
                      </a:cxn>
                    </a:cxnLst>
                    <a:rect l="0" t="0" r="0" b="0"/>
                    <a:pathLst>
                      <a:path w="134" h="601">
                        <a:moveTo>
                          <a:pt x="30" y="11"/>
                        </a:moveTo>
                        <a:lnTo>
                          <a:pt x="30" y="27"/>
                        </a:lnTo>
                        <a:lnTo>
                          <a:pt x="33" y="31"/>
                        </a:lnTo>
                        <a:lnTo>
                          <a:pt x="27" y="42"/>
                        </a:lnTo>
                        <a:lnTo>
                          <a:pt x="30" y="46"/>
                        </a:lnTo>
                        <a:lnTo>
                          <a:pt x="30" y="51"/>
                        </a:lnTo>
                        <a:lnTo>
                          <a:pt x="34" y="67"/>
                        </a:lnTo>
                        <a:lnTo>
                          <a:pt x="34" y="70"/>
                        </a:lnTo>
                        <a:lnTo>
                          <a:pt x="10" y="86"/>
                        </a:lnTo>
                        <a:lnTo>
                          <a:pt x="0" y="211"/>
                        </a:lnTo>
                        <a:lnTo>
                          <a:pt x="13" y="232"/>
                        </a:lnTo>
                        <a:lnTo>
                          <a:pt x="8" y="300"/>
                        </a:lnTo>
                        <a:lnTo>
                          <a:pt x="17" y="307"/>
                        </a:lnTo>
                        <a:lnTo>
                          <a:pt x="22" y="413"/>
                        </a:lnTo>
                        <a:lnTo>
                          <a:pt x="28" y="519"/>
                        </a:lnTo>
                        <a:lnTo>
                          <a:pt x="25" y="525"/>
                        </a:lnTo>
                        <a:lnTo>
                          <a:pt x="2" y="545"/>
                        </a:lnTo>
                        <a:lnTo>
                          <a:pt x="5" y="548"/>
                        </a:lnTo>
                        <a:lnTo>
                          <a:pt x="13" y="553"/>
                        </a:lnTo>
                        <a:lnTo>
                          <a:pt x="28" y="548"/>
                        </a:lnTo>
                        <a:lnTo>
                          <a:pt x="41" y="541"/>
                        </a:lnTo>
                        <a:lnTo>
                          <a:pt x="52" y="537"/>
                        </a:lnTo>
                        <a:lnTo>
                          <a:pt x="52" y="555"/>
                        </a:lnTo>
                        <a:lnTo>
                          <a:pt x="57" y="555"/>
                        </a:lnTo>
                        <a:lnTo>
                          <a:pt x="49" y="571"/>
                        </a:lnTo>
                        <a:lnTo>
                          <a:pt x="53" y="596"/>
                        </a:lnTo>
                        <a:lnTo>
                          <a:pt x="61" y="600"/>
                        </a:lnTo>
                        <a:lnTo>
                          <a:pt x="75" y="579"/>
                        </a:lnTo>
                        <a:lnTo>
                          <a:pt x="75" y="563"/>
                        </a:lnTo>
                        <a:lnTo>
                          <a:pt x="79" y="562"/>
                        </a:lnTo>
                        <a:lnTo>
                          <a:pt x="85" y="425"/>
                        </a:lnTo>
                        <a:lnTo>
                          <a:pt x="79" y="412"/>
                        </a:lnTo>
                        <a:lnTo>
                          <a:pt x="95" y="320"/>
                        </a:lnTo>
                        <a:lnTo>
                          <a:pt x="105" y="316"/>
                        </a:lnTo>
                        <a:lnTo>
                          <a:pt x="108" y="221"/>
                        </a:lnTo>
                        <a:lnTo>
                          <a:pt x="133" y="210"/>
                        </a:lnTo>
                        <a:lnTo>
                          <a:pt x="123" y="107"/>
                        </a:lnTo>
                        <a:lnTo>
                          <a:pt x="84" y="79"/>
                        </a:lnTo>
                        <a:lnTo>
                          <a:pt x="75" y="69"/>
                        </a:lnTo>
                        <a:lnTo>
                          <a:pt x="75" y="60"/>
                        </a:lnTo>
                        <a:lnTo>
                          <a:pt x="78" y="53"/>
                        </a:lnTo>
                        <a:lnTo>
                          <a:pt x="82" y="47"/>
                        </a:lnTo>
                        <a:lnTo>
                          <a:pt x="86" y="40"/>
                        </a:lnTo>
                        <a:lnTo>
                          <a:pt x="89" y="33"/>
                        </a:lnTo>
                        <a:lnTo>
                          <a:pt x="89" y="26"/>
                        </a:lnTo>
                        <a:lnTo>
                          <a:pt x="86" y="18"/>
                        </a:lnTo>
                        <a:lnTo>
                          <a:pt x="82" y="10"/>
                        </a:lnTo>
                        <a:lnTo>
                          <a:pt x="75" y="4"/>
                        </a:lnTo>
                        <a:lnTo>
                          <a:pt x="67" y="0"/>
                        </a:lnTo>
                        <a:lnTo>
                          <a:pt x="58" y="0"/>
                        </a:lnTo>
                        <a:lnTo>
                          <a:pt x="49" y="1"/>
                        </a:lnTo>
                        <a:lnTo>
                          <a:pt x="41" y="4"/>
                        </a:lnTo>
                        <a:lnTo>
                          <a:pt x="30" y="11"/>
                        </a:lnTo>
                      </a:path>
                    </a:pathLst>
                  </a:custGeom>
                  <a:solidFill>
                    <a:srgbClr val="EAEC5E">
                      <a:alpha val="100000"/>
                    </a:srgbClr>
                  </a:solidFill>
                  <a:ln w="12700">
                    <a:noFill/>
                  </a:ln>
                  <a:effectLst>
                    <a:outerShdw dist="35921" dir="2699999" algn="ctr" rotWithShape="0">
                      <a:schemeClr val="bg2">
                        <a:alpha val="100000"/>
                      </a:scheme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effectLst/>
                      <a:uLnTx/>
                      <a:uFillTx/>
                      <a:latin typeface="宋体" panose="02010600030101010101" pitchFamily="2" charset="-122"/>
                      <a:ea typeface="宋体" panose="02010600030101010101" pitchFamily="2" charset="-122"/>
                    </a:endParaRPr>
                  </a:p>
                </p:txBody>
              </p:sp>
            </p:grpSp>
            <p:sp>
              <p:nvSpPr>
                <p:cNvPr id="77" name="Oval 26"/>
                <p:cNvSpPr/>
                <p:nvPr/>
              </p:nvSpPr>
              <p:spPr>
                <a:xfrm>
                  <a:off x="2688" y="1776"/>
                  <a:ext cx="1632" cy="1200"/>
                </a:xfrm>
                <a:prstGeom prst="ellipse">
                  <a:avLst/>
                </a:prstGeom>
                <a:noFill/>
                <a:ln w="12700" cap="flat" cmpd="sng">
                  <a:solidFill>
                    <a:schemeClr val="hlink"/>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0" algn="l" defTabSz="914400" rtl="0" eaLnBrk="0" fontAlgn="base" latinLnBrk="0" hangingPunct="0">
                    <a:lnSpc>
                      <a:spcPct val="100000"/>
                    </a:lnSpc>
                    <a:spcBef>
                      <a:spcPct val="0"/>
                    </a:spcBef>
                    <a:spcAft>
                      <a:spcPct val="0"/>
                    </a:spcAft>
                    <a:buClr>
                      <a:srgbClr val="000000"/>
                    </a:buClr>
                    <a:buSzPct val="75000"/>
                    <a:buFont typeface="Wingdings" charset="2"/>
                    <a:buNone/>
                    <a:tabLst/>
                    <a:defRPr/>
                  </a:pPr>
                  <a:endParaRPr kumimoji="0" lang="zh-CN" altLang="en-US"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grpSp>
        </p:grpSp>
        <p:sp>
          <p:nvSpPr>
            <p:cNvPr id="73" name="AutoShape 27"/>
            <p:cNvSpPr/>
            <p:nvPr/>
          </p:nvSpPr>
          <p:spPr>
            <a:xfrm rot="-1229431">
              <a:off x="3115" y="2766"/>
              <a:ext cx="603" cy="1104"/>
            </a:xfrm>
            <a:prstGeom prst="curvedRightArrow">
              <a:avLst>
                <a:gd name="adj1" fmla="val 36616"/>
                <a:gd name="adj2" fmla="val 73233"/>
                <a:gd name="adj3" fmla="val 33333"/>
              </a:avLst>
            </a:prstGeom>
            <a:solidFill>
              <a:schemeClr val="tx2"/>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0" algn="ctr" defTabSz="914400" rtl="0" eaLnBrk="0" fontAlgn="base" latinLnBrk="0" hangingPunct="0">
                <a:lnSpc>
                  <a:spcPct val="100000"/>
                </a:lnSpc>
                <a:spcBef>
                  <a:spcPct val="0"/>
                </a:spcBef>
                <a:spcAft>
                  <a:spcPct val="0"/>
                </a:spcAft>
                <a:buClr>
                  <a:srgbClr val="000000"/>
                </a:buClr>
                <a:buSzPct val="75000"/>
                <a:buFont typeface="Wingdings" charset="2"/>
                <a:buNone/>
                <a:tabLst/>
                <a:defRPr/>
              </a:pPr>
              <a:endParaRPr kumimoji="0" lang="zh-CN" altLang="en-US" sz="2400" b="0"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grpSp>
      <p:sp>
        <p:nvSpPr>
          <p:cNvPr id="94" name="AutoShape 4"/>
          <p:cNvSpPr/>
          <p:nvPr/>
        </p:nvSpPr>
        <p:spPr>
          <a:xfrm rot="20796215" flipH="1" flipV="1">
            <a:off x="9588653" y="1959715"/>
            <a:ext cx="951244" cy="2290295"/>
          </a:xfrm>
          <a:prstGeom prst="curvedRightArrow">
            <a:avLst>
              <a:gd name="adj1" fmla="val 40218"/>
              <a:gd name="adj2" fmla="val 82858"/>
              <a:gd name="adj3" fmla="val 74165"/>
            </a:avLst>
          </a:prstGeom>
          <a:solidFill>
            <a:schemeClr val="accent1"/>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rot="10800000" vert="eaVert" wrap="none" anchor="ct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marR="0" lvl="0" indent="0" algn="ctr" defTabSz="914400" rtl="0" eaLnBrk="1" fontAlgn="base" latinLnBrk="0" hangingPunct="1">
              <a:lnSpc>
                <a:spcPct val="100000"/>
              </a:lnSpc>
              <a:spcBef>
                <a:spcPct val="0"/>
              </a:spcBef>
              <a:spcAft>
                <a:spcPct val="0"/>
              </a:spcAft>
              <a:buClr>
                <a:srgbClr val="000000"/>
              </a:buClr>
              <a:buSzPct val="75000"/>
              <a:buFont typeface="Wingdings" charset="2"/>
              <a:buNone/>
              <a:tabLst/>
              <a:defRPr/>
            </a:pPr>
            <a:endParaRPr kumimoji="0" lang="zh-CN" altLang="en-US" sz="3200" b="0"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p:txBody>
      </p:sp>
      <p:sp>
        <p:nvSpPr>
          <p:cNvPr id="4" name="空心弧 3"/>
          <p:cNvSpPr/>
          <p:nvPr/>
        </p:nvSpPr>
        <p:spPr>
          <a:xfrm>
            <a:off x="2054799" y="2031349"/>
            <a:ext cx="4803648" cy="1198166"/>
          </a:xfrm>
          <a:prstGeom prst="blockArc">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 name="文本框 4"/>
          <p:cNvSpPr txBox="1"/>
          <p:nvPr/>
        </p:nvSpPr>
        <p:spPr>
          <a:xfrm>
            <a:off x="2777434" y="1525947"/>
            <a:ext cx="3458381" cy="584775"/>
          </a:xfrm>
          <a:prstGeom prst="rect">
            <a:avLst/>
          </a:prstGeom>
          <a:noFill/>
        </p:spPr>
        <p:txBody>
          <a:bodyPr wrap="square" rtlCol="0">
            <a:spAutoFit/>
          </a:bodyPr>
          <a:lstStyle/>
          <a:p>
            <a:r>
              <a:rPr kumimoji="1" lang="zh-CN" altLang="en-US" sz="3200" b="1" dirty="0">
                <a:solidFill>
                  <a:srgbClr val="0070C0"/>
                </a:solidFill>
              </a:rPr>
              <a:t>统计量与抽样分布</a:t>
            </a:r>
          </a:p>
        </p:txBody>
      </p:sp>
      <p:sp>
        <p:nvSpPr>
          <p:cNvPr id="6" name="文本框 5"/>
          <p:cNvSpPr txBox="1"/>
          <p:nvPr/>
        </p:nvSpPr>
        <p:spPr>
          <a:xfrm>
            <a:off x="2557623" y="2825841"/>
            <a:ext cx="3986367" cy="1015663"/>
          </a:xfrm>
          <a:prstGeom prst="rect">
            <a:avLst/>
          </a:prstGeom>
          <a:noFill/>
        </p:spPr>
        <p:txBody>
          <a:bodyPr wrap="square" rtlCol="0">
            <a:spAutoFit/>
          </a:bodyPr>
          <a:lstStyle/>
          <a:p>
            <a:r>
              <a:rPr kumimoji="1" lang="zh-CN" altLang="en-US" sz="2000" b="1" dirty="0"/>
              <a:t>描述统计：计算统计量的估计值</a:t>
            </a:r>
            <a:endParaRPr kumimoji="1" lang="en-US" altLang="zh-CN" sz="2000" b="1" dirty="0"/>
          </a:p>
          <a:p>
            <a:r>
              <a:rPr kumimoji="1" lang="zh-CN" altLang="en-US" sz="2000" b="1" dirty="0"/>
              <a:t>推断统计：利用抽样分布推断总体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67737696-94B0-B69F-91E2-A9C7C1347CF6}"/>
              </a:ext>
            </a:extLst>
          </p:cNvPr>
          <p:cNvSpPr>
            <a:spLocks noGrp="1"/>
          </p:cNvSpPr>
          <p:nvPr>
            <p:ph type="ctrTitle"/>
          </p:nvPr>
        </p:nvSpPr>
        <p:spPr>
          <a:xfrm>
            <a:off x="935990" y="751756"/>
            <a:ext cx="9461500" cy="1746567"/>
          </a:xfrm>
        </p:spPr>
        <p:txBody>
          <a:bodyPr>
            <a:normAutofit/>
          </a:bodyPr>
          <a:lstStyle/>
          <a:p>
            <a:r>
              <a:rPr lang="en-US" altLang="zh-CN" sz="4800" dirty="0"/>
              <a:t>6.1 </a:t>
            </a:r>
            <a:r>
              <a:rPr lang="zh-CN" altLang="en-US" sz="4800" dirty="0"/>
              <a:t>总体与样本</a:t>
            </a:r>
          </a:p>
        </p:txBody>
      </p:sp>
      <p:sp>
        <p:nvSpPr>
          <p:cNvPr id="3" name="副标题 6">
            <a:extLst>
              <a:ext uri="{FF2B5EF4-FFF2-40B4-BE49-F238E27FC236}">
                <a16:creationId xmlns:a16="http://schemas.microsoft.com/office/drawing/2014/main" id="{1B525F36-E51F-4E23-8CCC-D8015B12985A}"/>
              </a:ext>
            </a:extLst>
          </p:cNvPr>
          <p:cNvSpPr txBox="1">
            <a:spLocks/>
          </p:cNvSpPr>
          <p:nvPr/>
        </p:nvSpPr>
        <p:spPr>
          <a:xfrm>
            <a:off x="2694940" y="2635483"/>
            <a:ext cx="8515350" cy="3036568"/>
          </a:xfrm>
          <a:prstGeom prst="rect">
            <a:avLst/>
          </a:prstGeom>
        </p:spPr>
        <p:txBody>
          <a:bodyPr vert="horz" lIns="91440" tIns="45720" rIns="91440" bIns="45720" rtlCol="0">
            <a:noAutofit/>
          </a:bodyPr>
          <a:lstStyle>
            <a:lvl1pPr marL="0" indent="0" algn="ctr" defTabSz="685783" rtl="0" eaLnBrk="1" latinLnBrk="0" hangingPunct="1">
              <a:lnSpc>
                <a:spcPct val="100000"/>
              </a:lnSpc>
              <a:spcBef>
                <a:spcPts val="751"/>
              </a:spcBef>
              <a:spcAft>
                <a:spcPts val="225"/>
              </a:spcAft>
              <a:buSzPct val="80000"/>
              <a:buFont typeface="Wingdings" panose="05000000000000000000" pitchFamily="2" charset="2"/>
              <a:buNone/>
              <a:defRPr sz="2800" b="1" kern="1200">
                <a:solidFill>
                  <a:schemeClr val="accent1">
                    <a:lumMod val="75000"/>
                  </a:schemeClr>
                </a:solidFill>
                <a:effectLst/>
                <a:latin typeface="微软雅黑" panose="020B0503020204020204" pitchFamily="34" charset="-122"/>
                <a:ea typeface="微软雅黑" panose="020B0503020204020204" pitchFamily="34" charset="-122"/>
                <a:cs typeface="+mn-cs"/>
              </a:defRPr>
            </a:lvl1pPr>
            <a:lvl2pPr marL="342891" indent="0" algn="ctr" defTabSz="685783" rtl="0" eaLnBrk="1" fontAlgn="ctr" latinLnBrk="0" hangingPunct="1">
              <a:lnSpc>
                <a:spcPct val="100000"/>
              </a:lnSpc>
              <a:spcBef>
                <a:spcPts val="375"/>
              </a:spcBef>
              <a:spcAft>
                <a:spcPts val="225"/>
              </a:spcAft>
              <a:buSzPct val="80000"/>
              <a:buFont typeface="Wingdings" panose="05000000000000000000" pitchFamily="2" charset="2"/>
              <a:buNone/>
              <a:defRPr sz="1500" kern="1200">
                <a:solidFill>
                  <a:srgbClr val="2F5597"/>
                </a:solidFill>
                <a:latin typeface="微软雅黑" panose="020B0503020204020204" pitchFamily="34" charset="-122"/>
                <a:ea typeface="微软雅黑" panose="020B0503020204020204" pitchFamily="34" charset="-122"/>
                <a:cs typeface="+mn-cs"/>
              </a:defRPr>
            </a:lvl2pPr>
            <a:lvl3pPr marL="685783" indent="0" algn="ctr" defTabSz="685783" rtl="0" eaLnBrk="1" fontAlgn="ctr" latinLnBrk="0" hangingPunct="1">
              <a:lnSpc>
                <a:spcPct val="100000"/>
              </a:lnSpc>
              <a:spcBef>
                <a:spcPts val="375"/>
              </a:spcBef>
              <a:spcAft>
                <a:spcPts val="225"/>
              </a:spcAft>
              <a:buSzPct val="70000"/>
              <a:buFont typeface="Wingdings" panose="05000000000000000000" pitchFamily="2" charset="2"/>
              <a:buNone/>
              <a:defRPr sz="1351" kern="1200">
                <a:solidFill>
                  <a:srgbClr val="2F5597"/>
                </a:solidFill>
                <a:latin typeface="微软雅黑" panose="020B0503020204020204" pitchFamily="34" charset="-122"/>
                <a:ea typeface="微软雅黑" panose="020B0503020204020204" pitchFamily="34" charset="-122"/>
                <a:cs typeface="+mn-cs"/>
              </a:defRPr>
            </a:lvl3pPr>
            <a:lvl4pPr marL="1028674" indent="0" algn="ctr" defTabSz="685783" rtl="0" eaLnBrk="1" fontAlgn="ctr" latinLnBrk="0" hangingPunct="1">
              <a:lnSpc>
                <a:spcPct val="100000"/>
              </a:lnSpc>
              <a:spcBef>
                <a:spcPts val="375"/>
              </a:spcBef>
              <a:spcAft>
                <a:spcPts val="225"/>
              </a:spcAft>
              <a:buSzPct val="80000"/>
              <a:buFont typeface="Wingdings" panose="05000000000000000000" pitchFamily="2" charset="2"/>
              <a:buNone/>
              <a:defRPr sz="12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1371566"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微软雅黑" panose="020B0503020204020204" pitchFamily="34" charset="-122"/>
                <a:ea typeface="微软雅黑" panose="020B0503020204020204" pitchFamily="34" charset="-122"/>
                <a:cs typeface="+mn-cs"/>
              </a:defRPr>
            </a:lvl5pPr>
            <a:lvl6pPr marL="1714457"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349"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240"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131"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50000"/>
              </a:lnSpc>
              <a:spcBef>
                <a:spcPts val="0"/>
              </a:spcBef>
              <a:spcAft>
                <a:spcPts val="0"/>
              </a:spcAft>
            </a:pPr>
            <a:r>
              <a:rPr lang="en-US" altLang="zh-CN" sz="3600" dirty="0">
                <a:solidFill>
                  <a:srgbClr val="00B0F0"/>
                </a:solidFill>
              </a:rPr>
              <a:t> 6.1.1 </a:t>
            </a:r>
            <a:r>
              <a:rPr lang="zh-CN" altLang="en-US" sz="3600" dirty="0">
                <a:solidFill>
                  <a:srgbClr val="00B0F0"/>
                </a:solidFill>
              </a:rPr>
              <a:t>统计推断中的总体与总体参数</a:t>
            </a:r>
            <a:endParaRPr lang="en-US" altLang="zh-CN" sz="3600" dirty="0">
              <a:solidFill>
                <a:srgbClr val="00B0F0"/>
              </a:solidFill>
            </a:endParaRPr>
          </a:p>
          <a:p>
            <a:pPr algn="l">
              <a:lnSpc>
                <a:spcPct val="150000"/>
              </a:lnSpc>
              <a:spcBef>
                <a:spcPts val="0"/>
              </a:spcBef>
              <a:spcAft>
                <a:spcPts val="0"/>
              </a:spcAft>
            </a:pPr>
            <a:r>
              <a:rPr lang="en-US" altLang="zh-CN" sz="3600" dirty="0">
                <a:solidFill>
                  <a:srgbClr val="00B0F0"/>
                </a:solidFill>
              </a:rPr>
              <a:t> 6.1.2 </a:t>
            </a:r>
            <a:r>
              <a:rPr lang="zh-CN" altLang="en-US" sz="3600" dirty="0">
                <a:solidFill>
                  <a:srgbClr val="00B0F0"/>
                </a:solidFill>
              </a:rPr>
              <a:t>统计推断中的样本及其性质</a:t>
            </a:r>
            <a:endParaRPr lang="en-US" altLang="zh-CN" sz="3600" dirty="0">
              <a:solidFill>
                <a:srgbClr val="00B0F0"/>
              </a:solidFill>
            </a:endParaRPr>
          </a:p>
          <a:p>
            <a:pPr algn="l">
              <a:lnSpc>
                <a:spcPct val="150000"/>
              </a:lnSpc>
              <a:spcBef>
                <a:spcPts val="0"/>
              </a:spcBef>
              <a:spcAft>
                <a:spcPts val="0"/>
              </a:spcAft>
            </a:pPr>
            <a:r>
              <a:rPr lang="en-US" altLang="zh-CN" sz="3600" dirty="0">
                <a:solidFill>
                  <a:srgbClr val="00B0F0"/>
                </a:solidFill>
              </a:rPr>
              <a:t>*6.1.3 </a:t>
            </a:r>
            <a:r>
              <a:rPr lang="zh-CN" altLang="en-US" sz="3600" dirty="0">
                <a:solidFill>
                  <a:srgbClr val="00B0F0"/>
                </a:solidFill>
              </a:rPr>
              <a:t>样本联合分布函数</a:t>
            </a:r>
          </a:p>
        </p:txBody>
      </p:sp>
    </p:spTree>
    <p:extLst>
      <p:ext uri="{BB962C8B-B14F-4D97-AF65-F5344CB8AC3E}">
        <p14:creationId xmlns:p14="http://schemas.microsoft.com/office/powerpoint/2010/main" val="4190945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ABD14BD-504E-42EC-A2AB-5F7BAF221D6C}" type="slidenum">
              <a:rPr lang="zh-CN" altLang="en-US" smtClean="0"/>
              <a:t>6</a:t>
            </a:fld>
            <a:endParaRPr lang="zh-CN" altLang="en-US"/>
          </a:p>
        </p:txBody>
      </p:sp>
      <p:sp>
        <p:nvSpPr>
          <p:cNvPr id="132099" name="Rectangle 3"/>
          <p:cNvSpPr>
            <a:spLocks noGrp="1"/>
          </p:cNvSpPr>
          <p:nvPr>
            <p:ph idx="1"/>
          </p:nvPr>
        </p:nvSpPr>
        <p:spPr>
          <a:xfrm>
            <a:off x="1704136" y="1605875"/>
            <a:ext cx="7931355" cy="4400550"/>
          </a:xfrm>
        </p:spPr>
        <p:txBody>
          <a:bodyPr vert="horz" wrap="square" lIns="91440" tIns="45720" rIns="91440" bIns="45720" numCol="1" anchor="t" anchorCtr="0" compatLnSpc="1"/>
          <a:lstStyle/>
          <a:p>
            <a:pPr marL="742950" marR="0" lvl="1" indent="-285750" defTabSz="914400" rtl="0" eaLnBrk="1" fontAlgn="base" latinLnBrk="0" hangingPunct="1">
              <a:lnSpc>
                <a:spcPct val="150000"/>
              </a:lnSpc>
              <a:spcBef>
                <a:spcPts val="1200"/>
              </a:spcBef>
              <a:spcAft>
                <a:spcPct val="0"/>
              </a:spcAft>
              <a:buClr>
                <a:schemeClr val="accent2"/>
              </a:buClr>
              <a:buSzPct val="80000"/>
              <a:buFont typeface="Wingdings" charset="2"/>
              <a:buNone/>
              <a:defRPr/>
            </a:pP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1.</a:t>
            </a:r>
            <a:r>
              <a:rPr kumimoji="0" lang="zh-CN" altLang="en-US" sz="2800" b="1" i="0" u="none" strike="noStrike" kern="0" cap="none" spc="0" normalizeH="0" baseline="0" noProof="0" dirty="0">
                <a:ln>
                  <a:noFill/>
                </a:ln>
                <a:effectLst/>
                <a:uLnTx/>
                <a:uFillTx/>
                <a:latin typeface="黑体" panose="02010609060101010101" pitchFamily="49" charset="-122"/>
                <a:ea typeface="黑体" panose="02010609060101010101" pitchFamily="49" charset="-122"/>
              </a:rPr>
              <a:t>总体</a:t>
            </a: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是在一定的研究目的下，所要研究事物的全体，它是由客观存在的、具有某种共同性质的众多个别事物构成的整体。(调查对象)</a:t>
            </a:r>
          </a:p>
          <a:p>
            <a:pPr marL="742950" marR="0" lvl="1" indent="-285750" defTabSz="914400" rtl="0" eaLnBrk="1" fontAlgn="base" latinLnBrk="0" hangingPunct="1">
              <a:lnSpc>
                <a:spcPct val="150000"/>
              </a:lnSpc>
              <a:spcBef>
                <a:spcPts val="1200"/>
              </a:spcBef>
              <a:spcAft>
                <a:spcPct val="0"/>
              </a:spcAft>
              <a:buClr>
                <a:schemeClr val="accent2"/>
              </a:buClr>
              <a:buSzPct val="80000"/>
              <a:buFont typeface="Wingdings" charset="2"/>
              <a:buNone/>
              <a:defRPr/>
            </a:pPr>
            <a:r>
              <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2.</a:t>
            </a:r>
            <a:r>
              <a:rPr lang="zh-CN" altLang="en-US" b="1" kern="0" dirty="0">
                <a:latin typeface="黑体" panose="02010609060101010101" pitchFamily="49" charset="-122"/>
                <a:ea typeface="黑体" panose="02010609060101010101" pitchFamily="49" charset="-122"/>
              </a:rPr>
              <a:t>个体</a:t>
            </a: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是构成总体的个别事物是个体。也称总体单位。个体是所要研究具体问题的承担者。(调查单位)</a:t>
            </a:r>
          </a:p>
          <a:p>
            <a:pPr marL="742950" marR="0" lvl="1" indent="-285750" defTabSz="914400" rtl="0" eaLnBrk="1" fontAlgn="base" latinLnBrk="0" hangingPunct="1">
              <a:lnSpc>
                <a:spcPct val="150000"/>
              </a:lnSpc>
              <a:spcBef>
                <a:spcPts val="1200"/>
              </a:spcBef>
              <a:spcAft>
                <a:spcPct val="0"/>
              </a:spcAft>
              <a:buClr>
                <a:schemeClr val="accent2"/>
              </a:buClr>
              <a:buSzPct val="80000"/>
              <a:buFont typeface="Wingdings" charset="2"/>
              <a:buNone/>
              <a:defRPr/>
            </a:pPr>
            <a:r>
              <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p>
        </p:txBody>
      </p:sp>
      <p:sp>
        <p:nvSpPr>
          <p:cNvPr id="3" name="标题 1">
            <a:extLst>
              <a:ext uri="{FF2B5EF4-FFF2-40B4-BE49-F238E27FC236}">
                <a16:creationId xmlns:a16="http://schemas.microsoft.com/office/drawing/2014/main" id="{CB03B81B-CCC9-04D9-9500-58183ACE3C97}"/>
              </a:ext>
            </a:extLst>
          </p:cNvPr>
          <p:cNvSpPr txBox="1">
            <a:spLocks/>
          </p:cNvSpPr>
          <p:nvPr/>
        </p:nvSpPr>
        <p:spPr>
          <a:xfrm>
            <a:off x="2129588" y="638176"/>
            <a:ext cx="9950121" cy="662782"/>
          </a:xfrm>
          <a:prstGeom prst="rect">
            <a:avLst/>
          </a:prstGeom>
        </p:spPr>
        <p:txBody>
          <a:bodyP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r>
              <a:rPr lang="en-US" altLang="zh-CN" sz="3600" b="1" dirty="0">
                <a:effectLst/>
              </a:rPr>
              <a:t>6.1.1 </a:t>
            </a:r>
            <a:r>
              <a:rPr lang="zh-CN" altLang="en-US" sz="3600" b="1" dirty="0">
                <a:effectLst/>
              </a:rPr>
              <a:t>统计推断中的总体与总体参数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3" name="Rectangle 3"/>
          <p:cNvSpPr txBox="1"/>
          <p:nvPr/>
        </p:nvSpPr>
        <p:spPr>
          <a:xfrm>
            <a:off x="1369172" y="4432073"/>
            <a:ext cx="8915400" cy="1605032"/>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9pPr>
          </a:lstStyle>
          <a:p>
            <a:pPr marL="342900" marR="0" lvl="0" indent="-342900" algn="l" defTabSz="914400" rtl="0" eaLnBrk="1" fontAlgn="base" latinLnBrk="0" hangingPunct="1">
              <a:lnSpc>
                <a:spcPct val="150000"/>
              </a:lnSpc>
              <a:spcBef>
                <a:spcPts val="0"/>
              </a:spcBef>
              <a:spcAft>
                <a:spcPct val="0"/>
              </a:spcAft>
              <a:buClr>
                <a:srgbClr val="E7E6E6"/>
              </a:buClr>
              <a:buSzPct val="75000"/>
              <a:buFont typeface="Wingdings" charset="2"/>
              <a:buNone/>
              <a:tabLst/>
              <a:defRPr/>
            </a:pPr>
            <a:r>
              <a:rPr kumimoji="0" lang="en-US" altLang="zh-CN" sz="2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   </a:t>
            </a:r>
            <a:r>
              <a:rPr kumimoji="0" lang="zh-CN" altLang="en-US" sz="28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统计中真正收集和研究的是标志值。</a:t>
            </a:r>
            <a:endParaRPr kumimoji="0" lang="en-US" altLang="zh-CN" sz="28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pPr marL="742950" marR="0" lvl="1" indent="-285750" algn="l" defTabSz="914400" rtl="0" eaLnBrk="1" fontAlgn="base" latinLnBrk="0" hangingPunct="1">
              <a:lnSpc>
                <a:spcPct val="150000"/>
              </a:lnSpc>
              <a:spcBef>
                <a:spcPts val="0"/>
              </a:spcBef>
              <a:spcAft>
                <a:spcPct val="0"/>
              </a:spcAft>
              <a:buClr>
                <a:srgbClr val="ED7D31"/>
              </a:buClr>
              <a:buSzPct val="80000"/>
              <a:buFont typeface="Wingdings" charset="2"/>
              <a:buNone/>
              <a:tabLst/>
              <a:defRPr/>
            </a:pPr>
            <a:r>
              <a:rPr kumimoji="0" lang="zh-CN" altLang="en-US" sz="28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总体实质上从实物抽象到了数值，这就是</a:t>
            </a:r>
            <a:r>
              <a:rPr kumimoji="0" lang="zh-CN" altLang="en-US" sz="3200" b="1" i="0" u="none" strike="noStrike" kern="0" cap="none" spc="0" normalizeH="0" baseline="0" noProof="0" dirty="0">
                <a:ln>
                  <a:noFill/>
                </a:ln>
                <a:solidFill>
                  <a:srgbClr val="2F5597"/>
                </a:solidFill>
                <a:effectLst/>
                <a:uLnTx/>
                <a:uFillTx/>
                <a:latin typeface="黑体" panose="02010609060101010101" pitchFamily="49" charset="-122"/>
                <a:ea typeface="黑体" panose="02010609060101010101" pitchFamily="49" charset="-122"/>
              </a:rPr>
              <a:t>数值总体</a:t>
            </a:r>
            <a:r>
              <a:rPr kumimoji="0" lang="zh-CN" altLang="en-US" sz="28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p>
        </p:txBody>
      </p:sp>
      <p:sp>
        <p:nvSpPr>
          <p:cNvPr id="4" name="AutoShape 5">
            <a:extLst>
              <a:ext uri="{FF2B5EF4-FFF2-40B4-BE49-F238E27FC236}">
                <a16:creationId xmlns:a16="http://schemas.microsoft.com/office/drawing/2014/main" id="{4C83FB65-BEA8-25D6-A1FC-0B24408BA30A}"/>
              </a:ext>
            </a:extLst>
          </p:cNvPr>
          <p:cNvSpPr>
            <a:spLocks noChangeArrowheads="1"/>
          </p:cNvSpPr>
          <p:nvPr/>
        </p:nvSpPr>
        <p:spPr bwMode="gray">
          <a:xfrm>
            <a:off x="4322879" y="2255838"/>
            <a:ext cx="465137" cy="531813"/>
          </a:xfrm>
          <a:prstGeom prst="chevron">
            <a:avLst>
              <a:gd name="adj" fmla="val 52514"/>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5" name="AutoShape 6">
            <a:extLst>
              <a:ext uri="{FF2B5EF4-FFF2-40B4-BE49-F238E27FC236}">
                <a16:creationId xmlns:a16="http://schemas.microsoft.com/office/drawing/2014/main" id="{F23A5453-05F4-9839-1B88-041416C80062}"/>
              </a:ext>
            </a:extLst>
          </p:cNvPr>
          <p:cNvSpPr>
            <a:spLocks noChangeArrowheads="1"/>
          </p:cNvSpPr>
          <p:nvPr/>
        </p:nvSpPr>
        <p:spPr bwMode="gray">
          <a:xfrm>
            <a:off x="6837479" y="2255838"/>
            <a:ext cx="463550" cy="531813"/>
          </a:xfrm>
          <a:prstGeom prst="chevron">
            <a:avLst>
              <a:gd name="adj" fmla="val 52514"/>
            </a:avLst>
          </a:prstGeom>
          <a:solidFill>
            <a:schemeClr val="hlink"/>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6" name="Oval 7">
            <a:extLst>
              <a:ext uri="{FF2B5EF4-FFF2-40B4-BE49-F238E27FC236}">
                <a16:creationId xmlns:a16="http://schemas.microsoft.com/office/drawing/2014/main" id="{321CA207-3A55-EAAA-BC57-8A8C2233FFFF}"/>
              </a:ext>
            </a:extLst>
          </p:cNvPr>
          <p:cNvSpPr>
            <a:spLocks noChangeArrowheads="1"/>
          </p:cNvSpPr>
          <p:nvPr/>
        </p:nvSpPr>
        <p:spPr bwMode="gray">
          <a:xfrm>
            <a:off x="7367704" y="1525588"/>
            <a:ext cx="1985962" cy="1993900"/>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p:spPr>
        <p:txBody>
          <a:bodyPr wrap="none" anchor="ctr">
            <a:spAutoFit/>
          </a:bodyPr>
          <a:lstStyle/>
          <a:p>
            <a:pPr>
              <a:defRPr/>
            </a:pPr>
            <a:endParaRPr lang="zh-CN" altLang="en-US"/>
          </a:p>
        </p:txBody>
      </p:sp>
      <p:sp>
        <p:nvSpPr>
          <p:cNvPr id="9" name="Oval 8">
            <a:extLst>
              <a:ext uri="{FF2B5EF4-FFF2-40B4-BE49-F238E27FC236}">
                <a16:creationId xmlns:a16="http://schemas.microsoft.com/office/drawing/2014/main" id="{A6C5371A-3F13-B0D0-E638-FD1871FC9A90}"/>
              </a:ext>
            </a:extLst>
          </p:cNvPr>
          <p:cNvSpPr>
            <a:spLocks noChangeArrowheads="1"/>
          </p:cNvSpPr>
          <p:nvPr/>
        </p:nvSpPr>
        <p:spPr bwMode="gray">
          <a:xfrm>
            <a:off x="7367704" y="1525588"/>
            <a:ext cx="1985962" cy="1993900"/>
          </a:xfrm>
          <a:prstGeom prst="ellipse">
            <a:avLst/>
          </a:prstGeom>
          <a:gradFill rotWithShape="1">
            <a:gsLst>
              <a:gs pos="0">
                <a:schemeClr val="hlink">
                  <a:alpha val="32001"/>
                </a:schemeClr>
              </a:gs>
              <a:gs pos="100000">
                <a:schemeClr val="hlink">
                  <a:gamma/>
                  <a:shade val="0"/>
                  <a:invGamma/>
                  <a:alpha val="89999"/>
                </a:schemeClr>
              </a:gs>
            </a:gsLst>
            <a:lin ang="2700000" scaled="1"/>
          </a:gradFill>
          <a:ln>
            <a:noFill/>
          </a:ln>
          <a:effectLst/>
        </p:spPr>
        <p:txBody>
          <a:bodyPr wrap="none" anchor="ctr">
            <a:spAutoFit/>
          </a:bodyPr>
          <a:lstStyle/>
          <a:p>
            <a:pPr>
              <a:defRPr/>
            </a:pPr>
            <a:endParaRPr lang="zh-CN" altLang="en-US"/>
          </a:p>
        </p:txBody>
      </p:sp>
      <p:sp>
        <p:nvSpPr>
          <p:cNvPr id="10" name="Oval 9">
            <a:extLst>
              <a:ext uri="{FF2B5EF4-FFF2-40B4-BE49-F238E27FC236}">
                <a16:creationId xmlns:a16="http://schemas.microsoft.com/office/drawing/2014/main" id="{E4FAEF04-4921-8DAC-3088-58B232EA5D9F}"/>
              </a:ext>
            </a:extLst>
          </p:cNvPr>
          <p:cNvSpPr>
            <a:spLocks noChangeArrowheads="1"/>
          </p:cNvSpPr>
          <p:nvPr/>
        </p:nvSpPr>
        <p:spPr bwMode="gray">
          <a:xfrm>
            <a:off x="7497879" y="1655763"/>
            <a:ext cx="1725612" cy="1733550"/>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p:spPr>
        <p:txBody>
          <a:bodyPr anchor="ctr">
            <a:spAutoFit/>
          </a:bodyPr>
          <a:lstStyle/>
          <a:p>
            <a:pPr>
              <a:defRPr/>
            </a:pPr>
            <a:endParaRPr lang="zh-CN" altLang="en-US"/>
          </a:p>
        </p:txBody>
      </p:sp>
      <p:sp>
        <p:nvSpPr>
          <p:cNvPr id="11" name="Oval 10">
            <a:extLst>
              <a:ext uri="{FF2B5EF4-FFF2-40B4-BE49-F238E27FC236}">
                <a16:creationId xmlns:a16="http://schemas.microsoft.com/office/drawing/2014/main" id="{681196F4-76CC-3419-2DC2-83F827854724}"/>
              </a:ext>
            </a:extLst>
          </p:cNvPr>
          <p:cNvSpPr>
            <a:spLocks noChangeArrowheads="1"/>
          </p:cNvSpPr>
          <p:nvPr/>
        </p:nvSpPr>
        <p:spPr bwMode="gray">
          <a:xfrm>
            <a:off x="7526454" y="1665288"/>
            <a:ext cx="1727200" cy="1733550"/>
          </a:xfrm>
          <a:prstGeom prst="ellipse">
            <a:avLst/>
          </a:prstGeom>
          <a:gradFill rotWithShape="1">
            <a:gsLst>
              <a:gs pos="0">
                <a:schemeClr val="hlink">
                  <a:gamma/>
                  <a:shade val="63529"/>
                  <a:invGamma/>
                </a:schemeClr>
              </a:gs>
              <a:gs pos="100000">
                <a:schemeClr val="hlink">
                  <a:alpha val="0"/>
                </a:schemeClr>
              </a:gs>
            </a:gsLst>
            <a:lin ang="2700000" scaled="1"/>
          </a:gradFill>
          <a:ln>
            <a:noFill/>
          </a:ln>
          <a:effectLst/>
        </p:spPr>
        <p:txBody>
          <a:bodyPr anchor="ctr">
            <a:spAutoFit/>
          </a:bodyPr>
          <a:lstStyle/>
          <a:p>
            <a:pPr>
              <a:defRPr/>
            </a:pPr>
            <a:endParaRPr lang="zh-CN" altLang="en-US"/>
          </a:p>
        </p:txBody>
      </p:sp>
      <p:sp>
        <p:nvSpPr>
          <p:cNvPr id="12" name="Oval 11">
            <a:extLst>
              <a:ext uri="{FF2B5EF4-FFF2-40B4-BE49-F238E27FC236}">
                <a16:creationId xmlns:a16="http://schemas.microsoft.com/office/drawing/2014/main" id="{36B6253A-9A46-C39D-5366-A32A926DA861}"/>
              </a:ext>
            </a:extLst>
          </p:cNvPr>
          <p:cNvSpPr>
            <a:spLocks noChangeArrowheads="1"/>
          </p:cNvSpPr>
          <p:nvPr/>
        </p:nvSpPr>
        <p:spPr bwMode="gray">
          <a:xfrm>
            <a:off x="7589954" y="1741488"/>
            <a:ext cx="1555750" cy="1560513"/>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13" name="Oval 12">
            <a:extLst>
              <a:ext uri="{FF2B5EF4-FFF2-40B4-BE49-F238E27FC236}">
                <a16:creationId xmlns:a16="http://schemas.microsoft.com/office/drawing/2014/main" id="{7CCBB8FF-0643-F33A-F045-87F9A07D7A0A}"/>
              </a:ext>
            </a:extLst>
          </p:cNvPr>
          <p:cNvSpPr>
            <a:spLocks noChangeArrowheads="1"/>
          </p:cNvSpPr>
          <p:nvPr/>
        </p:nvSpPr>
        <p:spPr bwMode="gray">
          <a:xfrm>
            <a:off x="2336916" y="1519238"/>
            <a:ext cx="1985963" cy="1993900"/>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a:noFill/>
          </a:ln>
          <a:effectLst/>
        </p:spPr>
        <p:txBody>
          <a:bodyPr wrap="none" anchor="ctr">
            <a:spAutoFit/>
          </a:bodyPr>
          <a:lstStyle/>
          <a:p>
            <a:pPr>
              <a:defRPr/>
            </a:pPr>
            <a:endParaRPr lang="zh-CN" altLang="en-US"/>
          </a:p>
        </p:txBody>
      </p:sp>
      <p:sp>
        <p:nvSpPr>
          <p:cNvPr id="14" name="Oval 13">
            <a:extLst>
              <a:ext uri="{FF2B5EF4-FFF2-40B4-BE49-F238E27FC236}">
                <a16:creationId xmlns:a16="http://schemas.microsoft.com/office/drawing/2014/main" id="{BA87B3F0-4F74-CF4A-6874-1F60841C87B9}"/>
              </a:ext>
            </a:extLst>
          </p:cNvPr>
          <p:cNvSpPr>
            <a:spLocks noChangeArrowheads="1"/>
          </p:cNvSpPr>
          <p:nvPr/>
        </p:nvSpPr>
        <p:spPr bwMode="gray">
          <a:xfrm>
            <a:off x="2336916" y="1519238"/>
            <a:ext cx="1985963" cy="1993900"/>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a:noFill/>
          </a:ln>
          <a:effectLst/>
        </p:spPr>
        <p:txBody>
          <a:bodyPr wrap="none" anchor="ctr">
            <a:spAutoFit/>
          </a:bodyPr>
          <a:lstStyle/>
          <a:p>
            <a:pPr>
              <a:defRPr/>
            </a:pPr>
            <a:endParaRPr lang="zh-CN" altLang="en-US"/>
          </a:p>
        </p:txBody>
      </p:sp>
      <p:sp>
        <p:nvSpPr>
          <p:cNvPr id="15" name="Oval 14">
            <a:extLst>
              <a:ext uri="{FF2B5EF4-FFF2-40B4-BE49-F238E27FC236}">
                <a16:creationId xmlns:a16="http://schemas.microsoft.com/office/drawing/2014/main" id="{1B08510E-2BC5-6ED4-BCBC-355EA6623111}"/>
              </a:ext>
            </a:extLst>
          </p:cNvPr>
          <p:cNvSpPr>
            <a:spLocks noChangeArrowheads="1"/>
          </p:cNvSpPr>
          <p:nvPr/>
        </p:nvSpPr>
        <p:spPr bwMode="gray">
          <a:xfrm>
            <a:off x="2467091" y="1649413"/>
            <a:ext cx="1725613" cy="1733550"/>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a:noFill/>
          </a:ln>
          <a:effectLst/>
        </p:spPr>
        <p:txBody>
          <a:bodyPr anchor="ctr">
            <a:spAutoFit/>
          </a:bodyPr>
          <a:lstStyle/>
          <a:p>
            <a:pPr>
              <a:defRPr/>
            </a:pPr>
            <a:endParaRPr lang="zh-CN" altLang="en-US"/>
          </a:p>
        </p:txBody>
      </p:sp>
      <p:sp>
        <p:nvSpPr>
          <p:cNvPr id="16" name="Oval 15">
            <a:extLst>
              <a:ext uri="{FF2B5EF4-FFF2-40B4-BE49-F238E27FC236}">
                <a16:creationId xmlns:a16="http://schemas.microsoft.com/office/drawing/2014/main" id="{2837BE5C-3132-2C2E-BA9E-C003A1D44105}"/>
              </a:ext>
            </a:extLst>
          </p:cNvPr>
          <p:cNvSpPr>
            <a:spLocks noChangeArrowheads="1"/>
          </p:cNvSpPr>
          <p:nvPr/>
        </p:nvSpPr>
        <p:spPr bwMode="gray">
          <a:xfrm>
            <a:off x="2468679" y="1652588"/>
            <a:ext cx="1725612" cy="1733550"/>
          </a:xfrm>
          <a:prstGeom prst="ellipse">
            <a:avLst/>
          </a:prstGeom>
          <a:gradFill rotWithShape="1">
            <a:gsLst>
              <a:gs pos="0">
                <a:schemeClr val="folHlink">
                  <a:gamma/>
                  <a:shade val="63529"/>
                  <a:invGamma/>
                </a:schemeClr>
              </a:gs>
              <a:gs pos="100000">
                <a:schemeClr val="folHlink">
                  <a:alpha val="0"/>
                </a:schemeClr>
              </a:gs>
            </a:gsLst>
            <a:lin ang="2700000" scaled="1"/>
          </a:gradFill>
          <a:ln>
            <a:noFill/>
          </a:ln>
          <a:effectLst/>
        </p:spPr>
        <p:txBody>
          <a:bodyPr anchor="ctr">
            <a:spAutoFit/>
          </a:bodyPr>
          <a:lstStyle/>
          <a:p>
            <a:pPr>
              <a:defRPr/>
            </a:pPr>
            <a:endParaRPr lang="zh-CN" altLang="en-US"/>
          </a:p>
        </p:txBody>
      </p:sp>
      <p:sp>
        <p:nvSpPr>
          <p:cNvPr id="17" name="Oval 16">
            <a:extLst>
              <a:ext uri="{FF2B5EF4-FFF2-40B4-BE49-F238E27FC236}">
                <a16:creationId xmlns:a16="http://schemas.microsoft.com/office/drawing/2014/main" id="{309296A6-FE81-E1E4-A5FC-85B79E643925}"/>
              </a:ext>
            </a:extLst>
          </p:cNvPr>
          <p:cNvSpPr>
            <a:spLocks noChangeArrowheads="1"/>
          </p:cNvSpPr>
          <p:nvPr/>
        </p:nvSpPr>
        <p:spPr bwMode="gray">
          <a:xfrm>
            <a:off x="2552816" y="1736726"/>
            <a:ext cx="1554163" cy="1560512"/>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grpSp>
        <p:nvGrpSpPr>
          <p:cNvPr id="18" name="Group 17">
            <a:extLst>
              <a:ext uri="{FF2B5EF4-FFF2-40B4-BE49-F238E27FC236}">
                <a16:creationId xmlns:a16="http://schemas.microsoft.com/office/drawing/2014/main" id="{F8B5B4A6-749C-4EC6-69BE-07C283C898EE}"/>
              </a:ext>
            </a:extLst>
          </p:cNvPr>
          <p:cNvGrpSpPr>
            <a:grpSpLocks/>
          </p:cNvGrpSpPr>
          <p:nvPr/>
        </p:nvGrpSpPr>
        <p:grpSpPr bwMode="auto">
          <a:xfrm>
            <a:off x="2578216" y="1758951"/>
            <a:ext cx="1503363" cy="1511300"/>
            <a:chOff x="4166" y="1706"/>
            <a:chExt cx="1252" cy="1252"/>
          </a:xfrm>
        </p:grpSpPr>
        <p:sp>
          <p:nvSpPr>
            <p:cNvPr id="19" name="Oval 18">
              <a:extLst>
                <a:ext uri="{FF2B5EF4-FFF2-40B4-BE49-F238E27FC236}">
                  <a16:creationId xmlns:a16="http://schemas.microsoft.com/office/drawing/2014/main" id="{CA8FAE20-8FAD-487B-E525-40D03811EAF2}"/>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20" name="Oval 19">
              <a:extLst>
                <a:ext uri="{FF2B5EF4-FFF2-40B4-BE49-F238E27FC236}">
                  <a16:creationId xmlns:a16="http://schemas.microsoft.com/office/drawing/2014/main" id="{87754F85-F46D-0ED3-A4E1-9CBFEF461CBF}"/>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21" name="Oval 20">
              <a:extLst>
                <a:ext uri="{FF2B5EF4-FFF2-40B4-BE49-F238E27FC236}">
                  <a16:creationId xmlns:a16="http://schemas.microsoft.com/office/drawing/2014/main" id="{A2B791CF-5CEF-2256-2364-666E4C54ADB7}"/>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22" name="Oval 21">
              <a:extLst>
                <a:ext uri="{FF2B5EF4-FFF2-40B4-BE49-F238E27FC236}">
                  <a16:creationId xmlns:a16="http://schemas.microsoft.com/office/drawing/2014/main" id="{E0AE824F-388F-EA84-A86A-E6D3F12B9EEC}"/>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grpSp>
      <p:sp>
        <p:nvSpPr>
          <p:cNvPr id="23" name="Oval 22">
            <a:extLst>
              <a:ext uri="{FF2B5EF4-FFF2-40B4-BE49-F238E27FC236}">
                <a16:creationId xmlns:a16="http://schemas.microsoft.com/office/drawing/2014/main" id="{BF8E64C6-451F-55AF-CD7D-22861401B350}"/>
              </a:ext>
            </a:extLst>
          </p:cNvPr>
          <p:cNvSpPr>
            <a:spLocks noChangeArrowheads="1"/>
          </p:cNvSpPr>
          <p:nvPr/>
        </p:nvSpPr>
        <p:spPr bwMode="gray">
          <a:xfrm>
            <a:off x="4853104" y="1525588"/>
            <a:ext cx="1985962" cy="1993900"/>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a:noFill/>
          </a:ln>
          <a:effectLst/>
        </p:spPr>
        <p:txBody>
          <a:bodyPr wrap="none" anchor="ctr">
            <a:spAutoFit/>
          </a:bodyPr>
          <a:lstStyle/>
          <a:p>
            <a:pPr>
              <a:defRPr/>
            </a:pPr>
            <a:endParaRPr lang="zh-CN" altLang="en-US"/>
          </a:p>
        </p:txBody>
      </p:sp>
      <p:sp>
        <p:nvSpPr>
          <p:cNvPr id="24" name="Oval 23">
            <a:extLst>
              <a:ext uri="{FF2B5EF4-FFF2-40B4-BE49-F238E27FC236}">
                <a16:creationId xmlns:a16="http://schemas.microsoft.com/office/drawing/2014/main" id="{2E369928-B70D-FD82-2F84-D632E626C97C}"/>
              </a:ext>
            </a:extLst>
          </p:cNvPr>
          <p:cNvSpPr>
            <a:spLocks noChangeArrowheads="1"/>
          </p:cNvSpPr>
          <p:nvPr/>
        </p:nvSpPr>
        <p:spPr bwMode="gray">
          <a:xfrm>
            <a:off x="4853104" y="1525588"/>
            <a:ext cx="1985962" cy="1993900"/>
          </a:xfrm>
          <a:prstGeom prst="ellipse">
            <a:avLst/>
          </a:prstGeom>
          <a:gradFill rotWithShape="1">
            <a:gsLst>
              <a:gs pos="0">
                <a:schemeClr val="accent1">
                  <a:alpha val="32001"/>
                </a:schemeClr>
              </a:gs>
              <a:gs pos="100000">
                <a:schemeClr val="accent1">
                  <a:gamma/>
                  <a:shade val="46275"/>
                  <a:invGamma/>
                </a:schemeClr>
              </a:gs>
            </a:gsLst>
            <a:lin ang="2700000" scaled="1"/>
          </a:gradFill>
          <a:ln>
            <a:noFill/>
          </a:ln>
          <a:effectLst/>
        </p:spPr>
        <p:txBody>
          <a:bodyPr wrap="none" anchor="ctr">
            <a:spAutoFit/>
          </a:bodyPr>
          <a:lstStyle/>
          <a:p>
            <a:pPr>
              <a:defRPr/>
            </a:pPr>
            <a:endParaRPr lang="zh-CN" altLang="en-US"/>
          </a:p>
        </p:txBody>
      </p:sp>
      <p:sp>
        <p:nvSpPr>
          <p:cNvPr id="25" name="Oval 24">
            <a:extLst>
              <a:ext uri="{FF2B5EF4-FFF2-40B4-BE49-F238E27FC236}">
                <a16:creationId xmlns:a16="http://schemas.microsoft.com/office/drawing/2014/main" id="{87D568C2-BECC-ED5C-3E95-7E6BCE6CBC0D}"/>
              </a:ext>
            </a:extLst>
          </p:cNvPr>
          <p:cNvSpPr>
            <a:spLocks noChangeArrowheads="1"/>
          </p:cNvSpPr>
          <p:nvPr/>
        </p:nvSpPr>
        <p:spPr bwMode="gray">
          <a:xfrm>
            <a:off x="4983279" y="1655763"/>
            <a:ext cx="1725612" cy="1733550"/>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a:noFill/>
          </a:ln>
          <a:effectLst/>
        </p:spPr>
        <p:txBody>
          <a:bodyPr anchor="ctr">
            <a:spAutoFit/>
          </a:bodyPr>
          <a:lstStyle/>
          <a:p>
            <a:pPr>
              <a:defRPr/>
            </a:pPr>
            <a:endParaRPr lang="zh-CN" altLang="en-US"/>
          </a:p>
        </p:txBody>
      </p:sp>
      <p:sp>
        <p:nvSpPr>
          <p:cNvPr id="26" name="Oval 25">
            <a:extLst>
              <a:ext uri="{FF2B5EF4-FFF2-40B4-BE49-F238E27FC236}">
                <a16:creationId xmlns:a16="http://schemas.microsoft.com/office/drawing/2014/main" id="{055C99E2-9476-47B5-8429-0227D5EE2F64}"/>
              </a:ext>
            </a:extLst>
          </p:cNvPr>
          <p:cNvSpPr>
            <a:spLocks noChangeArrowheads="1"/>
          </p:cNvSpPr>
          <p:nvPr/>
        </p:nvSpPr>
        <p:spPr bwMode="gray">
          <a:xfrm>
            <a:off x="4984866" y="1658938"/>
            <a:ext cx="1725613" cy="1733550"/>
          </a:xfrm>
          <a:prstGeom prst="ellipse">
            <a:avLst/>
          </a:prstGeom>
          <a:gradFill rotWithShape="1">
            <a:gsLst>
              <a:gs pos="0">
                <a:schemeClr val="accent1">
                  <a:gamma/>
                  <a:shade val="63529"/>
                  <a:invGamma/>
                </a:schemeClr>
              </a:gs>
              <a:gs pos="100000">
                <a:schemeClr val="accent1">
                  <a:alpha val="0"/>
                </a:schemeClr>
              </a:gs>
            </a:gsLst>
            <a:lin ang="2700000" scaled="1"/>
          </a:gradFill>
          <a:ln>
            <a:noFill/>
          </a:ln>
          <a:effectLst/>
        </p:spPr>
        <p:txBody>
          <a:bodyPr anchor="ctr">
            <a:spAutoFit/>
          </a:bodyPr>
          <a:lstStyle/>
          <a:p>
            <a:pPr>
              <a:defRPr/>
            </a:pPr>
            <a:endParaRPr lang="zh-CN" altLang="en-US"/>
          </a:p>
        </p:txBody>
      </p:sp>
      <p:sp>
        <p:nvSpPr>
          <p:cNvPr id="27" name="Oval 26">
            <a:extLst>
              <a:ext uri="{FF2B5EF4-FFF2-40B4-BE49-F238E27FC236}">
                <a16:creationId xmlns:a16="http://schemas.microsoft.com/office/drawing/2014/main" id="{792AE5DA-9BA8-F04C-C109-F0F14F7B616C}"/>
              </a:ext>
            </a:extLst>
          </p:cNvPr>
          <p:cNvSpPr>
            <a:spLocks noChangeArrowheads="1"/>
          </p:cNvSpPr>
          <p:nvPr/>
        </p:nvSpPr>
        <p:spPr bwMode="gray">
          <a:xfrm>
            <a:off x="5069004" y="1741488"/>
            <a:ext cx="1554162" cy="1560513"/>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grpSp>
        <p:nvGrpSpPr>
          <p:cNvPr id="28" name="Group 27">
            <a:extLst>
              <a:ext uri="{FF2B5EF4-FFF2-40B4-BE49-F238E27FC236}">
                <a16:creationId xmlns:a16="http://schemas.microsoft.com/office/drawing/2014/main" id="{7B80146D-AA37-A33D-BC56-03CE9452B1A2}"/>
              </a:ext>
            </a:extLst>
          </p:cNvPr>
          <p:cNvGrpSpPr>
            <a:grpSpLocks/>
          </p:cNvGrpSpPr>
          <p:nvPr/>
        </p:nvGrpSpPr>
        <p:grpSpPr bwMode="auto">
          <a:xfrm>
            <a:off x="5094404" y="1758951"/>
            <a:ext cx="1503362" cy="1511300"/>
            <a:chOff x="4166" y="1706"/>
            <a:chExt cx="1252" cy="1252"/>
          </a:xfrm>
        </p:grpSpPr>
        <p:sp>
          <p:nvSpPr>
            <p:cNvPr id="29" name="Oval 28">
              <a:extLst>
                <a:ext uri="{FF2B5EF4-FFF2-40B4-BE49-F238E27FC236}">
                  <a16:creationId xmlns:a16="http://schemas.microsoft.com/office/drawing/2014/main" id="{BCA23C68-A3CC-C508-4BA6-7FC8C5792DCA}"/>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0" name="Oval 29">
              <a:extLst>
                <a:ext uri="{FF2B5EF4-FFF2-40B4-BE49-F238E27FC236}">
                  <a16:creationId xmlns:a16="http://schemas.microsoft.com/office/drawing/2014/main" id="{708F5A77-A766-B7F7-5CB5-DA3CB9F08558}"/>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1" name="Oval 30">
              <a:extLst>
                <a:ext uri="{FF2B5EF4-FFF2-40B4-BE49-F238E27FC236}">
                  <a16:creationId xmlns:a16="http://schemas.microsoft.com/office/drawing/2014/main" id="{AFDC7F73-5DAD-C115-319C-41F5D4E32604}"/>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2" name="Oval 31">
              <a:extLst>
                <a:ext uri="{FF2B5EF4-FFF2-40B4-BE49-F238E27FC236}">
                  <a16:creationId xmlns:a16="http://schemas.microsoft.com/office/drawing/2014/main" id="{FC98A8E9-E2B2-A6CC-DF9B-DAEB21CB9356}"/>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grpSp>
      <p:grpSp>
        <p:nvGrpSpPr>
          <p:cNvPr id="33" name="Group 32">
            <a:extLst>
              <a:ext uri="{FF2B5EF4-FFF2-40B4-BE49-F238E27FC236}">
                <a16:creationId xmlns:a16="http://schemas.microsoft.com/office/drawing/2014/main" id="{17B6C310-A10D-C686-41EA-CB5B314CFF24}"/>
              </a:ext>
            </a:extLst>
          </p:cNvPr>
          <p:cNvGrpSpPr>
            <a:grpSpLocks/>
          </p:cNvGrpSpPr>
          <p:nvPr/>
        </p:nvGrpSpPr>
        <p:grpSpPr bwMode="auto">
          <a:xfrm>
            <a:off x="7618529" y="1758951"/>
            <a:ext cx="1504950" cy="1511300"/>
            <a:chOff x="4166" y="1706"/>
            <a:chExt cx="1252" cy="1252"/>
          </a:xfrm>
        </p:grpSpPr>
        <p:sp>
          <p:nvSpPr>
            <p:cNvPr id="34" name="Oval 33">
              <a:extLst>
                <a:ext uri="{FF2B5EF4-FFF2-40B4-BE49-F238E27FC236}">
                  <a16:creationId xmlns:a16="http://schemas.microsoft.com/office/drawing/2014/main" id="{8EA1F6BC-3E0E-CBA4-5286-211C24E502EC}"/>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5" name="Oval 34">
              <a:extLst>
                <a:ext uri="{FF2B5EF4-FFF2-40B4-BE49-F238E27FC236}">
                  <a16:creationId xmlns:a16="http://schemas.microsoft.com/office/drawing/2014/main" id="{A38994BB-BDB5-4E11-553F-48BD371DA32F}"/>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6" name="Oval 35">
              <a:extLst>
                <a:ext uri="{FF2B5EF4-FFF2-40B4-BE49-F238E27FC236}">
                  <a16:creationId xmlns:a16="http://schemas.microsoft.com/office/drawing/2014/main" id="{9AD392AD-1C7B-EDA3-ECDC-3EFED47A12DB}"/>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7" name="Oval 36">
              <a:extLst>
                <a:ext uri="{FF2B5EF4-FFF2-40B4-BE49-F238E27FC236}">
                  <a16:creationId xmlns:a16="http://schemas.microsoft.com/office/drawing/2014/main" id="{5FB2FFA6-F7E6-A2F4-FA08-C07A7B052D67}"/>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grpSp>
      <p:sp>
        <p:nvSpPr>
          <p:cNvPr id="38" name="AutoShape 37">
            <a:extLst>
              <a:ext uri="{FF2B5EF4-FFF2-40B4-BE49-F238E27FC236}">
                <a16:creationId xmlns:a16="http://schemas.microsoft.com/office/drawing/2014/main" id="{C37C7001-5430-E834-15DE-615329E59ECE}"/>
              </a:ext>
            </a:extLst>
          </p:cNvPr>
          <p:cNvSpPr>
            <a:spLocks noChangeArrowheads="1"/>
          </p:cNvSpPr>
          <p:nvPr/>
        </p:nvSpPr>
        <p:spPr bwMode="gray">
          <a:xfrm>
            <a:off x="2057517" y="3585887"/>
            <a:ext cx="2135187" cy="476250"/>
          </a:xfrm>
          <a:prstGeom prst="roundRect">
            <a:avLst>
              <a:gd name="adj" fmla="val 50000"/>
            </a:avLst>
          </a:prstGeom>
          <a:solidFill>
            <a:schemeClr val="bg1"/>
          </a:solidFill>
          <a:ln w="28575" algn="ctr">
            <a:solidFill>
              <a:srgbClr val="FFFFFF"/>
            </a:solidFill>
            <a:round/>
            <a:headEnd/>
            <a:tailEnd/>
          </a:ln>
          <a:effec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defRPr/>
            </a:pPr>
            <a:r>
              <a:rPr lang="zh-CN" altLang="en-US" sz="2800" b="1" dirty="0">
                <a:solidFill>
                  <a:srgbClr val="2F5597"/>
                </a:solidFill>
                <a:latin typeface="黑体" panose="02010609060101010101" pitchFamily="49" charset="-122"/>
                <a:ea typeface="黑体" panose="02010609060101010101" pitchFamily="49" charset="-122"/>
              </a:rPr>
              <a:t>实物总体</a:t>
            </a:r>
          </a:p>
        </p:txBody>
      </p:sp>
      <p:sp>
        <p:nvSpPr>
          <p:cNvPr id="39" name="AutoShape 38">
            <a:extLst>
              <a:ext uri="{FF2B5EF4-FFF2-40B4-BE49-F238E27FC236}">
                <a16:creationId xmlns:a16="http://schemas.microsoft.com/office/drawing/2014/main" id="{BF0FF060-AA26-633C-05EF-172C49985B8F}"/>
              </a:ext>
            </a:extLst>
          </p:cNvPr>
          <p:cNvSpPr>
            <a:spLocks noChangeArrowheads="1"/>
          </p:cNvSpPr>
          <p:nvPr/>
        </p:nvSpPr>
        <p:spPr bwMode="gray">
          <a:xfrm>
            <a:off x="5069004" y="3598291"/>
            <a:ext cx="2089150" cy="476250"/>
          </a:xfrm>
          <a:prstGeom prst="roundRect">
            <a:avLst>
              <a:gd name="adj" fmla="val 50000"/>
            </a:avLst>
          </a:prstGeom>
          <a:solidFill>
            <a:schemeClr val="bg1"/>
          </a:solidFill>
          <a:ln w="28575" algn="ctr">
            <a:solidFill>
              <a:srgbClr val="FFFFFF"/>
            </a:solidFill>
            <a:round/>
            <a:headEnd/>
            <a:tailEnd/>
          </a:ln>
          <a:effectLst/>
        </p:spPr>
        <p:txBody>
          <a:bodyPr wrap="none" anchor="ctr"/>
          <a:lstStyle/>
          <a:p>
            <a:pPr algn="ctr">
              <a:spcBef>
                <a:spcPct val="0"/>
              </a:spcBef>
            </a:pPr>
            <a:r>
              <a:rPr lang="zh-CN" altLang="en-US" sz="2800" b="1" dirty="0">
                <a:solidFill>
                  <a:srgbClr val="2F5597"/>
                </a:solidFill>
                <a:latin typeface="黑体" panose="02010609060101010101" pitchFamily="49" charset="-122"/>
                <a:ea typeface="黑体" panose="02010609060101010101" pitchFamily="49" charset="-122"/>
              </a:rPr>
              <a:t>数值集合（总体）</a:t>
            </a:r>
          </a:p>
        </p:txBody>
      </p:sp>
      <p:sp>
        <p:nvSpPr>
          <p:cNvPr id="40" name="AutoShape 39">
            <a:extLst>
              <a:ext uri="{FF2B5EF4-FFF2-40B4-BE49-F238E27FC236}">
                <a16:creationId xmlns:a16="http://schemas.microsoft.com/office/drawing/2014/main" id="{6E621011-ACB4-556C-8AF6-0372FD620F73}"/>
              </a:ext>
            </a:extLst>
          </p:cNvPr>
          <p:cNvSpPr>
            <a:spLocks noChangeArrowheads="1"/>
          </p:cNvSpPr>
          <p:nvPr/>
        </p:nvSpPr>
        <p:spPr bwMode="gray">
          <a:xfrm>
            <a:off x="7442316" y="3614738"/>
            <a:ext cx="2057400" cy="476250"/>
          </a:xfrm>
          <a:prstGeom prst="roundRect">
            <a:avLst>
              <a:gd name="adj" fmla="val 50000"/>
            </a:avLst>
          </a:prstGeom>
          <a:solidFill>
            <a:schemeClr val="bg1"/>
          </a:solidFill>
          <a:ln w="28575" algn="ctr">
            <a:solidFill>
              <a:srgbClr val="FFFFFF"/>
            </a:solidFill>
            <a:round/>
            <a:headEnd/>
            <a:tailEnd/>
          </a:ln>
          <a:effec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defRPr/>
            </a:pPr>
            <a:r>
              <a:rPr lang="zh-CN" altLang="en-US" sz="2800" b="1" dirty="0">
                <a:solidFill>
                  <a:srgbClr val="2F5597"/>
                </a:solidFill>
                <a:latin typeface="黑体" panose="02010609060101010101" pitchFamily="49" charset="-122"/>
                <a:ea typeface="黑体" panose="02010609060101010101" pitchFamily="49" charset="-122"/>
              </a:rPr>
              <a:t>分布总体</a:t>
            </a:r>
          </a:p>
        </p:txBody>
      </p:sp>
      <p:sp>
        <p:nvSpPr>
          <p:cNvPr id="41" name="Text Box 40">
            <a:extLst>
              <a:ext uri="{FF2B5EF4-FFF2-40B4-BE49-F238E27FC236}">
                <a16:creationId xmlns:a16="http://schemas.microsoft.com/office/drawing/2014/main" id="{C68FFE79-2792-7A16-566A-15A8952A131D}"/>
              </a:ext>
            </a:extLst>
          </p:cNvPr>
          <p:cNvSpPr txBox="1">
            <a:spLocks noChangeArrowheads="1"/>
          </p:cNvSpPr>
          <p:nvPr/>
        </p:nvSpPr>
        <p:spPr bwMode="gray">
          <a:xfrm>
            <a:off x="2641716" y="2205038"/>
            <a:ext cx="1371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000" b="1" dirty="0">
                <a:solidFill>
                  <a:srgbClr val="000000"/>
                </a:solidFill>
              </a:rPr>
              <a:t>组成元素</a:t>
            </a:r>
          </a:p>
          <a:p>
            <a:pPr algn="ctr">
              <a:spcBef>
                <a:spcPct val="0"/>
              </a:spcBef>
              <a:buClrTx/>
              <a:buSzTx/>
              <a:buFontTx/>
              <a:buNone/>
            </a:pPr>
            <a:r>
              <a:rPr lang="zh-CN" altLang="en-US" sz="2000" b="1" dirty="0">
                <a:solidFill>
                  <a:srgbClr val="000000"/>
                </a:solidFill>
              </a:rPr>
              <a:t>具体对象</a:t>
            </a:r>
          </a:p>
        </p:txBody>
      </p:sp>
      <p:sp>
        <p:nvSpPr>
          <p:cNvPr id="42" name="Text Box 43">
            <a:extLst>
              <a:ext uri="{FF2B5EF4-FFF2-40B4-BE49-F238E27FC236}">
                <a16:creationId xmlns:a16="http://schemas.microsoft.com/office/drawing/2014/main" id="{D8C17578-4D2E-DA1B-2D86-60EF635D4C57}"/>
              </a:ext>
            </a:extLst>
          </p:cNvPr>
          <p:cNvSpPr txBox="1">
            <a:spLocks noChangeArrowheads="1"/>
          </p:cNvSpPr>
          <p:nvPr/>
        </p:nvSpPr>
        <p:spPr bwMode="gray">
          <a:xfrm>
            <a:off x="5156316" y="2128838"/>
            <a:ext cx="1371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000" b="1" dirty="0">
                <a:solidFill>
                  <a:srgbClr val="000000"/>
                </a:solidFill>
              </a:rPr>
              <a:t>组成元素</a:t>
            </a:r>
          </a:p>
          <a:p>
            <a:pPr algn="ctr">
              <a:spcBef>
                <a:spcPct val="0"/>
              </a:spcBef>
              <a:buClrTx/>
              <a:buSzTx/>
              <a:buFontTx/>
              <a:buNone/>
            </a:pPr>
            <a:r>
              <a:rPr lang="zh-CN" altLang="en-US" sz="2000" b="1" dirty="0">
                <a:solidFill>
                  <a:srgbClr val="000000"/>
                </a:solidFill>
              </a:rPr>
              <a:t>重复数字</a:t>
            </a:r>
          </a:p>
        </p:txBody>
      </p:sp>
      <p:sp>
        <p:nvSpPr>
          <p:cNvPr id="43" name="Text Box 44">
            <a:extLst>
              <a:ext uri="{FF2B5EF4-FFF2-40B4-BE49-F238E27FC236}">
                <a16:creationId xmlns:a16="http://schemas.microsoft.com/office/drawing/2014/main" id="{135ACEFC-C1DA-8DB9-2909-6F484B08A77B}"/>
              </a:ext>
            </a:extLst>
          </p:cNvPr>
          <p:cNvSpPr txBox="1">
            <a:spLocks noChangeArrowheads="1"/>
          </p:cNvSpPr>
          <p:nvPr/>
        </p:nvSpPr>
        <p:spPr bwMode="gray">
          <a:xfrm>
            <a:off x="7637762" y="1874386"/>
            <a:ext cx="1371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000" b="1" dirty="0">
                <a:solidFill>
                  <a:srgbClr val="000000"/>
                </a:solidFill>
              </a:rPr>
              <a:t>组成元素</a:t>
            </a:r>
          </a:p>
          <a:p>
            <a:pPr algn="ctr">
              <a:spcBef>
                <a:spcPct val="0"/>
              </a:spcBef>
              <a:buClrTx/>
              <a:buSzTx/>
              <a:buFontTx/>
              <a:buNone/>
            </a:pPr>
            <a:r>
              <a:rPr lang="zh-CN" altLang="en-US" sz="2000" b="1" dirty="0">
                <a:solidFill>
                  <a:srgbClr val="000000"/>
                </a:solidFill>
              </a:rPr>
              <a:t>数字的取值及其概率：分布</a:t>
            </a:r>
          </a:p>
        </p:txBody>
      </p:sp>
      <p:sp>
        <p:nvSpPr>
          <p:cNvPr id="44" name="Text Box 45">
            <a:extLst>
              <a:ext uri="{FF2B5EF4-FFF2-40B4-BE49-F238E27FC236}">
                <a16:creationId xmlns:a16="http://schemas.microsoft.com/office/drawing/2014/main" id="{21399C26-5EA1-1803-1CC2-B8973820B2D4}"/>
              </a:ext>
            </a:extLst>
          </p:cNvPr>
          <p:cNvSpPr txBox="1">
            <a:spLocks noChangeArrowheads="1"/>
          </p:cNvSpPr>
          <p:nvPr/>
        </p:nvSpPr>
        <p:spPr bwMode="auto">
          <a:xfrm>
            <a:off x="3978660" y="1039529"/>
            <a:ext cx="113452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2400" b="1" dirty="0"/>
              <a:t>研究的标志</a:t>
            </a:r>
          </a:p>
        </p:txBody>
      </p:sp>
      <p:sp>
        <p:nvSpPr>
          <p:cNvPr id="45" name="Text Box 46">
            <a:extLst>
              <a:ext uri="{FF2B5EF4-FFF2-40B4-BE49-F238E27FC236}">
                <a16:creationId xmlns:a16="http://schemas.microsoft.com/office/drawing/2014/main" id="{AC986AF3-B47E-58E9-705D-25EB7192B4FB}"/>
              </a:ext>
            </a:extLst>
          </p:cNvPr>
          <p:cNvSpPr txBox="1">
            <a:spLocks noChangeArrowheads="1"/>
          </p:cNvSpPr>
          <p:nvPr/>
        </p:nvSpPr>
        <p:spPr bwMode="auto">
          <a:xfrm>
            <a:off x="6539033" y="941132"/>
            <a:ext cx="13114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200" b="1" dirty="0"/>
              <a:t>数字的取值和重复的频率</a:t>
            </a:r>
          </a:p>
        </p:txBody>
      </p:sp>
      <p:sp>
        <p:nvSpPr>
          <p:cNvPr id="46" name="标题 1">
            <a:extLst>
              <a:ext uri="{FF2B5EF4-FFF2-40B4-BE49-F238E27FC236}">
                <a16:creationId xmlns:a16="http://schemas.microsoft.com/office/drawing/2014/main" id="{EF093903-F402-769F-9F8F-9D87F863DE3E}"/>
              </a:ext>
            </a:extLst>
          </p:cNvPr>
          <p:cNvSpPr txBox="1">
            <a:spLocks/>
          </p:cNvSpPr>
          <p:nvPr/>
        </p:nvSpPr>
        <p:spPr>
          <a:xfrm>
            <a:off x="1703070" y="158477"/>
            <a:ext cx="10308060" cy="662782"/>
          </a:xfrm>
          <a:prstGeom prst="rect">
            <a:avLst/>
          </a:prstGeom>
        </p:spPr>
        <p:txBody>
          <a:bodyP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r>
              <a:rPr lang="en-US" altLang="zh-CN" sz="3200" dirty="0">
                <a:effectLst/>
              </a:rPr>
              <a:t>6.1.1 </a:t>
            </a:r>
            <a:r>
              <a:rPr lang="zh-CN" altLang="en-US" sz="3200" dirty="0">
                <a:effectLst/>
              </a:rPr>
              <a:t>统计推断中的总体与总体参数（续）</a:t>
            </a:r>
            <a:endParaRPr lang="zh-CN" altLang="en-US" dirty="0">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p:nvPr/>
        </p:nvSpPr>
        <p:spPr>
          <a:xfrm>
            <a:off x="1051560" y="1044748"/>
            <a:ext cx="9852660" cy="2458085"/>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9pPr>
          </a:lstStyle>
          <a:p>
            <a:pPr marL="0" marR="0" lvl="0" indent="263525" defTabSz="914400" rtl="0" eaLnBrk="1" fontAlgn="base" latinLnBrk="0" hangingPunct="1">
              <a:lnSpc>
                <a:spcPct val="140000"/>
              </a:lnSpc>
              <a:spcBef>
                <a:spcPts val="0"/>
              </a:spcBef>
              <a:spcAft>
                <a:spcPct val="0"/>
              </a:spcAft>
              <a:buClr>
                <a:srgbClr val="E7E6E6"/>
              </a:buClr>
              <a:buSzPct val="75000"/>
              <a:buFont typeface="Wingdings" charset="2"/>
              <a:buNone/>
              <a:tabLst/>
              <a:defRPr/>
            </a:pP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 </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虽然总体中的个体可能很多，但个体在所关注标志（变量）上的可能取值只是有限个（如离散变量），因为重复取值很多，可将全部可能的取值及其概率用</a:t>
            </a:r>
            <a:r>
              <a:rPr kumimoji="0" lang="zh-CN" altLang="zh-CN" sz="2800" b="1" i="0" u="none" strike="noStrike" kern="1200" cap="none" spc="0" normalizeH="0" baseline="0" noProof="0" dirty="0">
                <a:ln>
                  <a:noFill/>
                </a:ln>
                <a:solidFill>
                  <a:srgbClr val="0070C0"/>
                </a:solidFill>
                <a:effectLst/>
                <a:uLnTx/>
                <a:uFillTx/>
                <a:latin typeface="黑体" panose="02010609060101010101" pitchFamily="49" charset="-122"/>
                <a:ea typeface="黑体" panose="02010609060101010101" pitchFamily="49" charset="-122"/>
              </a:rPr>
              <a:t>总体分布</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来描述。</a:t>
            </a:r>
            <a:endPar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pPr marL="0" marR="0" lvl="0" indent="263525" defTabSz="914400" rtl="0" eaLnBrk="1" fontAlgn="base" latinLnBrk="0" hangingPunct="1">
              <a:lnSpc>
                <a:spcPct val="140000"/>
              </a:lnSpc>
              <a:spcBef>
                <a:spcPts val="0"/>
              </a:spcBef>
              <a:spcAft>
                <a:spcPct val="0"/>
              </a:spcAft>
              <a:buClr>
                <a:srgbClr val="E7E6E6"/>
              </a:buClr>
              <a:buSzPct val="75000"/>
              <a:buFont typeface="Wingdings" charset="2"/>
              <a:buNone/>
              <a:tabLst/>
              <a:defRPr/>
            </a:pPr>
            <a:r>
              <a:rPr lang="en-US" altLang="zh-CN" sz="2800" dirty="0">
                <a:solidFill>
                  <a:prstClr val="black"/>
                </a:solidFill>
                <a:latin typeface="宋体" panose="02010600030101010101" pitchFamily="2" charset="-122"/>
                <a:ea typeface="宋体" panose="02010600030101010101" pitchFamily="2" charset="-122"/>
              </a:rPr>
              <a:t> </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于是，研究总体全部取值就转化为研究相应的总体分布了。</a:t>
            </a:r>
            <a:endParaRPr kumimoji="0" lang="zh-CN" altLang="en-US" sz="28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2800" b="0" i="0" u="none" strike="noStrike" kern="1200" cap="none" spc="0" normalizeH="0" baseline="0" noProof="0" smtClean="0">
                <a:ln>
                  <a:noFill/>
                </a:ln>
                <a:solidFill>
                  <a:prstClr val="white">
                    <a:lumMod val="95000"/>
                  </a:prstClr>
                </a:solidFill>
                <a:effectLst/>
                <a:uLnTx/>
                <a:uFillTx/>
                <a:latin typeface="宋体" panose="02010600030101010101" pitchFamily="2" charset="-122"/>
                <a:ea typeface="宋体" panose="02010600030101010101" pitchFamily="2" charset="-122"/>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2800" b="0" i="0" u="none" strike="noStrike" kern="12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endParaRPr>
          </a:p>
        </p:txBody>
      </p:sp>
      <p:sp>
        <p:nvSpPr>
          <p:cNvPr id="4" name="文本框 3"/>
          <p:cNvSpPr txBox="1"/>
          <p:nvPr/>
        </p:nvSpPr>
        <p:spPr>
          <a:xfrm>
            <a:off x="1051560" y="3709779"/>
            <a:ext cx="9764829" cy="2412968"/>
          </a:xfrm>
          <a:prstGeom prst="rect">
            <a:avLst/>
          </a:prstGeom>
          <a:noFill/>
        </p:spPr>
        <p:txBody>
          <a:bodyPr wrap="square">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lang="en-US" altLang="zh-CN" sz="3200" b="1" dirty="0">
                <a:latin typeface="宋体" panose="02010600030101010101" pitchFamily="2" charset="-122"/>
                <a:ea typeface="宋体" panose="02010600030101010101" pitchFamily="2" charset="-122"/>
              </a:rPr>
              <a:t>【</a:t>
            </a:r>
            <a:r>
              <a:rPr kumimoji="0" lang="zh-CN" altLang="en-US" sz="3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例</a:t>
            </a:r>
            <a:r>
              <a:rPr kumimoji="0" lang="en-US" altLang="zh-CN" sz="32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研究上市公司经营状况时，关注“是否被证监会特别处理（即是否</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ST</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公司）” 这一标志。该标志只能取两个值：</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ST</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和非</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ST</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。我们要关注的就是总体中</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ST</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和非</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ST</a:t>
            </a:r>
            <a:r>
              <a:rPr kumimoji="0" lang="zh-CN"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的上市公司的频数或频率</a:t>
            </a:r>
            <a:r>
              <a:rPr lang="zh-CN" altLang="en-US" sz="2800" dirty="0">
                <a:solidFill>
                  <a:prstClr val="black"/>
                </a:solidFill>
                <a:latin typeface="宋体" panose="02010600030101010101" pitchFamily="2" charset="-122"/>
                <a:ea typeface="宋体" panose="02010600030101010101" pitchFamily="2" charset="-122"/>
              </a:rPr>
              <a:t>（属两点分布）</a:t>
            </a:r>
            <a:endPar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5" name="标题 1">
            <a:extLst>
              <a:ext uri="{FF2B5EF4-FFF2-40B4-BE49-F238E27FC236}">
                <a16:creationId xmlns:a16="http://schemas.microsoft.com/office/drawing/2014/main" id="{11E25BD3-0165-14A5-4959-2F34245AED88}"/>
              </a:ext>
            </a:extLst>
          </p:cNvPr>
          <p:cNvSpPr txBox="1">
            <a:spLocks/>
          </p:cNvSpPr>
          <p:nvPr/>
        </p:nvSpPr>
        <p:spPr>
          <a:xfrm>
            <a:off x="1520190" y="238487"/>
            <a:ext cx="10525230" cy="662782"/>
          </a:xfrm>
          <a:prstGeom prst="rect">
            <a:avLst/>
          </a:prstGeom>
        </p:spPr>
        <p:txBody>
          <a:bodyP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r>
              <a:rPr lang="en-US" altLang="zh-CN" sz="3200" dirty="0"/>
              <a:t>6.1.1 </a:t>
            </a:r>
            <a:r>
              <a:rPr lang="zh-CN" altLang="en-US" sz="3200" dirty="0"/>
              <a:t>统计推断中的总体与总体参数</a:t>
            </a:r>
            <a:r>
              <a:rPr lang="zh-CN" altLang="en-US" sz="2800" dirty="0">
                <a:effectLst/>
              </a:rPr>
              <a:t>（续）</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2800" b="0" i="0" u="none" strike="noStrike" kern="1200" cap="none" spc="0" normalizeH="0" baseline="0" noProof="0" smtClean="0">
                <a:ln>
                  <a:noFill/>
                </a:ln>
                <a:solidFill>
                  <a:prstClr val="white">
                    <a:lumMod val="95000"/>
                  </a:prstClr>
                </a:solidFill>
                <a:effectLst/>
                <a:uLnTx/>
                <a:uFillTx/>
                <a:latin typeface="宋体" panose="02010600030101010101" pitchFamily="2" charset="-122"/>
                <a:ea typeface="宋体" panose="02010600030101010101" pitchFamily="2" charset="-122"/>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2800" b="0" i="0" u="none" strike="noStrike" kern="1200" cap="none" spc="0" normalizeH="0" baseline="0" noProof="0">
              <a:ln>
                <a:noFill/>
              </a:ln>
              <a:solidFill>
                <a:prstClr val="white">
                  <a:lumMod val="95000"/>
                </a:prstClr>
              </a:solidFill>
              <a:effectLst/>
              <a:uLnTx/>
              <a:uFillTx/>
              <a:latin typeface="宋体" panose="02010600030101010101" pitchFamily="2" charset="-122"/>
              <a:ea typeface="宋体" panose="02010600030101010101" pitchFamily="2" charset="-122"/>
            </a:endParaRPr>
          </a:p>
        </p:txBody>
      </p:sp>
      <p:sp>
        <p:nvSpPr>
          <p:cNvPr id="3" name="Rectangle 3"/>
          <p:cNvSpPr txBox="1"/>
          <p:nvPr/>
        </p:nvSpPr>
        <p:spPr>
          <a:xfrm>
            <a:off x="807168" y="997226"/>
            <a:ext cx="10066020" cy="2312035"/>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9pPr>
          </a:lstStyle>
          <a:p>
            <a:pPr marL="342900" marR="0" lvl="0" indent="0" algn="l" defTabSz="914400" rtl="0" eaLnBrk="1" fontAlgn="base" latinLnBrk="0" hangingPunct="1">
              <a:lnSpc>
                <a:spcPct val="150000"/>
              </a:lnSpc>
              <a:spcBef>
                <a:spcPts val="0"/>
              </a:spcBef>
              <a:spcAft>
                <a:spcPct val="0"/>
              </a:spcAft>
              <a:buClr>
                <a:srgbClr val="E7E6E6"/>
              </a:buClr>
              <a:buSzPct val="75000"/>
              <a:buFont typeface="Wingdings" charset="2"/>
              <a:buNone/>
              <a:tabLst/>
              <a:defRPr/>
            </a:pPr>
            <a:r>
              <a:rPr kumimoji="0" lang="en-US" altLang="zh-CN" sz="2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	</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如果所研究标志没有重复取值（如连续变量），总体在单点上概率为</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0</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，此时关注单个取值是无意义的，通常感兴趣的是标志在不同区间上取值的密集程度。</a:t>
            </a:r>
            <a:endParaRPr kumimoji="0" lang="zh-CN" altLang="en-US" sz="28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p:txBody>
      </p:sp>
      <p:sp>
        <p:nvSpPr>
          <p:cNvPr id="4" name="文本框 3"/>
          <p:cNvSpPr txBox="1"/>
          <p:nvPr/>
        </p:nvSpPr>
        <p:spPr>
          <a:xfrm>
            <a:off x="1271721" y="3405218"/>
            <a:ext cx="10009505" cy="1852815"/>
          </a:xfrm>
          <a:prstGeom prst="rect">
            <a:avLst/>
          </a:prstGeom>
          <a:noFill/>
        </p:spPr>
        <p:txBody>
          <a:bodyPr wrap="square">
            <a:spAutoFit/>
          </a:bodyPr>
          <a:lstStyle/>
          <a:p>
            <a:pPr lvl="0" eaLnBrk="0" fontAlgn="base" hangingPunct="0">
              <a:lnSpc>
                <a:spcPct val="130000"/>
              </a:lnSpc>
              <a:spcBef>
                <a:spcPct val="0"/>
              </a:spcBef>
              <a:spcAft>
                <a:spcPct val="0"/>
              </a:spcAft>
              <a:defRPr/>
            </a:pPr>
            <a:r>
              <a:rPr lang="en-US" altLang="zh-CN" sz="3200" b="1" dirty="0">
                <a:latin typeface="宋体" panose="02010600030101010101" pitchFamily="2" charset="-122"/>
                <a:ea typeface="宋体" panose="02010600030101010101" pitchFamily="2" charset="-122"/>
              </a:rPr>
              <a:t>【</a:t>
            </a:r>
            <a:r>
              <a:rPr lang="zh-CN" altLang="en-US" sz="3200" b="1" dirty="0">
                <a:latin typeface="宋体" panose="02010600030101010101" pitchFamily="2" charset="-122"/>
                <a:ea typeface="宋体" panose="02010600030101010101" pitchFamily="2" charset="-122"/>
              </a:rPr>
              <a:t>例</a:t>
            </a:r>
            <a:r>
              <a:rPr lang="en-US" altLang="zh-CN" sz="3200" b="1" dirty="0">
                <a:latin typeface="宋体" panose="02010600030101010101" pitchFamily="2" charset="-122"/>
                <a:ea typeface="宋体" panose="02010600030101010101" pitchFamily="2" charset="-122"/>
              </a:rPr>
              <a:t>】</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出酒量（用</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X</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表示）的取值是连续的，可以将其划分为若干连续的小区间，计算出酒量</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X</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在区间上取值的频次或频率。（属于正态分布）</a:t>
            </a:r>
          </a:p>
        </p:txBody>
      </p:sp>
      <p:sp>
        <p:nvSpPr>
          <p:cNvPr id="6" name="标题 1">
            <a:extLst>
              <a:ext uri="{FF2B5EF4-FFF2-40B4-BE49-F238E27FC236}">
                <a16:creationId xmlns:a16="http://schemas.microsoft.com/office/drawing/2014/main" id="{11E25BD3-0165-14A5-4959-2F34245AED88}"/>
              </a:ext>
            </a:extLst>
          </p:cNvPr>
          <p:cNvSpPr txBox="1">
            <a:spLocks/>
          </p:cNvSpPr>
          <p:nvPr/>
        </p:nvSpPr>
        <p:spPr>
          <a:xfrm>
            <a:off x="1520190" y="238487"/>
            <a:ext cx="10525230" cy="662782"/>
          </a:xfrm>
          <a:prstGeom prst="rect">
            <a:avLst/>
          </a:prstGeom>
        </p:spPr>
        <p:txBody>
          <a:bodyP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r>
              <a:rPr lang="en-US" altLang="zh-CN" sz="3200" dirty="0"/>
              <a:t>6.1.1 </a:t>
            </a:r>
            <a:r>
              <a:rPr lang="zh-CN" altLang="en-US" sz="3200" dirty="0"/>
              <a:t>统计推断中的总体与总体参数</a:t>
            </a:r>
            <a:r>
              <a:rPr lang="zh-CN" altLang="en-US" sz="2800" dirty="0">
                <a:effectLst/>
              </a:rPr>
              <a:t>（续）</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mc:AlternateContent xmlns:mc="http://schemas.openxmlformats.org/markup-compatibility/2006">
        <mc:Choice xmlns:a14="http://schemas.microsoft.com/office/drawing/2010/main" Requires="a14">
          <p:sp>
            <p:nvSpPr>
              <p:cNvPr id="3" name="Rectangle 3"/>
              <p:cNvSpPr txBox="1"/>
              <p:nvPr/>
            </p:nvSpPr>
            <p:spPr>
              <a:xfrm>
                <a:off x="329184" y="901268"/>
                <a:ext cx="10978896" cy="5667973"/>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charset="2"/>
                  <a:buChar char="§"/>
                  <a:defRPr sz="2000">
                    <a:solidFill>
                      <a:schemeClr val="tx1"/>
                    </a:solidFill>
                    <a:latin typeface="+mn-lt"/>
                    <a:ea typeface="+mn-ea"/>
                  </a:defRPr>
                </a:lvl9pPr>
              </a:lstStyle>
              <a:p>
                <a:pPr marL="0" marR="0" lvl="0" indent="720000" algn="l" defTabSz="914400" rtl="0" eaLnBrk="1" fontAlgn="base" latinLnBrk="0" hangingPunct="1">
                  <a:lnSpc>
                    <a:spcPct val="150000"/>
                  </a:lnSpc>
                  <a:spcBef>
                    <a:spcPts val="0"/>
                  </a:spcBef>
                  <a:spcAft>
                    <a:spcPct val="0"/>
                  </a:spcAft>
                  <a:buClr>
                    <a:srgbClr val="E7E6E6"/>
                  </a:buClr>
                  <a:buSzPct val="75000"/>
                  <a:buFont typeface="Wingdings" charset="2"/>
                  <a:buNone/>
                  <a:tabLst/>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实际中上述频率会有波动，但根据大数定律，总体容量越大，波动就会越小，当总体容量趋于无穷大时，根据概率的定义，上述的频率将趋于概率。相应的，标志取值</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就成为随机变量，随机变量所有可能取值及其概率形成一个分布。</a:t>
                </a:r>
                <a:endPar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0" lvl="0" indent="720000" eaLnBrk="1" hangingPunct="1">
                  <a:lnSpc>
                    <a:spcPct val="150000"/>
                  </a:lnSpc>
                  <a:spcBef>
                    <a:spcPts val="0"/>
                  </a:spcBef>
                  <a:buClrTx/>
                  <a:buSzTx/>
                  <a:buNone/>
                  <a:defRPr/>
                </a:pPr>
                <a:r>
                  <a:rPr lang="zh-CN"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rPr>
                  <a:t>当</a:t>
                </a:r>
                <a:r>
                  <a:rPr lang="en-US" altLang="zh-CN" sz="2400" i="1" kern="100" dirty="0">
                    <a:solidFill>
                      <a:schemeClr val="tx1"/>
                    </a:solidFill>
                    <a:latin typeface="宋体" panose="02010600030101010101" pitchFamily="2" charset="-122"/>
                    <a:ea typeface="宋体" panose="02010600030101010101" pitchFamily="2" charset="-122"/>
                  </a:rPr>
                  <a:t>X </a:t>
                </a:r>
                <a:r>
                  <a:rPr lang="zh-CN"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rPr>
                  <a:t>取值</a:t>
                </a:r>
                <a:r>
                  <a:rPr lang="zh-CN" altLang="zh-CN" sz="2400" b="1" kern="100" dirty="0">
                    <a:solidFill>
                      <a:schemeClr val="tx1"/>
                    </a:solidFill>
                    <a:latin typeface="黑体" panose="02010609060101010101" pitchFamily="49" charset="-122"/>
                    <a:ea typeface="黑体" panose="02010609060101010101" pitchFamily="49" charset="-122"/>
                    <a:cs typeface="Times New Roman" panose="02020603050405020304" pitchFamily="18" charset="0"/>
                  </a:rPr>
                  <a:t>离散</a:t>
                </a:r>
                <a:r>
                  <a:rPr lang="zh-CN"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rPr>
                  <a:t>时，就得到</a:t>
                </a:r>
                <a:r>
                  <a:rPr lang="zh-CN" altLang="zh-CN" sz="2400" b="1" kern="100" dirty="0">
                    <a:solidFill>
                      <a:srgbClr val="002060"/>
                    </a:solidFill>
                    <a:latin typeface="黑体" panose="02010609060101010101" pitchFamily="49" charset="-122"/>
                    <a:ea typeface="黑体" panose="02010609060101010101" pitchFamily="49" charset="-122"/>
                    <a:cs typeface="Times New Roman" panose="02020603050405020304" pitchFamily="18" charset="0"/>
                  </a:rPr>
                  <a:t>离散型分布</a:t>
                </a:r>
                <a:r>
                  <a:rPr lang="zh-CN" altLang="en-US" sz="2400" b="1" kern="100" dirty="0">
                    <a:solidFill>
                      <a:srgbClr val="002060"/>
                    </a:solidFill>
                    <a:latin typeface="黑体" panose="02010609060101010101" pitchFamily="49" charset="-122"/>
                    <a:ea typeface="黑体" panose="02010609060101010101" pitchFamily="49" charset="-122"/>
                    <a:cs typeface="Times New Roman" panose="02020603050405020304" pitchFamily="18" charset="0"/>
                  </a:rPr>
                  <a:t>及分布律</a:t>
                </a:r>
                <a:r>
                  <a:rPr lang="zh-CN"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rPr>
                  <a:t>，记为：</a:t>
                </a:r>
                <a:endParaRPr lang="en-US"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pPr marL="0" lvl="0" indent="720000" eaLnBrk="1" hangingPunct="1">
                  <a:lnSpc>
                    <a:spcPct val="150000"/>
                  </a:lnSpc>
                  <a:spcBef>
                    <a:spcPts val="0"/>
                  </a:spcBef>
                  <a:buClrTx/>
                  <a:buSzTx/>
                  <a:buNone/>
                  <a:defRPr/>
                </a:pPr>
                <a14:m>
                  <m:oMathPara xmlns:m="http://schemas.openxmlformats.org/officeDocument/2006/math">
                    <m:oMathParaPr>
                      <m:jc m:val="centerGroup"/>
                    </m:oMathParaPr>
                    <m:oMath xmlns:m="http://schemas.openxmlformats.org/officeDocument/2006/math">
                      <m:r>
                        <a:rPr lang="en-US" altLang="zh-CN" sz="2400" i="1">
                          <a:solidFill>
                            <a:schemeClr val="tx1"/>
                          </a:solidFill>
                          <a:latin typeface="Cambria Math" panose="02040503050406030204" pitchFamily="18" charset="0"/>
                        </a:rPr>
                        <m:t>𝑃</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𝑋</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𝑥</m:t>
                      </m:r>
                      <m:r>
                        <a:rPr lang="en-US" altLang="zh-CN" sz="2400" i="1">
                          <a:solidFill>
                            <a:schemeClr val="tx1"/>
                          </a:solidFill>
                          <a:latin typeface="Cambria Math" panose="02040503050406030204" pitchFamily="18" charset="0"/>
                        </a:rPr>
                        <m:t>)=</m:t>
                      </m:r>
                      <m:nary>
                        <m:naryPr>
                          <m:chr m:val="∑"/>
                          <m:limLoc m:val="subSup"/>
                          <m:supHide m:val="on"/>
                          <m:ctrlPr>
                            <a:rPr lang="zh-CN" altLang="zh-CN" sz="2400" i="1">
                              <a:solidFill>
                                <a:schemeClr val="tx1"/>
                              </a:solidFill>
                              <a:latin typeface="Cambria Math" panose="02040503050406030204" pitchFamily="18" charset="0"/>
                            </a:rPr>
                          </m:ctrlPr>
                        </m:naryPr>
                        <m:sub>
                          <m:sSub>
                            <m:sSubPr>
                              <m:ctrlPr>
                                <a:rPr lang="zh-CN"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𝑎</m:t>
                              </m:r>
                            </m:e>
                            <m:sub>
                              <m:r>
                                <a:rPr lang="en-US" altLang="zh-CN" sz="2400" i="1">
                                  <a:solidFill>
                                    <a:schemeClr val="tx1"/>
                                  </a:solidFill>
                                  <a:latin typeface="Cambria Math" panose="02040503050406030204" pitchFamily="18" charset="0"/>
                                </a:rPr>
                                <m:t>𝑘</m:t>
                              </m:r>
                            </m:sub>
                          </m:sSub>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𝑥</m:t>
                          </m:r>
                        </m:sub>
                        <m:sup/>
                        <m:e>
                          <m:r>
                            <a:rPr lang="en-US" altLang="zh-CN" sz="2400" b="1" i="1" smtClean="0">
                              <a:solidFill>
                                <a:schemeClr val="accent1"/>
                              </a:solidFill>
                              <a:latin typeface="Cambria Math" panose="02040503050406030204" pitchFamily="18" charset="0"/>
                            </a:rPr>
                            <m:t>𝑷</m:t>
                          </m:r>
                          <m:r>
                            <a:rPr lang="en-US" altLang="zh-CN" sz="2400" b="1" i="1" smtClean="0">
                              <a:solidFill>
                                <a:schemeClr val="accent1"/>
                              </a:solidFill>
                              <a:latin typeface="Cambria Math" panose="02040503050406030204" pitchFamily="18" charset="0"/>
                            </a:rPr>
                            <m:t>(</m:t>
                          </m:r>
                          <m:r>
                            <a:rPr lang="en-US" altLang="zh-CN" sz="2400" b="1" i="1" smtClean="0">
                              <a:solidFill>
                                <a:schemeClr val="accent1"/>
                              </a:solidFill>
                              <a:latin typeface="Cambria Math" panose="02040503050406030204" pitchFamily="18" charset="0"/>
                            </a:rPr>
                            <m:t>𝑿</m:t>
                          </m:r>
                          <m:r>
                            <a:rPr lang="en-US" altLang="zh-CN" sz="2400" b="1" i="1" smtClean="0">
                              <a:solidFill>
                                <a:schemeClr val="accent1"/>
                              </a:solidFill>
                              <a:latin typeface="Cambria Math" panose="02040503050406030204" pitchFamily="18" charset="0"/>
                            </a:rPr>
                            <m:t>=</m:t>
                          </m:r>
                          <m:sSub>
                            <m:sSubPr>
                              <m:ctrlPr>
                                <a:rPr lang="zh-CN" altLang="zh-CN" sz="2400" b="1" i="1">
                                  <a:solidFill>
                                    <a:schemeClr val="accent1"/>
                                  </a:solidFill>
                                  <a:latin typeface="Cambria Math" panose="02040503050406030204" pitchFamily="18" charset="0"/>
                                </a:rPr>
                              </m:ctrlPr>
                            </m:sSubPr>
                            <m:e>
                              <m:r>
                                <a:rPr lang="en-US" altLang="zh-CN" sz="2400" b="1" i="1">
                                  <a:solidFill>
                                    <a:schemeClr val="accent1"/>
                                  </a:solidFill>
                                  <a:latin typeface="Cambria Math" panose="02040503050406030204" pitchFamily="18" charset="0"/>
                                </a:rPr>
                                <m:t>𝒂</m:t>
                              </m:r>
                            </m:e>
                            <m:sub>
                              <m:r>
                                <a:rPr lang="en-US" altLang="zh-CN" sz="2400" b="1" i="1">
                                  <a:solidFill>
                                    <a:schemeClr val="accent1"/>
                                  </a:solidFill>
                                  <a:latin typeface="Cambria Math" panose="02040503050406030204" pitchFamily="18" charset="0"/>
                                </a:rPr>
                                <m:t>𝒌</m:t>
                              </m:r>
                            </m:sub>
                          </m:sSub>
                          <m:r>
                            <a:rPr lang="en-US" altLang="zh-CN" sz="2400" b="1" i="1">
                              <a:solidFill>
                                <a:schemeClr val="accent1"/>
                              </a:solidFill>
                              <a:latin typeface="Cambria Math" panose="02040503050406030204" pitchFamily="18" charset="0"/>
                            </a:rPr>
                            <m:t>)</m:t>
                          </m:r>
                        </m:e>
                      </m:nary>
                    </m:oMath>
                  </m:oMathPara>
                </a14:m>
                <a:endParaRPr lang="zh-CN" altLang="zh-CN" sz="2400" dirty="0">
                  <a:solidFill>
                    <a:schemeClr val="tx1"/>
                  </a:solidFill>
                  <a:latin typeface="宋体" panose="02010600030101010101" pitchFamily="2" charset="-122"/>
                  <a:ea typeface="宋体" panose="02010600030101010101" pitchFamily="2" charset="-122"/>
                </a:endParaRPr>
              </a:p>
              <a:p>
                <a:pPr marL="0" lvl="0" indent="720000" eaLnBrk="1" hangingPunct="1">
                  <a:lnSpc>
                    <a:spcPct val="150000"/>
                  </a:lnSpc>
                  <a:spcBef>
                    <a:spcPts val="0"/>
                  </a:spcBef>
                  <a:buClrTx/>
                  <a:buSzTx/>
                  <a:buNone/>
                  <a:defRPr/>
                </a:pPr>
                <a:r>
                  <a:rPr lang="zh-CN"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rPr>
                  <a:t>当</a:t>
                </a:r>
                <a:r>
                  <a:rPr lang="en-US" altLang="zh-CN" sz="2400" i="1" kern="100" dirty="0">
                    <a:solidFill>
                      <a:schemeClr val="tx1"/>
                    </a:solidFill>
                    <a:latin typeface="宋体" panose="02010600030101010101" pitchFamily="2" charset="-122"/>
                    <a:ea typeface="宋体" panose="02010600030101010101" pitchFamily="2" charset="-122"/>
                  </a:rPr>
                  <a:t>X </a:t>
                </a:r>
                <a:r>
                  <a:rPr lang="zh-CN"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rPr>
                  <a:t>取值</a:t>
                </a:r>
                <a:r>
                  <a:rPr lang="zh-CN" altLang="en-US" sz="2400" b="1" kern="100" dirty="0">
                    <a:latin typeface="黑体" panose="02010609060101010101" pitchFamily="49" charset="-122"/>
                    <a:ea typeface="黑体" panose="02010609060101010101" pitchFamily="49" charset="-122"/>
                    <a:cs typeface="Times New Roman" panose="02020603050405020304" pitchFamily="18" charset="0"/>
                  </a:rPr>
                  <a:t>连续</a:t>
                </a:r>
                <a:r>
                  <a:rPr lang="zh-CN"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rPr>
                  <a:t>时，就得到</a:t>
                </a:r>
                <a:r>
                  <a:rPr lang="zh-CN" altLang="en-US" sz="2400" b="1" kern="100" dirty="0">
                    <a:solidFill>
                      <a:srgbClr val="002060"/>
                    </a:solidFill>
                    <a:latin typeface="黑体" panose="02010609060101010101" pitchFamily="49" charset="-122"/>
                    <a:ea typeface="黑体" panose="02010609060101010101" pitchFamily="49" charset="-122"/>
                    <a:cs typeface="Times New Roman" panose="02020603050405020304" pitchFamily="18" charset="0"/>
                  </a:rPr>
                  <a:t>连续</a:t>
                </a:r>
                <a:r>
                  <a:rPr lang="zh-CN" altLang="zh-CN" sz="2400" b="1" kern="100" dirty="0">
                    <a:solidFill>
                      <a:srgbClr val="002060"/>
                    </a:solidFill>
                    <a:latin typeface="黑体" panose="02010609060101010101" pitchFamily="49" charset="-122"/>
                    <a:ea typeface="黑体" panose="02010609060101010101" pitchFamily="49" charset="-122"/>
                    <a:cs typeface="Times New Roman" panose="02020603050405020304" pitchFamily="18" charset="0"/>
                  </a:rPr>
                  <a:t>型</a:t>
                </a:r>
                <a:r>
                  <a:rPr lang="zh-CN" altLang="en-US" sz="2400" b="1" kern="100" dirty="0">
                    <a:solidFill>
                      <a:srgbClr val="002060"/>
                    </a:solidFill>
                    <a:latin typeface="黑体" panose="02010609060101010101" pitchFamily="49" charset="-122"/>
                    <a:ea typeface="黑体" panose="02010609060101010101" pitchFamily="49" charset="-122"/>
                    <a:cs typeface="Times New Roman" panose="02020603050405020304" pitchFamily="18" charset="0"/>
                  </a:rPr>
                  <a:t>分布及密度函数</a:t>
                </a:r>
                <a:r>
                  <a:rPr lang="zh-CN"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rPr>
                  <a:t>，记为：</a:t>
                </a:r>
                <a:endParaRPr lang="en-US" altLang="zh-CN" sz="2400" kern="100"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pPr marL="0" lvl="0" indent="720000" eaLnBrk="1" hangingPunct="1">
                  <a:lnSpc>
                    <a:spcPct val="150000"/>
                  </a:lnSpc>
                  <a:spcBef>
                    <a:spcPts val="0"/>
                  </a:spcBef>
                  <a:buClrTx/>
                  <a:buSzTx/>
                  <a:buNone/>
                  <a:defRPr/>
                </a:pPr>
                <a14:m>
                  <m:oMathPara xmlns:m="http://schemas.openxmlformats.org/officeDocument/2006/math">
                    <m:oMathParaPr>
                      <m:jc m:val="centerGroup"/>
                    </m:oMathParaPr>
                    <m:oMath xmlns:m="http://schemas.openxmlformats.org/officeDocument/2006/math">
                      <m:r>
                        <a:rPr lang="en-US" altLang="zh-CN" sz="2400" i="1">
                          <a:solidFill>
                            <a:schemeClr val="tx1"/>
                          </a:solidFill>
                          <a:latin typeface="Cambria Math" panose="02040503050406030204" pitchFamily="18" charset="0"/>
                        </a:rPr>
                        <m:t>𝑃</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𝑋</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𝑥</m:t>
                      </m:r>
                      <m:r>
                        <a:rPr lang="en-US" altLang="zh-CN" sz="2400" i="1">
                          <a:solidFill>
                            <a:schemeClr val="tx1"/>
                          </a:solidFill>
                          <a:latin typeface="Cambria Math" panose="02040503050406030204" pitchFamily="18" charset="0"/>
                        </a:rPr>
                        <m:t>)=</m:t>
                      </m:r>
                      <m:nary>
                        <m:naryPr>
                          <m:limLoc m:val="subSup"/>
                          <m:ctrlPr>
                            <a:rPr lang="zh-CN" altLang="zh-CN" sz="2400" i="1">
                              <a:solidFill>
                                <a:schemeClr val="tx1"/>
                              </a:solidFill>
                              <a:latin typeface="Cambria Math" panose="02040503050406030204" pitchFamily="18" charset="0"/>
                            </a:rPr>
                          </m:ctrlPr>
                        </m:naryPr>
                        <m:sub>
                          <m:r>
                            <a:rPr lang="en-US" altLang="zh-CN" sz="2400" i="1">
                              <a:solidFill>
                                <a:schemeClr val="tx1"/>
                              </a:solidFill>
                              <a:latin typeface="Cambria Math" panose="02040503050406030204" pitchFamily="18" charset="0"/>
                            </a:rPr>
                            <m:t>−∞</m:t>
                          </m:r>
                        </m:sub>
                        <m:sup>
                          <m:r>
                            <a:rPr lang="en-US" altLang="zh-CN" sz="2400" i="1">
                              <a:solidFill>
                                <a:schemeClr val="tx1"/>
                              </a:solidFill>
                              <a:latin typeface="Cambria Math" panose="02040503050406030204" pitchFamily="18" charset="0"/>
                            </a:rPr>
                            <m:t>𝑥</m:t>
                          </m:r>
                        </m:sup>
                        <m:e>
                          <m:r>
                            <a:rPr lang="en-US" altLang="zh-CN" sz="2400" b="1" i="1" smtClean="0">
                              <a:solidFill>
                                <a:schemeClr val="accent1"/>
                              </a:solidFill>
                              <a:latin typeface="Cambria Math" panose="02040503050406030204" pitchFamily="18" charset="0"/>
                            </a:rPr>
                            <m:t>𝒇</m:t>
                          </m:r>
                          <m:r>
                            <a:rPr lang="en-US" altLang="zh-CN" sz="2400" b="1" i="1" smtClean="0">
                              <a:solidFill>
                                <a:schemeClr val="accent1"/>
                              </a:solidFill>
                              <a:latin typeface="Cambria Math" panose="02040503050406030204" pitchFamily="18" charset="0"/>
                            </a:rPr>
                            <m:t>(</m:t>
                          </m:r>
                          <m:r>
                            <a:rPr lang="en-US" altLang="zh-CN" sz="2400" b="1" i="1" smtClean="0">
                              <a:solidFill>
                                <a:schemeClr val="accent1"/>
                              </a:solidFill>
                              <a:latin typeface="Cambria Math" panose="02040503050406030204" pitchFamily="18" charset="0"/>
                            </a:rPr>
                            <m:t>𝒕</m:t>
                          </m:r>
                          <m:r>
                            <a:rPr lang="en-US" altLang="zh-CN" sz="2400" b="1" i="1" smtClean="0">
                              <a:solidFill>
                                <a:schemeClr val="accent1"/>
                              </a:solidFill>
                              <a:latin typeface="Cambria Math" panose="02040503050406030204" pitchFamily="18" charset="0"/>
                            </a:rPr>
                            <m:t>)</m:t>
                          </m:r>
                          <m:r>
                            <a:rPr lang="en-US" altLang="zh-CN" sz="2400" i="1">
                              <a:solidFill>
                                <a:schemeClr val="tx1"/>
                              </a:solidFill>
                              <a:latin typeface="Cambria Math" panose="02040503050406030204" pitchFamily="18" charset="0"/>
                            </a:rPr>
                            <m:t>𝑑𝑡</m:t>
                          </m:r>
                        </m:e>
                      </m:nary>
                    </m:oMath>
                  </m:oMathPara>
                </a14:m>
                <a:endParaRPr lang="en-US" altLang="zh-CN" sz="2400" dirty="0">
                  <a:solidFill>
                    <a:schemeClr val="tx1"/>
                  </a:solidFill>
                  <a:latin typeface="宋体" panose="02010600030101010101" pitchFamily="2" charset="-122"/>
                  <a:ea typeface="宋体" panose="02010600030101010101" pitchFamily="2" charset="-122"/>
                </a:endParaRPr>
              </a:p>
              <a:p>
                <a:pPr marL="0" lvl="0" indent="720000" eaLnBrk="1" hangingPunct="1">
                  <a:lnSpc>
                    <a:spcPct val="150000"/>
                  </a:lnSpc>
                  <a:spcBef>
                    <a:spcPts val="0"/>
                  </a:spcBef>
                  <a:buClrTx/>
                  <a:buSzTx/>
                  <a:buNone/>
                  <a:defRPr/>
                </a:pPr>
                <a:r>
                  <a:rPr lang="zh-CN" altLang="zh-CN" sz="2400" dirty="0">
                    <a:solidFill>
                      <a:schemeClr val="tx1"/>
                    </a:solidFill>
                    <a:latin typeface="宋体" panose="02010600030101010101" pitchFamily="2" charset="-122"/>
                    <a:ea typeface="宋体" panose="02010600030101010101" pitchFamily="2" charset="-122"/>
                  </a:rPr>
                  <a:t>这个分布称为</a:t>
                </a:r>
                <a:r>
                  <a:rPr lang="zh-CN" altLang="zh-CN" sz="2400" b="1" dirty="0">
                    <a:solidFill>
                      <a:srgbClr val="0070C0"/>
                    </a:solidFill>
                    <a:latin typeface="黑体" panose="02010609060101010101" pitchFamily="49" charset="-122"/>
                    <a:ea typeface="黑体" panose="02010609060101010101" pitchFamily="49" charset="-122"/>
                  </a:rPr>
                  <a:t>总体</a:t>
                </a:r>
                <a:r>
                  <a:rPr lang="en-US" altLang="zh-CN" sz="2400" b="1" dirty="0">
                    <a:solidFill>
                      <a:srgbClr val="0070C0"/>
                    </a:solidFill>
                    <a:latin typeface="黑体" panose="02010609060101010101" pitchFamily="49" charset="-122"/>
                    <a:ea typeface="黑体" panose="02010609060101010101" pitchFamily="49" charset="-122"/>
                  </a:rPr>
                  <a:t>X</a:t>
                </a:r>
                <a:r>
                  <a:rPr lang="zh-CN" altLang="zh-CN" sz="2400" b="1" dirty="0">
                    <a:solidFill>
                      <a:srgbClr val="0070C0"/>
                    </a:solidFill>
                    <a:latin typeface="黑体" panose="02010609060101010101" pitchFamily="49" charset="-122"/>
                    <a:ea typeface="黑体" panose="02010609060101010101" pitchFamily="49" charset="-122"/>
                  </a:rPr>
                  <a:t>的分布</a:t>
                </a:r>
                <a:r>
                  <a:rPr lang="zh-CN" altLang="zh-CN" sz="2400" dirty="0">
                    <a:solidFill>
                      <a:schemeClr val="tx1"/>
                    </a:solidFill>
                    <a:latin typeface="宋体" panose="02010600030101010101" pitchFamily="2" charset="-122"/>
                    <a:ea typeface="宋体" panose="02010600030101010101" pitchFamily="2" charset="-122"/>
                  </a:rPr>
                  <a:t>，此时，</a:t>
                </a:r>
                <a:r>
                  <a:rPr lang="zh-CN" altLang="zh-CN" sz="2400" b="1" dirty="0">
                    <a:solidFill>
                      <a:schemeClr val="tx1"/>
                    </a:solidFill>
                    <a:latin typeface="黑体" panose="02010609060101010101" pitchFamily="49" charset="-122"/>
                    <a:ea typeface="黑体" panose="02010609060101010101" pitchFamily="49" charset="-122"/>
                  </a:rPr>
                  <a:t>总体和概率论中随机变量实现了等同</a:t>
                </a:r>
                <a:r>
                  <a:rPr lang="zh-CN" altLang="zh-CN" sz="2400" dirty="0">
                    <a:solidFill>
                      <a:schemeClr val="tx1"/>
                    </a:solidFill>
                    <a:latin typeface="宋体" panose="02010600030101010101" pitchFamily="2" charset="-122"/>
                    <a:ea typeface="宋体" panose="02010600030101010101" pitchFamily="2" charset="-122"/>
                  </a:rPr>
                  <a:t>。</a:t>
                </a:r>
                <a:endPar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mc:Choice>
        <mc:Fallback>
          <p:sp>
            <p:nvSpPr>
              <p:cNvPr id="3" name="Rectangle 3"/>
              <p:cNvSpPr txBox="1">
                <a:spLocks noRot="1" noChangeAspect="1" noMove="1" noResize="1" noEditPoints="1" noAdjustHandles="1" noChangeArrowheads="1" noChangeShapeType="1" noTextEdit="1"/>
              </p:cNvSpPr>
              <p:nvPr/>
            </p:nvSpPr>
            <p:spPr>
              <a:xfrm>
                <a:off x="329184" y="901268"/>
                <a:ext cx="10978896" cy="5667973"/>
              </a:xfrm>
              <a:prstGeom prst="rect">
                <a:avLst/>
              </a:prstGeom>
              <a:blipFill>
                <a:blip r:embed="rId2"/>
                <a:stretch>
                  <a:fillRect l="-833" r="-3443" b="-645"/>
                </a:stretch>
              </a:blipFill>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11E25BD3-0165-14A5-4959-2F34245AED88}"/>
              </a:ext>
            </a:extLst>
          </p:cNvPr>
          <p:cNvSpPr txBox="1">
            <a:spLocks/>
          </p:cNvSpPr>
          <p:nvPr/>
        </p:nvSpPr>
        <p:spPr>
          <a:xfrm>
            <a:off x="1520190" y="238487"/>
            <a:ext cx="10525230" cy="662782"/>
          </a:xfrm>
          <a:prstGeom prst="rect">
            <a:avLst/>
          </a:prstGeom>
        </p:spPr>
        <p:txBody>
          <a:bodyP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r>
              <a:rPr lang="en-US" altLang="zh-CN" sz="3200" dirty="0"/>
              <a:t>6.1.1 </a:t>
            </a:r>
            <a:r>
              <a:rPr lang="zh-CN" altLang="en-US" sz="3200" dirty="0"/>
              <a:t>统计推断中的总体与总体参数</a:t>
            </a:r>
            <a:r>
              <a:rPr lang="zh-CN" altLang="en-US" sz="2800" dirty="0">
                <a:effectLst/>
              </a:rPr>
              <a:t>（续）</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36877" name="Text Box 13"/>
          <p:cNvSpPr txBox="1"/>
          <p:nvPr/>
        </p:nvSpPr>
        <p:spPr>
          <a:xfrm>
            <a:off x="1696453" y="1605684"/>
            <a:ext cx="8482263" cy="427809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algn="just">
              <a:lnSpc>
                <a:spcPct val="150000"/>
              </a:lnSpc>
              <a:spcBef>
                <a:spcPts val="1200"/>
              </a:spcBef>
              <a:buClr>
                <a:srgbClr val="000000"/>
              </a:buClr>
              <a:buFont typeface="Wingdings" panose="05000000000000000000" pitchFamily="2" charset="2"/>
              <a:buChar char="n"/>
              <a:defRPr/>
            </a:pPr>
            <a:r>
              <a:rPr lang="zh-CN" altLang="en-US" sz="2800" b="1" dirty="0">
                <a:latin typeface="宋体" panose="02010600030101010101" pitchFamily="2" charset="-122"/>
                <a:ea typeface="宋体" panose="02010600030101010101" pitchFamily="2" charset="-122"/>
              </a:rPr>
              <a:t>总体指标也称为总体参数，反映总体分布的某一数量特征。</a:t>
            </a:r>
            <a:r>
              <a:rPr kumimoji="0" lang="zh-CN" altLang="en-US"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如总体均值、总体方差或标准差、总体成数，总体分位数等。</a:t>
            </a:r>
            <a:endParaRPr kumimoji="0" lang="en-US" altLang="zh-CN"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a:p>
            <a:pPr algn="just">
              <a:lnSpc>
                <a:spcPct val="150000"/>
              </a:lnSpc>
              <a:spcBef>
                <a:spcPts val="1200"/>
              </a:spcBef>
              <a:buClr>
                <a:srgbClr val="000000"/>
              </a:buClr>
              <a:buFont typeface="Wingdings" panose="05000000000000000000" pitchFamily="2" charset="2"/>
              <a:buChar char="n"/>
              <a:defRPr/>
            </a:pPr>
            <a:r>
              <a:rPr kumimoji="0" lang="zh-CN" altLang="en-US"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一旦研究目的明确后，总体参数具有唯一确定性。</a:t>
            </a:r>
            <a:endParaRPr kumimoji="0" lang="en-US" altLang="zh-CN"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endParaRPr>
          </a:p>
          <a:p>
            <a:pPr algn="just">
              <a:lnSpc>
                <a:spcPct val="150000"/>
              </a:lnSpc>
              <a:spcBef>
                <a:spcPts val="1200"/>
              </a:spcBef>
              <a:buClr>
                <a:srgbClr val="000000"/>
              </a:buClr>
              <a:buFont typeface="Wingdings" panose="05000000000000000000" pitchFamily="2" charset="2"/>
              <a:buChar char="n"/>
              <a:defRPr/>
            </a:pPr>
            <a:r>
              <a:rPr kumimoji="0" lang="zh-CN" altLang="en-US" sz="2800" b="1" i="0" u="none" strike="noStrike" kern="1200" cap="none" spc="0" normalizeH="0" baseline="0" noProof="0" dirty="0">
                <a:ln>
                  <a:noFill/>
                </a:ln>
                <a:effectLst/>
                <a:uLnTx/>
                <a:uFillTx/>
                <a:latin typeface="宋体" panose="02010600030101010101" pitchFamily="2" charset="-122"/>
                <a:ea typeface="宋体" panose="02010600030101010101" pitchFamily="2" charset="-122"/>
              </a:rPr>
              <a:t>总体参数通常都是未知的，需要通过样本数据去推断。</a:t>
            </a:r>
          </a:p>
        </p:txBody>
      </p:sp>
      <p:sp>
        <p:nvSpPr>
          <p:cNvPr id="12290" name="Rectangle 2"/>
          <p:cNvSpPr>
            <a:spLocks noGrp="1"/>
          </p:cNvSpPr>
          <p:nvPr>
            <p:ph type="title"/>
          </p:nvPr>
        </p:nvSpPr>
        <p:spPr>
          <a:xfrm>
            <a:off x="2334125" y="703382"/>
            <a:ext cx="6597517" cy="661670"/>
          </a:xfrm>
          <a:ln w="9525">
            <a:noFill/>
          </a:ln>
        </p:spPr>
        <p:txBody>
          <a:bodyPr vert="horz" wrap="square" lIns="91440" tIns="45720" rIns="91440" bIns="45720" anchor="ctr"/>
          <a:lstStyle/>
          <a:p>
            <a:r>
              <a:rPr lang="zh-CN" altLang="en-US" sz="3600" b="1" dirty="0">
                <a:effectLst/>
              </a:rPr>
              <a:t>总体参数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4" name="标题 1"/>
          <p:cNvSpPr/>
          <p:nvPr/>
        </p:nvSpPr>
        <p:spPr>
          <a:xfrm>
            <a:off x="1564106" y="-133651"/>
            <a:ext cx="6951746" cy="1371600"/>
          </a:xfrm>
          <a:prstGeom prst="rect">
            <a:avLst/>
          </a:prstGeom>
          <a:ln w="9525">
            <a:noFill/>
          </a:ln>
        </p:spPr>
        <p:txBody>
          <a:bodyPr vert="horz" wrap="square" lIns="91440" tIns="45720" rIns="91440" bIns="45720" rtlCol="0" anchor="ct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pPr marL="0" marR="0" lvl="0" indent="0" algn="l" defTabSz="685165" rtl="0" eaLnBrk="1" fontAlgn="auto" latinLnBrk="0" hangingPunct="1">
              <a:lnSpc>
                <a:spcPct val="90000"/>
              </a:lnSpc>
              <a:spcBef>
                <a:spcPct val="0"/>
              </a:spcBef>
              <a:spcAft>
                <a:spcPts val="0"/>
              </a:spcAft>
              <a:buClrTx/>
              <a:buSzTx/>
              <a:buFontTx/>
              <a:buNone/>
              <a:tabLst/>
              <a:defRPr/>
            </a:pPr>
            <a:r>
              <a:rPr lang="en-US" altLang="zh-CN" sz="3600" b="1" dirty="0">
                <a:effectLst/>
              </a:rPr>
              <a:t>6.1.2 </a:t>
            </a:r>
            <a:r>
              <a:rPr lang="zh-CN" altLang="en-US" sz="3600" b="1" dirty="0">
                <a:effectLst/>
              </a:rPr>
              <a:t>统计推断</a:t>
            </a:r>
            <a:r>
              <a:rPr kumimoji="0" lang="zh-CN" altLang="en-US" sz="3600" b="1" i="0" u="none" strike="noStrike" kern="1200" cap="none" spc="0" normalizeH="0" baseline="0" noProof="0" dirty="0">
                <a:ln>
                  <a:noFill/>
                </a:ln>
                <a:solidFill>
                  <a:srgbClr val="4472C4">
                    <a:lumMod val="75000"/>
                  </a:srgbClr>
                </a:solidFill>
                <a:effectLst/>
                <a:uLnTx/>
                <a:uFillTx/>
              </a:rPr>
              <a:t>中的样本及其性质</a:t>
            </a:r>
          </a:p>
        </p:txBody>
      </p:sp>
      <mc:AlternateContent xmlns:mc="http://schemas.openxmlformats.org/markup-compatibility/2006">
        <mc:Choice xmlns:a14="http://schemas.microsoft.com/office/drawing/2010/main" Requires="a14">
          <p:sp>
            <p:nvSpPr>
              <p:cNvPr id="132099" name="Rectangle 3"/>
              <p:cNvSpPr>
                <a:spLocks noGrp="1"/>
              </p:cNvSpPr>
              <p:nvPr>
                <p:ph idx="1"/>
              </p:nvPr>
            </p:nvSpPr>
            <p:spPr>
              <a:xfrm>
                <a:off x="438912" y="552149"/>
                <a:ext cx="10948416" cy="5045879"/>
              </a:xfrm>
            </p:spPr>
            <p:txBody>
              <a:bodyPr vert="horz" wrap="square" lIns="91440" tIns="45720" rIns="91440" bIns="45720" numCol="1" anchor="t" anchorCtr="0" compatLnSpc="1"/>
              <a:lstStyle/>
              <a:p>
                <a:pPr marL="0" marR="0" lvl="0" indent="0" defTabSz="914400" rtl="0" eaLnBrk="1" fontAlgn="base" latinLnBrk="0" hangingPunct="1">
                  <a:lnSpc>
                    <a:spcPct val="150000"/>
                  </a:lnSpc>
                  <a:spcBef>
                    <a:spcPts val="600"/>
                  </a:spcBef>
                  <a:spcAft>
                    <a:spcPct val="0"/>
                  </a:spcAft>
                  <a:buClr>
                    <a:schemeClr val="tx1"/>
                  </a:buClr>
                  <a:buSzPct val="75000"/>
                  <a:buNone/>
                  <a:defRPr/>
                </a:pPr>
                <a:r>
                  <a:rPr kumimoji="0" lang="en-US" altLang="zh-CN" b="1" i="0" u="none" strike="noStrike" kern="0" cap="none" spc="0" normalizeH="0" baseline="0" noProof="0" dirty="0">
                    <a:ln>
                      <a:noFill/>
                    </a:ln>
                    <a:solidFill>
                      <a:srgbClr val="0070C0"/>
                    </a:solidFill>
                    <a:effectLst/>
                    <a:uLnTx/>
                    <a:uFillTx/>
                  </a:rPr>
                  <a:t>1.</a:t>
                </a:r>
                <a:r>
                  <a:rPr kumimoji="0" lang="zh-CN" altLang="en-US" b="1" i="0" u="none" strike="noStrike" kern="0" cap="none" spc="0" normalizeH="0" baseline="0" noProof="0" dirty="0">
                    <a:ln>
                      <a:noFill/>
                    </a:ln>
                    <a:solidFill>
                      <a:srgbClr val="0070C0"/>
                    </a:solidFill>
                    <a:effectLst/>
                    <a:uLnTx/>
                    <a:uFillTx/>
                  </a:rPr>
                  <a:t>样本二重性</a:t>
                </a:r>
                <a:endParaRPr kumimoji="0" lang="en-US" altLang="zh-CN" b="1" i="0" u="none" strike="noStrike" kern="0" cap="none" spc="0" normalizeH="0" baseline="0" noProof="0" dirty="0">
                  <a:ln>
                    <a:noFill/>
                  </a:ln>
                  <a:solidFill>
                    <a:srgbClr val="0070C0"/>
                  </a:solidFill>
                  <a:effectLst/>
                  <a:uLnTx/>
                  <a:uFillTx/>
                </a:endParaRPr>
              </a:p>
              <a:p>
                <a:pPr marL="360363" lvl="1" indent="265113">
                  <a:lnSpc>
                    <a:spcPct val="150000"/>
                  </a:lnSpc>
                  <a:spcBef>
                    <a:spcPts val="600"/>
                  </a:spcBef>
                  <a:buSzPct val="71000"/>
                </a:pPr>
                <a:r>
                  <a:rPr lang="zh-CN" altLang="en-US" dirty="0">
                    <a:solidFill>
                      <a:srgbClr val="00B0F0"/>
                    </a:solidFill>
                    <a:sym typeface="Arial" panose="020B0604020202020204" pitchFamily="34" charset="0"/>
                  </a:rPr>
                  <a:t>抽取（或试验）前样本是一组随机变量；</a:t>
                </a:r>
              </a:p>
              <a:p>
                <a:pPr marL="360363" lvl="1" indent="265113">
                  <a:lnSpc>
                    <a:spcPct val="150000"/>
                  </a:lnSpc>
                  <a:spcBef>
                    <a:spcPts val="600"/>
                  </a:spcBef>
                  <a:buSzPct val="71000"/>
                </a:pPr>
                <a:r>
                  <a:rPr lang="zh-CN" altLang="en-US" dirty="0">
                    <a:solidFill>
                      <a:srgbClr val="00B0F0"/>
                    </a:solidFill>
                  </a:rPr>
                  <a:t>抽取测量后</a:t>
                </a:r>
                <a:r>
                  <a:rPr lang="zh-CN" altLang="en-US" dirty="0">
                    <a:solidFill>
                      <a:srgbClr val="00B0F0"/>
                    </a:solidFill>
                    <a:sym typeface="Arial" panose="020B0604020202020204" pitchFamily="34" charset="0"/>
                  </a:rPr>
                  <a:t>样本是一组</a:t>
                </a:r>
                <a:r>
                  <a:rPr lang="zh-CN" altLang="en-US" dirty="0">
                    <a:solidFill>
                      <a:srgbClr val="00B0F0"/>
                    </a:solidFill>
                  </a:rPr>
                  <a:t>观测值。</a:t>
                </a:r>
                <a:endParaRPr lang="en-US" altLang="zh-CN" dirty="0">
                  <a:solidFill>
                    <a:srgbClr val="00B0F0"/>
                  </a:solidFill>
                </a:endParaRPr>
              </a:p>
              <a:p>
                <a:pPr marL="0" marR="0" lvl="0" indent="0" defTabSz="914400" rtl="0" eaLnBrk="1" fontAlgn="base" latinLnBrk="0" hangingPunct="1">
                  <a:lnSpc>
                    <a:spcPct val="150000"/>
                  </a:lnSpc>
                  <a:spcBef>
                    <a:spcPts val="600"/>
                  </a:spcBef>
                  <a:spcAft>
                    <a:spcPct val="0"/>
                  </a:spcAft>
                  <a:buClr>
                    <a:schemeClr val="bg2"/>
                  </a:buClr>
                  <a:buSzPct val="75000"/>
                  <a:buFont typeface="Wingdings" charset="2"/>
                  <a:buNone/>
                  <a:defRPr/>
                </a:pPr>
                <a:r>
                  <a:rPr kumimoji="0" lang="zh-CN" altLang="en-US" sz="28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在推断理论中，</a:t>
                </a:r>
                <a:r>
                  <a:rPr kumimoji="0" lang="zh-CN" altLang="en-US" sz="2800" b="1" i="0" u="none" strike="noStrike" kern="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rPr>
                  <a:t>通常只将抽取前具有随机性的样本才简称为样本</a:t>
                </a:r>
                <a:r>
                  <a:rPr kumimoji="0" lang="zh-CN" altLang="en-US" sz="2800" b="0" i="0" u="none" strike="noStrike" kern="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rPr>
                  <a:t>，用</a:t>
                </a:r>
                <a:r>
                  <a:rPr kumimoji="0" lang="zh-CN" altLang="en-US" sz="2800" b="1" i="0" u="none" strike="noStrike" kern="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rPr>
                  <a:t>大写字母</a:t>
                </a:r>
                <a:r>
                  <a:rPr kumimoji="0" lang="zh-CN" altLang="en-US" sz="2800" b="0" i="0" u="none" strike="noStrike" kern="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rPr>
                  <a:t>表示；将抽取后不具有随机性的样本称为样本观测值，用</a:t>
                </a:r>
                <a:r>
                  <a:rPr kumimoji="0" lang="zh-CN" altLang="en-US" sz="2800" b="1" i="0" u="none" strike="noStrike" kern="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rPr>
                  <a:t>小写字母</a:t>
                </a:r>
                <a:r>
                  <a:rPr kumimoji="0" lang="zh-CN" altLang="en-US" sz="2800" b="0" i="0" u="none" strike="noStrike" kern="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rPr>
                  <a:t>表示</a:t>
                </a:r>
                <a:r>
                  <a:rPr kumimoji="0" lang="zh-CN" altLang="en-US" sz="2400" b="0" i="0" u="none" strike="noStrike" kern="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rPr>
                  <a:t>。</a:t>
                </a:r>
                <a:endParaRPr kumimoji="0" lang="en-US" altLang="zh-CN" sz="2400" b="1" i="0" u="none" strike="noStrike" kern="0" cap="none" spc="0" normalizeH="0" baseline="0" noProof="0" dirty="0">
                  <a:ln>
                    <a:noFill/>
                  </a:ln>
                  <a:solidFill>
                    <a:schemeClr val="tx2"/>
                  </a:solidFill>
                  <a:effectLst/>
                  <a:uLnTx/>
                  <a:uFillTx/>
                  <a:latin typeface="等线" panose="02010600030101010101" pitchFamily="2" charset="-122"/>
                  <a:ea typeface="等线" panose="02010600030101010101" pitchFamily="2" charset="-122"/>
                </a:endParaRPr>
              </a:p>
              <a:p>
                <a:pPr marL="0" lvl="0" indent="0" defTabSz="914400" eaLnBrk="0" fontAlgn="base" hangingPunct="0">
                  <a:lnSpc>
                    <a:spcPct val="150000"/>
                  </a:lnSpc>
                  <a:spcBef>
                    <a:spcPts val="600"/>
                  </a:spcBef>
                  <a:spcAft>
                    <a:spcPct val="0"/>
                  </a:spcAft>
                  <a:buSzTx/>
                  <a:buNone/>
                  <a:defRPr/>
                </a:pP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例</a:t>
                </a:r>
                <a:r>
                  <a:rPr lang="en-US" altLang="zh-CN" b="1" dirty="0">
                    <a:latin typeface="宋体" panose="02010600030101010101" pitchFamily="2" charset="-122"/>
                    <a:ea typeface="宋体" panose="02010600030101010101" pitchFamily="2" charset="-122"/>
                  </a:rPr>
                  <a:t>】</a:t>
                </a:r>
                <a:r>
                  <a:rPr kumimoji="0" lang="zh-CN" altLang="en-US" sz="2600" i="0" u="none" strike="noStrike" kern="0" cap="none" spc="0" normalizeH="0" baseline="0" noProof="0" dirty="0">
                    <a:ln>
                      <a:noFill/>
                    </a:ln>
                    <a:solidFill>
                      <a:schemeClr val="tx1"/>
                    </a:solidFill>
                    <a:effectLst/>
                    <a:uLnTx/>
                    <a:uFillTx/>
                    <a:latin typeface="+mn-ea"/>
                    <a:ea typeface="+mn-ea"/>
                  </a:rPr>
                  <a:t>为了</a:t>
                </a:r>
                <a:r>
                  <a:rPr kumimoji="0" lang="zh-CN" altLang="zh-CN" sz="2600" i="0" u="none" strike="noStrike" kern="0" cap="none" spc="0" normalizeH="0" baseline="0" noProof="0" dirty="0">
                    <a:ln>
                      <a:noFill/>
                    </a:ln>
                    <a:solidFill>
                      <a:schemeClr val="tx1"/>
                    </a:solidFill>
                    <a:effectLst/>
                    <a:uLnTx/>
                    <a:uFillTx/>
                    <a:latin typeface="+mn-ea"/>
                    <a:ea typeface="+mn-ea"/>
                  </a:rPr>
                  <a:t>推断某种灯泡使用寿命</a:t>
                </a:r>
                <a:r>
                  <a:rPr kumimoji="0" lang="en-US" altLang="zh-CN" sz="2600" i="0" u="none" strike="noStrike" kern="0" cap="none" spc="0" normalizeH="0" baseline="0" noProof="0" dirty="0">
                    <a:ln>
                      <a:noFill/>
                    </a:ln>
                    <a:solidFill>
                      <a:schemeClr val="tx1"/>
                    </a:solidFill>
                    <a:effectLst/>
                    <a:uLnTx/>
                    <a:uFillTx/>
                    <a:latin typeface="+mn-ea"/>
                    <a:ea typeface="+mn-ea"/>
                  </a:rPr>
                  <a:t>X</a:t>
                </a:r>
                <a:r>
                  <a:rPr kumimoji="0" lang="zh-CN" altLang="zh-CN" sz="2600" i="0" u="none" strike="noStrike" kern="0" cap="none" spc="0" normalizeH="0" baseline="0" noProof="0" dirty="0">
                    <a:ln>
                      <a:noFill/>
                    </a:ln>
                    <a:solidFill>
                      <a:schemeClr val="tx1"/>
                    </a:solidFill>
                    <a:effectLst/>
                    <a:uLnTx/>
                    <a:uFillTx/>
                    <a:latin typeface="+mn-ea"/>
                    <a:ea typeface="+mn-ea"/>
                  </a:rPr>
                  <a:t>的特征</a:t>
                </a:r>
                <a:r>
                  <a:rPr kumimoji="0" lang="zh-CN" altLang="en-US" sz="2600" i="0" u="none" strike="noStrike" kern="0" cap="none" spc="0" normalizeH="0" baseline="0" noProof="0" dirty="0">
                    <a:ln>
                      <a:noFill/>
                    </a:ln>
                    <a:solidFill>
                      <a:schemeClr val="tx1"/>
                    </a:solidFill>
                    <a:effectLst/>
                    <a:uLnTx/>
                    <a:uFillTx/>
                    <a:latin typeface="+mn-ea"/>
                    <a:ea typeface="+mn-ea"/>
                  </a:rPr>
                  <a:t>，拟</a:t>
                </a:r>
                <a:r>
                  <a:rPr kumimoji="0" lang="zh-CN" altLang="zh-CN" sz="2600" i="0" u="none" strike="noStrike" kern="0" cap="none" spc="0" normalizeH="0" baseline="0" noProof="0" dirty="0">
                    <a:ln>
                      <a:noFill/>
                    </a:ln>
                    <a:solidFill>
                      <a:schemeClr val="tx1"/>
                    </a:solidFill>
                    <a:effectLst/>
                    <a:uLnTx/>
                    <a:uFillTx/>
                    <a:latin typeface="+mn-ea"/>
                    <a:ea typeface="+mn-ea"/>
                  </a:rPr>
                  <a:t>随机抽取</a:t>
                </a:r>
                <a:r>
                  <a:rPr kumimoji="0" lang="en-US" altLang="zh-CN" sz="2600" i="0" u="none" strike="noStrike" kern="0" cap="none" spc="0" normalizeH="0" baseline="0" noProof="0" dirty="0">
                    <a:ln>
                      <a:noFill/>
                    </a:ln>
                    <a:solidFill>
                      <a:schemeClr val="tx1"/>
                    </a:solidFill>
                    <a:effectLst/>
                    <a:uLnTx/>
                    <a:uFillTx/>
                    <a:latin typeface="+mn-ea"/>
                    <a:ea typeface="+mn-ea"/>
                  </a:rPr>
                  <a:t>n</a:t>
                </a:r>
                <a:r>
                  <a:rPr kumimoji="0" lang="zh-CN" altLang="zh-CN" sz="2600" i="0" u="none" strike="noStrike" kern="0" cap="none" spc="0" normalizeH="0" baseline="0" noProof="0" dirty="0">
                    <a:ln>
                      <a:noFill/>
                    </a:ln>
                    <a:solidFill>
                      <a:schemeClr val="tx1"/>
                    </a:solidFill>
                    <a:effectLst/>
                    <a:uLnTx/>
                    <a:uFillTx/>
                    <a:latin typeface="+mn-ea"/>
                    <a:ea typeface="+mn-ea"/>
                  </a:rPr>
                  <a:t>只灯泡进行测试，这</a:t>
                </a:r>
                <a:r>
                  <a:rPr kumimoji="0" lang="en-US" altLang="zh-CN" sz="2600" i="0" u="none" strike="noStrike" kern="0" cap="none" spc="0" normalizeH="0" baseline="0" noProof="0" dirty="0">
                    <a:ln>
                      <a:noFill/>
                    </a:ln>
                    <a:solidFill>
                      <a:schemeClr val="tx1"/>
                    </a:solidFill>
                    <a:effectLst/>
                    <a:uLnTx/>
                    <a:uFillTx/>
                    <a:latin typeface="+mn-ea"/>
                    <a:ea typeface="+mn-ea"/>
                  </a:rPr>
                  <a:t>n</a:t>
                </a:r>
                <a:r>
                  <a:rPr kumimoji="0" lang="zh-CN" altLang="zh-CN" sz="2600" i="0" u="none" strike="noStrike" kern="0" cap="none" spc="0" normalizeH="0" baseline="0" noProof="0" dirty="0">
                    <a:ln>
                      <a:noFill/>
                    </a:ln>
                    <a:solidFill>
                      <a:schemeClr val="tx1"/>
                    </a:solidFill>
                    <a:effectLst/>
                    <a:uLnTx/>
                    <a:uFillTx/>
                    <a:latin typeface="+mn-ea"/>
                    <a:ea typeface="+mn-ea"/>
                  </a:rPr>
                  <a:t>只灯泡寿命</a:t>
                </a:r>
                <a:r>
                  <a:rPr lang="en-US" altLang="zh-CN" sz="2600" dirty="0">
                    <a:solidFill>
                      <a:schemeClr val="tx1"/>
                    </a:solidFill>
                    <a:latin typeface="+mn-ea"/>
                    <a:ea typeface="+mn-ea"/>
                  </a:rPr>
                  <a:t>(</a:t>
                </a:r>
                <a14:m>
                  <m:oMath xmlns:m="http://schemas.openxmlformats.org/officeDocument/2006/math">
                    <m:sSub>
                      <m:sSubPr>
                        <m:ctrlPr>
                          <a:rPr lang="zh-CN" altLang="zh-CN" sz="2600" i="1">
                            <a:solidFill>
                              <a:schemeClr val="tx1"/>
                            </a:solidFill>
                            <a:latin typeface="Cambria Math" panose="02040503050406030204" pitchFamily="18" charset="0"/>
                            <a:ea typeface="+mn-ea"/>
                          </a:rPr>
                        </m:ctrlPr>
                      </m:sSubPr>
                      <m:e>
                        <m:r>
                          <a:rPr lang="en-US" altLang="zh-CN" sz="2600" b="0" i="1">
                            <a:solidFill>
                              <a:schemeClr val="tx1"/>
                            </a:solidFill>
                            <a:latin typeface="Cambria Math" panose="02040503050406030204" pitchFamily="18" charset="0"/>
                            <a:ea typeface="+mn-ea"/>
                            <a:cs typeface="Times New Roman" panose="02020603050405020304" pitchFamily="18" charset="0"/>
                          </a:rPr>
                          <m:t>𝑋</m:t>
                        </m:r>
                      </m:e>
                      <m:sub>
                        <m:r>
                          <a:rPr lang="en-US" altLang="zh-CN" sz="2600" b="0" i="1">
                            <a:solidFill>
                              <a:schemeClr val="tx1"/>
                            </a:solidFill>
                            <a:latin typeface="Cambria Math" panose="02040503050406030204" pitchFamily="18" charset="0"/>
                            <a:ea typeface="+mn-ea"/>
                            <a:cs typeface="Times New Roman" panose="02020603050405020304" pitchFamily="18" charset="0"/>
                          </a:rPr>
                          <m:t>1</m:t>
                        </m:r>
                      </m:sub>
                    </m:sSub>
                    <m:r>
                      <a:rPr lang="en-US" altLang="zh-CN" sz="2600" b="0" i="1">
                        <a:solidFill>
                          <a:schemeClr val="tx1"/>
                        </a:solidFill>
                        <a:latin typeface="Cambria Math" panose="02040503050406030204" pitchFamily="18" charset="0"/>
                        <a:ea typeface="+mn-ea"/>
                        <a:cs typeface="Times New Roman" panose="02020603050405020304" pitchFamily="18" charset="0"/>
                      </a:rPr>
                      <m:t>,…,</m:t>
                    </m:r>
                    <m:sSub>
                      <m:sSubPr>
                        <m:ctrlPr>
                          <a:rPr lang="zh-CN" altLang="zh-CN" sz="2600" i="1">
                            <a:solidFill>
                              <a:schemeClr val="tx1"/>
                            </a:solidFill>
                            <a:latin typeface="Cambria Math" panose="02040503050406030204" pitchFamily="18" charset="0"/>
                            <a:ea typeface="+mn-ea"/>
                          </a:rPr>
                        </m:ctrlPr>
                      </m:sSubPr>
                      <m:e>
                        <m:r>
                          <a:rPr lang="en-US" altLang="zh-CN" sz="2600" b="0" i="1">
                            <a:solidFill>
                              <a:schemeClr val="tx1"/>
                            </a:solidFill>
                            <a:latin typeface="Cambria Math" panose="02040503050406030204" pitchFamily="18" charset="0"/>
                            <a:ea typeface="+mn-ea"/>
                            <a:cs typeface="Times New Roman" panose="02020603050405020304" pitchFamily="18" charset="0"/>
                          </a:rPr>
                          <m:t>𝑋</m:t>
                        </m:r>
                      </m:e>
                      <m:sub>
                        <m:r>
                          <a:rPr lang="en-US" altLang="zh-CN" sz="2600" b="0" i="1">
                            <a:solidFill>
                              <a:schemeClr val="tx1"/>
                            </a:solidFill>
                            <a:latin typeface="Cambria Math" panose="02040503050406030204" pitchFamily="18" charset="0"/>
                            <a:ea typeface="+mn-ea"/>
                            <a:cs typeface="Times New Roman" panose="02020603050405020304" pitchFamily="18" charset="0"/>
                          </a:rPr>
                          <m:t>𝑛</m:t>
                        </m:r>
                      </m:sub>
                    </m:sSub>
                  </m:oMath>
                </a14:m>
                <a:r>
                  <a:rPr lang="en-US" altLang="zh-CN" sz="2600" dirty="0">
                    <a:solidFill>
                      <a:schemeClr val="tx1"/>
                    </a:solidFill>
                    <a:latin typeface="+mn-ea"/>
                    <a:ea typeface="+mn-ea"/>
                  </a:rPr>
                  <a:t>)</a:t>
                </a:r>
                <a:r>
                  <a:rPr kumimoji="0" lang="zh-CN" altLang="zh-CN" sz="2600" i="0" u="none" strike="noStrike" kern="0" cap="none" spc="0" normalizeH="0" baseline="0" noProof="0" dirty="0">
                    <a:ln>
                      <a:noFill/>
                    </a:ln>
                    <a:solidFill>
                      <a:schemeClr val="tx1"/>
                    </a:solidFill>
                    <a:effectLst/>
                    <a:uLnTx/>
                    <a:uFillTx/>
                    <a:latin typeface="+mn-ea"/>
                    <a:ea typeface="+mn-ea"/>
                  </a:rPr>
                  <a:t>称为来自总体</a:t>
                </a:r>
                <a:r>
                  <a:rPr kumimoji="0" lang="en-US" altLang="zh-CN" sz="2600" i="0" u="none" strike="noStrike" kern="0" cap="none" spc="0" normalizeH="0" baseline="0" noProof="0" dirty="0">
                    <a:ln>
                      <a:noFill/>
                    </a:ln>
                    <a:solidFill>
                      <a:schemeClr val="tx1"/>
                    </a:solidFill>
                    <a:effectLst/>
                    <a:uLnTx/>
                    <a:uFillTx/>
                    <a:latin typeface="+mn-ea"/>
                    <a:ea typeface="+mn-ea"/>
                  </a:rPr>
                  <a:t>X</a:t>
                </a:r>
                <a:r>
                  <a:rPr kumimoji="0" lang="zh-CN" altLang="zh-CN" sz="2600" i="0" u="none" strike="noStrike" kern="0" cap="none" spc="0" normalizeH="0" baseline="0" noProof="0" dirty="0">
                    <a:ln>
                      <a:noFill/>
                    </a:ln>
                    <a:solidFill>
                      <a:schemeClr val="tx1"/>
                    </a:solidFill>
                    <a:effectLst/>
                    <a:uLnTx/>
                    <a:uFillTx/>
                    <a:latin typeface="+mn-ea"/>
                    <a:ea typeface="+mn-ea"/>
                  </a:rPr>
                  <a:t>的样本，而某次具体的实验测试结果</a:t>
                </a:r>
                <a:r>
                  <a:rPr lang="en-US" altLang="zh-CN" sz="2600" dirty="0">
                    <a:solidFill>
                      <a:schemeClr val="tx1"/>
                    </a:solidFill>
                    <a:latin typeface="+mn-ea"/>
                    <a:ea typeface="+mn-ea"/>
                  </a:rPr>
                  <a:t>(</a:t>
                </a:r>
                <a14:m>
                  <m:oMath xmlns:m="http://schemas.openxmlformats.org/officeDocument/2006/math">
                    <m:sSub>
                      <m:sSubPr>
                        <m:ctrlPr>
                          <a:rPr lang="zh-CN" altLang="zh-CN" sz="2600" i="1">
                            <a:solidFill>
                              <a:schemeClr val="tx1"/>
                            </a:solidFill>
                            <a:latin typeface="Cambria Math" panose="02040503050406030204" pitchFamily="18" charset="0"/>
                            <a:ea typeface="+mn-ea"/>
                          </a:rPr>
                        </m:ctrlPr>
                      </m:sSubPr>
                      <m:e>
                        <m:r>
                          <a:rPr lang="en-US" altLang="zh-CN" sz="2600" b="0" i="1">
                            <a:solidFill>
                              <a:schemeClr val="tx1"/>
                            </a:solidFill>
                            <a:latin typeface="Cambria Math" panose="02040503050406030204" pitchFamily="18" charset="0"/>
                            <a:ea typeface="+mn-ea"/>
                            <a:cs typeface="Times New Roman" panose="02020603050405020304" pitchFamily="18" charset="0"/>
                          </a:rPr>
                          <m:t>𝑋</m:t>
                        </m:r>
                      </m:e>
                      <m:sub>
                        <m:r>
                          <a:rPr lang="en-US" altLang="zh-CN" sz="2600" b="0" i="1">
                            <a:solidFill>
                              <a:schemeClr val="tx1"/>
                            </a:solidFill>
                            <a:latin typeface="Cambria Math" panose="02040503050406030204" pitchFamily="18" charset="0"/>
                            <a:ea typeface="+mn-ea"/>
                            <a:cs typeface="Times New Roman" panose="02020603050405020304" pitchFamily="18" charset="0"/>
                          </a:rPr>
                          <m:t>1</m:t>
                        </m:r>
                      </m:sub>
                    </m:sSub>
                    <m:r>
                      <a:rPr lang="en-US" altLang="zh-CN" sz="2600" b="0" i="1">
                        <a:solidFill>
                          <a:schemeClr val="tx1"/>
                        </a:solidFill>
                        <a:latin typeface="Cambria Math" panose="02040503050406030204" pitchFamily="18" charset="0"/>
                        <a:ea typeface="+mn-ea"/>
                        <a:cs typeface="Times New Roman" panose="02020603050405020304" pitchFamily="18" charset="0"/>
                      </a:rPr>
                      <m:t>,…,</m:t>
                    </m:r>
                    <m:sSub>
                      <m:sSubPr>
                        <m:ctrlPr>
                          <a:rPr lang="zh-CN" altLang="zh-CN" sz="2600" i="1">
                            <a:solidFill>
                              <a:schemeClr val="tx1"/>
                            </a:solidFill>
                            <a:latin typeface="Cambria Math" panose="02040503050406030204" pitchFamily="18" charset="0"/>
                            <a:ea typeface="+mn-ea"/>
                          </a:rPr>
                        </m:ctrlPr>
                      </m:sSubPr>
                      <m:e>
                        <m:r>
                          <a:rPr lang="en-US" altLang="zh-CN" sz="2600" b="0" i="1">
                            <a:solidFill>
                              <a:schemeClr val="tx1"/>
                            </a:solidFill>
                            <a:latin typeface="Cambria Math" panose="02040503050406030204" pitchFamily="18" charset="0"/>
                            <a:ea typeface="+mn-ea"/>
                            <a:cs typeface="Times New Roman" panose="02020603050405020304" pitchFamily="18" charset="0"/>
                          </a:rPr>
                          <m:t>𝑋</m:t>
                        </m:r>
                      </m:e>
                      <m:sub>
                        <m:r>
                          <a:rPr lang="en-US" altLang="zh-CN" sz="2600" b="0" i="1">
                            <a:solidFill>
                              <a:schemeClr val="tx1"/>
                            </a:solidFill>
                            <a:latin typeface="Cambria Math" panose="02040503050406030204" pitchFamily="18" charset="0"/>
                            <a:ea typeface="+mn-ea"/>
                            <a:cs typeface="Times New Roman" panose="02020603050405020304" pitchFamily="18" charset="0"/>
                          </a:rPr>
                          <m:t>𝑛</m:t>
                        </m:r>
                      </m:sub>
                    </m:sSub>
                  </m:oMath>
                </a14:m>
                <a:r>
                  <a:rPr lang="en-US" altLang="zh-CN" sz="2600" dirty="0">
                    <a:solidFill>
                      <a:schemeClr val="tx1"/>
                    </a:solidFill>
                    <a:latin typeface="+mn-ea"/>
                    <a:ea typeface="+mn-ea"/>
                  </a:rPr>
                  <a:t>)</a:t>
                </a:r>
                <a:r>
                  <a:rPr kumimoji="0" lang="zh-CN" altLang="zh-CN" sz="2600" i="0" u="none" strike="noStrike" kern="0" cap="none" spc="0" normalizeH="0" baseline="0" noProof="0" dirty="0">
                    <a:ln>
                      <a:noFill/>
                    </a:ln>
                    <a:solidFill>
                      <a:schemeClr val="tx1"/>
                    </a:solidFill>
                    <a:effectLst/>
                    <a:uLnTx/>
                    <a:uFillTx/>
                    <a:latin typeface="+mn-ea"/>
                    <a:ea typeface="+mn-ea"/>
                  </a:rPr>
                  <a:t>称为样本观测值。</a:t>
                </a:r>
                <a:endParaRPr kumimoji="0"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mc:Choice>
        <mc:Fallback>
          <p:sp>
            <p:nvSpPr>
              <p:cNvPr id="132099" name="Rectangle 3"/>
              <p:cNvSpPr>
                <a:spLocks noGrp="1" noRot="1" noChangeAspect="1" noMove="1" noResize="1" noEditPoints="1" noAdjustHandles="1" noChangeArrowheads="1" noChangeShapeType="1" noTextEdit="1"/>
              </p:cNvSpPr>
              <p:nvPr>
                <p:ph idx="1"/>
              </p:nvPr>
            </p:nvSpPr>
            <p:spPr>
              <a:xfrm>
                <a:off x="438912" y="552149"/>
                <a:ext cx="10948416" cy="5045879"/>
              </a:xfrm>
              <a:blipFill>
                <a:blip r:embed="rId2"/>
                <a:stretch>
                  <a:fillRect/>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3" name="标题 1"/>
          <p:cNvSpPr/>
          <p:nvPr/>
        </p:nvSpPr>
        <p:spPr>
          <a:xfrm>
            <a:off x="1756610" y="96253"/>
            <a:ext cx="6617769" cy="733926"/>
          </a:xfrm>
          <a:prstGeom prst="rect">
            <a:avLst/>
          </a:prstGeom>
          <a:ln w="9525">
            <a:noFill/>
          </a:ln>
        </p:spPr>
        <p:txBody>
          <a:bodyPr vert="horz" wrap="square" lIns="91440" tIns="45720" rIns="91440" bIns="45720" rtlCol="0" anchor="ct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pPr lvl="0">
              <a:defRPr/>
            </a:pPr>
            <a:r>
              <a:rPr lang="en-US" altLang="zh-CN" b="1" kern="0" dirty="0">
                <a:solidFill>
                  <a:srgbClr val="0070C0"/>
                </a:solidFill>
                <a:effectLst/>
              </a:rPr>
              <a:t>2.</a:t>
            </a:r>
            <a:r>
              <a:rPr lang="zh-CN" altLang="zh-CN" b="1" kern="0" dirty="0">
                <a:solidFill>
                  <a:srgbClr val="0070C0"/>
                </a:solidFill>
                <a:effectLst/>
              </a:rPr>
              <a:t>简单随机样本的特性</a:t>
            </a:r>
            <a:endParaRPr kumimoji="0" lang="zh-CN" altLang="en-US" sz="3200" b="1" i="0" u="none" strike="noStrike" kern="1200" cap="none" spc="0" normalizeH="0" baseline="0" noProof="0" dirty="0">
              <a:ln>
                <a:noFill/>
              </a:ln>
              <a:solidFill>
                <a:srgbClr val="0070C0"/>
              </a:solidFill>
              <a:effectLst/>
              <a:uLnTx/>
              <a:uFillTx/>
            </a:endParaRPr>
          </a:p>
        </p:txBody>
      </p:sp>
      <p:sp>
        <p:nvSpPr>
          <p:cNvPr id="132099" name="Rectangle 3"/>
          <p:cNvSpPr>
            <a:spLocks noGrp="1"/>
          </p:cNvSpPr>
          <p:nvPr>
            <p:ph idx="1"/>
          </p:nvPr>
        </p:nvSpPr>
        <p:spPr>
          <a:xfrm>
            <a:off x="524256" y="630486"/>
            <a:ext cx="11283695" cy="5275580"/>
          </a:xfrm>
        </p:spPr>
        <p:txBody>
          <a:bodyPr vert="horz" wrap="square" lIns="91440" tIns="45720" rIns="91440" bIns="45720" numCol="1" anchor="t" anchorCtr="0" compatLnSpc="1">
            <a:noAutofit/>
          </a:bodyPr>
          <a:lstStyle/>
          <a:p>
            <a:pPr marL="0" marR="0" lvl="0" indent="0" algn="l" defTabSz="914400" rtl="0" eaLnBrk="1" fontAlgn="base" latinLnBrk="0" hangingPunct="1">
              <a:lnSpc>
                <a:spcPct val="150000"/>
              </a:lnSpc>
              <a:spcBef>
                <a:spcPts val="600"/>
              </a:spcBef>
              <a:spcAft>
                <a:spcPct val="0"/>
              </a:spcAft>
              <a:buClr>
                <a:schemeClr val="bg2"/>
              </a:buClr>
              <a:buSzPct val="75000"/>
              <a:buFont typeface="Wingdings" charset="2"/>
              <a:buNone/>
              <a:defRPr/>
            </a:pPr>
            <a:r>
              <a:rPr kumimoji="0" lang="zh-CN"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如果样本具有下列两个性质，则称之为简单随机样本</a:t>
            </a:r>
            <a:r>
              <a:rPr kumimoji="0" lang="zh-CN"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ts val="600"/>
              </a:spcBef>
              <a:spcAft>
                <a:spcPct val="0"/>
              </a:spcAft>
              <a:buClr>
                <a:schemeClr val="bg2"/>
              </a:buClr>
              <a:buSzPct val="75000"/>
              <a:buFont typeface="Wingdings" charset="2"/>
              <a:buNone/>
              <a:defRPr/>
            </a:pPr>
            <a:r>
              <a:rPr kumimoji="0" lang="zh-CN" altLang="en-US" sz="2400" b="1" i="0" u="none" strike="noStrike" kern="0" cap="none" spc="0" normalizeH="0" baseline="0" noProof="0" dirty="0">
                <a:ln>
                  <a:noFill/>
                </a:ln>
                <a:solidFill>
                  <a:srgbClr val="C00000"/>
                </a:solidFill>
                <a:effectLst/>
                <a:uLnTx/>
                <a:uFillTx/>
              </a:rPr>
              <a:t>（</a:t>
            </a:r>
            <a:r>
              <a:rPr kumimoji="0" lang="en-US" altLang="zh-CN" sz="2400" b="1" i="0" u="none" strike="noStrike" kern="0" cap="none" spc="0" normalizeH="0" baseline="0" noProof="0" dirty="0">
                <a:ln>
                  <a:noFill/>
                </a:ln>
                <a:solidFill>
                  <a:srgbClr val="C00000"/>
                </a:solidFill>
                <a:effectLst/>
                <a:uLnTx/>
                <a:uFillTx/>
              </a:rPr>
              <a:t>1</a:t>
            </a:r>
            <a:r>
              <a:rPr kumimoji="0" lang="zh-CN" altLang="en-US" sz="2400" b="1" i="0" u="none" strike="noStrike" kern="0" cap="none" spc="0" normalizeH="0" baseline="0" noProof="0" dirty="0">
                <a:ln>
                  <a:noFill/>
                </a:ln>
                <a:solidFill>
                  <a:srgbClr val="C00000"/>
                </a:solidFill>
                <a:effectLst/>
                <a:uLnTx/>
                <a:uFillTx/>
              </a:rPr>
              <a:t>）</a:t>
            </a:r>
            <a:r>
              <a:rPr kumimoji="0" lang="zh-CN" altLang="zh-CN" sz="2400" b="1" i="0" u="none" strike="noStrike" kern="0" cap="none" spc="0" normalizeH="0" baseline="0" noProof="0" dirty="0">
                <a:ln>
                  <a:noFill/>
                </a:ln>
                <a:solidFill>
                  <a:srgbClr val="C00000"/>
                </a:solidFill>
                <a:effectLst/>
                <a:uLnTx/>
                <a:uFillTx/>
              </a:rPr>
              <a:t>样本点之间相互独立</a:t>
            </a:r>
            <a:endParaRPr kumimoji="0" lang="en-US" altLang="zh-CN" sz="2400" b="1" i="0" u="none" strike="noStrike" kern="0" cap="none" spc="0" normalizeH="0" baseline="0" noProof="0" dirty="0">
              <a:ln>
                <a:noFill/>
              </a:ln>
              <a:solidFill>
                <a:srgbClr val="C00000"/>
              </a:solidFill>
              <a:effectLst/>
              <a:uLnTx/>
              <a:uFillTx/>
            </a:endParaRPr>
          </a:p>
          <a:p>
            <a:pPr marL="0" marR="0" lvl="0" indent="0" algn="l" defTabSz="914400" rtl="0" eaLnBrk="1" fontAlgn="base" latinLnBrk="0" hangingPunct="1">
              <a:lnSpc>
                <a:spcPct val="150000"/>
              </a:lnSpc>
              <a:spcBef>
                <a:spcPts val="600"/>
              </a:spcBef>
              <a:spcAft>
                <a:spcPct val="0"/>
              </a:spcAft>
              <a:buClr>
                <a:schemeClr val="bg2"/>
              </a:buClr>
              <a:buSzPct val="75000"/>
              <a:buFont typeface="Wingdings" charset="2"/>
              <a:buNone/>
              <a:defRPr/>
            </a:pP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样本是一组相互独立的随机变量，每个样本点的取值互不影响。</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从总体中抽取样本的方法有两种：</a:t>
            </a:r>
            <a:endPar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ts val="600"/>
              </a:spcBef>
              <a:spcAft>
                <a:spcPct val="0"/>
              </a:spcAft>
              <a:buClr>
                <a:schemeClr val="bg2"/>
              </a:buClr>
              <a:buSzPct val="75000"/>
              <a:buFont typeface="Wingdings" charset="2"/>
              <a:buNone/>
              <a:defRPr/>
            </a:pP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rPr>
              <a:t>重复抽样：</a:t>
            </a:r>
            <a:r>
              <a:rPr kumimoji="0" lang="zh-CN"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每次抽取样本点都在总体所有个体中进行，每次抽样的结果都不受以前抽样的影响，也不会影响到以后抽样的结果，因此样本点相互独立。</a:t>
            </a:r>
            <a:endPar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ts val="600"/>
              </a:spcBef>
              <a:spcAft>
                <a:spcPct val="0"/>
              </a:spcAft>
              <a:buClr>
                <a:schemeClr val="bg2"/>
              </a:buClr>
              <a:buSzPct val="75000"/>
              <a:buFont typeface="Wingdings" charset="2"/>
              <a:buNone/>
              <a:defRPr/>
            </a:pP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lang="zh-CN" altLang="en-US" sz="2400" b="1" kern="0" dirty="0">
                <a:solidFill>
                  <a:schemeClr val="tx1"/>
                </a:solidFill>
                <a:latin typeface="黑体" panose="02010609060101010101" pitchFamily="49" charset="-122"/>
                <a:ea typeface="黑体" panose="02010609060101010101" pitchFamily="49" charset="-122"/>
              </a:rPr>
              <a:t>不重复抽样：</a:t>
            </a:r>
            <a:r>
              <a:rPr kumimoji="0" lang="zh-CN"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每次抽样后，下次抽样只能在剩余的个体中选择，因此样本点之间不独立。但由于实际中总体容量很大，</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a:t>
            </a:r>
            <a:r>
              <a:rPr kumimoji="0" lang="zh-CN"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近似为无穷。当总体容量无穷时，每次抽取样本点时，以前抽样的结果不会影响后面抽样的结果，因此可以认为样本点之间近似满足相互独立。</a:t>
            </a:r>
            <a:endPar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132099" name="Rectangle 3"/>
          <p:cNvSpPr>
            <a:spLocks noGrp="1"/>
          </p:cNvSpPr>
          <p:nvPr>
            <p:ph idx="1"/>
          </p:nvPr>
        </p:nvSpPr>
        <p:spPr>
          <a:xfrm>
            <a:off x="1591906" y="871754"/>
            <a:ext cx="8642396" cy="849948"/>
          </a:xfrm>
        </p:spPr>
        <p:txBody>
          <a:bodyPr vert="horz" wrap="square" lIns="91440" tIns="45720" rIns="91440" bIns="45720" numCol="1" anchor="t" anchorCtr="0" compatLnSpc="1"/>
          <a:lstStyle/>
          <a:p>
            <a:pPr marL="0" indent="0" defTabSz="914400" fontAlgn="base">
              <a:lnSpc>
                <a:spcPct val="150000"/>
              </a:lnSpc>
              <a:spcBef>
                <a:spcPts val="600"/>
              </a:spcBef>
              <a:spcAft>
                <a:spcPct val="0"/>
              </a:spcAft>
              <a:buClr>
                <a:schemeClr val="bg2"/>
              </a:buClr>
              <a:buSzPct val="75000"/>
              <a:buNone/>
              <a:defRPr/>
            </a:pPr>
            <a:r>
              <a:rPr lang="zh-CN" altLang="zh-CN" sz="2800" b="1" kern="0" dirty="0">
                <a:solidFill>
                  <a:srgbClr val="C00000"/>
                </a:solidFill>
              </a:rPr>
              <a:t>（</a:t>
            </a:r>
            <a:r>
              <a:rPr lang="en-US" altLang="zh-CN" sz="2800" b="1" kern="0" dirty="0">
                <a:solidFill>
                  <a:srgbClr val="C00000"/>
                </a:solidFill>
              </a:rPr>
              <a:t>2</a:t>
            </a:r>
            <a:r>
              <a:rPr lang="zh-CN" altLang="zh-CN" sz="2800" b="1" kern="0" dirty="0">
                <a:solidFill>
                  <a:srgbClr val="C00000"/>
                </a:solidFill>
              </a:rPr>
              <a:t>）样本点与总体同分布</a:t>
            </a:r>
            <a:endParaRPr kumimoji="0"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
        <p:nvSpPr>
          <p:cNvPr id="27" name="Rectangle 61"/>
          <p:cNvSpPr/>
          <p:nvPr/>
        </p:nvSpPr>
        <p:spPr>
          <a:xfrm>
            <a:off x="1756610" y="1652901"/>
            <a:ext cx="6739690" cy="1965666"/>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charset="2"/>
              <a:buChar char="§"/>
              <a:defRPr sz="2000">
                <a:solidFill>
                  <a:schemeClr val="tx1"/>
                </a:solidFill>
                <a:latin typeface="+mn-lt"/>
                <a:ea typeface="+mn-ea"/>
              </a:defRPr>
            </a:lvl5pPr>
          </a:lstStyle>
          <a:p>
            <a:pPr marL="0" indent="0">
              <a:lnSpc>
                <a:spcPct val="150000"/>
              </a:lnSpc>
              <a:spcBef>
                <a:spcPct val="0"/>
              </a:spcBef>
              <a:buClr>
                <a:srgbClr val="000000"/>
              </a:buClr>
              <a:buNone/>
            </a:pPr>
            <a:r>
              <a:rPr kumimoji="0" lang="zh-CN" altLang="en-US" sz="28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rPr>
              <a:t>    由于每一个体都有均等被抽中的概率，因而样本取总体各种取值的概率即样本分布与总体分布相同。</a:t>
            </a:r>
          </a:p>
        </p:txBody>
      </p:sp>
      <p:sp>
        <p:nvSpPr>
          <p:cNvPr id="10" name="Line 45">
            <a:extLst>
              <a:ext uri="{FF2B5EF4-FFF2-40B4-BE49-F238E27FC236}">
                <a16:creationId xmlns:a16="http://schemas.microsoft.com/office/drawing/2014/main" id="{4F5B21DC-1959-0F07-DCE2-3C4800080925}"/>
              </a:ext>
            </a:extLst>
          </p:cNvPr>
          <p:cNvSpPr>
            <a:spLocks noChangeShapeType="1"/>
          </p:cNvSpPr>
          <p:nvPr/>
        </p:nvSpPr>
        <p:spPr bwMode="gray">
          <a:xfrm>
            <a:off x="5265530" y="4909820"/>
            <a:ext cx="1631950" cy="0"/>
          </a:xfrm>
          <a:prstGeom prst="line">
            <a:avLst/>
          </a:prstGeom>
          <a:noFill/>
          <a:ln w="1905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999999"/>
                  </a:outerShdw>
                </a:effectLst>
              </a14:hiddenEffects>
            </a:ext>
          </a:extLst>
        </p:spPr>
        <p:txBody>
          <a:bodyPr/>
          <a:lstStyle/>
          <a:p>
            <a:endParaRPr lang="zh-CN" altLang="en-US" sz="2000"/>
          </a:p>
        </p:txBody>
      </p:sp>
      <p:sp>
        <p:nvSpPr>
          <p:cNvPr id="35" name="标题 1"/>
          <p:cNvSpPr/>
          <p:nvPr/>
        </p:nvSpPr>
        <p:spPr>
          <a:xfrm>
            <a:off x="1756610" y="96253"/>
            <a:ext cx="6617769" cy="733926"/>
          </a:xfrm>
          <a:prstGeom prst="rect">
            <a:avLst/>
          </a:prstGeom>
          <a:noFill/>
          <a:ln w="9525">
            <a:noFill/>
          </a:ln>
        </p:spPr>
        <p:txBody>
          <a:bodyPr vert="horz" wrap="square" lIns="91440" tIns="45720" rIns="91440" bIns="45720" rtlCol="0" anchor="ctr">
            <a:normAutofit/>
          </a:bodyP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pPr lvl="0">
              <a:defRPr/>
            </a:pPr>
            <a:r>
              <a:rPr lang="en-US" altLang="zh-CN" b="1" kern="0" dirty="0">
                <a:solidFill>
                  <a:srgbClr val="0070C0"/>
                </a:solidFill>
                <a:effectLst/>
              </a:rPr>
              <a:t>2.</a:t>
            </a:r>
            <a:r>
              <a:rPr lang="zh-CN" altLang="zh-CN" b="1" kern="0" dirty="0">
                <a:solidFill>
                  <a:srgbClr val="0070C0"/>
                </a:solidFill>
                <a:effectLst/>
              </a:rPr>
              <a:t>简单随机样本的特性</a:t>
            </a:r>
            <a:r>
              <a:rPr lang="zh-CN" altLang="en-US" b="1" kern="0" dirty="0">
                <a:solidFill>
                  <a:srgbClr val="0070C0"/>
                </a:solidFill>
                <a:effectLst/>
              </a:rPr>
              <a:t>（续）</a:t>
            </a:r>
            <a:endParaRPr kumimoji="0" lang="zh-CN" altLang="en-US" sz="3200" b="1" i="0" u="none" strike="noStrike" kern="1200" cap="none" spc="0" normalizeH="0" baseline="0" noProof="0" dirty="0">
              <a:ln>
                <a:noFill/>
              </a:ln>
              <a:solidFill>
                <a:srgbClr val="0070C0"/>
              </a:solidFill>
              <a:effectLst/>
              <a:uLnTx/>
              <a:uFillTx/>
            </a:endParaRPr>
          </a:p>
        </p:txBody>
      </p:sp>
      <p:sp>
        <p:nvSpPr>
          <p:cNvPr id="21" name="矩形 20"/>
          <p:cNvSpPr/>
          <p:nvPr/>
        </p:nvSpPr>
        <p:spPr>
          <a:xfrm>
            <a:off x="1871546" y="3955146"/>
            <a:ext cx="6154854" cy="1772793"/>
          </a:xfrm>
          <a:prstGeom prst="rect">
            <a:avLst/>
          </a:prstGeom>
        </p:spPr>
        <p:txBody>
          <a:bodyPr wrap="square">
            <a:spAutoFit/>
          </a:bodyPr>
          <a:lstStyle/>
          <a:p>
            <a:pPr>
              <a:lnSpc>
                <a:spcPct val="130000"/>
              </a:lnSpc>
            </a:pPr>
            <a:r>
              <a:rPr lang="zh-CN" altLang="zh-CN" sz="2800" b="1" dirty="0">
                <a:latin typeface="Times New Roman" panose="02020603050405020304" pitchFamily="18" charset="0"/>
                <a:cs typeface="Times New Roman" panose="02020603050405020304" pitchFamily="18" charset="0"/>
              </a:rPr>
              <a:t>常常将上述两个性质一同简称为 “</a:t>
            </a:r>
            <a:r>
              <a:rPr lang="zh-CN" altLang="zh-CN" sz="2800" b="1" dirty="0">
                <a:solidFill>
                  <a:srgbClr val="00B0F0"/>
                </a:solidFill>
                <a:latin typeface="Times New Roman" panose="02020603050405020304" pitchFamily="18" charset="0"/>
                <a:cs typeface="Times New Roman" panose="02020603050405020304" pitchFamily="18" charset="0"/>
              </a:rPr>
              <a:t>样本独立同分布</a:t>
            </a:r>
            <a:r>
              <a:rPr lang="en-US" altLang="zh-CN" sz="2800" b="1" dirty="0">
                <a:latin typeface="Times New Roman" panose="02020603050405020304" pitchFamily="18" charset="0"/>
                <a:cs typeface="Times New Roman" panose="02020603050405020304" pitchFamily="18" charset="0"/>
              </a:rPr>
              <a:t>(independent identical distribution </a:t>
            </a:r>
            <a:r>
              <a:rPr lang="zh-CN" altLang="zh-CN" sz="2800" b="1" dirty="0">
                <a:latin typeface="Times New Roman" panose="02020603050405020304" pitchFamily="18" charset="0"/>
                <a:cs typeface="Times New Roman" panose="02020603050405020304" pitchFamily="18" charset="0"/>
              </a:rPr>
              <a:t>，缩写为</a:t>
            </a:r>
            <a:r>
              <a:rPr lang="en-US" altLang="zh-CN" sz="2800" b="1" i="1" dirty="0" err="1">
                <a:solidFill>
                  <a:srgbClr val="00B0F0"/>
                </a:solidFill>
                <a:latin typeface="Times New Roman" panose="02020603050405020304" pitchFamily="18" charset="0"/>
                <a:cs typeface="Times New Roman" panose="02020603050405020304" pitchFamily="18" charset="0"/>
              </a:rPr>
              <a:t>i.i.d</a:t>
            </a:r>
            <a:r>
              <a:rPr lang="en-US" altLang="zh-CN" sz="2800" b="1" dirty="0">
                <a:latin typeface="Times New Roman" panose="02020603050405020304" pitchFamily="18" charset="0"/>
                <a:cs typeface="Times New Roman" panose="02020603050405020304" pitchFamily="18" charset="0"/>
              </a:rPr>
              <a:t>)</a:t>
            </a:r>
            <a:r>
              <a:rPr lang="zh-CN" altLang="zh-CN" sz="2800" b="1" dirty="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25604" name="标题 1"/>
          <p:cNvSpPr>
            <a:spLocks noGrp="1"/>
          </p:cNvSpPr>
          <p:nvPr>
            <p:ph type="title"/>
          </p:nvPr>
        </p:nvSpPr>
        <p:spPr>
          <a:xfrm>
            <a:off x="1672389" y="-148290"/>
            <a:ext cx="7118116" cy="1371600"/>
          </a:xfrm>
          <a:ln w="9525">
            <a:noFill/>
          </a:ln>
        </p:spPr>
        <p:txBody>
          <a:bodyPr vert="horz" wrap="square" lIns="91440" tIns="45720" rIns="91440" bIns="45720" anchor="ctr"/>
          <a:lstStyle/>
          <a:p>
            <a:r>
              <a:rPr lang="en-US" altLang="zh-CN" sz="3600" b="1" dirty="0">
                <a:effectLst/>
              </a:rPr>
              <a:t>*6.1.3 </a:t>
            </a:r>
            <a:r>
              <a:rPr lang="zh-CN" altLang="en-US" sz="3600" b="1" dirty="0">
                <a:effectLst/>
              </a:rPr>
              <a:t>样本联合分布函数</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5157F1D1-6F3F-F7F2-25E2-AC02147E8988}"/>
                  </a:ext>
                </a:extLst>
              </p:cNvPr>
              <p:cNvSpPr txBox="1"/>
              <p:nvPr/>
            </p:nvSpPr>
            <p:spPr>
              <a:xfrm>
                <a:off x="599813" y="1102995"/>
                <a:ext cx="10673776" cy="5551776"/>
              </a:xfrm>
              <a:prstGeom prst="rect">
                <a:avLst/>
              </a:prstGeom>
              <a:noFill/>
            </p:spPr>
            <p:txBody>
              <a:bodyPr wrap="square">
                <a:spAutoFit/>
              </a:bodyPr>
              <a:lstStyle/>
              <a:p>
                <a:pPr indent="720000">
                  <a:lnSpc>
                    <a:spcPct val="150000"/>
                  </a:lnSpc>
                </a:pPr>
                <a:r>
                  <a:rPr lang="zh-CN" altLang="en-US" sz="2800" b="1" dirty="0">
                    <a:latin typeface="宋体" panose="02010600030101010101" pitchFamily="2" charset="-122"/>
                    <a:ea typeface="宋体" panose="02010600030101010101" pitchFamily="2" charset="-122"/>
                  </a:rPr>
                  <a:t>由于样本是由</a:t>
                </a:r>
                <a:r>
                  <a:rPr lang="en-US" altLang="zh-CN" sz="2800" b="1" dirty="0">
                    <a:latin typeface="宋体" panose="02010600030101010101" pitchFamily="2" charset="-122"/>
                    <a:ea typeface="宋体" panose="02010600030101010101" pitchFamily="2" charset="-122"/>
                  </a:rPr>
                  <a:t>n</a:t>
                </a:r>
                <a:r>
                  <a:rPr lang="zh-CN" altLang="en-US" sz="2800" b="1" dirty="0">
                    <a:latin typeface="宋体" panose="02010600030101010101" pitchFamily="2" charset="-122"/>
                    <a:ea typeface="宋体" panose="02010600030101010101" pitchFamily="2" charset="-122"/>
                  </a:rPr>
                  <a:t>个随机变量组成，它的分布称为</a:t>
                </a:r>
                <a:r>
                  <a:rPr lang="zh-CN" altLang="en-US" sz="2800" b="1" dirty="0">
                    <a:solidFill>
                      <a:srgbClr val="C00000"/>
                    </a:solidFill>
                    <a:latin typeface="宋体" panose="02010600030101010101" pitchFamily="2" charset="-122"/>
                    <a:ea typeface="宋体" panose="02010600030101010101" pitchFamily="2" charset="-122"/>
                  </a:rPr>
                  <a:t>样本联合分布</a:t>
                </a:r>
                <a:r>
                  <a:rPr lang="zh-CN" altLang="en-US"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a:p>
                <a:pPr indent="720000" algn="just">
                  <a:lnSpc>
                    <a:spcPct val="150000"/>
                  </a:lnSpc>
                </a:pPr>
                <a:r>
                  <a:rPr lang="zh-CN" altLang="en-US" sz="2800" b="1" dirty="0">
                    <a:latin typeface="宋体" panose="02010600030101010101" pitchFamily="2" charset="-122"/>
                    <a:ea typeface="宋体" panose="02010600030101010101" pitchFamily="2" charset="-122"/>
                  </a:rPr>
                  <a:t>假设总体</a:t>
                </a:r>
                <a:r>
                  <a:rPr lang="en-US" altLang="zh-CN" sz="2800" b="1" dirty="0">
                    <a:latin typeface="宋体" panose="02010600030101010101" pitchFamily="2" charset="-122"/>
                    <a:ea typeface="宋体" panose="02010600030101010101" pitchFamily="2" charset="-122"/>
                  </a:rPr>
                  <a:t>X</a:t>
                </a:r>
                <a:r>
                  <a:rPr lang="zh-CN" altLang="en-US" sz="2800" b="1" dirty="0">
                    <a:latin typeface="宋体" panose="02010600030101010101" pitchFamily="2" charset="-122"/>
                    <a:ea typeface="宋体" panose="02010600030101010101" pitchFamily="2" charset="-122"/>
                  </a:rPr>
                  <a:t>的分布函数为 </a:t>
                </a:r>
                <a14:m>
                  <m:oMath xmlns:m="http://schemas.openxmlformats.org/officeDocument/2006/math">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𝑭</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𝒙</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𝜽</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𝒙</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𝝐</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𝑹</m:t>
                    </m:r>
                    <m:r>
                      <a:rPr lang="en-US" altLang="zh-CN" sz="2800" b="1" i="1" kern="100" smtClean="0">
                        <a:effectLst/>
                        <a:latin typeface="Cambria Math" panose="02040503050406030204" pitchFamily="18" charset="0"/>
                        <a:ea typeface="等线" panose="02010600030101010101" pitchFamily="2" charset="-122"/>
                        <a:cs typeface="Times New Roman" panose="02020603050405020304" pitchFamily="18" charset="0"/>
                      </a:rPr>
                      <m:t>)</m:t>
                    </m:r>
                  </m:oMath>
                </a14:m>
                <a:r>
                  <a:rPr lang="zh-CN" altLang="en-US" sz="2800" b="1" dirty="0">
                    <a:latin typeface="宋体" panose="02010600030101010101" pitchFamily="2" charset="-122"/>
                    <a:ea typeface="宋体" panose="02010600030101010101" pitchFamily="2" charset="-122"/>
                  </a:rPr>
                  <a:t>，其中</a:t>
                </a:r>
                <a14:m>
                  <m:oMath xmlns:m="http://schemas.openxmlformats.org/officeDocument/2006/math">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𝜽</m:t>
                    </m:r>
                  </m:oMath>
                </a14:m>
                <a:r>
                  <a:rPr lang="zh-CN" altLang="en-US" sz="2800" b="1" dirty="0">
                    <a:latin typeface="宋体" panose="02010600030101010101" pitchFamily="2" charset="-122"/>
                    <a:ea typeface="宋体" panose="02010600030101010101" pitchFamily="2" charset="-122"/>
                  </a:rPr>
                  <a:t>是总体的参数。</a:t>
                </a:r>
                <a:r>
                  <a:rPr lang="zh-CN" altLang="zh-CN" sz="2800" b="1" dirty="0">
                    <a:latin typeface="宋体" panose="02010600030101010101" pitchFamily="2" charset="-122"/>
                    <a:ea typeface="宋体" panose="02010600030101010101" pitchFamily="2" charset="-122"/>
                  </a:rPr>
                  <a:t>那么</a:t>
                </a:r>
                <a:r>
                  <a:rPr lang="zh-CN" altLang="zh-CN" sz="2800" b="1" dirty="0">
                    <a:solidFill>
                      <a:srgbClr val="00B0F0"/>
                    </a:solidFill>
                    <a:latin typeface="宋体" panose="02010600030101010101" pitchFamily="2" charset="-122"/>
                    <a:ea typeface="宋体" panose="02010600030101010101" pitchFamily="2" charset="-122"/>
                  </a:rPr>
                  <a:t>样本的联合分布函数</a:t>
                </a:r>
                <a:r>
                  <a:rPr lang="zh-CN" altLang="zh-CN" sz="2800" b="1" dirty="0">
                    <a:latin typeface="宋体" panose="02010600030101010101" pitchFamily="2" charset="-122"/>
                    <a:ea typeface="宋体" panose="02010600030101010101" pitchFamily="2" charset="-122"/>
                  </a:rPr>
                  <a:t>为：</a:t>
                </a:r>
                <a:r>
                  <a:rPr lang="zh-CN" altLang="zh-CN" sz="2800" b="1" kern="100" dirty="0">
                    <a:latin typeface="宋体" panose="02010600030101010101" pitchFamily="2" charset="-122"/>
                    <a:ea typeface="宋体" panose="02010600030101010101" pitchFamily="2" charset="-122"/>
                    <a:cs typeface="Times New Roman" panose="02020603050405020304" pitchFamily="18" charset="0"/>
                  </a:rPr>
                  <a:t> </a:t>
                </a:r>
                <a:endParaRPr lang="en-US" altLang="zh-CN" sz="2800" b="1" i="1" kern="100" dirty="0">
                  <a:latin typeface="Cambria Math" panose="02040503050406030204" pitchFamily="18" charset="0"/>
                  <a:ea typeface="Cambria Math" panose="020405030504060302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eqArr>
                        <m:eqArr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𝑭</m:t>
                              </m:r>
                            </m:e>
                            <m:sub>
                              <m:r>
                                <a:rPr lang="en-US" altLang="zh-CN" sz="2800" b="1" i="1" kern="100" smtClean="0">
                                  <a:latin typeface="Cambria Math" charset="0"/>
                                  <a:ea typeface="等线" panose="02010600030101010101" pitchFamily="2" charset="-122"/>
                                  <a:cs typeface="Times New Roman" panose="02020603050405020304" pitchFamily="18" charset="0"/>
                                </a:rPr>
                                <m:t>𝒏</m:t>
                              </m:r>
                            </m:sub>
                          </m:sSub>
                          <m:d>
                            <m:d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𝒏</m:t>
                                  </m:r>
                                </m:sub>
                              </m:s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𝜽</m:t>
                              </m:r>
                            </m:e>
                          </m:d>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&amp;=</m:t>
                          </m:r>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𝑷</m:t>
                          </m:r>
                          <m:d>
                            <m:dPr>
                              <m:begChr m:val="{"/>
                              <m:endChr m:val="}"/>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𝑿</m:t>
                                  </m:r>
                                </m:e>
                                <m: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𝑿</m:t>
                                  </m:r>
                                </m:e>
                                <m: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𝒏</m:t>
                                  </m:r>
                                </m:sub>
                              </m:s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𝒏</m:t>
                                  </m:r>
                                </m:sub>
                              </m:sSub>
                            </m:e>
                          </m:d>
                        </m:e>
                        <m:e>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&amp;=</m:t>
                          </m:r>
                          <m:nary>
                            <m:naryPr>
                              <m:chr m:val="∏"/>
                              <m:limLoc m:val="undOvr"/>
                              <m:ctrlPr>
                                <a:rPr lang="zh-CN" altLang="zh-CN" sz="2800" b="1" i="1" kern="100">
                                  <a:latin typeface="Cambria Math" panose="02040503050406030204" pitchFamily="18" charset="0"/>
                                  <a:ea typeface="Cambria Math" panose="02040503050406030204" pitchFamily="18" charset="0"/>
                                  <a:cs typeface="Cambria Math" panose="02040503050406030204" pitchFamily="18" charset="0"/>
                                </a:rPr>
                              </m:ctrlPr>
                            </m:naryPr>
                            <m:sub>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𝒊</m:t>
                              </m:r>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𝟏</m:t>
                              </m:r>
                            </m:sub>
                            <m:sup>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𝒏</m:t>
                              </m:r>
                            </m:sup>
                            <m:e>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𝑷</m:t>
                              </m:r>
                              <m:d>
                                <m:dPr>
                                  <m:begChr m:val="{"/>
                                  <m:endChr m:val="}"/>
                                  <m:ctrlPr>
                                    <a:rPr lang="zh-CN" altLang="zh-CN" sz="2800" b="1" i="1" kern="100">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sz="2800" b="1" i="1" kern="100">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𝑿</m:t>
                                      </m:r>
                                    </m:e>
                                    <m:sub>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𝒊</m:t>
                                      </m:r>
                                    </m:sub>
                                  </m:sSub>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800" b="1" i="1" kern="100">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𝒙</m:t>
                                      </m:r>
                                    </m:e>
                                    <m:sub>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𝒊</m:t>
                                      </m:r>
                                    </m:sub>
                                  </m:sSub>
                                </m:e>
                              </m:d>
                            </m:e>
                          </m:nary>
                        </m:e>
                        <m:e>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&amp;=</m:t>
                          </m:r>
                          <m:nary>
                            <m:naryPr>
                              <m:chr m:val="∏"/>
                              <m:limLoc m:val="undOvr"/>
                              <m:ctrlPr>
                                <a:rPr lang="zh-CN" altLang="zh-CN" sz="2800" b="1" i="1" kern="100">
                                  <a:latin typeface="Cambria Math" panose="02040503050406030204" pitchFamily="18" charset="0"/>
                                  <a:ea typeface="Cambria Math" panose="02040503050406030204" pitchFamily="18" charset="0"/>
                                  <a:cs typeface="Cambria Math" panose="02040503050406030204" pitchFamily="18" charset="0"/>
                                </a:rPr>
                              </m:ctrlPr>
                            </m:naryPr>
                            <m:sub>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𝒊</m:t>
                              </m:r>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𝟏</m:t>
                              </m:r>
                            </m:sub>
                            <m:sup>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𝒏</m:t>
                              </m:r>
                            </m:sup>
                            <m:e>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𝑭</m:t>
                              </m:r>
                              <m:d>
                                <m:dPr>
                                  <m:ctrlPr>
                                    <a:rPr lang="zh-CN" altLang="zh-CN" sz="2800" b="1" i="1" kern="100">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sz="2800" b="1" i="1" kern="100">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𝒙</m:t>
                                      </m:r>
                                    </m:e>
                                    <m:sub>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𝒊</m:t>
                                      </m:r>
                                    </m:sub>
                                  </m:sSub>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𝜽</m:t>
                                  </m:r>
                                </m:e>
                              </m:d>
                            </m:e>
                          </m:nary>
                          <m:r>
                            <a:rPr lang="en-US" altLang="zh-CN" sz="2800" b="1" i="1" kern="100" smtClean="0">
                              <a:latin typeface="Cambria Math" panose="02040503050406030204" pitchFamily="18" charset="0"/>
                              <a:ea typeface="Cambria Math" panose="02040503050406030204" pitchFamily="18" charset="0"/>
                              <a:cs typeface="Cambria Math" panose="02040503050406030204" pitchFamily="18" charset="0"/>
                            </a:rPr>
                            <m:t>     </m:t>
                          </m:r>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𝒊</m:t>
                              </m:r>
                            </m:sub>
                          </m:sSub>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𝝐</m:t>
                          </m:r>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𝑹</m:t>
                          </m:r>
                          <m:r>
                            <a:rPr lang="en-US" altLang="zh-CN" sz="2800" b="1" i="1" kern="100" smtClean="0">
                              <a:latin typeface="Cambria Math" panose="02040503050406030204" pitchFamily="18" charset="0"/>
                              <a:ea typeface="等线" panose="02010600030101010101" pitchFamily="2" charset="-122"/>
                              <a:cs typeface="Times New Roman" panose="02020603050405020304" pitchFamily="18" charset="0"/>
                            </a:rPr>
                            <m:t>)</m:t>
                          </m:r>
                        </m:e>
                      </m:eqArr>
                    </m:oMath>
                  </m:oMathPara>
                </a14:m>
                <a:endParaRPr lang="zh-CN" altLang="zh-CN" sz="2800" b="1" kern="100" dirty="0">
                  <a:latin typeface="宋体" panose="02010600030101010101" pitchFamily="2" charset="-122"/>
                  <a:ea typeface="宋体" panose="02010600030101010101" pitchFamily="2" charset="-122"/>
                  <a:cs typeface="Times New Roman" panose="02020603050405020304" pitchFamily="18" charset="0"/>
                </a:endParaRPr>
              </a:p>
              <a:p>
                <a:pPr indent="457200">
                  <a:lnSpc>
                    <a:spcPct val="150000"/>
                  </a:lnSpc>
                </a:pPr>
                <a:endParaRPr lang="zh-CN" altLang="en-US" sz="2800" dirty="0">
                  <a:latin typeface="宋体" panose="02010600030101010101" pitchFamily="2" charset="-122"/>
                  <a:ea typeface="宋体" panose="02010600030101010101" pitchFamily="2" charset="-122"/>
                </a:endParaRPr>
              </a:p>
            </p:txBody>
          </p:sp>
        </mc:Choice>
        <mc:Fallback>
          <p:sp>
            <p:nvSpPr>
              <p:cNvPr id="4" name="文本框 3">
                <a:extLst>
                  <a:ext uri="{FF2B5EF4-FFF2-40B4-BE49-F238E27FC236}">
                    <a16:creationId xmlns:a16="http://schemas.microsoft.com/office/drawing/2014/main" id="{5157F1D1-6F3F-F7F2-25E2-AC02147E8988}"/>
                  </a:ext>
                </a:extLst>
              </p:cNvPr>
              <p:cNvSpPr txBox="1">
                <a:spLocks noRot="1" noChangeAspect="1" noMove="1" noResize="1" noEditPoints="1" noAdjustHandles="1" noChangeArrowheads="1" noChangeShapeType="1" noTextEdit="1"/>
              </p:cNvSpPr>
              <p:nvPr/>
            </p:nvSpPr>
            <p:spPr>
              <a:xfrm>
                <a:off x="599813" y="1102995"/>
                <a:ext cx="10673776" cy="5551776"/>
              </a:xfrm>
              <a:prstGeom prst="rect">
                <a:avLst/>
              </a:prstGeom>
              <a:blipFill>
                <a:blip r:embed="rId2"/>
                <a:stretch>
                  <a:fillRect l="-1142" r="-1713"/>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25604" name="标题 1"/>
          <p:cNvSpPr>
            <a:spLocks noGrp="1"/>
          </p:cNvSpPr>
          <p:nvPr>
            <p:ph type="title"/>
          </p:nvPr>
        </p:nvSpPr>
        <p:spPr>
          <a:xfrm>
            <a:off x="1646321" y="84895"/>
            <a:ext cx="7094053" cy="916639"/>
          </a:xfrm>
          <a:ln w="9525">
            <a:noFill/>
          </a:ln>
        </p:spPr>
        <p:txBody>
          <a:bodyPr vert="horz" wrap="square" lIns="91440" tIns="45720" rIns="91440" bIns="45720" anchor="ctr"/>
          <a:lstStyle/>
          <a:p>
            <a:r>
              <a:rPr lang="en-US" altLang="zh-CN" sz="3200" b="1" dirty="0">
                <a:effectLst/>
              </a:rPr>
              <a:t>6.1.3 </a:t>
            </a:r>
            <a:r>
              <a:rPr lang="zh-CN" altLang="en-US" sz="3200" b="1" dirty="0">
                <a:effectLst/>
              </a:rPr>
              <a:t>样本联合分布函数</a:t>
            </a:r>
            <a:r>
              <a:rPr lang="zh-CN" altLang="en-US" sz="3200" dirty="0">
                <a:effectLst/>
              </a:rPr>
              <a:t>（续）</a:t>
            </a:r>
          </a:p>
        </p:txBody>
      </p:sp>
      <p:sp>
        <p:nvSpPr>
          <p:cNvPr id="3" name="Rectangle 4">
            <a:extLst>
              <a:ext uri="{FF2B5EF4-FFF2-40B4-BE49-F238E27FC236}">
                <a16:creationId xmlns:a16="http://schemas.microsoft.com/office/drawing/2014/main" id="{F419A90F-26D3-D401-0894-BEF2F0192861}"/>
              </a:ext>
            </a:extLst>
          </p:cNvPr>
          <p:cNvSpPr>
            <a:spLocks noChangeArrowheads="1"/>
          </p:cNvSpPr>
          <p:nvPr/>
        </p:nvSpPr>
        <p:spPr bwMode="auto">
          <a:xfrm>
            <a:off x="1143000" y="0"/>
            <a:ext cx="838200" cy="637675"/>
          </a:xfrm>
          <a:prstGeom prst="rect">
            <a:avLst/>
          </a:prstGeom>
          <a:noFill/>
          <a:ln>
            <a:noFill/>
          </a:ln>
          <a:effectLst/>
        </p:spPr>
        <p:txBody>
          <a:bodyPr>
            <a:spAutoFit/>
          </a:bodyPr>
          <a:lstStyle/>
          <a:p>
            <a:pPr indent="720000" eaLnBrk="1" hangingPunct="1">
              <a:lnSpc>
                <a:spcPct val="150000"/>
              </a:lnSpc>
              <a:defRPr/>
            </a:pPr>
            <a:endParaRPr kumimoji="1" lang="zh-CN" altLang="en-US" sz="2800" b="1">
              <a:effectLst>
                <a:outerShdw blurRad="38100" dist="38100" dir="2700000" algn="tl">
                  <a:srgbClr val="C0C0C0"/>
                </a:outerShdw>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BF0A00E-887D-A563-450F-D793160B4FF1}"/>
                  </a:ext>
                </a:extLst>
              </p:cNvPr>
              <p:cNvSpPr txBox="1"/>
              <p:nvPr/>
            </p:nvSpPr>
            <p:spPr>
              <a:xfrm>
                <a:off x="909823" y="1018194"/>
                <a:ext cx="9726094" cy="2031325"/>
              </a:xfrm>
              <a:prstGeom prst="rect">
                <a:avLst/>
              </a:prstGeom>
              <a:noFill/>
            </p:spPr>
            <p:txBody>
              <a:bodyPr wrap="square">
                <a:spAutoFit/>
              </a:bodyPr>
              <a:lstStyle/>
              <a:p>
                <a:pPr indent="720000">
                  <a:lnSpc>
                    <a:spcPct val="150000"/>
                  </a:lnSpc>
                </a:pPr>
                <a:r>
                  <a:rPr lang="zh-CN" altLang="en-US" sz="2800" dirty="0">
                    <a:solidFill>
                      <a:schemeClr val="tx1"/>
                    </a:solidFill>
                    <a:latin typeface="宋体" panose="02010600030101010101" pitchFamily="2" charset="-122"/>
                    <a:ea typeface="宋体" panose="02010600030101010101" pitchFamily="2" charset="-122"/>
                  </a:rPr>
                  <a:t>若总体</a:t>
                </a:r>
                <a:r>
                  <a:rPr lang="en-US" altLang="zh-CN" sz="2800" dirty="0">
                    <a:solidFill>
                      <a:schemeClr val="tx1"/>
                    </a:solidFill>
                    <a:latin typeface="宋体" panose="02010600030101010101" pitchFamily="2" charset="-122"/>
                    <a:ea typeface="宋体" panose="02010600030101010101" pitchFamily="2" charset="-122"/>
                  </a:rPr>
                  <a:t>X</a:t>
                </a:r>
                <a:r>
                  <a:rPr lang="zh-CN" altLang="en-US" sz="2800" dirty="0">
                    <a:solidFill>
                      <a:schemeClr val="tx1"/>
                    </a:solidFill>
                    <a:latin typeface="宋体" panose="02010600030101010101" pitchFamily="2" charset="-122"/>
                    <a:ea typeface="宋体" panose="02010600030101010101" pitchFamily="2" charset="-122"/>
                  </a:rPr>
                  <a:t>是</a:t>
                </a:r>
                <a:r>
                  <a:rPr lang="zh-CN" altLang="en-US" sz="2800" b="1" dirty="0">
                    <a:solidFill>
                      <a:schemeClr val="tx1"/>
                    </a:solidFill>
                    <a:latin typeface="宋体" panose="02010600030101010101" pitchFamily="2" charset="-122"/>
                    <a:ea typeface="宋体" panose="02010600030101010101" pitchFamily="2" charset="-122"/>
                  </a:rPr>
                  <a:t>连续型</a:t>
                </a:r>
                <a:r>
                  <a:rPr lang="zh-CN" altLang="en-US" sz="2800" dirty="0">
                    <a:solidFill>
                      <a:schemeClr val="tx1"/>
                    </a:solidFill>
                    <a:latin typeface="宋体" panose="02010600030101010101" pitchFamily="2" charset="-122"/>
                    <a:ea typeface="宋体" panose="02010600030101010101" pitchFamily="2" charset="-122"/>
                  </a:rPr>
                  <a:t>随机变量，且具有密度函数</a:t>
                </a:r>
                <a14:m>
                  <m:oMath xmlns:m="http://schemas.openxmlformats.org/officeDocument/2006/math">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𝑝</m:t>
                    </m:r>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𝜃</m:t>
                    </m:r>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oMath>
                </a14:m>
                <a:r>
                  <a:rPr lang="zh-CN" altLang="en-US" sz="2800" dirty="0">
                    <a:solidFill>
                      <a:schemeClr val="tx1"/>
                    </a:solidFill>
                    <a:latin typeface="宋体" panose="02010600030101010101" pitchFamily="2" charset="-122"/>
                    <a:ea typeface="宋体" panose="02010600030101010101" pitchFamily="2" charset="-122"/>
                  </a:rPr>
                  <a:t>，则</a:t>
                </a:r>
                <a:r>
                  <a:rPr lang="zh-CN" altLang="en-US" sz="2800" b="1" dirty="0">
                    <a:solidFill>
                      <a:srgbClr val="00B0F0"/>
                    </a:solidFill>
                    <a:latin typeface="宋体" panose="02010600030101010101" pitchFamily="2" charset="-122"/>
                    <a:ea typeface="宋体" panose="02010600030101010101" pitchFamily="2" charset="-122"/>
                  </a:rPr>
                  <a:t>样本的联合密度函数</a:t>
                </a:r>
                <a:r>
                  <a:rPr lang="zh-CN" altLang="en-US" sz="2800" dirty="0">
                    <a:solidFill>
                      <a:schemeClr val="tx1"/>
                    </a:solidFill>
                    <a:latin typeface="宋体" panose="02010600030101010101" pitchFamily="2" charset="-122"/>
                    <a:ea typeface="宋体" panose="02010600030101010101" pitchFamily="2" charset="-122"/>
                  </a:rPr>
                  <a:t>为：</a:t>
                </a:r>
                <a:endParaRPr lang="en-US" altLang="zh-CN" sz="2800" dirty="0">
                  <a:solidFill>
                    <a:schemeClr val="tx1"/>
                  </a:solidFill>
                  <a:latin typeface="宋体" panose="02010600030101010101" pitchFamily="2" charset="-122"/>
                  <a:ea typeface="宋体" panose="02010600030101010101" pitchFamily="2" charset="-122"/>
                </a:endParaRPr>
              </a:p>
              <a:p>
                <a:pPr indent="720000">
                  <a:lnSpc>
                    <a:spcPct val="150000"/>
                  </a:lnSpc>
                </a:pPr>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6" name="文本框 5">
                <a:extLst>
                  <a:ext uri="{FF2B5EF4-FFF2-40B4-BE49-F238E27FC236}">
                    <a16:creationId xmlns:a16="http://schemas.microsoft.com/office/drawing/2014/main" id="{ABF0A00E-887D-A563-450F-D793160B4FF1}"/>
                  </a:ext>
                </a:extLst>
              </p:cNvPr>
              <p:cNvSpPr txBox="1">
                <a:spLocks noRot="1" noChangeAspect="1" noMove="1" noResize="1" noEditPoints="1" noAdjustHandles="1" noChangeArrowheads="1" noChangeShapeType="1" noTextEdit="1"/>
              </p:cNvSpPr>
              <p:nvPr/>
            </p:nvSpPr>
            <p:spPr>
              <a:xfrm>
                <a:off x="909823" y="1018194"/>
                <a:ext cx="9726094" cy="2031325"/>
              </a:xfrm>
              <a:prstGeom prst="rect">
                <a:avLst/>
              </a:prstGeom>
              <a:blipFill>
                <a:blip r:embed="rId2"/>
                <a:stretch>
                  <a:fillRect l="-12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B55F8CE2-F7F1-8E30-53CC-EABB708F008A}"/>
                  </a:ext>
                </a:extLst>
              </p:cNvPr>
              <p:cNvGraphicFramePr>
                <a:graphicFrameLocks noGrp="1"/>
              </p:cNvGraphicFramePr>
              <p:nvPr>
                <p:extLst>
                  <p:ext uri="{D42A27DB-BD31-4B8C-83A1-F6EECF244321}">
                    <p14:modId xmlns:p14="http://schemas.microsoft.com/office/powerpoint/2010/main" val="4171039979"/>
                  </p:ext>
                </p:extLst>
              </p:nvPr>
            </p:nvGraphicFramePr>
            <p:xfrm>
              <a:off x="2748915" y="1924657"/>
              <a:ext cx="7800976" cy="1371599"/>
            </p:xfrm>
            <a:graphic>
              <a:graphicData uri="http://schemas.openxmlformats.org/drawingml/2006/table">
                <a:tbl>
                  <a:tblPr firstRow="1" firstCol="1" bandRow="1"/>
                  <a:tblGrid>
                    <a:gridCol w="4981575">
                      <a:extLst>
                        <a:ext uri="{9D8B030D-6E8A-4147-A177-3AD203B41FA5}">
                          <a16:colId xmlns:a16="http://schemas.microsoft.com/office/drawing/2014/main" val="2671306929"/>
                        </a:ext>
                      </a:extLst>
                    </a:gridCol>
                    <a:gridCol w="2819401">
                      <a:extLst>
                        <a:ext uri="{9D8B030D-6E8A-4147-A177-3AD203B41FA5}">
                          <a16:colId xmlns:a16="http://schemas.microsoft.com/office/drawing/2014/main" val="2134920150"/>
                        </a:ext>
                      </a:extLst>
                    </a:gridCol>
                  </a:tblGrid>
                  <a:tr h="137159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sz="2800" i="1" kern="100" smtClean="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2800" b="0" i="1" kern="100" smtClean="0">
                                        <a:effectLst/>
                                        <a:latin typeface="Cambria Math" charset="0"/>
                                        <a:ea typeface="等线" panose="02010600030101010101" pitchFamily="2" charset="-122"/>
                                        <a:cs typeface="Times New Roman" panose="02020603050405020304" pitchFamily="18" charset="0"/>
                                      </a:rPr>
                                      <m:t>𝑛</m:t>
                                    </m:r>
                                  </m:sub>
                                </m:sSub>
                                <m:d>
                                  <m:dPr>
                                    <m:ctrlPr>
                                      <a:rPr 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Sub>
                                    <m:r>
                                      <a:rPr lang="en-US"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sz="2800" i="1" kern="100">
                                        <a:effectLst/>
                                        <a:latin typeface="Cambria Math" panose="02040503050406030204" pitchFamily="18" charset="0"/>
                                        <a:ea typeface="等线" panose="02010600030101010101" pitchFamily="2" charset="-122"/>
                                        <a:cs typeface="Times New Roman" panose="02020603050405020304" pitchFamily="18" charset="0"/>
                                      </a:rPr>
                                      <m:t>𝜃</m:t>
                                    </m:r>
                                  </m:e>
                                </m:d>
                                <m:r>
                                  <a:rPr lang="en-US" sz="2800" i="1" kern="100">
                                    <a:effectLst/>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naryPr>
                                  <m:sub>
                                    <m:r>
                                      <a:rPr lang="en-US" sz="2800" i="1" kern="100">
                                        <a:effectLst/>
                                        <a:latin typeface="Cambria Math" panose="02040503050406030204" pitchFamily="18" charset="0"/>
                                        <a:ea typeface="Cambria Math" panose="02040503050406030204" pitchFamily="18" charset="0"/>
                                        <a:cs typeface="Cambria Math" panose="02040503050406030204" pitchFamily="18" charset="0"/>
                                      </a:rPr>
                                      <m:t>𝑖</m:t>
                                    </m:r>
                                    <m:r>
                                      <a:rPr lang="en-US" sz="2800" i="1" kern="100">
                                        <a:effectLst/>
                                        <a:latin typeface="Cambria Math" panose="02040503050406030204" pitchFamily="18" charset="0"/>
                                        <a:ea typeface="Cambria Math" panose="02040503050406030204" pitchFamily="18" charset="0"/>
                                        <a:cs typeface="Cambria Math" panose="02040503050406030204" pitchFamily="18" charset="0"/>
                                      </a:rPr>
                                      <m:t>=1</m:t>
                                    </m:r>
                                  </m:sub>
                                  <m:sup>
                                    <m:r>
                                      <a:rPr lang="en-US" sz="2800" i="1" kern="100">
                                        <a:effectLst/>
                                        <a:latin typeface="Cambria Math" panose="02040503050406030204" pitchFamily="18" charset="0"/>
                                        <a:ea typeface="Cambria Math" panose="02040503050406030204" pitchFamily="18" charset="0"/>
                                        <a:cs typeface="Cambria Math" panose="02040503050406030204" pitchFamily="18" charset="0"/>
                                      </a:rPr>
                                      <m:t>𝑛</m:t>
                                    </m:r>
                                  </m:sup>
                                  <m:e>
                                    <m:r>
                                      <a:rPr lang="en-US" altLang="zh-CN" sz="2800" b="0" i="1" kern="100" smtClean="0">
                                        <a:effectLst/>
                                        <a:latin typeface="Cambria Math" charset="0"/>
                                        <a:ea typeface="Cambria Math" panose="02040503050406030204" pitchFamily="18" charset="0"/>
                                        <a:cs typeface="Cambria Math" panose="02040503050406030204" pitchFamily="18" charset="0"/>
                                      </a:rPr>
                                      <m:t>𝑝</m:t>
                                    </m:r>
                                    <m:d>
                                      <m:dPr>
                                        <m:ctrlPr>
                                          <a:rPr 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2800" i="1" kern="100">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sz="2800" i="1" kern="100">
                                                <a:effectLst/>
                                                <a:latin typeface="Cambria Math" panose="02040503050406030204" pitchFamily="18" charset="0"/>
                                                <a:ea typeface="Cambria Math" panose="02040503050406030204" pitchFamily="18" charset="0"/>
                                                <a:cs typeface="Cambria Math" panose="02040503050406030204" pitchFamily="18" charset="0"/>
                                              </a:rPr>
                                              <m:t>𝑖</m:t>
                                            </m:r>
                                          </m:sub>
                                        </m:sSub>
                                        <m:r>
                                          <a:rPr lang="en-US" sz="2800" i="1" kern="100">
                                            <a:effectLst/>
                                            <a:latin typeface="Cambria Math" panose="02040503050406030204" pitchFamily="18" charset="0"/>
                                            <a:ea typeface="Cambria Math" panose="02040503050406030204" pitchFamily="18" charset="0"/>
                                            <a:cs typeface="Cambria Math" panose="02040503050406030204" pitchFamily="18" charset="0"/>
                                          </a:rPr>
                                          <m:t>;</m:t>
                                        </m:r>
                                        <m:r>
                                          <a:rPr lang="en-US" sz="2800" i="1" kern="100">
                                            <a:effectLst/>
                                            <a:latin typeface="Cambria Math" panose="02040503050406030204" pitchFamily="18" charset="0"/>
                                            <a:ea typeface="Cambria Math" panose="02040503050406030204" pitchFamily="18" charset="0"/>
                                            <a:cs typeface="Cambria Math" panose="02040503050406030204" pitchFamily="18" charset="0"/>
                                          </a:rPr>
                                          <m:t>𝜃</m:t>
                                        </m:r>
                                      </m:e>
                                    </m:d>
                                  </m:e>
                                </m:nary>
                              </m:oMath>
                            </m:oMathPara>
                          </a14:m>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r"/>
                          <a:r>
                            <a:rPr lang="en-US" sz="2400" i="0" kern="100" dirty="0">
                              <a:effectLst/>
                              <a:latin typeface="Cambria Math" panose="02040503050406030204" pitchFamily="18" charset="0"/>
                              <a:ea typeface="Cambria Math" panose="02040503050406030204" pitchFamily="18" charset="0"/>
                              <a:cs typeface="Times New Roman" panose="02020603050405020304" pitchFamily="18" charset="0"/>
                            </a:rPr>
                            <a:t>(6.1)</a:t>
                          </a:r>
                          <a:endParaRPr lang="zh-CN" sz="2400" i="0" kern="100" dirty="0">
                            <a:effectLst/>
                            <a:latin typeface="Cambria Math" panose="02040503050406030204" pitchFamily="18" charset="0"/>
                            <a:ea typeface="等线"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065356045"/>
                      </a:ext>
                    </a:extLst>
                  </a:tr>
                </a:tbl>
              </a:graphicData>
            </a:graphic>
          </p:graphicFrame>
        </mc:Choice>
        <mc:Fallback xmlns="">
          <p:graphicFrame>
            <p:nvGraphicFramePr>
              <p:cNvPr id="7" name="表格 6">
                <a:extLst>
                  <a:ext uri="{FF2B5EF4-FFF2-40B4-BE49-F238E27FC236}">
                    <a16:creationId xmlns:a16="http://schemas.microsoft.com/office/drawing/2014/main" id="{B55F8CE2-F7F1-8E30-53CC-EABB708F008A}"/>
                  </a:ext>
                </a:extLst>
              </p:cNvPr>
              <p:cNvGraphicFramePr>
                <a:graphicFrameLocks noGrp="1"/>
              </p:cNvGraphicFramePr>
              <p:nvPr>
                <p:extLst>
                  <p:ext uri="{D42A27DB-BD31-4B8C-83A1-F6EECF244321}">
                    <p14:modId xmlns:p14="http://schemas.microsoft.com/office/powerpoint/2010/main" val="4171039979"/>
                  </p:ext>
                </p:extLst>
              </p:nvPr>
            </p:nvGraphicFramePr>
            <p:xfrm>
              <a:off x="2748915" y="1924657"/>
              <a:ext cx="7800976" cy="1371599"/>
            </p:xfrm>
            <a:graphic>
              <a:graphicData uri="http://schemas.openxmlformats.org/drawingml/2006/table">
                <a:tbl>
                  <a:tblPr firstRow="1" firstCol="1" bandRow="1"/>
                  <a:tblGrid>
                    <a:gridCol w="4981575">
                      <a:extLst>
                        <a:ext uri="{9D8B030D-6E8A-4147-A177-3AD203B41FA5}">
                          <a16:colId xmlns:a16="http://schemas.microsoft.com/office/drawing/2014/main" val="2671306929"/>
                        </a:ext>
                      </a:extLst>
                    </a:gridCol>
                    <a:gridCol w="2819401">
                      <a:extLst>
                        <a:ext uri="{9D8B030D-6E8A-4147-A177-3AD203B41FA5}">
                          <a16:colId xmlns:a16="http://schemas.microsoft.com/office/drawing/2014/main" val="2134920150"/>
                        </a:ext>
                      </a:extLst>
                    </a:gridCol>
                  </a:tblGrid>
                  <a:tr h="1371599">
                    <a:tc>
                      <a:txBody>
                        <a:bodyPr/>
                        <a:lstStyle/>
                        <a:p>
                          <a:endParaRPr lang="zh-CN"/>
                        </a:p>
                      </a:txBody>
                      <a:tcPr marL="68580" marR="68580" marT="0" marB="0" anchor="ctr">
                        <a:lnL>
                          <a:noFill/>
                        </a:lnL>
                        <a:lnR>
                          <a:noFill/>
                        </a:lnR>
                        <a:lnT>
                          <a:noFill/>
                        </a:lnT>
                        <a:lnB>
                          <a:noFill/>
                        </a:lnB>
                        <a:blipFill>
                          <a:blip r:embed="rId3"/>
                          <a:stretch>
                            <a:fillRect r="-56601"/>
                          </a:stretch>
                        </a:blipFill>
                      </a:tcPr>
                    </a:tc>
                    <a:tc>
                      <a:txBody>
                        <a:bodyPr/>
                        <a:lstStyle/>
                        <a:p>
                          <a:pPr algn="r"/>
                          <a:r>
                            <a:rPr lang="en-US" sz="2400" i="0" kern="100" dirty="0">
                              <a:effectLst/>
                              <a:latin typeface="Cambria Math" panose="02040503050406030204" pitchFamily="18" charset="0"/>
                              <a:ea typeface="Cambria Math" panose="02040503050406030204" pitchFamily="18" charset="0"/>
                              <a:cs typeface="Times New Roman" panose="02020603050405020304" pitchFamily="18" charset="0"/>
                            </a:rPr>
                            <a:t>(6.1)</a:t>
                          </a:r>
                          <a:endParaRPr lang="zh-CN" sz="2400" i="0" kern="100" dirty="0">
                            <a:effectLst/>
                            <a:latin typeface="Cambria Math" panose="02040503050406030204" pitchFamily="18" charset="0"/>
                            <a:ea typeface="等线"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065356045"/>
                      </a:ext>
                    </a:extLst>
                  </a:tr>
                </a:tbl>
              </a:graphicData>
            </a:graphic>
          </p:graphicFrame>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C82A0AC-4AA1-8D06-6F96-70ECAEA1F1D7}"/>
                  </a:ext>
                </a:extLst>
              </p:cNvPr>
              <p:cNvSpPr txBox="1"/>
              <p:nvPr/>
            </p:nvSpPr>
            <p:spPr>
              <a:xfrm>
                <a:off x="769470" y="3016949"/>
                <a:ext cx="10653057" cy="3323987"/>
              </a:xfrm>
              <a:prstGeom prst="rect">
                <a:avLst/>
              </a:prstGeom>
              <a:noFill/>
            </p:spPr>
            <p:txBody>
              <a:bodyPr wrap="square" rtlCol="0">
                <a:spAutoFit/>
              </a:bodyPr>
              <a:lstStyle/>
              <a:p>
                <a:pPr indent="720000">
                  <a:lnSpc>
                    <a:spcPct val="150000"/>
                  </a:lnSpc>
                </a:pPr>
                <a:r>
                  <a:rPr lang="zh-CN" altLang="en-US" sz="2800" dirty="0">
                    <a:solidFill>
                      <a:schemeClr val="tx1"/>
                    </a:solidFill>
                    <a:latin typeface="宋体" panose="02010600030101010101" pitchFamily="2" charset="-122"/>
                    <a:ea typeface="宋体" panose="02010600030101010101" pitchFamily="2" charset="-122"/>
                  </a:rPr>
                  <a:t>若总体</a:t>
                </a:r>
                <a:r>
                  <a:rPr lang="en-US" altLang="zh-CN" sz="2800" dirty="0">
                    <a:solidFill>
                      <a:schemeClr val="tx1"/>
                    </a:solidFill>
                    <a:latin typeface="宋体" panose="02010600030101010101" pitchFamily="2" charset="-122"/>
                    <a:ea typeface="宋体" panose="02010600030101010101" pitchFamily="2" charset="-122"/>
                  </a:rPr>
                  <a:t>X</a:t>
                </a:r>
                <a:r>
                  <a:rPr lang="zh-CN" altLang="en-US" sz="2800" dirty="0">
                    <a:solidFill>
                      <a:schemeClr val="tx1"/>
                    </a:solidFill>
                    <a:latin typeface="宋体" panose="02010600030101010101" pitchFamily="2" charset="-122"/>
                    <a:ea typeface="宋体" panose="02010600030101010101" pitchFamily="2" charset="-122"/>
                  </a:rPr>
                  <a:t>是</a:t>
                </a:r>
                <a:r>
                  <a:rPr lang="zh-CN" altLang="en-US" sz="2800" b="1" dirty="0">
                    <a:solidFill>
                      <a:schemeClr val="tx1"/>
                    </a:solidFill>
                    <a:latin typeface="宋体" panose="02010600030101010101" pitchFamily="2" charset="-122"/>
                    <a:ea typeface="宋体" panose="02010600030101010101" pitchFamily="2" charset="-122"/>
                  </a:rPr>
                  <a:t>离散型</a:t>
                </a:r>
                <a:r>
                  <a:rPr lang="zh-CN" altLang="en-US" sz="2800" dirty="0">
                    <a:solidFill>
                      <a:schemeClr val="tx1"/>
                    </a:solidFill>
                    <a:latin typeface="宋体" panose="02010600030101010101" pitchFamily="2" charset="-122"/>
                    <a:ea typeface="宋体" panose="02010600030101010101" pitchFamily="2" charset="-122"/>
                  </a:rPr>
                  <a:t>随机变量，且具有</a:t>
                </a:r>
                <a:r>
                  <a:rPr lang="zh-CN" altLang="en-US" sz="2800" dirty="0">
                    <a:latin typeface="宋体" panose="02010600030101010101" pitchFamily="2" charset="-122"/>
                    <a:ea typeface="宋体" panose="02010600030101010101" pitchFamily="2" charset="-122"/>
                  </a:rPr>
                  <a:t>分布</a:t>
                </a:r>
                <a14:m>
                  <m:oMath xmlns:m="http://schemas.openxmlformats.org/officeDocument/2006/math">
                    <m:r>
                      <a:rPr lang="zh-CN" altLang="en-US" sz="2800" b="0" i="1" dirty="0" smtClean="0">
                        <a:solidFill>
                          <a:schemeClr val="tx1"/>
                        </a:solidFill>
                        <a:latin typeface="Cambria Math" charset="0"/>
                        <a:ea typeface="宋体" panose="02010600030101010101" pitchFamily="2" charset="-122"/>
                      </a:rPr>
                      <m:t>律</m:t>
                    </m:r>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𝑝</m:t>
                        </m:r>
                      </m:e>
                      <m:sub>
                        <m:r>
                          <a:rPr lang="en-US" altLang="zh-CN" sz="2800" b="0" i="1" dirty="0" smtClean="0">
                            <a:solidFill>
                              <a:schemeClr val="tx1"/>
                            </a:solidFill>
                            <a:latin typeface="Cambria Math" charset="0"/>
                            <a:ea typeface="宋体" panose="02010600030101010101" pitchFamily="2" charset="-122"/>
                          </a:rPr>
                          <m:t>𝑖</m:t>
                        </m:r>
                      </m:sub>
                    </m:sSub>
                    <m:r>
                      <a:rPr lang="en-US" altLang="zh-CN" sz="2800" b="0" i="1" dirty="0" smtClean="0">
                        <a:solidFill>
                          <a:schemeClr val="tx1"/>
                        </a:solidFill>
                        <a:latin typeface="Cambria Math" charset="0"/>
                        <a:ea typeface="宋体" panose="02010600030101010101" pitchFamily="2" charset="-122"/>
                      </a:rPr>
                      <m:t>=</m:t>
                    </m:r>
                    <m:r>
                      <a:rPr lang="en-US" altLang="zh-CN" sz="2800" b="0" i="1" dirty="0" smtClean="0">
                        <a:solidFill>
                          <a:schemeClr val="tx1"/>
                        </a:solidFill>
                        <a:latin typeface="Cambria Math" charset="0"/>
                        <a:ea typeface="宋体" panose="02010600030101010101" pitchFamily="2" charset="-122"/>
                      </a:rPr>
                      <m:t>𝑃</m:t>
                    </m:r>
                    <m:r>
                      <a:rPr lang="en-US" altLang="zh-CN" sz="2800">
                        <a:solidFill>
                          <a:schemeClr val="tx1"/>
                        </a:solidFill>
                        <a:latin typeface="Cambria Math" panose="02040503050406030204" pitchFamily="18" charset="0"/>
                      </a:rPr>
                      <m:t>(</m:t>
                    </m:r>
                    <m:r>
                      <a:rPr lang="en-US" altLang="zh-CN" sz="2800" b="0" i="1" smtClean="0">
                        <a:latin typeface="Cambria Math" charset="0"/>
                      </a:rPr>
                      <m:t>𝑋</m:t>
                    </m:r>
                    <m:r>
                      <a:rPr lang="en-US" altLang="zh-CN" sz="2800" b="0" i="1" smtClean="0">
                        <a:latin typeface="Cambria Math" charset="0"/>
                      </a:rPr>
                      <m:t>=</m:t>
                    </m:r>
                    <m:sSub>
                      <m:sSubPr>
                        <m:ctrlPr>
                          <a:rPr lang="en-US" altLang="zh-CN" sz="2800" b="0" i="1" smtClean="0">
                            <a:solidFill>
                              <a:schemeClr val="tx1"/>
                            </a:solidFill>
                            <a:latin typeface="Cambria Math" panose="02040503050406030204" pitchFamily="18" charset="0"/>
                            <a:ea typeface="宋体" panose="02010600030101010101" pitchFamily="2" charset="-122"/>
                          </a:rPr>
                        </m:ctrlPr>
                      </m:sSubPr>
                      <m:e>
                        <m:r>
                          <a:rPr lang="en-US" altLang="zh-CN" sz="2800" b="0" i="1" smtClean="0">
                            <a:latin typeface="Cambria Math" charset="0"/>
                            <a:ea typeface="宋体" panose="02010600030101010101" pitchFamily="2" charset="-122"/>
                          </a:rPr>
                          <m:t>𝑎</m:t>
                        </m:r>
                      </m:e>
                      <m:sub>
                        <m:r>
                          <a:rPr lang="en-US" altLang="zh-CN" sz="2800" b="0" i="1" smtClean="0">
                            <a:solidFill>
                              <a:schemeClr val="tx1"/>
                            </a:solidFill>
                            <a:latin typeface="Cambria Math" charset="0"/>
                          </a:rPr>
                          <m:t>𝑖</m:t>
                        </m:r>
                      </m:sub>
                    </m:sSub>
                    <m:r>
                      <a:rPr lang="en-US" altLang="zh-CN" sz="2800" i="1">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𝜃</m:t>
                    </m:r>
                    <m:r>
                      <a:rPr lang="en-US" altLang="zh-CN" sz="2800" smtClean="0">
                        <a:solidFill>
                          <a:schemeClr val="tx1"/>
                        </a:solidFill>
                        <a:latin typeface="Cambria Math" panose="02040503050406030204" pitchFamily="18" charset="0"/>
                      </a:rPr>
                      <m:t>)</m:t>
                    </m:r>
                  </m:oMath>
                </a14:m>
                <a:r>
                  <a:rPr lang="zh-CN" altLang="en-US" sz="2800" dirty="0">
                    <a:solidFill>
                      <a:schemeClr val="tx1"/>
                    </a:solidFill>
                    <a:latin typeface="宋体" panose="02010600030101010101" pitchFamily="2" charset="-122"/>
                    <a:ea typeface="宋体" panose="02010600030101010101" pitchFamily="2" charset="-122"/>
                  </a:rPr>
                  <a:t>，则样本</a:t>
                </a:r>
                <a:r>
                  <a:rPr lang="zh-CN" altLang="en-US" sz="2800" dirty="0">
                    <a:latin typeface="宋体" panose="02010600030101010101" pitchFamily="2" charset="-122"/>
                    <a:ea typeface="宋体" panose="02010600030101010101" pitchFamily="2" charset="-122"/>
                  </a:rPr>
                  <a:t>分布律可以定义</a:t>
                </a:r>
                <a:r>
                  <a:rPr lang="zh-CN" altLang="en-US" sz="2800" dirty="0">
                    <a:solidFill>
                      <a:schemeClr val="tx1"/>
                    </a:solidFill>
                    <a:latin typeface="宋体" panose="02010600030101010101" pitchFamily="2" charset="-122"/>
                    <a:ea typeface="宋体" panose="02010600030101010101" pitchFamily="2" charset="-122"/>
                  </a:rPr>
                  <a:t>为：</a:t>
                </a:r>
                <a:endParaRPr lang="en-US" altLang="zh-CN" sz="2800" dirty="0">
                  <a:solidFill>
                    <a:schemeClr val="tx1"/>
                  </a:solidFill>
                  <a:latin typeface="宋体" panose="02010600030101010101" pitchFamily="2" charset="-122"/>
                  <a:ea typeface="宋体" panose="02010600030101010101" pitchFamily="2" charset="-122"/>
                </a:endParaRPr>
              </a:p>
              <a:p>
                <a:pPr indent="720000">
                  <a:lnSpc>
                    <a:spcPct val="150000"/>
                  </a:lnSpc>
                </a:pPr>
                <a:endParaRPr lang="en-US" altLang="zh-CN" sz="2800" dirty="0">
                  <a:solidFill>
                    <a:schemeClr val="tx1"/>
                  </a:solidFill>
                  <a:latin typeface="宋体" panose="02010600030101010101" pitchFamily="2" charset="-122"/>
                  <a:ea typeface="宋体" panose="02010600030101010101" pitchFamily="2" charset="-122"/>
                </a:endParaRPr>
              </a:p>
              <a:p>
                <a:pPr indent="720000">
                  <a:lnSpc>
                    <a:spcPct val="150000"/>
                  </a:lnSpc>
                </a:pPr>
                <a:endParaRPr lang="en-US" altLang="zh-CN" sz="2800" dirty="0">
                  <a:solidFill>
                    <a:schemeClr val="tx1"/>
                  </a:solidFill>
                  <a:latin typeface="宋体" panose="02010600030101010101" pitchFamily="2" charset="-122"/>
                  <a:ea typeface="宋体" panose="02010600030101010101" pitchFamily="2" charset="-122"/>
                </a:endParaRPr>
              </a:p>
              <a:p>
                <a:pPr indent="720000">
                  <a:lnSpc>
                    <a:spcPct val="150000"/>
                  </a:lnSpc>
                </a:pPr>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8" name="文本框 7">
                <a:extLst>
                  <a:ext uri="{FF2B5EF4-FFF2-40B4-BE49-F238E27FC236}">
                    <a16:creationId xmlns:a16="http://schemas.microsoft.com/office/drawing/2014/main" id="{6C82A0AC-4AA1-8D06-6F96-70ECAEA1F1D7}"/>
                  </a:ext>
                </a:extLst>
              </p:cNvPr>
              <p:cNvSpPr txBox="1">
                <a:spLocks noRot="1" noChangeAspect="1" noMove="1" noResize="1" noEditPoints="1" noAdjustHandles="1" noChangeArrowheads="1" noChangeShapeType="1" noTextEdit="1"/>
              </p:cNvSpPr>
              <p:nvPr/>
            </p:nvSpPr>
            <p:spPr>
              <a:xfrm>
                <a:off x="769470" y="3016949"/>
                <a:ext cx="10653057" cy="3323987"/>
              </a:xfrm>
              <a:prstGeom prst="rect">
                <a:avLst/>
              </a:prstGeom>
              <a:blipFill>
                <a:blip r:embed="rId4"/>
                <a:stretch>
                  <a:fillRect l="-11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CF25B777-0D6D-A2A2-568F-C308255F5E7C}"/>
                  </a:ext>
                </a:extLst>
              </p:cNvPr>
              <p:cNvGraphicFramePr>
                <a:graphicFrameLocks noGrp="1"/>
              </p:cNvGraphicFramePr>
              <p:nvPr>
                <p:extLst>
                  <p:ext uri="{D42A27DB-BD31-4B8C-83A1-F6EECF244321}">
                    <p14:modId xmlns:p14="http://schemas.microsoft.com/office/powerpoint/2010/main" val="2859187329"/>
                  </p:ext>
                </p:extLst>
              </p:nvPr>
            </p:nvGraphicFramePr>
            <p:xfrm>
              <a:off x="1143000" y="4229555"/>
              <a:ext cx="9406891" cy="951865"/>
            </p:xfrm>
            <a:graphic>
              <a:graphicData uri="http://schemas.openxmlformats.org/drawingml/2006/table">
                <a:tbl>
                  <a:tblPr firstRow="1" firstCol="1" bandRow="1"/>
                  <a:tblGrid>
                    <a:gridCol w="8028061">
                      <a:extLst>
                        <a:ext uri="{9D8B030D-6E8A-4147-A177-3AD203B41FA5}">
                          <a16:colId xmlns:a16="http://schemas.microsoft.com/office/drawing/2014/main" val="41770302"/>
                        </a:ext>
                      </a:extLst>
                    </a:gridCol>
                    <a:gridCol w="1378830">
                      <a:extLst>
                        <a:ext uri="{9D8B030D-6E8A-4147-A177-3AD203B41FA5}">
                          <a16:colId xmlns:a16="http://schemas.microsoft.com/office/drawing/2014/main" val="2153163305"/>
                        </a:ext>
                      </a:extLst>
                    </a:gridCol>
                  </a:tblGrid>
                  <a:tr h="0">
                    <a:tc>
                      <a:txBody>
                        <a:bodyPr/>
                        <a:lstStyle/>
                        <a:p>
                          <a:pPr algn="ctr"/>
                          <a14:m>
                            <m:oMath xmlns:m="http://schemas.openxmlformats.org/officeDocument/2006/math">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𝑝</m:t>
                              </m:r>
                              <m:r>
                                <a:rPr lang="en-US"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𝑥</m:t>
                              </m:r>
                              <m:r>
                                <a:rPr lang="en-US"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𝜃</m:t>
                              </m:r>
                              <m:r>
                                <a:rPr lang="en-US"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en-US"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en-US"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US" altLang="zh-CN" sz="2800" b="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800" i="1" kern="100" smtClean="0">
                                              <a:solidFill>
                                                <a:schemeClr val="tx1"/>
                                              </a:solidFill>
                                              <a:effectLst/>
                                              <a:latin typeface="Cambria Math" charset="0"/>
                                              <a:ea typeface="等线" panose="02010600030101010101" pitchFamily="2" charset="-122"/>
                                              <a:cs typeface="Times New Roman" panose="02020603050405020304" pitchFamily="18" charset="0"/>
                                            </a:rPr>
                                            <m:t>𝑝</m:t>
                                          </m:r>
                                        </m:e>
                                        <m:sub>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𝑖</m:t>
                                          </m:r>
                                        </m:sub>
                                      </m:sSub>
                                      <m:r>
                                        <a:rPr lang="en-US"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𝑥</m:t>
                                      </m:r>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m:t>
                                      </m:r>
                                      <m:sSub>
                                        <m:sSubPr>
                                          <m:ctrlPr>
                                            <a:rPr lang="en-US" altLang="zh-CN" sz="2800" b="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𝑎</m:t>
                                          </m:r>
                                        </m:e>
                                        <m:sub>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𝑖</m:t>
                                          </m:r>
                                        </m:sub>
                                      </m:sSub>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m:t>
                                      </m:r>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𝑖</m:t>
                                      </m:r>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=1,2,3,…</m:t>
                                      </m:r>
                                      <m:r>
                                        <a:rPr lang="en-US"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  </m:t>
                                      </m:r>
                                    </m:e>
                                    <m:e>
                                      <m:r>
                                        <a:rPr lang="en-US"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0,</m:t>
                                      </m:r>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𝑥</m:t>
                                      </m:r>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m:t>
                                      </m:r>
                                      <m:sSub>
                                        <m:sSubPr>
                                          <m:ctrlPr>
                                            <a:rPr lang="en-US" altLang="zh-CN" sz="2800" b="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𝑎</m:t>
                                          </m:r>
                                        </m:e>
                                        <m:sub>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𝑖</m:t>
                                          </m:r>
                                        </m:sub>
                                      </m:sSub>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m:t>
                                      </m:r>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𝑖</m:t>
                                      </m:r>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=1,2,3,… </m:t>
                                      </m:r>
                                    </m:e>
                                  </m:eqArr>
                                </m:e>
                              </m:d>
                            </m:oMath>
                          </a14:m>
                          <a:r>
                            <a:rPr lang="en-US" sz="2800" i="1" kern="100" dirty="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a:t> </a:t>
                          </a:r>
                          <a:endParaRPr lang="zh-CN" altLang="en-US" sz="2800" i="1" kern="100" dirty="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0" algn="r" defTabSz="685165" rtl="0" eaLnBrk="1" latinLnBrk="0" hangingPunct="1"/>
                          <a:r>
                            <a:rPr lang="en-US" sz="2400" i="0" kern="100" dirty="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a:t>(6.2)</a:t>
                          </a:r>
                        </a:p>
                      </a:txBody>
                      <a:tcPr marL="68580" marR="68580" marT="0" marB="0" anchor="ctr">
                        <a:lnL>
                          <a:noFill/>
                        </a:lnL>
                        <a:lnR>
                          <a:noFill/>
                        </a:lnR>
                        <a:lnT>
                          <a:noFill/>
                        </a:lnT>
                        <a:lnB>
                          <a:noFill/>
                        </a:lnB>
                      </a:tcPr>
                    </a:tc>
                    <a:extLst>
                      <a:ext uri="{0D108BD9-81ED-4DB2-BD59-A6C34878D82A}">
                        <a16:rowId xmlns:a16="http://schemas.microsoft.com/office/drawing/2014/main" val="3144666802"/>
                      </a:ext>
                    </a:extLst>
                  </a:tr>
                </a:tbl>
              </a:graphicData>
            </a:graphic>
          </p:graphicFrame>
        </mc:Choice>
        <mc:Fallback xmlns="">
          <p:graphicFrame>
            <p:nvGraphicFramePr>
              <p:cNvPr id="9" name="表格 8">
                <a:extLst>
                  <a:ext uri="{FF2B5EF4-FFF2-40B4-BE49-F238E27FC236}">
                    <a16:creationId xmlns:a16="http://schemas.microsoft.com/office/drawing/2014/main" id="{CF25B777-0D6D-A2A2-568F-C308255F5E7C}"/>
                  </a:ext>
                </a:extLst>
              </p:cNvPr>
              <p:cNvGraphicFramePr>
                <a:graphicFrameLocks noGrp="1"/>
              </p:cNvGraphicFramePr>
              <p:nvPr>
                <p:extLst>
                  <p:ext uri="{D42A27DB-BD31-4B8C-83A1-F6EECF244321}">
                    <p14:modId xmlns:p14="http://schemas.microsoft.com/office/powerpoint/2010/main" val="2859187329"/>
                  </p:ext>
                </p:extLst>
              </p:nvPr>
            </p:nvGraphicFramePr>
            <p:xfrm>
              <a:off x="1143000" y="4229555"/>
              <a:ext cx="9406891" cy="951865"/>
            </p:xfrm>
            <a:graphic>
              <a:graphicData uri="http://schemas.openxmlformats.org/drawingml/2006/table">
                <a:tbl>
                  <a:tblPr firstRow="1" firstCol="1" bandRow="1"/>
                  <a:tblGrid>
                    <a:gridCol w="8028061">
                      <a:extLst>
                        <a:ext uri="{9D8B030D-6E8A-4147-A177-3AD203B41FA5}">
                          <a16:colId xmlns:a16="http://schemas.microsoft.com/office/drawing/2014/main" val="41770302"/>
                        </a:ext>
                      </a:extLst>
                    </a:gridCol>
                    <a:gridCol w="1378830">
                      <a:extLst>
                        <a:ext uri="{9D8B030D-6E8A-4147-A177-3AD203B41FA5}">
                          <a16:colId xmlns:a16="http://schemas.microsoft.com/office/drawing/2014/main" val="2153163305"/>
                        </a:ext>
                      </a:extLst>
                    </a:gridCol>
                  </a:tblGrid>
                  <a:tr h="951865">
                    <a:tc>
                      <a:txBody>
                        <a:bodyPr/>
                        <a:lstStyle/>
                        <a:p>
                          <a:endParaRPr lang="zh-CN"/>
                        </a:p>
                      </a:txBody>
                      <a:tcPr marL="68580" marR="68580" marT="0" marB="0" anchor="ctr">
                        <a:lnL>
                          <a:noFill/>
                        </a:lnL>
                        <a:lnR>
                          <a:noFill/>
                        </a:lnR>
                        <a:lnT>
                          <a:noFill/>
                        </a:lnT>
                        <a:lnB>
                          <a:noFill/>
                        </a:lnB>
                        <a:blipFill>
                          <a:blip r:embed="rId5"/>
                          <a:stretch>
                            <a:fillRect r="-17147"/>
                          </a:stretch>
                        </a:blipFill>
                      </a:tcPr>
                    </a:tc>
                    <a:tc>
                      <a:txBody>
                        <a:bodyPr/>
                        <a:lstStyle/>
                        <a:p>
                          <a:pPr marL="0" algn="r" defTabSz="685165" rtl="0" eaLnBrk="1" latinLnBrk="0" hangingPunct="1"/>
                          <a:r>
                            <a:rPr lang="en-US" sz="2400" i="0" kern="100" dirty="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a:t>(6.2)</a:t>
                          </a:r>
                        </a:p>
                      </a:txBody>
                      <a:tcPr marL="68580" marR="68580" marT="0" marB="0" anchor="ctr">
                        <a:lnL>
                          <a:noFill/>
                        </a:lnL>
                        <a:lnR>
                          <a:noFill/>
                        </a:lnR>
                        <a:lnT>
                          <a:noFill/>
                        </a:lnT>
                        <a:lnB>
                          <a:noFill/>
                        </a:lnB>
                      </a:tcPr>
                    </a:tc>
                    <a:extLst>
                      <a:ext uri="{0D108BD9-81ED-4DB2-BD59-A6C34878D82A}">
                        <a16:rowId xmlns:a16="http://schemas.microsoft.com/office/drawing/2014/main" val="3144666802"/>
                      </a:ext>
                    </a:extLst>
                  </a:tr>
                </a:tbl>
              </a:graphicData>
            </a:graphic>
          </p:graphicFrame>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F76221F-EF03-5497-53F0-BB1F1F873117}"/>
                  </a:ext>
                </a:extLst>
              </p:cNvPr>
              <p:cNvSpPr txBox="1"/>
              <p:nvPr/>
            </p:nvSpPr>
            <p:spPr>
              <a:xfrm>
                <a:off x="559085" y="5266796"/>
                <a:ext cx="11073829" cy="740780"/>
              </a:xfrm>
              <a:prstGeom prst="rect">
                <a:avLst/>
              </a:prstGeom>
              <a:noFill/>
            </p:spPr>
            <p:txBody>
              <a:bodyPr wrap="square">
                <a:spAutoFit/>
              </a:bodyPr>
              <a:lstStyle/>
              <a:p>
                <a:pPr indent="720000">
                  <a:lnSpc>
                    <a:spcPct val="150000"/>
                  </a:lnSpc>
                </a:pPr>
                <a:r>
                  <a:rPr lang="zh-CN" altLang="zh-CN" sz="2800" dirty="0">
                    <a:solidFill>
                      <a:schemeClr val="tx1"/>
                    </a:solidFill>
                    <a:latin typeface="宋体" panose="02010600030101010101" pitchFamily="2" charset="-122"/>
                    <a:ea typeface="宋体" panose="02010600030101010101" pitchFamily="2" charset="-122"/>
                  </a:rPr>
                  <a:t>从而</a:t>
                </a:r>
                <a:r>
                  <a:rPr lang="zh-CN" altLang="zh-CN" sz="2800" b="1" dirty="0">
                    <a:solidFill>
                      <a:srgbClr val="00B0F0"/>
                    </a:solidFill>
                    <a:latin typeface="宋体" panose="02010600030101010101" pitchFamily="2" charset="-122"/>
                    <a:ea typeface="宋体" panose="02010600030101010101" pitchFamily="2" charset="-122"/>
                  </a:rPr>
                  <a:t>样本的联合分布律</a:t>
                </a:r>
                <a:r>
                  <a:rPr lang="zh-CN" altLang="zh-CN" sz="2800" dirty="0">
                    <a:solidFill>
                      <a:schemeClr val="tx1"/>
                    </a:solidFill>
                    <a:latin typeface="宋体" panose="02010600030101010101" pitchFamily="2" charset="-122"/>
                    <a:ea typeface="宋体" panose="02010600030101010101" pitchFamily="2" charset="-122"/>
                  </a:rPr>
                  <a:t>为</a:t>
                </a:r>
                <a14:m>
                  <m:oMath xmlns:m="http://schemas.openxmlformats.org/officeDocument/2006/math">
                    <m:sSub>
                      <m:sSubPr>
                        <m:ctrlPr>
                          <a:rPr kumimoji="0" lang="en-US" altLang="zh-CN" sz="2800" b="0" i="1" u="none" strike="noStrike" kern="100" cap="none" spc="0" normalizeH="0" baseline="0" noProof="0" smtClean="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bPr>
                      <m:e>
                        <m:r>
                          <a:rPr kumimoji="0" lang="en-US" altLang="zh-CN" sz="2800" b="0" i="1" u="none" strike="noStrike" kern="100" cap="none" spc="0" normalizeH="0" baseline="0" noProof="0" smtClean="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𝑓</m:t>
                        </m:r>
                      </m:e>
                      <m:sub>
                        <m:r>
                          <a:rPr kumimoji="0" lang="en-US" altLang="zh-CN" sz="2800" b="0" i="1" u="none" strike="noStrike" kern="100" cap="none" spc="0" normalizeH="0" baseline="0" noProof="0" smtClean="0">
                            <a:ln>
                              <a:noFill/>
                            </a:ln>
                            <a:solidFill>
                              <a:schemeClr val="tx1"/>
                            </a:solidFill>
                            <a:effectLst/>
                            <a:uLnTx/>
                            <a:uFillTx/>
                            <a:latin typeface="Cambria Math" charset="0"/>
                            <a:ea typeface="等线" panose="02010600030101010101" pitchFamily="2" charset="-122"/>
                            <a:cs typeface="Times New Roman" panose="02020603050405020304" pitchFamily="18" charset="0"/>
                          </a:rPr>
                          <m:t>𝑛</m:t>
                        </m:r>
                      </m:sub>
                    </m:sSub>
                    <m:d>
                      <m:dPr>
                        <m:ctrlPr>
                          <a:rPr kumimoji="0" lang="zh-CN" altLang="en-US"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en-US"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𝑥</m:t>
                            </m:r>
                          </m:e>
                          <m:sub>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1</m:t>
                            </m:r>
                          </m:sub>
                        </m:sSub>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b>
                          <m:sSubPr>
                            <m:ctrlPr>
                              <a:rPr kumimoji="0" lang="zh-CN" altLang="en-US"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𝑥</m:t>
                            </m:r>
                          </m:e>
                          <m:sub>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𝑛</m:t>
                            </m:r>
                          </m:sub>
                        </m:sSub>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𝜃</m:t>
                        </m:r>
                      </m:e>
                    </m:d>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kumimoji="0" lang="zh-CN" altLang="en-US"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ambria Math" panose="02040503050406030204" pitchFamily="18" charset="0"/>
                          </a:rPr>
                        </m:ctrlPr>
                      </m:naryPr>
                      <m:sub>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ambria Math" panose="02040503050406030204" pitchFamily="18" charset="0"/>
                          </a:rPr>
                          <m:t>𝑖</m:t>
                        </m:r>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ambria Math" panose="02040503050406030204" pitchFamily="18" charset="0"/>
                          </a:rPr>
                          <m:t>=1</m:t>
                        </m:r>
                      </m:sub>
                      <m:sup>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ambria Math" panose="02040503050406030204" pitchFamily="18" charset="0"/>
                          </a:rPr>
                          <m:t>𝑛</m:t>
                        </m:r>
                      </m:sup>
                      <m:e>
                        <m:r>
                          <a:rPr kumimoji="0" lang="en-US" altLang="zh-CN" sz="2800" b="0" i="1" u="none" strike="noStrike" kern="100" cap="none" spc="0" normalizeH="0" baseline="0" noProof="0" smtClean="0">
                            <a:ln>
                              <a:noFill/>
                            </a:ln>
                            <a:solidFill>
                              <a:schemeClr val="tx1"/>
                            </a:solidFill>
                            <a:effectLst/>
                            <a:uLnTx/>
                            <a:uFillTx/>
                            <a:latin typeface="Cambria Math" charset="0"/>
                            <a:ea typeface="Cambria Math" panose="02040503050406030204" pitchFamily="18" charset="0"/>
                            <a:cs typeface="Cambria Math" panose="02040503050406030204" pitchFamily="18" charset="0"/>
                          </a:rPr>
                          <m:t>𝑝</m:t>
                        </m:r>
                        <m:d>
                          <m:dPr>
                            <m:ctrlPr>
                              <a:rPr kumimoji="0" lang="zh-CN" altLang="en-US"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ambria Math" panose="02040503050406030204" pitchFamily="18" charset="0"/>
                              </a:rPr>
                            </m:ctrlPr>
                          </m:dPr>
                          <m:e>
                            <m:r>
                              <a:rPr kumimoji="0" lang="en-US" altLang="zh-CN" sz="2800" b="0" i="1" u="none" strike="noStrike" kern="100" cap="none" spc="0" normalizeH="0" baseline="0" noProof="0" smtClean="0">
                                <a:ln>
                                  <a:noFill/>
                                </a:ln>
                                <a:solidFill>
                                  <a:schemeClr val="tx1"/>
                                </a:solidFill>
                                <a:effectLst/>
                                <a:uLnTx/>
                                <a:uFillTx/>
                                <a:latin typeface="Cambria Math" charset="0"/>
                                <a:ea typeface="Cambria Math" panose="02040503050406030204" pitchFamily="18" charset="0"/>
                                <a:cs typeface="Cambria Math" panose="02040503050406030204" pitchFamily="18" charset="0"/>
                              </a:rPr>
                              <m:t>𝑥</m:t>
                            </m:r>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ambria Math" panose="02040503050406030204" pitchFamily="18" charset="0"/>
                              </a:rPr>
                              <m:t>;</m:t>
                            </m:r>
                            <m:r>
                              <a:rPr kumimoji="0" lang="en-US" altLang="zh-CN" sz="2800" b="0" i="1" u="none" strike="noStrike" kern="1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ambria Math" panose="02040503050406030204" pitchFamily="18" charset="0"/>
                              </a:rPr>
                              <m:t>𝜃</m:t>
                            </m:r>
                          </m:e>
                        </m:d>
                      </m:e>
                    </m:nary>
                  </m:oMath>
                </a14:m>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10" name="文本框 9">
                <a:extLst>
                  <a:ext uri="{FF2B5EF4-FFF2-40B4-BE49-F238E27FC236}">
                    <a16:creationId xmlns:a16="http://schemas.microsoft.com/office/drawing/2014/main" id="{5F76221F-EF03-5497-53F0-BB1F1F873117}"/>
                  </a:ext>
                </a:extLst>
              </p:cNvPr>
              <p:cNvSpPr txBox="1">
                <a:spLocks noRot="1" noChangeAspect="1" noMove="1" noResize="1" noEditPoints="1" noAdjustHandles="1" noChangeArrowheads="1" noChangeShapeType="1" noTextEdit="1"/>
              </p:cNvSpPr>
              <p:nvPr/>
            </p:nvSpPr>
            <p:spPr>
              <a:xfrm>
                <a:off x="559085" y="5266796"/>
                <a:ext cx="11073829" cy="740780"/>
              </a:xfrm>
              <a:prstGeom prst="rect">
                <a:avLst/>
              </a:prstGeom>
              <a:blipFill>
                <a:blip r:embed="rId6"/>
                <a:stretch>
                  <a:fillRect b="-90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73134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p:sp>
        <p:nvSpPr>
          <p:cNvPr id="3" name="文本框 2">
            <a:extLst>
              <a:ext uri="{FF2B5EF4-FFF2-40B4-BE49-F238E27FC236}">
                <a16:creationId xmlns:a16="http://schemas.microsoft.com/office/drawing/2014/main" id="{DB87C170-CCC6-F7E6-6722-AA3BC5C3A0AB}"/>
              </a:ext>
            </a:extLst>
          </p:cNvPr>
          <p:cNvSpPr txBox="1"/>
          <p:nvPr/>
        </p:nvSpPr>
        <p:spPr>
          <a:xfrm>
            <a:off x="1041273" y="1904282"/>
            <a:ext cx="9041191" cy="2831544"/>
          </a:xfrm>
          <a:prstGeom prst="rect">
            <a:avLst/>
          </a:prstGeom>
          <a:noFill/>
        </p:spPr>
        <p:txBody>
          <a:bodyPr wrap="square">
            <a:spAutoFit/>
          </a:bodyPr>
          <a:lstStyle/>
          <a:p>
            <a:pPr indent="720000">
              <a:lnSpc>
                <a:spcPct val="150000"/>
              </a:lnSpc>
              <a:spcBef>
                <a:spcPts val="1200"/>
              </a:spcBef>
            </a:pPr>
            <a:r>
              <a:rPr lang="en-US" altLang="zh-CN" sz="2800" b="1" dirty="0">
                <a:latin typeface="宋体" panose="02010600030101010101" pitchFamily="2" charset="-122"/>
                <a:ea typeface="宋体" panose="02010600030101010101" pitchFamily="2" charset="-122"/>
              </a:rPr>
              <a:t>(6.1)</a:t>
            </a:r>
            <a:r>
              <a:rPr lang="zh-CN" altLang="zh-CN" sz="2800" b="1" dirty="0">
                <a:latin typeface="宋体" panose="02010600030101010101" pitchFamily="2" charset="-122"/>
                <a:ea typeface="宋体" panose="02010600030101010101" pitchFamily="2" charset="-122"/>
              </a:rPr>
              <a:t>和</a:t>
            </a:r>
            <a:r>
              <a:rPr lang="en-US" altLang="zh-CN" sz="2800" b="1" dirty="0">
                <a:latin typeface="宋体" panose="02010600030101010101" pitchFamily="2" charset="-122"/>
                <a:ea typeface="宋体" panose="02010600030101010101" pitchFamily="2" charset="-122"/>
              </a:rPr>
              <a:t>(6.2)</a:t>
            </a:r>
            <a:r>
              <a:rPr lang="zh-CN" altLang="zh-CN" sz="2800" b="1" dirty="0">
                <a:latin typeface="宋体" panose="02010600030101010101" pitchFamily="2" charset="-122"/>
                <a:ea typeface="宋体" panose="02010600030101010101" pitchFamily="2" charset="-122"/>
              </a:rPr>
              <a:t>形式相同，但是含义有所不同，其中</a:t>
            </a:r>
            <a:r>
              <a:rPr lang="en-US" altLang="zh-CN" sz="2800" b="1" dirty="0">
                <a:latin typeface="宋体" panose="02010600030101010101" pitchFamily="2" charset="-122"/>
                <a:ea typeface="宋体" panose="02010600030101010101" pitchFamily="2" charset="-122"/>
              </a:rPr>
              <a:t>(6.2)</a:t>
            </a:r>
            <a:r>
              <a:rPr lang="zh-CN" altLang="zh-CN" sz="2800" b="1" dirty="0">
                <a:latin typeface="宋体" panose="02010600030101010101" pitchFamily="2" charset="-122"/>
                <a:ea typeface="宋体" panose="02010600030101010101" pitchFamily="2" charset="-122"/>
              </a:rPr>
              <a:t>在很多情况下等于</a:t>
            </a:r>
            <a:r>
              <a:rPr lang="en-US" altLang="zh-CN" sz="2800" b="1" dirty="0">
                <a:latin typeface="宋体" panose="02010600030101010101" pitchFamily="2" charset="-122"/>
                <a:ea typeface="宋体" panose="02010600030101010101" pitchFamily="2" charset="-122"/>
              </a:rPr>
              <a:t>0</a:t>
            </a:r>
            <a:r>
              <a:rPr lang="zh-CN" altLang="zh-CN" sz="2800" b="1" dirty="0">
                <a:latin typeface="宋体" panose="02010600030101010101" pitchFamily="2" charset="-122"/>
                <a:ea typeface="宋体" panose="02010600030101010101" pitchFamily="2" charset="-122"/>
              </a:rPr>
              <a:t>，要特别注意体会。</a:t>
            </a:r>
            <a:endParaRPr lang="en-US" altLang="zh-CN" sz="2800" b="1" dirty="0">
              <a:latin typeface="宋体" panose="02010600030101010101" pitchFamily="2" charset="-122"/>
              <a:ea typeface="宋体" panose="02010600030101010101" pitchFamily="2" charset="-122"/>
            </a:endParaRPr>
          </a:p>
          <a:p>
            <a:pPr indent="720000">
              <a:lnSpc>
                <a:spcPct val="150000"/>
              </a:lnSpc>
              <a:spcBef>
                <a:spcPts val="1200"/>
              </a:spcBef>
            </a:pPr>
            <a:r>
              <a:rPr lang="zh-CN" altLang="zh-CN" sz="2800" b="1" dirty="0">
                <a:latin typeface="宋体" panose="02010600030101010101" pitchFamily="2" charset="-122"/>
                <a:ea typeface="宋体" panose="02010600030101010101" pitchFamily="2" charset="-122"/>
              </a:rPr>
              <a:t>样本的联合分布函数或联合密度函数反映了样本的分布状况，它是导出抽样分布的基础。</a:t>
            </a:r>
            <a:endParaRPr lang="zh-CN" altLang="en-US" sz="2800" b="1" dirty="0">
              <a:latin typeface="宋体" panose="02010600030101010101" pitchFamily="2" charset="-122"/>
              <a:ea typeface="宋体" panose="02010600030101010101" pitchFamily="2" charset="-122"/>
            </a:endParaRPr>
          </a:p>
        </p:txBody>
      </p:sp>
      <p:sp>
        <p:nvSpPr>
          <p:cNvPr id="5" name="标题 1"/>
          <p:cNvSpPr txBox="1">
            <a:spLocks/>
          </p:cNvSpPr>
          <p:nvPr/>
        </p:nvSpPr>
        <p:spPr>
          <a:xfrm>
            <a:off x="1790700" y="686474"/>
            <a:ext cx="7094053" cy="916639"/>
          </a:xfrm>
          <a:ln w="9525">
            <a:noFill/>
          </a:ln>
        </p:spPr>
        <p:txBody>
          <a:bodyPr vert="horz" wrap="square" lIns="91440" tIns="45720" rIns="91440" bIns="45720" anchor="ctr"/>
          <a:lstStyle>
            <a:lvl1pPr algn="l" defTabSz="685165"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stStyle>
          <a:p>
            <a:r>
              <a:rPr lang="en-US" altLang="zh-CN" b="1" dirty="0">
                <a:effectLst/>
              </a:rPr>
              <a:t>6.1.3 </a:t>
            </a:r>
            <a:r>
              <a:rPr lang="zh-CN" altLang="en-US" b="1" dirty="0">
                <a:effectLst/>
              </a:rPr>
              <a:t>样本联合分布函数</a:t>
            </a:r>
            <a:r>
              <a:rPr lang="zh-CN" altLang="en-US" dirty="0">
                <a:effectLst/>
              </a:rPr>
              <a:t>（续）</a:t>
            </a:r>
          </a:p>
        </p:txBody>
      </p:sp>
    </p:spTree>
    <p:extLst>
      <p:ext uri="{BB962C8B-B14F-4D97-AF65-F5344CB8AC3E}">
        <p14:creationId xmlns:p14="http://schemas.microsoft.com/office/powerpoint/2010/main" val="3415851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1DCC3A6-76A4-8348-5529-6C963F9B763C}"/>
                  </a:ext>
                </a:extLst>
              </p:cNvPr>
              <p:cNvSpPr txBox="1"/>
              <p:nvPr/>
            </p:nvSpPr>
            <p:spPr>
              <a:xfrm>
                <a:off x="998621" y="747729"/>
                <a:ext cx="9095874" cy="5928739"/>
              </a:xfrm>
              <a:prstGeom prst="rect">
                <a:avLst/>
              </a:prstGeom>
              <a:noFill/>
            </p:spPr>
            <p:txBody>
              <a:bodyPr wrap="square">
                <a:spAutoFit/>
              </a:bodyPr>
              <a:lstStyle/>
              <a:p>
                <a:pPr indent="457200">
                  <a:lnSpc>
                    <a:spcPct val="150000"/>
                  </a:lnSpc>
                </a:pPr>
                <a:r>
                  <a:rPr lang="zh-CN" altLang="en-US" sz="2800" dirty="0">
                    <a:latin typeface="宋体" panose="02010600030101010101" pitchFamily="2" charset="-122"/>
                    <a:ea typeface="宋体" panose="02010600030101010101" pitchFamily="2" charset="-122"/>
                  </a:rPr>
                  <a:t>设</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𝑋</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𝑋</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𝑋</m:t>
                        </m:r>
                      </m:e>
                      <m:sub>
                        <m:r>
                          <a:rPr lang="en-US" altLang="zh-CN" sz="2800" b="0" i="1" smtClean="0">
                            <a:latin typeface="Cambria Math" panose="02040503050406030204" pitchFamily="18" charset="0"/>
                          </a:rPr>
                          <m:t>𝑛</m:t>
                        </m:r>
                      </m:sub>
                    </m:sSub>
                  </m:oMath>
                </a14:m>
                <a:r>
                  <a:rPr lang="zh-CN" altLang="en-US" sz="2800" dirty="0">
                    <a:latin typeface="宋体" panose="02010600030101010101" pitchFamily="2" charset="-122"/>
                    <a:ea typeface="宋体" panose="02010600030101010101" pitchFamily="2" charset="-122"/>
                  </a:rPr>
                  <a:t>是来自正态总体</a:t>
                </a:r>
                <a14:m>
                  <m:oMath xmlns:m="http://schemas.openxmlformats.org/officeDocument/2006/math">
                    <m:r>
                      <a:rPr lang="en-US" altLang="zh-CN" sz="2800" b="0" i="1" smtClean="0">
                        <a:latin typeface="Cambria Math" panose="02040503050406030204" pitchFamily="18" charset="0"/>
                      </a:rPr>
                      <m:t>𝑁</m:t>
                    </m:r>
                    <m:d>
                      <m:dPr>
                        <m:ctrlPr>
                          <a:rPr lang="en-US" altLang="zh-CN" sz="2800" b="0" i="1" smtClean="0">
                            <a:latin typeface="Cambria Math" panose="02040503050406030204" pitchFamily="18" charset="0"/>
                          </a:rPr>
                        </m:ctrlPr>
                      </m:dPr>
                      <m:e>
                        <m:r>
                          <a:rPr lang="zh-CN" altLang="en-US" sz="2800" b="0" i="1" smtClean="0">
                            <a:latin typeface="Cambria Math" panose="02040503050406030204" pitchFamily="18" charset="0"/>
                          </a:rPr>
                          <m:t>𝜇</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zh-CN" altLang="en-US" sz="2800" b="0" i="1" smtClean="0">
                                <a:latin typeface="Cambria Math" panose="02040503050406030204" pitchFamily="18" charset="0"/>
                              </a:rPr>
                              <m:t>𝜎</m:t>
                            </m:r>
                          </m:e>
                          <m:sup>
                            <m:r>
                              <a:rPr lang="en-US" altLang="zh-CN" sz="2800" b="0" i="1" smtClean="0">
                                <a:latin typeface="Cambria Math" panose="02040503050406030204" pitchFamily="18" charset="0"/>
                              </a:rPr>
                              <m:t>2</m:t>
                            </m:r>
                          </m:sup>
                        </m:sSup>
                      </m:e>
                    </m:d>
                  </m:oMath>
                </a14:m>
                <a:r>
                  <a:rPr lang="zh-CN" altLang="en-US" sz="2800" dirty="0">
                    <a:latin typeface="宋体" panose="02010600030101010101" pitchFamily="2" charset="-122"/>
                    <a:ea typeface="宋体" panose="02010600030101010101" pitchFamily="2" charset="-122"/>
                  </a:rPr>
                  <a:t>的随机样本，其中</a:t>
                </a:r>
                <a14:m>
                  <m:oMath xmlns:m="http://schemas.openxmlformats.org/officeDocument/2006/math">
                    <m:r>
                      <a:rPr lang="zh-CN" altLang="en-US" sz="2800" i="1">
                        <a:latin typeface="Cambria Math" panose="02040503050406030204" pitchFamily="18" charset="0"/>
                      </a:rPr>
                      <m:t>𝜇</m:t>
                    </m:r>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zh-CN" altLang="en-US" sz="2800" i="1">
                            <a:latin typeface="Cambria Math" panose="02040503050406030204" pitchFamily="18" charset="0"/>
                          </a:rPr>
                          <m:t>𝜎</m:t>
                        </m:r>
                      </m:e>
                      <m:sup>
                        <m:r>
                          <a:rPr lang="en-US" altLang="zh-CN" sz="2800" i="1">
                            <a:latin typeface="Cambria Math" panose="02040503050406030204" pitchFamily="18" charset="0"/>
                          </a:rPr>
                          <m:t>2</m:t>
                        </m:r>
                      </m:sup>
                    </m:sSup>
                  </m:oMath>
                </a14:m>
                <a:r>
                  <a:rPr lang="zh-CN" altLang="en-US" sz="2800" dirty="0">
                    <a:latin typeface="宋体" panose="02010600030101010101" pitchFamily="2" charset="-122"/>
                    <a:ea typeface="宋体" panose="02010600030101010101" pitchFamily="2" charset="-122"/>
                  </a:rPr>
                  <a:t>是未知参数，求样本的联合密度函数。</a:t>
                </a:r>
                <a:endParaRPr lang="en-US" altLang="zh-CN" sz="2800" dirty="0">
                  <a:latin typeface="宋体" panose="02010600030101010101" pitchFamily="2" charset="-122"/>
                  <a:ea typeface="宋体" panose="02010600030101010101" pitchFamily="2" charset="-122"/>
                </a:endParaRPr>
              </a:p>
              <a:p>
                <a:pPr indent="457200">
                  <a:lnSpc>
                    <a:spcPct val="150000"/>
                  </a:lnSpc>
                </a:pPr>
                <a:r>
                  <a:rPr lang="zh-CN" altLang="en-US" sz="2800" b="1" dirty="0">
                    <a:latin typeface="黑体" panose="02010609060101010101" pitchFamily="49" charset="-122"/>
                    <a:ea typeface="黑体" panose="02010609060101010101" pitchFamily="49" charset="-122"/>
                  </a:rPr>
                  <a:t>解：</a:t>
                </a:r>
                <a:r>
                  <a:rPr lang="zh-CN" altLang="en-US" sz="2800" dirty="0">
                    <a:latin typeface="宋体" panose="02010600030101010101" pitchFamily="2" charset="-122"/>
                    <a:ea typeface="宋体" panose="02010600030101010101" pitchFamily="2" charset="-122"/>
                  </a:rPr>
                  <a:t>因为样本 </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𝑋</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𝑋</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𝑋</m:t>
                        </m:r>
                      </m:e>
                      <m:sub>
                        <m:r>
                          <a:rPr lang="en-US" altLang="zh-CN" sz="2800" b="0" i="1" smtClean="0">
                            <a:latin typeface="Cambria Math" panose="02040503050406030204" pitchFamily="18" charset="0"/>
                          </a:rPr>
                          <m:t>𝑛</m:t>
                        </m:r>
                      </m:sub>
                    </m:sSub>
                  </m:oMath>
                </a14:m>
                <a:r>
                  <a:rPr lang="zh-CN" altLang="en-US" sz="2800" dirty="0">
                    <a:latin typeface="宋体" panose="02010600030101010101" pitchFamily="2" charset="-122"/>
                    <a:ea typeface="宋体" panose="02010600030101010101" pitchFamily="2" charset="-122"/>
                  </a:rPr>
                  <a:t>是简单随机样本，各样本点独立同正态分布。则样本的联合密度函数应该等于各样本点的密度函数之积，即</a:t>
                </a:r>
                <a:endParaRPr lang="en-US" altLang="zh-CN" sz="2800" dirty="0">
                  <a:latin typeface="宋体" panose="02010600030101010101" pitchFamily="2" charset="-122"/>
                  <a:ea typeface="宋体" panose="02010600030101010101" pitchFamily="2" charset="-122"/>
                </a:endParaRPr>
              </a:p>
              <a:p>
                <a:pPr algn="just"/>
                <a14:m>
                  <m:oMathPara xmlns:m="http://schemas.openxmlformats.org/officeDocument/2006/math">
                    <m:oMathParaPr>
                      <m:jc m:val="centerGroup"/>
                    </m:oMathParaPr>
                    <m:oMath xmlns:m="http://schemas.openxmlformats.org/officeDocument/2006/math">
                      <m:eqArr>
                        <m:eqArrPr>
                          <m:ctrlPr>
                            <a:rPr lang="zh-CN" altLang="zh-CN" sz="2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2800" b="0" i="1" kern="100" smtClean="0">
                                  <a:effectLst/>
                                  <a:latin typeface="Cambria Math" charset="0"/>
                                  <a:ea typeface="等线" panose="02010600030101010101" pitchFamily="2" charset="-122"/>
                                  <a:cs typeface="Times New Roman" panose="02020603050405020304" pitchFamily="18" charset="0"/>
                                </a:rPr>
                                <m:t>𝑛</m:t>
                              </m:r>
                            </m:sub>
                          </m:sSub>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𝜇</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𝜎</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naryPr>
                            <m: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𝑖</m:t>
                              </m:r>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=1</m:t>
                              </m:r>
                            </m:sub>
                            <m:sup>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𝑛</m:t>
                              </m:r>
                            </m:sup>
                            <m:e>
                              <m:f>
                                <m:f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1</m:t>
                                  </m:r>
                                </m:num>
                                <m:den>
                                  <m:rad>
                                    <m:radPr>
                                      <m:degHide m:val="on"/>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2</m:t>
                                      </m:r>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𝜋</m:t>
                                      </m:r>
                                    </m:e>
                                  </m:rad>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𝜎</m:t>
                                  </m:r>
                                </m:den>
                              </m:f>
                            </m:e>
                          </m:nary>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𝑒</m:t>
                              </m:r>
                            </m:e>
                            <m:sup>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𝜇</m:t>
                                          </m:r>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𝜎</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den>
                              </m:f>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e>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&amp;=</m:t>
                          </m:r>
                          <m:sSup>
                            <m:sSup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(2</m:t>
                              </m:r>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𝜋</m:t>
                              </m:r>
                              <m:sSup>
                                <m:sSup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𝜎</m:t>
                                  </m:r>
                                </m:e>
                                <m:sup>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2</m:t>
                                  </m:r>
                                </m:sup>
                              </m:sSup>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m:t>
                              </m:r>
                            </m:e>
                            <m:sup>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m:t>
                              </m:r>
                              <m:f>
                                <m:f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𝑛</m:t>
                                  </m:r>
                                </m:num>
                                <m:den>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2</m:t>
                                  </m:r>
                                </m:den>
                              </m:f>
                            </m:sup>
                          </m:sSup>
                          <m:sSup>
                            <m:sSup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𝑒</m:t>
                              </m:r>
                            </m:e>
                            <m:sup>
                              <m:f>
                                <m:f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fPr>
                                <m:num>
                                  <m:nary>
                                    <m:naryPr>
                                      <m:chr m:val="∑"/>
                                      <m:limLoc m:val="undOvr"/>
                                      <m:subHide m:val="on"/>
                                      <m:supHide m:val="on"/>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naryPr>
                                    <m:sub/>
                                    <m:sup/>
                                    <m:e>
                                      <m:sSup>
                                        <m:sSup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𝑖</m:t>
                                                  </m:r>
                                                </m:sub>
                                              </m:s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m:t>
                                              </m:r>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𝜇</m:t>
                                              </m:r>
                                            </m:e>
                                          </m:d>
                                        </m:e>
                                        <m:sup>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2</m:t>
                                          </m:r>
                                        </m:sup>
                                      </m:sSup>
                                    </m:e>
                                  </m:nary>
                                </m:num>
                                <m:den>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2</m:t>
                                  </m:r>
                                  <m:sSup>
                                    <m:sSup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𝜎</m:t>
                                      </m:r>
                                    </m:e>
                                    <m:sup>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2</m:t>
                                      </m:r>
                                    </m:sup>
                                  </m:sSup>
                                </m:den>
                              </m:f>
                            </m:sup>
                          </m:sSup>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,−∞&lt;</m:t>
                          </m:r>
                          <m:sSub>
                            <m:sSub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1</m:t>
                              </m:r>
                            </m:sub>
                          </m:s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𝑛</m:t>
                              </m:r>
                            </m:sub>
                          </m:s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&lt;∞</m:t>
                          </m:r>
                        </m:e>
                      </m:eqArr>
                    </m:oMath>
                  </m:oMathPara>
                </a14:m>
                <a:endParaRPr lang="zh-CN" altLang="zh-CN" sz="2800" kern="100" dirty="0">
                  <a:effectLst/>
                  <a:latin typeface="宋体" panose="02010600030101010101" pitchFamily="2" charset="-122"/>
                  <a:ea typeface="宋体" panose="02010600030101010101" pitchFamily="2" charset="-122"/>
                  <a:cs typeface="Times New Roman" panose="02020603050405020304" pitchFamily="18" charset="0"/>
                </a:endParaRPr>
              </a:p>
              <a:p>
                <a:pPr indent="457200">
                  <a:lnSpc>
                    <a:spcPct val="150000"/>
                  </a:lnSpc>
                </a:pPr>
                <a:endParaRPr lang="zh-CN" altLang="en-US" sz="2800" dirty="0">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51DCC3A6-76A4-8348-5529-6C963F9B763C}"/>
                  </a:ext>
                </a:extLst>
              </p:cNvPr>
              <p:cNvSpPr txBox="1">
                <a:spLocks noRot="1" noChangeAspect="1" noMove="1" noResize="1" noEditPoints="1" noAdjustHandles="1" noChangeArrowheads="1" noChangeShapeType="1" noTextEdit="1"/>
              </p:cNvSpPr>
              <p:nvPr/>
            </p:nvSpPr>
            <p:spPr>
              <a:xfrm>
                <a:off x="998621" y="747729"/>
                <a:ext cx="9095874" cy="5928739"/>
              </a:xfrm>
              <a:prstGeom prst="rect">
                <a:avLst/>
              </a:prstGeom>
              <a:blipFill>
                <a:blip r:embed="rId2"/>
                <a:stretch>
                  <a:fillRect l="-1408" r="-1072"/>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DC7E91D5-7C44-4BEF-0D34-179BCE157000}"/>
              </a:ext>
            </a:extLst>
          </p:cNvPr>
          <p:cNvSpPr>
            <a:spLocks noGrp="1"/>
          </p:cNvSpPr>
          <p:nvPr>
            <p:ph type="title"/>
          </p:nvPr>
        </p:nvSpPr>
        <p:spPr>
          <a:xfrm>
            <a:off x="1961147" y="-1"/>
            <a:ext cx="6672948" cy="1102995"/>
          </a:xfrm>
          <a:ln w="9525">
            <a:noFill/>
          </a:ln>
        </p:spPr>
        <p:txBody>
          <a:bodyPr vert="horz" wrap="square" lIns="91440" tIns="45720" rIns="91440" bIns="45720" anchor="ctr">
            <a:normAutofit/>
          </a:bodyPr>
          <a:lstStyle/>
          <a:p>
            <a:r>
              <a:rPr lang="en-US" altLang="zh-CN" sz="3600" b="1" dirty="0">
                <a:latin typeface="宋体" panose="02010600030101010101" pitchFamily="2" charset="-122"/>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例</a:t>
            </a:r>
            <a:r>
              <a:rPr lang="en-US" altLang="zh-CN" sz="3600" b="1" dirty="0">
                <a:latin typeface="宋体" panose="02010600030101010101" pitchFamily="2" charset="-122"/>
                <a:ea typeface="宋体" panose="02010600030101010101" pitchFamily="2" charset="-122"/>
              </a:rPr>
              <a:t>6.1】</a:t>
            </a:r>
            <a:endParaRPr lang="zh-CN" altLang="en-US"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itchFamily="34" charset="-122"/>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white">
                  <a:lumMod val="95000"/>
                </a:prstClr>
              </a:solidFill>
              <a:effectLst/>
              <a:uLnTx/>
              <a:uFillTx/>
              <a:latin typeface="微软雅黑" pitchFamily="34" charset="-122"/>
              <a:ea typeface="微软雅黑" pitchFamily="34" charset="-122"/>
              <a:cs typeface="+mn-cs"/>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99865E4-8565-98B3-5B18-401C6E7C0F6F}"/>
                  </a:ext>
                </a:extLst>
              </p:cNvPr>
              <p:cNvSpPr txBox="1"/>
              <p:nvPr/>
            </p:nvSpPr>
            <p:spPr>
              <a:xfrm>
                <a:off x="988623" y="730018"/>
                <a:ext cx="9561268" cy="6240811"/>
              </a:xfrm>
              <a:prstGeom prst="rect">
                <a:avLst/>
              </a:prstGeom>
              <a:noFill/>
            </p:spPr>
            <p:txBody>
              <a:bodyPr wrap="square">
                <a:spAutoFit/>
              </a:bodyPr>
              <a:lstStyle/>
              <a:p>
                <a:pPr indent="720000">
                  <a:lnSpc>
                    <a:spcPct val="150000"/>
                  </a:lnSpc>
                </a:pPr>
                <a:r>
                  <a:rPr lang="zh-CN" altLang="en-US" sz="2800" dirty="0">
                    <a:latin typeface="宋体" panose="02010600030101010101" pitchFamily="2" charset="-122"/>
                    <a:ea typeface="宋体" panose="02010600030101010101" pitchFamily="2" charset="-122"/>
                  </a:rPr>
                  <a:t>设总体</a:t>
                </a:r>
                <a:r>
                  <a:rPr lang="en-US" altLang="zh-CN" sz="2800" dirty="0">
                    <a:latin typeface="宋体" panose="02010600030101010101" pitchFamily="2" charset="-122"/>
                    <a:ea typeface="宋体" panose="02010600030101010101" pitchFamily="2" charset="-122"/>
                  </a:rPr>
                  <a:t>X</a:t>
                </a:r>
                <a:r>
                  <a:rPr lang="zh-CN" altLang="en-US" sz="2800" dirty="0">
                    <a:latin typeface="宋体" panose="02010600030101010101" pitchFamily="2" charset="-122"/>
                    <a:ea typeface="宋体" panose="02010600030101010101" pitchFamily="2" charset="-122"/>
                  </a:rPr>
                  <a:t>服从</a:t>
                </a:r>
                <a:r>
                  <a:rPr lang="en-US" altLang="zh-CN" sz="2800" dirty="0">
                    <a:latin typeface="宋体" panose="02010600030101010101" pitchFamily="2" charset="-122"/>
                    <a:ea typeface="宋体" panose="02010600030101010101" pitchFamily="2" charset="-122"/>
                  </a:rPr>
                  <a:t>Poisson</a:t>
                </a:r>
                <a:r>
                  <a:rPr lang="zh-CN" altLang="en-US" sz="2800" dirty="0">
                    <a:latin typeface="宋体" panose="02010600030101010101" pitchFamily="2" charset="-122"/>
                    <a:ea typeface="宋体" panose="02010600030101010101" pitchFamily="2" charset="-122"/>
                  </a:rPr>
                  <a:t>分布，即</a:t>
                </a:r>
                <a14:m>
                  <m:oMath xmlns:m="http://schemas.openxmlformats.org/officeDocument/2006/math">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𝑋</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𝐵</m:t>
                    </m:r>
                    <m:d>
                      <m:d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𝑝</m:t>
                        </m:r>
                      </m:e>
                    </m:d>
                  </m:oMath>
                </a14:m>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a:t>
                </a:r>
                <a14:m>
                  <m:oMath xmlns:m="http://schemas.openxmlformats.org/officeDocument/2006/math">
                    <m:sSub>
                      <m:sSubPr>
                        <m:ctrlPr>
                          <a:rPr lang="zh-CN" altLang="zh-CN" sz="2800" i="1">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等线" panose="02010600030101010101" pitchFamily="2" charset="-122"/>
                            <a:cs typeface="Times New Roman" panose="02020603050405020304" pitchFamily="18" charset="0"/>
                          </a:rPr>
                          <m:t>𝑛</m:t>
                        </m:r>
                      </m:sub>
                    </m:sSub>
                  </m:oMath>
                </a14:m>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为该总体的样本，试求样本</a:t>
                </a:r>
                <a:r>
                  <a:rPr lang="en-US" altLang="zh-CN" sz="2800" dirty="0">
                    <a:latin typeface="宋体" panose="02010600030101010101" pitchFamily="2" charset="-122"/>
                    <a:ea typeface="宋体" panose="02010600030101010101" pitchFamily="2" charset="-122"/>
                  </a:rPr>
                  <a:t>(</a:t>
                </a:r>
                <a14:m>
                  <m:oMath xmlns:m="http://schemas.openxmlformats.org/officeDocument/2006/math">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等线" panose="02010600030101010101" pitchFamily="2" charset="-122"/>
                            <a:cs typeface="Times New Roman" panose="02020603050405020304" pitchFamily="18" charset="0"/>
                          </a:rPr>
                          <m:t>𝑛</m:t>
                        </m:r>
                      </m:sub>
                    </m:sSub>
                  </m:oMath>
                </a14:m>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的联合分布。</a:t>
                </a:r>
                <a:endParaRPr lang="en-US" altLang="zh-CN" sz="2800" dirty="0">
                  <a:latin typeface="宋体" panose="02010600030101010101" pitchFamily="2" charset="-122"/>
                  <a:ea typeface="宋体" panose="02010600030101010101" pitchFamily="2" charset="-122"/>
                </a:endParaRPr>
              </a:p>
              <a:p>
                <a:pPr indent="720000" algn="just">
                  <a:lnSpc>
                    <a:spcPct val="150000"/>
                  </a:lnSpc>
                </a:pPr>
                <a:r>
                  <a:rPr lang="zh-CN" altLang="en-US" sz="2800" b="1" dirty="0">
                    <a:latin typeface="黑体" panose="02010609060101010101" pitchFamily="49" charset="-122"/>
                    <a:ea typeface="黑体" panose="02010609060101010101" pitchFamily="49" charset="-122"/>
                  </a:rPr>
                  <a:t>解</a:t>
                </a:r>
                <a:r>
                  <a:rPr lang="zh-CN" altLang="en-US" sz="2800" dirty="0">
                    <a:latin typeface="宋体" panose="02010600030101010101" pitchFamily="2" charset="-122"/>
                    <a:ea typeface="宋体" panose="02010600030101010101" pitchFamily="2" charset="-122"/>
                  </a:rPr>
                  <a:t>：因为</a:t>
                </a:r>
                <a14:m>
                  <m:oMath xmlns:m="http://schemas.openxmlformats.org/officeDocument/2006/math">
                    <m:r>
                      <a:rPr lang="en-US" altLang="zh-CN" sz="2800">
                        <a:latin typeface="Cambria Math" panose="02040503050406030204" pitchFamily="18" charset="0"/>
                      </a:rPr>
                      <m:t>𝑋</m:t>
                    </m:r>
                    <m:r>
                      <a:rPr lang="en-US" altLang="zh-CN" sz="2800">
                        <a:latin typeface="Cambria Math" panose="02040503050406030204" pitchFamily="18" charset="0"/>
                      </a:rPr>
                      <m:t>~</m:t>
                    </m:r>
                    <m:r>
                      <a:rPr lang="en-US" altLang="zh-CN" sz="2800">
                        <a:latin typeface="Cambria Math" panose="02040503050406030204" pitchFamily="18" charset="0"/>
                      </a:rPr>
                      <m:t>𝐵</m:t>
                    </m:r>
                    <m:d>
                      <m:dPr>
                        <m:ctrlPr>
                          <a:rPr lang="zh-CN" altLang="zh-CN" sz="2800" i="1">
                            <a:latin typeface="Cambria Math" panose="02040503050406030204" pitchFamily="18" charset="0"/>
                          </a:rPr>
                        </m:ctrlPr>
                      </m:dPr>
                      <m:e>
                        <m:r>
                          <a:rPr lang="en-US" altLang="zh-CN" sz="2800">
                            <a:latin typeface="Cambria Math" panose="02040503050406030204" pitchFamily="18" charset="0"/>
                          </a:rPr>
                          <m:t>1,</m:t>
                        </m:r>
                        <m:r>
                          <a:rPr lang="en-US" altLang="zh-CN" sz="2800">
                            <a:latin typeface="Cambria Math" panose="02040503050406030204" pitchFamily="18" charset="0"/>
                          </a:rPr>
                          <m:t>𝑝</m:t>
                        </m:r>
                      </m:e>
                    </m:d>
                    <m:r>
                      <a:rPr lang="zh-CN" altLang="en-US" sz="2800">
                        <a:latin typeface="Cambria Math" panose="02040503050406030204" pitchFamily="18" charset="0"/>
                      </a:rPr>
                      <m:t>，</m:t>
                    </m:r>
                  </m:oMath>
                </a14:m>
                <a:r>
                  <a:rPr lang="zh-CN" altLang="en-US" sz="2800" dirty="0">
                    <a:latin typeface="宋体" panose="02010600030101010101" pitchFamily="2" charset="-122"/>
                    <a:ea typeface="宋体" panose="02010600030101010101" pitchFamily="2" charset="-122"/>
                  </a:rPr>
                  <a:t>所以</a:t>
                </a:r>
                <a:r>
                  <a:rPr lang="en-US" altLang="zh-CN" sz="2800" dirty="0">
                    <a:latin typeface="宋体" panose="02010600030101010101" pitchFamily="2" charset="-122"/>
                    <a:ea typeface="宋体" panose="02010600030101010101" pitchFamily="2" charset="-122"/>
                  </a:rPr>
                  <a:t>X</a:t>
                </a:r>
                <a:r>
                  <a:rPr lang="zh-CN" altLang="en-US" sz="2800" dirty="0">
                    <a:latin typeface="宋体" panose="02010600030101010101" pitchFamily="2" charset="-122"/>
                    <a:ea typeface="宋体" panose="02010600030101010101" pitchFamily="2" charset="-122"/>
                  </a:rPr>
                  <a:t>的概率分布可以表示为：</a:t>
                </a:r>
                <a:endParaRPr lang="zh-CN" altLang="zh-CN" sz="2800" dirty="0">
                  <a:latin typeface="宋体" panose="02010600030101010101" pitchFamily="2" charset="-122"/>
                  <a:ea typeface="宋体" panose="02010600030101010101" pitchFamily="2" charset="-122"/>
                </a:endParaRPr>
              </a:p>
              <a:p>
                <a:pPr indent="720000">
                  <a:lnSpc>
                    <a:spcPct val="150000"/>
                  </a:lnSpc>
                </a:pPr>
                <a14:m>
                  <m:oMathPara xmlns:m="http://schemas.openxmlformats.org/officeDocument/2006/math">
                    <m:oMathParaPr>
                      <m:jc m:val="centerGroup"/>
                    </m:oMathParaPr>
                    <m:oMath xmlns:m="http://schemas.openxmlformats.org/officeDocument/2006/math">
                      <m:r>
                        <a:rPr lang="en-US" altLang="zh-CN" sz="2800" i="1" kern="100" smtClean="0">
                          <a:effectLst/>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sup>
                      </m:sSup>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sup>
                      </m:sSup>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=0,1</m:t>
                          </m:r>
                        </m:e>
                      </m:d>
                    </m:oMath>
                  </m:oMathPara>
                </a14:m>
                <a:endParaRPr lang="en-US" altLang="zh-CN" sz="2800" kern="100" dirty="0">
                  <a:effectLst/>
                  <a:latin typeface="宋体" panose="02010600030101010101" pitchFamily="2" charset="-122"/>
                  <a:ea typeface="宋体" panose="02010600030101010101" pitchFamily="2" charset="-122"/>
                  <a:cs typeface="Times New Roman" panose="02020603050405020304" pitchFamily="18" charset="0"/>
                </a:endParaRPr>
              </a:p>
              <a:p>
                <a:pPr indent="720000" algn="just">
                  <a:lnSpc>
                    <a:spcPct val="150000"/>
                  </a:lnSpc>
                </a:pPr>
                <a:r>
                  <a:rPr lang="zh-CN" altLang="en-US" sz="2800" dirty="0">
                    <a:latin typeface="宋体" panose="02010600030101010101" pitchFamily="2" charset="-122"/>
                    <a:ea typeface="宋体" panose="02010600030101010101" pitchFamily="2" charset="-122"/>
                  </a:rPr>
                  <a:t>则</a:t>
                </a:r>
                <a:r>
                  <a:rPr lang="zh-CN" altLang="zh-CN" sz="2800" dirty="0">
                    <a:latin typeface="宋体" panose="02010600030101010101" pitchFamily="2" charset="-122"/>
                    <a:ea typeface="宋体" panose="02010600030101010101" pitchFamily="2" charset="-122"/>
                  </a:rPr>
                  <a:t>样本的联合密度函数为：</a:t>
                </a:r>
                <a:endParaRPr lang="en-US" altLang="zh-CN" sz="2800" dirty="0">
                  <a:latin typeface="宋体" panose="02010600030101010101" pitchFamily="2" charset="-122"/>
                  <a:ea typeface="宋体" panose="02010600030101010101" pitchFamily="2" charset="-122"/>
                </a:endParaRPr>
              </a:p>
              <a:p>
                <a:pPr indent="720000" algn="just"/>
                <a14:m>
                  <m:oMathPara xmlns:m="http://schemas.openxmlformats.org/officeDocument/2006/math">
                    <m:oMathParaPr>
                      <m:jc m:val="centerGroup"/>
                    </m:oMathParaPr>
                    <m:oMath xmlns:m="http://schemas.openxmlformats.org/officeDocument/2006/math">
                      <m:eqArr>
                        <m:eqArrPr>
                          <m:ctrlPr>
                            <a:rPr lang="zh-CN" altLang="zh-CN" sz="2800" i="1" kern="100" smtClean="0">
                              <a:effectLst/>
                              <a:latin typeface="Cambria Math" panose="02040503050406030204" pitchFamily="18" charset="0"/>
                              <a:ea typeface="Cambria Math" panose="02040503050406030204" pitchFamily="18" charset="0"/>
                              <a:cs typeface="Cambria Math" panose="02040503050406030204" pitchFamily="18" charset="0"/>
                            </a:rPr>
                          </m:ctrlPr>
                        </m:eqArrPr>
                        <m:e>
                          <m:sSub>
                            <m:sSubPr>
                              <m:ctrlPr>
                                <a:rPr lang="en-US" altLang="zh-CN" sz="2800" b="0" i="1" kern="100"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800" b="0" i="1" kern="100" smtClean="0">
                                  <a:effectLst/>
                                  <a:latin typeface="Cambria Math" charset="0"/>
                                  <a:ea typeface="Cambria Math" panose="02040503050406030204" pitchFamily="18" charset="0"/>
                                  <a:cs typeface="Cambria Math" panose="02040503050406030204" pitchFamily="18" charset="0"/>
                                </a:rPr>
                                <m:t>𝑓</m:t>
                              </m:r>
                            </m:e>
                            <m:sub>
                              <m:r>
                                <a:rPr lang="en-US" altLang="zh-CN" sz="2800" b="0" i="1" kern="100" smtClean="0">
                                  <a:effectLst/>
                                  <a:latin typeface="Cambria Math" charset="0"/>
                                  <a:ea typeface="Cambria Math" panose="02040503050406030204" pitchFamily="18" charset="0"/>
                                  <a:cs typeface="Cambria Math" panose="02040503050406030204" pitchFamily="18" charset="0"/>
                                </a:rPr>
                                <m:t>𝑛</m:t>
                              </m:r>
                            </m:sub>
                          </m:sSub>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naryPr>
                            <m: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𝑖</m:t>
                              </m:r>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=1</m:t>
                              </m:r>
                            </m:sub>
                            <m:sup>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𝑛</m:t>
                              </m:r>
                            </m:sup>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𝑓</m:t>
                              </m:r>
                              <m:d>
                                <m:d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𝑖</m:t>
                                      </m:r>
                                    </m:sub>
                                  </m:sSub>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m:t>
                                  </m:r>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𝑝</m:t>
                                  </m:r>
                                </m:e>
                              </m:d>
                            </m:e>
                          </m:nary>
                          <m:r>
                            <a:rPr lang="en-US" altLang="zh-CN" sz="2800" i="1" kern="100">
                              <a:solidFill>
                                <a:prstClr val="black"/>
                              </a:solidFill>
                              <a:latin typeface="Cambria Math" panose="02040503050406030204" pitchFamily="18" charset="0"/>
                              <a:ea typeface="Cambria Math" panose="02040503050406030204" pitchFamily="18" charset="0"/>
                              <a:cs typeface="Cambria Math" panose="02040503050406030204" pitchFamily="18" charset="0"/>
                            </a:rPr>
                            <m:t>=</m:t>
                          </m:r>
                          <m:nary>
                            <m:naryPr>
                              <m:chr m:val="∏"/>
                              <m:limLoc m:val="undOvr"/>
                              <m:ctrlPr>
                                <a:rPr lang="zh-CN" altLang="zh-CN" sz="2800" i="1" kern="100">
                                  <a:solidFill>
                                    <a:prstClr val="black"/>
                                  </a:solidFill>
                                  <a:latin typeface="Cambria Math" panose="02040503050406030204" pitchFamily="18" charset="0"/>
                                  <a:ea typeface="Cambria Math" panose="02040503050406030204" pitchFamily="18" charset="0"/>
                                  <a:cs typeface="Cambria Math" panose="02040503050406030204" pitchFamily="18" charset="0"/>
                                </a:rPr>
                              </m:ctrlPr>
                            </m:naryPr>
                            <m:sub>
                              <m:r>
                                <a:rPr lang="en-US" altLang="zh-CN" sz="2800" i="1" kern="100">
                                  <a:solidFill>
                                    <a:prstClr val="black"/>
                                  </a:solidFill>
                                  <a:latin typeface="Cambria Math" panose="02040503050406030204" pitchFamily="18" charset="0"/>
                                  <a:ea typeface="Cambria Math" panose="02040503050406030204" pitchFamily="18" charset="0"/>
                                  <a:cs typeface="Cambria Math" panose="02040503050406030204" pitchFamily="18" charset="0"/>
                                </a:rPr>
                                <m:t>𝑖</m:t>
                              </m:r>
                              <m:r>
                                <a:rPr lang="en-US" altLang="zh-CN" sz="2800" i="1" kern="100">
                                  <a:solidFill>
                                    <a:prstClr val="black"/>
                                  </a:solidFill>
                                  <a:latin typeface="Cambria Math" panose="02040503050406030204" pitchFamily="18" charset="0"/>
                                  <a:ea typeface="Cambria Math" panose="02040503050406030204" pitchFamily="18" charset="0"/>
                                  <a:cs typeface="Cambria Math" panose="02040503050406030204" pitchFamily="18" charset="0"/>
                                </a:rPr>
                                <m:t>=1</m:t>
                              </m:r>
                            </m:sub>
                            <m:sup>
                              <m:r>
                                <a:rPr lang="en-US" altLang="zh-CN" sz="2800" i="1" kern="100">
                                  <a:solidFill>
                                    <a:prstClr val="black"/>
                                  </a:solidFill>
                                  <a:latin typeface="Cambria Math" panose="02040503050406030204" pitchFamily="18" charset="0"/>
                                  <a:ea typeface="Cambria Math" panose="02040503050406030204" pitchFamily="18" charset="0"/>
                                  <a:cs typeface="Cambria Math" panose="02040503050406030204" pitchFamily="18" charset="0"/>
                                </a:rPr>
                                <m:t>𝑛</m:t>
                              </m:r>
                            </m:sup>
                            <m:e>
                              <m:sSup>
                                <m:sSupPr>
                                  <m:ctrlPr>
                                    <a:rPr lang="zh-CN" altLang="zh-CN" sz="28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prstClr val="black"/>
                                      </a:solidFill>
                                      <a:latin typeface="Cambria Math" panose="02040503050406030204" pitchFamily="18" charset="0"/>
                                      <a:cs typeface="Times New Roman" panose="02020603050405020304" pitchFamily="18" charset="0"/>
                                    </a:rPr>
                                    <m:t>𝑝</m:t>
                                  </m:r>
                                </m:e>
                                <m:sup>
                                  <m:sSub>
                                    <m:sSubPr>
                                      <m:ctrlPr>
                                        <a:rPr lang="zh-CN" altLang="zh-CN" sz="28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solidFill>
                                            <a:prstClr val="black"/>
                                          </a:solidFill>
                                          <a:latin typeface="Cambria Math" panose="02040503050406030204" pitchFamily="18" charset="0"/>
                                          <a:cs typeface="Times New Roman" panose="02020603050405020304" pitchFamily="18" charset="0"/>
                                        </a:rPr>
                                        <m:t>𝑥</m:t>
                                      </m:r>
                                    </m:e>
                                    <m:sub>
                                      <m:r>
                                        <a:rPr lang="en-US" altLang="zh-CN" sz="2800" i="1" kern="100">
                                          <a:solidFill>
                                            <a:prstClr val="black"/>
                                          </a:solidFill>
                                          <a:latin typeface="Cambria Math" panose="02040503050406030204" pitchFamily="18" charset="0"/>
                                          <a:cs typeface="Times New Roman" panose="02020603050405020304" pitchFamily="18" charset="0"/>
                                        </a:rPr>
                                        <m:t>𝑖</m:t>
                                      </m:r>
                                    </m:sub>
                                  </m:sSub>
                                </m:sup>
                              </m:sSup>
                              <m:sSup>
                                <m:sSupPr>
                                  <m:ctrlPr>
                                    <a:rPr lang="zh-CN" altLang="zh-CN" sz="28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solidFill>
                                            <a:prstClr val="black"/>
                                          </a:solidFill>
                                          <a:latin typeface="Cambria Math" panose="02040503050406030204" pitchFamily="18" charset="0"/>
                                          <a:cs typeface="Times New Roman" panose="02020603050405020304" pitchFamily="18" charset="0"/>
                                        </a:rPr>
                                        <m:t>1−</m:t>
                                      </m:r>
                                      <m:r>
                                        <a:rPr lang="en-US" altLang="zh-CN" sz="2800" i="1" kern="100">
                                          <a:solidFill>
                                            <a:prstClr val="black"/>
                                          </a:solidFill>
                                          <a:latin typeface="Cambria Math" panose="02040503050406030204" pitchFamily="18" charset="0"/>
                                          <a:cs typeface="Times New Roman" panose="02020603050405020304" pitchFamily="18" charset="0"/>
                                        </a:rPr>
                                        <m:t>𝑝</m:t>
                                      </m:r>
                                    </m:e>
                                  </m:d>
                                </m:e>
                                <m:sup>
                                  <m:r>
                                    <a:rPr lang="en-US" altLang="zh-CN" sz="2800" i="1" kern="100">
                                      <a:solidFill>
                                        <a:prstClr val="black"/>
                                      </a:solidFill>
                                      <a:latin typeface="Cambria Math" panose="02040503050406030204" pitchFamily="18" charset="0"/>
                                      <a:cs typeface="Times New Roman" panose="02020603050405020304" pitchFamily="18" charset="0"/>
                                    </a:rPr>
                                    <m:t>1−</m:t>
                                  </m:r>
                                  <m:sSub>
                                    <m:sSubPr>
                                      <m:ctrlPr>
                                        <a:rPr lang="zh-CN" altLang="zh-CN" sz="28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solidFill>
                                            <a:prstClr val="black"/>
                                          </a:solidFill>
                                          <a:latin typeface="Cambria Math" panose="02040503050406030204" pitchFamily="18" charset="0"/>
                                          <a:cs typeface="Times New Roman" panose="02020603050405020304" pitchFamily="18" charset="0"/>
                                        </a:rPr>
                                        <m:t>𝑥</m:t>
                                      </m:r>
                                    </m:e>
                                    <m:sub>
                                      <m:r>
                                        <a:rPr lang="en-US" altLang="zh-CN" sz="2800" i="1" kern="100">
                                          <a:solidFill>
                                            <a:prstClr val="black"/>
                                          </a:solidFill>
                                          <a:latin typeface="Cambria Math" panose="02040503050406030204" pitchFamily="18" charset="0"/>
                                          <a:cs typeface="Times New Roman" panose="02020603050405020304" pitchFamily="18" charset="0"/>
                                        </a:rPr>
                                        <m:t>𝑖</m:t>
                                      </m:r>
                                    </m:sub>
                                  </m:sSub>
                                </m:sup>
                              </m:sSup>
                            </m:e>
                          </m:nary>
                        </m:e>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m:t>
                          </m:r>
                        </m:e>
                        <m:e>
                          <m:r>
                            <a:rPr lang="en-US" altLang="zh-CN" sz="2800" i="1" kern="100">
                              <a:effectLst/>
                              <a:latin typeface="Cambria Math" panose="02040503050406030204" pitchFamily="18" charset="0"/>
                              <a:ea typeface="Cambria Math" panose="02040503050406030204" pitchFamily="18" charset="0"/>
                              <a:cs typeface="Cambria Math" panose="02040503050406030204" pitchFamily="18" charset="0"/>
                            </a:rPr>
                            <m:t>&amp;=</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e>
                            <m:sup>
                              <m:nary>
                                <m:naryPr>
                                  <m:chr m:val="∑"/>
                                  <m:limLoc m:val="undOv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Sub>
                                </m:e>
                              </m:nary>
                            </m:sup>
                          </m:sSup>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Sub>
                                </m:e>
                              </m:nary>
                            </m:sup>
                          </m:sSup>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=1,2,…,</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e>
                          </m:d>
                        </m:e>
                      </m:eqArr>
                    </m:oMath>
                  </m:oMathPara>
                </a14:m>
                <a:endParaRPr lang="zh-CN" altLang="zh-CN" sz="2800" kern="100" dirty="0">
                  <a:effectLst/>
                  <a:latin typeface="宋体" panose="02010600030101010101" pitchFamily="2" charset="-122"/>
                  <a:ea typeface="宋体" panose="02010600030101010101" pitchFamily="2" charset="-122"/>
                  <a:cs typeface="Times New Roman" panose="02020603050405020304" pitchFamily="18" charset="0"/>
                </a:endParaRPr>
              </a:p>
              <a:p>
                <a:pPr indent="720000" algn="just"/>
                <a:endParaRPr lang="zh-CN" altLang="zh-CN" sz="2800" dirty="0">
                  <a:latin typeface="宋体" panose="02010600030101010101" pitchFamily="2" charset="-122"/>
                  <a:ea typeface="宋体" panose="02010600030101010101" pitchFamily="2" charset="-122"/>
                </a:endParaRPr>
              </a:p>
              <a:p>
                <a:pPr indent="720000">
                  <a:lnSpc>
                    <a:spcPct val="150000"/>
                  </a:lnSpc>
                </a:pPr>
                <a:endParaRPr lang="zh-CN" altLang="en-US" sz="2800" dirty="0">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399865E4-8565-98B3-5B18-401C6E7C0F6F}"/>
                  </a:ext>
                </a:extLst>
              </p:cNvPr>
              <p:cNvSpPr txBox="1">
                <a:spLocks noRot="1" noChangeAspect="1" noMove="1" noResize="1" noEditPoints="1" noAdjustHandles="1" noChangeArrowheads="1" noChangeShapeType="1" noTextEdit="1"/>
              </p:cNvSpPr>
              <p:nvPr/>
            </p:nvSpPr>
            <p:spPr>
              <a:xfrm>
                <a:off x="988623" y="730018"/>
                <a:ext cx="9561268" cy="6240811"/>
              </a:xfrm>
              <a:prstGeom prst="rect">
                <a:avLst/>
              </a:prstGeom>
              <a:blipFill>
                <a:blip r:embed="rId2"/>
                <a:stretch>
                  <a:fillRect l="-1275" r="-446"/>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2DB57B7B-5010-ACD4-21BE-FB73390242CA}"/>
              </a:ext>
            </a:extLst>
          </p:cNvPr>
          <p:cNvSpPr>
            <a:spLocks noGrp="1"/>
          </p:cNvSpPr>
          <p:nvPr>
            <p:ph type="title"/>
          </p:nvPr>
        </p:nvSpPr>
        <p:spPr>
          <a:xfrm>
            <a:off x="1985211" y="-1"/>
            <a:ext cx="6648884" cy="1102995"/>
          </a:xfrm>
          <a:ln w="9525">
            <a:noFill/>
          </a:ln>
        </p:spPr>
        <p:txBody>
          <a:bodyPr vert="horz" wrap="square" lIns="91440" tIns="45720" rIns="91440" bIns="45720" anchor="ctr"/>
          <a:lstStyle/>
          <a:p>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例</a:t>
            </a:r>
            <a:r>
              <a:rPr lang="en-US" altLang="zh-CN" b="1" dirty="0">
                <a:latin typeface="宋体" panose="02010600030101010101" pitchFamily="2" charset="-122"/>
                <a:ea typeface="宋体" panose="02010600030101010101" pitchFamily="2" charset="-122"/>
              </a:rPr>
              <a:t>6.2】</a:t>
            </a:r>
            <a:endParaRPr lang="zh-CN" alt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67737696-94B0-B69F-91E2-A9C7C1347CF6}"/>
              </a:ext>
            </a:extLst>
          </p:cNvPr>
          <p:cNvSpPr>
            <a:spLocks noGrp="1"/>
          </p:cNvSpPr>
          <p:nvPr>
            <p:ph type="ctrTitle"/>
          </p:nvPr>
        </p:nvSpPr>
        <p:spPr>
          <a:xfrm>
            <a:off x="1925052" y="987174"/>
            <a:ext cx="8738937" cy="1746567"/>
          </a:xfrm>
        </p:spPr>
        <p:txBody>
          <a:bodyPr/>
          <a:lstStyle/>
          <a:p>
            <a:r>
              <a:rPr lang="en-US" altLang="zh-CN" dirty="0"/>
              <a:t>6.2 </a:t>
            </a:r>
            <a:r>
              <a:rPr lang="zh-CN" altLang="en-US" dirty="0"/>
              <a:t>样本统计量及其分布</a:t>
            </a:r>
          </a:p>
        </p:txBody>
      </p:sp>
      <p:sp>
        <p:nvSpPr>
          <p:cNvPr id="3" name="Rectangle 3"/>
          <p:cNvSpPr txBox="1">
            <a:spLocks noChangeArrowheads="1"/>
          </p:cNvSpPr>
          <p:nvPr/>
        </p:nvSpPr>
        <p:spPr>
          <a:xfrm>
            <a:off x="3922295" y="2733741"/>
            <a:ext cx="6741694" cy="2522788"/>
          </a:xfrm>
          <a:prstGeom prst="rect">
            <a:avLst/>
          </a:prstGeom>
        </p:spPr>
        <p:txBody>
          <a:bodyPr vert="horz" lIns="91440" tIns="45720" rIns="91440" bIns="45720" rtlCol="0">
            <a:normAutofit fontScale="92500" lnSpcReduction="10000"/>
          </a:bodyPr>
          <a:lstStyle>
            <a:lvl1pPr marL="0" indent="0" algn="ctr" defTabSz="685783" rtl="0" eaLnBrk="1" latinLnBrk="0" hangingPunct="1">
              <a:lnSpc>
                <a:spcPct val="100000"/>
              </a:lnSpc>
              <a:spcBef>
                <a:spcPts val="751"/>
              </a:spcBef>
              <a:spcAft>
                <a:spcPts val="225"/>
              </a:spcAft>
              <a:buSzPct val="80000"/>
              <a:buFont typeface="Wingdings" panose="05000000000000000000" pitchFamily="2" charset="2"/>
              <a:buNone/>
              <a:defRPr sz="2800" b="1" kern="1200">
                <a:solidFill>
                  <a:schemeClr val="accent1">
                    <a:lumMod val="75000"/>
                  </a:schemeClr>
                </a:solidFill>
                <a:effectLst/>
                <a:latin typeface="微软雅黑" panose="020B0503020204020204" pitchFamily="34" charset="-122"/>
                <a:ea typeface="微软雅黑" panose="020B0503020204020204" pitchFamily="34" charset="-122"/>
                <a:cs typeface="+mn-cs"/>
              </a:defRPr>
            </a:lvl1pPr>
            <a:lvl2pPr marL="342891" indent="0" algn="ctr" defTabSz="685783" rtl="0" eaLnBrk="1" fontAlgn="ctr" latinLnBrk="0" hangingPunct="1">
              <a:lnSpc>
                <a:spcPct val="100000"/>
              </a:lnSpc>
              <a:spcBef>
                <a:spcPts val="375"/>
              </a:spcBef>
              <a:spcAft>
                <a:spcPts val="225"/>
              </a:spcAft>
              <a:buSzPct val="80000"/>
              <a:buFont typeface="Wingdings" panose="05000000000000000000" pitchFamily="2" charset="2"/>
              <a:buNone/>
              <a:defRPr sz="1500" kern="1200">
                <a:solidFill>
                  <a:srgbClr val="2F5597"/>
                </a:solidFill>
                <a:latin typeface="微软雅黑" panose="020B0503020204020204" pitchFamily="34" charset="-122"/>
                <a:ea typeface="微软雅黑" panose="020B0503020204020204" pitchFamily="34" charset="-122"/>
                <a:cs typeface="+mn-cs"/>
              </a:defRPr>
            </a:lvl2pPr>
            <a:lvl3pPr marL="685783" indent="0" algn="ctr" defTabSz="685783" rtl="0" eaLnBrk="1" fontAlgn="ctr" latinLnBrk="0" hangingPunct="1">
              <a:lnSpc>
                <a:spcPct val="100000"/>
              </a:lnSpc>
              <a:spcBef>
                <a:spcPts val="375"/>
              </a:spcBef>
              <a:spcAft>
                <a:spcPts val="225"/>
              </a:spcAft>
              <a:buSzPct val="70000"/>
              <a:buFont typeface="Wingdings" panose="05000000000000000000" pitchFamily="2" charset="2"/>
              <a:buNone/>
              <a:defRPr sz="1351" kern="1200">
                <a:solidFill>
                  <a:srgbClr val="2F5597"/>
                </a:solidFill>
                <a:latin typeface="微软雅黑" panose="020B0503020204020204" pitchFamily="34" charset="-122"/>
                <a:ea typeface="微软雅黑" panose="020B0503020204020204" pitchFamily="34" charset="-122"/>
                <a:cs typeface="+mn-cs"/>
              </a:defRPr>
            </a:lvl3pPr>
            <a:lvl4pPr marL="1028674" indent="0" algn="ctr" defTabSz="685783" rtl="0" eaLnBrk="1" fontAlgn="ctr" latinLnBrk="0" hangingPunct="1">
              <a:lnSpc>
                <a:spcPct val="100000"/>
              </a:lnSpc>
              <a:spcBef>
                <a:spcPts val="375"/>
              </a:spcBef>
              <a:spcAft>
                <a:spcPts val="225"/>
              </a:spcAft>
              <a:buSzPct val="80000"/>
              <a:buFont typeface="Wingdings" panose="05000000000000000000" pitchFamily="2" charset="2"/>
              <a:buNone/>
              <a:defRPr sz="12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1371566"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微软雅黑" panose="020B0503020204020204" pitchFamily="34" charset="-122"/>
                <a:ea typeface="微软雅黑" panose="020B0503020204020204" pitchFamily="34" charset="-122"/>
                <a:cs typeface="+mn-cs"/>
              </a:defRPr>
            </a:lvl5pPr>
            <a:lvl6pPr marL="1714457"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349"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240"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131" indent="0" algn="ctr" defTabSz="685783"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20000"/>
              </a:lnSpc>
              <a:spcBef>
                <a:spcPct val="25000"/>
              </a:spcBef>
              <a:buFontTx/>
              <a:buNone/>
            </a:pPr>
            <a:r>
              <a:rPr lang="en-US" altLang="zh-CN" sz="4400" dirty="0">
                <a:solidFill>
                  <a:srgbClr val="00B0F0"/>
                </a:solidFill>
                <a:latin typeface="Times New Roman" panose="02020603050405020304" pitchFamily="18" charset="0"/>
              </a:rPr>
              <a:t>6.2.1 </a:t>
            </a:r>
            <a:r>
              <a:rPr lang="zh-CN" altLang="en-US" sz="4400" dirty="0">
                <a:solidFill>
                  <a:srgbClr val="00B0F0"/>
                </a:solidFill>
                <a:latin typeface="Times New Roman" panose="02020603050405020304" pitchFamily="18" charset="0"/>
              </a:rPr>
              <a:t>统计量的定义 </a:t>
            </a:r>
          </a:p>
          <a:p>
            <a:pPr algn="l">
              <a:lnSpc>
                <a:spcPct val="120000"/>
              </a:lnSpc>
              <a:spcBef>
                <a:spcPct val="25000"/>
              </a:spcBef>
              <a:buFontTx/>
              <a:buNone/>
            </a:pPr>
            <a:r>
              <a:rPr lang="en-US" altLang="zh-CN" sz="4400" dirty="0">
                <a:solidFill>
                  <a:srgbClr val="00B0F0"/>
                </a:solidFill>
                <a:latin typeface="Times New Roman" panose="02020603050405020304" pitchFamily="18" charset="0"/>
              </a:rPr>
              <a:t>6.2.2 </a:t>
            </a:r>
            <a:r>
              <a:rPr lang="zh-CN" altLang="en-US" sz="4400" dirty="0">
                <a:solidFill>
                  <a:srgbClr val="00B0F0"/>
                </a:solidFill>
                <a:latin typeface="Times New Roman" panose="02020603050405020304" pitchFamily="18" charset="0"/>
              </a:rPr>
              <a:t>常用统计量</a:t>
            </a:r>
          </a:p>
          <a:p>
            <a:pPr algn="l">
              <a:lnSpc>
                <a:spcPct val="120000"/>
              </a:lnSpc>
              <a:spcBef>
                <a:spcPct val="25000"/>
              </a:spcBef>
              <a:buFontTx/>
              <a:buNone/>
            </a:pPr>
            <a:r>
              <a:rPr lang="en-US" altLang="zh-CN" sz="4400" dirty="0">
                <a:solidFill>
                  <a:srgbClr val="00B0F0"/>
                </a:solidFill>
                <a:latin typeface="Times New Roman" panose="02020603050405020304" pitchFamily="18" charset="0"/>
              </a:rPr>
              <a:t>6.2.3 </a:t>
            </a:r>
            <a:r>
              <a:rPr lang="zh-CN" altLang="en-US" sz="4400" dirty="0">
                <a:solidFill>
                  <a:srgbClr val="00B0F0"/>
                </a:solidFill>
                <a:latin typeface="Times New Roman" panose="02020603050405020304" pitchFamily="18" charset="0"/>
              </a:rPr>
              <a:t>抽样分布的概念</a:t>
            </a:r>
          </a:p>
        </p:txBody>
      </p:sp>
    </p:spTree>
    <p:extLst>
      <p:ext uri="{BB962C8B-B14F-4D97-AF65-F5344CB8AC3E}">
        <p14:creationId xmlns:p14="http://schemas.microsoft.com/office/powerpoint/2010/main" val="606358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57232-ACDC-636B-340D-BB2F404F24AC}"/>
              </a:ext>
            </a:extLst>
          </p:cNvPr>
          <p:cNvSpPr>
            <a:spLocks noGrp="1"/>
          </p:cNvSpPr>
          <p:nvPr>
            <p:ph type="title"/>
          </p:nvPr>
        </p:nvSpPr>
        <p:spPr>
          <a:xfrm>
            <a:off x="1596518" y="158477"/>
            <a:ext cx="10414612" cy="662782"/>
          </a:xfrm>
        </p:spPr>
        <p:txBody>
          <a:bodyPr>
            <a:normAutofit/>
          </a:bodyPr>
          <a:lstStyle/>
          <a:p>
            <a:r>
              <a:rPr lang="en-US" altLang="zh-CN" sz="3600" b="1" kern="0" dirty="0">
                <a:effectLst/>
              </a:rPr>
              <a:t>6.2.1 </a:t>
            </a:r>
            <a:r>
              <a:rPr lang="zh-CN" altLang="en-US" sz="3600" b="1" kern="0" dirty="0">
                <a:effectLst/>
              </a:rPr>
              <a:t>统计量的定义</a:t>
            </a:r>
            <a:endParaRPr lang="zh-CN" altLang="en-US" sz="3600" b="1" dirty="0">
              <a:effectLst/>
            </a:endParaRPr>
          </a:p>
        </p:txBody>
      </p:sp>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21</a:t>
            </a:fld>
            <a:endParaRPr lang="zh-CN" altLang="en-US"/>
          </a:p>
        </p:txBody>
      </p:sp>
      <p:sp>
        <p:nvSpPr>
          <p:cNvPr id="5" name="Oval 22">
            <a:extLst>
              <a:ext uri="{FF2B5EF4-FFF2-40B4-BE49-F238E27FC236}">
                <a16:creationId xmlns:a16="http://schemas.microsoft.com/office/drawing/2014/main" id="{51B2B292-A4FC-EE68-EAE1-FC9E05245588}"/>
              </a:ext>
            </a:extLst>
          </p:cNvPr>
          <p:cNvSpPr>
            <a:spLocks noChangeArrowheads="1"/>
          </p:cNvSpPr>
          <p:nvPr/>
        </p:nvSpPr>
        <p:spPr bwMode="blackWhite">
          <a:xfrm>
            <a:off x="5715342" y="4860147"/>
            <a:ext cx="1404937" cy="1395363"/>
          </a:xfrm>
          <a:prstGeom prst="ellipse">
            <a:avLst/>
          </a:prstGeom>
          <a:gradFill rotWithShape="1">
            <a:gsLst>
              <a:gs pos="0">
                <a:srgbClr val="FFFF00">
                  <a:alpha val="85001"/>
                </a:srgbClr>
              </a:gs>
              <a:gs pos="100000">
                <a:srgbClr val="FFFFFF">
                  <a:alpha val="50000"/>
                </a:srgbClr>
              </a:gs>
            </a:gsLst>
            <a:path path="shape">
              <a:fillToRect l="50000" t="50000" r="50000" b="50000"/>
            </a:path>
          </a:gradFill>
          <a:ln w="76200" algn="ctr">
            <a:solidFill>
              <a:srgbClr val="FFFFFF">
                <a:alpha val="59999"/>
              </a:srgb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宋体" panose="02010600030101010101" pitchFamily="2" charset="-122"/>
            </a:endParaRPr>
          </a:p>
        </p:txBody>
      </p:sp>
      <p:sp>
        <p:nvSpPr>
          <p:cNvPr id="6" name="Freeform 4">
            <a:extLst>
              <a:ext uri="{FF2B5EF4-FFF2-40B4-BE49-F238E27FC236}">
                <a16:creationId xmlns:a16="http://schemas.microsoft.com/office/drawing/2014/main" id="{6B6054CF-CFA9-0AE3-1D18-7802C9C06D96}"/>
              </a:ext>
            </a:extLst>
          </p:cNvPr>
          <p:cNvSpPr>
            <a:spLocks/>
          </p:cNvSpPr>
          <p:nvPr/>
        </p:nvSpPr>
        <p:spPr bwMode="gray">
          <a:xfrm>
            <a:off x="1596518" y="2957512"/>
            <a:ext cx="9093199" cy="2676525"/>
          </a:xfrm>
          <a:custGeom>
            <a:avLst/>
            <a:gdLst>
              <a:gd name="T0" fmla="*/ 2147483646 w 4728"/>
              <a:gd name="T1" fmla="*/ 2147483646 h 1686"/>
              <a:gd name="T2" fmla="*/ 2147483646 w 4728"/>
              <a:gd name="T3" fmla="*/ 2147483646 h 1686"/>
              <a:gd name="T4" fmla="*/ 2147483646 w 4728"/>
              <a:gd name="T5" fmla="*/ 2147483646 h 1686"/>
              <a:gd name="T6" fmla="*/ 2147483646 w 4728"/>
              <a:gd name="T7" fmla="*/ 2147483646 h 1686"/>
              <a:gd name="T8" fmla="*/ 2147483646 w 4728"/>
              <a:gd name="T9" fmla="*/ 2147483646 h 1686"/>
              <a:gd name="T10" fmla="*/ 2147483646 w 4728"/>
              <a:gd name="T11" fmla="*/ 2147483646 h 1686"/>
              <a:gd name="T12" fmla="*/ 2147483646 w 4728"/>
              <a:gd name="T13" fmla="*/ 2147483646 h 1686"/>
              <a:gd name="T14" fmla="*/ 2147483646 w 4728"/>
              <a:gd name="T15" fmla="*/ 2147483646 h 1686"/>
              <a:gd name="T16" fmla="*/ 2147483646 w 4728"/>
              <a:gd name="T17" fmla="*/ 2147483646 h 1686"/>
              <a:gd name="T18" fmla="*/ 2147483646 w 4728"/>
              <a:gd name="T19" fmla="*/ 2147483646 h 1686"/>
              <a:gd name="T20" fmla="*/ 2147483646 w 4728"/>
              <a:gd name="T21" fmla="*/ 2147483646 h 1686"/>
              <a:gd name="T22" fmla="*/ 2147483646 w 4728"/>
              <a:gd name="T23" fmla="*/ 2147483646 h 1686"/>
              <a:gd name="T24" fmla="*/ 2147483646 w 4728"/>
              <a:gd name="T25" fmla="*/ 2147483646 h 168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28" h="1686">
                <a:moveTo>
                  <a:pt x="1422" y="3"/>
                </a:moveTo>
                <a:cubicBezTo>
                  <a:pt x="1450" y="0"/>
                  <a:pt x="252" y="159"/>
                  <a:pt x="192" y="705"/>
                </a:cubicBezTo>
                <a:cubicBezTo>
                  <a:pt x="222" y="1041"/>
                  <a:pt x="828" y="1203"/>
                  <a:pt x="1096" y="1292"/>
                </a:cubicBezTo>
                <a:cubicBezTo>
                  <a:pt x="1364" y="1381"/>
                  <a:pt x="1955" y="1428"/>
                  <a:pt x="2388" y="1428"/>
                </a:cubicBezTo>
                <a:cubicBezTo>
                  <a:pt x="2821" y="1428"/>
                  <a:pt x="3307" y="1379"/>
                  <a:pt x="3672" y="1275"/>
                </a:cubicBezTo>
                <a:cubicBezTo>
                  <a:pt x="4037" y="1171"/>
                  <a:pt x="4506" y="987"/>
                  <a:pt x="4524" y="705"/>
                </a:cubicBezTo>
                <a:cubicBezTo>
                  <a:pt x="4518" y="207"/>
                  <a:pt x="3269" y="50"/>
                  <a:pt x="3294" y="27"/>
                </a:cubicBezTo>
                <a:cubicBezTo>
                  <a:pt x="3324" y="29"/>
                  <a:pt x="4674" y="201"/>
                  <a:pt x="4704" y="717"/>
                </a:cubicBezTo>
                <a:cubicBezTo>
                  <a:pt x="4728" y="1077"/>
                  <a:pt x="4236" y="1365"/>
                  <a:pt x="3798" y="1488"/>
                </a:cubicBezTo>
                <a:cubicBezTo>
                  <a:pt x="3360" y="1611"/>
                  <a:pt x="2883" y="1680"/>
                  <a:pt x="2412" y="1683"/>
                </a:cubicBezTo>
                <a:cubicBezTo>
                  <a:pt x="1941" y="1686"/>
                  <a:pt x="1374" y="1644"/>
                  <a:pt x="972" y="1506"/>
                </a:cubicBezTo>
                <a:cubicBezTo>
                  <a:pt x="570" y="1368"/>
                  <a:pt x="0" y="1173"/>
                  <a:pt x="24" y="723"/>
                </a:cubicBezTo>
                <a:cubicBezTo>
                  <a:pt x="42" y="117"/>
                  <a:pt x="1394" y="6"/>
                  <a:pt x="1422" y="3"/>
                </a:cubicBezTo>
                <a:close/>
              </a:path>
            </a:pathLst>
          </a:custGeom>
          <a:gradFill rotWithShape="1">
            <a:gsLst>
              <a:gs pos="0">
                <a:srgbClr val="336699"/>
              </a:gs>
              <a:gs pos="100000">
                <a:srgbClr val="D8E2EB"/>
              </a:gs>
            </a:gsLst>
            <a:lin ang="5400000" scaled="1"/>
          </a:gradFill>
          <a:ln w="9525">
            <a:round/>
            <a:headEnd/>
            <a:tailEnd/>
          </a:ln>
          <a:effectLst/>
          <a:scene3d>
            <a:camera prst="legacyObliqueBottom">
              <a:rot lat="21299976" lon="0" rev="0"/>
            </a:camera>
            <a:lightRig rig="legacyFlat3" dir="b"/>
          </a:scene3d>
          <a:sp3d extrusionH="100000" prstMaterial="legacyMatte">
            <a:bevelT w="13500" h="13500" prst="angle"/>
            <a:bevelB w="13500" h="13500" prst="angle"/>
            <a:extrusionClr>
              <a:srgbClr val="336699"/>
            </a:extrusionClr>
            <a:contourClr>
              <a:srgbClr val="336699"/>
            </a:contourClr>
          </a:sp3d>
          <a:extLst>
            <a:ext uri="{AF507438-7753-43E0-B8FC-AC1667EBCBE1}">
              <a14:hiddenEffects xmlns:a14="http://schemas.microsoft.com/office/drawing/2010/main">
                <a:effectLst>
                  <a:outerShdw dist="237256" dir="4468553" algn="ctr" rotWithShape="0">
                    <a:schemeClr val="tx1">
                      <a:alpha val="50000"/>
                    </a:schemeClr>
                  </a:outerShdw>
                </a:effectLst>
              </a14:hiddenEffects>
            </a:ext>
          </a:extLst>
        </p:spPr>
        <p:txBody>
          <a:bodyPr wrap="none" anchor="ctr">
            <a:flatTx/>
          </a:bodyPr>
          <a:lstStyle/>
          <a:p>
            <a:endParaRPr lang="zh-CN" altLang="en-US" sz="2400">
              <a:latin typeface="宋体" panose="02010600030101010101" pitchFamily="2" charset="-122"/>
              <a:ea typeface="宋体" panose="02010600030101010101" pitchFamily="2" charset="-122"/>
            </a:endParaRPr>
          </a:p>
        </p:txBody>
      </p:sp>
      <p:grpSp>
        <p:nvGrpSpPr>
          <p:cNvPr id="7" name="Group 5">
            <a:extLst>
              <a:ext uri="{FF2B5EF4-FFF2-40B4-BE49-F238E27FC236}">
                <a16:creationId xmlns:a16="http://schemas.microsoft.com/office/drawing/2014/main" id="{A8FA504A-CE20-9B1E-90A2-3EFADCDDDAE3}"/>
              </a:ext>
            </a:extLst>
          </p:cNvPr>
          <p:cNvGrpSpPr>
            <a:grpSpLocks/>
          </p:cNvGrpSpPr>
          <p:nvPr/>
        </p:nvGrpSpPr>
        <p:grpSpPr bwMode="auto">
          <a:xfrm>
            <a:off x="4408017" y="2728641"/>
            <a:ext cx="3606800" cy="760412"/>
            <a:chOff x="1383" y="1452"/>
            <a:chExt cx="2826" cy="596"/>
          </a:xfrm>
        </p:grpSpPr>
        <p:sp>
          <p:nvSpPr>
            <p:cNvPr id="8" name="Oval 6">
              <a:extLst>
                <a:ext uri="{FF2B5EF4-FFF2-40B4-BE49-F238E27FC236}">
                  <a16:creationId xmlns:a16="http://schemas.microsoft.com/office/drawing/2014/main" id="{18730B6B-17BD-3D1A-7234-92CA6FA9DA75}"/>
                </a:ext>
              </a:extLst>
            </p:cNvPr>
            <p:cNvSpPr>
              <a:spLocks noChangeArrowheads="1"/>
            </p:cNvSpPr>
            <p:nvPr/>
          </p:nvSpPr>
          <p:spPr bwMode="ltGray">
            <a:xfrm>
              <a:off x="1383" y="1464"/>
              <a:ext cx="2824" cy="584"/>
            </a:xfrm>
            <a:prstGeom prst="ellipse">
              <a:avLst/>
            </a:prstGeom>
            <a:gradFill rotWithShape="1">
              <a:gsLst>
                <a:gs pos="0">
                  <a:srgbClr val="003955"/>
                </a:gs>
                <a:gs pos="50000">
                  <a:srgbClr val="006699"/>
                </a:gs>
                <a:gs pos="100000">
                  <a:srgbClr val="003955"/>
                </a:gs>
              </a:gsLst>
              <a:lin ang="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宋体" panose="02010600030101010101" pitchFamily="2" charset="-122"/>
              </a:endParaRPr>
            </a:p>
          </p:txBody>
        </p:sp>
        <p:sp>
          <p:nvSpPr>
            <p:cNvPr id="9" name="Oval 7">
              <a:extLst>
                <a:ext uri="{FF2B5EF4-FFF2-40B4-BE49-F238E27FC236}">
                  <a16:creationId xmlns:a16="http://schemas.microsoft.com/office/drawing/2014/main" id="{1336E75C-1634-F7A3-3382-793452EF825A}"/>
                </a:ext>
              </a:extLst>
            </p:cNvPr>
            <p:cNvSpPr>
              <a:spLocks noChangeArrowheads="1"/>
            </p:cNvSpPr>
            <p:nvPr/>
          </p:nvSpPr>
          <p:spPr bwMode="ltGray">
            <a:xfrm>
              <a:off x="1383" y="1455"/>
              <a:ext cx="2826" cy="552"/>
            </a:xfrm>
            <a:prstGeom prst="ellipse">
              <a:avLst/>
            </a:prstGeom>
            <a:gradFill rotWithShape="1">
              <a:gsLst>
                <a:gs pos="0">
                  <a:srgbClr val="006699"/>
                </a:gs>
                <a:gs pos="100000">
                  <a:srgbClr val="A9CBDD"/>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宋体" panose="02010600030101010101" pitchFamily="2" charset="-122"/>
              </a:endParaRPr>
            </a:p>
          </p:txBody>
        </p:sp>
        <p:sp>
          <p:nvSpPr>
            <p:cNvPr id="10" name="Oval 8">
              <a:extLst>
                <a:ext uri="{FF2B5EF4-FFF2-40B4-BE49-F238E27FC236}">
                  <a16:creationId xmlns:a16="http://schemas.microsoft.com/office/drawing/2014/main" id="{5FE30B06-5590-C5A1-CCFC-692276244559}"/>
                </a:ext>
              </a:extLst>
            </p:cNvPr>
            <p:cNvSpPr>
              <a:spLocks noChangeArrowheads="1"/>
            </p:cNvSpPr>
            <p:nvPr/>
          </p:nvSpPr>
          <p:spPr bwMode="ltGray">
            <a:xfrm>
              <a:off x="1385" y="1452"/>
              <a:ext cx="2806" cy="544"/>
            </a:xfrm>
            <a:prstGeom prst="ellipse">
              <a:avLst/>
            </a:prstGeom>
            <a:gradFill rotWithShape="1">
              <a:gsLst>
                <a:gs pos="0">
                  <a:schemeClr val="bg1">
                    <a:gamma/>
                    <a:shade val="0"/>
                    <a:invGamma/>
                    <a:alpha val="27000"/>
                  </a:schemeClr>
                </a:gs>
                <a:gs pos="50000">
                  <a:schemeClr val="bg1">
                    <a:alpha val="5000"/>
                  </a:schemeClr>
                </a:gs>
                <a:gs pos="100000">
                  <a:schemeClr val="bg1">
                    <a:gamma/>
                    <a:shade val="0"/>
                    <a:invGamma/>
                    <a:alpha val="27000"/>
                  </a:schemeClr>
                </a:gs>
              </a:gsLst>
              <a:lin ang="2700000" scaled="1"/>
            </a:gradFill>
            <a:ln>
              <a:noFill/>
            </a:ln>
            <a:effectLst/>
          </p:spPr>
          <p:txBody>
            <a:bodyPr wrap="none" anchor="ctr"/>
            <a:lstStyle/>
            <a:p>
              <a:pPr>
                <a:defRPr/>
              </a:pPr>
              <a:endParaRPr lang="zh-CN" altLang="en-US" sz="2400">
                <a:latin typeface="宋体" panose="02010600030101010101" pitchFamily="2" charset="-122"/>
                <a:ea typeface="宋体" panose="02010600030101010101" pitchFamily="2" charset="-122"/>
              </a:endParaRPr>
            </a:p>
          </p:txBody>
        </p:sp>
      </p:grpSp>
      <p:sp>
        <p:nvSpPr>
          <p:cNvPr id="11" name="AutoShape 9">
            <a:extLst>
              <a:ext uri="{FF2B5EF4-FFF2-40B4-BE49-F238E27FC236}">
                <a16:creationId xmlns:a16="http://schemas.microsoft.com/office/drawing/2014/main" id="{E540C8A6-C936-60C8-EF73-3795CCDED298}"/>
              </a:ext>
            </a:extLst>
          </p:cNvPr>
          <p:cNvSpPr>
            <a:spLocks noChangeArrowheads="1"/>
          </p:cNvSpPr>
          <p:nvPr/>
        </p:nvSpPr>
        <p:spPr bwMode="gray">
          <a:xfrm>
            <a:off x="4852516" y="2750602"/>
            <a:ext cx="566738" cy="368300"/>
          </a:xfrm>
          <a:prstGeom prst="cube">
            <a:avLst>
              <a:gd name="adj" fmla="val 48171"/>
            </a:avLst>
          </a:prstGeom>
          <a:solidFill>
            <a:srgbClr val="333333"/>
          </a:solidFill>
          <a:ln>
            <a:noFill/>
          </a:ln>
          <a:effectLst>
            <a:prstShdw prst="shdw12">
              <a:schemeClr val="bg2">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宋体" panose="02010600030101010101" pitchFamily="2" charset="-122"/>
            </a:endParaRPr>
          </a:p>
        </p:txBody>
      </p:sp>
      <p:sp>
        <p:nvSpPr>
          <p:cNvPr id="12" name="AutoShape 10">
            <a:extLst>
              <a:ext uri="{FF2B5EF4-FFF2-40B4-BE49-F238E27FC236}">
                <a16:creationId xmlns:a16="http://schemas.microsoft.com/office/drawing/2014/main" id="{427C7A00-EDB9-8054-6AD4-C6A9F6ACFB53}"/>
              </a:ext>
            </a:extLst>
          </p:cNvPr>
          <p:cNvSpPr>
            <a:spLocks noChangeArrowheads="1"/>
          </p:cNvSpPr>
          <p:nvPr/>
        </p:nvSpPr>
        <p:spPr bwMode="ltGray">
          <a:xfrm>
            <a:off x="3833843" y="2305850"/>
            <a:ext cx="2146301" cy="598488"/>
          </a:xfrm>
          <a:prstGeom prst="cube">
            <a:avLst>
              <a:gd name="adj" fmla="val 24338"/>
            </a:avLst>
          </a:prstGeom>
          <a:gradFill rotWithShape="1">
            <a:gsLst>
              <a:gs pos="0">
                <a:schemeClr val="accent2">
                  <a:gamma/>
                  <a:shade val="76078"/>
                  <a:invGamma/>
                </a:schemeClr>
              </a:gs>
              <a:gs pos="100000">
                <a:schemeClr val="accent2"/>
              </a:gs>
            </a:gsLst>
            <a:lin ang="5400000" scaled="1"/>
          </a:gradFill>
          <a:ln>
            <a:noFill/>
          </a:ln>
          <a:effectLst/>
        </p:spPr>
        <p:txBody>
          <a:bodyPr wrap="none" anchor="ctr"/>
          <a:lstStyle/>
          <a:p>
            <a:pPr>
              <a:defRPr/>
            </a:pPr>
            <a:endParaRPr lang="zh-CN" altLang="en-US" sz="2000">
              <a:latin typeface="宋体" panose="02010600030101010101" pitchFamily="2" charset="-122"/>
              <a:ea typeface="宋体" panose="02010600030101010101" pitchFamily="2" charset="-122"/>
            </a:endParaRPr>
          </a:p>
        </p:txBody>
      </p:sp>
      <p:sp>
        <p:nvSpPr>
          <p:cNvPr id="13" name="AutoShape 11">
            <a:extLst>
              <a:ext uri="{FF2B5EF4-FFF2-40B4-BE49-F238E27FC236}">
                <a16:creationId xmlns:a16="http://schemas.microsoft.com/office/drawing/2014/main" id="{2CC04CC6-2EB7-6E49-168B-5D748A7DD7A9}"/>
              </a:ext>
            </a:extLst>
          </p:cNvPr>
          <p:cNvSpPr>
            <a:spLocks noChangeArrowheads="1"/>
          </p:cNvSpPr>
          <p:nvPr/>
        </p:nvSpPr>
        <p:spPr bwMode="gray">
          <a:xfrm>
            <a:off x="5974879" y="1974314"/>
            <a:ext cx="566737" cy="1144588"/>
          </a:xfrm>
          <a:prstGeom prst="cube">
            <a:avLst>
              <a:gd name="adj" fmla="val 48171"/>
            </a:avLst>
          </a:prstGeom>
          <a:solidFill>
            <a:srgbClr val="333333"/>
          </a:solidFill>
          <a:ln>
            <a:noFill/>
          </a:ln>
          <a:effectLst>
            <a:prstShdw prst="shdw12">
              <a:schemeClr val="bg2">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宋体" panose="02010600030101010101" pitchFamily="2" charset="-122"/>
            </a:endParaRPr>
          </a:p>
        </p:txBody>
      </p:sp>
      <p:sp>
        <p:nvSpPr>
          <p:cNvPr id="14" name="AutoShape 12">
            <a:extLst>
              <a:ext uri="{FF2B5EF4-FFF2-40B4-BE49-F238E27FC236}">
                <a16:creationId xmlns:a16="http://schemas.microsoft.com/office/drawing/2014/main" id="{473717BA-0BFA-FFEB-FE5D-BDA04EAFD18E}"/>
              </a:ext>
            </a:extLst>
          </p:cNvPr>
          <p:cNvSpPr>
            <a:spLocks noChangeArrowheads="1"/>
          </p:cNvSpPr>
          <p:nvPr/>
        </p:nvSpPr>
        <p:spPr bwMode="ltGray">
          <a:xfrm>
            <a:off x="5150132" y="1369809"/>
            <a:ext cx="2165476" cy="727899"/>
          </a:xfrm>
          <a:prstGeom prst="cube">
            <a:avLst>
              <a:gd name="adj" fmla="val 24338"/>
            </a:avLst>
          </a:prstGeom>
          <a:gradFill rotWithShape="1">
            <a:gsLst>
              <a:gs pos="0">
                <a:schemeClr val="folHlink">
                  <a:gamma/>
                  <a:shade val="86275"/>
                  <a:invGamma/>
                </a:schemeClr>
              </a:gs>
              <a:gs pos="100000">
                <a:schemeClr val="folHlink"/>
              </a:gs>
            </a:gsLst>
            <a:lin ang="5400000" scaled="1"/>
          </a:gradFill>
          <a:ln>
            <a:noFill/>
          </a:ln>
          <a:effectLst/>
        </p:spPr>
        <p:txBody>
          <a:bodyPr wrap="none" anchor="ctr"/>
          <a:lstStyle/>
          <a:p>
            <a:pPr>
              <a:defRPr/>
            </a:pPr>
            <a:endParaRPr lang="zh-CN" altLang="en-US" sz="2400" dirty="0">
              <a:latin typeface="宋体" panose="02010600030101010101" pitchFamily="2" charset="-122"/>
              <a:ea typeface="宋体" panose="02010600030101010101" pitchFamily="2" charset="-122"/>
            </a:endParaRPr>
          </a:p>
        </p:txBody>
      </p:sp>
      <p:sp>
        <p:nvSpPr>
          <p:cNvPr id="15" name="AutoShape 13">
            <a:extLst>
              <a:ext uri="{FF2B5EF4-FFF2-40B4-BE49-F238E27FC236}">
                <a16:creationId xmlns:a16="http://schemas.microsoft.com/office/drawing/2014/main" id="{4BFA83D2-5B29-9872-C07C-6F8BEA4D757B}"/>
              </a:ext>
            </a:extLst>
          </p:cNvPr>
          <p:cNvSpPr>
            <a:spLocks noChangeArrowheads="1"/>
          </p:cNvSpPr>
          <p:nvPr/>
        </p:nvSpPr>
        <p:spPr bwMode="gray">
          <a:xfrm>
            <a:off x="6963891" y="2750602"/>
            <a:ext cx="566738" cy="368300"/>
          </a:xfrm>
          <a:prstGeom prst="cube">
            <a:avLst>
              <a:gd name="adj" fmla="val 48171"/>
            </a:avLst>
          </a:prstGeom>
          <a:solidFill>
            <a:srgbClr val="333333"/>
          </a:solidFill>
          <a:ln>
            <a:noFill/>
          </a:ln>
          <a:effectLst>
            <a:prstShdw prst="shdw12">
              <a:schemeClr val="bg2">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宋体" panose="02010600030101010101" pitchFamily="2" charset="-122"/>
            </a:endParaRPr>
          </a:p>
        </p:txBody>
      </p:sp>
      <p:sp>
        <p:nvSpPr>
          <p:cNvPr id="16" name="AutoShape 14">
            <a:extLst>
              <a:ext uri="{FF2B5EF4-FFF2-40B4-BE49-F238E27FC236}">
                <a16:creationId xmlns:a16="http://schemas.microsoft.com/office/drawing/2014/main" id="{13AEBDCD-5D68-641B-45CA-23D2BFB7B550}"/>
              </a:ext>
            </a:extLst>
          </p:cNvPr>
          <p:cNvSpPr>
            <a:spLocks noChangeArrowheads="1"/>
          </p:cNvSpPr>
          <p:nvPr/>
        </p:nvSpPr>
        <p:spPr bwMode="ltGray">
          <a:xfrm>
            <a:off x="6447789" y="2322645"/>
            <a:ext cx="1890654" cy="598487"/>
          </a:xfrm>
          <a:prstGeom prst="cube">
            <a:avLst>
              <a:gd name="adj" fmla="val 24338"/>
            </a:avLst>
          </a:prstGeom>
          <a:gradFill rotWithShape="1">
            <a:gsLst>
              <a:gs pos="0">
                <a:schemeClr val="accent1">
                  <a:gamma/>
                  <a:shade val="86275"/>
                  <a:invGamma/>
                </a:schemeClr>
              </a:gs>
              <a:gs pos="100000">
                <a:schemeClr val="accent1"/>
              </a:gs>
            </a:gsLst>
            <a:lin ang="5400000" scaled="1"/>
          </a:gradFill>
          <a:ln>
            <a:noFill/>
          </a:ln>
          <a:effectLst/>
        </p:spPr>
        <p:txBody>
          <a:bodyPr wrap="none" anchor="ctr"/>
          <a:lstStyle/>
          <a:p>
            <a:pPr>
              <a:defRPr/>
            </a:pPr>
            <a:endParaRPr lang="zh-CN" altLang="en-US" sz="2400">
              <a:latin typeface="宋体" panose="02010600030101010101" pitchFamily="2" charset="-122"/>
              <a:ea typeface="宋体" panose="02010600030101010101" pitchFamily="2" charset="-122"/>
            </a:endParaRPr>
          </a:p>
        </p:txBody>
      </p:sp>
      <p:sp>
        <p:nvSpPr>
          <p:cNvPr id="17" name="Rectangle 15">
            <a:extLst>
              <a:ext uri="{FF2B5EF4-FFF2-40B4-BE49-F238E27FC236}">
                <a16:creationId xmlns:a16="http://schemas.microsoft.com/office/drawing/2014/main" id="{387FC75A-C8DA-B576-EBC1-032FD0156516}"/>
              </a:ext>
            </a:extLst>
          </p:cNvPr>
          <p:cNvSpPr>
            <a:spLocks noChangeArrowheads="1"/>
          </p:cNvSpPr>
          <p:nvPr/>
        </p:nvSpPr>
        <p:spPr bwMode="gray">
          <a:xfrm>
            <a:off x="3827361" y="2319031"/>
            <a:ext cx="2171701" cy="72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85000"/>
              </a:lnSpc>
              <a:spcBef>
                <a:spcPct val="0"/>
              </a:spcBef>
              <a:buClrTx/>
              <a:buSzTx/>
              <a:buFontTx/>
              <a:buNone/>
            </a:pPr>
            <a:r>
              <a:rPr lang="zh-CN" altLang="en-US" sz="2400" b="1" dirty="0">
                <a:solidFill>
                  <a:srgbClr val="FFC000"/>
                </a:solidFill>
                <a:latin typeface="宋体" panose="02010600030101010101" pitchFamily="2" charset="-122"/>
              </a:rPr>
              <a:t>总体参数</a:t>
            </a:r>
          </a:p>
          <a:p>
            <a:pPr algn="ctr">
              <a:lnSpc>
                <a:spcPct val="85000"/>
              </a:lnSpc>
              <a:spcBef>
                <a:spcPct val="0"/>
              </a:spcBef>
              <a:buClrTx/>
              <a:buSzTx/>
              <a:buFontTx/>
              <a:buNone/>
            </a:pPr>
            <a:r>
              <a:rPr lang="zh-CN" altLang="en-US" sz="2400" b="1" dirty="0">
                <a:solidFill>
                  <a:srgbClr val="FFC000"/>
                </a:solidFill>
                <a:latin typeface="宋体" panose="02010600030101010101" pitchFamily="2" charset="-122"/>
              </a:rPr>
              <a:t>未知</a:t>
            </a:r>
          </a:p>
        </p:txBody>
      </p:sp>
      <p:sp>
        <p:nvSpPr>
          <p:cNvPr id="18" name="Rectangle 16">
            <a:extLst>
              <a:ext uri="{FF2B5EF4-FFF2-40B4-BE49-F238E27FC236}">
                <a16:creationId xmlns:a16="http://schemas.microsoft.com/office/drawing/2014/main" id="{8EDD4C38-F6C7-F61D-A07D-0D98AEFC7D1D}"/>
              </a:ext>
            </a:extLst>
          </p:cNvPr>
          <p:cNvSpPr>
            <a:spLocks noChangeArrowheads="1"/>
          </p:cNvSpPr>
          <p:nvPr/>
        </p:nvSpPr>
        <p:spPr bwMode="gray">
          <a:xfrm>
            <a:off x="6345661" y="2317499"/>
            <a:ext cx="2108549" cy="72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85000"/>
              </a:lnSpc>
              <a:spcBef>
                <a:spcPct val="0"/>
              </a:spcBef>
              <a:buClrTx/>
              <a:buSzTx/>
              <a:buNone/>
            </a:pPr>
            <a:r>
              <a:rPr lang="zh-CN" altLang="en-US" sz="2400" b="1" dirty="0">
                <a:solidFill>
                  <a:schemeClr val="accent2">
                    <a:lumMod val="60000"/>
                    <a:lumOff val="40000"/>
                  </a:schemeClr>
                </a:solidFill>
                <a:latin typeface="宋体" panose="02010600030101010101" pitchFamily="2" charset="-122"/>
              </a:rPr>
              <a:t>总体其他信息</a:t>
            </a:r>
          </a:p>
          <a:p>
            <a:pPr algn="ctr">
              <a:lnSpc>
                <a:spcPct val="85000"/>
              </a:lnSpc>
              <a:spcBef>
                <a:spcPct val="0"/>
              </a:spcBef>
              <a:buClrTx/>
              <a:buSzTx/>
              <a:buNone/>
            </a:pPr>
            <a:r>
              <a:rPr lang="zh-CN" altLang="en-US" sz="2400" b="1" dirty="0">
                <a:solidFill>
                  <a:schemeClr val="accent2">
                    <a:lumMod val="60000"/>
                    <a:lumOff val="40000"/>
                  </a:schemeClr>
                </a:solidFill>
                <a:latin typeface="宋体" panose="02010600030101010101" pitchFamily="2" charset="-122"/>
              </a:rPr>
              <a:t>未知</a:t>
            </a:r>
          </a:p>
        </p:txBody>
      </p:sp>
      <p:sp>
        <p:nvSpPr>
          <p:cNvPr id="19" name="Rectangle 17">
            <a:extLst>
              <a:ext uri="{FF2B5EF4-FFF2-40B4-BE49-F238E27FC236}">
                <a16:creationId xmlns:a16="http://schemas.microsoft.com/office/drawing/2014/main" id="{AEF180DE-DB0E-B865-7D60-A525104200C7}"/>
              </a:ext>
            </a:extLst>
          </p:cNvPr>
          <p:cNvSpPr>
            <a:spLocks noChangeArrowheads="1"/>
          </p:cNvSpPr>
          <p:nvPr/>
        </p:nvSpPr>
        <p:spPr bwMode="gray">
          <a:xfrm>
            <a:off x="5094128" y="1338037"/>
            <a:ext cx="223202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2400" b="1" dirty="0">
                <a:solidFill>
                  <a:srgbClr val="FFFF00"/>
                </a:solidFill>
                <a:latin typeface="宋体" panose="02010600030101010101" pitchFamily="2" charset="-122"/>
              </a:rPr>
              <a:t>总体分布</a:t>
            </a:r>
          </a:p>
          <a:p>
            <a:pPr algn="ctr">
              <a:spcBef>
                <a:spcPct val="0"/>
              </a:spcBef>
              <a:buClrTx/>
              <a:buSzTx/>
              <a:buNone/>
            </a:pPr>
            <a:r>
              <a:rPr lang="zh-CN" altLang="en-US" sz="2400" b="1" dirty="0">
                <a:solidFill>
                  <a:srgbClr val="FFFF00"/>
                </a:solidFill>
                <a:latin typeface="宋体" panose="02010600030101010101" pitchFamily="2" charset="-122"/>
              </a:rPr>
              <a:t>未知</a:t>
            </a:r>
          </a:p>
        </p:txBody>
      </p:sp>
      <p:sp>
        <p:nvSpPr>
          <p:cNvPr id="20" name="Rectangle 18">
            <a:extLst>
              <a:ext uri="{FF2B5EF4-FFF2-40B4-BE49-F238E27FC236}">
                <a16:creationId xmlns:a16="http://schemas.microsoft.com/office/drawing/2014/main" id="{D4A8957C-2AE7-0AA2-3161-9EFBD80E56BF}"/>
              </a:ext>
            </a:extLst>
          </p:cNvPr>
          <p:cNvSpPr>
            <a:spLocks noChangeArrowheads="1"/>
          </p:cNvSpPr>
          <p:nvPr/>
        </p:nvSpPr>
        <p:spPr bwMode="gray">
          <a:xfrm rot="1218268">
            <a:off x="1822560" y="4265294"/>
            <a:ext cx="150706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400" b="1" dirty="0">
                <a:latin typeface="等线" panose="02010600030101010101" pitchFamily="2" charset="-122"/>
                <a:ea typeface="等线" panose="02010600030101010101" pitchFamily="2" charset="-122"/>
              </a:rPr>
              <a:t>抽样得到随机样本</a:t>
            </a:r>
          </a:p>
        </p:txBody>
      </p:sp>
      <p:sp>
        <p:nvSpPr>
          <p:cNvPr id="22" name="Rectangle 20">
            <a:extLst>
              <a:ext uri="{FF2B5EF4-FFF2-40B4-BE49-F238E27FC236}">
                <a16:creationId xmlns:a16="http://schemas.microsoft.com/office/drawing/2014/main" id="{BF0077E1-AEBC-3115-FA10-372BC3FE0001}"/>
              </a:ext>
            </a:extLst>
          </p:cNvPr>
          <p:cNvSpPr>
            <a:spLocks noChangeArrowheads="1"/>
          </p:cNvSpPr>
          <p:nvPr/>
        </p:nvSpPr>
        <p:spPr bwMode="auto">
          <a:xfrm>
            <a:off x="3526619" y="3401268"/>
            <a:ext cx="5349175" cy="1569660"/>
          </a:xfrm>
          <a:prstGeom prst="rect">
            <a:avLst/>
          </a:prstGeom>
          <a:solidFill>
            <a:schemeClr val="accent6">
              <a:lumMod val="20000"/>
              <a:lumOff val="80000"/>
            </a:schemeClr>
          </a:solidFill>
          <a:ln>
            <a:noFill/>
          </a:ln>
          <a:effec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400" b="1" dirty="0">
                <a:latin typeface="宋体" panose="02010600030101010101" pitchFamily="2" charset="-122"/>
              </a:rPr>
              <a:t>样本统计量</a:t>
            </a:r>
            <a:r>
              <a:rPr lang="en-US" altLang="zh-CN" sz="2400" b="1" dirty="0">
                <a:latin typeface="宋体" panose="02010600030101010101" pitchFamily="2" charset="-122"/>
              </a:rPr>
              <a:t>T=T(X1,X2,…</a:t>
            </a:r>
            <a:r>
              <a:rPr lang="en-US" altLang="zh-CN" sz="2400" b="1" dirty="0" err="1">
                <a:latin typeface="宋体" panose="02010600030101010101" pitchFamily="2" charset="-122"/>
              </a:rPr>
              <a:t>Xn</a:t>
            </a:r>
            <a:r>
              <a:rPr lang="en-US" altLang="zh-CN" sz="2400" b="1" dirty="0">
                <a:latin typeface="宋体" panose="02010600030101010101" pitchFamily="2" charset="-122"/>
              </a:rPr>
              <a:t>)</a:t>
            </a:r>
            <a:r>
              <a:rPr lang="zh-CN" altLang="en-US" sz="2400" b="1" dirty="0">
                <a:latin typeface="宋体" panose="02010600030101010101" pitchFamily="2" charset="-122"/>
              </a:rPr>
              <a:t>两个要点：</a:t>
            </a:r>
          </a:p>
          <a:p>
            <a:pPr>
              <a:spcBef>
                <a:spcPct val="0"/>
              </a:spcBef>
              <a:buClrTx/>
              <a:buSzTx/>
              <a:buFont typeface="Wingdings" panose="05000000000000000000" pitchFamily="2" charset="2"/>
              <a:buNone/>
            </a:pPr>
            <a:r>
              <a:rPr lang="en-US" altLang="zh-CN" sz="2400" b="1" dirty="0">
                <a:latin typeface="宋体" panose="02010600030101010101" pitchFamily="2" charset="-122"/>
              </a:rPr>
              <a:t>  1</a:t>
            </a:r>
            <a:r>
              <a:rPr lang="zh-CN" altLang="en-US" sz="2400" b="1" dirty="0">
                <a:latin typeface="宋体" panose="02010600030101010101" pitchFamily="2" charset="-122"/>
              </a:rPr>
              <a:t>、是样本的函数</a:t>
            </a:r>
          </a:p>
          <a:p>
            <a:pPr>
              <a:spcBef>
                <a:spcPct val="0"/>
              </a:spcBef>
              <a:buClrTx/>
              <a:buSzTx/>
              <a:buFont typeface="Wingdings" panose="05000000000000000000" pitchFamily="2" charset="2"/>
              <a:buNone/>
            </a:pPr>
            <a:r>
              <a:rPr lang="en-US" altLang="zh-CN" sz="2400" b="1" dirty="0">
                <a:latin typeface="宋体" panose="02010600030101010101" pitchFamily="2" charset="-122"/>
              </a:rPr>
              <a:t>  2</a:t>
            </a:r>
            <a:r>
              <a:rPr lang="zh-CN" altLang="en-US" sz="2400" b="1" dirty="0">
                <a:latin typeface="宋体" panose="02010600030101010101" pitchFamily="2" charset="-122"/>
              </a:rPr>
              <a:t>、不含未知的总体参数</a:t>
            </a:r>
            <a:r>
              <a:rPr lang="en-US" altLang="zh-CN" sz="2400" b="1" dirty="0">
                <a:latin typeface="宋体" panose="02010600030101010101" pitchFamily="2" charset="-122"/>
              </a:rPr>
              <a:t>.</a:t>
            </a:r>
          </a:p>
          <a:p>
            <a:pPr>
              <a:spcBef>
                <a:spcPct val="0"/>
              </a:spcBef>
              <a:buClrTx/>
              <a:buSzTx/>
              <a:buFont typeface="Wingdings" panose="05000000000000000000" pitchFamily="2" charset="2"/>
              <a:buNone/>
            </a:pPr>
            <a:r>
              <a:rPr lang="zh-CN" altLang="en-US" sz="2400" b="1" dirty="0">
                <a:latin typeface="宋体" panose="02010600030101010101" pitchFamily="2" charset="-122"/>
              </a:rPr>
              <a:t>抽样分布就是样本统计量的分布！</a:t>
            </a:r>
          </a:p>
        </p:txBody>
      </p:sp>
      <p:pic>
        <p:nvPicPr>
          <p:cNvPr id="23" name="Picture 21" descr="circuler_1">
            <a:extLst>
              <a:ext uri="{FF2B5EF4-FFF2-40B4-BE49-F238E27FC236}">
                <a16:creationId xmlns:a16="http://schemas.microsoft.com/office/drawing/2014/main" id="{194F204D-22EF-0A35-60E1-0ED3F9981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705817" y="4864933"/>
            <a:ext cx="1404938" cy="1390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23">
            <a:extLst>
              <a:ext uri="{FF2B5EF4-FFF2-40B4-BE49-F238E27FC236}">
                <a16:creationId xmlns:a16="http://schemas.microsoft.com/office/drawing/2014/main" id="{0AA18D82-002B-5544-A957-F02B7EA90E6B}"/>
              </a:ext>
            </a:extLst>
          </p:cNvPr>
          <p:cNvSpPr txBox="1">
            <a:spLocks noChangeArrowheads="1"/>
          </p:cNvSpPr>
          <p:nvPr/>
        </p:nvSpPr>
        <p:spPr bwMode="gray">
          <a:xfrm>
            <a:off x="5565599" y="5113776"/>
            <a:ext cx="183433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400" b="1" dirty="0">
                <a:latin typeface="等线" panose="02010600030101010101" pitchFamily="2" charset="-122"/>
                <a:ea typeface="等线" panose="02010600030101010101" pitchFamily="2" charset="-122"/>
              </a:rPr>
              <a:t>样本</a:t>
            </a:r>
            <a:r>
              <a:rPr lang="en-US" altLang="zh-CN" sz="2400" b="1" dirty="0">
                <a:latin typeface="等线" panose="02010600030101010101" pitchFamily="2" charset="-122"/>
                <a:ea typeface="等线" panose="02010600030101010101" pitchFamily="2" charset="-122"/>
              </a:rPr>
              <a:t>X1,X2,…</a:t>
            </a:r>
            <a:r>
              <a:rPr lang="en-US" altLang="zh-CN" sz="2400" b="1" dirty="0" err="1">
                <a:latin typeface="等线" panose="02010600030101010101" pitchFamily="2" charset="-122"/>
                <a:ea typeface="等线" panose="02010600030101010101" pitchFamily="2" charset="-122"/>
              </a:rPr>
              <a:t>Xn</a:t>
            </a:r>
            <a:r>
              <a:rPr lang="en-US" altLang="zh-CN" sz="2400" b="1" dirty="0">
                <a:latin typeface="等线" panose="02010600030101010101" pitchFamily="2" charset="-122"/>
                <a:ea typeface="等线" panose="02010600030101010101" pitchFamily="2" charset="-122"/>
              </a:rPr>
              <a:t> </a:t>
            </a:r>
            <a:endParaRPr lang="en-US" altLang="zh-CN" sz="2400" dirty="0">
              <a:latin typeface="等线" panose="02010600030101010101" pitchFamily="2" charset="-122"/>
              <a:ea typeface="等线" panose="02010600030101010101" pitchFamily="2" charset="-122"/>
            </a:endParaRPr>
          </a:p>
        </p:txBody>
      </p:sp>
      <p:sp>
        <p:nvSpPr>
          <p:cNvPr id="25" name="Text Box 24">
            <a:extLst>
              <a:ext uri="{FF2B5EF4-FFF2-40B4-BE49-F238E27FC236}">
                <a16:creationId xmlns:a16="http://schemas.microsoft.com/office/drawing/2014/main" id="{F894D78C-3DE9-60E7-99B7-B6181E037DED}"/>
              </a:ext>
            </a:extLst>
          </p:cNvPr>
          <p:cNvSpPr txBox="1">
            <a:spLocks noChangeArrowheads="1"/>
          </p:cNvSpPr>
          <p:nvPr/>
        </p:nvSpPr>
        <p:spPr bwMode="auto">
          <a:xfrm>
            <a:off x="1490878" y="879513"/>
            <a:ext cx="50507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800" b="1" dirty="0">
                <a:latin typeface="宋体" panose="02010600030101010101" pitchFamily="2" charset="-122"/>
              </a:rPr>
              <a:t>抽样和构造统计量的过程</a:t>
            </a:r>
          </a:p>
        </p:txBody>
      </p:sp>
      <p:sp>
        <p:nvSpPr>
          <p:cNvPr id="21" name="Rectangle 19">
            <a:extLst>
              <a:ext uri="{FF2B5EF4-FFF2-40B4-BE49-F238E27FC236}">
                <a16:creationId xmlns:a16="http://schemas.microsoft.com/office/drawing/2014/main" id="{9E8B44BE-E831-46C8-3206-C36B4104B6E6}"/>
              </a:ext>
            </a:extLst>
          </p:cNvPr>
          <p:cNvSpPr>
            <a:spLocks noChangeArrowheads="1"/>
          </p:cNvSpPr>
          <p:nvPr/>
        </p:nvSpPr>
        <p:spPr bwMode="gray">
          <a:xfrm rot="19882719">
            <a:off x="8488597" y="4174824"/>
            <a:ext cx="247668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0"/>
              </a:spcBef>
            </a:pPr>
            <a:r>
              <a:rPr lang="zh-CN" altLang="en-US" sz="2400" b="1" dirty="0">
                <a:latin typeface="等线" panose="02010600030101010101" pitchFamily="2" charset="-122"/>
                <a:ea typeface="等线" panose="02010600030101010101" pitchFamily="2" charset="-122"/>
              </a:rPr>
              <a:t>利用统计量推断总体信息</a:t>
            </a:r>
          </a:p>
        </p:txBody>
      </p:sp>
    </p:spTree>
    <p:extLst>
      <p:ext uri="{BB962C8B-B14F-4D97-AF65-F5344CB8AC3E}">
        <p14:creationId xmlns:p14="http://schemas.microsoft.com/office/powerpoint/2010/main" val="4159948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ABD14BD-504E-42EC-A2AB-5F7BAF221D6C}" type="slidenum">
              <a:rPr lang="zh-CN" altLang="en-US" smtClean="0"/>
              <a:pPr/>
              <a:t>22</a:t>
            </a:fld>
            <a:endParaRPr lang="zh-CN" altLang="en-US"/>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9976885-7C54-1ED9-D102-098571383836}"/>
                  </a:ext>
                </a:extLst>
              </p:cNvPr>
              <p:cNvSpPr txBox="1"/>
              <p:nvPr/>
            </p:nvSpPr>
            <p:spPr>
              <a:xfrm>
                <a:off x="862737" y="1284450"/>
                <a:ext cx="10049906" cy="4346126"/>
              </a:xfrm>
              <a:prstGeom prst="rect">
                <a:avLst/>
              </a:prstGeom>
              <a:noFill/>
            </p:spPr>
            <p:txBody>
              <a:bodyPr wrap="square" rtlCol="0">
                <a:spAutoFit/>
              </a:bodyPr>
              <a:lstStyle/>
              <a:p>
                <a:pPr indent="360363">
                  <a:lnSpc>
                    <a:spcPct val="150000"/>
                  </a:lnSpc>
                  <a:spcBef>
                    <a:spcPts val="1200"/>
                  </a:spcBef>
                </a:pPr>
                <a:r>
                  <a:rPr lang="zh-CN" altLang="en-US" sz="2800" b="1" dirty="0">
                    <a:latin typeface="黑体" panose="02010609060101010101" pitchFamily="49" charset="-122"/>
                    <a:ea typeface="黑体" panose="02010609060101010101" pitchFamily="49" charset="-122"/>
                  </a:rPr>
                  <a:t>统计量有以下两个特征</a:t>
                </a:r>
                <a:r>
                  <a:rPr lang="zh-CN" altLang="en-US"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a:p>
                <a:pPr marL="457200" indent="349250">
                  <a:lnSpc>
                    <a:spcPct val="150000"/>
                  </a:lnSpc>
                  <a:spcBef>
                    <a:spcPts val="1200"/>
                  </a:spcBef>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统计量是样本的函数，统计量</a:t>
                </a:r>
                <a:r>
                  <a:rPr lang="zh-CN" altLang="en-US" sz="2800" b="1" dirty="0">
                    <a:solidFill>
                      <a:srgbClr val="FF0000"/>
                    </a:solidFill>
                    <a:latin typeface="宋体" panose="02010600030101010101" pitchFamily="2" charset="-122"/>
                    <a:ea typeface="宋体" panose="02010600030101010101" pitchFamily="2" charset="-122"/>
                  </a:rPr>
                  <a:t>通常</a:t>
                </a:r>
                <a:r>
                  <a:rPr lang="zh-CN" altLang="en-US" sz="2800" b="1" dirty="0">
                    <a:latin typeface="宋体" panose="02010600030101010101" pitchFamily="2" charset="-122"/>
                    <a:ea typeface="宋体" panose="02010600030101010101" pitchFamily="2" charset="-122"/>
                  </a:rPr>
                  <a:t>为随机变量</a:t>
                </a:r>
                <a:r>
                  <a:rPr lang="zh-CN" altLang="en-US" sz="28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并非一定</a:t>
                </a:r>
                <a:r>
                  <a:rPr lang="en-US" altLang="zh-CN" sz="24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marL="457200" indent="349250">
                  <a:lnSpc>
                    <a:spcPct val="150000"/>
                  </a:lnSpc>
                  <a:spcBef>
                    <a:spcPts val="1200"/>
                  </a:spcBef>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统计量不能含有未知的参数</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indent="720000">
                  <a:lnSpc>
                    <a:spcPct val="150000"/>
                  </a:lnSpc>
                  <a:spcBef>
                    <a:spcPts val="1200"/>
                  </a:spcBef>
                </a:pPr>
                <a:r>
                  <a:rPr lang="zh-CN" altLang="en-US" sz="2800" b="1" dirty="0">
                    <a:latin typeface="黑体" panose="02010609060101010101" pitchFamily="49" charset="-122"/>
                    <a:ea typeface="黑体" panose="02010609060101010101" pitchFamily="49" charset="-122"/>
                  </a:rPr>
                  <a:t>例：</a:t>
                </a:r>
                <a:r>
                  <a:rPr lang="zh-CN" altLang="en-US" sz="2800" dirty="0">
                    <a:latin typeface="宋体" panose="02010600030101010101" pitchFamily="2" charset="-122"/>
                    <a:ea typeface="宋体" panose="02010600030101010101" pitchFamily="2" charset="-122"/>
                  </a:rPr>
                  <a:t>从正态总体中抽样时</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考查随机变量</a:t>
                </a:r>
                <a14:m>
                  <m:oMath xmlns:m="http://schemas.openxmlformats.org/officeDocument/2006/math">
                    <m:nary>
                      <m:naryPr>
                        <m:chr m:val="∑"/>
                        <m:ctrlPr>
                          <a:rPr lang="en-US" altLang="zh-CN" sz="2800" b="0" i="1" smtClean="0">
                            <a:latin typeface="Cambria Math" panose="02040503050406030204" pitchFamily="18" charset="0"/>
                            <a:ea typeface="宋体" panose="02010600030101010101" pitchFamily="2" charset="-122"/>
                          </a:rPr>
                        </m:ctrlPr>
                      </m:naryPr>
                      <m:sub>
                        <m:r>
                          <a:rPr lang="en-US" altLang="zh-CN" sz="2800" b="0" i="1" smtClean="0">
                            <a:latin typeface="Cambria Math" charset="0"/>
                            <a:ea typeface="宋体" panose="02010600030101010101" pitchFamily="2" charset="-122"/>
                          </a:rPr>
                          <m:t>𝑖</m:t>
                        </m:r>
                        <m:r>
                          <a:rPr lang="en-US" altLang="zh-CN" sz="2800" b="0" i="1" smtClean="0">
                            <a:latin typeface="Cambria Math" charset="0"/>
                            <a:ea typeface="宋体" panose="02010600030101010101" pitchFamily="2" charset="-122"/>
                          </a:rPr>
                          <m:t>=1</m:t>
                        </m:r>
                      </m:sub>
                      <m:sup>
                        <m:r>
                          <a:rPr lang="en-US" altLang="zh-CN" sz="2800" b="0" i="1" smtClean="0">
                            <a:latin typeface="Cambria Math" charset="0"/>
                            <a:ea typeface="宋体" panose="02010600030101010101" pitchFamily="2" charset="-122"/>
                          </a:rPr>
                          <m:t>𝑛</m:t>
                        </m:r>
                      </m:sup>
                      <m:e>
                        <m:sSup>
                          <m:sSupPr>
                            <m:ctrlPr>
                              <a:rPr lang="en-US" altLang="zh-CN" sz="2800" i="1">
                                <a:latin typeface="Cambria Math" panose="02040503050406030204" pitchFamily="18" charset="0"/>
                                <a:ea typeface="宋体" panose="02010600030101010101" pitchFamily="2" charset="-122"/>
                              </a:rPr>
                            </m:ctrlPr>
                          </m:sSupPr>
                          <m:e>
                            <m:d>
                              <m:dPr>
                                <m:ctrlPr>
                                  <a:rPr lang="en-US" altLang="zh-CN" sz="2800" i="1">
                                    <a:latin typeface="Cambria Math" panose="02040503050406030204" pitchFamily="18" charset="0"/>
                                    <a:ea typeface="宋体" panose="02010600030101010101" pitchFamily="2" charset="-122"/>
                                  </a:rPr>
                                </m:ctrlPr>
                              </m:dPr>
                              <m:e>
                                <m:sSub>
                                  <m:sSubPr>
                                    <m:ctrlPr>
                                      <a:rPr lang="en-US" altLang="zh-CN" sz="2800" i="1">
                                        <a:latin typeface="Cambria Math" panose="02040503050406030204" pitchFamily="18" charset="0"/>
                                        <a:ea typeface="宋体" panose="02010600030101010101" pitchFamily="2" charset="-122"/>
                                      </a:rPr>
                                    </m:ctrlPr>
                                  </m:sSubPr>
                                  <m:e>
                                    <m:r>
                                      <a:rPr lang="en-US" altLang="zh-CN" sz="2800" i="1">
                                        <a:latin typeface="Cambria Math" charset="0"/>
                                        <a:ea typeface="宋体" panose="02010600030101010101" pitchFamily="2" charset="-122"/>
                                      </a:rPr>
                                      <m:t>𝑋</m:t>
                                    </m:r>
                                  </m:e>
                                  <m:sub>
                                    <m:r>
                                      <a:rPr lang="en-US" altLang="zh-CN" sz="2800" i="1">
                                        <a:latin typeface="Cambria Math" charset="0"/>
                                        <a:ea typeface="宋体" panose="02010600030101010101" pitchFamily="2" charset="-122"/>
                                      </a:rPr>
                                      <m:t>𝑖</m:t>
                                    </m:r>
                                  </m:sub>
                                </m:sSub>
                                <m:r>
                                  <a:rPr lang="en-US" altLang="zh-CN" sz="2800" i="1">
                                    <a:latin typeface="Cambria Math" charset="0"/>
                                    <a:ea typeface="宋体" panose="02010600030101010101" pitchFamily="2" charset="-122"/>
                                  </a:rPr>
                                  <m:t>−</m:t>
                                </m:r>
                                <m:r>
                                  <a:rPr lang="en-US" altLang="zh-CN" sz="2800" i="1">
                                    <a:latin typeface="Cambria Math" charset="0"/>
                                    <a:ea typeface="宋体" panose="02010600030101010101" pitchFamily="2" charset="-122"/>
                                  </a:rPr>
                                  <m:t>𝜇</m:t>
                                </m:r>
                              </m:e>
                            </m:d>
                          </m:e>
                          <m:sup>
                            <m:r>
                              <a:rPr lang="en-US" altLang="zh-CN" sz="2800" i="1">
                                <a:latin typeface="Cambria Math" charset="0"/>
                                <a:ea typeface="宋体" panose="02010600030101010101" pitchFamily="2" charset="-122"/>
                              </a:rPr>
                              <m:t>2</m:t>
                            </m:r>
                          </m:sup>
                        </m:sSup>
                      </m:e>
                    </m:nary>
                  </m:oMath>
                </a14:m>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当总体均值</a:t>
                </a:r>
                <a14:m>
                  <m:oMath xmlns:m="http://schemas.openxmlformats.org/officeDocument/2006/math">
                    <m:r>
                      <a:rPr lang="en-US" altLang="zh-CN" sz="2800" i="1">
                        <a:latin typeface="Cambria Math" charset="0"/>
                        <a:ea typeface="宋体" panose="02010600030101010101" pitchFamily="2" charset="-122"/>
                      </a:rPr>
                      <m:t>𝜇</m:t>
                    </m:r>
                  </m:oMath>
                </a14:m>
                <a:r>
                  <a:rPr lang="zh-CN" altLang="en-US" sz="2800" dirty="0">
                    <a:latin typeface="宋体" panose="02010600030101010101" pitchFamily="2" charset="-122"/>
                    <a:ea typeface="宋体" panose="02010600030101010101" pitchFamily="2" charset="-122"/>
                  </a:rPr>
                  <a:t>为已知时，该变量是统计量；当总体均值</a:t>
                </a:r>
                <a14:m>
                  <m:oMath xmlns:m="http://schemas.openxmlformats.org/officeDocument/2006/math">
                    <m:r>
                      <a:rPr lang="en-US" altLang="zh-CN" sz="2800" i="1">
                        <a:latin typeface="Cambria Math" charset="0"/>
                        <a:ea typeface="宋体" panose="02010600030101010101" pitchFamily="2" charset="-122"/>
                      </a:rPr>
                      <m:t>𝜇</m:t>
                    </m:r>
                  </m:oMath>
                </a14:m>
                <a:r>
                  <a:rPr lang="zh-CN" altLang="en-US" sz="2800" dirty="0">
                    <a:latin typeface="宋体" panose="02010600030101010101" pitchFamily="2" charset="-122"/>
                    <a:ea typeface="宋体" panose="02010600030101010101" pitchFamily="2" charset="-122"/>
                  </a:rPr>
                  <a:t>未知时，该随机变量就不是统计量。</a:t>
                </a:r>
              </a:p>
            </p:txBody>
          </p:sp>
        </mc:Choice>
        <mc:Fallback xmlns="">
          <p:sp>
            <p:nvSpPr>
              <p:cNvPr id="10" name="文本框 9">
                <a:extLst>
                  <a:ext uri="{FF2B5EF4-FFF2-40B4-BE49-F238E27FC236}">
                    <a16:creationId xmlns:a16="http://schemas.microsoft.com/office/drawing/2014/main" id="{79976885-7C54-1ED9-D102-098571383836}"/>
                  </a:ext>
                </a:extLst>
              </p:cNvPr>
              <p:cNvSpPr txBox="1">
                <a:spLocks noRot="1" noChangeAspect="1" noMove="1" noResize="1" noEditPoints="1" noAdjustHandles="1" noChangeArrowheads="1" noChangeShapeType="1" noTextEdit="1"/>
              </p:cNvSpPr>
              <p:nvPr/>
            </p:nvSpPr>
            <p:spPr>
              <a:xfrm>
                <a:off x="862737" y="1284450"/>
                <a:ext cx="10049906" cy="4346126"/>
              </a:xfrm>
              <a:prstGeom prst="rect">
                <a:avLst/>
              </a:prstGeom>
              <a:blipFill>
                <a:blip r:embed="rId2"/>
                <a:stretch>
                  <a:fillRect l="-1274" r="-728" b="-2945"/>
                </a:stretch>
              </a:blipFill>
            </p:spPr>
            <p:txBody>
              <a:bodyPr/>
              <a:lstStyle/>
              <a:p>
                <a:r>
                  <a:rPr lang="zh-CN" altLang="en-US">
                    <a:noFill/>
                  </a:rPr>
                  <a:t> </a:t>
                </a:r>
              </a:p>
            </p:txBody>
          </p:sp>
        </mc:Fallback>
      </mc:AlternateContent>
      <p:sp>
        <p:nvSpPr>
          <p:cNvPr id="18" name="标题 1">
            <a:extLst>
              <a:ext uri="{FF2B5EF4-FFF2-40B4-BE49-F238E27FC236}">
                <a16:creationId xmlns:a16="http://schemas.microsoft.com/office/drawing/2014/main" id="{295B66BA-775B-84C3-0769-B7BC431FF425}"/>
              </a:ext>
            </a:extLst>
          </p:cNvPr>
          <p:cNvSpPr txBox="1">
            <a:spLocks/>
          </p:cNvSpPr>
          <p:nvPr/>
        </p:nvSpPr>
        <p:spPr>
          <a:xfrm>
            <a:off x="1828800" y="227875"/>
            <a:ext cx="6003758" cy="662782"/>
          </a:xfrm>
          <a:prstGeom prst="rect">
            <a:avLst/>
          </a:prstGeom>
        </p:spPr>
        <p:txBody>
          <a:bodyPr>
            <a:normAutofit/>
          </a:bodyPr>
          <a:lstStyle>
            <a:lvl1pPr algn="l" defTabSz="685783"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effectLst/>
              </a:rPr>
              <a:t>6.2.1 </a:t>
            </a:r>
            <a:r>
              <a:rPr lang="zh-CN" altLang="en-US" b="1" kern="0" dirty="0">
                <a:effectLst/>
              </a:rPr>
              <a:t>统计量的定义</a:t>
            </a:r>
            <a:endParaRPr lang="zh-CN" altLang="en-US" b="1" dirty="0">
              <a:effectLst/>
            </a:endParaRPr>
          </a:p>
        </p:txBody>
      </p:sp>
    </p:spTree>
    <p:extLst>
      <p:ext uri="{BB962C8B-B14F-4D97-AF65-F5344CB8AC3E}">
        <p14:creationId xmlns:p14="http://schemas.microsoft.com/office/powerpoint/2010/main" val="3600332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57232-ACDC-636B-340D-BB2F404F24AC}"/>
              </a:ext>
            </a:extLst>
          </p:cNvPr>
          <p:cNvSpPr>
            <a:spLocks noGrp="1"/>
          </p:cNvSpPr>
          <p:nvPr>
            <p:ph type="title"/>
          </p:nvPr>
        </p:nvSpPr>
        <p:spPr>
          <a:xfrm>
            <a:off x="2093495" y="143491"/>
            <a:ext cx="6400800" cy="662782"/>
          </a:xfrm>
        </p:spPr>
        <p:txBody>
          <a:bodyPr>
            <a:normAutofit/>
          </a:bodyPr>
          <a:lstStyle/>
          <a:p>
            <a:r>
              <a:rPr lang="en-US" altLang="zh-CN" sz="3600" b="1" kern="0" dirty="0">
                <a:effectLst/>
              </a:rPr>
              <a:t>6.2.2 </a:t>
            </a:r>
            <a:r>
              <a:rPr lang="zh-CN" altLang="en-US" sz="3600" b="1" kern="0" dirty="0">
                <a:effectLst/>
              </a:rPr>
              <a:t>常用统计量</a:t>
            </a:r>
            <a:endParaRPr lang="zh-CN" altLang="en-US" sz="3600" b="1" dirty="0">
              <a:effectLst/>
            </a:endParaRPr>
          </a:p>
        </p:txBody>
      </p:sp>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23</a:t>
            </a:fld>
            <a:endParaRPr lang="zh-CN" altLang="en-US"/>
          </a:p>
        </p:txBody>
      </p:sp>
      <mc:AlternateContent xmlns:mc="http://schemas.openxmlformats.org/markup-compatibility/2006">
        <mc:Choice xmlns:a14="http://schemas.microsoft.com/office/drawing/2010/main" Requires="a14">
          <p:sp>
            <p:nvSpPr>
              <p:cNvPr id="45" name="文本框 44">
                <a:extLst>
                  <a:ext uri="{FF2B5EF4-FFF2-40B4-BE49-F238E27FC236}">
                    <a16:creationId xmlns:a16="http://schemas.microsoft.com/office/drawing/2014/main" id="{881BE79F-BC7F-A253-408B-B95170A41C11}"/>
                  </a:ext>
                </a:extLst>
              </p:cNvPr>
              <p:cNvSpPr txBox="1"/>
              <p:nvPr/>
            </p:nvSpPr>
            <p:spPr>
              <a:xfrm>
                <a:off x="1364161" y="914557"/>
                <a:ext cx="9644735" cy="4952510"/>
              </a:xfrm>
              <a:prstGeom prst="rect">
                <a:avLst/>
              </a:prstGeom>
              <a:noFill/>
            </p:spPr>
            <p:txBody>
              <a:bodyPr wrap="square">
                <a:spAutoFit/>
              </a:bodyPr>
              <a:lstStyle/>
              <a:p>
                <a:pPr indent="720000">
                  <a:lnSpc>
                    <a:spcPct val="130000"/>
                  </a:lnSpc>
                  <a:spcBef>
                    <a:spcPts val="600"/>
                  </a:spcBef>
                </a:pPr>
                <a:r>
                  <a:rPr lang="en-US" altLang="zh-CN" sz="3200" b="1" dirty="0">
                    <a:solidFill>
                      <a:srgbClr val="00B0F0"/>
                    </a:solidFill>
                    <a:latin typeface="微软雅黑" panose="020B0503020204020204" pitchFamily="34" charset="-122"/>
                    <a:ea typeface="微软雅黑" panose="020B0503020204020204" pitchFamily="34" charset="-122"/>
                  </a:rPr>
                  <a:t>1.</a:t>
                </a:r>
                <a:r>
                  <a:rPr lang="zh-CN" altLang="en-US" sz="3200" b="1" dirty="0">
                    <a:solidFill>
                      <a:srgbClr val="00B0F0"/>
                    </a:solidFill>
                    <a:latin typeface="微软雅黑" panose="020B0503020204020204" pitchFamily="34" charset="-122"/>
                    <a:ea typeface="微软雅黑" panose="020B0503020204020204" pitchFamily="34" charset="-122"/>
                  </a:rPr>
                  <a:t>样本均值和方差</a:t>
                </a:r>
                <a:endParaRPr lang="en-US" altLang="zh-CN" sz="3200" b="1" dirty="0">
                  <a:solidFill>
                    <a:srgbClr val="00B0F0"/>
                  </a:solidFill>
                  <a:latin typeface="微软雅黑" panose="020B0503020204020204" pitchFamily="34" charset="-122"/>
                  <a:ea typeface="微软雅黑" panose="020B0503020204020204" pitchFamily="34" charset="-122"/>
                </a:endParaRPr>
              </a:p>
              <a:p>
                <a:pPr indent="720000" algn="just">
                  <a:lnSpc>
                    <a:spcPct val="130000"/>
                  </a:lnSpc>
                  <a:spcBef>
                    <a:spcPts val="600"/>
                  </a:spcBef>
                </a:pPr>
                <a:r>
                  <a:rPr lang="zh-CN" altLang="en-US" sz="2800" b="1" dirty="0">
                    <a:latin typeface="宋体" panose="02010600030101010101" pitchFamily="2" charset="-122"/>
                    <a:ea typeface="宋体" panose="02010600030101010101" pitchFamily="2" charset="-122"/>
                  </a:rPr>
                  <a:t>设</a:t>
                </a:r>
                <a:r>
                  <a:rPr lang="en-US" altLang="zh-CN" sz="2800" b="1" dirty="0">
                    <a:latin typeface="宋体" panose="02010600030101010101" pitchFamily="2" charset="-122"/>
                    <a:ea typeface="宋体" panose="02010600030101010101" pitchFamily="2" charset="-122"/>
                  </a:rPr>
                  <a:t>X</a:t>
                </a:r>
                <a:r>
                  <a:rPr lang="zh-CN" altLang="en-US" sz="2800" b="1" dirty="0">
                    <a:latin typeface="宋体" panose="02010600030101010101" pitchFamily="2" charset="-122"/>
                    <a:ea typeface="宋体" panose="02010600030101010101" pitchFamily="2" charset="-122"/>
                  </a:rPr>
                  <a:t>是总体</a:t>
                </a:r>
                <a14:m>
                  <m:oMath xmlns:m="http://schemas.openxmlformats.org/officeDocument/2006/math">
                    <m:sSub>
                      <m:sSubPr>
                        <m:ctrlPr>
                          <a:rPr lang="zh-CN" altLang="zh-CN" sz="2800" b="1" i="1" smtClean="0">
                            <a:effectLst/>
                            <a:latin typeface="Cambria Math" panose="02040503050406030204" pitchFamily="18" charset="0"/>
                            <a:ea typeface="Cambria Math" panose="02040503050406030204" pitchFamily="18" charset="0"/>
                          </a:rPr>
                        </m:ctrlPr>
                      </m:sSubPr>
                      <m:e>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800" b="1" i="1">
                            <a:effectLst/>
                            <a:latin typeface="Cambria Math" panose="02040503050406030204" pitchFamily="18" charset="0"/>
                            <a:ea typeface="Cambria Math" panose="02040503050406030204" pitchFamily="18" charset="0"/>
                          </a:rPr>
                        </m:ctrlPr>
                      </m:sSubPr>
                      <m:e>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800" b="1" i="1">
                            <a:effectLst/>
                            <a:latin typeface="Cambria Math" panose="02040503050406030204" pitchFamily="18" charset="0"/>
                            <a:ea typeface="Cambria Math" panose="02040503050406030204" pitchFamily="18" charset="0"/>
                          </a:rPr>
                        </m:ctrlPr>
                      </m:sSubPr>
                      <m:e>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𝒏</m:t>
                        </m:r>
                      </m:sub>
                    </m:sSub>
                  </m:oMath>
                </a14:m>
                <a:r>
                  <a:rPr lang="zh-CN" altLang="en-US" sz="2800" b="1" dirty="0">
                    <a:latin typeface="宋体" panose="02010600030101010101" pitchFamily="2" charset="-122"/>
                    <a:ea typeface="宋体" panose="02010600030101010101" pitchFamily="2" charset="-122"/>
                  </a:rPr>
                  <a:t>中抽出的简单随机样本，则样本均值为</a:t>
                </a:r>
                <a14:m>
                  <m:oMath xmlns:m="http://schemas.openxmlformats.org/officeDocument/2006/math">
                    <m:acc>
                      <m:accPr>
                        <m:chr m:val="̅"/>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b="1" i="1" kern="100">
                            <a:latin typeface="Cambria Math" panose="02040503050406030204" pitchFamily="18" charset="0"/>
                            <a:cs typeface="Times New Roman" panose="02020603050405020304" pitchFamily="18" charset="0"/>
                          </a:rPr>
                          <m:t>𝑿</m:t>
                        </m:r>
                      </m:e>
                    </m:acc>
                    <m:r>
                      <a:rPr lang="en-US" altLang="zh-CN" sz="2800" b="1" i="1" kern="100">
                        <a:latin typeface="Cambria Math" panose="02040503050406030204" pitchFamily="18" charset="0"/>
                        <a:cs typeface="Times New Roman" panose="02020603050405020304" pitchFamily="18" charset="0"/>
                      </a:rPr>
                      <m:t>=</m:t>
                    </m:r>
                    <m:f>
                      <m:f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b="1" i="1" kern="100">
                            <a:latin typeface="Cambria Math" panose="02040503050406030204" pitchFamily="18" charset="0"/>
                            <a:cs typeface="Times New Roman" panose="02020603050405020304" pitchFamily="18" charset="0"/>
                          </a:rPr>
                          <m:t>𝟏</m:t>
                        </m:r>
                      </m:num>
                      <m:den>
                        <m:r>
                          <a:rPr lang="en-US" altLang="zh-CN" sz="2800" b="1" i="1" kern="100">
                            <a:latin typeface="Cambria Math" panose="02040503050406030204" pitchFamily="18" charset="0"/>
                            <a:cs typeface="Times New Roman" panose="02020603050405020304" pitchFamily="18" charset="0"/>
                          </a:rPr>
                          <m:t>𝒏</m:t>
                        </m:r>
                      </m:den>
                    </m:f>
                    <m:nary>
                      <m:naryPr>
                        <m:chr m:val="∑"/>
                        <m:limLoc m:val="undOv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b="1" i="1" kern="100">
                            <a:latin typeface="Cambria Math" panose="02040503050406030204" pitchFamily="18" charset="0"/>
                            <a:cs typeface="Times New Roman" panose="02020603050405020304" pitchFamily="18" charset="0"/>
                          </a:rPr>
                          <m:t>𝒊</m:t>
                        </m:r>
                        <m:r>
                          <a:rPr lang="en-US" altLang="zh-CN" sz="2800" b="1" i="1" kern="100">
                            <a:latin typeface="Cambria Math" panose="02040503050406030204" pitchFamily="18" charset="0"/>
                            <a:cs typeface="Times New Roman" panose="02020603050405020304" pitchFamily="18" charset="0"/>
                          </a:rPr>
                          <m:t>=</m:t>
                        </m:r>
                        <m:r>
                          <a:rPr lang="en-US" altLang="zh-CN" sz="2800" b="1" i="1" kern="100">
                            <a:latin typeface="Cambria Math" panose="02040503050406030204" pitchFamily="18" charset="0"/>
                            <a:cs typeface="Times New Roman" panose="02020603050405020304" pitchFamily="18" charset="0"/>
                          </a:rPr>
                          <m:t>𝟏</m:t>
                        </m:r>
                      </m:sub>
                      <m:sup>
                        <m:r>
                          <a:rPr lang="en-US" altLang="zh-CN" sz="2800" b="1" i="1" kern="100">
                            <a:latin typeface="Cambria Math" panose="02040503050406030204" pitchFamily="18" charset="0"/>
                            <a:cs typeface="Times New Roman" panose="02020603050405020304" pitchFamily="18" charset="0"/>
                          </a:rPr>
                          <m:t>𝒏</m:t>
                        </m:r>
                      </m:sup>
                      <m:e>
                        <m:r>
                          <a:rPr lang="en-US" altLang="zh-CN" sz="2800" b="1" i="1" kern="100">
                            <a:latin typeface="Cambria Math" panose="02040503050406030204" pitchFamily="18" charset="0"/>
                            <a:cs typeface="Times New Roman" panose="02020603050405020304" pitchFamily="18" charset="0"/>
                          </a:rPr>
                          <m:t> </m:t>
                        </m:r>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a:latin typeface="Cambria Math" panose="02040503050406030204" pitchFamily="18" charset="0"/>
                                <a:cs typeface="Times New Roman" panose="02020603050405020304" pitchFamily="18" charset="0"/>
                              </a:rPr>
                              <m:t>𝑿</m:t>
                            </m:r>
                          </m:e>
                          <m:sub>
                            <m:r>
                              <a:rPr lang="en-US" altLang="zh-CN" sz="2800" b="1" i="1" kern="100">
                                <a:latin typeface="Cambria Math" panose="02040503050406030204" pitchFamily="18" charset="0"/>
                                <a:cs typeface="Times New Roman" panose="02020603050405020304" pitchFamily="18" charset="0"/>
                              </a:rPr>
                              <m:t>𝒊</m:t>
                            </m:r>
                          </m:sub>
                        </m:sSub>
                      </m:e>
                    </m:nary>
                  </m:oMath>
                </a14:m>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样本方差为</a:t>
                </a:r>
                <a14:m>
                  <m:oMath xmlns:m="http://schemas.openxmlformats.org/officeDocument/2006/math">
                    <m:sSup>
                      <m:sSup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b="1" i="1" kern="100">
                            <a:latin typeface="Cambria Math" panose="02040503050406030204" pitchFamily="18" charset="0"/>
                            <a:cs typeface="Times New Roman" panose="02020603050405020304" pitchFamily="18" charset="0"/>
                          </a:rPr>
                          <m:t>𝑺</m:t>
                        </m:r>
                      </m:e>
                      <m:sup>
                        <m:r>
                          <a:rPr lang="en-US" altLang="zh-CN" sz="2800" b="1" i="1" kern="100">
                            <a:latin typeface="Cambria Math" panose="02040503050406030204" pitchFamily="18" charset="0"/>
                            <a:cs typeface="Times New Roman" panose="02020603050405020304" pitchFamily="18" charset="0"/>
                          </a:rPr>
                          <m:t>𝟐</m:t>
                        </m:r>
                      </m:sup>
                    </m:sSup>
                    <m:r>
                      <a:rPr lang="en-US" altLang="zh-CN" sz="2800" b="1" i="1" kern="100">
                        <a:latin typeface="Cambria Math" panose="02040503050406030204" pitchFamily="18" charset="0"/>
                        <a:cs typeface="Times New Roman" panose="02020603050405020304" pitchFamily="18" charset="0"/>
                      </a:rPr>
                      <m:t>=</m:t>
                    </m:r>
                    <m:f>
                      <m:f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b="1" i="1" kern="100">
                            <a:latin typeface="Cambria Math" panose="02040503050406030204" pitchFamily="18" charset="0"/>
                            <a:cs typeface="Times New Roman" panose="02020603050405020304" pitchFamily="18" charset="0"/>
                          </a:rPr>
                          <m:t>𝟏</m:t>
                        </m:r>
                      </m:num>
                      <m:den>
                        <m:r>
                          <a:rPr lang="en-US" altLang="zh-CN" sz="2800" b="1" i="1" kern="100">
                            <a:latin typeface="Cambria Math" panose="02040503050406030204" pitchFamily="18" charset="0"/>
                            <a:cs typeface="Times New Roman" panose="02020603050405020304" pitchFamily="18" charset="0"/>
                          </a:rPr>
                          <m:t>𝒏</m:t>
                        </m:r>
                        <m:r>
                          <a:rPr lang="en-US" altLang="zh-CN" sz="2800" b="1" i="1" kern="100">
                            <a:latin typeface="Cambria Math" panose="02040503050406030204" pitchFamily="18" charset="0"/>
                            <a:cs typeface="Times New Roman" panose="02020603050405020304" pitchFamily="18" charset="0"/>
                          </a:rPr>
                          <m:t>−</m:t>
                        </m:r>
                        <m:r>
                          <a:rPr lang="en-US" altLang="zh-CN" sz="2800" b="1" i="1" kern="100">
                            <a:latin typeface="Cambria Math" panose="02040503050406030204" pitchFamily="18" charset="0"/>
                            <a:cs typeface="Times New Roman" panose="02020603050405020304" pitchFamily="18" charset="0"/>
                          </a:rPr>
                          <m:t>𝟏</m:t>
                        </m:r>
                      </m:den>
                    </m:f>
                    <m:nary>
                      <m:naryPr>
                        <m:chr m:val="∑"/>
                        <m:limLoc m:val="undOv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b="1" i="1" kern="100">
                            <a:latin typeface="Cambria Math" panose="02040503050406030204" pitchFamily="18" charset="0"/>
                            <a:cs typeface="Times New Roman" panose="02020603050405020304" pitchFamily="18" charset="0"/>
                          </a:rPr>
                          <m:t>𝒊</m:t>
                        </m:r>
                        <m:r>
                          <a:rPr lang="en-US" altLang="zh-CN" sz="2800" b="1" i="1" kern="100">
                            <a:latin typeface="Cambria Math" panose="02040503050406030204" pitchFamily="18" charset="0"/>
                            <a:cs typeface="Times New Roman" panose="02020603050405020304" pitchFamily="18" charset="0"/>
                          </a:rPr>
                          <m:t>=</m:t>
                        </m:r>
                        <m:r>
                          <a:rPr lang="en-US" altLang="zh-CN" sz="2800" b="1" i="1" kern="100">
                            <a:latin typeface="Cambria Math" panose="02040503050406030204" pitchFamily="18" charset="0"/>
                            <a:cs typeface="Times New Roman" panose="02020603050405020304" pitchFamily="18" charset="0"/>
                          </a:rPr>
                          <m:t>𝟏</m:t>
                        </m:r>
                      </m:sub>
                      <m:sup>
                        <m:r>
                          <a:rPr lang="en-US" altLang="zh-CN" sz="2800" b="1" i="1" kern="100">
                            <a:latin typeface="Cambria Math" panose="02040503050406030204" pitchFamily="18" charset="0"/>
                            <a:cs typeface="Times New Roman" panose="02020603050405020304" pitchFamily="18" charset="0"/>
                          </a:rPr>
                          <m:t>𝒏</m:t>
                        </m:r>
                      </m:sup>
                      <m:e>
                        <m:sSup>
                          <m:sSup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b="1" i="1" kern="100">
                                    <a:latin typeface="Cambria Math" panose="02040503050406030204" pitchFamily="18" charset="0"/>
                                    <a:cs typeface="Times New Roman" panose="02020603050405020304" pitchFamily="18" charset="0"/>
                                  </a:rPr>
                                  <m:t> </m:t>
                                </m:r>
                                <m:sSub>
                                  <m:sSubPr>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1" i="1" kern="100">
                                        <a:latin typeface="Cambria Math" panose="02040503050406030204" pitchFamily="18" charset="0"/>
                                        <a:cs typeface="Times New Roman" panose="02020603050405020304" pitchFamily="18" charset="0"/>
                                      </a:rPr>
                                      <m:t>𝑿</m:t>
                                    </m:r>
                                  </m:e>
                                  <m:sub>
                                    <m:r>
                                      <a:rPr lang="en-US" altLang="zh-CN" sz="2800" b="1" i="1" kern="100">
                                        <a:latin typeface="Cambria Math" panose="02040503050406030204" pitchFamily="18" charset="0"/>
                                        <a:cs typeface="Times New Roman" panose="02020603050405020304" pitchFamily="18" charset="0"/>
                                      </a:rPr>
                                      <m:t>𝒊</m:t>
                                    </m:r>
                                  </m:sub>
                                </m:sSub>
                                <m:r>
                                  <a:rPr lang="en-US" altLang="zh-CN" sz="2800" b="1" i="1" kern="100">
                                    <a:latin typeface="Cambria Math" panose="02040503050406030204" pitchFamily="18" charset="0"/>
                                    <a:cs typeface="Times New Roman" panose="02020603050405020304" pitchFamily="18" charset="0"/>
                                  </a:rPr>
                                  <m:t>−</m:t>
                                </m:r>
                                <m:acc>
                                  <m:accPr>
                                    <m:chr m:val="̅"/>
                                    <m:ctrlPr>
                                      <a:rPr lang="zh-CN" altLang="zh-CN" sz="2800" b="1"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b="1" i="1" kern="100">
                                        <a:latin typeface="Cambria Math" panose="02040503050406030204" pitchFamily="18" charset="0"/>
                                        <a:cs typeface="Times New Roman" panose="02020603050405020304" pitchFamily="18" charset="0"/>
                                      </a:rPr>
                                      <m:t>𝑿</m:t>
                                    </m:r>
                                  </m:e>
                                </m:acc>
                              </m:e>
                            </m:d>
                          </m:e>
                          <m:sup>
                            <m:r>
                              <a:rPr lang="en-US" altLang="zh-CN" sz="2800" b="1" i="1" kern="100">
                                <a:latin typeface="Cambria Math" panose="02040503050406030204" pitchFamily="18" charset="0"/>
                                <a:cs typeface="Times New Roman" panose="02020603050405020304" pitchFamily="18" charset="0"/>
                              </a:rPr>
                              <m:t>𝟐</m:t>
                            </m:r>
                          </m:sup>
                        </m:sSup>
                      </m:e>
                    </m:nary>
                  </m:oMath>
                </a14:m>
                <a:r>
                  <a:rPr lang="zh-CN" altLang="en-US" sz="2800" b="1" dirty="0">
                    <a:latin typeface="宋体" panose="02010600030101010101" pitchFamily="2" charset="-122"/>
                    <a:ea typeface="宋体" panose="02010600030101010101" pitchFamily="2" charset="-122"/>
                  </a:rPr>
                  <a:t>。</a:t>
                </a:r>
              </a:p>
              <a:p>
                <a:pPr indent="720000">
                  <a:lnSpc>
                    <a:spcPct val="130000"/>
                  </a:lnSpc>
                  <a:spcBef>
                    <a:spcPts val="600"/>
                  </a:spcBef>
                </a:pPr>
                <a:r>
                  <a:rPr lang="zh-CN" altLang="en-US" sz="2800" b="1" dirty="0">
                    <a:latin typeface="宋体" panose="02010600030101010101" pitchFamily="2" charset="-122"/>
                    <a:ea typeface="宋体" panose="02010600030101010101" pitchFamily="2" charset="-122"/>
                  </a:rPr>
                  <a:t>由于</a:t>
                </a:r>
                <a14:m>
                  <m:oMath xmlns:m="http://schemas.openxmlformats.org/officeDocument/2006/math">
                    <m:sSub>
                      <m:sSubPr>
                        <m:ctrlPr>
                          <a:rPr kumimoji="0" lang="zh-CN" altLang="zh-CN" sz="2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𝑿</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𝟏</m:t>
                        </m:r>
                      </m:sub>
                    </m:s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 </m:t>
                    </m:r>
                    <m:sSub>
                      <m:sSubPr>
                        <m:ctrlPr>
                          <a:rPr kumimoji="0" lang="zh-CN" altLang="zh-CN" sz="2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𝑿</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𝟐</m:t>
                        </m:r>
                      </m:sub>
                    </m:s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 …,</m:t>
                    </m:r>
                    <m:sSub>
                      <m:sSubPr>
                        <m:ctrlPr>
                          <a:rPr kumimoji="0" lang="zh-CN" altLang="zh-CN" sz="2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𝑿</m:t>
                        </m:r>
                      </m:e>
                      <m:sub>
                        <m:r>
                          <a:rPr kumimoji="0" lang="en-US" altLang="zh-CN" sz="2800" b="1"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𝒏</m:t>
                        </m:r>
                      </m:sub>
                    </m:sSub>
                  </m:oMath>
                </a14:m>
                <a:r>
                  <a:rPr lang="zh-CN" altLang="en-US" sz="2800" b="1" dirty="0">
                    <a:latin typeface="宋体" panose="02010600030101010101" pitchFamily="2" charset="-122"/>
                    <a:ea typeface="宋体" panose="02010600030101010101" pitchFamily="2" charset="-122"/>
                  </a:rPr>
                  <a:t>是总体</a:t>
                </a:r>
                <a:r>
                  <a:rPr lang="en-US" altLang="zh-CN" sz="2800" b="1" dirty="0">
                    <a:latin typeface="宋体" panose="02010600030101010101" pitchFamily="2" charset="-122"/>
                    <a:ea typeface="宋体" panose="02010600030101010101" pitchFamily="2" charset="-122"/>
                  </a:rPr>
                  <a:t>X</a:t>
                </a:r>
                <a:r>
                  <a:rPr lang="zh-CN" altLang="en-US" sz="2800" b="1" dirty="0">
                    <a:latin typeface="宋体" panose="02010600030101010101" pitchFamily="2" charset="-122"/>
                    <a:ea typeface="宋体" panose="02010600030101010101" pitchFamily="2" charset="-122"/>
                  </a:rPr>
                  <a:t>中抽出的简单随机样本（</a:t>
                </a:r>
                <a:r>
                  <a:rPr lang="en-US" altLang="zh-CN" sz="2800" b="1" dirty="0" err="1">
                    <a:latin typeface="宋体" panose="02010600030101010101" pitchFamily="2" charset="-122"/>
                    <a:ea typeface="宋体" panose="02010600030101010101" pitchFamily="2" charset="-122"/>
                  </a:rPr>
                  <a:t>iid</a:t>
                </a:r>
                <a:r>
                  <a:rPr lang="zh-CN" altLang="en-US" sz="2800" b="1" dirty="0">
                    <a:latin typeface="宋体" panose="02010600030101010101" pitchFamily="2" charset="-122"/>
                    <a:ea typeface="宋体" panose="02010600030101010101" pitchFamily="2" charset="-122"/>
                  </a:rPr>
                  <a:t>），所以</a:t>
                </a:r>
                <a:r>
                  <a:rPr lang="zh-CN" altLang="en-US" sz="2800" b="1" dirty="0">
                    <a:solidFill>
                      <a:srgbClr val="0070C0"/>
                    </a:solidFill>
                    <a:latin typeface="宋体" panose="02010600030101010101" pitchFamily="2" charset="-122"/>
                    <a:ea typeface="宋体" panose="02010600030101010101" pitchFamily="2" charset="-122"/>
                  </a:rPr>
                  <a:t>样本均值和方差具有如下性质</a:t>
                </a:r>
                <a:r>
                  <a:rPr lang="zh-CN" altLang="en-US" sz="2800" b="1" dirty="0">
                    <a:latin typeface="宋体" panose="02010600030101010101" pitchFamily="2" charset="-122"/>
                    <a:ea typeface="宋体" panose="02010600030101010101" pitchFamily="2" charset="-122"/>
                  </a:rPr>
                  <a:t>：</a:t>
                </a:r>
              </a:p>
              <a:p>
                <a:pPr indent="720000" algn="just">
                  <a:lnSpc>
                    <a:spcPct val="130000"/>
                  </a:lnSpc>
                  <a:spcBef>
                    <a:spcPts val="600"/>
                  </a:spcBef>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a:t>
                </a:r>
                <a:r>
                  <a:rPr lang="en-US" altLang="zh-CN" sz="2800" b="1" kern="100" dirty="0">
                    <a:effectLst/>
                    <a:ea typeface="等线" panose="02010600030101010101" pitchFamily="2" charset="-122"/>
                    <a:cs typeface="Times New Roman" panose="02020603050405020304" pitchFamily="18" charset="0"/>
                  </a:rPr>
                  <a:t> </a:t>
                </a:r>
                <a14:m>
                  <m:oMath xmlns:m="http://schemas.openxmlformats.org/officeDocument/2006/math">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𝑬</m:t>
                    </m:r>
                    <m:d>
                      <m:dPr>
                        <m:ctrlPr>
                          <a:rPr lang="zh-CN" altLang="zh-CN" sz="2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2800" b="1"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𝑿</m:t>
                            </m:r>
                          </m:e>
                        </m:acc>
                      </m:e>
                    </m:d>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𝑬</m:t>
                    </m:r>
                    <m:d>
                      <m:dPr>
                        <m:ctrlPr>
                          <a:rPr lang="zh-CN" altLang="zh-CN" sz="2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𝑿</m:t>
                        </m:r>
                      </m:e>
                    </m:d>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𝑫</m:t>
                    </m:r>
                    <m:d>
                      <m:dPr>
                        <m:ctrlPr>
                          <a:rPr lang="zh-CN" altLang="zh-CN" sz="2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2800" b="1"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𝑿</m:t>
                            </m:r>
                          </m:e>
                        </m:acc>
                      </m:e>
                    </m:d>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b="1"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𝑫</m:t>
                        </m:r>
                        <m:d>
                          <m:dPr>
                            <m:ctrlPr>
                              <a:rPr lang="zh-CN" altLang="zh-CN" sz="2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𝑿</m:t>
                            </m:r>
                          </m:e>
                        </m:d>
                      </m:num>
                      <m:den>
                        <m:r>
                          <a:rPr lang="en-US" altLang="zh-CN" sz="2800" b="1" i="1" kern="100">
                            <a:effectLst/>
                            <a:latin typeface="Cambria Math" panose="02040503050406030204" pitchFamily="18" charset="0"/>
                            <a:ea typeface="等线" panose="02010600030101010101" pitchFamily="2" charset="-122"/>
                            <a:cs typeface="Times New Roman" panose="02020603050405020304" pitchFamily="18" charset="0"/>
                          </a:rPr>
                          <m:t>𝒏</m:t>
                        </m:r>
                      </m:den>
                    </m:f>
                  </m:oMath>
                </a14:m>
                <a:endParaRPr lang="en-US" altLang="zh-CN" sz="2800" b="1" kern="100" dirty="0">
                  <a:effectLst/>
                  <a:ea typeface="等线" panose="02010600030101010101" pitchFamily="2" charset="-122"/>
                  <a:cs typeface="Times New Roman" panose="02020603050405020304" pitchFamily="18" charset="0"/>
                </a:endParaRPr>
              </a:p>
              <a:p>
                <a:pPr indent="720000" algn="just">
                  <a:lnSpc>
                    <a:spcPct val="130000"/>
                  </a:lnSpc>
                  <a:spcBef>
                    <a:spcPts val="600"/>
                  </a:spcBef>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a:t>
                </a:r>
                <a14:m>
                  <m:oMath xmlns:m="http://schemas.openxmlformats.org/officeDocument/2006/math">
                    <m:r>
                      <a:rPr lang="zh-CN" altLang="zh-CN" sz="2800" b="1" i="1" smtClean="0">
                        <a:effectLst/>
                        <a:latin typeface="Cambria Math" panose="02040503050406030204" pitchFamily="18" charset="0"/>
                        <a:ea typeface="Cambria Math" panose="02040503050406030204" pitchFamily="18" charset="0"/>
                        <a:cs typeface="Times New Roman" panose="02020603050405020304" pitchFamily="18" charset="0"/>
                      </a:rPr>
                      <m:t> </m:t>
                    </m:r>
                    <m:r>
                      <a:rPr lang="en-US" altLang="zh-CN" sz="2800" b="1" i="1">
                        <a:effectLst/>
                        <a:latin typeface="Cambria Math" panose="02040503050406030204" pitchFamily="18" charset="0"/>
                        <a:ea typeface="Cambria Math" panose="02040503050406030204" pitchFamily="18" charset="0"/>
                        <a:cs typeface="Times New Roman" panose="02020603050405020304" pitchFamily="18" charset="0"/>
                      </a:rPr>
                      <m:t>𝑬</m:t>
                    </m:r>
                    <m:d>
                      <m:dPr>
                        <m:ctrlPr>
                          <a:rPr lang="zh-CN" altLang="zh-CN" sz="2800" b="1" i="1">
                            <a:effectLst/>
                            <a:latin typeface="Cambria Math" panose="02040503050406030204" pitchFamily="18" charset="0"/>
                            <a:ea typeface="Cambria Math" panose="02040503050406030204" pitchFamily="18" charset="0"/>
                          </a:rPr>
                        </m:ctrlPr>
                      </m:dPr>
                      <m:e>
                        <m:sSup>
                          <m:sSupPr>
                            <m:ctrlPr>
                              <a:rPr lang="zh-CN" altLang="zh-CN" sz="2800" b="1" i="1">
                                <a:effectLst/>
                                <a:latin typeface="Cambria Math" panose="02040503050406030204" pitchFamily="18" charset="0"/>
                                <a:ea typeface="Cambria Math" panose="02040503050406030204" pitchFamily="18" charset="0"/>
                              </a:rPr>
                            </m:ctrlPr>
                          </m:sSupPr>
                          <m:e>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𝑺</m:t>
                            </m:r>
                          </m:e>
                          <m:sup>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𝟐</m:t>
                            </m:r>
                          </m:sup>
                        </m:sSup>
                      </m:e>
                    </m:d>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𝑫</m:t>
                    </m:r>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𝑿</m:t>
                    </m:r>
                    <m:r>
                      <a:rPr lang="en-US" altLang="zh-CN" sz="2800" b="1" i="1">
                        <a:effectLst/>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en-US" sz="2800" b="1" dirty="0">
                  <a:latin typeface="宋体" panose="02010600030101010101" pitchFamily="2" charset="-122"/>
                  <a:ea typeface="宋体" panose="02010600030101010101" pitchFamily="2" charset="-122"/>
                </a:endParaRPr>
              </a:p>
            </p:txBody>
          </p:sp>
        </mc:Choice>
        <mc:Fallback>
          <p:sp>
            <p:nvSpPr>
              <p:cNvPr id="45" name="文本框 44">
                <a:extLst>
                  <a:ext uri="{FF2B5EF4-FFF2-40B4-BE49-F238E27FC236}">
                    <a16:creationId xmlns:a16="http://schemas.microsoft.com/office/drawing/2014/main" id="{881BE79F-BC7F-A253-408B-B95170A41C11}"/>
                  </a:ext>
                </a:extLst>
              </p:cNvPr>
              <p:cNvSpPr txBox="1">
                <a:spLocks noRot="1" noChangeAspect="1" noMove="1" noResize="1" noEditPoints="1" noAdjustHandles="1" noChangeArrowheads="1" noChangeShapeType="1" noTextEdit="1"/>
              </p:cNvSpPr>
              <p:nvPr/>
            </p:nvSpPr>
            <p:spPr>
              <a:xfrm>
                <a:off x="1364161" y="914557"/>
                <a:ext cx="9644735" cy="4952510"/>
              </a:xfrm>
              <a:prstGeom prst="rect">
                <a:avLst/>
              </a:prstGeom>
              <a:blipFill>
                <a:blip r:embed="rId2"/>
                <a:stretch>
                  <a:fillRect l="-1327" r="-1264" b="-14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7406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24</a:t>
            </a:fld>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881BE79F-BC7F-A253-408B-B95170A41C11}"/>
                  </a:ext>
                </a:extLst>
              </p:cNvPr>
              <p:cNvSpPr txBox="1"/>
              <p:nvPr/>
            </p:nvSpPr>
            <p:spPr>
              <a:xfrm>
                <a:off x="1672389" y="1126615"/>
                <a:ext cx="9473008" cy="4525213"/>
              </a:xfrm>
              <a:prstGeom prst="rect">
                <a:avLst/>
              </a:prstGeom>
              <a:noFill/>
            </p:spPr>
            <p:txBody>
              <a:bodyPr wrap="square">
                <a:spAutoFit/>
              </a:bodyPr>
              <a:lstStyle/>
              <a:p>
                <a:pPr indent="360363">
                  <a:lnSpc>
                    <a:spcPct val="150000"/>
                  </a:lnSpc>
                </a:pPr>
                <a:r>
                  <a:rPr lang="en-US" altLang="zh-CN" sz="3200" b="1" dirty="0">
                    <a:solidFill>
                      <a:srgbClr val="00B0F0"/>
                    </a:solidFill>
                    <a:latin typeface="微软雅黑" panose="020B0503020204020204" pitchFamily="34" charset="-122"/>
                    <a:ea typeface="微软雅黑" panose="020B0503020204020204" pitchFamily="34" charset="-122"/>
                  </a:rPr>
                  <a:t>2.</a:t>
                </a:r>
                <a:r>
                  <a:rPr lang="zh-CN" altLang="en-US" sz="3200" b="1" dirty="0">
                    <a:solidFill>
                      <a:srgbClr val="00B0F0"/>
                    </a:solidFill>
                    <a:latin typeface="微软雅黑" panose="020B0503020204020204" pitchFamily="34" charset="-122"/>
                    <a:ea typeface="微软雅黑" panose="020B0503020204020204" pitchFamily="34" charset="-122"/>
                  </a:rPr>
                  <a:t>样本矩</a:t>
                </a:r>
                <a:endParaRPr lang="en-US" altLang="zh-CN" sz="3200" b="1" dirty="0">
                  <a:solidFill>
                    <a:srgbClr val="00B0F0"/>
                  </a:solidFill>
                  <a:latin typeface="微软雅黑" panose="020B0503020204020204" pitchFamily="34" charset="-122"/>
                  <a:ea typeface="微软雅黑" panose="020B0503020204020204" pitchFamily="34" charset="-122"/>
                </a:endParaRPr>
              </a:p>
              <a:p>
                <a:pPr indent="720000">
                  <a:lnSpc>
                    <a:spcPct val="150000"/>
                  </a:lnSpc>
                </a:pPr>
                <a:r>
                  <a:rPr lang="en-US" altLang="zh-CN" sz="2800" b="1" dirty="0">
                    <a:latin typeface="等线" panose="02010600030101010101" pitchFamily="2" charset="-122"/>
                    <a:ea typeface="等线" panose="02010600030101010101" pitchFamily="2" charset="-122"/>
                  </a:rPr>
                  <a:t>k</a:t>
                </a:r>
                <a:r>
                  <a:rPr lang="zh-CN" altLang="en-US" sz="2800" b="1" dirty="0">
                    <a:latin typeface="等线" panose="02010600030101010101" pitchFamily="2" charset="-122"/>
                    <a:ea typeface="等线" panose="02010600030101010101" pitchFamily="2" charset="-122"/>
                  </a:rPr>
                  <a:t>阶样本原点矩 </a:t>
                </a:r>
                <a14:m>
                  <m:oMath xmlns:m="http://schemas.openxmlformats.org/officeDocument/2006/math">
                    <m:sSub>
                      <m:sSubPr>
                        <m:ctrlPr>
                          <a:rPr lang="zh-CN" altLang="zh-CN" sz="2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𝐴</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den>
                    </m:f>
                    <m:nary>
                      <m:naryPr>
                        <m:chr m:val="∑"/>
                        <m:limLoc m:val="undOv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Sup>
                          <m:sSub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sup>
                        </m:sSubSup>
                      </m:e>
                    </m:nary>
                  </m:oMath>
                </a14:m>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indent="720000">
                  <a:lnSpc>
                    <a:spcPct val="150000"/>
                  </a:lnSpc>
                </a:pPr>
                <a:r>
                  <a:rPr lang="en-US" altLang="zh-CN" sz="2800" b="1" dirty="0">
                    <a:latin typeface="等线" panose="02010600030101010101" pitchFamily="2" charset="-122"/>
                    <a:ea typeface="等线" panose="02010600030101010101" pitchFamily="2" charset="-122"/>
                  </a:rPr>
                  <a:t>k</a:t>
                </a:r>
                <a:r>
                  <a:rPr lang="zh-CN" altLang="en-US" sz="2800" b="1" dirty="0">
                    <a:latin typeface="等线" panose="02010600030101010101" pitchFamily="2" charset="-122"/>
                    <a:ea typeface="等线" panose="02010600030101010101" pitchFamily="2" charset="-122"/>
                  </a:rPr>
                  <a:t>阶样本中心矩</a:t>
                </a:r>
                <a14:m>
                  <m:oMath xmlns:m="http://schemas.openxmlformats.org/officeDocument/2006/math">
                    <m:r>
                      <a:rPr lang="en-US" altLang="zh-CN" sz="2800" b="1">
                        <a:latin typeface="Cambria Math" panose="02040503050406030204" pitchFamily="18" charset="0"/>
                        <a:ea typeface="等线" panose="02010600030101010101" pitchFamily="2" charset="-122"/>
                      </a:rPr>
                      <m:t>  </m:t>
                    </m:r>
                    <m:sSub>
                      <m:sSubPr>
                        <m:ctrlPr>
                          <a:rPr lang="zh-CN" altLang="zh-CN" sz="2800" b="1" i="1">
                            <a:latin typeface="Cambria Math" panose="02040503050406030204" pitchFamily="18" charset="0"/>
                            <a:ea typeface="等线" panose="02010600030101010101" pitchFamily="2" charset="-122"/>
                          </a:rPr>
                        </m:ctrlPr>
                      </m:sSubPr>
                      <m:e>
                        <m:r>
                          <a:rPr lang="en-US" altLang="zh-CN" sz="2800" b="1">
                            <a:latin typeface="Cambria Math" panose="02040503050406030204" pitchFamily="18" charset="0"/>
                            <a:ea typeface="等线" panose="02010600030101010101" pitchFamily="2" charset="-122"/>
                          </a:rPr>
                          <m:t>𝐵</m:t>
                        </m:r>
                      </m:e>
                      <m:sub>
                        <m:r>
                          <a:rPr lang="en-US" altLang="zh-CN" sz="2800" b="1">
                            <a:latin typeface="Cambria Math" panose="02040503050406030204" pitchFamily="18" charset="0"/>
                            <a:ea typeface="等线" panose="02010600030101010101" pitchFamily="2" charset="-122"/>
                          </a:rPr>
                          <m:t>𝑘</m:t>
                        </m:r>
                      </m:sub>
                    </m:sSub>
                    <m:r>
                      <a:rPr lang="en-US" altLang="zh-CN" sz="2800" b="1">
                        <a:latin typeface="Cambria Math" panose="02040503050406030204" pitchFamily="18" charset="0"/>
                        <a:ea typeface="等线" panose="02010600030101010101" pitchFamily="2" charset="-122"/>
                      </a:rPr>
                      <m:t>=</m:t>
                    </m:r>
                    <m:f>
                      <m:fPr>
                        <m:ctrlPr>
                          <a:rPr lang="zh-CN" altLang="zh-CN" sz="2800" b="1" i="1">
                            <a:latin typeface="Cambria Math" panose="02040503050406030204" pitchFamily="18" charset="0"/>
                            <a:ea typeface="等线" panose="02010600030101010101" pitchFamily="2" charset="-122"/>
                          </a:rPr>
                        </m:ctrlPr>
                      </m:fPr>
                      <m:num>
                        <m:r>
                          <a:rPr lang="en-US" altLang="zh-CN" sz="2800" b="1">
                            <a:latin typeface="Cambria Math" panose="02040503050406030204" pitchFamily="18" charset="0"/>
                            <a:ea typeface="等线" panose="02010600030101010101" pitchFamily="2" charset="-122"/>
                          </a:rPr>
                          <m:t>1</m:t>
                        </m:r>
                      </m:num>
                      <m:den>
                        <m:r>
                          <a:rPr lang="en-US" altLang="zh-CN" sz="2800" b="1">
                            <a:latin typeface="Cambria Math" panose="02040503050406030204" pitchFamily="18" charset="0"/>
                            <a:ea typeface="等线" panose="02010600030101010101" pitchFamily="2" charset="-122"/>
                          </a:rPr>
                          <m:t>𝑛</m:t>
                        </m:r>
                      </m:den>
                    </m:f>
                    <m:nary>
                      <m:naryPr>
                        <m:chr m:val="∑"/>
                        <m:limLoc m:val="undOvr"/>
                        <m:ctrlPr>
                          <a:rPr lang="zh-CN" altLang="zh-CN" sz="2800" b="1" i="1">
                            <a:latin typeface="Cambria Math" panose="02040503050406030204" pitchFamily="18" charset="0"/>
                            <a:ea typeface="等线" panose="02010600030101010101" pitchFamily="2" charset="-122"/>
                          </a:rPr>
                        </m:ctrlPr>
                      </m:naryPr>
                      <m:sub>
                        <m:r>
                          <a:rPr lang="en-US" altLang="zh-CN" sz="2800" b="1">
                            <a:latin typeface="Cambria Math" panose="02040503050406030204" pitchFamily="18" charset="0"/>
                            <a:ea typeface="等线" panose="02010600030101010101" pitchFamily="2" charset="-122"/>
                          </a:rPr>
                          <m:t>𝑖</m:t>
                        </m:r>
                        <m:r>
                          <a:rPr lang="en-US" altLang="zh-CN" sz="2800" b="1">
                            <a:latin typeface="Cambria Math" panose="02040503050406030204" pitchFamily="18" charset="0"/>
                            <a:ea typeface="等线" panose="02010600030101010101" pitchFamily="2" charset="-122"/>
                          </a:rPr>
                          <m:t>=1</m:t>
                        </m:r>
                      </m:sub>
                      <m:sup>
                        <m:r>
                          <a:rPr lang="en-US" altLang="zh-CN" sz="2800" b="1">
                            <a:latin typeface="Cambria Math" panose="02040503050406030204" pitchFamily="18" charset="0"/>
                            <a:ea typeface="等线" panose="02010600030101010101" pitchFamily="2" charset="-122"/>
                          </a:rPr>
                          <m:t>𝑛</m:t>
                        </m:r>
                      </m:sup>
                      <m:e>
                        <m:r>
                          <a:rPr lang="en-US" altLang="zh-CN" sz="2800" b="1">
                            <a:latin typeface="Cambria Math" panose="02040503050406030204" pitchFamily="18" charset="0"/>
                            <a:ea typeface="等线" panose="02010600030101010101" pitchFamily="2" charset="-122"/>
                          </a:rPr>
                          <m:t> </m:t>
                        </m:r>
                        <m:sSup>
                          <m:sSupPr>
                            <m:ctrlPr>
                              <a:rPr lang="zh-CN" altLang="zh-CN" sz="2800" b="1" i="1">
                                <a:latin typeface="Cambria Math" panose="02040503050406030204" pitchFamily="18" charset="0"/>
                                <a:ea typeface="等线" panose="02010600030101010101" pitchFamily="2" charset="-122"/>
                              </a:rPr>
                            </m:ctrlPr>
                          </m:sSupPr>
                          <m:e>
                            <m:d>
                              <m:dPr>
                                <m:ctrlPr>
                                  <a:rPr lang="zh-CN" altLang="zh-CN" sz="2800" b="1" i="1">
                                    <a:latin typeface="Cambria Math" panose="02040503050406030204" pitchFamily="18" charset="0"/>
                                    <a:ea typeface="等线" panose="02010600030101010101" pitchFamily="2" charset="-122"/>
                                  </a:rPr>
                                </m:ctrlPr>
                              </m:dPr>
                              <m:e>
                                <m:sSub>
                                  <m:sSubPr>
                                    <m:ctrlPr>
                                      <a:rPr lang="zh-CN" altLang="zh-CN" sz="2800" b="1" i="1">
                                        <a:latin typeface="Cambria Math" panose="02040503050406030204" pitchFamily="18" charset="0"/>
                                        <a:ea typeface="等线" panose="02010600030101010101" pitchFamily="2" charset="-122"/>
                                      </a:rPr>
                                    </m:ctrlPr>
                                  </m:sSubPr>
                                  <m:e>
                                    <m:r>
                                      <a:rPr lang="en-US" altLang="zh-CN" sz="2800" b="1">
                                        <a:latin typeface="Cambria Math" panose="02040503050406030204" pitchFamily="18" charset="0"/>
                                        <a:ea typeface="等线" panose="02010600030101010101" pitchFamily="2" charset="-122"/>
                                      </a:rPr>
                                      <m:t>𝑋</m:t>
                                    </m:r>
                                  </m:e>
                                  <m:sub>
                                    <m:r>
                                      <a:rPr lang="en-US" altLang="zh-CN" sz="2800" b="1">
                                        <a:latin typeface="Cambria Math" panose="02040503050406030204" pitchFamily="18" charset="0"/>
                                        <a:ea typeface="等线" panose="02010600030101010101" pitchFamily="2" charset="-122"/>
                                      </a:rPr>
                                      <m:t>𝑖</m:t>
                                    </m:r>
                                  </m:sub>
                                </m:sSub>
                                <m:r>
                                  <a:rPr lang="en-US" altLang="zh-CN" sz="2800" b="1">
                                    <a:latin typeface="Cambria Math" panose="02040503050406030204" pitchFamily="18" charset="0"/>
                                    <a:ea typeface="等线" panose="02010600030101010101" pitchFamily="2" charset="-122"/>
                                  </a:rPr>
                                  <m:t>−</m:t>
                                </m:r>
                                <m:acc>
                                  <m:accPr>
                                    <m:chr m:val="̅"/>
                                    <m:ctrlPr>
                                      <a:rPr lang="zh-CN" altLang="zh-CN" sz="2800" b="1" i="1">
                                        <a:latin typeface="Cambria Math" panose="02040503050406030204" pitchFamily="18" charset="0"/>
                                        <a:ea typeface="等线" panose="02010600030101010101" pitchFamily="2" charset="-122"/>
                                      </a:rPr>
                                    </m:ctrlPr>
                                  </m:accPr>
                                  <m:e>
                                    <m:r>
                                      <a:rPr lang="en-US" altLang="zh-CN" sz="2800" b="1">
                                        <a:latin typeface="Cambria Math" panose="02040503050406030204" pitchFamily="18" charset="0"/>
                                        <a:ea typeface="等线" panose="02010600030101010101" pitchFamily="2" charset="-122"/>
                                      </a:rPr>
                                      <m:t>𝑋</m:t>
                                    </m:r>
                                  </m:e>
                                </m:acc>
                              </m:e>
                            </m:d>
                          </m:e>
                          <m:sup>
                            <m:r>
                              <a:rPr lang="en-US" altLang="zh-CN" sz="2800" b="1">
                                <a:latin typeface="Cambria Math" panose="02040503050406030204" pitchFamily="18" charset="0"/>
                                <a:ea typeface="等线" panose="02010600030101010101" pitchFamily="2" charset="-122"/>
                              </a:rPr>
                              <m:t>𝑘</m:t>
                            </m:r>
                          </m:sup>
                        </m:sSup>
                      </m:e>
                    </m:nary>
                  </m:oMath>
                </a14:m>
                <a:endParaRPr lang="zh-CN" altLang="zh-CN" sz="2800" b="1" dirty="0">
                  <a:latin typeface="等线" panose="02010600030101010101" pitchFamily="2" charset="-122"/>
                  <a:ea typeface="等线" panose="02010600030101010101" pitchFamily="2" charset="-122"/>
                </a:endParaRPr>
              </a:p>
              <a:p>
                <a:pPr indent="720000" algn="just">
                  <a:lnSpc>
                    <a:spcPct val="150000"/>
                  </a:lnSpc>
                </a:pPr>
                <a:r>
                  <a:rPr lang="zh-CN" altLang="en-US" sz="2800" dirty="0">
                    <a:latin typeface="宋体" panose="02010600030101010101" pitchFamily="2" charset="-122"/>
                    <a:ea typeface="宋体" panose="02010600030101010101" pitchFamily="2" charset="-122"/>
                  </a:rPr>
                  <a:t>   特别当</a:t>
                </a:r>
                <a:r>
                  <a:rPr lang="en-US" altLang="zh-CN" sz="2800" dirty="0">
                    <a:latin typeface="宋体" panose="02010600030101010101" pitchFamily="2" charset="-122"/>
                    <a:ea typeface="宋体" panose="02010600030101010101" pitchFamily="2" charset="-122"/>
                  </a:rPr>
                  <a:t>k=2</a:t>
                </a:r>
                <a:r>
                  <a:rPr lang="zh-CN" altLang="en-US" sz="2800" dirty="0">
                    <a:latin typeface="宋体" panose="02010600030101010101" pitchFamily="2" charset="-122"/>
                    <a:ea typeface="宋体" panose="02010600030101010101" pitchFamily="2" charset="-122"/>
                  </a:rPr>
                  <a:t>时</a:t>
                </a:r>
                <a:r>
                  <a:rPr lang="en-US" altLang="zh-CN" sz="2800" dirty="0">
                    <a:latin typeface="宋体" panose="02010600030101010101" pitchFamily="2" charset="-122"/>
                    <a:ea typeface="宋体" panose="02010600030101010101" pitchFamily="2" charset="-122"/>
                  </a:rPr>
                  <a:t>,</a:t>
                </a:r>
                <a:r>
                  <a:rPr lang="zh-CN" altLang="zh-CN" sz="2800" kern="100" dirty="0">
                    <a:effectLst/>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𝐵</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den>
                    </m:f>
                    <m:nary>
                      <m:naryPr>
                        <m:chr m:val="∑"/>
                        <m:limLoc m:val="undOv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acc>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e>
                    </m:nary>
                  </m:oMath>
                </a14:m>
                <a:r>
                  <a:rPr lang="zh-CN" altLang="en-US" sz="2800" dirty="0">
                    <a:latin typeface="宋体" panose="02010600030101010101" pitchFamily="2" charset="-122"/>
                    <a:ea typeface="宋体" panose="02010600030101010101" pitchFamily="2" charset="-122"/>
                  </a:rPr>
                  <a:t>称为</a:t>
                </a:r>
                <a:r>
                  <a:rPr lang="zh-CN" altLang="en-US" sz="2800" b="1" dirty="0">
                    <a:latin typeface="等线" panose="02010600030101010101" pitchFamily="2" charset="-122"/>
                    <a:ea typeface="等线" panose="02010600030101010101" pitchFamily="2" charset="-122"/>
                  </a:rPr>
                  <a:t>样本的未修正方差</a:t>
                </a:r>
                <a:r>
                  <a:rPr lang="zh-CN" altLang="en-US" sz="2800" dirty="0">
                    <a:latin typeface="宋体" panose="02010600030101010101" pitchFamily="2" charset="-122"/>
                    <a:ea typeface="宋体" panose="02010600030101010101" pitchFamily="2" charset="-122"/>
                  </a:rPr>
                  <a:t>，常记</a:t>
                </a:r>
                <a14:m>
                  <m:oMath xmlns:m="http://schemas.openxmlformats.org/officeDocument/2006/math">
                    <m:sSubSup>
                      <m:sSubSupPr>
                        <m:ctrlPr>
                          <a:rPr lang="zh-CN" altLang="zh-CN" sz="2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bSup>
                  </m:oMath>
                </a14:m>
                <a:r>
                  <a:rPr lang="zh-CN" altLang="en-US" sz="2800" dirty="0">
                    <a:latin typeface="宋体" panose="02010600030101010101" pitchFamily="2" charset="-122"/>
                    <a:ea typeface="宋体" panose="02010600030101010101" pitchFamily="2" charset="-122"/>
                  </a:rPr>
                  <a:t>，显然有</a:t>
                </a:r>
                <a14:m>
                  <m:oMath xmlns:m="http://schemas.openxmlformats.org/officeDocument/2006/math">
                    <m:sSubSup>
                      <m:sSubSupPr>
                        <m:ctrlPr>
                          <a:rPr lang="zh-CN" altLang="zh-CN" sz="2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b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den>
                    </m:f>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𝑆</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oMath>
                </a14:m>
                <a:r>
                  <a:rPr lang="zh-CN" altLang="en-US" sz="2800" dirty="0">
                    <a:latin typeface="宋体" panose="02010600030101010101" pitchFamily="2" charset="-122"/>
                    <a:ea typeface="宋体" panose="02010600030101010101" pitchFamily="2" charset="-122"/>
                  </a:rPr>
                  <a:t>。</a:t>
                </a:r>
              </a:p>
            </p:txBody>
          </p:sp>
        </mc:Choice>
        <mc:Fallback xmlns="">
          <p:sp>
            <p:nvSpPr>
              <p:cNvPr id="45" name="文本框 44">
                <a:extLst>
                  <a:ext uri="{FF2B5EF4-FFF2-40B4-BE49-F238E27FC236}">
                    <a16:creationId xmlns:a16="http://schemas.microsoft.com/office/drawing/2014/main" id="{881BE79F-BC7F-A253-408B-B95170A41C11}"/>
                  </a:ext>
                </a:extLst>
              </p:cNvPr>
              <p:cNvSpPr txBox="1">
                <a:spLocks noRot="1" noChangeAspect="1" noMove="1" noResize="1" noEditPoints="1" noAdjustHandles="1" noChangeArrowheads="1" noChangeShapeType="1" noTextEdit="1"/>
              </p:cNvSpPr>
              <p:nvPr/>
            </p:nvSpPr>
            <p:spPr>
              <a:xfrm>
                <a:off x="1672389" y="1126615"/>
                <a:ext cx="9473008" cy="4525213"/>
              </a:xfrm>
              <a:prstGeom prst="rect">
                <a:avLst/>
              </a:prstGeom>
              <a:blipFill>
                <a:blip r:embed="rId2"/>
                <a:stretch>
                  <a:fillRect l="-1287" r="-1351"/>
                </a:stretch>
              </a:blipFill>
            </p:spPr>
            <p:txBody>
              <a:bodyPr/>
              <a:lstStyle/>
              <a:p>
                <a:r>
                  <a:rPr lang="zh-CN" altLang="en-US">
                    <a:noFill/>
                  </a:rPr>
                  <a:t> </a:t>
                </a:r>
              </a:p>
            </p:txBody>
          </p:sp>
        </mc:Fallback>
      </mc:AlternateContent>
      <p:sp>
        <p:nvSpPr>
          <p:cNvPr id="6" name="标题 1">
            <a:extLst>
              <a:ext uri="{FF2B5EF4-FFF2-40B4-BE49-F238E27FC236}">
                <a16:creationId xmlns:a16="http://schemas.microsoft.com/office/drawing/2014/main" id="{8A057232-ACDC-636B-340D-BB2F404F24AC}"/>
              </a:ext>
            </a:extLst>
          </p:cNvPr>
          <p:cNvSpPr>
            <a:spLocks noGrp="1"/>
          </p:cNvSpPr>
          <p:nvPr>
            <p:ph type="title"/>
          </p:nvPr>
        </p:nvSpPr>
        <p:spPr>
          <a:xfrm>
            <a:off x="2093495" y="143491"/>
            <a:ext cx="6400800" cy="662782"/>
          </a:xfrm>
        </p:spPr>
        <p:txBody>
          <a:bodyPr>
            <a:normAutofit/>
          </a:bodyPr>
          <a:lstStyle/>
          <a:p>
            <a:r>
              <a:rPr lang="en-US" altLang="zh-CN" sz="3200" b="1" kern="0" dirty="0">
                <a:effectLst/>
              </a:rPr>
              <a:t>6.2.2 </a:t>
            </a:r>
            <a:r>
              <a:rPr lang="zh-CN" altLang="en-US" sz="3200" b="1" kern="0" dirty="0">
                <a:effectLst/>
              </a:rPr>
              <a:t>常用统计量</a:t>
            </a:r>
            <a:r>
              <a:rPr lang="zh-CN" altLang="en-US" sz="3200" kern="0" dirty="0">
                <a:effectLst/>
              </a:rPr>
              <a:t>（续）</a:t>
            </a:r>
            <a:endParaRPr lang="zh-CN" altLang="en-US" dirty="0">
              <a:effectLst/>
            </a:endParaRPr>
          </a:p>
        </p:txBody>
      </p:sp>
    </p:spTree>
    <p:extLst>
      <p:ext uri="{BB962C8B-B14F-4D97-AF65-F5344CB8AC3E}">
        <p14:creationId xmlns:p14="http://schemas.microsoft.com/office/powerpoint/2010/main" val="823805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0939" y="900820"/>
            <a:ext cx="7694394" cy="1112921"/>
          </a:xfrm>
        </p:spPr>
        <p:txBody>
          <a:bodyPr>
            <a:normAutofit fontScale="47500" lnSpcReduction="20000"/>
          </a:bodyPr>
          <a:lstStyle/>
          <a:p>
            <a:pPr marL="0" indent="0">
              <a:lnSpc>
                <a:spcPct val="170000"/>
              </a:lnSpc>
              <a:spcBef>
                <a:spcPts val="1200"/>
              </a:spcBef>
              <a:spcAft>
                <a:spcPts val="0"/>
              </a:spcAft>
              <a:buNone/>
            </a:pPr>
            <a:r>
              <a:rPr lang="zh-CN" altLang="zh-CN" sz="4400" b="1" dirty="0">
                <a:solidFill>
                  <a:schemeClr val="tx1"/>
                </a:solidFill>
                <a:latin typeface="等线" panose="02010600030101010101" pitchFamily="2" charset="-122"/>
                <a:ea typeface="等线" panose="02010600030101010101" pitchFamily="2" charset="-122"/>
              </a:rPr>
              <a:t>样本偏度（</a:t>
            </a:r>
            <a:r>
              <a:rPr lang="en-US" altLang="zh-CN" sz="4400" b="1" dirty="0">
                <a:solidFill>
                  <a:schemeClr val="tx1"/>
                </a:solidFill>
                <a:latin typeface="等线" panose="02010600030101010101" pitchFamily="2" charset="-122"/>
                <a:ea typeface="等线" panose="02010600030101010101" pitchFamily="2" charset="-122"/>
              </a:rPr>
              <a:t>Skew</a:t>
            </a:r>
            <a:r>
              <a:rPr lang="zh-CN" altLang="zh-CN" sz="4400" b="1" dirty="0">
                <a:solidFill>
                  <a:schemeClr val="tx1"/>
                </a:solidFill>
                <a:latin typeface="等线" panose="02010600030101010101" pitchFamily="2" charset="-122"/>
                <a:ea typeface="等线" panose="02010600030101010101" pitchFamily="2" charset="-122"/>
              </a:rPr>
              <a:t>）和样本峰度（</a:t>
            </a:r>
            <a:r>
              <a:rPr lang="en-US" altLang="zh-CN" sz="4400" b="1" dirty="0">
                <a:solidFill>
                  <a:schemeClr val="tx1"/>
                </a:solidFill>
                <a:latin typeface="等线" panose="02010600030101010101" pitchFamily="2" charset="-122"/>
                <a:ea typeface="等线" panose="02010600030101010101" pitchFamily="2" charset="-122"/>
              </a:rPr>
              <a:t>Kurt</a:t>
            </a:r>
            <a:r>
              <a:rPr lang="zh-CN" altLang="zh-CN" sz="4400" b="1" dirty="0">
                <a:solidFill>
                  <a:schemeClr val="tx1"/>
                </a:solidFill>
                <a:latin typeface="等线" panose="02010600030101010101" pitchFamily="2" charset="-122"/>
                <a:ea typeface="等线" panose="02010600030101010101" pitchFamily="2" charset="-122"/>
              </a:rPr>
              <a:t>）</a:t>
            </a:r>
            <a:r>
              <a:rPr lang="zh-CN" altLang="zh-CN" sz="4400" dirty="0">
                <a:solidFill>
                  <a:schemeClr val="tx1"/>
                </a:solidFill>
                <a:latin typeface="宋体" panose="02010600030101010101" pitchFamily="2" charset="-122"/>
                <a:ea typeface="宋体" panose="02010600030101010101" pitchFamily="2" charset="-122"/>
              </a:rPr>
              <a:t>分别是根据基于样本</a:t>
            </a:r>
            <a:r>
              <a:rPr lang="en-US" altLang="zh-CN" sz="4400" dirty="0">
                <a:solidFill>
                  <a:schemeClr val="tx1"/>
                </a:solidFill>
                <a:latin typeface="宋体" panose="02010600030101010101" pitchFamily="2" charset="-122"/>
                <a:ea typeface="宋体" panose="02010600030101010101" pitchFamily="2" charset="-122"/>
              </a:rPr>
              <a:t>3</a:t>
            </a:r>
            <a:r>
              <a:rPr lang="zh-CN" altLang="zh-CN" sz="4400" dirty="0">
                <a:solidFill>
                  <a:schemeClr val="tx1"/>
                </a:solidFill>
                <a:latin typeface="宋体" panose="02010600030101010101" pitchFamily="2" charset="-122"/>
                <a:ea typeface="宋体" panose="02010600030101010101" pitchFamily="2" charset="-122"/>
              </a:rPr>
              <a:t>阶、</a:t>
            </a:r>
            <a:r>
              <a:rPr lang="en-US" altLang="zh-CN" sz="4400" dirty="0">
                <a:solidFill>
                  <a:schemeClr val="tx1"/>
                </a:solidFill>
                <a:latin typeface="宋体" panose="02010600030101010101" pitchFamily="2" charset="-122"/>
                <a:ea typeface="宋体" panose="02010600030101010101" pitchFamily="2" charset="-122"/>
              </a:rPr>
              <a:t>4</a:t>
            </a:r>
            <a:r>
              <a:rPr lang="zh-CN" altLang="zh-CN" sz="4400" dirty="0">
                <a:solidFill>
                  <a:schemeClr val="tx1"/>
                </a:solidFill>
                <a:latin typeface="宋体" panose="02010600030101010101" pitchFamily="2" charset="-122"/>
                <a:ea typeface="宋体" panose="02010600030101010101" pitchFamily="2" charset="-122"/>
              </a:rPr>
              <a:t>阶中心距计算的统计量。计算公式为：</a:t>
            </a:r>
          </a:p>
          <a:p>
            <a:pPr>
              <a:lnSpc>
                <a:spcPct val="170000"/>
              </a:lnSpc>
              <a:spcBef>
                <a:spcPts val="1200"/>
              </a:spcBef>
              <a:spcAft>
                <a:spcPts val="0"/>
              </a:spcAft>
            </a:pPr>
            <a:endParaRPr lang="zh-CN" altLang="en-US" dirty="0">
              <a:solidFill>
                <a:schemeClr val="tx1"/>
              </a:solidFill>
            </a:endParaRPr>
          </a:p>
        </p:txBody>
      </p:sp>
      <p:sp>
        <p:nvSpPr>
          <p:cNvPr id="4" name="灯片编号占位符 3"/>
          <p:cNvSpPr>
            <a:spLocks noGrp="1"/>
          </p:cNvSpPr>
          <p:nvPr>
            <p:ph type="sldNum" sz="quarter" idx="4"/>
          </p:nvPr>
        </p:nvSpPr>
        <p:spPr/>
        <p:txBody>
          <a:bodyPr/>
          <a:lstStyle/>
          <a:p>
            <a:fld id="{4ABD14BD-504E-42EC-A2AB-5F7BAF221D6C}" type="slidenum">
              <a:rPr lang="zh-CN" altLang="en-US" smtClean="0"/>
              <a:pPr/>
              <a:t>25</a:t>
            </a:fld>
            <a:endParaRPr lang="zh-CN" altLang="en-US"/>
          </a:p>
        </p:txBody>
      </p:sp>
      <p:sp>
        <p:nvSpPr>
          <p:cNvPr id="12" name="内容占位符 2"/>
          <p:cNvSpPr txBox="1">
            <a:spLocks/>
          </p:cNvSpPr>
          <p:nvPr/>
        </p:nvSpPr>
        <p:spPr>
          <a:xfrm>
            <a:off x="2189500" y="4830679"/>
            <a:ext cx="7385833" cy="1112921"/>
          </a:xfrm>
          <a:prstGeom prst="rect">
            <a:avLst/>
          </a:prstGeom>
        </p:spPr>
        <p:txBody>
          <a:bodyPr vert="horz" lIns="91440" tIns="45720" rIns="91440" bIns="45720" rtlCol="0">
            <a:noAutofit/>
          </a:bodyPr>
          <a:lstStyle>
            <a:lvl1pPr marL="457200" indent="-457200" algn="l" defTabSz="685783" rtl="0" eaLnBrk="1" latinLnBrk="0" hangingPunct="1">
              <a:lnSpc>
                <a:spcPct val="100000"/>
              </a:lnSpc>
              <a:spcBef>
                <a:spcPts val="751"/>
              </a:spcBef>
              <a:spcAft>
                <a:spcPts val="225"/>
              </a:spcAft>
              <a:buSzPct val="80000"/>
              <a:buFont typeface="Wingdings" panose="05000000000000000000" pitchFamily="2" charset="2"/>
              <a:buChar char="n"/>
              <a:defRPr sz="3200" kern="1200">
                <a:solidFill>
                  <a:srgbClr val="2F5597"/>
                </a:solidFill>
                <a:latin typeface="微软雅黑" panose="020B0503020204020204" pitchFamily="34" charset="-122"/>
                <a:ea typeface="微软雅黑" panose="020B0503020204020204" pitchFamily="34" charset="-122"/>
                <a:cs typeface="+mn-cs"/>
              </a:defRPr>
            </a:lvl1pPr>
            <a:lvl2pPr marL="0" indent="-457200" algn="l" defTabSz="685783" rtl="0" eaLnBrk="1" fontAlgn="ctr" latinLnBrk="0" hangingPunct="1">
              <a:lnSpc>
                <a:spcPct val="100000"/>
              </a:lnSpc>
              <a:spcBef>
                <a:spcPts val="375"/>
              </a:spcBef>
              <a:spcAft>
                <a:spcPts val="225"/>
              </a:spcAft>
              <a:buSzPct val="80000"/>
              <a:buFont typeface="Wingdings" panose="05000000000000000000" pitchFamily="2" charset="2"/>
              <a:buChar char="l"/>
              <a:defRPr sz="2800" kern="1200">
                <a:solidFill>
                  <a:srgbClr val="2F5597"/>
                </a:solidFill>
                <a:latin typeface="微软雅黑" panose="020B0503020204020204" pitchFamily="34" charset="-122"/>
                <a:ea typeface="微软雅黑" panose="020B0503020204020204" pitchFamily="34" charset="-122"/>
                <a:cs typeface="+mn-cs"/>
              </a:defRPr>
            </a:lvl2pPr>
            <a:lvl3pPr marL="323992" indent="-457200" algn="l" defTabSz="685783" rtl="0" eaLnBrk="1" fontAlgn="ctr" latinLnBrk="0" hangingPunct="1">
              <a:lnSpc>
                <a:spcPct val="100000"/>
              </a:lnSpc>
              <a:spcBef>
                <a:spcPts val="375"/>
              </a:spcBef>
              <a:spcAft>
                <a:spcPts val="225"/>
              </a:spcAft>
              <a:buSzPct val="70000"/>
              <a:buFont typeface="Wingdings" panose="05000000000000000000" pitchFamily="2" charset="2"/>
              <a:buChar char="Ø"/>
              <a:defRPr sz="2400" kern="1200">
                <a:solidFill>
                  <a:srgbClr val="2F5597"/>
                </a:solidFill>
                <a:latin typeface="微软雅黑" panose="020B0503020204020204" pitchFamily="34" charset="-122"/>
                <a:ea typeface="微软雅黑" panose="020B0503020204020204" pitchFamily="34" charset="-122"/>
                <a:cs typeface="+mn-cs"/>
              </a:defRPr>
            </a:lvl3pPr>
            <a:lvl4pPr marL="324000" indent="-216000" algn="l" defTabSz="685783" rtl="0" eaLnBrk="1" fontAlgn="ctr" latinLnBrk="0" hangingPunct="1">
              <a:lnSpc>
                <a:spcPct val="100000"/>
              </a:lnSpc>
              <a:spcBef>
                <a:spcPts val="375"/>
              </a:spcBef>
              <a:spcAft>
                <a:spcPts val="225"/>
              </a:spcAft>
              <a:buSzPct val="80000"/>
              <a:buFont typeface="Wingdings" panose="05000000000000000000" pitchFamily="2" charset="2"/>
              <a:buChar char="Ø"/>
              <a:defRPr sz="24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97197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微软雅黑" panose="020B0503020204020204" pitchFamily="34" charset="-122"/>
                <a:ea typeface="微软雅黑" panose="020B0503020204020204" pitchFamily="34" charset="-122"/>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zh-CN" sz="2400" dirty="0">
                <a:solidFill>
                  <a:schemeClr val="tx1"/>
                </a:solidFill>
              </a:rPr>
              <a:t>由</a:t>
            </a:r>
            <a:r>
              <a:rPr lang="zh-CN" altLang="en-US" sz="2400" dirty="0">
                <a:solidFill>
                  <a:schemeClr val="tx1"/>
                </a:solidFill>
              </a:rPr>
              <a:t>此</a:t>
            </a:r>
            <a:r>
              <a:rPr lang="zh-CN" altLang="zh-CN" sz="2400" dirty="0">
                <a:solidFill>
                  <a:schemeClr val="tx1"/>
                </a:solidFill>
              </a:rPr>
              <a:t>式计算的样本峰度，等于</a:t>
            </a:r>
            <a:r>
              <a:rPr lang="en-US" altLang="zh-CN" sz="2400" dirty="0">
                <a:solidFill>
                  <a:schemeClr val="tx1"/>
                </a:solidFill>
              </a:rPr>
              <a:t>0</a:t>
            </a:r>
            <a:r>
              <a:rPr lang="zh-CN" altLang="zh-CN" sz="2400" dirty="0">
                <a:solidFill>
                  <a:schemeClr val="tx1"/>
                </a:solidFill>
              </a:rPr>
              <a:t>、大于</a:t>
            </a:r>
            <a:r>
              <a:rPr lang="en-US" altLang="zh-CN" sz="2400" dirty="0">
                <a:solidFill>
                  <a:schemeClr val="tx1"/>
                </a:solidFill>
              </a:rPr>
              <a:t>0</a:t>
            </a:r>
            <a:r>
              <a:rPr lang="zh-CN" altLang="zh-CN" sz="2400" dirty="0">
                <a:solidFill>
                  <a:schemeClr val="tx1"/>
                </a:solidFill>
              </a:rPr>
              <a:t>、小于</a:t>
            </a:r>
            <a:r>
              <a:rPr lang="en-US" altLang="zh-CN" sz="2400" dirty="0">
                <a:solidFill>
                  <a:schemeClr val="tx1"/>
                </a:solidFill>
              </a:rPr>
              <a:t>0</a:t>
            </a:r>
            <a:r>
              <a:rPr lang="zh-CN" altLang="zh-CN" sz="2400" dirty="0">
                <a:solidFill>
                  <a:schemeClr val="tx1"/>
                </a:solidFill>
              </a:rPr>
              <a:t>分别表示样本频数分布为正态分布、尖顶分布、平顶分布。</a:t>
            </a:r>
          </a:p>
          <a:p>
            <a:pPr>
              <a:lnSpc>
                <a:spcPct val="150000"/>
              </a:lnSpc>
            </a:pPr>
            <a:endParaRPr lang="zh-CN" altLang="en-US" sz="2400" dirty="0">
              <a:solidFill>
                <a:schemeClr val="tx1"/>
              </a:solidFill>
            </a:endParaRPr>
          </a:p>
        </p:txBody>
      </p:sp>
      <p:sp>
        <p:nvSpPr>
          <p:cNvPr id="13" name="标题 1">
            <a:extLst>
              <a:ext uri="{FF2B5EF4-FFF2-40B4-BE49-F238E27FC236}">
                <a16:creationId xmlns:a16="http://schemas.microsoft.com/office/drawing/2014/main" id="{8A057232-ACDC-636B-340D-BB2F404F24AC}"/>
              </a:ext>
            </a:extLst>
          </p:cNvPr>
          <p:cNvSpPr>
            <a:spLocks noGrp="1"/>
          </p:cNvSpPr>
          <p:nvPr>
            <p:ph type="title"/>
          </p:nvPr>
        </p:nvSpPr>
        <p:spPr>
          <a:xfrm>
            <a:off x="1973178" y="176180"/>
            <a:ext cx="10218821" cy="662782"/>
          </a:xfrm>
        </p:spPr>
        <p:txBody>
          <a:bodyPr>
            <a:normAutofit/>
          </a:bodyPr>
          <a:lstStyle/>
          <a:p>
            <a:r>
              <a:rPr lang="en-US" altLang="zh-CN" sz="3200" b="1" kern="0" dirty="0">
                <a:effectLst/>
              </a:rPr>
              <a:t>6.2.2 </a:t>
            </a:r>
            <a:r>
              <a:rPr lang="zh-CN" altLang="en-US" sz="3200" b="1" kern="0" dirty="0">
                <a:effectLst/>
              </a:rPr>
              <a:t>常用统计量</a:t>
            </a:r>
            <a:r>
              <a:rPr lang="zh-CN" altLang="en-US" sz="3200" kern="0" dirty="0">
                <a:effectLst/>
              </a:rPr>
              <a:t>（续）</a:t>
            </a:r>
            <a:endParaRPr lang="zh-CN" altLang="en-US" dirty="0">
              <a:effectLst/>
            </a:endParaRPr>
          </a:p>
        </p:txBody>
      </p:sp>
      <p:pic>
        <p:nvPicPr>
          <p:cNvPr id="10" name="图片 9"/>
          <p:cNvPicPr>
            <a:picLocks noChangeAspect="1"/>
          </p:cNvPicPr>
          <p:nvPr/>
        </p:nvPicPr>
        <p:blipFill>
          <a:blip r:embed="rId2"/>
          <a:stretch>
            <a:fillRect/>
          </a:stretch>
        </p:blipFill>
        <p:spPr>
          <a:xfrm>
            <a:off x="2233740" y="2153805"/>
            <a:ext cx="6988791" cy="2309131"/>
          </a:xfrm>
          <a:prstGeom prst="rect">
            <a:avLst/>
          </a:prstGeom>
        </p:spPr>
      </p:pic>
    </p:spTree>
    <p:extLst>
      <p:ext uri="{BB962C8B-B14F-4D97-AF65-F5344CB8AC3E}">
        <p14:creationId xmlns:p14="http://schemas.microsoft.com/office/powerpoint/2010/main" val="2459908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26</a:t>
            </a:fld>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881BE79F-BC7F-A253-408B-B95170A41C11}"/>
                  </a:ext>
                </a:extLst>
              </p:cNvPr>
              <p:cNvSpPr txBox="1"/>
              <p:nvPr/>
            </p:nvSpPr>
            <p:spPr>
              <a:xfrm>
                <a:off x="1288730" y="662831"/>
                <a:ext cx="9467503" cy="5375382"/>
              </a:xfrm>
              <a:prstGeom prst="rect">
                <a:avLst/>
              </a:prstGeom>
              <a:noFill/>
            </p:spPr>
            <p:txBody>
              <a:bodyPr wrap="square">
                <a:spAutoFit/>
              </a:bodyPr>
              <a:lstStyle/>
              <a:p>
                <a:pPr indent="360363">
                  <a:lnSpc>
                    <a:spcPct val="135000"/>
                  </a:lnSpc>
                  <a:spcBef>
                    <a:spcPts val="600"/>
                  </a:spcBef>
                </a:pPr>
                <a:r>
                  <a:rPr lang="en-US" altLang="zh-CN" sz="3200" b="1" dirty="0">
                    <a:solidFill>
                      <a:srgbClr val="00B0F0"/>
                    </a:solidFill>
                    <a:latin typeface="微软雅黑" panose="020B0503020204020204" pitchFamily="34" charset="-122"/>
                    <a:ea typeface="微软雅黑" panose="020B0503020204020204" pitchFamily="34" charset="-122"/>
                  </a:rPr>
                  <a:t>3.</a:t>
                </a:r>
                <a:r>
                  <a:rPr lang="zh-CN" altLang="en-US" sz="3200" b="1" dirty="0">
                    <a:solidFill>
                      <a:srgbClr val="00B0F0"/>
                    </a:solidFill>
                    <a:latin typeface="微软雅黑" panose="020B0503020204020204" pitchFamily="34" charset="-122"/>
                    <a:ea typeface="微软雅黑" panose="020B0503020204020204" pitchFamily="34" charset="-122"/>
                  </a:rPr>
                  <a:t>顺序统计量</a:t>
                </a:r>
                <a:endParaRPr lang="en-US" altLang="zh-CN" sz="3200" b="1" dirty="0">
                  <a:solidFill>
                    <a:srgbClr val="00B0F0"/>
                  </a:solidFill>
                  <a:latin typeface="微软雅黑" panose="020B0503020204020204" pitchFamily="34" charset="-122"/>
                  <a:ea typeface="微软雅黑" panose="020B0503020204020204" pitchFamily="34" charset="-122"/>
                </a:endParaRPr>
              </a:p>
              <a:p>
                <a:pPr indent="720000" algn="just">
                  <a:lnSpc>
                    <a:spcPct val="135000"/>
                  </a:lnSpc>
                  <a:spcBef>
                    <a:spcPts val="600"/>
                  </a:spcBef>
                </a:pPr>
                <a:r>
                  <a:rPr lang="zh-CN" altLang="en-US" sz="2800" dirty="0">
                    <a:latin typeface="宋体" panose="02010600030101010101" pitchFamily="2" charset="-122"/>
                    <a:ea typeface="宋体" panose="02010600030101010101" pitchFamily="2" charset="-122"/>
                  </a:rPr>
                  <a:t>设</a:t>
                </a:r>
                <a14:m>
                  <m:oMath xmlns:m="http://schemas.openxmlformats.org/officeDocument/2006/math">
                    <m:sSub>
                      <m:sSubPr>
                        <m:ctrlPr>
                          <a:rPr lang="zh-CN" altLang="zh-CN" sz="2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Sub>
                  </m:oMath>
                </a14:m>
                <a:r>
                  <a:rPr lang="zh-CN" altLang="en-US" sz="2800" dirty="0">
                    <a:latin typeface="宋体" panose="02010600030101010101" pitchFamily="2" charset="-122"/>
                    <a:ea typeface="宋体" panose="02010600030101010101" pitchFamily="2" charset="-122"/>
                  </a:rPr>
                  <a:t>是总体</a:t>
                </a:r>
                <a:r>
                  <a:rPr lang="en-US" altLang="zh-CN" sz="2800" dirty="0">
                    <a:latin typeface="宋体" panose="02010600030101010101" pitchFamily="2" charset="-122"/>
                    <a:ea typeface="宋体" panose="02010600030101010101" pitchFamily="2" charset="-122"/>
                  </a:rPr>
                  <a:t>X</a:t>
                </a:r>
                <a:r>
                  <a:rPr lang="zh-CN" altLang="en-US" sz="2800" dirty="0">
                    <a:latin typeface="宋体" panose="02010600030101010101" pitchFamily="2" charset="-122"/>
                    <a:ea typeface="宋体" panose="02010600030101010101" pitchFamily="2" charset="-122"/>
                  </a:rPr>
                  <a:t>中抽出的简单随机样本，把样本按大小排序，得到</a:t>
                </a:r>
                <a14:m>
                  <m:oMath xmlns:m="http://schemas.openxmlformats.org/officeDocument/2006/math">
                    <m:sSub>
                      <m:sSubPr>
                        <m:ctrlPr>
                          <a:rPr lang="zh-CN" altLang="zh-CN" sz="2800" i="1" kern="100">
                            <a:latin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cs typeface="Times New Roman" panose="02020603050405020304" pitchFamily="18" charset="0"/>
                          </a:rPr>
                          <m:t>𝑋</m:t>
                        </m:r>
                      </m:e>
                      <m:sub>
                        <m:r>
                          <a:rPr lang="en-US" altLang="zh-CN" sz="2800" i="1" kern="100">
                            <a:latin typeface="Cambria Math" panose="02040503050406030204" pitchFamily="18" charset="0"/>
                            <a:cs typeface="Times New Roman" panose="02020603050405020304" pitchFamily="18" charset="0"/>
                          </a:rPr>
                          <m:t>(1)</m:t>
                        </m:r>
                      </m:sub>
                    </m:sSub>
                    <m:sSub>
                      <m:sSubPr>
                        <m:ctrlPr>
                          <a:rPr lang="zh-CN" altLang="zh-CN" sz="2800" i="1" kern="100">
                            <a:latin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cs typeface="Times New Roman" panose="02020603050405020304" pitchFamily="18" charset="0"/>
                          </a:rPr>
                          <m:t>≤</m:t>
                        </m:r>
                        <m:r>
                          <a:rPr lang="en-US" altLang="zh-CN" sz="2800" i="1" kern="100">
                            <a:latin typeface="Cambria Math" panose="02040503050406030204" pitchFamily="18" charset="0"/>
                            <a:cs typeface="Times New Roman" panose="02020603050405020304" pitchFamily="18" charset="0"/>
                          </a:rPr>
                          <m:t>𝑋</m:t>
                        </m:r>
                      </m:e>
                      <m:sub>
                        <m:r>
                          <a:rPr lang="en-US" altLang="zh-CN" sz="2800" i="1" kern="100">
                            <a:latin typeface="Cambria Math" panose="02040503050406030204" pitchFamily="18" charset="0"/>
                            <a:cs typeface="Times New Roman" panose="02020603050405020304" pitchFamily="18" charset="0"/>
                          </a:rPr>
                          <m:t>(2)</m:t>
                        </m:r>
                      </m:sub>
                    </m:sSub>
                    <m:r>
                      <a:rPr lang="en-US" altLang="zh-CN" sz="2800" i="1" kern="100">
                        <a:latin typeface="Cambria Math" panose="02040503050406030204" pitchFamily="18" charset="0"/>
                        <a:cs typeface="Times New Roman" panose="02020603050405020304" pitchFamily="18" charset="0"/>
                      </a:rPr>
                      <m:t>≤…≤</m:t>
                    </m:r>
                    <m:sSub>
                      <m:sSubPr>
                        <m:ctrlPr>
                          <a:rPr lang="zh-CN" altLang="zh-CN" sz="2800" i="1" kern="100">
                            <a:latin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cs typeface="Times New Roman" panose="02020603050405020304" pitchFamily="18" charset="0"/>
                          </a:rPr>
                          <m:t>𝑋</m:t>
                        </m:r>
                      </m:e>
                      <m:sub>
                        <m:r>
                          <a:rPr lang="en-US" altLang="zh-CN" sz="2800" i="1" kern="100">
                            <a:latin typeface="Cambria Math" panose="02040503050406030204" pitchFamily="18" charset="0"/>
                            <a:cs typeface="Times New Roman" panose="02020603050405020304" pitchFamily="18" charset="0"/>
                          </a:rPr>
                          <m:t>(</m:t>
                        </m:r>
                        <m:r>
                          <a:rPr lang="en-US" altLang="zh-CN" sz="2800" i="1" kern="100">
                            <a:latin typeface="Cambria Math" panose="02040503050406030204" pitchFamily="18" charset="0"/>
                            <a:cs typeface="Times New Roman" panose="02020603050405020304" pitchFamily="18" charset="0"/>
                          </a:rPr>
                          <m:t>𝑛</m:t>
                        </m:r>
                        <m:r>
                          <a:rPr lang="en-US" altLang="zh-CN" sz="2800" i="1" kern="100">
                            <a:latin typeface="Cambria Math" panose="02040503050406030204" pitchFamily="18" charset="0"/>
                            <a:cs typeface="Times New Roman" panose="02020603050405020304" pitchFamily="18" charset="0"/>
                          </a:rPr>
                          <m:t>)</m:t>
                        </m:r>
                      </m:sub>
                    </m:sSub>
                  </m:oMath>
                </a14:m>
                <a:r>
                  <a:rPr lang="zh-CN" altLang="en-US" sz="2800" dirty="0">
                    <a:latin typeface="宋体" panose="02010600030101010101" pitchFamily="2" charset="-122"/>
                    <a:ea typeface="宋体" panose="02010600030101010101" pitchFamily="2" charset="-122"/>
                  </a:rPr>
                  <a:t>，则称</a:t>
                </a:r>
                <a14:m>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cs typeface="Times New Roman" panose="02020603050405020304" pitchFamily="18" charset="0"/>
                          </a:rPr>
                          <m:t>𝑋</m:t>
                        </m:r>
                      </m:e>
                      <m:sub>
                        <m:r>
                          <a:rPr lang="en-US" altLang="zh-CN" sz="2800" i="1" kern="100">
                            <a:latin typeface="Cambria Math" panose="02040503050406030204" pitchFamily="18" charset="0"/>
                            <a:cs typeface="Times New Roman" panose="02020603050405020304" pitchFamily="18" charset="0"/>
                          </a:rPr>
                          <m:t>(1)</m:t>
                        </m:r>
                      </m:sub>
                    </m:sSub>
                    <m:r>
                      <a:rPr lang="en-US" altLang="zh-CN" sz="2800" i="1" kern="100">
                        <a:latin typeface="Cambria Math" panose="02040503050406030204" pitchFamily="18" charset="0"/>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cs typeface="Times New Roman" panose="02020603050405020304" pitchFamily="18" charset="0"/>
                          </a:rPr>
                          <m:t>𝑋</m:t>
                        </m:r>
                      </m:e>
                      <m:sub>
                        <m:r>
                          <a:rPr lang="en-US" altLang="zh-CN" sz="2800" i="1" kern="100">
                            <a:latin typeface="Cambria Math" panose="02040503050406030204" pitchFamily="18" charset="0"/>
                            <a:cs typeface="Times New Roman" panose="02020603050405020304" pitchFamily="18" charset="0"/>
                          </a:rPr>
                          <m:t>(2)</m:t>
                        </m:r>
                      </m:sub>
                    </m:sSub>
                    <m:r>
                      <a:rPr lang="en-US" altLang="zh-CN" sz="2800" i="1" kern="100">
                        <a:latin typeface="Cambria Math" panose="02040503050406030204" pitchFamily="18" charset="0"/>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cs typeface="Times New Roman" panose="02020603050405020304" pitchFamily="18" charset="0"/>
                          </a:rPr>
                          <m:t>𝑋</m:t>
                        </m:r>
                      </m:e>
                      <m:sub>
                        <m:r>
                          <a:rPr lang="en-US" altLang="zh-CN" sz="2800" i="1" kern="100">
                            <a:latin typeface="Cambria Math" panose="02040503050406030204" pitchFamily="18" charset="0"/>
                            <a:cs typeface="Times New Roman" panose="02020603050405020304" pitchFamily="18" charset="0"/>
                          </a:rPr>
                          <m:t>(</m:t>
                        </m:r>
                        <m:r>
                          <a:rPr lang="en-US" altLang="zh-CN" sz="2800" i="1" kern="100">
                            <a:latin typeface="Cambria Math" panose="02040503050406030204" pitchFamily="18" charset="0"/>
                            <a:cs typeface="Times New Roman" panose="02020603050405020304" pitchFamily="18" charset="0"/>
                          </a:rPr>
                          <m:t>𝑛</m:t>
                        </m:r>
                        <m:r>
                          <a:rPr lang="en-US" altLang="zh-CN" sz="2800" i="1" kern="100">
                            <a:latin typeface="Cambria Math" panose="02040503050406030204" pitchFamily="18" charset="0"/>
                            <a:cs typeface="Times New Roman" panose="02020603050405020304" pitchFamily="18" charset="0"/>
                          </a:rPr>
                          <m:t>)</m:t>
                        </m:r>
                      </m:sub>
                    </m:sSub>
                  </m:oMath>
                </a14:m>
                <a:r>
                  <a:rPr lang="zh-CN" altLang="en-US" sz="2800" dirty="0">
                    <a:latin typeface="宋体" panose="02010600030101010101" pitchFamily="2" charset="-122"/>
                    <a:ea typeface="宋体" panose="02010600030101010101" pitchFamily="2" charset="-122"/>
                  </a:rPr>
                  <a:t>为顺序统计量，其中</a:t>
                </a:r>
                <a14:m>
                  <m:oMath xmlns:m="http://schemas.openxmlformats.org/officeDocument/2006/math">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宋体" panose="02010600030101010101" pitchFamily="2" charset="-122"/>
                            <a:cs typeface="Times New Roman" panose="02020603050405020304" pitchFamily="18" charset="0"/>
                          </a:rPr>
                          <m:t>(</m:t>
                        </m:r>
                        <m:r>
                          <a:rPr lang="en-US" altLang="zh-CN" sz="28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2800" i="1">
                            <a:latin typeface="Cambria Math" panose="02040503050406030204" pitchFamily="18" charset="0"/>
                            <a:ea typeface="宋体" panose="02010600030101010101" pitchFamily="2" charset="-122"/>
                            <a:cs typeface="Times New Roman" panose="02020603050405020304" pitchFamily="18" charset="0"/>
                          </a:rPr>
                          <m:t>)</m:t>
                        </m:r>
                      </m:sub>
                    </m:sSub>
                  </m:oMath>
                </a14:m>
                <a:r>
                  <a:rPr lang="zh-CN" altLang="en-US" sz="2800" dirty="0">
                    <a:latin typeface="宋体" panose="02010600030101010101" pitchFamily="2" charset="-122"/>
                    <a:ea typeface="宋体" panose="02010600030101010101" pitchFamily="2" charset="-122"/>
                  </a:rPr>
                  <a:t>称为第</a:t>
                </a:r>
                <a:r>
                  <a:rPr lang="en-US" altLang="zh-CN" sz="2800" dirty="0" err="1">
                    <a:latin typeface="宋体" panose="02010600030101010101" pitchFamily="2" charset="-122"/>
                    <a:ea typeface="宋体" panose="02010600030101010101" pitchFamily="2" charset="-122"/>
                  </a:rPr>
                  <a:t>i</a:t>
                </a:r>
                <a:r>
                  <a:rPr lang="zh-CN" altLang="en-US" sz="2800" dirty="0">
                    <a:latin typeface="宋体" panose="02010600030101010101" pitchFamily="2" charset="-122"/>
                    <a:ea typeface="宋体" panose="02010600030101010101" pitchFamily="2" charset="-122"/>
                  </a:rPr>
                  <a:t>个顺序统计量，基于顺序统计量计算一些常用的统计量有：</a:t>
                </a:r>
              </a:p>
              <a:p>
                <a:pPr indent="720000" algn="just">
                  <a:lnSpc>
                    <a:spcPct val="135000"/>
                  </a:lnSpc>
                  <a:spcBef>
                    <a:spcPts val="600"/>
                  </a:spcBef>
                </a:pPr>
                <a:r>
                  <a:rPr lang="zh-CN" altLang="en-US" sz="2800" b="1" dirty="0">
                    <a:latin typeface="等线" panose="02010600030101010101" pitchFamily="2" charset="-122"/>
                    <a:ea typeface="等线" panose="02010600030101010101" pitchFamily="2" charset="-122"/>
                  </a:rPr>
                  <a:t>最大顺序统计量</a:t>
                </a:r>
                <a:r>
                  <a:rPr lang="zh-CN" altLang="en-US" sz="2800" dirty="0">
                    <a:latin typeface="宋体" panose="02010600030101010101" pitchFamily="2" charset="-122"/>
                    <a:ea typeface="宋体" panose="02010600030101010101" pitchFamily="2" charset="-122"/>
                  </a:rPr>
                  <a:t>： </a:t>
                </a:r>
                <a14:m>
                  <m:oMath xmlns:m="http://schemas.openxmlformats.org/officeDocument/2006/math">
                    <m:sSub>
                      <m:sSubPr>
                        <m:ctrlPr>
                          <a:rPr lang="zh-CN" altLang="zh-CN" sz="2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𝑚𝑎𝑥</m:t>
                    </m:r>
                    <m:d>
                      <m:dPr>
                        <m:begChr m:val="{"/>
                        <m:end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Sub>
                      </m:e>
                    </m:d>
                  </m:oMath>
                </a14:m>
                <a:r>
                  <a:rPr lang="zh-CN" altLang="en-US" sz="2800" dirty="0">
                    <a:latin typeface="宋体" panose="02010600030101010101" pitchFamily="2" charset="-122"/>
                    <a:ea typeface="宋体" panose="02010600030101010101" pitchFamily="2" charset="-122"/>
                  </a:rPr>
                  <a:t>，</a:t>
                </a:r>
              </a:p>
              <a:p>
                <a:pPr indent="720000" algn="just">
                  <a:lnSpc>
                    <a:spcPct val="135000"/>
                  </a:lnSpc>
                  <a:spcBef>
                    <a:spcPts val="600"/>
                  </a:spcBef>
                </a:pPr>
                <a:r>
                  <a:rPr lang="zh-CN" altLang="en-US" sz="2800" b="1" dirty="0">
                    <a:latin typeface="等线" panose="02010600030101010101" pitchFamily="2" charset="-122"/>
                    <a:ea typeface="等线" panose="02010600030101010101" pitchFamily="2" charset="-122"/>
                  </a:rPr>
                  <a:t>最小顺序统计量</a:t>
                </a:r>
                <a:r>
                  <a:rPr lang="zh-CN" altLang="en-US" sz="2800" dirty="0">
                    <a:latin typeface="宋体" panose="02010600030101010101" pitchFamily="2" charset="-122"/>
                    <a:ea typeface="宋体" panose="02010600030101010101" pitchFamily="2" charset="-122"/>
                  </a:rPr>
                  <a:t>：</a:t>
                </a:r>
                <a:r>
                  <a:rPr lang="zh-CN" altLang="zh-CN" sz="2800" kern="100" dirty="0">
                    <a:effectLst/>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𝑚𝑖𝑛</m:t>
                    </m:r>
                    <m:d>
                      <m:dPr>
                        <m:begChr m:val="{"/>
                        <m:end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Sub>
                      </m:e>
                    </m:d>
                  </m:oMath>
                </a14:m>
                <a:r>
                  <a:rPr lang="zh-CN" altLang="en-US" sz="2800" dirty="0">
                    <a:latin typeface="宋体" panose="02010600030101010101" pitchFamily="2" charset="-122"/>
                    <a:ea typeface="宋体" panose="02010600030101010101" pitchFamily="2" charset="-122"/>
                  </a:rPr>
                  <a:t>；</a:t>
                </a:r>
              </a:p>
              <a:p>
                <a:pPr indent="720000" algn="just">
                  <a:lnSpc>
                    <a:spcPct val="135000"/>
                  </a:lnSpc>
                  <a:spcBef>
                    <a:spcPts val="600"/>
                  </a:spcBef>
                </a:pPr>
                <a:r>
                  <a:rPr lang="zh-CN" altLang="en-US" sz="2800" b="1" dirty="0">
                    <a:latin typeface="等线" panose="02010600030101010101" pitchFamily="2" charset="-122"/>
                    <a:ea typeface="等线" panose="02010600030101010101" pitchFamily="2" charset="-122"/>
                  </a:rPr>
                  <a:t>样本极差：</a:t>
                </a:r>
                <a:r>
                  <a:rPr lang="en-US" altLang="zh-CN" sz="2800" b="1" dirty="0">
                    <a:latin typeface="等线" panose="02010600030101010101" pitchFamily="2" charset="-122"/>
                    <a:ea typeface="等线" panose="02010600030101010101" pitchFamily="2" charset="-122"/>
                  </a:rPr>
                  <a:t> </a:t>
                </a:r>
                <a14:m>
                  <m:oMath xmlns:m="http://schemas.openxmlformats.org/officeDocument/2006/math">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en-US" sz="2800" dirty="0">
                    <a:latin typeface="宋体" panose="02010600030101010101" pitchFamily="2" charset="-122"/>
                    <a:ea typeface="宋体" panose="02010600030101010101" pitchFamily="2" charset="-122"/>
                  </a:rPr>
                  <a:t> ；</a:t>
                </a:r>
              </a:p>
            </p:txBody>
          </p:sp>
        </mc:Choice>
        <mc:Fallback xmlns="">
          <p:sp>
            <p:nvSpPr>
              <p:cNvPr id="45" name="文本框 44">
                <a:extLst>
                  <a:ext uri="{FF2B5EF4-FFF2-40B4-BE49-F238E27FC236}">
                    <a16:creationId xmlns:a16="http://schemas.microsoft.com/office/drawing/2014/main" id="{881BE79F-BC7F-A253-408B-B95170A41C11}"/>
                  </a:ext>
                </a:extLst>
              </p:cNvPr>
              <p:cNvSpPr txBox="1">
                <a:spLocks noRot="1" noChangeAspect="1" noMove="1" noResize="1" noEditPoints="1" noAdjustHandles="1" noChangeArrowheads="1" noChangeShapeType="1" noTextEdit="1"/>
              </p:cNvSpPr>
              <p:nvPr/>
            </p:nvSpPr>
            <p:spPr>
              <a:xfrm>
                <a:off x="1288730" y="662831"/>
                <a:ext cx="9467503" cy="5375382"/>
              </a:xfrm>
              <a:prstGeom prst="rect">
                <a:avLst/>
              </a:prstGeom>
              <a:blipFill>
                <a:blip r:embed="rId2"/>
                <a:stretch>
                  <a:fillRect l="-1288" r="-1352" b="-1587"/>
                </a:stretch>
              </a:blipFill>
            </p:spPr>
            <p:txBody>
              <a:bodyPr/>
              <a:lstStyle/>
              <a:p>
                <a:r>
                  <a:rPr lang="zh-CN" altLang="en-US">
                    <a:noFill/>
                  </a:rPr>
                  <a:t> </a:t>
                </a:r>
              </a:p>
            </p:txBody>
          </p:sp>
        </mc:Fallback>
      </mc:AlternateContent>
      <p:sp>
        <p:nvSpPr>
          <p:cNvPr id="6" name="标题 1">
            <a:extLst>
              <a:ext uri="{FF2B5EF4-FFF2-40B4-BE49-F238E27FC236}">
                <a16:creationId xmlns:a16="http://schemas.microsoft.com/office/drawing/2014/main" id="{8A057232-ACDC-636B-340D-BB2F404F24AC}"/>
              </a:ext>
            </a:extLst>
          </p:cNvPr>
          <p:cNvSpPr txBox="1">
            <a:spLocks/>
          </p:cNvSpPr>
          <p:nvPr/>
        </p:nvSpPr>
        <p:spPr>
          <a:xfrm>
            <a:off x="1407695" y="84270"/>
            <a:ext cx="6400800" cy="662782"/>
          </a:xfrm>
          <a:prstGeom prst="rect">
            <a:avLst/>
          </a:prstGeom>
        </p:spPr>
        <p:txBody>
          <a:bodyPr vert="horz" lIns="91440" tIns="45720" rIns="91440" bIns="45720" rtlCol="0" anchor="ctr">
            <a:normAutofit/>
          </a:bodyPr>
          <a:lstStyle>
            <a:lvl1pPr algn="l" defTabSz="685783"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effectLst/>
              </a:rPr>
              <a:t>6.2.2 </a:t>
            </a:r>
            <a:r>
              <a:rPr lang="zh-CN" altLang="en-US" b="1" kern="0" dirty="0">
                <a:effectLst/>
              </a:rPr>
              <a:t>常用统计量</a:t>
            </a:r>
            <a:r>
              <a:rPr lang="zh-CN" altLang="en-US" kern="0" dirty="0">
                <a:effectLst/>
              </a:rPr>
              <a:t>（续）</a:t>
            </a:r>
            <a:endParaRPr lang="zh-CN" altLang="en-US" dirty="0">
              <a:effectLst/>
            </a:endParaRPr>
          </a:p>
        </p:txBody>
      </p:sp>
    </p:spTree>
    <p:extLst>
      <p:ext uri="{BB962C8B-B14F-4D97-AF65-F5344CB8AC3E}">
        <p14:creationId xmlns:p14="http://schemas.microsoft.com/office/powerpoint/2010/main" val="648260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27</a:t>
            </a:fld>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881BE79F-BC7F-A253-408B-B95170A41C11}"/>
                  </a:ext>
                </a:extLst>
              </p:cNvPr>
              <p:cNvSpPr txBox="1"/>
              <p:nvPr/>
            </p:nvSpPr>
            <p:spPr>
              <a:xfrm>
                <a:off x="1165260" y="228600"/>
                <a:ext cx="9384631" cy="5986960"/>
              </a:xfrm>
              <a:prstGeom prst="rect">
                <a:avLst/>
              </a:prstGeom>
              <a:noFill/>
            </p:spPr>
            <p:txBody>
              <a:bodyPr wrap="square">
                <a:spAutoFit/>
              </a:bodyPr>
              <a:lstStyle/>
              <a:p>
                <a:pPr>
                  <a:lnSpc>
                    <a:spcPct val="150000"/>
                  </a:lnSpc>
                </a:pPr>
                <a:r>
                  <a:rPr lang="zh-CN" altLang="en-US" sz="2800" b="1" dirty="0">
                    <a:latin typeface="等线" panose="02010600030101010101" pitchFamily="2" charset="-122"/>
                    <a:ea typeface="等线" panose="02010600030101010101" pitchFamily="2" charset="-122"/>
                  </a:rPr>
                  <a:t>样本中位数</a:t>
                </a:r>
                <a:r>
                  <a:rPr lang="zh-CN" altLang="en-US" sz="2800" dirty="0">
                    <a:latin typeface="宋体" panose="02010600030101010101" pitchFamily="2" charset="-122"/>
                    <a:ea typeface="宋体" panose="02010600030101010101" pitchFamily="2" charset="-122"/>
                  </a:rPr>
                  <a:t>：</a:t>
                </a:r>
                <a:r>
                  <a:rPr lang="zh-CN" altLang="zh-CN" sz="2800" kern="100" dirty="0">
                    <a:effectLst/>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𝑀</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𝑒</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den>
                                </m:f>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ub>
                            </m:sSub>
                            <m:r>
                              <a:rPr lang="zh-CN"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zh-CN" altLang="zh-CN" sz="2800" i="1" kern="100">
                                <a:effectLst/>
                                <a:latin typeface="Cambria Math" panose="02040503050406030204" pitchFamily="18" charset="0"/>
                                <a:ea typeface="宋体" panose="02010600030101010101" pitchFamily="2" charset="-122"/>
                                <a:cs typeface="Times New Roman" panose="02020603050405020304" pitchFamily="18" charset="0"/>
                              </a:rPr>
                              <m:t>为奇数</m:t>
                            </m:r>
                          </m:e>
                          <m:e>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den>
                                    </m:f>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den>
                                    </m:f>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den>
                            </m:f>
                            <m:r>
                              <a:rPr lang="zh-CN"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zh-CN" altLang="zh-CN" sz="2800" i="1" kern="100">
                                <a:effectLst/>
                                <a:latin typeface="Cambria Math" panose="02040503050406030204" pitchFamily="18" charset="0"/>
                                <a:ea typeface="宋体" panose="02010600030101010101" pitchFamily="2" charset="-122"/>
                                <a:cs typeface="Times New Roman" panose="02020603050405020304" pitchFamily="18" charset="0"/>
                              </a:rPr>
                              <m:t>为偶数</m:t>
                            </m:r>
                          </m:e>
                        </m:eqArr>
                      </m:e>
                    </m:d>
                  </m:oMath>
                </a14:m>
                <a:r>
                  <a:rPr lang="zh-CN" altLang="en-US" sz="2800" dirty="0">
                    <a:latin typeface="宋体" panose="02010600030101010101" pitchFamily="2" charset="-122"/>
                    <a:ea typeface="宋体" panose="02010600030101010101" pitchFamily="2" charset="-122"/>
                  </a:rPr>
                  <a:t> ；</a:t>
                </a:r>
              </a:p>
              <a:p>
                <a:pPr>
                  <a:lnSpc>
                    <a:spcPct val="150000"/>
                  </a:lnSpc>
                </a:pPr>
                <a:r>
                  <a:rPr lang="zh-CN" altLang="en-US" sz="2800" b="1" dirty="0">
                    <a:latin typeface="等线" panose="02010600030101010101" pitchFamily="2" charset="-122"/>
                    <a:ea typeface="等线" panose="02010600030101010101" pitchFamily="2" charset="-122"/>
                  </a:rPr>
                  <a:t>样本的 </a:t>
                </a:r>
                <a:r>
                  <a:rPr lang="en-US" altLang="zh-CN" sz="2800" b="1" i="1" dirty="0">
                    <a:latin typeface="等线" panose="02010600030101010101" pitchFamily="2" charset="-122"/>
                    <a:ea typeface="等线" panose="02010600030101010101" pitchFamily="2" charset="-122"/>
                  </a:rPr>
                  <a:t>p </a:t>
                </a:r>
                <a:r>
                  <a:rPr lang="zh-CN" altLang="en-US" sz="2800" b="1" dirty="0">
                    <a:latin typeface="等线" panose="02010600030101010101" pitchFamily="2" charset="-122"/>
                    <a:ea typeface="等线" panose="02010600030101010101" pitchFamily="2" charset="-122"/>
                  </a:rPr>
                  <a:t>分位数</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a:lnSpc>
                    <a:spcPct val="150000"/>
                  </a:lnSpc>
                </a:pPr>
                <a:r>
                  <a:rPr lang="zh-CN" altLang="zh-CN" sz="2800" kern="100" dirty="0">
                    <a:effectLst/>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𝑀</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𝑝</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e>
                    </m:d>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𝑋</m:t>
                        </m:r>
                      </m:e>
                      <m:sub>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e>
                                </m:d>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e>
                            </m:d>
                          </m:e>
                        </m:d>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ub>
                    </m:sSub>
                  </m:oMath>
                </a14:m>
                <a:r>
                  <a:rPr lang="en-US" altLang="zh-CN" sz="2400" kern="100" dirty="0">
                    <a:latin typeface="Cambria Math" panose="02040503050406030204" pitchFamily="18" charset="0"/>
                    <a:ea typeface="等线" panose="02010600030101010101" pitchFamily="2" charset="-122"/>
                    <a:cs typeface="Times New Roman" panose="02020603050405020304" pitchFamily="18" charset="0"/>
                  </a:rPr>
                  <a:t>)</a:t>
                </a:r>
              </a:p>
              <a:p>
                <a:pPr indent="541338">
                  <a:lnSpc>
                    <a:spcPct val="150000"/>
                  </a:lnSpc>
                </a:pPr>
                <a:r>
                  <a:rPr lang="zh-CN" altLang="en-US" sz="2400" dirty="0">
                    <a:latin typeface="宋体" panose="02010600030101010101" pitchFamily="2" charset="-122"/>
                    <a:ea typeface="宋体" panose="02010600030101010101" pitchFamily="2" charset="-122"/>
                  </a:rPr>
                  <a:t>其中</a:t>
                </a:r>
                <a:r>
                  <a:rPr lang="en-US" altLang="zh-CN" sz="2400" dirty="0">
                    <a:latin typeface="宋体" panose="02010600030101010101" pitchFamily="2" charset="-122"/>
                    <a:ea typeface="宋体" panose="02010600030101010101" pitchFamily="2" charset="-122"/>
                  </a:rPr>
                  <a:t>0&lt;p&lt;1,[(n+1)p]</a:t>
                </a:r>
                <a:r>
                  <a:rPr lang="zh-CN" altLang="en-US" sz="2400" dirty="0">
                    <a:latin typeface="宋体" panose="02010600030101010101" pitchFamily="2" charset="-122"/>
                    <a:ea typeface="宋体" panose="02010600030101010101" pitchFamily="2" charset="-122"/>
                  </a:rPr>
                  <a:t>为不超过</a:t>
                </a:r>
                <a:r>
                  <a:rPr lang="en-US" altLang="zh-CN" sz="2400" dirty="0">
                    <a:latin typeface="宋体" panose="02010600030101010101" pitchFamily="2" charset="-122"/>
                    <a:ea typeface="宋体" panose="02010600030101010101" pitchFamily="2" charset="-122"/>
                  </a:rPr>
                  <a:t>(n+1)p</a:t>
                </a:r>
                <a:r>
                  <a:rPr lang="zh-CN" altLang="en-US" sz="2400" dirty="0">
                    <a:latin typeface="宋体" panose="02010600030101010101" pitchFamily="2" charset="-122"/>
                    <a:ea typeface="宋体" panose="02010600030101010101" pitchFamily="2" charset="-122"/>
                  </a:rPr>
                  <a:t>的最大整数。</a:t>
                </a:r>
                <a:endParaRPr lang="en-US" altLang="zh-CN" sz="2400" dirty="0">
                  <a:latin typeface="宋体" panose="02010600030101010101" pitchFamily="2" charset="-122"/>
                  <a:ea typeface="宋体" panose="02010600030101010101" pitchFamily="2" charset="-122"/>
                </a:endParaRPr>
              </a:p>
              <a:p>
                <a:pPr>
                  <a:lnSpc>
                    <a:spcPct val="150000"/>
                  </a:lnSpc>
                </a:pPr>
                <a:r>
                  <a:rPr lang="zh-CN" altLang="en-US" sz="2800" b="1" dirty="0">
                    <a:latin typeface="等线" panose="02010600030101010101" pitchFamily="2" charset="-122"/>
                    <a:ea typeface="等线" panose="02010600030101010101" pitchFamily="2" charset="-122"/>
                  </a:rPr>
                  <a:t>样本的切尾均值</a:t>
                </a:r>
                <a:r>
                  <a:rPr lang="en-US" altLang="zh-CN" sz="2800" b="1"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分别去掉</a:t>
                </a:r>
                <a:r>
                  <a:rPr lang="en-US" altLang="zh-CN" sz="2800" dirty="0">
                    <a:latin typeface="宋体" panose="02010600030101010101" pitchFamily="2" charset="-122"/>
                    <a:ea typeface="宋体" panose="02010600030101010101" pitchFamily="2" charset="-122"/>
                  </a:rPr>
                  <a:t>k</a:t>
                </a:r>
                <a:r>
                  <a:rPr lang="zh-CN" altLang="en-US" sz="2800" dirty="0">
                    <a:latin typeface="宋体" panose="02010600030101010101" pitchFamily="2" charset="-122"/>
                    <a:ea typeface="宋体" panose="02010600030101010101" pitchFamily="2" charset="-122"/>
                  </a:rPr>
                  <a:t>个最小的和</a:t>
                </a:r>
                <a:r>
                  <a:rPr lang="en-US" altLang="zh-CN" sz="2800" dirty="0">
                    <a:latin typeface="宋体" panose="02010600030101010101" pitchFamily="2" charset="-122"/>
                    <a:ea typeface="宋体" panose="02010600030101010101" pitchFamily="2" charset="-122"/>
                  </a:rPr>
                  <a:t>k</a:t>
                </a:r>
                <a:r>
                  <a:rPr lang="zh-CN" altLang="en-US" sz="2800" dirty="0">
                    <a:latin typeface="宋体" panose="02010600030101010101" pitchFamily="2" charset="-122"/>
                    <a:ea typeface="宋体" panose="02010600030101010101" pitchFamily="2" charset="-122"/>
                  </a:rPr>
                  <a:t>个最大的观测值后得到的均值：</a:t>
                </a:r>
                <a:r>
                  <a:rPr lang="zh-CN" altLang="zh-CN" sz="2800" kern="100" dirty="0">
                    <a:effectLst/>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den>
                    </m:f>
                    <m:nary>
                      <m:naryPr>
                        <m:chr m:val="∑"/>
                        <m:limLoc m:val="undOv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sup>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ub>
                        </m:sSub>
                      </m:e>
                    </m:nary>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&lt;</m:t>
                    </m:r>
                    <m:f>
                      <m:fPr>
                        <m:ctrlP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num>
                      <m:den>
                        <m:r>
                          <a:rPr lang="en-US" altLang="zh-CN" sz="2800" b="0" i="1" kern="100" smtClean="0">
                            <a:effectLst/>
                            <a:latin typeface="Cambria Math" charset="0"/>
                            <a:ea typeface="等线" panose="02010600030101010101" pitchFamily="2" charset="-122"/>
                            <a:cs typeface="Times New Roman" panose="02020603050405020304" pitchFamily="18" charset="0"/>
                          </a:rPr>
                          <m:t>2</m:t>
                        </m:r>
                      </m:den>
                    </m:f>
                  </m:oMath>
                </a14:m>
                <a:endParaRPr lang="en-US" altLang="zh-CN" sz="2800" dirty="0">
                  <a:latin typeface="宋体" panose="02010600030101010101" pitchFamily="2" charset="-122"/>
                  <a:ea typeface="宋体" panose="02010600030101010101" pitchFamily="2" charset="-122"/>
                </a:endParaRPr>
              </a:p>
            </p:txBody>
          </p:sp>
        </mc:Choice>
        <mc:Fallback xmlns="">
          <p:sp>
            <p:nvSpPr>
              <p:cNvPr id="45" name="文本框 44">
                <a:extLst>
                  <a:ext uri="{FF2B5EF4-FFF2-40B4-BE49-F238E27FC236}">
                    <a16:creationId xmlns:a16="http://schemas.microsoft.com/office/drawing/2014/main" id="{881BE79F-BC7F-A253-408B-B95170A41C11}"/>
                  </a:ext>
                </a:extLst>
              </p:cNvPr>
              <p:cNvSpPr txBox="1">
                <a:spLocks noRot="1" noChangeAspect="1" noMove="1" noResize="1" noEditPoints="1" noAdjustHandles="1" noChangeArrowheads="1" noChangeShapeType="1" noTextEdit="1"/>
              </p:cNvSpPr>
              <p:nvPr/>
            </p:nvSpPr>
            <p:spPr>
              <a:xfrm>
                <a:off x="1165260" y="228600"/>
                <a:ext cx="9384631" cy="5986960"/>
              </a:xfrm>
              <a:prstGeom prst="rect">
                <a:avLst/>
              </a:prstGeom>
              <a:blipFill>
                <a:blip r:embed="rId2"/>
                <a:stretch>
                  <a:fillRect l="-1299" r="-779"/>
                </a:stretch>
              </a:blipFill>
            </p:spPr>
            <p:txBody>
              <a:bodyPr/>
              <a:lstStyle/>
              <a:p>
                <a:r>
                  <a:rPr lang="zh-CN" altLang="en-US">
                    <a:noFill/>
                  </a:rPr>
                  <a:t> </a:t>
                </a:r>
              </a:p>
            </p:txBody>
          </p:sp>
        </mc:Fallback>
      </mc:AlternateContent>
      <p:sp>
        <p:nvSpPr>
          <p:cNvPr id="6" name="标题 1">
            <a:extLst>
              <a:ext uri="{FF2B5EF4-FFF2-40B4-BE49-F238E27FC236}">
                <a16:creationId xmlns:a16="http://schemas.microsoft.com/office/drawing/2014/main" id="{8A057232-ACDC-636B-340D-BB2F404F24AC}"/>
              </a:ext>
            </a:extLst>
          </p:cNvPr>
          <p:cNvSpPr txBox="1">
            <a:spLocks/>
          </p:cNvSpPr>
          <p:nvPr/>
        </p:nvSpPr>
        <p:spPr>
          <a:xfrm>
            <a:off x="2093495" y="143491"/>
            <a:ext cx="6400800" cy="662782"/>
          </a:xfrm>
          <a:prstGeom prst="rect">
            <a:avLst/>
          </a:prstGeom>
        </p:spPr>
        <p:txBody>
          <a:bodyPr vert="horz" lIns="91440" tIns="45720" rIns="91440" bIns="45720" rtlCol="0" anchor="ctr">
            <a:normAutofit/>
          </a:bodyPr>
          <a:lstStyle>
            <a:lvl1pPr algn="l" defTabSz="685783"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a:effectLst/>
              </a:rPr>
              <a:t>6.2.2 </a:t>
            </a:r>
            <a:r>
              <a:rPr lang="zh-CN" altLang="en-US" b="1" kern="0">
                <a:effectLst/>
              </a:rPr>
              <a:t>常用统计量</a:t>
            </a:r>
            <a:r>
              <a:rPr lang="zh-CN" altLang="en-US" kern="0">
                <a:effectLst/>
              </a:rPr>
              <a:t>（续）</a:t>
            </a:r>
            <a:endParaRPr lang="zh-CN" altLang="en-US" dirty="0">
              <a:effectLst/>
            </a:endParaRPr>
          </a:p>
        </p:txBody>
      </p:sp>
    </p:spTree>
    <p:extLst>
      <p:ext uri="{BB962C8B-B14F-4D97-AF65-F5344CB8AC3E}">
        <p14:creationId xmlns:p14="http://schemas.microsoft.com/office/powerpoint/2010/main" val="3883726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57232-ACDC-636B-340D-BB2F404F24AC}"/>
              </a:ext>
            </a:extLst>
          </p:cNvPr>
          <p:cNvSpPr>
            <a:spLocks noGrp="1"/>
          </p:cNvSpPr>
          <p:nvPr>
            <p:ph type="title"/>
          </p:nvPr>
        </p:nvSpPr>
        <p:spPr>
          <a:xfrm>
            <a:off x="1648327" y="191619"/>
            <a:ext cx="9430953" cy="662782"/>
          </a:xfrm>
        </p:spPr>
        <p:txBody>
          <a:bodyPr>
            <a:normAutofit/>
          </a:bodyPr>
          <a:lstStyle/>
          <a:p>
            <a:r>
              <a:rPr lang="en-US" altLang="zh-CN" sz="3600" b="1" kern="0" dirty="0">
                <a:effectLst/>
              </a:rPr>
              <a:t>6.2.3 </a:t>
            </a:r>
            <a:r>
              <a:rPr lang="zh-CN" altLang="en-US" sz="3600" b="1" kern="0" dirty="0">
                <a:effectLst/>
              </a:rPr>
              <a:t>抽样分布的概念</a:t>
            </a:r>
            <a:endParaRPr lang="zh-CN" altLang="en-US" sz="3600" b="1" dirty="0">
              <a:effectLst/>
            </a:endParaRPr>
          </a:p>
        </p:txBody>
      </p:sp>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28</a:t>
            </a:fld>
            <a:endParaRPr lang="zh-CN" altLang="en-US"/>
          </a:p>
        </p:txBody>
      </p:sp>
      <p:sp>
        <p:nvSpPr>
          <p:cNvPr id="45" name="文本框 44">
            <a:extLst>
              <a:ext uri="{FF2B5EF4-FFF2-40B4-BE49-F238E27FC236}">
                <a16:creationId xmlns:a16="http://schemas.microsoft.com/office/drawing/2014/main" id="{881BE79F-BC7F-A253-408B-B95170A41C11}"/>
              </a:ext>
            </a:extLst>
          </p:cNvPr>
          <p:cNvSpPr txBox="1"/>
          <p:nvPr/>
        </p:nvSpPr>
        <p:spPr>
          <a:xfrm>
            <a:off x="939813" y="1306432"/>
            <a:ext cx="9984862" cy="4124206"/>
          </a:xfrm>
          <a:prstGeom prst="rect">
            <a:avLst/>
          </a:prstGeom>
          <a:noFill/>
        </p:spPr>
        <p:txBody>
          <a:bodyPr wrap="square">
            <a:spAutoFit/>
          </a:bodyPr>
          <a:lstStyle/>
          <a:p>
            <a:pPr indent="720000">
              <a:lnSpc>
                <a:spcPct val="150000"/>
              </a:lnSpc>
              <a:spcBef>
                <a:spcPts val="1200"/>
              </a:spcBef>
            </a:pPr>
            <a:r>
              <a:rPr lang="zh-CN" altLang="en-US" sz="2800" b="1" dirty="0">
                <a:latin typeface="宋体" panose="02010600030101010101" pitchFamily="2" charset="-122"/>
                <a:ea typeface="宋体" panose="02010600030101010101" pitchFamily="2" charset="-122"/>
              </a:rPr>
              <a:t>统计量的分布称为</a:t>
            </a:r>
            <a:r>
              <a:rPr lang="zh-CN" altLang="en-US" sz="2800" b="1" dirty="0">
                <a:latin typeface="等线" panose="02010600030101010101" pitchFamily="2" charset="-122"/>
                <a:ea typeface="等线" panose="02010600030101010101" pitchFamily="2" charset="-122"/>
              </a:rPr>
              <a:t>抽样分布</a:t>
            </a:r>
            <a:r>
              <a:rPr lang="zh-CN" altLang="en-US" sz="2800" dirty="0">
                <a:latin typeface="宋体" panose="02010600030101010101" pitchFamily="2" charset="-122"/>
                <a:ea typeface="宋体" panose="02010600030101010101" pitchFamily="2" charset="-122"/>
              </a:rPr>
              <a:t>。</a:t>
            </a:r>
            <a:endParaRPr lang="en-US" altLang="zh-CN" sz="2800" dirty="0">
              <a:latin typeface="宋体" panose="02010600030101010101" pitchFamily="2" charset="-122"/>
              <a:ea typeface="宋体" panose="02010600030101010101" pitchFamily="2" charset="-122"/>
            </a:endParaRPr>
          </a:p>
          <a:p>
            <a:pPr indent="720000">
              <a:lnSpc>
                <a:spcPct val="150000"/>
              </a:lnSpc>
              <a:spcBef>
                <a:spcPts val="1200"/>
              </a:spcBef>
            </a:pPr>
            <a:r>
              <a:rPr lang="zh-CN" altLang="en-US" sz="2800" b="1" dirty="0">
                <a:latin typeface="宋体" panose="02010600030101010101" pitchFamily="2" charset="-122"/>
                <a:ea typeface="宋体" panose="02010600030101010101" pitchFamily="2" charset="-122"/>
              </a:rPr>
              <a:t>抽样分布和统计推断有着密切的联系</a:t>
            </a:r>
            <a:r>
              <a:rPr lang="zh-CN" altLang="en-US" sz="2800" dirty="0">
                <a:latin typeface="宋体" panose="02010600030101010101" pitchFamily="2" charset="-122"/>
                <a:ea typeface="宋体" panose="02010600030101010101" pitchFamily="2" charset="-122"/>
              </a:rPr>
              <a:t>。统计量明确以后，必须要知道其抽样分布才能在统计推断中使用。因为只有知道了统计量的分布，才能利用概率论对总体的特征进行推断，并得到相应的推断置信度。所以在统计推断中，一项重要的工作就是寻找统计量和导出统计量的抽样分布或渐近抽样分布。</a:t>
            </a:r>
          </a:p>
        </p:txBody>
      </p:sp>
    </p:spTree>
    <p:extLst>
      <p:ext uri="{BB962C8B-B14F-4D97-AF65-F5344CB8AC3E}">
        <p14:creationId xmlns:p14="http://schemas.microsoft.com/office/powerpoint/2010/main" val="995913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57232-ACDC-636B-340D-BB2F404F24AC}"/>
              </a:ext>
            </a:extLst>
          </p:cNvPr>
          <p:cNvSpPr>
            <a:spLocks noGrp="1"/>
          </p:cNvSpPr>
          <p:nvPr>
            <p:ph type="title"/>
          </p:nvPr>
        </p:nvSpPr>
        <p:spPr>
          <a:xfrm>
            <a:off x="2057398" y="201674"/>
            <a:ext cx="6374933" cy="662782"/>
          </a:xfrm>
        </p:spPr>
        <p:txBody>
          <a:bodyPr>
            <a:normAutofit/>
          </a:bodyPr>
          <a:lstStyle/>
          <a:p>
            <a:r>
              <a:rPr lang="en-US" altLang="zh-CN" b="1" dirty="0">
                <a:effectLst/>
                <a:latin typeface="宋体" panose="02010600030101010101" pitchFamily="2" charset="-122"/>
                <a:ea typeface="宋体" panose="02010600030101010101" pitchFamily="2" charset="-122"/>
              </a:rPr>
              <a:t>【</a:t>
            </a:r>
            <a:r>
              <a:rPr lang="zh-CN" altLang="en-US" b="1" dirty="0">
                <a:effectLst/>
                <a:latin typeface="宋体" panose="02010600030101010101" pitchFamily="2" charset="-122"/>
                <a:ea typeface="宋体" panose="02010600030101010101" pitchFamily="2" charset="-122"/>
              </a:rPr>
              <a:t>例</a:t>
            </a:r>
            <a:r>
              <a:rPr lang="en-US" altLang="zh-CN" b="1" dirty="0">
                <a:effectLst/>
                <a:latin typeface="宋体" panose="02010600030101010101" pitchFamily="2" charset="-122"/>
                <a:ea typeface="宋体" panose="02010600030101010101" pitchFamily="2" charset="-122"/>
              </a:rPr>
              <a:t>6-3】</a:t>
            </a:r>
            <a:endParaRPr lang="zh-CN" altLang="en-US" b="1" dirty="0">
              <a:effectLst/>
            </a:endParaRPr>
          </a:p>
        </p:txBody>
      </p:sp>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29</a:t>
            </a:fld>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881BE79F-BC7F-A253-408B-B95170A41C11}"/>
                  </a:ext>
                </a:extLst>
              </p:cNvPr>
              <p:cNvSpPr txBox="1"/>
              <p:nvPr/>
            </p:nvSpPr>
            <p:spPr>
              <a:xfrm>
                <a:off x="888623" y="750537"/>
                <a:ext cx="9999955" cy="5276637"/>
              </a:xfrm>
              <a:prstGeom prst="rect">
                <a:avLst/>
              </a:prstGeom>
              <a:noFill/>
            </p:spPr>
            <p:txBody>
              <a:bodyPr wrap="square">
                <a:spAutoFit/>
              </a:bodyPr>
              <a:lstStyle/>
              <a:p>
                <a:pPr indent="720000">
                  <a:lnSpc>
                    <a:spcPct val="150000"/>
                  </a:lnSpc>
                </a:pPr>
                <a:r>
                  <a:rPr lang="zh-CN" altLang="en-US" sz="2800" dirty="0">
                    <a:latin typeface="宋体" panose="02010600030101010101" pitchFamily="2" charset="-122"/>
                    <a:ea typeface="宋体" panose="02010600030101010101" pitchFamily="2" charset="-122"/>
                  </a:rPr>
                  <a:t>总体</a:t>
                </a:r>
                <a:r>
                  <a:rPr lang="en-US" altLang="zh-CN" sz="2800" dirty="0">
                    <a:latin typeface="宋体" panose="02010600030101010101" pitchFamily="2" charset="-122"/>
                    <a:ea typeface="宋体" panose="02010600030101010101" pitchFamily="2" charset="-122"/>
                  </a:rPr>
                  <a:t>X</a:t>
                </a:r>
                <a:r>
                  <a:rPr lang="zh-CN" altLang="en-US" sz="2800" dirty="0">
                    <a:latin typeface="宋体" panose="02010600030101010101" pitchFamily="2" charset="-122"/>
                    <a:ea typeface="宋体" panose="02010600030101010101" pitchFamily="2" charset="-122"/>
                  </a:rPr>
                  <a:t>服从两点分布，概率分布律如下：</a:t>
                </a:r>
              </a:p>
              <a:p>
                <a:pPr indent="720000" algn="just">
                  <a:lnSpc>
                    <a:spcPct val="150000"/>
                  </a:lnSpc>
                </a:pPr>
                <a14:m>
                  <m:oMathPara xmlns:m="http://schemas.openxmlformats.org/officeDocument/2006/math">
                    <m:oMathParaPr>
                      <m:jc m:val="centerGroup"/>
                    </m:oMathParaPr>
                    <m:oMath xmlns:m="http://schemas.openxmlformats.org/officeDocument/2006/math">
                      <m:r>
                        <a:rPr lang="en-US" altLang="zh-CN" sz="2800" i="1" kern="100" smtClean="0">
                          <a:effectLst/>
                          <a:latin typeface="Cambria Math" panose="02040503050406030204" pitchFamily="18" charset="0"/>
                          <a:ea typeface="等线" panose="02010600030101010101" pitchFamily="2" charset="-122"/>
                          <a:cs typeface="Times New Roman" panose="02020603050405020304" pitchFamily="18" charset="0"/>
                        </a:rPr>
                        <m:t>𝑃</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𝑃</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oMath>
                  </m:oMathPara>
                </a14:m>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720000" algn="just">
                  <a:lnSpc>
                    <a:spcPct val="150000"/>
                  </a:lnSpc>
                </a:pPr>
                <a:r>
                  <a:rPr lang="zh-CN" altLang="en-US" sz="2800" dirty="0">
                    <a:latin typeface="宋体" panose="02010600030101010101" pitchFamily="2" charset="-122"/>
                    <a:ea typeface="宋体" panose="02010600030101010101" pitchFamily="2" charset="-122"/>
                  </a:rPr>
                  <a:t>从总体中抽取容量为</a:t>
                </a:r>
                <a:r>
                  <a:rPr lang="en-US" altLang="zh-CN" sz="2800" dirty="0">
                    <a:latin typeface="宋体" panose="02010600030101010101" pitchFamily="2" charset="-122"/>
                    <a:ea typeface="宋体" panose="02010600030101010101" pitchFamily="2" charset="-122"/>
                  </a:rPr>
                  <a:t>n</a:t>
                </a:r>
                <a:r>
                  <a:rPr lang="zh-CN" altLang="en-US" sz="2800" dirty="0">
                    <a:latin typeface="宋体" panose="02010600030101010101" pitchFamily="2" charset="-122"/>
                    <a:ea typeface="宋体" panose="02010600030101010101" pitchFamily="2" charset="-122"/>
                  </a:rPr>
                  <a:t>的样本，构造统计量</a:t>
                </a:r>
                <a14:m>
                  <m:oMath xmlns:m="http://schemas.openxmlformats.org/officeDocument/2006/math">
                    <m:r>
                      <a:rPr lang="en-US" altLang="zh-CN" sz="2800" i="1" kern="100" smtClean="0">
                        <a:effectLst/>
                        <a:latin typeface="Cambria Math" panose="02040503050406030204" pitchFamily="18" charset="0"/>
                        <a:ea typeface="等线" panose="02010600030101010101" pitchFamily="2" charset="-122"/>
                        <a:cs typeface="Times New Roman" panose="02020603050405020304" pitchFamily="18" charset="0"/>
                      </a:rPr>
                      <m:t>𝑇</m:t>
                    </m:r>
                    <m:r>
                      <a:rPr lang="en-US" altLang="zh-CN" sz="2800" i="1" kern="100" smtClean="0">
                        <a:effectLst/>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Sub>
                      </m:e>
                    </m:nary>
                  </m:oMath>
                </a14:m>
                <a:r>
                  <a:rPr lang="zh-CN" altLang="en-US" sz="2800" dirty="0">
                    <a:latin typeface="宋体" panose="02010600030101010101" pitchFamily="2" charset="-122"/>
                    <a:ea typeface="宋体" panose="02010600030101010101" pitchFamily="2" charset="-122"/>
                  </a:rPr>
                  <a:t>，求此统计量的分布。</a:t>
                </a:r>
              </a:p>
              <a:p>
                <a:pPr indent="720000">
                  <a:lnSpc>
                    <a:spcPct val="150000"/>
                  </a:lnSpc>
                </a:pPr>
                <a:r>
                  <a:rPr lang="zh-CN" altLang="en-US" sz="2800" b="1" dirty="0">
                    <a:latin typeface="宋体" panose="02010600030101010101" pitchFamily="2" charset="-122"/>
                    <a:ea typeface="宋体" panose="02010600030101010101" pitchFamily="2" charset="-122"/>
                  </a:rPr>
                  <a:t>解：</a:t>
                </a:r>
                <a:r>
                  <a:rPr lang="zh-CN" altLang="en-US" sz="2800" dirty="0">
                    <a:latin typeface="宋体" panose="02010600030101010101" pitchFamily="2" charset="-122"/>
                    <a:ea typeface="宋体" panose="02010600030101010101" pitchFamily="2" charset="-122"/>
                  </a:rPr>
                  <a:t>由于样本是独立的</a:t>
                </a:r>
                <a:r>
                  <a:rPr lang="en-US" altLang="zh-CN" sz="2800" dirty="0">
                    <a:latin typeface="宋体" panose="02010600030101010101" pitchFamily="2" charset="-122"/>
                    <a:ea typeface="宋体" panose="02010600030101010101" pitchFamily="2" charset="-122"/>
                  </a:rPr>
                  <a:t>,</a:t>
                </a:r>
                <a14:m>
                  <m:oMath xmlns:m="http://schemas.openxmlformats.org/officeDocument/2006/math">
                    <m:sSub>
                      <m:sSub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𝑋</m:t>
                        </m:r>
                      </m:e>
                      <m:sub>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en-US" sz="2800" dirty="0">
                    <a:latin typeface="宋体" panose="02010600030101010101" pitchFamily="2" charset="-122"/>
                    <a:ea typeface="宋体" panose="02010600030101010101" pitchFamily="2" charset="-122"/>
                  </a:rPr>
                  <a:t>服从两点分布，统计量</a:t>
                </a:r>
                <a:r>
                  <a:rPr lang="en-US" altLang="zh-CN" sz="2800" dirty="0">
                    <a:latin typeface="宋体" panose="02010600030101010101" pitchFamily="2" charset="-122"/>
                    <a:ea typeface="宋体" panose="02010600030101010101" pitchFamily="2" charset="-122"/>
                  </a:rPr>
                  <a:t>T</a:t>
                </a:r>
                <a:r>
                  <a:rPr lang="zh-CN" altLang="en-US" sz="2800" dirty="0">
                    <a:latin typeface="宋体" panose="02010600030101010101" pitchFamily="2" charset="-122"/>
                    <a:ea typeface="宋体" panose="02010600030101010101" pitchFamily="2" charset="-122"/>
                  </a:rPr>
                  <a:t>为随机变量，其取值是</a:t>
                </a:r>
                <a:r>
                  <a:rPr lang="en-US" altLang="zh-CN" sz="2800" dirty="0">
                    <a:latin typeface="宋体" panose="02010600030101010101" pitchFamily="2" charset="-122"/>
                    <a:ea typeface="宋体" panose="02010600030101010101" pitchFamily="2" charset="-122"/>
                  </a:rPr>
                  <a:t>0</a:t>
                </a:r>
                <a:r>
                  <a:rPr lang="zh-CN" altLang="en-US" sz="2800" dirty="0">
                    <a:latin typeface="宋体" panose="02010600030101010101" pitchFamily="2" charset="-122"/>
                    <a:ea typeface="宋体" panose="02010600030101010101" pitchFamily="2" charset="-122"/>
                  </a:rPr>
                  <a:t>到</a:t>
                </a:r>
                <a:r>
                  <a:rPr lang="en-US" altLang="zh-CN" sz="2800" dirty="0">
                    <a:latin typeface="宋体" panose="02010600030101010101" pitchFamily="2" charset="-122"/>
                    <a:ea typeface="宋体" panose="02010600030101010101" pitchFamily="2" charset="-122"/>
                  </a:rPr>
                  <a:t>n</a:t>
                </a:r>
                <a:r>
                  <a:rPr lang="zh-CN" altLang="en-US" sz="2800" dirty="0">
                    <a:latin typeface="宋体" panose="02010600030101010101" pitchFamily="2" charset="-122"/>
                    <a:ea typeface="宋体" panose="02010600030101010101" pitchFamily="2" charset="-122"/>
                  </a:rPr>
                  <a:t>之间的所有整数，其分布恰好是二项分布：</a:t>
                </a:r>
              </a:p>
              <a:p>
                <a:pPr indent="720000" algn="just">
                  <a:lnSpc>
                    <a:spcPct val="150000"/>
                  </a:lnSpc>
                </a:pPr>
                <a14:m>
                  <m:oMathPara xmlns:m="http://schemas.openxmlformats.org/officeDocument/2006/math">
                    <m:oMathParaPr>
                      <m:jc m:val="centerGroup"/>
                    </m:oMathParaPr>
                    <m:oMath xmlns:m="http://schemas.openxmlformats.org/officeDocument/2006/math">
                      <m:r>
                        <a:rPr lang="en-US" altLang="zh-CN" sz="2800" i="1" kern="100" smtClean="0">
                          <a:effectLst/>
                          <a:latin typeface="Cambria Math" panose="02040503050406030204" pitchFamily="18" charset="0"/>
                          <a:ea typeface="等线" panose="02010600030101010101" pitchFamily="2" charset="-122"/>
                          <a:cs typeface="Times New Roman" panose="02020603050405020304" pitchFamily="18" charset="0"/>
                        </a:rPr>
                        <m:t>𝑃</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𝐶</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sup>
                      </m:sSubSup>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sup>
                      </m:sSup>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𝑝</m:t>
                              </m:r>
                            </m:e>
                          </m:d>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sup>
                      </m:s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=0,1,2,…,</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oMath>
                  </m:oMathPara>
                </a14:m>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720000">
                  <a:lnSpc>
                    <a:spcPct val="150000"/>
                  </a:lnSpc>
                </a:pPr>
                <a:r>
                  <a:rPr lang="zh-CN" altLang="en-US" sz="2800" dirty="0">
                    <a:latin typeface="宋体" panose="02010600030101010101" pitchFamily="2" charset="-122"/>
                    <a:ea typeface="宋体" panose="02010600030101010101" pitchFamily="2" charset="-122"/>
                  </a:rPr>
                  <a:t>从上例子中，可以看出</a:t>
                </a:r>
                <a:r>
                  <a:rPr lang="zh-CN" altLang="en-US" sz="2800" b="1" dirty="0">
                    <a:latin typeface="宋体" panose="02010600030101010101" pitchFamily="2" charset="-122"/>
                    <a:ea typeface="宋体" panose="02010600030101010101" pitchFamily="2" charset="-122"/>
                  </a:rPr>
                  <a:t>总体的分布未必与抽样分布一致</a:t>
                </a:r>
                <a:r>
                  <a:rPr lang="zh-CN" altLang="en-US" sz="2800" dirty="0">
                    <a:latin typeface="宋体" panose="02010600030101010101" pitchFamily="2" charset="-122"/>
                    <a:ea typeface="宋体" panose="02010600030101010101" pitchFamily="2" charset="-122"/>
                  </a:rPr>
                  <a:t>。</a:t>
                </a:r>
              </a:p>
            </p:txBody>
          </p:sp>
        </mc:Choice>
        <mc:Fallback xmlns="">
          <p:sp>
            <p:nvSpPr>
              <p:cNvPr id="45" name="文本框 44">
                <a:extLst>
                  <a:ext uri="{FF2B5EF4-FFF2-40B4-BE49-F238E27FC236}">
                    <a16:creationId xmlns:a16="http://schemas.microsoft.com/office/drawing/2014/main" id="{881BE79F-BC7F-A253-408B-B95170A41C11}"/>
                  </a:ext>
                </a:extLst>
              </p:cNvPr>
              <p:cNvSpPr txBox="1">
                <a:spLocks noRot="1" noChangeAspect="1" noMove="1" noResize="1" noEditPoints="1" noAdjustHandles="1" noChangeArrowheads="1" noChangeShapeType="1" noTextEdit="1"/>
              </p:cNvSpPr>
              <p:nvPr/>
            </p:nvSpPr>
            <p:spPr>
              <a:xfrm>
                <a:off x="888623" y="750537"/>
                <a:ext cx="9999955" cy="5276637"/>
              </a:xfrm>
              <a:prstGeom prst="rect">
                <a:avLst/>
              </a:prstGeom>
              <a:blipFill>
                <a:blip r:embed="rId2"/>
                <a:stretch>
                  <a:fillRect l="-1280" r="-2683" b="-3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84859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57232-ACDC-636B-340D-BB2F404F24AC}"/>
              </a:ext>
            </a:extLst>
          </p:cNvPr>
          <p:cNvSpPr>
            <a:spLocks noGrp="1"/>
          </p:cNvSpPr>
          <p:nvPr>
            <p:ph type="title"/>
          </p:nvPr>
        </p:nvSpPr>
        <p:spPr>
          <a:xfrm>
            <a:off x="2177716" y="107694"/>
            <a:ext cx="7084796" cy="662782"/>
          </a:xfrm>
        </p:spPr>
        <p:txBody>
          <a:bodyPr>
            <a:normAutofit/>
          </a:bodyPr>
          <a:lstStyle/>
          <a:p>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例</a:t>
            </a:r>
            <a:r>
              <a:rPr lang="en-US" altLang="zh-CN" b="1" dirty="0">
                <a:latin typeface="宋体" panose="02010600030101010101" pitchFamily="2" charset="-122"/>
                <a:ea typeface="宋体" panose="02010600030101010101" pitchFamily="2" charset="-122"/>
              </a:rPr>
              <a:t>6-4】</a:t>
            </a:r>
            <a:endParaRPr lang="zh-CN" altLang="en-US" b="1" dirty="0"/>
          </a:p>
        </p:txBody>
      </p:sp>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30</a:t>
            </a:fld>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881BE79F-BC7F-A253-408B-B95170A41C11}"/>
                  </a:ext>
                </a:extLst>
              </p:cNvPr>
              <p:cNvSpPr txBox="1"/>
              <p:nvPr/>
            </p:nvSpPr>
            <p:spPr>
              <a:xfrm>
                <a:off x="554008" y="697989"/>
                <a:ext cx="9528455" cy="5683479"/>
              </a:xfrm>
              <a:prstGeom prst="rect">
                <a:avLst/>
              </a:prstGeom>
              <a:noFill/>
            </p:spPr>
            <p:txBody>
              <a:bodyPr wrap="square">
                <a:spAutoFit/>
              </a:bodyPr>
              <a:lstStyle/>
              <a:p>
                <a:pPr indent="720000" algn="just">
                  <a:lnSpc>
                    <a:spcPct val="110000"/>
                  </a:lnSpc>
                  <a:spcBef>
                    <a:spcPts val="1200"/>
                  </a:spcBef>
                </a:pPr>
                <a:r>
                  <a:rPr lang="zh-CN" altLang="en-US" sz="2800" dirty="0">
                    <a:latin typeface="宋体" panose="02010600030101010101" pitchFamily="2" charset="-122"/>
                    <a:ea typeface="宋体" panose="02010600030101010101" pitchFamily="2" charset="-122"/>
                  </a:rPr>
                  <a:t>总体分布为</a:t>
                </a:r>
                <a14:m>
                  <m:oMath xmlns:m="http://schemas.openxmlformats.org/officeDocument/2006/math">
                    <m:r>
                      <a:rPr lang="en-US" altLang="zh-CN" sz="2800" i="1" kern="100" smtClean="0">
                        <a:effectLst/>
                        <a:latin typeface="Cambria Math" panose="02040503050406030204" pitchFamily="18" charset="0"/>
                        <a:ea typeface="等线" panose="02010600030101010101" pitchFamily="2" charset="-122"/>
                        <a:cs typeface="Times New Roman" panose="02020603050405020304" pitchFamily="18" charset="0"/>
                      </a:rPr>
                      <m:t>𝑋</m:t>
                    </m:r>
                    <m:r>
                      <a:rPr lang="en-US" altLang="zh-CN" sz="2800" i="1"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smtClean="0">
                        <a:effectLst/>
                        <a:latin typeface="Cambria Math" panose="02040503050406030204" pitchFamily="18" charset="0"/>
                        <a:ea typeface="等线" panose="02010600030101010101" pitchFamily="2" charset="-122"/>
                        <a:cs typeface="Times New Roman" panose="02020603050405020304" pitchFamily="18" charset="0"/>
                      </a:rPr>
                      <m:t>𝑁</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1,1</m:t>
                        </m:r>
                      </m:e>
                    </m:d>
                  </m:oMath>
                </a14:m>
                <a:r>
                  <a:rPr lang="zh-CN" altLang="en-US" sz="2800" dirty="0">
                    <a:latin typeface="宋体" panose="02010600030101010101" pitchFamily="2" charset="-122"/>
                    <a:ea typeface="宋体" panose="02010600030101010101" pitchFamily="2" charset="-122"/>
                  </a:rPr>
                  <a:t>，抽取容量为</a:t>
                </a:r>
                <a:r>
                  <a:rPr lang="en-US" altLang="zh-CN" sz="2800" dirty="0">
                    <a:latin typeface="宋体" panose="02010600030101010101" pitchFamily="2" charset="-122"/>
                    <a:ea typeface="宋体" panose="02010600030101010101" pitchFamily="2" charset="-122"/>
                  </a:rPr>
                  <a:t>n</a:t>
                </a:r>
                <a:r>
                  <a:rPr lang="zh-CN" altLang="en-US" sz="2800" dirty="0">
                    <a:latin typeface="宋体" panose="02010600030101010101" pitchFamily="2" charset="-122"/>
                    <a:ea typeface="宋体" panose="02010600030101010101" pitchFamily="2" charset="-122"/>
                  </a:rPr>
                  <a:t>的样本，构造如下三个统计量：</a:t>
                </a:r>
                <a14:m>
                  <m:oMath xmlns:m="http://schemas.openxmlformats.org/officeDocument/2006/math">
                    <m:r>
                      <a:rPr lang="zh-CN" altLang="zh-CN" sz="2800" i="1">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𝑇</m:t>
                        </m:r>
                      </m:e>
                      <m:sub>
                        <m:r>
                          <a:rPr lang="en-US" altLang="zh-CN" sz="28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𝑇</m:t>
                        </m:r>
                      </m:e>
                      <m:sub>
                        <m:r>
                          <a:rPr lang="en-US" altLang="zh-CN" sz="2800" i="1">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8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宋体" panose="02010600030101010101" pitchFamily="2" charset="-122"/>
                            <a:cs typeface="Times New Roman" panose="02020603050405020304" pitchFamily="18" charset="0"/>
                          </a:rPr>
                          <m:t>2</m:t>
                        </m:r>
                      </m:sub>
                    </m:sSub>
                    <m:r>
                      <a:rPr lang="zh-CN" altLang="zh-CN" sz="2800">
                        <a:latin typeface="Cambria Math" panose="02040503050406030204" pitchFamily="18" charset="0"/>
                        <a:ea typeface="宋体" panose="02010600030101010101" pitchFamily="2" charset="-122"/>
                        <a:cs typeface="Times New Roman" panose="02020603050405020304" pitchFamily="18" charset="0"/>
                      </a:rPr>
                      <m:t>和</m:t>
                    </m:r>
                    <m:r>
                      <a:rPr lang="en-US" altLang="zh-CN" sz="2800" b="0" i="0" smtClean="0">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𝑇</m:t>
                        </m:r>
                      </m:e>
                      <m:sub>
                        <m:r>
                          <a:rPr lang="en-US" altLang="zh-CN" sz="2800" i="1">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800" i="1">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800" i="1">
                            <a:latin typeface="Cambria Math" panose="02040503050406030204" pitchFamily="18" charset="0"/>
                            <a:ea typeface="Cambria Math" panose="02040503050406030204" pitchFamily="18" charset="0"/>
                          </a:rPr>
                        </m:ctrlPr>
                      </m:acc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𝑋</m:t>
                        </m:r>
                      </m:e>
                    </m:acc>
                    <m:r>
                      <a:rPr lang="en-US" altLang="zh-CN" sz="2800" i="1">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2800" i="1">
                            <a:latin typeface="Cambria Math" panose="02040503050406030204" pitchFamily="18" charset="0"/>
                            <a:ea typeface="宋体" panose="02010600030101010101" pitchFamily="2" charset="-122"/>
                            <a:cs typeface="Times New Roman" panose="02020603050405020304" pitchFamily="18" charset="0"/>
                          </a:rPr>
                          <m:t>𝑛</m:t>
                        </m:r>
                      </m:den>
                    </m:f>
                    <m:nary>
                      <m:naryPr>
                        <m:chr m:val="∑"/>
                        <m:limLoc m:val="undOvr"/>
                        <m:ctrlPr>
                          <a:rPr lang="zh-CN" altLang="zh-CN" sz="2800" i="1">
                            <a:latin typeface="Cambria Math" panose="02040503050406030204" pitchFamily="18" charset="0"/>
                            <a:ea typeface="Cambria Math" panose="02040503050406030204" pitchFamily="18" charset="0"/>
                          </a:rPr>
                        </m:ctrlPr>
                      </m:naryPr>
                      <m:sub>
                        <m:r>
                          <a:rPr lang="en-US" altLang="zh-CN" sz="28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28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800" i="1">
                            <a:latin typeface="Cambria Math" panose="02040503050406030204" pitchFamily="18" charset="0"/>
                            <a:ea typeface="宋体" panose="02010600030101010101" pitchFamily="2" charset="-122"/>
                            <a:cs typeface="Times New Roman" panose="02020603050405020304" pitchFamily="18" charset="0"/>
                          </a:rPr>
                          <m:t>𝑛</m:t>
                        </m:r>
                      </m:sup>
                      <m:e>
                        <m:r>
                          <a:rPr lang="en-US" altLang="zh-CN" sz="2800" i="1">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a:latin typeface="Cambria Math" panose="02040503050406030204" pitchFamily="18" charset="0"/>
                                <a:ea typeface="宋体" panose="02010600030101010101" pitchFamily="2" charset="-122"/>
                                <a:cs typeface="Times New Roman" panose="02020603050405020304" pitchFamily="18" charset="0"/>
                              </a:rPr>
                              <m:t>𝑖</m:t>
                            </m:r>
                          </m:sub>
                        </m:sSub>
                      </m:e>
                    </m:nary>
                  </m:oMath>
                </a14:m>
                <a:r>
                  <a:rPr lang="zh-CN" altLang="en-US" sz="2800" dirty="0">
                    <a:latin typeface="宋体" panose="02010600030101010101" pitchFamily="2" charset="-122"/>
                    <a:ea typeface="宋体" panose="02010600030101010101" pitchFamily="2" charset="-122"/>
                  </a:rPr>
                  <a:t> 。求此三个统计量的抽样分布。</a:t>
                </a:r>
              </a:p>
              <a:p>
                <a:pPr>
                  <a:lnSpc>
                    <a:spcPct val="110000"/>
                  </a:lnSpc>
                  <a:spcBef>
                    <a:spcPts val="1200"/>
                  </a:spcBef>
                </a:pPr>
                <a:r>
                  <a:rPr lang="zh-CN" altLang="en-US" sz="2800" b="1" dirty="0">
                    <a:latin typeface="宋体" panose="02010600030101010101" pitchFamily="2" charset="-122"/>
                    <a:ea typeface="宋体" panose="02010600030101010101" pitchFamily="2" charset="-122"/>
                  </a:rPr>
                  <a:t>  解：</a:t>
                </a:r>
                <a:r>
                  <a:rPr lang="zh-CN" altLang="en-US" sz="2800" dirty="0">
                    <a:latin typeface="宋体" panose="02010600030101010101" pitchFamily="2" charset="-122"/>
                    <a:ea typeface="宋体" panose="02010600030101010101" pitchFamily="2" charset="-122"/>
                  </a:rPr>
                  <a:t>由于样本是独立的</a:t>
                </a:r>
                <a:r>
                  <a:rPr lang="en-US" altLang="zh-CN" sz="2800" dirty="0">
                    <a:latin typeface="宋体" panose="02010600030101010101" pitchFamily="2" charset="-122"/>
                    <a:ea typeface="宋体" panose="02010600030101010101" pitchFamily="2" charset="-122"/>
                  </a:rPr>
                  <a:t>,</a:t>
                </a:r>
                <a:r>
                  <a:rPr kumimoji="0" lang="zh-CN" altLang="zh-CN" sz="2800" b="0" i="0" u="none" strike="noStrike" kern="1200" cap="none" spc="0" normalizeH="0" baseline="0" noProof="0" dirty="0">
                    <a:ln>
                      <a:noFill/>
                    </a:ln>
                    <a:solidFill>
                      <a:prstClr val="black"/>
                    </a:solidFill>
                    <a:effectLst/>
                    <a:uLnTx/>
                    <a:uFillTx/>
                    <a:latin typeface="等线" panose="020F0502020204030204"/>
                    <a:ea typeface="Cambria Math" panose="02040503050406030204" pitchFamily="18" charset="0"/>
                    <a:cs typeface="+mn-cs"/>
                  </a:rPr>
                  <a:t> </a:t>
                </a:r>
                <a14:m>
                  <m:oMath xmlns:m="http://schemas.openxmlformats.org/officeDocument/2006/math">
                    <m:sSub>
                      <m:sSubPr>
                        <m:ctrlPr>
                          <a:rPr kumimoji="0" lang="zh-CN" altLang="zh-CN"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𝑋</m:t>
                        </m:r>
                      </m:e>
                      <m:sub>
                        <m:r>
                          <a:rPr kumimoji="0" lang="en-US" altLang="zh-CN" sz="28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𝑖</m:t>
                        </m:r>
                      </m:sub>
                    </m:sSub>
                  </m:oMath>
                </a14:m>
                <a:r>
                  <a:rPr lang="zh-CN" altLang="en-US" sz="2800" dirty="0">
                    <a:latin typeface="宋体" panose="02010600030101010101" pitchFamily="2" charset="-122"/>
                    <a:ea typeface="宋体" panose="02010600030101010101" pitchFamily="2" charset="-122"/>
                  </a:rPr>
                  <a:t>服从均值和方差都为</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的正态分布，三个统计量都是样本的线性函数，由正态分布的性质，三个统计量仍服从正态分布，下面分别求解其均值和方差</a:t>
                </a:r>
                <a:r>
                  <a:rPr lang="en-US" altLang="zh-CN" sz="2800" dirty="0">
                    <a:latin typeface="宋体" panose="02010600030101010101" pitchFamily="2" charset="-122"/>
                    <a:ea typeface="宋体" panose="02010600030101010101" pitchFamily="2" charset="-122"/>
                  </a:rPr>
                  <a:t>.   </a:t>
                </a:r>
                <a14:m>
                  <m:oMath xmlns:m="http://schemas.openxmlformats.org/officeDocument/2006/math">
                    <m:sSub>
                      <m:sSubPr>
                        <m:ctrlPr>
                          <a:rPr lang="zh-CN" altLang="zh-CN" sz="2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0" i="1" kern="100" smtClean="0">
                            <a:effectLst/>
                            <a:latin typeface="Cambria Math" panose="02040503050406030204" pitchFamily="18" charset="0"/>
                            <a:ea typeface="Cambria Math" panose="02040503050406030204" pitchFamily="18" charset="0"/>
                            <a:cs typeface="Times New Roman" panose="02020603050405020304" pitchFamily="18" charset="0"/>
                          </a:rPr>
                          <m:t>      </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𝐸</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𝐸</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b="0" i="0"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0" i="1" kern="100" smtClean="0">
                            <a:effectLst/>
                            <a:latin typeface="Cambria Math" panose="02040503050406030204" pitchFamily="18" charset="0"/>
                            <a:ea typeface="Cambria Math" panose="02040503050406030204" pitchFamily="18" charset="0"/>
                            <a:cs typeface="Times New Roman" panose="02020603050405020304" pitchFamily="18" charset="0"/>
                          </a:rPr>
                          <m:t>  </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𝐷</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𝐷</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oMath>
                </a14:m>
                <a:endParaRPr lang="en-US" altLang="zh-CN" sz="2800" i="1" kern="100" dirty="0">
                  <a:effectLst/>
                  <a:latin typeface="Cambria Math" panose="02040503050406030204" pitchFamily="18" charset="0"/>
                  <a:ea typeface="等线" panose="02010600030101010101" pitchFamily="2" charset="-122"/>
                  <a:cs typeface="Times New Roman" panose="02020603050405020304" pitchFamily="18" charset="0"/>
                </a:endParaRPr>
              </a:p>
              <a:p>
                <a:pPr marL="360363" indent="-360363">
                  <a:lnSpc>
                    <a:spcPct val="110000"/>
                  </a:lnSpc>
                  <a:spcBef>
                    <a:spcPts val="1200"/>
                  </a:spcBef>
                </a:pPr>
                <a:r>
                  <a:rPr lang="en-US" altLang="zh-CN" sz="2800" kern="100" dirty="0">
                    <a:effectLst/>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𝐸</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𝐸</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𝐸</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e>
                    </m:d>
                    <m:r>
                      <a:rPr lang="en-US" altLang="zh-CN" sz="2800"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2800" b="0" i="1" kern="100" smtClean="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𝐷</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𝐷</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Sub>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𝐷</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b>
                        </m:sSub>
                      </m:e>
                    </m:d>
                    <m:r>
                      <a:rPr lang="en-US" altLang="zh-CN" sz="2800" kern="100">
                        <a:effectLst/>
                        <a:latin typeface="Cambria Math" panose="02040503050406030204" pitchFamily="18" charset="0"/>
                        <a:ea typeface="等线" panose="02010600030101010101" pitchFamily="2" charset="-122"/>
                        <a:cs typeface="Times New Roman" panose="02020603050405020304" pitchFamily="18" charset="0"/>
                      </a:rPr>
                      <m:t>=2</m:t>
                    </m:r>
                  </m:oMath>
                </a14:m>
                <a:endParaRPr lang="en-US" altLang="zh-CN" sz="2800" kern="100" dirty="0">
                  <a:effectLst/>
                  <a:latin typeface="Cambria Math" panose="02040503050406030204" pitchFamily="18" charset="0"/>
                  <a:ea typeface="等线" panose="02010600030101010101" pitchFamily="2" charset="-122"/>
                  <a:cs typeface="Times New Roman" panose="02020603050405020304" pitchFamily="18" charset="0"/>
                </a:endParaRPr>
              </a:p>
              <a:p>
                <a:pPr marL="360363" indent="-360363">
                  <a:lnSpc>
                    <a:spcPct val="110000"/>
                  </a:lnSpc>
                  <a:spcBef>
                    <a:spcPts val="1200"/>
                  </a:spcBef>
                </a:pPr>
                <a14:m>
                  <m:oMathPara xmlns:m="http://schemas.openxmlformats.org/officeDocument/2006/math">
                    <m:oMathParaPr>
                      <m:jc m:val="left"/>
                    </m:oMathParaPr>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𝐸</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den>
                      </m:f>
                      <m:nary>
                        <m:naryPr>
                          <m:chr m:val="∑"/>
                          <m:limLoc m:val="undOv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𝐸</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Sub>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e>
                      </m:nary>
                      <m:r>
                        <a:rPr lang="en-US" altLang="zh-CN" sz="2800" b="0" i="0" kern="100" smtClean="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0" i="1" kern="10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sz="2800" i="1" kern="100">
                              <a:latin typeface="Cambria Math" panose="02040503050406030204" pitchFamily="18" charset="0"/>
                              <a:cs typeface="Times New Roman" panose="02020603050405020304" pitchFamily="18" charset="0"/>
                            </a:rPr>
                            <m:t>𝐷</m:t>
                          </m:r>
                          <m:r>
                            <a:rPr lang="en-US" altLang="zh-CN" sz="2800" i="1" kern="100">
                              <a:latin typeface="Cambria Math" panose="02040503050406030204" pitchFamily="18" charset="0"/>
                              <a:cs typeface="Times New Roman" panose="02020603050405020304" pitchFamily="18" charset="0"/>
                            </a:rPr>
                            <m:t>(</m:t>
                          </m:r>
                          <m:r>
                            <a:rPr lang="en-US" altLang="zh-CN" sz="2800" i="1" kern="100">
                              <a:latin typeface="Cambria Math" panose="02040503050406030204" pitchFamily="18" charset="0"/>
                              <a:cs typeface="Times New Roman" panose="02020603050405020304" pitchFamily="18" charset="0"/>
                            </a:rPr>
                            <m:t>𝑇</m:t>
                          </m:r>
                        </m:e>
                        <m:sub>
                          <m:r>
                            <a:rPr lang="en-US" altLang="zh-CN" sz="2800" i="1" kern="100">
                              <a:latin typeface="Cambria Math" panose="02040503050406030204" pitchFamily="18" charset="0"/>
                              <a:cs typeface="Times New Roman" panose="02020603050405020304" pitchFamily="18" charset="0"/>
                            </a:rPr>
                            <m:t>3</m:t>
                          </m:r>
                        </m:sub>
                      </m:s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sSup>
                            <m:sSup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e>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2</m:t>
                              </m:r>
                            </m:sup>
                          </m:sSup>
                        </m:den>
                      </m:f>
                      <m:nary>
                        <m:naryPr>
                          <m:chr m:val="∑"/>
                          <m:limLoc m:val="undOv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sup>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 </m:t>
                          </m:r>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𝐷</m:t>
                          </m:r>
                          <m:d>
                            <m:d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𝑖</m:t>
                                  </m:r>
                                </m:sub>
                              </m:sSub>
                            </m:e>
                          </m:d>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等线" panose="02010600030101010101" pitchFamily="2" charset="-122"/>
                                  <a:cs typeface="Times New Roman" panose="02020603050405020304" pitchFamily="18" charset="0"/>
                                </a:rPr>
                                <m:t>𝑛</m:t>
                              </m:r>
                            </m:den>
                          </m:f>
                        </m:e>
                      </m:nary>
                    </m:oMath>
                  </m:oMathPara>
                </a14:m>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45" name="文本框 44">
                <a:extLst>
                  <a:ext uri="{FF2B5EF4-FFF2-40B4-BE49-F238E27FC236}">
                    <a16:creationId xmlns:a16="http://schemas.microsoft.com/office/drawing/2014/main" id="{881BE79F-BC7F-A253-408B-B95170A41C11}"/>
                  </a:ext>
                </a:extLst>
              </p:cNvPr>
              <p:cNvSpPr txBox="1">
                <a:spLocks noRot="1" noChangeAspect="1" noMove="1" noResize="1" noEditPoints="1" noAdjustHandles="1" noChangeArrowheads="1" noChangeShapeType="1" noTextEdit="1"/>
              </p:cNvSpPr>
              <p:nvPr/>
            </p:nvSpPr>
            <p:spPr>
              <a:xfrm>
                <a:off x="554008" y="697989"/>
                <a:ext cx="9528455" cy="5683479"/>
              </a:xfrm>
              <a:prstGeom prst="rect">
                <a:avLst/>
              </a:prstGeom>
              <a:blipFill>
                <a:blip r:embed="rId2"/>
                <a:stretch>
                  <a:fillRect l="-1344" t="-1286" r="-39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5832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副标题 6"/>
              <p:cNvSpPr>
                <a:spLocks noGrp="1"/>
              </p:cNvSpPr>
              <p:nvPr>
                <p:ph type="subTitle" idx="1"/>
              </p:nvPr>
            </p:nvSpPr>
            <p:spPr>
              <a:xfrm>
                <a:off x="3236496" y="2574790"/>
                <a:ext cx="5101623" cy="2839419"/>
              </a:xfrm>
            </p:spPr>
            <p:txBody>
              <a:bodyPr>
                <a:noAutofit/>
              </a:bodyPr>
              <a:lstStyle/>
              <a:p>
                <a:pPr algn="l"/>
                <a:r>
                  <a:rPr lang="zh-CN" altLang="en-US" sz="4000" dirty="0">
                    <a:solidFill>
                      <a:srgbClr val="00B0F0"/>
                    </a:solidFill>
                  </a:rPr>
                  <a:t>6.3.1  </a:t>
                </a:r>
                <a14:m>
                  <m:oMath xmlns:m="http://schemas.openxmlformats.org/officeDocument/2006/math">
                    <m:sSup>
                      <m:sSupPr>
                        <m:ctrlPr>
                          <a:rPr lang="en-US" altLang="zh-CN" sz="4000" i="1" smtClean="0">
                            <a:solidFill>
                              <a:srgbClr val="00B0F0"/>
                            </a:solidFill>
                            <a:latin typeface="Cambria Math" panose="02040503050406030204" pitchFamily="18" charset="0"/>
                          </a:rPr>
                        </m:ctrlPr>
                      </m:sSupPr>
                      <m:e>
                        <m:r>
                          <a:rPr lang="zh-CN" altLang="en-US" sz="4000" i="1" smtClean="0">
                            <a:solidFill>
                              <a:srgbClr val="00B0F0"/>
                            </a:solidFill>
                            <a:latin typeface="Cambria Math" panose="02040503050406030204" pitchFamily="18" charset="0"/>
                          </a:rPr>
                          <m:t>𝜒</m:t>
                        </m:r>
                      </m:e>
                      <m:sup>
                        <m:r>
                          <a:rPr lang="en-US" altLang="zh-CN" sz="4000" b="0" i="1" smtClean="0">
                            <a:solidFill>
                              <a:srgbClr val="00B0F0"/>
                            </a:solidFill>
                            <a:latin typeface="Cambria Math" panose="02040503050406030204" pitchFamily="18" charset="0"/>
                          </a:rPr>
                          <m:t>2</m:t>
                        </m:r>
                      </m:sup>
                    </m:sSup>
                  </m:oMath>
                </a14:m>
                <a:r>
                  <a:rPr lang="zh-CN" altLang="en-US" sz="4000" dirty="0">
                    <a:solidFill>
                      <a:srgbClr val="00B0F0"/>
                    </a:solidFill>
                  </a:rPr>
                  <a:t>分布</a:t>
                </a:r>
              </a:p>
              <a:p>
                <a:pPr algn="l"/>
                <a:r>
                  <a:rPr lang="zh-CN" altLang="en-US" sz="4000" dirty="0">
                    <a:solidFill>
                      <a:srgbClr val="00B0F0"/>
                    </a:solidFill>
                  </a:rPr>
                  <a:t>6.3.2  t分布</a:t>
                </a:r>
              </a:p>
              <a:p>
                <a:pPr algn="l"/>
                <a:r>
                  <a:rPr lang="zh-CN" altLang="en-US" sz="4000" dirty="0">
                    <a:solidFill>
                      <a:srgbClr val="00B0F0"/>
                    </a:solidFill>
                  </a:rPr>
                  <a:t>6.3.3  F分布</a:t>
                </a:r>
              </a:p>
              <a:p>
                <a:pPr algn="l"/>
                <a:r>
                  <a:rPr lang="en-US" altLang="zh-CN" sz="4000" dirty="0">
                    <a:solidFill>
                      <a:srgbClr val="00B0F0"/>
                    </a:solidFill>
                  </a:rPr>
                  <a:t>6.3.4  </a:t>
                </a:r>
                <a:r>
                  <a:rPr lang="zh-CN" altLang="en-US" sz="4000" dirty="0">
                    <a:solidFill>
                      <a:srgbClr val="00B0F0"/>
                    </a:solidFill>
                  </a:rPr>
                  <a:t>抽样分布定理</a:t>
                </a:r>
              </a:p>
            </p:txBody>
          </p:sp>
        </mc:Choice>
        <mc:Fallback xmlns="">
          <p:sp>
            <p:nvSpPr>
              <p:cNvPr id="7" name="副标题 6"/>
              <p:cNvSpPr>
                <a:spLocks noGrp="1" noRot="1" noChangeAspect="1" noMove="1" noResize="1" noEditPoints="1" noAdjustHandles="1" noChangeArrowheads="1" noChangeShapeType="1" noTextEdit="1"/>
              </p:cNvSpPr>
              <p:nvPr>
                <p:ph type="subTitle" idx="1"/>
              </p:nvPr>
            </p:nvSpPr>
            <p:spPr>
              <a:xfrm>
                <a:off x="3236496" y="2574790"/>
                <a:ext cx="5101623" cy="2839419"/>
              </a:xfrm>
              <a:blipFill>
                <a:blip r:embed="rId3"/>
                <a:stretch>
                  <a:fillRect l="-4301" t="-3863" b="-11803"/>
                </a:stretch>
              </a:blipFill>
            </p:spPr>
            <p:txBody>
              <a:bodyPr/>
              <a:lstStyle/>
              <a:p>
                <a:r>
                  <a:rPr lang="zh-CN" altLang="en-US">
                    <a:noFill/>
                  </a:rPr>
                  <a:t> </a:t>
                </a:r>
              </a:p>
            </p:txBody>
          </p:sp>
        </mc:Fallback>
      </mc:AlternateContent>
      <p:sp>
        <p:nvSpPr>
          <p:cNvPr id="6" name="标题 5"/>
          <p:cNvSpPr>
            <a:spLocks noGrp="1"/>
          </p:cNvSpPr>
          <p:nvPr>
            <p:ph type="ctrTitle"/>
          </p:nvPr>
        </p:nvSpPr>
        <p:spPr>
          <a:xfrm>
            <a:off x="72390" y="1008698"/>
            <a:ext cx="12192000" cy="1746567"/>
          </a:xfrm>
        </p:spPr>
        <p:txBody>
          <a:bodyPr/>
          <a:lstStyle/>
          <a:p>
            <a:r>
              <a:rPr lang="zh-CN" altLang="en-US" dirty="0"/>
              <a:t>6.3 重要的抽样分布及抽样分布定理 </a:t>
            </a:r>
          </a:p>
        </p:txBody>
      </p:sp>
      <p:pic>
        <p:nvPicPr>
          <p:cNvPr id="2" name="图片 -2147482585"/>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6023610" y="3329940"/>
            <a:ext cx="144780" cy="19812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64596" y="715880"/>
                <a:ext cx="9595384" cy="5817268"/>
              </a:xfrm>
            </p:spPr>
            <p:txBody>
              <a:bodyPr>
                <a:noAutofit/>
              </a:bodyPr>
              <a:lstStyle/>
              <a:p>
                <a:pPr marL="0" indent="720000">
                  <a:lnSpc>
                    <a:spcPct val="150000"/>
                  </a:lnSpc>
                  <a:spcBef>
                    <a:spcPts val="1200"/>
                  </a:spcBef>
                  <a:spcAft>
                    <a:spcPts val="0"/>
                  </a:spcAft>
                  <a:buNone/>
                </a:pPr>
                <a14:m>
                  <m:oMath xmlns:m="http://schemas.openxmlformats.org/officeDocument/2006/math">
                    <m:sSup>
                      <m:sSupPr>
                        <m:ctrlPr>
                          <a:rPr lang="en-US" altLang="zh-CN" b="1" i="1" smtClean="0">
                            <a:solidFill>
                              <a:srgbClr val="00B0F0"/>
                            </a:solidFill>
                            <a:latin typeface="Cambria Math" panose="02040503050406030204" pitchFamily="18" charset="0"/>
                          </a:rPr>
                        </m:ctrlPr>
                      </m:sSupPr>
                      <m:e>
                        <m:r>
                          <a:rPr lang="en-US" altLang="zh-CN" b="1" i="1" smtClean="0">
                            <a:solidFill>
                              <a:srgbClr val="00B0F0"/>
                            </a:solidFill>
                            <a:latin typeface="Cambria Math" panose="02040503050406030204" pitchFamily="18" charset="0"/>
                          </a:rPr>
                          <m:t>𝟏</m:t>
                        </m:r>
                        <m:r>
                          <a:rPr lang="en-US" altLang="zh-CN" b="1" i="1" smtClean="0">
                            <a:solidFill>
                              <a:srgbClr val="00B0F0"/>
                            </a:solidFill>
                            <a:latin typeface="Cambria Math" panose="02040503050406030204" pitchFamily="18" charset="0"/>
                          </a:rPr>
                          <m:t>. </m:t>
                        </m:r>
                        <m:r>
                          <a:rPr lang="zh-CN" altLang="en-US" b="1" i="1" smtClean="0">
                            <a:solidFill>
                              <a:srgbClr val="00B0F0"/>
                            </a:solidFill>
                            <a:latin typeface="Cambria Math" panose="02040503050406030204" pitchFamily="18" charset="0"/>
                          </a:rPr>
                          <m:t>𝝌</m:t>
                        </m:r>
                      </m:e>
                      <m:sup>
                        <m:r>
                          <a:rPr lang="en-US" altLang="zh-CN" b="1" i="1" smtClean="0">
                            <a:solidFill>
                              <a:srgbClr val="00B0F0"/>
                            </a:solidFill>
                            <a:latin typeface="Cambria Math" panose="02040503050406030204" pitchFamily="18" charset="0"/>
                          </a:rPr>
                          <m:t>𝟐</m:t>
                        </m:r>
                      </m:sup>
                    </m:sSup>
                  </m:oMath>
                </a14:m>
                <a:r>
                  <a:rPr lang="zh-CN" altLang="en-US" b="1" dirty="0">
                    <a:solidFill>
                      <a:srgbClr val="00B0F0"/>
                    </a:solidFill>
                  </a:rPr>
                  <a:t>分布的定义及其密度函数</a:t>
                </a:r>
              </a:p>
              <a:p>
                <a:pPr marL="0" indent="720000" algn="just">
                  <a:lnSpc>
                    <a:spcPct val="150000"/>
                  </a:lnSpc>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定义6-1 若随机变量</a:t>
                </a:r>
                <a14:m>
                  <m:oMath xmlns:m="http://schemas.openxmlformats.org/officeDocument/2006/math">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𝑛</m:t>
                        </m:r>
                      </m:sub>
                    </m:sSub>
                    <m:sSup>
                      <m:sSupPr>
                        <m:ctrlPr>
                          <a:rPr lang="en-US" altLang="zh-CN" sz="2800" b="0" i="1" smtClean="0">
                            <a:solidFill>
                              <a:schemeClr val="tx1"/>
                            </a:solidFill>
                            <a:latin typeface="Cambria Math" panose="02040503050406030204" pitchFamily="18" charset="0"/>
                          </a:rPr>
                        </m:ctrlPr>
                      </m:sSupPr>
                      <m:e>
                        <m:r>
                          <a:rPr lang="en-US" altLang="zh-CN" sz="2800" b="0" i="1" smtClean="0">
                            <a:solidFill>
                              <a:schemeClr val="tx1"/>
                            </a:solidFill>
                            <a:latin typeface="Cambria Math" charset="0"/>
                          </a:rPr>
                          <m:t>~</m:t>
                        </m:r>
                      </m:e>
                      <m:sup>
                        <m:r>
                          <a:rPr lang="en-US" altLang="zh-CN" sz="2800" b="0" i="1" smtClean="0">
                            <a:solidFill>
                              <a:schemeClr val="tx1"/>
                            </a:solidFill>
                            <a:latin typeface="Cambria Math" charset="0"/>
                          </a:rPr>
                          <m:t>𝑖𝑖𝑑</m:t>
                        </m:r>
                      </m:sup>
                    </m:sSup>
                    <m:r>
                      <a:rPr lang="en-US" altLang="zh-CN" sz="2800" b="0" i="1" dirty="0" smtClean="0">
                        <a:solidFill>
                          <a:schemeClr val="tx1"/>
                        </a:solidFill>
                        <a:latin typeface="Cambria Math" panose="02040503050406030204" pitchFamily="18" charset="0"/>
                      </a:rPr>
                      <m:t>𝑁</m:t>
                    </m:r>
                    <m:r>
                      <a:rPr lang="en-US" altLang="zh-CN" sz="2800" b="0" i="1" dirty="0" smtClean="0">
                        <a:solidFill>
                          <a:schemeClr val="tx1"/>
                        </a:solidFill>
                        <a:latin typeface="Cambria Math" panose="02040503050406030204" pitchFamily="18" charset="0"/>
                      </a:rPr>
                      <m:t>(0,1)</m:t>
                    </m:r>
                  </m:oMath>
                </a14:m>
                <a:r>
                  <a:rPr lang="en-US" altLang="zh-CN" sz="2800" dirty="0">
                    <a:solidFill>
                      <a:schemeClr val="tx1"/>
                    </a:solidFill>
                    <a:latin typeface="宋体" panose="02010600030101010101" pitchFamily="2" charset="-122"/>
                    <a:ea typeface="宋体" panose="02010600030101010101" pitchFamily="2" charset="-122"/>
                  </a:rPr>
                  <a:t>,</a:t>
                </a:r>
                <a:r>
                  <a:rPr lang="zh-CN" altLang="en-US" sz="2800" dirty="0">
                    <a:solidFill>
                      <a:schemeClr val="tx1"/>
                    </a:solidFill>
                    <a:latin typeface="宋体" panose="02010600030101010101" pitchFamily="2" charset="-122"/>
                    <a:ea typeface="宋体" panose="02010600030101010101" pitchFamily="2" charset="-122"/>
                  </a:rPr>
                  <a:t>独立且同标准正态分布，则它们的平方和 </a:t>
                </a:r>
                <a14:m>
                  <m:oMath xmlns:m="http://schemas.openxmlformats.org/officeDocument/2006/math">
                    <m:sSup>
                      <m:sSupPr>
                        <m:ctrlPr>
                          <a:rPr lang="en-US" altLang="zh-CN" sz="2800" b="1" i="1">
                            <a:solidFill>
                              <a:schemeClr val="tx1"/>
                            </a:solidFill>
                            <a:latin typeface="Cambria Math" panose="02040503050406030204" pitchFamily="18" charset="0"/>
                          </a:rPr>
                        </m:ctrlPr>
                      </m:sSupPr>
                      <m:e>
                        <m:r>
                          <a:rPr lang="zh-CN" altLang="en-US" sz="2800" b="1" i="1">
                            <a:solidFill>
                              <a:schemeClr val="tx1"/>
                            </a:solidFill>
                            <a:latin typeface="Cambria Math" panose="02040503050406030204" pitchFamily="18" charset="0"/>
                          </a:rPr>
                          <m:t>𝝌</m:t>
                        </m:r>
                      </m:e>
                      <m:sup>
                        <m:r>
                          <a:rPr lang="en-US" altLang="zh-CN" sz="2800" b="1" i="1">
                            <a:solidFill>
                              <a:schemeClr val="tx1"/>
                            </a:solidFill>
                            <a:latin typeface="Cambria Math" panose="02040503050406030204" pitchFamily="18" charset="0"/>
                          </a:rPr>
                          <m:t>𝟐</m:t>
                        </m:r>
                      </m:sup>
                    </m:sSup>
                    <m:r>
                      <a:rPr lang="en-US" altLang="zh-CN" sz="2800" b="1" i="1">
                        <a:solidFill>
                          <a:schemeClr val="tx1"/>
                        </a:solidFill>
                        <a:latin typeface="Cambria Math" panose="02040503050406030204" pitchFamily="18" charset="0"/>
                      </a:rPr>
                      <m:t>=</m:t>
                    </m:r>
                    <m:nary>
                      <m:naryPr>
                        <m:chr m:val="∑"/>
                        <m:ctrlPr>
                          <a:rPr lang="en-US" altLang="zh-CN" sz="2800" b="1" i="1">
                            <a:solidFill>
                              <a:schemeClr val="tx1"/>
                            </a:solidFill>
                            <a:latin typeface="Cambria Math" panose="02040503050406030204" pitchFamily="18" charset="0"/>
                          </a:rPr>
                        </m:ctrlPr>
                      </m:naryPr>
                      <m:sub>
                        <m:r>
                          <m:rPr>
                            <m:brk m:alnAt="23"/>
                          </m:rPr>
                          <a:rPr lang="en-US" altLang="zh-CN" sz="2800" b="1" i="1">
                            <a:solidFill>
                              <a:schemeClr val="tx1"/>
                            </a:solidFill>
                            <a:latin typeface="Cambria Math" panose="02040503050406030204" pitchFamily="18" charset="0"/>
                          </a:rPr>
                          <m:t>𝒊</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𝟏</m:t>
                        </m:r>
                      </m:sub>
                      <m:sup>
                        <m:r>
                          <a:rPr lang="en-US" altLang="zh-CN" sz="2800" b="1" i="1">
                            <a:solidFill>
                              <a:schemeClr val="tx1"/>
                            </a:solidFill>
                            <a:latin typeface="Cambria Math" panose="02040503050406030204" pitchFamily="18" charset="0"/>
                          </a:rPr>
                          <m:t>𝟐</m:t>
                        </m:r>
                      </m:sup>
                      <m:e>
                        <m:sSubSup>
                          <m:sSubSupPr>
                            <m:ctrlPr>
                              <a:rPr lang="en-US" altLang="zh-CN" sz="2800" b="1" i="1">
                                <a:solidFill>
                                  <a:schemeClr val="tx1"/>
                                </a:solidFill>
                                <a:latin typeface="Cambria Math" panose="02040503050406030204" pitchFamily="18" charset="0"/>
                              </a:rPr>
                            </m:ctrlPr>
                          </m:sSubSupPr>
                          <m:e>
                            <m:r>
                              <a:rPr lang="en-US" altLang="zh-CN" sz="2800" b="1" i="1">
                                <a:solidFill>
                                  <a:schemeClr val="tx1"/>
                                </a:solidFill>
                                <a:latin typeface="Cambria Math" panose="02040503050406030204" pitchFamily="18" charset="0"/>
                              </a:rPr>
                              <m:t>𝒙</m:t>
                            </m:r>
                          </m:e>
                          <m:sub>
                            <m:r>
                              <a:rPr lang="en-US" altLang="zh-CN" sz="2800" b="1" i="1">
                                <a:solidFill>
                                  <a:schemeClr val="tx1"/>
                                </a:solidFill>
                                <a:latin typeface="Cambria Math" panose="02040503050406030204" pitchFamily="18" charset="0"/>
                              </a:rPr>
                              <m:t>𝒊</m:t>
                            </m:r>
                          </m:sub>
                          <m:sup>
                            <m:r>
                              <a:rPr lang="en-US" altLang="zh-CN" sz="2800" b="1" i="1">
                                <a:solidFill>
                                  <a:schemeClr val="tx1"/>
                                </a:solidFill>
                                <a:latin typeface="Cambria Math" panose="02040503050406030204" pitchFamily="18" charset="0"/>
                              </a:rPr>
                              <m:t>𝟐</m:t>
                            </m:r>
                          </m:sup>
                        </m:sSubSup>
                      </m:e>
                    </m:nary>
                  </m:oMath>
                </a14:m>
                <a:r>
                  <a:rPr lang="zh-CN" altLang="en-US" sz="2800" dirty="0">
                    <a:solidFill>
                      <a:schemeClr val="tx1"/>
                    </a:solidFill>
                    <a:latin typeface="宋体" panose="02010600030101010101" pitchFamily="2" charset="-122"/>
                    <a:ea typeface="宋体" panose="02010600030101010101" pitchFamily="2" charset="-122"/>
                  </a:rPr>
                  <a:t> 服从自由度为</a:t>
                </a:r>
                <a:r>
                  <a:rPr lang="en-US" altLang="zh-CN"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800" dirty="0">
                    <a:solidFill>
                      <a:schemeClr val="tx1"/>
                    </a:solidFill>
                    <a:latin typeface="宋体" panose="02010600030101010101" pitchFamily="2" charset="-122"/>
                    <a:ea typeface="宋体" panose="02010600030101010101" pitchFamily="2" charset="-122"/>
                  </a:rPr>
                  <a:t>的</a:t>
                </a:r>
                <a14:m>
                  <m:oMath xmlns:m="http://schemas.openxmlformats.org/officeDocument/2006/math">
                    <m:sSup>
                      <m:sSupPr>
                        <m:ctrlPr>
                          <a:rPr lang="en-US" altLang="zh-CN" sz="2800" i="1" smtClean="0">
                            <a:solidFill>
                              <a:schemeClr val="tx1"/>
                            </a:solidFill>
                            <a:latin typeface="Cambria Math" panose="02040503050406030204" pitchFamily="18" charset="0"/>
                          </a:rPr>
                        </m:ctrlPr>
                      </m:sSupPr>
                      <m:e>
                        <m:r>
                          <a:rPr lang="zh-CN" altLang="en-US" sz="2800">
                            <a:solidFill>
                              <a:schemeClr val="tx1"/>
                            </a:solidFill>
                            <a:latin typeface="Cambria Math" panose="02040503050406030204" pitchFamily="18" charset="0"/>
                          </a:rPr>
                          <m:t>𝜒</m:t>
                        </m:r>
                      </m:e>
                      <m:sup>
                        <m:r>
                          <a:rPr lang="en-US" altLang="zh-CN" sz="2800">
                            <a:solidFill>
                              <a:schemeClr val="tx1"/>
                            </a:solidFill>
                            <a:latin typeface="Cambria Math" panose="02040503050406030204" pitchFamily="18" charset="0"/>
                          </a:rPr>
                          <m:t>2</m:t>
                        </m:r>
                      </m:sup>
                    </m:sSup>
                  </m:oMath>
                </a14:m>
                <a:r>
                  <a:rPr lang="zh-CN" altLang="en-US" sz="2800" dirty="0">
                    <a:solidFill>
                      <a:schemeClr val="tx1"/>
                    </a:solidFill>
                    <a:latin typeface="宋体" panose="02010600030101010101" pitchFamily="2" charset="-122"/>
                    <a:ea typeface="宋体" panose="02010600030101010101" pitchFamily="2" charset="-122"/>
                  </a:rPr>
                  <a:t>分布，记为  </a:t>
                </a:r>
                <a14:m>
                  <m:oMath xmlns:m="http://schemas.openxmlformats.org/officeDocument/2006/math">
                    <m:nary>
                      <m:naryPr>
                        <m:chr m:val="∑"/>
                        <m:ctrlPr>
                          <a:rPr lang="en-US" altLang="zh-CN" sz="2800" i="1">
                            <a:solidFill>
                              <a:schemeClr val="tx1"/>
                            </a:solidFill>
                            <a:latin typeface="Cambria Math" panose="02040503050406030204" pitchFamily="18" charset="0"/>
                          </a:rPr>
                        </m:ctrlPr>
                      </m:naryPr>
                      <m:sub>
                        <m:r>
                          <m:rPr>
                            <m:brk m:alnAt="23"/>
                          </m:rPr>
                          <a:rPr lang="en-US" altLang="zh-CN" sz="2800" i="1">
                            <a:solidFill>
                              <a:schemeClr val="tx1"/>
                            </a:solidFill>
                            <a:latin typeface="Cambria Math" panose="02040503050406030204" pitchFamily="18" charset="0"/>
                          </a:rPr>
                          <m:t>𝑖</m:t>
                        </m:r>
                        <m:r>
                          <a:rPr lang="en-US" altLang="zh-CN" sz="2800" i="1">
                            <a:solidFill>
                              <a:schemeClr val="tx1"/>
                            </a:solidFill>
                            <a:latin typeface="Cambria Math" panose="02040503050406030204" pitchFamily="18" charset="0"/>
                          </a:rPr>
                          <m:t>=1</m:t>
                        </m:r>
                      </m:sub>
                      <m:sup>
                        <m:r>
                          <a:rPr lang="en-US" altLang="zh-CN" sz="2800" i="1">
                            <a:solidFill>
                              <a:schemeClr val="tx1"/>
                            </a:solidFill>
                            <a:latin typeface="Cambria Math" panose="02040503050406030204" pitchFamily="18" charset="0"/>
                          </a:rPr>
                          <m:t>2</m:t>
                        </m:r>
                      </m:sup>
                      <m:e>
                        <m:sSubSup>
                          <m:sSubSupPr>
                            <m:ctrlPr>
                              <a:rPr lang="en-US" altLang="zh-CN" sz="2800" i="1">
                                <a:solidFill>
                                  <a:schemeClr val="tx1"/>
                                </a:solidFill>
                                <a:latin typeface="Cambria Math" panose="02040503050406030204" pitchFamily="18" charset="0"/>
                              </a:rPr>
                            </m:ctrlPr>
                          </m:sSubSupPr>
                          <m:e>
                            <m:r>
                              <a:rPr lang="en-US" altLang="zh-CN" sz="2800" i="1">
                                <a:solidFill>
                                  <a:schemeClr val="tx1"/>
                                </a:solidFill>
                                <a:latin typeface="Cambria Math" panose="02040503050406030204" pitchFamily="18" charset="0"/>
                              </a:rPr>
                              <m:t>𝑥</m:t>
                            </m:r>
                          </m:e>
                          <m:sub>
                            <m:r>
                              <a:rPr lang="en-US" altLang="zh-CN" sz="2800" i="1">
                                <a:solidFill>
                                  <a:schemeClr val="tx1"/>
                                </a:solidFill>
                                <a:latin typeface="Cambria Math" panose="02040503050406030204" pitchFamily="18" charset="0"/>
                              </a:rPr>
                              <m:t>𝑖</m:t>
                            </m:r>
                          </m:sub>
                          <m:sup>
                            <m:r>
                              <a:rPr lang="en-US" altLang="zh-CN" sz="2800" i="1">
                                <a:solidFill>
                                  <a:schemeClr val="tx1"/>
                                </a:solidFill>
                                <a:latin typeface="Cambria Math" panose="02040503050406030204" pitchFamily="18" charset="0"/>
                              </a:rPr>
                              <m:t>2</m:t>
                            </m:r>
                          </m:sup>
                        </m:sSubSup>
                      </m:e>
                    </m:nary>
                    <m:r>
                      <a:rPr lang="en-US" altLang="zh-CN" sz="2800" i="1">
                        <a:solidFill>
                          <a:schemeClr val="tx1"/>
                        </a:solidFill>
                        <a:latin typeface="Cambria Math" panose="02040503050406030204" pitchFamily="18" charset="0"/>
                      </a:rPr>
                      <m:t>~</m:t>
                    </m:r>
                  </m:oMath>
                </a14:m>
                <a:r>
                  <a:rPr lang="en-US" altLang="zh-CN" sz="2800" i="1" dirty="0">
                    <a:solidFill>
                      <a:schemeClr val="tx1"/>
                    </a:solidFill>
                    <a:latin typeface="宋体" panose="02010600030101010101" pitchFamily="2" charset="-122"/>
                    <a:ea typeface="宋体" panose="02010600030101010101" pitchFamily="2" charset="-122"/>
                  </a:rPr>
                  <a:t> </a:t>
                </a:r>
                <a14:m>
                  <m:oMath xmlns:m="http://schemas.openxmlformats.org/officeDocument/2006/math">
                    <m:sSup>
                      <m:sSupPr>
                        <m:ctrlPr>
                          <a:rPr lang="en-US" altLang="zh-CN"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𝜒</m:t>
                        </m:r>
                      </m:e>
                      <m:sup>
                        <m:r>
                          <a:rPr lang="en-US" altLang="zh-CN" sz="2800" i="1">
                            <a:solidFill>
                              <a:schemeClr val="tx1"/>
                            </a:solidFill>
                            <a:latin typeface="Cambria Math" panose="02040503050406030204" pitchFamily="18" charset="0"/>
                          </a:rPr>
                          <m:t>2</m:t>
                        </m:r>
                      </m:sup>
                    </m:sSup>
                    <m:r>
                      <a:rPr lang="en-US" altLang="zh-CN" sz="2800" b="0" i="1" smtClean="0">
                        <a:solidFill>
                          <a:schemeClr val="tx1"/>
                        </a:solidFill>
                        <a:latin typeface="Cambria Math" charset="0"/>
                      </a:rPr>
                      <m:t>(</m:t>
                    </m:r>
                    <m:r>
                      <a:rPr lang="en-US" altLang="zh-CN" sz="2800" i="1">
                        <a:solidFill>
                          <a:schemeClr val="tx1"/>
                        </a:solidFill>
                        <a:latin typeface="Cambria Math" panose="02040503050406030204" pitchFamily="18" charset="0"/>
                      </a:rPr>
                      <m:t>𝑛</m:t>
                    </m:r>
                    <m:r>
                      <a:rPr lang="en-US" altLang="zh-CN" sz="2800" b="0" i="1" smtClean="0">
                        <a:solidFill>
                          <a:schemeClr val="tx1"/>
                        </a:solidFill>
                        <a:latin typeface="Cambria Math" charset="0"/>
                      </a:rPr>
                      <m:t>)</m:t>
                    </m:r>
                  </m:oMath>
                </a14:m>
                <a:endParaRPr lang="zh-CN" altLang="en-US" sz="2800" i="1" dirty="0">
                  <a:solidFill>
                    <a:schemeClr val="tx1"/>
                  </a:solidFill>
                  <a:latin typeface="宋体" panose="02010600030101010101" pitchFamily="2" charset="-122"/>
                  <a:ea typeface="宋体" panose="02010600030101010101" pitchFamily="2" charset="-122"/>
                </a:endParaRPr>
              </a:p>
              <a:p>
                <a:pPr marL="0" indent="720000">
                  <a:lnSpc>
                    <a:spcPct val="150000"/>
                  </a:lnSpc>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如果随机变量服从自由度为的分布，其概率密度为：</a:t>
                </a:r>
                <a:endParaRPr lang="en-US" altLang="zh-CN" sz="2800" dirty="0">
                  <a:solidFill>
                    <a:schemeClr val="tx1"/>
                  </a:solidFill>
                  <a:latin typeface="宋体" panose="02010600030101010101" pitchFamily="2" charset="-122"/>
                  <a:ea typeface="宋体" panose="02010600030101010101" pitchFamily="2" charset="-122"/>
                </a:endParaRPr>
              </a:p>
              <a:p>
                <a:pPr marL="0" indent="720000" algn="just">
                  <a:spcBef>
                    <a:spcPts val="1200"/>
                  </a:spcBef>
                  <a:spcAft>
                    <a:spcPts val="0"/>
                  </a:spcAft>
                  <a:buNone/>
                </a:pPr>
                <a14:m>
                  <m:oMathPara xmlns:m="http://schemas.openxmlformats.org/officeDocument/2006/math">
                    <m:oMathParaPr>
                      <m:jc m:val="centerGroup"/>
                    </m:oMathParaPr>
                    <m:oMath xmlns:m="http://schemas.openxmlformats.org/officeDocument/2006/math">
                      <m:r>
                        <a:rPr lang="en-US" altLang="zh-CN" sz="2800">
                          <a:solidFill>
                            <a:schemeClr val="tx1"/>
                          </a:solidFill>
                          <a:latin typeface="Cambria Math" panose="02040503050406030204" pitchFamily="18" charset="0"/>
                        </a:rPr>
                        <m:t>𝑓</m:t>
                      </m:r>
                      <m:d>
                        <m:dPr>
                          <m:ctrlPr>
                            <a:rPr lang="zh-CN" altLang="zh-CN" sz="2800" i="1">
                              <a:solidFill>
                                <a:schemeClr val="tx1"/>
                              </a:solidFill>
                              <a:latin typeface="Cambria Math" panose="02040503050406030204" pitchFamily="18" charset="0"/>
                            </a:rPr>
                          </m:ctrlPr>
                        </m:dPr>
                        <m:e>
                          <m:r>
                            <a:rPr lang="en-US" altLang="zh-CN" sz="2800">
                              <a:solidFill>
                                <a:schemeClr val="tx1"/>
                              </a:solidFill>
                              <a:latin typeface="Cambria Math" panose="02040503050406030204" pitchFamily="18" charset="0"/>
                            </a:rPr>
                            <m:t>𝑥</m:t>
                          </m:r>
                        </m:e>
                      </m:d>
                      <m:r>
                        <a:rPr lang="en-US" altLang="zh-CN" sz="2800">
                          <a:solidFill>
                            <a:schemeClr val="tx1"/>
                          </a:solidFill>
                          <a:latin typeface="Cambria Math" panose="02040503050406030204" pitchFamily="18" charset="0"/>
                        </a:rPr>
                        <m:t>=</m:t>
                      </m:r>
                      <m:d>
                        <m:dPr>
                          <m:begChr m:val="{"/>
                          <m:endChr m:val=""/>
                          <m:ctrlPr>
                            <a:rPr lang="zh-CN" altLang="zh-CN" sz="2800" i="1">
                              <a:solidFill>
                                <a:schemeClr val="tx1"/>
                              </a:solidFill>
                              <a:latin typeface="Cambria Math" panose="02040503050406030204" pitchFamily="18" charset="0"/>
                            </a:rPr>
                          </m:ctrlPr>
                        </m:dPr>
                        <m:e>
                          <m:eqArr>
                            <m:eqArrPr>
                              <m:ctrlPr>
                                <a:rPr lang="zh-CN" altLang="zh-CN" sz="2800" i="1">
                                  <a:solidFill>
                                    <a:schemeClr val="tx1"/>
                                  </a:solidFill>
                                  <a:latin typeface="Cambria Math" panose="02040503050406030204" pitchFamily="18" charset="0"/>
                                </a:rPr>
                              </m:ctrlPr>
                            </m:eqArrPr>
                            <m:e>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1</m:t>
                                  </m:r>
                                </m:num>
                                <m:den>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2</m:t>
                                      </m:r>
                                    </m:e>
                                    <m:sup>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𝑛</m:t>
                                          </m:r>
                                        </m:num>
                                        <m:den>
                                          <m:r>
                                            <a:rPr lang="en-US" altLang="zh-CN" sz="2800">
                                              <a:solidFill>
                                                <a:schemeClr val="tx1"/>
                                              </a:solidFill>
                                              <a:latin typeface="Cambria Math" panose="02040503050406030204" pitchFamily="18" charset="0"/>
                                            </a:rPr>
                                            <m:t>2</m:t>
                                          </m:r>
                                        </m:den>
                                      </m:f>
                                    </m:sup>
                                  </m:sSup>
                                  <m:r>
                                    <m:rPr>
                                      <m:sty m:val="p"/>
                                    </m:rPr>
                                    <a:rPr lang="en-US" altLang="zh-CN" sz="2800">
                                      <a:solidFill>
                                        <a:schemeClr val="tx1"/>
                                      </a:solidFill>
                                      <a:latin typeface="Cambria Math" panose="02040503050406030204" pitchFamily="18" charset="0"/>
                                    </a:rPr>
                                    <m:t>Γ</m:t>
                                  </m:r>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𝑛</m:t>
                                      </m:r>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m:t>
                                  </m:r>
                                </m:den>
                              </m:f>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𝑥</m:t>
                                  </m:r>
                                </m:e>
                                <m:sup>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𝑛</m:t>
                                      </m:r>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−1</m:t>
                                  </m:r>
                                </m:sup>
                              </m:sSup>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𝑒</m:t>
                                  </m:r>
                                </m:e>
                                <m:sup>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𝑥</m:t>
                                      </m:r>
                                    </m:num>
                                    <m:den>
                                      <m:r>
                                        <a:rPr lang="en-US" altLang="zh-CN" sz="2800">
                                          <a:solidFill>
                                            <a:schemeClr val="tx1"/>
                                          </a:solidFill>
                                          <a:latin typeface="Cambria Math" panose="02040503050406030204" pitchFamily="18" charset="0"/>
                                        </a:rPr>
                                        <m:t>2</m:t>
                                      </m:r>
                                    </m:den>
                                  </m:f>
                                </m:sup>
                              </m:sSup>
                              <m:r>
                                <a:rPr lang="en-US" altLang="zh-CN" sz="2800">
                                  <a:solidFill>
                                    <a:schemeClr val="tx1"/>
                                  </a:solidFill>
                                  <a:latin typeface="Cambria Math" panose="02040503050406030204" pitchFamily="18" charset="0"/>
                                </a:rPr>
                                <m:t>         </m:t>
                              </m:r>
                              <m:r>
                                <a:rPr lang="en-US" altLang="zh-CN" sz="2800">
                                  <a:solidFill>
                                    <a:schemeClr val="tx1"/>
                                  </a:solidFill>
                                  <a:latin typeface="Cambria Math" panose="02040503050406030204" pitchFamily="18" charset="0"/>
                                </a:rPr>
                                <m:t>𝑥</m:t>
                              </m:r>
                              <m:r>
                                <a:rPr lang="en-US" altLang="zh-CN" sz="2800">
                                  <a:solidFill>
                                    <a:schemeClr val="tx1"/>
                                  </a:solidFill>
                                  <a:latin typeface="Cambria Math" panose="02040503050406030204" pitchFamily="18" charset="0"/>
                                </a:rPr>
                                <m:t>&gt;0</m:t>
                              </m:r>
                            </m:e>
                            <m:e>
                              <m:r>
                                <a:rPr lang="en-US" altLang="zh-CN" sz="2800">
                                  <a:solidFill>
                                    <a:schemeClr val="tx1"/>
                                  </a:solidFill>
                                  <a:latin typeface="Cambria Math" panose="02040503050406030204" pitchFamily="18" charset="0"/>
                                </a:rPr>
                                <m:t> 0                                    </m:t>
                              </m:r>
                              <m:r>
                                <a:rPr lang="en-US" altLang="zh-CN" sz="2800">
                                  <a:solidFill>
                                    <a:schemeClr val="tx1"/>
                                  </a:solidFill>
                                  <a:latin typeface="Cambria Math" panose="02040503050406030204" pitchFamily="18" charset="0"/>
                                </a:rPr>
                                <m:t>𝑥</m:t>
                              </m:r>
                              <m:r>
                                <a:rPr lang="en-US" altLang="zh-CN" sz="2800">
                                  <a:solidFill>
                                    <a:schemeClr val="tx1"/>
                                  </a:solidFill>
                                  <a:latin typeface="Cambria Math" panose="02040503050406030204" pitchFamily="18" charset="0"/>
                                </a:rPr>
                                <m:t>≤0</m:t>
                              </m:r>
                            </m:e>
                          </m:eqArr>
                        </m:e>
                      </m:d>
                    </m:oMath>
                  </m:oMathPara>
                </a14:m>
                <a:endParaRPr lang="en-US" altLang="zh-CN"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064596" y="715880"/>
                <a:ext cx="9595384" cy="5817268"/>
              </a:xfrm>
              <a:blipFill>
                <a:blip r:embed="rId2"/>
                <a:stretch>
                  <a:fillRect l="-1334" r="-1271"/>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6" name="标题 1">
                <a:extLst>
                  <a:ext uri="{FF2B5EF4-FFF2-40B4-BE49-F238E27FC236}">
                    <a16:creationId xmlns:a16="http://schemas.microsoft.com/office/drawing/2014/main" id="{250E01B3-F594-E214-43C9-9528D7C17D67}"/>
                  </a:ext>
                </a:extLst>
              </p:cNvPr>
              <p:cNvSpPr txBox="1">
                <a:spLocks/>
              </p:cNvSpPr>
              <p:nvPr/>
            </p:nvSpPr>
            <p:spPr>
              <a:xfrm>
                <a:off x="2077452" y="137318"/>
                <a:ext cx="4018549"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t>6.3.1 </a:t>
                </a:r>
                <a14:m>
                  <m:oMath xmlns:m="http://schemas.openxmlformats.org/officeDocument/2006/math">
                    <m:sSup>
                      <m:sSupPr>
                        <m:ctrlPr>
                          <a:rPr lang="en-US" altLang="zh-CN" b="1" i="1" smtClean="0">
                            <a:effectLst/>
                            <a:latin typeface="Cambria Math" panose="02040503050406030204" pitchFamily="18" charset="0"/>
                          </a:rPr>
                        </m:ctrlPr>
                      </m:sSupPr>
                      <m:e>
                        <m:r>
                          <a:rPr lang="zh-CN" altLang="en-US" b="1" i="1" smtClean="0">
                            <a:effectLst/>
                            <a:latin typeface="Cambria Math" panose="02040503050406030204" pitchFamily="18" charset="0"/>
                          </a:rPr>
                          <m:t>𝝌</m:t>
                        </m:r>
                      </m:e>
                      <m:sup>
                        <m:r>
                          <a:rPr lang="en-US" altLang="zh-CN" b="1" i="1" smtClean="0">
                            <a:effectLst/>
                            <a:latin typeface="Cambria Math" panose="02040503050406030204" pitchFamily="18" charset="0"/>
                          </a:rPr>
                          <m:t>𝟐</m:t>
                        </m:r>
                      </m:sup>
                    </m:sSup>
                  </m:oMath>
                </a14:m>
                <a:r>
                  <a:rPr lang="zh-CN" altLang="en-US" b="1" dirty="0">
                    <a:effectLst/>
                    <a:sym typeface="+mn-ea"/>
                  </a:rPr>
                  <a:t>分布</a:t>
                </a:r>
                <a:endParaRPr lang="zh-CN" altLang="en-US" b="1" dirty="0"/>
              </a:p>
            </p:txBody>
          </p:sp>
        </mc:Choice>
        <mc:Fallback xmlns="">
          <p:sp>
            <p:nvSpPr>
              <p:cNvPr id="6" name="标题 1">
                <a:extLst>
                  <a:ext uri="{FF2B5EF4-FFF2-40B4-BE49-F238E27FC236}">
                    <a16:creationId xmlns:a16="http://schemas.microsoft.com/office/drawing/2014/main" id="{250E01B3-F594-E214-43C9-9528D7C17D67}"/>
                  </a:ext>
                </a:extLst>
              </p:cNvPr>
              <p:cNvSpPr txBox="1">
                <a:spLocks noRot="1" noChangeAspect="1" noMove="1" noResize="1" noEditPoints="1" noAdjustHandles="1" noChangeArrowheads="1" noChangeShapeType="1" noTextEdit="1"/>
              </p:cNvSpPr>
              <p:nvPr/>
            </p:nvSpPr>
            <p:spPr>
              <a:xfrm>
                <a:off x="2077452" y="137318"/>
                <a:ext cx="4018549" cy="662782"/>
              </a:xfrm>
              <a:prstGeom prst="rect">
                <a:avLst/>
              </a:prstGeom>
              <a:blipFill>
                <a:blip r:embed="rId3"/>
                <a:stretch>
                  <a:fillRect l="-4097" t="-10185" b="-27778"/>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994540" y="936705"/>
            <a:ext cx="7078063" cy="4477375"/>
          </a:xfrm>
          <a:prstGeom prst="rect">
            <a:avLst/>
          </a:prstGeom>
        </p:spPr>
      </p:pic>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6022623" y="834311"/>
            <a:ext cx="4443047" cy="3584175"/>
          </a:xfrm>
          <a:prstGeom prst="rect">
            <a:avLst/>
          </a:prstGeom>
          <a:noFill/>
        </p:spPr>
        <p:txBody>
          <a:bodyPr wrap="square" rtlCol="0">
            <a:noAutofit/>
          </a:bodyPr>
          <a:lstStyle/>
          <a:p>
            <a:pPr lvl="0" indent="444500">
              <a:defRPr/>
            </a:pPr>
            <a:r>
              <a:rPr lang="zh-CN" altLang="en-US" sz="2800" b="1" dirty="0">
                <a:solidFill>
                  <a:prstClr val="black"/>
                </a:solidFill>
                <a:latin typeface="宋体" panose="02010600030101010101" pitchFamily="2" charset="-122"/>
                <a:ea typeface="宋体" panose="02010600030101010101" pitchFamily="2" charset="-122"/>
              </a:rPr>
              <a:t>卡方分布是一种不对称偏峰分布，卡方分布的自由度决定了分布的形状</a:t>
            </a:r>
            <a:r>
              <a:rPr lang="zh-CN" altLang="en-US" sz="2800" dirty="0">
                <a:solidFill>
                  <a:prstClr val="black"/>
                </a:solidFill>
                <a:latin typeface="宋体" panose="02010600030101010101" pitchFamily="2" charset="-122"/>
                <a:ea typeface="宋体" panose="02010600030101010101" pitchFamily="2" charset="-122"/>
              </a:rPr>
              <a:t>。随着</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自由度的增大，卡方分布的期望和方差随之增大，分布曲线的最高点也逐渐下降并向右移动，趋于对称。</a:t>
            </a:r>
          </a:p>
        </p:txBody>
      </p:sp>
      <mc:AlternateContent xmlns:mc="http://schemas.openxmlformats.org/markup-compatibility/2006" xmlns:a14="http://schemas.microsoft.com/office/drawing/2010/main">
        <mc:Choice Requires="a14">
          <p:sp>
            <p:nvSpPr>
              <p:cNvPr id="4" name="文本框 3"/>
              <p:cNvSpPr txBox="1"/>
              <p:nvPr/>
            </p:nvSpPr>
            <p:spPr>
              <a:xfrm>
                <a:off x="1961147" y="5414080"/>
                <a:ext cx="489212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rPr>
                  <a:t>图6-1</a:t>
                </a:r>
                <a:r>
                  <a:rPr lang="en-US" altLang="zh-CN" sz="2400" dirty="0">
                    <a:effectLst/>
                    <a:latin typeface="黑体" panose="02010609060101010101" pitchFamily="49" charset="-122"/>
                    <a:ea typeface="黑体" panose="02010609060101010101" pitchFamily="49" charset="-122"/>
                  </a:rPr>
                  <a:t> </a:t>
                </a:r>
                <a14:m>
                  <m:oMath xmlns:m="http://schemas.openxmlformats.org/officeDocument/2006/math">
                    <m:sSup>
                      <m:sSupPr>
                        <m:ctrlPr>
                          <a:rPr lang="en-US" altLang="zh-CN" sz="2400" i="1" smtClean="0">
                            <a:effectLst/>
                            <a:latin typeface="Cambria Math" panose="02040503050406030204" pitchFamily="18" charset="0"/>
                          </a:rPr>
                        </m:ctrlPr>
                      </m:sSupPr>
                      <m:e>
                        <m:r>
                          <a:rPr lang="zh-CN" altLang="en-US" sz="2400" i="1" smtClean="0">
                            <a:effectLst/>
                            <a:latin typeface="Cambria Math" panose="02040503050406030204" pitchFamily="18" charset="0"/>
                          </a:rPr>
                          <m:t>𝜒</m:t>
                        </m:r>
                      </m:e>
                      <m:sup>
                        <m:r>
                          <a:rPr lang="en-US" altLang="zh-CN" sz="2400" b="0" i="1" smtClean="0">
                            <a:effectLst/>
                            <a:latin typeface="Cambria Math" panose="02040503050406030204" pitchFamily="18" charset="0"/>
                          </a:rPr>
                          <m:t>2</m:t>
                        </m:r>
                      </m:sup>
                    </m:sSup>
                  </m:oMath>
                </a14:m>
                <a:r>
                  <a:rPr lang="zh-CN" altLang="en-US" sz="2400" dirty="0">
                    <a:effectLst/>
                    <a:latin typeface="黑体" panose="02010609060101010101" pitchFamily="49" charset="-122"/>
                    <a:ea typeface="黑体" panose="02010609060101010101" pitchFamily="49" charset="-122"/>
                    <a:sym typeface="+mn-ea"/>
                  </a:rPr>
                  <a:t>分布</a:t>
                </a:r>
                <a:r>
                  <a:rPr kumimoji="0" lang="zh-CN" altLang="en-US" sz="2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rPr>
                  <a:t>的概率密度曲线</a:t>
                </a:r>
              </a:p>
            </p:txBody>
          </p:sp>
        </mc:Choice>
        <mc:Fallback xmlns="">
          <p:sp>
            <p:nvSpPr>
              <p:cNvPr id="4" name="文本框 3"/>
              <p:cNvSpPr txBox="1">
                <a:spLocks noRot="1" noChangeAspect="1" noMove="1" noResize="1" noEditPoints="1" noAdjustHandles="1" noChangeArrowheads="1" noChangeShapeType="1" noTextEdit="1"/>
              </p:cNvSpPr>
              <p:nvPr/>
            </p:nvSpPr>
            <p:spPr>
              <a:xfrm>
                <a:off x="1961147" y="5414080"/>
                <a:ext cx="4892121" cy="461665"/>
              </a:xfrm>
              <a:prstGeom prst="rect">
                <a:avLst/>
              </a:prstGeom>
              <a:blipFill>
                <a:blip r:embed="rId3"/>
                <a:stretch>
                  <a:fillRect l="-1995" t="-14474"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标题 1">
                <a:extLst>
                  <a:ext uri="{FF2B5EF4-FFF2-40B4-BE49-F238E27FC236}">
                    <a16:creationId xmlns:a16="http://schemas.microsoft.com/office/drawing/2014/main" id="{BEDED026-8FC5-DA6D-C656-3524069D0334}"/>
                  </a:ext>
                </a:extLst>
              </p:cNvPr>
              <p:cNvSpPr txBox="1">
                <a:spLocks/>
              </p:cNvSpPr>
              <p:nvPr/>
            </p:nvSpPr>
            <p:spPr>
              <a:xfrm>
                <a:off x="2069430" y="171529"/>
                <a:ext cx="8961723"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14:m>
                  <m:oMath xmlns:m="http://schemas.openxmlformats.org/officeDocument/2006/math">
                    <m:sSup>
                      <m:sSupPr>
                        <m:ctrlPr>
                          <a:rPr lang="en-US" altLang="zh-CN" b="1" i="1" smtClean="0">
                            <a:solidFill>
                              <a:srgbClr val="0070C0"/>
                            </a:solidFill>
                            <a:effectLst/>
                            <a:latin typeface="Cambria Math" panose="02040503050406030204" pitchFamily="18" charset="0"/>
                          </a:rPr>
                        </m:ctrlPr>
                      </m:sSupPr>
                      <m:e>
                        <m:r>
                          <a:rPr lang="zh-CN" altLang="en-US" b="1" i="1" smtClean="0">
                            <a:solidFill>
                              <a:srgbClr val="0070C0"/>
                            </a:solidFill>
                            <a:effectLst/>
                            <a:latin typeface="Cambria Math" panose="02040503050406030204" pitchFamily="18" charset="0"/>
                          </a:rPr>
                          <m:t>𝝌</m:t>
                        </m:r>
                      </m:e>
                      <m:sup>
                        <m:r>
                          <a:rPr lang="en-US" altLang="zh-CN" b="1" i="1" smtClean="0">
                            <a:solidFill>
                              <a:srgbClr val="0070C0"/>
                            </a:solidFill>
                            <a:effectLst/>
                            <a:latin typeface="Cambria Math" panose="02040503050406030204" pitchFamily="18" charset="0"/>
                          </a:rPr>
                          <m:t>𝟐</m:t>
                        </m:r>
                      </m:sup>
                    </m:sSup>
                  </m:oMath>
                </a14:m>
                <a:r>
                  <a:rPr lang="zh-CN" altLang="en-US" b="1" dirty="0">
                    <a:solidFill>
                      <a:srgbClr val="0070C0"/>
                    </a:solidFill>
                    <a:effectLst/>
                    <a:sym typeface="+mn-ea"/>
                  </a:rPr>
                  <a:t>分布</a:t>
                </a:r>
                <a:r>
                  <a:rPr lang="zh-CN" altLang="en-US" b="1" dirty="0">
                    <a:solidFill>
                      <a:srgbClr val="0070C0"/>
                    </a:solidFill>
                    <a:effectLst/>
                  </a:rPr>
                  <a:t>密度曲线</a:t>
                </a:r>
              </a:p>
            </p:txBody>
          </p:sp>
        </mc:Choice>
        <mc:Fallback xmlns="">
          <p:sp>
            <p:nvSpPr>
              <p:cNvPr id="6" name="标题 1">
                <a:extLst>
                  <a:ext uri="{FF2B5EF4-FFF2-40B4-BE49-F238E27FC236}">
                    <a16:creationId xmlns:a16="http://schemas.microsoft.com/office/drawing/2014/main" id="{BEDED026-8FC5-DA6D-C656-3524069D0334}"/>
                  </a:ext>
                </a:extLst>
              </p:cNvPr>
              <p:cNvSpPr txBox="1">
                <a:spLocks noRot="1" noChangeAspect="1" noMove="1" noResize="1" noEditPoints="1" noAdjustHandles="1" noChangeArrowheads="1" noChangeShapeType="1" noTextEdit="1"/>
              </p:cNvSpPr>
              <p:nvPr/>
            </p:nvSpPr>
            <p:spPr>
              <a:xfrm>
                <a:off x="2069430" y="171529"/>
                <a:ext cx="8961723" cy="662782"/>
              </a:xfrm>
              <a:prstGeom prst="rect">
                <a:avLst/>
              </a:prstGeom>
              <a:blipFill>
                <a:blip r:embed="rId4"/>
                <a:stretch>
                  <a:fillRect t="-8257" b="-21101"/>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696451" y="772897"/>
                <a:ext cx="8049127" cy="1479727"/>
              </a:xfrm>
            </p:spPr>
            <p:txBody>
              <a:bodyPr/>
              <a:lstStyle/>
              <a:p>
                <a:pPr marL="0" lvl="0" indent="0">
                  <a:lnSpc>
                    <a:spcPct val="150000"/>
                  </a:lnSpc>
                  <a:spcBef>
                    <a:spcPts val="0"/>
                  </a:spcBef>
                  <a:spcAft>
                    <a:spcPts val="0"/>
                  </a:spcAft>
                  <a:buNone/>
                </a:pPr>
                <a:r>
                  <a:rPr lang="zh-CN" altLang="en-US" sz="2800" b="1" dirty="0">
                    <a:solidFill>
                      <a:srgbClr val="0070C0"/>
                    </a:solidFill>
                    <a:latin typeface="黑体" panose="02010609060101010101" pitchFamily="49" charset="-122"/>
                    <a:ea typeface="黑体" panose="02010609060101010101" pitchFamily="49" charset="-122"/>
                  </a:rPr>
                  <a:t>（</a:t>
                </a:r>
                <a:r>
                  <a:rPr lang="en-US" altLang="zh-CN" sz="2800" b="1" dirty="0">
                    <a:solidFill>
                      <a:srgbClr val="0070C0"/>
                    </a:solidFill>
                    <a:latin typeface="黑体" panose="02010609060101010101" pitchFamily="49" charset="-122"/>
                    <a:ea typeface="黑体" panose="02010609060101010101" pitchFamily="49" charset="-122"/>
                  </a:rPr>
                  <a:t>1</a:t>
                </a:r>
                <a:r>
                  <a:rPr lang="zh-CN" altLang="en-US" sz="2800" b="1" dirty="0">
                    <a:solidFill>
                      <a:srgbClr val="0070C0"/>
                    </a:solidFill>
                    <a:latin typeface="黑体" panose="02010609060101010101" pitchFamily="49" charset="-122"/>
                    <a:ea typeface="黑体" panose="02010609060101010101" pitchFamily="49" charset="-122"/>
                  </a:rPr>
                  <a:t>）</a:t>
                </a:r>
                <a14:m>
                  <m:oMath xmlns:m="http://schemas.openxmlformats.org/officeDocument/2006/math">
                    <m:sSup>
                      <m:sSupPr>
                        <m:ctrlPr>
                          <a:rPr lang="en-US" altLang="zh-CN" sz="2800" b="1" i="1">
                            <a:solidFill>
                              <a:srgbClr val="0070C0"/>
                            </a:solidFill>
                            <a:latin typeface="Cambria Math" panose="02040503050406030204" pitchFamily="18" charset="0"/>
                          </a:rPr>
                        </m:ctrlPr>
                      </m:sSupPr>
                      <m:e>
                        <m:r>
                          <a:rPr lang="zh-CN" altLang="en-US" sz="2800" b="1" i="0">
                            <a:solidFill>
                              <a:srgbClr val="0070C0"/>
                            </a:solidFill>
                            <a:latin typeface="Cambria Math" panose="02040503050406030204" pitchFamily="18" charset="0"/>
                          </a:rPr>
                          <m:t>𝛘</m:t>
                        </m:r>
                      </m:e>
                      <m:sup>
                        <m:r>
                          <a:rPr lang="en-US" altLang="zh-CN" sz="2800" b="1" i="0">
                            <a:solidFill>
                              <a:srgbClr val="0070C0"/>
                            </a:solidFill>
                            <a:latin typeface="Cambria Math" panose="02040503050406030204" pitchFamily="18" charset="0"/>
                          </a:rPr>
                          <m:t>𝟐</m:t>
                        </m:r>
                      </m:sup>
                    </m:sSup>
                  </m:oMath>
                </a14:m>
                <a:r>
                  <a:rPr lang="zh-CN" altLang="en-US" sz="2800" b="1" dirty="0">
                    <a:solidFill>
                      <a:srgbClr val="0070C0"/>
                    </a:solidFill>
                    <a:latin typeface="黑体" panose="02010609060101010101" pitchFamily="49" charset="-122"/>
                    <a:ea typeface="黑体" panose="02010609060101010101" pitchFamily="49" charset="-122"/>
                  </a:rPr>
                  <a:t>分布的数学期望与方差</a:t>
                </a:r>
                <a:endParaRPr lang="en-US" altLang="zh-CN" sz="2800" b="1" dirty="0">
                  <a:solidFill>
                    <a:srgbClr val="0070C0"/>
                  </a:solidFill>
                  <a:latin typeface="黑体" panose="02010609060101010101" pitchFamily="49" charset="-122"/>
                  <a:ea typeface="黑体" panose="02010609060101010101" pitchFamily="49" charset="-122"/>
                </a:endParaRPr>
              </a:p>
              <a:p>
                <a:pPr marL="0" lvl="0" indent="0" algn="ctr">
                  <a:lnSpc>
                    <a:spcPct val="150000"/>
                  </a:lnSpc>
                  <a:spcBef>
                    <a:spcPts val="0"/>
                  </a:spcBef>
                  <a:spcAft>
                    <a:spcPts val="0"/>
                  </a:spcAft>
                  <a:buNone/>
                </a:pPr>
                <a14:m>
                  <m:oMath xmlns:m="http://schemas.openxmlformats.org/officeDocument/2006/math">
                    <m:r>
                      <a:rPr lang="en-US" altLang="zh-CN" sz="2800" b="1" i="1">
                        <a:solidFill>
                          <a:schemeClr val="tx1"/>
                        </a:solidFill>
                        <a:latin typeface="Cambria Math" panose="02040503050406030204" pitchFamily="18" charset="0"/>
                      </a:rPr>
                      <m:t>𝑬</m:t>
                    </m:r>
                    <m:d>
                      <m:dPr>
                        <m:ctrlPr>
                          <a:rPr lang="en-US" altLang="zh-CN" sz="2800" b="1" i="1">
                            <a:solidFill>
                              <a:schemeClr val="tx1"/>
                            </a:solidFill>
                            <a:latin typeface="Cambria Math" panose="02040503050406030204" pitchFamily="18" charset="0"/>
                          </a:rPr>
                        </m:ctrlPr>
                      </m:dPr>
                      <m:e>
                        <m:r>
                          <a:rPr lang="en-US" altLang="zh-CN" sz="2800" b="1" i="1">
                            <a:solidFill>
                              <a:schemeClr val="tx1"/>
                            </a:solidFill>
                            <a:latin typeface="Cambria Math" panose="02040503050406030204" pitchFamily="18" charset="0"/>
                          </a:rPr>
                          <m:t>𝑿</m:t>
                        </m:r>
                      </m:e>
                    </m:d>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𝒏</m:t>
                    </m:r>
                  </m:oMath>
                </a14:m>
                <a:r>
                  <a:rPr lang="zh-CN" altLang="en-US" sz="2800" b="1" i="1" dirty="0">
                    <a:solidFill>
                      <a:schemeClr val="tx1"/>
                    </a:solidFill>
                    <a:latin typeface="宋体" panose="02010600030101010101" pitchFamily="2" charset="-122"/>
                    <a:ea typeface="宋体" panose="02010600030101010101" pitchFamily="2" charset="-122"/>
                  </a:rPr>
                  <a:t>，</a:t>
                </a:r>
                <a14:m>
                  <m:oMath xmlns:m="http://schemas.openxmlformats.org/officeDocument/2006/math">
                    <m:r>
                      <a:rPr lang="en-US" altLang="zh-CN" sz="2800" b="1" i="1" dirty="0">
                        <a:solidFill>
                          <a:schemeClr val="tx1"/>
                        </a:solidFill>
                        <a:latin typeface="Cambria Math" panose="02040503050406030204" pitchFamily="18" charset="0"/>
                      </a:rPr>
                      <m:t>𝑫</m:t>
                    </m:r>
                    <m:d>
                      <m:dPr>
                        <m:ctrlPr>
                          <a:rPr lang="en-US" altLang="zh-CN" sz="2800" b="1" i="1" dirty="0">
                            <a:solidFill>
                              <a:schemeClr val="tx1"/>
                            </a:solidFill>
                            <a:latin typeface="Cambria Math" panose="02040503050406030204" pitchFamily="18" charset="0"/>
                          </a:rPr>
                        </m:ctrlPr>
                      </m:dPr>
                      <m:e>
                        <m:r>
                          <a:rPr lang="en-US" altLang="zh-CN" sz="2800" b="1" i="1" dirty="0">
                            <a:solidFill>
                              <a:schemeClr val="tx1"/>
                            </a:solidFill>
                            <a:latin typeface="Cambria Math" panose="02040503050406030204" pitchFamily="18" charset="0"/>
                          </a:rPr>
                          <m:t>𝑿</m:t>
                        </m:r>
                      </m:e>
                    </m:d>
                    <m:r>
                      <a:rPr lang="en-US" altLang="zh-CN" sz="2800" b="1" i="1" dirty="0">
                        <a:solidFill>
                          <a:schemeClr val="tx1"/>
                        </a:solidFill>
                        <a:latin typeface="Cambria Math" panose="02040503050406030204" pitchFamily="18" charset="0"/>
                      </a:rPr>
                      <m:t>=</m:t>
                    </m:r>
                    <m:r>
                      <a:rPr lang="en-US" altLang="zh-CN" sz="2800" b="1" i="1" dirty="0">
                        <a:solidFill>
                          <a:schemeClr val="tx1"/>
                        </a:solidFill>
                        <a:latin typeface="Cambria Math" panose="02040503050406030204" pitchFamily="18" charset="0"/>
                      </a:rPr>
                      <m:t>𝟐</m:t>
                    </m:r>
                    <m:r>
                      <a:rPr lang="en-US" altLang="zh-CN" sz="2800" b="1" i="1" dirty="0">
                        <a:solidFill>
                          <a:schemeClr val="tx1"/>
                        </a:solidFill>
                        <a:latin typeface="Cambria Math" panose="02040503050406030204" pitchFamily="18" charset="0"/>
                      </a:rPr>
                      <m:t>𝒏</m:t>
                    </m:r>
                  </m:oMath>
                </a14:m>
                <a:endParaRPr lang="zh-CN" altLang="en-US" dirty="0">
                  <a:solidFill>
                    <a:srgbClr val="2F5597"/>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696451" y="772897"/>
                <a:ext cx="8049127" cy="1479727"/>
              </a:xfrm>
              <a:blipFill>
                <a:blip r:embed="rId2"/>
                <a:stretch>
                  <a:fillRect l="-1514"/>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7" name="标题 1">
                <a:extLst>
                  <a:ext uri="{FF2B5EF4-FFF2-40B4-BE49-F238E27FC236}">
                    <a16:creationId xmlns:a16="http://schemas.microsoft.com/office/drawing/2014/main" id="{73148927-265E-BB9D-9D76-984A026EA157}"/>
                  </a:ext>
                </a:extLst>
              </p:cNvPr>
              <p:cNvSpPr txBox="1">
                <a:spLocks/>
              </p:cNvSpPr>
              <p:nvPr/>
            </p:nvSpPr>
            <p:spPr>
              <a:xfrm>
                <a:off x="1503947" y="35207"/>
                <a:ext cx="6184232" cy="66278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pPr lvl="0" indent="720000">
                  <a:lnSpc>
                    <a:spcPct val="150000"/>
                  </a:lnSpc>
                  <a:spcBef>
                    <a:spcPts val="0"/>
                  </a:spcBef>
                  <a:buSzPct val="80000"/>
                </a:pPr>
                <a:r>
                  <a:rPr lang="en-US" altLang="zh-CN" sz="4000" b="1" dirty="0">
                    <a:solidFill>
                      <a:srgbClr val="00B0F0"/>
                    </a:solidFill>
                    <a:effectLst/>
                    <a:cs typeface="+mn-cs"/>
                  </a:rPr>
                  <a:t>2. </a:t>
                </a:r>
                <a14:m>
                  <m:oMath xmlns:m="http://schemas.openxmlformats.org/officeDocument/2006/math">
                    <m:sSup>
                      <m:sSupPr>
                        <m:ctrlPr>
                          <a:rPr lang="en-US" altLang="zh-CN" sz="4000" b="1" i="1" smtClean="0">
                            <a:solidFill>
                              <a:srgbClr val="00B0F0"/>
                            </a:solidFill>
                            <a:effectLst/>
                            <a:latin typeface="Cambria Math" panose="02040503050406030204" pitchFamily="18" charset="0"/>
                            <a:cs typeface="+mn-cs"/>
                          </a:rPr>
                        </m:ctrlPr>
                      </m:sSupPr>
                      <m:e>
                        <m:r>
                          <a:rPr lang="zh-CN" altLang="en-US" sz="4000" b="1">
                            <a:solidFill>
                              <a:srgbClr val="00B0F0"/>
                            </a:solidFill>
                            <a:effectLst/>
                            <a:latin typeface="Cambria Math" panose="02040503050406030204" pitchFamily="18" charset="0"/>
                            <a:cs typeface="+mn-cs"/>
                          </a:rPr>
                          <m:t>𝛘</m:t>
                        </m:r>
                      </m:e>
                      <m:sup>
                        <m:r>
                          <a:rPr lang="en-US" altLang="zh-CN" sz="4000" b="1">
                            <a:solidFill>
                              <a:srgbClr val="00B0F0"/>
                            </a:solidFill>
                            <a:effectLst/>
                            <a:latin typeface="Cambria Math" panose="02040503050406030204" pitchFamily="18" charset="0"/>
                            <a:cs typeface="+mn-cs"/>
                          </a:rPr>
                          <m:t>𝟐</m:t>
                        </m:r>
                      </m:sup>
                    </m:sSup>
                  </m:oMath>
                </a14:m>
                <a:r>
                  <a:rPr lang="zh-CN" altLang="en-US" sz="4000" b="1" dirty="0">
                    <a:solidFill>
                      <a:srgbClr val="00B0F0"/>
                    </a:solidFill>
                    <a:effectLst/>
                    <a:cs typeface="+mn-cs"/>
                  </a:rPr>
                  <a:t>分布的性质特征</a:t>
                </a:r>
              </a:p>
            </p:txBody>
          </p:sp>
        </mc:Choice>
        <mc:Fallback xmlns="">
          <p:sp>
            <p:nvSpPr>
              <p:cNvPr id="7" name="标题 1">
                <a:extLst>
                  <a:ext uri="{FF2B5EF4-FFF2-40B4-BE49-F238E27FC236}">
                    <a16:creationId xmlns:a16="http://schemas.microsoft.com/office/drawing/2014/main" id="{73148927-265E-BB9D-9D76-984A026EA157}"/>
                  </a:ext>
                </a:extLst>
              </p:cNvPr>
              <p:cNvSpPr txBox="1">
                <a:spLocks noRot="1" noChangeAspect="1" noMove="1" noResize="1" noEditPoints="1" noAdjustHandles="1" noChangeArrowheads="1" noChangeShapeType="1" noTextEdit="1"/>
              </p:cNvSpPr>
              <p:nvPr/>
            </p:nvSpPr>
            <p:spPr>
              <a:xfrm>
                <a:off x="1503947" y="35207"/>
                <a:ext cx="6184232" cy="662782"/>
              </a:xfrm>
              <a:prstGeom prst="rect">
                <a:avLst/>
              </a:prstGeom>
              <a:blipFill>
                <a:blip r:embed="rId3"/>
                <a:stretch>
                  <a:fillRect t="-12037" b="-50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1696451" y="2215170"/>
                <a:ext cx="7026443" cy="4492768"/>
              </a:xfrm>
              <a:prstGeom prst="rect">
                <a:avLst/>
              </a:prstGeom>
            </p:spPr>
            <p:txBody>
              <a:bodyPr wrap="square">
                <a:spAutoFit/>
              </a:bodyPr>
              <a:lstStyle/>
              <a:p>
                <a:pPr lvl="0">
                  <a:lnSpc>
                    <a:spcPct val="130000"/>
                  </a:lnSpc>
                  <a:spcBef>
                    <a:spcPts val="600"/>
                  </a:spcBef>
                </a:pPr>
                <a:r>
                  <a:rPr lang="zh-CN" altLang="en-US" sz="2800" b="1" dirty="0">
                    <a:solidFill>
                      <a:srgbClr val="0070C0"/>
                    </a:solidFill>
                    <a:latin typeface="黑体" panose="02010609060101010101" pitchFamily="49" charset="-122"/>
                    <a:ea typeface="黑体" panose="02010609060101010101" pitchFamily="49" charset="-122"/>
                  </a:rPr>
                  <a:t>（</a:t>
                </a:r>
                <a:r>
                  <a:rPr lang="en-US" altLang="zh-CN" sz="2800" b="1" dirty="0">
                    <a:solidFill>
                      <a:srgbClr val="0070C0"/>
                    </a:solidFill>
                    <a:latin typeface="黑体" panose="02010609060101010101" pitchFamily="49" charset="-122"/>
                    <a:ea typeface="黑体" panose="02010609060101010101" pitchFamily="49" charset="-122"/>
                  </a:rPr>
                  <a:t>2</a:t>
                </a:r>
                <a:r>
                  <a:rPr lang="zh-CN" altLang="en-US" sz="2800" b="1" dirty="0">
                    <a:solidFill>
                      <a:srgbClr val="0070C0"/>
                    </a:solidFill>
                    <a:latin typeface="黑体" panose="02010609060101010101" pitchFamily="49" charset="-122"/>
                    <a:ea typeface="黑体" panose="02010609060101010101" pitchFamily="49" charset="-122"/>
                  </a:rPr>
                  <a:t>）</a:t>
                </a:r>
                <a14:m>
                  <m:oMath xmlns:m="http://schemas.openxmlformats.org/officeDocument/2006/math">
                    <m:sSup>
                      <m:sSupPr>
                        <m:ctrlPr>
                          <a:rPr lang="en-US" altLang="zh-CN" sz="2800" b="1" i="1">
                            <a:solidFill>
                              <a:srgbClr val="0070C0"/>
                            </a:solidFill>
                            <a:latin typeface="Cambria Math" panose="02040503050406030204" pitchFamily="18" charset="0"/>
                          </a:rPr>
                        </m:ctrlPr>
                      </m:sSupPr>
                      <m:e>
                        <m:r>
                          <a:rPr lang="zh-CN" altLang="en-US" sz="2800" b="1" i="1">
                            <a:solidFill>
                              <a:srgbClr val="0070C0"/>
                            </a:solidFill>
                            <a:latin typeface="Cambria Math" panose="02040503050406030204" pitchFamily="18" charset="0"/>
                          </a:rPr>
                          <m:t>𝝌</m:t>
                        </m:r>
                      </m:e>
                      <m:sup>
                        <m:r>
                          <a:rPr lang="en-US" altLang="zh-CN" sz="2800" b="1" i="1">
                            <a:solidFill>
                              <a:srgbClr val="0070C0"/>
                            </a:solidFill>
                            <a:latin typeface="Cambria Math" panose="02040503050406030204" pitchFamily="18" charset="0"/>
                          </a:rPr>
                          <m:t>𝟐</m:t>
                        </m:r>
                      </m:sup>
                    </m:sSup>
                  </m:oMath>
                </a14:m>
                <a:r>
                  <a:rPr lang="zh-CN" altLang="en-US" sz="2800" b="1" dirty="0">
                    <a:solidFill>
                      <a:srgbClr val="0070C0"/>
                    </a:solidFill>
                    <a:latin typeface="黑体" panose="02010609060101010101" pitchFamily="49" charset="-122"/>
                    <a:ea typeface="黑体" panose="02010609060101010101" pitchFamily="49" charset="-122"/>
                  </a:rPr>
                  <a:t>分布的自由度</a:t>
                </a:r>
              </a:p>
              <a:p>
                <a:pPr lvl="0" indent="360363">
                  <a:lnSpc>
                    <a:spcPct val="150000"/>
                  </a:lnSpc>
                </a:pPr>
                <a14:m>
                  <m:oMath xmlns:m="http://schemas.openxmlformats.org/officeDocument/2006/math">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 </m:t>
                        </m:r>
                        <m:r>
                          <a:rPr lang="zh-CN" altLang="en-US" sz="2400" i="1">
                            <a:latin typeface="Cambria Math" panose="02040503050406030204" pitchFamily="18" charset="0"/>
                          </a:rPr>
                          <m:t>𝜒</m:t>
                        </m:r>
                      </m:e>
                      <m:sup>
                        <m:r>
                          <a:rPr lang="en-US" altLang="zh-CN" sz="2400" i="1">
                            <a:latin typeface="Cambria Math" panose="02040503050406030204" pitchFamily="18" charset="0"/>
                          </a:rPr>
                          <m:t>2</m:t>
                        </m:r>
                      </m:sup>
                    </m:sSup>
                  </m:oMath>
                </a14:m>
                <a:r>
                  <a:rPr lang="zh-CN" altLang="en-US" sz="2400" dirty="0">
                    <a:latin typeface="宋体" panose="02010600030101010101" pitchFamily="2" charset="-122"/>
                    <a:ea typeface="宋体" panose="02010600030101010101" pitchFamily="2" charset="-122"/>
                  </a:rPr>
                  <a:t>分布中</a:t>
                </a:r>
                <a:r>
                  <a:rPr lang="en-US" altLang="zh-CN" sz="2400" dirty="0">
                    <a:latin typeface="宋体" panose="02010600030101010101" pitchFamily="2" charset="-122"/>
                    <a:ea typeface="宋体" panose="02010600030101010101" pitchFamily="2" charset="-122"/>
                  </a:rPr>
                  <a:t>n</a:t>
                </a:r>
                <a:r>
                  <a:rPr lang="zh-CN" altLang="en-US" sz="2400" dirty="0">
                    <a:latin typeface="宋体" panose="02010600030101010101" pitchFamily="2" charset="-122"/>
                    <a:ea typeface="宋体" panose="02010600030101010101" pitchFamily="2" charset="-122"/>
                  </a:rPr>
                  <a:t>称为自由度。对于变量</a:t>
                </a:r>
                <a:r>
                  <a:rPr lang="en-US" altLang="zh-CN" sz="2400" b="1" dirty="0">
                    <a:latin typeface="等线" panose="02010600030101010101" pitchFamily="2" charset="-122"/>
                  </a:rPr>
                  <a:t>X</a:t>
                </a:r>
                <a:r>
                  <a:rPr lang="en-US" altLang="zh-CN" sz="2400" b="1" baseline="-25000" dirty="0">
                    <a:latin typeface="等线" panose="02010600030101010101" pitchFamily="2" charset="-122"/>
                  </a:rPr>
                  <a:t>1</a:t>
                </a:r>
                <a:r>
                  <a:rPr lang="en-US" altLang="zh-CN" sz="2400" b="1" dirty="0">
                    <a:latin typeface="等线" panose="02010600030101010101" pitchFamily="2" charset="-122"/>
                  </a:rPr>
                  <a:t>,X</a:t>
                </a:r>
                <a:r>
                  <a:rPr lang="en-US" altLang="zh-CN" sz="2400" b="1" baseline="-25000" dirty="0">
                    <a:latin typeface="等线" panose="02010600030101010101" pitchFamily="2" charset="-122"/>
                  </a:rPr>
                  <a:t>2</a:t>
                </a:r>
                <a:r>
                  <a:rPr lang="en-US" altLang="zh-CN" sz="2400" b="1" dirty="0">
                    <a:latin typeface="等线" panose="02010600030101010101" pitchFamily="2" charset="-122"/>
                  </a:rPr>
                  <a:t>,…,</a:t>
                </a:r>
                <a:r>
                  <a:rPr lang="en-US" altLang="zh-CN" sz="2400" b="1" dirty="0" err="1">
                    <a:latin typeface="等线" panose="02010600030101010101" pitchFamily="2" charset="-122"/>
                  </a:rPr>
                  <a:t>X</a:t>
                </a:r>
                <a:r>
                  <a:rPr lang="en-US" altLang="zh-CN" sz="2400" b="1" baseline="-25000" dirty="0" err="1">
                    <a:latin typeface="等线" panose="02010600030101010101" pitchFamily="2" charset="-122"/>
                  </a:rPr>
                  <a:t>n</a:t>
                </a:r>
                <a:r>
                  <a:rPr lang="en-US" altLang="zh-CN" sz="2400" b="1" dirty="0">
                    <a:latin typeface="等线" panose="02010600030101010101" pitchFamily="2" charset="-122"/>
                  </a:rPr>
                  <a:t> </a:t>
                </a:r>
                <a:r>
                  <a:rPr lang="zh-CN" altLang="en-US" sz="2400" dirty="0">
                    <a:latin typeface="宋体" panose="02010600030101010101" pitchFamily="2" charset="-122"/>
                    <a:ea typeface="宋体" panose="02010600030101010101" pitchFamily="2" charset="-122"/>
                  </a:rPr>
                  <a:t>，如果存在一组不全为零的常数</a:t>
                </a:r>
                <a:r>
                  <a:rPr lang="en-US" altLang="zh-CN" sz="2400" b="1" dirty="0">
                    <a:latin typeface="等线" panose="02010600030101010101" pitchFamily="2" charset="-122"/>
                  </a:rPr>
                  <a:t>C</a:t>
                </a:r>
                <a:r>
                  <a:rPr lang="en-US" altLang="zh-CN" sz="2400" b="1" baseline="-25000" dirty="0">
                    <a:latin typeface="等线" panose="02010600030101010101" pitchFamily="2" charset="-122"/>
                  </a:rPr>
                  <a:t>1</a:t>
                </a:r>
                <a:r>
                  <a:rPr lang="en-US" altLang="zh-CN" sz="2400" b="1" dirty="0">
                    <a:latin typeface="等线" panose="02010600030101010101" pitchFamily="2" charset="-122"/>
                  </a:rPr>
                  <a:t>,C</a:t>
                </a:r>
                <a:r>
                  <a:rPr lang="en-US" altLang="zh-CN" sz="2400" b="1" baseline="-25000" dirty="0">
                    <a:latin typeface="等线" panose="02010600030101010101" pitchFamily="2" charset="-122"/>
                  </a:rPr>
                  <a:t>2</a:t>
                </a:r>
                <a:r>
                  <a:rPr lang="en-US" altLang="zh-CN" sz="2400" b="1" dirty="0">
                    <a:latin typeface="等线" panose="02010600030101010101" pitchFamily="2" charset="-122"/>
                  </a:rPr>
                  <a:t>,…,C</a:t>
                </a:r>
                <a:r>
                  <a:rPr lang="en-US" altLang="zh-CN" sz="2400" b="1" baseline="-25000" dirty="0">
                    <a:latin typeface="等线" panose="02010600030101010101" pitchFamily="2" charset="-122"/>
                  </a:rPr>
                  <a:t>n</a:t>
                </a:r>
                <a:r>
                  <a:rPr lang="en-US" altLang="zh-CN" sz="2400" b="1" dirty="0">
                    <a:latin typeface="等线" panose="02010600030101010101" pitchFamily="2" charset="-122"/>
                  </a:rPr>
                  <a:t> </a:t>
                </a:r>
                <a:r>
                  <a:rPr lang="zh-CN" altLang="en-US" sz="2400" dirty="0">
                    <a:latin typeface="宋体" panose="02010600030101010101" pitchFamily="2" charset="-122"/>
                    <a:ea typeface="宋体" panose="02010600030101010101" pitchFamily="2" charset="-122"/>
                  </a:rPr>
                  <a:t>，使得</a:t>
                </a:r>
                <a:r>
                  <a:rPr lang="en-US" altLang="zh-CN" sz="2400" b="1" dirty="0">
                    <a:latin typeface="等线" panose="02010600030101010101" pitchFamily="2" charset="-122"/>
                  </a:rPr>
                  <a:t>C</a:t>
                </a:r>
                <a:r>
                  <a:rPr lang="en-US" altLang="zh-CN" sz="2400" b="1" baseline="-25000" dirty="0">
                    <a:latin typeface="等线" panose="02010600030101010101" pitchFamily="2" charset="-122"/>
                  </a:rPr>
                  <a:t>1</a:t>
                </a:r>
                <a:r>
                  <a:rPr lang="en-US" altLang="zh-CN" sz="2400" b="1" dirty="0">
                    <a:latin typeface="等线" panose="02010600030101010101" pitchFamily="2" charset="-122"/>
                  </a:rPr>
                  <a:t>X</a:t>
                </a:r>
                <a:r>
                  <a:rPr lang="en-US" altLang="zh-CN" sz="2400" b="1" baseline="-25000" dirty="0">
                    <a:latin typeface="等线" panose="02010600030101010101" pitchFamily="2" charset="-122"/>
                  </a:rPr>
                  <a:t>1</a:t>
                </a:r>
                <a:r>
                  <a:rPr lang="en-US" altLang="zh-CN" sz="2400" b="1" dirty="0">
                    <a:latin typeface="等线" panose="02010600030101010101" pitchFamily="2" charset="-122"/>
                  </a:rPr>
                  <a:t>+C</a:t>
                </a:r>
                <a:r>
                  <a:rPr lang="en-US" altLang="zh-CN" sz="2400" b="1" baseline="-25000" dirty="0">
                    <a:latin typeface="等线" panose="02010600030101010101" pitchFamily="2" charset="-122"/>
                  </a:rPr>
                  <a:t>2</a:t>
                </a:r>
                <a:r>
                  <a:rPr lang="en-US" altLang="zh-CN" sz="2400" b="1" dirty="0">
                    <a:latin typeface="等线" panose="02010600030101010101" pitchFamily="2" charset="-122"/>
                  </a:rPr>
                  <a:t>X</a:t>
                </a:r>
                <a:r>
                  <a:rPr lang="en-US" altLang="zh-CN" sz="2400" b="1" baseline="-25000" dirty="0">
                    <a:latin typeface="等线" panose="02010600030101010101" pitchFamily="2" charset="-122"/>
                  </a:rPr>
                  <a:t>2</a:t>
                </a:r>
                <a:r>
                  <a:rPr lang="en-US" altLang="zh-CN" sz="2400" b="1" dirty="0">
                    <a:latin typeface="等线" panose="02010600030101010101" pitchFamily="2" charset="-122"/>
                  </a:rPr>
                  <a:t>+…+</a:t>
                </a:r>
                <a:r>
                  <a:rPr lang="en-US" altLang="zh-CN" sz="2400" b="1" dirty="0" err="1">
                    <a:latin typeface="等线" panose="02010600030101010101" pitchFamily="2" charset="-122"/>
                  </a:rPr>
                  <a:t>C</a:t>
                </a:r>
                <a:r>
                  <a:rPr lang="en-US" altLang="zh-CN" sz="2400" b="1" baseline="-25000" dirty="0" err="1">
                    <a:latin typeface="等线" panose="02010600030101010101" pitchFamily="2" charset="-122"/>
                  </a:rPr>
                  <a:t>n</a:t>
                </a:r>
                <a:r>
                  <a:rPr lang="en-US" altLang="zh-CN" sz="2400" b="1" dirty="0" err="1">
                    <a:latin typeface="等线" panose="02010600030101010101" pitchFamily="2" charset="-122"/>
                  </a:rPr>
                  <a:t>X</a:t>
                </a:r>
                <a:r>
                  <a:rPr lang="en-US" altLang="zh-CN" sz="2400" b="1" baseline="-25000" dirty="0" err="1">
                    <a:latin typeface="等线" panose="02010600030101010101" pitchFamily="2" charset="-122"/>
                  </a:rPr>
                  <a:t>n</a:t>
                </a:r>
                <a:r>
                  <a:rPr lang="en-US" altLang="zh-CN" sz="2400" b="1" dirty="0">
                    <a:latin typeface="等线" panose="02010600030101010101" pitchFamily="2" charset="-122"/>
                  </a:rPr>
                  <a:t>=0</a:t>
                </a:r>
                <a:r>
                  <a:rPr lang="zh-CN" altLang="en-US" sz="2400" dirty="0">
                    <a:latin typeface="宋体" panose="02010600030101010101" pitchFamily="2" charset="-122"/>
                    <a:ea typeface="宋体" panose="02010600030101010101" pitchFamily="2" charset="-122"/>
                  </a:rPr>
                  <a:t>成立，则称变量</a:t>
                </a:r>
                <a:r>
                  <a:rPr lang="en-US" altLang="zh-CN" sz="2400" b="1" dirty="0">
                    <a:latin typeface="等线" panose="02010600030101010101" pitchFamily="2" charset="-122"/>
                  </a:rPr>
                  <a:t>X</a:t>
                </a:r>
                <a:r>
                  <a:rPr lang="en-US" altLang="zh-CN" sz="2400" b="1" baseline="-25000" dirty="0">
                    <a:latin typeface="等线" panose="02010600030101010101" pitchFamily="2" charset="-122"/>
                  </a:rPr>
                  <a:t>1</a:t>
                </a:r>
                <a:r>
                  <a:rPr lang="en-US" altLang="zh-CN" sz="2400" b="1" dirty="0">
                    <a:latin typeface="等线" panose="02010600030101010101" pitchFamily="2" charset="-122"/>
                  </a:rPr>
                  <a:t>,X</a:t>
                </a:r>
                <a:r>
                  <a:rPr lang="en-US" altLang="zh-CN" sz="2400" b="1" baseline="-25000" dirty="0">
                    <a:latin typeface="等线" panose="02010600030101010101" pitchFamily="2" charset="-122"/>
                  </a:rPr>
                  <a:t>2</a:t>
                </a:r>
                <a:r>
                  <a:rPr lang="en-US" altLang="zh-CN" sz="2400" b="1" dirty="0">
                    <a:latin typeface="等线" panose="02010600030101010101" pitchFamily="2" charset="-122"/>
                  </a:rPr>
                  <a:t>,…,</a:t>
                </a:r>
                <a:r>
                  <a:rPr lang="en-US" altLang="zh-CN" sz="2400" b="1" dirty="0" err="1">
                    <a:latin typeface="等线" panose="02010600030101010101" pitchFamily="2" charset="-122"/>
                  </a:rPr>
                  <a:t>X</a:t>
                </a:r>
                <a:r>
                  <a:rPr lang="en-US" altLang="zh-CN" sz="2400" b="1" baseline="-25000" dirty="0" err="1">
                    <a:latin typeface="等线" panose="02010600030101010101" pitchFamily="2" charset="-122"/>
                  </a:rPr>
                  <a:t>n</a:t>
                </a:r>
                <a:r>
                  <a:rPr lang="zh-CN" altLang="en-US" sz="2400" dirty="0">
                    <a:latin typeface="宋体" panose="02010600030101010101" pitchFamily="2" charset="-122"/>
                    <a:ea typeface="宋体" panose="02010600030101010101" pitchFamily="2" charset="-122"/>
                  </a:rPr>
                  <a:t>之间存在一个线性约束条件。</a:t>
                </a:r>
                <a:r>
                  <a:rPr lang="zh-CN" altLang="en-US" sz="2400" b="1" dirty="0">
                    <a:latin typeface="宋体" panose="02010600030101010101" pitchFamily="2" charset="-122"/>
                    <a:ea typeface="宋体" panose="02010600030101010101" pitchFamily="2" charset="-122"/>
                  </a:rPr>
                  <a:t>如果存在</a:t>
                </a:r>
                <a:r>
                  <a:rPr lang="en-US" altLang="zh-CN" sz="2400" b="1" i="1" dirty="0">
                    <a:latin typeface="宋体" panose="02010600030101010101" pitchFamily="2" charset="-122"/>
                    <a:ea typeface="宋体" panose="02010600030101010101" pitchFamily="2" charset="-122"/>
                  </a:rPr>
                  <a:t>k</a:t>
                </a:r>
                <a:r>
                  <a:rPr lang="zh-CN" altLang="en-US" sz="2400" b="1" dirty="0">
                    <a:latin typeface="宋体" panose="02010600030101010101" pitchFamily="2" charset="-122"/>
                    <a:ea typeface="宋体" panose="02010600030101010101" pitchFamily="2" charset="-122"/>
                  </a:rPr>
                  <a:t>个独立的线性约束条件，称自由度为</a:t>
                </a:r>
                <a:r>
                  <a:rPr lang="en-US" altLang="zh-CN" sz="2400" b="1" dirty="0">
                    <a:latin typeface="宋体" panose="02010600030101010101" pitchFamily="2" charset="-122"/>
                    <a:ea typeface="宋体" panose="02010600030101010101" pitchFamily="2" charset="-122"/>
                  </a:rPr>
                  <a:t>(n-k)</a:t>
                </a:r>
                <a:r>
                  <a:rPr lang="zh-CN" altLang="en-US" sz="2400" dirty="0">
                    <a:latin typeface="宋体" panose="02010600030101010101" pitchFamily="2" charset="-122"/>
                    <a:ea typeface="宋体" panose="02010600030101010101" pitchFamily="2" charset="-122"/>
                  </a:rPr>
                  <a:t>。</a:t>
                </a:r>
                <a:r>
                  <a:rPr lang="zh-CN" altLang="en-US" sz="2400" dirty="0">
                    <a:latin typeface="黑体" panose="02010609060101010101" pitchFamily="49" charset="-122"/>
                    <a:ea typeface="黑体" panose="02010609060101010101" pitchFamily="49" charset="-122"/>
                  </a:rPr>
                  <a:t>自由度也可粗略解释为可以自由选择数值的变量个数</a:t>
                </a:r>
                <a:r>
                  <a:rPr lang="zh-CN" altLang="en-US" sz="2400" dirty="0">
                    <a:latin typeface="宋体" panose="02010600030101010101" pitchFamily="2" charset="-122"/>
                    <a:ea typeface="宋体" panose="02010600030101010101" pitchFamily="2" charset="-122"/>
                  </a:rPr>
                  <a:t>。</a:t>
                </a:r>
              </a:p>
              <a:p>
                <a:pPr lvl="0" indent="720000">
                  <a:lnSpc>
                    <a:spcPct val="150000"/>
                  </a:lnSpc>
                </a:pPr>
                <a:r>
                  <a:rPr lang="zh-CN" altLang="en-US" dirty="0">
                    <a:latin typeface="宋体" panose="02010600030101010101" pitchFamily="2" charset="-122"/>
                    <a:ea typeface="宋体" panose="02010600030101010101" pitchFamily="2" charset="-122"/>
                  </a:rPr>
                  <a:t>   </a:t>
                </a:r>
              </a:p>
            </p:txBody>
          </p:sp>
        </mc:Choice>
        <mc:Fallback xmlns="">
          <p:sp>
            <p:nvSpPr>
              <p:cNvPr id="2" name="矩形 1"/>
              <p:cNvSpPr>
                <a:spLocks noRot="1" noChangeAspect="1" noMove="1" noResize="1" noEditPoints="1" noAdjustHandles="1" noChangeArrowheads="1" noChangeShapeType="1" noTextEdit="1"/>
              </p:cNvSpPr>
              <p:nvPr/>
            </p:nvSpPr>
            <p:spPr>
              <a:xfrm>
                <a:off x="1696451" y="2215170"/>
                <a:ext cx="7026443" cy="4492768"/>
              </a:xfrm>
              <a:prstGeom prst="rect">
                <a:avLst/>
              </a:prstGeom>
              <a:blipFill>
                <a:blip r:embed="rId4"/>
                <a:stretch>
                  <a:fillRect l="-1735"/>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Rectangle 7"/>
          <p:cNvSpPr>
            <a:spLocks noGrp="1" noChangeArrowheads="1"/>
          </p:cNvSpPr>
          <p:nvPr>
            <p:ph type="title"/>
          </p:nvPr>
        </p:nvSpPr>
        <p:spPr>
          <a:xfrm>
            <a:off x="1762792" y="635742"/>
            <a:ext cx="7024270" cy="662782"/>
          </a:xfrm>
        </p:spPr>
        <p:txBody>
          <a:bodyPr/>
          <a:lstStyle/>
          <a:p>
            <a:pPr eaLnBrk="1" hangingPunct="1"/>
            <a:r>
              <a:rPr kumimoji="1" lang="zh-CN" altLang="en-US" sz="3600" b="1" dirty="0">
                <a:effectLst/>
              </a:rPr>
              <a:t>例</a:t>
            </a:r>
            <a:r>
              <a:rPr kumimoji="1" lang="en-US" altLang="zh-CN" sz="3600" b="1" dirty="0">
                <a:effectLst/>
              </a:rPr>
              <a:t>——</a:t>
            </a:r>
            <a:r>
              <a:rPr kumimoji="1" lang="zh-CN" altLang="en-US" sz="3600" b="1" dirty="0">
                <a:effectLst/>
              </a:rPr>
              <a:t>自由度？</a:t>
            </a:r>
          </a:p>
        </p:txBody>
      </p:sp>
      <p:sp>
        <p:nvSpPr>
          <p:cNvPr id="63490" name="Rectangle 2"/>
          <p:cNvSpPr>
            <a:spLocks noGrp="1" noChangeArrowheads="1"/>
          </p:cNvSpPr>
          <p:nvPr>
            <p:ph idx="1"/>
          </p:nvPr>
        </p:nvSpPr>
        <p:spPr>
          <a:xfrm>
            <a:off x="1394743" y="1503948"/>
            <a:ext cx="7760369" cy="4678039"/>
          </a:xfrm>
        </p:spPr>
        <p:txBody>
          <a:bodyPr>
            <a:normAutofit/>
          </a:bodyPr>
          <a:lstStyle/>
          <a:p>
            <a:pPr eaLnBrk="1" hangingPunct="1">
              <a:lnSpc>
                <a:spcPct val="150000"/>
              </a:lnSpc>
              <a:buFontTx/>
              <a:buNone/>
            </a:pPr>
            <a:r>
              <a:rPr lang="en-US" altLang="zh-CN" dirty="0">
                <a:solidFill>
                  <a:srgbClr val="000000"/>
                </a:solidFill>
              </a:rPr>
              <a:t>      </a:t>
            </a:r>
            <a:r>
              <a:rPr lang="zh-CN" altLang="en-US" dirty="0">
                <a:solidFill>
                  <a:srgbClr val="000000"/>
                </a:solidFill>
              </a:rPr>
              <a:t>若</a:t>
            </a:r>
            <a:r>
              <a:rPr kumimoji="1" lang="en-US" altLang="zh-CN" i="1" dirty="0">
                <a:solidFill>
                  <a:srgbClr val="000000"/>
                </a:solidFill>
              </a:rPr>
              <a:t>X</a:t>
            </a:r>
            <a:r>
              <a:rPr kumimoji="1" lang="en-US" altLang="zh-CN" i="1" baseline="-25000" dirty="0">
                <a:solidFill>
                  <a:srgbClr val="000000"/>
                </a:solidFill>
              </a:rPr>
              <a:t>1</a:t>
            </a:r>
            <a:r>
              <a:rPr kumimoji="1" lang="zh-CN" altLang="en-US" dirty="0">
                <a:solidFill>
                  <a:srgbClr val="000000"/>
                </a:solidFill>
              </a:rPr>
              <a:t>，</a:t>
            </a:r>
            <a:r>
              <a:rPr kumimoji="1" lang="en-US" altLang="zh-CN" i="1" dirty="0">
                <a:solidFill>
                  <a:srgbClr val="000000"/>
                </a:solidFill>
              </a:rPr>
              <a:t>X</a:t>
            </a:r>
            <a:r>
              <a:rPr kumimoji="1" lang="en-US" altLang="zh-CN" i="1" baseline="-25000" dirty="0">
                <a:solidFill>
                  <a:srgbClr val="000000"/>
                </a:solidFill>
              </a:rPr>
              <a:t>2</a:t>
            </a:r>
            <a:r>
              <a:rPr kumimoji="1" lang="zh-CN" altLang="en-US" dirty="0">
                <a:solidFill>
                  <a:srgbClr val="000000"/>
                </a:solidFill>
              </a:rPr>
              <a:t>，</a:t>
            </a:r>
            <a:r>
              <a:rPr kumimoji="1" lang="en-US" altLang="zh-CN" dirty="0">
                <a:solidFill>
                  <a:srgbClr val="000000"/>
                </a:solidFill>
                <a:latin typeface="Arial" panose="020B0604020202020204" pitchFamily="34" charset="0"/>
              </a:rPr>
              <a:t>…</a:t>
            </a:r>
            <a:r>
              <a:rPr kumimoji="1" lang="zh-CN" altLang="en-US" dirty="0">
                <a:solidFill>
                  <a:srgbClr val="000000"/>
                </a:solidFill>
              </a:rPr>
              <a:t>，</a:t>
            </a:r>
            <a:r>
              <a:rPr kumimoji="1" lang="en-US" altLang="zh-CN" i="1" dirty="0" err="1">
                <a:solidFill>
                  <a:srgbClr val="000000"/>
                </a:solidFill>
              </a:rPr>
              <a:t>X</a:t>
            </a:r>
            <a:r>
              <a:rPr kumimoji="1" lang="en-US" altLang="zh-CN" i="1" baseline="-25000" dirty="0" err="1">
                <a:solidFill>
                  <a:srgbClr val="000000"/>
                </a:solidFill>
              </a:rPr>
              <a:t>n</a:t>
            </a:r>
            <a:r>
              <a:rPr kumimoji="1" lang="zh-CN" altLang="en-US" dirty="0">
                <a:solidFill>
                  <a:srgbClr val="000000"/>
                </a:solidFill>
              </a:rPr>
              <a:t>是简单随机样本，下列两个统计量对应的自由度应是多少？</a:t>
            </a:r>
          </a:p>
        </p:txBody>
      </p:sp>
      <p:graphicFrame>
        <p:nvGraphicFramePr>
          <p:cNvPr id="63491" name="Object 3"/>
          <p:cNvGraphicFramePr>
            <a:graphicFrameLocks noChangeAspect="1"/>
          </p:cNvGraphicFramePr>
          <p:nvPr>
            <p:extLst>
              <p:ext uri="{D42A27DB-BD31-4B8C-83A1-F6EECF244321}">
                <p14:modId xmlns:p14="http://schemas.microsoft.com/office/powerpoint/2010/main" val="1319214684"/>
              </p:ext>
            </p:extLst>
          </p:nvPr>
        </p:nvGraphicFramePr>
        <p:xfrm>
          <a:off x="2415143" y="3268330"/>
          <a:ext cx="1528064" cy="1548312"/>
        </p:xfrm>
        <a:graphic>
          <a:graphicData uri="http://schemas.openxmlformats.org/presentationml/2006/ole">
            <mc:AlternateContent xmlns:mc="http://schemas.openxmlformats.org/markup-compatibility/2006">
              <mc:Choice xmlns:v="urn:schemas-microsoft-com:vml" Requires="v">
                <p:oleObj name="Equation" r:id="rId2" imgW="901700" imgH="914400" progId="Equation.DSMT4">
                  <p:embed/>
                </p:oleObj>
              </mc:Choice>
              <mc:Fallback>
                <p:oleObj name="Equation" r:id="rId2" imgW="901700" imgH="914400" progId="Equation.DSMT4">
                  <p:embed/>
                  <p:pic>
                    <p:nvPicPr>
                      <p:cNvPr id="6349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143" y="3268330"/>
                        <a:ext cx="1528064" cy="1548312"/>
                      </a:xfrm>
                      <a:prstGeom prst="rect">
                        <a:avLst/>
                      </a:prstGeom>
                      <a:noFill/>
                      <a:ln>
                        <a:noFill/>
                      </a:ln>
                    </p:spPr>
                  </p:pic>
                </p:oleObj>
              </mc:Fallback>
            </mc:AlternateContent>
          </a:graphicData>
        </a:graphic>
      </p:graphicFrame>
      <p:graphicFrame>
        <p:nvGraphicFramePr>
          <p:cNvPr id="63492" name="Object 4"/>
          <p:cNvGraphicFramePr>
            <a:graphicFrameLocks noChangeAspect="1"/>
          </p:cNvGraphicFramePr>
          <p:nvPr>
            <p:extLst>
              <p:ext uri="{D42A27DB-BD31-4B8C-83A1-F6EECF244321}">
                <p14:modId xmlns:p14="http://schemas.microsoft.com/office/powerpoint/2010/main" val="2178823313"/>
              </p:ext>
            </p:extLst>
          </p:nvPr>
        </p:nvGraphicFramePr>
        <p:xfrm>
          <a:off x="6010407" y="3364582"/>
          <a:ext cx="2295391" cy="1171324"/>
        </p:xfrm>
        <a:graphic>
          <a:graphicData uri="http://schemas.openxmlformats.org/presentationml/2006/ole">
            <mc:AlternateContent xmlns:mc="http://schemas.openxmlformats.org/markup-compatibility/2006">
              <mc:Choice xmlns:v="urn:schemas-microsoft-com:vml" Requires="v">
                <p:oleObj name="Equation" r:id="rId4" imgW="1866900" imgH="914400" progId="Equation.DSMT4">
                  <p:embed/>
                </p:oleObj>
              </mc:Choice>
              <mc:Fallback>
                <p:oleObj name="Equation" r:id="rId4" imgW="1866900" imgH="914400" progId="Equation.DSMT4">
                  <p:embed/>
                  <p:pic>
                    <p:nvPicPr>
                      <p:cNvPr id="6349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0407" y="3364582"/>
                        <a:ext cx="2295391" cy="117132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6683850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22"/>
          <p:cNvSpPr>
            <a:spLocks noGrp="1" noChangeArrowheads="1"/>
          </p:cNvSpPr>
          <p:nvPr>
            <p:ph type="title"/>
          </p:nvPr>
        </p:nvSpPr>
        <p:spPr>
          <a:xfrm>
            <a:off x="1636922" y="773113"/>
            <a:ext cx="4598319" cy="990600"/>
          </a:xfrm>
        </p:spPr>
        <p:txBody>
          <a:bodyPr>
            <a:normAutofit/>
          </a:bodyPr>
          <a:lstStyle/>
          <a:p>
            <a:pPr eaLnBrk="1" hangingPunct="1"/>
            <a:r>
              <a:rPr lang="en-US" altLang="zh-CN" sz="3600" b="1" i="1" dirty="0">
                <a:effectLst/>
                <a:sym typeface="Symbol" panose="05050102010706020507" pitchFamily="18" charset="2"/>
              </a:rPr>
              <a:t></a:t>
            </a:r>
            <a:r>
              <a:rPr lang="en-US" altLang="zh-CN" sz="3600" b="1" baseline="30000" dirty="0">
                <a:effectLst/>
                <a:sym typeface="Symbol" panose="05050102010706020507" pitchFamily="18" charset="2"/>
              </a:rPr>
              <a:t>2</a:t>
            </a:r>
            <a:r>
              <a:rPr lang="zh-CN" altLang="en-US" sz="3600" b="1" dirty="0">
                <a:effectLst/>
              </a:rPr>
              <a:t>分布的上侧分位数</a:t>
            </a:r>
          </a:p>
        </p:txBody>
      </p:sp>
      <p:grpSp>
        <p:nvGrpSpPr>
          <p:cNvPr id="15" name="组合 14"/>
          <p:cNvGrpSpPr/>
          <p:nvPr/>
        </p:nvGrpSpPr>
        <p:grpSpPr>
          <a:xfrm>
            <a:off x="6235241" y="644275"/>
            <a:ext cx="2895600" cy="1828800"/>
            <a:chOff x="6089651" y="523959"/>
            <a:chExt cx="2895600" cy="1828800"/>
          </a:xfrm>
        </p:grpSpPr>
        <p:grpSp>
          <p:nvGrpSpPr>
            <p:cNvPr id="59396" name="Group 21"/>
            <p:cNvGrpSpPr>
              <a:grpSpLocks/>
            </p:cNvGrpSpPr>
            <p:nvPr/>
          </p:nvGrpSpPr>
          <p:grpSpPr bwMode="auto">
            <a:xfrm>
              <a:off x="6089651" y="523959"/>
              <a:ext cx="2895600" cy="1828800"/>
              <a:chOff x="875" y="816"/>
              <a:chExt cx="1824" cy="1152"/>
            </a:xfrm>
          </p:grpSpPr>
          <p:sp>
            <p:nvSpPr>
              <p:cNvPr id="59400" name="Freeform 4"/>
              <p:cNvSpPr>
                <a:spLocks/>
              </p:cNvSpPr>
              <p:nvPr/>
            </p:nvSpPr>
            <p:spPr bwMode="auto">
              <a:xfrm>
                <a:off x="969" y="945"/>
                <a:ext cx="1563" cy="670"/>
              </a:xfrm>
              <a:custGeom>
                <a:avLst/>
                <a:gdLst>
                  <a:gd name="T0" fmla="*/ 0 w 1563"/>
                  <a:gd name="T1" fmla="*/ 670 h 670"/>
                  <a:gd name="T2" fmla="*/ 131 w 1563"/>
                  <a:gd name="T3" fmla="*/ 416 h 670"/>
                  <a:gd name="T4" fmla="*/ 220 w 1563"/>
                  <a:gd name="T5" fmla="*/ 261 h 670"/>
                  <a:gd name="T6" fmla="*/ 358 w 1563"/>
                  <a:gd name="T7" fmla="*/ 50 h 670"/>
                  <a:gd name="T8" fmla="*/ 481 w 1563"/>
                  <a:gd name="T9" fmla="*/ 34 h 670"/>
                  <a:gd name="T10" fmla="*/ 643 w 1563"/>
                  <a:gd name="T11" fmla="*/ 253 h 670"/>
                  <a:gd name="T12" fmla="*/ 830 w 1563"/>
                  <a:gd name="T13" fmla="*/ 432 h 670"/>
                  <a:gd name="T14" fmla="*/ 952 w 1563"/>
                  <a:gd name="T15" fmla="*/ 523 h 670"/>
                  <a:gd name="T16" fmla="*/ 1250 w 1563"/>
                  <a:gd name="T17" fmla="*/ 634 h 670"/>
                  <a:gd name="T18" fmla="*/ 1563 w 1563"/>
                  <a:gd name="T19" fmla="*/ 662 h 6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63"/>
                  <a:gd name="T31" fmla="*/ 0 h 670"/>
                  <a:gd name="T32" fmla="*/ 1563 w 1563"/>
                  <a:gd name="T33" fmla="*/ 670 h 6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63" h="670">
                    <a:moveTo>
                      <a:pt x="0" y="670"/>
                    </a:moveTo>
                    <a:cubicBezTo>
                      <a:pt x="22" y="628"/>
                      <a:pt x="94" y="484"/>
                      <a:pt x="131" y="416"/>
                    </a:cubicBezTo>
                    <a:cubicBezTo>
                      <a:pt x="168" y="348"/>
                      <a:pt x="182" y="322"/>
                      <a:pt x="220" y="261"/>
                    </a:cubicBezTo>
                    <a:cubicBezTo>
                      <a:pt x="258" y="200"/>
                      <a:pt x="314" y="88"/>
                      <a:pt x="358" y="50"/>
                    </a:cubicBezTo>
                    <a:cubicBezTo>
                      <a:pt x="402" y="12"/>
                      <a:pt x="433" y="0"/>
                      <a:pt x="481" y="34"/>
                    </a:cubicBezTo>
                    <a:cubicBezTo>
                      <a:pt x="529" y="68"/>
                      <a:pt x="585" y="187"/>
                      <a:pt x="643" y="253"/>
                    </a:cubicBezTo>
                    <a:cubicBezTo>
                      <a:pt x="701" y="319"/>
                      <a:pt x="778" y="387"/>
                      <a:pt x="830" y="432"/>
                    </a:cubicBezTo>
                    <a:cubicBezTo>
                      <a:pt x="882" y="477"/>
                      <a:pt x="882" y="489"/>
                      <a:pt x="952" y="523"/>
                    </a:cubicBezTo>
                    <a:cubicBezTo>
                      <a:pt x="1022" y="557"/>
                      <a:pt x="1148" y="611"/>
                      <a:pt x="1250" y="634"/>
                    </a:cubicBezTo>
                    <a:cubicBezTo>
                      <a:pt x="1352" y="657"/>
                      <a:pt x="1498" y="656"/>
                      <a:pt x="1563" y="662"/>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01" name="Line 5"/>
              <p:cNvSpPr>
                <a:spLocks noChangeShapeType="1"/>
              </p:cNvSpPr>
              <p:nvPr/>
            </p:nvSpPr>
            <p:spPr bwMode="auto">
              <a:xfrm>
                <a:off x="875" y="1632"/>
                <a:ext cx="182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2" name="Line 6"/>
              <p:cNvSpPr>
                <a:spLocks noChangeShapeType="1"/>
              </p:cNvSpPr>
              <p:nvPr/>
            </p:nvSpPr>
            <p:spPr bwMode="auto">
              <a:xfrm flipV="1">
                <a:off x="971" y="816"/>
                <a:ext cx="0" cy="96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3" name="Line 7"/>
              <p:cNvSpPr>
                <a:spLocks noChangeShapeType="1"/>
              </p:cNvSpPr>
              <p:nvPr/>
            </p:nvSpPr>
            <p:spPr bwMode="auto">
              <a:xfrm>
                <a:off x="1883" y="144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4" name="Line 8"/>
              <p:cNvSpPr>
                <a:spLocks noChangeShapeType="1"/>
              </p:cNvSpPr>
              <p:nvPr/>
            </p:nvSpPr>
            <p:spPr bwMode="auto">
              <a:xfrm>
                <a:off x="1973" y="1480"/>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5" name="Line 9"/>
              <p:cNvSpPr>
                <a:spLocks noChangeShapeType="1"/>
              </p:cNvSpPr>
              <p:nvPr/>
            </p:nvSpPr>
            <p:spPr bwMode="auto">
              <a:xfrm>
                <a:off x="2075"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6" name="Line 10"/>
              <p:cNvSpPr>
                <a:spLocks noChangeShapeType="1"/>
              </p:cNvSpPr>
              <p:nvPr/>
            </p:nvSpPr>
            <p:spPr bwMode="auto">
              <a:xfrm>
                <a:off x="2171" y="1584"/>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9407" name="Object 11"/>
              <p:cNvGraphicFramePr>
                <a:graphicFrameLocks noChangeAspect="1"/>
              </p:cNvGraphicFramePr>
              <p:nvPr/>
            </p:nvGraphicFramePr>
            <p:xfrm>
              <a:off x="2075" y="1200"/>
              <a:ext cx="251" cy="251"/>
            </p:xfrm>
            <a:graphic>
              <a:graphicData uri="http://schemas.openxmlformats.org/presentationml/2006/ole">
                <mc:AlternateContent xmlns:mc="http://schemas.openxmlformats.org/markup-compatibility/2006">
                  <mc:Choice xmlns:v="urn:schemas-microsoft-com:vml" Requires="v">
                    <p:oleObj name="公式" r:id="rId2" imgW="126725" imgH="126725" progId="Equation.3">
                      <p:embed/>
                    </p:oleObj>
                  </mc:Choice>
                  <mc:Fallback>
                    <p:oleObj name="公式" r:id="rId2" imgW="126725" imgH="126725" progId="Equation.3">
                      <p:embed/>
                      <p:pic>
                        <p:nvPicPr>
                          <p:cNvPr id="59407"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5" y="1200"/>
                            <a:ext cx="251"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08" name="Object 12"/>
              <p:cNvGraphicFramePr>
                <a:graphicFrameLocks noChangeAspect="1"/>
              </p:cNvGraphicFramePr>
              <p:nvPr/>
            </p:nvGraphicFramePr>
            <p:xfrm>
              <a:off x="1595" y="1632"/>
              <a:ext cx="298" cy="336"/>
            </p:xfrm>
            <a:graphic>
              <a:graphicData uri="http://schemas.openxmlformats.org/presentationml/2006/ole">
                <mc:AlternateContent xmlns:mc="http://schemas.openxmlformats.org/markup-compatibility/2006">
                  <mc:Choice xmlns:v="urn:schemas-microsoft-com:vml" Requires="v">
                    <p:oleObj name="公式" r:id="rId4" imgW="190335" imgH="215713" progId="Equation.3">
                      <p:embed/>
                    </p:oleObj>
                  </mc:Choice>
                  <mc:Fallback>
                    <p:oleObj name="公式" r:id="rId4" imgW="190335" imgH="215713" progId="Equation.3">
                      <p:embed/>
                      <p:pic>
                        <p:nvPicPr>
                          <p:cNvPr id="59408"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5" y="1632"/>
                            <a:ext cx="29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409" name="Line 13"/>
              <p:cNvSpPr>
                <a:spLocks noChangeShapeType="1"/>
              </p:cNvSpPr>
              <p:nvPr/>
            </p:nvSpPr>
            <p:spPr bwMode="auto">
              <a:xfrm flipV="1">
                <a:off x="1860" y="1361"/>
                <a:ext cx="265" cy="19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0" name="Line 15"/>
              <p:cNvSpPr>
                <a:spLocks noChangeShapeType="1"/>
              </p:cNvSpPr>
              <p:nvPr/>
            </p:nvSpPr>
            <p:spPr bwMode="auto">
              <a:xfrm>
                <a:off x="1739" y="1344"/>
                <a:ext cx="0" cy="28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1" name="Line 17"/>
              <p:cNvSpPr>
                <a:spLocks noChangeShapeType="1"/>
              </p:cNvSpPr>
              <p:nvPr/>
            </p:nvSpPr>
            <p:spPr bwMode="auto">
              <a:xfrm>
                <a:off x="1791" y="1389"/>
                <a:ext cx="0" cy="2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2" name="Line 18"/>
              <p:cNvSpPr>
                <a:spLocks noChangeShapeType="1"/>
              </p:cNvSpPr>
              <p:nvPr/>
            </p:nvSpPr>
            <p:spPr bwMode="auto">
              <a:xfrm>
                <a:off x="1837" y="1434"/>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3" name="Line 19"/>
              <p:cNvSpPr>
                <a:spLocks noChangeShapeType="1"/>
              </p:cNvSpPr>
              <p:nvPr/>
            </p:nvSpPr>
            <p:spPr bwMode="auto">
              <a:xfrm>
                <a:off x="2018" y="1480"/>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4" name="Line 20"/>
              <p:cNvSpPr>
                <a:spLocks noChangeShapeType="1"/>
              </p:cNvSpPr>
              <p:nvPr/>
            </p:nvSpPr>
            <p:spPr bwMode="auto">
              <a:xfrm>
                <a:off x="1927" y="1480"/>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9398" name="Oval 23"/>
            <p:cNvSpPr>
              <a:spLocks noChangeArrowheads="1"/>
            </p:cNvSpPr>
            <p:nvPr/>
          </p:nvSpPr>
          <p:spPr bwMode="auto">
            <a:xfrm>
              <a:off x="7411284" y="1773148"/>
              <a:ext cx="107950" cy="107950"/>
            </a:xfrm>
            <a:prstGeom prst="ellipse">
              <a:avLst/>
            </a:prstGeom>
            <a:solidFill>
              <a:srgbClr val="FF0000"/>
            </a:solidFill>
            <a:ln w="12700">
              <a:solidFill>
                <a:schemeClr val="tx1"/>
              </a:solidFill>
              <a:round/>
              <a:headEnd/>
              <a:tailEnd/>
            </a:ln>
          </p:spPr>
          <p:txBody>
            <a:bodyPr wrap="none" anchor="ctr"/>
            <a:lstStyle>
              <a:lvl1pPr>
                <a:spcBef>
                  <a:spcPct val="20000"/>
                </a:spcBef>
                <a:buSzPct val="90000"/>
                <a:buBlip>
                  <a:blip r:embed="rId6"/>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7"/>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8"/>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9"/>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0"/>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endParaRPr lang="zh-CN" altLang="en-US" sz="1800" b="0">
                <a:solidFill>
                  <a:schemeClr val="tx1"/>
                </a:solidFill>
                <a:latin typeface="Arial" panose="020B0604020202020204" pitchFamily="34" charset="0"/>
              </a:endParaRPr>
            </a:p>
          </p:txBody>
        </p:sp>
      </p:grpSp>
      <p:pic>
        <p:nvPicPr>
          <p:cNvPr id="14" name="图片 13"/>
          <p:cNvPicPr>
            <a:picLocks noChangeAspect="1"/>
          </p:cNvPicPr>
          <p:nvPr/>
        </p:nvPicPr>
        <p:blipFill>
          <a:blip r:embed="rId11"/>
          <a:stretch>
            <a:fillRect/>
          </a:stretch>
        </p:blipFill>
        <p:spPr>
          <a:xfrm>
            <a:off x="1387937" y="2655972"/>
            <a:ext cx="7103601" cy="1657860"/>
          </a:xfrm>
          <a:prstGeom prst="rect">
            <a:avLst/>
          </a:prstGeom>
        </p:spPr>
      </p:pic>
      <p:sp>
        <p:nvSpPr>
          <p:cNvPr id="36" name="Rectangle 3"/>
          <p:cNvSpPr>
            <a:spLocks noChangeArrowheads="1"/>
          </p:cNvSpPr>
          <p:nvPr/>
        </p:nvSpPr>
        <p:spPr bwMode="auto">
          <a:xfrm>
            <a:off x="1353221" y="4496729"/>
            <a:ext cx="7838240" cy="461665"/>
          </a:xfrm>
          <a:prstGeom prst="rect">
            <a:avLst/>
          </a:prstGeom>
          <a:noFill/>
          <a:ln w="9525">
            <a:noFill/>
            <a:miter lim="800000"/>
            <a:headEnd/>
            <a:tailEnd/>
          </a:ln>
          <a:effectLst/>
        </p:spPr>
        <p:txBody>
          <a:bodyPr wrap="square">
            <a:spAutoFit/>
          </a:bodyPr>
          <a:lstStyle/>
          <a:p>
            <a:pPr eaLnBrk="1" hangingPunct="1">
              <a:defRPr/>
            </a:pPr>
            <a:r>
              <a:rPr kumimoji="1" lang="zh-CN" altLang="en-US" sz="2400" dirty="0">
                <a:latin typeface="Times New Roman" pitchFamily="18" charset="0"/>
                <a:ea typeface="华文中宋" pitchFamily="2" charset="-122"/>
              </a:rPr>
              <a:t>附表</a:t>
            </a:r>
            <a:r>
              <a:rPr kumimoji="1" lang="en-US" altLang="zh-CN" sz="2400" dirty="0">
                <a:latin typeface="Times New Roman" pitchFamily="18" charset="0"/>
                <a:ea typeface="华文中宋" pitchFamily="2" charset="-122"/>
              </a:rPr>
              <a:t>A-3</a:t>
            </a:r>
            <a:r>
              <a:rPr kumimoji="1" lang="zh-CN" altLang="en-US" sz="2400" dirty="0">
                <a:latin typeface="Times New Roman" pitchFamily="18" charset="0"/>
                <a:ea typeface="华文中宋" pitchFamily="2" charset="-122"/>
              </a:rPr>
              <a:t>中给出了自由度</a:t>
            </a:r>
            <a:r>
              <a:rPr kumimoji="1" lang="en-US" altLang="zh-CN" sz="2400" b="1" i="1" dirty="0">
                <a:latin typeface="Times New Roman" pitchFamily="18" charset="0"/>
                <a:ea typeface="华文中宋" pitchFamily="2" charset="-122"/>
              </a:rPr>
              <a:t>n</a:t>
            </a:r>
            <a:r>
              <a:rPr kumimoji="1" lang="en-US" altLang="zh-CN" sz="2400" b="1" dirty="0">
                <a:latin typeface="Times New Roman" pitchFamily="18" charset="0"/>
                <a:ea typeface="华文中宋" pitchFamily="2" charset="-122"/>
                <a:cs typeface="Times New Roman" pitchFamily="18" charset="0"/>
              </a:rPr>
              <a:t>≤45</a:t>
            </a:r>
            <a:r>
              <a:rPr kumimoji="1" lang="zh-CN" altLang="en-US" sz="2400" dirty="0">
                <a:latin typeface="Times New Roman" pitchFamily="18" charset="0"/>
                <a:ea typeface="华文中宋" pitchFamily="2" charset="-122"/>
                <a:cs typeface="Times New Roman" pitchFamily="18" charset="0"/>
              </a:rPr>
              <a:t>的</a:t>
            </a:r>
            <a:r>
              <a:rPr kumimoji="1" lang="zh-CN" altLang="en-US" sz="2400" dirty="0">
                <a:latin typeface="Times New Roman" pitchFamily="18" charset="0"/>
                <a:ea typeface="华文中宋" pitchFamily="2" charset="-122"/>
                <a:cs typeface="Times New Roman" pitchFamily="18" charset="0"/>
                <a:sym typeface="Symbol" pitchFamily="18" charset="2"/>
              </a:rPr>
              <a:t></a:t>
            </a:r>
            <a:r>
              <a:rPr kumimoji="1" lang="en-US" altLang="zh-CN" sz="2400" baseline="30000" dirty="0">
                <a:latin typeface="Times New Roman" pitchFamily="18" charset="0"/>
                <a:ea typeface="华文中宋" pitchFamily="2" charset="-122"/>
                <a:cs typeface="Times New Roman" pitchFamily="18" charset="0"/>
                <a:sym typeface="Symbol" pitchFamily="18" charset="2"/>
              </a:rPr>
              <a:t>2</a:t>
            </a:r>
            <a:r>
              <a:rPr kumimoji="1" lang="zh-CN" altLang="en-US" sz="2400" dirty="0">
                <a:latin typeface="Times New Roman" pitchFamily="18" charset="0"/>
                <a:ea typeface="华文中宋" pitchFamily="2" charset="-122"/>
              </a:rPr>
              <a:t>分布的上侧 </a:t>
            </a:r>
            <a:r>
              <a:rPr kumimoji="1" lang="el-GR" altLang="zh-CN" sz="2400" b="1" i="1" dirty="0">
                <a:effectLst>
                  <a:outerShdw blurRad="38100" dist="38100" dir="2700000" algn="tl">
                    <a:srgbClr val="C0C0C0"/>
                  </a:outerShdw>
                </a:effectLst>
                <a:latin typeface="Times New Roman" pitchFamily="18" charset="0"/>
                <a:ea typeface="华文中宋" pitchFamily="2" charset="-122"/>
              </a:rPr>
              <a:t>α</a:t>
            </a:r>
            <a:r>
              <a:rPr kumimoji="1" lang="en-US" altLang="zh-CN" sz="2400" b="1" i="1" dirty="0">
                <a:effectLst>
                  <a:outerShdw blurRad="38100" dist="38100" dir="2700000" algn="tl">
                    <a:srgbClr val="C0C0C0"/>
                  </a:outerShdw>
                </a:effectLst>
                <a:latin typeface="Times New Roman" pitchFamily="18" charset="0"/>
                <a:ea typeface="华文中宋" pitchFamily="2" charset="-122"/>
              </a:rPr>
              <a:t> </a:t>
            </a:r>
            <a:r>
              <a:rPr kumimoji="1" lang="zh-CN" altLang="en-US" sz="2400" dirty="0">
                <a:latin typeface="Times New Roman" pitchFamily="18" charset="0"/>
                <a:ea typeface="华文中宋" pitchFamily="2" charset="-122"/>
              </a:rPr>
              <a:t>分位数值。</a:t>
            </a:r>
            <a:endParaRPr kumimoji="1" lang="en-US" altLang="zh-CN" sz="2400" dirty="0">
              <a:latin typeface="Times New Roman" pitchFamily="18" charset="0"/>
              <a:ea typeface="华文中宋" pitchFamily="2" charset="-122"/>
            </a:endParaRPr>
          </a:p>
        </p:txBody>
      </p:sp>
      <p:grpSp>
        <p:nvGrpSpPr>
          <p:cNvPr id="38" name="Group 5"/>
          <p:cNvGrpSpPr>
            <a:grpSpLocks/>
          </p:cNvGrpSpPr>
          <p:nvPr/>
        </p:nvGrpSpPr>
        <p:grpSpPr bwMode="auto">
          <a:xfrm>
            <a:off x="1514977" y="5206091"/>
            <a:ext cx="3108325" cy="463550"/>
            <a:chOff x="672" y="2688"/>
            <a:chExt cx="1958" cy="292"/>
          </a:xfrm>
        </p:grpSpPr>
        <p:sp>
          <p:nvSpPr>
            <p:cNvPr id="39" name="Rectangle 6"/>
            <p:cNvSpPr>
              <a:spLocks noChangeArrowheads="1"/>
            </p:cNvSpPr>
            <p:nvPr/>
          </p:nvSpPr>
          <p:spPr bwMode="auto">
            <a:xfrm>
              <a:off x="672" y="2688"/>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90000"/>
                <a:buBlip>
                  <a:blip r:embed="rId6"/>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7"/>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8"/>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9"/>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0"/>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400" b="0" dirty="0">
                  <a:solidFill>
                    <a:schemeClr val="tx1"/>
                  </a:solidFill>
                  <a:latin typeface="Times New Roman" panose="02020603050405020304" pitchFamily="18" charset="0"/>
                  <a:ea typeface="华文中宋" panose="02010600040101010101" pitchFamily="2" charset="-122"/>
                </a:rPr>
                <a:t>如对于</a:t>
              </a:r>
            </a:p>
          </p:txBody>
        </p:sp>
        <p:graphicFrame>
          <p:nvGraphicFramePr>
            <p:cNvPr id="40" name="Object 7"/>
            <p:cNvGraphicFramePr>
              <a:graphicFrameLocks noChangeAspect="1"/>
            </p:cNvGraphicFramePr>
            <p:nvPr/>
          </p:nvGraphicFramePr>
          <p:xfrm>
            <a:off x="1344" y="2704"/>
            <a:ext cx="1286" cy="276"/>
          </p:xfrm>
          <a:graphic>
            <a:graphicData uri="http://schemas.openxmlformats.org/presentationml/2006/ole">
              <mc:AlternateContent xmlns:mc="http://schemas.openxmlformats.org/markup-compatibility/2006">
                <mc:Choice xmlns:v="urn:schemas-microsoft-com:vml" Requires="v">
                  <p:oleObj name="Equation" r:id="rId12" imgW="939392" imgH="203112" progId="Equation.DSMT4">
                    <p:embed/>
                  </p:oleObj>
                </mc:Choice>
                <mc:Fallback>
                  <p:oleObj name="Equation" r:id="rId12" imgW="939392" imgH="203112" progId="Equation.DSMT4">
                    <p:embed/>
                    <p:pic>
                      <p:nvPicPr>
                        <p:cNvPr id="60426"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44" y="2704"/>
                          <a:ext cx="1286"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1" name="Object 9"/>
          <p:cNvGraphicFramePr>
            <a:graphicFrameLocks noChangeAspect="1"/>
          </p:cNvGraphicFramePr>
          <p:nvPr>
            <p:extLst>
              <p:ext uri="{D42A27DB-BD31-4B8C-83A1-F6EECF244321}">
                <p14:modId xmlns:p14="http://schemas.microsoft.com/office/powerpoint/2010/main" val="4256421423"/>
              </p:ext>
            </p:extLst>
          </p:nvPr>
        </p:nvGraphicFramePr>
        <p:xfrm>
          <a:off x="6110542" y="5148941"/>
          <a:ext cx="2513013" cy="520700"/>
        </p:xfrm>
        <a:graphic>
          <a:graphicData uri="http://schemas.openxmlformats.org/presentationml/2006/ole">
            <mc:AlternateContent xmlns:mc="http://schemas.openxmlformats.org/markup-compatibility/2006">
              <mc:Choice xmlns:v="urn:schemas-microsoft-com:vml" Requires="v">
                <p:oleObj name="Equation" r:id="rId14" imgW="1155700" imgH="241300" progId="Equation.DSMT4">
                  <p:embed/>
                </p:oleObj>
              </mc:Choice>
              <mc:Fallback>
                <p:oleObj name="Equation" r:id="rId14" imgW="1155700" imgH="241300" progId="Equation.DSMT4">
                  <p:embed/>
                  <p:pic>
                    <p:nvPicPr>
                      <p:cNvPr id="60421"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10542" y="5148941"/>
                        <a:ext cx="2513013"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文本框 15"/>
          <p:cNvSpPr txBox="1"/>
          <p:nvPr/>
        </p:nvSpPr>
        <p:spPr>
          <a:xfrm>
            <a:off x="5012469" y="5201626"/>
            <a:ext cx="1355266" cy="461665"/>
          </a:xfrm>
          <a:prstGeom prst="rect">
            <a:avLst/>
          </a:prstGeom>
          <a:noFill/>
        </p:spPr>
        <p:txBody>
          <a:bodyPr wrap="square" rtlCol="0">
            <a:spAutoFit/>
          </a:bodyPr>
          <a:lstStyle/>
          <a:p>
            <a:r>
              <a:rPr lang="zh-CN" altLang="en-US" sz="2400" dirty="0"/>
              <a:t>查表得</a:t>
            </a:r>
          </a:p>
        </p:txBody>
      </p:sp>
    </p:spTree>
    <p:extLst>
      <p:ext uri="{BB962C8B-B14F-4D97-AF65-F5344CB8AC3E}">
        <p14:creationId xmlns:p14="http://schemas.microsoft.com/office/powerpoint/2010/main" val="5964326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76" name="Rectangle 20"/>
          <p:cNvSpPr>
            <a:spLocks noGrp="1" noChangeArrowheads="1"/>
          </p:cNvSpPr>
          <p:nvPr>
            <p:ph type="body" idx="1"/>
          </p:nvPr>
        </p:nvSpPr>
        <p:spPr>
          <a:xfrm>
            <a:off x="1780424" y="1050759"/>
            <a:ext cx="7772400" cy="455613"/>
          </a:xfrm>
        </p:spPr>
        <p:txBody>
          <a:bodyPr>
            <a:normAutofit fontScale="92500"/>
          </a:bodyPr>
          <a:lstStyle/>
          <a:p>
            <a:pPr>
              <a:lnSpc>
                <a:spcPct val="80000"/>
              </a:lnSpc>
              <a:buNone/>
            </a:pPr>
            <a:r>
              <a:rPr lang="zh-CN" altLang="en-US" sz="2800" dirty="0">
                <a:solidFill>
                  <a:schemeClr val="tx2"/>
                </a:solidFill>
              </a:rPr>
              <a:t>通过</a:t>
            </a:r>
            <a:r>
              <a:rPr lang="en-US" altLang="zh-CN" sz="2800" dirty="0">
                <a:solidFill>
                  <a:schemeClr val="tx2"/>
                </a:solidFill>
              </a:rPr>
              <a:t>EXCEL</a:t>
            </a:r>
            <a:r>
              <a:rPr lang="zh-CN" altLang="en-US" sz="2800" dirty="0">
                <a:solidFill>
                  <a:schemeClr val="tx2"/>
                </a:solidFill>
              </a:rPr>
              <a:t>查</a:t>
            </a:r>
            <a:r>
              <a:rPr lang="en-US" altLang="zh-CN" sz="2800" b="1" i="1" dirty="0">
                <a:sym typeface="Symbol" panose="05050102010706020507" pitchFamily="18" charset="2"/>
              </a:rPr>
              <a:t></a:t>
            </a:r>
            <a:r>
              <a:rPr lang="en-US" altLang="zh-CN" sz="2800" b="1" baseline="30000" dirty="0">
                <a:sym typeface="Symbol" panose="05050102010706020507" pitchFamily="18" charset="2"/>
              </a:rPr>
              <a:t>2</a:t>
            </a:r>
            <a:r>
              <a:rPr lang="zh-CN" altLang="en-US" sz="2800" b="1" dirty="0"/>
              <a:t>分布的上侧分位数</a:t>
            </a:r>
            <a:r>
              <a:rPr lang="zh-CN" altLang="en-US" sz="2400" dirty="0">
                <a:solidFill>
                  <a:schemeClr val="tx2"/>
                </a:solidFill>
              </a:rPr>
              <a:t>，</a:t>
            </a:r>
            <a:r>
              <a:rPr lang="zh-CN" altLang="en-US" sz="2800" dirty="0">
                <a:solidFill>
                  <a:schemeClr val="tx2"/>
                </a:solidFill>
              </a:rPr>
              <a:t>函数为</a:t>
            </a:r>
            <a:r>
              <a:rPr lang="en-US" altLang="zh-CN" sz="2800" dirty="0">
                <a:solidFill>
                  <a:srgbClr val="CC00FF"/>
                </a:solidFill>
              </a:rPr>
              <a:t>CHIINV</a:t>
            </a:r>
            <a:r>
              <a:rPr lang="zh-CN" altLang="en-US" sz="2800" dirty="0">
                <a:solidFill>
                  <a:schemeClr val="tx2"/>
                </a:solidFill>
              </a:rPr>
              <a:t>。</a:t>
            </a:r>
          </a:p>
        </p:txBody>
      </p:sp>
      <p:sp>
        <p:nvSpPr>
          <p:cNvPr id="10" name="Rectangle 20"/>
          <p:cNvSpPr txBox="1">
            <a:spLocks noChangeArrowheads="1"/>
          </p:cNvSpPr>
          <p:nvPr/>
        </p:nvSpPr>
        <p:spPr bwMode="auto">
          <a:xfrm>
            <a:off x="1666124" y="5216944"/>
            <a:ext cx="8404308" cy="455612"/>
          </a:xfrm>
          <a:prstGeom prst="rect">
            <a:avLst/>
          </a:prstGeom>
          <a:noFill/>
          <a:ln w="9525">
            <a:noFill/>
            <a:miter lim="800000"/>
            <a:headEnd/>
            <a:tailEnd/>
          </a:ln>
        </p:spPr>
        <p:txBody>
          <a:bodyPr/>
          <a:lstStyle/>
          <a:p>
            <a:pPr marL="342900" indent="-342900">
              <a:lnSpc>
                <a:spcPct val="80000"/>
              </a:lnSpc>
              <a:spcBef>
                <a:spcPct val="20000"/>
              </a:spcBef>
              <a:buSzPct val="90000"/>
              <a:defRPr/>
            </a:pPr>
            <a:r>
              <a:rPr lang="zh-CN" altLang="en-US" sz="2800" b="1" kern="0" dirty="0">
                <a:solidFill>
                  <a:schemeClr val="tx2"/>
                </a:solidFill>
              </a:rPr>
              <a:t>反之，已知卡方分位数查</a:t>
            </a:r>
            <a:r>
              <a:rPr lang="zh-CN" altLang="en-US" sz="2800" b="1" kern="0" dirty="0">
                <a:solidFill>
                  <a:srgbClr val="7030A0"/>
                </a:solidFill>
              </a:rPr>
              <a:t>右尾概率</a:t>
            </a:r>
            <a:r>
              <a:rPr lang="zh-CN" altLang="en-US" sz="2800" b="1" kern="0" dirty="0">
                <a:solidFill>
                  <a:schemeClr val="tx2"/>
                </a:solidFill>
              </a:rPr>
              <a:t>，函数为</a:t>
            </a:r>
            <a:r>
              <a:rPr lang="en-US" altLang="zh-CN" sz="2800" b="1" kern="0" dirty="0">
                <a:solidFill>
                  <a:srgbClr val="CC00FF"/>
                </a:solidFill>
              </a:rPr>
              <a:t>CHIDIST</a:t>
            </a:r>
            <a:endParaRPr lang="zh-CN" altLang="en-US" sz="2800" b="1" kern="0" dirty="0">
              <a:solidFill>
                <a:schemeClr val="tx2"/>
              </a:solidFill>
            </a:endParaRPr>
          </a:p>
        </p:txBody>
      </p:sp>
      <p:pic>
        <p:nvPicPr>
          <p:cNvPr id="6042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050" y="1795380"/>
            <a:ext cx="6265862" cy="296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943329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672643" y="885911"/>
                <a:ext cx="8469978" cy="5333761"/>
              </a:xfrm>
            </p:spPr>
            <p:txBody>
              <a:bodyPr>
                <a:noAutofit/>
              </a:bodyPr>
              <a:lstStyle/>
              <a:p>
                <a:pPr marL="0" indent="0" defTabSz="914400">
                  <a:lnSpc>
                    <a:spcPct val="150000"/>
                  </a:lnSpc>
                  <a:spcBef>
                    <a:spcPts val="600"/>
                  </a:spcBef>
                  <a:spcAft>
                    <a:spcPts val="0"/>
                  </a:spcAft>
                  <a:buNone/>
                </a:pPr>
                <a:r>
                  <a:rPr lang="zh-CN" altLang="en-US" sz="2800" b="1" dirty="0">
                    <a:solidFill>
                      <a:srgbClr val="0070C0"/>
                    </a:solidFill>
                    <a:latin typeface="黑体" panose="02010609060101010101" pitchFamily="49" charset="-122"/>
                    <a:ea typeface="黑体" panose="02010609060101010101" pitchFamily="49" charset="-122"/>
                  </a:rPr>
                  <a:t>（</a:t>
                </a:r>
                <a:r>
                  <a:rPr lang="en-US" altLang="zh-CN" sz="2800" b="1" dirty="0">
                    <a:solidFill>
                      <a:srgbClr val="0070C0"/>
                    </a:solidFill>
                    <a:latin typeface="黑体" panose="02010609060101010101" pitchFamily="49" charset="-122"/>
                    <a:ea typeface="黑体" panose="02010609060101010101" pitchFamily="49" charset="-122"/>
                  </a:rPr>
                  <a:t>3</a:t>
                </a:r>
                <a:r>
                  <a:rPr lang="zh-CN" altLang="en-US" sz="2800" b="1" dirty="0">
                    <a:solidFill>
                      <a:srgbClr val="0070C0"/>
                    </a:solidFill>
                    <a:latin typeface="黑体" panose="02010609060101010101" pitchFamily="49" charset="-122"/>
                    <a:ea typeface="黑体" panose="02010609060101010101" pitchFamily="49" charset="-122"/>
                  </a:rPr>
                  <a:t>）</a:t>
                </a:r>
                <a:r>
                  <a:rPr lang="en-US" altLang="zh-CN" sz="2800" b="1" dirty="0">
                    <a:solidFill>
                      <a:srgbClr val="0070C0"/>
                    </a:solidFill>
                    <a:latin typeface="黑体" panose="02010609060101010101" pitchFamily="49" charset="-122"/>
                    <a:ea typeface="黑体" panose="02010609060101010101" pitchFamily="49" charset="-122"/>
                  </a:rPr>
                  <a:t> </a:t>
                </a:r>
                <a14:m>
                  <m:oMath xmlns:m="http://schemas.openxmlformats.org/officeDocument/2006/math">
                    <m:sSup>
                      <m:sSupPr>
                        <m:ctrlPr>
                          <a:rPr lang="en-US" altLang="zh-CN" sz="2800" b="1" i="1">
                            <a:solidFill>
                              <a:srgbClr val="0070C0"/>
                            </a:solidFill>
                            <a:latin typeface="Cambria Math" panose="02040503050406030204" pitchFamily="18" charset="0"/>
                            <a:ea typeface="黑体" panose="02010609060101010101" pitchFamily="49" charset="-122"/>
                          </a:rPr>
                        </m:ctrlPr>
                      </m:sSupPr>
                      <m:e>
                        <m:r>
                          <a:rPr lang="zh-CN" altLang="en-US" sz="2800" b="1">
                            <a:solidFill>
                              <a:srgbClr val="0070C0"/>
                            </a:solidFill>
                            <a:latin typeface="Cambria Math" panose="02040503050406030204" pitchFamily="18" charset="0"/>
                            <a:ea typeface="黑体" panose="02010609060101010101" pitchFamily="49" charset="-122"/>
                          </a:rPr>
                          <m:t>𝜒</m:t>
                        </m:r>
                      </m:e>
                      <m:sup>
                        <m:r>
                          <a:rPr lang="en-US" altLang="zh-CN" sz="2800" b="1">
                            <a:solidFill>
                              <a:srgbClr val="0070C0"/>
                            </a:solidFill>
                            <a:latin typeface="Cambria Math" panose="02040503050406030204" pitchFamily="18" charset="0"/>
                            <a:ea typeface="黑体" panose="02010609060101010101" pitchFamily="49" charset="-122"/>
                          </a:rPr>
                          <m:t>2</m:t>
                        </m:r>
                      </m:sup>
                    </m:sSup>
                  </m:oMath>
                </a14:m>
                <a:r>
                  <a:rPr lang="zh-CN" altLang="en-US" sz="2800" b="1" dirty="0">
                    <a:solidFill>
                      <a:srgbClr val="0070C0"/>
                    </a:solidFill>
                    <a:latin typeface="黑体" panose="02010609060101010101" pitchFamily="49" charset="-122"/>
                    <a:ea typeface="黑体" panose="02010609060101010101" pitchFamily="49" charset="-122"/>
                  </a:rPr>
                  <a:t>分布的可加性</a:t>
                </a:r>
              </a:p>
              <a:p>
                <a:pPr marL="0" lvl="0" indent="0">
                  <a:lnSpc>
                    <a:spcPct val="150000"/>
                  </a:lnSpc>
                  <a:spcBef>
                    <a:spcPts val="0"/>
                  </a:spcBef>
                  <a:spcAft>
                    <a:spcPts val="0"/>
                  </a:spcAft>
                  <a:buNone/>
                </a:pPr>
                <a:r>
                  <a:rPr lang="zh-CN" altLang="en-US" sz="2800" dirty="0">
                    <a:solidFill>
                      <a:schemeClr val="tx1"/>
                    </a:solidFill>
                    <a:ea typeface="宋体" panose="02010600030101010101" pitchFamily="2" charset="-122"/>
                  </a:rPr>
                  <a:t>若随机变量</a:t>
                </a:r>
                <a14:m>
                  <m:oMath xmlns:m="http://schemas.openxmlformats.org/officeDocument/2006/math">
                    <m:r>
                      <a:rPr lang="en-US" altLang="zh-CN" sz="2800" b="0" i="1" dirty="0" smtClean="0">
                        <a:solidFill>
                          <a:schemeClr val="tx1"/>
                        </a:solidFill>
                        <a:latin typeface="Cambria Math" charset="0"/>
                        <a:ea typeface="宋体" panose="02010600030101010101" pitchFamily="2" charset="-122"/>
                      </a:rPr>
                      <m:t>𝑋</m:t>
                    </m:r>
                    <m:r>
                      <a:rPr lang="en-US" altLang="zh-CN" sz="2800" b="0" i="1" dirty="0" smtClean="0">
                        <a:solidFill>
                          <a:schemeClr val="tx1"/>
                        </a:solidFill>
                        <a:latin typeface="Cambria Math" charset="0"/>
                        <a:ea typeface="宋体" panose="02010600030101010101" pitchFamily="2" charset="-122"/>
                      </a:rPr>
                      <m:t>~</m:t>
                    </m:r>
                    <m:sSup>
                      <m:sSupPr>
                        <m:ctrlPr>
                          <a:rPr lang="en-US" altLang="zh-CN" sz="2800" b="0" i="1" dirty="0" smtClean="0">
                            <a:solidFill>
                              <a:schemeClr val="tx1"/>
                            </a:solidFill>
                            <a:latin typeface="Cambria Math" panose="02040503050406030204" pitchFamily="18" charset="0"/>
                            <a:ea typeface="宋体" panose="02010600030101010101" pitchFamily="2" charset="-122"/>
                          </a:rPr>
                        </m:ctrlPr>
                      </m:sSupPr>
                      <m:e>
                        <m:r>
                          <a:rPr lang="en-US" altLang="zh-CN" sz="2800" b="0" i="1" dirty="0" smtClean="0">
                            <a:solidFill>
                              <a:schemeClr val="tx1"/>
                            </a:solidFill>
                            <a:latin typeface="Cambria Math" charset="0"/>
                            <a:ea typeface="宋体" panose="02010600030101010101" pitchFamily="2" charset="-122"/>
                          </a:rPr>
                          <m:t>𝜒</m:t>
                        </m:r>
                      </m:e>
                      <m:sup>
                        <m:r>
                          <a:rPr lang="en-US" altLang="zh-CN" sz="2800" b="0" i="1" dirty="0" smtClean="0">
                            <a:solidFill>
                              <a:schemeClr val="tx1"/>
                            </a:solidFill>
                            <a:latin typeface="Cambria Math" charset="0"/>
                            <a:ea typeface="宋体" panose="02010600030101010101" pitchFamily="2" charset="-122"/>
                          </a:rPr>
                          <m:t>2</m:t>
                        </m:r>
                      </m:sup>
                    </m:sSup>
                    <m:d>
                      <m:dPr>
                        <m:ctrlPr>
                          <a:rPr lang="en-US" altLang="zh-CN" sz="2800" b="0" i="1" dirty="0" smtClean="0">
                            <a:solidFill>
                              <a:schemeClr val="tx1"/>
                            </a:solidFill>
                            <a:latin typeface="Cambria Math" panose="02040503050406030204" pitchFamily="18" charset="0"/>
                            <a:ea typeface="宋体" panose="02010600030101010101" pitchFamily="2" charset="-122"/>
                          </a:rPr>
                        </m:ctrlPr>
                      </m:dPr>
                      <m:e>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𝑛</m:t>
                            </m:r>
                          </m:e>
                          <m:sub>
                            <m:r>
                              <a:rPr lang="en-US" altLang="zh-CN" sz="2800" b="0" i="1" dirty="0" smtClean="0">
                                <a:solidFill>
                                  <a:schemeClr val="tx1"/>
                                </a:solidFill>
                                <a:latin typeface="Cambria Math" charset="0"/>
                                <a:ea typeface="宋体" panose="02010600030101010101" pitchFamily="2" charset="-122"/>
                              </a:rPr>
                              <m:t>1</m:t>
                            </m:r>
                          </m:sub>
                        </m:sSub>
                      </m:e>
                    </m:d>
                    <m:r>
                      <a:rPr lang="en-US" altLang="zh-CN" sz="2800" b="0" i="1" dirty="0" smtClean="0">
                        <a:solidFill>
                          <a:schemeClr val="tx1"/>
                        </a:solidFill>
                        <a:latin typeface="Cambria Math" charset="0"/>
                        <a:ea typeface="宋体" panose="02010600030101010101" pitchFamily="2" charset="-122"/>
                      </a:rPr>
                      <m:t>,</m:t>
                    </m:r>
                    <m:r>
                      <a:rPr lang="en-US" altLang="zh-CN" sz="2800" b="0" i="1" dirty="0" smtClean="0">
                        <a:solidFill>
                          <a:schemeClr val="tx1"/>
                        </a:solidFill>
                        <a:latin typeface="Cambria Math" charset="0"/>
                        <a:ea typeface="宋体" panose="02010600030101010101" pitchFamily="2" charset="-122"/>
                      </a:rPr>
                      <m:t>𝑌</m:t>
                    </m:r>
                    <m:r>
                      <a:rPr lang="en-US" altLang="zh-CN" sz="2800" b="0" i="1" dirty="0" smtClean="0">
                        <a:solidFill>
                          <a:schemeClr val="tx1"/>
                        </a:solidFill>
                        <a:latin typeface="Cambria Math" charset="0"/>
                        <a:ea typeface="宋体" panose="02010600030101010101" pitchFamily="2" charset="-122"/>
                      </a:rPr>
                      <m:t>~</m:t>
                    </m:r>
                    <m:sSup>
                      <m:sSupPr>
                        <m:ctrlPr>
                          <a:rPr lang="en-US" altLang="zh-CN" sz="2800" b="0" i="1" dirty="0" smtClean="0">
                            <a:solidFill>
                              <a:schemeClr val="tx1"/>
                            </a:solidFill>
                            <a:latin typeface="Cambria Math" panose="02040503050406030204" pitchFamily="18" charset="0"/>
                            <a:ea typeface="宋体" panose="02010600030101010101" pitchFamily="2" charset="-122"/>
                          </a:rPr>
                        </m:ctrlPr>
                      </m:sSupPr>
                      <m:e>
                        <m:r>
                          <a:rPr lang="en-US" altLang="zh-CN" sz="2800" b="0" i="1" dirty="0" smtClean="0">
                            <a:solidFill>
                              <a:schemeClr val="tx1"/>
                            </a:solidFill>
                            <a:latin typeface="Cambria Math" charset="0"/>
                            <a:ea typeface="宋体" panose="02010600030101010101" pitchFamily="2" charset="-122"/>
                          </a:rPr>
                          <m:t>𝜒</m:t>
                        </m:r>
                      </m:e>
                      <m:sup>
                        <m:r>
                          <a:rPr lang="en-US" altLang="zh-CN" sz="2800" b="0" i="1" dirty="0" smtClean="0">
                            <a:solidFill>
                              <a:schemeClr val="tx1"/>
                            </a:solidFill>
                            <a:latin typeface="Cambria Math" charset="0"/>
                            <a:ea typeface="宋体" panose="02010600030101010101" pitchFamily="2" charset="-122"/>
                          </a:rPr>
                          <m:t>2</m:t>
                        </m:r>
                      </m:sup>
                    </m:sSup>
                    <m:r>
                      <a:rPr lang="en-US" altLang="zh-CN" sz="2800" b="0" i="1" dirty="0" smtClean="0">
                        <a:solidFill>
                          <a:schemeClr val="tx1"/>
                        </a:solidFill>
                        <a:latin typeface="Cambria Math" charset="0"/>
                        <a:ea typeface="宋体" panose="02010600030101010101" pitchFamily="2" charset="-122"/>
                      </a:rPr>
                      <m:t>(</m:t>
                    </m:r>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𝑛</m:t>
                        </m:r>
                      </m:e>
                      <m:sub>
                        <m:r>
                          <a:rPr lang="en-US" altLang="zh-CN" sz="2800" b="0" i="1" dirty="0" smtClean="0">
                            <a:solidFill>
                              <a:schemeClr val="tx1"/>
                            </a:solidFill>
                            <a:latin typeface="Cambria Math" charset="0"/>
                            <a:ea typeface="宋体" panose="02010600030101010101" pitchFamily="2" charset="-122"/>
                          </a:rPr>
                          <m:t>2</m:t>
                        </m:r>
                      </m:sub>
                    </m:sSub>
                    <m:r>
                      <a:rPr lang="en-US" altLang="zh-CN" sz="2800" b="0" i="1" dirty="0" smtClean="0">
                        <a:solidFill>
                          <a:schemeClr val="tx1"/>
                        </a:solidFill>
                        <a:latin typeface="Cambria Math" charset="0"/>
                        <a:ea typeface="宋体" panose="02010600030101010101" pitchFamily="2" charset="-122"/>
                      </a:rPr>
                      <m:t>)</m:t>
                    </m:r>
                  </m:oMath>
                </a14:m>
                <a:r>
                  <a:rPr lang="zh-CN" altLang="en-US" sz="2800" dirty="0">
                    <a:solidFill>
                      <a:schemeClr val="tx1"/>
                    </a:solidFill>
                    <a:latin typeface="宋体" panose="02010600030101010101" pitchFamily="2" charset="-122"/>
                    <a:ea typeface="宋体" panose="02010600030101010101" pitchFamily="2" charset="-122"/>
                  </a:rPr>
                  <a:t>，且两变量独立，则</a:t>
                </a:r>
                <a:endParaRPr lang="en-US" altLang="zh-CN" sz="2800" dirty="0">
                  <a:solidFill>
                    <a:schemeClr val="tx1"/>
                  </a:solidFill>
                  <a:latin typeface="宋体" panose="02010600030101010101" pitchFamily="2" charset="-122"/>
                  <a:ea typeface="宋体" panose="02010600030101010101" pitchFamily="2" charset="-122"/>
                </a:endParaRPr>
              </a:p>
              <a:p>
                <a:pPr marL="0" lvl="0" indent="0">
                  <a:lnSpc>
                    <a:spcPct val="15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800" b="0" i="1" dirty="0" smtClean="0">
                          <a:solidFill>
                            <a:schemeClr val="tx1"/>
                          </a:solidFill>
                          <a:latin typeface="Cambria Math" charset="0"/>
                          <a:ea typeface="宋体" panose="02010600030101010101" pitchFamily="2" charset="-122"/>
                        </a:rPr>
                        <m:t>𝑋</m:t>
                      </m:r>
                      <m:r>
                        <a:rPr lang="en-US" altLang="zh-CN" sz="2800" b="0" i="1" dirty="0" smtClean="0">
                          <a:solidFill>
                            <a:schemeClr val="tx1"/>
                          </a:solidFill>
                          <a:latin typeface="Cambria Math" charset="0"/>
                          <a:ea typeface="宋体" panose="02010600030101010101" pitchFamily="2" charset="-122"/>
                        </a:rPr>
                        <m:t>+</m:t>
                      </m:r>
                      <m:r>
                        <a:rPr lang="en-US" altLang="zh-CN" sz="2800" b="0" i="1" dirty="0" smtClean="0">
                          <a:solidFill>
                            <a:schemeClr val="tx1"/>
                          </a:solidFill>
                          <a:latin typeface="Cambria Math" charset="0"/>
                          <a:ea typeface="宋体" panose="02010600030101010101" pitchFamily="2" charset="-122"/>
                        </a:rPr>
                        <m:t>𝑌</m:t>
                      </m:r>
                      <m:r>
                        <a:rPr lang="en-US" altLang="zh-CN" sz="2800" b="0" i="1" dirty="0" smtClean="0">
                          <a:solidFill>
                            <a:schemeClr val="tx1"/>
                          </a:solidFill>
                          <a:latin typeface="Cambria Math" charset="0"/>
                          <a:ea typeface="宋体" panose="02010600030101010101" pitchFamily="2" charset="-122"/>
                        </a:rPr>
                        <m:t>~</m:t>
                      </m:r>
                      <m:sSup>
                        <m:sSupPr>
                          <m:ctrlPr>
                            <a:rPr lang="en-US" altLang="zh-CN" sz="2800" b="0" i="1" dirty="0" smtClean="0">
                              <a:solidFill>
                                <a:schemeClr val="tx1"/>
                              </a:solidFill>
                              <a:latin typeface="Cambria Math" panose="02040503050406030204" pitchFamily="18" charset="0"/>
                              <a:ea typeface="宋体" panose="02010600030101010101" pitchFamily="2" charset="-122"/>
                            </a:rPr>
                          </m:ctrlPr>
                        </m:sSupPr>
                        <m:e>
                          <m:r>
                            <a:rPr lang="en-US" altLang="zh-CN" sz="2800" b="0" i="1" dirty="0" smtClean="0">
                              <a:solidFill>
                                <a:schemeClr val="tx1"/>
                              </a:solidFill>
                              <a:latin typeface="Cambria Math" charset="0"/>
                              <a:ea typeface="宋体" panose="02010600030101010101" pitchFamily="2" charset="-122"/>
                            </a:rPr>
                            <m:t>𝜒</m:t>
                          </m:r>
                        </m:e>
                        <m:sup>
                          <m:r>
                            <a:rPr lang="en-US" altLang="zh-CN" sz="2800" b="0" i="1" dirty="0" smtClean="0">
                              <a:solidFill>
                                <a:schemeClr val="tx1"/>
                              </a:solidFill>
                              <a:latin typeface="Cambria Math" charset="0"/>
                              <a:ea typeface="宋体" panose="02010600030101010101" pitchFamily="2" charset="-122"/>
                            </a:rPr>
                            <m:t>2</m:t>
                          </m:r>
                        </m:sup>
                      </m:sSup>
                      <m:d>
                        <m:dPr>
                          <m:ctrlPr>
                            <a:rPr lang="en-US" altLang="zh-CN" sz="2800" b="0" i="1" dirty="0" smtClean="0">
                              <a:solidFill>
                                <a:schemeClr val="tx1"/>
                              </a:solidFill>
                              <a:latin typeface="Cambria Math" panose="02040503050406030204" pitchFamily="18" charset="0"/>
                              <a:ea typeface="宋体" panose="02010600030101010101" pitchFamily="2" charset="-122"/>
                            </a:rPr>
                          </m:ctrlPr>
                        </m:dPr>
                        <m:e>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𝑛</m:t>
                              </m:r>
                            </m:e>
                            <m:sub>
                              <m:r>
                                <a:rPr lang="en-US" altLang="zh-CN" sz="2800" b="0" i="1" dirty="0" smtClean="0">
                                  <a:solidFill>
                                    <a:schemeClr val="tx1"/>
                                  </a:solidFill>
                                  <a:latin typeface="Cambria Math" charset="0"/>
                                  <a:ea typeface="宋体" panose="02010600030101010101" pitchFamily="2" charset="-122"/>
                                </a:rPr>
                                <m:t>1</m:t>
                              </m:r>
                            </m:sub>
                          </m:sSub>
                          <m:r>
                            <a:rPr lang="en-US" altLang="zh-CN" sz="2800" b="0" i="1" dirty="0" smtClean="0">
                              <a:solidFill>
                                <a:schemeClr val="tx1"/>
                              </a:solidFill>
                              <a:latin typeface="Cambria Math" charset="0"/>
                              <a:ea typeface="宋体" panose="02010600030101010101" pitchFamily="2" charset="-122"/>
                            </a:rPr>
                            <m:t>+</m:t>
                          </m:r>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𝑛</m:t>
                              </m:r>
                            </m:e>
                            <m:sub>
                              <m:r>
                                <a:rPr lang="en-US" altLang="zh-CN" sz="2800" b="0" i="1" dirty="0" smtClean="0">
                                  <a:solidFill>
                                    <a:schemeClr val="tx1"/>
                                  </a:solidFill>
                                  <a:latin typeface="Cambria Math" charset="0"/>
                                  <a:ea typeface="宋体" panose="02010600030101010101" pitchFamily="2" charset="-122"/>
                                </a:rPr>
                                <m:t>2</m:t>
                              </m:r>
                            </m:sub>
                          </m:sSub>
                        </m:e>
                      </m:d>
                    </m:oMath>
                  </m:oMathPara>
                </a14:m>
                <a:endParaRPr lang="en-US" altLang="zh-CN" sz="2800" b="0" dirty="0">
                  <a:solidFill>
                    <a:schemeClr val="tx1"/>
                  </a:solidFill>
                  <a:latin typeface="宋体" panose="02010600030101010101" pitchFamily="2" charset="-122"/>
                  <a:ea typeface="宋体" panose="02010600030101010101" pitchFamily="2" charset="-122"/>
                </a:endParaRPr>
              </a:p>
              <a:p>
                <a:pPr marL="0" lvl="0" indent="0">
                  <a:lnSpc>
                    <a:spcPct val="150000"/>
                  </a:lnSpc>
                  <a:spcBef>
                    <a:spcPts val="0"/>
                  </a:spcBef>
                  <a:spcAft>
                    <a:spcPts val="0"/>
                  </a:spcAft>
                  <a:buNone/>
                </a:pPr>
                <a:r>
                  <a:rPr lang="zh-CN" altLang="en-US" sz="2400" dirty="0">
                    <a:solidFill>
                      <a:schemeClr val="tx1"/>
                    </a:solidFill>
                    <a:latin typeface="宋体" panose="02010600030101010101" pitchFamily="2" charset="-122"/>
                    <a:ea typeface="宋体" panose="02010600030101010101" pitchFamily="2" charset="-122"/>
                  </a:rPr>
                  <a:t>   该性质严格证明需要用到概率论中随机变量的特征函数，这里只给出一个帮助大家理解的说明。</a:t>
                </a:r>
                <a:endParaRPr lang="en-US" altLang="zh-CN" sz="2400" dirty="0">
                  <a:solidFill>
                    <a:schemeClr val="tx1"/>
                  </a:solidFill>
                  <a:latin typeface="宋体" panose="02010600030101010101" pitchFamily="2" charset="-122"/>
                  <a:ea typeface="宋体" panose="02010600030101010101" pitchFamily="2" charset="-122"/>
                </a:endParaRPr>
              </a:p>
              <a:p>
                <a:pPr marL="0" lvl="0" indent="0">
                  <a:lnSpc>
                    <a:spcPct val="150000"/>
                  </a:lnSpc>
                  <a:spcBef>
                    <a:spcPts val="0"/>
                  </a:spcBef>
                  <a:spcAft>
                    <a:spcPts val="0"/>
                  </a:spcAft>
                  <a:buNone/>
                </a:pPr>
                <a14:m>
                  <m:oMath xmlns:m="http://schemas.openxmlformats.org/officeDocument/2006/math">
                    <m:r>
                      <a:rPr lang="en-US" altLang="zh-CN" sz="2800" i="1" dirty="0">
                        <a:solidFill>
                          <a:schemeClr val="tx1"/>
                        </a:solidFill>
                        <a:latin typeface="Cambria Math" charset="0"/>
                        <a:ea typeface="宋体" panose="02010600030101010101" pitchFamily="2" charset="-122"/>
                      </a:rPr>
                      <m:t>𝑋</m:t>
                    </m:r>
                    <m:r>
                      <a:rPr lang="en-US" altLang="zh-CN" sz="2800" b="0" i="1" dirty="0" smtClean="0">
                        <a:solidFill>
                          <a:schemeClr val="tx1"/>
                        </a:solidFill>
                        <a:latin typeface="Cambria Math" charset="0"/>
                        <a:ea typeface="宋体" panose="02010600030101010101" pitchFamily="2" charset="-122"/>
                      </a:rPr>
                      <m:t>=</m:t>
                    </m:r>
                    <m:nary>
                      <m:naryPr>
                        <m:chr m:val="∑"/>
                        <m:ctrlPr>
                          <a:rPr lang="en-US" altLang="zh-CN" sz="2800" b="0" i="1" dirty="0" smtClean="0">
                            <a:solidFill>
                              <a:schemeClr val="tx1"/>
                            </a:solidFill>
                            <a:latin typeface="Cambria Math" panose="02040503050406030204" pitchFamily="18" charset="0"/>
                            <a:ea typeface="宋体" panose="02010600030101010101" pitchFamily="2" charset="-122"/>
                          </a:rPr>
                        </m:ctrlPr>
                      </m:naryPr>
                      <m:sub>
                        <m:r>
                          <m:rPr>
                            <m:brk m:alnAt="23"/>
                          </m:rPr>
                          <a:rPr lang="en-US" altLang="zh-CN" sz="2800" b="0" i="1" dirty="0" smtClean="0">
                            <a:solidFill>
                              <a:schemeClr val="tx1"/>
                            </a:solidFill>
                            <a:latin typeface="Cambria Math" charset="0"/>
                            <a:ea typeface="宋体" panose="02010600030101010101" pitchFamily="2" charset="-122"/>
                          </a:rPr>
                          <m:t>𝑖</m:t>
                        </m:r>
                        <m:r>
                          <a:rPr lang="en-US" altLang="zh-CN" sz="2800" b="0" i="1" dirty="0" smtClean="0">
                            <a:solidFill>
                              <a:schemeClr val="tx1"/>
                            </a:solidFill>
                            <a:latin typeface="Cambria Math" charset="0"/>
                            <a:ea typeface="宋体" panose="02010600030101010101" pitchFamily="2" charset="-122"/>
                          </a:rPr>
                          <m:t>=1</m:t>
                        </m:r>
                      </m:sub>
                      <m:sup>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𝑛</m:t>
                            </m:r>
                          </m:e>
                          <m:sub>
                            <m:r>
                              <a:rPr lang="en-US" altLang="zh-CN" sz="2800" b="0" i="1" dirty="0" smtClean="0">
                                <a:solidFill>
                                  <a:schemeClr val="tx1"/>
                                </a:solidFill>
                                <a:latin typeface="Cambria Math" charset="0"/>
                                <a:ea typeface="宋体" panose="02010600030101010101" pitchFamily="2" charset="-122"/>
                              </a:rPr>
                              <m:t>1</m:t>
                            </m:r>
                          </m:sub>
                        </m:sSub>
                      </m:sup>
                      <m:e>
                        <m:sSubSup>
                          <m:sSubSupPr>
                            <m:ctrlPr>
                              <a:rPr lang="en-US" altLang="zh-CN" sz="2800" b="0" i="1" dirty="0" smtClean="0">
                                <a:solidFill>
                                  <a:schemeClr val="tx1"/>
                                </a:solidFill>
                                <a:latin typeface="Cambria Math" panose="02040503050406030204" pitchFamily="18" charset="0"/>
                                <a:ea typeface="宋体" panose="02010600030101010101" pitchFamily="2" charset="-122"/>
                              </a:rPr>
                            </m:ctrlPr>
                          </m:sSubSupPr>
                          <m:e>
                            <m:r>
                              <a:rPr lang="en-US" altLang="zh-CN" sz="2800" b="0" i="1" dirty="0" smtClean="0">
                                <a:solidFill>
                                  <a:schemeClr val="tx1"/>
                                </a:solidFill>
                                <a:latin typeface="Cambria Math" charset="0"/>
                                <a:ea typeface="宋体" panose="02010600030101010101" pitchFamily="2" charset="-122"/>
                              </a:rPr>
                              <m:t>𝑋</m:t>
                            </m:r>
                          </m:e>
                          <m:sub>
                            <m:r>
                              <a:rPr lang="en-US" altLang="zh-CN" sz="2800" b="0" i="1" dirty="0" smtClean="0">
                                <a:solidFill>
                                  <a:schemeClr val="tx1"/>
                                </a:solidFill>
                                <a:latin typeface="Cambria Math" charset="0"/>
                                <a:ea typeface="宋体" panose="02010600030101010101" pitchFamily="2" charset="-122"/>
                              </a:rPr>
                              <m:t>𝑖</m:t>
                            </m:r>
                          </m:sub>
                          <m:sup>
                            <m:r>
                              <a:rPr lang="en-US" altLang="zh-CN" sz="2800" b="0" i="1" dirty="0" smtClean="0">
                                <a:solidFill>
                                  <a:schemeClr val="tx1"/>
                                </a:solidFill>
                                <a:latin typeface="Cambria Math" charset="0"/>
                                <a:ea typeface="宋体" panose="02010600030101010101" pitchFamily="2" charset="-122"/>
                              </a:rPr>
                              <m:t>2</m:t>
                            </m:r>
                          </m:sup>
                        </m:sSubSup>
                      </m:e>
                    </m:nary>
                    <m:r>
                      <a:rPr lang="en-US" altLang="zh-CN" sz="2800" b="0" i="1" dirty="0" smtClean="0">
                        <a:solidFill>
                          <a:schemeClr val="tx1"/>
                        </a:solidFill>
                        <a:latin typeface="Cambria Math" charset="0"/>
                        <a:ea typeface="宋体" panose="02010600030101010101" pitchFamily="2" charset="-122"/>
                      </a:rPr>
                      <m:t>~</m:t>
                    </m:r>
                    <m:sSup>
                      <m:sSupPr>
                        <m:ctrlPr>
                          <a:rPr lang="en-US" altLang="zh-CN" sz="2800" i="1" dirty="0">
                            <a:solidFill>
                              <a:schemeClr val="tx1"/>
                            </a:solidFill>
                            <a:latin typeface="Cambria Math" panose="02040503050406030204" pitchFamily="18" charset="0"/>
                            <a:ea typeface="宋体" panose="02010600030101010101" pitchFamily="2" charset="-122"/>
                          </a:rPr>
                        </m:ctrlPr>
                      </m:sSupPr>
                      <m:e>
                        <m:r>
                          <a:rPr lang="en-US" altLang="zh-CN" sz="2800" i="1" dirty="0">
                            <a:solidFill>
                              <a:schemeClr val="tx1"/>
                            </a:solidFill>
                            <a:latin typeface="Cambria Math" charset="0"/>
                            <a:ea typeface="宋体" panose="02010600030101010101" pitchFamily="2" charset="-122"/>
                          </a:rPr>
                          <m:t>𝜒</m:t>
                        </m:r>
                      </m:e>
                      <m:sup>
                        <m:r>
                          <a:rPr lang="en-US" altLang="zh-CN" sz="2800" i="1" dirty="0">
                            <a:solidFill>
                              <a:schemeClr val="tx1"/>
                            </a:solidFill>
                            <a:latin typeface="Cambria Math" charset="0"/>
                            <a:ea typeface="宋体" panose="02010600030101010101" pitchFamily="2" charset="-122"/>
                          </a:rPr>
                          <m:t>2</m:t>
                        </m:r>
                      </m:sup>
                    </m:sSup>
                    <m:d>
                      <m:dPr>
                        <m:ctrlPr>
                          <a:rPr lang="en-US" altLang="zh-CN" sz="2800" i="1" dirty="0">
                            <a:solidFill>
                              <a:schemeClr val="tx1"/>
                            </a:solidFill>
                            <a:latin typeface="Cambria Math" panose="02040503050406030204" pitchFamily="18" charset="0"/>
                            <a:ea typeface="宋体" panose="02010600030101010101" pitchFamily="2" charset="-122"/>
                          </a:rPr>
                        </m:ctrlPr>
                      </m:dPr>
                      <m:e>
                        <m:sSub>
                          <m:sSubPr>
                            <m:ctrlPr>
                              <a:rPr lang="en-US" altLang="zh-CN" sz="2800" i="1" dirty="0">
                                <a:solidFill>
                                  <a:schemeClr val="tx1"/>
                                </a:solidFill>
                                <a:latin typeface="Cambria Math" panose="02040503050406030204" pitchFamily="18" charset="0"/>
                                <a:ea typeface="宋体" panose="02010600030101010101" pitchFamily="2" charset="-122"/>
                              </a:rPr>
                            </m:ctrlPr>
                          </m:sSubPr>
                          <m:e>
                            <m:r>
                              <a:rPr lang="en-US" altLang="zh-CN" sz="2800" i="1" dirty="0">
                                <a:solidFill>
                                  <a:schemeClr val="tx1"/>
                                </a:solidFill>
                                <a:latin typeface="Cambria Math" charset="0"/>
                                <a:ea typeface="宋体" panose="02010600030101010101" pitchFamily="2" charset="-122"/>
                              </a:rPr>
                              <m:t>𝑛</m:t>
                            </m:r>
                          </m:e>
                          <m:sub>
                            <m:r>
                              <a:rPr lang="en-US" altLang="zh-CN" sz="2800" i="1" dirty="0">
                                <a:solidFill>
                                  <a:schemeClr val="tx1"/>
                                </a:solidFill>
                                <a:latin typeface="Cambria Math" charset="0"/>
                                <a:ea typeface="宋体" panose="02010600030101010101" pitchFamily="2" charset="-122"/>
                              </a:rPr>
                              <m:t>1</m:t>
                            </m:r>
                          </m:sub>
                        </m:sSub>
                      </m:e>
                    </m:d>
                  </m:oMath>
                </a14:m>
                <a:r>
                  <a:rPr lang="zh-CN" altLang="en-US" sz="2800" dirty="0">
                    <a:solidFill>
                      <a:schemeClr val="tx1"/>
                    </a:solidFill>
                    <a:latin typeface="宋体" panose="02010600030101010101" pitchFamily="2" charset="-122"/>
                    <a:ea typeface="宋体" panose="02010600030101010101" pitchFamily="2" charset="-122"/>
                  </a:rPr>
                  <a:t>且</a:t>
                </a:r>
                <a14:m>
                  <m:oMath xmlns:m="http://schemas.openxmlformats.org/officeDocument/2006/math">
                    <m:r>
                      <a:rPr lang="en-US" altLang="zh-CN" sz="2800" b="0" i="1" dirty="0" smtClean="0">
                        <a:solidFill>
                          <a:schemeClr val="tx1"/>
                        </a:solidFill>
                        <a:latin typeface="Cambria Math" charset="0"/>
                        <a:ea typeface="宋体" panose="02010600030101010101" pitchFamily="2" charset="-122"/>
                      </a:rPr>
                      <m:t>𝑌</m:t>
                    </m:r>
                    <m:r>
                      <a:rPr lang="en-US" altLang="zh-CN" sz="2800" i="1" dirty="0">
                        <a:solidFill>
                          <a:schemeClr val="tx1"/>
                        </a:solidFill>
                        <a:latin typeface="Cambria Math" charset="0"/>
                        <a:ea typeface="宋体" panose="02010600030101010101" pitchFamily="2" charset="-122"/>
                      </a:rPr>
                      <m:t>=</m:t>
                    </m:r>
                    <m:nary>
                      <m:naryPr>
                        <m:chr m:val="∑"/>
                        <m:ctrlPr>
                          <a:rPr lang="en-US" altLang="zh-CN" sz="2800" i="1" dirty="0">
                            <a:solidFill>
                              <a:schemeClr val="tx1"/>
                            </a:solidFill>
                            <a:latin typeface="Cambria Math" panose="02040503050406030204" pitchFamily="18" charset="0"/>
                            <a:ea typeface="宋体" panose="02010600030101010101" pitchFamily="2" charset="-122"/>
                          </a:rPr>
                        </m:ctrlPr>
                      </m:naryPr>
                      <m:sub>
                        <m:r>
                          <a:rPr lang="en-US" altLang="zh-CN" sz="2800" b="0" i="1" dirty="0" smtClean="0">
                            <a:solidFill>
                              <a:schemeClr val="tx1"/>
                            </a:solidFill>
                            <a:latin typeface="Cambria Math" charset="0"/>
                            <a:ea typeface="宋体" panose="02010600030101010101" pitchFamily="2" charset="-122"/>
                          </a:rPr>
                          <m:t>𝑗</m:t>
                        </m:r>
                        <m:r>
                          <a:rPr lang="en-US" altLang="zh-CN" sz="2800" i="1" dirty="0">
                            <a:solidFill>
                              <a:schemeClr val="tx1"/>
                            </a:solidFill>
                            <a:latin typeface="Cambria Math" charset="0"/>
                            <a:ea typeface="宋体" panose="02010600030101010101" pitchFamily="2" charset="-122"/>
                          </a:rPr>
                          <m:t>=1</m:t>
                        </m:r>
                      </m:sub>
                      <m:sup>
                        <m:sSub>
                          <m:sSubPr>
                            <m:ctrlPr>
                              <a:rPr lang="en-US" altLang="zh-CN" sz="2800" i="1" dirty="0">
                                <a:solidFill>
                                  <a:schemeClr val="tx1"/>
                                </a:solidFill>
                                <a:latin typeface="Cambria Math" panose="02040503050406030204" pitchFamily="18" charset="0"/>
                                <a:ea typeface="宋体" panose="02010600030101010101" pitchFamily="2" charset="-122"/>
                              </a:rPr>
                            </m:ctrlPr>
                          </m:sSubPr>
                          <m:e>
                            <m:r>
                              <a:rPr lang="en-US" altLang="zh-CN" sz="2800" i="1" dirty="0">
                                <a:solidFill>
                                  <a:schemeClr val="tx1"/>
                                </a:solidFill>
                                <a:latin typeface="Cambria Math" charset="0"/>
                                <a:ea typeface="宋体" panose="02010600030101010101" pitchFamily="2" charset="-122"/>
                              </a:rPr>
                              <m:t>𝑛</m:t>
                            </m:r>
                          </m:e>
                          <m:sub>
                            <m:r>
                              <a:rPr lang="en-US" altLang="zh-CN" sz="2800" b="0" i="1" dirty="0" smtClean="0">
                                <a:solidFill>
                                  <a:schemeClr val="tx1"/>
                                </a:solidFill>
                                <a:latin typeface="Cambria Math" charset="0"/>
                                <a:ea typeface="宋体" panose="02010600030101010101" pitchFamily="2" charset="-122"/>
                              </a:rPr>
                              <m:t>2</m:t>
                            </m:r>
                          </m:sub>
                        </m:sSub>
                      </m:sup>
                      <m:e>
                        <m:sSubSup>
                          <m:sSubSupPr>
                            <m:ctrlPr>
                              <a:rPr lang="en-US" altLang="zh-CN" sz="2800" i="1" dirty="0">
                                <a:solidFill>
                                  <a:schemeClr val="tx1"/>
                                </a:solidFill>
                                <a:latin typeface="Cambria Math" panose="02040503050406030204" pitchFamily="18" charset="0"/>
                                <a:ea typeface="宋体" panose="02010600030101010101" pitchFamily="2" charset="-122"/>
                              </a:rPr>
                            </m:ctrlPr>
                          </m:sSubSupPr>
                          <m:e>
                            <m:r>
                              <a:rPr lang="en-US" altLang="zh-CN" sz="2800" b="0" i="1" dirty="0" smtClean="0">
                                <a:solidFill>
                                  <a:schemeClr val="tx1"/>
                                </a:solidFill>
                                <a:latin typeface="Cambria Math" charset="0"/>
                                <a:ea typeface="宋体" panose="02010600030101010101" pitchFamily="2" charset="-122"/>
                              </a:rPr>
                              <m:t>𝑌</m:t>
                            </m:r>
                          </m:e>
                          <m:sub>
                            <m:r>
                              <a:rPr lang="en-US" altLang="zh-CN" sz="2800" b="0" i="1" dirty="0" smtClean="0">
                                <a:solidFill>
                                  <a:schemeClr val="tx1"/>
                                </a:solidFill>
                                <a:latin typeface="Cambria Math" charset="0"/>
                                <a:ea typeface="宋体" panose="02010600030101010101" pitchFamily="2" charset="-122"/>
                              </a:rPr>
                              <m:t>𝑗</m:t>
                            </m:r>
                          </m:sub>
                          <m:sup>
                            <m:r>
                              <a:rPr lang="en-US" altLang="zh-CN" sz="2800" i="1" dirty="0">
                                <a:solidFill>
                                  <a:schemeClr val="tx1"/>
                                </a:solidFill>
                                <a:latin typeface="Cambria Math" charset="0"/>
                                <a:ea typeface="宋体" panose="02010600030101010101" pitchFamily="2" charset="-122"/>
                              </a:rPr>
                              <m:t>2</m:t>
                            </m:r>
                          </m:sup>
                        </m:sSubSup>
                      </m:e>
                    </m:nary>
                    <m:r>
                      <a:rPr lang="en-US" altLang="zh-CN" sz="2800" i="1" dirty="0">
                        <a:solidFill>
                          <a:schemeClr val="tx1"/>
                        </a:solidFill>
                        <a:latin typeface="Cambria Math" charset="0"/>
                        <a:ea typeface="宋体" panose="02010600030101010101" pitchFamily="2" charset="-122"/>
                      </a:rPr>
                      <m:t>~</m:t>
                    </m:r>
                    <m:sSup>
                      <m:sSupPr>
                        <m:ctrlPr>
                          <a:rPr lang="en-US" altLang="zh-CN" sz="2800" i="1" dirty="0">
                            <a:solidFill>
                              <a:schemeClr val="tx1"/>
                            </a:solidFill>
                            <a:latin typeface="Cambria Math" panose="02040503050406030204" pitchFamily="18" charset="0"/>
                            <a:ea typeface="宋体" panose="02010600030101010101" pitchFamily="2" charset="-122"/>
                          </a:rPr>
                        </m:ctrlPr>
                      </m:sSupPr>
                      <m:e>
                        <m:r>
                          <a:rPr lang="en-US" altLang="zh-CN" sz="2800" i="1" dirty="0">
                            <a:solidFill>
                              <a:schemeClr val="tx1"/>
                            </a:solidFill>
                            <a:latin typeface="Cambria Math" charset="0"/>
                            <a:ea typeface="宋体" panose="02010600030101010101" pitchFamily="2" charset="-122"/>
                          </a:rPr>
                          <m:t>𝜒</m:t>
                        </m:r>
                      </m:e>
                      <m:sup>
                        <m:r>
                          <a:rPr lang="en-US" altLang="zh-CN" sz="2800" i="1" dirty="0">
                            <a:solidFill>
                              <a:schemeClr val="tx1"/>
                            </a:solidFill>
                            <a:latin typeface="Cambria Math" charset="0"/>
                            <a:ea typeface="宋体" panose="02010600030101010101" pitchFamily="2" charset="-122"/>
                          </a:rPr>
                          <m:t>2</m:t>
                        </m:r>
                      </m:sup>
                    </m:sSup>
                    <m:d>
                      <m:dPr>
                        <m:ctrlPr>
                          <a:rPr lang="en-US" altLang="zh-CN" sz="2800" i="1" dirty="0">
                            <a:solidFill>
                              <a:schemeClr val="tx1"/>
                            </a:solidFill>
                            <a:latin typeface="Cambria Math" panose="02040503050406030204" pitchFamily="18" charset="0"/>
                            <a:ea typeface="宋体" panose="02010600030101010101" pitchFamily="2" charset="-122"/>
                          </a:rPr>
                        </m:ctrlPr>
                      </m:dPr>
                      <m:e>
                        <m:sSub>
                          <m:sSubPr>
                            <m:ctrlPr>
                              <a:rPr lang="en-US" altLang="zh-CN" sz="2800" i="1" dirty="0">
                                <a:solidFill>
                                  <a:schemeClr val="tx1"/>
                                </a:solidFill>
                                <a:latin typeface="Cambria Math" panose="02040503050406030204" pitchFamily="18" charset="0"/>
                                <a:ea typeface="宋体" panose="02010600030101010101" pitchFamily="2" charset="-122"/>
                              </a:rPr>
                            </m:ctrlPr>
                          </m:sSubPr>
                          <m:e>
                            <m:r>
                              <a:rPr lang="en-US" altLang="zh-CN" sz="2800" i="1" dirty="0">
                                <a:solidFill>
                                  <a:schemeClr val="tx1"/>
                                </a:solidFill>
                                <a:latin typeface="Cambria Math" charset="0"/>
                                <a:ea typeface="宋体" panose="02010600030101010101" pitchFamily="2" charset="-122"/>
                              </a:rPr>
                              <m:t>𝑛</m:t>
                            </m:r>
                          </m:e>
                          <m:sub>
                            <m:r>
                              <a:rPr lang="en-US" altLang="zh-CN" sz="2800" i="1" dirty="0">
                                <a:solidFill>
                                  <a:schemeClr val="tx1"/>
                                </a:solidFill>
                                <a:latin typeface="Cambria Math" charset="0"/>
                                <a:ea typeface="宋体" panose="02010600030101010101" pitchFamily="2" charset="-122"/>
                              </a:rPr>
                              <m:t>1</m:t>
                            </m:r>
                          </m:sub>
                        </m:sSub>
                      </m:e>
                    </m:d>
                  </m:oMath>
                </a14:m>
                <a:r>
                  <a:rPr lang="en-US" altLang="zh-CN" sz="2800" dirty="0">
                    <a:solidFill>
                      <a:schemeClr val="tx1"/>
                    </a:solidFill>
                    <a:latin typeface="宋体" panose="02010600030101010101" pitchFamily="2" charset="-122"/>
                    <a:ea typeface="宋体" panose="02010600030101010101" pitchFamily="2" charset="-122"/>
                  </a:rPr>
                  <a:t>,</a:t>
                </a:r>
                <a:r>
                  <a:rPr lang="en-US" altLang="zh-CN" sz="2800" dirty="0">
                    <a:solidFill>
                      <a:schemeClr val="tx1"/>
                    </a:solidFill>
                    <a:ea typeface="宋体" panose="02010600030101010101" pitchFamily="2" charset="-122"/>
                  </a:rPr>
                  <a:t> </a:t>
                </a:r>
                <a14:m>
                  <m:oMath xmlns:m="http://schemas.openxmlformats.org/officeDocument/2006/math">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𝑋</m:t>
                        </m:r>
                      </m:e>
                      <m:sub>
                        <m:r>
                          <a:rPr lang="en-US" altLang="zh-CN" sz="2800" b="0" i="1" dirty="0" smtClean="0">
                            <a:solidFill>
                              <a:schemeClr val="tx1"/>
                            </a:solidFill>
                            <a:latin typeface="Cambria Math" charset="0"/>
                            <a:ea typeface="宋体" panose="02010600030101010101" pitchFamily="2" charset="-122"/>
                          </a:rPr>
                          <m:t>𝑖</m:t>
                        </m:r>
                      </m:sub>
                    </m:sSub>
                    <m:r>
                      <a:rPr lang="en-US" altLang="zh-CN" sz="2800" b="0" i="1" dirty="0" smtClean="0">
                        <a:solidFill>
                          <a:schemeClr val="tx1"/>
                        </a:solidFill>
                        <a:latin typeface="Cambria Math" charset="0"/>
                        <a:ea typeface="宋体" panose="02010600030101010101" pitchFamily="2" charset="-122"/>
                      </a:rPr>
                      <m:t>,</m:t>
                    </m:r>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𝑌</m:t>
                        </m:r>
                      </m:e>
                      <m:sub>
                        <m:r>
                          <a:rPr lang="en-US" altLang="zh-CN" sz="2800" b="0" i="1" dirty="0" smtClean="0">
                            <a:solidFill>
                              <a:schemeClr val="tx1"/>
                            </a:solidFill>
                            <a:latin typeface="Cambria Math" charset="0"/>
                            <a:ea typeface="宋体" panose="02010600030101010101" pitchFamily="2" charset="-122"/>
                          </a:rPr>
                          <m:t>𝑗</m:t>
                        </m:r>
                      </m:sub>
                    </m:sSub>
                  </m:oMath>
                </a14:m>
                <a:r>
                  <a:rPr lang="zh-CN" altLang="en-US" sz="2800" dirty="0">
                    <a:solidFill>
                      <a:schemeClr val="tx1"/>
                    </a:solidFill>
                    <a:latin typeface="宋体" panose="02010600030101010101" pitchFamily="2" charset="-122"/>
                    <a:ea typeface="宋体" panose="02010600030101010101" pitchFamily="2" charset="-122"/>
                  </a:rPr>
                  <a:t>相互独立，则</a:t>
                </a:r>
                <a14:m>
                  <m:oMath xmlns:m="http://schemas.openxmlformats.org/officeDocument/2006/math">
                    <m:r>
                      <a:rPr lang="en-US" altLang="zh-CN" sz="2800" i="1" dirty="0">
                        <a:solidFill>
                          <a:schemeClr val="tx1"/>
                        </a:solidFill>
                        <a:latin typeface="Cambria Math" charset="0"/>
                        <a:ea typeface="宋体" panose="02010600030101010101" pitchFamily="2" charset="-122"/>
                      </a:rPr>
                      <m:t>𝑋</m:t>
                    </m:r>
                    <m:r>
                      <a:rPr lang="en-US" altLang="zh-CN" sz="2800" b="0" i="1" dirty="0" smtClean="0">
                        <a:solidFill>
                          <a:schemeClr val="tx1"/>
                        </a:solidFill>
                        <a:latin typeface="Cambria Math" charset="0"/>
                        <a:ea typeface="宋体" panose="02010600030101010101" pitchFamily="2" charset="-122"/>
                      </a:rPr>
                      <m:t>+</m:t>
                    </m:r>
                    <m:r>
                      <a:rPr lang="en-US" altLang="zh-CN" sz="2800" b="0" i="1" dirty="0" smtClean="0">
                        <a:solidFill>
                          <a:schemeClr val="tx1"/>
                        </a:solidFill>
                        <a:latin typeface="Cambria Math" charset="0"/>
                        <a:ea typeface="宋体" panose="02010600030101010101" pitchFamily="2" charset="-122"/>
                      </a:rPr>
                      <m:t>𝑌</m:t>
                    </m:r>
                    <m:r>
                      <a:rPr lang="en-US" altLang="zh-CN" sz="2800" i="1" dirty="0">
                        <a:solidFill>
                          <a:schemeClr val="tx1"/>
                        </a:solidFill>
                        <a:latin typeface="Cambria Math" charset="0"/>
                        <a:ea typeface="宋体" panose="02010600030101010101" pitchFamily="2" charset="-122"/>
                      </a:rPr>
                      <m:t>=</m:t>
                    </m:r>
                    <m:nary>
                      <m:naryPr>
                        <m:chr m:val="∑"/>
                        <m:ctrlPr>
                          <a:rPr lang="en-US" altLang="zh-CN" sz="2800" i="1" dirty="0">
                            <a:solidFill>
                              <a:schemeClr val="tx1"/>
                            </a:solidFill>
                            <a:latin typeface="Cambria Math" panose="02040503050406030204" pitchFamily="18" charset="0"/>
                            <a:ea typeface="宋体" panose="02010600030101010101" pitchFamily="2" charset="-122"/>
                          </a:rPr>
                        </m:ctrlPr>
                      </m:naryPr>
                      <m:sub>
                        <m:r>
                          <m:rPr>
                            <m:brk m:alnAt="23"/>
                          </m:rPr>
                          <a:rPr lang="en-US" altLang="zh-CN" sz="2800" i="1" dirty="0">
                            <a:solidFill>
                              <a:schemeClr val="tx1"/>
                            </a:solidFill>
                            <a:latin typeface="Cambria Math" charset="0"/>
                            <a:ea typeface="宋体" panose="02010600030101010101" pitchFamily="2" charset="-122"/>
                          </a:rPr>
                          <m:t>𝑖</m:t>
                        </m:r>
                        <m:r>
                          <a:rPr lang="en-US" altLang="zh-CN" sz="2800" i="1" dirty="0">
                            <a:solidFill>
                              <a:schemeClr val="tx1"/>
                            </a:solidFill>
                            <a:latin typeface="Cambria Math" charset="0"/>
                            <a:ea typeface="宋体" panose="02010600030101010101" pitchFamily="2" charset="-122"/>
                          </a:rPr>
                          <m:t>=1</m:t>
                        </m:r>
                      </m:sub>
                      <m:sup>
                        <m:sSub>
                          <m:sSubPr>
                            <m:ctrlPr>
                              <a:rPr lang="en-US" altLang="zh-CN" sz="2800" i="1" dirty="0">
                                <a:solidFill>
                                  <a:schemeClr val="tx1"/>
                                </a:solidFill>
                                <a:latin typeface="Cambria Math" panose="02040503050406030204" pitchFamily="18" charset="0"/>
                                <a:ea typeface="宋体" panose="02010600030101010101" pitchFamily="2" charset="-122"/>
                              </a:rPr>
                            </m:ctrlPr>
                          </m:sSubPr>
                          <m:e>
                            <m:r>
                              <a:rPr lang="en-US" altLang="zh-CN" sz="2800" i="1" dirty="0">
                                <a:solidFill>
                                  <a:schemeClr val="tx1"/>
                                </a:solidFill>
                                <a:latin typeface="Cambria Math" charset="0"/>
                                <a:ea typeface="宋体" panose="02010600030101010101" pitchFamily="2" charset="-122"/>
                              </a:rPr>
                              <m:t>𝑛</m:t>
                            </m:r>
                          </m:e>
                          <m:sub>
                            <m:r>
                              <a:rPr lang="en-US" altLang="zh-CN" sz="2800" i="1" dirty="0">
                                <a:solidFill>
                                  <a:schemeClr val="tx1"/>
                                </a:solidFill>
                                <a:latin typeface="Cambria Math" charset="0"/>
                                <a:ea typeface="宋体" panose="02010600030101010101" pitchFamily="2" charset="-122"/>
                              </a:rPr>
                              <m:t>1</m:t>
                            </m:r>
                          </m:sub>
                        </m:sSub>
                      </m:sup>
                      <m:e>
                        <m:sSubSup>
                          <m:sSubSupPr>
                            <m:ctrlPr>
                              <a:rPr lang="en-US" altLang="zh-CN" sz="2800" i="1" dirty="0">
                                <a:solidFill>
                                  <a:schemeClr val="tx1"/>
                                </a:solidFill>
                                <a:latin typeface="Cambria Math" panose="02040503050406030204" pitchFamily="18" charset="0"/>
                                <a:ea typeface="宋体" panose="02010600030101010101" pitchFamily="2" charset="-122"/>
                              </a:rPr>
                            </m:ctrlPr>
                          </m:sSubSupPr>
                          <m:e>
                            <m:r>
                              <a:rPr lang="en-US" altLang="zh-CN" sz="2800" i="1" dirty="0">
                                <a:solidFill>
                                  <a:schemeClr val="tx1"/>
                                </a:solidFill>
                                <a:latin typeface="Cambria Math" charset="0"/>
                                <a:ea typeface="宋体" panose="02010600030101010101" pitchFamily="2" charset="-122"/>
                              </a:rPr>
                              <m:t>𝑋</m:t>
                            </m:r>
                          </m:e>
                          <m:sub>
                            <m:r>
                              <a:rPr lang="en-US" altLang="zh-CN" sz="2800" i="1" dirty="0">
                                <a:solidFill>
                                  <a:schemeClr val="tx1"/>
                                </a:solidFill>
                                <a:latin typeface="Cambria Math" charset="0"/>
                                <a:ea typeface="宋体" panose="02010600030101010101" pitchFamily="2" charset="-122"/>
                              </a:rPr>
                              <m:t>𝑖</m:t>
                            </m:r>
                          </m:sub>
                          <m:sup>
                            <m:r>
                              <a:rPr lang="en-US" altLang="zh-CN" sz="2800" i="1" dirty="0">
                                <a:solidFill>
                                  <a:schemeClr val="tx1"/>
                                </a:solidFill>
                                <a:latin typeface="Cambria Math" charset="0"/>
                                <a:ea typeface="宋体" panose="02010600030101010101" pitchFamily="2" charset="-122"/>
                              </a:rPr>
                              <m:t>2</m:t>
                            </m:r>
                          </m:sup>
                        </m:sSubSup>
                      </m:e>
                    </m:nary>
                    <m:r>
                      <a:rPr lang="en-US" altLang="zh-CN" sz="2800" b="0" i="1" dirty="0" smtClean="0">
                        <a:solidFill>
                          <a:schemeClr val="tx1"/>
                        </a:solidFill>
                        <a:latin typeface="Cambria Math" charset="0"/>
                        <a:ea typeface="宋体" panose="02010600030101010101" pitchFamily="2" charset="-122"/>
                      </a:rPr>
                      <m:t>+</m:t>
                    </m:r>
                    <m:nary>
                      <m:naryPr>
                        <m:chr m:val="∑"/>
                        <m:ctrlPr>
                          <a:rPr lang="en-US" altLang="zh-CN" sz="2800" i="1" dirty="0">
                            <a:solidFill>
                              <a:schemeClr val="tx1"/>
                            </a:solidFill>
                            <a:latin typeface="Cambria Math" panose="02040503050406030204" pitchFamily="18" charset="0"/>
                            <a:ea typeface="宋体" panose="02010600030101010101" pitchFamily="2" charset="-122"/>
                          </a:rPr>
                        </m:ctrlPr>
                      </m:naryPr>
                      <m:sub>
                        <m:r>
                          <a:rPr lang="en-US" altLang="zh-CN" sz="2800" i="1" dirty="0">
                            <a:solidFill>
                              <a:schemeClr val="tx1"/>
                            </a:solidFill>
                            <a:latin typeface="Cambria Math" charset="0"/>
                            <a:ea typeface="宋体" panose="02010600030101010101" pitchFamily="2" charset="-122"/>
                          </a:rPr>
                          <m:t>𝑗</m:t>
                        </m:r>
                        <m:r>
                          <a:rPr lang="en-US" altLang="zh-CN" sz="2800" i="1" dirty="0">
                            <a:solidFill>
                              <a:schemeClr val="tx1"/>
                            </a:solidFill>
                            <a:latin typeface="Cambria Math" charset="0"/>
                            <a:ea typeface="宋体" panose="02010600030101010101" pitchFamily="2" charset="-122"/>
                          </a:rPr>
                          <m:t>=1</m:t>
                        </m:r>
                      </m:sub>
                      <m:sup>
                        <m:sSub>
                          <m:sSubPr>
                            <m:ctrlPr>
                              <a:rPr lang="en-US" altLang="zh-CN" sz="2800" i="1" dirty="0">
                                <a:solidFill>
                                  <a:schemeClr val="tx1"/>
                                </a:solidFill>
                                <a:latin typeface="Cambria Math" panose="02040503050406030204" pitchFamily="18" charset="0"/>
                                <a:ea typeface="宋体" panose="02010600030101010101" pitchFamily="2" charset="-122"/>
                              </a:rPr>
                            </m:ctrlPr>
                          </m:sSubPr>
                          <m:e>
                            <m:r>
                              <a:rPr lang="en-US" altLang="zh-CN" sz="2800" i="1" dirty="0">
                                <a:solidFill>
                                  <a:schemeClr val="tx1"/>
                                </a:solidFill>
                                <a:latin typeface="Cambria Math" charset="0"/>
                                <a:ea typeface="宋体" panose="02010600030101010101" pitchFamily="2" charset="-122"/>
                              </a:rPr>
                              <m:t>𝑛</m:t>
                            </m:r>
                          </m:e>
                          <m:sub>
                            <m:r>
                              <a:rPr lang="en-US" altLang="zh-CN" sz="2800" i="1" dirty="0">
                                <a:solidFill>
                                  <a:schemeClr val="tx1"/>
                                </a:solidFill>
                                <a:latin typeface="Cambria Math" charset="0"/>
                                <a:ea typeface="宋体" panose="02010600030101010101" pitchFamily="2" charset="-122"/>
                              </a:rPr>
                              <m:t>2</m:t>
                            </m:r>
                          </m:sub>
                        </m:sSub>
                      </m:sup>
                      <m:e>
                        <m:sSubSup>
                          <m:sSubSupPr>
                            <m:ctrlPr>
                              <a:rPr lang="en-US" altLang="zh-CN" sz="2800" i="1" dirty="0">
                                <a:solidFill>
                                  <a:schemeClr val="tx1"/>
                                </a:solidFill>
                                <a:latin typeface="Cambria Math" panose="02040503050406030204" pitchFamily="18" charset="0"/>
                                <a:ea typeface="宋体" panose="02010600030101010101" pitchFamily="2" charset="-122"/>
                              </a:rPr>
                            </m:ctrlPr>
                          </m:sSubSupPr>
                          <m:e>
                            <m:r>
                              <a:rPr lang="en-US" altLang="zh-CN" sz="2800" i="1" dirty="0">
                                <a:solidFill>
                                  <a:schemeClr val="tx1"/>
                                </a:solidFill>
                                <a:latin typeface="Cambria Math" charset="0"/>
                                <a:ea typeface="宋体" panose="02010600030101010101" pitchFamily="2" charset="-122"/>
                              </a:rPr>
                              <m:t>𝑌</m:t>
                            </m:r>
                          </m:e>
                          <m:sub>
                            <m:r>
                              <a:rPr lang="en-US" altLang="zh-CN" sz="2800" i="1" dirty="0">
                                <a:solidFill>
                                  <a:schemeClr val="tx1"/>
                                </a:solidFill>
                                <a:latin typeface="Cambria Math" charset="0"/>
                                <a:ea typeface="宋体" panose="02010600030101010101" pitchFamily="2" charset="-122"/>
                              </a:rPr>
                              <m:t>𝑗</m:t>
                            </m:r>
                          </m:sub>
                          <m:sup>
                            <m:r>
                              <a:rPr lang="en-US" altLang="zh-CN" sz="2800" i="1" dirty="0">
                                <a:solidFill>
                                  <a:schemeClr val="tx1"/>
                                </a:solidFill>
                                <a:latin typeface="Cambria Math" charset="0"/>
                                <a:ea typeface="宋体" panose="02010600030101010101" pitchFamily="2" charset="-122"/>
                              </a:rPr>
                              <m:t>2</m:t>
                            </m:r>
                          </m:sup>
                        </m:sSubSup>
                      </m:e>
                    </m:nary>
                    <m:r>
                      <a:rPr lang="en-US" altLang="zh-CN" sz="2800" i="1" dirty="0">
                        <a:solidFill>
                          <a:schemeClr val="tx1"/>
                        </a:solidFill>
                        <a:latin typeface="Cambria Math" charset="0"/>
                        <a:ea typeface="宋体" panose="02010600030101010101" pitchFamily="2" charset="-122"/>
                      </a:rPr>
                      <m:t>~</m:t>
                    </m:r>
                    <m:sSup>
                      <m:sSupPr>
                        <m:ctrlPr>
                          <a:rPr lang="en-US" altLang="zh-CN" sz="2800" i="1" dirty="0">
                            <a:solidFill>
                              <a:schemeClr val="tx1"/>
                            </a:solidFill>
                            <a:latin typeface="Cambria Math" panose="02040503050406030204" pitchFamily="18" charset="0"/>
                            <a:ea typeface="宋体" panose="02010600030101010101" pitchFamily="2" charset="-122"/>
                          </a:rPr>
                        </m:ctrlPr>
                      </m:sSupPr>
                      <m:e>
                        <m:r>
                          <a:rPr lang="en-US" altLang="zh-CN" sz="2800" i="1" dirty="0">
                            <a:solidFill>
                              <a:schemeClr val="tx1"/>
                            </a:solidFill>
                            <a:latin typeface="Cambria Math" charset="0"/>
                            <a:ea typeface="宋体" panose="02010600030101010101" pitchFamily="2" charset="-122"/>
                          </a:rPr>
                          <m:t>𝜒</m:t>
                        </m:r>
                      </m:e>
                      <m:sup>
                        <m:r>
                          <a:rPr lang="en-US" altLang="zh-CN" sz="2800" i="1" dirty="0">
                            <a:solidFill>
                              <a:schemeClr val="tx1"/>
                            </a:solidFill>
                            <a:latin typeface="Cambria Math" charset="0"/>
                            <a:ea typeface="宋体" panose="02010600030101010101" pitchFamily="2" charset="-122"/>
                          </a:rPr>
                          <m:t>2</m:t>
                        </m:r>
                      </m:sup>
                    </m:sSup>
                    <m:d>
                      <m:dPr>
                        <m:ctrlPr>
                          <a:rPr lang="en-US" altLang="zh-CN" sz="2800" i="1" dirty="0">
                            <a:solidFill>
                              <a:schemeClr val="tx1"/>
                            </a:solidFill>
                            <a:latin typeface="Cambria Math" panose="02040503050406030204" pitchFamily="18" charset="0"/>
                            <a:ea typeface="宋体" panose="02010600030101010101" pitchFamily="2" charset="-122"/>
                          </a:rPr>
                        </m:ctrlPr>
                      </m:dPr>
                      <m:e>
                        <m:sSub>
                          <m:sSubPr>
                            <m:ctrlPr>
                              <a:rPr lang="en-US" altLang="zh-CN" sz="2800" i="1" dirty="0">
                                <a:solidFill>
                                  <a:schemeClr val="tx1"/>
                                </a:solidFill>
                                <a:latin typeface="Cambria Math" panose="02040503050406030204" pitchFamily="18" charset="0"/>
                                <a:ea typeface="宋体" panose="02010600030101010101" pitchFamily="2" charset="-122"/>
                              </a:rPr>
                            </m:ctrlPr>
                          </m:sSubPr>
                          <m:e>
                            <m:r>
                              <a:rPr lang="en-US" altLang="zh-CN" sz="2800" i="1" dirty="0">
                                <a:solidFill>
                                  <a:schemeClr val="tx1"/>
                                </a:solidFill>
                                <a:latin typeface="Cambria Math" charset="0"/>
                                <a:ea typeface="宋体" panose="02010600030101010101" pitchFamily="2" charset="-122"/>
                              </a:rPr>
                              <m:t>𝑛</m:t>
                            </m:r>
                          </m:e>
                          <m:sub>
                            <m:r>
                              <a:rPr lang="en-US" altLang="zh-CN" sz="2800" i="1" dirty="0">
                                <a:solidFill>
                                  <a:schemeClr val="tx1"/>
                                </a:solidFill>
                                <a:latin typeface="Cambria Math" charset="0"/>
                                <a:ea typeface="宋体" panose="02010600030101010101" pitchFamily="2" charset="-122"/>
                              </a:rPr>
                              <m:t>1</m:t>
                            </m:r>
                          </m:sub>
                        </m:sSub>
                        <m:r>
                          <a:rPr lang="en-US" altLang="zh-CN" sz="2800" b="0" i="1" dirty="0" smtClean="0">
                            <a:solidFill>
                              <a:schemeClr val="tx1"/>
                            </a:solidFill>
                            <a:latin typeface="Cambria Math" charset="0"/>
                            <a:ea typeface="宋体" panose="02010600030101010101" pitchFamily="2" charset="-122"/>
                          </a:rPr>
                          <m:t>+</m:t>
                        </m:r>
                        <m:sSub>
                          <m:sSubPr>
                            <m:ctrlPr>
                              <a:rPr lang="en-US" altLang="zh-CN" sz="2800" b="0" i="1" dirty="0" smtClean="0">
                                <a:solidFill>
                                  <a:schemeClr val="tx1"/>
                                </a:solidFill>
                                <a:latin typeface="Cambria Math" panose="02040503050406030204" pitchFamily="18" charset="0"/>
                                <a:ea typeface="宋体" panose="02010600030101010101" pitchFamily="2" charset="-122"/>
                              </a:rPr>
                            </m:ctrlPr>
                          </m:sSubPr>
                          <m:e>
                            <m:r>
                              <a:rPr lang="en-US" altLang="zh-CN" sz="2800" b="0" i="1" dirty="0" smtClean="0">
                                <a:solidFill>
                                  <a:schemeClr val="tx1"/>
                                </a:solidFill>
                                <a:latin typeface="Cambria Math" charset="0"/>
                                <a:ea typeface="宋体" panose="02010600030101010101" pitchFamily="2" charset="-122"/>
                              </a:rPr>
                              <m:t>𝑛</m:t>
                            </m:r>
                          </m:e>
                          <m:sub>
                            <m:r>
                              <a:rPr lang="en-US" altLang="zh-CN" sz="2800" b="0" i="1" dirty="0" smtClean="0">
                                <a:solidFill>
                                  <a:schemeClr val="tx1"/>
                                </a:solidFill>
                                <a:latin typeface="Cambria Math" charset="0"/>
                                <a:ea typeface="宋体" panose="02010600030101010101" pitchFamily="2" charset="-122"/>
                              </a:rPr>
                              <m:t>2</m:t>
                            </m:r>
                          </m:sub>
                        </m:sSub>
                      </m:e>
                    </m:d>
                  </m:oMath>
                </a14:m>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672643" y="885911"/>
                <a:ext cx="8469978" cy="5333761"/>
              </a:xfrm>
              <a:blipFill>
                <a:blip r:embed="rId2"/>
                <a:stretch>
                  <a:fillRect l="-1439"/>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8" name="标题 1">
                <a:extLst>
                  <a:ext uri="{FF2B5EF4-FFF2-40B4-BE49-F238E27FC236}">
                    <a16:creationId xmlns:a16="http://schemas.microsoft.com/office/drawing/2014/main" id="{7C095887-5CBE-A506-6DF4-4AFE8B27F184}"/>
                  </a:ext>
                </a:extLst>
              </p:cNvPr>
              <p:cNvSpPr txBox="1">
                <a:spLocks/>
              </p:cNvSpPr>
              <p:nvPr/>
            </p:nvSpPr>
            <p:spPr>
              <a:xfrm>
                <a:off x="1937084" y="131459"/>
                <a:ext cx="7519737"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14:m>
                  <m:oMath xmlns:m="http://schemas.openxmlformats.org/officeDocument/2006/math">
                    <m:sSup>
                      <m:sSupPr>
                        <m:ctrlPr>
                          <a:rPr lang="en-US" altLang="zh-CN" b="1" i="1" smtClean="0">
                            <a:effectLst/>
                            <a:latin typeface="Cambria Math" panose="02040503050406030204" pitchFamily="18" charset="0"/>
                          </a:rPr>
                        </m:ctrlPr>
                      </m:sSupPr>
                      <m:e>
                        <m:r>
                          <a:rPr lang="zh-CN" altLang="en-US" b="1" i="1" smtClean="0">
                            <a:effectLst/>
                            <a:latin typeface="Cambria Math" panose="02040503050406030204" pitchFamily="18" charset="0"/>
                          </a:rPr>
                          <m:t>𝝌</m:t>
                        </m:r>
                      </m:e>
                      <m:sup>
                        <m:r>
                          <a:rPr lang="en-US" altLang="zh-CN" b="1" i="1" smtClean="0">
                            <a:effectLst/>
                            <a:latin typeface="Cambria Math" panose="02040503050406030204" pitchFamily="18" charset="0"/>
                          </a:rPr>
                          <m:t>𝟐</m:t>
                        </m:r>
                      </m:sup>
                    </m:sSup>
                  </m:oMath>
                </a14:m>
                <a:r>
                  <a:rPr lang="zh-CN" altLang="en-US" b="1" dirty="0">
                    <a:effectLst/>
                    <a:sym typeface="+mn-ea"/>
                  </a:rPr>
                  <a:t>分布</a:t>
                </a:r>
                <a:r>
                  <a:rPr lang="zh-CN" altLang="en-US" b="1" dirty="0">
                    <a:effectLst/>
                  </a:rPr>
                  <a:t>的性质特征（续）</a:t>
                </a:r>
              </a:p>
            </p:txBody>
          </p:sp>
        </mc:Choice>
        <mc:Fallback xmlns="">
          <p:sp>
            <p:nvSpPr>
              <p:cNvPr id="8" name="标题 1">
                <a:extLst>
                  <a:ext uri="{FF2B5EF4-FFF2-40B4-BE49-F238E27FC236}">
                    <a16:creationId xmlns:a16="http://schemas.microsoft.com/office/drawing/2014/main" id="{7C095887-5CBE-A506-6DF4-4AFE8B27F184}"/>
                  </a:ext>
                </a:extLst>
              </p:cNvPr>
              <p:cNvSpPr txBox="1">
                <a:spLocks noRot="1" noChangeAspect="1" noMove="1" noResize="1" noEditPoints="1" noAdjustHandles="1" noChangeArrowheads="1" noChangeShapeType="1" noTextEdit="1"/>
              </p:cNvSpPr>
              <p:nvPr/>
            </p:nvSpPr>
            <p:spPr>
              <a:xfrm>
                <a:off x="1937084" y="131459"/>
                <a:ext cx="7519737" cy="662782"/>
              </a:xfrm>
              <a:prstGeom prst="rect">
                <a:avLst/>
              </a:prstGeom>
              <a:blipFill>
                <a:blip r:embed="rId3"/>
                <a:stretch>
                  <a:fillRect t="-8333" b="-222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8688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96230" y="1318669"/>
                <a:ext cx="8950140" cy="4492584"/>
              </a:xfrm>
            </p:spPr>
            <p:txBody>
              <a:bodyPr>
                <a:noAutofit/>
              </a:bodyPr>
              <a:lstStyle/>
              <a:p>
                <a:pPr marL="0" indent="720000">
                  <a:lnSpc>
                    <a:spcPct val="200000"/>
                  </a:lnSpc>
                  <a:spcBef>
                    <a:spcPts val="0"/>
                  </a:spcBef>
                  <a:spcAft>
                    <a:spcPts val="0"/>
                  </a:spcAft>
                  <a:buNone/>
                </a:pPr>
                <a:r>
                  <a:rPr lang="zh-CN" altLang="en-US" dirty="0">
                    <a:solidFill>
                      <a:schemeClr val="tx1"/>
                    </a:solidFill>
                    <a:latin typeface="宋体" panose="02010600030101010101" pitchFamily="2" charset="-122"/>
                    <a:ea typeface="宋体" panose="02010600030101010101" pitchFamily="2" charset="-122"/>
                  </a:rPr>
                  <a:t>设</a:t>
                </a:r>
                <a14:m>
                  <m:oMath xmlns:m="http://schemas.openxmlformats.org/officeDocument/2006/math">
                    <m:sSub>
                      <m:sSubPr>
                        <m:ctrlPr>
                          <a:rPr lang="zh-CN" altLang="zh-CN" i="1" smtClean="0">
                            <a:solidFill>
                              <a:schemeClr val="tx1"/>
                            </a:solidFill>
                            <a:latin typeface="Cambria Math" panose="02040503050406030204" pitchFamily="18" charset="0"/>
                          </a:rPr>
                        </m:ctrlPr>
                      </m:sSubPr>
                      <m:e>
                        <m:r>
                          <a:rPr lang="en-US" altLang="zh-CN">
                            <a:solidFill>
                              <a:schemeClr val="tx1"/>
                            </a:solidFill>
                            <a:latin typeface="Cambria Math" panose="02040503050406030204" pitchFamily="18" charset="0"/>
                          </a:rPr>
                          <m:t>𝑋</m:t>
                        </m:r>
                      </m:e>
                      <m:sub>
                        <m:r>
                          <a:rPr lang="en-US" altLang="zh-CN">
                            <a:solidFill>
                              <a:schemeClr val="tx1"/>
                            </a:solidFill>
                            <a:latin typeface="Cambria Math" panose="02040503050406030204" pitchFamily="18" charset="0"/>
                          </a:rPr>
                          <m:t>1</m:t>
                        </m:r>
                      </m:sub>
                    </m:sSub>
                    <m:r>
                      <a:rPr lang="en-US"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a:solidFill>
                              <a:schemeClr val="tx1"/>
                            </a:solidFill>
                            <a:latin typeface="Cambria Math" panose="02040503050406030204" pitchFamily="18" charset="0"/>
                          </a:rPr>
                          <m:t>𝑋</m:t>
                        </m:r>
                      </m:e>
                      <m:sub>
                        <m:r>
                          <a:rPr lang="en-US" altLang="zh-CN" b="0" i="1" smtClean="0">
                            <a:solidFill>
                              <a:schemeClr val="tx1"/>
                            </a:solidFill>
                            <a:latin typeface="Cambria Math" panose="02040503050406030204" pitchFamily="18" charset="0"/>
                          </a:rPr>
                          <m:t>6</m:t>
                        </m:r>
                      </m:sub>
                    </m:sSub>
                  </m:oMath>
                </a14:m>
                <a:r>
                  <a:rPr lang="zh-CN" altLang="en-US" dirty="0">
                    <a:solidFill>
                      <a:schemeClr val="tx1"/>
                    </a:solidFill>
                    <a:latin typeface="宋体" panose="02010600030101010101" pitchFamily="2" charset="-122"/>
                    <a:ea typeface="宋体" panose="02010600030101010101" pitchFamily="2" charset="-122"/>
                  </a:rPr>
                  <a:t>是独立同服从</a:t>
                </a:r>
                <a14:m>
                  <m:oMath xmlns:m="http://schemas.openxmlformats.org/officeDocument/2006/math">
                    <m:r>
                      <a:rPr lang="en-US" altLang="zh-CN" b="0" i="1" smtClean="0">
                        <a:solidFill>
                          <a:schemeClr val="tx1"/>
                        </a:solidFill>
                        <a:latin typeface="Cambria Math" panose="02040503050406030204" pitchFamily="18" charset="0"/>
                      </a:rPr>
                      <m:t>𝑁</m:t>
                    </m:r>
                    <m:r>
                      <a:rPr lang="en-US" altLang="zh-CN" b="0" i="1" smtClean="0">
                        <a:solidFill>
                          <a:schemeClr val="tx1"/>
                        </a:solidFill>
                        <a:latin typeface="Cambria Math" panose="02040503050406030204" pitchFamily="18" charset="0"/>
                      </a:rPr>
                      <m:t>(0,2)</m:t>
                    </m:r>
                  </m:oMath>
                </a14:m>
                <a:r>
                  <a:rPr lang="zh-CN" altLang="en-US" dirty="0">
                    <a:solidFill>
                      <a:schemeClr val="tx1"/>
                    </a:solidFill>
                    <a:latin typeface="宋体" panose="02010600030101010101" pitchFamily="2" charset="-122"/>
                    <a:ea typeface="宋体" panose="02010600030101010101" pitchFamily="2" charset="-122"/>
                  </a:rPr>
                  <a:t>分布的随机变量，求</a:t>
                </a:r>
                <a:r>
                  <a:rPr lang="zh-CN" altLang="en-US"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solidFill>
                      <a:schemeClr val="tx1"/>
                    </a:solidFill>
                    <a:latin typeface="宋体" panose="02010600030101010101" pitchFamily="2" charset="-122"/>
                    <a:ea typeface="宋体" panose="02010600030101010101" pitchFamily="2" charset="-122"/>
                  </a:rPr>
                  <a:t>，</a:t>
                </a:r>
                <a:r>
                  <a:rPr lang="zh-CN" altLang="en-US"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solidFill>
                      <a:schemeClr val="tx1"/>
                    </a:solidFill>
                    <a:latin typeface="宋体" panose="02010600030101010101" pitchFamily="2" charset="-122"/>
                    <a:ea typeface="宋体" panose="02010600030101010101" pitchFamily="2" charset="-122"/>
                  </a:rPr>
                  <a:t>和 </a:t>
                </a:r>
                <a:r>
                  <a:rPr lang="zh-CN" altLang="en-US"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solidFill>
                      <a:srgbClr val="0070C0"/>
                    </a:solidFill>
                  </a:rPr>
                  <a:t> </a:t>
                </a:r>
                <a:r>
                  <a:rPr lang="zh-CN" altLang="en-US" dirty="0">
                    <a:solidFill>
                      <a:srgbClr val="7030A0"/>
                    </a:solidFill>
                  </a:rPr>
                  <a:t>（</a:t>
                </a:r>
                <a:r>
                  <a:rPr lang="en-US" altLang="zh-CN" i="1" dirty="0">
                    <a:solidFill>
                      <a:srgbClr val="7030A0"/>
                    </a:solidFill>
                    <a:latin typeface="Times New Roman" panose="02020603050405020304" pitchFamily="18" charset="0"/>
                    <a:cs typeface="Times New Roman" panose="02020603050405020304" pitchFamily="18" charset="0"/>
                  </a:rPr>
                  <a:t>a,b,c </a:t>
                </a:r>
                <a:r>
                  <a:rPr lang="zh-CN" altLang="en-US" dirty="0">
                    <a:solidFill>
                      <a:srgbClr val="7030A0"/>
                    </a:solidFill>
                    <a:latin typeface="Times New Roman" panose="02020603050405020304" pitchFamily="18" charset="0"/>
                    <a:cs typeface="Times New Roman" panose="02020603050405020304" pitchFamily="18" charset="0"/>
                  </a:rPr>
                  <a:t>都不为</a:t>
                </a:r>
                <a:r>
                  <a:rPr lang="en-US" altLang="zh-CN" i="1" dirty="0">
                    <a:solidFill>
                      <a:srgbClr val="7030A0"/>
                    </a:solidFill>
                    <a:latin typeface="Times New Roman" panose="02020603050405020304" pitchFamily="18" charset="0"/>
                    <a:cs typeface="Times New Roman" panose="02020603050405020304" pitchFamily="18" charset="0"/>
                  </a:rPr>
                  <a:t>0</a:t>
                </a:r>
                <a:r>
                  <a:rPr lang="zh-CN" altLang="en-US" dirty="0">
                    <a:solidFill>
                      <a:srgbClr val="7030A0"/>
                    </a:solidFill>
                  </a:rPr>
                  <a:t>）</a:t>
                </a:r>
                <a:r>
                  <a:rPr lang="zh-CN" altLang="en-US" dirty="0">
                    <a:solidFill>
                      <a:schemeClr val="tx1"/>
                    </a:solidFill>
                    <a:latin typeface="宋体" panose="02010600030101010101" pitchFamily="2" charset="-122"/>
                    <a:ea typeface="宋体" panose="02010600030101010101" pitchFamily="2" charset="-122"/>
                  </a:rPr>
                  <a:t>，使</a:t>
                </a:r>
                <a:endParaRPr lang="en-US" altLang="zh-CN" i="1" dirty="0">
                  <a:solidFill>
                    <a:schemeClr val="tx1"/>
                  </a:solidFill>
                  <a:latin typeface="Cambria Math" panose="02040503050406030204" pitchFamily="18" charset="0"/>
                </a:endParaRPr>
              </a:p>
              <a:p>
                <a:pPr marL="0" indent="720000">
                  <a:lnSpc>
                    <a:spcPct val="200000"/>
                  </a:lnSpc>
                  <a:spcBef>
                    <a:spcPts val="0"/>
                  </a:spcBef>
                  <a:spcAft>
                    <a:spcPts val="0"/>
                  </a:spcAft>
                  <a:buNone/>
                </a:pPr>
                <a:r>
                  <a:rPr lang="en-US" altLang="zh-CN" dirty="0">
                    <a:solidFill>
                      <a:schemeClr val="tx1"/>
                    </a:solidFill>
                  </a:rPr>
                  <a:t>    </a:t>
                </a:r>
                <a14:m>
                  <m:oMath xmlns:m="http://schemas.openxmlformats.org/officeDocument/2006/math">
                    <m:r>
                      <a:rPr lang="en-US" altLang="zh-CN" i="1">
                        <a:solidFill>
                          <a:schemeClr val="tx1"/>
                        </a:solidFill>
                        <a:latin typeface="Cambria Math" panose="02040503050406030204" pitchFamily="18" charset="0"/>
                      </a:rPr>
                      <m:t>𝑎</m:t>
                    </m:r>
                    <m:sSubSup>
                      <m:sSubSupPr>
                        <m:ctrlPr>
                          <a:rPr lang="zh-CN" altLang="zh-CN" i="1">
                            <a:solidFill>
                              <a:schemeClr val="tx1"/>
                            </a:solidFill>
                            <a:latin typeface="Cambria Math" panose="02040503050406030204" pitchFamily="18" charset="0"/>
                          </a:rPr>
                        </m:ctrlPr>
                      </m:sSubSupPr>
                      <m:e>
                        <m:r>
                          <a:rPr lang="en-US" altLang="zh-CN" i="1">
                            <a:solidFill>
                              <a:schemeClr val="tx1"/>
                            </a:solidFill>
                            <a:latin typeface="Cambria Math" panose="02040503050406030204" pitchFamily="18" charset="0"/>
                          </a:rPr>
                          <m:t>𝑋</m:t>
                        </m:r>
                      </m:e>
                      <m:sub>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2</m:t>
                        </m:r>
                      </m:sup>
                    </m:sSubSup>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𝑏</m:t>
                    </m:r>
                    <m:sSup>
                      <m:sSupPr>
                        <m:ctrlPr>
                          <a:rPr lang="zh-CN"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𝑋</m:t>
                            </m:r>
                          </m:e>
                          <m:sub>
                            <m:r>
                              <a:rPr lang="en-US" altLang="zh-CN" i="1">
                                <a:solidFill>
                                  <a:schemeClr val="tx1"/>
                                </a:solidFill>
                                <a:latin typeface="Cambria Math" panose="02040503050406030204" pitchFamily="18" charset="0"/>
                              </a:rPr>
                              <m:t>2</m:t>
                            </m:r>
                          </m:sub>
                        </m:sSub>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𝑋</m:t>
                            </m:r>
                          </m:e>
                          <m:sub>
                            <m:r>
                              <a:rPr lang="en-US" altLang="zh-CN" i="1">
                                <a:solidFill>
                                  <a:schemeClr val="tx1"/>
                                </a:solidFill>
                                <a:latin typeface="Cambria Math" panose="02040503050406030204" pitchFamily="18" charset="0"/>
                              </a:rPr>
                              <m:t>3</m:t>
                            </m:r>
                          </m:sub>
                        </m:sSub>
                        <m:r>
                          <a:rPr lang="en-US" altLang="zh-CN" i="1">
                            <a:solidFill>
                              <a:schemeClr val="tx1"/>
                            </a:solidFill>
                            <a:latin typeface="Cambria Math" panose="02040503050406030204" pitchFamily="18" charset="0"/>
                          </a:rPr>
                          <m:t>)</m:t>
                        </m:r>
                      </m:e>
                      <m:sup>
                        <m:r>
                          <a:rPr lang="en-US" altLang="zh-CN" i="1">
                            <a:solidFill>
                              <a:schemeClr val="tx1"/>
                            </a:solidFill>
                            <a:latin typeface="Cambria Math" panose="02040503050406030204" pitchFamily="18" charset="0"/>
                          </a:rPr>
                          <m:t>2</m:t>
                        </m:r>
                      </m:sup>
                    </m:sSup>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𝑐</m:t>
                    </m:r>
                    <m:sSup>
                      <m:sSupPr>
                        <m:ctrlPr>
                          <a:rPr lang="zh-CN"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𝑋</m:t>
                            </m:r>
                          </m:e>
                          <m:sub>
                            <m:r>
                              <a:rPr lang="en-US" altLang="zh-CN" i="1">
                                <a:solidFill>
                                  <a:schemeClr val="tx1"/>
                                </a:solidFill>
                                <a:latin typeface="Cambria Math" panose="02040503050406030204" pitchFamily="18" charset="0"/>
                              </a:rPr>
                              <m:t>4</m:t>
                            </m:r>
                          </m:sub>
                        </m:sSub>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𝑋</m:t>
                            </m:r>
                          </m:e>
                          <m:sub>
                            <m:r>
                              <a:rPr lang="en-US" altLang="zh-CN" i="1">
                                <a:solidFill>
                                  <a:schemeClr val="tx1"/>
                                </a:solidFill>
                                <a:latin typeface="Cambria Math" panose="02040503050406030204" pitchFamily="18" charset="0"/>
                              </a:rPr>
                              <m:t>5</m:t>
                            </m:r>
                          </m:sub>
                        </m:sSub>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𝑋</m:t>
                            </m:r>
                          </m:e>
                          <m:sub>
                            <m:r>
                              <a:rPr lang="en-US" altLang="zh-CN" i="1">
                                <a:solidFill>
                                  <a:schemeClr val="tx1"/>
                                </a:solidFill>
                                <a:latin typeface="Cambria Math" panose="02040503050406030204" pitchFamily="18" charset="0"/>
                              </a:rPr>
                              <m:t>6</m:t>
                            </m:r>
                          </m:sub>
                        </m:sSub>
                        <m:r>
                          <a:rPr lang="en-US" altLang="zh-CN" i="1">
                            <a:solidFill>
                              <a:schemeClr val="tx1"/>
                            </a:solidFill>
                            <a:latin typeface="Cambria Math" panose="02040503050406030204" pitchFamily="18" charset="0"/>
                          </a:rPr>
                          <m:t>)</m:t>
                        </m:r>
                      </m:e>
                      <m:sup>
                        <m:r>
                          <a:rPr lang="en-US" altLang="zh-CN" i="1">
                            <a:solidFill>
                              <a:schemeClr val="tx1"/>
                            </a:solidFill>
                            <a:latin typeface="Cambria Math" panose="02040503050406030204" pitchFamily="18" charset="0"/>
                          </a:rPr>
                          <m:t>2</m:t>
                        </m:r>
                      </m:sup>
                    </m:sSup>
                  </m:oMath>
                </a14:m>
                <a:endParaRPr lang="en-US" altLang="zh-CN" sz="2800" dirty="0">
                  <a:solidFill>
                    <a:schemeClr val="tx1"/>
                  </a:solidFill>
                  <a:latin typeface="宋体" panose="02010600030101010101" pitchFamily="2" charset="-122"/>
                  <a:ea typeface="宋体" panose="02010600030101010101" pitchFamily="2" charset="-122"/>
                </a:endParaRPr>
              </a:p>
              <a:p>
                <a:pPr marL="0" indent="720000">
                  <a:lnSpc>
                    <a:spcPct val="200000"/>
                  </a:lnSpc>
                  <a:spcBef>
                    <a:spcPts val="0"/>
                  </a:spcBef>
                  <a:spcAft>
                    <a:spcPts val="0"/>
                  </a:spcAft>
                  <a:buNone/>
                </a:pPr>
                <a:r>
                  <a:rPr lang="zh-CN" altLang="en-US" dirty="0">
                    <a:solidFill>
                      <a:schemeClr val="tx1"/>
                    </a:solidFill>
                    <a:latin typeface="宋体" panose="02010600030101010101" pitchFamily="2" charset="-122"/>
                    <a:ea typeface="宋体" panose="02010600030101010101" pitchFamily="2" charset="-122"/>
                  </a:rPr>
                  <a:t>服从</a:t>
                </a:r>
                <a14:m>
                  <m:oMath xmlns:m="http://schemas.openxmlformats.org/officeDocument/2006/math">
                    <m:sSup>
                      <m:sSupPr>
                        <m:ctrlPr>
                          <a:rPr lang="zh-CN"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𝜒</m:t>
                        </m:r>
                      </m:e>
                      <m:sup>
                        <m:r>
                          <a:rPr lang="en-US" altLang="zh-CN" i="1">
                            <a:solidFill>
                              <a:schemeClr val="tx1"/>
                            </a:solidFill>
                            <a:latin typeface="Cambria Math" panose="02040503050406030204" pitchFamily="18" charset="0"/>
                          </a:rPr>
                          <m:t>2</m:t>
                        </m:r>
                      </m:sup>
                    </m:sSup>
                  </m:oMath>
                </a14:m>
                <a:r>
                  <a:rPr lang="zh-CN" altLang="en-US" dirty="0">
                    <a:solidFill>
                      <a:schemeClr val="tx1"/>
                    </a:solidFill>
                    <a:latin typeface="宋体" panose="02010600030101010101" pitchFamily="2" charset="-122"/>
                    <a:ea typeface="宋体" panose="02010600030101010101" pitchFamily="2" charset="-122"/>
                  </a:rPr>
                  <a:t>分布</a:t>
                </a:r>
                <a:r>
                  <a:rPr lang="zh-CN" altLang="en-US" sz="2800" dirty="0">
                    <a:solidFill>
                      <a:schemeClr val="tx1"/>
                    </a:solidFill>
                    <a:latin typeface="宋体" panose="02010600030101010101" pitchFamily="2" charset="-122"/>
                    <a:ea typeface="宋体" panose="02010600030101010101" pitchFamily="2" charset="-122"/>
                  </a:rPr>
                  <a:t>。</a:t>
                </a:r>
                <a:endParaRPr lang="zh-CN" altLang="zh-CN" sz="2800" dirty="0">
                  <a:solidFill>
                    <a:schemeClr val="tx1"/>
                  </a:solidFill>
                  <a:latin typeface="宋体" panose="02010600030101010101" pitchFamily="2" charset="-122"/>
                  <a:ea typeface="宋体" panose="02010600030101010101" pitchFamily="2" charset="-122"/>
                </a:endParaRPr>
              </a:p>
              <a:p>
                <a:pPr marL="0" indent="720000">
                  <a:lnSpc>
                    <a:spcPct val="200000"/>
                  </a:lnSpc>
                  <a:spcBef>
                    <a:spcPts val="0"/>
                  </a:spcBef>
                  <a:spcAft>
                    <a:spcPts val="0"/>
                  </a:spcAft>
                  <a:buNone/>
                </a:pPr>
                <a:endParaRPr lang="en-US" altLang="zh-CN"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096230" y="1318669"/>
                <a:ext cx="8950140" cy="4492584"/>
              </a:xfrm>
              <a:blipFill>
                <a:blip r:embed="rId2"/>
                <a:stretch>
                  <a:fillRect l="-1771" r="-1431"/>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标题 1">
            <a:extLst>
              <a:ext uri="{FF2B5EF4-FFF2-40B4-BE49-F238E27FC236}">
                <a16:creationId xmlns:a16="http://schemas.microsoft.com/office/drawing/2014/main" id="{ECC2B485-04D7-FB61-68F7-5D2DFC26D376}"/>
              </a:ext>
            </a:extLst>
          </p:cNvPr>
          <p:cNvSpPr txBox="1">
            <a:spLocks/>
          </p:cNvSpPr>
          <p:nvPr/>
        </p:nvSpPr>
        <p:spPr>
          <a:xfrm>
            <a:off x="1903829" y="655887"/>
            <a:ext cx="8769216"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sz="3600" b="1" kern="0" dirty="0">
                <a:effectLst/>
                <a:latin typeface="+mj-ea"/>
              </a:rPr>
              <a:t>【</a:t>
            </a:r>
            <a:r>
              <a:rPr lang="zh-CN" altLang="en-US" sz="3600" b="1" kern="0" dirty="0">
                <a:effectLst/>
                <a:latin typeface="+mj-ea"/>
              </a:rPr>
              <a:t>例</a:t>
            </a:r>
            <a:r>
              <a:rPr lang="en-US" altLang="zh-CN" sz="3600" b="1" kern="0" dirty="0">
                <a:effectLst/>
                <a:latin typeface="+mj-ea"/>
              </a:rPr>
              <a:t>6-5】 </a:t>
            </a:r>
            <a:endParaRPr lang="zh-CN" altLang="en-US" sz="3600" b="1" dirty="0">
              <a:effectLs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792704" y="622153"/>
                <a:ext cx="8903369" cy="5689190"/>
              </a:xfrm>
            </p:spPr>
            <p:txBody>
              <a:bodyPr>
                <a:noAutofit/>
              </a:bodyPr>
              <a:lstStyle/>
              <a:p>
                <a:pPr marL="0" indent="0">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因为</a:t>
                </a:r>
                <a14:m>
                  <m:oMath xmlns:m="http://schemas.openxmlformats.org/officeDocument/2006/math">
                    <m:sSub>
                      <m:sSubPr>
                        <m:ctrlPr>
                          <a:rPr lang="zh-CN" altLang="zh-CN" sz="2800" i="1" smtClean="0">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b="0" i="1" smtClean="0">
                            <a:solidFill>
                              <a:schemeClr val="tx1"/>
                            </a:solidFill>
                            <a:latin typeface="Cambria Math" panose="02040503050406030204" pitchFamily="18" charset="0"/>
                          </a:rPr>
                          <m:t>6</m:t>
                        </m:r>
                      </m:sub>
                    </m:sSub>
                  </m:oMath>
                </a14:m>
                <a:r>
                  <a:rPr lang="zh-CN" altLang="en-US" sz="2800" dirty="0">
                    <a:solidFill>
                      <a:schemeClr val="tx1"/>
                    </a:solidFill>
                    <a:latin typeface="宋体" panose="02010600030101010101" pitchFamily="2" charset="-122"/>
                    <a:ea typeface="宋体" panose="02010600030101010101" pitchFamily="2" charset="-122"/>
                  </a:rPr>
                  <a:t>是独立同服从</a:t>
                </a:r>
                <a14:m>
                  <m:oMath xmlns:m="http://schemas.openxmlformats.org/officeDocument/2006/math">
                    <m:r>
                      <a:rPr lang="en-US" altLang="zh-CN" sz="2800" b="0" i="1" smtClean="0">
                        <a:solidFill>
                          <a:schemeClr val="tx1"/>
                        </a:solidFill>
                        <a:latin typeface="Cambria Math" panose="02040503050406030204" pitchFamily="18" charset="0"/>
                      </a:rPr>
                      <m:t>𝑁</m:t>
                    </m:r>
                    <m:r>
                      <a:rPr lang="en-US" altLang="zh-CN" sz="2800" b="0" i="1" smtClean="0">
                        <a:solidFill>
                          <a:schemeClr val="tx1"/>
                        </a:solidFill>
                        <a:latin typeface="Cambria Math" panose="02040503050406030204" pitchFamily="18" charset="0"/>
                      </a:rPr>
                      <m:t>(0,2)</m:t>
                    </m:r>
                  </m:oMath>
                </a14:m>
                <a:r>
                  <a:rPr lang="zh-CN" altLang="en-US" sz="2800" dirty="0">
                    <a:solidFill>
                      <a:schemeClr val="tx1"/>
                    </a:solidFill>
                    <a:latin typeface="宋体" panose="02010600030101010101" pitchFamily="2" charset="-122"/>
                    <a:ea typeface="宋体" panose="02010600030101010101" pitchFamily="2" charset="-122"/>
                  </a:rPr>
                  <a:t>分布，所以</a:t>
                </a:r>
                <a:endParaRPr lang="en-US" altLang="zh-CN" sz="2800" dirty="0">
                  <a:solidFill>
                    <a:schemeClr val="tx1"/>
                  </a:solidFill>
                  <a:latin typeface="宋体" panose="02010600030101010101" pitchFamily="2" charset="-122"/>
                  <a:ea typeface="宋体" panose="02010600030101010101" pitchFamily="2" charset="-122"/>
                </a:endParaRPr>
              </a:p>
              <a:p>
                <a:pPr marL="0" indent="0">
                  <a:spcBef>
                    <a:spcPts val="1200"/>
                  </a:spcBef>
                  <a:spcAft>
                    <a:spcPts val="0"/>
                  </a:spcAft>
                  <a:buNone/>
                </a:pPr>
                <a14:m>
                  <m:oMath xmlns:m="http://schemas.openxmlformats.org/officeDocument/2006/math">
                    <m:r>
                      <a:rPr lang="en-US" altLang="zh-CN" sz="2800" b="0" i="1" dirty="0" smtClean="0">
                        <a:solidFill>
                          <a:schemeClr val="tx1"/>
                        </a:solidFill>
                        <a:latin typeface="Cambria Math" panose="02040503050406030204" pitchFamily="18" charset="0"/>
                      </a:rPr>
                      <m:t> </m:t>
                    </m:r>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1</m:t>
                        </m:r>
                      </m:sub>
                    </m:sSub>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𝑁</m:t>
                    </m:r>
                    <m:r>
                      <a:rPr lang="en-US" altLang="zh-CN" sz="2800" i="1">
                        <a:solidFill>
                          <a:schemeClr val="tx1"/>
                        </a:solidFill>
                        <a:latin typeface="Cambria Math" panose="02040503050406030204" pitchFamily="18" charset="0"/>
                      </a:rPr>
                      <m:t>(0,2)</m:t>
                    </m:r>
                  </m:oMath>
                </a14:m>
                <a:r>
                  <a:rPr lang="zh-CN" altLang="en-US" sz="2800" dirty="0">
                    <a:solidFill>
                      <a:schemeClr val="tx1"/>
                    </a:solidFill>
                    <a:latin typeface="宋体" panose="02010600030101010101" pitchFamily="2" charset="-122"/>
                    <a:ea typeface="宋体" panose="02010600030101010101" pitchFamily="2" charset="-122"/>
                  </a:rPr>
                  <a:t>， </a:t>
                </a:r>
                <a:r>
                  <a:rPr lang="zh-CN" altLang="zh-CN" sz="2800" dirty="0">
                    <a:solidFill>
                      <a:schemeClr val="tx1"/>
                    </a:solidFill>
                    <a:latin typeface="宋体" panose="02010600030101010101" pitchFamily="2" charset="-122"/>
                    <a:ea typeface="宋体" panose="02010600030101010101" pitchFamily="2" charset="-122"/>
                  </a:rPr>
                  <a:t> </a:t>
                </a:r>
                <a:r>
                  <a:rPr lang="zh-CN" altLang="en-US" sz="2800" dirty="0">
                    <a:solidFill>
                      <a:schemeClr val="tx1"/>
                    </a:solidFill>
                    <a:latin typeface="宋体" panose="02010600030101010101" pitchFamily="2" charset="-122"/>
                    <a:ea typeface="宋体" panose="02010600030101010101" pitchFamily="2" charset="-122"/>
                  </a:rPr>
                  <a:t>则 </a:t>
                </a:r>
                <a14:m>
                  <m:oMath xmlns:m="http://schemas.openxmlformats.org/officeDocument/2006/math">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1</m:t>
                            </m:r>
                          </m:sub>
                        </m:sSub>
                      </m:num>
                      <m:den>
                        <m:rad>
                          <m:radPr>
                            <m:degHide m:val="on"/>
                            <m:ctrlPr>
                              <a:rPr lang="zh-CN" altLang="zh-CN" sz="2800" i="1">
                                <a:solidFill>
                                  <a:schemeClr val="tx1"/>
                                </a:solidFill>
                                <a:latin typeface="Cambria Math" panose="02040503050406030204" pitchFamily="18" charset="0"/>
                              </a:rPr>
                            </m:ctrlPr>
                          </m:radPr>
                          <m:deg/>
                          <m:e>
                            <m:r>
                              <a:rPr lang="en-US" altLang="zh-CN" sz="2800" i="1">
                                <a:solidFill>
                                  <a:schemeClr val="tx1"/>
                                </a:solidFill>
                                <a:latin typeface="Cambria Math" panose="02040503050406030204" pitchFamily="18" charset="0"/>
                              </a:rPr>
                              <m:t>2</m:t>
                            </m:r>
                          </m:e>
                        </m:rad>
                      </m:den>
                    </m:f>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𝑁</m:t>
                    </m:r>
                    <m:r>
                      <a:rPr lang="en-US" altLang="zh-CN" sz="2800" i="1">
                        <a:solidFill>
                          <a:schemeClr val="tx1"/>
                        </a:solidFill>
                        <a:latin typeface="Cambria Math" panose="02040503050406030204" pitchFamily="18" charset="0"/>
                      </a:rPr>
                      <m:t>(0,1)</m:t>
                    </m:r>
                  </m:oMath>
                </a14:m>
                <a:r>
                  <a:rPr lang="zh-CN" altLang="en-US" sz="2800" dirty="0">
                    <a:solidFill>
                      <a:schemeClr val="tx1"/>
                    </a:solidFill>
                    <a:latin typeface="宋体" panose="02010600030101010101" pitchFamily="2" charset="-122"/>
                    <a:ea typeface="宋体" panose="02010600030101010101" pitchFamily="2" charset="-122"/>
                  </a:rPr>
                  <a:t> 且 </a:t>
                </a:r>
                <a14:m>
                  <m:oMath xmlns:m="http://schemas.openxmlformats.org/officeDocument/2006/math">
                    <m:f>
                      <m:fPr>
                        <m:ctrlPr>
                          <a:rPr lang="zh-CN" altLang="zh-CN" sz="2800" i="1">
                            <a:solidFill>
                              <a:schemeClr val="tx1"/>
                            </a:solidFill>
                            <a:latin typeface="Cambria Math" panose="02040503050406030204" pitchFamily="18" charset="0"/>
                          </a:rPr>
                        </m:ctrlPr>
                      </m:fPr>
                      <m:num>
                        <m:r>
                          <a:rPr lang="en-US" altLang="zh-CN" sz="2800" i="1">
                            <a:solidFill>
                              <a:schemeClr val="tx1"/>
                            </a:solidFill>
                            <a:latin typeface="Cambria Math" panose="02040503050406030204" pitchFamily="18" charset="0"/>
                          </a:rPr>
                          <m:t>1</m:t>
                        </m:r>
                      </m:num>
                      <m:den>
                        <m:r>
                          <a:rPr lang="en-US" altLang="zh-CN" sz="2800" i="1">
                            <a:solidFill>
                              <a:schemeClr val="tx1"/>
                            </a:solidFill>
                            <a:latin typeface="Cambria Math" panose="02040503050406030204" pitchFamily="18" charset="0"/>
                          </a:rPr>
                          <m:t>2</m:t>
                        </m:r>
                      </m:den>
                    </m:f>
                    <m:sSubSup>
                      <m:sSubSupPr>
                        <m:ctrlPr>
                          <a:rPr lang="zh-CN" altLang="zh-CN" sz="2800" i="1">
                            <a:solidFill>
                              <a:schemeClr val="tx1"/>
                            </a:solidFill>
                            <a:latin typeface="Cambria Math" panose="02040503050406030204" pitchFamily="18" charset="0"/>
                          </a:rPr>
                        </m:ctrlPr>
                      </m:sSubSup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1</m:t>
                        </m:r>
                      </m:sub>
                      <m:sup>
                        <m:r>
                          <a:rPr lang="en-US" altLang="zh-CN" sz="2800" i="1">
                            <a:solidFill>
                              <a:schemeClr val="tx1"/>
                            </a:solidFill>
                            <a:latin typeface="Cambria Math" panose="02040503050406030204" pitchFamily="18" charset="0"/>
                          </a:rPr>
                          <m:t>2</m:t>
                        </m:r>
                      </m:sup>
                    </m:sSubSup>
                    <m:r>
                      <a:rPr lang="en-US" altLang="zh-CN" sz="2800" i="1">
                        <a:solidFill>
                          <a:schemeClr val="tx1"/>
                        </a:solidFill>
                        <a:latin typeface="Cambria Math" panose="02040503050406030204" pitchFamily="18" charset="0"/>
                      </a:rPr>
                      <m:t>~</m:t>
                    </m:r>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𝜒</m:t>
                        </m:r>
                      </m:e>
                      <m:sup>
                        <m:r>
                          <a:rPr lang="en-US" altLang="zh-CN" sz="2800" i="1">
                            <a:solidFill>
                              <a:schemeClr val="tx1"/>
                            </a:solidFill>
                            <a:latin typeface="Cambria Math" panose="02040503050406030204" pitchFamily="18" charset="0"/>
                          </a:rPr>
                          <m:t>2</m:t>
                        </m:r>
                      </m:sup>
                    </m:sSup>
                    <m:r>
                      <a:rPr lang="en-US" altLang="zh-CN" sz="2800" i="1">
                        <a:solidFill>
                          <a:schemeClr val="tx1"/>
                        </a:solidFill>
                        <a:latin typeface="Cambria Math" panose="02040503050406030204" pitchFamily="18" charset="0"/>
                      </a:rPr>
                      <m:t>(1</m:t>
                    </m:r>
                    <m:r>
                      <a:rPr lang="en-US" altLang="zh-CN" sz="2800" i="1" smtClean="0">
                        <a:solidFill>
                          <a:schemeClr val="tx1"/>
                        </a:solidFill>
                        <a:latin typeface="Cambria Math" panose="02040503050406030204" pitchFamily="18" charset="0"/>
                      </a:rPr>
                      <m:t>)</m:t>
                    </m:r>
                  </m:oMath>
                </a14:m>
                <a:endParaRPr lang="zh-CN" altLang="zh-CN" sz="2800" dirty="0">
                  <a:solidFill>
                    <a:schemeClr val="tx1"/>
                  </a:solidFill>
                  <a:latin typeface="宋体" panose="02010600030101010101" pitchFamily="2" charset="-122"/>
                  <a:ea typeface="宋体" panose="02010600030101010101" pitchFamily="2" charset="-122"/>
                </a:endParaRPr>
              </a:p>
              <a:p>
                <a:pPr marL="0" indent="0" algn="just">
                  <a:spcBef>
                    <a:spcPts val="1200"/>
                  </a:spcBef>
                  <a:spcAft>
                    <a:spcPts val="0"/>
                  </a:spcAft>
                  <a:buNone/>
                </a:pPr>
                <a14:m>
                  <m:oMath xmlns:m="http://schemas.openxmlformats.org/officeDocument/2006/math">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3</m:t>
                        </m:r>
                      </m:sub>
                    </m:sSub>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𝑁</m:t>
                    </m:r>
                    <m:r>
                      <a:rPr lang="en-US" altLang="zh-CN" sz="2800">
                        <a:solidFill>
                          <a:schemeClr val="tx1"/>
                        </a:solidFill>
                        <a:latin typeface="Cambria Math" panose="02040503050406030204" pitchFamily="18" charset="0"/>
                      </a:rPr>
                      <m:t>(0,4)</m:t>
                    </m:r>
                  </m:oMath>
                </a14:m>
                <a:r>
                  <a:rPr lang="zh-CN" altLang="en-US" sz="2800" dirty="0">
                    <a:solidFill>
                      <a:schemeClr val="tx1"/>
                    </a:solidFill>
                    <a:latin typeface="宋体" panose="02010600030101010101" pitchFamily="2" charset="-122"/>
                    <a:ea typeface="宋体" panose="02010600030101010101" pitchFamily="2" charset="-122"/>
                  </a:rPr>
                  <a:t>，</a:t>
                </a:r>
                <a14:m>
                  <m:oMath xmlns:m="http://schemas.openxmlformats.org/officeDocument/2006/math">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3</m:t>
                            </m:r>
                          </m:sub>
                        </m:sSub>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𝑁</m:t>
                    </m:r>
                    <m:r>
                      <a:rPr lang="en-US" altLang="zh-CN" sz="2800">
                        <a:solidFill>
                          <a:schemeClr val="tx1"/>
                        </a:solidFill>
                        <a:latin typeface="Cambria Math" panose="02040503050406030204" pitchFamily="18" charset="0"/>
                      </a:rPr>
                      <m:t>(0,1)</m:t>
                    </m:r>
                  </m:oMath>
                </a14:m>
                <a:r>
                  <a:rPr lang="zh-CN" altLang="en-US" sz="2800" dirty="0">
                    <a:solidFill>
                      <a:schemeClr val="tx1"/>
                    </a:solidFill>
                    <a:latin typeface="宋体" panose="02010600030101010101" pitchFamily="2" charset="-122"/>
                    <a:ea typeface="宋体" panose="02010600030101010101" pitchFamily="2" charset="-122"/>
                  </a:rPr>
                  <a:t>且 </a:t>
                </a:r>
                <a14:m>
                  <m:oMath xmlns:m="http://schemas.openxmlformats.org/officeDocument/2006/math">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1</m:t>
                        </m:r>
                      </m:num>
                      <m:den>
                        <m:r>
                          <a:rPr lang="en-US" altLang="zh-CN" sz="2800">
                            <a:solidFill>
                              <a:schemeClr val="tx1"/>
                            </a:solidFill>
                            <a:latin typeface="Cambria Math" panose="02040503050406030204" pitchFamily="18" charset="0"/>
                          </a:rPr>
                          <m:t>4</m:t>
                        </m:r>
                      </m:den>
                    </m:f>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3</m:t>
                            </m:r>
                          </m:sub>
                        </m:sSub>
                        <m:r>
                          <a:rPr lang="en-US" altLang="zh-CN" sz="2800">
                            <a:solidFill>
                              <a:schemeClr val="tx1"/>
                            </a:solidFill>
                            <a:latin typeface="Cambria Math" panose="02040503050406030204" pitchFamily="18" charset="0"/>
                          </a:rPr>
                          <m:t>)</m:t>
                        </m:r>
                      </m:e>
                      <m:sup>
                        <m:r>
                          <a:rPr lang="en-US" altLang="zh-CN" sz="2800">
                            <a:solidFill>
                              <a:schemeClr val="tx1"/>
                            </a:solidFill>
                            <a:latin typeface="Cambria Math" panose="02040503050406030204" pitchFamily="18" charset="0"/>
                          </a:rPr>
                          <m:t>2</m:t>
                        </m:r>
                      </m:sup>
                    </m:sSup>
                    <m:r>
                      <a:rPr lang="en-US" altLang="zh-CN" sz="2800">
                        <a:solidFill>
                          <a:schemeClr val="tx1"/>
                        </a:solidFill>
                        <a:latin typeface="Cambria Math" panose="02040503050406030204" pitchFamily="18" charset="0"/>
                      </a:rPr>
                      <m:t>~</m:t>
                    </m:r>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𝜒</m:t>
                        </m:r>
                      </m:e>
                      <m:sup>
                        <m:r>
                          <a:rPr lang="en-US" altLang="zh-CN" sz="2800">
                            <a:solidFill>
                              <a:schemeClr val="tx1"/>
                            </a:solidFill>
                            <a:latin typeface="Cambria Math" panose="02040503050406030204" pitchFamily="18" charset="0"/>
                          </a:rPr>
                          <m:t>2</m:t>
                        </m:r>
                      </m:sup>
                    </m:sSup>
                    <m:d>
                      <m:dPr>
                        <m:ctrlPr>
                          <a:rPr lang="en-US" altLang="zh-CN" sz="2800" i="1">
                            <a:solidFill>
                              <a:schemeClr val="tx1"/>
                            </a:solidFill>
                            <a:latin typeface="Cambria Math" panose="02040503050406030204" pitchFamily="18" charset="0"/>
                          </a:rPr>
                        </m:ctrlPr>
                      </m:dPr>
                      <m:e>
                        <m:r>
                          <a:rPr lang="en-US" altLang="zh-CN" sz="2800">
                            <a:solidFill>
                              <a:schemeClr val="tx1"/>
                            </a:solidFill>
                            <a:latin typeface="Cambria Math" panose="02040503050406030204" pitchFamily="18" charset="0"/>
                          </a:rPr>
                          <m:t>1</m:t>
                        </m:r>
                      </m:e>
                    </m:d>
                  </m:oMath>
                </a14:m>
                <a:endParaRPr lang="en-US" altLang="zh-CN" sz="2800" i="1" dirty="0">
                  <a:solidFill>
                    <a:schemeClr val="tx1"/>
                  </a:solidFill>
                  <a:latin typeface="Cambria Math" panose="02040503050406030204" pitchFamily="18" charset="0"/>
                </a:endParaRPr>
              </a:p>
              <a:p>
                <a:pPr marL="0" indent="0" algn="just">
                  <a:spcBef>
                    <a:spcPts val="1200"/>
                  </a:spcBef>
                  <a:spcAft>
                    <a:spcPts val="0"/>
                  </a:spcAft>
                  <a:buNone/>
                </a:pPr>
                <a14:m>
                  <m:oMathPara xmlns:m="http://schemas.openxmlformats.org/officeDocument/2006/math">
                    <m:oMathParaPr>
                      <m:jc m:val="left"/>
                    </m:oMathParaPr>
                    <m:oMath xmlns:m="http://schemas.openxmlformats.org/officeDocument/2006/math">
                      <m:sSub>
                        <m:sSubPr>
                          <m:ctrlPr>
                            <a:rPr lang="zh-CN" altLang="zh-CN" sz="2800" i="1" smtClean="0">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4</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5</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6</m:t>
                          </m:r>
                        </m:sub>
                      </m:sSub>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𝑁</m:t>
                      </m:r>
                      <m:r>
                        <a:rPr lang="en-US" altLang="zh-CN" sz="2800">
                          <a:solidFill>
                            <a:schemeClr val="tx1"/>
                          </a:solidFill>
                          <a:latin typeface="Cambria Math" panose="02040503050406030204" pitchFamily="18" charset="0"/>
                        </a:rPr>
                        <m:t>(0,6)</m:t>
                      </m:r>
                      <m:r>
                        <a:rPr lang="zh-CN" altLang="en-US" sz="2800" i="1">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4</m:t>
                              </m:r>
                            </m:sub>
                          </m:sSub>
                          <m:r>
                            <a:rPr lang="en-US" altLang="zh-CN" sz="2800" i="1">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5</m:t>
                              </m:r>
                            </m:sub>
                          </m:sSub>
                          <m:r>
                            <a:rPr lang="en-US" altLang="zh-CN" sz="2800" i="1">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6</m:t>
                              </m:r>
                            </m:sub>
                          </m:sSub>
                        </m:num>
                        <m:den>
                          <m:rad>
                            <m:radPr>
                              <m:degHide m:val="on"/>
                              <m:ctrlPr>
                                <a:rPr lang="zh-CN" altLang="zh-CN" sz="2800" i="1">
                                  <a:solidFill>
                                    <a:schemeClr val="tx1"/>
                                  </a:solidFill>
                                  <a:latin typeface="Cambria Math" panose="02040503050406030204" pitchFamily="18" charset="0"/>
                                </a:rPr>
                              </m:ctrlPr>
                            </m:radPr>
                            <m:deg/>
                            <m:e>
                              <m:r>
                                <a:rPr lang="en-US" altLang="zh-CN" sz="2800" i="1">
                                  <a:solidFill>
                                    <a:schemeClr val="tx1"/>
                                  </a:solidFill>
                                  <a:latin typeface="Cambria Math" panose="02040503050406030204" pitchFamily="18" charset="0"/>
                                </a:rPr>
                                <m:t>6</m:t>
                              </m:r>
                            </m:e>
                          </m:rad>
                        </m:den>
                      </m:f>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𝑁</m:t>
                      </m:r>
                      <m:r>
                        <a:rPr lang="en-US" altLang="zh-CN" sz="2800" i="1">
                          <a:solidFill>
                            <a:schemeClr val="tx1"/>
                          </a:solidFill>
                          <a:latin typeface="Cambria Math" panose="02040503050406030204" pitchFamily="18" charset="0"/>
                        </a:rPr>
                        <m:t>(0,1)</m:t>
                      </m:r>
                    </m:oMath>
                  </m:oMathPara>
                </a14:m>
                <a:endParaRPr lang="en-US" altLang="zh-CN" sz="2800" dirty="0">
                  <a:solidFill>
                    <a:schemeClr val="tx1"/>
                  </a:solidFill>
                  <a:latin typeface="宋体" panose="02010600030101010101" pitchFamily="2" charset="-122"/>
                  <a:ea typeface="宋体" panose="02010600030101010101" pitchFamily="2" charset="-122"/>
                </a:endParaRPr>
              </a:p>
              <a:p>
                <a:pPr marL="0" indent="0" algn="just">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                       且  </a:t>
                </a:r>
                <a14:m>
                  <m:oMath xmlns:m="http://schemas.openxmlformats.org/officeDocument/2006/math">
                    <m:f>
                      <m:fPr>
                        <m:ctrlPr>
                          <a:rPr lang="zh-CN" altLang="zh-CN" sz="2800" i="1">
                            <a:solidFill>
                              <a:schemeClr val="tx1"/>
                            </a:solidFill>
                            <a:latin typeface="Cambria Math" panose="02040503050406030204" pitchFamily="18" charset="0"/>
                          </a:rPr>
                        </m:ctrlPr>
                      </m:fPr>
                      <m:num>
                        <m:r>
                          <a:rPr lang="en-US" altLang="zh-CN" sz="2800" i="1">
                            <a:solidFill>
                              <a:schemeClr val="tx1"/>
                            </a:solidFill>
                            <a:latin typeface="Cambria Math" panose="02040503050406030204" pitchFamily="18" charset="0"/>
                          </a:rPr>
                          <m:t>1</m:t>
                        </m:r>
                      </m:num>
                      <m:den>
                        <m:r>
                          <a:rPr lang="en-US" altLang="zh-CN" sz="2800" i="1">
                            <a:solidFill>
                              <a:schemeClr val="tx1"/>
                            </a:solidFill>
                            <a:latin typeface="Cambria Math" panose="02040503050406030204" pitchFamily="18" charset="0"/>
                          </a:rPr>
                          <m:t>6</m:t>
                        </m:r>
                      </m:den>
                    </m:f>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4</m:t>
                            </m:r>
                          </m:sub>
                        </m:sSub>
                        <m:r>
                          <a:rPr lang="en-US" altLang="zh-CN" sz="2800" i="1">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5</m:t>
                            </m:r>
                          </m:sub>
                        </m:sSub>
                        <m:r>
                          <a:rPr lang="en-US" altLang="zh-CN" sz="2800" i="1">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6</m:t>
                            </m:r>
                          </m:sub>
                        </m:sSub>
                        <m:r>
                          <a:rPr lang="en-US" altLang="zh-CN" sz="2800" i="1">
                            <a:solidFill>
                              <a:schemeClr val="tx1"/>
                            </a:solidFill>
                            <a:latin typeface="Cambria Math" panose="02040503050406030204" pitchFamily="18" charset="0"/>
                          </a:rPr>
                          <m:t>)</m:t>
                        </m:r>
                      </m:e>
                      <m:sup>
                        <m:r>
                          <a:rPr lang="en-US" altLang="zh-CN" sz="2800" i="1">
                            <a:solidFill>
                              <a:schemeClr val="tx1"/>
                            </a:solidFill>
                            <a:latin typeface="Cambria Math" panose="02040503050406030204" pitchFamily="18" charset="0"/>
                          </a:rPr>
                          <m:t>2</m:t>
                        </m:r>
                      </m:sup>
                    </m:sSup>
                    <m:r>
                      <a:rPr lang="en-US" altLang="zh-CN" sz="2800" i="1">
                        <a:solidFill>
                          <a:schemeClr val="tx1"/>
                        </a:solidFill>
                        <a:latin typeface="Cambria Math" panose="02040503050406030204" pitchFamily="18" charset="0"/>
                      </a:rPr>
                      <m:t>~</m:t>
                    </m:r>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𝜒</m:t>
                        </m:r>
                      </m:e>
                      <m:sup>
                        <m:r>
                          <a:rPr lang="en-US" altLang="zh-CN" sz="2800" i="1">
                            <a:solidFill>
                              <a:schemeClr val="tx1"/>
                            </a:solidFill>
                            <a:latin typeface="Cambria Math" panose="02040503050406030204" pitchFamily="18" charset="0"/>
                          </a:rPr>
                          <m:t>2</m:t>
                        </m:r>
                      </m:sup>
                    </m:sSup>
                    <m:r>
                      <a:rPr lang="en-US" altLang="zh-CN" sz="2800" i="1">
                        <a:solidFill>
                          <a:schemeClr val="tx1"/>
                        </a:solidFill>
                        <a:latin typeface="Cambria Math" panose="02040503050406030204" pitchFamily="18" charset="0"/>
                      </a:rPr>
                      <m:t>(1)</m:t>
                    </m:r>
                  </m:oMath>
                </a14:m>
                <a:endParaRPr lang="zh-CN" altLang="zh-CN" sz="2800" dirty="0">
                  <a:solidFill>
                    <a:schemeClr val="tx1"/>
                  </a:solidFill>
                  <a:latin typeface="宋体" panose="02010600030101010101" pitchFamily="2" charset="-122"/>
                  <a:ea typeface="宋体" panose="02010600030101010101" pitchFamily="2" charset="-122"/>
                </a:endParaRPr>
              </a:p>
              <a:p>
                <a:pPr marL="0" indent="0" algn="just">
                  <a:spcBef>
                    <a:spcPts val="1200"/>
                  </a:spcBef>
                  <a:spcAft>
                    <a:spcPts val="0"/>
                  </a:spcAft>
                  <a:buNone/>
                </a:pPr>
                <a:r>
                  <a:rPr lang="zh-CN" altLang="en-US" sz="2400" dirty="0">
                    <a:solidFill>
                      <a:schemeClr val="tx1"/>
                    </a:solidFill>
                    <a:latin typeface="宋体" panose="02010600030101010101" pitchFamily="2" charset="-122"/>
                    <a:ea typeface="宋体" panose="02010600030101010101" pitchFamily="2" charset="-122"/>
                  </a:rPr>
                  <a:t>由于</a:t>
                </a:r>
                <a14:m>
                  <m:oMath xmlns:m="http://schemas.openxmlformats.org/officeDocument/2006/math">
                    <m:sSup>
                      <m:sSupPr>
                        <m:ctrlPr>
                          <a:rPr lang="zh-CN" altLang="zh-CN" sz="2400" i="1" smtClean="0">
                            <a:solidFill>
                              <a:schemeClr val="tx1"/>
                            </a:solidFill>
                            <a:latin typeface="Cambria Math" panose="02040503050406030204" pitchFamily="18" charset="0"/>
                          </a:rPr>
                        </m:ctrlPr>
                      </m:sSupPr>
                      <m:e>
                        <m:r>
                          <a:rPr lang="en-US" altLang="zh-CN" sz="2400" i="1">
                            <a:solidFill>
                              <a:schemeClr val="tx1"/>
                            </a:solidFill>
                            <a:latin typeface="Cambria Math" panose="02040503050406030204" pitchFamily="18" charset="0"/>
                          </a:rPr>
                          <m:t>𝜒</m:t>
                        </m:r>
                      </m:e>
                      <m:sup>
                        <m:r>
                          <a:rPr lang="en-US" altLang="zh-CN" sz="2400" i="1">
                            <a:solidFill>
                              <a:schemeClr val="tx1"/>
                            </a:solidFill>
                            <a:latin typeface="Cambria Math" panose="02040503050406030204" pitchFamily="18" charset="0"/>
                          </a:rPr>
                          <m:t>2</m:t>
                        </m:r>
                      </m:sup>
                    </m:sSup>
                  </m:oMath>
                </a14:m>
                <a:r>
                  <a:rPr lang="zh-CN" altLang="en-US" sz="2400" dirty="0">
                    <a:solidFill>
                      <a:schemeClr val="tx1"/>
                    </a:solidFill>
                    <a:latin typeface="宋体" panose="02010600030101010101" pitchFamily="2" charset="-122"/>
                    <a:ea typeface="宋体" panose="02010600030101010101" pitchFamily="2" charset="-122"/>
                  </a:rPr>
                  <a:t>分布的可加性，则</a:t>
                </a:r>
                <a:endParaRPr lang="zh-CN" altLang="zh-CN" sz="2400" dirty="0">
                  <a:solidFill>
                    <a:schemeClr val="tx1"/>
                  </a:solidFill>
                  <a:latin typeface="宋体" panose="02010600030101010101" pitchFamily="2" charset="-122"/>
                  <a:ea typeface="宋体" panose="02010600030101010101" pitchFamily="2" charset="-122"/>
                </a:endParaRPr>
              </a:p>
              <a:p>
                <a:pPr marL="0" lvl="0" indent="0" defTabSz="914400">
                  <a:spcBef>
                    <a:spcPts val="1200"/>
                  </a:spcBef>
                  <a:spcAft>
                    <a:spcPts val="0"/>
                  </a:spcAft>
                  <a:buSzTx/>
                  <a:buNone/>
                  <a:defRPr/>
                </a:pPr>
                <a14:m>
                  <m:oMathPara xmlns:m="http://schemas.openxmlformats.org/officeDocument/2006/math">
                    <m:oMathParaPr>
                      <m:jc m:val="centerGroup"/>
                    </m:oMathParaPr>
                    <m:oMath xmlns:m="http://schemas.openxmlformats.org/officeDocument/2006/math">
                      <m:f>
                        <m:fPr>
                          <m:ctrlPr>
                            <a:rPr lang="zh-CN" altLang="zh-CN" sz="2600" b="1" i="1" smtClean="0">
                              <a:solidFill>
                                <a:srgbClr val="7030A0"/>
                              </a:solidFill>
                              <a:latin typeface="Cambria Math" panose="02040503050406030204" pitchFamily="18" charset="0"/>
                            </a:rPr>
                          </m:ctrlPr>
                        </m:fPr>
                        <m:num>
                          <m:r>
                            <a:rPr lang="en-US" altLang="zh-CN" sz="2600" b="1" i="1">
                              <a:solidFill>
                                <a:srgbClr val="7030A0"/>
                              </a:solidFill>
                              <a:latin typeface="Cambria Math" panose="02040503050406030204" pitchFamily="18" charset="0"/>
                            </a:rPr>
                            <m:t>𝟏</m:t>
                          </m:r>
                        </m:num>
                        <m:den>
                          <m:r>
                            <a:rPr lang="en-US" altLang="zh-CN" sz="2600" b="1" i="1">
                              <a:solidFill>
                                <a:srgbClr val="7030A0"/>
                              </a:solidFill>
                              <a:latin typeface="Cambria Math" panose="02040503050406030204" pitchFamily="18" charset="0"/>
                            </a:rPr>
                            <m:t>𝟐</m:t>
                          </m:r>
                        </m:den>
                      </m:f>
                      <m:sSubSup>
                        <m:sSubSupPr>
                          <m:ctrlPr>
                            <a:rPr lang="zh-CN" altLang="zh-CN" sz="2600" b="1" i="1">
                              <a:solidFill>
                                <a:srgbClr val="7030A0"/>
                              </a:solidFill>
                              <a:latin typeface="Cambria Math" panose="02040503050406030204" pitchFamily="18" charset="0"/>
                            </a:rPr>
                          </m:ctrlPr>
                        </m:sSubSupPr>
                        <m:e>
                          <m:r>
                            <a:rPr lang="en-US" altLang="zh-CN" sz="2600" b="1" i="1">
                              <a:solidFill>
                                <a:srgbClr val="7030A0"/>
                              </a:solidFill>
                              <a:latin typeface="Cambria Math" panose="02040503050406030204" pitchFamily="18" charset="0"/>
                            </a:rPr>
                            <m:t>𝑿</m:t>
                          </m:r>
                        </m:e>
                        <m:sub>
                          <m:r>
                            <a:rPr lang="en-US" altLang="zh-CN" sz="2600" b="1" i="1">
                              <a:solidFill>
                                <a:srgbClr val="7030A0"/>
                              </a:solidFill>
                              <a:latin typeface="Cambria Math" panose="02040503050406030204" pitchFamily="18" charset="0"/>
                            </a:rPr>
                            <m:t>𝟏</m:t>
                          </m:r>
                        </m:sub>
                        <m:sup>
                          <m:r>
                            <a:rPr lang="en-US" altLang="zh-CN" sz="2600" b="1" i="1">
                              <a:solidFill>
                                <a:srgbClr val="7030A0"/>
                              </a:solidFill>
                              <a:latin typeface="Cambria Math" panose="02040503050406030204" pitchFamily="18" charset="0"/>
                            </a:rPr>
                            <m:t>𝟐</m:t>
                          </m:r>
                        </m:sup>
                      </m:sSubSup>
                      <m:r>
                        <a:rPr lang="en-US" altLang="zh-CN" sz="2600" b="1">
                          <a:solidFill>
                            <a:srgbClr val="7030A0"/>
                          </a:solidFill>
                          <a:latin typeface="Cambria Math" panose="02040503050406030204" pitchFamily="18" charset="0"/>
                        </a:rPr>
                        <m:t>+</m:t>
                      </m:r>
                      <m:f>
                        <m:fPr>
                          <m:ctrlPr>
                            <a:rPr lang="zh-CN" altLang="zh-CN" sz="2600" b="1" i="1">
                              <a:solidFill>
                                <a:srgbClr val="7030A0"/>
                              </a:solidFill>
                              <a:latin typeface="Cambria Math" panose="02040503050406030204" pitchFamily="18" charset="0"/>
                            </a:rPr>
                          </m:ctrlPr>
                        </m:fPr>
                        <m:num>
                          <m:r>
                            <a:rPr lang="en-US" altLang="zh-CN" sz="2600" b="1" i="1">
                              <a:solidFill>
                                <a:srgbClr val="7030A0"/>
                              </a:solidFill>
                              <a:latin typeface="Cambria Math" panose="02040503050406030204" pitchFamily="18" charset="0"/>
                            </a:rPr>
                            <m:t>𝟏</m:t>
                          </m:r>
                        </m:num>
                        <m:den>
                          <m:r>
                            <a:rPr lang="en-US" altLang="zh-CN" sz="2600" b="1" i="1">
                              <a:solidFill>
                                <a:srgbClr val="7030A0"/>
                              </a:solidFill>
                              <a:latin typeface="Cambria Math" panose="02040503050406030204" pitchFamily="18" charset="0"/>
                            </a:rPr>
                            <m:t>𝟒</m:t>
                          </m:r>
                        </m:den>
                      </m:f>
                      <m:sSup>
                        <m:sSupPr>
                          <m:ctrlPr>
                            <a:rPr lang="zh-CN" altLang="zh-CN" sz="2600" b="1" i="1">
                              <a:solidFill>
                                <a:srgbClr val="7030A0"/>
                              </a:solidFill>
                              <a:latin typeface="Cambria Math" panose="02040503050406030204" pitchFamily="18" charset="0"/>
                            </a:rPr>
                          </m:ctrlPr>
                        </m:sSupPr>
                        <m:e>
                          <m:r>
                            <a:rPr lang="en-US" altLang="zh-CN" sz="2600" b="1">
                              <a:solidFill>
                                <a:srgbClr val="7030A0"/>
                              </a:solidFill>
                              <a:latin typeface="Cambria Math" panose="02040503050406030204" pitchFamily="18" charset="0"/>
                            </a:rPr>
                            <m:t>(</m:t>
                          </m:r>
                          <m:sSub>
                            <m:sSubPr>
                              <m:ctrlPr>
                                <a:rPr lang="zh-CN" altLang="zh-CN" sz="2600" b="1" i="1">
                                  <a:solidFill>
                                    <a:srgbClr val="7030A0"/>
                                  </a:solidFill>
                                  <a:latin typeface="Cambria Math" panose="02040503050406030204" pitchFamily="18" charset="0"/>
                                </a:rPr>
                              </m:ctrlPr>
                            </m:sSubPr>
                            <m:e>
                              <m:r>
                                <a:rPr lang="en-US" altLang="zh-CN" sz="2600" b="1" i="1">
                                  <a:solidFill>
                                    <a:srgbClr val="7030A0"/>
                                  </a:solidFill>
                                  <a:latin typeface="Cambria Math" panose="02040503050406030204" pitchFamily="18" charset="0"/>
                                </a:rPr>
                                <m:t>𝑿</m:t>
                              </m:r>
                            </m:e>
                            <m:sub>
                              <m:r>
                                <a:rPr lang="en-US" altLang="zh-CN" sz="2600" b="1" i="1">
                                  <a:solidFill>
                                    <a:srgbClr val="7030A0"/>
                                  </a:solidFill>
                                  <a:latin typeface="Cambria Math" panose="02040503050406030204" pitchFamily="18" charset="0"/>
                                </a:rPr>
                                <m:t>𝟐</m:t>
                              </m:r>
                            </m:sub>
                          </m:sSub>
                          <m:r>
                            <a:rPr lang="en-US" altLang="zh-CN" sz="2600" b="1">
                              <a:solidFill>
                                <a:srgbClr val="7030A0"/>
                              </a:solidFill>
                              <a:latin typeface="Cambria Math" panose="02040503050406030204" pitchFamily="18" charset="0"/>
                            </a:rPr>
                            <m:t>+</m:t>
                          </m:r>
                          <m:sSub>
                            <m:sSubPr>
                              <m:ctrlPr>
                                <a:rPr lang="zh-CN" altLang="zh-CN" sz="2600" b="1" i="1">
                                  <a:solidFill>
                                    <a:srgbClr val="7030A0"/>
                                  </a:solidFill>
                                  <a:latin typeface="Cambria Math" panose="02040503050406030204" pitchFamily="18" charset="0"/>
                                </a:rPr>
                              </m:ctrlPr>
                            </m:sSubPr>
                            <m:e>
                              <m:r>
                                <a:rPr lang="en-US" altLang="zh-CN" sz="2600" b="1" i="1">
                                  <a:solidFill>
                                    <a:srgbClr val="7030A0"/>
                                  </a:solidFill>
                                  <a:latin typeface="Cambria Math" panose="02040503050406030204" pitchFamily="18" charset="0"/>
                                </a:rPr>
                                <m:t>𝑿</m:t>
                              </m:r>
                            </m:e>
                            <m:sub>
                              <m:r>
                                <a:rPr lang="en-US" altLang="zh-CN" sz="2600" b="1" i="1">
                                  <a:solidFill>
                                    <a:srgbClr val="7030A0"/>
                                  </a:solidFill>
                                  <a:latin typeface="Cambria Math" panose="02040503050406030204" pitchFamily="18" charset="0"/>
                                </a:rPr>
                                <m:t>𝟑</m:t>
                              </m:r>
                            </m:sub>
                          </m:sSub>
                          <m:r>
                            <a:rPr lang="en-US" altLang="zh-CN" sz="2600" b="1">
                              <a:solidFill>
                                <a:srgbClr val="7030A0"/>
                              </a:solidFill>
                              <a:latin typeface="Cambria Math" panose="02040503050406030204" pitchFamily="18" charset="0"/>
                            </a:rPr>
                            <m:t>)</m:t>
                          </m:r>
                        </m:e>
                        <m:sup>
                          <m:r>
                            <a:rPr lang="en-US" altLang="zh-CN" sz="2600" b="1" i="1">
                              <a:solidFill>
                                <a:srgbClr val="7030A0"/>
                              </a:solidFill>
                              <a:latin typeface="Cambria Math" panose="02040503050406030204" pitchFamily="18" charset="0"/>
                            </a:rPr>
                            <m:t>𝟐</m:t>
                          </m:r>
                        </m:sup>
                      </m:sSup>
                      <m:r>
                        <a:rPr lang="en-US" altLang="zh-CN" sz="2600" b="1">
                          <a:solidFill>
                            <a:srgbClr val="7030A0"/>
                          </a:solidFill>
                          <a:latin typeface="Cambria Math" panose="02040503050406030204" pitchFamily="18" charset="0"/>
                        </a:rPr>
                        <m:t>+</m:t>
                      </m:r>
                      <m:f>
                        <m:fPr>
                          <m:ctrlPr>
                            <a:rPr lang="zh-CN" altLang="zh-CN" sz="2600" b="1" i="1">
                              <a:solidFill>
                                <a:srgbClr val="7030A0"/>
                              </a:solidFill>
                              <a:latin typeface="Cambria Math" panose="02040503050406030204" pitchFamily="18" charset="0"/>
                            </a:rPr>
                          </m:ctrlPr>
                        </m:fPr>
                        <m:num>
                          <m:r>
                            <a:rPr lang="en-US" altLang="zh-CN" sz="2600" b="1" i="1">
                              <a:solidFill>
                                <a:srgbClr val="7030A0"/>
                              </a:solidFill>
                              <a:latin typeface="Cambria Math" panose="02040503050406030204" pitchFamily="18" charset="0"/>
                            </a:rPr>
                            <m:t>𝟏</m:t>
                          </m:r>
                        </m:num>
                        <m:den>
                          <m:r>
                            <a:rPr lang="en-US" altLang="zh-CN" sz="2600" b="1" i="1">
                              <a:solidFill>
                                <a:srgbClr val="7030A0"/>
                              </a:solidFill>
                              <a:latin typeface="Cambria Math" panose="02040503050406030204" pitchFamily="18" charset="0"/>
                            </a:rPr>
                            <m:t>𝟔</m:t>
                          </m:r>
                        </m:den>
                      </m:f>
                      <m:sSup>
                        <m:sSupPr>
                          <m:ctrlPr>
                            <a:rPr lang="zh-CN" altLang="zh-CN" sz="2600" b="1" i="1">
                              <a:solidFill>
                                <a:srgbClr val="7030A0"/>
                              </a:solidFill>
                              <a:latin typeface="Cambria Math" panose="02040503050406030204" pitchFamily="18" charset="0"/>
                            </a:rPr>
                          </m:ctrlPr>
                        </m:sSupPr>
                        <m:e>
                          <m:r>
                            <a:rPr lang="en-US" altLang="zh-CN" sz="2600" b="1">
                              <a:solidFill>
                                <a:srgbClr val="7030A0"/>
                              </a:solidFill>
                              <a:latin typeface="Cambria Math" panose="02040503050406030204" pitchFamily="18" charset="0"/>
                            </a:rPr>
                            <m:t>(</m:t>
                          </m:r>
                          <m:sSub>
                            <m:sSubPr>
                              <m:ctrlPr>
                                <a:rPr lang="zh-CN" altLang="zh-CN" sz="2600" b="1" i="1">
                                  <a:solidFill>
                                    <a:srgbClr val="7030A0"/>
                                  </a:solidFill>
                                  <a:latin typeface="Cambria Math" panose="02040503050406030204" pitchFamily="18" charset="0"/>
                                </a:rPr>
                              </m:ctrlPr>
                            </m:sSubPr>
                            <m:e>
                              <m:r>
                                <a:rPr lang="en-US" altLang="zh-CN" sz="2600" b="1" i="1">
                                  <a:solidFill>
                                    <a:srgbClr val="7030A0"/>
                                  </a:solidFill>
                                  <a:latin typeface="Cambria Math" panose="02040503050406030204" pitchFamily="18" charset="0"/>
                                </a:rPr>
                                <m:t>𝑿</m:t>
                              </m:r>
                            </m:e>
                            <m:sub>
                              <m:r>
                                <a:rPr lang="en-US" altLang="zh-CN" sz="2600" b="1" i="1">
                                  <a:solidFill>
                                    <a:srgbClr val="7030A0"/>
                                  </a:solidFill>
                                  <a:latin typeface="Cambria Math" panose="02040503050406030204" pitchFamily="18" charset="0"/>
                                </a:rPr>
                                <m:t>𝟒</m:t>
                              </m:r>
                            </m:sub>
                          </m:sSub>
                          <m:r>
                            <a:rPr lang="en-US" altLang="zh-CN" sz="2600" b="1">
                              <a:solidFill>
                                <a:srgbClr val="7030A0"/>
                              </a:solidFill>
                              <a:latin typeface="Cambria Math" panose="02040503050406030204" pitchFamily="18" charset="0"/>
                            </a:rPr>
                            <m:t>+</m:t>
                          </m:r>
                          <m:sSub>
                            <m:sSubPr>
                              <m:ctrlPr>
                                <a:rPr lang="zh-CN" altLang="zh-CN" sz="2600" b="1" i="1">
                                  <a:solidFill>
                                    <a:srgbClr val="7030A0"/>
                                  </a:solidFill>
                                  <a:latin typeface="Cambria Math" panose="02040503050406030204" pitchFamily="18" charset="0"/>
                                </a:rPr>
                              </m:ctrlPr>
                            </m:sSubPr>
                            <m:e>
                              <m:r>
                                <a:rPr lang="en-US" altLang="zh-CN" sz="2600" b="1" i="1">
                                  <a:solidFill>
                                    <a:srgbClr val="7030A0"/>
                                  </a:solidFill>
                                  <a:latin typeface="Cambria Math" panose="02040503050406030204" pitchFamily="18" charset="0"/>
                                </a:rPr>
                                <m:t>𝑿</m:t>
                              </m:r>
                            </m:e>
                            <m:sub>
                              <m:r>
                                <a:rPr lang="en-US" altLang="zh-CN" sz="2600" b="1" i="1">
                                  <a:solidFill>
                                    <a:srgbClr val="7030A0"/>
                                  </a:solidFill>
                                  <a:latin typeface="Cambria Math" panose="02040503050406030204" pitchFamily="18" charset="0"/>
                                </a:rPr>
                                <m:t>𝟓</m:t>
                              </m:r>
                            </m:sub>
                          </m:sSub>
                          <m:r>
                            <a:rPr lang="en-US" altLang="zh-CN" sz="2600" b="1">
                              <a:solidFill>
                                <a:srgbClr val="7030A0"/>
                              </a:solidFill>
                              <a:latin typeface="Cambria Math" panose="02040503050406030204" pitchFamily="18" charset="0"/>
                            </a:rPr>
                            <m:t>+</m:t>
                          </m:r>
                          <m:sSub>
                            <m:sSubPr>
                              <m:ctrlPr>
                                <a:rPr lang="zh-CN" altLang="zh-CN" sz="2600" b="1" i="1">
                                  <a:solidFill>
                                    <a:srgbClr val="7030A0"/>
                                  </a:solidFill>
                                  <a:latin typeface="Cambria Math" panose="02040503050406030204" pitchFamily="18" charset="0"/>
                                </a:rPr>
                              </m:ctrlPr>
                            </m:sSubPr>
                            <m:e>
                              <m:r>
                                <a:rPr lang="en-US" altLang="zh-CN" sz="2600" b="1" i="1">
                                  <a:solidFill>
                                    <a:srgbClr val="7030A0"/>
                                  </a:solidFill>
                                  <a:latin typeface="Cambria Math" panose="02040503050406030204" pitchFamily="18" charset="0"/>
                                </a:rPr>
                                <m:t>𝑿</m:t>
                              </m:r>
                            </m:e>
                            <m:sub>
                              <m:r>
                                <a:rPr lang="en-US" altLang="zh-CN" sz="2600" b="1" i="1">
                                  <a:solidFill>
                                    <a:srgbClr val="7030A0"/>
                                  </a:solidFill>
                                  <a:latin typeface="Cambria Math" panose="02040503050406030204" pitchFamily="18" charset="0"/>
                                </a:rPr>
                                <m:t>𝟔</m:t>
                              </m:r>
                            </m:sub>
                          </m:sSub>
                          <m:r>
                            <a:rPr lang="en-US" altLang="zh-CN" sz="2600" b="1">
                              <a:solidFill>
                                <a:srgbClr val="7030A0"/>
                              </a:solidFill>
                              <a:latin typeface="Cambria Math" panose="02040503050406030204" pitchFamily="18" charset="0"/>
                            </a:rPr>
                            <m:t>)</m:t>
                          </m:r>
                        </m:e>
                        <m:sup>
                          <m:r>
                            <a:rPr lang="en-US" altLang="zh-CN" sz="2600" b="1" i="1">
                              <a:solidFill>
                                <a:srgbClr val="7030A0"/>
                              </a:solidFill>
                              <a:latin typeface="Cambria Math" panose="02040503050406030204" pitchFamily="18" charset="0"/>
                            </a:rPr>
                            <m:t>𝟐</m:t>
                          </m:r>
                        </m:sup>
                      </m:sSup>
                      <m:r>
                        <a:rPr lang="en-US" altLang="zh-CN" sz="2600" b="1">
                          <a:solidFill>
                            <a:srgbClr val="7030A0"/>
                          </a:solidFill>
                          <a:latin typeface="Cambria Math" panose="02040503050406030204" pitchFamily="18" charset="0"/>
                        </a:rPr>
                        <m:t>~</m:t>
                      </m:r>
                      <m:sSup>
                        <m:sSupPr>
                          <m:ctrlPr>
                            <a:rPr lang="zh-CN" altLang="zh-CN" sz="2600" b="1" i="1">
                              <a:solidFill>
                                <a:srgbClr val="7030A0"/>
                              </a:solidFill>
                              <a:latin typeface="Cambria Math" panose="02040503050406030204" pitchFamily="18" charset="0"/>
                            </a:rPr>
                          </m:ctrlPr>
                        </m:sSupPr>
                        <m:e>
                          <m:r>
                            <a:rPr lang="en-US" altLang="zh-CN" sz="2600" b="1" i="1">
                              <a:solidFill>
                                <a:srgbClr val="7030A0"/>
                              </a:solidFill>
                              <a:latin typeface="Cambria Math" panose="02040503050406030204" pitchFamily="18" charset="0"/>
                            </a:rPr>
                            <m:t>𝝌</m:t>
                          </m:r>
                        </m:e>
                        <m:sup>
                          <m:r>
                            <a:rPr lang="en-US" altLang="zh-CN" sz="2600" b="1" i="1">
                              <a:solidFill>
                                <a:srgbClr val="7030A0"/>
                              </a:solidFill>
                              <a:latin typeface="Cambria Math" panose="02040503050406030204" pitchFamily="18" charset="0"/>
                            </a:rPr>
                            <m:t>𝟐</m:t>
                          </m:r>
                        </m:sup>
                      </m:sSup>
                      <m:r>
                        <a:rPr lang="en-US" altLang="zh-CN" sz="2600" b="1">
                          <a:solidFill>
                            <a:srgbClr val="7030A0"/>
                          </a:solidFill>
                          <a:latin typeface="Cambria Math" panose="02040503050406030204" pitchFamily="18" charset="0"/>
                        </a:rPr>
                        <m:t>(</m:t>
                      </m:r>
                      <m:r>
                        <a:rPr lang="en-US" altLang="zh-CN" sz="2600" b="1" i="1">
                          <a:solidFill>
                            <a:srgbClr val="7030A0"/>
                          </a:solidFill>
                          <a:latin typeface="Cambria Math" panose="02040503050406030204" pitchFamily="18" charset="0"/>
                        </a:rPr>
                        <m:t>𝟑</m:t>
                      </m:r>
                      <m:r>
                        <a:rPr lang="en-US" altLang="zh-CN" sz="2600" b="1">
                          <a:solidFill>
                            <a:srgbClr val="7030A0"/>
                          </a:solidFill>
                          <a:latin typeface="Cambria Math" panose="02040503050406030204" pitchFamily="18" charset="0"/>
                        </a:rPr>
                        <m:t>)</m:t>
                      </m:r>
                    </m:oMath>
                  </m:oMathPara>
                </a14:m>
                <a:endParaRPr lang="zh-CN" altLang="zh-CN" sz="2600" b="1" dirty="0">
                  <a:solidFill>
                    <a:srgbClr val="7030A0"/>
                  </a:solidFill>
                  <a:latin typeface="宋体" panose="02010600030101010101" pitchFamily="2" charset="-122"/>
                  <a:ea typeface="宋体" panose="02010600030101010101" pitchFamily="2" charset="-122"/>
                </a:endParaRPr>
              </a:p>
              <a:p>
                <a:pPr marL="0" lvl="0" indent="0" algn="just" defTabSz="914400">
                  <a:spcBef>
                    <a:spcPts val="1200"/>
                  </a:spcBef>
                  <a:spcAft>
                    <a:spcPts val="0"/>
                  </a:spcAft>
                  <a:buSzTx/>
                  <a:buNone/>
                  <a:defRPr/>
                </a:pPr>
                <a14:m>
                  <m:oMathPara xmlns:m="http://schemas.openxmlformats.org/officeDocument/2006/math">
                    <m:oMathParaPr>
                      <m:jc m:val="centerGroup"/>
                    </m:oMathParaPr>
                    <m:oMath xmlns:m="http://schemas.openxmlformats.org/officeDocument/2006/math">
                      <m:r>
                        <a:rPr lang="en-US" altLang="zh-CN" sz="2600" b="1" i="1">
                          <a:solidFill>
                            <a:srgbClr val="7030A0"/>
                          </a:solidFill>
                          <a:latin typeface="Cambria Math" panose="02040503050406030204" pitchFamily="18" charset="0"/>
                        </a:rPr>
                        <m:t>𝐚</m:t>
                      </m:r>
                      <m:r>
                        <a:rPr lang="en-US" altLang="zh-CN" sz="2600" b="1">
                          <a:solidFill>
                            <a:srgbClr val="7030A0"/>
                          </a:solidFill>
                          <a:latin typeface="Cambria Math" panose="02040503050406030204" pitchFamily="18" charset="0"/>
                        </a:rPr>
                        <m:t>=</m:t>
                      </m:r>
                      <m:f>
                        <m:fPr>
                          <m:ctrlPr>
                            <a:rPr lang="zh-CN" altLang="zh-CN" sz="2600" b="1" i="1">
                              <a:solidFill>
                                <a:srgbClr val="7030A0"/>
                              </a:solidFill>
                              <a:latin typeface="Cambria Math" panose="02040503050406030204" pitchFamily="18" charset="0"/>
                            </a:rPr>
                          </m:ctrlPr>
                        </m:fPr>
                        <m:num>
                          <m:r>
                            <a:rPr lang="en-US" altLang="zh-CN" sz="2600" b="1" i="1">
                              <a:solidFill>
                                <a:srgbClr val="7030A0"/>
                              </a:solidFill>
                              <a:latin typeface="Cambria Math" panose="02040503050406030204" pitchFamily="18" charset="0"/>
                            </a:rPr>
                            <m:t>𝟏</m:t>
                          </m:r>
                        </m:num>
                        <m:den>
                          <m:r>
                            <a:rPr lang="en-US" altLang="zh-CN" sz="2600" b="1" i="1">
                              <a:solidFill>
                                <a:srgbClr val="7030A0"/>
                              </a:solidFill>
                              <a:latin typeface="Cambria Math" panose="02040503050406030204" pitchFamily="18" charset="0"/>
                            </a:rPr>
                            <m:t>𝟐</m:t>
                          </m:r>
                        </m:den>
                      </m:f>
                      <m:r>
                        <a:rPr lang="en-US" altLang="zh-CN" sz="2600" b="1">
                          <a:solidFill>
                            <a:srgbClr val="7030A0"/>
                          </a:solidFill>
                          <a:latin typeface="Cambria Math" charset="0"/>
                        </a:rPr>
                        <m:t>,</m:t>
                      </m:r>
                      <m:r>
                        <a:rPr lang="en-US" altLang="zh-CN" sz="2600" b="1" i="1">
                          <a:solidFill>
                            <a:srgbClr val="7030A0"/>
                          </a:solidFill>
                          <a:latin typeface="Cambria Math" panose="02040503050406030204" pitchFamily="18" charset="0"/>
                        </a:rPr>
                        <m:t>𝐛</m:t>
                      </m:r>
                      <m:r>
                        <a:rPr lang="en-US" altLang="zh-CN" sz="2600" b="1">
                          <a:solidFill>
                            <a:srgbClr val="7030A0"/>
                          </a:solidFill>
                          <a:latin typeface="Cambria Math" panose="02040503050406030204" pitchFamily="18" charset="0"/>
                        </a:rPr>
                        <m:t>=</m:t>
                      </m:r>
                      <m:f>
                        <m:fPr>
                          <m:ctrlPr>
                            <a:rPr lang="zh-CN" altLang="zh-CN" sz="2600" b="1" i="1">
                              <a:solidFill>
                                <a:srgbClr val="7030A0"/>
                              </a:solidFill>
                              <a:latin typeface="Cambria Math" panose="02040503050406030204" pitchFamily="18" charset="0"/>
                            </a:rPr>
                          </m:ctrlPr>
                        </m:fPr>
                        <m:num>
                          <m:r>
                            <a:rPr lang="en-US" altLang="zh-CN" sz="2600" b="1" i="1">
                              <a:solidFill>
                                <a:srgbClr val="7030A0"/>
                              </a:solidFill>
                              <a:latin typeface="Cambria Math" panose="02040503050406030204" pitchFamily="18" charset="0"/>
                            </a:rPr>
                            <m:t>𝟏</m:t>
                          </m:r>
                        </m:num>
                        <m:den>
                          <m:r>
                            <a:rPr lang="en-US" altLang="zh-CN" sz="2600" b="1" i="1">
                              <a:solidFill>
                                <a:srgbClr val="7030A0"/>
                              </a:solidFill>
                              <a:latin typeface="Cambria Math" panose="02040503050406030204" pitchFamily="18" charset="0"/>
                            </a:rPr>
                            <m:t>𝟒</m:t>
                          </m:r>
                        </m:den>
                      </m:f>
                      <m:r>
                        <a:rPr lang="en-US" altLang="zh-CN" sz="2600" b="1">
                          <a:solidFill>
                            <a:srgbClr val="7030A0"/>
                          </a:solidFill>
                          <a:latin typeface="Cambria Math" charset="0"/>
                        </a:rPr>
                        <m:t>,</m:t>
                      </m:r>
                      <m:r>
                        <a:rPr lang="en-US" altLang="zh-CN" sz="2600" b="1" i="1">
                          <a:solidFill>
                            <a:srgbClr val="7030A0"/>
                          </a:solidFill>
                          <a:latin typeface="Cambria Math" panose="02040503050406030204" pitchFamily="18" charset="0"/>
                        </a:rPr>
                        <m:t>𝐚</m:t>
                      </m:r>
                      <m:r>
                        <a:rPr lang="en-US" altLang="zh-CN" sz="2600" b="1">
                          <a:solidFill>
                            <a:srgbClr val="7030A0"/>
                          </a:solidFill>
                          <a:latin typeface="Cambria Math" panose="02040503050406030204" pitchFamily="18" charset="0"/>
                        </a:rPr>
                        <m:t>=</m:t>
                      </m:r>
                      <m:f>
                        <m:fPr>
                          <m:ctrlPr>
                            <a:rPr lang="zh-CN" altLang="zh-CN" sz="2600" b="1" i="1">
                              <a:solidFill>
                                <a:srgbClr val="7030A0"/>
                              </a:solidFill>
                              <a:latin typeface="Cambria Math" panose="02040503050406030204" pitchFamily="18" charset="0"/>
                            </a:rPr>
                          </m:ctrlPr>
                        </m:fPr>
                        <m:num>
                          <m:r>
                            <a:rPr lang="en-US" altLang="zh-CN" sz="2600" b="1" i="1">
                              <a:solidFill>
                                <a:srgbClr val="7030A0"/>
                              </a:solidFill>
                              <a:latin typeface="Cambria Math" panose="02040503050406030204" pitchFamily="18" charset="0"/>
                            </a:rPr>
                            <m:t>𝟏</m:t>
                          </m:r>
                        </m:num>
                        <m:den>
                          <m:r>
                            <a:rPr lang="en-US" altLang="zh-CN" sz="2600" b="1" i="1">
                              <a:solidFill>
                                <a:srgbClr val="7030A0"/>
                              </a:solidFill>
                              <a:latin typeface="Cambria Math" panose="02040503050406030204" pitchFamily="18" charset="0"/>
                            </a:rPr>
                            <m:t>𝟔</m:t>
                          </m:r>
                        </m:den>
                      </m:f>
                    </m:oMath>
                  </m:oMathPara>
                </a14:m>
                <a:endParaRPr lang="zh-CN" altLang="zh-CN" sz="2600" b="1" dirty="0">
                  <a:solidFill>
                    <a:schemeClr val="tx1"/>
                  </a:solidFill>
                  <a:latin typeface="宋体" panose="02010600030101010101" pitchFamily="2" charset="-122"/>
                  <a:ea typeface="宋体" panose="02010600030101010101" pitchFamily="2" charset="-122"/>
                </a:endParaRPr>
              </a:p>
              <a:p>
                <a:pPr marL="0" indent="720000">
                  <a:spcBef>
                    <a:spcPts val="1200"/>
                  </a:spcBef>
                  <a:spcAft>
                    <a:spcPts val="0"/>
                  </a:spcAft>
                  <a:buNone/>
                </a:pPr>
                <a:endParaRPr lang="zh-CN" altLang="zh-CN" sz="2800" dirty="0">
                  <a:solidFill>
                    <a:schemeClr val="tx1"/>
                  </a:solidFill>
                  <a:latin typeface="宋体" panose="02010600030101010101" pitchFamily="2" charset="-122"/>
                  <a:ea typeface="宋体" panose="02010600030101010101" pitchFamily="2" charset="-122"/>
                </a:endParaRPr>
              </a:p>
              <a:p>
                <a:pPr marL="0" indent="720000">
                  <a:spcBef>
                    <a:spcPts val="1200"/>
                  </a:spcBef>
                  <a:spcAft>
                    <a:spcPts val="0"/>
                  </a:spcAft>
                  <a:buNone/>
                </a:pPr>
                <a:endParaRPr lang="en-US" altLang="zh-CN"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792704" y="622153"/>
                <a:ext cx="8903369" cy="5689190"/>
              </a:xfrm>
              <a:blipFill>
                <a:blip r:embed="rId2"/>
                <a:stretch>
                  <a:fillRect l="-1369" t="-1286"/>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标题 1">
            <a:extLst>
              <a:ext uri="{FF2B5EF4-FFF2-40B4-BE49-F238E27FC236}">
                <a16:creationId xmlns:a16="http://schemas.microsoft.com/office/drawing/2014/main" id="{ECC2B485-04D7-FB61-68F7-5D2DFC26D376}"/>
              </a:ext>
            </a:extLst>
          </p:cNvPr>
          <p:cNvSpPr txBox="1">
            <a:spLocks/>
          </p:cNvSpPr>
          <p:nvPr/>
        </p:nvSpPr>
        <p:spPr>
          <a:xfrm>
            <a:off x="2048208" y="186014"/>
            <a:ext cx="8769216"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effectLst/>
                <a:latin typeface="+mj-ea"/>
              </a:rPr>
              <a:t>【</a:t>
            </a:r>
            <a:r>
              <a:rPr lang="zh-CN" altLang="en-US" b="1" kern="0" dirty="0">
                <a:effectLst/>
                <a:latin typeface="+mj-ea"/>
              </a:rPr>
              <a:t>例</a:t>
            </a:r>
            <a:r>
              <a:rPr lang="en-US" altLang="zh-CN" b="1" kern="0" dirty="0">
                <a:effectLst/>
                <a:latin typeface="+mj-ea"/>
              </a:rPr>
              <a:t>6-5】</a:t>
            </a:r>
            <a:r>
              <a:rPr lang="zh-CN" altLang="en-US" b="1" kern="0" dirty="0">
                <a:effectLst/>
                <a:latin typeface="+mj-ea"/>
              </a:rPr>
              <a:t>解</a:t>
            </a:r>
            <a:r>
              <a:rPr lang="en-US" altLang="zh-CN" b="1" kern="0" dirty="0">
                <a:effectLst/>
                <a:latin typeface="+mj-ea"/>
              </a:rPr>
              <a:t> </a:t>
            </a:r>
            <a:endParaRPr lang="zh-CN" altLang="en-US" b="1" dirty="0">
              <a:effectLst/>
            </a:endParaRPr>
          </a:p>
        </p:txBody>
      </p:sp>
    </p:spTree>
    <p:extLst>
      <p:ext uri="{BB962C8B-B14F-4D97-AF65-F5344CB8AC3E}">
        <p14:creationId xmlns:p14="http://schemas.microsoft.com/office/powerpoint/2010/main" val="29644073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76504" y="619626"/>
                <a:ext cx="8771021" cy="5333761"/>
              </a:xfrm>
            </p:spPr>
            <p:txBody>
              <a:bodyPr>
                <a:noAutofit/>
              </a:bodyPr>
              <a:lstStyle/>
              <a:p>
                <a:pPr indent="0">
                  <a:lnSpc>
                    <a:spcPct val="150000"/>
                  </a:lnSpc>
                  <a:spcBef>
                    <a:spcPts val="600"/>
                  </a:spcBef>
                  <a:spcAft>
                    <a:spcPts val="0"/>
                  </a:spcAft>
                  <a:buNone/>
                </a:pPr>
                <a:r>
                  <a:rPr lang="en-US" altLang="zh-CN" b="1" dirty="0">
                    <a:solidFill>
                      <a:srgbClr val="00B0F0"/>
                    </a:solidFill>
                  </a:rPr>
                  <a:t>1. </a:t>
                </a:r>
                <a14:m>
                  <m:oMath xmlns:m="http://schemas.openxmlformats.org/officeDocument/2006/math">
                    <m:r>
                      <a:rPr lang="en-US" altLang="zh-CN" b="1" i="1" smtClean="0">
                        <a:solidFill>
                          <a:srgbClr val="00B0F0"/>
                        </a:solidFill>
                        <a:latin typeface="Cambria Math" panose="02040503050406030204" pitchFamily="18" charset="0"/>
                      </a:rPr>
                      <m:t>𝒕</m:t>
                    </m:r>
                  </m:oMath>
                </a14:m>
                <a:r>
                  <a:rPr lang="zh-CN" altLang="en-US" b="1" dirty="0">
                    <a:solidFill>
                      <a:srgbClr val="00B0F0"/>
                    </a:solidFill>
                  </a:rPr>
                  <a:t>分布的定义及其密度函数</a:t>
                </a:r>
              </a:p>
              <a:p>
                <a:pPr marL="0" indent="720000">
                  <a:lnSpc>
                    <a:spcPct val="150000"/>
                  </a:lnSpc>
                  <a:spcBef>
                    <a:spcPts val="6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若</a:t>
                </a:r>
                <a14:m>
                  <m:oMath xmlns:m="http://schemas.openxmlformats.org/officeDocument/2006/math">
                    <m:r>
                      <a:rPr lang="en-US" altLang="zh-CN" sz="2800" b="0" i="1" smtClean="0">
                        <a:solidFill>
                          <a:schemeClr val="tx1"/>
                        </a:solidFill>
                        <a:latin typeface="Cambria Math" panose="02040503050406030204" pitchFamily="18" charset="0"/>
                      </a:rPr>
                      <m:t>𝑋</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𝑁</m:t>
                    </m:r>
                    <m:r>
                      <a:rPr lang="en-US" altLang="zh-CN" sz="2800" b="0" i="1" smtClean="0">
                        <a:solidFill>
                          <a:schemeClr val="tx1"/>
                        </a:solidFill>
                        <a:latin typeface="Cambria Math" panose="02040503050406030204" pitchFamily="18" charset="0"/>
                      </a:rPr>
                      <m:t>(0,1)</m:t>
                    </m:r>
                  </m:oMath>
                </a14:m>
                <a:r>
                  <a:rPr lang="en-US" altLang="zh-CN" sz="2800" dirty="0">
                    <a:solidFill>
                      <a:schemeClr val="tx1"/>
                    </a:solidFill>
                    <a:latin typeface="宋体" panose="02010600030101010101" pitchFamily="2" charset="-122"/>
                    <a:ea typeface="宋体" panose="02010600030101010101" pitchFamily="2" charset="-122"/>
                  </a:rPr>
                  <a:t>,</a:t>
                </a:r>
                <a:r>
                  <a:rPr lang="zh-CN" altLang="en-US" sz="2800" dirty="0">
                    <a:solidFill>
                      <a:schemeClr val="tx1"/>
                    </a:solidFill>
                    <a:latin typeface="宋体" panose="02010600030101010101" pitchFamily="2" charset="-122"/>
                    <a:ea typeface="宋体" panose="02010600030101010101" pitchFamily="2" charset="-122"/>
                  </a:rPr>
                  <a:t>随机变量</a:t>
                </a:r>
                <a14:m>
                  <m:oMath xmlns:m="http://schemas.openxmlformats.org/officeDocument/2006/math">
                    <m:r>
                      <a:rPr lang="en-US" altLang="zh-CN" sz="2800" b="0" i="1" dirty="0" smtClean="0">
                        <a:solidFill>
                          <a:schemeClr val="tx1"/>
                        </a:solidFill>
                        <a:latin typeface="Cambria Math" panose="02040503050406030204" pitchFamily="18" charset="0"/>
                      </a:rPr>
                      <m:t>𝑌</m:t>
                    </m:r>
                    <m:r>
                      <a:rPr lang="en-US" altLang="zh-CN" sz="2800" b="0" i="1" dirty="0" smtClean="0">
                        <a:solidFill>
                          <a:schemeClr val="tx1"/>
                        </a:solidFill>
                        <a:latin typeface="Cambria Math" panose="02040503050406030204" pitchFamily="18" charset="0"/>
                      </a:rPr>
                      <m:t>~</m:t>
                    </m:r>
                  </m:oMath>
                </a14:m>
                <a:r>
                  <a:rPr lang="zh-CN" altLang="zh-CN" sz="2800" dirty="0">
                    <a:solidFill>
                      <a:schemeClr val="tx1"/>
                    </a:solidFill>
                    <a:latin typeface="宋体" panose="02010600030101010101" pitchFamily="2" charset="-122"/>
                    <a:ea typeface="宋体" panose="02010600030101010101" pitchFamily="2" charset="-122"/>
                  </a:rPr>
                  <a:t> </a:t>
                </a:r>
                <a14:m>
                  <m:oMath xmlns:m="http://schemas.openxmlformats.org/officeDocument/2006/math">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𝜒</m:t>
                        </m:r>
                      </m:e>
                      <m:sup>
                        <m:r>
                          <a:rPr lang="en-US" altLang="zh-CN" sz="2800" i="1">
                            <a:solidFill>
                              <a:schemeClr val="tx1"/>
                            </a:solidFill>
                            <a:latin typeface="Cambria Math" panose="02040503050406030204" pitchFamily="18" charset="0"/>
                          </a:rPr>
                          <m:t>2</m:t>
                        </m:r>
                      </m:sup>
                    </m:sSup>
                    <m:r>
                      <a:rPr lang="en-US" altLang="zh-CN" sz="2800" i="1">
                        <a:solidFill>
                          <a:schemeClr val="tx1"/>
                        </a:solidFill>
                        <a:latin typeface="Cambria Math" panose="02040503050406030204" pitchFamily="18" charset="0"/>
                      </a:rPr>
                      <m:t> </m:t>
                    </m:r>
                  </m:oMath>
                </a14:m>
                <a:r>
                  <a:rPr lang="en-US" altLang="zh-CN" sz="2800" dirty="0">
                    <a:solidFill>
                      <a:schemeClr val="tx1"/>
                    </a:solidFill>
                    <a:latin typeface="宋体" panose="02010600030101010101" pitchFamily="2" charset="-122"/>
                    <a:ea typeface="宋体" panose="02010600030101010101" pitchFamily="2" charset="-122"/>
                  </a:rPr>
                  <a:t>(n)</a:t>
                </a:r>
                <a:r>
                  <a:rPr lang="zh-CN" altLang="en-US" sz="2800" dirty="0">
                    <a:solidFill>
                      <a:schemeClr val="tx1"/>
                    </a:solidFill>
                    <a:latin typeface="宋体" panose="02010600030101010101" pitchFamily="2" charset="-122"/>
                    <a:ea typeface="宋体" panose="02010600030101010101" pitchFamily="2" charset="-122"/>
                  </a:rPr>
                  <a:t>，随机变量，且随机变量</a:t>
                </a:r>
                <a14:m>
                  <m:oMath xmlns:m="http://schemas.openxmlformats.org/officeDocument/2006/math">
                    <m:r>
                      <a:rPr lang="en-US" altLang="zh-CN" sz="2800" b="0" i="1" smtClean="0">
                        <a:solidFill>
                          <a:schemeClr val="tx1"/>
                        </a:solidFill>
                        <a:latin typeface="Cambria Math" panose="02040503050406030204" pitchFamily="18" charset="0"/>
                      </a:rPr>
                      <m:t>𝑋</m:t>
                    </m:r>
                  </m:oMath>
                </a14:m>
                <a:r>
                  <a:rPr lang="zh-CN" altLang="en-US" sz="2800" dirty="0">
                    <a:solidFill>
                      <a:schemeClr val="tx1"/>
                    </a:solidFill>
                    <a:latin typeface="宋体" panose="02010600030101010101" pitchFamily="2" charset="-122"/>
                    <a:ea typeface="宋体" panose="02010600030101010101" pitchFamily="2" charset="-122"/>
                  </a:rPr>
                  <a:t>与</a:t>
                </a:r>
                <a14:m>
                  <m:oMath xmlns:m="http://schemas.openxmlformats.org/officeDocument/2006/math">
                    <m:r>
                      <a:rPr lang="en-US" altLang="zh-CN" sz="2800" b="0" i="1" dirty="0" smtClean="0">
                        <a:solidFill>
                          <a:schemeClr val="tx1"/>
                        </a:solidFill>
                        <a:latin typeface="Cambria Math" panose="02040503050406030204" pitchFamily="18" charset="0"/>
                      </a:rPr>
                      <m:t>𝑌</m:t>
                    </m:r>
                  </m:oMath>
                </a14:m>
                <a:r>
                  <a:rPr lang="zh-CN" altLang="en-US" sz="2800" dirty="0">
                    <a:solidFill>
                      <a:schemeClr val="tx1"/>
                    </a:solidFill>
                    <a:latin typeface="宋体" panose="02010600030101010101" pitchFamily="2" charset="-122"/>
                    <a:ea typeface="宋体" panose="02010600030101010101" pitchFamily="2" charset="-122"/>
                  </a:rPr>
                  <a:t>相互独立，则随机变量</a:t>
                </a:r>
              </a:p>
              <a:p>
                <a:pPr marL="0" indent="720000">
                  <a:spcBef>
                    <a:spcPts val="6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                  </a:t>
                </a:r>
                <a14:m>
                  <m:oMath xmlns:m="http://schemas.openxmlformats.org/officeDocument/2006/math">
                    <m:r>
                      <a:rPr lang="en-US" altLang="zh-CN" b="1" i="1" smtClean="0">
                        <a:solidFill>
                          <a:srgbClr val="00B0F0"/>
                        </a:solidFill>
                        <a:latin typeface="Cambria Math" panose="02040503050406030204" pitchFamily="18" charset="0"/>
                      </a:rPr>
                      <m:t>𝒕</m:t>
                    </m:r>
                    <m:r>
                      <a:rPr lang="en-US" altLang="zh-CN" b="1" i="1" smtClean="0">
                        <a:solidFill>
                          <a:srgbClr val="00B0F0"/>
                        </a:solidFill>
                        <a:latin typeface="Cambria Math" panose="02040503050406030204" pitchFamily="18" charset="0"/>
                      </a:rPr>
                      <m:t>=</m:t>
                    </m:r>
                    <m:f>
                      <m:fPr>
                        <m:ctrlPr>
                          <a:rPr lang="zh-CN" altLang="zh-CN" b="1" i="1">
                            <a:solidFill>
                              <a:srgbClr val="00B0F0"/>
                            </a:solidFill>
                            <a:latin typeface="Cambria Math" panose="02040503050406030204" pitchFamily="18" charset="0"/>
                          </a:rPr>
                        </m:ctrlPr>
                      </m:fPr>
                      <m:num>
                        <m:r>
                          <a:rPr lang="en-US" altLang="zh-CN" b="1" i="1">
                            <a:solidFill>
                              <a:srgbClr val="00B0F0"/>
                            </a:solidFill>
                            <a:latin typeface="Cambria Math" panose="02040503050406030204" pitchFamily="18" charset="0"/>
                          </a:rPr>
                          <m:t>𝑿</m:t>
                        </m:r>
                      </m:num>
                      <m:den>
                        <m:rad>
                          <m:radPr>
                            <m:degHide m:val="on"/>
                            <m:ctrlPr>
                              <a:rPr lang="zh-CN" altLang="zh-CN" b="1" i="1">
                                <a:solidFill>
                                  <a:srgbClr val="00B0F0"/>
                                </a:solidFill>
                                <a:latin typeface="Cambria Math" panose="02040503050406030204" pitchFamily="18" charset="0"/>
                              </a:rPr>
                            </m:ctrlPr>
                          </m:radPr>
                          <m:deg/>
                          <m:e>
                            <m:r>
                              <a:rPr lang="en-US" altLang="zh-CN" b="1" i="1">
                                <a:solidFill>
                                  <a:srgbClr val="00B0F0"/>
                                </a:solidFill>
                                <a:latin typeface="Cambria Math" panose="02040503050406030204" pitchFamily="18" charset="0"/>
                              </a:rPr>
                              <m:t>𝒀</m:t>
                            </m:r>
                            <m:r>
                              <a:rPr lang="en-US" altLang="zh-CN" b="1" i="1">
                                <a:solidFill>
                                  <a:srgbClr val="00B0F0"/>
                                </a:solidFill>
                                <a:latin typeface="Cambria Math" panose="02040503050406030204" pitchFamily="18" charset="0"/>
                              </a:rPr>
                              <m:t>/</m:t>
                            </m:r>
                            <m:r>
                              <a:rPr lang="en-US" altLang="zh-CN" b="1" i="1">
                                <a:solidFill>
                                  <a:srgbClr val="00B0F0"/>
                                </a:solidFill>
                                <a:latin typeface="Cambria Math" panose="02040503050406030204" pitchFamily="18" charset="0"/>
                              </a:rPr>
                              <m:t>𝒏</m:t>
                            </m:r>
                          </m:e>
                        </m:rad>
                      </m:den>
                    </m:f>
                  </m:oMath>
                </a14:m>
                <a:endParaRPr lang="zh-CN" altLang="en-US" sz="2800" b="1" dirty="0">
                  <a:solidFill>
                    <a:schemeClr val="tx1"/>
                  </a:solidFill>
                  <a:latin typeface="宋体" panose="02010600030101010101" pitchFamily="2" charset="-122"/>
                  <a:ea typeface="宋体" panose="02010600030101010101" pitchFamily="2" charset="-122"/>
                </a:endParaRPr>
              </a:p>
              <a:p>
                <a:pPr marL="0" indent="720000">
                  <a:lnSpc>
                    <a:spcPct val="150000"/>
                  </a:lnSpc>
                  <a:spcBef>
                    <a:spcPts val="6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服从自由度为</a:t>
                </a:r>
                <a14:m>
                  <m:oMath xmlns:m="http://schemas.openxmlformats.org/officeDocument/2006/math">
                    <m:r>
                      <a:rPr lang="en-US" altLang="zh-CN" sz="2800" b="0" i="1" smtClean="0">
                        <a:solidFill>
                          <a:schemeClr val="tx1"/>
                        </a:solidFill>
                        <a:latin typeface="Cambria Math" panose="02040503050406030204" pitchFamily="18" charset="0"/>
                      </a:rPr>
                      <m:t>𝑛</m:t>
                    </m:r>
                  </m:oMath>
                </a14:m>
                <a:r>
                  <a:rPr lang="zh-CN" altLang="en-US" sz="2800" dirty="0">
                    <a:solidFill>
                      <a:schemeClr val="tx1"/>
                    </a:solidFill>
                    <a:latin typeface="宋体" panose="02010600030101010101" pitchFamily="2" charset="-122"/>
                    <a:ea typeface="宋体" panose="02010600030101010101" pitchFamily="2" charset="-122"/>
                  </a:rPr>
                  <a:t>的</a:t>
                </a:r>
                <a14:m>
                  <m:oMath xmlns:m="http://schemas.openxmlformats.org/officeDocument/2006/math">
                    <m:r>
                      <a:rPr lang="en-US" altLang="zh-CN" sz="2800" b="0" i="1" dirty="0" smtClean="0">
                        <a:solidFill>
                          <a:schemeClr val="tx1"/>
                        </a:solidFill>
                        <a:latin typeface="Cambria Math" panose="02040503050406030204" pitchFamily="18" charset="0"/>
                      </a:rPr>
                      <m:t>𝑡</m:t>
                    </m:r>
                  </m:oMath>
                </a14:m>
                <a:r>
                  <a:rPr lang="zh-CN" altLang="en-US" sz="2800" dirty="0">
                    <a:solidFill>
                      <a:schemeClr val="tx1"/>
                    </a:solidFill>
                    <a:latin typeface="宋体" panose="02010600030101010101" pitchFamily="2" charset="-122"/>
                    <a:ea typeface="宋体" panose="02010600030101010101" pitchFamily="2" charset="-122"/>
                  </a:rPr>
                  <a:t>分布，记为 </a:t>
                </a:r>
                <a14:m>
                  <m:oMath xmlns:m="http://schemas.openxmlformats.org/officeDocument/2006/math">
                    <m:r>
                      <a:rPr lang="en-US" altLang="zh-CN" sz="2800" i="1" smtClean="0">
                        <a:solidFill>
                          <a:srgbClr val="00B0F0"/>
                        </a:solidFill>
                        <a:latin typeface="Cambria Math" panose="02040503050406030204" pitchFamily="18" charset="0"/>
                      </a:rPr>
                      <m:t>𝑡</m:t>
                    </m:r>
                    <m:r>
                      <a:rPr lang="en-US" altLang="zh-CN" sz="2800" i="1" smtClean="0">
                        <a:solidFill>
                          <a:srgbClr val="00B0F0"/>
                        </a:solidFill>
                        <a:latin typeface="Cambria Math" panose="02040503050406030204" pitchFamily="18" charset="0"/>
                      </a:rPr>
                      <m:t>~</m:t>
                    </m:r>
                    <m:r>
                      <a:rPr lang="en-US" altLang="zh-CN" sz="2800" i="1" smtClean="0">
                        <a:solidFill>
                          <a:srgbClr val="00B0F0"/>
                        </a:solidFill>
                        <a:latin typeface="Cambria Math" panose="02040503050406030204" pitchFamily="18" charset="0"/>
                      </a:rPr>
                      <m:t>𝑡</m:t>
                    </m:r>
                    <m:r>
                      <a:rPr lang="en-US" altLang="zh-CN" sz="2800" i="1" smtClean="0">
                        <a:solidFill>
                          <a:srgbClr val="00B0F0"/>
                        </a:solidFill>
                        <a:latin typeface="Cambria Math" panose="02040503050406030204" pitchFamily="18" charset="0"/>
                      </a:rPr>
                      <m:t>(</m:t>
                    </m:r>
                    <m:r>
                      <a:rPr lang="en-US" altLang="zh-CN" sz="2800" i="1" smtClean="0">
                        <a:solidFill>
                          <a:srgbClr val="00B0F0"/>
                        </a:solidFill>
                        <a:latin typeface="Cambria Math" panose="02040503050406030204" pitchFamily="18" charset="0"/>
                      </a:rPr>
                      <m:t>𝑛</m:t>
                    </m:r>
                    <m:r>
                      <a:rPr lang="en-US" altLang="zh-CN" sz="2800" i="1" smtClean="0">
                        <a:solidFill>
                          <a:srgbClr val="00B0F0"/>
                        </a:solidFill>
                        <a:latin typeface="Cambria Math" panose="02040503050406030204" pitchFamily="18" charset="0"/>
                      </a:rPr>
                      <m:t>) </m:t>
                    </m:r>
                  </m:oMath>
                </a14:m>
                <a:r>
                  <a:rPr lang="zh-CN" altLang="en-US" sz="2800" dirty="0">
                    <a:solidFill>
                      <a:schemeClr val="tx1"/>
                    </a:solidFill>
                    <a:latin typeface="宋体" panose="02010600030101010101" pitchFamily="2" charset="-122"/>
                    <a:ea typeface="宋体" panose="02010600030101010101" pitchFamily="2" charset="-122"/>
                  </a:rPr>
                  <a:t>。</a:t>
                </a:r>
              </a:p>
              <a:p>
                <a:pPr marL="0" indent="720000">
                  <a:lnSpc>
                    <a:spcPct val="150000"/>
                  </a:lnSpc>
                  <a:spcBef>
                    <a:spcPts val="600"/>
                  </a:spcBef>
                  <a:spcAft>
                    <a:spcPts val="0"/>
                  </a:spcAft>
                  <a:buNone/>
                </a:pPr>
                <a14:m>
                  <m:oMath xmlns:m="http://schemas.openxmlformats.org/officeDocument/2006/math">
                    <m:r>
                      <a:rPr lang="en-US" altLang="zh-CN" sz="2800" b="1" i="1" smtClean="0">
                        <a:solidFill>
                          <a:schemeClr val="tx1"/>
                        </a:solidFill>
                        <a:latin typeface="Cambria Math" panose="02040503050406030204" pitchFamily="18" charset="0"/>
                      </a:rPr>
                      <m:t>𝒕</m:t>
                    </m:r>
                  </m:oMath>
                </a14:m>
                <a:r>
                  <a:rPr lang="zh-CN" altLang="en-US" sz="2800" b="1" dirty="0">
                    <a:solidFill>
                      <a:schemeClr val="tx1"/>
                    </a:solidFill>
                    <a:latin typeface="宋体" panose="02010600030101010101" pitchFamily="2" charset="-122"/>
                    <a:ea typeface="宋体" panose="02010600030101010101" pitchFamily="2" charset="-122"/>
                  </a:rPr>
                  <a:t>分布的概率密度函数</a:t>
                </a:r>
                <a:r>
                  <a:rPr lang="zh-CN" altLang="en-US" sz="2800" dirty="0">
                    <a:solidFill>
                      <a:schemeClr val="tx1"/>
                    </a:solidFill>
                    <a:latin typeface="宋体" panose="02010600030101010101" pitchFamily="2" charset="-122"/>
                    <a:ea typeface="宋体" panose="02010600030101010101" pitchFamily="2" charset="-122"/>
                  </a:rPr>
                  <a:t>为</a:t>
                </a:r>
              </a:p>
              <a:p>
                <a:pPr marL="0" indent="720000" algn="ctr">
                  <a:spcBef>
                    <a:spcPts val="6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     </a:t>
                </a:r>
                <a14:m>
                  <m:oMath xmlns:m="http://schemas.openxmlformats.org/officeDocument/2006/math">
                    <m:r>
                      <a:rPr lang="en-US" altLang="zh-CN" sz="2800" i="1">
                        <a:solidFill>
                          <a:schemeClr val="tx1"/>
                        </a:solidFill>
                        <a:latin typeface="Cambria Math" panose="02040503050406030204" pitchFamily="18" charset="0"/>
                      </a:rPr>
                      <m:t>𝑓</m:t>
                    </m:r>
                    <m:d>
                      <m:dPr>
                        <m:ctrlPr>
                          <a:rPr lang="zh-CN"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𝑥</m:t>
                        </m:r>
                      </m:e>
                    </m:d>
                    <m:r>
                      <a:rPr lang="en-US" altLang="zh-CN" sz="2800" i="1">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r>
                          <m:rPr>
                            <m:sty m:val="p"/>
                          </m:rPr>
                          <a:rPr lang="en-US" altLang="zh-CN" sz="2800" i="1">
                            <a:solidFill>
                              <a:schemeClr val="tx1"/>
                            </a:solidFill>
                            <a:latin typeface="Cambria Math" panose="02040503050406030204" pitchFamily="18" charset="0"/>
                          </a:rPr>
                          <m:t>Γ</m:t>
                        </m:r>
                        <m:d>
                          <m:dPr>
                            <m:ctrlPr>
                              <a:rPr lang="zh-CN" altLang="zh-CN" sz="2800" i="1">
                                <a:solidFill>
                                  <a:schemeClr val="tx1"/>
                                </a:solidFill>
                                <a:latin typeface="Cambria Math" panose="02040503050406030204" pitchFamily="18" charset="0"/>
                              </a:rPr>
                            </m:ctrlPr>
                          </m:dPr>
                          <m:e>
                            <m:f>
                              <m:fPr>
                                <m:ctrlPr>
                                  <a:rPr lang="zh-CN" altLang="zh-CN" sz="2800" i="1">
                                    <a:solidFill>
                                      <a:schemeClr val="tx1"/>
                                    </a:solidFill>
                                    <a:latin typeface="Cambria Math" panose="02040503050406030204" pitchFamily="18" charset="0"/>
                                  </a:rPr>
                                </m:ctrlPr>
                              </m:fPr>
                              <m:num>
                                <m:r>
                                  <a:rPr lang="en-US" altLang="zh-CN" sz="2800" i="1">
                                    <a:solidFill>
                                      <a:schemeClr val="tx1"/>
                                    </a:solidFill>
                                    <a:latin typeface="Cambria Math" panose="02040503050406030204" pitchFamily="18" charset="0"/>
                                  </a:rPr>
                                  <m:t>𝑛</m:t>
                                </m:r>
                                <m:r>
                                  <a:rPr lang="en-US" altLang="zh-CN" sz="2800" i="1">
                                    <a:solidFill>
                                      <a:schemeClr val="tx1"/>
                                    </a:solidFill>
                                    <a:latin typeface="Cambria Math" panose="02040503050406030204" pitchFamily="18" charset="0"/>
                                  </a:rPr>
                                  <m:t>+1</m:t>
                                </m:r>
                              </m:num>
                              <m:den>
                                <m:r>
                                  <a:rPr lang="en-US" altLang="zh-CN" sz="2800" i="1">
                                    <a:solidFill>
                                      <a:schemeClr val="tx1"/>
                                    </a:solidFill>
                                    <a:latin typeface="Cambria Math" panose="02040503050406030204" pitchFamily="18" charset="0"/>
                                  </a:rPr>
                                  <m:t>2</m:t>
                                </m:r>
                              </m:den>
                            </m:f>
                          </m:e>
                        </m:d>
                      </m:num>
                      <m:den>
                        <m:r>
                          <m:rPr>
                            <m:sty m:val="p"/>
                          </m:rPr>
                          <a:rPr lang="en-US" altLang="zh-CN" sz="2800" i="1">
                            <a:solidFill>
                              <a:schemeClr val="tx1"/>
                            </a:solidFill>
                            <a:latin typeface="Cambria Math" panose="02040503050406030204" pitchFamily="18" charset="0"/>
                          </a:rPr>
                          <m:t>Γ</m:t>
                        </m:r>
                        <m:d>
                          <m:dPr>
                            <m:ctrlPr>
                              <a:rPr lang="zh-CN" altLang="zh-CN" sz="2800" i="1">
                                <a:solidFill>
                                  <a:schemeClr val="tx1"/>
                                </a:solidFill>
                                <a:latin typeface="Cambria Math" panose="02040503050406030204" pitchFamily="18" charset="0"/>
                              </a:rPr>
                            </m:ctrlPr>
                          </m:dPr>
                          <m:e>
                            <m:f>
                              <m:fPr>
                                <m:ctrlPr>
                                  <a:rPr lang="zh-CN" altLang="zh-CN" sz="2800" i="1">
                                    <a:solidFill>
                                      <a:schemeClr val="tx1"/>
                                    </a:solidFill>
                                    <a:latin typeface="Cambria Math" panose="02040503050406030204" pitchFamily="18" charset="0"/>
                                  </a:rPr>
                                </m:ctrlPr>
                              </m:fPr>
                              <m:num>
                                <m:r>
                                  <a:rPr lang="en-US" altLang="zh-CN" sz="2800" i="1">
                                    <a:solidFill>
                                      <a:schemeClr val="tx1"/>
                                    </a:solidFill>
                                    <a:latin typeface="Cambria Math" panose="02040503050406030204" pitchFamily="18" charset="0"/>
                                  </a:rPr>
                                  <m:t>𝑛</m:t>
                                </m:r>
                              </m:num>
                              <m:den>
                                <m:r>
                                  <a:rPr lang="en-US" altLang="zh-CN" sz="2800" i="1">
                                    <a:solidFill>
                                      <a:schemeClr val="tx1"/>
                                    </a:solidFill>
                                    <a:latin typeface="Cambria Math" panose="02040503050406030204" pitchFamily="18" charset="0"/>
                                  </a:rPr>
                                  <m:t>2</m:t>
                                </m:r>
                              </m:den>
                            </m:f>
                          </m:e>
                        </m:d>
                        <m:rad>
                          <m:radPr>
                            <m:degHide m:val="on"/>
                            <m:ctrlPr>
                              <a:rPr lang="zh-CN" altLang="zh-CN" sz="2800" i="1">
                                <a:solidFill>
                                  <a:schemeClr val="tx1"/>
                                </a:solidFill>
                                <a:latin typeface="Cambria Math" panose="02040503050406030204" pitchFamily="18" charset="0"/>
                              </a:rPr>
                            </m:ctrlPr>
                          </m:radPr>
                          <m:deg/>
                          <m:e>
                            <m:r>
                              <a:rPr lang="en-US" altLang="zh-CN" sz="2800" i="1">
                                <a:solidFill>
                                  <a:schemeClr val="tx1"/>
                                </a:solidFill>
                                <a:latin typeface="Cambria Math" panose="02040503050406030204" pitchFamily="18" charset="0"/>
                              </a:rPr>
                              <m:t>𝑛</m:t>
                            </m:r>
                            <m:r>
                              <a:rPr lang="en-US" altLang="zh-CN" sz="2800" i="1">
                                <a:solidFill>
                                  <a:schemeClr val="tx1"/>
                                </a:solidFill>
                                <a:latin typeface="Cambria Math" panose="02040503050406030204" pitchFamily="18" charset="0"/>
                              </a:rPr>
                              <m:t>𝜋</m:t>
                            </m:r>
                          </m:e>
                        </m:rad>
                      </m:den>
                    </m:f>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(1+</m:t>
                        </m:r>
                        <m:f>
                          <m:fPr>
                            <m:ctrlPr>
                              <a:rPr lang="zh-CN" altLang="zh-CN" sz="2800" i="1">
                                <a:solidFill>
                                  <a:schemeClr val="tx1"/>
                                </a:solidFill>
                                <a:latin typeface="Cambria Math" panose="02040503050406030204" pitchFamily="18" charset="0"/>
                              </a:rPr>
                            </m:ctrlPr>
                          </m:fPr>
                          <m:num>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𝑥</m:t>
                                </m:r>
                              </m:e>
                              <m:sup>
                                <m:r>
                                  <a:rPr lang="en-US" altLang="zh-CN" sz="2800" i="1">
                                    <a:solidFill>
                                      <a:schemeClr val="tx1"/>
                                    </a:solidFill>
                                    <a:latin typeface="Cambria Math" panose="02040503050406030204" pitchFamily="18" charset="0"/>
                                  </a:rPr>
                                  <m:t>2</m:t>
                                </m:r>
                              </m:sup>
                            </m:sSup>
                          </m:num>
                          <m:den>
                            <m:r>
                              <a:rPr lang="en-US" altLang="zh-CN" sz="2800" i="1">
                                <a:solidFill>
                                  <a:schemeClr val="tx1"/>
                                </a:solidFill>
                                <a:latin typeface="Cambria Math" panose="02040503050406030204" pitchFamily="18" charset="0"/>
                              </a:rPr>
                              <m:t>𝑛</m:t>
                            </m:r>
                          </m:den>
                        </m:f>
                        <m:r>
                          <a:rPr lang="en-US" altLang="zh-CN" sz="2800" i="1">
                            <a:solidFill>
                              <a:schemeClr val="tx1"/>
                            </a:solidFill>
                            <a:latin typeface="Cambria Math" panose="02040503050406030204" pitchFamily="18" charset="0"/>
                          </a:rPr>
                          <m:t>)</m:t>
                        </m:r>
                      </m:e>
                      <m:sup>
                        <m:f>
                          <m:fPr>
                            <m:ctrlPr>
                              <a:rPr lang="zh-CN" altLang="zh-CN" sz="2800" i="1">
                                <a:solidFill>
                                  <a:schemeClr val="tx1"/>
                                </a:solidFill>
                                <a:latin typeface="Cambria Math" panose="02040503050406030204" pitchFamily="18" charset="0"/>
                              </a:rPr>
                            </m:ctrlPr>
                          </m:fPr>
                          <m:num>
                            <m:r>
                              <a:rPr lang="en-US" altLang="zh-CN" sz="2800" i="1">
                                <a:solidFill>
                                  <a:schemeClr val="tx1"/>
                                </a:solidFill>
                                <a:latin typeface="Cambria Math" panose="02040503050406030204" pitchFamily="18" charset="0"/>
                              </a:rPr>
                              <m:t>𝑛</m:t>
                            </m:r>
                            <m:r>
                              <a:rPr lang="en-US" altLang="zh-CN" sz="2800" i="1">
                                <a:solidFill>
                                  <a:schemeClr val="tx1"/>
                                </a:solidFill>
                                <a:latin typeface="Cambria Math" panose="02040503050406030204" pitchFamily="18" charset="0"/>
                              </a:rPr>
                              <m:t>+1</m:t>
                            </m:r>
                          </m:num>
                          <m:den>
                            <m:r>
                              <a:rPr lang="en-US" altLang="zh-CN" sz="2800" i="1">
                                <a:solidFill>
                                  <a:schemeClr val="tx1"/>
                                </a:solidFill>
                                <a:latin typeface="Cambria Math" panose="02040503050406030204" pitchFamily="18" charset="0"/>
                              </a:rPr>
                              <m:t>2</m:t>
                            </m:r>
                          </m:den>
                        </m:f>
                      </m:sup>
                    </m:sSup>
                    <m:r>
                      <a:rPr lang="en-US" altLang="zh-CN" sz="2800" i="1">
                        <a:solidFill>
                          <a:schemeClr val="tx1"/>
                        </a:solidFill>
                        <a:latin typeface="Cambria Math" panose="02040503050406030204" pitchFamily="18" charset="0"/>
                      </a:rPr>
                      <m:t>         −∞&lt;</m:t>
                    </m:r>
                    <m:r>
                      <a:rPr lang="en-US" altLang="zh-CN" sz="2800" i="1">
                        <a:solidFill>
                          <a:schemeClr val="tx1"/>
                        </a:solidFill>
                        <a:latin typeface="Cambria Math" panose="02040503050406030204" pitchFamily="18" charset="0"/>
                      </a:rPr>
                      <m:t>𝑥</m:t>
                    </m:r>
                    <m:r>
                      <a:rPr lang="en-US" altLang="zh-CN" sz="2800" i="1">
                        <a:solidFill>
                          <a:schemeClr val="tx1"/>
                        </a:solidFill>
                        <a:latin typeface="Cambria Math" panose="02040503050406030204" pitchFamily="18" charset="0"/>
                      </a:rPr>
                      <m:t>&lt;∞</m:t>
                    </m:r>
                  </m:oMath>
                </a14:m>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76504" y="619626"/>
                <a:ext cx="8771021" cy="5333761"/>
              </a:xfrm>
              <a:blipFill>
                <a:blip r:embed="rId2"/>
                <a:stretch>
                  <a:fillRect l="-1460" b="-3086"/>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标题 1">
            <a:extLst>
              <a:ext uri="{FF2B5EF4-FFF2-40B4-BE49-F238E27FC236}">
                <a16:creationId xmlns:a16="http://schemas.microsoft.com/office/drawing/2014/main" id="{FBAA6593-0B03-EB4F-8BD4-4749332276C3}"/>
              </a:ext>
            </a:extLst>
          </p:cNvPr>
          <p:cNvSpPr txBox="1">
            <a:spLocks/>
          </p:cNvSpPr>
          <p:nvPr/>
        </p:nvSpPr>
        <p:spPr>
          <a:xfrm>
            <a:off x="1835183" y="137318"/>
            <a:ext cx="4126832"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sz="4000" b="1" kern="0" dirty="0">
                <a:effectLst/>
              </a:rPr>
              <a:t>6.3.2 </a:t>
            </a:r>
            <a:r>
              <a:rPr lang="en-US" altLang="zh-CN" sz="4000" b="1" i="1" kern="0" dirty="0">
                <a:effectLst/>
              </a:rPr>
              <a:t>t </a:t>
            </a:r>
            <a:r>
              <a:rPr lang="zh-CN" altLang="en-US" sz="4000" b="1" dirty="0">
                <a:effectLst/>
                <a:sym typeface="+mn-ea"/>
              </a:rPr>
              <a:t>分布</a:t>
            </a:r>
            <a:endParaRPr lang="zh-CN" altLang="en-US" sz="4000" b="1" dirty="0">
              <a:effectLs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pic>
        <p:nvPicPr>
          <p:cNvPr id="5" name="图片 504"/>
          <p:cNvPicPr>
            <a:picLocks noChangeAspect="1"/>
          </p:cNvPicPr>
          <p:nvPr>
            <p:custDataLst>
              <p:tags r:id="rId1"/>
            </p:custDataLst>
          </p:nvPr>
        </p:nvPicPr>
        <p:blipFill>
          <a:blip r:embed="rId3">
            <a:clrChange>
              <a:clrFrom>
                <a:srgbClr val="FFFFFF"/>
              </a:clrFrom>
              <a:clrTo>
                <a:srgbClr val="FFFFFF">
                  <a:alpha val="0"/>
                </a:srgbClr>
              </a:clrTo>
            </a:clrChange>
          </a:blip>
          <a:stretch>
            <a:fillRect/>
          </a:stretch>
        </p:blipFill>
        <p:spPr>
          <a:xfrm>
            <a:off x="852494" y="738726"/>
            <a:ext cx="5142096" cy="5139458"/>
          </a:xfrm>
          <a:prstGeom prst="rect">
            <a:avLst/>
          </a:prstGeom>
          <a:noFill/>
          <a:ln w="9525">
            <a:noFill/>
          </a:ln>
        </p:spPr>
      </p:pic>
      <p:sp>
        <p:nvSpPr>
          <p:cNvPr id="3" name="文本框 2"/>
          <p:cNvSpPr txBox="1"/>
          <p:nvPr/>
        </p:nvSpPr>
        <p:spPr>
          <a:xfrm>
            <a:off x="1738163" y="5694729"/>
            <a:ext cx="4064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effectLst/>
                <a:uLnTx/>
                <a:uFillTx/>
                <a:latin typeface="黑体" panose="02010609060101010101" pitchFamily="49" charset="-122"/>
                <a:ea typeface="黑体" panose="02010609060101010101" pitchFamily="49" charset="-122"/>
              </a:rPr>
              <a:t>图6-2　密度函数曲线</a:t>
            </a:r>
          </a:p>
        </p:txBody>
      </p:sp>
      <p:sp>
        <p:nvSpPr>
          <p:cNvPr id="4" name="文本框 3"/>
          <p:cNvSpPr txBox="1"/>
          <p:nvPr/>
        </p:nvSpPr>
        <p:spPr>
          <a:xfrm>
            <a:off x="5702224" y="1730277"/>
            <a:ext cx="4847667" cy="3323987"/>
          </a:xfrm>
          <a:prstGeom prst="rect">
            <a:avLst/>
          </a:prstGeom>
          <a:noFill/>
        </p:spPr>
        <p:txBody>
          <a:bodyPr wrap="square" rtlCol="0">
            <a:spAutoFit/>
          </a:bodyPr>
          <a:lstStyle/>
          <a:p>
            <a:pPr lvl="0">
              <a:lnSpc>
                <a:spcPct val="150000"/>
              </a:lnSpc>
              <a:defRPr/>
            </a:pPr>
            <a:r>
              <a:rPr kumimoji="0" lang="en-US" altLang="zh-CN" sz="2800" b="1" i="1"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 </a:t>
            </a:r>
            <a:r>
              <a:rPr kumimoji="0" lang="en-US" altLang="zh-CN" sz="2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分布和标准正态分布类似</a:t>
            </a:r>
            <a:r>
              <a:rPr kumimoji="0"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p>
          <a:p>
            <a:pPr marL="722313" lvl="1" indent="-265113">
              <a:lnSpc>
                <a:spcPct val="150000"/>
              </a:lnSpc>
              <a:buSzPct val="65000"/>
              <a:buFont typeface="Wingdings" panose="05000000000000000000" pitchFamily="2" charset="2"/>
              <a:buChar char="l"/>
              <a:defRPr/>
            </a:pPr>
            <a:r>
              <a:rPr kumimoji="0" lang="en-US" altLang="zh-CN" sz="2800" i="0" u="none" strike="noStrike" kern="1200" cap="none" spc="0" normalizeH="0" baseline="0" noProof="0" dirty="0" err="1">
                <a:ln>
                  <a:noFill/>
                </a:ln>
                <a:solidFill>
                  <a:schemeClr val="tx1"/>
                </a:solidFill>
                <a:effectLst/>
                <a:uLnTx/>
                <a:uFillTx/>
                <a:latin typeface="+mn-ea"/>
              </a:rPr>
              <a:t>都是对称分布</a:t>
            </a:r>
            <a:endParaRPr kumimoji="0" lang="en-US" altLang="zh-CN" sz="2800" i="0" u="none" strike="noStrike" kern="1200" cap="none" spc="0" normalizeH="0" baseline="0" noProof="0" dirty="0">
              <a:ln>
                <a:noFill/>
              </a:ln>
              <a:solidFill>
                <a:schemeClr val="tx1"/>
              </a:solidFill>
              <a:effectLst/>
              <a:uLnTx/>
              <a:uFillTx/>
              <a:latin typeface="+mn-ea"/>
            </a:endParaRPr>
          </a:p>
          <a:p>
            <a:pPr marL="722313" lvl="1" indent="-265113">
              <a:lnSpc>
                <a:spcPct val="150000"/>
              </a:lnSpc>
              <a:buSzPct val="65000"/>
              <a:buFont typeface="Wingdings" panose="05000000000000000000" pitchFamily="2" charset="2"/>
              <a:buChar char="l"/>
              <a:defRPr/>
            </a:pPr>
            <a:r>
              <a:rPr kumimoji="0" lang="en-US" altLang="zh-CN" sz="2800" i="0" u="none" strike="noStrike" kern="1200" cap="none" spc="0" normalizeH="0" baseline="0" noProof="0" dirty="0" err="1">
                <a:ln>
                  <a:noFill/>
                </a:ln>
                <a:solidFill>
                  <a:schemeClr val="tx1"/>
                </a:solidFill>
                <a:effectLst/>
                <a:uLnTx/>
                <a:uFillTx/>
                <a:latin typeface="+mn-ea"/>
              </a:rPr>
              <a:t>均在</a:t>
            </a:r>
            <a:r>
              <a:rPr kumimoji="0" lang="en-US" altLang="zh-CN" sz="2800" i="0" u="none" strike="noStrike" kern="1200" cap="none" spc="0" normalizeH="0" baseline="0" noProof="0" dirty="0">
                <a:ln>
                  <a:noFill/>
                </a:ln>
                <a:solidFill>
                  <a:schemeClr val="tx1"/>
                </a:solidFill>
                <a:effectLst/>
                <a:uLnTx/>
                <a:uFillTx/>
                <a:latin typeface="+mn-ea"/>
              </a:rPr>
              <a:t>(-</a:t>
            </a:r>
            <a:r>
              <a:rPr kumimoji="0" lang="zh-CN" altLang="en-US" sz="2800" i="0" u="none" strike="noStrike" kern="1200" cap="none" spc="0" normalizeH="0" baseline="0" noProof="0" dirty="0">
                <a:ln>
                  <a:noFill/>
                </a:ln>
                <a:solidFill>
                  <a:schemeClr val="tx1"/>
                </a:solidFill>
                <a:effectLst/>
                <a:uLnTx/>
                <a:uFillTx/>
                <a:latin typeface="+mn-ea"/>
              </a:rPr>
              <a:t>∞</a:t>
            </a:r>
            <a:r>
              <a:rPr lang="en-US" altLang="zh-CN" sz="2800" dirty="0">
                <a:latin typeface="宋体" panose="02010600030101010101" pitchFamily="2" charset="-122"/>
                <a:ea typeface="宋体" panose="02010600030101010101" pitchFamily="2" charset="-122"/>
              </a:rPr>
              <a:t>,</a:t>
            </a:r>
            <a:r>
              <a:rPr kumimoji="0" lang="en-US" altLang="zh-CN" sz="2800" i="0" u="none" strike="noStrike" kern="1200" cap="none" spc="0" normalizeH="0" baseline="0" noProof="0" dirty="0">
                <a:ln>
                  <a:noFill/>
                </a:ln>
                <a:solidFill>
                  <a:schemeClr val="tx1"/>
                </a:solidFill>
                <a:effectLst/>
                <a:uLnTx/>
                <a:uFillTx/>
                <a:latin typeface="+mn-ea"/>
              </a:rPr>
              <a:t>+</a:t>
            </a:r>
            <a:r>
              <a:rPr lang="zh-CN" altLang="en-US" sz="2800" dirty="0">
                <a:latin typeface="+mn-ea"/>
              </a:rPr>
              <a:t>∞</a:t>
            </a:r>
            <a:r>
              <a:rPr lang="en-US" altLang="zh-CN" sz="2800" dirty="0">
                <a:latin typeface="+mn-ea"/>
              </a:rPr>
              <a:t>)</a:t>
            </a:r>
            <a:r>
              <a:rPr kumimoji="0" lang="en-US" altLang="zh-CN" sz="2800" i="0" u="none" strike="noStrike" kern="1200" cap="none" spc="0" normalizeH="0" baseline="0" noProof="0" dirty="0" err="1">
                <a:ln>
                  <a:noFill/>
                </a:ln>
                <a:solidFill>
                  <a:schemeClr val="tx1"/>
                </a:solidFill>
                <a:effectLst/>
                <a:uLnTx/>
                <a:uFillTx/>
                <a:latin typeface="+mn-ea"/>
              </a:rPr>
              <a:t>上取值</a:t>
            </a:r>
            <a:endParaRPr kumimoji="0" lang="en-US" altLang="zh-CN" sz="2800" i="0" u="none" strike="noStrike" kern="1200" cap="none" spc="0" normalizeH="0" baseline="0" noProof="0" dirty="0">
              <a:ln>
                <a:noFill/>
              </a:ln>
              <a:solidFill>
                <a:schemeClr val="tx1"/>
              </a:solidFill>
              <a:effectLst/>
              <a:uLnTx/>
              <a:uFillTx/>
              <a:latin typeface="+mn-ea"/>
            </a:endParaRPr>
          </a:p>
          <a:p>
            <a:pPr lvl="0">
              <a:lnSpc>
                <a:spcPct val="150000"/>
              </a:lnSpc>
              <a:defRPr/>
            </a:pPr>
            <a:r>
              <a:rPr kumimoji="0"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但</a:t>
            </a:r>
            <a:r>
              <a:rPr kumimoji="0"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相比</a:t>
            </a:r>
            <a:r>
              <a:rPr kumimoji="0" lang="en-US" altLang="zh-CN" sz="2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标准正态分布</a:t>
            </a:r>
            <a:r>
              <a:rPr kumimoji="0"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t </a:t>
            </a:r>
            <a:r>
              <a:rPr lang="en-US" altLang="zh-CN" sz="2800" b="1" dirty="0" err="1">
                <a:latin typeface="宋体" panose="02010600030101010101" pitchFamily="2" charset="-122"/>
                <a:ea typeface="宋体" panose="02010600030101010101" pitchFamily="2" charset="-122"/>
              </a:rPr>
              <a:t>分布</a:t>
            </a:r>
            <a:r>
              <a:rPr lang="zh-CN" altLang="en-US" sz="2800" b="1" dirty="0">
                <a:latin typeface="宋体" panose="02010600030101010101" pitchFamily="2" charset="-122"/>
                <a:ea typeface="宋体" panose="02010600030101010101" pitchFamily="2" charset="-122"/>
              </a:rPr>
              <a:t>曲线</a:t>
            </a:r>
            <a:r>
              <a:rPr lang="en-US" altLang="zh-CN" sz="2800" b="1" dirty="0" err="1">
                <a:solidFill>
                  <a:srgbClr val="00B0F0"/>
                </a:solidFill>
                <a:latin typeface="黑体" panose="02010609060101010101" pitchFamily="49" charset="-122"/>
                <a:ea typeface="黑体" panose="02010609060101010101" pitchFamily="49" charset="-122"/>
              </a:rPr>
              <a:t>低峰厚尾</a:t>
            </a:r>
            <a:endParaRPr kumimoji="0" lang="en-US" altLang="zh-CN" sz="2800" b="1" i="0" u="none" strike="noStrike" kern="1200" cap="none" spc="0" normalizeH="0" baseline="0" noProof="0" dirty="0">
              <a:ln>
                <a:noFill/>
              </a:ln>
              <a:solidFill>
                <a:srgbClr val="00B0F0"/>
              </a:solidFill>
              <a:effectLst/>
              <a:uLnTx/>
              <a:uFillTx/>
              <a:latin typeface="黑体" panose="02010609060101010101" pitchFamily="49" charset="-122"/>
              <a:ea typeface="黑体" panose="02010609060101010101" pitchFamily="49" charset="-122"/>
            </a:endParaRPr>
          </a:p>
        </p:txBody>
      </p:sp>
      <p:sp>
        <p:nvSpPr>
          <p:cNvPr id="6" name="标题 1">
            <a:extLst>
              <a:ext uri="{FF2B5EF4-FFF2-40B4-BE49-F238E27FC236}">
                <a16:creationId xmlns:a16="http://schemas.microsoft.com/office/drawing/2014/main" id="{5C87D0B8-0A19-66D4-63DD-FDCF24DD7BFD}"/>
              </a:ext>
            </a:extLst>
          </p:cNvPr>
          <p:cNvSpPr txBox="1">
            <a:spLocks/>
          </p:cNvSpPr>
          <p:nvPr/>
        </p:nvSpPr>
        <p:spPr>
          <a:xfrm>
            <a:off x="1913021" y="243575"/>
            <a:ext cx="10008470"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i="1" kern="0" dirty="0">
                <a:latin typeface="+mj-ea"/>
              </a:rPr>
              <a:t>t  </a:t>
            </a:r>
            <a:r>
              <a:rPr lang="zh-CN" altLang="en-US" b="1" dirty="0">
                <a:effectLst/>
                <a:sym typeface="+mn-ea"/>
              </a:rPr>
              <a:t>分布密度曲线</a:t>
            </a:r>
            <a:endParaRPr lang="zh-CN" altLang="en-US"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802933" y="977582"/>
                <a:ext cx="8746958" cy="5333761"/>
              </a:xfrm>
            </p:spPr>
            <p:txBody>
              <a:bodyPr>
                <a:noAutofit/>
              </a:bodyPr>
              <a:lstStyle/>
              <a:p>
                <a:pPr marL="0" indent="180975">
                  <a:lnSpc>
                    <a:spcPct val="150000"/>
                  </a:lnSpc>
                  <a:buNone/>
                </a:pPr>
                <a:r>
                  <a:rPr lang="zh-CN" altLang="en-US" b="1" dirty="0">
                    <a:solidFill>
                      <a:srgbClr val="0070C0"/>
                    </a:solidFill>
                    <a:latin typeface="黑体" panose="02010609060101010101" pitchFamily="49" charset="-122"/>
                    <a:ea typeface="黑体" panose="02010609060101010101" pitchFamily="49" charset="-122"/>
                  </a:rPr>
                  <a:t>（1）</a:t>
                </a:r>
                <a:r>
                  <a:rPr lang="en-US" altLang="zh-CN" b="1" i="1" dirty="0">
                    <a:solidFill>
                      <a:srgbClr val="0070C0"/>
                    </a:solidFill>
                    <a:latin typeface="黑体" panose="02010609060101010101" pitchFamily="49" charset="-122"/>
                    <a:ea typeface="黑体" panose="02010609060101010101" pitchFamily="49" charset="-122"/>
                  </a:rPr>
                  <a:t>t </a:t>
                </a:r>
                <a:r>
                  <a:rPr lang="zh-CN" altLang="en-US" b="1" dirty="0">
                    <a:solidFill>
                      <a:srgbClr val="0070C0"/>
                    </a:solidFill>
                    <a:latin typeface="黑体" panose="02010609060101010101" pitchFamily="49" charset="-122"/>
                    <a:ea typeface="黑体" panose="02010609060101010101" pitchFamily="49" charset="-122"/>
                  </a:rPr>
                  <a:t>分布的数学期望与方差</a:t>
                </a:r>
              </a:p>
              <a:p>
                <a:pPr indent="-192088">
                  <a:lnSpc>
                    <a:spcPct val="150000"/>
                  </a:lnSpc>
                  <a:spcBef>
                    <a:spcPts val="0"/>
                  </a:spcBef>
                  <a:spcAft>
                    <a:spcPts val="0"/>
                  </a:spcAft>
                  <a:buSzPct val="70000"/>
                  <a:buFont typeface="Wingdings" panose="05000000000000000000" pitchFamily="2" charset="2"/>
                  <a:buChar char="u"/>
                </a:pPr>
                <a:r>
                  <a:rPr lang="en-US" altLang="zh-CN" sz="2800" dirty="0">
                    <a:solidFill>
                      <a:schemeClr val="tx1"/>
                    </a:solidFill>
                    <a:latin typeface="Cambria Math" panose="02040503050406030204" pitchFamily="18" charset="0"/>
                  </a:rPr>
                  <a:t> </a:t>
                </a:r>
                <a14:m>
                  <m:oMath xmlns:m="http://schemas.openxmlformats.org/officeDocument/2006/math">
                    <m:r>
                      <a:rPr lang="en-US" altLang="zh-CN" sz="2800" b="0" i="0" smtClean="0">
                        <a:solidFill>
                          <a:schemeClr val="tx1"/>
                        </a:solidFill>
                        <a:latin typeface="Cambria Math" panose="02040503050406030204" pitchFamily="18" charset="0"/>
                      </a:rPr>
                      <m:t>  </m:t>
                    </m:r>
                    <m:r>
                      <a:rPr lang="en-US" altLang="zh-CN" sz="2800" smtClean="0">
                        <a:solidFill>
                          <a:srgbClr val="0070C0"/>
                        </a:solidFill>
                        <a:latin typeface="Cambria Math" panose="02040503050406030204" pitchFamily="18" charset="0"/>
                      </a:rPr>
                      <m:t>𝑬</m:t>
                    </m:r>
                    <m:d>
                      <m:dPr>
                        <m:ctrlPr>
                          <a:rPr lang="zh-CN" altLang="zh-CN" sz="2800" i="1">
                            <a:solidFill>
                              <a:srgbClr val="0070C0"/>
                            </a:solidFill>
                            <a:latin typeface="Cambria Math" panose="02040503050406030204" pitchFamily="18" charset="0"/>
                          </a:rPr>
                        </m:ctrlPr>
                      </m:dPr>
                      <m:e>
                        <m:r>
                          <a:rPr lang="en-US" altLang="zh-CN" sz="2800">
                            <a:solidFill>
                              <a:srgbClr val="0070C0"/>
                            </a:solidFill>
                            <a:latin typeface="Cambria Math" panose="02040503050406030204" pitchFamily="18" charset="0"/>
                          </a:rPr>
                          <m:t>𝒕</m:t>
                        </m:r>
                      </m:e>
                    </m:d>
                    <m:r>
                      <a:rPr lang="en-US" altLang="zh-CN" sz="2800">
                        <a:solidFill>
                          <a:srgbClr val="0070C0"/>
                        </a:solidFill>
                        <a:latin typeface="Cambria Math" panose="02040503050406030204" pitchFamily="18" charset="0"/>
                      </a:rPr>
                      <m:t>=</m:t>
                    </m:r>
                    <m:r>
                      <a:rPr lang="en-US" altLang="zh-CN" sz="2800">
                        <a:solidFill>
                          <a:srgbClr val="0070C0"/>
                        </a:solidFill>
                        <a:latin typeface="Cambria Math" panose="02040503050406030204" pitchFamily="18" charset="0"/>
                      </a:rPr>
                      <m:t>𝟎</m:t>
                    </m:r>
                    <m:r>
                      <a:rPr lang="en-US" altLang="zh-CN" sz="2800">
                        <a:solidFill>
                          <a:schemeClr val="tx1"/>
                        </a:solidFill>
                        <a:latin typeface="Cambria Math" panose="02040503050406030204" pitchFamily="18" charset="0"/>
                      </a:rPr>
                      <m:t>,    </m:t>
                    </m:r>
                    <m:r>
                      <a:rPr lang="en-US" altLang="zh-CN" sz="2800" b="0" i="0" smtClean="0">
                        <a:solidFill>
                          <a:schemeClr val="tx1"/>
                        </a:solidFill>
                        <a:latin typeface="Cambria Math" panose="02040503050406030204" pitchFamily="18" charset="0"/>
                      </a:rPr>
                      <m:t> </m:t>
                    </m:r>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&gt;1</m:t>
                    </m:r>
                  </m:oMath>
                </a14:m>
                <a:endParaRPr lang="zh-CN" altLang="en-US" sz="2800" dirty="0">
                  <a:solidFill>
                    <a:schemeClr val="tx1"/>
                  </a:solidFill>
                  <a:latin typeface="Cambria Math" panose="02040503050406030204" pitchFamily="18" charset="0"/>
                </a:endParaRPr>
              </a:p>
              <a:p>
                <a:pPr marL="0" indent="457200">
                  <a:lnSpc>
                    <a:spcPct val="150000"/>
                  </a:lnSpc>
                  <a:spcBef>
                    <a:spcPts val="0"/>
                  </a:spcBef>
                  <a:spcAft>
                    <a:spcPts val="0"/>
                  </a:spcAft>
                  <a:buSzPct val="70000"/>
                  <a:buNone/>
                </a:pP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t </a:t>
                </a:r>
                <a:r>
                  <a:rPr lang="zh-CN" altLang="en-US" sz="2800" dirty="0">
                    <a:solidFill>
                      <a:schemeClr val="tx1"/>
                    </a:solidFill>
                    <a:latin typeface="宋体" panose="02010600030101010101" pitchFamily="2" charset="-122"/>
                    <a:ea typeface="宋体" panose="02010600030101010101" pitchFamily="2" charset="-122"/>
                  </a:rPr>
                  <a:t>分布是对称分布，其数学期望当然为0。只当</a:t>
                </a:r>
                <a14:m>
                  <m:oMath xmlns:m="http://schemas.openxmlformats.org/officeDocument/2006/math">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&gt;1</m:t>
                    </m:r>
                  </m:oMath>
                </a14:m>
                <a:r>
                  <a:rPr lang="zh-CN" altLang="en-US" sz="2800" dirty="0">
                    <a:solidFill>
                      <a:schemeClr val="tx1"/>
                    </a:solidFill>
                    <a:latin typeface="宋体" panose="02010600030101010101" pitchFamily="2" charset="-122"/>
                    <a:ea typeface="宋体" panose="02010600030101010101" pitchFamily="2" charset="-122"/>
                  </a:rPr>
                  <a:t>，其数学期望才为0。</a:t>
                </a:r>
                <a14:m>
                  <m:oMath xmlns:m="http://schemas.openxmlformats.org/officeDocument/2006/math">
                    <m:r>
                      <a:rPr lang="en-US" altLang="zh-CN" sz="2800">
                        <a:solidFill>
                          <a:schemeClr val="tx1"/>
                        </a:solidFill>
                        <a:latin typeface="Cambria Math" panose="02040503050406030204" pitchFamily="18" charset="0"/>
                      </a:rPr>
                      <m:t>𝑛</m:t>
                    </m:r>
                    <m:r>
                      <a:rPr lang="en-US" altLang="zh-CN" sz="2800" b="0" i="0" smtClean="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1</m:t>
                    </m:r>
                  </m:oMath>
                </a14:m>
                <a:r>
                  <a:rPr lang="zh-CN" altLang="en-US" sz="2800" dirty="0">
                    <a:solidFill>
                      <a:schemeClr val="tx1"/>
                    </a:solidFill>
                    <a:latin typeface="宋体" panose="02010600030101010101" pitchFamily="2" charset="-122"/>
                    <a:ea typeface="宋体" panose="02010600030101010101" pitchFamily="2" charset="-122"/>
                  </a:rPr>
                  <a:t>时，数学期望不存在</a:t>
                </a:r>
                <a:r>
                  <a:rPr lang="zh-CN" altLang="en-US" sz="2600" dirty="0">
                    <a:solidFill>
                      <a:schemeClr val="tx1"/>
                    </a:solidFill>
                    <a:latin typeface="宋体" panose="02010600030101010101" pitchFamily="2" charset="-122"/>
                    <a:ea typeface="宋体" panose="02010600030101010101" pitchFamily="2" charset="-122"/>
                  </a:rPr>
                  <a:t>。</a:t>
                </a:r>
                <a:endParaRPr lang="en-US" altLang="zh-CN" sz="2600" dirty="0">
                  <a:solidFill>
                    <a:schemeClr val="tx1"/>
                  </a:solidFill>
                  <a:latin typeface="宋体" panose="02010600030101010101" pitchFamily="2" charset="-122"/>
                  <a:ea typeface="宋体" panose="02010600030101010101" pitchFamily="2" charset="-122"/>
                </a:endParaRPr>
              </a:p>
              <a:p>
                <a:pPr indent="-192088">
                  <a:lnSpc>
                    <a:spcPct val="150000"/>
                  </a:lnSpc>
                  <a:spcBef>
                    <a:spcPts val="0"/>
                  </a:spcBef>
                  <a:spcAft>
                    <a:spcPts val="0"/>
                  </a:spcAft>
                  <a:buSzPct val="70000"/>
                  <a:buFont typeface="Wingdings" panose="05000000000000000000" pitchFamily="2" charset="2"/>
                  <a:buChar char="u"/>
                </a:pPr>
                <a:r>
                  <a:rPr lang="en-US" altLang="zh-CN" sz="2800" dirty="0">
                    <a:solidFill>
                      <a:schemeClr val="tx1"/>
                    </a:solidFill>
                  </a:rPr>
                  <a:t> </a:t>
                </a:r>
                <a14:m>
                  <m:oMath xmlns:m="http://schemas.openxmlformats.org/officeDocument/2006/math">
                    <m:r>
                      <a:rPr lang="en-US" altLang="zh-CN" sz="2800">
                        <a:solidFill>
                          <a:schemeClr val="tx1"/>
                        </a:solidFill>
                        <a:latin typeface="Cambria Math" panose="02040503050406030204" pitchFamily="18" charset="0"/>
                      </a:rPr>
                      <m:t> </m:t>
                    </m:r>
                    <m:r>
                      <a:rPr lang="en-US" altLang="zh-CN" sz="2800" b="1" i="1" smtClean="0">
                        <a:solidFill>
                          <a:srgbClr val="0070C0"/>
                        </a:solidFill>
                        <a:latin typeface="Cambria Math" panose="02040503050406030204" pitchFamily="18" charset="0"/>
                      </a:rPr>
                      <m:t>𝐃</m:t>
                    </m:r>
                    <m:d>
                      <m:dPr>
                        <m:ctrlPr>
                          <a:rPr lang="zh-CN" altLang="zh-CN" sz="2800" b="1" i="1">
                            <a:solidFill>
                              <a:srgbClr val="0070C0"/>
                            </a:solidFill>
                            <a:latin typeface="Cambria Math" panose="02040503050406030204" pitchFamily="18" charset="0"/>
                          </a:rPr>
                        </m:ctrlPr>
                      </m:dPr>
                      <m:e>
                        <m:r>
                          <a:rPr lang="en-US" altLang="zh-CN" sz="2800" b="1" i="1">
                            <a:solidFill>
                              <a:srgbClr val="0070C0"/>
                            </a:solidFill>
                            <a:latin typeface="Cambria Math" panose="02040503050406030204" pitchFamily="18" charset="0"/>
                          </a:rPr>
                          <m:t>𝒕</m:t>
                        </m:r>
                      </m:e>
                    </m:d>
                    <m:r>
                      <a:rPr lang="en-US" altLang="zh-CN" sz="2800" b="1">
                        <a:solidFill>
                          <a:srgbClr val="0070C0"/>
                        </a:solidFill>
                        <a:latin typeface="Cambria Math" panose="02040503050406030204" pitchFamily="18" charset="0"/>
                      </a:rPr>
                      <m:t>=</m:t>
                    </m:r>
                    <m:f>
                      <m:fPr>
                        <m:ctrlPr>
                          <a:rPr lang="zh-CN" altLang="zh-CN" sz="2800" b="1" i="1">
                            <a:solidFill>
                              <a:srgbClr val="0070C0"/>
                            </a:solidFill>
                            <a:latin typeface="Cambria Math" panose="02040503050406030204" pitchFamily="18" charset="0"/>
                          </a:rPr>
                        </m:ctrlPr>
                      </m:fPr>
                      <m:num>
                        <m:r>
                          <a:rPr lang="en-US" altLang="zh-CN" sz="2800" b="1" i="1">
                            <a:solidFill>
                              <a:srgbClr val="0070C0"/>
                            </a:solidFill>
                            <a:latin typeface="Cambria Math" panose="02040503050406030204" pitchFamily="18" charset="0"/>
                          </a:rPr>
                          <m:t>𝒏</m:t>
                        </m:r>
                      </m:num>
                      <m:den>
                        <m:r>
                          <a:rPr lang="en-US" altLang="zh-CN" sz="2800" b="1" i="1">
                            <a:solidFill>
                              <a:srgbClr val="0070C0"/>
                            </a:solidFill>
                            <a:latin typeface="Cambria Math" panose="02040503050406030204" pitchFamily="18" charset="0"/>
                          </a:rPr>
                          <m:t>𝐧</m:t>
                        </m:r>
                        <m:r>
                          <a:rPr lang="en-US" altLang="zh-CN" sz="2800" b="1">
                            <a:solidFill>
                              <a:srgbClr val="0070C0"/>
                            </a:solidFill>
                            <a:latin typeface="Cambria Math" panose="02040503050406030204" pitchFamily="18" charset="0"/>
                          </a:rPr>
                          <m:t>−</m:t>
                        </m:r>
                        <m:r>
                          <a:rPr lang="en-US" altLang="zh-CN" sz="2800" b="1" i="1">
                            <a:solidFill>
                              <a:srgbClr val="0070C0"/>
                            </a:solidFill>
                            <a:latin typeface="Cambria Math" panose="02040503050406030204" pitchFamily="18" charset="0"/>
                          </a:rPr>
                          <m:t>𝟐</m:t>
                        </m:r>
                      </m:den>
                    </m:f>
                    <m:r>
                      <a:rPr lang="en-US" altLang="zh-CN" sz="2800">
                        <a:solidFill>
                          <a:schemeClr val="tx1"/>
                        </a:solidFill>
                        <a:latin typeface="Cambria Math" panose="02040503050406030204" pitchFamily="18" charset="0"/>
                      </a:rPr>
                      <m:t>,</m:t>
                    </m:r>
                    <m:r>
                      <a:rPr lang="en-US" altLang="zh-CN" sz="2800" b="0" i="0" smtClean="0">
                        <a:solidFill>
                          <a:schemeClr val="tx1"/>
                        </a:solidFill>
                        <a:latin typeface="Cambria Math" panose="02040503050406030204" pitchFamily="18" charset="0"/>
                      </a:rPr>
                      <m:t>   </m:t>
                    </m:r>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&gt;2</m:t>
                    </m:r>
                  </m:oMath>
                </a14:m>
                <a:r>
                  <a:rPr lang="en-US" altLang="zh-CN" sz="2800" dirty="0">
                    <a:solidFill>
                      <a:schemeClr val="tx1"/>
                    </a:solidFill>
                    <a:latin typeface="宋体" panose="02010600030101010101" pitchFamily="2" charset="-122"/>
                    <a:ea typeface="宋体" panose="02010600030101010101" pitchFamily="2" charset="-122"/>
                  </a:rPr>
                  <a:t> </a:t>
                </a:r>
              </a:p>
              <a:p>
                <a:pPr marL="0" indent="457200">
                  <a:lnSpc>
                    <a:spcPct val="150000"/>
                  </a:lnSpc>
                  <a:spcBef>
                    <a:spcPts val="0"/>
                  </a:spcBef>
                  <a:spcAft>
                    <a:spcPts val="0"/>
                  </a:spcAft>
                  <a:buSzPct val="70000"/>
                  <a:buNone/>
                </a:pP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t </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分布的方差与其自由度</a:t>
                </a:r>
                <a14:m>
                  <m:oMath xmlns:m="http://schemas.openxmlformats.org/officeDocument/2006/math">
                    <m:r>
                      <a:rPr lang="en-US" altLang="zh-CN" sz="2800">
                        <a:solidFill>
                          <a:schemeClr val="tx1"/>
                        </a:solidFill>
                        <a:latin typeface="Cambria Math" panose="02040503050406030204" pitchFamily="18" charset="0"/>
                      </a:rPr>
                      <m:t>𝑛</m:t>
                    </m:r>
                  </m:oMath>
                </a14:m>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有关，</a:t>
                </a:r>
                <a14:m>
                  <m:oMath xmlns:m="http://schemas.openxmlformats.org/officeDocument/2006/math">
                    <m:r>
                      <a:rPr lang="en-US" altLang="zh-CN" sz="2800">
                        <a:solidFill>
                          <a:schemeClr val="tx1"/>
                        </a:solidFill>
                        <a:latin typeface="Cambria Math" panose="02040503050406030204" pitchFamily="18" charset="0"/>
                      </a:rPr>
                      <m:t>𝑛</m:t>
                    </m:r>
                    <m:r>
                      <a:rPr lang="zh-CN" altLang="en-US" sz="2800" i="1" smtClean="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2</m:t>
                    </m:r>
                  </m:oMath>
                </a14:m>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时，方差不存在，当 </a:t>
                </a:r>
                <a:r>
                  <a:rPr lang="en-US" altLang="zh-CN"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∞，方差极限为1。</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802933" y="977582"/>
                <a:ext cx="8746958" cy="5333761"/>
              </a:xfrm>
              <a:blipFill>
                <a:blip r:embed="rId2"/>
                <a:stretch>
                  <a:fillRect l="-1463" r="-5505"/>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标题 1">
            <a:extLst>
              <a:ext uri="{FF2B5EF4-FFF2-40B4-BE49-F238E27FC236}">
                <a16:creationId xmlns:a16="http://schemas.microsoft.com/office/drawing/2014/main" id="{CB84E1AD-4665-A80C-653C-4443352F7EA9}"/>
              </a:ext>
            </a:extLst>
          </p:cNvPr>
          <p:cNvSpPr txBox="1">
            <a:spLocks/>
          </p:cNvSpPr>
          <p:nvPr/>
        </p:nvSpPr>
        <p:spPr>
          <a:xfrm>
            <a:off x="1239252" y="101223"/>
            <a:ext cx="5919537" cy="66278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pPr lvl="0" indent="720000">
              <a:lnSpc>
                <a:spcPct val="150000"/>
              </a:lnSpc>
              <a:spcBef>
                <a:spcPts val="750"/>
              </a:spcBef>
              <a:spcAft>
                <a:spcPts val="225"/>
              </a:spcAft>
              <a:buSzPct val="80000"/>
            </a:pPr>
            <a:r>
              <a:rPr lang="en-US" altLang="zh-CN" b="1" dirty="0">
                <a:solidFill>
                  <a:srgbClr val="00B0F0"/>
                </a:solidFill>
                <a:effectLst/>
                <a:cs typeface="+mn-cs"/>
              </a:rPr>
              <a:t>2</a:t>
            </a:r>
            <a:r>
              <a:rPr lang="en-US" altLang="zh-CN" b="1" i="1" dirty="0">
                <a:solidFill>
                  <a:srgbClr val="00B0F0"/>
                </a:solidFill>
                <a:effectLst/>
                <a:cs typeface="+mn-cs"/>
              </a:rPr>
              <a:t>. t</a:t>
            </a:r>
            <a:r>
              <a:rPr lang="en-US" altLang="zh-CN" b="1" dirty="0">
                <a:solidFill>
                  <a:srgbClr val="00B0F0"/>
                </a:solidFill>
                <a:effectLst/>
                <a:cs typeface="+mn-cs"/>
              </a:rPr>
              <a:t>  </a:t>
            </a:r>
            <a:r>
              <a:rPr lang="zh-CN" altLang="en-US" b="1" dirty="0">
                <a:solidFill>
                  <a:srgbClr val="00B0F0"/>
                </a:solidFill>
                <a:effectLst/>
                <a:cs typeface="+mn-cs"/>
              </a:rPr>
              <a:t>分布的性质特征</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39251" y="800100"/>
            <a:ext cx="9107907" cy="5333761"/>
          </a:xfrm>
        </p:spPr>
        <p:txBody>
          <a:bodyPr>
            <a:normAutofit/>
          </a:bodyPr>
          <a:lstStyle/>
          <a:p>
            <a:pPr indent="0">
              <a:lnSpc>
                <a:spcPct val="150000"/>
              </a:lnSpc>
              <a:spcBef>
                <a:spcPts val="600"/>
              </a:spcBef>
              <a:spcAft>
                <a:spcPts val="0"/>
              </a:spcAft>
              <a:buNone/>
            </a:pPr>
            <a:r>
              <a:rPr lang="zh-CN" altLang="en-US" b="1" dirty="0">
                <a:solidFill>
                  <a:srgbClr val="0070C0"/>
                </a:solidFill>
                <a:latin typeface="黑体" panose="02010609060101010101" pitchFamily="49" charset="-122"/>
                <a:ea typeface="黑体" panose="02010609060101010101" pitchFamily="49" charset="-122"/>
              </a:rPr>
              <a:t>（</a:t>
            </a:r>
            <a:r>
              <a:rPr lang="en-US" altLang="zh-CN" b="1" dirty="0">
                <a:solidFill>
                  <a:srgbClr val="0070C0"/>
                </a:solidFill>
                <a:latin typeface="黑体" panose="02010609060101010101" pitchFamily="49" charset="-122"/>
                <a:ea typeface="黑体" panose="02010609060101010101" pitchFamily="49" charset="-122"/>
              </a:rPr>
              <a:t>2</a:t>
            </a:r>
            <a:r>
              <a:rPr lang="zh-CN" altLang="en-US" b="1" dirty="0">
                <a:solidFill>
                  <a:srgbClr val="0070C0"/>
                </a:solidFill>
                <a:latin typeface="黑体" panose="02010609060101010101" pitchFamily="49" charset="-122"/>
                <a:ea typeface="黑体" panose="02010609060101010101" pitchFamily="49" charset="-122"/>
              </a:rPr>
              <a:t>）</a:t>
            </a:r>
            <a:r>
              <a:rPr lang="en-US" altLang="zh-CN" b="1" i="1" dirty="0">
                <a:solidFill>
                  <a:srgbClr val="0070C0"/>
                </a:solidFill>
                <a:latin typeface="黑体" panose="02010609060101010101" pitchFamily="49" charset="-122"/>
                <a:ea typeface="黑体" panose="02010609060101010101" pitchFamily="49" charset="-122"/>
              </a:rPr>
              <a:t>t</a:t>
            </a:r>
            <a:r>
              <a:rPr lang="en-US" altLang="zh-CN" b="1" dirty="0">
                <a:solidFill>
                  <a:srgbClr val="0070C0"/>
                </a:solidFill>
                <a:latin typeface="黑体" panose="02010609060101010101" pitchFamily="49" charset="-122"/>
                <a:ea typeface="黑体" panose="02010609060101010101" pitchFamily="49" charset="-122"/>
              </a:rPr>
              <a:t> </a:t>
            </a:r>
            <a:r>
              <a:rPr lang="zh-CN" altLang="en-US" b="1" dirty="0">
                <a:solidFill>
                  <a:srgbClr val="0070C0"/>
                </a:solidFill>
                <a:latin typeface="黑体" panose="02010609060101010101" pitchFamily="49" charset="-122"/>
                <a:ea typeface="黑体" panose="02010609060101010101" pitchFamily="49" charset="-122"/>
              </a:rPr>
              <a:t>分布的自由度</a:t>
            </a:r>
            <a:endParaRPr lang="en-US" altLang="zh-CN" b="1" dirty="0">
              <a:solidFill>
                <a:srgbClr val="0070C0"/>
              </a:solidFill>
              <a:latin typeface="黑体" panose="02010609060101010101" pitchFamily="49" charset="-122"/>
              <a:ea typeface="黑体" panose="02010609060101010101" pitchFamily="49" charset="-122"/>
            </a:endParaRPr>
          </a:p>
          <a:p>
            <a:pPr marL="0" indent="720000">
              <a:lnSpc>
                <a:spcPct val="150000"/>
              </a:lnSpc>
              <a:spcBef>
                <a:spcPts val="0"/>
              </a:spcBef>
              <a:spcAft>
                <a:spcPts val="0"/>
              </a:spcAft>
              <a:buNone/>
            </a:pPr>
            <a:r>
              <a:rPr lang="en-US" altLang="zh-CN" sz="3000" b="1" i="1" dirty="0">
                <a:solidFill>
                  <a:schemeClr val="tx1"/>
                </a:solidFill>
                <a:latin typeface="宋体" panose="02010600030101010101" pitchFamily="2" charset="-122"/>
                <a:ea typeface="宋体" panose="02010600030101010101" pitchFamily="2" charset="-122"/>
              </a:rPr>
              <a:t>t </a:t>
            </a:r>
            <a:r>
              <a:rPr lang="zh-CN" altLang="en-US" sz="3000" b="1" dirty="0">
                <a:solidFill>
                  <a:schemeClr val="tx1"/>
                </a:solidFill>
                <a:latin typeface="宋体" panose="02010600030101010101" pitchFamily="2" charset="-122"/>
                <a:ea typeface="宋体" panose="02010600030101010101" pitchFamily="2" charset="-122"/>
              </a:rPr>
              <a:t>分布的自由度是由生成</a:t>
            </a:r>
            <a:r>
              <a:rPr lang="en-US" altLang="zh-CN" sz="3000" b="1" i="1" dirty="0">
                <a:solidFill>
                  <a:schemeClr val="tx1"/>
                </a:solidFill>
                <a:latin typeface="宋体" panose="02010600030101010101" pitchFamily="2" charset="-122"/>
                <a:ea typeface="宋体" panose="02010600030101010101" pitchFamily="2" charset="-122"/>
              </a:rPr>
              <a:t>t</a:t>
            </a:r>
            <a:r>
              <a:rPr lang="zh-CN" altLang="en-US" sz="3000" b="1" dirty="0">
                <a:solidFill>
                  <a:schemeClr val="tx1"/>
                </a:solidFill>
                <a:latin typeface="宋体" panose="02010600030101010101" pitchFamily="2" charset="-122"/>
                <a:ea typeface="宋体" panose="02010600030101010101" pitchFamily="2" charset="-122"/>
              </a:rPr>
              <a:t>分布的分母即卡方变量的自由度而来</a:t>
            </a:r>
            <a:r>
              <a:rPr lang="zh-CN" altLang="en-US" sz="3000" dirty="0">
                <a:solidFill>
                  <a:schemeClr val="tx1"/>
                </a:solidFill>
                <a:latin typeface="宋体" panose="02010600030101010101" pitchFamily="2" charset="-122"/>
                <a:ea typeface="宋体" panose="02010600030101010101" pitchFamily="2" charset="-122"/>
              </a:rPr>
              <a:t>。</a:t>
            </a:r>
            <a:endParaRPr lang="en-US" altLang="zh-CN" sz="3000" dirty="0">
              <a:solidFill>
                <a:schemeClr val="tx1"/>
              </a:solidFill>
              <a:latin typeface="宋体" panose="02010600030101010101" pitchFamily="2" charset="-122"/>
              <a:ea typeface="宋体" panose="02010600030101010101" pitchFamily="2" charset="-122"/>
            </a:endParaRPr>
          </a:p>
          <a:p>
            <a:pPr marL="0" indent="720000">
              <a:lnSpc>
                <a:spcPct val="150000"/>
              </a:lnSpc>
              <a:spcBef>
                <a:spcPts val="0"/>
              </a:spcBef>
              <a:spcAft>
                <a:spcPts val="0"/>
              </a:spcAft>
              <a:buNone/>
            </a:pPr>
            <a:r>
              <a:rPr lang="en-US" altLang="zh-CN" sz="3000" b="1" i="1" dirty="0">
                <a:solidFill>
                  <a:schemeClr val="tx1"/>
                </a:solidFill>
                <a:latin typeface="宋体" panose="02010600030101010101" pitchFamily="2" charset="-122"/>
                <a:ea typeface="宋体" panose="02010600030101010101" pitchFamily="2" charset="-122"/>
              </a:rPr>
              <a:t>t </a:t>
            </a:r>
            <a:r>
              <a:rPr lang="zh-CN" altLang="en-US" sz="3000" b="1" dirty="0">
                <a:solidFill>
                  <a:schemeClr val="tx1"/>
                </a:solidFill>
                <a:latin typeface="宋体" panose="02010600030101010101" pitchFamily="2" charset="-122"/>
                <a:ea typeface="宋体" panose="02010600030101010101" pitchFamily="2" charset="-122"/>
              </a:rPr>
              <a:t>分布的形状和自由度有较大关系</a:t>
            </a:r>
            <a:r>
              <a:rPr lang="zh-CN" altLang="en-US" sz="3000" dirty="0">
                <a:solidFill>
                  <a:schemeClr val="tx1"/>
                </a:solidFill>
                <a:latin typeface="宋体" panose="02010600030101010101" pitchFamily="2" charset="-122"/>
                <a:ea typeface="宋体" panose="02010600030101010101" pitchFamily="2" charset="-122"/>
              </a:rPr>
              <a:t>。</a:t>
            </a:r>
            <a:endParaRPr lang="en-US" altLang="zh-CN" sz="3000" dirty="0">
              <a:solidFill>
                <a:schemeClr val="tx1"/>
              </a:solidFill>
              <a:latin typeface="宋体" panose="02010600030101010101" pitchFamily="2" charset="-122"/>
              <a:ea typeface="宋体" panose="02010600030101010101" pitchFamily="2" charset="-122"/>
            </a:endParaRPr>
          </a:p>
          <a:p>
            <a:pPr marL="985838" lvl="1" indent="0">
              <a:lnSpc>
                <a:spcPct val="150000"/>
              </a:lnSpc>
              <a:spcBef>
                <a:spcPts val="0"/>
              </a:spcBef>
              <a:spcAft>
                <a:spcPts val="0"/>
              </a:spcAft>
              <a:buFont typeface="Wingdings" panose="05000000000000000000" pitchFamily="2" charset="2"/>
              <a:buChar char="Ø"/>
            </a:pPr>
            <a:r>
              <a:rPr lang="zh-CN" altLang="en-US" sz="2400" dirty="0">
                <a:solidFill>
                  <a:schemeClr val="tx1"/>
                </a:solidFill>
                <a:latin typeface="宋体" panose="02010600030101010101" pitchFamily="2" charset="-122"/>
                <a:ea typeface="宋体" panose="02010600030101010101" pitchFamily="2" charset="-122"/>
              </a:rPr>
              <a:t>自由度越小，分布曲线与标准正态分布曲线的区别越明显，</a:t>
            </a:r>
            <a:r>
              <a:rPr lang="en-US" altLang="zh-CN" sz="2400" dirty="0">
                <a:solidFill>
                  <a:schemeClr val="tx1"/>
                </a:solidFill>
                <a:latin typeface="宋体" panose="02010600030101010101" pitchFamily="2" charset="-122"/>
                <a:ea typeface="宋体" panose="02010600030101010101" pitchFamily="2" charset="-122"/>
              </a:rPr>
              <a:t> t</a:t>
            </a:r>
            <a:r>
              <a:rPr lang="zh-CN" altLang="en-US" sz="2400" dirty="0">
                <a:solidFill>
                  <a:schemeClr val="tx1"/>
                </a:solidFill>
                <a:latin typeface="宋体" panose="02010600030101010101" pitchFamily="2" charset="-122"/>
                <a:ea typeface="宋体" panose="02010600030101010101" pitchFamily="2" charset="-122"/>
              </a:rPr>
              <a:t>分布“比较平”，而自由度增大，</a:t>
            </a:r>
            <a:r>
              <a:rPr lang="en-US" altLang="zh-CN" sz="2400" dirty="0">
                <a:solidFill>
                  <a:schemeClr val="tx1"/>
                </a:solidFill>
                <a:latin typeface="宋体" panose="02010600030101010101" pitchFamily="2" charset="-122"/>
                <a:ea typeface="宋体" panose="02010600030101010101" pitchFamily="2" charset="-122"/>
              </a:rPr>
              <a:t>t</a:t>
            </a:r>
            <a:r>
              <a:rPr lang="zh-CN" altLang="en-US" sz="2400" dirty="0">
                <a:solidFill>
                  <a:schemeClr val="tx1"/>
                </a:solidFill>
                <a:latin typeface="宋体" panose="02010600030101010101" pitchFamily="2" charset="-122"/>
                <a:ea typeface="宋体" panose="02010600030101010101" pitchFamily="2" charset="-122"/>
              </a:rPr>
              <a:t>分布与标准正态分布逐渐接近。</a:t>
            </a:r>
          </a:p>
        </p:txBody>
      </p:sp>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标题 1">
            <a:extLst>
              <a:ext uri="{FF2B5EF4-FFF2-40B4-BE49-F238E27FC236}">
                <a16:creationId xmlns:a16="http://schemas.microsoft.com/office/drawing/2014/main" id="{CB84E1AD-4665-A80C-653C-4443352F7EA9}"/>
              </a:ext>
            </a:extLst>
          </p:cNvPr>
          <p:cNvSpPr txBox="1">
            <a:spLocks/>
          </p:cNvSpPr>
          <p:nvPr/>
        </p:nvSpPr>
        <p:spPr>
          <a:xfrm>
            <a:off x="1239252" y="101223"/>
            <a:ext cx="5919537" cy="66278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pPr lvl="0" indent="720000">
              <a:lnSpc>
                <a:spcPct val="150000"/>
              </a:lnSpc>
              <a:spcBef>
                <a:spcPts val="750"/>
              </a:spcBef>
              <a:spcAft>
                <a:spcPts val="225"/>
              </a:spcAft>
              <a:buSzPct val="80000"/>
            </a:pPr>
            <a:r>
              <a:rPr lang="en-US" altLang="zh-CN" b="1" dirty="0">
                <a:solidFill>
                  <a:srgbClr val="00B0F0"/>
                </a:solidFill>
                <a:effectLst/>
                <a:cs typeface="+mn-cs"/>
              </a:rPr>
              <a:t>2</a:t>
            </a:r>
            <a:r>
              <a:rPr lang="en-US" altLang="zh-CN" b="1" i="1" dirty="0">
                <a:solidFill>
                  <a:srgbClr val="00B0F0"/>
                </a:solidFill>
                <a:effectLst/>
                <a:cs typeface="+mn-cs"/>
              </a:rPr>
              <a:t>. t</a:t>
            </a:r>
            <a:r>
              <a:rPr lang="en-US" altLang="zh-CN" b="1" dirty="0">
                <a:solidFill>
                  <a:srgbClr val="00B0F0"/>
                </a:solidFill>
                <a:effectLst/>
                <a:cs typeface="+mn-cs"/>
              </a:rPr>
              <a:t>  </a:t>
            </a:r>
            <a:r>
              <a:rPr lang="zh-CN" altLang="en-US" b="1" dirty="0">
                <a:solidFill>
                  <a:srgbClr val="00B0F0"/>
                </a:solidFill>
                <a:effectLst/>
                <a:cs typeface="+mn-cs"/>
              </a:rPr>
              <a:t>分布的性质特征</a:t>
            </a:r>
            <a:r>
              <a:rPr lang="zh-CN" altLang="en-US" dirty="0">
                <a:solidFill>
                  <a:srgbClr val="00B0F0"/>
                </a:solidFill>
                <a:effectLst/>
                <a:cs typeface="+mn-cs"/>
              </a:rPr>
              <a:t>（续）</a:t>
            </a:r>
          </a:p>
        </p:txBody>
      </p:sp>
    </p:spTree>
    <p:extLst>
      <p:ext uri="{BB962C8B-B14F-4D97-AF65-F5344CB8AC3E}">
        <p14:creationId xmlns:p14="http://schemas.microsoft.com/office/powerpoint/2010/main" val="1226854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18937" y="747051"/>
                <a:ext cx="8365958" cy="5333761"/>
              </a:xfrm>
            </p:spPr>
            <p:txBody>
              <a:bodyPr tIns="0" bIns="0" anchor="t" anchorCtr="0">
                <a:noAutofit/>
              </a:bodyPr>
              <a:lstStyle/>
              <a:p>
                <a:pPr marL="0" indent="720000">
                  <a:lnSpc>
                    <a:spcPct val="150000"/>
                  </a:lnSpc>
                  <a:spcBef>
                    <a:spcPts val="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设</a:t>
                </a:r>
                <a14:m>
                  <m:oMath xmlns:m="http://schemas.openxmlformats.org/officeDocument/2006/math">
                    <m:sSub>
                      <m:sSubPr>
                        <m:ctrlPr>
                          <a:rPr lang="zh-CN" altLang="zh-CN" sz="2800" i="1" smtClean="0">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b="0" i="1" smtClean="0">
                            <a:solidFill>
                              <a:schemeClr val="tx1"/>
                            </a:solidFill>
                            <a:latin typeface="Cambria Math" panose="02040503050406030204" pitchFamily="18" charset="0"/>
                          </a:rPr>
                          <m:t>6</m:t>
                        </m:r>
                      </m:sub>
                    </m:sSub>
                  </m:oMath>
                </a14:m>
                <a:r>
                  <a:rPr lang="zh-CN" altLang="en-US" sz="2800" dirty="0">
                    <a:solidFill>
                      <a:schemeClr val="tx1"/>
                    </a:solidFill>
                    <a:latin typeface="宋体" panose="02010600030101010101" pitchFamily="2" charset="-122"/>
                    <a:ea typeface="宋体" panose="02010600030101010101" pitchFamily="2" charset="-122"/>
                  </a:rPr>
                  <a:t>是独立同服从</a:t>
                </a:r>
                <a14:m>
                  <m:oMath xmlns:m="http://schemas.openxmlformats.org/officeDocument/2006/math">
                    <m:r>
                      <a:rPr lang="en-US" altLang="zh-CN" sz="2800" b="0" i="1" smtClean="0">
                        <a:solidFill>
                          <a:schemeClr val="tx1"/>
                        </a:solidFill>
                        <a:latin typeface="Cambria Math" panose="02040503050406030204" pitchFamily="18" charset="0"/>
                      </a:rPr>
                      <m:t>𝑁</m:t>
                    </m:r>
                    <m:r>
                      <a:rPr lang="en-US" altLang="zh-CN" sz="2800" b="0" i="1" smtClean="0">
                        <a:solidFill>
                          <a:schemeClr val="tx1"/>
                        </a:solidFill>
                        <a:latin typeface="Cambria Math" panose="02040503050406030204" pitchFamily="18" charset="0"/>
                      </a:rPr>
                      <m:t>(0,2)</m:t>
                    </m:r>
                  </m:oMath>
                </a14:m>
                <a:r>
                  <a:rPr lang="zh-CN" altLang="en-US" sz="2800" dirty="0">
                    <a:solidFill>
                      <a:schemeClr val="tx1"/>
                    </a:solidFill>
                    <a:latin typeface="宋体" panose="02010600030101010101" pitchFamily="2" charset="-122"/>
                    <a:ea typeface="宋体" panose="02010600030101010101" pitchFamily="2" charset="-122"/>
                  </a:rPr>
                  <a:t>分布的随机变量，如果随机变量 </a:t>
                </a:r>
                <a14:m>
                  <m:oMath xmlns:m="http://schemas.openxmlformats.org/officeDocument/2006/math">
                    <m:r>
                      <a:rPr lang="en-US" altLang="zh-CN" sz="2800" i="1">
                        <a:solidFill>
                          <a:schemeClr val="tx1"/>
                        </a:solidFill>
                        <a:latin typeface="Cambria Math" panose="02040503050406030204" pitchFamily="18" charset="0"/>
                      </a:rPr>
                      <m:t>𝑐</m:t>
                    </m:r>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1</m:t>
                            </m:r>
                          </m:sub>
                        </m:sSub>
                      </m:num>
                      <m:den>
                        <m:sSubSup>
                          <m:sSubSupPr>
                            <m:ctrlPr>
                              <a:rPr lang="zh-CN" altLang="zh-CN" sz="2800" i="1">
                                <a:solidFill>
                                  <a:schemeClr val="tx1"/>
                                </a:solidFill>
                                <a:latin typeface="Cambria Math" panose="02040503050406030204" pitchFamily="18" charset="0"/>
                              </a:rPr>
                            </m:ctrlPr>
                          </m:sSubSup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2</m:t>
                            </m:r>
                          </m:sub>
                          <m:sup>
                            <m:r>
                              <a:rPr lang="en-US" altLang="zh-CN" sz="2800" i="1">
                                <a:solidFill>
                                  <a:schemeClr val="tx1"/>
                                </a:solidFill>
                                <a:latin typeface="Cambria Math" panose="02040503050406030204" pitchFamily="18" charset="0"/>
                              </a:rPr>
                              <m:t>2</m:t>
                            </m:r>
                          </m:sup>
                        </m:sSubSup>
                        <m:r>
                          <a:rPr lang="en-US" altLang="zh-CN" sz="2800" i="1">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3</m:t>
                            </m:r>
                          </m:sub>
                          <m:sup>
                            <m:r>
                              <a:rPr lang="en-US" altLang="zh-CN" sz="2800" i="1">
                                <a:solidFill>
                                  <a:schemeClr val="tx1"/>
                                </a:solidFill>
                                <a:latin typeface="Cambria Math" panose="02040503050406030204" pitchFamily="18" charset="0"/>
                              </a:rPr>
                              <m:t>2</m:t>
                            </m:r>
                          </m:sup>
                        </m:sSubSup>
                        <m:r>
                          <a:rPr lang="en-US" altLang="zh-CN" sz="2800" i="1">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4</m:t>
                            </m:r>
                          </m:sub>
                          <m:sup>
                            <m:r>
                              <a:rPr lang="en-US" altLang="zh-CN" sz="2800" i="1">
                                <a:solidFill>
                                  <a:schemeClr val="tx1"/>
                                </a:solidFill>
                                <a:latin typeface="Cambria Math" panose="02040503050406030204" pitchFamily="18" charset="0"/>
                              </a:rPr>
                              <m:t>2</m:t>
                            </m:r>
                          </m:sup>
                        </m:sSubSup>
                        <m:r>
                          <a:rPr lang="en-US" altLang="zh-CN" sz="2800" i="1">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5</m:t>
                            </m:r>
                          </m:sub>
                          <m:sup>
                            <m:r>
                              <a:rPr lang="en-US" altLang="zh-CN" sz="2800" i="1">
                                <a:solidFill>
                                  <a:schemeClr val="tx1"/>
                                </a:solidFill>
                                <a:latin typeface="Cambria Math" panose="02040503050406030204" pitchFamily="18" charset="0"/>
                              </a:rPr>
                              <m:t>2</m:t>
                            </m:r>
                          </m:sup>
                        </m:sSubSup>
                        <m:r>
                          <a:rPr lang="en-US" altLang="zh-CN" sz="2800" i="1">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i="1">
                                <a:solidFill>
                                  <a:schemeClr val="tx1"/>
                                </a:solidFill>
                                <a:latin typeface="Cambria Math" panose="02040503050406030204" pitchFamily="18" charset="0"/>
                              </a:rPr>
                              <m:t>𝑋</m:t>
                            </m:r>
                          </m:e>
                          <m:sub>
                            <m:r>
                              <a:rPr lang="en-US" altLang="zh-CN" sz="2800" i="1">
                                <a:solidFill>
                                  <a:schemeClr val="tx1"/>
                                </a:solidFill>
                                <a:latin typeface="Cambria Math" panose="02040503050406030204" pitchFamily="18" charset="0"/>
                              </a:rPr>
                              <m:t>6</m:t>
                            </m:r>
                          </m:sub>
                          <m:sup>
                            <m:r>
                              <a:rPr lang="en-US" altLang="zh-CN" sz="2800" i="1">
                                <a:solidFill>
                                  <a:schemeClr val="tx1"/>
                                </a:solidFill>
                                <a:latin typeface="Cambria Math" panose="02040503050406030204" pitchFamily="18" charset="0"/>
                              </a:rPr>
                              <m:t>2</m:t>
                            </m:r>
                          </m:sup>
                        </m:sSubSup>
                      </m:den>
                    </m:f>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𝑡</m:t>
                    </m:r>
                    <m:r>
                      <a:rPr lang="en-US" altLang="zh-CN" sz="2800" i="1">
                        <a:solidFill>
                          <a:schemeClr val="tx1"/>
                        </a:solidFill>
                        <a:latin typeface="Cambria Math" panose="02040503050406030204" pitchFamily="18" charset="0"/>
                      </a:rPr>
                      <m:t>(5)</m:t>
                    </m:r>
                  </m:oMath>
                </a14:m>
                <a:r>
                  <a:rPr lang="zh-CN" altLang="en-US" sz="2800" dirty="0">
                    <a:solidFill>
                      <a:schemeClr val="tx1"/>
                    </a:solidFill>
                    <a:latin typeface="宋体" panose="02010600030101010101" pitchFamily="2" charset="-122"/>
                    <a:ea typeface="宋体" panose="02010600030101010101" pitchFamily="2" charset="-122"/>
                  </a:rPr>
                  <a:t>，求 </a:t>
                </a:r>
                <a14:m>
                  <m:oMath xmlns:m="http://schemas.openxmlformats.org/officeDocument/2006/math">
                    <m:r>
                      <a:rPr lang="en-US" altLang="zh-CN" sz="2800" b="0" i="1" dirty="0" smtClean="0">
                        <a:solidFill>
                          <a:schemeClr val="tx1"/>
                        </a:solidFill>
                        <a:latin typeface="Cambria Math" panose="02040503050406030204" pitchFamily="18" charset="0"/>
                        <a:ea typeface="宋体" panose="02010600030101010101" pitchFamily="2" charset="-122"/>
                      </a:rPr>
                      <m:t>𝐶</m:t>
                    </m:r>
                    <m:r>
                      <a:rPr lang="en-US" altLang="zh-CN" sz="2800" dirty="0">
                        <a:solidFill>
                          <a:schemeClr val="tx1"/>
                        </a:solidFill>
                        <a:latin typeface="Cambria Math" panose="02040503050406030204" pitchFamily="18" charset="0"/>
                        <a:ea typeface="宋体" panose="02010600030101010101" pitchFamily="2" charset="-122"/>
                      </a:rPr>
                      <m:t> </m:t>
                    </m:r>
                    <m:r>
                      <a:rPr lang="zh-CN" altLang="en-US" sz="2800" dirty="0">
                        <a:solidFill>
                          <a:schemeClr val="tx1"/>
                        </a:solidFill>
                        <a:latin typeface="Cambria Math" panose="02040503050406030204" pitchFamily="18" charset="0"/>
                        <a:ea typeface="宋体" panose="02010600030101010101" pitchFamily="2" charset="-122"/>
                      </a:rPr>
                      <m:t>的</m:t>
                    </m:r>
                  </m:oMath>
                </a14:m>
                <a:r>
                  <a:rPr lang="zh-CN" altLang="en-US" sz="2800" dirty="0">
                    <a:solidFill>
                      <a:schemeClr val="tx1"/>
                    </a:solidFill>
                    <a:latin typeface="宋体" panose="02010600030101010101" pitchFamily="2" charset="-122"/>
                    <a:ea typeface="宋体" panose="02010600030101010101" pitchFamily="2" charset="-122"/>
                  </a:rPr>
                  <a:t>值。</a:t>
                </a:r>
                <a:endParaRPr lang="zh-CN" altLang="zh-CN" sz="2800" dirty="0">
                  <a:solidFill>
                    <a:schemeClr val="tx1"/>
                  </a:solidFill>
                  <a:latin typeface="宋体" panose="02010600030101010101" pitchFamily="2" charset="-122"/>
                  <a:ea typeface="宋体" panose="02010600030101010101" pitchFamily="2" charset="-122"/>
                </a:endParaRPr>
              </a:p>
              <a:p>
                <a:pPr marL="0" lvl="0" indent="720000" defTabSz="914400">
                  <a:lnSpc>
                    <a:spcPct val="150000"/>
                  </a:lnSpc>
                  <a:spcBef>
                    <a:spcPts val="0"/>
                  </a:spcBef>
                  <a:spcAft>
                    <a:spcPts val="0"/>
                  </a:spcAft>
                  <a:buSzTx/>
                  <a:buNone/>
                  <a:defRPr/>
                </a:pPr>
                <a:r>
                  <a:rPr lang="zh-CN" altLang="en-US" b="1" dirty="0">
                    <a:solidFill>
                      <a:srgbClr val="0070C0"/>
                    </a:solidFill>
                    <a:latin typeface="宋体" panose="02010600030101010101" pitchFamily="2" charset="-122"/>
                    <a:ea typeface="宋体" panose="02010600030101010101" pitchFamily="2" charset="-122"/>
                  </a:rPr>
                  <a:t>解</a:t>
                </a:r>
                <a:r>
                  <a:rPr lang="zh-CN" altLang="en-US" sz="2800" dirty="0">
                    <a:solidFill>
                      <a:srgbClr val="0070C0"/>
                    </a:solidFill>
                    <a:latin typeface="宋体" panose="02010600030101010101" pitchFamily="2" charset="-122"/>
                    <a:ea typeface="宋体" panose="02010600030101010101" pitchFamily="2" charset="-122"/>
                  </a:rPr>
                  <a:t>：</a:t>
                </a:r>
                <a:r>
                  <a:rPr lang="zh-CN" altLang="en-US" sz="2800" dirty="0">
                    <a:solidFill>
                      <a:schemeClr val="tx1"/>
                    </a:solidFill>
                    <a:latin typeface="宋体" panose="02010600030101010101" pitchFamily="2" charset="-122"/>
                    <a:ea typeface="宋体" panose="02010600030101010101" pitchFamily="2" charset="-122"/>
                  </a:rPr>
                  <a:t>因为</a:t>
                </a:r>
                <a14:m>
                  <m:oMath xmlns:m="http://schemas.openxmlformats.org/officeDocument/2006/math">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6</m:t>
                        </m:r>
                      </m:sub>
                    </m:sSub>
                  </m:oMath>
                </a14:m>
                <a:r>
                  <a:rPr lang="zh-CN" altLang="en-US" sz="2800" dirty="0">
                    <a:solidFill>
                      <a:schemeClr val="tx1"/>
                    </a:solidFill>
                    <a:latin typeface="宋体" panose="02010600030101010101" pitchFamily="2" charset="-122"/>
                    <a:ea typeface="宋体" panose="02010600030101010101" pitchFamily="2" charset="-122"/>
                  </a:rPr>
                  <a:t>独立同服从</a:t>
                </a:r>
                <a14:m>
                  <m:oMath xmlns:m="http://schemas.openxmlformats.org/officeDocument/2006/math">
                    <m:r>
                      <a:rPr lang="en-US" altLang="zh-CN" sz="2800">
                        <a:solidFill>
                          <a:schemeClr val="tx1"/>
                        </a:solidFill>
                        <a:latin typeface="Cambria Math" panose="02040503050406030204" pitchFamily="18" charset="0"/>
                      </a:rPr>
                      <m:t>𝑁</m:t>
                    </m:r>
                    <m:r>
                      <a:rPr lang="en-US" altLang="zh-CN" sz="2800">
                        <a:solidFill>
                          <a:schemeClr val="tx1"/>
                        </a:solidFill>
                        <a:latin typeface="Cambria Math" panose="02040503050406030204" pitchFamily="18" charset="0"/>
                      </a:rPr>
                      <m:t>(0,2)</m:t>
                    </m:r>
                  </m:oMath>
                </a14:m>
                <a:r>
                  <a:rPr lang="zh-CN" altLang="en-US" sz="2800" dirty="0">
                    <a:solidFill>
                      <a:schemeClr val="tx1"/>
                    </a:solidFill>
                    <a:latin typeface="宋体" panose="02010600030101010101" pitchFamily="2" charset="-122"/>
                    <a:ea typeface="宋体" panose="02010600030101010101" pitchFamily="2" charset="-122"/>
                  </a:rPr>
                  <a:t>分布，所以</a:t>
                </a:r>
                <a:endParaRPr lang="en-US" altLang="zh-CN" sz="2800" dirty="0">
                  <a:solidFill>
                    <a:schemeClr val="tx1"/>
                  </a:solidFill>
                  <a:latin typeface="宋体" panose="02010600030101010101" pitchFamily="2" charset="-122"/>
                  <a:ea typeface="宋体" panose="02010600030101010101" pitchFamily="2" charset="-122"/>
                </a:endParaRPr>
              </a:p>
              <a:p>
                <a:pPr marL="0" lvl="0" indent="720000" defTabSz="914400">
                  <a:lnSpc>
                    <a:spcPct val="150000"/>
                  </a:lnSpc>
                  <a:spcBef>
                    <a:spcPts val="0"/>
                  </a:spcBef>
                  <a:spcAft>
                    <a:spcPts val="0"/>
                  </a:spcAft>
                  <a:buSzTx/>
                  <a:buNone/>
                  <a:defRPr/>
                </a:pPr>
                <a:r>
                  <a:rPr lang="en-US" altLang="zh-CN" sz="2800" dirty="0">
                    <a:solidFill>
                      <a:schemeClr val="tx1"/>
                    </a:solidFill>
                  </a:rPr>
                  <a:t>      </a:t>
                </a:r>
                <a14:m>
                  <m:oMath xmlns:m="http://schemas.openxmlformats.org/officeDocument/2006/math">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r>
                      <a:rPr lang="en-US" altLang="zh-CN" sz="2800">
                        <a:solidFill>
                          <a:schemeClr val="tx1"/>
                        </a:solidFill>
                        <a:latin typeface="Cambria Math" charset="0"/>
                      </a:rPr>
                      <m:t>~</m:t>
                    </m:r>
                    <m:r>
                      <a:rPr lang="en-US" altLang="zh-CN" sz="2800">
                        <a:solidFill>
                          <a:schemeClr val="tx1"/>
                        </a:solidFill>
                        <a:latin typeface="Cambria Math" panose="02040503050406030204" pitchFamily="18" charset="0"/>
                      </a:rPr>
                      <m:t>𝑁</m:t>
                    </m:r>
                    <m:r>
                      <a:rPr lang="en-US" altLang="zh-CN" sz="2800">
                        <a:solidFill>
                          <a:schemeClr val="tx1"/>
                        </a:solidFill>
                        <a:latin typeface="Cambria Math" panose="02040503050406030204" pitchFamily="18" charset="0"/>
                      </a:rPr>
                      <m:t>(0,2)</m:t>
                    </m:r>
                  </m:oMath>
                </a14:m>
                <a:r>
                  <a:rPr lang="zh-CN" altLang="en-US" sz="2800" dirty="0">
                    <a:solidFill>
                      <a:schemeClr val="tx1"/>
                    </a:solidFill>
                    <a:latin typeface="宋体" panose="02010600030101010101" pitchFamily="2" charset="-122"/>
                    <a:ea typeface="宋体" panose="02010600030101010101" pitchFamily="2" charset="-122"/>
                  </a:rPr>
                  <a:t>，则 </a:t>
                </a:r>
                <a14:m>
                  <m:oMath xmlns:m="http://schemas.openxmlformats.org/officeDocument/2006/math">
                    <m:r>
                      <a:rPr lang="en-US" altLang="zh-CN" sz="2800">
                        <a:solidFill>
                          <a:schemeClr val="tx1"/>
                        </a:solidFill>
                        <a:latin typeface="Cambria Math" panose="02040503050406030204" pitchFamily="18" charset="0"/>
                      </a:rPr>
                      <m:t>𝑍</m:t>
                    </m:r>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num>
                      <m:den>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2</m:t>
                            </m:r>
                          </m:e>
                        </m:rad>
                      </m:den>
                    </m:f>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𝑁</m:t>
                    </m:r>
                    <m:r>
                      <a:rPr lang="en-US" altLang="zh-CN" sz="2800">
                        <a:solidFill>
                          <a:schemeClr val="tx1"/>
                        </a:solidFill>
                        <a:latin typeface="Cambria Math" panose="02040503050406030204" pitchFamily="18" charset="0"/>
                      </a:rPr>
                      <m:t>(0,1)</m:t>
                    </m:r>
                  </m:oMath>
                </a14:m>
                <a:endParaRPr lang="zh-CN" altLang="en-US" sz="2800" dirty="0">
                  <a:solidFill>
                    <a:schemeClr val="tx1"/>
                  </a:solidFill>
                  <a:latin typeface="宋体" panose="02010600030101010101" pitchFamily="2" charset="-122"/>
                  <a:ea typeface="宋体" panose="02010600030101010101" pitchFamily="2" charset="-122"/>
                </a:endParaRPr>
              </a:p>
              <a:p>
                <a:pPr marL="0" lvl="0" indent="720000" defTabSz="914400">
                  <a:lnSpc>
                    <a:spcPct val="150000"/>
                  </a:lnSpc>
                  <a:spcBef>
                    <a:spcPts val="0"/>
                  </a:spcBef>
                  <a:spcAft>
                    <a:spcPts val="0"/>
                  </a:spcAft>
                  <a:buSzTx/>
                  <a:buNone/>
                  <a:defRPr/>
                </a:pPr>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18937" y="747051"/>
                <a:ext cx="8365958" cy="5333761"/>
              </a:xfrm>
              <a:blipFill>
                <a:blip r:embed="rId3"/>
                <a:stretch>
                  <a:fillRect l="-1531" r="-5758"/>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标题 1">
            <a:extLst>
              <a:ext uri="{FF2B5EF4-FFF2-40B4-BE49-F238E27FC236}">
                <a16:creationId xmlns:a16="http://schemas.microsoft.com/office/drawing/2014/main" id="{6AC09AAD-97FC-79BA-1312-E2742DB791DD}"/>
              </a:ext>
            </a:extLst>
          </p:cNvPr>
          <p:cNvSpPr txBox="1">
            <a:spLocks/>
          </p:cNvSpPr>
          <p:nvPr/>
        </p:nvSpPr>
        <p:spPr>
          <a:xfrm>
            <a:off x="1840831" y="35207"/>
            <a:ext cx="10080659" cy="66278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pPr>
              <a:lnSpc>
                <a:spcPct val="150000"/>
              </a:lnSpc>
              <a:spcBef>
                <a:spcPts val="0"/>
              </a:spcBef>
            </a:pPr>
            <a:r>
              <a:rPr lang="en-US" altLang="zh-CN" sz="3600" b="1" dirty="0">
                <a:solidFill>
                  <a:srgbClr val="0070C0"/>
                </a:solidFill>
                <a:effectLst/>
              </a:rPr>
              <a:t>【</a:t>
            </a:r>
            <a:r>
              <a:rPr lang="zh-CN" altLang="en-US" sz="3600" b="1" dirty="0">
                <a:solidFill>
                  <a:srgbClr val="0070C0"/>
                </a:solidFill>
                <a:effectLst/>
              </a:rPr>
              <a:t>例</a:t>
            </a:r>
            <a:r>
              <a:rPr lang="en-US" altLang="zh-CN" sz="3600" b="1" dirty="0">
                <a:solidFill>
                  <a:srgbClr val="0070C0"/>
                </a:solidFill>
                <a:effectLst/>
              </a:rPr>
              <a:t>6-6】</a:t>
            </a:r>
            <a:endParaRPr lang="zh-CN" altLang="en-US" sz="3600" b="1" dirty="0">
              <a:solidFill>
                <a:srgbClr val="0070C0"/>
              </a:solidFill>
              <a:effectLst/>
            </a:endParaRPr>
          </a:p>
        </p:txBody>
      </p:sp>
      <p:sp>
        <p:nvSpPr>
          <p:cNvPr id="2" name="Rectangle 2"/>
          <p:cNvSpPr>
            <a:spLocks noChangeArrowheads="1"/>
          </p:cNvSpPr>
          <p:nvPr/>
        </p:nvSpPr>
        <p:spPr bwMode="auto">
          <a:xfrm>
            <a:off x="-276726" y="64471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970352318"/>
              </p:ext>
            </p:extLst>
          </p:nvPr>
        </p:nvGraphicFramePr>
        <p:xfrm>
          <a:off x="2498559" y="4270372"/>
          <a:ext cx="5299764" cy="883294"/>
        </p:xfrm>
        <a:graphic>
          <a:graphicData uri="http://schemas.openxmlformats.org/presentationml/2006/ole">
            <mc:AlternateContent xmlns:mc="http://schemas.openxmlformats.org/markup-compatibility/2006">
              <mc:Choice xmlns:v="urn:schemas-microsoft-com:vml" Requires="v">
                <p:oleObj r:id="rId4" imgW="2514600" imgH="419100" progId="Equation.DSMT4">
                  <p:embed/>
                </p:oleObj>
              </mc:Choice>
              <mc:Fallback>
                <p:oleObj r:id="rId4" imgW="2514600" imgH="4191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8559" y="4270372"/>
                        <a:ext cx="5299764" cy="883294"/>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6" name="矩形 5"/>
              <p:cNvSpPr/>
              <p:nvPr/>
            </p:nvSpPr>
            <p:spPr>
              <a:xfrm>
                <a:off x="2117558" y="5411248"/>
                <a:ext cx="7403432" cy="523220"/>
              </a:xfrm>
              <a:prstGeom prst="rect">
                <a:avLst/>
              </a:prstGeom>
            </p:spPr>
            <p:txBody>
              <a:bodyPr wrap="square">
                <a:spAutoFit/>
              </a:bodyPr>
              <a:lstStyle/>
              <a:p>
                <a:r>
                  <a:rPr lang="zh-CN" altLang="en-US" sz="2800" dirty="0">
                    <a:latin typeface="宋体" panose="02010600030101010101" pitchFamily="2" charset="-122"/>
                    <a:ea typeface="宋体" panose="02010600030101010101" pitchFamily="2" charset="-122"/>
                  </a:rPr>
                  <a:t>上述</a:t>
                </a:r>
                <a14:m>
                  <m:oMath xmlns:m="http://schemas.openxmlformats.org/officeDocument/2006/math">
                    <m:r>
                      <a:rPr lang="zh-CN" altLang="en-US" sz="2800" i="1" dirty="0">
                        <a:latin typeface="Cambria Math" panose="02040503050406030204" pitchFamily="18" charset="0"/>
                      </a:rPr>
                      <m:t>变量</m:t>
                    </m:r>
                    <m:r>
                      <a:rPr lang="en-US" altLang="zh-CN" sz="2800" b="0" i="0" dirty="0" smtClean="0">
                        <a:latin typeface="Cambria Math" panose="02040503050406030204" pitchFamily="18" charset="0"/>
                      </a:rPr>
                      <m:t> </m:t>
                    </m:r>
                    <m:r>
                      <a:rPr lang="en-US" altLang="zh-CN" sz="2800">
                        <a:latin typeface="Cambria Math" panose="02040503050406030204" pitchFamily="18" charset="0"/>
                      </a:rPr>
                      <m:t>𝑍</m:t>
                    </m:r>
                    <m:r>
                      <a:rPr lang="en-US" altLang="zh-CN" sz="2800" b="0" i="0" smtClean="0">
                        <a:latin typeface="Cambria Math" panose="02040503050406030204" pitchFamily="18" charset="0"/>
                      </a:rPr>
                      <m:t> </m:t>
                    </m:r>
                  </m:oMath>
                </a14:m>
                <a:r>
                  <a:rPr lang="zh-CN" altLang="en-US" sz="2800" dirty="0">
                    <a:latin typeface="宋体" panose="02010600030101010101" pitchFamily="2" charset="-122"/>
                    <a:ea typeface="宋体" panose="02010600030101010101" pitchFamily="2" charset="-122"/>
                  </a:rPr>
                  <a:t>与</a:t>
                </a:r>
                <a14:m>
                  <m:oMath xmlns:m="http://schemas.openxmlformats.org/officeDocument/2006/math">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𝜒</m:t>
                        </m:r>
                      </m:e>
                      <m:sup>
                        <m:r>
                          <a:rPr lang="en-US" altLang="zh-CN" sz="2800">
                            <a:latin typeface="Cambria Math" panose="02040503050406030204" pitchFamily="18" charset="0"/>
                          </a:rPr>
                          <m:t>2</m:t>
                        </m:r>
                      </m:sup>
                    </m:sSup>
                  </m:oMath>
                </a14:m>
                <a:r>
                  <a:rPr lang="zh-CN" altLang="en-US" sz="2800" dirty="0">
                    <a:latin typeface="宋体" panose="02010600030101010101" pitchFamily="2" charset="-122"/>
                    <a:ea typeface="宋体" panose="02010600030101010101" pitchFamily="2" charset="-122"/>
                  </a:rPr>
                  <a:t>相互独立，可构造</a:t>
                </a:r>
                <a:r>
                  <a:rPr lang="en-US" altLang="zh-CN" sz="2800" b="1" i="1" dirty="0">
                    <a:latin typeface="宋体" panose="02010600030101010101" pitchFamily="2" charset="-122"/>
                    <a:ea typeface="宋体" panose="02010600030101010101" pitchFamily="2" charset="-122"/>
                  </a:rPr>
                  <a:t>t</a:t>
                </a:r>
                <a:r>
                  <a:rPr lang="zh-CN" altLang="en-US" sz="2800" dirty="0">
                    <a:latin typeface="宋体" panose="02010600030101010101" pitchFamily="2" charset="-122"/>
                    <a:ea typeface="宋体" panose="02010600030101010101" pitchFamily="2" charset="-122"/>
                  </a:rPr>
                  <a:t>分布变量：</a:t>
                </a:r>
                <a:endParaRPr lang="zh-CN" altLang="en-US" sz="2800" dirty="0"/>
              </a:p>
            </p:txBody>
          </p:sp>
        </mc:Choice>
        <mc:Fallback xmlns="">
          <p:sp>
            <p:nvSpPr>
              <p:cNvPr id="6" name="矩形 5"/>
              <p:cNvSpPr>
                <a:spLocks noRot="1" noChangeAspect="1" noMove="1" noResize="1" noEditPoints="1" noAdjustHandles="1" noChangeArrowheads="1" noChangeShapeType="1" noTextEdit="1"/>
              </p:cNvSpPr>
              <p:nvPr/>
            </p:nvSpPr>
            <p:spPr>
              <a:xfrm>
                <a:off x="2117558" y="5411248"/>
                <a:ext cx="7403432" cy="523220"/>
              </a:xfrm>
              <a:prstGeom prst="rect">
                <a:avLst/>
              </a:prstGeom>
              <a:blipFill>
                <a:blip r:embed="rId6"/>
                <a:stretch>
                  <a:fillRect l="-1646" t="-17442" r="-6502" b="-26744"/>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636295" y="763182"/>
                <a:ext cx="8365958" cy="5913286"/>
              </a:xfrm>
            </p:spPr>
            <p:txBody>
              <a:bodyPr tIns="0" bIns="0" anchor="t" anchorCtr="0">
                <a:noAutofit/>
              </a:bodyPr>
              <a:lstStyle/>
              <a:p>
                <a:pPr marL="0" lvl="0" indent="720000" defTabSz="914400">
                  <a:spcBef>
                    <a:spcPts val="1800"/>
                  </a:spcBef>
                  <a:spcAft>
                    <a:spcPts val="0"/>
                  </a:spcAft>
                  <a:buSzTx/>
                  <a:buNone/>
                  <a:defRPr/>
                </a:pPr>
                <a14:m>
                  <m:oMathPara xmlns:m="http://schemas.openxmlformats.org/officeDocument/2006/math">
                    <m:oMathParaPr>
                      <m:jc m:val="centerGroup"/>
                    </m:oMathParaPr>
                    <m:oMath xmlns:m="http://schemas.openxmlformats.org/officeDocument/2006/math">
                      <m:eqArr>
                        <m:eqArrPr>
                          <m:ctrlPr>
                            <a:rPr lang="zh-CN" altLang="zh-CN" sz="2800" i="1">
                              <a:solidFill>
                                <a:schemeClr val="tx1"/>
                              </a:solidFill>
                              <a:latin typeface="Cambria Math" panose="02040503050406030204" pitchFamily="18" charset="0"/>
                            </a:rPr>
                          </m:ctrlPr>
                        </m:eqArrPr>
                        <m:e>
                          <m:r>
                            <a:rPr lang="en-US" altLang="zh-CN" sz="2800">
                              <a:solidFill>
                                <a:schemeClr val="tx1"/>
                              </a:solidFill>
                              <a:latin typeface="Cambria Math" panose="02040503050406030204" pitchFamily="18" charset="0"/>
                            </a:rPr>
                            <m:t>𝑡</m:t>
                          </m:r>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num>
                                <m:den>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2</m:t>
                                      </m:r>
                                    </m:e>
                                  </m:rad>
                                </m:den>
                              </m:f>
                            </m:num>
                            <m:den>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2</m:t>
                                          </m:r>
                                        </m:sub>
                                        <m:sup>
                                          <m:r>
                                            <a:rPr lang="en-US" altLang="zh-CN" sz="2800">
                                              <a:solidFill>
                                                <a:schemeClr val="tx1"/>
                                              </a:solidFill>
                                              <a:latin typeface="Cambria Math" panose="02040503050406030204" pitchFamily="18" charset="0"/>
                                            </a:rPr>
                                            <m:t>2</m:t>
                                          </m:r>
                                        </m:sup>
                                      </m:sSubSup>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3</m:t>
                                          </m:r>
                                        </m:sub>
                                        <m:sup>
                                          <m:r>
                                            <a:rPr lang="en-US" altLang="zh-CN" sz="2800">
                                              <a:solidFill>
                                                <a:schemeClr val="tx1"/>
                                              </a:solidFill>
                                              <a:latin typeface="Cambria Math" panose="02040503050406030204" pitchFamily="18" charset="0"/>
                                            </a:rPr>
                                            <m:t>2</m:t>
                                          </m:r>
                                        </m:sup>
                                      </m:sSubSup>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4</m:t>
                                          </m:r>
                                        </m:sub>
                                        <m:sup>
                                          <m:r>
                                            <a:rPr lang="en-US" altLang="zh-CN" sz="2800">
                                              <a:solidFill>
                                                <a:schemeClr val="tx1"/>
                                              </a:solidFill>
                                              <a:latin typeface="Cambria Math" panose="02040503050406030204" pitchFamily="18" charset="0"/>
                                            </a:rPr>
                                            <m:t>2</m:t>
                                          </m:r>
                                        </m:sup>
                                      </m:sSubSup>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5</m:t>
                                          </m:r>
                                        </m:sub>
                                        <m:sup>
                                          <m:r>
                                            <a:rPr lang="en-US" altLang="zh-CN" sz="2800">
                                              <a:solidFill>
                                                <a:schemeClr val="tx1"/>
                                              </a:solidFill>
                                              <a:latin typeface="Cambria Math" panose="02040503050406030204" pitchFamily="18" charset="0"/>
                                            </a:rPr>
                                            <m:t>2</m:t>
                                          </m:r>
                                        </m:sup>
                                      </m:sSubSup>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6</m:t>
                                          </m:r>
                                        </m:sub>
                                        <m:sup>
                                          <m:r>
                                            <a:rPr lang="en-US" altLang="zh-CN" sz="2800">
                                              <a:solidFill>
                                                <a:schemeClr val="tx1"/>
                                              </a:solidFill>
                                              <a:latin typeface="Cambria Math" panose="02040503050406030204" pitchFamily="18" charset="0"/>
                                            </a:rPr>
                                            <m:t>2</m:t>
                                          </m:r>
                                        </m:sup>
                                      </m:sSubSup>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)/5</m:t>
                                  </m:r>
                                </m:e>
                              </m:rad>
                            </m:den>
                          </m:f>
                        </m:e>
                        <m:e>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num>
                            <m:den>
                              <m:rad>
                                <m:radPr>
                                  <m:degHide m:val="on"/>
                                  <m:ctrlPr>
                                    <a:rPr lang="zh-CN" altLang="zh-CN" sz="2800" i="1">
                                      <a:solidFill>
                                        <a:schemeClr val="tx1"/>
                                      </a:solidFill>
                                      <a:latin typeface="Cambria Math" panose="02040503050406030204" pitchFamily="18" charset="0"/>
                                    </a:rPr>
                                  </m:ctrlPr>
                                </m:radPr>
                                <m:deg/>
                                <m:e>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2</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3</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4</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5</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6</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)/5</m:t>
                                  </m:r>
                                </m:e>
                              </m:rad>
                            </m:den>
                          </m:f>
                        </m:e>
                        <m:e>
                          <m:r>
                            <a:rPr lang="en-US" altLang="zh-CN" sz="2800">
                              <a:solidFill>
                                <a:schemeClr val="tx1"/>
                              </a:solidFill>
                              <a:latin typeface="Cambria Math" panose="02040503050406030204" pitchFamily="18" charset="0"/>
                            </a:rPr>
                            <m:t>=</m:t>
                          </m:r>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5</m:t>
                              </m:r>
                            </m:e>
                          </m:rad>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1</m:t>
                                  </m:r>
                                </m:sub>
                              </m:sSub>
                            </m:num>
                            <m:den>
                              <m:rad>
                                <m:radPr>
                                  <m:degHide m:val="on"/>
                                  <m:ctrlPr>
                                    <a:rPr lang="zh-CN" altLang="zh-CN" sz="2800" i="1">
                                      <a:solidFill>
                                        <a:schemeClr val="tx1"/>
                                      </a:solidFill>
                                      <a:latin typeface="Cambria Math" panose="02040503050406030204" pitchFamily="18" charset="0"/>
                                    </a:rPr>
                                  </m:ctrlPr>
                                </m:radPr>
                                <m:deg/>
                                <m:e>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2</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3</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4</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5</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𝑋</m:t>
                                      </m:r>
                                    </m:e>
                                    <m:sub>
                                      <m:r>
                                        <a:rPr lang="en-US" altLang="zh-CN" sz="2800">
                                          <a:solidFill>
                                            <a:schemeClr val="tx1"/>
                                          </a:solidFill>
                                          <a:latin typeface="Cambria Math" panose="02040503050406030204" pitchFamily="18" charset="0"/>
                                        </a:rPr>
                                        <m:t>6</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e>
                              </m:rad>
                            </m:den>
                          </m:f>
                        </m:e>
                      </m:eqArr>
                    </m:oMath>
                  </m:oMathPara>
                </a14:m>
                <a:endParaRPr lang="zh-CN" altLang="en-US" sz="2800" dirty="0">
                  <a:solidFill>
                    <a:schemeClr val="tx1"/>
                  </a:solidFill>
                  <a:latin typeface="宋体" panose="02010600030101010101" pitchFamily="2" charset="-122"/>
                  <a:ea typeface="宋体" panose="02010600030101010101" pitchFamily="2" charset="-122"/>
                </a:endParaRPr>
              </a:p>
              <a:p>
                <a:pPr marL="0" lvl="0" indent="720000" defTabSz="914400">
                  <a:spcBef>
                    <a:spcPts val="1800"/>
                  </a:spcBef>
                  <a:spcAft>
                    <a:spcPts val="0"/>
                  </a:spcAft>
                  <a:buSzTx/>
                  <a:buNone/>
                  <a:defRPr/>
                </a:pPr>
                <a:r>
                  <a:rPr lang="zh-CN" altLang="en-US" sz="2800" dirty="0">
                    <a:solidFill>
                      <a:schemeClr val="tx1"/>
                    </a:solidFill>
                    <a:latin typeface="宋体" panose="02010600030101010101" pitchFamily="2" charset="-122"/>
                    <a:ea typeface="宋体" panose="02010600030101010101" pitchFamily="2" charset="-122"/>
                  </a:rPr>
                  <a:t>所以 </a:t>
                </a:r>
                <a14:m>
                  <m:oMath xmlns:m="http://schemas.openxmlformats.org/officeDocument/2006/math">
                    <m:r>
                      <a:rPr lang="en-US" altLang="zh-CN" sz="2800" b="1" i="1" smtClean="0">
                        <a:solidFill>
                          <a:srgbClr val="7030A0"/>
                        </a:solidFill>
                        <a:latin typeface="Cambria Math" panose="02040503050406030204" pitchFamily="18" charset="0"/>
                      </a:rPr>
                      <m:t>𝐜</m:t>
                    </m:r>
                    <m:r>
                      <a:rPr lang="en-US" altLang="zh-CN" sz="2800" b="1" smtClean="0">
                        <a:solidFill>
                          <a:srgbClr val="7030A0"/>
                        </a:solidFill>
                        <a:latin typeface="Cambria Math" panose="02040503050406030204" pitchFamily="18" charset="0"/>
                      </a:rPr>
                      <m:t>=</m:t>
                    </m:r>
                    <m:rad>
                      <m:radPr>
                        <m:degHide m:val="on"/>
                        <m:ctrlPr>
                          <a:rPr lang="zh-CN" altLang="zh-CN" sz="2800" b="1" i="1">
                            <a:solidFill>
                              <a:srgbClr val="7030A0"/>
                            </a:solidFill>
                            <a:latin typeface="Cambria Math" panose="02040503050406030204" pitchFamily="18" charset="0"/>
                          </a:rPr>
                        </m:ctrlPr>
                      </m:radPr>
                      <m:deg/>
                      <m:e>
                        <m:r>
                          <a:rPr lang="en-US" altLang="zh-CN" sz="2800" b="1" i="1">
                            <a:solidFill>
                              <a:srgbClr val="7030A0"/>
                            </a:solidFill>
                            <a:latin typeface="Cambria Math" panose="02040503050406030204" pitchFamily="18" charset="0"/>
                          </a:rPr>
                          <m:t>𝟓</m:t>
                        </m:r>
                      </m:e>
                    </m:rad>
                  </m:oMath>
                </a14:m>
                <a:endParaRPr lang="zh-CN" altLang="en-US" sz="2800" b="1"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636295" y="763182"/>
                <a:ext cx="8365958" cy="5913286"/>
              </a:xfrm>
              <a:blipFill>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标题 1">
            <a:extLst>
              <a:ext uri="{FF2B5EF4-FFF2-40B4-BE49-F238E27FC236}">
                <a16:creationId xmlns:a16="http://schemas.microsoft.com/office/drawing/2014/main" id="{6AC09AAD-97FC-79BA-1312-E2742DB791DD}"/>
              </a:ext>
            </a:extLst>
          </p:cNvPr>
          <p:cNvSpPr txBox="1">
            <a:spLocks/>
          </p:cNvSpPr>
          <p:nvPr/>
        </p:nvSpPr>
        <p:spPr>
          <a:xfrm>
            <a:off x="1840831" y="35207"/>
            <a:ext cx="10080659" cy="662782"/>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pPr>
              <a:lnSpc>
                <a:spcPct val="150000"/>
              </a:lnSpc>
              <a:spcBef>
                <a:spcPts val="0"/>
              </a:spcBef>
            </a:pPr>
            <a:r>
              <a:rPr lang="en-US" altLang="zh-CN" b="1" dirty="0">
                <a:solidFill>
                  <a:srgbClr val="0070C0"/>
                </a:solidFill>
                <a:effectLst/>
              </a:rPr>
              <a:t>【</a:t>
            </a:r>
            <a:r>
              <a:rPr lang="zh-CN" altLang="en-US" b="1" dirty="0">
                <a:solidFill>
                  <a:srgbClr val="0070C0"/>
                </a:solidFill>
                <a:effectLst/>
              </a:rPr>
              <a:t>例</a:t>
            </a:r>
            <a:r>
              <a:rPr lang="en-US" altLang="zh-CN" b="1" dirty="0">
                <a:solidFill>
                  <a:srgbClr val="0070C0"/>
                </a:solidFill>
                <a:effectLst/>
              </a:rPr>
              <a:t>6-6】</a:t>
            </a:r>
            <a:r>
              <a:rPr lang="zh-CN" altLang="en-US" b="1" dirty="0">
                <a:solidFill>
                  <a:srgbClr val="0070C0"/>
                </a:solidFill>
                <a:effectLst/>
              </a:rPr>
              <a:t>解</a:t>
            </a:r>
            <a:r>
              <a:rPr lang="zh-CN" altLang="en-US" dirty="0">
                <a:solidFill>
                  <a:srgbClr val="0070C0"/>
                </a:solidFill>
                <a:effectLst/>
              </a:rPr>
              <a:t>（续）</a:t>
            </a:r>
          </a:p>
        </p:txBody>
      </p:sp>
      <p:sp>
        <p:nvSpPr>
          <p:cNvPr id="2" name="Rectangle 2"/>
          <p:cNvSpPr>
            <a:spLocks noChangeArrowheads="1"/>
          </p:cNvSpPr>
          <p:nvPr/>
        </p:nvSpPr>
        <p:spPr bwMode="auto">
          <a:xfrm>
            <a:off x="-276726" y="64471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5254073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2" name="组合 12"/>
          <p:cNvGrpSpPr>
            <a:grpSpLocks/>
          </p:cNvGrpSpPr>
          <p:nvPr/>
        </p:nvGrpSpPr>
        <p:grpSpPr bwMode="auto">
          <a:xfrm>
            <a:off x="5591175" y="3500438"/>
            <a:ext cx="4724400" cy="2544762"/>
            <a:chOff x="3995738" y="3933825"/>
            <a:chExt cx="4724400" cy="2544763"/>
          </a:xfrm>
        </p:grpSpPr>
        <p:pic>
          <p:nvPicPr>
            <p:cNvPr id="7168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738" y="3933825"/>
              <a:ext cx="472440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688" name="Object 7"/>
            <p:cNvGraphicFramePr>
              <a:graphicFrameLocks noChangeAspect="1"/>
            </p:cNvGraphicFramePr>
            <p:nvPr/>
          </p:nvGraphicFramePr>
          <p:xfrm>
            <a:off x="7235825" y="6021388"/>
            <a:ext cx="711200" cy="457200"/>
          </p:xfrm>
          <a:graphic>
            <a:graphicData uri="http://schemas.openxmlformats.org/presentationml/2006/ole">
              <mc:AlternateContent xmlns:mc="http://schemas.openxmlformats.org/markup-compatibility/2006">
                <mc:Choice xmlns:v="urn:schemas-microsoft-com:vml" Requires="v">
                  <p:oleObj name="Equation" r:id="rId3" imgW="355446" imgH="228501" progId="Equation.DSMT4">
                    <p:embed/>
                  </p:oleObj>
                </mc:Choice>
                <mc:Fallback>
                  <p:oleObj name="Equation" r:id="rId3" imgW="355446" imgH="228501" progId="Equation.DSMT4">
                    <p:embed/>
                    <p:pic>
                      <p:nvPicPr>
                        <p:cNvPr id="7168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5825" y="6021388"/>
                          <a:ext cx="71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89" name="Oval 10"/>
            <p:cNvSpPr>
              <a:spLocks noChangeArrowheads="1"/>
            </p:cNvSpPr>
            <p:nvPr/>
          </p:nvSpPr>
          <p:spPr bwMode="auto">
            <a:xfrm>
              <a:off x="7451725" y="6021388"/>
              <a:ext cx="73025" cy="71437"/>
            </a:xfrm>
            <a:prstGeom prst="ellipse">
              <a:avLst/>
            </a:prstGeom>
            <a:solidFill>
              <a:srgbClr val="FF0000"/>
            </a:solidFill>
            <a:ln w="12700">
              <a:solidFill>
                <a:srgbClr val="FF0000"/>
              </a:solidFill>
              <a:round/>
              <a:headEnd/>
              <a:tailEnd/>
            </a:ln>
          </p:spPr>
          <p:txBody>
            <a:bodyPr wrap="none" anchor="ctr"/>
            <a:lstStyle>
              <a:lvl1pPr>
                <a:spcBef>
                  <a:spcPct val="20000"/>
                </a:spcBef>
                <a:buSzPct val="90000"/>
                <a:buBlip>
                  <a:blip r:embed="rId5"/>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6"/>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7"/>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8"/>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9"/>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SzTx/>
                <a:buFontTx/>
                <a:buNone/>
              </a:pPr>
              <a:endParaRPr lang="zh-CN" altLang="zh-CN" sz="1800" b="0">
                <a:solidFill>
                  <a:srgbClr val="FF00FF"/>
                </a:solidFill>
                <a:latin typeface="Arial" panose="020B0604020202020204" pitchFamily="34" charset="0"/>
              </a:endParaRPr>
            </a:p>
          </p:txBody>
        </p:sp>
        <p:sp>
          <p:nvSpPr>
            <p:cNvPr id="71690" name="Rectangle 12"/>
            <p:cNvSpPr>
              <a:spLocks noChangeArrowheads="1"/>
            </p:cNvSpPr>
            <p:nvPr/>
          </p:nvSpPr>
          <p:spPr bwMode="auto">
            <a:xfrm>
              <a:off x="7812088" y="5300663"/>
              <a:ext cx="50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SzPct val="90000"/>
                <a:buBlip>
                  <a:blip r:embed="rId5"/>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6"/>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7"/>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8"/>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9"/>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en-US" altLang="zh-CN" sz="2400" i="1">
                  <a:solidFill>
                    <a:srgbClr val="7030A0"/>
                  </a:solidFill>
                  <a:latin typeface="Arial" panose="020B0604020202020204" pitchFamily="34" charset="0"/>
                  <a:sym typeface="Symbol" panose="05050102010706020507" pitchFamily="18" charset="2"/>
                </a:rPr>
                <a:t></a:t>
              </a:r>
            </a:p>
          </p:txBody>
        </p:sp>
        <p:sp>
          <p:nvSpPr>
            <p:cNvPr id="71691" name="Line 13"/>
            <p:cNvSpPr>
              <a:spLocks noChangeShapeType="1"/>
            </p:cNvSpPr>
            <p:nvPr/>
          </p:nvSpPr>
          <p:spPr bwMode="auto">
            <a:xfrm flipH="1">
              <a:off x="7668915" y="5661024"/>
              <a:ext cx="216198" cy="289595"/>
            </a:xfrm>
            <a:prstGeom prst="line">
              <a:avLst/>
            </a:prstGeom>
            <a:noFill/>
            <a:ln w="38100">
              <a:solidFill>
                <a:srgbClr val="CC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692" name="Object 14"/>
            <p:cNvGraphicFramePr>
              <a:graphicFrameLocks noChangeAspect="1"/>
            </p:cNvGraphicFramePr>
            <p:nvPr/>
          </p:nvGraphicFramePr>
          <p:xfrm>
            <a:off x="4694238" y="6021388"/>
            <a:ext cx="741362" cy="457200"/>
          </p:xfrm>
          <a:graphic>
            <a:graphicData uri="http://schemas.openxmlformats.org/presentationml/2006/ole">
              <mc:AlternateContent xmlns:mc="http://schemas.openxmlformats.org/markup-compatibility/2006">
                <mc:Choice xmlns:v="urn:schemas-microsoft-com:vml" Requires="v">
                  <p:oleObj name="公式" r:id="rId10" imgW="457200" imgH="228600" progId="Equation.3">
                    <p:embed/>
                  </p:oleObj>
                </mc:Choice>
                <mc:Fallback>
                  <p:oleObj name="公式" r:id="rId10" imgW="457200" imgH="228600" progId="Equation.3">
                    <p:embed/>
                    <p:pic>
                      <p:nvPicPr>
                        <p:cNvPr id="71692"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94238" y="6021388"/>
                          <a:ext cx="741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93" name="Oval 15"/>
            <p:cNvSpPr>
              <a:spLocks noChangeArrowheads="1"/>
            </p:cNvSpPr>
            <p:nvPr/>
          </p:nvSpPr>
          <p:spPr bwMode="auto">
            <a:xfrm>
              <a:off x="5075238" y="6021388"/>
              <a:ext cx="73025" cy="71437"/>
            </a:xfrm>
            <a:prstGeom prst="ellipse">
              <a:avLst/>
            </a:prstGeom>
            <a:solidFill>
              <a:srgbClr val="FF0000"/>
            </a:solidFill>
            <a:ln w="12700">
              <a:solidFill>
                <a:srgbClr val="FF0000"/>
              </a:solidFill>
              <a:round/>
              <a:headEnd/>
              <a:tailEnd/>
            </a:ln>
          </p:spPr>
          <p:txBody>
            <a:bodyPr wrap="none" anchor="ctr"/>
            <a:lstStyle>
              <a:lvl1pPr>
                <a:spcBef>
                  <a:spcPct val="20000"/>
                </a:spcBef>
                <a:buSzPct val="90000"/>
                <a:buBlip>
                  <a:blip r:embed="rId5"/>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6"/>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7"/>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8"/>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9"/>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SzTx/>
                <a:buFontTx/>
                <a:buNone/>
              </a:pPr>
              <a:endParaRPr lang="zh-CN" altLang="zh-CN" sz="1800" b="0">
                <a:solidFill>
                  <a:srgbClr val="FF00FF"/>
                </a:solidFill>
                <a:latin typeface="Arial" panose="020B0604020202020204" pitchFamily="34" charset="0"/>
              </a:endParaRPr>
            </a:p>
          </p:txBody>
        </p:sp>
      </p:grpSp>
      <p:sp>
        <p:nvSpPr>
          <p:cNvPr id="71683" name="Text Box 4"/>
          <p:cNvSpPr txBox="1">
            <a:spLocks noChangeArrowheads="1"/>
          </p:cNvSpPr>
          <p:nvPr/>
        </p:nvSpPr>
        <p:spPr bwMode="auto">
          <a:xfrm>
            <a:off x="1938337" y="1035898"/>
            <a:ext cx="7451725"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SzPct val="90000"/>
              <a:buBlip>
                <a:blip r:embed="rId5"/>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6"/>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7"/>
              </a:buBlip>
              <a:defRPr sz="2400" b="1">
                <a:solidFill>
                  <a:schemeClr val="tx2"/>
                </a:solidFill>
                <a:latin typeface="Tahoma" panose="020B0604030504040204" pitchFamily="34" charset="0"/>
                <a:ea typeface="宋体" panose="02010600030101010101" pitchFamily="2" charset="-122"/>
              </a:defRPr>
            </a:lvl3pPr>
            <a:lvl4pPr>
              <a:spcBef>
                <a:spcPct val="20000"/>
              </a:spcBef>
              <a:buSzPct val="70000"/>
              <a:buBlip>
                <a:blip r:embed="rId8"/>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9"/>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9pPr>
          </a:lstStyle>
          <a:p>
            <a:pPr>
              <a:lnSpc>
                <a:spcPct val="130000"/>
              </a:lnSpc>
              <a:spcBef>
                <a:spcPct val="0"/>
              </a:spcBef>
              <a:buSzTx/>
              <a:buFontTx/>
              <a:buNone/>
            </a:pPr>
            <a:r>
              <a:rPr kumimoji="1" lang="zh-CN" altLang="en-US" sz="2800" b="0" dirty="0">
                <a:solidFill>
                  <a:schemeClr val="tx1"/>
                </a:solidFill>
                <a:latin typeface="宋体" panose="02010600030101010101" pitchFamily="2" charset="-122"/>
              </a:rPr>
              <a:t>设</a:t>
            </a:r>
            <a:r>
              <a:rPr kumimoji="1" lang="en-US" altLang="zh-CN" sz="2800" dirty="0">
                <a:solidFill>
                  <a:schemeClr val="tx1"/>
                </a:solidFill>
                <a:latin typeface="宋体" panose="02010600030101010101" pitchFamily="2" charset="-122"/>
              </a:rPr>
              <a:t>T</a:t>
            </a:r>
            <a:r>
              <a:rPr kumimoji="1" lang="zh-CN" altLang="en-US" sz="2800" dirty="0">
                <a:solidFill>
                  <a:schemeClr val="tx1"/>
                </a:solidFill>
                <a:latin typeface="宋体" panose="02010600030101010101" pitchFamily="2" charset="-122"/>
              </a:rPr>
              <a:t>～</a:t>
            </a:r>
            <a:r>
              <a:rPr kumimoji="1" lang="en-US" altLang="zh-CN" sz="2800" dirty="0">
                <a:solidFill>
                  <a:schemeClr val="tx1"/>
                </a:solidFill>
                <a:latin typeface="宋体" panose="02010600030101010101" pitchFamily="2" charset="-122"/>
              </a:rPr>
              <a:t>t(n)</a:t>
            </a:r>
            <a:r>
              <a:rPr kumimoji="1" lang="zh-CN" altLang="en-US" sz="2800" b="0" dirty="0">
                <a:solidFill>
                  <a:schemeClr val="tx1"/>
                </a:solidFill>
                <a:latin typeface="宋体" panose="02010600030101010101" pitchFamily="2" charset="-122"/>
              </a:rPr>
              <a:t>，若对</a:t>
            </a:r>
            <a:r>
              <a:rPr kumimoji="1" lang="zh-CN" altLang="en-US" sz="2800" dirty="0">
                <a:solidFill>
                  <a:schemeClr val="tx1"/>
                </a:solidFill>
                <a:latin typeface="宋体" panose="02010600030101010101" pitchFamily="2" charset="-122"/>
                <a:sym typeface="Symbol" panose="05050102010706020507" pitchFamily="18" charset="2"/>
              </a:rPr>
              <a:t>（</a:t>
            </a:r>
            <a:r>
              <a:rPr kumimoji="1" lang="en-US" altLang="zh-CN" sz="2800" dirty="0">
                <a:solidFill>
                  <a:schemeClr val="tx1"/>
                </a:solidFill>
                <a:latin typeface="宋体" panose="02010600030101010101" pitchFamily="2" charset="-122"/>
                <a:sym typeface="Symbol" panose="05050102010706020507" pitchFamily="18" charset="2"/>
              </a:rPr>
              <a:t>0&lt;&lt;1</a:t>
            </a:r>
            <a:r>
              <a:rPr kumimoji="1" lang="zh-CN" altLang="en-US" sz="2800" dirty="0">
                <a:solidFill>
                  <a:schemeClr val="tx1"/>
                </a:solidFill>
                <a:latin typeface="宋体" panose="02010600030101010101" pitchFamily="2" charset="-122"/>
                <a:sym typeface="Symbol" panose="05050102010706020507" pitchFamily="18" charset="2"/>
              </a:rPr>
              <a:t>）</a:t>
            </a:r>
            <a:r>
              <a:rPr kumimoji="1" lang="en-US" altLang="zh-CN" sz="2800" dirty="0">
                <a:solidFill>
                  <a:schemeClr val="tx1"/>
                </a:solidFill>
                <a:latin typeface="宋体" panose="02010600030101010101" pitchFamily="2" charset="-122"/>
                <a:sym typeface="Symbol" panose="05050102010706020507" pitchFamily="18" charset="2"/>
              </a:rPr>
              <a:t>,</a:t>
            </a:r>
            <a:r>
              <a:rPr kumimoji="1" lang="zh-CN" altLang="en-US" sz="2800" b="0" dirty="0">
                <a:solidFill>
                  <a:schemeClr val="tx1"/>
                </a:solidFill>
                <a:latin typeface="宋体" panose="02010600030101010101" pitchFamily="2" charset="-122"/>
                <a:sym typeface="Symbol" panose="05050102010706020507" pitchFamily="18" charset="2"/>
              </a:rPr>
              <a:t>若</a:t>
            </a:r>
            <a:r>
              <a:rPr kumimoji="1" lang="en-US" altLang="zh-CN" sz="2800" dirty="0">
                <a:solidFill>
                  <a:schemeClr val="tx1"/>
                </a:solidFill>
                <a:latin typeface="宋体" panose="02010600030101010101" pitchFamily="2" charset="-122"/>
                <a:sym typeface="Symbol" panose="05050102010706020507" pitchFamily="18" charset="2"/>
              </a:rPr>
              <a:t>t</a:t>
            </a:r>
            <a:r>
              <a:rPr kumimoji="1" lang="en-US" altLang="zh-CN" sz="2800" baseline="-25000" dirty="0">
                <a:solidFill>
                  <a:schemeClr val="tx1"/>
                </a:solidFill>
                <a:latin typeface="宋体" panose="02010600030101010101" pitchFamily="2" charset="-122"/>
                <a:sym typeface="Symbol" panose="05050102010706020507" pitchFamily="18" charset="2"/>
              </a:rPr>
              <a:t></a:t>
            </a:r>
            <a:r>
              <a:rPr kumimoji="1" lang="en-US" altLang="zh-CN" sz="2800" dirty="0">
                <a:solidFill>
                  <a:schemeClr val="tx1"/>
                </a:solidFill>
                <a:latin typeface="宋体" panose="02010600030101010101" pitchFamily="2" charset="-122"/>
                <a:sym typeface="Symbol" panose="05050102010706020507" pitchFamily="18" charset="2"/>
              </a:rPr>
              <a:t>(n)</a:t>
            </a:r>
            <a:r>
              <a:rPr kumimoji="1" lang="zh-CN" altLang="en-US" sz="2800" b="0" dirty="0">
                <a:solidFill>
                  <a:schemeClr val="tx1"/>
                </a:solidFill>
                <a:latin typeface="宋体" panose="02010600030101010101" pitchFamily="2" charset="-122"/>
                <a:sym typeface="Symbol" panose="05050102010706020507" pitchFamily="18" charset="2"/>
              </a:rPr>
              <a:t>满足：                     </a:t>
            </a:r>
          </a:p>
          <a:p>
            <a:pPr algn="ctr">
              <a:lnSpc>
                <a:spcPct val="130000"/>
              </a:lnSpc>
              <a:spcBef>
                <a:spcPct val="0"/>
              </a:spcBef>
              <a:buSzTx/>
              <a:buFontTx/>
              <a:buNone/>
            </a:pPr>
            <a:endParaRPr kumimoji="1" lang="zh-CN" altLang="en-US" sz="2800" b="0" dirty="0">
              <a:solidFill>
                <a:schemeClr val="tx1"/>
              </a:solidFill>
              <a:latin typeface="宋体" panose="02010600030101010101" pitchFamily="2" charset="-122"/>
              <a:sym typeface="Symbol" panose="05050102010706020507" pitchFamily="18" charset="2"/>
            </a:endParaRPr>
          </a:p>
          <a:p>
            <a:pPr lvl="3" algn="ctr">
              <a:lnSpc>
                <a:spcPct val="130000"/>
              </a:lnSpc>
              <a:spcBef>
                <a:spcPct val="0"/>
              </a:spcBef>
              <a:buSzTx/>
              <a:buFontTx/>
              <a:buNone/>
            </a:pPr>
            <a:endParaRPr kumimoji="1" lang="zh-CN" altLang="en-US" sz="2800" b="0" dirty="0">
              <a:solidFill>
                <a:schemeClr val="tx1"/>
              </a:solidFill>
              <a:latin typeface="宋体" panose="02010600030101010101" pitchFamily="2" charset="-122"/>
              <a:sym typeface="Symbol" panose="05050102010706020507" pitchFamily="18" charset="2"/>
            </a:endParaRPr>
          </a:p>
          <a:p>
            <a:pPr>
              <a:lnSpc>
                <a:spcPct val="130000"/>
              </a:lnSpc>
              <a:spcBef>
                <a:spcPct val="0"/>
              </a:spcBef>
              <a:buSzTx/>
              <a:buFontTx/>
              <a:buNone/>
            </a:pPr>
            <a:r>
              <a:rPr kumimoji="1" lang="zh-CN" altLang="en-US" sz="2800" b="0" dirty="0">
                <a:solidFill>
                  <a:schemeClr val="tx1"/>
                </a:solidFill>
                <a:latin typeface="宋体" panose="02010600030101010101" pitchFamily="2" charset="-122"/>
                <a:sym typeface="Symbol" panose="05050102010706020507" pitchFamily="18" charset="2"/>
              </a:rPr>
              <a:t>则称</a:t>
            </a:r>
            <a:r>
              <a:rPr kumimoji="1" lang="en-US" altLang="zh-CN" sz="2800" i="1" dirty="0">
                <a:solidFill>
                  <a:schemeClr val="tx1"/>
                </a:solidFill>
                <a:latin typeface="宋体" panose="02010600030101010101" pitchFamily="2" charset="-122"/>
                <a:sym typeface="Symbol" panose="05050102010706020507" pitchFamily="18" charset="2"/>
              </a:rPr>
              <a:t>t</a:t>
            </a:r>
            <a:r>
              <a:rPr kumimoji="1" lang="en-US" altLang="zh-CN" sz="2800" i="1" baseline="-25000" dirty="0">
                <a:solidFill>
                  <a:schemeClr val="tx1"/>
                </a:solidFill>
                <a:latin typeface="宋体" panose="02010600030101010101" pitchFamily="2" charset="-122"/>
                <a:sym typeface="Symbol" panose="05050102010706020507" pitchFamily="18" charset="2"/>
              </a:rPr>
              <a:t></a:t>
            </a:r>
            <a:r>
              <a:rPr kumimoji="1" lang="en-US" altLang="zh-CN" sz="2800" dirty="0">
                <a:solidFill>
                  <a:schemeClr val="tx1"/>
                </a:solidFill>
                <a:latin typeface="宋体" panose="02010600030101010101" pitchFamily="2" charset="-122"/>
                <a:sym typeface="Symbol" panose="05050102010706020507" pitchFamily="18" charset="2"/>
              </a:rPr>
              <a:t>(n)</a:t>
            </a:r>
            <a:r>
              <a:rPr kumimoji="1" lang="zh-CN" altLang="en-US" sz="2800" b="0" dirty="0">
                <a:solidFill>
                  <a:schemeClr val="tx1"/>
                </a:solidFill>
                <a:latin typeface="宋体" panose="02010600030101010101" pitchFamily="2" charset="-122"/>
                <a:sym typeface="Symbol" panose="05050102010706020507" pitchFamily="18" charset="2"/>
              </a:rPr>
              <a:t>为</a:t>
            </a:r>
            <a:r>
              <a:rPr kumimoji="1" lang="en-US" altLang="zh-CN" sz="2800" dirty="0">
                <a:solidFill>
                  <a:schemeClr val="tx1"/>
                </a:solidFill>
                <a:latin typeface="宋体" panose="02010600030101010101" pitchFamily="2" charset="-122"/>
              </a:rPr>
              <a:t>t(n)</a:t>
            </a:r>
            <a:r>
              <a:rPr kumimoji="1" lang="zh-CN" altLang="en-US" sz="2800" b="0" dirty="0">
                <a:solidFill>
                  <a:schemeClr val="tx1"/>
                </a:solidFill>
                <a:latin typeface="宋体" panose="02010600030101010101" pitchFamily="2" charset="-122"/>
              </a:rPr>
              <a:t>的上侧</a:t>
            </a:r>
            <a:r>
              <a:rPr kumimoji="1" lang="zh-CN" altLang="en-US" sz="2800" dirty="0">
                <a:solidFill>
                  <a:schemeClr val="tx1"/>
                </a:solidFill>
                <a:latin typeface="宋体" panose="02010600030101010101" pitchFamily="2" charset="-122"/>
                <a:sym typeface="Symbol" panose="05050102010706020507" pitchFamily="18" charset="2"/>
              </a:rPr>
              <a:t></a:t>
            </a:r>
            <a:r>
              <a:rPr kumimoji="1" lang="zh-CN" altLang="en-US" sz="2800" b="0" dirty="0">
                <a:solidFill>
                  <a:schemeClr val="tx1"/>
                </a:solidFill>
                <a:latin typeface="宋体" panose="02010600030101010101" pitchFamily="2" charset="-122"/>
              </a:rPr>
              <a:t>分位数。</a:t>
            </a:r>
          </a:p>
        </p:txBody>
      </p:sp>
      <p:graphicFrame>
        <p:nvGraphicFramePr>
          <p:cNvPr id="71684" name="Object 8"/>
          <p:cNvGraphicFramePr>
            <a:graphicFrameLocks noChangeAspect="1"/>
          </p:cNvGraphicFramePr>
          <p:nvPr>
            <p:extLst>
              <p:ext uri="{D42A27DB-BD31-4B8C-83A1-F6EECF244321}">
                <p14:modId xmlns:p14="http://schemas.microsoft.com/office/powerpoint/2010/main" val="1829374150"/>
              </p:ext>
            </p:extLst>
          </p:nvPr>
        </p:nvGraphicFramePr>
        <p:xfrm>
          <a:off x="2939383" y="1753447"/>
          <a:ext cx="4608513" cy="879475"/>
        </p:xfrm>
        <a:graphic>
          <a:graphicData uri="http://schemas.openxmlformats.org/presentationml/2006/ole">
            <mc:AlternateContent xmlns:mc="http://schemas.openxmlformats.org/markup-compatibility/2006">
              <mc:Choice xmlns:v="urn:schemas-microsoft-com:vml" Requires="v">
                <p:oleObj name="Equation" r:id="rId12" imgW="2057400" imgH="355600" progId="Equation.DSMT4">
                  <p:embed/>
                </p:oleObj>
              </mc:Choice>
              <mc:Fallback>
                <p:oleObj name="Equation" r:id="rId12" imgW="2057400" imgH="355600" progId="Equation.DSMT4">
                  <p:embed/>
                  <p:pic>
                    <p:nvPicPr>
                      <p:cNvPr id="71684"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39383" y="1753447"/>
                        <a:ext cx="4608513"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85" name="Rectangle 9"/>
          <p:cNvSpPr>
            <a:spLocks noGrp="1" noChangeArrowheads="1"/>
          </p:cNvSpPr>
          <p:nvPr>
            <p:ph type="title"/>
          </p:nvPr>
        </p:nvSpPr>
        <p:spPr>
          <a:xfrm>
            <a:off x="2135189" y="202804"/>
            <a:ext cx="10056811" cy="662782"/>
          </a:xfrm>
        </p:spPr>
        <p:txBody>
          <a:bodyPr/>
          <a:lstStyle/>
          <a:p>
            <a:pPr eaLnBrk="1" hangingPunct="1"/>
            <a:r>
              <a:rPr kumimoji="1" lang="en-US" altLang="zh-CN" b="1" i="1" dirty="0">
                <a:effectLst/>
              </a:rPr>
              <a:t>t</a:t>
            </a:r>
            <a:r>
              <a:rPr kumimoji="1" lang="en-US" altLang="zh-CN" b="1" dirty="0">
                <a:effectLst/>
              </a:rPr>
              <a:t> </a:t>
            </a:r>
            <a:r>
              <a:rPr kumimoji="1" lang="zh-CN" altLang="en-US" b="1" dirty="0">
                <a:effectLst/>
              </a:rPr>
              <a:t>分布的上侧分位数</a:t>
            </a:r>
          </a:p>
        </p:txBody>
      </p:sp>
      <p:sp>
        <p:nvSpPr>
          <p:cNvPr id="687115" name="Text Box 11"/>
          <p:cNvSpPr txBox="1">
            <a:spLocks noChangeArrowheads="1"/>
          </p:cNvSpPr>
          <p:nvPr/>
        </p:nvSpPr>
        <p:spPr bwMode="auto">
          <a:xfrm>
            <a:off x="1881982" y="4068022"/>
            <a:ext cx="3744912" cy="1772793"/>
          </a:xfrm>
          <a:prstGeom prst="rect">
            <a:avLst/>
          </a:prstGeom>
          <a:noFill/>
          <a:ln w="12700">
            <a:solidFill>
              <a:schemeClr val="accent6">
                <a:lumMod val="60000"/>
                <a:lumOff val="40000"/>
              </a:schemeClr>
            </a:solidFill>
            <a:miter lim="800000"/>
            <a:headEnd/>
            <a:tailEnd/>
          </a:ln>
        </p:spPr>
        <p:txBody>
          <a:bodyPr>
            <a:spAutoFit/>
          </a:bodyPr>
          <a:lstStyle>
            <a:lvl1pPr>
              <a:spcBef>
                <a:spcPct val="20000"/>
              </a:spcBef>
              <a:buSzPct val="90000"/>
              <a:buBlip>
                <a:blip r:embed="rId5"/>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6"/>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7"/>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8"/>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9"/>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9"/>
              </a:buBlip>
              <a:defRPr sz="2000">
                <a:solidFill>
                  <a:schemeClr val="tx1"/>
                </a:solidFill>
                <a:latin typeface="Tahoma" panose="020B0604030504040204" pitchFamily="34" charset="0"/>
                <a:ea typeface="宋体" panose="02010600030101010101" pitchFamily="2" charset="-122"/>
              </a:defRPr>
            </a:lvl9pPr>
          </a:lstStyle>
          <a:p>
            <a:pPr>
              <a:lnSpc>
                <a:spcPct val="130000"/>
              </a:lnSpc>
              <a:spcBef>
                <a:spcPct val="0"/>
              </a:spcBef>
              <a:buSzTx/>
              <a:buFontTx/>
              <a:buNone/>
            </a:pPr>
            <a:r>
              <a:rPr kumimoji="1" lang="zh-CN" altLang="en-US" sz="2800" b="0" dirty="0">
                <a:solidFill>
                  <a:schemeClr val="tx1"/>
                </a:solidFill>
                <a:latin typeface="宋体" panose="02010600030101010101" pitchFamily="2" charset="-122"/>
              </a:rPr>
              <a:t>由于对称性，</a:t>
            </a:r>
            <a:endParaRPr kumimoji="1" lang="en-US" altLang="zh-CN" sz="2800" b="0" dirty="0">
              <a:solidFill>
                <a:schemeClr val="tx1"/>
              </a:solidFill>
              <a:latin typeface="宋体" panose="02010600030101010101" pitchFamily="2" charset="-122"/>
            </a:endParaRPr>
          </a:p>
          <a:p>
            <a:pPr>
              <a:lnSpc>
                <a:spcPct val="130000"/>
              </a:lnSpc>
              <a:spcBef>
                <a:spcPct val="0"/>
              </a:spcBef>
              <a:buSzTx/>
              <a:buFontTx/>
              <a:buNone/>
            </a:pPr>
            <a:r>
              <a:rPr kumimoji="1" lang="zh-CN" altLang="en-US" sz="2800" b="0" dirty="0">
                <a:solidFill>
                  <a:schemeClr val="tx1"/>
                </a:solidFill>
                <a:latin typeface="宋体" panose="02010600030101010101" pitchFamily="2" charset="-122"/>
              </a:rPr>
              <a:t>下侧 </a:t>
            </a:r>
            <a:r>
              <a:rPr kumimoji="1" lang="zh-CN" altLang="en-US" sz="2800" dirty="0">
                <a:solidFill>
                  <a:schemeClr val="tx1"/>
                </a:solidFill>
                <a:latin typeface="宋体" panose="02010600030101010101" pitchFamily="2" charset="-122"/>
                <a:sym typeface="Symbol" panose="05050102010706020507" pitchFamily="18" charset="2"/>
              </a:rPr>
              <a:t> </a:t>
            </a:r>
            <a:r>
              <a:rPr kumimoji="1" lang="zh-CN" altLang="en-US" sz="2800" b="0" dirty="0">
                <a:solidFill>
                  <a:schemeClr val="tx1"/>
                </a:solidFill>
                <a:latin typeface="宋体" panose="02010600030101010101" pitchFamily="2" charset="-122"/>
              </a:rPr>
              <a:t>分位数</a:t>
            </a:r>
            <a:r>
              <a:rPr kumimoji="1" lang="zh-CN" altLang="en-US" sz="2800" b="0" dirty="0">
                <a:solidFill>
                  <a:schemeClr val="tx1"/>
                </a:solidFill>
                <a:latin typeface="宋体" panose="02010600030101010101" pitchFamily="2" charset="-122"/>
                <a:sym typeface="Symbol" panose="05050102010706020507" pitchFamily="18" charset="2"/>
              </a:rPr>
              <a:t>为：</a:t>
            </a:r>
          </a:p>
          <a:p>
            <a:pPr>
              <a:lnSpc>
                <a:spcPct val="130000"/>
              </a:lnSpc>
              <a:spcBef>
                <a:spcPct val="0"/>
              </a:spcBef>
              <a:buSzTx/>
              <a:buFontTx/>
              <a:buNone/>
            </a:pPr>
            <a:r>
              <a:rPr kumimoji="1" lang="zh-CN" altLang="en-US" sz="2800" b="0" dirty="0">
                <a:solidFill>
                  <a:schemeClr val="tx1"/>
                </a:solidFill>
                <a:latin typeface="宋体" panose="02010600030101010101" pitchFamily="2" charset="-122"/>
                <a:sym typeface="Symbol" panose="05050102010706020507" pitchFamily="18" charset="2"/>
              </a:rPr>
              <a:t>   </a:t>
            </a:r>
            <a:r>
              <a:rPr kumimoji="1" lang="en-US" altLang="zh-CN" sz="2800" i="1" dirty="0">
                <a:solidFill>
                  <a:schemeClr val="tx1"/>
                </a:solidFill>
                <a:latin typeface="宋体" panose="02010600030101010101" pitchFamily="2" charset="-122"/>
                <a:sym typeface="Symbol" panose="05050102010706020507" pitchFamily="18" charset="2"/>
              </a:rPr>
              <a:t>t</a:t>
            </a:r>
            <a:r>
              <a:rPr kumimoji="1" lang="en-US" altLang="zh-CN" sz="2800" i="1" baseline="-25000" dirty="0">
                <a:solidFill>
                  <a:schemeClr val="tx1"/>
                </a:solidFill>
                <a:latin typeface="宋体" panose="02010600030101010101" pitchFamily="2" charset="-122"/>
                <a:sym typeface="Symbol" panose="05050102010706020507" pitchFamily="18" charset="2"/>
              </a:rPr>
              <a:t>1-</a:t>
            </a:r>
            <a:r>
              <a:rPr kumimoji="1" lang="en-US" altLang="zh-CN" sz="2800" baseline="-25000" dirty="0">
                <a:solidFill>
                  <a:schemeClr val="tx1"/>
                </a:solidFill>
                <a:latin typeface="宋体" panose="02010600030101010101" pitchFamily="2" charset="-122"/>
                <a:sym typeface="Symbol" panose="05050102010706020507" pitchFamily="18" charset="2"/>
              </a:rPr>
              <a:t></a:t>
            </a:r>
            <a:r>
              <a:rPr kumimoji="1" lang="en-US" altLang="zh-CN" sz="2800" dirty="0">
                <a:solidFill>
                  <a:schemeClr val="tx1"/>
                </a:solidFill>
                <a:latin typeface="宋体" panose="02010600030101010101" pitchFamily="2" charset="-122"/>
                <a:sym typeface="Symbol" panose="05050102010706020507" pitchFamily="18" charset="2"/>
              </a:rPr>
              <a:t>(n)</a:t>
            </a:r>
            <a:r>
              <a:rPr kumimoji="1" lang="en-US" altLang="zh-CN" sz="2800" b="0" dirty="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r>
              <a:rPr kumimoji="1" lang="en-US" altLang="zh-CN" sz="2800" dirty="0">
                <a:solidFill>
                  <a:schemeClr val="tx1"/>
                </a:solidFill>
                <a:latin typeface="Times New Roman" panose="02020603050405020304" pitchFamily="18" charset="0"/>
                <a:sym typeface="Symbol" panose="05050102010706020507" pitchFamily="18" charset="2"/>
              </a:rPr>
              <a:t>-</a:t>
            </a:r>
            <a:r>
              <a:rPr kumimoji="1" lang="en-US" altLang="zh-CN" sz="2800" i="1" dirty="0">
                <a:solidFill>
                  <a:schemeClr val="tx1"/>
                </a:solidFill>
                <a:latin typeface="宋体" panose="02010600030101010101" pitchFamily="2" charset="-122"/>
                <a:sym typeface="Symbol" panose="05050102010706020507" pitchFamily="18" charset="2"/>
              </a:rPr>
              <a:t>t</a:t>
            </a:r>
            <a:r>
              <a:rPr kumimoji="1" lang="en-US" altLang="zh-CN" sz="2800" baseline="-25000" dirty="0">
                <a:solidFill>
                  <a:schemeClr val="tx1"/>
                </a:solidFill>
                <a:latin typeface="宋体" panose="02010600030101010101" pitchFamily="2" charset="-122"/>
                <a:sym typeface="Symbol" panose="05050102010706020507" pitchFamily="18" charset="2"/>
              </a:rPr>
              <a:t></a:t>
            </a:r>
            <a:r>
              <a:rPr kumimoji="1" lang="en-US" altLang="zh-CN" sz="2800" dirty="0">
                <a:solidFill>
                  <a:schemeClr val="tx1"/>
                </a:solidFill>
                <a:latin typeface="宋体" panose="02010600030101010101" pitchFamily="2" charset="-122"/>
                <a:sym typeface="Symbol" panose="05050102010706020507" pitchFamily="18" charset="2"/>
              </a:rPr>
              <a:t>(n)</a:t>
            </a:r>
            <a:r>
              <a:rPr kumimoji="1" lang="en-US" altLang="zh-CN" sz="2800" b="0" dirty="0">
                <a:solidFill>
                  <a:schemeClr val="tx1"/>
                </a:solidFill>
                <a:latin typeface="宋体" panose="02010600030101010101" pitchFamily="2" charset="-122"/>
                <a:sym typeface="Symbol" panose="05050102010706020507" pitchFamily="18" charset="2"/>
              </a:rPr>
              <a:t> </a:t>
            </a:r>
          </a:p>
        </p:txBody>
      </p:sp>
    </p:spTree>
    <p:extLst>
      <p:ext uri="{BB962C8B-B14F-4D97-AF65-F5344CB8AC3E}">
        <p14:creationId xmlns:p14="http://schemas.microsoft.com/office/powerpoint/2010/main" val="9766331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7115"/>
                                        </p:tgtEl>
                                        <p:attrNameLst>
                                          <p:attrName>style.visibility</p:attrName>
                                        </p:attrNameLst>
                                      </p:cBhvr>
                                      <p:to>
                                        <p:strVal val="visible"/>
                                      </p:to>
                                    </p:set>
                                    <p:anim calcmode="lin" valueType="num">
                                      <p:cBhvr additive="base">
                                        <p:cTn id="7" dur="500" fill="hold"/>
                                        <p:tgtEl>
                                          <p:spTgt spid="687115"/>
                                        </p:tgtEl>
                                        <p:attrNameLst>
                                          <p:attrName>ppt_x</p:attrName>
                                        </p:attrNameLst>
                                      </p:cBhvr>
                                      <p:tavLst>
                                        <p:tav tm="0">
                                          <p:val>
                                            <p:strVal val="#ppt_x"/>
                                          </p:val>
                                        </p:tav>
                                        <p:tav tm="100000">
                                          <p:val>
                                            <p:strVal val="#ppt_x"/>
                                          </p:val>
                                        </p:tav>
                                      </p:tavLst>
                                    </p:anim>
                                    <p:anim calcmode="lin" valueType="num">
                                      <p:cBhvr additive="base">
                                        <p:cTn id="8" dur="500" fill="hold"/>
                                        <p:tgtEl>
                                          <p:spTgt spid="6871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3729" name="图片 713728"/>
          <p:cNvPicPr>
            <a:picLocks noChangeAspect="1"/>
          </p:cNvPicPr>
          <p:nvPr/>
        </p:nvPicPr>
        <p:blipFill>
          <a:blip r:embed="rId3"/>
          <a:stretch>
            <a:fillRect/>
          </a:stretch>
        </p:blipFill>
        <p:spPr>
          <a:xfrm>
            <a:off x="4593014" y="1909490"/>
            <a:ext cx="5137484" cy="3277534"/>
          </a:xfrm>
          <a:prstGeom prst="rect">
            <a:avLst/>
          </a:prstGeom>
        </p:spPr>
      </p:pic>
      <p:sp>
        <p:nvSpPr>
          <p:cNvPr id="713744" name="Rectangle 16"/>
          <p:cNvSpPr>
            <a:spLocks noChangeArrowheads="1"/>
          </p:cNvSpPr>
          <p:nvPr/>
        </p:nvSpPr>
        <p:spPr bwMode="auto">
          <a:xfrm>
            <a:off x="1617871" y="288462"/>
            <a:ext cx="7241757" cy="1052596"/>
          </a:xfrm>
          <a:prstGeom prst="rect">
            <a:avLst/>
          </a:prstGeom>
          <a:noFill/>
          <a:ln w="9525">
            <a:noFill/>
            <a:miter lim="800000"/>
            <a:headEnd/>
            <a:tailEnd/>
          </a:ln>
          <a:effectLst/>
        </p:spPr>
        <p:txBody>
          <a:bodyPr wrap="square">
            <a:spAutoFit/>
          </a:bodyPr>
          <a:lstStyle/>
          <a:p>
            <a:pPr>
              <a:lnSpc>
                <a:spcPct val="120000"/>
              </a:lnSpc>
              <a:spcAft>
                <a:spcPct val="20000"/>
              </a:spcAft>
              <a:defRPr/>
            </a:pPr>
            <a:r>
              <a:rPr kumimoji="1" lang="en-US" altLang="zh-CN" sz="2800" dirty="0">
                <a:solidFill>
                  <a:srgbClr val="812374"/>
                </a:solidFill>
                <a:latin typeface="Times New Roman" pitchFamily="18" charset="0"/>
                <a:ea typeface="华文中宋" pitchFamily="2" charset="-122"/>
              </a:rPr>
              <a:t>t</a:t>
            </a:r>
            <a:r>
              <a:rPr kumimoji="1" lang="zh-CN" altLang="en-US" sz="2800" dirty="0">
                <a:solidFill>
                  <a:srgbClr val="812374"/>
                </a:solidFill>
                <a:latin typeface="Times New Roman" pitchFamily="18" charset="0"/>
                <a:ea typeface="华文中宋" pitchFamily="2" charset="-122"/>
              </a:rPr>
              <a:t>分布上侧 分位数 可以通过书后附表</a:t>
            </a:r>
            <a:r>
              <a:rPr kumimoji="1" lang="en-US" altLang="zh-CN" sz="2800" dirty="0">
                <a:solidFill>
                  <a:srgbClr val="812374"/>
                </a:solidFill>
                <a:latin typeface="Times New Roman" pitchFamily="18" charset="0"/>
                <a:ea typeface="华文中宋" pitchFamily="2" charset="-122"/>
              </a:rPr>
              <a:t>A-2</a:t>
            </a:r>
            <a:r>
              <a:rPr kumimoji="1" lang="zh-CN" altLang="en-US" sz="2800" dirty="0">
                <a:solidFill>
                  <a:srgbClr val="812374"/>
                </a:solidFill>
                <a:latin typeface="Times New Roman" pitchFamily="18" charset="0"/>
                <a:ea typeface="华文中宋" pitchFamily="2" charset="-122"/>
              </a:rPr>
              <a:t>查得。</a:t>
            </a:r>
            <a:r>
              <a:rPr kumimoji="1" lang="zh-CN" altLang="en-US" sz="2400" dirty="0">
                <a:latin typeface="Times New Roman" pitchFamily="18" charset="0"/>
                <a:ea typeface="华文中宋" pitchFamily="2" charset="-122"/>
              </a:rPr>
              <a:t>当</a:t>
            </a:r>
            <a:r>
              <a:rPr kumimoji="1" lang="en-US" altLang="zh-CN" sz="2400" dirty="0">
                <a:latin typeface="Times New Roman" pitchFamily="18" charset="0"/>
                <a:ea typeface="华文中宋" pitchFamily="2" charset="-122"/>
              </a:rPr>
              <a:t>n≥30</a:t>
            </a:r>
            <a:r>
              <a:rPr kumimoji="1" lang="zh-CN" altLang="en-US" sz="2400" dirty="0">
                <a:latin typeface="Times New Roman" pitchFamily="18" charset="0"/>
                <a:ea typeface="华文中宋" pitchFamily="2" charset="-122"/>
              </a:rPr>
              <a:t>时， 与标准正态分布分位数近似相等。</a:t>
            </a:r>
          </a:p>
        </p:txBody>
      </p:sp>
      <p:graphicFrame>
        <p:nvGraphicFramePr>
          <p:cNvPr id="713745" name="Object 17"/>
          <p:cNvGraphicFramePr>
            <a:graphicFrameLocks noChangeAspect="1"/>
          </p:cNvGraphicFramePr>
          <p:nvPr>
            <p:extLst>
              <p:ext uri="{D42A27DB-BD31-4B8C-83A1-F6EECF244321}">
                <p14:modId xmlns:p14="http://schemas.microsoft.com/office/powerpoint/2010/main" val="846909055"/>
              </p:ext>
            </p:extLst>
          </p:nvPr>
        </p:nvGraphicFramePr>
        <p:xfrm>
          <a:off x="6084637" y="1436295"/>
          <a:ext cx="2154238" cy="474662"/>
        </p:xfrm>
        <a:graphic>
          <a:graphicData uri="http://schemas.openxmlformats.org/presentationml/2006/ole">
            <mc:AlternateContent xmlns:mc="http://schemas.openxmlformats.org/markup-compatibility/2006">
              <mc:Choice xmlns:v="urn:schemas-microsoft-com:vml" Requires="v">
                <p:oleObj name="Equation" r:id="rId4" imgW="1040948" imgH="228501" progId="Equation.DSMT4">
                  <p:embed/>
                </p:oleObj>
              </mc:Choice>
              <mc:Fallback>
                <p:oleObj name="Equation" r:id="rId4" imgW="1040948" imgH="228501" progId="Equation.DSMT4">
                  <p:embed/>
                  <p:pic>
                    <p:nvPicPr>
                      <p:cNvPr id="713745"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637" y="1436295"/>
                        <a:ext cx="2154238"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8"/>
          <p:cNvGrpSpPr>
            <a:grpSpLocks/>
          </p:cNvGrpSpPr>
          <p:nvPr/>
        </p:nvGrpSpPr>
        <p:grpSpPr bwMode="auto">
          <a:xfrm>
            <a:off x="1952625" y="1437897"/>
            <a:ext cx="2755900" cy="461963"/>
            <a:chOff x="672" y="2688"/>
            <a:chExt cx="1736" cy="291"/>
          </a:xfrm>
        </p:grpSpPr>
        <p:sp>
          <p:nvSpPr>
            <p:cNvPr id="72715" name="Rectangle 19"/>
            <p:cNvSpPr>
              <a:spLocks noChangeArrowheads="1"/>
            </p:cNvSpPr>
            <p:nvPr/>
          </p:nvSpPr>
          <p:spPr bwMode="auto">
            <a:xfrm>
              <a:off x="672" y="2688"/>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90000"/>
                <a:buBlip>
                  <a:blip r:embed="rId6"/>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7"/>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8"/>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9"/>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0"/>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400" b="0">
                  <a:solidFill>
                    <a:schemeClr val="tx1"/>
                  </a:solidFill>
                  <a:latin typeface="Times New Roman" panose="02020603050405020304" pitchFamily="18" charset="0"/>
                  <a:ea typeface="华文中宋" panose="02010600040101010101" pitchFamily="2" charset="-122"/>
                </a:rPr>
                <a:t>如：</a:t>
              </a:r>
            </a:p>
          </p:txBody>
        </p:sp>
        <p:graphicFrame>
          <p:nvGraphicFramePr>
            <p:cNvPr id="72716" name="Object 20"/>
            <p:cNvGraphicFramePr>
              <a:graphicFrameLocks noChangeAspect="1"/>
            </p:cNvGraphicFramePr>
            <p:nvPr/>
          </p:nvGraphicFramePr>
          <p:xfrm>
            <a:off x="1122" y="2688"/>
            <a:ext cx="1286" cy="276"/>
          </p:xfrm>
          <a:graphic>
            <a:graphicData uri="http://schemas.openxmlformats.org/presentationml/2006/ole">
              <mc:AlternateContent xmlns:mc="http://schemas.openxmlformats.org/markup-compatibility/2006">
                <mc:Choice xmlns:v="urn:schemas-microsoft-com:vml" Requires="v">
                  <p:oleObj name="Equation" r:id="rId11" imgW="939392" imgH="203112" progId="Equation.DSMT4">
                    <p:embed/>
                  </p:oleObj>
                </mc:Choice>
                <mc:Fallback>
                  <p:oleObj name="Equation" r:id="rId11" imgW="939392" imgH="203112" progId="Equation.DSMT4">
                    <p:embed/>
                    <p:pic>
                      <p:nvPicPr>
                        <p:cNvPr id="72716"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22" y="2688"/>
                          <a:ext cx="1286"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13749" name="Rectangle 21"/>
          <p:cNvSpPr>
            <a:spLocks noChangeArrowheads="1"/>
          </p:cNvSpPr>
          <p:nvPr/>
        </p:nvSpPr>
        <p:spPr bwMode="auto">
          <a:xfrm>
            <a:off x="4873625" y="145229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90000"/>
              <a:buBlip>
                <a:blip r:embed="rId6"/>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7"/>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8"/>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9"/>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0"/>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400" b="0" dirty="0">
                <a:solidFill>
                  <a:srgbClr val="812374"/>
                </a:solidFill>
                <a:latin typeface="Times New Roman" panose="02020603050405020304" pitchFamily="18" charset="0"/>
                <a:ea typeface="华文中宋" panose="02010600040101010101" pitchFamily="2" charset="-122"/>
              </a:rPr>
              <a:t>查表得</a:t>
            </a:r>
          </a:p>
        </p:txBody>
      </p:sp>
      <p:sp>
        <p:nvSpPr>
          <p:cNvPr id="713750" name="Rectangle 22"/>
          <p:cNvSpPr>
            <a:spLocks noChangeArrowheads="1"/>
          </p:cNvSpPr>
          <p:nvPr/>
        </p:nvSpPr>
        <p:spPr bwMode="auto">
          <a:xfrm>
            <a:off x="2081921" y="2289971"/>
            <a:ext cx="248702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SzPct val="90000"/>
              <a:buBlip>
                <a:blip r:embed="rId6"/>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7"/>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8"/>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9"/>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0"/>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0"/>
              </a:buBlip>
              <a:defRPr sz="2000">
                <a:solidFill>
                  <a:schemeClr val="tx1"/>
                </a:solidFill>
                <a:latin typeface="Tahoma" panose="020B0604030504040204" pitchFamily="34" charset="0"/>
                <a:ea typeface="宋体" panose="02010600030101010101" pitchFamily="2" charset="-122"/>
              </a:defRPr>
            </a:lvl9pPr>
          </a:lstStyle>
          <a:p>
            <a:pPr>
              <a:lnSpc>
                <a:spcPct val="150000"/>
              </a:lnSpc>
              <a:buClr>
                <a:schemeClr val="hlink"/>
              </a:buClr>
              <a:buSzTx/>
              <a:buNone/>
            </a:pPr>
            <a:r>
              <a:rPr lang="zh-CN" altLang="en-US" sz="2400" dirty="0">
                <a:solidFill>
                  <a:schemeClr val="tx2"/>
                </a:solidFill>
                <a:latin typeface="Arial" panose="020B0604020202020204" pitchFamily="34" charset="0"/>
              </a:rPr>
              <a:t>通过</a:t>
            </a:r>
            <a:r>
              <a:rPr lang="en-US" altLang="zh-CN" sz="2400" dirty="0">
                <a:solidFill>
                  <a:schemeClr val="tx2"/>
                </a:solidFill>
                <a:latin typeface="Arial" panose="020B0604020202020204" pitchFamily="34" charset="0"/>
              </a:rPr>
              <a:t>EXCEL</a:t>
            </a:r>
            <a:r>
              <a:rPr lang="zh-CN" altLang="en-US" sz="2400" dirty="0">
                <a:solidFill>
                  <a:schemeClr val="tx2"/>
                </a:solidFill>
                <a:latin typeface="Arial" panose="020B0604020202020204" pitchFamily="34" charset="0"/>
              </a:rPr>
              <a:t>查左侧、双尾</a:t>
            </a:r>
            <a:r>
              <a:rPr lang="en-US" altLang="zh-CN" sz="2400" i="1" dirty="0">
                <a:solidFill>
                  <a:schemeClr val="tx2"/>
                </a:solidFill>
                <a:latin typeface="Arial" panose="020B0604020202020204" pitchFamily="34" charset="0"/>
              </a:rPr>
              <a:t>t</a:t>
            </a:r>
            <a:r>
              <a:rPr lang="zh-CN" altLang="en-US" sz="2400" dirty="0">
                <a:solidFill>
                  <a:schemeClr val="tx2"/>
                </a:solidFill>
                <a:latin typeface="Arial" panose="020B0604020202020204" pitchFamily="34" charset="0"/>
              </a:rPr>
              <a:t>分位数，函数分别为</a:t>
            </a:r>
            <a:r>
              <a:rPr lang="en-US" altLang="zh-CN" sz="2400" dirty="0">
                <a:solidFill>
                  <a:srgbClr val="00B0F0"/>
                </a:solidFill>
                <a:latin typeface="Arial" panose="020B0604020202020204" pitchFamily="34" charset="0"/>
              </a:rPr>
              <a:t>T.INV</a:t>
            </a:r>
            <a:r>
              <a:rPr lang="zh-CN" altLang="en-US" sz="2400" dirty="0">
                <a:solidFill>
                  <a:schemeClr val="tx1"/>
                </a:solidFill>
                <a:latin typeface="Arial" panose="020B0604020202020204" pitchFamily="34" charset="0"/>
              </a:rPr>
              <a:t>和</a:t>
            </a:r>
            <a:r>
              <a:rPr lang="en-US" altLang="zh-CN" sz="2400" dirty="0">
                <a:solidFill>
                  <a:srgbClr val="00B0F0"/>
                </a:solidFill>
                <a:latin typeface="Arial" panose="020B0604020202020204" pitchFamily="34" charset="0"/>
              </a:rPr>
              <a:t>T.INV.2T</a:t>
            </a:r>
            <a:endParaRPr lang="zh-CN" altLang="en-US" sz="2400" dirty="0">
              <a:solidFill>
                <a:srgbClr val="00B0F0"/>
              </a:solidFill>
              <a:latin typeface="Arial" panose="020B0604020202020204" pitchFamily="34" charset="0"/>
            </a:endParaRPr>
          </a:p>
        </p:txBody>
      </p:sp>
      <p:sp>
        <p:nvSpPr>
          <p:cNvPr id="11" name="Rectangle 20"/>
          <p:cNvSpPr txBox="1">
            <a:spLocks noChangeArrowheads="1"/>
          </p:cNvSpPr>
          <p:nvPr/>
        </p:nvSpPr>
        <p:spPr bwMode="auto">
          <a:xfrm>
            <a:off x="1820277" y="5349414"/>
            <a:ext cx="8001000" cy="455612"/>
          </a:xfrm>
          <a:prstGeom prst="rect">
            <a:avLst/>
          </a:prstGeom>
          <a:noFill/>
          <a:ln w="9525">
            <a:noFill/>
            <a:miter lim="800000"/>
            <a:headEnd/>
            <a:tailEnd/>
          </a:ln>
        </p:spPr>
        <p:txBody>
          <a:bodyPr/>
          <a:lstStyle/>
          <a:p>
            <a:pPr marL="342900" indent="-342900">
              <a:lnSpc>
                <a:spcPct val="80000"/>
              </a:lnSpc>
              <a:spcBef>
                <a:spcPct val="20000"/>
              </a:spcBef>
              <a:buSzPct val="90000"/>
              <a:defRPr/>
            </a:pPr>
            <a:r>
              <a:rPr lang="zh-CN" altLang="en-US" sz="2800" b="1" kern="0" dirty="0">
                <a:solidFill>
                  <a:schemeClr val="tx2"/>
                </a:solidFill>
              </a:rPr>
              <a:t>反之，已知</a:t>
            </a:r>
            <a:r>
              <a:rPr lang="en-US" altLang="zh-CN" sz="2800" i="1" dirty="0">
                <a:solidFill>
                  <a:schemeClr val="tx2"/>
                </a:solidFill>
                <a:latin typeface="Arial" panose="020B0604020202020204" pitchFamily="34" charset="0"/>
              </a:rPr>
              <a:t>t</a:t>
            </a:r>
            <a:r>
              <a:rPr lang="zh-CN" altLang="en-US" sz="2800" b="1" kern="0" dirty="0">
                <a:solidFill>
                  <a:schemeClr val="tx2"/>
                </a:solidFill>
              </a:rPr>
              <a:t>分位数查对应的左尾、双尾、右尾概率，函数分别为</a:t>
            </a:r>
            <a:r>
              <a:rPr lang="en-US" altLang="zh-CN" sz="2800" b="1" kern="0" dirty="0">
                <a:solidFill>
                  <a:srgbClr val="C00000"/>
                </a:solidFill>
              </a:rPr>
              <a:t>T.DIST</a:t>
            </a:r>
            <a:r>
              <a:rPr lang="zh-CN" altLang="en-US" sz="2800" b="1" kern="0" dirty="0">
                <a:solidFill>
                  <a:srgbClr val="C00000"/>
                </a:solidFill>
              </a:rPr>
              <a:t>，</a:t>
            </a:r>
            <a:r>
              <a:rPr lang="en-US" altLang="zh-CN" sz="2800" b="1" kern="0" dirty="0">
                <a:solidFill>
                  <a:srgbClr val="C00000"/>
                </a:solidFill>
              </a:rPr>
              <a:t>T.DIST.2T</a:t>
            </a:r>
            <a:r>
              <a:rPr lang="zh-CN" altLang="en-US" sz="2800" b="1" kern="0" dirty="0">
                <a:solidFill>
                  <a:srgbClr val="C00000"/>
                </a:solidFill>
              </a:rPr>
              <a:t>，</a:t>
            </a:r>
            <a:r>
              <a:rPr lang="en-US" altLang="zh-CN" sz="2800" b="1" kern="0" dirty="0">
                <a:solidFill>
                  <a:srgbClr val="C00000"/>
                </a:solidFill>
              </a:rPr>
              <a:t>T.DIST.RT</a:t>
            </a:r>
            <a:r>
              <a:rPr lang="zh-CN" altLang="en-US" sz="2800" b="1" kern="0" dirty="0">
                <a:solidFill>
                  <a:schemeClr val="tx2"/>
                </a:solidFill>
              </a:rPr>
              <a:t>。</a:t>
            </a:r>
          </a:p>
        </p:txBody>
      </p:sp>
    </p:spTree>
    <p:extLst>
      <p:ext uri="{BB962C8B-B14F-4D97-AF65-F5344CB8AC3E}">
        <p14:creationId xmlns:p14="http://schemas.microsoft.com/office/powerpoint/2010/main" val="13833361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1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6905" y="816250"/>
                <a:ext cx="9324474" cy="6006543"/>
              </a:xfrm>
            </p:spPr>
            <p:txBody>
              <a:bodyPr>
                <a:noAutofit/>
              </a:bodyPr>
              <a:lstStyle/>
              <a:p>
                <a:pPr indent="0">
                  <a:lnSpc>
                    <a:spcPct val="150000"/>
                  </a:lnSpc>
                  <a:spcBef>
                    <a:spcPts val="1200"/>
                  </a:spcBef>
                  <a:spcAft>
                    <a:spcPts val="0"/>
                  </a:spcAft>
                  <a:buNone/>
                </a:pPr>
                <a14:m>
                  <m:oMath xmlns:m="http://schemas.openxmlformats.org/officeDocument/2006/math">
                    <m:r>
                      <a:rPr lang="en-US" altLang="zh-CN" b="1">
                        <a:solidFill>
                          <a:srgbClr val="00B0F0"/>
                        </a:solidFill>
                        <a:latin typeface="Cambria Math" panose="02040503050406030204" pitchFamily="18" charset="0"/>
                      </a:rPr>
                      <m:t>1.  </m:t>
                    </m:r>
                    <m:r>
                      <a:rPr lang="en-US" altLang="zh-CN" b="1">
                        <a:solidFill>
                          <a:srgbClr val="00B0F0"/>
                        </a:solidFill>
                        <a:latin typeface="Cambria Math" panose="02040503050406030204" pitchFamily="18" charset="0"/>
                      </a:rPr>
                      <m:t>𝑭</m:t>
                    </m:r>
                  </m:oMath>
                </a14:m>
                <a:r>
                  <a:rPr lang="zh-CN" altLang="en-US" b="1" dirty="0">
                    <a:solidFill>
                      <a:srgbClr val="00B0F0"/>
                    </a:solidFill>
                  </a:rPr>
                  <a:t>分布的定义及其密度函数</a:t>
                </a:r>
              </a:p>
              <a:p>
                <a:pPr marL="0" indent="720000">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若随机变量</a:t>
                </a:r>
                <a14:m>
                  <m:oMath xmlns:m="http://schemas.openxmlformats.org/officeDocument/2006/math">
                    <m:r>
                      <a:rPr lang="en-US" altLang="zh-CN" sz="2800" b="0" i="1" smtClean="0">
                        <a:solidFill>
                          <a:schemeClr val="tx1"/>
                        </a:solidFill>
                        <a:latin typeface="Cambria Math" panose="02040503050406030204" pitchFamily="18" charset="0"/>
                      </a:rPr>
                      <m:t>𝑋</m:t>
                    </m:r>
                  </m:oMath>
                </a14:m>
                <a:r>
                  <a:rPr lang="zh-CN" altLang="en-US" sz="2800" dirty="0">
                    <a:solidFill>
                      <a:schemeClr val="tx1"/>
                    </a:solidFill>
                    <a:latin typeface="宋体" panose="02010600030101010101" pitchFamily="2" charset="-122"/>
                    <a:ea typeface="宋体" panose="02010600030101010101" pitchFamily="2" charset="-122"/>
                  </a:rPr>
                  <a:t>、</a:t>
                </a:r>
                <a14:m>
                  <m:oMath xmlns:m="http://schemas.openxmlformats.org/officeDocument/2006/math">
                    <m:r>
                      <a:rPr lang="en-US" altLang="zh-CN" sz="2800" b="0" i="1" dirty="0" smtClean="0">
                        <a:solidFill>
                          <a:schemeClr val="tx1"/>
                        </a:solidFill>
                        <a:latin typeface="Cambria Math" panose="02040503050406030204" pitchFamily="18" charset="0"/>
                      </a:rPr>
                      <m:t>𝑌</m:t>
                    </m:r>
                  </m:oMath>
                </a14:m>
                <a:r>
                  <a:rPr lang="zh-CN" altLang="en-US" sz="2800" dirty="0">
                    <a:solidFill>
                      <a:schemeClr val="tx1"/>
                    </a:solidFill>
                    <a:latin typeface="宋体" panose="02010600030101010101" pitchFamily="2" charset="-122"/>
                    <a:ea typeface="宋体" panose="02010600030101010101" pitchFamily="2" charset="-122"/>
                  </a:rPr>
                  <a:t>分别服从自由度为</a:t>
                </a:r>
                <a14:m>
                  <m:oMath xmlns:m="http://schemas.openxmlformats.org/officeDocument/2006/math">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𝑛</m:t>
                        </m:r>
                      </m:e>
                      <m:sub>
                        <m:r>
                          <a:rPr lang="en-US" altLang="zh-CN" sz="2800" i="1">
                            <a:solidFill>
                              <a:schemeClr val="tx1"/>
                            </a:solidFill>
                            <a:latin typeface="Cambria Math" panose="02040503050406030204" pitchFamily="18" charset="0"/>
                          </a:rPr>
                          <m:t>1</m:t>
                        </m:r>
                      </m:sub>
                    </m:sSub>
                    <m:r>
                      <a:rPr lang="en-US" altLang="zh-CN" sz="2800" i="1">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𝑛</m:t>
                        </m:r>
                      </m:e>
                      <m:sub>
                        <m:r>
                          <a:rPr lang="en-US" altLang="zh-CN" sz="2800" i="1">
                            <a:solidFill>
                              <a:schemeClr val="tx1"/>
                            </a:solidFill>
                            <a:latin typeface="Cambria Math" panose="02040503050406030204" pitchFamily="18" charset="0"/>
                          </a:rPr>
                          <m:t>2</m:t>
                        </m:r>
                      </m:sub>
                    </m:sSub>
                  </m:oMath>
                </a14:m>
                <a:r>
                  <a:rPr lang="zh-CN" altLang="en-US" sz="2800" dirty="0">
                    <a:solidFill>
                      <a:schemeClr val="tx1"/>
                    </a:solidFill>
                    <a:latin typeface="宋体" panose="02010600030101010101" pitchFamily="2" charset="-122"/>
                    <a:ea typeface="宋体" panose="02010600030101010101" pitchFamily="2" charset="-122"/>
                  </a:rPr>
                  <a:t>的卡方分布，且</a:t>
                </a:r>
                <a14:m>
                  <m:oMath xmlns:m="http://schemas.openxmlformats.org/officeDocument/2006/math">
                    <m:r>
                      <a:rPr lang="en-US" altLang="zh-CN" sz="2800" i="1">
                        <a:solidFill>
                          <a:schemeClr val="tx1"/>
                        </a:solidFill>
                        <a:latin typeface="Cambria Math" panose="02040503050406030204" pitchFamily="18" charset="0"/>
                      </a:rPr>
                      <m:t>𝑋</m:t>
                    </m:r>
                  </m:oMath>
                </a14:m>
                <a:r>
                  <a:rPr lang="zh-CN" altLang="en-US" sz="2800" dirty="0">
                    <a:solidFill>
                      <a:schemeClr val="tx1"/>
                    </a:solidFill>
                    <a:latin typeface="宋体" panose="02010600030101010101" pitchFamily="2" charset="-122"/>
                    <a:ea typeface="宋体" panose="02010600030101010101" pitchFamily="2" charset="-122"/>
                  </a:rPr>
                  <a:t>、</a:t>
                </a:r>
                <a14:m>
                  <m:oMath xmlns:m="http://schemas.openxmlformats.org/officeDocument/2006/math">
                    <m:r>
                      <a:rPr lang="en-US" altLang="zh-CN" sz="2800" i="1" dirty="0">
                        <a:solidFill>
                          <a:schemeClr val="tx1"/>
                        </a:solidFill>
                        <a:latin typeface="Cambria Math" panose="02040503050406030204" pitchFamily="18" charset="0"/>
                      </a:rPr>
                      <m:t>𝑌</m:t>
                    </m:r>
                  </m:oMath>
                </a14:m>
                <a:r>
                  <a:rPr lang="zh-CN" altLang="en-US" sz="2800" dirty="0">
                    <a:solidFill>
                      <a:schemeClr val="tx1"/>
                    </a:solidFill>
                    <a:latin typeface="宋体" panose="02010600030101010101" pitchFamily="2" charset="-122"/>
                    <a:ea typeface="宋体" panose="02010600030101010101" pitchFamily="2" charset="-122"/>
                  </a:rPr>
                  <a:t>相互独立，则随机变量</a:t>
                </a:r>
              </a:p>
              <a:p>
                <a:pPr marL="0" indent="0">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                   </a:t>
                </a:r>
                <a14:m>
                  <m:oMath xmlns:m="http://schemas.openxmlformats.org/officeDocument/2006/math">
                    <m:r>
                      <a:rPr lang="en-US" altLang="zh-CN" b="1" i="1" smtClean="0">
                        <a:solidFill>
                          <a:srgbClr val="0070C0"/>
                        </a:solidFill>
                        <a:latin typeface="Cambria Math" panose="02040503050406030204" pitchFamily="18" charset="0"/>
                      </a:rPr>
                      <m:t>𝑭</m:t>
                    </m:r>
                    <m:r>
                      <a:rPr lang="en-US" altLang="zh-CN" b="1" i="1" smtClean="0">
                        <a:solidFill>
                          <a:srgbClr val="0070C0"/>
                        </a:solidFill>
                        <a:latin typeface="Cambria Math" panose="02040503050406030204" pitchFamily="18" charset="0"/>
                      </a:rPr>
                      <m:t>=</m:t>
                    </m:r>
                    <m:f>
                      <m:fPr>
                        <m:ctrlPr>
                          <a:rPr lang="zh-CN" altLang="zh-CN" b="1" i="1">
                            <a:solidFill>
                              <a:srgbClr val="0070C0"/>
                            </a:solidFill>
                            <a:latin typeface="Cambria Math" panose="02040503050406030204" pitchFamily="18" charset="0"/>
                          </a:rPr>
                        </m:ctrlPr>
                      </m:fPr>
                      <m:num>
                        <m:r>
                          <a:rPr lang="en-US" altLang="zh-CN" b="1" i="1">
                            <a:solidFill>
                              <a:srgbClr val="0070C0"/>
                            </a:solidFill>
                            <a:latin typeface="Cambria Math" panose="02040503050406030204" pitchFamily="18" charset="0"/>
                          </a:rPr>
                          <m:t>𝑿</m:t>
                        </m:r>
                        <m:r>
                          <a:rPr lang="en-US" altLang="zh-CN" b="1" i="1">
                            <a:solidFill>
                              <a:srgbClr val="0070C0"/>
                            </a:solidFill>
                            <a:latin typeface="Cambria Math" panose="02040503050406030204" pitchFamily="18" charset="0"/>
                          </a:rPr>
                          <m:t>/</m:t>
                        </m:r>
                        <m:sSub>
                          <m:sSubPr>
                            <m:ctrlPr>
                              <a:rPr lang="zh-CN" altLang="zh-CN" b="1" i="1">
                                <a:solidFill>
                                  <a:srgbClr val="0070C0"/>
                                </a:solidFill>
                                <a:latin typeface="Cambria Math" panose="02040503050406030204" pitchFamily="18" charset="0"/>
                              </a:rPr>
                            </m:ctrlPr>
                          </m:sSubPr>
                          <m:e>
                            <m:r>
                              <a:rPr lang="en-US" altLang="zh-CN" b="1" i="1">
                                <a:solidFill>
                                  <a:srgbClr val="0070C0"/>
                                </a:solidFill>
                                <a:latin typeface="Cambria Math" panose="02040503050406030204" pitchFamily="18" charset="0"/>
                              </a:rPr>
                              <m:t>𝒏</m:t>
                            </m:r>
                          </m:e>
                          <m:sub>
                            <m:r>
                              <a:rPr lang="en-US" altLang="zh-CN" b="1" i="1">
                                <a:solidFill>
                                  <a:srgbClr val="0070C0"/>
                                </a:solidFill>
                                <a:latin typeface="Cambria Math" panose="02040503050406030204" pitchFamily="18" charset="0"/>
                              </a:rPr>
                              <m:t>𝟏</m:t>
                            </m:r>
                          </m:sub>
                        </m:sSub>
                      </m:num>
                      <m:den>
                        <m:r>
                          <a:rPr lang="en-US" altLang="zh-CN" b="1" i="1">
                            <a:solidFill>
                              <a:srgbClr val="0070C0"/>
                            </a:solidFill>
                            <a:latin typeface="Cambria Math" panose="02040503050406030204" pitchFamily="18" charset="0"/>
                          </a:rPr>
                          <m:t>𝒀</m:t>
                        </m:r>
                        <m:r>
                          <a:rPr lang="en-US" altLang="zh-CN" b="1" i="1">
                            <a:solidFill>
                              <a:srgbClr val="0070C0"/>
                            </a:solidFill>
                            <a:latin typeface="Cambria Math" panose="02040503050406030204" pitchFamily="18" charset="0"/>
                          </a:rPr>
                          <m:t>/</m:t>
                        </m:r>
                        <m:sSub>
                          <m:sSubPr>
                            <m:ctrlPr>
                              <a:rPr lang="zh-CN" altLang="zh-CN" b="1" i="1">
                                <a:solidFill>
                                  <a:srgbClr val="0070C0"/>
                                </a:solidFill>
                                <a:latin typeface="Cambria Math" panose="02040503050406030204" pitchFamily="18" charset="0"/>
                              </a:rPr>
                            </m:ctrlPr>
                          </m:sSubPr>
                          <m:e>
                            <m:r>
                              <a:rPr lang="en-US" altLang="zh-CN" b="1" i="1">
                                <a:solidFill>
                                  <a:srgbClr val="0070C0"/>
                                </a:solidFill>
                                <a:latin typeface="Cambria Math" panose="02040503050406030204" pitchFamily="18" charset="0"/>
                              </a:rPr>
                              <m:t>𝒏</m:t>
                            </m:r>
                          </m:e>
                          <m:sub>
                            <m:r>
                              <a:rPr lang="en-US" altLang="zh-CN" b="1" i="1">
                                <a:solidFill>
                                  <a:srgbClr val="0070C0"/>
                                </a:solidFill>
                                <a:latin typeface="Cambria Math" panose="02040503050406030204" pitchFamily="18" charset="0"/>
                              </a:rPr>
                              <m:t>𝟐</m:t>
                            </m:r>
                          </m:sub>
                        </m:sSub>
                      </m:den>
                    </m:f>
                    <m:r>
                      <a:rPr lang="en-US" altLang="zh-CN" b="1" i="1">
                        <a:solidFill>
                          <a:srgbClr val="0070C0"/>
                        </a:solidFill>
                        <a:latin typeface="Cambria Math" panose="02040503050406030204" pitchFamily="18" charset="0"/>
                      </a:rPr>
                      <m:t>~</m:t>
                    </m:r>
                    <m:r>
                      <a:rPr lang="en-US" altLang="zh-CN" b="1" i="1">
                        <a:solidFill>
                          <a:srgbClr val="0070C0"/>
                        </a:solidFill>
                        <a:latin typeface="Cambria Math" panose="02040503050406030204" pitchFamily="18" charset="0"/>
                      </a:rPr>
                      <m:t>𝑭</m:t>
                    </m:r>
                    <m:r>
                      <a:rPr lang="en-US" altLang="zh-CN" b="1" i="1">
                        <a:solidFill>
                          <a:srgbClr val="0070C0"/>
                        </a:solidFill>
                        <a:latin typeface="Cambria Math" panose="02040503050406030204" pitchFamily="18" charset="0"/>
                      </a:rPr>
                      <m:t>(</m:t>
                    </m:r>
                    <m:sSub>
                      <m:sSubPr>
                        <m:ctrlPr>
                          <a:rPr lang="zh-CN" altLang="zh-CN" b="1" i="1">
                            <a:solidFill>
                              <a:srgbClr val="0070C0"/>
                            </a:solidFill>
                            <a:latin typeface="Cambria Math" panose="02040503050406030204" pitchFamily="18" charset="0"/>
                          </a:rPr>
                        </m:ctrlPr>
                      </m:sSubPr>
                      <m:e>
                        <m:r>
                          <a:rPr lang="en-US" altLang="zh-CN" b="1" i="1">
                            <a:solidFill>
                              <a:srgbClr val="0070C0"/>
                            </a:solidFill>
                            <a:latin typeface="Cambria Math" panose="02040503050406030204" pitchFamily="18" charset="0"/>
                          </a:rPr>
                          <m:t>𝒏</m:t>
                        </m:r>
                      </m:e>
                      <m:sub>
                        <m:r>
                          <a:rPr lang="en-US" altLang="zh-CN" b="1" i="1">
                            <a:solidFill>
                              <a:srgbClr val="0070C0"/>
                            </a:solidFill>
                            <a:latin typeface="Cambria Math" panose="02040503050406030204" pitchFamily="18" charset="0"/>
                          </a:rPr>
                          <m:t>𝟏</m:t>
                        </m:r>
                      </m:sub>
                    </m:sSub>
                    <m:r>
                      <a:rPr lang="en-US" altLang="zh-CN" b="1" i="1">
                        <a:solidFill>
                          <a:srgbClr val="0070C0"/>
                        </a:solidFill>
                        <a:latin typeface="Cambria Math" panose="02040503050406030204" pitchFamily="18" charset="0"/>
                      </a:rPr>
                      <m:t>,</m:t>
                    </m:r>
                    <m:sSub>
                      <m:sSubPr>
                        <m:ctrlPr>
                          <a:rPr lang="zh-CN" altLang="zh-CN" b="1" i="1">
                            <a:solidFill>
                              <a:srgbClr val="0070C0"/>
                            </a:solidFill>
                            <a:latin typeface="Cambria Math" panose="02040503050406030204" pitchFamily="18" charset="0"/>
                          </a:rPr>
                        </m:ctrlPr>
                      </m:sSubPr>
                      <m:e>
                        <m:r>
                          <a:rPr lang="en-US" altLang="zh-CN" b="1" i="1">
                            <a:solidFill>
                              <a:srgbClr val="0070C0"/>
                            </a:solidFill>
                            <a:latin typeface="Cambria Math" panose="02040503050406030204" pitchFamily="18" charset="0"/>
                          </a:rPr>
                          <m:t>𝒏</m:t>
                        </m:r>
                      </m:e>
                      <m:sub>
                        <m:r>
                          <a:rPr lang="en-US" altLang="zh-CN" b="1" i="1">
                            <a:solidFill>
                              <a:srgbClr val="0070C0"/>
                            </a:solidFill>
                            <a:latin typeface="Cambria Math" panose="02040503050406030204" pitchFamily="18" charset="0"/>
                          </a:rPr>
                          <m:t>𝟐</m:t>
                        </m:r>
                      </m:sub>
                    </m:sSub>
                    <m:r>
                      <a:rPr lang="en-US" altLang="zh-CN" b="1" i="1">
                        <a:solidFill>
                          <a:srgbClr val="0070C0"/>
                        </a:solidFill>
                        <a:latin typeface="Cambria Math" panose="02040503050406030204" pitchFamily="18" charset="0"/>
                      </a:rPr>
                      <m:t>)</m:t>
                    </m:r>
                  </m:oMath>
                </a14:m>
                <a:endParaRPr lang="zh-CN" altLang="en-US" sz="2800" dirty="0">
                  <a:solidFill>
                    <a:schemeClr val="tx1"/>
                  </a:solidFill>
                  <a:latin typeface="宋体" panose="02010600030101010101" pitchFamily="2" charset="-122"/>
                  <a:ea typeface="宋体" panose="02010600030101010101" pitchFamily="2" charset="-122"/>
                </a:endParaRPr>
              </a:p>
              <a:p>
                <a:pPr marL="0" indent="265113">
                  <a:spcBef>
                    <a:spcPts val="1200"/>
                  </a:spcBef>
                  <a:spcAft>
                    <a:spcPts val="0"/>
                  </a:spcAft>
                  <a:buNone/>
                </a:pPr>
                <a14:m>
                  <m:oMath xmlns:m="http://schemas.openxmlformats.org/officeDocument/2006/math">
                    <m:r>
                      <a:rPr lang="en-US" altLang="zh-CN" sz="2800" b="1" i="1" smtClean="0">
                        <a:solidFill>
                          <a:schemeClr val="tx1"/>
                        </a:solidFill>
                        <a:latin typeface="Cambria Math" panose="02040503050406030204" pitchFamily="18" charset="0"/>
                      </a:rPr>
                      <m:t>𝑭</m:t>
                    </m:r>
                  </m:oMath>
                </a14:m>
                <a:r>
                  <a:rPr lang="zh-CN" altLang="en-US" sz="2800" b="1" dirty="0">
                    <a:solidFill>
                      <a:schemeClr val="tx1"/>
                    </a:solidFill>
                    <a:latin typeface="宋体" panose="02010600030101010101" pitchFamily="2" charset="-122"/>
                    <a:ea typeface="宋体" panose="02010600030101010101" pitchFamily="2" charset="-122"/>
                  </a:rPr>
                  <a:t>分布的密度函数</a:t>
                </a:r>
                <a:r>
                  <a:rPr lang="zh-CN" altLang="en-US" sz="2800" dirty="0">
                    <a:solidFill>
                      <a:schemeClr val="tx1"/>
                    </a:solidFill>
                    <a:latin typeface="宋体" panose="02010600030101010101" pitchFamily="2" charset="-122"/>
                    <a:ea typeface="宋体" panose="02010600030101010101" pitchFamily="2" charset="-122"/>
                  </a:rPr>
                  <a:t>为：</a:t>
                </a:r>
                <a:r>
                  <a:rPr lang="en-US" altLang="zh-CN" sz="2800" dirty="0">
                    <a:solidFill>
                      <a:schemeClr val="tx1"/>
                    </a:solidFill>
                    <a:latin typeface="宋体" panose="02010600030101010101" pitchFamily="2" charset="-122"/>
                    <a:ea typeface="宋体" panose="02010600030101010101" pitchFamily="2" charset="-122"/>
                  </a:rPr>
                  <a:t> </a:t>
                </a:r>
              </a:p>
              <a:p>
                <a:pPr marL="0" indent="0">
                  <a:spcBef>
                    <a:spcPts val="1200"/>
                  </a:spcBef>
                  <a:spcAft>
                    <a:spcPts val="0"/>
                  </a:spcAft>
                  <a:buNone/>
                </a:pPr>
                <a14:m>
                  <m:oMathPara xmlns:m="http://schemas.openxmlformats.org/officeDocument/2006/math">
                    <m:oMathParaPr>
                      <m:jc m:val="centerGroup"/>
                    </m:oMathParaPr>
                    <m:oMath xmlns:m="http://schemas.openxmlformats.org/officeDocument/2006/math">
                      <m:r>
                        <a:rPr lang="en-US" altLang="zh-CN" sz="2800">
                          <a:solidFill>
                            <a:schemeClr val="tx1"/>
                          </a:solidFill>
                          <a:latin typeface="Cambria Math" panose="02040503050406030204" pitchFamily="18" charset="0"/>
                        </a:rPr>
                        <m:t>𝑓</m:t>
                      </m:r>
                      <m:d>
                        <m:dPr>
                          <m:ctrlPr>
                            <a:rPr lang="zh-CN" altLang="zh-CN" sz="2800" i="1">
                              <a:solidFill>
                                <a:schemeClr val="tx1"/>
                              </a:solidFill>
                              <a:latin typeface="Cambria Math" panose="02040503050406030204" pitchFamily="18" charset="0"/>
                            </a:rPr>
                          </m:ctrlPr>
                        </m:dPr>
                        <m:e>
                          <m:r>
                            <a:rPr lang="en-US" altLang="zh-CN" sz="2800">
                              <a:solidFill>
                                <a:schemeClr val="tx1"/>
                              </a:solidFill>
                              <a:latin typeface="Cambria Math" panose="02040503050406030204" pitchFamily="18" charset="0"/>
                            </a:rPr>
                            <m:t>𝑥</m:t>
                          </m:r>
                        </m:e>
                      </m:d>
                      <m:r>
                        <a:rPr lang="en-US" altLang="zh-CN" sz="2800">
                          <a:solidFill>
                            <a:schemeClr val="tx1"/>
                          </a:solidFill>
                          <a:latin typeface="Cambria Math" panose="02040503050406030204" pitchFamily="18" charset="0"/>
                        </a:rPr>
                        <m:t>=</m:t>
                      </m:r>
                      <m:d>
                        <m:dPr>
                          <m:begChr m:val="{"/>
                          <m:endChr m:val=""/>
                          <m:ctrlPr>
                            <a:rPr lang="zh-CN" altLang="zh-CN" sz="2800" i="1">
                              <a:solidFill>
                                <a:schemeClr val="tx1"/>
                              </a:solidFill>
                              <a:latin typeface="Cambria Math" panose="02040503050406030204" pitchFamily="18" charset="0"/>
                            </a:rPr>
                          </m:ctrlPr>
                        </m:dPr>
                        <m:e>
                          <m:eqArr>
                            <m:eqArrPr>
                              <m:ctrlPr>
                                <a:rPr lang="zh-CN" altLang="zh-CN" sz="2800" i="1">
                                  <a:solidFill>
                                    <a:schemeClr val="tx1"/>
                                  </a:solidFill>
                                  <a:latin typeface="Cambria Math" panose="02040503050406030204" pitchFamily="18" charset="0"/>
                                </a:rPr>
                              </m:ctrlPr>
                            </m:eqArrPr>
                            <m:e>
                              <m:f>
                                <m:fPr>
                                  <m:ctrlPr>
                                    <a:rPr lang="zh-CN" altLang="zh-CN" sz="2800" i="1">
                                      <a:solidFill>
                                        <a:schemeClr val="tx1"/>
                                      </a:solidFill>
                                      <a:latin typeface="Cambria Math" panose="02040503050406030204" pitchFamily="18" charset="0"/>
                                    </a:rPr>
                                  </m:ctrlPr>
                                </m:fPr>
                                <m:num>
                                  <m:r>
                                    <m:rPr>
                                      <m:sty m:val="p"/>
                                    </m:rPr>
                                    <a:rPr lang="en-US" altLang="zh-CN" sz="2800">
                                      <a:solidFill>
                                        <a:schemeClr val="tx1"/>
                                      </a:solidFill>
                                      <a:latin typeface="Cambria Math" panose="02040503050406030204" pitchFamily="18" charset="0"/>
                                    </a:rPr>
                                    <m:t>Γ</m:t>
                                  </m:r>
                                  <m:d>
                                    <m:dPr>
                                      <m:ctrlPr>
                                        <a:rPr lang="zh-CN" altLang="zh-CN" sz="2800" i="1">
                                          <a:solidFill>
                                            <a:schemeClr val="tx1"/>
                                          </a:solidFill>
                                          <a:latin typeface="Cambria Math" panose="02040503050406030204" pitchFamily="18" charset="0"/>
                                        </a:rPr>
                                      </m:ctrlPr>
                                    </m:dPr>
                                    <m:e>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num>
                                        <m:den>
                                          <m:r>
                                            <a:rPr lang="en-US" altLang="zh-CN" sz="2800">
                                              <a:solidFill>
                                                <a:schemeClr val="tx1"/>
                                              </a:solidFill>
                                              <a:latin typeface="Cambria Math" panose="02040503050406030204" pitchFamily="18" charset="0"/>
                                            </a:rPr>
                                            <m:t>2</m:t>
                                          </m:r>
                                        </m:den>
                                      </m:f>
                                    </m:e>
                                  </m:d>
                                </m:num>
                                <m:den>
                                  <m:r>
                                    <m:rPr>
                                      <m:sty m:val="p"/>
                                    </m:rPr>
                                    <a:rPr lang="en-US" altLang="zh-CN" sz="2800">
                                      <a:solidFill>
                                        <a:schemeClr val="tx1"/>
                                      </a:solidFill>
                                      <a:latin typeface="Cambria Math" panose="02040503050406030204" pitchFamily="18" charset="0"/>
                                    </a:rPr>
                                    <m:t>Γ</m:t>
                                  </m:r>
                                  <m:d>
                                    <m:dPr>
                                      <m:ctrlPr>
                                        <a:rPr lang="zh-CN" altLang="zh-CN" sz="2800" i="1">
                                          <a:solidFill>
                                            <a:schemeClr val="tx1"/>
                                          </a:solidFill>
                                          <a:latin typeface="Cambria Math" panose="02040503050406030204" pitchFamily="18" charset="0"/>
                                        </a:rPr>
                                      </m:ctrlPr>
                                    </m:dPr>
                                    <m:e>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num>
                                        <m:den>
                                          <m:r>
                                            <a:rPr lang="en-US" altLang="zh-CN" sz="2800">
                                              <a:solidFill>
                                                <a:schemeClr val="tx1"/>
                                              </a:solidFill>
                                              <a:latin typeface="Cambria Math" panose="02040503050406030204" pitchFamily="18" charset="0"/>
                                            </a:rPr>
                                            <m:t>2</m:t>
                                          </m:r>
                                        </m:den>
                                      </m:f>
                                    </m:e>
                                  </m:d>
                                  <m:r>
                                    <m:rPr>
                                      <m:sty m:val="p"/>
                                    </m:rPr>
                                    <a:rPr lang="en-US" altLang="zh-CN" sz="2800">
                                      <a:solidFill>
                                        <a:schemeClr val="tx1"/>
                                      </a:solidFill>
                                      <a:latin typeface="Cambria Math" panose="02040503050406030204" pitchFamily="18" charset="0"/>
                                    </a:rPr>
                                    <m:t>Γ</m:t>
                                  </m:r>
                                  <m:d>
                                    <m:dPr>
                                      <m:ctrlPr>
                                        <a:rPr lang="zh-CN" altLang="zh-CN" sz="2800" i="1">
                                          <a:solidFill>
                                            <a:schemeClr val="tx1"/>
                                          </a:solidFill>
                                          <a:latin typeface="Cambria Math" panose="02040503050406030204" pitchFamily="18" charset="0"/>
                                        </a:rPr>
                                      </m:ctrlPr>
                                    </m:dPr>
                                    <m:e>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num>
                                        <m:den>
                                          <m:r>
                                            <a:rPr lang="en-US" altLang="zh-CN" sz="2800">
                                              <a:solidFill>
                                                <a:schemeClr val="tx1"/>
                                              </a:solidFill>
                                              <a:latin typeface="Cambria Math" panose="02040503050406030204" pitchFamily="18" charset="0"/>
                                            </a:rPr>
                                            <m:t>2</m:t>
                                          </m:r>
                                        </m:den>
                                      </m:f>
                                    </m:e>
                                  </m:d>
                                </m:den>
                              </m:f>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num>
                                    <m:den>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den>
                                  </m:f>
                                  <m:r>
                                    <a:rPr lang="en-US" altLang="zh-CN" sz="2800">
                                      <a:solidFill>
                                        <a:schemeClr val="tx1"/>
                                      </a:solidFill>
                                      <a:latin typeface="Cambria Math" panose="02040503050406030204" pitchFamily="18" charset="0"/>
                                    </a:rPr>
                                    <m:t>)</m:t>
                                  </m:r>
                                </m:e>
                                <m:sup>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num>
                                    <m:den>
                                      <m:r>
                                        <a:rPr lang="en-US" altLang="zh-CN" sz="2800">
                                          <a:solidFill>
                                            <a:schemeClr val="tx1"/>
                                          </a:solidFill>
                                          <a:latin typeface="Cambria Math" panose="02040503050406030204" pitchFamily="18" charset="0"/>
                                        </a:rPr>
                                        <m:t>2</m:t>
                                      </m:r>
                                    </m:den>
                                  </m:f>
                                </m:sup>
                              </m:sSup>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𝑥</m:t>
                                  </m:r>
                                </m:e>
                                <m:sup>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num>
                                    <m:den>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−1</m:t>
                                  </m:r>
                                </m:sup>
                              </m:sSup>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(1+</m:t>
                                  </m:r>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num>
                                    <m:den>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den>
                                  </m:f>
                                  <m:r>
                                    <a:rPr lang="en-US" altLang="zh-CN" sz="2800">
                                      <a:solidFill>
                                        <a:schemeClr val="tx1"/>
                                      </a:solidFill>
                                      <a:latin typeface="Cambria Math" panose="02040503050406030204" pitchFamily="18" charset="0"/>
                                    </a:rPr>
                                    <m:t>)</m:t>
                                  </m:r>
                                </m:e>
                                <m:sup>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num>
                                    <m:den>
                                      <m:r>
                                        <a:rPr lang="en-US" altLang="zh-CN" sz="2800">
                                          <a:solidFill>
                                            <a:schemeClr val="tx1"/>
                                          </a:solidFill>
                                          <a:latin typeface="Cambria Math" panose="02040503050406030204" pitchFamily="18" charset="0"/>
                                        </a:rPr>
                                        <m:t>2</m:t>
                                      </m:r>
                                    </m:den>
                                  </m:f>
                                </m:sup>
                              </m:sSup>
                              <m:r>
                                <a:rPr lang="en-US" altLang="zh-CN" sz="2800">
                                  <a:solidFill>
                                    <a:schemeClr val="tx1"/>
                                  </a:solidFill>
                                  <a:latin typeface="Cambria Math" panose="02040503050406030204" pitchFamily="18" charset="0"/>
                                </a:rPr>
                                <m:t>   </m:t>
                              </m:r>
                              <m:r>
                                <a:rPr lang="en-US" altLang="zh-CN" sz="2800">
                                  <a:solidFill>
                                    <a:schemeClr val="tx1"/>
                                  </a:solidFill>
                                  <a:latin typeface="Cambria Math" panose="02040503050406030204" pitchFamily="18" charset="0"/>
                                </a:rPr>
                                <m:t>𝑥</m:t>
                              </m:r>
                              <m:r>
                                <a:rPr lang="en-US" altLang="zh-CN" sz="2800">
                                  <a:solidFill>
                                    <a:schemeClr val="tx1"/>
                                  </a:solidFill>
                                  <a:latin typeface="Cambria Math" panose="02040503050406030204" pitchFamily="18" charset="0"/>
                                </a:rPr>
                                <m:t>&gt;0</m:t>
                              </m:r>
                            </m:e>
                            <m:e>
                              <m:r>
                                <a:rPr lang="en-US" altLang="zh-CN" sz="2800">
                                  <a:solidFill>
                                    <a:schemeClr val="tx1"/>
                                  </a:solidFill>
                                  <a:latin typeface="Cambria Math" panose="02040503050406030204" pitchFamily="18" charset="0"/>
                                </a:rPr>
                                <m:t> 0                                                                              </m:t>
                              </m:r>
                              <m:r>
                                <a:rPr lang="en-US" altLang="zh-CN" sz="2800">
                                  <a:solidFill>
                                    <a:schemeClr val="tx1"/>
                                  </a:solidFill>
                                  <a:latin typeface="Cambria Math" panose="02040503050406030204" pitchFamily="18" charset="0"/>
                                </a:rPr>
                                <m:t>𝑥</m:t>
                              </m:r>
                              <m:r>
                                <a:rPr lang="en-US" altLang="zh-CN" sz="2800">
                                  <a:solidFill>
                                    <a:schemeClr val="tx1"/>
                                  </a:solidFill>
                                  <a:latin typeface="Cambria Math" panose="02040503050406030204" pitchFamily="18" charset="0"/>
                                </a:rPr>
                                <m:t>≤0</m:t>
                              </m:r>
                            </m:e>
                          </m:eqArr>
                        </m:e>
                      </m:d>
                    </m:oMath>
                  </m:oMathPara>
                </a14:m>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6905" y="816250"/>
                <a:ext cx="9324474" cy="6006543"/>
              </a:xfrm>
              <a:blipFill>
                <a:blip r:embed="rId2"/>
                <a:stretch>
                  <a:fillRect l="-1373" r="-5167"/>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标题 1">
            <a:extLst>
              <a:ext uri="{FF2B5EF4-FFF2-40B4-BE49-F238E27FC236}">
                <a16:creationId xmlns:a16="http://schemas.microsoft.com/office/drawing/2014/main" id="{8201DB24-65D8-E01B-06E5-F829C31C3FB8}"/>
              </a:ext>
            </a:extLst>
          </p:cNvPr>
          <p:cNvSpPr txBox="1">
            <a:spLocks/>
          </p:cNvSpPr>
          <p:nvPr/>
        </p:nvSpPr>
        <p:spPr>
          <a:xfrm>
            <a:off x="1985211" y="153468"/>
            <a:ext cx="6605336"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sz="4000" b="1" kern="0" dirty="0">
                <a:solidFill>
                  <a:srgbClr val="0070C0"/>
                </a:solidFill>
              </a:rPr>
              <a:t>6.3.3 </a:t>
            </a:r>
            <a:r>
              <a:rPr lang="en-US" altLang="zh-CN" sz="4000" b="1" i="1" kern="0" dirty="0">
                <a:solidFill>
                  <a:srgbClr val="0070C0"/>
                </a:solidFill>
              </a:rPr>
              <a:t>F </a:t>
            </a:r>
            <a:r>
              <a:rPr lang="zh-CN" altLang="en-US" sz="4000" b="1" dirty="0">
                <a:solidFill>
                  <a:srgbClr val="0070C0"/>
                </a:solidFill>
                <a:effectLst/>
                <a:sym typeface="+mn-ea"/>
              </a:rPr>
              <a:t>分布</a:t>
            </a:r>
            <a:endParaRPr lang="zh-CN" altLang="en-US" sz="4000" b="1" dirty="0">
              <a:solidFill>
                <a:srgbClr val="0070C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671601" y="1416795"/>
            <a:ext cx="5105098" cy="4274800"/>
          </a:xfrm>
          <a:prstGeom prst="rect">
            <a:avLst/>
          </a:prstGeom>
        </p:spPr>
      </p:pic>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1192150" y="5591781"/>
            <a:ext cx="4064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effectLst/>
                <a:uLnTx/>
                <a:uFillTx/>
                <a:latin typeface="黑体" panose="02010609060101010101" pitchFamily="49" charset="-122"/>
                <a:ea typeface="黑体" panose="02010609060101010101" pitchFamily="49" charset="-122"/>
              </a:rPr>
              <a:t>图6-2　</a:t>
            </a:r>
            <a:r>
              <a:rPr kumimoji="0" lang="en-US" altLang="zh-CN" sz="2400" b="0" i="0" u="none" strike="noStrike" kern="1200" cap="none" spc="0" normalizeH="0" baseline="0" noProof="0" dirty="0">
                <a:ln>
                  <a:noFill/>
                </a:ln>
                <a:effectLst/>
                <a:uLnTx/>
                <a:uFillTx/>
                <a:latin typeface="黑体" panose="02010609060101010101" pitchFamily="49" charset="-122"/>
                <a:ea typeface="黑体" panose="02010609060101010101" pitchFamily="49" charset="-122"/>
              </a:rPr>
              <a:t>F</a:t>
            </a:r>
            <a:r>
              <a:rPr kumimoji="0" lang="zh-CN" altLang="en-US" sz="2400" b="0" i="0" u="none" strike="noStrike" kern="1200" cap="none" spc="0" normalizeH="0" baseline="0" noProof="0" dirty="0">
                <a:ln>
                  <a:noFill/>
                </a:ln>
                <a:effectLst/>
                <a:uLnTx/>
                <a:uFillTx/>
                <a:latin typeface="黑体" panose="02010609060101010101" pitchFamily="49" charset="-122"/>
                <a:ea typeface="黑体" panose="02010609060101010101" pitchFamily="49" charset="-122"/>
              </a:rPr>
              <a:t>分布密度函数曲线</a:t>
            </a:r>
          </a:p>
        </p:txBody>
      </p:sp>
      <p:sp>
        <p:nvSpPr>
          <p:cNvPr id="3" name="标题 1">
            <a:extLst>
              <a:ext uri="{FF2B5EF4-FFF2-40B4-BE49-F238E27FC236}">
                <a16:creationId xmlns:a16="http://schemas.microsoft.com/office/drawing/2014/main" id="{402D8833-2D40-28E8-9D47-0322C573E00A}"/>
              </a:ext>
            </a:extLst>
          </p:cNvPr>
          <p:cNvSpPr txBox="1">
            <a:spLocks/>
          </p:cNvSpPr>
          <p:nvPr/>
        </p:nvSpPr>
        <p:spPr>
          <a:xfrm>
            <a:off x="1840831" y="129698"/>
            <a:ext cx="7181047"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i="1" kern="0" dirty="0">
                <a:solidFill>
                  <a:srgbClr val="0070C0"/>
                </a:solidFill>
                <a:latin typeface="+mj-ea"/>
              </a:rPr>
              <a:t>F </a:t>
            </a:r>
            <a:r>
              <a:rPr lang="zh-CN" altLang="en-US" b="1" dirty="0">
                <a:solidFill>
                  <a:srgbClr val="0070C0"/>
                </a:solidFill>
                <a:effectLst/>
                <a:sym typeface="+mn-ea"/>
              </a:rPr>
              <a:t>分布的密度曲线</a:t>
            </a:r>
            <a:endParaRPr lang="zh-CN" altLang="en-US" b="1" dirty="0">
              <a:solidFill>
                <a:srgbClr val="0070C0"/>
              </a:solidFill>
            </a:endParaRPr>
          </a:p>
        </p:txBody>
      </p:sp>
      <mc:AlternateContent xmlns:mc="http://schemas.openxmlformats.org/markup-compatibility/2006" xmlns:a14="http://schemas.microsoft.com/office/drawing/2010/main">
        <mc:Choice Requires="a14">
          <p:sp>
            <p:nvSpPr>
              <p:cNvPr id="5" name="文本框 4"/>
              <p:cNvSpPr txBox="1"/>
              <p:nvPr/>
            </p:nvSpPr>
            <p:spPr>
              <a:xfrm>
                <a:off x="4961116" y="720149"/>
                <a:ext cx="5765800" cy="4247317"/>
              </a:xfrm>
              <a:prstGeom prst="rect">
                <a:avLst/>
              </a:prstGeom>
              <a:noFill/>
            </p:spPr>
            <p:txBody>
              <a:bodyPr wrap="square" rtlCol="0">
                <a:spAutoFit/>
              </a:bodyPr>
              <a:lstStyle/>
              <a:p>
                <a:pPr marR="0" lvl="0" indent="360363" algn="l" defTabSz="914400" rtl="0" eaLnBrk="1" fontAlgn="auto" latinLnBrk="0" hangingPunct="1">
                  <a:lnSpc>
                    <a:spcPct val="100000"/>
                  </a:lnSpc>
                  <a:spcBef>
                    <a:spcPts val="1200"/>
                  </a:spcBef>
                  <a:spcAft>
                    <a:spcPts val="0"/>
                  </a:spcAft>
                  <a:buClrTx/>
                  <a:buSzPct val="70000"/>
                  <a:buFont typeface="Wingdings" panose="05000000000000000000" pitchFamily="2" charset="2"/>
                  <a:buChar char="l"/>
                  <a:tabLst/>
                  <a:defRPr/>
                </a:pPr>
                <a:r>
                  <a:rPr kumimoji="0" lang="en-US" altLang="zh-CN" sz="28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F</a:t>
                </a:r>
                <a:r>
                  <a:rPr kumimoji="0" lang="en-US" altLang="zh-CN" sz="2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分布也是一种非对称正偏分布。其值域为</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p>
              <a:p>
                <a:pPr indent="360363">
                  <a:spcBef>
                    <a:spcPts val="1200"/>
                  </a:spcBef>
                  <a:buSzPct val="70000"/>
                  <a:buFont typeface="Wingdings" panose="05000000000000000000" pitchFamily="2" charset="2"/>
                  <a:buChar char="l"/>
                  <a:defRPr/>
                </a:pPr>
                <a14:m>
                  <m:oMath xmlns:m="http://schemas.openxmlformats.org/officeDocument/2006/math">
                    <m:r>
                      <a:rPr lang="en-US" altLang="zh-CN" sz="2800" b="1" i="1">
                        <a:latin typeface="Cambria Math" panose="02040503050406030204" pitchFamily="18" charset="0"/>
                      </a:rPr>
                      <m:t>𝑭</m:t>
                    </m:r>
                    <m:r>
                      <m:rPr>
                        <m:nor/>
                      </m:rPr>
                      <a:rPr lang="en-US" altLang="zh-CN" sz="2800" b="1" dirty="0">
                        <a:latin typeface="宋体" panose="02010600030101010101" pitchFamily="2" charset="-122"/>
                        <a:ea typeface="宋体" panose="02010600030101010101" pitchFamily="2" charset="-122"/>
                      </a:rPr>
                      <m:t>分布的极限是正态分布。</m:t>
                    </m:r>
                  </m:oMath>
                </a14:m>
                <a:endParaRPr lang="en-US" altLang="zh-CN" sz="2800" b="1" dirty="0">
                  <a:latin typeface="宋体" panose="02010600030101010101" pitchFamily="2" charset="-122"/>
                  <a:ea typeface="宋体" panose="02010600030101010101" pitchFamily="2" charset="-122"/>
                </a:endParaRPr>
              </a:p>
              <a:p>
                <a:pPr marR="0" lvl="0" indent="360363" algn="l" defTabSz="914400" rtl="0" eaLnBrk="1" fontAlgn="auto" latinLnBrk="0" hangingPunct="1">
                  <a:lnSpc>
                    <a:spcPct val="100000"/>
                  </a:lnSpc>
                  <a:spcBef>
                    <a:spcPts val="1200"/>
                  </a:spcBef>
                  <a:spcAft>
                    <a:spcPts val="0"/>
                  </a:spcAft>
                  <a:buClrTx/>
                  <a:buSzPct val="70000"/>
                  <a:buFont typeface="Wingdings" panose="05000000000000000000" pitchFamily="2" charset="2"/>
                  <a:buChar char="l"/>
                  <a:tabLst/>
                  <a:defRPr/>
                </a:pPr>
                <a14:m>
                  <m:oMath xmlns:m="http://schemas.openxmlformats.org/officeDocument/2006/math">
                    <m:r>
                      <a:rPr kumimoji="0" lang="en-US" altLang="zh-CN" sz="2800" b="1" i="1" u="none" strike="noStrike" kern="1200" cap="none" spc="0" normalizeH="0" baseline="0" noProof="0">
                        <a:ln>
                          <a:noFill/>
                        </a:ln>
                        <a:solidFill>
                          <a:schemeClr val="tx1"/>
                        </a:solidFill>
                        <a:effectLst/>
                        <a:uLnTx/>
                        <a:uFillTx/>
                        <a:latin typeface="Cambria Math" panose="02040503050406030204" pitchFamily="18" charset="0"/>
                      </a:rPr>
                      <m:t>𝑭</m:t>
                    </m:r>
                  </m:oMath>
                </a14:m>
                <a:r>
                  <a:rPr kumimoji="0"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分布曲线随着两个自由度的不同组合而不同。</a:t>
                </a:r>
              </a:p>
              <a:p>
                <a:pPr marL="265113" lvl="0" indent="276225">
                  <a:spcBef>
                    <a:spcPts val="1200"/>
                  </a:spcBef>
                  <a:buSzPct val="70000"/>
                  <a:defRPr/>
                </a:pPr>
                <a:r>
                  <a:rPr kumimoji="0" lang="en-US" altLang="zh-CN" sz="2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a:t>
                </a:r>
                <a:r>
                  <a:rPr kumimoji="0" lang="en-US" altLang="zh-CN" sz="2400" b="0" i="0" u="none" strike="noStrike" kern="1200" cap="none" spc="0" normalizeH="0" baseline="0" noProof="0" dirty="0" err="1">
                    <a:ln>
                      <a:noFill/>
                    </a:ln>
                    <a:solidFill>
                      <a:schemeClr val="tx1"/>
                    </a:solidFill>
                    <a:effectLst/>
                    <a:uLnTx/>
                    <a:uFillTx/>
                    <a:latin typeface="+mn-ea"/>
                  </a:rPr>
                  <a:t>随着第一自由度增大，分布曲线逐渐趋向对称</a:t>
                </a:r>
                <a:r>
                  <a:rPr kumimoji="0" lang="en-US" altLang="zh-CN" sz="2400" b="0" i="0" u="none" strike="noStrike" kern="1200" cap="none" spc="0" normalizeH="0" baseline="0" noProof="0" dirty="0">
                    <a:ln>
                      <a:noFill/>
                    </a:ln>
                    <a:solidFill>
                      <a:schemeClr val="tx1"/>
                    </a:solidFill>
                    <a:effectLst/>
                    <a:uLnTx/>
                    <a:uFillTx/>
                    <a:latin typeface="+mn-ea"/>
                  </a:rPr>
                  <a:t>，</a:t>
                </a:r>
                <a:r>
                  <a:rPr lang="zh-CN" altLang="en-US" sz="2400" dirty="0">
                    <a:latin typeface="+mn-ea"/>
                  </a:rPr>
                  <a:t>第二自由度主要刻画密度函数的中心位置</a:t>
                </a:r>
                <a:r>
                  <a:rPr lang="en-US" altLang="zh-CN" sz="2400" dirty="0">
                    <a:latin typeface="+mn-ea"/>
                  </a:rPr>
                  <a:t>(</a:t>
                </a:r>
                <a:r>
                  <a:rPr lang="zh-CN" altLang="en-US" sz="2400" dirty="0">
                    <a:latin typeface="+mn-ea"/>
                  </a:rPr>
                  <a:t>期望</a:t>
                </a:r>
                <a:r>
                  <a:rPr lang="en-US" altLang="zh-CN" sz="2400" dirty="0">
                    <a:latin typeface="+mn-ea"/>
                  </a:rPr>
                  <a:t>)</a:t>
                </a:r>
                <a:r>
                  <a:rPr lang="zh-CN" altLang="en-US" sz="2400" dirty="0">
                    <a:latin typeface="+mn-ea"/>
                  </a:rPr>
                  <a:t>，</a:t>
                </a:r>
                <a:r>
                  <a:rPr kumimoji="0" lang="en-US" altLang="zh-CN" sz="2400" b="0" i="0" u="none" strike="noStrike" kern="1200" cap="none" spc="0" normalizeH="0" baseline="0" noProof="0" dirty="0" err="1">
                    <a:ln>
                      <a:noFill/>
                    </a:ln>
                    <a:solidFill>
                      <a:schemeClr val="tx1"/>
                    </a:solidFill>
                    <a:effectLst/>
                    <a:uLnTx/>
                    <a:uFillTx/>
                    <a:latin typeface="+mn-ea"/>
                  </a:rPr>
                  <a:t>随着两个自由度增大，分布曲线逐渐趋于正态分布</a:t>
                </a:r>
                <a:r>
                  <a:rPr kumimoji="0" lang="en-US" altLang="zh-CN" sz="2400" b="0" i="0" u="none" strike="noStrike" kern="1200" cap="none" spc="0" normalizeH="0" baseline="0" noProof="0" dirty="0">
                    <a:ln>
                      <a:noFill/>
                    </a:ln>
                    <a:solidFill>
                      <a:schemeClr val="tx1"/>
                    </a:solidFill>
                    <a:effectLst/>
                    <a:uLnTx/>
                    <a:uFillTx/>
                    <a:latin typeface="+mn-ea"/>
                  </a:rPr>
                  <a:t>。</a:t>
                </a:r>
              </a:p>
            </p:txBody>
          </p:sp>
        </mc:Choice>
        <mc:Fallback xmlns="">
          <p:sp>
            <p:nvSpPr>
              <p:cNvPr id="5" name="文本框 4"/>
              <p:cNvSpPr txBox="1">
                <a:spLocks noRot="1" noChangeAspect="1" noMove="1" noResize="1" noEditPoints="1" noAdjustHandles="1" noChangeArrowheads="1" noChangeShapeType="1" noTextEdit="1"/>
              </p:cNvSpPr>
              <p:nvPr/>
            </p:nvSpPr>
            <p:spPr>
              <a:xfrm>
                <a:off x="4961116" y="720149"/>
                <a:ext cx="5765800" cy="4247317"/>
              </a:xfrm>
              <a:prstGeom prst="rect">
                <a:avLst/>
              </a:prstGeom>
              <a:blipFill>
                <a:blip r:embed="rId3"/>
                <a:stretch>
                  <a:fillRect l="-2220" t="-1865" r="-2326" b="-2439"/>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792707" y="534835"/>
                <a:ext cx="8047322" cy="5333761"/>
              </a:xfrm>
            </p:spPr>
            <p:txBody>
              <a:bodyPr>
                <a:noAutofit/>
              </a:bodyPr>
              <a:lstStyle/>
              <a:p>
                <a:pPr marL="0" indent="444500">
                  <a:lnSpc>
                    <a:spcPct val="150000"/>
                  </a:lnSpc>
                  <a:spcBef>
                    <a:spcPts val="600"/>
                  </a:spcBef>
                  <a:spcAft>
                    <a:spcPts val="0"/>
                  </a:spcAft>
                  <a:buNone/>
                </a:pPr>
                <a14:m>
                  <m:oMath xmlns:m="http://schemas.openxmlformats.org/officeDocument/2006/math">
                    <m:r>
                      <a:rPr lang="en-US" altLang="zh-CN" b="1" i="0" smtClean="0">
                        <a:solidFill>
                          <a:srgbClr val="00B0F0"/>
                        </a:solidFill>
                        <a:latin typeface="Cambria Math" panose="02040503050406030204" pitchFamily="18" charset="0"/>
                        <a:sym typeface="+mn-ea"/>
                      </a:rPr>
                      <m:t>𝟐</m:t>
                    </m:r>
                    <m:r>
                      <a:rPr lang="en-US" altLang="zh-CN" b="1" i="0" smtClean="0">
                        <a:solidFill>
                          <a:srgbClr val="00B0F0"/>
                        </a:solidFill>
                        <a:latin typeface="Cambria Math" panose="02040503050406030204" pitchFamily="18" charset="0"/>
                        <a:sym typeface="+mn-ea"/>
                      </a:rPr>
                      <m:t>.</m:t>
                    </m:r>
                    <m:r>
                      <a:rPr lang="en-US" altLang="zh-CN" b="1">
                        <a:solidFill>
                          <a:srgbClr val="00B0F0"/>
                        </a:solidFill>
                        <a:latin typeface="Cambria Math" panose="02040503050406030204" pitchFamily="18" charset="0"/>
                        <a:sym typeface="+mn-ea"/>
                      </a:rPr>
                      <m:t>𝑭</m:t>
                    </m:r>
                  </m:oMath>
                </a14:m>
                <a:r>
                  <a:rPr lang="zh-CN" altLang="en-US" b="1" dirty="0">
                    <a:solidFill>
                      <a:srgbClr val="00B0F0"/>
                    </a:solidFill>
                  </a:rPr>
                  <a:t>分布的性质特征</a:t>
                </a:r>
              </a:p>
              <a:p>
                <a:pPr indent="0">
                  <a:lnSpc>
                    <a:spcPct val="150000"/>
                  </a:lnSpc>
                  <a:spcBef>
                    <a:spcPts val="600"/>
                  </a:spcBef>
                  <a:spcAft>
                    <a:spcPts val="0"/>
                  </a:spcAft>
                  <a:buNone/>
                </a:pPr>
                <a:r>
                  <a:rPr lang="zh-CN" altLang="en-US" b="1" dirty="0">
                    <a:solidFill>
                      <a:srgbClr val="0070C0"/>
                    </a:solidFill>
                    <a:latin typeface="黑体" panose="02010609060101010101" pitchFamily="49" charset="-122"/>
                    <a:ea typeface="黑体" panose="02010609060101010101" pitchFamily="49" charset="-122"/>
                  </a:rPr>
                  <a:t>（</a:t>
                </a:r>
                <a:r>
                  <a:rPr lang="en-US" altLang="zh-CN" b="1" dirty="0">
                    <a:solidFill>
                      <a:srgbClr val="0070C0"/>
                    </a:solidFill>
                    <a:latin typeface="黑体" panose="02010609060101010101" pitchFamily="49" charset="-122"/>
                    <a:ea typeface="黑体" panose="02010609060101010101" pitchFamily="49" charset="-122"/>
                  </a:rPr>
                  <a:t>1</a:t>
                </a:r>
                <a:r>
                  <a:rPr lang="zh-CN" altLang="en-US" b="1" dirty="0">
                    <a:solidFill>
                      <a:srgbClr val="0070C0"/>
                    </a:solidFill>
                    <a:latin typeface="黑体" panose="02010609060101010101" pitchFamily="49" charset="-122"/>
                    <a:ea typeface="黑体" panose="02010609060101010101" pitchFamily="49" charset="-122"/>
                  </a:rPr>
                  <a:t>） </a:t>
                </a:r>
                <a14:m>
                  <m:oMath xmlns:m="http://schemas.openxmlformats.org/officeDocument/2006/math">
                    <m:r>
                      <a:rPr lang="en-US" altLang="zh-CN" b="1">
                        <a:solidFill>
                          <a:srgbClr val="0070C0"/>
                        </a:solidFill>
                        <a:latin typeface="Cambria Math" panose="02040503050406030204" pitchFamily="18" charset="0"/>
                        <a:ea typeface="黑体" panose="02010609060101010101" pitchFamily="49" charset="-122"/>
                        <a:sym typeface="+mn-ea"/>
                      </a:rPr>
                      <m:t>𝐹</m:t>
                    </m:r>
                  </m:oMath>
                </a14:m>
                <a:r>
                  <a:rPr lang="zh-CN" altLang="en-US" b="1" dirty="0">
                    <a:solidFill>
                      <a:srgbClr val="0070C0"/>
                    </a:solidFill>
                    <a:latin typeface="黑体" panose="02010609060101010101" pitchFamily="49" charset="-122"/>
                    <a:ea typeface="黑体" panose="02010609060101010101" pitchFamily="49" charset="-122"/>
                  </a:rPr>
                  <a:t>分布的数学期望和方差</a:t>
                </a:r>
              </a:p>
              <a:p>
                <a:pPr marL="0" indent="1250950">
                  <a:lnSpc>
                    <a:spcPct val="150000"/>
                  </a:lnSpc>
                  <a:spcBef>
                    <a:spcPts val="600"/>
                  </a:spcBef>
                  <a:spcAft>
                    <a:spcPts val="0"/>
                  </a:spcAft>
                  <a:buNone/>
                </a:pPr>
                <a:r>
                  <a:rPr lang="en-US" altLang="zh-CN" sz="2800" dirty="0">
                    <a:solidFill>
                      <a:schemeClr val="tx1"/>
                    </a:solidFill>
                  </a:rPr>
                  <a:t> </a:t>
                </a:r>
                <a14:m>
                  <m:oMath xmlns:m="http://schemas.openxmlformats.org/officeDocument/2006/math">
                    <m:r>
                      <a:rPr lang="en-US" altLang="zh-CN" sz="2800">
                        <a:solidFill>
                          <a:schemeClr val="tx1"/>
                        </a:solidFill>
                        <a:latin typeface="Cambria Math" panose="02040503050406030204" pitchFamily="18" charset="0"/>
                      </a:rPr>
                      <m:t>𝐸</m:t>
                    </m:r>
                    <m:d>
                      <m:dPr>
                        <m:ctrlPr>
                          <a:rPr lang="zh-CN" altLang="zh-CN" sz="2800" i="1">
                            <a:solidFill>
                              <a:schemeClr val="tx1"/>
                            </a:solidFill>
                            <a:latin typeface="Cambria Math" panose="02040503050406030204" pitchFamily="18" charset="0"/>
                          </a:rPr>
                        </m:ctrlPr>
                      </m:dPr>
                      <m:e>
                        <m:r>
                          <a:rPr lang="en-US" altLang="zh-CN" sz="2800">
                            <a:solidFill>
                              <a:schemeClr val="tx1"/>
                            </a:solidFill>
                            <a:latin typeface="Cambria Math" panose="02040503050406030204" pitchFamily="18" charset="0"/>
                          </a:rPr>
                          <m:t>𝐹</m:t>
                        </m:r>
                      </m:e>
                    </m:d>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num>
                      <m:den>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−2</m:t>
                        </m:r>
                      </m:den>
                    </m:f>
                    <m:r>
                      <a:rPr lang="en-US" altLang="zh-CN" sz="2800">
                        <a:solidFill>
                          <a:schemeClr val="tx1"/>
                        </a:solidFill>
                        <a:latin typeface="Cambria Math" panose="02040503050406030204" pitchFamily="18" charset="0"/>
                      </a:rPr>
                      <m:t>   </m:t>
                    </m:r>
                    <m:r>
                      <a:rPr lang="en-US" altLang="zh-CN" sz="2800" b="0" i="0">
                        <a:solidFill>
                          <a:schemeClr val="tx1"/>
                        </a:solidFill>
                        <a:latin typeface="Cambria Math" panose="02040503050406030204" pitchFamily="18" charset="0"/>
                      </a:rPr>
                      <m:t>                  </m:t>
                    </m:r>
                    <m:r>
                      <a:rPr lang="en-US" altLang="zh-CN" sz="2800">
                        <a:solidFill>
                          <a:schemeClr val="tx1"/>
                        </a:solidFill>
                        <a:latin typeface="Cambria Math" panose="02040503050406030204" pitchFamily="18" charset="0"/>
                      </a:rPr>
                      <m:t>   </m:t>
                    </m:r>
                    <m:d>
                      <m:dPr>
                        <m:ctrlPr>
                          <a:rPr lang="zh-CN" altLang="zh-CN" sz="2800" i="1">
                            <a:solidFill>
                              <a:schemeClr val="tx1"/>
                            </a:solidFill>
                            <a:latin typeface="Cambria Math" panose="02040503050406030204" pitchFamily="18" charset="0"/>
                          </a:rPr>
                        </m:ctrlPr>
                      </m:dPr>
                      <m:e>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&gt;2</m:t>
                        </m:r>
                      </m:e>
                    </m:d>
                  </m:oMath>
                </a14:m>
                <a:endParaRPr lang="zh-CN" altLang="zh-CN" sz="2800" dirty="0">
                  <a:solidFill>
                    <a:schemeClr val="tx1"/>
                  </a:solidFill>
                  <a:latin typeface="宋体" panose="02010600030101010101" pitchFamily="2" charset="-122"/>
                  <a:ea typeface="宋体" panose="02010600030101010101" pitchFamily="2" charset="-122"/>
                </a:endParaRPr>
              </a:p>
              <a:p>
                <a:pPr marL="0" indent="0" algn="ctr">
                  <a:lnSpc>
                    <a:spcPct val="150000"/>
                  </a:lnSpc>
                  <a:spcBef>
                    <a:spcPts val="600"/>
                  </a:spcBef>
                  <a:spcAft>
                    <a:spcPts val="0"/>
                  </a:spcAft>
                  <a:buNone/>
                </a:pPr>
                <a14:m>
                  <m:oMath xmlns:m="http://schemas.openxmlformats.org/officeDocument/2006/math">
                    <m:r>
                      <a:rPr lang="en-US" altLang="zh-CN" sz="2800">
                        <a:solidFill>
                          <a:schemeClr val="tx1"/>
                        </a:solidFill>
                        <a:latin typeface="Cambria Math" panose="02040503050406030204" pitchFamily="18" charset="0"/>
                      </a:rPr>
                      <m:t>𝐷</m:t>
                    </m:r>
                    <m:d>
                      <m:dPr>
                        <m:ctrlPr>
                          <a:rPr lang="zh-CN" altLang="zh-CN" sz="2800" i="1">
                            <a:solidFill>
                              <a:schemeClr val="tx1"/>
                            </a:solidFill>
                            <a:latin typeface="Cambria Math" panose="02040503050406030204" pitchFamily="18" charset="0"/>
                          </a:rPr>
                        </m:ctrlPr>
                      </m:dPr>
                      <m:e>
                        <m:r>
                          <a:rPr lang="en-US" altLang="zh-CN" sz="2800">
                            <a:solidFill>
                              <a:schemeClr val="tx1"/>
                            </a:solidFill>
                            <a:latin typeface="Cambria Math" panose="02040503050406030204" pitchFamily="18" charset="0"/>
                          </a:rPr>
                          <m:t>𝐹</m:t>
                        </m:r>
                      </m:e>
                    </m:d>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2</m:t>
                        </m:r>
                        <m:sSubSup>
                          <m:sSubSupPr>
                            <m:ctrlPr>
                              <a:rPr lang="zh-CN" altLang="zh-CN" sz="2800" i="1">
                                <a:solidFill>
                                  <a:schemeClr val="tx1"/>
                                </a:solidFill>
                                <a:latin typeface="Cambria Math" panose="02040503050406030204" pitchFamily="18" charset="0"/>
                              </a:rPr>
                            </m:ctrlPr>
                          </m:sSubSup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up>
                            <m:r>
                              <a:rPr lang="en-US" altLang="zh-CN" sz="2800">
                                <a:solidFill>
                                  <a:schemeClr val="tx1"/>
                                </a:solidFill>
                                <a:latin typeface="Cambria Math" panose="02040503050406030204" pitchFamily="18" charset="0"/>
                              </a:rPr>
                              <m:t>2</m:t>
                            </m:r>
                          </m:sup>
                        </m:sSubSup>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−2)</m:t>
                        </m:r>
                      </m:num>
                      <m:den>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1</m:t>
                            </m:r>
                          </m:sub>
                        </m:sSub>
                        <m:sSup>
                          <m:sSupPr>
                            <m:ctrlPr>
                              <a:rPr lang="zh-CN" altLang="zh-CN" sz="2800" i="1">
                                <a:solidFill>
                                  <a:schemeClr val="tx1"/>
                                </a:solidFill>
                                <a:latin typeface="Cambria Math" panose="02040503050406030204" pitchFamily="18" charset="0"/>
                              </a:rPr>
                            </m:ctrlPr>
                          </m:sSupPr>
                          <m:e>
                            <m:d>
                              <m:dPr>
                                <m:ctrlPr>
                                  <a:rPr lang="zh-CN" altLang="zh-CN" sz="2800" i="1">
                                    <a:solidFill>
                                      <a:schemeClr val="tx1"/>
                                    </a:solidFill>
                                    <a:latin typeface="Cambria Math" panose="02040503050406030204" pitchFamily="18" charset="0"/>
                                  </a:rPr>
                                </m:ctrlPr>
                              </m:dPr>
                              <m:e>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−2</m:t>
                                </m:r>
                              </m:e>
                            </m:d>
                          </m:e>
                          <m:sup>
                            <m:r>
                              <a:rPr lang="en-US" altLang="zh-CN" sz="2800">
                                <a:solidFill>
                                  <a:schemeClr val="tx1"/>
                                </a:solidFill>
                                <a:latin typeface="Cambria Math" panose="02040503050406030204" pitchFamily="18" charset="0"/>
                              </a:rPr>
                              <m:t>2</m:t>
                            </m:r>
                          </m:sup>
                        </m:sSup>
                        <m:r>
                          <a:rPr lang="en-US" altLang="zh-CN" sz="2800">
                            <a:solidFill>
                              <a:schemeClr val="tx1"/>
                            </a:solidFill>
                            <a:latin typeface="Cambria Math" panose="02040503050406030204" pitchFamily="18" charset="0"/>
                          </a:rPr>
                          <m:t>(</m:t>
                        </m:r>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−4)</m:t>
                        </m:r>
                      </m:den>
                    </m:f>
                    <m:r>
                      <a:rPr lang="en-US" altLang="zh-CN" sz="2800">
                        <a:solidFill>
                          <a:schemeClr val="tx1"/>
                        </a:solidFill>
                        <a:latin typeface="Cambria Math" panose="02040503050406030204" pitchFamily="18" charset="0"/>
                      </a:rPr>
                      <m:t>       </m:t>
                    </m:r>
                    <m:d>
                      <m:dPr>
                        <m:ctrlPr>
                          <a:rPr lang="zh-CN" altLang="zh-CN" sz="2800" i="1">
                            <a:solidFill>
                              <a:schemeClr val="tx1"/>
                            </a:solidFill>
                            <a:latin typeface="Cambria Math" panose="02040503050406030204" pitchFamily="18" charset="0"/>
                          </a:rPr>
                        </m:ctrlPr>
                      </m:dPr>
                      <m:e>
                        <m:sSub>
                          <m:sSubPr>
                            <m:ctrlPr>
                              <a:rPr lang="zh-CN" altLang="zh-CN" sz="2800" i="1">
                                <a:solidFill>
                                  <a:schemeClr val="tx1"/>
                                </a:solidFill>
                                <a:latin typeface="Cambria Math" panose="02040503050406030204" pitchFamily="18" charset="0"/>
                              </a:rPr>
                            </m:ctrlPr>
                          </m:sSubPr>
                          <m:e>
                            <m:r>
                              <a:rPr lang="en-US" altLang="zh-CN" sz="2800">
                                <a:solidFill>
                                  <a:schemeClr val="tx1"/>
                                </a:solidFill>
                                <a:latin typeface="Cambria Math" panose="02040503050406030204" pitchFamily="18" charset="0"/>
                              </a:rPr>
                              <m:t>𝑛</m:t>
                            </m:r>
                          </m:e>
                          <m:sub>
                            <m:r>
                              <a:rPr lang="en-US" altLang="zh-CN" sz="2800">
                                <a:solidFill>
                                  <a:schemeClr val="tx1"/>
                                </a:solidFill>
                                <a:latin typeface="Cambria Math" panose="02040503050406030204" pitchFamily="18" charset="0"/>
                              </a:rPr>
                              <m:t>2</m:t>
                            </m:r>
                          </m:sub>
                        </m:sSub>
                        <m:r>
                          <a:rPr lang="en-US" altLang="zh-CN" sz="2800">
                            <a:solidFill>
                              <a:schemeClr val="tx1"/>
                            </a:solidFill>
                            <a:latin typeface="Cambria Math" panose="02040503050406030204" pitchFamily="18" charset="0"/>
                          </a:rPr>
                          <m:t>&gt;4</m:t>
                        </m:r>
                      </m:e>
                    </m:d>
                  </m:oMath>
                </a14:m>
                <a:r>
                  <a:rPr lang="zh-CN" altLang="en-US" sz="2800" dirty="0">
                    <a:solidFill>
                      <a:schemeClr val="tx1"/>
                    </a:solidFill>
                    <a:latin typeface="宋体" panose="02010600030101010101" pitchFamily="2" charset="-122"/>
                    <a:ea typeface="宋体" panose="02010600030101010101" pitchFamily="2" charset="-122"/>
                  </a:rPr>
                  <a:t>  </a:t>
                </a:r>
                <a:endParaRPr lang="en-US" altLang="zh-CN" sz="2800" dirty="0">
                  <a:solidFill>
                    <a:schemeClr val="tx1"/>
                  </a:solidFill>
                  <a:latin typeface="宋体" panose="02010600030101010101" pitchFamily="2" charset="-122"/>
                  <a:ea typeface="宋体" panose="02010600030101010101" pitchFamily="2" charset="-122"/>
                </a:endParaRPr>
              </a:p>
              <a:p>
                <a:pPr marL="360363" indent="358775">
                  <a:lnSpc>
                    <a:spcPct val="150000"/>
                  </a:lnSpc>
                  <a:spcBef>
                    <a:spcPts val="6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随着第二自由度增大，</a:t>
                </a:r>
                <a14:m>
                  <m:oMath xmlns:m="http://schemas.openxmlformats.org/officeDocument/2006/math">
                    <m:r>
                      <a:rPr lang="en-US" altLang="zh-CN" sz="2800" b="0" i="1" smtClean="0">
                        <a:solidFill>
                          <a:schemeClr val="tx1"/>
                        </a:solidFill>
                        <a:latin typeface="Cambria Math" panose="02040503050406030204" pitchFamily="18" charset="0"/>
                        <a:sym typeface="+mn-ea"/>
                      </a:rPr>
                      <m:t>𝐹</m:t>
                    </m:r>
                  </m:oMath>
                </a14:m>
                <a:r>
                  <a:rPr lang="zh-CN" altLang="en-US" sz="2800" dirty="0">
                    <a:solidFill>
                      <a:schemeClr val="tx1"/>
                    </a:solidFill>
                    <a:latin typeface="宋体" panose="02010600030101010101" pitchFamily="2" charset="-122"/>
                    <a:ea typeface="宋体" panose="02010600030101010101" pitchFamily="2" charset="-122"/>
                  </a:rPr>
                  <a:t>分布的均值趋于1，而方差则取决于两个自由度。</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792707" y="534835"/>
                <a:ext cx="8047322" cy="5333761"/>
              </a:xfrm>
              <a:blipFill>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491916" y="621799"/>
                <a:ext cx="8001000" cy="5333761"/>
              </a:xfrm>
            </p:spPr>
            <p:txBody>
              <a:bodyPr>
                <a:noAutofit/>
              </a:bodyPr>
              <a:lstStyle/>
              <a:p>
                <a:pPr indent="0">
                  <a:lnSpc>
                    <a:spcPct val="150000"/>
                  </a:lnSpc>
                  <a:spcBef>
                    <a:spcPts val="600"/>
                  </a:spcBef>
                  <a:spcAft>
                    <a:spcPts val="0"/>
                  </a:spcAft>
                  <a:buNone/>
                </a:pPr>
                <a:r>
                  <a:rPr lang="zh-CN" altLang="en-US" b="1" dirty="0">
                    <a:solidFill>
                      <a:srgbClr val="0070C0"/>
                    </a:solidFill>
                    <a:latin typeface="黑体" panose="02010609060101010101" pitchFamily="49" charset="-122"/>
                    <a:ea typeface="黑体" panose="02010609060101010101" pitchFamily="49" charset="-122"/>
                  </a:rPr>
                  <a:t>（</a:t>
                </a:r>
                <a:r>
                  <a:rPr lang="en-US" altLang="zh-CN" b="1" dirty="0">
                    <a:solidFill>
                      <a:srgbClr val="0070C0"/>
                    </a:solidFill>
                    <a:latin typeface="黑体" panose="02010609060101010101" pitchFamily="49" charset="-122"/>
                    <a:ea typeface="黑体" panose="02010609060101010101" pitchFamily="49" charset="-122"/>
                  </a:rPr>
                  <a:t>2</a:t>
                </a:r>
                <a:r>
                  <a:rPr lang="zh-CN" altLang="en-US" b="1" dirty="0">
                    <a:solidFill>
                      <a:srgbClr val="0070C0"/>
                    </a:solidFill>
                    <a:latin typeface="黑体" panose="02010609060101010101" pitchFamily="49" charset="-122"/>
                    <a:ea typeface="黑体" panose="02010609060101010101" pitchFamily="49" charset="-122"/>
                  </a:rPr>
                  <a:t>） </a:t>
                </a:r>
                <a14:m>
                  <m:oMath xmlns:m="http://schemas.openxmlformats.org/officeDocument/2006/math">
                    <m:r>
                      <a:rPr lang="en-US" altLang="zh-CN" b="1">
                        <a:solidFill>
                          <a:srgbClr val="0070C0"/>
                        </a:solidFill>
                        <a:latin typeface="Cambria Math" panose="02040503050406030204" pitchFamily="18" charset="0"/>
                        <a:ea typeface="黑体" panose="02010609060101010101" pitchFamily="49" charset="-122"/>
                        <a:sym typeface="+mn-ea"/>
                      </a:rPr>
                      <m:t>𝐹</m:t>
                    </m:r>
                  </m:oMath>
                </a14:m>
                <a:r>
                  <a:rPr lang="zh-CN" altLang="en-US" b="1" dirty="0">
                    <a:solidFill>
                      <a:srgbClr val="0070C0"/>
                    </a:solidFill>
                    <a:latin typeface="黑体" panose="02010609060101010101" pitchFamily="49" charset="-122"/>
                    <a:ea typeface="黑体" panose="02010609060101010101" pitchFamily="49" charset="-122"/>
                  </a:rPr>
                  <a:t>分布的自由度</a:t>
                </a:r>
              </a:p>
              <a:p>
                <a:pPr indent="349250">
                  <a:lnSpc>
                    <a:spcPct val="150000"/>
                  </a:lnSpc>
                  <a:spcBef>
                    <a:spcPts val="0"/>
                  </a:spcBef>
                  <a:spcAft>
                    <a:spcPts val="0"/>
                  </a:spcAft>
                  <a:buSzPct val="75000"/>
                  <a:buFont typeface="Wingdings" panose="05000000000000000000" pitchFamily="2" charset="2"/>
                  <a:buChar char="Ø"/>
                </a:pPr>
                <a14:m>
                  <m:oMath xmlns:m="http://schemas.openxmlformats.org/officeDocument/2006/math">
                    <m:r>
                      <a:rPr lang="en-US" altLang="zh-CN" sz="2800" b="1" i="1" smtClean="0">
                        <a:solidFill>
                          <a:schemeClr val="tx1"/>
                        </a:solidFill>
                        <a:latin typeface="Cambria Math" panose="02040503050406030204" pitchFamily="18" charset="0"/>
                        <a:sym typeface="+mn-ea"/>
                      </a:rPr>
                      <m:t>𝑭</m:t>
                    </m:r>
                  </m:oMath>
                </a14:m>
                <a:r>
                  <a:rPr lang="zh-CN" altLang="en-US" sz="2800" b="1" dirty="0">
                    <a:solidFill>
                      <a:schemeClr val="tx1"/>
                    </a:solidFill>
                    <a:latin typeface="宋体" panose="02010600030101010101" pitchFamily="2" charset="-122"/>
                    <a:ea typeface="宋体" panose="02010600030101010101" pitchFamily="2" charset="-122"/>
                  </a:rPr>
                  <a:t>分布的自由度是由其分子和分母的两个</a:t>
                </a:r>
                <a14:m>
                  <m:oMath xmlns:m="http://schemas.openxmlformats.org/officeDocument/2006/math">
                    <m:sSup>
                      <m:sSupPr>
                        <m:ctrlPr>
                          <a:rPr lang="en-US" altLang="zh-CN" sz="2800" b="1" i="1">
                            <a:solidFill>
                              <a:schemeClr val="tx1"/>
                            </a:solidFill>
                            <a:latin typeface="Cambria Math" panose="02040503050406030204" pitchFamily="18" charset="0"/>
                          </a:rPr>
                        </m:ctrlPr>
                      </m:sSupPr>
                      <m:e>
                        <m:r>
                          <a:rPr lang="zh-CN" altLang="en-US" sz="2800" b="1" i="1">
                            <a:solidFill>
                              <a:schemeClr val="tx1"/>
                            </a:solidFill>
                            <a:latin typeface="Cambria Math" panose="02040503050406030204" pitchFamily="18" charset="0"/>
                          </a:rPr>
                          <m:t>𝝌</m:t>
                        </m:r>
                      </m:e>
                      <m:sup>
                        <m:r>
                          <a:rPr lang="en-US" altLang="zh-CN" sz="2800" b="1" i="1">
                            <a:solidFill>
                              <a:schemeClr val="tx1"/>
                            </a:solidFill>
                            <a:latin typeface="Cambria Math" panose="02040503050406030204" pitchFamily="18" charset="0"/>
                          </a:rPr>
                          <m:t>𝟐</m:t>
                        </m:r>
                      </m:sup>
                    </m:sSup>
                  </m:oMath>
                </a14:m>
                <a:r>
                  <a:rPr lang="zh-CN" altLang="en-US" sz="2800" b="1" dirty="0">
                    <a:solidFill>
                      <a:schemeClr val="tx1"/>
                    </a:solidFill>
                    <a:latin typeface="宋体" panose="02010600030101010101" pitchFamily="2" charset="-122"/>
                    <a:ea typeface="宋体" panose="02010600030101010101" pitchFamily="2" charset="-122"/>
                  </a:rPr>
                  <a:t>分布的自由度而来。</a:t>
                </a:r>
                <a:endParaRPr lang="en-US" altLang="zh-CN" sz="2800" b="1" dirty="0">
                  <a:solidFill>
                    <a:schemeClr val="tx1"/>
                  </a:solidFill>
                  <a:latin typeface="宋体" panose="02010600030101010101" pitchFamily="2" charset="-122"/>
                  <a:ea typeface="宋体" panose="02010600030101010101" pitchFamily="2" charset="-122"/>
                </a:endParaRPr>
              </a:p>
              <a:p>
                <a:pPr indent="349250">
                  <a:lnSpc>
                    <a:spcPct val="150000"/>
                  </a:lnSpc>
                  <a:spcBef>
                    <a:spcPts val="0"/>
                  </a:spcBef>
                  <a:spcAft>
                    <a:spcPts val="0"/>
                  </a:spcAft>
                  <a:buSzPct val="75000"/>
                  <a:buFont typeface="Wingdings" panose="05000000000000000000" pitchFamily="2" charset="2"/>
                  <a:buChar char="Ø"/>
                </a:pPr>
                <a:r>
                  <a:rPr lang="zh-CN" altLang="en-US" sz="2800" b="1" dirty="0">
                    <a:solidFill>
                      <a:schemeClr val="tx1"/>
                    </a:solidFill>
                    <a:latin typeface="宋体" panose="02010600030101010101" pitchFamily="2" charset="-122"/>
                    <a:ea typeface="宋体" panose="02010600030101010101" pitchFamily="2" charset="-122"/>
                  </a:rPr>
                  <a:t>它们可以互相转化。</a:t>
                </a:r>
                <a:endParaRPr lang="en-US" altLang="zh-CN" sz="2800" b="1" dirty="0">
                  <a:solidFill>
                    <a:schemeClr val="tx1"/>
                  </a:solidFill>
                  <a:latin typeface="宋体" panose="02010600030101010101" pitchFamily="2" charset="-122"/>
                  <a:ea typeface="宋体" panose="02010600030101010101" pitchFamily="2" charset="-122"/>
                </a:endParaRPr>
              </a:p>
              <a:p>
                <a:pPr indent="0">
                  <a:lnSpc>
                    <a:spcPct val="150000"/>
                  </a:lnSpc>
                  <a:spcBef>
                    <a:spcPts val="0"/>
                  </a:spcBef>
                  <a:spcAft>
                    <a:spcPts val="0"/>
                  </a:spcAft>
                  <a:buSzPct val="75000"/>
                  <a:buNone/>
                </a:pPr>
                <a:r>
                  <a:rPr lang="zh-CN" altLang="en-US" sz="2600" b="1" dirty="0">
                    <a:solidFill>
                      <a:schemeClr val="tx1"/>
                    </a:solidFill>
                    <a:latin typeface="宋体" panose="02010600030101010101" pitchFamily="2" charset="-122"/>
                    <a:ea typeface="宋体" panose="02010600030101010101" pitchFamily="2" charset="-122"/>
                  </a:rPr>
                  <a:t>  如果随机变量 </a:t>
                </a:r>
                <a:r>
                  <a:rPr lang="zh-CN" altLang="en-US" sz="2600" b="1" i="1" dirty="0">
                    <a:solidFill>
                      <a:schemeClr val="tx1"/>
                    </a:solidFill>
                    <a:latin typeface="宋体" panose="02010600030101010101" pitchFamily="2" charset="-122"/>
                    <a:ea typeface="宋体" panose="02010600030101010101" pitchFamily="2" charset="-122"/>
                  </a:rPr>
                  <a:t>F</a:t>
                </a:r>
                <a14:m>
                  <m:oMath xmlns:m="http://schemas.openxmlformats.org/officeDocument/2006/math">
                    <m:r>
                      <a:rPr lang="en-US" altLang="zh-CN" sz="2600" b="1">
                        <a:solidFill>
                          <a:schemeClr val="tx1"/>
                        </a:solidFill>
                        <a:latin typeface="Cambria Math" panose="02040503050406030204" pitchFamily="18" charset="0"/>
                      </a:rPr>
                      <m:t>~</m:t>
                    </m:r>
                    <m:r>
                      <a:rPr lang="en-US" altLang="zh-CN" sz="2600" b="1" i="1">
                        <a:solidFill>
                          <a:schemeClr val="tx1"/>
                        </a:solidFill>
                        <a:latin typeface="Cambria Math" panose="02040503050406030204" pitchFamily="18" charset="0"/>
                      </a:rPr>
                      <m:t>𝐅</m:t>
                    </m:r>
                    <m:r>
                      <a:rPr lang="en-US" altLang="zh-CN" sz="2600" b="1">
                        <a:solidFill>
                          <a:schemeClr val="tx1"/>
                        </a:solidFill>
                        <a:latin typeface="Cambria Math" panose="02040503050406030204" pitchFamily="18" charset="0"/>
                      </a:rPr>
                      <m:t>(</m:t>
                    </m:r>
                    <m:sSub>
                      <m:sSubPr>
                        <m:ctrlPr>
                          <a:rPr lang="zh-CN" altLang="zh-CN" sz="2600" b="1" i="1">
                            <a:solidFill>
                              <a:schemeClr val="tx1"/>
                            </a:solidFill>
                            <a:latin typeface="Cambria Math" panose="02040503050406030204" pitchFamily="18" charset="0"/>
                          </a:rPr>
                        </m:ctrlPr>
                      </m:sSubPr>
                      <m:e>
                        <m:r>
                          <a:rPr lang="en-US" altLang="zh-CN" sz="2600" b="1" i="1">
                            <a:solidFill>
                              <a:schemeClr val="tx1"/>
                            </a:solidFill>
                            <a:latin typeface="Cambria Math" panose="02040503050406030204" pitchFamily="18" charset="0"/>
                          </a:rPr>
                          <m:t>𝒏</m:t>
                        </m:r>
                      </m:e>
                      <m:sub>
                        <m:r>
                          <a:rPr lang="en-US" altLang="zh-CN" sz="2600" b="1" i="1">
                            <a:solidFill>
                              <a:schemeClr val="tx1"/>
                            </a:solidFill>
                            <a:latin typeface="Cambria Math" panose="02040503050406030204" pitchFamily="18" charset="0"/>
                          </a:rPr>
                          <m:t>𝟏</m:t>
                        </m:r>
                      </m:sub>
                    </m:sSub>
                    <m:r>
                      <a:rPr lang="en-US" altLang="zh-CN" sz="2600" b="1">
                        <a:solidFill>
                          <a:schemeClr val="tx1"/>
                        </a:solidFill>
                        <a:latin typeface="Cambria Math" panose="02040503050406030204" pitchFamily="18" charset="0"/>
                      </a:rPr>
                      <m:t>,</m:t>
                    </m:r>
                    <m:sSub>
                      <m:sSubPr>
                        <m:ctrlPr>
                          <a:rPr lang="zh-CN" altLang="zh-CN" sz="2600" b="1" i="1">
                            <a:solidFill>
                              <a:schemeClr val="tx1"/>
                            </a:solidFill>
                            <a:latin typeface="Cambria Math" panose="02040503050406030204" pitchFamily="18" charset="0"/>
                          </a:rPr>
                        </m:ctrlPr>
                      </m:sSubPr>
                      <m:e>
                        <m:r>
                          <a:rPr lang="en-US" altLang="zh-CN" sz="2600" b="1" i="1">
                            <a:solidFill>
                              <a:schemeClr val="tx1"/>
                            </a:solidFill>
                            <a:latin typeface="Cambria Math" panose="02040503050406030204" pitchFamily="18" charset="0"/>
                          </a:rPr>
                          <m:t>𝒏</m:t>
                        </m:r>
                      </m:e>
                      <m:sub>
                        <m:r>
                          <a:rPr lang="en-US" altLang="zh-CN" sz="2600" b="1" i="1">
                            <a:solidFill>
                              <a:schemeClr val="tx1"/>
                            </a:solidFill>
                            <a:latin typeface="Cambria Math" panose="02040503050406030204" pitchFamily="18" charset="0"/>
                          </a:rPr>
                          <m:t>𝟐</m:t>
                        </m:r>
                      </m:sub>
                    </m:sSub>
                    <m:r>
                      <a:rPr lang="en-US" altLang="zh-CN" sz="2600" b="1">
                        <a:solidFill>
                          <a:schemeClr val="tx1"/>
                        </a:solidFill>
                        <a:latin typeface="Cambria Math" panose="02040503050406030204" pitchFamily="18" charset="0"/>
                      </a:rPr>
                      <m:t>)</m:t>
                    </m:r>
                  </m:oMath>
                </a14:m>
                <a:r>
                  <a:rPr lang="zh-CN" altLang="en-US" sz="2600" b="1" dirty="0">
                    <a:solidFill>
                      <a:schemeClr val="tx1"/>
                    </a:solidFill>
                    <a:latin typeface="宋体" panose="02010600030101010101" pitchFamily="2" charset="-122"/>
                    <a:ea typeface="宋体" panose="02010600030101010101" pitchFamily="2" charset="-122"/>
                  </a:rPr>
                  <a:t> ，则由F分布的定义可知</a:t>
                </a:r>
                <a:r>
                  <a:rPr lang="zh-CN" altLang="en-US" sz="24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f>
                      <m:fPr>
                        <m:ctrlPr>
                          <a:rPr lang="zh-CN" altLang="zh-CN" sz="2800" b="1" i="1" smtClean="0">
                            <a:solidFill>
                              <a:srgbClr val="7030A0"/>
                            </a:solidFill>
                            <a:latin typeface="Cambria Math" panose="02040503050406030204" pitchFamily="18" charset="0"/>
                          </a:rPr>
                        </m:ctrlPr>
                      </m:fPr>
                      <m:num>
                        <m:r>
                          <a:rPr lang="en-US" altLang="zh-CN" sz="2800" b="1" i="1">
                            <a:solidFill>
                              <a:srgbClr val="7030A0"/>
                            </a:solidFill>
                            <a:latin typeface="Cambria Math" panose="02040503050406030204" pitchFamily="18" charset="0"/>
                          </a:rPr>
                          <m:t>𝟏</m:t>
                        </m:r>
                      </m:num>
                      <m:den>
                        <m:r>
                          <a:rPr lang="en-US" altLang="zh-CN" sz="2800" b="1" i="1">
                            <a:solidFill>
                              <a:srgbClr val="7030A0"/>
                            </a:solidFill>
                            <a:latin typeface="Cambria Math" panose="02040503050406030204" pitchFamily="18" charset="0"/>
                          </a:rPr>
                          <m:t>𝑭</m:t>
                        </m:r>
                      </m:den>
                    </m:f>
                    <m:r>
                      <a:rPr lang="en-US" altLang="zh-CN" sz="2800" b="1">
                        <a:solidFill>
                          <a:srgbClr val="7030A0"/>
                        </a:solidFill>
                        <a:latin typeface="Cambria Math" panose="02040503050406030204" pitchFamily="18" charset="0"/>
                      </a:rPr>
                      <m:t>~</m:t>
                    </m:r>
                    <m:r>
                      <a:rPr lang="en-US" altLang="zh-CN" sz="2800" b="1" i="1">
                        <a:solidFill>
                          <a:srgbClr val="7030A0"/>
                        </a:solidFill>
                        <a:latin typeface="Cambria Math" panose="02040503050406030204" pitchFamily="18" charset="0"/>
                      </a:rPr>
                      <m:t>𝐅</m:t>
                    </m:r>
                    <m:r>
                      <a:rPr lang="en-US" altLang="zh-CN" sz="2800" b="1">
                        <a:solidFill>
                          <a:srgbClr val="7030A0"/>
                        </a:solidFill>
                        <a:latin typeface="Cambria Math" panose="02040503050406030204" pitchFamily="18" charset="0"/>
                      </a:rPr>
                      <m:t>(</m:t>
                    </m:r>
                    <m:sSub>
                      <m:sSubPr>
                        <m:ctrlPr>
                          <a:rPr lang="zh-CN" altLang="zh-CN" sz="2800" b="1" i="1">
                            <a:solidFill>
                              <a:srgbClr val="7030A0"/>
                            </a:solidFill>
                            <a:latin typeface="Cambria Math" panose="02040503050406030204" pitchFamily="18" charset="0"/>
                          </a:rPr>
                        </m:ctrlPr>
                      </m:sSubPr>
                      <m:e>
                        <m:r>
                          <a:rPr lang="en-US" altLang="zh-CN" sz="2800" b="1" i="1">
                            <a:solidFill>
                              <a:srgbClr val="7030A0"/>
                            </a:solidFill>
                            <a:latin typeface="Cambria Math" panose="02040503050406030204" pitchFamily="18" charset="0"/>
                          </a:rPr>
                          <m:t>𝒏</m:t>
                        </m:r>
                      </m:e>
                      <m:sub>
                        <m:r>
                          <a:rPr lang="en-US" altLang="zh-CN" sz="2800" b="1" i="1">
                            <a:solidFill>
                              <a:srgbClr val="7030A0"/>
                            </a:solidFill>
                            <a:latin typeface="Cambria Math" panose="02040503050406030204" pitchFamily="18" charset="0"/>
                          </a:rPr>
                          <m:t>𝟐</m:t>
                        </m:r>
                      </m:sub>
                    </m:sSub>
                    <m:r>
                      <a:rPr lang="en-US" altLang="zh-CN" sz="2800" b="1">
                        <a:solidFill>
                          <a:srgbClr val="7030A0"/>
                        </a:solidFill>
                        <a:latin typeface="Cambria Math" panose="02040503050406030204" pitchFamily="18" charset="0"/>
                      </a:rPr>
                      <m:t>,</m:t>
                    </m:r>
                    <m:sSub>
                      <m:sSubPr>
                        <m:ctrlPr>
                          <a:rPr lang="zh-CN" altLang="zh-CN" sz="2800" b="1" i="1">
                            <a:solidFill>
                              <a:srgbClr val="7030A0"/>
                            </a:solidFill>
                            <a:latin typeface="Cambria Math" panose="02040503050406030204" pitchFamily="18" charset="0"/>
                          </a:rPr>
                        </m:ctrlPr>
                      </m:sSubPr>
                      <m:e>
                        <m:r>
                          <a:rPr lang="en-US" altLang="zh-CN" sz="2800" b="1" i="1">
                            <a:solidFill>
                              <a:srgbClr val="7030A0"/>
                            </a:solidFill>
                            <a:latin typeface="Cambria Math" panose="02040503050406030204" pitchFamily="18" charset="0"/>
                          </a:rPr>
                          <m:t>𝒏</m:t>
                        </m:r>
                      </m:e>
                      <m:sub>
                        <m:r>
                          <a:rPr lang="en-US" altLang="zh-CN" sz="2800" b="1" i="1">
                            <a:solidFill>
                              <a:srgbClr val="7030A0"/>
                            </a:solidFill>
                            <a:latin typeface="Cambria Math" panose="02040503050406030204" pitchFamily="18" charset="0"/>
                          </a:rPr>
                          <m:t>𝟏</m:t>
                        </m:r>
                      </m:sub>
                    </m:sSub>
                    <m:r>
                      <a:rPr lang="en-US" altLang="zh-CN" sz="2800" b="1" smtClean="0">
                        <a:solidFill>
                          <a:srgbClr val="7030A0"/>
                        </a:solidFill>
                        <a:latin typeface="Cambria Math" panose="02040503050406030204" pitchFamily="18" charset="0"/>
                      </a:rPr>
                      <m:t>)</m:t>
                    </m:r>
                  </m:oMath>
                </a14:m>
                <a:r>
                  <a:rPr lang="zh-CN" altLang="en-US" sz="2800" b="1" dirty="0">
                    <a:solidFill>
                      <a:srgbClr val="7030A0"/>
                    </a:solidFill>
                    <a:latin typeface="宋体" panose="02010600030101010101" pitchFamily="2" charset="-122"/>
                    <a:ea typeface="宋体" panose="02010600030101010101" pitchFamily="2" charset="-122"/>
                  </a:rPr>
                  <a:t> </a:t>
                </a:r>
                <a:endParaRPr lang="zh-CN" altLang="en-US" sz="2400" b="1" dirty="0">
                  <a:solidFill>
                    <a:srgbClr val="0070C0"/>
                  </a:solidFill>
                  <a:latin typeface="宋体" panose="02010600030101010101" pitchFamily="2" charset="-122"/>
                  <a:ea typeface="宋体" panose="02010600030101010101" pitchFamily="2" charset="-122"/>
                </a:endParaRPr>
              </a:p>
              <a:p>
                <a:pPr indent="0">
                  <a:lnSpc>
                    <a:spcPct val="150000"/>
                  </a:lnSpc>
                  <a:spcBef>
                    <a:spcPts val="0"/>
                  </a:spcBef>
                  <a:spcAft>
                    <a:spcPts val="0"/>
                  </a:spcAft>
                  <a:buSzPct val="75000"/>
                  <a:buNone/>
                </a:pPr>
                <a:r>
                  <a:rPr lang="zh-CN" altLang="en-US" sz="2400" b="1" dirty="0">
                    <a:solidFill>
                      <a:schemeClr val="tx1"/>
                    </a:solidFill>
                    <a:latin typeface="宋体" panose="02010600030101010101" pitchFamily="2" charset="-122"/>
                    <a:ea typeface="宋体" panose="02010600030101010101" pitchFamily="2" charset="-122"/>
                  </a:rPr>
                  <a:t>   这个性质对于查F分布求较大</a:t>
                </a:r>
                <a:r>
                  <a:rPr lang="el-GR" altLang="zh-CN" sz="2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α</a:t>
                </a:r>
                <a:r>
                  <a:rPr lang="zh-CN" altLang="en-US" sz="2400" b="1" dirty="0">
                    <a:solidFill>
                      <a:schemeClr val="tx1"/>
                    </a:solidFill>
                    <a:latin typeface="宋体" panose="02010600030101010101" pitchFamily="2" charset="-122"/>
                    <a:ea typeface="宋体" panose="02010600030101010101" pitchFamily="2" charset="-122"/>
                  </a:rPr>
                  <a:t>的分位数提供了方便。</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491916" y="621799"/>
                <a:ext cx="8001000" cy="5333761"/>
              </a:xfrm>
              <a:blipFill>
                <a:blip r:embed="rId2"/>
                <a:stretch>
                  <a:fillRect r="-3201"/>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p:cNvPicPr>
            <a:picLocks noChangeAspect="1"/>
          </p:cNvPicPr>
          <p:nvPr/>
        </p:nvPicPr>
        <p:blipFill>
          <a:blip r:embed="rId2"/>
          <a:stretch>
            <a:fillRect/>
          </a:stretch>
        </p:blipFill>
        <p:spPr>
          <a:xfrm>
            <a:off x="7892716" y="866431"/>
            <a:ext cx="2859272" cy="1950889"/>
          </a:xfrm>
          <a:prstGeom prst="rect">
            <a:avLst/>
          </a:prstGeom>
        </p:spPr>
      </p:pic>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338614" y="1020040"/>
                <a:ext cx="6707404" cy="1643669"/>
              </a:xfrm>
            </p:spPr>
            <p:txBody>
              <a:bodyPr>
                <a:noAutofit/>
              </a:bodyPr>
              <a:lstStyle/>
              <a:p>
                <a:pPr marL="0" indent="0">
                  <a:lnSpc>
                    <a:spcPct val="150000"/>
                  </a:lnSpc>
                  <a:spcBef>
                    <a:spcPts val="0"/>
                  </a:spcBef>
                  <a:spcAft>
                    <a:spcPts val="0"/>
                  </a:spcAft>
                  <a:buNone/>
                </a:pPr>
                <a:r>
                  <a:rPr lang="zh-CN" altLang="en-US" sz="2800" dirty="0">
                    <a:solidFill>
                      <a:schemeClr val="tx1"/>
                    </a:solidFill>
                  </a:rPr>
                  <a:t>对于</a:t>
                </a:r>
                <a14:m>
                  <m:oMath xmlns:m="http://schemas.openxmlformats.org/officeDocument/2006/math">
                    <m:r>
                      <a:rPr lang="zh-CN" altLang="en-US" sz="2800" i="1">
                        <a:solidFill>
                          <a:schemeClr val="tx1"/>
                        </a:solidFill>
                        <a:latin typeface="Cambria Math" panose="02040503050406030204" pitchFamily="18" charset="0"/>
                      </a:rPr>
                      <m:t>满足</m:t>
                    </m:r>
                    <m:r>
                      <a:rPr lang="en-US" altLang="zh-CN" sz="2800" b="0" i="1" smtClean="0">
                        <a:solidFill>
                          <a:schemeClr val="tx1"/>
                        </a:solidFill>
                        <a:latin typeface="Cambria Math" panose="02040503050406030204" pitchFamily="18" charset="0"/>
                      </a:rPr>
                      <m:t> </m:t>
                    </m:r>
                    <m:r>
                      <a:rPr lang="en-US" altLang="zh-CN" sz="2800" b="0" i="1" smtClean="0">
                        <a:solidFill>
                          <a:schemeClr val="tx1"/>
                        </a:solidFill>
                        <a:latin typeface="Cambria Math" panose="02040503050406030204" pitchFamily="18" charset="0"/>
                      </a:rPr>
                      <m:t>𝑃</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𝐹</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𝑛</m:t>
                    </m:r>
                    <m:r>
                      <a:rPr lang="en-US" altLang="zh-CN" sz="2800" b="0" i="1" baseline="-25000" smtClean="0">
                        <a:solidFill>
                          <a:schemeClr val="tx1"/>
                        </a:solidFill>
                        <a:latin typeface="Cambria Math" panose="02040503050406030204" pitchFamily="18" charset="0"/>
                      </a:rPr>
                      <m:t>1</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𝑛</m:t>
                    </m:r>
                    <m:r>
                      <a:rPr lang="en-US" altLang="zh-CN" sz="2800" b="0" i="1" baseline="-25000" smtClean="0">
                        <a:solidFill>
                          <a:schemeClr val="tx1"/>
                        </a:solidFill>
                        <a:latin typeface="Cambria Math" panose="02040503050406030204" pitchFamily="18" charset="0"/>
                      </a:rPr>
                      <m:t>2</m:t>
                    </m:r>
                    <m:r>
                      <a:rPr lang="en-US" altLang="zh-CN" sz="2800" b="0" i="1" smtClean="0">
                        <a:solidFill>
                          <a:schemeClr val="tx1"/>
                        </a:solidFill>
                        <a:latin typeface="Cambria Math" panose="02040503050406030204" pitchFamily="18" charset="0"/>
                      </a:rPr>
                      <m:t>)&gt;</m:t>
                    </m:r>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𝐹</m:t>
                        </m:r>
                      </m:e>
                      <m:sub>
                        <m:r>
                          <m:rPr>
                            <m:sty m:val="p"/>
                          </m:rPr>
                          <a:rPr lang="el-GR" altLang="zh-CN" sz="2800" i="1" smtClean="0">
                            <a:solidFill>
                              <a:schemeClr val="tx1"/>
                            </a:solidFill>
                            <a:latin typeface="Cambria Math" panose="02040503050406030204" pitchFamily="18" charset="0"/>
                          </a:rPr>
                          <m:t>α</m:t>
                        </m:r>
                      </m:sub>
                    </m:sSub>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𝑛</m:t>
                    </m:r>
                    <m:r>
                      <a:rPr lang="en-US" altLang="zh-CN" sz="2800" i="1" baseline="-25000">
                        <a:solidFill>
                          <a:schemeClr val="tx1"/>
                        </a:solidFill>
                        <a:latin typeface="Cambria Math" panose="02040503050406030204" pitchFamily="18" charset="0"/>
                      </a:rPr>
                      <m:t>1</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𝑛</m:t>
                    </m:r>
                    <m:r>
                      <a:rPr lang="en-US" altLang="zh-CN" sz="2800" i="1" baseline="-25000">
                        <a:solidFill>
                          <a:schemeClr val="tx1"/>
                        </a:solidFill>
                        <a:latin typeface="Cambria Math" panose="02040503050406030204" pitchFamily="18" charset="0"/>
                      </a:rPr>
                      <m:t>2</m:t>
                    </m:r>
                    <m:r>
                      <a:rPr lang="en-US" altLang="zh-CN" sz="2800" i="1">
                        <a:solidFill>
                          <a:schemeClr val="tx1"/>
                        </a:solidFill>
                        <a:latin typeface="Cambria Math" panose="02040503050406030204" pitchFamily="18" charset="0"/>
                      </a:rPr>
                      <m:t>)</m:t>
                    </m:r>
                  </m:oMath>
                </a14:m>
                <a:r>
                  <a:rPr lang="en-US" altLang="zh-CN" sz="2800" dirty="0">
                    <a:solidFill>
                      <a:schemeClr val="tx1"/>
                    </a:solidFill>
                    <a:latin typeface="宋体" panose="02010600030101010101" pitchFamily="2" charset="-122"/>
                    <a:ea typeface="宋体" panose="02010600030101010101" pitchFamily="2" charset="-122"/>
                  </a:rPr>
                  <a:t>}=</a:t>
                </a:r>
                <a14:m>
                  <m:oMath xmlns:m="http://schemas.openxmlformats.org/officeDocument/2006/math">
                    <m:r>
                      <a:rPr lang="en-US" altLang="zh-CN" sz="2800">
                        <a:solidFill>
                          <a:schemeClr val="tx1"/>
                        </a:solidFill>
                        <a:latin typeface="Cambria Math" panose="02040503050406030204" pitchFamily="18" charset="0"/>
                      </a:rPr>
                      <m:t>𝛼</m:t>
                    </m:r>
                  </m:oMath>
                </a14:m>
                <a:r>
                  <a:rPr lang="zh-CN" altLang="en-US" sz="2800" dirty="0">
                    <a:solidFill>
                      <a:schemeClr val="tx1"/>
                    </a:solidFill>
                    <a:latin typeface="宋体" panose="02010600030101010101" pitchFamily="2" charset="-122"/>
                    <a:ea typeface="宋体" panose="02010600030101010101" pitchFamily="2" charset="-122"/>
                  </a:rPr>
                  <a:t>的点</a:t>
                </a:r>
                <a14:m>
                  <m:oMath xmlns:m="http://schemas.openxmlformats.org/officeDocument/2006/math">
                    <m:sSub>
                      <m:sSubPr>
                        <m:ctrlPr>
                          <a:rPr lang="zh-CN"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𝐹</m:t>
                        </m:r>
                      </m:e>
                      <m:sub>
                        <m:r>
                          <m:rPr>
                            <m:sty m:val="p"/>
                          </m:rPr>
                          <a:rPr lang="el-GR" altLang="zh-CN" sz="2800" i="1">
                            <a:solidFill>
                              <a:schemeClr val="tx1"/>
                            </a:solidFill>
                            <a:latin typeface="Cambria Math" panose="02040503050406030204" pitchFamily="18" charset="0"/>
                          </a:rPr>
                          <m:t>α</m:t>
                        </m:r>
                      </m:sub>
                    </m:sSub>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𝑛</m:t>
                    </m:r>
                    <m:r>
                      <a:rPr lang="en-US" altLang="zh-CN" sz="2800" i="1" baseline="-25000">
                        <a:solidFill>
                          <a:schemeClr val="tx1"/>
                        </a:solidFill>
                        <a:latin typeface="Cambria Math" panose="02040503050406030204" pitchFamily="18" charset="0"/>
                      </a:rPr>
                      <m:t>1</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𝑛</m:t>
                    </m:r>
                    <m:r>
                      <a:rPr lang="en-US" altLang="zh-CN" sz="2800" i="1" baseline="-25000">
                        <a:solidFill>
                          <a:schemeClr val="tx1"/>
                        </a:solidFill>
                        <a:latin typeface="Cambria Math" panose="02040503050406030204" pitchFamily="18" charset="0"/>
                      </a:rPr>
                      <m:t>2</m:t>
                    </m:r>
                    <m:r>
                      <a:rPr lang="en-US" altLang="zh-CN" sz="2800" i="1">
                        <a:solidFill>
                          <a:schemeClr val="tx1"/>
                        </a:solidFill>
                        <a:latin typeface="Cambria Math" panose="02040503050406030204" pitchFamily="18" charset="0"/>
                      </a:rPr>
                      <m:t>)</m:t>
                    </m:r>
                  </m:oMath>
                </a14:m>
                <a:r>
                  <a:rPr lang="zh-CN" altLang="en-US" sz="2800" dirty="0">
                    <a:solidFill>
                      <a:schemeClr val="tx1"/>
                    </a:solidFill>
                    <a:latin typeface="宋体" panose="02010600030101010101" pitchFamily="2" charset="-122"/>
                    <a:ea typeface="宋体" panose="02010600030101010101" pitchFamily="2" charset="-122"/>
                  </a:rPr>
                  <a:t>称为</a:t>
                </a:r>
                <a:r>
                  <a:rPr lang="en-US" altLang="zh-CN" sz="2800" b="1" i="1" dirty="0">
                    <a:solidFill>
                      <a:srgbClr val="7030A0"/>
                    </a:solidFill>
                    <a:latin typeface="+mn-ea"/>
                    <a:ea typeface="+mn-ea"/>
                    <a:cs typeface="Times New Roman" panose="02020603050405020304" pitchFamily="18" charset="0"/>
                  </a:rPr>
                  <a:t>F</a:t>
                </a:r>
                <a:r>
                  <a:rPr lang="zh-CN" altLang="en-US" sz="2800" b="1" dirty="0">
                    <a:solidFill>
                      <a:srgbClr val="7030A0"/>
                    </a:solidFill>
                    <a:latin typeface="+mn-ea"/>
                    <a:ea typeface="+mn-ea"/>
                  </a:rPr>
                  <a:t>分布</a:t>
                </a:r>
                <a14:m>
                  <m:oMath xmlns:m="http://schemas.openxmlformats.org/officeDocument/2006/math">
                    <m:r>
                      <a:rPr lang="zh-CN" altLang="en-US" sz="2800" b="1" i="1" dirty="0">
                        <a:solidFill>
                          <a:srgbClr val="7030A0"/>
                        </a:solidFill>
                        <a:latin typeface="Cambria Math" panose="02040503050406030204" pitchFamily="18" charset="0"/>
                        <a:ea typeface="+mn-ea"/>
                      </a:rPr>
                      <m:t>的</m:t>
                    </m:r>
                  </m:oMath>
                </a14:m>
                <a:r>
                  <a:rPr lang="zh-CN" altLang="en-US" sz="2800" b="1" dirty="0">
                    <a:solidFill>
                      <a:srgbClr val="7030A0"/>
                    </a:solidFill>
                    <a:latin typeface="+mn-ea"/>
                    <a:ea typeface="+mn-ea"/>
                  </a:rPr>
                  <a:t>上侧</a:t>
                </a:r>
                <a14:m>
                  <m:oMath xmlns:m="http://schemas.openxmlformats.org/officeDocument/2006/math">
                    <m:r>
                      <a:rPr lang="en-US" altLang="zh-CN" sz="2800" b="1" i="1">
                        <a:solidFill>
                          <a:srgbClr val="7030A0"/>
                        </a:solidFill>
                        <a:latin typeface="Cambria Math" panose="02040503050406030204" pitchFamily="18" charset="0"/>
                        <a:ea typeface="+mn-ea"/>
                      </a:rPr>
                      <m:t>𝜶</m:t>
                    </m:r>
                  </m:oMath>
                </a14:m>
                <a:r>
                  <a:rPr lang="zh-CN" altLang="en-US" sz="2800" b="1" dirty="0">
                    <a:solidFill>
                      <a:srgbClr val="7030A0"/>
                    </a:solidFill>
                    <a:latin typeface="+mn-ea"/>
                    <a:ea typeface="+mn-ea"/>
                  </a:rPr>
                  <a:t>分位点</a:t>
                </a:r>
                <a:r>
                  <a:rPr lang="zh-CN" altLang="en-US" sz="2800" dirty="0">
                    <a:solidFill>
                      <a:schemeClr val="tx1"/>
                    </a:solidFill>
                    <a:latin typeface="宋体" panose="02010600030101010101" pitchFamily="2" charset="-122"/>
                    <a:ea typeface="宋体" panose="02010600030101010101" pitchFamily="2" charset="-122"/>
                  </a:rPr>
                  <a:t>。</a:t>
                </a:r>
                <a:endParaRPr lang="en-US" altLang="zh-CN" sz="2800" dirty="0">
                  <a:solidFill>
                    <a:schemeClr val="tx1"/>
                  </a:solidFill>
                  <a:latin typeface="宋体" panose="02010600030101010101" pitchFamily="2" charset="-122"/>
                  <a:ea typeface="宋体" panose="02010600030101010101" pitchFamily="2" charset="-122"/>
                </a:endParaRPr>
              </a:p>
              <a:p>
                <a:pPr marL="0" indent="0">
                  <a:lnSpc>
                    <a:spcPct val="150000"/>
                  </a:lnSpc>
                  <a:spcBef>
                    <a:spcPts val="0"/>
                  </a:spcBef>
                  <a:spcAft>
                    <a:spcPts val="0"/>
                  </a:spcAft>
                  <a:buNone/>
                </a:pPr>
                <a:endParaRPr lang="en-US" altLang="zh-CN" sz="2800" dirty="0">
                  <a:solidFill>
                    <a:schemeClr val="tx1"/>
                  </a:solidFill>
                  <a:latin typeface="宋体" panose="02010600030101010101" pitchFamily="2" charset="-122"/>
                  <a:ea typeface="宋体" panose="02010600030101010101" pitchFamily="2" charset="-122"/>
                </a:endParaRPr>
              </a:p>
              <a:p>
                <a:pPr marL="0" indent="0">
                  <a:lnSpc>
                    <a:spcPct val="150000"/>
                  </a:lnSpc>
                  <a:spcBef>
                    <a:spcPts val="0"/>
                  </a:spcBef>
                  <a:spcAft>
                    <a:spcPts val="0"/>
                  </a:spcAft>
                  <a:buNone/>
                </a:pPr>
                <a:endParaRPr lang="zh-CN" altLang="en-US" sz="2800" dirty="0">
                  <a:solidFill>
                    <a:schemeClr val="tx1"/>
                  </a:solidFill>
                  <a:latin typeface="宋体" panose="02010600030101010101" pitchFamily="2" charset="-122"/>
                  <a:ea typeface="宋体" panose="02010600030101010101" pitchFamily="2" charset="-122"/>
                </a:endParaRPr>
              </a:p>
              <a:p>
                <a:pPr marL="0" indent="720000">
                  <a:lnSpc>
                    <a:spcPct val="150000"/>
                  </a:lnSpc>
                  <a:spcBef>
                    <a:spcPts val="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 </a:t>
                </a:r>
              </a:p>
              <a:p>
                <a:pPr marL="0" indent="720000">
                  <a:lnSpc>
                    <a:spcPct val="150000"/>
                  </a:lnSpc>
                  <a:spcBef>
                    <a:spcPts val="0"/>
                  </a:spcBef>
                  <a:spcAft>
                    <a:spcPts val="0"/>
                  </a:spcAft>
                  <a:buNone/>
                </a:pPr>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338614" y="1020040"/>
                <a:ext cx="6707404" cy="1643669"/>
              </a:xfrm>
              <a:blipFill>
                <a:blip r:embed="rId3"/>
                <a:stretch>
                  <a:fillRect l="-1909"/>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标题 1">
            <a:extLst>
              <a:ext uri="{FF2B5EF4-FFF2-40B4-BE49-F238E27FC236}">
                <a16:creationId xmlns:a16="http://schemas.microsoft.com/office/drawing/2014/main" id="{ABDE7C03-8E6C-B9E6-A4A7-CBB67B2FBA79}"/>
              </a:ext>
            </a:extLst>
          </p:cNvPr>
          <p:cNvSpPr txBox="1">
            <a:spLocks/>
          </p:cNvSpPr>
          <p:nvPr/>
        </p:nvSpPr>
        <p:spPr>
          <a:xfrm>
            <a:off x="1491915" y="203649"/>
            <a:ext cx="7291138"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endParaRPr lang="en-US" altLang="zh-CN" b="1" kern="0" dirty="0">
              <a:effectLst/>
            </a:endParaRPr>
          </a:p>
        </p:txBody>
      </p:sp>
      <mc:AlternateContent xmlns:mc="http://schemas.openxmlformats.org/markup-compatibility/2006" xmlns:a14="http://schemas.microsoft.com/office/drawing/2010/main">
        <mc:Choice Requires="a14">
          <p:sp>
            <p:nvSpPr>
              <p:cNvPr id="37" name="矩形 36"/>
              <p:cNvSpPr/>
              <p:nvPr/>
            </p:nvSpPr>
            <p:spPr>
              <a:xfrm>
                <a:off x="1338614" y="3070540"/>
                <a:ext cx="7960895" cy="3087192"/>
              </a:xfrm>
              <a:prstGeom prst="rect">
                <a:avLst/>
              </a:prstGeom>
            </p:spPr>
            <p:txBody>
              <a:bodyPr wrap="square">
                <a:spAutoFit/>
              </a:bodyPr>
              <a:lstStyle/>
              <a:p>
                <a:pPr>
                  <a:lnSpc>
                    <a:spcPct val="110000"/>
                  </a:lnSpc>
                  <a:spcBef>
                    <a:spcPts val="1200"/>
                  </a:spcBef>
                </a:pPr>
                <a:r>
                  <a:rPr lang="en-US" altLang="zh-CN" sz="2800" b="1" kern="0" dirty="0">
                    <a:solidFill>
                      <a:srgbClr val="0070C0"/>
                    </a:solidFill>
                  </a:rPr>
                  <a:t>【</a:t>
                </a:r>
                <a:r>
                  <a:rPr lang="zh-CN" altLang="en-US" sz="2800" b="1" kern="0" dirty="0">
                    <a:solidFill>
                      <a:srgbClr val="0070C0"/>
                    </a:solidFill>
                  </a:rPr>
                  <a:t>例</a:t>
                </a:r>
                <a:r>
                  <a:rPr lang="en-US" altLang="zh-CN" sz="2800" b="1" kern="0" dirty="0">
                    <a:solidFill>
                      <a:srgbClr val="0070C0"/>
                    </a:solidFill>
                  </a:rPr>
                  <a:t>6-7】</a:t>
                </a:r>
                <a14:m>
                  <m:oMath xmlns:m="http://schemas.openxmlformats.org/officeDocument/2006/math">
                    <m:r>
                      <a:rPr lang="en-US" altLang="zh-CN" sz="2800">
                        <a:latin typeface="Cambria Math" panose="02040503050406030204" pitchFamily="18" charset="0"/>
                      </a:rPr>
                      <m:t>𝛼</m:t>
                    </m:r>
                    <m:r>
                      <a:rPr lang="en-US" altLang="zh-CN" sz="2800">
                        <a:latin typeface="Cambria Math" panose="02040503050406030204" pitchFamily="18" charset="0"/>
                      </a:rPr>
                      <m:t>=0.95</m:t>
                    </m:r>
                  </m:oMath>
                </a14:m>
                <a:r>
                  <a:rPr lang="zh-CN" altLang="en-US" sz="2800" dirty="0">
                    <a:latin typeface="宋体" panose="02010600030101010101" pitchFamily="2" charset="-122"/>
                    <a:ea typeface="宋体" panose="02010600030101010101" pitchFamily="2" charset="-122"/>
                  </a:rPr>
                  <a:t>，查</a:t>
                </a:r>
                <a14:m>
                  <m:oMath xmlns:m="http://schemas.openxmlformats.org/officeDocument/2006/math">
                    <m:r>
                      <a:rPr lang="en-US" altLang="zh-CN" sz="2800">
                        <a:latin typeface="Cambria Math" panose="02040503050406030204" pitchFamily="18" charset="0"/>
                      </a:rPr>
                      <m:t>𝐹</m:t>
                    </m:r>
                    <m:d>
                      <m:dPr>
                        <m:ctrlPr>
                          <a:rPr lang="zh-CN" altLang="zh-CN" sz="2800" i="1">
                            <a:latin typeface="Cambria Math" panose="02040503050406030204" pitchFamily="18" charset="0"/>
                          </a:rPr>
                        </m:ctrlPr>
                      </m:dPr>
                      <m:e>
                        <m:r>
                          <a:rPr lang="en-US" altLang="zh-CN" sz="2800">
                            <a:latin typeface="Cambria Math" panose="02040503050406030204" pitchFamily="18" charset="0"/>
                          </a:rPr>
                          <m:t>15,20</m:t>
                        </m:r>
                      </m:e>
                    </m:d>
                  </m:oMath>
                </a14:m>
                <a:r>
                  <a:rPr lang="zh-CN" altLang="en-US" sz="2800" dirty="0">
                    <a:latin typeface="宋体" panose="02010600030101010101" pitchFamily="2" charset="-122"/>
                    <a:ea typeface="宋体" panose="02010600030101010101" pitchFamily="2" charset="-122"/>
                  </a:rPr>
                  <a:t>的</a:t>
                </a:r>
                <a14:m>
                  <m:oMath xmlns:m="http://schemas.openxmlformats.org/officeDocument/2006/math">
                    <m:r>
                      <a:rPr lang="en-US" altLang="zh-CN" sz="2800">
                        <a:latin typeface="Cambria Math" panose="02040503050406030204" pitchFamily="18" charset="0"/>
                      </a:rPr>
                      <m:t>𝛼</m:t>
                    </m:r>
                  </m:oMath>
                </a14:m>
                <a:r>
                  <a:rPr lang="zh-CN" altLang="en-US" sz="2800" dirty="0">
                    <a:latin typeface="宋体" panose="02010600030101010101" pitchFamily="2" charset="-122"/>
                    <a:ea typeface="宋体" panose="02010600030101010101" pitchFamily="2" charset="-122"/>
                  </a:rPr>
                  <a:t>上侧分位点。</a:t>
                </a:r>
              </a:p>
              <a:p>
                <a:pPr>
                  <a:lnSpc>
                    <a:spcPct val="110000"/>
                  </a:lnSpc>
                  <a:spcBef>
                    <a:spcPts val="1200"/>
                  </a:spcBef>
                </a:pPr>
                <a:r>
                  <a:rPr lang="zh-CN" altLang="en-US" sz="2800" dirty="0">
                    <a:latin typeface="宋体" panose="02010600030101010101" pitchFamily="2" charset="-122"/>
                    <a:ea typeface="宋体" panose="02010600030101010101" pitchFamily="2" charset="-122"/>
                  </a:rPr>
                  <a:t>先查表得 </a:t>
                </a:r>
                <a14:m>
                  <m:oMath xmlns:m="http://schemas.openxmlformats.org/officeDocument/2006/math">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𝑭</m:t>
                        </m:r>
                      </m:e>
                      <m:sub>
                        <m:r>
                          <a:rPr lang="en-US" altLang="zh-CN" sz="2800" b="1" i="1">
                            <a:latin typeface="Cambria Math" panose="02040503050406030204" pitchFamily="18" charset="0"/>
                          </a:rPr>
                          <m:t>𝟎</m:t>
                        </m:r>
                        <m:r>
                          <a:rPr lang="en-US" altLang="zh-CN" sz="2800" b="1" i="1">
                            <a:latin typeface="Cambria Math" panose="02040503050406030204" pitchFamily="18" charset="0"/>
                          </a:rPr>
                          <m:t>.</m:t>
                        </m:r>
                        <m:r>
                          <a:rPr lang="en-US" altLang="zh-CN" sz="2800" b="1" i="1">
                            <a:latin typeface="Cambria Math" panose="02040503050406030204" pitchFamily="18" charset="0"/>
                          </a:rPr>
                          <m:t>𝟎𝟓</m:t>
                        </m:r>
                      </m:sub>
                    </m:sSub>
                    <m:d>
                      <m:dPr>
                        <m:ctrlPr>
                          <a:rPr lang="zh-CN" altLang="zh-CN" sz="2800" b="1" i="1">
                            <a:latin typeface="Cambria Math" panose="02040503050406030204" pitchFamily="18" charset="0"/>
                          </a:rPr>
                        </m:ctrlPr>
                      </m:dPr>
                      <m:e>
                        <m:r>
                          <a:rPr lang="en-US" altLang="zh-CN" sz="2800" b="1" i="1">
                            <a:latin typeface="Cambria Math" panose="02040503050406030204" pitchFamily="18" charset="0"/>
                          </a:rPr>
                          <m:t>𝟐𝟎</m:t>
                        </m:r>
                        <m:r>
                          <a:rPr lang="en-US" altLang="zh-CN" sz="2800" b="1" i="1">
                            <a:latin typeface="Cambria Math" panose="02040503050406030204" pitchFamily="18" charset="0"/>
                          </a:rPr>
                          <m:t>,</m:t>
                        </m:r>
                        <m:r>
                          <a:rPr lang="en-US" altLang="zh-CN" sz="2800" b="1" i="1">
                            <a:latin typeface="Cambria Math" panose="02040503050406030204" pitchFamily="18" charset="0"/>
                          </a:rPr>
                          <m:t>𝟏𝟓</m:t>
                        </m:r>
                      </m:e>
                    </m:d>
                    <m:r>
                      <a:rPr lang="en-US" altLang="zh-CN" sz="2800" b="1" i="1">
                        <a:latin typeface="Cambria Math" panose="02040503050406030204" pitchFamily="18" charset="0"/>
                      </a:rPr>
                      <m:t>=</m:t>
                    </m:r>
                    <m:r>
                      <a:rPr lang="en-US" altLang="zh-CN" sz="2800" b="1" i="1">
                        <a:latin typeface="Cambria Math" panose="02040503050406030204" pitchFamily="18" charset="0"/>
                      </a:rPr>
                      <m:t>𝟐</m:t>
                    </m:r>
                    <m:r>
                      <a:rPr lang="en-US" altLang="zh-CN" sz="2800" b="1" i="1">
                        <a:latin typeface="Cambria Math" panose="02040503050406030204" pitchFamily="18" charset="0"/>
                      </a:rPr>
                      <m:t>.</m:t>
                    </m:r>
                    <m:r>
                      <a:rPr lang="en-US" altLang="zh-CN" sz="2800" b="1" i="1">
                        <a:latin typeface="Cambria Math" panose="02040503050406030204" pitchFamily="18" charset="0"/>
                      </a:rPr>
                      <m:t>𝟑𝟐𝟖</m:t>
                    </m:r>
                    <m:r>
                      <a:rPr lang="en-US" altLang="zh-CN" sz="2800" b="1" i="1">
                        <a:latin typeface="Cambria Math" panose="02040503050406030204" pitchFamily="18" charset="0"/>
                      </a:rPr>
                      <m:t> </m:t>
                    </m:r>
                  </m:oMath>
                </a14:m>
                <a:r>
                  <a:rPr lang="zh-CN" altLang="en-US" sz="2800" dirty="0">
                    <a:latin typeface="宋体" panose="02010600030101010101" pitchFamily="2" charset="-122"/>
                    <a:ea typeface="宋体" panose="02010600030101010101" pitchFamily="2" charset="-122"/>
                  </a:rPr>
                  <a:t>，然后根据公式</a:t>
                </a:r>
                <a:endParaRPr lang="en-US" altLang="zh-CN" sz="2800" dirty="0">
                  <a:latin typeface="宋体" panose="02010600030101010101" pitchFamily="2" charset="-122"/>
                  <a:ea typeface="宋体" panose="02010600030101010101" pitchFamily="2" charset="-122"/>
                </a:endParaRPr>
              </a:p>
              <a:p>
                <a:pPr algn="ctr">
                  <a:lnSpc>
                    <a:spcPct val="110000"/>
                  </a:lnSpc>
                  <a:spcBef>
                    <a:spcPts val="1200"/>
                  </a:spcBef>
                </a:pPr>
                <a14:m>
                  <m:oMathPara xmlns:m="http://schemas.openxmlformats.org/officeDocument/2006/math">
                    <m:oMathParaPr>
                      <m:jc m:val="centerGroup"/>
                    </m:oMathParaPr>
                    <m:oMath xmlns:m="http://schemas.openxmlformats.org/officeDocument/2006/math">
                      <m:sSub>
                        <m:sSubPr>
                          <m:ctrlPr>
                            <a:rPr lang="zh-CN" altLang="zh-CN" sz="2800" i="1">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𝐹</m:t>
                          </m:r>
                        </m:e>
                        <m:sub>
                          <m:r>
                            <a:rPr lang="en-US" altLang="zh-CN" sz="2800" i="1">
                              <a:solidFill>
                                <a:srgbClr val="C00000"/>
                              </a:solidFill>
                              <a:latin typeface="Cambria Math" panose="02040503050406030204" pitchFamily="18" charset="0"/>
                            </a:rPr>
                            <m:t>1−</m:t>
                          </m:r>
                          <m:r>
                            <a:rPr lang="en-US" altLang="zh-CN" sz="2800" i="1">
                              <a:solidFill>
                                <a:srgbClr val="C00000"/>
                              </a:solidFill>
                              <a:latin typeface="Cambria Math" panose="02040503050406030204" pitchFamily="18" charset="0"/>
                            </a:rPr>
                            <m:t>𝛼</m:t>
                          </m:r>
                        </m:sub>
                      </m:sSub>
                      <m:d>
                        <m:dPr>
                          <m:ctrlPr>
                            <a:rPr lang="zh-CN" altLang="zh-CN" sz="2800" i="1">
                              <a:solidFill>
                                <a:srgbClr val="C00000"/>
                              </a:solidFill>
                              <a:latin typeface="Cambria Math" panose="02040503050406030204" pitchFamily="18" charset="0"/>
                            </a:rPr>
                          </m:ctrlPr>
                        </m:dPr>
                        <m:e>
                          <m:sSub>
                            <m:sSubPr>
                              <m:ctrlPr>
                                <a:rPr lang="zh-CN" altLang="zh-CN" sz="2800" i="1">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𝑛</m:t>
                              </m:r>
                            </m:e>
                            <m:sub>
                              <m:r>
                                <a:rPr lang="en-US" altLang="zh-CN" sz="2800" i="1">
                                  <a:solidFill>
                                    <a:srgbClr val="C00000"/>
                                  </a:solidFill>
                                  <a:latin typeface="Cambria Math" panose="02040503050406030204" pitchFamily="18" charset="0"/>
                                </a:rPr>
                                <m:t>1</m:t>
                              </m:r>
                            </m:sub>
                          </m:sSub>
                          <m:r>
                            <a:rPr lang="en-US" altLang="zh-CN" sz="2800" i="1">
                              <a:solidFill>
                                <a:srgbClr val="C00000"/>
                              </a:solidFill>
                              <a:latin typeface="Cambria Math" panose="02040503050406030204" pitchFamily="18" charset="0"/>
                            </a:rPr>
                            <m:t>,</m:t>
                          </m:r>
                          <m:sSub>
                            <m:sSubPr>
                              <m:ctrlPr>
                                <a:rPr lang="zh-CN" altLang="zh-CN" sz="2800" i="1">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𝑛</m:t>
                              </m:r>
                            </m:e>
                            <m:sub>
                              <m:r>
                                <a:rPr lang="en-US" altLang="zh-CN" sz="2800" i="1">
                                  <a:solidFill>
                                    <a:srgbClr val="C00000"/>
                                  </a:solidFill>
                                  <a:latin typeface="Cambria Math" panose="02040503050406030204" pitchFamily="18" charset="0"/>
                                </a:rPr>
                                <m:t>2</m:t>
                              </m:r>
                            </m:sub>
                          </m:sSub>
                        </m:e>
                      </m:d>
                      <m:r>
                        <a:rPr lang="en-US" altLang="zh-CN" sz="2800" i="1">
                          <a:solidFill>
                            <a:srgbClr val="C00000"/>
                          </a:solidFill>
                          <a:latin typeface="Cambria Math" panose="02040503050406030204" pitchFamily="18" charset="0"/>
                        </a:rPr>
                        <m:t>=</m:t>
                      </m:r>
                      <m:f>
                        <m:fPr>
                          <m:ctrlPr>
                            <a:rPr lang="zh-CN" altLang="zh-CN" sz="2800" i="1">
                              <a:solidFill>
                                <a:srgbClr val="C00000"/>
                              </a:solidFill>
                              <a:latin typeface="Cambria Math" panose="02040503050406030204" pitchFamily="18" charset="0"/>
                            </a:rPr>
                          </m:ctrlPr>
                        </m:fPr>
                        <m:num>
                          <m:r>
                            <a:rPr lang="en-US" altLang="zh-CN" sz="2800" i="1">
                              <a:solidFill>
                                <a:srgbClr val="C00000"/>
                              </a:solidFill>
                              <a:latin typeface="Cambria Math" panose="02040503050406030204" pitchFamily="18" charset="0"/>
                            </a:rPr>
                            <m:t>1</m:t>
                          </m:r>
                        </m:num>
                        <m:den>
                          <m:sSub>
                            <m:sSubPr>
                              <m:ctrlPr>
                                <a:rPr lang="zh-CN" altLang="zh-CN" sz="2800" i="1">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𝐹</m:t>
                              </m:r>
                            </m:e>
                            <m:sub>
                              <m:r>
                                <a:rPr lang="en-US" altLang="zh-CN" sz="2800" i="1">
                                  <a:solidFill>
                                    <a:srgbClr val="C00000"/>
                                  </a:solidFill>
                                  <a:latin typeface="Cambria Math" panose="02040503050406030204" pitchFamily="18" charset="0"/>
                                </a:rPr>
                                <m:t>𝛼</m:t>
                              </m:r>
                            </m:sub>
                          </m:sSub>
                          <m:d>
                            <m:dPr>
                              <m:ctrlPr>
                                <a:rPr lang="zh-CN" altLang="zh-CN" sz="2800" i="1">
                                  <a:solidFill>
                                    <a:srgbClr val="C00000"/>
                                  </a:solidFill>
                                  <a:latin typeface="Cambria Math" panose="02040503050406030204" pitchFamily="18" charset="0"/>
                                </a:rPr>
                              </m:ctrlPr>
                            </m:dPr>
                            <m:e>
                              <m:sSub>
                                <m:sSubPr>
                                  <m:ctrlPr>
                                    <a:rPr lang="zh-CN" altLang="zh-CN" sz="2800" i="1">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𝑛</m:t>
                                  </m:r>
                                </m:e>
                                <m:sub>
                                  <m:r>
                                    <a:rPr lang="en-US" altLang="zh-CN" sz="2800" i="1">
                                      <a:solidFill>
                                        <a:srgbClr val="C00000"/>
                                      </a:solidFill>
                                      <a:latin typeface="Cambria Math" panose="02040503050406030204" pitchFamily="18" charset="0"/>
                                    </a:rPr>
                                    <m:t>2</m:t>
                                  </m:r>
                                </m:sub>
                              </m:sSub>
                              <m:r>
                                <a:rPr lang="en-US" altLang="zh-CN" sz="2800" i="1">
                                  <a:solidFill>
                                    <a:srgbClr val="C00000"/>
                                  </a:solidFill>
                                  <a:latin typeface="Cambria Math" panose="02040503050406030204" pitchFamily="18" charset="0"/>
                                </a:rPr>
                                <m:t>,</m:t>
                              </m:r>
                              <m:sSub>
                                <m:sSubPr>
                                  <m:ctrlPr>
                                    <a:rPr lang="zh-CN" altLang="zh-CN" sz="2800" i="1">
                                      <a:solidFill>
                                        <a:srgbClr val="C00000"/>
                                      </a:solidFill>
                                      <a:latin typeface="Cambria Math" panose="02040503050406030204" pitchFamily="18" charset="0"/>
                                    </a:rPr>
                                  </m:ctrlPr>
                                </m:sSubPr>
                                <m:e>
                                  <m:r>
                                    <a:rPr lang="en-US" altLang="zh-CN" sz="2800" i="1">
                                      <a:solidFill>
                                        <a:srgbClr val="C00000"/>
                                      </a:solidFill>
                                      <a:latin typeface="Cambria Math" panose="02040503050406030204" pitchFamily="18" charset="0"/>
                                    </a:rPr>
                                    <m:t>𝑛</m:t>
                                  </m:r>
                                </m:e>
                                <m:sub>
                                  <m:r>
                                    <a:rPr lang="en-US" altLang="zh-CN" sz="2800" i="1">
                                      <a:solidFill>
                                        <a:srgbClr val="C00000"/>
                                      </a:solidFill>
                                      <a:latin typeface="Cambria Math" panose="02040503050406030204" pitchFamily="18" charset="0"/>
                                    </a:rPr>
                                    <m:t>1</m:t>
                                  </m:r>
                                </m:sub>
                              </m:sSub>
                            </m:e>
                          </m:d>
                        </m:den>
                      </m:f>
                    </m:oMath>
                  </m:oMathPara>
                </a14:m>
                <a:endParaRPr lang="en-US" altLang="zh-CN" sz="2800" dirty="0">
                  <a:latin typeface="宋体" panose="02010600030101010101" pitchFamily="2" charset="-122"/>
                  <a:ea typeface="宋体" panose="02010600030101010101" pitchFamily="2" charset="-122"/>
                </a:endParaRPr>
              </a:p>
              <a:p>
                <a:pPr>
                  <a:lnSpc>
                    <a:spcPct val="110000"/>
                  </a:lnSpc>
                  <a:spcBef>
                    <a:spcPts val="1200"/>
                  </a:spcBef>
                </a:pPr>
                <a:r>
                  <a:rPr lang="zh-CN" altLang="en-US" sz="2800" dirty="0">
                    <a:latin typeface="宋体" panose="02010600030101010101" pitchFamily="2" charset="-122"/>
                    <a:ea typeface="宋体" panose="02010600030101010101" pitchFamily="2" charset="-122"/>
                  </a:rPr>
                  <a:t>可得 </a:t>
                </a:r>
                <a14:m>
                  <m:oMath xmlns:m="http://schemas.openxmlformats.org/officeDocument/2006/math">
                    <m:sSub>
                      <m:sSubPr>
                        <m:ctrlPr>
                          <a:rPr lang="zh-CN" altLang="zh-CN" sz="3200" b="1" i="1">
                            <a:latin typeface="Cambria Math" panose="02040503050406030204" pitchFamily="18" charset="0"/>
                          </a:rPr>
                        </m:ctrlPr>
                      </m:sSubPr>
                      <m:e>
                        <m:r>
                          <a:rPr lang="en-US" altLang="zh-CN" sz="3200" b="1" i="1">
                            <a:latin typeface="Cambria Math" panose="02040503050406030204" pitchFamily="18" charset="0"/>
                          </a:rPr>
                          <m:t>𝑭</m:t>
                        </m:r>
                      </m:e>
                      <m:sub>
                        <m:r>
                          <a:rPr lang="en-US" altLang="zh-CN" sz="3200" b="1" i="1">
                            <a:latin typeface="Cambria Math" panose="02040503050406030204" pitchFamily="18" charset="0"/>
                          </a:rPr>
                          <m:t>𝟎</m:t>
                        </m:r>
                        <m:r>
                          <a:rPr lang="en-US" altLang="zh-CN" sz="3200" b="1">
                            <a:latin typeface="Cambria Math" panose="02040503050406030204" pitchFamily="18" charset="0"/>
                          </a:rPr>
                          <m:t>.</m:t>
                        </m:r>
                        <m:r>
                          <a:rPr lang="en-US" altLang="zh-CN" sz="3200" b="1" i="1">
                            <a:latin typeface="Cambria Math" panose="02040503050406030204" pitchFamily="18" charset="0"/>
                          </a:rPr>
                          <m:t>𝟗𝟓</m:t>
                        </m:r>
                      </m:sub>
                    </m:sSub>
                    <m:d>
                      <m:dPr>
                        <m:ctrlPr>
                          <a:rPr lang="zh-CN" altLang="zh-CN" sz="3200" b="1" i="1">
                            <a:latin typeface="Cambria Math" panose="02040503050406030204" pitchFamily="18" charset="0"/>
                          </a:rPr>
                        </m:ctrlPr>
                      </m:dPr>
                      <m:e>
                        <m:r>
                          <a:rPr lang="en-US" altLang="zh-CN" sz="3200" b="1" i="1">
                            <a:latin typeface="Cambria Math" panose="02040503050406030204" pitchFamily="18" charset="0"/>
                          </a:rPr>
                          <m:t>𝟏𝟓</m:t>
                        </m:r>
                        <m:r>
                          <a:rPr lang="en-US" altLang="zh-CN" sz="3200" b="1">
                            <a:latin typeface="Cambria Math" panose="02040503050406030204" pitchFamily="18" charset="0"/>
                          </a:rPr>
                          <m:t>,</m:t>
                        </m:r>
                        <m:r>
                          <a:rPr lang="en-US" altLang="zh-CN" sz="3200" b="1" i="1">
                            <a:latin typeface="Cambria Math" panose="02040503050406030204" pitchFamily="18" charset="0"/>
                          </a:rPr>
                          <m:t>𝟐𝟎</m:t>
                        </m:r>
                      </m:e>
                    </m:d>
                    <m:r>
                      <a:rPr lang="en-US" altLang="zh-CN" sz="3200" b="1">
                        <a:latin typeface="Cambria Math" panose="02040503050406030204" pitchFamily="18" charset="0"/>
                      </a:rPr>
                      <m:t>=</m:t>
                    </m:r>
                    <m:f>
                      <m:fPr>
                        <m:ctrlPr>
                          <a:rPr lang="zh-CN" altLang="zh-CN" sz="3200" b="1" i="1">
                            <a:latin typeface="Cambria Math" panose="02040503050406030204" pitchFamily="18" charset="0"/>
                          </a:rPr>
                        </m:ctrlPr>
                      </m:fPr>
                      <m:num>
                        <m:r>
                          <a:rPr lang="en-US" altLang="zh-CN" sz="3200" b="1" i="1">
                            <a:latin typeface="Cambria Math" panose="02040503050406030204" pitchFamily="18" charset="0"/>
                          </a:rPr>
                          <m:t>𝟏</m:t>
                        </m:r>
                      </m:num>
                      <m:den>
                        <m:r>
                          <a:rPr lang="en-US" altLang="zh-CN" sz="3200" b="1" i="1">
                            <a:latin typeface="Cambria Math" panose="02040503050406030204" pitchFamily="18" charset="0"/>
                          </a:rPr>
                          <m:t>𝟐</m:t>
                        </m:r>
                        <m:r>
                          <a:rPr lang="en-US" altLang="zh-CN" sz="3200" b="1">
                            <a:latin typeface="Cambria Math" panose="02040503050406030204" pitchFamily="18" charset="0"/>
                          </a:rPr>
                          <m:t>.</m:t>
                        </m:r>
                        <m:r>
                          <a:rPr lang="en-US" altLang="zh-CN" sz="3200" b="1" i="1">
                            <a:latin typeface="Cambria Math" panose="02040503050406030204" pitchFamily="18" charset="0"/>
                          </a:rPr>
                          <m:t>𝟑𝟐𝟖</m:t>
                        </m:r>
                      </m:den>
                    </m:f>
                    <m:r>
                      <a:rPr lang="en-US" altLang="zh-CN" sz="3200" b="1">
                        <a:latin typeface="Cambria Math" panose="02040503050406030204" pitchFamily="18" charset="0"/>
                      </a:rPr>
                      <m:t>=</m:t>
                    </m:r>
                    <m:r>
                      <a:rPr lang="en-US" altLang="zh-CN" sz="3200" b="1" i="1">
                        <a:latin typeface="Cambria Math" panose="02040503050406030204" pitchFamily="18" charset="0"/>
                      </a:rPr>
                      <m:t>𝟎</m:t>
                    </m:r>
                    <m:r>
                      <a:rPr lang="en-US" altLang="zh-CN" sz="3200" b="1">
                        <a:latin typeface="Cambria Math" panose="02040503050406030204" pitchFamily="18" charset="0"/>
                      </a:rPr>
                      <m:t>.</m:t>
                    </m:r>
                    <m:r>
                      <a:rPr lang="en-US" altLang="zh-CN" sz="3200" b="1" i="1">
                        <a:latin typeface="Cambria Math" panose="02040503050406030204" pitchFamily="18" charset="0"/>
                      </a:rPr>
                      <m:t>𝟒𝟐𝟗𝟔</m:t>
                    </m:r>
                  </m:oMath>
                </a14:m>
                <a:endParaRPr lang="zh-CN" altLang="zh-CN" sz="2800" b="1" dirty="0">
                  <a:latin typeface="宋体" panose="02010600030101010101" pitchFamily="2" charset="-122"/>
                  <a:ea typeface="宋体" panose="02010600030101010101" pitchFamily="2" charset="-122"/>
                </a:endParaRPr>
              </a:p>
            </p:txBody>
          </p:sp>
        </mc:Choice>
        <mc:Fallback xmlns="">
          <p:sp>
            <p:nvSpPr>
              <p:cNvPr id="37" name="矩形 36"/>
              <p:cNvSpPr>
                <a:spLocks noRot="1" noChangeAspect="1" noMove="1" noResize="1" noEditPoints="1" noAdjustHandles="1" noChangeArrowheads="1" noChangeShapeType="1" noTextEdit="1"/>
              </p:cNvSpPr>
              <p:nvPr/>
            </p:nvSpPr>
            <p:spPr>
              <a:xfrm>
                <a:off x="1338614" y="3070540"/>
                <a:ext cx="7960895" cy="3087192"/>
              </a:xfrm>
              <a:prstGeom prst="rect">
                <a:avLst/>
              </a:prstGeom>
              <a:blipFill>
                <a:blip r:embed="rId4"/>
                <a:stretch>
                  <a:fillRect l="-1608" t="-2569" r="-6049" b="-395"/>
                </a:stretch>
              </a:blipFill>
            </p:spPr>
            <p:txBody>
              <a:bodyPr/>
              <a:lstStyle/>
              <a:p>
                <a:r>
                  <a:rPr lang="zh-CN" altLang="en-US">
                    <a:noFill/>
                  </a:rPr>
                  <a:t> </a:t>
                </a:r>
              </a:p>
            </p:txBody>
          </p:sp>
        </mc:Fallback>
      </mc:AlternateContent>
      <p:sp>
        <p:nvSpPr>
          <p:cNvPr id="38" name="标题 1">
            <a:extLst>
              <a:ext uri="{FF2B5EF4-FFF2-40B4-BE49-F238E27FC236}">
                <a16:creationId xmlns:a16="http://schemas.microsoft.com/office/drawing/2014/main" id="{402D8833-2D40-28E8-9D47-0322C573E00A}"/>
              </a:ext>
            </a:extLst>
          </p:cNvPr>
          <p:cNvSpPr txBox="1">
            <a:spLocks/>
          </p:cNvSpPr>
          <p:nvPr/>
        </p:nvSpPr>
        <p:spPr>
          <a:xfrm>
            <a:off x="1997244" y="203649"/>
            <a:ext cx="7181047"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i="1" kern="0" dirty="0">
                <a:solidFill>
                  <a:srgbClr val="0070C0"/>
                </a:solidFill>
                <a:latin typeface="黑体" panose="02010609060101010101" pitchFamily="49" charset="-122"/>
                <a:ea typeface="黑体" panose="02010609060101010101" pitchFamily="49" charset="-122"/>
              </a:rPr>
              <a:t>F </a:t>
            </a:r>
            <a:r>
              <a:rPr lang="zh-CN" altLang="en-US" dirty="0">
                <a:solidFill>
                  <a:srgbClr val="0070C0"/>
                </a:solidFill>
                <a:effectLst/>
                <a:latin typeface="黑体" panose="02010609060101010101" pitchFamily="49" charset="-122"/>
                <a:ea typeface="黑体" panose="02010609060101010101" pitchFamily="49" charset="-122"/>
                <a:sym typeface="+mn-ea"/>
              </a:rPr>
              <a:t>分布的分位数</a:t>
            </a:r>
            <a:endParaRPr lang="zh-CN" altLang="en-US" dirty="0">
              <a:solidFill>
                <a:srgbClr val="0070C0"/>
              </a:solidFill>
              <a:latin typeface="黑体" panose="02010609060101010101" pitchFamily="49" charset="-122"/>
              <a:ea typeface="黑体" panose="02010609060101010101"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85" name="Rectangle 9"/>
          <p:cNvSpPr>
            <a:spLocks noChangeArrowheads="1"/>
          </p:cNvSpPr>
          <p:nvPr/>
        </p:nvSpPr>
        <p:spPr bwMode="auto">
          <a:xfrm>
            <a:off x="998620" y="1191886"/>
            <a:ext cx="951520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a:lnSpc>
                <a:spcPct val="90000"/>
              </a:lnSpc>
              <a:buClr>
                <a:schemeClr val="hlink"/>
              </a:buClr>
              <a:buSzTx/>
              <a:buNone/>
            </a:pPr>
            <a:r>
              <a:rPr lang="en-US" altLang="zh-CN" sz="2800" dirty="0">
                <a:solidFill>
                  <a:schemeClr val="tx1"/>
                </a:solidFill>
                <a:latin typeface="Arial" panose="020B0604020202020204" pitchFamily="34" charset="0"/>
              </a:rPr>
              <a:t>F</a:t>
            </a:r>
            <a:r>
              <a:rPr lang="zh-CN" altLang="en-US" sz="2800" dirty="0">
                <a:solidFill>
                  <a:schemeClr val="tx1"/>
                </a:solidFill>
                <a:latin typeface="Arial" panose="020B0604020202020204" pitchFamily="34" charset="0"/>
              </a:rPr>
              <a:t>分位点左尾、右尾的分位数，函数分别为</a:t>
            </a:r>
            <a:r>
              <a:rPr lang="en-US" altLang="zh-CN" sz="2800" dirty="0">
                <a:solidFill>
                  <a:srgbClr val="0000FF"/>
                </a:solidFill>
                <a:latin typeface="Arial" panose="020B0604020202020204" pitchFamily="34" charset="0"/>
              </a:rPr>
              <a:t>F.INV</a:t>
            </a:r>
            <a:r>
              <a:rPr lang="zh-CN" altLang="en-US" sz="2800" dirty="0">
                <a:solidFill>
                  <a:srgbClr val="0000FF"/>
                </a:solidFill>
                <a:latin typeface="Arial" panose="020B0604020202020204" pitchFamily="34" charset="0"/>
              </a:rPr>
              <a:t>，</a:t>
            </a:r>
            <a:r>
              <a:rPr lang="en-US" altLang="zh-CN" sz="2800" dirty="0">
                <a:solidFill>
                  <a:srgbClr val="0000FF"/>
                </a:solidFill>
                <a:latin typeface="Arial" panose="020B0604020202020204" pitchFamily="34" charset="0"/>
              </a:rPr>
              <a:t>F.INV.RT</a:t>
            </a:r>
            <a:endParaRPr lang="zh-CN" altLang="en-US" sz="2800" b="0" dirty="0">
              <a:solidFill>
                <a:schemeClr val="tx2"/>
              </a:solidFill>
              <a:latin typeface="Arial" panose="020B0604020202020204" pitchFamily="34" charset="0"/>
            </a:endParaRPr>
          </a:p>
        </p:txBody>
      </p:sp>
      <p:sp>
        <p:nvSpPr>
          <p:cNvPr id="82951" name="Rectangle 12"/>
          <p:cNvSpPr>
            <a:spLocks noGrp="1" noChangeArrowheads="1"/>
          </p:cNvSpPr>
          <p:nvPr>
            <p:ph type="title" idx="4294967295"/>
          </p:nvPr>
        </p:nvSpPr>
        <p:spPr>
          <a:xfrm>
            <a:off x="1809750" y="335757"/>
            <a:ext cx="7772400" cy="463550"/>
          </a:xfrm>
        </p:spPr>
        <p:txBody>
          <a:bodyPr>
            <a:noAutofit/>
          </a:bodyPr>
          <a:lstStyle/>
          <a:p>
            <a:r>
              <a:rPr lang="zh-CN" altLang="en-US" b="1" dirty="0">
                <a:solidFill>
                  <a:srgbClr val="0070C0"/>
                </a:solidFill>
                <a:latin typeface="+mn-ea"/>
                <a:ea typeface="+mn-ea"/>
              </a:rPr>
              <a:t>利用</a:t>
            </a:r>
            <a:r>
              <a:rPr lang="en-US" altLang="zh-CN" b="1" dirty="0">
                <a:solidFill>
                  <a:srgbClr val="0070C0"/>
                </a:solidFill>
                <a:latin typeface="+mn-ea"/>
                <a:ea typeface="+mn-ea"/>
              </a:rPr>
              <a:t>EXCEL</a:t>
            </a:r>
            <a:r>
              <a:rPr lang="zh-CN" altLang="en-US" b="1" dirty="0">
                <a:solidFill>
                  <a:srgbClr val="0070C0"/>
                </a:solidFill>
                <a:latin typeface="+mn-ea"/>
                <a:ea typeface="+mn-ea"/>
              </a:rPr>
              <a:t>得</a:t>
            </a:r>
            <a:r>
              <a:rPr lang="en-US" altLang="zh-CN" b="1" dirty="0">
                <a:solidFill>
                  <a:srgbClr val="0070C0"/>
                </a:solidFill>
                <a:latin typeface="+mn-ea"/>
                <a:ea typeface="+mn-ea"/>
              </a:rPr>
              <a:t>F</a:t>
            </a:r>
            <a:r>
              <a:rPr lang="zh-CN" altLang="en-US" b="1" dirty="0">
                <a:solidFill>
                  <a:srgbClr val="0070C0"/>
                </a:solidFill>
                <a:latin typeface="+mn-ea"/>
                <a:ea typeface="+mn-ea"/>
              </a:rPr>
              <a:t>分布的分位点</a:t>
            </a:r>
          </a:p>
        </p:txBody>
      </p:sp>
      <p:sp>
        <p:nvSpPr>
          <p:cNvPr id="10" name="Rectangle 20"/>
          <p:cNvSpPr txBox="1">
            <a:spLocks noChangeArrowheads="1"/>
          </p:cNvSpPr>
          <p:nvPr/>
        </p:nvSpPr>
        <p:spPr bwMode="auto">
          <a:xfrm>
            <a:off x="1571624" y="5089358"/>
            <a:ext cx="8248651" cy="866613"/>
          </a:xfrm>
          <a:prstGeom prst="rect">
            <a:avLst/>
          </a:prstGeom>
          <a:noFill/>
          <a:ln w="9525">
            <a:noFill/>
            <a:miter lim="800000"/>
            <a:headEnd/>
            <a:tailEnd/>
          </a:ln>
        </p:spPr>
        <p:txBody>
          <a:bodyPr/>
          <a:lstStyle/>
          <a:p>
            <a:pPr marL="342900" indent="-342900">
              <a:buSzPct val="90000"/>
              <a:defRPr/>
            </a:pPr>
            <a:r>
              <a:rPr lang="zh-CN" altLang="en-US" sz="2800" b="1" kern="0" dirty="0">
                <a:solidFill>
                  <a:schemeClr val="tx2"/>
                </a:solidFill>
              </a:rPr>
              <a:t>反之，已知分位点查左尾、右尾概率，函数分别为</a:t>
            </a:r>
            <a:r>
              <a:rPr lang="en-US" altLang="zh-CN" sz="2800" b="1" kern="0" dirty="0">
                <a:solidFill>
                  <a:srgbClr val="CC00FF"/>
                </a:solidFill>
              </a:rPr>
              <a:t>F.DIST</a:t>
            </a:r>
            <a:r>
              <a:rPr lang="zh-CN" altLang="en-US" sz="2800" b="1" kern="0" dirty="0">
                <a:solidFill>
                  <a:srgbClr val="CC00FF"/>
                </a:solidFill>
              </a:rPr>
              <a:t>，</a:t>
            </a:r>
            <a:r>
              <a:rPr lang="en-US" altLang="zh-CN" sz="2800" b="1" kern="0" dirty="0">
                <a:solidFill>
                  <a:srgbClr val="CC00FF"/>
                </a:solidFill>
              </a:rPr>
              <a:t>F.DIST.RT</a:t>
            </a:r>
            <a:r>
              <a:rPr lang="zh-CN" altLang="en-US" sz="2800" b="1" kern="0" dirty="0">
                <a:solidFill>
                  <a:schemeClr val="tx2"/>
                </a:solidFill>
              </a:rPr>
              <a:t>。</a:t>
            </a:r>
          </a:p>
        </p:txBody>
      </p:sp>
      <p:pic>
        <p:nvPicPr>
          <p:cNvPr id="3" name="图片 2"/>
          <p:cNvPicPr>
            <a:picLocks noChangeAspect="1"/>
          </p:cNvPicPr>
          <p:nvPr/>
        </p:nvPicPr>
        <p:blipFill>
          <a:blip r:embed="rId7"/>
          <a:stretch>
            <a:fillRect/>
          </a:stretch>
        </p:blipFill>
        <p:spPr>
          <a:xfrm>
            <a:off x="1292743" y="1587796"/>
            <a:ext cx="4621337" cy="3501562"/>
          </a:xfrm>
          <a:prstGeom prst="rect">
            <a:avLst/>
          </a:prstGeom>
        </p:spPr>
      </p:pic>
      <p:pic>
        <p:nvPicPr>
          <p:cNvPr id="5" name="图片 4"/>
          <p:cNvPicPr>
            <a:picLocks noChangeAspect="1"/>
          </p:cNvPicPr>
          <p:nvPr/>
        </p:nvPicPr>
        <p:blipFill>
          <a:blip r:embed="rId8"/>
          <a:stretch>
            <a:fillRect/>
          </a:stretch>
        </p:blipFill>
        <p:spPr>
          <a:xfrm>
            <a:off x="6061140" y="1672017"/>
            <a:ext cx="4305624" cy="3417341"/>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7158869" y="393146"/>
                <a:ext cx="3354957" cy="664797"/>
              </a:xfrm>
              <a:prstGeom prst="rect">
                <a:avLst/>
              </a:prstGeom>
            </p:spPr>
            <p:txBody>
              <a:bodyPr wrap="none">
                <a:spAutoFit/>
              </a:bodyPr>
              <a:lstStyle/>
              <a:p>
                <a:pPr>
                  <a:lnSpc>
                    <a:spcPct val="110000"/>
                  </a:lnSpc>
                  <a:spcBef>
                    <a:spcPts val="1200"/>
                  </a:spcBef>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b="0" i="1">
                              <a:latin typeface="Cambria Math" panose="02040503050406030204" pitchFamily="18" charset="0"/>
                            </a:rPr>
                            <m:t>𝐹</m:t>
                          </m:r>
                        </m:e>
                        <m:sub>
                          <m:r>
                            <a:rPr lang="en-US" altLang="zh-CN" b="0" i="1">
                              <a:latin typeface="Cambria Math" panose="02040503050406030204" pitchFamily="18" charset="0"/>
                            </a:rPr>
                            <m:t>0</m:t>
                          </m:r>
                          <m:r>
                            <a:rPr lang="en-US" altLang="zh-CN" b="0">
                              <a:latin typeface="Cambria Math" panose="02040503050406030204" pitchFamily="18" charset="0"/>
                            </a:rPr>
                            <m:t>.</m:t>
                          </m:r>
                          <m:r>
                            <a:rPr lang="en-US" altLang="zh-CN" b="0" i="1">
                              <a:latin typeface="Cambria Math" panose="02040503050406030204" pitchFamily="18" charset="0"/>
                            </a:rPr>
                            <m:t>95</m:t>
                          </m:r>
                        </m:sub>
                      </m:sSub>
                      <m:d>
                        <m:dPr>
                          <m:ctrlPr>
                            <a:rPr lang="zh-CN" altLang="zh-CN" i="1">
                              <a:latin typeface="Cambria Math" panose="02040503050406030204" pitchFamily="18" charset="0"/>
                            </a:rPr>
                          </m:ctrlPr>
                        </m:dPr>
                        <m:e>
                          <m:r>
                            <a:rPr lang="en-US" altLang="zh-CN" b="0" i="1">
                              <a:latin typeface="Cambria Math" panose="02040503050406030204" pitchFamily="18" charset="0"/>
                            </a:rPr>
                            <m:t>15</m:t>
                          </m:r>
                          <m:r>
                            <a:rPr lang="en-US" altLang="zh-CN" b="0">
                              <a:latin typeface="Cambria Math" panose="02040503050406030204" pitchFamily="18" charset="0"/>
                            </a:rPr>
                            <m:t>,</m:t>
                          </m:r>
                          <m:r>
                            <a:rPr lang="en-US" altLang="zh-CN" b="0" i="1">
                              <a:latin typeface="Cambria Math" panose="02040503050406030204" pitchFamily="18" charset="0"/>
                            </a:rPr>
                            <m:t>20</m:t>
                          </m:r>
                        </m:e>
                      </m:d>
                      <m:r>
                        <a:rPr lang="en-US" altLang="zh-CN" b="0">
                          <a:latin typeface="Cambria Math" panose="02040503050406030204" pitchFamily="18" charset="0"/>
                        </a:rPr>
                        <m:t>=</m:t>
                      </m:r>
                      <m:f>
                        <m:fPr>
                          <m:ctrlPr>
                            <a:rPr lang="zh-CN" altLang="zh-CN" i="1">
                              <a:latin typeface="Cambria Math" panose="02040503050406030204" pitchFamily="18" charset="0"/>
                            </a:rPr>
                          </m:ctrlPr>
                        </m:fPr>
                        <m:num>
                          <m:r>
                            <a:rPr lang="en-US" altLang="zh-CN" b="0" i="1">
                              <a:latin typeface="Cambria Math" panose="02040503050406030204" pitchFamily="18" charset="0"/>
                            </a:rPr>
                            <m:t>1</m:t>
                          </m:r>
                        </m:num>
                        <m:den>
                          <m:r>
                            <a:rPr lang="en-US" altLang="zh-CN" b="0" i="1">
                              <a:latin typeface="Cambria Math" panose="02040503050406030204" pitchFamily="18" charset="0"/>
                            </a:rPr>
                            <m:t>2</m:t>
                          </m:r>
                          <m:r>
                            <a:rPr lang="en-US" altLang="zh-CN" b="0">
                              <a:latin typeface="Cambria Math" panose="02040503050406030204" pitchFamily="18" charset="0"/>
                            </a:rPr>
                            <m:t>.</m:t>
                          </m:r>
                          <m:r>
                            <a:rPr lang="en-US" altLang="zh-CN" b="0" i="1">
                              <a:latin typeface="Cambria Math" panose="02040503050406030204" pitchFamily="18" charset="0"/>
                            </a:rPr>
                            <m:t>328</m:t>
                          </m:r>
                        </m:den>
                      </m:f>
                      <m:r>
                        <a:rPr lang="en-US" altLang="zh-CN" b="0">
                          <a:latin typeface="Cambria Math" panose="02040503050406030204" pitchFamily="18" charset="0"/>
                        </a:rPr>
                        <m:t>=</m:t>
                      </m:r>
                      <m:r>
                        <a:rPr lang="en-US" altLang="zh-CN" b="0" i="1">
                          <a:latin typeface="Cambria Math" panose="02040503050406030204" pitchFamily="18" charset="0"/>
                        </a:rPr>
                        <m:t>0</m:t>
                      </m:r>
                      <m:r>
                        <a:rPr lang="en-US" altLang="zh-CN" b="0">
                          <a:latin typeface="Cambria Math" panose="02040503050406030204" pitchFamily="18" charset="0"/>
                        </a:rPr>
                        <m:t>.</m:t>
                      </m:r>
                      <m:r>
                        <a:rPr lang="en-US" altLang="zh-CN" b="0" i="1">
                          <a:latin typeface="Cambria Math" panose="02040503050406030204" pitchFamily="18" charset="0"/>
                        </a:rPr>
                        <m:t>4296</m:t>
                      </m:r>
                    </m:oMath>
                  </m:oMathPara>
                </a14:m>
                <a:endParaRPr lang="zh-CN" altLang="zh-CN" sz="1600" dirty="0">
                  <a:latin typeface="宋体" panose="02010600030101010101" pitchFamily="2" charset="-122"/>
                  <a:ea typeface="宋体" panose="02010600030101010101" pitchFamily="2"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7158869" y="393146"/>
                <a:ext cx="3354957" cy="664797"/>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26363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3538" name="Object 2"/>
          <p:cNvGraphicFramePr>
            <a:graphicFrameLocks noChangeAspect="1"/>
          </p:cNvGraphicFramePr>
          <p:nvPr/>
        </p:nvGraphicFramePr>
        <p:xfrm>
          <a:off x="3071813" y="1484313"/>
          <a:ext cx="4360862" cy="431800"/>
        </p:xfrm>
        <a:graphic>
          <a:graphicData uri="http://schemas.openxmlformats.org/presentationml/2006/ole">
            <mc:AlternateContent xmlns:mc="http://schemas.openxmlformats.org/markup-compatibility/2006">
              <mc:Choice xmlns:v="urn:schemas-microsoft-com:vml" Requires="v">
                <p:oleObj name="Equation" r:id="rId2" imgW="4368800" imgH="431800" progId="Equation.DSMT4">
                  <p:embed/>
                </p:oleObj>
              </mc:Choice>
              <mc:Fallback>
                <p:oleObj name="Equation" r:id="rId2" imgW="4368800" imgH="431800" progId="Equation.DSMT4">
                  <p:embed/>
                  <p:pic>
                    <p:nvPicPr>
                      <p:cNvPr id="83353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1813" y="1484313"/>
                        <a:ext cx="43608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3539" name="Object 3"/>
          <p:cNvGraphicFramePr>
            <a:graphicFrameLocks noChangeAspect="1"/>
          </p:cNvGraphicFramePr>
          <p:nvPr/>
        </p:nvGraphicFramePr>
        <p:xfrm>
          <a:off x="3216276" y="2060575"/>
          <a:ext cx="4462463" cy="920750"/>
        </p:xfrm>
        <a:graphic>
          <a:graphicData uri="http://schemas.openxmlformats.org/presentationml/2006/ole">
            <mc:AlternateContent xmlns:mc="http://schemas.openxmlformats.org/markup-compatibility/2006">
              <mc:Choice xmlns:v="urn:schemas-microsoft-com:vml" Requires="v">
                <p:oleObj name="Equation" r:id="rId4" imgW="4470400" imgH="927100" progId="Equation.DSMT4">
                  <p:embed/>
                </p:oleObj>
              </mc:Choice>
              <mc:Fallback>
                <p:oleObj name="Equation" r:id="rId4" imgW="4470400" imgH="927100" progId="Equation.DSMT4">
                  <p:embed/>
                  <p:pic>
                    <p:nvPicPr>
                      <p:cNvPr id="83353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6276" y="2060575"/>
                        <a:ext cx="4462463"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3540" name="Object 4"/>
          <p:cNvGraphicFramePr>
            <a:graphicFrameLocks noChangeAspect="1"/>
          </p:cNvGraphicFramePr>
          <p:nvPr/>
        </p:nvGraphicFramePr>
        <p:xfrm>
          <a:off x="3287714" y="3141663"/>
          <a:ext cx="4416425" cy="920750"/>
        </p:xfrm>
        <a:graphic>
          <a:graphicData uri="http://schemas.openxmlformats.org/presentationml/2006/ole">
            <mc:AlternateContent xmlns:mc="http://schemas.openxmlformats.org/markup-compatibility/2006">
              <mc:Choice xmlns:v="urn:schemas-microsoft-com:vml" Requires="v">
                <p:oleObj name="Equation" r:id="rId6" imgW="4406900" imgH="927100" progId="Equation.DSMT4">
                  <p:embed/>
                </p:oleObj>
              </mc:Choice>
              <mc:Fallback>
                <p:oleObj name="Equation" r:id="rId6" imgW="4406900" imgH="927100" progId="Equation.DSMT4">
                  <p:embed/>
                  <p:pic>
                    <p:nvPicPr>
                      <p:cNvPr id="83354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7714" y="3141663"/>
                        <a:ext cx="4416425"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3541" name="Object 5"/>
          <p:cNvGraphicFramePr>
            <a:graphicFrameLocks noChangeAspect="1"/>
          </p:cNvGraphicFramePr>
          <p:nvPr/>
        </p:nvGraphicFramePr>
        <p:xfrm>
          <a:off x="3432176" y="4292601"/>
          <a:ext cx="3979863" cy="919163"/>
        </p:xfrm>
        <a:graphic>
          <a:graphicData uri="http://schemas.openxmlformats.org/presentationml/2006/ole">
            <mc:AlternateContent xmlns:mc="http://schemas.openxmlformats.org/markup-compatibility/2006">
              <mc:Choice xmlns:v="urn:schemas-microsoft-com:vml" Requires="v">
                <p:oleObj name="Equation" r:id="rId8" imgW="3987800" imgH="927100" progId="Equation.DSMT4">
                  <p:embed/>
                </p:oleObj>
              </mc:Choice>
              <mc:Fallback>
                <p:oleObj name="Equation" r:id="rId8" imgW="3987800" imgH="927100" progId="Equation.DSMT4">
                  <p:embed/>
                  <p:pic>
                    <p:nvPicPr>
                      <p:cNvPr id="83354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32176" y="4292601"/>
                        <a:ext cx="3979863"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4998" name="Rectangle 7"/>
          <p:cNvSpPr>
            <a:spLocks noChangeArrowheads="1"/>
          </p:cNvSpPr>
          <p:nvPr/>
        </p:nvSpPr>
        <p:spPr bwMode="auto">
          <a:xfrm>
            <a:off x="2208213" y="1268413"/>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10"/>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11"/>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2"/>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3"/>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4"/>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800" b="0">
                <a:solidFill>
                  <a:schemeClr val="tx1"/>
                </a:solidFill>
                <a:latin typeface="Times New Roman" panose="02020603050405020304" pitchFamily="18" charset="0"/>
                <a:cs typeface="Times New Roman" panose="02020603050405020304" pitchFamily="18" charset="0"/>
              </a:rPr>
              <a:t>因为</a:t>
            </a:r>
          </a:p>
        </p:txBody>
      </p:sp>
      <p:sp>
        <p:nvSpPr>
          <p:cNvPr id="833544" name="Rectangle 8"/>
          <p:cNvSpPr>
            <a:spLocks noChangeArrowheads="1"/>
          </p:cNvSpPr>
          <p:nvPr/>
        </p:nvSpPr>
        <p:spPr bwMode="auto">
          <a:xfrm>
            <a:off x="2351088" y="22050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10"/>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11"/>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2"/>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3"/>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4"/>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800" b="0">
                <a:solidFill>
                  <a:schemeClr val="tx1"/>
                </a:solidFill>
                <a:latin typeface="Times New Roman" panose="02020603050405020304" pitchFamily="18" charset="0"/>
                <a:cs typeface="Times New Roman" panose="02020603050405020304" pitchFamily="18" charset="0"/>
              </a:rPr>
              <a:t>则</a:t>
            </a:r>
          </a:p>
        </p:txBody>
      </p:sp>
      <p:sp>
        <p:nvSpPr>
          <p:cNvPr id="85000" name="Rectangle 9"/>
          <p:cNvSpPr>
            <a:spLocks noChangeArrowheads="1"/>
          </p:cNvSpPr>
          <p:nvPr/>
        </p:nvSpPr>
        <p:spPr bwMode="auto">
          <a:xfrm>
            <a:off x="1524000" y="4522789"/>
            <a:ext cx="215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10"/>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11"/>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2"/>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3"/>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4"/>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en-US" altLang="zh-CN" sz="1000" b="0">
                <a:solidFill>
                  <a:schemeClr val="tx1"/>
                </a:solidFill>
                <a:latin typeface="Times New Roman" panose="02020603050405020304" pitchFamily="18" charset="0"/>
                <a:cs typeface="Times New Roman" panose="02020603050405020304" pitchFamily="18" charset="0"/>
              </a:rPr>
              <a:t>.</a:t>
            </a:r>
            <a:endParaRPr kumimoji="1" lang="en-US" altLang="zh-CN" sz="2400" b="0">
              <a:solidFill>
                <a:schemeClr val="tx1"/>
              </a:solidFill>
              <a:latin typeface="Times New Roman" panose="02020603050405020304" pitchFamily="18" charset="0"/>
              <a:cs typeface="Times New Roman" panose="02020603050405020304" pitchFamily="18" charset="0"/>
            </a:endParaRPr>
          </a:p>
        </p:txBody>
      </p:sp>
      <p:graphicFrame>
        <p:nvGraphicFramePr>
          <p:cNvPr id="833546" name="Object 10"/>
          <p:cNvGraphicFramePr>
            <a:graphicFrameLocks noChangeAspect="1"/>
          </p:cNvGraphicFramePr>
          <p:nvPr/>
        </p:nvGraphicFramePr>
        <p:xfrm>
          <a:off x="3503613" y="5661025"/>
          <a:ext cx="3751262" cy="427038"/>
        </p:xfrm>
        <a:graphic>
          <a:graphicData uri="http://schemas.openxmlformats.org/presentationml/2006/ole">
            <mc:AlternateContent xmlns:mc="http://schemas.openxmlformats.org/markup-compatibility/2006">
              <mc:Choice xmlns:v="urn:schemas-microsoft-com:vml" Requires="v">
                <p:oleObj name="Equation" r:id="rId15" imgW="3759200" imgH="431800" progId="Equation.DSMT4">
                  <p:embed/>
                </p:oleObj>
              </mc:Choice>
              <mc:Fallback>
                <p:oleObj name="Equation" r:id="rId15" imgW="3759200" imgH="431800" progId="Equation.DSMT4">
                  <p:embed/>
                  <p:pic>
                    <p:nvPicPr>
                      <p:cNvPr id="833546"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03613" y="5661025"/>
                        <a:ext cx="37512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2" name="Object 11"/>
          <p:cNvGraphicFramePr>
            <a:graphicFrameLocks noChangeAspect="1"/>
          </p:cNvGraphicFramePr>
          <p:nvPr/>
        </p:nvGraphicFramePr>
        <p:xfrm>
          <a:off x="5375275" y="260351"/>
          <a:ext cx="4038600" cy="1285875"/>
        </p:xfrm>
        <a:graphic>
          <a:graphicData uri="http://schemas.openxmlformats.org/presentationml/2006/ole">
            <mc:AlternateContent xmlns:mc="http://schemas.openxmlformats.org/markup-compatibility/2006">
              <mc:Choice xmlns:v="urn:schemas-microsoft-com:vml" Requires="v">
                <p:oleObj name="公式" r:id="rId17" imgW="1305005" imgH="390667" progId="Equation.3">
                  <p:embed/>
                </p:oleObj>
              </mc:Choice>
              <mc:Fallback>
                <p:oleObj name="公式" r:id="rId17" imgW="1305005" imgH="390667" progId="Equation.3">
                  <p:embed/>
                  <p:pic>
                    <p:nvPicPr>
                      <p:cNvPr id="85002"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75275" y="260351"/>
                        <a:ext cx="40386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03" name="Rectangle 12"/>
          <p:cNvSpPr>
            <a:spLocks noGrp="1" noChangeArrowheads="1"/>
          </p:cNvSpPr>
          <p:nvPr>
            <p:ph type="title"/>
          </p:nvPr>
        </p:nvSpPr>
        <p:spPr>
          <a:xfrm>
            <a:off x="1739900" y="166290"/>
            <a:ext cx="8904286" cy="662782"/>
          </a:xfrm>
        </p:spPr>
        <p:txBody>
          <a:bodyPr>
            <a:normAutofit/>
          </a:bodyPr>
          <a:lstStyle/>
          <a:p>
            <a:pPr eaLnBrk="1" hangingPunct="1"/>
            <a:r>
              <a:rPr lang="en-US" altLang="zh-CN" sz="4000" dirty="0"/>
              <a:t>【</a:t>
            </a:r>
            <a:r>
              <a:rPr lang="zh-CN" altLang="en-US" sz="4000" dirty="0"/>
              <a:t>附</a:t>
            </a:r>
            <a:r>
              <a:rPr lang="en-US" altLang="zh-CN" sz="4000" dirty="0"/>
              <a:t>】</a:t>
            </a:r>
            <a:r>
              <a:rPr lang="zh-CN" altLang="en-US" sz="4000" dirty="0"/>
              <a:t>证</a:t>
            </a:r>
          </a:p>
        </p:txBody>
      </p:sp>
      <p:sp>
        <p:nvSpPr>
          <p:cNvPr id="833549" name="Rectangle 13"/>
          <p:cNvSpPr>
            <a:spLocks noChangeArrowheads="1"/>
          </p:cNvSpPr>
          <p:nvPr/>
        </p:nvSpPr>
        <p:spPr bwMode="auto">
          <a:xfrm>
            <a:off x="2351088" y="32845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10"/>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11"/>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2"/>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3"/>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4"/>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800" b="0">
                <a:solidFill>
                  <a:schemeClr val="tx1"/>
                </a:solidFill>
                <a:latin typeface="Times New Roman" panose="02020603050405020304" pitchFamily="18" charset="0"/>
                <a:cs typeface="Times New Roman" panose="02020603050405020304" pitchFamily="18" charset="0"/>
              </a:rPr>
              <a:t>即</a:t>
            </a:r>
          </a:p>
        </p:txBody>
      </p:sp>
      <p:sp>
        <p:nvSpPr>
          <p:cNvPr id="833550" name="Text Box 14"/>
          <p:cNvSpPr txBox="1">
            <a:spLocks noChangeArrowheads="1"/>
          </p:cNvSpPr>
          <p:nvPr/>
        </p:nvSpPr>
        <p:spPr bwMode="auto">
          <a:xfrm>
            <a:off x="8256589" y="5589588"/>
            <a:ext cx="172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SzPct val="90000"/>
              <a:buBlip>
                <a:blip r:embed="rId10"/>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11"/>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12"/>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13"/>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14"/>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14"/>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SzTx/>
              <a:buFontTx/>
              <a:buNone/>
            </a:pPr>
            <a:r>
              <a:rPr lang="zh-CN" altLang="en-US" sz="2400">
                <a:solidFill>
                  <a:srgbClr val="000000"/>
                </a:solidFill>
                <a:latin typeface="Arial" panose="020B0604020202020204" pitchFamily="34" charset="0"/>
              </a:rPr>
              <a:t>故命题得证</a:t>
            </a:r>
          </a:p>
        </p:txBody>
      </p:sp>
    </p:spTree>
    <p:extLst>
      <p:ext uri="{BB962C8B-B14F-4D97-AF65-F5344CB8AC3E}">
        <p14:creationId xmlns:p14="http://schemas.microsoft.com/office/powerpoint/2010/main" val="26394418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3538"/>
                                        </p:tgtEl>
                                        <p:attrNameLst>
                                          <p:attrName>style.visibility</p:attrName>
                                        </p:attrNameLst>
                                      </p:cBhvr>
                                      <p:to>
                                        <p:strVal val="visible"/>
                                      </p:to>
                                    </p:set>
                                    <p:animEffect transition="in" filter="blinds(horizontal)">
                                      <p:cBhvr>
                                        <p:cTn id="7" dur="500"/>
                                        <p:tgtEl>
                                          <p:spTgt spid="8335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33544"/>
                                        </p:tgtEl>
                                        <p:attrNameLst>
                                          <p:attrName>style.visibility</p:attrName>
                                        </p:attrNameLst>
                                      </p:cBhvr>
                                      <p:to>
                                        <p:strVal val="visible"/>
                                      </p:to>
                                    </p:set>
                                    <p:animEffect transition="in" filter="blinds(horizontal)">
                                      <p:cBhvr>
                                        <p:cTn id="12" dur="500"/>
                                        <p:tgtEl>
                                          <p:spTgt spid="833544"/>
                                        </p:tgtEl>
                                      </p:cBhvr>
                                    </p:animEffect>
                                  </p:childTnLst>
                                </p:cTn>
                              </p:par>
                              <p:par>
                                <p:cTn id="13" presetID="3" presetClass="entr" presetSubtype="10" fill="hold" nodeType="withEffect">
                                  <p:stCondLst>
                                    <p:cond delay="0"/>
                                  </p:stCondLst>
                                  <p:childTnLst>
                                    <p:set>
                                      <p:cBhvr>
                                        <p:cTn id="14" dur="1" fill="hold">
                                          <p:stCondLst>
                                            <p:cond delay="0"/>
                                          </p:stCondLst>
                                        </p:cTn>
                                        <p:tgtEl>
                                          <p:spTgt spid="833539"/>
                                        </p:tgtEl>
                                        <p:attrNameLst>
                                          <p:attrName>style.visibility</p:attrName>
                                        </p:attrNameLst>
                                      </p:cBhvr>
                                      <p:to>
                                        <p:strVal val="visible"/>
                                      </p:to>
                                    </p:set>
                                    <p:animEffect transition="in" filter="blinds(horizontal)">
                                      <p:cBhvr>
                                        <p:cTn id="15" dur="500"/>
                                        <p:tgtEl>
                                          <p:spTgt spid="83353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33549"/>
                                        </p:tgtEl>
                                        <p:attrNameLst>
                                          <p:attrName>style.visibility</p:attrName>
                                        </p:attrNameLst>
                                      </p:cBhvr>
                                      <p:to>
                                        <p:strVal val="visible"/>
                                      </p:to>
                                    </p:set>
                                    <p:animEffect transition="in" filter="blinds(horizontal)">
                                      <p:cBhvr>
                                        <p:cTn id="20" dur="500"/>
                                        <p:tgtEl>
                                          <p:spTgt spid="833549"/>
                                        </p:tgtEl>
                                      </p:cBhvr>
                                    </p:animEffect>
                                  </p:childTnLst>
                                </p:cTn>
                              </p:par>
                            </p:childTnLst>
                          </p:cTn>
                        </p:par>
                        <p:par>
                          <p:cTn id="21" fill="hold" nodeType="afterGroup">
                            <p:stCondLst>
                              <p:cond delay="500"/>
                            </p:stCondLst>
                            <p:childTnLst>
                              <p:par>
                                <p:cTn id="22" presetID="3" presetClass="entr" presetSubtype="10" fill="hold" nodeType="afterEffect">
                                  <p:stCondLst>
                                    <p:cond delay="0"/>
                                  </p:stCondLst>
                                  <p:childTnLst>
                                    <p:set>
                                      <p:cBhvr>
                                        <p:cTn id="23" dur="1" fill="hold">
                                          <p:stCondLst>
                                            <p:cond delay="0"/>
                                          </p:stCondLst>
                                        </p:cTn>
                                        <p:tgtEl>
                                          <p:spTgt spid="833540"/>
                                        </p:tgtEl>
                                        <p:attrNameLst>
                                          <p:attrName>style.visibility</p:attrName>
                                        </p:attrNameLst>
                                      </p:cBhvr>
                                      <p:to>
                                        <p:strVal val="visible"/>
                                      </p:to>
                                    </p:set>
                                    <p:animEffect transition="in" filter="blinds(horizontal)">
                                      <p:cBhvr>
                                        <p:cTn id="24" dur="500"/>
                                        <p:tgtEl>
                                          <p:spTgt spid="83354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833541"/>
                                        </p:tgtEl>
                                        <p:attrNameLst>
                                          <p:attrName>style.visibility</p:attrName>
                                        </p:attrNameLst>
                                      </p:cBhvr>
                                      <p:to>
                                        <p:strVal val="visible"/>
                                      </p:to>
                                    </p:set>
                                    <p:animEffect transition="in" filter="blinds(horizontal)">
                                      <p:cBhvr>
                                        <p:cTn id="29" dur="500"/>
                                        <p:tgtEl>
                                          <p:spTgt spid="83354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833546"/>
                                        </p:tgtEl>
                                        <p:attrNameLst>
                                          <p:attrName>style.visibility</p:attrName>
                                        </p:attrNameLst>
                                      </p:cBhvr>
                                      <p:to>
                                        <p:strVal val="visible"/>
                                      </p:to>
                                    </p:set>
                                    <p:animEffect transition="in" filter="blinds(horizontal)">
                                      <p:cBhvr>
                                        <p:cTn id="34" dur="500"/>
                                        <p:tgtEl>
                                          <p:spTgt spid="833546"/>
                                        </p:tgtEl>
                                      </p:cBhvr>
                                    </p:animEffect>
                                  </p:childTnLst>
                                </p:cTn>
                              </p:par>
                            </p:childTnLst>
                          </p:cTn>
                        </p:par>
                        <p:par>
                          <p:cTn id="35" fill="hold" nodeType="afterGroup">
                            <p:stCondLst>
                              <p:cond delay="500"/>
                            </p:stCondLst>
                            <p:childTnLst>
                              <p:par>
                                <p:cTn id="36" presetID="27" presetClass="entr" presetSubtype="0" fill="hold" grpId="0" nodeType="afterEffect">
                                  <p:stCondLst>
                                    <p:cond delay="0"/>
                                  </p:stCondLst>
                                  <p:iterate type="lt">
                                    <p:tmPct val="50000"/>
                                  </p:iterate>
                                  <p:childTnLst>
                                    <p:set>
                                      <p:cBhvr>
                                        <p:cTn id="37" dur="1" fill="hold">
                                          <p:stCondLst>
                                            <p:cond delay="0"/>
                                          </p:stCondLst>
                                        </p:cTn>
                                        <p:tgtEl>
                                          <p:spTgt spid="833550"/>
                                        </p:tgtEl>
                                        <p:attrNameLst>
                                          <p:attrName>style.visibility</p:attrName>
                                        </p:attrNameLst>
                                      </p:cBhvr>
                                      <p:to>
                                        <p:strVal val="visible"/>
                                      </p:to>
                                    </p:set>
                                    <p:anim calcmode="discrete" valueType="clr">
                                      <p:cBhvr override="childStyle">
                                        <p:cTn id="38" dur="2000"/>
                                        <p:tgtEl>
                                          <p:spTgt spid="833550"/>
                                        </p:tgtEl>
                                        <p:attrNameLst>
                                          <p:attrName>style.color</p:attrName>
                                        </p:attrNameLst>
                                      </p:cBhvr>
                                      <p:tavLst>
                                        <p:tav tm="0">
                                          <p:val>
                                            <p:clrVal>
                                              <a:schemeClr val="accent2"/>
                                            </p:clrVal>
                                          </p:val>
                                        </p:tav>
                                        <p:tav tm="50000">
                                          <p:val>
                                            <p:clrVal>
                                              <a:schemeClr val="hlink"/>
                                            </p:clrVal>
                                          </p:val>
                                        </p:tav>
                                      </p:tavLst>
                                    </p:anim>
                                    <p:anim calcmode="discrete" valueType="clr">
                                      <p:cBhvr>
                                        <p:cTn id="39" dur="2000"/>
                                        <p:tgtEl>
                                          <p:spTgt spid="833550"/>
                                        </p:tgtEl>
                                        <p:attrNameLst>
                                          <p:attrName>fillcolor</p:attrName>
                                        </p:attrNameLst>
                                      </p:cBhvr>
                                      <p:tavLst>
                                        <p:tav tm="0">
                                          <p:val>
                                            <p:clrVal>
                                              <a:schemeClr val="accent2"/>
                                            </p:clrVal>
                                          </p:val>
                                        </p:tav>
                                        <p:tav tm="50000">
                                          <p:val>
                                            <p:clrVal>
                                              <a:schemeClr val="hlink"/>
                                            </p:clrVal>
                                          </p:val>
                                        </p:tav>
                                      </p:tavLst>
                                    </p:anim>
                                    <p:set>
                                      <p:cBhvr>
                                        <p:cTn id="40" dur="2000"/>
                                        <p:tgtEl>
                                          <p:spTgt spid="83355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44" grpId="0"/>
      <p:bldP spid="833549" grpId="0"/>
      <p:bldP spid="83355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708483" y="525543"/>
            <a:ext cx="8787063" cy="662782"/>
          </a:xfrm>
        </p:spPr>
        <p:txBody>
          <a:bodyPr/>
          <a:lstStyle/>
          <a:p>
            <a:r>
              <a:rPr lang="en-US" altLang="zh-CN" b="1" dirty="0">
                <a:effectLst/>
              </a:rPr>
              <a:t>【</a:t>
            </a:r>
            <a:r>
              <a:rPr lang="zh-CN" altLang="en-US" b="1" dirty="0">
                <a:effectLst/>
              </a:rPr>
              <a:t>附</a:t>
            </a:r>
            <a:r>
              <a:rPr lang="en-US" altLang="zh-CN" b="1" dirty="0">
                <a:effectLst/>
              </a:rPr>
              <a:t>】 t </a:t>
            </a:r>
            <a:r>
              <a:rPr lang="zh-CN" altLang="en-US" b="1" dirty="0">
                <a:effectLst/>
              </a:rPr>
              <a:t>分布与</a:t>
            </a:r>
            <a:r>
              <a:rPr lang="en-US" altLang="zh-CN" b="1" dirty="0">
                <a:effectLst/>
              </a:rPr>
              <a:t>F</a:t>
            </a:r>
            <a:r>
              <a:rPr lang="zh-CN" altLang="en-US" b="1" dirty="0">
                <a:effectLst/>
              </a:rPr>
              <a:t>分布的关系</a:t>
            </a:r>
          </a:p>
        </p:txBody>
      </p:sp>
      <p:sp>
        <p:nvSpPr>
          <p:cNvPr id="86019" name="Rectangle 3"/>
          <p:cNvSpPr>
            <a:spLocks noGrp="1" noChangeArrowheads="1"/>
          </p:cNvSpPr>
          <p:nvPr>
            <p:ph idx="1"/>
          </p:nvPr>
        </p:nvSpPr>
        <p:spPr>
          <a:xfrm>
            <a:off x="1491916" y="1636294"/>
            <a:ext cx="8771022" cy="4798356"/>
          </a:xfrm>
        </p:spPr>
        <p:txBody>
          <a:bodyPr/>
          <a:lstStyle/>
          <a:p>
            <a:pPr marL="0" indent="0" eaLnBrk="1" hangingPunct="1">
              <a:lnSpc>
                <a:spcPct val="125000"/>
              </a:lnSpc>
              <a:spcBef>
                <a:spcPct val="35000"/>
              </a:spcBef>
              <a:buNone/>
            </a:pPr>
            <a:r>
              <a:rPr lang="zh-CN" altLang="en-US" sz="3600" dirty="0">
                <a:latin typeface="Times New Roman" panose="02020603050405020304" pitchFamily="18" charset="0"/>
              </a:rPr>
              <a:t>若 </a:t>
            </a:r>
            <a:r>
              <a:rPr lang="en-US" altLang="zh-CN" sz="3600" i="1" dirty="0" err="1">
                <a:latin typeface="Times New Roman" panose="02020603050405020304" pitchFamily="18" charset="0"/>
              </a:rPr>
              <a:t>T~t</a:t>
            </a:r>
            <a:r>
              <a:rPr lang="en-US" altLang="zh-CN" sz="3600" i="1" dirty="0">
                <a:latin typeface="Times New Roman" panose="02020603050405020304" pitchFamily="18" charset="0"/>
              </a:rPr>
              <a:t>(n)</a:t>
            </a:r>
            <a:r>
              <a:rPr lang="zh-CN" altLang="en-US" sz="3600" i="1" dirty="0">
                <a:latin typeface="Times New Roman" panose="02020603050405020304" pitchFamily="18" charset="0"/>
              </a:rPr>
              <a:t>，</a:t>
            </a:r>
            <a:r>
              <a:rPr lang="zh-CN" altLang="en-US" sz="3600" dirty="0">
                <a:latin typeface="Times New Roman" panose="02020603050405020304" pitchFamily="18" charset="0"/>
              </a:rPr>
              <a:t>则</a:t>
            </a:r>
            <a:r>
              <a:rPr lang="en-US" altLang="zh-CN" sz="3600" i="1" dirty="0">
                <a:latin typeface="Times New Roman" panose="02020603050405020304" pitchFamily="18" charset="0"/>
              </a:rPr>
              <a:t>T </a:t>
            </a:r>
            <a:r>
              <a:rPr lang="en-US" altLang="zh-CN" sz="3600" i="1" baseline="30000" dirty="0">
                <a:latin typeface="Times New Roman" panose="02020603050405020304" pitchFamily="18" charset="0"/>
              </a:rPr>
              <a:t>2</a:t>
            </a:r>
            <a:r>
              <a:rPr lang="en-US" altLang="zh-CN" sz="3600" i="1" dirty="0">
                <a:latin typeface="Times New Roman" panose="02020603050405020304" pitchFamily="18" charset="0"/>
              </a:rPr>
              <a:t>~F</a:t>
            </a:r>
            <a:r>
              <a:rPr lang="en-US" altLang="zh-CN" sz="3600" dirty="0">
                <a:latin typeface="Times New Roman" panose="02020603050405020304" pitchFamily="18" charset="0"/>
              </a:rPr>
              <a:t>(1</a:t>
            </a:r>
            <a:r>
              <a:rPr lang="zh-CN" altLang="en-US" sz="3600" dirty="0">
                <a:latin typeface="Times New Roman" panose="02020603050405020304" pitchFamily="18" charset="0"/>
              </a:rPr>
              <a:t>，</a:t>
            </a:r>
            <a:r>
              <a:rPr lang="en-US" altLang="zh-CN" sz="3600" i="1" dirty="0">
                <a:latin typeface="Times New Roman" panose="02020603050405020304" pitchFamily="18" charset="0"/>
              </a:rPr>
              <a:t>n</a:t>
            </a:r>
            <a:r>
              <a:rPr lang="en-US" altLang="zh-CN" sz="3600" dirty="0">
                <a:latin typeface="Times New Roman" panose="02020603050405020304" pitchFamily="18" charset="0"/>
              </a:rPr>
              <a:t>)</a:t>
            </a:r>
          </a:p>
          <a:p>
            <a:pPr lvl="1" indent="0" eaLnBrk="1" hangingPunct="1">
              <a:lnSpc>
                <a:spcPct val="125000"/>
              </a:lnSpc>
              <a:spcBef>
                <a:spcPct val="35000"/>
              </a:spcBef>
              <a:buNone/>
            </a:pPr>
            <a:r>
              <a:rPr lang="zh-CN" altLang="en-US" dirty="0">
                <a:solidFill>
                  <a:schemeClr val="tx1"/>
                </a:solidFill>
                <a:latin typeface="Times New Roman" panose="02020603050405020304" pitchFamily="18" charset="0"/>
              </a:rPr>
              <a:t>由 </a:t>
            </a:r>
            <a:r>
              <a:rPr lang="en-US" altLang="zh-CN" i="1" dirty="0">
                <a:solidFill>
                  <a:schemeClr val="tx1"/>
                </a:solidFill>
                <a:latin typeface="Times New Roman" panose="02020603050405020304" pitchFamily="18" charset="0"/>
              </a:rPr>
              <a:t>T </a:t>
            </a:r>
            <a:r>
              <a:rPr lang="zh-CN" altLang="en-US" dirty="0">
                <a:solidFill>
                  <a:schemeClr val="tx1"/>
                </a:solidFill>
                <a:latin typeface="Times New Roman" panose="02020603050405020304" pitchFamily="18" charset="0"/>
              </a:rPr>
              <a:t>和 </a:t>
            </a:r>
            <a:r>
              <a:rPr lang="en-US" altLang="zh-CN" i="1" dirty="0">
                <a:solidFill>
                  <a:schemeClr val="tx1"/>
                </a:solidFill>
                <a:latin typeface="Times New Roman" panose="02020603050405020304" pitchFamily="18" charset="0"/>
              </a:rPr>
              <a:t>F </a:t>
            </a:r>
            <a:r>
              <a:rPr lang="zh-CN" altLang="en-US" dirty="0">
                <a:solidFill>
                  <a:schemeClr val="tx1"/>
                </a:solidFill>
                <a:latin typeface="Times New Roman" panose="02020603050405020304" pitchFamily="18" charset="0"/>
              </a:rPr>
              <a:t>的定义可证</a:t>
            </a:r>
            <a:r>
              <a:rPr lang="en-US" altLang="zh-CN" dirty="0">
                <a:solidFill>
                  <a:schemeClr val="tx1"/>
                </a:solidFill>
                <a:latin typeface="Times New Roman" panose="02020603050405020304" pitchFamily="18" charset="0"/>
              </a:rPr>
              <a:t>:</a:t>
            </a:r>
          </a:p>
        </p:txBody>
      </p:sp>
      <p:grpSp>
        <p:nvGrpSpPr>
          <p:cNvPr id="2" name="Group 8"/>
          <p:cNvGrpSpPr>
            <a:grpSpLocks/>
          </p:cNvGrpSpPr>
          <p:nvPr/>
        </p:nvGrpSpPr>
        <p:grpSpPr bwMode="auto">
          <a:xfrm>
            <a:off x="2475999" y="3367339"/>
            <a:ext cx="7531100" cy="2519363"/>
            <a:chOff x="767" y="2659"/>
            <a:chExt cx="4744" cy="1361"/>
          </a:xfrm>
        </p:grpSpPr>
        <p:sp>
          <p:nvSpPr>
            <p:cNvPr id="86021" name="Rectangle 4"/>
            <p:cNvSpPr>
              <a:spLocks noChangeArrowheads="1"/>
            </p:cNvSpPr>
            <p:nvPr/>
          </p:nvSpPr>
          <p:spPr bwMode="auto">
            <a:xfrm>
              <a:off x="1973" y="2840"/>
              <a:ext cx="353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a:lnSpc>
                  <a:spcPct val="90000"/>
                </a:lnSpc>
                <a:spcBef>
                  <a:spcPct val="50000"/>
                </a:spcBef>
                <a:buSzTx/>
                <a:buFontTx/>
                <a:buNone/>
              </a:pPr>
              <a:r>
                <a:rPr kumimoji="1" lang="zh-CN" altLang="en-US" sz="2800" dirty="0">
                  <a:solidFill>
                    <a:schemeClr val="tx1"/>
                  </a:solidFill>
                  <a:latin typeface="Arial" panose="020B0604020202020204" pitchFamily="34" charset="0"/>
                </a:rPr>
                <a:t>其中</a:t>
              </a:r>
              <a:r>
                <a:rPr kumimoji="1" lang="en-US" altLang="zh-CN" sz="2800" i="1" dirty="0">
                  <a:solidFill>
                    <a:schemeClr val="tx1"/>
                  </a:solidFill>
                  <a:latin typeface="Times New Roman" panose="02020603050405020304" pitchFamily="18" charset="0"/>
                  <a:sym typeface="Symbol" panose="05050102010706020507" pitchFamily="18" charset="2"/>
                </a:rPr>
                <a:t>X</a:t>
              </a:r>
              <a:r>
                <a:rPr kumimoji="1" lang="en-US" altLang="zh-CN" sz="2800" dirty="0">
                  <a:solidFill>
                    <a:schemeClr val="tx1"/>
                  </a:solidFill>
                  <a:latin typeface="Arial" panose="020B0604020202020204" pitchFamily="34" charset="0"/>
                  <a:sym typeface="Symbol" panose="05050102010706020507" pitchFamily="18" charset="2"/>
                </a:rPr>
                <a:t>~N(0, 1), </a:t>
              </a:r>
              <a:r>
                <a:rPr kumimoji="1" lang="en-US" altLang="zh-CN" sz="2800" i="1" dirty="0">
                  <a:solidFill>
                    <a:schemeClr val="tx1"/>
                  </a:solidFill>
                  <a:latin typeface="Times New Roman" panose="02020603050405020304" pitchFamily="18" charset="0"/>
                  <a:sym typeface="Symbol" panose="05050102010706020507" pitchFamily="18" charset="2"/>
                </a:rPr>
                <a:t>Y</a:t>
              </a:r>
              <a:r>
                <a:rPr kumimoji="1" lang="en-US" altLang="zh-CN" sz="2800" dirty="0">
                  <a:solidFill>
                    <a:schemeClr val="tx1"/>
                  </a:solidFill>
                  <a:latin typeface="Arial" panose="020B0604020202020204" pitchFamily="34" charset="0"/>
                  <a:sym typeface="Symbol" panose="05050102010706020507" pitchFamily="18" charset="2"/>
                </a:rPr>
                <a:t>~</a:t>
              </a:r>
              <a:r>
                <a:rPr kumimoji="1" lang="en-US" altLang="zh-CN" sz="2800" baseline="30000" dirty="0">
                  <a:solidFill>
                    <a:schemeClr val="tx1"/>
                  </a:solidFill>
                  <a:latin typeface="Arial" panose="020B0604020202020204" pitchFamily="34" charset="0"/>
                  <a:sym typeface="Symbol" panose="05050102010706020507" pitchFamily="18" charset="2"/>
                </a:rPr>
                <a:t>2</a:t>
              </a:r>
              <a:r>
                <a:rPr kumimoji="1" lang="en-US" altLang="zh-CN" sz="2800" dirty="0">
                  <a:solidFill>
                    <a:schemeClr val="tx1"/>
                  </a:solidFill>
                  <a:latin typeface="Arial" panose="020B0604020202020204" pitchFamily="34" charset="0"/>
                  <a:sym typeface="Symbol" panose="05050102010706020507" pitchFamily="18" charset="2"/>
                </a:rPr>
                <a:t>(n), </a:t>
              </a:r>
              <a:r>
                <a:rPr kumimoji="1" lang="en-US" altLang="zh-CN" sz="2800" i="1" dirty="0">
                  <a:solidFill>
                    <a:schemeClr val="tx1"/>
                  </a:solidFill>
                  <a:latin typeface="Times New Roman" panose="02020603050405020304" pitchFamily="18" charset="0"/>
                  <a:sym typeface="Symbol" panose="05050102010706020507" pitchFamily="18" charset="2"/>
                </a:rPr>
                <a:t>X</a:t>
              </a:r>
              <a:r>
                <a:rPr kumimoji="1" lang="zh-CN" altLang="zh-CN" sz="2800" dirty="0">
                  <a:solidFill>
                    <a:schemeClr val="tx1"/>
                  </a:solidFill>
                  <a:latin typeface="Times New Roman" panose="02020603050405020304" pitchFamily="18" charset="0"/>
                  <a:sym typeface="Symbol" panose="05050102010706020507" pitchFamily="18" charset="2"/>
                </a:rPr>
                <a:t>与</a:t>
              </a:r>
              <a:r>
                <a:rPr kumimoji="1" lang="en-US" altLang="zh-CN" sz="2800" i="1" dirty="0">
                  <a:solidFill>
                    <a:schemeClr val="tx1"/>
                  </a:solidFill>
                  <a:latin typeface="Times New Roman" panose="02020603050405020304" pitchFamily="18" charset="0"/>
                  <a:sym typeface="Symbol" panose="05050102010706020507" pitchFamily="18" charset="2"/>
                </a:rPr>
                <a:t>Y</a:t>
              </a:r>
              <a:r>
                <a:rPr kumimoji="1" lang="zh-CN" altLang="en-US" sz="2800" dirty="0">
                  <a:solidFill>
                    <a:schemeClr val="tx1"/>
                  </a:solidFill>
                  <a:latin typeface="Arial" panose="020B0604020202020204" pitchFamily="34" charset="0"/>
                  <a:sym typeface="Symbol" panose="05050102010706020507" pitchFamily="18" charset="2"/>
                </a:rPr>
                <a:t>独立</a:t>
              </a:r>
            </a:p>
          </p:txBody>
        </p:sp>
        <p:graphicFrame>
          <p:nvGraphicFramePr>
            <p:cNvPr id="86022" name="Object 5"/>
            <p:cNvGraphicFramePr>
              <a:graphicFrameLocks noChangeAspect="1"/>
            </p:cNvGraphicFramePr>
            <p:nvPr/>
          </p:nvGraphicFramePr>
          <p:xfrm>
            <a:off x="793" y="2659"/>
            <a:ext cx="1134" cy="681"/>
          </p:xfrm>
          <a:graphic>
            <a:graphicData uri="http://schemas.openxmlformats.org/presentationml/2006/ole">
              <mc:AlternateContent xmlns:mc="http://schemas.openxmlformats.org/markup-compatibility/2006">
                <mc:Choice xmlns:v="urn:schemas-microsoft-com:vml" Requires="v">
                  <p:oleObj name="公式" r:id="rId7" imgW="698500" imgH="419100" progId="Equation.3">
                    <p:embed/>
                  </p:oleObj>
                </mc:Choice>
                <mc:Fallback>
                  <p:oleObj name="公式" r:id="rId7" imgW="698500" imgH="419100" progId="Equation.3">
                    <p:embed/>
                    <p:pic>
                      <p:nvPicPr>
                        <p:cNvPr id="86022"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3" y="2659"/>
                          <a:ext cx="1134" cy="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3" name="Object 7"/>
            <p:cNvGraphicFramePr>
              <a:graphicFrameLocks noChangeAspect="1"/>
            </p:cNvGraphicFramePr>
            <p:nvPr/>
          </p:nvGraphicFramePr>
          <p:xfrm>
            <a:off x="767" y="3339"/>
            <a:ext cx="2474" cy="681"/>
          </p:xfrm>
          <a:graphic>
            <a:graphicData uri="http://schemas.openxmlformats.org/presentationml/2006/ole">
              <mc:AlternateContent xmlns:mc="http://schemas.openxmlformats.org/markup-compatibility/2006">
                <mc:Choice xmlns:v="urn:schemas-microsoft-com:vml" Requires="v">
                  <p:oleObj name="公式" r:id="rId9" imgW="1295400" imgH="419100" progId="Equation.3">
                    <p:embed/>
                  </p:oleObj>
                </mc:Choice>
                <mc:Fallback>
                  <p:oleObj name="公式" r:id="rId9" imgW="1295400" imgH="419100" progId="Equation.3">
                    <p:embed/>
                    <p:pic>
                      <p:nvPicPr>
                        <p:cNvPr id="8602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7" y="3339"/>
                          <a:ext cx="2474" cy="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9780423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8011" y="800100"/>
                <a:ext cx="8650706" cy="5511243"/>
              </a:xfrm>
            </p:spPr>
            <p:txBody>
              <a:bodyPr>
                <a:noAutofit/>
              </a:bodyPr>
              <a:lstStyle/>
              <a:p>
                <a:pPr marL="0" indent="720000">
                  <a:lnSpc>
                    <a:spcPct val="125000"/>
                  </a:lnSpc>
                  <a:spcBef>
                    <a:spcPts val="6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定理6-1　若</a:t>
                </a:r>
                <a14:m>
                  <m:oMath xmlns:m="http://schemas.openxmlformats.org/officeDocument/2006/math">
                    <m:sSub>
                      <m:sSubPr>
                        <m:ctrlPr>
                          <a:rPr lang="en-US" altLang="zh-CN" sz="2800" b="1" i="1" dirty="0" smtClean="0">
                            <a:solidFill>
                              <a:schemeClr val="tx1"/>
                            </a:solidFill>
                            <a:latin typeface="Cambria Math" panose="02040503050406030204" pitchFamily="18" charset="0"/>
                          </a:rPr>
                        </m:ctrlPr>
                      </m:sSubPr>
                      <m:e>
                        <m:r>
                          <a:rPr lang="en-US" altLang="zh-CN" sz="2800" b="1" i="1" dirty="0" smtClean="0">
                            <a:solidFill>
                              <a:schemeClr val="tx1"/>
                            </a:solidFill>
                            <a:latin typeface="Cambria Math" panose="02040503050406030204" pitchFamily="18" charset="0"/>
                          </a:rPr>
                          <m:t>𝑿</m:t>
                        </m:r>
                      </m:e>
                      <m:sub>
                        <m:r>
                          <a:rPr lang="en-US" altLang="zh-CN" sz="2800" b="1" i="1" dirty="0" smtClean="0">
                            <a:solidFill>
                              <a:schemeClr val="tx1"/>
                            </a:solidFill>
                            <a:latin typeface="Cambria Math" panose="02040503050406030204" pitchFamily="18" charset="0"/>
                          </a:rPr>
                          <m:t>𝟏</m:t>
                        </m:r>
                      </m:sub>
                    </m:sSub>
                    <m:r>
                      <a:rPr lang="en-US" altLang="zh-CN" sz="2800" b="1" i="1" dirty="0" smtClean="0">
                        <a:solidFill>
                          <a:schemeClr val="tx1"/>
                        </a:solidFill>
                        <a:latin typeface="Cambria Math" panose="02040503050406030204" pitchFamily="18" charset="0"/>
                      </a:rPr>
                      <m:t>,</m:t>
                    </m:r>
                    <m:r>
                      <m:rPr>
                        <m:nor/>
                      </m:rPr>
                      <a:rPr lang="en-US" altLang="zh-CN" sz="2800" b="1" dirty="0">
                        <a:solidFill>
                          <a:schemeClr val="tx1"/>
                        </a:solidFill>
                        <a:latin typeface="宋体" panose="02010600030101010101" pitchFamily="2" charset="-122"/>
                        <a:ea typeface="宋体" panose="02010600030101010101" pitchFamily="2" charset="-122"/>
                      </a:rPr>
                      <m:t>….</m:t>
                    </m:r>
                    <m:r>
                      <m:rPr>
                        <m:nor/>
                      </m:rPr>
                      <a:rPr lang="en-US" altLang="zh-CN" sz="2800" b="1" i="0" dirty="0" smtClean="0">
                        <a:solidFill>
                          <a:schemeClr val="tx1"/>
                        </a:solidFill>
                        <a:latin typeface="宋体" panose="02010600030101010101" pitchFamily="2" charset="-122"/>
                        <a:ea typeface="宋体" panose="02010600030101010101" pitchFamily="2" charset="-122"/>
                      </a:rPr>
                      <m:t>,</m:t>
                    </m:r>
                    <m:sSub>
                      <m:sSubPr>
                        <m:ctrlPr>
                          <a:rPr lang="en-US" altLang="zh-CN" sz="2800" b="1" i="1" dirty="0">
                            <a:solidFill>
                              <a:schemeClr val="tx1"/>
                            </a:solidFill>
                            <a:latin typeface="Cambria Math" panose="02040503050406030204" pitchFamily="18" charset="0"/>
                          </a:rPr>
                        </m:ctrlPr>
                      </m:sSubPr>
                      <m:e>
                        <m:r>
                          <a:rPr lang="en-US" altLang="zh-CN" sz="2800" b="1" i="1" dirty="0">
                            <a:solidFill>
                              <a:schemeClr val="tx1"/>
                            </a:solidFill>
                            <a:latin typeface="Cambria Math" panose="02040503050406030204" pitchFamily="18" charset="0"/>
                          </a:rPr>
                          <m:t>𝑿</m:t>
                        </m:r>
                      </m:e>
                      <m:sub>
                        <m:r>
                          <a:rPr lang="en-US" altLang="zh-CN" sz="2800" b="1" i="1" dirty="0" smtClean="0">
                            <a:solidFill>
                              <a:schemeClr val="tx1"/>
                            </a:solidFill>
                            <a:latin typeface="Cambria Math" panose="02040503050406030204" pitchFamily="18" charset="0"/>
                          </a:rPr>
                          <m:t>𝒏</m:t>
                        </m:r>
                      </m:sub>
                    </m:sSub>
                  </m:oMath>
                </a14:m>
                <a:r>
                  <a:rPr lang="zh-CN" altLang="en-US" sz="2800" b="1" dirty="0">
                    <a:solidFill>
                      <a:schemeClr val="tx1"/>
                    </a:solidFill>
                    <a:latin typeface="宋体" panose="02010600030101010101" pitchFamily="2" charset="-122"/>
                    <a:ea typeface="宋体" panose="02010600030101010101" pitchFamily="2" charset="-122"/>
                  </a:rPr>
                  <a:t>是从总体</a:t>
                </a:r>
                <a14:m>
                  <m:oMath xmlns:m="http://schemas.openxmlformats.org/officeDocument/2006/math">
                    <m:r>
                      <a:rPr lang="en-US" altLang="zh-CN" sz="2800" b="1" i="1">
                        <a:solidFill>
                          <a:schemeClr val="tx1"/>
                        </a:solidFill>
                        <a:latin typeface="Cambria Math" panose="02040503050406030204" pitchFamily="18" charset="0"/>
                      </a:rPr>
                      <m:t>𝑵</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𝝁</m:t>
                    </m:r>
                    <m:r>
                      <a:rPr lang="en-US" altLang="zh-CN" sz="2800" b="1" i="1">
                        <a:solidFill>
                          <a:schemeClr val="tx1"/>
                        </a:solidFill>
                        <a:latin typeface="Cambria Math" panose="02040503050406030204" pitchFamily="18" charset="0"/>
                      </a:rPr>
                      <m:t>,</m:t>
                    </m:r>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𝝈</m:t>
                        </m:r>
                      </m:e>
                      <m:sup>
                        <m:r>
                          <a:rPr lang="en-US" altLang="zh-CN" sz="2800" b="1" i="1">
                            <a:solidFill>
                              <a:schemeClr val="tx1"/>
                            </a:solidFill>
                            <a:latin typeface="Cambria Math" panose="02040503050406030204" pitchFamily="18" charset="0"/>
                          </a:rPr>
                          <m:t>𝟐</m:t>
                        </m:r>
                      </m:sup>
                    </m:sSup>
                    <m:r>
                      <a:rPr lang="en-US" altLang="zh-CN" sz="2800" b="1" i="1">
                        <a:solidFill>
                          <a:schemeClr val="tx1"/>
                        </a:solidFill>
                        <a:latin typeface="Cambria Math" panose="02040503050406030204" pitchFamily="18" charset="0"/>
                      </a:rPr>
                      <m:t>)</m:t>
                    </m:r>
                  </m:oMath>
                </a14:m>
                <a:r>
                  <a:rPr lang="zh-CN" altLang="en-US" sz="2800" b="1" dirty="0">
                    <a:solidFill>
                      <a:schemeClr val="tx1"/>
                    </a:solidFill>
                    <a:latin typeface="宋体" panose="02010600030101010101" pitchFamily="2" charset="-122"/>
                    <a:ea typeface="宋体" panose="02010600030101010101" pitchFamily="2" charset="-122"/>
                  </a:rPr>
                  <a:t>抽取的一个简单随机样本，则有：</a:t>
                </a:r>
              </a:p>
              <a:p>
                <a:pPr marL="0" indent="720000">
                  <a:lnSpc>
                    <a:spcPct val="125000"/>
                  </a:lnSpc>
                  <a:spcBef>
                    <a:spcPts val="6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① </a:t>
                </a:r>
                <a14:m>
                  <m:oMath xmlns:m="http://schemas.openxmlformats.org/officeDocument/2006/math">
                    <m:acc>
                      <m:accPr>
                        <m:chr m:val="̅"/>
                        <m:ctrlPr>
                          <a:rPr lang="zh-CN"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𝑿</m:t>
                        </m:r>
                      </m:e>
                    </m:acc>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𝑵</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𝝁</m:t>
                    </m:r>
                    <m:r>
                      <a:rPr lang="en-US" altLang="zh-CN" sz="2800" b="1" i="1">
                        <a:solidFill>
                          <a:schemeClr val="tx1"/>
                        </a:solidFill>
                        <a:latin typeface="Cambria Math" panose="02040503050406030204" pitchFamily="18" charset="0"/>
                      </a:rPr>
                      <m:t>,</m:t>
                    </m:r>
                    <m:f>
                      <m:fPr>
                        <m:ctrlPr>
                          <a:rPr lang="zh-CN" altLang="zh-CN" sz="2800" b="1" i="1">
                            <a:solidFill>
                              <a:schemeClr val="tx1"/>
                            </a:solidFill>
                            <a:latin typeface="Cambria Math" panose="02040503050406030204" pitchFamily="18" charset="0"/>
                          </a:rPr>
                        </m:ctrlPr>
                      </m:fPr>
                      <m:num>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𝝈</m:t>
                            </m:r>
                          </m:e>
                          <m:sup>
                            <m:r>
                              <a:rPr lang="en-US" altLang="zh-CN" sz="2800" b="1" i="1">
                                <a:solidFill>
                                  <a:schemeClr val="tx1"/>
                                </a:solidFill>
                                <a:latin typeface="Cambria Math" panose="02040503050406030204" pitchFamily="18" charset="0"/>
                              </a:rPr>
                              <m:t>𝟐</m:t>
                            </m:r>
                          </m:sup>
                        </m:sSup>
                      </m:num>
                      <m:den>
                        <m:r>
                          <a:rPr lang="en-US" altLang="zh-CN" sz="2800" b="1" i="1">
                            <a:solidFill>
                              <a:schemeClr val="tx1"/>
                            </a:solidFill>
                            <a:latin typeface="Cambria Math" panose="02040503050406030204" pitchFamily="18" charset="0"/>
                          </a:rPr>
                          <m:t>𝒏</m:t>
                        </m:r>
                      </m:den>
                    </m:f>
                    <m:r>
                      <a:rPr lang="en-US" altLang="zh-CN" sz="2800" b="1" i="1">
                        <a:solidFill>
                          <a:schemeClr val="tx1"/>
                        </a:solidFill>
                        <a:latin typeface="Cambria Math" panose="02040503050406030204" pitchFamily="18" charset="0"/>
                      </a:rPr>
                      <m:t>)</m:t>
                    </m:r>
                  </m:oMath>
                </a14:m>
                <a:r>
                  <a:rPr lang="zh-CN" altLang="en-US" sz="2800" b="1" dirty="0">
                    <a:solidFill>
                      <a:schemeClr val="tx1"/>
                    </a:solidFill>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（6-</a:t>
                </a:r>
                <a:r>
                  <a:rPr lang="en-US" altLang="zh-CN" sz="2400" dirty="0">
                    <a:solidFill>
                      <a:schemeClr val="tx1"/>
                    </a:solidFill>
                    <a:latin typeface="宋体" panose="02010600030101010101" pitchFamily="2" charset="-122"/>
                    <a:ea typeface="宋体" panose="02010600030101010101" pitchFamily="2" charset="-122"/>
                  </a:rPr>
                  <a:t>21)</a:t>
                </a:r>
              </a:p>
              <a:p>
                <a:pPr marL="0" indent="720000">
                  <a:lnSpc>
                    <a:spcPct val="125000"/>
                  </a:lnSpc>
                  <a:spcBef>
                    <a:spcPts val="600"/>
                  </a:spcBef>
                  <a:spcAft>
                    <a:spcPts val="0"/>
                  </a:spcAft>
                  <a:buNone/>
                </a:pPr>
                <a:r>
                  <a:rPr lang="en-US" altLang="zh-CN" sz="2800" b="1" dirty="0">
                    <a:solidFill>
                      <a:schemeClr val="tx1"/>
                    </a:solidFill>
                  </a:rPr>
                  <a:t>      </a:t>
                </a:r>
                <a14:m>
                  <m:oMath xmlns:m="http://schemas.openxmlformats.org/officeDocument/2006/math">
                    <m:f>
                      <m:fPr>
                        <m:ctrlPr>
                          <a:rPr lang="zh-CN" altLang="zh-CN" sz="2800" b="1" i="1">
                            <a:solidFill>
                              <a:schemeClr val="tx1"/>
                            </a:solidFill>
                            <a:latin typeface="Cambria Math" panose="02040503050406030204" pitchFamily="18" charset="0"/>
                          </a:rPr>
                        </m:ctrlPr>
                      </m:fPr>
                      <m:num>
                        <m:acc>
                          <m:accPr>
                            <m:chr m:val="̅"/>
                            <m:ctrlPr>
                              <a:rPr lang="zh-CN"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𝑿</m:t>
                            </m:r>
                          </m:e>
                        </m:acc>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𝝁</m:t>
                        </m:r>
                      </m:num>
                      <m:den>
                        <m:r>
                          <a:rPr lang="en-US" altLang="zh-CN" sz="2800" b="1" i="1">
                            <a:solidFill>
                              <a:schemeClr val="tx1"/>
                            </a:solidFill>
                            <a:latin typeface="Cambria Math" panose="02040503050406030204" pitchFamily="18" charset="0"/>
                          </a:rPr>
                          <m:t>𝝈</m:t>
                        </m:r>
                        <m:r>
                          <a:rPr lang="en-US" altLang="zh-CN" sz="2800" b="1" i="1">
                            <a:solidFill>
                              <a:schemeClr val="tx1"/>
                            </a:solidFill>
                            <a:latin typeface="Cambria Math" panose="02040503050406030204" pitchFamily="18" charset="0"/>
                          </a:rPr>
                          <m:t>/</m:t>
                        </m:r>
                        <m:rad>
                          <m:radPr>
                            <m:degHide m:val="on"/>
                            <m:ctrlPr>
                              <a:rPr lang="zh-CN" altLang="zh-CN" sz="2800" b="1" i="1">
                                <a:solidFill>
                                  <a:schemeClr val="tx1"/>
                                </a:solidFill>
                                <a:latin typeface="Cambria Math" panose="02040503050406030204" pitchFamily="18" charset="0"/>
                              </a:rPr>
                            </m:ctrlPr>
                          </m:radPr>
                          <m:deg/>
                          <m:e>
                            <m:r>
                              <a:rPr lang="en-US" altLang="zh-CN" sz="2800" b="1" i="1">
                                <a:solidFill>
                                  <a:schemeClr val="tx1"/>
                                </a:solidFill>
                                <a:latin typeface="Cambria Math" panose="02040503050406030204" pitchFamily="18" charset="0"/>
                              </a:rPr>
                              <m:t>𝒏</m:t>
                            </m:r>
                          </m:e>
                        </m:rad>
                      </m:den>
                    </m:f>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𝑵</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𝟎</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𝟏</m:t>
                    </m:r>
                    <m:r>
                      <a:rPr lang="en-US" altLang="zh-CN" sz="2800" b="1" i="1">
                        <a:solidFill>
                          <a:schemeClr val="tx1"/>
                        </a:solidFill>
                        <a:latin typeface="Cambria Math" panose="02040503050406030204" pitchFamily="18" charset="0"/>
                      </a:rPr>
                      <m:t>)</m:t>
                    </m:r>
                  </m:oMath>
                </a14:m>
                <a:r>
                  <a:rPr lang="zh-CN" altLang="en-US" sz="2800" b="1" dirty="0">
                    <a:solidFill>
                      <a:schemeClr val="tx1"/>
                    </a:solidFill>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（6-</a:t>
                </a:r>
                <a:r>
                  <a:rPr lang="en-US" altLang="zh-CN" sz="2400" dirty="0">
                    <a:solidFill>
                      <a:schemeClr val="tx1"/>
                    </a:solidFill>
                    <a:latin typeface="宋体" panose="02010600030101010101" pitchFamily="2" charset="-122"/>
                    <a:ea typeface="宋体" panose="02010600030101010101" pitchFamily="2" charset="-122"/>
                  </a:rPr>
                  <a:t>22</a:t>
                </a:r>
                <a:r>
                  <a:rPr lang="zh-CN" altLang="en-US" sz="2400" dirty="0">
                    <a:solidFill>
                      <a:schemeClr val="tx1"/>
                    </a:solidFill>
                    <a:latin typeface="宋体" panose="02010600030101010101" pitchFamily="2" charset="-122"/>
                    <a:ea typeface="宋体" panose="02010600030101010101" pitchFamily="2" charset="-122"/>
                  </a:rPr>
                  <a:t>）</a:t>
                </a:r>
              </a:p>
              <a:p>
                <a:pPr marL="0" indent="720000">
                  <a:lnSpc>
                    <a:spcPct val="125000"/>
                  </a:lnSpc>
                  <a:spcBef>
                    <a:spcPts val="6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② </a:t>
                </a:r>
                <a14:m>
                  <m:oMath xmlns:m="http://schemas.openxmlformats.org/officeDocument/2006/math">
                    <m:f>
                      <m:fPr>
                        <m:ctrlPr>
                          <a:rPr lang="zh-CN" altLang="zh-CN" sz="2800" b="1" i="1">
                            <a:solidFill>
                              <a:schemeClr val="tx1"/>
                            </a:solidFill>
                            <a:latin typeface="Cambria Math" panose="02040503050406030204" pitchFamily="18" charset="0"/>
                          </a:rPr>
                        </m:ctrlPr>
                      </m:fPr>
                      <m:num>
                        <m:nary>
                          <m:naryPr>
                            <m:chr m:val="∑"/>
                            <m:limLoc m:val="undOvr"/>
                            <m:ctrlPr>
                              <a:rPr lang="zh-CN" altLang="zh-CN" sz="2800" b="1" i="1">
                                <a:solidFill>
                                  <a:schemeClr val="tx1"/>
                                </a:solidFill>
                                <a:latin typeface="Cambria Math" panose="02040503050406030204" pitchFamily="18" charset="0"/>
                              </a:rPr>
                            </m:ctrlPr>
                          </m:naryPr>
                          <m:sub>
                            <m:r>
                              <a:rPr lang="en-US" altLang="zh-CN" sz="2800" b="1" i="1">
                                <a:solidFill>
                                  <a:schemeClr val="tx1"/>
                                </a:solidFill>
                                <a:latin typeface="Cambria Math" panose="02040503050406030204" pitchFamily="18" charset="0"/>
                              </a:rPr>
                              <m:t>𝒊</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𝟏</m:t>
                            </m:r>
                          </m:sub>
                          <m:sup>
                            <m:r>
                              <a:rPr lang="en-US" altLang="zh-CN" sz="2800" b="1" i="1">
                                <a:solidFill>
                                  <a:schemeClr val="tx1"/>
                                </a:solidFill>
                                <a:latin typeface="Cambria Math" panose="02040503050406030204" pitchFamily="18" charset="0"/>
                              </a:rPr>
                              <m:t>𝒏</m:t>
                            </m:r>
                          </m:sup>
                          <m:e>
                            <m:sSup>
                              <m:sSupPr>
                                <m:ctrlPr>
                                  <a:rPr lang="zh-CN" altLang="zh-CN" sz="2800" b="1" i="1">
                                    <a:solidFill>
                                      <a:schemeClr val="tx1"/>
                                    </a:solidFill>
                                    <a:latin typeface="Cambria Math" panose="02040503050406030204" pitchFamily="18" charset="0"/>
                                  </a:rPr>
                                </m:ctrlPr>
                              </m:sSupPr>
                              <m:e>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𝑿</m:t>
                                    </m:r>
                                  </m:e>
                                  <m:sub>
                                    <m:r>
                                      <a:rPr lang="en-US" altLang="zh-CN" sz="2800" b="1" i="1">
                                        <a:solidFill>
                                          <a:schemeClr val="tx1"/>
                                        </a:solidFill>
                                        <a:latin typeface="Cambria Math" panose="02040503050406030204" pitchFamily="18" charset="0"/>
                                      </a:rPr>
                                      <m:t>𝒊</m:t>
                                    </m:r>
                                  </m:sub>
                                </m:sSub>
                                <m:r>
                                  <a:rPr lang="en-US" altLang="zh-CN" sz="2800" b="1" i="1">
                                    <a:solidFill>
                                      <a:schemeClr val="tx1"/>
                                    </a:solidFill>
                                    <a:latin typeface="Cambria Math" panose="02040503050406030204" pitchFamily="18" charset="0"/>
                                  </a:rPr>
                                  <m:t>−</m:t>
                                </m:r>
                                <m:acc>
                                  <m:accPr>
                                    <m:chr m:val="̅"/>
                                    <m:ctrlPr>
                                      <a:rPr lang="zh-CN"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𝑿</m:t>
                                    </m:r>
                                  </m:e>
                                </m:acc>
                                <m:r>
                                  <a:rPr lang="en-US" altLang="zh-CN" sz="2800" b="1" i="1" smtClean="0">
                                    <a:solidFill>
                                      <a:schemeClr val="tx1"/>
                                    </a:solidFill>
                                    <a:latin typeface="Cambria Math" panose="02040503050406030204" pitchFamily="18" charset="0"/>
                                  </a:rPr>
                                  <m:t>)</m:t>
                                </m:r>
                              </m:e>
                              <m:sup>
                                <m:r>
                                  <a:rPr lang="en-US" altLang="zh-CN" sz="2800" b="1" i="1">
                                    <a:solidFill>
                                      <a:schemeClr val="tx1"/>
                                    </a:solidFill>
                                    <a:latin typeface="Cambria Math" panose="02040503050406030204" pitchFamily="18" charset="0"/>
                                  </a:rPr>
                                  <m:t>𝟐</m:t>
                                </m:r>
                              </m:sup>
                            </m:sSup>
                          </m:e>
                        </m:nary>
                      </m:num>
                      <m:den>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𝝈</m:t>
                            </m:r>
                          </m:e>
                          <m:sup>
                            <m:r>
                              <a:rPr lang="en-US" altLang="zh-CN" sz="2800" b="1" i="1">
                                <a:solidFill>
                                  <a:schemeClr val="tx1"/>
                                </a:solidFill>
                                <a:latin typeface="Cambria Math" panose="02040503050406030204" pitchFamily="18" charset="0"/>
                              </a:rPr>
                              <m:t>𝟐</m:t>
                            </m:r>
                          </m:sup>
                        </m:sSup>
                      </m:den>
                    </m:f>
                    <m:r>
                      <a:rPr lang="en-US" altLang="zh-CN" sz="2800" b="1" i="1">
                        <a:solidFill>
                          <a:schemeClr val="tx1"/>
                        </a:solidFill>
                        <a:latin typeface="Cambria Math" panose="02040503050406030204" pitchFamily="18" charset="0"/>
                      </a:rPr>
                      <m:t>=</m:t>
                    </m:r>
                    <m:f>
                      <m:fPr>
                        <m:ctrlPr>
                          <a:rPr lang="zh-CN" altLang="zh-CN" sz="2800" b="1" i="1">
                            <a:solidFill>
                              <a:schemeClr val="tx1"/>
                            </a:solidFill>
                            <a:latin typeface="Cambria Math" panose="02040503050406030204" pitchFamily="18" charset="0"/>
                          </a:rPr>
                        </m:ctrlPr>
                      </m:fPr>
                      <m:num>
                        <m:d>
                          <m:dPr>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panose="02040503050406030204" pitchFamily="18" charset="0"/>
                              </a:rPr>
                              <m:t>𝒏</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𝟏</m:t>
                            </m:r>
                          </m:e>
                        </m:d>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𝑺</m:t>
                            </m:r>
                          </m:e>
                          <m:sup>
                            <m:r>
                              <a:rPr lang="en-US" altLang="zh-CN" sz="2800" b="1" i="1">
                                <a:solidFill>
                                  <a:schemeClr val="tx1"/>
                                </a:solidFill>
                                <a:latin typeface="Cambria Math" panose="02040503050406030204" pitchFamily="18" charset="0"/>
                              </a:rPr>
                              <m:t>𝟐</m:t>
                            </m:r>
                          </m:sup>
                        </m:sSup>
                      </m:num>
                      <m:den>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𝝈</m:t>
                            </m:r>
                          </m:e>
                          <m:sup>
                            <m:r>
                              <a:rPr lang="en-US" altLang="zh-CN" sz="2800" b="1" i="1">
                                <a:solidFill>
                                  <a:schemeClr val="tx1"/>
                                </a:solidFill>
                                <a:latin typeface="Cambria Math" panose="02040503050406030204" pitchFamily="18" charset="0"/>
                              </a:rPr>
                              <m:t>𝟐</m:t>
                            </m:r>
                          </m:sup>
                        </m:sSup>
                      </m:den>
                    </m:f>
                    <m:r>
                      <a:rPr lang="en-US" altLang="zh-CN" sz="2800" b="1" i="1">
                        <a:solidFill>
                          <a:schemeClr val="tx1"/>
                        </a:solidFill>
                        <a:latin typeface="Cambria Math" panose="02040503050406030204" pitchFamily="18" charset="0"/>
                      </a:rPr>
                      <m:t>~</m:t>
                    </m:r>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𝝌</m:t>
                        </m:r>
                      </m:e>
                      <m:sup>
                        <m:r>
                          <a:rPr lang="en-US" altLang="zh-CN" sz="2800" b="1" i="1">
                            <a:solidFill>
                              <a:schemeClr val="tx1"/>
                            </a:solidFill>
                            <a:latin typeface="Cambria Math" panose="02040503050406030204" pitchFamily="18" charset="0"/>
                          </a:rPr>
                          <m:t>𝟐</m:t>
                        </m:r>
                      </m:sup>
                    </m:sSup>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𝒏</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𝟏</m:t>
                    </m:r>
                    <m:r>
                      <a:rPr lang="en-US" altLang="zh-CN" sz="2800" b="1" i="1">
                        <a:solidFill>
                          <a:schemeClr val="tx1"/>
                        </a:solidFill>
                        <a:latin typeface="Cambria Math" panose="02040503050406030204" pitchFamily="18" charset="0"/>
                      </a:rPr>
                      <m:t>)</m:t>
                    </m:r>
                  </m:oMath>
                </a14:m>
                <a:r>
                  <a:rPr lang="zh-CN" altLang="en-US" sz="2800" b="1" dirty="0">
                    <a:solidFill>
                      <a:schemeClr val="tx1"/>
                    </a:solidFill>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（6-</a:t>
                </a:r>
                <a:r>
                  <a:rPr lang="en-US" altLang="zh-CN" sz="2400" dirty="0">
                    <a:solidFill>
                      <a:schemeClr val="tx1"/>
                    </a:solidFill>
                    <a:latin typeface="宋体" panose="02010600030101010101" pitchFamily="2" charset="-122"/>
                    <a:ea typeface="宋体" panose="02010600030101010101" pitchFamily="2" charset="-122"/>
                  </a:rPr>
                  <a:t>23</a:t>
                </a:r>
                <a:r>
                  <a:rPr lang="zh-CN" altLang="en-US" sz="2400" dirty="0">
                    <a:solidFill>
                      <a:schemeClr val="tx1"/>
                    </a:solidFill>
                    <a:latin typeface="宋体" panose="02010600030101010101" pitchFamily="2" charset="-122"/>
                    <a:ea typeface="宋体" panose="02010600030101010101" pitchFamily="2" charset="-122"/>
                  </a:rPr>
                  <a:t>）</a:t>
                </a:r>
              </a:p>
              <a:p>
                <a:pPr marL="0" indent="720000">
                  <a:lnSpc>
                    <a:spcPct val="125000"/>
                  </a:lnSpc>
                  <a:spcBef>
                    <a:spcPts val="6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③ 样本均值与样本方差相互独立</a:t>
                </a:r>
                <a:endParaRPr lang="en-US" altLang="zh-CN" sz="2800" b="1" dirty="0">
                  <a:solidFill>
                    <a:schemeClr val="tx1"/>
                  </a:solidFill>
                  <a:latin typeface="宋体" panose="02010600030101010101" pitchFamily="2" charset="-122"/>
                  <a:ea typeface="宋体" panose="02010600030101010101" pitchFamily="2" charset="-122"/>
                </a:endParaRPr>
              </a:p>
              <a:p>
                <a:pPr marL="0" indent="720000">
                  <a:lnSpc>
                    <a:spcPct val="125000"/>
                  </a:lnSpc>
                  <a:spcBef>
                    <a:spcPts val="600"/>
                  </a:spcBef>
                  <a:spcAft>
                    <a:spcPts val="0"/>
                  </a:spcAft>
                  <a:buNone/>
                </a:pPr>
                <a:r>
                  <a:rPr lang="zh-CN" altLang="en-US" sz="2400" b="1" dirty="0">
                    <a:solidFill>
                      <a:schemeClr val="tx1"/>
                    </a:solidFill>
                    <a:latin typeface="宋体" panose="02010600030101010101" pitchFamily="2" charset="-122"/>
                    <a:ea typeface="宋体" panose="02010600030101010101" pitchFamily="2" charset="-122"/>
                  </a:rPr>
                  <a:t>其中</a:t>
                </a:r>
                <a:r>
                  <a:rPr lang="en-US" altLang="zh-CN" sz="24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acc>
                      <m:accPr>
                        <m:chr m:val="̅"/>
                        <m:ctrlPr>
                          <a:rPr lang="zh-CN" altLang="zh-CN" sz="2400" b="1" i="1" smtClean="0">
                            <a:solidFill>
                              <a:schemeClr val="tx1"/>
                            </a:solidFill>
                            <a:latin typeface="Cambria Math" panose="02040503050406030204" pitchFamily="18" charset="0"/>
                          </a:rPr>
                        </m:ctrlPr>
                      </m:accPr>
                      <m:e>
                        <m:r>
                          <a:rPr lang="en-US" altLang="zh-CN" sz="2400" b="1" i="1">
                            <a:solidFill>
                              <a:schemeClr val="tx1"/>
                            </a:solidFill>
                            <a:latin typeface="Cambria Math" panose="02040503050406030204" pitchFamily="18" charset="0"/>
                          </a:rPr>
                          <m:t>𝑿</m:t>
                        </m:r>
                      </m:e>
                    </m:acc>
                    <m:r>
                      <a:rPr lang="en-US" altLang="zh-CN" sz="2400" b="1" i="1">
                        <a:solidFill>
                          <a:schemeClr val="tx1"/>
                        </a:solidFill>
                        <a:latin typeface="Cambria Math" panose="02040503050406030204" pitchFamily="18" charset="0"/>
                      </a:rPr>
                      <m:t>=</m:t>
                    </m:r>
                  </m:oMath>
                </a14:m>
                <a:r>
                  <a:rPr lang="zh-CN" altLang="zh-CN" sz="24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f>
                      <m:fPr>
                        <m:ctrlPr>
                          <a:rPr lang="zh-CN" altLang="zh-CN" sz="2400" b="1" i="1">
                            <a:solidFill>
                              <a:schemeClr val="tx1"/>
                            </a:solidFill>
                            <a:latin typeface="Cambria Math" panose="02040503050406030204" pitchFamily="18" charset="0"/>
                          </a:rPr>
                        </m:ctrlPr>
                      </m:fPr>
                      <m:num>
                        <m:r>
                          <a:rPr lang="en-US" altLang="zh-CN" sz="2400" b="1" i="1">
                            <a:solidFill>
                              <a:schemeClr val="tx1"/>
                            </a:solidFill>
                            <a:latin typeface="Cambria Math" panose="02040503050406030204" pitchFamily="18" charset="0"/>
                          </a:rPr>
                          <m:t>𝟏</m:t>
                        </m:r>
                      </m:num>
                      <m:den>
                        <m:r>
                          <a:rPr lang="en-US" altLang="zh-CN" sz="2400" b="1" i="1">
                            <a:solidFill>
                              <a:schemeClr val="tx1"/>
                            </a:solidFill>
                            <a:latin typeface="Cambria Math" panose="02040503050406030204" pitchFamily="18" charset="0"/>
                          </a:rPr>
                          <m:t>𝒏</m:t>
                        </m:r>
                      </m:den>
                    </m:f>
                  </m:oMath>
                </a14:m>
                <a:r>
                  <a:rPr lang="zh-CN" altLang="zh-CN" sz="24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nary>
                      <m:naryPr>
                        <m:chr m:val="∑"/>
                        <m:limLoc m:val="undOvr"/>
                        <m:ctrlPr>
                          <a:rPr lang="zh-CN" altLang="zh-CN" sz="2400" b="1" i="1" smtClean="0">
                            <a:solidFill>
                              <a:schemeClr val="tx1"/>
                            </a:solidFill>
                            <a:latin typeface="Cambria Math" panose="02040503050406030204" pitchFamily="18" charset="0"/>
                          </a:rPr>
                        </m:ctrlPr>
                      </m:naryPr>
                      <m:sub>
                        <m:r>
                          <a:rPr lang="en-US" altLang="zh-CN" sz="2400" b="1" i="1">
                            <a:solidFill>
                              <a:schemeClr val="tx1"/>
                            </a:solidFill>
                            <a:latin typeface="Cambria Math" panose="02040503050406030204" pitchFamily="18" charset="0"/>
                          </a:rPr>
                          <m:t>𝒊</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sub>
                      <m:sup>
                        <m:r>
                          <a:rPr lang="en-US" altLang="zh-CN" sz="2400" b="1" i="1">
                            <a:solidFill>
                              <a:schemeClr val="tx1"/>
                            </a:solidFill>
                            <a:latin typeface="Cambria Math" panose="02040503050406030204" pitchFamily="18" charset="0"/>
                          </a:rPr>
                          <m:t>𝒏</m:t>
                        </m:r>
                      </m:sup>
                      <m:e>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𝑿</m:t>
                            </m:r>
                          </m:e>
                          <m:sub>
                            <m:r>
                              <a:rPr lang="en-US" altLang="zh-CN" sz="2400" b="1" i="1">
                                <a:solidFill>
                                  <a:schemeClr val="tx1"/>
                                </a:solidFill>
                                <a:latin typeface="Cambria Math" panose="02040503050406030204" pitchFamily="18" charset="0"/>
                              </a:rPr>
                              <m:t>𝒊</m:t>
                            </m:r>
                          </m:sub>
                        </m:sSub>
                      </m:e>
                    </m:nary>
                  </m:oMath>
                </a14:m>
                <a:r>
                  <a:rPr lang="en-US" altLang="zh-CN" sz="2400" b="1" dirty="0">
                    <a:solidFill>
                      <a:schemeClr val="tx1"/>
                    </a:solidFill>
                    <a:latin typeface="宋体" panose="02010600030101010101" pitchFamily="2" charset="-122"/>
                    <a:ea typeface="宋体" panose="02010600030101010101" pitchFamily="2" charset="-122"/>
                  </a:rPr>
                  <a:t>,</a:t>
                </a:r>
                <a:r>
                  <a:rPr lang="zh-CN" altLang="zh-CN" sz="24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𝑺</m:t>
                        </m:r>
                      </m:e>
                      <m:sup>
                        <m:r>
                          <a:rPr lang="en-US" altLang="zh-CN" sz="2400" b="1" i="1">
                            <a:solidFill>
                              <a:schemeClr val="tx1"/>
                            </a:solidFill>
                            <a:latin typeface="Cambria Math" panose="02040503050406030204" pitchFamily="18" charset="0"/>
                          </a:rPr>
                          <m:t>𝟐</m:t>
                        </m:r>
                      </m:sup>
                    </m:sSup>
                    <m:r>
                      <a:rPr lang="en-US" altLang="zh-CN" sz="2400" b="1" i="1">
                        <a:solidFill>
                          <a:schemeClr val="tx1"/>
                        </a:solidFill>
                        <a:latin typeface="Cambria Math" panose="02040503050406030204" pitchFamily="18" charset="0"/>
                      </a:rPr>
                      <m:t>=</m:t>
                    </m:r>
                  </m:oMath>
                </a14:m>
                <a:r>
                  <a:rPr lang="zh-CN" altLang="zh-CN" sz="24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f>
                      <m:fPr>
                        <m:ctrlPr>
                          <a:rPr lang="zh-CN" altLang="zh-CN" sz="2400" b="1" i="1">
                            <a:solidFill>
                              <a:schemeClr val="tx1"/>
                            </a:solidFill>
                            <a:latin typeface="Cambria Math" panose="02040503050406030204" pitchFamily="18" charset="0"/>
                          </a:rPr>
                        </m:ctrlPr>
                      </m:fPr>
                      <m:num>
                        <m:r>
                          <a:rPr lang="en-US" altLang="zh-CN" sz="2400" b="1" i="1">
                            <a:solidFill>
                              <a:schemeClr val="tx1"/>
                            </a:solidFill>
                            <a:latin typeface="Cambria Math" panose="02040503050406030204" pitchFamily="18" charset="0"/>
                          </a:rPr>
                          <m:t>𝟏</m:t>
                        </m:r>
                      </m:num>
                      <m:den>
                        <m:r>
                          <a:rPr lang="en-US" altLang="zh-CN" sz="2400" b="1" i="1">
                            <a:solidFill>
                              <a:schemeClr val="tx1"/>
                            </a:solidFill>
                            <a:latin typeface="Cambria Math" panose="02040503050406030204" pitchFamily="18" charset="0"/>
                          </a:rPr>
                          <m:t>𝒏</m:t>
                        </m:r>
                        <m:r>
                          <a:rPr lang="en-US"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𝟏</m:t>
                        </m:r>
                      </m:den>
                    </m:f>
                  </m:oMath>
                </a14:m>
                <a:r>
                  <a:rPr lang="zh-CN" altLang="zh-CN" sz="24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nary>
                      <m:naryPr>
                        <m:chr m:val="∑"/>
                        <m:limLoc m:val="undOvr"/>
                        <m:ctrlPr>
                          <a:rPr lang="zh-CN" altLang="zh-CN" sz="2400" b="1" i="1">
                            <a:solidFill>
                              <a:schemeClr val="tx1"/>
                            </a:solidFill>
                            <a:latin typeface="Cambria Math" panose="02040503050406030204" pitchFamily="18" charset="0"/>
                          </a:rPr>
                        </m:ctrlPr>
                      </m:naryPr>
                      <m:sub>
                        <m:r>
                          <a:rPr lang="en-US" altLang="zh-CN" sz="2400" b="1" i="1">
                            <a:solidFill>
                              <a:schemeClr val="tx1"/>
                            </a:solidFill>
                            <a:latin typeface="Cambria Math" panose="02040503050406030204" pitchFamily="18" charset="0"/>
                          </a:rPr>
                          <m:t>𝒊</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sub>
                      <m:sup>
                        <m:r>
                          <a:rPr lang="en-US" altLang="zh-CN" sz="2400" b="1" i="1">
                            <a:solidFill>
                              <a:schemeClr val="tx1"/>
                            </a:solidFill>
                            <a:latin typeface="Cambria Math" panose="02040503050406030204" pitchFamily="18" charset="0"/>
                          </a:rPr>
                          <m:t>𝒏</m:t>
                        </m:r>
                      </m:sup>
                      <m:e>
                        <m:sSup>
                          <m:sSupPr>
                            <m:ctrlPr>
                              <a:rPr lang="zh-CN" altLang="zh-CN" sz="2400" b="1" i="1">
                                <a:solidFill>
                                  <a:schemeClr val="tx1"/>
                                </a:solidFill>
                                <a:latin typeface="Cambria Math" panose="02040503050406030204" pitchFamily="18" charset="0"/>
                              </a:rPr>
                            </m:ctrlPr>
                          </m:sSupPr>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𝑿</m:t>
                                </m:r>
                              </m:e>
                              <m:sub>
                                <m:r>
                                  <a:rPr lang="en-US" altLang="zh-CN" sz="2400" b="1" i="1">
                                    <a:solidFill>
                                      <a:schemeClr val="tx1"/>
                                    </a:solidFill>
                                    <a:latin typeface="Cambria Math" panose="02040503050406030204" pitchFamily="18" charset="0"/>
                                  </a:rPr>
                                  <m:t>𝒊</m:t>
                                </m:r>
                              </m:sub>
                            </m:sSub>
                            <m:r>
                              <a:rPr lang="en-US" altLang="zh-CN" sz="2400" b="1" i="1">
                                <a:solidFill>
                                  <a:schemeClr val="tx1"/>
                                </a:solidFill>
                                <a:latin typeface="Cambria Math" panose="02040503050406030204" pitchFamily="18" charset="0"/>
                              </a:rPr>
                              <m:t>−</m:t>
                            </m:r>
                            <m:acc>
                              <m:accPr>
                                <m:chr m:val="̅"/>
                                <m:ctrlPr>
                                  <a:rPr lang="zh-CN" altLang="zh-CN" sz="2400" b="1" i="1">
                                    <a:solidFill>
                                      <a:schemeClr val="tx1"/>
                                    </a:solidFill>
                                    <a:latin typeface="Cambria Math" panose="02040503050406030204" pitchFamily="18" charset="0"/>
                                  </a:rPr>
                                </m:ctrlPr>
                              </m:accPr>
                              <m:e>
                                <m:r>
                                  <a:rPr lang="en-US" altLang="zh-CN" sz="2400" b="1" i="1">
                                    <a:solidFill>
                                      <a:schemeClr val="tx1"/>
                                    </a:solidFill>
                                    <a:latin typeface="Cambria Math" panose="02040503050406030204" pitchFamily="18" charset="0"/>
                                  </a:rPr>
                                  <m:t>𝑿</m:t>
                                </m:r>
                              </m:e>
                            </m:acc>
                            <m:r>
                              <a:rPr lang="en-US" altLang="zh-CN" sz="2400" b="1" i="1" smtClean="0">
                                <a:solidFill>
                                  <a:schemeClr val="tx1"/>
                                </a:solidFill>
                                <a:latin typeface="Cambria Math" charset="0"/>
                              </a:rPr>
                              <m:t>)</m:t>
                            </m:r>
                          </m:e>
                          <m:sup>
                            <m:r>
                              <a:rPr lang="en-US" altLang="zh-CN" sz="2400" b="1" i="1">
                                <a:solidFill>
                                  <a:schemeClr val="tx1"/>
                                </a:solidFill>
                                <a:latin typeface="Cambria Math" panose="02040503050406030204" pitchFamily="18" charset="0"/>
                              </a:rPr>
                              <m:t>𝟐</m:t>
                            </m:r>
                          </m:sup>
                        </m:sSup>
                      </m:e>
                    </m:nary>
                  </m:oMath>
                </a14:m>
                <a:endParaRPr lang="zh-CN" altLang="zh-CN" sz="2800" b="1" dirty="0">
                  <a:solidFill>
                    <a:schemeClr val="tx1"/>
                  </a:solidFill>
                  <a:latin typeface="宋体" panose="02010600030101010101" pitchFamily="2" charset="-122"/>
                  <a:ea typeface="宋体" panose="02010600030101010101" pitchFamily="2" charset="-122"/>
                </a:endParaRPr>
              </a:p>
              <a:p>
                <a:pPr marL="0" indent="720000">
                  <a:lnSpc>
                    <a:spcPct val="125000"/>
                  </a:lnSpc>
                  <a:spcBef>
                    <a:spcPts val="600"/>
                  </a:spcBef>
                  <a:spcAft>
                    <a:spcPts val="0"/>
                  </a:spcAft>
                  <a:buNone/>
                </a:pPr>
                <a:endParaRPr lang="zh-CN" altLang="en-US" sz="2800" b="1"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8011" y="800100"/>
                <a:ext cx="8650706" cy="5511243"/>
              </a:xfrm>
              <a:blipFill>
                <a:blip r:embed="rId2"/>
                <a:stretch>
                  <a:fillRect l="-1480" t="-332"/>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标题 1">
            <a:extLst>
              <a:ext uri="{FF2B5EF4-FFF2-40B4-BE49-F238E27FC236}">
                <a16:creationId xmlns:a16="http://schemas.microsoft.com/office/drawing/2014/main" id="{19CD9F2F-548B-71F1-87F1-22ED43D5F736}"/>
              </a:ext>
            </a:extLst>
          </p:cNvPr>
          <p:cNvSpPr txBox="1">
            <a:spLocks/>
          </p:cNvSpPr>
          <p:nvPr/>
        </p:nvSpPr>
        <p:spPr>
          <a:xfrm>
            <a:off x="2021306" y="137318"/>
            <a:ext cx="6051884"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sz="4000" b="1" kern="0" dirty="0">
                <a:solidFill>
                  <a:srgbClr val="0070C0"/>
                </a:solidFill>
              </a:rPr>
              <a:t>6.3.4 </a:t>
            </a:r>
            <a:r>
              <a:rPr lang="zh-CN" altLang="en-US" sz="4000" b="1" kern="0" dirty="0">
                <a:solidFill>
                  <a:srgbClr val="0070C0"/>
                </a:solidFill>
                <a:effectLst/>
              </a:rPr>
              <a:t>抽样分布定理</a:t>
            </a:r>
            <a:endParaRPr lang="zh-CN" altLang="en-US" sz="4000" b="1" dirty="0">
              <a:solidFill>
                <a:srgbClr val="0070C0"/>
              </a:solidFill>
              <a:effectLst/>
            </a:endParaRPr>
          </a:p>
        </p:txBody>
      </p:sp>
      <p:sp>
        <p:nvSpPr>
          <p:cNvPr id="6" name="TextBox 10"/>
          <p:cNvSpPr txBox="1">
            <a:spLocks noChangeArrowheads="1"/>
          </p:cNvSpPr>
          <p:nvPr/>
        </p:nvSpPr>
        <p:spPr bwMode="auto">
          <a:xfrm>
            <a:off x="9864091" y="5492081"/>
            <a:ext cx="1714500" cy="369888"/>
          </a:xfrm>
          <a:prstGeom prst="rect">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90000"/>
              <a:buBlip>
                <a:blip r:embed="rId3"/>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4"/>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5"/>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6"/>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7"/>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9pPr>
          </a:lstStyle>
          <a:p>
            <a:pPr algn="ctr" fontAlgn="base">
              <a:spcBef>
                <a:spcPct val="0"/>
              </a:spcBef>
              <a:spcAft>
                <a:spcPct val="0"/>
              </a:spcAft>
              <a:buSzTx/>
              <a:buFontTx/>
              <a:buNone/>
            </a:pPr>
            <a:r>
              <a:rPr lang="zh-CN" altLang="en-US" sz="1800" b="0" dirty="0">
                <a:solidFill>
                  <a:srgbClr val="C00000"/>
                </a:solidFill>
                <a:latin typeface="Arial" panose="020B0604020202020204" pitchFamily="34" charset="0"/>
              </a:rPr>
              <a:t>用途与条件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94873" y="847488"/>
                <a:ext cx="9625263" cy="5333761"/>
              </a:xfrm>
            </p:spPr>
            <p:txBody>
              <a:bodyPr>
                <a:normAutofit/>
              </a:bodyPr>
              <a:lstStyle/>
              <a:p>
                <a:pPr marL="0" indent="0">
                  <a:lnSpc>
                    <a:spcPct val="150000"/>
                  </a:lnSpc>
                  <a:spcBef>
                    <a:spcPts val="12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在正态总体</a:t>
                </a:r>
                <a14:m>
                  <m:oMath xmlns:m="http://schemas.openxmlformats.org/officeDocument/2006/math">
                    <m:r>
                      <a:rPr lang="en-US" altLang="zh-CN" sz="2800" b="1" i="1">
                        <a:solidFill>
                          <a:schemeClr val="tx1"/>
                        </a:solidFill>
                        <a:latin typeface="Cambria Math" panose="02040503050406030204" pitchFamily="18" charset="0"/>
                      </a:rPr>
                      <m:t>𝐍</m:t>
                    </m:r>
                    <m:r>
                      <a:rPr lang="en-US" altLang="zh-CN" sz="2800" b="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𝛍</m:t>
                    </m:r>
                    <m:r>
                      <a:rPr lang="en-US" altLang="zh-CN" sz="2800" b="1">
                        <a:solidFill>
                          <a:schemeClr val="tx1"/>
                        </a:solidFill>
                        <a:latin typeface="Cambria Math" panose="02040503050406030204" pitchFamily="18" charset="0"/>
                      </a:rPr>
                      <m:t>,</m:t>
                    </m:r>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𝝈</m:t>
                        </m:r>
                      </m:e>
                      <m:sup>
                        <m:r>
                          <a:rPr lang="en-US" altLang="zh-CN" sz="2800" b="1" i="1">
                            <a:solidFill>
                              <a:schemeClr val="tx1"/>
                            </a:solidFill>
                            <a:latin typeface="Cambria Math" panose="02040503050406030204" pitchFamily="18" charset="0"/>
                          </a:rPr>
                          <m:t>𝟐</m:t>
                        </m:r>
                      </m:sup>
                    </m:sSup>
                    <m:r>
                      <a:rPr lang="en-US" altLang="zh-CN" sz="2800" b="1">
                        <a:solidFill>
                          <a:schemeClr val="tx1"/>
                        </a:solidFill>
                        <a:latin typeface="Cambria Math" panose="02040503050406030204" pitchFamily="18" charset="0"/>
                      </a:rPr>
                      <m:t>)</m:t>
                    </m:r>
                  </m:oMath>
                </a14:m>
                <a:r>
                  <a:rPr lang="zh-CN" altLang="en-US" sz="2800" b="1" dirty="0">
                    <a:solidFill>
                      <a:schemeClr val="tx1"/>
                    </a:solidFill>
                    <a:latin typeface="宋体" panose="02010600030101010101" pitchFamily="2" charset="-122"/>
                    <a:ea typeface="宋体" panose="02010600030101010101" pitchFamily="2" charset="-122"/>
                  </a:rPr>
                  <a:t>中抽出一个容量为</a:t>
                </a:r>
                <a:r>
                  <a:rPr lang="en-US" altLang="zh-CN" sz="2800" b="1" dirty="0">
                    <a:solidFill>
                      <a:schemeClr val="tx1"/>
                    </a:solidFill>
                    <a:latin typeface="宋体" panose="02010600030101010101" pitchFamily="2" charset="-122"/>
                    <a:ea typeface="宋体" panose="02010600030101010101" pitchFamily="2" charset="-122"/>
                  </a:rPr>
                  <a:t>25</a:t>
                </a:r>
                <a:r>
                  <a:rPr lang="zh-CN" altLang="en-US" sz="2800" b="1" dirty="0">
                    <a:solidFill>
                      <a:schemeClr val="tx1"/>
                    </a:solidFill>
                    <a:latin typeface="宋体" panose="02010600030101010101" pitchFamily="2" charset="-122"/>
                    <a:ea typeface="宋体" panose="02010600030101010101" pitchFamily="2" charset="-122"/>
                  </a:rPr>
                  <a:t>的样本， </a:t>
                </a:r>
                <a:endParaRPr lang="en-US" altLang="zh-CN" sz="2800" b="1" dirty="0">
                  <a:solidFill>
                    <a:schemeClr val="tx1"/>
                  </a:solidFill>
                  <a:latin typeface="宋体" panose="02010600030101010101" pitchFamily="2" charset="-122"/>
                  <a:ea typeface="宋体" panose="02010600030101010101" pitchFamily="2" charset="-122"/>
                </a:endParaRPr>
              </a:p>
              <a:p>
                <a:pPr marL="0" indent="0">
                  <a:lnSpc>
                    <a:spcPct val="150000"/>
                  </a:lnSpc>
                  <a:spcBef>
                    <a:spcPts val="1200"/>
                  </a:spcBef>
                  <a:spcAft>
                    <a:spcPts val="0"/>
                  </a:spcAft>
                  <a:buNone/>
                </a:pPr>
                <a14:m>
                  <m:oMath xmlns:m="http://schemas.openxmlformats.org/officeDocument/2006/math">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𝑺</m:t>
                        </m:r>
                      </m:e>
                      <m:sup>
                        <m:r>
                          <a:rPr lang="en-US" altLang="zh-CN" sz="2800" b="1" i="1">
                            <a:solidFill>
                              <a:schemeClr val="tx1"/>
                            </a:solidFill>
                            <a:latin typeface="Cambria Math" panose="02040503050406030204" pitchFamily="18" charset="0"/>
                          </a:rPr>
                          <m:t>𝟐</m:t>
                        </m:r>
                      </m:sup>
                    </m:sSup>
                    <m:r>
                      <a:rPr lang="en-US" altLang="zh-CN" sz="2800" b="1">
                        <a:solidFill>
                          <a:schemeClr val="tx1"/>
                        </a:solidFill>
                        <a:latin typeface="Cambria Math" panose="02040503050406030204" pitchFamily="18" charset="0"/>
                      </a:rPr>
                      <m:t>=</m:t>
                    </m:r>
                    <m:f>
                      <m:fPr>
                        <m:ctrlPr>
                          <a:rPr lang="zh-CN" altLang="zh-CN" sz="2800" b="1" i="1">
                            <a:solidFill>
                              <a:schemeClr val="tx1"/>
                            </a:solidFill>
                            <a:latin typeface="Cambria Math" panose="02040503050406030204" pitchFamily="18" charset="0"/>
                          </a:rPr>
                        </m:ctrlPr>
                      </m:fPr>
                      <m:num>
                        <m:r>
                          <a:rPr lang="en-US" altLang="zh-CN" sz="2800" b="1" i="1">
                            <a:solidFill>
                              <a:schemeClr val="tx1"/>
                            </a:solidFill>
                            <a:latin typeface="Cambria Math" panose="02040503050406030204" pitchFamily="18" charset="0"/>
                          </a:rPr>
                          <m:t>𝟏</m:t>
                        </m:r>
                      </m:num>
                      <m:den>
                        <m:r>
                          <a:rPr lang="en-US" altLang="zh-CN" sz="2800" b="1" i="1">
                            <a:solidFill>
                              <a:schemeClr val="tx1"/>
                            </a:solidFill>
                            <a:latin typeface="Cambria Math" panose="02040503050406030204" pitchFamily="18" charset="0"/>
                          </a:rPr>
                          <m:t>𝟐𝟒</m:t>
                        </m:r>
                      </m:den>
                    </m:f>
                    <m:nary>
                      <m:naryPr>
                        <m:chr m:val="∑"/>
                        <m:limLoc m:val="undOvr"/>
                        <m:ctrlPr>
                          <a:rPr lang="zh-CN" altLang="zh-CN" sz="2800" b="1" i="1">
                            <a:solidFill>
                              <a:schemeClr val="tx1"/>
                            </a:solidFill>
                            <a:latin typeface="Cambria Math" panose="02040503050406030204" pitchFamily="18" charset="0"/>
                          </a:rPr>
                        </m:ctrlPr>
                      </m:naryPr>
                      <m:sub>
                        <m:r>
                          <a:rPr lang="en-US" altLang="zh-CN" sz="2800" b="1" i="1">
                            <a:solidFill>
                              <a:schemeClr val="tx1"/>
                            </a:solidFill>
                            <a:latin typeface="Cambria Math" panose="02040503050406030204" pitchFamily="18" charset="0"/>
                          </a:rPr>
                          <m:t>𝐢</m:t>
                        </m:r>
                        <m:r>
                          <a:rPr lang="en-US" altLang="zh-CN" sz="2800" b="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𝟏</m:t>
                        </m:r>
                      </m:sub>
                      <m:sup>
                        <m:r>
                          <a:rPr lang="en-US" altLang="zh-CN" sz="2800" b="1" i="1">
                            <a:solidFill>
                              <a:schemeClr val="tx1"/>
                            </a:solidFill>
                            <a:latin typeface="Cambria Math" panose="02040503050406030204" pitchFamily="18" charset="0"/>
                          </a:rPr>
                          <m:t>𝟐𝟓</m:t>
                        </m:r>
                      </m:sup>
                      <m:e>
                        <m:sSup>
                          <m:sSupPr>
                            <m:ctrlPr>
                              <a:rPr lang="zh-CN" altLang="zh-CN" sz="2800" b="1" i="1">
                                <a:solidFill>
                                  <a:schemeClr val="tx1"/>
                                </a:solidFill>
                                <a:latin typeface="Cambria Math" panose="02040503050406030204" pitchFamily="18" charset="0"/>
                              </a:rPr>
                            </m:ctrlPr>
                          </m:sSupPr>
                          <m:e>
                            <m:sSub>
                              <m:sSubPr>
                                <m:ctrlPr>
                                  <a:rPr lang="zh-CN" altLang="zh-CN" sz="2800" b="1" i="1">
                                    <a:solidFill>
                                      <a:schemeClr val="tx1"/>
                                    </a:solidFill>
                                    <a:latin typeface="Cambria Math" panose="02040503050406030204" pitchFamily="18" charset="0"/>
                                  </a:rPr>
                                </m:ctrlPr>
                              </m:sSubPr>
                              <m:e>
                                <m:r>
                                  <a:rPr lang="en-US" altLang="zh-CN" sz="2800" b="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𝑿</m:t>
                                </m:r>
                              </m:e>
                              <m:sub>
                                <m:r>
                                  <a:rPr lang="en-US" altLang="zh-CN" sz="2800" b="1" i="1">
                                    <a:solidFill>
                                      <a:schemeClr val="tx1"/>
                                    </a:solidFill>
                                    <a:latin typeface="Cambria Math" panose="02040503050406030204" pitchFamily="18" charset="0"/>
                                  </a:rPr>
                                  <m:t>𝒊</m:t>
                                </m:r>
                              </m:sub>
                            </m:sSub>
                            <m:r>
                              <a:rPr lang="en-US" altLang="zh-CN" sz="2800" b="1">
                                <a:solidFill>
                                  <a:schemeClr val="tx1"/>
                                </a:solidFill>
                                <a:latin typeface="Cambria Math" panose="02040503050406030204" pitchFamily="18" charset="0"/>
                              </a:rPr>
                              <m:t>−</m:t>
                            </m:r>
                            <m:acc>
                              <m:accPr>
                                <m:chr m:val="̅"/>
                                <m:ctrlPr>
                                  <a:rPr lang="zh-CN"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𝐗</m:t>
                                </m:r>
                              </m:e>
                            </m:acc>
                            <m:r>
                              <a:rPr lang="en-US" altLang="zh-CN" sz="2800" b="1" i="1" smtClean="0">
                                <a:solidFill>
                                  <a:schemeClr val="tx1"/>
                                </a:solidFill>
                                <a:latin typeface="Cambria Math" panose="02040503050406030204" pitchFamily="18" charset="0"/>
                              </a:rPr>
                              <m:t>)</m:t>
                            </m:r>
                          </m:e>
                          <m:sup>
                            <m:r>
                              <a:rPr lang="en-US" altLang="zh-CN" sz="2800" b="1" i="1">
                                <a:solidFill>
                                  <a:schemeClr val="tx1"/>
                                </a:solidFill>
                                <a:latin typeface="Cambria Math" panose="02040503050406030204" pitchFamily="18" charset="0"/>
                              </a:rPr>
                              <m:t>𝟐</m:t>
                            </m:r>
                          </m:sup>
                        </m:sSup>
                      </m:e>
                    </m:nary>
                  </m:oMath>
                </a14:m>
                <a:r>
                  <a:rPr lang="zh-CN" altLang="en-US" sz="2800" b="1" dirty="0">
                    <a:solidFill>
                      <a:schemeClr val="tx1"/>
                    </a:solidFill>
                    <a:latin typeface="宋体" panose="02010600030101010101" pitchFamily="2" charset="-122"/>
                    <a:ea typeface="宋体" panose="02010600030101010101" pitchFamily="2" charset="-122"/>
                  </a:rPr>
                  <a:t>为样本修正方差，这里</a:t>
                </a:r>
                <a14:m>
                  <m:oMath xmlns:m="http://schemas.openxmlformats.org/officeDocument/2006/math">
                    <m:r>
                      <a:rPr lang="en-US" altLang="zh-CN" sz="2800" b="1" i="1">
                        <a:solidFill>
                          <a:schemeClr val="tx1"/>
                        </a:solidFill>
                        <a:latin typeface="Cambria Math" panose="02040503050406030204" pitchFamily="18" charset="0"/>
                      </a:rPr>
                      <m:t>𝛍</m:t>
                    </m:r>
                    <m:r>
                      <a:rPr lang="en-US" altLang="zh-CN" sz="2800" b="1">
                        <a:solidFill>
                          <a:schemeClr val="tx1"/>
                        </a:solidFill>
                        <a:latin typeface="Cambria Math" panose="02040503050406030204" pitchFamily="18" charset="0"/>
                      </a:rPr>
                      <m:t>,</m:t>
                    </m:r>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𝝈</m:t>
                        </m:r>
                      </m:e>
                      <m:sup>
                        <m:r>
                          <a:rPr lang="en-US" altLang="zh-CN" sz="2800" b="1" i="1">
                            <a:solidFill>
                              <a:schemeClr val="tx1"/>
                            </a:solidFill>
                            <a:latin typeface="Cambria Math" panose="02040503050406030204" pitchFamily="18" charset="0"/>
                          </a:rPr>
                          <m:t>𝟐</m:t>
                        </m:r>
                      </m:sup>
                    </m:sSup>
                  </m:oMath>
                </a14:m>
                <a:r>
                  <a:rPr lang="zh-CN" altLang="en-US" sz="2800" b="1" dirty="0">
                    <a:solidFill>
                      <a:schemeClr val="tx1"/>
                    </a:solidFill>
                    <a:latin typeface="宋体" panose="02010600030101010101" pitchFamily="2" charset="-122"/>
                    <a:ea typeface="宋体" panose="02010600030101010101" pitchFamily="2" charset="-122"/>
                  </a:rPr>
                  <a:t>均为未知。求：（</a:t>
                </a:r>
                <a:r>
                  <a:rPr lang="en-US" altLang="zh-CN" sz="2800" b="1" dirty="0">
                    <a:solidFill>
                      <a:schemeClr val="tx1"/>
                    </a:solidFill>
                    <a:latin typeface="宋体" panose="02010600030101010101" pitchFamily="2" charset="-122"/>
                    <a:ea typeface="宋体" panose="02010600030101010101" pitchFamily="2" charset="-122"/>
                  </a:rPr>
                  <a:t>1</a:t>
                </a:r>
                <a:r>
                  <a:rPr lang="zh-CN" altLang="en-US" sz="2800" b="1" dirty="0">
                    <a:solidFill>
                      <a:schemeClr val="tx1"/>
                    </a:solidFill>
                    <a:latin typeface="宋体" panose="02010600030101010101" pitchFamily="2" charset="-122"/>
                    <a:ea typeface="宋体" panose="02010600030101010101" pitchFamily="2" charset="-122"/>
                  </a:rPr>
                  <a:t>）</a:t>
                </a:r>
                <a:r>
                  <a:rPr lang="en-US" altLang="zh-CN" sz="28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r>
                      <a:rPr lang="en-US" altLang="zh-CN" sz="2800" b="1" i="1">
                        <a:solidFill>
                          <a:schemeClr val="tx1"/>
                        </a:solidFill>
                        <a:latin typeface="Cambria Math" panose="02040503050406030204" pitchFamily="18" charset="0"/>
                      </a:rPr>
                      <m:t>𝐏</m:t>
                    </m:r>
                    <m:d>
                      <m:dPr>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panose="02040503050406030204" pitchFamily="18" charset="0"/>
                          </a:rPr>
                          <m:t>𝟎</m:t>
                        </m:r>
                        <m:r>
                          <a:rPr lang="en-US" altLang="zh-CN" sz="2800" b="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𝟓𝟕𝟕</m:t>
                        </m:r>
                        <m:r>
                          <a:rPr lang="en-US" altLang="zh-CN" sz="2800" b="1">
                            <a:solidFill>
                              <a:schemeClr val="tx1"/>
                            </a:solidFill>
                            <a:latin typeface="Cambria Math" panose="02040503050406030204" pitchFamily="18" charset="0"/>
                          </a:rPr>
                          <m:t>≤</m:t>
                        </m:r>
                        <m:f>
                          <m:fPr>
                            <m:ctrlPr>
                              <a:rPr lang="zh-CN" altLang="zh-CN" sz="2800" b="1" i="1">
                                <a:solidFill>
                                  <a:schemeClr val="tx1"/>
                                </a:solidFill>
                                <a:latin typeface="Cambria Math" panose="02040503050406030204" pitchFamily="18" charset="0"/>
                              </a:rPr>
                            </m:ctrlPr>
                          </m:fPr>
                          <m:num>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𝑺</m:t>
                                </m:r>
                              </m:e>
                              <m:sup>
                                <m:r>
                                  <a:rPr lang="en-US" altLang="zh-CN" sz="2800" b="1" i="1">
                                    <a:solidFill>
                                      <a:schemeClr val="tx1"/>
                                    </a:solidFill>
                                    <a:latin typeface="Cambria Math" panose="02040503050406030204" pitchFamily="18" charset="0"/>
                                  </a:rPr>
                                  <m:t>𝟐</m:t>
                                </m:r>
                              </m:sup>
                            </m:sSup>
                          </m:num>
                          <m:den>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𝝈</m:t>
                                </m:r>
                              </m:e>
                              <m:sup>
                                <m:r>
                                  <a:rPr lang="en-US" altLang="zh-CN" sz="2800" b="1" i="1">
                                    <a:solidFill>
                                      <a:schemeClr val="tx1"/>
                                    </a:solidFill>
                                    <a:latin typeface="Cambria Math" panose="02040503050406030204" pitchFamily="18" charset="0"/>
                                  </a:rPr>
                                  <m:t>𝟐</m:t>
                                </m:r>
                              </m:sup>
                            </m:sSup>
                          </m:den>
                        </m:f>
                        <m:r>
                          <a:rPr lang="en-US" altLang="zh-CN" sz="2800" b="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𝟏</m:t>
                        </m:r>
                        <m:r>
                          <a:rPr lang="en-US" altLang="zh-CN" sz="2800" b="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𝟓𝟏𝟕𝟑</m:t>
                        </m:r>
                      </m:e>
                    </m:d>
                  </m:oMath>
                </a14:m>
                <a:r>
                  <a:rPr lang="zh-CN" altLang="en-US" sz="2800" b="1" dirty="0">
                    <a:solidFill>
                      <a:schemeClr val="tx1"/>
                    </a:solidFill>
                    <a:latin typeface="宋体" panose="02010600030101010101" pitchFamily="2" charset="-122"/>
                    <a:ea typeface="宋体" panose="02010600030101010101" pitchFamily="2" charset="-122"/>
                  </a:rPr>
                  <a:t>；</a:t>
                </a:r>
              </a:p>
              <a:p>
                <a:pPr marL="0" indent="0">
                  <a:lnSpc>
                    <a:spcPct val="150000"/>
                  </a:lnSpc>
                  <a:spcBef>
                    <a:spcPts val="12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    （</a:t>
                </a:r>
                <a:r>
                  <a:rPr lang="en-US" altLang="zh-CN" sz="2800" b="1" dirty="0">
                    <a:solidFill>
                      <a:schemeClr val="tx1"/>
                    </a:solidFill>
                    <a:latin typeface="宋体" panose="02010600030101010101" pitchFamily="2" charset="-122"/>
                    <a:ea typeface="宋体" panose="02010600030101010101" pitchFamily="2" charset="-122"/>
                  </a:rPr>
                  <a:t>2</a:t>
                </a:r>
                <a:r>
                  <a:rPr lang="zh-CN" altLang="en-US" sz="2800" b="1" dirty="0">
                    <a:solidFill>
                      <a:schemeClr val="tx1"/>
                    </a:solidFill>
                    <a:latin typeface="宋体" panose="02010600030101010101" pitchFamily="2" charset="-122"/>
                    <a:ea typeface="宋体" panose="02010600030101010101" pitchFamily="2" charset="-122"/>
                  </a:rPr>
                  <a:t>）</a:t>
                </a:r>
                <a:r>
                  <a:rPr lang="en-US" altLang="zh-CN" sz="28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r>
                      <a:rPr lang="en-US" altLang="zh-CN" sz="2800" b="1" i="1">
                        <a:solidFill>
                          <a:schemeClr val="tx1"/>
                        </a:solidFill>
                        <a:latin typeface="Cambria Math" panose="02040503050406030204" pitchFamily="18" charset="0"/>
                      </a:rPr>
                      <m:t>𝐃</m:t>
                    </m:r>
                    <m:r>
                      <a:rPr lang="en-US" altLang="zh-CN" sz="2800" b="1">
                        <a:solidFill>
                          <a:schemeClr val="tx1"/>
                        </a:solidFill>
                        <a:latin typeface="Cambria Math" panose="02040503050406030204" pitchFamily="18" charset="0"/>
                      </a:rPr>
                      <m:t>(</m:t>
                    </m:r>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panose="02040503050406030204" pitchFamily="18" charset="0"/>
                          </a:rPr>
                          <m:t>𝑺</m:t>
                        </m:r>
                      </m:e>
                      <m:sup>
                        <m:r>
                          <a:rPr lang="en-US" altLang="zh-CN" sz="2800" b="1" i="1">
                            <a:solidFill>
                              <a:schemeClr val="tx1"/>
                            </a:solidFill>
                            <a:latin typeface="Cambria Math" panose="02040503050406030204" pitchFamily="18" charset="0"/>
                          </a:rPr>
                          <m:t>𝟐</m:t>
                        </m:r>
                      </m:sup>
                    </m:sSup>
                    <m:r>
                      <a:rPr lang="en-US" altLang="zh-CN" sz="2800" b="1">
                        <a:solidFill>
                          <a:schemeClr val="tx1"/>
                        </a:solidFill>
                        <a:latin typeface="Cambria Math" panose="02040503050406030204" pitchFamily="18" charset="0"/>
                      </a:rPr>
                      <m:t>)</m:t>
                    </m:r>
                  </m:oMath>
                </a14:m>
                <a:r>
                  <a:rPr lang="zh-CN" altLang="en-US" sz="2800" b="1" dirty="0">
                    <a:solidFill>
                      <a:schemeClr val="tx1"/>
                    </a:solidFill>
                    <a:latin typeface="宋体" panose="02010600030101010101" pitchFamily="2" charset="-122"/>
                    <a:ea typeface="宋体" panose="02010600030101010101" pitchFamily="2" charset="-122"/>
                  </a:rPr>
                  <a:t>；</a:t>
                </a:r>
              </a:p>
              <a:p>
                <a:pPr marL="0" indent="0">
                  <a:lnSpc>
                    <a:spcPct val="150000"/>
                  </a:lnSpc>
                  <a:spcBef>
                    <a:spcPts val="12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    （</a:t>
                </a:r>
                <a:r>
                  <a:rPr lang="en-US" altLang="zh-CN" sz="2800" b="1" dirty="0">
                    <a:solidFill>
                      <a:schemeClr val="tx1"/>
                    </a:solidFill>
                    <a:latin typeface="宋体" panose="02010600030101010101" pitchFamily="2" charset="-122"/>
                    <a:ea typeface="宋体" panose="02010600030101010101" pitchFamily="2" charset="-122"/>
                  </a:rPr>
                  <a:t>3</a:t>
                </a:r>
                <a:r>
                  <a:rPr lang="zh-CN" altLang="en-US" sz="2800" b="1" dirty="0">
                    <a:solidFill>
                      <a:schemeClr val="tx1"/>
                    </a:solidFill>
                    <a:latin typeface="宋体" panose="02010600030101010101" pitchFamily="2" charset="-122"/>
                    <a:ea typeface="宋体" panose="02010600030101010101" pitchFamily="2" charset="-122"/>
                  </a:rPr>
                  <a:t>）当</a:t>
                </a:r>
                <a14:m>
                  <m:oMath xmlns:m="http://schemas.openxmlformats.org/officeDocument/2006/math">
                    <m:r>
                      <a:rPr lang="zh-CN" altLang="en-US" sz="2800" b="1" i="1" smtClean="0">
                        <a:solidFill>
                          <a:schemeClr val="tx1"/>
                        </a:solidFill>
                        <a:latin typeface="Cambria Math" panose="02040503050406030204" pitchFamily="18" charset="0"/>
                      </a:rPr>
                      <m:t>𝝈</m:t>
                    </m:r>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𝟐</m:t>
                    </m:r>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𝟑</m:t>
                    </m:r>
                  </m:oMath>
                </a14:m>
                <a:r>
                  <a:rPr lang="zh-CN" altLang="en-US" sz="2800" b="1" dirty="0">
                    <a:solidFill>
                      <a:schemeClr val="tx1"/>
                    </a:solidFill>
                    <a:latin typeface="宋体" panose="02010600030101010101" pitchFamily="2" charset="-122"/>
                    <a:ea typeface="宋体" panose="02010600030101010101" pitchFamily="2" charset="-122"/>
                  </a:rPr>
                  <a:t>时，若要求</a:t>
                </a:r>
                <a14:m>
                  <m:oMath xmlns:m="http://schemas.openxmlformats.org/officeDocument/2006/math">
                    <m:r>
                      <a:rPr lang="en-US" altLang="zh-CN" sz="2800" b="1" i="1">
                        <a:solidFill>
                          <a:schemeClr val="tx1"/>
                        </a:solidFill>
                        <a:latin typeface="Cambria Math" panose="02040503050406030204" pitchFamily="18" charset="0"/>
                      </a:rPr>
                      <m:t>𝑷</m:t>
                    </m:r>
                    <m:r>
                      <a:rPr lang="en-US" altLang="zh-CN" sz="2800" b="1" i="1">
                        <a:solidFill>
                          <a:schemeClr val="tx1"/>
                        </a:solidFill>
                        <a:latin typeface="Cambria Math" panose="02040503050406030204" pitchFamily="18" charset="0"/>
                      </a:rPr>
                      <m:t>(</m:t>
                    </m:r>
                    <m:d>
                      <m:dPr>
                        <m:begChr m:val="|"/>
                        <m:endChr m:val="|"/>
                        <m:ctrlPr>
                          <a:rPr lang="zh-CN" altLang="zh-CN" sz="2800" b="1" i="1">
                            <a:solidFill>
                              <a:schemeClr val="tx1"/>
                            </a:solidFill>
                            <a:latin typeface="Cambria Math" panose="02040503050406030204" pitchFamily="18" charset="0"/>
                          </a:rPr>
                        </m:ctrlPr>
                      </m:dPr>
                      <m:e>
                        <m:acc>
                          <m:accPr>
                            <m:chr m:val="̅"/>
                            <m:ctrlPr>
                              <a:rPr lang="zh-CN"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𝑿</m:t>
                            </m:r>
                          </m:e>
                        </m:acc>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𝝁</m:t>
                        </m:r>
                      </m:e>
                    </m:d>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𝟏</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𝟎</m:t>
                    </m:r>
                    <m:r>
                      <a:rPr lang="en-US" altLang="zh-CN"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𝟗</m:t>
                    </m:r>
                  </m:oMath>
                </a14:m>
                <a:r>
                  <a:rPr lang="zh-CN" altLang="en-US" sz="2800" b="1" dirty="0">
                    <a:solidFill>
                      <a:schemeClr val="tx1"/>
                    </a:solidFill>
                    <a:latin typeface="宋体" panose="02010600030101010101" pitchFamily="2" charset="-122"/>
                    <a:ea typeface="宋体" panose="02010600030101010101" pitchFamily="2" charset="-122"/>
                  </a:rPr>
                  <a:t>，那么样本容量至少要多大？ </a:t>
                </a:r>
              </a:p>
              <a:p>
                <a:pPr marL="0" indent="720000">
                  <a:lnSpc>
                    <a:spcPct val="150000"/>
                  </a:lnSpc>
                  <a:spcBef>
                    <a:spcPts val="1200"/>
                  </a:spcBef>
                  <a:spcAft>
                    <a:spcPts val="0"/>
                  </a:spcAft>
                  <a:buNone/>
                </a:pPr>
                <a:endParaRPr lang="zh-CN" altLang="en-US" sz="2800" b="1"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094873" y="847488"/>
                <a:ext cx="9625263" cy="5333761"/>
              </a:xfrm>
              <a:blipFill>
                <a:blip r:embed="rId2"/>
                <a:stretch>
                  <a:fillRect l="-1330" r="-1267"/>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标题 1">
            <a:extLst>
              <a:ext uri="{FF2B5EF4-FFF2-40B4-BE49-F238E27FC236}">
                <a16:creationId xmlns:a16="http://schemas.microsoft.com/office/drawing/2014/main" id="{AF45C400-9198-FFD2-A6C8-7D59549FBE66}"/>
              </a:ext>
            </a:extLst>
          </p:cNvPr>
          <p:cNvSpPr txBox="1">
            <a:spLocks/>
          </p:cNvSpPr>
          <p:nvPr/>
        </p:nvSpPr>
        <p:spPr>
          <a:xfrm>
            <a:off x="1660358" y="184706"/>
            <a:ext cx="10261133"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sz="3600" b="1" kern="0" dirty="0">
                <a:effectLst/>
              </a:rPr>
              <a:t>【</a:t>
            </a:r>
            <a:r>
              <a:rPr lang="zh-CN" altLang="en-US" sz="3600" b="1" kern="0" dirty="0">
                <a:effectLst/>
              </a:rPr>
              <a:t>例</a:t>
            </a:r>
            <a:r>
              <a:rPr lang="en-US" altLang="zh-CN" sz="3600" b="1" kern="0" dirty="0">
                <a:effectLst/>
              </a:rPr>
              <a:t>6-8】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7" name="文本框 6"/>
              <p:cNvSpPr txBox="1"/>
              <p:nvPr/>
            </p:nvSpPr>
            <p:spPr>
              <a:xfrm>
                <a:off x="1067596" y="632671"/>
                <a:ext cx="9147215" cy="5521320"/>
              </a:xfrm>
              <a:prstGeom prst="rect">
                <a:avLst/>
              </a:prstGeom>
              <a:noFill/>
            </p:spPr>
            <p:txBody>
              <a:bodyPr wrap="square" rtlCol="0">
                <a:spAutoFit/>
              </a:bodyPr>
              <a:lstStyle/>
              <a:p>
                <a:pPr marR="0" lvl="0" defTabSz="914400" rtl="0" eaLnBrk="1" fontAlgn="auto" latinLnBrk="0" hangingPunct="1">
                  <a:lnSpc>
                    <a:spcPct val="130000"/>
                  </a:lnSpc>
                  <a:spcBef>
                    <a:spcPts val="600"/>
                  </a:spcBef>
                  <a:spcAft>
                    <a:spcPts val="0"/>
                  </a:spcAft>
                  <a:buClrTx/>
                  <a:buSzTx/>
                  <a:buFontTx/>
                  <a:buNone/>
                  <a:tabLst/>
                  <a:defRPr/>
                </a:pPr>
                <a:r>
                  <a:rPr kumimoji="0" lang="zh-CN" altLang="en-US" sz="2800" b="1" i="0" u="none" strike="noStrike" kern="1200" cap="none" spc="0" normalizeH="0" baseline="0" noProof="0" dirty="0">
                    <a:ln>
                      <a:noFill/>
                    </a:ln>
                    <a:solidFill>
                      <a:srgbClr val="00B0F0"/>
                    </a:solidFill>
                    <a:effectLst/>
                    <a:uLnTx/>
                    <a:uFillTx/>
                    <a:latin typeface="宋体" panose="02010600030101010101" pitchFamily="2" charset="-122"/>
                    <a:ea typeface="宋体" panose="02010600030101010101" pitchFamily="2" charset="-122"/>
                  </a:rPr>
                  <a:t>（</a:t>
                </a:r>
                <a:r>
                  <a:rPr kumimoji="0" lang="en-US" altLang="zh-CN" sz="2800" b="1" i="0" u="none" strike="noStrike" kern="1200" cap="none" spc="0" normalizeH="0" baseline="0" noProof="0" dirty="0">
                    <a:ln>
                      <a:noFill/>
                    </a:ln>
                    <a:solidFill>
                      <a:srgbClr val="00B0F0"/>
                    </a:solidFill>
                    <a:effectLst/>
                    <a:uLnTx/>
                    <a:uFillTx/>
                    <a:latin typeface="宋体" panose="02010600030101010101" pitchFamily="2" charset="-122"/>
                    <a:ea typeface="宋体" panose="02010600030101010101" pitchFamily="2" charset="-122"/>
                  </a:rPr>
                  <a:t>1</a:t>
                </a:r>
                <a:r>
                  <a:rPr kumimoji="0" lang="zh-CN" altLang="en-US" sz="2800" b="1" i="0" u="none" strike="noStrike" kern="1200" cap="none" spc="0" normalizeH="0" baseline="0" noProof="0" dirty="0">
                    <a:ln>
                      <a:noFill/>
                    </a:ln>
                    <a:solidFill>
                      <a:srgbClr val="00B0F0"/>
                    </a:solidFill>
                    <a:effectLst/>
                    <a:uLnTx/>
                    <a:uFillTx/>
                    <a:latin typeface="宋体" panose="02010600030101010101" pitchFamily="2" charset="-122"/>
                    <a:ea typeface="宋体" panose="02010600030101010101" pitchFamily="2" charset="-122"/>
                  </a:rPr>
                  <a:t>）</a:t>
                </a:r>
                <a:r>
                  <a:rPr kumimoji="0" lang="zh-CN" altLang="en-US" sz="2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由式（</a:t>
                </a:r>
                <a:r>
                  <a:rPr kumimoji="0" lang="en-US" altLang="zh-CN" sz="2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6-16</a:t>
                </a:r>
                <a:r>
                  <a:rPr kumimoji="0" lang="zh-CN" altLang="en-US" sz="2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）可知</a:t>
                </a:r>
                <a:r>
                  <a:rPr lang="en-US" altLang="zh-CN" sz="2800" dirty="0">
                    <a:latin typeface="宋体" panose="02010600030101010101" pitchFamily="2" charset="-122"/>
                    <a:ea typeface="宋体" panose="02010600030101010101" pitchFamily="2" charset="-122"/>
                  </a:rPr>
                  <a:t> </a:t>
                </a:r>
                <a14:m>
                  <m:oMath xmlns:m="http://schemas.openxmlformats.org/officeDocument/2006/math">
                    <m:sSup>
                      <m:sSupPr>
                        <m:ctrlPr>
                          <a:rPr kumimoji="0" lang="zh-CN" altLang="zh-CN" sz="2800" b="0" i="1"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ctrlPr>
                      </m:sSupPr>
                      <m:e>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𝜒</m:t>
                        </m:r>
                      </m:e>
                      <m:sup>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2</m:t>
                        </m:r>
                      </m:sup>
                    </m:sSup>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m:t>
                    </m:r>
                    <m:f>
                      <m:fPr>
                        <m:ctrlPr>
                          <a:rPr kumimoji="0" lang="zh-CN" altLang="zh-CN" sz="2800" b="0" i="1"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ctrlPr>
                      </m:fPr>
                      <m:num>
                        <m:d>
                          <m:dPr>
                            <m:ctrlPr>
                              <a:rPr kumimoji="0" lang="zh-CN" altLang="zh-CN" sz="2800" b="0" i="1"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ctrlPr>
                          </m:dPr>
                          <m:e>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𝑛</m:t>
                            </m:r>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−1</m:t>
                            </m:r>
                          </m:e>
                        </m:d>
                        <m:sSup>
                          <m:sSupPr>
                            <m:ctrlPr>
                              <a:rPr kumimoji="0" lang="zh-CN" altLang="zh-CN" sz="2800" b="0" i="1"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ctrlPr>
                          </m:sSupPr>
                          <m:e>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𝑆</m:t>
                            </m:r>
                          </m:e>
                          <m:sup>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2</m:t>
                            </m:r>
                          </m:sup>
                        </m:sSup>
                      </m:num>
                      <m:den>
                        <m:sSup>
                          <m:sSupPr>
                            <m:ctrlPr>
                              <a:rPr kumimoji="0" lang="zh-CN" altLang="zh-CN" sz="2800" b="0" i="1"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ctrlPr>
                          </m:sSupPr>
                          <m:e>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𝜎</m:t>
                            </m:r>
                          </m:e>
                          <m:sup>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2</m:t>
                            </m:r>
                          </m:sup>
                        </m:sSup>
                      </m:den>
                    </m:f>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m:t>
                    </m:r>
                    <m:f>
                      <m:fPr>
                        <m:ctrlPr>
                          <a:rPr kumimoji="0" lang="zh-CN" altLang="zh-CN" sz="2800" b="0" i="1"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ctrlPr>
                      </m:fPr>
                      <m:num>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(25−1)</m:t>
                        </m:r>
                        <m:sSup>
                          <m:sSupPr>
                            <m:ctrlPr>
                              <a:rPr kumimoji="0" lang="zh-CN" altLang="zh-CN" sz="2800" b="0" i="1"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ctrlPr>
                          </m:sSupPr>
                          <m:e>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𝑆</m:t>
                            </m:r>
                          </m:e>
                          <m:sup>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2</m:t>
                            </m:r>
                          </m:sup>
                        </m:sSup>
                      </m:num>
                      <m:den>
                        <m:sSup>
                          <m:sSupPr>
                            <m:ctrlPr>
                              <a:rPr kumimoji="0" lang="zh-CN" altLang="zh-CN" sz="2800" b="0" i="1"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ctrlPr>
                          </m:sSupPr>
                          <m:e>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𝜎</m:t>
                            </m:r>
                          </m:e>
                          <m:sup>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2</m:t>
                            </m:r>
                          </m:sup>
                        </m:sSup>
                      </m:den>
                    </m:f>
                    <m:r>
                      <a:rPr kumimoji="0" lang="en-US" altLang="zh-CN" sz="2800" b="0" i="0" u="none" strike="noStrike" kern="1200" cap="none" spc="0" normalizeH="0" baseline="0" noProof="0">
                        <a:ln>
                          <a:noFill/>
                        </a:ln>
                        <a:solidFill>
                          <a:schemeClr val="tx1"/>
                        </a:solidFill>
                        <a:effectLst/>
                        <a:uLnTx/>
                        <a:uFillTx/>
                        <a:latin typeface="Cambria Math" panose="02040503050406030204" pitchFamily="18" charset="0"/>
                        <a:ea typeface="微软雅黑" panose="020B0503020204020204" pitchFamily="34" charset="-122"/>
                      </a:rPr>
                      <m:t>~</m:t>
                    </m:r>
                    <m:sSup>
                      <m:sSupPr>
                        <m:ctrlPr>
                          <a:rPr kumimoji="0" lang="zh-CN" altLang="zh-CN" sz="2800" b="0" i="1" u="none" strike="noStrike" kern="1200" cap="none" spc="0" normalizeH="0" baseline="0" noProof="0" smtClean="0">
                            <a:ln>
                              <a:noFill/>
                            </a:ln>
                            <a:solidFill>
                              <a:srgbClr val="00B0F0"/>
                            </a:solidFill>
                            <a:effectLst/>
                            <a:uLnTx/>
                            <a:uFillTx/>
                            <a:latin typeface="Cambria Math" panose="02040503050406030204" pitchFamily="18" charset="0"/>
                            <a:ea typeface="微软雅黑" panose="020B0503020204020204" pitchFamily="34" charset="-122"/>
                          </a:rPr>
                        </m:ctrlPr>
                      </m:sSupPr>
                      <m:e>
                        <m:r>
                          <a:rPr kumimoji="0" lang="en-US" altLang="zh-CN" sz="2800" b="0" i="0" u="none" strike="noStrike" kern="1200" cap="none" spc="0" normalizeH="0" baseline="0" noProof="0">
                            <a:ln>
                              <a:noFill/>
                            </a:ln>
                            <a:solidFill>
                              <a:srgbClr val="00B0F0"/>
                            </a:solidFill>
                            <a:effectLst/>
                            <a:uLnTx/>
                            <a:uFillTx/>
                            <a:latin typeface="Cambria Math" panose="02040503050406030204" pitchFamily="18" charset="0"/>
                            <a:ea typeface="微软雅黑" panose="020B0503020204020204" pitchFamily="34" charset="-122"/>
                          </a:rPr>
                          <m:t>𝜒</m:t>
                        </m:r>
                      </m:e>
                      <m:sup>
                        <m:r>
                          <a:rPr kumimoji="0" lang="en-US" altLang="zh-CN" sz="2800" b="0" i="0" u="none" strike="noStrike" kern="1200" cap="none" spc="0" normalizeH="0" baseline="0" noProof="0">
                            <a:ln>
                              <a:noFill/>
                            </a:ln>
                            <a:solidFill>
                              <a:srgbClr val="00B0F0"/>
                            </a:solidFill>
                            <a:effectLst/>
                            <a:uLnTx/>
                            <a:uFillTx/>
                            <a:latin typeface="Cambria Math" panose="02040503050406030204" pitchFamily="18" charset="0"/>
                            <a:ea typeface="微软雅黑" panose="020B0503020204020204" pitchFamily="34" charset="-122"/>
                          </a:rPr>
                          <m:t>2</m:t>
                        </m:r>
                      </m:sup>
                    </m:sSup>
                    <m:r>
                      <a:rPr kumimoji="0" lang="en-US" altLang="zh-CN" sz="2800" b="0" i="0" u="none" strike="noStrike" kern="1200" cap="none" spc="0" normalizeH="0" baseline="0" noProof="0">
                        <a:ln>
                          <a:noFill/>
                        </a:ln>
                        <a:solidFill>
                          <a:srgbClr val="00B0F0"/>
                        </a:solidFill>
                        <a:effectLst/>
                        <a:uLnTx/>
                        <a:uFillTx/>
                        <a:latin typeface="Cambria Math" panose="02040503050406030204" pitchFamily="18" charset="0"/>
                        <a:ea typeface="微软雅黑" panose="020B0503020204020204" pitchFamily="34" charset="-122"/>
                      </a:rPr>
                      <m:t>(24)</m:t>
                    </m:r>
                  </m:oMath>
                </a14:m>
                <a:endParaRPr kumimoji="0" lang="en-US" altLang="zh-CN" sz="2800" b="0" i="0" u="none" strike="noStrike" kern="1200" cap="none" spc="0" normalizeH="0" baseline="0" noProof="0" dirty="0">
                  <a:ln>
                    <a:noFill/>
                  </a:ln>
                  <a:solidFill>
                    <a:srgbClr val="00B0F0"/>
                  </a:solidFill>
                  <a:effectLst/>
                  <a:uLnTx/>
                  <a:uFillTx/>
                  <a:latin typeface="宋体" panose="02010600030101010101" pitchFamily="2" charset="-122"/>
                  <a:ea typeface="宋体" panose="02010600030101010101" pitchFamily="2" charset="-122"/>
                </a:endParaRPr>
              </a:p>
              <a:p>
                <a:pPr marL="625475" lvl="0" algn="just">
                  <a:lnSpc>
                    <a:spcPct val="130000"/>
                  </a:lnSpc>
                  <a:spcBef>
                    <a:spcPts val="600"/>
                  </a:spcBef>
                  <a:defRPr/>
                </a:pPr>
                <a14:m>
                  <m:oMathPara xmlns:m="http://schemas.openxmlformats.org/officeDocument/2006/math">
                    <m:oMathParaPr>
                      <m:jc m:val="left"/>
                    </m:oMathParaPr>
                    <m:oMath xmlns:m="http://schemas.openxmlformats.org/officeDocument/2006/math">
                      <m:r>
                        <a:rPr lang="en-US" altLang="zh-CN" sz="2800">
                          <a:latin typeface="Cambria Math" panose="02040503050406030204" pitchFamily="18" charset="0"/>
                          <a:ea typeface="微软雅黑" panose="020B0503020204020204" pitchFamily="34" charset="-122"/>
                        </a:rPr>
                        <m:t>𝑃</m:t>
                      </m:r>
                      <m:d>
                        <m:dPr>
                          <m:ctrlPr>
                            <a:rPr lang="zh-CN" altLang="zh-CN" sz="2800" i="1">
                              <a:latin typeface="Cambria Math" panose="02040503050406030204" pitchFamily="18" charset="0"/>
                              <a:ea typeface="微软雅黑" panose="020B0503020204020204" pitchFamily="34" charset="-122"/>
                            </a:rPr>
                          </m:ctrlPr>
                        </m:dPr>
                        <m:e>
                          <m:r>
                            <a:rPr lang="en-US" altLang="zh-CN" sz="2800">
                              <a:latin typeface="Cambria Math" panose="02040503050406030204" pitchFamily="18" charset="0"/>
                              <a:ea typeface="微软雅黑" panose="020B0503020204020204" pitchFamily="34" charset="-122"/>
                            </a:rPr>
                            <m:t>0.577≤</m:t>
                          </m:r>
                          <m:f>
                            <m:fPr>
                              <m:ctrlPr>
                                <a:rPr lang="zh-CN" altLang="zh-CN" sz="2800" i="1">
                                  <a:latin typeface="Cambria Math" panose="02040503050406030204" pitchFamily="18" charset="0"/>
                                  <a:ea typeface="微软雅黑" panose="020B0503020204020204" pitchFamily="34" charset="-122"/>
                                </a:rPr>
                              </m:ctrlPr>
                            </m:fPr>
                            <m:num>
                              <m:sSup>
                                <m:sSupPr>
                                  <m:ctrlPr>
                                    <a:rPr lang="zh-CN" altLang="zh-CN" sz="2800" i="1">
                                      <a:latin typeface="Cambria Math" panose="02040503050406030204" pitchFamily="18" charset="0"/>
                                      <a:ea typeface="微软雅黑" panose="020B0503020204020204" pitchFamily="34" charset="-122"/>
                                    </a:rPr>
                                  </m:ctrlPr>
                                </m:sSupPr>
                                <m:e>
                                  <m:r>
                                    <a:rPr lang="en-US" altLang="zh-CN" sz="2800">
                                      <a:latin typeface="Cambria Math" panose="02040503050406030204" pitchFamily="18" charset="0"/>
                                      <a:ea typeface="微软雅黑" panose="020B0503020204020204" pitchFamily="34" charset="-122"/>
                                    </a:rPr>
                                    <m:t>𝑆</m:t>
                                  </m:r>
                                </m:e>
                                <m:sup>
                                  <m:r>
                                    <a:rPr lang="en-US" altLang="zh-CN" sz="2800">
                                      <a:latin typeface="Cambria Math" panose="02040503050406030204" pitchFamily="18" charset="0"/>
                                      <a:ea typeface="微软雅黑" panose="020B0503020204020204" pitchFamily="34" charset="-122"/>
                                    </a:rPr>
                                    <m:t>2</m:t>
                                  </m:r>
                                </m:sup>
                              </m:sSup>
                            </m:num>
                            <m:den>
                              <m:sSup>
                                <m:sSupPr>
                                  <m:ctrlPr>
                                    <a:rPr lang="zh-CN" altLang="zh-CN" sz="2800" i="1">
                                      <a:latin typeface="Cambria Math" panose="02040503050406030204" pitchFamily="18" charset="0"/>
                                      <a:ea typeface="微软雅黑" panose="020B0503020204020204" pitchFamily="34" charset="-122"/>
                                    </a:rPr>
                                  </m:ctrlPr>
                                </m:sSupPr>
                                <m:e>
                                  <m:r>
                                    <a:rPr lang="en-US" altLang="zh-CN" sz="2800">
                                      <a:latin typeface="Cambria Math" panose="02040503050406030204" pitchFamily="18" charset="0"/>
                                      <a:ea typeface="微软雅黑" panose="020B0503020204020204" pitchFamily="34" charset="-122"/>
                                    </a:rPr>
                                    <m:t>𝜎</m:t>
                                  </m:r>
                                </m:e>
                                <m:sup>
                                  <m:r>
                                    <a:rPr lang="en-US" altLang="zh-CN" sz="2800">
                                      <a:latin typeface="Cambria Math" panose="02040503050406030204" pitchFamily="18" charset="0"/>
                                      <a:ea typeface="微软雅黑" panose="020B0503020204020204" pitchFamily="34" charset="-122"/>
                                    </a:rPr>
                                    <m:t>2</m:t>
                                  </m:r>
                                </m:sup>
                              </m:sSup>
                            </m:den>
                          </m:f>
                          <m:r>
                            <a:rPr lang="en-US" altLang="zh-CN" sz="2800">
                              <a:latin typeface="Cambria Math" panose="02040503050406030204" pitchFamily="18" charset="0"/>
                              <a:ea typeface="微软雅黑" panose="020B0503020204020204" pitchFamily="34" charset="-122"/>
                            </a:rPr>
                            <m:t>≤1.5173</m:t>
                          </m:r>
                        </m:e>
                      </m:d>
                    </m:oMath>
                  </m:oMathPara>
                </a14:m>
                <a:endParaRPr lang="en-US" altLang="zh-CN" sz="2800" i="1" dirty="0">
                  <a:latin typeface="Cambria Math" panose="02040503050406030204" pitchFamily="18" charset="0"/>
                  <a:ea typeface="微软雅黑" panose="020B0503020204020204" pitchFamily="34" charset="-122"/>
                </a:endParaRPr>
              </a:p>
              <a:p>
                <a:pPr marL="625475" lvl="0" algn="just">
                  <a:lnSpc>
                    <a:spcPct val="130000"/>
                  </a:lnSpc>
                  <a:spcBef>
                    <a:spcPts val="600"/>
                  </a:spcBef>
                  <a:defRPr/>
                </a:pPr>
                <a14:m>
                  <m:oMathPara xmlns:m="http://schemas.openxmlformats.org/officeDocument/2006/math">
                    <m:oMathParaPr>
                      <m:jc m:val="left"/>
                    </m:oMathParaPr>
                    <m:oMath xmlns:m="http://schemas.openxmlformats.org/officeDocument/2006/math">
                      <m:r>
                        <a:rPr lang="en-US" altLang="zh-CN" sz="2800">
                          <a:latin typeface="Cambria Math" panose="02040503050406030204" pitchFamily="18" charset="0"/>
                          <a:ea typeface="微软雅黑" panose="020B0503020204020204" pitchFamily="34" charset="-122"/>
                        </a:rPr>
                        <m:t>=</m:t>
                      </m:r>
                      <m:r>
                        <a:rPr lang="en-US" altLang="zh-CN" sz="2800">
                          <a:latin typeface="Cambria Math" panose="02040503050406030204" pitchFamily="18" charset="0"/>
                          <a:ea typeface="微软雅黑" panose="020B0503020204020204" pitchFamily="34" charset="-122"/>
                        </a:rPr>
                        <m:t>𝑃</m:t>
                      </m:r>
                      <m:d>
                        <m:dPr>
                          <m:ctrlPr>
                            <a:rPr lang="zh-CN" altLang="zh-CN" sz="2800" i="1">
                              <a:latin typeface="Cambria Math" panose="02040503050406030204" pitchFamily="18" charset="0"/>
                              <a:ea typeface="微软雅黑" panose="020B0503020204020204" pitchFamily="34" charset="-122"/>
                            </a:rPr>
                          </m:ctrlPr>
                        </m:dPr>
                        <m:e>
                          <m:r>
                            <a:rPr lang="en-US" altLang="zh-CN" sz="2800">
                              <a:latin typeface="Cambria Math" panose="02040503050406030204" pitchFamily="18" charset="0"/>
                              <a:ea typeface="微软雅黑" panose="020B0503020204020204" pitchFamily="34" charset="-122"/>
                            </a:rPr>
                            <m:t>0.577</m:t>
                          </m:r>
                          <m:r>
                            <a:rPr lang="en-US" altLang="zh-CN" sz="2800" smtClean="0">
                              <a:solidFill>
                                <a:srgbClr val="0070C0"/>
                              </a:solidFill>
                              <a:latin typeface="Cambria Math" panose="02040503050406030204" pitchFamily="18" charset="0"/>
                              <a:ea typeface="微软雅黑" panose="020B0503020204020204" pitchFamily="34" charset="-122"/>
                            </a:rPr>
                            <m:t>×24</m:t>
                          </m:r>
                          <m:r>
                            <a:rPr lang="en-US" altLang="zh-CN" sz="2800">
                              <a:latin typeface="Cambria Math" panose="02040503050406030204" pitchFamily="18" charset="0"/>
                              <a:ea typeface="微软雅黑" panose="020B0503020204020204" pitchFamily="34" charset="-122"/>
                            </a:rPr>
                            <m:t>≤</m:t>
                          </m:r>
                          <m:f>
                            <m:fPr>
                              <m:ctrlPr>
                                <a:rPr lang="zh-CN" altLang="zh-CN" sz="2800" i="1">
                                  <a:latin typeface="Cambria Math" panose="02040503050406030204" pitchFamily="18" charset="0"/>
                                  <a:ea typeface="微软雅黑" panose="020B0503020204020204" pitchFamily="34" charset="-122"/>
                                </a:rPr>
                              </m:ctrlPr>
                            </m:fPr>
                            <m:num>
                              <m:sSup>
                                <m:sSupPr>
                                  <m:ctrlPr>
                                    <a:rPr lang="zh-CN" altLang="zh-CN" sz="2800" i="1">
                                      <a:latin typeface="Cambria Math" panose="02040503050406030204" pitchFamily="18" charset="0"/>
                                      <a:ea typeface="微软雅黑" panose="020B0503020204020204" pitchFamily="34" charset="-122"/>
                                    </a:rPr>
                                  </m:ctrlPr>
                                </m:sSupPr>
                                <m:e>
                                  <m:r>
                                    <a:rPr lang="en-US" altLang="zh-CN" sz="2800" smtClean="0">
                                      <a:solidFill>
                                        <a:srgbClr val="0070C0"/>
                                      </a:solidFill>
                                      <a:latin typeface="Cambria Math" charset="0"/>
                                      <a:ea typeface="微软雅黑" panose="020B0503020204020204" pitchFamily="34" charset="-122"/>
                                    </a:rPr>
                                    <m:t>24</m:t>
                                  </m:r>
                                  <m:r>
                                    <a:rPr lang="en-US" altLang="zh-CN" sz="2800">
                                      <a:latin typeface="Cambria Math" panose="02040503050406030204" pitchFamily="18" charset="0"/>
                                      <a:ea typeface="微软雅黑" panose="020B0503020204020204" pitchFamily="34" charset="-122"/>
                                    </a:rPr>
                                    <m:t>𝑆</m:t>
                                  </m:r>
                                </m:e>
                                <m:sup>
                                  <m:r>
                                    <a:rPr lang="en-US" altLang="zh-CN" sz="2800">
                                      <a:latin typeface="Cambria Math" panose="02040503050406030204" pitchFamily="18" charset="0"/>
                                      <a:ea typeface="微软雅黑" panose="020B0503020204020204" pitchFamily="34" charset="-122"/>
                                    </a:rPr>
                                    <m:t>2</m:t>
                                  </m:r>
                                </m:sup>
                              </m:sSup>
                            </m:num>
                            <m:den>
                              <m:sSup>
                                <m:sSupPr>
                                  <m:ctrlPr>
                                    <a:rPr lang="zh-CN" altLang="zh-CN" sz="2800" i="1">
                                      <a:latin typeface="Cambria Math" panose="02040503050406030204" pitchFamily="18" charset="0"/>
                                      <a:ea typeface="微软雅黑" panose="020B0503020204020204" pitchFamily="34" charset="-122"/>
                                    </a:rPr>
                                  </m:ctrlPr>
                                </m:sSupPr>
                                <m:e>
                                  <m:r>
                                    <a:rPr lang="en-US" altLang="zh-CN" sz="2800">
                                      <a:latin typeface="Cambria Math" panose="02040503050406030204" pitchFamily="18" charset="0"/>
                                      <a:ea typeface="微软雅黑" panose="020B0503020204020204" pitchFamily="34" charset="-122"/>
                                    </a:rPr>
                                    <m:t>𝜎</m:t>
                                  </m:r>
                                </m:e>
                                <m:sup>
                                  <m:r>
                                    <a:rPr lang="en-US" altLang="zh-CN" sz="2800">
                                      <a:latin typeface="Cambria Math" panose="02040503050406030204" pitchFamily="18" charset="0"/>
                                      <a:ea typeface="微软雅黑" panose="020B0503020204020204" pitchFamily="34" charset="-122"/>
                                    </a:rPr>
                                    <m:t>2</m:t>
                                  </m:r>
                                </m:sup>
                              </m:sSup>
                            </m:den>
                          </m:f>
                          <m:r>
                            <a:rPr lang="en-US" altLang="zh-CN" sz="2800">
                              <a:latin typeface="Cambria Math" panose="02040503050406030204" pitchFamily="18" charset="0"/>
                              <a:ea typeface="微软雅黑" panose="020B0503020204020204" pitchFamily="34" charset="-122"/>
                            </a:rPr>
                            <m:t>≤1.5173</m:t>
                          </m:r>
                          <m:r>
                            <a:rPr lang="en-US" altLang="zh-CN" sz="2800" smtClean="0">
                              <a:solidFill>
                                <a:srgbClr val="0070C0"/>
                              </a:solidFill>
                              <a:latin typeface="Cambria Math" panose="02040503050406030204" pitchFamily="18" charset="0"/>
                              <a:ea typeface="微软雅黑" panose="020B0503020204020204" pitchFamily="34" charset="-122"/>
                            </a:rPr>
                            <m:t>×24</m:t>
                          </m:r>
                        </m:e>
                      </m:d>
                    </m:oMath>
                  </m:oMathPara>
                </a14:m>
                <a:endParaRPr kumimoji="0" lang="en-US" altLang="zh-CN" sz="2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625475" lvl="0" algn="just">
                  <a:lnSpc>
                    <a:spcPct val="150000"/>
                  </a:lnSpc>
                  <a:spcBef>
                    <a:spcPts val="600"/>
                  </a:spcBef>
                  <a:defRPr/>
                </a:pPr>
                <a14:m>
                  <m:oMathPara xmlns:m="http://schemas.openxmlformats.org/officeDocument/2006/math">
                    <m:oMathParaPr>
                      <m:jc m:val="left"/>
                    </m:oMathParaPr>
                    <m:oMath xmlns:m="http://schemas.openxmlformats.org/officeDocument/2006/math">
                      <m:r>
                        <a:rPr lang="en-US" altLang="zh-CN" sz="2800">
                          <a:latin typeface="Cambria Math" panose="02040503050406030204" pitchFamily="18" charset="0"/>
                          <a:ea typeface="微软雅黑" panose="020B0503020204020204" pitchFamily="34" charset="-122"/>
                        </a:rPr>
                        <m:t>=</m:t>
                      </m:r>
                      <m:r>
                        <a:rPr lang="en-US" altLang="zh-CN" sz="2800">
                          <a:latin typeface="Cambria Math" panose="02040503050406030204" pitchFamily="18" charset="0"/>
                          <a:ea typeface="微软雅黑" panose="020B0503020204020204" pitchFamily="34" charset="-122"/>
                        </a:rPr>
                        <m:t>𝑃</m:t>
                      </m:r>
                      <m:d>
                        <m:dPr>
                          <m:ctrlPr>
                            <a:rPr lang="zh-CN" altLang="zh-CN" sz="2800" i="1">
                              <a:latin typeface="Cambria Math" panose="02040503050406030204" pitchFamily="18" charset="0"/>
                              <a:ea typeface="微软雅黑" panose="020B0503020204020204" pitchFamily="34" charset="-122"/>
                            </a:rPr>
                          </m:ctrlPr>
                        </m:dPr>
                        <m:e>
                          <m:r>
                            <a:rPr lang="en-US" altLang="zh-CN" sz="2800">
                              <a:latin typeface="Cambria Math" panose="02040503050406030204" pitchFamily="18" charset="0"/>
                              <a:ea typeface="微软雅黑" panose="020B0503020204020204" pitchFamily="34" charset="-122"/>
                            </a:rPr>
                            <m:t>13.848≤</m:t>
                          </m:r>
                          <m:sSup>
                            <m:sSupPr>
                              <m:ctrlPr>
                                <a:rPr lang="zh-CN" altLang="zh-CN" sz="2800" i="1" smtClean="0">
                                  <a:solidFill>
                                    <a:srgbClr val="00B0F0"/>
                                  </a:solidFill>
                                  <a:latin typeface="Cambria Math" panose="02040503050406030204" pitchFamily="18" charset="0"/>
                                  <a:ea typeface="微软雅黑" panose="020B0503020204020204" pitchFamily="34" charset="-122"/>
                                </a:rPr>
                              </m:ctrlPr>
                            </m:sSupPr>
                            <m:e>
                              <m:r>
                                <a:rPr lang="en-US" altLang="zh-CN" sz="2800">
                                  <a:solidFill>
                                    <a:srgbClr val="00B0F0"/>
                                  </a:solidFill>
                                  <a:latin typeface="Cambria Math" panose="02040503050406030204" pitchFamily="18" charset="0"/>
                                  <a:ea typeface="微软雅黑" panose="020B0503020204020204" pitchFamily="34" charset="-122"/>
                                </a:rPr>
                                <m:t>𝜒</m:t>
                              </m:r>
                            </m:e>
                            <m:sup>
                              <m:r>
                                <a:rPr lang="en-US" altLang="zh-CN" sz="2800">
                                  <a:solidFill>
                                    <a:srgbClr val="00B0F0"/>
                                  </a:solidFill>
                                  <a:latin typeface="Cambria Math" panose="02040503050406030204" pitchFamily="18" charset="0"/>
                                  <a:ea typeface="微软雅黑" panose="020B0503020204020204" pitchFamily="34" charset="-122"/>
                                </a:rPr>
                                <m:t>2</m:t>
                              </m:r>
                            </m:sup>
                          </m:sSup>
                          <m:r>
                            <a:rPr lang="en-US" altLang="zh-CN" sz="2800">
                              <a:solidFill>
                                <a:srgbClr val="00B0F0"/>
                              </a:solidFill>
                              <a:latin typeface="Cambria Math" panose="02040503050406030204" pitchFamily="18" charset="0"/>
                              <a:ea typeface="微软雅黑" panose="020B0503020204020204" pitchFamily="34" charset="-122"/>
                            </a:rPr>
                            <m:t>(24)</m:t>
                          </m:r>
                          <m:r>
                            <a:rPr lang="en-US" altLang="zh-CN" sz="2800">
                              <a:latin typeface="Cambria Math" panose="02040503050406030204" pitchFamily="18" charset="0"/>
                              <a:ea typeface="微软雅黑" panose="020B0503020204020204" pitchFamily="34" charset="-122"/>
                            </a:rPr>
                            <m:t>≤36.415</m:t>
                          </m:r>
                        </m:e>
                      </m:d>
                    </m:oMath>
                  </m:oMathPara>
                </a14:m>
                <a:endParaRPr lang="en-US" altLang="zh-CN" sz="2800" i="1" dirty="0">
                  <a:latin typeface="Cambria Math" panose="02040503050406030204" pitchFamily="18" charset="0"/>
                  <a:ea typeface="微软雅黑" panose="020B0503020204020204" pitchFamily="34" charset="-122"/>
                </a:endParaRPr>
              </a:p>
              <a:p>
                <a:pPr marL="625475" lvl="0" algn="just">
                  <a:lnSpc>
                    <a:spcPct val="150000"/>
                  </a:lnSpc>
                  <a:spcBef>
                    <a:spcPts val="600"/>
                  </a:spcBef>
                  <a:defRPr/>
                </a:pPr>
                <a14:m>
                  <m:oMath xmlns:m="http://schemas.openxmlformats.org/officeDocument/2006/math">
                    <m:r>
                      <a:rPr lang="en-US" altLang="zh-CN" sz="2800">
                        <a:latin typeface="Cambria Math" panose="02040503050406030204" pitchFamily="18" charset="0"/>
                        <a:ea typeface="微软雅黑" panose="020B0503020204020204" pitchFamily="34" charset="-122"/>
                      </a:rPr>
                      <m:t>=</m:t>
                    </m:r>
                    <m:r>
                      <a:rPr lang="en-US" altLang="zh-CN" sz="2800">
                        <a:latin typeface="Cambria Math" panose="02040503050406030204" pitchFamily="18" charset="0"/>
                        <a:ea typeface="微软雅黑" panose="020B0503020204020204" pitchFamily="34" charset="-122"/>
                      </a:rPr>
                      <m:t>𝑃</m:t>
                    </m:r>
                    <m:d>
                      <m:dPr>
                        <m:ctrlPr>
                          <a:rPr lang="zh-CN" altLang="zh-CN" sz="2800" i="1">
                            <a:latin typeface="Cambria Math" panose="02040503050406030204" pitchFamily="18" charset="0"/>
                            <a:ea typeface="微软雅黑" panose="020B0503020204020204" pitchFamily="34" charset="-122"/>
                          </a:rPr>
                        </m:ctrlPr>
                      </m:dPr>
                      <m:e>
                        <m:sSup>
                          <m:sSupPr>
                            <m:ctrlPr>
                              <a:rPr lang="zh-CN" altLang="zh-CN" sz="2800" i="1">
                                <a:latin typeface="Cambria Math" panose="02040503050406030204" pitchFamily="18" charset="0"/>
                                <a:ea typeface="微软雅黑" panose="020B0503020204020204" pitchFamily="34" charset="-122"/>
                              </a:rPr>
                            </m:ctrlPr>
                          </m:sSupPr>
                          <m:e>
                            <m:r>
                              <a:rPr lang="en-US" altLang="zh-CN" sz="2800">
                                <a:latin typeface="Cambria Math" panose="02040503050406030204" pitchFamily="18" charset="0"/>
                                <a:ea typeface="微软雅黑" panose="020B0503020204020204" pitchFamily="34" charset="-122"/>
                              </a:rPr>
                              <m:t>𝜒</m:t>
                            </m:r>
                          </m:e>
                          <m:sup>
                            <m:r>
                              <a:rPr lang="en-US" altLang="zh-CN" sz="2800">
                                <a:latin typeface="Cambria Math" panose="02040503050406030204" pitchFamily="18" charset="0"/>
                                <a:ea typeface="微软雅黑" panose="020B0503020204020204" pitchFamily="34" charset="-122"/>
                              </a:rPr>
                              <m:t>2</m:t>
                            </m:r>
                          </m:sup>
                        </m:sSup>
                        <m:d>
                          <m:dPr>
                            <m:ctrlPr>
                              <a:rPr lang="zh-CN" altLang="zh-CN" sz="2800" i="1">
                                <a:latin typeface="Cambria Math" panose="02040503050406030204" pitchFamily="18" charset="0"/>
                                <a:ea typeface="微软雅黑" panose="020B0503020204020204" pitchFamily="34" charset="-122"/>
                              </a:rPr>
                            </m:ctrlPr>
                          </m:dPr>
                          <m:e>
                            <m:r>
                              <a:rPr lang="en-US" altLang="zh-CN" sz="2800">
                                <a:latin typeface="Cambria Math" panose="02040503050406030204" pitchFamily="18" charset="0"/>
                                <a:ea typeface="微软雅黑" panose="020B0503020204020204" pitchFamily="34" charset="-122"/>
                              </a:rPr>
                              <m:t>24</m:t>
                            </m:r>
                          </m:e>
                        </m:d>
                        <m:r>
                          <a:rPr lang="en-US" altLang="zh-CN" sz="2800">
                            <a:latin typeface="Cambria Math" panose="02040503050406030204" pitchFamily="18" charset="0"/>
                            <a:ea typeface="微软雅黑" panose="020B0503020204020204" pitchFamily="34" charset="-122"/>
                          </a:rPr>
                          <m:t>≥13.848</m:t>
                        </m:r>
                      </m:e>
                    </m:d>
                    <m:r>
                      <a:rPr lang="en-US" altLang="zh-CN" sz="2800">
                        <a:latin typeface="Cambria Math" panose="02040503050406030204" pitchFamily="18" charset="0"/>
                        <a:ea typeface="微软雅黑" panose="020B0503020204020204" pitchFamily="34" charset="-122"/>
                      </a:rPr>
                      <m:t>−</m:t>
                    </m:r>
                    <m:r>
                      <a:rPr lang="en-US" altLang="zh-CN" sz="2800">
                        <a:latin typeface="Cambria Math" panose="02040503050406030204" pitchFamily="18" charset="0"/>
                        <a:ea typeface="微软雅黑" panose="020B0503020204020204" pitchFamily="34" charset="-122"/>
                      </a:rPr>
                      <m:t>𝑃</m:t>
                    </m:r>
                    <m:d>
                      <m:dPr>
                        <m:ctrlPr>
                          <a:rPr lang="zh-CN" altLang="zh-CN" sz="2800" i="1">
                            <a:latin typeface="Cambria Math" panose="02040503050406030204" pitchFamily="18" charset="0"/>
                            <a:ea typeface="微软雅黑" panose="020B0503020204020204" pitchFamily="34" charset="-122"/>
                          </a:rPr>
                        </m:ctrlPr>
                      </m:dPr>
                      <m:e>
                        <m:sSup>
                          <m:sSupPr>
                            <m:ctrlPr>
                              <a:rPr lang="zh-CN" altLang="zh-CN" sz="2800" i="1">
                                <a:latin typeface="Cambria Math" panose="02040503050406030204" pitchFamily="18" charset="0"/>
                                <a:ea typeface="微软雅黑" panose="020B0503020204020204" pitchFamily="34" charset="-122"/>
                              </a:rPr>
                            </m:ctrlPr>
                          </m:sSupPr>
                          <m:e>
                            <m:r>
                              <a:rPr lang="en-US" altLang="zh-CN" sz="2800">
                                <a:latin typeface="Cambria Math" panose="02040503050406030204" pitchFamily="18" charset="0"/>
                                <a:ea typeface="微软雅黑" panose="020B0503020204020204" pitchFamily="34" charset="-122"/>
                              </a:rPr>
                              <m:t>𝜒</m:t>
                            </m:r>
                          </m:e>
                          <m:sup>
                            <m:r>
                              <a:rPr lang="en-US" altLang="zh-CN" sz="2800">
                                <a:latin typeface="Cambria Math" panose="02040503050406030204" pitchFamily="18" charset="0"/>
                                <a:ea typeface="微软雅黑" panose="020B0503020204020204" pitchFamily="34" charset="-122"/>
                              </a:rPr>
                              <m:t>2</m:t>
                            </m:r>
                          </m:sup>
                        </m:sSup>
                        <m:d>
                          <m:dPr>
                            <m:ctrlPr>
                              <a:rPr lang="zh-CN" altLang="zh-CN" sz="2800" i="1">
                                <a:latin typeface="Cambria Math" panose="02040503050406030204" pitchFamily="18" charset="0"/>
                                <a:ea typeface="微软雅黑" panose="020B0503020204020204" pitchFamily="34" charset="-122"/>
                              </a:rPr>
                            </m:ctrlPr>
                          </m:dPr>
                          <m:e>
                            <m:r>
                              <a:rPr lang="en-US" altLang="zh-CN" sz="2800">
                                <a:latin typeface="Cambria Math" panose="02040503050406030204" pitchFamily="18" charset="0"/>
                                <a:ea typeface="微软雅黑" panose="020B0503020204020204" pitchFamily="34" charset="-122"/>
                              </a:rPr>
                              <m:t>24</m:t>
                            </m:r>
                          </m:e>
                        </m:d>
                        <m:r>
                          <a:rPr lang="en-US" altLang="zh-CN" sz="2800">
                            <a:latin typeface="Cambria Math" panose="02040503050406030204" pitchFamily="18" charset="0"/>
                            <a:ea typeface="微软雅黑" panose="020B0503020204020204" pitchFamily="34" charset="-122"/>
                          </a:rPr>
                          <m:t>≥36.415</m:t>
                        </m:r>
                      </m:e>
                    </m:d>
                  </m:oMath>
                </a14:m>
                <a:r>
                  <a:rPr lang="en-US" altLang="zh-CN" sz="2800" dirty="0">
                    <a:ea typeface="微软雅黑" panose="020B0503020204020204" pitchFamily="34" charset="-122"/>
                  </a:rPr>
                  <a:t> </a:t>
                </a:r>
                <a:endParaRPr lang="en-US" altLang="zh-CN" sz="2800" dirty="0">
                  <a:latin typeface="Cambria Math" panose="02040503050406030204" pitchFamily="18" charset="0"/>
                  <a:ea typeface="微软雅黑" panose="020B0503020204020204" pitchFamily="34" charset="-122"/>
                </a:endParaRPr>
              </a:p>
              <a:p>
                <a:pPr marL="625475" lvl="0" algn="just">
                  <a:lnSpc>
                    <a:spcPct val="150000"/>
                  </a:lnSpc>
                  <a:spcBef>
                    <a:spcPts val="600"/>
                  </a:spcBef>
                  <a:defRPr/>
                </a:pPr>
                <a14:m>
                  <m:oMathPara xmlns:m="http://schemas.openxmlformats.org/officeDocument/2006/math">
                    <m:oMathParaPr>
                      <m:jc m:val="left"/>
                    </m:oMathParaPr>
                    <m:oMath xmlns:m="http://schemas.openxmlformats.org/officeDocument/2006/math">
                      <m:r>
                        <a:rPr lang="en-US" altLang="zh-CN" sz="2800">
                          <a:latin typeface="Cambria Math" panose="02040503050406030204" pitchFamily="18" charset="0"/>
                          <a:ea typeface="微软雅黑" panose="020B0503020204020204" pitchFamily="34" charset="-122"/>
                        </a:rPr>
                        <m:t>=0.95−0.05=0.90</m:t>
                      </m:r>
                    </m:oMath>
                  </m:oMathPara>
                </a14:m>
                <a:endParaRPr kumimoji="0" lang="zh-CN" altLang="en-US" sz="2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067596" y="632671"/>
                <a:ext cx="9147215" cy="5521320"/>
              </a:xfrm>
              <a:prstGeom prst="rect">
                <a:avLst/>
              </a:prstGeom>
              <a:blipFill>
                <a:blip r:embed="rId2"/>
                <a:stretch>
                  <a:fillRect l="-1332"/>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308955CE-F7A7-B65D-7CB4-F913AE66F1AF}"/>
              </a:ext>
            </a:extLst>
          </p:cNvPr>
          <p:cNvSpPr txBox="1">
            <a:spLocks/>
          </p:cNvSpPr>
          <p:nvPr/>
        </p:nvSpPr>
        <p:spPr>
          <a:xfrm>
            <a:off x="1864895" y="194745"/>
            <a:ext cx="8823158"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effectLst/>
              </a:rPr>
              <a:t>【</a:t>
            </a:r>
            <a:r>
              <a:rPr lang="zh-CN" altLang="en-US" b="1" kern="0" dirty="0">
                <a:effectLst/>
              </a:rPr>
              <a:t>例</a:t>
            </a:r>
            <a:r>
              <a:rPr lang="en-US" altLang="zh-CN" b="1" kern="0" dirty="0">
                <a:effectLst/>
              </a:rPr>
              <a:t>6-8】</a:t>
            </a:r>
            <a:r>
              <a:rPr lang="zh-CN" altLang="en-US" b="1" kern="0" dirty="0">
                <a:effectLst/>
              </a:rPr>
              <a:t>解</a:t>
            </a:r>
            <a:endParaRPr lang="en-US" altLang="zh-CN" b="1" kern="0" dirty="0">
              <a:effectLs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50495" y="977582"/>
                <a:ext cx="8061158" cy="5333761"/>
              </a:xfrm>
            </p:spPr>
            <p:txBody>
              <a:bodyPr>
                <a:noAutofit/>
              </a:bodyPr>
              <a:lstStyle/>
              <a:p>
                <a:pPr marL="0" indent="720000">
                  <a:lnSpc>
                    <a:spcPct val="130000"/>
                  </a:lnSpc>
                  <a:spcBef>
                    <a:spcPts val="1200"/>
                  </a:spcBef>
                  <a:spcAft>
                    <a:spcPts val="0"/>
                  </a:spcAft>
                  <a:buNone/>
                </a:pPr>
                <a:r>
                  <a:rPr lang="zh-CN" altLang="en-US" b="1" dirty="0">
                    <a:solidFill>
                      <a:srgbClr val="00B0F0"/>
                    </a:solidFill>
                    <a:latin typeface="宋体" panose="02010600030101010101" pitchFamily="2" charset="-122"/>
                    <a:ea typeface="宋体" panose="02010600030101010101" pitchFamily="2" charset="-122"/>
                  </a:rPr>
                  <a:t>（</a:t>
                </a:r>
                <a:r>
                  <a:rPr lang="en-US" altLang="zh-CN" b="1" dirty="0">
                    <a:solidFill>
                      <a:srgbClr val="00B0F0"/>
                    </a:solidFill>
                    <a:latin typeface="宋体" panose="02010600030101010101" pitchFamily="2" charset="-122"/>
                    <a:ea typeface="宋体" panose="02010600030101010101" pitchFamily="2" charset="-122"/>
                  </a:rPr>
                  <a:t>2</a:t>
                </a:r>
                <a:r>
                  <a:rPr lang="zh-CN" altLang="en-US" b="1" dirty="0">
                    <a:solidFill>
                      <a:srgbClr val="00B0F0"/>
                    </a:solidFill>
                    <a:latin typeface="宋体" panose="02010600030101010101" pitchFamily="2" charset="-122"/>
                    <a:ea typeface="宋体" panose="02010600030101010101" pitchFamily="2" charset="-122"/>
                  </a:rPr>
                  <a:t>）</a:t>
                </a:r>
                <a:r>
                  <a:rPr lang="zh-CN" altLang="en-US" sz="2800" dirty="0">
                    <a:solidFill>
                      <a:schemeClr val="tx1"/>
                    </a:solidFill>
                    <a:latin typeface="宋体" panose="02010600030101010101" pitchFamily="2" charset="-122"/>
                    <a:ea typeface="宋体" panose="02010600030101010101" pitchFamily="2" charset="-122"/>
                  </a:rPr>
                  <a:t>因为 </a:t>
                </a:r>
                <a14:m>
                  <m:oMath xmlns:m="http://schemas.openxmlformats.org/officeDocument/2006/math">
                    <m:f>
                      <m:fPr>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24</m:t>
                        </m:r>
                        <m:sSup>
                          <m:sSupPr>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𝑆</m:t>
                            </m:r>
                          </m:e>
                          <m:sup>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2</m:t>
                            </m:r>
                          </m:sup>
                        </m:sSup>
                      </m:num>
                      <m:den>
                        <m:sSup>
                          <m:sSupPr>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𝜎</m:t>
                            </m:r>
                          </m:e>
                          <m:sup>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2</m:t>
                            </m:r>
                          </m:sup>
                        </m:sSup>
                      </m:den>
                    </m:f>
                    <m:r>
                      <a:rPr lang="en-US" altLang="zh-CN" sz="2800" b="0" i="1" kern="100" smtClean="0">
                        <a:solidFill>
                          <a:schemeClr val="tx1"/>
                        </a:solidFill>
                        <a:effectLst/>
                        <a:latin typeface="Cambria Math" charset="0"/>
                        <a:ea typeface="等线" panose="02010600030101010101" pitchFamily="2" charset="-122"/>
                        <a:cs typeface="Times New Roman" panose="02020603050405020304" pitchFamily="18" charset="0"/>
                      </a:rPr>
                      <m:t>~</m:t>
                    </m:r>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𝜒</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d>
                      <m:d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24</m:t>
                        </m:r>
                      </m:e>
                    </m:d>
                  </m:oMath>
                </a14:m>
                <a:r>
                  <a:rPr lang="zh-CN" altLang="en-US" sz="2800" dirty="0">
                    <a:solidFill>
                      <a:schemeClr val="tx1"/>
                    </a:solidFill>
                    <a:latin typeface="宋体" panose="02010600030101010101" pitchFamily="2" charset="-122"/>
                    <a:ea typeface="宋体" panose="02010600030101010101" pitchFamily="2" charset="-122"/>
                  </a:rPr>
                  <a:t>，所以由式</a:t>
                </a:r>
                <a:r>
                  <a:rPr lang="zh-CN" altLang="en-US" sz="2800" dirty="0">
                    <a:solidFill>
                      <a:srgbClr val="7030A0"/>
                    </a:solidFill>
                    <a:latin typeface="宋体" panose="02010600030101010101" pitchFamily="2" charset="-122"/>
                    <a:ea typeface="宋体" panose="02010600030101010101" pitchFamily="2" charset="-122"/>
                  </a:rPr>
                  <a:t>（</a:t>
                </a:r>
                <a:r>
                  <a:rPr lang="en-US" altLang="zh-CN" sz="2800" dirty="0">
                    <a:solidFill>
                      <a:srgbClr val="7030A0"/>
                    </a:solidFill>
                    <a:latin typeface="宋体" panose="02010600030101010101" pitchFamily="2" charset="-122"/>
                    <a:ea typeface="宋体" panose="02010600030101010101" pitchFamily="2" charset="-122"/>
                  </a:rPr>
                  <a:t>6-12</a:t>
                </a:r>
                <a:r>
                  <a:rPr lang="zh-CN" altLang="en-US" sz="2800" dirty="0">
                    <a:solidFill>
                      <a:srgbClr val="7030A0"/>
                    </a:solidFill>
                    <a:latin typeface="宋体" panose="02010600030101010101" pitchFamily="2" charset="-122"/>
                    <a:ea typeface="宋体" panose="02010600030101010101" pitchFamily="2" charset="-122"/>
                  </a:rPr>
                  <a:t>）</a:t>
                </a:r>
                <a:r>
                  <a:rPr lang="zh-CN" altLang="en-US" sz="2800" dirty="0">
                    <a:solidFill>
                      <a:schemeClr val="tx1"/>
                    </a:solidFill>
                    <a:latin typeface="宋体" panose="02010600030101010101" pitchFamily="2" charset="-122"/>
                    <a:ea typeface="宋体" panose="02010600030101010101" pitchFamily="2" charset="-122"/>
                  </a:rPr>
                  <a:t>可得，</a:t>
                </a:r>
                <a:r>
                  <a:rPr lang="en-US" altLang="zh-CN" sz="28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14:m>
                  <m:oMath xmlns:m="http://schemas.openxmlformats.org/officeDocument/2006/math">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𝐷</m:t>
                    </m:r>
                    <m:d>
                      <m:dPr>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𝜒</m:t>
                            </m:r>
                          </m:e>
                          <m:sup>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2</m:t>
                            </m:r>
                          </m:sup>
                        </m:sSup>
                        <m:d>
                          <m:dPr>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24</m:t>
                            </m:r>
                          </m:e>
                        </m:d>
                      </m:e>
                    </m:d>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2800" b="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24=</m:t>
                    </m:r>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48</m:t>
                    </m:r>
                  </m:oMath>
                </a14:m>
                <a:endParaRPr lang="en-US" altLang="zh-CN" sz="2800" dirty="0">
                  <a:solidFill>
                    <a:schemeClr val="tx1"/>
                  </a:solidFill>
                  <a:latin typeface="宋体" panose="02010600030101010101" pitchFamily="2" charset="-122"/>
                  <a:ea typeface="宋体" panose="02010600030101010101" pitchFamily="2" charset="-122"/>
                </a:endParaRPr>
              </a:p>
              <a:p>
                <a:pPr marL="0" indent="720000">
                  <a:lnSpc>
                    <a:spcPct val="130000"/>
                  </a:lnSpc>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  而  </a:t>
                </a:r>
                <a14:m>
                  <m:oMath xmlns:m="http://schemas.openxmlformats.org/officeDocument/2006/math">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𝐷</m:t>
                    </m:r>
                    <m:d>
                      <m:d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𝑆</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e>
                    </m:d>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𝐷</m:t>
                    </m:r>
                    <m:d>
                      <m:d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𝜎</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num>
                          <m:den>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24</m:t>
                            </m:r>
                          </m:den>
                        </m:f>
                        <m:f>
                          <m:f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24</m:t>
                            </m:r>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𝑆</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num>
                          <m:den>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𝜎</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den>
                        </m:f>
                      </m:e>
                    </m:d>
                  </m:oMath>
                </a14:m>
                <a:endParaRPr lang="en-US" altLang="zh-CN" sz="2800" i="1" kern="100" dirty="0">
                  <a:solidFill>
                    <a:schemeClr val="tx1"/>
                  </a:solidFill>
                  <a:latin typeface="Cambria Math" panose="02040503050406030204" pitchFamily="18" charset="0"/>
                  <a:ea typeface="等线" panose="02010600030101010101" pitchFamily="2" charset="-122"/>
                  <a:cs typeface="Times New Roman" panose="02020603050405020304" pitchFamily="18" charset="0"/>
                </a:endParaRPr>
              </a:p>
              <a:p>
                <a:pPr marL="0" indent="0">
                  <a:lnSpc>
                    <a:spcPct val="130000"/>
                  </a:lnSpc>
                  <a:spcBef>
                    <a:spcPts val="1200"/>
                  </a:spcBef>
                  <a:spcAft>
                    <a:spcPts val="0"/>
                  </a:spcAft>
                  <a:buNone/>
                </a:pPr>
                <a14:m>
                  <m:oMathPara xmlns:m="http://schemas.openxmlformats.org/officeDocument/2006/math">
                    <m:oMathParaPr>
                      <m:jc m:val="centerGroup"/>
                    </m:oMathParaPr>
                    <m:oMath xmlns:m="http://schemas.openxmlformats.org/officeDocument/2006/math">
                      <m:r>
                        <a:rPr lang="en-US" altLang="zh-CN" sz="2800" i="1" kern="10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f>
                        <m:f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𝜎</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4</m:t>
                              </m:r>
                            </m:sup>
                          </m:sSup>
                        </m:num>
                        <m:den>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(24)</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den>
                      </m:f>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𝐷</m:t>
                      </m:r>
                      <m:d>
                        <m:d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𝜒</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d>
                            <m:d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24</m:t>
                              </m:r>
                            </m:e>
                          </m:d>
                        </m:e>
                      </m:d>
                    </m:oMath>
                  </m:oMathPara>
                </a14:m>
                <a:endParaRPr lang="en-US" altLang="zh-CN" sz="2800" i="1" kern="100" dirty="0">
                  <a:solidFill>
                    <a:schemeClr val="tx1"/>
                  </a:solidFill>
                  <a:latin typeface="Cambria Math" panose="02040503050406030204" pitchFamily="18" charset="0"/>
                  <a:ea typeface="等线" panose="02010600030101010101" pitchFamily="2" charset="-122"/>
                  <a:cs typeface="Times New Roman" panose="02020603050405020304" pitchFamily="18" charset="0"/>
                </a:endParaRPr>
              </a:p>
              <a:p>
                <a:pPr marL="0" indent="720000">
                  <a:lnSpc>
                    <a:spcPct val="130000"/>
                  </a:lnSpc>
                  <a:spcBef>
                    <a:spcPts val="1200"/>
                  </a:spcBef>
                  <a:spcAft>
                    <a:spcPts val="0"/>
                  </a:spcAft>
                  <a:buNone/>
                </a:pPr>
                <a14:m>
                  <m:oMathPara xmlns:m="http://schemas.openxmlformats.org/officeDocument/2006/math">
                    <m:oMathParaPr>
                      <m:jc m:val="centerGroup"/>
                    </m:oMathParaPr>
                    <m:oMath xmlns:m="http://schemas.openxmlformats.org/officeDocument/2006/math">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𝜎</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4</m:t>
                              </m:r>
                            </m:sup>
                          </m:sSup>
                        </m:num>
                        <m:den>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(24)</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p>
                          </m:sSup>
                        </m:den>
                      </m:f>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×48=</m:t>
                      </m:r>
                      <m:f>
                        <m:f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8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𝜎</m:t>
                              </m:r>
                            </m:e>
                            <m:sup>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4</m:t>
                              </m:r>
                            </m:sup>
                          </m:sSup>
                        </m:num>
                        <m:den>
                          <m:r>
                            <a:rPr lang="en-US" altLang="zh-CN" sz="28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12</m:t>
                          </m:r>
                        </m:den>
                      </m:f>
                    </m:oMath>
                  </m:oMathPara>
                </a14:m>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50495" y="977582"/>
                <a:ext cx="8061158" cy="5333761"/>
              </a:xfrm>
              <a:blipFill>
                <a:blip r:embed="rId2"/>
                <a:stretch>
                  <a:fillRect l="-1589" r="-454"/>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标题 1">
            <a:extLst>
              <a:ext uri="{FF2B5EF4-FFF2-40B4-BE49-F238E27FC236}">
                <a16:creationId xmlns:a16="http://schemas.microsoft.com/office/drawing/2014/main" id="{308955CE-F7A7-B65D-7CB4-F913AE66F1AF}"/>
              </a:ext>
            </a:extLst>
          </p:cNvPr>
          <p:cNvSpPr txBox="1">
            <a:spLocks/>
          </p:cNvSpPr>
          <p:nvPr/>
        </p:nvSpPr>
        <p:spPr>
          <a:xfrm>
            <a:off x="1864895" y="194745"/>
            <a:ext cx="8823158"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effectLst/>
              </a:rPr>
              <a:t>【</a:t>
            </a:r>
            <a:r>
              <a:rPr lang="zh-CN" altLang="en-US" b="1" kern="0" dirty="0">
                <a:effectLst/>
              </a:rPr>
              <a:t>例</a:t>
            </a:r>
            <a:r>
              <a:rPr lang="en-US" altLang="zh-CN" b="1" kern="0" dirty="0">
                <a:effectLst/>
              </a:rPr>
              <a:t>6-8】</a:t>
            </a:r>
            <a:r>
              <a:rPr lang="zh-CN" altLang="en-US" b="1" kern="0" dirty="0">
                <a:effectLst/>
              </a:rPr>
              <a:t>解</a:t>
            </a:r>
            <a:r>
              <a:rPr lang="zh-CN" altLang="en-US" kern="0" dirty="0">
                <a:effectLst/>
              </a:rPr>
              <a:t>（续）</a:t>
            </a:r>
            <a:endParaRPr lang="en-US" altLang="zh-CN" kern="0" dirty="0">
              <a:effectLs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23724" y="857527"/>
                <a:ext cx="9030929" cy="4566888"/>
              </a:xfrm>
            </p:spPr>
            <p:txBody>
              <a:bodyPr>
                <a:noAutofit/>
              </a:bodyPr>
              <a:lstStyle/>
              <a:p>
                <a:pPr marL="0" indent="84138">
                  <a:lnSpc>
                    <a:spcPct val="150000"/>
                  </a:lnSpc>
                  <a:spcBef>
                    <a:spcPts val="1800"/>
                  </a:spcBef>
                  <a:spcAft>
                    <a:spcPts val="0"/>
                  </a:spcAft>
                  <a:buNone/>
                </a:pPr>
                <a:r>
                  <a:rPr lang="zh-CN" altLang="en-US" b="1" dirty="0">
                    <a:solidFill>
                      <a:srgbClr val="00B0F0"/>
                    </a:solidFill>
                    <a:latin typeface="宋体" panose="02010600030101010101" pitchFamily="2" charset="-122"/>
                    <a:ea typeface="宋体" panose="02010600030101010101" pitchFamily="2" charset="-122"/>
                  </a:rPr>
                  <a:t>（</a:t>
                </a:r>
                <a:r>
                  <a:rPr lang="en-US" altLang="zh-CN" b="1" dirty="0">
                    <a:solidFill>
                      <a:srgbClr val="00B0F0"/>
                    </a:solidFill>
                    <a:latin typeface="宋体" panose="02010600030101010101" pitchFamily="2" charset="-122"/>
                    <a:ea typeface="宋体" panose="02010600030101010101" pitchFamily="2" charset="-122"/>
                  </a:rPr>
                  <a:t>3</a:t>
                </a:r>
                <a:r>
                  <a:rPr lang="zh-CN" altLang="en-US" b="1" dirty="0">
                    <a:solidFill>
                      <a:srgbClr val="00B0F0"/>
                    </a:solidFill>
                    <a:latin typeface="宋体" panose="02010600030101010101" pitchFamily="2" charset="-122"/>
                    <a:ea typeface="宋体" panose="02010600030101010101" pitchFamily="2" charset="-122"/>
                  </a:rPr>
                  <a:t>）</a:t>
                </a:r>
                <a14:m>
                  <m:oMath xmlns:m="http://schemas.openxmlformats.org/officeDocument/2006/math">
                    <m:r>
                      <a:rPr kumimoji="0" lang="en-US" altLang="zh-CN" sz="2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𝑃</m:t>
                    </m:r>
                    <m:d>
                      <m:d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accPr>
                              <m:e>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𝑋</m:t>
                                </m:r>
                              </m:e>
                            </m:acc>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𝜇</m:t>
                            </m:r>
                          </m:e>
                        </m:d>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m:t>
                        </m:r>
                      </m:e>
                    </m:d>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t>=</m:t>
                    </m:r>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𝑃</m:t>
                    </m:r>
                    <m:d>
                      <m:d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f>
                              <m:f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acc>
                                  <m:accPr>
                                    <m:chr m:val="̅"/>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accPr>
                                  <m:e>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𝑋</m:t>
                                    </m:r>
                                  </m:e>
                                </m:acc>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𝜇</m:t>
                                </m:r>
                              </m:num>
                              <m:den>
                                <m:f>
                                  <m:f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2.3</m:t>
                                    </m:r>
                                  </m:num>
                                  <m:den>
                                    <m:rad>
                                      <m:radPr>
                                        <m:degHide m:val="on"/>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𝑛</m:t>
                                        </m:r>
                                      </m:e>
                                    </m:rad>
                                  </m:den>
                                </m:f>
                              </m:den>
                            </m:f>
                          </m:e>
                        </m:d>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m:t>
                            </m:r>
                          </m:num>
                          <m:den>
                            <m:f>
                              <m:f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2.3</m:t>
                                </m:r>
                              </m:num>
                              <m:den>
                                <m:rad>
                                  <m:radPr>
                                    <m:degHide m:val="on"/>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𝑛</m:t>
                                    </m:r>
                                  </m:e>
                                </m:rad>
                              </m:den>
                            </m:f>
                          </m:den>
                        </m:f>
                      </m:e>
                    </m:d>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t>=2</m:t>
                    </m:r>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t>𝛷</m:t>
                    </m:r>
                    <m:d>
                      <m:d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ctrlPr>
                      </m:dPr>
                      <m:e>
                        <m:f>
                          <m:fPr>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ctrlPr>
                          </m:fPr>
                          <m:num>
                            <m:rad>
                              <m:radPr>
                                <m:degHide m:val="on"/>
                                <m:ctrlPr>
                                  <a:rPr kumimoji="0" lang="zh-CN"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ctrlPr>
                              </m:radPr>
                              <m:deg/>
                              <m:e>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t>𝑛</m:t>
                                </m:r>
                              </m:e>
                            </m:rad>
                          </m:num>
                          <m:den>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t>2.3</m:t>
                            </m:r>
                          </m:den>
                        </m:f>
                      </m:e>
                    </m:d>
                    <m:r>
                      <a:rPr kumimoji="0" lang="en-US" altLang="zh-CN" sz="2800" b="0" i="1" u="none" strike="noStrike" kern="1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t>−</m:t>
                    </m:r>
                    <m:r>
                      <a:rPr kumimoji="0" lang="en-US" altLang="zh-CN" sz="2800" b="0" i="1" u="none" strike="noStrike" kern="1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Cambria Math" panose="02040503050406030204" pitchFamily="18" charset="0"/>
                      </a:rPr>
                      <m:t>1</m:t>
                    </m:r>
                  </m:oMath>
                </a14:m>
                <a:endParaRPr lang="en-US" altLang="zh-CN" sz="2800" dirty="0">
                  <a:solidFill>
                    <a:schemeClr val="tx1"/>
                  </a:solidFill>
                  <a:latin typeface="宋体" panose="02010600030101010101" pitchFamily="2" charset="-122"/>
                  <a:ea typeface="宋体" panose="02010600030101010101" pitchFamily="2" charset="-122"/>
                </a:endParaRPr>
              </a:p>
              <a:p>
                <a:pPr marL="0" indent="720000">
                  <a:lnSpc>
                    <a:spcPct val="150000"/>
                  </a:lnSpc>
                  <a:spcBef>
                    <a:spcPts val="18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根据题意，</a:t>
                </a:r>
                <a14:m>
                  <m:oMath xmlns:m="http://schemas.openxmlformats.org/officeDocument/2006/math">
                    <m:r>
                      <a:rPr lang="en-US" altLang="zh-CN" sz="2800" i="1" kern="100" smtClean="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2</m:t>
                    </m:r>
                    <m:r>
                      <a:rPr lang="en-US" altLang="zh-CN" sz="2800" i="1" kern="10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𝛷</m:t>
                    </m:r>
                    <m:d>
                      <m:dPr>
                        <m:ctrlPr>
                          <a:rPr lang="zh-CN" altLang="zh-CN" sz="2800" i="1" kern="10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ctrlPr>
                      </m:dPr>
                      <m:e>
                        <m:f>
                          <m:fPr>
                            <m:ctrlPr>
                              <a:rPr lang="zh-CN" altLang="zh-CN" sz="2800" i="1" kern="10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ctrlPr>
                          </m:fPr>
                          <m:num>
                            <m:rad>
                              <m:radPr>
                                <m:degHide m:val="on"/>
                                <m:ctrlPr>
                                  <a:rPr lang="zh-CN" altLang="zh-CN" sz="2800" i="1" kern="10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altLang="zh-CN" sz="2800" i="1" kern="10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𝑛</m:t>
                                </m:r>
                              </m:e>
                            </m:rad>
                          </m:num>
                          <m:den>
                            <m:r>
                              <a:rPr lang="en-US" altLang="zh-CN" sz="2800" i="1" kern="10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2.3</m:t>
                            </m:r>
                          </m:den>
                        </m:f>
                      </m:e>
                    </m:d>
                    <m:r>
                      <a:rPr lang="en-US" altLang="zh-CN" sz="2800" i="1" kern="10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−1≥0.9</m:t>
                    </m:r>
                  </m:oMath>
                </a14:m>
                <a:r>
                  <a:rPr lang="zh-CN" altLang="en-US" sz="2800" dirty="0">
                    <a:solidFill>
                      <a:schemeClr val="tx1"/>
                    </a:solidFill>
                    <a:latin typeface="宋体" panose="02010600030101010101" pitchFamily="2" charset="-122"/>
                    <a:ea typeface="宋体" panose="02010600030101010101" pitchFamily="2" charset="-122"/>
                  </a:rPr>
                  <a:t>，则</a:t>
                </a:r>
                <a14:m>
                  <m:oMath xmlns:m="http://schemas.openxmlformats.org/officeDocument/2006/math">
                    <m:r>
                      <a:rPr lang="en-US" altLang="zh-CN" sz="2800" i="1">
                        <a:solidFill>
                          <a:schemeClr val="tx1"/>
                        </a:solidFill>
                        <a:latin typeface="Cambria Math" panose="02040503050406030204" pitchFamily="18" charset="0"/>
                      </a:rPr>
                      <m:t>𝛷</m:t>
                    </m:r>
                    <m:d>
                      <m:dPr>
                        <m:ctrlPr>
                          <a:rPr lang="zh-CN" altLang="zh-CN" sz="2800" i="1">
                            <a:solidFill>
                              <a:schemeClr val="tx1"/>
                            </a:solidFill>
                            <a:latin typeface="Cambria Math" panose="02040503050406030204" pitchFamily="18" charset="0"/>
                          </a:rPr>
                        </m:ctrlPr>
                      </m:dPr>
                      <m:e>
                        <m:f>
                          <m:fPr>
                            <m:ctrlPr>
                              <a:rPr lang="zh-CN" altLang="zh-CN" sz="2800" i="1">
                                <a:solidFill>
                                  <a:schemeClr val="tx1"/>
                                </a:solidFill>
                                <a:latin typeface="Cambria Math" panose="02040503050406030204" pitchFamily="18" charset="0"/>
                              </a:rPr>
                            </m:ctrlPr>
                          </m:fPr>
                          <m:num>
                            <m:rad>
                              <m:radPr>
                                <m:degHide m:val="on"/>
                                <m:ctrlPr>
                                  <a:rPr lang="zh-CN" altLang="zh-CN" sz="2800" i="1">
                                    <a:solidFill>
                                      <a:schemeClr val="tx1"/>
                                    </a:solidFill>
                                    <a:latin typeface="Cambria Math" panose="02040503050406030204" pitchFamily="18" charset="0"/>
                                  </a:rPr>
                                </m:ctrlPr>
                              </m:radPr>
                              <m:deg/>
                              <m:e>
                                <m:r>
                                  <a:rPr lang="en-US" altLang="zh-CN" sz="2800" i="1">
                                    <a:solidFill>
                                      <a:schemeClr val="tx1"/>
                                    </a:solidFill>
                                    <a:latin typeface="Cambria Math" panose="02040503050406030204" pitchFamily="18" charset="0"/>
                                  </a:rPr>
                                  <m:t>𝑛</m:t>
                                </m:r>
                              </m:e>
                            </m:rad>
                          </m:num>
                          <m:den>
                            <m:r>
                              <a:rPr lang="en-US" altLang="zh-CN" sz="2800" i="1">
                                <a:solidFill>
                                  <a:schemeClr val="tx1"/>
                                </a:solidFill>
                                <a:latin typeface="Cambria Math" panose="02040503050406030204" pitchFamily="18" charset="0"/>
                              </a:rPr>
                              <m:t>2.3</m:t>
                            </m:r>
                          </m:den>
                        </m:f>
                      </m:e>
                    </m:d>
                    <m:r>
                      <a:rPr lang="en-US" altLang="zh-CN" sz="2800" i="1">
                        <a:solidFill>
                          <a:schemeClr val="tx1"/>
                        </a:solidFill>
                        <a:latin typeface="Cambria Math" panose="02040503050406030204" pitchFamily="18" charset="0"/>
                      </a:rPr>
                      <m:t>≥0.95</m:t>
                    </m:r>
                  </m:oMath>
                </a14:m>
                <a:r>
                  <a:rPr lang="zh-CN" altLang="en-US" sz="2800" dirty="0">
                    <a:solidFill>
                      <a:schemeClr val="tx1"/>
                    </a:solidFill>
                    <a:latin typeface="宋体" panose="02010600030101010101" pitchFamily="2" charset="-122"/>
                    <a:ea typeface="宋体" panose="02010600030101010101" pitchFamily="2" charset="-122"/>
                  </a:rPr>
                  <a:t>，</a:t>
                </a:r>
                <a:endParaRPr lang="en-US" altLang="zh-CN" sz="2800" dirty="0">
                  <a:solidFill>
                    <a:schemeClr val="tx1"/>
                  </a:solidFill>
                  <a:latin typeface="宋体" panose="02010600030101010101" pitchFamily="2" charset="-122"/>
                  <a:ea typeface="宋体" panose="02010600030101010101" pitchFamily="2" charset="-122"/>
                </a:endParaRPr>
              </a:p>
              <a:p>
                <a:pPr marL="0" indent="444500">
                  <a:lnSpc>
                    <a:spcPct val="150000"/>
                  </a:lnSpc>
                  <a:spcBef>
                    <a:spcPts val="18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故  </a:t>
                </a:r>
                <a14:m>
                  <m:oMath xmlns:m="http://schemas.openxmlformats.org/officeDocument/2006/math">
                    <m:f>
                      <m:fPr>
                        <m:ctrlPr>
                          <a:rPr lang="zh-CN" altLang="zh-CN" sz="2800" i="1">
                            <a:solidFill>
                              <a:schemeClr val="tx1"/>
                            </a:solidFill>
                            <a:latin typeface="Cambria Math" panose="02040503050406030204" pitchFamily="18" charset="0"/>
                          </a:rPr>
                        </m:ctrlPr>
                      </m:fPr>
                      <m:num>
                        <m:rad>
                          <m:radPr>
                            <m:degHide m:val="on"/>
                            <m:ctrlPr>
                              <a:rPr lang="zh-CN" altLang="zh-CN" sz="2800" i="1">
                                <a:solidFill>
                                  <a:schemeClr val="tx1"/>
                                </a:solidFill>
                                <a:latin typeface="Cambria Math" panose="02040503050406030204" pitchFamily="18" charset="0"/>
                              </a:rPr>
                            </m:ctrlPr>
                          </m:radPr>
                          <m:deg/>
                          <m:e>
                            <m:r>
                              <a:rPr lang="en-US" altLang="zh-CN" sz="2800" i="1">
                                <a:solidFill>
                                  <a:schemeClr val="tx1"/>
                                </a:solidFill>
                                <a:latin typeface="Cambria Math" panose="02040503050406030204" pitchFamily="18" charset="0"/>
                              </a:rPr>
                              <m:t>𝑛</m:t>
                            </m:r>
                          </m:e>
                        </m:rad>
                      </m:num>
                      <m:den>
                        <m:r>
                          <a:rPr lang="en-US" altLang="zh-CN" sz="2800" i="1">
                            <a:solidFill>
                              <a:schemeClr val="tx1"/>
                            </a:solidFill>
                            <a:latin typeface="Cambria Math" panose="02040503050406030204" pitchFamily="18" charset="0"/>
                          </a:rPr>
                          <m:t>2.3</m:t>
                        </m:r>
                      </m:den>
                    </m:f>
                    <m:r>
                      <a:rPr lang="en-US" altLang="zh-CN" sz="2800" i="1">
                        <a:solidFill>
                          <a:schemeClr val="tx1"/>
                        </a:solidFill>
                        <a:latin typeface="Cambria Math" panose="02040503050406030204" pitchFamily="18" charset="0"/>
                      </a:rPr>
                      <m:t>≥1.645</m:t>
                    </m:r>
                    <m:r>
                      <a:rPr lang="zh-CN" altLang="en-US" sz="2800" i="1">
                        <a:solidFill>
                          <a:schemeClr val="tx1"/>
                        </a:solidFill>
                        <a:latin typeface="Cambria Math" panose="02040503050406030204" pitchFamily="18" charset="0"/>
                      </a:rPr>
                      <m:t>，</m:t>
                    </m:r>
                  </m:oMath>
                </a14:m>
                <a:r>
                  <a:rPr lang="zh-CN" altLang="en-US" sz="2800" dirty="0">
                    <a:solidFill>
                      <a:schemeClr val="tx1"/>
                    </a:solidFill>
                    <a:latin typeface="宋体" panose="02010600030101010101" pitchFamily="2" charset="-122"/>
                    <a:ea typeface="宋体" panose="02010600030101010101" pitchFamily="2" charset="-122"/>
                  </a:rPr>
                  <a:t>则 </a:t>
                </a:r>
                <a14:m>
                  <m:oMath xmlns:m="http://schemas.openxmlformats.org/officeDocument/2006/math">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≥14.314</m:t>
                    </m:r>
                  </m:oMath>
                </a14:m>
                <a:r>
                  <a:rPr lang="zh-CN" altLang="en-US" sz="2800" i="1" kern="100" dirty="0">
                    <a:solidFill>
                      <a:schemeClr val="tx1"/>
                    </a:solidFill>
                    <a:latin typeface="Cambria Math" panose="02040503050406030204" pitchFamily="18" charset="0"/>
                    <a:ea typeface="等线" panose="02010600030101010101" pitchFamily="2" charset="-122"/>
                    <a:cs typeface="Times New Roman" panose="02020603050405020304" pitchFamily="18" charset="0"/>
                  </a:rPr>
                  <a:t>，</a:t>
                </a:r>
                <a:r>
                  <a:rPr lang="zh-CN" altLang="en-US" sz="2800" dirty="0">
                    <a:solidFill>
                      <a:schemeClr val="tx1"/>
                    </a:solidFill>
                    <a:latin typeface="宋体" panose="02010600030101010101" pitchFamily="2" charset="-122"/>
                    <a:ea typeface="宋体" panose="02010600030101010101" pitchFamily="2" charset="-122"/>
                  </a:rPr>
                  <a:t>则至少取容量为</a:t>
                </a:r>
                <a:r>
                  <a:rPr lang="en-US" altLang="zh-CN" sz="2800" dirty="0">
                    <a:solidFill>
                      <a:schemeClr val="tx1"/>
                    </a:solidFill>
                    <a:latin typeface="宋体" panose="02010600030101010101" pitchFamily="2" charset="-122"/>
                    <a:ea typeface="宋体" panose="02010600030101010101" pitchFamily="2" charset="-122"/>
                  </a:rPr>
                  <a:t>15</a:t>
                </a:r>
                <a:r>
                  <a:rPr lang="zh-CN" altLang="en-US" sz="2800" dirty="0">
                    <a:solidFill>
                      <a:schemeClr val="tx1"/>
                    </a:solidFill>
                    <a:latin typeface="宋体" panose="02010600030101010101" pitchFamily="2" charset="-122"/>
                    <a:ea typeface="宋体" panose="02010600030101010101" pitchFamily="2" charset="-122"/>
                  </a:rPr>
                  <a:t>的样本才能满足</a:t>
                </a:r>
                <a14:m>
                  <m:oMath xmlns:m="http://schemas.openxmlformats.org/officeDocument/2006/math">
                    <m:r>
                      <a:rPr lang="en-US" altLang="zh-CN" sz="2800" i="1" kern="100" smtClean="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𝑃</m:t>
                    </m:r>
                    <m:d>
                      <m:dPr>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28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𝑋</m:t>
                                </m:r>
                              </m:e>
                            </m:acc>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𝜇</m:t>
                            </m:r>
                          </m:e>
                        </m:d>
                        <m:r>
                          <a:rPr lang="en-US" altLang="zh-CN" sz="2800" i="1" kern="100">
                            <a:solidFill>
                              <a:schemeClr val="tx1"/>
                            </a:solidFill>
                            <a:effectLst/>
                            <a:latin typeface="Cambria Math" panose="02040503050406030204" pitchFamily="18" charset="0"/>
                            <a:ea typeface="等线" panose="02010600030101010101" pitchFamily="2" charset="-122"/>
                            <a:cs typeface="Times New Roman" panose="02020603050405020304" pitchFamily="18" charset="0"/>
                          </a:rPr>
                          <m:t>≤1</m:t>
                        </m:r>
                      </m:e>
                    </m:d>
                  </m:oMath>
                </a14:m>
                <a:r>
                  <a:rPr lang="zh-CN" altLang="en-US" sz="2800" dirty="0">
                    <a:solidFill>
                      <a:schemeClr val="tx1"/>
                    </a:solidFill>
                    <a:latin typeface="宋体" panose="02010600030101010101" pitchFamily="2" charset="-122"/>
                    <a:ea typeface="宋体" panose="02010600030101010101" pitchFamily="2" charset="-122"/>
                  </a:rPr>
                  <a:t>≥</a:t>
                </a:r>
                <a:r>
                  <a:rPr lang="en-US" altLang="zh-CN" sz="2800" dirty="0">
                    <a:solidFill>
                      <a:schemeClr val="tx1"/>
                    </a:solidFill>
                    <a:latin typeface="宋体" panose="02010600030101010101" pitchFamily="2" charset="-122"/>
                    <a:ea typeface="宋体" panose="02010600030101010101" pitchFamily="2" charset="-122"/>
                  </a:rPr>
                  <a:t>0.9</a:t>
                </a:r>
                <a:r>
                  <a:rPr lang="zh-CN" altLang="en-US" sz="2800" dirty="0">
                    <a:solidFill>
                      <a:schemeClr val="tx1"/>
                    </a:solidFill>
                    <a:latin typeface="宋体" panose="02010600030101010101" pitchFamily="2" charset="-122"/>
                    <a:ea typeface="宋体" panose="02010600030101010101" pitchFamily="2" charset="-122"/>
                  </a:rPr>
                  <a:t>的要求。</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23724" y="857527"/>
                <a:ext cx="9030929" cy="4566888"/>
              </a:xfrm>
              <a:blipFill>
                <a:blip r:embed="rId2"/>
                <a:stretch>
                  <a:fillRect l="-1350" b="-4139"/>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dirty="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标题 1">
            <a:extLst>
              <a:ext uri="{FF2B5EF4-FFF2-40B4-BE49-F238E27FC236}">
                <a16:creationId xmlns:a16="http://schemas.microsoft.com/office/drawing/2014/main" id="{308955CE-F7A7-B65D-7CB4-F913AE66F1AF}"/>
              </a:ext>
            </a:extLst>
          </p:cNvPr>
          <p:cNvSpPr txBox="1">
            <a:spLocks/>
          </p:cNvSpPr>
          <p:nvPr/>
        </p:nvSpPr>
        <p:spPr>
          <a:xfrm>
            <a:off x="1864895" y="194745"/>
            <a:ext cx="8823158"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effectLst/>
              </a:rPr>
              <a:t>【</a:t>
            </a:r>
            <a:r>
              <a:rPr lang="zh-CN" altLang="en-US" b="1" kern="0" dirty="0">
                <a:effectLst/>
              </a:rPr>
              <a:t>例</a:t>
            </a:r>
            <a:r>
              <a:rPr lang="en-US" altLang="zh-CN" b="1" kern="0" dirty="0">
                <a:effectLst/>
              </a:rPr>
              <a:t>6-8】</a:t>
            </a:r>
            <a:r>
              <a:rPr lang="zh-CN" altLang="en-US" b="1" kern="0" dirty="0">
                <a:effectLst/>
              </a:rPr>
              <a:t>解</a:t>
            </a:r>
            <a:r>
              <a:rPr lang="zh-CN" altLang="en-US" kern="0" dirty="0">
                <a:effectLst/>
              </a:rPr>
              <a:t>（续）</a:t>
            </a:r>
            <a:endParaRPr lang="en-US" altLang="zh-CN" kern="0" dirty="0">
              <a:effectLst/>
            </a:endParaRPr>
          </a:p>
        </p:txBody>
      </p:sp>
    </p:spTree>
    <p:extLst>
      <p:ext uri="{BB962C8B-B14F-4D97-AF65-F5344CB8AC3E}">
        <p14:creationId xmlns:p14="http://schemas.microsoft.com/office/powerpoint/2010/main" val="11932670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82842" y="675957"/>
                <a:ext cx="8867274" cy="5520306"/>
              </a:xfrm>
            </p:spPr>
            <p:txBody>
              <a:bodyPr>
                <a:noAutofit/>
              </a:bodyPr>
              <a:lstStyle/>
              <a:p>
                <a:pPr marL="0" indent="265113" algn="r">
                  <a:spcBef>
                    <a:spcPts val="1200"/>
                  </a:spcBef>
                  <a:spcAft>
                    <a:spcPts val="0"/>
                  </a:spcAft>
                  <a:buNone/>
                </a:pPr>
                <a:r>
                  <a:rPr lang="zh-CN" altLang="en-US" sz="2400" dirty="0">
                    <a:solidFill>
                      <a:schemeClr val="tx1"/>
                    </a:solidFill>
                    <a:latin typeface="宋体" panose="02010600030101010101" pitchFamily="2" charset="-122"/>
                    <a:ea typeface="宋体" panose="02010600030101010101" pitchFamily="2" charset="-122"/>
                  </a:rPr>
                  <a:t>若总体服从</a:t>
                </a:r>
                <a14:m>
                  <m:oMath xmlns:m="http://schemas.openxmlformats.org/officeDocument/2006/math">
                    <m:r>
                      <a:rPr lang="en-US" altLang="zh-CN" sz="2400">
                        <a:solidFill>
                          <a:schemeClr val="tx1"/>
                        </a:solidFill>
                        <a:latin typeface="Cambria Math" panose="02040503050406030204" pitchFamily="18" charset="0"/>
                      </a:rPr>
                      <m:t>𝑁</m:t>
                    </m:r>
                    <m:r>
                      <a:rPr lang="en-US" altLang="zh-CN" sz="2400">
                        <a:solidFill>
                          <a:schemeClr val="tx1"/>
                        </a:solidFill>
                        <a:latin typeface="Cambria Math" panose="02040503050406030204" pitchFamily="18" charset="0"/>
                      </a:rPr>
                      <m:t>(</m:t>
                    </m:r>
                    <m:r>
                      <a:rPr lang="en-US" altLang="zh-CN" sz="2400">
                        <a:solidFill>
                          <a:schemeClr val="tx1"/>
                        </a:solidFill>
                        <a:latin typeface="Cambria Math" panose="02040503050406030204" pitchFamily="18" charset="0"/>
                      </a:rPr>
                      <m:t>𝜇</m:t>
                    </m:r>
                    <m:r>
                      <a:rPr lang="en-US" altLang="zh-CN" sz="2400">
                        <a:solidFill>
                          <a:schemeClr val="tx1"/>
                        </a:solidFill>
                        <a:latin typeface="Cambria Math" panose="02040503050406030204" pitchFamily="18" charset="0"/>
                      </a:rPr>
                      <m:t>,</m:t>
                    </m:r>
                    <m:sSup>
                      <m:sSupPr>
                        <m:ctrlPr>
                          <a:rPr lang="zh-CN" altLang="zh-CN" sz="2400" i="1">
                            <a:solidFill>
                              <a:schemeClr val="tx1"/>
                            </a:solidFill>
                            <a:latin typeface="Cambria Math" panose="02040503050406030204" pitchFamily="18" charset="0"/>
                          </a:rPr>
                        </m:ctrlPr>
                      </m:sSupPr>
                      <m:e>
                        <m:r>
                          <a:rPr lang="en-US" altLang="zh-CN" sz="2400">
                            <a:solidFill>
                              <a:schemeClr val="tx1"/>
                            </a:solidFill>
                            <a:latin typeface="Cambria Math" panose="02040503050406030204" pitchFamily="18" charset="0"/>
                          </a:rPr>
                          <m:t>𝜎</m:t>
                        </m:r>
                      </m:e>
                      <m:sup>
                        <m:r>
                          <a:rPr lang="en-US" altLang="zh-CN" sz="2400">
                            <a:solidFill>
                              <a:schemeClr val="tx1"/>
                            </a:solidFill>
                            <a:latin typeface="Cambria Math" panose="02040503050406030204" pitchFamily="18" charset="0"/>
                          </a:rPr>
                          <m:t>2</m:t>
                        </m:r>
                      </m:sup>
                    </m:sSup>
                    <m:r>
                      <a:rPr lang="en-US" altLang="zh-CN" sz="2400">
                        <a:solidFill>
                          <a:schemeClr val="tx1"/>
                        </a:solidFill>
                        <a:latin typeface="Cambria Math" panose="02040503050406030204" pitchFamily="18" charset="0"/>
                      </a:rPr>
                      <m:t>)</m:t>
                    </m:r>
                  </m:oMath>
                </a14:m>
                <a:r>
                  <a:rPr lang="zh-CN" altLang="en-US" sz="2400" dirty="0">
                    <a:solidFill>
                      <a:schemeClr val="tx1"/>
                    </a:solidFill>
                    <a:latin typeface="宋体" panose="02010600030101010101" pitchFamily="2" charset="-122"/>
                    <a:ea typeface="宋体" panose="02010600030101010101" pitchFamily="2" charset="-122"/>
                  </a:rPr>
                  <a:t>，从中抽取容量为</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𝑋</m:t>
                        </m:r>
                      </m:e>
                      <m:sub>
                        <m:r>
                          <a:rPr lang="en-US" altLang="zh-CN" sz="2400" i="1" dirty="0">
                            <a:solidFill>
                              <a:schemeClr val="tx1"/>
                            </a:solidFill>
                            <a:latin typeface="Cambria Math" panose="02040503050406030204" pitchFamily="18" charset="0"/>
                          </a:rPr>
                          <m:t>1</m:t>
                        </m:r>
                      </m:sub>
                    </m:sSub>
                    <m:r>
                      <a:rPr lang="en-US" altLang="zh-CN" sz="2400" i="1" dirty="0">
                        <a:solidFill>
                          <a:schemeClr val="tx1"/>
                        </a:solidFill>
                        <a:latin typeface="Cambria Math" panose="02040503050406030204" pitchFamily="18" charset="0"/>
                      </a:rPr>
                      <m:t>,</m:t>
                    </m:r>
                    <m:r>
                      <m:rPr>
                        <m:nor/>
                      </m:rPr>
                      <a:rPr lang="en-US" altLang="zh-CN" sz="2400" dirty="0">
                        <a:solidFill>
                          <a:schemeClr val="tx1"/>
                        </a:solidFill>
                        <a:latin typeface="宋体" panose="02010600030101010101" pitchFamily="2" charset="-122"/>
                        <a:ea typeface="宋体" panose="02010600030101010101" pitchFamily="2" charset="-122"/>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𝑋</m:t>
                        </m:r>
                      </m:e>
                      <m:sub>
                        <m:r>
                          <m:rPr>
                            <m:sty m:val="p"/>
                          </m:rPr>
                          <a:rPr lang="en-US" altLang="zh-CN" sz="2400" i="1" dirty="0">
                            <a:solidFill>
                              <a:schemeClr val="tx1"/>
                            </a:solidFill>
                            <a:latin typeface="Cambria Math" panose="02040503050406030204" pitchFamily="18" charset="0"/>
                          </a:rPr>
                          <m:t>n</m:t>
                        </m:r>
                      </m:sub>
                    </m:sSub>
                  </m:oMath>
                </a14:m>
                <a:r>
                  <a:rPr lang="zh-CN" altLang="en-US" sz="2400" dirty="0">
                    <a:solidFill>
                      <a:schemeClr val="tx1"/>
                    </a:solidFill>
                    <a:latin typeface="宋体" panose="02010600030101010101" pitchFamily="2" charset="-122"/>
                    <a:ea typeface="宋体" panose="02010600030101010101" pitchFamily="2" charset="-122"/>
                  </a:rPr>
                  <a:t>的样本，则</a:t>
                </a:r>
                <a:r>
                  <a:rPr lang="zh-CN" altLang="en-US" sz="2800" dirty="0">
                    <a:solidFill>
                      <a:schemeClr val="tx1"/>
                    </a:solidFill>
                    <a:latin typeface="宋体" panose="02010600030101010101" pitchFamily="2" charset="-122"/>
                    <a:ea typeface="宋体" panose="02010600030101010101" pitchFamily="2" charset="-122"/>
                  </a:rPr>
                  <a:t>          </a:t>
                </a:r>
                <a14:m>
                  <m:oMath xmlns:m="http://schemas.openxmlformats.org/officeDocument/2006/math">
                    <m:r>
                      <a:rPr lang="en-US" altLang="zh-CN" smtClean="0">
                        <a:solidFill>
                          <a:srgbClr val="0070C0"/>
                        </a:solidFill>
                        <a:latin typeface="Cambria Math" panose="02040503050406030204" pitchFamily="18" charset="0"/>
                      </a:rPr>
                      <m:t>𝑡</m:t>
                    </m:r>
                    <m:r>
                      <a:rPr lang="en-US" altLang="zh-CN" smtClean="0">
                        <a:solidFill>
                          <a:srgbClr val="0070C0"/>
                        </a:solidFill>
                        <a:latin typeface="Cambria Math" panose="02040503050406030204" pitchFamily="18" charset="0"/>
                      </a:rPr>
                      <m:t>=</m:t>
                    </m:r>
                    <m:f>
                      <m:fPr>
                        <m:ctrlPr>
                          <a:rPr lang="zh-CN" altLang="zh-CN" i="1">
                            <a:solidFill>
                              <a:srgbClr val="0070C0"/>
                            </a:solidFill>
                            <a:latin typeface="Cambria Math" panose="02040503050406030204" pitchFamily="18" charset="0"/>
                          </a:rPr>
                        </m:ctrlPr>
                      </m:fPr>
                      <m:num>
                        <m:acc>
                          <m:accPr>
                            <m:chr m:val="̅"/>
                            <m:ctrlPr>
                              <a:rPr lang="zh-CN" altLang="zh-CN" i="1">
                                <a:solidFill>
                                  <a:srgbClr val="0070C0"/>
                                </a:solidFill>
                                <a:latin typeface="Cambria Math" panose="02040503050406030204" pitchFamily="18" charset="0"/>
                              </a:rPr>
                            </m:ctrlPr>
                          </m:accPr>
                          <m:e>
                            <m:r>
                              <a:rPr lang="en-US" altLang="zh-CN">
                                <a:solidFill>
                                  <a:srgbClr val="0070C0"/>
                                </a:solidFill>
                                <a:latin typeface="Cambria Math" panose="02040503050406030204" pitchFamily="18" charset="0"/>
                              </a:rPr>
                              <m:t>𝑋</m:t>
                            </m:r>
                          </m:e>
                        </m:acc>
                        <m:r>
                          <a:rPr lang="en-US" altLang="zh-CN">
                            <a:solidFill>
                              <a:srgbClr val="0070C0"/>
                            </a:solidFill>
                            <a:latin typeface="Cambria Math" panose="02040503050406030204" pitchFamily="18" charset="0"/>
                          </a:rPr>
                          <m:t>−</m:t>
                        </m:r>
                        <m:r>
                          <a:rPr lang="en-US" altLang="zh-CN">
                            <a:solidFill>
                              <a:srgbClr val="0070C0"/>
                            </a:solidFill>
                            <a:latin typeface="Cambria Math" panose="02040503050406030204" pitchFamily="18" charset="0"/>
                          </a:rPr>
                          <m:t>𝜇</m:t>
                        </m:r>
                      </m:num>
                      <m:den>
                        <m:r>
                          <a:rPr lang="en-US" altLang="zh-CN">
                            <a:solidFill>
                              <a:srgbClr val="0070C0"/>
                            </a:solidFill>
                            <a:latin typeface="Cambria Math" panose="02040503050406030204" pitchFamily="18" charset="0"/>
                          </a:rPr>
                          <m:t>𝑆</m:t>
                        </m:r>
                        <m:r>
                          <a:rPr lang="en-US" altLang="zh-CN">
                            <a:solidFill>
                              <a:srgbClr val="0070C0"/>
                            </a:solidFill>
                            <a:latin typeface="Cambria Math" panose="02040503050406030204" pitchFamily="18" charset="0"/>
                          </a:rPr>
                          <m:t>/</m:t>
                        </m:r>
                        <m:rad>
                          <m:radPr>
                            <m:degHide m:val="on"/>
                            <m:ctrlPr>
                              <a:rPr lang="zh-CN" altLang="zh-CN" i="1">
                                <a:solidFill>
                                  <a:srgbClr val="0070C0"/>
                                </a:solidFill>
                                <a:latin typeface="Cambria Math" panose="02040503050406030204" pitchFamily="18" charset="0"/>
                              </a:rPr>
                            </m:ctrlPr>
                          </m:radPr>
                          <m:deg/>
                          <m:e>
                            <m:r>
                              <a:rPr lang="en-US" altLang="zh-CN">
                                <a:solidFill>
                                  <a:srgbClr val="0070C0"/>
                                </a:solidFill>
                                <a:latin typeface="Cambria Math" panose="02040503050406030204" pitchFamily="18" charset="0"/>
                              </a:rPr>
                              <m:t>𝑛</m:t>
                            </m:r>
                          </m:e>
                        </m:rad>
                      </m:den>
                    </m:f>
                    <m:r>
                      <a:rPr lang="en-US" altLang="zh-CN">
                        <a:solidFill>
                          <a:srgbClr val="0070C0"/>
                        </a:solidFill>
                        <a:latin typeface="Cambria Math" panose="02040503050406030204" pitchFamily="18" charset="0"/>
                      </a:rPr>
                      <m:t>~</m:t>
                    </m:r>
                    <m:r>
                      <a:rPr lang="en-US" altLang="zh-CN">
                        <a:solidFill>
                          <a:srgbClr val="0070C0"/>
                        </a:solidFill>
                        <a:latin typeface="Cambria Math" panose="02040503050406030204" pitchFamily="18" charset="0"/>
                      </a:rPr>
                      <m:t>𝑡</m:t>
                    </m:r>
                    <m:r>
                      <a:rPr lang="en-US" altLang="zh-CN">
                        <a:solidFill>
                          <a:srgbClr val="0070C0"/>
                        </a:solidFill>
                        <a:latin typeface="Cambria Math" panose="02040503050406030204" pitchFamily="18" charset="0"/>
                      </a:rPr>
                      <m:t>(</m:t>
                    </m:r>
                    <m:r>
                      <a:rPr lang="en-US" altLang="zh-CN">
                        <a:solidFill>
                          <a:srgbClr val="0070C0"/>
                        </a:solidFill>
                        <a:latin typeface="Cambria Math" panose="02040503050406030204" pitchFamily="18" charset="0"/>
                      </a:rPr>
                      <m:t>𝑛</m:t>
                    </m:r>
                    <m:r>
                      <a:rPr lang="en-US" altLang="zh-CN">
                        <a:solidFill>
                          <a:srgbClr val="0070C0"/>
                        </a:solidFill>
                        <a:latin typeface="Cambria Math" panose="02040503050406030204" pitchFamily="18" charset="0"/>
                      </a:rPr>
                      <m:t>−1)</m:t>
                    </m:r>
                  </m:oMath>
                </a14:m>
                <a:r>
                  <a:rPr lang="zh-CN" altLang="en-US" sz="2800" dirty="0">
                    <a:solidFill>
                      <a:schemeClr val="tx1"/>
                    </a:solidFill>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（6-</a:t>
                </a:r>
                <a:r>
                  <a:rPr lang="en-US" altLang="zh-CN" sz="2400" dirty="0">
                    <a:solidFill>
                      <a:schemeClr val="tx1"/>
                    </a:solidFill>
                    <a:latin typeface="宋体" panose="02010600030101010101" pitchFamily="2" charset="-122"/>
                    <a:ea typeface="宋体" panose="02010600030101010101" pitchFamily="2" charset="-122"/>
                  </a:rPr>
                  <a:t>24</a:t>
                </a:r>
                <a:r>
                  <a:rPr lang="zh-CN" altLang="en-US" sz="2400" dirty="0">
                    <a:solidFill>
                      <a:schemeClr val="tx1"/>
                    </a:solidFill>
                    <a:latin typeface="宋体" panose="02010600030101010101" pitchFamily="2" charset="-122"/>
                    <a:ea typeface="宋体" panose="02010600030101010101" pitchFamily="2" charset="-122"/>
                  </a:rPr>
                  <a:t>）</a:t>
                </a:r>
              </a:p>
              <a:p>
                <a:pPr marL="0" indent="265113">
                  <a:spcBef>
                    <a:spcPts val="1200"/>
                  </a:spcBef>
                  <a:spcAft>
                    <a:spcPts val="0"/>
                  </a:spcAft>
                  <a:buNone/>
                </a:pPr>
                <a:r>
                  <a:rPr lang="zh-CN" altLang="en-US" sz="2800" b="1" dirty="0">
                    <a:solidFill>
                      <a:srgbClr val="0070C0"/>
                    </a:solidFill>
                    <a:latin typeface="黑体" panose="02010609060101010101" pitchFamily="49" charset="-122"/>
                    <a:ea typeface="黑体" panose="02010609060101010101" pitchFamily="49" charset="-122"/>
                  </a:rPr>
                  <a:t>证明</a:t>
                </a:r>
                <a:r>
                  <a:rPr lang="zh-CN" altLang="en-US" sz="2800" dirty="0">
                    <a:solidFill>
                      <a:schemeClr val="tx1"/>
                    </a:solidFill>
                    <a:latin typeface="宋体" panose="02010600030101010101" pitchFamily="2" charset="-122"/>
                    <a:ea typeface="宋体" panose="02010600030101010101" pitchFamily="2" charset="-122"/>
                  </a:rPr>
                  <a:t>：样本</a:t>
                </a:r>
                <a14:m>
                  <m:oMath xmlns:m="http://schemas.openxmlformats.org/officeDocument/2006/math">
                    <m:sSub>
                      <m:sSubPr>
                        <m:ctrlPr>
                          <a:rPr lang="en-US" altLang="zh-CN" sz="2800" i="1" dirty="0" smtClean="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𝑋</m:t>
                        </m:r>
                      </m:e>
                      <m:sub>
                        <m:r>
                          <a:rPr lang="en-US" altLang="zh-CN" sz="2800" i="1" dirty="0">
                            <a:solidFill>
                              <a:schemeClr val="tx1"/>
                            </a:solidFill>
                            <a:latin typeface="Cambria Math" panose="02040503050406030204" pitchFamily="18" charset="0"/>
                          </a:rPr>
                          <m:t>1</m:t>
                        </m:r>
                      </m:sub>
                    </m:sSub>
                    <m:r>
                      <a:rPr lang="en-US" altLang="zh-CN" sz="2800" i="1" dirty="0">
                        <a:solidFill>
                          <a:schemeClr val="tx1"/>
                        </a:solidFill>
                        <a:latin typeface="Cambria Math" panose="02040503050406030204" pitchFamily="18" charset="0"/>
                      </a:rPr>
                      <m:t>,</m:t>
                    </m:r>
                    <m:r>
                      <m:rPr>
                        <m:nor/>
                      </m:rPr>
                      <a:rPr lang="en-US" altLang="zh-CN" sz="2800" dirty="0">
                        <a:solidFill>
                          <a:schemeClr val="tx1"/>
                        </a:solidFill>
                        <a:latin typeface="宋体" panose="02010600030101010101" pitchFamily="2" charset="-122"/>
                        <a:ea typeface="宋体" panose="02010600030101010101" pitchFamily="2" charset="-122"/>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𝑋</m:t>
                        </m:r>
                      </m:e>
                      <m:sub>
                        <m:r>
                          <m:rPr>
                            <m:sty m:val="p"/>
                          </m:rPr>
                          <a:rPr lang="en-US" altLang="zh-CN" sz="2800" i="1" dirty="0">
                            <a:solidFill>
                              <a:schemeClr val="tx1"/>
                            </a:solidFill>
                            <a:latin typeface="Cambria Math" panose="02040503050406030204" pitchFamily="18" charset="0"/>
                          </a:rPr>
                          <m:t>n</m:t>
                        </m:r>
                      </m:sub>
                    </m:sSub>
                  </m:oMath>
                </a14:m>
                <a:r>
                  <a:rPr lang="zh-CN" altLang="en-US" sz="2800" dirty="0">
                    <a:solidFill>
                      <a:schemeClr val="tx1"/>
                    </a:solidFill>
                    <a:latin typeface="宋体" panose="02010600030101010101" pitchFamily="2" charset="-122"/>
                    <a:ea typeface="宋体" panose="02010600030101010101" pitchFamily="2" charset="-122"/>
                  </a:rPr>
                  <a:t>相互独立，且都服从</a:t>
                </a:r>
                <a14:m>
                  <m:oMath xmlns:m="http://schemas.openxmlformats.org/officeDocument/2006/math">
                    <m:r>
                      <a:rPr lang="en-US" altLang="zh-CN" sz="2800">
                        <a:solidFill>
                          <a:schemeClr val="tx1"/>
                        </a:solidFill>
                        <a:latin typeface="Cambria Math" panose="02040503050406030204" pitchFamily="18" charset="0"/>
                      </a:rPr>
                      <m:t>𝑁</m:t>
                    </m:r>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𝜇</m:t>
                    </m:r>
                    <m:r>
                      <a:rPr lang="en-US" altLang="zh-CN" sz="2800">
                        <a:solidFill>
                          <a:schemeClr val="tx1"/>
                        </a:solidFill>
                        <a:latin typeface="Cambria Math" panose="02040503050406030204" pitchFamily="18" charset="0"/>
                      </a:rPr>
                      <m:t>,</m:t>
                    </m:r>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𝜎</m:t>
                        </m:r>
                      </m:e>
                      <m:sup>
                        <m:r>
                          <a:rPr lang="en-US" altLang="zh-CN" sz="2800">
                            <a:solidFill>
                              <a:schemeClr val="tx1"/>
                            </a:solidFill>
                            <a:latin typeface="Cambria Math" panose="02040503050406030204" pitchFamily="18" charset="0"/>
                          </a:rPr>
                          <m:t>2</m:t>
                        </m:r>
                      </m:sup>
                    </m:sSup>
                    <m:r>
                      <a:rPr lang="en-US" altLang="zh-CN" sz="280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 </m:t>
                    </m:r>
                  </m:oMath>
                </a14:m>
                <a:r>
                  <a:rPr lang="zh-CN" altLang="en-US" sz="2800" dirty="0">
                    <a:solidFill>
                      <a:schemeClr val="tx1"/>
                    </a:solidFill>
                    <a:latin typeface="宋体" panose="02010600030101010101" pitchFamily="2" charset="-122"/>
                    <a:ea typeface="宋体" panose="02010600030101010101" pitchFamily="2" charset="-122"/>
                  </a:rPr>
                  <a:t>，</a:t>
                </a:r>
                <a:endParaRPr lang="en-US" altLang="zh-CN" sz="2800" dirty="0">
                  <a:solidFill>
                    <a:schemeClr val="tx1"/>
                  </a:solidFill>
                  <a:latin typeface="宋体" panose="02010600030101010101" pitchFamily="2" charset="-122"/>
                  <a:ea typeface="宋体" panose="02010600030101010101" pitchFamily="2" charset="-122"/>
                </a:endParaRPr>
              </a:p>
              <a:p>
                <a:pPr marL="0" indent="265113">
                  <a:spcBef>
                    <a:spcPts val="1200"/>
                  </a:spcBef>
                  <a:spcAft>
                    <a:spcPts val="0"/>
                  </a:spcAft>
                  <a:buNone/>
                </a:pPr>
                <a:r>
                  <a:rPr lang="en-US" altLang="zh-CN" sz="2800" dirty="0">
                    <a:solidFill>
                      <a:schemeClr val="tx1"/>
                    </a:solidFill>
                  </a:rPr>
                  <a:t>          </a:t>
                </a:r>
                <a14:m>
                  <m:oMath xmlns:m="http://schemas.openxmlformats.org/officeDocument/2006/math">
                    <m:r>
                      <a:rPr lang="en-US" altLang="zh-CN" sz="2800">
                        <a:solidFill>
                          <a:schemeClr val="tx1"/>
                        </a:solidFill>
                        <a:latin typeface="Cambria Math" panose="02040503050406030204" pitchFamily="18" charset="0"/>
                      </a:rPr>
                      <m:t>𝑍</m:t>
                    </m:r>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acc>
                          <m:accPr>
                            <m:chr m:val="̅"/>
                            <m:ctrlPr>
                              <a:rPr lang="zh-CN" altLang="zh-CN" sz="2800" i="1">
                                <a:solidFill>
                                  <a:schemeClr val="tx1"/>
                                </a:solidFill>
                                <a:latin typeface="Cambria Math" panose="02040503050406030204" pitchFamily="18" charset="0"/>
                              </a:rPr>
                            </m:ctrlPr>
                          </m:accPr>
                          <m:e>
                            <m:r>
                              <a:rPr lang="en-US" altLang="zh-CN" sz="2800">
                                <a:solidFill>
                                  <a:schemeClr val="tx1"/>
                                </a:solidFill>
                                <a:latin typeface="Cambria Math" panose="02040503050406030204" pitchFamily="18" charset="0"/>
                              </a:rPr>
                              <m:t>𝑋</m:t>
                            </m:r>
                          </m:e>
                        </m:acc>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𝜇</m:t>
                        </m:r>
                      </m:num>
                      <m:den>
                        <m:rad>
                          <m:radPr>
                            <m:degHide m:val="on"/>
                            <m:ctrlPr>
                              <a:rPr lang="zh-CN" altLang="zh-CN" sz="2800" i="1">
                                <a:solidFill>
                                  <a:schemeClr val="tx1"/>
                                </a:solidFill>
                                <a:latin typeface="Cambria Math" panose="02040503050406030204" pitchFamily="18" charset="0"/>
                              </a:rPr>
                            </m:ctrlPr>
                          </m:radPr>
                          <m:deg/>
                          <m:e>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𝜎</m:t>
                                </m:r>
                              </m:e>
                              <m:sup>
                                <m:r>
                                  <a:rPr lang="en-US" altLang="zh-CN" sz="2800">
                                    <a:solidFill>
                                      <a:schemeClr val="tx1"/>
                                    </a:solidFill>
                                    <a:latin typeface="Cambria Math" panose="02040503050406030204" pitchFamily="18" charset="0"/>
                                  </a:rPr>
                                  <m:t>2</m:t>
                                </m:r>
                              </m:sup>
                            </m:sSup>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𝑛</m:t>
                            </m:r>
                          </m:e>
                        </m:rad>
                      </m:den>
                    </m:f>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acc>
                          <m:accPr>
                            <m:chr m:val="̅"/>
                            <m:ctrlPr>
                              <a:rPr lang="zh-CN" altLang="zh-CN" sz="2800" i="1">
                                <a:solidFill>
                                  <a:schemeClr val="tx1"/>
                                </a:solidFill>
                                <a:latin typeface="Cambria Math" panose="02040503050406030204" pitchFamily="18" charset="0"/>
                              </a:rPr>
                            </m:ctrlPr>
                          </m:accPr>
                          <m:e>
                            <m:r>
                              <a:rPr lang="en-US" altLang="zh-CN" sz="2800">
                                <a:solidFill>
                                  <a:schemeClr val="tx1"/>
                                </a:solidFill>
                                <a:latin typeface="Cambria Math" panose="02040503050406030204" pitchFamily="18" charset="0"/>
                              </a:rPr>
                              <m:t>𝑋</m:t>
                            </m:r>
                          </m:e>
                        </m:acc>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𝜇</m:t>
                        </m:r>
                      </m:num>
                      <m:den>
                        <m:r>
                          <a:rPr lang="en-US" altLang="zh-CN" sz="2800">
                            <a:solidFill>
                              <a:schemeClr val="tx1"/>
                            </a:solidFill>
                            <a:latin typeface="Cambria Math" panose="02040503050406030204" pitchFamily="18" charset="0"/>
                          </a:rPr>
                          <m:t>𝜎</m:t>
                        </m:r>
                        <m:r>
                          <a:rPr lang="en-US" altLang="zh-CN" sz="2800">
                            <a:solidFill>
                              <a:schemeClr val="tx1"/>
                            </a:solidFill>
                            <a:latin typeface="Cambria Math" panose="02040503050406030204" pitchFamily="18" charset="0"/>
                          </a:rPr>
                          <m:t>/</m:t>
                        </m:r>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𝑛</m:t>
                            </m:r>
                          </m:e>
                        </m:rad>
                      </m:den>
                    </m:f>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𝑁</m:t>
                    </m:r>
                    <m:r>
                      <a:rPr lang="en-US" altLang="zh-CN" sz="2800">
                        <a:solidFill>
                          <a:schemeClr val="tx1"/>
                        </a:solidFill>
                        <a:latin typeface="Cambria Math" panose="02040503050406030204" pitchFamily="18" charset="0"/>
                      </a:rPr>
                      <m:t>(0,1)</m:t>
                    </m:r>
                  </m:oMath>
                </a14:m>
                <a:endParaRPr lang="zh-CN" altLang="zh-CN" sz="2800" dirty="0">
                  <a:solidFill>
                    <a:schemeClr val="tx1"/>
                  </a:solidFill>
                  <a:latin typeface="宋体" panose="02010600030101010101" pitchFamily="2" charset="-122"/>
                  <a:ea typeface="宋体" panose="02010600030101010101" pitchFamily="2" charset="-122"/>
                </a:endParaRPr>
              </a:p>
              <a:p>
                <a:pPr marL="0" indent="360363" algn="just">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又   </a:t>
                </a:r>
                <a14:m>
                  <m:oMath xmlns:m="http://schemas.openxmlformats.org/officeDocument/2006/math">
                    <m:r>
                      <a:rPr lang="en-US" altLang="zh-CN" sz="2800">
                        <a:solidFill>
                          <a:schemeClr val="tx1"/>
                        </a:solidFill>
                        <a:latin typeface="Cambria Math" panose="02040503050406030204" pitchFamily="18" charset="0"/>
                      </a:rPr>
                      <m:t>𝑌</m:t>
                    </m:r>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d>
                          <m:dPr>
                            <m:ctrlPr>
                              <a:rPr lang="zh-CN" altLang="zh-CN" sz="2800" i="1">
                                <a:solidFill>
                                  <a:schemeClr val="tx1"/>
                                </a:solidFill>
                                <a:latin typeface="Cambria Math" panose="02040503050406030204" pitchFamily="18" charset="0"/>
                              </a:rPr>
                            </m:ctrlPr>
                          </m:dPr>
                          <m:e>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−1</m:t>
                            </m:r>
                          </m:e>
                        </m:d>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𝑆</m:t>
                            </m:r>
                          </m:e>
                          <m:sup>
                            <m:r>
                              <a:rPr lang="en-US" altLang="zh-CN" sz="2800">
                                <a:solidFill>
                                  <a:schemeClr val="tx1"/>
                                </a:solidFill>
                                <a:latin typeface="Cambria Math" panose="02040503050406030204" pitchFamily="18" charset="0"/>
                              </a:rPr>
                              <m:t>2</m:t>
                            </m:r>
                          </m:sup>
                        </m:sSup>
                      </m:num>
                      <m:den>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𝜎</m:t>
                            </m:r>
                          </m:e>
                          <m:sup>
                            <m:r>
                              <a:rPr lang="en-US" altLang="zh-CN" sz="2800">
                                <a:solidFill>
                                  <a:schemeClr val="tx1"/>
                                </a:solidFill>
                                <a:latin typeface="Cambria Math" panose="02040503050406030204" pitchFamily="18" charset="0"/>
                              </a:rPr>
                              <m:t>2</m:t>
                            </m:r>
                          </m:sup>
                        </m:sSup>
                      </m:den>
                    </m:f>
                    <m:r>
                      <a:rPr lang="en-US" altLang="zh-CN" sz="2800">
                        <a:solidFill>
                          <a:schemeClr val="tx1"/>
                        </a:solidFill>
                        <a:latin typeface="Cambria Math" panose="02040503050406030204" pitchFamily="18" charset="0"/>
                      </a:rPr>
                      <m:t>~</m:t>
                    </m:r>
                    <m:sSup>
                      <m:sSupPr>
                        <m:ctrlPr>
                          <a:rPr lang="zh-CN" altLang="zh-CN" sz="2800" i="1">
                            <a:solidFill>
                              <a:schemeClr val="tx1"/>
                            </a:solidFill>
                            <a:latin typeface="Cambria Math" panose="02040503050406030204" pitchFamily="18" charset="0"/>
                          </a:rPr>
                        </m:ctrlPr>
                      </m:sSupPr>
                      <m:e>
                        <m:r>
                          <a:rPr lang="en-US" altLang="zh-CN" sz="2800">
                            <a:solidFill>
                              <a:schemeClr val="tx1"/>
                            </a:solidFill>
                            <a:latin typeface="Cambria Math" panose="02040503050406030204" pitchFamily="18" charset="0"/>
                          </a:rPr>
                          <m:t>𝜒</m:t>
                        </m:r>
                      </m:e>
                      <m:sup>
                        <m:r>
                          <a:rPr lang="en-US" altLang="zh-CN" sz="2800">
                            <a:solidFill>
                              <a:schemeClr val="tx1"/>
                            </a:solidFill>
                            <a:latin typeface="Cambria Math" panose="02040503050406030204" pitchFamily="18" charset="0"/>
                          </a:rPr>
                          <m:t>2</m:t>
                        </m:r>
                      </m:sup>
                    </m:sSup>
                    <m:d>
                      <m:dPr>
                        <m:ctrlPr>
                          <a:rPr lang="en-US" altLang="zh-CN" sz="2800" i="1">
                            <a:solidFill>
                              <a:schemeClr val="tx1"/>
                            </a:solidFill>
                            <a:latin typeface="Cambria Math" panose="02040503050406030204" pitchFamily="18" charset="0"/>
                          </a:rPr>
                        </m:ctrlPr>
                      </m:dPr>
                      <m:e>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−1</m:t>
                        </m:r>
                      </m:e>
                    </m:d>
                  </m:oMath>
                </a14:m>
                <a:endParaRPr lang="en-US" altLang="zh-CN" sz="2800" dirty="0">
                  <a:solidFill>
                    <a:schemeClr val="tx1"/>
                  </a:solidFill>
                  <a:latin typeface="宋体" panose="02010600030101010101" pitchFamily="2" charset="-122"/>
                </a:endParaRPr>
              </a:p>
              <a:p>
                <a:pPr marL="0" indent="84138" algn="just">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且上述随机变量</a:t>
                </a:r>
                <a:r>
                  <a:rPr lang="en-US" altLang="zh-CN" sz="2800" dirty="0">
                    <a:solidFill>
                      <a:schemeClr val="tx1"/>
                    </a:solidFill>
                    <a:latin typeface="宋体" panose="02010600030101010101" pitchFamily="2" charset="-122"/>
                    <a:ea typeface="宋体" panose="02010600030101010101" pitchFamily="2" charset="-122"/>
                  </a:rPr>
                  <a:t>Z</a:t>
                </a:r>
                <a:r>
                  <a:rPr lang="zh-CN" altLang="en-US" sz="2800" dirty="0">
                    <a:solidFill>
                      <a:schemeClr val="tx1"/>
                    </a:solidFill>
                    <a:latin typeface="宋体" panose="02010600030101010101" pitchFamily="2" charset="-122"/>
                    <a:ea typeface="宋体" panose="02010600030101010101" pitchFamily="2" charset="-122"/>
                  </a:rPr>
                  <a:t>与</a:t>
                </a:r>
                <a:r>
                  <a:rPr lang="en-US" altLang="zh-CN" sz="2800" dirty="0">
                    <a:solidFill>
                      <a:schemeClr val="tx1"/>
                    </a:solidFill>
                    <a:latin typeface="宋体" panose="02010600030101010101" pitchFamily="2" charset="-122"/>
                    <a:ea typeface="宋体" panose="02010600030101010101" pitchFamily="2" charset="-122"/>
                  </a:rPr>
                  <a:t>Y</a:t>
                </a:r>
                <a:r>
                  <a:rPr lang="zh-CN" altLang="en-US" sz="2800" dirty="0">
                    <a:solidFill>
                      <a:schemeClr val="tx1"/>
                    </a:solidFill>
                    <a:latin typeface="宋体" panose="02010600030101010101" pitchFamily="2" charset="-122"/>
                    <a:ea typeface="宋体" panose="02010600030101010101" pitchFamily="2" charset="-122"/>
                  </a:rPr>
                  <a:t>相互独立。根据</a:t>
                </a:r>
                <a:r>
                  <a:rPr lang="en-US" altLang="zh-CN" sz="2800" dirty="0">
                    <a:solidFill>
                      <a:schemeClr val="tx1"/>
                    </a:solidFill>
                    <a:latin typeface="宋体" panose="02010600030101010101" pitchFamily="2" charset="-122"/>
                    <a:ea typeface="宋体" panose="02010600030101010101" pitchFamily="2" charset="-122"/>
                  </a:rPr>
                  <a:t>t</a:t>
                </a:r>
                <a:r>
                  <a:rPr lang="zh-CN" altLang="en-US" sz="2800" dirty="0">
                    <a:solidFill>
                      <a:schemeClr val="tx1"/>
                    </a:solidFill>
                    <a:latin typeface="宋体" panose="02010600030101010101" pitchFamily="2" charset="-122"/>
                    <a:ea typeface="宋体" panose="02010600030101010101" pitchFamily="2" charset="-122"/>
                  </a:rPr>
                  <a:t>分布的定义有：</a:t>
                </a:r>
                <a:endParaRPr lang="en-US" altLang="zh-CN" sz="2800" dirty="0">
                  <a:solidFill>
                    <a:schemeClr val="tx1"/>
                  </a:solidFill>
                  <a:latin typeface="宋体" panose="02010600030101010101" pitchFamily="2" charset="-122"/>
                  <a:ea typeface="宋体" panose="02010600030101010101" pitchFamily="2" charset="-122"/>
                </a:endParaRPr>
              </a:p>
              <a:p>
                <a:pPr marL="0" indent="0" algn="just">
                  <a:spcBef>
                    <a:spcPts val="1200"/>
                  </a:spcBef>
                  <a:spcAft>
                    <a:spcPts val="0"/>
                  </a:spcAft>
                  <a:buNone/>
                </a:pPr>
                <a14:m>
                  <m:oMathPara xmlns:m="http://schemas.openxmlformats.org/officeDocument/2006/math">
                    <m:oMathParaPr>
                      <m:jc m:val="center"/>
                    </m:oMathParaPr>
                    <m:oMath xmlns:m="http://schemas.openxmlformats.org/officeDocument/2006/math">
                      <m:r>
                        <a:rPr lang="en-US" altLang="zh-CN" sz="2800">
                          <a:solidFill>
                            <a:schemeClr val="tx1"/>
                          </a:solidFill>
                          <a:latin typeface="Cambria Math" panose="02040503050406030204" pitchFamily="18" charset="0"/>
                        </a:rPr>
                        <m:t>𝑡</m:t>
                      </m:r>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𝑍</m:t>
                          </m:r>
                        </m:num>
                        <m:den>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𝑌</m:t>
                              </m:r>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−1)</m:t>
                              </m:r>
                            </m:e>
                          </m:rad>
                        </m:den>
                      </m:f>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acc>
                            <m:accPr>
                              <m:chr m:val="̅"/>
                              <m:ctrlPr>
                                <a:rPr lang="zh-CN" altLang="zh-CN" sz="2800" i="1">
                                  <a:solidFill>
                                    <a:schemeClr val="tx1"/>
                                  </a:solidFill>
                                  <a:latin typeface="Cambria Math" panose="02040503050406030204" pitchFamily="18" charset="0"/>
                                </a:rPr>
                              </m:ctrlPr>
                            </m:accPr>
                            <m:e>
                              <m:r>
                                <a:rPr lang="en-US" altLang="zh-CN" sz="2800">
                                  <a:solidFill>
                                    <a:schemeClr val="tx1"/>
                                  </a:solidFill>
                                  <a:latin typeface="Cambria Math" panose="02040503050406030204" pitchFamily="18" charset="0"/>
                                </a:rPr>
                                <m:t>𝑋</m:t>
                              </m:r>
                            </m:e>
                          </m:acc>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𝜇</m:t>
                          </m:r>
                        </m:num>
                        <m:den>
                          <m:r>
                            <a:rPr lang="en-US" altLang="zh-CN" sz="2800">
                              <a:solidFill>
                                <a:schemeClr val="tx1"/>
                              </a:solidFill>
                              <a:latin typeface="Cambria Math" panose="02040503050406030204" pitchFamily="18" charset="0"/>
                            </a:rPr>
                            <m:t>𝜎</m:t>
                          </m:r>
                          <m:r>
                            <a:rPr lang="en-US" altLang="zh-CN" sz="2800">
                              <a:solidFill>
                                <a:schemeClr val="tx1"/>
                              </a:solidFill>
                              <a:latin typeface="Cambria Math" panose="02040503050406030204" pitchFamily="18" charset="0"/>
                            </a:rPr>
                            <m:t>/</m:t>
                          </m:r>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𝑛</m:t>
                              </m:r>
                            </m:e>
                          </m:rad>
                        </m:den>
                      </m:f>
                      <m:f>
                        <m:fPr>
                          <m:ctrlPr>
                            <a:rPr lang="zh-CN" altLang="zh-CN" sz="2800" i="1">
                              <a:solidFill>
                                <a:schemeClr val="tx1"/>
                              </a:solidFill>
                              <a:latin typeface="Cambria Math" panose="02040503050406030204" pitchFamily="18" charset="0"/>
                            </a:rPr>
                          </m:ctrlPr>
                        </m:fPr>
                        <m:num>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−1</m:t>
                              </m:r>
                            </m:e>
                          </m:rad>
                          <m:r>
                            <a:rPr lang="en-US" altLang="zh-CN" sz="2800">
                              <a:solidFill>
                                <a:schemeClr val="tx1"/>
                              </a:solidFill>
                              <a:latin typeface="Cambria Math" panose="02040503050406030204" pitchFamily="18" charset="0"/>
                            </a:rPr>
                            <m:t>𝜎</m:t>
                          </m:r>
                        </m:num>
                        <m:den>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−1</m:t>
                              </m:r>
                            </m:e>
                          </m:rad>
                          <m:r>
                            <a:rPr lang="en-US" altLang="zh-CN" sz="2800">
                              <a:solidFill>
                                <a:schemeClr val="tx1"/>
                              </a:solidFill>
                              <a:latin typeface="Cambria Math" panose="02040503050406030204" pitchFamily="18" charset="0"/>
                            </a:rPr>
                            <m:t>𝑆</m:t>
                          </m:r>
                        </m:den>
                      </m:f>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acc>
                            <m:accPr>
                              <m:chr m:val="̅"/>
                              <m:ctrlPr>
                                <a:rPr lang="zh-CN" altLang="zh-CN" sz="2800" i="1">
                                  <a:solidFill>
                                    <a:schemeClr val="tx1"/>
                                  </a:solidFill>
                                  <a:latin typeface="Cambria Math" panose="02040503050406030204" pitchFamily="18" charset="0"/>
                                </a:rPr>
                              </m:ctrlPr>
                            </m:accPr>
                            <m:e>
                              <m:r>
                                <a:rPr lang="en-US" altLang="zh-CN" sz="2800">
                                  <a:solidFill>
                                    <a:schemeClr val="tx1"/>
                                  </a:solidFill>
                                  <a:latin typeface="Cambria Math" panose="02040503050406030204" pitchFamily="18" charset="0"/>
                                </a:rPr>
                                <m:t>𝑋</m:t>
                              </m:r>
                            </m:e>
                          </m:acc>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𝜇</m:t>
                          </m:r>
                        </m:num>
                        <m:den>
                          <m:r>
                            <a:rPr lang="en-US" altLang="zh-CN" sz="2800">
                              <a:solidFill>
                                <a:schemeClr val="tx1"/>
                              </a:solidFill>
                              <a:latin typeface="Cambria Math" panose="02040503050406030204" pitchFamily="18" charset="0"/>
                            </a:rPr>
                            <m:t>𝑆</m:t>
                          </m:r>
                          <m:r>
                            <a:rPr lang="en-US" altLang="zh-CN" sz="2800">
                              <a:solidFill>
                                <a:schemeClr val="tx1"/>
                              </a:solidFill>
                              <a:latin typeface="Cambria Math" panose="02040503050406030204" pitchFamily="18" charset="0"/>
                            </a:rPr>
                            <m:t>/</m:t>
                          </m:r>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𝑛</m:t>
                              </m:r>
                            </m:e>
                          </m:rad>
                        </m:den>
                      </m:f>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𝑡</m:t>
                      </m:r>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−1)</m:t>
                      </m:r>
                    </m:oMath>
                  </m:oMathPara>
                </a14:m>
                <a:endParaRPr lang="zh-CN" altLang="en-US"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082842" y="675957"/>
                <a:ext cx="8867274" cy="5520306"/>
              </a:xfrm>
              <a:blipFill>
                <a:blip r:embed="rId2"/>
                <a:stretch>
                  <a:fillRect l="-481" t="-110" r="-1032"/>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标题 1">
            <a:extLst>
              <a:ext uri="{FF2B5EF4-FFF2-40B4-BE49-F238E27FC236}">
                <a16:creationId xmlns:a16="http://schemas.microsoft.com/office/drawing/2014/main" id="{CA37EC85-2765-2F9A-8280-F56152C8E5ED}"/>
              </a:ext>
            </a:extLst>
          </p:cNvPr>
          <p:cNvSpPr txBox="1">
            <a:spLocks/>
          </p:cNvSpPr>
          <p:nvPr/>
        </p:nvSpPr>
        <p:spPr>
          <a:xfrm>
            <a:off x="1624263" y="133702"/>
            <a:ext cx="7303168"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kern="0" dirty="0">
                <a:effectLst/>
              </a:rPr>
              <a:t>6.3.4 </a:t>
            </a:r>
            <a:r>
              <a:rPr lang="zh-CN" altLang="en-US" kern="0" dirty="0">
                <a:effectLst/>
              </a:rPr>
              <a:t>抽样分布定理</a:t>
            </a:r>
            <a:r>
              <a:rPr lang="en-US" altLang="zh-CN" kern="0" dirty="0">
                <a:effectLst/>
              </a:rPr>
              <a:t>——</a:t>
            </a:r>
            <a:r>
              <a:rPr lang="zh-CN" altLang="en-US" b="1" kern="0" dirty="0">
                <a:effectLst/>
              </a:rPr>
              <a:t>定理</a:t>
            </a:r>
            <a:r>
              <a:rPr lang="en-US" altLang="zh-CN" b="1" kern="0" dirty="0">
                <a:effectLst/>
              </a:rPr>
              <a:t>6-2</a:t>
            </a:r>
            <a:endParaRPr lang="zh-CN" altLang="en-US" b="1" dirty="0">
              <a:effectLst/>
            </a:endParaRPr>
          </a:p>
        </p:txBody>
      </p:sp>
      <p:sp>
        <p:nvSpPr>
          <p:cNvPr id="6" name="TextBox 10"/>
          <p:cNvSpPr txBox="1">
            <a:spLocks noChangeArrowheads="1"/>
          </p:cNvSpPr>
          <p:nvPr/>
        </p:nvSpPr>
        <p:spPr bwMode="auto">
          <a:xfrm>
            <a:off x="10142621" y="5883915"/>
            <a:ext cx="1264520" cy="369888"/>
          </a:xfrm>
          <a:prstGeom prst="rect">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90000"/>
              <a:buBlip>
                <a:blip r:embed="rId3"/>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4"/>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5"/>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6"/>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7"/>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9pPr>
          </a:lstStyle>
          <a:p>
            <a:pPr algn="ctr" fontAlgn="base">
              <a:spcBef>
                <a:spcPct val="0"/>
              </a:spcBef>
              <a:spcAft>
                <a:spcPct val="0"/>
              </a:spcAft>
              <a:buSzTx/>
              <a:buFontTx/>
              <a:buNone/>
            </a:pPr>
            <a:r>
              <a:rPr lang="zh-CN" altLang="en-US" sz="1800" b="0" dirty="0">
                <a:solidFill>
                  <a:srgbClr val="C00000"/>
                </a:solidFill>
                <a:latin typeface="Arial" panose="020B0604020202020204" pitchFamily="34" charset="0"/>
              </a:rPr>
              <a:t>适用场合</a:t>
            </a:r>
          </a:p>
        </p:txBody>
      </p:sp>
    </p:spTree>
    <p:extLst>
      <p:ext uri="{BB962C8B-B14F-4D97-AF65-F5344CB8AC3E}">
        <p14:creationId xmlns:p14="http://schemas.microsoft.com/office/powerpoint/2010/main" val="8519055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487632" y="891927"/>
                <a:ext cx="8065442" cy="4149305"/>
              </a:xfrm>
            </p:spPr>
            <p:txBody>
              <a:bodyPr>
                <a:noAutofit/>
              </a:bodyPr>
              <a:lstStyle/>
              <a:p>
                <a:pPr marL="0" indent="720000">
                  <a:lnSpc>
                    <a:spcPct val="150000"/>
                  </a:lnSpc>
                  <a:spcBef>
                    <a:spcPts val="0"/>
                  </a:spcBef>
                  <a:spcAft>
                    <a:spcPts val="0"/>
                  </a:spcAft>
                  <a:buNone/>
                </a:pPr>
                <a:r>
                  <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设总体</a:t>
                </a:r>
                <a14:m>
                  <m:oMath xmlns:m="http://schemas.openxmlformats.org/officeDocument/2006/math">
                    <m:r>
                      <a:rPr lang="en-US" altLang="zh-CN" b="0" i="1" smtClean="0">
                        <a:solidFill>
                          <a:schemeClr val="tx1"/>
                        </a:solidFill>
                        <a:latin typeface="Cambria Math" panose="02040503050406030204" pitchFamily="18" charset="0"/>
                      </a:rPr>
                      <m:t>𝑋</m:t>
                    </m:r>
                  </m:oMath>
                </a14:m>
                <a:r>
                  <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服从正态分布</a:t>
                </a:r>
                <a14:m>
                  <m:oMath xmlns:m="http://schemas.openxmlformats.org/officeDocument/2006/math">
                    <m:r>
                      <a:rPr lang="en-US" altLang="zh-CN" i="1">
                        <a:solidFill>
                          <a:schemeClr val="tx1"/>
                        </a:solidFill>
                        <a:latin typeface="Cambria Math" panose="02040503050406030204" pitchFamily="18" charset="0"/>
                      </a:rPr>
                      <m:t>𝑁</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𝜇</m:t>
                    </m:r>
                    <m:r>
                      <a:rPr lang="en-US" altLang="zh-CN" i="1">
                        <a:solidFill>
                          <a:schemeClr val="tx1"/>
                        </a:solidFill>
                        <a:latin typeface="Cambria Math" panose="02040503050406030204" pitchFamily="18" charset="0"/>
                      </a:rPr>
                      <m:t>,</m:t>
                    </m:r>
                    <m:sSup>
                      <m:sSupPr>
                        <m:ctrlPr>
                          <a:rPr lang="zh-CN"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𝜎</m:t>
                        </m:r>
                      </m:e>
                      <m:sup>
                        <m:r>
                          <a:rPr lang="en-US" altLang="zh-CN" i="1">
                            <a:solidFill>
                              <a:schemeClr val="tx1"/>
                            </a:solidFill>
                            <a:latin typeface="Cambria Math" panose="02040503050406030204" pitchFamily="18" charset="0"/>
                          </a:rPr>
                          <m:t>2</m:t>
                        </m:r>
                      </m:sup>
                    </m:sSup>
                    <m:r>
                      <a:rPr lang="en-US" altLang="zh-CN" i="1">
                        <a:solidFill>
                          <a:schemeClr val="tx1"/>
                        </a:solidFill>
                        <a:latin typeface="Cambria Math" panose="02040503050406030204" pitchFamily="18" charset="0"/>
                      </a:rPr>
                      <m:t>)</m:t>
                    </m:r>
                  </m:oMath>
                </a14:m>
                <a:r>
                  <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𝑋</m:t>
                        </m:r>
                      </m:e>
                      <m:sub>
                        <m:r>
                          <a:rPr lang="en-US" altLang="zh-CN" b="0" i="1" dirty="0" smtClean="0">
                            <a:solidFill>
                              <a:schemeClr val="tx1"/>
                            </a:solidFill>
                            <a:latin typeface="Cambria Math" panose="02040503050406030204" pitchFamily="18" charset="0"/>
                          </a:rPr>
                          <m:t>1</m:t>
                        </m:r>
                      </m:sub>
                    </m:sSub>
                    <m:r>
                      <a:rPr lang="en-US" altLang="zh-CN" b="0" i="1" dirty="0" smtClean="0">
                        <a:solidFill>
                          <a:schemeClr val="tx1"/>
                        </a:solidFill>
                        <a:latin typeface="Cambria Math" panose="02040503050406030204" pitchFamily="18" charset="0"/>
                      </a:rPr>
                      <m:t>,</m:t>
                    </m:r>
                    <m:r>
                      <m:rPr>
                        <m:nor/>
                      </m:rP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m:t>….</m:t>
                    </m:r>
                    <m:r>
                      <m:rPr>
                        <m:nor/>
                      </m:rPr>
                      <a:rPr lang="en-US" altLang="zh-CN" b="0" i="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𝑋</m:t>
                        </m:r>
                      </m:e>
                      <m:sub>
                        <m:r>
                          <m:rPr>
                            <m:sty m:val="p"/>
                          </m:rPr>
                          <a:rPr lang="en-US" altLang="zh-CN" i="1" dirty="0" smtClean="0">
                            <a:solidFill>
                              <a:schemeClr val="tx1"/>
                            </a:solidFill>
                            <a:latin typeface="Cambria Math" panose="02040503050406030204" pitchFamily="18" charset="0"/>
                          </a:rPr>
                          <m:t>n</m:t>
                        </m:r>
                      </m:sub>
                    </m:sSub>
                  </m:oMath>
                </a14:m>
                <a: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𝑋</m:t>
                        </m:r>
                      </m:e>
                      <m:sub>
                        <m:r>
                          <m:rPr>
                            <m:sty m:val="p"/>
                          </m:rPr>
                          <a:rPr lang="en-US" altLang="zh-CN" i="1" dirty="0" smtClean="0">
                            <a:solidFill>
                              <a:schemeClr val="tx1"/>
                            </a:solidFill>
                            <a:latin typeface="Cambria Math" panose="02040503050406030204" pitchFamily="18" charset="0"/>
                          </a:rPr>
                          <m:t>n</m:t>
                        </m:r>
                        <m:r>
                          <a:rPr lang="zh-CN" altLang="en-US" i="1" dirty="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1</m:t>
                        </m:r>
                      </m:sub>
                    </m:sSub>
                  </m:oMath>
                </a14:m>
                <a:r>
                  <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是来自总体的一个样本，  记为 </a:t>
                </a:r>
                <a14:m>
                  <m:oMath xmlns:m="http://schemas.openxmlformats.org/officeDocument/2006/math">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𝑋</m:t>
                        </m:r>
                      </m:e>
                    </m:acc>
                    <m:r>
                      <a:rPr lang="en-US" altLang="zh-CN"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1</m:t>
                        </m:r>
                      </m:num>
                      <m:den>
                        <m:r>
                          <m:rPr>
                            <m:sty m:val="p"/>
                          </m:rPr>
                          <a:rPr lang="en-US" altLang="zh-CN" i="1">
                            <a:solidFill>
                              <a:schemeClr val="tx1"/>
                            </a:solidFill>
                            <a:latin typeface="Cambria Math" panose="02040503050406030204" pitchFamily="18" charset="0"/>
                          </a:rPr>
                          <m:t>n</m:t>
                        </m:r>
                      </m:den>
                    </m:f>
                    <m:nary>
                      <m:naryPr>
                        <m:chr m:val="∑"/>
                        <m:ctrlPr>
                          <a:rPr lang="en-US" altLang="zh-CN" i="1" smtClean="0">
                            <a:solidFill>
                              <a:schemeClr val="tx1"/>
                            </a:solidFill>
                            <a:latin typeface="Cambria Math" panose="02040503050406030204" pitchFamily="18" charset="0"/>
                          </a:rPr>
                        </m:ctrlPr>
                      </m:naryPr>
                      <m:sub>
                        <m:r>
                          <m:rPr>
                            <m:sty m:val="p"/>
                            <m:brk m:alnAt="23"/>
                          </m:rPr>
                          <a:rPr lang="en-US" altLang="zh-CN" i="1">
                            <a:solidFill>
                              <a:schemeClr val="tx1"/>
                            </a:solidFill>
                            <a:latin typeface="Cambria Math" panose="02040503050406030204" pitchFamily="18" charset="0"/>
                          </a:rPr>
                          <m:t>i</m:t>
                        </m:r>
                        <m:r>
                          <a:rPr lang="en-US" altLang="zh-CN"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1</m:t>
                        </m:r>
                      </m:sub>
                      <m:sup>
                        <m:r>
                          <m:rPr>
                            <m:sty m:val="p"/>
                          </m:rPr>
                          <a:rPr lang="en-US" altLang="zh-CN" i="1">
                            <a:solidFill>
                              <a:schemeClr val="tx1"/>
                            </a:solidFill>
                            <a:latin typeface="Cambria Math" panose="02040503050406030204" pitchFamily="18" charset="0"/>
                          </a:rPr>
                          <m:t>n</m:t>
                        </m:r>
                      </m:sup>
                      <m:e>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𝑋</m:t>
                            </m:r>
                          </m:e>
                          <m:sub>
                            <m:r>
                              <m:rPr>
                                <m:sty m:val="p"/>
                              </m:rPr>
                              <a:rPr lang="en-US" altLang="zh-CN" i="1">
                                <a:solidFill>
                                  <a:schemeClr val="tx1"/>
                                </a:solidFill>
                                <a:latin typeface="Cambria Math" panose="02040503050406030204" pitchFamily="18" charset="0"/>
                              </a:rPr>
                              <m:t>i</m:t>
                            </m:r>
                          </m:sub>
                        </m:sSub>
                      </m:e>
                    </m:nary>
                  </m:oMath>
                </a14:m>
                <a:r>
                  <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和 </a:t>
                </a:r>
                <a14:m>
                  <m:oMath xmlns:m="http://schemas.openxmlformats.org/officeDocument/2006/math">
                    <m:sSup>
                      <m:sSupPr>
                        <m:ctrlPr>
                          <a:rPr lang="en-US" altLang="zh-CN" i="1">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𝑆</m:t>
                        </m:r>
                      </m:e>
                      <m:sup>
                        <m:r>
                          <a:rPr lang="en-US" altLang="zh-CN" i="1">
                            <a:solidFill>
                              <a:schemeClr val="tx1"/>
                            </a:solidFill>
                            <a:latin typeface="Cambria Math" panose="02040503050406030204" pitchFamily="18" charset="0"/>
                          </a:rPr>
                          <m:t>2</m:t>
                        </m:r>
                      </m:sup>
                    </m:sSup>
                    <m:r>
                      <a:rPr lang="en-US" altLang="zh-CN" b="0" i="1" smtClean="0">
                        <a:solidFill>
                          <a:schemeClr val="tx1"/>
                        </a:solidFill>
                        <a:latin typeface="Cambria Math" panose="02040503050406030204" pitchFamily="18" charset="0"/>
                      </a:rPr>
                      <m:t>=</m:t>
                    </m:r>
                    <m:f>
                      <m:fPr>
                        <m:ctrlPr>
                          <a:rPr lang="en-US" altLang="zh-CN" b="0" i="1" smtClean="0">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1</m:t>
                        </m:r>
                      </m:num>
                      <m:den>
                        <m:r>
                          <m:rPr>
                            <m:sty m:val="p"/>
                          </m:rPr>
                          <a:rPr lang="en-US" altLang="zh-CN" i="1">
                            <a:solidFill>
                              <a:schemeClr val="tx1"/>
                            </a:solidFill>
                            <a:latin typeface="Cambria Math" panose="02040503050406030204" pitchFamily="18" charset="0"/>
                          </a:rPr>
                          <m:t>n</m:t>
                        </m:r>
                        <m:r>
                          <a:rPr lang="en-US" altLang="zh-CN"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1</m:t>
                        </m:r>
                      </m:den>
                    </m:f>
                    <m:nary>
                      <m:naryPr>
                        <m:chr m:val="∑"/>
                        <m:ctrlPr>
                          <a:rPr lang="en-US" altLang="zh-CN" i="1">
                            <a:solidFill>
                              <a:schemeClr val="tx1"/>
                            </a:solidFill>
                            <a:latin typeface="Cambria Math" panose="02040503050406030204" pitchFamily="18" charset="0"/>
                          </a:rPr>
                        </m:ctrlPr>
                      </m:naryPr>
                      <m:sub>
                        <m:r>
                          <m:rPr>
                            <m:sty m:val="p"/>
                            <m:brk m:alnAt="23"/>
                          </m:rPr>
                          <a:rPr lang="en-US" altLang="zh-CN" i="1">
                            <a:solidFill>
                              <a:schemeClr val="tx1"/>
                            </a:solidFill>
                            <a:latin typeface="Cambria Math" panose="02040503050406030204" pitchFamily="18" charset="0"/>
                          </a:rPr>
                          <m:t>i</m:t>
                        </m:r>
                        <m:r>
                          <a:rPr lang="en-US" altLang="zh-CN" i="1">
                            <a:solidFill>
                              <a:schemeClr val="tx1"/>
                            </a:solidFill>
                            <a:latin typeface="Cambria Math" panose="02040503050406030204" pitchFamily="18" charset="0"/>
                          </a:rPr>
                          <m:t>=1</m:t>
                        </m:r>
                      </m:sub>
                      <m:sup>
                        <m:r>
                          <m:rPr>
                            <m:sty m:val="p"/>
                          </m:rPr>
                          <a:rPr lang="en-US" altLang="zh-CN" i="1">
                            <a:solidFill>
                              <a:schemeClr val="tx1"/>
                            </a:solidFill>
                            <a:latin typeface="Cambria Math" panose="02040503050406030204" pitchFamily="18" charset="0"/>
                          </a:rPr>
                          <m:t>n</m:t>
                        </m:r>
                      </m:sup>
                      <m:e>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𝑋</m:t>
                                </m:r>
                              </m:e>
                              <m:sub>
                                <m:r>
                                  <m:rPr>
                                    <m:sty m:val="p"/>
                                  </m:rPr>
                                  <a:rPr lang="en-US" altLang="zh-CN" i="1">
                                    <a:solidFill>
                                      <a:schemeClr val="tx1"/>
                                    </a:solidFill>
                                    <a:latin typeface="Cambria Math" panose="02040503050406030204" pitchFamily="18" charset="0"/>
                                  </a:rPr>
                                  <m:t>j</m:t>
                                </m:r>
                              </m:sub>
                            </m:sSub>
                            <m:r>
                              <a:rPr lang="en-US" altLang="zh-CN" i="1">
                                <a:solidFill>
                                  <a:schemeClr val="tx1"/>
                                </a:solidFill>
                                <a:latin typeface="Cambria Math" panose="02040503050406030204" pitchFamily="18" charset="0"/>
                              </a:rPr>
                              <m:t>−</m:t>
                            </m:r>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𝑋</m:t>
                                </m:r>
                              </m:e>
                            </m:acc>
                            <m:r>
                              <a:rPr lang="en-US" altLang="zh-CN" b="0" i="1" smtClean="0">
                                <a:solidFill>
                                  <a:schemeClr val="tx1"/>
                                </a:solidFill>
                                <a:latin typeface="Cambria Math" panose="02040503050406030204" pitchFamily="18" charset="0"/>
                              </a:rPr>
                              <m:t>)</m:t>
                            </m:r>
                          </m:e>
                          <m:sup>
                            <m:r>
                              <a:rPr lang="en-US" altLang="zh-CN" b="0" i="1" smtClean="0">
                                <a:solidFill>
                                  <a:schemeClr val="tx1"/>
                                </a:solidFill>
                                <a:latin typeface="Cambria Math" panose="02040503050406030204" pitchFamily="18" charset="0"/>
                              </a:rPr>
                              <m:t>2</m:t>
                            </m:r>
                          </m:sup>
                        </m:sSup>
                      </m:e>
                    </m:nary>
                  </m:oMath>
                </a14:m>
                <a:r>
                  <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，试求  </a:t>
                </a:r>
                <a14:m>
                  <m:oMath xmlns:m="http://schemas.openxmlformats.org/officeDocument/2006/math">
                    <m:rad>
                      <m:radPr>
                        <m:degHide m:val="on"/>
                        <m:ctrlPr>
                          <a:rPr lang="zh-CN" altLang="en-US" i="1" smtClean="0">
                            <a:solidFill>
                              <a:schemeClr val="tx1"/>
                            </a:solidFill>
                            <a:latin typeface="Cambria Math" panose="02040503050406030204" pitchFamily="18" charset="0"/>
                          </a:rPr>
                        </m:ctrlPr>
                      </m:radPr>
                      <m:deg/>
                      <m:e>
                        <m:f>
                          <m:fPr>
                            <m:ctrlPr>
                              <a:rPr lang="en-US" altLang="zh-CN" i="1" smtClean="0">
                                <a:solidFill>
                                  <a:schemeClr val="tx1"/>
                                </a:solidFill>
                                <a:latin typeface="Cambria Math" panose="02040503050406030204" pitchFamily="18" charset="0"/>
                              </a:rPr>
                            </m:ctrlPr>
                          </m:fPr>
                          <m:num>
                            <m:r>
                              <m:rPr>
                                <m:sty m:val="p"/>
                              </m:rPr>
                              <a:rPr lang="en-US" altLang="zh-CN" i="1">
                                <a:solidFill>
                                  <a:schemeClr val="tx1"/>
                                </a:solidFill>
                                <a:latin typeface="Cambria Math" panose="02040503050406030204" pitchFamily="18" charset="0"/>
                              </a:rPr>
                              <m:t>n</m:t>
                            </m:r>
                          </m:num>
                          <m:den>
                            <m:r>
                              <m:rPr>
                                <m:sty m:val="p"/>
                              </m:rPr>
                              <a:rPr lang="en-US" altLang="zh-CN" i="1">
                                <a:solidFill>
                                  <a:schemeClr val="tx1"/>
                                </a:solidFill>
                                <a:latin typeface="Cambria Math" panose="02040503050406030204" pitchFamily="18" charset="0"/>
                              </a:rPr>
                              <m:t>n</m:t>
                            </m:r>
                            <m:r>
                              <a:rPr lang="en-US" altLang="zh-CN"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1</m:t>
                            </m:r>
                          </m:den>
                        </m:f>
                      </m:e>
                    </m:rad>
                    <m:f>
                      <m:fPr>
                        <m:ctrlPr>
                          <a:rPr lang="en-US" altLang="zh-CN" i="1" smtClean="0">
                            <a:solidFill>
                              <a:schemeClr val="tx1"/>
                            </a:solidFill>
                            <a:latin typeface="Cambria Math" panose="02040503050406030204" pitchFamily="18" charset="0"/>
                          </a:rPr>
                        </m:ctrlPr>
                      </m:fPr>
                      <m:num>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𝑋</m:t>
                            </m:r>
                          </m:e>
                          <m:sub>
                            <m:r>
                              <m:rPr>
                                <m:sty m:val="p"/>
                              </m:rPr>
                              <a:rPr lang="en-US" altLang="zh-CN" i="1">
                                <a:solidFill>
                                  <a:schemeClr val="tx1"/>
                                </a:solidFill>
                                <a:latin typeface="Cambria Math" panose="02040503050406030204" pitchFamily="18" charset="0"/>
                              </a:rPr>
                              <m:t>n</m:t>
                            </m:r>
                            <m:r>
                              <a:rPr lang="en-US" altLang="zh-CN"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bar>
                              <m:barPr>
                                <m:pos m:val="top"/>
                                <m:ctrlPr>
                                  <a:rPr lang="en-US" altLang="zh-CN" b="0" i="1" smtClean="0">
                                    <a:solidFill>
                                      <a:schemeClr val="tx1"/>
                                    </a:solidFill>
                                    <a:latin typeface="Cambria Math" panose="02040503050406030204" pitchFamily="18" charset="0"/>
                                  </a:rPr>
                                </m:ctrlPr>
                              </m:barPr>
                              <m:e>
                                <m:r>
                                  <a:rPr lang="en-US" altLang="zh-CN" b="0" i="1" smtClean="0">
                                    <a:solidFill>
                                      <a:schemeClr val="tx1"/>
                                    </a:solidFill>
                                    <a:latin typeface="Cambria Math" panose="02040503050406030204" pitchFamily="18" charset="0"/>
                                  </a:rPr>
                                  <m:t>𝑋</m:t>
                                </m:r>
                              </m:e>
                            </m:bar>
                          </m:e>
                          <m:sub>
                            <m:r>
                              <m:rPr>
                                <m:sty m:val="p"/>
                              </m:rPr>
                              <a:rPr lang="en-US" altLang="zh-CN" i="1">
                                <a:solidFill>
                                  <a:schemeClr val="tx1"/>
                                </a:solidFill>
                                <a:latin typeface="Cambria Math" panose="02040503050406030204" pitchFamily="18" charset="0"/>
                              </a:rPr>
                              <m:t>n</m:t>
                            </m:r>
                          </m:sub>
                        </m:sSub>
                      </m:num>
                      <m:den>
                        <m:r>
                          <a:rPr lang="en-US" altLang="zh-CN" b="0" i="1" smtClean="0">
                            <a:solidFill>
                              <a:schemeClr val="tx1"/>
                            </a:solidFill>
                            <a:latin typeface="Cambria Math" panose="02040503050406030204" pitchFamily="18" charset="0"/>
                          </a:rPr>
                          <m:t>𝑆</m:t>
                        </m:r>
                      </m:den>
                    </m:f>
                  </m:oMath>
                </a14:m>
                <a:r>
                  <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的分布。</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487632" y="891927"/>
                <a:ext cx="8065442" cy="4149305"/>
              </a:xfrm>
              <a:blipFill>
                <a:blip r:embed="rId2"/>
                <a:stretch>
                  <a:fillRect l="-1890" r="-7029"/>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标题 1">
            <a:extLst>
              <a:ext uri="{FF2B5EF4-FFF2-40B4-BE49-F238E27FC236}">
                <a16:creationId xmlns:a16="http://schemas.microsoft.com/office/drawing/2014/main" id="{6D4C53BD-C2D9-484F-E0EA-236303429116}"/>
              </a:ext>
            </a:extLst>
          </p:cNvPr>
          <p:cNvSpPr txBox="1">
            <a:spLocks/>
          </p:cNvSpPr>
          <p:nvPr/>
        </p:nvSpPr>
        <p:spPr>
          <a:xfrm>
            <a:off x="1816769" y="143491"/>
            <a:ext cx="7445744"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effectLst/>
                <a:latin typeface="+mj-ea"/>
              </a:rPr>
              <a:t>【</a:t>
            </a:r>
            <a:r>
              <a:rPr lang="zh-CN" altLang="en-US" b="1" kern="0" dirty="0">
                <a:effectLst/>
                <a:latin typeface="+mj-ea"/>
              </a:rPr>
              <a:t>例</a:t>
            </a:r>
            <a:r>
              <a:rPr lang="en-US" altLang="zh-CN" b="1" kern="0" dirty="0">
                <a:effectLst/>
                <a:latin typeface="+mj-ea"/>
              </a:rPr>
              <a:t>6-9】</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431759" y="806273"/>
                <a:ext cx="8951494" cy="5333761"/>
              </a:xfrm>
            </p:spPr>
            <p:txBody>
              <a:bodyPr>
                <a:noAutofit/>
              </a:bodyPr>
              <a:lstStyle/>
              <a:p>
                <a:pPr marL="0" indent="720000">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由于</a:t>
                </a:r>
                <a14:m>
                  <m:oMath xmlns:m="http://schemas.openxmlformats.org/officeDocument/2006/math">
                    <m:sSub>
                      <m:sSubPr>
                        <m:ctrlPr>
                          <a:rPr lang="en-US" altLang="zh-CN" sz="280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𝑋</m:t>
                        </m:r>
                      </m:e>
                      <m:sub>
                        <m:r>
                          <a:rPr lang="en-US" altLang="zh-CN" sz="2800" b="0" i="1" dirty="0" smtClean="0">
                            <a:solidFill>
                              <a:schemeClr val="tx1"/>
                            </a:solidFill>
                            <a:latin typeface="Cambria Math" panose="02040503050406030204" pitchFamily="18" charset="0"/>
                          </a:rPr>
                          <m:t>1</m:t>
                        </m:r>
                      </m:sub>
                    </m:sSub>
                    <m:r>
                      <a:rPr lang="en-US" altLang="zh-CN" sz="2800" b="0" i="1" dirty="0" smtClean="0">
                        <a:solidFill>
                          <a:schemeClr val="tx1"/>
                        </a:solidFill>
                        <a:latin typeface="Cambria Math" panose="02040503050406030204" pitchFamily="18" charset="0"/>
                      </a:rPr>
                      <m:t>,</m:t>
                    </m:r>
                    <m:r>
                      <m:rPr>
                        <m:nor/>
                      </m:rPr>
                      <a:rPr lang="en-US" altLang="zh-CN" sz="2800" dirty="0">
                        <a:solidFill>
                          <a:schemeClr val="tx1"/>
                        </a:solidFill>
                        <a:latin typeface="宋体" panose="02010600030101010101" pitchFamily="2" charset="-122"/>
                        <a:ea typeface="宋体" panose="02010600030101010101" pitchFamily="2" charset="-122"/>
                      </a:rPr>
                      <m:t>…</m:t>
                    </m:r>
                    <m:r>
                      <m:rPr>
                        <m:nor/>
                      </m:rPr>
                      <a:rPr lang="en-US" altLang="zh-CN" sz="2800" b="0" i="0" dirty="0" smtClean="0">
                        <a:solidFill>
                          <a:schemeClr val="tx1"/>
                        </a:solidFill>
                        <a:latin typeface="宋体" panose="02010600030101010101" pitchFamily="2" charset="-122"/>
                        <a:ea typeface="宋体" panose="02010600030101010101" pitchFamily="2" charset="-122"/>
                      </a:rPr>
                      <m:t>,</m:t>
                    </m:r>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𝑋</m:t>
                        </m:r>
                      </m:e>
                      <m:sub>
                        <m:r>
                          <m:rPr>
                            <m:sty m:val="p"/>
                          </m:rPr>
                          <a:rPr lang="en-US" altLang="zh-CN" sz="2800" i="1" dirty="0" smtClean="0">
                            <a:solidFill>
                              <a:schemeClr val="tx1"/>
                            </a:solidFill>
                            <a:latin typeface="Cambria Math" panose="02040503050406030204" pitchFamily="18" charset="0"/>
                          </a:rPr>
                          <m:t>n</m:t>
                        </m:r>
                      </m:sub>
                    </m:sSub>
                  </m:oMath>
                </a14:m>
                <a:r>
                  <a:rPr lang="en-US" altLang="zh-CN" sz="2800" dirty="0">
                    <a:solidFill>
                      <a:schemeClr val="tx1"/>
                    </a:solidFill>
                    <a:latin typeface="宋体" panose="02010600030101010101" pitchFamily="2" charset="-122"/>
                    <a:ea typeface="宋体" panose="02010600030101010101" pitchFamily="2" charset="-122"/>
                  </a:rPr>
                  <a:t>, </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𝑋</m:t>
                        </m:r>
                      </m:e>
                      <m:sub>
                        <m:r>
                          <m:rPr>
                            <m:sty m:val="p"/>
                          </m:rPr>
                          <a:rPr lang="en-US" altLang="zh-CN" sz="2800" i="1" dirty="0" smtClean="0">
                            <a:solidFill>
                              <a:schemeClr val="tx1"/>
                            </a:solidFill>
                            <a:latin typeface="Cambria Math" panose="02040503050406030204" pitchFamily="18" charset="0"/>
                          </a:rPr>
                          <m:t>n</m:t>
                        </m:r>
                        <m:r>
                          <a:rPr lang="en-US" altLang="zh-CN" sz="2800" b="0" i="1" dirty="0" smtClean="0">
                            <a:solidFill>
                              <a:schemeClr val="tx1"/>
                            </a:solidFill>
                            <a:latin typeface="Cambria Math" panose="02040503050406030204" pitchFamily="18" charset="0"/>
                          </a:rPr>
                          <m:t>+1</m:t>
                        </m:r>
                      </m:sub>
                    </m:sSub>
                  </m:oMath>
                </a14:m>
                <a:r>
                  <a:rPr lang="zh-CN" altLang="en-US" sz="2800" dirty="0">
                    <a:solidFill>
                      <a:schemeClr val="tx1"/>
                    </a:solidFill>
                    <a:latin typeface="宋体" panose="02010600030101010101" pitchFamily="2" charset="-122"/>
                    <a:ea typeface="宋体" panose="02010600030101010101" pitchFamily="2" charset="-122"/>
                  </a:rPr>
                  <a:t>来自总体</a:t>
                </a:r>
                <a14:m>
                  <m:oMath xmlns:m="http://schemas.openxmlformats.org/officeDocument/2006/math">
                    <m:r>
                      <a:rPr lang="en-US" altLang="zh-CN" sz="2800" i="1">
                        <a:solidFill>
                          <a:schemeClr val="tx1"/>
                        </a:solidFill>
                        <a:latin typeface="Cambria Math" panose="02040503050406030204" pitchFamily="18" charset="0"/>
                      </a:rPr>
                      <m:t>𝑁</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𝜇</m:t>
                    </m:r>
                    <m:r>
                      <a:rPr lang="en-US" altLang="zh-CN" sz="2800" i="1">
                        <a:solidFill>
                          <a:schemeClr val="tx1"/>
                        </a:solidFill>
                        <a:latin typeface="Cambria Math" panose="02040503050406030204" pitchFamily="18" charset="0"/>
                      </a:rPr>
                      <m:t>,</m:t>
                    </m:r>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𝜎</m:t>
                        </m:r>
                      </m:e>
                      <m:sup>
                        <m:r>
                          <a:rPr lang="en-US" altLang="zh-CN" sz="2800" i="1">
                            <a:solidFill>
                              <a:schemeClr val="tx1"/>
                            </a:solidFill>
                            <a:latin typeface="Cambria Math" panose="02040503050406030204" pitchFamily="18" charset="0"/>
                          </a:rPr>
                          <m:t>2</m:t>
                        </m:r>
                      </m:sup>
                    </m:sSup>
                    <m:r>
                      <a:rPr lang="en-US" altLang="zh-CN" sz="2800" i="1">
                        <a:solidFill>
                          <a:schemeClr val="tx1"/>
                        </a:solidFill>
                        <a:latin typeface="Cambria Math" panose="02040503050406030204" pitchFamily="18" charset="0"/>
                      </a:rPr>
                      <m:t>)</m:t>
                    </m:r>
                  </m:oMath>
                </a14:m>
                <a:r>
                  <a:rPr lang="zh-CN" altLang="en-US" sz="2800" dirty="0">
                    <a:solidFill>
                      <a:schemeClr val="tx1"/>
                    </a:solidFill>
                    <a:latin typeface="宋体" panose="02010600030101010101" pitchFamily="2" charset="-122"/>
                    <a:ea typeface="宋体" panose="02010600030101010101" pitchFamily="2" charset="-122"/>
                  </a:rPr>
                  <a:t>的简单随机样本，则分别有</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𝑋</m:t>
                        </m:r>
                      </m:e>
                      <m:sub>
                        <m:r>
                          <m:rPr>
                            <m:sty m:val="p"/>
                          </m:rPr>
                          <a:rPr lang="en-US" altLang="zh-CN" sz="2800" i="1" dirty="0">
                            <a:solidFill>
                              <a:schemeClr val="tx1"/>
                            </a:solidFill>
                            <a:latin typeface="Cambria Math" panose="02040503050406030204" pitchFamily="18" charset="0"/>
                          </a:rPr>
                          <m:t>n</m:t>
                        </m:r>
                        <m:r>
                          <a:rPr lang="zh-CN" altLang="en-US"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1</m:t>
                        </m:r>
                      </m:sub>
                    </m:sSub>
                    <m:r>
                      <a:rPr lang="en-US" altLang="zh-CN" sz="280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𝑁</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𝜇</m:t>
                    </m:r>
                    <m:r>
                      <a:rPr lang="en-US" altLang="zh-CN" sz="2800" i="1">
                        <a:solidFill>
                          <a:schemeClr val="tx1"/>
                        </a:solidFill>
                        <a:latin typeface="Cambria Math" panose="02040503050406030204" pitchFamily="18" charset="0"/>
                      </a:rPr>
                      <m:t>,</m:t>
                    </m:r>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𝜎</m:t>
                        </m:r>
                      </m:e>
                      <m:sup>
                        <m:r>
                          <a:rPr lang="en-US" altLang="zh-CN" sz="2800" i="1">
                            <a:solidFill>
                              <a:schemeClr val="tx1"/>
                            </a:solidFill>
                            <a:latin typeface="Cambria Math" panose="02040503050406030204" pitchFamily="18" charset="0"/>
                          </a:rPr>
                          <m:t>2</m:t>
                        </m:r>
                      </m:sup>
                    </m:sSup>
                    <m:r>
                      <a:rPr lang="en-US" altLang="zh-CN" sz="2800" i="1">
                        <a:solidFill>
                          <a:schemeClr val="tx1"/>
                        </a:solidFill>
                        <a:latin typeface="Cambria Math" panose="02040503050406030204" pitchFamily="18" charset="0"/>
                      </a:rPr>
                      <m:t>)</m:t>
                    </m:r>
                  </m:oMath>
                </a14:m>
                <a:r>
                  <a:rPr lang="zh-CN" altLang="en-US" sz="2800" dirty="0">
                    <a:solidFill>
                      <a:schemeClr val="tx1"/>
                    </a:solidFill>
                    <a:latin typeface="宋体" panose="02010600030101010101" pitchFamily="2" charset="-122"/>
                    <a:ea typeface="宋体" panose="02010600030101010101" pitchFamily="2" charset="-122"/>
                  </a:rPr>
                  <a:t>和</a:t>
                </a:r>
                <a14:m>
                  <m:oMath xmlns:m="http://schemas.openxmlformats.org/officeDocument/2006/math">
                    <m:acc>
                      <m:accPr>
                        <m:chr m:val="̅"/>
                        <m:ctrlPr>
                          <a:rPr lang="en-US" altLang="zh-CN" sz="2800" i="1">
                            <a:solidFill>
                              <a:schemeClr val="tx1"/>
                            </a:solidFill>
                            <a:latin typeface="Cambria Math" panose="02040503050406030204" pitchFamily="18" charset="0"/>
                          </a:rPr>
                        </m:ctrlPr>
                      </m:accPr>
                      <m:e>
                        <m:sSub>
                          <m:sSubPr>
                            <m:ctrlPr>
                              <a:rPr lang="en-US" altLang="zh-CN" sz="280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𝑋</m:t>
                            </m:r>
                          </m:e>
                          <m:sub>
                            <m:r>
                              <m:rPr>
                                <m:sty m:val="p"/>
                              </m:rPr>
                              <a:rPr lang="en-US" altLang="zh-CN" sz="2800" i="1">
                                <a:solidFill>
                                  <a:schemeClr val="tx1"/>
                                </a:solidFill>
                                <a:latin typeface="Cambria Math" panose="02040503050406030204" pitchFamily="18" charset="0"/>
                              </a:rPr>
                              <m:t>n</m:t>
                            </m:r>
                          </m:sub>
                        </m:sSub>
                      </m:e>
                    </m:acc>
                    <m:r>
                      <a:rPr lang="en-US" altLang="zh-CN" sz="2800" i="1">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𝑁</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𝜇</m:t>
                    </m:r>
                    <m:r>
                      <a:rPr lang="en-US" altLang="zh-CN" sz="2800" i="1">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𝜎</m:t>
                            </m:r>
                          </m:e>
                          <m:sup>
                            <m:r>
                              <a:rPr lang="en-US" altLang="zh-CN" sz="2800" i="1">
                                <a:solidFill>
                                  <a:schemeClr val="tx1"/>
                                </a:solidFill>
                                <a:latin typeface="Cambria Math" panose="02040503050406030204" pitchFamily="18" charset="0"/>
                              </a:rPr>
                              <m:t>2</m:t>
                            </m:r>
                          </m:sup>
                        </m:sSup>
                      </m:num>
                      <m:den>
                        <m:r>
                          <a:rPr lang="en-US" altLang="zh-CN" sz="2800" i="1">
                            <a:solidFill>
                              <a:schemeClr val="tx1"/>
                            </a:solidFill>
                            <a:latin typeface="Cambria Math" panose="02040503050406030204" pitchFamily="18" charset="0"/>
                          </a:rPr>
                          <m:t>𝑛</m:t>
                        </m:r>
                      </m:den>
                    </m:f>
                    <m:r>
                      <a:rPr lang="en-US" altLang="zh-CN" sz="2800" i="1">
                        <a:solidFill>
                          <a:schemeClr val="tx1"/>
                        </a:solidFill>
                        <a:latin typeface="Cambria Math" panose="02040503050406030204" pitchFamily="18" charset="0"/>
                      </a:rPr>
                      <m:t>)</m:t>
                    </m:r>
                  </m:oMath>
                </a14:m>
                <a:r>
                  <a:rPr lang="zh-CN" altLang="en-US" sz="2800" dirty="0">
                    <a:solidFill>
                      <a:schemeClr val="tx1"/>
                    </a:solidFill>
                    <a:latin typeface="宋体" panose="02010600030101010101" pitchFamily="2" charset="-122"/>
                    <a:ea typeface="宋体" panose="02010600030101010101" pitchFamily="2" charset="-122"/>
                  </a:rPr>
                  <a:t>，且</a:t>
                </a: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𝑋</m:t>
                        </m:r>
                      </m:e>
                      <m:sub>
                        <m:r>
                          <m:rPr>
                            <m:sty m:val="p"/>
                          </m:rPr>
                          <a:rPr lang="en-US" altLang="zh-CN" sz="2800" i="1" dirty="0">
                            <a:solidFill>
                              <a:schemeClr val="tx1"/>
                            </a:solidFill>
                            <a:latin typeface="Cambria Math" panose="02040503050406030204" pitchFamily="18" charset="0"/>
                          </a:rPr>
                          <m:t>n</m:t>
                        </m:r>
                        <m:r>
                          <a:rPr lang="zh-CN" altLang="en-US"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1</m:t>
                        </m:r>
                      </m:sub>
                    </m:sSub>
                  </m:oMath>
                </a14:m>
                <a:r>
                  <a:rPr lang="zh-CN" altLang="en-US" sz="2800" dirty="0">
                    <a:solidFill>
                      <a:schemeClr val="tx1"/>
                    </a:solidFill>
                    <a:latin typeface="宋体" panose="02010600030101010101" pitchFamily="2" charset="-122"/>
                    <a:ea typeface="宋体" panose="02010600030101010101" pitchFamily="2" charset="-122"/>
                  </a:rPr>
                  <a:t>和</a:t>
                </a:r>
                <a14:m>
                  <m:oMath xmlns:m="http://schemas.openxmlformats.org/officeDocument/2006/math">
                    <m:acc>
                      <m:accPr>
                        <m:chr m:val="̅"/>
                        <m:ctrlPr>
                          <a:rPr lang="en-US" altLang="zh-CN" sz="2800" i="1">
                            <a:solidFill>
                              <a:schemeClr val="tx1"/>
                            </a:solidFill>
                            <a:latin typeface="Cambria Math" panose="02040503050406030204" pitchFamily="18" charset="0"/>
                          </a:rPr>
                        </m:ctrlPr>
                      </m:accPr>
                      <m:e>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m:rPr>
                                <m:sty m:val="p"/>
                              </m:rPr>
                              <a:rPr lang="en-US" altLang="zh-CN" sz="2800" i="1">
                                <a:solidFill>
                                  <a:schemeClr val="tx1"/>
                                </a:solidFill>
                                <a:latin typeface="Cambria Math" panose="02040503050406030204" pitchFamily="18" charset="0"/>
                              </a:rPr>
                              <m:t>n</m:t>
                            </m:r>
                          </m:sub>
                        </m:sSub>
                      </m:e>
                    </m:acc>
                  </m:oMath>
                </a14:m>
                <a:r>
                  <a:rPr lang="zh-CN" altLang="en-US" sz="2800" dirty="0">
                    <a:solidFill>
                      <a:schemeClr val="tx1"/>
                    </a:solidFill>
                    <a:latin typeface="宋体" panose="02010600030101010101" pitchFamily="2" charset="-122"/>
                    <a:ea typeface="宋体" panose="02010600030101010101" pitchFamily="2" charset="-122"/>
                  </a:rPr>
                  <a:t>相互独立，则</a:t>
                </a:r>
                <a:endParaRPr lang="en-US" altLang="zh-CN" sz="2800" dirty="0">
                  <a:solidFill>
                    <a:schemeClr val="tx1"/>
                  </a:solidFill>
                  <a:latin typeface="宋体" panose="02010600030101010101" pitchFamily="2" charset="-122"/>
                  <a:ea typeface="宋体" panose="02010600030101010101" pitchFamily="2" charset="-122"/>
                </a:endParaRPr>
              </a:p>
              <a:p>
                <a:pPr marL="0" indent="0">
                  <a:spcBef>
                    <a:spcPts val="1200"/>
                  </a:spcBef>
                  <a:spcAft>
                    <a:spcPts val="0"/>
                  </a:spcAft>
                  <a:buNone/>
                </a:pPr>
                <a14:m>
                  <m:oMath xmlns:m="http://schemas.openxmlformats.org/officeDocument/2006/math">
                    <m:sSub>
                      <m:sSubPr>
                        <m:ctrlPr>
                          <a:rPr lang="en-US" altLang="zh-CN" sz="2800" i="1" dirty="0">
                            <a:solidFill>
                              <a:schemeClr val="tx1"/>
                            </a:solidFill>
                            <a:latin typeface="Cambria Math" panose="02040503050406030204" pitchFamily="18" charset="0"/>
                          </a:rPr>
                        </m:ctrlPr>
                      </m:sSubPr>
                      <m:e>
                        <m:r>
                          <a:rPr lang="zh-CN" altLang="en-US"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𝑋</m:t>
                        </m:r>
                      </m:e>
                      <m:sub>
                        <m:r>
                          <m:rPr>
                            <m:sty m:val="p"/>
                          </m:rPr>
                          <a:rPr lang="en-US" altLang="zh-CN" sz="2800" i="1" dirty="0">
                            <a:solidFill>
                              <a:schemeClr val="tx1"/>
                            </a:solidFill>
                            <a:latin typeface="Cambria Math" panose="02040503050406030204" pitchFamily="18" charset="0"/>
                          </a:rPr>
                          <m:t>n</m:t>
                        </m:r>
                        <m:r>
                          <a:rPr lang="zh-CN" altLang="en-US"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1</m:t>
                        </m:r>
                      </m:sub>
                    </m:sSub>
                    <m:r>
                      <a:rPr lang="en-US" altLang="zh-CN" sz="2800" b="0" i="1" dirty="0" smtClean="0">
                        <a:solidFill>
                          <a:schemeClr val="tx1"/>
                        </a:solidFill>
                        <a:latin typeface="Cambria Math" panose="02040503050406030204" pitchFamily="18" charset="0"/>
                      </a:rPr>
                      <m:t>−</m:t>
                    </m:r>
                    <m:acc>
                      <m:accPr>
                        <m:chr m:val="̅"/>
                        <m:ctrlPr>
                          <a:rPr lang="en-US" altLang="zh-CN" sz="2800" i="1">
                            <a:solidFill>
                              <a:schemeClr val="tx1"/>
                            </a:solidFill>
                            <a:latin typeface="Cambria Math" panose="02040503050406030204" pitchFamily="18" charset="0"/>
                          </a:rPr>
                        </m:ctrlPr>
                      </m:accPr>
                      <m:e>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m:rPr>
                                <m:sty m:val="p"/>
                              </m:rPr>
                              <a:rPr lang="en-US" altLang="zh-CN" sz="2800" i="1" smtClean="0">
                                <a:solidFill>
                                  <a:schemeClr val="tx1"/>
                                </a:solidFill>
                                <a:latin typeface="Cambria Math" panose="02040503050406030204" pitchFamily="18" charset="0"/>
                              </a:rPr>
                              <m:t>n</m:t>
                            </m:r>
                          </m:sub>
                        </m:sSub>
                      </m:e>
                    </m:acc>
                    <m:r>
                      <a:rPr lang="zh-CN" altLang="en-US" sz="2800" i="1" dirty="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𝑁</m:t>
                    </m:r>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𝜇</m:t>
                    </m:r>
                    <m:r>
                      <a:rPr lang="en-US" altLang="zh-CN" sz="2800" i="1">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r>
                          <m:rPr>
                            <m:sty m:val="p"/>
                          </m:rPr>
                          <a:rPr lang="en-US" altLang="zh-CN" sz="2800" i="1">
                            <a:solidFill>
                              <a:schemeClr val="tx1"/>
                            </a:solidFill>
                            <a:latin typeface="Cambria Math" panose="02040503050406030204" pitchFamily="18" charset="0"/>
                          </a:rPr>
                          <m:t>n</m:t>
                        </m:r>
                        <m:r>
                          <a:rPr lang="en-US" altLang="zh-CN" sz="2800" i="1">
                            <a:solidFill>
                              <a:schemeClr val="tx1"/>
                            </a:solidFill>
                            <a:latin typeface="Cambria Math" panose="02040503050406030204" pitchFamily="18" charset="0"/>
                          </a:rPr>
                          <m:t>+1</m:t>
                        </m:r>
                      </m:num>
                      <m:den>
                        <m:r>
                          <a:rPr lang="en-US" altLang="zh-CN" sz="2800" i="1">
                            <a:solidFill>
                              <a:schemeClr val="tx1"/>
                            </a:solidFill>
                            <a:latin typeface="Cambria Math" panose="02040503050406030204" pitchFamily="18" charset="0"/>
                          </a:rPr>
                          <m:t>𝑛</m:t>
                        </m:r>
                      </m:den>
                    </m:f>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𝜎</m:t>
                        </m:r>
                      </m:e>
                      <m:sup>
                        <m:r>
                          <a:rPr lang="en-US" altLang="zh-CN" sz="2800" i="1">
                            <a:solidFill>
                              <a:schemeClr val="tx1"/>
                            </a:solidFill>
                            <a:latin typeface="Cambria Math" panose="02040503050406030204" pitchFamily="18" charset="0"/>
                          </a:rPr>
                          <m:t>2</m:t>
                        </m:r>
                      </m:sup>
                    </m:sSup>
                    <m:r>
                      <a:rPr lang="en-US" altLang="zh-CN" sz="2800" i="1">
                        <a:solidFill>
                          <a:schemeClr val="tx1"/>
                        </a:solidFill>
                        <a:latin typeface="Cambria Math" panose="02040503050406030204" pitchFamily="18" charset="0"/>
                      </a:rPr>
                      <m:t>)</m:t>
                    </m:r>
                  </m:oMath>
                </a14:m>
                <a:r>
                  <a:rPr lang="zh-CN" altLang="en-US" sz="2800" dirty="0">
                    <a:solidFill>
                      <a:schemeClr val="tx1"/>
                    </a:solidFill>
                    <a:latin typeface="宋体" panose="02010600030101010101" pitchFamily="2" charset="-122"/>
                    <a:ea typeface="宋体" panose="02010600030101010101" pitchFamily="2" charset="-122"/>
                  </a:rPr>
                  <a:t>且</a:t>
                </a:r>
                <a14:m>
                  <m:oMath xmlns:m="http://schemas.openxmlformats.org/officeDocument/2006/math">
                    <m:r>
                      <a:rPr lang="en-US" altLang="zh-CN" sz="2800" b="0" i="1" smtClean="0">
                        <a:solidFill>
                          <a:schemeClr val="tx1"/>
                        </a:solidFill>
                        <a:latin typeface="Cambria Math" panose="02040503050406030204" pitchFamily="18" charset="0"/>
                      </a:rPr>
                      <m:t>𝑍</m:t>
                    </m:r>
                    <m:r>
                      <a:rPr lang="en-US" altLang="zh-CN" sz="2800" i="1">
                        <a:solidFill>
                          <a:schemeClr val="tx1"/>
                        </a:solidFill>
                        <a:latin typeface="Cambria Math" panose="02040503050406030204" pitchFamily="18" charset="0"/>
                      </a:rPr>
                      <m:t>=</m:t>
                    </m:r>
                    <m:f>
                      <m:fPr>
                        <m:ctrlPr>
                          <a:rPr lang="en-US" altLang="zh-CN" sz="2800" i="1" smtClean="0">
                            <a:solidFill>
                              <a:schemeClr val="tx1"/>
                            </a:solidFill>
                            <a:latin typeface="Cambria Math" panose="02040503050406030204" pitchFamily="18" charset="0"/>
                          </a:rPr>
                        </m:ctrlPr>
                      </m:fPr>
                      <m:num>
                        <m:sSub>
                          <m:sSubPr>
                            <m:ctrlPr>
                              <a:rPr lang="en-US" altLang="zh-CN" sz="2800" i="1" dirty="0">
                                <a:solidFill>
                                  <a:schemeClr val="tx1"/>
                                </a:solidFill>
                                <a:latin typeface="Cambria Math" panose="02040503050406030204" pitchFamily="18" charset="0"/>
                              </a:rPr>
                            </m:ctrlPr>
                          </m:sSubPr>
                          <m:e>
                            <m:r>
                              <a:rPr lang="en-US" altLang="zh-CN" sz="2800" i="1" dirty="0">
                                <a:solidFill>
                                  <a:schemeClr val="tx1"/>
                                </a:solidFill>
                                <a:latin typeface="Cambria Math" panose="02040503050406030204" pitchFamily="18" charset="0"/>
                              </a:rPr>
                              <m:t>𝑋</m:t>
                            </m:r>
                          </m:e>
                          <m:sub>
                            <m:r>
                              <m:rPr>
                                <m:sty m:val="p"/>
                              </m:rPr>
                              <a:rPr lang="en-US" altLang="zh-CN" sz="2800" i="1" dirty="0">
                                <a:solidFill>
                                  <a:schemeClr val="tx1"/>
                                </a:solidFill>
                                <a:latin typeface="Cambria Math" panose="02040503050406030204" pitchFamily="18" charset="0"/>
                              </a:rPr>
                              <m:t>n</m:t>
                            </m:r>
                            <m:r>
                              <a:rPr lang="zh-CN" altLang="en-US" sz="2800" i="1" dirty="0">
                                <a:solidFill>
                                  <a:schemeClr val="tx1"/>
                                </a:solidFill>
                                <a:latin typeface="Cambria Math" panose="02040503050406030204" pitchFamily="18" charset="0"/>
                              </a:rPr>
                              <m:t>＋</m:t>
                            </m:r>
                            <m:r>
                              <a:rPr lang="en-US" altLang="zh-CN" sz="2800" i="1" dirty="0">
                                <a:solidFill>
                                  <a:schemeClr val="tx1"/>
                                </a:solidFill>
                                <a:latin typeface="Cambria Math" panose="02040503050406030204" pitchFamily="18" charset="0"/>
                              </a:rPr>
                              <m:t>1</m:t>
                            </m:r>
                          </m:sub>
                        </m:sSub>
                        <m:r>
                          <a:rPr lang="en-US" altLang="zh-CN" sz="2800" i="1" dirty="0">
                            <a:solidFill>
                              <a:schemeClr val="tx1"/>
                            </a:solidFill>
                            <a:latin typeface="Cambria Math" panose="02040503050406030204" pitchFamily="18" charset="0"/>
                          </a:rPr>
                          <m:t>−</m:t>
                        </m:r>
                        <m:acc>
                          <m:accPr>
                            <m:chr m:val="̅"/>
                            <m:ctrlPr>
                              <a:rPr lang="en-US" altLang="zh-CN" sz="2800" i="1">
                                <a:solidFill>
                                  <a:schemeClr val="tx1"/>
                                </a:solidFill>
                                <a:latin typeface="Cambria Math" panose="02040503050406030204" pitchFamily="18" charset="0"/>
                              </a:rPr>
                            </m:ctrlPr>
                          </m:accPr>
                          <m:e>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m:rPr>
                                    <m:sty m:val="p"/>
                                  </m:rPr>
                                  <a:rPr lang="en-US" altLang="zh-CN" sz="2800" i="1">
                                    <a:solidFill>
                                      <a:schemeClr val="tx1"/>
                                    </a:solidFill>
                                    <a:latin typeface="Cambria Math" panose="02040503050406030204" pitchFamily="18" charset="0"/>
                                  </a:rPr>
                                  <m:t>n</m:t>
                                </m:r>
                              </m:sub>
                            </m:sSub>
                          </m:e>
                        </m:acc>
                      </m:num>
                      <m:den>
                        <m:rad>
                          <m:radPr>
                            <m:degHide m:val="on"/>
                            <m:ctrlPr>
                              <a:rPr lang="en-US" altLang="zh-CN" sz="2800" i="1" smtClean="0">
                                <a:solidFill>
                                  <a:schemeClr val="tx1"/>
                                </a:solidFill>
                                <a:latin typeface="Cambria Math" panose="02040503050406030204" pitchFamily="18" charset="0"/>
                              </a:rPr>
                            </m:ctrlPr>
                          </m:radPr>
                          <m:deg/>
                          <m:e>
                            <m:f>
                              <m:fPr>
                                <m:ctrlPr>
                                  <a:rPr lang="zh-CN" altLang="zh-CN" sz="2800" i="1">
                                    <a:solidFill>
                                      <a:schemeClr val="tx1"/>
                                    </a:solidFill>
                                    <a:latin typeface="Cambria Math" panose="02040503050406030204" pitchFamily="18" charset="0"/>
                                  </a:rPr>
                                </m:ctrlPr>
                              </m:fPr>
                              <m:num>
                                <m:r>
                                  <m:rPr>
                                    <m:sty m:val="p"/>
                                  </m:rPr>
                                  <a:rPr lang="en-US" altLang="zh-CN" sz="2800" i="1">
                                    <a:solidFill>
                                      <a:schemeClr val="tx1"/>
                                    </a:solidFill>
                                    <a:latin typeface="Cambria Math" panose="02040503050406030204" pitchFamily="18" charset="0"/>
                                  </a:rPr>
                                  <m:t>n</m:t>
                                </m:r>
                                <m:r>
                                  <a:rPr lang="en-US" altLang="zh-CN" sz="2800" i="1">
                                    <a:solidFill>
                                      <a:schemeClr val="tx1"/>
                                    </a:solidFill>
                                    <a:latin typeface="Cambria Math" panose="02040503050406030204" pitchFamily="18" charset="0"/>
                                  </a:rPr>
                                  <m:t>+1</m:t>
                                </m:r>
                              </m:num>
                              <m:den>
                                <m:r>
                                  <a:rPr lang="en-US" altLang="zh-CN" sz="2800" i="1">
                                    <a:solidFill>
                                      <a:schemeClr val="tx1"/>
                                    </a:solidFill>
                                    <a:latin typeface="Cambria Math" panose="02040503050406030204" pitchFamily="18" charset="0"/>
                                  </a:rPr>
                                  <m:t>𝑛</m:t>
                                </m:r>
                              </m:den>
                            </m:f>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𝜎</m:t>
                                </m:r>
                              </m:e>
                              <m:sup>
                                <m:r>
                                  <a:rPr lang="en-US" altLang="zh-CN" sz="2800" i="1">
                                    <a:solidFill>
                                      <a:schemeClr val="tx1"/>
                                    </a:solidFill>
                                    <a:latin typeface="Cambria Math" panose="02040503050406030204" pitchFamily="18" charset="0"/>
                                  </a:rPr>
                                  <m:t>2</m:t>
                                </m:r>
                              </m:sup>
                            </m:sSup>
                          </m:e>
                        </m:rad>
                      </m:den>
                    </m:f>
                    <m:r>
                      <a:rPr lang="en-US" altLang="zh-CN" sz="280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𝑁</m:t>
                    </m:r>
                    <m:r>
                      <a:rPr lang="en-US" altLang="zh-CN" sz="2800" i="1">
                        <a:solidFill>
                          <a:schemeClr val="tx1"/>
                        </a:solidFill>
                        <a:latin typeface="Cambria Math" panose="02040503050406030204" pitchFamily="18" charset="0"/>
                      </a:rPr>
                      <m:t>(0,1) </m:t>
                    </m:r>
                  </m:oMath>
                </a14:m>
                <a:endParaRPr lang="zh-CN" altLang="en-US" sz="2800" dirty="0">
                  <a:solidFill>
                    <a:schemeClr val="tx1"/>
                  </a:solidFill>
                  <a:latin typeface="宋体" panose="02010600030101010101" pitchFamily="2" charset="-122"/>
                  <a:ea typeface="宋体" panose="02010600030101010101" pitchFamily="2" charset="-122"/>
                </a:endParaRPr>
              </a:p>
              <a:p>
                <a:pPr marL="0" indent="0">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由定理</a:t>
                </a:r>
                <a:r>
                  <a:rPr lang="en-US" altLang="zh-CN" sz="2800" dirty="0">
                    <a:solidFill>
                      <a:schemeClr val="tx1"/>
                    </a:solidFill>
                    <a:latin typeface="宋体" panose="02010600030101010101" pitchFamily="2" charset="-122"/>
                    <a:ea typeface="宋体" panose="02010600030101010101" pitchFamily="2" charset="-122"/>
                  </a:rPr>
                  <a:t>6.1</a:t>
                </a:r>
                <a:r>
                  <a:rPr lang="zh-CN" altLang="en-US" sz="2800" dirty="0">
                    <a:solidFill>
                      <a:schemeClr val="tx1"/>
                    </a:solidFill>
                    <a:latin typeface="宋体" panose="02010600030101010101" pitchFamily="2" charset="-122"/>
                    <a:ea typeface="宋体" panose="02010600030101010101" pitchFamily="2" charset="-122"/>
                  </a:rPr>
                  <a:t>，</a:t>
                </a:r>
                <a14:m>
                  <m:oMath xmlns:m="http://schemas.openxmlformats.org/officeDocument/2006/math">
                    <m:r>
                      <a:rPr lang="en-US" altLang="zh-CN" sz="2800" b="0" i="1" smtClean="0">
                        <a:solidFill>
                          <a:schemeClr val="tx1"/>
                        </a:solidFill>
                        <a:latin typeface="Cambria Math" panose="02040503050406030204" pitchFamily="18" charset="0"/>
                      </a:rPr>
                      <m:t>𝑌</m:t>
                    </m:r>
                    <m:r>
                      <a:rPr lang="en-US" altLang="zh-CN" sz="2800" b="0" i="1" smtClean="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d>
                          <m:dPr>
                            <m:ctrlPr>
                              <a:rPr lang="zh-CN"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𝑛</m:t>
                            </m:r>
                            <m:r>
                              <a:rPr lang="en-US" altLang="zh-CN" sz="2800" i="1">
                                <a:solidFill>
                                  <a:schemeClr val="tx1"/>
                                </a:solidFill>
                                <a:latin typeface="Cambria Math" panose="02040503050406030204" pitchFamily="18" charset="0"/>
                              </a:rPr>
                              <m:t>−1</m:t>
                            </m:r>
                          </m:e>
                        </m:d>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𝑆</m:t>
                            </m:r>
                          </m:e>
                          <m:sup>
                            <m:r>
                              <a:rPr lang="en-US" altLang="zh-CN" sz="2800" i="1">
                                <a:solidFill>
                                  <a:schemeClr val="tx1"/>
                                </a:solidFill>
                                <a:latin typeface="Cambria Math" panose="02040503050406030204" pitchFamily="18" charset="0"/>
                              </a:rPr>
                              <m:t>2</m:t>
                            </m:r>
                          </m:sup>
                        </m:sSup>
                      </m:num>
                      <m:den>
                        <m:sSup>
                          <m:sSupPr>
                            <m:ctrlPr>
                              <a:rPr lang="zh-CN" altLang="zh-CN" sz="2800" i="1">
                                <a:solidFill>
                                  <a:schemeClr val="tx1"/>
                                </a:solidFill>
                                <a:latin typeface="Cambria Math" panose="02040503050406030204" pitchFamily="18" charset="0"/>
                              </a:rPr>
                            </m:ctrlPr>
                          </m:sSupPr>
                          <m:e>
                            <m:r>
                              <a:rPr lang="en-US" altLang="zh-CN" sz="2800" i="1">
                                <a:solidFill>
                                  <a:schemeClr val="tx1"/>
                                </a:solidFill>
                                <a:latin typeface="Cambria Math" panose="02040503050406030204" pitchFamily="18" charset="0"/>
                              </a:rPr>
                              <m:t>𝜎</m:t>
                            </m:r>
                          </m:e>
                          <m:sup>
                            <m:r>
                              <a:rPr lang="en-US" altLang="zh-CN" sz="2800" i="1">
                                <a:solidFill>
                                  <a:schemeClr val="tx1"/>
                                </a:solidFill>
                                <a:latin typeface="Cambria Math" panose="02040503050406030204" pitchFamily="18" charset="0"/>
                              </a:rPr>
                              <m:t>2</m:t>
                            </m:r>
                          </m:sup>
                        </m:sSup>
                      </m:den>
                    </m:f>
                    <m:r>
                      <a:rPr lang="en-US" altLang="zh-CN" sz="2800" b="0" i="1" smtClean="0">
                        <a:solidFill>
                          <a:schemeClr val="tx1"/>
                        </a:solidFill>
                        <a:latin typeface="Cambria Math" panose="02040503050406030204" pitchFamily="18" charset="0"/>
                      </a:rPr>
                      <m:t>~</m:t>
                    </m:r>
                    <m:sSup>
                      <m:sSupPr>
                        <m:ctrlPr>
                          <a:rPr lang="en-US" altLang="zh-CN"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𝜒</m:t>
                        </m:r>
                      </m:e>
                      <m:sup>
                        <m:r>
                          <a:rPr lang="en-US" altLang="zh-CN" sz="2800" i="1">
                            <a:solidFill>
                              <a:schemeClr val="tx1"/>
                            </a:solidFill>
                            <a:latin typeface="Cambria Math" panose="02040503050406030204" pitchFamily="18" charset="0"/>
                          </a:rPr>
                          <m:t>2</m:t>
                        </m:r>
                      </m:sup>
                    </m:sSup>
                    <m:r>
                      <a:rPr lang="en-US" altLang="zh-CN" sz="2800" b="0" i="1" smtClean="0">
                        <a:solidFill>
                          <a:schemeClr val="tx1"/>
                        </a:solidFill>
                        <a:latin typeface="Cambria Math" panose="02040503050406030204" pitchFamily="18" charset="0"/>
                      </a:rPr>
                      <m:t>(</m:t>
                    </m:r>
                    <m:r>
                      <m:rPr>
                        <m:sty m:val="p"/>
                      </m:rPr>
                      <a:rPr lang="en-US" altLang="zh-CN" sz="2800" i="1">
                        <a:solidFill>
                          <a:schemeClr val="tx1"/>
                        </a:solidFill>
                        <a:latin typeface="Cambria Math" panose="02040503050406030204" pitchFamily="18" charset="0"/>
                      </a:rPr>
                      <m:t>n</m:t>
                    </m:r>
                    <m:r>
                      <a:rPr lang="en-US" altLang="zh-CN" sz="280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1)</m:t>
                    </m:r>
                  </m:oMath>
                </a14:m>
                <a:endParaRPr lang="en-US" altLang="zh-CN" sz="2800" dirty="0">
                  <a:solidFill>
                    <a:schemeClr val="tx1"/>
                  </a:solidFill>
                  <a:latin typeface="宋体" panose="02010600030101010101" pitchFamily="2" charset="-122"/>
                  <a:ea typeface="宋体" panose="02010600030101010101" pitchFamily="2" charset="-122"/>
                </a:endParaRPr>
              </a:p>
              <a:p>
                <a:pPr marL="0" indent="0">
                  <a:spcBef>
                    <a:spcPts val="120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且根据定理</a:t>
                </a:r>
                <a:r>
                  <a:rPr lang="en-US" altLang="zh-CN" sz="2800" dirty="0">
                    <a:solidFill>
                      <a:schemeClr val="tx1"/>
                    </a:solidFill>
                    <a:latin typeface="宋体" panose="02010600030101010101" pitchFamily="2" charset="-122"/>
                    <a:ea typeface="宋体" panose="02010600030101010101" pitchFamily="2" charset="-122"/>
                  </a:rPr>
                  <a:t>5-1</a:t>
                </a:r>
                <a:r>
                  <a:rPr lang="zh-CN" altLang="en-US" sz="2800" dirty="0">
                    <a:solidFill>
                      <a:schemeClr val="tx1"/>
                    </a:solidFill>
                    <a:latin typeface="宋体" panose="02010600030101010101" pitchFamily="2" charset="-122"/>
                    <a:ea typeface="宋体" panose="02010600030101010101" pitchFamily="2" charset="-122"/>
                  </a:rPr>
                  <a:t>有上述 </a:t>
                </a:r>
                <a14:m>
                  <m:oMath xmlns:m="http://schemas.openxmlformats.org/officeDocument/2006/math">
                    <m:r>
                      <a:rPr lang="en-US" altLang="zh-CN" sz="2800" b="1" i="1" smtClean="0">
                        <a:solidFill>
                          <a:schemeClr val="tx1"/>
                        </a:solidFill>
                        <a:latin typeface="Cambria Math" panose="02040503050406030204" pitchFamily="18" charset="0"/>
                      </a:rPr>
                      <m:t>𝒁</m:t>
                    </m:r>
                  </m:oMath>
                </a14:m>
                <a:r>
                  <a:rPr lang="zh-CN"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 </a:t>
                </a:r>
                <a:r>
                  <a:rPr lang="zh-CN" altLang="en-US" sz="2800" b="1" dirty="0">
                    <a:solidFill>
                      <a:schemeClr val="tx1"/>
                    </a:solidFill>
                    <a:latin typeface="宋体" panose="02010600030101010101" pitchFamily="2" charset="-122"/>
                    <a:ea typeface="宋体" panose="02010600030101010101" pitchFamily="2" charset="-122"/>
                  </a:rPr>
                  <a:t>相互独立</a:t>
                </a:r>
                <a:r>
                  <a:rPr lang="zh-CN" altLang="en-US" sz="2800" dirty="0">
                    <a:solidFill>
                      <a:schemeClr val="tx1"/>
                    </a:solidFill>
                    <a:latin typeface="宋体" panose="02010600030101010101" pitchFamily="2" charset="-122"/>
                    <a:ea typeface="宋体" panose="02010600030101010101" pitchFamily="2" charset="-122"/>
                  </a:rPr>
                  <a:t>， 所以</a:t>
                </a:r>
                <a:endParaRPr lang="en-US" altLang="zh-CN" sz="2800" dirty="0">
                  <a:solidFill>
                    <a:schemeClr val="tx1"/>
                  </a:solidFill>
                  <a:latin typeface="宋体" panose="02010600030101010101" pitchFamily="2" charset="-122"/>
                  <a:ea typeface="宋体" panose="02010600030101010101" pitchFamily="2" charset="-122"/>
                </a:endParaRPr>
              </a:p>
              <a:p>
                <a:pPr marL="0" indent="0">
                  <a:spcBef>
                    <a:spcPts val="1200"/>
                  </a:spcBef>
                  <a:spcAft>
                    <a:spcPts val="0"/>
                  </a:spcAft>
                  <a:buNone/>
                </a:pPr>
                <a14:m>
                  <m:oMathPara xmlns:m="http://schemas.openxmlformats.org/officeDocument/2006/math">
                    <m:oMathParaPr>
                      <m:jc m:val="centerGroup"/>
                    </m:oMathParaPr>
                    <m:oMath xmlns:m="http://schemas.openxmlformats.org/officeDocument/2006/math">
                      <m:r>
                        <a:rPr lang="en-US" altLang="zh-CN" sz="2800">
                          <a:solidFill>
                            <a:schemeClr val="tx1"/>
                          </a:solidFill>
                          <a:latin typeface="Cambria Math" panose="02040503050406030204" pitchFamily="18" charset="0"/>
                        </a:rPr>
                        <m:t>𝑡</m:t>
                      </m:r>
                      <m:r>
                        <a:rPr lang="en-US" altLang="zh-CN" sz="2800">
                          <a:solidFill>
                            <a:schemeClr val="tx1"/>
                          </a:solidFill>
                          <a:latin typeface="Cambria Math" panose="02040503050406030204" pitchFamily="18" charset="0"/>
                        </a:rPr>
                        <m:t>=</m:t>
                      </m:r>
                      <m:f>
                        <m:fPr>
                          <m:ctrlPr>
                            <a:rPr lang="zh-CN" altLang="zh-CN" sz="2800" i="1">
                              <a:solidFill>
                                <a:schemeClr val="tx1"/>
                              </a:solidFill>
                              <a:latin typeface="Cambria Math" panose="02040503050406030204" pitchFamily="18" charset="0"/>
                            </a:rPr>
                          </m:ctrlPr>
                        </m:fPr>
                        <m:num>
                          <m:r>
                            <a:rPr lang="en-US" altLang="zh-CN" sz="2800">
                              <a:solidFill>
                                <a:schemeClr val="tx1"/>
                              </a:solidFill>
                              <a:latin typeface="Cambria Math" panose="02040503050406030204" pitchFamily="18" charset="0"/>
                            </a:rPr>
                            <m:t>𝑍</m:t>
                          </m:r>
                        </m:num>
                        <m:den>
                          <m:rad>
                            <m:radPr>
                              <m:degHide m:val="on"/>
                              <m:ctrlPr>
                                <a:rPr lang="zh-CN" altLang="zh-CN" sz="2800" i="1">
                                  <a:solidFill>
                                    <a:schemeClr val="tx1"/>
                                  </a:solidFill>
                                  <a:latin typeface="Cambria Math" panose="02040503050406030204" pitchFamily="18" charset="0"/>
                                </a:rPr>
                              </m:ctrlPr>
                            </m:radPr>
                            <m:deg/>
                            <m:e>
                              <m:r>
                                <a:rPr lang="en-US" altLang="zh-CN" sz="2800">
                                  <a:solidFill>
                                    <a:schemeClr val="tx1"/>
                                  </a:solidFill>
                                  <a:latin typeface="Cambria Math" panose="02040503050406030204" pitchFamily="18" charset="0"/>
                                </a:rPr>
                                <m:t>𝑌</m:t>
                              </m:r>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−1)</m:t>
                              </m:r>
                            </m:e>
                          </m:rad>
                        </m:den>
                      </m:f>
                      <m:r>
                        <a:rPr lang="en-US" altLang="zh-CN" sz="2800">
                          <a:solidFill>
                            <a:schemeClr val="tx1"/>
                          </a:solidFill>
                          <a:latin typeface="Cambria Math" panose="02040503050406030204" pitchFamily="18" charset="0"/>
                        </a:rPr>
                        <m:t>=</m:t>
                      </m:r>
                      <m:rad>
                        <m:radPr>
                          <m:degHide m:val="on"/>
                          <m:ctrlPr>
                            <a:rPr lang="zh-CN" altLang="en-US" sz="2800" i="1">
                              <a:solidFill>
                                <a:schemeClr val="tx1"/>
                              </a:solidFill>
                              <a:latin typeface="Cambria Math" panose="02040503050406030204" pitchFamily="18" charset="0"/>
                            </a:rPr>
                          </m:ctrlPr>
                        </m:radPr>
                        <m:deg/>
                        <m:e>
                          <m:f>
                            <m:fPr>
                              <m:ctrlPr>
                                <a:rPr lang="en-US" altLang="zh-CN" sz="2800" i="1">
                                  <a:solidFill>
                                    <a:schemeClr val="tx1"/>
                                  </a:solidFill>
                                  <a:latin typeface="Cambria Math" panose="02040503050406030204" pitchFamily="18" charset="0"/>
                                </a:rPr>
                              </m:ctrlPr>
                            </m:fPr>
                            <m:num>
                              <m:r>
                                <m:rPr>
                                  <m:sty m:val="p"/>
                                </m:rPr>
                                <a:rPr lang="en-US" altLang="zh-CN" sz="2800" i="1">
                                  <a:solidFill>
                                    <a:schemeClr val="tx1"/>
                                  </a:solidFill>
                                  <a:latin typeface="Cambria Math" panose="02040503050406030204" pitchFamily="18" charset="0"/>
                                </a:rPr>
                                <m:t>n</m:t>
                              </m:r>
                            </m:num>
                            <m:den>
                              <m:r>
                                <m:rPr>
                                  <m:sty m:val="p"/>
                                </m:rPr>
                                <a:rPr lang="en-US" altLang="zh-CN" sz="2800" i="1">
                                  <a:solidFill>
                                    <a:schemeClr val="tx1"/>
                                  </a:solidFill>
                                  <a:latin typeface="Cambria Math" panose="02040503050406030204" pitchFamily="18" charset="0"/>
                                </a:rPr>
                                <m:t>n</m:t>
                              </m:r>
                              <m:r>
                                <a:rPr lang="en-US" altLang="zh-CN" sz="2800" i="1">
                                  <a:solidFill>
                                    <a:schemeClr val="tx1"/>
                                  </a:solidFill>
                                  <a:latin typeface="Cambria Math" panose="02040503050406030204" pitchFamily="18" charset="0"/>
                                </a:rPr>
                                <m:t>+1</m:t>
                              </m:r>
                            </m:den>
                          </m:f>
                        </m:e>
                      </m:rad>
                      <m:f>
                        <m:fPr>
                          <m:ctrlPr>
                            <a:rPr lang="en-US" altLang="zh-CN" sz="2800" i="1">
                              <a:solidFill>
                                <a:schemeClr val="tx1"/>
                              </a:solidFill>
                              <a:latin typeface="Cambria Math" panose="02040503050406030204" pitchFamily="18" charset="0"/>
                            </a:rPr>
                          </m:ctrlPr>
                        </m:fPr>
                        <m:num>
                          <m:sSub>
                            <m:sSubPr>
                              <m:ctrlPr>
                                <a:rPr lang="en-US" altLang="zh-CN" sz="2800" i="1">
                                  <a:solidFill>
                                    <a:schemeClr val="tx1"/>
                                  </a:solidFill>
                                  <a:latin typeface="Cambria Math" panose="02040503050406030204" pitchFamily="18" charset="0"/>
                                </a:rPr>
                              </m:ctrlPr>
                            </m:sSubPr>
                            <m:e>
                              <m:r>
                                <a:rPr lang="en-US" altLang="zh-CN" sz="2800" i="1">
                                  <a:solidFill>
                                    <a:schemeClr val="tx1"/>
                                  </a:solidFill>
                                  <a:latin typeface="Cambria Math" panose="02040503050406030204" pitchFamily="18" charset="0"/>
                                </a:rPr>
                                <m:t>𝑋</m:t>
                              </m:r>
                            </m:e>
                            <m:sub>
                              <m:r>
                                <m:rPr>
                                  <m:sty m:val="p"/>
                                </m:rPr>
                                <a:rPr lang="en-US" altLang="zh-CN" sz="2800" i="1">
                                  <a:solidFill>
                                    <a:schemeClr val="tx1"/>
                                  </a:solidFill>
                                  <a:latin typeface="Cambria Math" panose="02040503050406030204" pitchFamily="18" charset="0"/>
                                </a:rPr>
                                <m:t>n</m:t>
                              </m:r>
                              <m:r>
                                <a:rPr lang="en-US" altLang="zh-CN" sz="2800" i="1">
                                  <a:solidFill>
                                    <a:schemeClr val="tx1"/>
                                  </a:solidFill>
                                  <a:latin typeface="Cambria Math" panose="02040503050406030204" pitchFamily="18" charset="0"/>
                                </a:rPr>
                                <m:t>+1</m:t>
                              </m:r>
                            </m:sub>
                          </m:sSub>
                          <m:r>
                            <a:rPr lang="en-US" altLang="zh-CN" sz="2800" i="1">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rPr>
                              </m:ctrlPr>
                            </m:sSubPr>
                            <m:e>
                              <m:bar>
                                <m:barPr>
                                  <m:pos m:val="top"/>
                                  <m:ctrlPr>
                                    <a:rPr lang="en-US" altLang="zh-CN" sz="2800" i="1">
                                      <a:solidFill>
                                        <a:schemeClr val="tx1"/>
                                      </a:solidFill>
                                      <a:latin typeface="Cambria Math" panose="02040503050406030204" pitchFamily="18" charset="0"/>
                                    </a:rPr>
                                  </m:ctrlPr>
                                </m:barPr>
                                <m:e>
                                  <m:r>
                                    <a:rPr lang="en-US" altLang="zh-CN" sz="2800" i="1">
                                      <a:solidFill>
                                        <a:schemeClr val="tx1"/>
                                      </a:solidFill>
                                      <a:latin typeface="Cambria Math" panose="02040503050406030204" pitchFamily="18" charset="0"/>
                                    </a:rPr>
                                    <m:t>𝑋</m:t>
                                  </m:r>
                                </m:e>
                              </m:bar>
                            </m:e>
                            <m:sub>
                              <m:r>
                                <m:rPr>
                                  <m:sty m:val="p"/>
                                </m:rPr>
                                <a:rPr lang="en-US" altLang="zh-CN" sz="2800" i="1">
                                  <a:solidFill>
                                    <a:schemeClr val="tx1"/>
                                  </a:solidFill>
                                  <a:latin typeface="Cambria Math" panose="02040503050406030204" pitchFamily="18" charset="0"/>
                                </a:rPr>
                                <m:t>n</m:t>
                              </m:r>
                            </m:sub>
                          </m:sSub>
                        </m:num>
                        <m:den>
                          <m:r>
                            <a:rPr lang="en-US" altLang="zh-CN" sz="2800" i="1">
                              <a:solidFill>
                                <a:schemeClr val="tx1"/>
                              </a:solidFill>
                              <a:latin typeface="Cambria Math" panose="02040503050406030204" pitchFamily="18" charset="0"/>
                            </a:rPr>
                            <m:t>𝑆</m:t>
                          </m:r>
                        </m:den>
                      </m:f>
                      <m:r>
                        <a:rPr lang="en-US" altLang="zh-CN" sz="2800">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 </m:t>
                      </m:r>
                      <m:r>
                        <a:rPr lang="en-US" altLang="zh-CN" sz="2800">
                          <a:solidFill>
                            <a:schemeClr val="tx1"/>
                          </a:solidFill>
                          <a:latin typeface="Cambria Math" panose="02040503050406030204" pitchFamily="18" charset="0"/>
                        </a:rPr>
                        <m:t>𝑡</m:t>
                      </m:r>
                      <m:r>
                        <a:rPr lang="en-US" altLang="zh-CN" sz="2800">
                          <a:solidFill>
                            <a:schemeClr val="tx1"/>
                          </a:solidFill>
                          <a:latin typeface="Cambria Math" panose="02040503050406030204" pitchFamily="18" charset="0"/>
                        </a:rPr>
                        <m:t>(</m:t>
                      </m:r>
                      <m:r>
                        <a:rPr lang="en-US" altLang="zh-CN" sz="2800">
                          <a:solidFill>
                            <a:schemeClr val="tx1"/>
                          </a:solidFill>
                          <a:latin typeface="Cambria Math" panose="02040503050406030204" pitchFamily="18" charset="0"/>
                        </a:rPr>
                        <m:t>𝑛</m:t>
                      </m:r>
                      <m:r>
                        <a:rPr lang="en-US" altLang="zh-CN" sz="2800">
                          <a:solidFill>
                            <a:schemeClr val="tx1"/>
                          </a:solidFill>
                          <a:latin typeface="Cambria Math" panose="02040503050406030204" pitchFamily="18" charset="0"/>
                        </a:rPr>
                        <m:t>−1</m:t>
                      </m:r>
                      <m:r>
                        <a:rPr lang="zh-CN" altLang="en-US" sz="2800" i="1" smtClean="0">
                          <a:solidFill>
                            <a:schemeClr val="tx1"/>
                          </a:solidFill>
                          <a:latin typeface="Cambria Math" panose="02040503050406030204" pitchFamily="18" charset="0"/>
                        </a:rPr>
                        <m:t>）</m:t>
                      </m:r>
                    </m:oMath>
                  </m:oMathPara>
                </a14:m>
                <a:endParaRPr lang="en-US" altLang="zh-CN" sz="2800"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431759" y="806273"/>
                <a:ext cx="8951494" cy="5333761"/>
              </a:xfrm>
              <a:blipFill>
                <a:blip r:embed="rId2"/>
                <a:stretch>
                  <a:fillRect l="-1431" t="-1371"/>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标题 1">
            <a:extLst>
              <a:ext uri="{FF2B5EF4-FFF2-40B4-BE49-F238E27FC236}">
                <a16:creationId xmlns:a16="http://schemas.microsoft.com/office/drawing/2014/main" id="{6D4C53BD-C2D9-484F-E0EA-236303429116}"/>
              </a:ext>
            </a:extLst>
          </p:cNvPr>
          <p:cNvSpPr txBox="1">
            <a:spLocks/>
          </p:cNvSpPr>
          <p:nvPr/>
        </p:nvSpPr>
        <p:spPr>
          <a:xfrm>
            <a:off x="1816769" y="143491"/>
            <a:ext cx="7445744"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b="1" kern="0" dirty="0">
                <a:effectLst/>
                <a:latin typeface="+mj-ea"/>
              </a:rPr>
              <a:t>【</a:t>
            </a:r>
            <a:r>
              <a:rPr lang="zh-CN" altLang="en-US" b="1" kern="0" dirty="0">
                <a:effectLst/>
                <a:latin typeface="+mj-ea"/>
              </a:rPr>
              <a:t>例</a:t>
            </a:r>
            <a:r>
              <a:rPr lang="en-US" altLang="zh-CN" b="1" kern="0" dirty="0">
                <a:effectLst/>
                <a:latin typeface="+mj-ea"/>
              </a:rPr>
              <a:t>6-9】</a:t>
            </a:r>
            <a:r>
              <a:rPr lang="zh-CN" altLang="en-US" b="1" kern="0" dirty="0">
                <a:effectLst/>
                <a:latin typeface="+mj-ea"/>
              </a:rPr>
              <a:t>解</a:t>
            </a:r>
            <a:endParaRPr lang="en-US" altLang="zh-CN" b="1" kern="0" dirty="0">
              <a:effectLst/>
              <a:latin typeface="+mj-ea"/>
            </a:endParaRPr>
          </a:p>
        </p:txBody>
      </p:sp>
    </p:spTree>
    <p:extLst>
      <p:ext uri="{BB962C8B-B14F-4D97-AF65-F5344CB8AC3E}">
        <p14:creationId xmlns:p14="http://schemas.microsoft.com/office/powerpoint/2010/main" val="2160088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4558" y="697989"/>
                <a:ext cx="8795084" cy="5333761"/>
              </a:xfrm>
            </p:spPr>
            <p:txBody>
              <a:bodyPr>
                <a:noAutofit/>
              </a:bodyPr>
              <a:lstStyle/>
              <a:p>
                <a:pPr marL="0" indent="265113">
                  <a:lnSpc>
                    <a:spcPct val="110000"/>
                  </a:lnSpc>
                  <a:spcBef>
                    <a:spcPts val="1200"/>
                  </a:spcBef>
                  <a:spcAft>
                    <a:spcPts val="0"/>
                  </a:spcAft>
                  <a:buNone/>
                </a:pPr>
                <a:r>
                  <a:rPr lang="zh-CN" altLang="en-US" sz="2600" b="1" dirty="0">
                    <a:solidFill>
                      <a:schemeClr val="tx1"/>
                    </a:solidFill>
                    <a:latin typeface="宋体" panose="02010600030101010101" pitchFamily="2" charset="-122"/>
                    <a:ea typeface="宋体" panose="02010600030101010101" pitchFamily="2" charset="-122"/>
                  </a:rPr>
                  <a:t>若总体</a:t>
                </a:r>
                <a:r>
                  <a:rPr lang="en-US" altLang="zh-CN" sz="2600" b="1" dirty="0">
                    <a:solidFill>
                      <a:schemeClr val="tx1"/>
                    </a:solidFill>
                    <a:latin typeface="宋体" panose="02010600030101010101" pitchFamily="2" charset="-122"/>
                    <a:ea typeface="宋体" panose="02010600030101010101" pitchFamily="2" charset="-122"/>
                  </a:rPr>
                  <a:t>X</a:t>
                </a:r>
                <a:r>
                  <a:rPr lang="zh-CN" altLang="en-US" sz="2600" b="1" dirty="0">
                    <a:solidFill>
                      <a:schemeClr val="tx1"/>
                    </a:solidFill>
                    <a:latin typeface="宋体" panose="02010600030101010101" pitchFamily="2" charset="-122"/>
                    <a:ea typeface="宋体" panose="02010600030101010101" pitchFamily="2" charset="-122"/>
                  </a:rPr>
                  <a:t>服从</a:t>
                </a:r>
                <a:r>
                  <a:rPr lang="en-US" altLang="zh-CN" sz="2600" b="1" dirty="0">
                    <a:solidFill>
                      <a:schemeClr val="tx1"/>
                    </a:solidFill>
                    <a:latin typeface="宋体" panose="02010600030101010101" pitchFamily="2" charset="-122"/>
                    <a:ea typeface="宋体" panose="02010600030101010101" pitchFamily="2" charset="-122"/>
                  </a:rPr>
                  <a:t>N(</a:t>
                </a:r>
                <a14:m>
                  <m:oMath xmlns:m="http://schemas.openxmlformats.org/officeDocument/2006/math">
                    <m:sSub>
                      <m:sSubPr>
                        <m:ctrlPr>
                          <a:rPr lang="en-US" altLang="zh-CN" sz="2600" b="1" i="1" smtClean="0">
                            <a:solidFill>
                              <a:schemeClr val="tx1"/>
                            </a:solidFill>
                            <a:latin typeface="Cambria Math" panose="02040503050406030204" pitchFamily="18" charset="0"/>
                          </a:rPr>
                        </m:ctrlPr>
                      </m:sSubPr>
                      <m:e>
                        <m:r>
                          <a:rPr lang="en-US" altLang="zh-CN" sz="2600" b="1" i="1">
                            <a:solidFill>
                              <a:schemeClr val="tx1"/>
                            </a:solidFill>
                            <a:latin typeface="Cambria Math" panose="02040503050406030204" pitchFamily="18" charset="0"/>
                          </a:rPr>
                          <m:t>𝒖</m:t>
                        </m:r>
                      </m:e>
                      <m:sub>
                        <m:r>
                          <a:rPr lang="en-US" altLang="zh-CN" sz="2600" b="1" i="1" smtClean="0">
                            <a:solidFill>
                              <a:schemeClr val="tx1"/>
                            </a:solidFill>
                            <a:latin typeface="Cambria Math" panose="02040503050406030204" pitchFamily="18" charset="0"/>
                          </a:rPr>
                          <m:t>𝟏</m:t>
                        </m:r>
                      </m:sub>
                    </m:sSub>
                  </m:oMath>
                </a14:m>
                <a:r>
                  <a:rPr lang="en-US" altLang="zh-CN" sz="2600" b="1" dirty="0">
                    <a:solidFill>
                      <a:schemeClr val="tx1"/>
                    </a:solidFill>
                    <a:latin typeface="宋体" panose="02010600030101010101" pitchFamily="2" charset="-122"/>
                    <a:ea typeface="宋体" panose="02010600030101010101" pitchFamily="2" charset="-122"/>
                  </a:rPr>
                  <a:t>,</a:t>
                </a:r>
                <a14:m>
                  <m:oMath xmlns:m="http://schemas.openxmlformats.org/officeDocument/2006/math">
                    <m:sSubSup>
                      <m:sSubSupPr>
                        <m:ctrlPr>
                          <a:rPr lang="en-US" altLang="zh-CN" sz="2600" b="1" i="1" dirty="0" smtClean="0">
                            <a:solidFill>
                              <a:schemeClr val="tx1"/>
                            </a:solidFill>
                            <a:latin typeface="Cambria Math" panose="02040503050406030204" pitchFamily="18" charset="0"/>
                          </a:rPr>
                        </m:ctrlPr>
                      </m:sSubSupPr>
                      <m:e>
                        <m:r>
                          <a:rPr lang="zh-CN" altLang="en-US" sz="2600" b="1" i="1" dirty="0" smtClean="0">
                            <a:solidFill>
                              <a:schemeClr val="tx1"/>
                            </a:solidFill>
                            <a:latin typeface="Cambria Math" panose="02040503050406030204" pitchFamily="18" charset="0"/>
                          </a:rPr>
                          <m:t>𝝈</m:t>
                        </m:r>
                      </m:e>
                      <m:sub>
                        <m:r>
                          <a:rPr lang="en-US" altLang="zh-CN" sz="2600" b="1" i="1" dirty="0" smtClean="0">
                            <a:solidFill>
                              <a:schemeClr val="tx1"/>
                            </a:solidFill>
                            <a:latin typeface="Cambria Math" panose="02040503050406030204" pitchFamily="18" charset="0"/>
                          </a:rPr>
                          <m:t>𝟏</m:t>
                        </m:r>
                      </m:sub>
                      <m:sup>
                        <m:r>
                          <a:rPr lang="en-US" altLang="zh-CN" sz="2600" b="1" i="1" dirty="0" smtClean="0">
                            <a:solidFill>
                              <a:schemeClr val="tx1"/>
                            </a:solidFill>
                            <a:latin typeface="Cambria Math" panose="02040503050406030204" pitchFamily="18" charset="0"/>
                          </a:rPr>
                          <m:t>𝟐</m:t>
                        </m:r>
                      </m:sup>
                    </m:sSubSup>
                  </m:oMath>
                </a14:m>
                <a:r>
                  <a:rPr lang="en-US" altLang="zh-CN" sz="2600" b="1" dirty="0">
                    <a:solidFill>
                      <a:schemeClr val="tx1"/>
                    </a:solidFill>
                    <a:latin typeface="宋体" panose="02010600030101010101" pitchFamily="2" charset="-122"/>
                    <a:ea typeface="宋体" panose="02010600030101010101" pitchFamily="2" charset="-122"/>
                  </a:rPr>
                  <a:t>) </a:t>
                </a:r>
                <a:r>
                  <a:rPr lang="zh-CN" altLang="en-US" sz="2600" b="1" dirty="0">
                    <a:solidFill>
                      <a:schemeClr val="tx1"/>
                    </a:solidFill>
                    <a:latin typeface="宋体" panose="02010600030101010101" pitchFamily="2" charset="-122"/>
                    <a:ea typeface="宋体" panose="02010600030101010101" pitchFamily="2" charset="-122"/>
                  </a:rPr>
                  <a:t>，总体</a:t>
                </a:r>
                <a:r>
                  <a:rPr lang="en-US" altLang="zh-CN" sz="2600" b="1" dirty="0">
                    <a:solidFill>
                      <a:schemeClr val="tx1"/>
                    </a:solidFill>
                    <a:latin typeface="宋体" panose="02010600030101010101" pitchFamily="2" charset="-122"/>
                    <a:ea typeface="宋体" panose="02010600030101010101" pitchFamily="2" charset="-122"/>
                  </a:rPr>
                  <a:t>Y</a:t>
                </a:r>
                <a:r>
                  <a:rPr lang="zh-CN" altLang="en-US" sz="2600" b="1" dirty="0">
                    <a:solidFill>
                      <a:schemeClr val="tx1"/>
                    </a:solidFill>
                    <a:latin typeface="宋体" panose="02010600030101010101" pitchFamily="2" charset="-122"/>
                    <a:ea typeface="宋体" panose="02010600030101010101" pitchFamily="2" charset="-122"/>
                  </a:rPr>
                  <a:t>服从</a:t>
                </a:r>
                <a:r>
                  <a:rPr lang="en-US" altLang="zh-CN" sz="2600" b="1" dirty="0">
                    <a:solidFill>
                      <a:schemeClr val="tx1"/>
                    </a:solidFill>
                    <a:latin typeface="宋体" panose="02010600030101010101" pitchFamily="2" charset="-122"/>
                    <a:ea typeface="宋体" panose="02010600030101010101" pitchFamily="2" charset="-122"/>
                  </a:rPr>
                  <a:t>N(</a:t>
                </a:r>
                <a14:m>
                  <m:oMath xmlns:m="http://schemas.openxmlformats.org/officeDocument/2006/math">
                    <m:sSub>
                      <m:sSubPr>
                        <m:ctrlPr>
                          <a:rPr lang="en-US" altLang="zh-CN" sz="2600" b="1" i="1">
                            <a:solidFill>
                              <a:schemeClr val="tx1"/>
                            </a:solidFill>
                            <a:latin typeface="Cambria Math" panose="02040503050406030204" pitchFamily="18" charset="0"/>
                          </a:rPr>
                        </m:ctrlPr>
                      </m:sSubPr>
                      <m:e>
                        <m:r>
                          <a:rPr lang="en-US" altLang="zh-CN" sz="2600" b="1" i="1">
                            <a:solidFill>
                              <a:schemeClr val="tx1"/>
                            </a:solidFill>
                            <a:latin typeface="Cambria Math" panose="02040503050406030204" pitchFamily="18" charset="0"/>
                          </a:rPr>
                          <m:t>𝒖</m:t>
                        </m:r>
                      </m:e>
                      <m:sub>
                        <m:r>
                          <a:rPr lang="en-US" altLang="zh-CN" sz="2600" b="1" i="1">
                            <a:solidFill>
                              <a:schemeClr val="tx1"/>
                            </a:solidFill>
                            <a:latin typeface="Cambria Math" panose="02040503050406030204" pitchFamily="18" charset="0"/>
                          </a:rPr>
                          <m:t>𝟐</m:t>
                        </m:r>
                      </m:sub>
                    </m:sSub>
                  </m:oMath>
                </a14:m>
                <a:r>
                  <a:rPr lang="en-US" altLang="zh-CN" sz="2600" b="1" dirty="0">
                    <a:solidFill>
                      <a:schemeClr val="tx1"/>
                    </a:solidFill>
                    <a:latin typeface="宋体" panose="02010600030101010101" pitchFamily="2" charset="-122"/>
                    <a:ea typeface="宋体" panose="02010600030101010101" pitchFamily="2" charset="-122"/>
                  </a:rPr>
                  <a:t>,</a:t>
                </a:r>
                <a14:m>
                  <m:oMath xmlns:m="http://schemas.openxmlformats.org/officeDocument/2006/math">
                    <m:sSubSup>
                      <m:sSubSupPr>
                        <m:ctrlPr>
                          <a:rPr lang="en-US" altLang="zh-CN" sz="2600" b="1" i="1" dirty="0">
                            <a:solidFill>
                              <a:schemeClr val="tx1"/>
                            </a:solidFill>
                            <a:latin typeface="Cambria Math" panose="02040503050406030204" pitchFamily="18" charset="0"/>
                          </a:rPr>
                        </m:ctrlPr>
                      </m:sSubSupPr>
                      <m:e>
                        <m:r>
                          <a:rPr lang="zh-CN" altLang="en-US" sz="2600" b="1" i="1" dirty="0">
                            <a:solidFill>
                              <a:schemeClr val="tx1"/>
                            </a:solidFill>
                            <a:latin typeface="Cambria Math" panose="02040503050406030204" pitchFamily="18" charset="0"/>
                          </a:rPr>
                          <m:t>𝝈</m:t>
                        </m:r>
                      </m:e>
                      <m:sub>
                        <m:r>
                          <a:rPr lang="en-US" altLang="zh-CN" sz="2600" b="1" i="1" dirty="0">
                            <a:solidFill>
                              <a:schemeClr val="tx1"/>
                            </a:solidFill>
                            <a:latin typeface="Cambria Math" panose="02040503050406030204" pitchFamily="18" charset="0"/>
                          </a:rPr>
                          <m:t>𝟐</m:t>
                        </m:r>
                      </m:sub>
                      <m:sup>
                        <m:r>
                          <a:rPr lang="en-US" altLang="zh-CN" sz="2600" b="1" i="1" dirty="0">
                            <a:solidFill>
                              <a:schemeClr val="tx1"/>
                            </a:solidFill>
                            <a:latin typeface="Cambria Math" panose="02040503050406030204" pitchFamily="18" charset="0"/>
                          </a:rPr>
                          <m:t>𝟐</m:t>
                        </m:r>
                      </m:sup>
                    </m:sSubSup>
                  </m:oMath>
                </a14:m>
                <a:r>
                  <a:rPr lang="en-US" altLang="zh-CN" sz="2600" b="1" dirty="0">
                    <a:solidFill>
                      <a:schemeClr val="tx1"/>
                    </a:solidFill>
                    <a:latin typeface="宋体" panose="02010600030101010101" pitchFamily="2" charset="-122"/>
                    <a:ea typeface="宋体" panose="02010600030101010101" pitchFamily="2" charset="-122"/>
                  </a:rPr>
                  <a:t>) </a:t>
                </a:r>
                <a:r>
                  <a:rPr lang="zh-CN" altLang="en-US" sz="2600" b="1" dirty="0">
                    <a:solidFill>
                      <a:schemeClr val="tx1"/>
                    </a:solidFill>
                    <a:latin typeface="宋体" panose="02010600030101010101" pitchFamily="2" charset="-122"/>
                    <a:ea typeface="宋体" panose="02010600030101010101" pitchFamily="2" charset="-122"/>
                  </a:rPr>
                  <a:t>，且两个总体相互独立。从两总体中分别抽取容量为</a:t>
                </a:r>
                <a14:m>
                  <m:oMath xmlns:m="http://schemas.openxmlformats.org/officeDocument/2006/math">
                    <m:sSub>
                      <m:sSubPr>
                        <m:ctrlPr>
                          <a:rPr lang="en-US" altLang="zh-CN" sz="2600" b="1" i="1">
                            <a:solidFill>
                              <a:schemeClr val="tx1"/>
                            </a:solidFill>
                            <a:latin typeface="Cambria Math" panose="02040503050406030204" pitchFamily="18" charset="0"/>
                          </a:rPr>
                        </m:ctrlPr>
                      </m:sSubPr>
                      <m:e>
                        <m:r>
                          <a:rPr lang="en-US" altLang="zh-CN" sz="2600" b="1" i="1" smtClean="0">
                            <a:solidFill>
                              <a:schemeClr val="tx1"/>
                            </a:solidFill>
                            <a:latin typeface="Cambria Math" panose="02040503050406030204" pitchFamily="18" charset="0"/>
                          </a:rPr>
                          <m:t>𝒏</m:t>
                        </m:r>
                      </m:e>
                      <m:sub>
                        <m:r>
                          <a:rPr lang="en-US" altLang="zh-CN" sz="2600" b="1" i="1">
                            <a:solidFill>
                              <a:schemeClr val="tx1"/>
                            </a:solidFill>
                            <a:latin typeface="Cambria Math" panose="02040503050406030204" pitchFamily="18" charset="0"/>
                          </a:rPr>
                          <m:t>𝟏</m:t>
                        </m:r>
                      </m:sub>
                    </m:sSub>
                  </m:oMath>
                </a14:m>
                <a:r>
                  <a:rPr lang="zh-CN" altLang="en-US" sz="2600" b="1" dirty="0">
                    <a:solidFill>
                      <a:schemeClr val="tx1"/>
                    </a:solidFill>
                    <a:latin typeface="宋体" panose="02010600030101010101" pitchFamily="2" charset="-122"/>
                    <a:ea typeface="宋体" panose="02010600030101010101" pitchFamily="2" charset="-122"/>
                  </a:rPr>
                  <a:t>和</a:t>
                </a:r>
                <a14:m>
                  <m:oMath xmlns:m="http://schemas.openxmlformats.org/officeDocument/2006/math">
                    <m:sSub>
                      <m:sSubPr>
                        <m:ctrlPr>
                          <a:rPr lang="en-US" altLang="zh-CN" sz="2600" b="1" i="1">
                            <a:solidFill>
                              <a:schemeClr val="tx1"/>
                            </a:solidFill>
                            <a:latin typeface="Cambria Math" panose="02040503050406030204" pitchFamily="18" charset="0"/>
                          </a:rPr>
                        </m:ctrlPr>
                      </m:sSubPr>
                      <m:e>
                        <m:r>
                          <a:rPr lang="en-US" altLang="zh-CN" sz="2600" b="1" i="1" smtClean="0">
                            <a:solidFill>
                              <a:schemeClr val="tx1"/>
                            </a:solidFill>
                            <a:latin typeface="Cambria Math" panose="02040503050406030204" pitchFamily="18" charset="0"/>
                          </a:rPr>
                          <m:t>𝒏</m:t>
                        </m:r>
                      </m:e>
                      <m:sub>
                        <m:r>
                          <a:rPr lang="en-US" altLang="zh-CN" sz="2600" b="1" i="1" smtClean="0">
                            <a:solidFill>
                              <a:schemeClr val="tx1"/>
                            </a:solidFill>
                            <a:latin typeface="Cambria Math" panose="02040503050406030204" pitchFamily="18" charset="0"/>
                          </a:rPr>
                          <m:t>𝟐</m:t>
                        </m:r>
                      </m:sub>
                    </m:sSub>
                  </m:oMath>
                </a14:m>
                <a:r>
                  <a:rPr lang="zh-CN" altLang="en-US" sz="2600" b="1" dirty="0">
                    <a:solidFill>
                      <a:schemeClr val="tx1"/>
                    </a:solidFill>
                    <a:latin typeface="宋体" panose="02010600030101010101" pitchFamily="2" charset="-122"/>
                    <a:ea typeface="宋体" panose="02010600030101010101" pitchFamily="2" charset="-122"/>
                  </a:rPr>
                  <a:t>的样本</a:t>
                </a:r>
                <a14:m>
                  <m:oMath xmlns:m="http://schemas.openxmlformats.org/officeDocument/2006/math">
                    <m:sSub>
                      <m:sSubPr>
                        <m:ctrlPr>
                          <a:rPr lang="en-US" altLang="zh-CN" sz="2600" b="1" i="1">
                            <a:solidFill>
                              <a:schemeClr val="tx1"/>
                            </a:solidFill>
                            <a:latin typeface="Cambria Math" panose="02040503050406030204" pitchFamily="18" charset="0"/>
                          </a:rPr>
                        </m:ctrlPr>
                      </m:sSubPr>
                      <m:e>
                        <m:r>
                          <a:rPr lang="en-US" altLang="zh-CN" sz="2600" b="1" i="1">
                            <a:solidFill>
                              <a:schemeClr val="tx1"/>
                            </a:solidFill>
                            <a:latin typeface="Cambria Math" panose="02040503050406030204" pitchFamily="18" charset="0"/>
                          </a:rPr>
                          <m:t>𝑿</m:t>
                        </m:r>
                      </m:e>
                      <m:sub>
                        <m:r>
                          <a:rPr lang="en-US" altLang="zh-CN" sz="2600" b="1" i="1">
                            <a:solidFill>
                              <a:schemeClr val="tx1"/>
                            </a:solidFill>
                            <a:latin typeface="Cambria Math" panose="02040503050406030204" pitchFamily="18" charset="0"/>
                          </a:rPr>
                          <m:t>𝟏</m:t>
                        </m:r>
                      </m:sub>
                    </m:sSub>
                    <m:r>
                      <a:rPr lang="zh-CN" altLang="en-US" sz="2600" b="1" i="1">
                        <a:solidFill>
                          <a:schemeClr val="tx1"/>
                        </a:solidFill>
                        <a:latin typeface="Cambria Math" panose="02040503050406030204" pitchFamily="18" charset="0"/>
                      </a:rPr>
                      <m:t>，</m:t>
                    </m:r>
                    <m:sSub>
                      <m:sSubPr>
                        <m:ctrlPr>
                          <a:rPr lang="en-US" altLang="zh-CN" sz="2600" b="1" i="1">
                            <a:solidFill>
                              <a:schemeClr val="tx1"/>
                            </a:solidFill>
                            <a:latin typeface="Cambria Math" panose="02040503050406030204" pitchFamily="18" charset="0"/>
                          </a:rPr>
                        </m:ctrlPr>
                      </m:sSubPr>
                      <m:e>
                        <m:r>
                          <a:rPr lang="en-US" altLang="zh-CN" sz="2600" b="1" i="1">
                            <a:solidFill>
                              <a:schemeClr val="tx1"/>
                            </a:solidFill>
                            <a:latin typeface="Cambria Math" panose="02040503050406030204" pitchFamily="18" charset="0"/>
                          </a:rPr>
                          <m:t>𝑿</m:t>
                        </m:r>
                      </m:e>
                      <m:sub>
                        <m:r>
                          <a:rPr lang="en-US" altLang="zh-CN" sz="2600" b="1" i="1">
                            <a:solidFill>
                              <a:schemeClr val="tx1"/>
                            </a:solidFill>
                            <a:latin typeface="Cambria Math" panose="02040503050406030204" pitchFamily="18" charset="0"/>
                          </a:rPr>
                          <m:t>𝟐</m:t>
                        </m:r>
                      </m:sub>
                    </m:sSub>
                    <m:r>
                      <a:rPr lang="en-US" altLang="zh-CN" sz="2600" b="1">
                        <a:solidFill>
                          <a:schemeClr val="tx1"/>
                        </a:solidFill>
                        <a:latin typeface="Cambria Math" panose="02040503050406030204" pitchFamily="18" charset="0"/>
                      </a:rPr>
                      <m:t>…</m:t>
                    </m:r>
                    <m:sSub>
                      <m:sSubPr>
                        <m:ctrlPr>
                          <a:rPr lang="en-US" altLang="zh-CN" sz="2600" b="1" i="1">
                            <a:solidFill>
                              <a:schemeClr val="tx1"/>
                            </a:solidFill>
                            <a:latin typeface="Cambria Math" panose="02040503050406030204" pitchFamily="18" charset="0"/>
                          </a:rPr>
                        </m:ctrlPr>
                      </m:sSubPr>
                      <m:e>
                        <m:r>
                          <a:rPr lang="en-US" altLang="zh-CN" sz="2600" b="1" i="1">
                            <a:solidFill>
                              <a:schemeClr val="tx1"/>
                            </a:solidFill>
                            <a:latin typeface="Cambria Math" panose="02040503050406030204" pitchFamily="18" charset="0"/>
                          </a:rPr>
                          <m:t>𝑿</m:t>
                        </m:r>
                      </m:e>
                      <m:sub>
                        <m:r>
                          <a:rPr lang="en-US" altLang="zh-CN" sz="2600" b="1" i="1">
                            <a:solidFill>
                              <a:schemeClr val="tx1"/>
                            </a:solidFill>
                            <a:latin typeface="Cambria Math" panose="02040503050406030204" pitchFamily="18" charset="0"/>
                          </a:rPr>
                          <m:t>𝒏</m:t>
                        </m:r>
                        <m:r>
                          <a:rPr lang="en-US" altLang="zh-CN" sz="2600" b="1" i="1" smtClean="0">
                            <a:solidFill>
                              <a:schemeClr val="tx1"/>
                            </a:solidFill>
                            <a:latin typeface="Cambria Math" panose="02040503050406030204" pitchFamily="18" charset="0"/>
                          </a:rPr>
                          <m:t>𝟏</m:t>
                        </m:r>
                      </m:sub>
                    </m:sSub>
                  </m:oMath>
                </a14:m>
                <a:r>
                  <a:rPr lang="zh-CN" altLang="en-US" sz="2600" b="1" dirty="0">
                    <a:solidFill>
                      <a:schemeClr val="tx1"/>
                    </a:solidFill>
                    <a:latin typeface="宋体" panose="02010600030101010101" pitchFamily="2" charset="-122"/>
                    <a:ea typeface="宋体" panose="02010600030101010101" pitchFamily="2" charset="-122"/>
                  </a:rPr>
                  <a:t>和</a:t>
                </a:r>
                <a14:m>
                  <m:oMath xmlns:m="http://schemas.openxmlformats.org/officeDocument/2006/math">
                    <m:sSub>
                      <m:sSubPr>
                        <m:ctrlPr>
                          <a:rPr lang="en-US" altLang="zh-CN" sz="2600" b="1" i="1">
                            <a:solidFill>
                              <a:schemeClr val="tx1"/>
                            </a:solidFill>
                            <a:latin typeface="Cambria Math" panose="02040503050406030204" pitchFamily="18" charset="0"/>
                          </a:rPr>
                        </m:ctrlPr>
                      </m:sSubPr>
                      <m:e>
                        <m:r>
                          <a:rPr lang="en-US" altLang="zh-CN" sz="2600" b="1" i="1" smtClean="0">
                            <a:solidFill>
                              <a:schemeClr val="tx1"/>
                            </a:solidFill>
                            <a:latin typeface="Cambria Math" panose="02040503050406030204" pitchFamily="18" charset="0"/>
                          </a:rPr>
                          <m:t>𝒀</m:t>
                        </m:r>
                      </m:e>
                      <m:sub>
                        <m:r>
                          <a:rPr lang="en-US" altLang="zh-CN" sz="2600" b="1" i="1">
                            <a:solidFill>
                              <a:schemeClr val="tx1"/>
                            </a:solidFill>
                            <a:latin typeface="Cambria Math" panose="02040503050406030204" pitchFamily="18" charset="0"/>
                          </a:rPr>
                          <m:t>𝟏</m:t>
                        </m:r>
                      </m:sub>
                    </m:sSub>
                    <m:r>
                      <a:rPr lang="en-US" altLang="zh-CN" sz="2600" b="1">
                        <a:solidFill>
                          <a:schemeClr val="tx1"/>
                        </a:solidFill>
                        <a:latin typeface="Cambria Math" panose="02040503050406030204" pitchFamily="18" charset="0"/>
                      </a:rPr>
                      <m:t>…</m:t>
                    </m:r>
                    <m:sSub>
                      <m:sSubPr>
                        <m:ctrlPr>
                          <a:rPr lang="en-US" altLang="zh-CN" sz="2600" b="1" i="1">
                            <a:solidFill>
                              <a:schemeClr val="tx1"/>
                            </a:solidFill>
                            <a:latin typeface="Cambria Math" panose="02040503050406030204" pitchFamily="18" charset="0"/>
                          </a:rPr>
                        </m:ctrlPr>
                      </m:sSubPr>
                      <m:e>
                        <m:r>
                          <a:rPr lang="en-US" altLang="zh-CN" sz="2600" b="1" i="1" smtClean="0">
                            <a:solidFill>
                              <a:schemeClr val="tx1"/>
                            </a:solidFill>
                            <a:latin typeface="Cambria Math" panose="02040503050406030204" pitchFamily="18" charset="0"/>
                          </a:rPr>
                          <m:t>𝒀</m:t>
                        </m:r>
                      </m:e>
                      <m:sub>
                        <m:r>
                          <a:rPr lang="en-US" altLang="zh-CN" sz="2600" b="1" i="1">
                            <a:solidFill>
                              <a:schemeClr val="tx1"/>
                            </a:solidFill>
                            <a:latin typeface="Cambria Math" panose="02040503050406030204" pitchFamily="18" charset="0"/>
                          </a:rPr>
                          <m:t>𝒏</m:t>
                        </m:r>
                        <m:r>
                          <a:rPr lang="en-US" altLang="zh-CN" sz="2600" b="1" i="1" smtClean="0">
                            <a:solidFill>
                              <a:schemeClr val="tx1"/>
                            </a:solidFill>
                            <a:latin typeface="Cambria Math" panose="02040503050406030204" pitchFamily="18" charset="0"/>
                          </a:rPr>
                          <m:t>𝟐</m:t>
                        </m:r>
                      </m:sub>
                    </m:sSub>
                    <m:r>
                      <a:rPr lang="en-US" altLang="zh-CN" sz="2600" b="1" i="1">
                        <a:solidFill>
                          <a:schemeClr val="tx1"/>
                        </a:solidFill>
                        <a:latin typeface="Cambria Math" panose="02040503050406030204" pitchFamily="18" charset="0"/>
                      </a:rPr>
                      <m:t> </m:t>
                    </m:r>
                  </m:oMath>
                </a14:m>
                <a:r>
                  <a:rPr lang="zh-CN" altLang="en-US" sz="2600" b="1" dirty="0">
                    <a:solidFill>
                      <a:schemeClr val="tx1"/>
                    </a:solidFill>
                    <a:latin typeface="宋体" panose="02010600030101010101" pitchFamily="2" charset="-122"/>
                    <a:ea typeface="宋体" panose="02010600030101010101" pitchFamily="2" charset="-122"/>
                  </a:rPr>
                  <a:t>。则</a:t>
                </a:r>
              </a:p>
              <a:p>
                <a:pPr marL="0" indent="444500" algn="r">
                  <a:lnSpc>
                    <a:spcPct val="110000"/>
                  </a:lnSpc>
                  <a:spcBef>
                    <a:spcPts val="12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（1） </a:t>
                </a:r>
                <a14:m>
                  <m:oMath xmlns:m="http://schemas.openxmlformats.org/officeDocument/2006/math">
                    <m:r>
                      <a:rPr lang="en-US" altLang="zh-CN" sz="2800" b="1" i="1" smtClean="0">
                        <a:solidFill>
                          <a:schemeClr val="tx1"/>
                        </a:solidFill>
                        <a:latin typeface="Cambria Math" panose="02040503050406030204" pitchFamily="18" charset="0"/>
                      </a:rPr>
                      <m:t>𝒁</m:t>
                    </m:r>
                    <m:r>
                      <a:rPr lang="en-US" altLang="zh-CN" sz="2800" b="1" i="1" smtClean="0">
                        <a:solidFill>
                          <a:schemeClr val="tx1"/>
                        </a:solidFill>
                        <a:latin typeface="Cambria Math" panose="02040503050406030204" pitchFamily="18" charset="0"/>
                      </a:rPr>
                      <m:t>=</m:t>
                    </m:r>
                    <m:f>
                      <m:fPr>
                        <m:ctrlPr>
                          <a:rPr lang="en-US" altLang="zh-CN" sz="2800" b="1" i="1" smtClean="0">
                            <a:solidFill>
                              <a:schemeClr val="tx1"/>
                            </a:solidFill>
                            <a:latin typeface="Cambria Math" panose="02040503050406030204" pitchFamily="18" charset="0"/>
                          </a:rPr>
                        </m:ctrlPr>
                      </m:fPr>
                      <m:num>
                        <m:acc>
                          <m:accPr>
                            <m:chr m:val="̅"/>
                            <m:ctrlPr>
                              <a:rPr lang="en-US" altLang="zh-CN" sz="2800" b="1" i="1" smtClean="0">
                                <a:solidFill>
                                  <a:schemeClr val="tx1"/>
                                </a:solidFill>
                                <a:latin typeface="Cambria Math" panose="02040503050406030204" pitchFamily="18" charset="0"/>
                              </a:rPr>
                            </m:ctrlPr>
                          </m:accPr>
                          <m:e>
                            <m:r>
                              <a:rPr lang="en-US" altLang="zh-CN" sz="2800" b="1" i="1" smtClean="0">
                                <a:solidFill>
                                  <a:schemeClr val="tx1"/>
                                </a:solidFill>
                                <a:latin typeface="Cambria Math" panose="02040503050406030204" pitchFamily="18" charset="0"/>
                              </a:rPr>
                              <m:t>𝑿</m:t>
                            </m:r>
                          </m:e>
                        </m:acc>
                        <m:r>
                          <a:rPr lang="en-US" altLang="zh-CN" sz="2800" b="1" i="1" smtClean="0">
                            <a:solidFill>
                              <a:schemeClr val="tx1"/>
                            </a:solidFill>
                            <a:latin typeface="Cambria Math" panose="02040503050406030204" pitchFamily="18" charset="0"/>
                          </a:rPr>
                          <m:t>−</m:t>
                        </m:r>
                        <m:acc>
                          <m:accPr>
                            <m:chr m:val="̅"/>
                            <m:ctrlPr>
                              <a:rPr lang="en-US" altLang="zh-CN" sz="2800" b="1" i="1">
                                <a:solidFill>
                                  <a:schemeClr val="tx1"/>
                                </a:solidFill>
                                <a:latin typeface="Cambria Math" panose="02040503050406030204" pitchFamily="18" charset="0"/>
                              </a:rPr>
                            </m:ctrlPr>
                          </m:accPr>
                          <m:e>
                            <m:r>
                              <a:rPr lang="en-US" altLang="zh-CN" sz="2800" b="1" i="1" smtClean="0">
                                <a:solidFill>
                                  <a:schemeClr val="tx1"/>
                                </a:solidFill>
                                <a:latin typeface="Cambria Math" panose="02040503050406030204" pitchFamily="18" charset="0"/>
                              </a:rPr>
                              <m:t>𝒀</m:t>
                            </m:r>
                          </m:e>
                        </m:acc>
                        <m:r>
                          <a:rPr lang="en-US" altLang="zh-CN" sz="2800" b="1" i="1" smtClean="0">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𝒖</m:t>
                            </m:r>
                          </m:e>
                          <m:sub>
                            <m:r>
                              <a:rPr lang="en-US" altLang="zh-CN" sz="2800" b="1" i="1">
                                <a:solidFill>
                                  <a:schemeClr val="tx1"/>
                                </a:solidFill>
                                <a:latin typeface="Cambria Math" panose="02040503050406030204" pitchFamily="18" charset="0"/>
                              </a:rPr>
                              <m:t>𝟏</m:t>
                            </m:r>
                          </m:sub>
                        </m:sSub>
                        <m:r>
                          <a:rPr lang="en-US" altLang="zh-CN" sz="2800" b="1" i="1" smtClean="0">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𝒖</m:t>
                            </m:r>
                          </m:e>
                          <m:sub>
                            <m:r>
                              <a:rPr lang="en-US" altLang="zh-CN" sz="2800" b="1" i="1">
                                <a:solidFill>
                                  <a:schemeClr val="tx1"/>
                                </a:solidFill>
                                <a:latin typeface="Cambria Math" panose="02040503050406030204" pitchFamily="18" charset="0"/>
                              </a:rPr>
                              <m:t>𝟐</m:t>
                            </m:r>
                          </m:sub>
                        </m:sSub>
                        <m:r>
                          <a:rPr lang="en-US" altLang="zh-CN" sz="2800" b="1" i="1" smtClean="0">
                            <a:solidFill>
                              <a:schemeClr val="tx1"/>
                            </a:solidFill>
                            <a:latin typeface="Cambria Math" panose="02040503050406030204" pitchFamily="18" charset="0"/>
                          </a:rPr>
                          <m:t>)</m:t>
                        </m:r>
                      </m:num>
                      <m:den>
                        <m:rad>
                          <m:radPr>
                            <m:degHide m:val="on"/>
                            <m:ctrlPr>
                              <a:rPr lang="en-US" altLang="zh-CN" sz="2800" b="1" i="1" smtClean="0">
                                <a:solidFill>
                                  <a:schemeClr val="tx1"/>
                                </a:solidFill>
                                <a:latin typeface="Cambria Math" panose="02040503050406030204" pitchFamily="18" charset="0"/>
                              </a:rPr>
                            </m:ctrlPr>
                          </m:radPr>
                          <m:deg/>
                          <m:e>
                            <m:f>
                              <m:fPr>
                                <m:ctrlPr>
                                  <a:rPr lang="en-US" altLang="zh-CN" sz="2800" b="1" i="1" smtClean="0">
                                    <a:solidFill>
                                      <a:schemeClr val="tx1"/>
                                    </a:solidFill>
                                    <a:latin typeface="Cambria Math" panose="02040503050406030204" pitchFamily="18" charset="0"/>
                                  </a:rPr>
                                </m:ctrlPr>
                              </m:fPr>
                              <m:num>
                                <m:sSubSup>
                                  <m:sSubSupPr>
                                    <m:ctrlPr>
                                      <a:rPr lang="en-US" altLang="zh-CN" sz="2800" b="1" i="1" dirty="0">
                                        <a:solidFill>
                                          <a:schemeClr val="tx1"/>
                                        </a:solidFill>
                                        <a:latin typeface="Cambria Math" panose="02040503050406030204" pitchFamily="18" charset="0"/>
                                      </a:rPr>
                                    </m:ctrlPr>
                                  </m:sSubSupPr>
                                  <m:e>
                                    <m:r>
                                      <a:rPr lang="zh-CN" altLang="en-US" sz="2800" b="1" i="1" dirty="0">
                                        <a:solidFill>
                                          <a:schemeClr val="tx1"/>
                                        </a:solidFill>
                                        <a:latin typeface="Cambria Math" panose="02040503050406030204" pitchFamily="18" charset="0"/>
                                      </a:rPr>
                                      <m:t>𝝈</m:t>
                                    </m:r>
                                  </m:e>
                                  <m:sub>
                                    <m:r>
                                      <a:rPr lang="en-US" altLang="zh-CN" sz="2800" b="1" i="1" dirty="0">
                                        <a:solidFill>
                                          <a:schemeClr val="tx1"/>
                                        </a:solidFill>
                                        <a:latin typeface="Cambria Math" panose="02040503050406030204" pitchFamily="18" charset="0"/>
                                      </a:rPr>
                                      <m:t>𝟏</m:t>
                                    </m:r>
                                  </m:sub>
                                  <m:sup>
                                    <m:r>
                                      <a:rPr lang="en-US" altLang="zh-CN" sz="2800" b="1" i="1" dirty="0">
                                        <a:solidFill>
                                          <a:schemeClr val="tx1"/>
                                        </a:solidFill>
                                        <a:latin typeface="Cambria Math" panose="02040503050406030204" pitchFamily="18" charset="0"/>
                                      </a:rPr>
                                      <m:t>𝟐</m:t>
                                    </m:r>
                                  </m:sup>
                                </m:sSubSup>
                              </m:num>
                              <m:den>
                                <m:sSub>
                                  <m:sSubPr>
                                    <m:ctrlPr>
                                      <a:rPr lang="en-US" altLang="zh-CN" sz="2800" b="1" i="1">
                                        <a:solidFill>
                                          <a:schemeClr val="tx1"/>
                                        </a:solidFill>
                                        <a:latin typeface="Cambria Math" panose="02040503050406030204" pitchFamily="18" charset="0"/>
                                      </a:rPr>
                                    </m:ctrlPr>
                                  </m:sSubPr>
                                  <m:e>
                                    <m:r>
                                      <a:rPr lang="en-US" altLang="zh-CN" sz="2800" b="1" i="1" smtClean="0">
                                        <a:solidFill>
                                          <a:schemeClr val="tx1"/>
                                        </a:solidFill>
                                        <a:latin typeface="Cambria Math" panose="02040503050406030204" pitchFamily="18" charset="0"/>
                                      </a:rPr>
                                      <m:t>𝒏</m:t>
                                    </m:r>
                                  </m:e>
                                  <m:sub>
                                    <m:r>
                                      <a:rPr lang="en-US" altLang="zh-CN" sz="2800" b="1" i="1">
                                        <a:solidFill>
                                          <a:schemeClr val="tx1"/>
                                        </a:solidFill>
                                        <a:latin typeface="Cambria Math" panose="02040503050406030204" pitchFamily="18" charset="0"/>
                                      </a:rPr>
                                      <m:t>𝟏</m:t>
                                    </m:r>
                                  </m:sub>
                                </m:sSub>
                              </m:den>
                            </m:f>
                            <m:r>
                              <a:rPr lang="en-US" altLang="zh-CN" sz="2800" b="1" i="1" smtClean="0">
                                <a:solidFill>
                                  <a:schemeClr val="tx1"/>
                                </a:solidFill>
                                <a:latin typeface="Cambria Math" panose="02040503050406030204" pitchFamily="18" charset="0"/>
                              </a:rPr>
                              <m:t>+</m:t>
                            </m:r>
                            <m:f>
                              <m:fPr>
                                <m:ctrlPr>
                                  <a:rPr lang="en-US" altLang="zh-CN" sz="2800" b="1" i="1">
                                    <a:solidFill>
                                      <a:schemeClr val="tx1"/>
                                    </a:solidFill>
                                    <a:latin typeface="Cambria Math" panose="02040503050406030204" pitchFamily="18" charset="0"/>
                                  </a:rPr>
                                </m:ctrlPr>
                              </m:fPr>
                              <m:num>
                                <m:sSubSup>
                                  <m:sSubSupPr>
                                    <m:ctrlPr>
                                      <a:rPr lang="en-US" altLang="zh-CN" sz="2800" b="1" i="1" dirty="0">
                                        <a:solidFill>
                                          <a:schemeClr val="tx1"/>
                                        </a:solidFill>
                                        <a:latin typeface="Cambria Math" panose="02040503050406030204" pitchFamily="18" charset="0"/>
                                      </a:rPr>
                                    </m:ctrlPr>
                                  </m:sSubSupPr>
                                  <m:e>
                                    <m:r>
                                      <a:rPr lang="zh-CN" altLang="en-US" sz="2800" b="1" i="1" dirty="0">
                                        <a:solidFill>
                                          <a:schemeClr val="tx1"/>
                                        </a:solidFill>
                                        <a:latin typeface="Cambria Math" panose="02040503050406030204" pitchFamily="18" charset="0"/>
                                      </a:rPr>
                                      <m:t>𝝈</m:t>
                                    </m:r>
                                  </m:e>
                                  <m:sub>
                                    <m:r>
                                      <a:rPr lang="en-US" altLang="zh-CN" sz="2800" b="1" i="1" dirty="0">
                                        <a:solidFill>
                                          <a:schemeClr val="tx1"/>
                                        </a:solidFill>
                                        <a:latin typeface="Cambria Math" panose="02040503050406030204" pitchFamily="18" charset="0"/>
                                      </a:rPr>
                                      <m:t>𝟐</m:t>
                                    </m:r>
                                  </m:sub>
                                  <m:sup>
                                    <m:r>
                                      <a:rPr lang="en-US" altLang="zh-CN" sz="2800" b="1" i="1" dirty="0">
                                        <a:solidFill>
                                          <a:schemeClr val="tx1"/>
                                        </a:solidFill>
                                        <a:latin typeface="Cambria Math" panose="02040503050406030204" pitchFamily="18" charset="0"/>
                                      </a:rPr>
                                      <m:t>𝟐</m:t>
                                    </m:r>
                                  </m:sup>
                                </m:sSubSup>
                              </m:num>
                              <m:den>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𝒏</m:t>
                                    </m:r>
                                  </m:e>
                                  <m:sub>
                                    <m:r>
                                      <a:rPr lang="en-US" altLang="zh-CN" sz="2800" b="1" i="1">
                                        <a:solidFill>
                                          <a:schemeClr val="tx1"/>
                                        </a:solidFill>
                                        <a:latin typeface="Cambria Math" panose="02040503050406030204" pitchFamily="18" charset="0"/>
                                      </a:rPr>
                                      <m:t>𝟐</m:t>
                                    </m:r>
                                  </m:sub>
                                </m:sSub>
                              </m:den>
                            </m:f>
                          </m:e>
                        </m:rad>
                      </m:den>
                    </m:f>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𝑵</m:t>
                    </m:r>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𝟎</m:t>
                    </m:r>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𝟏</m:t>
                    </m:r>
                    <m:r>
                      <a:rPr lang="en-US" altLang="zh-CN" sz="2800" b="1" i="1" smtClean="0">
                        <a:solidFill>
                          <a:schemeClr val="tx1"/>
                        </a:solidFill>
                        <a:latin typeface="Cambria Math" panose="02040503050406030204" pitchFamily="18" charset="0"/>
                      </a:rPr>
                      <m:t>)</m:t>
                    </m:r>
                  </m:oMath>
                </a14:m>
                <a:r>
                  <a:rPr lang="zh-CN" altLang="en-US" sz="2800" b="1" dirty="0">
                    <a:solidFill>
                      <a:schemeClr val="tx1"/>
                    </a:solidFill>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（6-</a:t>
                </a:r>
                <a:r>
                  <a:rPr lang="en-US" altLang="zh-CN" sz="2400" dirty="0">
                    <a:solidFill>
                      <a:schemeClr val="tx1"/>
                    </a:solidFill>
                    <a:latin typeface="宋体" panose="02010600030101010101" pitchFamily="2" charset="-122"/>
                    <a:ea typeface="宋体" panose="02010600030101010101" pitchFamily="2" charset="-122"/>
                  </a:rPr>
                  <a:t>25</a:t>
                </a:r>
                <a:r>
                  <a:rPr lang="zh-CN" altLang="en-US" sz="2400" dirty="0">
                    <a:solidFill>
                      <a:schemeClr val="tx1"/>
                    </a:solidFill>
                    <a:latin typeface="宋体" panose="02010600030101010101" pitchFamily="2" charset="-122"/>
                    <a:ea typeface="宋体" panose="02010600030101010101" pitchFamily="2" charset="-122"/>
                  </a:rPr>
                  <a:t>）</a:t>
                </a:r>
              </a:p>
              <a:p>
                <a:pPr marL="0" indent="444500">
                  <a:lnSpc>
                    <a:spcPct val="110000"/>
                  </a:lnSpc>
                  <a:spcBef>
                    <a:spcPts val="1200"/>
                  </a:spcBef>
                  <a:spcAft>
                    <a:spcPts val="0"/>
                  </a:spcAft>
                  <a:buNone/>
                </a:pPr>
                <a:r>
                  <a:rPr lang="zh-CN" altLang="en-US" sz="2800" b="1" dirty="0">
                    <a:solidFill>
                      <a:schemeClr val="tx1"/>
                    </a:solidFill>
                    <a:latin typeface="宋体" panose="02010600030101010101" pitchFamily="2" charset="-122"/>
                    <a:ea typeface="宋体" panose="02010600030101010101" pitchFamily="2" charset="-122"/>
                  </a:rPr>
                  <a:t>（2）当</a:t>
                </a:r>
                <a14:m>
                  <m:oMath xmlns:m="http://schemas.openxmlformats.org/officeDocument/2006/math">
                    <m:sSubSup>
                      <m:sSubSupPr>
                        <m:ctrlPr>
                          <a:rPr lang="en-US" altLang="zh-CN" sz="2800" b="1" i="1" dirty="0">
                            <a:solidFill>
                              <a:schemeClr val="tx1"/>
                            </a:solidFill>
                            <a:latin typeface="Cambria Math" panose="02040503050406030204" pitchFamily="18" charset="0"/>
                          </a:rPr>
                        </m:ctrlPr>
                      </m:sSubSupPr>
                      <m:e>
                        <m:r>
                          <a:rPr lang="zh-CN" altLang="en-US" sz="2800" b="1" i="1" dirty="0">
                            <a:solidFill>
                              <a:schemeClr val="tx1"/>
                            </a:solidFill>
                            <a:latin typeface="Cambria Math" panose="02040503050406030204" pitchFamily="18" charset="0"/>
                          </a:rPr>
                          <m:t>𝝈</m:t>
                        </m:r>
                      </m:e>
                      <m:sub>
                        <m:r>
                          <a:rPr lang="en-US" altLang="zh-CN" sz="2800" b="1" i="1" dirty="0">
                            <a:solidFill>
                              <a:schemeClr val="tx1"/>
                            </a:solidFill>
                            <a:latin typeface="Cambria Math" panose="02040503050406030204" pitchFamily="18" charset="0"/>
                          </a:rPr>
                          <m:t>𝟏</m:t>
                        </m:r>
                      </m:sub>
                      <m:sup>
                        <m:r>
                          <a:rPr lang="en-US" altLang="zh-CN" sz="2800" b="1" i="1" dirty="0">
                            <a:solidFill>
                              <a:schemeClr val="tx1"/>
                            </a:solidFill>
                            <a:latin typeface="Cambria Math" panose="02040503050406030204" pitchFamily="18" charset="0"/>
                          </a:rPr>
                          <m:t>𝟐</m:t>
                        </m:r>
                      </m:sup>
                    </m:sSubSup>
                    <m:r>
                      <a:rPr lang="en-US" altLang="zh-CN" sz="2800" b="1" i="1" dirty="0" smtClean="0">
                        <a:solidFill>
                          <a:schemeClr val="tx1"/>
                        </a:solidFill>
                        <a:latin typeface="Cambria Math" panose="02040503050406030204" pitchFamily="18" charset="0"/>
                      </a:rPr>
                      <m:t>=</m:t>
                    </m:r>
                  </m:oMath>
                </a14:m>
                <a:r>
                  <a:rPr lang="en-US" altLang="zh-CN" sz="2800" b="1" dirty="0">
                    <a:solidFill>
                      <a:schemeClr val="tx1"/>
                    </a:solidFill>
                    <a:latin typeface="宋体" panose="02010600030101010101" pitchFamily="2" charset="-122"/>
                    <a:ea typeface="宋体" panose="02010600030101010101" pitchFamily="2" charset="-122"/>
                  </a:rPr>
                  <a:t> </a:t>
                </a:r>
                <a14:m>
                  <m:oMath xmlns:m="http://schemas.openxmlformats.org/officeDocument/2006/math">
                    <m:sSubSup>
                      <m:sSubSupPr>
                        <m:ctrlPr>
                          <a:rPr lang="en-US" altLang="zh-CN" sz="2800" b="1" i="1" dirty="0">
                            <a:solidFill>
                              <a:schemeClr val="tx1"/>
                            </a:solidFill>
                            <a:latin typeface="Cambria Math" panose="02040503050406030204" pitchFamily="18" charset="0"/>
                          </a:rPr>
                        </m:ctrlPr>
                      </m:sSubSupPr>
                      <m:e>
                        <m:r>
                          <a:rPr lang="zh-CN" altLang="en-US" sz="2800" b="1" i="1" dirty="0">
                            <a:solidFill>
                              <a:schemeClr val="tx1"/>
                            </a:solidFill>
                            <a:latin typeface="Cambria Math" panose="02040503050406030204" pitchFamily="18" charset="0"/>
                          </a:rPr>
                          <m:t>𝝈</m:t>
                        </m:r>
                      </m:e>
                      <m:sub>
                        <m:r>
                          <a:rPr lang="en-US" altLang="zh-CN" sz="2800" b="1" i="1" dirty="0">
                            <a:solidFill>
                              <a:schemeClr val="tx1"/>
                            </a:solidFill>
                            <a:latin typeface="Cambria Math" panose="02040503050406030204" pitchFamily="18" charset="0"/>
                          </a:rPr>
                          <m:t>𝟐</m:t>
                        </m:r>
                      </m:sub>
                      <m:sup>
                        <m:r>
                          <a:rPr lang="en-US" altLang="zh-CN" sz="2800" b="1" i="1" dirty="0">
                            <a:solidFill>
                              <a:schemeClr val="tx1"/>
                            </a:solidFill>
                            <a:latin typeface="Cambria Math" panose="02040503050406030204" pitchFamily="18" charset="0"/>
                          </a:rPr>
                          <m:t>𝟐</m:t>
                        </m:r>
                      </m:sup>
                    </m:sSubSup>
                    <m:r>
                      <a:rPr lang="en-US" altLang="zh-CN" sz="2800" b="1" i="1" dirty="0">
                        <a:solidFill>
                          <a:schemeClr val="tx1"/>
                        </a:solidFill>
                        <a:latin typeface="Cambria Math" panose="02040503050406030204" pitchFamily="18" charset="0"/>
                      </a:rPr>
                      <m:t> </m:t>
                    </m:r>
                  </m:oMath>
                </a14:m>
                <a:r>
                  <a:rPr lang="zh-CN" altLang="en-US" sz="2800" b="1" dirty="0">
                    <a:solidFill>
                      <a:schemeClr val="tx1"/>
                    </a:solidFill>
                    <a:latin typeface="宋体" panose="02010600030101010101" pitchFamily="2" charset="-122"/>
                    <a:ea typeface="宋体" panose="02010600030101010101" pitchFamily="2" charset="-122"/>
                  </a:rPr>
                  <a:t>，则</a:t>
                </a:r>
              </a:p>
              <a:p>
                <a:pPr marL="0" indent="265113" algn="r">
                  <a:lnSpc>
                    <a:spcPct val="110000"/>
                  </a:lnSpc>
                  <a:spcBef>
                    <a:spcPts val="1200"/>
                  </a:spcBef>
                  <a:spcAft>
                    <a:spcPts val="0"/>
                  </a:spcAft>
                  <a:buNone/>
                </a:pPr>
                <a14:m>
                  <m:oMath xmlns:m="http://schemas.openxmlformats.org/officeDocument/2006/math">
                    <m:r>
                      <a:rPr lang="en-US" altLang="zh-CN" sz="2800" b="1" i="1" smtClean="0">
                        <a:solidFill>
                          <a:schemeClr val="tx1"/>
                        </a:solidFill>
                        <a:latin typeface="Cambria Math" panose="02040503050406030204" pitchFamily="18" charset="0"/>
                      </a:rPr>
                      <m:t>𝒕</m:t>
                    </m:r>
                    <m:r>
                      <a:rPr lang="en-US" altLang="zh-CN" sz="2800" b="1" i="1" smtClean="0">
                        <a:solidFill>
                          <a:schemeClr val="tx1"/>
                        </a:solidFill>
                        <a:latin typeface="Cambria Math" panose="02040503050406030204" pitchFamily="18" charset="0"/>
                      </a:rPr>
                      <m:t>=</m:t>
                    </m:r>
                    <m:f>
                      <m:fPr>
                        <m:ctrlPr>
                          <a:rPr lang="en-US" altLang="zh-CN" sz="2800" b="1" i="1">
                            <a:solidFill>
                              <a:schemeClr val="tx1"/>
                            </a:solidFill>
                            <a:latin typeface="Cambria Math" panose="02040503050406030204" pitchFamily="18" charset="0"/>
                          </a:rPr>
                        </m:ctrlPr>
                      </m:fPr>
                      <m:num>
                        <m:acc>
                          <m:accPr>
                            <m:chr m:val="̅"/>
                            <m:ctrlPr>
                              <a:rPr lang="en-US"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𝑿</m:t>
                            </m:r>
                          </m:e>
                        </m:acc>
                        <m:r>
                          <a:rPr lang="en-US" altLang="zh-CN" sz="2800" b="1" i="1">
                            <a:solidFill>
                              <a:schemeClr val="tx1"/>
                            </a:solidFill>
                            <a:latin typeface="Cambria Math" panose="02040503050406030204" pitchFamily="18" charset="0"/>
                          </a:rPr>
                          <m:t>−</m:t>
                        </m:r>
                        <m:acc>
                          <m:accPr>
                            <m:chr m:val="̅"/>
                            <m:ctrlPr>
                              <a:rPr lang="en-US"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𝒀</m:t>
                            </m:r>
                          </m:e>
                        </m:acc>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𝒖</m:t>
                            </m:r>
                          </m:e>
                          <m:sub>
                            <m:r>
                              <a:rPr lang="en-US" altLang="zh-CN" sz="2800" b="1" i="1">
                                <a:solidFill>
                                  <a:schemeClr val="tx1"/>
                                </a:solidFill>
                                <a:latin typeface="Cambria Math" panose="02040503050406030204" pitchFamily="18" charset="0"/>
                              </a:rPr>
                              <m:t>𝟏</m:t>
                            </m:r>
                          </m:sub>
                        </m:sSub>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𝒖</m:t>
                            </m:r>
                          </m:e>
                          <m:sub>
                            <m:r>
                              <a:rPr lang="en-US" altLang="zh-CN" sz="2800" b="1" i="1">
                                <a:solidFill>
                                  <a:schemeClr val="tx1"/>
                                </a:solidFill>
                                <a:latin typeface="Cambria Math" panose="02040503050406030204" pitchFamily="18" charset="0"/>
                              </a:rPr>
                              <m:t>𝟐</m:t>
                            </m:r>
                          </m:sub>
                        </m:sSub>
                        <m:r>
                          <a:rPr lang="en-US" altLang="zh-CN" sz="2800" b="1" i="1">
                            <a:solidFill>
                              <a:schemeClr val="tx1"/>
                            </a:solidFill>
                            <a:latin typeface="Cambria Math" panose="02040503050406030204" pitchFamily="18" charset="0"/>
                          </a:rPr>
                          <m:t>)</m:t>
                        </m:r>
                      </m:num>
                      <m:den>
                        <m:sSub>
                          <m:sSubPr>
                            <m:ctrlPr>
                              <a:rPr lang="en-US" altLang="zh-CN" sz="2800" b="1" i="1" smtClean="0">
                                <a:solidFill>
                                  <a:schemeClr val="tx1"/>
                                </a:solidFill>
                                <a:latin typeface="Cambria Math" panose="02040503050406030204" pitchFamily="18" charset="0"/>
                              </a:rPr>
                            </m:ctrlPr>
                          </m:sSubPr>
                          <m:e>
                            <m:r>
                              <a:rPr lang="en-US" altLang="zh-CN" sz="2800" b="1" i="1" smtClean="0">
                                <a:solidFill>
                                  <a:schemeClr val="tx1"/>
                                </a:solidFill>
                                <a:latin typeface="Cambria Math" panose="02040503050406030204" pitchFamily="18" charset="0"/>
                              </a:rPr>
                              <m:t>𝑺</m:t>
                            </m:r>
                          </m:e>
                          <m:sub>
                            <m:r>
                              <a:rPr lang="en-US" altLang="zh-CN" sz="2800" b="1" i="1" smtClean="0">
                                <a:solidFill>
                                  <a:schemeClr val="tx1"/>
                                </a:solidFill>
                                <a:latin typeface="Cambria Math" panose="02040503050406030204" pitchFamily="18" charset="0"/>
                              </a:rPr>
                              <m:t>𝒘</m:t>
                            </m:r>
                          </m:sub>
                        </m:sSub>
                        <m:rad>
                          <m:radPr>
                            <m:degHide m:val="on"/>
                            <m:ctrlPr>
                              <a:rPr lang="en-US" altLang="zh-CN" sz="2800" b="1" i="1">
                                <a:solidFill>
                                  <a:schemeClr val="tx1"/>
                                </a:solidFill>
                                <a:latin typeface="Cambria Math" panose="02040503050406030204" pitchFamily="18" charset="0"/>
                              </a:rPr>
                            </m:ctrlPr>
                          </m:radPr>
                          <m:deg/>
                          <m:e>
                            <m:f>
                              <m:fPr>
                                <m:ctrlPr>
                                  <a:rPr lang="en-US" altLang="zh-CN" sz="2800" b="1" i="1">
                                    <a:solidFill>
                                      <a:schemeClr val="tx1"/>
                                    </a:solidFill>
                                    <a:latin typeface="Cambria Math" panose="02040503050406030204" pitchFamily="18" charset="0"/>
                                  </a:rPr>
                                </m:ctrlPr>
                              </m:fPr>
                              <m:num>
                                <m:r>
                                  <a:rPr lang="en-US" altLang="zh-CN" sz="2800" b="1" i="1" dirty="0" smtClean="0">
                                    <a:solidFill>
                                      <a:schemeClr val="tx1"/>
                                    </a:solidFill>
                                    <a:latin typeface="Cambria Math" panose="02040503050406030204" pitchFamily="18" charset="0"/>
                                  </a:rPr>
                                  <m:t>𝟏</m:t>
                                </m:r>
                              </m:num>
                              <m:den>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𝒏</m:t>
                                    </m:r>
                                  </m:e>
                                  <m:sub>
                                    <m:r>
                                      <a:rPr lang="en-US" altLang="zh-CN" sz="2800" b="1" i="1">
                                        <a:solidFill>
                                          <a:schemeClr val="tx1"/>
                                        </a:solidFill>
                                        <a:latin typeface="Cambria Math" panose="02040503050406030204" pitchFamily="18" charset="0"/>
                                      </a:rPr>
                                      <m:t>𝟏</m:t>
                                    </m:r>
                                  </m:sub>
                                </m:sSub>
                              </m:den>
                            </m:f>
                            <m:r>
                              <a:rPr lang="en-US" altLang="zh-CN" sz="2800" b="1" i="1">
                                <a:solidFill>
                                  <a:schemeClr val="tx1"/>
                                </a:solidFill>
                                <a:latin typeface="Cambria Math" panose="02040503050406030204" pitchFamily="18" charset="0"/>
                              </a:rPr>
                              <m:t>+</m:t>
                            </m:r>
                            <m:f>
                              <m:fPr>
                                <m:ctrlPr>
                                  <a:rPr lang="en-US" altLang="zh-CN" sz="2800" b="1" i="1">
                                    <a:solidFill>
                                      <a:schemeClr val="tx1"/>
                                    </a:solidFill>
                                    <a:latin typeface="Cambria Math" panose="02040503050406030204" pitchFamily="18" charset="0"/>
                                  </a:rPr>
                                </m:ctrlPr>
                              </m:fPr>
                              <m:num>
                                <m:r>
                                  <a:rPr lang="en-US" altLang="zh-CN" sz="2800" b="1" i="1" dirty="0" smtClean="0">
                                    <a:solidFill>
                                      <a:schemeClr val="tx1"/>
                                    </a:solidFill>
                                    <a:latin typeface="Cambria Math" panose="02040503050406030204" pitchFamily="18" charset="0"/>
                                  </a:rPr>
                                  <m:t>𝟏</m:t>
                                </m:r>
                              </m:num>
                              <m:den>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𝒏</m:t>
                                    </m:r>
                                  </m:e>
                                  <m:sub>
                                    <m:r>
                                      <a:rPr lang="en-US" altLang="zh-CN" sz="2800" b="1" i="1">
                                        <a:solidFill>
                                          <a:schemeClr val="tx1"/>
                                        </a:solidFill>
                                        <a:latin typeface="Cambria Math" panose="02040503050406030204" pitchFamily="18" charset="0"/>
                                      </a:rPr>
                                      <m:t>𝟐</m:t>
                                    </m:r>
                                  </m:sub>
                                </m:sSub>
                              </m:den>
                            </m:f>
                          </m:e>
                        </m:rad>
                      </m:den>
                    </m:f>
                    <m:r>
                      <a:rPr lang="en-US" altLang="zh-CN" sz="2800" b="1" i="1">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𝒕</m:t>
                    </m:r>
                    <m:r>
                      <a:rPr lang="en-US" altLang="zh-CN" sz="2800" b="1" i="1">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smtClean="0">
                            <a:solidFill>
                              <a:schemeClr val="tx1"/>
                            </a:solidFill>
                            <a:latin typeface="Cambria Math" panose="02040503050406030204" pitchFamily="18" charset="0"/>
                          </a:rPr>
                          <m:t>𝒏</m:t>
                        </m:r>
                      </m:e>
                      <m:sub>
                        <m:r>
                          <a:rPr lang="en-US" altLang="zh-CN" sz="2800" b="1" i="1">
                            <a:solidFill>
                              <a:schemeClr val="tx1"/>
                            </a:solidFill>
                            <a:latin typeface="Cambria Math" panose="02040503050406030204" pitchFamily="18" charset="0"/>
                          </a:rPr>
                          <m:t>𝟏</m:t>
                        </m:r>
                      </m:sub>
                    </m:sSub>
                    <m:r>
                      <a:rPr lang="en-US" altLang="zh-CN" sz="2800" b="1" i="1" smtClean="0">
                        <a:solidFill>
                          <a:schemeClr val="tx1"/>
                        </a:solidFill>
                        <a:latin typeface="Cambria Math" panose="02040503050406030204" pitchFamily="18" charset="0"/>
                      </a:rPr>
                      <m:t>+</m:t>
                    </m:r>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𝒏</m:t>
                        </m:r>
                      </m:e>
                      <m:sub>
                        <m:r>
                          <a:rPr lang="en-US" altLang="zh-CN" sz="2800" b="1" i="1" smtClean="0">
                            <a:solidFill>
                              <a:schemeClr val="tx1"/>
                            </a:solidFill>
                            <a:latin typeface="Cambria Math" panose="02040503050406030204" pitchFamily="18" charset="0"/>
                          </a:rPr>
                          <m:t>𝟐</m:t>
                        </m:r>
                      </m:sub>
                    </m:sSub>
                    <m:r>
                      <a:rPr lang="en-US" altLang="zh-CN" sz="2800" b="1" i="1" smtClean="0">
                        <a:solidFill>
                          <a:schemeClr val="tx1"/>
                        </a:solidFill>
                        <a:latin typeface="Cambria Math" panose="02040503050406030204" pitchFamily="18" charset="0"/>
                      </a:rPr>
                      <m:t>−</m:t>
                    </m:r>
                    <m:r>
                      <a:rPr lang="en-US" altLang="zh-CN" sz="2800" b="1" i="1" smtClean="0">
                        <a:solidFill>
                          <a:schemeClr val="tx1"/>
                        </a:solidFill>
                        <a:latin typeface="Cambria Math" panose="02040503050406030204" pitchFamily="18" charset="0"/>
                      </a:rPr>
                      <m:t>𝟏</m:t>
                    </m:r>
                    <m:r>
                      <a:rPr lang="en-US" altLang="zh-CN" sz="2800" b="1" i="1">
                        <a:solidFill>
                          <a:schemeClr val="tx1"/>
                        </a:solidFill>
                        <a:latin typeface="Cambria Math" panose="02040503050406030204" pitchFamily="18" charset="0"/>
                      </a:rPr>
                      <m:t>)</m:t>
                    </m:r>
                  </m:oMath>
                </a14:m>
                <a:r>
                  <a:rPr lang="zh-CN" altLang="en-US" sz="2800" b="1" dirty="0">
                    <a:solidFill>
                      <a:schemeClr val="tx1"/>
                    </a:solidFill>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（6-</a:t>
                </a:r>
                <a:r>
                  <a:rPr lang="en-US" altLang="zh-CN" sz="2400" dirty="0">
                    <a:solidFill>
                      <a:schemeClr val="tx1"/>
                    </a:solidFill>
                    <a:latin typeface="宋体" panose="02010600030101010101" pitchFamily="2" charset="-122"/>
                    <a:ea typeface="宋体" panose="02010600030101010101" pitchFamily="2" charset="-122"/>
                  </a:rPr>
                  <a:t>26</a:t>
                </a:r>
                <a:r>
                  <a:rPr lang="zh-CN" altLang="en-US" sz="2400" dirty="0">
                    <a:solidFill>
                      <a:schemeClr val="tx1"/>
                    </a:solidFill>
                    <a:latin typeface="宋体" panose="02010600030101010101" pitchFamily="2" charset="-122"/>
                    <a:ea typeface="宋体" panose="02010600030101010101" pitchFamily="2" charset="-122"/>
                  </a:rPr>
                  <a:t>）</a:t>
                </a:r>
              </a:p>
              <a:p>
                <a:pPr marL="0" indent="720000" algn="r">
                  <a:spcBef>
                    <a:spcPts val="0"/>
                  </a:spcBef>
                  <a:spcAft>
                    <a:spcPts val="0"/>
                  </a:spcAft>
                  <a:buNone/>
                </a:pPr>
                <a:r>
                  <a:rPr lang="en-US" altLang="zh-CN" sz="2800" b="1" dirty="0">
                    <a:solidFill>
                      <a:schemeClr val="tx1"/>
                    </a:solidFill>
                    <a:latin typeface="宋体" panose="02010600030101010101" pitchFamily="2" charset="-122"/>
                    <a:ea typeface="宋体" panose="02010600030101010101" pitchFamily="2" charset="-122"/>
                  </a:rPr>
                  <a:t>     </a:t>
                </a:r>
                <a:r>
                  <a:rPr lang="zh-CN" altLang="en-US" sz="2800" b="1" dirty="0">
                    <a:solidFill>
                      <a:schemeClr val="tx1"/>
                    </a:solidFill>
                    <a:latin typeface="宋体" panose="02010600030101010101" pitchFamily="2" charset="-122"/>
                    <a:ea typeface="宋体" panose="02010600030101010101" pitchFamily="2" charset="-122"/>
                  </a:rPr>
                  <a:t>其中 </a:t>
                </a:r>
                <a14:m>
                  <m:oMath xmlns:m="http://schemas.openxmlformats.org/officeDocument/2006/math">
                    <m:sSub>
                      <m:sSubPr>
                        <m:ctrlPr>
                          <a:rPr lang="en-US" altLang="zh-CN" sz="2800" b="1" i="1" smtClean="0">
                            <a:solidFill>
                              <a:srgbClr val="7030A0"/>
                            </a:solidFill>
                            <a:latin typeface="Cambria Math" panose="02040503050406030204" pitchFamily="18" charset="0"/>
                          </a:rPr>
                        </m:ctrlPr>
                      </m:sSubPr>
                      <m:e>
                        <m:r>
                          <a:rPr lang="en-US" altLang="zh-CN" sz="2800" b="1" i="1">
                            <a:solidFill>
                              <a:srgbClr val="7030A0"/>
                            </a:solidFill>
                            <a:latin typeface="Cambria Math" panose="02040503050406030204" pitchFamily="18" charset="0"/>
                          </a:rPr>
                          <m:t>𝑺</m:t>
                        </m:r>
                      </m:e>
                      <m:sub>
                        <m:r>
                          <a:rPr lang="en-US" altLang="zh-CN" sz="2800" b="1" i="1">
                            <a:solidFill>
                              <a:srgbClr val="7030A0"/>
                            </a:solidFill>
                            <a:latin typeface="Cambria Math" panose="02040503050406030204" pitchFamily="18" charset="0"/>
                          </a:rPr>
                          <m:t>𝒘</m:t>
                        </m:r>
                      </m:sub>
                    </m:sSub>
                    <m:r>
                      <a:rPr lang="en-US" altLang="zh-CN" sz="2800" b="1" i="1" smtClean="0">
                        <a:solidFill>
                          <a:srgbClr val="7030A0"/>
                        </a:solidFill>
                        <a:latin typeface="Cambria Math" panose="02040503050406030204" pitchFamily="18" charset="0"/>
                      </a:rPr>
                      <m:t>=</m:t>
                    </m:r>
                    <m:rad>
                      <m:radPr>
                        <m:degHide m:val="on"/>
                        <m:ctrlPr>
                          <a:rPr lang="en-US" altLang="zh-CN" sz="2800" b="1" i="1" smtClean="0">
                            <a:solidFill>
                              <a:srgbClr val="7030A0"/>
                            </a:solidFill>
                            <a:latin typeface="Cambria Math" panose="02040503050406030204" pitchFamily="18" charset="0"/>
                          </a:rPr>
                        </m:ctrlPr>
                      </m:radPr>
                      <m:deg/>
                      <m:e>
                        <m:f>
                          <m:fPr>
                            <m:ctrlPr>
                              <a:rPr lang="en-US" altLang="zh-CN" sz="2800" b="1" i="1" smtClean="0">
                                <a:solidFill>
                                  <a:srgbClr val="7030A0"/>
                                </a:solidFill>
                                <a:latin typeface="Cambria Math" panose="02040503050406030204" pitchFamily="18" charset="0"/>
                              </a:rPr>
                            </m:ctrlPr>
                          </m:fPr>
                          <m:num>
                            <m:sSub>
                              <m:sSubPr>
                                <m:ctrlPr>
                                  <a:rPr lang="en-US" altLang="zh-CN" sz="2800" b="1" i="1">
                                    <a:solidFill>
                                      <a:srgbClr val="7030A0"/>
                                    </a:solidFill>
                                    <a:latin typeface="Cambria Math" panose="02040503050406030204" pitchFamily="18" charset="0"/>
                                  </a:rPr>
                                </m:ctrlPr>
                              </m:sSubPr>
                              <m:e>
                                <m:r>
                                  <a:rPr lang="en-US" altLang="zh-CN" sz="2800" b="1" i="1" smtClean="0">
                                    <a:solidFill>
                                      <a:srgbClr val="7030A0"/>
                                    </a:solidFill>
                                    <a:latin typeface="Cambria Math" panose="02040503050406030204" pitchFamily="18" charset="0"/>
                                  </a:rPr>
                                  <m:t>(</m:t>
                                </m:r>
                                <m:r>
                                  <a:rPr lang="en-US" altLang="zh-CN" sz="2800" b="1" i="1" smtClean="0">
                                    <a:solidFill>
                                      <a:srgbClr val="7030A0"/>
                                    </a:solidFill>
                                    <a:latin typeface="Cambria Math" panose="02040503050406030204" pitchFamily="18" charset="0"/>
                                  </a:rPr>
                                  <m:t>𝒏</m:t>
                                </m:r>
                              </m:e>
                              <m:sub>
                                <m:r>
                                  <a:rPr lang="en-US" altLang="zh-CN" sz="2800" b="1" i="1">
                                    <a:solidFill>
                                      <a:srgbClr val="7030A0"/>
                                    </a:solidFill>
                                    <a:latin typeface="Cambria Math" panose="02040503050406030204" pitchFamily="18" charset="0"/>
                                  </a:rPr>
                                  <m:t>𝟏</m:t>
                                </m:r>
                              </m:sub>
                            </m:sSub>
                            <m:r>
                              <a:rPr lang="en-US" altLang="zh-CN" sz="2800" b="1" i="1" smtClean="0">
                                <a:solidFill>
                                  <a:srgbClr val="7030A0"/>
                                </a:solidFill>
                                <a:latin typeface="Cambria Math" panose="02040503050406030204" pitchFamily="18" charset="0"/>
                              </a:rPr>
                              <m:t>−</m:t>
                            </m:r>
                            <m:r>
                              <a:rPr lang="en-US" altLang="zh-CN" sz="2800" b="1" i="1" smtClean="0">
                                <a:solidFill>
                                  <a:srgbClr val="7030A0"/>
                                </a:solidFill>
                                <a:latin typeface="Cambria Math" panose="02040503050406030204" pitchFamily="18" charset="0"/>
                              </a:rPr>
                              <m:t>𝟏</m:t>
                            </m:r>
                            <m:r>
                              <a:rPr lang="en-US" altLang="zh-CN" sz="2800" b="1" i="1" smtClean="0">
                                <a:solidFill>
                                  <a:srgbClr val="7030A0"/>
                                </a:solidFill>
                                <a:latin typeface="Cambria Math" panose="02040503050406030204" pitchFamily="18" charset="0"/>
                              </a:rPr>
                              <m:t>)</m:t>
                            </m:r>
                            <m:sSubSup>
                              <m:sSubSupPr>
                                <m:ctrlPr>
                                  <a:rPr lang="en-US" altLang="zh-CN" sz="2800" b="1" i="1" dirty="0">
                                    <a:solidFill>
                                      <a:srgbClr val="7030A0"/>
                                    </a:solidFill>
                                    <a:latin typeface="Cambria Math" panose="02040503050406030204" pitchFamily="18" charset="0"/>
                                  </a:rPr>
                                </m:ctrlPr>
                              </m:sSubSupPr>
                              <m:e>
                                <m:r>
                                  <a:rPr lang="en-US" altLang="zh-CN" sz="2800" b="1" i="1" dirty="0" smtClean="0">
                                    <a:solidFill>
                                      <a:srgbClr val="7030A0"/>
                                    </a:solidFill>
                                    <a:latin typeface="Cambria Math" panose="02040503050406030204" pitchFamily="18" charset="0"/>
                                  </a:rPr>
                                  <m:t>𝑺</m:t>
                                </m:r>
                              </m:e>
                              <m:sub>
                                <m:r>
                                  <a:rPr lang="en-US" altLang="zh-CN" sz="2800" b="1" i="1" dirty="0">
                                    <a:solidFill>
                                      <a:srgbClr val="7030A0"/>
                                    </a:solidFill>
                                    <a:latin typeface="Cambria Math" panose="02040503050406030204" pitchFamily="18" charset="0"/>
                                  </a:rPr>
                                  <m:t>𝟏</m:t>
                                </m:r>
                              </m:sub>
                              <m:sup>
                                <m:r>
                                  <a:rPr lang="en-US" altLang="zh-CN" sz="2800" b="1" i="1" dirty="0">
                                    <a:solidFill>
                                      <a:srgbClr val="7030A0"/>
                                    </a:solidFill>
                                    <a:latin typeface="Cambria Math" panose="02040503050406030204" pitchFamily="18" charset="0"/>
                                  </a:rPr>
                                  <m:t>𝟐</m:t>
                                </m:r>
                              </m:sup>
                            </m:sSubSup>
                            <m:r>
                              <a:rPr lang="en-US" altLang="zh-CN" sz="2800" b="1" i="1" dirty="0" smtClean="0">
                                <a:solidFill>
                                  <a:srgbClr val="7030A0"/>
                                </a:solidFill>
                                <a:latin typeface="Cambria Math" panose="02040503050406030204" pitchFamily="18" charset="0"/>
                              </a:rPr>
                              <m:t>+</m:t>
                            </m:r>
                            <m:sSub>
                              <m:sSubPr>
                                <m:ctrlPr>
                                  <a:rPr lang="en-US" altLang="zh-CN" sz="2800" b="1" i="1">
                                    <a:solidFill>
                                      <a:srgbClr val="7030A0"/>
                                    </a:solidFill>
                                    <a:latin typeface="Cambria Math" panose="02040503050406030204" pitchFamily="18" charset="0"/>
                                  </a:rPr>
                                </m:ctrlPr>
                              </m:sSubPr>
                              <m:e>
                                <m:r>
                                  <a:rPr lang="en-US" altLang="zh-CN" sz="2800" b="1" i="1">
                                    <a:solidFill>
                                      <a:srgbClr val="7030A0"/>
                                    </a:solidFill>
                                    <a:latin typeface="Cambria Math" panose="02040503050406030204" pitchFamily="18" charset="0"/>
                                  </a:rPr>
                                  <m:t>(</m:t>
                                </m:r>
                                <m:r>
                                  <a:rPr lang="en-US" altLang="zh-CN" sz="2800" b="1" i="1" smtClean="0">
                                    <a:solidFill>
                                      <a:srgbClr val="7030A0"/>
                                    </a:solidFill>
                                    <a:latin typeface="Cambria Math" panose="02040503050406030204" pitchFamily="18" charset="0"/>
                                  </a:rPr>
                                  <m:t>𝒏</m:t>
                                </m:r>
                              </m:e>
                              <m:sub>
                                <m:r>
                                  <a:rPr lang="en-US" altLang="zh-CN" sz="2800" b="1" i="1" smtClean="0">
                                    <a:solidFill>
                                      <a:srgbClr val="7030A0"/>
                                    </a:solidFill>
                                    <a:latin typeface="Cambria Math" panose="02040503050406030204" pitchFamily="18" charset="0"/>
                                  </a:rPr>
                                  <m:t>𝟐</m:t>
                                </m:r>
                              </m:sub>
                            </m:sSub>
                            <m:r>
                              <a:rPr lang="en-US" altLang="zh-CN" sz="2800" b="1" i="1">
                                <a:solidFill>
                                  <a:srgbClr val="7030A0"/>
                                </a:solidFill>
                                <a:latin typeface="Cambria Math" panose="02040503050406030204" pitchFamily="18" charset="0"/>
                              </a:rPr>
                              <m:t>−</m:t>
                            </m:r>
                            <m:r>
                              <a:rPr lang="en-US" altLang="zh-CN" sz="2800" b="1" i="1">
                                <a:solidFill>
                                  <a:srgbClr val="7030A0"/>
                                </a:solidFill>
                                <a:latin typeface="Cambria Math" panose="02040503050406030204" pitchFamily="18" charset="0"/>
                              </a:rPr>
                              <m:t>𝟏</m:t>
                            </m:r>
                            <m:r>
                              <a:rPr lang="en-US" altLang="zh-CN" sz="2800" b="1" i="1">
                                <a:solidFill>
                                  <a:srgbClr val="7030A0"/>
                                </a:solidFill>
                                <a:latin typeface="Cambria Math" panose="02040503050406030204" pitchFamily="18" charset="0"/>
                              </a:rPr>
                              <m:t>)</m:t>
                            </m:r>
                            <m:sSubSup>
                              <m:sSubSupPr>
                                <m:ctrlPr>
                                  <a:rPr lang="en-US" altLang="zh-CN" sz="2800" b="1" i="1" dirty="0">
                                    <a:solidFill>
                                      <a:srgbClr val="7030A0"/>
                                    </a:solidFill>
                                    <a:latin typeface="Cambria Math" panose="02040503050406030204" pitchFamily="18" charset="0"/>
                                  </a:rPr>
                                </m:ctrlPr>
                              </m:sSubSupPr>
                              <m:e>
                                <m:r>
                                  <a:rPr lang="en-US" altLang="zh-CN" sz="2800" b="1" i="1" dirty="0" smtClean="0">
                                    <a:solidFill>
                                      <a:srgbClr val="7030A0"/>
                                    </a:solidFill>
                                    <a:latin typeface="Cambria Math" panose="02040503050406030204" pitchFamily="18" charset="0"/>
                                  </a:rPr>
                                  <m:t>𝑺</m:t>
                                </m:r>
                              </m:e>
                              <m:sub>
                                <m:r>
                                  <a:rPr lang="en-US" altLang="zh-CN" sz="2800" b="1" i="1" dirty="0">
                                    <a:solidFill>
                                      <a:srgbClr val="7030A0"/>
                                    </a:solidFill>
                                    <a:latin typeface="Cambria Math" panose="02040503050406030204" pitchFamily="18" charset="0"/>
                                  </a:rPr>
                                  <m:t>𝟏</m:t>
                                </m:r>
                              </m:sub>
                              <m:sup>
                                <m:r>
                                  <a:rPr lang="en-US" altLang="zh-CN" sz="2800" b="1" i="1" dirty="0">
                                    <a:solidFill>
                                      <a:srgbClr val="7030A0"/>
                                    </a:solidFill>
                                    <a:latin typeface="Cambria Math" panose="02040503050406030204" pitchFamily="18" charset="0"/>
                                  </a:rPr>
                                  <m:t>𝟐</m:t>
                                </m:r>
                              </m:sup>
                            </m:sSubSup>
                          </m:num>
                          <m:den>
                            <m:sSub>
                              <m:sSubPr>
                                <m:ctrlPr>
                                  <a:rPr lang="en-US" altLang="zh-CN" sz="2800" b="1" i="1">
                                    <a:solidFill>
                                      <a:srgbClr val="7030A0"/>
                                    </a:solidFill>
                                    <a:latin typeface="Cambria Math" panose="02040503050406030204" pitchFamily="18" charset="0"/>
                                  </a:rPr>
                                </m:ctrlPr>
                              </m:sSubPr>
                              <m:e>
                                <m:r>
                                  <a:rPr lang="en-US" altLang="zh-CN" sz="2800" b="1" i="1" smtClean="0">
                                    <a:solidFill>
                                      <a:srgbClr val="7030A0"/>
                                    </a:solidFill>
                                    <a:latin typeface="Cambria Math" panose="02040503050406030204" pitchFamily="18" charset="0"/>
                                  </a:rPr>
                                  <m:t>𝒏</m:t>
                                </m:r>
                              </m:e>
                              <m:sub>
                                <m:r>
                                  <a:rPr lang="en-US" altLang="zh-CN" sz="2800" b="1" i="1">
                                    <a:solidFill>
                                      <a:srgbClr val="7030A0"/>
                                    </a:solidFill>
                                    <a:latin typeface="Cambria Math" panose="02040503050406030204" pitchFamily="18" charset="0"/>
                                  </a:rPr>
                                  <m:t>𝟏</m:t>
                                </m:r>
                              </m:sub>
                            </m:sSub>
                            <m:r>
                              <a:rPr lang="en-US" altLang="zh-CN" sz="2800" b="1" i="1" smtClean="0">
                                <a:solidFill>
                                  <a:srgbClr val="7030A0"/>
                                </a:solidFill>
                                <a:latin typeface="Cambria Math" panose="02040503050406030204" pitchFamily="18" charset="0"/>
                              </a:rPr>
                              <m:t>+</m:t>
                            </m:r>
                            <m:sSub>
                              <m:sSubPr>
                                <m:ctrlPr>
                                  <a:rPr lang="en-US" altLang="zh-CN" sz="2800" b="1" i="1">
                                    <a:solidFill>
                                      <a:srgbClr val="7030A0"/>
                                    </a:solidFill>
                                    <a:latin typeface="Cambria Math" panose="02040503050406030204" pitchFamily="18" charset="0"/>
                                  </a:rPr>
                                </m:ctrlPr>
                              </m:sSubPr>
                              <m:e>
                                <m:r>
                                  <a:rPr lang="en-US" altLang="zh-CN" sz="2800" b="1" i="1" smtClean="0">
                                    <a:solidFill>
                                      <a:srgbClr val="7030A0"/>
                                    </a:solidFill>
                                    <a:latin typeface="Cambria Math" panose="02040503050406030204" pitchFamily="18" charset="0"/>
                                  </a:rPr>
                                  <m:t>𝒏</m:t>
                                </m:r>
                              </m:e>
                              <m:sub>
                                <m:r>
                                  <a:rPr lang="en-US" altLang="zh-CN" sz="2800" b="1" i="1" smtClean="0">
                                    <a:solidFill>
                                      <a:srgbClr val="7030A0"/>
                                    </a:solidFill>
                                    <a:latin typeface="Cambria Math" panose="02040503050406030204" pitchFamily="18" charset="0"/>
                                  </a:rPr>
                                  <m:t>𝟐</m:t>
                                </m:r>
                              </m:sub>
                            </m:sSub>
                            <m:r>
                              <a:rPr lang="en-US" altLang="zh-CN" sz="2800" b="1" i="1" smtClean="0">
                                <a:solidFill>
                                  <a:srgbClr val="7030A0"/>
                                </a:solidFill>
                                <a:latin typeface="Cambria Math" panose="02040503050406030204" pitchFamily="18" charset="0"/>
                              </a:rPr>
                              <m:t>−</m:t>
                            </m:r>
                            <m:r>
                              <a:rPr lang="en-US" altLang="zh-CN" sz="2800" b="1" i="1" smtClean="0">
                                <a:solidFill>
                                  <a:srgbClr val="7030A0"/>
                                </a:solidFill>
                                <a:latin typeface="Cambria Math" panose="02040503050406030204" pitchFamily="18" charset="0"/>
                              </a:rPr>
                              <m:t>𝟐</m:t>
                            </m:r>
                          </m:den>
                        </m:f>
                      </m:e>
                    </m:rad>
                    <m:r>
                      <a:rPr lang="en-US" altLang="zh-CN" sz="2800" b="1" i="1" smtClean="0">
                        <a:solidFill>
                          <a:schemeClr val="tx1"/>
                        </a:solidFill>
                        <a:latin typeface="Cambria Math" panose="02040503050406030204" pitchFamily="18" charset="0"/>
                      </a:rPr>
                      <m:t>         </m:t>
                    </m:r>
                  </m:oMath>
                </a14:m>
                <a:endParaRPr lang="zh-CN" altLang="en-US" sz="2800" b="1" dirty="0">
                  <a:solidFill>
                    <a:schemeClr val="tx1"/>
                  </a:solidFill>
                  <a:latin typeface="宋体" panose="02010600030101010101" pitchFamily="2" charset="-122"/>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4558" y="697989"/>
                <a:ext cx="8795084" cy="5333761"/>
              </a:xfrm>
              <a:blipFill>
                <a:blip r:embed="rId2"/>
                <a:stretch>
                  <a:fillRect l="-1247" t="-800" r="-1040" b="-7771"/>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标题 1">
            <a:extLst>
              <a:ext uri="{FF2B5EF4-FFF2-40B4-BE49-F238E27FC236}">
                <a16:creationId xmlns:a16="http://schemas.microsoft.com/office/drawing/2014/main" id="{CA37EC85-2765-2F9A-8280-F56152C8E5ED}"/>
              </a:ext>
            </a:extLst>
          </p:cNvPr>
          <p:cNvSpPr txBox="1">
            <a:spLocks/>
          </p:cNvSpPr>
          <p:nvPr/>
        </p:nvSpPr>
        <p:spPr>
          <a:xfrm>
            <a:off x="1624263" y="133702"/>
            <a:ext cx="7303168"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kern="0" dirty="0">
                <a:effectLst/>
              </a:rPr>
              <a:t>6.3.4 </a:t>
            </a:r>
            <a:r>
              <a:rPr lang="zh-CN" altLang="en-US" kern="0" dirty="0">
                <a:effectLst/>
              </a:rPr>
              <a:t>抽样分布定理</a:t>
            </a:r>
            <a:r>
              <a:rPr lang="en-US" altLang="zh-CN" kern="0" dirty="0">
                <a:effectLst/>
              </a:rPr>
              <a:t>——</a:t>
            </a:r>
            <a:r>
              <a:rPr lang="zh-CN" altLang="en-US" b="1" kern="0" dirty="0">
                <a:effectLst/>
              </a:rPr>
              <a:t>定理</a:t>
            </a:r>
            <a:r>
              <a:rPr lang="en-US" altLang="zh-CN" b="1" kern="0" dirty="0">
                <a:effectLst/>
              </a:rPr>
              <a:t>6-3</a:t>
            </a:r>
            <a:endParaRPr lang="zh-CN" altLang="en-US" b="1" dirty="0">
              <a:effectLst/>
            </a:endParaRPr>
          </a:p>
        </p:txBody>
      </p:sp>
      <p:sp>
        <p:nvSpPr>
          <p:cNvPr id="6" name="TextBox 10"/>
          <p:cNvSpPr txBox="1">
            <a:spLocks noChangeArrowheads="1"/>
          </p:cNvSpPr>
          <p:nvPr/>
        </p:nvSpPr>
        <p:spPr bwMode="auto">
          <a:xfrm>
            <a:off x="10443410" y="5616715"/>
            <a:ext cx="1264520" cy="369888"/>
          </a:xfrm>
          <a:prstGeom prst="rect">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90000"/>
              <a:buBlip>
                <a:blip r:embed="rId3"/>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4"/>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5"/>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6"/>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7"/>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9pPr>
          </a:lstStyle>
          <a:p>
            <a:pPr algn="ctr" fontAlgn="base">
              <a:spcBef>
                <a:spcPct val="0"/>
              </a:spcBef>
              <a:spcAft>
                <a:spcPct val="0"/>
              </a:spcAft>
              <a:buSzTx/>
              <a:buFontTx/>
              <a:buNone/>
            </a:pPr>
            <a:r>
              <a:rPr lang="zh-CN" altLang="en-US" sz="1800" b="0" dirty="0">
                <a:solidFill>
                  <a:srgbClr val="C00000"/>
                </a:solidFill>
                <a:latin typeface="Arial" panose="020B0604020202020204" pitchFamily="34" charset="0"/>
              </a:rPr>
              <a:t>适用场合</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211499" y="1160144"/>
                <a:ext cx="8556339" cy="5333761"/>
              </a:xfrm>
            </p:spPr>
            <p:txBody>
              <a:bodyPr>
                <a:normAutofit/>
              </a:bodyPr>
              <a:lstStyle/>
              <a:p>
                <a:pPr marL="0" indent="720000">
                  <a:lnSpc>
                    <a:spcPct val="150000"/>
                  </a:lnSpc>
                  <a:spcBef>
                    <a:spcPts val="0"/>
                  </a:spcBef>
                  <a:spcAft>
                    <a:spcPts val="0"/>
                  </a:spcAft>
                  <a:buNone/>
                </a:pPr>
                <a:r>
                  <a:rPr lang="zh-CN" altLang="en-US" sz="2800" dirty="0">
                    <a:solidFill>
                      <a:schemeClr val="tx1"/>
                    </a:solidFill>
                    <a:latin typeface="宋体" panose="02010600030101010101" pitchFamily="2" charset="-122"/>
                    <a:ea typeface="宋体" panose="02010600030101010101" pitchFamily="2" charset="-122"/>
                  </a:rPr>
                  <a:t>若总体</a:t>
                </a:r>
                <a:r>
                  <a:rPr lang="en-US" altLang="zh-CN" sz="2800" dirty="0">
                    <a:solidFill>
                      <a:schemeClr val="tx1"/>
                    </a:solidFill>
                    <a:latin typeface="宋体" panose="02010600030101010101" pitchFamily="2" charset="-122"/>
                    <a:ea typeface="宋体" panose="02010600030101010101" pitchFamily="2" charset="-122"/>
                  </a:rPr>
                  <a:t>X</a:t>
                </a:r>
                <a:r>
                  <a:rPr lang="en-US" altLang="zh-CN"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chemeClr val="tx1"/>
                    </a:solidFill>
                    <a:latin typeface="宋体" panose="02010600030101010101" pitchFamily="2" charset="-122"/>
                    <a:ea typeface="宋体" panose="02010600030101010101" pitchFamily="2" charset="-122"/>
                  </a:rPr>
                  <a:t>N(</a:t>
                </a:r>
                <a14:m>
                  <m:oMath xmlns:m="http://schemas.openxmlformats.org/officeDocument/2006/math">
                    <m:sSub>
                      <m:sSubPr>
                        <m:ctrlPr>
                          <a:rPr lang="en-US" altLang="zh-CN" sz="2800" i="1" smtClean="0">
                            <a:solidFill>
                              <a:schemeClr val="tx1"/>
                            </a:solidFill>
                            <a:latin typeface="Cambria Math" panose="02040503050406030204" pitchFamily="18" charset="0"/>
                          </a:rPr>
                        </m:ctrlPr>
                      </m:sSubPr>
                      <m:e>
                        <m:r>
                          <m:rPr>
                            <m:sty m:val="p"/>
                          </m:rPr>
                          <a:rPr lang="en-US" altLang="zh-CN" sz="2800" i="1">
                            <a:solidFill>
                              <a:schemeClr val="tx1"/>
                            </a:solidFill>
                            <a:latin typeface="Cambria Math" panose="02040503050406030204" pitchFamily="18" charset="0"/>
                          </a:rPr>
                          <m:t>u</m:t>
                        </m:r>
                      </m:e>
                      <m:sub>
                        <m:r>
                          <a:rPr lang="en-US" altLang="zh-CN" sz="2800" b="0" i="1" smtClean="0">
                            <a:solidFill>
                              <a:schemeClr val="tx1"/>
                            </a:solidFill>
                            <a:latin typeface="Cambria Math" panose="02040503050406030204" pitchFamily="18" charset="0"/>
                          </a:rPr>
                          <m:t>1</m:t>
                        </m:r>
                      </m:sub>
                    </m:sSub>
                  </m:oMath>
                </a14:m>
                <a:r>
                  <a:rPr lang="en-US" altLang="zh-CN" sz="2800" dirty="0">
                    <a:solidFill>
                      <a:schemeClr val="tx1"/>
                    </a:solidFill>
                    <a:latin typeface="宋体" panose="02010600030101010101" pitchFamily="2" charset="-122"/>
                    <a:ea typeface="宋体" panose="02010600030101010101" pitchFamily="2" charset="-122"/>
                  </a:rPr>
                  <a:t>,</a:t>
                </a:r>
                <a14:m>
                  <m:oMath xmlns:m="http://schemas.openxmlformats.org/officeDocument/2006/math">
                    <m:sSubSup>
                      <m:sSubSupPr>
                        <m:ctrlPr>
                          <a:rPr lang="en-US" altLang="zh-CN" sz="2800" i="1" dirty="0" smtClean="0">
                            <a:solidFill>
                              <a:schemeClr val="tx1"/>
                            </a:solidFill>
                            <a:latin typeface="Cambria Math" panose="02040503050406030204" pitchFamily="18" charset="0"/>
                          </a:rPr>
                        </m:ctrlPr>
                      </m:sSubSupPr>
                      <m:e>
                        <m:r>
                          <a:rPr lang="zh-CN" altLang="en-US" sz="2800" i="1" dirty="0" smtClean="0">
                            <a:solidFill>
                              <a:schemeClr val="tx1"/>
                            </a:solidFill>
                            <a:latin typeface="Cambria Math" panose="02040503050406030204" pitchFamily="18" charset="0"/>
                          </a:rPr>
                          <m:t>𝜎</m:t>
                        </m:r>
                      </m:e>
                      <m:sub>
                        <m:r>
                          <a:rPr lang="en-US" altLang="zh-CN" sz="2800" b="0" i="1" dirty="0" smtClean="0">
                            <a:solidFill>
                              <a:schemeClr val="tx1"/>
                            </a:solidFill>
                            <a:latin typeface="Cambria Math" panose="02040503050406030204" pitchFamily="18" charset="0"/>
                          </a:rPr>
                          <m:t>1</m:t>
                        </m:r>
                      </m:sub>
                      <m:sup>
                        <m:r>
                          <a:rPr lang="en-US" altLang="zh-CN" sz="2800" b="0" i="1" dirty="0" smtClean="0">
                            <a:solidFill>
                              <a:schemeClr val="tx1"/>
                            </a:solidFill>
                            <a:latin typeface="Cambria Math" panose="02040503050406030204" pitchFamily="18" charset="0"/>
                          </a:rPr>
                          <m:t>2</m:t>
                        </m:r>
                      </m:sup>
                    </m:sSubSup>
                  </m:oMath>
                </a14:m>
                <a:r>
                  <a:rPr lang="en-US" altLang="zh-CN" sz="2800" dirty="0">
                    <a:solidFill>
                      <a:schemeClr val="tx1"/>
                    </a:solidFill>
                    <a:latin typeface="宋体" panose="02010600030101010101" pitchFamily="2" charset="-122"/>
                    <a:ea typeface="宋体" panose="02010600030101010101" pitchFamily="2" charset="-122"/>
                  </a:rPr>
                  <a:t>)</a:t>
                </a:r>
                <a:r>
                  <a:rPr lang="zh-CN" altLang="en-US" sz="2800" dirty="0">
                    <a:solidFill>
                      <a:schemeClr val="tx1"/>
                    </a:solidFill>
                    <a:latin typeface="宋体" panose="02010600030101010101" pitchFamily="2" charset="-122"/>
                    <a:ea typeface="宋体" panose="02010600030101010101" pitchFamily="2" charset="-122"/>
                  </a:rPr>
                  <a:t>，另一总体</a:t>
                </a:r>
                <a:r>
                  <a:rPr lang="en-US" altLang="zh-CN" sz="2800" dirty="0">
                    <a:solidFill>
                      <a:schemeClr val="tx1"/>
                    </a:solidFill>
                    <a:latin typeface="宋体" panose="02010600030101010101" pitchFamily="2" charset="-122"/>
                    <a:ea typeface="宋体" panose="02010600030101010101" pitchFamily="2" charset="-122"/>
                  </a:rPr>
                  <a:t>Y~N(</a:t>
                </a:r>
                <a14:m>
                  <m:oMath xmlns:m="http://schemas.openxmlformats.org/officeDocument/2006/math">
                    <m:sSub>
                      <m:sSubPr>
                        <m:ctrlPr>
                          <a:rPr lang="en-US" altLang="zh-CN" sz="2800" i="1">
                            <a:solidFill>
                              <a:schemeClr val="tx1"/>
                            </a:solidFill>
                            <a:latin typeface="Cambria Math" panose="02040503050406030204" pitchFamily="18" charset="0"/>
                          </a:rPr>
                        </m:ctrlPr>
                      </m:sSubPr>
                      <m:e>
                        <m:r>
                          <m:rPr>
                            <m:sty m:val="p"/>
                          </m:rPr>
                          <a:rPr lang="en-US" altLang="zh-CN" sz="2800" i="1">
                            <a:solidFill>
                              <a:schemeClr val="tx1"/>
                            </a:solidFill>
                            <a:latin typeface="Cambria Math" panose="02040503050406030204" pitchFamily="18" charset="0"/>
                          </a:rPr>
                          <m:t>u</m:t>
                        </m:r>
                      </m:e>
                      <m:sub>
                        <m:r>
                          <a:rPr lang="en-US" altLang="zh-CN" sz="2800" b="0" i="1" smtClean="0">
                            <a:solidFill>
                              <a:schemeClr val="tx1"/>
                            </a:solidFill>
                            <a:latin typeface="Cambria Math" panose="02040503050406030204" pitchFamily="18" charset="0"/>
                          </a:rPr>
                          <m:t>2</m:t>
                        </m:r>
                      </m:sub>
                    </m:sSub>
                  </m:oMath>
                </a14:m>
                <a:r>
                  <a:rPr lang="en-US" altLang="zh-CN" sz="2800" dirty="0">
                    <a:solidFill>
                      <a:schemeClr val="tx1"/>
                    </a:solidFill>
                    <a:latin typeface="宋体" panose="02010600030101010101" pitchFamily="2" charset="-122"/>
                    <a:ea typeface="宋体" panose="02010600030101010101" pitchFamily="2" charset="-122"/>
                  </a:rPr>
                  <a:t>,</a:t>
                </a:r>
                <a14:m>
                  <m:oMath xmlns:m="http://schemas.openxmlformats.org/officeDocument/2006/math">
                    <m:sSubSup>
                      <m:sSubSupPr>
                        <m:ctrlPr>
                          <a:rPr lang="en-US" altLang="zh-CN" sz="2800" i="1" dirty="0">
                            <a:solidFill>
                              <a:schemeClr val="tx1"/>
                            </a:solidFill>
                            <a:latin typeface="Cambria Math" panose="02040503050406030204" pitchFamily="18" charset="0"/>
                          </a:rPr>
                        </m:ctrlPr>
                      </m:sSubSupPr>
                      <m:e>
                        <m:r>
                          <a:rPr lang="zh-CN" altLang="en-US" sz="2800" i="1" dirty="0">
                            <a:solidFill>
                              <a:schemeClr val="tx1"/>
                            </a:solidFill>
                            <a:latin typeface="Cambria Math" panose="02040503050406030204" pitchFamily="18" charset="0"/>
                          </a:rPr>
                          <m:t>𝜎</m:t>
                        </m:r>
                      </m:e>
                      <m:sub>
                        <m:r>
                          <a:rPr lang="en-US" altLang="zh-CN" sz="2800" b="0" i="1" dirty="0" smtClean="0">
                            <a:solidFill>
                              <a:schemeClr val="tx1"/>
                            </a:solidFill>
                            <a:latin typeface="Cambria Math" panose="02040503050406030204" pitchFamily="18" charset="0"/>
                          </a:rPr>
                          <m:t>2</m:t>
                        </m:r>
                      </m:sub>
                      <m:sup>
                        <m:r>
                          <a:rPr lang="en-US" altLang="zh-CN" sz="2800" i="1" dirty="0">
                            <a:solidFill>
                              <a:schemeClr val="tx1"/>
                            </a:solidFill>
                            <a:latin typeface="Cambria Math" panose="02040503050406030204" pitchFamily="18" charset="0"/>
                          </a:rPr>
                          <m:t>2</m:t>
                        </m:r>
                      </m:sup>
                    </m:sSubSup>
                  </m:oMath>
                </a14:m>
                <a:r>
                  <a:rPr lang="en-US" altLang="zh-CN" sz="2800" dirty="0">
                    <a:solidFill>
                      <a:schemeClr val="tx1"/>
                    </a:solidFill>
                    <a:latin typeface="宋体" panose="02010600030101010101" pitchFamily="2" charset="-122"/>
                    <a:ea typeface="宋体" panose="02010600030101010101" pitchFamily="2" charset="-122"/>
                  </a:rPr>
                  <a:t>) </a:t>
                </a:r>
                <a:r>
                  <a:rPr lang="zh-CN" altLang="en-US" sz="2800" dirty="0">
                    <a:solidFill>
                      <a:schemeClr val="tx1"/>
                    </a:solidFill>
                    <a:latin typeface="宋体" panose="02010600030101010101" pitchFamily="2" charset="-122"/>
                    <a:ea typeface="宋体" panose="02010600030101010101" pitchFamily="2" charset="-122"/>
                  </a:rPr>
                  <a:t>，从第一总体中抽取容量为</a:t>
                </a:r>
                <a14:m>
                  <m:oMath xmlns:m="http://schemas.openxmlformats.org/officeDocument/2006/math">
                    <m:sSub>
                      <m:sSubPr>
                        <m:ctrlPr>
                          <a:rPr lang="en-US" altLang="zh-CN" sz="2800" i="1">
                            <a:solidFill>
                              <a:schemeClr val="tx1"/>
                            </a:solidFill>
                            <a:latin typeface="Cambria Math" panose="02040503050406030204" pitchFamily="18" charset="0"/>
                          </a:rPr>
                        </m:ctrlPr>
                      </m:sSubPr>
                      <m:e>
                        <m:r>
                          <m:rPr>
                            <m:sty m:val="p"/>
                          </m:rPr>
                          <a:rPr lang="en-US" altLang="zh-CN" sz="2800" i="1" smtClean="0">
                            <a:solidFill>
                              <a:schemeClr val="tx1"/>
                            </a:solidFill>
                            <a:latin typeface="Cambria Math" panose="02040503050406030204" pitchFamily="18" charset="0"/>
                          </a:rPr>
                          <m:t>n</m:t>
                        </m:r>
                      </m:e>
                      <m:sub>
                        <m:r>
                          <a:rPr lang="en-US" altLang="zh-CN" sz="2800" i="1">
                            <a:solidFill>
                              <a:schemeClr val="tx1"/>
                            </a:solidFill>
                            <a:latin typeface="Cambria Math" panose="02040503050406030204" pitchFamily="18" charset="0"/>
                          </a:rPr>
                          <m:t>1</m:t>
                        </m:r>
                      </m:sub>
                    </m:sSub>
                  </m:oMath>
                </a14:m>
                <a:r>
                  <a:rPr lang="zh-CN" altLang="en-US" sz="2800" dirty="0">
                    <a:solidFill>
                      <a:schemeClr val="tx1"/>
                    </a:solidFill>
                    <a:latin typeface="宋体" panose="02010600030101010101" pitchFamily="2" charset="-122"/>
                    <a:ea typeface="宋体" panose="02010600030101010101" pitchFamily="2" charset="-122"/>
                  </a:rPr>
                  <a:t>的样本，从第二个总体中抽取容量为</a:t>
                </a:r>
                <a14:m>
                  <m:oMath xmlns:m="http://schemas.openxmlformats.org/officeDocument/2006/math">
                    <m:sSub>
                      <m:sSubPr>
                        <m:ctrlPr>
                          <a:rPr lang="en-US" altLang="zh-CN" sz="2800" i="1">
                            <a:solidFill>
                              <a:schemeClr val="tx1"/>
                            </a:solidFill>
                            <a:latin typeface="Cambria Math" panose="02040503050406030204" pitchFamily="18" charset="0"/>
                          </a:rPr>
                        </m:ctrlPr>
                      </m:sSubPr>
                      <m:e>
                        <m:r>
                          <m:rPr>
                            <m:sty m:val="p"/>
                          </m:rPr>
                          <a:rPr lang="en-US" altLang="zh-CN" sz="2800" i="1">
                            <a:solidFill>
                              <a:schemeClr val="tx1"/>
                            </a:solidFill>
                            <a:latin typeface="Cambria Math" panose="02040503050406030204" pitchFamily="18" charset="0"/>
                          </a:rPr>
                          <m:t>n</m:t>
                        </m:r>
                      </m:e>
                      <m:sub>
                        <m:r>
                          <a:rPr lang="en-US" altLang="zh-CN" sz="2800" b="0" i="1" smtClean="0">
                            <a:solidFill>
                              <a:schemeClr val="tx1"/>
                            </a:solidFill>
                            <a:latin typeface="Cambria Math" panose="02040503050406030204" pitchFamily="18" charset="0"/>
                          </a:rPr>
                          <m:t>2</m:t>
                        </m:r>
                      </m:sub>
                    </m:sSub>
                  </m:oMath>
                </a14:m>
                <a:r>
                  <a:rPr lang="zh-CN" altLang="en-US" sz="2800" dirty="0">
                    <a:solidFill>
                      <a:schemeClr val="tx1"/>
                    </a:solidFill>
                    <a:latin typeface="宋体" panose="02010600030101010101" pitchFamily="2" charset="-122"/>
                    <a:ea typeface="宋体" panose="02010600030101010101" pitchFamily="2" charset="-122"/>
                  </a:rPr>
                  <a:t>的样本，两个总体是独立的，则有</a:t>
                </a:r>
                <a:endParaRPr lang="en-US" altLang="zh-CN" sz="2800" dirty="0">
                  <a:solidFill>
                    <a:schemeClr val="tx1"/>
                  </a:solidFill>
                  <a:latin typeface="宋体" panose="02010600030101010101" pitchFamily="2" charset="-122"/>
                  <a:ea typeface="宋体" panose="02010600030101010101" pitchFamily="2" charset="-122"/>
                </a:endParaRPr>
              </a:p>
              <a:p>
                <a:pPr marL="0" indent="0" algn="r">
                  <a:lnSpc>
                    <a:spcPct val="150000"/>
                  </a:lnSpc>
                  <a:spcBef>
                    <a:spcPts val="0"/>
                  </a:spcBef>
                  <a:spcAft>
                    <a:spcPts val="0"/>
                  </a:spcAft>
                  <a:buNone/>
                </a:pPr>
                <a:r>
                  <a:rPr lang="en-US" altLang="zh-CN" i="1" dirty="0">
                    <a:solidFill>
                      <a:schemeClr val="tx1"/>
                    </a:solidFill>
                    <a:latin typeface="宋体" panose="02010600030101010101" pitchFamily="2" charset="-122"/>
                    <a:ea typeface="宋体" panose="02010600030101010101" pitchFamily="2" charset="-122"/>
                  </a:rPr>
                  <a:t>F</a:t>
                </a:r>
                <a14:m>
                  <m:oMath xmlns:m="http://schemas.openxmlformats.org/officeDocument/2006/math">
                    <m:r>
                      <a:rPr lang="en-US" altLang="zh-CN"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f>
                          <m:fPr>
                            <m:type m:val="lin"/>
                            <m:ctrlPr>
                              <a:rPr lang="en-US" altLang="zh-CN" i="1" smtClean="0">
                                <a:solidFill>
                                  <a:schemeClr val="tx1"/>
                                </a:solidFill>
                                <a:latin typeface="Cambria Math" panose="02040503050406030204" pitchFamily="18" charset="0"/>
                              </a:rPr>
                            </m:ctrlPr>
                          </m:fPr>
                          <m:num>
                            <m:sSubSup>
                              <m:sSubSupPr>
                                <m:ctrlPr>
                                  <a:rPr lang="en-US" altLang="zh-CN" i="1" smtClean="0">
                                    <a:solidFill>
                                      <a:schemeClr val="tx1"/>
                                    </a:solidFill>
                                    <a:latin typeface="Cambria Math" panose="02040503050406030204" pitchFamily="18" charset="0"/>
                                  </a:rPr>
                                </m:ctrlPr>
                              </m:sSubSupPr>
                              <m:e>
                                <m:r>
                                  <a:rPr lang="en-US" altLang="zh-CN" b="0" i="1" smtClean="0">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1</m:t>
                                </m:r>
                              </m:sub>
                              <m:sup>
                                <m:r>
                                  <a:rPr lang="en-US" altLang="zh-CN" b="0" i="1" smtClean="0">
                                    <a:solidFill>
                                      <a:schemeClr val="tx1"/>
                                    </a:solidFill>
                                    <a:latin typeface="Cambria Math" panose="02040503050406030204" pitchFamily="18" charset="0"/>
                                  </a:rPr>
                                  <m:t>2</m:t>
                                </m:r>
                              </m:sup>
                            </m:sSubSup>
                          </m:num>
                          <m:den>
                            <m:sSubSup>
                              <m:sSubSupPr>
                                <m:ctrlPr>
                                  <a:rPr lang="en-US" altLang="zh-CN" i="1" smtClean="0">
                                    <a:solidFill>
                                      <a:schemeClr val="tx1"/>
                                    </a:solidFill>
                                    <a:latin typeface="Cambria Math" panose="02040503050406030204" pitchFamily="18" charset="0"/>
                                  </a:rPr>
                                </m:ctrlPr>
                              </m:sSubSupPr>
                              <m:e>
                                <m:r>
                                  <a:rPr lang="zh-CN" altLang="en-US" i="1" dirty="0">
                                    <a:solidFill>
                                      <a:schemeClr val="tx1"/>
                                    </a:solidFill>
                                    <a:latin typeface="Cambria Math" panose="02040503050406030204" pitchFamily="18" charset="0"/>
                                  </a:rPr>
                                  <m:t>𝜎</m:t>
                                </m:r>
                              </m:e>
                              <m:sub>
                                <m:r>
                                  <a:rPr lang="en-US" altLang="zh-CN" b="0" i="1" smtClean="0">
                                    <a:solidFill>
                                      <a:schemeClr val="tx1"/>
                                    </a:solidFill>
                                    <a:latin typeface="Cambria Math" panose="02040503050406030204" pitchFamily="18" charset="0"/>
                                  </a:rPr>
                                  <m:t>1</m:t>
                                </m:r>
                              </m:sub>
                              <m:sup>
                                <m:r>
                                  <a:rPr lang="en-US" altLang="zh-CN" b="0" i="1" smtClean="0">
                                    <a:solidFill>
                                      <a:schemeClr val="tx1"/>
                                    </a:solidFill>
                                    <a:latin typeface="Cambria Math" panose="02040503050406030204" pitchFamily="18" charset="0"/>
                                  </a:rPr>
                                  <m:t>2</m:t>
                                </m:r>
                              </m:sup>
                            </m:sSubSup>
                          </m:den>
                        </m:f>
                      </m:num>
                      <m:den>
                        <m:f>
                          <m:fPr>
                            <m:type m:val="lin"/>
                            <m:ctrlPr>
                              <a:rPr lang="en-US" altLang="zh-CN" i="1" smtClean="0">
                                <a:solidFill>
                                  <a:schemeClr val="tx1"/>
                                </a:solidFill>
                                <a:latin typeface="Cambria Math" panose="02040503050406030204" pitchFamily="18" charset="0"/>
                              </a:rPr>
                            </m:ctrlPr>
                          </m:fPr>
                          <m:num>
                            <m:sSubSup>
                              <m:sSubSupPr>
                                <m:ctrlPr>
                                  <a:rPr lang="en-US" altLang="zh-CN" i="1" smtClean="0">
                                    <a:solidFill>
                                      <a:schemeClr val="tx1"/>
                                    </a:solidFill>
                                    <a:latin typeface="Cambria Math" panose="02040503050406030204" pitchFamily="18" charset="0"/>
                                  </a:rPr>
                                </m:ctrlPr>
                              </m:sSubSupPr>
                              <m:e>
                                <m:r>
                                  <a:rPr lang="en-US" altLang="zh-CN" b="0" i="1" smtClean="0">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2</m:t>
                                </m:r>
                              </m:sub>
                              <m:sup>
                                <m:r>
                                  <a:rPr lang="en-US" altLang="zh-CN" b="0" i="1" smtClean="0">
                                    <a:solidFill>
                                      <a:schemeClr val="tx1"/>
                                    </a:solidFill>
                                    <a:latin typeface="Cambria Math" panose="02040503050406030204" pitchFamily="18" charset="0"/>
                                  </a:rPr>
                                  <m:t>2</m:t>
                                </m:r>
                              </m:sup>
                            </m:sSubSup>
                          </m:num>
                          <m:den>
                            <m:sSubSup>
                              <m:sSubSupPr>
                                <m:ctrlPr>
                                  <a:rPr lang="en-US" altLang="zh-CN" i="1" smtClean="0">
                                    <a:solidFill>
                                      <a:schemeClr val="tx1"/>
                                    </a:solidFill>
                                    <a:latin typeface="Cambria Math" panose="02040503050406030204" pitchFamily="18" charset="0"/>
                                  </a:rPr>
                                </m:ctrlPr>
                              </m:sSubSupPr>
                              <m:e>
                                <m:r>
                                  <a:rPr lang="zh-CN" altLang="en-US" i="1" dirty="0">
                                    <a:solidFill>
                                      <a:schemeClr val="tx1"/>
                                    </a:solidFill>
                                    <a:latin typeface="Cambria Math" panose="02040503050406030204" pitchFamily="18" charset="0"/>
                                  </a:rPr>
                                  <m:t>𝜎</m:t>
                                </m:r>
                              </m:e>
                              <m:sub>
                                <m:r>
                                  <a:rPr lang="en-US" altLang="zh-CN" b="0" i="1" smtClean="0">
                                    <a:solidFill>
                                      <a:schemeClr val="tx1"/>
                                    </a:solidFill>
                                    <a:latin typeface="Cambria Math" panose="02040503050406030204" pitchFamily="18" charset="0"/>
                                  </a:rPr>
                                  <m:t>2</m:t>
                                </m:r>
                              </m:sub>
                              <m:sup>
                                <m:r>
                                  <a:rPr lang="en-US" altLang="zh-CN" b="0" i="1" smtClean="0">
                                    <a:solidFill>
                                      <a:schemeClr val="tx1"/>
                                    </a:solidFill>
                                    <a:latin typeface="Cambria Math" panose="02040503050406030204" pitchFamily="18" charset="0"/>
                                  </a:rPr>
                                  <m:t>2</m:t>
                                </m:r>
                              </m:sup>
                            </m:sSubSup>
                          </m:den>
                        </m:f>
                      </m:den>
                    </m:f>
                    <m:r>
                      <a:rPr lang="en-US" altLang="zh-CN" b="0" i="1" smtClean="0">
                        <a:solidFill>
                          <a:schemeClr val="tx1"/>
                        </a:solidFill>
                        <a:latin typeface="Cambria Math" charset="0"/>
                      </a:rPr>
                      <m:t>~</m:t>
                    </m:r>
                    <m:r>
                      <m:rPr>
                        <m:nor/>
                      </m:rPr>
                      <a:rPr lang="en-US" altLang="zh-CN" b="0" i="1" smtClean="0">
                        <a:solidFill>
                          <a:schemeClr val="tx1"/>
                        </a:solidFill>
                        <a:latin typeface="Cambria Math" charset="0"/>
                      </a:rPr>
                      <m:t>F</m:t>
                    </m:r>
                    <m:r>
                      <m:rPr>
                        <m:nor/>
                      </m:rPr>
                      <a:rPr lang="en-US" altLang="zh-CN" b="0" i="0" smtClean="0">
                        <a:solidFill>
                          <a:schemeClr val="tx1"/>
                        </a:solidFill>
                        <a:latin typeface="Cambria Math"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charset="0"/>
                          </a:rPr>
                          <m:t>𝑛</m:t>
                        </m:r>
                      </m:e>
                      <m:sub>
                        <m:r>
                          <a:rPr lang="en-US" altLang="zh-CN" b="0" i="1" smtClean="0">
                            <a:solidFill>
                              <a:schemeClr val="tx1"/>
                            </a:solidFill>
                            <a:latin typeface="Cambria Math" charset="0"/>
                          </a:rPr>
                          <m:t>1</m:t>
                        </m:r>
                      </m:sub>
                    </m:sSub>
                    <m:r>
                      <a:rPr lang="en-US" altLang="zh-CN" b="0" i="1" smtClean="0">
                        <a:solidFill>
                          <a:schemeClr val="tx1"/>
                        </a:solidFill>
                        <a:latin typeface="Cambria Math" charset="0"/>
                      </a:rPr>
                      <m:t>−1,</m:t>
                    </m:r>
                    <m:r>
                      <a:rPr lang="en-US" altLang="zh-CN" i="1" smtClean="0">
                        <a:solidFill>
                          <a:schemeClr val="tx1"/>
                        </a:solidFill>
                        <a:latin typeface="Cambria Math" charset="0"/>
                      </a:rPr>
                      <m:t> </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charset="0"/>
                          </a:rPr>
                          <m:t>𝑛</m:t>
                        </m:r>
                      </m:e>
                      <m:sub>
                        <m:r>
                          <a:rPr lang="en-US" altLang="zh-CN" b="0" i="1" smtClean="0">
                            <a:solidFill>
                              <a:schemeClr val="tx1"/>
                            </a:solidFill>
                            <a:latin typeface="Cambria Math" charset="0"/>
                          </a:rPr>
                          <m:t>2</m:t>
                        </m:r>
                      </m:sub>
                    </m:sSub>
                    <m:r>
                      <a:rPr lang="en-US" altLang="zh-CN" b="0" i="1" smtClean="0">
                        <a:solidFill>
                          <a:schemeClr val="tx1"/>
                        </a:solidFill>
                        <a:latin typeface="Cambria Math" charset="0"/>
                      </a:rPr>
                      <m:t>−1</m:t>
                    </m:r>
                    <m:r>
                      <m:rPr>
                        <m:nor/>
                      </m:rPr>
                      <a:rPr lang="en-US" altLang="zh-CN" b="0" i="0" smtClean="0">
                        <a:solidFill>
                          <a:schemeClr val="tx1"/>
                        </a:solidFill>
                        <a:latin typeface="Cambria Math" charset="0"/>
                      </a:rPr>
                      <m:t>)</m:t>
                    </m:r>
                  </m:oMath>
                </a14:m>
                <a:r>
                  <a:rPr lang="zh-CN" altLang="en-US" dirty="0">
                    <a:solidFill>
                      <a:schemeClr val="tx1"/>
                    </a:solidFill>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（6-20）</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211499" y="1160144"/>
                <a:ext cx="8556339" cy="5333761"/>
              </a:xfrm>
              <a:blipFill>
                <a:blip r:embed="rId2"/>
                <a:stretch>
                  <a:fillRect l="-1497" r="-1069"/>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标题 1">
            <a:extLst>
              <a:ext uri="{FF2B5EF4-FFF2-40B4-BE49-F238E27FC236}">
                <a16:creationId xmlns:a16="http://schemas.microsoft.com/office/drawing/2014/main" id="{CA37EC85-2765-2F9A-8280-F56152C8E5ED}"/>
              </a:ext>
            </a:extLst>
          </p:cNvPr>
          <p:cNvSpPr txBox="1">
            <a:spLocks/>
          </p:cNvSpPr>
          <p:nvPr/>
        </p:nvSpPr>
        <p:spPr>
          <a:xfrm>
            <a:off x="1624263" y="133702"/>
            <a:ext cx="7303168"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en-US" altLang="zh-CN" kern="0" dirty="0">
                <a:effectLst/>
              </a:rPr>
              <a:t>6.3.4 </a:t>
            </a:r>
            <a:r>
              <a:rPr lang="zh-CN" altLang="en-US" kern="0" dirty="0">
                <a:effectLst/>
              </a:rPr>
              <a:t>抽样分布定理</a:t>
            </a:r>
            <a:r>
              <a:rPr lang="en-US" altLang="zh-CN" kern="0" dirty="0">
                <a:effectLst/>
              </a:rPr>
              <a:t>——</a:t>
            </a:r>
            <a:r>
              <a:rPr lang="zh-CN" altLang="en-US" b="1" kern="0" dirty="0">
                <a:effectLst/>
              </a:rPr>
              <a:t>定理</a:t>
            </a:r>
            <a:r>
              <a:rPr lang="en-US" altLang="zh-CN" b="1" kern="0" dirty="0">
                <a:effectLst/>
              </a:rPr>
              <a:t>6-4</a:t>
            </a:r>
            <a:endParaRPr lang="zh-CN" altLang="en-US" b="1" dirty="0">
              <a:effectLst/>
            </a:endParaRPr>
          </a:p>
        </p:txBody>
      </p:sp>
      <p:sp>
        <p:nvSpPr>
          <p:cNvPr id="6" name="TextBox 10"/>
          <p:cNvSpPr txBox="1">
            <a:spLocks noChangeArrowheads="1"/>
          </p:cNvSpPr>
          <p:nvPr/>
        </p:nvSpPr>
        <p:spPr bwMode="auto">
          <a:xfrm>
            <a:off x="10070431" y="5571094"/>
            <a:ext cx="1264520" cy="369888"/>
          </a:xfrm>
          <a:prstGeom prst="rect">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90000"/>
              <a:buBlip>
                <a:blip r:embed="rId3"/>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4"/>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5"/>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6"/>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7"/>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7"/>
              </a:buBlip>
              <a:defRPr sz="2000">
                <a:solidFill>
                  <a:schemeClr val="tx1"/>
                </a:solidFill>
                <a:latin typeface="Tahoma" panose="020B0604030504040204" pitchFamily="34" charset="0"/>
                <a:ea typeface="宋体" panose="02010600030101010101" pitchFamily="2" charset="-122"/>
              </a:defRPr>
            </a:lvl9pPr>
          </a:lstStyle>
          <a:p>
            <a:pPr algn="ctr" fontAlgn="base">
              <a:spcBef>
                <a:spcPct val="0"/>
              </a:spcBef>
              <a:spcAft>
                <a:spcPct val="0"/>
              </a:spcAft>
              <a:buSzTx/>
              <a:buFontTx/>
              <a:buNone/>
            </a:pPr>
            <a:r>
              <a:rPr lang="zh-CN" altLang="en-US" sz="1800" b="0" dirty="0">
                <a:solidFill>
                  <a:srgbClr val="C00000"/>
                </a:solidFill>
                <a:latin typeface="Arial" panose="020B0604020202020204" pitchFamily="34" charset="0"/>
              </a:rPr>
              <a:t>适用场合</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4"/>
          <p:cNvSpPr>
            <a:spLocks noGrp="1" noChangeArrowheads="1"/>
          </p:cNvSpPr>
          <p:nvPr>
            <p:ph type="title"/>
          </p:nvPr>
        </p:nvSpPr>
        <p:spPr>
          <a:xfrm>
            <a:off x="1876175" y="155972"/>
            <a:ext cx="8582525" cy="662782"/>
          </a:xfrm>
        </p:spPr>
        <p:txBody>
          <a:bodyPr>
            <a:normAutofit/>
          </a:bodyPr>
          <a:lstStyle/>
          <a:p>
            <a:pPr eaLnBrk="1" hangingPunct="1"/>
            <a:r>
              <a:rPr kumimoji="1" lang="en-US" altLang="zh-CN" b="1" dirty="0">
                <a:effectLst/>
              </a:rPr>
              <a:t>【</a:t>
            </a:r>
            <a:r>
              <a:rPr kumimoji="1" lang="zh-CN" altLang="en-US" b="1" dirty="0">
                <a:effectLst/>
              </a:rPr>
              <a:t>定理</a:t>
            </a:r>
            <a:r>
              <a:rPr kumimoji="1" lang="en-US" altLang="zh-CN" b="1" dirty="0">
                <a:effectLst/>
              </a:rPr>
              <a:t>6-4】</a:t>
            </a:r>
            <a:r>
              <a:rPr kumimoji="1" lang="zh-CN" altLang="en-US" b="1" dirty="0">
                <a:effectLst/>
              </a:rPr>
              <a:t>证明</a:t>
            </a:r>
          </a:p>
        </p:txBody>
      </p:sp>
      <p:sp>
        <p:nvSpPr>
          <p:cNvPr id="106499" name="Rectangle 9"/>
          <p:cNvSpPr>
            <a:spLocks noChangeArrowheads="1"/>
          </p:cNvSpPr>
          <p:nvPr/>
        </p:nvSpPr>
        <p:spPr bwMode="auto">
          <a:xfrm>
            <a:off x="1774825" y="1037233"/>
            <a:ext cx="7507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400">
                <a:solidFill>
                  <a:schemeClr val="tx1"/>
                </a:solidFill>
                <a:latin typeface="Arial" panose="020B0604020202020204" pitchFamily="34" charset="0"/>
              </a:rPr>
              <a:t>因为样本相互独立且和总体具有相同的分布，所以：</a:t>
            </a:r>
          </a:p>
        </p:txBody>
      </p:sp>
      <p:sp>
        <p:nvSpPr>
          <p:cNvPr id="106500" name="Rectangle 11"/>
          <p:cNvSpPr>
            <a:spLocks noChangeArrowheads="1"/>
          </p:cNvSpPr>
          <p:nvPr/>
        </p:nvSpPr>
        <p:spPr bwMode="auto">
          <a:xfrm>
            <a:off x="1524001" y="30776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endParaRPr lang="zh-CN" altLang="en-US" sz="1800" b="0">
              <a:solidFill>
                <a:schemeClr val="tx1"/>
              </a:solidFill>
              <a:latin typeface="Arial" panose="020B0604020202020204" pitchFamily="34" charset="0"/>
            </a:endParaRPr>
          </a:p>
        </p:txBody>
      </p:sp>
      <p:graphicFrame>
        <p:nvGraphicFramePr>
          <p:cNvPr id="106501" name="Object 10"/>
          <p:cNvGraphicFramePr>
            <a:graphicFrameLocks noChangeAspect="1"/>
          </p:cNvGraphicFramePr>
          <p:nvPr>
            <p:extLst>
              <p:ext uri="{D42A27DB-BD31-4B8C-83A1-F6EECF244321}">
                <p14:modId xmlns:p14="http://schemas.microsoft.com/office/powerpoint/2010/main" val="1444509846"/>
              </p:ext>
            </p:extLst>
          </p:nvPr>
        </p:nvGraphicFramePr>
        <p:xfrm>
          <a:off x="2603500" y="1760042"/>
          <a:ext cx="3097212" cy="731837"/>
        </p:xfrm>
        <a:graphic>
          <a:graphicData uri="http://schemas.openxmlformats.org/presentationml/2006/ole">
            <mc:AlternateContent xmlns:mc="http://schemas.openxmlformats.org/markup-compatibility/2006">
              <mc:Choice xmlns:v="urn:schemas-microsoft-com:vml" Requires="v">
                <p:oleObj name="Equation" r:id="rId7" imgW="1409088" imgH="330057" progId="Equation.DSMT4">
                  <p:embed/>
                </p:oleObj>
              </mc:Choice>
              <mc:Fallback>
                <p:oleObj name="Equation" r:id="rId7" imgW="1409088" imgH="330057" progId="Equation.DSMT4">
                  <p:embed/>
                  <p:pic>
                    <p:nvPicPr>
                      <p:cNvPr id="106501"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03500" y="1760042"/>
                        <a:ext cx="3097212"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2" name="Rectangle 13"/>
          <p:cNvSpPr>
            <a:spLocks noChangeArrowheads="1"/>
          </p:cNvSpPr>
          <p:nvPr/>
        </p:nvSpPr>
        <p:spPr bwMode="auto">
          <a:xfrm>
            <a:off x="1524001" y="30776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endParaRPr lang="zh-CN" altLang="en-US" sz="1800" b="0">
              <a:solidFill>
                <a:schemeClr val="tx1"/>
              </a:solidFill>
              <a:latin typeface="Arial" panose="020B0604020202020204" pitchFamily="34" charset="0"/>
            </a:endParaRPr>
          </a:p>
        </p:txBody>
      </p:sp>
      <p:graphicFrame>
        <p:nvGraphicFramePr>
          <p:cNvPr id="106503" name="Object 12"/>
          <p:cNvGraphicFramePr>
            <a:graphicFrameLocks noChangeAspect="1"/>
          </p:cNvGraphicFramePr>
          <p:nvPr>
            <p:extLst>
              <p:ext uri="{D42A27DB-BD31-4B8C-83A1-F6EECF244321}">
                <p14:modId xmlns:p14="http://schemas.microsoft.com/office/powerpoint/2010/main" val="3935363048"/>
              </p:ext>
            </p:extLst>
          </p:nvPr>
        </p:nvGraphicFramePr>
        <p:xfrm>
          <a:off x="6096000" y="1783359"/>
          <a:ext cx="2952750" cy="742950"/>
        </p:xfrm>
        <a:graphic>
          <a:graphicData uri="http://schemas.openxmlformats.org/presentationml/2006/ole">
            <mc:AlternateContent xmlns:mc="http://schemas.openxmlformats.org/markup-compatibility/2006">
              <mc:Choice xmlns:v="urn:schemas-microsoft-com:vml" Requires="v">
                <p:oleObj name="Equation" r:id="rId9" imgW="1320227" imgH="330057" progId="Equation.DSMT4">
                  <p:embed/>
                </p:oleObj>
              </mc:Choice>
              <mc:Fallback>
                <p:oleObj name="Equation" r:id="rId9" imgW="1320227" imgH="330057" progId="Equation.DSMT4">
                  <p:embed/>
                  <p:pic>
                    <p:nvPicPr>
                      <p:cNvPr id="106503"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1783359"/>
                        <a:ext cx="295275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4" name="Rectangle 15"/>
          <p:cNvSpPr>
            <a:spLocks noChangeArrowheads="1"/>
          </p:cNvSpPr>
          <p:nvPr/>
        </p:nvSpPr>
        <p:spPr bwMode="auto">
          <a:xfrm>
            <a:off x="1524001" y="30157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endParaRPr lang="zh-CN" altLang="en-US" sz="1800" b="0">
              <a:solidFill>
                <a:schemeClr val="tx1"/>
              </a:solidFill>
              <a:latin typeface="Arial" panose="020B0604020202020204" pitchFamily="34" charset="0"/>
            </a:endParaRPr>
          </a:p>
        </p:txBody>
      </p:sp>
      <p:graphicFrame>
        <p:nvGraphicFramePr>
          <p:cNvPr id="897038" name="Object 14"/>
          <p:cNvGraphicFramePr>
            <a:graphicFrameLocks noChangeAspect="1"/>
          </p:cNvGraphicFramePr>
          <p:nvPr>
            <p:extLst>
              <p:ext uri="{D42A27DB-BD31-4B8C-83A1-F6EECF244321}">
                <p14:modId xmlns:p14="http://schemas.microsoft.com/office/powerpoint/2010/main" val="2162871850"/>
              </p:ext>
            </p:extLst>
          </p:nvPr>
        </p:nvGraphicFramePr>
        <p:xfrm>
          <a:off x="2425097" y="3134449"/>
          <a:ext cx="3384550" cy="917575"/>
        </p:xfrm>
        <a:graphic>
          <a:graphicData uri="http://schemas.openxmlformats.org/presentationml/2006/ole">
            <mc:AlternateContent xmlns:mc="http://schemas.openxmlformats.org/markup-compatibility/2006">
              <mc:Choice xmlns:v="urn:schemas-microsoft-com:vml" Requires="v">
                <p:oleObj name="Equation" r:id="rId11" imgW="1689100" imgH="457200" progId="Equation.DSMT4">
                  <p:embed/>
                </p:oleObj>
              </mc:Choice>
              <mc:Fallback>
                <p:oleObj name="Equation" r:id="rId11" imgW="1689100" imgH="457200" progId="Equation.DSMT4">
                  <p:embed/>
                  <p:pic>
                    <p:nvPicPr>
                      <p:cNvPr id="897038"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25097" y="3134449"/>
                        <a:ext cx="338455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6" name="Rectangle 17"/>
          <p:cNvSpPr>
            <a:spLocks noChangeArrowheads="1"/>
          </p:cNvSpPr>
          <p:nvPr/>
        </p:nvSpPr>
        <p:spPr bwMode="auto">
          <a:xfrm>
            <a:off x="1524001" y="30157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endParaRPr lang="zh-CN" altLang="en-US" sz="1800" b="0">
              <a:solidFill>
                <a:schemeClr val="tx1"/>
              </a:solidFill>
              <a:latin typeface="Arial" panose="020B0604020202020204" pitchFamily="34" charset="0"/>
            </a:endParaRPr>
          </a:p>
        </p:txBody>
      </p:sp>
      <p:graphicFrame>
        <p:nvGraphicFramePr>
          <p:cNvPr id="897040" name="Object 16"/>
          <p:cNvGraphicFramePr>
            <a:graphicFrameLocks noChangeAspect="1"/>
          </p:cNvGraphicFramePr>
          <p:nvPr>
            <p:extLst>
              <p:ext uri="{D42A27DB-BD31-4B8C-83A1-F6EECF244321}">
                <p14:modId xmlns:p14="http://schemas.microsoft.com/office/powerpoint/2010/main" val="3181947195"/>
              </p:ext>
            </p:extLst>
          </p:nvPr>
        </p:nvGraphicFramePr>
        <p:xfrm>
          <a:off x="6167437" y="3110637"/>
          <a:ext cx="3529013" cy="941387"/>
        </p:xfrm>
        <a:graphic>
          <a:graphicData uri="http://schemas.openxmlformats.org/presentationml/2006/ole">
            <mc:AlternateContent xmlns:mc="http://schemas.openxmlformats.org/markup-compatibility/2006">
              <mc:Choice xmlns:v="urn:schemas-microsoft-com:vml" Requires="v">
                <p:oleObj name="Equation" r:id="rId13" imgW="1714500" imgH="457200" progId="Equation.DSMT4">
                  <p:embed/>
                </p:oleObj>
              </mc:Choice>
              <mc:Fallback>
                <p:oleObj name="Equation" r:id="rId13" imgW="1714500" imgH="457200" progId="Equation.DSMT4">
                  <p:embed/>
                  <p:pic>
                    <p:nvPicPr>
                      <p:cNvPr id="89704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67437" y="3110637"/>
                        <a:ext cx="3529013"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7042" name="Rectangle 18"/>
          <p:cNvSpPr>
            <a:spLocks noChangeArrowheads="1"/>
          </p:cNvSpPr>
          <p:nvPr/>
        </p:nvSpPr>
        <p:spPr bwMode="auto">
          <a:xfrm>
            <a:off x="1616366" y="2596585"/>
            <a:ext cx="25010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800" b="0" dirty="0">
                <a:solidFill>
                  <a:schemeClr val="tx1"/>
                </a:solidFill>
                <a:latin typeface="Arial" panose="020B0604020202020204" pitchFamily="34" charset="0"/>
              </a:rPr>
              <a:t>由定理</a:t>
            </a:r>
            <a:r>
              <a:rPr kumimoji="1" lang="en-US" altLang="zh-CN" sz="2800" b="0" dirty="0">
                <a:solidFill>
                  <a:schemeClr val="tx1"/>
                </a:solidFill>
                <a:latin typeface="Arial" panose="020B0604020202020204" pitchFamily="34" charset="0"/>
              </a:rPr>
              <a:t>6-1</a:t>
            </a:r>
            <a:r>
              <a:rPr kumimoji="1" lang="zh-CN" altLang="en-US" sz="2800" b="0" dirty="0">
                <a:solidFill>
                  <a:schemeClr val="tx1"/>
                </a:solidFill>
                <a:latin typeface="Arial" panose="020B0604020202020204" pitchFamily="34" charset="0"/>
              </a:rPr>
              <a:t>得：</a:t>
            </a:r>
          </a:p>
        </p:txBody>
      </p:sp>
      <p:graphicFrame>
        <p:nvGraphicFramePr>
          <p:cNvPr id="897044" name="Object 20"/>
          <p:cNvGraphicFramePr>
            <a:graphicFrameLocks noChangeAspect="1"/>
          </p:cNvGraphicFramePr>
          <p:nvPr>
            <p:extLst>
              <p:ext uri="{D42A27DB-BD31-4B8C-83A1-F6EECF244321}">
                <p14:modId xmlns:p14="http://schemas.microsoft.com/office/powerpoint/2010/main" val="1688159797"/>
              </p:ext>
            </p:extLst>
          </p:nvPr>
        </p:nvGraphicFramePr>
        <p:xfrm>
          <a:off x="5594680" y="4173036"/>
          <a:ext cx="381000" cy="454025"/>
        </p:xfrm>
        <a:graphic>
          <a:graphicData uri="http://schemas.openxmlformats.org/presentationml/2006/ole">
            <mc:AlternateContent xmlns:mc="http://schemas.openxmlformats.org/markup-compatibility/2006">
              <mc:Choice xmlns:v="urn:schemas-microsoft-com:vml" Requires="v">
                <p:oleObj name="Equation" r:id="rId15" imgW="203112" imgH="241195" progId="Equation.DSMT4">
                  <p:embed/>
                </p:oleObj>
              </mc:Choice>
              <mc:Fallback>
                <p:oleObj name="Equation" r:id="rId15" imgW="203112" imgH="241195" progId="Equation.DSMT4">
                  <p:embed/>
                  <p:pic>
                    <p:nvPicPr>
                      <p:cNvPr id="897044"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94680" y="4173036"/>
                        <a:ext cx="381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7043" name="Object 19"/>
          <p:cNvGraphicFramePr>
            <a:graphicFrameLocks noChangeAspect="1"/>
          </p:cNvGraphicFramePr>
          <p:nvPr>
            <p:extLst>
              <p:ext uri="{D42A27DB-BD31-4B8C-83A1-F6EECF244321}">
                <p14:modId xmlns:p14="http://schemas.microsoft.com/office/powerpoint/2010/main" val="176510127"/>
              </p:ext>
            </p:extLst>
          </p:nvPr>
        </p:nvGraphicFramePr>
        <p:xfrm>
          <a:off x="6336043" y="4101597"/>
          <a:ext cx="442912" cy="527050"/>
        </p:xfrm>
        <a:graphic>
          <a:graphicData uri="http://schemas.openxmlformats.org/presentationml/2006/ole">
            <mc:AlternateContent xmlns:mc="http://schemas.openxmlformats.org/markup-compatibility/2006">
              <mc:Choice xmlns:v="urn:schemas-microsoft-com:vml" Requires="v">
                <p:oleObj name="Equation" r:id="rId17" imgW="203112" imgH="241195" progId="Equation.DSMT4">
                  <p:embed/>
                </p:oleObj>
              </mc:Choice>
              <mc:Fallback>
                <p:oleObj name="Equation" r:id="rId17" imgW="203112" imgH="241195" progId="Equation.DSMT4">
                  <p:embed/>
                  <p:pic>
                    <p:nvPicPr>
                      <p:cNvPr id="897043"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36043" y="4101597"/>
                        <a:ext cx="442912"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7045" name="Rectangle 21"/>
          <p:cNvSpPr>
            <a:spLocks noChangeArrowheads="1"/>
          </p:cNvSpPr>
          <p:nvPr/>
        </p:nvSpPr>
        <p:spPr bwMode="auto">
          <a:xfrm>
            <a:off x="1616366" y="4136524"/>
            <a:ext cx="38846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400" dirty="0">
                <a:solidFill>
                  <a:schemeClr val="tx1"/>
                </a:solidFill>
                <a:latin typeface="Times New Roman" panose="02020603050405020304" pitchFamily="18" charset="0"/>
                <a:cs typeface="Times New Roman" panose="02020603050405020304" pitchFamily="18" charset="0"/>
              </a:rPr>
              <a:t>两总体独立，</a:t>
            </a:r>
            <a:r>
              <a:rPr kumimoji="1" lang="zh-CN" altLang="en-US" sz="2400" b="0" dirty="0">
                <a:solidFill>
                  <a:schemeClr val="tx1"/>
                </a:solidFill>
                <a:latin typeface="Times New Roman" panose="02020603050405020304" pitchFamily="18" charset="0"/>
                <a:cs typeface="Times New Roman" panose="02020603050405020304" pitchFamily="18" charset="0"/>
              </a:rPr>
              <a:t>所以随机变量</a:t>
            </a:r>
            <a:endParaRPr kumimoji="1" lang="zh-CN" altLang="en-US" sz="2400" b="0" dirty="0">
              <a:solidFill>
                <a:schemeClr val="tx1"/>
              </a:solidFill>
              <a:latin typeface="Times New Roman" panose="02020603050405020304" pitchFamily="18" charset="0"/>
              <a:ea typeface="仿宋_GB2312" pitchFamily="49" charset="-122"/>
              <a:cs typeface="Times New Roman" panose="02020603050405020304" pitchFamily="18" charset="0"/>
            </a:endParaRPr>
          </a:p>
        </p:txBody>
      </p:sp>
      <p:sp>
        <p:nvSpPr>
          <p:cNvPr id="897046" name="Rectangle 22"/>
          <p:cNvSpPr>
            <a:spLocks noChangeArrowheads="1"/>
          </p:cNvSpPr>
          <p:nvPr/>
        </p:nvSpPr>
        <p:spPr bwMode="auto">
          <a:xfrm>
            <a:off x="5904243" y="417303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400" b="0" dirty="0">
                <a:solidFill>
                  <a:schemeClr val="tx1"/>
                </a:solidFill>
                <a:latin typeface="Times New Roman" panose="02020603050405020304" pitchFamily="18" charset="0"/>
                <a:cs typeface="Times New Roman" panose="02020603050405020304" pitchFamily="18" charset="0"/>
              </a:rPr>
              <a:t>和</a:t>
            </a:r>
            <a:endParaRPr kumimoji="1" lang="zh-CN" altLang="en-US" sz="2400" b="0" dirty="0">
              <a:solidFill>
                <a:schemeClr val="tx1"/>
              </a:solidFill>
              <a:latin typeface="Times New Roman" panose="02020603050405020304" pitchFamily="18" charset="0"/>
              <a:ea typeface="仿宋_GB2312" pitchFamily="49" charset="-122"/>
              <a:cs typeface="Times New Roman" panose="02020603050405020304" pitchFamily="18" charset="0"/>
            </a:endParaRPr>
          </a:p>
        </p:txBody>
      </p:sp>
      <p:sp>
        <p:nvSpPr>
          <p:cNvPr id="897047" name="Rectangle 23"/>
          <p:cNvSpPr>
            <a:spLocks noChangeArrowheads="1"/>
          </p:cNvSpPr>
          <p:nvPr/>
        </p:nvSpPr>
        <p:spPr bwMode="auto">
          <a:xfrm>
            <a:off x="6767843" y="4173035"/>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r>
              <a:rPr kumimoji="1" lang="zh-CN" altLang="en-US" sz="2400" b="0">
                <a:solidFill>
                  <a:schemeClr val="tx1"/>
                </a:solidFill>
                <a:latin typeface="Times New Roman" panose="02020603050405020304" pitchFamily="18" charset="0"/>
                <a:cs typeface="Times New Roman" panose="02020603050405020304" pitchFamily="18" charset="0"/>
              </a:rPr>
              <a:t>相互独立，从而</a:t>
            </a:r>
            <a:endParaRPr kumimoji="1" lang="zh-CN" altLang="en-US" sz="2400" b="0">
              <a:solidFill>
                <a:schemeClr val="tx1"/>
              </a:solidFill>
              <a:latin typeface="Times New Roman" panose="02020603050405020304" pitchFamily="18" charset="0"/>
              <a:ea typeface="仿宋_GB2312" pitchFamily="49" charset="-122"/>
              <a:cs typeface="Times New Roman" panose="02020603050405020304" pitchFamily="18" charset="0"/>
            </a:endParaRPr>
          </a:p>
        </p:txBody>
      </p:sp>
      <p:sp>
        <p:nvSpPr>
          <p:cNvPr id="106514" name="Rectangle 25"/>
          <p:cNvSpPr>
            <a:spLocks noChangeArrowheads="1"/>
          </p:cNvSpPr>
          <p:nvPr/>
        </p:nvSpPr>
        <p:spPr bwMode="auto">
          <a:xfrm>
            <a:off x="1524001" y="30157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SzPct val="90000"/>
              <a:buBlip>
                <a:blip r:embed="rId2"/>
              </a:buBlip>
              <a:defRPr sz="3200" b="1">
                <a:solidFill>
                  <a:srgbClr val="C56B9E"/>
                </a:solidFill>
                <a:latin typeface="Tahoma" panose="020B0604030504040204" pitchFamily="34" charset="0"/>
                <a:ea typeface="宋体" panose="02010600030101010101" pitchFamily="2" charset="-122"/>
              </a:defRPr>
            </a:lvl1pPr>
            <a:lvl2pPr marL="742950" indent="-285750">
              <a:spcBef>
                <a:spcPct val="20000"/>
              </a:spcBef>
              <a:buSzPct val="80000"/>
              <a:buBlip>
                <a:blip r:embed="rId3"/>
              </a:buBlip>
              <a:defRPr sz="2800" b="1">
                <a:solidFill>
                  <a:srgbClr val="000000"/>
                </a:solidFill>
                <a:latin typeface="Tahoma" panose="020B0604030504040204" pitchFamily="34" charset="0"/>
                <a:ea typeface="宋体" panose="02010600030101010101" pitchFamily="2" charset="-122"/>
              </a:defRPr>
            </a:lvl2pPr>
            <a:lvl3pPr marL="1143000" indent="-228600">
              <a:spcBef>
                <a:spcPct val="20000"/>
              </a:spcBef>
              <a:buSzPct val="70000"/>
              <a:buBlip>
                <a:blip r:embed="rId4"/>
              </a:buBlip>
              <a:defRPr sz="2400" b="1">
                <a:solidFill>
                  <a:schemeClr val="tx2"/>
                </a:solidFill>
                <a:latin typeface="Tahoma" panose="020B0604030504040204" pitchFamily="34" charset="0"/>
                <a:ea typeface="宋体" panose="02010600030101010101" pitchFamily="2" charset="-122"/>
              </a:defRPr>
            </a:lvl3pPr>
            <a:lvl4pPr marL="1600200" indent="-228600">
              <a:spcBef>
                <a:spcPct val="20000"/>
              </a:spcBef>
              <a:buSzPct val="70000"/>
              <a:buBlip>
                <a:blip r:embed="rId5"/>
              </a:buBlip>
              <a:defRPr sz="2000" b="1">
                <a:solidFill>
                  <a:srgbClr val="006600"/>
                </a:solidFill>
                <a:latin typeface="Tahoma" panose="020B0604030504040204" pitchFamily="34" charset="0"/>
                <a:ea typeface="宋体" panose="02010600030101010101" pitchFamily="2" charset="-122"/>
              </a:defRPr>
            </a:lvl4pPr>
            <a:lvl5pPr marL="2057400" indent="-228600">
              <a:spcBef>
                <a:spcPct val="20000"/>
              </a:spcBef>
              <a:buSzPct val="70000"/>
              <a:buBlip>
                <a:blip r:embed="rId6"/>
              </a:buBlip>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6"/>
              </a:buBlip>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SzTx/>
              <a:buFontTx/>
              <a:buNone/>
            </a:pPr>
            <a:endParaRPr lang="zh-CN" altLang="en-US" sz="1800" b="0">
              <a:solidFill>
                <a:schemeClr val="tx1"/>
              </a:solidFill>
              <a:latin typeface="Arial" panose="020B0604020202020204" pitchFamily="34" charset="0"/>
            </a:endParaRPr>
          </a:p>
        </p:txBody>
      </p:sp>
      <p:graphicFrame>
        <p:nvGraphicFramePr>
          <p:cNvPr id="897048" name="Object 24"/>
          <p:cNvGraphicFramePr>
            <a:graphicFrameLocks noChangeAspect="1"/>
          </p:cNvGraphicFramePr>
          <p:nvPr>
            <p:extLst>
              <p:ext uri="{D42A27DB-BD31-4B8C-83A1-F6EECF244321}">
                <p14:modId xmlns:p14="http://schemas.microsoft.com/office/powerpoint/2010/main" val="999924854"/>
              </p:ext>
            </p:extLst>
          </p:nvPr>
        </p:nvGraphicFramePr>
        <p:xfrm>
          <a:off x="2339511" y="4721455"/>
          <a:ext cx="7272337" cy="1243012"/>
        </p:xfrm>
        <a:graphic>
          <a:graphicData uri="http://schemas.openxmlformats.org/presentationml/2006/ole">
            <mc:AlternateContent xmlns:mc="http://schemas.openxmlformats.org/markup-compatibility/2006">
              <mc:Choice xmlns:v="urn:schemas-microsoft-com:vml" Requires="v">
                <p:oleObj name="Equation" r:id="rId19" imgW="2679700" imgH="457200" progId="Equation.DSMT4">
                  <p:embed/>
                </p:oleObj>
              </mc:Choice>
              <mc:Fallback>
                <p:oleObj name="Equation" r:id="rId19" imgW="2679700" imgH="457200" progId="Equation.DSMT4">
                  <p:embed/>
                  <p:pic>
                    <p:nvPicPr>
                      <p:cNvPr id="897048"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39511" y="4721455"/>
                        <a:ext cx="7272337" cy="124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4840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7042"/>
                                        </p:tgtEl>
                                        <p:attrNameLst>
                                          <p:attrName>style.visibility</p:attrName>
                                        </p:attrNameLst>
                                      </p:cBhvr>
                                      <p:to>
                                        <p:strVal val="visible"/>
                                      </p:to>
                                    </p:set>
                                    <p:animEffect transition="in" filter="wipe(left)">
                                      <p:cBhvr>
                                        <p:cTn id="7" dur="250"/>
                                        <p:tgtEl>
                                          <p:spTgt spid="897042"/>
                                        </p:tgtEl>
                                      </p:cBhvr>
                                    </p:animEffect>
                                  </p:childTnLst>
                                </p:cTn>
                              </p:par>
                            </p:childTnLst>
                          </p:cTn>
                        </p:par>
                        <p:par>
                          <p:cTn id="8" fill="hold">
                            <p:stCondLst>
                              <p:cond delay="250"/>
                            </p:stCondLst>
                            <p:childTnLst>
                              <p:par>
                                <p:cTn id="9" presetID="22" presetClass="entr" presetSubtype="8" fill="hold" nodeType="afterEffect">
                                  <p:stCondLst>
                                    <p:cond delay="0"/>
                                  </p:stCondLst>
                                  <p:childTnLst>
                                    <p:set>
                                      <p:cBhvr>
                                        <p:cTn id="10" dur="1" fill="hold">
                                          <p:stCondLst>
                                            <p:cond delay="0"/>
                                          </p:stCondLst>
                                        </p:cTn>
                                        <p:tgtEl>
                                          <p:spTgt spid="897038"/>
                                        </p:tgtEl>
                                        <p:attrNameLst>
                                          <p:attrName>style.visibility</p:attrName>
                                        </p:attrNameLst>
                                      </p:cBhvr>
                                      <p:to>
                                        <p:strVal val="visible"/>
                                      </p:to>
                                    </p:set>
                                    <p:animEffect transition="in" filter="wipe(left)">
                                      <p:cBhvr>
                                        <p:cTn id="11" dur="1000"/>
                                        <p:tgtEl>
                                          <p:spTgt spid="897038"/>
                                        </p:tgtEl>
                                      </p:cBhvr>
                                    </p:animEffect>
                                  </p:childTnLst>
                                </p:cTn>
                              </p:par>
                            </p:childTnLst>
                          </p:cTn>
                        </p:par>
                        <p:par>
                          <p:cTn id="12" fill="hold">
                            <p:stCondLst>
                              <p:cond delay="1250"/>
                            </p:stCondLst>
                            <p:childTnLst>
                              <p:par>
                                <p:cTn id="13" presetID="22" presetClass="entr" presetSubtype="8" fill="hold" nodeType="afterEffect">
                                  <p:stCondLst>
                                    <p:cond delay="0"/>
                                  </p:stCondLst>
                                  <p:childTnLst>
                                    <p:set>
                                      <p:cBhvr>
                                        <p:cTn id="14" dur="1" fill="hold">
                                          <p:stCondLst>
                                            <p:cond delay="0"/>
                                          </p:stCondLst>
                                        </p:cTn>
                                        <p:tgtEl>
                                          <p:spTgt spid="897040"/>
                                        </p:tgtEl>
                                        <p:attrNameLst>
                                          <p:attrName>style.visibility</p:attrName>
                                        </p:attrNameLst>
                                      </p:cBhvr>
                                      <p:to>
                                        <p:strVal val="visible"/>
                                      </p:to>
                                    </p:set>
                                    <p:animEffect transition="in" filter="wipe(left)">
                                      <p:cBhvr>
                                        <p:cTn id="15" dur="1000"/>
                                        <p:tgtEl>
                                          <p:spTgt spid="89704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97045"/>
                                        </p:tgtEl>
                                        <p:attrNameLst>
                                          <p:attrName>style.visibility</p:attrName>
                                        </p:attrNameLst>
                                      </p:cBhvr>
                                      <p:to>
                                        <p:strVal val="visible"/>
                                      </p:to>
                                    </p:set>
                                    <p:animEffect transition="in" filter="wipe(left)">
                                      <p:cBhvr>
                                        <p:cTn id="20" dur="1000"/>
                                        <p:tgtEl>
                                          <p:spTgt spid="897045"/>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897043"/>
                                        </p:tgtEl>
                                        <p:attrNameLst>
                                          <p:attrName>style.visibility</p:attrName>
                                        </p:attrNameLst>
                                      </p:cBhvr>
                                      <p:to>
                                        <p:strVal val="visible"/>
                                      </p:to>
                                    </p:set>
                                    <p:animEffect transition="in" filter="wipe(left)">
                                      <p:cBhvr>
                                        <p:cTn id="24" dur="10"/>
                                        <p:tgtEl>
                                          <p:spTgt spid="897043"/>
                                        </p:tgtEl>
                                      </p:cBhvr>
                                    </p:animEffect>
                                  </p:childTnLst>
                                </p:cTn>
                              </p:par>
                            </p:childTnLst>
                          </p:cTn>
                        </p:par>
                        <p:par>
                          <p:cTn id="25" fill="hold">
                            <p:stCondLst>
                              <p:cond delay="1010"/>
                            </p:stCondLst>
                            <p:childTnLst>
                              <p:par>
                                <p:cTn id="26" presetID="22" presetClass="entr" presetSubtype="8" fill="hold" nodeType="afterEffect">
                                  <p:stCondLst>
                                    <p:cond delay="0"/>
                                  </p:stCondLst>
                                  <p:childTnLst>
                                    <p:set>
                                      <p:cBhvr>
                                        <p:cTn id="27" dur="1" fill="hold">
                                          <p:stCondLst>
                                            <p:cond delay="0"/>
                                          </p:stCondLst>
                                        </p:cTn>
                                        <p:tgtEl>
                                          <p:spTgt spid="897044"/>
                                        </p:tgtEl>
                                        <p:attrNameLst>
                                          <p:attrName>style.visibility</p:attrName>
                                        </p:attrNameLst>
                                      </p:cBhvr>
                                      <p:to>
                                        <p:strVal val="visible"/>
                                      </p:to>
                                    </p:set>
                                    <p:animEffect transition="in" filter="wipe(left)">
                                      <p:cBhvr>
                                        <p:cTn id="28" dur="10"/>
                                        <p:tgtEl>
                                          <p:spTgt spid="897044"/>
                                        </p:tgtEl>
                                      </p:cBhvr>
                                    </p:animEffect>
                                  </p:childTnLst>
                                </p:cTn>
                              </p:par>
                            </p:childTnLst>
                          </p:cTn>
                        </p:par>
                        <p:par>
                          <p:cTn id="29" fill="hold">
                            <p:stCondLst>
                              <p:cond delay="1020"/>
                            </p:stCondLst>
                            <p:childTnLst>
                              <p:par>
                                <p:cTn id="30" presetID="22" presetClass="entr" presetSubtype="8" fill="hold" grpId="0" nodeType="afterEffect">
                                  <p:stCondLst>
                                    <p:cond delay="0"/>
                                  </p:stCondLst>
                                  <p:childTnLst>
                                    <p:set>
                                      <p:cBhvr>
                                        <p:cTn id="31" dur="1" fill="hold">
                                          <p:stCondLst>
                                            <p:cond delay="0"/>
                                          </p:stCondLst>
                                        </p:cTn>
                                        <p:tgtEl>
                                          <p:spTgt spid="897046"/>
                                        </p:tgtEl>
                                        <p:attrNameLst>
                                          <p:attrName>style.visibility</p:attrName>
                                        </p:attrNameLst>
                                      </p:cBhvr>
                                      <p:to>
                                        <p:strVal val="visible"/>
                                      </p:to>
                                    </p:set>
                                    <p:animEffect transition="in" filter="wipe(left)">
                                      <p:cBhvr>
                                        <p:cTn id="32" dur="10"/>
                                        <p:tgtEl>
                                          <p:spTgt spid="897046"/>
                                        </p:tgtEl>
                                      </p:cBhvr>
                                    </p:animEffect>
                                  </p:childTnLst>
                                </p:cTn>
                              </p:par>
                            </p:childTnLst>
                          </p:cTn>
                        </p:par>
                        <p:par>
                          <p:cTn id="33" fill="hold">
                            <p:stCondLst>
                              <p:cond delay="1030"/>
                            </p:stCondLst>
                            <p:childTnLst>
                              <p:par>
                                <p:cTn id="34" presetID="22" presetClass="entr" presetSubtype="8" fill="hold" grpId="0" nodeType="afterEffect">
                                  <p:stCondLst>
                                    <p:cond delay="0"/>
                                  </p:stCondLst>
                                  <p:childTnLst>
                                    <p:set>
                                      <p:cBhvr>
                                        <p:cTn id="35" dur="1" fill="hold">
                                          <p:stCondLst>
                                            <p:cond delay="0"/>
                                          </p:stCondLst>
                                        </p:cTn>
                                        <p:tgtEl>
                                          <p:spTgt spid="897047"/>
                                        </p:tgtEl>
                                        <p:attrNameLst>
                                          <p:attrName>style.visibility</p:attrName>
                                        </p:attrNameLst>
                                      </p:cBhvr>
                                      <p:to>
                                        <p:strVal val="visible"/>
                                      </p:to>
                                    </p:set>
                                    <p:animEffect transition="in" filter="wipe(left)">
                                      <p:cBhvr>
                                        <p:cTn id="36" dur="10"/>
                                        <p:tgtEl>
                                          <p:spTgt spid="897047"/>
                                        </p:tgtEl>
                                      </p:cBhvr>
                                    </p:animEffect>
                                  </p:childTnLst>
                                </p:cTn>
                              </p:par>
                            </p:childTnLst>
                          </p:cTn>
                        </p:par>
                        <p:par>
                          <p:cTn id="37" fill="hold" nodeType="afterGroup">
                            <p:stCondLst>
                              <p:cond delay="1040"/>
                            </p:stCondLst>
                            <p:childTnLst>
                              <p:par>
                                <p:cTn id="38" presetID="22" presetClass="entr" presetSubtype="8" fill="hold" nodeType="afterEffect">
                                  <p:stCondLst>
                                    <p:cond delay="0"/>
                                  </p:stCondLst>
                                  <p:childTnLst>
                                    <p:set>
                                      <p:cBhvr>
                                        <p:cTn id="39" dur="1" fill="hold">
                                          <p:stCondLst>
                                            <p:cond delay="0"/>
                                          </p:stCondLst>
                                        </p:cTn>
                                        <p:tgtEl>
                                          <p:spTgt spid="897048"/>
                                        </p:tgtEl>
                                        <p:attrNameLst>
                                          <p:attrName>style.visibility</p:attrName>
                                        </p:attrNameLst>
                                      </p:cBhvr>
                                      <p:to>
                                        <p:strVal val="visible"/>
                                      </p:to>
                                    </p:set>
                                    <p:animEffect transition="in" filter="wipe(left)">
                                      <p:cBhvr>
                                        <p:cTn id="40" dur="1000"/>
                                        <p:tgtEl>
                                          <p:spTgt spid="897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042" grpId="0"/>
      <p:bldP spid="897045" grpId="0"/>
      <p:bldP spid="897046" grpId="0"/>
      <p:bldP spid="89704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70022" y="838928"/>
                <a:ext cx="10106526" cy="5333761"/>
              </a:xfrm>
            </p:spPr>
            <p:txBody>
              <a:bodyPr>
                <a:noAutofit/>
              </a:bodyPr>
              <a:lstStyle/>
              <a:p>
                <a:pPr marL="0" indent="0">
                  <a:lnSpc>
                    <a:spcPct val="120000"/>
                  </a:lnSpc>
                  <a:spcBef>
                    <a:spcPts val="1200"/>
                  </a:spcBef>
                  <a:spcAft>
                    <a:spcPts val="0"/>
                  </a:spcAft>
                  <a:buNone/>
                </a:pPr>
                <a:r>
                  <a:rPr lang="zh-CN" altLang="en-US" sz="2400" b="1" dirty="0">
                    <a:solidFill>
                      <a:schemeClr val="tx1"/>
                    </a:solidFill>
                    <a:latin typeface="宋体" panose="02010600030101010101" pitchFamily="2" charset="-122"/>
                    <a:ea typeface="宋体" panose="02010600030101010101" pitchFamily="2" charset="-122"/>
                  </a:rPr>
                  <a:t>1.总体可抽象为所感兴趣的变量及其取值的分布，随机抽取的总体中一部分个体称为样本，样本中每个个体称为样本点。统计推断理论中讨论的样本通常指的是一组随机变量</a:t>
                </a:r>
                <a:r>
                  <a:rPr lang="en-US" altLang="zh-CN" sz="2400" b="1" dirty="0">
                    <a:solidFill>
                      <a:schemeClr val="tx1"/>
                    </a:solidFill>
                    <a:latin typeface="宋体" panose="02010600030101010101" pitchFamily="2" charset="-122"/>
                    <a:ea typeface="宋体" panose="02010600030101010101" pitchFamily="2" charset="-122"/>
                  </a:rPr>
                  <a:t>(</a:t>
                </a:r>
                <a14:m>
                  <m:oMath xmlns:m="http://schemas.openxmlformats.org/officeDocument/2006/math">
                    <m:sSub>
                      <m:sSubPr>
                        <m:ctrlPr>
                          <a:rPr lang="en-US" altLang="zh-CN" sz="2400" b="1" i="1" smtClean="0">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𝑿</m:t>
                        </m:r>
                      </m:e>
                      <m:sub>
                        <m:r>
                          <a:rPr lang="en-US" altLang="zh-CN" sz="2400" b="1" i="1" smtClean="0">
                            <a:solidFill>
                              <a:schemeClr val="tx1"/>
                            </a:solidFill>
                            <a:latin typeface="Cambria Math" panose="02040503050406030204" pitchFamily="18" charset="0"/>
                          </a:rPr>
                          <m:t>𝟏</m:t>
                        </m:r>
                      </m:sub>
                    </m:sSub>
                    <m:r>
                      <a:rPr lang="zh-CN" altLang="en-US" sz="2400" b="1" i="1">
                        <a:solidFill>
                          <a:schemeClr val="tx1"/>
                        </a:solidFill>
                        <a:latin typeface="Cambria Math" panose="02040503050406030204" pitchFamily="18" charset="0"/>
                      </a:rPr>
                      <m:t>，</m:t>
                    </m:r>
                    <m:sSub>
                      <m:sSubPr>
                        <m:ctrlPr>
                          <a:rPr lang="en-US"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𝑿</m:t>
                        </m:r>
                      </m:e>
                      <m:sub>
                        <m:r>
                          <a:rPr lang="en-US" altLang="zh-CN" sz="2400" b="1" i="1" smtClean="0">
                            <a:solidFill>
                              <a:schemeClr val="tx1"/>
                            </a:solidFill>
                            <a:latin typeface="Cambria Math" panose="02040503050406030204" pitchFamily="18" charset="0"/>
                          </a:rPr>
                          <m:t>𝟐</m:t>
                        </m:r>
                      </m:sub>
                    </m:sSub>
                    <m:r>
                      <a:rPr lang="en-US" altLang="zh-CN" sz="2400" b="1" i="0" smtClean="0">
                        <a:solidFill>
                          <a:schemeClr val="tx1"/>
                        </a:solidFill>
                        <a:latin typeface="Cambria Math" panose="02040503050406030204" pitchFamily="18" charset="0"/>
                      </a:rPr>
                      <m:t>…</m:t>
                    </m:r>
                    <m:r>
                      <a:rPr lang="zh-CN" altLang="en-US" sz="2400" b="1" i="1">
                        <a:solidFill>
                          <a:schemeClr val="tx1"/>
                        </a:solidFill>
                        <a:latin typeface="Cambria Math" panose="02040503050406030204" pitchFamily="18" charset="0"/>
                      </a:rPr>
                      <m:t>，</m:t>
                    </m:r>
                    <m:sSub>
                      <m:sSubPr>
                        <m:ctrlPr>
                          <a:rPr lang="en-US"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𝑿</m:t>
                        </m:r>
                      </m:e>
                      <m:sub>
                        <m:r>
                          <a:rPr lang="en-US" altLang="zh-CN" sz="2400" b="1" i="1" smtClean="0">
                            <a:solidFill>
                              <a:schemeClr val="tx1"/>
                            </a:solidFill>
                            <a:latin typeface="Cambria Math" panose="02040503050406030204" pitchFamily="18" charset="0"/>
                          </a:rPr>
                          <m:t>𝒏</m:t>
                        </m:r>
                      </m:sub>
                    </m:sSub>
                    <m:r>
                      <a:rPr lang="en-US" altLang="zh-CN" sz="2400" b="1" i="1">
                        <a:solidFill>
                          <a:schemeClr val="tx1"/>
                        </a:solidFill>
                        <a:latin typeface="Cambria Math" panose="02040503050406030204" pitchFamily="18" charset="0"/>
                      </a:rPr>
                      <m:t> </m:t>
                    </m:r>
                  </m:oMath>
                </a14:m>
                <a:r>
                  <a:rPr lang="en-US" altLang="zh-CN" sz="2400" b="1" dirty="0">
                    <a:solidFill>
                      <a:schemeClr val="tx1"/>
                    </a:solidFill>
                    <a:latin typeface="宋体" panose="02010600030101010101" pitchFamily="2" charset="-122"/>
                    <a:ea typeface="宋体" panose="02010600030101010101" pitchFamily="2" charset="-122"/>
                  </a:rPr>
                  <a:t>)</a:t>
                </a:r>
                <a:r>
                  <a:rPr lang="zh-CN" altLang="en-US" sz="2400" b="1" dirty="0">
                    <a:solidFill>
                      <a:schemeClr val="tx1"/>
                    </a:solidFill>
                    <a:latin typeface="宋体" panose="02010600030101010101" pitchFamily="2" charset="-122"/>
                    <a:ea typeface="宋体" panose="02010600030101010101" pitchFamily="2" charset="-122"/>
                  </a:rPr>
                  <a:t>，一次具体的实验或观测结果称为样本观测值</a:t>
                </a:r>
                <a:r>
                  <a:rPr lang="en-US" altLang="zh-CN" sz="2400" b="1" dirty="0">
                    <a:solidFill>
                      <a:schemeClr val="tx1"/>
                    </a:solidFill>
                    <a:latin typeface="宋体" panose="02010600030101010101" pitchFamily="2" charset="-122"/>
                    <a:ea typeface="宋体" panose="02010600030101010101" pitchFamily="2" charset="-122"/>
                  </a:rPr>
                  <a:t>(</a:t>
                </a:r>
                <a14:m>
                  <m:oMath xmlns:m="http://schemas.openxmlformats.org/officeDocument/2006/math">
                    <m:sSub>
                      <m:sSubPr>
                        <m:ctrlPr>
                          <a:rPr lang="en-US"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𝒙</m:t>
                        </m:r>
                      </m:e>
                      <m:sub>
                        <m:r>
                          <a:rPr lang="en-US" altLang="zh-CN" sz="2400" b="1" i="1">
                            <a:solidFill>
                              <a:schemeClr val="tx1"/>
                            </a:solidFill>
                            <a:latin typeface="Cambria Math" panose="02040503050406030204" pitchFamily="18" charset="0"/>
                          </a:rPr>
                          <m:t>𝟏</m:t>
                        </m:r>
                      </m:sub>
                    </m:sSub>
                    <m:r>
                      <a:rPr lang="en-US" altLang="zh-CN" sz="2400" b="1" i="1">
                        <a:solidFill>
                          <a:schemeClr val="tx1"/>
                        </a:solidFill>
                        <a:latin typeface="Cambria Math" panose="02040503050406030204" pitchFamily="18" charset="0"/>
                      </a:rPr>
                      <m:t>,</m:t>
                    </m:r>
                    <m:sSub>
                      <m:sSubPr>
                        <m:ctrlPr>
                          <a:rPr lang="en-US"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𝒙</m:t>
                        </m:r>
                      </m:e>
                      <m:sub>
                        <m:r>
                          <a:rPr lang="en-US" altLang="zh-CN" sz="2400" b="1" i="1">
                            <a:solidFill>
                              <a:schemeClr val="tx1"/>
                            </a:solidFill>
                            <a:latin typeface="Cambria Math" panose="02040503050406030204" pitchFamily="18" charset="0"/>
                          </a:rPr>
                          <m:t>𝟐</m:t>
                        </m:r>
                      </m:sub>
                    </m:sSub>
                    <m:r>
                      <a:rPr lang="en-US" altLang="zh-CN" sz="2400" b="1" i="1">
                        <a:solidFill>
                          <a:schemeClr val="tx1"/>
                        </a:solidFill>
                        <a:latin typeface="Cambria Math" panose="02040503050406030204" pitchFamily="18" charset="0"/>
                      </a:rPr>
                      <m:t>,</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m:t>
                    </m:r>
                    <m:sSub>
                      <m:sSubPr>
                        <m:ctrlPr>
                          <a:rPr lang="en-US"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𝒙</m:t>
                        </m:r>
                      </m:e>
                      <m:sub>
                        <m:r>
                          <a:rPr lang="en-US" altLang="zh-CN" sz="2400" b="1" i="1">
                            <a:solidFill>
                              <a:schemeClr val="tx1"/>
                            </a:solidFill>
                            <a:latin typeface="Cambria Math" panose="02040503050406030204" pitchFamily="18" charset="0"/>
                          </a:rPr>
                          <m:t>𝒏</m:t>
                        </m:r>
                      </m:sub>
                    </m:sSub>
                    <m:r>
                      <a:rPr lang="en-US" altLang="zh-CN" sz="2400" b="1" i="1" smtClean="0">
                        <a:solidFill>
                          <a:schemeClr val="tx1"/>
                        </a:solidFill>
                        <a:latin typeface="Cambria Math" panose="02040503050406030204" pitchFamily="18" charset="0"/>
                      </a:rPr>
                      <m:t>)</m:t>
                    </m:r>
                  </m:oMath>
                </a14:m>
                <a:r>
                  <a:rPr lang="zh-CN" altLang="en-US" sz="2400" b="1" dirty="0">
                    <a:solidFill>
                      <a:schemeClr val="tx1"/>
                    </a:solidFill>
                    <a:latin typeface="宋体" panose="02010600030101010101" pitchFamily="2" charset="-122"/>
                    <a:ea typeface="宋体" panose="02010600030101010101" pitchFamily="2" charset="-122"/>
                  </a:rPr>
                  <a:t>。简单随机样本具有独立同分布的性质。</a:t>
                </a:r>
              </a:p>
              <a:p>
                <a:pPr marL="0" indent="0">
                  <a:lnSpc>
                    <a:spcPct val="120000"/>
                  </a:lnSpc>
                  <a:spcBef>
                    <a:spcPts val="1200"/>
                  </a:spcBef>
                  <a:spcAft>
                    <a:spcPts val="0"/>
                  </a:spcAft>
                  <a:buNone/>
                </a:pPr>
                <a:r>
                  <a:rPr lang="zh-CN" altLang="en-US" sz="2400" b="1" dirty="0">
                    <a:solidFill>
                      <a:schemeClr val="tx1"/>
                    </a:solidFill>
                    <a:latin typeface="宋体" panose="02010600030101010101" pitchFamily="2" charset="-122"/>
                    <a:ea typeface="宋体" panose="02010600030101010101" pitchFamily="2" charset="-122"/>
                  </a:rPr>
                  <a:t>2.统计量是样本的函数且不含任未知参数。</a:t>
                </a:r>
                <a:r>
                  <a:rPr lang="zh-CN" altLang="en-US" sz="2400" b="1" dirty="0">
                    <a:solidFill>
                      <a:srgbClr val="002060"/>
                    </a:solidFill>
                    <a:latin typeface="宋体" panose="02010600030101010101" pitchFamily="2" charset="-122"/>
                    <a:ea typeface="宋体" panose="02010600030101010101" pitchFamily="2" charset="-122"/>
                  </a:rPr>
                  <a:t>常用的统计量有样本均值和样本方差等。</a:t>
                </a:r>
                <a:r>
                  <a:rPr lang="zh-CN" altLang="en-US" sz="2400" b="1" dirty="0">
                    <a:solidFill>
                      <a:schemeClr val="tx1"/>
                    </a:solidFill>
                    <a:latin typeface="宋体" panose="02010600030101010101" pitchFamily="2" charset="-122"/>
                    <a:ea typeface="宋体" panose="02010600030101010101" pitchFamily="2" charset="-122"/>
                  </a:rPr>
                  <a:t>统计推断中，经常需要利用样本构造出合适的统计量，并使其服从或渐进地服从已知的分布。统计量的分布称为抽样分布。</a:t>
                </a:r>
                <a:endParaRPr lang="en-US" altLang="zh-CN" sz="2400" b="1" dirty="0">
                  <a:solidFill>
                    <a:schemeClr val="tx1"/>
                  </a:solidFill>
                  <a:latin typeface="宋体" panose="02010600030101010101" pitchFamily="2" charset="-122"/>
                  <a:ea typeface="宋体" panose="02010600030101010101" pitchFamily="2" charset="-122"/>
                </a:endParaRPr>
              </a:p>
              <a:p>
                <a:pPr marL="0" indent="0">
                  <a:lnSpc>
                    <a:spcPct val="120000"/>
                  </a:lnSpc>
                  <a:spcBef>
                    <a:spcPts val="1200"/>
                  </a:spcBef>
                  <a:spcAft>
                    <a:spcPts val="0"/>
                  </a:spcAft>
                  <a:buNone/>
                </a:pPr>
                <a:r>
                  <a:rPr lang="zh-CN" altLang="en-US" sz="2400" b="1" dirty="0">
                    <a:solidFill>
                      <a:schemeClr val="tx1"/>
                    </a:solidFill>
                    <a:latin typeface="宋体" panose="02010600030101010101" pitchFamily="2" charset="-122"/>
                    <a:ea typeface="宋体" panose="02010600030101010101" pitchFamily="2" charset="-122"/>
                  </a:rPr>
                  <a:t>3.在正态分布假定下三种常用的分布——卡方分布、t分布和F分布。三种分布的定义、构造原理和重要性质，以及相应分位数的含义和计算方法。</a:t>
                </a:r>
              </a:p>
              <a:p>
                <a:pPr marL="0" indent="0">
                  <a:lnSpc>
                    <a:spcPct val="120000"/>
                  </a:lnSpc>
                  <a:spcBef>
                    <a:spcPts val="1200"/>
                  </a:spcBef>
                  <a:spcAft>
                    <a:spcPts val="0"/>
                  </a:spcAft>
                  <a:buNone/>
                </a:pPr>
                <a:r>
                  <a:rPr lang="zh-CN" altLang="en-US" sz="2400" b="1" dirty="0">
                    <a:solidFill>
                      <a:schemeClr val="tx1"/>
                    </a:solidFill>
                    <a:latin typeface="宋体" panose="02010600030101010101" pitchFamily="2" charset="-122"/>
                    <a:ea typeface="宋体" panose="02010600030101010101" pitchFamily="2" charset="-122"/>
                  </a:rPr>
                  <a:t>4.抽样分布理论中的几个重要定理。这些定理是对正态总体的均值、方差等参数进行统计推断的重要理论基础。</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70022" y="838928"/>
                <a:ext cx="10106526" cy="5333761"/>
              </a:xfrm>
              <a:blipFill>
                <a:blip r:embed="rId2"/>
                <a:stretch>
                  <a:fillRect l="-905" t="-686" r="-362" b="-2286"/>
                </a:stretch>
              </a:blipFill>
            </p:spPr>
            <p:txBody>
              <a:bodyPr/>
              <a:lstStyle/>
              <a:p>
                <a:r>
                  <a:rPr lang="zh-CN" altLang="en-US">
                    <a:noFill/>
                  </a:rPr>
                  <a:t> </a:t>
                </a:r>
              </a:p>
            </p:txBody>
          </p:sp>
        </mc:Fallback>
      </mc:AlternateContent>
      <p:sp>
        <p:nvSpPr>
          <p:cNvPr id="4" name="灯片编号占位符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BD14BD-504E-42EC-A2AB-5F7BAF221D6C}" type="slidenum">
              <a:rPr kumimoji="0" lang="zh-CN" altLang="en-US" sz="1200" b="0" i="0" u="none" strike="noStrike" kern="1200" cap="none" spc="0" normalizeH="0" baseline="0" noProof="0" smtClean="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white">
                  <a:lumMod val="9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标题 1">
            <a:extLst>
              <a:ext uri="{FF2B5EF4-FFF2-40B4-BE49-F238E27FC236}">
                <a16:creationId xmlns:a16="http://schemas.microsoft.com/office/drawing/2014/main" id="{1E8C36D8-A9E4-E0D0-01E2-75A123C4760F}"/>
              </a:ext>
            </a:extLst>
          </p:cNvPr>
          <p:cNvSpPr txBox="1">
            <a:spLocks/>
          </p:cNvSpPr>
          <p:nvPr/>
        </p:nvSpPr>
        <p:spPr>
          <a:xfrm>
            <a:off x="1949115" y="176146"/>
            <a:ext cx="3765885" cy="66278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r>
              <a:rPr lang="zh-CN" altLang="en-US" b="1" kern="0" dirty="0">
                <a:effectLst/>
                <a:latin typeface="+mj-ea"/>
              </a:rPr>
              <a:t>本章小结</a:t>
            </a:r>
            <a:endParaRPr lang="zh-CN" altLang="en-US" b="1" dirty="0">
              <a:effectLs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96D75287-E1B1-470A-8A19-45704DB33131}" vid="{D4134DCF-487D-446D-A1CF-501E36F006C4}"/>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统计学（第3版）PPT模板</Template>
  <TotalTime>1820</TotalTime>
  <Words>5188</Words>
  <Application>Microsoft Office PowerPoint</Application>
  <PresentationFormat>宽屏</PresentationFormat>
  <Paragraphs>434</Paragraphs>
  <Slides>68</Slides>
  <Notes>1</Notes>
  <HiddenSlides>0</HiddenSlides>
  <MMClips>0</MMClips>
  <ScaleCrop>false</ScaleCrop>
  <HeadingPairs>
    <vt:vector size="8" baseType="variant">
      <vt:variant>
        <vt:lpstr>已用的字体</vt:lpstr>
      </vt:variant>
      <vt:variant>
        <vt:i4>10</vt:i4>
      </vt:variant>
      <vt:variant>
        <vt:lpstr>主题</vt:lpstr>
      </vt:variant>
      <vt:variant>
        <vt:i4>3</vt:i4>
      </vt:variant>
      <vt:variant>
        <vt:lpstr>嵌入 OLE 服务器</vt:lpstr>
      </vt:variant>
      <vt:variant>
        <vt:i4>3</vt:i4>
      </vt:variant>
      <vt:variant>
        <vt:lpstr>幻灯片标题</vt:lpstr>
      </vt:variant>
      <vt:variant>
        <vt:i4>68</vt:i4>
      </vt:variant>
    </vt:vector>
  </HeadingPairs>
  <TitlesOfParts>
    <vt:vector size="84" baseType="lpstr">
      <vt:lpstr>等线</vt:lpstr>
      <vt:lpstr>等线 Light</vt:lpstr>
      <vt:lpstr>黑体</vt:lpstr>
      <vt:lpstr>华文中宋</vt:lpstr>
      <vt:lpstr>宋体</vt:lpstr>
      <vt:lpstr>微软雅黑</vt:lpstr>
      <vt:lpstr>Arial</vt:lpstr>
      <vt:lpstr>Cambria Math</vt:lpstr>
      <vt:lpstr>Times New Roman</vt:lpstr>
      <vt:lpstr>Wingdings</vt:lpstr>
      <vt:lpstr>Office 主题​​</vt:lpstr>
      <vt:lpstr>1_Office 主题​​</vt:lpstr>
      <vt:lpstr>2_Office 主题​​</vt:lpstr>
      <vt:lpstr>Equation</vt:lpstr>
      <vt:lpstr>公式</vt:lpstr>
      <vt:lpstr>Equation.DSMT4</vt:lpstr>
      <vt:lpstr>6  统计量与抽样分布</vt:lpstr>
      <vt:lpstr>PowerPoint 演示文稿</vt:lpstr>
      <vt:lpstr>PowerPoint 演示文稿</vt:lpstr>
      <vt:lpstr>PowerPoint 演示文稿</vt:lpstr>
      <vt:lpstr>6.1 总体与样本</vt:lpstr>
      <vt:lpstr>PowerPoint 演示文稿</vt:lpstr>
      <vt:lpstr>PowerPoint 演示文稿</vt:lpstr>
      <vt:lpstr>PowerPoint 演示文稿</vt:lpstr>
      <vt:lpstr>PowerPoint 演示文稿</vt:lpstr>
      <vt:lpstr>PowerPoint 演示文稿</vt:lpstr>
      <vt:lpstr>总体参数</vt:lpstr>
      <vt:lpstr>PowerPoint 演示文稿</vt:lpstr>
      <vt:lpstr>PowerPoint 演示文稿</vt:lpstr>
      <vt:lpstr>PowerPoint 演示文稿</vt:lpstr>
      <vt:lpstr>*6.1.3 样本联合分布函数</vt:lpstr>
      <vt:lpstr>6.1.3 样本联合分布函数（续）</vt:lpstr>
      <vt:lpstr>PowerPoint 演示文稿</vt:lpstr>
      <vt:lpstr>【例6.1】</vt:lpstr>
      <vt:lpstr>【例6.2】</vt:lpstr>
      <vt:lpstr>6.2 样本统计量及其分布</vt:lpstr>
      <vt:lpstr>6.2.1 统计量的定义</vt:lpstr>
      <vt:lpstr>PowerPoint 演示文稿</vt:lpstr>
      <vt:lpstr>6.2.2 常用统计量</vt:lpstr>
      <vt:lpstr>6.2.2 常用统计量（续）</vt:lpstr>
      <vt:lpstr>6.2.2 常用统计量（续）</vt:lpstr>
      <vt:lpstr>PowerPoint 演示文稿</vt:lpstr>
      <vt:lpstr>PowerPoint 演示文稿</vt:lpstr>
      <vt:lpstr>6.2.3 抽样分布的概念</vt:lpstr>
      <vt:lpstr>【例6-3】</vt:lpstr>
      <vt:lpstr>【例6-4】</vt:lpstr>
      <vt:lpstr>6.3 重要的抽样分布及抽样分布定理 </vt:lpstr>
      <vt:lpstr>PowerPoint 演示文稿</vt:lpstr>
      <vt:lpstr>PowerPoint 演示文稿</vt:lpstr>
      <vt:lpstr>PowerPoint 演示文稿</vt:lpstr>
      <vt:lpstr>例——自由度？</vt:lpstr>
      <vt:lpstr>2分布的上侧分位数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 分布的上侧分位数</vt:lpstr>
      <vt:lpstr>PowerPoint 演示文稿</vt:lpstr>
      <vt:lpstr>PowerPoint 演示文稿</vt:lpstr>
      <vt:lpstr>PowerPoint 演示文稿</vt:lpstr>
      <vt:lpstr>PowerPoint 演示文稿</vt:lpstr>
      <vt:lpstr>PowerPoint 演示文稿</vt:lpstr>
      <vt:lpstr>PowerPoint 演示文稿</vt:lpstr>
      <vt:lpstr>利用EXCEL得F分布的分位点</vt:lpstr>
      <vt:lpstr>【附】证</vt:lpstr>
      <vt:lpstr>【附】 t 分布与F分布的关系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【定理6-4】证明</vt:lpstr>
      <vt:lpstr>PowerPoint 演示文稿</vt:lpstr>
    </vt:vector>
  </TitlesOfParts>
  <Company>P R 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蓉美 向</cp:lastModifiedBy>
  <cp:revision>105</cp:revision>
  <dcterms:created xsi:type="dcterms:W3CDTF">2023-12-08T00:49:52Z</dcterms:created>
  <dcterms:modified xsi:type="dcterms:W3CDTF">2024-01-02T00:58:34Z</dcterms:modified>
</cp:coreProperties>
</file>