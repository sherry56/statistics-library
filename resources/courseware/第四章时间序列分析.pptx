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47"/>
  </p:notesMasterIdLst>
  <p:handoutMasterIdLst>
    <p:handoutMasterId r:id="rId148"/>
  </p:handoutMasterIdLst>
  <p:sldIdLst>
    <p:sldId id="443" r:id="rId2"/>
    <p:sldId id="554" r:id="rId3"/>
    <p:sldId id="414" r:id="rId4"/>
    <p:sldId id="452" r:id="rId5"/>
    <p:sldId id="453" r:id="rId6"/>
    <p:sldId id="454" r:id="rId7"/>
    <p:sldId id="455" r:id="rId8"/>
    <p:sldId id="457" r:id="rId9"/>
    <p:sldId id="458" r:id="rId10"/>
    <p:sldId id="459" r:id="rId11"/>
    <p:sldId id="460" r:id="rId12"/>
    <p:sldId id="461" r:id="rId13"/>
    <p:sldId id="462" r:id="rId14"/>
    <p:sldId id="463" r:id="rId15"/>
    <p:sldId id="464" r:id="rId16"/>
    <p:sldId id="465" r:id="rId17"/>
    <p:sldId id="466" r:id="rId18"/>
    <p:sldId id="518" r:id="rId19"/>
    <p:sldId id="519" r:id="rId20"/>
    <p:sldId id="520" r:id="rId21"/>
    <p:sldId id="469" r:id="rId22"/>
    <p:sldId id="470" r:id="rId23"/>
    <p:sldId id="471" r:id="rId24"/>
    <p:sldId id="472" r:id="rId25"/>
    <p:sldId id="563" r:id="rId26"/>
    <p:sldId id="562" r:id="rId27"/>
    <p:sldId id="475" r:id="rId28"/>
    <p:sldId id="523" r:id="rId29"/>
    <p:sldId id="543" r:id="rId30"/>
    <p:sldId id="544" r:id="rId31"/>
    <p:sldId id="483" r:id="rId32"/>
    <p:sldId id="484" r:id="rId33"/>
    <p:sldId id="564" r:id="rId34"/>
    <p:sldId id="524" r:id="rId35"/>
    <p:sldId id="526" r:id="rId36"/>
    <p:sldId id="528" r:id="rId37"/>
    <p:sldId id="529" r:id="rId38"/>
    <p:sldId id="530" r:id="rId39"/>
    <p:sldId id="531" r:id="rId40"/>
    <p:sldId id="532" r:id="rId41"/>
    <p:sldId id="533" r:id="rId42"/>
    <p:sldId id="536" r:id="rId43"/>
    <p:sldId id="497" r:id="rId44"/>
    <p:sldId id="534" r:id="rId45"/>
    <p:sldId id="535" r:id="rId46"/>
    <p:sldId id="537" r:id="rId47"/>
    <p:sldId id="501" r:id="rId48"/>
    <p:sldId id="504" r:id="rId49"/>
    <p:sldId id="505" r:id="rId50"/>
    <p:sldId id="539" r:id="rId51"/>
    <p:sldId id="540" r:id="rId52"/>
    <p:sldId id="541" r:id="rId53"/>
    <p:sldId id="507" r:id="rId54"/>
    <p:sldId id="561" r:id="rId55"/>
    <p:sldId id="508" r:id="rId56"/>
    <p:sldId id="509" r:id="rId57"/>
    <p:sldId id="542" r:id="rId58"/>
    <p:sldId id="511" r:id="rId59"/>
    <p:sldId id="527" r:id="rId60"/>
    <p:sldId id="335" r:id="rId61"/>
    <p:sldId id="336" r:id="rId62"/>
    <p:sldId id="262" r:id="rId63"/>
    <p:sldId id="263" r:id="rId64"/>
    <p:sldId id="264" r:id="rId65"/>
    <p:sldId id="265" r:id="rId66"/>
    <p:sldId id="266" r:id="rId67"/>
    <p:sldId id="267" r:id="rId68"/>
    <p:sldId id="268" r:id="rId69"/>
    <p:sldId id="343" r:id="rId70"/>
    <p:sldId id="269" r:id="rId71"/>
    <p:sldId id="270" r:id="rId72"/>
    <p:sldId id="271" r:id="rId73"/>
    <p:sldId id="272" r:id="rId74"/>
    <p:sldId id="273" r:id="rId75"/>
    <p:sldId id="274" r:id="rId76"/>
    <p:sldId id="275" r:id="rId77"/>
    <p:sldId id="276" r:id="rId78"/>
    <p:sldId id="415" r:id="rId79"/>
    <p:sldId id="416" r:id="rId80"/>
    <p:sldId id="367" r:id="rId81"/>
    <p:sldId id="281" r:id="rId82"/>
    <p:sldId id="551" r:id="rId83"/>
    <p:sldId id="349" r:id="rId84"/>
    <p:sldId id="549" r:id="rId85"/>
    <p:sldId id="353" r:id="rId86"/>
    <p:sldId id="282" r:id="rId87"/>
    <p:sldId id="550" r:id="rId88"/>
    <p:sldId id="354" r:id="rId89"/>
    <p:sldId id="283" r:id="rId90"/>
    <p:sldId id="284" r:id="rId91"/>
    <p:sldId id="556" r:id="rId92"/>
    <p:sldId id="555" r:id="rId93"/>
    <p:sldId id="557" r:id="rId94"/>
    <p:sldId id="558" r:id="rId95"/>
    <p:sldId id="560" r:id="rId96"/>
    <p:sldId id="422" r:id="rId97"/>
    <p:sldId id="423" r:id="rId98"/>
    <p:sldId id="424" r:id="rId99"/>
    <p:sldId id="425" r:id="rId100"/>
    <p:sldId id="547" r:id="rId101"/>
    <p:sldId id="548" r:id="rId102"/>
    <p:sldId id="427" r:id="rId103"/>
    <p:sldId id="285" r:id="rId104"/>
    <p:sldId id="355" r:id="rId105"/>
    <p:sldId id="287" r:id="rId106"/>
    <p:sldId id="399" r:id="rId107"/>
    <p:sldId id="400" r:id="rId108"/>
    <p:sldId id="553" r:id="rId109"/>
    <p:sldId id="403" r:id="rId110"/>
    <p:sldId id="404" r:id="rId111"/>
    <p:sldId id="376" r:id="rId112"/>
    <p:sldId id="297" r:id="rId113"/>
    <p:sldId id="440" r:id="rId114"/>
    <p:sldId id="298" r:id="rId115"/>
    <p:sldId id="377" r:id="rId116"/>
    <p:sldId id="441" r:id="rId117"/>
    <p:sldId id="302" r:id="rId118"/>
    <p:sldId id="304" r:id="rId119"/>
    <p:sldId id="305" r:id="rId120"/>
    <p:sldId id="306" r:id="rId121"/>
    <p:sldId id="307" r:id="rId122"/>
    <p:sldId id="360" r:id="rId123"/>
    <p:sldId id="308" r:id="rId124"/>
    <p:sldId id="309" r:id="rId125"/>
    <p:sldId id="310" r:id="rId126"/>
    <p:sldId id="311" r:id="rId127"/>
    <p:sldId id="364" r:id="rId128"/>
    <p:sldId id="365" r:id="rId129"/>
    <p:sldId id="366" r:id="rId130"/>
    <p:sldId id="316" r:id="rId131"/>
    <p:sldId id="317" r:id="rId132"/>
    <p:sldId id="380" r:id="rId133"/>
    <p:sldId id="381" r:id="rId134"/>
    <p:sldId id="382" r:id="rId135"/>
    <p:sldId id="329" r:id="rId136"/>
    <p:sldId id="565" r:id="rId137"/>
    <p:sldId id="566" r:id="rId138"/>
    <p:sldId id="567" r:id="rId139"/>
    <p:sldId id="568" r:id="rId140"/>
    <p:sldId id="569" r:id="rId141"/>
    <p:sldId id="570" r:id="rId142"/>
    <p:sldId id="383" r:id="rId143"/>
    <p:sldId id="384" r:id="rId144"/>
    <p:sldId id="436" r:id="rId145"/>
    <p:sldId id="437" r:id="rId146"/>
  </p:sldIdLst>
  <p:sldSz cx="9144000" cy="6858000" type="screen4x3"/>
  <p:notesSz cx="6645275" cy="9777413"/>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79">
          <p15:clr>
            <a:srgbClr val="A4A3A4"/>
          </p15:clr>
        </p15:guide>
        <p15:guide id="2" pos="209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ECFF"/>
    <a:srgbClr val="3333FF"/>
    <a:srgbClr val="CCCCFF"/>
    <a:srgbClr val="000000"/>
    <a:srgbClr val="CC0099"/>
    <a:srgbClr val="99CC00"/>
    <a:srgbClr val="CCFF99"/>
    <a:srgbClr val="00FFFF"/>
    <a:srgbClr val="339933"/>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235" autoAdjust="0"/>
    <p:restoredTop sz="89713" autoAdjust="0"/>
  </p:normalViewPr>
  <p:slideViewPr>
    <p:cSldViewPr>
      <p:cViewPr varScale="1">
        <p:scale>
          <a:sx n="76" d="100"/>
          <a:sy n="76" d="100"/>
        </p:scale>
        <p:origin x="414" y="60"/>
      </p:cViewPr>
      <p:guideLst>
        <p:guide orient="horz" pos="2160"/>
        <p:guide pos="2880"/>
      </p:guideLst>
    </p:cSldViewPr>
  </p:slideViewPr>
  <p:outlineViewPr>
    <p:cViewPr>
      <p:scale>
        <a:sx n="25" d="100"/>
        <a:sy n="25" d="100"/>
      </p:scale>
      <p:origin x="0" y="7973"/>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 r:id="rId35" collapse="1"/>
      <p:sld r:id="rId36" collapse="1"/>
      <p:sld r:id="rId37" collapse="1"/>
      <p:sld r:id="rId38" collapse="1"/>
      <p:sld r:id="rId39" collapse="1"/>
      <p:sld r:id="rId40" collapse="1"/>
      <p:sld r:id="rId41" collapse="1"/>
      <p:sld r:id="rId42" collapse="1"/>
      <p:sld r:id="rId43" collapse="1"/>
      <p:sld r:id="rId44" collapse="1"/>
      <p:sld r:id="rId45" collapse="1"/>
      <p:sld r:id="rId46" collapse="1"/>
      <p:sld r:id="rId47" collapse="1"/>
      <p:sld r:id="rId48" collapse="1"/>
      <p:sld r:id="rId49" collapse="1"/>
      <p:sld r:id="rId50" collapse="1"/>
      <p:sld r:id="rId51" collapse="1"/>
      <p:sld r:id="rId52" collapse="1"/>
      <p:sld r:id="rId53" collapse="1"/>
      <p:sld r:id="rId54" collapse="1"/>
      <p:sld r:id="rId55" collapse="1"/>
      <p:sld r:id="rId56" collapse="1"/>
      <p:sld r:id="rId57" collapse="1"/>
      <p:sld r:id="rId58" collapse="1"/>
      <p:sld r:id="rId59" collapse="1"/>
      <p:sld r:id="rId60" collapse="1"/>
      <p:sld r:id="rId61" collapse="1"/>
      <p:sld r:id="rId62" collapse="1"/>
      <p:sld r:id="rId63" collapse="1"/>
      <p:sld r:id="rId64" collapse="1"/>
      <p:sld r:id="rId65" collapse="1"/>
      <p:sld r:id="rId66" collapse="1"/>
      <p:sld r:id="rId67" collapse="1"/>
      <p:sld r:id="rId68" collapse="1"/>
      <p:sld r:id="rId69" collapse="1"/>
      <p:sld r:id="rId70" collapse="1"/>
      <p:sld r:id="rId71" collapse="1"/>
      <p:sld r:id="rId72" collapse="1"/>
      <p:sld r:id="rId73" collapse="1"/>
      <p:sld r:id="rId74" collapse="1"/>
      <p:sld r:id="rId75" collapse="1"/>
      <p:sld r:id="rId76" collapse="1"/>
      <p:sld r:id="rId77" collapse="1"/>
      <p:sld r:id="rId78" collapse="1"/>
      <p:sld r:id="rId79" collapse="1"/>
      <p:sld r:id="rId80" collapse="1"/>
      <p:sld r:id="rId81" collapse="1"/>
      <p:sld r:id="rId82" collapse="1"/>
      <p:sld r:id="rId83" collapse="1"/>
      <p:sld r:id="rId84" collapse="1"/>
      <p:sld r:id="rId85" collapse="1"/>
      <p:sld r:id="rId86" collapse="1"/>
      <p:sld r:id="rId87" collapse="1"/>
      <p:sld r:id="rId88" collapse="1"/>
      <p:sld r:id="rId89" collapse="1"/>
      <p:sld r:id="rId90" collapse="1"/>
      <p:sld r:id="rId91" collapse="1"/>
      <p:sld r:id="rId92" collapse="1"/>
      <p:sld r:id="rId93" collapse="1"/>
      <p:sld r:id="rId94" collapse="1"/>
    </p:sldLst>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45" d="100"/>
          <a:sy n="45" d="100"/>
        </p:scale>
        <p:origin x="-2822" y="-82"/>
      </p:cViewPr>
      <p:guideLst>
        <p:guide orient="horz" pos="3079"/>
        <p:guide pos="2093"/>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handoutMaster" Target="handoutMasters/handoutMaster1.xml"/><Relationship Id="rId15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s>
</file>

<file path=ppt/_rels/viewProps.xml.rels><?xml version="1.0" encoding="UTF-8" standalone="yes"?>
<Relationships xmlns="http://schemas.openxmlformats.org/package/2006/relationships"><Relationship Id="rId13" Type="http://schemas.openxmlformats.org/officeDocument/2006/relationships/slide" Target="slides/slide16.xml"/><Relationship Id="rId18" Type="http://schemas.openxmlformats.org/officeDocument/2006/relationships/slide" Target="slides/slide26.xml"/><Relationship Id="rId26" Type="http://schemas.openxmlformats.org/officeDocument/2006/relationships/slide" Target="slides/slide37.xml"/><Relationship Id="rId39" Type="http://schemas.openxmlformats.org/officeDocument/2006/relationships/slide" Target="slides/slide56.xml"/><Relationship Id="rId21" Type="http://schemas.openxmlformats.org/officeDocument/2006/relationships/slide" Target="slides/slide31.xml"/><Relationship Id="rId34" Type="http://schemas.openxmlformats.org/officeDocument/2006/relationships/slide" Target="slides/slide50.xml"/><Relationship Id="rId42" Type="http://schemas.openxmlformats.org/officeDocument/2006/relationships/slide" Target="slides/slide62.xml"/><Relationship Id="rId47" Type="http://schemas.openxmlformats.org/officeDocument/2006/relationships/slide" Target="slides/slide70.xml"/><Relationship Id="rId50" Type="http://schemas.openxmlformats.org/officeDocument/2006/relationships/slide" Target="slides/slide75.xml"/><Relationship Id="rId55" Type="http://schemas.openxmlformats.org/officeDocument/2006/relationships/slide" Target="slides/slide80.xml"/><Relationship Id="rId63" Type="http://schemas.openxmlformats.org/officeDocument/2006/relationships/slide" Target="slides/slide97.xml"/><Relationship Id="rId68" Type="http://schemas.openxmlformats.org/officeDocument/2006/relationships/slide" Target="slides/slide102.xml"/><Relationship Id="rId76" Type="http://schemas.openxmlformats.org/officeDocument/2006/relationships/slide" Target="slides/slide112.xml"/><Relationship Id="rId84" Type="http://schemas.openxmlformats.org/officeDocument/2006/relationships/slide" Target="slides/slide134.xml"/><Relationship Id="rId89" Type="http://schemas.openxmlformats.org/officeDocument/2006/relationships/slide" Target="slides/slide140.xml"/><Relationship Id="rId7" Type="http://schemas.openxmlformats.org/officeDocument/2006/relationships/slide" Target="slides/slide10.xml"/><Relationship Id="rId71" Type="http://schemas.openxmlformats.org/officeDocument/2006/relationships/slide" Target="slides/slide105.xml"/><Relationship Id="rId92" Type="http://schemas.openxmlformats.org/officeDocument/2006/relationships/slide" Target="slides/slide143.xml"/><Relationship Id="rId2" Type="http://schemas.openxmlformats.org/officeDocument/2006/relationships/slide" Target="slides/slide3.xml"/><Relationship Id="rId16" Type="http://schemas.openxmlformats.org/officeDocument/2006/relationships/slide" Target="slides/slide24.xml"/><Relationship Id="rId29" Type="http://schemas.openxmlformats.org/officeDocument/2006/relationships/slide" Target="slides/slide40.xml"/><Relationship Id="rId11" Type="http://schemas.openxmlformats.org/officeDocument/2006/relationships/slide" Target="slides/slide14.xml"/><Relationship Id="rId24" Type="http://schemas.openxmlformats.org/officeDocument/2006/relationships/slide" Target="slides/slide35.xml"/><Relationship Id="rId32" Type="http://schemas.openxmlformats.org/officeDocument/2006/relationships/slide" Target="slides/slide46.xml"/><Relationship Id="rId37" Type="http://schemas.openxmlformats.org/officeDocument/2006/relationships/slide" Target="slides/slide53.xml"/><Relationship Id="rId40" Type="http://schemas.openxmlformats.org/officeDocument/2006/relationships/slide" Target="slides/slide57.xml"/><Relationship Id="rId45" Type="http://schemas.openxmlformats.org/officeDocument/2006/relationships/slide" Target="slides/slide66.xml"/><Relationship Id="rId53" Type="http://schemas.openxmlformats.org/officeDocument/2006/relationships/slide" Target="slides/slide78.xml"/><Relationship Id="rId58" Type="http://schemas.openxmlformats.org/officeDocument/2006/relationships/slide" Target="slides/slide85.xml"/><Relationship Id="rId66" Type="http://schemas.openxmlformats.org/officeDocument/2006/relationships/slide" Target="slides/slide100.xml"/><Relationship Id="rId74" Type="http://schemas.openxmlformats.org/officeDocument/2006/relationships/slide" Target="slides/slide109.xml"/><Relationship Id="rId79" Type="http://schemas.openxmlformats.org/officeDocument/2006/relationships/slide" Target="slides/slide115.xml"/><Relationship Id="rId87" Type="http://schemas.openxmlformats.org/officeDocument/2006/relationships/slide" Target="slides/slide138.xml"/><Relationship Id="rId5" Type="http://schemas.openxmlformats.org/officeDocument/2006/relationships/slide" Target="slides/slide6.xml"/><Relationship Id="rId61" Type="http://schemas.openxmlformats.org/officeDocument/2006/relationships/slide" Target="slides/slide90.xml"/><Relationship Id="rId82" Type="http://schemas.openxmlformats.org/officeDocument/2006/relationships/slide" Target="slides/slide125.xml"/><Relationship Id="rId90" Type="http://schemas.openxmlformats.org/officeDocument/2006/relationships/slide" Target="slides/slide141.xml"/><Relationship Id="rId19" Type="http://schemas.openxmlformats.org/officeDocument/2006/relationships/slide" Target="slides/slide29.xml"/><Relationship Id="rId14" Type="http://schemas.openxmlformats.org/officeDocument/2006/relationships/slide" Target="slides/slide19.xml"/><Relationship Id="rId22" Type="http://schemas.openxmlformats.org/officeDocument/2006/relationships/slide" Target="slides/slide32.xml"/><Relationship Id="rId27" Type="http://schemas.openxmlformats.org/officeDocument/2006/relationships/slide" Target="slides/slide38.xml"/><Relationship Id="rId30" Type="http://schemas.openxmlformats.org/officeDocument/2006/relationships/slide" Target="slides/slide41.xml"/><Relationship Id="rId35" Type="http://schemas.openxmlformats.org/officeDocument/2006/relationships/slide" Target="slides/slide51.xml"/><Relationship Id="rId43" Type="http://schemas.openxmlformats.org/officeDocument/2006/relationships/slide" Target="slides/slide63.xml"/><Relationship Id="rId48" Type="http://schemas.openxmlformats.org/officeDocument/2006/relationships/slide" Target="slides/slide72.xml"/><Relationship Id="rId56" Type="http://schemas.openxmlformats.org/officeDocument/2006/relationships/slide" Target="slides/slide81.xml"/><Relationship Id="rId64" Type="http://schemas.openxmlformats.org/officeDocument/2006/relationships/slide" Target="slides/slide98.xml"/><Relationship Id="rId69" Type="http://schemas.openxmlformats.org/officeDocument/2006/relationships/slide" Target="slides/slide103.xml"/><Relationship Id="rId77" Type="http://schemas.openxmlformats.org/officeDocument/2006/relationships/slide" Target="slides/slide113.xml"/><Relationship Id="rId8" Type="http://schemas.openxmlformats.org/officeDocument/2006/relationships/slide" Target="slides/slide11.xml"/><Relationship Id="rId51" Type="http://schemas.openxmlformats.org/officeDocument/2006/relationships/slide" Target="slides/slide76.xml"/><Relationship Id="rId72" Type="http://schemas.openxmlformats.org/officeDocument/2006/relationships/slide" Target="slides/slide106.xml"/><Relationship Id="rId80" Type="http://schemas.openxmlformats.org/officeDocument/2006/relationships/slide" Target="slides/slide116.xml"/><Relationship Id="rId85" Type="http://schemas.openxmlformats.org/officeDocument/2006/relationships/slide" Target="slides/slide136.xml"/><Relationship Id="rId93" Type="http://schemas.openxmlformats.org/officeDocument/2006/relationships/slide" Target="slides/slide144.xml"/><Relationship Id="rId3" Type="http://schemas.openxmlformats.org/officeDocument/2006/relationships/slide" Target="slides/slide4.xml"/><Relationship Id="rId12" Type="http://schemas.openxmlformats.org/officeDocument/2006/relationships/slide" Target="slides/slide15.xml"/><Relationship Id="rId17" Type="http://schemas.openxmlformats.org/officeDocument/2006/relationships/slide" Target="slides/slide25.xml"/><Relationship Id="rId25" Type="http://schemas.openxmlformats.org/officeDocument/2006/relationships/slide" Target="slides/slide36.xml"/><Relationship Id="rId33" Type="http://schemas.openxmlformats.org/officeDocument/2006/relationships/slide" Target="slides/slide48.xml"/><Relationship Id="rId38" Type="http://schemas.openxmlformats.org/officeDocument/2006/relationships/slide" Target="slides/slide55.xml"/><Relationship Id="rId46" Type="http://schemas.openxmlformats.org/officeDocument/2006/relationships/slide" Target="slides/slide68.xml"/><Relationship Id="rId59" Type="http://schemas.openxmlformats.org/officeDocument/2006/relationships/slide" Target="slides/slide86.xml"/><Relationship Id="rId67" Type="http://schemas.openxmlformats.org/officeDocument/2006/relationships/slide" Target="slides/slide101.xml"/><Relationship Id="rId20" Type="http://schemas.openxmlformats.org/officeDocument/2006/relationships/slide" Target="slides/slide30.xml"/><Relationship Id="rId41" Type="http://schemas.openxmlformats.org/officeDocument/2006/relationships/slide" Target="slides/slide59.xml"/><Relationship Id="rId54" Type="http://schemas.openxmlformats.org/officeDocument/2006/relationships/slide" Target="slides/slide79.xml"/><Relationship Id="rId62" Type="http://schemas.openxmlformats.org/officeDocument/2006/relationships/slide" Target="slides/slide96.xml"/><Relationship Id="rId70" Type="http://schemas.openxmlformats.org/officeDocument/2006/relationships/slide" Target="slides/slide104.xml"/><Relationship Id="rId75" Type="http://schemas.openxmlformats.org/officeDocument/2006/relationships/slide" Target="slides/slide111.xml"/><Relationship Id="rId83" Type="http://schemas.openxmlformats.org/officeDocument/2006/relationships/slide" Target="slides/slide132.xml"/><Relationship Id="rId88" Type="http://schemas.openxmlformats.org/officeDocument/2006/relationships/slide" Target="slides/slide139.xml"/><Relationship Id="rId91" Type="http://schemas.openxmlformats.org/officeDocument/2006/relationships/slide" Target="slides/slide142.xml"/><Relationship Id="rId1" Type="http://schemas.openxmlformats.org/officeDocument/2006/relationships/slide" Target="slides/slide1.xml"/><Relationship Id="rId6" Type="http://schemas.openxmlformats.org/officeDocument/2006/relationships/slide" Target="slides/slide8.xml"/><Relationship Id="rId15" Type="http://schemas.openxmlformats.org/officeDocument/2006/relationships/slide" Target="slides/slide23.xml"/><Relationship Id="rId23" Type="http://schemas.openxmlformats.org/officeDocument/2006/relationships/slide" Target="slides/slide34.xml"/><Relationship Id="rId28" Type="http://schemas.openxmlformats.org/officeDocument/2006/relationships/slide" Target="slides/slide39.xml"/><Relationship Id="rId36" Type="http://schemas.openxmlformats.org/officeDocument/2006/relationships/slide" Target="slides/slide52.xml"/><Relationship Id="rId49" Type="http://schemas.openxmlformats.org/officeDocument/2006/relationships/slide" Target="slides/slide74.xml"/><Relationship Id="rId57" Type="http://schemas.openxmlformats.org/officeDocument/2006/relationships/slide" Target="slides/slide83.xml"/><Relationship Id="rId10" Type="http://schemas.openxmlformats.org/officeDocument/2006/relationships/slide" Target="slides/slide13.xml"/><Relationship Id="rId31" Type="http://schemas.openxmlformats.org/officeDocument/2006/relationships/slide" Target="slides/slide44.xml"/><Relationship Id="rId44" Type="http://schemas.openxmlformats.org/officeDocument/2006/relationships/slide" Target="slides/slide64.xml"/><Relationship Id="rId52" Type="http://schemas.openxmlformats.org/officeDocument/2006/relationships/slide" Target="slides/slide77.xml"/><Relationship Id="rId60" Type="http://schemas.openxmlformats.org/officeDocument/2006/relationships/slide" Target="slides/slide89.xml"/><Relationship Id="rId65" Type="http://schemas.openxmlformats.org/officeDocument/2006/relationships/slide" Target="slides/slide99.xml"/><Relationship Id="rId73" Type="http://schemas.openxmlformats.org/officeDocument/2006/relationships/slide" Target="slides/slide107.xml"/><Relationship Id="rId78" Type="http://schemas.openxmlformats.org/officeDocument/2006/relationships/slide" Target="slides/slide114.xml"/><Relationship Id="rId81" Type="http://schemas.openxmlformats.org/officeDocument/2006/relationships/slide" Target="slides/slide124.xml"/><Relationship Id="rId86" Type="http://schemas.openxmlformats.org/officeDocument/2006/relationships/slide" Target="slides/slide137.xml"/><Relationship Id="rId94" Type="http://schemas.openxmlformats.org/officeDocument/2006/relationships/slide" Target="slides/slide145.xml"/><Relationship Id="rId4" Type="http://schemas.openxmlformats.org/officeDocument/2006/relationships/slide" Target="slides/slide5.xml"/><Relationship Id="rId9" Type="http://schemas.openxmlformats.org/officeDocument/2006/relationships/slide" Target="slides/slide1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image" Target="../media/image15.wmf"/><Relationship Id="rId7" Type="http://schemas.openxmlformats.org/officeDocument/2006/relationships/image" Target="../media/image19.wmf"/><Relationship Id="rId2" Type="http://schemas.openxmlformats.org/officeDocument/2006/relationships/image" Target="../media/image14.wmf"/><Relationship Id="rId1" Type="http://schemas.openxmlformats.org/officeDocument/2006/relationships/image" Target="../media/image13.wmf"/><Relationship Id="rId6" Type="http://schemas.openxmlformats.org/officeDocument/2006/relationships/image" Target="../media/image18.wmf"/><Relationship Id="rId11" Type="http://schemas.openxmlformats.org/officeDocument/2006/relationships/image" Target="../media/image23.wmf"/><Relationship Id="rId5" Type="http://schemas.openxmlformats.org/officeDocument/2006/relationships/image" Target="../media/image17.wmf"/><Relationship Id="rId10" Type="http://schemas.openxmlformats.org/officeDocument/2006/relationships/image" Target="../media/image22.wmf"/><Relationship Id="rId4" Type="http://schemas.openxmlformats.org/officeDocument/2006/relationships/image" Target="../media/image16.wmf"/><Relationship Id="rId9" Type="http://schemas.openxmlformats.org/officeDocument/2006/relationships/image" Target="../media/image21.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image" Target="../media/image30.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wmf"/><Relationship Id="rId1" Type="http://schemas.openxmlformats.org/officeDocument/2006/relationships/image" Target="../media/image3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image" Target="../media/image39.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image" Target="../media/image42.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image" Target="../media/image44.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image" Target="../media/image46.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9.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53.wmf"/><Relationship Id="rId1" Type="http://schemas.openxmlformats.org/officeDocument/2006/relationships/image" Target="../media/image52.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 Id="rId5" Type="http://schemas.openxmlformats.org/officeDocument/2006/relationships/image" Target="../media/image59.wmf"/><Relationship Id="rId4" Type="http://schemas.openxmlformats.org/officeDocument/2006/relationships/image" Target="../media/image58.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image" Target="../media/image61.wmf"/><Relationship Id="rId1" Type="http://schemas.openxmlformats.org/officeDocument/2006/relationships/image" Target="../media/image60.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63.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66.wmf"/><Relationship Id="rId1" Type="http://schemas.openxmlformats.org/officeDocument/2006/relationships/image" Target="../media/image65.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67.png"/></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72.e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image" Target="../media/image75.emf"/><Relationship Id="rId1" Type="http://schemas.openxmlformats.org/officeDocument/2006/relationships/image" Target="../media/image74.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77.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82.wmf"/><Relationship Id="rId1" Type="http://schemas.openxmlformats.org/officeDocument/2006/relationships/image" Target="../media/image81.w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85.emf"/><Relationship Id="rId1" Type="http://schemas.openxmlformats.org/officeDocument/2006/relationships/image" Target="../media/image84.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94.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96.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97.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98.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image" Target="../media/image100.wmf"/><Relationship Id="rId1" Type="http://schemas.openxmlformats.org/officeDocument/2006/relationships/image" Target="../media/image99.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02.wmf"/></Relationships>
</file>

<file path=ppt/drawings/_rels/vmlDrawing37.vml.rels><?xml version="1.0" encoding="UTF-8" standalone="yes"?>
<Relationships xmlns="http://schemas.openxmlformats.org/package/2006/relationships"><Relationship Id="rId2" Type="http://schemas.openxmlformats.org/officeDocument/2006/relationships/image" Target="../media/image105.wmf"/><Relationship Id="rId1" Type="http://schemas.openxmlformats.org/officeDocument/2006/relationships/image" Target="../media/image104.emf"/></Relationships>
</file>

<file path=ppt/drawings/_rels/vmlDrawing38.vml.rels><?xml version="1.0" encoding="UTF-8" standalone="yes"?>
<Relationships xmlns="http://schemas.openxmlformats.org/package/2006/relationships"><Relationship Id="rId2" Type="http://schemas.openxmlformats.org/officeDocument/2006/relationships/image" Target="../media/image107.emf"/><Relationship Id="rId1" Type="http://schemas.openxmlformats.org/officeDocument/2006/relationships/image" Target="../media/image106.emf"/></Relationships>
</file>

<file path=ppt/drawings/_rels/vmlDrawing39.vml.rels><?xml version="1.0" encoding="UTF-8" standalone="yes"?>
<Relationships xmlns="http://schemas.openxmlformats.org/package/2006/relationships"><Relationship Id="rId2" Type="http://schemas.openxmlformats.org/officeDocument/2006/relationships/image" Target="../media/image109.emf"/><Relationship Id="rId1" Type="http://schemas.openxmlformats.org/officeDocument/2006/relationships/image" Target="../media/image108.e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112.emf"/><Relationship Id="rId2" Type="http://schemas.openxmlformats.org/officeDocument/2006/relationships/image" Target="../media/image111.emf"/><Relationship Id="rId1" Type="http://schemas.openxmlformats.org/officeDocument/2006/relationships/image" Target="../media/image110.emf"/><Relationship Id="rId4" Type="http://schemas.openxmlformats.org/officeDocument/2006/relationships/image" Target="../media/image113.e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116.emf"/><Relationship Id="rId2" Type="http://schemas.openxmlformats.org/officeDocument/2006/relationships/image" Target="../media/image115.emf"/><Relationship Id="rId1" Type="http://schemas.openxmlformats.org/officeDocument/2006/relationships/image" Target="../media/image114.emf"/><Relationship Id="rId4" Type="http://schemas.openxmlformats.org/officeDocument/2006/relationships/image" Target="../media/image117.e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120.emf"/><Relationship Id="rId2" Type="http://schemas.openxmlformats.org/officeDocument/2006/relationships/image" Target="../media/image119.wmf"/><Relationship Id="rId1" Type="http://schemas.openxmlformats.org/officeDocument/2006/relationships/image" Target="../media/image118.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121.wmf"/></Relationships>
</file>

<file path=ppt/drawings/_rels/vmlDrawing44.vml.rels><?xml version="1.0" encoding="UTF-8" standalone="yes"?>
<Relationships xmlns="http://schemas.openxmlformats.org/package/2006/relationships"><Relationship Id="rId2" Type="http://schemas.openxmlformats.org/officeDocument/2006/relationships/image" Target="../media/image123.wmf"/><Relationship Id="rId1" Type="http://schemas.openxmlformats.org/officeDocument/2006/relationships/image" Target="../media/image122.wmf"/></Relationships>
</file>

<file path=ppt/drawings/_rels/vmlDrawing45.vml.rels><?xml version="1.0" encoding="UTF-8" standalone="yes"?>
<Relationships xmlns="http://schemas.openxmlformats.org/package/2006/relationships"><Relationship Id="rId2" Type="http://schemas.openxmlformats.org/officeDocument/2006/relationships/image" Target="../media/image125.wmf"/><Relationship Id="rId1" Type="http://schemas.openxmlformats.org/officeDocument/2006/relationships/image" Target="../media/image124.w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127.w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130.wmf"/><Relationship Id="rId2" Type="http://schemas.openxmlformats.org/officeDocument/2006/relationships/image" Target="../media/image129.emf"/><Relationship Id="rId1" Type="http://schemas.openxmlformats.org/officeDocument/2006/relationships/image" Target="../media/image128.wmf"/></Relationships>
</file>

<file path=ppt/drawings/_rels/vmlDrawing48.vml.rels><?xml version="1.0" encoding="UTF-8" standalone="yes"?>
<Relationships xmlns="http://schemas.openxmlformats.org/package/2006/relationships"><Relationship Id="rId2" Type="http://schemas.openxmlformats.org/officeDocument/2006/relationships/image" Target="../media/image132.emf"/><Relationship Id="rId1" Type="http://schemas.openxmlformats.org/officeDocument/2006/relationships/image" Target="../media/image131.e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133.w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134.w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135.wmf"/></Relationships>
</file>

<file path=ppt/drawings/_rels/vmlDrawing52.vml.rels><?xml version="1.0" encoding="UTF-8" standalone="yes"?>
<Relationships xmlns="http://schemas.openxmlformats.org/package/2006/relationships"><Relationship Id="rId3" Type="http://schemas.openxmlformats.org/officeDocument/2006/relationships/image" Target="../media/image139.emf"/><Relationship Id="rId2" Type="http://schemas.openxmlformats.org/officeDocument/2006/relationships/image" Target="../media/image138.wmf"/><Relationship Id="rId1" Type="http://schemas.openxmlformats.org/officeDocument/2006/relationships/image" Target="../media/image137.wmf"/></Relationships>
</file>

<file path=ppt/drawings/_rels/vmlDrawing53.vml.rels><?xml version="1.0" encoding="UTF-8" standalone="yes"?>
<Relationships xmlns="http://schemas.openxmlformats.org/package/2006/relationships"><Relationship Id="rId3" Type="http://schemas.openxmlformats.org/officeDocument/2006/relationships/image" Target="../media/image142.wmf"/><Relationship Id="rId2" Type="http://schemas.openxmlformats.org/officeDocument/2006/relationships/image" Target="../media/image141.wmf"/><Relationship Id="rId1" Type="http://schemas.openxmlformats.org/officeDocument/2006/relationships/image" Target="../media/image140.emf"/><Relationship Id="rId4" Type="http://schemas.openxmlformats.org/officeDocument/2006/relationships/image" Target="../media/image143.wmf"/></Relationships>
</file>

<file path=ppt/drawings/_rels/vmlDrawing54.vml.rels><?xml version="1.0" encoding="UTF-8" standalone="yes"?>
<Relationships xmlns="http://schemas.openxmlformats.org/package/2006/relationships"><Relationship Id="rId3" Type="http://schemas.openxmlformats.org/officeDocument/2006/relationships/image" Target="../media/image146.emf"/><Relationship Id="rId2" Type="http://schemas.openxmlformats.org/officeDocument/2006/relationships/image" Target="../media/image145.emf"/><Relationship Id="rId1" Type="http://schemas.openxmlformats.org/officeDocument/2006/relationships/image" Target="../media/image144.emf"/><Relationship Id="rId6" Type="http://schemas.openxmlformats.org/officeDocument/2006/relationships/image" Target="../media/image149.emf"/><Relationship Id="rId5" Type="http://schemas.openxmlformats.org/officeDocument/2006/relationships/image" Target="../media/image148.emf"/><Relationship Id="rId4" Type="http://schemas.openxmlformats.org/officeDocument/2006/relationships/image" Target="../media/image147.e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150.w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151.emf"/></Relationships>
</file>

<file path=ppt/drawings/_rels/vmlDrawing57.vml.rels><?xml version="1.0" encoding="UTF-8" standalone="yes"?>
<Relationships xmlns="http://schemas.openxmlformats.org/package/2006/relationships"><Relationship Id="rId2" Type="http://schemas.openxmlformats.org/officeDocument/2006/relationships/image" Target="../media/image154.emf"/><Relationship Id="rId1" Type="http://schemas.openxmlformats.org/officeDocument/2006/relationships/image" Target="../media/image153.emf"/></Relationships>
</file>

<file path=ppt/drawings/_rels/vmlDrawing58.vml.rels><?xml version="1.0" encoding="UTF-8" standalone="yes"?>
<Relationships xmlns="http://schemas.openxmlformats.org/package/2006/relationships"><Relationship Id="rId3" Type="http://schemas.openxmlformats.org/officeDocument/2006/relationships/image" Target="../media/image158.emf"/><Relationship Id="rId2" Type="http://schemas.openxmlformats.org/officeDocument/2006/relationships/image" Target="../media/image157.emf"/><Relationship Id="rId1" Type="http://schemas.openxmlformats.org/officeDocument/2006/relationships/image" Target="../media/image156.emf"/></Relationships>
</file>

<file path=ppt/drawings/_rels/vmlDrawing59.vml.rels><?xml version="1.0" encoding="UTF-8" standalone="yes"?>
<Relationships xmlns="http://schemas.openxmlformats.org/package/2006/relationships"><Relationship Id="rId2" Type="http://schemas.openxmlformats.org/officeDocument/2006/relationships/image" Target="../media/image160.emf"/><Relationship Id="rId1" Type="http://schemas.openxmlformats.org/officeDocument/2006/relationships/image" Target="../media/image159.emf"/></Relationships>
</file>

<file path=ppt/drawings/_rels/vmlDrawing60.vml.rels><?xml version="1.0" encoding="UTF-8" standalone="yes"?>
<Relationships xmlns="http://schemas.openxmlformats.org/package/2006/relationships"><Relationship Id="rId2" Type="http://schemas.openxmlformats.org/officeDocument/2006/relationships/image" Target="../media/image162.emf"/><Relationship Id="rId1" Type="http://schemas.openxmlformats.org/officeDocument/2006/relationships/image" Target="../media/image16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879725" cy="488950"/>
          </a:xfrm>
          <a:prstGeom prst="rect">
            <a:avLst/>
          </a:prstGeom>
        </p:spPr>
        <p:txBody>
          <a:bodyPr vert="horz" lIns="91430" tIns="45716" rIns="91430" bIns="45716" rtlCol="0"/>
          <a:lstStyle>
            <a:lvl1pPr algn="l">
              <a:defRPr sz="1200">
                <a:latin typeface="Arial" charset="0"/>
              </a:defRPr>
            </a:lvl1pPr>
          </a:lstStyle>
          <a:p>
            <a:pPr>
              <a:defRPr/>
            </a:pPr>
            <a:endParaRPr lang="zh-CN" altLang="en-US"/>
          </a:p>
        </p:txBody>
      </p:sp>
      <p:sp>
        <p:nvSpPr>
          <p:cNvPr id="4" name="页脚占位符 3"/>
          <p:cNvSpPr>
            <a:spLocks noGrp="1"/>
          </p:cNvSpPr>
          <p:nvPr>
            <p:ph type="ftr" sz="quarter" idx="2"/>
          </p:nvPr>
        </p:nvSpPr>
        <p:spPr>
          <a:xfrm>
            <a:off x="0" y="9286875"/>
            <a:ext cx="2879725" cy="488950"/>
          </a:xfrm>
          <a:prstGeom prst="rect">
            <a:avLst/>
          </a:prstGeom>
        </p:spPr>
        <p:txBody>
          <a:bodyPr vert="horz" lIns="91430" tIns="45716" rIns="91430" bIns="45716" rtlCol="0" anchor="b"/>
          <a:lstStyle>
            <a:lvl1pPr algn="l">
              <a:defRPr sz="1200">
                <a:latin typeface="Arial" charset="0"/>
              </a:defRPr>
            </a:lvl1pPr>
          </a:lstStyle>
          <a:p>
            <a:pPr>
              <a:defRPr/>
            </a:pPr>
            <a:endParaRPr lang="zh-CN" altLang="en-US"/>
          </a:p>
        </p:txBody>
      </p:sp>
      <p:sp>
        <p:nvSpPr>
          <p:cNvPr id="5" name="灯片编号占位符 4"/>
          <p:cNvSpPr>
            <a:spLocks noGrp="1"/>
          </p:cNvSpPr>
          <p:nvPr>
            <p:ph type="sldNum" sz="quarter" idx="3"/>
          </p:nvPr>
        </p:nvSpPr>
        <p:spPr>
          <a:xfrm>
            <a:off x="3763963" y="9286875"/>
            <a:ext cx="2879725" cy="488950"/>
          </a:xfrm>
          <a:prstGeom prst="rect">
            <a:avLst/>
          </a:prstGeom>
        </p:spPr>
        <p:txBody>
          <a:bodyPr vert="horz" lIns="91430" tIns="45716" rIns="91430" bIns="45716" rtlCol="0" anchor="b"/>
          <a:lstStyle>
            <a:lvl1pPr algn="r">
              <a:defRPr sz="1200">
                <a:latin typeface="Arial" charset="0"/>
              </a:defRPr>
            </a:lvl1pPr>
          </a:lstStyle>
          <a:p>
            <a:pPr>
              <a:defRPr/>
            </a:pPr>
            <a:fld id="{32553A64-0830-4558-9BE4-8CA7D0CEA78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hf hdr="0" ftr="0"/>
</p:handoutMaster>
</file>

<file path=ppt/ink/ink1.xml><?xml version="1.0" encoding="utf-8"?>
<inkml:ink xmlns:inkml="http://www.w3.org/2003/InkML">
  <inkml:definitions>
    <inkml:context xml:id="ctx0">
      <inkml:inkSource xml:id="inkSrc0">
        <inkml:traceFormat>
          <inkml:channel name="X" type="integer" max="1600" units="cm"/>
          <inkml:channel name="Y" type="integer" max="900" units="cm"/>
        </inkml:traceFormat>
        <inkml:channelProperties>
          <inkml:channelProperty channel="X" name="resolution" value="28.36879" units="1/cm"/>
          <inkml:channelProperty channel="Y" name="resolution" value="28.30189" units="1/cm"/>
        </inkml:channelProperties>
      </inkml:inkSource>
      <inkml:timestamp xml:id="ts0" timeString="2018-10-15T03:17:18.67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707 63,'0'0,"-22"0,22 21,0 0,-21 22,21-22,0 21,0-42,0 43,0-22,0-21,0 21,0 0,0-21,0 21,0 0,0-21,0 22,21-22,-21 0,0 0,22 21,-1 0,0-21,-21 0,22 0,-22 21,22-21,-1 0,-21 0,21 0,0 0,-21 0,22 0,0 0,-22-21,21 21</inkml:trace>
  <inkml:trace contextRef="#ctx0" brushRef="#br0" timeOffset="1240">985 105,'0'-21,"0"0,0 21,0 21,0 0,0-21,0 22,0-1,0-21,-21 42,21-21,0 0,0-21,-21 22,21-1,0-21,0 21,0 0,0 0,0-21,0 21,0 1,0-1,-22-21,22 42,0-21,0-21,0 21,0 1,0-22,0 42,-21-21,21-21,0 21,0 0,-22 1,22-22,0 21,0 0,0-1,-22 1,22 0,0 1,-21-22,21 42,0-21,-21-21,21 21,0 0,0 1,-21-1,21 0,-22-21,22 21,0 0,0 0,-22-21,22 0,-21 0,0 22,-1-22,1 21,0-21,-1 0,0 0,1 0,21 0,-21 0,0 0,-1 0,-21 0,0 0,22 0,-23 0,2 0,42 0,-43 0,0 0,22-21,-1 21,1-22,0 22,0 0,-2 0,23 0,-21-21,0 21,0 0,21-21,0 21,-22 0,1-21,21 0,0 0</inkml:trace>
  <inkml:trace contextRef="#ctx0" brushRef="#br0" timeOffset="3160">1050 1057,'0'0,"-21"0,21 0,-23 0,2 0,21 0,-21 0,21 21,0-21,0 21,-21-21,-1 0,22 0,-21 0,21 21,0 1,0-22,0 0,-22 0,22 21,-22-21,22 21,0 0,0-21,0 21,0 0,0 1,0-22,0 21,0 0,0-21,0 0,22 0,-22 21,0-21,0 21,22-21,-1 0,1 0,-22 21,0-21,21 0,0 0,0 0,-21 0,23 0,-2 0,-21 0,21 0,0 0,-21 0,22 0,-22-21,0 21,21-21,-21 21,22 0,-22-21,21 21,-21-21,0 21,0 0,0-21,0-1,22 1,-22 21,0-21,0 0,21 0,-21 21,0-21,0-1,0 22,0-21,0 21,-21 0,21 0,-22 0,1 0,-1 0,22-21,0 21,-21 0,-1 0,1 0,21 0,-21 0,0 0,21 0,-23 0,2 0</inkml:trace>
  <inkml:trace contextRef="#ctx0" brushRef="#br0" timeOffset="6380">514 211,'0'0,"0"0,0-21,0 0,0 21,0-21,0 0,0-1,0 22,0 0,0-21,0 0,22 21,-22-21,21 21,-21-21,21 0,-21 21,21 0,1 0,0 0,-22 0,21 0,0 0,-21 0,22 0,-22 0,0 0,0 21,0-21,0 21,0 0,0-21,0 21,0-21,0 0,-22 0</inkml:trace>
  <inkml:trace contextRef="#ctx0" brushRef="#br0" timeOffset="8840">1029 0,'0'0,"0"0,-23 0,23 21,0-21,0 0,0 21,-21-21,21 21,-21-21,21 21,-21-21</inkml:trace>
  <inkml:trace contextRef="#ctx0" brushRef="#br0" timeOffset="10710">1457 1163,'0'0,"21"0,0 0,-21 0,22 0,0 0,-1 0,-21 0,21 0,1 0,-22 0,21 0,0 0,-21 0,-21 0,21 0,-21 0,-1 0,22 0,-21 0,21 0,-21 0,-1 0,22 0,-22 0,1 0,0 0</inkml:trace>
</inkml:ink>
</file>

<file path=ppt/ink/ink2.xml><?xml version="1.0" encoding="utf-8"?>
<inkml:ink xmlns:inkml="http://www.w3.org/2003/InkML">
  <inkml:definitions>
    <inkml:context xml:id="ctx0">
      <inkml:inkSource xml:id="inkSrc0">
        <inkml:traceFormat>
          <inkml:channel name="X" type="integer" max="1600" units="cm"/>
          <inkml:channel name="Y" type="integer" max="900" units="cm"/>
        </inkml:traceFormat>
        <inkml:channelProperties>
          <inkml:channelProperty channel="X" name="resolution" value="28.36879" units="1/cm"/>
          <inkml:channelProperty channel="Y" name="resolution" value="28.30189" units="1/cm"/>
        </inkml:channelProperties>
      </inkml:inkSource>
      <inkml:timestamp xml:id="ts0" timeString="2018-10-15T03:17:34.71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192 43,'0'0,"0"0,0 0,0 0,21 21,-21 0,0-1,0-20,0 21,21 1,-21-22,0 21,0 0,0 0,0-21,0 21,0 0,0 1,0-22,0 0,0 21,0-1,0 1,-21-21,21 0,0 21,0 0,0-21,0 22,0-1,0 0,0-21,0 21,0 0,0-21,21 0,1 0,-1 0,-21 0,21 0,-21 0,21 0,0 0,-21 0,21-21,1 21,-22 0,21 0,-21-21,0 21,0-21,21 21,-21-21,21 21,-21-22,0 22,0-21,0 21,21-21,-21 0,21 1,-21 20,0-21,22-1,-22 1,0 21,0-21,0 0,0 0,0 21,0-21,0-1,0 22,0-21,0 1,0-1,0 21,0 0,0-21,0 0,0-1,0 22,0 0,0 22,0-1,0-21,0 21,0 0,0-1,0-20,0 21,0 1,0-22,0 21,0 0,0 0,0-21,0 42,0-20,0-22,0 21,0-1,-22 1,22-21,0 21,0 0,0 1,0-22,0 21,0 0,0-21,0 21,0 0,0-1,0-20,0 22,0-1,0 0,0-21,0 21,0 0,0-21,-21 21,21 1,0-1,0-21,0 21,0-1,0 1,0-21,0 21,0-21,0 22,0-22,-21 0,21 21,-21-21,21 21,0-21,0 21,-21-21,21 0,-21 0,21 21,-22-21,22 21,0-21,0 21,-21-21,0 0,21 0,-21 0,21 21,-21-21,0 21,-1-21,22 0,0 0,-21 0,21 21,-21-21,21 0,-21 0,0 0,0 0,21 0,-22 0,1 0,0 0,21 0,-21 0,21 0,-21 0,21-21,0 21,0-21,0 21,-21 0,21-21,0 0,0 0,0 21,0-21,0 0</inkml:trace>
  <inkml:trace contextRef="#ctx0" brushRef="#br0" timeOffset="4280">531 822,'0'-21,"0"21,0 0,0 21,0-21,0 21,0 0,0 0,0-21,0 21,0 0,0 0,0-21,0 0,0 21,0 0,-21-21,21 21,0 1,-22-1,22-21,0 21,0 0,0-21,0 20,0-20,-21 21,21 1,0-22,0 0,0-22,0 22,21-21,-21 1,22-1,-22 21,0-21,21 0,-21-1,0 22,0-21,0 0,0 21,21-21,-21 0,0 0,21 21,-21 0,21 0,-21-21,0 21,0-21,21 21,1-21,-22 21,21 0,0 0,0 0,-21 0,21 0,-21 0,0 21,0 0,0-21,0 0,0 21,0 0,-21 0,21-21,-21 21,21 0,-21-21,21 21,0 1,0-1,0-21,0 21,0 0,0-1,0-20,0 21,0 1,0-22,0 21,21 0,0-21,-21 0,21 0,0 0,1 0,-22 0,21 0,0 0</inkml:trace>
  <inkml:trace contextRef="#ctx0" brushRef="#br0" timeOffset="8640">23 190,'0'0,"0"0,0 0,0 0,0-21,21 21,-21-21,0 21,21 0,-21-22,21 22,0-21,-21 21,22 0,-22-20,21 20,-21 0,21 0</inkml:trace>
</inkml:ink>
</file>

<file path=ppt/ink/ink3.xml><?xml version="1.0" encoding="utf-8"?>
<inkml:ink xmlns:inkml="http://www.w3.org/2003/InkML">
  <inkml:definitions>
    <inkml:context xml:id="ctx0">
      <inkml:inkSource xml:id="inkSrc0">
        <inkml:traceFormat>
          <inkml:channel name="X" type="integer" max="1600" units="cm"/>
          <inkml:channel name="Y" type="integer" max="900" units="cm"/>
        </inkml:traceFormat>
        <inkml:channelProperties>
          <inkml:channelProperty channel="X" name="resolution" value="28.36879" units="1/cm"/>
          <inkml:channelProperty channel="Y" name="resolution" value="28.30189" units="1/cm"/>
        </inkml:channelProperties>
      </inkml:inkSource>
      <inkml:timestamp xml:id="ts0" timeString="2018-10-15T03:17:48.42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205 21,'21'0,"-1"-21,-20 21,21 0,-1 0,1 0,-21 0,21 0,-1 0,-20 0,0 0,0 21,0-1,0-20,0 22,0-1,0 0,0-21,-20 0</inkml:trace>
  <inkml:trace contextRef="#ctx0" brushRef="#br0" timeOffset="1490">329 105,'0'0,"-21"0,0 0,1 0,20 0,0 0</inkml:trace>
  <inkml:trace contextRef="#ctx0" brushRef="#br0" timeOffset="2160">246 105,'0'-21,"-20"21,-1 0</inkml:trace>
  <inkml:trace contextRef="#ctx0" brushRef="#br0" timeOffset="3090">308 334,'0'0,"0"0,-21 0,1 0,20 0,0 0,-21 0,1 0,-1 0,21 0,-20 0,-1 0,21 0,-21 0,1 0,0 0,20 0,-21 0,21 0,-20 0,-1 0,21 21,0 0,0-21,0 0,0 21,-21-21,21 20,-20 2,20-22,0 21,0-1,0 1,0-21,0 21,0 0,0 0,0-21,0 21,0 0,0-21,0 20,0 1,0 0,0-21,0 22,0-2,0-20,0 21,0-21,0 0,0 21,0-1,20-20,-20 0,21 0,0 0,-1 21,-20-21,21 0,-1 0,0 0,-20 0,21 0,0 0,-21 0,20 0,1 0,-1 0,-20 0,21 0,-21 0,20 0,1 0,-21 0,0 0,21 0,-21-21,20 21,-20-20,20 20,-20 0,0-21,0 0,0 1,0 20,0-22,0 1,0 0,0 21,0-20,0-1,0 21,0-21,0 0,0 0,0 21,0-21,0 0,0 1,0 20,0-21,0-1,0 2,0 20,0 0,-20 0,0-21,20 21,-21 0,0 0,1 0,20 0,-21 0,1 0</inkml:trace>
</inkml:ink>
</file>

<file path=ppt/ink/ink4.xml><?xml version="1.0" encoding="utf-8"?>
<inkml:ink xmlns:inkml="http://www.w3.org/2003/InkML">
  <inkml:definitions>
    <inkml:context xml:id="ctx0">
      <inkml:inkSource xml:id="inkSrc0">
        <inkml:traceFormat>
          <inkml:channel name="X" type="integer" max="1600" units="cm"/>
          <inkml:channel name="Y" type="integer" max="900" units="cm"/>
        </inkml:traceFormat>
        <inkml:channelProperties>
          <inkml:channelProperty channel="X" name="resolution" value="28.36879" units="1/cm"/>
          <inkml:channelProperty channel="Y" name="resolution" value="28.30189" units="1/cm"/>
        </inkml:channelProperties>
      </inkml:inkSource>
      <inkml:timestamp xml:id="ts0" timeString="2018-10-15T03:18:11.34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359 42,'0'0,"0"-21,0 21,0-21,0 21,0 0,0 21,0 0,0 0,0-21,-21 0,21 21,0 0,-21-21,21 22</inkml:trace>
  <inkml:trace contextRef="#ctx0" brushRef="#br0" timeOffset="2530">86 233,'0'0,"0"0,21 0,-21 22,0-22,0 21,0 0,0 0,0-21,0 21,0 0,0-21,0 22,0-1,0 0,21-21,-21 21,0 0,0 0,0-21,0 22,0-1,0-21,0 21,0 0,0 0,0-21,0 21,0 1,-21-1,21 0,-21 22,21-43,0 21,-21 1,21-1,0-21,0 21,0 0,-20 0,20-21,-22 21,22 1,0-1,-21-21,21 0,0 0,0-21,0-1,0 22,0-21,0 0,0 0,21 21,-21-21,22 0,-22-1,0 22,0-21,0 0,20-1,1 1,0 0,-21 21,0-43,0 1,21 42,-21-21,21 0,-21-1,0 22,22-21,-22 0,0 21,20-21,1 21,-21 0,21 0,-21-21,21 21,-21-21,21 21,-21 0,22-22,-2 22,-20-21,21 21,-21 0,0-21,21 21,0 0,0 0,-21 0,22 0,-1 0,-21 0,0 21,0 0,0-21,0 22,0-1,0-21,0 0,0 21,0 0,0 0,0-21,0 21,-21-21,21 22,0-1,0-21,0 0,0 21,0 0,0-21,0 21,-22 0,22 1,0-22,-21 21,21 0,-21-21,21 22,0-22,0 21,0-21,0 21,0-21,0 22,0-1,0 0,0-21,0 21,0 0,0 0,0-21,0 0,21 0,0 0,-21 0,22 22,-1-22,-21 0,20 0,1 0,0 0,-21 0</inkml:trace>
  <inkml:trace contextRef="#ctx0" brushRef="#br0" timeOffset="7080">401 105,'0'-21,"-21"21,21-21,0 21,0 0,0 0,0 21,0 0,0-21,0 22,0-1,0 0,0-21,0 21,0 0,0-21,21 22,-21 0,0-22,0 0,0-22,0 0,0 1,0 21,0-21,0 0,0 0,0 21,22 0,-1 0,-1 0,-20 0,-20 0,-1 0,21-22,0 22,0-21,0 21,-22-21,22 21,0 0,22 0,-1 0,-1 0,-20 0,0 21,0 0,0-21,0 22,0-22,-20 0,-1 0,21 21,-22-21,22 0,0-21,0 21,0-22,-21 1,21 21,0-21,0 0,0 0,21 21,-21 0,0 0,22 0,-22 21,0 0,21-21</inkml:trace>
  <inkml:trace contextRef="#ctx0" brushRef="#br0" timeOffset="21570">2 382,'0'0,"21"0,-21-22,0 22,0-21,0 0,22 21,-22 0</inkml:trace>
  <inkml:trace contextRef="#ctx0" brushRef="#br0" timeOffset="22310">45 318,'0'-21,"20"21,1 0,-21 0,21 0,-21 0,21 21,-21 0,0-21,0 21</inkml:trace>
  <inkml:trace contextRef="#ctx0" brushRef="#br0" timeOffset="25230">171 487,'0'0,"0"0,0-21,0 0,0 0,20 21,-20 0,0 0,21-21,0 21,-21-21,21 21,-21 0,0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2879725" cy="488950"/>
          </a:xfrm>
          <a:prstGeom prst="rect">
            <a:avLst/>
          </a:prstGeom>
          <a:noFill/>
          <a:ln w="9525">
            <a:noFill/>
            <a:miter lim="800000"/>
            <a:headEnd/>
            <a:tailEnd/>
          </a:ln>
          <a:effectLst/>
        </p:spPr>
        <p:txBody>
          <a:bodyPr vert="horz" wrap="square" lIns="91430" tIns="45716" rIns="91430" bIns="45716" numCol="1" anchor="t" anchorCtr="0" compatLnSpc="1">
            <a:prstTxWarp prst="textNoShape">
              <a:avLst/>
            </a:prstTxWarp>
          </a:bodyPr>
          <a:lstStyle>
            <a:lvl1pPr>
              <a:defRPr sz="1200">
                <a:latin typeface="Arial" charset="0"/>
              </a:defRPr>
            </a:lvl1pPr>
          </a:lstStyle>
          <a:p>
            <a:pPr>
              <a:defRPr/>
            </a:pPr>
            <a:endParaRPr lang="en-US" altLang="zh-CN"/>
          </a:p>
        </p:txBody>
      </p:sp>
      <p:sp>
        <p:nvSpPr>
          <p:cNvPr id="10243" name="Rectangle 3"/>
          <p:cNvSpPr>
            <a:spLocks noGrp="1" noChangeArrowheads="1"/>
          </p:cNvSpPr>
          <p:nvPr>
            <p:ph type="dt" idx="1"/>
          </p:nvPr>
        </p:nvSpPr>
        <p:spPr bwMode="auto">
          <a:xfrm>
            <a:off x="3763963" y="0"/>
            <a:ext cx="2879725" cy="488950"/>
          </a:xfrm>
          <a:prstGeom prst="rect">
            <a:avLst/>
          </a:prstGeom>
          <a:noFill/>
          <a:ln w="9525">
            <a:noFill/>
            <a:miter lim="800000"/>
            <a:headEnd/>
            <a:tailEnd/>
          </a:ln>
          <a:effectLst/>
        </p:spPr>
        <p:txBody>
          <a:bodyPr vert="horz" wrap="square" lIns="91430" tIns="45716" rIns="91430" bIns="45716" numCol="1" anchor="t" anchorCtr="0" compatLnSpc="1">
            <a:prstTxWarp prst="textNoShape">
              <a:avLst/>
            </a:prstTxWarp>
          </a:bodyPr>
          <a:lstStyle>
            <a:lvl1pPr algn="r">
              <a:defRPr sz="1200">
                <a:latin typeface="Arial" charset="0"/>
              </a:defRPr>
            </a:lvl1pPr>
          </a:lstStyle>
          <a:p>
            <a:pPr>
              <a:defRPr/>
            </a:pPr>
            <a:endParaRPr lang="en-US" altLang="zh-CN"/>
          </a:p>
        </p:txBody>
      </p:sp>
      <p:sp>
        <p:nvSpPr>
          <p:cNvPr id="154628" name="Rectangle 4"/>
          <p:cNvSpPr>
            <a:spLocks noGrp="1" noRot="1" noChangeAspect="1" noChangeArrowheads="1" noTextEdit="1"/>
          </p:cNvSpPr>
          <p:nvPr>
            <p:ph type="sldImg" idx="2"/>
          </p:nvPr>
        </p:nvSpPr>
        <p:spPr bwMode="auto">
          <a:xfrm>
            <a:off x="802357" y="712242"/>
            <a:ext cx="4889500" cy="3667125"/>
          </a:xfrm>
          <a:prstGeom prst="rect">
            <a:avLst/>
          </a:prstGeom>
          <a:noFill/>
          <a:ln w="9525">
            <a:solidFill>
              <a:srgbClr val="000000"/>
            </a:solidFill>
            <a:miter lim="800000"/>
            <a:headEnd/>
            <a:tailEnd/>
          </a:ln>
        </p:spPr>
      </p:sp>
      <p:sp>
        <p:nvSpPr>
          <p:cNvPr id="10245" name="Rectangle 5"/>
          <p:cNvSpPr>
            <a:spLocks noGrp="1" noChangeArrowheads="1"/>
          </p:cNvSpPr>
          <p:nvPr>
            <p:ph type="body" sz="quarter" idx="3"/>
          </p:nvPr>
        </p:nvSpPr>
        <p:spPr bwMode="auto">
          <a:xfrm>
            <a:off x="665163" y="4645025"/>
            <a:ext cx="5314950" cy="4398963"/>
          </a:xfrm>
          <a:prstGeom prst="rect">
            <a:avLst/>
          </a:prstGeom>
          <a:noFill/>
          <a:ln w="9525">
            <a:noFill/>
            <a:miter lim="800000"/>
            <a:headEnd/>
            <a:tailEnd/>
          </a:ln>
          <a:effectLst/>
        </p:spPr>
        <p:txBody>
          <a:bodyPr vert="horz" wrap="square" lIns="91430" tIns="45716" rIns="91430" bIns="45716"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0246" name="Rectangle 6"/>
          <p:cNvSpPr>
            <a:spLocks noGrp="1" noChangeArrowheads="1"/>
          </p:cNvSpPr>
          <p:nvPr>
            <p:ph type="ftr" sz="quarter" idx="4"/>
          </p:nvPr>
        </p:nvSpPr>
        <p:spPr bwMode="auto">
          <a:xfrm>
            <a:off x="0" y="9286875"/>
            <a:ext cx="2879725" cy="488950"/>
          </a:xfrm>
          <a:prstGeom prst="rect">
            <a:avLst/>
          </a:prstGeom>
          <a:noFill/>
          <a:ln w="9525">
            <a:noFill/>
            <a:miter lim="800000"/>
            <a:headEnd/>
            <a:tailEnd/>
          </a:ln>
          <a:effectLst/>
        </p:spPr>
        <p:txBody>
          <a:bodyPr vert="horz" wrap="square" lIns="91430" tIns="45716" rIns="91430" bIns="45716" numCol="1" anchor="b" anchorCtr="0" compatLnSpc="1">
            <a:prstTxWarp prst="textNoShape">
              <a:avLst/>
            </a:prstTxWarp>
          </a:bodyPr>
          <a:lstStyle>
            <a:lvl1pPr>
              <a:defRPr sz="1200">
                <a:latin typeface="Arial" charset="0"/>
              </a:defRPr>
            </a:lvl1pPr>
          </a:lstStyle>
          <a:p>
            <a:pPr>
              <a:defRPr/>
            </a:pPr>
            <a:endParaRPr lang="en-US" altLang="zh-CN"/>
          </a:p>
        </p:txBody>
      </p:sp>
      <p:sp>
        <p:nvSpPr>
          <p:cNvPr id="10247" name="Rectangle 7"/>
          <p:cNvSpPr>
            <a:spLocks noGrp="1" noChangeArrowheads="1"/>
          </p:cNvSpPr>
          <p:nvPr>
            <p:ph type="sldNum" sz="quarter" idx="5"/>
          </p:nvPr>
        </p:nvSpPr>
        <p:spPr bwMode="auto">
          <a:xfrm>
            <a:off x="3763963" y="9286875"/>
            <a:ext cx="2879725" cy="488950"/>
          </a:xfrm>
          <a:prstGeom prst="rect">
            <a:avLst/>
          </a:prstGeom>
          <a:noFill/>
          <a:ln w="9525">
            <a:noFill/>
            <a:miter lim="800000"/>
            <a:headEnd/>
            <a:tailEnd/>
          </a:ln>
          <a:effectLst/>
        </p:spPr>
        <p:txBody>
          <a:bodyPr vert="horz" wrap="square" lIns="91430" tIns="45716" rIns="91430" bIns="45716" numCol="1" anchor="b" anchorCtr="0" compatLnSpc="1">
            <a:prstTxWarp prst="textNoShape">
              <a:avLst/>
            </a:prstTxWarp>
          </a:bodyPr>
          <a:lstStyle>
            <a:lvl1pPr algn="r">
              <a:defRPr sz="1200">
                <a:latin typeface="Arial" charset="0"/>
              </a:defRPr>
            </a:lvl1pPr>
          </a:lstStyle>
          <a:p>
            <a:pPr>
              <a:defRPr/>
            </a:pPr>
            <a:fld id="{F8760D42-5E8E-41AD-B1DE-80858E943B32}"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p:spPr>
        <p:txBody>
          <a:bodyPr/>
          <a:lstStyle/>
          <a:p>
            <a:fld id="{CECE559C-4F42-446A-B55E-3DACF291451E}" type="slidenum">
              <a:rPr lang="en-US" altLang="zh-CN" smtClean="0"/>
              <a:pPr/>
              <a:t>3</a:t>
            </a:fld>
            <a:endParaRPr lang="en-US" altLang="zh-CN" smtClean="0"/>
          </a:p>
        </p:txBody>
      </p:sp>
      <p:sp>
        <p:nvSpPr>
          <p:cNvPr id="155651" name="Rectangle 2"/>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55652" name="Rectangle 3"/>
          <p:cNvSpPr>
            <a:spLocks noGrp="1" noChangeArrowheads="1"/>
          </p:cNvSpPr>
          <p:nvPr>
            <p:ph type="body" idx="1"/>
          </p:nvPr>
        </p:nvSpPr>
        <p:spPr>
          <a:xfrm>
            <a:off x="885825" y="3503613"/>
            <a:ext cx="4873625" cy="5540375"/>
          </a:xfrm>
          <a:noFill/>
          <a:ln/>
        </p:spPr>
        <p:txBody>
          <a:bodyPr lIns="90479" tIns="44445" rIns="90479" bIns="44445"/>
          <a:lstStyle/>
          <a:p>
            <a:pPr eaLnBrk="1" hangingPunct="1"/>
            <a:endParaRPr lang="zh-CN" altLang="zh-CN" smtClean="0"/>
          </a:p>
        </p:txBody>
      </p:sp>
      <p:sp>
        <p:nvSpPr>
          <p:cNvPr id="155653"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p:spPr>
        <p:txBody>
          <a:bodyPr/>
          <a:lstStyle/>
          <a:p>
            <a:fld id="{264A9350-A0D3-4EBC-8C15-C8271DDA562D}" type="slidenum">
              <a:rPr lang="en-US" altLang="zh-CN" smtClean="0"/>
              <a:pPr/>
              <a:t>9</a:t>
            </a:fld>
            <a:endParaRPr lang="en-US" altLang="zh-CN" smtClean="0"/>
          </a:p>
        </p:txBody>
      </p:sp>
      <p:sp>
        <p:nvSpPr>
          <p:cNvPr id="156675" name="Rectangle 2"/>
          <p:cNvSpPr>
            <a:spLocks noGrp="1" noChangeArrowheads="1"/>
          </p:cNvSpPr>
          <p:nvPr>
            <p:ph type="body" idx="1"/>
          </p:nvPr>
        </p:nvSpPr>
        <p:spPr>
          <a:xfrm>
            <a:off x="885825" y="3503613"/>
            <a:ext cx="4873625" cy="5540375"/>
          </a:xfrm>
          <a:noFill/>
          <a:ln/>
        </p:spPr>
        <p:txBody>
          <a:bodyPr lIns="90479" tIns="44445" rIns="90479" bIns="44445"/>
          <a:lstStyle/>
          <a:p>
            <a:pPr eaLnBrk="1" hangingPunct="1"/>
            <a:endParaRPr lang="zh-CN" altLang="zh-CN" smtClean="0"/>
          </a:p>
        </p:txBody>
      </p:sp>
      <p:sp>
        <p:nvSpPr>
          <p:cNvPr id="156676" name="Rectangle 3"/>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56677"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p:spPr>
        <p:txBody>
          <a:bodyPr/>
          <a:lstStyle/>
          <a:p>
            <a:fld id="{6F445387-FE46-44A6-8954-34FD38D2FBB5}" type="slidenum">
              <a:rPr lang="en-US" altLang="zh-CN" smtClean="0"/>
              <a:pPr/>
              <a:t>10</a:t>
            </a:fld>
            <a:endParaRPr lang="en-US" altLang="zh-CN" smtClean="0"/>
          </a:p>
        </p:txBody>
      </p:sp>
      <p:sp>
        <p:nvSpPr>
          <p:cNvPr id="157699" name="Rectangle 2"/>
          <p:cNvSpPr>
            <a:spLocks noGrp="1" noChangeArrowheads="1"/>
          </p:cNvSpPr>
          <p:nvPr>
            <p:ph type="body" idx="1"/>
          </p:nvPr>
        </p:nvSpPr>
        <p:spPr>
          <a:xfrm>
            <a:off x="885825" y="3503613"/>
            <a:ext cx="4873625" cy="5540375"/>
          </a:xfrm>
          <a:noFill/>
          <a:ln/>
        </p:spPr>
        <p:txBody>
          <a:bodyPr lIns="90479" tIns="44445" rIns="90479" bIns="44445"/>
          <a:lstStyle/>
          <a:p>
            <a:pPr eaLnBrk="1" hangingPunct="1"/>
            <a:endParaRPr lang="zh-CN" altLang="zh-CN" smtClean="0"/>
          </a:p>
        </p:txBody>
      </p:sp>
      <p:sp>
        <p:nvSpPr>
          <p:cNvPr id="157700" name="Rectangle 3"/>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57701"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p:cNvSpPr>
            <a:spLocks noGrp="1" noChangeArrowheads="1"/>
          </p:cNvSpPr>
          <p:nvPr>
            <p:ph type="sldNum" sz="quarter" idx="5"/>
          </p:nvPr>
        </p:nvSpPr>
        <p:spPr>
          <a:noFill/>
        </p:spPr>
        <p:txBody>
          <a:bodyPr/>
          <a:lstStyle/>
          <a:p>
            <a:fld id="{C98917A8-D8E4-41FC-A9A2-B258ED189EE0}" type="slidenum">
              <a:rPr lang="en-US" altLang="zh-CN" smtClean="0"/>
              <a:pPr/>
              <a:t>14</a:t>
            </a:fld>
            <a:endParaRPr lang="en-US" altLang="zh-CN" smtClean="0"/>
          </a:p>
        </p:txBody>
      </p:sp>
      <p:sp>
        <p:nvSpPr>
          <p:cNvPr id="158723" name="Rectangle 2"/>
          <p:cNvSpPr>
            <a:spLocks noGrp="1" noChangeArrowheads="1"/>
          </p:cNvSpPr>
          <p:nvPr>
            <p:ph type="body" idx="1"/>
          </p:nvPr>
        </p:nvSpPr>
        <p:spPr>
          <a:xfrm>
            <a:off x="885825" y="3503613"/>
            <a:ext cx="4873625" cy="5540375"/>
          </a:xfrm>
          <a:noFill/>
          <a:ln/>
        </p:spPr>
        <p:txBody>
          <a:bodyPr lIns="90479" tIns="44445" rIns="90479" bIns="44445"/>
          <a:lstStyle/>
          <a:p>
            <a:pPr eaLnBrk="1" hangingPunct="1"/>
            <a:endParaRPr lang="zh-CN" altLang="zh-CN" smtClean="0"/>
          </a:p>
        </p:txBody>
      </p:sp>
      <p:sp>
        <p:nvSpPr>
          <p:cNvPr id="158724" name="Rectangle 3"/>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58725"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p:spPr>
        <p:txBody>
          <a:bodyPr/>
          <a:lstStyle/>
          <a:p>
            <a:fld id="{3AB5216E-35A0-42B8-8E5E-76CA48CECC18}" type="slidenum">
              <a:rPr lang="en-US" altLang="zh-CN" smtClean="0"/>
              <a:pPr/>
              <a:t>16</a:t>
            </a:fld>
            <a:endParaRPr lang="en-US" altLang="zh-CN" smtClean="0"/>
          </a:p>
        </p:txBody>
      </p:sp>
      <p:sp>
        <p:nvSpPr>
          <p:cNvPr id="159747" name="Rectangle 2"/>
          <p:cNvSpPr>
            <a:spLocks noGrp="1" noChangeArrowheads="1"/>
          </p:cNvSpPr>
          <p:nvPr>
            <p:ph type="body" idx="1"/>
          </p:nvPr>
        </p:nvSpPr>
        <p:spPr>
          <a:xfrm>
            <a:off x="885825" y="3503613"/>
            <a:ext cx="4873625" cy="5540375"/>
          </a:xfrm>
          <a:noFill/>
          <a:ln/>
        </p:spPr>
        <p:txBody>
          <a:bodyPr lIns="90479" tIns="44445" rIns="90479" bIns="44445"/>
          <a:lstStyle/>
          <a:p>
            <a:pPr eaLnBrk="1" hangingPunct="1"/>
            <a:endParaRPr lang="zh-CN" altLang="zh-CN" smtClean="0"/>
          </a:p>
        </p:txBody>
      </p:sp>
      <p:sp>
        <p:nvSpPr>
          <p:cNvPr id="159748" name="Rectangle 3"/>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59749"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p:spPr>
        <p:txBody>
          <a:bodyPr/>
          <a:lstStyle/>
          <a:p>
            <a:fld id="{B738F57F-BD70-471F-ACB4-5CA3C578A0D6}" type="slidenum">
              <a:rPr lang="en-US" altLang="zh-CN" smtClean="0"/>
              <a:pPr/>
              <a:t>17</a:t>
            </a:fld>
            <a:endParaRPr lang="en-US" altLang="zh-CN" smtClean="0"/>
          </a:p>
        </p:txBody>
      </p:sp>
      <p:sp>
        <p:nvSpPr>
          <p:cNvPr id="160771" name="Rectangle 2"/>
          <p:cNvSpPr>
            <a:spLocks noGrp="1" noChangeArrowheads="1"/>
          </p:cNvSpPr>
          <p:nvPr>
            <p:ph type="body" idx="1"/>
          </p:nvPr>
        </p:nvSpPr>
        <p:spPr>
          <a:xfrm>
            <a:off x="885825" y="3503613"/>
            <a:ext cx="4873625" cy="5540375"/>
          </a:xfrm>
          <a:noFill/>
          <a:ln/>
        </p:spPr>
        <p:txBody>
          <a:bodyPr lIns="90479" tIns="44445" rIns="90479" bIns="44445"/>
          <a:lstStyle/>
          <a:p>
            <a:pPr eaLnBrk="1" hangingPunct="1"/>
            <a:endParaRPr lang="zh-CN" altLang="zh-CN" smtClean="0"/>
          </a:p>
        </p:txBody>
      </p:sp>
      <p:sp>
        <p:nvSpPr>
          <p:cNvPr id="160772" name="Rectangle 3"/>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60773"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p:spPr>
        <p:txBody>
          <a:bodyPr/>
          <a:lstStyle/>
          <a:p>
            <a:fld id="{DC4E998F-91B9-46D0-A813-A2BA464BDCC5}" type="slidenum">
              <a:rPr lang="en-US" altLang="zh-CN" smtClean="0"/>
              <a:pPr/>
              <a:t>21</a:t>
            </a:fld>
            <a:endParaRPr lang="en-US" altLang="zh-CN" smtClean="0"/>
          </a:p>
        </p:txBody>
      </p:sp>
      <p:sp>
        <p:nvSpPr>
          <p:cNvPr id="161795" name="Rectangle 2"/>
          <p:cNvSpPr>
            <a:spLocks noGrp="1" noChangeArrowheads="1"/>
          </p:cNvSpPr>
          <p:nvPr>
            <p:ph type="body" idx="1"/>
          </p:nvPr>
        </p:nvSpPr>
        <p:spPr>
          <a:xfrm>
            <a:off x="885825" y="3503613"/>
            <a:ext cx="4873625" cy="5540375"/>
          </a:xfrm>
          <a:noFill/>
          <a:ln/>
        </p:spPr>
        <p:txBody>
          <a:bodyPr lIns="90479" tIns="44445" rIns="90479" bIns="44445"/>
          <a:lstStyle/>
          <a:p>
            <a:pPr eaLnBrk="1" hangingPunct="1"/>
            <a:endParaRPr lang="zh-CN" altLang="zh-CN" smtClean="0"/>
          </a:p>
        </p:txBody>
      </p:sp>
      <p:sp>
        <p:nvSpPr>
          <p:cNvPr id="161796" name="Rectangle 3"/>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61797"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801688" y="712788"/>
            <a:ext cx="4889500" cy="3667125"/>
          </a:xfrm>
        </p:spPr>
      </p:sp>
      <p:sp>
        <p:nvSpPr>
          <p:cNvPr id="3" name="备注占位符 2"/>
          <p:cNvSpPr>
            <a:spLocks noGrp="1"/>
          </p:cNvSpPr>
          <p:nvPr>
            <p:ph type="body" idx="1"/>
          </p:nvPr>
        </p:nvSpPr>
        <p:spPr/>
        <p:txBody>
          <a:bodyPr/>
          <a:lstStyle/>
          <a:p>
            <a:endParaRPr lang="zh-CN" altLang="en-US" dirty="0"/>
          </a:p>
        </p:txBody>
      </p:sp>
      <p:sp>
        <p:nvSpPr>
          <p:cNvPr id="4" name="日期占位符 3"/>
          <p:cNvSpPr>
            <a:spLocks noGrp="1"/>
          </p:cNvSpPr>
          <p:nvPr>
            <p:ph type="dt" idx="10"/>
          </p:nvPr>
        </p:nvSpPr>
        <p:spPr/>
        <p:txBody>
          <a:bodyPr/>
          <a:lstStyle/>
          <a:p>
            <a:pPr>
              <a:defRPr/>
            </a:pPr>
            <a:endParaRPr lang="en-US" altLang="zh-CN"/>
          </a:p>
        </p:txBody>
      </p:sp>
      <p:sp>
        <p:nvSpPr>
          <p:cNvPr id="5" name="灯片编号占位符 4"/>
          <p:cNvSpPr>
            <a:spLocks noGrp="1"/>
          </p:cNvSpPr>
          <p:nvPr>
            <p:ph type="sldNum" sz="quarter" idx="11"/>
          </p:nvPr>
        </p:nvSpPr>
        <p:spPr/>
        <p:txBody>
          <a:bodyPr/>
          <a:lstStyle/>
          <a:p>
            <a:pPr>
              <a:defRPr/>
            </a:pPr>
            <a:fld id="{F8760D42-5E8E-41AD-B1DE-80858E943B32}" type="slidenum">
              <a:rPr lang="en-US" altLang="zh-CN" smtClean="0"/>
              <a:pPr>
                <a:defRPr/>
              </a:pPr>
              <a:t>25</a:t>
            </a:fld>
            <a:endParaRPr lang="en-US" altLang="zh-CN"/>
          </a:p>
        </p:txBody>
      </p:sp>
    </p:spTree>
    <p:extLst>
      <p:ext uri="{BB962C8B-B14F-4D97-AF65-F5344CB8AC3E}">
        <p14:creationId xmlns:p14="http://schemas.microsoft.com/office/powerpoint/2010/main" val="12091907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801688" y="712788"/>
            <a:ext cx="4889500" cy="3667125"/>
          </a:xfrm>
        </p:spPr>
      </p:sp>
      <p:sp>
        <p:nvSpPr>
          <p:cNvPr id="3" name="备注占位符 2"/>
          <p:cNvSpPr>
            <a:spLocks noGrp="1"/>
          </p:cNvSpPr>
          <p:nvPr>
            <p:ph type="body" idx="1"/>
          </p:nvPr>
        </p:nvSpPr>
        <p:spPr/>
        <p:txBody>
          <a:bodyPr/>
          <a:lstStyle/>
          <a:p>
            <a:endParaRPr lang="zh-CN" altLang="en-US" dirty="0"/>
          </a:p>
        </p:txBody>
      </p:sp>
      <p:sp>
        <p:nvSpPr>
          <p:cNvPr id="4" name="日期占位符 3"/>
          <p:cNvSpPr>
            <a:spLocks noGrp="1"/>
          </p:cNvSpPr>
          <p:nvPr>
            <p:ph type="dt" idx="10"/>
          </p:nvPr>
        </p:nvSpPr>
        <p:spPr/>
        <p:txBody>
          <a:bodyPr/>
          <a:lstStyle/>
          <a:p>
            <a:pPr>
              <a:defRPr/>
            </a:pPr>
            <a:endParaRPr lang="en-US" altLang="zh-CN"/>
          </a:p>
        </p:txBody>
      </p:sp>
      <p:sp>
        <p:nvSpPr>
          <p:cNvPr id="5" name="灯片编号占位符 4"/>
          <p:cNvSpPr>
            <a:spLocks noGrp="1"/>
          </p:cNvSpPr>
          <p:nvPr>
            <p:ph type="sldNum" sz="quarter" idx="11"/>
          </p:nvPr>
        </p:nvSpPr>
        <p:spPr/>
        <p:txBody>
          <a:bodyPr/>
          <a:lstStyle/>
          <a:p>
            <a:pPr>
              <a:defRPr/>
            </a:pPr>
            <a:fld id="{F8760D42-5E8E-41AD-B1DE-80858E943B32}" type="slidenum">
              <a:rPr lang="en-US" altLang="zh-CN" smtClean="0"/>
              <a:pPr>
                <a:defRPr/>
              </a:pPr>
              <a:t>26</a:t>
            </a:fld>
            <a:endParaRPr lang="en-US" altLang="zh-CN"/>
          </a:p>
        </p:txBody>
      </p:sp>
    </p:spTree>
    <p:extLst>
      <p:ext uri="{BB962C8B-B14F-4D97-AF65-F5344CB8AC3E}">
        <p14:creationId xmlns:p14="http://schemas.microsoft.com/office/powerpoint/2010/main" val="36422288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noFill/>
        </p:spPr>
        <p:txBody>
          <a:bodyPr/>
          <a:lstStyle/>
          <a:p>
            <a:fld id="{0B48B659-4CE7-4DDC-BD10-98CC7F97A4AC}" type="slidenum">
              <a:rPr lang="en-US" altLang="zh-CN" smtClean="0"/>
              <a:pPr/>
              <a:t>27</a:t>
            </a:fld>
            <a:endParaRPr lang="en-US" altLang="zh-CN" smtClean="0"/>
          </a:p>
        </p:txBody>
      </p:sp>
      <p:sp>
        <p:nvSpPr>
          <p:cNvPr id="162819" name="Rectangle 2"/>
          <p:cNvSpPr>
            <a:spLocks noGrp="1" noChangeArrowheads="1"/>
          </p:cNvSpPr>
          <p:nvPr>
            <p:ph type="body" idx="1"/>
          </p:nvPr>
        </p:nvSpPr>
        <p:spPr>
          <a:xfrm>
            <a:off x="885825" y="3503613"/>
            <a:ext cx="4873625" cy="5540375"/>
          </a:xfrm>
          <a:noFill/>
          <a:ln/>
        </p:spPr>
        <p:txBody>
          <a:bodyPr lIns="90479" tIns="44445" rIns="90479" bIns="44445"/>
          <a:lstStyle/>
          <a:p>
            <a:pPr eaLnBrk="1" hangingPunct="1"/>
            <a:endParaRPr lang="zh-CN" altLang="zh-CN" smtClean="0"/>
          </a:p>
        </p:txBody>
      </p:sp>
      <p:sp>
        <p:nvSpPr>
          <p:cNvPr id="162820" name="Rectangle 3"/>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62821"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a:noFill/>
        </p:spPr>
        <p:txBody>
          <a:bodyPr/>
          <a:lstStyle/>
          <a:p>
            <a:fld id="{DFA69633-2E2F-4A61-86BC-7C3CDB3584E6}" type="slidenum">
              <a:rPr lang="en-US" altLang="zh-CN" smtClean="0"/>
              <a:pPr/>
              <a:t>31</a:t>
            </a:fld>
            <a:endParaRPr lang="en-US" altLang="zh-CN" smtClean="0"/>
          </a:p>
        </p:txBody>
      </p:sp>
      <p:sp>
        <p:nvSpPr>
          <p:cNvPr id="163843" name="Rectangle 2"/>
          <p:cNvSpPr>
            <a:spLocks noGrp="1" noChangeArrowheads="1"/>
          </p:cNvSpPr>
          <p:nvPr>
            <p:ph type="body" idx="1"/>
          </p:nvPr>
        </p:nvSpPr>
        <p:spPr>
          <a:xfrm>
            <a:off x="885825" y="3503613"/>
            <a:ext cx="4873625" cy="5540375"/>
          </a:xfrm>
          <a:noFill/>
          <a:ln/>
        </p:spPr>
        <p:txBody>
          <a:bodyPr lIns="90479" tIns="44445" rIns="90479" bIns="44445"/>
          <a:lstStyle/>
          <a:p>
            <a:pPr eaLnBrk="1" hangingPunct="1"/>
            <a:endParaRPr lang="zh-CN" altLang="zh-CN" smtClean="0"/>
          </a:p>
        </p:txBody>
      </p:sp>
      <p:sp>
        <p:nvSpPr>
          <p:cNvPr id="163844" name="Rectangle 3"/>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63845"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a:spLocks noGrp="1" noChangeArrowheads="1"/>
          </p:cNvSpPr>
          <p:nvPr>
            <p:ph type="sldNum" sz="quarter" idx="5"/>
          </p:nvPr>
        </p:nvSpPr>
        <p:spPr>
          <a:noFill/>
        </p:spPr>
        <p:txBody>
          <a:bodyPr/>
          <a:lstStyle/>
          <a:p>
            <a:fld id="{E05DCBB3-1699-4CB3-9E2C-5ED38EDA7863}" type="slidenum">
              <a:rPr lang="en-US" altLang="zh-CN" smtClean="0"/>
              <a:pPr/>
              <a:t>32</a:t>
            </a:fld>
            <a:endParaRPr lang="en-US" altLang="zh-CN" smtClean="0"/>
          </a:p>
        </p:txBody>
      </p:sp>
      <p:sp>
        <p:nvSpPr>
          <p:cNvPr id="164867" name="Rectangle 2"/>
          <p:cNvSpPr>
            <a:spLocks noGrp="1" noChangeArrowheads="1"/>
          </p:cNvSpPr>
          <p:nvPr>
            <p:ph type="body" idx="1"/>
          </p:nvPr>
        </p:nvSpPr>
        <p:spPr>
          <a:xfrm>
            <a:off x="885825" y="3503613"/>
            <a:ext cx="4873625" cy="5540375"/>
          </a:xfrm>
          <a:noFill/>
          <a:ln/>
        </p:spPr>
        <p:txBody>
          <a:bodyPr lIns="90479" tIns="44445" rIns="90479" bIns="44445"/>
          <a:lstStyle/>
          <a:p>
            <a:pPr eaLnBrk="1" hangingPunct="1"/>
            <a:endParaRPr lang="zh-CN" altLang="zh-CN" smtClean="0"/>
          </a:p>
        </p:txBody>
      </p:sp>
      <p:sp>
        <p:nvSpPr>
          <p:cNvPr id="164868" name="Rectangle 3"/>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64869"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p:spPr>
        <p:txBody>
          <a:bodyPr/>
          <a:lstStyle/>
          <a:p>
            <a:fld id="{67A756F9-0D6E-4AE9-AD09-9FD45DB212AC}" type="slidenum">
              <a:rPr lang="en-US" altLang="zh-CN" smtClean="0"/>
              <a:pPr/>
              <a:t>36</a:t>
            </a:fld>
            <a:endParaRPr lang="en-US" altLang="zh-CN" smtClean="0"/>
          </a:p>
        </p:txBody>
      </p:sp>
      <p:sp>
        <p:nvSpPr>
          <p:cNvPr id="165891" name="Rectangle 2"/>
          <p:cNvSpPr>
            <a:spLocks noGrp="1" noChangeArrowheads="1"/>
          </p:cNvSpPr>
          <p:nvPr>
            <p:ph type="body" idx="1"/>
          </p:nvPr>
        </p:nvSpPr>
        <p:spPr>
          <a:xfrm>
            <a:off x="885825" y="3503613"/>
            <a:ext cx="4873625" cy="5540375"/>
          </a:xfrm>
          <a:noFill/>
          <a:ln/>
        </p:spPr>
        <p:txBody>
          <a:bodyPr lIns="90479" tIns="44445" rIns="90479" bIns="44445"/>
          <a:lstStyle/>
          <a:p>
            <a:pPr eaLnBrk="1" hangingPunct="1"/>
            <a:endParaRPr lang="zh-CN" altLang="zh-CN" smtClean="0"/>
          </a:p>
        </p:txBody>
      </p:sp>
      <p:sp>
        <p:nvSpPr>
          <p:cNvPr id="165892" name="Rectangle 3"/>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65893"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p:cNvSpPr>
            <a:spLocks noGrp="1" noChangeArrowheads="1"/>
          </p:cNvSpPr>
          <p:nvPr>
            <p:ph type="sldNum" sz="quarter" idx="5"/>
          </p:nvPr>
        </p:nvSpPr>
        <p:spPr>
          <a:noFill/>
        </p:spPr>
        <p:txBody>
          <a:bodyPr/>
          <a:lstStyle/>
          <a:p>
            <a:fld id="{A3D87C9D-A61A-4776-9249-B6E4118E9FEE}" type="slidenum">
              <a:rPr lang="en-US" altLang="zh-CN" smtClean="0"/>
              <a:pPr/>
              <a:t>37</a:t>
            </a:fld>
            <a:endParaRPr lang="en-US" altLang="zh-CN" smtClean="0"/>
          </a:p>
        </p:txBody>
      </p:sp>
      <p:sp>
        <p:nvSpPr>
          <p:cNvPr id="166915" name="Rectangle 2"/>
          <p:cNvSpPr>
            <a:spLocks noGrp="1" noChangeArrowheads="1"/>
          </p:cNvSpPr>
          <p:nvPr>
            <p:ph type="body" idx="1"/>
          </p:nvPr>
        </p:nvSpPr>
        <p:spPr>
          <a:xfrm>
            <a:off x="885825" y="3503613"/>
            <a:ext cx="4873625" cy="5540375"/>
          </a:xfrm>
          <a:noFill/>
          <a:ln/>
        </p:spPr>
        <p:txBody>
          <a:bodyPr lIns="90472" tIns="44442" rIns="90472" bIns="44442"/>
          <a:lstStyle/>
          <a:p>
            <a:pPr eaLnBrk="1" hangingPunct="1"/>
            <a:endParaRPr lang="zh-CN" altLang="zh-CN" smtClean="0"/>
          </a:p>
        </p:txBody>
      </p:sp>
      <p:sp>
        <p:nvSpPr>
          <p:cNvPr id="166916" name="Rectangle 3"/>
          <p:cNvSpPr>
            <a:spLocks noGrp="1" noRot="1" noChangeAspect="1" noChangeArrowheads="1" noTextEdit="1"/>
          </p:cNvSpPr>
          <p:nvPr>
            <p:ph type="sldImg"/>
          </p:nvPr>
        </p:nvSpPr>
        <p:spPr>
          <a:xfrm>
            <a:off x="1703388" y="739775"/>
            <a:ext cx="3240087" cy="2430463"/>
          </a:xfrm>
          <a:ln w="12700" cap="flat">
            <a:solidFill>
              <a:schemeClr val="tx1"/>
            </a:solidFill>
          </a:ln>
        </p:spPr>
      </p:sp>
      <p:sp>
        <p:nvSpPr>
          <p:cNvPr id="166917"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a:noFill/>
        </p:spPr>
        <p:txBody>
          <a:bodyPr/>
          <a:lstStyle/>
          <a:p>
            <a:fld id="{44789B52-44BD-4CE6-B6C1-C5FB4E8BD978}" type="slidenum">
              <a:rPr lang="en-US" altLang="zh-CN" smtClean="0"/>
              <a:pPr/>
              <a:t>38</a:t>
            </a:fld>
            <a:endParaRPr lang="en-US" altLang="zh-CN" smtClean="0"/>
          </a:p>
        </p:txBody>
      </p:sp>
      <p:sp>
        <p:nvSpPr>
          <p:cNvPr id="167939" name="Rectangle 2"/>
          <p:cNvSpPr>
            <a:spLocks noGrp="1" noChangeArrowheads="1"/>
          </p:cNvSpPr>
          <p:nvPr>
            <p:ph type="body" idx="1"/>
          </p:nvPr>
        </p:nvSpPr>
        <p:spPr>
          <a:xfrm>
            <a:off x="885825" y="3503613"/>
            <a:ext cx="4873625" cy="5540375"/>
          </a:xfrm>
          <a:noFill/>
          <a:ln/>
        </p:spPr>
        <p:txBody>
          <a:bodyPr lIns="90472" tIns="44442" rIns="90472" bIns="44442"/>
          <a:lstStyle/>
          <a:p>
            <a:pPr eaLnBrk="1" hangingPunct="1"/>
            <a:endParaRPr lang="zh-CN" altLang="zh-CN" smtClean="0"/>
          </a:p>
        </p:txBody>
      </p:sp>
      <p:sp>
        <p:nvSpPr>
          <p:cNvPr id="167940" name="Rectangle 3"/>
          <p:cNvSpPr>
            <a:spLocks noGrp="1" noRot="1" noChangeAspect="1" noChangeArrowheads="1" noTextEdit="1"/>
          </p:cNvSpPr>
          <p:nvPr>
            <p:ph type="sldImg"/>
          </p:nvPr>
        </p:nvSpPr>
        <p:spPr>
          <a:xfrm>
            <a:off x="1703388" y="739775"/>
            <a:ext cx="3240087" cy="2430463"/>
          </a:xfrm>
          <a:ln w="12700" cap="flat">
            <a:solidFill>
              <a:schemeClr val="tx1"/>
            </a:solidFill>
          </a:ln>
        </p:spPr>
      </p:sp>
      <p:sp>
        <p:nvSpPr>
          <p:cNvPr id="167941"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p:cNvSpPr>
            <a:spLocks noGrp="1" noChangeArrowheads="1"/>
          </p:cNvSpPr>
          <p:nvPr>
            <p:ph type="sldNum" sz="quarter" idx="5"/>
          </p:nvPr>
        </p:nvSpPr>
        <p:spPr>
          <a:noFill/>
        </p:spPr>
        <p:txBody>
          <a:bodyPr/>
          <a:lstStyle/>
          <a:p>
            <a:fld id="{07EBA68C-9812-4B66-98D8-580A0B80F51D}" type="slidenum">
              <a:rPr lang="en-US" altLang="zh-CN" smtClean="0"/>
              <a:pPr/>
              <a:t>39</a:t>
            </a:fld>
            <a:endParaRPr lang="en-US" altLang="zh-CN" smtClean="0"/>
          </a:p>
        </p:txBody>
      </p:sp>
      <p:sp>
        <p:nvSpPr>
          <p:cNvPr id="168963" name="Rectangle 2"/>
          <p:cNvSpPr>
            <a:spLocks noGrp="1" noChangeArrowheads="1"/>
          </p:cNvSpPr>
          <p:nvPr>
            <p:ph type="body" idx="1"/>
          </p:nvPr>
        </p:nvSpPr>
        <p:spPr>
          <a:xfrm>
            <a:off x="885825" y="3503613"/>
            <a:ext cx="4873625" cy="5540375"/>
          </a:xfrm>
          <a:noFill/>
          <a:ln/>
        </p:spPr>
        <p:txBody>
          <a:bodyPr lIns="90479" tIns="44445" rIns="90479" bIns="44445"/>
          <a:lstStyle/>
          <a:p>
            <a:pPr eaLnBrk="1" hangingPunct="1"/>
            <a:endParaRPr lang="zh-CN" altLang="zh-CN" smtClean="0"/>
          </a:p>
        </p:txBody>
      </p:sp>
      <p:sp>
        <p:nvSpPr>
          <p:cNvPr id="168964" name="Rectangle 3"/>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68965"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p:spPr>
        <p:txBody>
          <a:bodyPr/>
          <a:lstStyle/>
          <a:p>
            <a:fld id="{55154F54-A0F6-40E1-AF0E-ADF06838DD7E}" type="slidenum">
              <a:rPr lang="en-US" altLang="zh-CN" smtClean="0"/>
              <a:pPr/>
              <a:t>43</a:t>
            </a:fld>
            <a:endParaRPr lang="en-US" altLang="zh-CN" smtClean="0"/>
          </a:p>
        </p:txBody>
      </p:sp>
      <p:sp>
        <p:nvSpPr>
          <p:cNvPr id="169987" name="Rectangle 2"/>
          <p:cNvSpPr>
            <a:spLocks noGrp="1" noChangeArrowheads="1"/>
          </p:cNvSpPr>
          <p:nvPr>
            <p:ph type="body" idx="1"/>
          </p:nvPr>
        </p:nvSpPr>
        <p:spPr>
          <a:xfrm>
            <a:off x="885825" y="3503613"/>
            <a:ext cx="4873625" cy="5540375"/>
          </a:xfrm>
          <a:noFill/>
          <a:ln/>
        </p:spPr>
        <p:txBody>
          <a:bodyPr lIns="90479" tIns="44445" rIns="90479" bIns="44445"/>
          <a:lstStyle/>
          <a:p>
            <a:pPr eaLnBrk="1" hangingPunct="1"/>
            <a:endParaRPr lang="zh-CN" altLang="zh-CN" smtClean="0"/>
          </a:p>
        </p:txBody>
      </p:sp>
      <p:sp>
        <p:nvSpPr>
          <p:cNvPr id="169988" name="Rectangle 3"/>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69989"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p:spPr>
        <p:txBody>
          <a:bodyPr/>
          <a:lstStyle/>
          <a:p>
            <a:fld id="{E3BFFA42-831E-4754-A0B6-49E53896F532}" type="slidenum">
              <a:rPr lang="en-US" altLang="zh-CN" smtClean="0"/>
              <a:pPr/>
              <a:t>44</a:t>
            </a:fld>
            <a:endParaRPr lang="en-US" altLang="zh-CN" smtClean="0"/>
          </a:p>
        </p:txBody>
      </p:sp>
      <p:sp>
        <p:nvSpPr>
          <p:cNvPr id="171011" name="Rectangle 2"/>
          <p:cNvSpPr>
            <a:spLocks noGrp="1" noChangeArrowheads="1"/>
          </p:cNvSpPr>
          <p:nvPr>
            <p:ph type="body" idx="1"/>
          </p:nvPr>
        </p:nvSpPr>
        <p:spPr>
          <a:xfrm>
            <a:off x="885825" y="3503613"/>
            <a:ext cx="4873625" cy="5540375"/>
          </a:xfrm>
          <a:noFill/>
          <a:ln/>
        </p:spPr>
        <p:txBody>
          <a:bodyPr lIns="90479" tIns="44445" rIns="90479" bIns="44445"/>
          <a:lstStyle/>
          <a:p>
            <a:pPr eaLnBrk="1" hangingPunct="1"/>
            <a:endParaRPr lang="zh-CN" altLang="zh-CN" smtClean="0"/>
          </a:p>
        </p:txBody>
      </p:sp>
      <p:sp>
        <p:nvSpPr>
          <p:cNvPr id="171012" name="Rectangle 3"/>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71013"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801688" y="712788"/>
            <a:ext cx="4889500" cy="3667125"/>
          </a:xfrm>
        </p:spPr>
      </p:sp>
      <p:sp>
        <p:nvSpPr>
          <p:cNvPr id="3" name="备注占位符 2"/>
          <p:cNvSpPr>
            <a:spLocks noGrp="1"/>
          </p:cNvSpPr>
          <p:nvPr>
            <p:ph type="body" idx="1"/>
          </p:nvPr>
        </p:nvSpPr>
        <p:spPr/>
        <p:txBody>
          <a:bodyPr>
            <a:normAutofit/>
          </a:bodyPr>
          <a:lstStyle/>
          <a:p>
            <a:r>
              <a:rPr lang="zh-CN" altLang="en-US" sz="1200" b="0" i="0" kern="1200" dirty="0" smtClean="0">
                <a:solidFill>
                  <a:schemeClr val="tx1"/>
                </a:solidFill>
                <a:latin typeface="Arial" charset="0"/>
                <a:ea typeface="宋体" pitchFamily="2" charset="-122"/>
                <a:cs typeface="+mn-cs"/>
              </a:rPr>
              <a:t>百度：复合增长率一般指复合年均增长率，简称</a:t>
            </a:r>
            <a:r>
              <a:rPr lang="en-US" altLang="zh-CN" sz="1200" b="0" i="0" kern="1200" dirty="0" smtClean="0">
                <a:solidFill>
                  <a:schemeClr val="tx1"/>
                </a:solidFill>
                <a:latin typeface="Arial" charset="0"/>
                <a:ea typeface="宋体" pitchFamily="2" charset="-122"/>
                <a:cs typeface="+mn-cs"/>
              </a:rPr>
              <a:t>CAGR</a:t>
            </a:r>
            <a:r>
              <a:rPr lang="zh-CN" altLang="en-US" sz="1200" b="0" i="0" kern="1200" dirty="0" smtClean="0">
                <a:solidFill>
                  <a:schemeClr val="tx1"/>
                </a:solidFill>
                <a:latin typeface="Arial" charset="0"/>
                <a:ea typeface="宋体" pitchFamily="2" charset="-122"/>
                <a:cs typeface="+mn-cs"/>
              </a:rPr>
              <a:t>（</a:t>
            </a:r>
            <a:r>
              <a:rPr lang="en-US" altLang="zh-CN" sz="1200" b="0" i="0" kern="1200" dirty="0" smtClean="0">
                <a:solidFill>
                  <a:schemeClr val="tx1"/>
                </a:solidFill>
                <a:latin typeface="Arial" charset="0"/>
                <a:ea typeface="宋体" pitchFamily="2" charset="-122"/>
                <a:cs typeface="+mn-cs"/>
              </a:rPr>
              <a:t>Compound Annual Growth Rate)</a:t>
            </a:r>
            <a:r>
              <a:rPr lang="zh-CN" altLang="en-US" sz="1200" b="0" i="0" kern="1200" dirty="0" smtClean="0">
                <a:solidFill>
                  <a:schemeClr val="tx1"/>
                </a:solidFill>
                <a:latin typeface="Arial" charset="0"/>
                <a:ea typeface="宋体" pitchFamily="2" charset="-122"/>
                <a:cs typeface="+mn-cs"/>
              </a:rPr>
              <a:t>。是一项投资在特定时期内的年度增长率。</a:t>
            </a:r>
            <a:endParaRPr lang="en-US" altLang="zh-CN" sz="1200" b="0" i="0" kern="1200" dirty="0" smtClean="0">
              <a:solidFill>
                <a:schemeClr val="tx1"/>
              </a:solidFill>
              <a:latin typeface="Arial" charset="0"/>
              <a:ea typeface="宋体" pitchFamily="2" charset="-122"/>
              <a:cs typeface="+mn-cs"/>
            </a:endParaRPr>
          </a:p>
          <a:p>
            <a:r>
              <a:rPr lang="zh-CN" altLang="en-US" sz="1200" b="0" i="0" kern="1200" dirty="0" smtClean="0">
                <a:solidFill>
                  <a:schemeClr val="tx1"/>
                </a:solidFill>
                <a:latin typeface="Arial" charset="0"/>
                <a:ea typeface="宋体" pitchFamily="2" charset="-122"/>
                <a:cs typeface="+mn-cs"/>
              </a:rPr>
              <a:t>“</a:t>
            </a:r>
            <a:r>
              <a:rPr lang="zh-CN" altLang="en-US" sz="1200" b="1" i="1" kern="1200" dirty="0" smtClean="0">
                <a:solidFill>
                  <a:srgbClr val="FF0000"/>
                </a:solidFill>
                <a:latin typeface="Arial" charset="0"/>
                <a:ea typeface="宋体" pitchFamily="2" charset="-122"/>
                <a:cs typeface="+mn-cs"/>
              </a:rPr>
              <a:t>总增长率百分比的</a:t>
            </a:r>
            <a:r>
              <a:rPr lang="en-US" altLang="zh-CN" sz="1200" b="1" i="1" kern="1200" dirty="0" smtClean="0">
                <a:solidFill>
                  <a:srgbClr val="FF0000"/>
                </a:solidFill>
                <a:latin typeface="Arial" charset="0"/>
                <a:ea typeface="宋体" pitchFamily="2" charset="-122"/>
                <a:cs typeface="+mn-cs"/>
              </a:rPr>
              <a:t>n</a:t>
            </a:r>
            <a:r>
              <a:rPr lang="zh-CN" altLang="en-US" sz="1200" b="1" i="1" kern="1200" dirty="0" smtClean="0">
                <a:solidFill>
                  <a:srgbClr val="FF0000"/>
                </a:solidFill>
                <a:latin typeface="Arial" charset="0"/>
                <a:ea typeface="宋体" pitchFamily="2" charset="-122"/>
                <a:cs typeface="+mn-cs"/>
              </a:rPr>
              <a:t>方根，</a:t>
            </a:r>
            <a:r>
              <a:rPr lang="en-US" altLang="zh-CN" sz="1200" b="1" i="1" kern="1200" dirty="0" smtClean="0">
                <a:solidFill>
                  <a:srgbClr val="FF0000"/>
                </a:solidFill>
                <a:latin typeface="Arial" charset="0"/>
                <a:ea typeface="宋体" pitchFamily="2" charset="-122"/>
                <a:cs typeface="+mn-cs"/>
              </a:rPr>
              <a:t>n</a:t>
            </a:r>
            <a:r>
              <a:rPr lang="zh-CN" altLang="en-US" sz="1200" b="1" i="1" kern="1200" dirty="0" smtClean="0">
                <a:solidFill>
                  <a:srgbClr val="FF0000"/>
                </a:solidFill>
                <a:latin typeface="Arial" charset="0"/>
                <a:ea typeface="宋体" pitchFamily="2" charset="-122"/>
                <a:cs typeface="+mn-cs"/>
              </a:rPr>
              <a:t>相等于有关时期内的年数</a:t>
            </a:r>
            <a:r>
              <a:rPr lang="zh-CN" altLang="en-US" sz="1200" b="0" i="0" kern="1200" dirty="0" smtClean="0">
                <a:solidFill>
                  <a:srgbClr val="FF0000"/>
                </a:solidFill>
                <a:latin typeface="Arial" charset="0"/>
                <a:ea typeface="宋体" pitchFamily="2" charset="-122"/>
                <a:cs typeface="+mn-cs"/>
              </a:rPr>
              <a:t>”</a:t>
            </a:r>
            <a:r>
              <a:rPr lang="en-US" altLang="zh-CN" sz="1200" b="0" i="0" kern="1200" dirty="0" smtClean="0">
                <a:solidFill>
                  <a:srgbClr val="FF0000"/>
                </a:solidFill>
                <a:latin typeface="Arial" charset="0"/>
                <a:ea typeface="宋体" pitchFamily="2" charset="-122"/>
                <a:cs typeface="+mn-cs"/>
              </a:rPr>
              <a:t>——</a:t>
            </a:r>
            <a:r>
              <a:rPr lang="zh-CN" altLang="en-US" sz="1200" b="1" i="0" kern="1200" dirty="0" smtClean="0">
                <a:solidFill>
                  <a:srgbClr val="C00000"/>
                </a:solidFill>
                <a:latin typeface="黑体" pitchFamily="49" charset="-122"/>
                <a:ea typeface="黑体" pitchFamily="49" charset="-122"/>
                <a:cs typeface="+mn-cs"/>
              </a:rPr>
              <a:t>错误！</a:t>
            </a:r>
            <a:endParaRPr lang="en-US" altLang="zh-CN" sz="1200" b="1" i="0" kern="1200" dirty="0" smtClean="0">
              <a:solidFill>
                <a:srgbClr val="C00000"/>
              </a:solidFill>
              <a:latin typeface="黑体" pitchFamily="49" charset="-122"/>
              <a:ea typeface="黑体" pitchFamily="49" charset="-122"/>
              <a:cs typeface="+mn-cs"/>
            </a:endParaRPr>
          </a:p>
          <a:p>
            <a:r>
              <a:rPr lang="en-US" altLang="zh-CN" sz="1200" b="0" i="0" kern="1200" dirty="0" smtClean="0">
                <a:solidFill>
                  <a:schemeClr val="tx1"/>
                </a:solidFill>
                <a:latin typeface="Arial" charset="0"/>
                <a:ea typeface="宋体" pitchFamily="2" charset="-122"/>
                <a:cs typeface="+mn-cs"/>
              </a:rPr>
              <a:t>Compound——</a:t>
            </a:r>
            <a:r>
              <a:rPr lang="zh-CN" altLang="en-US" sz="1200" b="0" i="0" kern="1200" dirty="0" smtClean="0">
                <a:solidFill>
                  <a:schemeClr val="tx1"/>
                </a:solidFill>
                <a:latin typeface="Arial" charset="0"/>
                <a:ea typeface="宋体" pitchFamily="2" charset="-122"/>
                <a:cs typeface="+mn-cs"/>
              </a:rPr>
              <a:t>复合的，混合的，</a:t>
            </a:r>
            <a:r>
              <a:rPr lang="zh-CN" altLang="en-US" sz="1200" b="1" i="0" kern="1200" dirty="0" smtClean="0">
                <a:solidFill>
                  <a:schemeClr val="tx1"/>
                </a:solidFill>
                <a:latin typeface="黑体" pitchFamily="49" charset="-122"/>
                <a:ea typeface="黑体" pitchFamily="49" charset="-122"/>
                <a:cs typeface="+mn-cs"/>
              </a:rPr>
              <a:t>复利的</a:t>
            </a:r>
            <a:endParaRPr lang="zh-CN" altLang="en-US" b="1" dirty="0">
              <a:latin typeface="黑体" pitchFamily="49" charset="-122"/>
              <a:ea typeface="黑体" pitchFamily="49" charset="-122"/>
            </a:endParaRPr>
          </a:p>
        </p:txBody>
      </p:sp>
      <p:sp>
        <p:nvSpPr>
          <p:cNvPr id="4" name="日期占位符 3"/>
          <p:cNvSpPr>
            <a:spLocks noGrp="1"/>
          </p:cNvSpPr>
          <p:nvPr>
            <p:ph type="dt" idx="10"/>
          </p:nvPr>
        </p:nvSpPr>
        <p:spPr/>
        <p:txBody>
          <a:bodyPr/>
          <a:lstStyle/>
          <a:p>
            <a:pPr>
              <a:defRPr/>
            </a:pPr>
            <a:endParaRPr lang="en-US" altLang="zh-CN"/>
          </a:p>
        </p:txBody>
      </p:sp>
      <p:sp>
        <p:nvSpPr>
          <p:cNvPr id="5" name="灯片编号占位符 4"/>
          <p:cNvSpPr>
            <a:spLocks noGrp="1"/>
          </p:cNvSpPr>
          <p:nvPr>
            <p:ph type="sldNum" sz="quarter" idx="11"/>
          </p:nvPr>
        </p:nvSpPr>
        <p:spPr/>
        <p:txBody>
          <a:bodyPr/>
          <a:lstStyle/>
          <a:p>
            <a:pPr>
              <a:defRPr/>
            </a:pPr>
            <a:fld id="{F8760D42-5E8E-41AD-B1DE-80858E943B32}" type="slidenum">
              <a:rPr lang="en-US" altLang="zh-CN" smtClean="0"/>
              <a:pPr>
                <a:defRPr/>
              </a:pPr>
              <a:t>45</a:t>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a:noFill/>
        </p:spPr>
        <p:txBody>
          <a:bodyPr/>
          <a:lstStyle/>
          <a:p>
            <a:fld id="{B958A996-CAE6-4774-A543-32A61757E123}" type="slidenum">
              <a:rPr lang="en-US" altLang="zh-CN" smtClean="0"/>
              <a:pPr/>
              <a:t>50</a:t>
            </a:fld>
            <a:endParaRPr lang="en-US" altLang="zh-CN" smtClean="0"/>
          </a:p>
        </p:txBody>
      </p:sp>
      <p:sp>
        <p:nvSpPr>
          <p:cNvPr id="172035" name="Rectangle 2"/>
          <p:cNvSpPr>
            <a:spLocks noGrp="1" noChangeArrowheads="1"/>
          </p:cNvSpPr>
          <p:nvPr>
            <p:ph type="body" idx="1"/>
          </p:nvPr>
        </p:nvSpPr>
        <p:spPr>
          <a:xfrm>
            <a:off x="885825" y="3503613"/>
            <a:ext cx="4873625" cy="5540375"/>
          </a:xfrm>
          <a:noFill/>
          <a:ln/>
        </p:spPr>
        <p:txBody>
          <a:bodyPr lIns="90472" tIns="44442" rIns="90472" bIns="44442"/>
          <a:lstStyle/>
          <a:p>
            <a:pPr eaLnBrk="1" hangingPunct="1"/>
            <a:endParaRPr lang="zh-CN" altLang="zh-CN" smtClean="0"/>
          </a:p>
        </p:txBody>
      </p:sp>
      <p:sp>
        <p:nvSpPr>
          <p:cNvPr id="172036" name="Rectangle 3"/>
          <p:cNvSpPr>
            <a:spLocks noGrp="1" noRot="1" noChangeAspect="1" noChangeArrowheads="1" noTextEdit="1"/>
          </p:cNvSpPr>
          <p:nvPr>
            <p:ph type="sldImg"/>
          </p:nvPr>
        </p:nvSpPr>
        <p:spPr>
          <a:xfrm>
            <a:off x="1703388" y="739775"/>
            <a:ext cx="3240087" cy="2430463"/>
          </a:xfrm>
          <a:ln w="12700" cap="flat">
            <a:solidFill>
              <a:schemeClr val="tx1"/>
            </a:solidFill>
          </a:ln>
        </p:spPr>
      </p:sp>
      <p:sp>
        <p:nvSpPr>
          <p:cNvPr id="172037"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801688" y="712788"/>
            <a:ext cx="4889500" cy="3667125"/>
          </a:xfrm>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smtClean="0"/>
          </a:p>
        </p:txBody>
      </p:sp>
      <p:sp>
        <p:nvSpPr>
          <p:cNvPr id="4" name="日期占位符 3"/>
          <p:cNvSpPr>
            <a:spLocks noGrp="1"/>
          </p:cNvSpPr>
          <p:nvPr>
            <p:ph type="dt" idx="10"/>
          </p:nvPr>
        </p:nvSpPr>
        <p:spPr/>
        <p:txBody>
          <a:bodyPr/>
          <a:lstStyle/>
          <a:p>
            <a:pPr>
              <a:defRPr/>
            </a:pPr>
            <a:endParaRPr lang="en-US" altLang="zh-CN"/>
          </a:p>
        </p:txBody>
      </p:sp>
      <p:sp>
        <p:nvSpPr>
          <p:cNvPr id="5" name="灯片编号占位符 4"/>
          <p:cNvSpPr>
            <a:spLocks noGrp="1"/>
          </p:cNvSpPr>
          <p:nvPr>
            <p:ph type="sldNum" sz="quarter" idx="11"/>
          </p:nvPr>
        </p:nvSpPr>
        <p:spPr/>
        <p:txBody>
          <a:bodyPr/>
          <a:lstStyle/>
          <a:p>
            <a:pPr>
              <a:defRPr/>
            </a:pPr>
            <a:fld id="{F8760D42-5E8E-41AD-B1DE-80858E943B32}" type="slidenum">
              <a:rPr lang="en-US" altLang="zh-CN" smtClean="0"/>
              <a:pPr>
                <a:defRPr/>
              </a:pPr>
              <a:t>53</a:t>
            </a:fld>
            <a:endParaRPr lang="en-US" altLang="zh-CN"/>
          </a:p>
        </p:txBody>
      </p:sp>
    </p:spTree>
    <p:extLst>
      <p:ext uri="{BB962C8B-B14F-4D97-AF65-F5344CB8AC3E}">
        <p14:creationId xmlns:p14="http://schemas.microsoft.com/office/powerpoint/2010/main" val="7257674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801688" y="712788"/>
            <a:ext cx="4889500" cy="3667125"/>
          </a:xfrm>
        </p:spPr>
      </p:sp>
      <p:sp>
        <p:nvSpPr>
          <p:cNvPr id="3" name="备注占位符 2"/>
          <p:cNvSpPr>
            <a:spLocks noGrp="1"/>
          </p:cNvSpPr>
          <p:nvPr>
            <p:ph type="body" idx="1"/>
          </p:nvPr>
        </p:nvSpPr>
        <p:spPr/>
        <p:txBody>
          <a:bodyPr/>
          <a:lstStyle/>
          <a:p>
            <a:r>
              <a:rPr lang="zh-CN" altLang="en-US" dirty="0" smtClean="0"/>
              <a:t>利用</a:t>
            </a:r>
            <a:r>
              <a:rPr lang="en-US" altLang="zh-CN" dirty="0" smtClean="0"/>
              <a:t>Excel</a:t>
            </a:r>
            <a:r>
              <a:rPr lang="zh-CN" altLang="en-US" dirty="0" smtClean="0"/>
              <a:t>的“数据”→“假设分析</a:t>
            </a:r>
            <a:r>
              <a:rPr lang="en-US" altLang="zh-CN" dirty="0" smtClean="0"/>
              <a:t>(</a:t>
            </a:r>
            <a:r>
              <a:rPr lang="zh-CN" altLang="en-US" dirty="0" smtClean="0"/>
              <a:t>模拟分析</a:t>
            </a:r>
            <a:r>
              <a:rPr lang="en-US" altLang="zh-CN" dirty="0" smtClean="0"/>
              <a:t>)”</a:t>
            </a:r>
            <a:r>
              <a:rPr lang="zh-CN" altLang="en-US" dirty="0" smtClean="0"/>
              <a:t>下的“单变量求解”可实现方程式法计算平均发展速度。</a:t>
            </a:r>
          </a:p>
        </p:txBody>
      </p:sp>
      <p:sp>
        <p:nvSpPr>
          <p:cNvPr id="4" name="日期占位符 3"/>
          <p:cNvSpPr>
            <a:spLocks noGrp="1"/>
          </p:cNvSpPr>
          <p:nvPr>
            <p:ph type="dt" idx="10"/>
          </p:nvPr>
        </p:nvSpPr>
        <p:spPr/>
        <p:txBody>
          <a:bodyPr/>
          <a:lstStyle/>
          <a:p>
            <a:pPr>
              <a:defRPr/>
            </a:pPr>
            <a:endParaRPr lang="en-US" altLang="zh-CN"/>
          </a:p>
        </p:txBody>
      </p:sp>
      <p:sp>
        <p:nvSpPr>
          <p:cNvPr id="5" name="灯片编号占位符 4"/>
          <p:cNvSpPr>
            <a:spLocks noGrp="1"/>
          </p:cNvSpPr>
          <p:nvPr>
            <p:ph type="sldNum" sz="quarter" idx="11"/>
          </p:nvPr>
        </p:nvSpPr>
        <p:spPr/>
        <p:txBody>
          <a:bodyPr/>
          <a:lstStyle/>
          <a:p>
            <a:pPr>
              <a:defRPr/>
            </a:pPr>
            <a:fld id="{F8760D42-5E8E-41AD-B1DE-80858E943B32}" type="slidenum">
              <a:rPr lang="en-US" altLang="zh-CN" smtClean="0"/>
              <a:pPr>
                <a:defRPr/>
              </a:pPr>
              <a:t>54</a:t>
            </a:fld>
            <a:endParaRPr lang="en-US" altLang="zh-CN"/>
          </a:p>
        </p:txBody>
      </p:sp>
    </p:spTree>
    <p:extLst>
      <p:ext uri="{BB962C8B-B14F-4D97-AF65-F5344CB8AC3E}">
        <p14:creationId xmlns:p14="http://schemas.microsoft.com/office/powerpoint/2010/main" val="2158551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801688" y="712788"/>
            <a:ext cx="4889500" cy="3667125"/>
          </a:xfrm>
        </p:spPr>
      </p:sp>
      <p:sp>
        <p:nvSpPr>
          <p:cNvPr id="3" name="备注占位符 2"/>
          <p:cNvSpPr>
            <a:spLocks noGrp="1"/>
          </p:cNvSpPr>
          <p:nvPr>
            <p:ph type="body" idx="1"/>
          </p:nvPr>
        </p:nvSpPr>
        <p:spPr/>
        <p:txBody>
          <a:bodyPr/>
          <a:lstStyle/>
          <a:p>
            <a:endParaRPr lang="zh-CN" altLang="en-US" dirty="0"/>
          </a:p>
        </p:txBody>
      </p:sp>
      <p:sp>
        <p:nvSpPr>
          <p:cNvPr id="4" name="日期占位符 3"/>
          <p:cNvSpPr>
            <a:spLocks noGrp="1"/>
          </p:cNvSpPr>
          <p:nvPr>
            <p:ph type="dt" idx="10"/>
          </p:nvPr>
        </p:nvSpPr>
        <p:spPr/>
        <p:txBody>
          <a:bodyPr/>
          <a:lstStyle/>
          <a:p>
            <a:pPr>
              <a:defRPr/>
            </a:pPr>
            <a:endParaRPr lang="en-US" altLang="zh-CN"/>
          </a:p>
        </p:txBody>
      </p:sp>
      <p:sp>
        <p:nvSpPr>
          <p:cNvPr id="5" name="灯片编号占位符 4"/>
          <p:cNvSpPr>
            <a:spLocks noGrp="1"/>
          </p:cNvSpPr>
          <p:nvPr>
            <p:ph type="sldNum" sz="quarter" idx="11"/>
          </p:nvPr>
        </p:nvSpPr>
        <p:spPr/>
        <p:txBody>
          <a:bodyPr/>
          <a:lstStyle/>
          <a:p>
            <a:pPr>
              <a:defRPr/>
            </a:pPr>
            <a:fld id="{F8760D42-5E8E-41AD-B1DE-80858E943B32}" type="slidenum">
              <a:rPr lang="en-US" altLang="zh-CN" smtClean="0"/>
              <a:pPr>
                <a:defRPr/>
              </a:pPr>
              <a:t>55</a:t>
            </a:fld>
            <a:endParaRPr lang="en-US" altLang="zh-CN"/>
          </a:p>
        </p:txBody>
      </p:sp>
    </p:spTree>
    <p:extLst>
      <p:ext uri="{BB962C8B-B14F-4D97-AF65-F5344CB8AC3E}">
        <p14:creationId xmlns:p14="http://schemas.microsoft.com/office/powerpoint/2010/main" val="36237481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p:cNvSpPr>
            <a:spLocks noGrp="1" noChangeArrowheads="1"/>
          </p:cNvSpPr>
          <p:nvPr>
            <p:ph type="sldNum" sz="quarter" idx="5"/>
          </p:nvPr>
        </p:nvSpPr>
        <p:spPr>
          <a:noFill/>
        </p:spPr>
        <p:txBody>
          <a:bodyPr/>
          <a:lstStyle/>
          <a:p>
            <a:fld id="{C8C3D972-9DF5-4F4D-9000-357A8D4ACF78}" type="slidenum">
              <a:rPr lang="en-US" altLang="zh-CN" smtClean="0"/>
              <a:pPr/>
              <a:t>58</a:t>
            </a:fld>
            <a:endParaRPr lang="en-US" altLang="zh-CN" smtClean="0"/>
          </a:p>
        </p:txBody>
      </p:sp>
      <p:sp>
        <p:nvSpPr>
          <p:cNvPr id="173059" name="Rectangle 2"/>
          <p:cNvSpPr>
            <a:spLocks noGrp="1" noChangeArrowheads="1"/>
          </p:cNvSpPr>
          <p:nvPr>
            <p:ph type="body" idx="1"/>
          </p:nvPr>
        </p:nvSpPr>
        <p:spPr>
          <a:xfrm>
            <a:off x="885825" y="3503613"/>
            <a:ext cx="4873625" cy="5540375"/>
          </a:xfrm>
          <a:noFill/>
          <a:ln/>
        </p:spPr>
        <p:txBody>
          <a:bodyPr lIns="90479" tIns="44445" rIns="90479" bIns="44445"/>
          <a:lstStyle/>
          <a:p>
            <a:pPr eaLnBrk="1" hangingPunct="1"/>
            <a:endParaRPr lang="zh-CN" altLang="zh-CN" smtClean="0"/>
          </a:p>
        </p:txBody>
      </p:sp>
      <p:sp>
        <p:nvSpPr>
          <p:cNvPr id="173060" name="Rectangle 3"/>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73061"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p:cNvSpPr>
            <a:spLocks noGrp="1" noChangeArrowheads="1"/>
          </p:cNvSpPr>
          <p:nvPr>
            <p:ph type="sldNum" sz="quarter" idx="5"/>
          </p:nvPr>
        </p:nvSpPr>
        <p:spPr>
          <a:noFill/>
        </p:spPr>
        <p:txBody>
          <a:bodyPr/>
          <a:lstStyle/>
          <a:p>
            <a:fld id="{823952D8-576D-41BA-918E-38E08C9B627C}" type="slidenum">
              <a:rPr lang="en-US" altLang="zh-CN" smtClean="0"/>
              <a:pPr/>
              <a:t>62</a:t>
            </a:fld>
            <a:endParaRPr lang="en-US" altLang="zh-CN" smtClean="0"/>
          </a:p>
        </p:txBody>
      </p:sp>
      <p:sp>
        <p:nvSpPr>
          <p:cNvPr id="174083" name="Rectangle 2"/>
          <p:cNvSpPr>
            <a:spLocks noGrp="1" noChangeArrowheads="1"/>
          </p:cNvSpPr>
          <p:nvPr>
            <p:ph type="body" idx="1"/>
          </p:nvPr>
        </p:nvSpPr>
        <p:spPr>
          <a:xfrm>
            <a:off x="885825" y="3503613"/>
            <a:ext cx="4873625" cy="5540375"/>
          </a:xfrm>
          <a:noFill/>
          <a:ln/>
        </p:spPr>
        <p:txBody>
          <a:bodyPr lIns="90479" tIns="44445" rIns="90479" bIns="44445"/>
          <a:lstStyle/>
          <a:p>
            <a:pPr eaLnBrk="1" hangingPunct="1"/>
            <a:endParaRPr lang="zh-CN" altLang="zh-CN" smtClean="0"/>
          </a:p>
        </p:txBody>
      </p:sp>
      <p:sp>
        <p:nvSpPr>
          <p:cNvPr id="174084" name="Rectangle 3"/>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74085"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7"/>
          <p:cNvSpPr>
            <a:spLocks noGrp="1" noChangeArrowheads="1"/>
          </p:cNvSpPr>
          <p:nvPr>
            <p:ph type="sldNum" sz="quarter" idx="5"/>
          </p:nvPr>
        </p:nvSpPr>
        <p:spPr>
          <a:noFill/>
        </p:spPr>
        <p:txBody>
          <a:bodyPr/>
          <a:lstStyle/>
          <a:p>
            <a:fld id="{B2B6E117-BC93-47B5-B9D2-94465FB6DC7D}" type="slidenum">
              <a:rPr lang="en-US" altLang="zh-CN" smtClean="0"/>
              <a:pPr/>
              <a:t>63</a:t>
            </a:fld>
            <a:endParaRPr lang="en-US" altLang="zh-CN" smtClean="0"/>
          </a:p>
        </p:txBody>
      </p:sp>
      <p:sp>
        <p:nvSpPr>
          <p:cNvPr id="175107" name="Rectangle 2"/>
          <p:cNvSpPr>
            <a:spLocks noGrp="1" noChangeArrowheads="1"/>
          </p:cNvSpPr>
          <p:nvPr>
            <p:ph type="body" idx="1"/>
          </p:nvPr>
        </p:nvSpPr>
        <p:spPr>
          <a:xfrm>
            <a:off x="885825" y="3503613"/>
            <a:ext cx="4873625" cy="5540375"/>
          </a:xfrm>
          <a:noFill/>
          <a:ln/>
        </p:spPr>
        <p:txBody>
          <a:bodyPr lIns="90479" tIns="44445" rIns="90479" bIns="44445"/>
          <a:lstStyle/>
          <a:p>
            <a:pPr eaLnBrk="1" hangingPunct="1"/>
            <a:endParaRPr lang="zh-CN" altLang="zh-CN" smtClean="0"/>
          </a:p>
        </p:txBody>
      </p:sp>
      <p:sp>
        <p:nvSpPr>
          <p:cNvPr id="175108" name="Rectangle 3"/>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75109"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p:spPr>
        <p:txBody>
          <a:bodyPr/>
          <a:lstStyle/>
          <a:p>
            <a:fld id="{63E0689C-5581-4912-AFD6-7F9605634695}" type="slidenum">
              <a:rPr lang="en-US" altLang="zh-CN" smtClean="0"/>
              <a:pPr/>
              <a:t>64</a:t>
            </a:fld>
            <a:endParaRPr lang="en-US" altLang="zh-CN" smtClean="0"/>
          </a:p>
        </p:txBody>
      </p:sp>
      <p:sp>
        <p:nvSpPr>
          <p:cNvPr id="176131" name="Rectangle 2"/>
          <p:cNvSpPr>
            <a:spLocks noGrp="1" noChangeArrowheads="1"/>
          </p:cNvSpPr>
          <p:nvPr>
            <p:ph type="body" idx="1"/>
          </p:nvPr>
        </p:nvSpPr>
        <p:spPr>
          <a:xfrm>
            <a:off x="885825" y="3503613"/>
            <a:ext cx="4873625" cy="5540375"/>
          </a:xfrm>
          <a:noFill/>
          <a:ln/>
        </p:spPr>
        <p:txBody>
          <a:bodyPr lIns="90479" tIns="44445" rIns="90479" bIns="44445"/>
          <a:lstStyle/>
          <a:p>
            <a:pPr eaLnBrk="1" hangingPunct="1"/>
            <a:endParaRPr lang="zh-CN" altLang="zh-CN" smtClean="0"/>
          </a:p>
        </p:txBody>
      </p:sp>
      <p:sp>
        <p:nvSpPr>
          <p:cNvPr id="176132" name="Rectangle 3"/>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76133"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p:spPr>
        <p:txBody>
          <a:bodyPr/>
          <a:lstStyle/>
          <a:p>
            <a:fld id="{DC849521-1D9C-47B5-9FFA-E164459041EE}" type="slidenum">
              <a:rPr lang="en-US" altLang="zh-CN" smtClean="0"/>
              <a:pPr/>
              <a:t>65</a:t>
            </a:fld>
            <a:endParaRPr lang="en-US" altLang="zh-CN" smtClean="0"/>
          </a:p>
        </p:txBody>
      </p:sp>
      <p:sp>
        <p:nvSpPr>
          <p:cNvPr id="177155" name="Rectangle 2"/>
          <p:cNvSpPr>
            <a:spLocks noGrp="1" noChangeArrowheads="1"/>
          </p:cNvSpPr>
          <p:nvPr>
            <p:ph type="body" idx="1"/>
          </p:nvPr>
        </p:nvSpPr>
        <p:spPr>
          <a:xfrm>
            <a:off x="885825" y="3503613"/>
            <a:ext cx="4873625" cy="5540375"/>
          </a:xfrm>
          <a:noFill/>
          <a:ln/>
        </p:spPr>
        <p:txBody>
          <a:bodyPr lIns="90479" tIns="44445" rIns="90479" bIns="44445"/>
          <a:lstStyle/>
          <a:p>
            <a:pPr eaLnBrk="1" hangingPunct="1"/>
            <a:endParaRPr lang="zh-CN" altLang="zh-CN" smtClean="0"/>
          </a:p>
        </p:txBody>
      </p:sp>
      <p:sp>
        <p:nvSpPr>
          <p:cNvPr id="177156" name="Rectangle 3"/>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77157"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大约</a:t>
            </a:r>
            <a:r>
              <a:rPr lang="en-US" altLang="zh-CN" dirty="0" smtClean="0"/>
              <a:t>11</a:t>
            </a:r>
            <a:r>
              <a:rPr lang="zh-CN" altLang="en-US" dirty="0" smtClean="0"/>
              <a:t>年为一周期</a:t>
            </a:r>
            <a:endParaRPr lang="zh-CN" altLang="en-US" dirty="0"/>
          </a:p>
        </p:txBody>
      </p:sp>
      <p:sp>
        <p:nvSpPr>
          <p:cNvPr id="4" name="日期占位符 3"/>
          <p:cNvSpPr>
            <a:spLocks noGrp="1"/>
          </p:cNvSpPr>
          <p:nvPr>
            <p:ph type="dt" idx="10"/>
          </p:nvPr>
        </p:nvSpPr>
        <p:spPr/>
        <p:txBody>
          <a:bodyPr/>
          <a:lstStyle/>
          <a:p>
            <a:pPr>
              <a:defRPr/>
            </a:pPr>
            <a:endParaRPr lang="en-US" altLang="zh-CN"/>
          </a:p>
        </p:txBody>
      </p:sp>
      <p:sp>
        <p:nvSpPr>
          <p:cNvPr id="5" name="灯片编号占位符 4"/>
          <p:cNvSpPr>
            <a:spLocks noGrp="1"/>
          </p:cNvSpPr>
          <p:nvPr>
            <p:ph type="sldNum" sz="quarter" idx="11"/>
          </p:nvPr>
        </p:nvSpPr>
        <p:spPr/>
        <p:txBody>
          <a:bodyPr/>
          <a:lstStyle/>
          <a:p>
            <a:pPr>
              <a:defRPr/>
            </a:pPr>
            <a:fld id="{F8760D42-5E8E-41AD-B1DE-80858E943B32}" type="slidenum">
              <a:rPr lang="en-US" altLang="zh-CN" smtClean="0"/>
              <a:pPr>
                <a:defRPr/>
              </a:pPr>
              <a:t>69</a:t>
            </a:fld>
            <a:endParaRPr lang="en-US" altLang="zh-CN"/>
          </a:p>
        </p:txBody>
      </p:sp>
    </p:spTree>
    <p:extLst>
      <p:ext uri="{BB962C8B-B14F-4D97-AF65-F5344CB8AC3E}">
        <p14:creationId xmlns:p14="http://schemas.microsoft.com/office/powerpoint/2010/main" val="6017142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思考：若这里的年度数据呢？</a:t>
            </a:r>
            <a:endParaRPr lang="zh-CN" altLang="en-US" dirty="0"/>
          </a:p>
        </p:txBody>
      </p:sp>
      <p:sp>
        <p:nvSpPr>
          <p:cNvPr id="4" name="日期占位符 3"/>
          <p:cNvSpPr>
            <a:spLocks noGrp="1"/>
          </p:cNvSpPr>
          <p:nvPr>
            <p:ph type="dt" idx="10"/>
          </p:nvPr>
        </p:nvSpPr>
        <p:spPr/>
        <p:txBody>
          <a:bodyPr/>
          <a:lstStyle/>
          <a:p>
            <a:pPr>
              <a:defRPr/>
            </a:pPr>
            <a:endParaRPr lang="en-US" altLang="zh-CN"/>
          </a:p>
        </p:txBody>
      </p:sp>
      <p:sp>
        <p:nvSpPr>
          <p:cNvPr id="5" name="灯片编号占位符 4"/>
          <p:cNvSpPr>
            <a:spLocks noGrp="1"/>
          </p:cNvSpPr>
          <p:nvPr>
            <p:ph type="sldNum" sz="quarter" idx="11"/>
          </p:nvPr>
        </p:nvSpPr>
        <p:spPr/>
        <p:txBody>
          <a:bodyPr/>
          <a:lstStyle/>
          <a:p>
            <a:pPr>
              <a:defRPr/>
            </a:pPr>
            <a:fld id="{F8760D42-5E8E-41AD-B1DE-80858E943B32}" type="slidenum">
              <a:rPr lang="en-US" altLang="zh-CN" smtClean="0"/>
              <a:pPr>
                <a:defRPr/>
              </a:pPr>
              <a:t>73</a:t>
            </a:fld>
            <a:endParaRPr lang="en-US" altLang="zh-CN"/>
          </a:p>
        </p:txBody>
      </p:sp>
    </p:spTree>
    <p:extLst>
      <p:ext uri="{BB962C8B-B14F-4D97-AF65-F5344CB8AC3E}">
        <p14:creationId xmlns:p14="http://schemas.microsoft.com/office/powerpoint/2010/main" val="12222856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p:cNvSpPr>
            <a:spLocks noGrp="1" noChangeArrowheads="1"/>
          </p:cNvSpPr>
          <p:nvPr>
            <p:ph type="sldNum" sz="quarter" idx="5"/>
          </p:nvPr>
        </p:nvSpPr>
        <p:spPr>
          <a:noFill/>
        </p:spPr>
        <p:txBody>
          <a:bodyPr/>
          <a:lstStyle/>
          <a:p>
            <a:fld id="{C539891E-D8A1-4898-AA29-0B0AA33BA89A}" type="slidenum">
              <a:rPr lang="en-US" altLang="zh-CN" smtClean="0"/>
              <a:pPr/>
              <a:t>78</a:t>
            </a:fld>
            <a:endParaRPr lang="en-US" altLang="zh-CN" smtClean="0"/>
          </a:p>
        </p:txBody>
      </p:sp>
      <p:sp>
        <p:nvSpPr>
          <p:cNvPr id="178179" name="Rectangle 2"/>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78180" name="Rectangle 3"/>
          <p:cNvSpPr>
            <a:spLocks noGrp="1" noChangeArrowheads="1"/>
          </p:cNvSpPr>
          <p:nvPr>
            <p:ph type="body" idx="1"/>
          </p:nvPr>
        </p:nvSpPr>
        <p:spPr>
          <a:xfrm>
            <a:off x="885825" y="3503613"/>
            <a:ext cx="4873625" cy="5540375"/>
          </a:xfrm>
          <a:noFill/>
          <a:ln/>
        </p:spPr>
        <p:txBody>
          <a:bodyPr lIns="90479" tIns="44445" rIns="90479" bIns="44445"/>
          <a:lstStyle/>
          <a:p>
            <a:pPr eaLnBrk="1" hangingPunct="1"/>
            <a:endParaRPr lang="zh-CN" altLang="zh-CN" smtClean="0"/>
          </a:p>
        </p:txBody>
      </p:sp>
      <p:sp>
        <p:nvSpPr>
          <p:cNvPr id="178181"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7"/>
          <p:cNvSpPr>
            <a:spLocks noGrp="1" noChangeArrowheads="1"/>
          </p:cNvSpPr>
          <p:nvPr>
            <p:ph type="sldNum" sz="quarter" idx="5"/>
          </p:nvPr>
        </p:nvSpPr>
        <p:spPr>
          <a:noFill/>
        </p:spPr>
        <p:txBody>
          <a:bodyPr/>
          <a:lstStyle/>
          <a:p>
            <a:fld id="{5CD551F3-FCC7-4EDC-8DFE-56E228493F42}" type="slidenum">
              <a:rPr lang="en-US" altLang="zh-CN" smtClean="0"/>
              <a:pPr/>
              <a:t>81</a:t>
            </a:fld>
            <a:endParaRPr lang="en-US" altLang="zh-CN" smtClean="0"/>
          </a:p>
        </p:txBody>
      </p:sp>
      <p:sp>
        <p:nvSpPr>
          <p:cNvPr id="179203" name="Rectangle 2"/>
          <p:cNvSpPr>
            <a:spLocks noGrp="1" noChangeArrowheads="1"/>
          </p:cNvSpPr>
          <p:nvPr>
            <p:ph type="body" idx="1"/>
          </p:nvPr>
        </p:nvSpPr>
        <p:spPr>
          <a:xfrm>
            <a:off x="885825" y="3503613"/>
            <a:ext cx="4873625" cy="5540375"/>
          </a:xfrm>
          <a:noFill/>
          <a:ln/>
        </p:spPr>
        <p:txBody>
          <a:bodyPr lIns="90479" tIns="44445" rIns="90479" bIns="44445"/>
          <a:lstStyle/>
          <a:p>
            <a:pPr eaLnBrk="1" hangingPunct="1"/>
            <a:endParaRPr lang="zh-CN" altLang="zh-CN" smtClean="0"/>
          </a:p>
        </p:txBody>
      </p:sp>
      <p:sp>
        <p:nvSpPr>
          <p:cNvPr id="179204" name="Rectangle 3"/>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79205"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7"/>
          <p:cNvSpPr>
            <a:spLocks noGrp="1" noChangeArrowheads="1"/>
          </p:cNvSpPr>
          <p:nvPr>
            <p:ph type="sldNum" sz="quarter" idx="5"/>
          </p:nvPr>
        </p:nvSpPr>
        <p:spPr>
          <a:noFill/>
        </p:spPr>
        <p:txBody>
          <a:bodyPr/>
          <a:lstStyle/>
          <a:p>
            <a:fld id="{E73C8086-4702-40E3-A9FB-935FC51096FF}" type="slidenum">
              <a:rPr lang="en-US" altLang="zh-CN" smtClean="0"/>
              <a:pPr/>
              <a:t>83</a:t>
            </a:fld>
            <a:endParaRPr lang="en-US" altLang="zh-CN" smtClean="0"/>
          </a:p>
        </p:txBody>
      </p:sp>
      <p:sp>
        <p:nvSpPr>
          <p:cNvPr id="180227" name="Rectangle 2"/>
          <p:cNvSpPr>
            <a:spLocks noGrp="1" noChangeArrowheads="1"/>
          </p:cNvSpPr>
          <p:nvPr>
            <p:ph type="body" idx="1"/>
          </p:nvPr>
        </p:nvSpPr>
        <p:spPr>
          <a:xfrm>
            <a:off x="885825" y="3503613"/>
            <a:ext cx="4873625" cy="5540375"/>
          </a:xfrm>
          <a:noFill/>
          <a:ln/>
        </p:spPr>
        <p:txBody>
          <a:bodyPr lIns="90479" tIns="44445" rIns="90479" bIns="44445"/>
          <a:lstStyle/>
          <a:p>
            <a:pPr eaLnBrk="1" hangingPunct="1"/>
            <a:endParaRPr lang="zh-CN" altLang="zh-CN" smtClean="0"/>
          </a:p>
        </p:txBody>
      </p:sp>
      <p:sp>
        <p:nvSpPr>
          <p:cNvPr id="180228" name="Rectangle 3"/>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80229"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801688" y="712788"/>
            <a:ext cx="4889500" cy="3667125"/>
          </a:xfrm>
        </p:spPr>
      </p:sp>
      <p:sp>
        <p:nvSpPr>
          <p:cNvPr id="3" name="备注占位符 2"/>
          <p:cNvSpPr>
            <a:spLocks noGrp="1"/>
          </p:cNvSpPr>
          <p:nvPr>
            <p:ph type="body" idx="1"/>
          </p:nvPr>
        </p:nvSpPr>
        <p:spPr/>
        <p:txBody>
          <a:bodyPr/>
          <a:lstStyle/>
          <a:p>
            <a:endParaRPr lang="zh-CN" altLang="en-US" dirty="0"/>
          </a:p>
        </p:txBody>
      </p:sp>
      <p:sp>
        <p:nvSpPr>
          <p:cNvPr id="4" name="日期占位符 3"/>
          <p:cNvSpPr>
            <a:spLocks noGrp="1"/>
          </p:cNvSpPr>
          <p:nvPr>
            <p:ph type="dt" idx="10"/>
          </p:nvPr>
        </p:nvSpPr>
        <p:spPr/>
        <p:txBody>
          <a:bodyPr/>
          <a:lstStyle/>
          <a:p>
            <a:pPr>
              <a:defRPr/>
            </a:pPr>
            <a:endParaRPr lang="en-US" altLang="zh-CN"/>
          </a:p>
        </p:txBody>
      </p:sp>
      <p:sp>
        <p:nvSpPr>
          <p:cNvPr id="5" name="灯片编号占位符 4"/>
          <p:cNvSpPr>
            <a:spLocks noGrp="1"/>
          </p:cNvSpPr>
          <p:nvPr>
            <p:ph type="sldNum" sz="quarter" idx="11"/>
          </p:nvPr>
        </p:nvSpPr>
        <p:spPr/>
        <p:txBody>
          <a:bodyPr/>
          <a:lstStyle/>
          <a:p>
            <a:pPr>
              <a:defRPr/>
            </a:pPr>
            <a:fld id="{F8760D42-5E8E-41AD-B1DE-80858E943B32}" type="slidenum">
              <a:rPr lang="en-US" altLang="zh-CN" smtClean="0"/>
              <a:pPr>
                <a:defRPr/>
              </a:pPr>
              <a:t>87</a:t>
            </a:fld>
            <a:endParaRPr lang="en-US" altLang="zh-CN"/>
          </a:p>
        </p:txBody>
      </p:sp>
    </p:spTree>
    <p:extLst>
      <p:ext uri="{BB962C8B-B14F-4D97-AF65-F5344CB8AC3E}">
        <p14:creationId xmlns:p14="http://schemas.microsoft.com/office/powerpoint/2010/main" val="27807200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801688" y="712788"/>
            <a:ext cx="4889500" cy="3667125"/>
          </a:xfrm>
        </p:spPr>
      </p:sp>
      <p:sp>
        <p:nvSpPr>
          <p:cNvPr id="3" name="备注占位符 2"/>
          <p:cNvSpPr>
            <a:spLocks noGrp="1"/>
          </p:cNvSpPr>
          <p:nvPr>
            <p:ph type="body" idx="1"/>
          </p:nvPr>
        </p:nvSpPr>
        <p:spPr/>
        <p:txBody>
          <a:bodyPr/>
          <a:lstStyle/>
          <a:p>
            <a:endParaRPr lang="zh-CN" altLang="en-US" dirty="0"/>
          </a:p>
        </p:txBody>
      </p:sp>
      <p:sp>
        <p:nvSpPr>
          <p:cNvPr id="4" name="日期占位符 3"/>
          <p:cNvSpPr>
            <a:spLocks noGrp="1"/>
          </p:cNvSpPr>
          <p:nvPr>
            <p:ph type="dt" idx="10"/>
          </p:nvPr>
        </p:nvSpPr>
        <p:spPr/>
        <p:txBody>
          <a:bodyPr/>
          <a:lstStyle/>
          <a:p>
            <a:pPr>
              <a:defRPr/>
            </a:pPr>
            <a:endParaRPr lang="en-US" altLang="zh-CN"/>
          </a:p>
        </p:txBody>
      </p:sp>
      <p:sp>
        <p:nvSpPr>
          <p:cNvPr id="5" name="灯片编号占位符 4"/>
          <p:cNvSpPr>
            <a:spLocks noGrp="1"/>
          </p:cNvSpPr>
          <p:nvPr>
            <p:ph type="sldNum" sz="quarter" idx="11"/>
          </p:nvPr>
        </p:nvSpPr>
        <p:spPr/>
        <p:txBody>
          <a:bodyPr/>
          <a:lstStyle/>
          <a:p>
            <a:pPr>
              <a:defRPr/>
            </a:pPr>
            <a:fld id="{F8760D42-5E8E-41AD-B1DE-80858E943B32}" type="slidenum">
              <a:rPr lang="en-US" altLang="zh-CN" smtClean="0"/>
              <a:pPr>
                <a:defRPr/>
              </a:pPr>
              <a:t>93</a:t>
            </a:fld>
            <a:endParaRPr lang="en-US" altLang="zh-CN"/>
          </a:p>
        </p:txBody>
      </p:sp>
    </p:spTree>
    <p:extLst>
      <p:ext uri="{BB962C8B-B14F-4D97-AF65-F5344CB8AC3E}">
        <p14:creationId xmlns:p14="http://schemas.microsoft.com/office/powerpoint/2010/main" val="233701763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幻灯片图像占位符 1"/>
          <p:cNvSpPr>
            <a:spLocks noGrp="1" noRot="1" noChangeAspect="1" noTextEdit="1"/>
          </p:cNvSpPr>
          <p:nvPr>
            <p:ph type="sldImg"/>
          </p:nvPr>
        </p:nvSpPr>
        <p:spPr>
          <a:xfrm>
            <a:off x="801688" y="712788"/>
            <a:ext cx="4889500" cy="3667125"/>
          </a:xfrm>
          <a:ln/>
        </p:spPr>
      </p:sp>
      <p:sp>
        <p:nvSpPr>
          <p:cNvPr id="181251" name="备注占位符 2"/>
          <p:cNvSpPr>
            <a:spLocks noGrp="1"/>
          </p:cNvSpPr>
          <p:nvPr>
            <p:ph type="body" idx="1"/>
          </p:nvPr>
        </p:nvSpPr>
        <p:spPr>
          <a:noFill/>
          <a:ln/>
        </p:spPr>
        <p:txBody>
          <a:bodyPr/>
          <a:lstStyle/>
          <a:p>
            <a:r>
              <a:rPr lang="zh-CN" altLang="en-US" smtClean="0"/>
              <a:t>     公式错误已改！</a:t>
            </a:r>
          </a:p>
        </p:txBody>
      </p:sp>
      <p:sp>
        <p:nvSpPr>
          <p:cNvPr id="181252" name="日期占位符 3"/>
          <p:cNvSpPr>
            <a:spLocks noGrp="1"/>
          </p:cNvSpPr>
          <p:nvPr>
            <p:ph type="dt" sz="quarter" idx="1"/>
          </p:nvPr>
        </p:nvSpPr>
        <p:spPr>
          <a:noFill/>
        </p:spPr>
        <p:txBody>
          <a:bodyPr/>
          <a:lstStyle/>
          <a:p>
            <a:endParaRPr lang="en-US" altLang="zh-CN" smtClean="0"/>
          </a:p>
        </p:txBody>
      </p:sp>
      <p:sp>
        <p:nvSpPr>
          <p:cNvPr id="181253" name="灯片编号占位符 4"/>
          <p:cNvSpPr>
            <a:spLocks noGrp="1"/>
          </p:cNvSpPr>
          <p:nvPr>
            <p:ph type="sldNum" sz="quarter" idx="5"/>
          </p:nvPr>
        </p:nvSpPr>
        <p:spPr>
          <a:noFill/>
        </p:spPr>
        <p:txBody>
          <a:bodyPr/>
          <a:lstStyle/>
          <a:p>
            <a:fld id="{31081092-D716-4A9D-8C71-4649F98931F7}" type="slidenum">
              <a:rPr lang="en-US" altLang="zh-CN" smtClean="0"/>
              <a:pPr/>
              <a:t>101</a:t>
            </a:fld>
            <a:endParaRPr lang="en-US" altLang="zh-CN"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801688" y="712788"/>
            <a:ext cx="4889500" cy="3667125"/>
          </a:xfrm>
        </p:spPr>
      </p:sp>
      <p:sp>
        <p:nvSpPr>
          <p:cNvPr id="3" name="备注占位符 2"/>
          <p:cNvSpPr>
            <a:spLocks noGrp="1"/>
          </p:cNvSpPr>
          <p:nvPr>
            <p:ph type="body" idx="1"/>
          </p:nvPr>
        </p:nvSpPr>
        <p:spPr/>
        <p:txBody>
          <a:bodyPr/>
          <a:lstStyle/>
          <a:p>
            <a:r>
              <a:rPr lang="zh-CN" altLang="en-US" sz="1200" b="1" dirty="0" smtClean="0">
                <a:solidFill>
                  <a:srgbClr val="000000"/>
                </a:solidFill>
              </a:rPr>
              <a:t> </a:t>
            </a:r>
            <a:r>
              <a:rPr lang="en-US" altLang="zh-CN" sz="1200" b="1" dirty="0" smtClean="0">
                <a:solidFill>
                  <a:srgbClr val="CC0099"/>
                </a:solidFill>
              </a:rPr>
              <a:t>K</a:t>
            </a:r>
            <a:r>
              <a:rPr lang="zh-CN" altLang="en-US" sz="1200" b="1" dirty="0" smtClean="0">
                <a:solidFill>
                  <a:srgbClr val="CC0099"/>
                </a:solidFill>
              </a:rPr>
              <a:t>次曲线（多项式曲线）</a:t>
            </a:r>
            <a:r>
              <a:rPr lang="en-US" altLang="zh-CN" sz="1200" b="1" dirty="0" smtClean="0">
                <a:solidFill>
                  <a:srgbClr val="CC0099"/>
                </a:solidFill>
              </a:rPr>
              <a:t>——</a:t>
            </a:r>
            <a:r>
              <a:rPr lang="zh-CN" altLang="en-US" sz="1200" b="1" dirty="0" smtClean="0"/>
              <a:t>其</a:t>
            </a:r>
            <a:r>
              <a:rPr lang="en-US" altLang="zh-CN" sz="1200" b="1" dirty="0" smtClean="0"/>
              <a:t>K</a:t>
            </a:r>
            <a:r>
              <a:rPr lang="zh-CN" altLang="en-US" sz="1200" b="1" dirty="0" smtClean="0"/>
              <a:t>阶导数为常数</a:t>
            </a:r>
            <a:endParaRPr lang="en-US" altLang="zh-CN" sz="1200" b="1" dirty="0" smtClean="0"/>
          </a:p>
          <a:p>
            <a:r>
              <a:rPr lang="zh-CN" altLang="en-US" dirty="0" smtClean="0">
                <a:latin typeface="宋体" pitchFamily="2" charset="-122"/>
              </a:rPr>
              <a:t>指数曲线</a:t>
            </a:r>
            <a:r>
              <a:rPr lang="en-US" altLang="zh-CN" dirty="0" smtClean="0">
                <a:latin typeface="宋体" pitchFamily="2" charset="-122"/>
              </a:rPr>
              <a:t>——</a:t>
            </a:r>
            <a:r>
              <a:rPr lang="zh-CN" altLang="en-US" dirty="0" smtClean="0">
                <a:latin typeface="宋体" pitchFamily="2" charset="-122"/>
              </a:rPr>
              <a:t>数列取对数后一次差大致为一常数</a:t>
            </a:r>
            <a:endParaRPr lang="zh-CN" altLang="en-US" dirty="0"/>
          </a:p>
        </p:txBody>
      </p:sp>
      <p:sp>
        <p:nvSpPr>
          <p:cNvPr id="4" name="日期占位符 3"/>
          <p:cNvSpPr>
            <a:spLocks noGrp="1"/>
          </p:cNvSpPr>
          <p:nvPr>
            <p:ph type="dt" idx="10"/>
          </p:nvPr>
        </p:nvSpPr>
        <p:spPr/>
        <p:txBody>
          <a:bodyPr/>
          <a:lstStyle/>
          <a:p>
            <a:pPr>
              <a:defRPr/>
            </a:pPr>
            <a:endParaRPr lang="en-US" altLang="zh-CN"/>
          </a:p>
        </p:txBody>
      </p:sp>
      <p:sp>
        <p:nvSpPr>
          <p:cNvPr id="5" name="灯片编号占位符 4"/>
          <p:cNvSpPr>
            <a:spLocks noGrp="1"/>
          </p:cNvSpPr>
          <p:nvPr>
            <p:ph type="sldNum" sz="quarter" idx="11"/>
          </p:nvPr>
        </p:nvSpPr>
        <p:spPr/>
        <p:txBody>
          <a:bodyPr/>
          <a:lstStyle/>
          <a:p>
            <a:pPr>
              <a:defRPr/>
            </a:pPr>
            <a:fld id="{F8760D42-5E8E-41AD-B1DE-80858E943B32}" type="slidenum">
              <a:rPr lang="en-US" altLang="zh-CN" smtClean="0"/>
              <a:pPr>
                <a:defRPr/>
              </a:pPr>
              <a:t>105</a:t>
            </a:fld>
            <a:endParaRPr lang="en-US" altLang="zh-CN"/>
          </a:p>
        </p:txBody>
      </p:sp>
    </p:spTree>
    <p:extLst>
      <p:ext uri="{BB962C8B-B14F-4D97-AF65-F5344CB8AC3E}">
        <p14:creationId xmlns:p14="http://schemas.microsoft.com/office/powerpoint/2010/main" val="161290103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801688" y="712788"/>
            <a:ext cx="4889500" cy="3667125"/>
          </a:xfrm>
        </p:spPr>
      </p:sp>
      <p:sp>
        <p:nvSpPr>
          <p:cNvPr id="3" name="备注占位符 2"/>
          <p:cNvSpPr>
            <a:spLocks noGrp="1"/>
          </p:cNvSpPr>
          <p:nvPr>
            <p:ph type="body" idx="1"/>
          </p:nvPr>
        </p:nvSpPr>
        <p:spPr/>
        <p:txBody>
          <a:bodyPr>
            <a:normAutofit/>
          </a:bodyPr>
          <a:lstStyle/>
          <a:p>
            <a:endParaRPr lang="zh-CN" altLang="en-US" dirty="0"/>
          </a:p>
        </p:txBody>
      </p:sp>
      <p:sp>
        <p:nvSpPr>
          <p:cNvPr id="4" name="日期占位符 3"/>
          <p:cNvSpPr>
            <a:spLocks noGrp="1"/>
          </p:cNvSpPr>
          <p:nvPr>
            <p:ph type="dt" idx="10"/>
          </p:nvPr>
        </p:nvSpPr>
        <p:spPr/>
        <p:txBody>
          <a:bodyPr/>
          <a:lstStyle/>
          <a:p>
            <a:pPr>
              <a:defRPr/>
            </a:pPr>
            <a:endParaRPr lang="en-US" altLang="zh-CN"/>
          </a:p>
        </p:txBody>
      </p:sp>
      <p:sp>
        <p:nvSpPr>
          <p:cNvPr id="5" name="灯片编号占位符 4"/>
          <p:cNvSpPr>
            <a:spLocks noGrp="1"/>
          </p:cNvSpPr>
          <p:nvPr>
            <p:ph type="sldNum" sz="quarter" idx="11"/>
          </p:nvPr>
        </p:nvSpPr>
        <p:spPr/>
        <p:txBody>
          <a:bodyPr/>
          <a:lstStyle/>
          <a:p>
            <a:pPr>
              <a:defRPr/>
            </a:pPr>
            <a:fld id="{F8760D42-5E8E-41AD-B1DE-80858E943B32}" type="slidenum">
              <a:rPr lang="en-US" altLang="zh-CN" smtClean="0"/>
              <a:pPr>
                <a:defRPr/>
              </a:pPr>
              <a:t>108</a:t>
            </a:fld>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p:cNvSpPr>
            <a:spLocks noGrp="1" noChangeArrowheads="1"/>
          </p:cNvSpPr>
          <p:nvPr>
            <p:ph type="sldNum" sz="quarter" idx="5"/>
          </p:nvPr>
        </p:nvSpPr>
        <p:spPr>
          <a:noFill/>
        </p:spPr>
        <p:txBody>
          <a:bodyPr/>
          <a:lstStyle/>
          <a:p>
            <a:fld id="{7C60890B-6518-457A-ADCC-898A209777CB}" type="slidenum">
              <a:rPr lang="en-US" altLang="zh-CN" smtClean="0"/>
              <a:pPr/>
              <a:t>110</a:t>
            </a:fld>
            <a:endParaRPr lang="en-US" altLang="zh-CN" smtClean="0"/>
          </a:p>
        </p:txBody>
      </p:sp>
      <p:sp>
        <p:nvSpPr>
          <p:cNvPr id="184323" name="Rectangle 2"/>
          <p:cNvSpPr>
            <a:spLocks noGrp="1" noChangeArrowheads="1"/>
          </p:cNvSpPr>
          <p:nvPr>
            <p:ph type="body" idx="1"/>
          </p:nvPr>
        </p:nvSpPr>
        <p:spPr>
          <a:xfrm>
            <a:off x="885825" y="3503613"/>
            <a:ext cx="4873625" cy="5540375"/>
          </a:xfrm>
          <a:noFill/>
          <a:ln/>
        </p:spPr>
        <p:txBody>
          <a:bodyPr lIns="90479" tIns="44445" rIns="90479" bIns="44445"/>
          <a:lstStyle/>
          <a:p>
            <a:pPr eaLnBrk="1" hangingPunct="1"/>
            <a:endParaRPr lang="zh-CN" altLang="zh-CN" smtClean="0"/>
          </a:p>
        </p:txBody>
      </p:sp>
      <p:sp>
        <p:nvSpPr>
          <p:cNvPr id="184324" name="Rectangle 3"/>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84325"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p:cNvSpPr>
            <a:spLocks noGrp="1" noChangeArrowheads="1"/>
          </p:cNvSpPr>
          <p:nvPr>
            <p:ph type="sldNum" sz="quarter" idx="5"/>
          </p:nvPr>
        </p:nvSpPr>
        <p:spPr>
          <a:noFill/>
        </p:spPr>
        <p:txBody>
          <a:bodyPr/>
          <a:lstStyle/>
          <a:p>
            <a:fld id="{220AC148-C3C5-4C6F-B421-0D4CFFF60614}" type="slidenum">
              <a:rPr lang="en-US" altLang="zh-CN" smtClean="0"/>
              <a:pPr/>
              <a:t>112</a:t>
            </a:fld>
            <a:endParaRPr lang="en-US" altLang="zh-CN" smtClean="0"/>
          </a:p>
        </p:txBody>
      </p:sp>
      <p:sp>
        <p:nvSpPr>
          <p:cNvPr id="185347" name="Rectangle 2"/>
          <p:cNvSpPr>
            <a:spLocks noGrp="1" noChangeArrowheads="1"/>
          </p:cNvSpPr>
          <p:nvPr>
            <p:ph type="body" idx="1"/>
          </p:nvPr>
        </p:nvSpPr>
        <p:spPr>
          <a:xfrm>
            <a:off x="885825" y="3503613"/>
            <a:ext cx="4873625" cy="5540375"/>
          </a:xfrm>
          <a:noFill/>
          <a:ln/>
        </p:spPr>
        <p:txBody>
          <a:bodyPr lIns="90479" tIns="44445" rIns="90479" bIns="44445"/>
          <a:lstStyle/>
          <a:p>
            <a:pPr eaLnBrk="1" hangingPunct="1"/>
            <a:endParaRPr lang="zh-CN" altLang="zh-CN" smtClean="0"/>
          </a:p>
        </p:txBody>
      </p:sp>
      <p:sp>
        <p:nvSpPr>
          <p:cNvPr id="185348" name="Rectangle 3"/>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85349"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p:cNvSpPr>
            <a:spLocks noGrp="1" noChangeArrowheads="1"/>
          </p:cNvSpPr>
          <p:nvPr>
            <p:ph type="sldNum" sz="quarter" idx="5"/>
          </p:nvPr>
        </p:nvSpPr>
        <p:spPr>
          <a:noFill/>
        </p:spPr>
        <p:txBody>
          <a:bodyPr/>
          <a:lstStyle/>
          <a:p>
            <a:fld id="{956CD40A-A55A-4205-BB0D-A207F329A9A4}" type="slidenum">
              <a:rPr lang="en-US" altLang="zh-CN" smtClean="0"/>
              <a:pPr/>
              <a:t>113</a:t>
            </a:fld>
            <a:endParaRPr lang="en-US" altLang="zh-CN" smtClean="0"/>
          </a:p>
        </p:txBody>
      </p:sp>
      <p:sp>
        <p:nvSpPr>
          <p:cNvPr id="186371" name="Rectangle 2"/>
          <p:cNvSpPr>
            <a:spLocks noGrp="1" noChangeArrowheads="1"/>
          </p:cNvSpPr>
          <p:nvPr>
            <p:ph type="body" idx="1"/>
          </p:nvPr>
        </p:nvSpPr>
        <p:spPr>
          <a:xfrm>
            <a:off x="885825" y="3503613"/>
            <a:ext cx="4873625" cy="5540375"/>
          </a:xfrm>
          <a:noFill/>
          <a:ln/>
        </p:spPr>
        <p:txBody>
          <a:bodyPr lIns="90479" tIns="44445" rIns="90479" bIns="44445"/>
          <a:lstStyle/>
          <a:p>
            <a:pPr eaLnBrk="1" hangingPunct="1"/>
            <a:endParaRPr lang="zh-CN" altLang="zh-CN" smtClean="0"/>
          </a:p>
        </p:txBody>
      </p:sp>
      <p:sp>
        <p:nvSpPr>
          <p:cNvPr id="186372" name="Rectangle 3"/>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86373"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7"/>
          <p:cNvSpPr>
            <a:spLocks noGrp="1" noChangeArrowheads="1"/>
          </p:cNvSpPr>
          <p:nvPr>
            <p:ph type="sldNum" sz="quarter" idx="5"/>
          </p:nvPr>
        </p:nvSpPr>
        <p:spPr>
          <a:noFill/>
        </p:spPr>
        <p:txBody>
          <a:bodyPr/>
          <a:lstStyle/>
          <a:p>
            <a:fld id="{15FC4F0A-F297-471B-837D-66DA713A443D}" type="slidenum">
              <a:rPr lang="en-US" altLang="zh-CN" smtClean="0"/>
              <a:pPr/>
              <a:t>114</a:t>
            </a:fld>
            <a:endParaRPr lang="en-US" altLang="zh-CN" smtClean="0"/>
          </a:p>
        </p:txBody>
      </p:sp>
      <p:sp>
        <p:nvSpPr>
          <p:cNvPr id="187395" name="Rectangle 2"/>
          <p:cNvSpPr>
            <a:spLocks noGrp="1" noChangeArrowheads="1"/>
          </p:cNvSpPr>
          <p:nvPr>
            <p:ph type="body" idx="1"/>
          </p:nvPr>
        </p:nvSpPr>
        <p:spPr>
          <a:xfrm>
            <a:off x="885825" y="3503613"/>
            <a:ext cx="4873625" cy="5540375"/>
          </a:xfrm>
          <a:noFill/>
          <a:ln/>
        </p:spPr>
        <p:txBody>
          <a:bodyPr lIns="90479" tIns="44445" rIns="90479" bIns="44445"/>
          <a:lstStyle/>
          <a:p>
            <a:pPr eaLnBrk="1" hangingPunct="1"/>
            <a:endParaRPr lang="zh-CN" altLang="zh-CN" smtClean="0"/>
          </a:p>
        </p:txBody>
      </p:sp>
      <p:sp>
        <p:nvSpPr>
          <p:cNvPr id="187396" name="Rectangle 3"/>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87397"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p:spPr>
        <p:txBody>
          <a:bodyPr/>
          <a:lstStyle/>
          <a:p>
            <a:fld id="{A11D7E0F-B040-4A3A-80B2-3730AFAE7EE4}" type="slidenum">
              <a:rPr lang="en-US" altLang="zh-CN" smtClean="0"/>
              <a:pPr/>
              <a:t>115</a:t>
            </a:fld>
            <a:endParaRPr lang="en-US" altLang="zh-CN" smtClean="0"/>
          </a:p>
        </p:txBody>
      </p:sp>
      <p:sp>
        <p:nvSpPr>
          <p:cNvPr id="188419" name="Rectangle 2"/>
          <p:cNvSpPr>
            <a:spLocks noGrp="1" noChangeArrowheads="1"/>
          </p:cNvSpPr>
          <p:nvPr>
            <p:ph type="body" idx="1"/>
          </p:nvPr>
        </p:nvSpPr>
        <p:spPr>
          <a:xfrm>
            <a:off x="885825" y="3503613"/>
            <a:ext cx="4873625" cy="5540375"/>
          </a:xfrm>
          <a:noFill/>
          <a:ln/>
        </p:spPr>
        <p:txBody>
          <a:bodyPr lIns="90479" tIns="44445" rIns="90479" bIns="44445"/>
          <a:lstStyle/>
          <a:p>
            <a:pPr eaLnBrk="1" hangingPunct="1"/>
            <a:endParaRPr lang="zh-CN" altLang="zh-CN" smtClean="0"/>
          </a:p>
        </p:txBody>
      </p:sp>
      <p:sp>
        <p:nvSpPr>
          <p:cNvPr id="188420" name="Rectangle 3"/>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88421"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7"/>
          <p:cNvSpPr>
            <a:spLocks noGrp="1" noChangeArrowheads="1"/>
          </p:cNvSpPr>
          <p:nvPr>
            <p:ph type="sldNum" sz="quarter" idx="5"/>
          </p:nvPr>
        </p:nvSpPr>
        <p:spPr>
          <a:noFill/>
        </p:spPr>
        <p:txBody>
          <a:bodyPr/>
          <a:lstStyle/>
          <a:p>
            <a:fld id="{782FC585-B913-4925-90A7-6BFAE6304B5C}" type="slidenum">
              <a:rPr lang="en-US" altLang="zh-CN" smtClean="0"/>
              <a:pPr/>
              <a:t>117</a:t>
            </a:fld>
            <a:endParaRPr lang="en-US" altLang="zh-CN" smtClean="0"/>
          </a:p>
        </p:txBody>
      </p:sp>
      <p:sp>
        <p:nvSpPr>
          <p:cNvPr id="189443" name="Rectangle 2"/>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89444" name="Rectangle 3"/>
          <p:cNvSpPr>
            <a:spLocks noGrp="1" noChangeArrowheads="1"/>
          </p:cNvSpPr>
          <p:nvPr>
            <p:ph type="body" idx="1"/>
          </p:nvPr>
        </p:nvSpPr>
        <p:spPr>
          <a:xfrm>
            <a:off x="885825" y="3503613"/>
            <a:ext cx="4873625" cy="5540375"/>
          </a:xfrm>
          <a:noFill/>
          <a:ln/>
        </p:spPr>
        <p:txBody>
          <a:bodyPr lIns="90479" tIns="44445" rIns="90479" bIns="44445"/>
          <a:lstStyle/>
          <a:p>
            <a:pPr eaLnBrk="1" hangingPunct="1"/>
            <a:endParaRPr lang="zh-CN" altLang="zh-CN" smtClean="0"/>
          </a:p>
        </p:txBody>
      </p:sp>
      <p:sp>
        <p:nvSpPr>
          <p:cNvPr id="189445"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p:cNvSpPr>
            <a:spLocks noGrp="1" noChangeArrowheads="1"/>
          </p:cNvSpPr>
          <p:nvPr>
            <p:ph type="sldNum" sz="quarter" idx="5"/>
          </p:nvPr>
        </p:nvSpPr>
        <p:spPr>
          <a:noFill/>
        </p:spPr>
        <p:txBody>
          <a:bodyPr/>
          <a:lstStyle/>
          <a:p>
            <a:fld id="{52632740-FC01-4E76-9B4E-F0F5646431D5}" type="slidenum">
              <a:rPr lang="en-US" altLang="zh-CN" smtClean="0"/>
              <a:pPr/>
              <a:t>118</a:t>
            </a:fld>
            <a:endParaRPr lang="en-US" altLang="zh-CN" smtClean="0"/>
          </a:p>
        </p:txBody>
      </p:sp>
      <p:sp>
        <p:nvSpPr>
          <p:cNvPr id="190467" name="Rectangle 2"/>
          <p:cNvSpPr>
            <a:spLocks noGrp="1" noChangeArrowheads="1"/>
          </p:cNvSpPr>
          <p:nvPr>
            <p:ph type="body" idx="1"/>
          </p:nvPr>
        </p:nvSpPr>
        <p:spPr>
          <a:xfrm>
            <a:off x="885825" y="3503613"/>
            <a:ext cx="4873625" cy="5540375"/>
          </a:xfrm>
          <a:noFill/>
          <a:ln/>
        </p:spPr>
        <p:txBody>
          <a:bodyPr lIns="90479" tIns="44445" rIns="90479" bIns="44445"/>
          <a:lstStyle/>
          <a:p>
            <a:pPr eaLnBrk="1" hangingPunct="1"/>
            <a:endParaRPr lang="zh-CN" altLang="zh-CN" smtClean="0"/>
          </a:p>
        </p:txBody>
      </p:sp>
      <p:sp>
        <p:nvSpPr>
          <p:cNvPr id="190468" name="Rectangle 3"/>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90469"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7"/>
          <p:cNvSpPr>
            <a:spLocks noGrp="1" noChangeArrowheads="1"/>
          </p:cNvSpPr>
          <p:nvPr>
            <p:ph type="sldNum" sz="quarter" idx="5"/>
          </p:nvPr>
        </p:nvSpPr>
        <p:spPr>
          <a:noFill/>
        </p:spPr>
        <p:txBody>
          <a:bodyPr/>
          <a:lstStyle/>
          <a:p>
            <a:fld id="{F63A2D14-0511-4EAD-AF8E-55E5D5FF4DA4}" type="slidenum">
              <a:rPr lang="en-US" altLang="zh-CN" smtClean="0"/>
              <a:pPr/>
              <a:t>120</a:t>
            </a:fld>
            <a:endParaRPr lang="en-US" altLang="zh-CN" smtClean="0"/>
          </a:p>
        </p:txBody>
      </p:sp>
      <p:sp>
        <p:nvSpPr>
          <p:cNvPr id="191491" name="Rectangle 2"/>
          <p:cNvSpPr>
            <a:spLocks noGrp="1" noChangeArrowheads="1"/>
          </p:cNvSpPr>
          <p:nvPr>
            <p:ph type="body" idx="1"/>
          </p:nvPr>
        </p:nvSpPr>
        <p:spPr>
          <a:xfrm>
            <a:off x="885825" y="3503613"/>
            <a:ext cx="4873625" cy="5540375"/>
          </a:xfrm>
          <a:noFill/>
          <a:ln/>
        </p:spPr>
        <p:txBody>
          <a:bodyPr lIns="90479" tIns="44445" rIns="90479" bIns="44445"/>
          <a:lstStyle/>
          <a:p>
            <a:pPr eaLnBrk="1" hangingPunct="1"/>
            <a:endParaRPr lang="zh-CN" altLang="zh-CN" smtClean="0"/>
          </a:p>
        </p:txBody>
      </p:sp>
      <p:sp>
        <p:nvSpPr>
          <p:cNvPr id="191492" name="Rectangle 3"/>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91493"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p:cNvSpPr>
            <a:spLocks noGrp="1" noChangeArrowheads="1"/>
          </p:cNvSpPr>
          <p:nvPr>
            <p:ph type="sldNum" sz="quarter" idx="5"/>
          </p:nvPr>
        </p:nvSpPr>
        <p:spPr>
          <a:noFill/>
        </p:spPr>
        <p:txBody>
          <a:bodyPr/>
          <a:lstStyle/>
          <a:p>
            <a:fld id="{CA4AC08D-439C-436B-8B89-1791044B8B87}" type="slidenum">
              <a:rPr lang="en-US" altLang="zh-CN" smtClean="0"/>
              <a:pPr/>
              <a:t>121</a:t>
            </a:fld>
            <a:endParaRPr lang="en-US" altLang="zh-CN" smtClean="0"/>
          </a:p>
        </p:txBody>
      </p:sp>
      <p:sp>
        <p:nvSpPr>
          <p:cNvPr id="192515" name="Rectangle 2"/>
          <p:cNvSpPr>
            <a:spLocks noGrp="1" noChangeArrowheads="1"/>
          </p:cNvSpPr>
          <p:nvPr>
            <p:ph type="body" idx="1"/>
          </p:nvPr>
        </p:nvSpPr>
        <p:spPr>
          <a:xfrm>
            <a:off x="885825" y="3503613"/>
            <a:ext cx="4873625" cy="5540375"/>
          </a:xfrm>
          <a:noFill/>
          <a:ln/>
        </p:spPr>
        <p:txBody>
          <a:bodyPr lIns="90479" tIns="44445" rIns="90479" bIns="44445"/>
          <a:lstStyle/>
          <a:p>
            <a:pPr eaLnBrk="1" hangingPunct="1"/>
            <a:endParaRPr lang="zh-CN" altLang="zh-CN" smtClean="0"/>
          </a:p>
        </p:txBody>
      </p:sp>
      <p:sp>
        <p:nvSpPr>
          <p:cNvPr id="192516" name="Rectangle 3"/>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92517"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7"/>
          <p:cNvSpPr>
            <a:spLocks noGrp="1" noChangeArrowheads="1"/>
          </p:cNvSpPr>
          <p:nvPr>
            <p:ph type="sldNum" sz="quarter" idx="5"/>
          </p:nvPr>
        </p:nvSpPr>
        <p:spPr>
          <a:noFill/>
        </p:spPr>
        <p:txBody>
          <a:bodyPr/>
          <a:lstStyle/>
          <a:p>
            <a:fld id="{D27A88E4-8E3D-49A5-9014-815FB8CFC098}" type="slidenum">
              <a:rPr lang="en-US" altLang="zh-CN" smtClean="0"/>
              <a:pPr/>
              <a:t>122</a:t>
            </a:fld>
            <a:endParaRPr lang="en-US" altLang="zh-CN" smtClean="0"/>
          </a:p>
        </p:txBody>
      </p:sp>
      <p:sp>
        <p:nvSpPr>
          <p:cNvPr id="193539" name="Rectangle 2"/>
          <p:cNvSpPr>
            <a:spLocks noGrp="1" noChangeArrowheads="1"/>
          </p:cNvSpPr>
          <p:nvPr>
            <p:ph type="body" idx="1"/>
          </p:nvPr>
        </p:nvSpPr>
        <p:spPr>
          <a:xfrm>
            <a:off x="885825" y="3503613"/>
            <a:ext cx="4873625" cy="5540375"/>
          </a:xfrm>
          <a:noFill/>
          <a:ln/>
        </p:spPr>
        <p:txBody>
          <a:bodyPr lIns="90479" tIns="44445" rIns="90479" bIns="44445"/>
          <a:lstStyle/>
          <a:p>
            <a:pPr eaLnBrk="1" hangingPunct="1"/>
            <a:endParaRPr lang="zh-CN" altLang="zh-CN" smtClean="0"/>
          </a:p>
        </p:txBody>
      </p:sp>
      <p:sp>
        <p:nvSpPr>
          <p:cNvPr id="193540" name="Rectangle 3"/>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93541"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p:cNvSpPr>
            <a:spLocks noGrp="1" noChangeArrowheads="1"/>
          </p:cNvSpPr>
          <p:nvPr>
            <p:ph type="sldNum" sz="quarter" idx="5"/>
          </p:nvPr>
        </p:nvSpPr>
        <p:spPr>
          <a:noFill/>
        </p:spPr>
        <p:txBody>
          <a:bodyPr/>
          <a:lstStyle/>
          <a:p>
            <a:fld id="{2ADD2502-6559-4701-8797-F063C6778D2C}" type="slidenum">
              <a:rPr lang="en-US" altLang="zh-CN" smtClean="0"/>
              <a:pPr/>
              <a:t>123</a:t>
            </a:fld>
            <a:endParaRPr lang="en-US" altLang="zh-CN" smtClean="0"/>
          </a:p>
        </p:txBody>
      </p:sp>
      <p:sp>
        <p:nvSpPr>
          <p:cNvPr id="194563" name="Rectangle 2"/>
          <p:cNvSpPr>
            <a:spLocks noGrp="1" noChangeArrowheads="1"/>
          </p:cNvSpPr>
          <p:nvPr>
            <p:ph type="body" idx="1"/>
          </p:nvPr>
        </p:nvSpPr>
        <p:spPr>
          <a:xfrm>
            <a:off x="885825" y="3503613"/>
            <a:ext cx="4873625" cy="5540375"/>
          </a:xfrm>
          <a:noFill/>
          <a:ln/>
        </p:spPr>
        <p:txBody>
          <a:bodyPr lIns="90479" tIns="44445" rIns="90479" bIns="44445"/>
          <a:lstStyle/>
          <a:p>
            <a:pPr eaLnBrk="1" hangingPunct="1"/>
            <a:r>
              <a:rPr lang="zh-CN" altLang="en-US" dirty="0" smtClean="0"/>
              <a:t>注：必须是中心化的移动平均值。</a:t>
            </a:r>
          </a:p>
          <a:p>
            <a:pPr eaLnBrk="1" hangingPunct="1"/>
            <a:endParaRPr lang="zh-CN" altLang="zh-CN" dirty="0" smtClean="0"/>
          </a:p>
        </p:txBody>
      </p:sp>
      <p:sp>
        <p:nvSpPr>
          <p:cNvPr id="194564" name="Rectangle 3"/>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94565"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p:spPr>
        <p:txBody>
          <a:bodyPr/>
          <a:lstStyle/>
          <a:p>
            <a:fld id="{5B1EC91F-1C40-41C4-8EB2-666A7F99BCB3}" type="slidenum">
              <a:rPr lang="en-US" altLang="zh-CN" smtClean="0"/>
              <a:pPr/>
              <a:t>126</a:t>
            </a:fld>
            <a:endParaRPr lang="en-US" altLang="zh-CN" smtClean="0"/>
          </a:p>
        </p:txBody>
      </p:sp>
      <p:sp>
        <p:nvSpPr>
          <p:cNvPr id="195587" name="Rectangle 2"/>
          <p:cNvSpPr>
            <a:spLocks noGrp="1" noChangeArrowheads="1"/>
          </p:cNvSpPr>
          <p:nvPr>
            <p:ph type="body" idx="1"/>
          </p:nvPr>
        </p:nvSpPr>
        <p:spPr>
          <a:xfrm>
            <a:off x="885825" y="3503613"/>
            <a:ext cx="4873625" cy="5540375"/>
          </a:xfrm>
          <a:noFill/>
          <a:ln/>
        </p:spPr>
        <p:txBody>
          <a:bodyPr lIns="90479" tIns="44445" rIns="90479" bIns="44445"/>
          <a:lstStyle/>
          <a:p>
            <a:pPr eaLnBrk="1" hangingPunct="1"/>
            <a:endParaRPr lang="zh-CN" altLang="zh-CN" smtClean="0"/>
          </a:p>
        </p:txBody>
      </p:sp>
      <p:sp>
        <p:nvSpPr>
          <p:cNvPr id="195588" name="Rectangle 3"/>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95589"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p:cNvSpPr>
            <a:spLocks noGrp="1" noChangeArrowheads="1"/>
          </p:cNvSpPr>
          <p:nvPr>
            <p:ph type="sldNum" sz="quarter" idx="5"/>
          </p:nvPr>
        </p:nvSpPr>
        <p:spPr>
          <a:noFill/>
        </p:spPr>
        <p:txBody>
          <a:bodyPr/>
          <a:lstStyle/>
          <a:p>
            <a:fld id="{0672BFAE-6AC6-4150-BBEE-A431657BEE12}" type="slidenum">
              <a:rPr lang="en-US" altLang="zh-CN" smtClean="0"/>
              <a:pPr/>
              <a:t>128</a:t>
            </a:fld>
            <a:endParaRPr lang="en-US" altLang="zh-CN" smtClean="0"/>
          </a:p>
        </p:txBody>
      </p:sp>
      <p:sp>
        <p:nvSpPr>
          <p:cNvPr id="196611" name="Rectangle 2"/>
          <p:cNvSpPr>
            <a:spLocks noGrp="1" noChangeArrowheads="1"/>
          </p:cNvSpPr>
          <p:nvPr>
            <p:ph type="body" idx="1"/>
          </p:nvPr>
        </p:nvSpPr>
        <p:spPr>
          <a:xfrm>
            <a:off x="885825" y="3503613"/>
            <a:ext cx="4873625" cy="5540375"/>
          </a:xfrm>
          <a:noFill/>
          <a:ln/>
        </p:spPr>
        <p:txBody>
          <a:bodyPr lIns="90479" tIns="44445" rIns="90479" bIns="44445"/>
          <a:lstStyle/>
          <a:p>
            <a:pPr eaLnBrk="1" hangingPunct="1"/>
            <a:endParaRPr lang="zh-CN" altLang="zh-CN" smtClean="0"/>
          </a:p>
        </p:txBody>
      </p:sp>
      <p:sp>
        <p:nvSpPr>
          <p:cNvPr id="196612" name="Rectangle 3"/>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96613"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a:noFill/>
        </p:spPr>
        <p:txBody>
          <a:bodyPr/>
          <a:lstStyle/>
          <a:p>
            <a:fld id="{2CF3C77C-EC84-495A-A991-7B3577CD46F9}" type="slidenum">
              <a:rPr lang="en-US" altLang="zh-CN" smtClean="0"/>
              <a:pPr/>
              <a:t>130</a:t>
            </a:fld>
            <a:endParaRPr lang="en-US" altLang="zh-CN" smtClean="0"/>
          </a:p>
        </p:txBody>
      </p:sp>
      <p:sp>
        <p:nvSpPr>
          <p:cNvPr id="197635" name="Rectangle 2"/>
          <p:cNvSpPr>
            <a:spLocks noGrp="1" noChangeArrowheads="1"/>
          </p:cNvSpPr>
          <p:nvPr>
            <p:ph type="body" idx="1"/>
          </p:nvPr>
        </p:nvSpPr>
        <p:spPr>
          <a:xfrm>
            <a:off x="885825" y="3503613"/>
            <a:ext cx="4873625" cy="5540375"/>
          </a:xfrm>
          <a:noFill/>
          <a:ln/>
        </p:spPr>
        <p:txBody>
          <a:bodyPr lIns="90479" tIns="44445" rIns="90479" bIns="44445"/>
          <a:lstStyle/>
          <a:p>
            <a:pPr eaLnBrk="1" hangingPunct="1"/>
            <a:endParaRPr lang="zh-CN" altLang="zh-CN" smtClean="0"/>
          </a:p>
        </p:txBody>
      </p:sp>
      <p:sp>
        <p:nvSpPr>
          <p:cNvPr id="197636" name="Rectangle 3"/>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97637"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p:cNvSpPr>
            <a:spLocks noGrp="1" noChangeArrowheads="1"/>
          </p:cNvSpPr>
          <p:nvPr>
            <p:ph type="sldNum" sz="quarter" idx="5"/>
          </p:nvPr>
        </p:nvSpPr>
        <p:spPr>
          <a:noFill/>
        </p:spPr>
        <p:txBody>
          <a:bodyPr/>
          <a:lstStyle/>
          <a:p>
            <a:fld id="{289FAA24-F125-4017-92D3-BA51A1D6A672}" type="slidenum">
              <a:rPr lang="en-US" altLang="zh-CN" smtClean="0"/>
              <a:pPr/>
              <a:t>131</a:t>
            </a:fld>
            <a:endParaRPr lang="en-US" altLang="zh-CN" smtClean="0"/>
          </a:p>
        </p:txBody>
      </p:sp>
      <p:sp>
        <p:nvSpPr>
          <p:cNvPr id="198659" name="Rectangle 2"/>
          <p:cNvSpPr>
            <a:spLocks noGrp="1" noRot="1" noChangeAspect="1" noChangeArrowheads="1" noTextEdit="1"/>
          </p:cNvSpPr>
          <p:nvPr>
            <p:ph type="sldImg"/>
          </p:nvPr>
        </p:nvSpPr>
        <p:spPr>
          <a:xfrm>
            <a:off x="1701800" y="739775"/>
            <a:ext cx="3241675" cy="2430463"/>
          </a:xfrm>
          <a:ln w="12700" cap="flat">
            <a:solidFill>
              <a:schemeClr val="tx1"/>
            </a:solidFill>
          </a:ln>
        </p:spPr>
      </p:sp>
      <p:sp>
        <p:nvSpPr>
          <p:cNvPr id="198660" name="Rectangle 3"/>
          <p:cNvSpPr>
            <a:spLocks noGrp="1" noChangeArrowheads="1"/>
          </p:cNvSpPr>
          <p:nvPr>
            <p:ph type="body" idx="1"/>
          </p:nvPr>
        </p:nvSpPr>
        <p:spPr>
          <a:xfrm>
            <a:off x="885825" y="3503613"/>
            <a:ext cx="4873625" cy="5540375"/>
          </a:xfrm>
          <a:noFill/>
          <a:ln/>
        </p:spPr>
        <p:txBody>
          <a:bodyPr lIns="90479" tIns="44445" rIns="90479" bIns="44445"/>
          <a:lstStyle/>
          <a:p>
            <a:pPr eaLnBrk="1" hangingPunct="1"/>
            <a:endParaRPr lang="zh-CN" altLang="zh-CN" smtClean="0"/>
          </a:p>
        </p:txBody>
      </p:sp>
      <p:sp>
        <p:nvSpPr>
          <p:cNvPr id="198661" name="日期占位符 4"/>
          <p:cNvSpPr>
            <a:spLocks noGrp="1"/>
          </p:cNvSpPr>
          <p:nvPr>
            <p:ph type="dt" sz="quarter" idx="1"/>
          </p:nvPr>
        </p:nvSpPr>
        <p:spPr>
          <a:noFill/>
        </p:spPr>
        <p:txBody>
          <a:bodyPr/>
          <a:lstStyle/>
          <a:p>
            <a:endParaRPr lang="en-US"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19050" y="1109663"/>
            <a:ext cx="9156700" cy="757237"/>
            <a:chOff x="0" y="0"/>
            <a:chExt cx="5768" cy="477"/>
          </a:xfrm>
        </p:grpSpPr>
        <p:sp>
          <p:nvSpPr>
            <p:cNvPr id="5" name="Freeform 3"/>
            <p:cNvSpPr>
              <a:spLocks/>
            </p:cNvSpPr>
            <p:nvPr userDrawn="1"/>
          </p:nvSpPr>
          <p:spPr bwMode="auto">
            <a:xfrm>
              <a:off x="5" y="0"/>
              <a:ext cx="5763" cy="477"/>
            </a:xfrm>
            <a:custGeom>
              <a:avLst/>
              <a:gdLst/>
              <a:ahLst/>
              <a:cxnLst>
                <a:cxn ang="0">
                  <a:pos x="0" y="450"/>
                </a:cxn>
                <a:cxn ang="0">
                  <a:pos x="3" y="0"/>
                </a:cxn>
                <a:cxn ang="0">
                  <a:pos x="5763" y="0"/>
                </a:cxn>
                <a:cxn ang="0">
                  <a:pos x="5763" y="465"/>
                </a:cxn>
                <a:cxn ang="0">
                  <a:pos x="4821" y="477"/>
                </a:cxn>
                <a:cxn ang="0">
                  <a:pos x="4326" y="447"/>
                </a:cxn>
                <a:cxn ang="0">
                  <a:pos x="3783" y="465"/>
                </a:cxn>
                <a:cxn ang="0">
                  <a:pos x="3417" y="456"/>
                </a:cxn>
                <a:cxn ang="0">
                  <a:pos x="2973" y="459"/>
                </a:cxn>
                <a:cxn ang="0">
                  <a:pos x="2451" y="453"/>
                </a:cxn>
                <a:cxn ang="0">
                  <a:pos x="2289" y="441"/>
                </a:cxn>
                <a:cxn ang="0">
                  <a:pos x="2010" y="453"/>
                </a:cxn>
                <a:cxn ang="0">
                  <a:pos x="1827" y="450"/>
                </a:cxn>
                <a:cxn ang="0">
                  <a:pos x="1215" y="465"/>
                </a:cxn>
                <a:cxn ang="0">
                  <a:pos x="660" y="456"/>
                </a:cxn>
                <a:cxn ang="0">
                  <a:pos x="0" y="450"/>
                </a:cxn>
              </a:cxnLst>
              <a:rect l="0" t="0" r="r" b="b"/>
              <a:pathLst>
                <a:path w="5763" h="477">
                  <a:moveTo>
                    <a:pt x="0" y="450"/>
                  </a:moveTo>
                  <a:lnTo>
                    <a:pt x="3" y="0"/>
                  </a:lnTo>
                  <a:lnTo>
                    <a:pt x="5763" y="0"/>
                  </a:lnTo>
                  <a:lnTo>
                    <a:pt x="5763" y="465"/>
                  </a:lnTo>
                  <a:lnTo>
                    <a:pt x="4821" y="477"/>
                  </a:lnTo>
                  <a:lnTo>
                    <a:pt x="4326" y="447"/>
                  </a:lnTo>
                  <a:lnTo>
                    <a:pt x="3783" y="465"/>
                  </a:lnTo>
                  <a:lnTo>
                    <a:pt x="3417" y="456"/>
                  </a:lnTo>
                  <a:lnTo>
                    <a:pt x="2973" y="459"/>
                  </a:lnTo>
                  <a:lnTo>
                    <a:pt x="2451" y="453"/>
                  </a:lnTo>
                  <a:lnTo>
                    <a:pt x="2289" y="441"/>
                  </a:lnTo>
                  <a:lnTo>
                    <a:pt x="2010" y="453"/>
                  </a:lnTo>
                  <a:lnTo>
                    <a:pt x="1827" y="450"/>
                  </a:lnTo>
                  <a:lnTo>
                    <a:pt x="1215" y="465"/>
                  </a:lnTo>
                  <a:lnTo>
                    <a:pt x="660" y="456"/>
                  </a:lnTo>
                  <a:lnTo>
                    <a:pt x="0" y="450"/>
                  </a:lnTo>
                  <a:close/>
                </a:path>
              </a:pathLst>
            </a:custGeom>
            <a:solidFill>
              <a:schemeClr val="accent2">
                <a:alpha val="50000"/>
              </a:schemeClr>
            </a:solidFill>
            <a:ln w="9525" cap="flat" cmpd="sng">
              <a:noFill/>
              <a:prstDash val="solid"/>
              <a:round/>
              <a:headEnd/>
              <a:tailEnd/>
            </a:ln>
            <a:effectLst/>
          </p:spPr>
          <p:txBody>
            <a:bodyPr wrap="none" anchor="ctr"/>
            <a:lstStyle/>
            <a:p>
              <a:pPr>
                <a:defRPr/>
              </a:pPr>
              <a:endParaRPr lang="zh-CN" altLang="en-US"/>
            </a:p>
          </p:txBody>
        </p:sp>
        <p:sp>
          <p:nvSpPr>
            <p:cNvPr id="6" name="Freeform 4"/>
            <p:cNvSpPr>
              <a:spLocks/>
            </p:cNvSpPr>
            <p:nvPr userDrawn="1"/>
          </p:nvSpPr>
          <p:spPr bwMode="auto">
            <a:xfrm>
              <a:off x="0" y="98"/>
              <a:ext cx="256" cy="253"/>
            </a:xfrm>
            <a:custGeom>
              <a:avLst/>
              <a:gdLst/>
              <a:ahLst/>
              <a:cxnLst>
                <a:cxn ang="0">
                  <a:pos x="8" y="190"/>
                </a:cxn>
                <a:cxn ang="0">
                  <a:pos x="71" y="115"/>
                </a:cxn>
                <a:cxn ang="0">
                  <a:pos x="203" y="16"/>
                </a:cxn>
                <a:cxn ang="0">
                  <a:pos x="251" y="19"/>
                </a:cxn>
                <a:cxn ang="0">
                  <a:pos x="236" y="46"/>
                </a:cxn>
                <a:cxn ang="0">
                  <a:pos x="176" y="82"/>
                </a:cxn>
                <a:cxn ang="0">
                  <a:pos x="92" y="154"/>
                </a:cxn>
                <a:cxn ang="0">
                  <a:pos x="23" y="247"/>
                </a:cxn>
                <a:cxn ang="0">
                  <a:pos x="8" y="190"/>
                </a:cxn>
              </a:cxnLst>
              <a:rect l="0" t="0" r="r" b="b"/>
              <a:pathLst>
                <a:path w="256" h="253">
                  <a:moveTo>
                    <a:pt x="8" y="190"/>
                  </a:moveTo>
                  <a:cubicBezTo>
                    <a:pt x="16" y="168"/>
                    <a:pt x="38" y="144"/>
                    <a:pt x="71" y="115"/>
                  </a:cubicBezTo>
                  <a:cubicBezTo>
                    <a:pt x="104" y="86"/>
                    <a:pt x="173" y="32"/>
                    <a:pt x="203" y="16"/>
                  </a:cubicBezTo>
                  <a:cubicBezTo>
                    <a:pt x="233" y="0"/>
                    <a:pt x="246" y="14"/>
                    <a:pt x="251" y="19"/>
                  </a:cubicBezTo>
                  <a:cubicBezTo>
                    <a:pt x="256" y="24"/>
                    <a:pt x="249" y="35"/>
                    <a:pt x="236" y="46"/>
                  </a:cubicBezTo>
                  <a:cubicBezTo>
                    <a:pt x="223" y="57"/>
                    <a:pt x="200" y="64"/>
                    <a:pt x="176" y="82"/>
                  </a:cubicBezTo>
                  <a:cubicBezTo>
                    <a:pt x="152" y="100"/>
                    <a:pt x="118" y="126"/>
                    <a:pt x="92" y="154"/>
                  </a:cubicBezTo>
                  <a:cubicBezTo>
                    <a:pt x="66" y="182"/>
                    <a:pt x="36" y="241"/>
                    <a:pt x="23" y="247"/>
                  </a:cubicBezTo>
                  <a:cubicBezTo>
                    <a:pt x="10" y="253"/>
                    <a:pt x="0" y="212"/>
                    <a:pt x="8" y="190"/>
                  </a:cubicBezTo>
                  <a:close/>
                </a:path>
              </a:pathLst>
            </a:custGeom>
            <a:gradFill rotWithShape="0">
              <a:gsLst>
                <a:gs pos="0">
                  <a:schemeClr val="accent2"/>
                </a:gs>
                <a:gs pos="100000">
                  <a:schemeClr val="bg2"/>
                </a:gs>
              </a:gsLst>
              <a:lin ang="18900000" scaled="1"/>
            </a:gradFill>
            <a:ln w="9525">
              <a:noFill/>
              <a:round/>
              <a:headEnd/>
              <a:tailEnd/>
            </a:ln>
            <a:effectLst/>
          </p:spPr>
          <p:txBody>
            <a:bodyPr wrap="none" anchor="ctr"/>
            <a:lstStyle/>
            <a:p>
              <a:pPr>
                <a:defRPr/>
              </a:pPr>
              <a:endParaRPr lang="zh-CN" altLang="en-US"/>
            </a:p>
          </p:txBody>
        </p:sp>
        <p:sp>
          <p:nvSpPr>
            <p:cNvPr id="7" name="Freeform 5"/>
            <p:cNvSpPr>
              <a:spLocks/>
            </p:cNvSpPr>
            <p:nvPr userDrawn="1"/>
          </p:nvSpPr>
          <p:spPr bwMode="auto">
            <a:xfrm>
              <a:off x="56" y="0"/>
              <a:ext cx="708" cy="459"/>
            </a:xfrm>
            <a:custGeom>
              <a:avLst/>
              <a:gdLst/>
              <a:ahLst/>
              <a:cxnLst>
                <a:cxn ang="0">
                  <a:pos x="0" y="432"/>
                </a:cxn>
                <a:cxn ang="0">
                  <a:pos x="0" y="453"/>
                </a:cxn>
                <a:cxn ang="0">
                  <a:pos x="72" y="324"/>
                </a:cxn>
                <a:cxn ang="0">
                  <a:pos x="198" y="201"/>
                </a:cxn>
                <a:cxn ang="0">
                  <a:pos x="366" y="102"/>
                </a:cxn>
                <a:cxn ang="0">
                  <a:pos x="531" y="36"/>
                </a:cxn>
                <a:cxn ang="0">
                  <a:pos x="609" y="0"/>
                </a:cxn>
                <a:cxn ang="0">
                  <a:pos x="708" y="3"/>
                </a:cxn>
                <a:cxn ang="0">
                  <a:pos x="591" y="66"/>
                </a:cxn>
                <a:cxn ang="0">
                  <a:pos x="417" y="126"/>
                </a:cxn>
                <a:cxn ang="0">
                  <a:pos x="237" y="231"/>
                </a:cxn>
                <a:cxn ang="0">
                  <a:pos x="117" y="345"/>
                </a:cxn>
                <a:cxn ang="0">
                  <a:pos x="51" y="459"/>
                </a:cxn>
                <a:cxn ang="0">
                  <a:pos x="0" y="453"/>
                </a:cxn>
              </a:cxnLst>
              <a:rect l="0" t="0" r="r" b="b"/>
              <a:pathLst>
                <a:path w="708" h="459">
                  <a:moveTo>
                    <a:pt x="0" y="432"/>
                  </a:moveTo>
                  <a:lnTo>
                    <a:pt x="0" y="453"/>
                  </a:lnTo>
                  <a:cubicBezTo>
                    <a:pt x="12" y="435"/>
                    <a:pt x="39" y="366"/>
                    <a:pt x="72" y="324"/>
                  </a:cubicBezTo>
                  <a:cubicBezTo>
                    <a:pt x="105" y="282"/>
                    <a:pt x="149" y="238"/>
                    <a:pt x="198" y="201"/>
                  </a:cubicBezTo>
                  <a:cubicBezTo>
                    <a:pt x="247" y="164"/>
                    <a:pt x="311" y="129"/>
                    <a:pt x="366" y="102"/>
                  </a:cubicBezTo>
                  <a:cubicBezTo>
                    <a:pt x="421" y="75"/>
                    <a:pt x="490" y="53"/>
                    <a:pt x="531" y="36"/>
                  </a:cubicBezTo>
                  <a:cubicBezTo>
                    <a:pt x="572" y="19"/>
                    <a:pt x="580" y="5"/>
                    <a:pt x="609" y="0"/>
                  </a:cubicBezTo>
                  <a:lnTo>
                    <a:pt x="708" y="3"/>
                  </a:lnTo>
                  <a:cubicBezTo>
                    <a:pt x="705" y="14"/>
                    <a:pt x="640" y="45"/>
                    <a:pt x="591" y="66"/>
                  </a:cubicBezTo>
                  <a:cubicBezTo>
                    <a:pt x="542" y="87"/>
                    <a:pt x="476" y="98"/>
                    <a:pt x="417" y="126"/>
                  </a:cubicBezTo>
                  <a:cubicBezTo>
                    <a:pt x="358" y="154"/>
                    <a:pt x="287" y="195"/>
                    <a:pt x="237" y="231"/>
                  </a:cubicBezTo>
                  <a:cubicBezTo>
                    <a:pt x="187" y="267"/>
                    <a:pt x="148" y="307"/>
                    <a:pt x="117" y="345"/>
                  </a:cubicBezTo>
                  <a:cubicBezTo>
                    <a:pt x="86" y="383"/>
                    <a:pt x="70" y="441"/>
                    <a:pt x="51" y="459"/>
                  </a:cubicBezTo>
                  <a:lnTo>
                    <a:pt x="0" y="453"/>
                  </a:lnTo>
                </a:path>
              </a:pathLst>
            </a:custGeom>
            <a:gradFill rotWithShape="0">
              <a:gsLst>
                <a:gs pos="0">
                  <a:schemeClr val="bg2"/>
                </a:gs>
                <a:gs pos="50000">
                  <a:schemeClr val="accent2"/>
                </a:gs>
                <a:gs pos="100000">
                  <a:schemeClr val="bg2"/>
                </a:gs>
              </a:gsLst>
              <a:lin ang="540000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8" name="Freeform 6"/>
            <p:cNvSpPr>
              <a:spLocks/>
            </p:cNvSpPr>
            <p:nvPr userDrawn="1"/>
          </p:nvSpPr>
          <p:spPr bwMode="auto">
            <a:xfrm>
              <a:off x="131" y="269"/>
              <a:ext cx="251" cy="194"/>
            </a:xfrm>
            <a:custGeom>
              <a:avLst/>
              <a:gdLst/>
              <a:ahLst/>
              <a:cxnLst>
                <a:cxn ang="0">
                  <a:pos x="21" y="163"/>
                </a:cxn>
                <a:cxn ang="0">
                  <a:pos x="9" y="184"/>
                </a:cxn>
                <a:cxn ang="0">
                  <a:pos x="75" y="103"/>
                </a:cxn>
                <a:cxn ang="0">
                  <a:pos x="165" y="28"/>
                </a:cxn>
                <a:cxn ang="0">
                  <a:pos x="207" y="7"/>
                </a:cxn>
                <a:cxn ang="0">
                  <a:pos x="246" y="4"/>
                </a:cxn>
                <a:cxn ang="0">
                  <a:pos x="237" y="34"/>
                </a:cxn>
                <a:cxn ang="0">
                  <a:pos x="183" y="61"/>
                </a:cxn>
                <a:cxn ang="0">
                  <a:pos x="108" y="124"/>
                </a:cxn>
                <a:cxn ang="0">
                  <a:pos x="54" y="190"/>
                </a:cxn>
                <a:cxn ang="0">
                  <a:pos x="6" y="184"/>
                </a:cxn>
              </a:cxnLst>
              <a:rect l="0" t="0" r="r" b="b"/>
              <a:pathLst>
                <a:path w="251" h="194">
                  <a:moveTo>
                    <a:pt x="21" y="163"/>
                  </a:moveTo>
                  <a:cubicBezTo>
                    <a:pt x="10" y="178"/>
                    <a:pt x="0" y="194"/>
                    <a:pt x="9" y="184"/>
                  </a:cubicBezTo>
                  <a:cubicBezTo>
                    <a:pt x="18" y="174"/>
                    <a:pt x="49" y="129"/>
                    <a:pt x="75" y="103"/>
                  </a:cubicBezTo>
                  <a:cubicBezTo>
                    <a:pt x="101" y="77"/>
                    <a:pt x="143" y="44"/>
                    <a:pt x="165" y="28"/>
                  </a:cubicBezTo>
                  <a:cubicBezTo>
                    <a:pt x="187" y="12"/>
                    <a:pt x="194" y="11"/>
                    <a:pt x="207" y="7"/>
                  </a:cubicBezTo>
                  <a:cubicBezTo>
                    <a:pt x="220" y="3"/>
                    <a:pt x="241" y="0"/>
                    <a:pt x="246" y="4"/>
                  </a:cubicBezTo>
                  <a:cubicBezTo>
                    <a:pt x="251" y="8"/>
                    <a:pt x="247" y="25"/>
                    <a:pt x="237" y="34"/>
                  </a:cubicBezTo>
                  <a:cubicBezTo>
                    <a:pt x="227" y="43"/>
                    <a:pt x="204" y="46"/>
                    <a:pt x="183" y="61"/>
                  </a:cubicBezTo>
                  <a:cubicBezTo>
                    <a:pt x="162" y="76"/>
                    <a:pt x="129" y="103"/>
                    <a:pt x="108" y="124"/>
                  </a:cubicBezTo>
                  <a:cubicBezTo>
                    <a:pt x="87" y="145"/>
                    <a:pt x="71" y="180"/>
                    <a:pt x="54" y="190"/>
                  </a:cubicBezTo>
                  <a:lnTo>
                    <a:pt x="6" y="184"/>
                  </a:lnTo>
                </a:path>
              </a:pathLst>
            </a:custGeom>
            <a:gradFill rotWithShape="0">
              <a:gsLst>
                <a:gs pos="0">
                  <a:schemeClr val="accent2"/>
                </a:gs>
                <a:gs pos="100000">
                  <a:schemeClr val="bg2"/>
                </a:gs>
              </a:gsLst>
              <a:lin ang="1890000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9" name="Freeform 7"/>
            <p:cNvSpPr>
              <a:spLocks/>
            </p:cNvSpPr>
            <p:nvPr userDrawn="1"/>
          </p:nvSpPr>
          <p:spPr bwMode="auto">
            <a:xfrm>
              <a:off x="341" y="0"/>
              <a:ext cx="159" cy="72"/>
            </a:xfrm>
            <a:custGeom>
              <a:avLst/>
              <a:gdLst/>
              <a:ahLst/>
              <a:cxnLst>
                <a:cxn ang="0">
                  <a:pos x="99" y="0"/>
                </a:cxn>
                <a:cxn ang="0">
                  <a:pos x="15" y="36"/>
                </a:cxn>
                <a:cxn ang="0">
                  <a:pos x="6" y="60"/>
                </a:cxn>
                <a:cxn ang="0">
                  <a:pos x="36" y="69"/>
                </a:cxn>
                <a:cxn ang="0">
                  <a:pos x="87" y="42"/>
                </a:cxn>
                <a:cxn ang="0">
                  <a:pos x="159" y="0"/>
                </a:cxn>
                <a:cxn ang="0">
                  <a:pos x="99" y="0"/>
                </a:cxn>
              </a:cxnLst>
              <a:rect l="0" t="0" r="r" b="b"/>
              <a:pathLst>
                <a:path w="159" h="72">
                  <a:moveTo>
                    <a:pt x="99" y="0"/>
                  </a:moveTo>
                  <a:cubicBezTo>
                    <a:pt x="75" y="6"/>
                    <a:pt x="30" y="26"/>
                    <a:pt x="15" y="36"/>
                  </a:cubicBezTo>
                  <a:cubicBezTo>
                    <a:pt x="0" y="46"/>
                    <a:pt x="3" y="55"/>
                    <a:pt x="6" y="60"/>
                  </a:cubicBezTo>
                  <a:cubicBezTo>
                    <a:pt x="9" y="65"/>
                    <a:pt x="23" y="72"/>
                    <a:pt x="36" y="69"/>
                  </a:cubicBezTo>
                  <a:cubicBezTo>
                    <a:pt x="49" y="66"/>
                    <a:pt x="67" y="53"/>
                    <a:pt x="87" y="42"/>
                  </a:cubicBezTo>
                  <a:cubicBezTo>
                    <a:pt x="107" y="31"/>
                    <a:pt x="158" y="6"/>
                    <a:pt x="159" y="0"/>
                  </a:cubicBezTo>
                  <a:lnTo>
                    <a:pt x="99" y="0"/>
                  </a:lnTo>
                  <a:close/>
                </a:path>
              </a:pathLst>
            </a:custGeom>
            <a:gradFill rotWithShape="0">
              <a:gsLst>
                <a:gs pos="0">
                  <a:schemeClr val="accent2"/>
                </a:gs>
                <a:gs pos="100000">
                  <a:schemeClr val="bg2"/>
                </a:gs>
              </a:gsLst>
              <a:lin ang="1890000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10" name="Freeform 8"/>
            <p:cNvSpPr>
              <a:spLocks/>
            </p:cNvSpPr>
            <p:nvPr userDrawn="1"/>
          </p:nvSpPr>
          <p:spPr bwMode="auto">
            <a:xfrm>
              <a:off x="488" y="0"/>
              <a:ext cx="455" cy="216"/>
            </a:xfrm>
            <a:custGeom>
              <a:avLst/>
              <a:gdLst/>
              <a:ahLst/>
              <a:cxnLst>
                <a:cxn ang="0">
                  <a:pos x="395" y="0"/>
                </a:cxn>
                <a:cxn ang="0">
                  <a:pos x="338" y="48"/>
                </a:cxn>
                <a:cxn ang="0">
                  <a:pos x="242" y="102"/>
                </a:cxn>
                <a:cxn ang="0">
                  <a:pos x="104" y="147"/>
                </a:cxn>
                <a:cxn ang="0">
                  <a:pos x="35" y="168"/>
                </a:cxn>
                <a:cxn ang="0">
                  <a:pos x="8" y="192"/>
                </a:cxn>
                <a:cxn ang="0">
                  <a:pos x="8" y="213"/>
                </a:cxn>
                <a:cxn ang="0">
                  <a:pos x="59" y="213"/>
                </a:cxn>
                <a:cxn ang="0">
                  <a:pos x="86" y="192"/>
                </a:cxn>
                <a:cxn ang="0">
                  <a:pos x="173" y="159"/>
                </a:cxn>
                <a:cxn ang="0">
                  <a:pos x="299" y="126"/>
                </a:cxn>
                <a:cxn ang="0">
                  <a:pos x="392" y="72"/>
                </a:cxn>
                <a:cxn ang="0">
                  <a:pos x="455" y="0"/>
                </a:cxn>
                <a:cxn ang="0">
                  <a:pos x="395" y="0"/>
                </a:cxn>
              </a:cxnLst>
              <a:rect l="0" t="0" r="r" b="b"/>
              <a:pathLst>
                <a:path w="455" h="216">
                  <a:moveTo>
                    <a:pt x="395" y="0"/>
                  </a:moveTo>
                  <a:cubicBezTo>
                    <a:pt x="376" y="8"/>
                    <a:pt x="364" y="31"/>
                    <a:pt x="338" y="48"/>
                  </a:cubicBezTo>
                  <a:cubicBezTo>
                    <a:pt x="312" y="65"/>
                    <a:pt x="281" y="86"/>
                    <a:pt x="242" y="102"/>
                  </a:cubicBezTo>
                  <a:cubicBezTo>
                    <a:pt x="203" y="118"/>
                    <a:pt x="138" y="136"/>
                    <a:pt x="104" y="147"/>
                  </a:cubicBezTo>
                  <a:cubicBezTo>
                    <a:pt x="70" y="158"/>
                    <a:pt x="51" y="161"/>
                    <a:pt x="35" y="168"/>
                  </a:cubicBezTo>
                  <a:cubicBezTo>
                    <a:pt x="19" y="175"/>
                    <a:pt x="12" y="185"/>
                    <a:pt x="8" y="192"/>
                  </a:cubicBezTo>
                  <a:cubicBezTo>
                    <a:pt x="4" y="199"/>
                    <a:pt x="0" y="210"/>
                    <a:pt x="8" y="213"/>
                  </a:cubicBezTo>
                  <a:cubicBezTo>
                    <a:pt x="16" y="216"/>
                    <a:pt x="46" y="216"/>
                    <a:pt x="59" y="213"/>
                  </a:cubicBezTo>
                  <a:cubicBezTo>
                    <a:pt x="72" y="210"/>
                    <a:pt x="67" y="201"/>
                    <a:pt x="86" y="192"/>
                  </a:cubicBezTo>
                  <a:cubicBezTo>
                    <a:pt x="105" y="183"/>
                    <a:pt x="138" y="170"/>
                    <a:pt x="173" y="159"/>
                  </a:cubicBezTo>
                  <a:cubicBezTo>
                    <a:pt x="208" y="148"/>
                    <a:pt x="263" y="140"/>
                    <a:pt x="299" y="126"/>
                  </a:cubicBezTo>
                  <a:cubicBezTo>
                    <a:pt x="335" y="112"/>
                    <a:pt x="366" y="93"/>
                    <a:pt x="392" y="72"/>
                  </a:cubicBezTo>
                  <a:cubicBezTo>
                    <a:pt x="418" y="51"/>
                    <a:pt x="454" y="12"/>
                    <a:pt x="455" y="0"/>
                  </a:cubicBezTo>
                  <a:lnTo>
                    <a:pt x="395" y="0"/>
                  </a:lnTo>
                  <a:close/>
                </a:path>
              </a:pathLst>
            </a:custGeom>
            <a:gradFill rotWithShape="0">
              <a:gsLst>
                <a:gs pos="0">
                  <a:schemeClr val="bg2"/>
                </a:gs>
                <a:gs pos="100000">
                  <a:schemeClr val="accent2"/>
                </a:gs>
              </a:gsLst>
              <a:lin ang="270000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11" name="Freeform 9"/>
            <p:cNvSpPr>
              <a:spLocks/>
            </p:cNvSpPr>
            <p:nvPr userDrawn="1"/>
          </p:nvSpPr>
          <p:spPr bwMode="auto">
            <a:xfrm>
              <a:off x="1448" y="37"/>
              <a:ext cx="414" cy="108"/>
            </a:xfrm>
            <a:custGeom>
              <a:avLst/>
              <a:gdLst/>
              <a:ahLst/>
              <a:cxnLst>
                <a:cxn ang="0">
                  <a:pos x="0" y="11"/>
                </a:cxn>
                <a:cxn ang="0">
                  <a:pos x="24" y="11"/>
                </a:cxn>
                <a:cxn ang="0">
                  <a:pos x="156" y="2"/>
                </a:cxn>
                <a:cxn ang="0">
                  <a:pos x="288" y="23"/>
                </a:cxn>
                <a:cxn ang="0">
                  <a:pos x="384" y="53"/>
                </a:cxn>
                <a:cxn ang="0">
                  <a:pos x="411" y="74"/>
                </a:cxn>
                <a:cxn ang="0">
                  <a:pos x="405" y="104"/>
                </a:cxn>
                <a:cxn ang="0">
                  <a:pos x="363" y="101"/>
                </a:cxn>
                <a:cxn ang="0">
                  <a:pos x="294" y="77"/>
                </a:cxn>
                <a:cxn ang="0">
                  <a:pos x="174" y="50"/>
                </a:cxn>
                <a:cxn ang="0">
                  <a:pos x="72" y="62"/>
                </a:cxn>
                <a:cxn ang="0">
                  <a:pos x="36" y="59"/>
                </a:cxn>
                <a:cxn ang="0">
                  <a:pos x="0" y="11"/>
                </a:cxn>
              </a:cxnLst>
              <a:rect l="0" t="0" r="r" b="b"/>
              <a:pathLst>
                <a:path w="414" h="108">
                  <a:moveTo>
                    <a:pt x="0" y="11"/>
                  </a:moveTo>
                  <a:lnTo>
                    <a:pt x="24" y="11"/>
                  </a:lnTo>
                  <a:cubicBezTo>
                    <a:pt x="50" y="9"/>
                    <a:pt x="112" y="0"/>
                    <a:pt x="156" y="2"/>
                  </a:cubicBezTo>
                  <a:cubicBezTo>
                    <a:pt x="200" y="4"/>
                    <a:pt x="250" y="15"/>
                    <a:pt x="288" y="23"/>
                  </a:cubicBezTo>
                  <a:cubicBezTo>
                    <a:pt x="326" y="31"/>
                    <a:pt x="363" y="44"/>
                    <a:pt x="384" y="53"/>
                  </a:cubicBezTo>
                  <a:cubicBezTo>
                    <a:pt x="405" y="62"/>
                    <a:pt x="408" y="66"/>
                    <a:pt x="411" y="74"/>
                  </a:cubicBezTo>
                  <a:cubicBezTo>
                    <a:pt x="414" y="82"/>
                    <a:pt x="413" y="100"/>
                    <a:pt x="405" y="104"/>
                  </a:cubicBezTo>
                  <a:cubicBezTo>
                    <a:pt x="397" y="108"/>
                    <a:pt x="381" y="105"/>
                    <a:pt x="363" y="101"/>
                  </a:cubicBezTo>
                  <a:cubicBezTo>
                    <a:pt x="345" y="97"/>
                    <a:pt x="325" y="85"/>
                    <a:pt x="294" y="77"/>
                  </a:cubicBezTo>
                  <a:cubicBezTo>
                    <a:pt x="263" y="69"/>
                    <a:pt x="211" y="53"/>
                    <a:pt x="174" y="50"/>
                  </a:cubicBezTo>
                  <a:cubicBezTo>
                    <a:pt x="137" y="47"/>
                    <a:pt x="95" y="61"/>
                    <a:pt x="72" y="62"/>
                  </a:cubicBezTo>
                  <a:cubicBezTo>
                    <a:pt x="49" y="63"/>
                    <a:pt x="48" y="66"/>
                    <a:pt x="36" y="59"/>
                  </a:cubicBezTo>
                  <a:cubicBezTo>
                    <a:pt x="24" y="52"/>
                    <a:pt x="13" y="36"/>
                    <a:pt x="0" y="11"/>
                  </a:cubicBezTo>
                  <a:close/>
                </a:path>
              </a:pathLst>
            </a:custGeom>
            <a:gradFill rotWithShape="0">
              <a:gsLst>
                <a:gs pos="0">
                  <a:schemeClr val="accent2"/>
                </a:gs>
                <a:gs pos="100000">
                  <a:schemeClr val="bg2"/>
                </a:gs>
              </a:gsLst>
              <a:lin ang="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12" name="Freeform 10"/>
            <p:cNvSpPr>
              <a:spLocks/>
            </p:cNvSpPr>
            <p:nvPr userDrawn="1"/>
          </p:nvSpPr>
          <p:spPr bwMode="auto">
            <a:xfrm>
              <a:off x="1790" y="0"/>
              <a:ext cx="520" cy="225"/>
            </a:xfrm>
            <a:custGeom>
              <a:avLst/>
              <a:gdLst/>
              <a:ahLst/>
              <a:cxnLst>
                <a:cxn ang="0">
                  <a:pos x="42" y="0"/>
                </a:cxn>
                <a:cxn ang="0">
                  <a:pos x="12" y="24"/>
                </a:cxn>
                <a:cxn ang="0">
                  <a:pos x="114" y="54"/>
                </a:cxn>
                <a:cxn ang="0">
                  <a:pos x="240" y="117"/>
                </a:cxn>
                <a:cxn ang="0">
                  <a:pos x="333" y="153"/>
                </a:cxn>
                <a:cxn ang="0">
                  <a:pos x="438" y="219"/>
                </a:cxn>
                <a:cxn ang="0">
                  <a:pos x="426" y="192"/>
                </a:cxn>
                <a:cxn ang="0">
                  <a:pos x="441" y="180"/>
                </a:cxn>
                <a:cxn ang="0">
                  <a:pos x="519" y="216"/>
                </a:cxn>
                <a:cxn ang="0">
                  <a:pos x="450" y="162"/>
                </a:cxn>
                <a:cxn ang="0">
                  <a:pos x="381" y="135"/>
                </a:cxn>
                <a:cxn ang="0">
                  <a:pos x="285" y="84"/>
                </a:cxn>
                <a:cxn ang="0">
                  <a:pos x="186" y="18"/>
                </a:cxn>
                <a:cxn ang="0">
                  <a:pos x="123" y="0"/>
                </a:cxn>
                <a:cxn ang="0">
                  <a:pos x="42" y="0"/>
                </a:cxn>
              </a:cxnLst>
              <a:rect l="0" t="0" r="r" b="b"/>
              <a:pathLst>
                <a:path w="520" h="225">
                  <a:moveTo>
                    <a:pt x="42" y="0"/>
                  </a:moveTo>
                  <a:cubicBezTo>
                    <a:pt x="24" y="4"/>
                    <a:pt x="0" y="15"/>
                    <a:pt x="12" y="24"/>
                  </a:cubicBezTo>
                  <a:cubicBezTo>
                    <a:pt x="24" y="33"/>
                    <a:pt x="76" y="39"/>
                    <a:pt x="114" y="54"/>
                  </a:cubicBezTo>
                  <a:cubicBezTo>
                    <a:pt x="152" y="69"/>
                    <a:pt x="203" y="100"/>
                    <a:pt x="240" y="117"/>
                  </a:cubicBezTo>
                  <a:cubicBezTo>
                    <a:pt x="277" y="134"/>
                    <a:pt x="300" y="136"/>
                    <a:pt x="333" y="153"/>
                  </a:cubicBezTo>
                  <a:cubicBezTo>
                    <a:pt x="366" y="170"/>
                    <a:pt x="423" y="213"/>
                    <a:pt x="438" y="219"/>
                  </a:cubicBezTo>
                  <a:cubicBezTo>
                    <a:pt x="453" y="225"/>
                    <a:pt x="426" y="198"/>
                    <a:pt x="426" y="192"/>
                  </a:cubicBezTo>
                  <a:cubicBezTo>
                    <a:pt x="426" y="186"/>
                    <a:pt x="426" y="176"/>
                    <a:pt x="441" y="180"/>
                  </a:cubicBezTo>
                  <a:cubicBezTo>
                    <a:pt x="456" y="184"/>
                    <a:pt x="518" y="219"/>
                    <a:pt x="519" y="216"/>
                  </a:cubicBezTo>
                  <a:cubicBezTo>
                    <a:pt x="520" y="213"/>
                    <a:pt x="473" y="176"/>
                    <a:pt x="450" y="162"/>
                  </a:cubicBezTo>
                  <a:cubicBezTo>
                    <a:pt x="427" y="148"/>
                    <a:pt x="408" y="148"/>
                    <a:pt x="381" y="135"/>
                  </a:cubicBezTo>
                  <a:cubicBezTo>
                    <a:pt x="354" y="122"/>
                    <a:pt x="318" y="104"/>
                    <a:pt x="285" y="84"/>
                  </a:cubicBezTo>
                  <a:cubicBezTo>
                    <a:pt x="252" y="64"/>
                    <a:pt x="213" y="32"/>
                    <a:pt x="186" y="18"/>
                  </a:cubicBezTo>
                  <a:cubicBezTo>
                    <a:pt x="159" y="4"/>
                    <a:pt x="147" y="2"/>
                    <a:pt x="123" y="0"/>
                  </a:cubicBezTo>
                  <a:lnTo>
                    <a:pt x="42" y="0"/>
                  </a:lnTo>
                  <a:close/>
                </a:path>
              </a:pathLst>
            </a:custGeom>
            <a:gradFill rotWithShape="0">
              <a:gsLst>
                <a:gs pos="0">
                  <a:schemeClr val="accent2"/>
                </a:gs>
                <a:gs pos="100000">
                  <a:schemeClr val="bg2"/>
                </a:gs>
              </a:gsLst>
              <a:lin ang="1890000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13" name="Freeform 11"/>
            <p:cNvSpPr>
              <a:spLocks/>
            </p:cNvSpPr>
            <p:nvPr userDrawn="1"/>
          </p:nvSpPr>
          <p:spPr bwMode="auto">
            <a:xfrm>
              <a:off x="1943" y="154"/>
              <a:ext cx="431" cy="233"/>
            </a:xfrm>
            <a:custGeom>
              <a:avLst/>
              <a:gdLst/>
              <a:ahLst/>
              <a:cxnLst>
                <a:cxn ang="0">
                  <a:pos x="6" y="38"/>
                </a:cxn>
                <a:cxn ang="0">
                  <a:pos x="9" y="20"/>
                </a:cxn>
                <a:cxn ang="0">
                  <a:pos x="42" y="2"/>
                </a:cxn>
                <a:cxn ang="0">
                  <a:pos x="90" y="35"/>
                </a:cxn>
                <a:cxn ang="0">
                  <a:pos x="189" y="89"/>
                </a:cxn>
                <a:cxn ang="0">
                  <a:pos x="288" y="140"/>
                </a:cxn>
                <a:cxn ang="0">
                  <a:pos x="375" y="176"/>
                </a:cxn>
                <a:cxn ang="0">
                  <a:pos x="396" y="176"/>
                </a:cxn>
                <a:cxn ang="0">
                  <a:pos x="429" y="212"/>
                </a:cxn>
                <a:cxn ang="0">
                  <a:pos x="408" y="233"/>
                </a:cxn>
                <a:cxn ang="0">
                  <a:pos x="333" y="212"/>
                </a:cxn>
                <a:cxn ang="0">
                  <a:pos x="186" y="143"/>
                </a:cxn>
                <a:cxn ang="0">
                  <a:pos x="48" y="68"/>
                </a:cxn>
                <a:cxn ang="0">
                  <a:pos x="6" y="38"/>
                </a:cxn>
              </a:cxnLst>
              <a:rect l="0" t="0" r="r" b="b"/>
              <a:pathLst>
                <a:path w="431" h="233">
                  <a:moveTo>
                    <a:pt x="6" y="38"/>
                  </a:moveTo>
                  <a:cubicBezTo>
                    <a:pt x="0" y="26"/>
                    <a:pt x="3" y="26"/>
                    <a:pt x="9" y="20"/>
                  </a:cubicBezTo>
                  <a:cubicBezTo>
                    <a:pt x="15" y="14"/>
                    <a:pt x="29" y="0"/>
                    <a:pt x="42" y="2"/>
                  </a:cubicBezTo>
                  <a:cubicBezTo>
                    <a:pt x="55" y="4"/>
                    <a:pt x="66" y="21"/>
                    <a:pt x="90" y="35"/>
                  </a:cubicBezTo>
                  <a:cubicBezTo>
                    <a:pt x="114" y="49"/>
                    <a:pt x="156" y="72"/>
                    <a:pt x="189" y="89"/>
                  </a:cubicBezTo>
                  <a:cubicBezTo>
                    <a:pt x="222" y="106"/>
                    <a:pt x="257" y="126"/>
                    <a:pt x="288" y="140"/>
                  </a:cubicBezTo>
                  <a:cubicBezTo>
                    <a:pt x="319" y="154"/>
                    <a:pt x="357" y="170"/>
                    <a:pt x="375" y="176"/>
                  </a:cubicBezTo>
                  <a:cubicBezTo>
                    <a:pt x="393" y="182"/>
                    <a:pt x="387" y="170"/>
                    <a:pt x="396" y="176"/>
                  </a:cubicBezTo>
                  <a:cubicBezTo>
                    <a:pt x="405" y="182"/>
                    <a:pt x="427" y="203"/>
                    <a:pt x="429" y="212"/>
                  </a:cubicBezTo>
                  <a:cubicBezTo>
                    <a:pt x="431" y="221"/>
                    <a:pt x="424" y="233"/>
                    <a:pt x="408" y="233"/>
                  </a:cubicBezTo>
                  <a:cubicBezTo>
                    <a:pt x="392" y="233"/>
                    <a:pt x="370" y="227"/>
                    <a:pt x="333" y="212"/>
                  </a:cubicBezTo>
                  <a:cubicBezTo>
                    <a:pt x="296" y="197"/>
                    <a:pt x="234" y="167"/>
                    <a:pt x="186" y="143"/>
                  </a:cubicBezTo>
                  <a:cubicBezTo>
                    <a:pt x="138" y="119"/>
                    <a:pt x="78" y="86"/>
                    <a:pt x="48" y="68"/>
                  </a:cubicBezTo>
                  <a:cubicBezTo>
                    <a:pt x="18" y="50"/>
                    <a:pt x="12" y="50"/>
                    <a:pt x="6" y="38"/>
                  </a:cubicBezTo>
                  <a:close/>
                </a:path>
              </a:pathLst>
            </a:custGeom>
            <a:gradFill rotWithShape="0">
              <a:gsLst>
                <a:gs pos="0">
                  <a:schemeClr val="accent2"/>
                </a:gs>
                <a:gs pos="100000">
                  <a:schemeClr val="bg2"/>
                </a:gs>
              </a:gsLst>
              <a:lin ang="1890000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14" name="Freeform 12"/>
            <p:cNvSpPr>
              <a:spLocks/>
            </p:cNvSpPr>
            <p:nvPr userDrawn="1"/>
          </p:nvSpPr>
          <p:spPr bwMode="auto">
            <a:xfrm>
              <a:off x="2262" y="87"/>
              <a:ext cx="396" cy="227"/>
            </a:xfrm>
            <a:custGeom>
              <a:avLst/>
              <a:gdLst/>
              <a:ahLst/>
              <a:cxnLst>
                <a:cxn ang="0">
                  <a:pos x="2" y="9"/>
                </a:cxn>
                <a:cxn ang="0">
                  <a:pos x="53" y="66"/>
                </a:cxn>
                <a:cxn ang="0">
                  <a:pos x="176" y="132"/>
                </a:cxn>
                <a:cxn ang="0">
                  <a:pos x="293" y="189"/>
                </a:cxn>
                <a:cxn ang="0">
                  <a:pos x="341" y="222"/>
                </a:cxn>
                <a:cxn ang="0">
                  <a:pos x="377" y="219"/>
                </a:cxn>
                <a:cxn ang="0">
                  <a:pos x="377" y="180"/>
                </a:cxn>
                <a:cxn ang="0">
                  <a:pos x="260" y="126"/>
                </a:cxn>
                <a:cxn ang="0">
                  <a:pos x="113" y="51"/>
                </a:cxn>
                <a:cxn ang="0">
                  <a:pos x="41" y="9"/>
                </a:cxn>
                <a:cxn ang="0">
                  <a:pos x="2" y="9"/>
                </a:cxn>
              </a:cxnLst>
              <a:rect l="0" t="0" r="r" b="b"/>
              <a:pathLst>
                <a:path w="396" h="227">
                  <a:moveTo>
                    <a:pt x="2" y="9"/>
                  </a:moveTo>
                  <a:cubicBezTo>
                    <a:pt x="4" y="18"/>
                    <a:pt x="24" y="45"/>
                    <a:pt x="53" y="66"/>
                  </a:cubicBezTo>
                  <a:cubicBezTo>
                    <a:pt x="82" y="87"/>
                    <a:pt x="136" y="111"/>
                    <a:pt x="176" y="132"/>
                  </a:cubicBezTo>
                  <a:cubicBezTo>
                    <a:pt x="216" y="153"/>
                    <a:pt x="266" y="174"/>
                    <a:pt x="293" y="189"/>
                  </a:cubicBezTo>
                  <a:cubicBezTo>
                    <a:pt x="320" y="204"/>
                    <a:pt x="327" y="217"/>
                    <a:pt x="341" y="222"/>
                  </a:cubicBezTo>
                  <a:cubicBezTo>
                    <a:pt x="355" y="227"/>
                    <a:pt x="371" y="226"/>
                    <a:pt x="377" y="219"/>
                  </a:cubicBezTo>
                  <a:cubicBezTo>
                    <a:pt x="383" y="212"/>
                    <a:pt x="396" y="195"/>
                    <a:pt x="377" y="180"/>
                  </a:cubicBezTo>
                  <a:cubicBezTo>
                    <a:pt x="358" y="165"/>
                    <a:pt x="304" y="147"/>
                    <a:pt x="260" y="126"/>
                  </a:cubicBezTo>
                  <a:cubicBezTo>
                    <a:pt x="216" y="105"/>
                    <a:pt x="149" y="70"/>
                    <a:pt x="113" y="51"/>
                  </a:cubicBezTo>
                  <a:cubicBezTo>
                    <a:pt x="77" y="32"/>
                    <a:pt x="60" y="17"/>
                    <a:pt x="41" y="9"/>
                  </a:cubicBezTo>
                  <a:cubicBezTo>
                    <a:pt x="22" y="1"/>
                    <a:pt x="0" y="0"/>
                    <a:pt x="2" y="9"/>
                  </a:cubicBezTo>
                  <a:close/>
                </a:path>
              </a:pathLst>
            </a:custGeom>
            <a:gradFill rotWithShape="0">
              <a:gsLst>
                <a:gs pos="0">
                  <a:schemeClr val="accent2"/>
                </a:gs>
                <a:gs pos="100000">
                  <a:schemeClr val="bg2"/>
                </a:gs>
              </a:gsLst>
              <a:lin ang="1890000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15" name="Freeform 13"/>
            <p:cNvSpPr>
              <a:spLocks/>
            </p:cNvSpPr>
            <p:nvPr userDrawn="1"/>
          </p:nvSpPr>
          <p:spPr bwMode="auto">
            <a:xfrm>
              <a:off x="2264" y="240"/>
              <a:ext cx="516" cy="223"/>
            </a:xfrm>
            <a:custGeom>
              <a:avLst/>
              <a:gdLst/>
              <a:ahLst/>
              <a:cxnLst>
                <a:cxn ang="0">
                  <a:pos x="3" y="10"/>
                </a:cxn>
                <a:cxn ang="0">
                  <a:pos x="105" y="97"/>
                </a:cxn>
                <a:cxn ang="0">
                  <a:pos x="243" y="178"/>
                </a:cxn>
                <a:cxn ang="0">
                  <a:pos x="357" y="217"/>
                </a:cxn>
                <a:cxn ang="0">
                  <a:pos x="498" y="214"/>
                </a:cxn>
                <a:cxn ang="0">
                  <a:pos x="468" y="187"/>
                </a:cxn>
                <a:cxn ang="0">
                  <a:pos x="309" y="136"/>
                </a:cxn>
                <a:cxn ang="0">
                  <a:pos x="123" y="34"/>
                </a:cxn>
                <a:cxn ang="0">
                  <a:pos x="3" y="10"/>
                </a:cxn>
              </a:cxnLst>
              <a:rect l="0" t="0" r="r" b="b"/>
              <a:pathLst>
                <a:path w="516" h="223">
                  <a:moveTo>
                    <a:pt x="3" y="10"/>
                  </a:moveTo>
                  <a:cubicBezTo>
                    <a:pt x="0" y="20"/>
                    <a:pt x="65" y="69"/>
                    <a:pt x="105" y="97"/>
                  </a:cubicBezTo>
                  <a:cubicBezTo>
                    <a:pt x="145" y="125"/>
                    <a:pt x="201" y="158"/>
                    <a:pt x="243" y="178"/>
                  </a:cubicBezTo>
                  <a:cubicBezTo>
                    <a:pt x="285" y="198"/>
                    <a:pt x="315" y="211"/>
                    <a:pt x="357" y="217"/>
                  </a:cubicBezTo>
                  <a:cubicBezTo>
                    <a:pt x="399" y="223"/>
                    <a:pt x="480" y="219"/>
                    <a:pt x="498" y="214"/>
                  </a:cubicBezTo>
                  <a:cubicBezTo>
                    <a:pt x="516" y="209"/>
                    <a:pt x="499" y="200"/>
                    <a:pt x="468" y="187"/>
                  </a:cubicBezTo>
                  <a:cubicBezTo>
                    <a:pt x="437" y="174"/>
                    <a:pt x="366" y="161"/>
                    <a:pt x="309" y="136"/>
                  </a:cubicBezTo>
                  <a:cubicBezTo>
                    <a:pt x="252" y="111"/>
                    <a:pt x="172" y="54"/>
                    <a:pt x="123" y="34"/>
                  </a:cubicBezTo>
                  <a:cubicBezTo>
                    <a:pt x="74" y="14"/>
                    <a:pt x="6" y="0"/>
                    <a:pt x="3" y="10"/>
                  </a:cubicBezTo>
                  <a:close/>
                </a:path>
              </a:pathLst>
            </a:custGeom>
            <a:gradFill rotWithShape="0">
              <a:gsLst>
                <a:gs pos="0">
                  <a:schemeClr val="bg2"/>
                </a:gs>
                <a:gs pos="100000">
                  <a:schemeClr val="accent2"/>
                </a:gs>
              </a:gsLst>
              <a:lin ang="540000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16" name="Freeform 14"/>
            <p:cNvSpPr>
              <a:spLocks/>
            </p:cNvSpPr>
            <p:nvPr userDrawn="1"/>
          </p:nvSpPr>
          <p:spPr bwMode="auto">
            <a:xfrm>
              <a:off x="2723" y="324"/>
              <a:ext cx="414" cy="100"/>
            </a:xfrm>
            <a:custGeom>
              <a:avLst/>
              <a:gdLst/>
              <a:ahLst/>
              <a:cxnLst>
                <a:cxn ang="0">
                  <a:pos x="69" y="60"/>
                </a:cxn>
                <a:cxn ang="0">
                  <a:pos x="12" y="42"/>
                </a:cxn>
                <a:cxn ang="0">
                  <a:pos x="3" y="15"/>
                </a:cxn>
                <a:cxn ang="0">
                  <a:pos x="30" y="0"/>
                </a:cxn>
                <a:cxn ang="0">
                  <a:pos x="117" y="18"/>
                </a:cxn>
                <a:cxn ang="0">
                  <a:pos x="243" y="48"/>
                </a:cxn>
                <a:cxn ang="0">
                  <a:pos x="387" y="48"/>
                </a:cxn>
                <a:cxn ang="0">
                  <a:pos x="408" y="54"/>
                </a:cxn>
                <a:cxn ang="0">
                  <a:pos x="381" y="87"/>
                </a:cxn>
                <a:cxn ang="0">
                  <a:pos x="318" y="99"/>
                </a:cxn>
                <a:cxn ang="0">
                  <a:pos x="195" y="93"/>
                </a:cxn>
                <a:cxn ang="0">
                  <a:pos x="69" y="60"/>
                </a:cxn>
              </a:cxnLst>
              <a:rect l="0" t="0" r="r" b="b"/>
              <a:pathLst>
                <a:path w="414" h="100">
                  <a:moveTo>
                    <a:pt x="69" y="60"/>
                  </a:moveTo>
                  <a:cubicBezTo>
                    <a:pt x="39" y="52"/>
                    <a:pt x="23" y="49"/>
                    <a:pt x="12" y="42"/>
                  </a:cubicBezTo>
                  <a:cubicBezTo>
                    <a:pt x="1" y="35"/>
                    <a:pt x="0" y="22"/>
                    <a:pt x="3" y="15"/>
                  </a:cubicBezTo>
                  <a:cubicBezTo>
                    <a:pt x="6" y="8"/>
                    <a:pt x="11" y="0"/>
                    <a:pt x="30" y="0"/>
                  </a:cubicBezTo>
                  <a:cubicBezTo>
                    <a:pt x="49" y="0"/>
                    <a:pt x="82" y="10"/>
                    <a:pt x="117" y="18"/>
                  </a:cubicBezTo>
                  <a:cubicBezTo>
                    <a:pt x="152" y="26"/>
                    <a:pt x="198" y="43"/>
                    <a:pt x="243" y="48"/>
                  </a:cubicBezTo>
                  <a:cubicBezTo>
                    <a:pt x="288" y="53"/>
                    <a:pt x="360" y="47"/>
                    <a:pt x="387" y="48"/>
                  </a:cubicBezTo>
                  <a:cubicBezTo>
                    <a:pt x="414" y="49"/>
                    <a:pt x="409" y="48"/>
                    <a:pt x="408" y="54"/>
                  </a:cubicBezTo>
                  <a:cubicBezTo>
                    <a:pt x="407" y="60"/>
                    <a:pt x="396" y="80"/>
                    <a:pt x="381" y="87"/>
                  </a:cubicBezTo>
                  <a:cubicBezTo>
                    <a:pt x="366" y="94"/>
                    <a:pt x="349" y="98"/>
                    <a:pt x="318" y="99"/>
                  </a:cubicBezTo>
                  <a:cubicBezTo>
                    <a:pt x="287" y="100"/>
                    <a:pt x="237" y="99"/>
                    <a:pt x="195" y="93"/>
                  </a:cubicBezTo>
                  <a:cubicBezTo>
                    <a:pt x="153" y="87"/>
                    <a:pt x="99" y="68"/>
                    <a:pt x="69" y="60"/>
                  </a:cubicBezTo>
                  <a:close/>
                </a:path>
              </a:pathLst>
            </a:custGeom>
            <a:gradFill rotWithShape="0">
              <a:gsLst>
                <a:gs pos="0">
                  <a:schemeClr val="bg2"/>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17" name="Freeform 15"/>
            <p:cNvSpPr>
              <a:spLocks/>
            </p:cNvSpPr>
            <p:nvPr userDrawn="1"/>
          </p:nvSpPr>
          <p:spPr bwMode="auto">
            <a:xfrm>
              <a:off x="3165" y="375"/>
              <a:ext cx="150" cy="72"/>
            </a:xfrm>
            <a:custGeom>
              <a:avLst/>
              <a:gdLst/>
              <a:ahLst/>
              <a:cxnLst>
                <a:cxn ang="0">
                  <a:pos x="3" y="67"/>
                </a:cxn>
                <a:cxn ang="0">
                  <a:pos x="84" y="19"/>
                </a:cxn>
                <a:cxn ang="0">
                  <a:pos x="123" y="1"/>
                </a:cxn>
                <a:cxn ang="0">
                  <a:pos x="150" y="22"/>
                </a:cxn>
                <a:cxn ang="0">
                  <a:pos x="123" y="55"/>
                </a:cxn>
                <a:cxn ang="0">
                  <a:pos x="90" y="70"/>
                </a:cxn>
                <a:cxn ang="0">
                  <a:pos x="0" y="67"/>
                </a:cxn>
              </a:cxnLst>
              <a:rect l="0" t="0" r="r" b="b"/>
              <a:pathLst>
                <a:path w="150" h="72">
                  <a:moveTo>
                    <a:pt x="3" y="67"/>
                  </a:moveTo>
                  <a:cubicBezTo>
                    <a:pt x="16" y="59"/>
                    <a:pt x="64" y="30"/>
                    <a:pt x="84" y="19"/>
                  </a:cubicBezTo>
                  <a:cubicBezTo>
                    <a:pt x="104" y="8"/>
                    <a:pt x="112" y="0"/>
                    <a:pt x="123" y="1"/>
                  </a:cubicBezTo>
                  <a:cubicBezTo>
                    <a:pt x="134" y="2"/>
                    <a:pt x="150" y="13"/>
                    <a:pt x="150" y="22"/>
                  </a:cubicBezTo>
                  <a:cubicBezTo>
                    <a:pt x="150" y="31"/>
                    <a:pt x="133" y="47"/>
                    <a:pt x="123" y="55"/>
                  </a:cubicBezTo>
                  <a:cubicBezTo>
                    <a:pt x="113" y="63"/>
                    <a:pt x="110" y="68"/>
                    <a:pt x="90" y="70"/>
                  </a:cubicBezTo>
                  <a:cubicBezTo>
                    <a:pt x="70" y="72"/>
                    <a:pt x="35" y="69"/>
                    <a:pt x="0" y="67"/>
                  </a:cubicBezTo>
                </a:path>
              </a:pathLst>
            </a:custGeom>
            <a:gradFill rotWithShape="0">
              <a:gsLst>
                <a:gs pos="0">
                  <a:schemeClr val="accent2"/>
                </a:gs>
                <a:gs pos="100000">
                  <a:schemeClr val="bg2"/>
                </a:gs>
              </a:gsLst>
              <a:lin ang="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18" name="Freeform 16"/>
            <p:cNvSpPr>
              <a:spLocks/>
            </p:cNvSpPr>
            <p:nvPr userDrawn="1"/>
          </p:nvSpPr>
          <p:spPr bwMode="auto">
            <a:xfrm>
              <a:off x="3463" y="267"/>
              <a:ext cx="148" cy="91"/>
            </a:xfrm>
            <a:custGeom>
              <a:avLst/>
              <a:gdLst/>
              <a:ahLst/>
              <a:cxnLst>
                <a:cxn ang="0">
                  <a:pos x="1" y="69"/>
                </a:cxn>
                <a:cxn ang="0">
                  <a:pos x="25" y="51"/>
                </a:cxn>
                <a:cxn ang="0">
                  <a:pos x="100" y="9"/>
                </a:cxn>
                <a:cxn ang="0">
                  <a:pos x="133" y="3"/>
                </a:cxn>
                <a:cxn ang="0">
                  <a:pos x="136" y="27"/>
                </a:cxn>
                <a:cxn ang="0">
                  <a:pos x="61" y="75"/>
                </a:cxn>
                <a:cxn ang="0">
                  <a:pos x="19" y="90"/>
                </a:cxn>
                <a:cxn ang="0">
                  <a:pos x="1" y="69"/>
                </a:cxn>
              </a:cxnLst>
              <a:rect l="0" t="0" r="r" b="b"/>
              <a:pathLst>
                <a:path w="148" h="91">
                  <a:moveTo>
                    <a:pt x="1" y="69"/>
                  </a:moveTo>
                  <a:cubicBezTo>
                    <a:pt x="2" y="63"/>
                    <a:pt x="9" y="61"/>
                    <a:pt x="25" y="51"/>
                  </a:cubicBezTo>
                  <a:cubicBezTo>
                    <a:pt x="41" y="41"/>
                    <a:pt x="82" y="17"/>
                    <a:pt x="100" y="9"/>
                  </a:cubicBezTo>
                  <a:cubicBezTo>
                    <a:pt x="118" y="1"/>
                    <a:pt x="127" y="0"/>
                    <a:pt x="133" y="3"/>
                  </a:cubicBezTo>
                  <a:cubicBezTo>
                    <a:pt x="139" y="6"/>
                    <a:pt x="148" y="15"/>
                    <a:pt x="136" y="27"/>
                  </a:cubicBezTo>
                  <a:cubicBezTo>
                    <a:pt x="124" y="39"/>
                    <a:pt x="80" y="65"/>
                    <a:pt x="61" y="75"/>
                  </a:cubicBezTo>
                  <a:cubicBezTo>
                    <a:pt x="42" y="85"/>
                    <a:pt x="29" y="91"/>
                    <a:pt x="19" y="90"/>
                  </a:cubicBezTo>
                  <a:cubicBezTo>
                    <a:pt x="9" y="89"/>
                    <a:pt x="0" y="75"/>
                    <a:pt x="1" y="69"/>
                  </a:cubicBezTo>
                  <a:close/>
                </a:path>
              </a:pathLst>
            </a:custGeom>
            <a:gradFill rotWithShape="0">
              <a:gsLst>
                <a:gs pos="0">
                  <a:schemeClr val="bg2"/>
                </a:gs>
                <a:gs pos="100000">
                  <a:schemeClr val="accent2"/>
                </a:gs>
              </a:gsLst>
              <a:lin ang="270000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19" name="Freeform 17"/>
            <p:cNvSpPr>
              <a:spLocks/>
            </p:cNvSpPr>
            <p:nvPr userDrawn="1"/>
          </p:nvSpPr>
          <p:spPr bwMode="auto">
            <a:xfrm>
              <a:off x="3580" y="58"/>
              <a:ext cx="938" cy="158"/>
            </a:xfrm>
            <a:custGeom>
              <a:avLst/>
              <a:gdLst/>
              <a:ahLst/>
              <a:cxnLst>
                <a:cxn ang="0">
                  <a:pos x="172" y="86"/>
                </a:cxn>
                <a:cxn ang="0">
                  <a:pos x="61" y="137"/>
                </a:cxn>
                <a:cxn ang="0">
                  <a:pos x="16" y="155"/>
                </a:cxn>
                <a:cxn ang="0">
                  <a:pos x="7" y="122"/>
                </a:cxn>
                <a:cxn ang="0">
                  <a:pos x="58" y="80"/>
                </a:cxn>
                <a:cxn ang="0">
                  <a:pos x="172" y="38"/>
                </a:cxn>
                <a:cxn ang="0">
                  <a:pos x="304" y="11"/>
                </a:cxn>
                <a:cxn ang="0">
                  <a:pos x="463" y="2"/>
                </a:cxn>
                <a:cxn ang="0">
                  <a:pos x="631" y="23"/>
                </a:cxn>
                <a:cxn ang="0">
                  <a:pos x="796" y="53"/>
                </a:cxn>
                <a:cxn ang="0">
                  <a:pos x="841" y="47"/>
                </a:cxn>
                <a:cxn ang="0">
                  <a:pos x="907" y="71"/>
                </a:cxn>
                <a:cxn ang="0">
                  <a:pos x="919" y="101"/>
                </a:cxn>
                <a:cxn ang="0">
                  <a:pos x="793" y="98"/>
                </a:cxn>
                <a:cxn ang="0">
                  <a:pos x="634" y="62"/>
                </a:cxn>
                <a:cxn ang="0">
                  <a:pos x="439" y="38"/>
                </a:cxn>
                <a:cxn ang="0">
                  <a:pos x="238" y="59"/>
                </a:cxn>
                <a:cxn ang="0">
                  <a:pos x="172" y="86"/>
                </a:cxn>
              </a:cxnLst>
              <a:rect l="0" t="0" r="r" b="b"/>
              <a:pathLst>
                <a:path w="938" h="158">
                  <a:moveTo>
                    <a:pt x="172" y="86"/>
                  </a:moveTo>
                  <a:cubicBezTo>
                    <a:pt x="142" y="99"/>
                    <a:pt x="87" y="126"/>
                    <a:pt x="61" y="137"/>
                  </a:cubicBezTo>
                  <a:cubicBezTo>
                    <a:pt x="35" y="148"/>
                    <a:pt x="25" y="158"/>
                    <a:pt x="16" y="155"/>
                  </a:cubicBezTo>
                  <a:cubicBezTo>
                    <a:pt x="7" y="152"/>
                    <a:pt x="0" y="134"/>
                    <a:pt x="7" y="122"/>
                  </a:cubicBezTo>
                  <a:cubicBezTo>
                    <a:pt x="14" y="110"/>
                    <a:pt x="31" y="94"/>
                    <a:pt x="58" y="80"/>
                  </a:cubicBezTo>
                  <a:cubicBezTo>
                    <a:pt x="85" y="66"/>
                    <a:pt x="131" y="49"/>
                    <a:pt x="172" y="38"/>
                  </a:cubicBezTo>
                  <a:cubicBezTo>
                    <a:pt x="213" y="27"/>
                    <a:pt x="256" y="17"/>
                    <a:pt x="304" y="11"/>
                  </a:cubicBezTo>
                  <a:cubicBezTo>
                    <a:pt x="352" y="5"/>
                    <a:pt x="409" y="0"/>
                    <a:pt x="463" y="2"/>
                  </a:cubicBezTo>
                  <a:cubicBezTo>
                    <a:pt x="517" y="4"/>
                    <a:pt x="576" y="15"/>
                    <a:pt x="631" y="23"/>
                  </a:cubicBezTo>
                  <a:cubicBezTo>
                    <a:pt x="686" y="31"/>
                    <a:pt x="761" y="49"/>
                    <a:pt x="796" y="53"/>
                  </a:cubicBezTo>
                  <a:cubicBezTo>
                    <a:pt x="831" y="57"/>
                    <a:pt x="823" y="44"/>
                    <a:pt x="841" y="47"/>
                  </a:cubicBezTo>
                  <a:cubicBezTo>
                    <a:pt x="859" y="50"/>
                    <a:pt x="894" y="62"/>
                    <a:pt x="907" y="71"/>
                  </a:cubicBezTo>
                  <a:cubicBezTo>
                    <a:pt x="920" y="80"/>
                    <a:pt x="938" y="97"/>
                    <a:pt x="919" y="101"/>
                  </a:cubicBezTo>
                  <a:cubicBezTo>
                    <a:pt x="900" y="105"/>
                    <a:pt x="840" y="104"/>
                    <a:pt x="793" y="98"/>
                  </a:cubicBezTo>
                  <a:cubicBezTo>
                    <a:pt x="746" y="92"/>
                    <a:pt x="693" y="72"/>
                    <a:pt x="634" y="62"/>
                  </a:cubicBezTo>
                  <a:cubicBezTo>
                    <a:pt x="575" y="52"/>
                    <a:pt x="505" y="38"/>
                    <a:pt x="439" y="38"/>
                  </a:cubicBezTo>
                  <a:cubicBezTo>
                    <a:pt x="373" y="38"/>
                    <a:pt x="284" y="51"/>
                    <a:pt x="238" y="59"/>
                  </a:cubicBezTo>
                  <a:cubicBezTo>
                    <a:pt x="192" y="67"/>
                    <a:pt x="202" y="73"/>
                    <a:pt x="172" y="86"/>
                  </a:cubicBezTo>
                  <a:close/>
                </a:path>
              </a:pathLst>
            </a:custGeom>
            <a:gradFill rotWithShape="0">
              <a:gsLst>
                <a:gs pos="0">
                  <a:schemeClr val="bg2"/>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20" name="Freeform 18"/>
            <p:cNvSpPr>
              <a:spLocks/>
            </p:cNvSpPr>
            <p:nvPr userDrawn="1"/>
          </p:nvSpPr>
          <p:spPr bwMode="auto">
            <a:xfrm>
              <a:off x="3686" y="145"/>
              <a:ext cx="372" cy="98"/>
            </a:xfrm>
            <a:custGeom>
              <a:avLst/>
              <a:gdLst/>
              <a:ahLst/>
              <a:cxnLst>
                <a:cxn ang="0">
                  <a:pos x="18" y="47"/>
                </a:cxn>
                <a:cxn ang="0">
                  <a:pos x="141" y="17"/>
                </a:cxn>
                <a:cxn ang="0">
                  <a:pos x="246" y="2"/>
                </a:cxn>
                <a:cxn ang="0">
                  <a:pos x="351" y="5"/>
                </a:cxn>
                <a:cxn ang="0">
                  <a:pos x="372" y="23"/>
                </a:cxn>
                <a:cxn ang="0">
                  <a:pos x="354" y="44"/>
                </a:cxn>
                <a:cxn ang="0">
                  <a:pos x="264" y="50"/>
                </a:cxn>
                <a:cxn ang="0">
                  <a:pos x="168" y="53"/>
                </a:cxn>
                <a:cxn ang="0">
                  <a:pos x="72" y="77"/>
                </a:cxn>
                <a:cxn ang="0">
                  <a:pos x="15" y="95"/>
                </a:cxn>
                <a:cxn ang="0">
                  <a:pos x="0" y="56"/>
                </a:cxn>
              </a:cxnLst>
              <a:rect l="0" t="0" r="r" b="b"/>
              <a:pathLst>
                <a:path w="372" h="98">
                  <a:moveTo>
                    <a:pt x="18" y="47"/>
                  </a:moveTo>
                  <a:cubicBezTo>
                    <a:pt x="60" y="36"/>
                    <a:pt x="103" y="25"/>
                    <a:pt x="141" y="17"/>
                  </a:cubicBezTo>
                  <a:cubicBezTo>
                    <a:pt x="179" y="9"/>
                    <a:pt x="211" y="4"/>
                    <a:pt x="246" y="2"/>
                  </a:cubicBezTo>
                  <a:cubicBezTo>
                    <a:pt x="281" y="0"/>
                    <a:pt x="330" y="1"/>
                    <a:pt x="351" y="5"/>
                  </a:cubicBezTo>
                  <a:cubicBezTo>
                    <a:pt x="372" y="9"/>
                    <a:pt x="372" y="17"/>
                    <a:pt x="372" y="23"/>
                  </a:cubicBezTo>
                  <a:cubicBezTo>
                    <a:pt x="372" y="29"/>
                    <a:pt x="372" y="40"/>
                    <a:pt x="354" y="44"/>
                  </a:cubicBezTo>
                  <a:cubicBezTo>
                    <a:pt x="336" y="48"/>
                    <a:pt x="295" y="49"/>
                    <a:pt x="264" y="50"/>
                  </a:cubicBezTo>
                  <a:cubicBezTo>
                    <a:pt x="233" y="51"/>
                    <a:pt x="200" y="49"/>
                    <a:pt x="168" y="53"/>
                  </a:cubicBezTo>
                  <a:cubicBezTo>
                    <a:pt x="136" y="57"/>
                    <a:pt x="98" y="70"/>
                    <a:pt x="72" y="77"/>
                  </a:cubicBezTo>
                  <a:cubicBezTo>
                    <a:pt x="46" y="84"/>
                    <a:pt x="27" y="98"/>
                    <a:pt x="15" y="95"/>
                  </a:cubicBezTo>
                  <a:cubicBezTo>
                    <a:pt x="3" y="92"/>
                    <a:pt x="1" y="74"/>
                    <a:pt x="0" y="56"/>
                  </a:cubicBezTo>
                </a:path>
              </a:pathLst>
            </a:custGeom>
            <a:gradFill rotWithShape="0">
              <a:gsLst>
                <a:gs pos="0">
                  <a:schemeClr val="accent2"/>
                </a:gs>
                <a:gs pos="100000">
                  <a:schemeClr val="bg2"/>
                </a:gs>
              </a:gsLst>
              <a:lin ang="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21" name="Freeform 19"/>
            <p:cNvSpPr>
              <a:spLocks/>
            </p:cNvSpPr>
            <p:nvPr userDrawn="1"/>
          </p:nvSpPr>
          <p:spPr bwMode="auto">
            <a:xfrm>
              <a:off x="3618" y="308"/>
              <a:ext cx="318" cy="158"/>
            </a:xfrm>
            <a:custGeom>
              <a:avLst/>
              <a:gdLst/>
              <a:ahLst/>
              <a:cxnLst>
                <a:cxn ang="0">
                  <a:pos x="0" y="158"/>
                </a:cxn>
                <a:cxn ang="0">
                  <a:pos x="12" y="137"/>
                </a:cxn>
                <a:cxn ang="0">
                  <a:pos x="162" y="71"/>
                </a:cxn>
                <a:cxn ang="0">
                  <a:pos x="249" y="20"/>
                </a:cxn>
                <a:cxn ang="0">
                  <a:pos x="285" y="2"/>
                </a:cxn>
                <a:cxn ang="0">
                  <a:pos x="309" y="11"/>
                </a:cxn>
                <a:cxn ang="0">
                  <a:pos x="303" y="47"/>
                </a:cxn>
                <a:cxn ang="0">
                  <a:pos x="219" y="89"/>
                </a:cxn>
                <a:cxn ang="0">
                  <a:pos x="108" y="140"/>
                </a:cxn>
                <a:cxn ang="0">
                  <a:pos x="57" y="152"/>
                </a:cxn>
                <a:cxn ang="0">
                  <a:pos x="0" y="158"/>
                </a:cxn>
              </a:cxnLst>
              <a:rect l="0" t="0" r="r" b="b"/>
              <a:pathLst>
                <a:path w="318" h="158">
                  <a:moveTo>
                    <a:pt x="0" y="158"/>
                  </a:moveTo>
                  <a:lnTo>
                    <a:pt x="12" y="137"/>
                  </a:lnTo>
                  <a:cubicBezTo>
                    <a:pt x="39" y="123"/>
                    <a:pt x="122" y="90"/>
                    <a:pt x="162" y="71"/>
                  </a:cubicBezTo>
                  <a:cubicBezTo>
                    <a:pt x="202" y="52"/>
                    <a:pt x="229" y="31"/>
                    <a:pt x="249" y="20"/>
                  </a:cubicBezTo>
                  <a:cubicBezTo>
                    <a:pt x="269" y="9"/>
                    <a:pt x="275" y="4"/>
                    <a:pt x="285" y="2"/>
                  </a:cubicBezTo>
                  <a:cubicBezTo>
                    <a:pt x="295" y="0"/>
                    <a:pt x="306" y="4"/>
                    <a:pt x="309" y="11"/>
                  </a:cubicBezTo>
                  <a:cubicBezTo>
                    <a:pt x="312" y="18"/>
                    <a:pt x="318" y="34"/>
                    <a:pt x="303" y="47"/>
                  </a:cubicBezTo>
                  <a:cubicBezTo>
                    <a:pt x="288" y="60"/>
                    <a:pt x="252" y="74"/>
                    <a:pt x="219" y="89"/>
                  </a:cubicBezTo>
                  <a:cubicBezTo>
                    <a:pt x="186" y="104"/>
                    <a:pt x="135" y="130"/>
                    <a:pt x="108" y="140"/>
                  </a:cubicBezTo>
                  <a:cubicBezTo>
                    <a:pt x="81" y="150"/>
                    <a:pt x="74" y="150"/>
                    <a:pt x="57" y="152"/>
                  </a:cubicBezTo>
                  <a:cubicBezTo>
                    <a:pt x="40" y="154"/>
                    <a:pt x="23" y="154"/>
                    <a:pt x="0" y="158"/>
                  </a:cubicBezTo>
                  <a:close/>
                </a:path>
              </a:pathLst>
            </a:custGeom>
            <a:gradFill rotWithShape="0">
              <a:gsLst>
                <a:gs pos="0">
                  <a:schemeClr val="bg2"/>
                </a:gs>
                <a:gs pos="50000">
                  <a:schemeClr val="accent2"/>
                </a:gs>
                <a:gs pos="100000">
                  <a:schemeClr val="bg2"/>
                </a:gs>
              </a:gsLst>
              <a:lin ang="270000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22" name="Freeform 20"/>
            <p:cNvSpPr>
              <a:spLocks/>
            </p:cNvSpPr>
            <p:nvPr userDrawn="1"/>
          </p:nvSpPr>
          <p:spPr bwMode="auto">
            <a:xfrm>
              <a:off x="3413" y="291"/>
              <a:ext cx="380" cy="174"/>
            </a:xfrm>
            <a:custGeom>
              <a:avLst/>
              <a:gdLst/>
              <a:ahLst/>
              <a:cxnLst>
                <a:cxn ang="0">
                  <a:pos x="3" y="165"/>
                </a:cxn>
                <a:cxn ang="0">
                  <a:pos x="129" y="93"/>
                </a:cxn>
                <a:cxn ang="0">
                  <a:pos x="261" y="30"/>
                </a:cxn>
                <a:cxn ang="0">
                  <a:pos x="351" y="0"/>
                </a:cxn>
                <a:cxn ang="0">
                  <a:pos x="378" y="27"/>
                </a:cxn>
                <a:cxn ang="0">
                  <a:pos x="336" y="51"/>
                </a:cxn>
                <a:cxn ang="0">
                  <a:pos x="291" y="60"/>
                </a:cxn>
                <a:cxn ang="0">
                  <a:pos x="240" y="75"/>
                </a:cxn>
                <a:cxn ang="0">
                  <a:pos x="189" y="120"/>
                </a:cxn>
                <a:cxn ang="0">
                  <a:pos x="102" y="174"/>
                </a:cxn>
                <a:cxn ang="0">
                  <a:pos x="0" y="162"/>
                </a:cxn>
              </a:cxnLst>
              <a:rect l="0" t="0" r="r" b="b"/>
              <a:pathLst>
                <a:path w="380" h="174">
                  <a:moveTo>
                    <a:pt x="3" y="165"/>
                  </a:moveTo>
                  <a:cubicBezTo>
                    <a:pt x="24" y="153"/>
                    <a:pt x="86" y="115"/>
                    <a:pt x="129" y="93"/>
                  </a:cubicBezTo>
                  <a:cubicBezTo>
                    <a:pt x="172" y="71"/>
                    <a:pt x="224" y="45"/>
                    <a:pt x="261" y="30"/>
                  </a:cubicBezTo>
                  <a:cubicBezTo>
                    <a:pt x="298" y="15"/>
                    <a:pt x="332" y="0"/>
                    <a:pt x="351" y="0"/>
                  </a:cubicBezTo>
                  <a:cubicBezTo>
                    <a:pt x="370" y="0"/>
                    <a:pt x="380" y="19"/>
                    <a:pt x="378" y="27"/>
                  </a:cubicBezTo>
                  <a:cubicBezTo>
                    <a:pt x="376" y="35"/>
                    <a:pt x="350" y="46"/>
                    <a:pt x="336" y="51"/>
                  </a:cubicBezTo>
                  <a:cubicBezTo>
                    <a:pt x="322" y="56"/>
                    <a:pt x="307" y="56"/>
                    <a:pt x="291" y="60"/>
                  </a:cubicBezTo>
                  <a:cubicBezTo>
                    <a:pt x="275" y="64"/>
                    <a:pt x="257" y="65"/>
                    <a:pt x="240" y="75"/>
                  </a:cubicBezTo>
                  <a:cubicBezTo>
                    <a:pt x="223" y="85"/>
                    <a:pt x="212" y="104"/>
                    <a:pt x="189" y="120"/>
                  </a:cubicBezTo>
                  <a:cubicBezTo>
                    <a:pt x="166" y="136"/>
                    <a:pt x="133" y="167"/>
                    <a:pt x="102" y="174"/>
                  </a:cubicBezTo>
                  <a:lnTo>
                    <a:pt x="0" y="162"/>
                  </a:lnTo>
                </a:path>
              </a:pathLst>
            </a:custGeom>
            <a:gradFill rotWithShape="0">
              <a:gsLst>
                <a:gs pos="0">
                  <a:schemeClr val="bg2"/>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23" name="Freeform 21"/>
            <p:cNvSpPr>
              <a:spLocks/>
            </p:cNvSpPr>
            <p:nvPr userDrawn="1"/>
          </p:nvSpPr>
          <p:spPr bwMode="auto">
            <a:xfrm>
              <a:off x="4178" y="187"/>
              <a:ext cx="523" cy="69"/>
            </a:xfrm>
            <a:custGeom>
              <a:avLst/>
              <a:gdLst/>
              <a:ahLst/>
              <a:cxnLst>
                <a:cxn ang="0">
                  <a:pos x="84" y="11"/>
                </a:cxn>
                <a:cxn ang="0">
                  <a:pos x="27" y="5"/>
                </a:cxn>
                <a:cxn ang="0">
                  <a:pos x="9" y="35"/>
                </a:cxn>
                <a:cxn ang="0">
                  <a:pos x="81" y="56"/>
                </a:cxn>
                <a:cxn ang="0">
                  <a:pos x="255" y="68"/>
                </a:cxn>
                <a:cxn ang="0">
                  <a:pos x="432" y="50"/>
                </a:cxn>
                <a:cxn ang="0">
                  <a:pos x="513" y="5"/>
                </a:cxn>
                <a:cxn ang="0">
                  <a:pos x="372" y="20"/>
                </a:cxn>
                <a:cxn ang="0">
                  <a:pos x="141" y="14"/>
                </a:cxn>
                <a:cxn ang="0">
                  <a:pos x="84" y="11"/>
                </a:cxn>
              </a:cxnLst>
              <a:rect l="0" t="0" r="r" b="b"/>
              <a:pathLst>
                <a:path w="523" h="69">
                  <a:moveTo>
                    <a:pt x="84" y="11"/>
                  </a:moveTo>
                  <a:cubicBezTo>
                    <a:pt x="65" y="9"/>
                    <a:pt x="40" y="1"/>
                    <a:pt x="27" y="5"/>
                  </a:cubicBezTo>
                  <a:cubicBezTo>
                    <a:pt x="14" y="9"/>
                    <a:pt x="0" y="27"/>
                    <a:pt x="9" y="35"/>
                  </a:cubicBezTo>
                  <a:cubicBezTo>
                    <a:pt x="18" y="43"/>
                    <a:pt x="40" y="51"/>
                    <a:pt x="81" y="56"/>
                  </a:cubicBezTo>
                  <a:cubicBezTo>
                    <a:pt x="122" y="61"/>
                    <a:pt x="197" y="69"/>
                    <a:pt x="255" y="68"/>
                  </a:cubicBezTo>
                  <a:cubicBezTo>
                    <a:pt x="313" y="67"/>
                    <a:pt x="389" y="60"/>
                    <a:pt x="432" y="50"/>
                  </a:cubicBezTo>
                  <a:cubicBezTo>
                    <a:pt x="475" y="40"/>
                    <a:pt x="523" y="10"/>
                    <a:pt x="513" y="5"/>
                  </a:cubicBezTo>
                  <a:cubicBezTo>
                    <a:pt x="503" y="0"/>
                    <a:pt x="434" y="19"/>
                    <a:pt x="372" y="20"/>
                  </a:cubicBezTo>
                  <a:cubicBezTo>
                    <a:pt x="310" y="21"/>
                    <a:pt x="189" y="15"/>
                    <a:pt x="141" y="14"/>
                  </a:cubicBezTo>
                  <a:cubicBezTo>
                    <a:pt x="93" y="13"/>
                    <a:pt x="103" y="13"/>
                    <a:pt x="84" y="11"/>
                  </a:cubicBezTo>
                  <a:close/>
                </a:path>
              </a:pathLst>
            </a:custGeom>
            <a:gradFill rotWithShape="0">
              <a:gsLst>
                <a:gs pos="0">
                  <a:schemeClr val="bg2"/>
                </a:gs>
                <a:gs pos="100000">
                  <a:schemeClr val="accent2"/>
                </a:gs>
              </a:gsLst>
              <a:lin ang="1890000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24" name="Freeform 22"/>
            <p:cNvSpPr>
              <a:spLocks/>
            </p:cNvSpPr>
            <p:nvPr userDrawn="1"/>
          </p:nvSpPr>
          <p:spPr bwMode="auto">
            <a:xfrm>
              <a:off x="4689" y="186"/>
              <a:ext cx="537" cy="120"/>
            </a:xfrm>
            <a:custGeom>
              <a:avLst/>
              <a:gdLst/>
              <a:ahLst/>
              <a:cxnLst>
                <a:cxn ang="0">
                  <a:pos x="23" y="6"/>
                </a:cxn>
                <a:cxn ang="0">
                  <a:pos x="188" y="3"/>
                </a:cxn>
                <a:cxn ang="0">
                  <a:pos x="323" y="27"/>
                </a:cxn>
                <a:cxn ang="0">
                  <a:pos x="464" y="69"/>
                </a:cxn>
                <a:cxn ang="0">
                  <a:pos x="521" y="90"/>
                </a:cxn>
                <a:cxn ang="0">
                  <a:pos x="533" y="105"/>
                </a:cxn>
                <a:cxn ang="0">
                  <a:pos x="497" y="120"/>
                </a:cxn>
                <a:cxn ang="0">
                  <a:pos x="452" y="108"/>
                </a:cxn>
                <a:cxn ang="0">
                  <a:pos x="350" y="72"/>
                </a:cxn>
                <a:cxn ang="0">
                  <a:pos x="158" y="39"/>
                </a:cxn>
                <a:cxn ang="0">
                  <a:pos x="50" y="39"/>
                </a:cxn>
                <a:cxn ang="0">
                  <a:pos x="23" y="6"/>
                </a:cxn>
              </a:cxnLst>
              <a:rect l="0" t="0" r="r" b="b"/>
              <a:pathLst>
                <a:path w="537" h="120">
                  <a:moveTo>
                    <a:pt x="23" y="6"/>
                  </a:moveTo>
                  <a:cubicBezTo>
                    <a:pt x="46" y="0"/>
                    <a:pt x="138" y="0"/>
                    <a:pt x="188" y="3"/>
                  </a:cubicBezTo>
                  <a:cubicBezTo>
                    <a:pt x="238" y="6"/>
                    <a:pt x="277" y="16"/>
                    <a:pt x="323" y="27"/>
                  </a:cubicBezTo>
                  <a:cubicBezTo>
                    <a:pt x="369" y="38"/>
                    <a:pt x="431" y="59"/>
                    <a:pt x="464" y="69"/>
                  </a:cubicBezTo>
                  <a:cubicBezTo>
                    <a:pt x="497" y="79"/>
                    <a:pt x="509" y="84"/>
                    <a:pt x="521" y="90"/>
                  </a:cubicBezTo>
                  <a:cubicBezTo>
                    <a:pt x="533" y="96"/>
                    <a:pt x="537" y="100"/>
                    <a:pt x="533" y="105"/>
                  </a:cubicBezTo>
                  <a:cubicBezTo>
                    <a:pt x="529" y="110"/>
                    <a:pt x="510" y="120"/>
                    <a:pt x="497" y="120"/>
                  </a:cubicBezTo>
                  <a:cubicBezTo>
                    <a:pt x="484" y="120"/>
                    <a:pt x="476" y="116"/>
                    <a:pt x="452" y="108"/>
                  </a:cubicBezTo>
                  <a:cubicBezTo>
                    <a:pt x="428" y="100"/>
                    <a:pt x="399" y="84"/>
                    <a:pt x="350" y="72"/>
                  </a:cubicBezTo>
                  <a:cubicBezTo>
                    <a:pt x="301" y="60"/>
                    <a:pt x="208" y="45"/>
                    <a:pt x="158" y="39"/>
                  </a:cubicBezTo>
                  <a:cubicBezTo>
                    <a:pt x="108" y="33"/>
                    <a:pt x="72" y="43"/>
                    <a:pt x="50" y="39"/>
                  </a:cubicBezTo>
                  <a:cubicBezTo>
                    <a:pt x="28" y="35"/>
                    <a:pt x="0" y="12"/>
                    <a:pt x="23" y="6"/>
                  </a:cubicBezTo>
                  <a:close/>
                </a:path>
              </a:pathLst>
            </a:custGeom>
            <a:gradFill rotWithShape="0">
              <a:gsLst>
                <a:gs pos="0">
                  <a:schemeClr val="bg2"/>
                </a:gs>
                <a:gs pos="50000">
                  <a:schemeClr val="accent2"/>
                </a:gs>
                <a:gs pos="100000">
                  <a:schemeClr val="bg2"/>
                </a:gs>
              </a:gsLst>
              <a:lin ang="18900000" scaled="1"/>
            </a:gradFill>
            <a:ln w="9525">
              <a:noFill/>
              <a:round/>
              <a:headEnd/>
              <a:tailEnd/>
            </a:ln>
            <a:effectLst/>
          </p:spPr>
          <p:txBody>
            <a:bodyPr wrap="none" anchor="ctr"/>
            <a:lstStyle/>
            <a:p>
              <a:pPr>
                <a:defRPr/>
              </a:pPr>
              <a:endParaRPr lang="zh-CN" altLang="en-US"/>
            </a:p>
          </p:txBody>
        </p:sp>
        <p:sp>
          <p:nvSpPr>
            <p:cNvPr id="25" name="Freeform 23"/>
            <p:cNvSpPr>
              <a:spLocks/>
            </p:cNvSpPr>
            <p:nvPr userDrawn="1"/>
          </p:nvSpPr>
          <p:spPr bwMode="auto">
            <a:xfrm>
              <a:off x="4968" y="312"/>
              <a:ext cx="800" cy="143"/>
            </a:xfrm>
            <a:custGeom>
              <a:avLst/>
              <a:gdLst/>
              <a:ahLst/>
              <a:cxnLst>
                <a:cxn ang="0">
                  <a:pos x="800" y="24"/>
                </a:cxn>
                <a:cxn ang="0">
                  <a:pos x="782" y="15"/>
                </a:cxn>
                <a:cxn ang="0">
                  <a:pos x="659" y="63"/>
                </a:cxn>
                <a:cxn ang="0">
                  <a:pos x="500" y="84"/>
                </a:cxn>
                <a:cxn ang="0">
                  <a:pos x="326" y="69"/>
                </a:cxn>
                <a:cxn ang="0">
                  <a:pos x="98" y="21"/>
                </a:cxn>
                <a:cxn ang="0">
                  <a:pos x="11" y="6"/>
                </a:cxn>
                <a:cxn ang="0">
                  <a:pos x="32" y="60"/>
                </a:cxn>
                <a:cxn ang="0">
                  <a:pos x="155" y="96"/>
                </a:cxn>
                <a:cxn ang="0">
                  <a:pos x="410" y="138"/>
                </a:cxn>
                <a:cxn ang="0">
                  <a:pos x="596" y="129"/>
                </a:cxn>
                <a:cxn ang="0">
                  <a:pos x="737" y="90"/>
                </a:cxn>
                <a:cxn ang="0">
                  <a:pos x="788" y="69"/>
                </a:cxn>
                <a:cxn ang="0">
                  <a:pos x="800" y="24"/>
                </a:cxn>
              </a:cxnLst>
              <a:rect l="0" t="0" r="r" b="b"/>
              <a:pathLst>
                <a:path w="800" h="143">
                  <a:moveTo>
                    <a:pt x="800" y="24"/>
                  </a:moveTo>
                  <a:lnTo>
                    <a:pt x="782" y="15"/>
                  </a:lnTo>
                  <a:cubicBezTo>
                    <a:pt x="759" y="21"/>
                    <a:pt x="706" y="51"/>
                    <a:pt x="659" y="63"/>
                  </a:cubicBezTo>
                  <a:cubicBezTo>
                    <a:pt x="612" y="75"/>
                    <a:pt x="555" y="83"/>
                    <a:pt x="500" y="84"/>
                  </a:cubicBezTo>
                  <a:cubicBezTo>
                    <a:pt x="445" y="85"/>
                    <a:pt x="393" y="79"/>
                    <a:pt x="326" y="69"/>
                  </a:cubicBezTo>
                  <a:cubicBezTo>
                    <a:pt x="259" y="59"/>
                    <a:pt x="150" y="31"/>
                    <a:pt x="98" y="21"/>
                  </a:cubicBezTo>
                  <a:cubicBezTo>
                    <a:pt x="46" y="11"/>
                    <a:pt x="22" y="0"/>
                    <a:pt x="11" y="6"/>
                  </a:cubicBezTo>
                  <a:cubicBezTo>
                    <a:pt x="0" y="12"/>
                    <a:pt x="8" y="45"/>
                    <a:pt x="32" y="60"/>
                  </a:cubicBezTo>
                  <a:cubicBezTo>
                    <a:pt x="56" y="75"/>
                    <a:pt x="92" y="83"/>
                    <a:pt x="155" y="96"/>
                  </a:cubicBezTo>
                  <a:cubicBezTo>
                    <a:pt x="218" y="109"/>
                    <a:pt x="337" y="133"/>
                    <a:pt x="410" y="138"/>
                  </a:cubicBezTo>
                  <a:cubicBezTo>
                    <a:pt x="483" y="143"/>
                    <a:pt x="542" y="137"/>
                    <a:pt x="596" y="129"/>
                  </a:cubicBezTo>
                  <a:cubicBezTo>
                    <a:pt x="650" y="121"/>
                    <a:pt x="705" y="100"/>
                    <a:pt x="737" y="90"/>
                  </a:cubicBezTo>
                  <a:cubicBezTo>
                    <a:pt x="769" y="80"/>
                    <a:pt x="780" y="80"/>
                    <a:pt x="788" y="69"/>
                  </a:cubicBezTo>
                  <a:cubicBezTo>
                    <a:pt x="796" y="58"/>
                    <a:pt x="792" y="39"/>
                    <a:pt x="800" y="24"/>
                  </a:cubicBezTo>
                  <a:close/>
                </a:path>
              </a:pathLst>
            </a:custGeom>
            <a:gradFill rotWithShape="0">
              <a:gsLst>
                <a:gs pos="0">
                  <a:schemeClr val="bg2"/>
                </a:gs>
                <a:gs pos="50000">
                  <a:schemeClr val="accent2"/>
                </a:gs>
                <a:gs pos="100000">
                  <a:schemeClr val="bg2"/>
                </a:gs>
              </a:gsLst>
              <a:lin ang="0" scaled="1"/>
            </a:gradFill>
            <a:ln w="9525">
              <a:noFill/>
              <a:round/>
              <a:headEnd/>
              <a:tailEnd/>
            </a:ln>
            <a:effectLst/>
          </p:spPr>
          <p:txBody>
            <a:bodyPr wrap="none" anchor="ctr"/>
            <a:lstStyle/>
            <a:p>
              <a:pPr>
                <a:defRPr/>
              </a:pPr>
              <a:endParaRPr lang="zh-CN" altLang="en-US"/>
            </a:p>
          </p:txBody>
        </p:sp>
        <p:sp>
          <p:nvSpPr>
            <p:cNvPr id="26" name="Freeform 24"/>
            <p:cNvSpPr>
              <a:spLocks/>
            </p:cNvSpPr>
            <p:nvPr userDrawn="1"/>
          </p:nvSpPr>
          <p:spPr bwMode="auto">
            <a:xfrm>
              <a:off x="5318" y="240"/>
              <a:ext cx="402" cy="115"/>
            </a:xfrm>
            <a:custGeom>
              <a:avLst/>
              <a:gdLst/>
              <a:ahLst/>
              <a:cxnLst>
                <a:cxn ang="0">
                  <a:pos x="402" y="0"/>
                </a:cxn>
                <a:cxn ang="0">
                  <a:pos x="384" y="12"/>
                </a:cxn>
                <a:cxn ang="0">
                  <a:pos x="276" y="51"/>
                </a:cxn>
                <a:cxn ang="0">
                  <a:pos x="165" y="66"/>
                </a:cxn>
                <a:cxn ang="0">
                  <a:pos x="51" y="57"/>
                </a:cxn>
                <a:cxn ang="0">
                  <a:pos x="15" y="54"/>
                </a:cxn>
                <a:cxn ang="0">
                  <a:pos x="3" y="69"/>
                </a:cxn>
                <a:cxn ang="0">
                  <a:pos x="9" y="93"/>
                </a:cxn>
                <a:cxn ang="0">
                  <a:pos x="54" y="102"/>
                </a:cxn>
                <a:cxn ang="0">
                  <a:pos x="198" y="111"/>
                </a:cxn>
                <a:cxn ang="0">
                  <a:pos x="336" y="75"/>
                </a:cxn>
                <a:cxn ang="0">
                  <a:pos x="375" y="54"/>
                </a:cxn>
                <a:cxn ang="0">
                  <a:pos x="402" y="0"/>
                </a:cxn>
              </a:cxnLst>
              <a:rect l="0" t="0" r="r" b="b"/>
              <a:pathLst>
                <a:path w="402" h="115">
                  <a:moveTo>
                    <a:pt x="402" y="0"/>
                  </a:moveTo>
                  <a:lnTo>
                    <a:pt x="384" y="12"/>
                  </a:lnTo>
                  <a:cubicBezTo>
                    <a:pt x="363" y="20"/>
                    <a:pt x="312" y="42"/>
                    <a:pt x="276" y="51"/>
                  </a:cubicBezTo>
                  <a:cubicBezTo>
                    <a:pt x="240" y="60"/>
                    <a:pt x="202" y="65"/>
                    <a:pt x="165" y="66"/>
                  </a:cubicBezTo>
                  <a:cubicBezTo>
                    <a:pt x="128" y="67"/>
                    <a:pt x="76" y="59"/>
                    <a:pt x="51" y="57"/>
                  </a:cubicBezTo>
                  <a:cubicBezTo>
                    <a:pt x="26" y="55"/>
                    <a:pt x="23" y="52"/>
                    <a:pt x="15" y="54"/>
                  </a:cubicBezTo>
                  <a:cubicBezTo>
                    <a:pt x="7" y="56"/>
                    <a:pt x="4" y="63"/>
                    <a:pt x="3" y="69"/>
                  </a:cubicBezTo>
                  <a:cubicBezTo>
                    <a:pt x="2" y="75"/>
                    <a:pt x="0" y="88"/>
                    <a:pt x="9" y="93"/>
                  </a:cubicBezTo>
                  <a:cubicBezTo>
                    <a:pt x="18" y="98"/>
                    <a:pt x="22" y="99"/>
                    <a:pt x="54" y="102"/>
                  </a:cubicBezTo>
                  <a:cubicBezTo>
                    <a:pt x="86" y="105"/>
                    <a:pt x="151" y="115"/>
                    <a:pt x="198" y="111"/>
                  </a:cubicBezTo>
                  <a:cubicBezTo>
                    <a:pt x="245" y="107"/>
                    <a:pt x="307" y="84"/>
                    <a:pt x="336" y="75"/>
                  </a:cubicBezTo>
                  <a:cubicBezTo>
                    <a:pt x="365" y="66"/>
                    <a:pt x="365" y="65"/>
                    <a:pt x="375" y="54"/>
                  </a:cubicBezTo>
                  <a:cubicBezTo>
                    <a:pt x="385" y="43"/>
                    <a:pt x="392" y="26"/>
                    <a:pt x="402" y="0"/>
                  </a:cubicBezTo>
                  <a:close/>
                </a:path>
              </a:pathLst>
            </a:custGeom>
            <a:gradFill rotWithShape="0">
              <a:gsLst>
                <a:gs pos="0">
                  <a:schemeClr val="bg2"/>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zh-CN" altLang="en-US"/>
            </a:p>
          </p:txBody>
        </p:sp>
      </p:grpSp>
      <p:grpSp>
        <p:nvGrpSpPr>
          <p:cNvPr id="27" name="Group 25"/>
          <p:cNvGrpSpPr>
            <a:grpSpLocks/>
          </p:cNvGrpSpPr>
          <p:nvPr/>
        </p:nvGrpSpPr>
        <p:grpSpPr bwMode="auto">
          <a:xfrm>
            <a:off x="20638" y="6161088"/>
            <a:ext cx="9169400" cy="138112"/>
            <a:chOff x="0" y="4032"/>
            <a:chExt cx="5776" cy="87"/>
          </a:xfrm>
        </p:grpSpPr>
        <p:sp>
          <p:nvSpPr>
            <p:cNvPr id="28" name="Freeform 26"/>
            <p:cNvSpPr>
              <a:spLocks/>
            </p:cNvSpPr>
            <p:nvPr userDrawn="1"/>
          </p:nvSpPr>
          <p:spPr bwMode="auto">
            <a:xfrm>
              <a:off x="4041" y="4047"/>
              <a:ext cx="1735" cy="72"/>
            </a:xfrm>
            <a:custGeom>
              <a:avLst/>
              <a:gdLst/>
              <a:ahLst/>
              <a:cxnLst>
                <a:cxn ang="0">
                  <a:pos x="165" y="6"/>
                </a:cxn>
                <a:cxn ang="0">
                  <a:pos x="450" y="3"/>
                </a:cxn>
                <a:cxn ang="0">
                  <a:pos x="714" y="12"/>
                </a:cxn>
                <a:cxn ang="0">
                  <a:pos x="957" y="24"/>
                </a:cxn>
                <a:cxn ang="0">
                  <a:pos x="1173" y="24"/>
                </a:cxn>
                <a:cxn ang="0">
                  <a:pos x="1473" y="15"/>
                </a:cxn>
                <a:cxn ang="0">
                  <a:pos x="1617" y="0"/>
                </a:cxn>
                <a:cxn ang="0">
                  <a:pos x="1719" y="15"/>
                </a:cxn>
                <a:cxn ang="0">
                  <a:pos x="1716" y="66"/>
                </a:cxn>
                <a:cxn ang="0">
                  <a:pos x="1632" y="51"/>
                </a:cxn>
                <a:cxn ang="0">
                  <a:pos x="1407" y="51"/>
                </a:cxn>
                <a:cxn ang="0">
                  <a:pos x="1191" y="48"/>
                </a:cxn>
                <a:cxn ang="0">
                  <a:pos x="870" y="60"/>
                </a:cxn>
                <a:cxn ang="0">
                  <a:pos x="492" y="48"/>
                </a:cxn>
                <a:cxn ang="0">
                  <a:pos x="291" y="27"/>
                </a:cxn>
                <a:cxn ang="0">
                  <a:pos x="21" y="36"/>
                </a:cxn>
                <a:cxn ang="0">
                  <a:pos x="165" y="6"/>
                </a:cxn>
              </a:cxnLst>
              <a:rect l="0" t="0" r="r" b="b"/>
              <a:pathLst>
                <a:path w="1735" h="72">
                  <a:moveTo>
                    <a:pt x="165" y="6"/>
                  </a:moveTo>
                  <a:cubicBezTo>
                    <a:pt x="236" y="1"/>
                    <a:pt x="359" y="2"/>
                    <a:pt x="450" y="3"/>
                  </a:cubicBezTo>
                  <a:cubicBezTo>
                    <a:pt x="541" y="4"/>
                    <a:pt x="630" y="9"/>
                    <a:pt x="714" y="12"/>
                  </a:cubicBezTo>
                  <a:cubicBezTo>
                    <a:pt x="798" y="15"/>
                    <a:pt x="881" y="22"/>
                    <a:pt x="957" y="24"/>
                  </a:cubicBezTo>
                  <a:cubicBezTo>
                    <a:pt x="1033" y="26"/>
                    <a:pt x="1087" y="25"/>
                    <a:pt x="1173" y="24"/>
                  </a:cubicBezTo>
                  <a:cubicBezTo>
                    <a:pt x="1259" y="23"/>
                    <a:pt x="1399" y="19"/>
                    <a:pt x="1473" y="15"/>
                  </a:cubicBezTo>
                  <a:cubicBezTo>
                    <a:pt x="1547" y="11"/>
                    <a:pt x="1576" y="0"/>
                    <a:pt x="1617" y="0"/>
                  </a:cubicBezTo>
                  <a:cubicBezTo>
                    <a:pt x="1658" y="0"/>
                    <a:pt x="1703" y="4"/>
                    <a:pt x="1719" y="15"/>
                  </a:cubicBezTo>
                  <a:cubicBezTo>
                    <a:pt x="1735" y="26"/>
                    <a:pt x="1730" y="60"/>
                    <a:pt x="1716" y="66"/>
                  </a:cubicBezTo>
                  <a:cubicBezTo>
                    <a:pt x="1702" y="72"/>
                    <a:pt x="1683" y="53"/>
                    <a:pt x="1632" y="51"/>
                  </a:cubicBezTo>
                  <a:cubicBezTo>
                    <a:pt x="1581" y="49"/>
                    <a:pt x="1480" y="51"/>
                    <a:pt x="1407" y="51"/>
                  </a:cubicBezTo>
                  <a:cubicBezTo>
                    <a:pt x="1334" y="51"/>
                    <a:pt x="1280" y="47"/>
                    <a:pt x="1191" y="48"/>
                  </a:cubicBezTo>
                  <a:cubicBezTo>
                    <a:pt x="1102" y="49"/>
                    <a:pt x="986" y="60"/>
                    <a:pt x="870" y="60"/>
                  </a:cubicBezTo>
                  <a:cubicBezTo>
                    <a:pt x="754" y="60"/>
                    <a:pt x="588" y="53"/>
                    <a:pt x="492" y="48"/>
                  </a:cubicBezTo>
                  <a:cubicBezTo>
                    <a:pt x="396" y="43"/>
                    <a:pt x="369" y="29"/>
                    <a:pt x="291" y="27"/>
                  </a:cubicBezTo>
                  <a:cubicBezTo>
                    <a:pt x="213" y="25"/>
                    <a:pt x="42" y="39"/>
                    <a:pt x="21" y="36"/>
                  </a:cubicBezTo>
                  <a:cubicBezTo>
                    <a:pt x="0" y="33"/>
                    <a:pt x="94" y="11"/>
                    <a:pt x="165" y="6"/>
                  </a:cubicBezTo>
                  <a:close/>
                </a:path>
              </a:pathLst>
            </a:custGeom>
            <a:gradFill rotWithShape="0">
              <a:gsLst>
                <a:gs pos="0">
                  <a:schemeClr val="accent2"/>
                </a:gs>
                <a:gs pos="100000">
                  <a:schemeClr val="bg2"/>
                </a:gs>
              </a:gsLst>
              <a:lin ang="540000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29" name="Freeform 27"/>
            <p:cNvSpPr>
              <a:spLocks/>
            </p:cNvSpPr>
            <p:nvPr userDrawn="1"/>
          </p:nvSpPr>
          <p:spPr bwMode="auto">
            <a:xfrm>
              <a:off x="1727" y="4038"/>
              <a:ext cx="2655" cy="60"/>
            </a:xfrm>
            <a:custGeom>
              <a:avLst/>
              <a:gdLst/>
              <a:ahLst/>
              <a:cxnLst>
                <a:cxn ang="0">
                  <a:pos x="2641" y="6"/>
                </a:cxn>
                <a:cxn ang="0">
                  <a:pos x="2620" y="30"/>
                </a:cxn>
                <a:cxn ang="0">
                  <a:pos x="2368" y="45"/>
                </a:cxn>
                <a:cxn ang="0">
                  <a:pos x="2023" y="60"/>
                </a:cxn>
                <a:cxn ang="0">
                  <a:pos x="1786" y="48"/>
                </a:cxn>
                <a:cxn ang="0">
                  <a:pos x="1525" y="36"/>
                </a:cxn>
                <a:cxn ang="0">
                  <a:pos x="1195" y="45"/>
                </a:cxn>
                <a:cxn ang="0">
                  <a:pos x="817" y="39"/>
                </a:cxn>
                <a:cxn ang="0">
                  <a:pos x="499" y="27"/>
                </a:cxn>
                <a:cxn ang="0">
                  <a:pos x="136" y="39"/>
                </a:cxn>
                <a:cxn ang="0">
                  <a:pos x="10" y="33"/>
                </a:cxn>
                <a:cxn ang="0">
                  <a:pos x="76" y="24"/>
                </a:cxn>
                <a:cxn ang="0">
                  <a:pos x="310" y="18"/>
                </a:cxn>
                <a:cxn ang="0">
                  <a:pos x="544" y="0"/>
                </a:cxn>
                <a:cxn ang="0">
                  <a:pos x="853" y="21"/>
                </a:cxn>
                <a:cxn ang="0">
                  <a:pos x="1114" y="21"/>
                </a:cxn>
                <a:cxn ang="0">
                  <a:pos x="1399" y="3"/>
                </a:cxn>
                <a:cxn ang="0">
                  <a:pos x="1588" y="9"/>
                </a:cxn>
                <a:cxn ang="0">
                  <a:pos x="1807" y="21"/>
                </a:cxn>
                <a:cxn ang="0">
                  <a:pos x="2035" y="12"/>
                </a:cxn>
                <a:cxn ang="0">
                  <a:pos x="2290" y="18"/>
                </a:cxn>
                <a:cxn ang="0">
                  <a:pos x="2596" y="3"/>
                </a:cxn>
                <a:cxn ang="0">
                  <a:pos x="2641" y="6"/>
                </a:cxn>
              </a:cxnLst>
              <a:rect l="0" t="0" r="r" b="b"/>
              <a:pathLst>
                <a:path w="2655" h="60">
                  <a:moveTo>
                    <a:pt x="2641" y="6"/>
                  </a:moveTo>
                  <a:lnTo>
                    <a:pt x="2620" y="30"/>
                  </a:lnTo>
                  <a:cubicBezTo>
                    <a:pt x="2575" y="36"/>
                    <a:pt x="2467" y="40"/>
                    <a:pt x="2368" y="45"/>
                  </a:cubicBezTo>
                  <a:cubicBezTo>
                    <a:pt x="2269" y="50"/>
                    <a:pt x="2120" y="60"/>
                    <a:pt x="2023" y="60"/>
                  </a:cubicBezTo>
                  <a:cubicBezTo>
                    <a:pt x="1926" y="60"/>
                    <a:pt x="1869" y="52"/>
                    <a:pt x="1786" y="48"/>
                  </a:cubicBezTo>
                  <a:cubicBezTo>
                    <a:pt x="1703" y="44"/>
                    <a:pt x="1623" y="36"/>
                    <a:pt x="1525" y="36"/>
                  </a:cubicBezTo>
                  <a:cubicBezTo>
                    <a:pt x="1427" y="36"/>
                    <a:pt x="1313" y="44"/>
                    <a:pt x="1195" y="45"/>
                  </a:cubicBezTo>
                  <a:cubicBezTo>
                    <a:pt x="1077" y="46"/>
                    <a:pt x="933" y="42"/>
                    <a:pt x="817" y="39"/>
                  </a:cubicBezTo>
                  <a:cubicBezTo>
                    <a:pt x="701" y="36"/>
                    <a:pt x="612" y="27"/>
                    <a:pt x="499" y="27"/>
                  </a:cubicBezTo>
                  <a:cubicBezTo>
                    <a:pt x="386" y="27"/>
                    <a:pt x="217" y="38"/>
                    <a:pt x="136" y="39"/>
                  </a:cubicBezTo>
                  <a:cubicBezTo>
                    <a:pt x="55" y="40"/>
                    <a:pt x="20" y="36"/>
                    <a:pt x="10" y="33"/>
                  </a:cubicBezTo>
                  <a:cubicBezTo>
                    <a:pt x="0" y="30"/>
                    <a:pt x="26" y="27"/>
                    <a:pt x="76" y="24"/>
                  </a:cubicBezTo>
                  <a:cubicBezTo>
                    <a:pt x="126" y="21"/>
                    <a:pt x="232" y="22"/>
                    <a:pt x="310" y="18"/>
                  </a:cubicBezTo>
                  <a:cubicBezTo>
                    <a:pt x="388" y="14"/>
                    <a:pt x="454" y="0"/>
                    <a:pt x="544" y="0"/>
                  </a:cubicBezTo>
                  <a:cubicBezTo>
                    <a:pt x="634" y="0"/>
                    <a:pt x="758" y="18"/>
                    <a:pt x="853" y="21"/>
                  </a:cubicBezTo>
                  <a:cubicBezTo>
                    <a:pt x="948" y="24"/>
                    <a:pt x="1023" y="24"/>
                    <a:pt x="1114" y="21"/>
                  </a:cubicBezTo>
                  <a:cubicBezTo>
                    <a:pt x="1205" y="18"/>
                    <a:pt x="1320" y="5"/>
                    <a:pt x="1399" y="3"/>
                  </a:cubicBezTo>
                  <a:cubicBezTo>
                    <a:pt x="1478" y="1"/>
                    <a:pt x="1520" y="6"/>
                    <a:pt x="1588" y="9"/>
                  </a:cubicBezTo>
                  <a:cubicBezTo>
                    <a:pt x="1656" y="12"/>
                    <a:pt x="1733" y="21"/>
                    <a:pt x="1807" y="21"/>
                  </a:cubicBezTo>
                  <a:cubicBezTo>
                    <a:pt x="1881" y="21"/>
                    <a:pt x="1955" y="12"/>
                    <a:pt x="2035" y="12"/>
                  </a:cubicBezTo>
                  <a:cubicBezTo>
                    <a:pt x="2115" y="12"/>
                    <a:pt x="2197" y="19"/>
                    <a:pt x="2290" y="18"/>
                  </a:cubicBezTo>
                  <a:cubicBezTo>
                    <a:pt x="2383" y="17"/>
                    <a:pt x="2537" y="5"/>
                    <a:pt x="2596" y="3"/>
                  </a:cubicBezTo>
                  <a:cubicBezTo>
                    <a:pt x="2655" y="1"/>
                    <a:pt x="2651" y="3"/>
                    <a:pt x="2641" y="6"/>
                  </a:cubicBezTo>
                  <a:close/>
                </a:path>
              </a:pathLst>
            </a:custGeom>
            <a:gradFill rotWithShape="0">
              <a:gsLst>
                <a:gs pos="0">
                  <a:schemeClr val="accent2"/>
                </a:gs>
                <a:gs pos="100000">
                  <a:schemeClr val="bg2"/>
                </a:gs>
              </a:gsLst>
              <a:lin ang="5400000" scaled="1"/>
            </a:gra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30" name="Freeform 28"/>
            <p:cNvSpPr>
              <a:spLocks/>
            </p:cNvSpPr>
            <p:nvPr userDrawn="1"/>
          </p:nvSpPr>
          <p:spPr bwMode="auto">
            <a:xfrm>
              <a:off x="0" y="4032"/>
              <a:ext cx="2041" cy="62"/>
            </a:xfrm>
            <a:custGeom>
              <a:avLst/>
              <a:gdLst/>
              <a:ahLst/>
              <a:cxnLst>
                <a:cxn ang="0">
                  <a:pos x="1893" y="39"/>
                </a:cxn>
                <a:cxn ang="0">
                  <a:pos x="1578" y="45"/>
                </a:cxn>
                <a:cxn ang="0">
                  <a:pos x="1011" y="60"/>
                </a:cxn>
                <a:cxn ang="0">
                  <a:pos x="438" y="57"/>
                </a:cxn>
                <a:cxn ang="0">
                  <a:pos x="0" y="36"/>
                </a:cxn>
                <a:cxn ang="0">
                  <a:pos x="0" y="3"/>
                </a:cxn>
                <a:cxn ang="0">
                  <a:pos x="210" y="18"/>
                </a:cxn>
                <a:cxn ang="0">
                  <a:pos x="474" y="21"/>
                </a:cxn>
                <a:cxn ang="0">
                  <a:pos x="678" y="9"/>
                </a:cxn>
                <a:cxn ang="0">
                  <a:pos x="897" y="9"/>
                </a:cxn>
                <a:cxn ang="0">
                  <a:pos x="1167" y="30"/>
                </a:cxn>
                <a:cxn ang="0">
                  <a:pos x="1500" y="24"/>
                </a:cxn>
                <a:cxn ang="0">
                  <a:pos x="1758" y="3"/>
                </a:cxn>
                <a:cxn ang="0">
                  <a:pos x="1938" y="18"/>
                </a:cxn>
                <a:cxn ang="0">
                  <a:pos x="2034" y="33"/>
                </a:cxn>
                <a:cxn ang="0">
                  <a:pos x="1893" y="39"/>
                </a:cxn>
              </a:cxnLst>
              <a:rect l="0" t="0" r="r" b="b"/>
              <a:pathLst>
                <a:path w="2041" h="62">
                  <a:moveTo>
                    <a:pt x="1893" y="39"/>
                  </a:moveTo>
                  <a:cubicBezTo>
                    <a:pt x="1817" y="41"/>
                    <a:pt x="1725" y="42"/>
                    <a:pt x="1578" y="45"/>
                  </a:cubicBezTo>
                  <a:cubicBezTo>
                    <a:pt x="1431" y="48"/>
                    <a:pt x="1201" y="58"/>
                    <a:pt x="1011" y="60"/>
                  </a:cubicBezTo>
                  <a:cubicBezTo>
                    <a:pt x="821" y="62"/>
                    <a:pt x="606" y="61"/>
                    <a:pt x="438" y="57"/>
                  </a:cubicBezTo>
                  <a:cubicBezTo>
                    <a:pt x="270" y="53"/>
                    <a:pt x="73" y="45"/>
                    <a:pt x="0" y="36"/>
                  </a:cubicBezTo>
                  <a:lnTo>
                    <a:pt x="0" y="3"/>
                  </a:lnTo>
                  <a:cubicBezTo>
                    <a:pt x="35" y="0"/>
                    <a:pt x="131" y="15"/>
                    <a:pt x="210" y="18"/>
                  </a:cubicBezTo>
                  <a:cubicBezTo>
                    <a:pt x="289" y="21"/>
                    <a:pt x="396" y="22"/>
                    <a:pt x="474" y="21"/>
                  </a:cubicBezTo>
                  <a:cubicBezTo>
                    <a:pt x="552" y="20"/>
                    <a:pt x="608" y="11"/>
                    <a:pt x="678" y="9"/>
                  </a:cubicBezTo>
                  <a:cubicBezTo>
                    <a:pt x="748" y="7"/>
                    <a:pt x="816" y="6"/>
                    <a:pt x="897" y="9"/>
                  </a:cubicBezTo>
                  <a:cubicBezTo>
                    <a:pt x="978" y="12"/>
                    <a:pt x="1067" y="28"/>
                    <a:pt x="1167" y="30"/>
                  </a:cubicBezTo>
                  <a:cubicBezTo>
                    <a:pt x="1267" y="32"/>
                    <a:pt x="1402" y="28"/>
                    <a:pt x="1500" y="24"/>
                  </a:cubicBezTo>
                  <a:cubicBezTo>
                    <a:pt x="1598" y="20"/>
                    <a:pt x="1685" y="4"/>
                    <a:pt x="1758" y="3"/>
                  </a:cubicBezTo>
                  <a:cubicBezTo>
                    <a:pt x="1831" y="2"/>
                    <a:pt x="1892" y="13"/>
                    <a:pt x="1938" y="18"/>
                  </a:cubicBezTo>
                  <a:cubicBezTo>
                    <a:pt x="1984" y="23"/>
                    <a:pt x="2041" y="30"/>
                    <a:pt x="2034" y="33"/>
                  </a:cubicBezTo>
                  <a:cubicBezTo>
                    <a:pt x="2027" y="36"/>
                    <a:pt x="1969" y="37"/>
                    <a:pt x="1893" y="39"/>
                  </a:cubicBezTo>
                  <a:close/>
                </a:path>
              </a:pathLst>
            </a:custGeom>
            <a:gradFill rotWithShape="0">
              <a:gsLst>
                <a:gs pos="0">
                  <a:schemeClr val="accent2"/>
                </a:gs>
                <a:gs pos="100000">
                  <a:schemeClr val="bg2"/>
                </a:gs>
              </a:gsLst>
              <a:lin ang="5400000" scaled="1"/>
            </a:gradFill>
            <a:ln w="9525" cap="flat" cmpd="sng">
              <a:noFill/>
              <a:prstDash val="solid"/>
              <a:round/>
              <a:headEnd type="none" w="med" len="med"/>
              <a:tailEnd type="none" w="med" len="med"/>
            </a:ln>
            <a:effectLst/>
          </p:spPr>
          <p:txBody>
            <a:bodyPr wrap="none" anchor="ctr"/>
            <a:lstStyle/>
            <a:p>
              <a:pPr>
                <a:defRPr/>
              </a:pPr>
              <a:endParaRPr lang="zh-CN" altLang="en-US"/>
            </a:p>
          </p:txBody>
        </p:sp>
      </p:grpSp>
      <p:grpSp>
        <p:nvGrpSpPr>
          <p:cNvPr id="31" name="Group 36"/>
          <p:cNvGrpSpPr>
            <a:grpSpLocks/>
          </p:cNvGrpSpPr>
          <p:nvPr userDrawn="1"/>
        </p:nvGrpSpPr>
        <p:grpSpPr bwMode="auto">
          <a:xfrm>
            <a:off x="0" y="0"/>
            <a:ext cx="1296988" cy="1125538"/>
            <a:chOff x="74" y="91"/>
            <a:chExt cx="720" cy="709"/>
          </a:xfrm>
        </p:grpSpPr>
        <p:sp>
          <p:nvSpPr>
            <p:cNvPr id="32" name="Rectangle 37"/>
            <p:cNvSpPr>
              <a:spLocks noChangeArrowheads="1"/>
            </p:cNvSpPr>
            <p:nvPr userDrawn="1"/>
          </p:nvSpPr>
          <p:spPr bwMode="ltGray">
            <a:xfrm>
              <a:off x="251" y="101"/>
              <a:ext cx="276" cy="299"/>
            </a:xfrm>
            <a:prstGeom prst="rect">
              <a:avLst/>
            </a:prstGeom>
            <a:solidFill>
              <a:schemeClr val="accent2"/>
            </a:solidFill>
            <a:ln w="9525">
              <a:noFill/>
              <a:miter lim="800000"/>
              <a:headEnd/>
              <a:tailEnd/>
            </a:ln>
            <a:effectLst/>
          </p:spPr>
          <p:txBody>
            <a:bodyPr wrap="none" anchor="ctr"/>
            <a:lstStyle/>
            <a:p>
              <a:pPr algn="ctr">
                <a:defRPr/>
              </a:pPr>
              <a:endParaRPr kumimoji="1" lang="zh-CN" altLang="zh-CN" sz="2400">
                <a:latin typeface="Tahoma" pitchFamily="34" charset="0"/>
              </a:endParaRPr>
            </a:p>
          </p:txBody>
        </p:sp>
        <p:sp>
          <p:nvSpPr>
            <p:cNvPr id="33" name="Rectangle 38"/>
            <p:cNvSpPr>
              <a:spLocks noChangeArrowheads="1"/>
            </p:cNvSpPr>
            <p:nvPr userDrawn="1"/>
          </p:nvSpPr>
          <p:spPr bwMode="ltGray">
            <a:xfrm>
              <a:off x="492" y="101"/>
              <a:ext cx="207" cy="299"/>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a:defRPr/>
              </a:pPr>
              <a:endParaRPr kumimoji="1" lang="zh-CN" altLang="zh-CN" sz="2400">
                <a:latin typeface="Tahoma" pitchFamily="34" charset="0"/>
              </a:endParaRPr>
            </a:p>
          </p:txBody>
        </p:sp>
        <p:sp>
          <p:nvSpPr>
            <p:cNvPr id="34" name="Rectangle 39"/>
            <p:cNvSpPr>
              <a:spLocks noChangeArrowheads="1"/>
            </p:cNvSpPr>
            <p:nvPr userDrawn="1"/>
          </p:nvSpPr>
          <p:spPr bwMode="ltGray">
            <a:xfrm>
              <a:off x="329" y="367"/>
              <a:ext cx="266" cy="299"/>
            </a:xfrm>
            <a:prstGeom prst="rect">
              <a:avLst/>
            </a:prstGeom>
            <a:gradFill rotWithShape="1">
              <a:gsLst>
                <a:gs pos="0">
                  <a:srgbClr val="FF99CC">
                    <a:gamma/>
                    <a:shade val="46275"/>
                    <a:invGamma/>
                  </a:srgbClr>
                </a:gs>
                <a:gs pos="100000">
                  <a:srgbClr val="FF99CC"/>
                </a:gs>
              </a:gsLst>
              <a:lin ang="0" scaled="1"/>
            </a:gradFill>
            <a:ln w="9525">
              <a:noFill/>
              <a:miter lim="800000"/>
              <a:headEnd/>
              <a:tailEnd/>
            </a:ln>
            <a:effectLst/>
          </p:spPr>
          <p:txBody>
            <a:bodyPr wrap="none" anchor="ctr"/>
            <a:lstStyle/>
            <a:p>
              <a:pPr algn="ctr">
                <a:defRPr/>
              </a:pPr>
              <a:endParaRPr kumimoji="1" lang="zh-CN" altLang="zh-CN" sz="2400">
                <a:latin typeface="Tahoma" pitchFamily="34" charset="0"/>
              </a:endParaRPr>
            </a:p>
          </p:txBody>
        </p:sp>
        <p:sp>
          <p:nvSpPr>
            <p:cNvPr id="35" name="Rectangle 40"/>
            <p:cNvSpPr>
              <a:spLocks noChangeArrowheads="1"/>
            </p:cNvSpPr>
            <p:nvPr userDrawn="1"/>
          </p:nvSpPr>
          <p:spPr bwMode="ltGray">
            <a:xfrm>
              <a:off x="562" y="367"/>
              <a:ext cx="232" cy="299"/>
            </a:xfrm>
            <a:prstGeom prst="rect">
              <a:avLst/>
            </a:prstGeom>
            <a:gradFill rotWithShape="1">
              <a:gsLst>
                <a:gs pos="0">
                  <a:srgbClr val="FF99CC"/>
                </a:gs>
                <a:gs pos="100000">
                  <a:schemeClr val="bg1"/>
                </a:gs>
              </a:gsLst>
              <a:lin ang="0" scaled="1"/>
            </a:gradFill>
            <a:ln w="9525">
              <a:noFill/>
              <a:miter lim="800000"/>
              <a:headEnd/>
              <a:tailEnd/>
            </a:ln>
            <a:effectLst/>
          </p:spPr>
          <p:txBody>
            <a:bodyPr wrap="none" anchor="ctr"/>
            <a:lstStyle/>
            <a:p>
              <a:pPr algn="ctr">
                <a:defRPr/>
              </a:pPr>
              <a:endParaRPr kumimoji="1" lang="zh-CN" altLang="zh-CN" sz="2400">
                <a:latin typeface="Tahoma" pitchFamily="34" charset="0"/>
              </a:endParaRPr>
            </a:p>
          </p:txBody>
        </p:sp>
        <p:sp>
          <p:nvSpPr>
            <p:cNvPr id="36" name="Rectangle 41"/>
            <p:cNvSpPr>
              <a:spLocks noChangeArrowheads="1"/>
            </p:cNvSpPr>
            <p:nvPr userDrawn="1"/>
          </p:nvSpPr>
          <p:spPr bwMode="ltGray">
            <a:xfrm>
              <a:off x="74" y="321"/>
              <a:ext cx="353" cy="266"/>
            </a:xfrm>
            <a:prstGeom prst="rect">
              <a:avLst/>
            </a:prstGeom>
            <a:gradFill rotWithShape="0">
              <a:gsLst>
                <a:gs pos="0">
                  <a:schemeClr val="hlink"/>
                </a:gs>
                <a:gs pos="100000">
                  <a:schemeClr val="bg1"/>
                </a:gs>
              </a:gsLst>
              <a:lin ang="0" scaled="1"/>
            </a:gradFill>
            <a:ln w="9525">
              <a:noFill/>
              <a:miter lim="800000"/>
              <a:headEnd/>
              <a:tailEnd/>
            </a:ln>
            <a:effectLst/>
          </p:spPr>
          <p:txBody>
            <a:bodyPr wrap="none" anchor="ctr"/>
            <a:lstStyle/>
            <a:p>
              <a:pPr algn="ctr">
                <a:defRPr/>
              </a:pPr>
              <a:endParaRPr kumimoji="1" lang="zh-CN" altLang="zh-CN" sz="2400">
                <a:latin typeface="Tahoma" pitchFamily="34" charset="0"/>
              </a:endParaRPr>
            </a:p>
          </p:txBody>
        </p:sp>
        <p:sp>
          <p:nvSpPr>
            <p:cNvPr id="37" name="Rectangle 42"/>
            <p:cNvSpPr>
              <a:spLocks noChangeArrowheads="1"/>
            </p:cNvSpPr>
            <p:nvPr userDrawn="1"/>
          </p:nvSpPr>
          <p:spPr bwMode="gray">
            <a:xfrm>
              <a:off x="158" y="91"/>
              <a:ext cx="20" cy="663"/>
            </a:xfrm>
            <a:prstGeom prst="rect">
              <a:avLst/>
            </a:prstGeom>
            <a:gradFill rotWithShape="1">
              <a:gsLst>
                <a:gs pos="0">
                  <a:schemeClr val="accent2"/>
                </a:gs>
                <a:gs pos="100000">
                  <a:schemeClr val="hlink"/>
                </a:gs>
              </a:gsLst>
              <a:lin ang="5400000" scaled="1"/>
            </a:gradFill>
            <a:ln w="9525">
              <a:noFill/>
              <a:miter lim="800000"/>
              <a:headEnd/>
              <a:tailEnd/>
            </a:ln>
            <a:effectLst/>
          </p:spPr>
          <p:txBody>
            <a:bodyPr wrap="none" anchor="ctr"/>
            <a:lstStyle/>
            <a:p>
              <a:pPr algn="ctr">
                <a:defRPr/>
              </a:pPr>
              <a:endParaRPr kumimoji="1" lang="zh-CN" altLang="zh-CN" sz="2400">
                <a:latin typeface="Tahoma" pitchFamily="34" charset="0"/>
              </a:endParaRPr>
            </a:p>
          </p:txBody>
        </p:sp>
        <p:sp>
          <p:nvSpPr>
            <p:cNvPr id="38" name="WordArt 43"/>
            <p:cNvSpPr>
              <a:spLocks noChangeArrowheads="1" noChangeShapeType="1" noTextEdit="1"/>
            </p:cNvSpPr>
            <p:nvPr userDrawn="1"/>
          </p:nvSpPr>
          <p:spPr bwMode="auto">
            <a:xfrm>
              <a:off x="113" y="255"/>
              <a:ext cx="544" cy="545"/>
            </a:xfrm>
            <a:prstGeom prst="rect">
              <a:avLst/>
            </a:prstGeom>
          </p:spPr>
          <p:txBody>
            <a:bodyPr spcFirstLastPara="1" wrap="none" fromWordArt="1">
              <a:prstTxWarp prst="textArchUp">
                <a:avLst>
                  <a:gd name="adj" fmla="val 10800004"/>
                </a:avLst>
              </a:prstTxWarp>
            </a:bodyPr>
            <a:lstStyle/>
            <a:p>
              <a:pPr algn="ctr"/>
              <a:r>
                <a:rPr lang="en-US" altLang="zh-CN" sz="1600" kern="10">
                  <a:ln w="9525">
                    <a:solidFill>
                      <a:srgbClr val="339966"/>
                    </a:solidFill>
                    <a:round/>
                    <a:headEnd/>
                    <a:tailEnd/>
                  </a:ln>
                  <a:solidFill>
                    <a:srgbClr val="339966"/>
                  </a:solidFill>
                  <a:latin typeface="BatangChe"/>
                  <a:ea typeface="BatangChe"/>
                </a:rPr>
                <a:t>Statistics</a:t>
              </a:r>
              <a:endParaRPr lang="zh-CN" altLang="en-US" sz="1600" kern="10">
                <a:ln w="9525">
                  <a:solidFill>
                    <a:srgbClr val="339966"/>
                  </a:solidFill>
                  <a:round/>
                  <a:headEnd/>
                  <a:tailEnd/>
                </a:ln>
                <a:solidFill>
                  <a:srgbClr val="339966"/>
                </a:solidFill>
                <a:latin typeface="BatangChe"/>
                <a:ea typeface="BatangChe"/>
              </a:endParaRPr>
            </a:p>
          </p:txBody>
        </p:sp>
      </p:grpSp>
      <p:sp>
        <p:nvSpPr>
          <p:cNvPr id="5149" name="Rectangle 29"/>
          <p:cNvSpPr>
            <a:spLocks noGrp="1" noChangeArrowheads="1"/>
          </p:cNvSpPr>
          <p:nvPr>
            <p:ph type="ctrTitle" sz="quarter"/>
          </p:nvPr>
        </p:nvSpPr>
        <p:spPr>
          <a:xfrm>
            <a:off x="685800" y="1868488"/>
            <a:ext cx="7772400" cy="1600200"/>
          </a:xfrm>
        </p:spPr>
        <p:txBody>
          <a:bodyPr anchorCtr="1"/>
          <a:lstStyle>
            <a:lvl1pPr>
              <a:defRPr/>
            </a:lvl1pPr>
          </a:lstStyle>
          <a:p>
            <a:r>
              <a:rPr lang="zh-CN" altLang="en-US"/>
              <a:t>单击此处编辑母版标题样式</a:t>
            </a:r>
          </a:p>
        </p:txBody>
      </p:sp>
      <p:sp>
        <p:nvSpPr>
          <p:cNvPr id="5150" name="Rectangle 30"/>
          <p:cNvSpPr>
            <a:spLocks noGrp="1" noChangeArrowheads="1"/>
          </p:cNvSpPr>
          <p:nvPr>
            <p:ph type="subTitle" sz="quarter" idx="1"/>
          </p:nvPr>
        </p:nvSpPr>
        <p:spPr>
          <a:xfrm>
            <a:off x="1273175" y="3729038"/>
            <a:ext cx="6400800" cy="1371600"/>
          </a:xfrm>
        </p:spPr>
        <p:txBody>
          <a:bodyPr anchorCtr="1"/>
          <a:lstStyle>
            <a:lvl1pPr marL="0" indent="0" algn="ctr">
              <a:buFontTx/>
              <a:buNone/>
              <a:defRPr>
                <a:solidFill>
                  <a:srgbClr val="3333FF"/>
                </a:solidFill>
              </a:defRPr>
            </a:lvl1pPr>
          </a:lstStyle>
          <a:p>
            <a:r>
              <a:rPr lang="zh-CN" altLang="en-US"/>
              <a:t>单击此处编辑母版副标题样式</a:t>
            </a:r>
          </a:p>
        </p:txBody>
      </p:sp>
      <p:sp>
        <p:nvSpPr>
          <p:cNvPr id="39" name="Rectangle 32"/>
          <p:cNvSpPr>
            <a:spLocks noGrp="1" noChangeArrowheads="1"/>
          </p:cNvSpPr>
          <p:nvPr>
            <p:ph type="ftr" sz="quarter" idx="10"/>
          </p:nvPr>
        </p:nvSpPr>
        <p:spPr>
          <a:xfrm>
            <a:off x="3124200" y="6348413"/>
            <a:ext cx="2895600" cy="457200"/>
          </a:xfrm>
        </p:spPr>
        <p:txBody>
          <a:bodyPr/>
          <a:lstStyle>
            <a:lvl1pPr>
              <a:defRPr/>
            </a:lvl1pPr>
          </a:lstStyle>
          <a:p>
            <a:pPr>
              <a:defRPr/>
            </a:pPr>
            <a:endParaRPr lang="en-US" altLang="zh-CN"/>
          </a:p>
        </p:txBody>
      </p:sp>
      <p:pic>
        <p:nvPicPr>
          <p:cNvPr id="41" name="Picture 34"/>
          <p:cNvPicPr>
            <a:picLocks noChangeAspect="1" noChangeArrowheads="1"/>
          </p:cNvPicPr>
          <p:nvPr userDrawn="1"/>
        </p:nvPicPr>
        <p:blipFill>
          <a:blip r:embed="rId2" cstate="print"/>
          <a:srcRect/>
          <a:stretch>
            <a:fillRect/>
          </a:stretch>
        </p:blipFill>
        <p:spPr bwMode="auto">
          <a:xfrm>
            <a:off x="8072462" y="0"/>
            <a:ext cx="1071538" cy="1047151"/>
          </a:xfrm>
          <a:prstGeom prst="rect">
            <a:avLst/>
          </a:prstGeom>
          <a:noFill/>
          <a:ln w="9525">
            <a:noFill/>
            <a:miter lim="800000"/>
            <a:headEnd/>
            <a:tailEnd/>
          </a:ln>
        </p:spPr>
      </p:pic>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32"/>
          <p:cNvSpPr>
            <a:spLocks noGrp="1" noChangeArrowheads="1"/>
          </p:cNvSpPr>
          <p:nvPr>
            <p:ph type="ftr" sz="quarter" idx="11"/>
          </p:nvPr>
        </p:nvSpPr>
        <p:spPr>
          <a:ln/>
        </p:spPr>
        <p:txBody>
          <a:bodyPr/>
          <a:lstStyle>
            <a:lvl1pPr>
              <a:defRPr/>
            </a:lvl1pPr>
          </a:lstStyle>
          <a:p>
            <a:pPr>
              <a:defRPr/>
            </a:pPr>
            <a:endParaRPr lang="en-US" altLang="zh-CN"/>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32"/>
          <p:cNvSpPr>
            <a:spLocks noGrp="1" noChangeArrowheads="1"/>
          </p:cNvSpPr>
          <p:nvPr>
            <p:ph type="ftr" sz="quarter" idx="11"/>
          </p:nvPr>
        </p:nvSpPr>
        <p:spPr>
          <a:ln/>
        </p:spPr>
        <p:txBody>
          <a:bodyPr/>
          <a:lstStyle>
            <a:lvl1pPr>
              <a:defRPr/>
            </a:lvl1pPr>
          </a:lstStyle>
          <a:p>
            <a:pPr>
              <a:defRPr/>
            </a:pPr>
            <a:endParaRPr lang="en-US" altLang="zh-CN"/>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762000" y="15240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24400" y="15240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2"/>
          <p:cNvSpPr>
            <a:spLocks noGrp="1" noChangeArrowheads="1"/>
          </p:cNvSpPr>
          <p:nvPr>
            <p:ph type="ftr" sz="quarter" idx="11"/>
          </p:nvPr>
        </p:nvSpPr>
        <p:spPr>
          <a:ln/>
        </p:spPr>
        <p:txBody>
          <a:bodyPr/>
          <a:lstStyle>
            <a:lvl1pPr>
              <a:defRPr/>
            </a:lvl1pPr>
          </a:lstStyle>
          <a:p>
            <a:pPr>
              <a:defRPr/>
            </a:pPr>
            <a:endParaRPr lang="en-US" altLang="zh-CN"/>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32"/>
          <p:cNvSpPr>
            <a:spLocks noGrp="1" noChangeArrowheads="1"/>
          </p:cNvSpPr>
          <p:nvPr>
            <p:ph type="ftr" sz="quarter" idx="11"/>
          </p:nvPr>
        </p:nvSpPr>
        <p:spPr>
          <a:ln/>
        </p:spPr>
        <p:txBody>
          <a:bodyPr/>
          <a:lstStyle>
            <a:lvl1pPr>
              <a:defRPr/>
            </a:lvl1pPr>
          </a:lstStyle>
          <a:p>
            <a:pPr>
              <a:defRPr/>
            </a:pPr>
            <a:endParaRPr lang="en-US" altLang="zh-CN"/>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32"/>
          <p:cNvSpPr>
            <a:spLocks noGrp="1" noChangeArrowheads="1"/>
          </p:cNvSpPr>
          <p:nvPr>
            <p:ph type="ftr" sz="quarter" idx="11"/>
          </p:nvPr>
        </p:nvSpPr>
        <p:spPr>
          <a:ln/>
        </p:spPr>
        <p:txBody>
          <a:bodyPr/>
          <a:lstStyle>
            <a:lvl1pPr>
              <a:defRPr/>
            </a:lvl1pPr>
          </a:lstStyle>
          <a:p>
            <a:pPr>
              <a:defRPr/>
            </a:pPr>
            <a:endParaRPr lang="en-US" altLang="zh-CN"/>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32"/>
          <p:cNvSpPr>
            <a:spLocks noGrp="1" noChangeArrowheads="1"/>
          </p:cNvSpPr>
          <p:nvPr>
            <p:ph type="ftr" sz="quarter" idx="11"/>
          </p:nvPr>
        </p:nvSpPr>
        <p:spPr>
          <a:ln/>
        </p:spPr>
        <p:txBody>
          <a:bodyPr/>
          <a:lstStyle>
            <a:lvl1pPr>
              <a:defRPr/>
            </a:lvl1pPr>
          </a:lstStyle>
          <a:p>
            <a:pPr>
              <a:defRPr/>
            </a:pPr>
            <a:endParaRPr lang="en-US" altLang="zh-CN"/>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2"/>
          <p:cNvSpPr>
            <a:spLocks noGrp="1" noChangeArrowheads="1"/>
          </p:cNvSpPr>
          <p:nvPr>
            <p:ph type="ftr" sz="quarter" idx="11"/>
          </p:nvPr>
        </p:nvSpPr>
        <p:spPr>
          <a:ln/>
        </p:spPr>
        <p:txBody>
          <a:bodyPr/>
          <a:lstStyle>
            <a:lvl1pPr>
              <a:defRPr/>
            </a:lvl1pPr>
          </a:lstStyle>
          <a:p>
            <a:pPr>
              <a:defRPr/>
            </a:pPr>
            <a:endParaRPr lang="en-US" altLang="zh-CN"/>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2"/>
          <p:cNvSpPr>
            <a:spLocks noGrp="1" noChangeArrowheads="1"/>
          </p:cNvSpPr>
          <p:nvPr>
            <p:ph type="ftr" sz="quarter" idx="11"/>
          </p:nvPr>
        </p:nvSpPr>
        <p:spPr>
          <a:ln/>
        </p:spPr>
        <p:txBody>
          <a:bodyPr/>
          <a:lstStyle>
            <a:lvl1pPr>
              <a:defRPr/>
            </a:lvl1pPr>
          </a:lstStyle>
          <a:p>
            <a:pPr>
              <a:defRPr/>
            </a:pPr>
            <a:endParaRPr lang="en-US" altLang="zh-CN"/>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32"/>
          <p:cNvSpPr>
            <a:spLocks noGrp="1" noChangeArrowheads="1"/>
          </p:cNvSpPr>
          <p:nvPr>
            <p:ph type="ftr" sz="quarter" idx="11"/>
          </p:nvPr>
        </p:nvSpPr>
        <p:spPr>
          <a:ln/>
        </p:spPr>
        <p:txBody>
          <a:bodyPr/>
          <a:lstStyle>
            <a:lvl1pPr>
              <a:defRPr/>
            </a:lvl1pPr>
          </a:lstStyle>
          <a:p>
            <a:pPr>
              <a:defRPr/>
            </a:pPr>
            <a:endParaRPr lang="en-US" altLang="zh-CN"/>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228600"/>
            <a:ext cx="1962150" cy="6019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762000" y="228600"/>
            <a:ext cx="5734050" cy="60198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32"/>
          <p:cNvSpPr>
            <a:spLocks noGrp="1" noChangeArrowheads="1"/>
          </p:cNvSpPr>
          <p:nvPr>
            <p:ph type="ftr" sz="quarter" idx="11"/>
          </p:nvPr>
        </p:nvSpPr>
        <p:spPr>
          <a:ln/>
        </p:spPr>
        <p:txBody>
          <a:bodyPr/>
          <a:lstStyle>
            <a:lvl1pPr>
              <a:defRPr/>
            </a:lvl1pPr>
          </a:lstStyle>
          <a:p>
            <a:pPr>
              <a:defRPr/>
            </a:pPr>
            <a:endParaRPr lang="en-US" altLang="zh-CN"/>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38200" y="228600"/>
            <a:ext cx="7772400" cy="9906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762000" y="1524000"/>
            <a:ext cx="7772400" cy="4724400"/>
          </a:xfrm>
        </p:spPr>
        <p:txBody>
          <a:bodyPr/>
          <a:lstStyle/>
          <a:p>
            <a:pPr lvl="0"/>
            <a:endParaRPr lang="zh-CN" altLang="en-US" noProof="0" smtClean="0"/>
          </a:p>
        </p:txBody>
      </p:sp>
      <p:sp>
        <p:nvSpPr>
          <p:cNvPr id="4"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32"/>
          <p:cNvSpPr>
            <a:spLocks noGrp="1" noChangeArrowheads="1"/>
          </p:cNvSpPr>
          <p:nvPr>
            <p:ph type="ftr" sz="quarter" idx="11"/>
          </p:nvPr>
        </p:nvSpPr>
        <p:spPr>
          <a:ln/>
        </p:spPr>
        <p:txBody>
          <a:bodyPr/>
          <a:lstStyle>
            <a:lvl1pPr>
              <a:defRPr/>
            </a:lvl1pPr>
          </a:lstStyle>
          <a:p>
            <a:pPr>
              <a:defRPr/>
            </a:pPr>
            <a:endParaRPr lang="en-US" altLang="zh-CN"/>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228600"/>
            <a:ext cx="7772400" cy="9906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762000" y="1524000"/>
            <a:ext cx="3810000" cy="47244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24400" y="1524000"/>
            <a:ext cx="3810000" cy="47244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2"/>
          <p:cNvSpPr>
            <a:spLocks noGrp="1" noChangeArrowheads="1"/>
          </p:cNvSpPr>
          <p:nvPr>
            <p:ph type="ftr" sz="quarter" idx="11"/>
          </p:nvPr>
        </p:nvSpPr>
        <p:spPr>
          <a:ln/>
        </p:spPr>
        <p:txBody>
          <a:bodyPr/>
          <a:lstStyle>
            <a:lvl1pPr>
              <a:defRPr/>
            </a:lvl1pPr>
          </a:lstStyle>
          <a:p>
            <a:pPr>
              <a:defRPr/>
            </a:pPr>
            <a:endParaRPr lang="en-US" altLang="zh-CN"/>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228600"/>
            <a:ext cx="7772400" cy="9906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762000" y="1524000"/>
            <a:ext cx="3810000" cy="47244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724400" y="1524000"/>
            <a:ext cx="3810000" cy="2286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724400" y="3962400"/>
            <a:ext cx="3810000" cy="2286000"/>
          </a:xfrm>
        </p:spPr>
        <p:txBody>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6"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32"/>
          <p:cNvSpPr>
            <a:spLocks noGrp="1" noChangeArrowheads="1"/>
          </p:cNvSpPr>
          <p:nvPr>
            <p:ph type="ftr" sz="quarter" idx="11"/>
          </p:nvPr>
        </p:nvSpPr>
        <p:spPr>
          <a:ln/>
        </p:spPr>
        <p:txBody>
          <a:bodyPr/>
          <a:lstStyle>
            <a:lvl1pPr>
              <a:defRPr/>
            </a:lvl1pPr>
          </a:lstStyle>
          <a:p>
            <a:pPr>
              <a:defRPr/>
            </a:pPr>
            <a:endParaRPr lang="en-US" altLang="zh-CN"/>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21" Type="http://schemas.openxmlformats.org/officeDocument/2006/relationships/image" Target="../media/image6.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eg"/><Relationship Id="rId20"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7.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6" cstate="print"/>
          <a:srcRect/>
          <a:tile tx="0" ty="0" sx="100000" sy="100000" flip="none" algn="tl"/>
        </a:blipFill>
        <a:effectLst/>
      </p:bgPr>
    </p:bg>
    <p:spTree>
      <p:nvGrpSpPr>
        <p:cNvPr id="1" name=""/>
        <p:cNvGrpSpPr/>
        <p:nvPr/>
      </p:nvGrpSpPr>
      <p:grpSpPr>
        <a:xfrm>
          <a:off x="0" y="0"/>
          <a:ext cx="0" cy="0"/>
          <a:chOff x="0" y="0"/>
          <a:chExt cx="0" cy="0"/>
        </a:xfrm>
      </p:grpSpPr>
      <p:pic>
        <p:nvPicPr>
          <p:cNvPr id="42" name="Picture 34"/>
          <p:cNvPicPr>
            <a:picLocks noChangeAspect="1" noChangeArrowheads="1"/>
          </p:cNvPicPr>
          <p:nvPr userDrawn="1"/>
        </p:nvPicPr>
        <p:blipFill>
          <a:blip r:embed="rId17" cstate="print"/>
          <a:srcRect/>
          <a:stretch>
            <a:fillRect/>
          </a:stretch>
        </p:blipFill>
        <p:spPr bwMode="auto">
          <a:xfrm>
            <a:off x="8358214" y="1"/>
            <a:ext cx="785786" cy="785794"/>
          </a:xfrm>
          <a:prstGeom prst="rect">
            <a:avLst/>
          </a:prstGeom>
          <a:noFill/>
          <a:ln w="9525">
            <a:noFill/>
            <a:miter lim="800000"/>
            <a:headEnd/>
            <a:tailEnd/>
          </a:ln>
        </p:spPr>
      </p:pic>
      <p:grpSp>
        <p:nvGrpSpPr>
          <p:cNvPr id="70658" name="Group 2"/>
          <p:cNvGrpSpPr>
            <a:grpSpLocks/>
          </p:cNvGrpSpPr>
          <p:nvPr/>
        </p:nvGrpSpPr>
        <p:grpSpPr bwMode="auto">
          <a:xfrm>
            <a:off x="0" y="0"/>
            <a:ext cx="9156700" cy="757238"/>
            <a:chOff x="0" y="0"/>
            <a:chExt cx="5768" cy="477"/>
          </a:xfrm>
        </p:grpSpPr>
        <p:sp>
          <p:nvSpPr>
            <p:cNvPr id="4099" name="Freeform 3"/>
            <p:cNvSpPr>
              <a:spLocks/>
            </p:cNvSpPr>
            <p:nvPr userDrawn="1"/>
          </p:nvSpPr>
          <p:spPr bwMode="auto">
            <a:xfrm>
              <a:off x="5" y="0"/>
              <a:ext cx="5763" cy="477"/>
            </a:xfrm>
            <a:custGeom>
              <a:avLst/>
              <a:gdLst/>
              <a:ahLst/>
              <a:cxnLst>
                <a:cxn ang="0">
                  <a:pos x="0" y="450"/>
                </a:cxn>
                <a:cxn ang="0">
                  <a:pos x="3" y="0"/>
                </a:cxn>
                <a:cxn ang="0">
                  <a:pos x="5763" y="0"/>
                </a:cxn>
                <a:cxn ang="0">
                  <a:pos x="5763" y="465"/>
                </a:cxn>
                <a:cxn ang="0">
                  <a:pos x="4821" y="477"/>
                </a:cxn>
                <a:cxn ang="0">
                  <a:pos x="4326" y="447"/>
                </a:cxn>
                <a:cxn ang="0">
                  <a:pos x="3783" y="465"/>
                </a:cxn>
                <a:cxn ang="0">
                  <a:pos x="3417" y="456"/>
                </a:cxn>
                <a:cxn ang="0">
                  <a:pos x="2973" y="459"/>
                </a:cxn>
                <a:cxn ang="0">
                  <a:pos x="2451" y="453"/>
                </a:cxn>
                <a:cxn ang="0">
                  <a:pos x="2289" y="441"/>
                </a:cxn>
                <a:cxn ang="0">
                  <a:pos x="2010" y="453"/>
                </a:cxn>
                <a:cxn ang="0">
                  <a:pos x="1827" y="450"/>
                </a:cxn>
                <a:cxn ang="0">
                  <a:pos x="1215" y="465"/>
                </a:cxn>
                <a:cxn ang="0">
                  <a:pos x="660" y="456"/>
                </a:cxn>
                <a:cxn ang="0">
                  <a:pos x="0" y="450"/>
                </a:cxn>
              </a:cxnLst>
              <a:rect l="0" t="0" r="r" b="b"/>
              <a:pathLst>
                <a:path w="5763" h="477">
                  <a:moveTo>
                    <a:pt x="0" y="450"/>
                  </a:moveTo>
                  <a:lnTo>
                    <a:pt x="3" y="0"/>
                  </a:lnTo>
                  <a:lnTo>
                    <a:pt x="5763" y="0"/>
                  </a:lnTo>
                  <a:lnTo>
                    <a:pt x="5763" y="465"/>
                  </a:lnTo>
                  <a:lnTo>
                    <a:pt x="4821" y="477"/>
                  </a:lnTo>
                  <a:lnTo>
                    <a:pt x="4326" y="447"/>
                  </a:lnTo>
                  <a:lnTo>
                    <a:pt x="3783" y="465"/>
                  </a:lnTo>
                  <a:lnTo>
                    <a:pt x="3417" y="456"/>
                  </a:lnTo>
                  <a:lnTo>
                    <a:pt x="2973" y="459"/>
                  </a:lnTo>
                  <a:lnTo>
                    <a:pt x="2451" y="453"/>
                  </a:lnTo>
                  <a:lnTo>
                    <a:pt x="2289" y="441"/>
                  </a:lnTo>
                  <a:lnTo>
                    <a:pt x="2010" y="453"/>
                  </a:lnTo>
                  <a:lnTo>
                    <a:pt x="1827" y="450"/>
                  </a:lnTo>
                  <a:lnTo>
                    <a:pt x="1215" y="465"/>
                  </a:lnTo>
                  <a:lnTo>
                    <a:pt x="660" y="456"/>
                  </a:lnTo>
                  <a:lnTo>
                    <a:pt x="0" y="450"/>
                  </a:lnTo>
                  <a:close/>
                </a:path>
              </a:pathLst>
            </a:custGeom>
            <a:solidFill>
              <a:schemeClr val="accent1">
                <a:alpha val="50000"/>
              </a:schemeClr>
            </a:solidFill>
            <a:ln w="9525" cap="flat" cmpd="sng">
              <a:noFill/>
              <a:prstDash val="solid"/>
              <a:round/>
              <a:headEnd/>
              <a:tailEnd/>
            </a:ln>
            <a:effectLst/>
          </p:spPr>
          <p:txBody>
            <a:bodyPr wrap="none" anchor="ctr"/>
            <a:lstStyle/>
            <a:p>
              <a:pPr>
                <a:defRPr/>
              </a:pPr>
              <a:endParaRPr lang="zh-CN" altLang="en-US"/>
            </a:p>
          </p:txBody>
        </p:sp>
        <p:sp>
          <p:nvSpPr>
            <p:cNvPr id="4100" name="Freeform 4"/>
            <p:cNvSpPr>
              <a:spLocks/>
            </p:cNvSpPr>
            <p:nvPr userDrawn="1"/>
          </p:nvSpPr>
          <p:spPr bwMode="auto">
            <a:xfrm>
              <a:off x="0" y="98"/>
              <a:ext cx="256" cy="253"/>
            </a:xfrm>
            <a:custGeom>
              <a:avLst/>
              <a:gdLst/>
              <a:ahLst/>
              <a:cxnLst>
                <a:cxn ang="0">
                  <a:pos x="8" y="190"/>
                </a:cxn>
                <a:cxn ang="0">
                  <a:pos x="71" y="115"/>
                </a:cxn>
                <a:cxn ang="0">
                  <a:pos x="203" y="16"/>
                </a:cxn>
                <a:cxn ang="0">
                  <a:pos x="251" y="19"/>
                </a:cxn>
                <a:cxn ang="0">
                  <a:pos x="236" y="46"/>
                </a:cxn>
                <a:cxn ang="0">
                  <a:pos x="176" y="82"/>
                </a:cxn>
                <a:cxn ang="0">
                  <a:pos x="92" y="154"/>
                </a:cxn>
                <a:cxn ang="0">
                  <a:pos x="23" y="247"/>
                </a:cxn>
                <a:cxn ang="0">
                  <a:pos x="8" y="190"/>
                </a:cxn>
              </a:cxnLst>
              <a:rect l="0" t="0" r="r" b="b"/>
              <a:pathLst>
                <a:path w="256" h="253">
                  <a:moveTo>
                    <a:pt x="8" y="190"/>
                  </a:moveTo>
                  <a:cubicBezTo>
                    <a:pt x="16" y="168"/>
                    <a:pt x="38" y="144"/>
                    <a:pt x="71" y="115"/>
                  </a:cubicBezTo>
                  <a:cubicBezTo>
                    <a:pt x="104" y="86"/>
                    <a:pt x="173" y="32"/>
                    <a:pt x="203" y="16"/>
                  </a:cubicBezTo>
                  <a:cubicBezTo>
                    <a:pt x="233" y="0"/>
                    <a:pt x="246" y="14"/>
                    <a:pt x="251" y="19"/>
                  </a:cubicBezTo>
                  <a:cubicBezTo>
                    <a:pt x="256" y="24"/>
                    <a:pt x="249" y="35"/>
                    <a:pt x="236" y="46"/>
                  </a:cubicBezTo>
                  <a:cubicBezTo>
                    <a:pt x="223" y="57"/>
                    <a:pt x="200" y="64"/>
                    <a:pt x="176" y="82"/>
                  </a:cubicBezTo>
                  <a:cubicBezTo>
                    <a:pt x="152" y="100"/>
                    <a:pt x="118" y="126"/>
                    <a:pt x="92" y="154"/>
                  </a:cubicBezTo>
                  <a:cubicBezTo>
                    <a:pt x="66" y="182"/>
                    <a:pt x="36" y="241"/>
                    <a:pt x="23" y="247"/>
                  </a:cubicBezTo>
                  <a:cubicBezTo>
                    <a:pt x="10" y="253"/>
                    <a:pt x="0" y="212"/>
                    <a:pt x="8" y="190"/>
                  </a:cubicBezTo>
                  <a:close/>
                </a:path>
              </a:pathLst>
            </a:custGeom>
            <a:solidFill>
              <a:schemeClr val="accent1"/>
            </a:solidFill>
            <a:ln w="9525">
              <a:noFill/>
              <a:round/>
              <a:headEnd/>
              <a:tailEnd/>
            </a:ln>
            <a:effectLst/>
          </p:spPr>
          <p:txBody>
            <a:bodyPr wrap="none" anchor="ctr"/>
            <a:lstStyle/>
            <a:p>
              <a:pPr>
                <a:defRPr/>
              </a:pPr>
              <a:endParaRPr lang="zh-CN" altLang="en-US"/>
            </a:p>
          </p:txBody>
        </p:sp>
        <p:sp>
          <p:nvSpPr>
            <p:cNvPr id="4101" name="Freeform 5"/>
            <p:cNvSpPr>
              <a:spLocks/>
            </p:cNvSpPr>
            <p:nvPr userDrawn="1"/>
          </p:nvSpPr>
          <p:spPr bwMode="auto">
            <a:xfrm>
              <a:off x="56" y="0"/>
              <a:ext cx="708" cy="459"/>
            </a:xfrm>
            <a:custGeom>
              <a:avLst/>
              <a:gdLst/>
              <a:ahLst/>
              <a:cxnLst>
                <a:cxn ang="0">
                  <a:pos x="0" y="432"/>
                </a:cxn>
                <a:cxn ang="0">
                  <a:pos x="0" y="453"/>
                </a:cxn>
                <a:cxn ang="0">
                  <a:pos x="72" y="324"/>
                </a:cxn>
                <a:cxn ang="0">
                  <a:pos x="198" y="201"/>
                </a:cxn>
                <a:cxn ang="0">
                  <a:pos x="366" y="102"/>
                </a:cxn>
                <a:cxn ang="0">
                  <a:pos x="531" y="36"/>
                </a:cxn>
                <a:cxn ang="0">
                  <a:pos x="609" y="0"/>
                </a:cxn>
                <a:cxn ang="0">
                  <a:pos x="708" y="3"/>
                </a:cxn>
                <a:cxn ang="0">
                  <a:pos x="591" y="66"/>
                </a:cxn>
                <a:cxn ang="0">
                  <a:pos x="417" y="126"/>
                </a:cxn>
                <a:cxn ang="0">
                  <a:pos x="237" y="231"/>
                </a:cxn>
                <a:cxn ang="0">
                  <a:pos x="117" y="345"/>
                </a:cxn>
                <a:cxn ang="0">
                  <a:pos x="51" y="459"/>
                </a:cxn>
                <a:cxn ang="0">
                  <a:pos x="0" y="453"/>
                </a:cxn>
              </a:cxnLst>
              <a:rect l="0" t="0" r="r" b="b"/>
              <a:pathLst>
                <a:path w="708" h="459">
                  <a:moveTo>
                    <a:pt x="0" y="432"/>
                  </a:moveTo>
                  <a:lnTo>
                    <a:pt x="0" y="453"/>
                  </a:lnTo>
                  <a:cubicBezTo>
                    <a:pt x="12" y="435"/>
                    <a:pt x="39" y="366"/>
                    <a:pt x="72" y="324"/>
                  </a:cubicBezTo>
                  <a:cubicBezTo>
                    <a:pt x="105" y="282"/>
                    <a:pt x="149" y="238"/>
                    <a:pt x="198" y="201"/>
                  </a:cubicBezTo>
                  <a:cubicBezTo>
                    <a:pt x="247" y="164"/>
                    <a:pt x="311" y="129"/>
                    <a:pt x="366" y="102"/>
                  </a:cubicBezTo>
                  <a:cubicBezTo>
                    <a:pt x="421" y="75"/>
                    <a:pt x="490" y="53"/>
                    <a:pt x="531" y="36"/>
                  </a:cubicBezTo>
                  <a:cubicBezTo>
                    <a:pt x="572" y="19"/>
                    <a:pt x="580" y="5"/>
                    <a:pt x="609" y="0"/>
                  </a:cubicBezTo>
                  <a:lnTo>
                    <a:pt x="708" y="3"/>
                  </a:lnTo>
                  <a:cubicBezTo>
                    <a:pt x="705" y="14"/>
                    <a:pt x="640" y="45"/>
                    <a:pt x="591" y="66"/>
                  </a:cubicBezTo>
                  <a:cubicBezTo>
                    <a:pt x="542" y="87"/>
                    <a:pt x="476" y="98"/>
                    <a:pt x="417" y="126"/>
                  </a:cubicBezTo>
                  <a:cubicBezTo>
                    <a:pt x="358" y="154"/>
                    <a:pt x="287" y="195"/>
                    <a:pt x="237" y="231"/>
                  </a:cubicBezTo>
                  <a:cubicBezTo>
                    <a:pt x="187" y="267"/>
                    <a:pt x="148" y="307"/>
                    <a:pt x="117" y="345"/>
                  </a:cubicBezTo>
                  <a:cubicBezTo>
                    <a:pt x="86" y="383"/>
                    <a:pt x="70" y="441"/>
                    <a:pt x="51" y="459"/>
                  </a:cubicBezTo>
                  <a:lnTo>
                    <a:pt x="0" y="453"/>
                  </a:lnTo>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4102" name="Freeform 6"/>
            <p:cNvSpPr>
              <a:spLocks/>
            </p:cNvSpPr>
            <p:nvPr userDrawn="1"/>
          </p:nvSpPr>
          <p:spPr bwMode="auto">
            <a:xfrm>
              <a:off x="131" y="269"/>
              <a:ext cx="251" cy="194"/>
            </a:xfrm>
            <a:custGeom>
              <a:avLst/>
              <a:gdLst/>
              <a:ahLst/>
              <a:cxnLst>
                <a:cxn ang="0">
                  <a:pos x="21" y="163"/>
                </a:cxn>
                <a:cxn ang="0">
                  <a:pos x="9" y="184"/>
                </a:cxn>
                <a:cxn ang="0">
                  <a:pos x="75" y="103"/>
                </a:cxn>
                <a:cxn ang="0">
                  <a:pos x="165" y="28"/>
                </a:cxn>
                <a:cxn ang="0">
                  <a:pos x="207" y="7"/>
                </a:cxn>
                <a:cxn ang="0">
                  <a:pos x="246" y="4"/>
                </a:cxn>
                <a:cxn ang="0">
                  <a:pos x="237" y="34"/>
                </a:cxn>
                <a:cxn ang="0">
                  <a:pos x="183" y="61"/>
                </a:cxn>
                <a:cxn ang="0">
                  <a:pos x="108" y="124"/>
                </a:cxn>
                <a:cxn ang="0">
                  <a:pos x="54" y="190"/>
                </a:cxn>
                <a:cxn ang="0">
                  <a:pos x="6" y="184"/>
                </a:cxn>
              </a:cxnLst>
              <a:rect l="0" t="0" r="r" b="b"/>
              <a:pathLst>
                <a:path w="251" h="194">
                  <a:moveTo>
                    <a:pt x="21" y="163"/>
                  </a:moveTo>
                  <a:cubicBezTo>
                    <a:pt x="10" y="178"/>
                    <a:pt x="0" y="194"/>
                    <a:pt x="9" y="184"/>
                  </a:cubicBezTo>
                  <a:cubicBezTo>
                    <a:pt x="18" y="174"/>
                    <a:pt x="49" y="129"/>
                    <a:pt x="75" y="103"/>
                  </a:cubicBezTo>
                  <a:cubicBezTo>
                    <a:pt x="101" y="77"/>
                    <a:pt x="143" y="44"/>
                    <a:pt x="165" y="28"/>
                  </a:cubicBezTo>
                  <a:cubicBezTo>
                    <a:pt x="187" y="12"/>
                    <a:pt x="194" y="11"/>
                    <a:pt x="207" y="7"/>
                  </a:cubicBezTo>
                  <a:cubicBezTo>
                    <a:pt x="220" y="3"/>
                    <a:pt x="241" y="0"/>
                    <a:pt x="246" y="4"/>
                  </a:cubicBezTo>
                  <a:cubicBezTo>
                    <a:pt x="251" y="8"/>
                    <a:pt x="247" y="25"/>
                    <a:pt x="237" y="34"/>
                  </a:cubicBezTo>
                  <a:cubicBezTo>
                    <a:pt x="227" y="43"/>
                    <a:pt x="204" y="46"/>
                    <a:pt x="183" y="61"/>
                  </a:cubicBezTo>
                  <a:cubicBezTo>
                    <a:pt x="162" y="76"/>
                    <a:pt x="129" y="103"/>
                    <a:pt x="108" y="124"/>
                  </a:cubicBezTo>
                  <a:cubicBezTo>
                    <a:pt x="87" y="145"/>
                    <a:pt x="71" y="180"/>
                    <a:pt x="54" y="190"/>
                  </a:cubicBezTo>
                  <a:lnTo>
                    <a:pt x="6" y="184"/>
                  </a:lnTo>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4103" name="Freeform 7"/>
            <p:cNvSpPr>
              <a:spLocks/>
            </p:cNvSpPr>
            <p:nvPr userDrawn="1"/>
          </p:nvSpPr>
          <p:spPr bwMode="auto">
            <a:xfrm>
              <a:off x="341" y="0"/>
              <a:ext cx="159" cy="72"/>
            </a:xfrm>
            <a:custGeom>
              <a:avLst/>
              <a:gdLst/>
              <a:ahLst/>
              <a:cxnLst>
                <a:cxn ang="0">
                  <a:pos x="99" y="0"/>
                </a:cxn>
                <a:cxn ang="0">
                  <a:pos x="15" y="36"/>
                </a:cxn>
                <a:cxn ang="0">
                  <a:pos x="6" y="60"/>
                </a:cxn>
                <a:cxn ang="0">
                  <a:pos x="36" y="69"/>
                </a:cxn>
                <a:cxn ang="0">
                  <a:pos x="87" y="42"/>
                </a:cxn>
                <a:cxn ang="0">
                  <a:pos x="159" y="0"/>
                </a:cxn>
                <a:cxn ang="0">
                  <a:pos x="99" y="0"/>
                </a:cxn>
              </a:cxnLst>
              <a:rect l="0" t="0" r="r" b="b"/>
              <a:pathLst>
                <a:path w="159" h="72">
                  <a:moveTo>
                    <a:pt x="99" y="0"/>
                  </a:moveTo>
                  <a:cubicBezTo>
                    <a:pt x="75" y="6"/>
                    <a:pt x="30" y="26"/>
                    <a:pt x="15" y="36"/>
                  </a:cubicBezTo>
                  <a:cubicBezTo>
                    <a:pt x="0" y="46"/>
                    <a:pt x="3" y="55"/>
                    <a:pt x="6" y="60"/>
                  </a:cubicBezTo>
                  <a:cubicBezTo>
                    <a:pt x="9" y="65"/>
                    <a:pt x="23" y="72"/>
                    <a:pt x="36" y="69"/>
                  </a:cubicBezTo>
                  <a:cubicBezTo>
                    <a:pt x="49" y="66"/>
                    <a:pt x="67" y="53"/>
                    <a:pt x="87" y="42"/>
                  </a:cubicBezTo>
                  <a:cubicBezTo>
                    <a:pt x="107" y="31"/>
                    <a:pt x="158" y="6"/>
                    <a:pt x="159" y="0"/>
                  </a:cubicBezTo>
                  <a:lnTo>
                    <a:pt x="99" y="0"/>
                  </a:ln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4104" name="Freeform 8"/>
            <p:cNvSpPr>
              <a:spLocks/>
            </p:cNvSpPr>
            <p:nvPr userDrawn="1"/>
          </p:nvSpPr>
          <p:spPr bwMode="auto">
            <a:xfrm>
              <a:off x="488" y="0"/>
              <a:ext cx="455" cy="216"/>
            </a:xfrm>
            <a:custGeom>
              <a:avLst/>
              <a:gdLst/>
              <a:ahLst/>
              <a:cxnLst>
                <a:cxn ang="0">
                  <a:pos x="395" y="0"/>
                </a:cxn>
                <a:cxn ang="0">
                  <a:pos x="338" y="48"/>
                </a:cxn>
                <a:cxn ang="0">
                  <a:pos x="242" y="102"/>
                </a:cxn>
                <a:cxn ang="0">
                  <a:pos x="104" y="147"/>
                </a:cxn>
                <a:cxn ang="0">
                  <a:pos x="35" y="168"/>
                </a:cxn>
                <a:cxn ang="0">
                  <a:pos x="8" y="192"/>
                </a:cxn>
                <a:cxn ang="0">
                  <a:pos x="8" y="213"/>
                </a:cxn>
                <a:cxn ang="0">
                  <a:pos x="59" y="213"/>
                </a:cxn>
                <a:cxn ang="0">
                  <a:pos x="86" y="192"/>
                </a:cxn>
                <a:cxn ang="0">
                  <a:pos x="173" y="159"/>
                </a:cxn>
                <a:cxn ang="0">
                  <a:pos x="299" y="126"/>
                </a:cxn>
                <a:cxn ang="0">
                  <a:pos x="392" y="72"/>
                </a:cxn>
                <a:cxn ang="0">
                  <a:pos x="455" y="0"/>
                </a:cxn>
                <a:cxn ang="0">
                  <a:pos x="395" y="0"/>
                </a:cxn>
              </a:cxnLst>
              <a:rect l="0" t="0" r="r" b="b"/>
              <a:pathLst>
                <a:path w="455" h="216">
                  <a:moveTo>
                    <a:pt x="395" y="0"/>
                  </a:moveTo>
                  <a:cubicBezTo>
                    <a:pt x="376" y="8"/>
                    <a:pt x="364" y="31"/>
                    <a:pt x="338" y="48"/>
                  </a:cubicBezTo>
                  <a:cubicBezTo>
                    <a:pt x="312" y="65"/>
                    <a:pt x="281" y="86"/>
                    <a:pt x="242" y="102"/>
                  </a:cubicBezTo>
                  <a:cubicBezTo>
                    <a:pt x="203" y="118"/>
                    <a:pt x="138" y="136"/>
                    <a:pt x="104" y="147"/>
                  </a:cubicBezTo>
                  <a:cubicBezTo>
                    <a:pt x="70" y="158"/>
                    <a:pt x="51" y="161"/>
                    <a:pt x="35" y="168"/>
                  </a:cubicBezTo>
                  <a:cubicBezTo>
                    <a:pt x="19" y="175"/>
                    <a:pt x="12" y="185"/>
                    <a:pt x="8" y="192"/>
                  </a:cubicBezTo>
                  <a:cubicBezTo>
                    <a:pt x="4" y="199"/>
                    <a:pt x="0" y="210"/>
                    <a:pt x="8" y="213"/>
                  </a:cubicBezTo>
                  <a:cubicBezTo>
                    <a:pt x="16" y="216"/>
                    <a:pt x="46" y="216"/>
                    <a:pt x="59" y="213"/>
                  </a:cubicBezTo>
                  <a:cubicBezTo>
                    <a:pt x="72" y="210"/>
                    <a:pt x="67" y="201"/>
                    <a:pt x="86" y="192"/>
                  </a:cubicBezTo>
                  <a:cubicBezTo>
                    <a:pt x="105" y="183"/>
                    <a:pt x="138" y="170"/>
                    <a:pt x="173" y="159"/>
                  </a:cubicBezTo>
                  <a:cubicBezTo>
                    <a:pt x="208" y="148"/>
                    <a:pt x="263" y="140"/>
                    <a:pt x="299" y="126"/>
                  </a:cubicBezTo>
                  <a:cubicBezTo>
                    <a:pt x="335" y="112"/>
                    <a:pt x="366" y="93"/>
                    <a:pt x="392" y="72"/>
                  </a:cubicBezTo>
                  <a:cubicBezTo>
                    <a:pt x="418" y="51"/>
                    <a:pt x="454" y="12"/>
                    <a:pt x="455" y="0"/>
                  </a:cubicBezTo>
                  <a:lnTo>
                    <a:pt x="395" y="0"/>
                  </a:ln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4105" name="Freeform 9"/>
            <p:cNvSpPr>
              <a:spLocks/>
            </p:cNvSpPr>
            <p:nvPr userDrawn="1"/>
          </p:nvSpPr>
          <p:spPr bwMode="auto">
            <a:xfrm>
              <a:off x="1448" y="37"/>
              <a:ext cx="414" cy="108"/>
            </a:xfrm>
            <a:custGeom>
              <a:avLst/>
              <a:gdLst/>
              <a:ahLst/>
              <a:cxnLst>
                <a:cxn ang="0">
                  <a:pos x="0" y="11"/>
                </a:cxn>
                <a:cxn ang="0">
                  <a:pos x="24" y="11"/>
                </a:cxn>
                <a:cxn ang="0">
                  <a:pos x="156" y="2"/>
                </a:cxn>
                <a:cxn ang="0">
                  <a:pos x="288" y="23"/>
                </a:cxn>
                <a:cxn ang="0">
                  <a:pos x="384" y="53"/>
                </a:cxn>
                <a:cxn ang="0">
                  <a:pos x="411" y="74"/>
                </a:cxn>
                <a:cxn ang="0">
                  <a:pos x="405" y="104"/>
                </a:cxn>
                <a:cxn ang="0">
                  <a:pos x="363" y="101"/>
                </a:cxn>
                <a:cxn ang="0">
                  <a:pos x="294" y="77"/>
                </a:cxn>
                <a:cxn ang="0">
                  <a:pos x="174" y="50"/>
                </a:cxn>
                <a:cxn ang="0">
                  <a:pos x="72" y="62"/>
                </a:cxn>
                <a:cxn ang="0">
                  <a:pos x="36" y="59"/>
                </a:cxn>
                <a:cxn ang="0">
                  <a:pos x="0" y="11"/>
                </a:cxn>
              </a:cxnLst>
              <a:rect l="0" t="0" r="r" b="b"/>
              <a:pathLst>
                <a:path w="414" h="108">
                  <a:moveTo>
                    <a:pt x="0" y="11"/>
                  </a:moveTo>
                  <a:lnTo>
                    <a:pt x="24" y="11"/>
                  </a:lnTo>
                  <a:cubicBezTo>
                    <a:pt x="50" y="9"/>
                    <a:pt x="112" y="0"/>
                    <a:pt x="156" y="2"/>
                  </a:cubicBezTo>
                  <a:cubicBezTo>
                    <a:pt x="200" y="4"/>
                    <a:pt x="250" y="15"/>
                    <a:pt x="288" y="23"/>
                  </a:cubicBezTo>
                  <a:cubicBezTo>
                    <a:pt x="326" y="31"/>
                    <a:pt x="363" y="44"/>
                    <a:pt x="384" y="53"/>
                  </a:cubicBezTo>
                  <a:cubicBezTo>
                    <a:pt x="405" y="62"/>
                    <a:pt x="408" y="66"/>
                    <a:pt x="411" y="74"/>
                  </a:cubicBezTo>
                  <a:cubicBezTo>
                    <a:pt x="414" y="82"/>
                    <a:pt x="413" y="100"/>
                    <a:pt x="405" y="104"/>
                  </a:cubicBezTo>
                  <a:cubicBezTo>
                    <a:pt x="397" y="108"/>
                    <a:pt x="381" y="105"/>
                    <a:pt x="363" y="101"/>
                  </a:cubicBezTo>
                  <a:cubicBezTo>
                    <a:pt x="345" y="97"/>
                    <a:pt x="325" y="85"/>
                    <a:pt x="294" y="77"/>
                  </a:cubicBezTo>
                  <a:cubicBezTo>
                    <a:pt x="263" y="69"/>
                    <a:pt x="211" y="53"/>
                    <a:pt x="174" y="50"/>
                  </a:cubicBezTo>
                  <a:cubicBezTo>
                    <a:pt x="137" y="47"/>
                    <a:pt x="95" y="61"/>
                    <a:pt x="72" y="62"/>
                  </a:cubicBezTo>
                  <a:cubicBezTo>
                    <a:pt x="49" y="63"/>
                    <a:pt x="48" y="66"/>
                    <a:pt x="36" y="59"/>
                  </a:cubicBezTo>
                  <a:cubicBezTo>
                    <a:pt x="24" y="52"/>
                    <a:pt x="13" y="36"/>
                    <a:pt x="0" y="11"/>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4106" name="Freeform 10"/>
            <p:cNvSpPr>
              <a:spLocks/>
            </p:cNvSpPr>
            <p:nvPr userDrawn="1"/>
          </p:nvSpPr>
          <p:spPr bwMode="auto">
            <a:xfrm>
              <a:off x="1790" y="0"/>
              <a:ext cx="520" cy="225"/>
            </a:xfrm>
            <a:custGeom>
              <a:avLst/>
              <a:gdLst/>
              <a:ahLst/>
              <a:cxnLst>
                <a:cxn ang="0">
                  <a:pos x="42" y="0"/>
                </a:cxn>
                <a:cxn ang="0">
                  <a:pos x="12" y="24"/>
                </a:cxn>
                <a:cxn ang="0">
                  <a:pos x="114" y="54"/>
                </a:cxn>
                <a:cxn ang="0">
                  <a:pos x="240" y="117"/>
                </a:cxn>
                <a:cxn ang="0">
                  <a:pos x="333" y="153"/>
                </a:cxn>
                <a:cxn ang="0">
                  <a:pos x="438" y="219"/>
                </a:cxn>
                <a:cxn ang="0">
                  <a:pos x="426" y="192"/>
                </a:cxn>
                <a:cxn ang="0">
                  <a:pos x="441" y="180"/>
                </a:cxn>
                <a:cxn ang="0">
                  <a:pos x="519" y="216"/>
                </a:cxn>
                <a:cxn ang="0">
                  <a:pos x="450" y="162"/>
                </a:cxn>
                <a:cxn ang="0">
                  <a:pos x="381" y="135"/>
                </a:cxn>
                <a:cxn ang="0">
                  <a:pos x="285" y="84"/>
                </a:cxn>
                <a:cxn ang="0">
                  <a:pos x="186" y="18"/>
                </a:cxn>
                <a:cxn ang="0">
                  <a:pos x="123" y="0"/>
                </a:cxn>
                <a:cxn ang="0">
                  <a:pos x="42" y="0"/>
                </a:cxn>
              </a:cxnLst>
              <a:rect l="0" t="0" r="r" b="b"/>
              <a:pathLst>
                <a:path w="520" h="225">
                  <a:moveTo>
                    <a:pt x="42" y="0"/>
                  </a:moveTo>
                  <a:cubicBezTo>
                    <a:pt x="24" y="4"/>
                    <a:pt x="0" y="15"/>
                    <a:pt x="12" y="24"/>
                  </a:cubicBezTo>
                  <a:cubicBezTo>
                    <a:pt x="24" y="33"/>
                    <a:pt x="76" y="39"/>
                    <a:pt x="114" y="54"/>
                  </a:cubicBezTo>
                  <a:cubicBezTo>
                    <a:pt x="152" y="69"/>
                    <a:pt x="203" y="100"/>
                    <a:pt x="240" y="117"/>
                  </a:cubicBezTo>
                  <a:cubicBezTo>
                    <a:pt x="277" y="134"/>
                    <a:pt x="300" y="136"/>
                    <a:pt x="333" y="153"/>
                  </a:cubicBezTo>
                  <a:cubicBezTo>
                    <a:pt x="366" y="170"/>
                    <a:pt x="423" y="213"/>
                    <a:pt x="438" y="219"/>
                  </a:cubicBezTo>
                  <a:cubicBezTo>
                    <a:pt x="453" y="225"/>
                    <a:pt x="426" y="198"/>
                    <a:pt x="426" y="192"/>
                  </a:cubicBezTo>
                  <a:cubicBezTo>
                    <a:pt x="426" y="186"/>
                    <a:pt x="426" y="176"/>
                    <a:pt x="441" y="180"/>
                  </a:cubicBezTo>
                  <a:cubicBezTo>
                    <a:pt x="456" y="184"/>
                    <a:pt x="518" y="219"/>
                    <a:pt x="519" y="216"/>
                  </a:cubicBezTo>
                  <a:cubicBezTo>
                    <a:pt x="520" y="213"/>
                    <a:pt x="473" y="176"/>
                    <a:pt x="450" y="162"/>
                  </a:cubicBezTo>
                  <a:cubicBezTo>
                    <a:pt x="427" y="148"/>
                    <a:pt x="408" y="148"/>
                    <a:pt x="381" y="135"/>
                  </a:cubicBezTo>
                  <a:cubicBezTo>
                    <a:pt x="354" y="122"/>
                    <a:pt x="318" y="104"/>
                    <a:pt x="285" y="84"/>
                  </a:cubicBezTo>
                  <a:cubicBezTo>
                    <a:pt x="252" y="64"/>
                    <a:pt x="213" y="32"/>
                    <a:pt x="186" y="18"/>
                  </a:cubicBezTo>
                  <a:cubicBezTo>
                    <a:pt x="159" y="4"/>
                    <a:pt x="147" y="2"/>
                    <a:pt x="123" y="0"/>
                  </a:cubicBezTo>
                  <a:lnTo>
                    <a:pt x="42" y="0"/>
                  </a:ln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4107" name="Freeform 11"/>
            <p:cNvSpPr>
              <a:spLocks/>
            </p:cNvSpPr>
            <p:nvPr userDrawn="1"/>
          </p:nvSpPr>
          <p:spPr bwMode="auto">
            <a:xfrm>
              <a:off x="1943" y="154"/>
              <a:ext cx="431" cy="233"/>
            </a:xfrm>
            <a:custGeom>
              <a:avLst/>
              <a:gdLst/>
              <a:ahLst/>
              <a:cxnLst>
                <a:cxn ang="0">
                  <a:pos x="6" y="38"/>
                </a:cxn>
                <a:cxn ang="0">
                  <a:pos x="9" y="20"/>
                </a:cxn>
                <a:cxn ang="0">
                  <a:pos x="42" y="2"/>
                </a:cxn>
                <a:cxn ang="0">
                  <a:pos x="90" y="35"/>
                </a:cxn>
                <a:cxn ang="0">
                  <a:pos x="189" y="89"/>
                </a:cxn>
                <a:cxn ang="0">
                  <a:pos x="288" y="140"/>
                </a:cxn>
                <a:cxn ang="0">
                  <a:pos x="375" y="176"/>
                </a:cxn>
                <a:cxn ang="0">
                  <a:pos x="396" y="176"/>
                </a:cxn>
                <a:cxn ang="0">
                  <a:pos x="429" y="212"/>
                </a:cxn>
                <a:cxn ang="0">
                  <a:pos x="408" y="233"/>
                </a:cxn>
                <a:cxn ang="0">
                  <a:pos x="333" y="212"/>
                </a:cxn>
                <a:cxn ang="0">
                  <a:pos x="186" y="143"/>
                </a:cxn>
                <a:cxn ang="0">
                  <a:pos x="48" y="68"/>
                </a:cxn>
                <a:cxn ang="0">
                  <a:pos x="6" y="38"/>
                </a:cxn>
              </a:cxnLst>
              <a:rect l="0" t="0" r="r" b="b"/>
              <a:pathLst>
                <a:path w="431" h="233">
                  <a:moveTo>
                    <a:pt x="6" y="38"/>
                  </a:moveTo>
                  <a:cubicBezTo>
                    <a:pt x="0" y="26"/>
                    <a:pt x="3" y="26"/>
                    <a:pt x="9" y="20"/>
                  </a:cubicBezTo>
                  <a:cubicBezTo>
                    <a:pt x="15" y="14"/>
                    <a:pt x="29" y="0"/>
                    <a:pt x="42" y="2"/>
                  </a:cubicBezTo>
                  <a:cubicBezTo>
                    <a:pt x="55" y="4"/>
                    <a:pt x="66" y="21"/>
                    <a:pt x="90" y="35"/>
                  </a:cubicBezTo>
                  <a:cubicBezTo>
                    <a:pt x="114" y="49"/>
                    <a:pt x="156" y="72"/>
                    <a:pt x="189" y="89"/>
                  </a:cubicBezTo>
                  <a:cubicBezTo>
                    <a:pt x="222" y="106"/>
                    <a:pt x="257" y="126"/>
                    <a:pt x="288" y="140"/>
                  </a:cubicBezTo>
                  <a:cubicBezTo>
                    <a:pt x="319" y="154"/>
                    <a:pt x="357" y="170"/>
                    <a:pt x="375" y="176"/>
                  </a:cubicBezTo>
                  <a:cubicBezTo>
                    <a:pt x="393" y="182"/>
                    <a:pt x="387" y="170"/>
                    <a:pt x="396" y="176"/>
                  </a:cubicBezTo>
                  <a:cubicBezTo>
                    <a:pt x="405" y="182"/>
                    <a:pt x="427" y="203"/>
                    <a:pt x="429" y="212"/>
                  </a:cubicBezTo>
                  <a:cubicBezTo>
                    <a:pt x="431" y="221"/>
                    <a:pt x="424" y="233"/>
                    <a:pt x="408" y="233"/>
                  </a:cubicBezTo>
                  <a:cubicBezTo>
                    <a:pt x="392" y="233"/>
                    <a:pt x="370" y="227"/>
                    <a:pt x="333" y="212"/>
                  </a:cubicBezTo>
                  <a:cubicBezTo>
                    <a:pt x="296" y="197"/>
                    <a:pt x="234" y="167"/>
                    <a:pt x="186" y="143"/>
                  </a:cubicBezTo>
                  <a:cubicBezTo>
                    <a:pt x="138" y="119"/>
                    <a:pt x="78" y="86"/>
                    <a:pt x="48" y="68"/>
                  </a:cubicBezTo>
                  <a:cubicBezTo>
                    <a:pt x="18" y="50"/>
                    <a:pt x="12" y="50"/>
                    <a:pt x="6" y="38"/>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4108" name="Freeform 12"/>
            <p:cNvSpPr>
              <a:spLocks/>
            </p:cNvSpPr>
            <p:nvPr userDrawn="1"/>
          </p:nvSpPr>
          <p:spPr bwMode="auto">
            <a:xfrm>
              <a:off x="2262" y="87"/>
              <a:ext cx="396" cy="227"/>
            </a:xfrm>
            <a:custGeom>
              <a:avLst/>
              <a:gdLst/>
              <a:ahLst/>
              <a:cxnLst>
                <a:cxn ang="0">
                  <a:pos x="2" y="9"/>
                </a:cxn>
                <a:cxn ang="0">
                  <a:pos x="53" y="66"/>
                </a:cxn>
                <a:cxn ang="0">
                  <a:pos x="176" y="132"/>
                </a:cxn>
                <a:cxn ang="0">
                  <a:pos x="293" y="189"/>
                </a:cxn>
                <a:cxn ang="0">
                  <a:pos x="341" y="222"/>
                </a:cxn>
                <a:cxn ang="0">
                  <a:pos x="377" y="219"/>
                </a:cxn>
                <a:cxn ang="0">
                  <a:pos x="377" y="180"/>
                </a:cxn>
                <a:cxn ang="0">
                  <a:pos x="260" y="126"/>
                </a:cxn>
                <a:cxn ang="0">
                  <a:pos x="113" y="51"/>
                </a:cxn>
                <a:cxn ang="0">
                  <a:pos x="41" y="9"/>
                </a:cxn>
                <a:cxn ang="0">
                  <a:pos x="2" y="9"/>
                </a:cxn>
              </a:cxnLst>
              <a:rect l="0" t="0" r="r" b="b"/>
              <a:pathLst>
                <a:path w="396" h="227">
                  <a:moveTo>
                    <a:pt x="2" y="9"/>
                  </a:moveTo>
                  <a:cubicBezTo>
                    <a:pt x="4" y="18"/>
                    <a:pt x="24" y="45"/>
                    <a:pt x="53" y="66"/>
                  </a:cubicBezTo>
                  <a:cubicBezTo>
                    <a:pt x="82" y="87"/>
                    <a:pt x="136" y="111"/>
                    <a:pt x="176" y="132"/>
                  </a:cubicBezTo>
                  <a:cubicBezTo>
                    <a:pt x="216" y="153"/>
                    <a:pt x="266" y="174"/>
                    <a:pt x="293" y="189"/>
                  </a:cubicBezTo>
                  <a:cubicBezTo>
                    <a:pt x="320" y="204"/>
                    <a:pt x="327" y="217"/>
                    <a:pt x="341" y="222"/>
                  </a:cubicBezTo>
                  <a:cubicBezTo>
                    <a:pt x="355" y="227"/>
                    <a:pt x="371" y="226"/>
                    <a:pt x="377" y="219"/>
                  </a:cubicBezTo>
                  <a:cubicBezTo>
                    <a:pt x="383" y="212"/>
                    <a:pt x="396" y="195"/>
                    <a:pt x="377" y="180"/>
                  </a:cubicBezTo>
                  <a:cubicBezTo>
                    <a:pt x="358" y="165"/>
                    <a:pt x="304" y="147"/>
                    <a:pt x="260" y="126"/>
                  </a:cubicBezTo>
                  <a:cubicBezTo>
                    <a:pt x="216" y="105"/>
                    <a:pt x="149" y="70"/>
                    <a:pt x="113" y="51"/>
                  </a:cubicBezTo>
                  <a:cubicBezTo>
                    <a:pt x="77" y="32"/>
                    <a:pt x="60" y="17"/>
                    <a:pt x="41" y="9"/>
                  </a:cubicBezTo>
                  <a:cubicBezTo>
                    <a:pt x="22" y="1"/>
                    <a:pt x="0" y="0"/>
                    <a:pt x="2" y="9"/>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4109" name="Freeform 13"/>
            <p:cNvSpPr>
              <a:spLocks/>
            </p:cNvSpPr>
            <p:nvPr userDrawn="1"/>
          </p:nvSpPr>
          <p:spPr bwMode="auto">
            <a:xfrm>
              <a:off x="2264" y="240"/>
              <a:ext cx="516" cy="223"/>
            </a:xfrm>
            <a:custGeom>
              <a:avLst/>
              <a:gdLst/>
              <a:ahLst/>
              <a:cxnLst>
                <a:cxn ang="0">
                  <a:pos x="3" y="10"/>
                </a:cxn>
                <a:cxn ang="0">
                  <a:pos x="105" y="97"/>
                </a:cxn>
                <a:cxn ang="0">
                  <a:pos x="243" y="178"/>
                </a:cxn>
                <a:cxn ang="0">
                  <a:pos x="357" y="217"/>
                </a:cxn>
                <a:cxn ang="0">
                  <a:pos x="498" y="214"/>
                </a:cxn>
                <a:cxn ang="0">
                  <a:pos x="468" y="187"/>
                </a:cxn>
                <a:cxn ang="0">
                  <a:pos x="309" y="136"/>
                </a:cxn>
                <a:cxn ang="0">
                  <a:pos x="123" y="34"/>
                </a:cxn>
                <a:cxn ang="0">
                  <a:pos x="3" y="10"/>
                </a:cxn>
              </a:cxnLst>
              <a:rect l="0" t="0" r="r" b="b"/>
              <a:pathLst>
                <a:path w="516" h="223">
                  <a:moveTo>
                    <a:pt x="3" y="10"/>
                  </a:moveTo>
                  <a:cubicBezTo>
                    <a:pt x="0" y="20"/>
                    <a:pt x="65" y="69"/>
                    <a:pt x="105" y="97"/>
                  </a:cubicBezTo>
                  <a:cubicBezTo>
                    <a:pt x="145" y="125"/>
                    <a:pt x="201" y="158"/>
                    <a:pt x="243" y="178"/>
                  </a:cubicBezTo>
                  <a:cubicBezTo>
                    <a:pt x="285" y="198"/>
                    <a:pt x="315" y="211"/>
                    <a:pt x="357" y="217"/>
                  </a:cubicBezTo>
                  <a:cubicBezTo>
                    <a:pt x="399" y="223"/>
                    <a:pt x="480" y="219"/>
                    <a:pt x="498" y="214"/>
                  </a:cubicBezTo>
                  <a:cubicBezTo>
                    <a:pt x="516" y="209"/>
                    <a:pt x="499" y="200"/>
                    <a:pt x="468" y="187"/>
                  </a:cubicBezTo>
                  <a:cubicBezTo>
                    <a:pt x="437" y="174"/>
                    <a:pt x="366" y="161"/>
                    <a:pt x="309" y="136"/>
                  </a:cubicBezTo>
                  <a:cubicBezTo>
                    <a:pt x="252" y="111"/>
                    <a:pt x="172" y="54"/>
                    <a:pt x="123" y="34"/>
                  </a:cubicBezTo>
                  <a:cubicBezTo>
                    <a:pt x="74" y="14"/>
                    <a:pt x="6" y="0"/>
                    <a:pt x="3" y="10"/>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4110" name="Freeform 14"/>
            <p:cNvSpPr>
              <a:spLocks/>
            </p:cNvSpPr>
            <p:nvPr userDrawn="1"/>
          </p:nvSpPr>
          <p:spPr bwMode="auto">
            <a:xfrm>
              <a:off x="2723" y="324"/>
              <a:ext cx="414" cy="100"/>
            </a:xfrm>
            <a:custGeom>
              <a:avLst/>
              <a:gdLst/>
              <a:ahLst/>
              <a:cxnLst>
                <a:cxn ang="0">
                  <a:pos x="69" y="60"/>
                </a:cxn>
                <a:cxn ang="0">
                  <a:pos x="12" y="42"/>
                </a:cxn>
                <a:cxn ang="0">
                  <a:pos x="3" y="15"/>
                </a:cxn>
                <a:cxn ang="0">
                  <a:pos x="30" y="0"/>
                </a:cxn>
                <a:cxn ang="0">
                  <a:pos x="117" y="18"/>
                </a:cxn>
                <a:cxn ang="0">
                  <a:pos x="243" y="48"/>
                </a:cxn>
                <a:cxn ang="0">
                  <a:pos x="387" y="48"/>
                </a:cxn>
                <a:cxn ang="0">
                  <a:pos x="408" y="54"/>
                </a:cxn>
                <a:cxn ang="0">
                  <a:pos x="381" y="87"/>
                </a:cxn>
                <a:cxn ang="0">
                  <a:pos x="318" y="99"/>
                </a:cxn>
                <a:cxn ang="0">
                  <a:pos x="195" y="93"/>
                </a:cxn>
                <a:cxn ang="0">
                  <a:pos x="69" y="60"/>
                </a:cxn>
              </a:cxnLst>
              <a:rect l="0" t="0" r="r" b="b"/>
              <a:pathLst>
                <a:path w="414" h="100">
                  <a:moveTo>
                    <a:pt x="69" y="60"/>
                  </a:moveTo>
                  <a:cubicBezTo>
                    <a:pt x="39" y="52"/>
                    <a:pt x="23" y="49"/>
                    <a:pt x="12" y="42"/>
                  </a:cubicBezTo>
                  <a:cubicBezTo>
                    <a:pt x="1" y="35"/>
                    <a:pt x="0" y="22"/>
                    <a:pt x="3" y="15"/>
                  </a:cubicBezTo>
                  <a:cubicBezTo>
                    <a:pt x="6" y="8"/>
                    <a:pt x="11" y="0"/>
                    <a:pt x="30" y="0"/>
                  </a:cubicBezTo>
                  <a:cubicBezTo>
                    <a:pt x="49" y="0"/>
                    <a:pt x="82" y="10"/>
                    <a:pt x="117" y="18"/>
                  </a:cubicBezTo>
                  <a:cubicBezTo>
                    <a:pt x="152" y="26"/>
                    <a:pt x="198" y="43"/>
                    <a:pt x="243" y="48"/>
                  </a:cubicBezTo>
                  <a:cubicBezTo>
                    <a:pt x="288" y="53"/>
                    <a:pt x="360" y="47"/>
                    <a:pt x="387" y="48"/>
                  </a:cubicBezTo>
                  <a:cubicBezTo>
                    <a:pt x="414" y="49"/>
                    <a:pt x="409" y="48"/>
                    <a:pt x="408" y="54"/>
                  </a:cubicBezTo>
                  <a:cubicBezTo>
                    <a:pt x="407" y="60"/>
                    <a:pt x="396" y="80"/>
                    <a:pt x="381" y="87"/>
                  </a:cubicBezTo>
                  <a:cubicBezTo>
                    <a:pt x="366" y="94"/>
                    <a:pt x="349" y="98"/>
                    <a:pt x="318" y="99"/>
                  </a:cubicBezTo>
                  <a:cubicBezTo>
                    <a:pt x="287" y="100"/>
                    <a:pt x="237" y="99"/>
                    <a:pt x="195" y="93"/>
                  </a:cubicBezTo>
                  <a:cubicBezTo>
                    <a:pt x="153" y="87"/>
                    <a:pt x="99" y="68"/>
                    <a:pt x="69" y="60"/>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4111" name="Freeform 15"/>
            <p:cNvSpPr>
              <a:spLocks/>
            </p:cNvSpPr>
            <p:nvPr userDrawn="1"/>
          </p:nvSpPr>
          <p:spPr bwMode="auto">
            <a:xfrm>
              <a:off x="3165" y="375"/>
              <a:ext cx="150" cy="72"/>
            </a:xfrm>
            <a:custGeom>
              <a:avLst/>
              <a:gdLst/>
              <a:ahLst/>
              <a:cxnLst>
                <a:cxn ang="0">
                  <a:pos x="3" y="67"/>
                </a:cxn>
                <a:cxn ang="0">
                  <a:pos x="84" y="19"/>
                </a:cxn>
                <a:cxn ang="0">
                  <a:pos x="123" y="1"/>
                </a:cxn>
                <a:cxn ang="0">
                  <a:pos x="150" y="22"/>
                </a:cxn>
                <a:cxn ang="0">
                  <a:pos x="123" y="55"/>
                </a:cxn>
                <a:cxn ang="0">
                  <a:pos x="90" y="70"/>
                </a:cxn>
                <a:cxn ang="0">
                  <a:pos x="0" y="67"/>
                </a:cxn>
              </a:cxnLst>
              <a:rect l="0" t="0" r="r" b="b"/>
              <a:pathLst>
                <a:path w="150" h="72">
                  <a:moveTo>
                    <a:pt x="3" y="67"/>
                  </a:moveTo>
                  <a:cubicBezTo>
                    <a:pt x="16" y="59"/>
                    <a:pt x="64" y="30"/>
                    <a:pt x="84" y="19"/>
                  </a:cubicBezTo>
                  <a:cubicBezTo>
                    <a:pt x="104" y="8"/>
                    <a:pt x="112" y="0"/>
                    <a:pt x="123" y="1"/>
                  </a:cubicBezTo>
                  <a:cubicBezTo>
                    <a:pt x="134" y="2"/>
                    <a:pt x="150" y="13"/>
                    <a:pt x="150" y="22"/>
                  </a:cubicBezTo>
                  <a:cubicBezTo>
                    <a:pt x="150" y="31"/>
                    <a:pt x="133" y="47"/>
                    <a:pt x="123" y="55"/>
                  </a:cubicBezTo>
                  <a:cubicBezTo>
                    <a:pt x="113" y="63"/>
                    <a:pt x="110" y="68"/>
                    <a:pt x="90" y="70"/>
                  </a:cubicBezTo>
                  <a:cubicBezTo>
                    <a:pt x="70" y="72"/>
                    <a:pt x="35" y="69"/>
                    <a:pt x="0" y="67"/>
                  </a:cubicBezTo>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4112" name="Freeform 16"/>
            <p:cNvSpPr>
              <a:spLocks/>
            </p:cNvSpPr>
            <p:nvPr userDrawn="1"/>
          </p:nvSpPr>
          <p:spPr bwMode="auto">
            <a:xfrm>
              <a:off x="3463" y="267"/>
              <a:ext cx="148" cy="91"/>
            </a:xfrm>
            <a:custGeom>
              <a:avLst/>
              <a:gdLst/>
              <a:ahLst/>
              <a:cxnLst>
                <a:cxn ang="0">
                  <a:pos x="1" y="69"/>
                </a:cxn>
                <a:cxn ang="0">
                  <a:pos x="25" y="51"/>
                </a:cxn>
                <a:cxn ang="0">
                  <a:pos x="100" y="9"/>
                </a:cxn>
                <a:cxn ang="0">
                  <a:pos x="133" y="3"/>
                </a:cxn>
                <a:cxn ang="0">
                  <a:pos x="136" y="27"/>
                </a:cxn>
                <a:cxn ang="0">
                  <a:pos x="61" y="75"/>
                </a:cxn>
                <a:cxn ang="0">
                  <a:pos x="19" y="90"/>
                </a:cxn>
                <a:cxn ang="0">
                  <a:pos x="1" y="69"/>
                </a:cxn>
              </a:cxnLst>
              <a:rect l="0" t="0" r="r" b="b"/>
              <a:pathLst>
                <a:path w="148" h="91">
                  <a:moveTo>
                    <a:pt x="1" y="69"/>
                  </a:moveTo>
                  <a:cubicBezTo>
                    <a:pt x="2" y="63"/>
                    <a:pt x="9" y="61"/>
                    <a:pt x="25" y="51"/>
                  </a:cubicBezTo>
                  <a:cubicBezTo>
                    <a:pt x="41" y="41"/>
                    <a:pt x="82" y="17"/>
                    <a:pt x="100" y="9"/>
                  </a:cubicBezTo>
                  <a:cubicBezTo>
                    <a:pt x="118" y="1"/>
                    <a:pt x="127" y="0"/>
                    <a:pt x="133" y="3"/>
                  </a:cubicBezTo>
                  <a:cubicBezTo>
                    <a:pt x="139" y="6"/>
                    <a:pt x="148" y="15"/>
                    <a:pt x="136" y="27"/>
                  </a:cubicBezTo>
                  <a:cubicBezTo>
                    <a:pt x="124" y="39"/>
                    <a:pt x="80" y="65"/>
                    <a:pt x="61" y="75"/>
                  </a:cubicBezTo>
                  <a:cubicBezTo>
                    <a:pt x="42" y="85"/>
                    <a:pt x="29" y="91"/>
                    <a:pt x="19" y="90"/>
                  </a:cubicBezTo>
                  <a:cubicBezTo>
                    <a:pt x="9" y="89"/>
                    <a:pt x="0" y="75"/>
                    <a:pt x="1" y="69"/>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4113" name="Freeform 17"/>
            <p:cNvSpPr>
              <a:spLocks/>
            </p:cNvSpPr>
            <p:nvPr userDrawn="1"/>
          </p:nvSpPr>
          <p:spPr bwMode="auto">
            <a:xfrm>
              <a:off x="3580" y="58"/>
              <a:ext cx="938" cy="158"/>
            </a:xfrm>
            <a:custGeom>
              <a:avLst/>
              <a:gdLst/>
              <a:ahLst/>
              <a:cxnLst>
                <a:cxn ang="0">
                  <a:pos x="172" y="86"/>
                </a:cxn>
                <a:cxn ang="0">
                  <a:pos x="61" y="137"/>
                </a:cxn>
                <a:cxn ang="0">
                  <a:pos x="16" y="155"/>
                </a:cxn>
                <a:cxn ang="0">
                  <a:pos x="7" y="122"/>
                </a:cxn>
                <a:cxn ang="0">
                  <a:pos x="58" y="80"/>
                </a:cxn>
                <a:cxn ang="0">
                  <a:pos x="172" y="38"/>
                </a:cxn>
                <a:cxn ang="0">
                  <a:pos x="304" y="11"/>
                </a:cxn>
                <a:cxn ang="0">
                  <a:pos x="463" y="2"/>
                </a:cxn>
                <a:cxn ang="0">
                  <a:pos x="631" y="23"/>
                </a:cxn>
                <a:cxn ang="0">
                  <a:pos x="796" y="53"/>
                </a:cxn>
                <a:cxn ang="0">
                  <a:pos x="841" y="47"/>
                </a:cxn>
                <a:cxn ang="0">
                  <a:pos x="907" y="71"/>
                </a:cxn>
                <a:cxn ang="0">
                  <a:pos x="919" y="101"/>
                </a:cxn>
                <a:cxn ang="0">
                  <a:pos x="793" y="98"/>
                </a:cxn>
                <a:cxn ang="0">
                  <a:pos x="634" y="62"/>
                </a:cxn>
                <a:cxn ang="0">
                  <a:pos x="439" y="38"/>
                </a:cxn>
                <a:cxn ang="0">
                  <a:pos x="238" y="59"/>
                </a:cxn>
                <a:cxn ang="0">
                  <a:pos x="172" y="86"/>
                </a:cxn>
              </a:cxnLst>
              <a:rect l="0" t="0" r="r" b="b"/>
              <a:pathLst>
                <a:path w="938" h="158">
                  <a:moveTo>
                    <a:pt x="172" y="86"/>
                  </a:moveTo>
                  <a:cubicBezTo>
                    <a:pt x="142" y="99"/>
                    <a:pt x="87" y="126"/>
                    <a:pt x="61" y="137"/>
                  </a:cubicBezTo>
                  <a:cubicBezTo>
                    <a:pt x="35" y="148"/>
                    <a:pt x="25" y="158"/>
                    <a:pt x="16" y="155"/>
                  </a:cubicBezTo>
                  <a:cubicBezTo>
                    <a:pt x="7" y="152"/>
                    <a:pt x="0" y="134"/>
                    <a:pt x="7" y="122"/>
                  </a:cubicBezTo>
                  <a:cubicBezTo>
                    <a:pt x="14" y="110"/>
                    <a:pt x="31" y="94"/>
                    <a:pt x="58" y="80"/>
                  </a:cubicBezTo>
                  <a:cubicBezTo>
                    <a:pt x="85" y="66"/>
                    <a:pt x="131" y="49"/>
                    <a:pt x="172" y="38"/>
                  </a:cubicBezTo>
                  <a:cubicBezTo>
                    <a:pt x="213" y="27"/>
                    <a:pt x="256" y="17"/>
                    <a:pt x="304" y="11"/>
                  </a:cubicBezTo>
                  <a:cubicBezTo>
                    <a:pt x="352" y="5"/>
                    <a:pt x="409" y="0"/>
                    <a:pt x="463" y="2"/>
                  </a:cubicBezTo>
                  <a:cubicBezTo>
                    <a:pt x="517" y="4"/>
                    <a:pt x="576" y="15"/>
                    <a:pt x="631" y="23"/>
                  </a:cubicBezTo>
                  <a:cubicBezTo>
                    <a:pt x="686" y="31"/>
                    <a:pt x="761" y="49"/>
                    <a:pt x="796" y="53"/>
                  </a:cubicBezTo>
                  <a:cubicBezTo>
                    <a:pt x="831" y="57"/>
                    <a:pt x="823" y="44"/>
                    <a:pt x="841" y="47"/>
                  </a:cubicBezTo>
                  <a:cubicBezTo>
                    <a:pt x="859" y="50"/>
                    <a:pt x="894" y="62"/>
                    <a:pt x="907" y="71"/>
                  </a:cubicBezTo>
                  <a:cubicBezTo>
                    <a:pt x="920" y="80"/>
                    <a:pt x="938" y="97"/>
                    <a:pt x="919" y="101"/>
                  </a:cubicBezTo>
                  <a:cubicBezTo>
                    <a:pt x="900" y="105"/>
                    <a:pt x="840" y="104"/>
                    <a:pt x="793" y="98"/>
                  </a:cubicBezTo>
                  <a:cubicBezTo>
                    <a:pt x="746" y="92"/>
                    <a:pt x="693" y="72"/>
                    <a:pt x="634" y="62"/>
                  </a:cubicBezTo>
                  <a:cubicBezTo>
                    <a:pt x="575" y="52"/>
                    <a:pt x="505" y="38"/>
                    <a:pt x="439" y="38"/>
                  </a:cubicBezTo>
                  <a:cubicBezTo>
                    <a:pt x="373" y="38"/>
                    <a:pt x="284" y="51"/>
                    <a:pt x="238" y="59"/>
                  </a:cubicBezTo>
                  <a:cubicBezTo>
                    <a:pt x="192" y="67"/>
                    <a:pt x="202" y="73"/>
                    <a:pt x="172" y="86"/>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4114" name="Freeform 18"/>
            <p:cNvSpPr>
              <a:spLocks/>
            </p:cNvSpPr>
            <p:nvPr userDrawn="1"/>
          </p:nvSpPr>
          <p:spPr bwMode="auto">
            <a:xfrm>
              <a:off x="3686" y="145"/>
              <a:ext cx="372" cy="98"/>
            </a:xfrm>
            <a:custGeom>
              <a:avLst/>
              <a:gdLst/>
              <a:ahLst/>
              <a:cxnLst>
                <a:cxn ang="0">
                  <a:pos x="18" y="47"/>
                </a:cxn>
                <a:cxn ang="0">
                  <a:pos x="141" y="17"/>
                </a:cxn>
                <a:cxn ang="0">
                  <a:pos x="246" y="2"/>
                </a:cxn>
                <a:cxn ang="0">
                  <a:pos x="351" y="5"/>
                </a:cxn>
                <a:cxn ang="0">
                  <a:pos x="372" y="23"/>
                </a:cxn>
                <a:cxn ang="0">
                  <a:pos x="354" y="44"/>
                </a:cxn>
                <a:cxn ang="0">
                  <a:pos x="264" y="50"/>
                </a:cxn>
                <a:cxn ang="0">
                  <a:pos x="168" y="53"/>
                </a:cxn>
                <a:cxn ang="0">
                  <a:pos x="72" y="77"/>
                </a:cxn>
                <a:cxn ang="0">
                  <a:pos x="15" y="95"/>
                </a:cxn>
                <a:cxn ang="0">
                  <a:pos x="0" y="56"/>
                </a:cxn>
              </a:cxnLst>
              <a:rect l="0" t="0" r="r" b="b"/>
              <a:pathLst>
                <a:path w="372" h="98">
                  <a:moveTo>
                    <a:pt x="18" y="47"/>
                  </a:moveTo>
                  <a:cubicBezTo>
                    <a:pt x="60" y="36"/>
                    <a:pt x="103" y="25"/>
                    <a:pt x="141" y="17"/>
                  </a:cubicBezTo>
                  <a:cubicBezTo>
                    <a:pt x="179" y="9"/>
                    <a:pt x="211" y="4"/>
                    <a:pt x="246" y="2"/>
                  </a:cubicBezTo>
                  <a:cubicBezTo>
                    <a:pt x="281" y="0"/>
                    <a:pt x="330" y="1"/>
                    <a:pt x="351" y="5"/>
                  </a:cubicBezTo>
                  <a:cubicBezTo>
                    <a:pt x="372" y="9"/>
                    <a:pt x="372" y="17"/>
                    <a:pt x="372" y="23"/>
                  </a:cubicBezTo>
                  <a:cubicBezTo>
                    <a:pt x="372" y="29"/>
                    <a:pt x="372" y="40"/>
                    <a:pt x="354" y="44"/>
                  </a:cubicBezTo>
                  <a:cubicBezTo>
                    <a:pt x="336" y="48"/>
                    <a:pt x="295" y="49"/>
                    <a:pt x="264" y="50"/>
                  </a:cubicBezTo>
                  <a:cubicBezTo>
                    <a:pt x="233" y="51"/>
                    <a:pt x="200" y="49"/>
                    <a:pt x="168" y="53"/>
                  </a:cubicBezTo>
                  <a:cubicBezTo>
                    <a:pt x="136" y="57"/>
                    <a:pt x="98" y="70"/>
                    <a:pt x="72" y="77"/>
                  </a:cubicBezTo>
                  <a:cubicBezTo>
                    <a:pt x="46" y="84"/>
                    <a:pt x="27" y="98"/>
                    <a:pt x="15" y="95"/>
                  </a:cubicBezTo>
                  <a:cubicBezTo>
                    <a:pt x="3" y="92"/>
                    <a:pt x="1" y="74"/>
                    <a:pt x="0" y="56"/>
                  </a:cubicBezTo>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4115" name="Freeform 19"/>
            <p:cNvSpPr>
              <a:spLocks/>
            </p:cNvSpPr>
            <p:nvPr userDrawn="1"/>
          </p:nvSpPr>
          <p:spPr bwMode="auto">
            <a:xfrm>
              <a:off x="3618" y="308"/>
              <a:ext cx="318" cy="158"/>
            </a:xfrm>
            <a:custGeom>
              <a:avLst/>
              <a:gdLst/>
              <a:ahLst/>
              <a:cxnLst>
                <a:cxn ang="0">
                  <a:pos x="0" y="158"/>
                </a:cxn>
                <a:cxn ang="0">
                  <a:pos x="12" y="137"/>
                </a:cxn>
                <a:cxn ang="0">
                  <a:pos x="162" y="71"/>
                </a:cxn>
                <a:cxn ang="0">
                  <a:pos x="249" y="20"/>
                </a:cxn>
                <a:cxn ang="0">
                  <a:pos x="285" y="2"/>
                </a:cxn>
                <a:cxn ang="0">
                  <a:pos x="309" y="11"/>
                </a:cxn>
                <a:cxn ang="0">
                  <a:pos x="303" y="47"/>
                </a:cxn>
                <a:cxn ang="0">
                  <a:pos x="219" y="89"/>
                </a:cxn>
                <a:cxn ang="0">
                  <a:pos x="108" y="140"/>
                </a:cxn>
                <a:cxn ang="0">
                  <a:pos x="57" y="152"/>
                </a:cxn>
                <a:cxn ang="0">
                  <a:pos x="0" y="158"/>
                </a:cxn>
              </a:cxnLst>
              <a:rect l="0" t="0" r="r" b="b"/>
              <a:pathLst>
                <a:path w="318" h="158">
                  <a:moveTo>
                    <a:pt x="0" y="158"/>
                  </a:moveTo>
                  <a:lnTo>
                    <a:pt x="12" y="137"/>
                  </a:lnTo>
                  <a:cubicBezTo>
                    <a:pt x="39" y="123"/>
                    <a:pt x="122" y="90"/>
                    <a:pt x="162" y="71"/>
                  </a:cubicBezTo>
                  <a:cubicBezTo>
                    <a:pt x="202" y="52"/>
                    <a:pt x="229" y="31"/>
                    <a:pt x="249" y="20"/>
                  </a:cubicBezTo>
                  <a:cubicBezTo>
                    <a:pt x="269" y="9"/>
                    <a:pt x="275" y="4"/>
                    <a:pt x="285" y="2"/>
                  </a:cubicBezTo>
                  <a:cubicBezTo>
                    <a:pt x="295" y="0"/>
                    <a:pt x="306" y="4"/>
                    <a:pt x="309" y="11"/>
                  </a:cubicBezTo>
                  <a:cubicBezTo>
                    <a:pt x="312" y="18"/>
                    <a:pt x="318" y="34"/>
                    <a:pt x="303" y="47"/>
                  </a:cubicBezTo>
                  <a:cubicBezTo>
                    <a:pt x="288" y="60"/>
                    <a:pt x="252" y="74"/>
                    <a:pt x="219" y="89"/>
                  </a:cubicBezTo>
                  <a:cubicBezTo>
                    <a:pt x="186" y="104"/>
                    <a:pt x="135" y="130"/>
                    <a:pt x="108" y="140"/>
                  </a:cubicBezTo>
                  <a:cubicBezTo>
                    <a:pt x="81" y="150"/>
                    <a:pt x="74" y="150"/>
                    <a:pt x="57" y="152"/>
                  </a:cubicBezTo>
                  <a:cubicBezTo>
                    <a:pt x="40" y="154"/>
                    <a:pt x="23" y="154"/>
                    <a:pt x="0" y="158"/>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4116" name="Freeform 20"/>
            <p:cNvSpPr>
              <a:spLocks/>
            </p:cNvSpPr>
            <p:nvPr userDrawn="1"/>
          </p:nvSpPr>
          <p:spPr bwMode="auto">
            <a:xfrm>
              <a:off x="3413" y="291"/>
              <a:ext cx="380" cy="174"/>
            </a:xfrm>
            <a:custGeom>
              <a:avLst/>
              <a:gdLst/>
              <a:ahLst/>
              <a:cxnLst>
                <a:cxn ang="0">
                  <a:pos x="3" y="165"/>
                </a:cxn>
                <a:cxn ang="0">
                  <a:pos x="129" y="93"/>
                </a:cxn>
                <a:cxn ang="0">
                  <a:pos x="261" y="30"/>
                </a:cxn>
                <a:cxn ang="0">
                  <a:pos x="351" y="0"/>
                </a:cxn>
                <a:cxn ang="0">
                  <a:pos x="378" y="27"/>
                </a:cxn>
                <a:cxn ang="0">
                  <a:pos x="336" y="51"/>
                </a:cxn>
                <a:cxn ang="0">
                  <a:pos x="291" y="60"/>
                </a:cxn>
                <a:cxn ang="0">
                  <a:pos x="240" y="75"/>
                </a:cxn>
                <a:cxn ang="0">
                  <a:pos x="189" y="120"/>
                </a:cxn>
                <a:cxn ang="0">
                  <a:pos x="102" y="174"/>
                </a:cxn>
                <a:cxn ang="0">
                  <a:pos x="0" y="162"/>
                </a:cxn>
              </a:cxnLst>
              <a:rect l="0" t="0" r="r" b="b"/>
              <a:pathLst>
                <a:path w="380" h="174">
                  <a:moveTo>
                    <a:pt x="3" y="165"/>
                  </a:moveTo>
                  <a:cubicBezTo>
                    <a:pt x="24" y="153"/>
                    <a:pt x="86" y="115"/>
                    <a:pt x="129" y="93"/>
                  </a:cubicBezTo>
                  <a:cubicBezTo>
                    <a:pt x="172" y="71"/>
                    <a:pt x="224" y="45"/>
                    <a:pt x="261" y="30"/>
                  </a:cubicBezTo>
                  <a:cubicBezTo>
                    <a:pt x="298" y="15"/>
                    <a:pt x="332" y="0"/>
                    <a:pt x="351" y="0"/>
                  </a:cubicBezTo>
                  <a:cubicBezTo>
                    <a:pt x="370" y="0"/>
                    <a:pt x="380" y="19"/>
                    <a:pt x="378" y="27"/>
                  </a:cubicBezTo>
                  <a:cubicBezTo>
                    <a:pt x="376" y="35"/>
                    <a:pt x="350" y="46"/>
                    <a:pt x="336" y="51"/>
                  </a:cubicBezTo>
                  <a:cubicBezTo>
                    <a:pt x="322" y="56"/>
                    <a:pt x="307" y="56"/>
                    <a:pt x="291" y="60"/>
                  </a:cubicBezTo>
                  <a:cubicBezTo>
                    <a:pt x="275" y="64"/>
                    <a:pt x="257" y="65"/>
                    <a:pt x="240" y="75"/>
                  </a:cubicBezTo>
                  <a:cubicBezTo>
                    <a:pt x="223" y="85"/>
                    <a:pt x="212" y="104"/>
                    <a:pt x="189" y="120"/>
                  </a:cubicBezTo>
                  <a:cubicBezTo>
                    <a:pt x="166" y="136"/>
                    <a:pt x="133" y="167"/>
                    <a:pt x="102" y="174"/>
                  </a:cubicBezTo>
                  <a:lnTo>
                    <a:pt x="0" y="162"/>
                  </a:lnTo>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4117" name="Freeform 21"/>
            <p:cNvSpPr>
              <a:spLocks/>
            </p:cNvSpPr>
            <p:nvPr userDrawn="1"/>
          </p:nvSpPr>
          <p:spPr bwMode="auto">
            <a:xfrm>
              <a:off x="4178" y="187"/>
              <a:ext cx="523" cy="69"/>
            </a:xfrm>
            <a:custGeom>
              <a:avLst/>
              <a:gdLst/>
              <a:ahLst/>
              <a:cxnLst>
                <a:cxn ang="0">
                  <a:pos x="84" y="11"/>
                </a:cxn>
                <a:cxn ang="0">
                  <a:pos x="27" y="5"/>
                </a:cxn>
                <a:cxn ang="0">
                  <a:pos x="9" y="35"/>
                </a:cxn>
                <a:cxn ang="0">
                  <a:pos x="81" y="56"/>
                </a:cxn>
                <a:cxn ang="0">
                  <a:pos x="255" y="68"/>
                </a:cxn>
                <a:cxn ang="0">
                  <a:pos x="432" y="50"/>
                </a:cxn>
                <a:cxn ang="0">
                  <a:pos x="513" y="5"/>
                </a:cxn>
                <a:cxn ang="0">
                  <a:pos x="372" y="20"/>
                </a:cxn>
                <a:cxn ang="0">
                  <a:pos x="141" y="14"/>
                </a:cxn>
                <a:cxn ang="0">
                  <a:pos x="84" y="11"/>
                </a:cxn>
              </a:cxnLst>
              <a:rect l="0" t="0" r="r" b="b"/>
              <a:pathLst>
                <a:path w="523" h="69">
                  <a:moveTo>
                    <a:pt x="84" y="11"/>
                  </a:moveTo>
                  <a:cubicBezTo>
                    <a:pt x="65" y="9"/>
                    <a:pt x="40" y="1"/>
                    <a:pt x="27" y="5"/>
                  </a:cubicBezTo>
                  <a:cubicBezTo>
                    <a:pt x="14" y="9"/>
                    <a:pt x="0" y="27"/>
                    <a:pt x="9" y="35"/>
                  </a:cubicBezTo>
                  <a:cubicBezTo>
                    <a:pt x="18" y="43"/>
                    <a:pt x="40" y="51"/>
                    <a:pt x="81" y="56"/>
                  </a:cubicBezTo>
                  <a:cubicBezTo>
                    <a:pt x="122" y="61"/>
                    <a:pt x="197" y="69"/>
                    <a:pt x="255" y="68"/>
                  </a:cubicBezTo>
                  <a:cubicBezTo>
                    <a:pt x="313" y="67"/>
                    <a:pt x="389" y="60"/>
                    <a:pt x="432" y="50"/>
                  </a:cubicBezTo>
                  <a:cubicBezTo>
                    <a:pt x="475" y="40"/>
                    <a:pt x="523" y="10"/>
                    <a:pt x="513" y="5"/>
                  </a:cubicBezTo>
                  <a:cubicBezTo>
                    <a:pt x="503" y="0"/>
                    <a:pt x="434" y="19"/>
                    <a:pt x="372" y="20"/>
                  </a:cubicBezTo>
                  <a:cubicBezTo>
                    <a:pt x="310" y="21"/>
                    <a:pt x="189" y="15"/>
                    <a:pt x="141" y="14"/>
                  </a:cubicBezTo>
                  <a:cubicBezTo>
                    <a:pt x="93" y="13"/>
                    <a:pt x="103" y="13"/>
                    <a:pt x="84" y="11"/>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4118" name="Freeform 22"/>
            <p:cNvSpPr>
              <a:spLocks/>
            </p:cNvSpPr>
            <p:nvPr userDrawn="1"/>
          </p:nvSpPr>
          <p:spPr bwMode="auto">
            <a:xfrm>
              <a:off x="4689" y="186"/>
              <a:ext cx="537" cy="120"/>
            </a:xfrm>
            <a:custGeom>
              <a:avLst/>
              <a:gdLst/>
              <a:ahLst/>
              <a:cxnLst>
                <a:cxn ang="0">
                  <a:pos x="23" y="6"/>
                </a:cxn>
                <a:cxn ang="0">
                  <a:pos x="188" y="3"/>
                </a:cxn>
                <a:cxn ang="0">
                  <a:pos x="323" y="27"/>
                </a:cxn>
                <a:cxn ang="0">
                  <a:pos x="464" y="69"/>
                </a:cxn>
                <a:cxn ang="0">
                  <a:pos x="521" y="90"/>
                </a:cxn>
                <a:cxn ang="0">
                  <a:pos x="533" y="105"/>
                </a:cxn>
                <a:cxn ang="0">
                  <a:pos x="497" y="120"/>
                </a:cxn>
                <a:cxn ang="0">
                  <a:pos x="452" y="108"/>
                </a:cxn>
                <a:cxn ang="0">
                  <a:pos x="350" y="72"/>
                </a:cxn>
                <a:cxn ang="0">
                  <a:pos x="158" y="39"/>
                </a:cxn>
                <a:cxn ang="0">
                  <a:pos x="50" y="39"/>
                </a:cxn>
                <a:cxn ang="0">
                  <a:pos x="23" y="6"/>
                </a:cxn>
              </a:cxnLst>
              <a:rect l="0" t="0" r="r" b="b"/>
              <a:pathLst>
                <a:path w="537" h="120">
                  <a:moveTo>
                    <a:pt x="23" y="6"/>
                  </a:moveTo>
                  <a:cubicBezTo>
                    <a:pt x="46" y="0"/>
                    <a:pt x="138" y="0"/>
                    <a:pt x="188" y="3"/>
                  </a:cubicBezTo>
                  <a:cubicBezTo>
                    <a:pt x="238" y="6"/>
                    <a:pt x="277" y="16"/>
                    <a:pt x="323" y="27"/>
                  </a:cubicBezTo>
                  <a:cubicBezTo>
                    <a:pt x="369" y="38"/>
                    <a:pt x="431" y="59"/>
                    <a:pt x="464" y="69"/>
                  </a:cubicBezTo>
                  <a:cubicBezTo>
                    <a:pt x="497" y="79"/>
                    <a:pt x="509" y="84"/>
                    <a:pt x="521" y="90"/>
                  </a:cubicBezTo>
                  <a:cubicBezTo>
                    <a:pt x="533" y="96"/>
                    <a:pt x="537" y="100"/>
                    <a:pt x="533" y="105"/>
                  </a:cubicBezTo>
                  <a:cubicBezTo>
                    <a:pt x="529" y="110"/>
                    <a:pt x="510" y="120"/>
                    <a:pt x="497" y="120"/>
                  </a:cubicBezTo>
                  <a:cubicBezTo>
                    <a:pt x="484" y="120"/>
                    <a:pt x="476" y="116"/>
                    <a:pt x="452" y="108"/>
                  </a:cubicBezTo>
                  <a:cubicBezTo>
                    <a:pt x="428" y="100"/>
                    <a:pt x="399" y="84"/>
                    <a:pt x="350" y="72"/>
                  </a:cubicBezTo>
                  <a:cubicBezTo>
                    <a:pt x="301" y="60"/>
                    <a:pt x="208" y="45"/>
                    <a:pt x="158" y="39"/>
                  </a:cubicBezTo>
                  <a:cubicBezTo>
                    <a:pt x="108" y="33"/>
                    <a:pt x="72" y="43"/>
                    <a:pt x="50" y="39"/>
                  </a:cubicBezTo>
                  <a:cubicBezTo>
                    <a:pt x="28" y="35"/>
                    <a:pt x="0" y="12"/>
                    <a:pt x="23" y="6"/>
                  </a:cubicBezTo>
                  <a:close/>
                </a:path>
              </a:pathLst>
            </a:custGeom>
            <a:solidFill>
              <a:schemeClr val="accent1"/>
            </a:solidFill>
            <a:ln w="9525">
              <a:noFill/>
              <a:round/>
              <a:headEnd/>
              <a:tailEnd/>
            </a:ln>
            <a:effectLst/>
          </p:spPr>
          <p:txBody>
            <a:bodyPr wrap="none" anchor="ctr"/>
            <a:lstStyle/>
            <a:p>
              <a:pPr>
                <a:defRPr/>
              </a:pPr>
              <a:endParaRPr lang="zh-CN" altLang="en-US"/>
            </a:p>
          </p:txBody>
        </p:sp>
        <p:sp>
          <p:nvSpPr>
            <p:cNvPr id="4119" name="Freeform 23"/>
            <p:cNvSpPr>
              <a:spLocks/>
            </p:cNvSpPr>
            <p:nvPr userDrawn="1"/>
          </p:nvSpPr>
          <p:spPr bwMode="auto">
            <a:xfrm>
              <a:off x="4968" y="312"/>
              <a:ext cx="800" cy="143"/>
            </a:xfrm>
            <a:custGeom>
              <a:avLst/>
              <a:gdLst/>
              <a:ahLst/>
              <a:cxnLst>
                <a:cxn ang="0">
                  <a:pos x="800" y="24"/>
                </a:cxn>
                <a:cxn ang="0">
                  <a:pos x="782" y="15"/>
                </a:cxn>
                <a:cxn ang="0">
                  <a:pos x="659" y="63"/>
                </a:cxn>
                <a:cxn ang="0">
                  <a:pos x="500" y="84"/>
                </a:cxn>
                <a:cxn ang="0">
                  <a:pos x="326" y="69"/>
                </a:cxn>
                <a:cxn ang="0">
                  <a:pos x="98" y="21"/>
                </a:cxn>
                <a:cxn ang="0">
                  <a:pos x="11" y="6"/>
                </a:cxn>
                <a:cxn ang="0">
                  <a:pos x="32" y="60"/>
                </a:cxn>
                <a:cxn ang="0">
                  <a:pos x="155" y="96"/>
                </a:cxn>
                <a:cxn ang="0">
                  <a:pos x="410" y="138"/>
                </a:cxn>
                <a:cxn ang="0">
                  <a:pos x="596" y="129"/>
                </a:cxn>
                <a:cxn ang="0">
                  <a:pos x="737" y="90"/>
                </a:cxn>
                <a:cxn ang="0">
                  <a:pos x="788" y="69"/>
                </a:cxn>
                <a:cxn ang="0">
                  <a:pos x="800" y="24"/>
                </a:cxn>
              </a:cxnLst>
              <a:rect l="0" t="0" r="r" b="b"/>
              <a:pathLst>
                <a:path w="800" h="143">
                  <a:moveTo>
                    <a:pt x="800" y="24"/>
                  </a:moveTo>
                  <a:lnTo>
                    <a:pt x="782" y="15"/>
                  </a:lnTo>
                  <a:cubicBezTo>
                    <a:pt x="759" y="21"/>
                    <a:pt x="706" y="51"/>
                    <a:pt x="659" y="63"/>
                  </a:cubicBezTo>
                  <a:cubicBezTo>
                    <a:pt x="612" y="75"/>
                    <a:pt x="555" y="83"/>
                    <a:pt x="500" y="84"/>
                  </a:cubicBezTo>
                  <a:cubicBezTo>
                    <a:pt x="445" y="85"/>
                    <a:pt x="393" y="79"/>
                    <a:pt x="326" y="69"/>
                  </a:cubicBezTo>
                  <a:cubicBezTo>
                    <a:pt x="259" y="59"/>
                    <a:pt x="150" y="31"/>
                    <a:pt x="98" y="21"/>
                  </a:cubicBezTo>
                  <a:cubicBezTo>
                    <a:pt x="46" y="11"/>
                    <a:pt x="22" y="0"/>
                    <a:pt x="11" y="6"/>
                  </a:cubicBezTo>
                  <a:cubicBezTo>
                    <a:pt x="0" y="12"/>
                    <a:pt x="8" y="45"/>
                    <a:pt x="32" y="60"/>
                  </a:cubicBezTo>
                  <a:cubicBezTo>
                    <a:pt x="56" y="75"/>
                    <a:pt x="92" y="83"/>
                    <a:pt x="155" y="96"/>
                  </a:cubicBezTo>
                  <a:cubicBezTo>
                    <a:pt x="218" y="109"/>
                    <a:pt x="337" y="133"/>
                    <a:pt x="410" y="138"/>
                  </a:cubicBezTo>
                  <a:cubicBezTo>
                    <a:pt x="483" y="143"/>
                    <a:pt x="542" y="137"/>
                    <a:pt x="596" y="129"/>
                  </a:cubicBezTo>
                  <a:cubicBezTo>
                    <a:pt x="650" y="121"/>
                    <a:pt x="705" y="100"/>
                    <a:pt x="737" y="90"/>
                  </a:cubicBezTo>
                  <a:cubicBezTo>
                    <a:pt x="769" y="80"/>
                    <a:pt x="780" y="80"/>
                    <a:pt x="788" y="69"/>
                  </a:cubicBezTo>
                  <a:cubicBezTo>
                    <a:pt x="796" y="58"/>
                    <a:pt x="792" y="39"/>
                    <a:pt x="800" y="24"/>
                  </a:cubicBezTo>
                  <a:close/>
                </a:path>
              </a:pathLst>
            </a:custGeom>
            <a:solidFill>
              <a:schemeClr val="accent1"/>
            </a:solidFill>
            <a:ln w="9525">
              <a:noFill/>
              <a:round/>
              <a:headEnd/>
              <a:tailEnd/>
            </a:ln>
            <a:effectLst/>
          </p:spPr>
          <p:txBody>
            <a:bodyPr wrap="none" anchor="ctr"/>
            <a:lstStyle/>
            <a:p>
              <a:pPr>
                <a:defRPr/>
              </a:pPr>
              <a:endParaRPr lang="zh-CN" altLang="en-US"/>
            </a:p>
          </p:txBody>
        </p:sp>
        <p:sp>
          <p:nvSpPr>
            <p:cNvPr id="4120" name="Freeform 24"/>
            <p:cNvSpPr>
              <a:spLocks/>
            </p:cNvSpPr>
            <p:nvPr userDrawn="1"/>
          </p:nvSpPr>
          <p:spPr bwMode="auto">
            <a:xfrm>
              <a:off x="5318" y="240"/>
              <a:ext cx="402" cy="115"/>
            </a:xfrm>
            <a:custGeom>
              <a:avLst/>
              <a:gdLst/>
              <a:ahLst/>
              <a:cxnLst>
                <a:cxn ang="0">
                  <a:pos x="402" y="0"/>
                </a:cxn>
                <a:cxn ang="0">
                  <a:pos x="384" y="12"/>
                </a:cxn>
                <a:cxn ang="0">
                  <a:pos x="276" y="51"/>
                </a:cxn>
                <a:cxn ang="0">
                  <a:pos x="165" y="66"/>
                </a:cxn>
                <a:cxn ang="0">
                  <a:pos x="51" y="57"/>
                </a:cxn>
                <a:cxn ang="0">
                  <a:pos x="15" y="54"/>
                </a:cxn>
                <a:cxn ang="0">
                  <a:pos x="3" y="69"/>
                </a:cxn>
                <a:cxn ang="0">
                  <a:pos x="9" y="93"/>
                </a:cxn>
                <a:cxn ang="0">
                  <a:pos x="54" y="102"/>
                </a:cxn>
                <a:cxn ang="0">
                  <a:pos x="198" y="111"/>
                </a:cxn>
                <a:cxn ang="0">
                  <a:pos x="336" y="75"/>
                </a:cxn>
                <a:cxn ang="0">
                  <a:pos x="375" y="54"/>
                </a:cxn>
                <a:cxn ang="0">
                  <a:pos x="402" y="0"/>
                </a:cxn>
              </a:cxnLst>
              <a:rect l="0" t="0" r="r" b="b"/>
              <a:pathLst>
                <a:path w="402" h="115">
                  <a:moveTo>
                    <a:pt x="402" y="0"/>
                  </a:moveTo>
                  <a:lnTo>
                    <a:pt x="384" y="12"/>
                  </a:lnTo>
                  <a:cubicBezTo>
                    <a:pt x="363" y="20"/>
                    <a:pt x="312" y="42"/>
                    <a:pt x="276" y="51"/>
                  </a:cubicBezTo>
                  <a:cubicBezTo>
                    <a:pt x="240" y="60"/>
                    <a:pt x="202" y="65"/>
                    <a:pt x="165" y="66"/>
                  </a:cubicBezTo>
                  <a:cubicBezTo>
                    <a:pt x="128" y="67"/>
                    <a:pt x="76" y="59"/>
                    <a:pt x="51" y="57"/>
                  </a:cubicBezTo>
                  <a:cubicBezTo>
                    <a:pt x="26" y="55"/>
                    <a:pt x="23" y="52"/>
                    <a:pt x="15" y="54"/>
                  </a:cubicBezTo>
                  <a:cubicBezTo>
                    <a:pt x="7" y="56"/>
                    <a:pt x="4" y="63"/>
                    <a:pt x="3" y="69"/>
                  </a:cubicBezTo>
                  <a:cubicBezTo>
                    <a:pt x="2" y="75"/>
                    <a:pt x="0" y="88"/>
                    <a:pt x="9" y="93"/>
                  </a:cubicBezTo>
                  <a:cubicBezTo>
                    <a:pt x="18" y="98"/>
                    <a:pt x="22" y="99"/>
                    <a:pt x="54" y="102"/>
                  </a:cubicBezTo>
                  <a:cubicBezTo>
                    <a:pt x="86" y="105"/>
                    <a:pt x="151" y="115"/>
                    <a:pt x="198" y="111"/>
                  </a:cubicBezTo>
                  <a:cubicBezTo>
                    <a:pt x="245" y="107"/>
                    <a:pt x="307" y="84"/>
                    <a:pt x="336" y="75"/>
                  </a:cubicBezTo>
                  <a:cubicBezTo>
                    <a:pt x="365" y="66"/>
                    <a:pt x="365" y="65"/>
                    <a:pt x="375" y="54"/>
                  </a:cubicBezTo>
                  <a:cubicBezTo>
                    <a:pt x="385" y="43"/>
                    <a:pt x="392" y="26"/>
                    <a:pt x="402" y="0"/>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grpSp>
      <p:grpSp>
        <p:nvGrpSpPr>
          <p:cNvPr id="70659" name="Group 25"/>
          <p:cNvGrpSpPr>
            <a:grpSpLocks/>
          </p:cNvGrpSpPr>
          <p:nvPr/>
        </p:nvGrpSpPr>
        <p:grpSpPr bwMode="auto">
          <a:xfrm>
            <a:off x="-25400" y="6248400"/>
            <a:ext cx="9169400" cy="222250"/>
            <a:chOff x="0" y="4032"/>
            <a:chExt cx="5776" cy="87"/>
          </a:xfrm>
        </p:grpSpPr>
        <p:sp>
          <p:nvSpPr>
            <p:cNvPr id="4122" name="Freeform 26"/>
            <p:cNvSpPr>
              <a:spLocks/>
            </p:cNvSpPr>
            <p:nvPr userDrawn="1"/>
          </p:nvSpPr>
          <p:spPr bwMode="auto">
            <a:xfrm>
              <a:off x="4041" y="4047"/>
              <a:ext cx="1735" cy="72"/>
            </a:xfrm>
            <a:custGeom>
              <a:avLst/>
              <a:gdLst/>
              <a:ahLst/>
              <a:cxnLst>
                <a:cxn ang="0">
                  <a:pos x="165" y="6"/>
                </a:cxn>
                <a:cxn ang="0">
                  <a:pos x="450" y="3"/>
                </a:cxn>
                <a:cxn ang="0">
                  <a:pos x="714" y="12"/>
                </a:cxn>
                <a:cxn ang="0">
                  <a:pos x="957" y="24"/>
                </a:cxn>
                <a:cxn ang="0">
                  <a:pos x="1173" y="24"/>
                </a:cxn>
                <a:cxn ang="0">
                  <a:pos x="1473" y="15"/>
                </a:cxn>
                <a:cxn ang="0">
                  <a:pos x="1617" y="0"/>
                </a:cxn>
                <a:cxn ang="0">
                  <a:pos x="1719" y="15"/>
                </a:cxn>
                <a:cxn ang="0">
                  <a:pos x="1716" y="66"/>
                </a:cxn>
                <a:cxn ang="0">
                  <a:pos x="1632" y="51"/>
                </a:cxn>
                <a:cxn ang="0">
                  <a:pos x="1407" y="51"/>
                </a:cxn>
                <a:cxn ang="0">
                  <a:pos x="1191" y="48"/>
                </a:cxn>
                <a:cxn ang="0">
                  <a:pos x="870" y="60"/>
                </a:cxn>
                <a:cxn ang="0">
                  <a:pos x="492" y="48"/>
                </a:cxn>
                <a:cxn ang="0">
                  <a:pos x="291" y="27"/>
                </a:cxn>
                <a:cxn ang="0">
                  <a:pos x="21" y="36"/>
                </a:cxn>
                <a:cxn ang="0">
                  <a:pos x="165" y="6"/>
                </a:cxn>
              </a:cxnLst>
              <a:rect l="0" t="0" r="r" b="b"/>
              <a:pathLst>
                <a:path w="1735" h="72">
                  <a:moveTo>
                    <a:pt x="165" y="6"/>
                  </a:moveTo>
                  <a:cubicBezTo>
                    <a:pt x="236" y="1"/>
                    <a:pt x="359" y="2"/>
                    <a:pt x="450" y="3"/>
                  </a:cubicBezTo>
                  <a:cubicBezTo>
                    <a:pt x="541" y="4"/>
                    <a:pt x="630" y="9"/>
                    <a:pt x="714" y="12"/>
                  </a:cubicBezTo>
                  <a:cubicBezTo>
                    <a:pt x="798" y="15"/>
                    <a:pt x="881" y="22"/>
                    <a:pt x="957" y="24"/>
                  </a:cubicBezTo>
                  <a:cubicBezTo>
                    <a:pt x="1033" y="26"/>
                    <a:pt x="1087" y="25"/>
                    <a:pt x="1173" y="24"/>
                  </a:cubicBezTo>
                  <a:cubicBezTo>
                    <a:pt x="1259" y="23"/>
                    <a:pt x="1399" y="19"/>
                    <a:pt x="1473" y="15"/>
                  </a:cubicBezTo>
                  <a:cubicBezTo>
                    <a:pt x="1547" y="11"/>
                    <a:pt x="1576" y="0"/>
                    <a:pt x="1617" y="0"/>
                  </a:cubicBezTo>
                  <a:cubicBezTo>
                    <a:pt x="1658" y="0"/>
                    <a:pt x="1703" y="4"/>
                    <a:pt x="1719" y="15"/>
                  </a:cubicBezTo>
                  <a:cubicBezTo>
                    <a:pt x="1735" y="26"/>
                    <a:pt x="1730" y="60"/>
                    <a:pt x="1716" y="66"/>
                  </a:cubicBezTo>
                  <a:cubicBezTo>
                    <a:pt x="1702" y="72"/>
                    <a:pt x="1683" y="53"/>
                    <a:pt x="1632" y="51"/>
                  </a:cubicBezTo>
                  <a:cubicBezTo>
                    <a:pt x="1581" y="49"/>
                    <a:pt x="1480" y="51"/>
                    <a:pt x="1407" y="51"/>
                  </a:cubicBezTo>
                  <a:cubicBezTo>
                    <a:pt x="1334" y="51"/>
                    <a:pt x="1280" y="47"/>
                    <a:pt x="1191" y="48"/>
                  </a:cubicBezTo>
                  <a:cubicBezTo>
                    <a:pt x="1102" y="49"/>
                    <a:pt x="986" y="60"/>
                    <a:pt x="870" y="60"/>
                  </a:cubicBezTo>
                  <a:cubicBezTo>
                    <a:pt x="754" y="60"/>
                    <a:pt x="588" y="53"/>
                    <a:pt x="492" y="48"/>
                  </a:cubicBezTo>
                  <a:cubicBezTo>
                    <a:pt x="396" y="43"/>
                    <a:pt x="369" y="29"/>
                    <a:pt x="291" y="27"/>
                  </a:cubicBezTo>
                  <a:cubicBezTo>
                    <a:pt x="213" y="25"/>
                    <a:pt x="42" y="39"/>
                    <a:pt x="21" y="36"/>
                  </a:cubicBezTo>
                  <a:cubicBezTo>
                    <a:pt x="0" y="33"/>
                    <a:pt x="94" y="11"/>
                    <a:pt x="165" y="6"/>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4123" name="Freeform 27"/>
            <p:cNvSpPr>
              <a:spLocks/>
            </p:cNvSpPr>
            <p:nvPr userDrawn="1"/>
          </p:nvSpPr>
          <p:spPr bwMode="auto">
            <a:xfrm>
              <a:off x="1727" y="4038"/>
              <a:ext cx="2655" cy="60"/>
            </a:xfrm>
            <a:custGeom>
              <a:avLst/>
              <a:gdLst/>
              <a:ahLst/>
              <a:cxnLst>
                <a:cxn ang="0">
                  <a:pos x="2641" y="6"/>
                </a:cxn>
                <a:cxn ang="0">
                  <a:pos x="2620" y="30"/>
                </a:cxn>
                <a:cxn ang="0">
                  <a:pos x="2368" y="45"/>
                </a:cxn>
                <a:cxn ang="0">
                  <a:pos x="2023" y="60"/>
                </a:cxn>
                <a:cxn ang="0">
                  <a:pos x="1786" y="48"/>
                </a:cxn>
                <a:cxn ang="0">
                  <a:pos x="1525" y="36"/>
                </a:cxn>
                <a:cxn ang="0">
                  <a:pos x="1195" y="45"/>
                </a:cxn>
                <a:cxn ang="0">
                  <a:pos x="817" y="39"/>
                </a:cxn>
                <a:cxn ang="0">
                  <a:pos x="499" y="27"/>
                </a:cxn>
                <a:cxn ang="0">
                  <a:pos x="136" y="39"/>
                </a:cxn>
                <a:cxn ang="0">
                  <a:pos x="10" y="33"/>
                </a:cxn>
                <a:cxn ang="0">
                  <a:pos x="76" y="24"/>
                </a:cxn>
                <a:cxn ang="0">
                  <a:pos x="310" y="18"/>
                </a:cxn>
                <a:cxn ang="0">
                  <a:pos x="544" y="0"/>
                </a:cxn>
                <a:cxn ang="0">
                  <a:pos x="853" y="21"/>
                </a:cxn>
                <a:cxn ang="0">
                  <a:pos x="1114" y="21"/>
                </a:cxn>
                <a:cxn ang="0">
                  <a:pos x="1399" y="3"/>
                </a:cxn>
                <a:cxn ang="0">
                  <a:pos x="1588" y="9"/>
                </a:cxn>
                <a:cxn ang="0">
                  <a:pos x="1807" y="21"/>
                </a:cxn>
                <a:cxn ang="0">
                  <a:pos x="2035" y="12"/>
                </a:cxn>
                <a:cxn ang="0">
                  <a:pos x="2290" y="18"/>
                </a:cxn>
                <a:cxn ang="0">
                  <a:pos x="2596" y="3"/>
                </a:cxn>
                <a:cxn ang="0">
                  <a:pos x="2641" y="6"/>
                </a:cxn>
              </a:cxnLst>
              <a:rect l="0" t="0" r="r" b="b"/>
              <a:pathLst>
                <a:path w="2655" h="60">
                  <a:moveTo>
                    <a:pt x="2641" y="6"/>
                  </a:moveTo>
                  <a:lnTo>
                    <a:pt x="2620" y="30"/>
                  </a:lnTo>
                  <a:cubicBezTo>
                    <a:pt x="2575" y="36"/>
                    <a:pt x="2467" y="40"/>
                    <a:pt x="2368" y="45"/>
                  </a:cubicBezTo>
                  <a:cubicBezTo>
                    <a:pt x="2269" y="50"/>
                    <a:pt x="2120" y="60"/>
                    <a:pt x="2023" y="60"/>
                  </a:cubicBezTo>
                  <a:cubicBezTo>
                    <a:pt x="1926" y="60"/>
                    <a:pt x="1869" y="52"/>
                    <a:pt x="1786" y="48"/>
                  </a:cubicBezTo>
                  <a:cubicBezTo>
                    <a:pt x="1703" y="44"/>
                    <a:pt x="1623" y="36"/>
                    <a:pt x="1525" y="36"/>
                  </a:cubicBezTo>
                  <a:cubicBezTo>
                    <a:pt x="1427" y="36"/>
                    <a:pt x="1313" y="44"/>
                    <a:pt x="1195" y="45"/>
                  </a:cubicBezTo>
                  <a:cubicBezTo>
                    <a:pt x="1077" y="46"/>
                    <a:pt x="933" y="42"/>
                    <a:pt x="817" y="39"/>
                  </a:cubicBezTo>
                  <a:cubicBezTo>
                    <a:pt x="701" y="36"/>
                    <a:pt x="612" y="27"/>
                    <a:pt x="499" y="27"/>
                  </a:cubicBezTo>
                  <a:cubicBezTo>
                    <a:pt x="386" y="27"/>
                    <a:pt x="217" y="38"/>
                    <a:pt x="136" y="39"/>
                  </a:cubicBezTo>
                  <a:cubicBezTo>
                    <a:pt x="55" y="40"/>
                    <a:pt x="20" y="36"/>
                    <a:pt x="10" y="33"/>
                  </a:cubicBezTo>
                  <a:cubicBezTo>
                    <a:pt x="0" y="30"/>
                    <a:pt x="26" y="27"/>
                    <a:pt x="76" y="24"/>
                  </a:cubicBezTo>
                  <a:cubicBezTo>
                    <a:pt x="126" y="21"/>
                    <a:pt x="232" y="22"/>
                    <a:pt x="310" y="18"/>
                  </a:cubicBezTo>
                  <a:cubicBezTo>
                    <a:pt x="388" y="14"/>
                    <a:pt x="454" y="0"/>
                    <a:pt x="544" y="0"/>
                  </a:cubicBezTo>
                  <a:cubicBezTo>
                    <a:pt x="634" y="0"/>
                    <a:pt x="758" y="18"/>
                    <a:pt x="853" y="21"/>
                  </a:cubicBezTo>
                  <a:cubicBezTo>
                    <a:pt x="948" y="24"/>
                    <a:pt x="1023" y="24"/>
                    <a:pt x="1114" y="21"/>
                  </a:cubicBezTo>
                  <a:cubicBezTo>
                    <a:pt x="1205" y="18"/>
                    <a:pt x="1320" y="5"/>
                    <a:pt x="1399" y="3"/>
                  </a:cubicBezTo>
                  <a:cubicBezTo>
                    <a:pt x="1478" y="1"/>
                    <a:pt x="1520" y="6"/>
                    <a:pt x="1588" y="9"/>
                  </a:cubicBezTo>
                  <a:cubicBezTo>
                    <a:pt x="1656" y="12"/>
                    <a:pt x="1733" y="21"/>
                    <a:pt x="1807" y="21"/>
                  </a:cubicBezTo>
                  <a:cubicBezTo>
                    <a:pt x="1881" y="21"/>
                    <a:pt x="1955" y="12"/>
                    <a:pt x="2035" y="12"/>
                  </a:cubicBezTo>
                  <a:cubicBezTo>
                    <a:pt x="2115" y="12"/>
                    <a:pt x="2197" y="19"/>
                    <a:pt x="2290" y="18"/>
                  </a:cubicBezTo>
                  <a:cubicBezTo>
                    <a:pt x="2383" y="17"/>
                    <a:pt x="2537" y="5"/>
                    <a:pt x="2596" y="3"/>
                  </a:cubicBezTo>
                  <a:cubicBezTo>
                    <a:pt x="2655" y="1"/>
                    <a:pt x="2651" y="3"/>
                    <a:pt x="2641" y="6"/>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sp>
          <p:nvSpPr>
            <p:cNvPr id="4124" name="Freeform 28"/>
            <p:cNvSpPr>
              <a:spLocks/>
            </p:cNvSpPr>
            <p:nvPr userDrawn="1"/>
          </p:nvSpPr>
          <p:spPr bwMode="auto">
            <a:xfrm>
              <a:off x="0" y="4032"/>
              <a:ext cx="2041" cy="62"/>
            </a:xfrm>
            <a:custGeom>
              <a:avLst/>
              <a:gdLst/>
              <a:ahLst/>
              <a:cxnLst>
                <a:cxn ang="0">
                  <a:pos x="1893" y="39"/>
                </a:cxn>
                <a:cxn ang="0">
                  <a:pos x="1578" y="45"/>
                </a:cxn>
                <a:cxn ang="0">
                  <a:pos x="1011" y="60"/>
                </a:cxn>
                <a:cxn ang="0">
                  <a:pos x="438" y="57"/>
                </a:cxn>
                <a:cxn ang="0">
                  <a:pos x="0" y="36"/>
                </a:cxn>
                <a:cxn ang="0">
                  <a:pos x="0" y="3"/>
                </a:cxn>
                <a:cxn ang="0">
                  <a:pos x="210" y="18"/>
                </a:cxn>
                <a:cxn ang="0">
                  <a:pos x="474" y="21"/>
                </a:cxn>
                <a:cxn ang="0">
                  <a:pos x="678" y="9"/>
                </a:cxn>
                <a:cxn ang="0">
                  <a:pos x="897" y="9"/>
                </a:cxn>
                <a:cxn ang="0">
                  <a:pos x="1167" y="30"/>
                </a:cxn>
                <a:cxn ang="0">
                  <a:pos x="1500" y="24"/>
                </a:cxn>
                <a:cxn ang="0">
                  <a:pos x="1758" y="3"/>
                </a:cxn>
                <a:cxn ang="0">
                  <a:pos x="1938" y="18"/>
                </a:cxn>
                <a:cxn ang="0">
                  <a:pos x="2034" y="33"/>
                </a:cxn>
                <a:cxn ang="0">
                  <a:pos x="1893" y="39"/>
                </a:cxn>
              </a:cxnLst>
              <a:rect l="0" t="0" r="r" b="b"/>
              <a:pathLst>
                <a:path w="2041" h="62">
                  <a:moveTo>
                    <a:pt x="1893" y="39"/>
                  </a:moveTo>
                  <a:cubicBezTo>
                    <a:pt x="1817" y="41"/>
                    <a:pt x="1725" y="42"/>
                    <a:pt x="1578" y="45"/>
                  </a:cubicBezTo>
                  <a:cubicBezTo>
                    <a:pt x="1431" y="48"/>
                    <a:pt x="1201" y="58"/>
                    <a:pt x="1011" y="60"/>
                  </a:cubicBezTo>
                  <a:cubicBezTo>
                    <a:pt x="821" y="62"/>
                    <a:pt x="606" y="61"/>
                    <a:pt x="438" y="57"/>
                  </a:cubicBezTo>
                  <a:cubicBezTo>
                    <a:pt x="270" y="53"/>
                    <a:pt x="73" y="45"/>
                    <a:pt x="0" y="36"/>
                  </a:cubicBezTo>
                  <a:lnTo>
                    <a:pt x="0" y="3"/>
                  </a:lnTo>
                  <a:cubicBezTo>
                    <a:pt x="35" y="0"/>
                    <a:pt x="131" y="15"/>
                    <a:pt x="210" y="18"/>
                  </a:cubicBezTo>
                  <a:cubicBezTo>
                    <a:pt x="289" y="21"/>
                    <a:pt x="396" y="22"/>
                    <a:pt x="474" y="21"/>
                  </a:cubicBezTo>
                  <a:cubicBezTo>
                    <a:pt x="552" y="20"/>
                    <a:pt x="608" y="11"/>
                    <a:pt x="678" y="9"/>
                  </a:cubicBezTo>
                  <a:cubicBezTo>
                    <a:pt x="748" y="7"/>
                    <a:pt x="816" y="6"/>
                    <a:pt x="897" y="9"/>
                  </a:cubicBezTo>
                  <a:cubicBezTo>
                    <a:pt x="978" y="12"/>
                    <a:pt x="1067" y="28"/>
                    <a:pt x="1167" y="30"/>
                  </a:cubicBezTo>
                  <a:cubicBezTo>
                    <a:pt x="1267" y="32"/>
                    <a:pt x="1402" y="28"/>
                    <a:pt x="1500" y="24"/>
                  </a:cubicBezTo>
                  <a:cubicBezTo>
                    <a:pt x="1598" y="20"/>
                    <a:pt x="1685" y="4"/>
                    <a:pt x="1758" y="3"/>
                  </a:cubicBezTo>
                  <a:cubicBezTo>
                    <a:pt x="1831" y="2"/>
                    <a:pt x="1892" y="13"/>
                    <a:pt x="1938" y="18"/>
                  </a:cubicBezTo>
                  <a:cubicBezTo>
                    <a:pt x="1984" y="23"/>
                    <a:pt x="2041" y="30"/>
                    <a:pt x="2034" y="33"/>
                  </a:cubicBezTo>
                  <a:cubicBezTo>
                    <a:pt x="2027" y="36"/>
                    <a:pt x="1969" y="37"/>
                    <a:pt x="1893" y="39"/>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p>
          </p:txBody>
        </p:sp>
      </p:grpSp>
      <p:sp>
        <p:nvSpPr>
          <p:cNvPr id="70660" name="Rectangle 29"/>
          <p:cNvSpPr>
            <a:spLocks noGrp="1" noChangeArrowheads="1"/>
          </p:cNvSpPr>
          <p:nvPr>
            <p:ph type="title"/>
          </p:nvPr>
        </p:nvSpPr>
        <p:spPr bwMode="auto">
          <a:xfrm>
            <a:off x="838200" y="228600"/>
            <a:ext cx="7772400" cy="990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70661" name="Rectangle 30"/>
          <p:cNvSpPr>
            <a:spLocks noGrp="1" noChangeArrowheads="1"/>
          </p:cNvSpPr>
          <p:nvPr>
            <p:ph type="body" idx="1"/>
          </p:nvPr>
        </p:nvSpPr>
        <p:spPr bwMode="auto">
          <a:xfrm>
            <a:off x="762000" y="1524000"/>
            <a:ext cx="7772400"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127" name="Rectangle 31"/>
          <p:cNvSpPr>
            <a:spLocks noGrp="1" noChangeArrowheads="1"/>
          </p:cNvSpPr>
          <p:nvPr>
            <p:ph type="dt" sz="half" idx="2"/>
          </p:nvPr>
        </p:nvSpPr>
        <p:spPr bwMode="auto">
          <a:xfrm>
            <a:off x="665163" y="6367463"/>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a:latin typeface="Times New Roman" pitchFamily="18" charset="0"/>
              </a:defRPr>
            </a:lvl1pPr>
          </a:lstStyle>
          <a:p>
            <a:pPr>
              <a:defRPr/>
            </a:pPr>
            <a:endParaRPr lang="en-US" altLang="zh-CN"/>
          </a:p>
        </p:txBody>
      </p:sp>
      <p:sp>
        <p:nvSpPr>
          <p:cNvPr id="4128" name="Rectangle 32"/>
          <p:cNvSpPr>
            <a:spLocks noGrp="1" noChangeArrowheads="1"/>
          </p:cNvSpPr>
          <p:nvPr>
            <p:ph type="ftr" sz="quarter" idx="3"/>
          </p:nvPr>
        </p:nvSpPr>
        <p:spPr bwMode="auto">
          <a:xfrm>
            <a:off x="3103563" y="6367463"/>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latin typeface="Times New Roman" pitchFamily="18" charset="0"/>
              </a:defRPr>
            </a:lvl1pPr>
          </a:lstStyle>
          <a:p>
            <a:pPr>
              <a:defRPr/>
            </a:pPr>
            <a:endParaRPr lang="en-US" altLang="zh-CN"/>
          </a:p>
        </p:txBody>
      </p:sp>
      <p:grpSp>
        <p:nvGrpSpPr>
          <p:cNvPr id="70665" name="Group 35"/>
          <p:cNvGrpSpPr>
            <a:grpSpLocks/>
          </p:cNvGrpSpPr>
          <p:nvPr userDrawn="1"/>
        </p:nvGrpSpPr>
        <p:grpSpPr bwMode="auto">
          <a:xfrm>
            <a:off x="0" y="0"/>
            <a:ext cx="1331913" cy="1125538"/>
            <a:chOff x="0" y="0"/>
            <a:chExt cx="839" cy="709"/>
          </a:xfrm>
        </p:grpSpPr>
        <p:sp>
          <p:nvSpPr>
            <p:cNvPr id="4132" name="Rectangle 36"/>
            <p:cNvSpPr>
              <a:spLocks noChangeArrowheads="1"/>
            </p:cNvSpPr>
            <p:nvPr userDrawn="1"/>
          </p:nvSpPr>
          <p:spPr bwMode="ltGray">
            <a:xfrm>
              <a:off x="201" y="10"/>
              <a:ext cx="313" cy="299"/>
            </a:xfrm>
            <a:prstGeom prst="rect">
              <a:avLst/>
            </a:prstGeom>
            <a:solidFill>
              <a:schemeClr val="accent2"/>
            </a:solidFill>
            <a:ln w="9525">
              <a:noFill/>
              <a:miter lim="800000"/>
              <a:headEnd/>
              <a:tailEnd/>
            </a:ln>
            <a:effectLst/>
          </p:spPr>
          <p:txBody>
            <a:bodyPr wrap="none" anchor="ctr"/>
            <a:lstStyle/>
            <a:p>
              <a:pPr algn="ctr">
                <a:defRPr/>
              </a:pPr>
              <a:endParaRPr kumimoji="1" lang="zh-CN" altLang="zh-CN" sz="2400">
                <a:latin typeface="Tahoma" pitchFamily="34" charset="0"/>
              </a:endParaRPr>
            </a:p>
          </p:txBody>
        </p:sp>
        <p:sp>
          <p:nvSpPr>
            <p:cNvPr id="4133" name="Rectangle 37"/>
            <p:cNvSpPr>
              <a:spLocks noChangeArrowheads="1"/>
            </p:cNvSpPr>
            <p:nvPr userDrawn="1"/>
          </p:nvSpPr>
          <p:spPr bwMode="ltGray">
            <a:xfrm>
              <a:off x="474" y="10"/>
              <a:ext cx="235" cy="299"/>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a:defRPr/>
              </a:pPr>
              <a:endParaRPr kumimoji="1" lang="zh-CN" altLang="zh-CN" sz="2400">
                <a:latin typeface="Tahoma" pitchFamily="34" charset="0"/>
              </a:endParaRPr>
            </a:p>
          </p:txBody>
        </p:sp>
        <p:sp>
          <p:nvSpPr>
            <p:cNvPr id="4134" name="Rectangle 38"/>
            <p:cNvSpPr>
              <a:spLocks noChangeArrowheads="1"/>
            </p:cNvSpPr>
            <p:nvPr userDrawn="1"/>
          </p:nvSpPr>
          <p:spPr bwMode="ltGray">
            <a:xfrm>
              <a:off x="265" y="255"/>
              <a:ext cx="302" cy="206"/>
            </a:xfrm>
            <a:prstGeom prst="rect">
              <a:avLst/>
            </a:prstGeom>
            <a:gradFill rotWithShape="1">
              <a:gsLst>
                <a:gs pos="0">
                  <a:srgbClr val="FF99CC">
                    <a:gamma/>
                    <a:shade val="46275"/>
                    <a:invGamma/>
                  </a:srgbClr>
                </a:gs>
                <a:gs pos="100000">
                  <a:srgbClr val="FF99CC"/>
                </a:gs>
              </a:gsLst>
              <a:lin ang="0" scaled="1"/>
            </a:gradFill>
            <a:ln w="9525">
              <a:noFill/>
              <a:miter lim="800000"/>
              <a:headEnd/>
              <a:tailEnd/>
            </a:ln>
            <a:effectLst/>
          </p:spPr>
          <p:txBody>
            <a:bodyPr wrap="none" anchor="ctr"/>
            <a:lstStyle/>
            <a:p>
              <a:pPr algn="ctr">
                <a:defRPr/>
              </a:pPr>
              <a:endParaRPr kumimoji="1" lang="zh-CN" altLang="zh-CN" sz="2400">
                <a:latin typeface="Tahoma" pitchFamily="34" charset="0"/>
              </a:endParaRPr>
            </a:p>
          </p:txBody>
        </p:sp>
        <p:sp>
          <p:nvSpPr>
            <p:cNvPr id="4135" name="Rectangle 39"/>
            <p:cNvSpPr>
              <a:spLocks noChangeArrowheads="1"/>
            </p:cNvSpPr>
            <p:nvPr userDrawn="1"/>
          </p:nvSpPr>
          <p:spPr bwMode="ltGray">
            <a:xfrm>
              <a:off x="554" y="255"/>
              <a:ext cx="285" cy="206"/>
            </a:xfrm>
            <a:prstGeom prst="rect">
              <a:avLst/>
            </a:prstGeom>
            <a:gradFill rotWithShape="1">
              <a:gsLst>
                <a:gs pos="0">
                  <a:srgbClr val="FF99CC"/>
                </a:gs>
                <a:gs pos="100000">
                  <a:schemeClr val="bg1"/>
                </a:gs>
              </a:gsLst>
              <a:lin ang="0" scaled="1"/>
            </a:gradFill>
            <a:ln w="9525">
              <a:noFill/>
              <a:miter lim="800000"/>
              <a:headEnd/>
              <a:tailEnd/>
            </a:ln>
            <a:effectLst/>
          </p:spPr>
          <p:txBody>
            <a:bodyPr wrap="none" anchor="ctr"/>
            <a:lstStyle/>
            <a:p>
              <a:pPr algn="ctr">
                <a:defRPr/>
              </a:pPr>
              <a:endParaRPr kumimoji="1" lang="zh-CN" altLang="zh-CN" sz="2400">
                <a:latin typeface="Tahoma" pitchFamily="34" charset="0"/>
              </a:endParaRPr>
            </a:p>
          </p:txBody>
        </p:sp>
        <p:sp>
          <p:nvSpPr>
            <p:cNvPr id="4136" name="Rectangle 40"/>
            <p:cNvSpPr>
              <a:spLocks noChangeArrowheads="1"/>
            </p:cNvSpPr>
            <p:nvPr userDrawn="1"/>
          </p:nvSpPr>
          <p:spPr bwMode="ltGray">
            <a:xfrm>
              <a:off x="0" y="230"/>
              <a:ext cx="401" cy="266"/>
            </a:xfrm>
            <a:prstGeom prst="rect">
              <a:avLst/>
            </a:prstGeom>
            <a:gradFill rotWithShape="0">
              <a:gsLst>
                <a:gs pos="0">
                  <a:schemeClr val="hlink"/>
                </a:gs>
                <a:gs pos="100000">
                  <a:schemeClr val="bg1"/>
                </a:gs>
              </a:gsLst>
              <a:lin ang="0" scaled="1"/>
            </a:gradFill>
            <a:ln w="9525">
              <a:noFill/>
              <a:miter lim="800000"/>
              <a:headEnd/>
              <a:tailEnd/>
            </a:ln>
            <a:effectLst/>
          </p:spPr>
          <p:txBody>
            <a:bodyPr wrap="none" anchor="ctr"/>
            <a:lstStyle/>
            <a:p>
              <a:pPr algn="ctr">
                <a:defRPr/>
              </a:pPr>
              <a:endParaRPr kumimoji="1" lang="zh-CN" altLang="zh-CN" sz="2400">
                <a:latin typeface="Tahoma" pitchFamily="34" charset="0"/>
              </a:endParaRPr>
            </a:p>
          </p:txBody>
        </p:sp>
        <p:sp>
          <p:nvSpPr>
            <p:cNvPr id="4137" name="Rectangle 41"/>
            <p:cNvSpPr>
              <a:spLocks noChangeArrowheads="1"/>
            </p:cNvSpPr>
            <p:nvPr userDrawn="1"/>
          </p:nvSpPr>
          <p:spPr bwMode="gray">
            <a:xfrm>
              <a:off x="95" y="0"/>
              <a:ext cx="23" cy="663"/>
            </a:xfrm>
            <a:prstGeom prst="rect">
              <a:avLst/>
            </a:prstGeom>
            <a:gradFill rotWithShape="1">
              <a:gsLst>
                <a:gs pos="0">
                  <a:schemeClr val="accent2"/>
                </a:gs>
                <a:gs pos="100000">
                  <a:schemeClr val="hlink"/>
                </a:gs>
              </a:gsLst>
              <a:lin ang="5400000" scaled="1"/>
            </a:gradFill>
            <a:ln w="9525">
              <a:noFill/>
              <a:miter lim="800000"/>
              <a:headEnd/>
              <a:tailEnd/>
            </a:ln>
            <a:effectLst/>
          </p:spPr>
          <p:txBody>
            <a:bodyPr wrap="none" anchor="ctr"/>
            <a:lstStyle/>
            <a:p>
              <a:pPr algn="ctr">
                <a:defRPr/>
              </a:pPr>
              <a:endParaRPr kumimoji="1" lang="zh-CN" altLang="zh-CN" sz="2400">
                <a:latin typeface="Tahoma" pitchFamily="34" charset="0"/>
              </a:endParaRPr>
            </a:p>
          </p:txBody>
        </p:sp>
        <p:sp>
          <p:nvSpPr>
            <p:cNvPr id="70672" name="WordArt 42"/>
            <p:cNvSpPr>
              <a:spLocks noChangeArrowheads="1" noChangeShapeType="1" noTextEdit="1"/>
            </p:cNvSpPr>
            <p:nvPr userDrawn="1"/>
          </p:nvSpPr>
          <p:spPr bwMode="auto">
            <a:xfrm>
              <a:off x="44" y="164"/>
              <a:ext cx="618" cy="545"/>
            </a:xfrm>
            <a:prstGeom prst="rect">
              <a:avLst/>
            </a:prstGeom>
          </p:spPr>
          <p:txBody>
            <a:bodyPr spcFirstLastPara="1" wrap="none" fromWordArt="1">
              <a:prstTxWarp prst="textArchUp">
                <a:avLst>
                  <a:gd name="adj" fmla="val 10800004"/>
                </a:avLst>
              </a:prstTxWarp>
            </a:bodyPr>
            <a:lstStyle/>
            <a:p>
              <a:pPr algn="ctr"/>
              <a:r>
                <a:rPr lang="en-US" altLang="zh-CN" sz="1600" kern="10">
                  <a:ln w="9525">
                    <a:solidFill>
                      <a:srgbClr val="339966"/>
                    </a:solidFill>
                    <a:round/>
                    <a:headEnd/>
                    <a:tailEnd/>
                  </a:ln>
                  <a:solidFill>
                    <a:srgbClr val="339966"/>
                  </a:solidFill>
                  <a:latin typeface="BatangChe"/>
                  <a:ea typeface="BatangChe"/>
                </a:rPr>
                <a:t>Statistics</a:t>
              </a:r>
              <a:endParaRPr lang="zh-CN" altLang="en-US" sz="1600" kern="10">
                <a:ln w="9525">
                  <a:solidFill>
                    <a:srgbClr val="339966"/>
                  </a:solidFill>
                  <a:round/>
                  <a:headEnd/>
                  <a:tailEnd/>
                </a:ln>
                <a:solidFill>
                  <a:srgbClr val="339966"/>
                </a:solidFill>
                <a:latin typeface="BatangChe"/>
                <a:ea typeface="BatangChe"/>
              </a:endParaRPr>
            </a:p>
          </p:txBody>
        </p:sp>
      </p:grpSp>
    </p:spTree>
  </p:cSld>
  <p:clrMap bg1="lt1" tx1="dk1" bg2="lt2" tx2="dk2" accent1="accent1" accent2="accent2" accent3="accent3" accent4="accent4" accent5="accent5" accent6="accent6" hlink="hlink" folHlink="folHlink"/>
  <p:sldLayoutIdLst>
    <p:sldLayoutId id="2147483933" r:id="rId1"/>
    <p:sldLayoutId id="2147483920" r:id="rId2"/>
    <p:sldLayoutId id="2147483921" r:id="rId3"/>
    <p:sldLayoutId id="2147483922" r:id="rId4"/>
    <p:sldLayoutId id="2147483923" r:id="rId5"/>
    <p:sldLayoutId id="2147483924" r:id="rId6"/>
    <p:sldLayoutId id="2147483925" r:id="rId7"/>
    <p:sldLayoutId id="2147483926" r:id="rId8"/>
    <p:sldLayoutId id="2147483927" r:id="rId9"/>
    <p:sldLayoutId id="2147483928" r:id="rId10"/>
    <p:sldLayoutId id="2147483929" r:id="rId11"/>
    <p:sldLayoutId id="2147483930" r:id="rId12"/>
    <p:sldLayoutId id="2147483931" r:id="rId13"/>
    <p:sldLayoutId id="2147483932" r:id="rId14"/>
  </p:sldLayoutIdLst>
  <p:transition/>
  <p:timing>
    <p:tnLst>
      <p:par>
        <p:cTn id="1" dur="indefinite" restart="never" nodeType="tmRoot"/>
      </p:par>
    </p:tnLst>
  </p:timing>
  <p:hf hdr="0" ftr="0"/>
  <p:txStyles>
    <p:titleStyle>
      <a:lvl1pPr algn="ctr" rtl="0" eaLnBrk="0" fontAlgn="base" hangingPunct="0">
        <a:spcBef>
          <a:spcPct val="0"/>
        </a:spcBef>
        <a:spcAft>
          <a:spcPct val="0"/>
        </a:spcAft>
        <a:defRPr sz="4400" b="1">
          <a:solidFill>
            <a:srgbClr val="3333FF"/>
          </a:solidFill>
          <a:latin typeface="+mj-lt"/>
          <a:ea typeface="+mj-ea"/>
          <a:cs typeface="+mj-cs"/>
        </a:defRPr>
      </a:lvl1pPr>
      <a:lvl2pPr algn="ctr" rtl="0" eaLnBrk="0" fontAlgn="base" hangingPunct="0">
        <a:spcBef>
          <a:spcPct val="0"/>
        </a:spcBef>
        <a:spcAft>
          <a:spcPct val="0"/>
        </a:spcAft>
        <a:defRPr sz="4400" b="1">
          <a:solidFill>
            <a:srgbClr val="3333FF"/>
          </a:solidFill>
          <a:latin typeface="Tahoma" pitchFamily="34" charset="0"/>
          <a:ea typeface="宋体" pitchFamily="2" charset="-122"/>
        </a:defRPr>
      </a:lvl2pPr>
      <a:lvl3pPr algn="ctr" rtl="0" eaLnBrk="0" fontAlgn="base" hangingPunct="0">
        <a:spcBef>
          <a:spcPct val="0"/>
        </a:spcBef>
        <a:spcAft>
          <a:spcPct val="0"/>
        </a:spcAft>
        <a:defRPr sz="4400" b="1">
          <a:solidFill>
            <a:srgbClr val="3333FF"/>
          </a:solidFill>
          <a:latin typeface="Tahoma" pitchFamily="34" charset="0"/>
          <a:ea typeface="宋体" pitchFamily="2" charset="-122"/>
        </a:defRPr>
      </a:lvl3pPr>
      <a:lvl4pPr algn="ctr" rtl="0" eaLnBrk="0" fontAlgn="base" hangingPunct="0">
        <a:spcBef>
          <a:spcPct val="0"/>
        </a:spcBef>
        <a:spcAft>
          <a:spcPct val="0"/>
        </a:spcAft>
        <a:defRPr sz="4400" b="1">
          <a:solidFill>
            <a:srgbClr val="3333FF"/>
          </a:solidFill>
          <a:latin typeface="Tahoma" pitchFamily="34" charset="0"/>
          <a:ea typeface="宋体" pitchFamily="2" charset="-122"/>
        </a:defRPr>
      </a:lvl4pPr>
      <a:lvl5pPr algn="ctr" rtl="0" eaLnBrk="0" fontAlgn="base" hangingPunct="0">
        <a:spcBef>
          <a:spcPct val="0"/>
        </a:spcBef>
        <a:spcAft>
          <a:spcPct val="0"/>
        </a:spcAft>
        <a:defRPr sz="4400" b="1">
          <a:solidFill>
            <a:srgbClr val="3333FF"/>
          </a:solidFill>
          <a:latin typeface="Tahoma" pitchFamily="34" charset="0"/>
          <a:ea typeface="宋体" pitchFamily="2" charset="-122"/>
        </a:defRPr>
      </a:lvl5pPr>
      <a:lvl6pPr marL="457200" algn="ctr" rtl="0" fontAlgn="base">
        <a:spcBef>
          <a:spcPct val="0"/>
        </a:spcBef>
        <a:spcAft>
          <a:spcPct val="0"/>
        </a:spcAft>
        <a:defRPr sz="4400" b="1">
          <a:solidFill>
            <a:srgbClr val="3333FF"/>
          </a:solidFill>
          <a:latin typeface="Tahoma" pitchFamily="34" charset="0"/>
          <a:ea typeface="宋体" pitchFamily="2" charset="-122"/>
        </a:defRPr>
      </a:lvl6pPr>
      <a:lvl7pPr marL="914400" algn="ctr" rtl="0" fontAlgn="base">
        <a:spcBef>
          <a:spcPct val="0"/>
        </a:spcBef>
        <a:spcAft>
          <a:spcPct val="0"/>
        </a:spcAft>
        <a:defRPr sz="4400" b="1">
          <a:solidFill>
            <a:srgbClr val="3333FF"/>
          </a:solidFill>
          <a:latin typeface="Tahoma" pitchFamily="34" charset="0"/>
          <a:ea typeface="宋体" pitchFamily="2" charset="-122"/>
        </a:defRPr>
      </a:lvl7pPr>
      <a:lvl8pPr marL="1371600" algn="ctr" rtl="0" fontAlgn="base">
        <a:spcBef>
          <a:spcPct val="0"/>
        </a:spcBef>
        <a:spcAft>
          <a:spcPct val="0"/>
        </a:spcAft>
        <a:defRPr sz="4400" b="1">
          <a:solidFill>
            <a:srgbClr val="3333FF"/>
          </a:solidFill>
          <a:latin typeface="Tahoma" pitchFamily="34" charset="0"/>
          <a:ea typeface="宋体" pitchFamily="2" charset="-122"/>
        </a:defRPr>
      </a:lvl8pPr>
      <a:lvl9pPr marL="1828800" algn="ctr" rtl="0" fontAlgn="base">
        <a:spcBef>
          <a:spcPct val="0"/>
        </a:spcBef>
        <a:spcAft>
          <a:spcPct val="0"/>
        </a:spcAft>
        <a:defRPr sz="4400" b="1">
          <a:solidFill>
            <a:srgbClr val="3333FF"/>
          </a:solidFill>
          <a:latin typeface="Tahoma" pitchFamily="34" charset="0"/>
          <a:ea typeface="宋体" pitchFamily="2" charset="-122"/>
        </a:defRPr>
      </a:lvl9pPr>
    </p:titleStyle>
    <p:bodyStyle>
      <a:lvl1pPr marL="342900" indent="-342900" algn="l" rtl="0" eaLnBrk="0" fontAlgn="base" hangingPunct="0">
        <a:spcBef>
          <a:spcPct val="20000"/>
        </a:spcBef>
        <a:spcAft>
          <a:spcPct val="0"/>
        </a:spcAft>
        <a:buSzPct val="90000"/>
        <a:buBlip>
          <a:blip r:embed="rId18"/>
        </a:buBlip>
        <a:defRPr sz="3200" b="1">
          <a:solidFill>
            <a:srgbClr val="CC0099"/>
          </a:solidFill>
          <a:latin typeface="+mn-lt"/>
          <a:ea typeface="+mn-ea"/>
          <a:cs typeface="+mn-cs"/>
        </a:defRPr>
      </a:lvl1pPr>
      <a:lvl2pPr marL="742950" indent="-285750" algn="l" rtl="0" eaLnBrk="0" fontAlgn="base" hangingPunct="0">
        <a:spcBef>
          <a:spcPct val="20000"/>
        </a:spcBef>
        <a:spcAft>
          <a:spcPct val="0"/>
        </a:spcAft>
        <a:buSzPct val="80000"/>
        <a:buBlip>
          <a:blip r:embed="rId19"/>
        </a:buBlip>
        <a:defRPr sz="2800" b="1">
          <a:solidFill>
            <a:srgbClr val="000000"/>
          </a:solidFill>
          <a:latin typeface="+mn-lt"/>
          <a:ea typeface="+mn-ea"/>
        </a:defRPr>
      </a:lvl2pPr>
      <a:lvl3pPr marL="1143000" indent="-228600" algn="l" rtl="0" eaLnBrk="0" fontAlgn="base" hangingPunct="0">
        <a:spcBef>
          <a:spcPct val="20000"/>
        </a:spcBef>
        <a:spcAft>
          <a:spcPct val="0"/>
        </a:spcAft>
        <a:buSzPct val="70000"/>
        <a:buBlip>
          <a:blip r:embed="rId20"/>
        </a:buBlip>
        <a:defRPr sz="2400" b="1">
          <a:solidFill>
            <a:schemeClr val="tx2"/>
          </a:solidFill>
          <a:latin typeface="+mn-lt"/>
          <a:ea typeface="+mn-ea"/>
        </a:defRPr>
      </a:lvl3pPr>
      <a:lvl4pPr marL="1600200" indent="-228600" algn="l" rtl="0" eaLnBrk="0" fontAlgn="base" hangingPunct="0">
        <a:spcBef>
          <a:spcPct val="20000"/>
        </a:spcBef>
        <a:spcAft>
          <a:spcPct val="0"/>
        </a:spcAft>
        <a:buSzPct val="70000"/>
        <a:buBlip>
          <a:blip r:embed="rId21"/>
        </a:buBlip>
        <a:defRPr sz="2000" b="1">
          <a:solidFill>
            <a:srgbClr val="336600"/>
          </a:solidFill>
          <a:latin typeface="+mn-lt"/>
          <a:ea typeface="+mn-ea"/>
        </a:defRPr>
      </a:lvl4pPr>
      <a:lvl5pPr marL="2057400" indent="-228600" algn="l" rtl="0" eaLnBrk="0" fontAlgn="base" hangingPunct="0">
        <a:spcBef>
          <a:spcPct val="20000"/>
        </a:spcBef>
        <a:spcAft>
          <a:spcPct val="0"/>
        </a:spcAft>
        <a:buSzPct val="70000"/>
        <a:buBlip>
          <a:blip r:embed="rId22"/>
        </a:buBlip>
        <a:defRPr sz="2000" b="1">
          <a:solidFill>
            <a:schemeClr val="tx1"/>
          </a:solidFill>
          <a:latin typeface="+mn-lt"/>
          <a:ea typeface="+mn-ea"/>
        </a:defRPr>
      </a:lvl5pPr>
      <a:lvl6pPr marL="2514600" indent="-228600" algn="l" rtl="0" fontAlgn="base">
        <a:spcBef>
          <a:spcPct val="20000"/>
        </a:spcBef>
        <a:spcAft>
          <a:spcPct val="0"/>
        </a:spcAft>
        <a:buSzPct val="70000"/>
        <a:buBlip>
          <a:blip r:embed="rId22"/>
        </a:buBlip>
        <a:defRPr sz="2000" b="1">
          <a:solidFill>
            <a:schemeClr val="tx1"/>
          </a:solidFill>
          <a:latin typeface="+mn-lt"/>
          <a:ea typeface="+mn-ea"/>
        </a:defRPr>
      </a:lvl6pPr>
      <a:lvl7pPr marL="2971800" indent="-228600" algn="l" rtl="0" fontAlgn="base">
        <a:spcBef>
          <a:spcPct val="20000"/>
        </a:spcBef>
        <a:spcAft>
          <a:spcPct val="0"/>
        </a:spcAft>
        <a:buSzPct val="70000"/>
        <a:buBlip>
          <a:blip r:embed="rId22"/>
        </a:buBlip>
        <a:defRPr sz="2000" b="1">
          <a:solidFill>
            <a:schemeClr val="tx1"/>
          </a:solidFill>
          <a:latin typeface="+mn-lt"/>
          <a:ea typeface="+mn-ea"/>
        </a:defRPr>
      </a:lvl7pPr>
      <a:lvl8pPr marL="3429000" indent="-228600" algn="l" rtl="0" fontAlgn="base">
        <a:spcBef>
          <a:spcPct val="20000"/>
        </a:spcBef>
        <a:spcAft>
          <a:spcPct val="0"/>
        </a:spcAft>
        <a:buSzPct val="70000"/>
        <a:buBlip>
          <a:blip r:embed="rId22"/>
        </a:buBlip>
        <a:defRPr sz="2000" b="1">
          <a:solidFill>
            <a:schemeClr val="tx1"/>
          </a:solidFill>
          <a:latin typeface="+mn-lt"/>
          <a:ea typeface="+mn-ea"/>
        </a:defRPr>
      </a:lvl8pPr>
      <a:lvl9pPr marL="3886200" indent="-228600" algn="l" rtl="0" fontAlgn="base">
        <a:spcBef>
          <a:spcPct val="20000"/>
        </a:spcBef>
        <a:spcAft>
          <a:spcPct val="0"/>
        </a:spcAft>
        <a:buSzPct val="70000"/>
        <a:buBlip>
          <a:blip r:embed="rId22"/>
        </a:buBlip>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0.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12.wmf"/><Relationship Id="rId4" Type="http://schemas.openxmlformats.org/officeDocument/2006/relationships/oleObject" Target="../embeddings/oleObject2.bin"/></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5.wmf"/><Relationship Id="rId13" Type="http://schemas.openxmlformats.org/officeDocument/2006/relationships/oleObject" Target="../embeddings/oleObject8.bin"/><Relationship Id="rId18" Type="http://schemas.openxmlformats.org/officeDocument/2006/relationships/image" Target="../media/image20.wmf"/><Relationship Id="rId3" Type="http://schemas.openxmlformats.org/officeDocument/2006/relationships/oleObject" Target="../embeddings/oleObject3.bin"/><Relationship Id="rId21" Type="http://schemas.openxmlformats.org/officeDocument/2006/relationships/oleObject" Target="../embeddings/oleObject12.bin"/><Relationship Id="rId7" Type="http://schemas.openxmlformats.org/officeDocument/2006/relationships/oleObject" Target="../embeddings/oleObject5.bin"/><Relationship Id="rId12" Type="http://schemas.openxmlformats.org/officeDocument/2006/relationships/image" Target="../media/image17.wmf"/><Relationship Id="rId17" Type="http://schemas.openxmlformats.org/officeDocument/2006/relationships/oleObject" Target="../embeddings/oleObject10.bin"/><Relationship Id="rId2" Type="http://schemas.openxmlformats.org/officeDocument/2006/relationships/slideLayout" Target="../slideLayouts/slideLayout7.xml"/><Relationship Id="rId16" Type="http://schemas.openxmlformats.org/officeDocument/2006/relationships/image" Target="../media/image19.wmf"/><Relationship Id="rId20" Type="http://schemas.openxmlformats.org/officeDocument/2006/relationships/image" Target="../media/image21.wmf"/><Relationship Id="rId1" Type="http://schemas.openxmlformats.org/officeDocument/2006/relationships/vmlDrawing" Target="../drawings/vmlDrawing3.vml"/><Relationship Id="rId6" Type="http://schemas.openxmlformats.org/officeDocument/2006/relationships/image" Target="../media/image14.wmf"/><Relationship Id="rId11" Type="http://schemas.openxmlformats.org/officeDocument/2006/relationships/oleObject" Target="../embeddings/oleObject7.bin"/><Relationship Id="rId24" Type="http://schemas.openxmlformats.org/officeDocument/2006/relationships/image" Target="../media/image23.wmf"/><Relationship Id="rId5" Type="http://schemas.openxmlformats.org/officeDocument/2006/relationships/oleObject" Target="../embeddings/oleObject4.bin"/><Relationship Id="rId15" Type="http://schemas.openxmlformats.org/officeDocument/2006/relationships/oleObject" Target="../embeddings/oleObject9.bin"/><Relationship Id="rId23" Type="http://schemas.openxmlformats.org/officeDocument/2006/relationships/oleObject" Target="../embeddings/oleObject13.bin"/><Relationship Id="rId10" Type="http://schemas.openxmlformats.org/officeDocument/2006/relationships/image" Target="../media/image16.wmf"/><Relationship Id="rId19" Type="http://schemas.openxmlformats.org/officeDocument/2006/relationships/oleObject" Target="../embeddings/oleObject11.bin"/><Relationship Id="rId4" Type="http://schemas.openxmlformats.org/officeDocument/2006/relationships/image" Target="../media/image13.wmf"/><Relationship Id="rId9" Type="http://schemas.openxmlformats.org/officeDocument/2006/relationships/oleObject" Target="../embeddings/oleObject6.bin"/><Relationship Id="rId14" Type="http://schemas.openxmlformats.org/officeDocument/2006/relationships/image" Target="../media/image18.wmf"/><Relationship Id="rId22" Type="http://schemas.openxmlformats.org/officeDocument/2006/relationships/image" Target="../media/image22.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oleObject" Target="../embeddings/oleObject14.bin"/><Relationship Id="rId7"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25.wmf"/><Relationship Id="rId5" Type="http://schemas.openxmlformats.org/officeDocument/2006/relationships/oleObject" Target="../embeddings/oleObject15.bin"/><Relationship Id="rId4" Type="http://schemas.openxmlformats.org/officeDocument/2006/relationships/image" Target="../media/image24.wmf"/></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27.emf"/><Relationship Id="rId4" Type="http://schemas.openxmlformats.org/officeDocument/2006/relationships/oleObject" Target="../embeddings/oleObject17.bin"/></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12.xml"/><Relationship Id="rId1" Type="http://schemas.openxmlformats.org/officeDocument/2006/relationships/vmlDrawing" Target="../drawings/vmlDrawing6.vml"/><Relationship Id="rId6" Type="http://schemas.openxmlformats.org/officeDocument/2006/relationships/image" Target="../media/image29.wmf"/><Relationship Id="rId5" Type="http://schemas.openxmlformats.org/officeDocument/2006/relationships/oleObject" Target="../embeddings/oleObject19.bin"/><Relationship Id="rId4" Type="http://schemas.openxmlformats.org/officeDocument/2006/relationships/image" Target="../media/image28.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31.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21.bin"/><Relationship Id="rId5" Type="http://schemas.openxmlformats.org/officeDocument/2006/relationships/image" Target="../media/image30.wmf"/><Relationship Id="rId4" Type="http://schemas.openxmlformats.org/officeDocument/2006/relationships/oleObject" Target="../embeddings/oleObject20.bin"/></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notesSlide" Target="../notesSlides/notesSlide9.xml"/><Relationship Id="rId7" Type="http://schemas.openxmlformats.org/officeDocument/2006/relationships/image" Target="../media/image33.w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oleObject" Target="../embeddings/oleObject23.bin"/><Relationship Id="rId5" Type="http://schemas.openxmlformats.org/officeDocument/2006/relationships/image" Target="../media/image32.wmf"/><Relationship Id="rId4" Type="http://schemas.openxmlformats.org/officeDocument/2006/relationships/oleObject" Target="../embeddings/oleObject22.bin"/><Relationship Id="rId9" Type="http://schemas.openxmlformats.org/officeDocument/2006/relationships/image" Target="../media/image34.emf"/></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35.wmf"/><Relationship Id="rId4" Type="http://schemas.openxmlformats.org/officeDocument/2006/relationships/oleObject" Target="../embeddings/oleObject25.bin"/></Relationships>
</file>

<file path=ppt/slides/_rels/slide2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37.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38.wmf"/></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40.emf"/><Relationship Id="rId3" Type="http://schemas.openxmlformats.org/officeDocument/2006/relationships/notesSlide" Target="../notesSlides/notesSlide12.xml"/><Relationship Id="rId7" Type="http://schemas.openxmlformats.org/officeDocument/2006/relationships/oleObject" Target="../embeddings/oleObject29.bin"/><Relationship Id="rId2" Type="http://schemas.openxmlformats.org/officeDocument/2006/relationships/slideLayout" Target="../slideLayouts/slideLayout13.xml"/><Relationship Id="rId1" Type="http://schemas.openxmlformats.org/officeDocument/2006/relationships/vmlDrawing" Target="../drawings/vmlDrawing12.vml"/><Relationship Id="rId6" Type="http://schemas.openxmlformats.org/officeDocument/2006/relationships/image" Target="../media/image39.emf"/><Relationship Id="rId5" Type="http://schemas.openxmlformats.org/officeDocument/2006/relationships/oleObject" Target="../embeddings/oleObject28.bin"/><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13.xml"/><Relationship Id="rId1" Type="http://schemas.openxmlformats.org/officeDocument/2006/relationships/vmlDrawing" Target="../drawings/vmlDrawing13.vml"/><Relationship Id="rId4" Type="http://schemas.openxmlformats.org/officeDocument/2006/relationships/image" Target="../media/image41.w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43.wmf"/><Relationship Id="rId5" Type="http://schemas.openxmlformats.org/officeDocument/2006/relationships/oleObject" Target="../embeddings/oleObject32.bin"/><Relationship Id="rId4" Type="http://schemas.openxmlformats.org/officeDocument/2006/relationships/image" Target="../media/image42.wmf"/></Relationships>
</file>

<file path=ppt/slides/_rels/slide35.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45.emf"/><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oleObject" Target="../embeddings/oleObject34.bin"/><Relationship Id="rId5" Type="http://schemas.openxmlformats.org/officeDocument/2006/relationships/image" Target="../media/image44.emf"/><Relationship Id="rId4" Type="http://schemas.openxmlformats.org/officeDocument/2006/relationships/oleObject" Target="../embeddings/oleObject33.bin"/></Relationships>
</file>

<file path=ppt/slides/_rels/slide37.xml.rels><?xml version="1.0" encoding="UTF-8" standalone="yes"?>
<Relationships xmlns="http://schemas.openxmlformats.org/package/2006/relationships"><Relationship Id="rId8" Type="http://schemas.openxmlformats.org/officeDocument/2006/relationships/image" Target="../media/image47.emf"/><Relationship Id="rId3" Type="http://schemas.openxmlformats.org/officeDocument/2006/relationships/notesSlide" Target="../notesSlides/notesSlide14.xml"/><Relationship Id="rId7" Type="http://schemas.openxmlformats.org/officeDocument/2006/relationships/oleObject" Target="../embeddings/oleObject36.bin"/><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46.emf"/><Relationship Id="rId5" Type="http://schemas.openxmlformats.org/officeDocument/2006/relationships/oleObject" Target="../embeddings/oleObject35.bin"/><Relationship Id="rId4" Type="http://schemas.openxmlformats.org/officeDocument/2006/relationships/image" Target="../media/image48.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50.gif"/><Relationship Id="rId5" Type="http://schemas.openxmlformats.org/officeDocument/2006/relationships/image" Target="../media/image49.emf"/><Relationship Id="rId4" Type="http://schemas.openxmlformats.org/officeDocument/2006/relationships/oleObject" Target="../embeddings/oleObject37.bin"/></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vmlDrawing" Target="../drawings/vmlDrawing18.vml"/><Relationship Id="rId5" Type="http://schemas.openxmlformats.org/officeDocument/2006/relationships/image" Target="../media/image51.wmf"/><Relationship Id="rId4" Type="http://schemas.openxmlformats.org/officeDocument/2006/relationships/oleObject" Target="../embeddings/oleObject38.bin"/></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53.wmf"/><Relationship Id="rId5" Type="http://schemas.openxmlformats.org/officeDocument/2006/relationships/oleObject" Target="../embeddings/oleObject40.bin"/><Relationship Id="rId4" Type="http://schemas.openxmlformats.org/officeDocument/2006/relationships/image" Target="../media/image52.w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2.xml"/><Relationship Id="rId1" Type="http://schemas.openxmlformats.org/officeDocument/2006/relationships/vmlDrawing" Target="../drawings/vmlDrawing20.vml"/><Relationship Id="rId4" Type="http://schemas.openxmlformats.org/officeDocument/2006/relationships/image" Target="../media/image54.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44.bin"/><Relationship Id="rId13" Type="http://schemas.openxmlformats.org/officeDocument/2006/relationships/image" Target="../media/image59.wmf"/><Relationship Id="rId3" Type="http://schemas.openxmlformats.org/officeDocument/2006/relationships/notesSlide" Target="../notesSlides/notesSlide19.xml"/><Relationship Id="rId7" Type="http://schemas.openxmlformats.org/officeDocument/2006/relationships/image" Target="../media/image56.wmf"/><Relationship Id="rId12" Type="http://schemas.openxmlformats.org/officeDocument/2006/relationships/oleObject" Target="../embeddings/oleObject46.bin"/><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oleObject" Target="../embeddings/oleObject43.bin"/><Relationship Id="rId11" Type="http://schemas.openxmlformats.org/officeDocument/2006/relationships/image" Target="../media/image58.wmf"/><Relationship Id="rId5" Type="http://schemas.openxmlformats.org/officeDocument/2006/relationships/image" Target="../media/image55.wmf"/><Relationship Id="rId10" Type="http://schemas.openxmlformats.org/officeDocument/2006/relationships/oleObject" Target="../embeddings/oleObject45.bin"/><Relationship Id="rId4" Type="http://schemas.openxmlformats.org/officeDocument/2006/relationships/oleObject" Target="../embeddings/oleObject42.bin"/><Relationship Id="rId9" Type="http://schemas.openxmlformats.org/officeDocument/2006/relationships/image" Target="../media/image57.wmf"/></Relationships>
</file>

<file path=ppt/slides/_rels/slide46.xml.rels><?xml version="1.0" encoding="UTF-8" standalone="yes"?>
<Relationships xmlns="http://schemas.openxmlformats.org/package/2006/relationships"><Relationship Id="rId8" Type="http://schemas.openxmlformats.org/officeDocument/2006/relationships/image" Target="../media/image62.wmf"/><Relationship Id="rId3" Type="http://schemas.openxmlformats.org/officeDocument/2006/relationships/oleObject" Target="../embeddings/oleObject47.bin"/><Relationship Id="rId7" Type="http://schemas.openxmlformats.org/officeDocument/2006/relationships/oleObject" Target="../embeddings/oleObject49.bin"/><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image" Target="../media/image61.wmf"/><Relationship Id="rId5" Type="http://schemas.openxmlformats.org/officeDocument/2006/relationships/oleObject" Target="../embeddings/oleObject48.bin"/><Relationship Id="rId4" Type="http://schemas.openxmlformats.org/officeDocument/2006/relationships/image" Target="../media/image60.w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7.xml"/><Relationship Id="rId1" Type="http://schemas.openxmlformats.org/officeDocument/2006/relationships/vmlDrawing" Target="../drawings/vmlDrawing23.vml"/><Relationship Id="rId5" Type="http://schemas.openxmlformats.org/officeDocument/2006/relationships/image" Target="../media/image64.gif"/><Relationship Id="rId4" Type="http://schemas.openxmlformats.org/officeDocument/2006/relationships/image" Target="../media/image63.w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image" Target="../media/image66.wmf"/><Relationship Id="rId5" Type="http://schemas.openxmlformats.org/officeDocument/2006/relationships/oleObject" Target="../embeddings/oleObject52.bin"/><Relationship Id="rId4" Type="http://schemas.openxmlformats.org/officeDocument/2006/relationships/image" Target="../media/image65.wmf"/></Relationships>
</file>

<file path=ppt/slides/_rels/slide49.xml.rels><?xml version="1.0" encoding="UTF-8" standalone="yes"?>
<Relationships xmlns="http://schemas.openxmlformats.org/package/2006/relationships"><Relationship Id="rId8" Type="http://schemas.openxmlformats.org/officeDocument/2006/relationships/image" Target="../media/image69.emf"/><Relationship Id="rId3" Type="http://schemas.openxmlformats.org/officeDocument/2006/relationships/oleObject" Target="../embeddings/oleObject53.bin"/><Relationship Id="rId7" Type="http://schemas.openxmlformats.org/officeDocument/2006/relationships/customXml" Target="../ink/ink2.xml"/><Relationship Id="rId12" Type="http://schemas.openxmlformats.org/officeDocument/2006/relationships/image" Target="../media/image71.emf"/><Relationship Id="rId2" Type="http://schemas.openxmlformats.org/officeDocument/2006/relationships/slideLayout" Target="../slideLayouts/slideLayout2.xml"/><Relationship Id="rId1" Type="http://schemas.openxmlformats.org/officeDocument/2006/relationships/vmlDrawing" Target="../drawings/vmlDrawing25.vml"/><Relationship Id="rId6" Type="http://schemas.openxmlformats.org/officeDocument/2006/relationships/image" Target="../media/image68.emf"/><Relationship Id="rId11" Type="http://schemas.openxmlformats.org/officeDocument/2006/relationships/customXml" Target="../ink/ink4.xml"/><Relationship Id="rId5" Type="http://schemas.openxmlformats.org/officeDocument/2006/relationships/customXml" Target="../ink/ink1.xml"/><Relationship Id="rId10" Type="http://schemas.openxmlformats.org/officeDocument/2006/relationships/image" Target="../media/image70.emf"/><Relationship Id="rId4" Type="http://schemas.openxmlformats.org/officeDocument/2006/relationships/image" Target="../media/image67.png"/><Relationship Id="rId9" Type="http://schemas.openxmlformats.org/officeDocument/2006/relationships/customXml" Target="../ink/ink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Layout" Target="../slideLayouts/slideLayout2.xml"/><Relationship Id="rId1" Type="http://schemas.openxmlformats.org/officeDocument/2006/relationships/vmlDrawing" Target="../drawings/vmlDrawing26.vml"/><Relationship Id="rId6" Type="http://schemas.openxmlformats.org/officeDocument/2006/relationships/image" Target="../media/image73.png"/><Relationship Id="rId5" Type="http://schemas.openxmlformats.org/officeDocument/2006/relationships/image" Target="../media/image4.png"/><Relationship Id="rId4" Type="http://schemas.openxmlformats.org/officeDocument/2006/relationships/image" Target="../media/image72.emf"/></Relationships>
</file>

<file path=ppt/slides/_rels/slide52.xml.rels><?xml version="1.0" encoding="UTF-8" standalone="yes"?>
<Relationships xmlns="http://schemas.openxmlformats.org/package/2006/relationships"><Relationship Id="rId8" Type="http://schemas.openxmlformats.org/officeDocument/2006/relationships/image" Target="../media/image75.emf"/><Relationship Id="rId3" Type="http://schemas.openxmlformats.org/officeDocument/2006/relationships/oleObject" Target="../embeddings/oleObject55.bin"/><Relationship Id="rId7" Type="http://schemas.openxmlformats.org/officeDocument/2006/relationships/oleObject" Target="../embeddings/oleObject56.bin"/><Relationship Id="rId2" Type="http://schemas.openxmlformats.org/officeDocument/2006/relationships/slideLayout" Target="../slideLayouts/slideLayout2.xml"/><Relationship Id="rId1" Type="http://schemas.openxmlformats.org/officeDocument/2006/relationships/vmlDrawing" Target="../drawings/vmlDrawing27.v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6.wmf"/><Relationship Id="rId4" Type="http://schemas.openxmlformats.org/officeDocument/2006/relationships/image" Target="../media/image74.wmf"/><Relationship Id="rId9" Type="http://schemas.openxmlformats.org/officeDocument/2006/relationships/oleObject" Target="../embeddings/oleObject57.bin"/></Relationships>
</file>

<file path=ppt/slides/_rels/slide53.xml.rels><?xml version="1.0" encoding="UTF-8" standalone="yes"?>
<Relationships xmlns="http://schemas.openxmlformats.org/package/2006/relationships"><Relationship Id="rId8" Type="http://schemas.openxmlformats.org/officeDocument/2006/relationships/image" Target="../media/image77.wmf"/><Relationship Id="rId3" Type="http://schemas.openxmlformats.org/officeDocument/2006/relationships/notesSlide" Target="../notesSlides/notesSlide21.xml"/><Relationship Id="rId7" Type="http://schemas.openxmlformats.org/officeDocument/2006/relationships/oleObject" Target="../embeddings/oleObject58.bin"/><Relationship Id="rId2" Type="http://schemas.openxmlformats.org/officeDocument/2006/relationships/slideLayout" Target="../slideLayouts/slideLayout2.xml"/><Relationship Id="rId1" Type="http://schemas.openxmlformats.org/officeDocument/2006/relationships/vmlDrawing" Target="../drawings/vmlDrawing28.vml"/><Relationship Id="rId6" Type="http://schemas.openxmlformats.org/officeDocument/2006/relationships/image" Target="../media/image80.wmf"/><Relationship Id="rId5" Type="http://schemas.openxmlformats.org/officeDocument/2006/relationships/image" Target="../media/image79.wmf"/><Relationship Id="rId4" Type="http://schemas.openxmlformats.org/officeDocument/2006/relationships/image" Target="../media/image78.wmf"/><Relationship Id="rId9" Type="http://schemas.openxmlformats.org/officeDocument/2006/relationships/oleObject" Target="../embeddings/oleObject59.bin"/></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22.xml"/><Relationship Id="rId7" Type="http://schemas.openxmlformats.org/officeDocument/2006/relationships/image" Target="../media/image82.wmf"/><Relationship Id="rId2" Type="http://schemas.openxmlformats.org/officeDocument/2006/relationships/slideLayout" Target="../slideLayouts/slideLayout2.xml"/><Relationship Id="rId1" Type="http://schemas.openxmlformats.org/officeDocument/2006/relationships/vmlDrawing" Target="../drawings/vmlDrawing29.vml"/><Relationship Id="rId6" Type="http://schemas.openxmlformats.org/officeDocument/2006/relationships/oleObject" Target="../embeddings/oleObject61.bin"/><Relationship Id="rId5" Type="http://schemas.openxmlformats.org/officeDocument/2006/relationships/image" Target="../media/image81.wmf"/><Relationship Id="rId4" Type="http://schemas.openxmlformats.org/officeDocument/2006/relationships/oleObject" Target="../embeddings/oleObject60.bin"/></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83.gi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Layout" Target="../slideLayouts/slideLayout2.xml"/><Relationship Id="rId1" Type="http://schemas.openxmlformats.org/officeDocument/2006/relationships/vmlDrawing" Target="../drawings/vmlDrawing30.vml"/><Relationship Id="rId6" Type="http://schemas.openxmlformats.org/officeDocument/2006/relationships/image" Target="../media/image85.emf"/><Relationship Id="rId5" Type="http://schemas.openxmlformats.org/officeDocument/2006/relationships/oleObject" Target="../embeddings/oleObject63.bin"/><Relationship Id="rId4" Type="http://schemas.openxmlformats.org/officeDocument/2006/relationships/image" Target="../media/image84.wmf"/></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88.gif"/><Relationship Id="rId2" Type="http://schemas.openxmlformats.org/officeDocument/2006/relationships/image" Target="../media/image87.png"/><Relationship Id="rId1" Type="http://schemas.openxmlformats.org/officeDocument/2006/relationships/slideLayout" Target="../slideLayouts/slideLayout2.xml"/><Relationship Id="rId4" Type="http://schemas.openxmlformats.org/officeDocument/2006/relationships/image" Target="../media/image89.gif"/></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90.w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91.gi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93.wm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Layout" Target="../slideLayouts/slideLayout2.xml"/><Relationship Id="rId1" Type="http://schemas.openxmlformats.org/officeDocument/2006/relationships/vmlDrawing" Target="../drawings/vmlDrawing31.vml"/><Relationship Id="rId4" Type="http://schemas.openxmlformats.org/officeDocument/2006/relationships/image" Target="../media/image94.emf"/></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88.gif"/><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Layout" Target="../slideLayouts/slideLayout2.xml"/><Relationship Id="rId1" Type="http://schemas.openxmlformats.org/officeDocument/2006/relationships/vmlDrawing" Target="../drawings/vmlDrawing32.vml"/><Relationship Id="rId4" Type="http://schemas.openxmlformats.org/officeDocument/2006/relationships/image" Target="../media/image96.wmf"/></Relationships>
</file>

<file path=ppt/slides/_rels/slide91.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slideLayout" Target="../slideLayouts/slideLayout2.xml"/><Relationship Id="rId1" Type="http://schemas.openxmlformats.org/officeDocument/2006/relationships/vmlDrawing" Target="../drawings/vmlDrawing33.vml"/><Relationship Id="rId4" Type="http://schemas.openxmlformats.org/officeDocument/2006/relationships/image" Target="../media/image97.emf"/></Relationships>
</file>

<file path=ppt/slides/_rels/slide9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vmlDrawing" Target="../drawings/vmlDrawing34.vml"/><Relationship Id="rId6" Type="http://schemas.openxmlformats.org/officeDocument/2006/relationships/image" Target="../media/image98.wmf"/><Relationship Id="rId5" Type="http://schemas.openxmlformats.org/officeDocument/2006/relationships/oleObject" Target="../embeddings/oleObject67.bin"/><Relationship Id="rId4" Type="http://schemas.openxmlformats.org/officeDocument/2006/relationships/image" Target="../media/image4.png"/></Relationships>
</file>

<file path=ppt/slides/_rels/slide93.xml.rels><?xml version="1.0" encoding="UTF-8" standalone="yes"?>
<Relationships xmlns="http://schemas.openxmlformats.org/package/2006/relationships"><Relationship Id="rId8" Type="http://schemas.openxmlformats.org/officeDocument/2006/relationships/oleObject" Target="../embeddings/oleObject70.bin"/><Relationship Id="rId3" Type="http://schemas.openxmlformats.org/officeDocument/2006/relationships/notesSlide" Target="../notesSlides/notesSlide35.xml"/><Relationship Id="rId7" Type="http://schemas.openxmlformats.org/officeDocument/2006/relationships/image" Target="../media/image100.wmf"/><Relationship Id="rId2" Type="http://schemas.openxmlformats.org/officeDocument/2006/relationships/slideLayout" Target="../slideLayouts/slideLayout2.xml"/><Relationship Id="rId1" Type="http://schemas.openxmlformats.org/officeDocument/2006/relationships/vmlDrawing" Target="../drawings/vmlDrawing35.vml"/><Relationship Id="rId6" Type="http://schemas.openxmlformats.org/officeDocument/2006/relationships/oleObject" Target="../embeddings/oleObject69.bin"/><Relationship Id="rId5" Type="http://schemas.openxmlformats.org/officeDocument/2006/relationships/image" Target="../media/image99.emf"/><Relationship Id="rId4" Type="http://schemas.openxmlformats.org/officeDocument/2006/relationships/oleObject" Target="../embeddings/oleObject68.bin"/><Relationship Id="rId9" Type="http://schemas.openxmlformats.org/officeDocument/2006/relationships/image" Target="../media/image101.wmf"/></Relationships>
</file>

<file path=ppt/slides/_rels/slide9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03.png"/><Relationship Id="rId2" Type="http://schemas.openxmlformats.org/officeDocument/2006/relationships/slideLayout" Target="../slideLayouts/slideLayout2.xml"/><Relationship Id="rId1" Type="http://schemas.openxmlformats.org/officeDocument/2006/relationships/vmlDrawing" Target="../drawings/vmlDrawing36.vml"/><Relationship Id="rId6" Type="http://schemas.openxmlformats.org/officeDocument/2006/relationships/image" Target="../media/image102.wmf"/><Relationship Id="rId5" Type="http://schemas.openxmlformats.org/officeDocument/2006/relationships/oleObject" Target="../embeddings/oleObject71.bin"/><Relationship Id="rId4" Type="http://schemas.openxmlformats.org/officeDocument/2006/relationships/image" Target="../media/image5.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8" Type="http://schemas.openxmlformats.org/officeDocument/2006/relationships/image" Target="../media/image105.wmf"/><Relationship Id="rId3" Type="http://schemas.openxmlformats.org/officeDocument/2006/relationships/image" Target="../media/image3.png"/><Relationship Id="rId7" Type="http://schemas.openxmlformats.org/officeDocument/2006/relationships/oleObject" Target="../embeddings/oleObject73.bin"/><Relationship Id="rId2" Type="http://schemas.openxmlformats.org/officeDocument/2006/relationships/slideLayout" Target="../slideLayouts/slideLayout2.xml"/><Relationship Id="rId1" Type="http://schemas.openxmlformats.org/officeDocument/2006/relationships/vmlDrawing" Target="../drawings/vmlDrawing37.vml"/><Relationship Id="rId6" Type="http://schemas.openxmlformats.org/officeDocument/2006/relationships/image" Target="../media/image104.emf"/><Relationship Id="rId5" Type="http://schemas.openxmlformats.org/officeDocument/2006/relationships/oleObject" Target="../embeddings/oleObject72.bin"/><Relationship Id="rId4" Type="http://schemas.openxmlformats.org/officeDocument/2006/relationships/image" Target="../media/image4.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oleObject" Target="../embeddings/oleObject74.bin"/><Relationship Id="rId2" Type="http://schemas.openxmlformats.org/officeDocument/2006/relationships/slideLayout" Target="../slideLayouts/slideLayout2.xml"/><Relationship Id="rId1" Type="http://schemas.openxmlformats.org/officeDocument/2006/relationships/vmlDrawing" Target="../drawings/vmlDrawing38.vml"/><Relationship Id="rId6" Type="http://schemas.openxmlformats.org/officeDocument/2006/relationships/image" Target="../media/image107.emf"/><Relationship Id="rId5" Type="http://schemas.openxmlformats.org/officeDocument/2006/relationships/oleObject" Target="../embeddings/oleObject75.bin"/><Relationship Id="rId4" Type="http://schemas.openxmlformats.org/officeDocument/2006/relationships/image" Target="../media/image106.emf"/></Relationships>
</file>

<file path=ppt/slides/_rels/slide10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09.emf"/><Relationship Id="rId2" Type="http://schemas.openxmlformats.org/officeDocument/2006/relationships/slideLayout" Target="../slideLayouts/slideLayout2.xml"/><Relationship Id="rId1" Type="http://schemas.openxmlformats.org/officeDocument/2006/relationships/vmlDrawing" Target="../drawings/vmlDrawing39.vml"/><Relationship Id="rId6" Type="http://schemas.openxmlformats.org/officeDocument/2006/relationships/oleObject" Target="../embeddings/oleObject77.bin"/><Relationship Id="rId5" Type="http://schemas.openxmlformats.org/officeDocument/2006/relationships/image" Target="../media/image108.emf"/><Relationship Id="rId4" Type="http://schemas.openxmlformats.org/officeDocument/2006/relationships/oleObject" Target="../embeddings/oleObject76.bin"/></Relationships>
</file>

<file path=ppt/slides/_rels/slide101.xml.rels><?xml version="1.0" encoding="UTF-8" standalone="yes"?>
<Relationships xmlns="http://schemas.openxmlformats.org/package/2006/relationships"><Relationship Id="rId8" Type="http://schemas.openxmlformats.org/officeDocument/2006/relationships/image" Target="../media/image111.emf"/><Relationship Id="rId3" Type="http://schemas.openxmlformats.org/officeDocument/2006/relationships/notesSlide" Target="../notesSlides/notesSlide36.xml"/><Relationship Id="rId7" Type="http://schemas.openxmlformats.org/officeDocument/2006/relationships/oleObject" Target="../embeddings/oleObject79.bin"/><Relationship Id="rId12" Type="http://schemas.openxmlformats.org/officeDocument/2006/relationships/image" Target="../media/image113.emf"/><Relationship Id="rId2" Type="http://schemas.openxmlformats.org/officeDocument/2006/relationships/slideLayout" Target="../slideLayouts/slideLayout2.xml"/><Relationship Id="rId1" Type="http://schemas.openxmlformats.org/officeDocument/2006/relationships/vmlDrawing" Target="../drawings/vmlDrawing40.vml"/><Relationship Id="rId6" Type="http://schemas.openxmlformats.org/officeDocument/2006/relationships/image" Target="../media/image110.emf"/><Relationship Id="rId11" Type="http://schemas.openxmlformats.org/officeDocument/2006/relationships/oleObject" Target="../embeddings/oleObject81.bin"/><Relationship Id="rId5" Type="http://schemas.openxmlformats.org/officeDocument/2006/relationships/oleObject" Target="../embeddings/oleObject78.bin"/><Relationship Id="rId10" Type="http://schemas.openxmlformats.org/officeDocument/2006/relationships/image" Target="../media/image112.emf"/><Relationship Id="rId4" Type="http://schemas.openxmlformats.org/officeDocument/2006/relationships/image" Target="../media/image3.png"/><Relationship Id="rId9" Type="http://schemas.openxmlformats.org/officeDocument/2006/relationships/oleObject" Target="../embeddings/oleObject80.bin"/></Relationships>
</file>

<file path=ppt/slides/_rels/slide102.xml.rels><?xml version="1.0" encoding="UTF-8" standalone="yes"?>
<Relationships xmlns="http://schemas.openxmlformats.org/package/2006/relationships"><Relationship Id="rId8" Type="http://schemas.openxmlformats.org/officeDocument/2006/relationships/image" Target="../media/image116.emf"/><Relationship Id="rId3" Type="http://schemas.openxmlformats.org/officeDocument/2006/relationships/oleObject" Target="../embeddings/oleObject82.bin"/><Relationship Id="rId7" Type="http://schemas.openxmlformats.org/officeDocument/2006/relationships/oleObject" Target="../embeddings/oleObject84.bin"/><Relationship Id="rId2" Type="http://schemas.openxmlformats.org/officeDocument/2006/relationships/slideLayout" Target="../slideLayouts/slideLayout2.xml"/><Relationship Id="rId1" Type="http://schemas.openxmlformats.org/officeDocument/2006/relationships/vmlDrawing" Target="../drawings/vmlDrawing41.vml"/><Relationship Id="rId6" Type="http://schemas.openxmlformats.org/officeDocument/2006/relationships/image" Target="../media/image115.emf"/><Relationship Id="rId5" Type="http://schemas.openxmlformats.org/officeDocument/2006/relationships/oleObject" Target="../embeddings/oleObject83.bin"/><Relationship Id="rId10" Type="http://schemas.openxmlformats.org/officeDocument/2006/relationships/image" Target="../media/image117.emf"/><Relationship Id="rId4" Type="http://schemas.openxmlformats.org/officeDocument/2006/relationships/image" Target="../media/image114.emf"/><Relationship Id="rId9" Type="http://schemas.openxmlformats.org/officeDocument/2006/relationships/oleObject" Target="../embeddings/oleObject85.bin"/></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8" Type="http://schemas.openxmlformats.org/officeDocument/2006/relationships/oleObject" Target="../embeddings/oleObject88.bin"/><Relationship Id="rId3" Type="http://schemas.openxmlformats.org/officeDocument/2006/relationships/notesSlide" Target="../notesSlides/notesSlide37.xml"/><Relationship Id="rId7" Type="http://schemas.openxmlformats.org/officeDocument/2006/relationships/image" Target="../media/image119.wmf"/><Relationship Id="rId2" Type="http://schemas.openxmlformats.org/officeDocument/2006/relationships/slideLayout" Target="../slideLayouts/slideLayout2.xml"/><Relationship Id="rId1" Type="http://schemas.openxmlformats.org/officeDocument/2006/relationships/vmlDrawing" Target="../drawings/vmlDrawing42.vml"/><Relationship Id="rId6" Type="http://schemas.openxmlformats.org/officeDocument/2006/relationships/oleObject" Target="../embeddings/oleObject87.bin"/><Relationship Id="rId5" Type="http://schemas.openxmlformats.org/officeDocument/2006/relationships/image" Target="../media/image118.wmf"/><Relationship Id="rId4" Type="http://schemas.openxmlformats.org/officeDocument/2006/relationships/oleObject" Target="../embeddings/oleObject86.bin"/><Relationship Id="rId9" Type="http://schemas.openxmlformats.org/officeDocument/2006/relationships/image" Target="../media/image120.emf"/></Relationships>
</file>

<file path=ppt/slides/_rels/slide106.xml.rels><?xml version="1.0" encoding="UTF-8" standalone="yes"?>
<Relationships xmlns="http://schemas.openxmlformats.org/package/2006/relationships"><Relationship Id="rId3" Type="http://schemas.openxmlformats.org/officeDocument/2006/relationships/oleObject" Target="../embeddings/oleObject89.bin"/><Relationship Id="rId2" Type="http://schemas.openxmlformats.org/officeDocument/2006/relationships/slideLayout" Target="../slideLayouts/slideLayout2.xml"/><Relationship Id="rId1" Type="http://schemas.openxmlformats.org/officeDocument/2006/relationships/vmlDrawing" Target="../drawings/vmlDrawing43.vml"/><Relationship Id="rId5" Type="http://schemas.openxmlformats.org/officeDocument/2006/relationships/image" Target="../media/image3.png"/><Relationship Id="rId4" Type="http://schemas.openxmlformats.org/officeDocument/2006/relationships/image" Target="../media/image121.wmf"/></Relationships>
</file>

<file path=ppt/slides/_rels/slide107.xml.rels><?xml version="1.0" encoding="UTF-8" standalone="yes"?>
<Relationships xmlns="http://schemas.openxmlformats.org/package/2006/relationships"><Relationship Id="rId3" Type="http://schemas.openxmlformats.org/officeDocument/2006/relationships/oleObject" Target="../embeddings/oleObject90.bin"/><Relationship Id="rId2" Type="http://schemas.openxmlformats.org/officeDocument/2006/relationships/slideLayout" Target="../slideLayouts/slideLayout14.xml"/><Relationship Id="rId1" Type="http://schemas.openxmlformats.org/officeDocument/2006/relationships/vmlDrawing" Target="../drawings/vmlDrawing44.vml"/><Relationship Id="rId6" Type="http://schemas.openxmlformats.org/officeDocument/2006/relationships/image" Target="../media/image123.wmf"/><Relationship Id="rId5" Type="http://schemas.openxmlformats.org/officeDocument/2006/relationships/oleObject" Target="../embeddings/oleObject91.bin"/><Relationship Id="rId4" Type="http://schemas.openxmlformats.org/officeDocument/2006/relationships/image" Target="../media/image122.wmf"/></Relationships>
</file>

<file path=ppt/slides/_rels/slide108.xml.rels><?xml version="1.0" encoding="UTF-8" standalone="yes"?>
<Relationships xmlns="http://schemas.openxmlformats.org/package/2006/relationships"><Relationship Id="rId8" Type="http://schemas.openxmlformats.org/officeDocument/2006/relationships/image" Target="../media/image125.wmf"/><Relationship Id="rId3" Type="http://schemas.openxmlformats.org/officeDocument/2006/relationships/notesSlide" Target="../notesSlides/notesSlide38.xml"/><Relationship Id="rId7" Type="http://schemas.openxmlformats.org/officeDocument/2006/relationships/oleObject" Target="../embeddings/oleObject93.bin"/><Relationship Id="rId2" Type="http://schemas.openxmlformats.org/officeDocument/2006/relationships/slideLayout" Target="../slideLayouts/slideLayout14.xml"/><Relationship Id="rId1" Type="http://schemas.openxmlformats.org/officeDocument/2006/relationships/vmlDrawing" Target="../drawings/vmlDrawing45.vml"/><Relationship Id="rId6" Type="http://schemas.openxmlformats.org/officeDocument/2006/relationships/image" Target="../media/image124.wmf"/><Relationship Id="rId5" Type="http://schemas.openxmlformats.org/officeDocument/2006/relationships/oleObject" Target="../embeddings/oleObject92.bin"/><Relationship Id="rId4" Type="http://schemas.openxmlformats.org/officeDocument/2006/relationships/image" Target="../media/image126.png"/></Relationships>
</file>

<file path=ppt/slides/_rels/slide109.xml.rels><?xml version="1.0" encoding="UTF-8" standalone="yes"?>
<Relationships xmlns="http://schemas.openxmlformats.org/package/2006/relationships"><Relationship Id="rId3" Type="http://schemas.openxmlformats.org/officeDocument/2006/relationships/oleObject" Target="../embeddings/oleObject94.bin"/><Relationship Id="rId2" Type="http://schemas.openxmlformats.org/officeDocument/2006/relationships/slideLayout" Target="../slideLayouts/slideLayout2.xml"/><Relationship Id="rId1" Type="http://schemas.openxmlformats.org/officeDocument/2006/relationships/vmlDrawing" Target="../drawings/vmlDrawing46.vml"/><Relationship Id="rId4" Type="http://schemas.openxmlformats.org/officeDocument/2006/relationships/image" Target="../media/image127.wmf"/></Relationships>
</file>

<file path=ppt/slides/_rels/slide110.xml.rels><?xml version="1.0" encoding="UTF-8" standalone="yes"?>
<Relationships xmlns="http://schemas.openxmlformats.org/package/2006/relationships"><Relationship Id="rId8" Type="http://schemas.openxmlformats.org/officeDocument/2006/relationships/oleObject" Target="../embeddings/oleObject97.bin"/><Relationship Id="rId3" Type="http://schemas.openxmlformats.org/officeDocument/2006/relationships/notesSlide" Target="../notesSlides/notesSlide39.xml"/><Relationship Id="rId7" Type="http://schemas.openxmlformats.org/officeDocument/2006/relationships/image" Target="../media/image129.emf"/><Relationship Id="rId2" Type="http://schemas.openxmlformats.org/officeDocument/2006/relationships/slideLayout" Target="../slideLayouts/slideLayout2.xml"/><Relationship Id="rId1" Type="http://schemas.openxmlformats.org/officeDocument/2006/relationships/vmlDrawing" Target="../drawings/vmlDrawing47.vml"/><Relationship Id="rId6" Type="http://schemas.openxmlformats.org/officeDocument/2006/relationships/oleObject" Target="../embeddings/oleObject96.bin"/><Relationship Id="rId5" Type="http://schemas.openxmlformats.org/officeDocument/2006/relationships/image" Target="../media/image128.wmf"/><Relationship Id="rId4" Type="http://schemas.openxmlformats.org/officeDocument/2006/relationships/oleObject" Target="../embeddings/oleObject95.bin"/><Relationship Id="rId9" Type="http://schemas.openxmlformats.org/officeDocument/2006/relationships/image" Target="../media/image130.wmf"/></Relationships>
</file>

<file path=ppt/slides/_rels/slide111.xml.rels><?xml version="1.0" encoding="UTF-8" standalone="yes"?>
<Relationships xmlns="http://schemas.openxmlformats.org/package/2006/relationships"><Relationship Id="rId3" Type="http://schemas.openxmlformats.org/officeDocument/2006/relationships/oleObject" Target="../embeddings/oleObject98.bin"/><Relationship Id="rId2" Type="http://schemas.openxmlformats.org/officeDocument/2006/relationships/slideLayout" Target="../slideLayouts/slideLayout2.xml"/><Relationship Id="rId1" Type="http://schemas.openxmlformats.org/officeDocument/2006/relationships/vmlDrawing" Target="../drawings/vmlDrawing48.vml"/><Relationship Id="rId6" Type="http://schemas.openxmlformats.org/officeDocument/2006/relationships/image" Target="../media/image132.emf"/><Relationship Id="rId5" Type="http://schemas.openxmlformats.org/officeDocument/2006/relationships/oleObject" Target="../embeddings/oleObject99.bin"/><Relationship Id="rId4" Type="http://schemas.openxmlformats.org/officeDocument/2006/relationships/image" Target="../media/image131.emf"/></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vmlDrawing" Target="../drawings/vmlDrawing49.vml"/><Relationship Id="rId5" Type="http://schemas.openxmlformats.org/officeDocument/2006/relationships/image" Target="../media/image133.wmf"/><Relationship Id="rId4" Type="http://schemas.openxmlformats.org/officeDocument/2006/relationships/oleObject" Target="../embeddings/oleObject100.bin"/></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vmlDrawing" Target="../drawings/vmlDrawing50.vml"/><Relationship Id="rId5" Type="http://schemas.openxmlformats.org/officeDocument/2006/relationships/image" Target="../media/image134.wmf"/><Relationship Id="rId4" Type="http://schemas.openxmlformats.org/officeDocument/2006/relationships/oleObject" Target="../embeddings/oleObject101.bin"/></Relationships>
</file>

<file path=ppt/slides/_rels/slide115.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vmlDrawing" Target="../drawings/vmlDrawing51.vml"/><Relationship Id="rId6" Type="http://schemas.openxmlformats.org/officeDocument/2006/relationships/image" Target="../media/image136.emf"/><Relationship Id="rId5" Type="http://schemas.openxmlformats.org/officeDocument/2006/relationships/image" Target="../media/image135.wmf"/><Relationship Id="rId4" Type="http://schemas.openxmlformats.org/officeDocument/2006/relationships/oleObject" Target="../embeddings/oleObject102.bin"/></Relationships>
</file>

<file path=ppt/slides/_rels/slide116.xml.rels><?xml version="1.0" encoding="UTF-8" standalone="yes"?>
<Relationships xmlns="http://schemas.openxmlformats.org/package/2006/relationships"><Relationship Id="rId8" Type="http://schemas.openxmlformats.org/officeDocument/2006/relationships/image" Target="../media/image139.emf"/><Relationship Id="rId3" Type="http://schemas.openxmlformats.org/officeDocument/2006/relationships/oleObject" Target="../embeddings/oleObject103.bin"/><Relationship Id="rId7" Type="http://schemas.openxmlformats.org/officeDocument/2006/relationships/oleObject" Target="../embeddings/oleObject105.bin"/><Relationship Id="rId2" Type="http://schemas.openxmlformats.org/officeDocument/2006/relationships/slideLayout" Target="../slideLayouts/slideLayout2.xml"/><Relationship Id="rId1" Type="http://schemas.openxmlformats.org/officeDocument/2006/relationships/vmlDrawing" Target="../drawings/vmlDrawing52.vml"/><Relationship Id="rId6" Type="http://schemas.openxmlformats.org/officeDocument/2006/relationships/image" Target="../media/image138.wmf"/><Relationship Id="rId5" Type="http://schemas.openxmlformats.org/officeDocument/2006/relationships/oleObject" Target="../embeddings/oleObject104.bin"/><Relationship Id="rId4" Type="http://schemas.openxmlformats.org/officeDocument/2006/relationships/image" Target="../media/image137.wmf"/></Relationships>
</file>

<file path=ppt/slides/_rels/slide1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8" Type="http://schemas.openxmlformats.org/officeDocument/2006/relationships/image" Target="../media/image142.wmf"/><Relationship Id="rId3" Type="http://schemas.openxmlformats.org/officeDocument/2006/relationships/oleObject" Target="../embeddings/oleObject106.bin"/><Relationship Id="rId7" Type="http://schemas.openxmlformats.org/officeDocument/2006/relationships/oleObject" Target="../embeddings/oleObject108.bin"/><Relationship Id="rId2" Type="http://schemas.openxmlformats.org/officeDocument/2006/relationships/slideLayout" Target="../slideLayouts/slideLayout2.xml"/><Relationship Id="rId1" Type="http://schemas.openxmlformats.org/officeDocument/2006/relationships/vmlDrawing" Target="../drawings/vmlDrawing53.vml"/><Relationship Id="rId6" Type="http://schemas.openxmlformats.org/officeDocument/2006/relationships/image" Target="../media/image141.wmf"/><Relationship Id="rId11" Type="http://schemas.openxmlformats.org/officeDocument/2006/relationships/image" Target="../media/image143.wmf"/><Relationship Id="rId5" Type="http://schemas.openxmlformats.org/officeDocument/2006/relationships/oleObject" Target="../embeddings/oleObject107.bin"/><Relationship Id="rId10" Type="http://schemas.openxmlformats.org/officeDocument/2006/relationships/oleObject" Target="../embeddings/oleObject109.bin"/><Relationship Id="rId4" Type="http://schemas.openxmlformats.org/officeDocument/2006/relationships/image" Target="../media/image140.emf"/><Relationship Id="rId9" Type="http://schemas.openxmlformats.org/officeDocument/2006/relationships/image" Target="../media/image4.png"/></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8" Type="http://schemas.openxmlformats.org/officeDocument/2006/relationships/image" Target="../media/image146.emf"/><Relationship Id="rId13" Type="http://schemas.openxmlformats.org/officeDocument/2006/relationships/oleObject" Target="../embeddings/oleObject115.bin"/><Relationship Id="rId3" Type="http://schemas.openxmlformats.org/officeDocument/2006/relationships/oleObject" Target="../embeddings/oleObject110.bin"/><Relationship Id="rId7" Type="http://schemas.openxmlformats.org/officeDocument/2006/relationships/oleObject" Target="../embeddings/oleObject112.bin"/><Relationship Id="rId12" Type="http://schemas.openxmlformats.org/officeDocument/2006/relationships/image" Target="../media/image148.emf"/><Relationship Id="rId2" Type="http://schemas.openxmlformats.org/officeDocument/2006/relationships/slideLayout" Target="../slideLayouts/slideLayout2.xml"/><Relationship Id="rId1" Type="http://schemas.openxmlformats.org/officeDocument/2006/relationships/vmlDrawing" Target="../drawings/vmlDrawing54.vml"/><Relationship Id="rId6" Type="http://schemas.openxmlformats.org/officeDocument/2006/relationships/image" Target="../media/image145.emf"/><Relationship Id="rId11" Type="http://schemas.openxmlformats.org/officeDocument/2006/relationships/oleObject" Target="../embeddings/oleObject114.bin"/><Relationship Id="rId5" Type="http://schemas.openxmlformats.org/officeDocument/2006/relationships/oleObject" Target="../embeddings/oleObject111.bin"/><Relationship Id="rId10" Type="http://schemas.openxmlformats.org/officeDocument/2006/relationships/image" Target="../media/image147.emf"/><Relationship Id="rId4" Type="http://schemas.openxmlformats.org/officeDocument/2006/relationships/image" Target="../media/image144.emf"/><Relationship Id="rId9" Type="http://schemas.openxmlformats.org/officeDocument/2006/relationships/oleObject" Target="../embeddings/oleObject113.bin"/><Relationship Id="rId14" Type="http://schemas.openxmlformats.org/officeDocument/2006/relationships/image" Target="../media/image149.emf"/></Relationships>
</file>

<file path=ppt/slides/_rels/slide128.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vmlDrawing" Target="../drawings/vmlDrawing55.vml"/><Relationship Id="rId5" Type="http://schemas.openxmlformats.org/officeDocument/2006/relationships/image" Target="../media/image150.wmf"/><Relationship Id="rId4" Type="http://schemas.openxmlformats.org/officeDocument/2006/relationships/oleObject" Target="../embeddings/oleObject116.bin"/></Relationships>
</file>

<file path=ppt/slides/_rels/slide129.xml.rels><?xml version="1.0" encoding="UTF-8" standalone="yes"?>
<Relationships xmlns="http://schemas.openxmlformats.org/package/2006/relationships"><Relationship Id="rId3" Type="http://schemas.openxmlformats.org/officeDocument/2006/relationships/oleObject" Target="../embeddings/oleObject117.bin"/><Relationship Id="rId2" Type="http://schemas.openxmlformats.org/officeDocument/2006/relationships/slideLayout" Target="../slideLayouts/slideLayout2.xml"/><Relationship Id="rId1" Type="http://schemas.openxmlformats.org/officeDocument/2006/relationships/vmlDrawing" Target="../drawings/vmlDrawing56.vml"/><Relationship Id="rId4" Type="http://schemas.openxmlformats.org/officeDocument/2006/relationships/image" Target="../media/image151.emf"/></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152.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oleObject" Target="../embeddings/oleObject118.bin"/><Relationship Id="rId2" Type="http://schemas.openxmlformats.org/officeDocument/2006/relationships/slideLayout" Target="../slideLayouts/slideLayout2.xml"/><Relationship Id="rId1" Type="http://schemas.openxmlformats.org/officeDocument/2006/relationships/vmlDrawing" Target="../drawings/vmlDrawing57.vml"/><Relationship Id="rId6" Type="http://schemas.openxmlformats.org/officeDocument/2006/relationships/image" Target="../media/image154.emf"/><Relationship Id="rId5" Type="http://schemas.openxmlformats.org/officeDocument/2006/relationships/oleObject" Target="../embeddings/oleObject119.bin"/><Relationship Id="rId4" Type="http://schemas.openxmlformats.org/officeDocument/2006/relationships/image" Target="../media/image153.emf"/></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155.gif"/><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8" Type="http://schemas.openxmlformats.org/officeDocument/2006/relationships/image" Target="../media/image158.emf"/><Relationship Id="rId3" Type="http://schemas.openxmlformats.org/officeDocument/2006/relationships/oleObject" Target="../embeddings/oleObject120.bin"/><Relationship Id="rId7" Type="http://schemas.openxmlformats.org/officeDocument/2006/relationships/oleObject" Target="../embeddings/oleObject122.bin"/><Relationship Id="rId2" Type="http://schemas.openxmlformats.org/officeDocument/2006/relationships/slideLayout" Target="../slideLayouts/slideLayout2.xml"/><Relationship Id="rId1" Type="http://schemas.openxmlformats.org/officeDocument/2006/relationships/vmlDrawing" Target="../drawings/vmlDrawing58.vml"/><Relationship Id="rId6" Type="http://schemas.openxmlformats.org/officeDocument/2006/relationships/image" Target="../media/image157.emf"/><Relationship Id="rId5" Type="http://schemas.openxmlformats.org/officeDocument/2006/relationships/oleObject" Target="../embeddings/oleObject121.bin"/><Relationship Id="rId4" Type="http://schemas.openxmlformats.org/officeDocument/2006/relationships/image" Target="../media/image156.emf"/></Relationships>
</file>

<file path=ppt/slides/_rels/slide144.xml.rels><?xml version="1.0" encoding="UTF-8" standalone="yes"?>
<Relationships xmlns="http://schemas.openxmlformats.org/package/2006/relationships"><Relationship Id="rId3" Type="http://schemas.openxmlformats.org/officeDocument/2006/relationships/oleObject" Target="../embeddings/oleObject123.bin"/><Relationship Id="rId2" Type="http://schemas.openxmlformats.org/officeDocument/2006/relationships/slideLayout" Target="../slideLayouts/slideLayout2.xml"/><Relationship Id="rId1" Type="http://schemas.openxmlformats.org/officeDocument/2006/relationships/vmlDrawing" Target="../drawings/vmlDrawing59.vml"/><Relationship Id="rId6" Type="http://schemas.openxmlformats.org/officeDocument/2006/relationships/image" Target="../media/image160.emf"/><Relationship Id="rId5" Type="http://schemas.openxmlformats.org/officeDocument/2006/relationships/oleObject" Target="../embeddings/oleObject124.bin"/><Relationship Id="rId4" Type="http://schemas.openxmlformats.org/officeDocument/2006/relationships/image" Target="../media/image159.emf"/></Relationships>
</file>

<file path=ppt/slides/_rels/slide145.xml.rels><?xml version="1.0" encoding="UTF-8" standalone="yes"?>
<Relationships xmlns="http://schemas.openxmlformats.org/package/2006/relationships"><Relationship Id="rId3" Type="http://schemas.openxmlformats.org/officeDocument/2006/relationships/oleObject" Target="../embeddings/oleObject125.bin"/><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vmlDrawing" Target="../drawings/vmlDrawing60.vml"/><Relationship Id="rId6" Type="http://schemas.openxmlformats.org/officeDocument/2006/relationships/image" Target="../media/image162.emf"/><Relationship Id="rId5" Type="http://schemas.openxmlformats.org/officeDocument/2006/relationships/oleObject" Target="../embeddings/oleObject126.bin"/><Relationship Id="rId4" Type="http://schemas.openxmlformats.org/officeDocument/2006/relationships/image" Target="../media/image16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34"/>
          <p:cNvPicPr>
            <a:picLocks noChangeAspect="1" noChangeArrowheads="1"/>
          </p:cNvPicPr>
          <p:nvPr/>
        </p:nvPicPr>
        <p:blipFill>
          <a:blip r:embed="rId2" cstate="print"/>
          <a:srcRect/>
          <a:stretch>
            <a:fillRect/>
          </a:stretch>
        </p:blipFill>
        <p:spPr bwMode="auto">
          <a:xfrm>
            <a:off x="8215338" y="0"/>
            <a:ext cx="928662" cy="907527"/>
          </a:xfrm>
          <a:prstGeom prst="rect">
            <a:avLst/>
          </a:prstGeom>
          <a:noFill/>
          <a:ln w="9525">
            <a:noFill/>
            <a:miter lim="800000"/>
            <a:headEnd/>
            <a:tailEnd/>
          </a:ln>
        </p:spPr>
      </p:pic>
      <p:sp>
        <p:nvSpPr>
          <p:cNvPr id="72707" name="Rectangle 2"/>
          <p:cNvSpPr>
            <a:spLocks noGrp="1" noChangeArrowheads="1"/>
          </p:cNvSpPr>
          <p:nvPr>
            <p:ph type="title"/>
          </p:nvPr>
        </p:nvSpPr>
        <p:spPr>
          <a:xfrm>
            <a:off x="442938" y="769415"/>
            <a:ext cx="7772400" cy="990600"/>
          </a:xfrm>
        </p:spPr>
        <p:txBody>
          <a:bodyPr/>
          <a:lstStyle/>
          <a:p>
            <a:pPr eaLnBrk="1" hangingPunct="1"/>
            <a:r>
              <a:rPr lang="en-US" altLang="zh-CN" dirty="0" smtClean="0"/>
              <a:t>ch4</a:t>
            </a:r>
            <a:r>
              <a:rPr lang="zh-CN" altLang="en-US" dirty="0" smtClean="0"/>
              <a:t>　时间序列分析</a:t>
            </a:r>
          </a:p>
        </p:txBody>
      </p:sp>
      <p:sp>
        <p:nvSpPr>
          <p:cNvPr id="72708" name="Rectangle 3"/>
          <p:cNvSpPr>
            <a:spLocks noGrp="1" noChangeArrowheads="1"/>
          </p:cNvSpPr>
          <p:nvPr>
            <p:ph type="body" idx="1"/>
          </p:nvPr>
        </p:nvSpPr>
        <p:spPr>
          <a:xfrm>
            <a:off x="2267744" y="2400690"/>
            <a:ext cx="6217568" cy="2857500"/>
          </a:xfrm>
        </p:spPr>
        <p:txBody>
          <a:bodyPr/>
          <a:lstStyle/>
          <a:p>
            <a:pPr marL="0" indent="0" eaLnBrk="1" hangingPunct="1">
              <a:spcBef>
                <a:spcPct val="30000"/>
              </a:spcBef>
              <a:buNone/>
            </a:pPr>
            <a:r>
              <a:rPr lang="en-US" altLang="zh-CN" sz="3600" dirty="0" smtClean="0">
                <a:solidFill>
                  <a:srgbClr val="0070C0"/>
                </a:solidFill>
              </a:rPr>
              <a:t>4.1 </a:t>
            </a:r>
            <a:r>
              <a:rPr lang="zh-CN" altLang="en-US" sz="3600" dirty="0" smtClean="0">
                <a:solidFill>
                  <a:srgbClr val="0070C0"/>
                </a:solidFill>
              </a:rPr>
              <a:t>时间序列概述</a:t>
            </a:r>
          </a:p>
          <a:p>
            <a:pPr marL="0" indent="0" eaLnBrk="1" hangingPunct="1">
              <a:spcBef>
                <a:spcPct val="30000"/>
              </a:spcBef>
              <a:buNone/>
            </a:pPr>
            <a:r>
              <a:rPr lang="en-US" altLang="zh-CN" sz="3600" dirty="0" smtClean="0">
                <a:solidFill>
                  <a:srgbClr val="0070C0"/>
                </a:solidFill>
              </a:rPr>
              <a:t>4.2 </a:t>
            </a:r>
            <a:r>
              <a:rPr lang="zh-CN" altLang="en-US" sz="3600" dirty="0" smtClean="0">
                <a:solidFill>
                  <a:srgbClr val="0070C0"/>
                </a:solidFill>
              </a:rPr>
              <a:t>时间序列的水平分析</a:t>
            </a:r>
          </a:p>
          <a:p>
            <a:pPr marL="0" indent="0" eaLnBrk="1" hangingPunct="1">
              <a:spcBef>
                <a:spcPct val="30000"/>
              </a:spcBef>
              <a:buNone/>
            </a:pPr>
            <a:r>
              <a:rPr lang="en-US" altLang="zh-CN" sz="3600" dirty="0" smtClean="0">
                <a:solidFill>
                  <a:srgbClr val="0070C0"/>
                </a:solidFill>
              </a:rPr>
              <a:t>4.3 </a:t>
            </a:r>
            <a:r>
              <a:rPr lang="zh-CN" altLang="en-US" sz="3600" dirty="0" smtClean="0">
                <a:solidFill>
                  <a:srgbClr val="0070C0"/>
                </a:solidFill>
              </a:rPr>
              <a:t>时间序列的速度分析</a:t>
            </a:r>
          </a:p>
          <a:p>
            <a:pPr marL="0" indent="0" eaLnBrk="1" hangingPunct="1">
              <a:spcBef>
                <a:spcPct val="30000"/>
              </a:spcBef>
              <a:buNone/>
            </a:pPr>
            <a:r>
              <a:rPr lang="en-US" altLang="zh-CN" sz="3600" dirty="0" smtClean="0">
                <a:solidFill>
                  <a:srgbClr val="0070C0"/>
                </a:solidFill>
              </a:rPr>
              <a:t>4.4 </a:t>
            </a:r>
            <a:r>
              <a:rPr lang="zh-CN" altLang="en-US" sz="3600" dirty="0" smtClean="0">
                <a:solidFill>
                  <a:srgbClr val="0070C0"/>
                </a:solidFill>
              </a:rPr>
              <a:t>时间序列构成因素分析</a:t>
            </a:r>
          </a:p>
        </p:txBody>
      </p:sp>
      <p:sp>
        <p:nvSpPr>
          <p:cNvPr id="72709" name="日期占位符 4"/>
          <p:cNvSpPr>
            <a:spLocks noGrp="1"/>
          </p:cNvSpPr>
          <p:nvPr>
            <p:ph type="dt" sz="quarter" idx="10"/>
          </p:nvPr>
        </p:nvSpPr>
        <p:spPr>
          <a:noFill/>
        </p:spPr>
        <p:txBody>
          <a:bodyPr/>
          <a:lstStyle/>
          <a:p>
            <a:endParaRPr lang="en-US" altLang="zh-CN" smtClean="0"/>
          </a:p>
        </p:txBody>
      </p:sp>
      <p:pic>
        <p:nvPicPr>
          <p:cNvPr id="72710" name="Picture 3" descr="0017"/>
          <p:cNvPicPr>
            <a:picLocks noChangeAspect="1" noChangeArrowheads="1" noCrop="1"/>
          </p:cNvPicPr>
          <p:nvPr/>
        </p:nvPicPr>
        <p:blipFill>
          <a:blip r:embed="rId3" cstate="print"/>
          <a:srcRect/>
          <a:stretch>
            <a:fillRect/>
          </a:stretch>
        </p:blipFill>
        <p:spPr bwMode="auto">
          <a:xfrm flipV="1">
            <a:off x="0" y="6110288"/>
            <a:ext cx="9144000" cy="257175"/>
          </a:xfrm>
          <a:prstGeom prst="rect">
            <a:avLst/>
          </a:prstGeom>
          <a:noFill/>
          <a:ln w="9525">
            <a:noFill/>
            <a:miter lim="800000"/>
            <a:headEnd/>
            <a:tailEnd/>
          </a:ln>
        </p:spPr>
      </p:pic>
      <p:sp>
        <p:nvSpPr>
          <p:cNvPr id="72711" name="Text Box 5"/>
          <p:cNvSpPr txBox="1">
            <a:spLocks noChangeArrowheads="1"/>
          </p:cNvSpPr>
          <p:nvPr/>
        </p:nvSpPr>
        <p:spPr bwMode="auto">
          <a:xfrm>
            <a:off x="0" y="417318"/>
            <a:ext cx="1187624" cy="523220"/>
          </a:xfrm>
          <a:prstGeom prst="rect">
            <a:avLst/>
          </a:prstGeom>
          <a:noFill/>
          <a:ln w="9525">
            <a:noFill/>
            <a:miter lim="800000"/>
            <a:headEnd/>
            <a:tailEnd/>
          </a:ln>
        </p:spPr>
        <p:txBody>
          <a:bodyPr wrap="square">
            <a:spAutoFit/>
          </a:bodyPr>
          <a:lstStyle/>
          <a:p>
            <a:pPr>
              <a:spcBef>
                <a:spcPct val="50000"/>
              </a:spcBef>
            </a:pPr>
            <a:r>
              <a:rPr lang="en-US" altLang="zh-CN" sz="2800" dirty="0" err="1" smtClean="0">
                <a:solidFill>
                  <a:schemeClr val="bg2"/>
                </a:solidFill>
                <a:latin typeface="华文行楷" pitchFamily="2" charset="-122"/>
                <a:ea typeface="华文行楷" pitchFamily="2" charset="-122"/>
              </a:rPr>
              <a:t>Wangqh</a:t>
            </a:r>
            <a:endParaRPr lang="en-US" altLang="zh-CN" sz="2800" dirty="0">
              <a:solidFill>
                <a:schemeClr val="bg2"/>
              </a:solidFill>
              <a:latin typeface="华文行楷" pitchFamily="2" charset="-122"/>
              <a:ea typeface="华文行楷" pitchFamily="2" charset="-122"/>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graphicFrame>
        <p:nvGraphicFramePr>
          <p:cNvPr id="5" name="内容占位符 4"/>
          <p:cNvGraphicFramePr>
            <a:graphicFrameLocks noGrp="1"/>
          </p:cNvGraphicFramePr>
          <p:nvPr>
            <p:ph idx="1"/>
            <p:extLst>
              <p:ext uri="{D42A27DB-BD31-4B8C-83A1-F6EECF244321}">
                <p14:modId xmlns:p14="http://schemas.microsoft.com/office/powerpoint/2010/main" val="1449428322"/>
              </p:ext>
            </p:extLst>
          </p:nvPr>
        </p:nvGraphicFramePr>
        <p:xfrm>
          <a:off x="827584" y="2564904"/>
          <a:ext cx="7560841" cy="2809588"/>
        </p:xfrm>
        <a:graphic>
          <a:graphicData uri="http://schemas.openxmlformats.org/drawingml/2006/table">
            <a:tbl>
              <a:tblPr/>
              <a:tblGrid>
                <a:gridCol w="1159120">
                  <a:extLst>
                    <a:ext uri="{9D8B030D-6E8A-4147-A177-3AD203B41FA5}">
                      <a16:colId xmlns:a16="http://schemas.microsoft.com/office/drawing/2014/main" val="20000"/>
                    </a:ext>
                  </a:extLst>
                </a:gridCol>
                <a:gridCol w="1279861">
                  <a:extLst>
                    <a:ext uri="{9D8B030D-6E8A-4147-A177-3AD203B41FA5}">
                      <a16:colId xmlns:a16="http://schemas.microsoft.com/office/drawing/2014/main" val="20001"/>
                    </a:ext>
                  </a:extLst>
                </a:gridCol>
                <a:gridCol w="1279861">
                  <a:extLst>
                    <a:ext uri="{9D8B030D-6E8A-4147-A177-3AD203B41FA5}">
                      <a16:colId xmlns:a16="http://schemas.microsoft.com/office/drawing/2014/main" val="20002"/>
                    </a:ext>
                  </a:extLst>
                </a:gridCol>
                <a:gridCol w="1281069">
                  <a:extLst>
                    <a:ext uri="{9D8B030D-6E8A-4147-A177-3AD203B41FA5}">
                      <a16:colId xmlns:a16="http://schemas.microsoft.com/office/drawing/2014/main" val="20003"/>
                    </a:ext>
                  </a:extLst>
                </a:gridCol>
                <a:gridCol w="1279861">
                  <a:extLst>
                    <a:ext uri="{9D8B030D-6E8A-4147-A177-3AD203B41FA5}">
                      <a16:colId xmlns:a16="http://schemas.microsoft.com/office/drawing/2014/main" val="20004"/>
                    </a:ext>
                  </a:extLst>
                </a:gridCol>
                <a:gridCol w="1281069">
                  <a:extLst>
                    <a:ext uri="{9D8B030D-6E8A-4147-A177-3AD203B41FA5}">
                      <a16:colId xmlns:a16="http://schemas.microsoft.com/office/drawing/2014/main" val="20005"/>
                    </a:ext>
                  </a:extLst>
                </a:gridCol>
              </a:tblGrid>
              <a:tr h="576064">
                <a:tc>
                  <a:txBody>
                    <a:bodyPr/>
                    <a:lstStyle/>
                    <a:p>
                      <a:endParaRPr lang="zh-CN" sz="2400" b="1" kern="1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400" b="1" kern="0">
                          <a:solidFill>
                            <a:srgbClr val="000000"/>
                          </a:solidFill>
                          <a:latin typeface="Calibri"/>
                          <a:ea typeface="宋体"/>
                          <a:cs typeface="宋体"/>
                        </a:rPr>
                        <a:t>第</a:t>
                      </a:r>
                      <a:r>
                        <a:rPr lang="en-US" sz="2400" b="1" kern="0">
                          <a:solidFill>
                            <a:srgbClr val="000000"/>
                          </a:solidFill>
                          <a:latin typeface="Calibri"/>
                          <a:ea typeface="宋体"/>
                          <a:cs typeface="宋体"/>
                        </a:rPr>
                        <a:t>1</a:t>
                      </a:r>
                      <a:r>
                        <a:rPr lang="zh-CN" sz="2400" b="1" kern="0">
                          <a:solidFill>
                            <a:srgbClr val="000000"/>
                          </a:solidFill>
                          <a:latin typeface="Calibri"/>
                          <a:ea typeface="宋体"/>
                          <a:cs typeface="宋体"/>
                        </a:rPr>
                        <a:t>季度</a:t>
                      </a:r>
                      <a:endParaRPr lang="zh-CN" sz="2400" b="1"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400" b="1" kern="0">
                          <a:solidFill>
                            <a:srgbClr val="000000"/>
                          </a:solidFill>
                          <a:latin typeface="Calibri"/>
                          <a:ea typeface="宋体"/>
                          <a:cs typeface="宋体"/>
                        </a:rPr>
                        <a:t>第</a:t>
                      </a:r>
                      <a:r>
                        <a:rPr lang="en-US" sz="2400" b="1" kern="0">
                          <a:solidFill>
                            <a:srgbClr val="000000"/>
                          </a:solidFill>
                          <a:latin typeface="Calibri"/>
                          <a:ea typeface="宋体"/>
                          <a:cs typeface="宋体"/>
                        </a:rPr>
                        <a:t>2</a:t>
                      </a:r>
                      <a:r>
                        <a:rPr lang="zh-CN" sz="2400" b="1" kern="0">
                          <a:solidFill>
                            <a:srgbClr val="000000"/>
                          </a:solidFill>
                          <a:latin typeface="Calibri"/>
                          <a:ea typeface="宋体"/>
                          <a:cs typeface="宋体"/>
                        </a:rPr>
                        <a:t>季度</a:t>
                      </a:r>
                      <a:endParaRPr lang="zh-CN" sz="2400" b="1"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400" b="1" kern="0">
                          <a:solidFill>
                            <a:srgbClr val="000000"/>
                          </a:solidFill>
                          <a:latin typeface="Calibri"/>
                          <a:ea typeface="宋体"/>
                          <a:cs typeface="宋体"/>
                        </a:rPr>
                        <a:t>第</a:t>
                      </a:r>
                      <a:r>
                        <a:rPr lang="en-US" sz="2400" b="1" kern="0">
                          <a:solidFill>
                            <a:srgbClr val="000000"/>
                          </a:solidFill>
                          <a:latin typeface="Calibri"/>
                          <a:ea typeface="宋体"/>
                          <a:cs typeface="宋体"/>
                        </a:rPr>
                        <a:t>3</a:t>
                      </a:r>
                      <a:r>
                        <a:rPr lang="zh-CN" sz="2400" b="1" kern="0">
                          <a:solidFill>
                            <a:srgbClr val="000000"/>
                          </a:solidFill>
                          <a:latin typeface="Calibri"/>
                          <a:ea typeface="宋体"/>
                          <a:cs typeface="宋体"/>
                        </a:rPr>
                        <a:t>季度</a:t>
                      </a:r>
                      <a:endParaRPr lang="zh-CN" sz="2400" b="1"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400" b="1" kern="0">
                          <a:solidFill>
                            <a:srgbClr val="000000"/>
                          </a:solidFill>
                          <a:latin typeface="Calibri"/>
                          <a:ea typeface="宋体"/>
                          <a:cs typeface="宋体"/>
                        </a:rPr>
                        <a:t>第</a:t>
                      </a:r>
                      <a:r>
                        <a:rPr lang="en-US" sz="2400" b="1" kern="0">
                          <a:solidFill>
                            <a:srgbClr val="000000"/>
                          </a:solidFill>
                          <a:latin typeface="Calibri"/>
                          <a:ea typeface="宋体"/>
                          <a:cs typeface="宋体"/>
                        </a:rPr>
                        <a:t>4</a:t>
                      </a:r>
                      <a:r>
                        <a:rPr lang="zh-CN" sz="2400" b="1" kern="0">
                          <a:solidFill>
                            <a:srgbClr val="000000"/>
                          </a:solidFill>
                          <a:latin typeface="Calibri"/>
                          <a:ea typeface="宋体"/>
                          <a:cs typeface="宋体"/>
                        </a:rPr>
                        <a:t>季度</a:t>
                      </a:r>
                      <a:endParaRPr lang="zh-CN" sz="2400" b="1"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400" b="1" kern="0">
                          <a:solidFill>
                            <a:srgbClr val="000000"/>
                          </a:solidFill>
                          <a:latin typeface="Calibri"/>
                          <a:ea typeface="宋体"/>
                          <a:cs typeface="宋体"/>
                        </a:rPr>
                        <a:t>全年</a:t>
                      </a:r>
                      <a:endParaRPr lang="zh-CN" sz="2400" b="1"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58381">
                <a:tc>
                  <a:txBody>
                    <a:bodyPr/>
                    <a:lstStyle/>
                    <a:p>
                      <a:pPr algn="ctr">
                        <a:spcAft>
                          <a:spcPts val="0"/>
                        </a:spcAft>
                      </a:pPr>
                      <a:r>
                        <a:rPr lang="en-US" sz="2400" b="1" kern="0" dirty="0" smtClean="0">
                          <a:solidFill>
                            <a:srgbClr val="000000"/>
                          </a:solidFill>
                          <a:latin typeface="宋体"/>
                          <a:ea typeface="宋体"/>
                          <a:cs typeface="宋体"/>
                        </a:rPr>
                        <a:t>2020</a:t>
                      </a:r>
                      <a:r>
                        <a:rPr lang="zh-CN" sz="2400" b="1" kern="0" dirty="0" smtClean="0">
                          <a:solidFill>
                            <a:srgbClr val="000000"/>
                          </a:solidFill>
                          <a:latin typeface="Calibri"/>
                          <a:ea typeface="宋体"/>
                          <a:cs typeface="宋体"/>
                        </a:rPr>
                        <a:t>年</a:t>
                      </a:r>
                      <a:endParaRPr lang="zh-CN" sz="2400" b="1" kern="100" dirty="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b="1" kern="0">
                          <a:solidFill>
                            <a:srgbClr val="000000"/>
                          </a:solidFill>
                          <a:latin typeface="宋体"/>
                          <a:ea typeface="宋体"/>
                          <a:cs typeface="宋体"/>
                        </a:rPr>
                        <a:t>12</a:t>
                      </a:r>
                      <a:endParaRPr lang="zh-CN" sz="2400" b="1"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b="1" kern="0">
                          <a:solidFill>
                            <a:srgbClr val="000000"/>
                          </a:solidFill>
                          <a:latin typeface="宋体"/>
                          <a:ea typeface="宋体"/>
                          <a:cs typeface="宋体"/>
                        </a:rPr>
                        <a:t>10</a:t>
                      </a:r>
                      <a:endParaRPr lang="zh-CN" sz="2400" b="1"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b="1" kern="0">
                          <a:solidFill>
                            <a:srgbClr val="000000"/>
                          </a:solidFill>
                          <a:latin typeface="宋体"/>
                          <a:ea typeface="宋体"/>
                          <a:cs typeface="宋体"/>
                        </a:rPr>
                        <a:t>15</a:t>
                      </a:r>
                      <a:endParaRPr lang="zh-CN" sz="2400" b="1"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b="1" kern="0">
                          <a:solidFill>
                            <a:srgbClr val="000000"/>
                          </a:solidFill>
                          <a:latin typeface="宋体"/>
                          <a:ea typeface="宋体"/>
                          <a:cs typeface="宋体"/>
                        </a:rPr>
                        <a:t>16</a:t>
                      </a:r>
                      <a:endParaRPr lang="zh-CN" sz="2400" b="1"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b="1" kern="0">
                          <a:solidFill>
                            <a:srgbClr val="000000"/>
                          </a:solidFill>
                          <a:latin typeface="宋体"/>
                          <a:ea typeface="宋体"/>
                          <a:cs typeface="宋体"/>
                        </a:rPr>
                        <a:t>53</a:t>
                      </a:r>
                      <a:endParaRPr lang="zh-CN" sz="2400" b="1"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58381">
                <a:tc>
                  <a:txBody>
                    <a:bodyPr/>
                    <a:lstStyle/>
                    <a:p>
                      <a:pPr algn="ctr">
                        <a:spcAft>
                          <a:spcPts val="0"/>
                        </a:spcAft>
                      </a:pPr>
                      <a:r>
                        <a:rPr lang="en-US" sz="2400" b="1" kern="0" dirty="0" smtClean="0">
                          <a:solidFill>
                            <a:srgbClr val="000000"/>
                          </a:solidFill>
                          <a:latin typeface="宋体"/>
                          <a:ea typeface="宋体"/>
                          <a:cs typeface="宋体"/>
                        </a:rPr>
                        <a:t>2021</a:t>
                      </a:r>
                      <a:r>
                        <a:rPr lang="zh-CN" sz="2400" b="1" kern="0" dirty="0" smtClean="0">
                          <a:solidFill>
                            <a:srgbClr val="000000"/>
                          </a:solidFill>
                          <a:latin typeface="Calibri"/>
                          <a:ea typeface="宋体"/>
                          <a:cs typeface="宋体"/>
                        </a:rPr>
                        <a:t>年</a:t>
                      </a:r>
                      <a:endParaRPr lang="zh-CN" sz="2400" b="1" kern="100" dirty="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b="1" kern="0">
                          <a:solidFill>
                            <a:srgbClr val="000000"/>
                          </a:solidFill>
                          <a:latin typeface="宋体"/>
                          <a:ea typeface="宋体"/>
                          <a:cs typeface="宋体"/>
                        </a:rPr>
                        <a:t>14</a:t>
                      </a:r>
                      <a:endParaRPr lang="zh-CN" sz="2400" b="1"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b="1" kern="0">
                          <a:solidFill>
                            <a:srgbClr val="000000"/>
                          </a:solidFill>
                          <a:latin typeface="宋体"/>
                          <a:ea typeface="宋体"/>
                          <a:cs typeface="宋体"/>
                        </a:rPr>
                        <a:t>13</a:t>
                      </a:r>
                      <a:endParaRPr lang="zh-CN" sz="2400" b="1"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b="1" kern="0">
                          <a:solidFill>
                            <a:srgbClr val="000000"/>
                          </a:solidFill>
                          <a:latin typeface="宋体"/>
                          <a:ea typeface="宋体"/>
                          <a:cs typeface="宋体"/>
                        </a:rPr>
                        <a:t>16</a:t>
                      </a:r>
                      <a:endParaRPr lang="zh-CN" sz="2400" b="1"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b="1" kern="0">
                          <a:solidFill>
                            <a:srgbClr val="000000"/>
                          </a:solidFill>
                          <a:latin typeface="宋体"/>
                          <a:ea typeface="宋体"/>
                          <a:cs typeface="宋体"/>
                        </a:rPr>
                        <a:t>18</a:t>
                      </a:r>
                      <a:endParaRPr lang="zh-CN" sz="2400" b="1"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b="1" kern="0">
                          <a:solidFill>
                            <a:srgbClr val="000000"/>
                          </a:solidFill>
                          <a:latin typeface="宋体"/>
                          <a:ea typeface="宋体"/>
                          <a:cs typeface="宋体"/>
                        </a:rPr>
                        <a:t>61</a:t>
                      </a:r>
                      <a:endParaRPr lang="zh-CN" sz="2400" b="1"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58381">
                <a:tc>
                  <a:txBody>
                    <a:bodyPr/>
                    <a:lstStyle/>
                    <a:p>
                      <a:pPr algn="ctr">
                        <a:spcAft>
                          <a:spcPts val="0"/>
                        </a:spcAft>
                      </a:pPr>
                      <a:r>
                        <a:rPr lang="en-US" sz="2400" b="1" kern="0" dirty="0" smtClean="0">
                          <a:solidFill>
                            <a:srgbClr val="000000"/>
                          </a:solidFill>
                          <a:latin typeface="宋体"/>
                          <a:ea typeface="宋体"/>
                          <a:cs typeface="宋体"/>
                        </a:rPr>
                        <a:t>2022</a:t>
                      </a:r>
                      <a:r>
                        <a:rPr lang="zh-CN" sz="2400" b="1" kern="0" dirty="0" smtClean="0">
                          <a:solidFill>
                            <a:srgbClr val="000000"/>
                          </a:solidFill>
                          <a:latin typeface="Calibri"/>
                          <a:ea typeface="宋体"/>
                          <a:cs typeface="宋体"/>
                        </a:rPr>
                        <a:t>年</a:t>
                      </a:r>
                      <a:endParaRPr lang="zh-CN" sz="2400" b="1" kern="100" dirty="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b="1" kern="0">
                          <a:solidFill>
                            <a:srgbClr val="000000"/>
                          </a:solidFill>
                          <a:latin typeface="宋体"/>
                          <a:ea typeface="宋体"/>
                          <a:cs typeface="宋体"/>
                        </a:rPr>
                        <a:t>15</a:t>
                      </a:r>
                      <a:endParaRPr lang="zh-CN" sz="2400" b="1"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b="1" kern="0">
                          <a:solidFill>
                            <a:srgbClr val="000000"/>
                          </a:solidFill>
                          <a:latin typeface="宋体"/>
                          <a:ea typeface="宋体"/>
                          <a:cs typeface="宋体"/>
                        </a:rPr>
                        <a:t>14</a:t>
                      </a:r>
                      <a:endParaRPr lang="zh-CN" sz="2400" b="1"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b="1" kern="0">
                          <a:solidFill>
                            <a:srgbClr val="000000"/>
                          </a:solidFill>
                          <a:latin typeface="宋体"/>
                          <a:ea typeface="宋体"/>
                          <a:cs typeface="宋体"/>
                        </a:rPr>
                        <a:t>19</a:t>
                      </a:r>
                      <a:endParaRPr lang="zh-CN" sz="2400" b="1"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b="1" kern="0">
                          <a:solidFill>
                            <a:srgbClr val="000000"/>
                          </a:solidFill>
                          <a:latin typeface="宋体"/>
                          <a:ea typeface="宋体"/>
                          <a:cs typeface="宋体"/>
                        </a:rPr>
                        <a:t>20</a:t>
                      </a:r>
                      <a:endParaRPr lang="zh-CN" sz="2400" b="1"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b="1" kern="0">
                          <a:solidFill>
                            <a:srgbClr val="000000"/>
                          </a:solidFill>
                          <a:latin typeface="宋体"/>
                          <a:ea typeface="宋体"/>
                          <a:cs typeface="宋体"/>
                        </a:rPr>
                        <a:t>68</a:t>
                      </a:r>
                      <a:endParaRPr lang="zh-CN" sz="2400" b="1"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58381">
                <a:tc>
                  <a:txBody>
                    <a:bodyPr/>
                    <a:lstStyle/>
                    <a:p>
                      <a:pPr algn="ctr">
                        <a:spcAft>
                          <a:spcPts val="0"/>
                        </a:spcAft>
                      </a:pPr>
                      <a:r>
                        <a:rPr lang="en-US" sz="2400" b="1" kern="0" dirty="0" smtClean="0">
                          <a:solidFill>
                            <a:srgbClr val="000000"/>
                          </a:solidFill>
                          <a:latin typeface="宋体"/>
                          <a:ea typeface="宋体"/>
                          <a:cs typeface="宋体"/>
                        </a:rPr>
                        <a:t>2023</a:t>
                      </a:r>
                      <a:r>
                        <a:rPr lang="zh-CN" sz="2400" b="1" kern="0" dirty="0" smtClean="0">
                          <a:solidFill>
                            <a:srgbClr val="000000"/>
                          </a:solidFill>
                          <a:latin typeface="Calibri"/>
                          <a:ea typeface="宋体"/>
                          <a:cs typeface="宋体"/>
                        </a:rPr>
                        <a:t>年</a:t>
                      </a:r>
                      <a:endParaRPr lang="zh-CN" sz="2400" b="1" kern="100" dirty="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b="1" kern="0">
                          <a:solidFill>
                            <a:srgbClr val="000000"/>
                          </a:solidFill>
                          <a:latin typeface="宋体"/>
                          <a:ea typeface="宋体"/>
                          <a:cs typeface="宋体"/>
                        </a:rPr>
                        <a:t>16</a:t>
                      </a:r>
                      <a:endParaRPr lang="zh-CN" sz="2400" b="1"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b="1" kern="0" dirty="0">
                          <a:solidFill>
                            <a:srgbClr val="000000"/>
                          </a:solidFill>
                          <a:latin typeface="宋体"/>
                          <a:ea typeface="宋体"/>
                          <a:cs typeface="宋体"/>
                        </a:rPr>
                        <a:t>15</a:t>
                      </a:r>
                      <a:endParaRPr lang="zh-CN" sz="2400" b="1" kern="100" dirty="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b="1" kern="0">
                          <a:solidFill>
                            <a:srgbClr val="000000"/>
                          </a:solidFill>
                          <a:latin typeface="宋体"/>
                          <a:ea typeface="宋体"/>
                          <a:cs typeface="宋体"/>
                        </a:rPr>
                        <a:t>20</a:t>
                      </a:r>
                      <a:endParaRPr lang="zh-CN" sz="2400" b="1"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b="1" kern="0">
                          <a:solidFill>
                            <a:srgbClr val="000000"/>
                          </a:solidFill>
                          <a:latin typeface="宋体"/>
                          <a:ea typeface="宋体"/>
                          <a:cs typeface="宋体"/>
                        </a:rPr>
                        <a:t>22</a:t>
                      </a:r>
                      <a:endParaRPr lang="zh-CN" sz="2400" b="1"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b="1" kern="0" dirty="0">
                          <a:solidFill>
                            <a:srgbClr val="000000"/>
                          </a:solidFill>
                          <a:latin typeface="宋体"/>
                          <a:ea typeface="宋体"/>
                          <a:cs typeface="宋体"/>
                        </a:rPr>
                        <a:t>73</a:t>
                      </a:r>
                      <a:endParaRPr lang="zh-CN" sz="2400" b="1" kern="100" dirty="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日期占位符 3"/>
          <p:cNvSpPr>
            <a:spLocks noGrp="1"/>
          </p:cNvSpPr>
          <p:nvPr>
            <p:ph type="dt" sz="half" idx="10"/>
          </p:nvPr>
        </p:nvSpPr>
        <p:spPr/>
        <p:txBody>
          <a:bodyPr/>
          <a:lstStyle/>
          <a:p>
            <a:pPr>
              <a:defRPr/>
            </a:pPr>
            <a:endParaRPr lang="en-US" altLang="zh-CN"/>
          </a:p>
        </p:txBody>
      </p:sp>
      <p:sp>
        <p:nvSpPr>
          <p:cNvPr id="223233" name="Rectangle 1"/>
          <p:cNvSpPr>
            <a:spLocks noChangeArrowheads="1"/>
          </p:cNvSpPr>
          <p:nvPr/>
        </p:nvSpPr>
        <p:spPr bwMode="auto">
          <a:xfrm>
            <a:off x="1043608" y="1268760"/>
            <a:ext cx="7272808" cy="107721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3200" b="1" i="0" u="none" strike="noStrike" cap="none" normalizeH="0" baseline="0" dirty="0" smtClean="0">
                <a:ln>
                  <a:noFill/>
                </a:ln>
                <a:solidFill>
                  <a:schemeClr val="tx1"/>
                </a:solidFill>
                <a:effectLst/>
                <a:latin typeface="Calibri" pitchFamily="34" charset="0"/>
                <a:ea typeface="宋体" pitchFamily="2" charset="-122"/>
                <a:cs typeface="Times New Roman" pitchFamily="18" charset="0"/>
              </a:rPr>
              <a:t>某公司一种产品最近四年各季度的生产量（单位：万件）如下表所示：</a:t>
            </a:r>
            <a:endParaRPr kumimoji="0" lang="zh-CN" altLang="en-US" sz="3200" b="1"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7" name="矩形 6"/>
          <p:cNvSpPr/>
          <p:nvPr/>
        </p:nvSpPr>
        <p:spPr>
          <a:xfrm>
            <a:off x="539552" y="5661248"/>
            <a:ext cx="7992888" cy="492443"/>
          </a:xfrm>
          <a:prstGeom prst="rect">
            <a:avLst/>
          </a:prstGeom>
        </p:spPr>
        <p:txBody>
          <a:bodyPr wrap="square">
            <a:spAutoFit/>
          </a:bodyPr>
          <a:lstStyle/>
          <a:p>
            <a:r>
              <a:rPr lang="zh-CN" altLang="zh-CN" sz="2600" b="1" dirty="0" smtClean="0"/>
              <a:t>根据上述数据</a:t>
            </a:r>
            <a:r>
              <a:rPr lang="zh-CN" altLang="en-US" sz="2600" b="1" dirty="0" smtClean="0"/>
              <a:t>怎样</a:t>
            </a:r>
            <a:r>
              <a:rPr lang="zh-CN" altLang="zh-CN" sz="2600" b="1" dirty="0" smtClean="0"/>
              <a:t>分析该产品生产量变化的主要特征</a:t>
            </a:r>
            <a:r>
              <a:rPr lang="zh-CN" altLang="en-US" sz="2600" b="1" dirty="0" smtClean="0"/>
              <a:t>？</a:t>
            </a:r>
            <a:endParaRPr lang="zh-CN" altLang="en-US" sz="2600" b="1" dirty="0"/>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3"/>
          <p:cNvSpPr>
            <a:spLocks noGrp="1" noChangeArrowheads="1"/>
          </p:cNvSpPr>
          <p:nvPr>
            <p:ph type="subTitle" idx="1"/>
          </p:nvPr>
        </p:nvSpPr>
        <p:spPr>
          <a:xfrm>
            <a:off x="1763713" y="3068638"/>
            <a:ext cx="7129462" cy="2519362"/>
          </a:xfrm>
          <a:noFill/>
        </p:spPr>
        <p:txBody>
          <a:bodyPr/>
          <a:lstStyle/>
          <a:p>
            <a:pPr marL="457200" lvl="1" indent="0" eaLnBrk="1" hangingPunct="1">
              <a:spcBef>
                <a:spcPct val="30000"/>
              </a:spcBef>
              <a:buFontTx/>
              <a:buNone/>
            </a:pPr>
            <a:r>
              <a:rPr lang="en-US" altLang="zh-CN" sz="3600" dirty="0" smtClean="0"/>
              <a:t>4.1.1 </a:t>
            </a:r>
            <a:r>
              <a:rPr lang="zh-CN" altLang="en-US" sz="3600" dirty="0" smtClean="0"/>
              <a:t>时间序列的概念</a:t>
            </a:r>
          </a:p>
          <a:p>
            <a:pPr marL="457200" lvl="1" indent="0" eaLnBrk="1" hangingPunct="1">
              <a:spcBef>
                <a:spcPct val="30000"/>
              </a:spcBef>
              <a:buFontTx/>
              <a:buNone/>
            </a:pPr>
            <a:r>
              <a:rPr lang="en-US" altLang="zh-CN" sz="3600" dirty="0" smtClean="0"/>
              <a:t>4.1.2 </a:t>
            </a:r>
            <a:r>
              <a:rPr lang="zh-CN" altLang="en-US" sz="3600" dirty="0" smtClean="0"/>
              <a:t>时间序列的种类</a:t>
            </a:r>
          </a:p>
          <a:p>
            <a:pPr marL="457200" lvl="1" indent="0" eaLnBrk="1" hangingPunct="1">
              <a:spcBef>
                <a:spcPct val="30000"/>
              </a:spcBef>
              <a:buFontTx/>
              <a:buNone/>
            </a:pPr>
            <a:r>
              <a:rPr lang="en-US" altLang="zh-CN" sz="3600" dirty="0" smtClean="0"/>
              <a:t>4.1.3 </a:t>
            </a:r>
            <a:r>
              <a:rPr lang="zh-CN" altLang="en-US" sz="3600" dirty="0" smtClean="0"/>
              <a:t>时间序列的编制原则</a:t>
            </a:r>
            <a:endParaRPr lang="en-US" altLang="en-US" sz="3600" dirty="0" smtClean="0"/>
          </a:p>
        </p:txBody>
      </p:sp>
      <p:sp>
        <p:nvSpPr>
          <p:cNvPr id="73732" name="Rectangle 4"/>
          <p:cNvSpPr>
            <a:spLocks noGrp="1" noChangeArrowheads="1"/>
          </p:cNvSpPr>
          <p:nvPr>
            <p:ph type="ctrTitle"/>
          </p:nvPr>
        </p:nvSpPr>
        <p:spPr>
          <a:xfrm>
            <a:off x="1116013" y="1052513"/>
            <a:ext cx="7772400" cy="1600200"/>
          </a:xfrm>
        </p:spPr>
        <p:txBody>
          <a:bodyPr/>
          <a:lstStyle/>
          <a:p>
            <a:pPr eaLnBrk="1" hangingPunct="1"/>
            <a:r>
              <a:rPr lang="en-US" altLang="zh-CN" dirty="0" smtClean="0"/>
              <a:t>4.1 </a:t>
            </a:r>
            <a:r>
              <a:rPr lang="zh-CN" altLang="en-US" dirty="0" smtClean="0"/>
              <a:t>时间序列概述</a:t>
            </a:r>
          </a:p>
        </p:txBody>
      </p:sp>
      <p:pic>
        <p:nvPicPr>
          <p:cNvPr id="261125" name="Picture 5" descr="d102"/>
          <p:cNvPicPr>
            <a:picLocks noChangeAspect="1" noChangeArrowheads="1" noCrop="1"/>
          </p:cNvPicPr>
          <p:nvPr/>
        </p:nvPicPr>
        <p:blipFill>
          <a:blip r:embed="rId3" cstate="print"/>
          <a:srcRect/>
          <a:stretch>
            <a:fillRect/>
          </a:stretch>
        </p:blipFill>
        <p:spPr bwMode="auto">
          <a:xfrm>
            <a:off x="0" y="4900084"/>
            <a:ext cx="1511177" cy="1375831"/>
          </a:xfrm>
          <a:prstGeom prst="rect">
            <a:avLst/>
          </a:prstGeom>
          <a:noFill/>
          <a:ln w="9525">
            <a:noFill/>
            <a:miter lim="800000"/>
            <a:headEnd/>
            <a:tailEnd/>
          </a:ln>
        </p:spPr>
      </p:pic>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withEffect">
                                  <p:stCondLst>
                                    <p:cond delay="0"/>
                                  </p:stCondLst>
                                  <p:childTnLst>
                                    <p:set>
                                      <p:cBhvr>
                                        <p:cTn id="6" dur="1" fill="hold">
                                          <p:stCondLst>
                                            <p:cond delay="0"/>
                                          </p:stCondLst>
                                        </p:cTn>
                                        <p:tgtEl>
                                          <p:spTgt spid="261125"/>
                                        </p:tgtEl>
                                        <p:attrNameLst>
                                          <p:attrName>style.visibility</p:attrName>
                                        </p:attrNameLst>
                                      </p:cBhvr>
                                      <p:to>
                                        <p:strVal val="visible"/>
                                      </p:to>
                                    </p:set>
                                    <p:animEffect transition="in" filter="wipe(down)">
                                      <p:cBhvr>
                                        <p:cTn id="7" dur="3">
                                          <p:stCondLst>
                                            <p:cond delay="0"/>
                                          </p:stCondLst>
                                        </p:cTn>
                                        <p:tgtEl>
                                          <p:spTgt spid="261125"/>
                                        </p:tgtEl>
                                      </p:cBhvr>
                                    </p:animEffect>
                                    <p:anim calcmode="lin" valueType="num">
                                      <p:cBhvr>
                                        <p:cTn id="8" dur="9" tmFilter="0,0; 0.14,0.36; 0.43,0.73; 0.71,0.91; 1.0,1.0">
                                          <p:stCondLst>
                                            <p:cond delay="0"/>
                                          </p:stCondLst>
                                        </p:cTn>
                                        <p:tgtEl>
                                          <p:spTgt spid="261125"/>
                                        </p:tgtEl>
                                        <p:attrNameLst>
                                          <p:attrName>ppt_x</p:attrName>
                                        </p:attrNameLst>
                                      </p:cBhvr>
                                      <p:tavLst>
                                        <p:tav tm="0">
                                          <p:val>
                                            <p:strVal val="#ppt_x-0.25"/>
                                          </p:val>
                                        </p:tav>
                                        <p:tav tm="100000">
                                          <p:val>
                                            <p:strVal val="#ppt_x"/>
                                          </p:val>
                                        </p:tav>
                                      </p:tavLst>
                                    </p:anim>
                                    <p:anim calcmode="lin" valueType="num">
                                      <p:cBhvr>
                                        <p:cTn id="9" dur="3" tmFilter="0.0,0.0; 0.25,0.07; 0.50,0.2; 0.75,0.467; 1.0,1.0">
                                          <p:stCondLst>
                                            <p:cond delay="0"/>
                                          </p:stCondLst>
                                        </p:cTn>
                                        <p:tgtEl>
                                          <p:spTgt spid="261125"/>
                                        </p:tgtEl>
                                        <p:attrNameLst>
                                          <p:attrName>ppt_y</p:attrName>
                                        </p:attrNameLst>
                                      </p:cBhvr>
                                      <p:tavLst>
                                        <p:tav tm="0" fmla="#ppt_y-sin(pi*$)/3">
                                          <p:val>
                                            <p:fltVal val="0.5"/>
                                          </p:val>
                                        </p:tav>
                                        <p:tav tm="100000">
                                          <p:val>
                                            <p:fltVal val="1"/>
                                          </p:val>
                                        </p:tav>
                                      </p:tavLst>
                                    </p:anim>
                                    <p:anim calcmode="lin" valueType="num">
                                      <p:cBhvr>
                                        <p:cTn id="10" dur="3" tmFilter="0, 0; 0.125,0.2665; 0.25,0.4; 0.375,0.465; 0.5,0.5;  0.625,0.535; 0.75,0.6; 0.875,0.7335; 1,1">
                                          <p:stCondLst>
                                            <p:cond delay="3"/>
                                          </p:stCondLst>
                                        </p:cTn>
                                        <p:tgtEl>
                                          <p:spTgt spid="261125"/>
                                        </p:tgtEl>
                                        <p:attrNameLst>
                                          <p:attrName>ppt_y</p:attrName>
                                        </p:attrNameLst>
                                      </p:cBhvr>
                                      <p:tavLst>
                                        <p:tav tm="0" fmla="#ppt_y-sin(pi*$)/9">
                                          <p:val>
                                            <p:fltVal val="0"/>
                                          </p:val>
                                        </p:tav>
                                        <p:tav tm="100000">
                                          <p:val>
                                            <p:fltVal val="1"/>
                                          </p:val>
                                        </p:tav>
                                      </p:tavLst>
                                    </p:anim>
                                    <p:anim calcmode="lin" valueType="num">
                                      <p:cBhvr>
                                        <p:cTn id="11" dur="2" tmFilter="0, 0; 0.125,0.2665; 0.25,0.4; 0.375,0.465; 0.5,0.5;  0.625,0.535; 0.75,0.6; 0.875,0.7335; 1,1">
                                          <p:stCondLst>
                                            <p:cond delay="7"/>
                                          </p:stCondLst>
                                        </p:cTn>
                                        <p:tgtEl>
                                          <p:spTgt spid="261125"/>
                                        </p:tgtEl>
                                        <p:attrNameLst>
                                          <p:attrName>ppt_y</p:attrName>
                                        </p:attrNameLst>
                                      </p:cBhvr>
                                      <p:tavLst>
                                        <p:tav tm="0" fmla="#ppt_y-sin(pi*$)/27">
                                          <p:val>
                                            <p:fltVal val="0"/>
                                          </p:val>
                                        </p:tav>
                                        <p:tav tm="100000">
                                          <p:val>
                                            <p:fltVal val="1"/>
                                          </p:val>
                                        </p:tav>
                                      </p:tavLst>
                                    </p:anim>
                                    <p:anim calcmode="lin" valueType="num">
                                      <p:cBhvr>
                                        <p:cTn id="12" dur="1" tmFilter="0, 0; 0.125,0.2665; 0.25,0.4; 0.375,0.465; 0.5,0.5;  0.625,0.535; 0.75,0.6; 0.875,0.7335; 1,1">
                                          <p:stCondLst>
                                            <p:cond delay="8"/>
                                          </p:stCondLst>
                                        </p:cTn>
                                        <p:tgtEl>
                                          <p:spTgt spid="261125"/>
                                        </p:tgtEl>
                                        <p:attrNameLst>
                                          <p:attrName>ppt_y</p:attrName>
                                        </p:attrNameLst>
                                      </p:cBhvr>
                                      <p:tavLst>
                                        <p:tav tm="0" fmla="#ppt_y-sin(pi*$)/81">
                                          <p:val>
                                            <p:fltVal val="0"/>
                                          </p:val>
                                        </p:tav>
                                        <p:tav tm="100000">
                                          <p:val>
                                            <p:fltVal val="1"/>
                                          </p:val>
                                        </p:tav>
                                      </p:tavLst>
                                    </p:anim>
                                    <p:animScale>
                                      <p:cBhvr>
                                        <p:cTn id="13" dur="1">
                                          <p:stCondLst>
                                            <p:cond delay="3"/>
                                          </p:stCondLst>
                                        </p:cTn>
                                        <p:tgtEl>
                                          <p:spTgt spid="261125"/>
                                        </p:tgtEl>
                                      </p:cBhvr>
                                      <p:to x="100000" y="60000"/>
                                    </p:animScale>
                                    <p:animScale>
                                      <p:cBhvr>
                                        <p:cTn id="14" dur="1" decel="50000">
                                          <p:stCondLst>
                                            <p:cond delay="3"/>
                                          </p:stCondLst>
                                        </p:cTn>
                                        <p:tgtEl>
                                          <p:spTgt spid="261125"/>
                                        </p:tgtEl>
                                      </p:cBhvr>
                                      <p:to x="100000" y="100000"/>
                                    </p:animScale>
                                    <p:animScale>
                                      <p:cBhvr>
                                        <p:cTn id="15" dur="1">
                                          <p:stCondLst>
                                            <p:cond delay="7"/>
                                          </p:stCondLst>
                                        </p:cTn>
                                        <p:tgtEl>
                                          <p:spTgt spid="261125"/>
                                        </p:tgtEl>
                                      </p:cBhvr>
                                      <p:to x="100000" y="80000"/>
                                    </p:animScale>
                                    <p:animScale>
                                      <p:cBhvr>
                                        <p:cTn id="16" dur="1" decel="50000">
                                          <p:stCondLst>
                                            <p:cond delay="7"/>
                                          </p:stCondLst>
                                        </p:cTn>
                                        <p:tgtEl>
                                          <p:spTgt spid="261125"/>
                                        </p:tgtEl>
                                      </p:cBhvr>
                                      <p:to x="100000" y="100000"/>
                                    </p:animScale>
                                    <p:animScale>
                                      <p:cBhvr>
                                        <p:cTn id="17" dur="1">
                                          <p:stCondLst>
                                            <p:cond delay="8"/>
                                          </p:stCondLst>
                                        </p:cTn>
                                        <p:tgtEl>
                                          <p:spTgt spid="261125"/>
                                        </p:tgtEl>
                                      </p:cBhvr>
                                      <p:to x="100000" y="90000"/>
                                    </p:animScale>
                                    <p:animScale>
                                      <p:cBhvr>
                                        <p:cTn id="18" dur="1" decel="50000">
                                          <p:stCondLst>
                                            <p:cond delay="8"/>
                                          </p:stCondLst>
                                        </p:cTn>
                                        <p:tgtEl>
                                          <p:spTgt spid="261125"/>
                                        </p:tgtEl>
                                      </p:cBhvr>
                                      <p:to x="100000" y="100000"/>
                                    </p:animScale>
                                    <p:animScale>
                                      <p:cBhvr>
                                        <p:cTn id="19" dur="1">
                                          <p:stCondLst>
                                            <p:cond delay="9"/>
                                          </p:stCondLst>
                                        </p:cTn>
                                        <p:tgtEl>
                                          <p:spTgt spid="261125"/>
                                        </p:tgtEl>
                                      </p:cBhvr>
                                      <p:to x="100000" y="95000"/>
                                    </p:animScale>
                                    <p:animScale>
                                      <p:cBhvr>
                                        <p:cTn id="20" dur="1" decel="50000">
                                          <p:stCondLst>
                                            <p:cond delay="9"/>
                                          </p:stCondLst>
                                        </p:cTn>
                                        <p:tgtEl>
                                          <p:spTgt spid="26112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2"/>
          <p:cNvSpPr>
            <a:spLocks noGrp="1" noChangeArrowheads="1"/>
          </p:cNvSpPr>
          <p:nvPr>
            <p:ph type="title"/>
          </p:nvPr>
        </p:nvSpPr>
        <p:spPr/>
        <p:txBody>
          <a:bodyPr/>
          <a:lstStyle/>
          <a:p>
            <a:pPr eaLnBrk="1" hangingPunct="1"/>
            <a:r>
              <a:rPr lang="zh-CN" altLang="en-US" sz="4800" dirty="0" smtClean="0"/>
              <a:t>统计数据的种类</a:t>
            </a:r>
          </a:p>
        </p:txBody>
      </p:sp>
      <p:sp>
        <p:nvSpPr>
          <p:cNvPr id="74756" name="Rectangle 3"/>
          <p:cNvSpPr>
            <a:spLocks noGrp="1" noChangeArrowheads="1"/>
          </p:cNvSpPr>
          <p:nvPr>
            <p:ph type="body" idx="1"/>
          </p:nvPr>
        </p:nvSpPr>
        <p:spPr>
          <a:xfrm>
            <a:off x="900113" y="1341438"/>
            <a:ext cx="7772400" cy="5111750"/>
          </a:xfrm>
        </p:spPr>
        <p:txBody>
          <a:bodyPr/>
          <a:lstStyle/>
          <a:p>
            <a:pPr marL="571500" indent="-571500" eaLnBrk="1" hangingPunct="1"/>
            <a:r>
              <a:rPr lang="zh-CN" altLang="en-US" dirty="0" smtClean="0">
                <a:solidFill>
                  <a:srgbClr val="3333FF"/>
                </a:solidFill>
              </a:rPr>
              <a:t>截面数据（静态数据）</a:t>
            </a:r>
          </a:p>
          <a:p>
            <a:pPr marL="971550" lvl="1" eaLnBrk="1" hangingPunct="1"/>
            <a:r>
              <a:rPr lang="en-US" altLang="zh-CN" dirty="0" smtClean="0">
                <a:latin typeface="Arial" charset="0"/>
              </a:rPr>
              <a:t>——</a:t>
            </a:r>
            <a:r>
              <a:rPr lang="zh-CN" altLang="en-US" sz="2400" dirty="0" smtClean="0"/>
              <a:t>某一（些）现象在同一时间上的状态所形成的数据，反映现象在特定时间上的数量特征及现象之间的相互关系。如变量数列。</a:t>
            </a:r>
          </a:p>
          <a:p>
            <a:pPr marL="571500" indent="-571500" eaLnBrk="1" hangingPunct="1"/>
            <a:r>
              <a:rPr lang="zh-CN" altLang="en-US" dirty="0" smtClean="0">
                <a:solidFill>
                  <a:srgbClr val="3333FF"/>
                </a:solidFill>
              </a:rPr>
              <a:t>时间数列</a:t>
            </a:r>
            <a:r>
              <a:rPr lang="zh-CN" altLang="en-US" dirty="0" smtClean="0">
                <a:solidFill>
                  <a:srgbClr val="0070C0"/>
                </a:solidFill>
              </a:rPr>
              <a:t>（ </a:t>
            </a:r>
            <a:r>
              <a:rPr lang="en-US" altLang="zh-CN" sz="2800" dirty="0" smtClean="0">
                <a:solidFill>
                  <a:srgbClr val="0070C0"/>
                </a:solidFill>
                <a:latin typeface="Times New Roman" pitchFamily="18" charset="0"/>
              </a:rPr>
              <a:t>time series; </a:t>
            </a:r>
            <a:r>
              <a:rPr lang="zh-CN" altLang="en-US" dirty="0" smtClean="0">
                <a:solidFill>
                  <a:srgbClr val="3333FF"/>
                </a:solidFill>
              </a:rPr>
              <a:t>动态数据）</a:t>
            </a:r>
          </a:p>
          <a:p>
            <a:pPr marL="971550" lvl="1" eaLnBrk="1" hangingPunct="1"/>
            <a:r>
              <a:rPr lang="en-US" altLang="zh-CN" dirty="0" smtClean="0">
                <a:latin typeface="Arial" charset="0"/>
              </a:rPr>
              <a:t>——</a:t>
            </a:r>
            <a:r>
              <a:rPr lang="zh-CN" altLang="en-US" sz="2400" dirty="0" smtClean="0">
                <a:latin typeface="Times New Roman" pitchFamily="18" charset="0"/>
              </a:rPr>
              <a:t>某一指标在不同时间上的不同数值，按照时间先后顺序排列而成的数列，用以分析现象的动态结构和动态规律性</a:t>
            </a:r>
            <a:r>
              <a:rPr lang="en-US" altLang="zh-CN" sz="2400" dirty="0" smtClean="0">
                <a:latin typeface="Times New Roman" pitchFamily="18" charset="0"/>
              </a:rPr>
              <a:t>,</a:t>
            </a:r>
            <a:r>
              <a:rPr lang="zh-CN" altLang="en-US" sz="2400" dirty="0" smtClean="0">
                <a:latin typeface="Times New Roman" pitchFamily="18" charset="0"/>
              </a:rPr>
              <a:t>也称为时间序列。</a:t>
            </a:r>
            <a:endParaRPr lang="zh-CN" altLang="en-US" dirty="0" smtClean="0"/>
          </a:p>
          <a:p>
            <a:pPr marL="571500" indent="-571500" eaLnBrk="1" hangingPunct="1"/>
            <a:r>
              <a:rPr lang="zh-CN" altLang="en-US" sz="2400" dirty="0" smtClean="0">
                <a:solidFill>
                  <a:schemeClr val="tx1"/>
                </a:solidFill>
              </a:rPr>
              <a:t>两类数据构成要素不同 ； 反映的问题不同；分析方法不同。</a:t>
            </a:r>
            <a:endParaRPr lang="en-US" altLang="zh-CN" sz="2400" dirty="0" smtClean="0">
              <a:solidFill>
                <a:schemeClr val="tx1"/>
              </a:solidFill>
            </a:endParaRPr>
          </a:p>
          <a:p>
            <a:pPr marL="571500" indent="-571500" eaLnBrk="1" hangingPunct="1"/>
            <a:r>
              <a:rPr lang="zh-CN" altLang="en-US" sz="2800" i="1" dirty="0" smtClean="0">
                <a:solidFill>
                  <a:srgbClr val="3333FF"/>
                </a:solidFill>
                <a:latin typeface="Times New Roman" pitchFamily="18" charset="0"/>
              </a:rPr>
              <a:t>面板数据</a:t>
            </a:r>
            <a:r>
              <a:rPr lang="zh-CN" altLang="en-US" sz="2800" dirty="0" smtClean="0">
                <a:solidFill>
                  <a:srgbClr val="3333FF"/>
                </a:solidFill>
                <a:latin typeface="Times New Roman" pitchFamily="18" charset="0"/>
              </a:rPr>
              <a:t>（</a:t>
            </a:r>
            <a:r>
              <a:rPr lang="en-US" altLang="zh-CN" sz="2800" i="1" dirty="0" smtClean="0">
                <a:solidFill>
                  <a:srgbClr val="3333FF"/>
                </a:solidFill>
                <a:latin typeface="Times New Roman" pitchFamily="18" charset="0"/>
              </a:rPr>
              <a:t>Panel  Data</a:t>
            </a:r>
            <a:r>
              <a:rPr lang="zh-CN" altLang="en-US" sz="2800" dirty="0" smtClean="0">
                <a:solidFill>
                  <a:srgbClr val="3333FF"/>
                </a:solidFill>
                <a:latin typeface="Times New Roman" pitchFamily="18" charset="0"/>
              </a:rPr>
              <a:t>）</a:t>
            </a:r>
            <a:endParaRPr lang="en-US" altLang="zh-CN" sz="2800" dirty="0" smtClean="0">
              <a:solidFill>
                <a:srgbClr val="3333FF"/>
              </a:solidFill>
              <a:latin typeface="Times New Roman" pitchFamily="18" charset="0"/>
            </a:endParaRPr>
          </a:p>
          <a:p>
            <a:pPr marL="571500" indent="-571500" eaLnBrk="1" hangingPunct="1"/>
            <a:endParaRPr lang="zh-CN" altLang="en-US" sz="2400" dirty="0" smtClean="0">
              <a:solidFill>
                <a:schemeClr val="tx1"/>
              </a:solidFill>
            </a:endParaRPr>
          </a:p>
        </p:txBody>
      </p:sp>
      <p:sp>
        <p:nvSpPr>
          <p:cNvPr id="74757" name="日期占位符 4"/>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2"/>
          <p:cNvSpPr>
            <a:spLocks noGrp="1" noChangeArrowheads="1"/>
          </p:cNvSpPr>
          <p:nvPr>
            <p:ph type="title"/>
          </p:nvPr>
        </p:nvSpPr>
        <p:spPr>
          <a:xfrm>
            <a:off x="1042988" y="765175"/>
            <a:ext cx="6781800" cy="990600"/>
          </a:xfrm>
        </p:spPr>
        <p:txBody>
          <a:bodyPr/>
          <a:lstStyle/>
          <a:p>
            <a:pPr eaLnBrk="1" hangingPunct="1"/>
            <a:r>
              <a:rPr lang="zh-CN" altLang="en-US" sz="4800" dirty="0" smtClean="0"/>
              <a:t>时间序列分析方法</a:t>
            </a:r>
          </a:p>
        </p:txBody>
      </p:sp>
      <p:sp>
        <p:nvSpPr>
          <p:cNvPr id="75780" name="Rectangle 3"/>
          <p:cNvSpPr>
            <a:spLocks noGrp="1" noChangeArrowheads="1"/>
          </p:cNvSpPr>
          <p:nvPr>
            <p:ph type="body" idx="1"/>
          </p:nvPr>
        </p:nvSpPr>
        <p:spPr>
          <a:xfrm>
            <a:off x="827088" y="1989138"/>
            <a:ext cx="7772400" cy="3898900"/>
          </a:xfrm>
        </p:spPr>
        <p:txBody>
          <a:bodyPr/>
          <a:lstStyle/>
          <a:p>
            <a:pPr marL="0" indent="0" eaLnBrk="1" hangingPunct="1">
              <a:buNone/>
            </a:pPr>
            <a:r>
              <a:rPr lang="zh-CN" altLang="en-US" sz="3600" dirty="0" smtClean="0">
                <a:solidFill>
                  <a:srgbClr val="0070C0"/>
                </a:solidFill>
              </a:rPr>
              <a:t>确定性时间序列分析方法</a:t>
            </a:r>
          </a:p>
          <a:p>
            <a:pPr marL="685800" lvl="1" indent="0" eaLnBrk="1" hangingPunct="1">
              <a:buNone/>
            </a:pPr>
            <a:r>
              <a:rPr lang="en-US" altLang="zh-CN" sz="3200" dirty="0" smtClean="0">
                <a:solidFill>
                  <a:schemeClr val="accent2"/>
                </a:solidFill>
                <a:latin typeface="Arial" charset="0"/>
              </a:rPr>
              <a:t>——</a:t>
            </a:r>
            <a:r>
              <a:rPr lang="zh-CN" altLang="en-US" sz="3200" dirty="0" smtClean="0"/>
              <a:t>发展水平分析、发展速度分析、趋势变动分析、周期波动分析。</a:t>
            </a:r>
          </a:p>
          <a:p>
            <a:pPr marL="0" indent="0" eaLnBrk="1" hangingPunct="1">
              <a:buNone/>
            </a:pPr>
            <a:r>
              <a:rPr lang="zh-CN" altLang="en-US" sz="3600" dirty="0" smtClean="0">
                <a:solidFill>
                  <a:srgbClr val="0070C0"/>
                </a:solidFill>
              </a:rPr>
              <a:t>随机性时间序列分析方法</a:t>
            </a:r>
          </a:p>
          <a:p>
            <a:pPr marL="685800" lvl="1" indent="0" eaLnBrk="1" hangingPunct="1">
              <a:buNone/>
            </a:pPr>
            <a:r>
              <a:rPr lang="en-US" altLang="zh-CN" sz="3200" dirty="0">
                <a:solidFill>
                  <a:schemeClr val="accent2"/>
                </a:solidFill>
                <a:latin typeface="Arial" charset="0"/>
              </a:rPr>
              <a:t>——</a:t>
            </a:r>
            <a:r>
              <a:rPr lang="zh-CN" altLang="en-US" sz="3200" dirty="0" smtClean="0">
                <a:latin typeface="Times New Roman" pitchFamily="18" charset="0"/>
              </a:rPr>
              <a:t>根据随机过程理论，对随机时间序列进行分析的方法。</a:t>
            </a:r>
          </a:p>
          <a:p>
            <a:pPr marL="1085850" lvl="2" indent="0" eaLnBrk="1" hangingPunct="1">
              <a:buNone/>
            </a:pPr>
            <a:r>
              <a:rPr lang="zh-CN" altLang="en-US" sz="2800" dirty="0" smtClean="0">
                <a:latin typeface="Times New Roman" pitchFamily="18" charset="0"/>
              </a:rPr>
              <a:t>如：</a:t>
            </a:r>
            <a:r>
              <a:rPr lang="en-US" altLang="zh-CN" sz="2800" dirty="0" smtClean="0">
                <a:latin typeface="Times New Roman" pitchFamily="18" charset="0"/>
              </a:rPr>
              <a:t>ARMA</a:t>
            </a:r>
            <a:r>
              <a:rPr lang="zh-CN" altLang="en-US" sz="2800" dirty="0" smtClean="0">
                <a:latin typeface="Times New Roman" pitchFamily="18" charset="0"/>
              </a:rPr>
              <a:t>模型</a:t>
            </a:r>
            <a:r>
              <a:rPr lang="zh-CN" altLang="en-US" b="0" dirty="0" smtClean="0">
                <a:latin typeface="Times New Roman" pitchFamily="18" charset="0"/>
              </a:rPr>
              <a:t>（自回归移动平均模型）</a:t>
            </a:r>
            <a:r>
              <a:rPr lang="zh-CN" altLang="en-US" sz="2800" dirty="0" smtClean="0">
                <a:latin typeface="Times New Roman" pitchFamily="18" charset="0"/>
              </a:rPr>
              <a:t>。</a:t>
            </a:r>
            <a:endParaRPr lang="zh-CN" altLang="en-US" dirty="0" smtClean="0"/>
          </a:p>
        </p:txBody>
      </p:sp>
      <p:sp>
        <p:nvSpPr>
          <p:cNvPr id="75781" name="日期占位符 4"/>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p:cNvSpPr>
            <a:spLocks noGrp="1" noChangeArrowheads="1"/>
          </p:cNvSpPr>
          <p:nvPr>
            <p:ph type="title"/>
          </p:nvPr>
        </p:nvSpPr>
        <p:spPr/>
        <p:txBody>
          <a:bodyPr/>
          <a:lstStyle/>
          <a:p>
            <a:pPr eaLnBrk="1" hangingPunct="1"/>
            <a:r>
              <a:rPr lang="zh-CN" altLang="en-US" dirty="0" smtClean="0"/>
              <a:t>时间序列分析方法（续）</a:t>
            </a:r>
          </a:p>
        </p:txBody>
      </p:sp>
      <p:sp>
        <p:nvSpPr>
          <p:cNvPr id="307203" name="Rectangle 3"/>
          <p:cNvSpPr>
            <a:spLocks noGrp="1" noChangeArrowheads="1"/>
          </p:cNvSpPr>
          <p:nvPr>
            <p:ph type="body" idx="1"/>
          </p:nvPr>
        </p:nvSpPr>
        <p:spPr/>
        <p:txBody>
          <a:bodyPr/>
          <a:lstStyle/>
          <a:p>
            <a:pPr marL="571500" indent="-571500" eaLnBrk="1" hangingPunct="1">
              <a:lnSpc>
                <a:spcPct val="90000"/>
              </a:lnSpc>
            </a:pPr>
            <a:r>
              <a:rPr lang="zh-CN" altLang="en-US" sz="2800" smtClean="0"/>
              <a:t>按其采用的手段不同可概括为：</a:t>
            </a:r>
          </a:p>
          <a:p>
            <a:pPr marL="571500" indent="-571500" eaLnBrk="1" hangingPunct="1">
              <a:lnSpc>
                <a:spcPct val="90000"/>
              </a:lnSpc>
            </a:pPr>
            <a:r>
              <a:rPr lang="zh-CN" altLang="en-US" sz="2800" smtClean="0">
                <a:solidFill>
                  <a:srgbClr val="FF0066"/>
                </a:solidFill>
              </a:rPr>
              <a:t>数据图法</a:t>
            </a:r>
          </a:p>
          <a:p>
            <a:pPr marL="971550" lvl="1" eaLnBrk="1" hangingPunct="1">
              <a:lnSpc>
                <a:spcPct val="90000"/>
              </a:lnSpc>
            </a:pPr>
            <a:r>
              <a:rPr lang="en-US" altLang="zh-CN" sz="2400" smtClean="0">
                <a:latin typeface="Arial" charset="0"/>
              </a:rPr>
              <a:t>——</a:t>
            </a:r>
            <a:r>
              <a:rPr lang="zh-CN" altLang="en-US" sz="2400" smtClean="0"/>
              <a:t>根据图形直接观察序列的总趋势和周期性、异常点、转折点等。</a:t>
            </a:r>
          </a:p>
          <a:p>
            <a:pPr marL="571500" indent="-571500" eaLnBrk="1" hangingPunct="1">
              <a:lnSpc>
                <a:spcPct val="90000"/>
              </a:lnSpc>
            </a:pPr>
            <a:r>
              <a:rPr lang="zh-CN" altLang="en-US" sz="2800" smtClean="0">
                <a:solidFill>
                  <a:srgbClr val="FF0066"/>
                </a:solidFill>
              </a:rPr>
              <a:t>指标法</a:t>
            </a:r>
          </a:p>
          <a:p>
            <a:pPr marL="971550" lvl="1" eaLnBrk="1" hangingPunct="1">
              <a:lnSpc>
                <a:spcPct val="90000"/>
              </a:lnSpc>
            </a:pPr>
            <a:r>
              <a:rPr lang="en-US" altLang="zh-CN" sz="2400" smtClean="0">
                <a:latin typeface="Arial" charset="0"/>
              </a:rPr>
              <a:t>——</a:t>
            </a:r>
            <a:r>
              <a:rPr lang="zh-CN" altLang="en-US" sz="2400" smtClean="0"/>
              <a:t>通过一系列核心指标来反映所研究系统的动态特征。</a:t>
            </a:r>
          </a:p>
          <a:p>
            <a:pPr marL="571500" indent="-571500" eaLnBrk="1" hangingPunct="1">
              <a:lnSpc>
                <a:spcPct val="90000"/>
              </a:lnSpc>
            </a:pPr>
            <a:r>
              <a:rPr lang="zh-CN" altLang="en-US" sz="2800" smtClean="0">
                <a:solidFill>
                  <a:srgbClr val="FF0066"/>
                </a:solidFill>
              </a:rPr>
              <a:t>模型法</a:t>
            </a:r>
          </a:p>
          <a:p>
            <a:pPr marL="971550" lvl="1" eaLnBrk="1" hangingPunct="1">
              <a:lnSpc>
                <a:spcPct val="90000"/>
              </a:lnSpc>
            </a:pPr>
            <a:r>
              <a:rPr lang="en-US" altLang="zh-CN" sz="2400" smtClean="0">
                <a:latin typeface="Arial" charset="0"/>
              </a:rPr>
              <a:t>——</a:t>
            </a:r>
            <a:r>
              <a:rPr lang="zh-CN" altLang="en-US" sz="2400" smtClean="0"/>
              <a:t>根据统计理论和数学方法，建立描述该序列的适应或最优统计模型，并进而据以进行预测或控制。</a:t>
            </a:r>
          </a:p>
        </p:txBody>
      </p:sp>
      <p:sp>
        <p:nvSpPr>
          <p:cNvPr id="76805" name="日期占位符 4"/>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7203">
                                            <p:txEl>
                                              <p:pRg st="1" end="1"/>
                                            </p:txEl>
                                          </p:spTgt>
                                        </p:tgtEl>
                                        <p:attrNameLst>
                                          <p:attrName>style.visibility</p:attrName>
                                        </p:attrNameLst>
                                      </p:cBhvr>
                                      <p:to>
                                        <p:strVal val="visible"/>
                                      </p:to>
                                    </p:set>
                                    <p:animEffect transition="in" filter="wipe(left)">
                                      <p:cBhvr>
                                        <p:cTn id="7" dur="500"/>
                                        <p:tgtEl>
                                          <p:spTgt spid="307203">
                                            <p:txEl>
                                              <p:pRg st="1" end="1"/>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07203">
                                            <p:txEl>
                                              <p:pRg st="2" end="2"/>
                                            </p:txEl>
                                          </p:spTgt>
                                        </p:tgtEl>
                                        <p:attrNameLst>
                                          <p:attrName>style.visibility</p:attrName>
                                        </p:attrNameLst>
                                      </p:cBhvr>
                                      <p:to>
                                        <p:strVal val="visible"/>
                                      </p:to>
                                    </p:set>
                                    <p:animEffect transition="in" filter="wipe(left)">
                                      <p:cBhvr>
                                        <p:cTn id="10" dur="500"/>
                                        <p:tgtEl>
                                          <p:spTgt spid="30720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07203">
                                            <p:txEl>
                                              <p:pRg st="3" end="3"/>
                                            </p:txEl>
                                          </p:spTgt>
                                        </p:tgtEl>
                                        <p:attrNameLst>
                                          <p:attrName>style.visibility</p:attrName>
                                        </p:attrNameLst>
                                      </p:cBhvr>
                                      <p:to>
                                        <p:strVal val="visible"/>
                                      </p:to>
                                    </p:set>
                                    <p:animEffect transition="in" filter="wipe(left)">
                                      <p:cBhvr>
                                        <p:cTn id="15" dur="500"/>
                                        <p:tgtEl>
                                          <p:spTgt spid="307203">
                                            <p:txEl>
                                              <p:pRg st="3" end="3"/>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307203">
                                            <p:txEl>
                                              <p:pRg st="4" end="4"/>
                                            </p:txEl>
                                          </p:spTgt>
                                        </p:tgtEl>
                                        <p:attrNameLst>
                                          <p:attrName>style.visibility</p:attrName>
                                        </p:attrNameLst>
                                      </p:cBhvr>
                                      <p:to>
                                        <p:strVal val="visible"/>
                                      </p:to>
                                    </p:set>
                                    <p:animEffect transition="in" filter="wipe(left)">
                                      <p:cBhvr>
                                        <p:cTn id="18" dur="500"/>
                                        <p:tgtEl>
                                          <p:spTgt spid="30720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07203">
                                            <p:txEl>
                                              <p:pRg st="5" end="5"/>
                                            </p:txEl>
                                          </p:spTgt>
                                        </p:tgtEl>
                                        <p:attrNameLst>
                                          <p:attrName>style.visibility</p:attrName>
                                        </p:attrNameLst>
                                      </p:cBhvr>
                                      <p:to>
                                        <p:strVal val="visible"/>
                                      </p:to>
                                    </p:set>
                                    <p:animEffect transition="in" filter="wipe(left)">
                                      <p:cBhvr>
                                        <p:cTn id="23" dur="500"/>
                                        <p:tgtEl>
                                          <p:spTgt spid="307203">
                                            <p:txEl>
                                              <p:pRg st="5" end="5"/>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307203">
                                            <p:txEl>
                                              <p:pRg st="6" end="6"/>
                                            </p:txEl>
                                          </p:spTgt>
                                        </p:tgtEl>
                                        <p:attrNameLst>
                                          <p:attrName>style.visibility</p:attrName>
                                        </p:attrNameLst>
                                      </p:cBhvr>
                                      <p:to>
                                        <p:strVal val="visible"/>
                                      </p:to>
                                    </p:set>
                                    <p:animEffect transition="in" filter="wipe(left)">
                                      <p:cBhvr>
                                        <p:cTn id="26" dur="500"/>
                                        <p:tgtEl>
                                          <p:spTgt spid="30720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0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8226" name="Object 2"/>
          <p:cNvGraphicFramePr>
            <a:graphicFrameLocks noGrp="1" noChangeAspect="1"/>
          </p:cNvGraphicFramePr>
          <p:nvPr>
            <p:ph idx="1"/>
          </p:nvPr>
        </p:nvGraphicFramePr>
        <p:xfrm>
          <a:off x="323850" y="736600"/>
          <a:ext cx="8101013" cy="5500688"/>
        </p:xfrm>
        <a:graphic>
          <a:graphicData uri="http://schemas.openxmlformats.org/presentationml/2006/ole">
            <mc:AlternateContent xmlns:mc="http://schemas.openxmlformats.org/markup-compatibility/2006">
              <mc:Choice xmlns:v="urn:schemas-microsoft-com:vml" Requires="v">
                <p:oleObj spid="_x0000_s1131" name="公式" r:id="rId3" imgW="3288960" imgH="2946240" progId="Equation.3">
                  <p:embed/>
                </p:oleObj>
              </mc:Choice>
              <mc:Fallback>
                <p:oleObj name="公式" r:id="rId3" imgW="3288960" imgH="294624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736600"/>
                        <a:ext cx="8101013" cy="5500688"/>
                      </a:xfrm>
                      <a:prstGeom prst="rect">
                        <a:avLst/>
                      </a:prstGeom>
                      <a:solidFill>
                        <a:srgbClr val="FFFFFF"/>
                      </a:solidFill>
                    </p:spPr>
                  </p:pic>
                </p:oleObj>
              </mc:Fallback>
            </mc:AlternateContent>
          </a:graphicData>
        </a:graphic>
      </p:graphicFrame>
      <p:sp>
        <p:nvSpPr>
          <p:cNvPr id="1028" name="日期占位符 3"/>
          <p:cNvSpPr>
            <a:spLocks noGrp="1"/>
          </p:cNvSpPr>
          <p:nvPr>
            <p:ph type="dt" sz="quarter" idx="10"/>
          </p:nvPr>
        </p:nvSpPr>
        <p:spPr>
          <a:noFill/>
        </p:spPr>
        <p:txBody>
          <a:bodyPr/>
          <a:lstStyle/>
          <a:p>
            <a:endParaRPr lang="en-US" altLang="zh-CN" smtClean="0"/>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2"/>
          <p:cNvSpPr>
            <a:spLocks noGrp="1" noChangeArrowheads="1"/>
          </p:cNvSpPr>
          <p:nvPr>
            <p:ph type="title"/>
          </p:nvPr>
        </p:nvSpPr>
        <p:spPr/>
        <p:txBody>
          <a:bodyPr/>
          <a:lstStyle/>
          <a:p>
            <a:pPr eaLnBrk="1" hangingPunct="1"/>
            <a:r>
              <a:rPr lang="en-US" altLang="zh-CN" dirty="0" smtClean="0"/>
              <a:t>4.1.1 </a:t>
            </a:r>
            <a:r>
              <a:rPr lang="zh-CN" altLang="en-US" dirty="0" smtClean="0"/>
              <a:t>时间</a:t>
            </a:r>
            <a:r>
              <a:rPr lang="zh-CN" altLang="en-US" dirty="0" smtClean="0"/>
              <a:t>数列的概念</a:t>
            </a:r>
          </a:p>
        </p:txBody>
      </p:sp>
      <p:sp>
        <p:nvSpPr>
          <p:cNvPr id="311299" name="Rectangle 3"/>
          <p:cNvSpPr>
            <a:spLocks noGrp="1" noChangeArrowheads="1"/>
          </p:cNvSpPr>
          <p:nvPr>
            <p:ph type="body" idx="1"/>
          </p:nvPr>
        </p:nvSpPr>
        <p:spPr>
          <a:noFill/>
        </p:spPr>
        <p:txBody>
          <a:bodyPr/>
          <a:lstStyle/>
          <a:p>
            <a:pPr marL="0" indent="0" eaLnBrk="1" hangingPunct="1">
              <a:lnSpc>
                <a:spcPct val="90000"/>
              </a:lnSpc>
            </a:pPr>
            <a:r>
              <a:rPr lang="zh-CN" altLang="en-US" dirty="0" smtClean="0"/>
              <a:t>时间数列</a:t>
            </a:r>
            <a:r>
              <a:rPr lang="zh-CN" altLang="en-US" dirty="0" smtClean="0">
                <a:solidFill>
                  <a:srgbClr val="008000"/>
                </a:solidFill>
              </a:rPr>
              <a:t>（</a:t>
            </a:r>
            <a:r>
              <a:rPr lang="en-US" altLang="zh-CN" dirty="0" smtClean="0">
                <a:solidFill>
                  <a:srgbClr val="008000"/>
                </a:solidFill>
              </a:rPr>
              <a:t>time series</a:t>
            </a:r>
            <a:r>
              <a:rPr lang="zh-CN" altLang="en-US" dirty="0" smtClean="0">
                <a:solidFill>
                  <a:srgbClr val="008000"/>
                </a:solidFill>
              </a:rPr>
              <a:t>）</a:t>
            </a:r>
            <a:endParaRPr lang="zh-CN" altLang="en-US" dirty="0" smtClean="0"/>
          </a:p>
          <a:p>
            <a:pPr marL="457200" lvl="1" indent="228600" eaLnBrk="1" hangingPunct="1">
              <a:lnSpc>
                <a:spcPct val="90000"/>
              </a:lnSpc>
            </a:pPr>
            <a:r>
              <a:rPr lang="zh-CN" altLang="en-US" b="0" dirty="0" smtClean="0"/>
              <a:t>把反映某种现象在时间上发展变化的一系列统计数据按时间先后顺序排列起来所形成的数列。</a:t>
            </a:r>
          </a:p>
          <a:p>
            <a:pPr marL="0" indent="0" eaLnBrk="1" hangingPunct="1">
              <a:lnSpc>
                <a:spcPct val="90000"/>
              </a:lnSpc>
            </a:pPr>
            <a:r>
              <a:rPr lang="zh-CN" altLang="en-US" dirty="0" smtClean="0"/>
              <a:t>基本要素：</a:t>
            </a:r>
          </a:p>
          <a:p>
            <a:pPr marL="457200" lvl="1" indent="228600" eaLnBrk="1" hangingPunct="1">
              <a:lnSpc>
                <a:spcPct val="90000"/>
              </a:lnSpc>
            </a:pPr>
            <a:r>
              <a:rPr lang="zh-CN" altLang="en-US" b="0" dirty="0" smtClean="0"/>
              <a:t>一是时间要素（常用 </a:t>
            </a:r>
            <a:r>
              <a:rPr lang="en-US" altLang="zh-CN" b="0" dirty="0" smtClean="0"/>
              <a:t>t </a:t>
            </a:r>
            <a:r>
              <a:rPr lang="zh-CN" altLang="en-US" b="0" dirty="0" smtClean="0"/>
              <a:t>表示），指现象所属的时间；</a:t>
            </a:r>
            <a:r>
              <a:rPr lang="zh-CN" altLang="en-US" dirty="0" smtClean="0"/>
              <a:t>这里时间可以是年份、季度、月份或其他任何时间形式</a:t>
            </a:r>
            <a:endParaRPr lang="zh-CN" altLang="en-US" b="0" dirty="0" smtClean="0"/>
          </a:p>
          <a:p>
            <a:pPr marL="457200" lvl="1" indent="228600" eaLnBrk="1" hangingPunct="1">
              <a:lnSpc>
                <a:spcPct val="90000"/>
              </a:lnSpc>
            </a:pPr>
            <a:r>
              <a:rPr lang="zh-CN" altLang="en-US" b="0" dirty="0" smtClean="0"/>
              <a:t>二是数据要素，反映现象在不同时间上数量表现的统计数据。</a:t>
            </a:r>
          </a:p>
        </p:txBody>
      </p:sp>
      <p:sp>
        <p:nvSpPr>
          <p:cNvPr id="77829" name="日期占位符 4"/>
          <p:cNvSpPr>
            <a:spLocks noGrp="1"/>
          </p:cNvSpPr>
          <p:nvPr>
            <p:ph type="dt" sz="quarter" idx="10"/>
          </p:nvPr>
        </p:nvSpPr>
        <p:spPr>
          <a:noFill/>
        </p:spPr>
        <p:txBody>
          <a:bodyPr/>
          <a:lstStyle/>
          <a:p>
            <a:endParaRPr lang="en-US" altLang="zh-CN"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11299">
                                            <p:txEl>
                                              <p:pRg st="1" end="1"/>
                                            </p:txEl>
                                          </p:spTgt>
                                        </p:tgtEl>
                                        <p:attrNameLst>
                                          <p:attrName>style.visibility</p:attrName>
                                        </p:attrNameLst>
                                      </p:cBhvr>
                                      <p:to>
                                        <p:strVal val="visible"/>
                                      </p:to>
                                    </p:set>
                                    <p:animEffect transition="in" filter="wipe(left)">
                                      <p:cBhvr>
                                        <p:cTn id="7" dur="10"/>
                                        <p:tgtEl>
                                          <p:spTgt spid="311299">
                                            <p:txEl>
                                              <p:pRg st="1" end="1"/>
                                            </p:txEl>
                                          </p:spTgt>
                                        </p:tgtEl>
                                      </p:cBhvr>
                                    </p:animEffect>
                                  </p:childTnLst>
                                </p:cTn>
                              </p:par>
                            </p:childTnLst>
                          </p:cTn>
                        </p:par>
                        <p:par>
                          <p:cTn id="8" fill="hold">
                            <p:stCondLst>
                              <p:cond delay="10"/>
                            </p:stCondLst>
                            <p:childTnLst>
                              <p:par>
                                <p:cTn id="9" presetID="22" presetClass="entr" presetSubtype="8" fill="hold" grpId="0" nodeType="afterEffect">
                                  <p:stCondLst>
                                    <p:cond delay="0"/>
                                  </p:stCondLst>
                                  <p:childTnLst>
                                    <p:set>
                                      <p:cBhvr>
                                        <p:cTn id="10" dur="1" fill="hold">
                                          <p:stCondLst>
                                            <p:cond delay="0"/>
                                          </p:stCondLst>
                                        </p:cTn>
                                        <p:tgtEl>
                                          <p:spTgt spid="311299">
                                            <p:txEl>
                                              <p:pRg st="2" end="2"/>
                                            </p:txEl>
                                          </p:spTgt>
                                        </p:tgtEl>
                                        <p:attrNameLst>
                                          <p:attrName>style.visibility</p:attrName>
                                        </p:attrNameLst>
                                      </p:cBhvr>
                                      <p:to>
                                        <p:strVal val="visible"/>
                                      </p:to>
                                    </p:set>
                                    <p:animEffect transition="in" filter="wipe(left)">
                                      <p:cBhvr>
                                        <p:cTn id="11" dur="1000"/>
                                        <p:tgtEl>
                                          <p:spTgt spid="311299">
                                            <p:txEl>
                                              <p:pRg st="2" end="2"/>
                                            </p:txEl>
                                          </p:spTgt>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311299">
                                            <p:txEl>
                                              <p:pRg st="3" end="3"/>
                                            </p:txEl>
                                          </p:spTgt>
                                        </p:tgtEl>
                                        <p:attrNameLst>
                                          <p:attrName>style.visibility</p:attrName>
                                        </p:attrNameLst>
                                      </p:cBhvr>
                                      <p:to>
                                        <p:strVal val="visible"/>
                                      </p:to>
                                    </p:set>
                                    <p:animEffect transition="in" filter="wipe(left)">
                                      <p:cBhvr>
                                        <p:cTn id="14" dur="1000"/>
                                        <p:tgtEl>
                                          <p:spTgt spid="311299">
                                            <p:txEl>
                                              <p:pRg st="3" end="3"/>
                                            </p:txEl>
                                          </p:spTgt>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311299">
                                            <p:txEl>
                                              <p:pRg st="4" end="4"/>
                                            </p:txEl>
                                          </p:spTgt>
                                        </p:tgtEl>
                                        <p:attrNameLst>
                                          <p:attrName>style.visibility</p:attrName>
                                        </p:attrNameLst>
                                      </p:cBhvr>
                                      <p:to>
                                        <p:strVal val="visible"/>
                                      </p:to>
                                    </p:set>
                                    <p:animEffect transition="in" filter="wipe(left)">
                                      <p:cBhvr>
                                        <p:cTn id="17" dur="1000"/>
                                        <p:tgtEl>
                                          <p:spTgt spid="3112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299" grpId="0" uiExpand="1"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2"/>
          <p:cNvSpPr>
            <a:spLocks noGrp="1" noChangeArrowheads="1"/>
          </p:cNvSpPr>
          <p:nvPr>
            <p:ph type="title"/>
          </p:nvPr>
        </p:nvSpPr>
        <p:spPr>
          <a:xfrm>
            <a:off x="0" y="-495300"/>
            <a:ext cx="6500813" cy="990600"/>
          </a:xfrm>
        </p:spPr>
        <p:txBody>
          <a:bodyPr/>
          <a:lstStyle/>
          <a:p>
            <a:pPr eaLnBrk="1" hangingPunct="1"/>
            <a:r>
              <a:rPr lang="zh-CN" altLang="en-US" sz="3200" dirty="0" smtClean="0"/>
              <a:t>表</a:t>
            </a:r>
            <a:r>
              <a:rPr lang="en-US" altLang="zh-CN" sz="3200" dirty="0" smtClean="0"/>
              <a:t>4-2</a:t>
            </a:r>
          </a:p>
        </p:txBody>
      </p:sp>
      <p:sp>
        <p:nvSpPr>
          <p:cNvPr id="79097" name="日期占位符 5"/>
          <p:cNvSpPr>
            <a:spLocks noGrp="1"/>
          </p:cNvSpPr>
          <p:nvPr>
            <p:ph type="dt" sz="quarter" idx="10"/>
          </p:nvPr>
        </p:nvSpPr>
        <p:spPr>
          <a:noFill/>
        </p:spPr>
        <p:txBody>
          <a:bodyPr/>
          <a:lstStyle/>
          <a:p>
            <a:endParaRPr lang="en-US" altLang="zh-CN" smtClean="0"/>
          </a:p>
        </p:txBody>
      </p:sp>
      <p:graphicFrame>
        <p:nvGraphicFramePr>
          <p:cNvPr id="5" name="表格 4">
            <a:extLst>
              <a:ext uri="{FF2B5EF4-FFF2-40B4-BE49-F238E27FC236}">
                <a16:creationId xmlns:a16="http://schemas.microsoft.com/office/drawing/2014/main" id="{10F28130-FB7C-E84B-D78E-B49F78489BC8}"/>
              </a:ext>
            </a:extLst>
          </p:cNvPr>
          <p:cNvGraphicFramePr>
            <a:graphicFrameLocks noGrp="1"/>
          </p:cNvGraphicFramePr>
          <p:nvPr>
            <p:extLst>
              <p:ext uri="{D42A27DB-BD31-4B8C-83A1-F6EECF244321}">
                <p14:modId xmlns:p14="http://schemas.microsoft.com/office/powerpoint/2010/main" val="1622004143"/>
              </p:ext>
            </p:extLst>
          </p:nvPr>
        </p:nvGraphicFramePr>
        <p:xfrm>
          <a:off x="377433" y="115930"/>
          <a:ext cx="8766567" cy="6692893"/>
        </p:xfrm>
        <a:graphic>
          <a:graphicData uri="http://schemas.openxmlformats.org/drawingml/2006/table">
            <a:tbl>
              <a:tblPr firstRow="1" firstCol="1" bandRow="1"/>
              <a:tblGrid>
                <a:gridCol w="707614">
                  <a:extLst>
                    <a:ext uri="{9D8B030D-6E8A-4147-A177-3AD203B41FA5}">
                      <a16:colId xmlns:a16="http://schemas.microsoft.com/office/drawing/2014/main" val="3819273122"/>
                    </a:ext>
                  </a:extLst>
                </a:gridCol>
                <a:gridCol w="1513510">
                  <a:extLst>
                    <a:ext uri="{9D8B030D-6E8A-4147-A177-3AD203B41FA5}">
                      <a16:colId xmlns:a16="http://schemas.microsoft.com/office/drawing/2014/main" val="3979799150"/>
                    </a:ext>
                  </a:extLst>
                </a:gridCol>
                <a:gridCol w="1238328">
                  <a:extLst>
                    <a:ext uri="{9D8B030D-6E8A-4147-A177-3AD203B41FA5}">
                      <a16:colId xmlns:a16="http://schemas.microsoft.com/office/drawing/2014/main" val="2506530956"/>
                    </a:ext>
                  </a:extLst>
                </a:gridCol>
                <a:gridCol w="1061423">
                  <a:extLst>
                    <a:ext uri="{9D8B030D-6E8A-4147-A177-3AD203B41FA5}">
                      <a16:colId xmlns:a16="http://schemas.microsoft.com/office/drawing/2014/main" val="2101179366"/>
                    </a:ext>
                  </a:extLst>
                </a:gridCol>
                <a:gridCol w="1061423">
                  <a:extLst>
                    <a:ext uri="{9D8B030D-6E8A-4147-A177-3AD203B41FA5}">
                      <a16:colId xmlns:a16="http://schemas.microsoft.com/office/drawing/2014/main" val="1098350146"/>
                    </a:ext>
                  </a:extLst>
                </a:gridCol>
                <a:gridCol w="1061423">
                  <a:extLst>
                    <a:ext uri="{9D8B030D-6E8A-4147-A177-3AD203B41FA5}">
                      <a16:colId xmlns:a16="http://schemas.microsoft.com/office/drawing/2014/main" val="3230796450"/>
                    </a:ext>
                  </a:extLst>
                </a:gridCol>
                <a:gridCol w="1061423">
                  <a:extLst>
                    <a:ext uri="{9D8B030D-6E8A-4147-A177-3AD203B41FA5}">
                      <a16:colId xmlns:a16="http://schemas.microsoft.com/office/drawing/2014/main" val="2732203338"/>
                    </a:ext>
                  </a:extLst>
                </a:gridCol>
                <a:gridCol w="1061423">
                  <a:extLst>
                    <a:ext uri="{9D8B030D-6E8A-4147-A177-3AD203B41FA5}">
                      <a16:colId xmlns:a16="http://schemas.microsoft.com/office/drawing/2014/main" val="3677892290"/>
                    </a:ext>
                  </a:extLst>
                </a:gridCol>
              </a:tblGrid>
              <a:tr h="718813">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r>
                        <a:rPr lang="zh-CN" sz="1400" b="1" kern="0" dirty="0">
                          <a:effectLst/>
                          <a:latin typeface="Times New Roman" panose="02020603050405020304" pitchFamily="18" charset="0"/>
                          <a:cs typeface="Times New Roman" panose="02020603050405020304" pitchFamily="18" charset="0"/>
                        </a:rPr>
                        <a:t>年</a:t>
                      </a:r>
                      <a:r>
                        <a:rPr lang="en-US" sz="1400" b="1" kern="0" dirty="0">
                          <a:effectLst/>
                          <a:latin typeface="Times New Roman" panose="02020603050405020304" pitchFamily="18" charset="0"/>
                          <a:cs typeface="Times New Roman" panose="02020603050405020304" pitchFamily="18" charset="0"/>
                        </a:rPr>
                        <a:t>  </a:t>
                      </a:r>
                      <a:r>
                        <a:rPr lang="zh-CN" sz="1400" b="1" kern="0" dirty="0">
                          <a:effectLst/>
                          <a:latin typeface="Times New Roman" panose="02020603050405020304" pitchFamily="18" charset="0"/>
                          <a:cs typeface="Times New Roman" panose="02020603050405020304" pitchFamily="18" charset="0"/>
                        </a:rPr>
                        <a:t>份</a:t>
                      </a:r>
                      <a:endParaRPr lang="zh-CN" sz="1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r>
                        <a:rPr lang="zh-CN" sz="1400" b="1" kern="0" dirty="0">
                          <a:effectLst/>
                          <a:latin typeface="Times New Roman" panose="02020603050405020304" pitchFamily="18" charset="0"/>
                          <a:cs typeface="Times New Roman" panose="02020603050405020304" pitchFamily="18" charset="0"/>
                        </a:rPr>
                        <a:t>国内生产总值</a:t>
                      </a:r>
                      <a:endParaRPr lang="zh-CN" sz="1400" b="1" kern="100" dirty="0">
                        <a:effectLst/>
                        <a:latin typeface="Times New Roman" panose="02020603050405020304" pitchFamily="18" charset="0"/>
                        <a:cs typeface="Times New Roman" panose="02020603050405020304" pitchFamily="18" charset="0"/>
                      </a:endParaRPr>
                    </a:p>
                    <a:p>
                      <a:pPr algn="ctr"/>
                      <a:r>
                        <a:rPr lang="zh-CN" sz="1400" b="1" kern="0" dirty="0">
                          <a:effectLst/>
                          <a:latin typeface="Times New Roman" panose="02020603050405020304" pitchFamily="18" charset="0"/>
                          <a:cs typeface="Times New Roman" panose="02020603050405020304" pitchFamily="18" charset="0"/>
                        </a:rPr>
                        <a:t>（亿元）</a:t>
                      </a:r>
                      <a:endParaRPr lang="zh-CN" sz="1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r>
                        <a:rPr lang="zh-CN" sz="1400" b="1" kern="0">
                          <a:effectLst/>
                          <a:latin typeface="Times New Roman" panose="02020603050405020304" pitchFamily="18" charset="0"/>
                          <a:cs typeface="Times New Roman" panose="02020603050405020304" pitchFamily="18" charset="0"/>
                        </a:rPr>
                        <a:t>　第三产业增加值（亿元）</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r>
                        <a:rPr lang="zh-CN" sz="1400" b="1" kern="0">
                          <a:effectLst/>
                          <a:latin typeface="Times New Roman" panose="02020603050405020304" pitchFamily="18" charset="0"/>
                          <a:cs typeface="Times New Roman" panose="02020603050405020304" pitchFamily="18" charset="0"/>
                        </a:rPr>
                        <a:t>　第三产业比重（</a:t>
                      </a:r>
                      <a:r>
                        <a:rPr lang="en-US" sz="1400" b="1" kern="0">
                          <a:effectLst/>
                          <a:latin typeface="Times New Roman" panose="02020603050405020304" pitchFamily="18" charset="0"/>
                          <a:cs typeface="Times New Roman" panose="02020603050405020304" pitchFamily="18" charset="0"/>
                        </a:rPr>
                        <a:t>%</a:t>
                      </a:r>
                      <a:r>
                        <a:rPr lang="zh-CN" sz="1400" b="1" kern="0">
                          <a:effectLst/>
                          <a:latin typeface="Times New Roman" panose="02020603050405020304" pitchFamily="18" charset="0"/>
                          <a:cs typeface="Times New Roman" panose="02020603050405020304" pitchFamily="18" charset="0"/>
                        </a:rPr>
                        <a:t>）</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r>
                        <a:rPr lang="zh-CN" sz="1400" b="1" kern="0">
                          <a:effectLst/>
                          <a:latin typeface="Times New Roman" panose="02020603050405020304" pitchFamily="18" charset="0"/>
                          <a:cs typeface="Times New Roman" panose="02020603050405020304" pitchFamily="18" charset="0"/>
                        </a:rPr>
                        <a:t>人均国内</a:t>
                      </a:r>
                      <a:r>
                        <a:rPr lang="en-US" sz="1400" b="1" kern="0">
                          <a:effectLst/>
                          <a:latin typeface="Times New Roman" panose="02020603050405020304" pitchFamily="18" charset="0"/>
                          <a:cs typeface="Times New Roman" panose="02020603050405020304" pitchFamily="18" charset="0"/>
                        </a:rPr>
                        <a:t/>
                      </a:r>
                      <a:br>
                        <a:rPr lang="en-US" sz="1400" b="1" kern="0">
                          <a:effectLst/>
                          <a:latin typeface="Times New Roman" panose="02020603050405020304" pitchFamily="18" charset="0"/>
                          <a:cs typeface="Times New Roman" panose="02020603050405020304" pitchFamily="18" charset="0"/>
                        </a:rPr>
                      </a:br>
                      <a:r>
                        <a:rPr lang="zh-CN" sz="1400" b="1" kern="0">
                          <a:effectLst/>
                          <a:latin typeface="Times New Roman" panose="02020603050405020304" pitchFamily="18" charset="0"/>
                          <a:cs typeface="Times New Roman" panose="02020603050405020304" pitchFamily="18" charset="0"/>
                        </a:rPr>
                        <a:t>生产总值</a:t>
                      </a:r>
                      <a:r>
                        <a:rPr lang="en-US" sz="1400" b="1" kern="0">
                          <a:effectLst/>
                          <a:latin typeface="Times New Roman" panose="02020603050405020304" pitchFamily="18" charset="0"/>
                          <a:cs typeface="Times New Roman" panose="02020603050405020304" pitchFamily="18" charset="0"/>
                        </a:rPr>
                        <a:t/>
                      </a:r>
                      <a:br>
                        <a:rPr lang="en-US" sz="1400" b="1" kern="0">
                          <a:effectLst/>
                          <a:latin typeface="Times New Roman" panose="02020603050405020304" pitchFamily="18" charset="0"/>
                          <a:cs typeface="Times New Roman" panose="02020603050405020304" pitchFamily="18" charset="0"/>
                        </a:rPr>
                      </a:br>
                      <a:r>
                        <a:rPr lang="en-US" sz="1400" b="1" kern="0">
                          <a:effectLst/>
                          <a:latin typeface="Times New Roman" panose="02020603050405020304" pitchFamily="18" charset="0"/>
                          <a:cs typeface="Times New Roman" panose="02020603050405020304" pitchFamily="18" charset="0"/>
                        </a:rPr>
                        <a:t>(</a:t>
                      </a:r>
                      <a:r>
                        <a:rPr lang="zh-CN" sz="1400" b="1" kern="0">
                          <a:effectLst/>
                          <a:latin typeface="Times New Roman" panose="02020603050405020304" pitchFamily="18" charset="0"/>
                          <a:cs typeface="Times New Roman" panose="02020603050405020304" pitchFamily="18" charset="0"/>
                        </a:rPr>
                        <a:t>元</a:t>
                      </a:r>
                      <a:r>
                        <a:rPr lang="en-US" sz="1400" b="1" kern="0">
                          <a:effectLst/>
                          <a:latin typeface="Times New Roman" panose="02020603050405020304" pitchFamily="18" charset="0"/>
                          <a:cs typeface="Times New Roman" panose="02020603050405020304" pitchFamily="18" charset="0"/>
                        </a:rPr>
                        <a:t>)</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r>
                        <a:rPr lang="zh-CN" sz="1400" b="1" kern="0">
                          <a:effectLst/>
                          <a:latin typeface="Times New Roman" panose="02020603050405020304" pitchFamily="18" charset="0"/>
                          <a:cs typeface="Times New Roman" panose="02020603050405020304" pitchFamily="18" charset="0"/>
                        </a:rPr>
                        <a:t>年末总人口</a:t>
                      </a:r>
                      <a:r>
                        <a:rPr lang="en-US" sz="1400" b="1" kern="0">
                          <a:effectLst/>
                          <a:latin typeface="Times New Roman" panose="02020603050405020304" pitchFamily="18" charset="0"/>
                          <a:cs typeface="Times New Roman" panose="02020603050405020304" pitchFamily="18" charset="0"/>
                        </a:rPr>
                        <a:t>(</a:t>
                      </a:r>
                      <a:r>
                        <a:rPr lang="zh-CN" sz="1400" b="1" kern="0">
                          <a:effectLst/>
                          <a:latin typeface="Times New Roman" panose="02020603050405020304" pitchFamily="18" charset="0"/>
                          <a:cs typeface="Times New Roman" panose="02020603050405020304" pitchFamily="18" charset="0"/>
                        </a:rPr>
                        <a:t>万人</a:t>
                      </a:r>
                      <a:r>
                        <a:rPr lang="en-US" sz="1400" b="1" kern="0">
                          <a:effectLst/>
                          <a:latin typeface="Times New Roman" panose="02020603050405020304" pitchFamily="18" charset="0"/>
                          <a:cs typeface="Times New Roman" panose="02020603050405020304" pitchFamily="18" charset="0"/>
                        </a:rPr>
                        <a:t>)</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r>
                        <a:rPr lang="zh-CN" sz="1400" b="1" kern="0">
                          <a:effectLst/>
                          <a:latin typeface="Times New Roman" panose="02020603050405020304" pitchFamily="18" charset="0"/>
                          <a:cs typeface="Times New Roman" panose="02020603050405020304" pitchFamily="18" charset="0"/>
                        </a:rPr>
                        <a:t>城镇居民人均可支配收入</a:t>
                      </a:r>
                      <a:r>
                        <a:rPr lang="en-US" sz="1400" b="1" kern="0">
                          <a:effectLst/>
                          <a:latin typeface="Times New Roman" panose="02020603050405020304" pitchFamily="18" charset="0"/>
                          <a:cs typeface="Times New Roman" panose="02020603050405020304" pitchFamily="18" charset="0"/>
                        </a:rPr>
                        <a:t>(</a:t>
                      </a:r>
                      <a:r>
                        <a:rPr lang="zh-CN" sz="1400" b="1" kern="0">
                          <a:effectLst/>
                          <a:latin typeface="Times New Roman" panose="02020603050405020304" pitchFamily="18" charset="0"/>
                          <a:cs typeface="Times New Roman" panose="02020603050405020304" pitchFamily="18" charset="0"/>
                        </a:rPr>
                        <a:t>元</a:t>
                      </a:r>
                      <a:r>
                        <a:rPr lang="en-US" sz="1400" b="1" kern="0">
                          <a:effectLst/>
                          <a:latin typeface="Times New Roman" panose="02020603050405020304" pitchFamily="18" charset="0"/>
                          <a:cs typeface="Times New Roman" panose="02020603050405020304" pitchFamily="18" charset="0"/>
                        </a:rPr>
                        <a:t>)</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ctr"/>
                      <a:r>
                        <a:rPr lang="zh-CN" sz="1400" b="1" kern="0">
                          <a:effectLst/>
                          <a:latin typeface="Times New Roman" panose="02020603050405020304" pitchFamily="18" charset="0"/>
                          <a:cs typeface="Times New Roman" panose="02020603050405020304" pitchFamily="18" charset="0"/>
                        </a:rPr>
                        <a:t>人口自然增长率‰</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extLst>
                  <a:ext uri="{0D108BD9-81ED-4DB2-BD59-A6C34878D82A}">
                    <a16:rowId xmlns:a16="http://schemas.microsoft.com/office/drawing/2014/main" val="2564878123"/>
                  </a:ext>
                </a:extLst>
              </a:tr>
              <a:tr h="192929">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l"/>
                      <a:r>
                        <a:rPr lang="en-US" sz="1400" b="1" kern="0">
                          <a:effectLst/>
                          <a:latin typeface="Times New Roman" panose="02020603050405020304" pitchFamily="18" charset="0"/>
                          <a:cs typeface="Times New Roman" panose="02020603050405020304" pitchFamily="18" charset="0"/>
                        </a:rPr>
                        <a:t>1978</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3678.7</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905.1</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24.6</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385</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96259</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343.3</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r>
                        <a:rPr lang="en-US" sz="1400" b="1" kern="0">
                          <a:effectLst/>
                          <a:latin typeface="Times New Roman" panose="02020603050405020304" pitchFamily="18" charset="0"/>
                          <a:cs typeface="Times New Roman" panose="02020603050405020304" pitchFamily="18" charset="0"/>
                        </a:rPr>
                        <a:t>12.00</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extLst>
                  <a:ext uri="{0D108BD9-81ED-4DB2-BD59-A6C34878D82A}">
                    <a16:rowId xmlns:a16="http://schemas.microsoft.com/office/drawing/2014/main" val="4014841194"/>
                  </a:ext>
                </a:extLst>
              </a:tr>
              <a:tr h="192929">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l"/>
                      <a:r>
                        <a:rPr lang="en-US" sz="1400" b="1" kern="0" dirty="0">
                          <a:effectLst/>
                          <a:latin typeface="Times New Roman" panose="02020603050405020304" pitchFamily="18" charset="0"/>
                          <a:cs typeface="Times New Roman" panose="02020603050405020304" pitchFamily="18" charset="0"/>
                        </a:rPr>
                        <a:t>1980</a:t>
                      </a:r>
                      <a:endParaRPr lang="zh-CN" sz="1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4587.6</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1023.4</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22.3</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468</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98705</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477.6</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r>
                        <a:rPr lang="en-US" sz="1400" b="1" kern="0">
                          <a:effectLst/>
                          <a:latin typeface="Times New Roman" panose="02020603050405020304" pitchFamily="18" charset="0"/>
                          <a:cs typeface="Times New Roman" panose="02020603050405020304" pitchFamily="18" charset="0"/>
                        </a:rPr>
                        <a:t>11.87</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extLst>
                  <a:ext uri="{0D108BD9-81ED-4DB2-BD59-A6C34878D82A}">
                    <a16:rowId xmlns:a16="http://schemas.microsoft.com/office/drawing/2014/main" val="2010939855"/>
                  </a:ext>
                </a:extLst>
              </a:tr>
              <a:tr h="192929">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l"/>
                      <a:r>
                        <a:rPr lang="en-US" sz="1400" b="1" kern="0">
                          <a:effectLst/>
                          <a:latin typeface="Times New Roman" panose="02020603050405020304" pitchFamily="18" charset="0"/>
                          <a:cs typeface="Times New Roman" panose="02020603050405020304" pitchFamily="18" charset="0"/>
                        </a:rPr>
                        <a:t>1985</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dirty="0">
                          <a:effectLst/>
                          <a:latin typeface="Times New Roman" panose="02020603050405020304" pitchFamily="18" charset="0"/>
                          <a:cs typeface="Times New Roman" panose="02020603050405020304" pitchFamily="18" charset="0"/>
                        </a:rPr>
                        <a:t>9098.9</a:t>
                      </a:r>
                      <a:endParaRPr lang="zh-CN" sz="1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2670.7</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29.4</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866</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105851</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739.1</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r>
                        <a:rPr lang="en-US" sz="1400" b="1" kern="0">
                          <a:effectLst/>
                          <a:latin typeface="Times New Roman" panose="02020603050405020304" pitchFamily="18" charset="0"/>
                          <a:cs typeface="Times New Roman" panose="02020603050405020304" pitchFamily="18" charset="0"/>
                        </a:rPr>
                        <a:t>14.26</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extLst>
                  <a:ext uri="{0D108BD9-81ED-4DB2-BD59-A6C34878D82A}">
                    <a16:rowId xmlns:a16="http://schemas.microsoft.com/office/drawing/2014/main" val="3489529171"/>
                  </a:ext>
                </a:extLst>
              </a:tr>
              <a:tr h="192929">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l"/>
                      <a:r>
                        <a:rPr lang="en-US" sz="1400" b="1" kern="0">
                          <a:effectLst/>
                          <a:latin typeface="Times New Roman" panose="02020603050405020304" pitchFamily="18" charset="0"/>
                          <a:cs typeface="Times New Roman" panose="02020603050405020304" pitchFamily="18" charset="0"/>
                        </a:rPr>
                        <a:t>1990</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dirty="0">
                          <a:effectLst/>
                          <a:latin typeface="Times New Roman" panose="02020603050405020304" pitchFamily="18" charset="0"/>
                          <a:cs typeface="Times New Roman" panose="02020603050405020304" pitchFamily="18" charset="0"/>
                        </a:rPr>
                        <a:t>18872.9</a:t>
                      </a:r>
                      <a:endParaRPr lang="zh-CN" sz="1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6111.4</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32.4</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1663</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114333</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1700.6</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r>
                        <a:rPr lang="en-US" sz="1400" b="1" kern="0">
                          <a:effectLst/>
                          <a:latin typeface="Times New Roman" panose="02020603050405020304" pitchFamily="18" charset="0"/>
                          <a:cs typeface="Times New Roman" panose="02020603050405020304" pitchFamily="18" charset="0"/>
                        </a:rPr>
                        <a:t>14.39</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extLst>
                  <a:ext uri="{0D108BD9-81ED-4DB2-BD59-A6C34878D82A}">
                    <a16:rowId xmlns:a16="http://schemas.microsoft.com/office/drawing/2014/main" val="121353293"/>
                  </a:ext>
                </a:extLst>
              </a:tr>
              <a:tr h="192929">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l"/>
                      <a:r>
                        <a:rPr lang="en-US" sz="1400" b="1" kern="0">
                          <a:effectLst/>
                          <a:latin typeface="Times New Roman" panose="02020603050405020304" pitchFamily="18" charset="0"/>
                          <a:cs typeface="Times New Roman" panose="02020603050405020304" pitchFamily="18" charset="0"/>
                        </a:rPr>
                        <a:t>1995</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dirty="0">
                          <a:effectLst/>
                          <a:latin typeface="Times New Roman" panose="02020603050405020304" pitchFamily="18" charset="0"/>
                          <a:cs typeface="Times New Roman" panose="02020603050405020304" pitchFamily="18" charset="0"/>
                        </a:rPr>
                        <a:t>61339.9</a:t>
                      </a:r>
                      <a:endParaRPr lang="zh-CN" sz="1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20641.9</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33.7</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5091</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121121</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4283</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r>
                        <a:rPr lang="en-US" sz="1400" b="1" kern="0">
                          <a:effectLst/>
                          <a:latin typeface="Times New Roman" panose="02020603050405020304" pitchFamily="18" charset="0"/>
                          <a:cs typeface="Times New Roman" panose="02020603050405020304" pitchFamily="18" charset="0"/>
                        </a:rPr>
                        <a:t>10.55</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extLst>
                  <a:ext uri="{0D108BD9-81ED-4DB2-BD59-A6C34878D82A}">
                    <a16:rowId xmlns:a16="http://schemas.microsoft.com/office/drawing/2014/main" val="3817525077"/>
                  </a:ext>
                </a:extLst>
              </a:tr>
              <a:tr h="192929">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l"/>
                      <a:r>
                        <a:rPr lang="en-US" sz="1400" b="1" kern="0">
                          <a:effectLst/>
                          <a:latin typeface="Times New Roman" panose="02020603050405020304" pitchFamily="18" charset="0"/>
                          <a:cs typeface="Times New Roman" panose="02020603050405020304" pitchFamily="18" charset="0"/>
                        </a:rPr>
                        <a:t>2000</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100280.1</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39897.9</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39.8</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7942</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126743</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6280</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r>
                        <a:rPr lang="en-US" sz="1400" b="1" kern="0">
                          <a:effectLst/>
                          <a:latin typeface="Times New Roman" panose="02020603050405020304" pitchFamily="18" charset="0"/>
                          <a:cs typeface="Times New Roman" panose="02020603050405020304" pitchFamily="18" charset="0"/>
                        </a:rPr>
                        <a:t>7.58</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extLst>
                  <a:ext uri="{0D108BD9-81ED-4DB2-BD59-A6C34878D82A}">
                    <a16:rowId xmlns:a16="http://schemas.microsoft.com/office/drawing/2014/main" val="2378740582"/>
                  </a:ext>
                </a:extLst>
              </a:tr>
              <a:tr h="192929">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l"/>
                      <a:r>
                        <a:rPr lang="en-US" sz="1400" b="1" kern="0">
                          <a:effectLst/>
                          <a:latin typeface="Times New Roman" panose="02020603050405020304" pitchFamily="18" charset="0"/>
                          <a:cs typeface="Times New Roman" panose="02020603050405020304" pitchFamily="18" charset="0"/>
                        </a:rPr>
                        <a:t>2001</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110863.1</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45700.0</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41.2</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8717</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127627</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6859.6</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r>
                        <a:rPr lang="en-US" sz="1400" b="1" kern="0">
                          <a:effectLst/>
                          <a:latin typeface="Times New Roman" panose="02020603050405020304" pitchFamily="18" charset="0"/>
                          <a:cs typeface="Times New Roman" panose="02020603050405020304" pitchFamily="18" charset="0"/>
                        </a:rPr>
                        <a:t>6.95</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extLst>
                  <a:ext uri="{0D108BD9-81ED-4DB2-BD59-A6C34878D82A}">
                    <a16:rowId xmlns:a16="http://schemas.microsoft.com/office/drawing/2014/main" val="2109192416"/>
                  </a:ext>
                </a:extLst>
              </a:tr>
              <a:tr h="192929">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l"/>
                      <a:r>
                        <a:rPr lang="en-US" sz="1400" b="1" kern="0">
                          <a:effectLst/>
                          <a:latin typeface="Times New Roman" panose="02020603050405020304" pitchFamily="18" charset="0"/>
                          <a:cs typeface="Times New Roman" panose="02020603050405020304" pitchFamily="18" charset="0"/>
                        </a:rPr>
                        <a:t>2002</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121717.4</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51421.7</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42.2</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9506</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128453</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7702.8</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r>
                        <a:rPr lang="en-US" sz="1400" b="1" kern="0">
                          <a:effectLst/>
                          <a:latin typeface="Times New Roman" panose="02020603050405020304" pitchFamily="18" charset="0"/>
                          <a:cs typeface="Times New Roman" panose="02020603050405020304" pitchFamily="18" charset="0"/>
                        </a:rPr>
                        <a:t>6.45</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extLst>
                  <a:ext uri="{0D108BD9-81ED-4DB2-BD59-A6C34878D82A}">
                    <a16:rowId xmlns:a16="http://schemas.microsoft.com/office/drawing/2014/main" val="95841063"/>
                  </a:ext>
                </a:extLst>
              </a:tr>
              <a:tr h="192929">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l"/>
                      <a:r>
                        <a:rPr lang="en-US" sz="1400" b="1" kern="0">
                          <a:effectLst/>
                          <a:latin typeface="Times New Roman" panose="02020603050405020304" pitchFamily="18" charset="0"/>
                          <a:cs typeface="Times New Roman" panose="02020603050405020304" pitchFamily="18" charset="0"/>
                        </a:rPr>
                        <a:t>2003</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dirty="0">
                          <a:effectLst/>
                          <a:latin typeface="Times New Roman" panose="02020603050405020304" pitchFamily="18" charset="0"/>
                          <a:cs typeface="Times New Roman" panose="02020603050405020304" pitchFamily="18" charset="0"/>
                        </a:rPr>
                        <a:t>137422.0</a:t>
                      </a:r>
                      <a:endParaRPr lang="zh-CN" sz="1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57754.4</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42.0</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10666</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129227</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8472.2</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r>
                        <a:rPr lang="en-US" sz="1400" b="1" kern="0">
                          <a:effectLst/>
                          <a:latin typeface="Times New Roman" panose="02020603050405020304" pitchFamily="18" charset="0"/>
                          <a:cs typeface="Times New Roman" panose="02020603050405020304" pitchFamily="18" charset="0"/>
                        </a:rPr>
                        <a:t>6.01</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extLst>
                  <a:ext uri="{0D108BD9-81ED-4DB2-BD59-A6C34878D82A}">
                    <a16:rowId xmlns:a16="http://schemas.microsoft.com/office/drawing/2014/main" val="3898126635"/>
                  </a:ext>
                </a:extLst>
              </a:tr>
              <a:tr h="192929">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l"/>
                      <a:r>
                        <a:rPr lang="en-US" sz="1400" b="1" kern="0">
                          <a:effectLst/>
                          <a:latin typeface="Times New Roman" panose="02020603050405020304" pitchFamily="18" charset="0"/>
                          <a:cs typeface="Times New Roman" panose="02020603050405020304" pitchFamily="18" charset="0"/>
                        </a:rPr>
                        <a:t>2004</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161840.2</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66648.9</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41.2</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12487</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129988</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9421.6</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r>
                        <a:rPr lang="en-US" sz="1400" b="1" kern="0">
                          <a:effectLst/>
                          <a:latin typeface="Times New Roman" panose="02020603050405020304" pitchFamily="18" charset="0"/>
                          <a:cs typeface="Times New Roman" panose="02020603050405020304" pitchFamily="18" charset="0"/>
                        </a:rPr>
                        <a:t>5.87</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extLst>
                  <a:ext uri="{0D108BD9-81ED-4DB2-BD59-A6C34878D82A}">
                    <a16:rowId xmlns:a16="http://schemas.microsoft.com/office/drawing/2014/main" val="3721512711"/>
                  </a:ext>
                </a:extLst>
              </a:tr>
              <a:tr h="192929">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l"/>
                      <a:r>
                        <a:rPr lang="en-US" sz="1400" b="1" kern="0">
                          <a:effectLst/>
                          <a:latin typeface="Times New Roman" panose="02020603050405020304" pitchFamily="18" charset="0"/>
                          <a:cs typeface="Times New Roman" panose="02020603050405020304" pitchFamily="18" charset="0"/>
                        </a:rPr>
                        <a:t>2005</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187318.9</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77427.8</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41.3</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14368</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130756</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10493</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r>
                        <a:rPr lang="en-US" sz="1400" b="1" kern="0">
                          <a:effectLst/>
                          <a:latin typeface="Times New Roman" panose="02020603050405020304" pitchFamily="18" charset="0"/>
                          <a:cs typeface="Times New Roman" panose="02020603050405020304" pitchFamily="18" charset="0"/>
                        </a:rPr>
                        <a:t>5.89</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extLst>
                  <a:ext uri="{0D108BD9-81ED-4DB2-BD59-A6C34878D82A}">
                    <a16:rowId xmlns:a16="http://schemas.microsoft.com/office/drawing/2014/main" val="1205920674"/>
                  </a:ext>
                </a:extLst>
              </a:tr>
              <a:tr h="192929">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l"/>
                      <a:r>
                        <a:rPr lang="en-US" sz="1400" b="1" kern="0">
                          <a:effectLst/>
                          <a:latin typeface="Times New Roman" panose="02020603050405020304" pitchFamily="18" charset="0"/>
                          <a:cs typeface="Times New Roman" panose="02020603050405020304" pitchFamily="18" charset="0"/>
                        </a:rPr>
                        <a:t>2006</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219438.5</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91762.6</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41.8</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16738</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131448</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11759.5</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r>
                        <a:rPr lang="en-US" sz="1400" b="1" kern="0">
                          <a:effectLst/>
                          <a:latin typeface="Times New Roman" panose="02020603050405020304" pitchFamily="18" charset="0"/>
                          <a:cs typeface="Times New Roman" panose="02020603050405020304" pitchFamily="18" charset="0"/>
                        </a:rPr>
                        <a:t>5.28</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extLst>
                  <a:ext uri="{0D108BD9-81ED-4DB2-BD59-A6C34878D82A}">
                    <a16:rowId xmlns:a16="http://schemas.microsoft.com/office/drawing/2014/main" val="2405121664"/>
                  </a:ext>
                </a:extLst>
              </a:tr>
              <a:tr h="192929">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l"/>
                      <a:r>
                        <a:rPr lang="en-US" sz="1400" b="1" kern="0">
                          <a:effectLst/>
                          <a:latin typeface="Times New Roman" panose="02020603050405020304" pitchFamily="18" charset="0"/>
                          <a:cs typeface="Times New Roman" panose="02020603050405020304" pitchFamily="18" charset="0"/>
                        </a:rPr>
                        <a:t>2007</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270232.3</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dirty="0">
                          <a:effectLst/>
                          <a:latin typeface="Times New Roman" panose="02020603050405020304" pitchFamily="18" charset="0"/>
                          <a:cs typeface="Times New Roman" panose="02020603050405020304" pitchFamily="18" charset="0"/>
                        </a:rPr>
                        <a:t>115787.7</a:t>
                      </a:r>
                      <a:endParaRPr lang="zh-CN" sz="1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42.9</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20505</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132129</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13785.8</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r>
                        <a:rPr lang="en-US" sz="1400" b="1" kern="0">
                          <a:effectLst/>
                          <a:latin typeface="Times New Roman" panose="02020603050405020304" pitchFamily="18" charset="0"/>
                          <a:cs typeface="Times New Roman" panose="02020603050405020304" pitchFamily="18" charset="0"/>
                        </a:rPr>
                        <a:t>5.17</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extLst>
                  <a:ext uri="{0D108BD9-81ED-4DB2-BD59-A6C34878D82A}">
                    <a16:rowId xmlns:a16="http://schemas.microsoft.com/office/drawing/2014/main" val="256136005"/>
                  </a:ext>
                </a:extLst>
              </a:tr>
              <a:tr h="192929">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l"/>
                      <a:r>
                        <a:rPr lang="en-US" sz="1400" b="1" kern="0">
                          <a:effectLst/>
                          <a:latin typeface="Times New Roman" panose="02020603050405020304" pitchFamily="18" charset="0"/>
                          <a:cs typeface="Times New Roman" panose="02020603050405020304" pitchFamily="18" charset="0"/>
                        </a:rPr>
                        <a:t>2008</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319515.5</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136827.5</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42.9</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24121</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132802</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15780.8</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r>
                        <a:rPr lang="en-US" sz="1400" b="1" kern="0">
                          <a:effectLst/>
                          <a:latin typeface="Times New Roman" panose="02020603050405020304" pitchFamily="18" charset="0"/>
                          <a:cs typeface="Times New Roman" panose="02020603050405020304" pitchFamily="18" charset="0"/>
                        </a:rPr>
                        <a:t>5.08</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extLst>
                  <a:ext uri="{0D108BD9-81ED-4DB2-BD59-A6C34878D82A}">
                    <a16:rowId xmlns:a16="http://schemas.microsoft.com/office/drawing/2014/main" val="3153408940"/>
                  </a:ext>
                </a:extLst>
              </a:tr>
              <a:tr h="192929">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l"/>
                      <a:r>
                        <a:rPr lang="en-US" sz="1400" b="1" kern="0">
                          <a:effectLst/>
                          <a:latin typeface="Times New Roman" panose="02020603050405020304" pitchFamily="18" charset="0"/>
                          <a:cs typeface="Times New Roman" panose="02020603050405020304" pitchFamily="18" charset="0"/>
                        </a:rPr>
                        <a:t>2009</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349081.4</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154765.1</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44.4</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26222</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133450</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17174.7</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r>
                        <a:rPr lang="en-US" sz="1400" b="1" kern="0">
                          <a:effectLst/>
                          <a:latin typeface="Times New Roman" panose="02020603050405020304" pitchFamily="18" charset="0"/>
                          <a:cs typeface="Times New Roman" panose="02020603050405020304" pitchFamily="18" charset="0"/>
                        </a:rPr>
                        <a:t>4.87</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extLst>
                  <a:ext uri="{0D108BD9-81ED-4DB2-BD59-A6C34878D82A}">
                    <a16:rowId xmlns:a16="http://schemas.microsoft.com/office/drawing/2014/main" val="1719016688"/>
                  </a:ext>
                </a:extLst>
              </a:tr>
              <a:tr h="192929">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l"/>
                      <a:r>
                        <a:rPr lang="en-US" sz="1400" b="1" kern="0">
                          <a:effectLst/>
                          <a:latin typeface="Times New Roman" panose="02020603050405020304" pitchFamily="18" charset="0"/>
                          <a:cs typeface="Times New Roman" panose="02020603050405020304" pitchFamily="18" charset="0"/>
                        </a:rPr>
                        <a:t>2010</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412119.3</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182061.9</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dirty="0">
                          <a:effectLst/>
                          <a:latin typeface="Times New Roman" panose="02020603050405020304" pitchFamily="18" charset="0"/>
                          <a:cs typeface="Times New Roman" panose="02020603050405020304" pitchFamily="18" charset="0"/>
                        </a:rPr>
                        <a:t>44.2</a:t>
                      </a:r>
                      <a:endParaRPr lang="zh-CN" sz="1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30876</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134091</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19109.4</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r>
                        <a:rPr lang="en-US" sz="1400" b="1" kern="0">
                          <a:effectLst/>
                          <a:latin typeface="Times New Roman" panose="02020603050405020304" pitchFamily="18" charset="0"/>
                          <a:cs typeface="Times New Roman" panose="02020603050405020304" pitchFamily="18" charset="0"/>
                        </a:rPr>
                        <a:t>4.79</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extLst>
                  <a:ext uri="{0D108BD9-81ED-4DB2-BD59-A6C34878D82A}">
                    <a16:rowId xmlns:a16="http://schemas.microsoft.com/office/drawing/2014/main" val="971126998"/>
                  </a:ext>
                </a:extLst>
              </a:tr>
              <a:tr h="192929">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l"/>
                      <a:r>
                        <a:rPr lang="en-US" sz="1400" b="1" kern="0">
                          <a:effectLst/>
                          <a:latin typeface="Times New Roman" panose="02020603050405020304" pitchFamily="18" charset="0"/>
                          <a:cs typeface="Times New Roman" panose="02020603050405020304" pitchFamily="18" charset="0"/>
                        </a:rPr>
                        <a:t>2011</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487940.2</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216123.6</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44.3</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36403</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134916</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21809.8</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r>
                        <a:rPr lang="en-US" sz="1400" b="1" kern="0">
                          <a:effectLst/>
                          <a:latin typeface="Times New Roman" panose="02020603050405020304" pitchFamily="18" charset="0"/>
                          <a:cs typeface="Times New Roman" panose="02020603050405020304" pitchFamily="18" charset="0"/>
                        </a:rPr>
                        <a:t>6.13</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extLst>
                  <a:ext uri="{0D108BD9-81ED-4DB2-BD59-A6C34878D82A}">
                    <a16:rowId xmlns:a16="http://schemas.microsoft.com/office/drawing/2014/main" val="46940950"/>
                  </a:ext>
                </a:extLst>
              </a:tr>
              <a:tr h="192929">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l"/>
                      <a:r>
                        <a:rPr lang="en-US" sz="1400" b="1" kern="0">
                          <a:effectLst/>
                          <a:latin typeface="Times New Roman" panose="02020603050405020304" pitchFamily="18" charset="0"/>
                          <a:cs typeface="Times New Roman" panose="02020603050405020304" pitchFamily="18" charset="0"/>
                        </a:rPr>
                        <a:t>2012</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538580.0</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244856.2</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dirty="0">
                          <a:effectLst/>
                          <a:latin typeface="Times New Roman" panose="02020603050405020304" pitchFamily="18" charset="0"/>
                          <a:cs typeface="Times New Roman" panose="02020603050405020304" pitchFamily="18" charset="0"/>
                        </a:rPr>
                        <a:t>45.5</a:t>
                      </a:r>
                      <a:endParaRPr lang="zh-CN" sz="1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40007</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135922</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24564.7</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r>
                        <a:rPr lang="en-US" sz="1400" b="1" kern="0">
                          <a:effectLst/>
                          <a:latin typeface="Times New Roman" panose="02020603050405020304" pitchFamily="18" charset="0"/>
                          <a:cs typeface="Times New Roman" panose="02020603050405020304" pitchFamily="18" charset="0"/>
                        </a:rPr>
                        <a:t>7.43</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extLst>
                  <a:ext uri="{0D108BD9-81ED-4DB2-BD59-A6C34878D82A}">
                    <a16:rowId xmlns:a16="http://schemas.microsoft.com/office/drawing/2014/main" val="4233380519"/>
                  </a:ext>
                </a:extLst>
              </a:tr>
              <a:tr h="192929">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l"/>
                      <a:r>
                        <a:rPr lang="en-US" sz="1400" b="1" kern="0">
                          <a:effectLst/>
                          <a:latin typeface="Times New Roman" panose="02020603050405020304" pitchFamily="18" charset="0"/>
                          <a:cs typeface="Times New Roman" panose="02020603050405020304" pitchFamily="18" charset="0"/>
                        </a:rPr>
                        <a:t>2013</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592963.2</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277983.5</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46.9</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43852</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136726</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26955.1</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r>
                        <a:rPr lang="en-US" sz="1400" b="1" kern="0">
                          <a:effectLst/>
                          <a:latin typeface="Times New Roman" panose="02020603050405020304" pitchFamily="18" charset="0"/>
                          <a:cs typeface="Times New Roman" panose="02020603050405020304" pitchFamily="18" charset="0"/>
                        </a:rPr>
                        <a:t>4.92</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extLst>
                  <a:ext uri="{0D108BD9-81ED-4DB2-BD59-A6C34878D82A}">
                    <a16:rowId xmlns:a16="http://schemas.microsoft.com/office/drawing/2014/main" val="2203798425"/>
                  </a:ext>
                </a:extLst>
              </a:tr>
              <a:tr h="192929">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l"/>
                      <a:r>
                        <a:rPr lang="en-US" sz="1400" b="1" kern="0">
                          <a:effectLst/>
                          <a:latin typeface="Times New Roman" panose="02020603050405020304" pitchFamily="18" charset="0"/>
                          <a:cs typeface="Times New Roman" panose="02020603050405020304" pitchFamily="18" charset="0"/>
                        </a:rPr>
                        <a:t>2014</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643563.1</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310654.0</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48.3</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dirty="0">
                          <a:effectLst/>
                          <a:latin typeface="Times New Roman" panose="02020603050405020304" pitchFamily="18" charset="0"/>
                          <a:cs typeface="Times New Roman" panose="02020603050405020304" pitchFamily="18" charset="0"/>
                        </a:rPr>
                        <a:t>47203</a:t>
                      </a:r>
                      <a:endParaRPr lang="zh-CN" sz="1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137646</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29381.0</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r>
                        <a:rPr lang="en-US" sz="1400" b="1" kern="0">
                          <a:effectLst/>
                          <a:latin typeface="Times New Roman" panose="02020603050405020304" pitchFamily="18" charset="0"/>
                          <a:cs typeface="Times New Roman" panose="02020603050405020304" pitchFamily="18" charset="0"/>
                        </a:rPr>
                        <a:t>5.90</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extLst>
                  <a:ext uri="{0D108BD9-81ED-4DB2-BD59-A6C34878D82A}">
                    <a16:rowId xmlns:a16="http://schemas.microsoft.com/office/drawing/2014/main" val="3009504832"/>
                  </a:ext>
                </a:extLst>
              </a:tr>
              <a:tr h="192929">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l"/>
                      <a:r>
                        <a:rPr lang="en-US" sz="1400" b="1" kern="0">
                          <a:effectLst/>
                          <a:latin typeface="Times New Roman" panose="02020603050405020304" pitchFamily="18" charset="0"/>
                          <a:cs typeface="Times New Roman" panose="02020603050405020304" pitchFamily="18" charset="0"/>
                        </a:rPr>
                        <a:t>2015</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688858.2</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349744.7</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50.8</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dirty="0">
                          <a:effectLst/>
                          <a:latin typeface="Times New Roman" panose="02020603050405020304" pitchFamily="18" charset="0"/>
                          <a:cs typeface="Times New Roman" panose="02020603050405020304" pitchFamily="18" charset="0"/>
                        </a:rPr>
                        <a:t>49992</a:t>
                      </a:r>
                      <a:endParaRPr lang="zh-CN" sz="1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138326</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31790.3</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r>
                        <a:rPr lang="en-US" sz="1400" b="1" kern="0">
                          <a:effectLst/>
                          <a:latin typeface="Times New Roman" panose="02020603050405020304" pitchFamily="18" charset="0"/>
                          <a:cs typeface="Times New Roman" panose="02020603050405020304" pitchFamily="18" charset="0"/>
                        </a:rPr>
                        <a:t>4.93</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extLst>
                  <a:ext uri="{0D108BD9-81ED-4DB2-BD59-A6C34878D82A}">
                    <a16:rowId xmlns:a16="http://schemas.microsoft.com/office/drawing/2014/main" val="3603132590"/>
                  </a:ext>
                </a:extLst>
              </a:tr>
              <a:tr h="192929">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l"/>
                      <a:r>
                        <a:rPr lang="en-US" sz="1400" b="1" kern="0">
                          <a:effectLst/>
                          <a:latin typeface="Times New Roman" panose="02020603050405020304" pitchFamily="18" charset="0"/>
                          <a:cs typeface="Times New Roman" panose="02020603050405020304" pitchFamily="18" charset="0"/>
                        </a:rPr>
                        <a:t>2016</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746395.1</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390828.1</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52.4</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53783</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dirty="0">
                          <a:effectLst/>
                          <a:latin typeface="Times New Roman" panose="02020603050405020304" pitchFamily="18" charset="0"/>
                          <a:cs typeface="Times New Roman" panose="02020603050405020304" pitchFamily="18" charset="0"/>
                        </a:rPr>
                        <a:t>139232</a:t>
                      </a:r>
                      <a:endParaRPr lang="zh-CN" sz="1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31194.5</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r>
                        <a:rPr lang="en-US" sz="1400" b="1" kern="0">
                          <a:effectLst/>
                          <a:latin typeface="Times New Roman" panose="02020603050405020304" pitchFamily="18" charset="0"/>
                          <a:cs typeface="Times New Roman" panose="02020603050405020304" pitchFamily="18" charset="0"/>
                        </a:rPr>
                        <a:t>6.53</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extLst>
                  <a:ext uri="{0D108BD9-81ED-4DB2-BD59-A6C34878D82A}">
                    <a16:rowId xmlns:a16="http://schemas.microsoft.com/office/drawing/2014/main" val="531885688"/>
                  </a:ext>
                </a:extLst>
              </a:tr>
              <a:tr h="192929">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l"/>
                      <a:r>
                        <a:rPr lang="en-US" sz="1400" b="1" kern="0">
                          <a:effectLst/>
                          <a:latin typeface="Times New Roman" panose="02020603050405020304" pitchFamily="18" charset="0"/>
                          <a:cs typeface="Times New Roman" panose="02020603050405020304" pitchFamily="18" charset="0"/>
                        </a:rPr>
                        <a:t>2017</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832035.9</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438365.9</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52.7</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59592</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dirty="0">
                          <a:effectLst/>
                          <a:latin typeface="Times New Roman" panose="02020603050405020304" pitchFamily="18" charset="0"/>
                          <a:cs typeface="Times New Roman" panose="02020603050405020304" pitchFamily="18" charset="0"/>
                        </a:rPr>
                        <a:t>140011</a:t>
                      </a:r>
                      <a:endParaRPr lang="zh-CN" sz="1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36396.2</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r>
                        <a:rPr lang="en-US" sz="1400" b="1" kern="0">
                          <a:effectLst/>
                          <a:latin typeface="Times New Roman" panose="02020603050405020304" pitchFamily="18" charset="0"/>
                          <a:cs typeface="Times New Roman" panose="02020603050405020304" pitchFamily="18" charset="0"/>
                        </a:rPr>
                        <a:t>5.58</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extLst>
                  <a:ext uri="{0D108BD9-81ED-4DB2-BD59-A6C34878D82A}">
                    <a16:rowId xmlns:a16="http://schemas.microsoft.com/office/drawing/2014/main" val="3053439847"/>
                  </a:ext>
                </a:extLst>
              </a:tr>
              <a:tr h="192929">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l"/>
                      <a:r>
                        <a:rPr lang="en-US" sz="1400" b="1" kern="0">
                          <a:effectLst/>
                          <a:latin typeface="Times New Roman" panose="02020603050405020304" pitchFamily="18" charset="0"/>
                          <a:cs typeface="Times New Roman" panose="02020603050405020304" pitchFamily="18" charset="0"/>
                        </a:rPr>
                        <a:t>2018</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919281.1</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489700.8</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53.3</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65534</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140641</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dirty="0">
                          <a:effectLst/>
                          <a:latin typeface="Times New Roman" panose="02020603050405020304" pitchFamily="18" charset="0"/>
                          <a:cs typeface="Times New Roman" panose="02020603050405020304" pitchFamily="18" charset="0"/>
                        </a:rPr>
                        <a:t>39250.8</a:t>
                      </a:r>
                      <a:endParaRPr lang="zh-CN" sz="1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r>
                        <a:rPr lang="en-US" sz="1400" b="1" kern="0">
                          <a:effectLst/>
                          <a:latin typeface="Times New Roman" panose="02020603050405020304" pitchFamily="18" charset="0"/>
                          <a:cs typeface="Times New Roman" panose="02020603050405020304" pitchFamily="18" charset="0"/>
                        </a:rPr>
                        <a:t>3.79</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extLst>
                  <a:ext uri="{0D108BD9-81ED-4DB2-BD59-A6C34878D82A}">
                    <a16:rowId xmlns:a16="http://schemas.microsoft.com/office/drawing/2014/main" val="3953158168"/>
                  </a:ext>
                </a:extLst>
              </a:tr>
              <a:tr h="192929">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l"/>
                      <a:r>
                        <a:rPr lang="en-US" sz="1400" b="1" kern="0">
                          <a:effectLst/>
                          <a:latin typeface="Times New Roman" panose="02020603050405020304" pitchFamily="18" charset="0"/>
                          <a:cs typeface="Times New Roman" panose="02020603050405020304" pitchFamily="18" charset="0"/>
                        </a:rPr>
                        <a:t>2019</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986515.2</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535371.0</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54.3</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70078</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141008</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dirty="0">
                          <a:effectLst/>
                          <a:latin typeface="Times New Roman" panose="02020603050405020304" pitchFamily="18" charset="0"/>
                          <a:cs typeface="Times New Roman" panose="02020603050405020304" pitchFamily="18" charset="0"/>
                        </a:rPr>
                        <a:t>42358.8</a:t>
                      </a:r>
                      <a:endParaRPr lang="zh-CN" sz="1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r>
                        <a:rPr lang="en-US" sz="1400" b="1" kern="0">
                          <a:effectLst/>
                          <a:latin typeface="Times New Roman" panose="02020603050405020304" pitchFamily="18" charset="0"/>
                          <a:cs typeface="Times New Roman" panose="02020603050405020304" pitchFamily="18" charset="0"/>
                        </a:rPr>
                        <a:t>3.32</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extLst>
                  <a:ext uri="{0D108BD9-81ED-4DB2-BD59-A6C34878D82A}">
                    <a16:rowId xmlns:a16="http://schemas.microsoft.com/office/drawing/2014/main" val="182447939"/>
                  </a:ext>
                </a:extLst>
              </a:tr>
              <a:tr h="192929">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l"/>
                      <a:r>
                        <a:rPr lang="en-US" sz="1400" b="1" kern="0">
                          <a:effectLst/>
                          <a:latin typeface="Times New Roman" panose="02020603050405020304" pitchFamily="18" charset="0"/>
                          <a:cs typeface="Times New Roman" panose="02020603050405020304" pitchFamily="18" charset="0"/>
                        </a:rPr>
                        <a:t>2020</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1013567.0</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551973.7</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54.5</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71828</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141212</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43833.8</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r>
                        <a:rPr lang="en-US" sz="1400" b="1" kern="0" dirty="0">
                          <a:effectLst/>
                          <a:latin typeface="Times New Roman" panose="02020603050405020304" pitchFamily="18" charset="0"/>
                          <a:cs typeface="Times New Roman" panose="02020603050405020304" pitchFamily="18" charset="0"/>
                        </a:rPr>
                        <a:t>1.45</a:t>
                      </a:r>
                      <a:endParaRPr lang="zh-CN" sz="1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extLst>
                  <a:ext uri="{0D108BD9-81ED-4DB2-BD59-A6C34878D82A}">
                    <a16:rowId xmlns:a16="http://schemas.microsoft.com/office/drawing/2014/main" val="3431612028"/>
                  </a:ext>
                </a:extLst>
              </a:tr>
              <a:tr h="192929">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l"/>
                      <a:r>
                        <a:rPr lang="en-US" sz="1400" b="1" kern="0">
                          <a:effectLst/>
                          <a:latin typeface="Times New Roman" panose="02020603050405020304" pitchFamily="18" charset="0"/>
                          <a:cs typeface="Times New Roman" panose="02020603050405020304" pitchFamily="18" charset="0"/>
                        </a:rPr>
                        <a:t>2021</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1143669.7</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609579.7</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53.3</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80976</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141260</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47411.9</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r>
                        <a:rPr lang="en-US" sz="1400" b="1" kern="0" dirty="0">
                          <a:effectLst/>
                          <a:latin typeface="Times New Roman" panose="02020603050405020304" pitchFamily="18" charset="0"/>
                          <a:cs typeface="Times New Roman" panose="02020603050405020304" pitchFamily="18" charset="0"/>
                        </a:rPr>
                        <a:t>0.34</a:t>
                      </a:r>
                      <a:endParaRPr lang="zh-CN" sz="1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extLst>
                  <a:ext uri="{0D108BD9-81ED-4DB2-BD59-A6C34878D82A}">
                    <a16:rowId xmlns:a16="http://schemas.microsoft.com/office/drawing/2014/main" val="2863293654"/>
                  </a:ext>
                </a:extLst>
              </a:tr>
              <a:tr h="192929">
                <a:tc>
                  <a:txBody>
                    <a:bodyPr/>
                    <a:lstStyle>
                      <a:lvl1pPr marL="0" algn="l" defTabSz="914400" rtl="0" eaLnBrk="1" latinLnBrk="0" hangingPunct="1">
                        <a:defRPr sz="1800" b="1" kern="1200">
                          <a:solidFill>
                            <a:schemeClr val="lt1"/>
                          </a:solidFill>
                          <a:latin typeface="等线" panose="020F0502020204030204"/>
                        </a:defRPr>
                      </a:lvl1pPr>
                      <a:lvl2pPr marL="457200" algn="l" defTabSz="914400" rtl="0" eaLnBrk="1" latinLnBrk="0" hangingPunct="1">
                        <a:defRPr sz="1800" b="1" kern="1200">
                          <a:solidFill>
                            <a:schemeClr val="lt1"/>
                          </a:solidFill>
                          <a:latin typeface="等线" panose="020F0502020204030204"/>
                        </a:defRPr>
                      </a:lvl2pPr>
                      <a:lvl3pPr marL="914400" algn="l" defTabSz="914400" rtl="0" eaLnBrk="1" latinLnBrk="0" hangingPunct="1">
                        <a:defRPr sz="1800" b="1" kern="1200">
                          <a:solidFill>
                            <a:schemeClr val="lt1"/>
                          </a:solidFill>
                          <a:latin typeface="等线" panose="020F0502020204030204"/>
                        </a:defRPr>
                      </a:lvl3pPr>
                      <a:lvl4pPr marL="1371600" algn="l" defTabSz="914400" rtl="0" eaLnBrk="1" latinLnBrk="0" hangingPunct="1">
                        <a:defRPr sz="1800" b="1" kern="1200">
                          <a:solidFill>
                            <a:schemeClr val="lt1"/>
                          </a:solidFill>
                          <a:latin typeface="等线" panose="020F0502020204030204"/>
                        </a:defRPr>
                      </a:lvl4pPr>
                      <a:lvl5pPr marL="1828800" algn="l" defTabSz="914400" rtl="0" eaLnBrk="1" latinLnBrk="0" hangingPunct="1">
                        <a:defRPr sz="1800" b="1" kern="1200">
                          <a:solidFill>
                            <a:schemeClr val="lt1"/>
                          </a:solidFill>
                          <a:latin typeface="等线" panose="020F0502020204030204"/>
                        </a:defRPr>
                      </a:lvl5pPr>
                      <a:lvl6pPr marL="2286000" algn="l" defTabSz="914400" rtl="0" eaLnBrk="1" latinLnBrk="0" hangingPunct="1">
                        <a:defRPr sz="1800" b="1" kern="1200">
                          <a:solidFill>
                            <a:schemeClr val="lt1"/>
                          </a:solidFill>
                          <a:latin typeface="等线" panose="020F0502020204030204"/>
                        </a:defRPr>
                      </a:lvl6pPr>
                      <a:lvl7pPr marL="2743200" algn="l" defTabSz="914400" rtl="0" eaLnBrk="1" latinLnBrk="0" hangingPunct="1">
                        <a:defRPr sz="1800" b="1" kern="1200">
                          <a:solidFill>
                            <a:schemeClr val="lt1"/>
                          </a:solidFill>
                          <a:latin typeface="等线" panose="020F0502020204030204"/>
                        </a:defRPr>
                      </a:lvl7pPr>
                      <a:lvl8pPr marL="3200400" algn="l" defTabSz="914400" rtl="0" eaLnBrk="1" latinLnBrk="0" hangingPunct="1">
                        <a:defRPr sz="1800" b="1" kern="1200">
                          <a:solidFill>
                            <a:schemeClr val="lt1"/>
                          </a:solidFill>
                          <a:latin typeface="等线" panose="020F0502020204030204"/>
                        </a:defRPr>
                      </a:lvl8pPr>
                      <a:lvl9pPr marL="3657600" algn="l" defTabSz="914400" rtl="0" eaLnBrk="1" latinLnBrk="0" hangingPunct="1">
                        <a:defRPr sz="1800" b="1" kern="1200">
                          <a:solidFill>
                            <a:schemeClr val="lt1"/>
                          </a:solidFill>
                          <a:latin typeface="等线" panose="020F0502020204030204"/>
                        </a:defRPr>
                      </a:lvl9pPr>
                    </a:lstStyle>
                    <a:p>
                      <a:pPr algn="l"/>
                      <a:r>
                        <a:rPr lang="en-US" sz="1400" b="1" kern="0">
                          <a:effectLst/>
                          <a:latin typeface="Times New Roman" panose="02020603050405020304" pitchFamily="18" charset="0"/>
                          <a:cs typeface="Times New Roman" panose="02020603050405020304" pitchFamily="18" charset="0"/>
                        </a:rPr>
                        <a:t>2022</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1210207.0</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638698.0</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52.8</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85698.0</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141175</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r"/>
                      <a:r>
                        <a:rPr lang="en-US" sz="1400" b="1" kern="0">
                          <a:effectLst/>
                          <a:latin typeface="Times New Roman" panose="02020603050405020304" pitchFamily="18" charset="0"/>
                          <a:cs typeface="Times New Roman" panose="02020603050405020304" pitchFamily="18" charset="0"/>
                        </a:rPr>
                        <a:t>49283.0</a:t>
                      </a:r>
                      <a:endParaRPr lang="zh-CN" sz="14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等线" panose="020F0502020204030204"/>
                        </a:defRPr>
                      </a:lvl1pPr>
                      <a:lvl2pPr marL="457200" algn="l" defTabSz="914400" rtl="0" eaLnBrk="1" latinLnBrk="0" hangingPunct="1">
                        <a:defRPr sz="1800" kern="1200">
                          <a:solidFill>
                            <a:schemeClr val="dk1"/>
                          </a:solidFill>
                          <a:latin typeface="等线" panose="020F0502020204030204"/>
                        </a:defRPr>
                      </a:lvl2pPr>
                      <a:lvl3pPr marL="914400" algn="l" defTabSz="914400" rtl="0" eaLnBrk="1" latinLnBrk="0" hangingPunct="1">
                        <a:defRPr sz="1800" kern="1200">
                          <a:solidFill>
                            <a:schemeClr val="dk1"/>
                          </a:solidFill>
                          <a:latin typeface="等线" panose="020F0502020204030204"/>
                        </a:defRPr>
                      </a:lvl3pPr>
                      <a:lvl4pPr marL="1371600" algn="l" defTabSz="914400" rtl="0" eaLnBrk="1" latinLnBrk="0" hangingPunct="1">
                        <a:defRPr sz="1800" kern="1200">
                          <a:solidFill>
                            <a:schemeClr val="dk1"/>
                          </a:solidFill>
                          <a:latin typeface="等线" panose="020F0502020204030204"/>
                        </a:defRPr>
                      </a:lvl4pPr>
                      <a:lvl5pPr marL="1828800" algn="l" defTabSz="914400" rtl="0" eaLnBrk="1" latinLnBrk="0" hangingPunct="1">
                        <a:defRPr sz="1800" kern="1200">
                          <a:solidFill>
                            <a:schemeClr val="dk1"/>
                          </a:solidFill>
                          <a:latin typeface="等线" panose="020F0502020204030204"/>
                        </a:defRPr>
                      </a:lvl5pPr>
                      <a:lvl6pPr marL="2286000" algn="l" defTabSz="914400" rtl="0" eaLnBrk="1" latinLnBrk="0" hangingPunct="1">
                        <a:defRPr sz="1800" kern="1200">
                          <a:solidFill>
                            <a:schemeClr val="dk1"/>
                          </a:solidFill>
                          <a:latin typeface="等线" panose="020F0502020204030204"/>
                        </a:defRPr>
                      </a:lvl6pPr>
                      <a:lvl7pPr marL="2743200" algn="l" defTabSz="914400" rtl="0" eaLnBrk="1" latinLnBrk="0" hangingPunct="1">
                        <a:defRPr sz="1800" kern="1200">
                          <a:solidFill>
                            <a:schemeClr val="dk1"/>
                          </a:solidFill>
                          <a:latin typeface="等线" panose="020F0502020204030204"/>
                        </a:defRPr>
                      </a:lvl7pPr>
                      <a:lvl8pPr marL="3200400" algn="l" defTabSz="914400" rtl="0" eaLnBrk="1" latinLnBrk="0" hangingPunct="1">
                        <a:defRPr sz="1800" kern="1200">
                          <a:solidFill>
                            <a:schemeClr val="dk1"/>
                          </a:solidFill>
                          <a:latin typeface="等线" panose="020F0502020204030204"/>
                        </a:defRPr>
                      </a:lvl8pPr>
                      <a:lvl9pPr marL="3657600" algn="l" defTabSz="914400" rtl="0" eaLnBrk="1" latinLnBrk="0" hangingPunct="1">
                        <a:defRPr sz="1800" kern="1200">
                          <a:solidFill>
                            <a:schemeClr val="dk1"/>
                          </a:solidFill>
                          <a:latin typeface="等线" panose="020F0502020204030204"/>
                        </a:defRPr>
                      </a:lvl9pPr>
                    </a:lstStyle>
                    <a:p>
                      <a:pPr algn="ctr"/>
                      <a:r>
                        <a:rPr lang="en-US" sz="1400" b="1" kern="0" dirty="0">
                          <a:effectLst/>
                          <a:latin typeface="Times New Roman" panose="02020603050405020304" pitchFamily="18" charset="0"/>
                          <a:cs typeface="Times New Roman" panose="02020603050405020304" pitchFamily="18" charset="0"/>
                        </a:rPr>
                        <a:t>-0.60</a:t>
                      </a:r>
                      <a:endParaRPr lang="zh-CN" sz="14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4844" marR="6484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extLst>
                  <a:ext uri="{0D108BD9-81ED-4DB2-BD59-A6C34878D82A}">
                    <a16:rowId xmlns:a16="http://schemas.microsoft.com/office/drawing/2014/main" val="4086078624"/>
                  </a:ext>
                </a:extLst>
              </a:tr>
            </a:tbl>
          </a:graphicData>
        </a:graphic>
      </p:graphicFrame>
    </p:spTree>
  </p:cSld>
  <p:clrMapOvr>
    <a:masterClrMapping/>
  </p:clrMapOvr>
  <p:transition>
    <p:wipe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875" name="Rectangle 2"/>
          <p:cNvSpPr>
            <a:spLocks noGrp="1" noChangeArrowheads="1"/>
          </p:cNvSpPr>
          <p:nvPr>
            <p:ph type="title"/>
          </p:nvPr>
        </p:nvSpPr>
        <p:spPr>
          <a:xfrm>
            <a:off x="1187450" y="476250"/>
            <a:ext cx="6781800" cy="1143000"/>
          </a:xfrm>
        </p:spPr>
        <p:txBody>
          <a:bodyPr lIns="90488" tIns="44450" rIns="90488" bIns="44450" anchor="ctr" anchorCtr="1"/>
          <a:lstStyle/>
          <a:p>
            <a:pPr eaLnBrk="1" hangingPunct="1"/>
            <a:r>
              <a:rPr lang="en-US" altLang="zh-CN" sz="4000" dirty="0" smtClean="0"/>
              <a:t>4.1.2 </a:t>
            </a:r>
            <a:r>
              <a:rPr lang="zh-CN" altLang="en-US" sz="4000" dirty="0" smtClean="0"/>
              <a:t>时间序列</a:t>
            </a:r>
            <a:r>
              <a:rPr lang="zh-CN" altLang="en-US" sz="3600" dirty="0" smtClean="0"/>
              <a:t>的种类</a:t>
            </a:r>
          </a:p>
        </p:txBody>
      </p:sp>
      <p:sp>
        <p:nvSpPr>
          <p:cNvPr id="314371" name="Rectangle 3"/>
          <p:cNvSpPr>
            <a:spLocks noGrp="1" noChangeArrowheads="1"/>
          </p:cNvSpPr>
          <p:nvPr>
            <p:ph type="body" idx="1"/>
          </p:nvPr>
        </p:nvSpPr>
        <p:spPr>
          <a:xfrm>
            <a:off x="665162" y="1484784"/>
            <a:ext cx="8478837" cy="4724400"/>
          </a:xfrm>
          <a:noFill/>
        </p:spPr>
        <p:txBody>
          <a:bodyPr lIns="90488" tIns="44450" rIns="90488" bIns="44450"/>
          <a:lstStyle/>
          <a:p>
            <a:pPr marL="0" indent="0" algn="just" eaLnBrk="1" hangingPunct="1">
              <a:lnSpc>
                <a:spcPct val="115000"/>
              </a:lnSpc>
              <a:buNone/>
            </a:pPr>
            <a:r>
              <a:rPr lang="en-US" altLang="zh-CN" dirty="0" smtClean="0">
                <a:solidFill>
                  <a:srgbClr val="0070C0"/>
                </a:solidFill>
                <a:latin typeface="Times New Roman" pitchFamily="18" charset="0"/>
              </a:rPr>
              <a:t>1.</a:t>
            </a:r>
            <a:r>
              <a:rPr lang="zh-CN" altLang="en-US" dirty="0" smtClean="0">
                <a:solidFill>
                  <a:srgbClr val="0070C0"/>
                </a:solidFill>
                <a:latin typeface="Times New Roman" pitchFamily="18" charset="0"/>
              </a:rPr>
              <a:t>绝对数</a:t>
            </a:r>
            <a:r>
              <a:rPr lang="zh-CN" altLang="en-US" dirty="0" smtClean="0">
                <a:solidFill>
                  <a:srgbClr val="0070C0"/>
                </a:solidFill>
                <a:latin typeface="Times New Roman" pitchFamily="18" charset="0"/>
              </a:rPr>
              <a:t>时间数列</a:t>
            </a:r>
          </a:p>
          <a:p>
            <a:pPr marL="719138" lvl="1" indent="-365125" algn="just" defTabSz="719138" eaLnBrk="1" hangingPunct="1">
              <a:lnSpc>
                <a:spcPct val="115000"/>
              </a:lnSpc>
              <a:tabLst>
                <a:tab pos="622300" algn="l"/>
              </a:tabLst>
            </a:pPr>
            <a:r>
              <a:rPr lang="zh-CN" altLang="en-US" sz="3000" dirty="0" smtClean="0">
                <a:latin typeface="Times New Roman" pitchFamily="18" charset="0"/>
              </a:rPr>
              <a:t>一系列绝对数按时间顺序排列而成；</a:t>
            </a:r>
          </a:p>
          <a:p>
            <a:pPr marL="719138" lvl="1" indent="-365125" algn="just" defTabSz="719138" eaLnBrk="1" hangingPunct="1">
              <a:lnSpc>
                <a:spcPct val="115000"/>
              </a:lnSpc>
              <a:tabLst>
                <a:tab pos="622300" algn="l"/>
              </a:tabLst>
            </a:pPr>
            <a:r>
              <a:rPr lang="zh-CN" altLang="en-US" sz="3000" dirty="0" smtClean="0">
                <a:latin typeface="Times New Roman" pitchFamily="18" charset="0"/>
              </a:rPr>
              <a:t>反映现象在不同时间上所达到的绝对水平；</a:t>
            </a:r>
          </a:p>
          <a:p>
            <a:pPr marL="719138" lvl="1" indent="-365125" algn="just" defTabSz="719138" eaLnBrk="1" hangingPunct="1">
              <a:lnSpc>
                <a:spcPct val="115000"/>
              </a:lnSpc>
              <a:tabLst>
                <a:tab pos="622300" algn="l"/>
              </a:tabLst>
            </a:pPr>
            <a:r>
              <a:rPr lang="zh-CN" altLang="en-US" sz="3000" dirty="0" smtClean="0">
                <a:latin typeface="Times New Roman" pitchFamily="18" charset="0"/>
              </a:rPr>
              <a:t>时间序列中最基本的表现形式；</a:t>
            </a:r>
          </a:p>
          <a:p>
            <a:pPr marL="719138" lvl="1" indent="-365125" algn="just" defTabSz="719138" eaLnBrk="1" hangingPunct="1">
              <a:lnSpc>
                <a:spcPct val="115000"/>
              </a:lnSpc>
              <a:tabLst>
                <a:tab pos="622300" algn="l"/>
              </a:tabLst>
            </a:pPr>
            <a:r>
              <a:rPr lang="zh-CN" altLang="en-US" sz="3000" dirty="0" smtClean="0">
                <a:latin typeface="Times New Roman" pitchFamily="18" charset="0"/>
              </a:rPr>
              <a:t>分为时期序列和时点</a:t>
            </a:r>
            <a:r>
              <a:rPr lang="zh-CN" altLang="en-US" sz="3000" dirty="0" smtClean="0">
                <a:latin typeface="Times New Roman" pitchFamily="18" charset="0"/>
              </a:rPr>
              <a:t>序列</a:t>
            </a:r>
            <a:endParaRPr lang="en-US" altLang="zh-CN" sz="3000" dirty="0">
              <a:latin typeface="Times New Roman" pitchFamily="18" charset="0"/>
            </a:endParaRPr>
          </a:p>
          <a:p>
            <a:pPr marL="0" indent="0" algn="just" eaLnBrk="1" hangingPunct="1">
              <a:lnSpc>
                <a:spcPct val="115000"/>
              </a:lnSpc>
              <a:buNone/>
            </a:pPr>
            <a:r>
              <a:rPr lang="en-US" altLang="zh-CN" dirty="0" smtClean="0">
                <a:solidFill>
                  <a:srgbClr val="0070C0"/>
                </a:solidFill>
                <a:latin typeface="Times New Roman" pitchFamily="18" charset="0"/>
              </a:rPr>
              <a:t>2.</a:t>
            </a:r>
            <a:r>
              <a:rPr lang="zh-CN" altLang="en-US" dirty="0" smtClean="0">
                <a:solidFill>
                  <a:srgbClr val="0070C0"/>
                </a:solidFill>
                <a:latin typeface="Times New Roman" pitchFamily="18" charset="0"/>
              </a:rPr>
              <a:t>相对数</a:t>
            </a:r>
            <a:r>
              <a:rPr lang="zh-CN" altLang="en-US" dirty="0">
                <a:solidFill>
                  <a:srgbClr val="0070C0"/>
                </a:solidFill>
                <a:latin typeface="Times New Roman" pitchFamily="18" charset="0"/>
              </a:rPr>
              <a:t>时间</a:t>
            </a:r>
            <a:r>
              <a:rPr lang="zh-CN" altLang="en-US" dirty="0" smtClean="0">
                <a:solidFill>
                  <a:srgbClr val="0070C0"/>
                </a:solidFill>
                <a:latin typeface="Times New Roman" pitchFamily="18" charset="0"/>
              </a:rPr>
              <a:t>数列</a:t>
            </a:r>
            <a:endParaRPr lang="en-US" altLang="zh-CN" dirty="0" smtClean="0">
              <a:solidFill>
                <a:srgbClr val="0070C0"/>
              </a:solidFill>
              <a:latin typeface="Times New Roman" pitchFamily="18" charset="0"/>
            </a:endParaRPr>
          </a:p>
          <a:p>
            <a:pPr marL="0" indent="0" algn="just" eaLnBrk="1" hangingPunct="1">
              <a:lnSpc>
                <a:spcPct val="115000"/>
              </a:lnSpc>
              <a:buNone/>
            </a:pPr>
            <a:r>
              <a:rPr lang="en-US" altLang="zh-CN" dirty="0" smtClean="0">
                <a:solidFill>
                  <a:srgbClr val="0070C0"/>
                </a:solidFill>
                <a:latin typeface="Times New Roman" pitchFamily="18" charset="0"/>
              </a:rPr>
              <a:t>3.</a:t>
            </a:r>
            <a:r>
              <a:rPr lang="zh-CN" altLang="en-US" dirty="0" smtClean="0">
                <a:solidFill>
                  <a:srgbClr val="0070C0"/>
                </a:solidFill>
                <a:latin typeface="Times New Roman" pitchFamily="18" charset="0"/>
              </a:rPr>
              <a:t>平均数</a:t>
            </a:r>
            <a:r>
              <a:rPr lang="zh-CN" altLang="en-US" dirty="0">
                <a:solidFill>
                  <a:srgbClr val="0070C0"/>
                </a:solidFill>
                <a:latin typeface="Times New Roman" pitchFamily="18" charset="0"/>
              </a:rPr>
              <a:t>时间数列</a:t>
            </a:r>
            <a:endParaRPr lang="en-US" altLang="zh-CN" dirty="0">
              <a:solidFill>
                <a:srgbClr val="0070C0"/>
              </a:solidFill>
              <a:latin typeface="Times New Roman" pitchFamily="18" charset="0"/>
            </a:endParaRPr>
          </a:p>
          <a:p>
            <a:pPr marL="0" indent="0" algn="just" eaLnBrk="1" hangingPunct="1">
              <a:lnSpc>
                <a:spcPct val="115000"/>
              </a:lnSpc>
              <a:buNone/>
            </a:pPr>
            <a:endParaRPr lang="zh-CN" altLang="en-US" sz="4000" dirty="0">
              <a:latin typeface="Times New Roman" pitchFamily="18" charset="0"/>
            </a:endParaRPr>
          </a:p>
          <a:p>
            <a:pPr marL="819150" indent="-533400" algn="just" eaLnBrk="1" hangingPunct="1">
              <a:lnSpc>
                <a:spcPct val="115000"/>
              </a:lnSpc>
            </a:pPr>
            <a:endParaRPr lang="zh-CN" altLang="en-US" sz="3400" dirty="0" smtClean="0">
              <a:latin typeface="Times New Roman" pitchFamily="18" charset="0"/>
            </a:endParaRPr>
          </a:p>
        </p:txBody>
      </p:sp>
      <p:sp>
        <p:nvSpPr>
          <p:cNvPr id="79877" name="日期占位符 4"/>
          <p:cNvSpPr>
            <a:spLocks noGrp="1"/>
          </p:cNvSpPr>
          <p:nvPr>
            <p:ph type="dt" sz="quarter" idx="10"/>
          </p:nvPr>
        </p:nvSpPr>
        <p:spPr>
          <a:noFill/>
        </p:spPr>
        <p:txBody>
          <a:bodyPr/>
          <a:lstStyle/>
          <a:p>
            <a:endParaRPr lang="en-US" altLang="zh-CN" smtClean="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4371">
                                            <p:txEl>
                                              <p:pRg st="1" end="1"/>
                                            </p:txEl>
                                          </p:spTgt>
                                        </p:tgtEl>
                                        <p:attrNameLst>
                                          <p:attrName>style.visibility</p:attrName>
                                        </p:attrNameLst>
                                      </p:cBhvr>
                                      <p:to>
                                        <p:strVal val="visible"/>
                                      </p:to>
                                    </p:set>
                                    <p:animEffect transition="in" filter="wipe(left)">
                                      <p:cBhvr>
                                        <p:cTn id="7" dur="500"/>
                                        <p:tgtEl>
                                          <p:spTgt spid="314371">
                                            <p:txEl>
                                              <p:pRg st="1" end="1"/>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14371">
                                            <p:txEl>
                                              <p:pRg st="2" end="2"/>
                                            </p:txEl>
                                          </p:spTgt>
                                        </p:tgtEl>
                                        <p:attrNameLst>
                                          <p:attrName>style.visibility</p:attrName>
                                        </p:attrNameLst>
                                      </p:cBhvr>
                                      <p:to>
                                        <p:strVal val="visible"/>
                                      </p:to>
                                    </p:set>
                                    <p:animEffect transition="in" filter="wipe(left)">
                                      <p:cBhvr>
                                        <p:cTn id="10" dur="500"/>
                                        <p:tgtEl>
                                          <p:spTgt spid="314371">
                                            <p:txEl>
                                              <p:pRg st="2" end="2"/>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14371">
                                            <p:txEl>
                                              <p:pRg st="3" end="3"/>
                                            </p:txEl>
                                          </p:spTgt>
                                        </p:tgtEl>
                                        <p:attrNameLst>
                                          <p:attrName>style.visibility</p:attrName>
                                        </p:attrNameLst>
                                      </p:cBhvr>
                                      <p:to>
                                        <p:strVal val="visible"/>
                                      </p:to>
                                    </p:set>
                                    <p:animEffect transition="in" filter="wipe(left)">
                                      <p:cBhvr>
                                        <p:cTn id="13" dur="500"/>
                                        <p:tgtEl>
                                          <p:spTgt spid="314371">
                                            <p:txEl>
                                              <p:pRg st="3" end="3"/>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14371">
                                            <p:txEl>
                                              <p:pRg st="4" end="4"/>
                                            </p:txEl>
                                          </p:spTgt>
                                        </p:tgtEl>
                                        <p:attrNameLst>
                                          <p:attrName>style.visibility</p:attrName>
                                        </p:attrNameLst>
                                      </p:cBhvr>
                                      <p:to>
                                        <p:strVal val="visible"/>
                                      </p:to>
                                    </p:set>
                                    <p:animEffect transition="in" filter="wipe(left)">
                                      <p:cBhvr>
                                        <p:cTn id="16" dur="500"/>
                                        <p:tgtEl>
                                          <p:spTgt spid="3143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4371" grpId="0" uiExpand="1"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Rectangle 2"/>
          <p:cNvSpPr>
            <a:spLocks noGrp="1" noChangeArrowheads="1"/>
          </p:cNvSpPr>
          <p:nvPr>
            <p:ph type="title"/>
          </p:nvPr>
        </p:nvSpPr>
        <p:spPr>
          <a:xfrm>
            <a:off x="1403350" y="549275"/>
            <a:ext cx="6781800" cy="990600"/>
          </a:xfrm>
        </p:spPr>
        <p:txBody>
          <a:bodyPr/>
          <a:lstStyle/>
          <a:p>
            <a:pPr eaLnBrk="1" hangingPunct="1"/>
            <a:r>
              <a:rPr lang="zh-CN" altLang="en-US" sz="4000" dirty="0" smtClean="0"/>
              <a:t>时期数列与时点数列的区别</a:t>
            </a:r>
          </a:p>
        </p:txBody>
      </p:sp>
      <p:sp>
        <p:nvSpPr>
          <p:cNvPr id="316419" name="Rectangle 3"/>
          <p:cNvSpPr>
            <a:spLocks noGrp="1" noChangeArrowheads="1"/>
          </p:cNvSpPr>
          <p:nvPr>
            <p:ph type="body" idx="1"/>
          </p:nvPr>
        </p:nvSpPr>
        <p:spPr>
          <a:xfrm>
            <a:off x="457200" y="1600200"/>
            <a:ext cx="8305800" cy="4800600"/>
          </a:xfrm>
        </p:spPr>
        <p:txBody>
          <a:bodyPr/>
          <a:lstStyle/>
          <a:p>
            <a:pPr marL="571500" indent="-571500" algn="just" eaLnBrk="1" hangingPunct="1">
              <a:lnSpc>
                <a:spcPct val="150000"/>
              </a:lnSpc>
              <a:spcBef>
                <a:spcPct val="0"/>
              </a:spcBef>
            </a:pPr>
            <a:r>
              <a:rPr lang="en-US" altLang="zh-CN" sz="2400" dirty="0" smtClean="0">
                <a:solidFill>
                  <a:schemeClr val="tx2"/>
                </a:solidFill>
                <a:latin typeface="宋体" pitchFamily="2" charset="-122"/>
              </a:rPr>
              <a:t>1.</a:t>
            </a:r>
            <a:r>
              <a:rPr lang="zh-CN" altLang="en-US" sz="2400" dirty="0" smtClean="0">
                <a:solidFill>
                  <a:schemeClr val="tx2"/>
                </a:solidFill>
                <a:latin typeface="宋体" pitchFamily="2" charset="-122"/>
              </a:rPr>
              <a:t>时期数列中的各项指标数值</a:t>
            </a:r>
            <a:r>
              <a:rPr lang="zh-CN" altLang="en-US" sz="2400" dirty="0" smtClean="0">
                <a:solidFill>
                  <a:srgbClr val="3333FF"/>
                </a:solidFill>
                <a:latin typeface="宋体" pitchFamily="2" charset="-122"/>
              </a:rPr>
              <a:t>相加的结果有意义</a:t>
            </a:r>
            <a:r>
              <a:rPr lang="zh-CN" altLang="en-US" sz="2400" dirty="0" smtClean="0">
                <a:solidFill>
                  <a:schemeClr val="tx2"/>
                </a:solidFill>
                <a:latin typeface="宋体" pitchFamily="2" charset="-122"/>
              </a:rPr>
              <a:t>，表示更长时期内现象的总量；而时点数列中的各项指标数值相加的结果无实际的意义。</a:t>
            </a:r>
          </a:p>
          <a:p>
            <a:pPr marL="571500" indent="-571500" algn="just" eaLnBrk="1" hangingPunct="1">
              <a:lnSpc>
                <a:spcPct val="150000"/>
              </a:lnSpc>
              <a:spcBef>
                <a:spcPct val="0"/>
              </a:spcBef>
            </a:pPr>
            <a:r>
              <a:rPr lang="en-US" altLang="zh-CN" sz="2400" dirty="0" smtClean="0">
                <a:solidFill>
                  <a:schemeClr val="tx2"/>
                </a:solidFill>
                <a:latin typeface="宋体" pitchFamily="2" charset="-122"/>
              </a:rPr>
              <a:t>2.</a:t>
            </a:r>
            <a:r>
              <a:rPr lang="zh-CN" altLang="en-US" sz="2400" dirty="0" smtClean="0">
                <a:solidFill>
                  <a:schemeClr val="tx2"/>
                </a:solidFill>
                <a:latin typeface="宋体" pitchFamily="2" charset="-122"/>
              </a:rPr>
              <a:t>时期数列中指标数值的大小</a:t>
            </a:r>
            <a:r>
              <a:rPr lang="zh-CN" altLang="en-US" sz="2400" dirty="0" smtClean="0">
                <a:solidFill>
                  <a:srgbClr val="3333FF"/>
                </a:solidFill>
                <a:latin typeface="宋体" pitchFamily="2" charset="-122"/>
              </a:rPr>
              <a:t>与所属时间的长短有关</a:t>
            </a:r>
            <a:r>
              <a:rPr lang="zh-CN" altLang="en-US" sz="2400" dirty="0" smtClean="0">
                <a:solidFill>
                  <a:schemeClr val="tx2"/>
                </a:solidFill>
                <a:latin typeface="宋体" pitchFamily="2" charset="-122"/>
              </a:rPr>
              <a:t>，而时点数列中指标数值的大小与时间间隔的长短无直接关系。</a:t>
            </a:r>
          </a:p>
          <a:p>
            <a:pPr marL="571500" indent="-571500" algn="just" eaLnBrk="1" hangingPunct="1">
              <a:lnSpc>
                <a:spcPct val="150000"/>
              </a:lnSpc>
              <a:spcBef>
                <a:spcPct val="0"/>
              </a:spcBef>
            </a:pPr>
            <a:r>
              <a:rPr lang="en-US" altLang="zh-CN" sz="2400" dirty="0" smtClean="0">
                <a:solidFill>
                  <a:schemeClr val="tx2"/>
                </a:solidFill>
                <a:latin typeface="宋体" pitchFamily="2" charset="-122"/>
              </a:rPr>
              <a:t>3.</a:t>
            </a:r>
            <a:r>
              <a:rPr lang="zh-CN" altLang="en-US" sz="2400" dirty="0" smtClean="0">
                <a:solidFill>
                  <a:schemeClr val="tx2"/>
                </a:solidFill>
                <a:latin typeface="宋体" pitchFamily="2" charset="-122"/>
              </a:rPr>
              <a:t>时期数列中的指标通常是通过</a:t>
            </a:r>
            <a:r>
              <a:rPr lang="zh-CN" altLang="en-US" sz="2400" u="sng" dirty="0" smtClean="0">
                <a:solidFill>
                  <a:srgbClr val="3333FF"/>
                </a:solidFill>
                <a:latin typeface="宋体" pitchFamily="2" charset="-122"/>
              </a:rPr>
              <a:t>连续调查</a:t>
            </a:r>
            <a:r>
              <a:rPr lang="zh-CN" altLang="en-US" sz="2400" dirty="0" smtClean="0">
                <a:solidFill>
                  <a:schemeClr val="tx2"/>
                </a:solidFill>
                <a:latin typeface="宋体" pitchFamily="2" charset="-122"/>
              </a:rPr>
              <a:t>取得的；时点数列的指标可</a:t>
            </a:r>
            <a:r>
              <a:rPr lang="zh-CN" altLang="en-US" sz="2400" u="sng" dirty="0" smtClean="0">
                <a:solidFill>
                  <a:schemeClr val="tx2"/>
                </a:solidFill>
                <a:latin typeface="宋体" pitchFamily="2" charset="-122"/>
              </a:rPr>
              <a:t>非连续调查</a:t>
            </a:r>
            <a:r>
              <a:rPr lang="zh-CN" altLang="en-US" sz="2400" dirty="0" smtClean="0">
                <a:solidFill>
                  <a:schemeClr val="tx2"/>
                </a:solidFill>
                <a:latin typeface="宋体" pitchFamily="2" charset="-122"/>
              </a:rPr>
              <a:t>得到</a:t>
            </a:r>
            <a:r>
              <a:rPr lang="zh-CN" altLang="en-US" sz="2400" dirty="0" smtClean="0">
                <a:solidFill>
                  <a:schemeClr val="tx2"/>
                </a:solidFill>
              </a:rPr>
              <a:t>。</a:t>
            </a:r>
            <a:endParaRPr lang="zh-CN" altLang="en-US" sz="2800" dirty="0" smtClean="0">
              <a:solidFill>
                <a:schemeClr val="tx2"/>
              </a:solidFill>
            </a:endParaRPr>
          </a:p>
        </p:txBody>
      </p:sp>
      <p:sp>
        <p:nvSpPr>
          <p:cNvPr id="80901" name="日期占位符 4"/>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6419">
                                            <p:txEl>
                                              <p:pRg st="0" end="0"/>
                                            </p:txEl>
                                          </p:spTgt>
                                        </p:tgtEl>
                                        <p:attrNameLst>
                                          <p:attrName>style.visibility</p:attrName>
                                        </p:attrNameLst>
                                      </p:cBhvr>
                                      <p:to>
                                        <p:strVal val="visible"/>
                                      </p:to>
                                    </p:set>
                                    <p:animEffect transition="in" filter="wipe(left)">
                                      <p:cBhvr>
                                        <p:cTn id="7" dur="500"/>
                                        <p:tgtEl>
                                          <p:spTgt spid="3164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16419">
                                            <p:txEl>
                                              <p:pRg st="1" end="1"/>
                                            </p:txEl>
                                          </p:spTgt>
                                        </p:tgtEl>
                                        <p:attrNameLst>
                                          <p:attrName>style.visibility</p:attrName>
                                        </p:attrNameLst>
                                      </p:cBhvr>
                                      <p:to>
                                        <p:strVal val="visible"/>
                                      </p:to>
                                    </p:set>
                                    <p:animEffect transition="in" filter="wipe(left)">
                                      <p:cBhvr>
                                        <p:cTn id="12" dur="500"/>
                                        <p:tgtEl>
                                          <p:spTgt spid="3164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16419">
                                            <p:txEl>
                                              <p:pRg st="2" end="2"/>
                                            </p:txEl>
                                          </p:spTgt>
                                        </p:tgtEl>
                                        <p:attrNameLst>
                                          <p:attrName>style.visibility</p:attrName>
                                        </p:attrNameLst>
                                      </p:cBhvr>
                                      <p:to>
                                        <p:strVal val="visible"/>
                                      </p:to>
                                    </p:set>
                                    <p:animEffect transition="in" filter="wipe(left)">
                                      <p:cBhvr>
                                        <p:cTn id="17" dur="500"/>
                                        <p:tgtEl>
                                          <p:spTgt spid="3164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419"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2"/>
          <p:cNvSpPr>
            <a:spLocks noGrp="1" noChangeArrowheads="1"/>
          </p:cNvSpPr>
          <p:nvPr>
            <p:ph type="title"/>
          </p:nvPr>
        </p:nvSpPr>
        <p:spPr>
          <a:xfrm>
            <a:off x="685800" y="1143000"/>
            <a:ext cx="6781800" cy="990600"/>
          </a:xfrm>
        </p:spPr>
        <p:txBody>
          <a:bodyPr/>
          <a:lstStyle/>
          <a:p>
            <a:pPr eaLnBrk="1" hangingPunct="1"/>
            <a:r>
              <a:rPr lang="en-US" altLang="zh-CN" sz="4000" dirty="0" smtClean="0"/>
              <a:t>4.1.3 </a:t>
            </a:r>
            <a:r>
              <a:rPr lang="zh-CN" altLang="en-US" sz="4000" dirty="0" smtClean="0"/>
              <a:t>时间</a:t>
            </a:r>
            <a:r>
              <a:rPr lang="zh-CN" altLang="en-US" sz="4000" dirty="0" smtClean="0"/>
              <a:t>数列的编制原则</a:t>
            </a:r>
          </a:p>
        </p:txBody>
      </p:sp>
      <p:sp>
        <p:nvSpPr>
          <p:cNvPr id="81924" name="Rectangle 3"/>
          <p:cNvSpPr>
            <a:spLocks noGrp="1" noChangeArrowheads="1"/>
          </p:cNvSpPr>
          <p:nvPr>
            <p:ph type="body" idx="1"/>
          </p:nvPr>
        </p:nvSpPr>
        <p:spPr>
          <a:xfrm>
            <a:off x="381000" y="2667000"/>
            <a:ext cx="8305800" cy="3200400"/>
          </a:xfrm>
        </p:spPr>
        <p:txBody>
          <a:bodyPr/>
          <a:lstStyle/>
          <a:p>
            <a:pPr marL="609600" indent="-609600" eaLnBrk="1" hangingPunct="1">
              <a:lnSpc>
                <a:spcPct val="105000"/>
              </a:lnSpc>
              <a:spcBef>
                <a:spcPct val="30000"/>
              </a:spcBef>
            </a:pPr>
            <a:r>
              <a:rPr lang="en-US" altLang="zh-CN" smtClean="0">
                <a:solidFill>
                  <a:schemeClr val="tx1"/>
                </a:solidFill>
                <a:latin typeface="Arial" charset="0"/>
              </a:rPr>
              <a:t>——</a:t>
            </a:r>
            <a:r>
              <a:rPr lang="zh-CN" altLang="en-US" smtClean="0">
                <a:solidFill>
                  <a:schemeClr val="tx1"/>
                </a:solidFill>
              </a:rPr>
              <a:t>基本原则是保证</a:t>
            </a:r>
            <a:r>
              <a:rPr lang="zh-CN" altLang="en-US" smtClean="0">
                <a:solidFill>
                  <a:srgbClr val="FF0066"/>
                </a:solidFill>
              </a:rPr>
              <a:t>可比性</a:t>
            </a:r>
          </a:p>
          <a:p>
            <a:pPr marL="1809750" lvl="3" indent="-381000" eaLnBrk="1" hangingPunct="1">
              <a:lnSpc>
                <a:spcPct val="105000"/>
              </a:lnSpc>
              <a:spcBef>
                <a:spcPct val="30000"/>
              </a:spcBef>
              <a:buFontTx/>
              <a:buChar char="•"/>
            </a:pPr>
            <a:r>
              <a:rPr lang="zh-CN" altLang="en-US" sz="3200" smtClean="0">
                <a:solidFill>
                  <a:schemeClr val="tx1"/>
                </a:solidFill>
              </a:rPr>
              <a:t>时 间 可 比  </a:t>
            </a:r>
          </a:p>
          <a:p>
            <a:pPr marL="1809750" lvl="3" indent="-381000" eaLnBrk="1" hangingPunct="1">
              <a:lnSpc>
                <a:spcPct val="105000"/>
              </a:lnSpc>
              <a:spcBef>
                <a:spcPct val="30000"/>
              </a:spcBef>
              <a:buFontTx/>
              <a:buChar char="•"/>
            </a:pPr>
            <a:r>
              <a:rPr lang="zh-CN" altLang="en-US" sz="3200" smtClean="0">
                <a:solidFill>
                  <a:schemeClr val="tx1"/>
                </a:solidFill>
              </a:rPr>
              <a:t>总体范围可比</a:t>
            </a:r>
          </a:p>
          <a:p>
            <a:pPr marL="1809750" lvl="3" indent="-381000" eaLnBrk="1" hangingPunct="1">
              <a:lnSpc>
                <a:spcPct val="105000"/>
              </a:lnSpc>
              <a:spcBef>
                <a:spcPct val="30000"/>
              </a:spcBef>
              <a:buFontTx/>
              <a:buChar char="•"/>
            </a:pPr>
            <a:r>
              <a:rPr lang="zh-CN" altLang="en-US" sz="3200" smtClean="0">
                <a:solidFill>
                  <a:schemeClr val="tx1"/>
                </a:solidFill>
              </a:rPr>
              <a:t>计算口径可比</a:t>
            </a:r>
          </a:p>
          <a:p>
            <a:pPr marL="1809750" lvl="3" indent="-381000" eaLnBrk="1" hangingPunct="1">
              <a:lnSpc>
                <a:spcPct val="105000"/>
              </a:lnSpc>
              <a:spcBef>
                <a:spcPct val="30000"/>
              </a:spcBef>
              <a:buFontTx/>
              <a:buChar char="•"/>
            </a:pPr>
            <a:r>
              <a:rPr lang="zh-CN" altLang="en-US" sz="3200" smtClean="0">
                <a:solidFill>
                  <a:schemeClr val="tx1"/>
                </a:solidFill>
              </a:rPr>
              <a:t>经济内容可比</a:t>
            </a:r>
          </a:p>
        </p:txBody>
      </p:sp>
      <p:pic>
        <p:nvPicPr>
          <p:cNvPr id="81925" name="Picture 4" descr="j008"/>
          <p:cNvPicPr>
            <a:picLocks noChangeAspect="1" noChangeArrowheads="1" noCrop="1"/>
          </p:cNvPicPr>
          <p:nvPr/>
        </p:nvPicPr>
        <p:blipFill>
          <a:blip r:embed="rId2" cstate="print"/>
          <a:srcRect/>
          <a:stretch>
            <a:fillRect/>
          </a:stretch>
        </p:blipFill>
        <p:spPr bwMode="auto">
          <a:xfrm>
            <a:off x="8191500" y="0"/>
            <a:ext cx="952500" cy="952500"/>
          </a:xfrm>
          <a:prstGeom prst="rect">
            <a:avLst/>
          </a:prstGeom>
          <a:noFill/>
          <a:ln w="9525">
            <a:noFill/>
            <a:miter lim="800000"/>
            <a:headEnd/>
            <a:tailEnd/>
          </a:ln>
        </p:spPr>
      </p:pic>
      <p:sp>
        <p:nvSpPr>
          <p:cNvPr id="81926" name="日期占位符 5"/>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ChangeArrowheads="1"/>
          </p:cNvSpPr>
          <p:nvPr>
            <p:ph type="subTitle" idx="1"/>
          </p:nvPr>
        </p:nvSpPr>
        <p:spPr>
          <a:xfrm>
            <a:off x="1115616" y="2708920"/>
            <a:ext cx="6552728" cy="3168352"/>
          </a:xfrm>
        </p:spPr>
        <p:txBody>
          <a:bodyPr/>
          <a:lstStyle/>
          <a:p>
            <a:pPr algn="l" eaLnBrk="1" hangingPunct="1">
              <a:spcBef>
                <a:spcPct val="30000"/>
              </a:spcBef>
            </a:pPr>
            <a:r>
              <a:rPr lang="en-US" altLang="zh-CN" sz="3600" dirty="0" smtClean="0">
                <a:solidFill>
                  <a:srgbClr val="000000"/>
                </a:solidFill>
              </a:rPr>
              <a:t>4.2.1 </a:t>
            </a:r>
            <a:r>
              <a:rPr lang="zh-CN" altLang="en-US" sz="3600" dirty="0" smtClean="0">
                <a:solidFill>
                  <a:srgbClr val="000000"/>
                </a:solidFill>
              </a:rPr>
              <a:t>发展水平</a:t>
            </a:r>
          </a:p>
          <a:p>
            <a:pPr algn="l" eaLnBrk="1" hangingPunct="1">
              <a:spcBef>
                <a:spcPct val="30000"/>
              </a:spcBef>
            </a:pPr>
            <a:r>
              <a:rPr lang="en-US" altLang="zh-CN" sz="3600" dirty="0" smtClean="0">
                <a:solidFill>
                  <a:srgbClr val="000000"/>
                </a:solidFill>
              </a:rPr>
              <a:t>4.2.2 </a:t>
            </a:r>
            <a:r>
              <a:rPr lang="zh-CN" altLang="en-US" sz="3600" dirty="0" smtClean="0">
                <a:solidFill>
                  <a:srgbClr val="000000"/>
                </a:solidFill>
              </a:rPr>
              <a:t>平均发展水平</a:t>
            </a:r>
          </a:p>
          <a:p>
            <a:pPr algn="l" eaLnBrk="1" hangingPunct="1">
              <a:spcBef>
                <a:spcPct val="30000"/>
              </a:spcBef>
            </a:pPr>
            <a:r>
              <a:rPr lang="en-US" altLang="zh-CN" sz="3600" dirty="0" smtClean="0">
                <a:solidFill>
                  <a:srgbClr val="000000"/>
                </a:solidFill>
              </a:rPr>
              <a:t>4.2.3 </a:t>
            </a:r>
            <a:r>
              <a:rPr lang="zh-CN" altLang="en-US" sz="3600" dirty="0" smtClean="0">
                <a:solidFill>
                  <a:srgbClr val="000000"/>
                </a:solidFill>
              </a:rPr>
              <a:t>增减量</a:t>
            </a:r>
          </a:p>
          <a:p>
            <a:pPr algn="l" eaLnBrk="1" hangingPunct="1">
              <a:spcBef>
                <a:spcPct val="30000"/>
              </a:spcBef>
            </a:pPr>
            <a:r>
              <a:rPr lang="en-US" altLang="zh-CN" sz="3600" dirty="0" smtClean="0">
                <a:solidFill>
                  <a:srgbClr val="000000"/>
                </a:solidFill>
              </a:rPr>
              <a:t>4.2.4 </a:t>
            </a:r>
            <a:r>
              <a:rPr lang="zh-CN" altLang="en-US" sz="3600" dirty="0" smtClean="0">
                <a:solidFill>
                  <a:srgbClr val="000000"/>
                </a:solidFill>
              </a:rPr>
              <a:t>平均增减量</a:t>
            </a:r>
          </a:p>
        </p:txBody>
      </p:sp>
      <p:sp>
        <p:nvSpPr>
          <p:cNvPr id="82948" name="Rectangle 3"/>
          <p:cNvSpPr>
            <a:spLocks noGrp="1" noChangeArrowheads="1"/>
          </p:cNvSpPr>
          <p:nvPr>
            <p:ph type="ctrTitle"/>
          </p:nvPr>
        </p:nvSpPr>
        <p:spPr>
          <a:xfrm>
            <a:off x="789856" y="536575"/>
            <a:ext cx="7772400" cy="2032000"/>
          </a:xfrm>
          <a:noFill/>
        </p:spPr>
        <p:txBody>
          <a:bodyPr/>
          <a:lstStyle/>
          <a:p>
            <a:pPr eaLnBrk="1" hangingPunct="1"/>
            <a:r>
              <a:rPr lang="en-US" altLang="zh-CN" sz="4800" dirty="0" smtClean="0"/>
              <a:t>4.2  </a:t>
            </a:r>
            <a:r>
              <a:rPr lang="zh-CN" altLang="en-US" sz="4800" dirty="0" smtClean="0"/>
              <a:t>时间序列</a:t>
            </a:r>
            <a:r>
              <a:rPr lang="zh-CN" altLang="en-US" sz="4800" dirty="0" smtClean="0"/>
              <a:t>的水平分析</a:t>
            </a:r>
          </a:p>
        </p:txBody>
      </p:sp>
      <p:pic>
        <p:nvPicPr>
          <p:cNvPr id="318468" name="Picture 4" descr="d102"/>
          <p:cNvPicPr>
            <a:picLocks noChangeAspect="1" noChangeArrowheads="1" noCrop="1"/>
          </p:cNvPicPr>
          <p:nvPr/>
        </p:nvPicPr>
        <p:blipFill>
          <a:blip r:embed="rId2" cstate="print"/>
          <a:srcRect/>
          <a:stretch>
            <a:fillRect/>
          </a:stretch>
        </p:blipFill>
        <p:spPr bwMode="auto">
          <a:xfrm>
            <a:off x="-108519" y="4861738"/>
            <a:ext cx="1872208" cy="1460524"/>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withEffect">
                                  <p:stCondLst>
                                    <p:cond delay="0"/>
                                  </p:stCondLst>
                                  <p:childTnLst>
                                    <p:set>
                                      <p:cBhvr>
                                        <p:cTn id="6" dur="1" fill="hold">
                                          <p:stCondLst>
                                            <p:cond delay="0"/>
                                          </p:stCondLst>
                                        </p:cTn>
                                        <p:tgtEl>
                                          <p:spTgt spid="318468"/>
                                        </p:tgtEl>
                                        <p:attrNameLst>
                                          <p:attrName>style.visibility</p:attrName>
                                        </p:attrNameLst>
                                      </p:cBhvr>
                                      <p:to>
                                        <p:strVal val="visible"/>
                                      </p:to>
                                    </p:set>
                                    <p:animEffect transition="in" filter="wipe(down)">
                                      <p:cBhvr>
                                        <p:cTn id="7" dur="3">
                                          <p:stCondLst>
                                            <p:cond delay="0"/>
                                          </p:stCondLst>
                                        </p:cTn>
                                        <p:tgtEl>
                                          <p:spTgt spid="318468"/>
                                        </p:tgtEl>
                                      </p:cBhvr>
                                    </p:animEffect>
                                    <p:anim calcmode="lin" valueType="num">
                                      <p:cBhvr>
                                        <p:cTn id="8" dur="9" tmFilter="0,0; 0.14,0.36; 0.43,0.73; 0.71,0.91; 1.0,1.0">
                                          <p:stCondLst>
                                            <p:cond delay="0"/>
                                          </p:stCondLst>
                                        </p:cTn>
                                        <p:tgtEl>
                                          <p:spTgt spid="318468"/>
                                        </p:tgtEl>
                                        <p:attrNameLst>
                                          <p:attrName>ppt_x</p:attrName>
                                        </p:attrNameLst>
                                      </p:cBhvr>
                                      <p:tavLst>
                                        <p:tav tm="0">
                                          <p:val>
                                            <p:strVal val="#ppt_x-0.25"/>
                                          </p:val>
                                        </p:tav>
                                        <p:tav tm="100000">
                                          <p:val>
                                            <p:strVal val="#ppt_x"/>
                                          </p:val>
                                        </p:tav>
                                      </p:tavLst>
                                    </p:anim>
                                    <p:anim calcmode="lin" valueType="num">
                                      <p:cBhvr>
                                        <p:cTn id="9" dur="3" tmFilter="0.0,0.0; 0.25,0.07; 0.50,0.2; 0.75,0.467; 1.0,1.0">
                                          <p:stCondLst>
                                            <p:cond delay="0"/>
                                          </p:stCondLst>
                                        </p:cTn>
                                        <p:tgtEl>
                                          <p:spTgt spid="318468"/>
                                        </p:tgtEl>
                                        <p:attrNameLst>
                                          <p:attrName>ppt_y</p:attrName>
                                        </p:attrNameLst>
                                      </p:cBhvr>
                                      <p:tavLst>
                                        <p:tav tm="0" fmla="#ppt_y-sin(pi*$)/3">
                                          <p:val>
                                            <p:fltVal val="0.5"/>
                                          </p:val>
                                        </p:tav>
                                        <p:tav tm="100000">
                                          <p:val>
                                            <p:fltVal val="1"/>
                                          </p:val>
                                        </p:tav>
                                      </p:tavLst>
                                    </p:anim>
                                    <p:anim calcmode="lin" valueType="num">
                                      <p:cBhvr>
                                        <p:cTn id="10" dur="3" tmFilter="0, 0; 0.125,0.2665; 0.25,0.4; 0.375,0.465; 0.5,0.5;  0.625,0.535; 0.75,0.6; 0.875,0.7335; 1,1">
                                          <p:stCondLst>
                                            <p:cond delay="3"/>
                                          </p:stCondLst>
                                        </p:cTn>
                                        <p:tgtEl>
                                          <p:spTgt spid="318468"/>
                                        </p:tgtEl>
                                        <p:attrNameLst>
                                          <p:attrName>ppt_y</p:attrName>
                                        </p:attrNameLst>
                                      </p:cBhvr>
                                      <p:tavLst>
                                        <p:tav tm="0" fmla="#ppt_y-sin(pi*$)/9">
                                          <p:val>
                                            <p:fltVal val="0"/>
                                          </p:val>
                                        </p:tav>
                                        <p:tav tm="100000">
                                          <p:val>
                                            <p:fltVal val="1"/>
                                          </p:val>
                                        </p:tav>
                                      </p:tavLst>
                                    </p:anim>
                                    <p:anim calcmode="lin" valueType="num">
                                      <p:cBhvr>
                                        <p:cTn id="11" dur="2" tmFilter="0, 0; 0.125,0.2665; 0.25,0.4; 0.375,0.465; 0.5,0.5;  0.625,0.535; 0.75,0.6; 0.875,0.7335; 1,1">
                                          <p:stCondLst>
                                            <p:cond delay="7"/>
                                          </p:stCondLst>
                                        </p:cTn>
                                        <p:tgtEl>
                                          <p:spTgt spid="318468"/>
                                        </p:tgtEl>
                                        <p:attrNameLst>
                                          <p:attrName>ppt_y</p:attrName>
                                        </p:attrNameLst>
                                      </p:cBhvr>
                                      <p:tavLst>
                                        <p:tav tm="0" fmla="#ppt_y-sin(pi*$)/27">
                                          <p:val>
                                            <p:fltVal val="0"/>
                                          </p:val>
                                        </p:tav>
                                        <p:tav tm="100000">
                                          <p:val>
                                            <p:fltVal val="1"/>
                                          </p:val>
                                        </p:tav>
                                      </p:tavLst>
                                    </p:anim>
                                    <p:anim calcmode="lin" valueType="num">
                                      <p:cBhvr>
                                        <p:cTn id="12" dur="1" tmFilter="0, 0; 0.125,0.2665; 0.25,0.4; 0.375,0.465; 0.5,0.5;  0.625,0.535; 0.75,0.6; 0.875,0.7335; 1,1">
                                          <p:stCondLst>
                                            <p:cond delay="8"/>
                                          </p:stCondLst>
                                        </p:cTn>
                                        <p:tgtEl>
                                          <p:spTgt spid="318468"/>
                                        </p:tgtEl>
                                        <p:attrNameLst>
                                          <p:attrName>ppt_y</p:attrName>
                                        </p:attrNameLst>
                                      </p:cBhvr>
                                      <p:tavLst>
                                        <p:tav tm="0" fmla="#ppt_y-sin(pi*$)/81">
                                          <p:val>
                                            <p:fltVal val="0"/>
                                          </p:val>
                                        </p:tav>
                                        <p:tav tm="100000">
                                          <p:val>
                                            <p:fltVal val="1"/>
                                          </p:val>
                                        </p:tav>
                                      </p:tavLst>
                                    </p:anim>
                                    <p:animScale>
                                      <p:cBhvr>
                                        <p:cTn id="13" dur="1">
                                          <p:stCondLst>
                                            <p:cond delay="3"/>
                                          </p:stCondLst>
                                        </p:cTn>
                                        <p:tgtEl>
                                          <p:spTgt spid="318468"/>
                                        </p:tgtEl>
                                      </p:cBhvr>
                                      <p:to x="100000" y="60000"/>
                                    </p:animScale>
                                    <p:animScale>
                                      <p:cBhvr>
                                        <p:cTn id="14" dur="1" decel="50000">
                                          <p:stCondLst>
                                            <p:cond delay="3"/>
                                          </p:stCondLst>
                                        </p:cTn>
                                        <p:tgtEl>
                                          <p:spTgt spid="318468"/>
                                        </p:tgtEl>
                                      </p:cBhvr>
                                      <p:to x="100000" y="100000"/>
                                    </p:animScale>
                                    <p:animScale>
                                      <p:cBhvr>
                                        <p:cTn id="15" dur="1">
                                          <p:stCondLst>
                                            <p:cond delay="7"/>
                                          </p:stCondLst>
                                        </p:cTn>
                                        <p:tgtEl>
                                          <p:spTgt spid="318468"/>
                                        </p:tgtEl>
                                      </p:cBhvr>
                                      <p:to x="100000" y="80000"/>
                                    </p:animScale>
                                    <p:animScale>
                                      <p:cBhvr>
                                        <p:cTn id="16" dur="1" decel="50000">
                                          <p:stCondLst>
                                            <p:cond delay="7"/>
                                          </p:stCondLst>
                                        </p:cTn>
                                        <p:tgtEl>
                                          <p:spTgt spid="318468"/>
                                        </p:tgtEl>
                                      </p:cBhvr>
                                      <p:to x="100000" y="100000"/>
                                    </p:animScale>
                                    <p:animScale>
                                      <p:cBhvr>
                                        <p:cTn id="17" dur="1">
                                          <p:stCondLst>
                                            <p:cond delay="8"/>
                                          </p:stCondLst>
                                        </p:cTn>
                                        <p:tgtEl>
                                          <p:spTgt spid="318468"/>
                                        </p:tgtEl>
                                      </p:cBhvr>
                                      <p:to x="100000" y="90000"/>
                                    </p:animScale>
                                    <p:animScale>
                                      <p:cBhvr>
                                        <p:cTn id="18" dur="1" decel="50000">
                                          <p:stCondLst>
                                            <p:cond delay="8"/>
                                          </p:stCondLst>
                                        </p:cTn>
                                        <p:tgtEl>
                                          <p:spTgt spid="318468"/>
                                        </p:tgtEl>
                                      </p:cBhvr>
                                      <p:to x="100000" y="100000"/>
                                    </p:animScale>
                                    <p:animScale>
                                      <p:cBhvr>
                                        <p:cTn id="19" dur="1">
                                          <p:stCondLst>
                                            <p:cond delay="9"/>
                                          </p:stCondLst>
                                        </p:cTn>
                                        <p:tgtEl>
                                          <p:spTgt spid="318468"/>
                                        </p:tgtEl>
                                      </p:cBhvr>
                                      <p:to x="100000" y="95000"/>
                                    </p:animScale>
                                    <p:animScale>
                                      <p:cBhvr>
                                        <p:cTn id="20" dur="1" decel="50000">
                                          <p:stCondLst>
                                            <p:cond delay="9"/>
                                          </p:stCondLst>
                                        </p:cTn>
                                        <p:tgtEl>
                                          <p:spTgt spid="31846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971" name="Rectangle 2"/>
          <p:cNvSpPr>
            <a:spLocks noGrp="1" noChangeArrowheads="1"/>
          </p:cNvSpPr>
          <p:nvPr>
            <p:ph type="title"/>
          </p:nvPr>
        </p:nvSpPr>
        <p:spPr>
          <a:xfrm>
            <a:off x="672387" y="485775"/>
            <a:ext cx="7134225" cy="1143000"/>
          </a:xfrm>
          <a:noFill/>
        </p:spPr>
        <p:txBody>
          <a:bodyPr lIns="90488" tIns="44450" rIns="90488" bIns="44450" anchor="ctr" anchorCtr="1"/>
          <a:lstStyle/>
          <a:p>
            <a:pPr eaLnBrk="1" hangingPunct="1"/>
            <a:r>
              <a:rPr lang="en-US" altLang="zh-CN" sz="4700" dirty="0" smtClean="0">
                <a:latin typeface="Times New Roman" pitchFamily="18" charset="0"/>
              </a:rPr>
              <a:t>4.2.1 </a:t>
            </a:r>
            <a:r>
              <a:rPr lang="zh-CN" altLang="en-US" sz="4700" dirty="0" smtClean="0">
                <a:latin typeface="Times New Roman" pitchFamily="18" charset="0"/>
              </a:rPr>
              <a:t>发展水平</a:t>
            </a:r>
            <a:endParaRPr lang="zh-CN" altLang="en-US" sz="4700" dirty="0" smtClean="0">
              <a:latin typeface="Times New Roman" pitchFamily="18" charset="0"/>
            </a:endParaRPr>
          </a:p>
        </p:txBody>
      </p:sp>
      <p:sp>
        <p:nvSpPr>
          <p:cNvPr id="319491" name="Rectangle 3"/>
          <p:cNvSpPr>
            <a:spLocks noGrp="1" noChangeArrowheads="1"/>
          </p:cNvSpPr>
          <p:nvPr>
            <p:ph type="body" idx="1"/>
          </p:nvPr>
        </p:nvSpPr>
        <p:spPr>
          <a:xfrm>
            <a:off x="179512" y="1628775"/>
            <a:ext cx="8712968" cy="4824413"/>
          </a:xfrm>
          <a:noFill/>
        </p:spPr>
        <p:txBody>
          <a:bodyPr lIns="90488" tIns="44450" rIns="90488" bIns="44450"/>
          <a:lstStyle/>
          <a:p>
            <a:pPr marL="1143000" lvl="1" indent="-457200" eaLnBrk="1" hangingPunct="1">
              <a:lnSpc>
                <a:spcPct val="120000"/>
              </a:lnSpc>
              <a:spcBef>
                <a:spcPct val="25000"/>
              </a:spcBef>
              <a:buFontTx/>
              <a:buNone/>
            </a:pPr>
            <a:r>
              <a:rPr lang="zh-CN" altLang="en-US" dirty="0" smtClean="0">
                <a:latin typeface="Times New Roman" pitchFamily="18" charset="0"/>
              </a:rPr>
              <a:t>发展水平</a:t>
            </a:r>
            <a:r>
              <a:rPr lang="en-US" altLang="zh-CN" dirty="0" smtClean="0">
                <a:latin typeface="Times New Roman" pitchFamily="18" charset="0"/>
              </a:rPr>
              <a:t>——</a:t>
            </a:r>
            <a:r>
              <a:rPr lang="zh-CN" altLang="en-US" dirty="0" smtClean="0">
                <a:latin typeface="Times New Roman" pitchFamily="18" charset="0"/>
              </a:rPr>
              <a:t>现象在不同时间上所达到的水平的数量反映，也就是时间数列中的各项指标数值。</a:t>
            </a:r>
          </a:p>
          <a:p>
            <a:pPr marL="1143000" lvl="1" indent="-457200" eaLnBrk="1" hangingPunct="1">
              <a:lnSpc>
                <a:spcPct val="120000"/>
              </a:lnSpc>
              <a:spcBef>
                <a:spcPct val="25000"/>
              </a:spcBef>
            </a:pPr>
            <a:r>
              <a:rPr lang="zh-CN" altLang="en-US" dirty="0" smtClean="0">
                <a:latin typeface="Times New Roman" pitchFamily="18" charset="0"/>
              </a:rPr>
              <a:t>记为 </a:t>
            </a:r>
            <a:r>
              <a:rPr lang="en-US" altLang="zh-CN" i="1" dirty="0" smtClean="0">
                <a:latin typeface="Times New Roman" pitchFamily="18" charset="0"/>
                <a:ea typeface="PMingLiU" pitchFamily="18" charset="-120"/>
              </a:rPr>
              <a:t>y</a:t>
            </a:r>
            <a:r>
              <a:rPr lang="en-US" altLang="zh-CN" baseline="-25000" dirty="0" smtClean="0">
                <a:latin typeface="Times New Roman" pitchFamily="18" charset="0"/>
              </a:rPr>
              <a:t>1</a:t>
            </a:r>
            <a:r>
              <a:rPr lang="zh-CN" altLang="en-US" baseline="-25000" dirty="0" smtClean="0">
                <a:latin typeface="Times New Roman" pitchFamily="18" charset="0"/>
              </a:rPr>
              <a:t>，</a:t>
            </a:r>
            <a:r>
              <a:rPr lang="en-US" altLang="zh-CN" i="1" dirty="0" smtClean="0">
                <a:latin typeface="Times New Roman" pitchFamily="18" charset="0"/>
                <a:ea typeface="PMingLiU" pitchFamily="18" charset="-120"/>
              </a:rPr>
              <a:t>y</a:t>
            </a:r>
            <a:r>
              <a:rPr lang="en-US" altLang="zh-CN" baseline="-25000" dirty="0" smtClean="0">
                <a:latin typeface="Times New Roman" pitchFamily="18" charset="0"/>
              </a:rPr>
              <a:t>2</a:t>
            </a:r>
            <a:r>
              <a:rPr lang="zh-CN" altLang="en-US" baseline="-25000" dirty="0" smtClean="0">
                <a:latin typeface="Times New Roman" pitchFamily="18" charset="0"/>
              </a:rPr>
              <a:t>，</a:t>
            </a:r>
            <a:r>
              <a:rPr lang="en-US" altLang="zh-CN" dirty="0" smtClean="0">
                <a:latin typeface="Times New Roman" pitchFamily="18" charset="0"/>
              </a:rPr>
              <a:t>… </a:t>
            </a:r>
            <a:r>
              <a:rPr lang="zh-CN" altLang="en-US" baseline="-25000" dirty="0" smtClean="0">
                <a:latin typeface="Times New Roman" pitchFamily="18" charset="0"/>
              </a:rPr>
              <a:t>，</a:t>
            </a:r>
            <a:r>
              <a:rPr lang="en-US" altLang="zh-CN" i="1" dirty="0" err="1" smtClean="0">
                <a:latin typeface="Times New Roman" pitchFamily="18" charset="0"/>
                <a:ea typeface="PMingLiU" pitchFamily="18" charset="-120"/>
              </a:rPr>
              <a:t>y</a:t>
            </a:r>
            <a:r>
              <a:rPr lang="en-US" altLang="zh-CN" baseline="-25000" dirty="0" err="1" smtClean="0">
                <a:latin typeface="Times New Roman" pitchFamily="18" charset="0"/>
              </a:rPr>
              <a:t>n</a:t>
            </a:r>
            <a:r>
              <a:rPr lang="en-US" altLang="zh-CN" baseline="-25000" dirty="0" smtClean="0">
                <a:latin typeface="Times New Roman" pitchFamily="18" charset="0"/>
              </a:rPr>
              <a:t>  </a:t>
            </a:r>
            <a:r>
              <a:rPr lang="zh-CN" altLang="en-US" dirty="0" smtClean="0">
                <a:latin typeface="Times New Roman" pitchFamily="18" charset="0"/>
              </a:rPr>
              <a:t>或 </a:t>
            </a:r>
            <a:r>
              <a:rPr lang="en-US" altLang="zh-CN" i="1" dirty="0" smtClean="0">
                <a:latin typeface="Times New Roman" pitchFamily="18" charset="0"/>
                <a:ea typeface="PMingLiU" pitchFamily="18" charset="-120"/>
              </a:rPr>
              <a:t>y</a:t>
            </a:r>
            <a:r>
              <a:rPr lang="en-US" altLang="zh-CN" baseline="-25000" dirty="0" smtClean="0">
                <a:latin typeface="Times New Roman" pitchFamily="18" charset="0"/>
              </a:rPr>
              <a:t>0</a:t>
            </a:r>
            <a:r>
              <a:rPr lang="en-US" altLang="zh-CN" dirty="0" smtClean="0">
                <a:latin typeface="Times New Roman" pitchFamily="18" charset="0"/>
              </a:rPr>
              <a:t> </a:t>
            </a:r>
            <a:r>
              <a:rPr lang="en-US" altLang="zh-CN" baseline="-25000" dirty="0" smtClean="0">
                <a:latin typeface="Times New Roman" pitchFamily="18" charset="0"/>
              </a:rPr>
              <a:t> </a:t>
            </a:r>
            <a:r>
              <a:rPr lang="en-US" altLang="zh-CN" i="1" dirty="0" smtClean="0">
                <a:latin typeface="Times New Roman" pitchFamily="18" charset="0"/>
                <a:ea typeface="PMingLiU" pitchFamily="18" charset="-120"/>
              </a:rPr>
              <a:t>y</a:t>
            </a:r>
            <a:r>
              <a:rPr lang="en-US" altLang="zh-CN" baseline="-25000" dirty="0" smtClean="0">
                <a:latin typeface="Times New Roman" pitchFamily="18" charset="0"/>
              </a:rPr>
              <a:t>1, </a:t>
            </a:r>
            <a:r>
              <a:rPr lang="en-US" altLang="zh-CN" i="1" dirty="0" smtClean="0">
                <a:latin typeface="Times New Roman" pitchFamily="18" charset="0"/>
                <a:ea typeface="PMingLiU" pitchFamily="18" charset="-120"/>
              </a:rPr>
              <a:t>y</a:t>
            </a:r>
            <a:r>
              <a:rPr lang="en-US" altLang="zh-CN" baseline="-25000" dirty="0" smtClean="0">
                <a:latin typeface="Times New Roman" pitchFamily="18" charset="0"/>
              </a:rPr>
              <a:t>2, </a:t>
            </a:r>
            <a:r>
              <a:rPr lang="en-US" altLang="zh-CN" dirty="0" smtClean="0">
                <a:latin typeface="Times New Roman" pitchFamily="18" charset="0"/>
              </a:rPr>
              <a:t>…</a:t>
            </a:r>
            <a:r>
              <a:rPr lang="en-US" altLang="zh-CN" baseline="-25000" dirty="0" smtClean="0">
                <a:latin typeface="Times New Roman" pitchFamily="18" charset="0"/>
              </a:rPr>
              <a:t>,</a:t>
            </a:r>
            <a:r>
              <a:rPr lang="en-US" altLang="zh-CN" dirty="0" smtClean="0">
                <a:latin typeface="Times New Roman" pitchFamily="18" charset="0"/>
              </a:rPr>
              <a:t> </a:t>
            </a:r>
            <a:r>
              <a:rPr lang="en-US" altLang="zh-CN" i="1" dirty="0" err="1" smtClean="0">
                <a:latin typeface="Times New Roman" pitchFamily="18" charset="0"/>
                <a:ea typeface="PMingLiU" pitchFamily="18" charset="-120"/>
              </a:rPr>
              <a:t>y</a:t>
            </a:r>
            <a:r>
              <a:rPr lang="en-US" altLang="zh-CN" baseline="-25000" dirty="0" err="1" smtClean="0">
                <a:latin typeface="Times New Roman" pitchFamily="18" charset="0"/>
              </a:rPr>
              <a:t>n</a:t>
            </a:r>
            <a:r>
              <a:rPr lang="en-US" altLang="zh-CN" baseline="-25000" dirty="0" smtClean="0">
                <a:latin typeface="Times New Roman" pitchFamily="18" charset="0"/>
              </a:rPr>
              <a:t>.</a:t>
            </a:r>
          </a:p>
          <a:p>
            <a:pPr marL="1143000" lvl="1" indent="-457200" eaLnBrk="1" hangingPunct="1">
              <a:lnSpc>
                <a:spcPct val="120000"/>
              </a:lnSpc>
              <a:spcBef>
                <a:spcPct val="25000"/>
              </a:spcBef>
            </a:pPr>
            <a:r>
              <a:rPr lang="zh-CN" altLang="en-US" sz="2600" dirty="0" smtClean="0">
                <a:latin typeface="Times New Roman" pitchFamily="18" charset="0"/>
              </a:rPr>
              <a:t>从指标形式上看，分为</a:t>
            </a:r>
            <a:r>
              <a:rPr lang="zh-CN" altLang="en-US" sz="2600" dirty="0" smtClean="0">
                <a:solidFill>
                  <a:srgbClr val="008000"/>
                </a:solidFill>
                <a:latin typeface="Times New Roman" pitchFamily="18" charset="0"/>
              </a:rPr>
              <a:t>总量水平、相对水平、平均水平</a:t>
            </a:r>
            <a:endParaRPr lang="zh-CN" altLang="en-US" sz="2600" dirty="0" smtClean="0">
              <a:latin typeface="Times New Roman" pitchFamily="18" charset="0"/>
            </a:endParaRPr>
          </a:p>
          <a:p>
            <a:pPr marL="1143000" lvl="1" indent="-457200" eaLnBrk="1" hangingPunct="1">
              <a:lnSpc>
                <a:spcPct val="120000"/>
              </a:lnSpc>
              <a:spcBef>
                <a:spcPct val="25000"/>
              </a:spcBef>
            </a:pPr>
            <a:r>
              <a:rPr lang="zh-CN" altLang="en-US" sz="2600" dirty="0" smtClean="0">
                <a:latin typeface="Times New Roman" pitchFamily="18" charset="0"/>
              </a:rPr>
              <a:t>从位置来看，分为</a:t>
            </a:r>
            <a:r>
              <a:rPr lang="zh-CN" altLang="en-US" sz="2600" dirty="0" smtClean="0">
                <a:solidFill>
                  <a:schemeClr val="tx2"/>
                </a:solidFill>
                <a:latin typeface="Times New Roman" pitchFamily="18" charset="0"/>
              </a:rPr>
              <a:t>最初水平、中间水平和最末水平</a:t>
            </a:r>
            <a:r>
              <a:rPr lang="zh-CN" altLang="en-US" sz="2600" dirty="0" smtClean="0">
                <a:latin typeface="Times New Roman" pitchFamily="18" charset="0"/>
              </a:rPr>
              <a:t>。</a:t>
            </a:r>
          </a:p>
          <a:p>
            <a:pPr marL="1143000" lvl="1" indent="-457200" eaLnBrk="1" hangingPunct="1">
              <a:lnSpc>
                <a:spcPct val="120000"/>
              </a:lnSpc>
              <a:spcBef>
                <a:spcPct val="25000"/>
              </a:spcBef>
            </a:pPr>
            <a:r>
              <a:rPr lang="zh-CN" altLang="en-US" sz="2600" dirty="0" smtClean="0">
                <a:latin typeface="Times New Roman" pitchFamily="18" charset="0"/>
              </a:rPr>
              <a:t>从在分析中的关系看，分为</a:t>
            </a:r>
            <a:r>
              <a:rPr lang="zh-CN" altLang="en-US" sz="2600" dirty="0" smtClean="0">
                <a:solidFill>
                  <a:srgbClr val="008000"/>
                </a:solidFill>
                <a:latin typeface="Times New Roman" pitchFamily="18" charset="0"/>
              </a:rPr>
              <a:t>基期水平、报告期水平</a:t>
            </a:r>
            <a:r>
              <a:rPr lang="en-US" altLang="zh-CN" sz="2600" dirty="0" smtClean="0">
                <a:latin typeface="Times New Roman" pitchFamily="18" charset="0"/>
              </a:rPr>
              <a:t>.</a:t>
            </a:r>
          </a:p>
          <a:p>
            <a:pPr marL="1143000" lvl="1" indent="-457200" eaLnBrk="1" hangingPunct="1">
              <a:lnSpc>
                <a:spcPct val="120000"/>
              </a:lnSpc>
              <a:spcBef>
                <a:spcPct val="25000"/>
              </a:spcBef>
            </a:pPr>
            <a:r>
              <a:rPr lang="zh-CN" altLang="en-US" sz="2600" dirty="0" smtClean="0">
                <a:latin typeface="Times New Roman" pitchFamily="18" charset="0"/>
              </a:rPr>
              <a:t>文字表述：</a:t>
            </a:r>
            <a:r>
              <a:rPr lang="zh-CN" altLang="en-US" sz="2600" dirty="0" smtClean="0">
                <a:solidFill>
                  <a:srgbClr val="3333FF"/>
                </a:solidFill>
                <a:latin typeface="Times New Roman" pitchFamily="18" charset="0"/>
              </a:rPr>
              <a:t>“</a:t>
            </a:r>
            <a:r>
              <a:rPr lang="zh-CN" altLang="en-US" sz="2600" b="0" dirty="0" smtClean="0">
                <a:solidFill>
                  <a:srgbClr val="3333FF"/>
                </a:solidFill>
                <a:latin typeface="Times New Roman" pitchFamily="18" charset="0"/>
              </a:rPr>
              <a:t>为”、 “</a:t>
            </a:r>
            <a:r>
              <a:rPr lang="zh-CN" altLang="en-US" sz="2600" dirty="0" smtClean="0">
                <a:solidFill>
                  <a:srgbClr val="3333FF"/>
                </a:solidFill>
                <a:latin typeface="Times New Roman" pitchFamily="18" charset="0"/>
              </a:rPr>
              <a:t>（发展、增长</a:t>
            </a:r>
            <a:r>
              <a:rPr lang="en-US" altLang="zh-CN" sz="2600" dirty="0" smtClean="0">
                <a:solidFill>
                  <a:srgbClr val="3333FF"/>
                </a:solidFill>
                <a:latin typeface="Times New Roman" pitchFamily="18" charset="0"/>
              </a:rPr>
              <a:t>…</a:t>
            </a:r>
            <a:r>
              <a:rPr lang="zh-CN" altLang="en-US" sz="2600" dirty="0" smtClean="0">
                <a:solidFill>
                  <a:srgbClr val="3333FF"/>
                </a:solidFill>
                <a:latin typeface="Times New Roman" pitchFamily="18" charset="0"/>
              </a:rPr>
              <a:t>）</a:t>
            </a:r>
            <a:r>
              <a:rPr lang="zh-CN" altLang="en-US" sz="2600" b="0" dirty="0" smtClean="0">
                <a:solidFill>
                  <a:srgbClr val="3333FF"/>
                </a:solidFill>
                <a:latin typeface="Times New Roman" pitchFamily="18" charset="0"/>
              </a:rPr>
              <a:t>到</a:t>
            </a:r>
            <a:r>
              <a:rPr lang="zh-CN" altLang="en-US" sz="2600" b="0" dirty="0" smtClean="0">
                <a:latin typeface="Times New Roman" pitchFamily="18" charset="0"/>
              </a:rPr>
              <a:t>。”</a:t>
            </a:r>
          </a:p>
        </p:txBody>
      </p:sp>
      <p:sp>
        <p:nvSpPr>
          <p:cNvPr id="83973" name="日期占位符 4"/>
          <p:cNvSpPr>
            <a:spLocks noGrp="1"/>
          </p:cNvSpPr>
          <p:nvPr>
            <p:ph type="dt" sz="quarter" idx="10"/>
          </p:nvPr>
        </p:nvSpPr>
        <p:spPr>
          <a:noFill/>
        </p:spPr>
        <p:txBody>
          <a:bodyPr/>
          <a:lstStyle/>
          <a:p>
            <a:endParaRPr lang="en-US" altLang="zh-CN" smtClean="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19491">
                                            <p:txEl>
                                              <p:pRg st="0" end="0"/>
                                            </p:txEl>
                                          </p:spTgt>
                                        </p:tgtEl>
                                        <p:attrNameLst>
                                          <p:attrName>style.visibility</p:attrName>
                                        </p:attrNameLst>
                                      </p:cBhvr>
                                      <p:to>
                                        <p:strVal val="visible"/>
                                      </p:to>
                                    </p:set>
                                    <p:animEffect transition="in" filter="wipe(left)">
                                      <p:cBhvr>
                                        <p:cTn id="7" dur="500"/>
                                        <p:tgtEl>
                                          <p:spTgt spid="319491">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19491">
                                            <p:txEl>
                                              <p:pRg st="1" end="1"/>
                                            </p:txEl>
                                          </p:spTgt>
                                        </p:tgtEl>
                                        <p:attrNameLst>
                                          <p:attrName>style.visibility</p:attrName>
                                        </p:attrNameLst>
                                      </p:cBhvr>
                                      <p:to>
                                        <p:strVal val="visible"/>
                                      </p:to>
                                    </p:set>
                                    <p:animEffect transition="in" filter="wipe(left)">
                                      <p:cBhvr>
                                        <p:cTn id="11" dur="1000"/>
                                        <p:tgtEl>
                                          <p:spTgt spid="319491">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19491">
                                            <p:txEl>
                                              <p:pRg st="2" end="2"/>
                                            </p:txEl>
                                          </p:spTgt>
                                        </p:tgtEl>
                                        <p:attrNameLst>
                                          <p:attrName>style.visibility</p:attrName>
                                        </p:attrNameLst>
                                      </p:cBhvr>
                                      <p:to>
                                        <p:strVal val="visible"/>
                                      </p:to>
                                    </p:set>
                                    <p:animEffect transition="in" filter="wipe(left)">
                                      <p:cBhvr>
                                        <p:cTn id="16" dur="500"/>
                                        <p:tgtEl>
                                          <p:spTgt spid="319491">
                                            <p:txEl>
                                              <p:pRg st="2" end="2"/>
                                            </p:txEl>
                                          </p:spTgt>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319491">
                                            <p:txEl>
                                              <p:pRg st="3" end="3"/>
                                            </p:txEl>
                                          </p:spTgt>
                                        </p:tgtEl>
                                        <p:attrNameLst>
                                          <p:attrName>style.visibility</p:attrName>
                                        </p:attrNameLst>
                                      </p:cBhvr>
                                      <p:to>
                                        <p:strVal val="visible"/>
                                      </p:to>
                                    </p:set>
                                    <p:animEffect transition="in" filter="wipe(left)">
                                      <p:cBhvr>
                                        <p:cTn id="20" dur="1000"/>
                                        <p:tgtEl>
                                          <p:spTgt spid="319491">
                                            <p:txEl>
                                              <p:pRg st="3" end="3"/>
                                            </p:txEl>
                                          </p:spTgt>
                                        </p:tgtEl>
                                      </p:cBhvr>
                                    </p:animEffect>
                                  </p:childTnLst>
                                </p:cTn>
                              </p:par>
                            </p:childTnLst>
                          </p:cTn>
                        </p:par>
                        <p:par>
                          <p:cTn id="21" fill="hold">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319491">
                                            <p:txEl>
                                              <p:pRg st="4" end="4"/>
                                            </p:txEl>
                                          </p:spTgt>
                                        </p:tgtEl>
                                        <p:attrNameLst>
                                          <p:attrName>style.visibility</p:attrName>
                                        </p:attrNameLst>
                                      </p:cBhvr>
                                      <p:to>
                                        <p:strVal val="visible"/>
                                      </p:to>
                                    </p:set>
                                    <p:animEffect transition="in" filter="wipe(left)">
                                      <p:cBhvr>
                                        <p:cTn id="24" dur="1000"/>
                                        <p:tgtEl>
                                          <p:spTgt spid="319491">
                                            <p:txEl>
                                              <p:pRg st="4" end="4"/>
                                            </p:txEl>
                                          </p:spTgt>
                                        </p:tgtEl>
                                      </p:cBhvr>
                                    </p:animEffect>
                                  </p:childTnLst>
                                </p:cTn>
                              </p:par>
                            </p:childTnLst>
                          </p:cTn>
                        </p:par>
                        <p:par>
                          <p:cTn id="25" fill="hold">
                            <p:stCondLst>
                              <p:cond delay="2500"/>
                            </p:stCondLst>
                            <p:childTnLst>
                              <p:par>
                                <p:cTn id="26" presetID="22" presetClass="entr" presetSubtype="8" fill="hold" grpId="0" nodeType="afterEffect">
                                  <p:stCondLst>
                                    <p:cond delay="0"/>
                                  </p:stCondLst>
                                  <p:childTnLst>
                                    <p:set>
                                      <p:cBhvr>
                                        <p:cTn id="27" dur="1" fill="hold">
                                          <p:stCondLst>
                                            <p:cond delay="0"/>
                                          </p:stCondLst>
                                        </p:cTn>
                                        <p:tgtEl>
                                          <p:spTgt spid="319491">
                                            <p:txEl>
                                              <p:pRg st="5" end="5"/>
                                            </p:txEl>
                                          </p:spTgt>
                                        </p:tgtEl>
                                        <p:attrNameLst>
                                          <p:attrName>style.visibility</p:attrName>
                                        </p:attrNameLst>
                                      </p:cBhvr>
                                      <p:to>
                                        <p:strVal val="visible"/>
                                      </p:to>
                                    </p:set>
                                    <p:animEffect transition="in" filter="wipe(left)">
                                      <p:cBhvr>
                                        <p:cTn id="28" dur="1000"/>
                                        <p:tgtEl>
                                          <p:spTgt spid="31949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9491" grpId="0" uiExpand="1" build="p" bldLvl="2"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995" name="Rectangle 2"/>
          <p:cNvSpPr>
            <a:spLocks noGrp="1" noChangeArrowheads="1"/>
          </p:cNvSpPr>
          <p:nvPr>
            <p:ph type="title"/>
          </p:nvPr>
        </p:nvSpPr>
        <p:spPr>
          <a:xfrm>
            <a:off x="827584" y="332656"/>
            <a:ext cx="7772400" cy="990600"/>
          </a:xfrm>
        </p:spPr>
        <p:txBody>
          <a:bodyPr/>
          <a:lstStyle/>
          <a:p>
            <a:pPr marL="838200" indent="-838200" eaLnBrk="1" hangingPunct="1"/>
            <a:r>
              <a:rPr lang="en-US" altLang="zh-CN" dirty="0" smtClean="0">
                <a:latin typeface="Times New Roman" pitchFamily="18" charset="0"/>
              </a:rPr>
              <a:t>4.2.2 </a:t>
            </a:r>
            <a:r>
              <a:rPr lang="zh-CN" altLang="en-US" sz="4300" dirty="0" smtClean="0">
                <a:latin typeface="Times New Roman" pitchFamily="18" charset="0"/>
              </a:rPr>
              <a:t> </a:t>
            </a:r>
            <a:r>
              <a:rPr lang="zh-CN" altLang="en-US" sz="4300" dirty="0" smtClean="0">
                <a:latin typeface="Times New Roman" pitchFamily="18" charset="0"/>
              </a:rPr>
              <a:t>平均</a:t>
            </a:r>
            <a:r>
              <a:rPr lang="zh-CN" altLang="en-US" sz="4300" dirty="0" smtClean="0">
                <a:latin typeface="Times New Roman" pitchFamily="18" charset="0"/>
              </a:rPr>
              <a:t>发展水平</a:t>
            </a:r>
            <a:endParaRPr lang="zh-CN" altLang="en-US" sz="4300" dirty="0" smtClean="0">
              <a:latin typeface="Times New Roman" pitchFamily="18" charset="0"/>
            </a:endParaRPr>
          </a:p>
        </p:txBody>
      </p:sp>
      <p:sp>
        <p:nvSpPr>
          <p:cNvPr id="321539" name="Rectangle 3"/>
          <p:cNvSpPr>
            <a:spLocks noGrp="1" noChangeArrowheads="1"/>
          </p:cNvSpPr>
          <p:nvPr>
            <p:ph type="body" idx="1"/>
          </p:nvPr>
        </p:nvSpPr>
        <p:spPr/>
        <p:txBody>
          <a:bodyPr/>
          <a:lstStyle/>
          <a:p>
            <a:pPr marL="609600" indent="-609600" eaLnBrk="1" hangingPunct="1">
              <a:lnSpc>
                <a:spcPct val="115000"/>
              </a:lnSpc>
              <a:spcBef>
                <a:spcPct val="10000"/>
              </a:spcBef>
            </a:pPr>
            <a:r>
              <a:rPr lang="zh-CN" altLang="en-US" sz="2800" dirty="0" smtClean="0">
                <a:latin typeface="Times New Roman" pitchFamily="18" charset="0"/>
              </a:rPr>
              <a:t>平均发展水平</a:t>
            </a:r>
            <a:r>
              <a:rPr lang="zh-CN" altLang="en-US" sz="2400" dirty="0" smtClean="0">
                <a:solidFill>
                  <a:srgbClr val="FF00FF"/>
                </a:solidFill>
              </a:rPr>
              <a:t>（</a:t>
            </a:r>
            <a:r>
              <a:rPr lang="zh-CN" altLang="en-US" sz="2400" dirty="0" smtClean="0">
                <a:latin typeface="Times New Roman" pitchFamily="18" charset="0"/>
              </a:rPr>
              <a:t>又称</a:t>
            </a:r>
            <a:r>
              <a:rPr lang="zh-CN" altLang="en-US" sz="2400" dirty="0" smtClean="0">
                <a:solidFill>
                  <a:srgbClr val="FF00FF"/>
                </a:solidFill>
                <a:latin typeface="Times New Roman" pitchFamily="18" charset="0"/>
              </a:rPr>
              <a:t>序时平均数</a:t>
            </a:r>
            <a:r>
              <a:rPr lang="zh-CN" altLang="en-US" sz="2400" dirty="0" smtClean="0">
                <a:solidFill>
                  <a:srgbClr val="FF00FF"/>
                </a:solidFill>
              </a:rPr>
              <a:t>或动态平均数）</a:t>
            </a:r>
          </a:p>
          <a:p>
            <a:pPr marL="1219200" lvl="1" indent="-533400" eaLnBrk="1" hangingPunct="1">
              <a:lnSpc>
                <a:spcPct val="115000"/>
              </a:lnSpc>
              <a:spcBef>
                <a:spcPct val="10000"/>
              </a:spcBef>
            </a:pPr>
            <a:r>
              <a:rPr lang="zh-CN" altLang="en-US" sz="2400" dirty="0" smtClean="0">
                <a:latin typeface="Times New Roman" pitchFamily="18" charset="0"/>
              </a:rPr>
              <a:t>现象在不同时间上发展水平的平均数，</a:t>
            </a:r>
            <a:r>
              <a:rPr lang="zh-CN" altLang="en-US" sz="2400" dirty="0" smtClean="0">
                <a:latin typeface="Times New Roman" pitchFamily="18" charset="0"/>
                <a:sym typeface="Wingdings 2" pitchFamily="18" charset="2"/>
              </a:rPr>
              <a:t>说明</a:t>
            </a:r>
            <a:r>
              <a:rPr lang="zh-CN" altLang="en-US" sz="2400" dirty="0" smtClean="0">
                <a:latin typeface="Times New Roman" pitchFamily="18" charset="0"/>
              </a:rPr>
              <a:t>现象在一段时期内所达到的一般水平</a:t>
            </a:r>
          </a:p>
          <a:p>
            <a:pPr marL="609600" indent="-609600" eaLnBrk="1" hangingPunct="1">
              <a:lnSpc>
                <a:spcPct val="115000"/>
              </a:lnSpc>
              <a:spcBef>
                <a:spcPct val="10000"/>
              </a:spcBef>
            </a:pPr>
            <a:r>
              <a:rPr lang="zh-CN" altLang="en-US" sz="2400" dirty="0" smtClean="0">
                <a:solidFill>
                  <a:schemeClr val="tx1"/>
                </a:solidFill>
              </a:rPr>
              <a:t>与</a:t>
            </a:r>
            <a:r>
              <a:rPr lang="zh-CN" altLang="en-US" sz="2800" dirty="0" smtClean="0">
                <a:solidFill>
                  <a:srgbClr val="FF00FF"/>
                </a:solidFill>
              </a:rPr>
              <a:t>一般平均数</a:t>
            </a:r>
            <a:r>
              <a:rPr lang="zh-CN" altLang="en-US" sz="2400" b="0" dirty="0" smtClean="0">
                <a:solidFill>
                  <a:srgbClr val="000000"/>
                </a:solidFill>
              </a:rPr>
              <a:t>（也可称为静态平均数）的异同 ：</a:t>
            </a:r>
          </a:p>
          <a:p>
            <a:pPr marL="1219200" lvl="1" indent="-533400" eaLnBrk="1" hangingPunct="1">
              <a:lnSpc>
                <a:spcPct val="115000"/>
              </a:lnSpc>
              <a:spcBef>
                <a:spcPct val="10000"/>
              </a:spcBef>
            </a:pPr>
            <a:r>
              <a:rPr lang="zh-CN" altLang="en-US" sz="2400" dirty="0" smtClean="0">
                <a:solidFill>
                  <a:schemeClr val="tx2"/>
                </a:solidFill>
              </a:rPr>
              <a:t>同</a:t>
            </a:r>
            <a:r>
              <a:rPr lang="zh-CN" altLang="en-US" sz="2400" b="0" dirty="0" smtClean="0">
                <a:solidFill>
                  <a:schemeClr val="tx1"/>
                </a:solidFill>
              </a:rPr>
              <a:t>：</a:t>
            </a:r>
            <a:r>
              <a:rPr lang="zh-CN" altLang="en-US" sz="2400" dirty="0" smtClean="0">
                <a:solidFill>
                  <a:schemeClr val="tx1"/>
                </a:solidFill>
              </a:rPr>
              <a:t>都是将数量差异抽象化，反映现象的一般水平</a:t>
            </a:r>
            <a:r>
              <a:rPr lang="en-US" altLang="zh-CN" sz="2400" dirty="0" smtClean="0">
                <a:solidFill>
                  <a:schemeClr val="tx1"/>
                </a:solidFill>
              </a:rPr>
              <a:t>.</a:t>
            </a:r>
          </a:p>
          <a:p>
            <a:pPr marL="1219200" lvl="1" indent="-533400" eaLnBrk="1" hangingPunct="1">
              <a:lnSpc>
                <a:spcPct val="115000"/>
              </a:lnSpc>
              <a:spcBef>
                <a:spcPct val="10000"/>
              </a:spcBef>
            </a:pPr>
            <a:r>
              <a:rPr lang="zh-CN" altLang="en-US" sz="2400" dirty="0" smtClean="0">
                <a:solidFill>
                  <a:schemeClr val="tx2"/>
                </a:solidFill>
              </a:rPr>
              <a:t>异</a:t>
            </a:r>
            <a:r>
              <a:rPr lang="zh-CN" altLang="en-US" sz="2400" b="0" dirty="0" smtClean="0">
                <a:solidFill>
                  <a:schemeClr val="tx1"/>
                </a:solidFill>
              </a:rPr>
              <a:t>：</a:t>
            </a:r>
            <a:r>
              <a:rPr lang="en-US" altLang="zh-CN" sz="2400" dirty="0" smtClean="0">
                <a:solidFill>
                  <a:schemeClr val="tx1"/>
                </a:solidFill>
              </a:rPr>
              <a:t>1. </a:t>
            </a:r>
            <a:r>
              <a:rPr lang="zh-CN" altLang="en-US" sz="2400" dirty="0" smtClean="0">
                <a:solidFill>
                  <a:schemeClr val="tx1"/>
                </a:solidFill>
              </a:rPr>
              <a:t>所平均数值的时间不同。（详见教材）</a:t>
            </a:r>
          </a:p>
          <a:p>
            <a:pPr marL="1219200" lvl="1" indent="-533400" eaLnBrk="1" hangingPunct="1">
              <a:lnSpc>
                <a:spcPct val="115000"/>
              </a:lnSpc>
              <a:spcBef>
                <a:spcPct val="10000"/>
              </a:spcBef>
            </a:pPr>
            <a:r>
              <a:rPr lang="zh-CN" altLang="en-US" sz="2400" dirty="0" smtClean="0">
                <a:solidFill>
                  <a:schemeClr val="tx1"/>
                </a:solidFill>
              </a:rPr>
              <a:t>       </a:t>
            </a:r>
            <a:r>
              <a:rPr lang="en-US" altLang="zh-CN" sz="2400" dirty="0" smtClean="0">
                <a:solidFill>
                  <a:schemeClr val="tx1"/>
                </a:solidFill>
              </a:rPr>
              <a:t>2. </a:t>
            </a:r>
            <a:r>
              <a:rPr lang="zh-CN" altLang="en-US" sz="2400" dirty="0" smtClean="0">
                <a:solidFill>
                  <a:schemeClr val="tx1"/>
                </a:solidFill>
              </a:rPr>
              <a:t>所说明的问题不同。</a:t>
            </a:r>
          </a:p>
          <a:p>
            <a:pPr marL="1219200" lvl="1" indent="-533400" eaLnBrk="1" hangingPunct="1">
              <a:lnSpc>
                <a:spcPct val="115000"/>
              </a:lnSpc>
              <a:spcBef>
                <a:spcPct val="10000"/>
              </a:spcBef>
            </a:pPr>
            <a:r>
              <a:rPr lang="zh-CN" altLang="en-US" sz="2400" dirty="0" smtClean="0">
                <a:latin typeface="Times New Roman" pitchFamily="18" charset="0"/>
                <a:sym typeface="Wingdings 2" pitchFamily="18" charset="2"/>
              </a:rPr>
              <a:t>        </a:t>
            </a:r>
            <a:r>
              <a:rPr lang="en-US" altLang="zh-CN" sz="2400" dirty="0" smtClean="0">
                <a:latin typeface="Times New Roman" pitchFamily="18" charset="0"/>
                <a:sym typeface="Wingdings 2" pitchFamily="18" charset="2"/>
              </a:rPr>
              <a:t>3. </a:t>
            </a:r>
            <a:r>
              <a:rPr lang="zh-CN" altLang="en-US" sz="2400" dirty="0" smtClean="0">
                <a:latin typeface="Times New Roman" pitchFamily="18" charset="0"/>
                <a:sym typeface="Wingdings 2" pitchFamily="18" charset="2"/>
              </a:rPr>
              <a:t>计算方法也有不同。</a:t>
            </a:r>
          </a:p>
          <a:p>
            <a:pPr marL="1543050" lvl="2" indent="-457200" eaLnBrk="1" hangingPunct="1">
              <a:lnSpc>
                <a:spcPct val="115000"/>
              </a:lnSpc>
              <a:spcBef>
                <a:spcPct val="10000"/>
              </a:spcBef>
            </a:pPr>
            <a:r>
              <a:rPr lang="zh-CN" altLang="en-US" sz="2000" dirty="0" smtClean="0">
                <a:latin typeface="Times New Roman" pitchFamily="18" charset="0"/>
                <a:sym typeface="Wingdings 2" pitchFamily="18" charset="2"/>
              </a:rPr>
              <a:t>      不同类型的时间序列有不同的计算方法</a:t>
            </a:r>
          </a:p>
        </p:txBody>
      </p:sp>
      <p:sp>
        <p:nvSpPr>
          <p:cNvPr id="84997" name="日期占位符 4"/>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21539">
                                            <p:txEl>
                                              <p:pRg st="1" end="1"/>
                                            </p:txEl>
                                          </p:spTgt>
                                        </p:tgtEl>
                                        <p:attrNameLst>
                                          <p:attrName>style.visibility</p:attrName>
                                        </p:attrNameLst>
                                      </p:cBhvr>
                                      <p:to>
                                        <p:strVal val="visible"/>
                                      </p:to>
                                    </p:set>
                                    <p:anim calcmode="lin" valueType="num">
                                      <p:cBhvr additive="base">
                                        <p:cTn id="7" dur="500" fill="hold"/>
                                        <p:tgtEl>
                                          <p:spTgt spid="321539">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21539">
                                            <p:txEl>
                                              <p:pRg st="1" end="1"/>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321539">
                                            <p:txEl>
                                              <p:pRg st="2" end="2"/>
                                            </p:txEl>
                                          </p:spTgt>
                                        </p:tgtEl>
                                        <p:attrNameLst>
                                          <p:attrName>style.visibility</p:attrName>
                                        </p:attrNameLst>
                                      </p:cBhvr>
                                      <p:to>
                                        <p:strVal val="visible"/>
                                      </p:to>
                                    </p:set>
                                    <p:anim calcmode="lin" valueType="num">
                                      <p:cBhvr additive="base">
                                        <p:cTn id="12" dur="1000" fill="hold"/>
                                        <p:tgtEl>
                                          <p:spTgt spid="321539">
                                            <p:txEl>
                                              <p:pRg st="2" end="2"/>
                                            </p:txEl>
                                          </p:spTgt>
                                        </p:tgtEl>
                                        <p:attrNameLst>
                                          <p:attrName>ppt_x</p:attrName>
                                        </p:attrNameLst>
                                      </p:cBhvr>
                                      <p:tavLst>
                                        <p:tav tm="0">
                                          <p:val>
                                            <p:strVal val="0-#ppt_w/2"/>
                                          </p:val>
                                        </p:tav>
                                        <p:tav tm="100000">
                                          <p:val>
                                            <p:strVal val="#ppt_x"/>
                                          </p:val>
                                        </p:tav>
                                      </p:tavLst>
                                    </p:anim>
                                    <p:anim calcmode="lin" valueType="num">
                                      <p:cBhvr additive="base">
                                        <p:cTn id="13" dur="1000" fill="hold"/>
                                        <p:tgtEl>
                                          <p:spTgt spid="321539">
                                            <p:txEl>
                                              <p:pRg st="2" end="2"/>
                                            </p:txEl>
                                          </p:spTgt>
                                        </p:tgtEl>
                                        <p:attrNameLst>
                                          <p:attrName>ppt_y</p:attrName>
                                        </p:attrNameLst>
                                      </p:cBhvr>
                                      <p:tavLst>
                                        <p:tav tm="0">
                                          <p:val>
                                            <p:strVal val="#ppt_y"/>
                                          </p:val>
                                        </p:tav>
                                        <p:tav tm="100000">
                                          <p:val>
                                            <p:strVal val="#ppt_y"/>
                                          </p:val>
                                        </p:tav>
                                      </p:tavLst>
                                    </p:anim>
                                  </p:childTnLst>
                                </p:cTn>
                              </p:par>
                              <p:par>
                                <p:cTn id="14" presetID="2" presetClass="entr" presetSubtype="8" fill="hold" grpId="0" nodeType="withEffect">
                                  <p:stCondLst>
                                    <p:cond delay="0"/>
                                  </p:stCondLst>
                                  <p:childTnLst>
                                    <p:set>
                                      <p:cBhvr>
                                        <p:cTn id="15" dur="1" fill="hold">
                                          <p:stCondLst>
                                            <p:cond delay="0"/>
                                          </p:stCondLst>
                                        </p:cTn>
                                        <p:tgtEl>
                                          <p:spTgt spid="321539">
                                            <p:txEl>
                                              <p:pRg st="3" end="3"/>
                                            </p:txEl>
                                          </p:spTgt>
                                        </p:tgtEl>
                                        <p:attrNameLst>
                                          <p:attrName>style.visibility</p:attrName>
                                        </p:attrNameLst>
                                      </p:cBhvr>
                                      <p:to>
                                        <p:strVal val="visible"/>
                                      </p:to>
                                    </p:set>
                                    <p:anim calcmode="lin" valueType="num">
                                      <p:cBhvr additive="base">
                                        <p:cTn id="16" dur="1000" fill="hold"/>
                                        <p:tgtEl>
                                          <p:spTgt spid="321539">
                                            <p:txEl>
                                              <p:pRg st="3" end="3"/>
                                            </p:txEl>
                                          </p:spTgt>
                                        </p:tgtEl>
                                        <p:attrNameLst>
                                          <p:attrName>ppt_x</p:attrName>
                                        </p:attrNameLst>
                                      </p:cBhvr>
                                      <p:tavLst>
                                        <p:tav tm="0">
                                          <p:val>
                                            <p:strVal val="0-#ppt_w/2"/>
                                          </p:val>
                                        </p:tav>
                                        <p:tav tm="100000">
                                          <p:val>
                                            <p:strVal val="#ppt_x"/>
                                          </p:val>
                                        </p:tav>
                                      </p:tavLst>
                                    </p:anim>
                                    <p:anim calcmode="lin" valueType="num">
                                      <p:cBhvr additive="base">
                                        <p:cTn id="17" dur="1000" fill="hold"/>
                                        <p:tgtEl>
                                          <p:spTgt spid="321539">
                                            <p:txEl>
                                              <p:pRg st="3" end="3"/>
                                            </p:txEl>
                                          </p:spTgt>
                                        </p:tgtEl>
                                        <p:attrNameLst>
                                          <p:attrName>ppt_y</p:attrName>
                                        </p:attrNameLst>
                                      </p:cBhvr>
                                      <p:tavLst>
                                        <p:tav tm="0">
                                          <p:val>
                                            <p:strVal val="#ppt_y"/>
                                          </p:val>
                                        </p:tav>
                                        <p:tav tm="100000">
                                          <p:val>
                                            <p:strVal val="#ppt_y"/>
                                          </p:val>
                                        </p:tav>
                                      </p:tavLst>
                                    </p:anim>
                                  </p:childTnLst>
                                </p:cTn>
                              </p:par>
                              <p:par>
                                <p:cTn id="18" presetID="2" presetClass="entr" presetSubtype="8" fill="hold" grpId="0" nodeType="withEffect">
                                  <p:stCondLst>
                                    <p:cond delay="0"/>
                                  </p:stCondLst>
                                  <p:childTnLst>
                                    <p:set>
                                      <p:cBhvr>
                                        <p:cTn id="19" dur="1" fill="hold">
                                          <p:stCondLst>
                                            <p:cond delay="0"/>
                                          </p:stCondLst>
                                        </p:cTn>
                                        <p:tgtEl>
                                          <p:spTgt spid="321539">
                                            <p:txEl>
                                              <p:pRg st="4" end="4"/>
                                            </p:txEl>
                                          </p:spTgt>
                                        </p:tgtEl>
                                        <p:attrNameLst>
                                          <p:attrName>style.visibility</p:attrName>
                                        </p:attrNameLst>
                                      </p:cBhvr>
                                      <p:to>
                                        <p:strVal val="visible"/>
                                      </p:to>
                                    </p:set>
                                    <p:anim calcmode="lin" valueType="num">
                                      <p:cBhvr additive="base">
                                        <p:cTn id="20" dur="1000" fill="hold"/>
                                        <p:tgtEl>
                                          <p:spTgt spid="321539">
                                            <p:txEl>
                                              <p:pRg st="4" end="4"/>
                                            </p:txEl>
                                          </p:spTgt>
                                        </p:tgtEl>
                                        <p:attrNameLst>
                                          <p:attrName>ppt_x</p:attrName>
                                        </p:attrNameLst>
                                      </p:cBhvr>
                                      <p:tavLst>
                                        <p:tav tm="0">
                                          <p:val>
                                            <p:strVal val="0-#ppt_w/2"/>
                                          </p:val>
                                        </p:tav>
                                        <p:tav tm="100000">
                                          <p:val>
                                            <p:strVal val="#ppt_x"/>
                                          </p:val>
                                        </p:tav>
                                      </p:tavLst>
                                    </p:anim>
                                    <p:anim calcmode="lin" valueType="num">
                                      <p:cBhvr additive="base">
                                        <p:cTn id="21" dur="1000" fill="hold"/>
                                        <p:tgtEl>
                                          <p:spTgt spid="321539">
                                            <p:txEl>
                                              <p:pRg st="4" end="4"/>
                                            </p:txEl>
                                          </p:spTgt>
                                        </p:tgtEl>
                                        <p:attrNameLst>
                                          <p:attrName>ppt_y</p:attrName>
                                        </p:attrNameLst>
                                      </p:cBhvr>
                                      <p:tavLst>
                                        <p:tav tm="0">
                                          <p:val>
                                            <p:strVal val="#ppt_y"/>
                                          </p:val>
                                        </p:tav>
                                        <p:tav tm="100000">
                                          <p:val>
                                            <p:strVal val="#ppt_y"/>
                                          </p:val>
                                        </p:tav>
                                      </p:tavLst>
                                    </p:anim>
                                  </p:childTnLst>
                                </p:cTn>
                              </p:par>
                              <p:par>
                                <p:cTn id="22" presetID="2" presetClass="entr" presetSubtype="8" fill="hold" grpId="0" nodeType="withEffect">
                                  <p:stCondLst>
                                    <p:cond delay="0"/>
                                  </p:stCondLst>
                                  <p:childTnLst>
                                    <p:set>
                                      <p:cBhvr>
                                        <p:cTn id="23" dur="1" fill="hold">
                                          <p:stCondLst>
                                            <p:cond delay="0"/>
                                          </p:stCondLst>
                                        </p:cTn>
                                        <p:tgtEl>
                                          <p:spTgt spid="321539">
                                            <p:txEl>
                                              <p:pRg st="5" end="5"/>
                                            </p:txEl>
                                          </p:spTgt>
                                        </p:tgtEl>
                                        <p:attrNameLst>
                                          <p:attrName>style.visibility</p:attrName>
                                        </p:attrNameLst>
                                      </p:cBhvr>
                                      <p:to>
                                        <p:strVal val="visible"/>
                                      </p:to>
                                    </p:set>
                                    <p:anim calcmode="lin" valueType="num">
                                      <p:cBhvr additive="base">
                                        <p:cTn id="24" dur="1000" fill="hold"/>
                                        <p:tgtEl>
                                          <p:spTgt spid="321539">
                                            <p:txEl>
                                              <p:pRg st="5" end="5"/>
                                            </p:txEl>
                                          </p:spTgt>
                                        </p:tgtEl>
                                        <p:attrNameLst>
                                          <p:attrName>ppt_x</p:attrName>
                                        </p:attrNameLst>
                                      </p:cBhvr>
                                      <p:tavLst>
                                        <p:tav tm="0">
                                          <p:val>
                                            <p:strVal val="0-#ppt_w/2"/>
                                          </p:val>
                                        </p:tav>
                                        <p:tav tm="100000">
                                          <p:val>
                                            <p:strVal val="#ppt_x"/>
                                          </p:val>
                                        </p:tav>
                                      </p:tavLst>
                                    </p:anim>
                                    <p:anim calcmode="lin" valueType="num">
                                      <p:cBhvr additive="base">
                                        <p:cTn id="25" dur="1000" fill="hold"/>
                                        <p:tgtEl>
                                          <p:spTgt spid="321539">
                                            <p:txEl>
                                              <p:pRg st="5" end="5"/>
                                            </p:txEl>
                                          </p:spTgt>
                                        </p:tgtEl>
                                        <p:attrNameLst>
                                          <p:attrName>ppt_y</p:attrName>
                                        </p:attrNameLst>
                                      </p:cBhvr>
                                      <p:tavLst>
                                        <p:tav tm="0">
                                          <p:val>
                                            <p:strVal val="#ppt_y"/>
                                          </p:val>
                                        </p:tav>
                                        <p:tav tm="100000">
                                          <p:val>
                                            <p:strVal val="#ppt_y"/>
                                          </p:val>
                                        </p:tav>
                                      </p:tavLst>
                                    </p:anim>
                                  </p:childTnLst>
                                </p:cTn>
                              </p:par>
                              <p:par>
                                <p:cTn id="26" presetID="2" presetClass="entr" presetSubtype="8" fill="hold" grpId="0" nodeType="withEffect">
                                  <p:stCondLst>
                                    <p:cond delay="0"/>
                                  </p:stCondLst>
                                  <p:childTnLst>
                                    <p:set>
                                      <p:cBhvr>
                                        <p:cTn id="27" dur="1" fill="hold">
                                          <p:stCondLst>
                                            <p:cond delay="0"/>
                                          </p:stCondLst>
                                        </p:cTn>
                                        <p:tgtEl>
                                          <p:spTgt spid="321539">
                                            <p:txEl>
                                              <p:pRg st="6" end="6"/>
                                            </p:txEl>
                                          </p:spTgt>
                                        </p:tgtEl>
                                        <p:attrNameLst>
                                          <p:attrName>style.visibility</p:attrName>
                                        </p:attrNameLst>
                                      </p:cBhvr>
                                      <p:to>
                                        <p:strVal val="visible"/>
                                      </p:to>
                                    </p:set>
                                    <p:anim calcmode="lin" valueType="num">
                                      <p:cBhvr additive="base">
                                        <p:cTn id="28" dur="1000" fill="hold"/>
                                        <p:tgtEl>
                                          <p:spTgt spid="321539">
                                            <p:txEl>
                                              <p:pRg st="6" end="6"/>
                                            </p:txEl>
                                          </p:spTgt>
                                        </p:tgtEl>
                                        <p:attrNameLst>
                                          <p:attrName>ppt_x</p:attrName>
                                        </p:attrNameLst>
                                      </p:cBhvr>
                                      <p:tavLst>
                                        <p:tav tm="0">
                                          <p:val>
                                            <p:strVal val="0-#ppt_w/2"/>
                                          </p:val>
                                        </p:tav>
                                        <p:tav tm="100000">
                                          <p:val>
                                            <p:strVal val="#ppt_x"/>
                                          </p:val>
                                        </p:tav>
                                      </p:tavLst>
                                    </p:anim>
                                    <p:anim calcmode="lin" valueType="num">
                                      <p:cBhvr additive="base">
                                        <p:cTn id="29" dur="1000" fill="hold"/>
                                        <p:tgtEl>
                                          <p:spTgt spid="321539">
                                            <p:txEl>
                                              <p:pRg st="6" end="6"/>
                                            </p:txEl>
                                          </p:spTgt>
                                        </p:tgtEl>
                                        <p:attrNameLst>
                                          <p:attrName>ppt_y</p:attrName>
                                        </p:attrNameLst>
                                      </p:cBhvr>
                                      <p:tavLst>
                                        <p:tav tm="0">
                                          <p:val>
                                            <p:strVal val="#ppt_y"/>
                                          </p:val>
                                        </p:tav>
                                        <p:tav tm="100000">
                                          <p:val>
                                            <p:strVal val="#ppt_y"/>
                                          </p:val>
                                        </p:tav>
                                      </p:tavLst>
                                    </p:anim>
                                  </p:childTnLst>
                                </p:cTn>
                              </p:par>
                              <p:par>
                                <p:cTn id="30" presetID="2" presetClass="entr" presetSubtype="8" fill="hold" grpId="0" nodeType="withEffect">
                                  <p:stCondLst>
                                    <p:cond delay="0"/>
                                  </p:stCondLst>
                                  <p:childTnLst>
                                    <p:set>
                                      <p:cBhvr>
                                        <p:cTn id="31" dur="1" fill="hold">
                                          <p:stCondLst>
                                            <p:cond delay="0"/>
                                          </p:stCondLst>
                                        </p:cTn>
                                        <p:tgtEl>
                                          <p:spTgt spid="321539">
                                            <p:txEl>
                                              <p:pRg st="7" end="7"/>
                                            </p:txEl>
                                          </p:spTgt>
                                        </p:tgtEl>
                                        <p:attrNameLst>
                                          <p:attrName>style.visibility</p:attrName>
                                        </p:attrNameLst>
                                      </p:cBhvr>
                                      <p:to>
                                        <p:strVal val="visible"/>
                                      </p:to>
                                    </p:set>
                                    <p:anim calcmode="lin" valueType="num">
                                      <p:cBhvr additive="base">
                                        <p:cTn id="32" dur="1000" fill="hold"/>
                                        <p:tgtEl>
                                          <p:spTgt spid="321539">
                                            <p:txEl>
                                              <p:pRg st="7" end="7"/>
                                            </p:txEl>
                                          </p:spTgt>
                                        </p:tgtEl>
                                        <p:attrNameLst>
                                          <p:attrName>ppt_x</p:attrName>
                                        </p:attrNameLst>
                                      </p:cBhvr>
                                      <p:tavLst>
                                        <p:tav tm="0">
                                          <p:val>
                                            <p:strVal val="0-#ppt_w/2"/>
                                          </p:val>
                                        </p:tav>
                                        <p:tav tm="100000">
                                          <p:val>
                                            <p:strVal val="#ppt_x"/>
                                          </p:val>
                                        </p:tav>
                                      </p:tavLst>
                                    </p:anim>
                                    <p:anim calcmode="lin" valueType="num">
                                      <p:cBhvr additive="base">
                                        <p:cTn id="33" dur="1000" fill="hold"/>
                                        <p:tgtEl>
                                          <p:spTgt spid="321539">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1539" grpId="0" uiExpand="1"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2" name="Rectangle 2"/>
          <p:cNvSpPr>
            <a:spLocks noGrp="1" noChangeArrowheads="1"/>
          </p:cNvSpPr>
          <p:nvPr>
            <p:ph type="title"/>
          </p:nvPr>
        </p:nvSpPr>
        <p:spPr>
          <a:xfrm>
            <a:off x="990600" y="228600"/>
            <a:ext cx="7010400" cy="1143000"/>
          </a:xfrm>
        </p:spPr>
        <p:txBody>
          <a:bodyPr lIns="90488" tIns="44450" rIns="90488" bIns="44450" anchor="ctr" anchorCtr="1"/>
          <a:lstStyle/>
          <a:p>
            <a:pPr eaLnBrk="1" hangingPunct="1"/>
            <a:r>
              <a:rPr lang="en-US" altLang="zh-CN" sz="4000" dirty="0" smtClean="0"/>
              <a:t>1</a:t>
            </a:r>
            <a:r>
              <a:rPr lang="en-US" altLang="zh-CN" sz="4000" dirty="0" smtClean="0"/>
              <a:t>.</a:t>
            </a:r>
            <a:r>
              <a:rPr kumimoji="1" lang="zh-CN" altLang="en-US" sz="4000" dirty="0">
                <a:sym typeface="Wingdings 2" pitchFamily="18" charset="2"/>
              </a:rPr>
              <a:t>时期</a:t>
            </a:r>
            <a:r>
              <a:rPr kumimoji="1" lang="zh-CN" altLang="en-US" sz="4000" dirty="0" smtClean="0">
                <a:sym typeface="Wingdings 2" pitchFamily="18" charset="2"/>
              </a:rPr>
              <a:t>数列的</a:t>
            </a:r>
            <a:r>
              <a:rPr lang="zh-CN" altLang="en-US" sz="4000" dirty="0" smtClean="0"/>
              <a:t>序</a:t>
            </a:r>
            <a:r>
              <a:rPr lang="zh-CN" altLang="en-US" sz="4000" dirty="0" smtClean="0"/>
              <a:t>时平均数</a:t>
            </a:r>
            <a:endParaRPr lang="zh-CN" altLang="en-US" sz="3600" dirty="0" smtClean="0">
              <a:solidFill>
                <a:schemeClr val="hlink"/>
              </a:solidFill>
            </a:endParaRPr>
          </a:p>
        </p:txBody>
      </p:sp>
      <p:sp>
        <p:nvSpPr>
          <p:cNvPr id="2053" name="Rectangle 3"/>
          <p:cNvSpPr>
            <a:spLocks noGrp="1" noChangeArrowheads="1"/>
          </p:cNvSpPr>
          <p:nvPr>
            <p:ph type="body" idx="1"/>
          </p:nvPr>
        </p:nvSpPr>
        <p:spPr>
          <a:xfrm>
            <a:off x="686147" y="2057400"/>
            <a:ext cx="7413625" cy="2955925"/>
          </a:xfrm>
          <a:noFill/>
        </p:spPr>
        <p:txBody>
          <a:bodyPr lIns="90488" tIns="44450" rIns="90488" bIns="44450"/>
          <a:lstStyle/>
          <a:p>
            <a:pPr marL="0" indent="0" eaLnBrk="1" hangingPunct="1">
              <a:lnSpc>
                <a:spcPct val="90000"/>
              </a:lnSpc>
              <a:buNone/>
            </a:pPr>
            <a:r>
              <a:rPr lang="zh-CN" altLang="en-US" sz="3000" dirty="0" smtClean="0">
                <a:solidFill>
                  <a:srgbClr val="000000"/>
                </a:solidFill>
              </a:rPr>
              <a:t>计算公式：</a:t>
            </a:r>
          </a:p>
          <a:p>
            <a:pPr marL="1085850" lvl="2" indent="0" eaLnBrk="1" hangingPunct="1">
              <a:lnSpc>
                <a:spcPct val="90000"/>
              </a:lnSpc>
              <a:buNone/>
            </a:pPr>
            <a:endParaRPr lang="zh-CN" altLang="en-US" sz="2100" dirty="0" smtClean="0">
              <a:solidFill>
                <a:srgbClr val="000000"/>
              </a:solidFill>
              <a:sym typeface="Wingdings 2" pitchFamily="18" charset="2"/>
            </a:endParaRPr>
          </a:p>
          <a:p>
            <a:pPr marL="1085850" lvl="2" indent="0" eaLnBrk="1" hangingPunct="1">
              <a:lnSpc>
                <a:spcPct val="90000"/>
              </a:lnSpc>
              <a:buNone/>
            </a:pPr>
            <a:endParaRPr lang="zh-CN" altLang="en-US" sz="2100" dirty="0" smtClean="0">
              <a:solidFill>
                <a:srgbClr val="000000"/>
              </a:solidFill>
              <a:sym typeface="Wingdings 2" pitchFamily="18" charset="2"/>
            </a:endParaRPr>
          </a:p>
          <a:p>
            <a:pPr marL="0" indent="0" eaLnBrk="1" hangingPunct="1">
              <a:lnSpc>
                <a:spcPct val="90000"/>
              </a:lnSpc>
              <a:buNone/>
            </a:pPr>
            <a:r>
              <a:rPr lang="zh-CN" altLang="en-US" sz="3000" dirty="0" smtClean="0">
                <a:solidFill>
                  <a:srgbClr val="000000"/>
                </a:solidFill>
                <a:sym typeface="Wingdings 2" pitchFamily="18" charset="2"/>
              </a:rPr>
              <a:t>计算结果表示：</a:t>
            </a:r>
          </a:p>
          <a:p>
            <a:pPr marL="685800" lvl="1" indent="0" eaLnBrk="1" hangingPunct="1">
              <a:lnSpc>
                <a:spcPct val="90000"/>
              </a:lnSpc>
              <a:buNone/>
            </a:pPr>
            <a:r>
              <a:rPr lang="zh-CN" altLang="en-US" sz="3200" dirty="0" smtClean="0">
                <a:latin typeface="Times New Roman" pitchFamily="18" charset="0"/>
                <a:sym typeface="Wingdings 2" pitchFamily="18" charset="2"/>
              </a:rPr>
              <a:t>某段时间内</a:t>
            </a:r>
            <a:r>
              <a:rPr lang="zh-CN" altLang="en-US" sz="3200" u="sng" dirty="0" smtClean="0">
                <a:latin typeface="Times New Roman" pitchFamily="18" charset="0"/>
                <a:sym typeface="Wingdings 2" pitchFamily="18" charset="2"/>
              </a:rPr>
              <a:t>平均每</a:t>
            </a:r>
            <a:r>
              <a:rPr lang="zh-CN" altLang="en-US" sz="3200" u="sng" dirty="0" smtClean="0">
                <a:solidFill>
                  <a:srgbClr val="0070C0"/>
                </a:solidFill>
                <a:latin typeface="Times New Roman" pitchFamily="18" charset="0"/>
                <a:sym typeface="Wingdings 2" pitchFamily="18" charset="2"/>
              </a:rPr>
              <a:t>期</a:t>
            </a:r>
            <a:r>
              <a:rPr lang="zh-CN" altLang="en-US" sz="3200" dirty="0" smtClean="0">
                <a:latin typeface="Times New Roman" pitchFamily="18" charset="0"/>
                <a:sym typeface="Wingdings 2" pitchFamily="18" charset="2"/>
              </a:rPr>
              <a:t>的水平</a:t>
            </a:r>
            <a:r>
              <a:rPr lang="en-US" altLang="zh-CN" sz="3200" dirty="0" smtClean="0">
                <a:latin typeface="Times New Roman" pitchFamily="18" charset="0"/>
                <a:sym typeface="Wingdings 2" pitchFamily="18" charset="2"/>
              </a:rPr>
              <a:t>.</a:t>
            </a:r>
            <a:r>
              <a:rPr lang="en-US" altLang="zh-CN" sz="3200" dirty="0" smtClean="0">
                <a:sym typeface="Wingdings 2" pitchFamily="18" charset="2"/>
              </a:rPr>
              <a:t> </a:t>
            </a:r>
          </a:p>
        </p:txBody>
      </p:sp>
      <p:sp>
        <p:nvSpPr>
          <p:cNvPr id="2054" name="Text Box 4"/>
          <p:cNvSpPr txBox="1">
            <a:spLocks noChangeArrowheads="1"/>
          </p:cNvSpPr>
          <p:nvPr/>
        </p:nvSpPr>
        <p:spPr bwMode="auto">
          <a:xfrm>
            <a:off x="611188" y="1268413"/>
            <a:ext cx="7123112" cy="579437"/>
          </a:xfrm>
          <a:prstGeom prst="rect">
            <a:avLst/>
          </a:prstGeom>
          <a:noFill/>
          <a:ln w="12700">
            <a:noFill/>
            <a:miter lim="800000"/>
            <a:headEnd/>
            <a:tailEnd/>
          </a:ln>
        </p:spPr>
        <p:txBody>
          <a:bodyPr>
            <a:spAutoFit/>
          </a:bodyPr>
          <a:lstStyle/>
          <a:p>
            <a:pPr eaLnBrk="0" hangingPunct="0">
              <a:spcBef>
                <a:spcPct val="50000"/>
              </a:spcBef>
            </a:pPr>
            <a:r>
              <a:rPr kumimoji="1" lang="en-US" altLang="zh-CN" sz="3200" b="1" dirty="0" smtClean="0">
                <a:sym typeface="Wingdings 2" pitchFamily="18" charset="2"/>
              </a:rPr>
              <a:t>——</a:t>
            </a:r>
            <a:r>
              <a:rPr kumimoji="1" lang="zh-CN" altLang="en-US" sz="3200" b="1" dirty="0">
                <a:sym typeface="Wingdings 2" pitchFamily="18" charset="2"/>
              </a:rPr>
              <a:t>简单算术平均法</a:t>
            </a:r>
          </a:p>
        </p:txBody>
      </p:sp>
      <p:sp>
        <p:nvSpPr>
          <p:cNvPr id="322566" name="Rectangle 6"/>
          <p:cNvSpPr>
            <a:spLocks noChangeArrowheads="1"/>
          </p:cNvSpPr>
          <p:nvPr/>
        </p:nvSpPr>
        <p:spPr bwMode="auto">
          <a:xfrm>
            <a:off x="395288" y="5013325"/>
            <a:ext cx="8351837" cy="978729"/>
          </a:xfrm>
          <a:prstGeom prst="rect">
            <a:avLst/>
          </a:prstGeom>
          <a:noFill/>
          <a:ln w="9525">
            <a:noFill/>
            <a:miter lim="800000"/>
            <a:headEnd/>
            <a:tailEnd/>
          </a:ln>
          <a:effectLst/>
        </p:spPr>
        <p:txBody>
          <a:bodyPr>
            <a:spAutoFit/>
          </a:bodyPr>
          <a:lstStyle/>
          <a:p>
            <a:pPr indent="304800">
              <a:lnSpc>
                <a:spcPct val="120000"/>
              </a:lnSpc>
              <a:spcBef>
                <a:spcPct val="20000"/>
              </a:spcBef>
              <a:defRPr/>
            </a:pPr>
            <a:r>
              <a:rPr kumimoji="1" lang="en-US" altLang="zh-CN" sz="2400" dirty="0">
                <a:effectLst>
                  <a:outerShdw blurRad="38100" dist="38100" dir="2700000" algn="tl">
                    <a:srgbClr val="C0C0C0"/>
                  </a:outerShdw>
                </a:effectLst>
                <a:latin typeface="宋体" pitchFamily="2" charset="-122"/>
              </a:rPr>
              <a:t>【</a:t>
            </a:r>
            <a:r>
              <a:rPr kumimoji="1" lang="zh-CN" altLang="en-US" sz="2400" dirty="0">
                <a:effectLst>
                  <a:outerShdw blurRad="38100" dist="38100" dir="2700000" algn="tl">
                    <a:srgbClr val="C0C0C0"/>
                  </a:outerShdw>
                </a:effectLst>
                <a:latin typeface="宋体" pitchFamily="2" charset="-122"/>
              </a:rPr>
              <a:t>例</a:t>
            </a:r>
            <a:r>
              <a:rPr kumimoji="1" lang="en-US" altLang="zh-CN" sz="2400" dirty="0">
                <a:effectLst>
                  <a:outerShdw blurRad="38100" dist="38100" dir="2700000" algn="tl">
                    <a:srgbClr val="C0C0C0"/>
                  </a:outerShdw>
                </a:effectLst>
                <a:latin typeface="宋体" pitchFamily="2" charset="-122"/>
              </a:rPr>
              <a:t>】</a:t>
            </a:r>
            <a:r>
              <a:rPr kumimoji="1" lang="zh-CN" altLang="en-US" sz="2400" dirty="0">
                <a:effectLst>
                  <a:outerShdw blurRad="38100" dist="38100" dir="2700000" algn="tl">
                    <a:srgbClr val="C0C0C0"/>
                  </a:outerShdw>
                </a:effectLst>
                <a:latin typeface="宋体" pitchFamily="2" charset="-122"/>
              </a:rPr>
              <a:t>已知</a:t>
            </a:r>
            <a:r>
              <a:rPr kumimoji="1" lang="zh-CN" altLang="en-US" sz="2400" dirty="0" smtClean="0">
                <a:effectLst>
                  <a:outerShdw blurRad="38100" dist="38100" dir="2700000" algn="tl">
                    <a:srgbClr val="C0C0C0"/>
                  </a:outerShdw>
                </a:effectLst>
                <a:latin typeface="宋体" pitchFamily="2" charset="-122"/>
              </a:rPr>
              <a:t>我国</a:t>
            </a:r>
            <a:r>
              <a:rPr lang="en-US" sz="2400" dirty="0" smtClean="0"/>
              <a:t>2001-2022</a:t>
            </a:r>
            <a:r>
              <a:rPr kumimoji="1" lang="zh-CN" altLang="en-US" sz="2400" dirty="0" smtClean="0">
                <a:effectLst>
                  <a:outerShdw blurRad="38100" dist="38100" dir="2700000" algn="tl">
                    <a:srgbClr val="C0C0C0"/>
                  </a:outerShdw>
                </a:effectLst>
                <a:latin typeface="宋体" pitchFamily="2" charset="-122"/>
              </a:rPr>
              <a:t>年</a:t>
            </a:r>
            <a:r>
              <a:rPr kumimoji="1" lang="zh-CN" altLang="en-US" sz="2400" dirty="0">
                <a:effectLst>
                  <a:outerShdw blurRad="38100" dist="38100" dir="2700000" algn="tl">
                    <a:srgbClr val="C0C0C0"/>
                  </a:outerShdw>
                </a:effectLst>
                <a:latin typeface="宋体" pitchFamily="2" charset="-122"/>
              </a:rPr>
              <a:t>的国内生产总值</a:t>
            </a:r>
            <a:r>
              <a:rPr kumimoji="1" lang="en-US" altLang="zh-CN" sz="2400" dirty="0">
                <a:effectLst>
                  <a:outerShdw blurRad="38100" dist="38100" dir="2700000" algn="tl">
                    <a:srgbClr val="C0C0C0"/>
                  </a:outerShdw>
                </a:effectLst>
                <a:latin typeface="宋体" pitchFamily="2" charset="-122"/>
              </a:rPr>
              <a:t>,</a:t>
            </a:r>
            <a:r>
              <a:rPr kumimoji="1" lang="zh-CN" altLang="en-US" sz="2400" dirty="0">
                <a:effectLst>
                  <a:outerShdw blurRad="38100" dist="38100" dir="2700000" algn="tl">
                    <a:srgbClr val="C0C0C0"/>
                  </a:outerShdw>
                </a:effectLst>
                <a:latin typeface="宋体" pitchFamily="2" charset="-122"/>
              </a:rPr>
              <a:t>计算该</a:t>
            </a:r>
            <a:r>
              <a:rPr kumimoji="1" lang="zh-CN" altLang="en-US" sz="2400" dirty="0" smtClean="0">
                <a:effectLst>
                  <a:outerShdw blurRad="38100" dist="38100" dir="2700000" algn="tl">
                    <a:srgbClr val="C0C0C0"/>
                  </a:outerShdw>
                </a:effectLst>
                <a:latin typeface="宋体" pitchFamily="2" charset="-122"/>
              </a:rPr>
              <a:t>期间</a:t>
            </a:r>
            <a:r>
              <a:rPr lang="zh-CN" altLang="en-US" sz="2400" b="1" dirty="0" smtClean="0">
                <a:solidFill>
                  <a:srgbClr val="000000"/>
                </a:solidFill>
              </a:rPr>
              <a:t>平均</a:t>
            </a:r>
            <a:r>
              <a:rPr lang="zh-CN" altLang="en-US" sz="2400" b="1" dirty="0">
                <a:solidFill>
                  <a:srgbClr val="000000"/>
                </a:solidFill>
              </a:rPr>
              <a:t>每年国内生产总值</a:t>
            </a:r>
            <a:r>
              <a:rPr lang="zh-CN" altLang="en-US" sz="2400" b="1" dirty="0" smtClean="0">
                <a:solidFill>
                  <a:srgbClr val="000000"/>
                </a:solidFill>
              </a:rPr>
              <a:t>为</a:t>
            </a:r>
            <a:r>
              <a:rPr lang="en-US" sz="2400" b="1" dirty="0" smtClean="0"/>
              <a:t>549687.5</a:t>
            </a:r>
            <a:r>
              <a:rPr lang="zh-CN" altLang="en-US" sz="2400" dirty="0" smtClean="0"/>
              <a:t>亿</a:t>
            </a:r>
            <a:r>
              <a:rPr lang="zh-CN" altLang="en-US" sz="2400" dirty="0"/>
              <a:t>元</a:t>
            </a:r>
            <a:r>
              <a:rPr lang="zh-CN" altLang="en-US" sz="2400" dirty="0" smtClean="0"/>
              <a:t>。</a:t>
            </a:r>
            <a:endParaRPr kumimoji="1" lang="zh-CN" altLang="en-US" sz="2400" dirty="0">
              <a:effectLst>
                <a:outerShdw blurRad="38100" dist="38100" dir="2700000" algn="tl">
                  <a:srgbClr val="C0C0C0"/>
                </a:outerShdw>
              </a:effectLst>
              <a:latin typeface="宋体" pitchFamily="2" charset="-122"/>
            </a:endParaRPr>
          </a:p>
        </p:txBody>
      </p:sp>
      <p:graphicFrame>
        <p:nvGraphicFramePr>
          <p:cNvPr id="2050" name="Object 7"/>
          <p:cNvGraphicFramePr>
            <a:graphicFrameLocks noChangeAspect="1"/>
          </p:cNvGraphicFramePr>
          <p:nvPr>
            <p:extLst>
              <p:ext uri="{D42A27DB-BD31-4B8C-83A1-F6EECF244321}">
                <p14:modId xmlns:p14="http://schemas.microsoft.com/office/powerpoint/2010/main" val="3559373125"/>
              </p:ext>
            </p:extLst>
          </p:nvPr>
        </p:nvGraphicFramePr>
        <p:xfrm>
          <a:off x="2754312" y="1528762"/>
          <a:ext cx="4698008" cy="1689535"/>
        </p:xfrm>
        <a:graphic>
          <a:graphicData uri="http://schemas.openxmlformats.org/presentationml/2006/ole">
            <mc:AlternateContent xmlns:mc="http://schemas.openxmlformats.org/markup-compatibility/2006">
              <mc:Choice xmlns:v="urn:schemas-microsoft-com:vml" Requires="v">
                <p:oleObj spid="_x0000_s2154" name="公式" r:id="rId4" imgW="1778000" imgH="609600" progId="Equation.3">
                  <p:embed/>
                </p:oleObj>
              </mc:Choice>
              <mc:Fallback>
                <p:oleObj name="公式" r:id="rId4" imgW="1778000" imgH="60960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54312" y="1528762"/>
                        <a:ext cx="4698008" cy="1689535"/>
                      </a:xfrm>
                      <a:prstGeom prst="rect">
                        <a:avLst/>
                      </a:prstGeom>
                      <a:noFill/>
                      <a:extLst/>
                    </p:spPr>
                  </p:pic>
                </p:oleObj>
              </mc:Fallback>
            </mc:AlternateContent>
          </a:graphicData>
        </a:graphic>
      </p:graphicFrame>
      <p:sp>
        <p:nvSpPr>
          <p:cNvPr id="2057" name="日期占位符 8"/>
          <p:cNvSpPr>
            <a:spLocks noGrp="1"/>
          </p:cNvSpPr>
          <p:nvPr>
            <p:ph type="dt" sz="quarter" idx="10"/>
          </p:nvPr>
        </p:nvSpPr>
        <p:spPr>
          <a:noFill/>
        </p:spPr>
        <p:txBody>
          <a:bodyPr/>
          <a:lstStyle/>
          <a:p>
            <a:endParaRPr lang="en-US" altLang="zh-CN" smtClean="0"/>
          </a:p>
        </p:txBody>
      </p:sp>
    </p:spTree>
  </p:cSld>
  <p:clrMapOvr>
    <a:masterClrMapping/>
  </p:clrMapOvr>
  <p:transition>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2"/>
          <p:cNvSpPr>
            <a:spLocks noGrp="1" noChangeArrowheads="1"/>
          </p:cNvSpPr>
          <p:nvPr>
            <p:ph type="title"/>
          </p:nvPr>
        </p:nvSpPr>
        <p:spPr>
          <a:xfrm>
            <a:off x="1142999" y="516592"/>
            <a:ext cx="7010400" cy="1143000"/>
          </a:xfrm>
        </p:spPr>
        <p:txBody>
          <a:bodyPr lIns="90488" tIns="44450" rIns="90488" bIns="44450" anchor="ctr" anchorCtr="1"/>
          <a:lstStyle/>
          <a:p>
            <a:pPr eaLnBrk="1" hangingPunct="1"/>
            <a:r>
              <a:rPr lang="en-US" altLang="zh-CN" sz="4000" dirty="0" smtClean="0">
                <a:latin typeface="Arial" charset="0"/>
                <a:sym typeface="Wingdings 2" pitchFamily="18" charset="2"/>
              </a:rPr>
              <a:t>2.</a:t>
            </a:r>
            <a:r>
              <a:rPr lang="zh-CN" altLang="en-US" sz="4000" dirty="0" smtClean="0">
                <a:latin typeface="Arial" charset="0"/>
                <a:sym typeface="Wingdings 2" pitchFamily="18" charset="2"/>
              </a:rPr>
              <a:t> </a:t>
            </a:r>
            <a:r>
              <a:rPr lang="zh-CN" altLang="en-US" sz="4000" dirty="0" smtClean="0">
                <a:latin typeface="Arial" charset="0"/>
                <a:sym typeface="Wingdings 2" pitchFamily="18" charset="2"/>
              </a:rPr>
              <a:t>时点数列</a:t>
            </a:r>
            <a:r>
              <a:rPr lang="zh-CN" altLang="en-US" sz="4000" dirty="0" smtClean="0"/>
              <a:t>的序时平均数</a:t>
            </a:r>
            <a:endParaRPr lang="zh-CN" altLang="en-US" sz="3600" dirty="0" smtClean="0"/>
          </a:p>
        </p:txBody>
      </p:sp>
      <p:sp>
        <p:nvSpPr>
          <p:cNvPr id="324611" name="Text Box 3"/>
          <p:cNvSpPr txBox="1">
            <a:spLocks noChangeArrowheads="1"/>
          </p:cNvSpPr>
          <p:nvPr/>
        </p:nvSpPr>
        <p:spPr bwMode="auto">
          <a:xfrm>
            <a:off x="792956" y="1988840"/>
            <a:ext cx="7710487" cy="3477875"/>
          </a:xfrm>
          <a:prstGeom prst="rect">
            <a:avLst/>
          </a:prstGeom>
          <a:noFill/>
          <a:ln w="12700">
            <a:noFill/>
            <a:miter lim="800000"/>
            <a:headEnd/>
            <a:tailEnd/>
          </a:ln>
        </p:spPr>
        <p:txBody>
          <a:bodyPr>
            <a:spAutoFit/>
          </a:bodyPr>
          <a:lstStyle/>
          <a:p>
            <a:pPr algn="just" eaLnBrk="0" hangingPunct="0">
              <a:spcBef>
                <a:spcPts val="2400"/>
              </a:spcBef>
              <a:buFont typeface="Wingdings 2" pitchFamily="18" charset="2"/>
              <a:buNone/>
            </a:pPr>
            <a:r>
              <a:rPr kumimoji="1" lang="en-US" altLang="zh-CN" sz="3200" b="1" dirty="0">
                <a:solidFill>
                  <a:srgbClr val="000000"/>
                </a:solidFill>
                <a:latin typeface="Times New Roman" pitchFamily="18" charset="0"/>
                <a:sym typeface="Wingdings 2" pitchFamily="18" charset="2"/>
              </a:rPr>
              <a:t>  </a:t>
            </a:r>
            <a:r>
              <a:rPr kumimoji="1" lang="zh-CN" altLang="en-US" sz="3200" b="1" dirty="0">
                <a:solidFill>
                  <a:srgbClr val="000000"/>
                </a:solidFill>
                <a:latin typeface="Times New Roman" pitchFamily="18" charset="0"/>
                <a:sym typeface="Wingdings 2" pitchFamily="18" charset="2"/>
              </a:rPr>
              <a:t>计算结果表示：现象在某段时间内平均（每个时点上）所达到的水平。</a:t>
            </a:r>
          </a:p>
          <a:p>
            <a:pPr algn="just" eaLnBrk="0" hangingPunct="0">
              <a:spcBef>
                <a:spcPts val="2400"/>
              </a:spcBef>
              <a:buFont typeface="Wingdings 2" pitchFamily="18" charset="2"/>
              <a:buNone/>
            </a:pPr>
            <a:r>
              <a:rPr kumimoji="1" lang="zh-CN" altLang="en-US" sz="2400" dirty="0">
                <a:solidFill>
                  <a:srgbClr val="000000"/>
                </a:solidFill>
                <a:latin typeface="Times New Roman" pitchFamily="18" charset="0"/>
                <a:sym typeface="Wingdings 2" pitchFamily="18" charset="2"/>
              </a:rPr>
              <a:t>①</a:t>
            </a:r>
            <a:r>
              <a:rPr kumimoji="1" lang="zh-CN" altLang="en-US" sz="2400" dirty="0">
                <a:solidFill>
                  <a:srgbClr val="000000"/>
                </a:solidFill>
                <a:latin typeface="Times New Roman" pitchFamily="18" charset="0"/>
                <a:cs typeface="Times New Roman" pitchFamily="18" charset="0"/>
                <a:sym typeface="Wingdings 2" pitchFamily="18" charset="2"/>
              </a:rPr>
              <a:t>  </a:t>
            </a:r>
            <a:r>
              <a:rPr kumimoji="1" lang="zh-CN" altLang="en-US" sz="3200" b="1" dirty="0">
                <a:solidFill>
                  <a:srgbClr val="3333FF"/>
                </a:solidFill>
                <a:latin typeface="Times New Roman" pitchFamily="18" charset="0"/>
                <a:sym typeface="Wingdings 2" pitchFamily="18" charset="2"/>
              </a:rPr>
              <a:t>连续时点数列</a:t>
            </a:r>
            <a:r>
              <a:rPr kumimoji="1" lang="zh-CN" altLang="en-US" sz="3200" dirty="0">
                <a:solidFill>
                  <a:srgbClr val="000000"/>
                </a:solidFill>
                <a:latin typeface="Times New Roman" pitchFamily="18" charset="0"/>
                <a:sym typeface="Wingdings 2" pitchFamily="18" charset="2"/>
              </a:rPr>
              <a:t>（已知每天数据）</a:t>
            </a:r>
          </a:p>
          <a:p>
            <a:pPr algn="just" eaLnBrk="0" hangingPunct="0">
              <a:spcBef>
                <a:spcPts val="2400"/>
              </a:spcBef>
              <a:buFont typeface="Wingdings 2" pitchFamily="18" charset="2"/>
              <a:buNone/>
            </a:pPr>
            <a:r>
              <a:rPr kumimoji="1" lang="zh-CN" altLang="en-US" sz="3200" dirty="0">
                <a:solidFill>
                  <a:srgbClr val="000000"/>
                </a:solidFill>
                <a:latin typeface="Times New Roman" pitchFamily="18" charset="0"/>
                <a:sym typeface="Wingdings 2" pitchFamily="18" charset="2"/>
              </a:rPr>
              <a:t>                           </a:t>
            </a:r>
            <a:r>
              <a:rPr kumimoji="1" lang="en-US" altLang="zh-CN" sz="3200" b="1" dirty="0">
                <a:solidFill>
                  <a:srgbClr val="000000"/>
                </a:solidFill>
                <a:latin typeface="Times New Roman" pitchFamily="18" charset="0"/>
                <a:sym typeface="Wingdings 2" pitchFamily="18" charset="2"/>
              </a:rPr>
              <a:t>——</a:t>
            </a:r>
            <a:r>
              <a:rPr kumimoji="1" lang="zh-CN" altLang="en-US" sz="3200" b="1" dirty="0">
                <a:solidFill>
                  <a:srgbClr val="000000"/>
                </a:solidFill>
                <a:latin typeface="Times New Roman" pitchFamily="18" charset="0"/>
                <a:sym typeface="Wingdings 2" pitchFamily="18" charset="2"/>
              </a:rPr>
              <a:t>简单算术平均法</a:t>
            </a:r>
            <a:r>
              <a:rPr kumimoji="1" lang="zh-CN" altLang="en-US" sz="2400" dirty="0">
                <a:solidFill>
                  <a:srgbClr val="000000"/>
                </a:solidFill>
                <a:latin typeface="Times New Roman" pitchFamily="18" charset="0"/>
                <a:cs typeface="Times New Roman" pitchFamily="18" charset="0"/>
                <a:sym typeface="Wingdings 2" pitchFamily="18" charset="2"/>
              </a:rPr>
              <a:t>      </a:t>
            </a:r>
          </a:p>
          <a:p>
            <a:pPr algn="just" eaLnBrk="0" hangingPunct="0">
              <a:spcBef>
                <a:spcPts val="2400"/>
              </a:spcBef>
              <a:buFont typeface="Wingdings 2" pitchFamily="18" charset="2"/>
              <a:buNone/>
            </a:pPr>
            <a:r>
              <a:rPr kumimoji="1" lang="zh-CN" altLang="en-US" sz="2400" dirty="0">
                <a:solidFill>
                  <a:srgbClr val="000000"/>
                </a:solidFill>
                <a:latin typeface="Times New Roman" pitchFamily="18" charset="0"/>
                <a:sym typeface="Wingdings 2" pitchFamily="18" charset="2"/>
              </a:rPr>
              <a:t>②</a:t>
            </a:r>
            <a:r>
              <a:rPr kumimoji="1" lang="zh-CN" altLang="en-US" sz="2400" dirty="0">
                <a:solidFill>
                  <a:srgbClr val="000000"/>
                </a:solidFill>
                <a:latin typeface="Times New Roman" pitchFamily="18" charset="0"/>
                <a:cs typeface="Times New Roman" pitchFamily="18" charset="0"/>
                <a:sym typeface="Wingdings 2" pitchFamily="18" charset="2"/>
              </a:rPr>
              <a:t> </a:t>
            </a:r>
            <a:r>
              <a:rPr kumimoji="1" lang="zh-CN" altLang="en-US" sz="3200" b="1" dirty="0">
                <a:solidFill>
                  <a:srgbClr val="3333FF"/>
                </a:solidFill>
                <a:latin typeface="Times New Roman" pitchFamily="18" charset="0"/>
                <a:sym typeface="Wingdings 2" pitchFamily="18" charset="2"/>
              </a:rPr>
              <a:t>不连续时点数列</a:t>
            </a:r>
            <a:r>
              <a:rPr kumimoji="1" lang="en-US" altLang="zh-CN" sz="3200" b="1" dirty="0">
                <a:solidFill>
                  <a:srgbClr val="000000"/>
                </a:solidFill>
                <a:latin typeface="Times New Roman" pitchFamily="18" charset="0"/>
                <a:sym typeface="Wingdings 2" pitchFamily="18" charset="2"/>
              </a:rPr>
              <a:t>——</a:t>
            </a:r>
          </a:p>
        </p:txBody>
      </p:sp>
      <p:sp>
        <p:nvSpPr>
          <p:cNvPr id="86021" name="日期占位符 4"/>
          <p:cNvSpPr>
            <a:spLocks noGrp="1"/>
          </p:cNvSpPr>
          <p:nvPr>
            <p:ph type="dt" sz="quarter" idx="10"/>
          </p:nvPr>
        </p:nvSpPr>
        <p:spPr>
          <a:noFill/>
        </p:spPr>
        <p:txBody>
          <a:bodyPr/>
          <a:lstStyle/>
          <a:p>
            <a:endParaRPr lang="en-US" altLang="zh-CN" smtClean="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4611">
                                            <p:txEl>
                                              <p:pRg st="1" end="1"/>
                                            </p:txEl>
                                          </p:spTgt>
                                        </p:tgtEl>
                                        <p:attrNameLst>
                                          <p:attrName>style.visibility</p:attrName>
                                        </p:attrNameLst>
                                      </p:cBhvr>
                                      <p:to>
                                        <p:strVal val="visible"/>
                                      </p:to>
                                    </p:set>
                                    <p:anim calcmode="lin" valueType="num">
                                      <p:cBhvr additive="base">
                                        <p:cTn id="7" dur="500" fill="hold"/>
                                        <p:tgtEl>
                                          <p:spTgt spid="324611">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24611">
                                            <p:txEl>
                                              <p:pRg st="1" end="1"/>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324611">
                                            <p:txEl>
                                              <p:pRg st="2" end="2"/>
                                            </p:txEl>
                                          </p:spTgt>
                                        </p:tgtEl>
                                        <p:attrNameLst>
                                          <p:attrName>style.visibility</p:attrName>
                                        </p:attrNameLst>
                                      </p:cBhvr>
                                      <p:to>
                                        <p:strVal val="visible"/>
                                      </p:to>
                                    </p:set>
                                    <p:anim calcmode="lin" valueType="num">
                                      <p:cBhvr additive="base">
                                        <p:cTn id="12" dur="250" fill="hold"/>
                                        <p:tgtEl>
                                          <p:spTgt spid="324611">
                                            <p:txEl>
                                              <p:pRg st="2" end="2"/>
                                            </p:txEl>
                                          </p:spTgt>
                                        </p:tgtEl>
                                        <p:attrNameLst>
                                          <p:attrName>ppt_x</p:attrName>
                                        </p:attrNameLst>
                                      </p:cBhvr>
                                      <p:tavLst>
                                        <p:tav tm="0">
                                          <p:val>
                                            <p:strVal val="0-#ppt_w/2"/>
                                          </p:val>
                                        </p:tav>
                                        <p:tav tm="100000">
                                          <p:val>
                                            <p:strVal val="#ppt_x"/>
                                          </p:val>
                                        </p:tav>
                                      </p:tavLst>
                                    </p:anim>
                                    <p:anim calcmode="lin" valueType="num">
                                      <p:cBhvr additive="base">
                                        <p:cTn id="13" dur="250" fill="hold"/>
                                        <p:tgtEl>
                                          <p:spTgt spid="324611">
                                            <p:txEl>
                                              <p:pRg st="2" end="2"/>
                                            </p:txEl>
                                          </p:spTgt>
                                        </p:tgtEl>
                                        <p:attrNameLst>
                                          <p:attrName>ppt_y</p:attrName>
                                        </p:attrNameLst>
                                      </p:cBhvr>
                                      <p:tavLst>
                                        <p:tav tm="0">
                                          <p:val>
                                            <p:strVal val="#ppt_y"/>
                                          </p:val>
                                        </p:tav>
                                        <p:tav tm="100000">
                                          <p:val>
                                            <p:strVal val="#ppt_y"/>
                                          </p:val>
                                        </p:tav>
                                      </p:tavLst>
                                    </p:anim>
                                  </p:childTnLst>
                                </p:cTn>
                              </p:par>
                            </p:childTnLst>
                          </p:cTn>
                        </p:par>
                        <p:par>
                          <p:cTn id="14" fill="hold">
                            <p:stCondLst>
                              <p:cond delay="750"/>
                            </p:stCondLst>
                            <p:childTnLst>
                              <p:par>
                                <p:cTn id="15" presetID="2" presetClass="entr" presetSubtype="8" fill="hold" grpId="0" nodeType="afterEffect">
                                  <p:stCondLst>
                                    <p:cond delay="0"/>
                                  </p:stCondLst>
                                  <p:childTnLst>
                                    <p:set>
                                      <p:cBhvr>
                                        <p:cTn id="16" dur="1" fill="hold">
                                          <p:stCondLst>
                                            <p:cond delay="0"/>
                                          </p:stCondLst>
                                        </p:cTn>
                                        <p:tgtEl>
                                          <p:spTgt spid="324611">
                                            <p:txEl>
                                              <p:pRg st="3" end="3"/>
                                            </p:txEl>
                                          </p:spTgt>
                                        </p:tgtEl>
                                        <p:attrNameLst>
                                          <p:attrName>style.visibility</p:attrName>
                                        </p:attrNameLst>
                                      </p:cBhvr>
                                      <p:to>
                                        <p:strVal val="visible"/>
                                      </p:to>
                                    </p:set>
                                    <p:anim calcmode="lin" valueType="num">
                                      <p:cBhvr additive="base">
                                        <p:cTn id="17" dur="1500" fill="hold"/>
                                        <p:tgtEl>
                                          <p:spTgt spid="324611">
                                            <p:txEl>
                                              <p:pRg st="3" end="3"/>
                                            </p:txEl>
                                          </p:spTgt>
                                        </p:tgtEl>
                                        <p:attrNameLst>
                                          <p:attrName>ppt_x</p:attrName>
                                        </p:attrNameLst>
                                      </p:cBhvr>
                                      <p:tavLst>
                                        <p:tav tm="0">
                                          <p:val>
                                            <p:strVal val="0-#ppt_w/2"/>
                                          </p:val>
                                        </p:tav>
                                        <p:tav tm="100000">
                                          <p:val>
                                            <p:strVal val="#ppt_x"/>
                                          </p:val>
                                        </p:tav>
                                      </p:tavLst>
                                    </p:anim>
                                    <p:anim calcmode="lin" valueType="num">
                                      <p:cBhvr additive="base">
                                        <p:cTn id="18" dur="1500" fill="hold"/>
                                        <p:tgtEl>
                                          <p:spTgt spid="324611">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611" grpId="0" uiExpand="1"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7331" name="Object 19"/>
          <p:cNvGraphicFramePr>
            <a:graphicFrameLocks noChangeAspect="1"/>
          </p:cNvGraphicFramePr>
          <p:nvPr>
            <p:extLst>
              <p:ext uri="{D42A27DB-BD31-4B8C-83A1-F6EECF244321}">
                <p14:modId xmlns:p14="http://schemas.microsoft.com/office/powerpoint/2010/main" val="3056921939"/>
              </p:ext>
            </p:extLst>
          </p:nvPr>
        </p:nvGraphicFramePr>
        <p:xfrm>
          <a:off x="4225940" y="5090491"/>
          <a:ext cx="1360487" cy="1457981"/>
        </p:xfrm>
        <a:graphic>
          <a:graphicData uri="http://schemas.openxmlformats.org/presentationml/2006/ole">
            <mc:AlternateContent xmlns:mc="http://schemas.openxmlformats.org/markup-compatibility/2006">
              <mc:Choice xmlns:v="urn:schemas-microsoft-com:vml" Requires="v">
                <p:oleObj spid="_x0000_s223365" name="公式" r:id="rId3" imgW="126720" imgH="177480" progId="Equation.3">
                  <p:embed/>
                </p:oleObj>
              </mc:Choice>
              <mc:Fallback>
                <p:oleObj name="公式" r:id="rId3" imgW="126720" imgH="177480" progId="Equation.3">
                  <p:embed/>
                  <p:pic>
                    <p:nvPicPr>
                      <p:cNvPr id="0"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5940" y="5090491"/>
                        <a:ext cx="1360487" cy="1457981"/>
                      </a:xfrm>
                      <a:prstGeom prst="rect">
                        <a:avLst/>
                      </a:prstGeom>
                      <a:solidFill>
                        <a:srgbClr val="00FFFF"/>
                      </a:solidFill>
                    </p:spPr>
                  </p:pic>
                </p:oleObj>
              </mc:Fallback>
            </mc:AlternateContent>
          </a:graphicData>
        </a:graphic>
      </p:graphicFrame>
      <p:sp>
        <p:nvSpPr>
          <p:cNvPr id="397314" name="Line 2"/>
          <p:cNvSpPr>
            <a:spLocks noChangeShapeType="1"/>
          </p:cNvSpPr>
          <p:nvPr/>
        </p:nvSpPr>
        <p:spPr bwMode="auto">
          <a:xfrm flipH="1">
            <a:off x="7667625" y="2355229"/>
            <a:ext cx="357188" cy="685800"/>
          </a:xfrm>
          <a:prstGeom prst="line">
            <a:avLst/>
          </a:prstGeom>
          <a:noFill/>
          <a:ln w="76200">
            <a:solidFill>
              <a:srgbClr val="3EB127"/>
            </a:solidFill>
            <a:round/>
            <a:headEnd/>
            <a:tailEnd type="triangle" w="med" len="med"/>
          </a:ln>
        </p:spPr>
        <p:txBody>
          <a:bodyPr/>
          <a:lstStyle/>
          <a:p>
            <a:endParaRPr lang="zh-CN" altLang="en-US"/>
          </a:p>
        </p:txBody>
      </p:sp>
      <p:sp>
        <p:nvSpPr>
          <p:cNvPr id="3087" name="Line 3"/>
          <p:cNvSpPr>
            <a:spLocks noChangeShapeType="1"/>
          </p:cNvSpPr>
          <p:nvPr/>
        </p:nvSpPr>
        <p:spPr bwMode="auto">
          <a:xfrm>
            <a:off x="990600" y="1966292"/>
            <a:ext cx="7086600" cy="0"/>
          </a:xfrm>
          <a:prstGeom prst="line">
            <a:avLst/>
          </a:prstGeom>
          <a:noFill/>
          <a:ln w="57150">
            <a:solidFill>
              <a:schemeClr val="tx1"/>
            </a:solidFill>
            <a:round/>
            <a:headEnd/>
            <a:tailEnd/>
          </a:ln>
        </p:spPr>
        <p:txBody>
          <a:bodyPr/>
          <a:lstStyle/>
          <a:p>
            <a:endParaRPr lang="zh-CN" altLang="en-US"/>
          </a:p>
        </p:txBody>
      </p:sp>
      <p:sp>
        <p:nvSpPr>
          <p:cNvPr id="3088" name="Line 4"/>
          <p:cNvSpPr>
            <a:spLocks noChangeShapeType="1"/>
          </p:cNvSpPr>
          <p:nvPr/>
        </p:nvSpPr>
        <p:spPr bwMode="auto">
          <a:xfrm>
            <a:off x="990600" y="1661492"/>
            <a:ext cx="0" cy="304800"/>
          </a:xfrm>
          <a:prstGeom prst="line">
            <a:avLst/>
          </a:prstGeom>
          <a:noFill/>
          <a:ln w="57150">
            <a:solidFill>
              <a:schemeClr val="tx1"/>
            </a:solidFill>
            <a:miter lim="800000"/>
            <a:headEnd/>
            <a:tailEnd/>
          </a:ln>
        </p:spPr>
        <p:txBody>
          <a:bodyPr wrap="none"/>
          <a:lstStyle/>
          <a:p>
            <a:endParaRPr lang="zh-CN" altLang="en-US"/>
          </a:p>
        </p:txBody>
      </p:sp>
      <p:sp>
        <p:nvSpPr>
          <p:cNvPr id="3089" name="Line 5"/>
          <p:cNvSpPr>
            <a:spLocks noChangeShapeType="1"/>
          </p:cNvSpPr>
          <p:nvPr/>
        </p:nvSpPr>
        <p:spPr bwMode="auto">
          <a:xfrm flipH="1">
            <a:off x="3352800" y="1661492"/>
            <a:ext cx="0" cy="304800"/>
          </a:xfrm>
          <a:prstGeom prst="line">
            <a:avLst/>
          </a:prstGeom>
          <a:noFill/>
          <a:ln w="57150">
            <a:solidFill>
              <a:schemeClr val="tx1"/>
            </a:solidFill>
            <a:miter lim="800000"/>
            <a:headEnd/>
            <a:tailEnd/>
          </a:ln>
        </p:spPr>
        <p:txBody>
          <a:bodyPr wrap="none"/>
          <a:lstStyle/>
          <a:p>
            <a:endParaRPr lang="zh-CN" altLang="en-US"/>
          </a:p>
        </p:txBody>
      </p:sp>
      <p:sp>
        <p:nvSpPr>
          <p:cNvPr id="3090" name="Line 6"/>
          <p:cNvSpPr>
            <a:spLocks noChangeShapeType="1"/>
          </p:cNvSpPr>
          <p:nvPr/>
        </p:nvSpPr>
        <p:spPr bwMode="auto">
          <a:xfrm>
            <a:off x="6400800" y="1661492"/>
            <a:ext cx="0" cy="304800"/>
          </a:xfrm>
          <a:prstGeom prst="line">
            <a:avLst/>
          </a:prstGeom>
          <a:noFill/>
          <a:ln w="57150">
            <a:solidFill>
              <a:schemeClr val="tx1"/>
            </a:solidFill>
            <a:miter lim="800000"/>
            <a:headEnd/>
            <a:tailEnd/>
          </a:ln>
        </p:spPr>
        <p:txBody>
          <a:bodyPr wrap="none"/>
          <a:lstStyle/>
          <a:p>
            <a:endParaRPr lang="zh-CN" altLang="en-US"/>
          </a:p>
        </p:txBody>
      </p:sp>
      <p:sp>
        <p:nvSpPr>
          <p:cNvPr id="3091" name="Line 7"/>
          <p:cNvSpPr>
            <a:spLocks noChangeShapeType="1"/>
          </p:cNvSpPr>
          <p:nvPr/>
        </p:nvSpPr>
        <p:spPr bwMode="auto">
          <a:xfrm>
            <a:off x="8077200" y="1661492"/>
            <a:ext cx="0" cy="304800"/>
          </a:xfrm>
          <a:prstGeom prst="line">
            <a:avLst/>
          </a:prstGeom>
          <a:noFill/>
          <a:ln w="57150">
            <a:solidFill>
              <a:schemeClr val="tx1"/>
            </a:solidFill>
            <a:miter lim="800000"/>
            <a:headEnd/>
            <a:tailEnd/>
          </a:ln>
        </p:spPr>
        <p:txBody>
          <a:bodyPr wrap="none"/>
          <a:lstStyle/>
          <a:p>
            <a:endParaRPr lang="zh-CN" altLang="en-US"/>
          </a:p>
        </p:txBody>
      </p:sp>
      <p:graphicFrame>
        <p:nvGraphicFramePr>
          <p:cNvPr id="3074" name="Object 8"/>
          <p:cNvGraphicFramePr>
            <a:graphicFrameLocks noChangeAspect="1"/>
          </p:cNvGraphicFramePr>
          <p:nvPr>
            <p:extLst>
              <p:ext uri="{D42A27DB-BD31-4B8C-83A1-F6EECF244321}">
                <p14:modId xmlns:p14="http://schemas.microsoft.com/office/powerpoint/2010/main" val="2047879278"/>
              </p:ext>
            </p:extLst>
          </p:nvPr>
        </p:nvGraphicFramePr>
        <p:xfrm>
          <a:off x="7956550" y="1994867"/>
          <a:ext cx="719138" cy="698500"/>
        </p:xfrm>
        <a:graphic>
          <a:graphicData uri="http://schemas.openxmlformats.org/presentationml/2006/ole">
            <mc:AlternateContent xmlns:mc="http://schemas.openxmlformats.org/markup-compatibility/2006">
              <mc:Choice xmlns:v="urn:schemas-microsoft-com:vml" Requires="v">
                <p:oleObj spid="_x0000_s223366" name="公式" r:id="rId5" imgW="164880" imgH="203040" progId="Equation.3">
                  <p:embed/>
                </p:oleObj>
              </mc:Choice>
              <mc:Fallback>
                <p:oleObj name="公式" r:id="rId5" imgW="164880" imgH="20304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56550" y="1994867"/>
                        <a:ext cx="719138" cy="698500"/>
                      </a:xfrm>
                      <a:prstGeom prst="rect">
                        <a:avLst/>
                      </a:prstGeom>
                      <a:solidFill>
                        <a:schemeClr val="tx1">
                          <a:lumMod val="20000"/>
                          <a:lumOff val="80000"/>
                        </a:schemeClr>
                      </a:solidFill>
                    </p:spPr>
                  </p:pic>
                </p:oleObj>
              </mc:Fallback>
            </mc:AlternateContent>
          </a:graphicData>
        </a:graphic>
      </p:graphicFrame>
      <p:sp>
        <p:nvSpPr>
          <p:cNvPr id="397321" name="Line 9"/>
          <p:cNvSpPr>
            <a:spLocks noChangeShapeType="1"/>
          </p:cNvSpPr>
          <p:nvPr/>
        </p:nvSpPr>
        <p:spPr bwMode="auto">
          <a:xfrm>
            <a:off x="1066800" y="2652092"/>
            <a:ext cx="533400" cy="457200"/>
          </a:xfrm>
          <a:prstGeom prst="line">
            <a:avLst/>
          </a:prstGeom>
          <a:noFill/>
          <a:ln w="76200">
            <a:solidFill>
              <a:srgbClr val="3EB127"/>
            </a:solidFill>
            <a:round/>
            <a:headEnd/>
            <a:tailEnd type="triangle" w="med" len="med"/>
          </a:ln>
        </p:spPr>
        <p:txBody>
          <a:bodyPr/>
          <a:lstStyle/>
          <a:p>
            <a:endParaRPr lang="zh-CN" altLang="en-US"/>
          </a:p>
        </p:txBody>
      </p:sp>
      <p:sp>
        <p:nvSpPr>
          <p:cNvPr id="397322" name="Line 10"/>
          <p:cNvSpPr>
            <a:spLocks noChangeShapeType="1"/>
          </p:cNvSpPr>
          <p:nvPr/>
        </p:nvSpPr>
        <p:spPr bwMode="auto">
          <a:xfrm flipH="1">
            <a:off x="2514600" y="2715592"/>
            <a:ext cx="544513" cy="393700"/>
          </a:xfrm>
          <a:prstGeom prst="line">
            <a:avLst/>
          </a:prstGeom>
          <a:noFill/>
          <a:ln w="76200">
            <a:solidFill>
              <a:srgbClr val="3EB127"/>
            </a:solidFill>
            <a:round/>
            <a:headEnd/>
            <a:tailEnd type="triangle" w="med" len="med"/>
          </a:ln>
        </p:spPr>
        <p:txBody>
          <a:bodyPr/>
          <a:lstStyle/>
          <a:p>
            <a:endParaRPr lang="zh-CN" altLang="en-US"/>
          </a:p>
        </p:txBody>
      </p:sp>
      <p:sp>
        <p:nvSpPr>
          <p:cNvPr id="397323" name="Line 11"/>
          <p:cNvSpPr>
            <a:spLocks noChangeShapeType="1"/>
          </p:cNvSpPr>
          <p:nvPr/>
        </p:nvSpPr>
        <p:spPr bwMode="auto">
          <a:xfrm flipH="1">
            <a:off x="5508625" y="2571129"/>
            <a:ext cx="585788" cy="609600"/>
          </a:xfrm>
          <a:prstGeom prst="line">
            <a:avLst/>
          </a:prstGeom>
          <a:noFill/>
          <a:ln w="76200">
            <a:solidFill>
              <a:srgbClr val="3EB127"/>
            </a:solidFill>
            <a:round/>
            <a:headEnd/>
            <a:tailEnd type="triangle" w="med" len="med"/>
          </a:ln>
        </p:spPr>
        <p:txBody>
          <a:bodyPr/>
          <a:lstStyle/>
          <a:p>
            <a:endParaRPr lang="zh-CN" altLang="en-US"/>
          </a:p>
        </p:txBody>
      </p:sp>
      <p:sp>
        <p:nvSpPr>
          <p:cNvPr id="397324" name="Line 12"/>
          <p:cNvSpPr>
            <a:spLocks noChangeShapeType="1"/>
          </p:cNvSpPr>
          <p:nvPr/>
        </p:nvSpPr>
        <p:spPr bwMode="auto">
          <a:xfrm>
            <a:off x="6781800" y="2499692"/>
            <a:ext cx="457200" cy="533400"/>
          </a:xfrm>
          <a:prstGeom prst="line">
            <a:avLst/>
          </a:prstGeom>
          <a:noFill/>
          <a:ln w="76200">
            <a:solidFill>
              <a:srgbClr val="3EB127"/>
            </a:solidFill>
            <a:round/>
            <a:headEnd/>
            <a:tailEnd type="triangle" w="med" len="med"/>
          </a:ln>
        </p:spPr>
        <p:txBody>
          <a:bodyPr/>
          <a:lstStyle/>
          <a:p>
            <a:endParaRPr lang="zh-CN" altLang="en-US"/>
          </a:p>
        </p:txBody>
      </p:sp>
      <p:sp>
        <p:nvSpPr>
          <p:cNvPr id="397325" name="Line 13"/>
          <p:cNvSpPr>
            <a:spLocks noChangeShapeType="1"/>
          </p:cNvSpPr>
          <p:nvPr/>
        </p:nvSpPr>
        <p:spPr bwMode="auto">
          <a:xfrm>
            <a:off x="3708400" y="2642567"/>
            <a:ext cx="541338" cy="536575"/>
          </a:xfrm>
          <a:prstGeom prst="line">
            <a:avLst/>
          </a:prstGeom>
          <a:noFill/>
          <a:ln w="76200">
            <a:solidFill>
              <a:srgbClr val="3EB127"/>
            </a:solidFill>
            <a:round/>
            <a:headEnd/>
            <a:tailEnd type="triangle" w="med" len="med"/>
          </a:ln>
        </p:spPr>
        <p:txBody>
          <a:bodyPr/>
          <a:lstStyle/>
          <a:p>
            <a:endParaRPr lang="zh-CN" altLang="en-US"/>
          </a:p>
        </p:txBody>
      </p:sp>
      <p:sp>
        <p:nvSpPr>
          <p:cNvPr id="3097" name="Rectangle 14"/>
          <p:cNvSpPr>
            <a:spLocks noChangeArrowheads="1"/>
          </p:cNvSpPr>
          <p:nvPr/>
        </p:nvSpPr>
        <p:spPr bwMode="auto">
          <a:xfrm>
            <a:off x="4167188" y="3095625"/>
            <a:ext cx="9144000" cy="0"/>
          </a:xfrm>
          <a:prstGeom prst="rect">
            <a:avLst/>
          </a:prstGeom>
          <a:noFill/>
          <a:ln w="9525">
            <a:noFill/>
            <a:miter lim="800000"/>
            <a:headEnd/>
            <a:tailEnd/>
          </a:ln>
        </p:spPr>
        <p:txBody>
          <a:bodyPr>
            <a:spAutoFit/>
          </a:bodyPr>
          <a:lstStyle/>
          <a:p>
            <a:endParaRPr lang="zh-CN" altLang="en-US"/>
          </a:p>
        </p:txBody>
      </p:sp>
      <p:graphicFrame>
        <p:nvGraphicFramePr>
          <p:cNvPr id="397327" name="Object 15"/>
          <p:cNvGraphicFramePr>
            <a:graphicFrameLocks noChangeAspect="1"/>
          </p:cNvGraphicFramePr>
          <p:nvPr>
            <p:extLst>
              <p:ext uri="{D42A27DB-BD31-4B8C-83A1-F6EECF244321}">
                <p14:modId xmlns:p14="http://schemas.microsoft.com/office/powerpoint/2010/main" val="1269737685"/>
              </p:ext>
            </p:extLst>
          </p:nvPr>
        </p:nvGraphicFramePr>
        <p:xfrm>
          <a:off x="1547813" y="3114054"/>
          <a:ext cx="1223962" cy="971550"/>
        </p:xfrm>
        <a:graphic>
          <a:graphicData uri="http://schemas.openxmlformats.org/presentationml/2006/ole">
            <mc:AlternateContent xmlns:mc="http://schemas.openxmlformats.org/markup-compatibility/2006">
              <mc:Choice xmlns:v="urn:schemas-microsoft-com:vml" Requires="v">
                <p:oleObj spid="_x0000_s223367" name="公式" r:id="rId7" imgW="444240" imgH="355320" progId="Equation.3">
                  <p:embed/>
                </p:oleObj>
              </mc:Choice>
              <mc:Fallback>
                <p:oleObj name="公式" r:id="rId7" imgW="444240" imgH="355320" progId="Equation.3">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47813" y="3114054"/>
                        <a:ext cx="1223962" cy="971550"/>
                      </a:xfrm>
                      <a:prstGeom prst="rect">
                        <a:avLst/>
                      </a:prstGeom>
                      <a:solidFill>
                        <a:schemeClr val="accent1">
                          <a:lumMod val="60000"/>
                          <a:lumOff val="40000"/>
                        </a:schemeClr>
                      </a:solidFill>
                    </p:spPr>
                  </p:pic>
                </p:oleObj>
              </mc:Fallback>
            </mc:AlternateContent>
          </a:graphicData>
        </a:graphic>
      </p:graphicFrame>
      <p:graphicFrame>
        <p:nvGraphicFramePr>
          <p:cNvPr id="397329" name="Object 17"/>
          <p:cNvGraphicFramePr>
            <a:graphicFrameLocks noChangeAspect="1"/>
          </p:cNvGraphicFramePr>
          <p:nvPr>
            <p:extLst>
              <p:ext uri="{D42A27DB-BD31-4B8C-83A1-F6EECF244321}">
                <p14:modId xmlns:p14="http://schemas.microsoft.com/office/powerpoint/2010/main" val="2098739065"/>
              </p:ext>
            </p:extLst>
          </p:nvPr>
        </p:nvGraphicFramePr>
        <p:xfrm>
          <a:off x="4859338" y="4371354"/>
          <a:ext cx="762000" cy="450850"/>
        </p:xfrm>
        <a:graphic>
          <a:graphicData uri="http://schemas.openxmlformats.org/presentationml/2006/ole">
            <mc:AlternateContent xmlns:mc="http://schemas.openxmlformats.org/markup-compatibility/2006">
              <mc:Choice xmlns:v="urn:schemas-microsoft-com:vml" Requires="v">
                <p:oleObj spid="_x0000_s223368" r:id="rId9" imgW="406048" imgH="304536" progId="Equation.3">
                  <p:embed/>
                </p:oleObj>
              </mc:Choice>
              <mc:Fallback>
                <p:oleObj r:id="rId9" imgW="406048" imgH="304536" progId="Equation.3">
                  <p:embed/>
                  <p:pic>
                    <p:nvPicPr>
                      <p:cNvPr id="0" name="Object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59338" y="4371354"/>
                        <a:ext cx="762000" cy="450850"/>
                      </a:xfrm>
                      <a:prstGeom prst="rect">
                        <a:avLst/>
                      </a:prstGeom>
                      <a:solidFill>
                        <a:srgbClr val="00CC66"/>
                      </a:solidFill>
                    </p:spPr>
                  </p:pic>
                </p:oleObj>
              </mc:Fallback>
            </mc:AlternateContent>
          </a:graphicData>
        </a:graphic>
      </p:graphicFrame>
      <p:graphicFrame>
        <p:nvGraphicFramePr>
          <p:cNvPr id="397330" name="Object 18"/>
          <p:cNvGraphicFramePr>
            <a:graphicFrameLocks noChangeAspect="1"/>
          </p:cNvGraphicFramePr>
          <p:nvPr>
            <p:extLst>
              <p:ext uri="{D42A27DB-BD31-4B8C-83A1-F6EECF244321}">
                <p14:modId xmlns:p14="http://schemas.microsoft.com/office/powerpoint/2010/main" val="2562346407"/>
              </p:ext>
            </p:extLst>
          </p:nvPr>
        </p:nvGraphicFramePr>
        <p:xfrm>
          <a:off x="6434931" y="4531995"/>
          <a:ext cx="914400" cy="568325"/>
        </p:xfrm>
        <a:graphic>
          <a:graphicData uri="http://schemas.openxmlformats.org/presentationml/2006/ole">
            <mc:AlternateContent xmlns:mc="http://schemas.openxmlformats.org/markup-compatibility/2006">
              <mc:Choice xmlns:v="urn:schemas-microsoft-com:vml" Requires="v">
                <p:oleObj spid="_x0000_s223369" r:id="rId11" imgW="406048" imgH="304536" progId="Equation.3">
                  <p:embed/>
                </p:oleObj>
              </mc:Choice>
              <mc:Fallback>
                <p:oleObj r:id="rId11" imgW="406048" imgH="304536" progId="Equation.3">
                  <p:embed/>
                  <p:pic>
                    <p:nvPicPr>
                      <p:cNvPr id="0" name="Object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434931" y="4531995"/>
                        <a:ext cx="914400" cy="568325"/>
                      </a:xfrm>
                      <a:prstGeom prst="rect">
                        <a:avLst/>
                      </a:prstGeom>
                      <a:solidFill>
                        <a:srgbClr val="00CC66"/>
                      </a:solidFill>
                    </p:spPr>
                  </p:pic>
                </p:oleObj>
              </mc:Fallback>
            </mc:AlternateContent>
          </a:graphicData>
        </a:graphic>
      </p:graphicFrame>
      <p:sp>
        <p:nvSpPr>
          <p:cNvPr id="397332" name="Line 20"/>
          <p:cNvSpPr>
            <a:spLocks noChangeShapeType="1"/>
          </p:cNvSpPr>
          <p:nvPr/>
        </p:nvSpPr>
        <p:spPr bwMode="auto">
          <a:xfrm>
            <a:off x="2627313" y="4155454"/>
            <a:ext cx="1480344" cy="1008063"/>
          </a:xfrm>
          <a:prstGeom prst="line">
            <a:avLst/>
          </a:prstGeom>
          <a:noFill/>
          <a:ln w="76200">
            <a:solidFill>
              <a:srgbClr val="3EB127"/>
            </a:solidFill>
            <a:round/>
            <a:headEnd/>
            <a:tailEnd type="triangle" w="med" len="med"/>
          </a:ln>
        </p:spPr>
        <p:txBody>
          <a:bodyPr/>
          <a:lstStyle/>
          <a:p>
            <a:endParaRPr lang="zh-CN" altLang="en-US"/>
          </a:p>
        </p:txBody>
      </p:sp>
      <p:sp>
        <p:nvSpPr>
          <p:cNvPr id="397333" name="Line 21"/>
          <p:cNvSpPr>
            <a:spLocks noChangeShapeType="1"/>
          </p:cNvSpPr>
          <p:nvPr/>
        </p:nvSpPr>
        <p:spPr bwMode="auto">
          <a:xfrm flipH="1">
            <a:off x="5636404" y="3993295"/>
            <a:ext cx="1400175" cy="1218779"/>
          </a:xfrm>
          <a:prstGeom prst="line">
            <a:avLst/>
          </a:prstGeom>
          <a:noFill/>
          <a:ln w="76200">
            <a:solidFill>
              <a:srgbClr val="3EB127"/>
            </a:solidFill>
            <a:round/>
            <a:headEnd/>
            <a:tailEnd type="triangle" w="med" len="med"/>
          </a:ln>
        </p:spPr>
        <p:txBody>
          <a:bodyPr/>
          <a:lstStyle/>
          <a:p>
            <a:endParaRPr lang="zh-CN" altLang="en-US"/>
          </a:p>
        </p:txBody>
      </p:sp>
      <p:sp>
        <p:nvSpPr>
          <p:cNvPr id="397334" name="Line 22"/>
          <p:cNvSpPr>
            <a:spLocks noChangeShapeType="1"/>
          </p:cNvSpPr>
          <p:nvPr/>
        </p:nvSpPr>
        <p:spPr bwMode="auto">
          <a:xfrm flipH="1">
            <a:off x="4828495" y="4082428"/>
            <a:ext cx="0" cy="1008063"/>
          </a:xfrm>
          <a:prstGeom prst="line">
            <a:avLst/>
          </a:prstGeom>
          <a:noFill/>
          <a:ln w="76200">
            <a:solidFill>
              <a:srgbClr val="3EB127"/>
            </a:solidFill>
            <a:round/>
            <a:headEnd/>
            <a:tailEnd type="triangle" w="med" len="med"/>
          </a:ln>
        </p:spPr>
        <p:txBody>
          <a:bodyPr/>
          <a:lstStyle/>
          <a:p>
            <a:endParaRPr lang="zh-CN" altLang="en-US"/>
          </a:p>
        </p:txBody>
      </p:sp>
      <p:graphicFrame>
        <p:nvGraphicFramePr>
          <p:cNvPr id="3079" name="Object 23"/>
          <p:cNvGraphicFramePr>
            <a:graphicFrameLocks noChangeAspect="1"/>
          </p:cNvGraphicFramePr>
          <p:nvPr>
            <p:extLst>
              <p:ext uri="{D42A27DB-BD31-4B8C-83A1-F6EECF244321}">
                <p14:modId xmlns:p14="http://schemas.microsoft.com/office/powerpoint/2010/main" val="3042817059"/>
              </p:ext>
            </p:extLst>
          </p:nvPr>
        </p:nvGraphicFramePr>
        <p:xfrm>
          <a:off x="584200" y="1994867"/>
          <a:ext cx="619125" cy="720725"/>
        </p:xfrm>
        <a:graphic>
          <a:graphicData uri="http://schemas.openxmlformats.org/presentationml/2006/ole">
            <mc:AlternateContent xmlns:mc="http://schemas.openxmlformats.org/markup-compatibility/2006">
              <mc:Choice xmlns:v="urn:schemas-microsoft-com:vml" Requires="v">
                <p:oleObj spid="_x0000_s223370" name="公式" r:id="rId13" imgW="152280" imgH="203040" progId="Equation.3">
                  <p:embed/>
                </p:oleObj>
              </mc:Choice>
              <mc:Fallback>
                <p:oleObj name="公式" r:id="rId13" imgW="152280" imgH="203040" progId="Equation.3">
                  <p:embed/>
                  <p:pic>
                    <p:nvPicPr>
                      <p:cNvPr id="0" name="Object 2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84200" y="1994867"/>
                        <a:ext cx="619125" cy="720725"/>
                      </a:xfrm>
                      <a:prstGeom prst="rect">
                        <a:avLst/>
                      </a:prstGeom>
                      <a:solidFill>
                        <a:schemeClr val="tx1">
                          <a:lumMod val="20000"/>
                          <a:lumOff val="80000"/>
                        </a:schemeClr>
                      </a:solidFill>
                    </p:spPr>
                  </p:pic>
                </p:oleObj>
              </mc:Fallback>
            </mc:AlternateContent>
          </a:graphicData>
        </a:graphic>
      </p:graphicFrame>
      <p:graphicFrame>
        <p:nvGraphicFramePr>
          <p:cNvPr id="3080" name="Object 24"/>
          <p:cNvGraphicFramePr>
            <a:graphicFrameLocks noChangeAspect="1"/>
          </p:cNvGraphicFramePr>
          <p:nvPr>
            <p:extLst>
              <p:ext uri="{D42A27DB-BD31-4B8C-83A1-F6EECF244321}">
                <p14:modId xmlns:p14="http://schemas.microsoft.com/office/powerpoint/2010/main" val="966571800"/>
              </p:ext>
            </p:extLst>
          </p:nvPr>
        </p:nvGraphicFramePr>
        <p:xfrm>
          <a:off x="3059113" y="1994867"/>
          <a:ext cx="720725" cy="706437"/>
        </p:xfrm>
        <a:graphic>
          <a:graphicData uri="http://schemas.openxmlformats.org/presentationml/2006/ole">
            <mc:AlternateContent xmlns:mc="http://schemas.openxmlformats.org/markup-compatibility/2006">
              <mc:Choice xmlns:v="urn:schemas-microsoft-com:vml" Requires="v">
                <p:oleObj spid="_x0000_s223371" name="公式" r:id="rId15" imgW="164880" imgH="203040" progId="Equation.3">
                  <p:embed/>
                </p:oleObj>
              </mc:Choice>
              <mc:Fallback>
                <p:oleObj name="公式" r:id="rId15" imgW="164880" imgH="203040" progId="Equation.3">
                  <p:embed/>
                  <p:pic>
                    <p:nvPicPr>
                      <p:cNvPr id="0" name="Object 2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059113" y="1994867"/>
                        <a:ext cx="720725" cy="706437"/>
                      </a:xfrm>
                      <a:prstGeom prst="rect">
                        <a:avLst/>
                      </a:prstGeom>
                      <a:solidFill>
                        <a:schemeClr val="tx1">
                          <a:lumMod val="20000"/>
                          <a:lumOff val="80000"/>
                        </a:schemeClr>
                      </a:solidFill>
                    </p:spPr>
                  </p:pic>
                </p:oleObj>
              </mc:Fallback>
            </mc:AlternateContent>
          </a:graphicData>
        </a:graphic>
      </p:graphicFrame>
      <p:graphicFrame>
        <p:nvGraphicFramePr>
          <p:cNvPr id="3081" name="Object 25"/>
          <p:cNvGraphicFramePr>
            <a:graphicFrameLocks noChangeAspect="1"/>
          </p:cNvGraphicFramePr>
          <p:nvPr>
            <p:extLst>
              <p:ext uri="{D42A27DB-BD31-4B8C-83A1-F6EECF244321}">
                <p14:modId xmlns:p14="http://schemas.microsoft.com/office/powerpoint/2010/main" val="1563145883"/>
              </p:ext>
            </p:extLst>
          </p:nvPr>
        </p:nvGraphicFramePr>
        <p:xfrm>
          <a:off x="6084888" y="1994867"/>
          <a:ext cx="700087" cy="612775"/>
        </p:xfrm>
        <a:graphic>
          <a:graphicData uri="http://schemas.openxmlformats.org/presentationml/2006/ole">
            <mc:AlternateContent xmlns:mc="http://schemas.openxmlformats.org/markup-compatibility/2006">
              <mc:Choice xmlns:v="urn:schemas-microsoft-com:vml" Requires="v">
                <p:oleObj spid="_x0000_s223372" name="公式" r:id="rId17" imgW="164880" imgH="203040" progId="Equation.3">
                  <p:embed/>
                </p:oleObj>
              </mc:Choice>
              <mc:Fallback>
                <p:oleObj name="公式" r:id="rId17" imgW="164880" imgH="203040" progId="Equation.3">
                  <p:embed/>
                  <p:pic>
                    <p:nvPicPr>
                      <p:cNvPr id="0" name="Object 2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084888" y="1994867"/>
                        <a:ext cx="700087" cy="612775"/>
                      </a:xfrm>
                      <a:prstGeom prst="rect">
                        <a:avLst/>
                      </a:prstGeom>
                      <a:solidFill>
                        <a:schemeClr val="tx1">
                          <a:lumMod val="20000"/>
                          <a:lumOff val="80000"/>
                        </a:schemeClr>
                      </a:solidFill>
                    </p:spPr>
                  </p:pic>
                </p:oleObj>
              </mc:Fallback>
            </mc:AlternateContent>
          </a:graphicData>
        </a:graphic>
      </p:graphicFrame>
      <p:graphicFrame>
        <p:nvGraphicFramePr>
          <p:cNvPr id="397338" name="Object 26"/>
          <p:cNvGraphicFramePr>
            <a:graphicFrameLocks noChangeAspect="1"/>
          </p:cNvGraphicFramePr>
          <p:nvPr>
            <p:extLst>
              <p:ext uri="{D42A27DB-BD31-4B8C-83A1-F6EECF244321}">
                <p14:modId xmlns:p14="http://schemas.microsoft.com/office/powerpoint/2010/main" val="3988904"/>
              </p:ext>
            </p:extLst>
          </p:nvPr>
        </p:nvGraphicFramePr>
        <p:xfrm>
          <a:off x="4267200" y="3147392"/>
          <a:ext cx="1258888" cy="971550"/>
        </p:xfrm>
        <a:graphic>
          <a:graphicData uri="http://schemas.openxmlformats.org/presentationml/2006/ole">
            <mc:AlternateContent xmlns:mc="http://schemas.openxmlformats.org/markup-compatibility/2006">
              <mc:Choice xmlns:v="urn:schemas-microsoft-com:vml" Requires="v">
                <p:oleObj spid="_x0000_s223373" name="公式" r:id="rId19" imgW="457200" imgH="355320" progId="Equation.3">
                  <p:embed/>
                </p:oleObj>
              </mc:Choice>
              <mc:Fallback>
                <p:oleObj name="公式" r:id="rId19" imgW="457200" imgH="355320" progId="Equation.3">
                  <p:embed/>
                  <p:pic>
                    <p:nvPicPr>
                      <p:cNvPr id="0" name="Object 2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267200" y="3147392"/>
                        <a:ext cx="1258888" cy="971550"/>
                      </a:xfrm>
                      <a:prstGeom prst="rect">
                        <a:avLst/>
                      </a:prstGeom>
                      <a:solidFill>
                        <a:schemeClr val="accent1">
                          <a:lumMod val="60000"/>
                          <a:lumOff val="40000"/>
                        </a:schemeClr>
                      </a:solidFill>
                    </p:spPr>
                  </p:pic>
                </p:oleObj>
              </mc:Fallback>
            </mc:AlternateContent>
          </a:graphicData>
        </a:graphic>
      </p:graphicFrame>
      <p:graphicFrame>
        <p:nvGraphicFramePr>
          <p:cNvPr id="397339" name="Object 27"/>
          <p:cNvGraphicFramePr>
            <a:graphicFrameLocks noChangeAspect="1"/>
          </p:cNvGraphicFramePr>
          <p:nvPr>
            <p:extLst>
              <p:ext uri="{D42A27DB-BD31-4B8C-83A1-F6EECF244321}">
                <p14:modId xmlns:p14="http://schemas.microsoft.com/office/powerpoint/2010/main" val="248539130"/>
              </p:ext>
            </p:extLst>
          </p:nvPr>
        </p:nvGraphicFramePr>
        <p:xfrm>
          <a:off x="6786563" y="3074367"/>
          <a:ext cx="1258887" cy="971550"/>
        </p:xfrm>
        <a:graphic>
          <a:graphicData uri="http://schemas.openxmlformats.org/presentationml/2006/ole">
            <mc:AlternateContent xmlns:mc="http://schemas.openxmlformats.org/markup-compatibility/2006">
              <mc:Choice xmlns:v="urn:schemas-microsoft-com:vml" Requires="v">
                <p:oleObj spid="_x0000_s223374" name="公式" r:id="rId21" imgW="457200" imgH="355320" progId="Equation.3">
                  <p:embed/>
                </p:oleObj>
              </mc:Choice>
              <mc:Fallback>
                <p:oleObj name="公式" r:id="rId21" imgW="457200" imgH="355320" progId="Equation.3">
                  <p:embed/>
                  <p:pic>
                    <p:nvPicPr>
                      <p:cNvPr id="0" name="Object 2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786563" y="3074367"/>
                        <a:ext cx="1258887" cy="971550"/>
                      </a:xfrm>
                      <a:prstGeom prst="rect">
                        <a:avLst/>
                      </a:prstGeom>
                      <a:solidFill>
                        <a:schemeClr val="accent1">
                          <a:lumMod val="60000"/>
                          <a:lumOff val="40000"/>
                        </a:schemeClr>
                      </a:solidFill>
                    </p:spPr>
                  </p:pic>
                </p:oleObj>
              </mc:Fallback>
            </mc:AlternateContent>
          </a:graphicData>
        </a:graphic>
      </p:graphicFrame>
      <p:sp>
        <p:nvSpPr>
          <p:cNvPr id="397340" name="Rectangle 28"/>
          <p:cNvSpPr>
            <a:spLocks noGrp="1" noChangeArrowheads="1"/>
          </p:cNvSpPr>
          <p:nvPr>
            <p:ph type="title" idx="4294967295"/>
          </p:nvPr>
        </p:nvSpPr>
        <p:spPr>
          <a:xfrm>
            <a:off x="475245" y="393699"/>
            <a:ext cx="8117309" cy="809626"/>
          </a:xfrm>
        </p:spPr>
        <p:txBody>
          <a:bodyPr/>
          <a:lstStyle/>
          <a:p>
            <a:pPr eaLnBrk="1" hangingPunct="1">
              <a:defRPr/>
            </a:pPr>
            <a:r>
              <a:rPr lang="zh-CN" altLang="en-US" sz="3600" dirty="0" smtClean="0">
                <a:effectLst>
                  <a:outerShdw blurRad="38100" dist="38100" dir="2700000" algn="tl">
                    <a:srgbClr val="C0C0C0"/>
                  </a:outerShdw>
                </a:effectLst>
                <a:sym typeface="Wingdings 2" pitchFamily="18" charset="2"/>
              </a:rPr>
              <a:t>不连续时点数列计算序时平均数</a:t>
            </a:r>
            <a:r>
              <a:rPr lang="en-US" altLang="zh-CN" sz="3600" dirty="0" smtClean="0">
                <a:effectLst>
                  <a:outerShdw blurRad="38100" dist="38100" dir="2700000" algn="tl">
                    <a:srgbClr val="C0C0C0"/>
                  </a:outerShdw>
                </a:effectLst>
                <a:latin typeface="Arial"/>
                <a:sym typeface="Wingdings 2" pitchFamily="18" charset="2"/>
              </a:rPr>
              <a:t>—</a:t>
            </a:r>
            <a:r>
              <a:rPr lang="zh-CN" altLang="en-US" sz="3600" dirty="0" smtClean="0">
                <a:effectLst>
                  <a:outerShdw blurRad="38100" dist="38100" dir="2700000" algn="tl">
                    <a:srgbClr val="C0C0C0"/>
                  </a:outerShdw>
                </a:effectLst>
                <a:sym typeface="Wingdings 2" pitchFamily="18" charset="2"/>
              </a:rPr>
              <a:t>图示</a:t>
            </a:r>
          </a:p>
        </p:txBody>
      </p:sp>
      <p:graphicFrame>
        <p:nvGraphicFramePr>
          <p:cNvPr id="397328" name="Object 16"/>
          <p:cNvGraphicFramePr>
            <a:graphicFrameLocks noChangeAspect="1"/>
          </p:cNvGraphicFramePr>
          <p:nvPr>
            <p:extLst>
              <p:ext uri="{D42A27DB-BD31-4B8C-83A1-F6EECF244321}">
                <p14:modId xmlns:p14="http://schemas.microsoft.com/office/powerpoint/2010/main" val="728339799"/>
              </p:ext>
            </p:extLst>
          </p:nvPr>
        </p:nvGraphicFramePr>
        <p:xfrm>
          <a:off x="2662636" y="4659485"/>
          <a:ext cx="723900" cy="563562"/>
        </p:xfrm>
        <a:graphic>
          <a:graphicData uri="http://schemas.openxmlformats.org/presentationml/2006/ole">
            <mc:AlternateContent xmlns:mc="http://schemas.openxmlformats.org/markup-compatibility/2006">
              <mc:Choice xmlns:v="urn:schemas-microsoft-com:vml" Requires="v">
                <p:oleObj spid="_x0000_s223375" r:id="rId23" imgW="393359" imgH="304536" progId="Equation.3">
                  <p:embed/>
                </p:oleObj>
              </mc:Choice>
              <mc:Fallback>
                <p:oleObj r:id="rId23" imgW="393359" imgH="304536" progId="Equation.3">
                  <p:embed/>
                  <p:pic>
                    <p:nvPicPr>
                      <p:cNvPr id="0" name="Object 1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662636" y="4659485"/>
                        <a:ext cx="723900" cy="563562"/>
                      </a:xfrm>
                      <a:prstGeom prst="rect">
                        <a:avLst/>
                      </a:prstGeom>
                      <a:solidFill>
                        <a:srgbClr val="00CC66"/>
                      </a:solidFill>
                    </p:spPr>
                  </p:pic>
                </p:oleObj>
              </mc:Fallback>
            </mc:AlternateContent>
          </a:graphicData>
        </a:graphic>
      </p:graphicFrame>
      <p:sp>
        <p:nvSpPr>
          <p:cNvPr id="3102" name="日期占位符 29"/>
          <p:cNvSpPr>
            <a:spLocks noGrp="1"/>
          </p:cNvSpPr>
          <p:nvPr>
            <p:ph type="dt" sz="quarter" idx="10"/>
          </p:nvPr>
        </p:nvSpPr>
        <p:spPr>
          <a:xfrm>
            <a:off x="665163" y="6500192"/>
            <a:ext cx="1905000" cy="457200"/>
          </a:xfrm>
          <a:noFill/>
        </p:spPr>
        <p:txBody>
          <a:bodyPr/>
          <a:lstStyle/>
          <a:p>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97321"/>
                                        </p:tgtEl>
                                        <p:attrNameLst>
                                          <p:attrName>style.visibility</p:attrName>
                                        </p:attrNameLst>
                                      </p:cBhvr>
                                      <p:to>
                                        <p:strVal val="visible"/>
                                      </p:to>
                                    </p:set>
                                    <p:anim calcmode="lin" valueType="num">
                                      <p:cBhvr additive="base">
                                        <p:cTn id="7" dur="250" fill="hold"/>
                                        <p:tgtEl>
                                          <p:spTgt spid="397321"/>
                                        </p:tgtEl>
                                        <p:attrNameLst>
                                          <p:attrName>ppt_x</p:attrName>
                                        </p:attrNameLst>
                                      </p:cBhvr>
                                      <p:tavLst>
                                        <p:tav tm="0">
                                          <p:val>
                                            <p:strVal val="0-#ppt_w/2"/>
                                          </p:val>
                                        </p:tav>
                                        <p:tav tm="100000">
                                          <p:val>
                                            <p:strVal val="#ppt_x"/>
                                          </p:val>
                                        </p:tav>
                                      </p:tavLst>
                                    </p:anim>
                                    <p:anim calcmode="lin" valueType="num">
                                      <p:cBhvr additive="base">
                                        <p:cTn id="8" dur="250" fill="hold"/>
                                        <p:tgtEl>
                                          <p:spTgt spid="397321"/>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2" presetClass="entr" presetSubtype="8" fill="hold" grpId="0" nodeType="afterEffect">
                                  <p:stCondLst>
                                    <p:cond delay="0"/>
                                  </p:stCondLst>
                                  <p:childTnLst>
                                    <p:set>
                                      <p:cBhvr>
                                        <p:cTn id="11" dur="1" fill="hold">
                                          <p:stCondLst>
                                            <p:cond delay="0"/>
                                          </p:stCondLst>
                                        </p:cTn>
                                        <p:tgtEl>
                                          <p:spTgt spid="397322"/>
                                        </p:tgtEl>
                                        <p:attrNameLst>
                                          <p:attrName>style.visibility</p:attrName>
                                        </p:attrNameLst>
                                      </p:cBhvr>
                                      <p:to>
                                        <p:strVal val="visible"/>
                                      </p:to>
                                    </p:set>
                                    <p:anim calcmode="lin" valueType="num">
                                      <p:cBhvr additive="base">
                                        <p:cTn id="12" dur="250" fill="hold"/>
                                        <p:tgtEl>
                                          <p:spTgt spid="397322"/>
                                        </p:tgtEl>
                                        <p:attrNameLst>
                                          <p:attrName>ppt_x</p:attrName>
                                        </p:attrNameLst>
                                      </p:cBhvr>
                                      <p:tavLst>
                                        <p:tav tm="0">
                                          <p:val>
                                            <p:strVal val="0-#ppt_w/2"/>
                                          </p:val>
                                        </p:tav>
                                        <p:tav tm="100000">
                                          <p:val>
                                            <p:strVal val="#ppt_x"/>
                                          </p:val>
                                        </p:tav>
                                      </p:tavLst>
                                    </p:anim>
                                    <p:anim calcmode="lin" valueType="num">
                                      <p:cBhvr additive="base">
                                        <p:cTn id="13" dur="250" fill="hold"/>
                                        <p:tgtEl>
                                          <p:spTgt spid="397322"/>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55" presetClass="entr" presetSubtype="0" fill="hold" nodeType="afterEffect">
                                  <p:stCondLst>
                                    <p:cond delay="0"/>
                                  </p:stCondLst>
                                  <p:childTnLst>
                                    <p:set>
                                      <p:cBhvr>
                                        <p:cTn id="16" dur="1" fill="hold">
                                          <p:stCondLst>
                                            <p:cond delay="0"/>
                                          </p:stCondLst>
                                        </p:cTn>
                                        <p:tgtEl>
                                          <p:spTgt spid="397327"/>
                                        </p:tgtEl>
                                        <p:attrNameLst>
                                          <p:attrName>style.visibility</p:attrName>
                                        </p:attrNameLst>
                                      </p:cBhvr>
                                      <p:to>
                                        <p:strVal val="visible"/>
                                      </p:to>
                                    </p:set>
                                    <p:anim calcmode="lin" valueType="num">
                                      <p:cBhvr>
                                        <p:cTn id="17" dur="500" fill="hold"/>
                                        <p:tgtEl>
                                          <p:spTgt spid="397327"/>
                                        </p:tgtEl>
                                        <p:attrNameLst>
                                          <p:attrName>ppt_w</p:attrName>
                                        </p:attrNameLst>
                                      </p:cBhvr>
                                      <p:tavLst>
                                        <p:tav tm="0">
                                          <p:val>
                                            <p:strVal val="#ppt_w*0.70"/>
                                          </p:val>
                                        </p:tav>
                                        <p:tav tm="100000">
                                          <p:val>
                                            <p:strVal val="#ppt_w"/>
                                          </p:val>
                                        </p:tav>
                                      </p:tavLst>
                                    </p:anim>
                                    <p:anim calcmode="lin" valueType="num">
                                      <p:cBhvr>
                                        <p:cTn id="18" dur="500" fill="hold"/>
                                        <p:tgtEl>
                                          <p:spTgt spid="397327"/>
                                        </p:tgtEl>
                                        <p:attrNameLst>
                                          <p:attrName>ppt_h</p:attrName>
                                        </p:attrNameLst>
                                      </p:cBhvr>
                                      <p:tavLst>
                                        <p:tav tm="0">
                                          <p:val>
                                            <p:strVal val="#ppt_h"/>
                                          </p:val>
                                        </p:tav>
                                        <p:tav tm="100000">
                                          <p:val>
                                            <p:strVal val="#ppt_h"/>
                                          </p:val>
                                        </p:tav>
                                      </p:tavLst>
                                    </p:anim>
                                    <p:animEffect transition="in" filter="fade">
                                      <p:cBhvr>
                                        <p:cTn id="19" dur="500"/>
                                        <p:tgtEl>
                                          <p:spTgt spid="39732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397325"/>
                                        </p:tgtEl>
                                        <p:attrNameLst>
                                          <p:attrName>style.visibility</p:attrName>
                                        </p:attrNameLst>
                                      </p:cBhvr>
                                      <p:to>
                                        <p:strVal val="visible"/>
                                      </p:to>
                                    </p:set>
                                    <p:animEffect transition="in" filter="wipe(up)">
                                      <p:cBhvr>
                                        <p:cTn id="24" dur="250"/>
                                        <p:tgtEl>
                                          <p:spTgt spid="397325"/>
                                        </p:tgtEl>
                                      </p:cBhvr>
                                    </p:animEffect>
                                  </p:childTnLst>
                                </p:cTn>
                              </p:par>
                            </p:childTnLst>
                          </p:cTn>
                        </p:par>
                        <p:par>
                          <p:cTn id="25" fill="hold">
                            <p:stCondLst>
                              <p:cond delay="250"/>
                            </p:stCondLst>
                            <p:childTnLst>
                              <p:par>
                                <p:cTn id="26" presetID="22" presetClass="entr" presetSubtype="1" fill="hold" grpId="0" nodeType="afterEffect">
                                  <p:stCondLst>
                                    <p:cond delay="0"/>
                                  </p:stCondLst>
                                  <p:childTnLst>
                                    <p:set>
                                      <p:cBhvr>
                                        <p:cTn id="27" dur="1" fill="hold">
                                          <p:stCondLst>
                                            <p:cond delay="0"/>
                                          </p:stCondLst>
                                        </p:cTn>
                                        <p:tgtEl>
                                          <p:spTgt spid="397323"/>
                                        </p:tgtEl>
                                        <p:attrNameLst>
                                          <p:attrName>style.visibility</p:attrName>
                                        </p:attrNameLst>
                                      </p:cBhvr>
                                      <p:to>
                                        <p:strVal val="visible"/>
                                      </p:to>
                                    </p:set>
                                    <p:animEffect transition="in" filter="wipe(up)">
                                      <p:cBhvr>
                                        <p:cTn id="28" dur="250"/>
                                        <p:tgtEl>
                                          <p:spTgt spid="397323"/>
                                        </p:tgtEl>
                                      </p:cBhvr>
                                    </p:animEffect>
                                  </p:childTnLst>
                                </p:cTn>
                              </p:par>
                            </p:childTnLst>
                          </p:cTn>
                        </p:par>
                        <p:par>
                          <p:cTn id="29" fill="hold">
                            <p:stCondLst>
                              <p:cond delay="500"/>
                            </p:stCondLst>
                            <p:childTnLst>
                              <p:par>
                                <p:cTn id="30" presetID="12" presetClass="entr" presetSubtype="1" fill="hold" nodeType="afterEffect">
                                  <p:stCondLst>
                                    <p:cond delay="0"/>
                                  </p:stCondLst>
                                  <p:childTnLst>
                                    <p:set>
                                      <p:cBhvr>
                                        <p:cTn id="31" dur="1" fill="hold">
                                          <p:stCondLst>
                                            <p:cond delay="0"/>
                                          </p:stCondLst>
                                        </p:cTn>
                                        <p:tgtEl>
                                          <p:spTgt spid="397338"/>
                                        </p:tgtEl>
                                        <p:attrNameLst>
                                          <p:attrName>style.visibility</p:attrName>
                                        </p:attrNameLst>
                                      </p:cBhvr>
                                      <p:to>
                                        <p:strVal val="visible"/>
                                      </p:to>
                                    </p:set>
                                    <p:animEffect transition="in" filter="slide(fromTop)">
                                      <p:cBhvr>
                                        <p:cTn id="32" dur="10"/>
                                        <p:tgtEl>
                                          <p:spTgt spid="397338"/>
                                        </p:tgtEl>
                                      </p:cBhvr>
                                    </p:animEffect>
                                  </p:childTnLst>
                                </p:cTn>
                              </p:par>
                            </p:childTnLst>
                          </p:cTn>
                        </p:par>
                        <p:par>
                          <p:cTn id="33" fill="hold">
                            <p:stCondLst>
                              <p:cond delay="510"/>
                            </p:stCondLst>
                            <p:childTnLst>
                              <p:par>
                                <p:cTn id="34" presetID="22" presetClass="entr" presetSubtype="1" fill="hold" grpId="0" nodeType="afterEffect">
                                  <p:stCondLst>
                                    <p:cond delay="0"/>
                                  </p:stCondLst>
                                  <p:childTnLst>
                                    <p:set>
                                      <p:cBhvr>
                                        <p:cTn id="35" dur="1" fill="hold">
                                          <p:stCondLst>
                                            <p:cond delay="0"/>
                                          </p:stCondLst>
                                        </p:cTn>
                                        <p:tgtEl>
                                          <p:spTgt spid="397324"/>
                                        </p:tgtEl>
                                        <p:attrNameLst>
                                          <p:attrName>style.visibility</p:attrName>
                                        </p:attrNameLst>
                                      </p:cBhvr>
                                      <p:to>
                                        <p:strVal val="visible"/>
                                      </p:to>
                                    </p:set>
                                    <p:animEffect transition="in" filter="wipe(up)">
                                      <p:cBhvr>
                                        <p:cTn id="36" dur="500"/>
                                        <p:tgtEl>
                                          <p:spTgt spid="397324"/>
                                        </p:tgtEl>
                                      </p:cBhvr>
                                    </p:animEffect>
                                  </p:childTnLst>
                                </p:cTn>
                              </p:par>
                            </p:childTnLst>
                          </p:cTn>
                        </p:par>
                        <p:par>
                          <p:cTn id="37" fill="hold">
                            <p:stCondLst>
                              <p:cond delay="1010"/>
                            </p:stCondLst>
                            <p:childTnLst>
                              <p:par>
                                <p:cTn id="38" presetID="22" presetClass="entr" presetSubtype="1" fill="hold" grpId="0" nodeType="afterEffect">
                                  <p:stCondLst>
                                    <p:cond delay="0"/>
                                  </p:stCondLst>
                                  <p:childTnLst>
                                    <p:set>
                                      <p:cBhvr>
                                        <p:cTn id="39" dur="1" fill="hold">
                                          <p:stCondLst>
                                            <p:cond delay="0"/>
                                          </p:stCondLst>
                                        </p:cTn>
                                        <p:tgtEl>
                                          <p:spTgt spid="397314"/>
                                        </p:tgtEl>
                                        <p:attrNameLst>
                                          <p:attrName>style.visibility</p:attrName>
                                        </p:attrNameLst>
                                      </p:cBhvr>
                                      <p:to>
                                        <p:strVal val="visible"/>
                                      </p:to>
                                    </p:set>
                                    <p:animEffect transition="in" filter="wipe(up)">
                                      <p:cBhvr>
                                        <p:cTn id="40" dur="250"/>
                                        <p:tgtEl>
                                          <p:spTgt spid="397314"/>
                                        </p:tgtEl>
                                      </p:cBhvr>
                                    </p:animEffect>
                                  </p:childTnLst>
                                </p:cTn>
                              </p:par>
                            </p:childTnLst>
                          </p:cTn>
                        </p:par>
                        <p:par>
                          <p:cTn id="41" fill="hold">
                            <p:stCondLst>
                              <p:cond delay="1260"/>
                            </p:stCondLst>
                            <p:childTnLst>
                              <p:par>
                                <p:cTn id="42" presetID="12" presetClass="entr" presetSubtype="1" fill="hold" nodeType="afterEffect">
                                  <p:stCondLst>
                                    <p:cond delay="0"/>
                                  </p:stCondLst>
                                  <p:childTnLst>
                                    <p:set>
                                      <p:cBhvr>
                                        <p:cTn id="43" dur="1" fill="hold">
                                          <p:stCondLst>
                                            <p:cond delay="0"/>
                                          </p:stCondLst>
                                        </p:cTn>
                                        <p:tgtEl>
                                          <p:spTgt spid="397339"/>
                                        </p:tgtEl>
                                        <p:attrNameLst>
                                          <p:attrName>style.visibility</p:attrName>
                                        </p:attrNameLst>
                                      </p:cBhvr>
                                      <p:to>
                                        <p:strVal val="visible"/>
                                      </p:to>
                                    </p:set>
                                    <p:animEffect transition="in" filter="slide(fromTop)">
                                      <p:cBhvr>
                                        <p:cTn id="44" dur="250"/>
                                        <p:tgtEl>
                                          <p:spTgt spid="397339"/>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1" fill="hold" grpId="0" nodeType="clickEffect">
                                  <p:stCondLst>
                                    <p:cond delay="0"/>
                                  </p:stCondLst>
                                  <p:childTnLst>
                                    <p:set>
                                      <p:cBhvr>
                                        <p:cTn id="48" dur="1" fill="hold">
                                          <p:stCondLst>
                                            <p:cond delay="0"/>
                                          </p:stCondLst>
                                        </p:cTn>
                                        <p:tgtEl>
                                          <p:spTgt spid="397332"/>
                                        </p:tgtEl>
                                        <p:attrNameLst>
                                          <p:attrName>style.visibility</p:attrName>
                                        </p:attrNameLst>
                                      </p:cBhvr>
                                      <p:to>
                                        <p:strVal val="visible"/>
                                      </p:to>
                                    </p:set>
                                    <p:animEffect transition="in" filter="slide(fromTop)">
                                      <p:cBhvr>
                                        <p:cTn id="49" dur="250"/>
                                        <p:tgtEl>
                                          <p:spTgt spid="397332"/>
                                        </p:tgtEl>
                                      </p:cBhvr>
                                    </p:animEffect>
                                  </p:childTnLst>
                                </p:cTn>
                              </p:par>
                            </p:childTnLst>
                          </p:cTn>
                        </p:par>
                        <p:par>
                          <p:cTn id="50" fill="hold">
                            <p:stCondLst>
                              <p:cond delay="250"/>
                            </p:stCondLst>
                            <p:childTnLst>
                              <p:par>
                                <p:cTn id="51" presetID="12" presetClass="entr" presetSubtype="1" fill="hold" grpId="0" nodeType="afterEffect">
                                  <p:stCondLst>
                                    <p:cond delay="0"/>
                                  </p:stCondLst>
                                  <p:childTnLst>
                                    <p:set>
                                      <p:cBhvr>
                                        <p:cTn id="52" dur="1" fill="hold">
                                          <p:stCondLst>
                                            <p:cond delay="0"/>
                                          </p:stCondLst>
                                        </p:cTn>
                                        <p:tgtEl>
                                          <p:spTgt spid="397334"/>
                                        </p:tgtEl>
                                        <p:attrNameLst>
                                          <p:attrName>style.visibility</p:attrName>
                                        </p:attrNameLst>
                                      </p:cBhvr>
                                      <p:to>
                                        <p:strVal val="visible"/>
                                      </p:to>
                                    </p:set>
                                    <p:animEffect transition="in" filter="slide(fromTop)">
                                      <p:cBhvr>
                                        <p:cTn id="53" dur="10"/>
                                        <p:tgtEl>
                                          <p:spTgt spid="397334"/>
                                        </p:tgtEl>
                                      </p:cBhvr>
                                    </p:animEffect>
                                  </p:childTnLst>
                                </p:cTn>
                              </p:par>
                            </p:childTnLst>
                          </p:cTn>
                        </p:par>
                        <p:par>
                          <p:cTn id="54" fill="hold">
                            <p:stCondLst>
                              <p:cond delay="260"/>
                            </p:stCondLst>
                            <p:childTnLst>
                              <p:par>
                                <p:cTn id="55" presetID="12" presetClass="entr" presetSubtype="1" fill="hold" grpId="0" nodeType="afterEffect">
                                  <p:stCondLst>
                                    <p:cond delay="0"/>
                                  </p:stCondLst>
                                  <p:childTnLst>
                                    <p:set>
                                      <p:cBhvr>
                                        <p:cTn id="56" dur="1" fill="hold">
                                          <p:stCondLst>
                                            <p:cond delay="0"/>
                                          </p:stCondLst>
                                        </p:cTn>
                                        <p:tgtEl>
                                          <p:spTgt spid="397333"/>
                                        </p:tgtEl>
                                        <p:attrNameLst>
                                          <p:attrName>style.visibility</p:attrName>
                                        </p:attrNameLst>
                                      </p:cBhvr>
                                      <p:to>
                                        <p:strVal val="visible"/>
                                      </p:to>
                                    </p:set>
                                    <p:animEffect transition="in" filter="slide(fromTop)">
                                      <p:cBhvr>
                                        <p:cTn id="57" dur="10"/>
                                        <p:tgtEl>
                                          <p:spTgt spid="397333"/>
                                        </p:tgtEl>
                                      </p:cBhvr>
                                    </p:animEffect>
                                  </p:childTnLst>
                                </p:cTn>
                              </p:par>
                            </p:childTnLst>
                          </p:cTn>
                        </p:par>
                        <p:par>
                          <p:cTn id="58" fill="hold">
                            <p:stCondLst>
                              <p:cond delay="270"/>
                            </p:stCondLst>
                            <p:childTnLst>
                              <p:par>
                                <p:cTn id="59" presetID="6" presetClass="entr" presetSubtype="16" fill="hold" nodeType="afterEffect">
                                  <p:stCondLst>
                                    <p:cond delay="500"/>
                                  </p:stCondLst>
                                  <p:childTnLst>
                                    <p:set>
                                      <p:cBhvr>
                                        <p:cTn id="60" dur="1" fill="hold">
                                          <p:stCondLst>
                                            <p:cond delay="0"/>
                                          </p:stCondLst>
                                        </p:cTn>
                                        <p:tgtEl>
                                          <p:spTgt spid="397331"/>
                                        </p:tgtEl>
                                        <p:attrNameLst>
                                          <p:attrName>style.visibility</p:attrName>
                                        </p:attrNameLst>
                                      </p:cBhvr>
                                      <p:to>
                                        <p:strVal val="visible"/>
                                      </p:to>
                                    </p:set>
                                    <p:animEffect transition="in" filter="circle(in)">
                                      <p:cBhvr>
                                        <p:cTn id="61" dur="500"/>
                                        <p:tgtEl>
                                          <p:spTgt spid="397331"/>
                                        </p:tgtEl>
                                      </p:cBhvr>
                                    </p:animEffect>
                                  </p:childTnLst>
                                </p:cTn>
                              </p:par>
                            </p:childTnLst>
                          </p:cTn>
                        </p:par>
                      </p:childTnLst>
                    </p:cTn>
                  </p:par>
                  <p:par>
                    <p:cTn id="62" fill="hold">
                      <p:stCondLst>
                        <p:cond delay="indefinite"/>
                      </p:stCondLst>
                      <p:childTnLst>
                        <p:par>
                          <p:cTn id="63" fill="hold">
                            <p:stCondLst>
                              <p:cond delay="0"/>
                            </p:stCondLst>
                            <p:childTnLst>
                              <p:par>
                                <p:cTn id="64" presetID="26" presetClass="entr" presetSubtype="0" fill="hold" nodeType="clickEffect">
                                  <p:stCondLst>
                                    <p:cond delay="0"/>
                                  </p:stCondLst>
                                  <p:childTnLst>
                                    <p:set>
                                      <p:cBhvr>
                                        <p:cTn id="65" dur="1" fill="hold">
                                          <p:stCondLst>
                                            <p:cond delay="0"/>
                                          </p:stCondLst>
                                        </p:cTn>
                                        <p:tgtEl>
                                          <p:spTgt spid="397328"/>
                                        </p:tgtEl>
                                        <p:attrNameLst>
                                          <p:attrName>style.visibility</p:attrName>
                                        </p:attrNameLst>
                                      </p:cBhvr>
                                      <p:to>
                                        <p:strVal val="visible"/>
                                      </p:to>
                                    </p:set>
                                    <p:animEffect transition="in" filter="wipe(down)">
                                      <p:cBhvr>
                                        <p:cTn id="66" dur="290">
                                          <p:stCondLst>
                                            <p:cond delay="0"/>
                                          </p:stCondLst>
                                        </p:cTn>
                                        <p:tgtEl>
                                          <p:spTgt spid="397328"/>
                                        </p:tgtEl>
                                      </p:cBhvr>
                                    </p:animEffect>
                                    <p:anim calcmode="lin" valueType="num">
                                      <p:cBhvr>
                                        <p:cTn id="67" dur="911" tmFilter="0,0; 0.14,0.36; 0.43,0.73; 0.71,0.91; 1.0,1.0">
                                          <p:stCondLst>
                                            <p:cond delay="0"/>
                                          </p:stCondLst>
                                        </p:cTn>
                                        <p:tgtEl>
                                          <p:spTgt spid="397328"/>
                                        </p:tgtEl>
                                        <p:attrNameLst>
                                          <p:attrName>ppt_x</p:attrName>
                                        </p:attrNameLst>
                                      </p:cBhvr>
                                      <p:tavLst>
                                        <p:tav tm="0">
                                          <p:val>
                                            <p:strVal val="#ppt_x-0.25"/>
                                          </p:val>
                                        </p:tav>
                                        <p:tav tm="100000">
                                          <p:val>
                                            <p:strVal val="#ppt_x"/>
                                          </p:val>
                                        </p:tav>
                                      </p:tavLst>
                                    </p:anim>
                                    <p:anim calcmode="lin" valueType="num">
                                      <p:cBhvr>
                                        <p:cTn id="68" dur="332" tmFilter="0.0,0.0; 0.25,0.07; 0.50,0.2; 0.75,0.467; 1.0,1.0">
                                          <p:stCondLst>
                                            <p:cond delay="0"/>
                                          </p:stCondLst>
                                        </p:cTn>
                                        <p:tgtEl>
                                          <p:spTgt spid="397328"/>
                                        </p:tgtEl>
                                        <p:attrNameLst>
                                          <p:attrName>ppt_y</p:attrName>
                                        </p:attrNameLst>
                                      </p:cBhvr>
                                      <p:tavLst>
                                        <p:tav tm="0" fmla="#ppt_y-sin(pi*$)/3">
                                          <p:val>
                                            <p:fltVal val="0.5"/>
                                          </p:val>
                                        </p:tav>
                                        <p:tav tm="100000">
                                          <p:val>
                                            <p:fltVal val="1"/>
                                          </p:val>
                                        </p:tav>
                                      </p:tavLst>
                                    </p:anim>
                                    <p:anim calcmode="lin" valueType="num">
                                      <p:cBhvr>
                                        <p:cTn id="69" dur="332" tmFilter="0, 0; 0.125,0.2665; 0.25,0.4; 0.375,0.465; 0.5,0.5;  0.625,0.535; 0.75,0.6; 0.875,0.7335; 1,1">
                                          <p:stCondLst>
                                            <p:cond delay="332"/>
                                          </p:stCondLst>
                                        </p:cTn>
                                        <p:tgtEl>
                                          <p:spTgt spid="397328"/>
                                        </p:tgtEl>
                                        <p:attrNameLst>
                                          <p:attrName>ppt_y</p:attrName>
                                        </p:attrNameLst>
                                      </p:cBhvr>
                                      <p:tavLst>
                                        <p:tav tm="0" fmla="#ppt_y-sin(pi*$)/9">
                                          <p:val>
                                            <p:fltVal val="0"/>
                                          </p:val>
                                        </p:tav>
                                        <p:tav tm="100000">
                                          <p:val>
                                            <p:fltVal val="1"/>
                                          </p:val>
                                        </p:tav>
                                      </p:tavLst>
                                    </p:anim>
                                    <p:anim calcmode="lin" valueType="num">
                                      <p:cBhvr>
                                        <p:cTn id="70" dur="166" tmFilter="0, 0; 0.125,0.2665; 0.25,0.4; 0.375,0.465; 0.5,0.5;  0.625,0.535; 0.75,0.6; 0.875,0.7335; 1,1">
                                          <p:stCondLst>
                                            <p:cond delay="662"/>
                                          </p:stCondLst>
                                        </p:cTn>
                                        <p:tgtEl>
                                          <p:spTgt spid="397328"/>
                                        </p:tgtEl>
                                        <p:attrNameLst>
                                          <p:attrName>ppt_y</p:attrName>
                                        </p:attrNameLst>
                                      </p:cBhvr>
                                      <p:tavLst>
                                        <p:tav tm="0" fmla="#ppt_y-sin(pi*$)/27">
                                          <p:val>
                                            <p:fltVal val="0"/>
                                          </p:val>
                                        </p:tav>
                                        <p:tav tm="100000">
                                          <p:val>
                                            <p:fltVal val="1"/>
                                          </p:val>
                                        </p:tav>
                                      </p:tavLst>
                                    </p:anim>
                                    <p:anim calcmode="lin" valueType="num">
                                      <p:cBhvr>
                                        <p:cTn id="71" dur="82" tmFilter="0, 0; 0.125,0.2665; 0.25,0.4; 0.375,0.465; 0.5,0.5;  0.625,0.535; 0.75,0.6; 0.875,0.7335; 1,1">
                                          <p:stCondLst>
                                            <p:cond delay="828"/>
                                          </p:stCondLst>
                                        </p:cTn>
                                        <p:tgtEl>
                                          <p:spTgt spid="397328"/>
                                        </p:tgtEl>
                                        <p:attrNameLst>
                                          <p:attrName>ppt_y</p:attrName>
                                        </p:attrNameLst>
                                      </p:cBhvr>
                                      <p:tavLst>
                                        <p:tav tm="0" fmla="#ppt_y-sin(pi*$)/81">
                                          <p:val>
                                            <p:fltVal val="0"/>
                                          </p:val>
                                        </p:tav>
                                        <p:tav tm="100000">
                                          <p:val>
                                            <p:fltVal val="1"/>
                                          </p:val>
                                        </p:tav>
                                      </p:tavLst>
                                    </p:anim>
                                    <p:animScale>
                                      <p:cBhvr>
                                        <p:cTn id="72" dur="13">
                                          <p:stCondLst>
                                            <p:cond delay="325"/>
                                          </p:stCondLst>
                                        </p:cTn>
                                        <p:tgtEl>
                                          <p:spTgt spid="397328"/>
                                        </p:tgtEl>
                                      </p:cBhvr>
                                      <p:to x="100000" y="60000"/>
                                    </p:animScale>
                                    <p:animScale>
                                      <p:cBhvr>
                                        <p:cTn id="73" dur="83" decel="50000">
                                          <p:stCondLst>
                                            <p:cond delay="338"/>
                                          </p:stCondLst>
                                        </p:cTn>
                                        <p:tgtEl>
                                          <p:spTgt spid="397328"/>
                                        </p:tgtEl>
                                      </p:cBhvr>
                                      <p:to x="100000" y="100000"/>
                                    </p:animScale>
                                    <p:animScale>
                                      <p:cBhvr>
                                        <p:cTn id="74" dur="13">
                                          <p:stCondLst>
                                            <p:cond delay="656"/>
                                          </p:stCondLst>
                                        </p:cTn>
                                        <p:tgtEl>
                                          <p:spTgt spid="397328"/>
                                        </p:tgtEl>
                                      </p:cBhvr>
                                      <p:to x="100000" y="80000"/>
                                    </p:animScale>
                                    <p:animScale>
                                      <p:cBhvr>
                                        <p:cTn id="75" dur="83" decel="50000">
                                          <p:stCondLst>
                                            <p:cond delay="669"/>
                                          </p:stCondLst>
                                        </p:cTn>
                                        <p:tgtEl>
                                          <p:spTgt spid="397328"/>
                                        </p:tgtEl>
                                      </p:cBhvr>
                                      <p:to x="100000" y="100000"/>
                                    </p:animScale>
                                    <p:animScale>
                                      <p:cBhvr>
                                        <p:cTn id="76" dur="13">
                                          <p:stCondLst>
                                            <p:cond delay="821"/>
                                          </p:stCondLst>
                                        </p:cTn>
                                        <p:tgtEl>
                                          <p:spTgt spid="397328"/>
                                        </p:tgtEl>
                                      </p:cBhvr>
                                      <p:to x="100000" y="90000"/>
                                    </p:animScale>
                                    <p:animScale>
                                      <p:cBhvr>
                                        <p:cTn id="77" dur="83" decel="50000">
                                          <p:stCondLst>
                                            <p:cond delay="834"/>
                                          </p:stCondLst>
                                        </p:cTn>
                                        <p:tgtEl>
                                          <p:spTgt spid="397328"/>
                                        </p:tgtEl>
                                      </p:cBhvr>
                                      <p:to x="100000" y="100000"/>
                                    </p:animScale>
                                    <p:animScale>
                                      <p:cBhvr>
                                        <p:cTn id="78" dur="13">
                                          <p:stCondLst>
                                            <p:cond delay="904"/>
                                          </p:stCondLst>
                                        </p:cTn>
                                        <p:tgtEl>
                                          <p:spTgt spid="397328"/>
                                        </p:tgtEl>
                                      </p:cBhvr>
                                      <p:to x="100000" y="95000"/>
                                    </p:animScale>
                                    <p:animScale>
                                      <p:cBhvr>
                                        <p:cTn id="79" dur="83" decel="50000">
                                          <p:stCondLst>
                                            <p:cond delay="917"/>
                                          </p:stCondLst>
                                        </p:cTn>
                                        <p:tgtEl>
                                          <p:spTgt spid="397328"/>
                                        </p:tgtEl>
                                      </p:cBhvr>
                                      <p:to x="100000" y="100000"/>
                                    </p:animScale>
                                  </p:childTnLst>
                                </p:cTn>
                              </p:par>
                            </p:childTnLst>
                          </p:cTn>
                        </p:par>
                        <p:par>
                          <p:cTn id="80" fill="hold">
                            <p:stCondLst>
                              <p:cond delay="1000"/>
                            </p:stCondLst>
                            <p:childTnLst>
                              <p:par>
                                <p:cTn id="81" presetID="12" presetClass="entr" presetSubtype="1" fill="hold" nodeType="afterEffect">
                                  <p:stCondLst>
                                    <p:cond delay="500"/>
                                  </p:stCondLst>
                                  <p:childTnLst>
                                    <p:set>
                                      <p:cBhvr>
                                        <p:cTn id="82" dur="1" fill="hold">
                                          <p:stCondLst>
                                            <p:cond delay="0"/>
                                          </p:stCondLst>
                                        </p:cTn>
                                        <p:tgtEl>
                                          <p:spTgt spid="397329"/>
                                        </p:tgtEl>
                                        <p:attrNameLst>
                                          <p:attrName>style.visibility</p:attrName>
                                        </p:attrNameLst>
                                      </p:cBhvr>
                                      <p:to>
                                        <p:strVal val="visible"/>
                                      </p:to>
                                    </p:set>
                                    <p:animEffect transition="in" filter="slide(fromTop)">
                                      <p:cBhvr>
                                        <p:cTn id="83" dur="250"/>
                                        <p:tgtEl>
                                          <p:spTgt spid="397329"/>
                                        </p:tgtEl>
                                      </p:cBhvr>
                                    </p:animEffect>
                                  </p:childTnLst>
                                </p:cTn>
                              </p:par>
                            </p:childTnLst>
                          </p:cTn>
                        </p:par>
                        <p:par>
                          <p:cTn id="84" fill="hold">
                            <p:stCondLst>
                              <p:cond delay="1750"/>
                            </p:stCondLst>
                            <p:childTnLst>
                              <p:par>
                                <p:cTn id="85" presetID="12" presetClass="entr" presetSubtype="2" fill="hold" nodeType="afterEffect">
                                  <p:stCondLst>
                                    <p:cond delay="0"/>
                                  </p:stCondLst>
                                  <p:childTnLst>
                                    <p:set>
                                      <p:cBhvr>
                                        <p:cTn id="86" dur="1" fill="hold">
                                          <p:stCondLst>
                                            <p:cond delay="0"/>
                                          </p:stCondLst>
                                        </p:cTn>
                                        <p:tgtEl>
                                          <p:spTgt spid="397330"/>
                                        </p:tgtEl>
                                        <p:attrNameLst>
                                          <p:attrName>style.visibility</p:attrName>
                                        </p:attrNameLst>
                                      </p:cBhvr>
                                      <p:to>
                                        <p:strVal val="visible"/>
                                      </p:to>
                                    </p:set>
                                    <p:animEffect transition="in" filter="slide(fromRight)">
                                      <p:cBhvr>
                                        <p:cTn id="87" dur="250"/>
                                        <p:tgtEl>
                                          <p:spTgt spid="3973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7314" grpId="0" animBg="1"/>
      <p:bldP spid="397321" grpId="0" animBg="1"/>
      <p:bldP spid="397322" grpId="0" animBg="1"/>
      <p:bldP spid="397323" grpId="0" animBg="1"/>
      <p:bldP spid="397324" grpId="0" animBg="1"/>
      <p:bldP spid="397325" grpId="0" animBg="1"/>
      <p:bldP spid="397332" grpId="0" animBg="1"/>
      <p:bldP spid="397333" grpId="0" animBg="1"/>
      <p:bldP spid="39733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2"/>
          <p:cNvSpPr>
            <a:spLocks noGrp="1" noChangeArrowheads="1"/>
          </p:cNvSpPr>
          <p:nvPr>
            <p:ph type="title"/>
          </p:nvPr>
        </p:nvSpPr>
        <p:spPr>
          <a:xfrm>
            <a:off x="169516" y="283369"/>
            <a:ext cx="8964612" cy="990600"/>
          </a:xfrm>
        </p:spPr>
        <p:txBody>
          <a:bodyPr/>
          <a:lstStyle/>
          <a:p>
            <a:pPr eaLnBrk="1" hangingPunct="1"/>
            <a:r>
              <a:rPr lang="en-US" altLang="zh-CN" sz="4000" dirty="0" smtClean="0"/>
              <a:t>2.</a:t>
            </a:r>
            <a:r>
              <a:rPr lang="zh-CN" altLang="en-US" sz="4000" dirty="0" smtClean="0"/>
              <a:t>时点</a:t>
            </a:r>
            <a:r>
              <a:rPr lang="zh-CN" altLang="en-US" sz="4000" dirty="0" smtClean="0"/>
              <a:t>序列的平均发展水平（续）</a:t>
            </a:r>
          </a:p>
        </p:txBody>
      </p:sp>
      <p:sp>
        <p:nvSpPr>
          <p:cNvPr id="398339" name="Rectangle 3"/>
          <p:cNvSpPr>
            <a:spLocks noGrp="1" noChangeArrowheads="1"/>
          </p:cNvSpPr>
          <p:nvPr>
            <p:ph type="body" idx="1"/>
          </p:nvPr>
        </p:nvSpPr>
        <p:spPr>
          <a:xfrm>
            <a:off x="517525" y="1459937"/>
            <a:ext cx="8626475" cy="5111750"/>
          </a:xfrm>
        </p:spPr>
        <p:txBody>
          <a:bodyPr/>
          <a:lstStyle/>
          <a:p>
            <a:pPr marL="0" indent="0" eaLnBrk="1" hangingPunct="1">
              <a:lnSpc>
                <a:spcPct val="120000"/>
              </a:lnSpc>
              <a:spcBef>
                <a:spcPct val="30000"/>
              </a:spcBef>
              <a:buNone/>
              <a:defRPr/>
            </a:pPr>
            <a:r>
              <a:rPr lang="zh-CN" altLang="en-US" dirty="0" smtClean="0">
                <a:solidFill>
                  <a:srgbClr val="1313FF"/>
                </a:solidFill>
                <a:sym typeface="Wingdings 2" pitchFamily="18" charset="2"/>
              </a:rPr>
              <a:t>不连续时点数列计算序时平均数的</a:t>
            </a:r>
            <a:r>
              <a:rPr lang="zh-CN" altLang="en-US" dirty="0" smtClean="0">
                <a:solidFill>
                  <a:srgbClr val="FF00FF"/>
                </a:solidFill>
                <a:sym typeface="Wingdings 2" pitchFamily="18" charset="2"/>
              </a:rPr>
              <a:t>基本思路</a:t>
            </a:r>
          </a:p>
          <a:p>
            <a:pPr lvl="1" eaLnBrk="1" hangingPunct="1">
              <a:lnSpc>
                <a:spcPct val="120000"/>
              </a:lnSpc>
              <a:spcBef>
                <a:spcPct val="30000"/>
              </a:spcBef>
              <a:defRPr/>
            </a:pPr>
            <a:r>
              <a:rPr lang="zh-CN" altLang="en-US" sz="2600" dirty="0" smtClean="0">
                <a:sym typeface="Wingdings 2" pitchFamily="18" charset="2"/>
              </a:rPr>
              <a:t>先求</a:t>
            </a:r>
            <a:r>
              <a:rPr lang="zh-CN" altLang="en-US" dirty="0" smtClean="0">
                <a:sym typeface="Wingdings 2" pitchFamily="18" charset="2"/>
              </a:rPr>
              <a:t>分段平均数</a:t>
            </a:r>
            <a:endParaRPr lang="zh-CN" altLang="en-US" sz="2600" dirty="0" smtClean="0">
              <a:sym typeface="Wingdings 2" pitchFamily="18" charset="2"/>
            </a:endParaRPr>
          </a:p>
          <a:p>
            <a:pPr lvl="2" eaLnBrk="1" hangingPunct="1">
              <a:lnSpc>
                <a:spcPct val="120000"/>
              </a:lnSpc>
              <a:spcBef>
                <a:spcPct val="30000"/>
              </a:spcBef>
              <a:defRPr/>
            </a:pPr>
            <a:r>
              <a:rPr lang="zh-CN" altLang="en-US" dirty="0" smtClean="0">
                <a:sym typeface="Wingdings 2" pitchFamily="18" charset="2"/>
              </a:rPr>
              <a:t>分段平均数＝相邻两点数据的简单算术平均</a:t>
            </a:r>
          </a:p>
          <a:p>
            <a:pPr lvl="3" eaLnBrk="1" hangingPunct="1">
              <a:lnSpc>
                <a:spcPct val="120000"/>
              </a:lnSpc>
              <a:spcBef>
                <a:spcPct val="30000"/>
              </a:spcBef>
              <a:defRPr/>
            </a:pPr>
            <a:r>
              <a:rPr lang="zh-CN" altLang="en-US" sz="2400" dirty="0" smtClean="0">
                <a:sym typeface="Wingdings 2" pitchFamily="18" charset="2"/>
              </a:rPr>
              <a:t>假定现象均匀变化</a:t>
            </a:r>
          </a:p>
          <a:p>
            <a:pPr lvl="2" eaLnBrk="1" hangingPunct="1">
              <a:lnSpc>
                <a:spcPct val="120000"/>
              </a:lnSpc>
              <a:spcBef>
                <a:spcPct val="30000"/>
              </a:spcBef>
              <a:defRPr/>
            </a:pPr>
            <a:r>
              <a:rPr lang="zh-CN" altLang="en-US" dirty="0" smtClean="0">
                <a:sym typeface="Wingdings 2" pitchFamily="18" charset="2"/>
              </a:rPr>
              <a:t>用来代表相邻两个时点之间各个时点上的水平</a:t>
            </a:r>
          </a:p>
          <a:p>
            <a:pPr lvl="1" eaLnBrk="1" hangingPunct="1">
              <a:lnSpc>
                <a:spcPct val="120000"/>
              </a:lnSpc>
              <a:spcBef>
                <a:spcPct val="30000"/>
              </a:spcBef>
              <a:defRPr/>
            </a:pPr>
            <a:r>
              <a:rPr lang="zh-CN" altLang="en-US" sz="2600" dirty="0" smtClean="0">
                <a:sym typeface="Wingdings 2" pitchFamily="18" charset="2"/>
              </a:rPr>
              <a:t>再求</a:t>
            </a:r>
            <a:r>
              <a:rPr lang="zh-CN" altLang="en-US" dirty="0" smtClean="0">
                <a:sym typeface="Wingdings 2" pitchFamily="18" charset="2"/>
              </a:rPr>
              <a:t>全期总平均数</a:t>
            </a:r>
          </a:p>
          <a:p>
            <a:pPr lvl="2" eaLnBrk="1" hangingPunct="1">
              <a:lnSpc>
                <a:spcPct val="120000"/>
              </a:lnSpc>
              <a:spcBef>
                <a:spcPct val="30000"/>
              </a:spcBef>
              <a:defRPr/>
            </a:pPr>
            <a:r>
              <a:rPr lang="zh-CN" altLang="en-US" dirty="0" smtClean="0">
                <a:sym typeface="Wingdings 2" pitchFamily="18" charset="2"/>
              </a:rPr>
              <a:t>求全期总平均数＝分段平均数的加权算术平均</a:t>
            </a:r>
          </a:p>
          <a:p>
            <a:pPr lvl="2" eaLnBrk="1" hangingPunct="1">
              <a:lnSpc>
                <a:spcPct val="120000"/>
              </a:lnSpc>
              <a:spcBef>
                <a:spcPct val="30000"/>
              </a:spcBef>
              <a:defRPr/>
            </a:pPr>
            <a:r>
              <a:rPr lang="zh-CN" altLang="en-US" dirty="0" smtClean="0">
                <a:sym typeface="Wingdings 2" pitchFamily="18" charset="2"/>
              </a:rPr>
              <a:t>权数 </a:t>
            </a:r>
            <a:r>
              <a:rPr lang="en-US" altLang="zh-CN" i="1" dirty="0" smtClean="0">
                <a:latin typeface="Times New Roman" panose="02020603050405020304" pitchFamily="18" charset="0"/>
                <a:cs typeface="Times New Roman" panose="02020603050405020304" pitchFamily="18" charset="0"/>
                <a:sym typeface="Wingdings 2" pitchFamily="18" charset="2"/>
              </a:rPr>
              <a:t>f </a:t>
            </a:r>
            <a:r>
              <a:rPr lang="en-US" altLang="zh-CN" dirty="0" smtClean="0">
                <a:sym typeface="Wingdings 2" pitchFamily="18" charset="2"/>
              </a:rPr>
              <a:t> </a:t>
            </a:r>
            <a:r>
              <a:rPr lang="zh-CN" altLang="en-US" dirty="0" smtClean="0">
                <a:sym typeface="Wingdings 2" pitchFamily="18" charset="2"/>
              </a:rPr>
              <a:t>＝时点间的间隔长度</a:t>
            </a:r>
          </a:p>
        </p:txBody>
      </p:sp>
      <p:sp>
        <p:nvSpPr>
          <p:cNvPr id="87045" name="Rectangle 4"/>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87046" name="日期占位符 5"/>
          <p:cNvSpPr>
            <a:spLocks noGrp="1"/>
          </p:cNvSpPr>
          <p:nvPr>
            <p:ph type="dt" sz="quarter" idx="10"/>
          </p:nvPr>
        </p:nvSpPr>
        <p:spPr>
          <a:noFill/>
        </p:spPr>
        <p:txBody>
          <a:bodyPr/>
          <a:lstStyle/>
          <a:p>
            <a:endParaRPr lang="en-US" altLang="zh-CN"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98339">
                                            <p:txEl>
                                              <p:pRg st="2" end="2"/>
                                            </p:txEl>
                                          </p:spTgt>
                                        </p:tgtEl>
                                        <p:attrNameLst>
                                          <p:attrName>style.visibility</p:attrName>
                                        </p:attrNameLst>
                                      </p:cBhvr>
                                      <p:to>
                                        <p:strVal val="visible"/>
                                      </p:to>
                                    </p:set>
                                    <p:animEffect transition="in" filter="wipe(down)">
                                      <p:cBhvr>
                                        <p:cTn id="7" dur="500"/>
                                        <p:tgtEl>
                                          <p:spTgt spid="398339">
                                            <p:txEl>
                                              <p:pRg st="2" end="2"/>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98339">
                                            <p:txEl>
                                              <p:pRg st="3" end="3"/>
                                            </p:txEl>
                                          </p:spTgt>
                                        </p:tgtEl>
                                        <p:attrNameLst>
                                          <p:attrName>style.visibility</p:attrName>
                                        </p:attrNameLst>
                                      </p:cBhvr>
                                      <p:to>
                                        <p:strVal val="visible"/>
                                      </p:to>
                                    </p:set>
                                    <p:animEffect transition="in" filter="wipe(down)">
                                      <p:cBhvr>
                                        <p:cTn id="10" dur="500"/>
                                        <p:tgtEl>
                                          <p:spTgt spid="398339">
                                            <p:txEl>
                                              <p:pRg st="3" end="3"/>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98339">
                                            <p:txEl>
                                              <p:pRg st="4" end="4"/>
                                            </p:txEl>
                                          </p:spTgt>
                                        </p:tgtEl>
                                        <p:attrNameLst>
                                          <p:attrName>style.visibility</p:attrName>
                                        </p:attrNameLst>
                                      </p:cBhvr>
                                      <p:to>
                                        <p:strVal val="visible"/>
                                      </p:to>
                                    </p:set>
                                    <p:animEffect transition="in" filter="wipe(down)">
                                      <p:cBhvr>
                                        <p:cTn id="13" dur="500"/>
                                        <p:tgtEl>
                                          <p:spTgt spid="398339">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398339">
                                            <p:txEl>
                                              <p:pRg st="5" end="5"/>
                                            </p:txEl>
                                          </p:spTgt>
                                        </p:tgtEl>
                                        <p:attrNameLst>
                                          <p:attrName>style.visibility</p:attrName>
                                        </p:attrNameLst>
                                      </p:cBhvr>
                                      <p:to>
                                        <p:strVal val="visible"/>
                                      </p:to>
                                    </p:set>
                                    <p:animEffect transition="in" filter="wipe(down)">
                                      <p:cBhvr>
                                        <p:cTn id="18" dur="500"/>
                                        <p:tgtEl>
                                          <p:spTgt spid="398339">
                                            <p:txEl>
                                              <p:pRg st="5" end="5"/>
                                            </p:tx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98339">
                                            <p:txEl>
                                              <p:pRg st="6" end="6"/>
                                            </p:txEl>
                                          </p:spTgt>
                                        </p:tgtEl>
                                        <p:attrNameLst>
                                          <p:attrName>style.visibility</p:attrName>
                                        </p:attrNameLst>
                                      </p:cBhvr>
                                      <p:to>
                                        <p:strVal val="visible"/>
                                      </p:to>
                                    </p:set>
                                    <p:animEffect transition="in" filter="wipe(down)">
                                      <p:cBhvr>
                                        <p:cTn id="21" dur="500"/>
                                        <p:tgtEl>
                                          <p:spTgt spid="398339">
                                            <p:txEl>
                                              <p:pRg st="6" end="6"/>
                                            </p:txEl>
                                          </p:spTgt>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398339">
                                            <p:txEl>
                                              <p:pRg st="7" end="7"/>
                                            </p:txEl>
                                          </p:spTgt>
                                        </p:tgtEl>
                                        <p:attrNameLst>
                                          <p:attrName>style.visibility</p:attrName>
                                        </p:attrNameLst>
                                      </p:cBhvr>
                                      <p:to>
                                        <p:strVal val="visible"/>
                                      </p:to>
                                    </p:set>
                                    <p:animEffect transition="in" filter="wipe(down)">
                                      <p:cBhvr>
                                        <p:cTn id="24" dur="500"/>
                                        <p:tgtEl>
                                          <p:spTgt spid="39833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39" grpId="0" build="p"/>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02" name="Rectangle 2"/>
          <p:cNvSpPr>
            <a:spLocks noGrp="1" noChangeArrowheads="1"/>
          </p:cNvSpPr>
          <p:nvPr>
            <p:ph type="title"/>
          </p:nvPr>
        </p:nvSpPr>
        <p:spPr>
          <a:xfrm>
            <a:off x="1979613" y="620713"/>
            <a:ext cx="5040312" cy="1008062"/>
          </a:xfrm>
        </p:spPr>
        <p:txBody>
          <a:bodyPr/>
          <a:lstStyle/>
          <a:p>
            <a:pPr eaLnBrk="1" hangingPunct="1"/>
            <a:r>
              <a:rPr lang="zh-CN" altLang="en-US" sz="4000" b="0" smtClean="0">
                <a:latin typeface="Times New Roman" pitchFamily="18" charset="0"/>
                <a:cs typeface="Times New Roman" pitchFamily="18" charset="0"/>
              </a:rPr>
              <a:t>不连续时点数列计算序时平均数的</a:t>
            </a:r>
            <a:r>
              <a:rPr lang="zh-CN" altLang="en-US" sz="4000" smtClean="0">
                <a:latin typeface="Times New Roman" pitchFamily="18" charset="0"/>
                <a:cs typeface="Times New Roman" pitchFamily="18" charset="0"/>
              </a:rPr>
              <a:t>公式</a:t>
            </a:r>
            <a:r>
              <a:rPr lang="zh-CN" altLang="en-US" sz="4000" smtClean="0">
                <a:latin typeface="Arial" charset="0"/>
                <a:cs typeface="Times New Roman" pitchFamily="18" charset="0"/>
              </a:rPr>
              <a:t> </a:t>
            </a:r>
            <a:endParaRPr lang="zh-CN" altLang="en-US" sz="4000" smtClean="0">
              <a:latin typeface="Times New Roman" pitchFamily="18" charset="0"/>
              <a:cs typeface="Times New Roman" pitchFamily="18" charset="0"/>
            </a:endParaRPr>
          </a:p>
        </p:txBody>
      </p:sp>
      <p:graphicFrame>
        <p:nvGraphicFramePr>
          <p:cNvPr id="399363" name="Object 3"/>
          <p:cNvGraphicFramePr>
            <a:graphicFrameLocks noGrp="1" noChangeAspect="1"/>
          </p:cNvGraphicFramePr>
          <p:nvPr>
            <p:ph type="body" idx="1"/>
          </p:nvPr>
        </p:nvGraphicFramePr>
        <p:xfrm>
          <a:off x="1476375" y="1916113"/>
          <a:ext cx="6686550" cy="1127125"/>
        </p:xfrm>
        <a:graphic>
          <a:graphicData uri="http://schemas.openxmlformats.org/presentationml/2006/ole">
            <mc:AlternateContent xmlns:mc="http://schemas.openxmlformats.org/markup-compatibility/2006">
              <mc:Choice xmlns:v="urn:schemas-microsoft-com:vml" Requires="v">
                <p:oleObj spid="_x0000_s4416" name="Equation" r:id="rId3" imgW="2336760" imgH="393480" progId="Equation.DSMT4">
                  <p:embed/>
                </p:oleObj>
              </mc:Choice>
              <mc:Fallback>
                <p:oleObj name="Equation" r:id="rId3" imgW="2336760" imgH="39348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5" y="1916113"/>
                        <a:ext cx="6686550" cy="1127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66FF"/>
                            </a:solidFill>
                            <a:miter lim="800000"/>
                            <a:headEnd/>
                            <a:tailEnd/>
                          </a14:hiddenLine>
                        </a:ext>
                      </a:extLst>
                    </p:spPr>
                  </p:pic>
                </p:oleObj>
              </mc:Fallback>
            </mc:AlternateContent>
          </a:graphicData>
        </a:graphic>
      </p:graphicFrame>
      <p:sp>
        <p:nvSpPr>
          <p:cNvPr id="399364" name="Rectangle 4"/>
          <p:cNvSpPr>
            <a:spLocks noChangeArrowheads="1"/>
          </p:cNvSpPr>
          <p:nvPr/>
        </p:nvSpPr>
        <p:spPr bwMode="auto">
          <a:xfrm>
            <a:off x="323528" y="3861048"/>
            <a:ext cx="3581400" cy="1569660"/>
          </a:xfrm>
          <a:prstGeom prst="rect">
            <a:avLst/>
          </a:prstGeom>
          <a:noFill/>
          <a:ln w="9525">
            <a:noFill/>
            <a:miter lim="800000"/>
            <a:headEnd/>
            <a:tailEnd/>
          </a:ln>
        </p:spPr>
        <p:txBody>
          <a:bodyPr>
            <a:spAutoFit/>
          </a:bodyPr>
          <a:lstStyle/>
          <a:p>
            <a:pPr eaLnBrk="0" hangingPunct="0"/>
            <a:r>
              <a:rPr kumimoji="1" lang="zh-CN" altLang="en-US" sz="3200" b="1" dirty="0">
                <a:solidFill>
                  <a:srgbClr val="000000"/>
                </a:solidFill>
                <a:latin typeface="Times New Roman" pitchFamily="18" charset="0"/>
              </a:rPr>
              <a:t>当时点间隔相等，</a:t>
            </a:r>
            <a:r>
              <a:rPr kumimoji="1" lang="zh-CN" altLang="en-US" sz="3200" dirty="0">
                <a:solidFill>
                  <a:srgbClr val="000000"/>
                </a:solidFill>
                <a:latin typeface="Times New Roman" pitchFamily="18" charset="0"/>
              </a:rPr>
              <a:t>上式简化为</a:t>
            </a:r>
            <a:r>
              <a:rPr kumimoji="1" lang="en-US" altLang="zh-CN" sz="3200" dirty="0">
                <a:solidFill>
                  <a:srgbClr val="000000"/>
                </a:solidFill>
                <a:latin typeface="Times New Roman" pitchFamily="18" charset="0"/>
              </a:rPr>
              <a:t>:</a:t>
            </a:r>
          </a:p>
          <a:p>
            <a:pPr eaLnBrk="0" hangingPunct="0"/>
            <a:r>
              <a:rPr kumimoji="1" lang="en-US" altLang="zh-CN" sz="3200" b="1" dirty="0">
                <a:solidFill>
                  <a:srgbClr val="000000"/>
                </a:solidFill>
                <a:latin typeface="Times New Roman" pitchFamily="18" charset="0"/>
              </a:rPr>
              <a:t>    “</a:t>
            </a:r>
            <a:r>
              <a:rPr kumimoji="1" lang="zh-CN" altLang="en-US" sz="3200" b="1" dirty="0">
                <a:solidFill>
                  <a:srgbClr val="3333FF"/>
                </a:solidFill>
                <a:latin typeface="Times New Roman" pitchFamily="18" charset="0"/>
              </a:rPr>
              <a:t>首末折半法</a:t>
            </a:r>
            <a:r>
              <a:rPr kumimoji="1" lang="zh-CN" altLang="en-US" sz="3200" b="1" dirty="0">
                <a:solidFill>
                  <a:srgbClr val="000000"/>
                </a:solidFill>
                <a:latin typeface="Times New Roman" pitchFamily="18" charset="0"/>
              </a:rPr>
              <a:t>”</a:t>
            </a:r>
          </a:p>
        </p:txBody>
      </p:sp>
      <p:graphicFrame>
        <p:nvGraphicFramePr>
          <p:cNvPr id="399365" name="Object 5"/>
          <p:cNvGraphicFramePr>
            <a:graphicFrameLocks noChangeAspect="1"/>
          </p:cNvGraphicFramePr>
          <p:nvPr>
            <p:extLst>
              <p:ext uri="{D42A27DB-BD31-4B8C-83A1-F6EECF244321}">
                <p14:modId xmlns:p14="http://schemas.microsoft.com/office/powerpoint/2010/main" val="3829112769"/>
              </p:ext>
            </p:extLst>
          </p:nvPr>
        </p:nvGraphicFramePr>
        <p:xfrm>
          <a:off x="3457575" y="4508500"/>
          <a:ext cx="5362575" cy="1489075"/>
        </p:xfrm>
        <a:graphic>
          <a:graphicData uri="http://schemas.openxmlformats.org/presentationml/2006/ole">
            <mc:AlternateContent xmlns:mc="http://schemas.openxmlformats.org/markup-compatibility/2006">
              <mc:Choice xmlns:v="urn:schemas-microsoft-com:vml" Requires="v">
                <p:oleObj spid="_x0000_s4417" name="Equation" r:id="rId5" imgW="2933640" imgH="863280" progId="Equation.DSMT4">
                  <p:embed/>
                </p:oleObj>
              </mc:Choice>
              <mc:Fallback>
                <p:oleObj name="Equation" r:id="rId5" imgW="2933640" imgH="86328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57575" y="4508500"/>
                        <a:ext cx="5362575" cy="1489075"/>
                      </a:xfrm>
                      <a:prstGeom prst="rect">
                        <a:avLst/>
                      </a:prstGeom>
                      <a:solidFill>
                        <a:schemeClr val="accent1">
                          <a:lumMod val="40000"/>
                          <a:lumOff val="60000"/>
                        </a:schemeClr>
                      </a:solidFill>
                      <a:ln w="9525">
                        <a:solidFill>
                          <a:schemeClr val="tx1">
                            <a:lumMod val="20000"/>
                            <a:lumOff val="80000"/>
                          </a:schemeClr>
                        </a:solidFill>
                        <a:miter lim="800000"/>
                        <a:headEnd/>
                        <a:tailEnd/>
                      </a:ln>
                    </p:spPr>
                  </p:pic>
                </p:oleObj>
              </mc:Fallback>
            </mc:AlternateContent>
          </a:graphicData>
        </a:graphic>
      </p:graphicFrame>
      <p:graphicFrame>
        <p:nvGraphicFramePr>
          <p:cNvPr id="399367" name="Object 7"/>
          <p:cNvGraphicFramePr>
            <a:graphicFrameLocks noChangeAspect="1"/>
          </p:cNvGraphicFramePr>
          <p:nvPr>
            <p:extLst>
              <p:ext uri="{D42A27DB-BD31-4B8C-83A1-F6EECF244321}">
                <p14:modId xmlns:p14="http://schemas.microsoft.com/office/powerpoint/2010/main" val="1037337883"/>
              </p:ext>
            </p:extLst>
          </p:nvPr>
        </p:nvGraphicFramePr>
        <p:xfrm>
          <a:off x="373856" y="1697410"/>
          <a:ext cx="8251825" cy="1839912"/>
        </p:xfrm>
        <a:graphic>
          <a:graphicData uri="http://schemas.openxmlformats.org/presentationml/2006/ole">
            <mc:AlternateContent xmlns:mc="http://schemas.openxmlformats.org/markup-compatibility/2006">
              <mc:Choice xmlns:v="urn:schemas-microsoft-com:vml" Requires="v">
                <p:oleObj spid="_x0000_s4418" name="Equation" r:id="rId7" imgW="3073320" imgH="609480" progId="Equation.DSMT4">
                  <p:embed/>
                </p:oleObj>
              </mc:Choice>
              <mc:Fallback>
                <p:oleObj name="Equation" r:id="rId7" imgW="3073320" imgH="60948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3856" y="1697410"/>
                        <a:ext cx="8251825" cy="1839912"/>
                      </a:xfrm>
                      <a:prstGeom prst="rect">
                        <a:avLst/>
                      </a:prstGeom>
                      <a:solidFill>
                        <a:schemeClr val="accent1">
                          <a:lumMod val="20000"/>
                          <a:lumOff val="80000"/>
                        </a:schemeClr>
                      </a:solidFill>
                      <a:ln w="9525">
                        <a:solidFill>
                          <a:schemeClr val="tx1">
                            <a:lumMod val="20000"/>
                            <a:lumOff val="80000"/>
                          </a:schemeClr>
                        </a:solidFill>
                        <a:miter lim="800000"/>
                        <a:headEnd/>
                        <a:tailEnd/>
                      </a:ln>
                    </p:spPr>
                  </p:pic>
                </p:oleObj>
              </mc:Fallback>
            </mc:AlternateContent>
          </a:graphicData>
        </a:graphic>
      </p:graphicFrame>
      <p:sp>
        <p:nvSpPr>
          <p:cNvPr id="4104" name="日期占位符 7"/>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399363"/>
                                        </p:tgtEl>
                                        <p:attrNameLst>
                                          <p:attrName>style.visibility</p:attrName>
                                        </p:attrNameLst>
                                      </p:cBhvr>
                                      <p:to>
                                        <p:strVal val="visible"/>
                                      </p:to>
                                    </p:set>
                                    <p:animEffect transition="in" filter="slide(fromBottom)">
                                      <p:cBhvr>
                                        <p:cTn id="7" dur="1000"/>
                                        <p:tgtEl>
                                          <p:spTgt spid="39936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399367"/>
                                        </p:tgtEl>
                                        <p:attrNameLst>
                                          <p:attrName>style.visibility</p:attrName>
                                        </p:attrNameLst>
                                      </p:cBhvr>
                                      <p:to>
                                        <p:strVal val="visible"/>
                                      </p:to>
                                    </p:set>
                                    <p:animEffect transition="in" filter="slide(fromBottom)">
                                      <p:cBhvr>
                                        <p:cTn id="12" dur="500"/>
                                        <p:tgtEl>
                                          <p:spTgt spid="39936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399364"/>
                                        </p:tgtEl>
                                        <p:attrNameLst>
                                          <p:attrName>style.visibility</p:attrName>
                                        </p:attrNameLst>
                                      </p:cBhvr>
                                      <p:to>
                                        <p:strVal val="visible"/>
                                      </p:to>
                                    </p:set>
                                    <p:anim calcmode="lin" valueType="num">
                                      <p:cBhvr additive="base">
                                        <p:cTn id="17" dur="500" fill="hold"/>
                                        <p:tgtEl>
                                          <p:spTgt spid="399364"/>
                                        </p:tgtEl>
                                        <p:attrNameLst>
                                          <p:attrName>ppt_x</p:attrName>
                                        </p:attrNameLst>
                                      </p:cBhvr>
                                      <p:tavLst>
                                        <p:tav tm="0">
                                          <p:val>
                                            <p:strVal val="0-#ppt_w/2"/>
                                          </p:val>
                                        </p:tav>
                                        <p:tav tm="100000">
                                          <p:val>
                                            <p:strVal val="#ppt_x"/>
                                          </p:val>
                                        </p:tav>
                                      </p:tavLst>
                                    </p:anim>
                                    <p:anim calcmode="lin" valueType="num">
                                      <p:cBhvr additive="base">
                                        <p:cTn id="18" dur="500" fill="hold"/>
                                        <p:tgtEl>
                                          <p:spTgt spid="399364"/>
                                        </p:tgtEl>
                                        <p:attrNameLst>
                                          <p:attrName>ppt_y</p:attrName>
                                        </p:attrNameLst>
                                      </p:cBhvr>
                                      <p:tavLst>
                                        <p:tav tm="0">
                                          <p:val>
                                            <p:strVal val="#ppt_y"/>
                                          </p:val>
                                        </p:tav>
                                        <p:tav tm="100000">
                                          <p:val>
                                            <p:strVal val="#ppt_y"/>
                                          </p:val>
                                        </p:tav>
                                      </p:tavLst>
                                    </p:anim>
                                  </p:childTnLst>
                                </p:cTn>
                              </p:par>
                            </p:childTnLst>
                          </p:cTn>
                        </p:par>
                        <p:par>
                          <p:cTn id="19" fill="hold">
                            <p:stCondLst>
                              <p:cond delay="500"/>
                            </p:stCondLst>
                            <p:childTnLst>
                              <p:par>
                                <p:cTn id="20" presetID="2" presetClass="entr" presetSubtype="2" fill="hold" nodeType="afterEffect">
                                  <p:stCondLst>
                                    <p:cond delay="0"/>
                                  </p:stCondLst>
                                  <p:childTnLst>
                                    <p:set>
                                      <p:cBhvr>
                                        <p:cTn id="21" dur="1" fill="hold">
                                          <p:stCondLst>
                                            <p:cond delay="0"/>
                                          </p:stCondLst>
                                        </p:cTn>
                                        <p:tgtEl>
                                          <p:spTgt spid="399365"/>
                                        </p:tgtEl>
                                        <p:attrNameLst>
                                          <p:attrName>style.visibility</p:attrName>
                                        </p:attrNameLst>
                                      </p:cBhvr>
                                      <p:to>
                                        <p:strVal val="visible"/>
                                      </p:to>
                                    </p:set>
                                    <p:anim calcmode="lin" valueType="num">
                                      <p:cBhvr additive="base">
                                        <p:cTn id="22" dur="1000" fill="hold"/>
                                        <p:tgtEl>
                                          <p:spTgt spid="399365"/>
                                        </p:tgtEl>
                                        <p:attrNameLst>
                                          <p:attrName>ppt_x</p:attrName>
                                        </p:attrNameLst>
                                      </p:cBhvr>
                                      <p:tavLst>
                                        <p:tav tm="0">
                                          <p:val>
                                            <p:strVal val="1+#ppt_w/2"/>
                                          </p:val>
                                        </p:tav>
                                        <p:tav tm="100000">
                                          <p:val>
                                            <p:strVal val="#ppt_x"/>
                                          </p:val>
                                        </p:tav>
                                      </p:tavLst>
                                    </p:anim>
                                    <p:anim calcmode="lin" valueType="num">
                                      <p:cBhvr additive="base">
                                        <p:cTn id="23" dur="1000" fill="hold"/>
                                        <p:tgtEl>
                                          <p:spTgt spid="39936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64"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noChangeArrowheads="1"/>
          </p:cNvSpPr>
          <p:nvPr>
            <p:ph type="title"/>
          </p:nvPr>
        </p:nvSpPr>
        <p:spPr>
          <a:xfrm>
            <a:off x="696064" y="517045"/>
            <a:ext cx="6553200" cy="838200"/>
          </a:xfrm>
        </p:spPr>
        <p:txBody>
          <a:bodyPr lIns="90488" tIns="44450" rIns="90488" bIns="44450" anchor="ctr" anchorCtr="1"/>
          <a:lstStyle/>
          <a:p>
            <a:pPr eaLnBrk="1" hangingPunct="1"/>
            <a:r>
              <a:rPr lang="zh-CN" altLang="en-US" sz="3600" dirty="0" smtClean="0">
                <a:solidFill>
                  <a:schemeClr val="hlink"/>
                </a:solidFill>
              </a:rPr>
              <a:t>例</a:t>
            </a:r>
          </a:p>
        </p:txBody>
      </p:sp>
      <p:graphicFrame>
        <p:nvGraphicFramePr>
          <p:cNvPr id="328707" name="Group 3"/>
          <p:cNvGraphicFramePr>
            <a:graphicFrameLocks noGrp="1"/>
          </p:cNvGraphicFramePr>
          <p:nvPr>
            <p:extLst>
              <p:ext uri="{D42A27DB-BD31-4B8C-83A1-F6EECF244321}">
                <p14:modId xmlns:p14="http://schemas.microsoft.com/office/powerpoint/2010/main" val="1611761913"/>
              </p:ext>
            </p:extLst>
          </p:nvPr>
        </p:nvGraphicFramePr>
        <p:xfrm>
          <a:off x="696064" y="2350113"/>
          <a:ext cx="7696200" cy="1619250"/>
        </p:xfrm>
        <a:graphic>
          <a:graphicData uri="http://schemas.openxmlformats.org/drawingml/2006/table">
            <a:tbl>
              <a:tblPr/>
              <a:tblGrid>
                <a:gridCol w="1539875">
                  <a:extLst>
                    <a:ext uri="{9D8B030D-6E8A-4147-A177-3AD203B41FA5}">
                      <a16:colId xmlns:a16="http://schemas.microsoft.com/office/drawing/2014/main" val="20000"/>
                    </a:ext>
                  </a:extLst>
                </a:gridCol>
                <a:gridCol w="1171575">
                  <a:extLst>
                    <a:ext uri="{9D8B030D-6E8A-4147-A177-3AD203B41FA5}">
                      <a16:colId xmlns:a16="http://schemas.microsoft.com/office/drawing/2014/main" val="20001"/>
                    </a:ext>
                  </a:extLst>
                </a:gridCol>
                <a:gridCol w="1100138">
                  <a:extLst>
                    <a:ext uri="{9D8B030D-6E8A-4147-A177-3AD203B41FA5}">
                      <a16:colId xmlns:a16="http://schemas.microsoft.com/office/drawing/2014/main" val="20002"/>
                    </a:ext>
                  </a:extLst>
                </a:gridCol>
                <a:gridCol w="1246187">
                  <a:extLst>
                    <a:ext uri="{9D8B030D-6E8A-4147-A177-3AD203B41FA5}">
                      <a16:colId xmlns:a16="http://schemas.microsoft.com/office/drawing/2014/main" val="20003"/>
                    </a:ext>
                  </a:extLst>
                </a:gridCol>
                <a:gridCol w="1244600">
                  <a:extLst>
                    <a:ext uri="{9D8B030D-6E8A-4147-A177-3AD203B41FA5}">
                      <a16:colId xmlns:a16="http://schemas.microsoft.com/office/drawing/2014/main" val="20004"/>
                    </a:ext>
                  </a:extLst>
                </a:gridCol>
                <a:gridCol w="1393825">
                  <a:extLst>
                    <a:ext uri="{9D8B030D-6E8A-4147-A177-3AD203B41FA5}">
                      <a16:colId xmlns:a16="http://schemas.microsoft.com/office/drawing/2014/main" val="20005"/>
                    </a:ext>
                  </a:extLst>
                </a:gridCol>
              </a:tblGrid>
              <a:tr h="438150">
                <a:tc gridSpan="6">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endParaRPr kumimoji="0" lang="zh-CN" altLang="zh-CN" sz="2400" b="1" i="0" u="none" strike="noStrike" cap="none" normalizeH="0" baseline="0" dirty="0" smtClean="0">
                        <a:ln w="3175">
                          <a:solidFill>
                            <a:schemeClr val="tx1"/>
                          </a:solidFill>
                        </a:ln>
                        <a:solidFill>
                          <a:schemeClr val="tx1"/>
                        </a:solidFill>
                        <a:effectLst/>
                        <a:latin typeface="Tahoma" pitchFamily="34" charset="0"/>
                        <a:ea typeface="宋体" pitchFamily="2" charset="-122"/>
                      </a:endParaRP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accent1">
                        <a:lumMod val="20000"/>
                        <a:lumOff val="80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536575">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2200" b="1" i="0" u="none" strike="noStrike" cap="none" normalizeH="0" baseline="0" dirty="0" smtClean="0">
                          <a:ln w="3175">
                            <a:solidFill>
                              <a:schemeClr val="tx1"/>
                            </a:solidFill>
                          </a:ln>
                          <a:solidFill>
                            <a:schemeClr val="tx1"/>
                          </a:solidFill>
                          <a:effectLst/>
                          <a:latin typeface="Times New Roman" pitchFamily="18" charset="0"/>
                          <a:ea typeface="宋体" pitchFamily="2" charset="-122"/>
                        </a:rPr>
                        <a:t>时间</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200" b="1" i="0" u="none" strike="noStrike" cap="none" normalizeH="0" baseline="0" dirty="0" smtClean="0">
                          <a:ln w="3175">
                            <a:solidFill>
                              <a:schemeClr val="tx1"/>
                            </a:solidFill>
                          </a:ln>
                          <a:solidFill>
                            <a:schemeClr val="tx1"/>
                          </a:solidFill>
                          <a:effectLst/>
                          <a:latin typeface="Times New Roman" pitchFamily="18" charset="0"/>
                          <a:ea typeface="宋体" pitchFamily="2" charset="-122"/>
                        </a:rPr>
                        <a:t>1</a:t>
                      </a:r>
                      <a:r>
                        <a:rPr kumimoji="0" lang="zh-CN" altLang="en-US" sz="2200" b="1" i="0" u="none" strike="noStrike" cap="none" normalizeH="0" baseline="0" dirty="0" smtClean="0">
                          <a:ln w="3175">
                            <a:solidFill>
                              <a:schemeClr val="tx1"/>
                            </a:solidFill>
                          </a:ln>
                          <a:solidFill>
                            <a:schemeClr val="tx1"/>
                          </a:solidFill>
                          <a:effectLst/>
                          <a:latin typeface="Times New Roman" pitchFamily="18" charset="0"/>
                          <a:ea typeface="宋体" pitchFamily="2" charset="-122"/>
                        </a:rPr>
                        <a:t>月</a:t>
                      </a:r>
                      <a:r>
                        <a:rPr kumimoji="0" lang="en-US" altLang="zh-CN" sz="2200" b="1" i="0" u="none" strike="noStrike" cap="none" normalizeH="0" baseline="0" dirty="0" smtClean="0">
                          <a:ln w="3175">
                            <a:solidFill>
                              <a:schemeClr val="tx1"/>
                            </a:solidFill>
                          </a:ln>
                          <a:solidFill>
                            <a:schemeClr val="tx1"/>
                          </a:solidFill>
                          <a:effectLst/>
                          <a:latin typeface="Times New Roman" pitchFamily="18" charset="0"/>
                          <a:ea typeface="宋体" pitchFamily="2" charset="-122"/>
                        </a:rPr>
                        <a:t>1</a:t>
                      </a:r>
                      <a:r>
                        <a:rPr kumimoji="0" lang="zh-CN" altLang="en-US" sz="2200" b="1" i="0" u="none" strike="noStrike" cap="none" normalizeH="0" baseline="0" dirty="0" smtClean="0">
                          <a:ln w="3175">
                            <a:solidFill>
                              <a:schemeClr val="tx1"/>
                            </a:solidFill>
                          </a:ln>
                          <a:solidFill>
                            <a:schemeClr val="tx1"/>
                          </a:solidFill>
                          <a:effectLst/>
                          <a:latin typeface="Times New Roman" pitchFamily="18" charset="0"/>
                          <a:ea typeface="宋体" pitchFamily="2" charset="-122"/>
                        </a:rPr>
                        <a:t>日</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200" b="1" i="0" u="none" strike="noStrike" cap="none" normalizeH="0" baseline="0" smtClean="0">
                          <a:ln w="3175">
                            <a:solidFill>
                              <a:schemeClr val="tx1"/>
                            </a:solidFill>
                          </a:ln>
                          <a:solidFill>
                            <a:schemeClr val="tx1"/>
                          </a:solidFill>
                          <a:effectLst/>
                          <a:latin typeface="Times New Roman" pitchFamily="18" charset="0"/>
                          <a:ea typeface="宋体" pitchFamily="2" charset="-122"/>
                          <a:cs typeface="Times New Roman" pitchFamily="18" charset="0"/>
                        </a:rPr>
                        <a:t>3</a:t>
                      </a:r>
                      <a:r>
                        <a:rPr kumimoji="0" lang="zh-CN" altLang="en-US" sz="2200" b="1" i="0" u="none" strike="noStrike" cap="none" normalizeH="0" baseline="0" smtClean="0">
                          <a:ln w="3175">
                            <a:solidFill>
                              <a:schemeClr val="tx1"/>
                            </a:solidFill>
                          </a:ln>
                          <a:solidFill>
                            <a:schemeClr val="tx1"/>
                          </a:solidFill>
                          <a:effectLst/>
                          <a:latin typeface="Times New Roman" pitchFamily="18" charset="0"/>
                          <a:ea typeface="宋体" pitchFamily="2" charset="-122"/>
                        </a:rPr>
                        <a:t>月</a:t>
                      </a:r>
                      <a:r>
                        <a:rPr kumimoji="0" lang="en-US" altLang="zh-CN" sz="2200" b="1" i="0" u="none" strike="noStrike" cap="none" normalizeH="0" baseline="0" smtClean="0">
                          <a:ln w="3175">
                            <a:solidFill>
                              <a:schemeClr val="tx1"/>
                            </a:solidFill>
                          </a:ln>
                          <a:solidFill>
                            <a:schemeClr val="tx1"/>
                          </a:solidFill>
                          <a:effectLst/>
                          <a:latin typeface="Times New Roman" pitchFamily="18" charset="0"/>
                          <a:ea typeface="宋体" pitchFamily="2" charset="-122"/>
                          <a:cs typeface="Times New Roman" pitchFamily="18" charset="0"/>
                        </a:rPr>
                        <a:t>1</a:t>
                      </a:r>
                      <a:r>
                        <a:rPr kumimoji="0" lang="zh-CN" altLang="en-US" sz="2200" b="1" i="0" u="none" strike="noStrike" cap="none" normalizeH="0" baseline="0" smtClean="0">
                          <a:ln w="3175">
                            <a:solidFill>
                              <a:schemeClr val="tx1"/>
                            </a:solidFill>
                          </a:ln>
                          <a:solidFill>
                            <a:schemeClr val="tx1"/>
                          </a:solidFill>
                          <a:effectLst/>
                          <a:latin typeface="Times New Roman" pitchFamily="18" charset="0"/>
                          <a:ea typeface="宋体" pitchFamily="2" charset="-122"/>
                        </a:rPr>
                        <a:t>日</a:t>
                      </a:r>
                      <a:endParaRPr kumimoji="0" lang="zh-CN" altLang="en-US" sz="2200" b="1" i="0" u="none" strike="noStrike" cap="none" normalizeH="0" baseline="0" smtClean="0">
                        <a:ln w="3175">
                          <a:solidFill>
                            <a:schemeClr val="tx1"/>
                          </a:solidFill>
                        </a:ln>
                        <a:solidFill>
                          <a:schemeClr val="tx1"/>
                        </a:solidFill>
                        <a:effectLst/>
                        <a:latin typeface="Tahoma" pitchFamily="34" charset="0"/>
                        <a:ea typeface="宋体" pitchFamily="2" charset="-122"/>
                      </a:endParaRP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200" b="1" i="0" u="none" strike="noStrike" cap="none" normalizeH="0" baseline="0" dirty="0" smtClean="0">
                          <a:ln w="3175">
                            <a:solidFill>
                              <a:schemeClr val="tx1"/>
                            </a:solidFill>
                          </a:ln>
                          <a:solidFill>
                            <a:schemeClr val="tx1"/>
                          </a:solidFill>
                          <a:effectLst/>
                          <a:latin typeface="Times New Roman" pitchFamily="18" charset="0"/>
                          <a:ea typeface="宋体" pitchFamily="2" charset="-122"/>
                          <a:cs typeface="Times New Roman" pitchFamily="18" charset="0"/>
                        </a:rPr>
                        <a:t>7</a:t>
                      </a:r>
                      <a:r>
                        <a:rPr kumimoji="0" lang="zh-CN" altLang="en-US" sz="2200" b="1" i="0" u="none" strike="noStrike" cap="none" normalizeH="0" baseline="0" dirty="0" smtClean="0">
                          <a:ln w="3175">
                            <a:solidFill>
                              <a:schemeClr val="tx1"/>
                            </a:solidFill>
                          </a:ln>
                          <a:solidFill>
                            <a:schemeClr val="tx1"/>
                          </a:solidFill>
                          <a:effectLst/>
                          <a:latin typeface="Times New Roman" pitchFamily="18" charset="0"/>
                          <a:ea typeface="宋体" pitchFamily="2" charset="-122"/>
                        </a:rPr>
                        <a:t>月</a:t>
                      </a:r>
                      <a:r>
                        <a:rPr kumimoji="0" lang="en-US" altLang="zh-CN" sz="2200" b="1" i="0" u="none" strike="noStrike" cap="none" normalizeH="0" baseline="0" dirty="0" smtClean="0">
                          <a:ln w="3175">
                            <a:solidFill>
                              <a:schemeClr val="tx1"/>
                            </a:solidFill>
                          </a:ln>
                          <a:solidFill>
                            <a:schemeClr val="tx1"/>
                          </a:solidFill>
                          <a:effectLst/>
                          <a:latin typeface="Times New Roman" pitchFamily="18" charset="0"/>
                          <a:ea typeface="宋体" pitchFamily="2" charset="-122"/>
                          <a:cs typeface="Times New Roman" pitchFamily="18" charset="0"/>
                        </a:rPr>
                        <a:t>1</a:t>
                      </a:r>
                      <a:r>
                        <a:rPr kumimoji="0" lang="zh-CN" altLang="en-US" sz="2200" b="1" i="0" u="none" strike="noStrike" cap="none" normalizeH="0" baseline="0" dirty="0" smtClean="0">
                          <a:ln w="3175">
                            <a:solidFill>
                              <a:schemeClr val="tx1"/>
                            </a:solidFill>
                          </a:ln>
                          <a:solidFill>
                            <a:schemeClr val="tx1"/>
                          </a:solidFill>
                          <a:effectLst/>
                          <a:latin typeface="Times New Roman" pitchFamily="18" charset="0"/>
                          <a:ea typeface="宋体" pitchFamily="2" charset="-122"/>
                        </a:rPr>
                        <a:t>日</a:t>
                      </a:r>
                      <a:endParaRPr kumimoji="0" lang="zh-CN" altLang="en-US" sz="2200" b="1" i="0" u="none" strike="noStrike" cap="none" normalizeH="0" baseline="0" dirty="0" smtClean="0">
                        <a:ln w="3175">
                          <a:solidFill>
                            <a:schemeClr val="tx1"/>
                          </a:solidFill>
                        </a:ln>
                        <a:solidFill>
                          <a:schemeClr val="tx1"/>
                        </a:solidFill>
                        <a:effectLst/>
                        <a:latin typeface="Tahoma" pitchFamily="34" charset="0"/>
                        <a:ea typeface="宋体" pitchFamily="2" charset="-122"/>
                      </a:endParaRP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200" b="1" i="0" u="none" strike="noStrike" cap="none" normalizeH="0" baseline="0" smtClean="0">
                          <a:ln w="3175">
                            <a:solidFill>
                              <a:schemeClr val="tx1"/>
                            </a:solidFill>
                          </a:ln>
                          <a:solidFill>
                            <a:schemeClr val="tx1"/>
                          </a:solidFill>
                          <a:effectLst/>
                          <a:latin typeface="Times New Roman" pitchFamily="18" charset="0"/>
                          <a:ea typeface="宋体" pitchFamily="2" charset="-122"/>
                          <a:cs typeface="Times New Roman" pitchFamily="18" charset="0"/>
                        </a:rPr>
                        <a:t>10</a:t>
                      </a:r>
                      <a:r>
                        <a:rPr kumimoji="0" lang="zh-CN" altLang="en-US" sz="2200" b="1" i="0" u="none" strike="noStrike" cap="none" normalizeH="0" baseline="0" smtClean="0">
                          <a:ln w="3175">
                            <a:solidFill>
                              <a:schemeClr val="tx1"/>
                            </a:solidFill>
                          </a:ln>
                          <a:solidFill>
                            <a:schemeClr val="tx1"/>
                          </a:solidFill>
                          <a:effectLst/>
                          <a:latin typeface="Times New Roman" pitchFamily="18" charset="0"/>
                          <a:ea typeface="宋体" pitchFamily="2" charset="-122"/>
                        </a:rPr>
                        <a:t>月</a:t>
                      </a:r>
                      <a:r>
                        <a:rPr kumimoji="0" lang="en-US" altLang="zh-CN" sz="2200" b="1" i="0" u="none" strike="noStrike" cap="none" normalizeH="0" baseline="0" smtClean="0">
                          <a:ln w="3175">
                            <a:solidFill>
                              <a:schemeClr val="tx1"/>
                            </a:solidFill>
                          </a:ln>
                          <a:solidFill>
                            <a:schemeClr val="tx1"/>
                          </a:solidFill>
                          <a:effectLst/>
                          <a:latin typeface="Times New Roman" pitchFamily="18" charset="0"/>
                          <a:ea typeface="宋体" pitchFamily="2" charset="-122"/>
                          <a:cs typeface="Times New Roman" pitchFamily="18" charset="0"/>
                        </a:rPr>
                        <a:t>1</a:t>
                      </a:r>
                      <a:r>
                        <a:rPr kumimoji="0" lang="zh-CN" altLang="en-US" sz="2200" b="1" i="0" u="none" strike="noStrike" cap="none" normalizeH="0" baseline="0" smtClean="0">
                          <a:ln w="3175">
                            <a:solidFill>
                              <a:schemeClr val="tx1"/>
                            </a:solidFill>
                          </a:ln>
                          <a:solidFill>
                            <a:schemeClr val="tx1"/>
                          </a:solidFill>
                          <a:effectLst/>
                          <a:latin typeface="Times New Roman" pitchFamily="18" charset="0"/>
                          <a:ea typeface="宋体" pitchFamily="2" charset="-122"/>
                        </a:rPr>
                        <a:t>日</a:t>
                      </a:r>
                      <a:endParaRPr kumimoji="0" lang="zh-CN" altLang="en-US" sz="2200" b="1" i="0" u="none" strike="noStrike" cap="none" normalizeH="0" baseline="0" smtClean="0">
                        <a:ln w="3175">
                          <a:solidFill>
                            <a:schemeClr val="tx1"/>
                          </a:solidFill>
                        </a:ln>
                        <a:solidFill>
                          <a:schemeClr val="tx1"/>
                        </a:solidFill>
                        <a:effectLst/>
                        <a:latin typeface="Tahoma" pitchFamily="34" charset="0"/>
                        <a:ea typeface="宋体" pitchFamily="2" charset="-122"/>
                      </a:endParaRP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200" b="1" i="0" u="none" strike="noStrike" cap="none" normalizeH="0" baseline="0" dirty="0" smtClean="0">
                          <a:ln w="3175">
                            <a:solidFill>
                              <a:schemeClr val="tx1"/>
                            </a:solidFill>
                          </a:ln>
                          <a:solidFill>
                            <a:schemeClr val="tx1"/>
                          </a:solidFill>
                          <a:effectLst/>
                          <a:latin typeface="Times New Roman" pitchFamily="18" charset="0"/>
                          <a:ea typeface="宋体" pitchFamily="2" charset="-122"/>
                          <a:cs typeface="Times New Roman" pitchFamily="18" charset="0"/>
                        </a:rPr>
                        <a:t>12</a:t>
                      </a:r>
                      <a:r>
                        <a:rPr kumimoji="0" lang="zh-CN" altLang="en-US" sz="2200" b="1" i="0" u="none" strike="noStrike" cap="none" normalizeH="0" baseline="0" dirty="0" smtClean="0">
                          <a:ln w="3175">
                            <a:solidFill>
                              <a:schemeClr val="tx1"/>
                            </a:solidFill>
                          </a:ln>
                          <a:solidFill>
                            <a:schemeClr val="tx1"/>
                          </a:solidFill>
                          <a:effectLst/>
                          <a:latin typeface="Times New Roman" pitchFamily="18" charset="0"/>
                          <a:ea typeface="宋体" pitchFamily="2" charset="-122"/>
                        </a:rPr>
                        <a:t>月</a:t>
                      </a:r>
                      <a:r>
                        <a:rPr kumimoji="0" lang="en-US" altLang="zh-CN" sz="2200" b="1" i="0" u="none" strike="noStrike" cap="none" normalizeH="0" baseline="0" dirty="0" smtClean="0">
                          <a:ln w="3175">
                            <a:solidFill>
                              <a:schemeClr val="tx1"/>
                            </a:solidFill>
                          </a:ln>
                          <a:solidFill>
                            <a:schemeClr val="tx1"/>
                          </a:solidFill>
                          <a:effectLst/>
                          <a:latin typeface="Times New Roman" pitchFamily="18" charset="0"/>
                          <a:ea typeface="宋体" pitchFamily="2" charset="-122"/>
                          <a:cs typeface="Times New Roman" pitchFamily="18" charset="0"/>
                        </a:rPr>
                        <a:t>31</a:t>
                      </a:r>
                      <a:r>
                        <a:rPr kumimoji="0" lang="zh-CN" altLang="en-US" sz="2200" b="1" i="0" u="none" strike="noStrike" cap="none" normalizeH="0" baseline="0" dirty="0" smtClean="0">
                          <a:ln w="3175">
                            <a:solidFill>
                              <a:schemeClr val="tx1"/>
                            </a:solidFill>
                          </a:ln>
                          <a:solidFill>
                            <a:schemeClr val="tx1"/>
                          </a:solidFill>
                          <a:effectLst/>
                          <a:latin typeface="Times New Roman" pitchFamily="18" charset="0"/>
                          <a:ea typeface="宋体" pitchFamily="2" charset="-122"/>
                        </a:rPr>
                        <a:t>日</a:t>
                      </a:r>
                      <a:endParaRPr kumimoji="0" lang="zh-CN" altLang="en-US" sz="2200" b="1" i="0" u="none" strike="noStrike" cap="none" normalizeH="0" baseline="0" dirty="0" smtClean="0">
                        <a:ln w="3175">
                          <a:solidFill>
                            <a:schemeClr val="tx1"/>
                          </a:solidFill>
                        </a:ln>
                        <a:solidFill>
                          <a:schemeClr val="tx1"/>
                        </a:solidFill>
                        <a:effectLst/>
                        <a:latin typeface="Tahoma" pitchFamily="34" charset="0"/>
                        <a:ea typeface="宋体" pitchFamily="2" charset="-122"/>
                      </a:endParaRP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625475">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2200" b="1" i="0" u="none" strike="noStrike" cap="none" normalizeH="0" baseline="0" dirty="0" smtClean="0">
                          <a:ln w="3175">
                            <a:solidFill>
                              <a:schemeClr val="tx1"/>
                            </a:solidFill>
                          </a:ln>
                          <a:solidFill>
                            <a:schemeClr val="tx1"/>
                          </a:solidFill>
                          <a:effectLst/>
                          <a:latin typeface="Times New Roman" pitchFamily="18" charset="0"/>
                          <a:ea typeface="宋体" pitchFamily="2" charset="-122"/>
                        </a:rPr>
                        <a:t>库存量</a:t>
                      </a:r>
                      <a:r>
                        <a:rPr kumimoji="0" lang="en-US" altLang="zh-CN" sz="2200" b="1" i="0" u="none" strike="noStrike" cap="none" normalizeH="0" baseline="0" dirty="0" smtClean="0">
                          <a:ln w="3175">
                            <a:solidFill>
                              <a:schemeClr val="tx1"/>
                            </a:solidFill>
                          </a:ln>
                          <a:solidFill>
                            <a:schemeClr val="tx1"/>
                          </a:solidFill>
                          <a:effectLst/>
                          <a:latin typeface="Times New Roman" pitchFamily="18" charset="0"/>
                          <a:ea typeface="宋体" pitchFamily="2" charset="-122"/>
                        </a:rPr>
                        <a:t>(</a:t>
                      </a:r>
                      <a:r>
                        <a:rPr kumimoji="0" lang="zh-CN" altLang="en-US" sz="2200" b="1" i="0" u="none" strike="noStrike" cap="none" normalizeH="0" baseline="0" dirty="0" smtClean="0">
                          <a:ln w="3175">
                            <a:solidFill>
                              <a:schemeClr val="tx1"/>
                            </a:solidFill>
                          </a:ln>
                          <a:solidFill>
                            <a:schemeClr val="tx1"/>
                          </a:solidFill>
                          <a:effectLst/>
                          <a:latin typeface="Times New Roman" pitchFamily="18" charset="0"/>
                          <a:ea typeface="宋体" pitchFamily="2" charset="-122"/>
                        </a:rPr>
                        <a:t>吨</a:t>
                      </a:r>
                      <a:r>
                        <a:rPr kumimoji="0" lang="en-US" altLang="zh-CN" sz="2200" b="1" i="0" u="none" strike="noStrike" cap="none" normalizeH="0" baseline="0" dirty="0" smtClean="0">
                          <a:ln w="3175">
                            <a:solidFill>
                              <a:schemeClr val="tx1"/>
                            </a:solidFill>
                          </a:ln>
                          <a:solidFill>
                            <a:schemeClr val="tx1"/>
                          </a:solidFill>
                          <a:effectLst/>
                          <a:latin typeface="Times New Roman" pitchFamily="18" charset="0"/>
                          <a:ea typeface="宋体" pitchFamily="2" charset="-122"/>
                        </a:rPr>
                        <a:t>)</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200" b="1" i="0" u="none" strike="noStrike" cap="none" normalizeH="0" baseline="0" dirty="0" smtClean="0">
                          <a:ln w="3175">
                            <a:solidFill>
                              <a:schemeClr val="tx1"/>
                            </a:solidFill>
                          </a:ln>
                          <a:solidFill>
                            <a:schemeClr val="tx1"/>
                          </a:solidFill>
                          <a:effectLst/>
                          <a:latin typeface="Times New Roman" pitchFamily="18" charset="0"/>
                          <a:ea typeface="宋体" pitchFamily="2" charset="-122"/>
                        </a:rPr>
                        <a:t>152</a:t>
                      </a:r>
                      <a:endParaRPr kumimoji="0" lang="en-US" altLang="zh-CN" sz="2200" b="1" i="0" u="none" strike="noStrike" cap="none" normalizeH="0" baseline="0" dirty="0" smtClean="0">
                        <a:ln w="3175">
                          <a:solidFill>
                            <a:schemeClr val="tx1"/>
                          </a:solid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200" b="1" i="0" u="none" strike="noStrike" cap="none" normalizeH="0" baseline="0" dirty="0" smtClean="0">
                          <a:ln w="3175">
                            <a:solidFill>
                              <a:schemeClr val="tx1"/>
                            </a:solidFill>
                          </a:ln>
                          <a:solidFill>
                            <a:schemeClr val="tx1"/>
                          </a:solidFill>
                          <a:effectLst/>
                          <a:latin typeface="Times New Roman" pitchFamily="18" charset="0"/>
                          <a:ea typeface="宋体" pitchFamily="2" charset="-122"/>
                          <a:cs typeface="Times New Roman" pitchFamily="18" charset="0"/>
                        </a:rPr>
                        <a:t>142</a:t>
                      </a:r>
                      <a:endParaRPr kumimoji="0" lang="en-US" altLang="zh-CN" sz="2200" b="1" i="0" u="none" strike="noStrike" cap="none" normalizeH="0" baseline="0" dirty="0" smtClean="0">
                        <a:ln w="3175">
                          <a:solidFill>
                            <a:schemeClr val="tx1"/>
                          </a:solidFill>
                        </a:ln>
                        <a:solidFill>
                          <a:schemeClr val="tx1"/>
                        </a:solidFill>
                        <a:effectLst/>
                        <a:latin typeface="Times New Roman" pitchFamily="18" charset="0"/>
                        <a:ea typeface="宋体" pitchFamily="2" charset="-122"/>
                      </a:endParaRP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200" b="1" i="0" u="none" strike="noStrike" cap="none" normalizeH="0" baseline="0" dirty="0" smtClean="0">
                          <a:ln w="3175">
                            <a:solidFill>
                              <a:schemeClr val="tx1"/>
                            </a:solidFill>
                          </a:ln>
                          <a:solidFill>
                            <a:schemeClr val="tx1"/>
                          </a:solidFill>
                          <a:effectLst/>
                          <a:latin typeface="Times New Roman" pitchFamily="18" charset="0"/>
                          <a:ea typeface="宋体" pitchFamily="2" charset="-122"/>
                          <a:cs typeface="Times New Roman" pitchFamily="18" charset="0"/>
                        </a:rPr>
                        <a:t>176</a:t>
                      </a:r>
                      <a:endParaRPr kumimoji="0" lang="en-US" altLang="zh-CN" sz="2200" b="1" i="0" u="none" strike="noStrike" cap="none" normalizeH="0" baseline="0" dirty="0" smtClean="0">
                        <a:ln w="3175">
                          <a:solidFill>
                            <a:schemeClr val="tx1"/>
                          </a:solidFill>
                        </a:ln>
                        <a:solidFill>
                          <a:schemeClr val="tx1"/>
                        </a:solidFill>
                        <a:effectLst/>
                        <a:latin typeface="Times New Roman" pitchFamily="18" charset="0"/>
                        <a:ea typeface="宋体" pitchFamily="2" charset="-122"/>
                      </a:endParaRP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200" b="1" i="0" u="none" strike="noStrike" cap="none" normalizeH="0" baseline="0" dirty="0" smtClean="0">
                          <a:ln w="3175">
                            <a:solidFill>
                              <a:schemeClr val="tx1"/>
                            </a:solidFill>
                          </a:ln>
                          <a:solidFill>
                            <a:schemeClr val="tx1"/>
                          </a:solidFill>
                          <a:effectLst/>
                          <a:latin typeface="Times New Roman" pitchFamily="18" charset="0"/>
                          <a:ea typeface="宋体" pitchFamily="2" charset="-122"/>
                          <a:cs typeface="Times New Roman" pitchFamily="18" charset="0"/>
                        </a:rPr>
                        <a:t>163</a:t>
                      </a:r>
                      <a:endParaRPr kumimoji="0" lang="en-US" altLang="zh-CN" sz="2200" b="1" i="0" u="none" strike="noStrike" cap="none" normalizeH="0" baseline="0" dirty="0" smtClean="0">
                        <a:ln w="3175">
                          <a:solidFill>
                            <a:schemeClr val="tx1"/>
                          </a:solidFill>
                        </a:ln>
                        <a:solidFill>
                          <a:schemeClr val="tx1"/>
                        </a:solidFill>
                        <a:effectLst/>
                        <a:latin typeface="Times New Roman" pitchFamily="18" charset="0"/>
                        <a:ea typeface="宋体" pitchFamily="2" charset="-122"/>
                      </a:endParaRP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200" b="1" i="0" u="none" strike="noStrike" cap="none" normalizeH="0" baseline="0" dirty="0" smtClean="0">
                          <a:ln w="3175">
                            <a:solidFill>
                              <a:schemeClr val="tx1"/>
                            </a:solidFill>
                          </a:ln>
                          <a:solidFill>
                            <a:schemeClr val="tx1"/>
                          </a:solidFill>
                          <a:effectLst/>
                          <a:latin typeface="Times New Roman" pitchFamily="18" charset="0"/>
                          <a:ea typeface="宋体" pitchFamily="2" charset="-122"/>
                          <a:cs typeface="Times New Roman" pitchFamily="18" charset="0"/>
                        </a:rPr>
                        <a:t>158</a:t>
                      </a:r>
                      <a:endParaRPr kumimoji="0" lang="en-US" altLang="zh-CN" sz="2200" b="1" i="0" u="none" strike="noStrike" cap="none" normalizeH="0" baseline="0" dirty="0" smtClean="0">
                        <a:ln w="3175">
                          <a:solidFill>
                            <a:schemeClr val="tx1"/>
                          </a:solidFill>
                        </a:ln>
                        <a:solidFill>
                          <a:schemeClr val="tx1"/>
                        </a:solidFill>
                        <a:effectLst/>
                        <a:latin typeface="Times New Roman" pitchFamily="18" charset="0"/>
                        <a:ea typeface="宋体" pitchFamily="2" charset="-122"/>
                      </a:endParaRP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bl>
          </a:graphicData>
        </a:graphic>
      </p:graphicFrame>
      <p:graphicFrame>
        <p:nvGraphicFramePr>
          <p:cNvPr id="328732" name="Object 28">
            <a:hlinkClick r:id="" action="ppaction://ole?verb=0"/>
          </p:cNvPr>
          <p:cNvGraphicFramePr>
            <a:graphicFrameLocks/>
          </p:cNvGraphicFramePr>
          <p:nvPr>
            <p:extLst>
              <p:ext uri="{D42A27DB-BD31-4B8C-83A1-F6EECF244321}">
                <p14:modId xmlns:p14="http://schemas.microsoft.com/office/powerpoint/2010/main" val="989879766"/>
              </p:ext>
            </p:extLst>
          </p:nvPr>
        </p:nvGraphicFramePr>
        <p:xfrm>
          <a:off x="684939" y="4190809"/>
          <a:ext cx="8064896" cy="1976438"/>
        </p:xfrm>
        <a:graphic>
          <a:graphicData uri="http://schemas.openxmlformats.org/presentationml/2006/ole">
            <mc:AlternateContent xmlns:mc="http://schemas.openxmlformats.org/markup-compatibility/2006">
              <mc:Choice xmlns:v="urn:schemas-microsoft-com:vml" Requires="v">
                <p:oleObj spid="_x0000_s5227" name="Equation" r:id="rId4" imgW="4406760" imgH="812520" progId="Equation.DSMT4">
                  <p:embed/>
                </p:oleObj>
              </mc:Choice>
              <mc:Fallback>
                <p:oleObj name="Equation" r:id="rId4" imgW="4406760" imgH="812520" progId="Equation.DSMT4">
                  <p:embed/>
                  <p:pic>
                    <p:nvPicPr>
                      <p:cNvPr id="0" name="Object 2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4939" y="4190809"/>
                        <a:ext cx="8064896" cy="1976438"/>
                      </a:xfrm>
                      <a:prstGeom prst="rect">
                        <a:avLst/>
                      </a:prstGeom>
                      <a:noFill/>
                      <a:ln>
                        <a:noFill/>
                      </a:ln>
                      <a:effectLst>
                        <a:outerShdw dist="17961" dir="2700000" algn="ctr" rotWithShape="0">
                          <a:schemeClr val="bg2"/>
                        </a:outerShdw>
                      </a:effectLst>
                      <a:extLst/>
                    </p:spPr>
                  </p:pic>
                </p:oleObj>
              </mc:Fallback>
            </mc:AlternateContent>
          </a:graphicData>
        </a:graphic>
      </p:graphicFrame>
      <p:sp>
        <p:nvSpPr>
          <p:cNvPr id="5150" name="Rectangle 29"/>
          <p:cNvSpPr>
            <a:spLocks noChangeArrowheads="1"/>
          </p:cNvSpPr>
          <p:nvPr/>
        </p:nvSpPr>
        <p:spPr bwMode="auto">
          <a:xfrm>
            <a:off x="625976" y="1496634"/>
            <a:ext cx="7836376" cy="1264065"/>
          </a:xfrm>
          <a:prstGeom prst="rect">
            <a:avLst/>
          </a:prstGeom>
          <a:solidFill>
            <a:schemeClr val="bg1"/>
          </a:solidFill>
          <a:ln w="3175">
            <a:noFill/>
            <a:miter lim="800000"/>
            <a:headEnd/>
            <a:tailEnd/>
          </a:ln>
        </p:spPr>
        <p:txBody>
          <a:bodyPr wrap="square" lIns="90000" tIns="46800" rIns="90000" bIns="46800">
            <a:spAutoFit/>
          </a:bodyPr>
          <a:lstStyle/>
          <a:p>
            <a:pPr algn="just" eaLnBrk="0" hangingPunct="0">
              <a:spcBef>
                <a:spcPts val="1200"/>
              </a:spcBef>
            </a:pPr>
            <a:r>
              <a:rPr kumimoji="1" lang="en-US" altLang="zh-CN" sz="2800" b="1" dirty="0">
                <a:solidFill>
                  <a:srgbClr val="000000"/>
                </a:solidFill>
                <a:latin typeface="Times New Roman" pitchFamily="18" charset="0"/>
                <a:sym typeface="Wingdings 2" pitchFamily="18" charset="2"/>
              </a:rPr>
              <a:t>     </a:t>
            </a:r>
            <a:r>
              <a:rPr kumimoji="1" lang="zh-CN" altLang="en-US" sz="2800" b="1" dirty="0">
                <a:solidFill>
                  <a:srgbClr val="000000"/>
                </a:solidFill>
                <a:latin typeface="Times New Roman" pitchFamily="18" charset="0"/>
                <a:sym typeface="Wingdings 2" pitchFamily="18" charset="2"/>
              </a:rPr>
              <a:t>设某企业某商品某年各统计时点的库存量如下表，计算该</a:t>
            </a:r>
            <a:r>
              <a:rPr kumimoji="1" lang="zh-CN" altLang="en-US" sz="2800" b="1" dirty="0" smtClean="0">
                <a:solidFill>
                  <a:srgbClr val="000000"/>
                </a:solidFill>
                <a:latin typeface="Times New Roman" pitchFamily="18" charset="0"/>
                <a:sym typeface="Wingdings 2" pitchFamily="18" charset="2"/>
              </a:rPr>
              <a:t>商品的</a:t>
            </a:r>
            <a:r>
              <a:rPr kumimoji="1" lang="zh-CN" altLang="en-US" sz="2800" b="1" dirty="0" smtClean="0">
                <a:solidFill>
                  <a:srgbClr val="0070C0"/>
                </a:solidFill>
                <a:latin typeface="Times New Roman" pitchFamily="18" charset="0"/>
                <a:sym typeface="Wingdings 2" pitchFamily="18" charset="2"/>
              </a:rPr>
              <a:t>全年平均</a:t>
            </a:r>
            <a:r>
              <a:rPr kumimoji="1" lang="zh-CN" altLang="en-US" sz="2800" b="1" dirty="0">
                <a:solidFill>
                  <a:srgbClr val="0070C0"/>
                </a:solidFill>
                <a:latin typeface="Times New Roman" pitchFamily="18" charset="0"/>
                <a:sym typeface="Wingdings 2" pitchFamily="18" charset="2"/>
              </a:rPr>
              <a:t>库存量</a:t>
            </a:r>
            <a:r>
              <a:rPr kumimoji="1" lang="zh-CN" altLang="en-US" sz="2800" b="1" dirty="0" smtClean="0">
                <a:solidFill>
                  <a:srgbClr val="000000"/>
                </a:solidFill>
                <a:latin typeface="Times New Roman" pitchFamily="18" charset="0"/>
                <a:sym typeface="Wingdings 2" pitchFamily="18" charset="2"/>
              </a:rPr>
              <a:t>。</a:t>
            </a:r>
            <a:endParaRPr kumimoji="1" lang="en-US" altLang="zh-CN" sz="2800" b="1" dirty="0" smtClean="0">
              <a:solidFill>
                <a:srgbClr val="000000"/>
              </a:solidFill>
              <a:latin typeface="Times New Roman" pitchFamily="18" charset="0"/>
              <a:sym typeface="Wingdings 2" pitchFamily="18" charset="2"/>
            </a:endParaRPr>
          </a:p>
          <a:p>
            <a:pPr lvl="1" algn="just" eaLnBrk="0" hangingPunct="0">
              <a:spcBef>
                <a:spcPts val="1200"/>
              </a:spcBef>
            </a:pPr>
            <a:endParaRPr kumimoji="1" lang="zh-CN" altLang="en-US" sz="1000" b="1" dirty="0">
              <a:solidFill>
                <a:srgbClr val="000000"/>
              </a:solidFill>
              <a:latin typeface="Times New Roman" pitchFamily="18" charset="0"/>
              <a:sym typeface="Wingdings 2" pitchFamily="18" charset="2"/>
            </a:endParaRPr>
          </a:p>
        </p:txBody>
      </p:sp>
      <p:sp>
        <p:nvSpPr>
          <p:cNvPr id="5151" name="日期占位符 6"/>
          <p:cNvSpPr>
            <a:spLocks noGrp="1"/>
          </p:cNvSpPr>
          <p:nvPr>
            <p:ph type="dt" sz="quarter" idx="10"/>
          </p:nvPr>
        </p:nvSpPr>
        <p:spPr>
          <a:noFill/>
        </p:spPr>
        <p:txBody>
          <a:bodyPr/>
          <a:lstStyle/>
          <a:p>
            <a:endParaRPr lang="en-US" altLang="zh-CN" smtClean="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28732"/>
                                        </p:tgtEl>
                                        <p:attrNameLst>
                                          <p:attrName>style.visibility</p:attrName>
                                        </p:attrNameLst>
                                      </p:cBhvr>
                                      <p:to>
                                        <p:strVal val="visible"/>
                                      </p:to>
                                    </p:set>
                                    <p:animEffect transition="in" filter="wipe(left)">
                                      <p:cBhvr>
                                        <p:cTn id="7" dur="2000"/>
                                        <p:tgtEl>
                                          <p:spTgt spid="3287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8" name="Rectangle 26"/>
          <p:cNvSpPr>
            <a:spLocks noChangeArrowheads="1"/>
          </p:cNvSpPr>
          <p:nvPr/>
        </p:nvSpPr>
        <p:spPr bwMode="auto">
          <a:xfrm>
            <a:off x="500034" y="1214438"/>
            <a:ext cx="8143932" cy="1569660"/>
          </a:xfrm>
          <a:prstGeom prst="rect">
            <a:avLst/>
          </a:prstGeom>
          <a:noFill/>
          <a:ln w="9525">
            <a:noFill/>
            <a:miter lim="800000"/>
            <a:headEnd/>
            <a:tailEnd/>
          </a:ln>
        </p:spPr>
        <p:txBody>
          <a:bodyPr wrap="square" anchor="ctr">
            <a:spAutoFit/>
          </a:bodyPr>
          <a:lstStyle/>
          <a:p>
            <a:pPr>
              <a:lnSpc>
                <a:spcPct val="150000"/>
              </a:lnSpc>
            </a:pPr>
            <a:r>
              <a:rPr lang="zh-CN" altLang="en-US" sz="3200" b="1" dirty="0" smtClean="0"/>
              <a:t>根据各</a:t>
            </a:r>
            <a:r>
              <a:rPr lang="zh-CN" altLang="en-US" sz="3200" b="1" dirty="0"/>
              <a:t>年年末人口数</a:t>
            </a:r>
            <a:r>
              <a:rPr lang="zh-CN" altLang="en-US" sz="3200" b="1" dirty="0" smtClean="0"/>
              <a:t>，计算</a:t>
            </a:r>
            <a:r>
              <a:rPr lang="en-US" sz="3200" b="1" dirty="0">
                <a:solidFill>
                  <a:srgbClr val="000000"/>
                </a:solidFill>
              </a:rPr>
              <a:t>2001</a:t>
            </a:r>
            <a:r>
              <a:rPr lang="zh-CN" altLang="en-US" sz="3200" b="1" dirty="0">
                <a:solidFill>
                  <a:srgbClr val="000000"/>
                </a:solidFill>
              </a:rPr>
              <a:t>～</a:t>
            </a:r>
            <a:r>
              <a:rPr lang="en-US" sz="3200" b="1" dirty="0" smtClean="0">
                <a:solidFill>
                  <a:srgbClr val="000000"/>
                </a:solidFill>
              </a:rPr>
              <a:t>2022</a:t>
            </a:r>
            <a:r>
              <a:rPr lang="zh-CN" altLang="en-US" sz="3200" b="1" dirty="0" smtClean="0">
                <a:solidFill>
                  <a:srgbClr val="000000"/>
                </a:solidFill>
              </a:rPr>
              <a:t>年</a:t>
            </a:r>
            <a:r>
              <a:rPr lang="zh-CN" altLang="en-US" sz="3200" b="1" dirty="0">
                <a:solidFill>
                  <a:srgbClr val="000000"/>
                </a:solidFill>
              </a:rPr>
              <a:t>间我国平均每年人口数为</a:t>
            </a:r>
            <a:r>
              <a:rPr lang="en-US" sz="3200" b="1" dirty="0" smtClean="0">
                <a:solidFill>
                  <a:srgbClr val="000000"/>
                </a:solidFill>
              </a:rPr>
              <a:t>135037.7</a:t>
            </a:r>
            <a:r>
              <a:rPr lang="zh-CN" altLang="en-US" sz="3200" b="1" dirty="0" smtClean="0">
                <a:solidFill>
                  <a:srgbClr val="000000"/>
                </a:solidFill>
              </a:rPr>
              <a:t>万</a:t>
            </a:r>
            <a:r>
              <a:rPr lang="zh-CN" altLang="en-US" sz="3200" b="1" dirty="0">
                <a:solidFill>
                  <a:srgbClr val="000000"/>
                </a:solidFill>
              </a:rPr>
              <a:t>人</a:t>
            </a:r>
            <a:r>
              <a:rPr lang="zh-CN" altLang="en-US" sz="3200" dirty="0" smtClean="0"/>
              <a:t>。</a:t>
            </a:r>
            <a:endParaRPr lang="zh-CN" altLang="en-US" sz="3200" b="1" dirty="0"/>
          </a:p>
        </p:txBody>
      </p:sp>
      <p:sp>
        <p:nvSpPr>
          <p:cNvPr id="6149" name="Rectangle 27"/>
          <p:cNvSpPr>
            <a:spLocks noGrp="1" noChangeArrowheads="1"/>
          </p:cNvSpPr>
          <p:nvPr>
            <p:ph type="title"/>
          </p:nvPr>
        </p:nvSpPr>
        <p:spPr/>
        <p:txBody>
          <a:bodyPr/>
          <a:lstStyle/>
          <a:p>
            <a:pPr eaLnBrk="1" hangingPunct="1"/>
            <a:r>
              <a:rPr lang="en-US" altLang="zh-CN" b="0" smtClean="0">
                <a:solidFill>
                  <a:schemeClr val="tx1"/>
                </a:solidFill>
              </a:rPr>
              <a:t>【</a:t>
            </a:r>
            <a:r>
              <a:rPr lang="zh-CN" altLang="en-US" smtClean="0"/>
              <a:t>例</a:t>
            </a:r>
            <a:r>
              <a:rPr lang="en-US" altLang="zh-CN" smtClean="0"/>
              <a:t>4-3</a:t>
            </a:r>
            <a:r>
              <a:rPr lang="en-US" altLang="zh-CN" b="0" smtClean="0">
                <a:solidFill>
                  <a:schemeClr val="tx1"/>
                </a:solidFill>
              </a:rPr>
              <a:t>】</a:t>
            </a:r>
          </a:p>
        </p:txBody>
      </p:sp>
      <p:sp>
        <p:nvSpPr>
          <p:cNvPr id="6150" name="Rectangle 29"/>
          <p:cNvSpPr>
            <a:spLocks noChangeArrowheads="1"/>
          </p:cNvSpPr>
          <p:nvPr/>
        </p:nvSpPr>
        <p:spPr bwMode="auto">
          <a:xfrm>
            <a:off x="0" y="3076575"/>
            <a:ext cx="9144000" cy="0"/>
          </a:xfrm>
          <a:prstGeom prst="rect">
            <a:avLst/>
          </a:prstGeom>
          <a:noFill/>
          <a:ln w="9525">
            <a:noFill/>
            <a:miter lim="800000"/>
            <a:headEnd/>
            <a:tailEnd/>
          </a:ln>
        </p:spPr>
        <p:txBody>
          <a:bodyPr wrap="none" anchor="ctr">
            <a:spAutoFit/>
          </a:bodyPr>
          <a:lstStyle/>
          <a:p>
            <a:endParaRPr lang="zh-CN" altLang="en-US"/>
          </a:p>
        </p:txBody>
      </p:sp>
      <p:sp>
        <p:nvSpPr>
          <p:cNvPr id="6152" name="Rectangle 8"/>
          <p:cNvSpPr>
            <a:spLocks noChangeArrowheads="1"/>
          </p:cNvSpPr>
          <p:nvPr/>
        </p:nvSpPr>
        <p:spPr bwMode="auto">
          <a:xfrm>
            <a:off x="0" y="0"/>
            <a:ext cx="9144000" cy="0"/>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sp>
        <p:nvSpPr>
          <p:cNvPr id="2" name="日期占位符 7"/>
          <p:cNvSpPr>
            <a:spLocks noGrp="1"/>
          </p:cNvSpPr>
          <p:nvPr>
            <p:ph type="dt" sz="quarter" idx="10"/>
          </p:nvPr>
        </p:nvSpPr>
        <p:spPr>
          <a:noFill/>
        </p:spPr>
        <p:txBody>
          <a:bodyPr/>
          <a:lstStyle/>
          <a:p>
            <a:endParaRPr lang="en-US" altLang="zh-CN" smtClean="0"/>
          </a:p>
        </p:txBody>
      </p:sp>
      <p:sp>
        <p:nvSpPr>
          <p:cNvPr id="6154" name="Rectangle 10"/>
          <p:cNvSpPr>
            <a:spLocks noChangeArrowheads="1"/>
          </p:cNvSpPr>
          <p:nvPr/>
        </p:nvSpPr>
        <p:spPr bwMode="auto">
          <a:xfrm>
            <a:off x="0" y="0"/>
            <a:ext cx="9144000" cy="0"/>
          </a:xfrm>
          <a:prstGeom prst="rect">
            <a:avLst/>
          </a:prstGeom>
          <a:noFill/>
          <a:ln w="9525">
            <a:noFill/>
            <a:miter lim="800000"/>
            <a:headEnd/>
            <a:tailEnd/>
          </a:ln>
          <a:effectLst>
            <a:prstShdw prst="shdw17" dist="17961" dir="2700000">
              <a:schemeClr val="accent1">
                <a:gamma/>
                <a:shade val="60000"/>
                <a:invGamma/>
              </a:schemeClr>
            </a:prstShdw>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153" name="Object 9"/>
          <p:cNvGraphicFramePr>
            <a:graphicFrameLocks noChangeAspect="1"/>
          </p:cNvGraphicFramePr>
          <p:nvPr>
            <p:extLst>
              <p:ext uri="{D42A27DB-BD31-4B8C-83A1-F6EECF244321}">
                <p14:modId xmlns:p14="http://schemas.microsoft.com/office/powerpoint/2010/main" val="1360776705"/>
              </p:ext>
            </p:extLst>
          </p:nvPr>
        </p:nvGraphicFramePr>
        <p:xfrm>
          <a:off x="665163" y="2784098"/>
          <a:ext cx="7046168" cy="2028858"/>
        </p:xfrm>
        <a:graphic>
          <a:graphicData uri="http://schemas.openxmlformats.org/presentationml/2006/ole">
            <mc:AlternateContent xmlns:mc="http://schemas.openxmlformats.org/markup-compatibility/2006">
              <mc:Choice xmlns:v="urn:schemas-microsoft-com:vml" Requires="v">
                <p:oleObj spid="_x0000_s6366" name="公式" r:id="rId3" imgW="2984400" imgH="838080" progId="Equation.3">
                  <p:embed/>
                </p:oleObj>
              </mc:Choice>
              <mc:Fallback>
                <p:oleObj name="公式" r:id="rId3" imgW="2984400" imgH="838080" progId="Equation.3">
                  <p:embed/>
                  <p:pic>
                    <p:nvPicPr>
                      <p:cNvPr id="0" name="Picture 9"/>
                      <p:cNvPicPr>
                        <a:picLocks noChangeAspect="1" noChangeArrowheads="1"/>
                      </p:cNvPicPr>
                      <p:nvPr/>
                    </p:nvPicPr>
                    <p:blipFill>
                      <a:blip r:embed="rId4"/>
                      <a:srcRect/>
                      <a:stretch>
                        <a:fillRect/>
                      </a:stretch>
                    </p:blipFill>
                    <p:spPr bwMode="auto">
                      <a:xfrm>
                        <a:off x="665163" y="2784098"/>
                        <a:ext cx="7046168" cy="2028858"/>
                      </a:xfrm>
                      <a:prstGeom prst="rect">
                        <a:avLst/>
                      </a:prstGeom>
                      <a:noFill/>
                      <a:extLst/>
                    </p:spPr>
                  </p:pic>
                </p:oleObj>
              </mc:Fallback>
            </mc:AlternateContent>
          </a:graphicData>
        </a:graphic>
      </p:graphicFrame>
      <p:sp>
        <p:nvSpPr>
          <p:cNvPr id="6156" name="Rectangle 12"/>
          <p:cNvSpPr>
            <a:spLocks noChangeArrowheads="1"/>
          </p:cNvSpPr>
          <p:nvPr/>
        </p:nvSpPr>
        <p:spPr bwMode="auto">
          <a:xfrm>
            <a:off x="0" y="0"/>
            <a:ext cx="9144000" cy="0"/>
          </a:xfrm>
          <a:prstGeom prst="rect">
            <a:avLst/>
          </a:prstGeom>
          <a:noFill/>
          <a:ln w="9525">
            <a:noFill/>
            <a:miter lim="800000"/>
            <a:headEnd/>
            <a:tailEnd/>
          </a:ln>
          <a:effectLst>
            <a:prstShdw prst="shdw17" dist="17961" dir="2700000">
              <a:schemeClr val="accent1">
                <a:gamma/>
                <a:shade val="60000"/>
                <a:invGamma/>
              </a:schemeClr>
            </a:prstShdw>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155" name="Object 11"/>
          <p:cNvGraphicFramePr>
            <a:graphicFrameLocks noChangeAspect="1"/>
          </p:cNvGraphicFramePr>
          <p:nvPr>
            <p:extLst>
              <p:ext uri="{D42A27DB-BD31-4B8C-83A1-F6EECF244321}">
                <p14:modId xmlns:p14="http://schemas.microsoft.com/office/powerpoint/2010/main" val="708580122"/>
              </p:ext>
            </p:extLst>
          </p:nvPr>
        </p:nvGraphicFramePr>
        <p:xfrm>
          <a:off x="4391766" y="3830702"/>
          <a:ext cx="4368628" cy="930143"/>
        </p:xfrm>
        <a:graphic>
          <a:graphicData uri="http://schemas.openxmlformats.org/presentationml/2006/ole">
            <mc:AlternateContent xmlns:mc="http://schemas.openxmlformats.org/markup-compatibility/2006">
              <mc:Choice xmlns:v="urn:schemas-microsoft-com:vml" Requires="v">
                <p:oleObj spid="_x0000_s6367" name="公式" r:id="rId5" imgW="2044440" imgH="406080" progId="Equation.3">
                  <p:embed/>
                </p:oleObj>
              </mc:Choice>
              <mc:Fallback>
                <p:oleObj name="公式" r:id="rId5" imgW="2044440" imgH="406080" progId="Equation.3">
                  <p:embed/>
                  <p:pic>
                    <p:nvPicPr>
                      <p:cNvPr id="0" name="Picture 11"/>
                      <p:cNvPicPr>
                        <a:picLocks noChangeAspect="1" noChangeArrowheads="1"/>
                      </p:cNvPicPr>
                      <p:nvPr/>
                    </p:nvPicPr>
                    <p:blipFill>
                      <a:blip r:embed="rId6"/>
                      <a:srcRect/>
                      <a:stretch>
                        <a:fillRect/>
                      </a:stretch>
                    </p:blipFill>
                    <p:spPr bwMode="auto">
                      <a:xfrm>
                        <a:off x="4391766" y="3830702"/>
                        <a:ext cx="4368628" cy="930143"/>
                      </a:xfrm>
                      <a:prstGeom prst="rect">
                        <a:avLst/>
                      </a:prstGeom>
                      <a:noFill/>
                      <a:extLst/>
                    </p:spPr>
                  </p:pic>
                </p:oleObj>
              </mc:Fallback>
            </mc:AlternateContent>
          </a:graphicData>
        </a:graphic>
      </p:graphicFrame>
      <p:sp>
        <p:nvSpPr>
          <p:cNvPr id="3" name="矩形 2"/>
          <p:cNvSpPr/>
          <p:nvPr/>
        </p:nvSpPr>
        <p:spPr>
          <a:xfrm>
            <a:off x="490989" y="5132995"/>
            <a:ext cx="8377614" cy="1107996"/>
          </a:xfrm>
          <a:prstGeom prst="rect">
            <a:avLst/>
          </a:prstGeom>
        </p:spPr>
        <p:txBody>
          <a:bodyPr wrap="none">
            <a:spAutoFit/>
          </a:bodyPr>
          <a:lstStyle/>
          <a:p>
            <a:pPr>
              <a:spcBef>
                <a:spcPts val="1200"/>
              </a:spcBef>
            </a:pPr>
            <a:r>
              <a:rPr lang="zh-CN" altLang="en-US" sz="2800" b="1" dirty="0" smtClean="0">
                <a:solidFill>
                  <a:srgbClr val="7030A0"/>
                </a:solidFill>
                <a:latin typeface="黑体" panose="02010609060101010101" pitchFamily="49" charset="-122"/>
                <a:ea typeface="黑体" panose="02010609060101010101" pitchFamily="49" charset="-122"/>
              </a:rPr>
              <a:t>须注意数据覆盖的时间（起止时点）！</a:t>
            </a:r>
            <a:endParaRPr lang="en-US" altLang="zh-CN" sz="2800" b="1" dirty="0" smtClean="0">
              <a:solidFill>
                <a:srgbClr val="7030A0"/>
              </a:solidFill>
              <a:latin typeface="黑体" panose="02010609060101010101" pitchFamily="49" charset="-122"/>
              <a:ea typeface="黑体" panose="02010609060101010101" pitchFamily="49" charset="-122"/>
            </a:endParaRPr>
          </a:p>
          <a:p>
            <a:pPr>
              <a:spcBef>
                <a:spcPts val="1200"/>
              </a:spcBef>
            </a:pPr>
            <a:r>
              <a:rPr lang="zh-CN" altLang="en-US" sz="2800" b="1" dirty="0" smtClean="0">
                <a:solidFill>
                  <a:srgbClr val="0070C0"/>
                </a:solidFill>
              </a:rPr>
              <a:t>  本例“</a:t>
            </a:r>
            <a:r>
              <a:rPr lang="en-US" altLang="zh-CN" sz="2800" b="1" dirty="0" smtClean="0">
                <a:solidFill>
                  <a:srgbClr val="0070C0"/>
                </a:solidFill>
              </a:rPr>
              <a:t>2001</a:t>
            </a:r>
            <a:r>
              <a:rPr lang="zh-CN" altLang="en-US" sz="2800" b="1" dirty="0">
                <a:solidFill>
                  <a:srgbClr val="0070C0"/>
                </a:solidFill>
              </a:rPr>
              <a:t>～</a:t>
            </a:r>
            <a:r>
              <a:rPr lang="en-US" altLang="zh-CN" sz="2800" b="1" dirty="0">
                <a:solidFill>
                  <a:srgbClr val="0070C0"/>
                </a:solidFill>
              </a:rPr>
              <a:t>2022</a:t>
            </a:r>
            <a:r>
              <a:rPr lang="zh-CN" altLang="en-US" sz="2800" b="1" dirty="0" smtClean="0">
                <a:solidFill>
                  <a:srgbClr val="0070C0"/>
                </a:solidFill>
              </a:rPr>
              <a:t>年间</a:t>
            </a:r>
            <a:r>
              <a:rPr lang="zh-CN" altLang="en-US" sz="2800" b="1" dirty="0">
                <a:solidFill>
                  <a:srgbClr val="0070C0"/>
                </a:solidFill>
              </a:rPr>
              <a:t>”</a:t>
            </a:r>
            <a:r>
              <a:rPr lang="zh-CN" altLang="en-US" sz="2800" b="1" dirty="0" smtClean="0">
                <a:solidFill>
                  <a:srgbClr val="0070C0"/>
                </a:solidFill>
              </a:rPr>
              <a:t>即 </a:t>
            </a:r>
            <a:r>
              <a:rPr lang="en-US" altLang="zh-CN" sz="2800" b="1" dirty="0" smtClean="0">
                <a:solidFill>
                  <a:srgbClr val="0070C0"/>
                </a:solidFill>
              </a:rPr>
              <a:t>2001</a:t>
            </a:r>
            <a:r>
              <a:rPr lang="zh-CN" altLang="en-US" sz="2800" b="1" dirty="0" smtClean="0">
                <a:solidFill>
                  <a:srgbClr val="0070C0"/>
                </a:solidFill>
              </a:rPr>
              <a:t>年初～</a:t>
            </a:r>
            <a:r>
              <a:rPr lang="en-US" altLang="zh-CN" sz="2800" b="1" dirty="0">
                <a:solidFill>
                  <a:srgbClr val="0070C0"/>
                </a:solidFill>
              </a:rPr>
              <a:t>2022</a:t>
            </a:r>
            <a:r>
              <a:rPr lang="zh-CN" altLang="en-US" sz="2800" b="1" dirty="0" smtClean="0">
                <a:solidFill>
                  <a:srgbClr val="0070C0"/>
                </a:solidFill>
              </a:rPr>
              <a:t>年末</a:t>
            </a:r>
            <a:endParaRPr lang="zh-CN" altLang="en-US" sz="2800" b="1"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8067" name="Rectangle 2"/>
          <p:cNvSpPr>
            <a:spLocks noGrp="1" noChangeArrowheads="1"/>
          </p:cNvSpPr>
          <p:nvPr>
            <p:ph type="title"/>
          </p:nvPr>
        </p:nvSpPr>
        <p:spPr>
          <a:xfrm>
            <a:off x="611188" y="476250"/>
            <a:ext cx="7772400" cy="990600"/>
          </a:xfrm>
        </p:spPr>
        <p:txBody>
          <a:bodyPr/>
          <a:lstStyle/>
          <a:p>
            <a:pPr eaLnBrk="1" hangingPunct="1">
              <a:lnSpc>
                <a:spcPct val="140000"/>
              </a:lnSpc>
            </a:pPr>
            <a:r>
              <a:rPr lang="zh-CN" altLang="en-US" sz="3600" smtClean="0"/>
              <a:t>问题与思考</a:t>
            </a:r>
          </a:p>
        </p:txBody>
      </p:sp>
      <p:sp>
        <p:nvSpPr>
          <p:cNvPr id="88068" name="Rectangle 3"/>
          <p:cNvSpPr>
            <a:spLocks noGrp="1" noChangeArrowheads="1"/>
          </p:cNvSpPr>
          <p:nvPr>
            <p:ph type="body" idx="1"/>
          </p:nvPr>
        </p:nvSpPr>
        <p:spPr>
          <a:xfrm>
            <a:off x="827584" y="1566863"/>
            <a:ext cx="7945760" cy="4800600"/>
          </a:xfrm>
        </p:spPr>
        <p:txBody>
          <a:bodyPr/>
          <a:lstStyle/>
          <a:p>
            <a:pPr marL="0" indent="0" eaLnBrk="1" hangingPunct="1">
              <a:lnSpc>
                <a:spcPct val="140000"/>
              </a:lnSpc>
              <a:buNone/>
            </a:pPr>
            <a:r>
              <a:rPr lang="zh-CN" altLang="en-US" dirty="0" smtClean="0">
                <a:solidFill>
                  <a:srgbClr val="0070C0"/>
                </a:solidFill>
              </a:rPr>
              <a:t>若要计算某</a:t>
            </a:r>
            <a:r>
              <a:rPr lang="zh-CN" altLang="en-US" dirty="0" smtClean="0">
                <a:solidFill>
                  <a:srgbClr val="0070C0"/>
                </a:solidFill>
              </a:rPr>
              <a:t>年平均资产数量</a:t>
            </a:r>
            <a:r>
              <a:rPr lang="zh-CN" altLang="en-US" dirty="0" smtClean="0">
                <a:solidFill>
                  <a:srgbClr val="0070C0"/>
                </a:solidFill>
              </a:rPr>
              <a:t>，最好采用</a:t>
            </a:r>
            <a:r>
              <a:rPr lang="zh-CN" altLang="en-US" dirty="0">
                <a:solidFill>
                  <a:srgbClr val="0070C0"/>
                </a:solidFill>
              </a:rPr>
              <a:t>下列</a:t>
            </a:r>
            <a:r>
              <a:rPr lang="zh-CN" altLang="en-US" dirty="0" smtClean="0">
                <a:solidFill>
                  <a:srgbClr val="0070C0"/>
                </a:solidFill>
              </a:rPr>
              <a:t>哪</a:t>
            </a:r>
            <a:r>
              <a:rPr lang="zh-CN" altLang="en-US" dirty="0">
                <a:solidFill>
                  <a:srgbClr val="0070C0"/>
                </a:solidFill>
              </a:rPr>
              <a:t>种数据来计算？为什么？    </a:t>
            </a:r>
          </a:p>
          <a:p>
            <a:pPr marL="685800" lvl="1" indent="0" eaLnBrk="1" hangingPunct="1">
              <a:lnSpc>
                <a:spcPct val="140000"/>
              </a:lnSpc>
              <a:buNone/>
            </a:pPr>
            <a:r>
              <a:rPr lang="en-US" altLang="zh-CN" dirty="0" smtClean="0"/>
              <a:t>1.</a:t>
            </a:r>
            <a:r>
              <a:rPr lang="zh-CN" altLang="en-US" dirty="0" smtClean="0"/>
              <a:t>年初</a:t>
            </a:r>
            <a:r>
              <a:rPr lang="zh-CN" altLang="en-US" dirty="0" smtClean="0"/>
              <a:t>、年末的资产总额；</a:t>
            </a:r>
          </a:p>
          <a:p>
            <a:pPr marL="685800" lvl="1" indent="0" eaLnBrk="1" hangingPunct="1">
              <a:lnSpc>
                <a:spcPct val="140000"/>
              </a:lnSpc>
              <a:buNone/>
            </a:pPr>
            <a:r>
              <a:rPr lang="en-US" altLang="zh-CN" dirty="0" smtClean="0">
                <a:latin typeface="Arial" charset="0"/>
              </a:rPr>
              <a:t>2.</a:t>
            </a:r>
            <a:r>
              <a:rPr lang="zh-CN" altLang="en-US" dirty="0" smtClean="0"/>
              <a:t>各季度初</a:t>
            </a:r>
            <a:r>
              <a:rPr lang="zh-CN" altLang="en-US" dirty="0" smtClean="0"/>
              <a:t>、年末的资产总额；</a:t>
            </a:r>
          </a:p>
          <a:p>
            <a:pPr marL="685800" lvl="1" indent="0" eaLnBrk="1" hangingPunct="1">
              <a:lnSpc>
                <a:spcPct val="140000"/>
              </a:lnSpc>
              <a:buNone/>
            </a:pPr>
            <a:r>
              <a:rPr lang="en-US" altLang="zh-CN" dirty="0" smtClean="0">
                <a:latin typeface="Arial" charset="0"/>
              </a:rPr>
              <a:t>3.</a:t>
            </a:r>
            <a:r>
              <a:rPr lang="zh-CN" altLang="en-US" dirty="0" smtClean="0"/>
              <a:t>各月初</a:t>
            </a:r>
            <a:r>
              <a:rPr lang="zh-CN" altLang="en-US" dirty="0" smtClean="0"/>
              <a:t>、年末的资产总额；</a:t>
            </a:r>
            <a:endParaRPr lang="en-US" altLang="zh-CN" dirty="0" smtClean="0"/>
          </a:p>
          <a:p>
            <a:pPr marL="685800" lvl="1" indent="0" eaLnBrk="1" hangingPunct="1">
              <a:lnSpc>
                <a:spcPct val="140000"/>
              </a:lnSpc>
              <a:buNone/>
            </a:pPr>
            <a:r>
              <a:rPr lang="en-US" altLang="zh-CN" dirty="0" smtClean="0">
                <a:latin typeface="Arial" charset="0"/>
              </a:rPr>
              <a:t>4.</a:t>
            </a:r>
            <a:r>
              <a:rPr lang="zh-CN" altLang="en-US" dirty="0" smtClean="0">
                <a:latin typeface="Arial" charset="0"/>
              </a:rPr>
              <a:t>每天</a:t>
            </a:r>
            <a:r>
              <a:rPr lang="en-US" altLang="zh-CN" dirty="0" smtClean="0">
                <a:latin typeface="Arial" charset="0"/>
              </a:rPr>
              <a:t>0</a:t>
            </a:r>
            <a:r>
              <a:rPr lang="zh-CN" altLang="en-US" dirty="0" smtClean="0">
                <a:latin typeface="Arial" charset="0"/>
              </a:rPr>
              <a:t>点（</a:t>
            </a:r>
            <a:r>
              <a:rPr lang="en-US" altLang="zh-CN" dirty="0" smtClean="0">
                <a:latin typeface="Arial" charset="0"/>
              </a:rPr>
              <a:t>24</a:t>
            </a:r>
            <a:r>
              <a:rPr lang="zh-CN" altLang="en-US" dirty="0" smtClean="0">
                <a:latin typeface="Arial" charset="0"/>
              </a:rPr>
              <a:t>点）</a:t>
            </a:r>
            <a:r>
              <a:rPr lang="zh-CN" altLang="en-US" dirty="0" smtClean="0"/>
              <a:t>的</a:t>
            </a:r>
            <a:r>
              <a:rPr lang="zh-CN" altLang="en-US" dirty="0" smtClean="0"/>
              <a:t>资产</a:t>
            </a:r>
            <a:r>
              <a:rPr lang="zh-CN" altLang="en-US" dirty="0" smtClean="0"/>
              <a:t>总额</a:t>
            </a:r>
            <a:endParaRPr lang="zh-CN" altLang="en-US" dirty="0" smtClean="0"/>
          </a:p>
        </p:txBody>
      </p:sp>
      <p:sp>
        <p:nvSpPr>
          <p:cNvPr id="88069" name="Text Box 4"/>
          <p:cNvSpPr txBox="1">
            <a:spLocks noChangeArrowheads="1"/>
          </p:cNvSpPr>
          <p:nvPr/>
        </p:nvSpPr>
        <p:spPr bwMode="auto">
          <a:xfrm>
            <a:off x="55788" y="6236643"/>
            <a:ext cx="1152525" cy="461665"/>
          </a:xfrm>
          <a:prstGeom prst="rect">
            <a:avLst/>
          </a:prstGeom>
          <a:noFill/>
          <a:ln w="9525">
            <a:noFill/>
            <a:miter lim="800000"/>
            <a:headEnd/>
            <a:tailEnd/>
          </a:ln>
        </p:spPr>
        <p:txBody>
          <a:bodyPr>
            <a:spAutoFit/>
          </a:bodyPr>
          <a:lstStyle/>
          <a:p>
            <a:pPr>
              <a:spcBef>
                <a:spcPct val="50000"/>
              </a:spcBef>
            </a:pPr>
            <a:r>
              <a:rPr lang="zh-CN" altLang="en-US" sz="2400" dirty="0"/>
              <a:t>思考</a:t>
            </a:r>
            <a:r>
              <a:rPr lang="en-US" altLang="zh-CN" sz="2400" dirty="0"/>
              <a:t>2</a:t>
            </a:r>
          </a:p>
        </p:txBody>
      </p:sp>
      <p:sp>
        <p:nvSpPr>
          <p:cNvPr id="88070" name="日期占位符 5"/>
          <p:cNvSpPr>
            <a:spLocks noGrp="1"/>
          </p:cNvSpPr>
          <p:nvPr>
            <p:ph type="dt" sz="quarter" idx="10"/>
          </p:nvPr>
        </p:nvSpPr>
        <p:spPr>
          <a:xfrm>
            <a:off x="1208313" y="6379655"/>
            <a:ext cx="1905000" cy="457200"/>
          </a:xfrm>
          <a:noFill/>
        </p:spPr>
        <p:txBody>
          <a:bodyPr/>
          <a:lstStyle/>
          <a:p>
            <a:endParaRPr lang="en-US" altLang="zh-CN" dirty="0" smtClean="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9091" name="Rectangle 2"/>
          <p:cNvSpPr>
            <a:spLocks noGrp="1" noChangeArrowheads="1"/>
          </p:cNvSpPr>
          <p:nvPr>
            <p:ph type="title"/>
          </p:nvPr>
        </p:nvSpPr>
        <p:spPr>
          <a:xfrm>
            <a:off x="684213" y="765175"/>
            <a:ext cx="7772400" cy="990600"/>
          </a:xfrm>
        </p:spPr>
        <p:txBody>
          <a:bodyPr/>
          <a:lstStyle/>
          <a:p>
            <a:pPr eaLnBrk="1" hangingPunct="1"/>
            <a:r>
              <a:rPr lang="zh-CN" altLang="en-US" smtClean="0"/>
              <a:t>结论</a:t>
            </a:r>
          </a:p>
        </p:txBody>
      </p:sp>
      <p:sp>
        <p:nvSpPr>
          <p:cNvPr id="332803" name="Rectangle 3"/>
          <p:cNvSpPr>
            <a:spLocks noGrp="1" noChangeArrowheads="1"/>
          </p:cNvSpPr>
          <p:nvPr>
            <p:ph type="body" idx="1"/>
          </p:nvPr>
        </p:nvSpPr>
        <p:spPr>
          <a:xfrm>
            <a:off x="827088" y="1989138"/>
            <a:ext cx="7772400" cy="3975100"/>
          </a:xfrm>
        </p:spPr>
        <p:txBody>
          <a:bodyPr/>
          <a:lstStyle/>
          <a:p>
            <a:pPr marL="571500" indent="-571500" eaLnBrk="1" hangingPunct="1">
              <a:lnSpc>
                <a:spcPct val="130000"/>
              </a:lnSpc>
              <a:buFontTx/>
              <a:buNone/>
            </a:pPr>
            <a:r>
              <a:rPr lang="zh-CN" altLang="en-US" dirty="0" smtClean="0">
                <a:solidFill>
                  <a:srgbClr val="000000"/>
                </a:solidFill>
              </a:rPr>
              <a:t>由不连续时点数列计算的序时平均数的：</a:t>
            </a:r>
          </a:p>
          <a:p>
            <a:pPr marL="571500" indent="-571500" eaLnBrk="1" hangingPunct="1">
              <a:lnSpc>
                <a:spcPct val="130000"/>
              </a:lnSpc>
            </a:pPr>
            <a:r>
              <a:rPr lang="zh-CN" altLang="en-US" dirty="0" smtClean="0">
                <a:solidFill>
                  <a:srgbClr val="0070C0"/>
                </a:solidFill>
              </a:rPr>
              <a:t>假定前提：</a:t>
            </a:r>
            <a:r>
              <a:rPr lang="zh-CN" altLang="en-US" dirty="0" smtClean="0">
                <a:solidFill>
                  <a:srgbClr val="000000"/>
                </a:solidFill>
              </a:rPr>
              <a:t>相邻两个时点之间的数据是均匀变动的；</a:t>
            </a:r>
          </a:p>
          <a:p>
            <a:pPr marL="571500" indent="-571500" eaLnBrk="1" hangingPunct="1">
              <a:lnSpc>
                <a:spcPct val="130000"/>
              </a:lnSpc>
            </a:pPr>
            <a:r>
              <a:rPr lang="zh-CN" altLang="en-US" dirty="0" smtClean="0">
                <a:solidFill>
                  <a:srgbClr val="0070C0"/>
                </a:solidFill>
              </a:rPr>
              <a:t>计算结果：</a:t>
            </a:r>
            <a:r>
              <a:rPr lang="zh-CN" altLang="en-US" dirty="0" smtClean="0">
                <a:solidFill>
                  <a:srgbClr val="000000"/>
                </a:solidFill>
              </a:rPr>
              <a:t>是近似值，一般地，间隔越短，结果越符合实际。</a:t>
            </a:r>
          </a:p>
        </p:txBody>
      </p:sp>
      <p:sp>
        <p:nvSpPr>
          <p:cNvPr id="89093" name="日期占位符 4"/>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32803">
                                            <p:txEl>
                                              <p:pRg st="2" end="2"/>
                                            </p:txEl>
                                          </p:spTgt>
                                        </p:tgtEl>
                                        <p:attrNameLst>
                                          <p:attrName>style.visibility</p:attrName>
                                        </p:attrNameLst>
                                      </p:cBhvr>
                                      <p:to>
                                        <p:strVal val="visible"/>
                                      </p:to>
                                    </p:set>
                                    <p:anim calcmode="lin" valueType="num">
                                      <p:cBhvr additive="base">
                                        <p:cTn id="7" dur="500" fill="hold"/>
                                        <p:tgtEl>
                                          <p:spTgt spid="332803">
                                            <p:txEl>
                                              <p:pRg st="2" end="2"/>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3280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2803"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Rectangle 2"/>
          <p:cNvSpPr>
            <a:spLocks noGrp="1" noChangeArrowheads="1"/>
          </p:cNvSpPr>
          <p:nvPr>
            <p:ph type="title"/>
          </p:nvPr>
        </p:nvSpPr>
        <p:spPr>
          <a:xfrm>
            <a:off x="1763688" y="692696"/>
            <a:ext cx="5903913" cy="1143000"/>
          </a:xfrm>
        </p:spPr>
        <p:txBody>
          <a:bodyPr/>
          <a:lstStyle/>
          <a:p>
            <a:pPr eaLnBrk="1" hangingPunct="1"/>
            <a:r>
              <a:rPr lang="en-US" altLang="zh-CN" sz="3800" dirty="0" smtClean="0">
                <a:ea typeface="黑体" panose="02010609060101010101" pitchFamily="49" charset="-122"/>
              </a:rPr>
              <a:t>3.</a:t>
            </a:r>
            <a:r>
              <a:rPr lang="en-US" altLang="zh-CN" sz="3800" dirty="0" smtClean="0"/>
              <a:t> </a:t>
            </a:r>
            <a:r>
              <a:rPr lang="zh-CN" altLang="en-US" sz="3800" dirty="0" smtClean="0"/>
              <a:t>相对数</a:t>
            </a:r>
            <a:r>
              <a:rPr lang="en-US" altLang="zh-CN" sz="3800" b="0" dirty="0" smtClean="0"/>
              <a:t>(</a:t>
            </a:r>
            <a:r>
              <a:rPr lang="zh-CN" altLang="en-US" sz="3800" dirty="0" smtClean="0"/>
              <a:t>或平均数</a:t>
            </a:r>
            <a:r>
              <a:rPr lang="en-US" altLang="zh-CN" sz="3800" b="0" dirty="0" smtClean="0"/>
              <a:t>)</a:t>
            </a:r>
            <a:r>
              <a:rPr lang="en-US" altLang="zh-CN" sz="3800" dirty="0" smtClean="0"/>
              <a:t> </a:t>
            </a:r>
            <a:r>
              <a:rPr lang="zh-CN" altLang="en-US" sz="3800" dirty="0" smtClean="0"/>
              <a:t>序列的平均发展水平</a:t>
            </a:r>
          </a:p>
        </p:txBody>
      </p:sp>
      <p:sp>
        <p:nvSpPr>
          <p:cNvPr id="400387" name="Rectangle 3"/>
          <p:cNvSpPr>
            <a:spLocks noGrp="1" noChangeArrowheads="1"/>
          </p:cNvSpPr>
          <p:nvPr>
            <p:ph type="body" idx="1"/>
          </p:nvPr>
        </p:nvSpPr>
        <p:spPr>
          <a:xfrm>
            <a:off x="447086" y="2055901"/>
            <a:ext cx="5708017" cy="3744416"/>
          </a:xfrm>
        </p:spPr>
        <p:txBody>
          <a:bodyPr/>
          <a:lstStyle/>
          <a:p>
            <a:pPr marL="0" indent="0" eaLnBrk="1" hangingPunct="1">
              <a:lnSpc>
                <a:spcPct val="130000"/>
              </a:lnSpc>
              <a:spcBef>
                <a:spcPts val="1200"/>
              </a:spcBef>
              <a:buNone/>
            </a:pPr>
            <a:r>
              <a:rPr lang="zh-CN" altLang="en-US" dirty="0" smtClean="0">
                <a:solidFill>
                  <a:srgbClr val="000000"/>
                </a:solidFill>
              </a:rPr>
              <a:t>相对数</a:t>
            </a:r>
            <a:r>
              <a:rPr lang="en-US" altLang="zh-CN" dirty="0" smtClean="0">
                <a:solidFill>
                  <a:srgbClr val="000000"/>
                </a:solidFill>
              </a:rPr>
              <a:t>(</a:t>
            </a:r>
            <a:r>
              <a:rPr lang="zh-CN" altLang="en-US" dirty="0" smtClean="0">
                <a:solidFill>
                  <a:srgbClr val="000000"/>
                </a:solidFill>
              </a:rPr>
              <a:t>或平均数</a:t>
            </a:r>
            <a:r>
              <a:rPr lang="en-US" altLang="zh-CN" dirty="0" smtClean="0">
                <a:solidFill>
                  <a:srgbClr val="000000"/>
                </a:solidFill>
              </a:rPr>
              <a:t>)</a:t>
            </a:r>
            <a:r>
              <a:rPr lang="en-US" altLang="zh-CN" i="1" dirty="0">
                <a:solidFill>
                  <a:srgbClr val="000000"/>
                </a:solidFill>
                <a:latin typeface="Times New Roman" pitchFamily="18" charset="0"/>
                <a:cs typeface="Times New Roman" pitchFamily="18" charset="0"/>
              </a:rPr>
              <a:t> </a:t>
            </a:r>
            <a:r>
              <a:rPr lang="en-US" altLang="zh-CN" i="1" dirty="0" smtClean="0">
                <a:solidFill>
                  <a:srgbClr val="000000"/>
                </a:solidFill>
                <a:latin typeface="Times New Roman" pitchFamily="18" charset="0"/>
                <a:cs typeface="Times New Roman" pitchFamily="18" charset="0"/>
              </a:rPr>
              <a:t>Z</a:t>
            </a:r>
            <a:r>
              <a:rPr lang="zh-CN" altLang="en-US" i="1" dirty="0" smtClean="0">
                <a:solidFill>
                  <a:srgbClr val="000000"/>
                </a:solidFill>
                <a:latin typeface="Times New Roman" pitchFamily="18" charset="0"/>
                <a:cs typeface="Times New Roman" pitchFamily="18" charset="0"/>
              </a:rPr>
              <a:t>：</a:t>
            </a:r>
            <a:endParaRPr lang="en-US" altLang="zh-CN" i="1" baseline="-25000" dirty="0" smtClean="0">
              <a:solidFill>
                <a:srgbClr val="000000"/>
              </a:solidFill>
            </a:endParaRPr>
          </a:p>
          <a:p>
            <a:pPr lvl="1" eaLnBrk="1" hangingPunct="1">
              <a:lnSpc>
                <a:spcPct val="130000"/>
              </a:lnSpc>
              <a:spcBef>
                <a:spcPts val="1200"/>
              </a:spcBef>
            </a:pPr>
            <a:r>
              <a:rPr lang="en-US" altLang="zh-CN" i="1" baseline="-25000" dirty="0" smtClean="0"/>
              <a:t> </a:t>
            </a:r>
            <a:r>
              <a:rPr lang="en-US" altLang="zh-CN" sz="2400" b="0" dirty="0" err="1" smtClean="0">
                <a:latin typeface="Times New Roman" pitchFamily="18" charset="0"/>
              </a:rPr>
              <a:t>y</a:t>
            </a:r>
            <a:r>
              <a:rPr lang="en-US" altLang="zh-CN" sz="2400" b="0" baseline="-25000" dirty="0" err="1" smtClean="0">
                <a:latin typeface="Times New Roman" pitchFamily="18" charset="0"/>
              </a:rPr>
              <a:t>i</a:t>
            </a:r>
            <a:r>
              <a:rPr lang="en-US" altLang="zh-CN" sz="2400" b="0" baseline="-25000" dirty="0" smtClean="0">
                <a:latin typeface="Times New Roman" pitchFamily="18" charset="0"/>
              </a:rPr>
              <a:t> </a:t>
            </a:r>
            <a:r>
              <a:rPr lang="zh-CN" altLang="en-US" sz="2400" b="0" dirty="0" smtClean="0">
                <a:latin typeface="Times New Roman" pitchFamily="18" charset="0"/>
              </a:rPr>
              <a:t>和 </a:t>
            </a:r>
            <a:r>
              <a:rPr lang="en-US" altLang="zh-CN" sz="2400" b="0" dirty="0" smtClean="0">
                <a:latin typeface="Times New Roman" pitchFamily="18" charset="0"/>
              </a:rPr>
              <a:t>x</a:t>
            </a:r>
            <a:r>
              <a:rPr lang="en-US" altLang="zh-CN" sz="2400" b="0" baseline="-25000" dirty="0" smtClean="0">
                <a:latin typeface="Times New Roman" pitchFamily="18" charset="0"/>
              </a:rPr>
              <a:t>i </a:t>
            </a:r>
            <a:r>
              <a:rPr lang="zh-CN" altLang="en-US" sz="2400" b="0" dirty="0" smtClean="0">
                <a:latin typeface="Times New Roman" pitchFamily="18" charset="0"/>
              </a:rPr>
              <a:t>为总量</a:t>
            </a:r>
            <a:r>
              <a:rPr lang="zh-CN" altLang="en-US" sz="2400" b="0" dirty="0" smtClean="0">
                <a:latin typeface="Times New Roman" pitchFamily="18" charset="0"/>
              </a:rPr>
              <a:t>指标</a:t>
            </a:r>
          </a:p>
          <a:p>
            <a:pPr marL="0" indent="0" eaLnBrk="1" hangingPunct="1">
              <a:lnSpc>
                <a:spcPct val="130000"/>
              </a:lnSpc>
              <a:spcBef>
                <a:spcPts val="1200"/>
              </a:spcBef>
              <a:buNone/>
            </a:pPr>
            <a:r>
              <a:rPr lang="zh-CN" altLang="en-US" sz="3000" dirty="0" smtClean="0">
                <a:solidFill>
                  <a:srgbClr val="000000"/>
                </a:solidFill>
              </a:rPr>
              <a:t>     由于各 </a:t>
            </a:r>
            <a:r>
              <a:rPr lang="en-US" altLang="zh-CN" sz="3000" i="1" dirty="0" err="1" smtClean="0">
                <a:solidFill>
                  <a:srgbClr val="000000"/>
                </a:solidFill>
                <a:latin typeface="Times New Roman" pitchFamily="18" charset="0"/>
                <a:cs typeface="Times New Roman" pitchFamily="18" charset="0"/>
              </a:rPr>
              <a:t>z</a:t>
            </a:r>
            <a:r>
              <a:rPr lang="en-US" altLang="zh-CN" sz="3000" i="1" baseline="-25000" dirty="0" err="1" smtClean="0">
                <a:solidFill>
                  <a:srgbClr val="000000"/>
                </a:solidFill>
                <a:latin typeface="Times New Roman" pitchFamily="18" charset="0"/>
                <a:cs typeface="Times New Roman" pitchFamily="18" charset="0"/>
              </a:rPr>
              <a:t>i</a:t>
            </a:r>
            <a:r>
              <a:rPr lang="en-US" altLang="zh-CN" sz="3000" i="1" baseline="-25000" dirty="0" smtClean="0">
                <a:solidFill>
                  <a:srgbClr val="000000"/>
                </a:solidFill>
                <a:latin typeface="Times New Roman" pitchFamily="18" charset="0"/>
                <a:cs typeface="Times New Roman" pitchFamily="18" charset="0"/>
              </a:rPr>
              <a:t> </a:t>
            </a:r>
            <a:r>
              <a:rPr lang="zh-CN" altLang="en-US" sz="3000" dirty="0" smtClean="0">
                <a:solidFill>
                  <a:srgbClr val="000000"/>
                </a:solidFill>
              </a:rPr>
              <a:t>的对比基数 </a:t>
            </a:r>
            <a:r>
              <a:rPr lang="en-US" altLang="zh-CN" sz="3000" i="1" dirty="0" smtClean="0">
                <a:solidFill>
                  <a:srgbClr val="000000"/>
                </a:solidFill>
                <a:latin typeface="Times New Roman" pitchFamily="18" charset="0"/>
                <a:cs typeface="Times New Roman" pitchFamily="18" charset="0"/>
              </a:rPr>
              <a:t>x</a:t>
            </a:r>
            <a:r>
              <a:rPr lang="en-US" altLang="zh-CN" sz="3000" i="1" baseline="-25000" dirty="0" smtClean="0">
                <a:solidFill>
                  <a:srgbClr val="000000"/>
                </a:solidFill>
                <a:latin typeface="Times New Roman" pitchFamily="18" charset="0"/>
                <a:cs typeface="Times New Roman" pitchFamily="18" charset="0"/>
              </a:rPr>
              <a:t>i </a:t>
            </a:r>
            <a:r>
              <a:rPr lang="zh-CN" altLang="en-US" sz="3000" dirty="0" smtClean="0">
                <a:solidFill>
                  <a:srgbClr val="000000"/>
                </a:solidFill>
              </a:rPr>
              <a:t>不尽相同，所以</a:t>
            </a:r>
            <a:r>
              <a:rPr lang="zh-CN" altLang="en-US" sz="3000" dirty="0" smtClean="0">
                <a:solidFill>
                  <a:srgbClr val="FF0066"/>
                </a:solidFill>
              </a:rPr>
              <a:t>不能</a:t>
            </a:r>
            <a:r>
              <a:rPr lang="zh-CN" altLang="en-US" sz="3000" dirty="0" smtClean="0">
                <a:solidFill>
                  <a:srgbClr val="000000"/>
                </a:solidFill>
              </a:rPr>
              <a:t>将若干时间的 </a:t>
            </a:r>
            <a:r>
              <a:rPr lang="en-US" altLang="zh-CN" sz="3000" i="1" dirty="0" err="1" smtClean="0">
                <a:solidFill>
                  <a:srgbClr val="000000"/>
                </a:solidFill>
                <a:latin typeface="Times New Roman" pitchFamily="18" charset="0"/>
                <a:cs typeface="Times New Roman" pitchFamily="18" charset="0"/>
              </a:rPr>
              <a:t>z</a:t>
            </a:r>
            <a:r>
              <a:rPr lang="en-US" altLang="zh-CN" sz="3000" i="1" baseline="-25000" dirty="0" err="1" smtClean="0">
                <a:solidFill>
                  <a:srgbClr val="000000"/>
                </a:solidFill>
                <a:latin typeface="Times New Roman" pitchFamily="18" charset="0"/>
                <a:cs typeface="Times New Roman" pitchFamily="18" charset="0"/>
              </a:rPr>
              <a:t>i</a:t>
            </a:r>
            <a:r>
              <a:rPr lang="en-US" altLang="zh-CN" sz="3000" i="1" baseline="-25000" dirty="0" smtClean="0">
                <a:solidFill>
                  <a:srgbClr val="000000"/>
                </a:solidFill>
                <a:latin typeface="Times New Roman" pitchFamily="18" charset="0"/>
                <a:cs typeface="Times New Roman" pitchFamily="18" charset="0"/>
              </a:rPr>
              <a:t> </a:t>
            </a:r>
            <a:r>
              <a:rPr lang="zh-CN" altLang="en-US" sz="3000" dirty="0" smtClean="0">
                <a:solidFill>
                  <a:srgbClr val="0070C0"/>
                </a:solidFill>
              </a:rPr>
              <a:t>简单算术平均</a:t>
            </a:r>
            <a:r>
              <a:rPr lang="zh-CN" altLang="en-US" sz="3000" dirty="0" smtClean="0">
                <a:solidFill>
                  <a:srgbClr val="000000"/>
                </a:solidFill>
              </a:rPr>
              <a:t>。</a:t>
            </a:r>
            <a:endParaRPr lang="zh-CN" altLang="en-US" sz="3000" dirty="0" smtClean="0">
              <a:solidFill>
                <a:srgbClr val="000000"/>
              </a:solidFill>
            </a:endParaRPr>
          </a:p>
        </p:txBody>
      </p:sp>
      <p:graphicFrame>
        <p:nvGraphicFramePr>
          <p:cNvPr id="400388" name="Object 4"/>
          <p:cNvGraphicFramePr>
            <a:graphicFrameLocks noChangeAspect="1"/>
          </p:cNvGraphicFramePr>
          <p:nvPr>
            <p:extLst>
              <p:ext uri="{D42A27DB-BD31-4B8C-83A1-F6EECF244321}">
                <p14:modId xmlns:p14="http://schemas.microsoft.com/office/powerpoint/2010/main" val="3042406589"/>
              </p:ext>
            </p:extLst>
          </p:nvPr>
        </p:nvGraphicFramePr>
        <p:xfrm>
          <a:off x="6155103" y="3424414"/>
          <a:ext cx="2160588" cy="1990725"/>
        </p:xfrm>
        <a:graphic>
          <a:graphicData uri="http://schemas.openxmlformats.org/presentationml/2006/ole">
            <mc:AlternateContent xmlns:mc="http://schemas.openxmlformats.org/markup-compatibility/2006">
              <mc:Choice xmlns:v="urn:schemas-microsoft-com:vml" Requires="v">
                <p:oleObj spid="_x0000_s220274" name="Equation" r:id="rId4" imgW="609480" imgH="609480" progId="Equation.DSMT4">
                  <p:embed/>
                </p:oleObj>
              </mc:Choice>
              <mc:Fallback>
                <p:oleObj name="Equation" r:id="rId4" imgW="609480" imgH="609480" progId="Equation.DSMT4">
                  <p:embed/>
                  <p:pic>
                    <p:nvPicPr>
                      <p:cNvPr id="400388"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55103" y="3424414"/>
                        <a:ext cx="2160588" cy="1990725"/>
                      </a:xfrm>
                      <a:prstGeom prst="rect">
                        <a:avLst/>
                      </a:prstGeom>
                      <a:solidFill>
                        <a:schemeClr val="accent1"/>
                      </a:solidFill>
                      <a:ln w="9525">
                        <a:solidFill>
                          <a:srgbClr val="00FFFF"/>
                        </a:solidFill>
                        <a:miter lim="800000"/>
                        <a:headEnd/>
                        <a:tailEnd/>
                      </a:ln>
                    </p:spPr>
                  </p:pic>
                </p:oleObj>
              </mc:Fallback>
            </mc:AlternateContent>
          </a:graphicData>
        </a:graphic>
      </p:graphicFrame>
      <p:graphicFrame>
        <p:nvGraphicFramePr>
          <p:cNvPr id="7171" name="Object 5"/>
          <p:cNvGraphicFramePr>
            <a:graphicFrameLocks noChangeAspect="1"/>
          </p:cNvGraphicFramePr>
          <p:nvPr>
            <p:extLst>
              <p:ext uri="{D42A27DB-BD31-4B8C-83A1-F6EECF244321}">
                <p14:modId xmlns:p14="http://schemas.microsoft.com/office/powerpoint/2010/main" val="3364217207"/>
              </p:ext>
            </p:extLst>
          </p:nvPr>
        </p:nvGraphicFramePr>
        <p:xfrm>
          <a:off x="4499341" y="1895232"/>
          <a:ext cx="1655762" cy="1504950"/>
        </p:xfrm>
        <a:graphic>
          <a:graphicData uri="http://schemas.openxmlformats.org/presentationml/2006/ole">
            <mc:AlternateContent xmlns:mc="http://schemas.openxmlformats.org/markup-compatibility/2006">
              <mc:Choice xmlns:v="urn:schemas-microsoft-com:vml" Requires="v">
                <p:oleObj spid="_x0000_s220275" name="Equation" r:id="rId6" imgW="457200" imgH="431640" progId="Equation.DSMT4">
                  <p:embed/>
                </p:oleObj>
              </mc:Choice>
              <mc:Fallback>
                <p:oleObj name="Equation" r:id="rId6" imgW="457200" imgH="431640" progId="Equation.DSMT4">
                  <p:embed/>
                  <p:pic>
                    <p:nvPicPr>
                      <p:cNvPr id="7171"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99341" y="1895232"/>
                        <a:ext cx="1655762" cy="1504950"/>
                      </a:xfrm>
                      <a:prstGeom prst="rect">
                        <a:avLst/>
                      </a:prstGeom>
                      <a:solidFill>
                        <a:schemeClr val="accent1">
                          <a:lumMod val="40000"/>
                          <a:lumOff val="60000"/>
                        </a:schemeClr>
                      </a:solidFill>
                      <a:ln>
                        <a:solidFill>
                          <a:schemeClr val="accent2"/>
                        </a:solidFill>
                      </a:ln>
                      <a:extLst/>
                    </p:spPr>
                  </p:pic>
                </p:oleObj>
              </mc:Fallback>
            </mc:AlternateContent>
          </a:graphicData>
        </a:graphic>
      </p:graphicFrame>
      <p:sp>
        <p:nvSpPr>
          <p:cNvPr id="7175" name="日期占位符 6"/>
          <p:cNvSpPr>
            <a:spLocks noGrp="1"/>
          </p:cNvSpPr>
          <p:nvPr>
            <p:ph type="dt" sz="quarter" idx="10"/>
          </p:nvPr>
        </p:nvSpPr>
        <p:spPr>
          <a:xfrm>
            <a:off x="43371" y="6367462"/>
            <a:ext cx="1905000" cy="457200"/>
          </a:xfrm>
          <a:noFill/>
        </p:spPr>
        <p:txBody>
          <a:bodyPr/>
          <a:lstStyle/>
          <a:p>
            <a:endParaRPr lang="en-US" altLang="zh-CN" smtClean="0"/>
          </a:p>
        </p:txBody>
      </p:sp>
      <p:sp>
        <p:nvSpPr>
          <p:cNvPr id="2" name="矩形 1"/>
          <p:cNvSpPr/>
          <p:nvPr/>
        </p:nvSpPr>
        <p:spPr>
          <a:xfrm>
            <a:off x="693792" y="5635344"/>
            <a:ext cx="6973809" cy="707886"/>
          </a:xfrm>
          <a:prstGeom prst="rect">
            <a:avLst/>
          </a:prstGeom>
        </p:spPr>
        <p:txBody>
          <a:bodyPr wrap="square">
            <a:spAutoFit/>
          </a:bodyPr>
          <a:lstStyle/>
          <a:p>
            <a:r>
              <a:rPr lang="zh-CN" altLang="en-US" sz="2000" b="1" dirty="0" smtClean="0">
                <a:solidFill>
                  <a:srgbClr val="002060"/>
                </a:solidFill>
              </a:rPr>
              <a:t>注：这里</a:t>
            </a:r>
            <a:r>
              <a:rPr lang="zh-CN" altLang="en-US" sz="2000" b="1" dirty="0">
                <a:solidFill>
                  <a:srgbClr val="002060"/>
                </a:solidFill>
              </a:rPr>
              <a:t>的相对数仅指静态相对数，不含动态相对数即</a:t>
            </a:r>
            <a:r>
              <a:rPr lang="zh-CN" altLang="en-US" sz="2000" b="1" dirty="0" smtClean="0">
                <a:solidFill>
                  <a:srgbClr val="002060"/>
                </a:solidFill>
              </a:rPr>
              <a:t>速度！平均数指算术平均数。</a:t>
            </a:r>
            <a:endParaRPr lang="zh-CN" altLang="en-US" sz="2000" b="1" dirty="0">
              <a:solidFill>
                <a:srgbClr val="002060"/>
              </a:solidFill>
            </a:endParaRPr>
          </a:p>
        </p:txBody>
      </p:sp>
    </p:spTree>
    <p:extLst>
      <p:ext uri="{BB962C8B-B14F-4D97-AF65-F5344CB8AC3E}">
        <p14:creationId xmlns:p14="http://schemas.microsoft.com/office/powerpoint/2010/main" val="220706720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00387">
                                            <p:txEl>
                                              <p:pRg st="2" end="2"/>
                                            </p:txEl>
                                          </p:spTgt>
                                        </p:tgtEl>
                                        <p:attrNameLst>
                                          <p:attrName>style.visibility</p:attrName>
                                        </p:attrNameLst>
                                      </p:cBhvr>
                                      <p:to>
                                        <p:strVal val="visible"/>
                                      </p:to>
                                    </p:set>
                                    <p:animEffect transition="in" filter="wipe(up)">
                                      <p:cBhvr>
                                        <p:cTn id="7" dur="500"/>
                                        <p:tgtEl>
                                          <p:spTgt spid="400387">
                                            <p:txEl>
                                              <p:pRg st="2" end="2"/>
                                            </p:txEl>
                                          </p:spTgt>
                                        </p:tgtEl>
                                      </p:cBhvr>
                                    </p:animEffect>
                                  </p:childTnLst>
                                </p:cTn>
                              </p:par>
                              <p:par>
                                <p:cTn id="8" presetID="2" presetClass="entr" presetSubtype="12" fill="hold" nodeType="withEffect">
                                  <p:stCondLst>
                                    <p:cond delay="0"/>
                                  </p:stCondLst>
                                  <p:childTnLst>
                                    <p:set>
                                      <p:cBhvr>
                                        <p:cTn id="9" dur="1" fill="hold">
                                          <p:stCondLst>
                                            <p:cond delay="0"/>
                                          </p:stCondLst>
                                        </p:cTn>
                                        <p:tgtEl>
                                          <p:spTgt spid="400388"/>
                                        </p:tgtEl>
                                        <p:attrNameLst>
                                          <p:attrName>style.visibility</p:attrName>
                                        </p:attrNameLst>
                                      </p:cBhvr>
                                      <p:to>
                                        <p:strVal val="visible"/>
                                      </p:to>
                                    </p:set>
                                    <p:anim calcmode="lin" valueType="num">
                                      <p:cBhvr additive="base">
                                        <p:cTn id="10" dur="500" fill="hold"/>
                                        <p:tgtEl>
                                          <p:spTgt spid="400388"/>
                                        </p:tgtEl>
                                        <p:attrNameLst>
                                          <p:attrName>ppt_x</p:attrName>
                                        </p:attrNameLst>
                                      </p:cBhvr>
                                      <p:tavLst>
                                        <p:tav tm="0">
                                          <p:val>
                                            <p:strVal val="0-#ppt_w/2"/>
                                          </p:val>
                                        </p:tav>
                                        <p:tav tm="100000">
                                          <p:val>
                                            <p:strVal val="#ppt_x"/>
                                          </p:val>
                                        </p:tav>
                                      </p:tavLst>
                                    </p:anim>
                                    <p:anim calcmode="lin" valueType="num">
                                      <p:cBhvr additive="base">
                                        <p:cTn id="11" dur="500" fill="hold"/>
                                        <p:tgtEl>
                                          <p:spTgt spid="4003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387"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8" name="Rectangle 2"/>
          <p:cNvSpPr>
            <a:spLocks noGrp="1" noChangeArrowheads="1"/>
          </p:cNvSpPr>
          <p:nvPr>
            <p:ph type="title"/>
          </p:nvPr>
        </p:nvSpPr>
        <p:spPr>
          <a:xfrm>
            <a:off x="1617663" y="514351"/>
            <a:ext cx="5402609" cy="1143000"/>
          </a:xfrm>
        </p:spPr>
        <p:txBody>
          <a:bodyPr/>
          <a:lstStyle/>
          <a:p>
            <a:pPr eaLnBrk="1" hangingPunct="1"/>
            <a:r>
              <a:rPr lang="en-US" altLang="zh-CN" sz="3600" dirty="0" smtClean="0"/>
              <a:t>3.</a:t>
            </a:r>
            <a:r>
              <a:rPr lang="zh-CN" altLang="en-US" sz="3200" dirty="0" smtClean="0"/>
              <a:t>相对数</a:t>
            </a:r>
            <a:r>
              <a:rPr lang="en-US" altLang="zh-CN" sz="3200" b="0" dirty="0" smtClean="0"/>
              <a:t>(</a:t>
            </a:r>
            <a:r>
              <a:rPr lang="zh-CN" altLang="en-US" sz="3200" dirty="0" smtClean="0"/>
              <a:t>或平均数</a:t>
            </a:r>
            <a:r>
              <a:rPr lang="en-US" altLang="zh-CN" sz="3200" b="0" dirty="0" smtClean="0"/>
              <a:t>)</a:t>
            </a:r>
            <a:r>
              <a:rPr lang="en-US" altLang="zh-CN" sz="3200" dirty="0" smtClean="0"/>
              <a:t> </a:t>
            </a:r>
            <a:r>
              <a:rPr lang="zh-CN" altLang="en-US" sz="3200" dirty="0" smtClean="0"/>
              <a:t>序列的平均发展水平</a:t>
            </a:r>
            <a:r>
              <a:rPr lang="zh-CN" altLang="en-US" sz="3600" dirty="0" smtClean="0"/>
              <a:t>（续）</a:t>
            </a:r>
            <a:endParaRPr lang="zh-CN" altLang="en-US" sz="3800" dirty="0" smtClean="0"/>
          </a:p>
        </p:txBody>
      </p:sp>
      <p:sp>
        <p:nvSpPr>
          <p:cNvPr id="401411" name="Rectangle 3"/>
          <p:cNvSpPr>
            <a:spLocks noGrp="1" noChangeArrowheads="1"/>
          </p:cNvSpPr>
          <p:nvPr>
            <p:ph type="body" idx="1"/>
          </p:nvPr>
        </p:nvSpPr>
        <p:spPr>
          <a:xfrm>
            <a:off x="179388" y="1700213"/>
            <a:ext cx="8640762" cy="3529012"/>
          </a:xfrm>
        </p:spPr>
        <p:txBody>
          <a:bodyPr/>
          <a:lstStyle/>
          <a:p>
            <a:pPr eaLnBrk="1" hangingPunct="1">
              <a:lnSpc>
                <a:spcPct val="110000"/>
              </a:lnSpc>
            </a:pPr>
            <a:r>
              <a:rPr lang="zh-CN" altLang="en-US" dirty="0" smtClean="0">
                <a:solidFill>
                  <a:srgbClr val="000000"/>
                </a:solidFill>
              </a:rPr>
              <a:t>正确的计算方法是：</a:t>
            </a:r>
          </a:p>
          <a:p>
            <a:pPr lvl="1" eaLnBrk="1" hangingPunct="1">
              <a:lnSpc>
                <a:spcPct val="110000"/>
              </a:lnSpc>
            </a:pPr>
            <a:r>
              <a:rPr lang="zh-CN" altLang="en-US" dirty="0" smtClean="0">
                <a:latin typeface="黑体" panose="02010609060101010101" pitchFamily="49" charset="-122"/>
                <a:ea typeface="黑体" panose="02010609060101010101" pitchFamily="49" charset="-122"/>
              </a:rPr>
              <a:t>先分别</a:t>
            </a:r>
            <a:r>
              <a:rPr lang="zh-CN" altLang="en-US" dirty="0" smtClean="0"/>
              <a:t>计算分子</a:t>
            </a:r>
            <a:r>
              <a:rPr lang="en-US" altLang="zh-CN" i="1" dirty="0"/>
              <a:t>y </a:t>
            </a:r>
            <a:r>
              <a:rPr lang="zh-CN" altLang="en-US" dirty="0" smtClean="0"/>
              <a:t>和</a:t>
            </a:r>
            <a:r>
              <a:rPr lang="zh-CN" altLang="en-US" dirty="0"/>
              <a:t>分母 </a:t>
            </a:r>
            <a:r>
              <a:rPr lang="en-US" altLang="zh-CN" i="1" dirty="0" smtClean="0"/>
              <a:t>x</a:t>
            </a:r>
            <a:r>
              <a:rPr lang="en-US" altLang="zh-CN" i="1" baseline="-25000" dirty="0" smtClean="0"/>
              <a:t> </a:t>
            </a:r>
            <a:r>
              <a:rPr lang="zh-CN" altLang="en-US" dirty="0" smtClean="0"/>
              <a:t>的平均发展水平；</a:t>
            </a:r>
          </a:p>
          <a:p>
            <a:pPr lvl="1" eaLnBrk="1" hangingPunct="1">
              <a:lnSpc>
                <a:spcPct val="110000"/>
              </a:lnSpc>
            </a:pPr>
            <a:r>
              <a:rPr lang="zh-CN" altLang="en-US" dirty="0" smtClean="0"/>
              <a:t>再由这两个平均发展水平对比</a:t>
            </a:r>
            <a:r>
              <a:rPr lang="zh-CN" altLang="en-US" dirty="0"/>
              <a:t>来</a:t>
            </a:r>
            <a:r>
              <a:rPr lang="zh-CN" altLang="en-US" dirty="0" smtClean="0"/>
              <a:t>求得</a:t>
            </a:r>
            <a:r>
              <a:rPr lang="en-US" altLang="zh-CN" dirty="0" smtClean="0"/>
              <a:t>Z</a:t>
            </a:r>
            <a:r>
              <a:rPr lang="zh-CN" altLang="en-US" dirty="0" smtClean="0"/>
              <a:t>的平均发展水平，即：</a:t>
            </a:r>
          </a:p>
        </p:txBody>
      </p:sp>
      <p:sp>
        <p:nvSpPr>
          <p:cNvPr id="8200" name="Rectangle 4"/>
          <p:cNvSpPr>
            <a:spLocks noChangeArrowheads="1"/>
          </p:cNvSpPr>
          <p:nvPr/>
        </p:nvSpPr>
        <p:spPr bwMode="auto">
          <a:xfrm>
            <a:off x="0" y="3252788"/>
            <a:ext cx="9144000" cy="0"/>
          </a:xfrm>
          <a:prstGeom prst="rect">
            <a:avLst/>
          </a:prstGeom>
          <a:noFill/>
          <a:ln w="9525" algn="ctr">
            <a:noFill/>
            <a:miter lim="800000"/>
            <a:headEnd/>
            <a:tailEnd/>
          </a:ln>
        </p:spPr>
        <p:txBody>
          <a:bodyPr wrap="none" anchor="ctr">
            <a:spAutoFit/>
          </a:bodyPr>
          <a:lstStyle/>
          <a:p>
            <a:endParaRPr lang="zh-CN" altLang="en-US"/>
          </a:p>
        </p:txBody>
      </p:sp>
      <p:sp>
        <p:nvSpPr>
          <p:cNvPr id="401413" name="Rectangle 5"/>
          <p:cNvSpPr>
            <a:spLocks noChangeArrowheads="1"/>
          </p:cNvSpPr>
          <p:nvPr/>
        </p:nvSpPr>
        <p:spPr bwMode="auto">
          <a:xfrm>
            <a:off x="120779" y="5445224"/>
            <a:ext cx="8883394" cy="966418"/>
          </a:xfrm>
          <a:prstGeom prst="rect">
            <a:avLst/>
          </a:prstGeom>
          <a:noFill/>
          <a:ln w="9525" algn="ctr">
            <a:solidFill>
              <a:srgbClr val="00FF99"/>
            </a:solidFill>
            <a:miter lim="800000"/>
            <a:headEnd/>
            <a:tailEnd/>
          </a:ln>
        </p:spPr>
        <p:txBody>
          <a:bodyPr wrap="none">
            <a:spAutoFit/>
          </a:bodyPr>
          <a:lstStyle/>
          <a:p>
            <a:pPr algn="ctr">
              <a:spcBef>
                <a:spcPct val="20000"/>
              </a:spcBef>
              <a:buClr>
                <a:schemeClr val="hlink"/>
              </a:buClr>
              <a:buSzPct val="55000"/>
              <a:buFont typeface="Wingdings" pitchFamily="2" charset="2"/>
              <a:buNone/>
            </a:pPr>
            <a:r>
              <a:rPr lang="zh-CN" altLang="en-US" sz="2800" b="1" dirty="0">
                <a:solidFill>
                  <a:srgbClr val="000000"/>
                </a:solidFill>
                <a:latin typeface="Times New Roman" pitchFamily="18" charset="0"/>
              </a:rPr>
              <a:t>其实质是</a:t>
            </a:r>
            <a:r>
              <a:rPr lang="zh-CN" altLang="en-US" sz="2800" b="1" dirty="0">
                <a:solidFill>
                  <a:srgbClr val="0070C0"/>
                </a:solidFill>
                <a:latin typeface="黑体" panose="02010609060101010101" pitchFamily="49" charset="-122"/>
                <a:ea typeface="黑体" panose="02010609060101010101" pitchFamily="49" charset="-122"/>
              </a:rPr>
              <a:t>对各期的相对数（或平均数）加权算术平均</a:t>
            </a:r>
            <a:r>
              <a:rPr lang="zh-CN" altLang="en-US" sz="2800" b="1" dirty="0" smtClean="0">
                <a:solidFill>
                  <a:srgbClr val="000000"/>
                </a:solidFill>
                <a:latin typeface="Times New Roman" pitchFamily="18" charset="0"/>
              </a:rPr>
              <a:t>！</a:t>
            </a:r>
            <a:endParaRPr lang="en-US" altLang="zh-CN" sz="2800" b="1" dirty="0" smtClean="0">
              <a:solidFill>
                <a:srgbClr val="000000"/>
              </a:solidFill>
              <a:latin typeface="Times New Roman" pitchFamily="18" charset="0"/>
            </a:endParaRPr>
          </a:p>
          <a:p>
            <a:pPr lvl="2" algn="r">
              <a:spcBef>
                <a:spcPct val="20000"/>
              </a:spcBef>
              <a:buClr>
                <a:schemeClr val="hlink"/>
              </a:buClr>
              <a:buSzPct val="55000"/>
              <a:buFont typeface="Wingdings" pitchFamily="2" charset="2"/>
              <a:buNone/>
            </a:pPr>
            <a:r>
              <a:rPr lang="zh-CN" altLang="en-US" sz="2400" dirty="0" smtClean="0">
                <a:solidFill>
                  <a:srgbClr val="000000"/>
                </a:solidFill>
                <a:latin typeface="Times New Roman" pitchFamily="18" charset="0"/>
              </a:rPr>
              <a:t>思考：权数？</a:t>
            </a:r>
            <a:endParaRPr lang="zh-CN" altLang="en-US" sz="2400" dirty="0">
              <a:solidFill>
                <a:srgbClr val="000000"/>
              </a:solidFill>
              <a:latin typeface="Times New Roman" pitchFamily="18" charset="0"/>
            </a:endParaRPr>
          </a:p>
        </p:txBody>
      </p:sp>
      <p:graphicFrame>
        <p:nvGraphicFramePr>
          <p:cNvPr id="401414" name="Object 6"/>
          <p:cNvGraphicFramePr>
            <a:graphicFrameLocks noChangeAspect="1"/>
          </p:cNvGraphicFramePr>
          <p:nvPr/>
        </p:nvGraphicFramePr>
        <p:xfrm>
          <a:off x="4787900" y="3473450"/>
          <a:ext cx="569913" cy="777875"/>
        </p:xfrm>
        <a:graphic>
          <a:graphicData uri="http://schemas.openxmlformats.org/presentationml/2006/ole">
            <mc:AlternateContent xmlns:mc="http://schemas.openxmlformats.org/markup-compatibility/2006">
              <mc:Choice xmlns:v="urn:schemas-microsoft-com:vml" Requires="v">
                <p:oleObj spid="_x0000_s221363" name="Equation" r:id="rId4" imgW="139680" imgH="190440" progId="Equation.DSMT4">
                  <p:embed/>
                </p:oleObj>
              </mc:Choice>
              <mc:Fallback>
                <p:oleObj name="Equation" r:id="rId4" imgW="139680" imgH="190440" progId="Equation.DSMT4">
                  <p:embed/>
                  <p:pic>
                    <p:nvPicPr>
                      <p:cNvPr id="401414"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87900" y="3473450"/>
                        <a:ext cx="569913" cy="777875"/>
                      </a:xfrm>
                      <a:prstGeom prst="rect">
                        <a:avLst/>
                      </a:prstGeom>
                      <a:solidFill>
                        <a:srgbClr val="00FFFF"/>
                      </a:solidFill>
                    </p:spPr>
                  </p:pic>
                </p:oleObj>
              </mc:Fallback>
            </mc:AlternateContent>
          </a:graphicData>
        </a:graphic>
      </p:graphicFrame>
      <p:graphicFrame>
        <p:nvGraphicFramePr>
          <p:cNvPr id="401415" name="Object 7"/>
          <p:cNvGraphicFramePr>
            <a:graphicFrameLocks noChangeAspect="1"/>
          </p:cNvGraphicFramePr>
          <p:nvPr>
            <p:extLst>
              <p:ext uri="{D42A27DB-BD31-4B8C-83A1-F6EECF244321}">
                <p14:modId xmlns:p14="http://schemas.microsoft.com/office/powerpoint/2010/main" val="1354441057"/>
              </p:ext>
            </p:extLst>
          </p:nvPr>
        </p:nvGraphicFramePr>
        <p:xfrm>
          <a:off x="4787900" y="4402137"/>
          <a:ext cx="569913" cy="676275"/>
        </p:xfrm>
        <a:graphic>
          <a:graphicData uri="http://schemas.openxmlformats.org/presentationml/2006/ole">
            <mc:AlternateContent xmlns:mc="http://schemas.openxmlformats.org/markup-compatibility/2006">
              <mc:Choice xmlns:v="urn:schemas-microsoft-com:vml" Requires="v">
                <p:oleObj spid="_x0000_s221364" name="Equation" r:id="rId6" imgW="139680" imgH="164880" progId="Equation.DSMT4">
                  <p:embed/>
                </p:oleObj>
              </mc:Choice>
              <mc:Fallback>
                <p:oleObj name="Equation" r:id="rId6" imgW="139680" imgH="164880" progId="Equation.DSMT4">
                  <p:embed/>
                  <p:pic>
                    <p:nvPicPr>
                      <p:cNvPr id="401415"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87900" y="4402137"/>
                        <a:ext cx="569913" cy="676275"/>
                      </a:xfrm>
                      <a:prstGeom prst="rect">
                        <a:avLst/>
                      </a:prstGeom>
                      <a:solidFill>
                        <a:srgbClr val="00FFFF"/>
                      </a:solidFill>
                    </p:spPr>
                  </p:pic>
                </p:oleObj>
              </mc:Fallback>
            </mc:AlternateContent>
          </a:graphicData>
        </a:graphic>
      </p:graphicFrame>
      <p:graphicFrame>
        <p:nvGraphicFramePr>
          <p:cNvPr id="401416" name="Object 8"/>
          <p:cNvGraphicFramePr>
            <a:graphicFrameLocks noChangeAspect="1"/>
          </p:cNvGraphicFramePr>
          <p:nvPr>
            <p:extLst>
              <p:ext uri="{D42A27DB-BD31-4B8C-83A1-F6EECF244321}">
                <p14:modId xmlns:p14="http://schemas.microsoft.com/office/powerpoint/2010/main" val="69553530"/>
              </p:ext>
            </p:extLst>
          </p:nvPr>
        </p:nvGraphicFramePr>
        <p:xfrm>
          <a:off x="3022773" y="3484613"/>
          <a:ext cx="2592388" cy="1787474"/>
        </p:xfrm>
        <a:graphic>
          <a:graphicData uri="http://schemas.openxmlformats.org/presentationml/2006/ole">
            <mc:AlternateContent xmlns:mc="http://schemas.openxmlformats.org/markup-compatibility/2006">
              <mc:Choice xmlns:v="urn:schemas-microsoft-com:vml" Requires="v">
                <p:oleObj spid="_x0000_s221365" name="公式" r:id="rId8" imgW="355292" imgH="355292" progId="Equation.3">
                  <p:embed/>
                </p:oleObj>
              </mc:Choice>
              <mc:Fallback>
                <p:oleObj name="公式" r:id="rId8" imgW="355292" imgH="355292" progId="Equation.3">
                  <p:embed/>
                  <p:pic>
                    <p:nvPicPr>
                      <p:cNvPr id="401416"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22773" y="3484613"/>
                        <a:ext cx="2592388" cy="1787474"/>
                      </a:xfrm>
                      <a:prstGeom prst="rect">
                        <a:avLst/>
                      </a:prstGeom>
                      <a:solidFill>
                        <a:srgbClr val="00FFFF"/>
                      </a:solidFill>
                      <a:ln w="28575">
                        <a:solidFill>
                          <a:schemeClr val="accent5"/>
                        </a:solidFill>
                        <a:miter lim="800000"/>
                        <a:headEnd/>
                        <a:tailEnd/>
                      </a:ln>
                    </p:spPr>
                  </p:pic>
                </p:oleObj>
              </mc:Fallback>
            </mc:AlternateContent>
          </a:graphicData>
        </a:graphic>
      </p:graphicFrame>
      <p:sp>
        <p:nvSpPr>
          <p:cNvPr id="8202" name="日期占位符 9"/>
          <p:cNvSpPr>
            <a:spLocks noGrp="1"/>
          </p:cNvSpPr>
          <p:nvPr>
            <p:ph type="dt" sz="quarter" idx="10"/>
          </p:nvPr>
        </p:nvSpPr>
        <p:spPr>
          <a:noFill/>
        </p:spPr>
        <p:txBody>
          <a:bodyPr/>
          <a:lstStyle/>
          <a:p>
            <a:endParaRPr lang="en-US" altLang="zh-CN" smtClean="0"/>
          </a:p>
        </p:txBody>
      </p:sp>
    </p:spTree>
    <p:extLst>
      <p:ext uri="{BB962C8B-B14F-4D97-AF65-F5344CB8AC3E}">
        <p14:creationId xmlns:p14="http://schemas.microsoft.com/office/powerpoint/2010/main" val="305230169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01411">
                                            <p:txEl>
                                              <p:pRg st="1" end="1"/>
                                            </p:txEl>
                                          </p:spTgt>
                                        </p:tgtEl>
                                        <p:attrNameLst>
                                          <p:attrName>style.visibility</p:attrName>
                                        </p:attrNameLst>
                                      </p:cBhvr>
                                      <p:to>
                                        <p:strVal val="visible"/>
                                      </p:to>
                                    </p:set>
                                    <p:animEffect transition="in" filter="blinds(horizontal)">
                                      <p:cBhvr>
                                        <p:cTn id="7" dur="500"/>
                                        <p:tgtEl>
                                          <p:spTgt spid="401411">
                                            <p:txEl>
                                              <p:pRg st="1" end="1"/>
                                            </p:txEl>
                                          </p:spTgt>
                                        </p:tgtEl>
                                      </p:cBhvr>
                                    </p:animEffect>
                                  </p:childTnLst>
                                </p:cTn>
                              </p:par>
                            </p:childTnLst>
                          </p:cTn>
                        </p:par>
                        <p:par>
                          <p:cTn id="8" fill="hold">
                            <p:stCondLst>
                              <p:cond delay="500"/>
                            </p:stCondLst>
                            <p:childTnLst>
                              <p:par>
                                <p:cTn id="9" presetID="2" presetClass="entr" presetSubtype="8" fill="hold" nodeType="afterEffect">
                                  <p:stCondLst>
                                    <p:cond delay="0"/>
                                  </p:stCondLst>
                                  <p:childTnLst>
                                    <p:set>
                                      <p:cBhvr>
                                        <p:cTn id="10" dur="1" fill="hold">
                                          <p:stCondLst>
                                            <p:cond delay="0"/>
                                          </p:stCondLst>
                                        </p:cTn>
                                        <p:tgtEl>
                                          <p:spTgt spid="401414"/>
                                        </p:tgtEl>
                                        <p:attrNameLst>
                                          <p:attrName>style.visibility</p:attrName>
                                        </p:attrNameLst>
                                      </p:cBhvr>
                                      <p:to>
                                        <p:strVal val="visible"/>
                                      </p:to>
                                    </p:set>
                                    <p:anim calcmode="lin" valueType="num">
                                      <p:cBhvr additive="base">
                                        <p:cTn id="11" dur="750" fill="hold"/>
                                        <p:tgtEl>
                                          <p:spTgt spid="401414"/>
                                        </p:tgtEl>
                                        <p:attrNameLst>
                                          <p:attrName>ppt_x</p:attrName>
                                        </p:attrNameLst>
                                      </p:cBhvr>
                                      <p:tavLst>
                                        <p:tav tm="0">
                                          <p:val>
                                            <p:strVal val="0-#ppt_w/2"/>
                                          </p:val>
                                        </p:tav>
                                        <p:tav tm="100000">
                                          <p:val>
                                            <p:strVal val="#ppt_x"/>
                                          </p:val>
                                        </p:tav>
                                      </p:tavLst>
                                    </p:anim>
                                    <p:anim calcmode="lin" valueType="num">
                                      <p:cBhvr additive="base">
                                        <p:cTn id="12" dur="750" fill="hold"/>
                                        <p:tgtEl>
                                          <p:spTgt spid="401414"/>
                                        </p:tgtEl>
                                        <p:attrNameLst>
                                          <p:attrName>ppt_y</p:attrName>
                                        </p:attrNameLst>
                                      </p:cBhvr>
                                      <p:tavLst>
                                        <p:tav tm="0">
                                          <p:val>
                                            <p:strVal val="#ppt_y"/>
                                          </p:val>
                                        </p:tav>
                                        <p:tav tm="100000">
                                          <p:val>
                                            <p:strVal val="#ppt_y"/>
                                          </p:val>
                                        </p:tav>
                                      </p:tavLst>
                                    </p:anim>
                                  </p:childTnLst>
                                </p:cTn>
                              </p:par>
                            </p:childTnLst>
                          </p:cTn>
                        </p:par>
                        <p:par>
                          <p:cTn id="13" fill="hold">
                            <p:stCondLst>
                              <p:cond delay="1250"/>
                            </p:stCondLst>
                            <p:childTnLst>
                              <p:par>
                                <p:cTn id="14" presetID="2" presetClass="entr" presetSubtype="8" fill="hold" nodeType="afterEffect">
                                  <p:stCondLst>
                                    <p:cond delay="0"/>
                                  </p:stCondLst>
                                  <p:childTnLst>
                                    <p:set>
                                      <p:cBhvr>
                                        <p:cTn id="15" dur="1" fill="hold">
                                          <p:stCondLst>
                                            <p:cond delay="0"/>
                                          </p:stCondLst>
                                        </p:cTn>
                                        <p:tgtEl>
                                          <p:spTgt spid="401415"/>
                                        </p:tgtEl>
                                        <p:attrNameLst>
                                          <p:attrName>style.visibility</p:attrName>
                                        </p:attrNameLst>
                                      </p:cBhvr>
                                      <p:to>
                                        <p:strVal val="visible"/>
                                      </p:to>
                                    </p:set>
                                    <p:anim calcmode="lin" valueType="num">
                                      <p:cBhvr additive="base">
                                        <p:cTn id="16" dur="500" fill="hold"/>
                                        <p:tgtEl>
                                          <p:spTgt spid="401415"/>
                                        </p:tgtEl>
                                        <p:attrNameLst>
                                          <p:attrName>ppt_x</p:attrName>
                                        </p:attrNameLst>
                                      </p:cBhvr>
                                      <p:tavLst>
                                        <p:tav tm="0">
                                          <p:val>
                                            <p:strVal val="0-#ppt_w/2"/>
                                          </p:val>
                                        </p:tav>
                                        <p:tav tm="100000">
                                          <p:val>
                                            <p:strVal val="#ppt_x"/>
                                          </p:val>
                                        </p:tav>
                                      </p:tavLst>
                                    </p:anim>
                                    <p:anim calcmode="lin" valueType="num">
                                      <p:cBhvr additive="base">
                                        <p:cTn id="17" dur="500" fill="hold"/>
                                        <p:tgtEl>
                                          <p:spTgt spid="401415"/>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01411">
                                            <p:txEl>
                                              <p:pRg st="2" end="2"/>
                                            </p:txEl>
                                          </p:spTgt>
                                        </p:tgtEl>
                                        <p:attrNameLst>
                                          <p:attrName>style.visibility</p:attrName>
                                        </p:attrNameLst>
                                      </p:cBhvr>
                                      <p:to>
                                        <p:strVal val="visible"/>
                                      </p:to>
                                    </p:set>
                                    <p:animEffect transition="in" filter="blinds(horizontal)">
                                      <p:cBhvr>
                                        <p:cTn id="22" dur="500"/>
                                        <p:tgtEl>
                                          <p:spTgt spid="401411">
                                            <p:txEl>
                                              <p:pRg st="2" end="2"/>
                                            </p:txEl>
                                          </p:spTgt>
                                        </p:tgtEl>
                                      </p:cBhvr>
                                    </p:animEffect>
                                  </p:childTnLst>
                                </p:cTn>
                              </p:par>
                            </p:childTnLst>
                          </p:cTn>
                        </p:par>
                        <p:par>
                          <p:cTn id="23" fill="hold">
                            <p:stCondLst>
                              <p:cond delay="500"/>
                            </p:stCondLst>
                            <p:childTnLst>
                              <p:par>
                                <p:cTn id="24" presetID="12" presetClass="entr" presetSubtype="2" fill="hold" nodeType="afterEffect">
                                  <p:stCondLst>
                                    <p:cond delay="0"/>
                                  </p:stCondLst>
                                  <p:childTnLst>
                                    <p:set>
                                      <p:cBhvr>
                                        <p:cTn id="25" dur="1" fill="hold">
                                          <p:stCondLst>
                                            <p:cond delay="0"/>
                                          </p:stCondLst>
                                        </p:cTn>
                                        <p:tgtEl>
                                          <p:spTgt spid="401416"/>
                                        </p:tgtEl>
                                        <p:attrNameLst>
                                          <p:attrName>style.visibility</p:attrName>
                                        </p:attrNameLst>
                                      </p:cBhvr>
                                      <p:to>
                                        <p:strVal val="visible"/>
                                      </p:to>
                                    </p:set>
                                    <p:animEffect transition="in" filter="slide(fromRight)">
                                      <p:cBhvr>
                                        <p:cTn id="26" dur="500"/>
                                        <p:tgtEl>
                                          <p:spTgt spid="401416"/>
                                        </p:tgtEl>
                                      </p:cBhvr>
                                    </p:animEffect>
                                  </p:childTnLst>
                                </p:cTn>
                              </p:par>
                            </p:childTnLst>
                          </p:cTn>
                        </p:par>
                      </p:childTnLst>
                    </p:cTn>
                  </p:par>
                  <p:par>
                    <p:cTn id="27" fill="hold">
                      <p:stCondLst>
                        <p:cond delay="indefinite"/>
                      </p:stCondLst>
                      <p:childTnLst>
                        <p:par>
                          <p:cTn id="28" fill="hold">
                            <p:stCondLst>
                              <p:cond delay="0"/>
                            </p:stCondLst>
                            <p:childTnLst>
                              <p:par>
                                <p:cTn id="29" presetID="27" presetClass="entr" presetSubtype="0" fill="hold" grpId="0" nodeType="clickEffect">
                                  <p:stCondLst>
                                    <p:cond delay="0"/>
                                  </p:stCondLst>
                                  <p:iterate type="lt">
                                    <p:tmPct val="50000"/>
                                  </p:iterate>
                                  <p:childTnLst>
                                    <p:set>
                                      <p:cBhvr>
                                        <p:cTn id="30" dur="1" fill="hold">
                                          <p:stCondLst>
                                            <p:cond delay="0"/>
                                          </p:stCondLst>
                                        </p:cTn>
                                        <p:tgtEl>
                                          <p:spTgt spid="401413"/>
                                        </p:tgtEl>
                                        <p:attrNameLst>
                                          <p:attrName>style.visibility</p:attrName>
                                        </p:attrNameLst>
                                      </p:cBhvr>
                                      <p:to>
                                        <p:strVal val="visible"/>
                                      </p:to>
                                    </p:set>
                                    <p:anim calcmode="discrete" valueType="clr">
                                      <p:cBhvr override="childStyle">
                                        <p:cTn id="31" dur="80"/>
                                        <p:tgtEl>
                                          <p:spTgt spid="401413"/>
                                        </p:tgtEl>
                                        <p:attrNameLst>
                                          <p:attrName>style.color</p:attrName>
                                        </p:attrNameLst>
                                      </p:cBhvr>
                                      <p:tavLst>
                                        <p:tav tm="0">
                                          <p:val>
                                            <p:clrVal>
                                              <a:schemeClr val="accent2"/>
                                            </p:clrVal>
                                          </p:val>
                                        </p:tav>
                                        <p:tav tm="50000">
                                          <p:val>
                                            <p:clrVal>
                                              <a:schemeClr val="hlink"/>
                                            </p:clrVal>
                                          </p:val>
                                        </p:tav>
                                      </p:tavLst>
                                    </p:anim>
                                    <p:anim calcmode="discrete" valueType="clr">
                                      <p:cBhvr>
                                        <p:cTn id="32" dur="80"/>
                                        <p:tgtEl>
                                          <p:spTgt spid="401413"/>
                                        </p:tgtEl>
                                        <p:attrNameLst>
                                          <p:attrName>fillcolor</p:attrName>
                                        </p:attrNameLst>
                                      </p:cBhvr>
                                      <p:tavLst>
                                        <p:tav tm="0">
                                          <p:val>
                                            <p:clrVal>
                                              <a:schemeClr val="accent2"/>
                                            </p:clrVal>
                                          </p:val>
                                        </p:tav>
                                        <p:tav tm="50000">
                                          <p:val>
                                            <p:clrVal>
                                              <a:schemeClr val="hlink"/>
                                            </p:clrVal>
                                          </p:val>
                                        </p:tav>
                                      </p:tavLst>
                                    </p:anim>
                                    <p:set>
                                      <p:cBhvr>
                                        <p:cTn id="33" dur="80"/>
                                        <p:tgtEl>
                                          <p:spTgt spid="401413"/>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1411" grpId="0" uiExpand="1" build="p"/>
      <p:bldP spid="40141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Grp="1" noChangeArrowheads="1"/>
          </p:cNvSpPr>
          <p:nvPr>
            <p:ph type="title"/>
          </p:nvPr>
        </p:nvSpPr>
        <p:spPr>
          <a:xfrm>
            <a:off x="1785938" y="571500"/>
            <a:ext cx="5410200" cy="762000"/>
          </a:xfrm>
        </p:spPr>
        <p:txBody>
          <a:bodyPr lIns="90488" tIns="44450" rIns="90488" bIns="44450" anchor="ctr" anchorCtr="1"/>
          <a:lstStyle/>
          <a:p>
            <a:pPr eaLnBrk="1" hangingPunct="1"/>
            <a:r>
              <a:rPr kumimoji="1" lang="en-US" altLang="zh-CN" sz="4000" smtClean="0">
                <a:solidFill>
                  <a:schemeClr val="tx1"/>
                </a:solidFill>
                <a:sym typeface="Wingdings 2" pitchFamily="18" charset="2"/>
              </a:rPr>
              <a:t>【</a:t>
            </a:r>
            <a:r>
              <a:rPr lang="zh-CN" altLang="en-US" sz="4000" smtClean="0"/>
              <a:t>例</a:t>
            </a:r>
            <a:r>
              <a:rPr lang="en-US" altLang="zh-CN" sz="4000" smtClean="0"/>
              <a:t>4-4</a:t>
            </a:r>
            <a:r>
              <a:rPr kumimoji="1" lang="en-US" altLang="zh-CN" sz="4000" smtClean="0">
                <a:solidFill>
                  <a:schemeClr val="tx1"/>
                </a:solidFill>
                <a:sym typeface="Wingdings 2" pitchFamily="18" charset="2"/>
              </a:rPr>
              <a:t>】</a:t>
            </a:r>
          </a:p>
        </p:txBody>
      </p:sp>
      <p:sp>
        <p:nvSpPr>
          <p:cNvPr id="9221" name="Text Box 3"/>
          <p:cNvSpPr txBox="1">
            <a:spLocks noChangeArrowheads="1"/>
          </p:cNvSpPr>
          <p:nvPr/>
        </p:nvSpPr>
        <p:spPr bwMode="auto">
          <a:xfrm>
            <a:off x="428596" y="1285860"/>
            <a:ext cx="8215312" cy="2012859"/>
          </a:xfrm>
          <a:prstGeom prst="rect">
            <a:avLst/>
          </a:prstGeom>
          <a:noFill/>
          <a:ln w="12700">
            <a:solidFill>
              <a:schemeClr val="tx2"/>
            </a:solidFill>
            <a:miter lim="800000"/>
            <a:headEnd/>
            <a:tailEnd/>
          </a:ln>
        </p:spPr>
        <p:txBody>
          <a:bodyPr>
            <a:spAutoFit/>
          </a:bodyPr>
          <a:lstStyle/>
          <a:p>
            <a:pPr>
              <a:lnSpc>
                <a:spcPct val="130000"/>
              </a:lnSpc>
            </a:pPr>
            <a:r>
              <a:rPr lang="en-US" sz="3200" dirty="0"/>
              <a:t>2001</a:t>
            </a:r>
            <a:r>
              <a:rPr lang="zh-CN" altLang="en-US" sz="3200" dirty="0"/>
              <a:t>～</a:t>
            </a:r>
            <a:r>
              <a:rPr lang="en-US" sz="3200" dirty="0" smtClean="0"/>
              <a:t>2022</a:t>
            </a:r>
            <a:r>
              <a:rPr lang="zh-CN" altLang="en-US" sz="3200" b="1" dirty="0" smtClean="0"/>
              <a:t>年平均</a:t>
            </a:r>
            <a:r>
              <a:rPr lang="zh-CN" altLang="en-US" sz="3200" b="1" dirty="0"/>
              <a:t>国内生产总值</a:t>
            </a:r>
            <a:r>
              <a:rPr lang="zh-CN" altLang="en-US" sz="3200" dirty="0" smtClean="0"/>
              <a:t>为</a:t>
            </a:r>
            <a:r>
              <a:rPr lang="en-US" sz="3200" b="1" dirty="0" smtClean="0"/>
              <a:t>549687.5</a:t>
            </a:r>
            <a:r>
              <a:rPr lang="zh-CN" altLang="en-US" sz="3200" dirty="0" smtClean="0"/>
              <a:t>亿</a:t>
            </a:r>
            <a:r>
              <a:rPr lang="zh-CN" altLang="en-US" sz="3200" dirty="0"/>
              <a:t>元</a:t>
            </a:r>
            <a:r>
              <a:rPr lang="zh-CN" altLang="en-US" sz="3200" dirty="0" smtClean="0"/>
              <a:t>，</a:t>
            </a:r>
            <a:r>
              <a:rPr lang="zh-CN" altLang="en-US" sz="3200" b="1" dirty="0" smtClean="0"/>
              <a:t>平均人口数</a:t>
            </a:r>
            <a:r>
              <a:rPr lang="zh-CN" altLang="en-US" sz="3200" b="1" dirty="0" smtClean="0"/>
              <a:t>为</a:t>
            </a:r>
            <a:r>
              <a:rPr lang="en-US" sz="3200" b="1" dirty="0" smtClean="0"/>
              <a:t>135037.7</a:t>
            </a:r>
            <a:r>
              <a:rPr lang="zh-CN" altLang="en-US" sz="3200" dirty="0" smtClean="0"/>
              <a:t>万</a:t>
            </a:r>
            <a:r>
              <a:rPr lang="zh-CN" altLang="en-US" sz="3200" dirty="0" smtClean="0"/>
              <a:t>人，故</a:t>
            </a:r>
            <a:r>
              <a:rPr lang="zh-CN" altLang="en-US" sz="3200" dirty="0" smtClean="0"/>
              <a:t>这</a:t>
            </a:r>
            <a:r>
              <a:rPr lang="en-US" sz="3200" dirty="0" smtClean="0"/>
              <a:t>22</a:t>
            </a:r>
            <a:r>
              <a:rPr lang="zh-CN" altLang="en-US" sz="3200" dirty="0" smtClean="0"/>
              <a:t>年</a:t>
            </a:r>
            <a:r>
              <a:rPr lang="zh-CN" altLang="en-US" sz="3200" dirty="0"/>
              <a:t>间的</a:t>
            </a:r>
            <a:r>
              <a:rPr lang="zh-CN" altLang="en-US" sz="3200" b="1" dirty="0">
                <a:solidFill>
                  <a:srgbClr val="3333FF"/>
                </a:solidFill>
              </a:rPr>
              <a:t>人均国内生产总值的年平均水平</a:t>
            </a:r>
            <a:r>
              <a:rPr lang="zh-CN" altLang="en-US" sz="3200" dirty="0"/>
              <a:t>为</a:t>
            </a:r>
            <a:r>
              <a:rPr lang="zh-CN" altLang="en-US" sz="3200" dirty="0" smtClean="0"/>
              <a:t>：</a:t>
            </a:r>
            <a:endParaRPr lang="zh-CN" altLang="en-US" sz="3200" dirty="0"/>
          </a:p>
        </p:txBody>
      </p:sp>
      <p:sp>
        <p:nvSpPr>
          <p:cNvPr id="9222" name="Rectangle 7"/>
          <p:cNvSpPr>
            <a:spLocks noChangeArrowheads="1"/>
          </p:cNvSpPr>
          <p:nvPr/>
        </p:nvSpPr>
        <p:spPr bwMode="auto">
          <a:xfrm>
            <a:off x="0" y="3243263"/>
            <a:ext cx="9144000" cy="0"/>
          </a:xfrm>
          <a:prstGeom prst="rect">
            <a:avLst/>
          </a:prstGeom>
          <a:noFill/>
          <a:ln w="9525">
            <a:noFill/>
            <a:miter lim="800000"/>
            <a:headEnd/>
            <a:tailEnd/>
          </a:ln>
        </p:spPr>
        <p:txBody>
          <a:bodyPr wrap="none" anchor="ctr">
            <a:spAutoFit/>
          </a:bodyPr>
          <a:lstStyle/>
          <a:p>
            <a:endParaRPr lang="zh-CN" altLang="en-US"/>
          </a:p>
        </p:txBody>
      </p:sp>
      <p:sp>
        <p:nvSpPr>
          <p:cNvPr id="9226" name="Rectangle 10"/>
          <p:cNvSpPr>
            <a:spLocks noChangeArrowheads="1"/>
          </p:cNvSpPr>
          <p:nvPr/>
        </p:nvSpPr>
        <p:spPr bwMode="auto">
          <a:xfrm>
            <a:off x="0" y="0"/>
            <a:ext cx="9144000" cy="0"/>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sp>
        <p:nvSpPr>
          <p:cNvPr id="9224" name="日期占位符 7"/>
          <p:cNvSpPr>
            <a:spLocks noGrp="1"/>
          </p:cNvSpPr>
          <p:nvPr>
            <p:ph type="dt" sz="quarter" idx="10"/>
          </p:nvPr>
        </p:nvSpPr>
        <p:spPr>
          <a:noFill/>
        </p:spPr>
        <p:txBody>
          <a:bodyPr/>
          <a:lstStyle/>
          <a:p>
            <a:endParaRPr lang="en-US" altLang="zh-CN" smtClean="0"/>
          </a:p>
        </p:txBody>
      </p:sp>
      <p:sp>
        <p:nvSpPr>
          <p:cNvPr id="2" name="Rectangle 10"/>
          <p:cNvSpPr>
            <a:spLocks noChangeArrowheads="1"/>
          </p:cNvSpPr>
          <p:nvPr/>
        </p:nvSpPr>
        <p:spPr bwMode="auto">
          <a:xfrm>
            <a:off x="0" y="0"/>
            <a:ext cx="9144000" cy="0"/>
          </a:xfrm>
          <a:prstGeom prst="rect">
            <a:avLst/>
          </a:prstGeom>
          <a:noFill/>
          <a:ln w="9525">
            <a:noFill/>
            <a:miter lim="800000"/>
            <a:headEnd/>
            <a:tailEnd/>
          </a:ln>
          <a:effectLst>
            <a:prstShdw prst="shdw17" dist="17961" dir="2700000">
              <a:schemeClr val="accent1">
                <a:gamma/>
                <a:shade val="60000"/>
                <a:invGamma/>
              </a:schemeClr>
            </a:prstShdw>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9225" name="Object 9"/>
          <p:cNvGraphicFramePr>
            <a:graphicFrameLocks noChangeAspect="1"/>
          </p:cNvGraphicFramePr>
          <p:nvPr>
            <p:extLst>
              <p:ext uri="{D42A27DB-BD31-4B8C-83A1-F6EECF244321}">
                <p14:modId xmlns:p14="http://schemas.microsoft.com/office/powerpoint/2010/main" val="4166869785"/>
              </p:ext>
            </p:extLst>
          </p:nvPr>
        </p:nvGraphicFramePr>
        <p:xfrm>
          <a:off x="450835" y="3688943"/>
          <a:ext cx="8352928" cy="1095950"/>
        </p:xfrm>
        <a:graphic>
          <a:graphicData uri="http://schemas.openxmlformats.org/presentationml/2006/ole">
            <mc:AlternateContent xmlns:mc="http://schemas.openxmlformats.org/markup-compatibility/2006">
              <mc:Choice xmlns:v="urn:schemas-microsoft-com:vml" Requires="v">
                <p:oleObj spid="_x0000_s9330" name="公式" r:id="rId4" imgW="3263760" imgH="419040" progId="Equation.3">
                  <p:embed/>
                </p:oleObj>
              </mc:Choice>
              <mc:Fallback>
                <p:oleObj name="公式" r:id="rId4" imgW="3263760" imgH="419040" progId="Equation.3">
                  <p:embed/>
                  <p:pic>
                    <p:nvPicPr>
                      <p:cNvPr id="0" name="Picture 9"/>
                      <p:cNvPicPr>
                        <a:picLocks noChangeAspect="1" noChangeArrowheads="1"/>
                      </p:cNvPicPr>
                      <p:nvPr/>
                    </p:nvPicPr>
                    <p:blipFill>
                      <a:blip r:embed="rId5"/>
                      <a:srcRect/>
                      <a:stretch>
                        <a:fillRect/>
                      </a:stretch>
                    </p:blipFill>
                    <p:spPr bwMode="auto">
                      <a:xfrm>
                        <a:off x="450835" y="3688943"/>
                        <a:ext cx="8352928" cy="1095950"/>
                      </a:xfrm>
                      <a:prstGeom prst="rect">
                        <a:avLst/>
                      </a:prstGeom>
                      <a:noFill/>
                      <a:extLst/>
                    </p:spPr>
                  </p:pic>
                </p:oleObj>
              </mc:Fallback>
            </mc:AlternateContent>
          </a:graphicData>
        </a:graphic>
      </p:graphicFrame>
      <p:sp>
        <p:nvSpPr>
          <p:cNvPr id="11" name="矩形 10"/>
          <p:cNvSpPr/>
          <p:nvPr/>
        </p:nvSpPr>
        <p:spPr>
          <a:xfrm>
            <a:off x="665163" y="5256122"/>
            <a:ext cx="8001056" cy="954107"/>
          </a:xfrm>
          <a:prstGeom prst="rect">
            <a:avLst/>
          </a:prstGeom>
        </p:spPr>
        <p:txBody>
          <a:bodyPr wrap="square">
            <a:spAutoFit/>
          </a:bodyPr>
          <a:lstStyle/>
          <a:p>
            <a:r>
              <a:rPr lang="zh-CN" altLang="en-US" sz="2800" b="1" dirty="0" smtClean="0">
                <a:solidFill>
                  <a:srgbClr val="002060"/>
                </a:solidFill>
              </a:rPr>
              <a:t>实质上等同</a:t>
            </a:r>
            <a:r>
              <a:rPr lang="zh-CN" altLang="en-US" sz="2800" b="1" dirty="0">
                <a:solidFill>
                  <a:srgbClr val="002060"/>
                </a:solidFill>
              </a:rPr>
              <a:t>于对各年的人均国内生产总值进行加权算术平均，权数为</a:t>
            </a:r>
            <a:r>
              <a:rPr lang="zh-CN" altLang="en-US" sz="2800" b="1" dirty="0">
                <a:solidFill>
                  <a:srgbClr val="0070C0"/>
                </a:solidFill>
                <a:latin typeface="黑体" panose="02010609060101010101" pitchFamily="49" charset="-122"/>
                <a:ea typeface="黑体" panose="02010609060101010101" pitchFamily="49" charset="-122"/>
              </a:rPr>
              <a:t>各年的平均人口数</a:t>
            </a:r>
            <a:r>
              <a:rPr lang="zh-CN" altLang="en-US" sz="2800" b="1" dirty="0">
                <a:solidFill>
                  <a:srgbClr val="002060"/>
                </a:solidFill>
              </a:rPr>
              <a:t>。</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750" fill="hold"/>
                                        <p:tgtEl>
                                          <p:spTgt spid="11"/>
                                        </p:tgtEl>
                                        <p:attrNameLst>
                                          <p:attrName>ppt_x</p:attrName>
                                        </p:attrNameLst>
                                      </p:cBhvr>
                                      <p:tavLst>
                                        <p:tav tm="0">
                                          <p:val>
                                            <p:strVal val="#ppt_x"/>
                                          </p:val>
                                        </p:tav>
                                        <p:tav tm="100000">
                                          <p:val>
                                            <p:strVal val="#ppt_x"/>
                                          </p:val>
                                        </p:tav>
                                      </p:tavLst>
                                    </p:anim>
                                    <p:anim calcmode="lin" valueType="num">
                                      <p:cBhvr additive="base">
                                        <p:cTn id="8" dur="75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p:cNvSpPr>
            <a:spLocks noGrp="1" noChangeArrowheads="1"/>
          </p:cNvSpPr>
          <p:nvPr>
            <p:ph type="title"/>
          </p:nvPr>
        </p:nvSpPr>
        <p:spPr/>
        <p:txBody>
          <a:bodyPr/>
          <a:lstStyle/>
          <a:p>
            <a:pPr eaLnBrk="1" hangingPunct="1"/>
            <a:r>
              <a:rPr lang="zh-CN" altLang="en-US" sz="4000" smtClean="0"/>
              <a:t>序时平均数的计算（小结）</a:t>
            </a:r>
          </a:p>
        </p:txBody>
      </p:sp>
      <p:sp>
        <p:nvSpPr>
          <p:cNvPr id="12293" name="日期占位符 4"/>
          <p:cNvSpPr>
            <a:spLocks noGrp="1"/>
          </p:cNvSpPr>
          <p:nvPr>
            <p:ph type="dt" sz="quarter" idx="10"/>
          </p:nvPr>
        </p:nvSpPr>
        <p:spPr>
          <a:noFill/>
        </p:spPr>
        <p:txBody>
          <a:bodyPr/>
          <a:lstStyle/>
          <a:p>
            <a:endParaRPr lang="en-US" altLang="zh-CN" smtClean="0"/>
          </a:p>
        </p:txBody>
      </p:sp>
      <p:pic>
        <p:nvPicPr>
          <p:cNvPr id="3" name="图片 2"/>
          <p:cNvPicPr>
            <a:picLocks noChangeAspect="1"/>
          </p:cNvPicPr>
          <p:nvPr/>
        </p:nvPicPr>
        <p:blipFill>
          <a:blip r:embed="rId2"/>
          <a:stretch>
            <a:fillRect/>
          </a:stretch>
        </p:blipFill>
        <p:spPr>
          <a:xfrm>
            <a:off x="262457" y="1340768"/>
            <a:ext cx="8702031" cy="4608512"/>
          </a:xfrm>
          <a:prstGeom prst="rect">
            <a:avLst/>
          </a:prstGeom>
        </p:spPr>
      </p:pic>
    </p:spTree>
  </p:cSld>
  <p:clrMapOvr>
    <a:masterClrMapping/>
  </p:clrMapOvr>
  <p:transition spd="slow"/>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2"/>
          <p:cNvSpPr>
            <a:spLocks noGrp="1" noChangeArrowheads="1"/>
          </p:cNvSpPr>
          <p:nvPr>
            <p:ph type="title"/>
          </p:nvPr>
        </p:nvSpPr>
        <p:spPr/>
        <p:txBody>
          <a:bodyPr/>
          <a:lstStyle/>
          <a:p>
            <a:pPr eaLnBrk="1" hangingPunct="1"/>
            <a:r>
              <a:rPr lang="en-US" altLang="zh-CN" dirty="0" smtClean="0"/>
              <a:t>【</a:t>
            </a:r>
            <a:r>
              <a:rPr lang="zh-CN" altLang="en-US" dirty="0" smtClean="0"/>
              <a:t>附</a:t>
            </a:r>
            <a:r>
              <a:rPr lang="en-US" altLang="zh-CN" dirty="0" smtClean="0"/>
              <a:t>】</a:t>
            </a:r>
            <a:r>
              <a:rPr lang="zh-CN" altLang="en-US" dirty="0" smtClean="0"/>
              <a:t>加权平均</a:t>
            </a:r>
            <a:r>
              <a:rPr lang="zh-CN" altLang="en-US" dirty="0" smtClean="0"/>
              <a:t>净资产收益率</a:t>
            </a:r>
          </a:p>
        </p:txBody>
      </p:sp>
      <p:sp>
        <p:nvSpPr>
          <p:cNvPr id="432131" name="Rectangle 3"/>
          <p:cNvSpPr>
            <a:spLocks noGrp="1" noChangeArrowheads="1"/>
          </p:cNvSpPr>
          <p:nvPr>
            <p:ph type="body" idx="1"/>
          </p:nvPr>
        </p:nvSpPr>
        <p:spPr>
          <a:xfrm>
            <a:off x="539750" y="1340768"/>
            <a:ext cx="7772400" cy="5445125"/>
          </a:xfrm>
        </p:spPr>
        <p:txBody>
          <a:bodyPr/>
          <a:lstStyle/>
          <a:p>
            <a:pPr eaLnBrk="1" hangingPunct="1">
              <a:lnSpc>
                <a:spcPct val="95000"/>
              </a:lnSpc>
              <a:spcBef>
                <a:spcPct val="25000"/>
              </a:spcBef>
            </a:pPr>
            <a:r>
              <a:rPr lang="zh-CN" altLang="en-US" sz="2400" dirty="0" smtClean="0">
                <a:solidFill>
                  <a:srgbClr val="000000"/>
                </a:solidFill>
              </a:rPr>
              <a:t>某公司某一年度的</a:t>
            </a:r>
          </a:p>
          <a:p>
            <a:pPr eaLnBrk="1" hangingPunct="1">
              <a:lnSpc>
                <a:spcPct val="95000"/>
              </a:lnSpc>
              <a:spcBef>
                <a:spcPct val="25000"/>
              </a:spcBef>
            </a:pPr>
            <a:endParaRPr lang="zh-CN" altLang="en-US" sz="2000" b="0" dirty="0" smtClean="0">
              <a:solidFill>
                <a:srgbClr val="000000"/>
              </a:solidFill>
            </a:endParaRPr>
          </a:p>
          <a:p>
            <a:pPr eaLnBrk="1" hangingPunct="1">
              <a:lnSpc>
                <a:spcPct val="95000"/>
              </a:lnSpc>
              <a:spcBef>
                <a:spcPct val="25000"/>
              </a:spcBef>
            </a:pPr>
            <a:endParaRPr lang="zh-CN" altLang="en-US" sz="2800" dirty="0" smtClean="0"/>
          </a:p>
          <a:p>
            <a:pPr eaLnBrk="1" hangingPunct="1">
              <a:lnSpc>
                <a:spcPct val="95000"/>
              </a:lnSpc>
              <a:spcBef>
                <a:spcPct val="25000"/>
              </a:spcBef>
            </a:pPr>
            <a:endParaRPr lang="zh-CN" altLang="en-US" sz="2800" dirty="0" smtClean="0"/>
          </a:p>
          <a:p>
            <a:pPr eaLnBrk="1" hangingPunct="1">
              <a:lnSpc>
                <a:spcPct val="95000"/>
              </a:lnSpc>
              <a:spcBef>
                <a:spcPct val="25000"/>
              </a:spcBef>
            </a:pPr>
            <a:r>
              <a:rPr lang="zh-CN" altLang="en-US" sz="2800" dirty="0" smtClean="0"/>
              <a:t>式中，</a:t>
            </a:r>
          </a:p>
          <a:p>
            <a:pPr lvl="1" eaLnBrk="1" hangingPunct="1">
              <a:lnSpc>
                <a:spcPct val="95000"/>
              </a:lnSpc>
              <a:spcBef>
                <a:spcPct val="25000"/>
              </a:spcBef>
            </a:pPr>
            <a:r>
              <a:rPr lang="en-US" altLang="zh-CN" sz="2400" i="1" dirty="0" smtClean="0">
                <a:latin typeface="Times New Roman" pitchFamily="18" charset="0"/>
              </a:rPr>
              <a:t>E</a:t>
            </a:r>
            <a:r>
              <a:rPr lang="en-US" altLang="zh-CN" sz="2400" dirty="0" smtClean="0"/>
              <a:t>=</a:t>
            </a:r>
            <a:r>
              <a:rPr lang="zh-CN" altLang="en-US" sz="2400" dirty="0" smtClean="0"/>
              <a:t>当期净利润；</a:t>
            </a:r>
            <a:endParaRPr lang="zh-CN" altLang="en-US" sz="2400" i="1" dirty="0" smtClean="0"/>
          </a:p>
          <a:p>
            <a:pPr lvl="1" eaLnBrk="1" hangingPunct="1">
              <a:lnSpc>
                <a:spcPct val="95000"/>
              </a:lnSpc>
              <a:spcBef>
                <a:spcPct val="25000"/>
              </a:spcBef>
            </a:pPr>
            <a:r>
              <a:rPr lang="en-US" altLang="zh-CN" sz="2400" i="1" dirty="0" smtClean="0">
                <a:latin typeface="Times New Roman" pitchFamily="18" charset="0"/>
              </a:rPr>
              <a:t>NA</a:t>
            </a:r>
            <a:r>
              <a:rPr lang="zh-CN" altLang="en-US" sz="2400" baseline="-25000" dirty="0" smtClean="0">
                <a:latin typeface="Times New Roman" pitchFamily="18" charset="0"/>
              </a:rPr>
              <a:t>初</a:t>
            </a:r>
            <a:r>
              <a:rPr lang="en-US" altLang="zh-CN" sz="2400" i="1" dirty="0" smtClean="0">
                <a:latin typeface="Times New Roman" pitchFamily="18" charset="0"/>
              </a:rPr>
              <a:t>,NA</a:t>
            </a:r>
            <a:r>
              <a:rPr lang="zh-CN" altLang="en-US" sz="2400" baseline="-25000" dirty="0" smtClean="0">
                <a:latin typeface="Times New Roman" pitchFamily="18" charset="0"/>
              </a:rPr>
              <a:t>末</a:t>
            </a:r>
            <a:r>
              <a:rPr lang="zh-CN" altLang="en-US" sz="2400" dirty="0" smtClean="0">
                <a:latin typeface="Times New Roman" pitchFamily="18" charset="0"/>
              </a:rPr>
              <a:t>＝期初、期末的净资产</a:t>
            </a:r>
            <a:r>
              <a:rPr lang="zh-CN" altLang="en-US" sz="2400" i="1" dirty="0" smtClean="0">
                <a:latin typeface="Times New Roman" pitchFamily="18" charset="0"/>
              </a:rPr>
              <a:t>，</a:t>
            </a:r>
          </a:p>
          <a:p>
            <a:pPr lvl="1" eaLnBrk="1" hangingPunct="1">
              <a:lnSpc>
                <a:spcPct val="95000"/>
              </a:lnSpc>
              <a:spcBef>
                <a:spcPct val="25000"/>
              </a:spcBef>
            </a:pPr>
            <a:r>
              <a:rPr lang="en-US" altLang="zh-CN" sz="2400" i="1" dirty="0" smtClean="0">
                <a:latin typeface="Times New Roman" pitchFamily="18" charset="0"/>
              </a:rPr>
              <a:t>RI=</a:t>
            </a:r>
            <a:r>
              <a:rPr lang="zh-CN" altLang="en-US" sz="2400" dirty="0" smtClean="0">
                <a:latin typeface="Times New Roman" pitchFamily="18" charset="0"/>
              </a:rPr>
              <a:t>当期发行新股或配股新增净资产</a:t>
            </a:r>
            <a:r>
              <a:rPr lang="zh-CN" altLang="en-US" sz="2400" i="1" dirty="0" smtClean="0">
                <a:latin typeface="Times New Roman" pitchFamily="18" charset="0"/>
              </a:rPr>
              <a:t>；</a:t>
            </a:r>
          </a:p>
          <a:p>
            <a:pPr lvl="1" eaLnBrk="1" hangingPunct="1">
              <a:lnSpc>
                <a:spcPct val="95000"/>
              </a:lnSpc>
              <a:spcBef>
                <a:spcPct val="25000"/>
              </a:spcBef>
            </a:pPr>
            <a:r>
              <a:rPr lang="en-US" altLang="zh-CN" sz="2400" i="1" dirty="0" smtClean="0">
                <a:latin typeface="Times New Roman" pitchFamily="18" charset="0"/>
              </a:rPr>
              <a:t>M</a:t>
            </a:r>
            <a:r>
              <a:rPr lang="zh-CN" altLang="en-US" sz="2400" i="1" dirty="0" smtClean="0">
                <a:latin typeface="Times New Roman" pitchFamily="18" charset="0"/>
              </a:rPr>
              <a:t>＝</a:t>
            </a:r>
            <a:r>
              <a:rPr lang="zh-CN" altLang="en-US" sz="2400" dirty="0" smtClean="0"/>
              <a:t>自缴款结束日下一月份至报告期末的月份数</a:t>
            </a:r>
          </a:p>
          <a:p>
            <a:pPr eaLnBrk="1" hangingPunct="1">
              <a:lnSpc>
                <a:spcPct val="95000"/>
              </a:lnSpc>
              <a:spcBef>
                <a:spcPct val="25000"/>
              </a:spcBef>
            </a:pPr>
            <a:r>
              <a:rPr lang="zh-CN" altLang="en-US" sz="2800" dirty="0" smtClean="0">
                <a:solidFill>
                  <a:srgbClr val="0070C0"/>
                </a:solidFill>
              </a:rPr>
              <a:t>问题：</a:t>
            </a:r>
            <a:r>
              <a:rPr lang="zh-CN" altLang="en-US" sz="2400" dirty="0" smtClean="0">
                <a:solidFill>
                  <a:schemeClr val="tx2"/>
                </a:solidFill>
              </a:rPr>
              <a:t>已知各年的加权平均净资产收益率，</a:t>
            </a:r>
            <a:r>
              <a:rPr lang="zh-CN" altLang="en-US" sz="2400" dirty="0" smtClean="0">
                <a:solidFill>
                  <a:schemeClr val="tx2"/>
                </a:solidFill>
              </a:rPr>
              <a:t>如何计算这几年的加权平均</a:t>
            </a:r>
            <a:r>
              <a:rPr lang="zh-CN" altLang="en-US" sz="2400" dirty="0" smtClean="0">
                <a:solidFill>
                  <a:schemeClr val="tx2"/>
                </a:solidFill>
              </a:rPr>
              <a:t>净资产收益率？</a:t>
            </a:r>
          </a:p>
        </p:txBody>
      </p:sp>
      <p:sp>
        <p:nvSpPr>
          <p:cNvPr id="10246" name="Rectangle 4"/>
          <p:cNvSpPr>
            <a:spLocks noChangeArrowheads="1"/>
          </p:cNvSpPr>
          <p:nvPr/>
        </p:nvSpPr>
        <p:spPr bwMode="auto">
          <a:xfrm>
            <a:off x="0" y="302895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0242" name="Object 5"/>
          <p:cNvGraphicFramePr>
            <a:graphicFrameLocks noChangeAspect="1"/>
          </p:cNvGraphicFramePr>
          <p:nvPr>
            <p:extLst>
              <p:ext uri="{D42A27DB-BD31-4B8C-83A1-F6EECF244321}">
                <p14:modId xmlns:p14="http://schemas.microsoft.com/office/powerpoint/2010/main" val="3967397553"/>
              </p:ext>
            </p:extLst>
          </p:nvPr>
        </p:nvGraphicFramePr>
        <p:xfrm>
          <a:off x="467544" y="1844675"/>
          <a:ext cx="8580437" cy="1331913"/>
        </p:xfrm>
        <a:graphic>
          <a:graphicData uri="http://schemas.openxmlformats.org/presentationml/2006/ole">
            <mc:AlternateContent xmlns:mc="http://schemas.openxmlformats.org/markup-compatibility/2006">
              <mc:Choice xmlns:v="urn:schemas-microsoft-com:vml" Requires="v">
                <p:oleObj spid="_x0000_s10348" name="公式" r:id="rId3" imgW="3848040" imgH="596880" progId="Equation.3">
                  <p:embed/>
                </p:oleObj>
              </mc:Choice>
              <mc:Fallback>
                <p:oleObj name="公式" r:id="rId3" imgW="3848040" imgH="59688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44" y="1844675"/>
                        <a:ext cx="8580437" cy="1331913"/>
                      </a:xfrm>
                      <a:prstGeom prst="rect">
                        <a:avLst/>
                      </a:prstGeom>
                      <a:solidFill>
                        <a:schemeClr val="accent1">
                          <a:lumMod val="40000"/>
                          <a:lumOff val="60000"/>
                        </a:schemeClr>
                      </a:solidFill>
                    </p:spPr>
                  </p:pic>
                </p:oleObj>
              </mc:Fallback>
            </mc:AlternateContent>
          </a:graphicData>
        </a:graphic>
      </p:graphicFrame>
      <p:sp>
        <p:nvSpPr>
          <p:cNvPr id="10247" name="Text Box 6"/>
          <p:cNvSpPr txBox="1">
            <a:spLocks noChangeArrowheads="1"/>
          </p:cNvSpPr>
          <p:nvPr/>
        </p:nvSpPr>
        <p:spPr bwMode="auto">
          <a:xfrm>
            <a:off x="179388" y="5734050"/>
            <a:ext cx="360362" cy="519113"/>
          </a:xfrm>
          <a:prstGeom prst="rect">
            <a:avLst/>
          </a:prstGeom>
          <a:solidFill>
            <a:schemeClr val="accent1"/>
          </a:solidFill>
          <a:ln w="9525">
            <a:noFill/>
            <a:miter lim="800000"/>
            <a:headEnd/>
            <a:tailEnd/>
          </a:ln>
        </p:spPr>
        <p:txBody>
          <a:bodyPr>
            <a:spAutoFit/>
          </a:bodyPr>
          <a:lstStyle/>
          <a:p>
            <a:pPr>
              <a:spcBef>
                <a:spcPct val="50000"/>
              </a:spcBef>
            </a:pPr>
            <a:r>
              <a:rPr lang="zh-CN" altLang="en-US" sz="2800" b="1"/>
              <a:t>？</a:t>
            </a:r>
          </a:p>
        </p:txBody>
      </p:sp>
      <p:sp>
        <p:nvSpPr>
          <p:cNvPr id="10248" name="日期占位符 7"/>
          <p:cNvSpPr>
            <a:spLocks noGrp="1"/>
          </p:cNvSpPr>
          <p:nvPr>
            <p:ph type="dt" sz="quarter" idx="10"/>
          </p:nvPr>
        </p:nvSpPr>
        <p:spPr>
          <a:noFill/>
        </p:spPr>
        <p:txBody>
          <a:bodyPr/>
          <a:lstStyle/>
          <a:p>
            <a:endParaRPr lang="en-US" altLang="zh-CN"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432131">
                                            <p:txEl>
                                              <p:pRg st="9" end="9"/>
                                            </p:txEl>
                                          </p:spTgt>
                                        </p:tgtEl>
                                        <p:attrNameLst>
                                          <p:attrName>style.visibility</p:attrName>
                                        </p:attrNameLst>
                                      </p:cBhvr>
                                      <p:to>
                                        <p:strVal val="visible"/>
                                      </p:to>
                                    </p:set>
                                    <p:animEffect transition="in" filter="blinds(vertical)">
                                      <p:cBhvr>
                                        <p:cTn id="7" dur="3000"/>
                                        <p:tgtEl>
                                          <p:spTgt spid="43213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2"/>
          <p:cNvSpPr>
            <a:spLocks noGrp="1" noChangeArrowheads="1"/>
          </p:cNvSpPr>
          <p:nvPr>
            <p:ph type="title"/>
          </p:nvPr>
        </p:nvSpPr>
        <p:spPr>
          <a:xfrm>
            <a:off x="611188" y="0"/>
            <a:ext cx="7772400" cy="990600"/>
          </a:xfrm>
        </p:spPr>
        <p:txBody>
          <a:bodyPr/>
          <a:lstStyle/>
          <a:p>
            <a:pPr eaLnBrk="1" hangingPunct="1"/>
            <a:r>
              <a:rPr lang="en-US" altLang="zh-CN" dirty="0" smtClean="0"/>
              <a:t>【</a:t>
            </a:r>
            <a:r>
              <a:rPr lang="zh-CN" altLang="en-US" dirty="0" smtClean="0"/>
              <a:t>附</a:t>
            </a:r>
            <a:r>
              <a:rPr lang="en-US" altLang="zh-CN" dirty="0" smtClean="0"/>
              <a:t>】</a:t>
            </a:r>
            <a:r>
              <a:rPr lang="zh-CN" altLang="en-US" dirty="0" smtClean="0"/>
              <a:t>加权平均</a:t>
            </a:r>
            <a:r>
              <a:rPr lang="zh-CN" altLang="en-US" dirty="0" smtClean="0"/>
              <a:t>每股收益</a:t>
            </a:r>
          </a:p>
        </p:txBody>
      </p:sp>
      <p:sp>
        <p:nvSpPr>
          <p:cNvPr id="11269" name="Rectangle 3"/>
          <p:cNvSpPr>
            <a:spLocks noGrp="1" noChangeArrowheads="1"/>
          </p:cNvSpPr>
          <p:nvPr>
            <p:ph type="body" idx="1"/>
          </p:nvPr>
        </p:nvSpPr>
        <p:spPr>
          <a:xfrm>
            <a:off x="468313" y="3429000"/>
            <a:ext cx="7772400" cy="2890838"/>
          </a:xfrm>
        </p:spPr>
        <p:txBody>
          <a:bodyPr/>
          <a:lstStyle/>
          <a:p>
            <a:pPr algn="just" eaLnBrk="1" hangingPunct="1">
              <a:lnSpc>
                <a:spcPct val="90000"/>
              </a:lnSpc>
            </a:pPr>
            <a:r>
              <a:rPr lang="zh-CN" altLang="en-US" smtClean="0">
                <a:solidFill>
                  <a:srgbClr val="000000"/>
                </a:solidFill>
              </a:rPr>
              <a:t>式中，</a:t>
            </a:r>
            <a:endParaRPr lang="zh-CN" altLang="en-US" i="1" smtClean="0">
              <a:solidFill>
                <a:srgbClr val="000000"/>
              </a:solidFill>
            </a:endParaRPr>
          </a:p>
          <a:p>
            <a:pPr lvl="1" algn="just" eaLnBrk="1" hangingPunct="1">
              <a:lnSpc>
                <a:spcPct val="90000"/>
              </a:lnSpc>
            </a:pPr>
            <a:r>
              <a:rPr lang="en-US" altLang="zh-CN" i="1" smtClean="0"/>
              <a:t>E </a:t>
            </a:r>
            <a:r>
              <a:rPr lang="en-US" altLang="zh-CN" smtClean="0"/>
              <a:t>=</a:t>
            </a:r>
            <a:r>
              <a:rPr lang="zh-CN" altLang="en-US" smtClean="0"/>
              <a:t>当期净利润；</a:t>
            </a:r>
            <a:endParaRPr lang="zh-CN" altLang="en-US" i="1" smtClean="0">
              <a:latin typeface="Times New Roman" pitchFamily="18" charset="0"/>
            </a:endParaRPr>
          </a:p>
          <a:p>
            <a:pPr lvl="1" algn="just" eaLnBrk="1" hangingPunct="1">
              <a:lnSpc>
                <a:spcPct val="90000"/>
              </a:lnSpc>
            </a:pPr>
            <a:r>
              <a:rPr lang="zh-CN" altLang="en-US" i="1" smtClean="0">
                <a:latin typeface="Times New Roman" pitchFamily="18" charset="0"/>
              </a:rPr>
              <a:t>Ｎ</a:t>
            </a:r>
            <a:r>
              <a:rPr lang="zh-CN" altLang="en-US" smtClean="0"/>
              <a:t>＝期末普通股股份总数</a:t>
            </a:r>
            <a:endParaRPr lang="zh-CN" altLang="en-US" i="1" smtClean="0">
              <a:latin typeface="Times New Roman" pitchFamily="18" charset="0"/>
            </a:endParaRPr>
          </a:p>
          <a:p>
            <a:pPr lvl="1" algn="just" eaLnBrk="1" hangingPunct="1">
              <a:lnSpc>
                <a:spcPct val="90000"/>
              </a:lnSpc>
            </a:pPr>
            <a:r>
              <a:rPr lang="zh-CN" altLang="en-US" i="1" smtClean="0">
                <a:latin typeface="Times New Roman" pitchFamily="18" charset="0"/>
              </a:rPr>
              <a:t>Ｓ</a:t>
            </a:r>
            <a:r>
              <a:rPr lang="zh-CN" altLang="en-US" smtClean="0"/>
              <a:t>＝当期实际实现的配股（增发）比例，</a:t>
            </a:r>
            <a:endParaRPr lang="zh-CN" altLang="en-US" i="1" smtClean="0"/>
          </a:p>
          <a:p>
            <a:pPr lvl="1" algn="just" eaLnBrk="1" hangingPunct="1">
              <a:lnSpc>
                <a:spcPct val="90000"/>
              </a:lnSpc>
            </a:pPr>
            <a:r>
              <a:rPr lang="en-US" altLang="zh-CN" i="1" smtClean="0"/>
              <a:t>M</a:t>
            </a:r>
            <a:r>
              <a:rPr lang="zh-CN" altLang="en-US" smtClean="0"/>
              <a:t>＝自缴款结束日下一月份至报告期末的月份数</a:t>
            </a:r>
          </a:p>
        </p:txBody>
      </p:sp>
      <p:sp>
        <p:nvSpPr>
          <p:cNvPr id="11270"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1266" name="Object 5"/>
          <p:cNvGraphicFramePr>
            <a:graphicFrameLocks noChangeAspect="1"/>
          </p:cNvGraphicFramePr>
          <p:nvPr>
            <p:extLst>
              <p:ext uri="{D42A27DB-BD31-4B8C-83A1-F6EECF244321}">
                <p14:modId xmlns:p14="http://schemas.microsoft.com/office/powerpoint/2010/main" val="253033448"/>
              </p:ext>
            </p:extLst>
          </p:nvPr>
        </p:nvGraphicFramePr>
        <p:xfrm>
          <a:off x="2771775" y="1412875"/>
          <a:ext cx="4968875" cy="2251075"/>
        </p:xfrm>
        <a:graphic>
          <a:graphicData uri="http://schemas.openxmlformats.org/presentationml/2006/ole">
            <mc:AlternateContent xmlns:mc="http://schemas.openxmlformats.org/markup-compatibility/2006">
              <mc:Choice xmlns:v="urn:schemas-microsoft-com:vml" Requires="v">
                <p:oleObj spid="_x0000_s11371" name="公式" r:id="rId3" imgW="1866600" imgH="863280" progId="Equation.3">
                  <p:embed/>
                </p:oleObj>
              </mc:Choice>
              <mc:Fallback>
                <p:oleObj name="公式" r:id="rId3" imgW="1866600" imgH="86328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775" y="1412875"/>
                        <a:ext cx="4968875" cy="2251075"/>
                      </a:xfrm>
                      <a:prstGeom prst="rect">
                        <a:avLst/>
                      </a:prstGeom>
                      <a:solidFill>
                        <a:schemeClr val="accent1">
                          <a:lumMod val="40000"/>
                          <a:lumOff val="60000"/>
                        </a:schemeClr>
                      </a:solidFill>
                    </p:spPr>
                  </p:pic>
                </p:oleObj>
              </mc:Fallback>
            </mc:AlternateContent>
          </a:graphicData>
        </a:graphic>
      </p:graphicFrame>
      <p:sp>
        <p:nvSpPr>
          <p:cNvPr id="11271" name="日期占位符 6"/>
          <p:cNvSpPr>
            <a:spLocks noGrp="1"/>
          </p:cNvSpPr>
          <p:nvPr>
            <p:ph type="dt" sz="quarter" idx="10"/>
          </p:nvPr>
        </p:nvSpPr>
        <p:spPr>
          <a:noFill/>
        </p:spPr>
        <p:txBody>
          <a:bodyPr/>
          <a:lstStyle/>
          <a:p>
            <a:endParaRPr lang="en-US" altLang="zh-CN" smtClean="0"/>
          </a:p>
        </p:txBody>
      </p:sp>
      <p:sp>
        <p:nvSpPr>
          <p:cNvPr id="8" name="矩形 7"/>
          <p:cNvSpPr/>
          <p:nvPr/>
        </p:nvSpPr>
        <p:spPr>
          <a:xfrm>
            <a:off x="333653" y="1412875"/>
            <a:ext cx="2236510" cy="384721"/>
          </a:xfrm>
          <a:prstGeom prst="rect">
            <a:avLst/>
          </a:prstGeom>
        </p:spPr>
        <p:txBody>
          <a:bodyPr wrap="none">
            <a:spAutoFit/>
          </a:bodyPr>
          <a:lstStyle/>
          <a:p>
            <a:pPr eaLnBrk="1" hangingPunct="1">
              <a:lnSpc>
                <a:spcPct val="95000"/>
              </a:lnSpc>
              <a:spcBef>
                <a:spcPct val="25000"/>
              </a:spcBef>
            </a:pPr>
            <a:r>
              <a:rPr lang="zh-CN" altLang="en-US" sz="2000" dirty="0" smtClean="0">
                <a:solidFill>
                  <a:srgbClr val="000000"/>
                </a:solidFill>
              </a:rPr>
              <a:t>某公司某一年度的</a:t>
            </a: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0115" name="Rectangle 2"/>
          <p:cNvSpPr>
            <a:spLocks noGrp="1" noChangeArrowheads="1"/>
          </p:cNvSpPr>
          <p:nvPr>
            <p:ph type="title"/>
          </p:nvPr>
        </p:nvSpPr>
        <p:spPr>
          <a:xfrm>
            <a:off x="1475656" y="476672"/>
            <a:ext cx="6324600" cy="914400"/>
          </a:xfrm>
        </p:spPr>
        <p:txBody>
          <a:bodyPr lIns="90488" tIns="44450" rIns="90488" bIns="44450" anchor="ctr" anchorCtr="1"/>
          <a:lstStyle/>
          <a:p>
            <a:pPr eaLnBrk="1" hangingPunct="1"/>
            <a:r>
              <a:rPr lang="en-US" altLang="zh-CN" sz="4000" dirty="0" smtClean="0"/>
              <a:t>4.2.3 </a:t>
            </a:r>
            <a:r>
              <a:rPr lang="zh-CN" altLang="en-US" sz="4000" dirty="0" smtClean="0"/>
              <a:t>增长量</a:t>
            </a:r>
            <a:endParaRPr lang="zh-CN" altLang="en-US" sz="3600" dirty="0" smtClean="0"/>
          </a:p>
        </p:txBody>
      </p:sp>
      <p:sp>
        <p:nvSpPr>
          <p:cNvPr id="348163" name="Rectangle 3"/>
          <p:cNvSpPr>
            <a:spLocks noGrp="1" noChangeArrowheads="1"/>
          </p:cNvSpPr>
          <p:nvPr>
            <p:ph type="body" idx="1"/>
          </p:nvPr>
        </p:nvSpPr>
        <p:spPr>
          <a:xfrm>
            <a:off x="665163" y="1558545"/>
            <a:ext cx="8372896" cy="5310187"/>
          </a:xfrm>
          <a:noFill/>
        </p:spPr>
        <p:txBody>
          <a:bodyPr lIns="90488" tIns="44450" rIns="90488" bIns="44450"/>
          <a:lstStyle/>
          <a:p>
            <a:pPr marL="0" indent="0" eaLnBrk="1" hangingPunct="1">
              <a:lnSpc>
                <a:spcPct val="110000"/>
              </a:lnSpc>
              <a:buNone/>
            </a:pPr>
            <a:r>
              <a:rPr lang="zh-CN" altLang="en-US" dirty="0" smtClean="0">
                <a:solidFill>
                  <a:srgbClr val="0070C0"/>
                </a:solidFill>
                <a:latin typeface="Times New Roman" pitchFamily="18" charset="0"/>
              </a:rPr>
              <a:t>   增</a:t>
            </a:r>
            <a:r>
              <a:rPr lang="zh-CN" altLang="en-US" dirty="0" smtClean="0">
                <a:solidFill>
                  <a:srgbClr val="0070C0"/>
                </a:solidFill>
              </a:rPr>
              <a:t>长</a:t>
            </a:r>
            <a:r>
              <a:rPr lang="zh-CN" altLang="en-US" dirty="0" smtClean="0">
                <a:solidFill>
                  <a:srgbClr val="0070C0"/>
                </a:solidFill>
                <a:latin typeface="Times New Roman" pitchFamily="18" charset="0"/>
              </a:rPr>
              <a:t>量 </a:t>
            </a:r>
            <a:r>
              <a:rPr lang="en-US" altLang="zh-CN" dirty="0" smtClean="0">
                <a:solidFill>
                  <a:srgbClr val="0070C0"/>
                </a:solidFill>
                <a:latin typeface="Times New Roman" pitchFamily="18" charset="0"/>
                <a:cs typeface="Times New Roman" pitchFamily="18" charset="0"/>
              </a:rPr>
              <a:t>= </a:t>
            </a:r>
            <a:r>
              <a:rPr lang="zh-CN" altLang="en-US" dirty="0" smtClean="0">
                <a:solidFill>
                  <a:srgbClr val="0070C0"/>
                </a:solidFill>
                <a:latin typeface="Times New Roman" pitchFamily="18" charset="0"/>
              </a:rPr>
              <a:t>报告期水平－基期水平</a:t>
            </a:r>
          </a:p>
          <a:p>
            <a:pPr marL="685800" lvl="1" indent="0" eaLnBrk="1" hangingPunct="1">
              <a:lnSpc>
                <a:spcPct val="110000"/>
              </a:lnSpc>
              <a:buNone/>
            </a:pPr>
            <a:r>
              <a:rPr lang="zh-CN" altLang="en-US" dirty="0" smtClean="0"/>
              <a:t>说明现象在观察期内增减的绝对数量；</a:t>
            </a:r>
            <a:endParaRPr lang="zh-CN" altLang="en-US" b="0" dirty="0" smtClean="0">
              <a:latin typeface="Times New Roman" pitchFamily="18" charset="0"/>
              <a:cs typeface="Times New Roman" pitchFamily="18" charset="0"/>
            </a:endParaRPr>
          </a:p>
          <a:p>
            <a:pPr marL="685800" lvl="1" indent="0" eaLnBrk="1" hangingPunct="1">
              <a:lnSpc>
                <a:spcPct val="110000"/>
              </a:lnSpc>
              <a:buNone/>
            </a:pPr>
            <a:r>
              <a:rPr lang="zh-CN" altLang="en-US" dirty="0" smtClean="0">
                <a:sym typeface="Wingdings 2" pitchFamily="18" charset="2"/>
              </a:rPr>
              <a:t>基期不同，可分为：</a:t>
            </a:r>
          </a:p>
          <a:p>
            <a:pPr marL="685800" lvl="1" indent="0" algn="just" eaLnBrk="1" hangingPunct="1">
              <a:lnSpc>
                <a:spcPct val="110000"/>
              </a:lnSpc>
              <a:buNone/>
            </a:pPr>
            <a:r>
              <a:rPr lang="zh-CN" altLang="en-US" dirty="0" smtClean="0">
                <a:solidFill>
                  <a:srgbClr val="0070C0"/>
                </a:solidFill>
                <a:latin typeface="Times New Roman" pitchFamily="18" charset="0"/>
              </a:rPr>
              <a:t>逐</a:t>
            </a:r>
            <a:r>
              <a:rPr lang="zh-CN" altLang="en-US" dirty="0" smtClean="0">
                <a:solidFill>
                  <a:srgbClr val="0070C0"/>
                </a:solidFill>
                <a:latin typeface="Times New Roman" pitchFamily="18" charset="0"/>
              </a:rPr>
              <a:t>期增长量</a:t>
            </a:r>
            <a:r>
              <a:rPr lang="zh-CN" altLang="en-US" b="0" dirty="0" smtClean="0">
                <a:latin typeface="Times New Roman" pitchFamily="18" charset="0"/>
              </a:rPr>
              <a:t>＝报告期水平－上期水平</a:t>
            </a:r>
            <a:endParaRPr lang="zh-CN" altLang="en-US" b="0" dirty="0" smtClean="0">
              <a:latin typeface="Times New Roman" pitchFamily="18" charset="0"/>
              <a:cs typeface="Times New Roman" pitchFamily="18" charset="0"/>
            </a:endParaRPr>
          </a:p>
          <a:p>
            <a:pPr marL="685800" lvl="1" indent="0" algn="just" eaLnBrk="1" hangingPunct="1">
              <a:lnSpc>
                <a:spcPct val="110000"/>
              </a:lnSpc>
              <a:buNone/>
            </a:pPr>
            <a:r>
              <a:rPr lang="zh-CN" altLang="en-US" dirty="0" smtClean="0">
                <a:latin typeface="Times New Roman" pitchFamily="18" charset="0"/>
              </a:rPr>
              <a:t>    说明</a:t>
            </a:r>
            <a:r>
              <a:rPr lang="zh-CN" altLang="en-US" dirty="0" smtClean="0">
                <a:latin typeface="Times New Roman" pitchFamily="18" charset="0"/>
              </a:rPr>
              <a:t>现象逐期增减的数量。</a:t>
            </a:r>
          </a:p>
          <a:p>
            <a:pPr marL="685800" lvl="1" indent="0" algn="just" eaLnBrk="1" hangingPunct="1">
              <a:lnSpc>
                <a:spcPct val="110000"/>
              </a:lnSpc>
              <a:buNone/>
            </a:pPr>
            <a:r>
              <a:rPr lang="zh-CN" altLang="en-US" dirty="0" smtClean="0">
                <a:solidFill>
                  <a:srgbClr val="0070C0"/>
                </a:solidFill>
                <a:latin typeface="Times New Roman" pitchFamily="18" charset="0"/>
              </a:rPr>
              <a:t>累计</a:t>
            </a:r>
            <a:r>
              <a:rPr lang="zh-CN" altLang="en-US" dirty="0" smtClean="0">
                <a:solidFill>
                  <a:srgbClr val="0070C0"/>
                </a:solidFill>
                <a:latin typeface="Times New Roman" pitchFamily="18" charset="0"/>
              </a:rPr>
              <a:t>增长量</a:t>
            </a:r>
            <a:r>
              <a:rPr lang="zh-CN" altLang="en-US" b="0" dirty="0" smtClean="0">
                <a:latin typeface="Times New Roman" pitchFamily="18" charset="0"/>
              </a:rPr>
              <a:t>＝报告期水平－固定基期水平</a:t>
            </a:r>
          </a:p>
          <a:p>
            <a:pPr marL="685800" lvl="1" indent="0" algn="just" eaLnBrk="1" hangingPunct="1">
              <a:lnSpc>
                <a:spcPct val="110000"/>
              </a:lnSpc>
              <a:buNone/>
            </a:pPr>
            <a:r>
              <a:rPr lang="zh-CN" altLang="en-US" dirty="0" smtClean="0">
                <a:latin typeface="Times New Roman" pitchFamily="18" charset="0"/>
              </a:rPr>
              <a:t>    说明</a:t>
            </a:r>
            <a:r>
              <a:rPr lang="zh-CN" altLang="en-US" dirty="0" smtClean="0">
                <a:latin typeface="Times New Roman" pitchFamily="18" charset="0"/>
              </a:rPr>
              <a:t>一段时期内总共增减的数量。</a:t>
            </a:r>
            <a:endParaRPr lang="zh-CN" altLang="en-US" b="0" dirty="0" smtClean="0">
              <a:latin typeface="Times New Roman" pitchFamily="18" charset="0"/>
            </a:endParaRPr>
          </a:p>
        </p:txBody>
      </p:sp>
      <p:sp>
        <p:nvSpPr>
          <p:cNvPr id="90117" name="日期占位符 4"/>
          <p:cNvSpPr>
            <a:spLocks noGrp="1"/>
          </p:cNvSpPr>
          <p:nvPr>
            <p:ph type="dt" sz="quarter" idx="10"/>
          </p:nvPr>
        </p:nvSpPr>
        <p:spPr>
          <a:noFill/>
        </p:spPr>
        <p:txBody>
          <a:bodyPr/>
          <a:lstStyle/>
          <a:p>
            <a:endParaRPr lang="en-US" altLang="zh-CN" dirty="0" smtClean="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8163">
                                            <p:txEl>
                                              <p:pRg st="3" end="3"/>
                                            </p:txEl>
                                          </p:spTgt>
                                        </p:tgtEl>
                                        <p:attrNameLst>
                                          <p:attrName>style.visibility</p:attrName>
                                        </p:attrNameLst>
                                      </p:cBhvr>
                                      <p:to>
                                        <p:strVal val="visible"/>
                                      </p:to>
                                    </p:set>
                                    <p:animEffect transition="in" filter="wipe(left)">
                                      <p:cBhvr>
                                        <p:cTn id="7" dur="500"/>
                                        <p:tgtEl>
                                          <p:spTgt spid="348163">
                                            <p:txEl>
                                              <p:pRg st="3" end="3"/>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48163">
                                            <p:txEl>
                                              <p:pRg st="4" end="4"/>
                                            </p:txEl>
                                          </p:spTgt>
                                        </p:tgtEl>
                                        <p:attrNameLst>
                                          <p:attrName>style.visibility</p:attrName>
                                        </p:attrNameLst>
                                      </p:cBhvr>
                                      <p:to>
                                        <p:strVal val="visible"/>
                                      </p:to>
                                    </p:set>
                                    <p:animEffect transition="in" filter="wipe(left)">
                                      <p:cBhvr>
                                        <p:cTn id="10" dur="500"/>
                                        <p:tgtEl>
                                          <p:spTgt spid="348163">
                                            <p:txEl>
                                              <p:pRg st="4" end="4"/>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48163">
                                            <p:txEl>
                                              <p:pRg st="5" end="5"/>
                                            </p:txEl>
                                          </p:spTgt>
                                        </p:tgtEl>
                                        <p:attrNameLst>
                                          <p:attrName>style.visibility</p:attrName>
                                        </p:attrNameLst>
                                      </p:cBhvr>
                                      <p:to>
                                        <p:strVal val="visible"/>
                                      </p:to>
                                    </p:set>
                                    <p:animEffect transition="in" filter="wipe(left)">
                                      <p:cBhvr>
                                        <p:cTn id="13" dur="500"/>
                                        <p:tgtEl>
                                          <p:spTgt spid="348163">
                                            <p:txEl>
                                              <p:pRg st="5" end="5"/>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48163">
                                            <p:txEl>
                                              <p:pRg st="6" end="6"/>
                                            </p:txEl>
                                          </p:spTgt>
                                        </p:tgtEl>
                                        <p:attrNameLst>
                                          <p:attrName>style.visibility</p:attrName>
                                        </p:attrNameLst>
                                      </p:cBhvr>
                                      <p:to>
                                        <p:strVal val="visible"/>
                                      </p:to>
                                    </p:set>
                                    <p:animEffect transition="in" filter="wipe(left)">
                                      <p:cBhvr>
                                        <p:cTn id="16" dur="500"/>
                                        <p:tgtEl>
                                          <p:spTgt spid="34816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63" grpId="0" build="p"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7" name="Rectangle 2"/>
          <p:cNvSpPr>
            <a:spLocks noGrp="1" noChangeArrowheads="1"/>
          </p:cNvSpPr>
          <p:nvPr>
            <p:ph type="body" sz="half" idx="1"/>
          </p:nvPr>
        </p:nvSpPr>
        <p:spPr>
          <a:xfrm>
            <a:off x="395288" y="692150"/>
            <a:ext cx="7913687" cy="752475"/>
          </a:xfrm>
          <a:noFill/>
        </p:spPr>
        <p:txBody>
          <a:bodyPr lIns="90488" tIns="44450" rIns="90488" bIns="44450"/>
          <a:lstStyle/>
          <a:p>
            <a:pPr marL="609600" indent="-609600" eaLnBrk="1" hangingPunct="1"/>
            <a:r>
              <a:rPr lang="zh-CN" altLang="en-US" sz="3600" dirty="0" smtClean="0">
                <a:solidFill>
                  <a:srgbClr val="000000"/>
                </a:solidFill>
                <a:sym typeface="Wingdings 2" pitchFamily="18" charset="2"/>
              </a:rPr>
              <a:t>逐期增长量与累计增长量之</a:t>
            </a:r>
            <a:r>
              <a:rPr lang="zh-CN" altLang="en-US" sz="3600" dirty="0" smtClean="0">
                <a:solidFill>
                  <a:srgbClr val="FF00FF"/>
                </a:solidFill>
                <a:latin typeface="Times New Roman" pitchFamily="18" charset="0"/>
                <a:ea typeface="华文中宋" pitchFamily="2" charset="-122"/>
              </a:rPr>
              <a:t>关系</a:t>
            </a:r>
            <a:r>
              <a:rPr lang="zh-CN" altLang="en-US" sz="3600" b="0" dirty="0" smtClean="0">
                <a:solidFill>
                  <a:srgbClr val="000000"/>
                </a:solidFill>
                <a:latin typeface="Times New Roman" pitchFamily="18" charset="0"/>
                <a:ea typeface="华文中宋" pitchFamily="2" charset="-122"/>
              </a:rPr>
              <a:t>：</a:t>
            </a:r>
            <a:endParaRPr lang="zh-CN" altLang="en-US" sz="3600" dirty="0" smtClean="0">
              <a:solidFill>
                <a:srgbClr val="000000"/>
              </a:solidFill>
              <a:sym typeface="Wingdings 2" pitchFamily="18" charset="2"/>
            </a:endParaRPr>
          </a:p>
        </p:txBody>
      </p:sp>
      <p:sp>
        <p:nvSpPr>
          <p:cNvPr id="350211" name="Rectangle 3"/>
          <p:cNvSpPr>
            <a:spLocks noChangeArrowheads="1"/>
          </p:cNvSpPr>
          <p:nvPr/>
        </p:nvSpPr>
        <p:spPr bwMode="auto">
          <a:xfrm>
            <a:off x="179512" y="1628800"/>
            <a:ext cx="8424863" cy="649288"/>
          </a:xfrm>
          <a:prstGeom prst="rect">
            <a:avLst/>
          </a:prstGeom>
          <a:noFill/>
          <a:ln w="12700">
            <a:noFill/>
            <a:miter lim="800000"/>
            <a:headEnd/>
            <a:tailEnd/>
          </a:ln>
        </p:spPr>
        <p:txBody>
          <a:bodyPr lIns="90488" tIns="44450" rIns="90488" bIns="44450"/>
          <a:lstStyle/>
          <a:p>
            <a:pPr marL="1219200" lvl="1" indent="-533400">
              <a:spcBef>
                <a:spcPct val="20000"/>
              </a:spcBef>
              <a:buSzPct val="80000"/>
              <a:buFontTx/>
              <a:buBlip>
                <a:blip r:embed="rId4"/>
              </a:buBlip>
            </a:pPr>
            <a:r>
              <a:rPr lang="zh-CN" altLang="en-US" sz="3200" b="1" dirty="0">
                <a:solidFill>
                  <a:srgbClr val="000000"/>
                </a:solidFill>
                <a:latin typeface="Times New Roman" pitchFamily="18" charset="0"/>
                <a:ea typeface="华文中宋" pitchFamily="2" charset="-122"/>
              </a:rPr>
              <a:t>累计</a:t>
            </a:r>
            <a:r>
              <a:rPr lang="zh-CN" altLang="en-US" sz="3200" b="1" dirty="0" smtClean="0">
                <a:solidFill>
                  <a:srgbClr val="000000"/>
                </a:solidFill>
                <a:latin typeface="Times New Roman" pitchFamily="18" charset="0"/>
                <a:ea typeface="华文中宋" pitchFamily="2" charset="-122"/>
              </a:rPr>
              <a:t>增</a:t>
            </a:r>
            <a:r>
              <a:rPr lang="zh-CN" altLang="en-US" sz="3200" b="1" dirty="0" smtClean="0">
                <a:solidFill>
                  <a:srgbClr val="000000"/>
                </a:solidFill>
                <a:sym typeface="Wingdings 2" pitchFamily="18" charset="2"/>
              </a:rPr>
              <a:t>长</a:t>
            </a:r>
            <a:r>
              <a:rPr lang="zh-CN" altLang="en-US" sz="3200" b="1" dirty="0" smtClean="0">
                <a:solidFill>
                  <a:srgbClr val="000000"/>
                </a:solidFill>
                <a:latin typeface="Times New Roman" pitchFamily="18" charset="0"/>
                <a:ea typeface="华文中宋" pitchFamily="2" charset="-122"/>
              </a:rPr>
              <a:t>量</a:t>
            </a:r>
            <a:r>
              <a:rPr lang="zh-CN" altLang="en-US" sz="3200" b="1" dirty="0">
                <a:solidFill>
                  <a:srgbClr val="000000"/>
                </a:solidFill>
                <a:latin typeface="Times New Roman" pitchFamily="18" charset="0"/>
                <a:ea typeface="华文中宋" pitchFamily="2" charset="-122"/>
              </a:rPr>
              <a:t>＝相应逐期</a:t>
            </a:r>
            <a:r>
              <a:rPr lang="zh-CN" altLang="en-US" sz="3200" b="1" dirty="0" smtClean="0">
                <a:solidFill>
                  <a:srgbClr val="000000"/>
                </a:solidFill>
                <a:latin typeface="Times New Roman" pitchFamily="18" charset="0"/>
                <a:ea typeface="华文中宋" pitchFamily="2" charset="-122"/>
              </a:rPr>
              <a:t>增</a:t>
            </a:r>
            <a:r>
              <a:rPr lang="zh-CN" altLang="en-US" sz="3200" b="1" dirty="0" smtClean="0">
                <a:solidFill>
                  <a:srgbClr val="000000"/>
                </a:solidFill>
                <a:sym typeface="Wingdings 2" pitchFamily="18" charset="2"/>
              </a:rPr>
              <a:t>长</a:t>
            </a:r>
            <a:r>
              <a:rPr lang="zh-CN" altLang="en-US" sz="3200" b="1" dirty="0" smtClean="0">
                <a:solidFill>
                  <a:srgbClr val="000000"/>
                </a:solidFill>
                <a:latin typeface="Times New Roman" pitchFamily="18" charset="0"/>
                <a:ea typeface="华文中宋" pitchFamily="2" charset="-122"/>
              </a:rPr>
              <a:t>量</a:t>
            </a:r>
            <a:r>
              <a:rPr lang="zh-CN" altLang="en-US" sz="3200" b="1" dirty="0">
                <a:solidFill>
                  <a:srgbClr val="000000"/>
                </a:solidFill>
                <a:latin typeface="Times New Roman" pitchFamily="18" charset="0"/>
                <a:ea typeface="华文中宋" pitchFamily="2" charset="-122"/>
              </a:rPr>
              <a:t>的</a:t>
            </a:r>
            <a:r>
              <a:rPr lang="zh-CN" altLang="en-US" sz="3200" b="1" dirty="0">
                <a:solidFill>
                  <a:srgbClr val="7030A0"/>
                </a:solidFill>
                <a:latin typeface="Times New Roman" pitchFamily="18" charset="0"/>
                <a:ea typeface="华文中宋" pitchFamily="2" charset="-122"/>
              </a:rPr>
              <a:t>总和</a:t>
            </a:r>
            <a:r>
              <a:rPr lang="zh-CN" altLang="en-US" sz="3200" b="1" dirty="0">
                <a:solidFill>
                  <a:srgbClr val="000000"/>
                </a:solidFill>
                <a:latin typeface="Times New Roman" pitchFamily="18" charset="0"/>
                <a:ea typeface="华文中宋" pitchFamily="2" charset="-122"/>
              </a:rPr>
              <a:t>。</a:t>
            </a:r>
          </a:p>
        </p:txBody>
      </p:sp>
      <p:sp>
        <p:nvSpPr>
          <p:cNvPr id="350212" name="Rectangle 4"/>
          <p:cNvSpPr>
            <a:spLocks noChangeArrowheads="1"/>
          </p:cNvSpPr>
          <p:nvPr/>
        </p:nvSpPr>
        <p:spPr bwMode="auto">
          <a:xfrm>
            <a:off x="251520" y="3356992"/>
            <a:ext cx="8496300" cy="1223963"/>
          </a:xfrm>
          <a:prstGeom prst="rect">
            <a:avLst/>
          </a:prstGeom>
          <a:noFill/>
          <a:ln w="12700">
            <a:noFill/>
            <a:miter lim="800000"/>
            <a:headEnd/>
            <a:tailEnd/>
          </a:ln>
        </p:spPr>
        <p:txBody>
          <a:bodyPr lIns="90488" tIns="44450" rIns="90488" bIns="44450"/>
          <a:lstStyle/>
          <a:p>
            <a:pPr marL="1219200" lvl="1" indent="-533400">
              <a:spcBef>
                <a:spcPct val="20000"/>
              </a:spcBef>
              <a:buSzPct val="80000"/>
              <a:buFontTx/>
              <a:buBlip>
                <a:blip r:embed="rId4"/>
              </a:buBlip>
            </a:pPr>
            <a:r>
              <a:rPr kumimoji="1" lang="zh-CN" altLang="en-US" sz="3200" b="1" dirty="0">
                <a:solidFill>
                  <a:srgbClr val="000000"/>
                </a:solidFill>
                <a:latin typeface="Tahoma" pitchFamily="34" charset="0"/>
              </a:rPr>
              <a:t>两相邻时期累计</a:t>
            </a:r>
            <a:r>
              <a:rPr kumimoji="1" lang="zh-CN" altLang="en-US" sz="3200" b="1" dirty="0" smtClean="0">
                <a:solidFill>
                  <a:srgbClr val="000000"/>
                </a:solidFill>
                <a:latin typeface="Tahoma" pitchFamily="34" charset="0"/>
              </a:rPr>
              <a:t>增</a:t>
            </a:r>
            <a:r>
              <a:rPr lang="zh-CN" altLang="en-US" sz="3200" b="1" dirty="0" smtClean="0">
                <a:solidFill>
                  <a:srgbClr val="000000"/>
                </a:solidFill>
                <a:sym typeface="Wingdings 2" pitchFamily="18" charset="2"/>
              </a:rPr>
              <a:t>长</a:t>
            </a:r>
            <a:r>
              <a:rPr kumimoji="1" lang="zh-CN" altLang="en-US" sz="3200" b="1" dirty="0" smtClean="0">
                <a:solidFill>
                  <a:srgbClr val="000000"/>
                </a:solidFill>
                <a:latin typeface="Tahoma" pitchFamily="34" charset="0"/>
              </a:rPr>
              <a:t>量</a:t>
            </a:r>
            <a:r>
              <a:rPr kumimoji="1" lang="zh-CN" altLang="en-US" sz="3200" b="1" dirty="0">
                <a:solidFill>
                  <a:srgbClr val="000000"/>
                </a:solidFill>
                <a:latin typeface="Tahoma" pitchFamily="34" charset="0"/>
              </a:rPr>
              <a:t>之</a:t>
            </a:r>
            <a:r>
              <a:rPr kumimoji="1" lang="zh-CN" altLang="en-US" sz="3200" b="1" dirty="0">
                <a:solidFill>
                  <a:srgbClr val="7030A0"/>
                </a:solidFill>
                <a:latin typeface="Tahoma" pitchFamily="34" charset="0"/>
              </a:rPr>
              <a:t>差</a:t>
            </a:r>
            <a:r>
              <a:rPr kumimoji="1" lang="zh-CN" altLang="en-US" sz="3200" b="1" dirty="0">
                <a:solidFill>
                  <a:srgbClr val="000000"/>
                </a:solidFill>
                <a:latin typeface="Tahoma" pitchFamily="34" charset="0"/>
              </a:rPr>
              <a:t>等于相应时期的逐期</a:t>
            </a:r>
            <a:r>
              <a:rPr kumimoji="1" lang="zh-CN" altLang="en-US" sz="3200" b="1" dirty="0" smtClean="0">
                <a:solidFill>
                  <a:srgbClr val="000000"/>
                </a:solidFill>
                <a:latin typeface="Tahoma" pitchFamily="34" charset="0"/>
              </a:rPr>
              <a:t>增</a:t>
            </a:r>
            <a:r>
              <a:rPr lang="zh-CN" altLang="en-US" sz="3200" b="1" dirty="0" smtClean="0">
                <a:solidFill>
                  <a:srgbClr val="000000"/>
                </a:solidFill>
                <a:sym typeface="Wingdings 2" pitchFamily="18" charset="2"/>
              </a:rPr>
              <a:t>长</a:t>
            </a:r>
            <a:r>
              <a:rPr kumimoji="1" lang="zh-CN" altLang="en-US" sz="3200" b="1" dirty="0" smtClean="0">
                <a:solidFill>
                  <a:srgbClr val="000000"/>
                </a:solidFill>
                <a:latin typeface="Tahoma" pitchFamily="34" charset="0"/>
              </a:rPr>
              <a:t>量</a:t>
            </a:r>
            <a:r>
              <a:rPr kumimoji="1" lang="zh-CN" altLang="en-US" sz="3200" b="1" dirty="0">
                <a:solidFill>
                  <a:srgbClr val="000000"/>
                </a:solidFill>
                <a:latin typeface="Tahoma" pitchFamily="34" charset="0"/>
              </a:rPr>
              <a:t>。</a:t>
            </a:r>
          </a:p>
        </p:txBody>
      </p:sp>
      <p:graphicFrame>
        <p:nvGraphicFramePr>
          <p:cNvPr id="350213" name="Object 5"/>
          <p:cNvGraphicFramePr>
            <a:graphicFrameLocks noChangeAspect="1"/>
          </p:cNvGraphicFramePr>
          <p:nvPr/>
        </p:nvGraphicFramePr>
        <p:xfrm>
          <a:off x="755576" y="4581128"/>
          <a:ext cx="7156450" cy="904875"/>
        </p:xfrm>
        <a:graphic>
          <a:graphicData uri="http://schemas.openxmlformats.org/presentationml/2006/ole">
            <mc:AlternateContent xmlns:mc="http://schemas.openxmlformats.org/markup-compatibility/2006">
              <mc:Choice xmlns:v="urn:schemas-microsoft-com:vml" Requires="v">
                <p:oleObj spid="_x0000_s13522" name="Equation" r:id="rId5" imgW="1879560" imgH="228600" progId="Equation.DSMT4">
                  <p:embed/>
                </p:oleObj>
              </mc:Choice>
              <mc:Fallback>
                <p:oleObj name="Equation" r:id="rId5" imgW="1879560" imgH="2286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5576" y="4581128"/>
                        <a:ext cx="7156450" cy="904875"/>
                      </a:xfrm>
                      <a:prstGeom prst="rect">
                        <a:avLst/>
                      </a:prstGeom>
                      <a:noFill/>
                      <a:extLst>
                        <a:ext uri="{909E8E84-426E-40DD-AFC4-6F175D3DCCD1}">
                          <a14:hiddenFill xmlns:a14="http://schemas.microsoft.com/office/drawing/2010/main">
                            <a:solidFill>
                              <a:srgbClr val="CCFF66"/>
                            </a:solidFill>
                          </a14:hiddenFill>
                        </a:ext>
                      </a:extLst>
                    </p:spPr>
                  </p:pic>
                </p:oleObj>
              </mc:Fallback>
            </mc:AlternateContent>
          </a:graphicData>
        </a:graphic>
      </p:graphicFrame>
      <p:graphicFrame>
        <p:nvGraphicFramePr>
          <p:cNvPr id="350214" name="Object 6"/>
          <p:cNvGraphicFramePr>
            <a:graphicFrameLocks noChangeAspect="1"/>
          </p:cNvGraphicFramePr>
          <p:nvPr/>
        </p:nvGraphicFramePr>
        <p:xfrm>
          <a:off x="827584" y="2348880"/>
          <a:ext cx="8031163" cy="773113"/>
        </p:xfrm>
        <a:graphic>
          <a:graphicData uri="http://schemas.openxmlformats.org/presentationml/2006/ole">
            <mc:AlternateContent xmlns:mc="http://schemas.openxmlformats.org/markup-compatibility/2006">
              <mc:Choice xmlns:v="urn:schemas-microsoft-com:vml" Requires="v">
                <p:oleObj spid="_x0000_s13523" name="Equation" r:id="rId7" imgW="2793960" imgH="228600" progId="Equation.DSMT4">
                  <p:embed/>
                </p:oleObj>
              </mc:Choice>
              <mc:Fallback>
                <p:oleObj name="Equation" r:id="rId7" imgW="2793960" imgH="22860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7584" y="2348880"/>
                        <a:ext cx="8031163" cy="773113"/>
                      </a:xfrm>
                      <a:prstGeom prst="rect">
                        <a:avLst/>
                      </a:prstGeom>
                      <a:noFill/>
                      <a:extLst>
                        <a:ext uri="{909E8E84-426E-40DD-AFC4-6F175D3DCCD1}">
                          <a14:hiddenFill xmlns:a14="http://schemas.microsoft.com/office/drawing/2010/main">
                            <a:solidFill>
                              <a:srgbClr val="FFCCFF"/>
                            </a:solidFill>
                          </a14:hiddenFill>
                        </a:ext>
                      </a:extLst>
                    </p:spPr>
                  </p:pic>
                </p:oleObj>
              </mc:Fallback>
            </mc:AlternateContent>
          </a:graphicData>
        </a:graphic>
      </p:graphicFrame>
      <p:sp>
        <p:nvSpPr>
          <p:cNvPr id="13320" name="日期占位符 7"/>
          <p:cNvSpPr>
            <a:spLocks noGrp="1"/>
          </p:cNvSpPr>
          <p:nvPr>
            <p:ph type="dt" sz="quarter" idx="10"/>
          </p:nvPr>
        </p:nvSpPr>
        <p:spPr>
          <a:noFill/>
        </p:spPr>
        <p:txBody>
          <a:bodyPr/>
          <a:lstStyle/>
          <a:p>
            <a:endParaRPr lang="en-US" altLang="zh-CN" smtClean="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0211">
                                            <p:txEl>
                                              <p:pRg st="0" end="0"/>
                                            </p:txEl>
                                          </p:spTgt>
                                        </p:tgtEl>
                                        <p:attrNameLst>
                                          <p:attrName>style.visibility</p:attrName>
                                        </p:attrNameLst>
                                      </p:cBhvr>
                                      <p:to>
                                        <p:strVal val="visible"/>
                                      </p:to>
                                    </p:set>
                                    <p:animEffect transition="in" filter="wipe(left)">
                                      <p:cBhvr>
                                        <p:cTn id="7" dur="500"/>
                                        <p:tgtEl>
                                          <p:spTgt spid="350211">
                                            <p:txEl>
                                              <p:pRg st="0" end="0"/>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350214"/>
                                        </p:tgtEl>
                                        <p:attrNameLst>
                                          <p:attrName>style.visibility</p:attrName>
                                        </p:attrNameLst>
                                      </p:cBhvr>
                                      <p:to>
                                        <p:strVal val="visible"/>
                                      </p:to>
                                    </p:set>
                                    <p:animEffect transition="in" filter="wipe(up)">
                                      <p:cBhvr>
                                        <p:cTn id="10" dur="500"/>
                                        <p:tgtEl>
                                          <p:spTgt spid="35021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50212">
                                            <p:txEl>
                                              <p:pRg st="0" end="0"/>
                                            </p:txEl>
                                          </p:spTgt>
                                        </p:tgtEl>
                                        <p:attrNameLst>
                                          <p:attrName>style.visibility</p:attrName>
                                        </p:attrNameLst>
                                      </p:cBhvr>
                                      <p:to>
                                        <p:strVal val="visible"/>
                                      </p:to>
                                    </p:set>
                                    <p:animEffect transition="in" filter="wipe(left)">
                                      <p:cBhvr>
                                        <p:cTn id="15" dur="500"/>
                                        <p:tgtEl>
                                          <p:spTgt spid="350212">
                                            <p:txEl>
                                              <p:pRg st="0" end="0"/>
                                            </p:txEl>
                                          </p:spTgt>
                                        </p:tgtEl>
                                      </p:cBhvr>
                                    </p:animEffect>
                                  </p:childTnLst>
                                </p:cTn>
                              </p:par>
                              <p:par>
                                <p:cTn id="16" presetID="15" presetClass="entr" presetSubtype="0" fill="hold" nodeType="withEffect">
                                  <p:stCondLst>
                                    <p:cond delay="0"/>
                                  </p:stCondLst>
                                  <p:childTnLst>
                                    <p:set>
                                      <p:cBhvr>
                                        <p:cTn id="17" dur="1" fill="hold">
                                          <p:stCondLst>
                                            <p:cond delay="0"/>
                                          </p:stCondLst>
                                        </p:cTn>
                                        <p:tgtEl>
                                          <p:spTgt spid="350213"/>
                                        </p:tgtEl>
                                        <p:attrNameLst>
                                          <p:attrName>style.visibility</p:attrName>
                                        </p:attrNameLst>
                                      </p:cBhvr>
                                      <p:to>
                                        <p:strVal val="visible"/>
                                      </p:to>
                                    </p:set>
                                    <p:anim calcmode="lin" valueType="num">
                                      <p:cBhvr>
                                        <p:cTn id="18" dur="1000" fill="hold"/>
                                        <p:tgtEl>
                                          <p:spTgt spid="350213"/>
                                        </p:tgtEl>
                                        <p:attrNameLst>
                                          <p:attrName>ppt_w</p:attrName>
                                        </p:attrNameLst>
                                      </p:cBhvr>
                                      <p:tavLst>
                                        <p:tav tm="0">
                                          <p:val>
                                            <p:fltVal val="0"/>
                                          </p:val>
                                        </p:tav>
                                        <p:tav tm="100000">
                                          <p:val>
                                            <p:strVal val="#ppt_w"/>
                                          </p:val>
                                        </p:tav>
                                      </p:tavLst>
                                    </p:anim>
                                    <p:anim calcmode="lin" valueType="num">
                                      <p:cBhvr>
                                        <p:cTn id="19" dur="1000" fill="hold"/>
                                        <p:tgtEl>
                                          <p:spTgt spid="350213"/>
                                        </p:tgtEl>
                                        <p:attrNameLst>
                                          <p:attrName>ppt_h</p:attrName>
                                        </p:attrNameLst>
                                      </p:cBhvr>
                                      <p:tavLst>
                                        <p:tav tm="0">
                                          <p:val>
                                            <p:fltVal val="0"/>
                                          </p:val>
                                        </p:tav>
                                        <p:tav tm="100000">
                                          <p:val>
                                            <p:strVal val="#ppt_h"/>
                                          </p:val>
                                        </p:tav>
                                      </p:tavLst>
                                    </p:anim>
                                    <p:anim calcmode="lin" valueType="num">
                                      <p:cBhvr>
                                        <p:cTn id="20" dur="1000" fill="hold"/>
                                        <p:tgtEl>
                                          <p:spTgt spid="350213"/>
                                        </p:tgtEl>
                                        <p:attrNameLst>
                                          <p:attrName>ppt_x</p:attrName>
                                        </p:attrNameLst>
                                      </p:cBhvr>
                                      <p:tavLst>
                                        <p:tav tm="0" fmla="#ppt_x+(cos(-2*pi*(1-$))*-#ppt_x-sin(-2*pi*(1-$))*(1-#ppt_y))*(1-$)">
                                          <p:val>
                                            <p:fltVal val="0"/>
                                          </p:val>
                                        </p:tav>
                                        <p:tav tm="100000">
                                          <p:val>
                                            <p:fltVal val="1"/>
                                          </p:val>
                                        </p:tav>
                                      </p:tavLst>
                                    </p:anim>
                                    <p:anim calcmode="lin" valueType="num">
                                      <p:cBhvr>
                                        <p:cTn id="21" dur="1000" fill="hold"/>
                                        <p:tgtEl>
                                          <p:spTgt spid="350213"/>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0211" grpId="0" build="p" autoUpdateAnimBg="0"/>
      <p:bldP spid="350212"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440657"/>
            <a:ext cx="7772400" cy="990600"/>
          </a:xfrm>
        </p:spPr>
        <p:txBody>
          <a:bodyPr/>
          <a:lstStyle/>
          <a:p>
            <a:r>
              <a:rPr lang="en-US" altLang="zh-CN" dirty="0"/>
              <a:t>4.2.4 </a:t>
            </a:r>
            <a:r>
              <a:rPr lang="zh-CN" altLang="en-US" dirty="0"/>
              <a:t>平均增减</a:t>
            </a:r>
            <a:r>
              <a:rPr lang="zh-CN" altLang="en-US" dirty="0" smtClean="0"/>
              <a:t>量</a:t>
            </a:r>
            <a:endParaRPr lang="zh-CN" altLang="en-US" dirty="0"/>
          </a:p>
        </p:txBody>
      </p:sp>
      <p:sp>
        <p:nvSpPr>
          <p:cNvPr id="3" name="文本占位符 2"/>
          <p:cNvSpPr>
            <a:spLocks noGrp="1"/>
          </p:cNvSpPr>
          <p:nvPr>
            <p:ph type="body" sz="half" idx="1"/>
          </p:nvPr>
        </p:nvSpPr>
        <p:spPr>
          <a:xfrm>
            <a:off x="762000" y="1628800"/>
            <a:ext cx="7194376" cy="4619600"/>
          </a:xfrm>
        </p:spPr>
        <p:txBody>
          <a:bodyPr/>
          <a:lstStyle/>
          <a:p>
            <a:pPr marL="0" indent="0">
              <a:buNone/>
            </a:pPr>
            <a:r>
              <a:rPr lang="en-US" altLang="zh-CN" dirty="0">
                <a:solidFill>
                  <a:schemeClr val="tx1"/>
                </a:solidFill>
                <a:latin typeface="华文中宋" panose="02010600040101010101" pitchFamily="2" charset="-122"/>
                <a:ea typeface="华文中宋" panose="02010600040101010101" pitchFamily="2" charset="-122"/>
              </a:rPr>
              <a:t>——</a:t>
            </a:r>
            <a:r>
              <a:rPr lang="zh-CN" altLang="en-US" dirty="0">
                <a:solidFill>
                  <a:srgbClr val="000000"/>
                </a:solidFill>
                <a:latin typeface="华文中宋" panose="02010600040101010101" pitchFamily="2" charset="-122"/>
                <a:ea typeface="华文中宋" panose="02010600040101010101" pitchFamily="2" charset="-122"/>
              </a:rPr>
              <a:t>逐期增减量的序时平均数；</a:t>
            </a:r>
          </a:p>
          <a:p>
            <a:pPr marL="0" indent="0">
              <a:buNone/>
            </a:pPr>
            <a:r>
              <a:rPr lang="en-US" altLang="zh-CN" dirty="0">
                <a:solidFill>
                  <a:srgbClr val="000000"/>
                </a:solidFill>
                <a:latin typeface="华文中宋" panose="02010600040101010101" pitchFamily="2" charset="-122"/>
                <a:ea typeface="华文中宋" panose="02010600040101010101" pitchFamily="2" charset="-122"/>
              </a:rPr>
              <a:t>——</a:t>
            </a:r>
            <a:r>
              <a:rPr lang="zh-CN" altLang="en-US" dirty="0">
                <a:solidFill>
                  <a:srgbClr val="000000"/>
                </a:solidFill>
                <a:latin typeface="华文中宋" panose="02010600040101010101" pitchFamily="2" charset="-122"/>
                <a:ea typeface="华文中宋" panose="02010600040101010101" pitchFamily="2" charset="-122"/>
              </a:rPr>
              <a:t>其方法是算术平均法</a:t>
            </a:r>
            <a:r>
              <a:rPr lang="zh-CN" altLang="en-US" dirty="0" smtClean="0">
                <a:solidFill>
                  <a:srgbClr val="000000"/>
                </a:solidFill>
                <a:latin typeface="华文中宋" panose="02010600040101010101" pitchFamily="2" charset="-122"/>
                <a:ea typeface="华文中宋" panose="02010600040101010101" pitchFamily="2" charset="-122"/>
              </a:rPr>
              <a:t>。</a:t>
            </a:r>
            <a:endParaRPr lang="zh-CN" altLang="en-US" dirty="0">
              <a:solidFill>
                <a:srgbClr val="000000"/>
              </a:solidFill>
            </a:endParaRPr>
          </a:p>
        </p:txBody>
      </p:sp>
      <p:sp>
        <p:nvSpPr>
          <p:cNvPr id="5" name="日期占位符 4"/>
          <p:cNvSpPr>
            <a:spLocks noGrp="1"/>
          </p:cNvSpPr>
          <p:nvPr>
            <p:ph type="dt" sz="half" idx="10"/>
          </p:nvPr>
        </p:nvSpPr>
        <p:spPr/>
        <p:txBody>
          <a:bodyPr/>
          <a:lstStyle/>
          <a:p>
            <a:pPr>
              <a:defRPr/>
            </a:pPr>
            <a:endParaRPr lang="en-US" altLang="zh-CN"/>
          </a:p>
        </p:txBody>
      </p:sp>
      <p:graphicFrame>
        <p:nvGraphicFramePr>
          <p:cNvPr id="6" name="Object 4">
            <a:extLst>
              <a:ext uri="{FF2B5EF4-FFF2-40B4-BE49-F238E27FC236}">
                <a16:creationId xmlns:a16="http://schemas.microsoft.com/office/drawing/2014/main" id="{A9492F45-5DD1-A4B5-D952-15E4D804AE37}"/>
              </a:ext>
            </a:extLst>
          </p:cNvPr>
          <p:cNvGraphicFramePr>
            <a:graphicFrameLocks noChangeAspect="1"/>
          </p:cNvGraphicFramePr>
          <p:nvPr>
            <p:extLst>
              <p:ext uri="{D42A27DB-BD31-4B8C-83A1-F6EECF244321}">
                <p14:modId xmlns:p14="http://schemas.microsoft.com/office/powerpoint/2010/main" val="3633759474"/>
              </p:ext>
            </p:extLst>
          </p:nvPr>
        </p:nvGraphicFramePr>
        <p:xfrm>
          <a:off x="429533" y="3284984"/>
          <a:ext cx="8198619" cy="2175446"/>
        </p:xfrm>
        <a:graphic>
          <a:graphicData uri="http://schemas.openxmlformats.org/presentationml/2006/ole">
            <mc:AlternateContent xmlns:mc="http://schemas.openxmlformats.org/markup-compatibility/2006">
              <mc:Choice xmlns:v="urn:schemas-microsoft-com:vml" Requires="v">
                <p:oleObj spid="_x0000_s222263" name="公式" r:id="rId3" imgW="4584600" imgH="1218960" progId="Equation.3">
                  <p:embed/>
                </p:oleObj>
              </mc:Choice>
              <mc:Fallback>
                <p:oleObj name="公式" r:id="rId3" imgW="4584600" imgH="1218960" progId="Equation.3">
                  <p:embed/>
                  <p:pic>
                    <p:nvPicPr>
                      <p:cNvPr id="45060" name="Object 4">
                        <a:extLst>
                          <a:ext uri="{FF2B5EF4-FFF2-40B4-BE49-F238E27FC236}">
                            <a16:creationId xmlns:a16="http://schemas.microsoft.com/office/drawing/2014/main" id="{A9492F45-5DD1-A4B5-D952-15E4D804AE37}"/>
                          </a:ext>
                        </a:extLst>
                      </p:cNvPr>
                      <p:cNvPicPr>
                        <a:picLocks noChangeAspect="1" noChangeArrowheads="1"/>
                      </p:cNvPicPr>
                      <p:nvPr/>
                    </p:nvPicPr>
                    <p:blipFill>
                      <a:blip r:embed="rId4"/>
                      <a:srcRect/>
                      <a:stretch>
                        <a:fillRect/>
                      </a:stretch>
                    </p:blipFill>
                    <p:spPr bwMode="auto">
                      <a:xfrm>
                        <a:off x="429533" y="3284984"/>
                        <a:ext cx="8198619" cy="2175446"/>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14578141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2"/>
          <p:cNvSpPr>
            <a:spLocks noGrp="1" noChangeArrowheads="1"/>
          </p:cNvSpPr>
          <p:nvPr>
            <p:ph type="title"/>
          </p:nvPr>
        </p:nvSpPr>
        <p:spPr/>
        <p:txBody>
          <a:bodyPr/>
          <a:lstStyle/>
          <a:p>
            <a:pPr eaLnBrk="1" hangingPunct="1"/>
            <a:r>
              <a:rPr lang="zh-CN" altLang="en-US" dirty="0" smtClean="0"/>
              <a:t>（</a:t>
            </a:r>
            <a:r>
              <a:rPr lang="zh-CN" altLang="en-US" dirty="0" smtClean="0"/>
              <a:t>例）</a:t>
            </a:r>
            <a:endParaRPr lang="en-US" altLang="zh-CN" dirty="0" smtClean="0"/>
          </a:p>
        </p:txBody>
      </p:sp>
      <p:sp>
        <p:nvSpPr>
          <p:cNvPr id="14342" name="Rectangle 3"/>
          <p:cNvSpPr>
            <a:spLocks noGrp="1" noChangeArrowheads="1"/>
          </p:cNvSpPr>
          <p:nvPr>
            <p:ph type="body" idx="1"/>
          </p:nvPr>
        </p:nvSpPr>
        <p:spPr>
          <a:xfrm>
            <a:off x="647643" y="1483707"/>
            <a:ext cx="7772400" cy="576262"/>
          </a:xfrm>
        </p:spPr>
        <p:txBody>
          <a:bodyPr/>
          <a:lstStyle/>
          <a:p>
            <a:pPr marL="0" indent="0" eaLnBrk="1" hangingPunct="1">
              <a:buNone/>
            </a:pPr>
            <a:r>
              <a:rPr lang="zh-CN" altLang="en-US" sz="2800" dirty="0">
                <a:solidFill>
                  <a:srgbClr val="000000"/>
                </a:solidFill>
              </a:rPr>
              <a:t>中国研究与试验发展基础研究经费</a:t>
            </a:r>
            <a:r>
              <a:rPr lang="zh-CN" altLang="en-US" sz="2800" dirty="0" smtClean="0">
                <a:solidFill>
                  <a:srgbClr val="000000"/>
                </a:solidFill>
              </a:rPr>
              <a:t>支出：</a:t>
            </a:r>
          </a:p>
        </p:txBody>
      </p:sp>
      <p:sp>
        <p:nvSpPr>
          <p:cNvPr id="14385" name="矩形 5"/>
          <p:cNvSpPr>
            <a:spLocks noChangeArrowheads="1"/>
          </p:cNvSpPr>
          <p:nvPr/>
        </p:nvSpPr>
        <p:spPr bwMode="auto">
          <a:xfrm>
            <a:off x="312738" y="5037373"/>
            <a:ext cx="2257425" cy="523875"/>
          </a:xfrm>
          <a:prstGeom prst="rect">
            <a:avLst/>
          </a:prstGeom>
          <a:noFill/>
          <a:ln w="9525">
            <a:noFill/>
            <a:miter lim="800000"/>
            <a:headEnd/>
            <a:tailEnd/>
          </a:ln>
        </p:spPr>
        <p:txBody>
          <a:bodyPr>
            <a:spAutoFit/>
          </a:bodyPr>
          <a:lstStyle/>
          <a:p>
            <a:r>
              <a:rPr lang="zh-CN" altLang="en-US" sz="2800" b="1" dirty="0">
                <a:solidFill>
                  <a:srgbClr val="3333FF"/>
                </a:solidFill>
                <a:latin typeface="Times New Roman" pitchFamily="18" charset="0"/>
                <a:cs typeface="Times New Roman" pitchFamily="18" charset="0"/>
              </a:rPr>
              <a:t>平均增减量</a:t>
            </a:r>
            <a:r>
              <a:rPr lang="en-US" altLang="zh-CN" sz="2800" b="1" dirty="0">
                <a:solidFill>
                  <a:srgbClr val="3333FF"/>
                </a:solidFill>
                <a:latin typeface="Times New Roman" pitchFamily="18" charset="0"/>
                <a:cs typeface="Times New Roman" pitchFamily="18" charset="0"/>
              </a:rPr>
              <a:t>=</a:t>
            </a:r>
            <a:endParaRPr lang="zh-CN" altLang="en-US" sz="2800" dirty="0">
              <a:solidFill>
                <a:srgbClr val="3333FF"/>
              </a:solidFill>
            </a:endParaRPr>
          </a:p>
        </p:txBody>
      </p:sp>
      <p:graphicFrame>
        <p:nvGraphicFramePr>
          <p:cNvPr id="14338" name="Object 48"/>
          <p:cNvGraphicFramePr>
            <a:graphicFrameLocks noChangeAspect="1"/>
          </p:cNvGraphicFramePr>
          <p:nvPr>
            <p:extLst>
              <p:ext uri="{D42A27DB-BD31-4B8C-83A1-F6EECF244321}">
                <p14:modId xmlns:p14="http://schemas.microsoft.com/office/powerpoint/2010/main" val="139060433"/>
              </p:ext>
            </p:extLst>
          </p:nvPr>
        </p:nvGraphicFramePr>
        <p:xfrm>
          <a:off x="2411761" y="4732539"/>
          <a:ext cx="3269193" cy="1000717"/>
        </p:xfrm>
        <a:graphic>
          <a:graphicData uri="http://schemas.openxmlformats.org/presentationml/2006/ole">
            <mc:AlternateContent xmlns:mc="http://schemas.openxmlformats.org/markup-compatibility/2006">
              <mc:Choice xmlns:v="urn:schemas-microsoft-com:vml" Requires="v">
                <p:oleObj spid="_x0000_s14556" name="公式" r:id="rId3" imgW="1549080" imgH="406080" progId="Equation.3">
                  <p:embed/>
                </p:oleObj>
              </mc:Choice>
              <mc:Fallback>
                <p:oleObj name="公式" r:id="rId3" imgW="1549080" imgH="406080" progId="Equation.3">
                  <p:embed/>
                  <p:pic>
                    <p:nvPicPr>
                      <p:cNvPr id="0" name="Object 48"/>
                      <p:cNvPicPr>
                        <a:picLocks noChangeAspect="1" noChangeArrowheads="1"/>
                      </p:cNvPicPr>
                      <p:nvPr/>
                    </p:nvPicPr>
                    <p:blipFill>
                      <a:blip r:embed="rId4"/>
                      <a:srcRect/>
                      <a:stretch>
                        <a:fillRect/>
                      </a:stretch>
                    </p:blipFill>
                    <p:spPr bwMode="auto">
                      <a:xfrm>
                        <a:off x="2411761" y="4732539"/>
                        <a:ext cx="3269193" cy="1000717"/>
                      </a:xfrm>
                      <a:prstGeom prst="rect">
                        <a:avLst/>
                      </a:prstGeom>
                      <a:noFill/>
                      <a:extLst/>
                    </p:spPr>
                  </p:pic>
                </p:oleObj>
              </mc:Fallback>
            </mc:AlternateContent>
          </a:graphicData>
        </a:graphic>
      </p:graphicFrame>
      <p:graphicFrame>
        <p:nvGraphicFramePr>
          <p:cNvPr id="14339" name="Object 3"/>
          <p:cNvGraphicFramePr>
            <a:graphicFrameLocks noChangeAspect="1"/>
          </p:cNvGraphicFramePr>
          <p:nvPr>
            <p:extLst>
              <p:ext uri="{D42A27DB-BD31-4B8C-83A1-F6EECF244321}">
                <p14:modId xmlns:p14="http://schemas.microsoft.com/office/powerpoint/2010/main" val="3800639956"/>
              </p:ext>
            </p:extLst>
          </p:nvPr>
        </p:nvGraphicFramePr>
        <p:xfrm>
          <a:off x="5698834" y="4732539"/>
          <a:ext cx="2814464" cy="1026479"/>
        </p:xfrm>
        <a:graphic>
          <a:graphicData uri="http://schemas.openxmlformats.org/presentationml/2006/ole">
            <mc:AlternateContent xmlns:mc="http://schemas.openxmlformats.org/markup-compatibility/2006">
              <mc:Choice xmlns:v="urn:schemas-microsoft-com:vml" Requires="v">
                <p:oleObj spid="_x0000_s14557" name="公式" r:id="rId5" imgW="1143000" imgH="406080" progId="Equation.3">
                  <p:embed/>
                </p:oleObj>
              </mc:Choice>
              <mc:Fallback>
                <p:oleObj name="公式" r:id="rId5" imgW="1143000" imgH="406080" progId="Equation.3">
                  <p:embed/>
                  <p:pic>
                    <p:nvPicPr>
                      <p:cNvPr id="0" name="Object 3"/>
                      <p:cNvPicPr>
                        <a:picLocks noChangeAspect="1" noChangeArrowheads="1"/>
                      </p:cNvPicPr>
                      <p:nvPr/>
                    </p:nvPicPr>
                    <p:blipFill>
                      <a:blip r:embed="rId6"/>
                      <a:srcRect/>
                      <a:stretch>
                        <a:fillRect/>
                      </a:stretch>
                    </p:blipFill>
                    <p:spPr bwMode="auto">
                      <a:xfrm>
                        <a:off x="5698834" y="4732539"/>
                        <a:ext cx="2814464" cy="1026479"/>
                      </a:xfrm>
                      <a:prstGeom prst="rect">
                        <a:avLst/>
                      </a:prstGeom>
                      <a:noFill/>
                      <a:extLst/>
                    </p:spPr>
                  </p:pic>
                </p:oleObj>
              </mc:Fallback>
            </mc:AlternateContent>
          </a:graphicData>
        </a:graphic>
      </p:graphicFrame>
      <p:sp>
        <p:nvSpPr>
          <p:cNvPr id="14386" name="日期占位符 8"/>
          <p:cNvSpPr>
            <a:spLocks noGrp="1"/>
          </p:cNvSpPr>
          <p:nvPr>
            <p:ph type="dt" sz="quarter" idx="10"/>
          </p:nvPr>
        </p:nvSpPr>
        <p:spPr>
          <a:noFill/>
        </p:spPr>
        <p:txBody>
          <a:bodyPr/>
          <a:lstStyle/>
          <a:p>
            <a:endParaRPr lang="en-US" altLang="zh-CN" dirty="0" smtClean="0"/>
          </a:p>
        </p:txBody>
      </p:sp>
      <p:graphicFrame>
        <p:nvGraphicFramePr>
          <p:cNvPr id="4" name="表格 3"/>
          <p:cNvGraphicFramePr>
            <a:graphicFrameLocks noGrp="1"/>
          </p:cNvGraphicFramePr>
          <p:nvPr>
            <p:extLst>
              <p:ext uri="{D42A27DB-BD31-4B8C-83A1-F6EECF244321}">
                <p14:modId xmlns:p14="http://schemas.microsoft.com/office/powerpoint/2010/main" val="796985935"/>
              </p:ext>
            </p:extLst>
          </p:nvPr>
        </p:nvGraphicFramePr>
        <p:xfrm>
          <a:off x="683568" y="2131977"/>
          <a:ext cx="7927032" cy="2305134"/>
        </p:xfrm>
        <a:graphic>
          <a:graphicData uri="http://schemas.openxmlformats.org/drawingml/2006/table">
            <a:tbl>
              <a:tblPr>
                <a:tableStyleId>{5C22544A-7EE6-4342-B048-85BDC9FD1C3A}</a:tableStyleId>
              </a:tblPr>
              <a:tblGrid>
                <a:gridCol w="3250507">
                  <a:extLst>
                    <a:ext uri="{9D8B030D-6E8A-4147-A177-3AD203B41FA5}">
                      <a16:colId xmlns:a16="http://schemas.microsoft.com/office/drawing/2014/main" val="3548875130"/>
                    </a:ext>
                  </a:extLst>
                </a:gridCol>
                <a:gridCol w="935305">
                  <a:extLst>
                    <a:ext uri="{9D8B030D-6E8A-4147-A177-3AD203B41FA5}">
                      <a16:colId xmlns:a16="http://schemas.microsoft.com/office/drawing/2014/main" val="2723968981"/>
                    </a:ext>
                  </a:extLst>
                </a:gridCol>
                <a:gridCol w="935305">
                  <a:extLst>
                    <a:ext uri="{9D8B030D-6E8A-4147-A177-3AD203B41FA5}">
                      <a16:colId xmlns:a16="http://schemas.microsoft.com/office/drawing/2014/main" val="581201472"/>
                    </a:ext>
                  </a:extLst>
                </a:gridCol>
                <a:gridCol w="935305">
                  <a:extLst>
                    <a:ext uri="{9D8B030D-6E8A-4147-A177-3AD203B41FA5}">
                      <a16:colId xmlns:a16="http://schemas.microsoft.com/office/drawing/2014/main" val="1873462676"/>
                    </a:ext>
                  </a:extLst>
                </a:gridCol>
                <a:gridCol w="935305">
                  <a:extLst>
                    <a:ext uri="{9D8B030D-6E8A-4147-A177-3AD203B41FA5}">
                      <a16:colId xmlns:a16="http://schemas.microsoft.com/office/drawing/2014/main" val="1623180701"/>
                    </a:ext>
                  </a:extLst>
                </a:gridCol>
                <a:gridCol w="935305">
                  <a:extLst>
                    <a:ext uri="{9D8B030D-6E8A-4147-A177-3AD203B41FA5}">
                      <a16:colId xmlns:a16="http://schemas.microsoft.com/office/drawing/2014/main" val="2997641810"/>
                    </a:ext>
                  </a:extLst>
                </a:gridCol>
              </a:tblGrid>
              <a:tr h="415431">
                <a:tc>
                  <a:txBody>
                    <a:bodyPr/>
                    <a:lstStyle/>
                    <a:p>
                      <a:pPr algn="ctr" fontAlgn="ctr"/>
                      <a:r>
                        <a:rPr lang="zh-CN" altLang="en-US" sz="2400" b="1" u="none" strike="noStrike" dirty="0" smtClean="0">
                          <a:solidFill>
                            <a:srgbClr val="000000"/>
                          </a:solidFill>
                          <a:effectLst/>
                          <a:latin typeface="+mj-ea"/>
                          <a:ea typeface="+mj-ea"/>
                        </a:rPr>
                        <a:t>年    份</a:t>
                      </a:r>
                      <a:endParaRPr lang="zh-CN" altLang="en-US" sz="2400" b="1" i="0" u="none" strike="noStrike" dirty="0">
                        <a:solidFill>
                          <a:srgbClr val="000000"/>
                        </a:solidFill>
                        <a:effectLst/>
                        <a:latin typeface="+mj-ea"/>
                        <a:ea typeface="+mj-ea"/>
                      </a:endParaRPr>
                    </a:p>
                  </a:txBody>
                  <a:tcPr marL="9525" marR="9525" marT="9525" marB="0" anchor="ctr"/>
                </a:tc>
                <a:tc>
                  <a:txBody>
                    <a:bodyPr/>
                    <a:lstStyle/>
                    <a:p>
                      <a:pPr algn="r" fontAlgn="ctr"/>
                      <a:r>
                        <a:rPr lang="en-US" sz="2400" b="1" u="none" strike="noStrike" dirty="0">
                          <a:solidFill>
                            <a:srgbClr val="000000"/>
                          </a:solidFill>
                          <a:effectLst/>
                          <a:latin typeface="+mj-ea"/>
                          <a:ea typeface="+mj-ea"/>
                        </a:rPr>
                        <a:t>2018</a:t>
                      </a:r>
                      <a:endParaRPr lang="en-US" sz="2400" b="1" i="0" u="none" strike="noStrike" dirty="0">
                        <a:solidFill>
                          <a:srgbClr val="000000"/>
                        </a:solidFill>
                        <a:effectLst/>
                        <a:latin typeface="+mj-ea"/>
                        <a:ea typeface="+mj-ea"/>
                      </a:endParaRPr>
                    </a:p>
                  </a:txBody>
                  <a:tcPr marL="9525" marR="9525" marT="9525" marB="0" anchor="ctr"/>
                </a:tc>
                <a:tc>
                  <a:txBody>
                    <a:bodyPr/>
                    <a:lstStyle/>
                    <a:p>
                      <a:pPr algn="r" fontAlgn="ctr"/>
                      <a:r>
                        <a:rPr lang="en-US" sz="2400" b="1" u="none" strike="noStrike" dirty="0">
                          <a:solidFill>
                            <a:srgbClr val="000000"/>
                          </a:solidFill>
                          <a:effectLst/>
                          <a:latin typeface="+mj-ea"/>
                          <a:ea typeface="+mj-ea"/>
                        </a:rPr>
                        <a:t>2019</a:t>
                      </a:r>
                      <a:endParaRPr lang="en-US" sz="2400" b="1" i="0" u="none" strike="noStrike" dirty="0">
                        <a:solidFill>
                          <a:srgbClr val="000000"/>
                        </a:solidFill>
                        <a:effectLst/>
                        <a:latin typeface="+mj-ea"/>
                        <a:ea typeface="+mj-ea"/>
                      </a:endParaRPr>
                    </a:p>
                  </a:txBody>
                  <a:tcPr marL="9525" marR="9525" marT="9525" marB="0" anchor="ctr"/>
                </a:tc>
                <a:tc>
                  <a:txBody>
                    <a:bodyPr/>
                    <a:lstStyle/>
                    <a:p>
                      <a:pPr algn="r" fontAlgn="ctr"/>
                      <a:r>
                        <a:rPr lang="en-US" sz="2400" b="1" u="none" strike="noStrike" dirty="0">
                          <a:solidFill>
                            <a:srgbClr val="000000"/>
                          </a:solidFill>
                          <a:effectLst/>
                          <a:latin typeface="+mj-ea"/>
                          <a:ea typeface="+mj-ea"/>
                        </a:rPr>
                        <a:t>2020</a:t>
                      </a:r>
                      <a:endParaRPr lang="en-US" sz="2400" b="1" i="0" u="none" strike="noStrike" dirty="0">
                        <a:solidFill>
                          <a:srgbClr val="000000"/>
                        </a:solidFill>
                        <a:effectLst/>
                        <a:latin typeface="+mj-ea"/>
                        <a:ea typeface="+mj-ea"/>
                      </a:endParaRPr>
                    </a:p>
                  </a:txBody>
                  <a:tcPr marL="9525" marR="9525" marT="9525" marB="0" anchor="ctr"/>
                </a:tc>
                <a:tc>
                  <a:txBody>
                    <a:bodyPr/>
                    <a:lstStyle/>
                    <a:p>
                      <a:pPr algn="r" fontAlgn="ctr"/>
                      <a:r>
                        <a:rPr lang="en-US" sz="2400" b="1" u="none" strike="noStrike" dirty="0">
                          <a:solidFill>
                            <a:srgbClr val="000000"/>
                          </a:solidFill>
                          <a:effectLst/>
                          <a:latin typeface="+mj-ea"/>
                          <a:ea typeface="+mj-ea"/>
                        </a:rPr>
                        <a:t>2021</a:t>
                      </a:r>
                      <a:endParaRPr lang="en-US" sz="2400" b="1" i="0" u="none" strike="noStrike" dirty="0">
                        <a:solidFill>
                          <a:srgbClr val="000000"/>
                        </a:solidFill>
                        <a:effectLst/>
                        <a:latin typeface="+mj-ea"/>
                        <a:ea typeface="+mj-ea"/>
                      </a:endParaRPr>
                    </a:p>
                  </a:txBody>
                  <a:tcPr marL="9525" marR="9525" marT="9525" marB="0" anchor="ctr"/>
                </a:tc>
                <a:tc>
                  <a:txBody>
                    <a:bodyPr/>
                    <a:lstStyle/>
                    <a:p>
                      <a:pPr algn="r" fontAlgn="ctr"/>
                      <a:r>
                        <a:rPr lang="en-US" sz="2400" b="1" u="none" strike="noStrike" dirty="0">
                          <a:solidFill>
                            <a:srgbClr val="000000"/>
                          </a:solidFill>
                          <a:effectLst/>
                          <a:latin typeface="+mj-ea"/>
                          <a:ea typeface="+mj-ea"/>
                        </a:rPr>
                        <a:t>2022</a:t>
                      </a:r>
                      <a:endParaRPr lang="en-US" sz="2400" b="1" i="0" u="none" strike="noStrike" dirty="0">
                        <a:solidFill>
                          <a:srgbClr val="000000"/>
                        </a:solidFill>
                        <a:effectLst/>
                        <a:latin typeface="+mj-ea"/>
                        <a:ea typeface="+mj-ea"/>
                      </a:endParaRPr>
                    </a:p>
                  </a:txBody>
                  <a:tcPr marL="9525" marR="9525" marT="9525" marB="0" anchor="ctr"/>
                </a:tc>
                <a:extLst>
                  <a:ext uri="{0D108BD9-81ED-4DB2-BD59-A6C34878D82A}">
                    <a16:rowId xmlns:a16="http://schemas.microsoft.com/office/drawing/2014/main" val="590507746"/>
                  </a:ext>
                </a:extLst>
              </a:tr>
              <a:tr h="769443">
                <a:tc>
                  <a:txBody>
                    <a:bodyPr/>
                    <a:lstStyle/>
                    <a:p>
                      <a:pPr algn="ctr" fontAlgn="ctr"/>
                      <a:r>
                        <a:rPr lang="zh-CN" altLang="en-US" sz="2400" b="1" u="none" strike="noStrike" dirty="0">
                          <a:solidFill>
                            <a:srgbClr val="000000"/>
                          </a:solidFill>
                          <a:effectLst/>
                        </a:rPr>
                        <a:t>基础研究经费</a:t>
                      </a:r>
                      <a:r>
                        <a:rPr lang="zh-CN" altLang="en-US" sz="2400" b="1" u="none" strike="noStrike" dirty="0" smtClean="0">
                          <a:solidFill>
                            <a:srgbClr val="000000"/>
                          </a:solidFill>
                          <a:effectLst/>
                        </a:rPr>
                        <a:t>支出</a:t>
                      </a:r>
                      <a:r>
                        <a:rPr lang="en-US" altLang="zh-CN" sz="2000" b="0" u="none" strike="noStrike" dirty="0" smtClean="0">
                          <a:solidFill>
                            <a:srgbClr val="000000"/>
                          </a:solidFill>
                          <a:effectLst/>
                        </a:rPr>
                        <a:t>(</a:t>
                      </a:r>
                      <a:r>
                        <a:rPr lang="zh-CN" altLang="en-US" sz="2000" b="0" u="none" strike="noStrike" dirty="0" smtClean="0">
                          <a:solidFill>
                            <a:srgbClr val="000000"/>
                          </a:solidFill>
                          <a:effectLst/>
                        </a:rPr>
                        <a:t>亿元</a:t>
                      </a:r>
                      <a:r>
                        <a:rPr lang="en-US" altLang="zh-CN" sz="2000" b="0" u="none" strike="noStrike" dirty="0" smtClean="0">
                          <a:solidFill>
                            <a:srgbClr val="000000"/>
                          </a:solidFill>
                          <a:effectLst/>
                        </a:rPr>
                        <a:t>)</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r>
                        <a:rPr lang="en-US" sz="2400" b="1" u="none" strike="noStrike" dirty="0">
                          <a:solidFill>
                            <a:srgbClr val="000000"/>
                          </a:solidFill>
                          <a:effectLst/>
                          <a:latin typeface="+mn-lt"/>
                        </a:rPr>
                        <a:t>1090</a:t>
                      </a:r>
                      <a:endParaRPr lang="en-US" sz="2400" b="1" i="0" u="none" strike="noStrike" dirty="0">
                        <a:solidFill>
                          <a:srgbClr val="000000"/>
                        </a:solidFill>
                        <a:effectLst/>
                        <a:latin typeface="+mn-lt"/>
                        <a:ea typeface="等线" panose="02010600030101010101" pitchFamily="2" charset="-122"/>
                      </a:endParaRPr>
                    </a:p>
                  </a:txBody>
                  <a:tcPr marL="9525" marR="9525" marT="9525" marB="0" anchor="ctr"/>
                </a:tc>
                <a:tc>
                  <a:txBody>
                    <a:bodyPr/>
                    <a:lstStyle/>
                    <a:p>
                      <a:pPr algn="r" fontAlgn="ctr"/>
                      <a:r>
                        <a:rPr lang="en-US" sz="2400" b="1" u="none" strike="noStrike" dirty="0">
                          <a:solidFill>
                            <a:srgbClr val="000000"/>
                          </a:solidFill>
                          <a:effectLst/>
                          <a:latin typeface="+mn-lt"/>
                        </a:rPr>
                        <a:t>1336</a:t>
                      </a:r>
                      <a:endParaRPr lang="en-US" sz="2400" b="1" i="0" u="none" strike="noStrike" dirty="0">
                        <a:solidFill>
                          <a:srgbClr val="000000"/>
                        </a:solidFill>
                        <a:effectLst/>
                        <a:latin typeface="+mn-lt"/>
                        <a:ea typeface="等线" panose="02010600030101010101" pitchFamily="2" charset="-122"/>
                      </a:endParaRPr>
                    </a:p>
                  </a:txBody>
                  <a:tcPr marL="9525" marR="9525" marT="9525" marB="0" anchor="ctr"/>
                </a:tc>
                <a:tc>
                  <a:txBody>
                    <a:bodyPr/>
                    <a:lstStyle/>
                    <a:p>
                      <a:pPr algn="r" fontAlgn="ctr"/>
                      <a:r>
                        <a:rPr lang="en-US" sz="2400" b="1" u="none" strike="noStrike" dirty="0">
                          <a:solidFill>
                            <a:srgbClr val="000000"/>
                          </a:solidFill>
                          <a:effectLst/>
                          <a:latin typeface="+mn-lt"/>
                        </a:rPr>
                        <a:t>1467</a:t>
                      </a:r>
                      <a:endParaRPr lang="en-US" sz="2400" b="1" i="0" u="none" strike="noStrike" dirty="0">
                        <a:solidFill>
                          <a:srgbClr val="000000"/>
                        </a:solidFill>
                        <a:effectLst/>
                        <a:latin typeface="+mn-lt"/>
                        <a:ea typeface="等线" panose="02010600030101010101" pitchFamily="2" charset="-122"/>
                      </a:endParaRPr>
                    </a:p>
                  </a:txBody>
                  <a:tcPr marL="9525" marR="9525" marT="9525" marB="0" anchor="ctr"/>
                </a:tc>
                <a:tc>
                  <a:txBody>
                    <a:bodyPr/>
                    <a:lstStyle/>
                    <a:p>
                      <a:pPr algn="r" fontAlgn="ctr"/>
                      <a:r>
                        <a:rPr lang="en-US" sz="2400" b="1" u="none" strike="noStrike" dirty="0">
                          <a:solidFill>
                            <a:srgbClr val="000000"/>
                          </a:solidFill>
                          <a:effectLst/>
                          <a:latin typeface="+mn-lt"/>
                        </a:rPr>
                        <a:t>1817</a:t>
                      </a:r>
                      <a:endParaRPr lang="en-US" sz="2400" b="1" i="0" u="none" strike="noStrike" dirty="0">
                        <a:solidFill>
                          <a:srgbClr val="000000"/>
                        </a:solidFill>
                        <a:effectLst/>
                        <a:latin typeface="+mn-lt"/>
                        <a:ea typeface="等线" panose="02010600030101010101" pitchFamily="2" charset="-122"/>
                      </a:endParaRPr>
                    </a:p>
                  </a:txBody>
                  <a:tcPr marL="9525" marR="9525" marT="9525" marB="0" anchor="ctr"/>
                </a:tc>
                <a:tc>
                  <a:txBody>
                    <a:bodyPr/>
                    <a:lstStyle/>
                    <a:p>
                      <a:pPr algn="r" fontAlgn="ctr"/>
                      <a:r>
                        <a:rPr lang="en-US" sz="2400" b="1" u="none" strike="noStrike" dirty="0">
                          <a:solidFill>
                            <a:srgbClr val="000000"/>
                          </a:solidFill>
                          <a:effectLst/>
                          <a:latin typeface="+mn-lt"/>
                        </a:rPr>
                        <a:t>1951</a:t>
                      </a:r>
                      <a:endParaRPr lang="en-US" sz="2400" b="1" i="0" u="none" strike="noStrike" dirty="0">
                        <a:solidFill>
                          <a:srgbClr val="000000"/>
                        </a:solidFill>
                        <a:effectLst/>
                        <a:latin typeface="+mn-lt"/>
                        <a:ea typeface="等线" panose="02010600030101010101" pitchFamily="2" charset="-122"/>
                      </a:endParaRPr>
                    </a:p>
                  </a:txBody>
                  <a:tcPr marL="9525" marR="9525" marT="9525" marB="0" anchor="ctr"/>
                </a:tc>
                <a:extLst>
                  <a:ext uri="{0D108BD9-81ED-4DB2-BD59-A6C34878D82A}">
                    <a16:rowId xmlns:a16="http://schemas.microsoft.com/office/drawing/2014/main" val="3715108962"/>
                  </a:ext>
                </a:extLst>
              </a:tr>
              <a:tr h="560130">
                <a:tc>
                  <a:txBody>
                    <a:bodyPr/>
                    <a:lstStyle/>
                    <a:p>
                      <a:pPr algn="ctr" fontAlgn="ctr"/>
                      <a:r>
                        <a:rPr lang="zh-CN" altLang="en-US" sz="2400" b="1" u="none" strike="noStrike" dirty="0">
                          <a:solidFill>
                            <a:srgbClr val="3333FF"/>
                          </a:solidFill>
                          <a:effectLst/>
                        </a:rPr>
                        <a:t>逐期增减量</a:t>
                      </a:r>
                      <a:r>
                        <a:rPr lang="zh-CN" altLang="en-US" sz="2000" b="1" u="none" strike="noStrike" dirty="0">
                          <a:solidFill>
                            <a:srgbClr val="000000"/>
                          </a:solidFill>
                          <a:effectLst/>
                        </a:rPr>
                        <a:t>（亿元）</a:t>
                      </a:r>
                      <a:endParaRPr lang="zh-CN" altLang="en-US" sz="2000" b="1"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r>
                        <a:rPr lang="zh-CN" altLang="en-US" sz="2000" b="1" u="none" strike="noStrike" dirty="0">
                          <a:solidFill>
                            <a:srgbClr val="000000"/>
                          </a:solidFill>
                          <a:effectLst/>
                          <a:latin typeface="+mn-lt"/>
                        </a:rPr>
                        <a:t>　</a:t>
                      </a:r>
                      <a:endParaRPr lang="zh-CN" altLang="en-US" sz="2000" b="1" i="0" u="none" strike="noStrike" dirty="0">
                        <a:solidFill>
                          <a:srgbClr val="000000"/>
                        </a:solidFill>
                        <a:effectLst/>
                        <a:latin typeface="+mn-lt"/>
                        <a:ea typeface="等线" panose="02010600030101010101" pitchFamily="2" charset="-122"/>
                      </a:endParaRPr>
                    </a:p>
                  </a:txBody>
                  <a:tcPr marL="9525" marR="9525" marT="9525" marB="0" anchor="ctr"/>
                </a:tc>
                <a:tc>
                  <a:txBody>
                    <a:bodyPr/>
                    <a:lstStyle/>
                    <a:p>
                      <a:pPr algn="r" fontAlgn="ctr"/>
                      <a:r>
                        <a:rPr lang="en-US" altLang="zh-CN" sz="2400" b="1" u="none" strike="noStrike" dirty="0">
                          <a:solidFill>
                            <a:srgbClr val="000000"/>
                          </a:solidFill>
                          <a:effectLst/>
                          <a:latin typeface="+mn-lt"/>
                        </a:rPr>
                        <a:t>246</a:t>
                      </a:r>
                      <a:endParaRPr lang="en-US" altLang="zh-CN" sz="2400" b="1" i="0" u="none" strike="noStrike" dirty="0">
                        <a:solidFill>
                          <a:srgbClr val="000000"/>
                        </a:solidFill>
                        <a:effectLst/>
                        <a:latin typeface="+mn-lt"/>
                        <a:ea typeface="等线" panose="02010600030101010101" pitchFamily="2" charset="-122"/>
                      </a:endParaRPr>
                    </a:p>
                  </a:txBody>
                  <a:tcPr marL="9525" marR="9525" marT="9525" marB="0" anchor="ctr"/>
                </a:tc>
                <a:tc>
                  <a:txBody>
                    <a:bodyPr/>
                    <a:lstStyle/>
                    <a:p>
                      <a:pPr algn="r" fontAlgn="ctr"/>
                      <a:r>
                        <a:rPr lang="en-US" altLang="zh-CN" sz="2400" b="1" u="none" strike="noStrike" dirty="0">
                          <a:solidFill>
                            <a:srgbClr val="000000"/>
                          </a:solidFill>
                          <a:effectLst/>
                          <a:latin typeface="+mn-lt"/>
                        </a:rPr>
                        <a:t>131</a:t>
                      </a:r>
                      <a:endParaRPr lang="en-US" altLang="zh-CN" sz="2400" b="1" i="0" u="none" strike="noStrike" dirty="0">
                        <a:solidFill>
                          <a:srgbClr val="000000"/>
                        </a:solidFill>
                        <a:effectLst/>
                        <a:latin typeface="+mn-lt"/>
                        <a:ea typeface="等线" panose="02010600030101010101" pitchFamily="2" charset="-122"/>
                      </a:endParaRPr>
                    </a:p>
                  </a:txBody>
                  <a:tcPr marL="9525" marR="9525" marT="9525" marB="0" anchor="ctr"/>
                </a:tc>
                <a:tc>
                  <a:txBody>
                    <a:bodyPr/>
                    <a:lstStyle/>
                    <a:p>
                      <a:pPr algn="r" fontAlgn="ctr"/>
                      <a:r>
                        <a:rPr lang="en-US" altLang="zh-CN" sz="2400" b="1" u="none" strike="noStrike" dirty="0">
                          <a:solidFill>
                            <a:srgbClr val="000000"/>
                          </a:solidFill>
                          <a:effectLst/>
                          <a:latin typeface="+mn-lt"/>
                        </a:rPr>
                        <a:t>350</a:t>
                      </a:r>
                      <a:endParaRPr lang="en-US" altLang="zh-CN" sz="2400" b="1" i="0" u="none" strike="noStrike" dirty="0">
                        <a:solidFill>
                          <a:srgbClr val="000000"/>
                        </a:solidFill>
                        <a:effectLst/>
                        <a:latin typeface="+mn-lt"/>
                        <a:ea typeface="等线" panose="02010600030101010101" pitchFamily="2" charset="-122"/>
                      </a:endParaRPr>
                    </a:p>
                  </a:txBody>
                  <a:tcPr marL="9525" marR="9525" marT="9525" marB="0" anchor="ctr"/>
                </a:tc>
                <a:tc>
                  <a:txBody>
                    <a:bodyPr/>
                    <a:lstStyle/>
                    <a:p>
                      <a:pPr algn="r" fontAlgn="ctr"/>
                      <a:r>
                        <a:rPr lang="en-US" altLang="zh-CN" sz="2400" b="1" u="none" strike="noStrike" dirty="0">
                          <a:solidFill>
                            <a:srgbClr val="000000"/>
                          </a:solidFill>
                          <a:effectLst/>
                          <a:latin typeface="+mn-lt"/>
                        </a:rPr>
                        <a:t>134</a:t>
                      </a:r>
                      <a:endParaRPr lang="en-US" altLang="zh-CN" sz="2400" b="1" i="0" u="none" strike="noStrike" dirty="0">
                        <a:solidFill>
                          <a:srgbClr val="000000"/>
                        </a:solidFill>
                        <a:effectLst/>
                        <a:latin typeface="+mn-lt"/>
                        <a:ea typeface="等线" panose="02010600030101010101" pitchFamily="2" charset="-122"/>
                      </a:endParaRPr>
                    </a:p>
                  </a:txBody>
                  <a:tcPr marL="9525" marR="9525" marT="9525" marB="0" anchor="ctr"/>
                </a:tc>
                <a:extLst>
                  <a:ext uri="{0D108BD9-81ED-4DB2-BD59-A6C34878D82A}">
                    <a16:rowId xmlns:a16="http://schemas.microsoft.com/office/drawing/2014/main" val="142021679"/>
                  </a:ext>
                </a:extLst>
              </a:tr>
              <a:tr h="560130">
                <a:tc>
                  <a:txBody>
                    <a:bodyPr/>
                    <a:lstStyle/>
                    <a:p>
                      <a:pPr algn="ctr" fontAlgn="ctr"/>
                      <a:r>
                        <a:rPr lang="zh-CN" altLang="en-US" sz="2400" b="1" u="none" strike="noStrike" dirty="0">
                          <a:solidFill>
                            <a:srgbClr val="3333FF"/>
                          </a:solidFill>
                          <a:effectLst/>
                        </a:rPr>
                        <a:t>累计增减量</a:t>
                      </a:r>
                      <a:r>
                        <a:rPr lang="zh-CN" altLang="en-US" sz="2000" b="1" u="none" strike="noStrike" dirty="0">
                          <a:solidFill>
                            <a:srgbClr val="000000"/>
                          </a:solidFill>
                          <a:effectLst/>
                        </a:rPr>
                        <a:t>（亿元）</a:t>
                      </a:r>
                      <a:endParaRPr lang="zh-CN" altLang="en-US" sz="2000" b="1"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r>
                        <a:rPr lang="zh-CN" altLang="en-US" sz="2000" b="1" u="none" strike="noStrike">
                          <a:solidFill>
                            <a:srgbClr val="000000"/>
                          </a:solidFill>
                          <a:effectLst/>
                          <a:latin typeface="+mn-lt"/>
                        </a:rPr>
                        <a:t>　</a:t>
                      </a:r>
                      <a:endParaRPr lang="zh-CN" altLang="en-US" sz="2000" b="1" i="0" u="none" strike="noStrike">
                        <a:solidFill>
                          <a:srgbClr val="000000"/>
                        </a:solidFill>
                        <a:effectLst/>
                        <a:latin typeface="+mn-lt"/>
                        <a:ea typeface="等线" panose="02010600030101010101" pitchFamily="2" charset="-122"/>
                      </a:endParaRPr>
                    </a:p>
                  </a:txBody>
                  <a:tcPr marL="9525" marR="9525" marT="9525" marB="0" anchor="ctr"/>
                </a:tc>
                <a:tc>
                  <a:txBody>
                    <a:bodyPr/>
                    <a:lstStyle/>
                    <a:p>
                      <a:pPr algn="r" fontAlgn="ctr"/>
                      <a:r>
                        <a:rPr lang="en-US" altLang="zh-CN" sz="2400" b="1" u="none" strike="noStrike" dirty="0">
                          <a:solidFill>
                            <a:srgbClr val="000000"/>
                          </a:solidFill>
                          <a:effectLst/>
                          <a:latin typeface="+mn-lt"/>
                        </a:rPr>
                        <a:t>246</a:t>
                      </a:r>
                      <a:endParaRPr lang="en-US" altLang="zh-CN" sz="2400" b="1" i="0" u="none" strike="noStrike" dirty="0">
                        <a:solidFill>
                          <a:srgbClr val="000000"/>
                        </a:solidFill>
                        <a:effectLst/>
                        <a:latin typeface="+mn-lt"/>
                        <a:ea typeface="等线" panose="02010600030101010101" pitchFamily="2" charset="-122"/>
                      </a:endParaRPr>
                    </a:p>
                  </a:txBody>
                  <a:tcPr marL="9525" marR="9525" marT="9525" marB="0" anchor="ctr"/>
                </a:tc>
                <a:tc>
                  <a:txBody>
                    <a:bodyPr/>
                    <a:lstStyle/>
                    <a:p>
                      <a:pPr algn="r" fontAlgn="ctr"/>
                      <a:r>
                        <a:rPr lang="en-US" altLang="zh-CN" sz="2400" b="1" u="none" strike="noStrike" dirty="0">
                          <a:solidFill>
                            <a:srgbClr val="000000"/>
                          </a:solidFill>
                          <a:effectLst/>
                          <a:latin typeface="+mn-lt"/>
                        </a:rPr>
                        <a:t>377</a:t>
                      </a:r>
                      <a:endParaRPr lang="en-US" altLang="zh-CN" sz="2400" b="1" i="0" u="none" strike="noStrike" dirty="0">
                        <a:solidFill>
                          <a:srgbClr val="000000"/>
                        </a:solidFill>
                        <a:effectLst/>
                        <a:latin typeface="+mn-lt"/>
                        <a:ea typeface="等线" panose="02010600030101010101" pitchFamily="2" charset="-122"/>
                      </a:endParaRPr>
                    </a:p>
                  </a:txBody>
                  <a:tcPr marL="9525" marR="9525" marT="9525" marB="0" anchor="ctr"/>
                </a:tc>
                <a:tc>
                  <a:txBody>
                    <a:bodyPr/>
                    <a:lstStyle/>
                    <a:p>
                      <a:pPr algn="r" fontAlgn="ctr"/>
                      <a:r>
                        <a:rPr lang="en-US" altLang="zh-CN" sz="2400" b="1" u="none" strike="noStrike" dirty="0">
                          <a:solidFill>
                            <a:srgbClr val="000000"/>
                          </a:solidFill>
                          <a:effectLst/>
                          <a:latin typeface="+mn-lt"/>
                        </a:rPr>
                        <a:t>727</a:t>
                      </a:r>
                      <a:endParaRPr lang="en-US" altLang="zh-CN" sz="2400" b="1" i="0" u="none" strike="noStrike" dirty="0">
                        <a:solidFill>
                          <a:srgbClr val="000000"/>
                        </a:solidFill>
                        <a:effectLst/>
                        <a:latin typeface="+mn-lt"/>
                        <a:ea typeface="等线" panose="02010600030101010101" pitchFamily="2" charset="-122"/>
                      </a:endParaRPr>
                    </a:p>
                  </a:txBody>
                  <a:tcPr marL="9525" marR="9525" marT="9525" marB="0" anchor="ctr"/>
                </a:tc>
                <a:tc>
                  <a:txBody>
                    <a:bodyPr/>
                    <a:lstStyle/>
                    <a:p>
                      <a:pPr algn="r" fontAlgn="ctr"/>
                      <a:r>
                        <a:rPr lang="en-US" altLang="zh-CN" sz="2400" b="1" u="none" strike="noStrike" dirty="0">
                          <a:solidFill>
                            <a:srgbClr val="0070C0"/>
                          </a:solidFill>
                          <a:effectLst/>
                          <a:latin typeface="+mn-lt"/>
                        </a:rPr>
                        <a:t>861</a:t>
                      </a:r>
                      <a:endParaRPr lang="en-US" altLang="zh-CN" sz="2400" b="1" i="0" u="none" strike="noStrike" dirty="0">
                        <a:solidFill>
                          <a:srgbClr val="0070C0"/>
                        </a:solidFill>
                        <a:effectLst/>
                        <a:latin typeface="+mn-lt"/>
                        <a:ea typeface="等线" panose="02010600030101010101" pitchFamily="2" charset="-122"/>
                      </a:endParaRPr>
                    </a:p>
                  </a:txBody>
                  <a:tcPr marL="9525" marR="9525" marT="9525" marB="0" anchor="ctr"/>
                </a:tc>
                <a:extLst>
                  <a:ext uri="{0D108BD9-81ED-4DB2-BD59-A6C34878D82A}">
                    <a16:rowId xmlns:a16="http://schemas.microsoft.com/office/drawing/2014/main" val="3849171960"/>
                  </a:ext>
                </a:extLst>
              </a:tr>
            </a:tbl>
          </a:graphicData>
        </a:graphic>
      </p:graphicFrame>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2"/>
          <p:cNvSpPr>
            <a:spLocks noGrp="1" noChangeArrowheads="1"/>
          </p:cNvSpPr>
          <p:nvPr>
            <p:ph type="title"/>
          </p:nvPr>
        </p:nvSpPr>
        <p:spPr>
          <a:xfrm>
            <a:off x="611188" y="765175"/>
            <a:ext cx="7772400" cy="990600"/>
          </a:xfrm>
        </p:spPr>
        <p:txBody>
          <a:bodyPr/>
          <a:lstStyle/>
          <a:p>
            <a:pPr eaLnBrk="1" hangingPunct="1"/>
            <a:r>
              <a:rPr lang="en-US" altLang="zh-CN" dirty="0" smtClean="0"/>
              <a:t>4.3 </a:t>
            </a:r>
            <a:r>
              <a:rPr lang="zh-CN" altLang="en-US" dirty="0" smtClean="0"/>
              <a:t>时间序列的速度分析</a:t>
            </a:r>
          </a:p>
        </p:txBody>
      </p:sp>
      <p:sp>
        <p:nvSpPr>
          <p:cNvPr id="91140" name="Rectangle 3"/>
          <p:cNvSpPr>
            <a:spLocks noGrp="1" noChangeArrowheads="1"/>
          </p:cNvSpPr>
          <p:nvPr>
            <p:ph type="body" idx="1"/>
          </p:nvPr>
        </p:nvSpPr>
        <p:spPr>
          <a:xfrm>
            <a:off x="862013" y="2220119"/>
            <a:ext cx="8281987" cy="3683000"/>
          </a:xfrm>
        </p:spPr>
        <p:txBody>
          <a:bodyPr/>
          <a:lstStyle/>
          <a:p>
            <a:pPr marL="457200" lvl="1" indent="0" eaLnBrk="1" hangingPunct="1">
              <a:lnSpc>
                <a:spcPct val="120000"/>
              </a:lnSpc>
              <a:spcBef>
                <a:spcPct val="25000"/>
              </a:spcBef>
              <a:buNone/>
            </a:pPr>
            <a:r>
              <a:rPr lang="en-US" altLang="zh-CN" sz="3200" dirty="0" smtClean="0"/>
              <a:t>4.3.1 </a:t>
            </a:r>
            <a:r>
              <a:rPr lang="zh-CN" altLang="en-US" sz="3200" dirty="0" smtClean="0"/>
              <a:t>发展速度</a:t>
            </a:r>
          </a:p>
          <a:p>
            <a:pPr marL="457200" lvl="1" indent="0" eaLnBrk="1" hangingPunct="1">
              <a:lnSpc>
                <a:spcPct val="120000"/>
              </a:lnSpc>
              <a:spcBef>
                <a:spcPct val="25000"/>
              </a:spcBef>
              <a:buNone/>
            </a:pPr>
            <a:r>
              <a:rPr lang="en-US" altLang="zh-CN" sz="3200" dirty="0" smtClean="0"/>
              <a:t>4.3.1 </a:t>
            </a:r>
            <a:r>
              <a:rPr lang="zh-CN" altLang="en-US" sz="3200" dirty="0" smtClean="0"/>
              <a:t>增减速度</a:t>
            </a:r>
          </a:p>
          <a:p>
            <a:pPr marL="457200" lvl="1" indent="0" eaLnBrk="1" hangingPunct="1">
              <a:lnSpc>
                <a:spcPct val="120000"/>
              </a:lnSpc>
              <a:spcBef>
                <a:spcPct val="25000"/>
              </a:spcBef>
              <a:buNone/>
            </a:pPr>
            <a:r>
              <a:rPr lang="en-US" altLang="zh-CN" sz="3200" dirty="0" smtClean="0"/>
              <a:t>4.3.3 </a:t>
            </a:r>
            <a:r>
              <a:rPr lang="zh-CN" altLang="en-US" sz="3200" dirty="0" smtClean="0"/>
              <a:t>平均发展速度和平均增减速度</a:t>
            </a:r>
          </a:p>
          <a:p>
            <a:pPr marL="457200" lvl="1" indent="0" eaLnBrk="1" hangingPunct="1">
              <a:lnSpc>
                <a:spcPct val="120000"/>
              </a:lnSpc>
              <a:spcBef>
                <a:spcPct val="25000"/>
              </a:spcBef>
              <a:buNone/>
            </a:pPr>
            <a:r>
              <a:rPr lang="en-US" altLang="zh-CN" sz="3200" dirty="0" smtClean="0"/>
              <a:t>4.3.4 </a:t>
            </a:r>
            <a:r>
              <a:rPr lang="zh-CN" altLang="en-US" sz="3200" dirty="0" smtClean="0"/>
              <a:t>时间序列指标分析应注意的问题</a:t>
            </a:r>
          </a:p>
        </p:txBody>
      </p:sp>
      <p:pic>
        <p:nvPicPr>
          <p:cNvPr id="406532" name="Picture 4" descr="d102"/>
          <p:cNvPicPr>
            <a:picLocks noChangeAspect="1" noChangeArrowheads="1" noCrop="1"/>
          </p:cNvPicPr>
          <p:nvPr/>
        </p:nvPicPr>
        <p:blipFill>
          <a:blip r:embed="rId2" cstate="print"/>
          <a:srcRect/>
          <a:stretch>
            <a:fillRect/>
          </a:stretch>
        </p:blipFill>
        <p:spPr bwMode="auto">
          <a:xfrm>
            <a:off x="-180528" y="4941167"/>
            <a:ext cx="2030435" cy="1583457"/>
          </a:xfrm>
          <a:prstGeom prst="rect">
            <a:avLst/>
          </a:prstGeom>
          <a:noFill/>
          <a:ln w="9525">
            <a:noFill/>
            <a:miter lim="800000"/>
            <a:headEnd/>
            <a:tailEnd/>
          </a:ln>
        </p:spPr>
      </p:pic>
      <p:sp>
        <p:nvSpPr>
          <p:cNvPr id="91142" name="日期占位符 5"/>
          <p:cNvSpPr>
            <a:spLocks noGrp="1"/>
          </p:cNvSpPr>
          <p:nvPr>
            <p:ph type="dt" sz="quarter" idx="10"/>
          </p:nvPr>
        </p:nvSpPr>
        <p:spPr>
          <a:noFill/>
        </p:spPr>
        <p:txBody>
          <a:bodyPr/>
          <a:lstStyle/>
          <a:p>
            <a:endParaRPr lang="en-US" altLang="zh-CN"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withEffect">
                                  <p:stCondLst>
                                    <p:cond delay="0"/>
                                  </p:stCondLst>
                                  <p:childTnLst>
                                    <p:set>
                                      <p:cBhvr>
                                        <p:cTn id="6" dur="1" fill="hold">
                                          <p:stCondLst>
                                            <p:cond delay="0"/>
                                          </p:stCondLst>
                                        </p:cTn>
                                        <p:tgtEl>
                                          <p:spTgt spid="406532"/>
                                        </p:tgtEl>
                                        <p:attrNameLst>
                                          <p:attrName>style.visibility</p:attrName>
                                        </p:attrNameLst>
                                      </p:cBhvr>
                                      <p:to>
                                        <p:strVal val="visible"/>
                                      </p:to>
                                    </p:set>
                                    <p:animEffect transition="in" filter="wipe(down)">
                                      <p:cBhvr>
                                        <p:cTn id="7" dur="580">
                                          <p:stCondLst>
                                            <p:cond delay="0"/>
                                          </p:stCondLst>
                                        </p:cTn>
                                        <p:tgtEl>
                                          <p:spTgt spid="406532"/>
                                        </p:tgtEl>
                                      </p:cBhvr>
                                    </p:animEffect>
                                    <p:anim calcmode="lin" valueType="num">
                                      <p:cBhvr>
                                        <p:cTn id="8" dur="1822" tmFilter="0,0; 0.14,0.36; 0.43,0.73; 0.71,0.91; 1.0,1.0">
                                          <p:stCondLst>
                                            <p:cond delay="0"/>
                                          </p:stCondLst>
                                        </p:cTn>
                                        <p:tgtEl>
                                          <p:spTgt spid="40653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0653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0653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0653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06532"/>
                                        </p:tgtEl>
                                        <p:attrNameLst>
                                          <p:attrName>ppt_y</p:attrName>
                                        </p:attrNameLst>
                                      </p:cBhvr>
                                      <p:tavLst>
                                        <p:tav tm="0" fmla="#ppt_y-sin(pi*$)/81">
                                          <p:val>
                                            <p:fltVal val="0"/>
                                          </p:val>
                                        </p:tav>
                                        <p:tav tm="100000">
                                          <p:val>
                                            <p:fltVal val="1"/>
                                          </p:val>
                                        </p:tav>
                                      </p:tavLst>
                                    </p:anim>
                                    <p:animScale>
                                      <p:cBhvr>
                                        <p:cTn id="13" dur="26">
                                          <p:stCondLst>
                                            <p:cond delay="650"/>
                                          </p:stCondLst>
                                        </p:cTn>
                                        <p:tgtEl>
                                          <p:spTgt spid="406532"/>
                                        </p:tgtEl>
                                      </p:cBhvr>
                                      <p:to x="100000" y="60000"/>
                                    </p:animScale>
                                    <p:animScale>
                                      <p:cBhvr>
                                        <p:cTn id="14" dur="166" decel="50000">
                                          <p:stCondLst>
                                            <p:cond delay="676"/>
                                          </p:stCondLst>
                                        </p:cTn>
                                        <p:tgtEl>
                                          <p:spTgt spid="406532"/>
                                        </p:tgtEl>
                                      </p:cBhvr>
                                      <p:to x="100000" y="100000"/>
                                    </p:animScale>
                                    <p:animScale>
                                      <p:cBhvr>
                                        <p:cTn id="15" dur="26">
                                          <p:stCondLst>
                                            <p:cond delay="1312"/>
                                          </p:stCondLst>
                                        </p:cTn>
                                        <p:tgtEl>
                                          <p:spTgt spid="406532"/>
                                        </p:tgtEl>
                                      </p:cBhvr>
                                      <p:to x="100000" y="80000"/>
                                    </p:animScale>
                                    <p:animScale>
                                      <p:cBhvr>
                                        <p:cTn id="16" dur="166" decel="50000">
                                          <p:stCondLst>
                                            <p:cond delay="1338"/>
                                          </p:stCondLst>
                                        </p:cTn>
                                        <p:tgtEl>
                                          <p:spTgt spid="406532"/>
                                        </p:tgtEl>
                                      </p:cBhvr>
                                      <p:to x="100000" y="100000"/>
                                    </p:animScale>
                                    <p:animScale>
                                      <p:cBhvr>
                                        <p:cTn id="17" dur="26">
                                          <p:stCondLst>
                                            <p:cond delay="1642"/>
                                          </p:stCondLst>
                                        </p:cTn>
                                        <p:tgtEl>
                                          <p:spTgt spid="406532"/>
                                        </p:tgtEl>
                                      </p:cBhvr>
                                      <p:to x="100000" y="90000"/>
                                    </p:animScale>
                                    <p:animScale>
                                      <p:cBhvr>
                                        <p:cTn id="18" dur="166" decel="50000">
                                          <p:stCondLst>
                                            <p:cond delay="1668"/>
                                          </p:stCondLst>
                                        </p:cTn>
                                        <p:tgtEl>
                                          <p:spTgt spid="406532"/>
                                        </p:tgtEl>
                                      </p:cBhvr>
                                      <p:to x="100000" y="100000"/>
                                    </p:animScale>
                                    <p:animScale>
                                      <p:cBhvr>
                                        <p:cTn id="19" dur="26">
                                          <p:stCondLst>
                                            <p:cond delay="1808"/>
                                          </p:stCondLst>
                                        </p:cTn>
                                        <p:tgtEl>
                                          <p:spTgt spid="406532"/>
                                        </p:tgtEl>
                                      </p:cBhvr>
                                      <p:to x="100000" y="95000"/>
                                    </p:animScale>
                                    <p:animScale>
                                      <p:cBhvr>
                                        <p:cTn id="20" dur="166" decel="50000">
                                          <p:stCondLst>
                                            <p:cond delay="1834"/>
                                          </p:stCondLst>
                                        </p:cTn>
                                        <p:tgtEl>
                                          <p:spTgt spid="40653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5" name="Rectangle 2"/>
          <p:cNvSpPr>
            <a:spLocks noGrp="1" noChangeArrowheads="1"/>
          </p:cNvSpPr>
          <p:nvPr>
            <p:ph type="title"/>
          </p:nvPr>
        </p:nvSpPr>
        <p:spPr>
          <a:xfrm>
            <a:off x="1403350" y="333375"/>
            <a:ext cx="6437313" cy="838200"/>
          </a:xfrm>
        </p:spPr>
        <p:txBody>
          <a:bodyPr lIns="90488" tIns="44450" rIns="90488" bIns="44450" anchor="ctr" anchorCtr="1"/>
          <a:lstStyle/>
          <a:p>
            <a:pPr eaLnBrk="1" hangingPunct="1"/>
            <a:r>
              <a:rPr lang="en-US" altLang="zh-CN" dirty="0" smtClean="0"/>
              <a:t>4.3.1</a:t>
            </a:r>
            <a:r>
              <a:rPr lang="en-US" altLang="zh-CN" dirty="0"/>
              <a:t> </a:t>
            </a:r>
            <a:r>
              <a:rPr lang="en-US" altLang="zh-CN" sz="4000" dirty="0" smtClean="0">
                <a:solidFill>
                  <a:srgbClr val="FF00FF"/>
                </a:solidFill>
              </a:rPr>
              <a:t> </a:t>
            </a:r>
            <a:r>
              <a:rPr lang="zh-CN" altLang="en-US" dirty="0" smtClean="0"/>
              <a:t>发展速度</a:t>
            </a:r>
          </a:p>
        </p:txBody>
      </p:sp>
      <p:sp>
        <p:nvSpPr>
          <p:cNvPr id="408579" name="Rectangle 3"/>
          <p:cNvSpPr>
            <a:spLocks noGrp="1" noChangeArrowheads="1"/>
          </p:cNvSpPr>
          <p:nvPr>
            <p:ph type="body" idx="1"/>
          </p:nvPr>
        </p:nvSpPr>
        <p:spPr>
          <a:xfrm>
            <a:off x="0" y="1124744"/>
            <a:ext cx="8001000" cy="5013325"/>
          </a:xfrm>
          <a:noFill/>
        </p:spPr>
        <p:txBody>
          <a:bodyPr lIns="90488" tIns="44450" rIns="90488" bIns="44450"/>
          <a:lstStyle/>
          <a:p>
            <a:pPr marL="571500" indent="-571500" algn="just" eaLnBrk="1" hangingPunct="1">
              <a:lnSpc>
                <a:spcPct val="120000"/>
              </a:lnSpc>
            </a:pPr>
            <a:r>
              <a:rPr lang="zh-CN" altLang="en-US" sz="2800" dirty="0" smtClean="0">
                <a:solidFill>
                  <a:srgbClr val="3333FF"/>
                </a:solidFill>
                <a:latin typeface="Times New Roman" pitchFamily="18" charset="0"/>
                <a:sym typeface="Wingdings 2" pitchFamily="18" charset="2"/>
              </a:rPr>
              <a:t>发展速度</a:t>
            </a:r>
            <a:r>
              <a:rPr lang="zh-CN" altLang="en-US" sz="2800" dirty="0" smtClean="0">
                <a:solidFill>
                  <a:srgbClr val="000000"/>
                </a:solidFill>
                <a:latin typeface="Times New Roman" pitchFamily="18" charset="0"/>
                <a:sym typeface="Wingdings 2" pitchFamily="18" charset="2"/>
              </a:rPr>
              <a:t>＝报告期水平／基期水平</a:t>
            </a:r>
            <a:endParaRPr lang="zh-CN" altLang="en-US" sz="2800" dirty="0" smtClean="0">
              <a:solidFill>
                <a:srgbClr val="000000"/>
              </a:solidFill>
            </a:endParaRPr>
          </a:p>
          <a:p>
            <a:pPr marL="971550" lvl="1" eaLnBrk="1" hangingPunct="1">
              <a:lnSpc>
                <a:spcPct val="120000"/>
              </a:lnSpc>
            </a:pPr>
            <a:r>
              <a:rPr lang="zh-CN" altLang="en-US" dirty="0" smtClean="0"/>
              <a:t>说明现象在观察期内发展变化的相对程度；</a:t>
            </a:r>
          </a:p>
          <a:p>
            <a:pPr marL="971550" lvl="1" eaLnBrk="1" hangingPunct="1">
              <a:lnSpc>
                <a:spcPct val="120000"/>
              </a:lnSpc>
            </a:pPr>
            <a:r>
              <a:rPr lang="zh-CN" altLang="en-US" dirty="0" smtClean="0">
                <a:sym typeface="Wingdings 2" pitchFamily="18" charset="2"/>
              </a:rPr>
              <a:t>有环</a:t>
            </a:r>
            <a:r>
              <a:rPr lang="zh-CN" altLang="en-US" dirty="0" smtClean="0">
                <a:sym typeface="Wingdings 2" pitchFamily="18" charset="2"/>
              </a:rPr>
              <a:t>比、定基、同比发展速度</a:t>
            </a:r>
            <a:r>
              <a:rPr lang="zh-CN" altLang="en-US" dirty="0" smtClean="0">
                <a:sym typeface="Wingdings 2" pitchFamily="18" charset="2"/>
              </a:rPr>
              <a:t>之</a:t>
            </a:r>
            <a:r>
              <a:rPr lang="zh-CN" altLang="en-US" dirty="0" smtClean="0">
                <a:sym typeface="Wingdings 2" pitchFamily="18" charset="2"/>
              </a:rPr>
              <a:t>分：</a:t>
            </a:r>
            <a:endParaRPr lang="zh-CN" altLang="en-US" dirty="0" smtClean="0">
              <a:sym typeface="Wingdings 2" pitchFamily="18" charset="2"/>
            </a:endParaRPr>
          </a:p>
          <a:p>
            <a:pPr marL="1314450" lvl="2" algn="just" eaLnBrk="1" hangingPunct="1">
              <a:lnSpc>
                <a:spcPct val="120000"/>
              </a:lnSpc>
            </a:pPr>
            <a:r>
              <a:rPr lang="zh-CN" altLang="en-US" dirty="0" smtClean="0">
                <a:solidFill>
                  <a:srgbClr val="3333FF"/>
                </a:solidFill>
                <a:latin typeface="Times New Roman" pitchFamily="18" charset="0"/>
                <a:sym typeface="Wingdings 2" pitchFamily="18" charset="2"/>
              </a:rPr>
              <a:t>环比发展速度</a:t>
            </a:r>
            <a:r>
              <a:rPr lang="zh-CN" altLang="en-US" dirty="0" smtClean="0">
                <a:solidFill>
                  <a:srgbClr val="000000"/>
                </a:solidFill>
                <a:latin typeface="Times New Roman" pitchFamily="18" charset="0"/>
                <a:sym typeface="Wingdings 2" pitchFamily="18" charset="2"/>
              </a:rPr>
              <a:t>＝报告期水平／上期水平</a:t>
            </a:r>
          </a:p>
          <a:p>
            <a:pPr marL="1314450" lvl="2" algn="just" eaLnBrk="1" hangingPunct="1">
              <a:lnSpc>
                <a:spcPct val="120000"/>
              </a:lnSpc>
            </a:pPr>
            <a:endParaRPr lang="zh-CN" altLang="en-US" b="0" dirty="0" smtClean="0">
              <a:solidFill>
                <a:srgbClr val="000000"/>
              </a:solidFill>
              <a:latin typeface="Times New Roman" pitchFamily="18" charset="0"/>
              <a:sym typeface="Wingdings 2" pitchFamily="18" charset="2"/>
            </a:endParaRPr>
          </a:p>
          <a:p>
            <a:pPr marL="1314450" lvl="2" algn="just" eaLnBrk="1" hangingPunct="1">
              <a:lnSpc>
                <a:spcPct val="120000"/>
              </a:lnSpc>
            </a:pPr>
            <a:endParaRPr lang="zh-CN" altLang="en-US" dirty="0" smtClean="0">
              <a:solidFill>
                <a:srgbClr val="000000"/>
              </a:solidFill>
              <a:latin typeface="Times New Roman" pitchFamily="18" charset="0"/>
              <a:sym typeface="Wingdings 2" pitchFamily="18" charset="2"/>
            </a:endParaRPr>
          </a:p>
          <a:p>
            <a:pPr marL="1314450" lvl="2" algn="just" eaLnBrk="1" hangingPunct="1">
              <a:lnSpc>
                <a:spcPct val="120000"/>
              </a:lnSpc>
            </a:pPr>
            <a:r>
              <a:rPr lang="zh-CN" altLang="en-US" dirty="0" smtClean="0">
                <a:solidFill>
                  <a:srgbClr val="3333FF"/>
                </a:solidFill>
                <a:latin typeface="Times New Roman" pitchFamily="18" charset="0"/>
                <a:sym typeface="Wingdings 2" pitchFamily="18" charset="2"/>
              </a:rPr>
              <a:t>定基发展速度</a:t>
            </a:r>
            <a:r>
              <a:rPr lang="zh-CN" altLang="en-US" dirty="0" smtClean="0">
                <a:solidFill>
                  <a:srgbClr val="000000"/>
                </a:solidFill>
                <a:latin typeface="Times New Roman" pitchFamily="18" charset="0"/>
                <a:sym typeface="Wingdings 2" pitchFamily="18" charset="2"/>
              </a:rPr>
              <a:t>＝报告期水平／固定基期水平</a:t>
            </a:r>
          </a:p>
        </p:txBody>
      </p:sp>
      <p:graphicFrame>
        <p:nvGraphicFramePr>
          <p:cNvPr id="408580" name="Object 4"/>
          <p:cNvGraphicFramePr>
            <a:graphicFrameLocks noChangeAspect="1"/>
          </p:cNvGraphicFramePr>
          <p:nvPr/>
        </p:nvGraphicFramePr>
        <p:xfrm>
          <a:off x="3347864" y="3214167"/>
          <a:ext cx="4464050" cy="1150937"/>
        </p:xfrm>
        <a:graphic>
          <a:graphicData uri="http://schemas.openxmlformats.org/presentationml/2006/ole">
            <mc:AlternateContent xmlns:mc="http://schemas.openxmlformats.org/markup-compatibility/2006">
              <mc:Choice xmlns:v="urn:schemas-microsoft-com:vml" Requires="v">
                <p:oleObj spid="_x0000_s15576" name="Equation" r:id="rId4" imgW="2222280" imgH="622080" progId="Equation.DSMT4">
                  <p:embed/>
                </p:oleObj>
              </mc:Choice>
              <mc:Fallback>
                <p:oleObj name="Equation" r:id="rId4" imgW="2222280" imgH="62208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47864" y="3214167"/>
                        <a:ext cx="4464050" cy="1150937"/>
                      </a:xfrm>
                      <a:prstGeom prst="rect">
                        <a:avLst/>
                      </a:prstGeom>
                      <a:noFill/>
                      <a:extLst>
                        <a:ext uri="{909E8E84-426E-40DD-AFC4-6F175D3DCCD1}">
                          <a14:hiddenFill xmlns:a14="http://schemas.microsoft.com/office/drawing/2010/main">
                            <a:solidFill>
                              <a:srgbClr val="FFCCFF"/>
                            </a:solidFill>
                          </a14:hiddenFill>
                        </a:ext>
                      </a:extLst>
                    </p:spPr>
                  </p:pic>
                </p:oleObj>
              </mc:Fallback>
            </mc:AlternateContent>
          </a:graphicData>
        </a:graphic>
      </p:graphicFrame>
      <p:graphicFrame>
        <p:nvGraphicFramePr>
          <p:cNvPr id="408581" name="Object 5"/>
          <p:cNvGraphicFramePr>
            <a:graphicFrameLocks noChangeAspect="1"/>
          </p:cNvGraphicFramePr>
          <p:nvPr/>
        </p:nvGraphicFramePr>
        <p:xfrm>
          <a:off x="3275856" y="4797152"/>
          <a:ext cx="4691062" cy="1385887"/>
        </p:xfrm>
        <a:graphic>
          <a:graphicData uri="http://schemas.openxmlformats.org/presentationml/2006/ole">
            <mc:AlternateContent xmlns:mc="http://schemas.openxmlformats.org/markup-compatibility/2006">
              <mc:Choice xmlns:v="urn:schemas-microsoft-com:vml" Requires="v">
                <p:oleObj spid="_x0000_s15577" name="Equation" r:id="rId6" imgW="2145960" imgH="622080" progId="Equation.DSMT4">
                  <p:embed/>
                </p:oleObj>
              </mc:Choice>
              <mc:Fallback>
                <p:oleObj name="Equation" r:id="rId6" imgW="2145960" imgH="62208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5856" y="4797152"/>
                        <a:ext cx="4691062" cy="1385887"/>
                      </a:xfrm>
                      <a:prstGeom prst="rect">
                        <a:avLst/>
                      </a:prstGeom>
                      <a:noFill/>
                      <a:extLst>
                        <a:ext uri="{909E8E84-426E-40DD-AFC4-6F175D3DCCD1}">
                          <a14:hiddenFill xmlns:a14="http://schemas.microsoft.com/office/drawing/2010/main">
                            <a:solidFill>
                              <a:srgbClr val="CCFF66"/>
                            </a:solidFill>
                          </a14:hiddenFill>
                        </a:ext>
                      </a:extLst>
                    </p:spPr>
                  </p:pic>
                </p:oleObj>
              </mc:Fallback>
            </mc:AlternateContent>
          </a:graphicData>
        </a:graphic>
      </p:graphicFrame>
      <p:sp>
        <p:nvSpPr>
          <p:cNvPr id="15367" name="日期占位符 6"/>
          <p:cNvSpPr>
            <a:spLocks noGrp="1"/>
          </p:cNvSpPr>
          <p:nvPr>
            <p:ph type="dt" sz="quarter" idx="10"/>
          </p:nvPr>
        </p:nvSpPr>
        <p:spPr>
          <a:noFill/>
        </p:spPr>
        <p:txBody>
          <a:bodyPr/>
          <a:lstStyle/>
          <a:p>
            <a:endParaRPr lang="en-US" altLang="zh-CN" smtClean="0"/>
          </a:p>
        </p:txBody>
      </p:sp>
      <p:sp>
        <p:nvSpPr>
          <p:cNvPr id="8" name="TextBox 7"/>
          <p:cNvSpPr txBox="1"/>
          <p:nvPr/>
        </p:nvSpPr>
        <p:spPr>
          <a:xfrm>
            <a:off x="1148638" y="4797152"/>
            <a:ext cx="2088232" cy="461665"/>
          </a:xfrm>
          <a:prstGeom prst="rect">
            <a:avLst/>
          </a:prstGeom>
          <a:noFill/>
        </p:spPr>
        <p:txBody>
          <a:bodyPr wrap="square" rtlCol="0">
            <a:spAutoFit/>
          </a:bodyPr>
          <a:lstStyle/>
          <a:p>
            <a:r>
              <a:rPr lang="zh-CN" altLang="en-US" sz="2400" dirty="0" smtClean="0">
                <a:solidFill>
                  <a:srgbClr val="7030A0"/>
                </a:solidFill>
              </a:rPr>
              <a:t>（发展</a:t>
            </a:r>
            <a:r>
              <a:rPr lang="zh-CN" altLang="en-US" sz="2400" b="1" dirty="0" smtClean="0">
                <a:solidFill>
                  <a:srgbClr val="7030A0"/>
                </a:solidFill>
              </a:rPr>
              <a:t>总速度</a:t>
            </a:r>
            <a:r>
              <a:rPr lang="zh-CN" altLang="en-US" sz="2400" dirty="0" smtClean="0">
                <a:solidFill>
                  <a:srgbClr val="7030A0"/>
                </a:solidFill>
              </a:rPr>
              <a:t>）</a:t>
            </a:r>
            <a:endParaRPr lang="zh-CN" altLang="en-US" sz="2400" dirty="0">
              <a:solidFill>
                <a:srgbClr val="7030A0"/>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8579">
                                            <p:txEl>
                                              <p:pRg st="2" end="2"/>
                                            </p:txEl>
                                          </p:spTgt>
                                        </p:tgtEl>
                                        <p:attrNameLst>
                                          <p:attrName>style.visibility</p:attrName>
                                        </p:attrNameLst>
                                      </p:cBhvr>
                                      <p:to>
                                        <p:strVal val="visible"/>
                                      </p:to>
                                    </p:set>
                                    <p:animEffect transition="in" filter="wipe(left)">
                                      <p:cBhvr>
                                        <p:cTn id="7" dur="500"/>
                                        <p:tgtEl>
                                          <p:spTgt spid="408579">
                                            <p:txEl>
                                              <p:pRg st="2" end="2"/>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08579">
                                            <p:txEl>
                                              <p:pRg st="3" end="3"/>
                                            </p:txEl>
                                          </p:spTgt>
                                        </p:tgtEl>
                                        <p:attrNameLst>
                                          <p:attrName>style.visibility</p:attrName>
                                        </p:attrNameLst>
                                      </p:cBhvr>
                                      <p:to>
                                        <p:strVal val="visible"/>
                                      </p:to>
                                    </p:set>
                                    <p:animEffect transition="in" filter="wipe(left)">
                                      <p:cBhvr>
                                        <p:cTn id="10" dur="500"/>
                                        <p:tgtEl>
                                          <p:spTgt spid="408579">
                                            <p:txEl>
                                              <p:pRg st="3" end="3"/>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408580"/>
                                        </p:tgtEl>
                                        <p:attrNameLst>
                                          <p:attrName>style.visibility</p:attrName>
                                        </p:attrNameLst>
                                      </p:cBhvr>
                                      <p:to>
                                        <p:strVal val="visible"/>
                                      </p:to>
                                    </p:set>
                                    <p:animEffect transition="in" filter="wipe(left)">
                                      <p:cBhvr>
                                        <p:cTn id="13" dur="1000"/>
                                        <p:tgtEl>
                                          <p:spTgt spid="40858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08579">
                                            <p:txEl>
                                              <p:pRg st="6" end="6"/>
                                            </p:txEl>
                                          </p:spTgt>
                                        </p:tgtEl>
                                        <p:attrNameLst>
                                          <p:attrName>style.visibility</p:attrName>
                                        </p:attrNameLst>
                                      </p:cBhvr>
                                      <p:to>
                                        <p:strVal val="visible"/>
                                      </p:to>
                                    </p:set>
                                    <p:animEffect transition="in" filter="wipe(left)">
                                      <p:cBhvr>
                                        <p:cTn id="18" dur="500"/>
                                        <p:tgtEl>
                                          <p:spTgt spid="408579">
                                            <p:txEl>
                                              <p:pRg st="6" end="6"/>
                                            </p:txEl>
                                          </p:spTgt>
                                        </p:tgtEl>
                                      </p:cBhvr>
                                    </p:animEffect>
                                  </p:childTnLst>
                                </p:cTn>
                              </p:par>
                            </p:childTnLst>
                          </p:cTn>
                        </p:par>
                        <p:par>
                          <p:cTn id="19" fill="hold">
                            <p:stCondLst>
                              <p:cond delay="500"/>
                            </p:stCondLst>
                            <p:childTnLst>
                              <p:par>
                                <p:cTn id="20" presetID="3" presetClass="entr" presetSubtype="10"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par>
                                <p:cTn id="23" presetID="16" presetClass="entr" presetSubtype="26" fill="hold" nodeType="withEffect">
                                  <p:stCondLst>
                                    <p:cond delay="0"/>
                                  </p:stCondLst>
                                  <p:childTnLst>
                                    <p:set>
                                      <p:cBhvr>
                                        <p:cTn id="24" dur="1" fill="hold">
                                          <p:stCondLst>
                                            <p:cond delay="0"/>
                                          </p:stCondLst>
                                        </p:cTn>
                                        <p:tgtEl>
                                          <p:spTgt spid="408581"/>
                                        </p:tgtEl>
                                        <p:attrNameLst>
                                          <p:attrName>style.visibility</p:attrName>
                                        </p:attrNameLst>
                                      </p:cBhvr>
                                      <p:to>
                                        <p:strVal val="visible"/>
                                      </p:to>
                                    </p:set>
                                    <p:animEffect transition="in" filter="barn(inHorizontal)">
                                      <p:cBhvr>
                                        <p:cTn id="25" dur="500"/>
                                        <p:tgtEl>
                                          <p:spTgt spid="4085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8579" grpId="0" uiExpand="1" build="p" bldLvl="4" autoUpdateAnimBg="0"/>
      <p:bldP spid="8" grpId="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9" name="Rectangle 2"/>
          <p:cNvSpPr>
            <a:spLocks noGrp="1" noChangeArrowheads="1"/>
          </p:cNvSpPr>
          <p:nvPr>
            <p:ph type="title"/>
          </p:nvPr>
        </p:nvSpPr>
        <p:spPr>
          <a:xfrm>
            <a:off x="832259" y="458832"/>
            <a:ext cx="7696200" cy="838200"/>
          </a:xfrm>
        </p:spPr>
        <p:txBody>
          <a:bodyPr lIns="90488" tIns="44450" rIns="90488" bIns="44450" anchor="ctr" anchorCtr="1"/>
          <a:lstStyle/>
          <a:p>
            <a:pPr eaLnBrk="1" hangingPunct="1"/>
            <a:r>
              <a:rPr lang="zh-CN" altLang="en-US" sz="3600" dirty="0" smtClean="0">
                <a:sym typeface="Wingdings 2" pitchFamily="18" charset="2"/>
              </a:rPr>
              <a:t>环比发展速度与定基发展速度之关系</a:t>
            </a:r>
          </a:p>
        </p:txBody>
      </p:sp>
      <mc:AlternateContent xmlns:mc="http://schemas.openxmlformats.org/markup-compatibility/2006">
        <mc:Choice xmlns:a14="http://schemas.microsoft.com/office/drawing/2010/main" Requires="a14">
          <p:sp>
            <p:nvSpPr>
              <p:cNvPr id="410627" name="Rectangle 3"/>
              <p:cNvSpPr>
                <a:spLocks noGrp="1" noChangeArrowheads="1"/>
              </p:cNvSpPr>
              <p:nvPr>
                <p:ph type="body" idx="1"/>
              </p:nvPr>
            </p:nvSpPr>
            <p:spPr>
              <a:xfrm>
                <a:off x="107505" y="1471351"/>
                <a:ext cx="8784976" cy="4983139"/>
              </a:xfrm>
              <a:noFill/>
            </p:spPr>
            <p:txBody>
              <a:bodyPr lIns="90488" tIns="44450" rIns="90488" bIns="44450"/>
              <a:lstStyle/>
              <a:p>
                <a:pPr lvl="1" algn="just" eaLnBrk="1" hangingPunct="1">
                  <a:lnSpc>
                    <a:spcPct val="110000"/>
                  </a:lnSpc>
                </a:pPr>
                <a:r>
                  <a:rPr lang="zh-CN" altLang="en-US" dirty="0" smtClean="0">
                    <a:ea typeface="华文中宋" pitchFamily="2" charset="-122"/>
                    <a:sym typeface="Wingdings 2" pitchFamily="18" charset="2"/>
                  </a:rPr>
                  <a:t>定基发展速度</a:t>
                </a:r>
                <a:r>
                  <a:rPr lang="en-US" altLang="zh-CN" b="0" dirty="0" smtClean="0">
                    <a:ea typeface="华文中宋" pitchFamily="2" charset="-122"/>
                    <a:sym typeface="Wingdings 2" pitchFamily="18" charset="2"/>
                  </a:rPr>
                  <a:t>(</a:t>
                </a:r>
                <a:r>
                  <a:rPr lang="en-US" altLang="zh-CN" b="0" i="1" dirty="0" smtClean="0">
                    <a:latin typeface="Times New Roman" panose="02020603050405020304" pitchFamily="18" charset="0"/>
                    <a:ea typeface="华文中宋" pitchFamily="2" charset="-122"/>
                    <a:cs typeface="Times New Roman" panose="02020603050405020304" pitchFamily="18" charset="0"/>
                    <a:sym typeface="Wingdings 2" pitchFamily="18" charset="2"/>
                  </a:rPr>
                  <a:t>R</a:t>
                </a:r>
                <a:r>
                  <a:rPr lang="en-US" altLang="zh-CN" b="0" dirty="0" smtClean="0">
                    <a:ea typeface="华文中宋" pitchFamily="2" charset="-122"/>
                    <a:sym typeface="Wingdings 2" pitchFamily="18" charset="2"/>
                  </a:rPr>
                  <a:t>)</a:t>
                </a:r>
                <a:r>
                  <a:rPr lang="en-US" altLang="zh-CN" dirty="0" smtClean="0">
                    <a:ea typeface="华文中宋" pitchFamily="2" charset="-122"/>
                    <a:sym typeface="Wingdings 2" pitchFamily="18" charset="2"/>
                  </a:rPr>
                  <a:t>=</a:t>
                </a:r>
                <a:r>
                  <a:rPr lang="zh-CN" altLang="en-US" dirty="0" smtClean="0">
                    <a:ea typeface="华文中宋" pitchFamily="2" charset="-122"/>
                    <a:sym typeface="Wingdings 2" pitchFamily="18" charset="2"/>
                  </a:rPr>
                  <a:t>相应的环比发展速度</a:t>
                </a:r>
                <a:r>
                  <a:rPr lang="en-US" altLang="zh-CN" b="0" dirty="0" smtClean="0">
                    <a:ea typeface="华文中宋" pitchFamily="2" charset="-122"/>
                    <a:sym typeface="Wingdings 2" pitchFamily="18" charset="2"/>
                  </a:rPr>
                  <a:t>(</a:t>
                </a:r>
                <a:r>
                  <a:rPr lang="en-US" altLang="zh-CN" i="1" dirty="0" smtClean="0">
                    <a:latin typeface="Times New Roman" panose="02020603050405020304" pitchFamily="18" charset="0"/>
                    <a:ea typeface="华文中宋" pitchFamily="2" charset="-122"/>
                    <a:cs typeface="Times New Roman" panose="02020603050405020304" pitchFamily="18" charset="0"/>
                    <a:sym typeface="Wingdings 2" pitchFamily="18" charset="2"/>
                  </a:rPr>
                  <a:t>x</a:t>
                </a:r>
                <a:r>
                  <a:rPr lang="en-US" altLang="zh-CN" b="0" dirty="0" smtClean="0">
                    <a:ea typeface="华文中宋" pitchFamily="2" charset="-122"/>
                    <a:sym typeface="Wingdings 2" pitchFamily="18" charset="2"/>
                  </a:rPr>
                  <a:t>)</a:t>
                </a:r>
                <a:r>
                  <a:rPr lang="zh-CN" altLang="en-US" dirty="0" smtClean="0">
                    <a:ea typeface="华文中宋" pitchFamily="2" charset="-122"/>
                    <a:sym typeface="Wingdings 2" pitchFamily="18" charset="2"/>
                  </a:rPr>
                  <a:t>之</a:t>
                </a:r>
                <a:r>
                  <a:rPr lang="zh-CN" altLang="en-US" dirty="0" smtClean="0">
                    <a:solidFill>
                      <a:srgbClr val="00B0F0"/>
                    </a:solidFill>
                    <a:ea typeface="华文中宋" pitchFamily="2" charset="-122"/>
                    <a:sym typeface="Wingdings 2" pitchFamily="18" charset="2"/>
                  </a:rPr>
                  <a:t>积</a:t>
                </a:r>
                <a:r>
                  <a:rPr lang="zh-CN" altLang="en-US" dirty="0" smtClean="0">
                    <a:ea typeface="华文中宋" pitchFamily="2" charset="-122"/>
                    <a:sym typeface="Wingdings 2" pitchFamily="18" charset="2"/>
                  </a:rPr>
                  <a:t>。</a:t>
                </a:r>
              </a:p>
              <a:p>
                <a:pPr marL="1828800" lvl="4" indent="0" algn="just" eaLnBrk="1" hangingPunct="1">
                  <a:lnSpc>
                    <a:spcPct val="110000"/>
                  </a:lnSpc>
                  <a:buNone/>
                </a:pPr>
                <a:endParaRPr lang="en-US" altLang="zh-CN" sz="1600" b="1" i="1" dirty="0" smtClean="0">
                  <a:latin typeface="Cambria Math" panose="02040503050406030204" pitchFamily="18" charset="0"/>
                  <a:ea typeface="华文中宋" pitchFamily="2" charset="-122"/>
                  <a:sym typeface="Wingdings 2" pitchFamily="18" charset="2"/>
                </a:endParaRPr>
              </a:p>
              <a:p>
                <a:pPr marL="914400" lvl="2" indent="0" algn="r" eaLnBrk="1" hangingPunct="1">
                  <a:lnSpc>
                    <a:spcPct val="110000"/>
                  </a:lnSpc>
                  <a:buNone/>
                </a:pPr>
                <a14:m>
                  <m:oMath xmlns:m="http://schemas.openxmlformats.org/officeDocument/2006/math">
                    <m:r>
                      <a:rPr lang="en-US" altLang="zh-CN" sz="3200" b="1" i="1" smtClean="0">
                        <a:latin typeface="Cambria Math" panose="02040503050406030204" pitchFamily="18" charset="0"/>
                        <a:ea typeface="华文中宋" pitchFamily="2" charset="-122"/>
                        <a:sym typeface="Wingdings 2" pitchFamily="18" charset="2"/>
                      </a:rPr>
                      <m:t>𝑹</m:t>
                    </m:r>
                    <m:r>
                      <a:rPr lang="en-US" altLang="zh-CN" sz="3200" b="1" i="1" baseline="-25000" smtClean="0">
                        <a:latin typeface="Cambria Math" panose="02040503050406030204" pitchFamily="18" charset="0"/>
                        <a:ea typeface="华文中宋" pitchFamily="2" charset="-122"/>
                        <a:sym typeface="Wingdings 2" pitchFamily="18" charset="2"/>
                      </a:rPr>
                      <m:t>𝒕</m:t>
                    </m:r>
                    <m:r>
                      <a:rPr lang="en-US" altLang="zh-CN" sz="3200" b="1" i="1" smtClean="0">
                        <a:latin typeface="Cambria Math" panose="02040503050406030204" pitchFamily="18" charset="0"/>
                        <a:ea typeface="华文中宋" pitchFamily="2" charset="-122"/>
                        <a:sym typeface="Wingdings 2" pitchFamily="18" charset="2"/>
                      </a:rPr>
                      <m:t>=</m:t>
                    </m:r>
                    <m:r>
                      <a:rPr lang="en-US" altLang="zh-CN" sz="3200" b="1" i="1" smtClean="0">
                        <a:latin typeface="Cambria Math" panose="02040503050406030204" pitchFamily="18" charset="0"/>
                        <a:ea typeface="华文中宋" pitchFamily="2" charset="-122"/>
                        <a:sym typeface="Wingdings 2" pitchFamily="18" charset="2"/>
                      </a:rPr>
                      <m:t>𝒙</m:t>
                    </m:r>
                    <m:r>
                      <a:rPr lang="en-US" altLang="zh-CN" sz="3200" b="1" i="1" baseline="-25000" smtClean="0">
                        <a:latin typeface="Cambria Math" panose="02040503050406030204" pitchFamily="18" charset="0"/>
                        <a:ea typeface="华文中宋" pitchFamily="2" charset="-122"/>
                        <a:sym typeface="Wingdings 2" pitchFamily="18" charset="2"/>
                      </a:rPr>
                      <m:t>𝟏</m:t>
                    </m:r>
                    <m:r>
                      <a:rPr lang="en-US" altLang="zh-CN" sz="3200" b="1" i="1" dirty="0" smtClean="0">
                        <a:latin typeface="Cambria Math" panose="02040503050406030204" pitchFamily="18" charset="0"/>
                        <a:ea typeface="华文中宋" pitchFamily="2" charset="-122"/>
                        <a:sym typeface="Wingdings 2" pitchFamily="18" charset="2"/>
                      </a:rPr>
                      <m:t>.</m:t>
                    </m:r>
                  </m:oMath>
                </a14:m>
                <a:r>
                  <a:rPr lang="en-US" altLang="zh-CN" sz="2800" dirty="0">
                    <a:ea typeface="华文中宋" pitchFamily="2" charset="-122"/>
                    <a:sym typeface="Wingdings 2" pitchFamily="18" charset="2"/>
                  </a:rPr>
                  <a:t> </a:t>
                </a:r>
                <a14:m>
                  <m:oMath xmlns:m="http://schemas.openxmlformats.org/officeDocument/2006/math">
                    <m:r>
                      <a:rPr lang="en-US" altLang="zh-CN" sz="2800" i="1">
                        <a:latin typeface="Cambria Math" panose="02040503050406030204" pitchFamily="18" charset="0"/>
                        <a:ea typeface="华文中宋" pitchFamily="2" charset="-122"/>
                        <a:sym typeface="Wingdings 2" pitchFamily="18" charset="2"/>
                      </a:rPr>
                      <m:t>𝒙</m:t>
                    </m:r>
                    <m:r>
                      <a:rPr lang="en-US" altLang="zh-CN" sz="2800" b="1" i="1" baseline="-25000" smtClean="0">
                        <a:latin typeface="Cambria Math" panose="02040503050406030204" pitchFamily="18" charset="0"/>
                        <a:ea typeface="华文中宋" pitchFamily="2" charset="-122"/>
                        <a:sym typeface="Wingdings 2" pitchFamily="18" charset="2"/>
                      </a:rPr>
                      <m:t>𝟐</m:t>
                    </m:r>
                    <m:r>
                      <a:rPr lang="en-US" altLang="zh-CN" sz="2800" i="1" dirty="0">
                        <a:latin typeface="Cambria Math" panose="02040503050406030204" pitchFamily="18" charset="0"/>
                        <a:ea typeface="华文中宋" pitchFamily="2" charset="-122"/>
                        <a:sym typeface="Wingdings 2" pitchFamily="18" charset="2"/>
                      </a:rPr>
                      <m:t>.</m:t>
                    </m:r>
                  </m:oMath>
                </a14:m>
                <a:r>
                  <a:rPr lang="en-US" altLang="zh-CN" sz="2800" dirty="0" smtClean="0">
                    <a:ea typeface="华文中宋" pitchFamily="2" charset="-122"/>
                    <a:sym typeface="Wingdings 2" pitchFamily="18" charset="2"/>
                  </a:rPr>
                  <a:t>…</a:t>
                </a:r>
                <a14:m>
                  <m:oMath xmlns:m="http://schemas.openxmlformats.org/officeDocument/2006/math">
                    <m:r>
                      <a:rPr lang="en-US" altLang="zh-CN" sz="2800" i="1" dirty="0">
                        <a:latin typeface="Cambria Math" panose="02040503050406030204" pitchFamily="18" charset="0"/>
                        <a:ea typeface="华文中宋" pitchFamily="2" charset="-122"/>
                        <a:sym typeface="Wingdings 2" pitchFamily="18" charset="2"/>
                      </a:rPr>
                      <m:t>.</m:t>
                    </m:r>
                  </m:oMath>
                </a14:m>
                <a:r>
                  <a:rPr lang="en-US" altLang="zh-CN" sz="2800" dirty="0">
                    <a:ea typeface="华文中宋" pitchFamily="2" charset="-122"/>
                    <a:sym typeface="Wingdings 2" pitchFamily="18" charset="2"/>
                  </a:rPr>
                  <a:t> </a:t>
                </a:r>
                <a14:m>
                  <m:oMath xmlns:m="http://schemas.openxmlformats.org/officeDocument/2006/math">
                    <m:r>
                      <a:rPr lang="en-US" altLang="zh-CN" sz="2800" i="1">
                        <a:latin typeface="Cambria Math" panose="02040503050406030204" pitchFamily="18" charset="0"/>
                        <a:ea typeface="华文中宋" pitchFamily="2" charset="-122"/>
                        <a:sym typeface="Wingdings 2" pitchFamily="18" charset="2"/>
                      </a:rPr>
                      <m:t>𝒙</m:t>
                    </m:r>
                    <m:r>
                      <a:rPr lang="en-US" altLang="zh-CN" sz="2800" b="1" i="1" baseline="-25000" smtClean="0">
                        <a:latin typeface="Cambria Math" panose="02040503050406030204" pitchFamily="18" charset="0"/>
                        <a:ea typeface="华文中宋" pitchFamily="2" charset="-122"/>
                        <a:sym typeface="Wingdings 2" pitchFamily="18" charset="2"/>
                      </a:rPr>
                      <m:t>𝒕</m:t>
                    </m:r>
                  </m:oMath>
                </a14:m>
                <a:endParaRPr lang="en-US" altLang="zh-CN" sz="2800" baseline="-25000" dirty="0" smtClean="0">
                  <a:ea typeface="华文中宋" pitchFamily="2" charset="-122"/>
                  <a:sym typeface="Wingdings 2" pitchFamily="18" charset="2"/>
                </a:endParaRPr>
              </a:p>
              <a:p>
                <a:pPr marL="914400" lvl="2" indent="0" algn="just" eaLnBrk="1" hangingPunct="1">
                  <a:lnSpc>
                    <a:spcPct val="110000"/>
                  </a:lnSpc>
                  <a:buNone/>
                </a:pPr>
                <a:endParaRPr lang="en-US" altLang="zh-CN" sz="2800" baseline="-25000" dirty="0">
                  <a:ea typeface="华文中宋" pitchFamily="2" charset="-122"/>
                  <a:sym typeface="Wingdings 2" pitchFamily="18" charset="2"/>
                </a:endParaRPr>
              </a:p>
              <a:p>
                <a:pPr marL="914400" lvl="2" indent="0" algn="just" eaLnBrk="1" hangingPunct="1">
                  <a:lnSpc>
                    <a:spcPct val="110000"/>
                  </a:lnSpc>
                  <a:buNone/>
                </a:pPr>
                <a:endParaRPr lang="en-US" altLang="zh-CN" sz="2800" baseline="-25000" dirty="0" smtClean="0">
                  <a:ea typeface="华文中宋" pitchFamily="2" charset="-122"/>
                  <a:sym typeface="Wingdings 2" pitchFamily="18" charset="2"/>
                </a:endParaRPr>
              </a:p>
              <a:p>
                <a:pPr lvl="1" algn="just" eaLnBrk="1" hangingPunct="1">
                  <a:lnSpc>
                    <a:spcPct val="110000"/>
                  </a:lnSpc>
                </a:pPr>
                <a:r>
                  <a:rPr lang="zh-CN" altLang="en-US" dirty="0" smtClean="0"/>
                  <a:t>相邻</a:t>
                </a:r>
                <a:r>
                  <a:rPr lang="zh-CN" altLang="en-US" dirty="0" smtClean="0"/>
                  <a:t>两定基发展速度之</a:t>
                </a:r>
                <a:r>
                  <a:rPr lang="zh-CN" altLang="en-US" dirty="0">
                    <a:solidFill>
                      <a:srgbClr val="00B0F0"/>
                    </a:solidFill>
                    <a:ea typeface="华文中宋" pitchFamily="2" charset="-122"/>
                  </a:rPr>
                  <a:t>商</a:t>
                </a:r>
                <a:r>
                  <a:rPr lang="zh-CN" altLang="en-US" dirty="0" smtClean="0"/>
                  <a:t>＝</a:t>
                </a:r>
                <a:r>
                  <a:rPr lang="zh-CN" altLang="en-US" dirty="0" smtClean="0"/>
                  <a:t>相应环</a:t>
                </a:r>
                <a:r>
                  <a:rPr lang="zh-CN" altLang="en-US" dirty="0" smtClean="0"/>
                  <a:t>比发展速度</a:t>
                </a:r>
              </a:p>
              <a:p>
                <a:pPr marL="914400" lvl="2" indent="0" algn="just" eaLnBrk="1" hangingPunct="1">
                  <a:spcBef>
                    <a:spcPct val="10000"/>
                  </a:spcBef>
                  <a:buNone/>
                </a:pPr>
                <a:endParaRPr lang="zh-CN" altLang="en-US" sz="2000" dirty="0" smtClean="0"/>
              </a:p>
              <a:p>
                <a:pPr marL="857250" lvl="2" indent="0" algn="r" eaLnBrk="1" hangingPunct="1">
                  <a:spcBef>
                    <a:spcPct val="10000"/>
                  </a:spcBef>
                  <a:buNone/>
                </a:pPr>
                <a14:m>
                  <m:oMathPara xmlns:m="http://schemas.openxmlformats.org/officeDocument/2006/math">
                    <m:oMathParaPr>
                      <m:jc m:val="right"/>
                    </m:oMathParaPr>
                    <m:oMath xmlns:m="http://schemas.openxmlformats.org/officeDocument/2006/math">
                      <m:f>
                        <m:fPr>
                          <m:ctrlPr>
                            <a:rPr lang="en-US" altLang="zh-CN" sz="3200" i="1" dirty="0" smtClean="0">
                              <a:latin typeface="Cambria Math" panose="02040503050406030204" pitchFamily="18" charset="0"/>
                              <a:ea typeface="华文中宋" pitchFamily="2" charset="-122"/>
                              <a:sym typeface="Wingdings 2" pitchFamily="18" charset="2"/>
                            </a:rPr>
                          </m:ctrlPr>
                        </m:fPr>
                        <m:num>
                          <m:r>
                            <a:rPr lang="en-US" altLang="zh-CN" sz="3200" i="1" dirty="0">
                              <a:latin typeface="Cambria Math" panose="02040503050406030204" pitchFamily="18" charset="0"/>
                              <a:ea typeface="华文中宋" pitchFamily="2" charset="-122"/>
                              <a:sym typeface="Wingdings 2" pitchFamily="18" charset="2"/>
                            </a:rPr>
                            <m:t>𝑅</m:t>
                          </m:r>
                          <m:r>
                            <a:rPr lang="en-US" altLang="zh-CN" sz="3200" i="1" baseline="-25000" dirty="0" err="1">
                              <a:latin typeface="Cambria Math" panose="02040503050406030204" pitchFamily="18" charset="0"/>
                              <a:ea typeface="华文中宋" pitchFamily="2" charset="-122"/>
                              <a:sym typeface="Wingdings 2" pitchFamily="18" charset="2"/>
                            </a:rPr>
                            <m:t>𝑡</m:t>
                          </m:r>
                        </m:num>
                        <m:den>
                          <m:r>
                            <a:rPr lang="en-US" altLang="zh-CN" sz="3200" i="1" dirty="0">
                              <a:latin typeface="Cambria Math" panose="02040503050406030204" pitchFamily="18" charset="0"/>
                              <a:ea typeface="华文中宋" pitchFamily="2" charset="-122"/>
                              <a:sym typeface="Wingdings 2" pitchFamily="18" charset="2"/>
                            </a:rPr>
                            <m:t>𝑅</m:t>
                          </m:r>
                          <m:r>
                            <a:rPr lang="en-US" altLang="zh-CN" sz="3200" i="1" baseline="-25000" dirty="0" err="1">
                              <a:latin typeface="Cambria Math" panose="02040503050406030204" pitchFamily="18" charset="0"/>
                              <a:ea typeface="华文中宋" pitchFamily="2" charset="-122"/>
                              <a:sym typeface="Wingdings 2" pitchFamily="18" charset="2"/>
                            </a:rPr>
                            <m:t>𝑡</m:t>
                          </m:r>
                          <m:r>
                            <a:rPr lang="en-US" altLang="zh-CN" sz="3200" b="1" i="1" baseline="-25000" dirty="0" smtClean="0">
                              <a:latin typeface="Cambria Math" panose="02040503050406030204" pitchFamily="18" charset="0"/>
                              <a:ea typeface="华文中宋" pitchFamily="2" charset="-122"/>
                              <a:sym typeface="Wingdings 2" pitchFamily="18" charset="2"/>
                            </a:rPr>
                            <m:t>−</m:t>
                          </m:r>
                          <m:r>
                            <a:rPr lang="en-US" altLang="zh-CN" sz="3200" b="1" i="1" baseline="-25000" dirty="0" smtClean="0">
                              <a:latin typeface="Cambria Math" panose="02040503050406030204" pitchFamily="18" charset="0"/>
                              <a:ea typeface="华文中宋" pitchFamily="2" charset="-122"/>
                              <a:sym typeface="Wingdings 2" pitchFamily="18" charset="2"/>
                            </a:rPr>
                            <m:t>𝟏</m:t>
                          </m:r>
                        </m:den>
                      </m:f>
                      <m:r>
                        <a:rPr lang="en-US" altLang="zh-CN" sz="3200" i="1">
                          <a:latin typeface="Cambria Math" panose="02040503050406030204" pitchFamily="18" charset="0"/>
                          <a:ea typeface="华文中宋" pitchFamily="2" charset="-122"/>
                          <a:sym typeface="Wingdings 2" pitchFamily="18" charset="2"/>
                        </a:rPr>
                        <m:t>=</m:t>
                      </m:r>
                      <m:r>
                        <a:rPr lang="en-US" altLang="zh-CN" sz="2800" i="1">
                          <a:latin typeface="Cambria Math" panose="02040503050406030204" pitchFamily="18" charset="0"/>
                          <a:ea typeface="华文中宋" pitchFamily="2" charset="-122"/>
                          <a:sym typeface="Wingdings 2" pitchFamily="18" charset="2"/>
                        </a:rPr>
                        <m:t>𝒙</m:t>
                      </m:r>
                      <m:r>
                        <a:rPr lang="en-US" altLang="zh-CN" sz="2800" i="1" baseline="-25000">
                          <a:latin typeface="Cambria Math" panose="02040503050406030204" pitchFamily="18" charset="0"/>
                          <a:ea typeface="华文中宋" pitchFamily="2" charset="-122"/>
                          <a:sym typeface="Wingdings 2" pitchFamily="18" charset="2"/>
                        </a:rPr>
                        <m:t>𝒕</m:t>
                      </m:r>
                      <m:r>
                        <a:rPr lang="en-US" altLang="zh-CN" sz="2800" b="1" i="1" baseline="-25000" smtClean="0">
                          <a:latin typeface="Cambria Math" panose="02040503050406030204" pitchFamily="18" charset="0"/>
                          <a:ea typeface="华文中宋" pitchFamily="2" charset="-122"/>
                          <a:sym typeface="Wingdings 2" pitchFamily="18" charset="2"/>
                        </a:rPr>
                        <m:t>  </m:t>
                      </m:r>
                    </m:oMath>
                  </m:oMathPara>
                </a14:m>
                <a:endParaRPr lang="en-US" altLang="zh-CN" sz="2800" baseline="-25000" dirty="0">
                  <a:ea typeface="华文中宋" pitchFamily="2" charset="-122"/>
                  <a:sym typeface="Wingdings 2" pitchFamily="18" charset="2"/>
                </a:endParaRPr>
              </a:p>
            </p:txBody>
          </p:sp>
        </mc:Choice>
        <mc:Fallback>
          <p:sp>
            <p:nvSpPr>
              <p:cNvPr id="410627" name="Rectangle 3"/>
              <p:cNvSpPr>
                <a:spLocks noGrp="1" noRot="1" noChangeAspect="1" noMove="1" noResize="1" noEditPoints="1" noAdjustHandles="1" noChangeArrowheads="1" noChangeShapeType="1" noTextEdit="1"/>
              </p:cNvSpPr>
              <p:nvPr>
                <p:ph type="body" idx="1"/>
              </p:nvPr>
            </p:nvSpPr>
            <p:spPr>
              <a:xfrm>
                <a:off x="107505" y="1471351"/>
                <a:ext cx="8784976" cy="4983139"/>
              </a:xfrm>
              <a:blipFill>
                <a:blip r:embed="rId4"/>
                <a:stretch>
                  <a:fillRect t="-1222"/>
                </a:stretch>
              </a:blipFill>
            </p:spPr>
            <p:txBody>
              <a:bodyPr/>
              <a:lstStyle/>
              <a:p>
                <a:r>
                  <a:rPr lang="zh-CN" altLang="en-US">
                    <a:noFill/>
                  </a:rPr>
                  <a:t> </a:t>
                </a:r>
              </a:p>
            </p:txBody>
          </p:sp>
        </mc:Fallback>
      </mc:AlternateContent>
      <p:sp>
        <p:nvSpPr>
          <p:cNvPr id="16391" name="Rectangle 4"/>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16386" name="Object 5"/>
          <p:cNvGraphicFramePr>
            <a:graphicFrameLocks noChangeAspect="1"/>
          </p:cNvGraphicFramePr>
          <p:nvPr>
            <p:extLst>
              <p:ext uri="{D42A27DB-BD31-4B8C-83A1-F6EECF244321}">
                <p14:modId xmlns:p14="http://schemas.microsoft.com/office/powerpoint/2010/main" val="2928814534"/>
              </p:ext>
            </p:extLst>
          </p:nvPr>
        </p:nvGraphicFramePr>
        <p:xfrm>
          <a:off x="875233" y="2118273"/>
          <a:ext cx="4895850" cy="1470025"/>
        </p:xfrm>
        <a:graphic>
          <a:graphicData uri="http://schemas.openxmlformats.org/presentationml/2006/ole">
            <mc:AlternateContent xmlns:mc="http://schemas.openxmlformats.org/markup-compatibility/2006">
              <mc:Choice xmlns:v="urn:schemas-microsoft-com:vml" Requires="v">
                <p:oleObj spid="_x0000_s16598" name="公式" r:id="rId5" imgW="1269449" imgH="380835" progId="Equation.3">
                  <p:embed/>
                </p:oleObj>
              </mc:Choice>
              <mc:Fallback>
                <p:oleObj name="公式" r:id="rId5" imgW="1269449" imgH="380835"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5233" y="2118273"/>
                        <a:ext cx="4895850" cy="1470025"/>
                      </a:xfrm>
                      <a:prstGeom prst="rect">
                        <a:avLst/>
                      </a:prstGeom>
                      <a:noFill/>
                      <a:ln w="28575">
                        <a:solidFill>
                          <a:schemeClr val="accent5">
                            <a:lumMod val="90000"/>
                          </a:schemeClr>
                        </a:solidFill>
                        <a:miter lim="800000"/>
                        <a:headEnd/>
                        <a:tailEnd/>
                      </a:ln>
                      <a:extLst/>
                    </p:spPr>
                  </p:pic>
                </p:oleObj>
              </mc:Fallback>
            </mc:AlternateContent>
          </a:graphicData>
        </a:graphic>
      </p:graphicFrame>
      <p:graphicFrame>
        <p:nvGraphicFramePr>
          <p:cNvPr id="410630" name="Object 6"/>
          <p:cNvGraphicFramePr>
            <a:graphicFrameLocks noChangeAspect="1"/>
          </p:cNvGraphicFramePr>
          <p:nvPr>
            <p:extLst>
              <p:ext uri="{D42A27DB-BD31-4B8C-83A1-F6EECF244321}">
                <p14:modId xmlns:p14="http://schemas.microsoft.com/office/powerpoint/2010/main" val="3718631078"/>
              </p:ext>
            </p:extLst>
          </p:nvPr>
        </p:nvGraphicFramePr>
        <p:xfrm>
          <a:off x="1414983" y="4377135"/>
          <a:ext cx="3816350" cy="1641475"/>
        </p:xfrm>
        <a:graphic>
          <a:graphicData uri="http://schemas.openxmlformats.org/presentationml/2006/ole">
            <mc:AlternateContent xmlns:mc="http://schemas.openxmlformats.org/markup-compatibility/2006">
              <mc:Choice xmlns:v="urn:schemas-microsoft-com:vml" Requires="v">
                <p:oleObj spid="_x0000_s16599" name="公式" r:id="rId7" imgW="888614" imgH="380835" progId="Equation.3">
                  <p:embed/>
                </p:oleObj>
              </mc:Choice>
              <mc:Fallback>
                <p:oleObj name="公式" r:id="rId7" imgW="888614" imgH="380835"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14983" y="4377135"/>
                        <a:ext cx="3816350" cy="1641475"/>
                      </a:xfrm>
                      <a:prstGeom prst="rect">
                        <a:avLst/>
                      </a:prstGeom>
                      <a:noFill/>
                      <a:ln w="28575">
                        <a:solidFill>
                          <a:schemeClr val="accent1"/>
                        </a:solidFill>
                        <a:miter lim="800000"/>
                        <a:headEnd/>
                        <a:tailEnd/>
                      </a:ln>
                      <a:extLst/>
                    </p:spPr>
                  </p:pic>
                </p:oleObj>
              </mc:Fallback>
            </mc:AlternateContent>
          </a:graphicData>
        </a:graphic>
      </p:graphicFrame>
      <p:sp>
        <p:nvSpPr>
          <p:cNvPr id="16392" name="日期占位符 7"/>
          <p:cNvSpPr>
            <a:spLocks noGrp="1"/>
          </p:cNvSpPr>
          <p:nvPr>
            <p:ph type="dt" sz="quarter" idx="10"/>
          </p:nvPr>
        </p:nvSpPr>
        <p:spPr>
          <a:noFill/>
        </p:spPr>
        <p:txBody>
          <a:bodyPr/>
          <a:lstStyle/>
          <a:p>
            <a:endParaRPr lang="en-US" altLang="zh-CN" smtClean="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410627">
                                            <p:txEl>
                                              <p:pRg st="5" end="5"/>
                                            </p:txEl>
                                          </p:spTgt>
                                        </p:tgtEl>
                                        <p:attrNameLst>
                                          <p:attrName>style.visibility</p:attrName>
                                        </p:attrNameLst>
                                      </p:cBhvr>
                                      <p:to>
                                        <p:strVal val="visible"/>
                                      </p:to>
                                    </p:set>
                                    <p:anim calcmode="lin" valueType="num">
                                      <p:cBhvr>
                                        <p:cTn id="7" dur="1000" fill="hold"/>
                                        <p:tgtEl>
                                          <p:spTgt spid="410627">
                                            <p:txEl>
                                              <p:pRg st="5" end="5"/>
                                            </p:txEl>
                                          </p:spTgt>
                                        </p:tgtEl>
                                        <p:attrNameLst>
                                          <p:attrName>ppt_w</p:attrName>
                                        </p:attrNameLst>
                                      </p:cBhvr>
                                      <p:tavLst>
                                        <p:tav tm="0">
                                          <p:val>
                                            <p:fltVal val="0"/>
                                          </p:val>
                                        </p:tav>
                                        <p:tav tm="100000">
                                          <p:val>
                                            <p:strVal val="#ppt_w"/>
                                          </p:val>
                                        </p:tav>
                                      </p:tavLst>
                                    </p:anim>
                                    <p:anim calcmode="lin" valueType="num">
                                      <p:cBhvr>
                                        <p:cTn id="8" dur="1000" fill="hold"/>
                                        <p:tgtEl>
                                          <p:spTgt spid="410627">
                                            <p:txEl>
                                              <p:pRg st="5" end="5"/>
                                            </p:txEl>
                                          </p:spTgt>
                                        </p:tgtEl>
                                        <p:attrNameLst>
                                          <p:attrName>ppt_h</p:attrName>
                                        </p:attrNameLst>
                                      </p:cBhvr>
                                      <p:tavLst>
                                        <p:tav tm="0">
                                          <p:val>
                                            <p:fltVal val="0"/>
                                          </p:val>
                                        </p:tav>
                                        <p:tav tm="100000">
                                          <p:val>
                                            <p:strVal val="#ppt_h"/>
                                          </p:val>
                                        </p:tav>
                                      </p:tavLst>
                                    </p:anim>
                                    <p:anim calcmode="lin" valueType="num">
                                      <p:cBhvr>
                                        <p:cTn id="9" dur="1000" fill="hold"/>
                                        <p:tgtEl>
                                          <p:spTgt spid="410627">
                                            <p:txEl>
                                              <p:pRg st="5" end="5"/>
                                            </p:txEl>
                                          </p:spTgt>
                                        </p:tgtEl>
                                        <p:attrNameLst>
                                          <p:attrName>style.rotation</p:attrName>
                                        </p:attrNameLst>
                                      </p:cBhvr>
                                      <p:tavLst>
                                        <p:tav tm="0">
                                          <p:val>
                                            <p:fltVal val="90"/>
                                          </p:val>
                                        </p:tav>
                                        <p:tav tm="100000">
                                          <p:val>
                                            <p:fltVal val="0"/>
                                          </p:val>
                                        </p:tav>
                                      </p:tavLst>
                                    </p:anim>
                                    <p:animEffect transition="in" filter="fade">
                                      <p:cBhvr>
                                        <p:cTn id="10" dur="1000"/>
                                        <p:tgtEl>
                                          <p:spTgt spid="410627">
                                            <p:txEl>
                                              <p:pRg st="5" end="5"/>
                                            </p:txEl>
                                          </p:spTgt>
                                        </p:tgtEl>
                                      </p:cBhvr>
                                    </p:animEffect>
                                  </p:childTnLst>
                                </p:cTn>
                              </p:par>
                            </p:childTnLst>
                          </p:cTn>
                        </p:par>
                        <p:par>
                          <p:cTn id="11" fill="hold">
                            <p:stCondLst>
                              <p:cond delay="1000"/>
                            </p:stCondLst>
                            <p:childTnLst>
                              <p:par>
                                <p:cTn id="12" presetID="55" presetClass="entr" presetSubtype="0" fill="hold" nodeType="afterEffect">
                                  <p:stCondLst>
                                    <p:cond delay="0"/>
                                  </p:stCondLst>
                                  <p:childTnLst>
                                    <p:set>
                                      <p:cBhvr>
                                        <p:cTn id="13" dur="1" fill="hold">
                                          <p:stCondLst>
                                            <p:cond delay="0"/>
                                          </p:stCondLst>
                                        </p:cTn>
                                        <p:tgtEl>
                                          <p:spTgt spid="410630"/>
                                        </p:tgtEl>
                                        <p:attrNameLst>
                                          <p:attrName>style.visibility</p:attrName>
                                        </p:attrNameLst>
                                      </p:cBhvr>
                                      <p:to>
                                        <p:strVal val="visible"/>
                                      </p:to>
                                    </p:set>
                                    <p:anim calcmode="lin" valueType="num">
                                      <p:cBhvr>
                                        <p:cTn id="14" dur="1000" fill="hold"/>
                                        <p:tgtEl>
                                          <p:spTgt spid="410630"/>
                                        </p:tgtEl>
                                        <p:attrNameLst>
                                          <p:attrName>ppt_w</p:attrName>
                                        </p:attrNameLst>
                                      </p:cBhvr>
                                      <p:tavLst>
                                        <p:tav tm="0">
                                          <p:val>
                                            <p:strVal val="#ppt_w*0.70"/>
                                          </p:val>
                                        </p:tav>
                                        <p:tav tm="100000">
                                          <p:val>
                                            <p:strVal val="#ppt_w"/>
                                          </p:val>
                                        </p:tav>
                                      </p:tavLst>
                                    </p:anim>
                                    <p:anim calcmode="lin" valueType="num">
                                      <p:cBhvr>
                                        <p:cTn id="15" dur="1000" fill="hold"/>
                                        <p:tgtEl>
                                          <p:spTgt spid="410630"/>
                                        </p:tgtEl>
                                        <p:attrNameLst>
                                          <p:attrName>ppt_h</p:attrName>
                                        </p:attrNameLst>
                                      </p:cBhvr>
                                      <p:tavLst>
                                        <p:tav tm="0">
                                          <p:val>
                                            <p:strVal val="#ppt_h"/>
                                          </p:val>
                                        </p:tav>
                                        <p:tav tm="100000">
                                          <p:val>
                                            <p:strVal val="#ppt_h"/>
                                          </p:val>
                                        </p:tav>
                                      </p:tavLst>
                                    </p:anim>
                                    <p:animEffect transition="in" filter="fade">
                                      <p:cBhvr>
                                        <p:cTn id="16" dur="1000"/>
                                        <p:tgtEl>
                                          <p:spTgt spid="410630"/>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410627">
                                            <p:txEl>
                                              <p:pRg st="7" end="7"/>
                                            </p:txEl>
                                          </p:spTgt>
                                        </p:tgtEl>
                                        <p:attrNameLst>
                                          <p:attrName>style.visibility</p:attrName>
                                        </p:attrNameLst>
                                      </p:cBhvr>
                                      <p:to>
                                        <p:strVal val="visible"/>
                                      </p:to>
                                    </p:set>
                                    <p:anim calcmode="lin" valueType="num">
                                      <p:cBhvr>
                                        <p:cTn id="19" dur="1000" fill="hold"/>
                                        <p:tgtEl>
                                          <p:spTgt spid="410627">
                                            <p:txEl>
                                              <p:pRg st="7" end="7"/>
                                            </p:txEl>
                                          </p:spTgt>
                                        </p:tgtEl>
                                        <p:attrNameLst>
                                          <p:attrName>ppt_w</p:attrName>
                                        </p:attrNameLst>
                                      </p:cBhvr>
                                      <p:tavLst>
                                        <p:tav tm="0">
                                          <p:val>
                                            <p:fltVal val="0"/>
                                          </p:val>
                                        </p:tav>
                                        <p:tav tm="100000">
                                          <p:val>
                                            <p:strVal val="#ppt_w"/>
                                          </p:val>
                                        </p:tav>
                                      </p:tavLst>
                                    </p:anim>
                                    <p:anim calcmode="lin" valueType="num">
                                      <p:cBhvr>
                                        <p:cTn id="20" dur="1000" fill="hold"/>
                                        <p:tgtEl>
                                          <p:spTgt spid="410627">
                                            <p:txEl>
                                              <p:pRg st="7" end="7"/>
                                            </p:txEl>
                                          </p:spTgt>
                                        </p:tgtEl>
                                        <p:attrNameLst>
                                          <p:attrName>ppt_h</p:attrName>
                                        </p:attrNameLst>
                                      </p:cBhvr>
                                      <p:tavLst>
                                        <p:tav tm="0">
                                          <p:val>
                                            <p:fltVal val="0"/>
                                          </p:val>
                                        </p:tav>
                                        <p:tav tm="100000">
                                          <p:val>
                                            <p:strVal val="#ppt_h"/>
                                          </p:val>
                                        </p:tav>
                                      </p:tavLst>
                                    </p:anim>
                                    <p:anim calcmode="lin" valueType="num">
                                      <p:cBhvr>
                                        <p:cTn id="21" dur="1000" fill="hold"/>
                                        <p:tgtEl>
                                          <p:spTgt spid="410627">
                                            <p:txEl>
                                              <p:pRg st="7" end="7"/>
                                            </p:txEl>
                                          </p:spTgt>
                                        </p:tgtEl>
                                        <p:attrNameLst>
                                          <p:attrName>style.rotation</p:attrName>
                                        </p:attrNameLst>
                                      </p:cBhvr>
                                      <p:tavLst>
                                        <p:tav tm="0">
                                          <p:val>
                                            <p:fltVal val="90"/>
                                          </p:val>
                                        </p:tav>
                                        <p:tav tm="100000">
                                          <p:val>
                                            <p:fltVal val="0"/>
                                          </p:val>
                                        </p:tav>
                                      </p:tavLst>
                                    </p:anim>
                                    <p:animEffect transition="in" filter="fade">
                                      <p:cBhvr>
                                        <p:cTn id="22" dur="1000"/>
                                        <p:tgtEl>
                                          <p:spTgt spid="41062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627"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2" name="Rectangle 2"/>
          <p:cNvSpPr>
            <a:spLocks noGrp="1" noChangeArrowheads="1"/>
          </p:cNvSpPr>
          <p:nvPr>
            <p:ph type="title"/>
          </p:nvPr>
        </p:nvSpPr>
        <p:spPr>
          <a:xfrm>
            <a:off x="630622" y="621664"/>
            <a:ext cx="7696200" cy="838200"/>
          </a:xfrm>
        </p:spPr>
        <p:txBody>
          <a:bodyPr lIns="90488" tIns="44450" rIns="90488" bIns="44450" anchor="ctr" anchorCtr="1"/>
          <a:lstStyle/>
          <a:p>
            <a:pPr eaLnBrk="1" hangingPunct="1"/>
            <a:r>
              <a:rPr lang="zh-CN" altLang="en-US" sz="4000" dirty="0" smtClean="0">
                <a:sym typeface="Wingdings 2" pitchFamily="18" charset="2"/>
              </a:rPr>
              <a:t>同比</a:t>
            </a:r>
            <a:r>
              <a:rPr lang="zh-CN" altLang="en-US" sz="4000" dirty="0" smtClean="0">
                <a:sym typeface="Wingdings 2" pitchFamily="18" charset="2"/>
              </a:rPr>
              <a:t>发展速度</a:t>
            </a:r>
            <a:r>
              <a:rPr lang="zh-CN" altLang="en-US" sz="3200" dirty="0" smtClean="0">
                <a:solidFill>
                  <a:srgbClr val="0070C0"/>
                </a:solidFill>
                <a:sym typeface="Wingdings 2" pitchFamily="18" charset="2"/>
              </a:rPr>
              <a:t>（</a:t>
            </a:r>
            <a:r>
              <a:rPr lang="zh-CN" altLang="en-US" sz="3200" dirty="0">
                <a:solidFill>
                  <a:srgbClr val="0070C0"/>
                </a:solidFill>
                <a:sym typeface="Wingdings 2" pitchFamily="18" charset="2"/>
              </a:rPr>
              <a:t>年距发展速度）</a:t>
            </a:r>
            <a:endParaRPr lang="zh-CN" altLang="en-US" sz="3200" dirty="0" smtClean="0">
              <a:solidFill>
                <a:srgbClr val="0070C0"/>
              </a:solidFill>
              <a:sym typeface="Wingdings 2" pitchFamily="18" charset="2"/>
            </a:endParaRPr>
          </a:p>
        </p:txBody>
      </p:sp>
      <p:sp>
        <p:nvSpPr>
          <p:cNvPr id="17413" name="Rectangle 3"/>
          <p:cNvSpPr>
            <a:spLocks noGrp="1" noChangeArrowheads="1"/>
          </p:cNvSpPr>
          <p:nvPr>
            <p:ph type="body" idx="1"/>
          </p:nvPr>
        </p:nvSpPr>
        <p:spPr>
          <a:xfrm>
            <a:off x="467544" y="1582332"/>
            <a:ext cx="7345362" cy="2952750"/>
          </a:xfrm>
          <a:noFill/>
        </p:spPr>
        <p:txBody>
          <a:bodyPr lIns="90488" tIns="44450" rIns="90488" bIns="44450"/>
          <a:lstStyle/>
          <a:p>
            <a:pPr lvl="1" algn="just" eaLnBrk="1" hangingPunct="1">
              <a:spcBef>
                <a:spcPct val="10000"/>
              </a:spcBef>
            </a:pPr>
            <a:r>
              <a:rPr lang="en-US" altLang="zh-CN" dirty="0" smtClean="0"/>
              <a:t> </a:t>
            </a:r>
            <a:r>
              <a:rPr lang="zh-CN" altLang="en-US" sz="3200" dirty="0" smtClean="0"/>
              <a:t>为了消除季节变动因素的影响，可计算：</a:t>
            </a:r>
          </a:p>
        </p:txBody>
      </p:sp>
      <p:sp>
        <p:nvSpPr>
          <p:cNvPr id="17414" name="Rectangle 4"/>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412677" name="Object 5"/>
          <p:cNvGraphicFramePr>
            <a:graphicFrameLocks noChangeAspect="1"/>
          </p:cNvGraphicFramePr>
          <p:nvPr>
            <p:extLst>
              <p:ext uri="{D42A27DB-BD31-4B8C-83A1-F6EECF244321}">
                <p14:modId xmlns:p14="http://schemas.microsoft.com/office/powerpoint/2010/main" val="366264775"/>
              </p:ext>
            </p:extLst>
          </p:nvPr>
        </p:nvGraphicFramePr>
        <p:xfrm>
          <a:off x="2267744" y="2417545"/>
          <a:ext cx="5583603" cy="1519073"/>
        </p:xfrm>
        <a:graphic>
          <a:graphicData uri="http://schemas.openxmlformats.org/presentationml/2006/ole">
            <mc:AlternateContent xmlns:mc="http://schemas.openxmlformats.org/markup-compatibility/2006">
              <mc:Choice xmlns:v="urn:schemas-microsoft-com:vml" Requires="v">
                <p:oleObj spid="_x0000_s17517" name="公式" r:id="rId4" imgW="1803400" imgH="381000" progId="Equation.3">
                  <p:embed/>
                </p:oleObj>
              </mc:Choice>
              <mc:Fallback>
                <p:oleObj name="公式" r:id="rId4" imgW="1803400" imgH="3810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7744" y="2417545"/>
                        <a:ext cx="5583603" cy="1519073"/>
                      </a:xfrm>
                      <a:prstGeom prst="rect">
                        <a:avLst/>
                      </a:prstGeom>
                      <a:noFill/>
                      <a:ln w="28575">
                        <a:solidFill>
                          <a:schemeClr val="bg1"/>
                        </a:solidFill>
                        <a:miter lim="800000"/>
                        <a:headEnd/>
                        <a:tailEnd/>
                      </a:ln>
                      <a:extLst/>
                    </p:spPr>
                  </p:pic>
                </p:oleObj>
              </mc:Fallback>
            </mc:AlternateContent>
          </a:graphicData>
        </a:graphic>
      </p:graphicFrame>
      <p:pic>
        <p:nvPicPr>
          <p:cNvPr id="17415" name="Picture 6" descr="z018"/>
          <p:cNvPicPr>
            <a:picLocks noChangeAspect="1" noChangeArrowheads="1" noCrop="1"/>
          </p:cNvPicPr>
          <p:nvPr/>
        </p:nvPicPr>
        <p:blipFill>
          <a:blip r:embed="rId6" cstate="print"/>
          <a:srcRect/>
          <a:stretch>
            <a:fillRect/>
          </a:stretch>
        </p:blipFill>
        <p:spPr bwMode="auto">
          <a:xfrm>
            <a:off x="7451725" y="5276850"/>
            <a:ext cx="1692275" cy="1581150"/>
          </a:xfrm>
          <a:prstGeom prst="rect">
            <a:avLst/>
          </a:prstGeom>
          <a:noFill/>
          <a:ln w="9525">
            <a:noFill/>
            <a:miter lim="800000"/>
            <a:headEnd/>
            <a:tailEnd/>
          </a:ln>
        </p:spPr>
      </p:pic>
      <p:sp>
        <p:nvSpPr>
          <p:cNvPr id="17416" name="日期占位符 7"/>
          <p:cNvSpPr>
            <a:spLocks noGrp="1"/>
          </p:cNvSpPr>
          <p:nvPr>
            <p:ph type="dt" sz="quarter" idx="10"/>
          </p:nvPr>
        </p:nvSpPr>
        <p:spPr>
          <a:noFill/>
        </p:spPr>
        <p:txBody>
          <a:bodyPr/>
          <a:lstStyle/>
          <a:p>
            <a:endParaRPr lang="en-US" altLang="zh-CN" smtClean="0"/>
          </a:p>
        </p:txBody>
      </p:sp>
      <p:sp>
        <p:nvSpPr>
          <p:cNvPr id="9" name="TextBox 8"/>
          <p:cNvSpPr txBox="1"/>
          <p:nvPr/>
        </p:nvSpPr>
        <p:spPr>
          <a:xfrm>
            <a:off x="1161448" y="4152594"/>
            <a:ext cx="6821103" cy="523220"/>
          </a:xfrm>
          <a:prstGeom prst="rect">
            <a:avLst/>
          </a:prstGeom>
          <a:noFill/>
        </p:spPr>
        <p:txBody>
          <a:bodyPr wrap="square" rtlCol="0">
            <a:spAutoFit/>
          </a:bodyPr>
          <a:lstStyle/>
          <a:p>
            <a:r>
              <a:rPr lang="en-US" altLang="zh-CN" sz="2800" b="1" dirty="0" smtClean="0">
                <a:solidFill>
                  <a:srgbClr val="000000"/>
                </a:solidFill>
              </a:rPr>
              <a:t>【</a:t>
            </a:r>
            <a:r>
              <a:rPr lang="zh-CN" altLang="en-US" sz="2800" b="1" dirty="0" smtClean="0">
                <a:solidFill>
                  <a:srgbClr val="000000"/>
                </a:solidFill>
              </a:rPr>
              <a:t>上年同期：上年的同一时期或同一时点</a:t>
            </a:r>
            <a:r>
              <a:rPr lang="en-US" altLang="zh-CN" sz="2800" b="1" dirty="0" smtClean="0">
                <a:solidFill>
                  <a:srgbClr val="000000"/>
                </a:solidFill>
              </a:rPr>
              <a:t>】</a:t>
            </a:r>
            <a:endParaRPr lang="zh-CN" altLang="en-US" sz="2800" b="1" dirty="0">
              <a:solidFill>
                <a:srgbClr val="000000"/>
              </a:solidFill>
            </a:endParaRPr>
          </a:p>
        </p:txBody>
      </p:sp>
      <p:sp>
        <p:nvSpPr>
          <p:cNvPr id="10" name="TextBox 9"/>
          <p:cNvSpPr txBox="1"/>
          <p:nvPr/>
        </p:nvSpPr>
        <p:spPr>
          <a:xfrm>
            <a:off x="760849" y="5321868"/>
            <a:ext cx="6681756" cy="904863"/>
          </a:xfrm>
          <a:prstGeom prst="rect">
            <a:avLst/>
          </a:prstGeom>
          <a:noFill/>
        </p:spPr>
        <p:txBody>
          <a:bodyPr wrap="square" rtlCol="0">
            <a:spAutoFit/>
          </a:bodyPr>
          <a:lstStyle/>
          <a:p>
            <a:pPr>
              <a:lnSpc>
                <a:spcPct val="110000"/>
              </a:lnSpc>
              <a:spcBef>
                <a:spcPts val="600"/>
              </a:spcBef>
            </a:pPr>
            <a:r>
              <a:rPr lang="en-US" altLang="zh-CN" sz="2400" b="1" dirty="0" smtClean="0">
                <a:solidFill>
                  <a:srgbClr val="0070C0"/>
                </a:solidFill>
              </a:rPr>
              <a:t>【</a:t>
            </a:r>
            <a:r>
              <a:rPr lang="zh-CN" altLang="en-US" sz="2400" b="1" dirty="0" smtClean="0">
                <a:solidFill>
                  <a:srgbClr val="0070C0"/>
                </a:solidFill>
              </a:rPr>
              <a:t>同理，</a:t>
            </a:r>
            <a:r>
              <a:rPr lang="zh-CN" altLang="en-US" sz="2400" b="1" dirty="0" smtClean="0">
                <a:solidFill>
                  <a:srgbClr val="0070C0"/>
                </a:solidFill>
              </a:rPr>
              <a:t>对增长量、增长速度也都可以计算同比（年距）增长量、同比（年距）增长速度</a:t>
            </a:r>
            <a:r>
              <a:rPr lang="en-US" altLang="zh-CN" sz="2400" b="1" dirty="0" smtClean="0">
                <a:solidFill>
                  <a:srgbClr val="0070C0"/>
                </a:solidFill>
              </a:rPr>
              <a:t>…】</a:t>
            </a:r>
            <a:endParaRPr lang="zh-CN" altLang="en-US" sz="2400" b="1" dirty="0">
              <a:solidFill>
                <a:srgbClr val="0070C0"/>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412677"/>
                                        </p:tgtEl>
                                        <p:attrNameLst>
                                          <p:attrName>style.visibility</p:attrName>
                                        </p:attrNameLst>
                                      </p:cBhvr>
                                      <p:to>
                                        <p:strVal val="visible"/>
                                      </p:to>
                                    </p:set>
                                    <p:animEffect transition="in" filter="slide(fromBottom)">
                                      <p:cBhvr>
                                        <p:cTn id="7" dur="10"/>
                                        <p:tgtEl>
                                          <p:spTgt spid="4126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a:xfrm>
            <a:off x="1828800" y="228600"/>
            <a:ext cx="6781800" cy="1143000"/>
          </a:xfrm>
        </p:spPr>
        <p:txBody>
          <a:bodyPr lIns="90488" tIns="44450" rIns="90488" bIns="44450" anchor="ctr" anchorCtr="1"/>
          <a:lstStyle/>
          <a:p>
            <a:pPr eaLnBrk="1" hangingPunct="1"/>
            <a:r>
              <a:rPr lang="en-US" altLang="zh-CN" dirty="0" smtClean="0"/>
              <a:t>4.3.2</a:t>
            </a:r>
            <a:r>
              <a:rPr lang="en-US" altLang="zh-CN" dirty="0" smtClean="0"/>
              <a:t> </a:t>
            </a:r>
            <a:r>
              <a:rPr lang="zh-CN" altLang="en-US" dirty="0" smtClean="0"/>
              <a:t>增减速度（增长率）</a:t>
            </a:r>
            <a:endParaRPr lang="zh-CN" altLang="en-US" sz="4000" dirty="0" smtClean="0">
              <a:solidFill>
                <a:schemeClr val="hlink"/>
              </a:solidFill>
            </a:endParaRPr>
          </a:p>
        </p:txBody>
      </p:sp>
      <p:sp>
        <p:nvSpPr>
          <p:cNvPr id="18437" name="Rectangle 3"/>
          <p:cNvSpPr>
            <a:spLocks noGrp="1" noChangeArrowheads="1"/>
          </p:cNvSpPr>
          <p:nvPr>
            <p:ph type="body" idx="1"/>
          </p:nvPr>
        </p:nvSpPr>
        <p:spPr>
          <a:xfrm>
            <a:off x="323850" y="1412875"/>
            <a:ext cx="8305800" cy="1752600"/>
          </a:xfrm>
          <a:noFill/>
        </p:spPr>
        <p:txBody>
          <a:bodyPr lIns="90488" tIns="44450" rIns="90488" bIns="44450"/>
          <a:lstStyle/>
          <a:p>
            <a:pPr marL="609600" indent="-609600" eaLnBrk="1" hangingPunct="1">
              <a:buFontTx/>
              <a:buNone/>
            </a:pPr>
            <a:r>
              <a:rPr lang="zh-CN" altLang="en-US" dirty="0" smtClean="0">
                <a:solidFill>
                  <a:srgbClr val="0070C0"/>
                </a:solidFill>
              </a:rPr>
              <a:t>增长量与基期水平之比，说明现象增长变化的相对程度；</a:t>
            </a:r>
            <a:endParaRPr lang="zh-CN" altLang="en-US" dirty="0" smtClean="0">
              <a:solidFill>
                <a:srgbClr val="0070C0"/>
              </a:solidFill>
              <a:sym typeface="Wingdings 2" pitchFamily="18" charset="2"/>
            </a:endParaRPr>
          </a:p>
        </p:txBody>
      </p:sp>
      <p:sp>
        <p:nvSpPr>
          <p:cNvPr id="414725" name="Rectangle 5"/>
          <p:cNvSpPr>
            <a:spLocks noChangeArrowheads="1"/>
          </p:cNvSpPr>
          <p:nvPr/>
        </p:nvSpPr>
        <p:spPr bwMode="auto">
          <a:xfrm>
            <a:off x="539552" y="3573016"/>
            <a:ext cx="8382000" cy="523220"/>
          </a:xfrm>
          <a:prstGeom prst="rect">
            <a:avLst/>
          </a:prstGeom>
          <a:noFill/>
          <a:ln w="9525">
            <a:noFill/>
            <a:miter lim="800000"/>
            <a:headEnd/>
            <a:tailEnd/>
          </a:ln>
        </p:spPr>
        <p:txBody>
          <a:bodyPr>
            <a:spAutoFit/>
          </a:bodyPr>
          <a:lstStyle/>
          <a:p>
            <a:pPr marL="457200" indent="-457200" eaLnBrk="0" hangingPunct="0">
              <a:spcBef>
                <a:spcPct val="50000"/>
              </a:spcBef>
            </a:pPr>
            <a:r>
              <a:rPr kumimoji="1" lang="zh-CN" altLang="en-US" sz="2800" b="1" dirty="0">
                <a:sym typeface="Wingdings 2" pitchFamily="18" charset="2"/>
              </a:rPr>
              <a:t>基期不同</a:t>
            </a:r>
            <a:r>
              <a:rPr kumimoji="1" lang="zh-CN" altLang="en-US" sz="2800" b="1" dirty="0" smtClean="0">
                <a:sym typeface="Wingdings 2" pitchFamily="18" charset="2"/>
              </a:rPr>
              <a:t>，分为</a:t>
            </a:r>
            <a:r>
              <a:rPr kumimoji="1" lang="zh-CN" altLang="en-US" sz="2800" b="1" dirty="0" smtClean="0">
                <a:sym typeface="Wingdings 2" pitchFamily="18" charset="2"/>
              </a:rPr>
              <a:t>环比、定基、同比的增长速度</a:t>
            </a:r>
            <a:r>
              <a:rPr kumimoji="1" lang="zh-CN" altLang="en-US" sz="2400" b="1" dirty="0">
                <a:sym typeface="Wingdings 2" pitchFamily="18" charset="2"/>
              </a:rPr>
              <a:t>：</a:t>
            </a:r>
            <a:endParaRPr kumimoji="1" lang="zh-CN" altLang="en-US" sz="2800" b="1" dirty="0">
              <a:sym typeface="Wingdings 2" pitchFamily="18" charset="2"/>
            </a:endParaRPr>
          </a:p>
        </p:txBody>
      </p:sp>
      <p:sp>
        <p:nvSpPr>
          <p:cNvPr id="414726" name="Rectangle 6"/>
          <p:cNvSpPr>
            <a:spLocks noChangeArrowheads="1"/>
          </p:cNvSpPr>
          <p:nvPr/>
        </p:nvSpPr>
        <p:spPr bwMode="auto">
          <a:xfrm>
            <a:off x="539750" y="4292600"/>
            <a:ext cx="7620000" cy="2052870"/>
          </a:xfrm>
          <a:prstGeom prst="rect">
            <a:avLst/>
          </a:prstGeom>
          <a:noFill/>
          <a:ln w="9525">
            <a:noFill/>
            <a:miter lim="800000"/>
            <a:headEnd/>
            <a:tailEnd/>
          </a:ln>
        </p:spPr>
        <p:txBody>
          <a:bodyPr>
            <a:spAutoFit/>
          </a:bodyPr>
          <a:lstStyle/>
          <a:p>
            <a:pPr lvl="1" algn="just">
              <a:lnSpc>
                <a:spcPct val="110000"/>
              </a:lnSpc>
              <a:spcBef>
                <a:spcPct val="5000"/>
              </a:spcBef>
            </a:pPr>
            <a:r>
              <a:rPr kumimoji="1" lang="zh-CN" altLang="en-US" sz="2800" b="1" dirty="0">
                <a:solidFill>
                  <a:srgbClr val="3333FF"/>
                </a:solidFill>
                <a:latin typeface="Times New Roman" pitchFamily="18" charset="0"/>
              </a:rPr>
              <a:t>环比</a:t>
            </a:r>
            <a:r>
              <a:rPr kumimoji="1" lang="zh-CN" altLang="en-US" sz="2800" b="1" dirty="0" smtClean="0">
                <a:solidFill>
                  <a:srgbClr val="3333FF"/>
                </a:solidFill>
                <a:latin typeface="Times New Roman" pitchFamily="18" charset="0"/>
              </a:rPr>
              <a:t>增</a:t>
            </a:r>
            <a:r>
              <a:rPr kumimoji="1" lang="zh-CN" altLang="en-US" sz="2800" b="1" dirty="0" smtClean="0">
                <a:solidFill>
                  <a:srgbClr val="3333FF"/>
                </a:solidFill>
                <a:sym typeface="Wingdings 2" pitchFamily="18" charset="2"/>
              </a:rPr>
              <a:t>长</a:t>
            </a:r>
            <a:r>
              <a:rPr kumimoji="1" lang="zh-CN" altLang="en-US" sz="2800" b="1" dirty="0" smtClean="0">
                <a:solidFill>
                  <a:srgbClr val="3333FF"/>
                </a:solidFill>
                <a:latin typeface="Times New Roman" pitchFamily="18" charset="0"/>
              </a:rPr>
              <a:t>速度</a:t>
            </a:r>
            <a:r>
              <a:rPr kumimoji="1" lang="zh-CN" altLang="en-US" sz="2800" b="1" dirty="0">
                <a:latin typeface="Times New Roman" pitchFamily="18" charset="0"/>
              </a:rPr>
              <a:t>＝逐期增减量／上期水平</a:t>
            </a:r>
          </a:p>
          <a:p>
            <a:pPr lvl="1" algn="just">
              <a:lnSpc>
                <a:spcPct val="110000"/>
              </a:lnSpc>
              <a:spcBef>
                <a:spcPct val="5000"/>
              </a:spcBef>
            </a:pPr>
            <a:r>
              <a:rPr kumimoji="1" lang="zh-CN" altLang="en-US" sz="2800" b="1" dirty="0">
                <a:latin typeface="Times New Roman" pitchFamily="18" charset="0"/>
              </a:rPr>
              <a:t>                        ＝环比发展速度－１</a:t>
            </a:r>
            <a:endParaRPr kumimoji="1" lang="zh-CN" altLang="en-US" sz="2800" dirty="0">
              <a:latin typeface="Times New Roman" pitchFamily="18" charset="0"/>
              <a:cs typeface="Times New Roman" pitchFamily="18" charset="0"/>
            </a:endParaRPr>
          </a:p>
          <a:p>
            <a:pPr lvl="1" algn="just" eaLnBrk="0" hangingPunct="0">
              <a:lnSpc>
                <a:spcPct val="110000"/>
              </a:lnSpc>
              <a:spcBef>
                <a:spcPct val="5000"/>
              </a:spcBef>
            </a:pPr>
            <a:r>
              <a:rPr kumimoji="1" lang="zh-CN" altLang="en-US" sz="2800" b="1" dirty="0">
                <a:solidFill>
                  <a:srgbClr val="3333FF"/>
                </a:solidFill>
                <a:latin typeface="Times New Roman" pitchFamily="18" charset="0"/>
              </a:rPr>
              <a:t>定基</a:t>
            </a:r>
            <a:r>
              <a:rPr kumimoji="1" lang="zh-CN" altLang="en-US" sz="2800" b="1" dirty="0" smtClean="0">
                <a:solidFill>
                  <a:srgbClr val="3333FF"/>
                </a:solidFill>
                <a:latin typeface="Times New Roman" pitchFamily="18" charset="0"/>
              </a:rPr>
              <a:t>增</a:t>
            </a:r>
            <a:r>
              <a:rPr kumimoji="1" lang="zh-CN" altLang="en-US" sz="2800" b="1" dirty="0" smtClean="0">
                <a:solidFill>
                  <a:srgbClr val="3333FF"/>
                </a:solidFill>
                <a:sym typeface="Wingdings 2" pitchFamily="18" charset="2"/>
              </a:rPr>
              <a:t>长</a:t>
            </a:r>
            <a:r>
              <a:rPr kumimoji="1" lang="zh-CN" altLang="en-US" sz="2800" b="1" dirty="0" smtClean="0">
                <a:solidFill>
                  <a:srgbClr val="3333FF"/>
                </a:solidFill>
                <a:latin typeface="Times New Roman" pitchFamily="18" charset="0"/>
              </a:rPr>
              <a:t>速度</a:t>
            </a:r>
            <a:r>
              <a:rPr kumimoji="1" lang="zh-CN" altLang="en-US" sz="2800" b="1" dirty="0">
                <a:latin typeface="Times New Roman" pitchFamily="18" charset="0"/>
              </a:rPr>
              <a:t>＝累计增减量／固定基期水平</a:t>
            </a:r>
          </a:p>
          <a:p>
            <a:pPr lvl="1" algn="just" eaLnBrk="0" hangingPunct="0">
              <a:lnSpc>
                <a:spcPct val="110000"/>
              </a:lnSpc>
              <a:spcBef>
                <a:spcPct val="5000"/>
              </a:spcBef>
            </a:pPr>
            <a:r>
              <a:rPr kumimoji="1" lang="zh-CN" altLang="en-US" sz="2800" b="1" dirty="0">
                <a:latin typeface="Times New Roman" pitchFamily="18" charset="0"/>
              </a:rPr>
              <a:t>                        ＝定基发展速度－１</a:t>
            </a:r>
            <a:endParaRPr kumimoji="1" lang="zh-CN" altLang="en-US" sz="2800" dirty="0">
              <a:latin typeface="Times New Roman" pitchFamily="18" charset="0"/>
            </a:endParaRPr>
          </a:p>
        </p:txBody>
      </p:sp>
      <p:sp>
        <p:nvSpPr>
          <p:cNvPr id="18440" name="日期占位符 7"/>
          <p:cNvSpPr>
            <a:spLocks noGrp="1"/>
          </p:cNvSpPr>
          <p:nvPr>
            <p:ph type="dt" sz="quarter" idx="10"/>
          </p:nvPr>
        </p:nvSpPr>
        <p:spPr>
          <a:noFill/>
        </p:spPr>
        <p:txBody>
          <a:bodyPr/>
          <a:lstStyle/>
          <a:p>
            <a:endParaRPr lang="en-US" altLang="zh-CN" smtClean="0"/>
          </a:p>
        </p:txBody>
      </p:sp>
      <p:sp>
        <p:nvSpPr>
          <p:cNvPr id="9" name="TextBox 8"/>
          <p:cNvSpPr txBox="1"/>
          <p:nvPr/>
        </p:nvSpPr>
        <p:spPr>
          <a:xfrm>
            <a:off x="1043608" y="5666985"/>
            <a:ext cx="2088232" cy="461665"/>
          </a:xfrm>
          <a:prstGeom prst="rect">
            <a:avLst/>
          </a:prstGeom>
          <a:noFill/>
        </p:spPr>
        <p:txBody>
          <a:bodyPr wrap="square" rtlCol="0">
            <a:spAutoFit/>
          </a:bodyPr>
          <a:lstStyle/>
          <a:p>
            <a:r>
              <a:rPr lang="zh-CN" altLang="en-US" sz="2400" dirty="0" smtClean="0">
                <a:solidFill>
                  <a:srgbClr val="7030A0"/>
                </a:solidFill>
              </a:rPr>
              <a:t>（总增减速度）</a:t>
            </a:r>
            <a:endParaRPr lang="zh-CN" altLang="en-US" sz="2400" dirty="0">
              <a:solidFill>
                <a:srgbClr val="7030A0"/>
              </a:solidFill>
            </a:endParaRPr>
          </a:p>
        </p:txBody>
      </p:sp>
      <p:graphicFrame>
        <p:nvGraphicFramePr>
          <p:cNvPr id="10" name="Object 3">
            <a:extLst>
              <a:ext uri="{FF2B5EF4-FFF2-40B4-BE49-F238E27FC236}">
                <a16:creationId xmlns:a16="http://schemas.microsoft.com/office/drawing/2014/main" id="{35F075C8-8B5C-880F-73D3-587E103E5DD8}"/>
              </a:ext>
            </a:extLst>
          </p:cNvPr>
          <p:cNvGraphicFramePr>
            <a:graphicFrameLocks noChangeAspect="1"/>
          </p:cNvGraphicFramePr>
          <p:nvPr>
            <p:extLst>
              <p:ext uri="{D42A27DB-BD31-4B8C-83A1-F6EECF244321}">
                <p14:modId xmlns:p14="http://schemas.microsoft.com/office/powerpoint/2010/main" val="4184157461"/>
              </p:ext>
            </p:extLst>
          </p:nvPr>
        </p:nvGraphicFramePr>
        <p:xfrm>
          <a:off x="539552" y="2580436"/>
          <a:ext cx="8130893" cy="842031"/>
        </p:xfrm>
        <a:graphic>
          <a:graphicData uri="http://schemas.openxmlformats.org/presentationml/2006/ole">
            <mc:AlternateContent xmlns:mc="http://schemas.openxmlformats.org/markup-compatibility/2006">
              <mc:Choice xmlns:v="urn:schemas-microsoft-com:vml" Requires="v">
                <p:oleObj spid="_x0000_s18540" name="公式" r:id="rId4" imgW="4444920" imgH="419040" progId="Equation.3">
                  <p:embed/>
                </p:oleObj>
              </mc:Choice>
              <mc:Fallback>
                <p:oleObj name="公式" r:id="rId4" imgW="4444920" imgH="419040" progId="Equation.3">
                  <p:embed/>
                  <p:pic>
                    <p:nvPicPr>
                      <p:cNvPr id="54275" name="Object 3">
                        <a:extLst>
                          <a:ext uri="{FF2B5EF4-FFF2-40B4-BE49-F238E27FC236}">
                            <a16:creationId xmlns:a16="http://schemas.microsoft.com/office/drawing/2014/main" id="{35F075C8-8B5C-880F-73D3-587E103E5DD8}"/>
                          </a:ext>
                        </a:extLst>
                      </p:cNvPr>
                      <p:cNvPicPr>
                        <a:picLocks noChangeAspect="1" noChangeArrowheads="1"/>
                      </p:cNvPicPr>
                      <p:nvPr/>
                    </p:nvPicPr>
                    <p:blipFill>
                      <a:blip r:embed="rId5"/>
                      <a:srcRect/>
                      <a:stretch>
                        <a:fillRect/>
                      </a:stretch>
                    </p:blipFill>
                    <p:spPr bwMode="auto">
                      <a:xfrm>
                        <a:off x="539552" y="2580436"/>
                        <a:ext cx="8130893" cy="842031"/>
                      </a:xfrm>
                      <a:prstGeom prst="rect">
                        <a:avLst/>
                      </a:prstGeom>
                      <a:solidFill>
                        <a:srgbClr val="FFFFFF"/>
                      </a:solidFill>
                    </p:spPr>
                  </p:pic>
                </p:oleObj>
              </mc:Fallback>
            </mc:AlternateContent>
          </a:graphicData>
        </a:graphic>
      </p:graphicFrame>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14725"/>
                                        </p:tgtEl>
                                        <p:attrNameLst>
                                          <p:attrName>style.visibility</p:attrName>
                                        </p:attrNameLst>
                                      </p:cBhvr>
                                      <p:to>
                                        <p:strVal val="visible"/>
                                      </p:to>
                                    </p:set>
                                    <p:anim calcmode="lin" valueType="num">
                                      <p:cBhvr additive="base">
                                        <p:cTn id="7" dur="500" fill="hold"/>
                                        <p:tgtEl>
                                          <p:spTgt spid="414725"/>
                                        </p:tgtEl>
                                        <p:attrNameLst>
                                          <p:attrName>ppt_x</p:attrName>
                                        </p:attrNameLst>
                                      </p:cBhvr>
                                      <p:tavLst>
                                        <p:tav tm="0">
                                          <p:val>
                                            <p:strVal val="0-#ppt_w/2"/>
                                          </p:val>
                                        </p:tav>
                                        <p:tav tm="100000">
                                          <p:val>
                                            <p:strVal val="#ppt_x"/>
                                          </p:val>
                                        </p:tav>
                                      </p:tavLst>
                                    </p:anim>
                                    <p:anim calcmode="lin" valueType="num">
                                      <p:cBhvr additive="base">
                                        <p:cTn id="8" dur="500" fill="hold"/>
                                        <p:tgtEl>
                                          <p:spTgt spid="41472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14726">
                                            <p:txEl>
                                              <p:pRg st="0" end="0"/>
                                            </p:txEl>
                                          </p:spTgt>
                                        </p:tgtEl>
                                        <p:attrNameLst>
                                          <p:attrName>style.visibility</p:attrName>
                                        </p:attrNameLst>
                                      </p:cBhvr>
                                      <p:to>
                                        <p:strVal val="visible"/>
                                      </p:to>
                                    </p:set>
                                    <p:anim calcmode="lin" valueType="num">
                                      <p:cBhvr additive="base">
                                        <p:cTn id="12" dur="1500" fill="hold"/>
                                        <p:tgtEl>
                                          <p:spTgt spid="414726">
                                            <p:txEl>
                                              <p:pRg st="0" end="0"/>
                                            </p:txEl>
                                          </p:spTgt>
                                        </p:tgtEl>
                                        <p:attrNameLst>
                                          <p:attrName>ppt_x</p:attrName>
                                        </p:attrNameLst>
                                      </p:cBhvr>
                                      <p:tavLst>
                                        <p:tav tm="0">
                                          <p:val>
                                            <p:strVal val="0-#ppt_w/2"/>
                                          </p:val>
                                        </p:tav>
                                        <p:tav tm="100000">
                                          <p:val>
                                            <p:strVal val="#ppt_x"/>
                                          </p:val>
                                        </p:tav>
                                      </p:tavLst>
                                    </p:anim>
                                    <p:anim calcmode="lin" valueType="num">
                                      <p:cBhvr additive="base">
                                        <p:cTn id="13" dur="1500" fill="hold"/>
                                        <p:tgtEl>
                                          <p:spTgt spid="414726">
                                            <p:txEl>
                                              <p:pRg st="0" end="0"/>
                                            </p:txEl>
                                          </p:spTgt>
                                        </p:tgtEl>
                                        <p:attrNameLst>
                                          <p:attrName>ppt_y</p:attrName>
                                        </p:attrNameLst>
                                      </p:cBhvr>
                                      <p:tavLst>
                                        <p:tav tm="0">
                                          <p:val>
                                            <p:strVal val="#ppt_y"/>
                                          </p:val>
                                        </p:tav>
                                        <p:tav tm="100000">
                                          <p:val>
                                            <p:strVal val="#ppt_y"/>
                                          </p:val>
                                        </p:tav>
                                      </p:tavLst>
                                    </p:anim>
                                  </p:childTnLst>
                                </p:cTn>
                              </p:par>
                              <p:par>
                                <p:cTn id="14" presetID="2" presetClass="entr" presetSubtype="8" fill="hold" grpId="0" nodeType="withEffect">
                                  <p:stCondLst>
                                    <p:cond delay="0"/>
                                  </p:stCondLst>
                                  <p:childTnLst>
                                    <p:set>
                                      <p:cBhvr>
                                        <p:cTn id="15" dur="1" fill="hold">
                                          <p:stCondLst>
                                            <p:cond delay="0"/>
                                          </p:stCondLst>
                                        </p:cTn>
                                        <p:tgtEl>
                                          <p:spTgt spid="414726">
                                            <p:txEl>
                                              <p:pRg st="1" end="1"/>
                                            </p:txEl>
                                          </p:spTgt>
                                        </p:tgtEl>
                                        <p:attrNameLst>
                                          <p:attrName>style.visibility</p:attrName>
                                        </p:attrNameLst>
                                      </p:cBhvr>
                                      <p:to>
                                        <p:strVal val="visible"/>
                                      </p:to>
                                    </p:set>
                                    <p:anim calcmode="lin" valueType="num">
                                      <p:cBhvr additive="base">
                                        <p:cTn id="16" dur="1000" fill="hold"/>
                                        <p:tgtEl>
                                          <p:spTgt spid="414726">
                                            <p:txEl>
                                              <p:pRg st="1" end="1"/>
                                            </p:txEl>
                                          </p:spTgt>
                                        </p:tgtEl>
                                        <p:attrNameLst>
                                          <p:attrName>ppt_x</p:attrName>
                                        </p:attrNameLst>
                                      </p:cBhvr>
                                      <p:tavLst>
                                        <p:tav tm="0">
                                          <p:val>
                                            <p:strVal val="0-#ppt_w/2"/>
                                          </p:val>
                                        </p:tav>
                                        <p:tav tm="100000">
                                          <p:val>
                                            <p:strVal val="#ppt_x"/>
                                          </p:val>
                                        </p:tav>
                                      </p:tavLst>
                                    </p:anim>
                                    <p:anim calcmode="lin" valueType="num">
                                      <p:cBhvr additive="base">
                                        <p:cTn id="17" dur="1000" fill="hold"/>
                                        <p:tgtEl>
                                          <p:spTgt spid="41472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414726">
                                            <p:txEl>
                                              <p:pRg st="2" end="2"/>
                                            </p:txEl>
                                          </p:spTgt>
                                        </p:tgtEl>
                                        <p:attrNameLst>
                                          <p:attrName>style.visibility</p:attrName>
                                        </p:attrNameLst>
                                      </p:cBhvr>
                                      <p:to>
                                        <p:strVal val="visible"/>
                                      </p:to>
                                    </p:set>
                                    <p:anim calcmode="lin" valueType="num">
                                      <p:cBhvr additive="base">
                                        <p:cTn id="22" dur="500" fill="hold"/>
                                        <p:tgtEl>
                                          <p:spTgt spid="414726">
                                            <p:txEl>
                                              <p:pRg st="2" end="2"/>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414726">
                                            <p:txEl>
                                              <p:pRg st="2" end="2"/>
                                            </p:txEl>
                                          </p:spTgt>
                                        </p:tgtEl>
                                        <p:attrNameLst>
                                          <p:attrName>ppt_y</p:attrName>
                                        </p:attrNameLst>
                                      </p:cBhvr>
                                      <p:tavLst>
                                        <p:tav tm="0">
                                          <p:val>
                                            <p:strVal val="#ppt_y"/>
                                          </p:val>
                                        </p:tav>
                                        <p:tav tm="100000">
                                          <p:val>
                                            <p:strVal val="#ppt_y"/>
                                          </p:val>
                                        </p:tav>
                                      </p:tavLst>
                                    </p:anim>
                                  </p:childTnLst>
                                </p:cTn>
                              </p:par>
                              <p:par>
                                <p:cTn id="24" presetID="2" presetClass="entr" presetSubtype="8" fill="hold" grpId="0" nodeType="withEffect">
                                  <p:stCondLst>
                                    <p:cond delay="0"/>
                                  </p:stCondLst>
                                  <p:childTnLst>
                                    <p:set>
                                      <p:cBhvr>
                                        <p:cTn id="25" dur="1" fill="hold">
                                          <p:stCondLst>
                                            <p:cond delay="0"/>
                                          </p:stCondLst>
                                        </p:cTn>
                                        <p:tgtEl>
                                          <p:spTgt spid="414726">
                                            <p:txEl>
                                              <p:pRg st="3" end="3"/>
                                            </p:txEl>
                                          </p:spTgt>
                                        </p:tgtEl>
                                        <p:attrNameLst>
                                          <p:attrName>style.visibility</p:attrName>
                                        </p:attrNameLst>
                                      </p:cBhvr>
                                      <p:to>
                                        <p:strVal val="visible"/>
                                      </p:to>
                                    </p:set>
                                    <p:anim calcmode="lin" valueType="num">
                                      <p:cBhvr additive="base">
                                        <p:cTn id="26" dur="500" fill="hold"/>
                                        <p:tgtEl>
                                          <p:spTgt spid="414726">
                                            <p:txEl>
                                              <p:pRg st="3" end="3"/>
                                            </p:txEl>
                                          </p:spTgt>
                                        </p:tgtEl>
                                        <p:attrNameLst>
                                          <p:attrName>ppt_x</p:attrName>
                                        </p:attrNameLst>
                                      </p:cBhvr>
                                      <p:tavLst>
                                        <p:tav tm="0">
                                          <p:val>
                                            <p:strVal val="0-#ppt_w/2"/>
                                          </p:val>
                                        </p:tav>
                                        <p:tav tm="100000">
                                          <p:val>
                                            <p:strVal val="#ppt_x"/>
                                          </p:val>
                                        </p:tav>
                                      </p:tavLst>
                                    </p:anim>
                                    <p:anim calcmode="lin" valueType="num">
                                      <p:cBhvr additive="base">
                                        <p:cTn id="27" dur="500" fill="hold"/>
                                        <p:tgtEl>
                                          <p:spTgt spid="414726">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725" grpId="0" autoUpdateAnimBg="0"/>
      <p:bldP spid="414726" grpId="0" uiExpand="1" build="p" bldLvl="2"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61" name="Rectangle 2"/>
          <p:cNvSpPr>
            <a:spLocks noGrp="1" noChangeArrowheads="1"/>
          </p:cNvSpPr>
          <p:nvPr>
            <p:ph type="title"/>
          </p:nvPr>
        </p:nvSpPr>
        <p:spPr/>
        <p:txBody>
          <a:bodyPr/>
          <a:lstStyle/>
          <a:p>
            <a:pPr eaLnBrk="1" hangingPunct="1"/>
            <a:r>
              <a:rPr lang="zh-CN" altLang="en-US" smtClean="0"/>
              <a:t>几个速度之间的关系</a:t>
            </a:r>
          </a:p>
        </p:txBody>
      </p:sp>
      <p:sp>
        <p:nvSpPr>
          <p:cNvPr id="19462" name="Rectangle 3"/>
          <p:cNvSpPr>
            <a:spLocks noGrp="1" noChangeArrowheads="1"/>
          </p:cNvSpPr>
          <p:nvPr>
            <p:ph type="body" idx="1"/>
          </p:nvPr>
        </p:nvSpPr>
        <p:spPr>
          <a:xfrm>
            <a:off x="665163" y="1450181"/>
            <a:ext cx="8084117" cy="1800225"/>
          </a:xfrm>
        </p:spPr>
        <p:txBody>
          <a:bodyPr/>
          <a:lstStyle/>
          <a:p>
            <a:pPr marL="0" indent="0" eaLnBrk="1" hangingPunct="1">
              <a:lnSpc>
                <a:spcPct val="120000"/>
              </a:lnSpc>
              <a:spcBef>
                <a:spcPts val="600"/>
              </a:spcBef>
              <a:buNone/>
            </a:pPr>
            <a:r>
              <a:rPr lang="zh-CN" altLang="en-US" dirty="0" smtClean="0">
                <a:solidFill>
                  <a:srgbClr val="3333FF"/>
                </a:solidFill>
                <a:latin typeface="Times New Roman" pitchFamily="18" charset="0"/>
                <a:ea typeface="华文中宋" pitchFamily="2" charset="-122"/>
              </a:rPr>
              <a:t>总增减速度</a:t>
            </a:r>
            <a:r>
              <a:rPr lang="zh-CN" altLang="en-US" dirty="0" smtClean="0">
                <a:solidFill>
                  <a:srgbClr val="C00000"/>
                </a:solidFill>
                <a:latin typeface="Times New Roman" pitchFamily="18" charset="0"/>
                <a:ea typeface="华文中宋" pitchFamily="2" charset="-122"/>
              </a:rPr>
              <a:t>不</a:t>
            </a:r>
            <a:r>
              <a:rPr lang="zh-CN" altLang="en-US" dirty="0" smtClean="0">
                <a:solidFill>
                  <a:srgbClr val="C00000"/>
                </a:solidFill>
                <a:latin typeface="Times New Roman" pitchFamily="18" charset="0"/>
                <a:ea typeface="华文中宋" pitchFamily="2" charset="-122"/>
              </a:rPr>
              <a:t>等于</a:t>
            </a:r>
            <a:r>
              <a:rPr lang="zh-CN" altLang="en-US" dirty="0" smtClean="0">
                <a:solidFill>
                  <a:srgbClr val="3333FF"/>
                </a:solidFill>
                <a:latin typeface="Times New Roman" pitchFamily="18" charset="0"/>
                <a:ea typeface="华文中宋" pitchFamily="2" charset="-122"/>
              </a:rPr>
              <a:t>各</a:t>
            </a:r>
            <a:r>
              <a:rPr lang="zh-CN" altLang="en-US" dirty="0" smtClean="0">
                <a:solidFill>
                  <a:srgbClr val="3333FF"/>
                </a:solidFill>
                <a:latin typeface="Times New Roman" pitchFamily="18" charset="0"/>
                <a:ea typeface="华文中宋" pitchFamily="2" charset="-122"/>
              </a:rPr>
              <a:t>环比增减速度之和（积</a:t>
            </a:r>
            <a:r>
              <a:rPr lang="zh-CN" altLang="en-US" dirty="0" smtClean="0">
                <a:solidFill>
                  <a:srgbClr val="3333FF"/>
                </a:solidFill>
                <a:latin typeface="Times New Roman" pitchFamily="18" charset="0"/>
                <a:ea typeface="华文中宋" pitchFamily="2" charset="-122"/>
              </a:rPr>
              <a:t>）</a:t>
            </a:r>
            <a:r>
              <a:rPr lang="zh-CN" altLang="en-US" dirty="0" smtClean="0">
                <a:solidFill>
                  <a:srgbClr val="000000"/>
                </a:solidFill>
                <a:latin typeface="Times New Roman" pitchFamily="18" charset="0"/>
                <a:ea typeface="华文中宋" pitchFamily="2" charset="-122"/>
              </a:rPr>
              <a:t> </a:t>
            </a:r>
            <a:endParaRPr lang="zh-CN" altLang="en-US" dirty="0" smtClean="0">
              <a:solidFill>
                <a:srgbClr val="000000"/>
              </a:solidFill>
              <a:latin typeface="Times New Roman" pitchFamily="18" charset="0"/>
              <a:cs typeface="Times New Roman" pitchFamily="18" charset="0"/>
            </a:endParaRPr>
          </a:p>
          <a:p>
            <a:pPr marL="0" indent="0" eaLnBrk="1" hangingPunct="1">
              <a:lnSpc>
                <a:spcPct val="120000"/>
              </a:lnSpc>
              <a:spcBef>
                <a:spcPts val="600"/>
              </a:spcBef>
              <a:buNone/>
            </a:pPr>
            <a:r>
              <a:rPr lang="zh-CN" altLang="en-US" b="0" dirty="0" smtClean="0">
                <a:solidFill>
                  <a:schemeClr val="tx1"/>
                </a:solidFill>
                <a:ea typeface="华文中宋" pitchFamily="2" charset="-122"/>
              </a:rPr>
              <a:t>相互关系如下所示：</a:t>
            </a:r>
            <a:endParaRPr lang="zh-CN" altLang="en-US" b="0" dirty="0" smtClean="0">
              <a:solidFill>
                <a:schemeClr val="tx1"/>
              </a:solidFill>
            </a:endParaRPr>
          </a:p>
        </p:txBody>
      </p:sp>
      <p:sp>
        <p:nvSpPr>
          <p:cNvPr id="416772" name="Rectangle 4"/>
          <p:cNvSpPr>
            <a:spLocks noChangeArrowheads="1"/>
          </p:cNvSpPr>
          <p:nvPr/>
        </p:nvSpPr>
        <p:spPr bwMode="auto">
          <a:xfrm>
            <a:off x="990600" y="3184525"/>
            <a:ext cx="2667000" cy="588963"/>
          </a:xfrm>
          <a:prstGeom prst="rect">
            <a:avLst/>
          </a:prstGeom>
          <a:solidFill>
            <a:schemeClr val="accent1">
              <a:lumMod val="20000"/>
              <a:lumOff val="80000"/>
            </a:schemeClr>
          </a:solidFill>
          <a:ln w="9525">
            <a:solidFill>
              <a:schemeClr val="bg2"/>
            </a:solidFill>
            <a:miter lim="800000"/>
            <a:headEnd/>
            <a:tailEnd/>
          </a:ln>
          <a:effectLst/>
        </p:spPr>
        <p:txBody>
          <a:bodyPr>
            <a:spAutoFit/>
          </a:bodyPr>
          <a:lstStyle/>
          <a:p>
            <a:pPr eaLnBrk="0" hangingPunct="0">
              <a:defRPr/>
            </a:pPr>
            <a:r>
              <a:rPr kumimoji="1" lang="zh-CN" altLang="en-US" sz="3200" b="1" dirty="0">
                <a:solidFill>
                  <a:srgbClr val="000000"/>
                </a:solidFill>
              </a:rPr>
              <a:t>环比增减速度</a:t>
            </a:r>
          </a:p>
        </p:txBody>
      </p:sp>
      <p:sp>
        <p:nvSpPr>
          <p:cNvPr id="416773" name="Rectangle 5"/>
          <p:cNvSpPr>
            <a:spLocks noChangeArrowheads="1"/>
          </p:cNvSpPr>
          <p:nvPr/>
        </p:nvSpPr>
        <p:spPr bwMode="auto">
          <a:xfrm>
            <a:off x="990600" y="4881562"/>
            <a:ext cx="2632075" cy="579437"/>
          </a:xfrm>
          <a:prstGeom prst="rect">
            <a:avLst/>
          </a:prstGeom>
          <a:solidFill>
            <a:srgbClr val="CCECFF"/>
          </a:solidFill>
          <a:ln w="9525">
            <a:solidFill>
              <a:schemeClr val="accent1">
                <a:lumMod val="75000"/>
              </a:schemeClr>
            </a:solidFill>
            <a:miter lim="800000"/>
            <a:headEnd/>
            <a:tailEnd/>
          </a:ln>
          <a:effectLst/>
        </p:spPr>
        <p:txBody>
          <a:bodyPr wrap="none">
            <a:spAutoFit/>
          </a:bodyPr>
          <a:lstStyle/>
          <a:p>
            <a:pPr eaLnBrk="0" hangingPunct="0">
              <a:defRPr/>
            </a:pPr>
            <a:r>
              <a:rPr kumimoji="1" lang="zh-CN" altLang="en-US" sz="3200" b="1" dirty="0">
                <a:solidFill>
                  <a:srgbClr val="002060"/>
                </a:solidFill>
                <a:latin typeface="黑体" panose="02010609060101010101" pitchFamily="49" charset="-122"/>
                <a:ea typeface="黑体" panose="02010609060101010101" pitchFamily="49" charset="-122"/>
              </a:rPr>
              <a:t>环比发展速度</a:t>
            </a:r>
          </a:p>
        </p:txBody>
      </p:sp>
      <p:sp>
        <p:nvSpPr>
          <p:cNvPr id="416774" name="Rectangle 6"/>
          <p:cNvSpPr>
            <a:spLocks noChangeArrowheads="1"/>
          </p:cNvSpPr>
          <p:nvPr/>
        </p:nvSpPr>
        <p:spPr bwMode="auto">
          <a:xfrm>
            <a:off x="5562600" y="3260725"/>
            <a:ext cx="2632075" cy="588963"/>
          </a:xfrm>
          <a:prstGeom prst="rect">
            <a:avLst/>
          </a:prstGeom>
          <a:solidFill>
            <a:schemeClr val="accent1">
              <a:lumMod val="20000"/>
              <a:lumOff val="80000"/>
            </a:schemeClr>
          </a:solidFill>
          <a:ln w="9525">
            <a:solidFill>
              <a:schemeClr val="bg2"/>
            </a:solidFill>
            <a:miter lim="800000"/>
            <a:headEnd/>
            <a:tailEnd/>
          </a:ln>
          <a:effectLst/>
        </p:spPr>
        <p:txBody>
          <a:bodyPr>
            <a:spAutoFit/>
          </a:bodyPr>
          <a:lstStyle/>
          <a:p>
            <a:pPr eaLnBrk="0" hangingPunct="0"/>
            <a:r>
              <a:rPr kumimoji="1" lang="zh-CN" altLang="en-US" sz="3200" b="1" dirty="0">
                <a:solidFill>
                  <a:srgbClr val="000000"/>
                </a:solidFill>
              </a:rPr>
              <a:t>定基增减速度</a:t>
            </a:r>
          </a:p>
        </p:txBody>
      </p:sp>
      <p:sp>
        <p:nvSpPr>
          <p:cNvPr id="416775" name="Rectangle 7"/>
          <p:cNvSpPr>
            <a:spLocks noChangeArrowheads="1"/>
          </p:cNvSpPr>
          <p:nvPr/>
        </p:nvSpPr>
        <p:spPr bwMode="auto">
          <a:xfrm>
            <a:off x="5486400" y="4860925"/>
            <a:ext cx="2632075" cy="579438"/>
          </a:xfrm>
          <a:prstGeom prst="rect">
            <a:avLst/>
          </a:prstGeom>
          <a:solidFill>
            <a:srgbClr val="CCECFF"/>
          </a:solidFill>
          <a:ln w="9525">
            <a:solidFill>
              <a:schemeClr val="accent1">
                <a:lumMod val="75000"/>
              </a:schemeClr>
            </a:solidFill>
            <a:miter lim="800000"/>
            <a:headEnd/>
            <a:tailEnd/>
          </a:ln>
          <a:effectLst/>
        </p:spPr>
        <p:txBody>
          <a:bodyPr wrap="none">
            <a:spAutoFit/>
          </a:bodyPr>
          <a:lstStyle/>
          <a:p>
            <a:pPr eaLnBrk="0" hangingPunct="0"/>
            <a:r>
              <a:rPr kumimoji="1" lang="zh-CN" altLang="en-US" sz="3200" b="1" dirty="0">
                <a:solidFill>
                  <a:srgbClr val="002060"/>
                </a:solidFill>
                <a:latin typeface="黑体" panose="02010609060101010101" pitchFamily="49" charset="-122"/>
                <a:ea typeface="黑体" panose="02010609060101010101" pitchFamily="49" charset="-122"/>
              </a:rPr>
              <a:t>定基发展速度</a:t>
            </a:r>
          </a:p>
        </p:txBody>
      </p:sp>
      <p:sp>
        <p:nvSpPr>
          <p:cNvPr id="416776" name="AutoShape 8"/>
          <p:cNvSpPr>
            <a:spLocks noChangeArrowheads="1"/>
          </p:cNvSpPr>
          <p:nvPr/>
        </p:nvSpPr>
        <p:spPr bwMode="auto">
          <a:xfrm>
            <a:off x="1958756" y="3773488"/>
            <a:ext cx="381000" cy="1066800"/>
          </a:xfrm>
          <a:prstGeom prst="upDownArrow">
            <a:avLst>
              <a:gd name="adj1" fmla="val 50000"/>
              <a:gd name="adj2" fmla="val 56000"/>
            </a:avLst>
          </a:prstGeom>
          <a:solidFill>
            <a:srgbClr val="92D050"/>
          </a:solidFill>
          <a:ln w="9525">
            <a:solidFill>
              <a:srgbClr val="000000"/>
            </a:solidFill>
            <a:miter lim="800000"/>
            <a:headEnd/>
            <a:tailEnd/>
          </a:ln>
        </p:spPr>
        <p:txBody>
          <a:bodyPr vert="eaVert"/>
          <a:lstStyle/>
          <a:p>
            <a:endParaRPr lang="zh-CN" altLang="en-US"/>
          </a:p>
        </p:txBody>
      </p:sp>
      <p:sp>
        <p:nvSpPr>
          <p:cNvPr id="416777" name="AutoShape 9"/>
          <p:cNvSpPr>
            <a:spLocks noChangeArrowheads="1"/>
          </p:cNvSpPr>
          <p:nvPr/>
        </p:nvSpPr>
        <p:spPr bwMode="auto">
          <a:xfrm>
            <a:off x="6463632" y="3860007"/>
            <a:ext cx="382811" cy="1000918"/>
          </a:xfrm>
          <a:prstGeom prst="upDownArrow">
            <a:avLst>
              <a:gd name="adj1" fmla="val 50000"/>
              <a:gd name="adj2" fmla="val 46667"/>
            </a:avLst>
          </a:prstGeom>
          <a:solidFill>
            <a:srgbClr val="92D050"/>
          </a:solidFill>
          <a:ln w="9525">
            <a:solidFill>
              <a:srgbClr val="000000"/>
            </a:solidFill>
            <a:miter lim="800000"/>
            <a:headEnd/>
            <a:tailEnd/>
          </a:ln>
        </p:spPr>
        <p:txBody>
          <a:bodyPr vert="eaVert"/>
          <a:lstStyle/>
          <a:p>
            <a:endParaRPr lang="zh-CN" altLang="en-US"/>
          </a:p>
        </p:txBody>
      </p:sp>
      <p:sp>
        <p:nvSpPr>
          <p:cNvPr id="416778" name="AutoShape 10"/>
          <p:cNvSpPr>
            <a:spLocks noChangeArrowheads="1"/>
          </p:cNvSpPr>
          <p:nvPr/>
        </p:nvSpPr>
        <p:spPr bwMode="auto">
          <a:xfrm>
            <a:off x="3890010" y="4941168"/>
            <a:ext cx="1447800" cy="382512"/>
          </a:xfrm>
          <a:prstGeom prst="leftRightArrow">
            <a:avLst>
              <a:gd name="adj1" fmla="val 50000"/>
              <a:gd name="adj2" fmla="val 95000"/>
            </a:avLst>
          </a:prstGeom>
          <a:solidFill>
            <a:srgbClr val="92D050"/>
          </a:solidFill>
          <a:ln w="9525">
            <a:solidFill>
              <a:srgbClr val="00B050"/>
            </a:solidFill>
            <a:miter lim="800000"/>
            <a:headEnd/>
            <a:tailEnd/>
          </a:ln>
        </p:spPr>
        <p:txBody>
          <a:bodyPr/>
          <a:lstStyle/>
          <a:p>
            <a:endParaRPr lang="zh-CN" altLang="en-US"/>
          </a:p>
        </p:txBody>
      </p:sp>
      <p:graphicFrame>
        <p:nvGraphicFramePr>
          <p:cNvPr id="416779" name="Object 11"/>
          <p:cNvGraphicFramePr>
            <a:graphicFrameLocks noChangeAspect="1"/>
          </p:cNvGraphicFramePr>
          <p:nvPr>
            <p:extLst>
              <p:ext uri="{D42A27DB-BD31-4B8C-83A1-F6EECF244321}">
                <p14:modId xmlns:p14="http://schemas.microsoft.com/office/powerpoint/2010/main" val="243057381"/>
              </p:ext>
            </p:extLst>
          </p:nvPr>
        </p:nvGraphicFramePr>
        <p:xfrm>
          <a:off x="2328863" y="4022725"/>
          <a:ext cx="885825" cy="644525"/>
        </p:xfrm>
        <a:graphic>
          <a:graphicData uri="http://schemas.openxmlformats.org/presentationml/2006/ole">
            <mc:AlternateContent xmlns:mc="http://schemas.openxmlformats.org/markup-compatibility/2006">
              <mc:Choice xmlns:v="urn:schemas-microsoft-com:vml" Requires="v">
                <p:oleObj spid="_x0000_s19670" name="公式" r:id="rId3" imgW="241200" imgH="164880" progId="Equation.3">
                  <p:embed/>
                </p:oleObj>
              </mc:Choice>
              <mc:Fallback>
                <p:oleObj name="公式" r:id="rId3" imgW="241200" imgH="164880" progId="Equation.3">
                  <p:embed/>
                  <p:pic>
                    <p:nvPicPr>
                      <p:cNvPr id="0" name="Object 11"/>
                      <p:cNvPicPr>
                        <a:picLocks noChangeAspect="1" noChangeArrowheads="1"/>
                      </p:cNvPicPr>
                      <p:nvPr/>
                    </p:nvPicPr>
                    <p:blipFill>
                      <a:blip r:embed="rId4"/>
                      <a:srcRect/>
                      <a:stretch>
                        <a:fillRect/>
                      </a:stretch>
                    </p:blipFill>
                    <p:spPr bwMode="auto">
                      <a:xfrm>
                        <a:off x="2328863" y="4022725"/>
                        <a:ext cx="885825" cy="644525"/>
                      </a:xfrm>
                      <a:prstGeom prst="rect">
                        <a:avLst/>
                      </a:prstGeom>
                      <a:solidFill>
                        <a:srgbClr val="79A984"/>
                      </a:solidFill>
                    </p:spPr>
                  </p:pic>
                </p:oleObj>
              </mc:Fallback>
            </mc:AlternateContent>
          </a:graphicData>
        </a:graphic>
      </p:graphicFrame>
      <p:sp>
        <p:nvSpPr>
          <p:cNvPr id="416780" name="Text Box 12"/>
          <p:cNvSpPr txBox="1">
            <a:spLocks noChangeArrowheads="1"/>
          </p:cNvSpPr>
          <p:nvPr/>
        </p:nvSpPr>
        <p:spPr bwMode="auto">
          <a:xfrm>
            <a:off x="4101470" y="5517232"/>
            <a:ext cx="1236340" cy="579437"/>
          </a:xfrm>
          <a:prstGeom prst="rect">
            <a:avLst/>
          </a:prstGeom>
          <a:solidFill>
            <a:srgbClr val="4CB87F"/>
          </a:solidFill>
          <a:ln w="9525">
            <a:noFill/>
            <a:miter lim="800000"/>
            <a:headEnd/>
            <a:tailEnd/>
          </a:ln>
        </p:spPr>
        <p:txBody>
          <a:bodyPr wrap="square">
            <a:spAutoFit/>
          </a:bodyPr>
          <a:lstStyle/>
          <a:p>
            <a:pPr algn="ctr" eaLnBrk="0" hangingPunct="0">
              <a:spcBef>
                <a:spcPct val="50000"/>
              </a:spcBef>
            </a:pPr>
            <a:r>
              <a:rPr kumimoji="1" lang="zh-CN" altLang="en-US" sz="3200" b="1" dirty="0" smtClean="0">
                <a:solidFill>
                  <a:srgbClr val="000000"/>
                </a:solidFill>
              </a:rPr>
              <a:t>乘</a:t>
            </a:r>
            <a:r>
              <a:rPr kumimoji="1" lang="en-US" altLang="zh-CN" sz="3200" b="1" i="1" dirty="0" smtClean="0">
                <a:solidFill>
                  <a:srgbClr val="000000"/>
                </a:solidFill>
              </a:rPr>
              <a:t>/ </a:t>
            </a:r>
            <a:r>
              <a:rPr kumimoji="1" lang="zh-CN" altLang="en-US" sz="3200" b="1" dirty="0" smtClean="0">
                <a:solidFill>
                  <a:srgbClr val="000000"/>
                </a:solidFill>
              </a:rPr>
              <a:t>除</a:t>
            </a:r>
            <a:endParaRPr kumimoji="1" lang="zh-CN" altLang="en-US" sz="3200" b="1" dirty="0">
              <a:solidFill>
                <a:srgbClr val="000000"/>
              </a:solidFill>
            </a:endParaRPr>
          </a:p>
        </p:txBody>
      </p:sp>
      <p:graphicFrame>
        <p:nvGraphicFramePr>
          <p:cNvPr id="416781" name="Object 13"/>
          <p:cNvGraphicFramePr>
            <a:graphicFrameLocks noChangeAspect="1"/>
          </p:cNvGraphicFramePr>
          <p:nvPr>
            <p:extLst>
              <p:ext uri="{D42A27DB-BD31-4B8C-83A1-F6EECF244321}">
                <p14:modId xmlns:p14="http://schemas.microsoft.com/office/powerpoint/2010/main" val="2995073537"/>
              </p:ext>
            </p:extLst>
          </p:nvPr>
        </p:nvGraphicFramePr>
        <p:xfrm>
          <a:off x="6919488" y="4022724"/>
          <a:ext cx="790575" cy="644525"/>
        </p:xfrm>
        <a:graphic>
          <a:graphicData uri="http://schemas.openxmlformats.org/presentationml/2006/ole">
            <mc:AlternateContent xmlns:mc="http://schemas.openxmlformats.org/markup-compatibility/2006">
              <mc:Choice xmlns:v="urn:schemas-microsoft-com:vml" Requires="v">
                <p:oleObj spid="_x0000_s19671" name="公式" r:id="rId5" imgW="215640" imgH="164880" progId="Equation.3">
                  <p:embed/>
                </p:oleObj>
              </mc:Choice>
              <mc:Fallback>
                <p:oleObj name="公式" r:id="rId5" imgW="215640" imgH="164880"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19488" y="4022724"/>
                        <a:ext cx="790575" cy="644525"/>
                      </a:xfrm>
                      <a:prstGeom prst="rect">
                        <a:avLst/>
                      </a:prstGeom>
                      <a:solidFill>
                        <a:srgbClr val="79A984"/>
                      </a:solidFill>
                    </p:spPr>
                  </p:pic>
                </p:oleObj>
              </mc:Fallback>
            </mc:AlternateContent>
          </a:graphicData>
        </a:graphic>
      </p:graphicFrame>
      <p:sp>
        <p:nvSpPr>
          <p:cNvPr id="19471" name="日期占位符 14"/>
          <p:cNvSpPr>
            <a:spLocks noGrp="1"/>
          </p:cNvSpPr>
          <p:nvPr>
            <p:ph type="dt" sz="quarter" idx="10"/>
          </p:nvPr>
        </p:nvSpPr>
        <p:spPr>
          <a:noFill/>
        </p:spPr>
        <p:txBody>
          <a:bodyPr/>
          <a:lstStyle/>
          <a:p>
            <a:endParaRPr lang="en-US" altLang="zh-CN" smtClean="0"/>
          </a:p>
        </p:txBody>
      </p:sp>
      <p:sp>
        <p:nvSpPr>
          <p:cNvPr id="16" name="TextBox 15"/>
          <p:cNvSpPr txBox="1"/>
          <p:nvPr/>
        </p:nvSpPr>
        <p:spPr>
          <a:xfrm>
            <a:off x="5834521" y="2785514"/>
            <a:ext cx="2088232" cy="461665"/>
          </a:xfrm>
          <a:prstGeom prst="rect">
            <a:avLst/>
          </a:prstGeom>
          <a:noFill/>
        </p:spPr>
        <p:txBody>
          <a:bodyPr wrap="square" rtlCol="0">
            <a:spAutoFit/>
          </a:bodyPr>
          <a:lstStyle/>
          <a:p>
            <a:r>
              <a:rPr lang="zh-CN" altLang="en-US" sz="2400" dirty="0" smtClean="0">
                <a:solidFill>
                  <a:srgbClr val="7030A0"/>
                </a:solidFill>
              </a:rPr>
              <a:t>（总增减速度）</a:t>
            </a:r>
            <a:endParaRPr lang="zh-CN" altLang="en-US" sz="2400" dirty="0">
              <a:solidFill>
                <a:srgbClr val="7030A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16776"/>
                                        </p:tgtEl>
                                        <p:attrNameLst>
                                          <p:attrName>style.visibility</p:attrName>
                                        </p:attrNameLst>
                                      </p:cBhvr>
                                      <p:to>
                                        <p:strVal val="visible"/>
                                      </p:to>
                                    </p:set>
                                    <p:animEffect transition="in" filter="slide(fromBottom)">
                                      <p:cBhvr>
                                        <p:cTn id="7" dur="250"/>
                                        <p:tgtEl>
                                          <p:spTgt spid="416776"/>
                                        </p:tgtEl>
                                      </p:cBhvr>
                                    </p:animEffect>
                                  </p:childTnLst>
                                </p:cTn>
                              </p:par>
                            </p:childTnLst>
                          </p:cTn>
                        </p:par>
                        <p:par>
                          <p:cTn id="8" fill="hold">
                            <p:stCondLst>
                              <p:cond delay="250"/>
                            </p:stCondLst>
                            <p:childTnLst>
                              <p:par>
                                <p:cTn id="9" presetID="2" presetClass="entr" presetSubtype="8" fill="hold" grpId="0" nodeType="afterEffect">
                                  <p:stCondLst>
                                    <p:cond delay="0"/>
                                  </p:stCondLst>
                                  <p:childTnLst>
                                    <p:set>
                                      <p:cBhvr>
                                        <p:cTn id="10" dur="1" fill="hold">
                                          <p:stCondLst>
                                            <p:cond delay="0"/>
                                          </p:stCondLst>
                                        </p:cTn>
                                        <p:tgtEl>
                                          <p:spTgt spid="416773"/>
                                        </p:tgtEl>
                                        <p:attrNameLst>
                                          <p:attrName>style.visibility</p:attrName>
                                        </p:attrNameLst>
                                      </p:cBhvr>
                                      <p:to>
                                        <p:strVal val="visible"/>
                                      </p:to>
                                    </p:set>
                                    <p:anim calcmode="lin" valueType="num">
                                      <p:cBhvr additive="base">
                                        <p:cTn id="11" dur="250" fill="hold"/>
                                        <p:tgtEl>
                                          <p:spTgt spid="416773"/>
                                        </p:tgtEl>
                                        <p:attrNameLst>
                                          <p:attrName>ppt_x</p:attrName>
                                        </p:attrNameLst>
                                      </p:cBhvr>
                                      <p:tavLst>
                                        <p:tav tm="0">
                                          <p:val>
                                            <p:strVal val="0-#ppt_w/2"/>
                                          </p:val>
                                        </p:tav>
                                        <p:tav tm="100000">
                                          <p:val>
                                            <p:strVal val="#ppt_x"/>
                                          </p:val>
                                        </p:tav>
                                      </p:tavLst>
                                    </p:anim>
                                    <p:anim calcmode="lin" valueType="num">
                                      <p:cBhvr additive="base">
                                        <p:cTn id="12" dur="250" fill="hold"/>
                                        <p:tgtEl>
                                          <p:spTgt spid="416773"/>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4" fill="hold" nodeType="afterEffect">
                                  <p:stCondLst>
                                    <p:cond delay="1000"/>
                                  </p:stCondLst>
                                  <p:childTnLst>
                                    <p:set>
                                      <p:cBhvr>
                                        <p:cTn id="15" dur="1" fill="hold">
                                          <p:stCondLst>
                                            <p:cond delay="0"/>
                                          </p:stCondLst>
                                        </p:cTn>
                                        <p:tgtEl>
                                          <p:spTgt spid="416779"/>
                                        </p:tgtEl>
                                        <p:attrNameLst>
                                          <p:attrName>style.visibility</p:attrName>
                                        </p:attrNameLst>
                                      </p:cBhvr>
                                      <p:to>
                                        <p:strVal val="visible"/>
                                      </p:to>
                                    </p:set>
                                    <p:anim calcmode="lin" valueType="num">
                                      <p:cBhvr additive="base">
                                        <p:cTn id="16" dur="250" fill="hold"/>
                                        <p:tgtEl>
                                          <p:spTgt spid="416779"/>
                                        </p:tgtEl>
                                        <p:attrNameLst>
                                          <p:attrName>ppt_x</p:attrName>
                                        </p:attrNameLst>
                                      </p:cBhvr>
                                      <p:tavLst>
                                        <p:tav tm="0">
                                          <p:val>
                                            <p:strVal val="#ppt_x"/>
                                          </p:val>
                                        </p:tav>
                                        <p:tav tm="100000">
                                          <p:val>
                                            <p:strVal val="#ppt_x"/>
                                          </p:val>
                                        </p:tav>
                                      </p:tavLst>
                                    </p:anim>
                                    <p:anim calcmode="lin" valueType="num">
                                      <p:cBhvr additive="base">
                                        <p:cTn id="17" dur="250" fill="hold"/>
                                        <p:tgtEl>
                                          <p:spTgt spid="416779"/>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416778"/>
                                        </p:tgtEl>
                                        <p:attrNameLst>
                                          <p:attrName>style.visibility</p:attrName>
                                        </p:attrNameLst>
                                      </p:cBhvr>
                                      <p:to>
                                        <p:strVal val="visible"/>
                                      </p:to>
                                    </p:set>
                                    <p:anim calcmode="lin" valueType="num">
                                      <p:cBhvr additive="base">
                                        <p:cTn id="22" dur="500" fill="hold"/>
                                        <p:tgtEl>
                                          <p:spTgt spid="416778"/>
                                        </p:tgtEl>
                                        <p:attrNameLst>
                                          <p:attrName>ppt_x</p:attrName>
                                        </p:attrNameLst>
                                      </p:cBhvr>
                                      <p:tavLst>
                                        <p:tav tm="0">
                                          <p:val>
                                            <p:strVal val="#ppt_x"/>
                                          </p:val>
                                        </p:tav>
                                        <p:tav tm="100000">
                                          <p:val>
                                            <p:strVal val="#ppt_x"/>
                                          </p:val>
                                        </p:tav>
                                      </p:tavLst>
                                    </p:anim>
                                    <p:anim calcmode="lin" valueType="num">
                                      <p:cBhvr additive="base">
                                        <p:cTn id="23" dur="500" fill="hold"/>
                                        <p:tgtEl>
                                          <p:spTgt spid="416778"/>
                                        </p:tgtEl>
                                        <p:attrNameLst>
                                          <p:attrName>ppt_y</p:attrName>
                                        </p:attrNameLst>
                                      </p:cBhvr>
                                      <p:tavLst>
                                        <p:tav tm="0">
                                          <p:val>
                                            <p:strVal val="1+#ppt_h/2"/>
                                          </p:val>
                                        </p:tav>
                                        <p:tav tm="100000">
                                          <p:val>
                                            <p:strVal val="#ppt_y"/>
                                          </p:val>
                                        </p:tav>
                                      </p:tavLst>
                                    </p:anim>
                                  </p:childTnLst>
                                </p:cTn>
                              </p:par>
                            </p:childTnLst>
                          </p:cTn>
                        </p:par>
                        <p:par>
                          <p:cTn id="24" fill="hold">
                            <p:stCondLst>
                              <p:cond delay="500"/>
                            </p:stCondLst>
                            <p:childTnLst>
                              <p:par>
                                <p:cTn id="25" presetID="2" presetClass="entr" presetSubtype="4" fill="hold" grpId="0" nodeType="afterEffect">
                                  <p:stCondLst>
                                    <p:cond delay="0"/>
                                  </p:stCondLst>
                                  <p:childTnLst>
                                    <p:set>
                                      <p:cBhvr>
                                        <p:cTn id="26" dur="1" fill="hold">
                                          <p:stCondLst>
                                            <p:cond delay="0"/>
                                          </p:stCondLst>
                                        </p:cTn>
                                        <p:tgtEl>
                                          <p:spTgt spid="416775"/>
                                        </p:tgtEl>
                                        <p:attrNameLst>
                                          <p:attrName>style.visibility</p:attrName>
                                        </p:attrNameLst>
                                      </p:cBhvr>
                                      <p:to>
                                        <p:strVal val="visible"/>
                                      </p:to>
                                    </p:set>
                                    <p:anim calcmode="lin" valueType="num">
                                      <p:cBhvr additive="base">
                                        <p:cTn id="27" dur="250" fill="hold"/>
                                        <p:tgtEl>
                                          <p:spTgt spid="416775"/>
                                        </p:tgtEl>
                                        <p:attrNameLst>
                                          <p:attrName>ppt_x</p:attrName>
                                        </p:attrNameLst>
                                      </p:cBhvr>
                                      <p:tavLst>
                                        <p:tav tm="0">
                                          <p:val>
                                            <p:strVal val="#ppt_x"/>
                                          </p:val>
                                        </p:tav>
                                        <p:tav tm="100000">
                                          <p:val>
                                            <p:strVal val="#ppt_x"/>
                                          </p:val>
                                        </p:tav>
                                      </p:tavLst>
                                    </p:anim>
                                    <p:anim calcmode="lin" valueType="num">
                                      <p:cBhvr additive="base">
                                        <p:cTn id="28" dur="250" fill="hold"/>
                                        <p:tgtEl>
                                          <p:spTgt spid="416775"/>
                                        </p:tgtEl>
                                        <p:attrNameLst>
                                          <p:attrName>ppt_y</p:attrName>
                                        </p:attrNameLst>
                                      </p:cBhvr>
                                      <p:tavLst>
                                        <p:tav tm="0">
                                          <p:val>
                                            <p:strVal val="1+#ppt_h/2"/>
                                          </p:val>
                                        </p:tav>
                                        <p:tav tm="100000">
                                          <p:val>
                                            <p:strVal val="#ppt_y"/>
                                          </p:val>
                                        </p:tav>
                                      </p:tavLst>
                                    </p:anim>
                                  </p:childTnLst>
                                </p:cTn>
                              </p:par>
                            </p:childTnLst>
                          </p:cTn>
                        </p:par>
                        <p:par>
                          <p:cTn id="29" fill="hold">
                            <p:stCondLst>
                              <p:cond delay="750"/>
                            </p:stCondLst>
                            <p:childTnLst>
                              <p:par>
                                <p:cTn id="30" presetID="2" presetClass="entr" presetSubtype="4" fill="hold" grpId="0" nodeType="afterEffect">
                                  <p:stCondLst>
                                    <p:cond delay="500"/>
                                  </p:stCondLst>
                                  <p:childTnLst>
                                    <p:set>
                                      <p:cBhvr>
                                        <p:cTn id="31" dur="1" fill="hold">
                                          <p:stCondLst>
                                            <p:cond delay="0"/>
                                          </p:stCondLst>
                                        </p:cTn>
                                        <p:tgtEl>
                                          <p:spTgt spid="416780"/>
                                        </p:tgtEl>
                                        <p:attrNameLst>
                                          <p:attrName>style.visibility</p:attrName>
                                        </p:attrNameLst>
                                      </p:cBhvr>
                                      <p:to>
                                        <p:strVal val="visible"/>
                                      </p:to>
                                    </p:set>
                                    <p:anim calcmode="lin" valueType="num">
                                      <p:cBhvr additive="base">
                                        <p:cTn id="32" dur="250" fill="hold"/>
                                        <p:tgtEl>
                                          <p:spTgt spid="416780"/>
                                        </p:tgtEl>
                                        <p:attrNameLst>
                                          <p:attrName>ppt_x</p:attrName>
                                        </p:attrNameLst>
                                      </p:cBhvr>
                                      <p:tavLst>
                                        <p:tav tm="0">
                                          <p:val>
                                            <p:strVal val="#ppt_x"/>
                                          </p:val>
                                        </p:tav>
                                        <p:tav tm="100000">
                                          <p:val>
                                            <p:strVal val="#ppt_x"/>
                                          </p:val>
                                        </p:tav>
                                      </p:tavLst>
                                    </p:anim>
                                    <p:anim calcmode="lin" valueType="num">
                                      <p:cBhvr additive="base">
                                        <p:cTn id="33" dur="250" fill="hold"/>
                                        <p:tgtEl>
                                          <p:spTgt spid="416780"/>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2" fill="hold" grpId="0" nodeType="clickEffect">
                                  <p:stCondLst>
                                    <p:cond delay="0"/>
                                  </p:stCondLst>
                                  <p:childTnLst>
                                    <p:set>
                                      <p:cBhvr>
                                        <p:cTn id="37" dur="1" fill="hold">
                                          <p:stCondLst>
                                            <p:cond delay="0"/>
                                          </p:stCondLst>
                                        </p:cTn>
                                        <p:tgtEl>
                                          <p:spTgt spid="416777"/>
                                        </p:tgtEl>
                                        <p:attrNameLst>
                                          <p:attrName>style.visibility</p:attrName>
                                        </p:attrNameLst>
                                      </p:cBhvr>
                                      <p:to>
                                        <p:strVal val="visible"/>
                                      </p:to>
                                    </p:set>
                                    <p:anim calcmode="lin" valueType="num">
                                      <p:cBhvr additive="base">
                                        <p:cTn id="38" dur="250" fill="hold"/>
                                        <p:tgtEl>
                                          <p:spTgt spid="416777"/>
                                        </p:tgtEl>
                                        <p:attrNameLst>
                                          <p:attrName>ppt_x</p:attrName>
                                        </p:attrNameLst>
                                      </p:cBhvr>
                                      <p:tavLst>
                                        <p:tav tm="0">
                                          <p:val>
                                            <p:strVal val="1+#ppt_w/2"/>
                                          </p:val>
                                        </p:tav>
                                        <p:tav tm="100000">
                                          <p:val>
                                            <p:strVal val="#ppt_x"/>
                                          </p:val>
                                        </p:tav>
                                      </p:tavLst>
                                    </p:anim>
                                    <p:anim calcmode="lin" valueType="num">
                                      <p:cBhvr additive="base">
                                        <p:cTn id="39" dur="250" fill="hold"/>
                                        <p:tgtEl>
                                          <p:spTgt spid="416777"/>
                                        </p:tgtEl>
                                        <p:attrNameLst>
                                          <p:attrName>ppt_y</p:attrName>
                                        </p:attrNameLst>
                                      </p:cBhvr>
                                      <p:tavLst>
                                        <p:tav tm="0">
                                          <p:val>
                                            <p:strVal val="#ppt_y"/>
                                          </p:val>
                                        </p:tav>
                                        <p:tav tm="100000">
                                          <p:val>
                                            <p:strVal val="#ppt_y"/>
                                          </p:val>
                                        </p:tav>
                                      </p:tavLst>
                                    </p:anim>
                                  </p:childTnLst>
                                </p:cTn>
                              </p:par>
                            </p:childTnLst>
                          </p:cTn>
                        </p:par>
                        <p:par>
                          <p:cTn id="40" fill="hold">
                            <p:stCondLst>
                              <p:cond delay="250"/>
                            </p:stCondLst>
                            <p:childTnLst>
                              <p:par>
                                <p:cTn id="41" presetID="2" presetClass="entr" presetSubtype="2" fill="hold" nodeType="afterEffect">
                                  <p:stCondLst>
                                    <p:cond delay="250"/>
                                  </p:stCondLst>
                                  <p:childTnLst>
                                    <p:set>
                                      <p:cBhvr>
                                        <p:cTn id="42" dur="1" fill="hold">
                                          <p:stCondLst>
                                            <p:cond delay="0"/>
                                          </p:stCondLst>
                                        </p:cTn>
                                        <p:tgtEl>
                                          <p:spTgt spid="416781"/>
                                        </p:tgtEl>
                                        <p:attrNameLst>
                                          <p:attrName>style.visibility</p:attrName>
                                        </p:attrNameLst>
                                      </p:cBhvr>
                                      <p:to>
                                        <p:strVal val="visible"/>
                                      </p:to>
                                    </p:set>
                                    <p:anim calcmode="lin" valueType="num">
                                      <p:cBhvr additive="base">
                                        <p:cTn id="43" dur="500" fill="hold"/>
                                        <p:tgtEl>
                                          <p:spTgt spid="416781"/>
                                        </p:tgtEl>
                                        <p:attrNameLst>
                                          <p:attrName>ppt_x</p:attrName>
                                        </p:attrNameLst>
                                      </p:cBhvr>
                                      <p:tavLst>
                                        <p:tav tm="0">
                                          <p:val>
                                            <p:strVal val="1+#ppt_w/2"/>
                                          </p:val>
                                        </p:tav>
                                        <p:tav tm="100000">
                                          <p:val>
                                            <p:strVal val="#ppt_x"/>
                                          </p:val>
                                        </p:tav>
                                      </p:tavLst>
                                    </p:anim>
                                    <p:anim calcmode="lin" valueType="num">
                                      <p:cBhvr additive="base">
                                        <p:cTn id="44" dur="500" fill="hold"/>
                                        <p:tgtEl>
                                          <p:spTgt spid="41678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6773" grpId="0" animBg="1" autoUpdateAnimBg="0"/>
      <p:bldP spid="416775" grpId="0" animBg="1" autoUpdateAnimBg="0"/>
      <p:bldP spid="416776" grpId="0" animBg="1"/>
      <p:bldP spid="416777" grpId="0" animBg="1"/>
      <p:bldP spid="416778" grpId="0" animBg="1"/>
      <p:bldP spid="416780" grpId="0"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4" name="Rectangle 2"/>
          <p:cNvSpPr>
            <a:spLocks noGrp="1" noChangeArrowheads="1"/>
          </p:cNvSpPr>
          <p:nvPr>
            <p:ph type="title"/>
          </p:nvPr>
        </p:nvSpPr>
        <p:spPr>
          <a:xfrm>
            <a:off x="838200" y="0"/>
            <a:ext cx="7086600" cy="990600"/>
          </a:xfrm>
        </p:spPr>
        <p:txBody>
          <a:bodyPr/>
          <a:lstStyle/>
          <a:p>
            <a:pPr eaLnBrk="1" hangingPunct="1"/>
            <a:r>
              <a:rPr lang="zh-CN" altLang="en-US" dirty="0" smtClean="0">
                <a:latin typeface="Times New Roman" pitchFamily="18" charset="0"/>
              </a:rPr>
              <a:t>速度的表现形式和文字表述</a:t>
            </a:r>
          </a:p>
        </p:txBody>
      </p:sp>
      <p:sp>
        <p:nvSpPr>
          <p:cNvPr id="20485" name="Rectangle 3"/>
          <p:cNvSpPr>
            <a:spLocks noGrp="1" noChangeArrowheads="1"/>
          </p:cNvSpPr>
          <p:nvPr>
            <p:ph type="body" idx="1"/>
          </p:nvPr>
        </p:nvSpPr>
        <p:spPr>
          <a:xfrm>
            <a:off x="323528" y="1066800"/>
            <a:ext cx="8439472" cy="1828800"/>
          </a:xfrm>
        </p:spPr>
        <p:txBody>
          <a:bodyPr/>
          <a:lstStyle/>
          <a:p>
            <a:pPr marL="571500" indent="-571500" algn="just" eaLnBrk="1" hangingPunct="1">
              <a:buFontTx/>
              <a:buNone/>
            </a:pPr>
            <a:r>
              <a:rPr lang="zh-CN" altLang="en-US" dirty="0" smtClean="0">
                <a:solidFill>
                  <a:srgbClr val="0070C0"/>
                </a:solidFill>
                <a:latin typeface="Times New Roman" pitchFamily="18" charset="0"/>
              </a:rPr>
              <a:t>一般表示用</a:t>
            </a:r>
            <a:r>
              <a:rPr lang="en-US" altLang="zh-CN" dirty="0" smtClean="0">
                <a:solidFill>
                  <a:srgbClr val="0070C0"/>
                </a:solidFill>
                <a:latin typeface="Times New Roman" pitchFamily="18" charset="0"/>
                <a:cs typeface="Times New Roman" pitchFamily="18" charset="0"/>
              </a:rPr>
              <a:t>%</a:t>
            </a:r>
            <a:r>
              <a:rPr lang="zh-CN" altLang="en-US" dirty="0" smtClean="0">
                <a:solidFill>
                  <a:srgbClr val="0070C0"/>
                </a:solidFill>
                <a:latin typeface="Times New Roman" pitchFamily="18" charset="0"/>
              </a:rPr>
              <a:t>、倍数，也有用</a:t>
            </a:r>
            <a:r>
              <a:rPr lang="en-US" altLang="zh-CN" dirty="0" smtClean="0">
                <a:solidFill>
                  <a:srgbClr val="0070C0"/>
                </a:solidFill>
                <a:latin typeface="Arial" charset="0"/>
              </a:rPr>
              <a:t>‰</a:t>
            </a:r>
            <a:r>
              <a:rPr lang="zh-CN" altLang="en-US" dirty="0" smtClean="0">
                <a:solidFill>
                  <a:srgbClr val="0070C0"/>
                </a:solidFill>
                <a:latin typeface="Times New Roman" pitchFamily="18" charset="0"/>
              </a:rPr>
              <a:t>、番数表示</a:t>
            </a:r>
          </a:p>
          <a:p>
            <a:pPr marL="571500" indent="-571500" algn="just" eaLnBrk="1" hangingPunct="1">
              <a:buFontTx/>
              <a:buNone/>
            </a:pPr>
            <a:r>
              <a:rPr lang="zh-CN" altLang="en-US" dirty="0" smtClean="0">
                <a:solidFill>
                  <a:srgbClr val="000000"/>
                </a:solidFill>
                <a:latin typeface="Times New Roman" pitchFamily="18" charset="0"/>
              </a:rPr>
              <a:t>        从基期到报告期翻 </a:t>
            </a:r>
            <a:r>
              <a:rPr lang="en-US" altLang="zh-CN" dirty="0" smtClean="0">
                <a:solidFill>
                  <a:srgbClr val="000000"/>
                </a:solidFill>
                <a:latin typeface="Times New Roman" pitchFamily="18" charset="0"/>
                <a:cs typeface="Times New Roman" pitchFamily="18" charset="0"/>
              </a:rPr>
              <a:t>m </a:t>
            </a:r>
            <a:r>
              <a:rPr lang="zh-CN" altLang="en-US" dirty="0" smtClean="0">
                <a:solidFill>
                  <a:srgbClr val="000000"/>
                </a:solidFill>
                <a:latin typeface="Times New Roman" pitchFamily="18" charset="0"/>
              </a:rPr>
              <a:t>番，则有：</a:t>
            </a:r>
          </a:p>
          <a:p>
            <a:pPr marL="571500" indent="-571500" algn="just" eaLnBrk="1" hangingPunct="1">
              <a:buFontTx/>
              <a:buNone/>
            </a:pPr>
            <a:r>
              <a:rPr lang="zh-CN" altLang="en-US" dirty="0" smtClean="0">
                <a:solidFill>
                  <a:srgbClr val="000000"/>
                </a:solidFill>
                <a:latin typeface="Times New Roman" pitchFamily="18" charset="0"/>
              </a:rPr>
              <a:t>                       报告期水平</a:t>
            </a:r>
            <a:r>
              <a:rPr lang="en-US" altLang="zh-CN" dirty="0" smtClean="0">
                <a:solidFill>
                  <a:srgbClr val="000000"/>
                </a:solidFill>
                <a:latin typeface="Times New Roman" pitchFamily="18" charset="0"/>
                <a:cs typeface="Times New Roman" pitchFamily="18" charset="0"/>
              </a:rPr>
              <a:t>= </a:t>
            </a:r>
            <a:r>
              <a:rPr lang="zh-CN" altLang="en-US" dirty="0" smtClean="0">
                <a:solidFill>
                  <a:srgbClr val="000000"/>
                </a:solidFill>
                <a:latin typeface="Times New Roman" pitchFamily="18" charset="0"/>
              </a:rPr>
              <a:t>基期水平</a:t>
            </a:r>
            <a:r>
              <a:rPr lang="en-US" altLang="zh-CN" dirty="0" smtClean="0">
                <a:solidFill>
                  <a:srgbClr val="3333FF"/>
                </a:solidFill>
                <a:latin typeface="Times New Roman" pitchFamily="18" charset="0"/>
              </a:rPr>
              <a:t>× </a:t>
            </a:r>
            <a:r>
              <a:rPr lang="zh-CN" altLang="en-US" dirty="0" smtClean="0">
                <a:solidFill>
                  <a:srgbClr val="3333FF"/>
                </a:solidFill>
                <a:latin typeface="Times New Roman" pitchFamily="18" charset="0"/>
              </a:rPr>
              <a:t>？</a:t>
            </a:r>
            <a:endParaRPr lang="zh-CN" altLang="en-US" u="sng" dirty="0" smtClean="0">
              <a:solidFill>
                <a:srgbClr val="3333FF"/>
              </a:solidFill>
              <a:latin typeface="Times New Roman" pitchFamily="18" charset="0"/>
              <a:cs typeface="Times New Roman" pitchFamily="18" charset="0"/>
            </a:endParaRPr>
          </a:p>
        </p:txBody>
      </p:sp>
      <p:graphicFrame>
        <p:nvGraphicFramePr>
          <p:cNvPr id="417796" name="Object 4"/>
          <p:cNvGraphicFramePr>
            <a:graphicFrameLocks noChangeAspect="1"/>
          </p:cNvGraphicFramePr>
          <p:nvPr>
            <p:extLst>
              <p:ext uri="{D42A27DB-BD31-4B8C-83A1-F6EECF244321}">
                <p14:modId xmlns:p14="http://schemas.microsoft.com/office/powerpoint/2010/main" val="2309451137"/>
              </p:ext>
            </p:extLst>
          </p:nvPr>
        </p:nvGraphicFramePr>
        <p:xfrm>
          <a:off x="6804248" y="2132856"/>
          <a:ext cx="1219200" cy="735013"/>
        </p:xfrm>
        <a:graphic>
          <a:graphicData uri="http://schemas.openxmlformats.org/presentationml/2006/ole">
            <mc:AlternateContent xmlns:mc="http://schemas.openxmlformats.org/markup-compatibility/2006">
              <mc:Choice xmlns:v="urn:schemas-microsoft-com:vml" Requires="v">
                <p:oleObj spid="_x0000_s20587" name="Equation" r:id="rId3" imgW="317160" imgH="190440" progId="Equation.3">
                  <p:embed/>
                </p:oleObj>
              </mc:Choice>
              <mc:Fallback>
                <p:oleObj name="Equation" r:id="rId3" imgW="317160" imgH="19044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04248" y="2132856"/>
                        <a:ext cx="1219200" cy="735013"/>
                      </a:xfrm>
                      <a:prstGeom prst="rect">
                        <a:avLst/>
                      </a:prstGeom>
                      <a:solidFill>
                        <a:schemeClr val="accent1">
                          <a:lumMod val="20000"/>
                          <a:lumOff val="80000"/>
                        </a:schemeClr>
                      </a:solidFill>
                    </p:spPr>
                  </p:pic>
                </p:oleObj>
              </mc:Fallback>
            </mc:AlternateContent>
          </a:graphicData>
        </a:graphic>
      </p:graphicFrame>
      <p:sp>
        <p:nvSpPr>
          <p:cNvPr id="417797" name="Rectangle 5"/>
          <p:cNvSpPr>
            <a:spLocks noChangeArrowheads="1"/>
          </p:cNvSpPr>
          <p:nvPr/>
        </p:nvSpPr>
        <p:spPr bwMode="auto">
          <a:xfrm>
            <a:off x="539750" y="2997200"/>
            <a:ext cx="8305800" cy="3062377"/>
          </a:xfrm>
          <a:prstGeom prst="rect">
            <a:avLst/>
          </a:prstGeom>
          <a:noFill/>
          <a:ln w="9525">
            <a:noFill/>
            <a:miter lim="800000"/>
            <a:headEnd/>
            <a:tailEnd/>
          </a:ln>
        </p:spPr>
        <p:txBody>
          <a:bodyPr>
            <a:spAutoFit/>
          </a:bodyPr>
          <a:lstStyle/>
          <a:p>
            <a:pPr eaLnBrk="0" hangingPunct="0">
              <a:spcBef>
                <a:spcPct val="25000"/>
              </a:spcBef>
            </a:pPr>
            <a:r>
              <a:rPr kumimoji="1" lang="zh-CN" altLang="en-US" sz="2800" b="1" dirty="0">
                <a:solidFill>
                  <a:srgbClr val="0070C0"/>
                </a:solidFill>
                <a:latin typeface="Times New Roman" pitchFamily="18" charset="0"/>
              </a:rPr>
              <a:t>发展速度</a:t>
            </a:r>
            <a:r>
              <a:rPr kumimoji="1" lang="en-US" altLang="zh-CN" sz="2800" b="1" dirty="0">
                <a:solidFill>
                  <a:srgbClr val="0070C0"/>
                </a:solidFill>
                <a:latin typeface="Times New Roman" pitchFamily="18" charset="0"/>
              </a:rPr>
              <a:t>—</a:t>
            </a:r>
            <a:r>
              <a:rPr kumimoji="1" lang="zh-CN" altLang="en-US" sz="2400" b="1" dirty="0">
                <a:solidFill>
                  <a:srgbClr val="0070C0"/>
                </a:solidFill>
                <a:latin typeface="Times New Roman" pitchFamily="18" charset="0"/>
              </a:rPr>
              <a:t>发展为、相当于、增长到、减少到、下降为</a:t>
            </a:r>
            <a:r>
              <a:rPr kumimoji="1" lang="en-US" altLang="zh-CN" sz="2400" b="1" dirty="0">
                <a:solidFill>
                  <a:srgbClr val="0070C0"/>
                </a:solidFill>
                <a:latin typeface="Times New Roman" pitchFamily="18" charset="0"/>
              </a:rPr>
              <a:t>…</a:t>
            </a:r>
            <a:endParaRPr kumimoji="1" lang="en-US" altLang="zh-CN" sz="2800" b="1" dirty="0">
              <a:solidFill>
                <a:srgbClr val="0070C0"/>
              </a:solidFill>
              <a:latin typeface="Times New Roman" pitchFamily="18" charset="0"/>
            </a:endParaRPr>
          </a:p>
          <a:p>
            <a:pPr marL="179388" indent="180975" eaLnBrk="0" hangingPunct="0">
              <a:spcBef>
                <a:spcPts val="1200"/>
              </a:spcBef>
              <a:buFontTx/>
              <a:buChar char="•"/>
            </a:pPr>
            <a:r>
              <a:rPr kumimoji="1" lang="en-US" altLang="zh-CN" sz="2400" b="1" dirty="0">
                <a:solidFill>
                  <a:srgbClr val="000000"/>
                </a:solidFill>
                <a:latin typeface="Times New Roman" pitchFamily="18" charset="0"/>
              </a:rPr>
              <a:t> </a:t>
            </a:r>
            <a:r>
              <a:rPr kumimoji="1" lang="zh-CN" altLang="en-US" sz="2400" b="1" dirty="0">
                <a:solidFill>
                  <a:srgbClr val="000000"/>
                </a:solidFill>
                <a:latin typeface="Times New Roman" pitchFamily="18" charset="0"/>
              </a:rPr>
              <a:t>报告期</a:t>
            </a:r>
            <a:r>
              <a:rPr kumimoji="1" lang="zh-CN" altLang="en-US" sz="2400" b="1" dirty="0" smtClean="0">
                <a:solidFill>
                  <a:srgbClr val="000000"/>
                </a:solidFill>
                <a:latin typeface="Times New Roman" pitchFamily="18" charset="0"/>
              </a:rPr>
              <a:t>水平</a:t>
            </a:r>
            <a:r>
              <a:rPr kumimoji="1" lang="zh-CN" altLang="en-US" sz="2400" b="1" u="sng" dirty="0" smtClean="0">
                <a:solidFill>
                  <a:srgbClr val="7030A0"/>
                </a:solidFill>
                <a:latin typeface="Times New Roman" pitchFamily="18" charset="0"/>
              </a:rPr>
              <a:t>相当于</a:t>
            </a:r>
            <a:r>
              <a:rPr kumimoji="1" lang="zh-CN" altLang="en-US" sz="2400" b="1" dirty="0" smtClean="0">
                <a:solidFill>
                  <a:srgbClr val="000000"/>
                </a:solidFill>
                <a:latin typeface="Times New Roman" pitchFamily="18" charset="0"/>
              </a:rPr>
              <a:t>基</a:t>
            </a:r>
            <a:r>
              <a:rPr kumimoji="1" lang="zh-CN" altLang="en-US" sz="2400" b="1" dirty="0">
                <a:solidFill>
                  <a:srgbClr val="000000"/>
                </a:solidFill>
                <a:latin typeface="Times New Roman" pitchFamily="18" charset="0"/>
              </a:rPr>
              <a:t>期水平</a:t>
            </a:r>
            <a:r>
              <a:rPr kumimoji="1" lang="zh-CN" altLang="en-US" sz="2400" b="1" dirty="0" smtClean="0">
                <a:solidFill>
                  <a:srgbClr val="000000"/>
                </a:solidFill>
                <a:latin typeface="Times New Roman" pitchFamily="18" charset="0"/>
              </a:rPr>
              <a:t>的 </a:t>
            </a:r>
            <a:r>
              <a:rPr kumimoji="1" lang="en-US" altLang="zh-CN" sz="2400" b="1" u="sng" dirty="0" smtClean="0">
                <a:solidFill>
                  <a:srgbClr val="C00000"/>
                </a:solidFill>
                <a:latin typeface="Times New Roman" pitchFamily="18" charset="0"/>
                <a:cs typeface="Times New Roman" pitchFamily="18" charset="0"/>
              </a:rPr>
              <a:t>150 %</a:t>
            </a:r>
            <a:r>
              <a:rPr kumimoji="1" lang="zh-CN" altLang="en-US" sz="2400" b="1" dirty="0">
                <a:solidFill>
                  <a:srgbClr val="000000"/>
                </a:solidFill>
                <a:latin typeface="Times New Roman" pitchFamily="18" charset="0"/>
              </a:rPr>
              <a:t>；</a:t>
            </a:r>
          </a:p>
          <a:p>
            <a:pPr marL="179388" indent="180975" eaLnBrk="0" hangingPunct="0">
              <a:spcBef>
                <a:spcPct val="25000"/>
              </a:spcBef>
              <a:buFontTx/>
              <a:buChar char="•"/>
            </a:pPr>
            <a:r>
              <a:rPr kumimoji="1" lang="zh-CN" altLang="en-US" sz="2400" b="1" dirty="0">
                <a:solidFill>
                  <a:srgbClr val="000000"/>
                </a:solidFill>
                <a:latin typeface="Times New Roman" pitchFamily="18" charset="0"/>
              </a:rPr>
              <a:t> 以基期水平为</a:t>
            </a:r>
            <a:r>
              <a:rPr kumimoji="1" lang="en-US" altLang="zh-CN" sz="2400" b="1" dirty="0">
                <a:solidFill>
                  <a:srgbClr val="000000"/>
                </a:solidFill>
                <a:latin typeface="Times New Roman" pitchFamily="18" charset="0"/>
                <a:cs typeface="Times New Roman" pitchFamily="18" charset="0"/>
              </a:rPr>
              <a:t>100%</a:t>
            </a:r>
            <a:r>
              <a:rPr kumimoji="1" lang="zh-CN" altLang="en-US" sz="2400" b="1" dirty="0">
                <a:solidFill>
                  <a:srgbClr val="000000"/>
                </a:solidFill>
                <a:latin typeface="Times New Roman" pitchFamily="18" charset="0"/>
              </a:rPr>
              <a:t>，报告期水平</a:t>
            </a:r>
            <a:r>
              <a:rPr kumimoji="1" lang="zh-CN" altLang="en-US" sz="2400" b="1" u="sng" dirty="0">
                <a:solidFill>
                  <a:srgbClr val="7030A0"/>
                </a:solidFill>
                <a:latin typeface="Times New Roman" pitchFamily="18" charset="0"/>
              </a:rPr>
              <a:t>增长</a:t>
            </a:r>
            <a:r>
              <a:rPr kumimoji="1" lang="zh-CN" altLang="en-US" sz="2400" b="1" u="sng" dirty="0" smtClean="0">
                <a:solidFill>
                  <a:srgbClr val="7030A0"/>
                </a:solidFill>
                <a:latin typeface="Times New Roman" pitchFamily="18" charset="0"/>
              </a:rPr>
              <a:t>为</a:t>
            </a:r>
            <a:r>
              <a:rPr kumimoji="1" lang="zh-CN" altLang="en-US" sz="2400" b="1" u="sng" dirty="0" smtClean="0">
                <a:solidFill>
                  <a:srgbClr val="000000"/>
                </a:solidFill>
                <a:latin typeface="Times New Roman" pitchFamily="18" charset="0"/>
              </a:rPr>
              <a:t> </a:t>
            </a:r>
            <a:r>
              <a:rPr kumimoji="1" lang="en-US" altLang="zh-CN" sz="2400" b="1" u="sng" dirty="0" smtClean="0">
                <a:solidFill>
                  <a:srgbClr val="C00000"/>
                </a:solidFill>
                <a:latin typeface="Times New Roman" pitchFamily="18" charset="0"/>
              </a:rPr>
              <a:t>1</a:t>
            </a:r>
            <a:r>
              <a:rPr kumimoji="1" lang="en-US" altLang="zh-CN" sz="2400" b="1" u="sng" dirty="0" smtClean="0">
                <a:solidFill>
                  <a:srgbClr val="C00000"/>
                </a:solidFill>
                <a:latin typeface="Times New Roman" pitchFamily="18" charset="0"/>
                <a:cs typeface="Times New Roman" pitchFamily="18" charset="0"/>
              </a:rPr>
              <a:t>50 %</a:t>
            </a:r>
            <a:r>
              <a:rPr kumimoji="1" lang="en-US" altLang="zh-CN" sz="2400" b="1" dirty="0" smtClean="0">
                <a:solidFill>
                  <a:srgbClr val="000000"/>
                </a:solidFill>
                <a:latin typeface="Times New Roman" pitchFamily="18" charset="0"/>
                <a:cs typeface="Times New Roman" pitchFamily="18" charset="0"/>
              </a:rPr>
              <a:t>.</a:t>
            </a:r>
            <a:endParaRPr kumimoji="1" lang="en-US" altLang="zh-CN" sz="2400" b="1" dirty="0">
              <a:solidFill>
                <a:srgbClr val="000000"/>
              </a:solidFill>
              <a:latin typeface="Times New Roman" pitchFamily="18" charset="0"/>
              <a:cs typeface="Times New Roman" pitchFamily="18" charset="0"/>
            </a:endParaRPr>
          </a:p>
          <a:p>
            <a:pPr eaLnBrk="0" hangingPunct="0">
              <a:spcBef>
                <a:spcPct val="25000"/>
              </a:spcBef>
            </a:pPr>
            <a:r>
              <a:rPr kumimoji="1" lang="zh-CN" altLang="en-US" sz="2800" b="1" dirty="0">
                <a:solidFill>
                  <a:srgbClr val="0070C0"/>
                </a:solidFill>
                <a:latin typeface="Times New Roman" pitchFamily="18" charset="0"/>
              </a:rPr>
              <a:t>增长速度</a:t>
            </a:r>
            <a:r>
              <a:rPr kumimoji="1" lang="en-US" altLang="zh-CN" sz="2800" b="1" dirty="0">
                <a:solidFill>
                  <a:srgbClr val="0070C0"/>
                </a:solidFill>
                <a:latin typeface="Times New Roman" pitchFamily="18" charset="0"/>
              </a:rPr>
              <a:t>—</a:t>
            </a:r>
            <a:r>
              <a:rPr kumimoji="1" lang="zh-CN" altLang="en-US" sz="2400" b="1" dirty="0">
                <a:solidFill>
                  <a:srgbClr val="0070C0"/>
                </a:solidFill>
                <a:latin typeface="Times New Roman" pitchFamily="18" charset="0"/>
              </a:rPr>
              <a:t>提高（了）、减少（了）、下降（了）、</a:t>
            </a:r>
            <a:r>
              <a:rPr kumimoji="1" lang="en-US" altLang="zh-CN" sz="2400" b="1" dirty="0">
                <a:solidFill>
                  <a:srgbClr val="0070C0"/>
                </a:solidFill>
                <a:latin typeface="Times New Roman" pitchFamily="18" charset="0"/>
                <a:cs typeface="Times New Roman" pitchFamily="18" charset="0"/>
              </a:rPr>
              <a:t>…</a:t>
            </a:r>
            <a:endParaRPr kumimoji="1" lang="en-US" altLang="zh-CN" sz="2800" b="1" dirty="0">
              <a:solidFill>
                <a:srgbClr val="0070C0"/>
              </a:solidFill>
              <a:latin typeface="Times New Roman" pitchFamily="18" charset="0"/>
            </a:endParaRPr>
          </a:p>
          <a:p>
            <a:pPr marL="179388" indent="180975" eaLnBrk="0" hangingPunct="0">
              <a:spcBef>
                <a:spcPct val="25000"/>
              </a:spcBef>
              <a:buFontTx/>
              <a:buChar char="•"/>
            </a:pPr>
            <a:r>
              <a:rPr kumimoji="1" lang="en-US" altLang="zh-CN" sz="2400" b="1" dirty="0">
                <a:solidFill>
                  <a:srgbClr val="000000"/>
                </a:solidFill>
                <a:latin typeface="Times New Roman" pitchFamily="18" charset="0"/>
              </a:rPr>
              <a:t> </a:t>
            </a:r>
            <a:r>
              <a:rPr kumimoji="1" lang="zh-CN" altLang="en-US" sz="2400" b="1" dirty="0" smtClean="0">
                <a:solidFill>
                  <a:srgbClr val="000000"/>
                </a:solidFill>
                <a:latin typeface="Times New Roman" pitchFamily="18" charset="0"/>
              </a:rPr>
              <a:t>报告</a:t>
            </a:r>
            <a:r>
              <a:rPr kumimoji="1" lang="zh-CN" altLang="en-US" sz="2400" b="1" dirty="0">
                <a:solidFill>
                  <a:srgbClr val="000000"/>
                </a:solidFill>
                <a:latin typeface="Times New Roman" pitchFamily="18" charset="0"/>
              </a:rPr>
              <a:t>期水平比基期水平</a:t>
            </a:r>
            <a:r>
              <a:rPr kumimoji="1" lang="zh-CN" altLang="en-US" sz="2400" b="1" u="sng" dirty="0" smtClean="0">
                <a:solidFill>
                  <a:srgbClr val="000000"/>
                </a:solidFill>
                <a:latin typeface="Times New Roman" pitchFamily="18" charset="0"/>
              </a:rPr>
              <a:t>增加（</a:t>
            </a:r>
            <a:r>
              <a:rPr kumimoji="1" lang="zh-CN" altLang="en-US" sz="2400" b="1" u="sng" dirty="0">
                <a:solidFill>
                  <a:srgbClr val="000000"/>
                </a:solidFill>
                <a:latin typeface="Times New Roman" pitchFamily="18" charset="0"/>
              </a:rPr>
              <a:t>了</a:t>
            </a:r>
            <a:r>
              <a:rPr kumimoji="1" lang="zh-CN" altLang="en-US" sz="2400" b="1" u="sng" dirty="0" smtClean="0">
                <a:solidFill>
                  <a:srgbClr val="000000"/>
                </a:solidFill>
                <a:latin typeface="Times New Roman" pitchFamily="18" charset="0"/>
              </a:rPr>
              <a:t>）</a:t>
            </a:r>
            <a:r>
              <a:rPr kumimoji="1" lang="zh-CN" altLang="en-US" sz="2400" b="1" u="sng" dirty="0" smtClean="0">
                <a:solidFill>
                  <a:srgbClr val="CC0099"/>
                </a:solidFill>
                <a:latin typeface="Times New Roman" pitchFamily="18" charset="0"/>
              </a:rPr>
              <a:t>   </a:t>
            </a:r>
            <a:r>
              <a:rPr kumimoji="1" lang="en-US" altLang="zh-CN" sz="2400" b="1" u="sng" dirty="0" smtClean="0">
                <a:solidFill>
                  <a:srgbClr val="CC0099"/>
                </a:solidFill>
                <a:latin typeface="Times New Roman" pitchFamily="18" charset="0"/>
              </a:rPr>
              <a:t>50 %  </a:t>
            </a:r>
            <a:r>
              <a:rPr kumimoji="1" lang="zh-CN" altLang="en-US" sz="2400" b="1" dirty="0" smtClean="0">
                <a:solidFill>
                  <a:srgbClr val="000000"/>
                </a:solidFill>
                <a:latin typeface="Times New Roman" pitchFamily="18" charset="0"/>
              </a:rPr>
              <a:t>；</a:t>
            </a:r>
            <a:endParaRPr kumimoji="1" lang="zh-CN" altLang="en-US" sz="2400" b="1" dirty="0">
              <a:solidFill>
                <a:srgbClr val="000000"/>
              </a:solidFill>
              <a:latin typeface="Times New Roman" pitchFamily="18" charset="0"/>
            </a:endParaRPr>
          </a:p>
          <a:p>
            <a:pPr marL="179388" indent="180975" eaLnBrk="0" hangingPunct="0">
              <a:spcBef>
                <a:spcPct val="25000"/>
              </a:spcBef>
              <a:buFontTx/>
              <a:buChar char="•"/>
            </a:pPr>
            <a:r>
              <a:rPr kumimoji="1" lang="zh-CN" altLang="en-US" sz="2400" b="1" dirty="0">
                <a:solidFill>
                  <a:srgbClr val="000000"/>
                </a:solidFill>
                <a:latin typeface="Times New Roman" pitchFamily="18" charset="0"/>
              </a:rPr>
              <a:t> </a:t>
            </a:r>
            <a:r>
              <a:rPr kumimoji="1" lang="zh-CN" altLang="en-US" sz="2400" b="1" dirty="0" smtClean="0">
                <a:solidFill>
                  <a:srgbClr val="000000"/>
                </a:solidFill>
                <a:latin typeface="Times New Roman" pitchFamily="18" charset="0"/>
              </a:rPr>
              <a:t>以基</a:t>
            </a:r>
            <a:r>
              <a:rPr kumimoji="1" lang="zh-CN" altLang="en-US" sz="2400" b="1" dirty="0">
                <a:solidFill>
                  <a:srgbClr val="000000"/>
                </a:solidFill>
                <a:latin typeface="Times New Roman" pitchFamily="18" charset="0"/>
              </a:rPr>
              <a:t>期水平为</a:t>
            </a:r>
            <a:r>
              <a:rPr kumimoji="1" lang="en-US" altLang="zh-CN" sz="2400" b="1" dirty="0">
                <a:solidFill>
                  <a:srgbClr val="000000"/>
                </a:solidFill>
                <a:latin typeface="Times New Roman" pitchFamily="18" charset="0"/>
              </a:rPr>
              <a:t>100%</a:t>
            </a:r>
            <a:r>
              <a:rPr kumimoji="1" lang="zh-CN" altLang="en-US" sz="2400" b="1" dirty="0">
                <a:solidFill>
                  <a:srgbClr val="000000"/>
                </a:solidFill>
                <a:latin typeface="Times New Roman" pitchFamily="18" charset="0"/>
              </a:rPr>
              <a:t>，报告期水平</a:t>
            </a:r>
            <a:r>
              <a:rPr kumimoji="1" lang="zh-CN" altLang="en-US" sz="2400" b="1" u="sng" dirty="0">
                <a:solidFill>
                  <a:srgbClr val="000000"/>
                </a:solidFill>
                <a:latin typeface="Times New Roman" pitchFamily="18" charset="0"/>
              </a:rPr>
              <a:t>增长（了</a:t>
            </a:r>
            <a:r>
              <a:rPr kumimoji="1" lang="zh-CN" altLang="en-US" sz="2400" b="1" u="sng" dirty="0" smtClean="0">
                <a:solidFill>
                  <a:srgbClr val="000000"/>
                </a:solidFill>
                <a:latin typeface="Times New Roman" pitchFamily="18" charset="0"/>
              </a:rPr>
              <a:t>）</a:t>
            </a:r>
            <a:r>
              <a:rPr kumimoji="1" lang="zh-CN" altLang="en-US" sz="2400" b="1" u="sng" dirty="0" smtClean="0">
                <a:solidFill>
                  <a:srgbClr val="CC0099"/>
                </a:solidFill>
                <a:latin typeface="Times New Roman" pitchFamily="18" charset="0"/>
              </a:rPr>
              <a:t>  </a:t>
            </a:r>
            <a:r>
              <a:rPr kumimoji="1" lang="en-US" altLang="zh-CN" sz="2400" b="1" u="sng" dirty="0" smtClean="0">
                <a:solidFill>
                  <a:srgbClr val="CC0099"/>
                </a:solidFill>
                <a:latin typeface="Times New Roman" pitchFamily="18" charset="0"/>
              </a:rPr>
              <a:t>50 % </a:t>
            </a:r>
            <a:r>
              <a:rPr kumimoji="1" lang="zh-CN" altLang="en-US" sz="2800" b="1" dirty="0" smtClean="0">
                <a:solidFill>
                  <a:srgbClr val="000000"/>
                </a:solidFill>
                <a:latin typeface="Times New Roman" pitchFamily="18" charset="0"/>
              </a:rPr>
              <a:t>。</a:t>
            </a:r>
            <a:endParaRPr kumimoji="1" lang="zh-CN" altLang="en-US" sz="2800" b="1" dirty="0">
              <a:solidFill>
                <a:srgbClr val="000000"/>
              </a:solidFill>
              <a:latin typeface="Times New Roman" pitchFamily="18" charset="0"/>
            </a:endParaRPr>
          </a:p>
        </p:txBody>
      </p:sp>
      <p:sp>
        <p:nvSpPr>
          <p:cNvPr id="20487" name="日期占位符 6"/>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17796"/>
                                        </p:tgtEl>
                                        <p:attrNameLst>
                                          <p:attrName>style.visibility</p:attrName>
                                        </p:attrNameLst>
                                      </p:cBhvr>
                                      <p:to>
                                        <p:strVal val="visible"/>
                                      </p:to>
                                    </p:set>
                                    <p:anim calcmode="lin" valueType="num">
                                      <p:cBhvr additive="base">
                                        <p:cTn id="7" dur="500" fill="hold"/>
                                        <p:tgtEl>
                                          <p:spTgt spid="417796"/>
                                        </p:tgtEl>
                                        <p:attrNameLst>
                                          <p:attrName>ppt_x</p:attrName>
                                        </p:attrNameLst>
                                      </p:cBhvr>
                                      <p:tavLst>
                                        <p:tav tm="0">
                                          <p:val>
                                            <p:strVal val="#ppt_x"/>
                                          </p:val>
                                        </p:tav>
                                        <p:tav tm="100000">
                                          <p:val>
                                            <p:strVal val="#ppt_x"/>
                                          </p:val>
                                        </p:tav>
                                      </p:tavLst>
                                    </p:anim>
                                    <p:anim calcmode="lin" valueType="num">
                                      <p:cBhvr additive="base">
                                        <p:cTn id="8" dur="500" fill="hold"/>
                                        <p:tgtEl>
                                          <p:spTgt spid="41779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17797">
                                            <p:txEl>
                                              <p:pRg st="0" end="0"/>
                                            </p:txEl>
                                          </p:spTgt>
                                        </p:tgtEl>
                                        <p:attrNameLst>
                                          <p:attrName>style.visibility</p:attrName>
                                        </p:attrNameLst>
                                      </p:cBhvr>
                                      <p:to>
                                        <p:strVal val="visible"/>
                                      </p:to>
                                    </p:set>
                                    <p:anim calcmode="lin" valueType="num">
                                      <p:cBhvr additive="base">
                                        <p:cTn id="13" dur="500" fill="hold"/>
                                        <p:tgtEl>
                                          <p:spTgt spid="417797">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17797">
                                            <p:txEl>
                                              <p:pRg st="0" end="0"/>
                                            </p:txEl>
                                          </p:spTgt>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2" presetClass="entr" presetSubtype="8" fill="hold" grpId="0" nodeType="afterEffect">
                                  <p:stCondLst>
                                    <p:cond delay="0"/>
                                  </p:stCondLst>
                                  <p:childTnLst>
                                    <p:set>
                                      <p:cBhvr>
                                        <p:cTn id="17" dur="1" fill="hold">
                                          <p:stCondLst>
                                            <p:cond delay="0"/>
                                          </p:stCondLst>
                                        </p:cTn>
                                        <p:tgtEl>
                                          <p:spTgt spid="417797">
                                            <p:txEl>
                                              <p:pRg st="1" end="1"/>
                                            </p:txEl>
                                          </p:spTgt>
                                        </p:tgtEl>
                                        <p:attrNameLst>
                                          <p:attrName>style.visibility</p:attrName>
                                        </p:attrNameLst>
                                      </p:cBhvr>
                                      <p:to>
                                        <p:strVal val="visible"/>
                                      </p:to>
                                    </p:set>
                                    <p:anim calcmode="lin" valueType="num">
                                      <p:cBhvr additive="base">
                                        <p:cTn id="18" dur="500" fill="hold"/>
                                        <p:tgtEl>
                                          <p:spTgt spid="417797">
                                            <p:txEl>
                                              <p:pRg st="1" end="1"/>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417797">
                                            <p:txEl>
                                              <p:pRg st="1" end="1"/>
                                            </p:txEl>
                                          </p:spTgt>
                                        </p:tgtEl>
                                        <p:attrNameLst>
                                          <p:attrName>ppt_y</p:attrName>
                                        </p:attrNameLst>
                                      </p:cBhvr>
                                      <p:tavLst>
                                        <p:tav tm="0">
                                          <p:val>
                                            <p:strVal val="#ppt_y"/>
                                          </p:val>
                                        </p:tav>
                                        <p:tav tm="100000">
                                          <p:val>
                                            <p:strVal val="#ppt_y"/>
                                          </p:val>
                                        </p:tav>
                                      </p:tavLst>
                                    </p:anim>
                                  </p:childTnLst>
                                </p:cTn>
                              </p:par>
                            </p:childTnLst>
                          </p:cTn>
                        </p:par>
                        <p:par>
                          <p:cTn id="20" fill="hold">
                            <p:stCondLst>
                              <p:cond delay="1000"/>
                            </p:stCondLst>
                            <p:childTnLst>
                              <p:par>
                                <p:cTn id="21" presetID="2" presetClass="entr" presetSubtype="8" fill="hold" grpId="0" nodeType="afterEffect">
                                  <p:stCondLst>
                                    <p:cond delay="0"/>
                                  </p:stCondLst>
                                  <p:childTnLst>
                                    <p:set>
                                      <p:cBhvr>
                                        <p:cTn id="22" dur="1" fill="hold">
                                          <p:stCondLst>
                                            <p:cond delay="0"/>
                                          </p:stCondLst>
                                        </p:cTn>
                                        <p:tgtEl>
                                          <p:spTgt spid="417797">
                                            <p:txEl>
                                              <p:pRg st="2" end="2"/>
                                            </p:txEl>
                                          </p:spTgt>
                                        </p:tgtEl>
                                        <p:attrNameLst>
                                          <p:attrName>style.visibility</p:attrName>
                                        </p:attrNameLst>
                                      </p:cBhvr>
                                      <p:to>
                                        <p:strVal val="visible"/>
                                      </p:to>
                                    </p:set>
                                    <p:anim calcmode="lin" valueType="num">
                                      <p:cBhvr additive="base">
                                        <p:cTn id="23" dur="500" fill="hold"/>
                                        <p:tgtEl>
                                          <p:spTgt spid="417797">
                                            <p:txEl>
                                              <p:pRg st="2" end="2"/>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41779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417797">
                                            <p:txEl>
                                              <p:pRg st="3" end="3"/>
                                            </p:txEl>
                                          </p:spTgt>
                                        </p:tgtEl>
                                        <p:attrNameLst>
                                          <p:attrName>style.visibility</p:attrName>
                                        </p:attrNameLst>
                                      </p:cBhvr>
                                      <p:to>
                                        <p:strVal val="visible"/>
                                      </p:to>
                                    </p:set>
                                    <p:anim calcmode="lin" valueType="num">
                                      <p:cBhvr additive="base">
                                        <p:cTn id="29" dur="500" fill="hold"/>
                                        <p:tgtEl>
                                          <p:spTgt spid="417797">
                                            <p:txEl>
                                              <p:pRg st="3" end="3"/>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417797">
                                            <p:txEl>
                                              <p:pRg st="3" end="3"/>
                                            </p:txEl>
                                          </p:spTgt>
                                        </p:tgtEl>
                                        <p:attrNameLst>
                                          <p:attrName>ppt_y</p:attrName>
                                        </p:attrNameLst>
                                      </p:cBhvr>
                                      <p:tavLst>
                                        <p:tav tm="0">
                                          <p:val>
                                            <p:strVal val="#ppt_y"/>
                                          </p:val>
                                        </p:tav>
                                        <p:tav tm="100000">
                                          <p:val>
                                            <p:strVal val="#ppt_y"/>
                                          </p:val>
                                        </p:tav>
                                      </p:tavLst>
                                    </p:anim>
                                  </p:childTnLst>
                                </p:cTn>
                              </p:par>
                            </p:childTnLst>
                          </p:cTn>
                        </p:par>
                        <p:par>
                          <p:cTn id="31" fill="hold">
                            <p:stCondLst>
                              <p:cond delay="500"/>
                            </p:stCondLst>
                            <p:childTnLst>
                              <p:par>
                                <p:cTn id="32" presetID="2" presetClass="entr" presetSubtype="8" fill="hold" grpId="0" nodeType="afterEffect">
                                  <p:stCondLst>
                                    <p:cond delay="0"/>
                                  </p:stCondLst>
                                  <p:childTnLst>
                                    <p:set>
                                      <p:cBhvr>
                                        <p:cTn id="33" dur="1" fill="hold">
                                          <p:stCondLst>
                                            <p:cond delay="0"/>
                                          </p:stCondLst>
                                        </p:cTn>
                                        <p:tgtEl>
                                          <p:spTgt spid="417797">
                                            <p:txEl>
                                              <p:pRg st="4" end="4"/>
                                            </p:txEl>
                                          </p:spTgt>
                                        </p:tgtEl>
                                        <p:attrNameLst>
                                          <p:attrName>style.visibility</p:attrName>
                                        </p:attrNameLst>
                                      </p:cBhvr>
                                      <p:to>
                                        <p:strVal val="visible"/>
                                      </p:to>
                                    </p:set>
                                    <p:anim calcmode="lin" valueType="num">
                                      <p:cBhvr additive="base">
                                        <p:cTn id="34" dur="500" fill="hold"/>
                                        <p:tgtEl>
                                          <p:spTgt spid="417797">
                                            <p:txEl>
                                              <p:pRg st="4" end="4"/>
                                            </p:txEl>
                                          </p:spTgt>
                                        </p:tgtEl>
                                        <p:attrNameLst>
                                          <p:attrName>ppt_x</p:attrName>
                                        </p:attrNameLst>
                                      </p:cBhvr>
                                      <p:tavLst>
                                        <p:tav tm="0">
                                          <p:val>
                                            <p:strVal val="0-#ppt_w/2"/>
                                          </p:val>
                                        </p:tav>
                                        <p:tav tm="100000">
                                          <p:val>
                                            <p:strVal val="#ppt_x"/>
                                          </p:val>
                                        </p:tav>
                                      </p:tavLst>
                                    </p:anim>
                                    <p:anim calcmode="lin" valueType="num">
                                      <p:cBhvr additive="base">
                                        <p:cTn id="35" dur="500" fill="hold"/>
                                        <p:tgtEl>
                                          <p:spTgt spid="417797">
                                            <p:txEl>
                                              <p:pRg st="4" end="4"/>
                                            </p:txEl>
                                          </p:spTgt>
                                        </p:tgtEl>
                                        <p:attrNameLst>
                                          <p:attrName>ppt_y</p:attrName>
                                        </p:attrNameLst>
                                      </p:cBhvr>
                                      <p:tavLst>
                                        <p:tav tm="0">
                                          <p:val>
                                            <p:strVal val="#ppt_y"/>
                                          </p:val>
                                        </p:tav>
                                        <p:tav tm="100000">
                                          <p:val>
                                            <p:strVal val="#ppt_y"/>
                                          </p:val>
                                        </p:tav>
                                      </p:tavLst>
                                    </p:anim>
                                  </p:childTnLst>
                                </p:cTn>
                              </p:par>
                            </p:childTnLst>
                          </p:cTn>
                        </p:par>
                        <p:par>
                          <p:cTn id="36" fill="hold">
                            <p:stCondLst>
                              <p:cond delay="1000"/>
                            </p:stCondLst>
                            <p:childTnLst>
                              <p:par>
                                <p:cTn id="37" presetID="2" presetClass="entr" presetSubtype="8" fill="hold" grpId="0" nodeType="afterEffect">
                                  <p:stCondLst>
                                    <p:cond delay="0"/>
                                  </p:stCondLst>
                                  <p:childTnLst>
                                    <p:set>
                                      <p:cBhvr>
                                        <p:cTn id="38" dur="1" fill="hold">
                                          <p:stCondLst>
                                            <p:cond delay="0"/>
                                          </p:stCondLst>
                                        </p:cTn>
                                        <p:tgtEl>
                                          <p:spTgt spid="417797">
                                            <p:txEl>
                                              <p:pRg st="5" end="5"/>
                                            </p:txEl>
                                          </p:spTgt>
                                        </p:tgtEl>
                                        <p:attrNameLst>
                                          <p:attrName>style.visibility</p:attrName>
                                        </p:attrNameLst>
                                      </p:cBhvr>
                                      <p:to>
                                        <p:strVal val="visible"/>
                                      </p:to>
                                    </p:set>
                                    <p:anim calcmode="lin" valueType="num">
                                      <p:cBhvr additive="base">
                                        <p:cTn id="39" dur="500" fill="hold"/>
                                        <p:tgtEl>
                                          <p:spTgt spid="417797">
                                            <p:txEl>
                                              <p:pRg st="5" end="5"/>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417797">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7797" grpId="0"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2"/>
          <p:cNvSpPr>
            <a:spLocks noGrp="1" noChangeArrowheads="1"/>
          </p:cNvSpPr>
          <p:nvPr>
            <p:ph type="title"/>
          </p:nvPr>
        </p:nvSpPr>
        <p:spPr>
          <a:xfrm>
            <a:off x="900113" y="0"/>
            <a:ext cx="7772400" cy="990600"/>
          </a:xfrm>
        </p:spPr>
        <p:txBody>
          <a:bodyPr/>
          <a:lstStyle/>
          <a:p>
            <a:pPr eaLnBrk="1" hangingPunct="1"/>
            <a:r>
              <a:rPr lang="zh-CN" altLang="en-US" dirty="0" smtClean="0"/>
              <a:t>例（速度）</a:t>
            </a:r>
          </a:p>
        </p:txBody>
      </p:sp>
      <p:sp>
        <p:nvSpPr>
          <p:cNvPr id="92245" name="日期占位符 4"/>
          <p:cNvSpPr>
            <a:spLocks noGrp="1"/>
          </p:cNvSpPr>
          <p:nvPr>
            <p:ph type="dt" sz="quarter" idx="10"/>
          </p:nvPr>
        </p:nvSpPr>
        <p:spPr>
          <a:noFill/>
        </p:spPr>
        <p:txBody>
          <a:bodyPr/>
          <a:lstStyle/>
          <a:p>
            <a:endParaRPr lang="en-US" altLang="zh-CN" smtClean="0"/>
          </a:p>
        </p:txBody>
      </p:sp>
      <p:graphicFrame>
        <p:nvGraphicFramePr>
          <p:cNvPr id="2" name="表格 1"/>
          <p:cNvGraphicFramePr>
            <a:graphicFrameLocks noGrp="1"/>
          </p:cNvGraphicFramePr>
          <p:nvPr>
            <p:extLst>
              <p:ext uri="{D42A27DB-BD31-4B8C-83A1-F6EECF244321}">
                <p14:modId xmlns:p14="http://schemas.microsoft.com/office/powerpoint/2010/main" val="3904166467"/>
              </p:ext>
            </p:extLst>
          </p:nvPr>
        </p:nvGraphicFramePr>
        <p:xfrm>
          <a:off x="395536" y="1052737"/>
          <a:ext cx="8496942" cy="5059863"/>
        </p:xfrm>
        <a:graphic>
          <a:graphicData uri="http://schemas.openxmlformats.org/drawingml/2006/table">
            <a:tbl>
              <a:tblPr/>
              <a:tblGrid>
                <a:gridCol w="3168352">
                  <a:extLst>
                    <a:ext uri="{9D8B030D-6E8A-4147-A177-3AD203B41FA5}">
                      <a16:colId xmlns:a16="http://schemas.microsoft.com/office/drawing/2014/main" val="309433269"/>
                    </a:ext>
                  </a:extLst>
                </a:gridCol>
                <a:gridCol w="936104">
                  <a:extLst>
                    <a:ext uri="{9D8B030D-6E8A-4147-A177-3AD203B41FA5}">
                      <a16:colId xmlns:a16="http://schemas.microsoft.com/office/drawing/2014/main" val="1038151504"/>
                    </a:ext>
                  </a:extLst>
                </a:gridCol>
                <a:gridCol w="1195332">
                  <a:extLst>
                    <a:ext uri="{9D8B030D-6E8A-4147-A177-3AD203B41FA5}">
                      <a16:colId xmlns:a16="http://schemas.microsoft.com/office/drawing/2014/main" val="3173599669"/>
                    </a:ext>
                  </a:extLst>
                </a:gridCol>
                <a:gridCol w="1065718">
                  <a:extLst>
                    <a:ext uri="{9D8B030D-6E8A-4147-A177-3AD203B41FA5}">
                      <a16:colId xmlns:a16="http://schemas.microsoft.com/office/drawing/2014/main" val="1843697286"/>
                    </a:ext>
                  </a:extLst>
                </a:gridCol>
                <a:gridCol w="1065718">
                  <a:extLst>
                    <a:ext uri="{9D8B030D-6E8A-4147-A177-3AD203B41FA5}">
                      <a16:colId xmlns:a16="http://schemas.microsoft.com/office/drawing/2014/main" val="4135398475"/>
                    </a:ext>
                  </a:extLst>
                </a:gridCol>
                <a:gridCol w="1065718">
                  <a:extLst>
                    <a:ext uri="{9D8B030D-6E8A-4147-A177-3AD203B41FA5}">
                      <a16:colId xmlns:a16="http://schemas.microsoft.com/office/drawing/2014/main" val="844142570"/>
                    </a:ext>
                  </a:extLst>
                </a:gridCol>
              </a:tblGrid>
              <a:tr h="562207">
                <a:tc>
                  <a:txBody>
                    <a:bodyPr/>
                    <a:lstStyle/>
                    <a:p>
                      <a:pPr algn="l" fontAlgn="ctr"/>
                      <a:r>
                        <a:rPr lang="zh-CN" altLang="en-US" sz="2000" b="1" i="0" u="none" strike="noStrike" dirty="0" smtClean="0">
                          <a:solidFill>
                            <a:srgbClr val="000000"/>
                          </a:solidFill>
                          <a:effectLst/>
                          <a:latin typeface="+mn-lt"/>
                          <a:ea typeface="等线" panose="02010600030101010101" pitchFamily="2" charset="-122"/>
                        </a:rPr>
                        <a:t>   年    份</a:t>
                      </a:r>
                      <a:endParaRPr lang="zh-CN" altLang="en-US" sz="2000" b="1" i="0" u="none" strike="noStrike" dirty="0">
                        <a:solidFill>
                          <a:srgbClr val="000000"/>
                        </a:solidFill>
                        <a:effectLst/>
                        <a:latin typeface="+mn-lt"/>
                        <a:ea typeface="等线" panose="02010600030101010101" pitchFamily="2" charset="-122"/>
                      </a:endParaRPr>
                    </a:p>
                  </a:txBody>
                  <a:tcPr marL="1440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algn="r" fontAlgn="ctr"/>
                      <a:r>
                        <a:rPr lang="en-US" sz="2000" b="1" i="0" u="none" strike="noStrike" dirty="0">
                          <a:solidFill>
                            <a:srgbClr val="000000"/>
                          </a:solidFill>
                          <a:effectLst/>
                          <a:latin typeface="+mn-lt"/>
                          <a:ea typeface="等线" panose="02010600030101010101" pitchFamily="2" charset="-122"/>
                        </a:rPr>
                        <a:t>2018</a:t>
                      </a:r>
                    </a:p>
                  </a:txBody>
                  <a:tcPr marL="9525" marR="180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algn="r" fontAlgn="ctr"/>
                      <a:r>
                        <a:rPr lang="en-US" sz="2000" b="1" i="0" u="none" strike="noStrike" dirty="0">
                          <a:solidFill>
                            <a:srgbClr val="000000"/>
                          </a:solidFill>
                          <a:effectLst/>
                          <a:latin typeface="+mn-lt"/>
                          <a:ea typeface="等线" panose="02010600030101010101" pitchFamily="2" charset="-122"/>
                        </a:rPr>
                        <a:t>2019</a:t>
                      </a:r>
                    </a:p>
                  </a:txBody>
                  <a:tcPr marL="9525" marR="180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algn="r" fontAlgn="ctr"/>
                      <a:r>
                        <a:rPr lang="en-US" sz="2000" b="1" i="0" u="none" strike="noStrike" dirty="0">
                          <a:solidFill>
                            <a:srgbClr val="000000"/>
                          </a:solidFill>
                          <a:effectLst/>
                          <a:latin typeface="+mn-lt"/>
                          <a:ea typeface="等线" panose="02010600030101010101" pitchFamily="2" charset="-122"/>
                        </a:rPr>
                        <a:t>2020</a:t>
                      </a:r>
                    </a:p>
                  </a:txBody>
                  <a:tcPr marL="9525" marR="180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algn="r" fontAlgn="ctr"/>
                      <a:r>
                        <a:rPr lang="en-US" sz="2000" b="1" i="0" u="none" strike="noStrike" dirty="0">
                          <a:solidFill>
                            <a:srgbClr val="000000"/>
                          </a:solidFill>
                          <a:effectLst/>
                          <a:latin typeface="+mn-lt"/>
                          <a:ea typeface="等线" panose="02010600030101010101" pitchFamily="2" charset="-122"/>
                        </a:rPr>
                        <a:t>2021</a:t>
                      </a:r>
                    </a:p>
                  </a:txBody>
                  <a:tcPr marL="9525" marR="180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algn="r" fontAlgn="ctr"/>
                      <a:r>
                        <a:rPr lang="en-US" sz="2000" b="1" i="0" u="none" strike="noStrike" dirty="0">
                          <a:solidFill>
                            <a:srgbClr val="000000"/>
                          </a:solidFill>
                          <a:effectLst/>
                          <a:latin typeface="+mn-lt"/>
                          <a:ea typeface="等线" panose="02010600030101010101" pitchFamily="2" charset="-122"/>
                        </a:rPr>
                        <a:t>2022</a:t>
                      </a:r>
                    </a:p>
                  </a:txBody>
                  <a:tcPr marL="9525" marR="180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3104949998"/>
                  </a:ext>
                </a:extLst>
              </a:tr>
              <a:tr h="562207">
                <a:tc>
                  <a:txBody>
                    <a:bodyPr/>
                    <a:lstStyle/>
                    <a:p>
                      <a:pPr algn="l" fontAlgn="ctr"/>
                      <a:r>
                        <a:rPr lang="zh-CN" altLang="en-US" sz="2000" b="1" i="0" u="none" strike="noStrike" dirty="0">
                          <a:solidFill>
                            <a:srgbClr val="000000"/>
                          </a:solidFill>
                          <a:effectLst/>
                          <a:latin typeface="+mn-lt"/>
                          <a:ea typeface="等线" panose="02010600030101010101" pitchFamily="2" charset="-122"/>
                        </a:rPr>
                        <a:t>基础研究经费支出（亿元）</a:t>
                      </a:r>
                    </a:p>
                  </a:txBody>
                  <a:tcPr marL="1440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r" fontAlgn="ctr"/>
                      <a:r>
                        <a:rPr lang="en-US" sz="2000" b="1" i="0" u="none" strike="noStrike" dirty="0">
                          <a:solidFill>
                            <a:srgbClr val="000000"/>
                          </a:solidFill>
                          <a:effectLst/>
                          <a:latin typeface="+mn-lt"/>
                          <a:ea typeface="等线" panose="02010600030101010101" pitchFamily="2" charset="-122"/>
                        </a:rPr>
                        <a:t>1090</a:t>
                      </a:r>
                    </a:p>
                  </a:txBody>
                  <a:tcPr marL="9525" marR="180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2000" b="1" i="0" u="none" strike="noStrike" dirty="0">
                          <a:solidFill>
                            <a:srgbClr val="000000"/>
                          </a:solidFill>
                          <a:effectLst/>
                          <a:latin typeface="+mn-lt"/>
                          <a:ea typeface="等线" panose="02010600030101010101" pitchFamily="2" charset="-122"/>
                        </a:rPr>
                        <a:t>1336</a:t>
                      </a:r>
                    </a:p>
                  </a:txBody>
                  <a:tcPr marL="9525" marR="180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2000" b="1" i="0" u="none" strike="noStrike" dirty="0">
                          <a:solidFill>
                            <a:srgbClr val="000000"/>
                          </a:solidFill>
                          <a:effectLst/>
                          <a:latin typeface="+mn-lt"/>
                          <a:ea typeface="等线" panose="02010600030101010101" pitchFamily="2" charset="-122"/>
                        </a:rPr>
                        <a:t>1467</a:t>
                      </a:r>
                    </a:p>
                  </a:txBody>
                  <a:tcPr marL="9525" marR="180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2000" b="1" i="0" u="none" strike="noStrike" dirty="0">
                          <a:solidFill>
                            <a:srgbClr val="000000"/>
                          </a:solidFill>
                          <a:effectLst/>
                          <a:latin typeface="+mn-lt"/>
                          <a:ea typeface="等线" panose="02010600030101010101" pitchFamily="2" charset="-122"/>
                        </a:rPr>
                        <a:t>1817</a:t>
                      </a:r>
                    </a:p>
                  </a:txBody>
                  <a:tcPr marL="9525" marR="180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2000" b="1" i="0" u="none" strike="noStrike">
                          <a:solidFill>
                            <a:srgbClr val="000000"/>
                          </a:solidFill>
                          <a:effectLst/>
                          <a:latin typeface="+mn-lt"/>
                          <a:ea typeface="等线" panose="02010600030101010101" pitchFamily="2" charset="-122"/>
                        </a:rPr>
                        <a:t>1951</a:t>
                      </a:r>
                    </a:p>
                  </a:txBody>
                  <a:tcPr marL="9525" marR="180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33752255"/>
                  </a:ext>
                </a:extLst>
              </a:tr>
              <a:tr h="562207">
                <a:tc>
                  <a:txBody>
                    <a:bodyPr/>
                    <a:lstStyle/>
                    <a:p>
                      <a:pPr algn="l" fontAlgn="ctr"/>
                      <a:r>
                        <a:rPr lang="zh-CN" altLang="en-US" sz="2000" b="1" i="0" u="none" strike="noStrike" dirty="0">
                          <a:solidFill>
                            <a:schemeClr val="tx1"/>
                          </a:solidFill>
                          <a:effectLst/>
                          <a:latin typeface="+mn-lt"/>
                          <a:ea typeface="等线" panose="02010600030101010101" pitchFamily="2" charset="-122"/>
                        </a:rPr>
                        <a:t>逐期增减量（亿元）</a:t>
                      </a:r>
                    </a:p>
                  </a:txBody>
                  <a:tcPr marL="1440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r" fontAlgn="ctr"/>
                      <a:r>
                        <a:rPr lang="en-US" altLang="zh-CN" sz="2000" b="1" i="0" u="none" strike="noStrike" dirty="0" smtClean="0">
                          <a:solidFill>
                            <a:schemeClr val="bg2"/>
                          </a:solidFill>
                          <a:effectLst/>
                          <a:latin typeface="+mn-lt"/>
                          <a:ea typeface="等线" panose="02010600030101010101" pitchFamily="2" charset="-122"/>
                        </a:rPr>
                        <a:t>——</a:t>
                      </a:r>
                      <a:r>
                        <a:rPr lang="zh-CN" altLang="en-US" sz="2000" b="1" i="0" u="none" strike="noStrike" dirty="0">
                          <a:solidFill>
                            <a:schemeClr val="bg2"/>
                          </a:solidFill>
                          <a:effectLst/>
                          <a:latin typeface="+mn-lt"/>
                          <a:ea typeface="等线" panose="02010600030101010101" pitchFamily="2" charset="-122"/>
                        </a:rPr>
                        <a:t>　</a:t>
                      </a:r>
                    </a:p>
                  </a:txBody>
                  <a:tcPr marL="9525" marR="144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1" i="0" u="none" strike="noStrike" dirty="0">
                          <a:solidFill>
                            <a:schemeClr val="tx1"/>
                          </a:solidFill>
                          <a:effectLst/>
                          <a:latin typeface="+mn-lt"/>
                          <a:ea typeface="等线" panose="02010600030101010101" pitchFamily="2" charset="-122"/>
                        </a:rPr>
                        <a:t>246</a:t>
                      </a:r>
                    </a:p>
                  </a:txBody>
                  <a:tcPr marL="9525" marR="144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1" i="0" u="none" strike="noStrike" dirty="0">
                          <a:solidFill>
                            <a:schemeClr val="tx1"/>
                          </a:solidFill>
                          <a:effectLst/>
                          <a:latin typeface="+mn-lt"/>
                          <a:ea typeface="等线" panose="02010600030101010101" pitchFamily="2" charset="-122"/>
                        </a:rPr>
                        <a:t>131</a:t>
                      </a:r>
                    </a:p>
                  </a:txBody>
                  <a:tcPr marL="9525" marR="144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1" i="0" u="none" strike="noStrike" dirty="0">
                          <a:solidFill>
                            <a:schemeClr val="tx1"/>
                          </a:solidFill>
                          <a:effectLst/>
                          <a:latin typeface="+mn-lt"/>
                          <a:ea typeface="等线" panose="02010600030101010101" pitchFamily="2" charset="-122"/>
                        </a:rPr>
                        <a:t>350</a:t>
                      </a:r>
                    </a:p>
                  </a:txBody>
                  <a:tcPr marL="9525" marR="144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1" i="0" u="none" strike="noStrike" dirty="0">
                          <a:solidFill>
                            <a:schemeClr val="tx1"/>
                          </a:solidFill>
                          <a:effectLst/>
                          <a:latin typeface="+mn-lt"/>
                          <a:ea typeface="等线" panose="02010600030101010101" pitchFamily="2" charset="-122"/>
                        </a:rPr>
                        <a:t>134</a:t>
                      </a:r>
                    </a:p>
                  </a:txBody>
                  <a:tcPr marL="9525" marR="144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52331287"/>
                  </a:ext>
                </a:extLst>
              </a:tr>
              <a:tr h="562207">
                <a:tc>
                  <a:txBody>
                    <a:bodyPr/>
                    <a:lstStyle/>
                    <a:p>
                      <a:pPr algn="l" fontAlgn="ctr"/>
                      <a:r>
                        <a:rPr lang="zh-CN" altLang="en-US" sz="2000" b="1" i="0" u="none" strike="noStrike" dirty="0">
                          <a:solidFill>
                            <a:schemeClr val="tx1"/>
                          </a:solidFill>
                          <a:effectLst/>
                          <a:latin typeface="+mn-lt"/>
                          <a:ea typeface="等线" panose="02010600030101010101" pitchFamily="2" charset="-122"/>
                        </a:rPr>
                        <a:t>累计增减量（亿元）</a:t>
                      </a:r>
                    </a:p>
                  </a:txBody>
                  <a:tcPr marL="1440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r" fontAlgn="ctr"/>
                      <a:r>
                        <a:rPr lang="en-US" altLang="zh-CN" sz="2000" b="1" i="0" u="none" strike="noStrike" dirty="0" smtClean="0">
                          <a:solidFill>
                            <a:schemeClr val="bg2"/>
                          </a:solidFill>
                          <a:effectLst/>
                          <a:latin typeface="+mn-lt"/>
                          <a:ea typeface="等线" panose="02010600030101010101" pitchFamily="2" charset="-122"/>
                        </a:rPr>
                        <a:t>——</a:t>
                      </a:r>
                      <a:r>
                        <a:rPr lang="zh-CN" altLang="en-US" sz="2000" b="1" i="0" u="none" strike="noStrike" dirty="0">
                          <a:solidFill>
                            <a:schemeClr val="bg2"/>
                          </a:solidFill>
                          <a:effectLst/>
                          <a:latin typeface="+mn-lt"/>
                          <a:ea typeface="等线" panose="02010600030101010101" pitchFamily="2" charset="-122"/>
                        </a:rPr>
                        <a:t>　</a:t>
                      </a:r>
                    </a:p>
                  </a:txBody>
                  <a:tcPr marL="9525" marR="144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1" i="0" u="none" strike="noStrike" dirty="0">
                          <a:solidFill>
                            <a:schemeClr val="tx1"/>
                          </a:solidFill>
                          <a:effectLst/>
                          <a:latin typeface="+mn-lt"/>
                          <a:ea typeface="等线" panose="02010600030101010101" pitchFamily="2" charset="-122"/>
                        </a:rPr>
                        <a:t>246</a:t>
                      </a:r>
                    </a:p>
                  </a:txBody>
                  <a:tcPr marL="9525" marR="144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1" i="0" u="none" strike="noStrike" dirty="0">
                          <a:solidFill>
                            <a:schemeClr val="tx1"/>
                          </a:solidFill>
                          <a:effectLst/>
                          <a:latin typeface="+mn-lt"/>
                          <a:ea typeface="等线" panose="02010600030101010101" pitchFamily="2" charset="-122"/>
                        </a:rPr>
                        <a:t>377</a:t>
                      </a:r>
                    </a:p>
                  </a:txBody>
                  <a:tcPr marL="9525" marR="144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1" i="0" u="none" strike="noStrike" dirty="0">
                          <a:solidFill>
                            <a:schemeClr val="tx1"/>
                          </a:solidFill>
                          <a:effectLst/>
                          <a:latin typeface="+mn-lt"/>
                          <a:ea typeface="等线" panose="02010600030101010101" pitchFamily="2" charset="-122"/>
                        </a:rPr>
                        <a:t>727</a:t>
                      </a:r>
                    </a:p>
                  </a:txBody>
                  <a:tcPr marL="9525" marR="144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1" i="0" u="none" strike="noStrike" dirty="0">
                          <a:solidFill>
                            <a:schemeClr val="tx1"/>
                          </a:solidFill>
                          <a:effectLst/>
                          <a:latin typeface="+mn-lt"/>
                          <a:ea typeface="等线" panose="02010600030101010101" pitchFamily="2" charset="-122"/>
                        </a:rPr>
                        <a:t>861</a:t>
                      </a:r>
                    </a:p>
                  </a:txBody>
                  <a:tcPr marL="9525" marR="144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01986798"/>
                  </a:ext>
                </a:extLst>
              </a:tr>
              <a:tr h="562207">
                <a:tc>
                  <a:txBody>
                    <a:bodyPr/>
                    <a:lstStyle/>
                    <a:p>
                      <a:pPr algn="l" fontAlgn="ctr"/>
                      <a:r>
                        <a:rPr lang="zh-CN" altLang="en-US" sz="2000" b="1" i="0" u="none" strike="noStrike" dirty="0">
                          <a:solidFill>
                            <a:srgbClr val="0070C0"/>
                          </a:solidFill>
                          <a:effectLst/>
                          <a:latin typeface="+mn-lt"/>
                          <a:ea typeface="等线" panose="02010600030101010101" pitchFamily="2" charset="-122"/>
                        </a:rPr>
                        <a:t>环比发展速度（</a:t>
                      </a:r>
                      <a:r>
                        <a:rPr lang="en-US" altLang="zh-CN" sz="2000" b="1" i="0" u="none" strike="noStrike" dirty="0">
                          <a:solidFill>
                            <a:srgbClr val="0070C0"/>
                          </a:solidFill>
                          <a:effectLst/>
                          <a:latin typeface="+mn-lt"/>
                          <a:ea typeface="等线" panose="02010600030101010101" pitchFamily="2" charset="-122"/>
                        </a:rPr>
                        <a:t>%</a:t>
                      </a:r>
                      <a:r>
                        <a:rPr lang="zh-CN" altLang="en-US" sz="2000" b="1" i="0" u="none" strike="noStrike" dirty="0">
                          <a:solidFill>
                            <a:srgbClr val="0070C0"/>
                          </a:solidFill>
                          <a:effectLst/>
                          <a:latin typeface="+mn-lt"/>
                          <a:ea typeface="等线" panose="02010600030101010101" pitchFamily="2" charset="-122"/>
                        </a:rPr>
                        <a:t>） </a:t>
                      </a:r>
                    </a:p>
                  </a:txBody>
                  <a:tcPr marL="1440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r" fontAlgn="ctr"/>
                      <a:r>
                        <a:rPr lang="en-US" altLang="zh-CN" sz="2000" b="1" i="0" u="none" strike="noStrike" dirty="0" smtClean="0">
                          <a:solidFill>
                            <a:srgbClr val="0070C0"/>
                          </a:solidFill>
                          <a:effectLst/>
                          <a:latin typeface="+mn-lt"/>
                          <a:ea typeface="等线" panose="02010600030101010101" pitchFamily="2" charset="-122"/>
                        </a:rPr>
                        <a:t>——</a:t>
                      </a:r>
                      <a:r>
                        <a:rPr lang="zh-CN" altLang="en-US" sz="2000" b="1" i="0" u="none" strike="noStrike" dirty="0">
                          <a:solidFill>
                            <a:srgbClr val="0070C0"/>
                          </a:solidFill>
                          <a:effectLst/>
                          <a:latin typeface="+mn-lt"/>
                          <a:ea typeface="等线" panose="02010600030101010101" pitchFamily="2" charset="-122"/>
                        </a:rPr>
                        <a:t>　</a:t>
                      </a:r>
                    </a:p>
                  </a:txBody>
                  <a:tcPr marL="9525" marR="144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1" i="0" u="none" strike="noStrike" dirty="0">
                          <a:solidFill>
                            <a:srgbClr val="0070C0"/>
                          </a:solidFill>
                          <a:effectLst/>
                          <a:latin typeface="+mn-lt"/>
                          <a:ea typeface="等线" panose="02010600030101010101" pitchFamily="2" charset="-122"/>
                        </a:rPr>
                        <a:t>122.57 </a:t>
                      </a:r>
                    </a:p>
                  </a:txBody>
                  <a:tcPr marL="9525" marR="144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1" i="0" u="none" strike="noStrike" dirty="0">
                          <a:solidFill>
                            <a:srgbClr val="0070C0"/>
                          </a:solidFill>
                          <a:effectLst/>
                          <a:latin typeface="+mn-lt"/>
                          <a:ea typeface="等线" panose="02010600030101010101" pitchFamily="2" charset="-122"/>
                        </a:rPr>
                        <a:t>109.81 </a:t>
                      </a:r>
                    </a:p>
                  </a:txBody>
                  <a:tcPr marL="9525" marR="144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1" i="0" u="none" strike="noStrike" dirty="0">
                          <a:solidFill>
                            <a:srgbClr val="0070C0"/>
                          </a:solidFill>
                          <a:effectLst/>
                          <a:latin typeface="+mn-lt"/>
                          <a:ea typeface="等线" panose="02010600030101010101" pitchFamily="2" charset="-122"/>
                        </a:rPr>
                        <a:t>123.86 </a:t>
                      </a:r>
                    </a:p>
                  </a:txBody>
                  <a:tcPr marL="9525" marR="144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1" i="0" u="none" strike="noStrike" dirty="0">
                          <a:solidFill>
                            <a:srgbClr val="0070C0"/>
                          </a:solidFill>
                          <a:effectLst/>
                          <a:latin typeface="+mn-lt"/>
                          <a:ea typeface="等线" panose="02010600030101010101" pitchFamily="2" charset="-122"/>
                        </a:rPr>
                        <a:t>107.37 </a:t>
                      </a:r>
                    </a:p>
                  </a:txBody>
                  <a:tcPr marL="9525" marR="144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7029285"/>
                  </a:ext>
                </a:extLst>
              </a:tr>
              <a:tr h="562207">
                <a:tc>
                  <a:txBody>
                    <a:bodyPr/>
                    <a:lstStyle/>
                    <a:p>
                      <a:pPr algn="l" fontAlgn="ctr"/>
                      <a:r>
                        <a:rPr lang="zh-CN" altLang="en-US" sz="2000" b="1" i="0" u="none" strike="noStrike" dirty="0">
                          <a:solidFill>
                            <a:srgbClr val="0070C0"/>
                          </a:solidFill>
                          <a:effectLst/>
                          <a:latin typeface="+mn-lt"/>
                          <a:ea typeface="等线" panose="02010600030101010101" pitchFamily="2" charset="-122"/>
                        </a:rPr>
                        <a:t>定基发展速度（</a:t>
                      </a:r>
                      <a:r>
                        <a:rPr lang="en-US" altLang="zh-CN" sz="2000" b="1" i="0" u="none" strike="noStrike" dirty="0">
                          <a:solidFill>
                            <a:srgbClr val="0070C0"/>
                          </a:solidFill>
                          <a:effectLst/>
                          <a:latin typeface="+mn-lt"/>
                          <a:ea typeface="等线" panose="02010600030101010101" pitchFamily="2" charset="-122"/>
                        </a:rPr>
                        <a:t>%</a:t>
                      </a:r>
                      <a:r>
                        <a:rPr lang="zh-CN" altLang="en-US" sz="2000" b="1" i="0" u="none" strike="noStrike" dirty="0">
                          <a:solidFill>
                            <a:srgbClr val="0070C0"/>
                          </a:solidFill>
                          <a:effectLst/>
                          <a:latin typeface="+mn-lt"/>
                          <a:ea typeface="等线" panose="02010600030101010101" pitchFamily="2" charset="-122"/>
                        </a:rPr>
                        <a:t>）</a:t>
                      </a:r>
                    </a:p>
                  </a:txBody>
                  <a:tcPr marL="1440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l" fontAlgn="ctr"/>
                      <a:r>
                        <a:rPr lang="zh-CN" altLang="en-US" sz="2000" b="1" i="0" u="none" strike="noStrike" dirty="0">
                          <a:solidFill>
                            <a:srgbClr val="0070C0"/>
                          </a:solidFill>
                          <a:effectLst/>
                          <a:latin typeface="+mn-lt"/>
                          <a:ea typeface="等线" panose="02010600030101010101" pitchFamily="2" charset="-122"/>
                        </a:rPr>
                        <a:t>　</a:t>
                      </a:r>
                      <a:r>
                        <a:rPr lang="en-US" altLang="zh-CN" sz="2000" b="1" i="0" u="none" strike="noStrike" dirty="0" smtClean="0">
                          <a:solidFill>
                            <a:srgbClr val="0070C0"/>
                          </a:solidFill>
                          <a:effectLst/>
                          <a:latin typeface="+mn-lt"/>
                          <a:ea typeface="等线" panose="02010600030101010101" pitchFamily="2" charset="-122"/>
                        </a:rPr>
                        <a:t>100</a:t>
                      </a:r>
                      <a:endParaRPr lang="zh-CN" altLang="en-US" sz="2000" b="1" i="0" u="none" strike="noStrike" dirty="0">
                        <a:solidFill>
                          <a:srgbClr val="0070C0"/>
                        </a:solidFill>
                        <a:effectLst/>
                        <a:latin typeface="+mn-lt"/>
                        <a:ea typeface="等线" panose="02010600030101010101" pitchFamily="2" charset="-122"/>
                      </a:endParaRPr>
                    </a:p>
                  </a:txBody>
                  <a:tcPr marL="9525" marR="144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1" i="0" u="none" strike="noStrike">
                          <a:solidFill>
                            <a:srgbClr val="0070C0"/>
                          </a:solidFill>
                          <a:effectLst/>
                          <a:latin typeface="+mn-lt"/>
                          <a:ea typeface="等线" panose="02010600030101010101" pitchFamily="2" charset="-122"/>
                        </a:rPr>
                        <a:t>122.57 </a:t>
                      </a:r>
                    </a:p>
                  </a:txBody>
                  <a:tcPr marL="9525" marR="144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1" i="0" u="none" strike="noStrike" dirty="0">
                          <a:solidFill>
                            <a:srgbClr val="0070C0"/>
                          </a:solidFill>
                          <a:effectLst/>
                          <a:latin typeface="+mn-lt"/>
                          <a:ea typeface="等线" panose="02010600030101010101" pitchFamily="2" charset="-122"/>
                        </a:rPr>
                        <a:t>134.59 </a:t>
                      </a:r>
                    </a:p>
                  </a:txBody>
                  <a:tcPr marL="9525" marR="144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1" i="0" u="none" strike="noStrike" dirty="0">
                          <a:solidFill>
                            <a:srgbClr val="0070C0"/>
                          </a:solidFill>
                          <a:effectLst/>
                          <a:latin typeface="+mn-lt"/>
                          <a:ea typeface="等线" panose="02010600030101010101" pitchFamily="2" charset="-122"/>
                        </a:rPr>
                        <a:t>166.70 </a:t>
                      </a:r>
                    </a:p>
                  </a:txBody>
                  <a:tcPr marL="9525" marR="144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1" i="0" u="none" strike="noStrike" dirty="0">
                          <a:solidFill>
                            <a:srgbClr val="0070C0"/>
                          </a:solidFill>
                          <a:effectLst/>
                          <a:latin typeface="+mn-lt"/>
                          <a:ea typeface="等线" panose="02010600030101010101" pitchFamily="2" charset="-122"/>
                        </a:rPr>
                        <a:t>178.99 </a:t>
                      </a:r>
                    </a:p>
                  </a:txBody>
                  <a:tcPr marL="9525" marR="144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03557121"/>
                  </a:ext>
                </a:extLst>
              </a:tr>
              <a:tr h="562207">
                <a:tc>
                  <a:txBody>
                    <a:bodyPr/>
                    <a:lstStyle/>
                    <a:p>
                      <a:pPr algn="l" fontAlgn="ctr"/>
                      <a:r>
                        <a:rPr lang="zh-CN" altLang="en-US" sz="2000" b="1" i="0" u="none" strike="noStrike" dirty="0">
                          <a:solidFill>
                            <a:srgbClr val="0070C0"/>
                          </a:solidFill>
                          <a:effectLst/>
                          <a:latin typeface="+mn-lt"/>
                          <a:ea typeface="等线" panose="02010600030101010101" pitchFamily="2" charset="-122"/>
                        </a:rPr>
                        <a:t>环比增减速度（</a:t>
                      </a:r>
                      <a:r>
                        <a:rPr lang="en-US" altLang="zh-CN" sz="2000" b="1" i="0" u="none" strike="noStrike" dirty="0">
                          <a:solidFill>
                            <a:srgbClr val="0070C0"/>
                          </a:solidFill>
                          <a:effectLst/>
                          <a:latin typeface="+mn-lt"/>
                          <a:ea typeface="等线" panose="02010600030101010101" pitchFamily="2" charset="-122"/>
                        </a:rPr>
                        <a:t>%</a:t>
                      </a:r>
                      <a:r>
                        <a:rPr lang="zh-CN" altLang="en-US" sz="2000" b="1" i="0" u="none" strike="noStrike" dirty="0">
                          <a:solidFill>
                            <a:srgbClr val="0070C0"/>
                          </a:solidFill>
                          <a:effectLst/>
                          <a:latin typeface="+mn-lt"/>
                          <a:ea typeface="等线" panose="02010600030101010101" pitchFamily="2" charset="-122"/>
                        </a:rPr>
                        <a:t>）</a:t>
                      </a:r>
                    </a:p>
                  </a:txBody>
                  <a:tcPr marL="1440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l" fontAlgn="ctr"/>
                      <a:r>
                        <a:rPr lang="zh-CN" altLang="en-US" sz="2000" b="1" i="0" u="none" strike="noStrike" dirty="0">
                          <a:solidFill>
                            <a:srgbClr val="0070C0"/>
                          </a:solidFill>
                          <a:effectLst/>
                          <a:latin typeface="+mn-lt"/>
                          <a:ea typeface="等线" panose="02010600030101010101" pitchFamily="2" charset="-122"/>
                        </a:rPr>
                        <a:t>　</a:t>
                      </a:r>
                      <a:r>
                        <a:rPr lang="en-US" altLang="zh-CN" sz="2000" b="1" i="0" u="none" strike="noStrike" dirty="0" smtClean="0">
                          <a:solidFill>
                            <a:srgbClr val="0070C0"/>
                          </a:solidFill>
                          <a:effectLst/>
                          <a:latin typeface="+mn-lt"/>
                          <a:ea typeface="等线" panose="02010600030101010101" pitchFamily="2" charset="-122"/>
                        </a:rPr>
                        <a:t>——</a:t>
                      </a:r>
                      <a:endParaRPr lang="zh-CN" altLang="en-US" sz="2000" b="1" i="0" u="none" strike="noStrike" dirty="0">
                        <a:solidFill>
                          <a:srgbClr val="0070C0"/>
                        </a:solidFill>
                        <a:effectLst/>
                        <a:latin typeface="+mn-lt"/>
                        <a:ea typeface="等线" panose="02010600030101010101" pitchFamily="2" charset="-122"/>
                      </a:endParaRPr>
                    </a:p>
                  </a:txBody>
                  <a:tcPr marL="9525" marR="144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1" i="0" u="none" strike="noStrike">
                          <a:solidFill>
                            <a:srgbClr val="0070C0"/>
                          </a:solidFill>
                          <a:effectLst/>
                          <a:latin typeface="+mn-lt"/>
                          <a:ea typeface="等线" panose="02010600030101010101" pitchFamily="2" charset="-122"/>
                        </a:rPr>
                        <a:t>22.57 </a:t>
                      </a:r>
                    </a:p>
                  </a:txBody>
                  <a:tcPr marL="9525" marR="144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1" i="0" u="none" strike="noStrike" dirty="0">
                          <a:solidFill>
                            <a:srgbClr val="0070C0"/>
                          </a:solidFill>
                          <a:effectLst/>
                          <a:latin typeface="+mn-lt"/>
                          <a:ea typeface="等线" panose="02010600030101010101" pitchFamily="2" charset="-122"/>
                        </a:rPr>
                        <a:t>9.81 </a:t>
                      </a:r>
                    </a:p>
                  </a:txBody>
                  <a:tcPr marL="9525" marR="144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1" i="0" u="none" strike="noStrike" dirty="0">
                          <a:solidFill>
                            <a:srgbClr val="0070C0"/>
                          </a:solidFill>
                          <a:effectLst/>
                          <a:latin typeface="+mn-lt"/>
                          <a:ea typeface="等线" panose="02010600030101010101" pitchFamily="2" charset="-122"/>
                        </a:rPr>
                        <a:t>23.86 </a:t>
                      </a:r>
                    </a:p>
                  </a:txBody>
                  <a:tcPr marL="9525" marR="144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1" i="0" u="none" strike="noStrike" dirty="0">
                          <a:solidFill>
                            <a:srgbClr val="0070C0"/>
                          </a:solidFill>
                          <a:effectLst/>
                          <a:latin typeface="+mn-lt"/>
                          <a:ea typeface="等线" panose="02010600030101010101" pitchFamily="2" charset="-122"/>
                        </a:rPr>
                        <a:t>7.37 </a:t>
                      </a:r>
                    </a:p>
                  </a:txBody>
                  <a:tcPr marL="9525" marR="144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9896511"/>
                  </a:ext>
                </a:extLst>
              </a:tr>
              <a:tr h="562207">
                <a:tc>
                  <a:txBody>
                    <a:bodyPr/>
                    <a:lstStyle/>
                    <a:p>
                      <a:pPr algn="l" fontAlgn="ctr"/>
                      <a:r>
                        <a:rPr lang="zh-CN" altLang="en-US" sz="2000" b="1" i="0" u="none" strike="noStrike" dirty="0">
                          <a:solidFill>
                            <a:srgbClr val="0070C0"/>
                          </a:solidFill>
                          <a:effectLst/>
                          <a:latin typeface="+mn-lt"/>
                          <a:ea typeface="等线" panose="02010600030101010101" pitchFamily="2" charset="-122"/>
                        </a:rPr>
                        <a:t>定基增减速度（</a:t>
                      </a:r>
                      <a:r>
                        <a:rPr lang="en-US" altLang="zh-CN" sz="2000" b="1" i="0" u="none" strike="noStrike" dirty="0">
                          <a:solidFill>
                            <a:srgbClr val="0070C0"/>
                          </a:solidFill>
                          <a:effectLst/>
                          <a:latin typeface="+mn-lt"/>
                          <a:ea typeface="等线" panose="02010600030101010101" pitchFamily="2" charset="-122"/>
                        </a:rPr>
                        <a:t>%</a:t>
                      </a:r>
                      <a:r>
                        <a:rPr lang="zh-CN" altLang="en-US" sz="2000" b="1" i="0" u="none" strike="noStrike" dirty="0">
                          <a:solidFill>
                            <a:srgbClr val="0070C0"/>
                          </a:solidFill>
                          <a:effectLst/>
                          <a:latin typeface="+mn-lt"/>
                          <a:ea typeface="等线" panose="02010600030101010101" pitchFamily="2" charset="-122"/>
                        </a:rPr>
                        <a:t>）</a:t>
                      </a:r>
                    </a:p>
                  </a:txBody>
                  <a:tcPr marL="1440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l" fontAlgn="ctr"/>
                      <a:r>
                        <a:rPr lang="zh-CN" altLang="en-US" sz="2000" b="1" i="0" u="none" strike="noStrike" dirty="0">
                          <a:solidFill>
                            <a:srgbClr val="0070C0"/>
                          </a:solidFill>
                          <a:effectLst/>
                          <a:latin typeface="+mn-lt"/>
                          <a:ea typeface="等线" panose="02010600030101010101" pitchFamily="2" charset="-122"/>
                        </a:rPr>
                        <a:t>　</a:t>
                      </a:r>
                      <a:r>
                        <a:rPr lang="en-US" altLang="zh-CN" sz="2000" b="1" i="0" u="none" strike="noStrike" dirty="0" smtClean="0">
                          <a:solidFill>
                            <a:srgbClr val="0070C0"/>
                          </a:solidFill>
                          <a:effectLst/>
                          <a:latin typeface="+mn-lt"/>
                          <a:ea typeface="等线" panose="02010600030101010101" pitchFamily="2" charset="-122"/>
                        </a:rPr>
                        <a:t>——</a:t>
                      </a:r>
                      <a:endParaRPr lang="zh-CN" altLang="en-US" sz="2000" b="1" i="0" u="none" strike="noStrike" dirty="0">
                        <a:solidFill>
                          <a:srgbClr val="0070C0"/>
                        </a:solidFill>
                        <a:effectLst/>
                        <a:latin typeface="+mn-lt"/>
                        <a:ea typeface="等线" panose="02010600030101010101" pitchFamily="2" charset="-122"/>
                      </a:endParaRPr>
                    </a:p>
                  </a:txBody>
                  <a:tcPr marL="9525" marR="144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1" i="0" u="none" strike="noStrike">
                          <a:solidFill>
                            <a:srgbClr val="0070C0"/>
                          </a:solidFill>
                          <a:effectLst/>
                          <a:latin typeface="+mn-lt"/>
                          <a:ea typeface="等线" panose="02010600030101010101" pitchFamily="2" charset="-122"/>
                        </a:rPr>
                        <a:t>22.57 </a:t>
                      </a:r>
                    </a:p>
                  </a:txBody>
                  <a:tcPr marL="9525" marR="144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1" i="0" u="none" strike="noStrike" dirty="0">
                          <a:solidFill>
                            <a:srgbClr val="0070C0"/>
                          </a:solidFill>
                          <a:effectLst/>
                          <a:latin typeface="+mn-lt"/>
                          <a:ea typeface="等线" panose="02010600030101010101" pitchFamily="2" charset="-122"/>
                        </a:rPr>
                        <a:t>34.59 </a:t>
                      </a:r>
                    </a:p>
                  </a:txBody>
                  <a:tcPr marL="9525" marR="144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1" i="0" u="none" strike="noStrike" dirty="0">
                          <a:solidFill>
                            <a:srgbClr val="0070C0"/>
                          </a:solidFill>
                          <a:effectLst/>
                          <a:latin typeface="+mn-lt"/>
                          <a:ea typeface="等线" panose="02010600030101010101" pitchFamily="2" charset="-122"/>
                        </a:rPr>
                        <a:t>66.70 </a:t>
                      </a:r>
                    </a:p>
                  </a:txBody>
                  <a:tcPr marL="9525" marR="144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1" i="0" u="none" strike="noStrike" dirty="0">
                          <a:solidFill>
                            <a:srgbClr val="0070C0"/>
                          </a:solidFill>
                          <a:effectLst/>
                          <a:latin typeface="+mn-lt"/>
                          <a:ea typeface="等线" panose="02010600030101010101" pitchFamily="2" charset="-122"/>
                        </a:rPr>
                        <a:t>78.99 </a:t>
                      </a:r>
                    </a:p>
                  </a:txBody>
                  <a:tcPr marL="9525" marR="144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60626687"/>
                  </a:ext>
                </a:extLst>
              </a:tr>
              <a:tr h="562207">
                <a:tc>
                  <a:txBody>
                    <a:bodyPr/>
                    <a:lstStyle/>
                    <a:p>
                      <a:pPr algn="l" fontAlgn="ctr"/>
                      <a:r>
                        <a:rPr lang="zh-CN" altLang="en-US" sz="2000" b="1" i="0" u="none" strike="noStrike" dirty="0">
                          <a:solidFill>
                            <a:srgbClr val="0070C0"/>
                          </a:solidFill>
                          <a:effectLst/>
                          <a:latin typeface="+mn-lt"/>
                          <a:ea typeface="等线" panose="02010600030101010101" pitchFamily="2" charset="-122"/>
                        </a:rPr>
                        <a:t>增长</a:t>
                      </a:r>
                      <a:r>
                        <a:rPr lang="en-US" altLang="zh-CN" sz="2000" b="1" i="0" u="none" strike="noStrike" dirty="0">
                          <a:solidFill>
                            <a:srgbClr val="0070C0"/>
                          </a:solidFill>
                          <a:effectLst/>
                          <a:latin typeface="+mn-lt"/>
                          <a:ea typeface="等线" panose="02010600030101010101" pitchFamily="2" charset="-122"/>
                        </a:rPr>
                        <a:t>1%</a:t>
                      </a:r>
                      <a:r>
                        <a:rPr lang="zh-CN" altLang="en-US" sz="2000" b="1" i="0" u="none" strike="noStrike" dirty="0">
                          <a:solidFill>
                            <a:srgbClr val="0070C0"/>
                          </a:solidFill>
                          <a:effectLst/>
                          <a:latin typeface="+mn-lt"/>
                          <a:ea typeface="等线" panose="02010600030101010101" pitchFamily="2" charset="-122"/>
                        </a:rPr>
                        <a:t>的绝对量（亿元）</a:t>
                      </a:r>
                    </a:p>
                  </a:txBody>
                  <a:tcPr marL="144000"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algn="l" fontAlgn="ctr"/>
                      <a:r>
                        <a:rPr lang="zh-CN" altLang="en-US" sz="2000" b="1" i="0" u="none" strike="noStrike" dirty="0">
                          <a:solidFill>
                            <a:srgbClr val="0070C0"/>
                          </a:solidFill>
                          <a:effectLst/>
                          <a:latin typeface="+mn-lt"/>
                          <a:ea typeface="等线" panose="02010600030101010101" pitchFamily="2" charset="-122"/>
                        </a:rPr>
                        <a:t>　</a:t>
                      </a:r>
                      <a:r>
                        <a:rPr lang="en-US" altLang="zh-CN" sz="2000" b="1" i="0" u="none" strike="noStrike" dirty="0" smtClean="0">
                          <a:solidFill>
                            <a:srgbClr val="0070C0"/>
                          </a:solidFill>
                          <a:effectLst/>
                          <a:latin typeface="+mn-lt"/>
                          <a:ea typeface="等线" panose="02010600030101010101" pitchFamily="2" charset="-122"/>
                        </a:rPr>
                        <a:t>——</a:t>
                      </a:r>
                      <a:endParaRPr lang="zh-CN" altLang="en-US" sz="2000" b="1" i="0" u="none" strike="noStrike" dirty="0">
                        <a:solidFill>
                          <a:srgbClr val="0070C0"/>
                        </a:solidFill>
                        <a:effectLst/>
                        <a:latin typeface="+mn-lt"/>
                        <a:ea typeface="等线" panose="02010600030101010101" pitchFamily="2" charset="-122"/>
                      </a:endParaRPr>
                    </a:p>
                  </a:txBody>
                  <a:tcPr marL="9525" marR="144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1" i="0" u="none" strike="noStrike" dirty="0" smtClean="0">
                          <a:solidFill>
                            <a:srgbClr val="0070C0"/>
                          </a:solidFill>
                          <a:effectLst/>
                          <a:latin typeface="+mn-lt"/>
                          <a:ea typeface="等线" panose="02010600030101010101" pitchFamily="2" charset="-122"/>
                        </a:rPr>
                        <a:t>10.90</a:t>
                      </a:r>
                      <a:endParaRPr lang="en-US" altLang="zh-CN" sz="2000" b="1" i="0" u="none" strike="noStrike" dirty="0">
                        <a:solidFill>
                          <a:srgbClr val="0070C0"/>
                        </a:solidFill>
                        <a:effectLst/>
                        <a:latin typeface="+mn-lt"/>
                        <a:ea typeface="等线" panose="02010600030101010101" pitchFamily="2" charset="-122"/>
                      </a:endParaRPr>
                    </a:p>
                  </a:txBody>
                  <a:tcPr marL="9525" marR="144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1" i="0" u="none" strike="noStrike" dirty="0">
                          <a:solidFill>
                            <a:srgbClr val="0070C0"/>
                          </a:solidFill>
                          <a:effectLst/>
                          <a:latin typeface="+mn-lt"/>
                          <a:ea typeface="等线" panose="02010600030101010101" pitchFamily="2" charset="-122"/>
                        </a:rPr>
                        <a:t>13.36</a:t>
                      </a:r>
                    </a:p>
                  </a:txBody>
                  <a:tcPr marL="9525" marR="144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1" i="0" u="none" strike="noStrike" dirty="0">
                          <a:solidFill>
                            <a:srgbClr val="0070C0"/>
                          </a:solidFill>
                          <a:effectLst/>
                          <a:latin typeface="+mn-lt"/>
                          <a:ea typeface="等线" panose="02010600030101010101" pitchFamily="2" charset="-122"/>
                        </a:rPr>
                        <a:t>14.67</a:t>
                      </a:r>
                    </a:p>
                  </a:txBody>
                  <a:tcPr marL="9525" marR="144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1" i="0" u="none" strike="noStrike" dirty="0">
                          <a:solidFill>
                            <a:srgbClr val="0070C0"/>
                          </a:solidFill>
                          <a:effectLst/>
                          <a:latin typeface="+mn-lt"/>
                          <a:ea typeface="等线" panose="02010600030101010101" pitchFamily="2" charset="-122"/>
                        </a:rPr>
                        <a:t>18.17</a:t>
                      </a:r>
                    </a:p>
                  </a:txBody>
                  <a:tcPr marL="9525" marR="14400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7908418"/>
                  </a:ext>
                </a:extLst>
              </a:tr>
            </a:tbl>
          </a:graphicData>
        </a:graphic>
      </p:graphicFrame>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8" name="Rectangle 2"/>
          <p:cNvSpPr>
            <a:spLocks noGrp="1" noChangeArrowheads="1"/>
          </p:cNvSpPr>
          <p:nvPr>
            <p:ph type="title"/>
          </p:nvPr>
        </p:nvSpPr>
        <p:spPr>
          <a:xfrm>
            <a:off x="1115616" y="1196752"/>
            <a:ext cx="5562600" cy="838200"/>
          </a:xfrm>
        </p:spPr>
        <p:txBody>
          <a:bodyPr lIns="90488" tIns="44450" rIns="90488" bIns="44450" anchor="ctr" anchorCtr="1"/>
          <a:lstStyle/>
          <a:p>
            <a:pPr eaLnBrk="1" hangingPunct="1"/>
            <a:r>
              <a:rPr lang="en-US" altLang="zh-CN" dirty="0" smtClean="0"/>
              <a:t>4.3.3  </a:t>
            </a:r>
            <a:r>
              <a:rPr lang="zh-CN" altLang="en-US" dirty="0" smtClean="0"/>
              <a:t>平均速度</a:t>
            </a:r>
            <a:endParaRPr lang="zh-CN" altLang="en-US" sz="4000" dirty="0" smtClean="0">
              <a:solidFill>
                <a:schemeClr val="hlink"/>
              </a:solidFill>
            </a:endParaRPr>
          </a:p>
        </p:txBody>
      </p:sp>
      <p:sp>
        <p:nvSpPr>
          <p:cNvPr id="21510" name="日期占位符 5"/>
          <p:cNvSpPr>
            <a:spLocks noGrp="1"/>
          </p:cNvSpPr>
          <p:nvPr>
            <p:ph type="dt" sz="quarter" idx="10"/>
          </p:nvPr>
        </p:nvSpPr>
        <p:spPr>
          <a:noFill/>
        </p:spPr>
        <p:txBody>
          <a:bodyPr/>
          <a:lstStyle/>
          <a:p>
            <a:endParaRPr lang="en-US" altLang="zh-CN" smtClean="0"/>
          </a:p>
        </p:txBody>
      </p:sp>
      <p:sp>
        <p:nvSpPr>
          <p:cNvPr id="8" name="Rectangle 3"/>
          <p:cNvSpPr txBox="1">
            <a:spLocks noChangeArrowheads="1"/>
          </p:cNvSpPr>
          <p:nvPr/>
        </p:nvSpPr>
        <p:spPr bwMode="auto">
          <a:xfrm>
            <a:off x="2339752" y="2346063"/>
            <a:ext cx="6048474" cy="1907272"/>
          </a:xfrm>
          <a:prstGeom prst="rect">
            <a:avLst/>
          </a:prstGeom>
          <a:noFill/>
          <a:ln w="9525">
            <a:noFill/>
            <a:miter lim="800000"/>
            <a:headEnd/>
            <a:tailEnd/>
          </a:ln>
        </p:spPr>
        <p:txBody>
          <a:bodyPr vert="horz" wrap="square" lIns="90488" tIns="44450" rIns="90488" bIns="44450" numCol="1" anchor="t" anchorCtr="0" compatLnSpc="1">
            <a:prstTxWarp prst="textNoShape">
              <a:avLst/>
            </a:prstTxWarp>
          </a:bodyPr>
          <a:lstStyle/>
          <a:p>
            <a:pPr marL="1143000" lvl="1" indent="-457200" algn="just">
              <a:spcBef>
                <a:spcPct val="33000"/>
              </a:spcBef>
              <a:buSzPct val="80000"/>
              <a:buBlip>
                <a:blip r:embed="rId3"/>
              </a:buBlip>
            </a:pPr>
            <a:r>
              <a:rPr lang="zh-CN" altLang="en-US" sz="3600" b="1" kern="0" dirty="0" smtClean="0">
                <a:solidFill>
                  <a:srgbClr val="3333FF"/>
                </a:solidFill>
                <a:latin typeface="Times New Roman" pitchFamily="18" charset="0"/>
              </a:rPr>
              <a:t>平均发展速度</a:t>
            </a:r>
          </a:p>
          <a:p>
            <a:pPr marL="1143000" lvl="1" indent="-457200" algn="just">
              <a:spcBef>
                <a:spcPct val="33000"/>
              </a:spcBef>
              <a:buSzPct val="80000"/>
              <a:buBlip>
                <a:blip r:embed="rId3"/>
              </a:buBlip>
            </a:pPr>
            <a:r>
              <a:rPr lang="zh-CN" altLang="en-US" sz="3600" b="1" kern="0" dirty="0" smtClean="0">
                <a:solidFill>
                  <a:srgbClr val="3333FF"/>
                </a:solidFill>
                <a:latin typeface="Times New Roman" pitchFamily="18" charset="0"/>
              </a:rPr>
              <a:t>平均增长速度</a:t>
            </a:r>
            <a:endParaRPr kumimoji="0" lang="zh-CN" altLang="en-US" sz="3600" b="1" i="0" u="none" strike="noStrike" kern="0" cap="none" spc="0" normalizeH="0" baseline="0" noProof="0" dirty="0" smtClean="0">
              <a:ln>
                <a:noFill/>
              </a:ln>
              <a:solidFill>
                <a:srgbClr val="3333FF"/>
              </a:solidFill>
              <a:effectLst/>
              <a:uLnTx/>
              <a:uFillTx/>
              <a:latin typeface="Times New Roman" pitchFamily="18" charset="0"/>
              <a:ea typeface="+mn-ea"/>
            </a:endParaRPr>
          </a:p>
        </p:txBody>
      </p:sp>
      <p:sp>
        <p:nvSpPr>
          <p:cNvPr id="6" name="Rectangle 3"/>
          <p:cNvSpPr txBox="1">
            <a:spLocks noChangeArrowheads="1"/>
          </p:cNvSpPr>
          <p:nvPr/>
        </p:nvSpPr>
        <p:spPr bwMode="auto">
          <a:xfrm>
            <a:off x="1133528" y="4149079"/>
            <a:ext cx="6768554" cy="2218383"/>
          </a:xfrm>
          <a:prstGeom prst="rect">
            <a:avLst/>
          </a:prstGeom>
          <a:noFill/>
          <a:ln w="9525">
            <a:noFill/>
            <a:miter lim="800000"/>
            <a:headEnd/>
            <a:tailEnd/>
          </a:ln>
        </p:spPr>
        <p:txBody>
          <a:bodyPr vert="horz" wrap="square" lIns="90488" tIns="44450" rIns="90488" bIns="44450" numCol="1" anchor="t" anchorCtr="0" compatLnSpc="1">
            <a:prstTxWarp prst="textNoShape">
              <a:avLst/>
            </a:prstTxWarp>
          </a:bodyPr>
          <a:lstStyle/>
          <a:p>
            <a:pPr marL="685800" lvl="1" algn="just">
              <a:spcBef>
                <a:spcPct val="33000"/>
              </a:spcBef>
              <a:buSzPct val="80000"/>
            </a:pPr>
            <a:r>
              <a:rPr lang="zh-CN" altLang="en-US" sz="3600" b="1" kern="0" dirty="0" smtClean="0">
                <a:solidFill>
                  <a:srgbClr val="0070C0"/>
                </a:solidFill>
                <a:latin typeface="Times New Roman" pitchFamily="18" charset="0"/>
              </a:rPr>
              <a:t>计算</a:t>
            </a:r>
            <a:r>
              <a:rPr lang="zh-CN" altLang="en-US" sz="3600" b="1" kern="0" dirty="0" smtClean="0">
                <a:solidFill>
                  <a:srgbClr val="0070C0"/>
                </a:solidFill>
                <a:latin typeface="Times New Roman" pitchFamily="18" charset="0"/>
              </a:rPr>
              <a:t>平均发展速度的方法：</a:t>
            </a:r>
            <a:endParaRPr lang="en-US" altLang="zh-CN" sz="3600" b="1" kern="0" dirty="0" smtClean="0">
              <a:solidFill>
                <a:srgbClr val="0070C0"/>
              </a:solidFill>
              <a:latin typeface="Times New Roman" pitchFamily="18" charset="0"/>
            </a:endParaRPr>
          </a:p>
          <a:p>
            <a:pPr marL="685800" lvl="1" indent="655638" algn="just">
              <a:spcBef>
                <a:spcPct val="33000"/>
              </a:spcBef>
              <a:buSzPct val="80000"/>
            </a:pPr>
            <a:r>
              <a:rPr lang="en-US" altLang="zh-CN" sz="3600" b="1" kern="0" dirty="0" smtClean="0">
                <a:solidFill>
                  <a:srgbClr val="0070C0"/>
                </a:solidFill>
                <a:latin typeface="Times New Roman" pitchFamily="18" charset="0"/>
              </a:rPr>
              <a:t>1.</a:t>
            </a:r>
            <a:r>
              <a:rPr lang="zh-CN" altLang="en-US" sz="3600" b="1" kern="0" dirty="0" smtClean="0">
                <a:solidFill>
                  <a:srgbClr val="0070C0"/>
                </a:solidFill>
                <a:latin typeface="Times New Roman" pitchFamily="18" charset="0"/>
              </a:rPr>
              <a:t>几何平均法</a:t>
            </a:r>
            <a:endParaRPr lang="en-US" altLang="zh-CN" sz="3600" b="1" kern="0" dirty="0" smtClean="0">
              <a:solidFill>
                <a:srgbClr val="0070C0"/>
              </a:solidFill>
              <a:latin typeface="Times New Roman" pitchFamily="18" charset="0"/>
            </a:endParaRPr>
          </a:p>
          <a:p>
            <a:pPr marL="685800" lvl="1" indent="655638" algn="just">
              <a:spcBef>
                <a:spcPct val="33000"/>
              </a:spcBef>
              <a:buSzPct val="80000"/>
            </a:pPr>
            <a:r>
              <a:rPr lang="en-US" altLang="zh-CN" sz="3600" b="1" kern="0" dirty="0" smtClean="0">
                <a:solidFill>
                  <a:srgbClr val="0070C0"/>
                </a:solidFill>
                <a:latin typeface="Times New Roman" pitchFamily="18" charset="0"/>
              </a:rPr>
              <a:t>2.</a:t>
            </a:r>
            <a:r>
              <a:rPr lang="zh-CN" altLang="en-US" sz="3600" b="1" kern="0" dirty="0" smtClean="0">
                <a:solidFill>
                  <a:srgbClr val="0070C0"/>
                </a:solidFill>
                <a:latin typeface="Times New Roman" pitchFamily="18" charset="0"/>
              </a:rPr>
              <a:t>方程式法</a:t>
            </a:r>
            <a:endParaRPr lang="zh-CN" altLang="en-US" sz="3600" b="1" kern="0" dirty="0" smtClean="0">
              <a:solidFill>
                <a:srgbClr val="0070C0"/>
              </a:solidFill>
              <a:latin typeface="Times New Roman" pitchFamily="18" charset="0"/>
            </a:endParaRPr>
          </a:p>
        </p:txBody>
      </p:sp>
    </p:spTree>
  </p:cSld>
  <p:clrMapOvr>
    <a:masterClrMapping/>
  </p:clrMapOvr>
  <p:transition>
    <p:wipe dir="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187" name="Rectangle 2"/>
          <p:cNvSpPr>
            <a:spLocks noGrp="1" noChangeArrowheads="1"/>
          </p:cNvSpPr>
          <p:nvPr>
            <p:ph type="title"/>
          </p:nvPr>
        </p:nvSpPr>
        <p:spPr>
          <a:xfrm>
            <a:off x="1835696" y="188640"/>
            <a:ext cx="6480175" cy="981075"/>
          </a:xfrm>
          <a:noFill/>
        </p:spPr>
        <p:txBody>
          <a:bodyPr lIns="90488" tIns="44450" rIns="90488" bIns="44450" anchor="ctr" anchorCtr="1"/>
          <a:lstStyle/>
          <a:p>
            <a:pPr eaLnBrk="1" hangingPunct="1"/>
            <a:r>
              <a:rPr lang="zh-CN" altLang="en-US" sz="4000" dirty="0" smtClean="0"/>
              <a:t>平均增长速度及其计算方法</a:t>
            </a:r>
          </a:p>
        </p:txBody>
      </p:sp>
      <p:sp>
        <p:nvSpPr>
          <p:cNvPr id="418819" name="Rectangle 3"/>
          <p:cNvSpPr>
            <a:spLocks noGrp="1" noChangeArrowheads="1"/>
          </p:cNvSpPr>
          <p:nvPr>
            <p:ph type="body" idx="1"/>
          </p:nvPr>
        </p:nvSpPr>
        <p:spPr>
          <a:xfrm>
            <a:off x="665162" y="1052513"/>
            <a:ext cx="7939087" cy="5472112"/>
          </a:xfrm>
          <a:noFill/>
        </p:spPr>
        <p:txBody>
          <a:bodyPr lIns="90488" tIns="44450" rIns="90488" bIns="44450"/>
          <a:lstStyle/>
          <a:p>
            <a:pPr marL="0" indent="0" algn="just" eaLnBrk="1" hangingPunct="1">
              <a:spcBef>
                <a:spcPct val="33000"/>
              </a:spcBef>
              <a:buNone/>
            </a:pPr>
            <a:r>
              <a:rPr lang="zh-CN" altLang="en-US" dirty="0" smtClean="0">
                <a:solidFill>
                  <a:srgbClr val="3333FF"/>
                </a:solidFill>
                <a:latin typeface="Times New Roman" pitchFamily="18" charset="0"/>
              </a:rPr>
              <a:t>平均</a:t>
            </a:r>
            <a:r>
              <a:rPr lang="zh-CN" altLang="en-US" dirty="0" smtClean="0">
                <a:solidFill>
                  <a:srgbClr val="3333FF"/>
                </a:solidFill>
                <a:latin typeface="Times New Roman" pitchFamily="18" charset="0"/>
              </a:rPr>
              <a:t>增长速度</a:t>
            </a:r>
            <a:r>
              <a:rPr lang="en-US" altLang="zh-CN" dirty="0" smtClean="0">
                <a:solidFill>
                  <a:srgbClr val="000000"/>
                </a:solidFill>
                <a:latin typeface="Times New Roman" pitchFamily="18" charset="0"/>
              </a:rPr>
              <a:t>——</a:t>
            </a:r>
            <a:r>
              <a:rPr lang="zh-CN" altLang="en-US" dirty="0" smtClean="0">
                <a:solidFill>
                  <a:srgbClr val="000000"/>
                </a:solidFill>
                <a:latin typeface="Times New Roman" pitchFamily="18" charset="0"/>
              </a:rPr>
              <a:t>表示</a:t>
            </a:r>
            <a:r>
              <a:rPr lang="zh-CN" altLang="en-US" dirty="0" smtClean="0">
                <a:solidFill>
                  <a:srgbClr val="000000"/>
                </a:solidFill>
                <a:latin typeface="Times New Roman" pitchFamily="18" charset="0"/>
              </a:rPr>
              <a:t>逐期增减变动的平均程度，即各期环比增减长速度的一般水平，但</a:t>
            </a:r>
            <a:r>
              <a:rPr lang="zh-CN" altLang="en-US" dirty="0" smtClean="0">
                <a:solidFill>
                  <a:srgbClr val="0070C0"/>
                </a:solidFill>
                <a:latin typeface="Times New Roman" pitchFamily="18" charset="0"/>
              </a:rPr>
              <a:t>不能对各环比增减长速度直接平均</a:t>
            </a:r>
            <a:r>
              <a:rPr lang="zh-CN" altLang="en-US" dirty="0" smtClean="0">
                <a:solidFill>
                  <a:srgbClr val="000000"/>
                </a:solidFill>
                <a:latin typeface="Times New Roman" pitchFamily="18" charset="0"/>
              </a:rPr>
              <a:t>。</a:t>
            </a:r>
          </a:p>
          <a:p>
            <a:pPr marL="354012" lvl="1" indent="0" algn="just" eaLnBrk="1" hangingPunct="1">
              <a:spcBef>
                <a:spcPct val="33000"/>
              </a:spcBef>
              <a:buNone/>
            </a:pPr>
            <a:r>
              <a:rPr lang="zh-CN" altLang="en-US" dirty="0" smtClean="0">
                <a:solidFill>
                  <a:srgbClr val="006600"/>
                </a:solidFill>
                <a:latin typeface="Times New Roman" pitchFamily="18" charset="0"/>
              </a:rPr>
              <a:t>因为算术平均法或几何平均法都不符合</a:t>
            </a:r>
            <a:r>
              <a:rPr lang="zh-CN" altLang="en-US" dirty="0" smtClean="0">
                <a:solidFill>
                  <a:srgbClr val="006600"/>
                </a:solidFill>
                <a:latin typeface="Times New Roman" pitchFamily="18" charset="0"/>
              </a:rPr>
              <a:t>增减</a:t>
            </a:r>
            <a:r>
              <a:rPr lang="zh-CN" altLang="en-US" dirty="0" smtClean="0">
                <a:solidFill>
                  <a:srgbClr val="006600"/>
                </a:solidFill>
                <a:latin typeface="Times New Roman" pitchFamily="18" charset="0"/>
              </a:rPr>
              <a:t>速度这种现象的性质。</a:t>
            </a:r>
          </a:p>
          <a:p>
            <a:pPr marL="622300" lvl="2" indent="-268288" algn="just" eaLnBrk="1" hangingPunct="1">
              <a:spcBef>
                <a:spcPct val="33000"/>
              </a:spcBef>
              <a:buSzPct val="75000"/>
            </a:pPr>
            <a:r>
              <a:rPr lang="zh-CN" altLang="en-US" dirty="0" smtClean="0">
                <a:latin typeface="Times New Roman" pitchFamily="18" charset="0"/>
              </a:rPr>
              <a:t>算术平均法</a:t>
            </a:r>
            <a:r>
              <a:rPr lang="zh-CN" altLang="en-US" dirty="0" smtClean="0">
                <a:solidFill>
                  <a:schemeClr val="tx1"/>
                </a:solidFill>
                <a:latin typeface="Times New Roman" pitchFamily="18" charset="0"/>
              </a:rPr>
              <a:t>适用于</a:t>
            </a:r>
            <a:r>
              <a:rPr lang="zh-CN" altLang="en-US" dirty="0" smtClean="0">
                <a:solidFill>
                  <a:schemeClr val="tx1"/>
                </a:solidFill>
                <a:latin typeface="Arial" charset="0"/>
              </a:rPr>
              <a:t>“</a:t>
            </a:r>
            <a:r>
              <a:rPr lang="zh-CN" altLang="en-US" dirty="0" smtClean="0">
                <a:solidFill>
                  <a:srgbClr val="000000"/>
                </a:solidFill>
                <a:latin typeface="Times New Roman" pitchFamily="18" charset="0"/>
              </a:rPr>
              <a:t>现象总量</a:t>
            </a:r>
            <a:r>
              <a:rPr lang="zh-CN" altLang="en-US" dirty="0" smtClean="0">
                <a:solidFill>
                  <a:srgbClr val="000000"/>
                </a:solidFill>
                <a:latin typeface="Times New Roman" pitchFamily="18" charset="0"/>
                <a:cs typeface="Times New Roman" pitchFamily="18" charset="0"/>
              </a:rPr>
              <a:t>＝</a:t>
            </a:r>
            <a:r>
              <a:rPr lang="zh-CN" altLang="en-US" dirty="0" smtClean="0">
                <a:solidFill>
                  <a:srgbClr val="000000"/>
                </a:solidFill>
                <a:latin typeface="Times New Roman" pitchFamily="18" charset="0"/>
              </a:rPr>
              <a:t>各变量值之总</a:t>
            </a:r>
            <a:r>
              <a:rPr lang="zh-CN" altLang="en-US" dirty="0" smtClean="0">
                <a:solidFill>
                  <a:srgbClr val="CC0099"/>
                </a:solidFill>
                <a:latin typeface="Times New Roman" pitchFamily="18" charset="0"/>
              </a:rPr>
              <a:t>和</a:t>
            </a:r>
            <a:r>
              <a:rPr lang="zh-CN" altLang="en-US" dirty="0" smtClean="0">
                <a:solidFill>
                  <a:schemeClr val="tx1"/>
                </a:solidFill>
                <a:latin typeface="Arial" charset="0"/>
              </a:rPr>
              <a:t>”</a:t>
            </a:r>
            <a:endParaRPr lang="en-US" altLang="zh-CN" dirty="0" smtClean="0">
              <a:solidFill>
                <a:schemeClr val="tx1"/>
              </a:solidFill>
              <a:latin typeface="Arial" charset="0"/>
            </a:endParaRPr>
          </a:p>
          <a:p>
            <a:pPr marL="622300" lvl="2" indent="-268288" algn="just" eaLnBrk="1" hangingPunct="1">
              <a:spcBef>
                <a:spcPct val="33000"/>
              </a:spcBef>
              <a:buSzPct val="75000"/>
            </a:pPr>
            <a:r>
              <a:rPr lang="zh-CN" altLang="en-US" dirty="0" smtClean="0">
                <a:latin typeface="Times New Roman" pitchFamily="18" charset="0"/>
              </a:rPr>
              <a:t>几何平均</a:t>
            </a:r>
            <a:r>
              <a:rPr lang="zh-CN" altLang="en-US" dirty="0" smtClean="0">
                <a:latin typeface="Times New Roman" pitchFamily="18" charset="0"/>
              </a:rPr>
              <a:t>法</a:t>
            </a:r>
            <a:r>
              <a:rPr lang="zh-CN" altLang="en-US" dirty="0" smtClean="0">
                <a:solidFill>
                  <a:schemeClr val="tx1"/>
                </a:solidFill>
                <a:latin typeface="Times New Roman" pitchFamily="18" charset="0"/>
              </a:rPr>
              <a:t>适用于</a:t>
            </a:r>
            <a:r>
              <a:rPr lang="zh-CN" altLang="en-US" dirty="0" smtClean="0">
                <a:solidFill>
                  <a:schemeClr val="tx1"/>
                </a:solidFill>
                <a:latin typeface="Arial" charset="0"/>
              </a:rPr>
              <a:t>“</a:t>
            </a:r>
            <a:r>
              <a:rPr lang="zh-CN" altLang="en-US" dirty="0" smtClean="0">
                <a:solidFill>
                  <a:srgbClr val="000000"/>
                </a:solidFill>
                <a:latin typeface="Times New Roman" pitchFamily="18" charset="0"/>
              </a:rPr>
              <a:t>现象总量</a:t>
            </a:r>
            <a:r>
              <a:rPr lang="zh-CN" altLang="en-US" dirty="0" smtClean="0">
                <a:solidFill>
                  <a:srgbClr val="000000"/>
                </a:solidFill>
                <a:latin typeface="Times New Roman" pitchFamily="18" charset="0"/>
                <a:cs typeface="Times New Roman" pitchFamily="18" charset="0"/>
              </a:rPr>
              <a:t>＝</a:t>
            </a:r>
            <a:r>
              <a:rPr lang="zh-CN" altLang="en-US" dirty="0" smtClean="0">
                <a:solidFill>
                  <a:srgbClr val="000000"/>
                </a:solidFill>
                <a:latin typeface="Times New Roman" pitchFamily="18" charset="0"/>
              </a:rPr>
              <a:t>各变量值之连乘</a:t>
            </a:r>
            <a:r>
              <a:rPr lang="zh-CN" altLang="en-US" dirty="0" smtClean="0">
                <a:solidFill>
                  <a:srgbClr val="CC0099"/>
                </a:solidFill>
                <a:latin typeface="Times New Roman" pitchFamily="18" charset="0"/>
              </a:rPr>
              <a:t>积</a:t>
            </a:r>
            <a:r>
              <a:rPr lang="zh-CN" altLang="en-US" dirty="0" smtClean="0">
                <a:solidFill>
                  <a:schemeClr val="tx1"/>
                </a:solidFill>
                <a:latin typeface="Arial" charset="0"/>
              </a:rPr>
              <a:t>”</a:t>
            </a:r>
            <a:endParaRPr lang="zh-CN" altLang="en-US" dirty="0" smtClean="0">
              <a:solidFill>
                <a:schemeClr val="tx1"/>
              </a:solidFill>
              <a:latin typeface="Times New Roman" pitchFamily="18" charset="0"/>
            </a:endParaRPr>
          </a:p>
        </p:txBody>
      </p:sp>
      <p:sp>
        <p:nvSpPr>
          <p:cNvPr id="418820" name="Rectangle 4"/>
          <p:cNvSpPr>
            <a:spLocks noChangeArrowheads="1"/>
          </p:cNvSpPr>
          <p:nvPr/>
        </p:nvSpPr>
        <p:spPr bwMode="auto">
          <a:xfrm>
            <a:off x="36757" y="4781142"/>
            <a:ext cx="8496300" cy="1773237"/>
          </a:xfrm>
          <a:prstGeom prst="rect">
            <a:avLst/>
          </a:prstGeom>
          <a:noFill/>
          <a:ln w="12700">
            <a:noFill/>
            <a:miter lim="800000"/>
            <a:headEnd/>
            <a:tailEnd/>
          </a:ln>
        </p:spPr>
        <p:txBody>
          <a:bodyPr lIns="90488" tIns="44450" rIns="90488" bIns="44450"/>
          <a:lstStyle/>
          <a:p>
            <a:pPr marL="685800" lvl="1" algn="just">
              <a:spcBef>
                <a:spcPct val="33000"/>
              </a:spcBef>
              <a:buSzPct val="80000"/>
            </a:pPr>
            <a:r>
              <a:rPr lang="zh-CN" altLang="en-US" sz="2800" b="1" dirty="0" smtClean="0">
                <a:solidFill>
                  <a:srgbClr val="3333FF"/>
                </a:solidFill>
                <a:latin typeface="Times New Roman" pitchFamily="18" charset="0"/>
              </a:rPr>
              <a:t>计算方法</a:t>
            </a:r>
            <a:r>
              <a:rPr lang="zh-CN" altLang="en-US" sz="2800" b="1" dirty="0">
                <a:solidFill>
                  <a:srgbClr val="3333FF"/>
                </a:solidFill>
                <a:latin typeface="Times New Roman" pitchFamily="18" charset="0"/>
              </a:rPr>
              <a:t>：</a:t>
            </a:r>
          </a:p>
        </p:txBody>
      </p:sp>
      <p:sp>
        <p:nvSpPr>
          <p:cNvPr id="418821" name="Rectangle 5"/>
          <p:cNvSpPr>
            <a:spLocks noChangeArrowheads="1"/>
          </p:cNvSpPr>
          <p:nvPr/>
        </p:nvSpPr>
        <p:spPr bwMode="auto">
          <a:xfrm>
            <a:off x="1617663" y="5533808"/>
            <a:ext cx="6284093" cy="535531"/>
          </a:xfrm>
          <a:prstGeom prst="rect">
            <a:avLst/>
          </a:prstGeom>
          <a:noFill/>
          <a:ln w="19050">
            <a:solidFill>
              <a:schemeClr val="accent5"/>
            </a:solidFill>
            <a:miter lim="800000"/>
            <a:headEnd/>
            <a:tailEnd/>
          </a:ln>
        </p:spPr>
        <p:txBody>
          <a:bodyPr wrap="square">
            <a:spAutoFit/>
          </a:bodyPr>
          <a:lstStyle/>
          <a:p>
            <a:pPr>
              <a:lnSpc>
                <a:spcPct val="90000"/>
              </a:lnSpc>
              <a:spcBef>
                <a:spcPct val="33000"/>
              </a:spcBef>
              <a:buSzPct val="90000"/>
            </a:pPr>
            <a:r>
              <a:rPr lang="zh-CN" altLang="en-US" sz="3200" b="1" dirty="0">
                <a:solidFill>
                  <a:srgbClr val="3333FF"/>
                </a:solidFill>
                <a:latin typeface="Times New Roman" pitchFamily="18" charset="0"/>
              </a:rPr>
              <a:t>平均</a:t>
            </a:r>
            <a:r>
              <a:rPr lang="zh-CN" altLang="en-US" sz="3200" b="1" dirty="0" smtClean="0">
                <a:solidFill>
                  <a:srgbClr val="3333FF"/>
                </a:solidFill>
                <a:latin typeface="Times New Roman" pitchFamily="18" charset="0"/>
              </a:rPr>
              <a:t>增长速度 </a:t>
            </a:r>
            <a:r>
              <a:rPr lang="en-US" altLang="zh-CN" sz="3200" b="1" dirty="0">
                <a:solidFill>
                  <a:srgbClr val="3333FF"/>
                </a:solidFill>
                <a:latin typeface="Times New Roman" pitchFamily="18" charset="0"/>
              </a:rPr>
              <a:t>= </a:t>
            </a:r>
            <a:r>
              <a:rPr lang="zh-CN" altLang="en-US" sz="3200" b="1" dirty="0">
                <a:solidFill>
                  <a:srgbClr val="3333FF"/>
                </a:solidFill>
                <a:latin typeface="Times New Roman" pitchFamily="18" charset="0"/>
              </a:rPr>
              <a:t>平均发展速度</a:t>
            </a:r>
            <a:r>
              <a:rPr lang="en-US" altLang="zh-CN" sz="3200" b="1" dirty="0">
                <a:solidFill>
                  <a:srgbClr val="3333FF"/>
                </a:solidFill>
                <a:latin typeface="Times New Roman" pitchFamily="18" charset="0"/>
              </a:rPr>
              <a:t>— 1</a:t>
            </a:r>
          </a:p>
        </p:txBody>
      </p:sp>
      <p:sp>
        <p:nvSpPr>
          <p:cNvPr id="93191" name="日期占位符 6"/>
          <p:cNvSpPr>
            <a:spLocks noGrp="1"/>
          </p:cNvSpPr>
          <p:nvPr>
            <p:ph type="dt" sz="quarter" idx="10"/>
          </p:nvPr>
        </p:nvSpPr>
        <p:spPr>
          <a:noFill/>
        </p:spPr>
        <p:txBody>
          <a:bodyPr/>
          <a:lstStyle/>
          <a:p>
            <a:endParaRPr lang="en-US" altLang="zh-CN" smtClean="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8819">
                                            <p:txEl>
                                              <p:pRg st="1" end="1"/>
                                            </p:txEl>
                                          </p:spTgt>
                                        </p:tgtEl>
                                        <p:attrNameLst>
                                          <p:attrName>style.visibility</p:attrName>
                                        </p:attrNameLst>
                                      </p:cBhvr>
                                      <p:to>
                                        <p:strVal val="visible"/>
                                      </p:to>
                                    </p:set>
                                    <p:animEffect transition="in" filter="wipe(left)">
                                      <p:cBhvr>
                                        <p:cTn id="7" dur="500"/>
                                        <p:tgtEl>
                                          <p:spTgt spid="418819">
                                            <p:txEl>
                                              <p:pRg st="1" end="1"/>
                                            </p:txEl>
                                          </p:spTgt>
                                        </p:tgtEl>
                                      </p:cBhvr>
                                    </p:animEffect>
                                  </p:childTnLst>
                                  <p:subTnLst>
                                    <p:animClr clrSpc="rgb" dir="cw">
                                      <p:cBhvr override="childStyle">
                                        <p:cTn dur="1" fill="hold" display="0" masterRel="nextClick" afterEffect="1"/>
                                        <p:tgtEl>
                                          <p:spTgt spid="418819">
                                            <p:txEl>
                                              <p:pRg st="1" end="1"/>
                                            </p:txEl>
                                          </p:spTgt>
                                        </p:tgtEl>
                                        <p:attrNameLst>
                                          <p:attrName>ppt_c</p:attrName>
                                        </p:attrNameLst>
                                      </p:cBhvr>
                                      <p:to>
                                        <a:schemeClr val="folHlink"/>
                                      </p:to>
                                    </p:animClr>
                                  </p:subTnLst>
                                </p:cTn>
                              </p:par>
                              <p:par>
                                <p:cTn id="8" presetID="22" presetClass="entr" presetSubtype="8" fill="hold" grpId="0" nodeType="withEffect">
                                  <p:stCondLst>
                                    <p:cond delay="0"/>
                                  </p:stCondLst>
                                  <p:childTnLst>
                                    <p:set>
                                      <p:cBhvr>
                                        <p:cTn id="9" dur="1" fill="hold">
                                          <p:stCondLst>
                                            <p:cond delay="0"/>
                                          </p:stCondLst>
                                        </p:cTn>
                                        <p:tgtEl>
                                          <p:spTgt spid="418819">
                                            <p:txEl>
                                              <p:pRg st="2" end="2"/>
                                            </p:txEl>
                                          </p:spTgt>
                                        </p:tgtEl>
                                        <p:attrNameLst>
                                          <p:attrName>style.visibility</p:attrName>
                                        </p:attrNameLst>
                                      </p:cBhvr>
                                      <p:to>
                                        <p:strVal val="visible"/>
                                      </p:to>
                                    </p:set>
                                    <p:animEffect transition="in" filter="wipe(left)">
                                      <p:cBhvr>
                                        <p:cTn id="10" dur="500"/>
                                        <p:tgtEl>
                                          <p:spTgt spid="418819">
                                            <p:txEl>
                                              <p:pRg st="2" end="2"/>
                                            </p:txEl>
                                          </p:spTgt>
                                        </p:tgtEl>
                                      </p:cBhvr>
                                    </p:animEffect>
                                  </p:childTnLst>
                                  <p:subTnLst>
                                    <p:animClr clrSpc="rgb" dir="cw">
                                      <p:cBhvr override="childStyle">
                                        <p:cTn dur="1" fill="hold" display="0" masterRel="nextClick" afterEffect="1"/>
                                        <p:tgtEl>
                                          <p:spTgt spid="418819">
                                            <p:txEl>
                                              <p:pRg st="2" end="2"/>
                                            </p:txEl>
                                          </p:spTgt>
                                        </p:tgtEl>
                                        <p:attrNameLst>
                                          <p:attrName>ppt_c</p:attrName>
                                        </p:attrNameLst>
                                      </p:cBhvr>
                                      <p:to>
                                        <a:schemeClr val="folHlink"/>
                                      </p:to>
                                    </p:animClr>
                                  </p:subTnLst>
                                </p:cTn>
                              </p:par>
                              <p:par>
                                <p:cTn id="11" presetID="22" presetClass="entr" presetSubtype="8" fill="hold" grpId="0" nodeType="withEffect">
                                  <p:stCondLst>
                                    <p:cond delay="0"/>
                                  </p:stCondLst>
                                  <p:childTnLst>
                                    <p:set>
                                      <p:cBhvr>
                                        <p:cTn id="12" dur="1" fill="hold">
                                          <p:stCondLst>
                                            <p:cond delay="0"/>
                                          </p:stCondLst>
                                        </p:cTn>
                                        <p:tgtEl>
                                          <p:spTgt spid="418819">
                                            <p:txEl>
                                              <p:pRg st="3" end="3"/>
                                            </p:txEl>
                                          </p:spTgt>
                                        </p:tgtEl>
                                        <p:attrNameLst>
                                          <p:attrName>style.visibility</p:attrName>
                                        </p:attrNameLst>
                                      </p:cBhvr>
                                      <p:to>
                                        <p:strVal val="visible"/>
                                      </p:to>
                                    </p:set>
                                    <p:animEffect transition="in" filter="wipe(left)">
                                      <p:cBhvr>
                                        <p:cTn id="13" dur="500"/>
                                        <p:tgtEl>
                                          <p:spTgt spid="418819">
                                            <p:txEl>
                                              <p:pRg st="3" end="3"/>
                                            </p:txEl>
                                          </p:spTgt>
                                        </p:tgtEl>
                                      </p:cBhvr>
                                    </p:animEffect>
                                  </p:childTnLst>
                                  <p:subTnLst>
                                    <p:animClr clrSpc="rgb" dir="cw">
                                      <p:cBhvr override="childStyle">
                                        <p:cTn dur="1" fill="hold" display="0" masterRel="nextClick" afterEffect="1"/>
                                        <p:tgtEl>
                                          <p:spTgt spid="418819">
                                            <p:txEl>
                                              <p:pRg st="3" end="3"/>
                                            </p:txEl>
                                          </p:spTgt>
                                        </p:tgtEl>
                                        <p:attrNameLst>
                                          <p:attrName>ppt_c</p:attrName>
                                        </p:attrNameLst>
                                      </p:cBhvr>
                                      <p:to>
                                        <a:schemeClr val="folHlink"/>
                                      </p:to>
                                    </p:animClr>
                                  </p:sub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418820"/>
                                        </p:tgtEl>
                                        <p:attrNameLst>
                                          <p:attrName>style.visibility</p:attrName>
                                        </p:attrNameLst>
                                      </p:cBhvr>
                                      <p:to>
                                        <p:strVal val="visible"/>
                                      </p:to>
                                    </p:set>
                                    <p:animEffect transition="in" filter="blinds(horizontal)">
                                      <p:cBhvr>
                                        <p:cTn id="18" dur="500"/>
                                        <p:tgtEl>
                                          <p:spTgt spid="418820"/>
                                        </p:tgtEl>
                                      </p:cBhvr>
                                    </p:animEffect>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418821"/>
                                        </p:tgtEl>
                                        <p:attrNameLst>
                                          <p:attrName>style.visibility</p:attrName>
                                        </p:attrNameLst>
                                      </p:cBhvr>
                                      <p:to>
                                        <p:strVal val="visible"/>
                                      </p:to>
                                    </p:set>
                                    <p:animEffect transition="in" filter="wipe(left)">
                                      <p:cBhvr>
                                        <p:cTn id="22" dur="500"/>
                                        <p:tgtEl>
                                          <p:spTgt spid="4188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8819" grpId="0" build="p" autoUpdateAnimBg="0"/>
      <p:bldP spid="418820" grpId="0"/>
      <p:bldP spid="418821"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4" name="Rectangle 2"/>
          <p:cNvSpPr>
            <a:spLocks noGrp="1" noChangeArrowheads="1"/>
          </p:cNvSpPr>
          <p:nvPr>
            <p:ph type="title"/>
          </p:nvPr>
        </p:nvSpPr>
        <p:spPr>
          <a:xfrm>
            <a:off x="1115616" y="151363"/>
            <a:ext cx="7132483" cy="1066800"/>
          </a:xfrm>
        </p:spPr>
        <p:txBody>
          <a:bodyPr/>
          <a:lstStyle/>
          <a:p>
            <a:pPr eaLnBrk="1" hangingPunct="1"/>
            <a:r>
              <a:rPr lang="en-US" altLang="zh-CN" sz="3600" dirty="0" smtClean="0">
                <a:latin typeface="黑体" panose="02010609060101010101" pitchFamily="49" charset="-122"/>
                <a:ea typeface="黑体" panose="02010609060101010101" pitchFamily="49" charset="-122"/>
              </a:rPr>
              <a:t>1.</a:t>
            </a:r>
            <a:r>
              <a:rPr lang="zh-CN" altLang="en-US" sz="3600" dirty="0" smtClean="0">
                <a:latin typeface="黑体" panose="02010609060101010101" pitchFamily="49" charset="-122"/>
                <a:ea typeface="黑体" panose="02010609060101010101" pitchFamily="49" charset="-122"/>
              </a:rPr>
              <a:t>计算</a:t>
            </a:r>
            <a:r>
              <a:rPr lang="zh-CN" altLang="en-US" sz="3600" dirty="0">
                <a:latin typeface="黑体" panose="02010609060101010101" pitchFamily="49" charset="-122"/>
                <a:ea typeface="黑体" panose="02010609060101010101" pitchFamily="49" charset="-122"/>
              </a:rPr>
              <a:t>平均</a:t>
            </a:r>
            <a:r>
              <a:rPr lang="zh-CN" altLang="en-US" sz="3600" dirty="0" smtClean="0">
                <a:latin typeface="黑体" panose="02010609060101010101" pitchFamily="49" charset="-122"/>
                <a:ea typeface="黑体" panose="02010609060101010101" pitchFamily="49" charset="-122"/>
              </a:rPr>
              <a:t>发展速度</a:t>
            </a:r>
            <a:r>
              <a:rPr lang="zh-CN" altLang="en-US" sz="3600" dirty="0" smtClean="0">
                <a:latin typeface="黑体" panose="02010609060101010101" pitchFamily="49" charset="-122"/>
                <a:ea typeface="黑体" panose="02010609060101010101" pitchFamily="49" charset="-122"/>
              </a:rPr>
              <a:t>的几何平均法</a:t>
            </a:r>
            <a:endParaRPr lang="zh-CN" altLang="en-US" sz="3600" dirty="0" smtClean="0">
              <a:latin typeface="黑体" panose="02010609060101010101" pitchFamily="49" charset="-122"/>
              <a:ea typeface="黑体" panose="02010609060101010101" pitchFamily="49" charset="-122"/>
            </a:endParaRPr>
          </a:p>
        </p:txBody>
      </p:sp>
      <p:sp>
        <p:nvSpPr>
          <p:cNvPr id="22535" name="Rectangle 3"/>
          <p:cNvSpPr>
            <a:spLocks noChangeArrowheads="1"/>
          </p:cNvSpPr>
          <p:nvPr/>
        </p:nvSpPr>
        <p:spPr bwMode="auto">
          <a:xfrm>
            <a:off x="539552" y="1124744"/>
            <a:ext cx="8153400" cy="1631216"/>
          </a:xfrm>
          <a:prstGeom prst="rect">
            <a:avLst/>
          </a:prstGeom>
          <a:noFill/>
          <a:ln w="9525">
            <a:noFill/>
            <a:miter lim="800000"/>
            <a:headEnd/>
            <a:tailEnd/>
          </a:ln>
        </p:spPr>
        <p:txBody>
          <a:bodyPr>
            <a:spAutoFit/>
          </a:bodyPr>
          <a:lstStyle/>
          <a:p>
            <a:pPr marL="457200" indent="-457200">
              <a:spcBef>
                <a:spcPct val="50000"/>
              </a:spcBef>
            </a:pPr>
            <a:r>
              <a:rPr kumimoji="1" lang="zh-CN" altLang="en-US" sz="3000" b="1" dirty="0">
                <a:solidFill>
                  <a:srgbClr val="000000"/>
                </a:solidFill>
              </a:rPr>
              <a:t>以</a:t>
            </a:r>
            <a:r>
              <a:rPr kumimoji="1" lang="zh-CN" altLang="en-US" sz="3000" b="1" dirty="0">
                <a:solidFill>
                  <a:srgbClr val="3333FF"/>
                </a:solidFill>
              </a:rPr>
              <a:t> </a:t>
            </a:r>
            <a:r>
              <a:rPr kumimoji="1" lang="en-US" altLang="zh-CN" sz="4000" b="1" i="1" dirty="0">
                <a:solidFill>
                  <a:srgbClr val="3333FF"/>
                </a:solidFill>
                <a:latin typeface="Times New Roman" pitchFamily="18" charset="0"/>
              </a:rPr>
              <a:t>x</a:t>
            </a:r>
            <a:r>
              <a:rPr kumimoji="1" lang="en-US" altLang="zh-CN" sz="2800" b="1" i="1" baseline="-25000" dirty="0">
                <a:solidFill>
                  <a:srgbClr val="3333FF"/>
                </a:solidFill>
                <a:latin typeface="Times New Roman" pitchFamily="18" charset="0"/>
              </a:rPr>
              <a:t>i </a:t>
            </a:r>
            <a:r>
              <a:rPr kumimoji="1" lang="zh-CN" altLang="en-US" sz="3200" b="1" dirty="0">
                <a:solidFill>
                  <a:srgbClr val="000000"/>
                </a:solidFill>
              </a:rPr>
              <a:t>表示</a:t>
            </a:r>
            <a:r>
              <a:rPr kumimoji="1" lang="zh-CN" altLang="en-US" sz="3000" b="1" dirty="0">
                <a:solidFill>
                  <a:srgbClr val="000000"/>
                </a:solidFill>
              </a:rPr>
              <a:t>环比发展速度，根据环比发展速度与总速度的关系，计算平均发展速度应该采用几何平均法：</a:t>
            </a:r>
          </a:p>
        </p:txBody>
      </p:sp>
      <p:graphicFrame>
        <p:nvGraphicFramePr>
          <p:cNvPr id="420868" name="Object 4"/>
          <p:cNvGraphicFramePr>
            <a:graphicFrameLocks noChangeAspect="1"/>
          </p:cNvGraphicFramePr>
          <p:nvPr>
            <p:extLst>
              <p:ext uri="{D42A27DB-BD31-4B8C-83A1-F6EECF244321}">
                <p14:modId xmlns:p14="http://schemas.microsoft.com/office/powerpoint/2010/main" val="1198180398"/>
              </p:ext>
            </p:extLst>
          </p:nvPr>
        </p:nvGraphicFramePr>
        <p:xfrm>
          <a:off x="3491880" y="2348880"/>
          <a:ext cx="4419600" cy="1002854"/>
        </p:xfrm>
        <a:graphic>
          <a:graphicData uri="http://schemas.openxmlformats.org/presentationml/2006/ole">
            <mc:AlternateContent xmlns:mc="http://schemas.openxmlformats.org/markup-compatibility/2006">
              <mc:Choice xmlns:v="urn:schemas-microsoft-com:vml" Requires="v">
                <p:oleObj spid="_x0000_s23061" name="Equation" r:id="rId4" imgW="1371600" imgH="266400" progId="Equation.3">
                  <p:embed/>
                </p:oleObj>
              </mc:Choice>
              <mc:Fallback>
                <p:oleObj name="Equation" r:id="rId4" imgW="1371600" imgH="2664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1880" y="2348880"/>
                        <a:ext cx="4419600" cy="1002854"/>
                      </a:xfrm>
                      <a:prstGeom prst="rect">
                        <a:avLst/>
                      </a:prstGeom>
                      <a:solidFill>
                        <a:schemeClr val="accent1">
                          <a:lumMod val="40000"/>
                          <a:lumOff val="60000"/>
                        </a:schemeClr>
                      </a:solidFill>
                    </p:spPr>
                  </p:pic>
                </p:oleObj>
              </mc:Fallback>
            </mc:AlternateContent>
          </a:graphicData>
        </a:graphic>
      </p:graphicFrame>
      <p:graphicFrame>
        <p:nvGraphicFramePr>
          <p:cNvPr id="420869" name="Object 5"/>
          <p:cNvGraphicFramePr>
            <a:graphicFrameLocks noChangeAspect="1"/>
          </p:cNvGraphicFramePr>
          <p:nvPr>
            <p:extLst>
              <p:ext uri="{D42A27DB-BD31-4B8C-83A1-F6EECF244321}">
                <p14:modId xmlns:p14="http://schemas.microsoft.com/office/powerpoint/2010/main" val="2987713590"/>
              </p:ext>
            </p:extLst>
          </p:nvPr>
        </p:nvGraphicFramePr>
        <p:xfrm>
          <a:off x="3851920" y="3454462"/>
          <a:ext cx="3429819" cy="838138"/>
        </p:xfrm>
        <a:graphic>
          <a:graphicData uri="http://schemas.openxmlformats.org/presentationml/2006/ole">
            <mc:AlternateContent xmlns:mc="http://schemas.openxmlformats.org/markup-compatibility/2006">
              <mc:Choice xmlns:v="urn:schemas-microsoft-com:vml" Requires="v">
                <p:oleObj spid="_x0000_s23062" name="Equation" r:id="rId6" imgW="1041120" imgH="266400" progId="Equation.DSMT4">
                  <p:embed/>
                </p:oleObj>
              </mc:Choice>
              <mc:Fallback>
                <p:oleObj name="Equation" r:id="rId6" imgW="1041120" imgH="26640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51920" y="3454462"/>
                        <a:ext cx="3429819" cy="838138"/>
                      </a:xfrm>
                      <a:prstGeom prst="rect">
                        <a:avLst/>
                      </a:prstGeom>
                      <a:solidFill>
                        <a:schemeClr val="accent1">
                          <a:lumMod val="40000"/>
                          <a:lumOff val="60000"/>
                        </a:schemeClr>
                      </a:solidFill>
                    </p:spPr>
                  </p:pic>
                </p:oleObj>
              </mc:Fallback>
            </mc:AlternateContent>
          </a:graphicData>
        </a:graphic>
      </p:graphicFrame>
      <p:sp>
        <p:nvSpPr>
          <p:cNvPr id="420870" name="Text Box 6"/>
          <p:cNvSpPr txBox="1">
            <a:spLocks noChangeArrowheads="1"/>
          </p:cNvSpPr>
          <p:nvPr/>
        </p:nvSpPr>
        <p:spPr bwMode="auto">
          <a:xfrm>
            <a:off x="683568" y="5877272"/>
            <a:ext cx="6397625" cy="457200"/>
          </a:xfrm>
          <a:prstGeom prst="rect">
            <a:avLst/>
          </a:prstGeom>
          <a:noFill/>
          <a:ln w="9525">
            <a:noFill/>
            <a:miter lim="800000"/>
            <a:headEnd/>
            <a:tailEnd/>
          </a:ln>
        </p:spPr>
        <p:txBody>
          <a:bodyPr>
            <a:spAutoFit/>
          </a:bodyPr>
          <a:lstStyle/>
          <a:p>
            <a:pPr eaLnBrk="0" hangingPunct="0">
              <a:spcBef>
                <a:spcPct val="50000"/>
              </a:spcBef>
            </a:pPr>
            <a:r>
              <a:rPr kumimoji="1" lang="zh-CN" altLang="en-US" sz="2400" b="1" dirty="0"/>
              <a:t>同一种方法，资料不同，有三种计算形式</a:t>
            </a:r>
          </a:p>
        </p:txBody>
      </p:sp>
      <p:sp>
        <p:nvSpPr>
          <p:cNvPr id="420871" name="Text Box 7"/>
          <p:cNvSpPr txBox="1">
            <a:spLocks noChangeArrowheads="1"/>
          </p:cNvSpPr>
          <p:nvPr/>
        </p:nvSpPr>
        <p:spPr bwMode="auto">
          <a:xfrm>
            <a:off x="178059" y="3974619"/>
            <a:ext cx="3384624" cy="1015663"/>
          </a:xfrm>
          <a:prstGeom prst="rect">
            <a:avLst/>
          </a:prstGeom>
          <a:noFill/>
          <a:ln w="28575">
            <a:solidFill>
              <a:schemeClr val="accent4">
                <a:lumMod val="20000"/>
                <a:lumOff val="80000"/>
              </a:schemeClr>
            </a:solidFill>
            <a:miter lim="800000"/>
            <a:headEnd/>
            <a:tailEnd/>
          </a:ln>
        </p:spPr>
        <p:txBody>
          <a:bodyPr wrap="square">
            <a:spAutoFit/>
          </a:bodyPr>
          <a:lstStyle/>
          <a:p>
            <a:pPr algn="just" eaLnBrk="0" hangingPunct="0">
              <a:spcBef>
                <a:spcPct val="50000"/>
              </a:spcBef>
            </a:pPr>
            <a:r>
              <a:rPr kumimoji="1" lang="en-US" altLang="zh-CN" sz="2400" b="1" i="1" dirty="0" smtClean="0">
                <a:solidFill>
                  <a:srgbClr val="FF00FF"/>
                </a:solidFill>
                <a:latin typeface="Times New Roman" pitchFamily="18" charset="0"/>
                <a:cs typeface="Times New Roman" pitchFamily="18" charset="0"/>
              </a:rPr>
              <a:t>n</a:t>
            </a:r>
            <a:r>
              <a:rPr kumimoji="1" lang="en-US" altLang="zh-CN" sz="2400" b="1" i="1" dirty="0" smtClean="0">
                <a:solidFill>
                  <a:srgbClr val="000000"/>
                </a:solidFill>
                <a:latin typeface="Times New Roman" pitchFamily="18" charset="0"/>
                <a:cs typeface="Times New Roman" pitchFamily="18" charset="0"/>
              </a:rPr>
              <a:t>=</a:t>
            </a:r>
            <a:r>
              <a:rPr kumimoji="1" lang="zh-CN" altLang="en-US" sz="2400" b="1" dirty="0" smtClean="0">
                <a:solidFill>
                  <a:srgbClr val="000000"/>
                </a:solidFill>
                <a:latin typeface="Times New Roman" pitchFamily="18" charset="0"/>
              </a:rPr>
              <a:t>环</a:t>
            </a:r>
            <a:r>
              <a:rPr kumimoji="1" lang="zh-CN" altLang="en-US" sz="2400" b="1" dirty="0">
                <a:solidFill>
                  <a:srgbClr val="000000"/>
                </a:solidFill>
                <a:latin typeface="Times New Roman" pitchFamily="18" charset="0"/>
              </a:rPr>
              <a:t>比发展速度的个数</a:t>
            </a:r>
          </a:p>
          <a:p>
            <a:pPr algn="just" eaLnBrk="0" hangingPunct="0">
              <a:spcBef>
                <a:spcPct val="50000"/>
              </a:spcBef>
            </a:pPr>
            <a:r>
              <a:rPr kumimoji="1" lang="zh-CN" altLang="en-US" sz="2400" b="1" dirty="0" smtClean="0">
                <a:solidFill>
                  <a:srgbClr val="000000"/>
                </a:solidFill>
                <a:latin typeface="Times New Roman" pitchFamily="18" charset="0"/>
              </a:rPr>
              <a:t>  </a:t>
            </a:r>
            <a:r>
              <a:rPr kumimoji="1" lang="en-US" altLang="zh-CN" sz="2200" b="1" dirty="0" smtClean="0">
                <a:solidFill>
                  <a:srgbClr val="000000"/>
                </a:solidFill>
                <a:latin typeface="Times New Roman" pitchFamily="18" charset="0"/>
              </a:rPr>
              <a:t>=</a:t>
            </a:r>
            <a:r>
              <a:rPr kumimoji="1" lang="zh-CN" altLang="en-US" sz="2200" b="1" dirty="0" smtClean="0">
                <a:solidFill>
                  <a:srgbClr val="000000"/>
                </a:solidFill>
                <a:latin typeface="Times New Roman" pitchFamily="18" charset="0"/>
              </a:rPr>
              <a:t>数列</a:t>
            </a:r>
            <a:r>
              <a:rPr kumimoji="1" lang="zh-CN" altLang="en-US" sz="2200" b="1" dirty="0">
                <a:solidFill>
                  <a:srgbClr val="000000"/>
                </a:solidFill>
                <a:latin typeface="Times New Roman" pitchFamily="18" charset="0"/>
              </a:rPr>
              <a:t>发展水平项数－１</a:t>
            </a:r>
          </a:p>
        </p:txBody>
      </p:sp>
      <p:graphicFrame>
        <p:nvGraphicFramePr>
          <p:cNvPr id="420872" name="Object 8"/>
          <p:cNvGraphicFramePr>
            <a:graphicFrameLocks noChangeAspect="1"/>
          </p:cNvGraphicFramePr>
          <p:nvPr>
            <p:extLst>
              <p:ext uri="{D42A27DB-BD31-4B8C-83A1-F6EECF244321}">
                <p14:modId xmlns:p14="http://schemas.microsoft.com/office/powerpoint/2010/main" val="3125825173"/>
              </p:ext>
            </p:extLst>
          </p:nvPr>
        </p:nvGraphicFramePr>
        <p:xfrm>
          <a:off x="3779912" y="4509120"/>
          <a:ext cx="3312368" cy="1301950"/>
        </p:xfrm>
        <a:graphic>
          <a:graphicData uri="http://schemas.openxmlformats.org/presentationml/2006/ole">
            <mc:AlternateContent xmlns:mc="http://schemas.openxmlformats.org/markup-compatibility/2006">
              <mc:Choice xmlns:v="urn:schemas-microsoft-com:vml" Requires="v">
                <p:oleObj spid="_x0000_s23063" name="Equation" r:id="rId8" imgW="914400" imgH="457200" progId="Equation.DSMT4">
                  <p:embed/>
                </p:oleObj>
              </mc:Choice>
              <mc:Fallback>
                <p:oleObj name="Equation" r:id="rId8" imgW="914400" imgH="457200" progId="Equation.DSMT4">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79912" y="4509120"/>
                        <a:ext cx="3312368" cy="1301950"/>
                      </a:xfrm>
                      <a:prstGeom prst="rect">
                        <a:avLst/>
                      </a:prstGeom>
                      <a:solidFill>
                        <a:schemeClr val="accent1">
                          <a:lumMod val="40000"/>
                          <a:lumOff val="60000"/>
                        </a:schemeClr>
                      </a:solidFill>
                    </p:spPr>
                  </p:pic>
                </p:oleObj>
              </mc:Fallback>
            </mc:AlternateContent>
          </a:graphicData>
        </a:graphic>
      </p:graphicFrame>
      <p:sp>
        <p:nvSpPr>
          <p:cNvPr id="22538" name="日期占位符 9"/>
          <p:cNvSpPr>
            <a:spLocks noGrp="1"/>
          </p:cNvSpPr>
          <p:nvPr>
            <p:ph type="dt" sz="quarter" idx="10"/>
          </p:nvPr>
        </p:nvSpPr>
        <p:spPr>
          <a:noFill/>
        </p:spPr>
        <p:txBody>
          <a:bodyPr/>
          <a:lstStyle/>
          <a:p>
            <a:endParaRPr lang="en-US" altLang="zh-CN" smtClean="0"/>
          </a:p>
        </p:txBody>
      </p:sp>
      <p:graphicFrame>
        <p:nvGraphicFramePr>
          <p:cNvPr id="12" name="Object 4"/>
          <p:cNvGraphicFramePr>
            <a:graphicFrameLocks noChangeAspect="1"/>
          </p:cNvGraphicFramePr>
          <p:nvPr>
            <p:extLst>
              <p:ext uri="{D42A27DB-BD31-4B8C-83A1-F6EECF244321}">
                <p14:modId xmlns:p14="http://schemas.microsoft.com/office/powerpoint/2010/main" val="57097408"/>
              </p:ext>
            </p:extLst>
          </p:nvPr>
        </p:nvGraphicFramePr>
        <p:xfrm>
          <a:off x="7308304" y="3429000"/>
          <a:ext cx="1170843" cy="864096"/>
        </p:xfrm>
        <a:graphic>
          <a:graphicData uri="http://schemas.openxmlformats.org/presentationml/2006/ole">
            <mc:AlternateContent xmlns:mc="http://schemas.openxmlformats.org/markup-compatibility/2006">
              <mc:Choice xmlns:v="urn:schemas-microsoft-com:vml" Requires="v">
                <p:oleObj spid="_x0000_s23064" name="公式" r:id="rId10" imgW="393480" imgH="215640" progId="Equation.3">
                  <p:embed/>
                </p:oleObj>
              </mc:Choice>
              <mc:Fallback>
                <p:oleObj name="公式" r:id="rId10" imgW="393480" imgH="215640" progId="Equation.3">
                  <p:embed/>
                  <p:pic>
                    <p:nvPicPr>
                      <p:cNvPr id="0" name="Picture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308304" y="3429000"/>
                        <a:ext cx="1170843" cy="864096"/>
                      </a:xfrm>
                      <a:prstGeom prst="rect">
                        <a:avLst/>
                      </a:prstGeom>
                      <a:solidFill>
                        <a:schemeClr val="accent1">
                          <a:lumMod val="40000"/>
                          <a:lumOff val="60000"/>
                        </a:schemeClr>
                      </a:solidFill>
                    </p:spPr>
                  </p:pic>
                </p:oleObj>
              </mc:Fallback>
            </mc:AlternateContent>
          </a:graphicData>
        </a:graphic>
      </p:graphicFrame>
      <p:graphicFrame>
        <p:nvGraphicFramePr>
          <p:cNvPr id="13" name="Object 4"/>
          <p:cNvGraphicFramePr>
            <a:graphicFrameLocks noChangeAspect="1"/>
          </p:cNvGraphicFramePr>
          <p:nvPr>
            <p:extLst>
              <p:ext uri="{D42A27DB-BD31-4B8C-83A1-F6EECF244321}">
                <p14:modId xmlns:p14="http://schemas.microsoft.com/office/powerpoint/2010/main" val="2209401807"/>
              </p:ext>
            </p:extLst>
          </p:nvPr>
        </p:nvGraphicFramePr>
        <p:xfrm>
          <a:off x="7131248" y="4437063"/>
          <a:ext cx="1473200" cy="1457325"/>
        </p:xfrm>
        <a:graphic>
          <a:graphicData uri="http://schemas.openxmlformats.org/presentationml/2006/ole">
            <mc:AlternateContent xmlns:mc="http://schemas.openxmlformats.org/markup-compatibility/2006">
              <mc:Choice xmlns:v="urn:schemas-microsoft-com:vml" Requires="v">
                <p:oleObj spid="_x0000_s23065" name="公式" r:id="rId12" imgW="457200" imgH="482400" progId="Equation.3">
                  <p:embed/>
                </p:oleObj>
              </mc:Choice>
              <mc:Fallback>
                <p:oleObj name="公式" r:id="rId12" imgW="457200" imgH="482400" progId="Equation.3">
                  <p:embed/>
                  <p:pic>
                    <p:nvPicPr>
                      <p:cNvPr id="0" name="Picture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131248" y="4437063"/>
                        <a:ext cx="1473200" cy="1457325"/>
                      </a:xfrm>
                      <a:prstGeom prst="rect">
                        <a:avLst/>
                      </a:prstGeom>
                      <a:solidFill>
                        <a:schemeClr val="accent1">
                          <a:lumMod val="40000"/>
                          <a:lumOff val="60000"/>
                        </a:schemeClr>
                      </a:solid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20868"/>
                                        </p:tgtEl>
                                        <p:attrNameLst>
                                          <p:attrName>style.visibility</p:attrName>
                                        </p:attrNameLst>
                                      </p:cBhvr>
                                      <p:to>
                                        <p:strVal val="visible"/>
                                      </p:to>
                                    </p:set>
                                    <p:anim calcmode="lin" valueType="num">
                                      <p:cBhvr additive="base">
                                        <p:cTn id="7" dur="500" fill="hold"/>
                                        <p:tgtEl>
                                          <p:spTgt spid="420868"/>
                                        </p:tgtEl>
                                        <p:attrNameLst>
                                          <p:attrName>ppt_x</p:attrName>
                                        </p:attrNameLst>
                                      </p:cBhvr>
                                      <p:tavLst>
                                        <p:tav tm="0">
                                          <p:val>
                                            <p:strVal val="0-#ppt_w/2"/>
                                          </p:val>
                                        </p:tav>
                                        <p:tav tm="100000">
                                          <p:val>
                                            <p:strVal val="#ppt_x"/>
                                          </p:val>
                                        </p:tav>
                                      </p:tavLst>
                                    </p:anim>
                                    <p:anim calcmode="lin" valueType="num">
                                      <p:cBhvr additive="base">
                                        <p:cTn id="8" dur="500" fill="hold"/>
                                        <p:tgtEl>
                                          <p:spTgt spid="42086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20869"/>
                                        </p:tgtEl>
                                        <p:attrNameLst>
                                          <p:attrName>style.visibility</p:attrName>
                                        </p:attrNameLst>
                                      </p:cBhvr>
                                      <p:to>
                                        <p:strVal val="visible"/>
                                      </p:to>
                                    </p:set>
                                    <p:anim calcmode="lin" valueType="num">
                                      <p:cBhvr additive="base">
                                        <p:cTn id="13" dur="500" fill="hold"/>
                                        <p:tgtEl>
                                          <p:spTgt spid="420869"/>
                                        </p:tgtEl>
                                        <p:attrNameLst>
                                          <p:attrName>ppt_x</p:attrName>
                                        </p:attrNameLst>
                                      </p:cBhvr>
                                      <p:tavLst>
                                        <p:tav tm="0">
                                          <p:val>
                                            <p:strVal val="0-#ppt_w/2"/>
                                          </p:val>
                                        </p:tav>
                                        <p:tav tm="100000">
                                          <p:val>
                                            <p:strVal val="#ppt_x"/>
                                          </p:val>
                                        </p:tav>
                                      </p:tavLst>
                                    </p:anim>
                                    <p:anim calcmode="lin" valueType="num">
                                      <p:cBhvr additive="base">
                                        <p:cTn id="14" dur="500" fill="hold"/>
                                        <p:tgtEl>
                                          <p:spTgt spid="420869"/>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22" presetClass="entr" presetSubtype="8" fill="hold" nodeType="after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left)">
                                      <p:cBhvr>
                                        <p:cTn id="18" dur="10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420872"/>
                                        </p:tgtEl>
                                        <p:attrNameLst>
                                          <p:attrName>style.visibility</p:attrName>
                                        </p:attrNameLst>
                                      </p:cBhvr>
                                      <p:to>
                                        <p:strVal val="visible"/>
                                      </p:to>
                                    </p:set>
                                    <p:anim calcmode="lin" valueType="num">
                                      <p:cBhvr additive="base">
                                        <p:cTn id="23" dur="500" fill="hold"/>
                                        <p:tgtEl>
                                          <p:spTgt spid="420872"/>
                                        </p:tgtEl>
                                        <p:attrNameLst>
                                          <p:attrName>ppt_x</p:attrName>
                                        </p:attrNameLst>
                                      </p:cBhvr>
                                      <p:tavLst>
                                        <p:tav tm="0">
                                          <p:val>
                                            <p:strVal val="0-#ppt_w/2"/>
                                          </p:val>
                                        </p:tav>
                                        <p:tav tm="100000">
                                          <p:val>
                                            <p:strVal val="#ppt_x"/>
                                          </p:val>
                                        </p:tav>
                                      </p:tavLst>
                                    </p:anim>
                                    <p:anim calcmode="lin" valueType="num">
                                      <p:cBhvr additive="base">
                                        <p:cTn id="24" dur="500" fill="hold"/>
                                        <p:tgtEl>
                                          <p:spTgt spid="420872"/>
                                        </p:tgtEl>
                                        <p:attrNameLst>
                                          <p:attrName>ppt_y</p:attrName>
                                        </p:attrNameLst>
                                      </p:cBhvr>
                                      <p:tavLst>
                                        <p:tav tm="0">
                                          <p:val>
                                            <p:strVal val="#ppt_y"/>
                                          </p:val>
                                        </p:tav>
                                        <p:tav tm="100000">
                                          <p:val>
                                            <p:strVal val="#ppt_y"/>
                                          </p:val>
                                        </p:tav>
                                      </p:tavLst>
                                    </p:anim>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ipe(left)">
                                      <p:cBhvr>
                                        <p:cTn id="28" dur="100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420871"/>
                                        </p:tgtEl>
                                        <p:attrNameLst>
                                          <p:attrName>style.visibility</p:attrName>
                                        </p:attrNameLst>
                                      </p:cBhvr>
                                      <p:to>
                                        <p:strVal val="visible"/>
                                      </p:to>
                                    </p:set>
                                    <p:anim calcmode="lin" valueType="num">
                                      <p:cBhvr additive="base">
                                        <p:cTn id="33" dur="500" fill="hold"/>
                                        <p:tgtEl>
                                          <p:spTgt spid="420871"/>
                                        </p:tgtEl>
                                        <p:attrNameLst>
                                          <p:attrName>ppt_x</p:attrName>
                                        </p:attrNameLst>
                                      </p:cBhvr>
                                      <p:tavLst>
                                        <p:tav tm="0">
                                          <p:val>
                                            <p:strVal val="0-#ppt_w/2"/>
                                          </p:val>
                                        </p:tav>
                                        <p:tav tm="100000">
                                          <p:val>
                                            <p:strVal val="#ppt_x"/>
                                          </p:val>
                                        </p:tav>
                                      </p:tavLst>
                                    </p:anim>
                                    <p:anim calcmode="lin" valueType="num">
                                      <p:cBhvr additive="base">
                                        <p:cTn id="34" dur="500" fill="hold"/>
                                        <p:tgtEl>
                                          <p:spTgt spid="420871"/>
                                        </p:tgtEl>
                                        <p:attrNameLst>
                                          <p:attrName>ppt_y</p:attrName>
                                        </p:attrNameLst>
                                      </p:cBhvr>
                                      <p:tavLst>
                                        <p:tav tm="0">
                                          <p:val>
                                            <p:strVal val="#ppt_y"/>
                                          </p:val>
                                        </p:tav>
                                        <p:tav tm="100000">
                                          <p:val>
                                            <p:strVal val="#ppt_y"/>
                                          </p:val>
                                        </p:tav>
                                      </p:tavLst>
                                    </p:anim>
                                  </p:childTnLst>
                                </p:cTn>
                              </p:par>
                            </p:childTnLst>
                          </p:cTn>
                        </p:par>
                        <p:par>
                          <p:cTn id="35" fill="hold">
                            <p:stCondLst>
                              <p:cond delay="500"/>
                            </p:stCondLst>
                            <p:childTnLst>
                              <p:par>
                                <p:cTn id="36" presetID="27" presetClass="entr" presetSubtype="0" fill="hold" grpId="0" nodeType="afterEffect">
                                  <p:stCondLst>
                                    <p:cond delay="0"/>
                                  </p:stCondLst>
                                  <p:iterate type="lt">
                                    <p:tmPct val="50000"/>
                                  </p:iterate>
                                  <p:childTnLst>
                                    <p:set>
                                      <p:cBhvr>
                                        <p:cTn id="37" dur="1" fill="hold">
                                          <p:stCondLst>
                                            <p:cond delay="0"/>
                                          </p:stCondLst>
                                        </p:cTn>
                                        <p:tgtEl>
                                          <p:spTgt spid="420870"/>
                                        </p:tgtEl>
                                        <p:attrNameLst>
                                          <p:attrName>style.visibility</p:attrName>
                                        </p:attrNameLst>
                                      </p:cBhvr>
                                      <p:to>
                                        <p:strVal val="visible"/>
                                      </p:to>
                                    </p:set>
                                    <p:anim calcmode="discrete" valueType="clr">
                                      <p:cBhvr override="childStyle">
                                        <p:cTn id="38" dur="500"/>
                                        <p:tgtEl>
                                          <p:spTgt spid="420870"/>
                                        </p:tgtEl>
                                        <p:attrNameLst>
                                          <p:attrName>style.color</p:attrName>
                                        </p:attrNameLst>
                                      </p:cBhvr>
                                      <p:tavLst>
                                        <p:tav tm="0">
                                          <p:val>
                                            <p:clrVal>
                                              <a:srgbClr val="FF00FF"/>
                                            </p:clrVal>
                                          </p:val>
                                        </p:tav>
                                        <p:tav tm="50000">
                                          <p:val>
                                            <p:clrVal>
                                              <a:schemeClr val="hlink"/>
                                            </p:clrVal>
                                          </p:val>
                                        </p:tav>
                                      </p:tavLst>
                                    </p:anim>
                                    <p:anim calcmode="discrete" valueType="clr">
                                      <p:cBhvr>
                                        <p:cTn id="39" dur="500"/>
                                        <p:tgtEl>
                                          <p:spTgt spid="420870"/>
                                        </p:tgtEl>
                                        <p:attrNameLst>
                                          <p:attrName>fillcolor</p:attrName>
                                        </p:attrNameLst>
                                      </p:cBhvr>
                                      <p:tavLst>
                                        <p:tav tm="0">
                                          <p:val>
                                            <p:clrVal>
                                              <a:schemeClr val="accent2"/>
                                            </p:clrVal>
                                          </p:val>
                                        </p:tav>
                                        <p:tav tm="50000">
                                          <p:val>
                                            <p:clrVal>
                                              <a:schemeClr val="hlink"/>
                                            </p:clrVal>
                                          </p:val>
                                        </p:tav>
                                      </p:tavLst>
                                    </p:anim>
                                    <p:set>
                                      <p:cBhvr>
                                        <p:cTn id="40" dur="500"/>
                                        <p:tgtEl>
                                          <p:spTgt spid="420870"/>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870" grpId="0"/>
      <p:bldP spid="420871" grpId="0" animBg="1"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8" name="Rectangle 2"/>
          <p:cNvSpPr>
            <a:spLocks noGrp="1" noChangeArrowheads="1"/>
          </p:cNvSpPr>
          <p:nvPr>
            <p:ph type="title"/>
          </p:nvPr>
        </p:nvSpPr>
        <p:spPr>
          <a:xfrm>
            <a:off x="10142" y="-289175"/>
            <a:ext cx="7772400" cy="990600"/>
          </a:xfrm>
        </p:spPr>
        <p:txBody>
          <a:bodyPr/>
          <a:lstStyle/>
          <a:p>
            <a:pPr eaLnBrk="1" hangingPunct="1"/>
            <a:r>
              <a:rPr lang="en-US" altLang="zh-CN" sz="4000" dirty="0" smtClean="0"/>
              <a:t>【</a:t>
            </a:r>
            <a:r>
              <a:rPr lang="zh-CN" altLang="en-US" sz="4000" dirty="0" smtClean="0"/>
              <a:t>平均速度</a:t>
            </a:r>
            <a:r>
              <a:rPr lang="en-US" altLang="zh-CN" sz="4000" dirty="0" smtClean="0"/>
              <a:t>——</a:t>
            </a:r>
            <a:r>
              <a:rPr lang="zh-CN" altLang="en-US" sz="4000" dirty="0" smtClean="0"/>
              <a:t>例</a:t>
            </a:r>
            <a:r>
              <a:rPr lang="en-US" altLang="zh-CN" sz="4000" dirty="0" smtClean="0"/>
              <a:t>】</a:t>
            </a:r>
          </a:p>
        </p:txBody>
      </p:sp>
      <p:sp>
        <p:nvSpPr>
          <p:cNvPr id="23559" name="Rectangle 3"/>
          <p:cNvSpPr>
            <a:spLocks noGrp="1" noChangeArrowheads="1"/>
          </p:cNvSpPr>
          <p:nvPr>
            <p:ph type="body" idx="1"/>
          </p:nvPr>
        </p:nvSpPr>
        <p:spPr>
          <a:xfrm>
            <a:off x="665163" y="948162"/>
            <a:ext cx="7272809" cy="907056"/>
          </a:xfrm>
        </p:spPr>
        <p:txBody>
          <a:bodyPr/>
          <a:lstStyle/>
          <a:p>
            <a:pPr eaLnBrk="1" hangingPunct="1"/>
            <a:r>
              <a:rPr lang="zh-CN" altLang="en-US" sz="2800" dirty="0">
                <a:solidFill>
                  <a:srgbClr val="000000"/>
                </a:solidFill>
              </a:rPr>
              <a:t>中国研究与试验发展基础研究经费支出</a:t>
            </a:r>
            <a:r>
              <a:rPr lang="en-US" altLang="zh-CN" sz="2800" dirty="0" smtClean="0">
                <a:solidFill>
                  <a:srgbClr val="002060"/>
                </a:solidFill>
              </a:rPr>
              <a:t>2019</a:t>
            </a:r>
            <a:r>
              <a:rPr lang="zh-CN" altLang="en-US" sz="2800" dirty="0" smtClean="0">
                <a:solidFill>
                  <a:schemeClr val="tx1"/>
                </a:solidFill>
              </a:rPr>
              <a:t>－</a:t>
            </a:r>
            <a:r>
              <a:rPr lang="en-US" altLang="zh-CN" sz="2800" dirty="0" smtClean="0">
                <a:solidFill>
                  <a:schemeClr val="tx1"/>
                </a:solidFill>
              </a:rPr>
              <a:t>2022</a:t>
            </a:r>
            <a:r>
              <a:rPr lang="zh-CN" altLang="en-US" sz="2800" dirty="0" smtClean="0">
                <a:solidFill>
                  <a:schemeClr val="tx1"/>
                </a:solidFill>
              </a:rPr>
              <a:t>年的</a:t>
            </a:r>
            <a:r>
              <a:rPr lang="zh-CN" altLang="en-US" sz="2800" dirty="0" smtClean="0">
                <a:solidFill>
                  <a:schemeClr val="tx2"/>
                </a:solidFill>
              </a:rPr>
              <a:t>平均</a:t>
            </a:r>
            <a:r>
              <a:rPr lang="zh-CN" altLang="en-US" sz="2800" dirty="0" smtClean="0">
                <a:solidFill>
                  <a:srgbClr val="FF0000"/>
                </a:solidFill>
              </a:rPr>
              <a:t>发展</a:t>
            </a:r>
            <a:r>
              <a:rPr lang="zh-CN" altLang="en-US" sz="2800" dirty="0" smtClean="0">
                <a:solidFill>
                  <a:schemeClr val="tx2"/>
                </a:solidFill>
              </a:rPr>
              <a:t>速度</a:t>
            </a:r>
            <a:r>
              <a:rPr lang="zh-CN" altLang="en-US" sz="2800" dirty="0" smtClean="0">
                <a:solidFill>
                  <a:schemeClr val="tx1"/>
                </a:solidFill>
              </a:rPr>
              <a:t>：</a:t>
            </a:r>
          </a:p>
        </p:txBody>
      </p:sp>
      <p:sp>
        <p:nvSpPr>
          <p:cNvPr id="23560" name="Rectangle 5"/>
          <p:cNvSpPr>
            <a:spLocks noChangeArrowheads="1"/>
          </p:cNvSpPr>
          <p:nvPr/>
        </p:nvSpPr>
        <p:spPr bwMode="auto">
          <a:xfrm>
            <a:off x="0" y="3305175"/>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23554" name="Object 4"/>
          <p:cNvGraphicFramePr>
            <a:graphicFrameLocks noChangeAspect="1"/>
          </p:cNvGraphicFramePr>
          <p:nvPr>
            <p:extLst>
              <p:ext uri="{D42A27DB-BD31-4B8C-83A1-F6EECF244321}">
                <p14:modId xmlns:p14="http://schemas.microsoft.com/office/powerpoint/2010/main" val="1545099339"/>
              </p:ext>
            </p:extLst>
          </p:nvPr>
        </p:nvGraphicFramePr>
        <p:xfrm>
          <a:off x="531813" y="1955771"/>
          <a:ext cx="7064523" cy="1370268"/>
        </p:xfrm>
        <a:graphic>
          <a:graphicData uri="http://schemas.openxmlformats.org/presentationml/2006/ole">
            <mc:AlternateContent xmlns:mc="http://schemas.openxmlformats.org/markup-compatibility/2006">
              <mc:Choice xmlns:v="urn:schemas-microsoft-com:vml" Requires="v">
                <p:oleObj spid="_x0000_s23875" name="公式" r:id="rId3" imgW="2869920" imgH="482400" progId="Equation.3">
                  <p:embed/>
                </p:oleObj>
              </mc:Choice>
              <mc:Fallback>
                <p:oleObj name="公式" r:id="rId3" imgW="2869920" imgH="482400" progId="Equation.3">
                  <p:embed/>
                  <p:pic>
                    <p:nvPicPr>
                      <p:cNvPr id="0" name="Object 4"/>
                      <p:cNvPicPr>
                        <a:picLocks noChangeAspect="1" noChangeArrowheads="1"/>
                      </p:cNvPicPr>
                      <p:nvPr/>
                    </p:nvPicPr>
                    <p:blipFill>
                      <a:blip r:embed="rId4"/>
                      <a:srcRect/>
                      <a:stretch>
                        <a:fillRect/>
                      </a:stretch>
                    </p:blipFill>
                    <p:spPr bwMode="auto">
                      <a:xfrm>
                        <a:off x="531813" y="1955771"/>
                        <a:ext cx="7064523" cy="1370268"/>
                      </a:xfrm>
                      <a:prstGeom prst="rect">
                        <a:avLst/>
                      </a:prstGeom>
                      <a:noFill/>
                      <a:extLst/>
                    </p:spPr>
                  </p:pic>
                </p:oleObj>
              </mc:Fallback>
            </mc:AlternateContent>
          </a:graphicData>
        </a:graphic>
      </p:graphicFrame>
      <p:sp>
        <p:nvSpPr>
          <p:cNvPr id="23561" name="Rectangle 7"/>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23555" name="Object 6"/>
          <p:cNvGraphicFramePr>
            <a:graphicFrameLocks noChangeAspect="1"/>
          </p:cNvGraphicFramePr>
          <p:nvPr>
            <p:extLst>
              <p:ext uri="{D42A27DB-BD31-4B8C-83A1-F6EECF244321}">
                <p14:modId xmlns:p14="http://schemas.microsoft.com/office/powerpoint/2010/main" val="2590457996"/>
              </p:ext>
            </p:extLst>
          </p:nvPr>
        </p:nvGraphicFramePr>
        <p:xfrm>
          <a:off x="559286" y="3553619"/>
          <a:ext cx="4692164" cy="755650"/>
        </p:xfrm>
        <a:graphic>
          <a:graphicData uri="http://schemas.openxmlformats.org/presentationml/2006/ole">
            <mc:AlternateContent xmlns:mc="http://schemas.openxmlformats.org/markup-compatibility/2006">
              <mc:Choice xmlns:v="urn:schemas-microsoft-com:vml" Requires="v">
                <p:oleObj spid="_x0000_s23876" name="公式" r:id="rId5" imgW="1765080" imgH="253800" progId="Equation.3">
                  <p:embed/>
                </p:oleObj>
              </mc:Choice>
              <mc:Fallback>
                <p:oleObj name="公式" r:id="rId5" imgW="1765080" imgH="253800" progId="Equation.3">
                  <p:embed/>
                  <p:pic>
                    <p:nvPicPr>
                      <p:cNvPr id="0" name="Object 6"/>
                      <p:cNvPicPr>
                        <a:picLocks noChangeAspect="1" noChangeArrowheads="1"/>
                      </p:cNvPicPr>
                      <p:nvPr/>
                    </p:nvPicPr>
                    <p:blipFill>
                      <a:blip r:embed="rId6"/>
                      <a:srcRect/>
                      <a:stretch>
                        <a:fillRect/>
                      </a:stretch>
                    </p:blipFill>
                    <p:spPr bwMode="auto">
                      <a:xfrm>
                        <a:off x="559286" y="3553619"/>
                        <a:ext cx="4692164" cy="755650"/>
                      </a:xfrm>
                      <a:prstGeom prst="rect">
                        <a:avLst/>
                      </a:prstGeom>
                      <a:noFill/>
                      <a:extLst/>
                    </p:spPr>
                  </p:pic>
                </p:oleObj>
              </mc:Fallback>
            </mc:AlternateContent>
          </a:graphicData>
        </a:graphic>
      </p:graphicFrame>
      <p:sp>
        <p:nvSpPr>
          <p:cNvPr id="23562" name="Rectangle 9"/>
          <p:cNvSpPr>
            <a:spLocks noChangeArrowheads="1"/>
          </p:cNvSpPr>
          <p:nvPr/>
        </p:nvSpPr>
        <p:spPr bwMode="auto">
          <a:xfrm>
            <a:off x="0" y="32242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23556" name="Object 8"/>
          <p:cNvGraphicFramePr>
            <a:graphicFrameLocks noChangeAspect="1"/>
          </p:cNvGraphicFramePr>
          <p:nvPr>
            <p:extLst>
              <p:ext uri="{D42A27DB-BD31-4B8C-83A1-F6EECF244321}">
                <p14:modId xmlns:p14="http://schemas.microsoft.com/office/powerpoint/2010/main" val="2368230674"/>
              </p:ext>
            </p:extLst>
          </p:nvPr>
        </p:nvGraphicFramePr>
        <p:xfrm>
          <a:off x="559286" y="4464300"/>
          <a:ext cx="4326061" cy="1350962"/>
        </p:xfrm>
        <a:graphic>
          <a:graphicData uri="http://schemas.openxmlformats.org/presentationml/2006/ole">
            <mc:AlternateContent xmlns:mc="http://schemas.openxmlformats.org/markup-compatibility/2006">
              <mc:Choice xmlns:v="urn:schemas-microsoft-com:vml" Requires="v">
                <p:oleObj spid="_x0000_s23877" name="公式" r:id="rId7" imgW="1638000" imgH="457200" progId="Equation.3">
                  <p:embed/>
                </p:oleObj>
              </mc:Choice>
              <mc:Fallback>
                <p:oleObj name="公式" r:id="rId7" imgW="1638000" imgH="457200" progId="Equation.3">
                  <p:embed/>
                  <p:pic>
                    <p:nvPicPr>
                      <p:cNvPr id="0" name="Object 8"/>
                      <p:cNvPicPr>
                        <a:picLocks noChangeAspect="1" noChangeArrowheads="1"/>
                      </p:cNvPicPr>
                      <p:nvPr/>
                    </p:nvPicPr>
                    <p:blipFill>
                      <a:blip r:embed="rId8"/>
                      <a:srcRect/>
                      <a:stretch>
                        <a:fillRect/>
                      </a:stretch>
                    </p:blipFill>
                    <p:spPr bwMode="auto">
                      <a:xfrm>
                        <a:off x="559286" y="4464300"/>
                        <a:ext cx="4326061" cy="1350962"/>
                      </a:xfrm>
                      <a:prstGeom prst="rect">
                        <a:avLst/>
                      </a:prstGeom>
                      <a:noFill/>
                      <a:extLst/>
                    </p:spPr>
                  </p:pic>
                </p:oleObj>
              </mc:Fallback>
            </mc:AlternateContent>
          </a:graphicData>
        </a:graphic>
      </p:graphicFrame>
      <p:sp>
        <p:nvSpPr>
          <p:cNvPr id="422922" name="Rectangle 10"/>
          <p:cNvSpPr>
            <a:spLocks noChangeArrowheads="1"/>
          </p:cNvSpPr>
          <p:nvPr/>
        </p:nvSpPr>
        <p:spPr bwMode="auto">
          <a:xfrm>
            <a:off x="5436096" y="4124118"/>
            <a:ext cx="3348880" cy="2031325"/>
          </a:xfrm>
          <a:prstGeom prst="rect">
            <a:avLst/>
          </a:prstGeom>
          <a:ln>
            <a:headEnd/>
            <a:tailEnd/>
          </a:ln>
        </p:spPr>
        <p:style>
          <a:lnRef idx="2">
            <a:schemeClr val="accent4"/>
          </a:lnRef>
          <a:fillRef idx="1">
            <a:schemeClr val="lt1"/>
          </a:fillRef>
          <a:effectRef idx="0">
            <a:schemeClr val="accent4"/>
          </a:effectRef>
          <a:fontRef idx="minor">
            <a:schemeClr val="dk1"/>
          </a:fontRef>
        </p:style>
        <p:txBody>
          <a:bodyPr wrap="square">
            <a:spAutoFit/>
          </a:bodyPr>
          <a:lstStyle/>
          <a:p>
            <a:pPr>
              <a:lnSpc>
                <a:spcPct val="150000"/>
              </a:lnSpc>
            </a:pPr>
            <a:r>
              <a:rPr lang="zh-CN" altLang="en-US" sz="2800" b="1" dirty="0" smtClean="0">
                <a:solidFill>
                  <a:schemeClr val="tx2"/>
                </a:solidFill>
              </a:rPr>
              <a:t>  平均</a:t>
            </a:r>
            <a:r>
              <a:rPr lang="zh-CN" altLang="en-US" sz="2800" b="1" dirty="0" smtClean="0">
                <a:solidFill>
                  <a:srgbClr val="FF0000"/>
                </a:solidFill>
              </a:rPr>
              <a:t>增长</a:t>
            </a:r>
            <a:r>
              <a:rPr lang="zh-CN" altLang="en-US" sz="2800" b="1" dirty="0" smtClean="0">
                <a:solidFill>
                  <a:schemeClr val="tx2"/>
                </a:solidFill>
              </a:rPr>
              <a:t>速度</a:t>
            </a:r>
            <a:endParaRPr lang="en-US" altLang="zh-CN" sz="2800" b="1" dirty="0" smtClean="0">
              <a:solidFill>
                <a:schemeClr val="tx2"/>
              </a:solidFill>
            </a:endParaRPr>
          </a:p>
          <a:p>
            <a:pPr>
              <a:lnSpc>
                <a:spcPct val="150000"/>
              </a:lnSpc>
            </a:pPr>
            <a:r>
              <a:rPr lang="en-US" altLang="zh-CN" sz="2800" b="1" dirty="0" smtClean="0">
                <a:solidFill>
                  <a:srgbClr val="000000"/>
                </a:solidFill>
              </a:rPr>
              <a:t>=115.67</a:t>
            </a:r>
            <a:r>
              <a:rPr lang="zh-CN" altLang="en-US" sz="2800" b="1" dirty="0" smtClean="0">
                <a:solidFill>
                  <a:srgbClr val="000000"/>
                </a:solidFill>
              </a:rPr>
              <a:t>％</a:t>
            </a:r>
            <a:r>
              <a:rPr lang="en-US" altLang="zh-CN" sz="2800" b="1" dirty="0">
                <a:solidFill>
                  <a:srgbClr val="000000"/>
                </a:solidFill>
              </a:rPr>
              <a:t>-100</a:t>
            </a:r>
            <a:r>
              <a:rPr lang="zh-CN" altLang="en-US" sz="2800" b="1" dirty="0" smtClean="0">
                <a:solidFill>
                  <a:srgbClr val="000000"/>
                </a:solidFill>
              </a:rPr>
              <a:t>％</a:t>
            </a:r>
            <a:endParaRPr lang="en-US" altLang="zh-CN" sz="2800" b="1" dirty="0" smtClean="0">
              <a:solidFill>
                <a:srgbClr val="000000"/>
              </a:solidFill>
            </a:endParaRPr>
          </a:p>
          <a:p>
            <a:pPr>
              <a:lnSpc>
                <a:spcPct val="150000"/>
              </a:lnSpc>
            </a:pPr>
            <a:r>
              <a:rPr lang="en-US" altLang="zh-CN" sz="2800" b="1" dirty="0" smtClean="0">
                <a:solidFill>
                  <a:srgbClr val="000000"/>
                </a:solidFill>
              </a:rPr>
              <a:t>=15.67</a:t>
            </a:r>
            <a:r>
              <a:rPr lang="zh-CN" altLang="en-US" sz="2800" b="1" dirty="0" smtClean="0">
                <a:solidFill>
                  <a:srgbClr val="000000"/>
                </a:solidFill>
              </a:rPr>
              <a:t>％</a:t>
            </a:r>
            <a:endParaRPr lang="zh-CN" altLang="en-US" sz="2800" b="1" dirty="0">
              <a:solidFill>
                <a:srgbClr val="000000"/>
              </a:solidFill>
            </a:endParaRPr>
          </a:p>
        </p:txBody>
      </p:sp>
      <p:sp>
        <p:nvSpPr>
          <p:cNvPr id="23564" name="日期占位符 11"/>
          <p:cNvSpPr>
            <a:spLocks noGrp="1"/>
          </p:cNvSpPr>
          <p:nvPr>
            <p:ph type="dt" sz="quarter" idx="10"/>
          </p:nvPr>
        </p:nvSpPr>
        <p:spPr>
          <a:noFill/>
        </p:spPr>
        <p:txBody>
          <a:bodyPr/>
          <a:lstStyle/>
          <a:p>
            <a:endParaRPr lang="en-US" altLang="zh-CN"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22922"/>
                                        </p:tgtEl>
                                        <p:attrNameLst>
                                          <p:attrName>style.visibility</p:attrName>
                                        </p:attrNameLst>
                                      </p:cBhvr>
                                      <p:to>
                                        <p:strVal val="visible"/>
                                      </p:to>
                                    </p:set>
                                    <p:animEffect transition="in" filter="wipe(left)">
                                      <p:cBhvr>
                                        <p:cTn id="7" dur="500"/>
                                        <p:tgtEl>
                                          <p:spTgt spid="4229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292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6834" name="Object 2"/>
          <p:cNvGraphicFramePr>
            <a:graphicFrameLocks noChangeAspect="1"/>
          </p:cNvGraphicFramePr>
          <p:nvPr>
            <p:extLst>
              <p:ext uri="{D42A27DB-BD31-4B8C-83A1-F6EECF244321}">
                <p14:modId xmlns:p14="http://schemas.microsoft.com/office/powerpoint/2010/main" val="1370127354"/>
              </p:ext>
            </p:extLst>
          </p:nvPr>
        </p:nvGraphicFramePr>
        <p:xfrm>
          <a:off x="1001192" y="2865730"/>
          <a:ext cx="7153920" cy="755650"/>
        </p:xfrm>
        <a:graphic>
          <a:graphicData uri="http://schemas.openxmlformats.org/presentationml/2006/ole">
            <mc:AlternateContent xmlns:mc="http://schemas.openxmlformats.org/markup-compatibility/2006">
              <mc:Choice xmlns:v="urn:schemas-microsoft-com:vml" Requires="v">
                <p:oleObj spid="_x0000_s24685" name="Equation" r:id="rId3" imgW="2031840" imgH="215640" progId="Equation.3">
                  <p:embed/>
                </p:oleObj>
              </mc:Choice>
              <mc:Fallback>
                <p:oleObj name="Equation" r:id="rId3" imgW="2031840" imgH="21564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1192" y="2865730"/>
                        <a:ext cx="7153920" cy="755650"/>
                      </a:xfrm>
                      <a:prstGeom prst="rect">
                        <a:avLst/>
                      </a:prstGeom>
                      <a:noFill/>
                    </p:spPr>
                  </p:pic>
                </p:oleObj>
              </mc:Fallback>
            </mc:AlternateContent>
          </a:graphicData>
        </a:graphic>
      </p:graphicFrame>
      <p:sp>
        <p:nvSpPr>
          <p:cNvPr id="376835" name="Rectangle 3"/>
          <p:cNvSpPr>
            <a:spLocks noChangeArrowheads="1"/>
          </p:cNvSpPr>
          <p:nvPr/>
        </p:nvSpPr>
        <p:spPr bwMode="auto">
          <a:xfrm>
            <a:off x="539552" y="1169962"/>
            <a:ext cx="8077200" cy="1655763"/>
          </a:xfrm>
          <a:prstGeom prst="rect">
            <a:avLst/>
          </a:prstGeom>
          <a:noFill/>
          <a:ln w="9525">
            <a:noFill/>
            <a:miter lim="800000"/>
            <a:headEnd/>
            <a:tailEnd/>
          </a:ln>
          <a:effectLst/>
        </p:spPr>
        <p:txBody>
          <a:bodyPr/>
          <a:lstStyle/>
          <a:p>
            <a:pPr algn="just">
              <a:lnSpc>
                <a:spcPct val="120000"/>
              </a:lnSpc>
              <a:defRPr/>
            </a:pPr>
            <a:r>
              <a:rPr kumimoji="1" lang="en-US" altLang="zh-CN" sz="3200" dirty="0">
                <a:solidFill>
                  <a:srgbClr val="3333FF"/>
                </a:solidFill>
                <a:latin typeface="Times New Roman" pitchFamily="18" charset="0"/>
              </a:rPr>
              <a:t>【</a:t>
            </a:r>
            <a:r>
              <a:rPr kumimoji="1" lang="zh-CN" altLang="en-US" sz="3200" b="1" dirty="0">
                <a:solidFill>
                  <a:srgbClr val="3333FF"/>
                </a:solidFill>
                <a:latin typeface="黑体" pitchFamily="2" charset="-122"/>
                <a:ea typeface="黑体" pitchFamily="2" charset="-122"/>
              </a:rPr>
              <a:t>例</a:t>
            </a:r>
            <a:r>
              <a:rPr kumimoji="1" lang="en-US" altLang="zh-CN" sz="3200" b="1" dirty="0" smtClean="0">
                <a:solidFill>
                  <a:srgbClr val="3333FF"/>
                </a:solidFill>
                <a:latin typeface="黑体" pitchFamily="2" charset="-122"/>
                <a:ea typeface="黑体" pitchFamily="2" charset="-122"/>
              </a:rPr>
              <a:t>】</a:t>
            </a:r>
            <a:r>
              <a:rPr kumimoji="1" lang="zh-CN" altLang="en-US" sz="2800" b="1" dirty="0" smtClean="0">
                <a:latin typeface="黑体" pitchFamily="2" charset="-122"/>
                <a:ea typeface="黑体" pitchFamily="2" charset="-122"/>
              </a:rPr>
              <a:t>为了实现</a:t>
            </a:r>
            <a:r>
              <a:rPr kumimoji="1" lang="en-US" altLang="zh-CN" sz="2800" b="1" dirty="0" smtClean="0">
                <a:latin typeface="黑体" pitchFamily="2" charset="-122"/>
                <a:ea typeface="黑体" pitchFamily="2" charset="-122"/>
              </a:rPr>
              <a:t>20</a:t>
            </a:r>
            <a:r>
              <a:rPr kumimoji="1" lang="zh-CN" altLang="en-US" sz="2800" b="1" dirty="0" smtClean="0">
                <a:latin typeface="黑体" pitchFamily="2" charset="-122"/>
                <a:ea typeface="黑体" pitchFamily="2" charset="-122"/>
              </a:rPr>
              <a:t>年长期规划的目标：</a:t>
            </a:r>
            <a:r>
              <a:rPr kumimoji="1" lang="zh-CN" altLang="en-US" sz="2800" b="1" dirty="0" smtClean="0">
                <a:latin typeface="黑体" pitchFamily="2" charset="-122"/>
                <a:ea typeface="黑体" pitchFamily="2" charset="-122"/>
              </a:rPr>
              <a:t>人均国内生产总值翻</a:t>
            </a:r>
            <a:r>
              <a:rPr kumimoji="1" lang="zh-CN" altLang="en-US" sz="2800" b="1" dirty="0">
                <a:latin typeface="黑体" pitchFamily="2" charset="-122"/>
                <a:ea typeface="黑体" pitchFamily="2" charset="-122"/>
              </a:rPr>
              <a:t>两</a:t>
            </a:r>
            <a:r>
              <a:rPr kumimoji="1" lang="zh-CN" altLang="en-US" sz="2800" b="1" dirty="0" smtClean="0">
                <a:latin typeface="黑体" pitchFamily="2" charset="-122"/>
                <a:ea typeface="黑体" pitchFamily="2" charset="-122"/>
              </a:rPr>
              <a:t>番，</a:t>
            </a:r>
            <a:r>
              <a:rPr kumimoji="1" lang="zh-CN" altLang="en-US" sz="2800" b="1" dirty="0">
                <a:latin typeface="黑体" pitchFamily="2" charset="-122"/>
                <a:ea typeface="黑体" pitchFamily="2" charset="-122"/>
              </a:rPr>
              <a:t>年均增长速度为</a:t>
            </a:r>
            <a:r>
              <a:rPr kumimoji="1" lang="zh-CN" altLang="en-US" sz="2800" b="1" dirty="0" smtClean="0">
                <a:latin typeface="黑体" pitchFamily="2" charset="-122"/>
                <a:ea typeface="黑体" pitchFamily="2" charset="-122"/>
              </a:rPr>
              <a:t>多少？</a:t>
            </a:r>
            <a:r>
              <a:rPr kumimoji="1" lang="zh-CN" altLang="en-US" sz="2400" b="1" dirty="0" smtClean="0">
                <a:solidFill>
                  <a:schemeClr val="folHlink"/>
                </a:solidFill>
                <a:latin typeface="Times New Roman" pitchFamily="18" charset="0"/>
              </a:rPr>
              <a:t> </a:t>
            </a:r>
            <a:endParaRPr kumimoji="1" lang="zh-CN" altLang="en-US" sz="2400" b="1" dirty="0">
              <a:solidFill>
                <a:schemeClr val="folHlink"/>
              </a:solidFill>
              <a:latin typeface="Times New Roman" pitchFamily="18" charset="0"/>
            </a:endParaRPr>
          </a:p>
        </p:txBody>
      </p:sp>
      <p:pic>
        <p:nvPicPr>
          <p:cNvPr id="24581" name="Picture 6" descr="k084"/>
          <p:cNvPicPr>
            <a:picLocks noChangeAspect="1" noChangeArrowheads="1" noCrop="1"/>
          </p:cNvPicPr>
          <p:nvPr/>
        </p:nvPicPr>
        <p:blipFill>
          <a:blip r:embed="rId5" cstate="print"/>
          <a:srcRect/>
          <a:stretch>
            <a:fillRect/>
          </a:stretch>
        </p:blipFill>
        <p:spPr bwMode="auto">
          <a:xfrm>
            <a:off x="7616087" y="4437112"/>
            <a:ext cx="1535105" cy="2160092"/>
          </a:xfrm>
          <a:prstGeom prst="rect">
            <a:avLst/>
          </a:prstGeom>
          <a:noFill/>
          <a:ln w="9525">
            <a:noFill/>
            <a:miter lim="800000"/>
            <a:headEnd/>
            <a:tailEnd/>
          </a:ln>
        </p:spPr>
      </p:pic>
      <p:sp>
        <p:nvSpPr>
          <p:cNvPr id="24583" name="日期占位符 6"/>
          <p:cNvSpPr>
            <a:spLocks noGrp="1"/>
          </p:cNvSpPr>
          <p:nvPr>
            <p:ph type="dt" sz="quarter" idx="10"/>
          </p:nvPr>
        </p:nvSpPr>
        <p:spPr>
          <a:noFill/>
        </p:spPr>
        <p:txBody>
          <a:bodyPr/>
          <a:lstStyle/>
          <a:p>
            <a:endParaRPr lang="en-US" altLang="zh-CN" smtClean="0"/>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76834"/>
                                        </p:tgtEl>
                                        <p:attrNameLst>
                                          <p:attrName>style.visibility</p:attrName>
                                        </p:attrNameLst>
                                      </p:cBhvr>
                                      <p:to>
                                        <p:strVal val="visible"/>
                                      </p:to>
                                    </p:set>
                                    <p:animEffect transition="in" filter="box(in)">
                                      <p:cBhvr>
                                        <p:cTn id="7" dur="250"/>
                                        <p:tgtEl>
                                          <p:spTgt spid="3768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5" name="Rectangle 2"/>
          <p:cNvSpPr>
            <a:spLocks noGrp="1" noChangeArrowheads="1"/>
          </p:cNvSpPr>
          <p:nvPr>
            <p:ph type="body" idx="1"/>
          </p:nvPr>
        </p:nvSpPr>
        <p:spPr>
          <a:xfrm>
            <a:off x="685800" y="609600"/>
            <a:ext cx="8458200" cy="5181600"/>
          </a:xfrm>
        </p:spPr>
        <p:txBody>
          <a:bodyPr/>
          <a:lstStyle/>
          <a:p>
            <a:pPr marL="0" indent="0" algn="just" eaLnBrk="1" hangingPunct="1">
              <a:lnSpc>
                <a:spcPct val="160000"/>
              </a:lnSpc>
              <a:buFontTx/>
              <a:buNone/>
            </a:pPr>
            <a:endParaRPr lang="en-US" altLang="zh-CN" b="0" dirty="0" smtClean="0">
              <a:solidFill>
                <a:srgbClr val="003300"/>
              </a:solidFill>
            </a:endParaRPr>
          </a:p>
          <a:p>
            <a:pPr marL="0" indent="0" algn="just" eaLnBrk="1" hangingPunct="1">
              <a:buFontTx/>
              <a:buNone/>
            </a:pPr>
            <a:endParaRPr lang="en-US" altLang="zh-CN" b="0" dirty="0" smtClean="0">
              <a:solidFill>
                <a:srgbClr val="003300"/>
              </a:solidFill>
            </a:endParaRPr>
          </a:p>
          <a:p>
            <a:pPr marL="0" indent="0" algn="just" eaLnBrk="1" hangingPunct="1">
              <a:buFontTx/>
              <a:buNone/>
            </a:pPr>
            <a:endParaRPr lang="en-US" altLang="zh-CN" sz="2800" dirty="0" smtClean="0">
              <a:solidFill>
                <a:srgbClr val="003300"/>
              </a:solidFill>
            </a:endParaRPr>
          </a:p>
          <a:p>
            <a:pPr marL="0" indent="0" algn="just" eaLnBrk="1" hangingPunct="1">
              <a:buFontTx/>
              <a:buNone/>
            </a:pPr>
            <a:endParaRPr lang="en-US" altLang="zh-CN" sz="2800" dirty="0" smtClean="0"/>
          </a:p>
          <a:p>
            <a:pPr marL="0" indent="0" eaLnBrk="1" hangingPunct="1">
              <a:buFontTx/>
              <a:buNone/>
            </a:pPr>
            <a:endParaRPr lang="en-US" altLang="zh-CN" sz="2800" dirty="0" smtClean="0"/>
          </a:p>
        </p:txBody>
      </p:sp>
      <p:sp>
        <p:nvSpPr>
          <p:cNvPr id="379907" name="Rectangle 3"/>
          <p:cNvSpPr>
            <a:spLocks noChangeArrowheads="1"/>
          </p:cNvSpPr>
          <p:nvPr/>
        </p:nvSpPr>
        <p:spPr bwMode="auto">
          <a:xfrm>
            <a:off x="468313" y="533400"/>
            <a:ext cx="8424862" cy="1734899"/>
          </a:xfrm>
          <a:prstGeom prst="rect">
            <a:avLst/>
          </a:prstGeom>
          <a:noFill/>
          <a:ln w="9525">
            <a:noFill/>
            <a:miter lim="800000"/>
            <a:headEnd/>
            <a:tailEnd/>
          </a:ln>
          <a:effectLst/>
        </p:spPr>
        <p:txBody>
          <a:bodyPr>
            <a:spAutoFit/>
          </a:bodyPr>
          <a:lstStyle/>
          <a:p>
            <a:pPr>
              <a:lnSpc>
                <a:spcPct val="120000"/>
              </a:lnSpc>
              <a:spcBef>
                <a:spcPct val="20000"/>
              </a:spcBef>
              <a:defRPr/>
            </a:pPr>
            <a:r>
              <a:rPr kumimoji="1" lang="en-US" altLang="zh-CN" sz="3200" b="1" dirty="0">
                <a:solidFill>
                  <a:srgbClr val="003300"/>
                </a:solidFill>
                <a:latin typeface="Times New Roman" pitchFamily="18" charset="0"/>
              </a:rPr>
              <a:t>    【</a:t>
            </a:r>
            <a:r>
              <a:rPr kumimoji="1" lang="zh-CN" altLang="en-US" sz="2800" b="1" dirty="0">
                <a:effectLst>
                  <a:outerShdw blurRad="38100" dist="38100" dir="2700000" algn="tl">
                    <a:srgbClr val="C0C0C0"/>
                  </a:outerShdw>
                </a:effectLst>
                <a:latin typeface="黑体" pitchFamily="2" charset="-122"/>
                <a:ea typeface="黑体" pitchFamily="2" charset="-122"/>
              </a:rPr>
              <a:t>例</a:t>
            </a:r>
            <a:r>
              <a:rPr kumimoji="1" lang="en-US" altLang="zh-CN" sz="2800" b="1" dirty="0">
                <a:effectLst>
                  <a:outerShdw blurRad="38100" dist="38100" dir="2700000" algn="tl">
                    <a:srgbClr val="C0C0C0"/>
                  </a:outerShdw>
                </a:effectLst>
                <a:latin typeface="黑体" pitchFamily="2" charset="-122"/>
                <a:ea typeface="黑体" pitchFamily="2" charset="-122"/>
              </a:rPr>
              <a:t>】</a:t>
            </a:r>
            <a:r>
              <a:rPr kumimoji="1" lang="zh-CN" altLang="en-US" sz="2800" b="1" dirty="0">
                <a:effectLst>
                  <a:outerShdw blurRad="38100" dist="38100" dir="2700000" algn="tl">
                    <a:srgbClr val="C0C0C0"/>
                  </a:outerShdw>
                </a:effectLst>
                <a:latin typeface="黑体" pitchFamily="2" charset="-122"/>
                <a:ea typeface="黑体" pitchFamily="2" charset="-122"/>
              </a:rPr>
              <a:t>某地</a:t>
            </a:r>
            <a:r>
              <a:rPr kumimoji="1" lang="zh-CN" altLang="en-US" sz="2800" b="1" dirty="0" smtClean="0">
                <a:effectLst>
                  <a:outerShdw blurRad="38100" dist="38100" dir="2700000" algn="tl">
                    <a:srgbClr val="C0C0C0"/>
                  </a:outerShdw>
                </a:effectLst>
                <a:latin typeface="黑体" pitchFamily="2" charset="-122"/>
                <a:ea typeface="黑体" pitchFamily="2" charset="-122"/>
              </a:rPr>
              <a:t>区地区</a:t>
            </a:r>
            <a:r>
              <a:rPr kumimoji="1" lang="zh-CN" altLang="en-US" sz="2800" b="1" dirty="0">
                <a:effectLst>
                  <a:outerShdw blurRad="38100" dist="38100" dir="2700000" algn="tl">
                    <a:srgbClr val="C0C0C0"/>
                  </a:outerShdw>
                </a:effectLst>
                <a:latin typeface="黑体" pitchFamily="2" charset="-122"/>
                <a:ea typeface="黑体" pitchFamily="2" charset="-122"/>
              </a:rPr>
              <a:t>生产总值为</a:t>
            </a:r>
            <a:r>
              <a:rPr kumimoji="1" lang="en-US" altLang="zh-CN" sz="2800" b="1" dirty="0">
                <a:effectLst>
                  <a:outerShdw blurRad="38100" dist="38100" dir="2700000" algn="tl">
                    <a:srgbClr val="C0C0C0"/>
                  </a:outerShdw>
                </a:effectLst>
                <a:latin typeface="黑体" pitchFamily="2" charset="-122"/>
                <a:ea typeface="黑体" pitchFamily="2" charset="-122"/>
              </a:rPr>
              <a:t>450</a:t>
            </a:r>
            <a:r>
              <a:rPr kumimoji="1" lang="zh-CN" altLang="en-US" sz="2800" b="1" dirty="0">
                <a:effectLst>
                  <a:outerShdw blurRad="38100" dist="38100" dir="2700000" algn="tl">
                    <a:srgbClr val="C0C0C0"/>
                  </a:outerShdw>
                </a:effectLst>
                <a:latin typeface="黑体" pitchFamily="2" charset="-122"/>
                <a:ea typeface="黑体" pitchFamily="2" charset="-122"/>
              </a:rPr>
              <a:t>亿元</a:t>
            </a:r>
            <a:r>
              <a:rPr kumimoji="1" lang="zh-CN" altLang="en-US" sz="2800" b="1" dirty="0" smtClean="0">
                <a:effectLst>
                  <a:outerShdw blurRad="38100" dist="38100" dir="2700000" algn="tl">
                    <a:srgbClr val="C0C0C0"/>
                  </a:outerShdw>
                </a:effectLst>
                <a:latin typeface="黑体" pitchFamily="2" charset="-122"/>
                <a:ea typeface="黑体" pitchFamily="2" charset="-122"/>
              </a:rPr>
              <a:t>，</a:t>
            </a:r>
            <a:endParaRPr kumimoji="1" lang="en-US" altLang="zh-CN" sz="2800" b="1" dirty="0" smtClean="0">
              <a:effectLst>
                <a:outerShdw blurRad="38100" dist="38100" dir="2700000" algn="tl">
                  <a:srgbClr val="C0C0C0"/>
                </a:outerShdw>
              </a:effectLst>
              <a:latin typeface="黑体" pitchFamily="2" charset="-122"/>
              <a:ea typeface="黑体" pitchFamily="2" charset="-122"/>
            </a:endParaRPr>
          </a:p>
          <a:p>
            <a:pPr>
              <a:lnSpc>
                <a:spcPct val="120000"/>
              </a:lnSpc>
              <a:spcBef>
                <a:spcPct val="20000"/>
              </a:spcBef>
              <a:defRPr/>
            </a:pPr>
            <a:r>
              <a:rPr kumimoji="1" lang="zh-CN" altLang="en-US" sz="2800" b="1" dirty="0" smtClean="0">
                <a:effectLst>
                  <a:outerShdw blurRad="38100" dist="38100" dir="2700000" algn="tl">
                    <a:srgbClr val="C0C0C0"/>
                  </a:outerShdw>
                </a:effectLst>
                <a:latin typeface="黑体" pitchFamily="2" charset="-122"/>
                <a:ea typeface="黑体" pitchFamily="2" charset="-122"/>
              </a:rPr>
              <a:t>（</a:t>
            </a:r>
            <a:r>
              <a:rPr kumimoji="1" lang="en-US" altLang="zh-CN" sz="2800" b="1" dirty="0">
                <a:effectLst>
                  <a:outerShdw blurRad="38100" dist="38100" dir="2700000" algn="tl">
                    <a:srgbClr val="C0C0C0"/>
                  </a:outerShdw>
                </a:effectLst>
                <a:latin typeface="黑体" pitchFamily="2" charset="-122"/>
                <a:ea typeface="黑体" pitchFamily="2" charset="-122"/>
              </a:rPr>
              <a:t>1</a:t>
            </a:r>
            <a:r>
              <a:rPr kumimoji="1" lang="zh-CN" altLang="en-US" sz="2800" b="1" dirty="0">
                <a:effectLst>
                  <a:outerShdw blurRad="38100" dist="38100" dir="2700000" algn="tl">
                    <a:srgbClr val="C0C0C0"/>
                  </a:outerShdw>
                </a:effectLst>
                <a:latin typeface="黑体" pitchFamily="2" charset="-122"/>
                <a:ea typeface="黑体" pitchFamily="2" charset="-122"/>
              </a:rPr>
              <a:t>）若</a:t>
            </a:r>
            <a:r>
              <a:rPr kumimoji="1" lang="zh-CN" altLang="en-US" sz="2800" b="1" dirty="0">
                <a:solidFill>
                  <a:srgbClr val="3333FF"/>
                </a:solidFill>
                <a:effectLst>
                  <a:outerShdw blurRad="38100" dist="38100" dir="2700000" algn="tl">
                    <a:srgbClr val="C0C0C0"/>
                  </a:outerShdw>
                </a:effectLst>
                <a:latin typeface="黑体" pitchFamily="2" charset="-122"/>
                <a:ea typeface="黑体" pitchFamily="2" charset="-122"/>
              </a:rPr>
              <a:t>每年能保持</a:t>
            </a:r>
            <a:r>
              <a:rPr kumimoji="1" lang="en-US" altLang="zh-CN" sz="2800" b="1" dirty="0">
                <a:solidFill>
                  <a:srgbClr val="3333FF"/>
                </a:solidFill>
                <a:effectLst>
                  <a:outerShdw blurRad="38100" dist="38100" dir="2700000" algn="tl">
                    <a:srgbClr val="C0C0C0"/>
                  </a:outerShdw>
                </a:effectLst>
                <a:latin typeface="黑体" pitchFamily="2" charset="-122"/>
                <a:ea typeface="黑体" pitchFamily="2" charset="-122"/>
              </a:rPr>
              <a:t>8%</a:t>
            </a:r>
            <a:r>
              <a:rPr kumimoji="1" lang="zh-CN" altLang="en-US" sz="2800" b="1" dirty="0">
                <a:solidFill>
                  <a:srgbClr val="3333FF"/>
                </a:solidFill>
                <a:effectLst>
                  <a:outerShdw blurRad="38100" dist="38100" dir="2700000" algn="tl">
                    <a:srgbClr val="C0C0C0"/>
                  </a:outerShdw>
                </a:effectLst>
                <a:latin typeface="黑体" pitchFamily="2" charset="-122"/>
                <a:ea typeface="黑体" pitchFamily="2" charset="-122"/>
              </a:rPr>
              <a:t>的增长速度</a:t>
            </a:r>
            <a:r>
              <a:rPr kumimoji="1" lang="zh-CN" altLang="en-US" sz="2800" b="1" dirty="0">
                <a:effectLst>
                  <a:outerShdw blurRad="38100" dist="38100" dir="2700000" algn="tl">
                    <a:srgbClr val="C0C0C0"/>
                  </a:outerShdw>
                </a:effectLst>
                <a:latin typeface="黑体" pitchFamily="2" charset="-122"/>
                <a:ea typeface="黑体" pitchFamily="2" charset="-122"/>
              </a:rPr>
              <a:t>，问经过</a:t>
            </a:r>
            <a:r>
              <a:rPr kumimoji="1" lang="zh-CN" altLang="en-US" sz="2800" b="1" dirty="0">
                <a:solidFill>
                  <a:srgbClr val="3333FF"/>
                </a:solidFill>
                <a:effectLst>
                  <a:outerShdw blurRad="38100" dist="38100" dir="2700000" algn="tl">
                    <a:srgbClr val="C0C0C0"/>
                  </a:outerShdw>
                </a:effectLst>
                <a:latin typeface="黑体" pitchFamily="2" charset="-122"/>
                <a:ea typeface="黑体" pitchFamily="2" charset="-122"/>
              </a:rPr>
              <a:t>多少年</a:t>
            </a:r>
            <a:r>
              <a:rPr kumimoji="1" lang="zh-CN" altLang="en-US" sz="2800" b="1" dirty="0">
                <a:effectLst>
                  <a:outerShdw blurRad="38100" dist="38100" dir="2700000" algn="tl">
                    <a:srgbClr val="C0C0C0"/>
                  </a:outerShdw>
                </a:effectLst>
                <a:latin typeface="黑体" pitchFamily="2" charset="-122"/>
                <a:ea typeface="黑体" pitchFamily="2" charset="-122"/>
              </a:rPr>
              <a:t>能实现翻 </a:t>
            </a:r>
            <a:r>
              <a:rPr kumimoji="1" lang="en-US" altLang="zh-CN" sz="2800" b="1" dirty="0">
                <a:effectLst>
                  <a:outerShdw blurRad="38100" dist="38100" dir="2700000" algn="tl">
                    <a:srgbClr val="C0C0C0"/>
                  </a:outerShdw>
                </a:effectLst>
                <a:latin typeface="黑体" pitchFamily="2" charset="-122"/>
                <a:ea typeface="黑体" pitchFamily="2" charset="-122"/>
              </a:rPr>
              <a:t>2 </a:t>
            </a:r>
            <a:r>
              <a:rPr kumimoji="1" lang="zh-CN" altLang="en-US" sz="2800" b="1" dirty="0">
                <a:effectLst>
                  <a:outerShdw blurRad="38100" dist="38100" dir="2700000" algn="tl">
                    <a:srgbClr val="C0C0C0"/>
                  </a:outerShdw>
                </a:effectLst>
                <a:latin typeface="黑体" pitchFamily="2" charset="-122"/>
                <a:ea typeface="黑体" pitchFamily="2" charset="-122"/>
              </a:rPr>
              <a:t>番？（</a:t>
            </a:r>
            <a:r>
              <a:rPr kumimoji="1" lang="en-US" altLang="zh-CN" sz="2800" b="1" dirty="0">
                <a:effectLst>
                  <a:outerShdw blurRad="38100" dist="38100" dir="2700000" algn="tl">
                    <a:srgbClr val="C0C0C0"/>
                  </a:outerShdw>
                </a:effectLst>
                <a:latin typeface="黑体" pitchFamily="2" charset="-122"/>
                <a:ea typeface="黑体" pitchFamily="2" charset="-122"/>
              </a:rPr>
              <a:t>2</a:t>
            </a:r>
            <a:r>
              <a:rPr kumimoji="1" lang="zh-CN" altLang="en-US" sz="2800" b="1" dirty="0">
                <a:effectLst>
                  <a:outerShdw blurRad="38100" dist="38100" dir="2700000" algn="tl">
                    <a:srgbClr val="C0C0C0"/>
                  </a:outerShdw>
                </a:effectLst>
                <a:latin typeface="黑体" pitchFamily="2" charset="-122"/>
                <a:ea typeface="黑体" pitchFamily="2" charset="-122"/>
              </a:rPr>
              <a:t>）经过多少年能达到</a:t>
            </a:r>
            <a:r>
              <a:rPr kumimoji="1" lang="en-US" altLang="zh-CN" sz="2800" b="1" dirty="0">
                <a:effectLst>
                  <a:outerShdw blurRad="38100" dist="38100" dir="2700000" algn="tl">
                    <a:srgbClr val="C0C0C0"/>
                  </a:outerShdw>
                </a:effectLst>
                <a:latin typeface="黑体" pitchFamily="2" charset="-122"/>
                <a:ea typeface="黑体" pitchFamily="2" charset="-122"/>
              </a:rPr>
              <a:t>1000</a:t>
            </a:r>
            <a:r>
              <a:rPr kumimoji="1" lang="zh-CN" altLang="en-US" sz="2800" b="1" dirty="0">
                <a:effectLst>
                  <a:outerShdw blurRad="38100" dist="38100" dir="2700000" algn="tl">
                    <a:srgbClr val="C0C0C0"/>
                  </a:outerShdw>
                </a:effectLst>
                <a:latin typeface="黑体" pitchFamily="2" charset="-122"/>
                <a:ea typeface="黑体" pitchFamily="2" charset="-122"/>
              </a:rPr>
              <a:t>亿元？</a:t>
            </a:r>
          </a:p>
        </p:txBody>
      </p:sp>
      <p:sp>
        <p:nvSpPr>
          <p:cNvPr id="379908" name="Rectangle 4"/>
          <p:cNvSpPr>
            <a:spLocks noChangeArrowheads="1"/>
          </p:cNvSpPr>
          <p:nvPr/>
        </p:nvSpPr>
        <p:spPr bwMode="auto">
          <a:xfrm>
            <a:off x="1219200" y="2667000"/>
            <a:ext cx="7391400" cy="519113"/>
          </a:xfrm>
          <a:prstGeom prst="rect">
            <a:avLst/>
          </a:prstGeom>
          <a:noFill/>
          <a:ln w="9525">
            <a:noFill/>
            <a:miter lim="800000"/>
            <a:headEnd/>
            <a:tailEnd/>
          </a:ln>
          <a:effectLst/>
        </p:spPr>
        <p:txBody>
          <a:bodyPr>
            <a:spAutoFit/>
          </a:bodyPr>
          <a:lstStyle/>
          <a:p>
            <a:pPr>
              <a:defRPr/>
            </a:pPr>
            <a:endParaRPr kumimoji="1" lang="zh-CN" altLang="zh-CN" sz="2800" b="1">
              <a:solidFill>
                <a:srgbClr val="003300"/>
              </a:solidFill>
              <a:effectLst>
                <a:outerShdw blurRad="38100" dist="38100" dir="2700000" algn="tl">
                  <a:srgbClr val="C0C0C0"/>
                </a:outerShdw>
              </a:effectLst>
              <a:latin typeface="Times New Roman" pitchFamily="18" charset="0"/>
            </a:endParaRPr>
          </a:p>
        </p:txBody>
      </p:sp>
      <p:sp>
        <p:nvSpPr>
          <p:cNvPr id="25608" name="Rectangle 5"/>
          <p:cNvSpPr>
            <a:spLocks noChangeArrowheads="1"/>
          </p:cNvSpPr>
          <p:nvPr/>
        </p:nvSpPr>
        <p:spPr bwMode="auto">
          <a:xfrm>
            <a:off x="3143250" y="3319463"/>
            <a:ext cx="9144000" cy="0"/>
          </a:xfrm>
          <a:prstGeom prst="rect">
            <a:avLst/>
          </a:prstGeom>
          <a:noFill/>
          <a:ln w="9525">
            <a:noFill/>
            <a:miter lim="800000"/>
            <a:headEnd/>
            <a:tailEnd/>
          </a:ln>
        </p:spPr>
        <p:txBody>
          <a:bodyPr>
            <a:spAutoFit/>
          </a:bodyPr>
          <a:lstStyle/>
          <a:p>
            <a:endParaRPr lang="zh-CN" altLang="en-US"/>
          </a:p>
        </p:txBody>
      </p:sp>
      <p:graphicFrame>
        <p:nvGraphicFramePr>
          <p:cNvPr id="379910" name="Object 6"/>
          <p:cNvGraphicFramePr>
            <a:graphicFrameLocks noChangeAspect="1"/>
          </p:cNvGraphicFramePr>
          <p:nvPr/>
        </p:nvGraphicFramePr>
        <p:xfrm>
          <a:off x="1691680" y="2708920"/>
          <a:ext cx="5715000" cy="1349375"/>
        </p:xfrm>
        <a:graphic>
          <a:graphicData uri="http://schemas.openxmlformats.org/presentationml/2006/ole">
            <mc:AlternateContent xmlns:mc="http://schemas.openxmlformats.org/markup-compatibility/2006">
              <mc:Choice xmlns:v="urn:schemas-microsoft-com:vml" Requires="v">
                <p:oleObj spid="_x0000_s25814" name="Equation" r:id="rId3" imgW="1854000" imgH="431640" progId="Equation.3">
                  <p:embed/>
                </p:oleObj>
              </mc:Choice>
              <mc:Fallback>
                <p:oleObj name="Equation" r:id="rId3" imgW="1854000" imgH="43164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1680" y="2708920"/>
                        <a:ext cx="5715000" cy="1349375"/>
                      </a:xfrm>
                      <a:prstGeom prst="rect">
                        <a:avLst/>
                      </a:prstGeom>
                      <a:noFill/>
                      <a:extLst>
                        <a:ext uri="{909E8E84-426E-40DD-AFC4-6F175D3DCCD1}">
                          <a14:hiddenFill xmlns:a14="http://schemas.microsoft.com/office/drawing/2010/main">
                            <a:solidFill>
                              <a:schemeClr val="accent1"/>
                            </a:solidFill>
                          </a14:hiddenFill>
                        </a:ext>
                      </a:extLst>
                    </p:spPr>
                  </p:pic>
                </p:oleObj>
              </mc:Fallback>
            </mc:AlternateContent>
          </a:graphicData>
        </a:graphic>
      </p:graphicFrame>
      <p:graphicFrame>
        <p:nvGraphicFramePr>
          <p:cNvPr id="379911" name="Object 7"/>
          <p:cNvGraphicFramePr>
            <a:graphicFrameLocks noChangeAspect="1"/>
          </p:cNvGraphicFramePr>
          <p:nvPr/>
        </p:nvGraphicFramePr>
        <p:xfrm>
          <a:off x="1475656" y="4365104"/>
          <a:ext cx="6911975" cy="1657350"/>
        </p:xfrm>
        <a:graphic>
          <a:graphicData uri="http://schemas.openxmlformats.org/presentationml/2006/ole">
            <mc:AlternateContent xmlns:mc="http://schemas.openxmlformats.org/markup-compatibility/2006">
              <mc:Choice xmlns:v="urn:schemas-microsoft-com:vml" Requires="v">
                <p:oleObj spid="_x0000_s25815" name="Equation" r:id="rId5" imgW="2527200" imgH="596880" progId="Equation.3">
                  <p:embed/>
                </p:oleObj>
              </mc:Choice>
              <mc:Fallback>
                <p:oleObj name="Equation" r:id="rId5" imgW="2527200" imgH="59688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75656" y="4365104"/>
                        <a:ext cx="6911975" cy="1657350"/>
                      </a:xfrm>
                      <a:prstGeom prst="rect">
                        <a:avLst/>
                      </a:prstGeom>
                      <a:noFill/>
                      <a:extLst>
                        <a:ext uri="{909E8E84-426E-40DD-AFC4-6F175D3DCCD1}">
                          <a14:hiddenFill xmlns:a14="http://schemas.microsoft.com/office/drawing/2010/main">
                            <a:solidFill>
                              <a:schemeClr val="accent1"/>
                            </a:solidFill>
                          </a14:hiddenFill>
                        </a:ext>
                      </a:extLst>
                    </p:spPr>
                  </p:pic>
                </p:oleObj>
              </mc:Fallback>
            </mc:AlternateContent>
          </a:graphicData>
        </a:graphic>
      </p:graphicFrame>
      <p:sp>
        <p:nvSpPr>
          <p:cNvPr id="25609" name="Text Box 8"/>
          <p:cNvSpPr txBox="1">
            <a:spLocks noChangeArrowheads="1"/>
          </p:cNvSpPr>
          <p:nvPr/>
        </p:nvSpPr>
        <p:spPr bwMode="auto">
          <a:xfrm>
            <a:off x="755650" y="2781300"/>
            <a:ext cx="1258888" cy="457200"/>
          </a:xfrm>
          <a:prstGeom prst="rect">
            <a:avLst/>
          </a:prstGeom>
          <a:noFill/>
          <a:ln w="9525">
            <a:noFill/>
            <a:miter lim="800000"/>
            <a:headEnd/>
            <a:tailEnd/>
          </a:ln>
        </p:spPr>
        <p:txBody>
          <a:bodyPr>
            <a:spAutoFit/>
          </a:bodyPr>
          <a:lstStyle/>
          <a:p>
            <a:pPr>
              <a:spcBef>
                <a:spcPct val="50000"/>
              </a:spcBef>
            </a:pPr>
            <a:r>
              <a:rPr lang="zh-CN" altLang="en-US" sz="2400" b="1" dirty="0">
                <a:solidFill>
                  <a:srgbClr val="0070C0"/>
                </a:solidFill>
              </a:rPr>
              <a:t>（</a:t>
            </a:r>
            <a:r>
              <a:rPr lang="en-US" altLang="zh-CN" sz="2400" b="1" dirty="0">
                <a:solidFill>
                  <a:srgbClr val="0070C0"/>
                </a:solidFill>
              </a:rPr>
              <a:t>1</a:t>
            </a:r>
            <a:r>
              <a:rPr lang="zh-CN" altLang="en-US" sz="2400" b="1" dirty="0">
                <a:solidFill>
                  <a:srgbClr val="0070C0"/>
                </a:solidFill>
              </a:rPr>
              <a:t>）</a:t>
            </a:r>
          </a:p>
        </p:txBody>
      </p:sp>
      <p:sp>
        <p:nvSpPr>
          <p:cNvPr id="25610" name="Text Box 9"/>
          <p:cNvSpPr txBox="1">
            <a:spLocks noChangeArrowheads="1"/>
          </p:cNvSpPr>
          <p:nvPr/>
        </p:nvSpPr>
        <p:spPr bwMode="auto">
          <a:xfrm>
            <a:off x="684213" y="4437063"/>
            <a:ext cx="1258887" cy="457200"/>
          </a:xfrm>
          <a:prstGeom prst="rect">
            <a:avLst/>
          </a:prstGeom>
          <a:noFill/>
          <a:ln w="9525">
            <a:noFill/>
            <a:miter lim="800000"/>
            <a:headEnd/>
            <a:tailEnd/>
          </a:ln>
        </p:spPr>
        <p:txBody>
          <a:bodyPr>
            <a:spAutoFit/>
          </a:bodyPr>
          <a:lstStyle/>
          <a:p>
            <a:pPr>
              <a:spcBef>
                <a:spcPct val="50000"/>
              </a:spcBef>
            </a:pPr>
            <a:r>
              <a:rPr lang="zh-CN" altLang="en-US" sz="2400" b="1" dirty="0">
                <a:solidFill>
                  <a:srgbClr val="0070C0"/>
                </a:solidFill>
              </a:rPr>
              <a:t>（</a:t>
            </a:r>
            <a:r>
              <a:rPr lang="en-US" altLang="zh-CN" sz="2400" b="1" dirty="0">
                <a:solidFill>
                  <a:srgbClr val="0070C0"/>
                </a:solidFill>
              </a:rPr>
              <a:t>2</a:t>
            </a:r>
            <a:r>
              <a:rPr lang="zh-CN" altLang="en-US" sz="2400" b="1" dirty="0">
                <a:solidFill>
                  <a:srgbClr val="0070C0"/>
                </a:solidFill>
              </a:rPr>
              <a:t>）</a:t>
            </a:r>
          </a:p>
        </p:txBody>
      </p:sp>
      <p:sp>
        <p:nvSpPr>
          <p:cNvPr id="25611" name="日期占位符 10"/>
          <p:cNvSpPr>
            <a:spLocks noGrp="1"/>
          </p:cNvSpPr>
          <p:nvPr>
            <p:ph type="dt" sz="quarter" idx="10"/>
          </p:nvPr>
        </p:nvSpPr>
        <p:spPr>
          <a:noFill/>
        </p:spPr>
        <p:txBody>
          <a:bodyPr/>
          <a:lstStyle/>
          <a:p>
            <a:endParaRPr lang="en-US" altLang="zh-CN" smtClean="0"/>
          </a:p>
        </p:txBody>
      </p:sp>
    </p:spTree>
  </p:cSld>
  <p:clrMapOvr>
    <a:masterClrMapping/>
  </p:clrMapOvr>
  <p:transition>
    <p:split orient="ver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79910"/>
                                        </p:tgtEl>
                                        <p:attrNameLst>
                                          <p:attrName>style.visibility</p:attrName>
                                        </p:attrNameLst>
                                      </p:cBhvr>
                                      <p:to>
                                        <p:strVal val="visible"/>
                                      </p:to>
                                    </p:set>
                                    <p:animEffect transition="in" filter="randombar(horizontal)">
                                      <p:cBhvr>
                                        <p:cTn id="7" dur="300"/>
                                        <p:tgtEl>
                                          <p:spTgt spid="37991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379911"/>
                                        </p:tgtEl>
                                        <p:attrNameLst>
                                          <p:attrName>style.visibility</p:attrName>
                                        </p:attrNameLst>
                                      </p:cBhvr>
                                      <p:to>
                                        <p:strVal val="visible"/>
                                      </p:to>
                                    </p:set>
                                    <p:animEffect transition="in" filter="barn(outHorizontal)">
                                      <p:cBhvr>
                                        <p:cTn id="12" dur="500"/>
                                        <p:tgtEl>
                                          <p:spTgt spid="3799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4" name="Rectangle 2"/>
          <p:cNvSpPr>
            <a:spLocks noGrp="1" noChangeArrowheads="1"/>
          </p:cNvSpPr>
          <p:nvPr>
            <p:ph type="title"/>
          </p:nvPr>
        </p:nvSpPr>
        <p:spPr>
          <a:xfrm>
            <a:off x="838200" y="304800"/>
            <a:ext cx="7262192" cy="762000"/>
          </a:xfrm>
        </p:spPr>
        <p:txBody>
          <a:bodyPr/>
          <a:lstStyle/>
          <a:p>
            <a:pPr eaLnBrk="1" hangingPunct="1"/>
            <a:r>
              <a:rPr lang="zh-CN" altLang="en-US" sz="4000" dirty="0" smtClean="0"/>
              <a:t>几何平均法（水平法）的不足</a:t>
            </a:r>
          </a:p>
        </p:txBody>
      </p:sp>
      <p:graphicFrame>
        <p:nvGraphicFramePr>
          <p:cNvPr id="380931" name="Object 3"/>
          <p:cNvGraphicFramePr>
            <a:graphicFrameLocks noGrp="1" noChangeAspect="1"/>
          </p:cNvGraphicFramePr>
          <p:nvPr>
            <p:ph type="body" idx="1"/>
          </p:nvPr>
        </p:nvGraphicFramePr>
        <p:xfrm>
          <a:off x="1066800" y="1676400"/>
          <a:ext cx="7086600" cy="4800600"/>
        </p:xfrm>
        <a:graphic>
          <a:graphicData uri="http://schemas.openxmlformats.org/presentationml/2006/ole">
            <mc:AlternateContent xmlns:mc="http://schemas.openxmlformats.org/markup-compatibility/2006">
              <mc:Choice xmlns:v="urn:schemas-microsoft-com:vml" Requires="v">
                <p:oleObj spid="_x0000_s27760" name="BMP 图象" r:id="rId3" imgW="4009524" imgH="2943636" progId="PBrush">
                  <p:embed/>
                </p:oleObj>
              </mc:Choice>
              <mc:Fallback>
                <p:oleObj name="BMP 图象" r:id="rId3" imgW="4009524" imgH="2943636" progId="PBrush">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1676400"/>
                        <a:ext cx="708660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655" name="Text Box 4"/>
          <p:cNvSpPr txBox="1">
            <a:spLocks noChangeArrowheads="1"/>
          </p:cNvSpPr>
          <p:nvPr/>
        </p:nvSpPr>
        <p:spPr bwMode="auto">
          <a:xfrm>
            <a:off x="457200" y="1143000"/>
            <a:ext cx="8153400" cy="579438"/>
          </a:xfrm>
          <a:prstGeom prst="rect">
            <a:avLst/>
          </a:prstGeom>
          <a:noFill/>
          <a:ln w="9525">
            <a:noFill/>
            <a:miter lim="800000"/>
            <a:headEnd/>
            <a:tailEnd/>
          </a:ln>
        </p:spPr>
        <p:txBody>
          <a:bodyPr>
            <a:spAutoFit/>
          </a:bodyPr>
          <a:lstStyle/>
          <a:p>
            <a:pPr eaLnBrk="0" hangingPunct="0">
              <a:spcBef>
                <a:spcPct val="50000"/>
              </a:spcBef>
            </a:pPr>
            <a:r>
              <a:rPr kumimoji="1" lang="zh-CN" altLang="en-US" sz="3200" b="1" dirty="0" smtClean="0">
                <a:solidFill>
                  <a:srgbClr val="000000"/>
                </a:solidFill>
              </a:rPr>
              <a:t>只</a:t>
            </a:r>
            <a:r>
              <a:rPr kumimoji="1" lang="zh-CN" altLang="en-US" sz="3200" b="1" dirty="0">
                <a:solidFill>
                  <a:srgbClr val="000000"/>
                </a:solidFill>
              </a:rPr>
              <a:t>考虑计算期内首尾两项的水平</a:t>
            </a:r>
            <a:r>
              <a:rPr kumimoji="1" lang="en-US" altLang="zh-CN" sz="3200" b="1" dirty="0">
                <a:solidFill>
                  <a:srgbClr val="000000"/>
                </a:solidFill>
              </a:rPr>
              <a:t>——</a:t>
            </a:r>
          </a:p>
        </p:txBody>
      </p:sp>
      <p:sp>
        <p:nvSpPr>
          <p:cNvPr id="27656" name="日期占位符 5"/>
          <p:cNvSpPr>
            <a:spLocks noGrp="1"/>
          </p:cNvSpPr>
          <p:nvPr>
            <p:ph type="dt" sz="quarter" idx="10"/>
          </p:nvPr>
        </p:nvSpPr>
        <p:spPr>
          <a:noFill/>
        </p:spPr>
        <p:txBody>
          <a:bodyPr/>
          <a:lstStyle/>
          <a:p>
            <a:endParaRPr lang="en-US" altLang="zh-CN" smtClean="0"/>
          </a:p>
        </p:txBody>
      </p:sp>
      <mc:AlternateContent xmlns:mc="http://schemas.openxmlformats.org/markup-compatibility/2006" xmlns:p14="http://schemas.microsoft.com/office/powerpoint/2010/main">
        <mc:Choice Requires="p14">
          <p:contentPart p14:bwMode="auto" r:id="rId5">
            <p14:nvContentPartPr>
              <p14:cNvPr id="27653" name="Ink 5"/>
              <p14:cNvContentPartPr>
                <a14:cpLocks xmlns:a14="http://schemas.microsoft.com/office/drawing/2010/main" noRot="1" noChangeAspect="1" noEditPoints="1" noChangeArrowheads="1" noChangeShapeType="1"/>
              </p14:cNvContentPartPr>
              <p14:nvPr/>
            </p14:nvContentPartPr>
            <p14:xfrm>
              <a:off x="1619250" y="4941888"/>
              <a:ext cx="587375" cy="495300"/>
            </p14:xfrm>
          </p:contentPart>
        </mc:Choice>
        <mc:Fallback xmlns="">
          <p:pic>
            <p:nvPicPr>
              <p:cNvPr id="27653" name="Ink 5"/>
              <p:cNvPicPr>
                <a:picLocks noRot="1" noChangeAspect="1" noEditPoints="1" noChangeArrowheads="1" noChangeShapeType="1"/>
              </p:cNvPicPr>
              <p:nvPr/>
            </p:nvPicPr>
            <p:blipFill>
              <a:blip r:embed="rId6"/>
              <a:stretch>
                <a:fillRect/>
              </a:stretch>
            </p:blipFill>
            <p:spPr>
              <a:xfrm>
                <a:off x="1609776" y="4932536"/>
                <a:ext cx="606323" cy="514004"/>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 name="Ink 6"/>
              <p14:cNvContentPartPr>
                <a14:cpLocks xmlns:a14="http://schemas.microsoft.com/office/drawing/2010/main" noRot="1" noChangeAspect="1" noEditPoints="1" noChangeArrowheads="1" noChangeShapeType="1"/>
              </p14:cNvContentPartPr>
              <p14:nvPr/>
            </p14:nvContentPartPr>
            <p14:xfrm>
              <a:off x="1835150" y="2924175"/>
              <a:ext cx="290513" cy="434975"/>
            </p14:xfrm>
          </p:contentPart>
        </mc:Choice>
        <mc:Fallback xmlns="">
          <p:pic>
            <p:nvPicPr>
              <p:cNvPr id="2" name="Ink 6"/>
              <p:cNvPicPr>
                <a:picLocks noRot="1" noChangeAspect="1" noEditPoints="1" noChangeArrowheads="1" noChangeShapeType="1"/>
              </p:cNvPicPr>
              <p:nvPr/>
            </p:nvPicPr>
            <p:blipFill>
              <a:blip r:embed="rId8"/>
              <a:stretch>
                <a:fillRect/>
              </a:stretch>
            </p:blipFill>
            <p:spPr>
              <a:xfrm>
                <a:off x="1825790" y="2914859"/>
                <a:ext cx="309233" cy="453607"/>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 name="Ink 7"/>
              <p14:cNvContentPartPr>
                <a14:cpLocks xmlns:a14="http://schemas.microsoft.com/office/drawing/2010/main" noRot="1" noChangeAspect="1" noEditPoints="1" noChangeArrowheads="1" noChangeShapeType="1"/>
              </p14:cNvContentPartPr>
              <p14:nvPr/>
            </p14:nvContentPartPr>
            <p14:xfrm>
              <a:off x="2522538" y="5722938"/>
              <a:ext cx="136525" cy="288925"/>
            </p14:xfrm>
          </p:contentPart>
        </mc:Choice>
        <mc:Fallback xmlns="">
          <p:pic>
            <p:nvPicPr>
              <p:cNvPr id="3" name="Ink 7"/>
              <p:cNvPicPr>
                <a:picLocks noRot="1" noChangeAspect="1" noEditPoints="1" noChangeArrowheads="1" noChangeShapeType="1"/>
              </p:cNvPicPr>
              <p:nvPr/>
            </p:nvPicPr>
            <p:blipFill>
              <a:blip r:embed="rId10"/>
              <a:stretch>
                <a:fillRect/>
              </a:stretch>
            </p:blipFill>
            <p:spPr>
              <a:xfrm>
                <a:off x="2513460" y="5713709"/>
                <a:ext cx="154682" cy="307382"/>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4" name="Ink 8"/>
              <p14:cNvContentPartPr>
                <a14:cpLocks xmlns:a14="http://schemas.microsoft.com/office/drawing/2010/main" noRot="1" noChangeAspect="1" noEditPoints="1" noChangeArrowheads="1" noChangeShapeType="1"/>
              </p14:cNvContentPartPr>
              <p14:nvPr/>
            </p14:nvContentPartPr>
            <p14:xfrm>
              <a:off x="7285038" y="5699125"/>
              <a:ext cx="182562" cy="328613"/>
            </p14:xfrm>
          </p:contentPart>
        </mc:Choice>
        <mc:Fallback xmlns="">
          <p:pic>
            <p:nvPicPr>
              <p:cNvPr id="4" name="Ink 8"/>
              <p:cNvPicPr>
                <a:picLocks noRot="1" noChangeAspect="1" noEditPoints="1" noChangeArrowheads="1" noChangeShapeType="1"/>
              </p:cNvPicPr>
              <p:nvPr/>
            </p:nvPicPr>
            <p:blipFill>
              <a:blip r:embed="rId12"/>
              <a:stretch>
                <a:fillRect/>
              </a:stretch>
            </p:blipFill>
            <p:spPr>
              <a:xfrm>
                <a:off x="7275749" y="5689746"/>
                <a:ext cx="201140" cy="34737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80931"/>
                                        </p:tgtEl>
                                        <p:attrNameLst>
                                          <p:attrName>style.visibility</p:attrName>
                                        </p:attrNameLst>
                                      </p:cBhvr>
                                      <p:to>
                                        <p:strVal val="visible"/>
                                      </p:to>
                                    </p:set>
                                    <p:animEffect transition="in" filter="wipe(left)">
                                      <p:cBhvr>
                                        <p:cTn id="7" dur="500"/>
                                        <p:tgtEl>
                                          <p:spTgt spid="3809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24962" name="Rectangle 2"/>
          <p:cNvSpPr>
            <a:spLocks noGrp="1" noChangeArrowheads="1"/>
          </p:cNvSpPr>
          <p:nvPr>
            <p:ph type="body" idx="1"/>
          </p:nvPr>
        </p:nvSpPr>
        <p:spPr>
          <a:xfrm>
            <a:off x="323850" y="1124744"/>
            <a:ext cx="8512175" cy="5184576"/>
          </a:xfrm>
          <a:noFill/>
        </p:spPr>
        <p:txBody>
          <a:bodyPr lIns="90488" tIns="44450" rIns="90488" bIns="44450"/>
          <a:lstStyle/>
          <a:p>
            <a:pPr marL="609600" indent="-609600" algn="just" eaLnBrk="1" hangingPunct="1">
              <a:lnSpc>
                <a:spcPct val="114000"/>
              </a:lnSpc>
              <a:spcBef>
                <a:spcPct val="25000"/>
              </a:spcBef>
              <a:buFontTx/>
              <a:buNone/>
            </a:pPr>
            <a:r>
              <a:rPr lang="zh-CN" altLang="en-US" sz="2800" dirty="0" smtClean="0">
                <a:solidFill>
                  <a:srgbClr val="0070C0"/>
                </a:solidFill>
              </a:rPr>
              <a:t>几何平均法计算平均发展速度着眼于最末一期的水平，故称为</a:t>
            </a:r>
            <a:r>
              <a:rPr lang="zh-CN" altLang="en-US" sz="2800" dirty="0" smtClean="0">
                <a:solidFill>
                  <a:srgbClr val="0070C0"/>
                </a:solidFill>
                <a:latin typeface="Arial" charset="0"/>
              </a:rPr>
              <a:t>“</a:t>
            </a:r>
            <a:r>
              <a:rPr lang="zh-CN" altLang="en-US" sz="2800" dirty="0" smtClean="0">
                <a:solidFill>
                  <a:srgbClr val="0070C0"/>
                </a:solidFill>
              </a:rPr>
              <a:t>水平法</a:t>
            </a:r>
            <a:r>
              <a:rPr lang="zh-CN" altLang="en-US" sz="2800" dirty="0" smtClean="0">
                <a:solidFill>
                  <a:srgbClr val="0070C0"/>
                </a:solidFill>
                <a:latin typeface="Arial" charset="0"/>
              </a:rPr>
              <a:t>”</a:t>
            </a:r>
            <a:r>
              <a:rPr lang="zh-CN" altLang="en-US" sz="2800" dirty="0" smtClean="0">
                <a:solidFill>
                  <a:srgbClr val="0070C0"/>
                </a:solidFill>
              </a:rPr>
              <a:t>。</a:t>
            </a:r>
          </a:p>
          <a:p>
            <a:pPr marL="609600" indent="-609600" algn="just" eaLnBrk="1" hangingPunct="1">
              <a:lnSpc>
                <a:spcPct val="114000"/>
              </a:lnSpc>
              <a:spcBef>
                <a:spcPct val="25000"/>
              </a:spcBef>
              <a:buFontTx/>
              <a:buNone/>
            </a:pPr>
            <a:r>
              <a:rPr lang="zh-CN" altLang="en-US" sz="2400" dirty="0" smtClean="0">
                <a:solidFill>
                  <a:srgbClr val="002060"/>
                </a:solidFill>
                <a:ea typeface="华文中宋" pitchFamily="2" charset="-122"/>
              </a:rPr>
              <a:t>用所求平均发展速度代表各环比发展速度，</a:t>
            </a:r>
          </a:p>
          <a:p>
            <a:pPr marL="450850" indent="-90488" algn="just" eaLnBrk="1" hangingPunct="1">
              <a:lnSpc>
                <a:spcPct val="150000"/>
              </a:lnSpc>
              <a:spcBef>
                <a:spcPct val="25000"/>
              </a:spcBef>
              <a:buClr>
                <a:srgbClr val="002060"/>
              </a:buClr>
              <a:buSzPct val="75000"/>
              <a:buFont typeface="Wingdings" pitchFamily="2" charset="2"/>
              <a:buChar char="l"/>
            </a:pPr>
            <a:r>
              <a:rPr lang="zh-CN" altLang="en-US" sz="2400" b="0" dirty="0" smtClean="0">
                <a:solidFill>
                  <a:srgbClr val="000000"/>
                </a:solidFill>
                <a:ea typeface="华文中宋" pitchFamily="2" charset="-122"/>
              </a:rPr>
              <a:t> 推算的最末一期的水平与实际相等</a:t>
            </a:r>
          </a:p>
          <a:p>
            <a:pPr marL="450850" indent="-90488" algn="just" eaLnBrk="1" hangingPunct="1">
              <a:lnSpc>
                <a:spcPct val="150000"/>
              </a:lnSpc>
              <a:spcBef>
                <a:spcPct val="25000"/>
              </a:spcBef>
              <a:buClr>
                <a:srgbClr val="002060"/>
              </a:buClr>
              <a:buSzPct val="75000"/>
              <a:buFont typeface="Wingdings" pitchFamily="2" charset="2"/>
              <a:buChar char="l"/>
            </a:pPr>
            <a:r>
              <a:rPr lang="zh-CN" altLang="en-US" sz="2400" b="0" dirty="0" smtClean="0">
                <a:solidFill>
                  <a:srgbClr val="000000"/>
                </a:solidFill>
                <a:ea typeface="华文中宋" pitchFamily="2" charset="-122"/>
              </a:rPr>
              <a:t> 推算的总速度</a:t>
            </a:r>
            <a:r>
              <a:rPr lang="en-US" altLang="zh-CN" sz="2000" b="0" dirty="0" smtClean="0">
                <a:solidFill>
                  <a:srgbClr val="000000"/>
                </a:solidFill>
                <a:ea typeface="华文中宋" pitchFamily="2" charset="-122"/>
              </a:rPr>
              <a:t>(</a:t>
            </a:r>
            <a:r>
              <a:rPr lang="zh-CN" altLang="en-US" sz="2000" b="0" dirty="0" smtClean="0">
                <a:solidFill>
                  <a:srgbClr val="000000"/>
                </a:solidFill>
                <a:ea typeface="华文中宋" pitchFamily="2" charset="-122"/>
              </a:rPr>
              <a:t>最末一期定基速度</a:t>
            </a:r>
            <a:r>
              <a:rPr lang="en-US" altLang="zh-CN" sz="2000" b="0" dirty="0" smtClean="0">
                <a:solidFill>
                  <a:srgbClr val="000000"/>
                </a:solidFill>
                <a:ea typeface="华文中宋" pitchFamily="2" charset="-122"/>
              </a:rPr>
              <a:t>)</a:t>
            </a:r>
            <a:r>
              <a:rPr lang="zh-CN" altLang="en-US" sz="2400" b="0" dirty="0" smtClean="0">
                <a:solidFill>
                  <a:srgbClr val="000000"/>
                </a:solidFill>
                <a:ea typeface="华文中宋" pitchFamily="2" charset="-122"/>
              </a:rPr>
              <a:t>也与实际相等</a:t>
            </a:r>
            <a:endParaRPr lang="en-US" altLang="zh-CN" sz="2400" b="0" dirty="0" smtClean="0">
              <a:solidFill>
                <a:srgbClr val="000000"/>
              </a:solidFill>
              <a:ea typeface="华文中宋" pitchFamily="2" charset="-122"/>
            </a:endParaRPr>
          </a:p>
          <a:p>
            <a:pPr marL="1866900" lvl="3" indent="-609600" algn="just" eaLnBrk="1" hangingPunct="1">
              <a:lnSpc>
                <a:spcPct val="114000"/>
              </a:lnSpc>
              <a:spcBef>
                <a:spcPct val="25000"/>
              </a:spcBef>
              <a:buFontTx/>
              <a:buNone/>
            </a:pPr>
            <a:endParaRPr lang="zh-CN" altLang="en-US" sz="1200" b="0" dirty="0" smtClean="0">
              <a:solidFill>
                <a:srgbClr val="000000"/>
              </a:solidFill>
            </a:endParaRPr>
          </a:p>
          <a:p>
            <a:pPr marL="360363" indent="-360363" algn="just" eaLnBrk="1" hangingPunct="1">
              <a:lnSpc>
                <a:spcPct val="114000"/>
              </a:lnSpc>
              <a:spcBef>
                <a:spcPct val="25000"/>
              </a:spcBef>
              <a:buFont typeface="Wingdings" pitchFamily="2" charset="2"/>
              <a:buChar char="Ø"/>
            </a:pPr>
            <a:r>
              <a:rPr lang="zh-CN" altLang="en-US" sz="2600" dirty="0" smtClean="0">
                <a:solidFill>
                  <a:srgbClr val="7030A0"/>
                </a:solidFill>
              </a:rPr>
              <a:t>如果关心现象在最后一期应达到的水平时，采用水平法计算平均发展速度比较合适。</a:t>
            </a:r>
          </a:p>
          <a:p>
            <a:pPr marL="360363" indent="-360363" algn="just" eaLnBrk="1" hangingPunct="1">
              <a:lnSpc>
                <a:spcPct val="114000"/>
              </a:lnSpc>
              <a:spcBef>
                <a:spcPct val="25000"/>
              </a:spcBef>
              <a:buFont typeface="Wingdings" pitchFamily="2" charset="2"/>
              <a:buChar char="Ø"/>
            </a:pPr>
            <a:r>
              <a:rPr lang="zh-CN" altLang="en-US" sz="2600" dirty="0" smtClean="0">
                <a:solidFill>
                  <a:srgbClr val="7030A0"/>
                </a:solidFill>
              </a:rPr>
              <a:t>几何平均法较为简单直观，既便于各种速度之间的推算，也便于预测未来某期的水平，因此有着广泛的应用。</a:t>
            </a:r>
          </a:p>
        </p:txBody>
      </p:sp>
      <p:sp>
        <p:nvSpPr>
          <p:cNvPr id="94212" name="Rectangle 3"/>
          <p:cNvSpPr>
            <a:spLocks noGrp="1" noChangeArrowheads="1"/>
          </p:cNvSpPr>
          <p:nvPr>
            <p:ph type="title"/>
          </p:nvPr>
        </p:nvSpPr>
        <p:spPr>
          <a:xfrm>
            <a:off x="1425575" y="239713"/>
            <a:ext cx="6665913" cy="685800"/>
          </a:xfrm>
        </p:spPr>
        <p:txBody>
          <a:bodyPr lIns="90488" tIns="44450" rIns="90488" bIns="44450" anchor="ctr" anchorCtr="1"/>
          <a:lstStyle/>
          <a:p>
            <a:pPr eaLnBrk="1" hangingPunct="1"/>
            <a:r>
              <a:rPr lang="zh-CN" altLang="en-US" dirty="0" smtClean="0"/>
              <a:t>几何平均法的特点</a:t>
            </a:r>
          </a:p>
        </p:txBody>
      </p:sp>
      <p:sp>
        <p:nvSpPr>
          <p:cNvPr id="94213" name="日期占位符 4"/>
          <p:cNvSpPr>
            <a:spLocks noGrp="1"/>
          </p:cNvSpPr>
          <p:nvPr>
            <p:ph type="dt" sz="quarter" idx="10"/>
          </p:nvPr>
        </p:nvSpPr>
        <p:spPr>
          <a:noFill/>
        </p:spPr>
        <p:txBody>
          <a:bodyPr/>
          <a:lstStyle/>
          <a:p>
            <a:endParaRPr lang="en-US" altLang="zh-CN" smtClean="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24962">
                                            <p:txEl>
                                              <p:pRg st="5" end="5"/>
                                            </p:txEl>
                                          </p:spTgt>
                                        </p:tgtEl>
                                        <p:attrNameLst>
                                          <p:attrName>style.visibility</p:attrName>
                                        </p:attrNameLst>
                                      </p:cBhvr>
                                      <p:to>
                                        <p:strVal val="visible"/>
                                      </p:to>
                                    </p:set>
                                    <p:animEffect transition="in" filter="wipe(left)">
                                      <p:cBhvr>
                                        <p:cTn id="7" dur="500"/>
                                        <p:tgtEl>
                                          <p:spTgt spid="424962">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24962">
                                            <p:txEl>
                                              <p:pRg st="6" end="6"/>
                                            </p:txEl>
                                          </p:spTgt>
                                        </p:tgtEl>
                                        <p:attrNameLst>
                                          <p:attrName>style.visibility</p:attrName>
                                        </p:attrNameLst>
                                      </p:cBhvr>
                                      <p:to>
                                        <p:strVal val="visible"/>
                                      </p:to>
                                    </p:set>
                                    <p:animEffect transition="in" filter="wipe(left)">
                                      <p:cBhvr>
                                        <p:cTn id="12" dur="500"/>
                                        <p:tgtEl>
                                          <p:spTgt spid="42496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4962" grpId="0" uiExpand="1" build="p"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title"/>
          </p:nvPr>
        </p:nvSpPr>
        <p:spPr>
          <a:xfrm>
            <a:off x="705643" y="567029"/>
            <a:ext cx="7732713" cy="709613"/>
          </a:xfrm>
        </p:spPr>
        <p:txBody>
          <a:bodyPr/>
          <a:lstStyle/>
          <a:p>
            <a:pPr eaLnBrk="1" hangingPunct="1"/>
            <a:r>
              <a:rPr lang="zh-CN" altLang="en-US" dirty="0" smtClean="0"/>
              <a:t>平均速度用于预测</a:t>
            </a:r>
          </a:p>
        </p:txBody>
      </p:sp>
      <p:sp>
        <p:nvSpPr>
          <p:cNvPr id="28677" name="Rectangle 3"/>
          <p:cNvSpPr>
            <a:spLocks noGrp="1" noChangeArrowheads="1"/>
          </p:cNvSpPr>
          <p:nvPr>
            <p:ph type="body" idx="1"/>
          </p:nvPr>
        </p:nvSpPr>
        <p:spPr>
          <a:xfrm>
            <a:off x="1259632" y="1268761"/>
            <a:ext cx="7178724" cy="1152128"/>
          </a:xfrm>
        </p:spPr>
        <p:txBody>
          <a:bodyPr/>
          <a:lstStyle/>
          <a:p>
            <a:pPr marL="0" indent="0" eaLnBrk="1" hangingPunct="1">
              <a:lnSpc>
                <a:spcPct val="115000"/>
              </a:lnSpc>
              <a:spcBef>
                <a:spcPct val="30000"/>
              </a:spcBef>
              <a:buNone/>
            </a:pPr>
            <a:r>
              <a:rPr lang="zh-CN" altLang="en-US" dirty="0" smtClean="0">
                <a:solidFill>
                  <a:srgbClr val="0070C0"/>
                </a:solidFill>
              </a:rPr>
              <a:t>根据</a:t>
            </a:r>
            <a:r>
              <a:rPr lang="zh-CN" altLang="en-US" dirty="0" smtClean="0">
                <a:solidFill>
                  <a:srgbClr val="0070C0"/>
                </a:solidFill>
              </a:rPr>
              <a:t>平均速度预测现象经过一段</a:t>
            </a:r>
            <a:r>
              <a:rPr lang="zh-CN" altLang="en-US" dirty="0" smtClean="0">
                <a:solidFill>
                  <a:srgbClr val="0070C0"/>
                </a:solidFill>
              </a:rPr>
              <a:t>时间后</a:t>
            </a:r>
            <a:r>
              <a:rPr lang="zh-CN" altLang="en-US" dirty="0" smtClean="0">
                <a:solidFill>
                  <a:srgbClr val="0070C0"/>
                </a:solidFill>
              </a:rPr>
              <a:t>可能达到的水平。</a:t>
            </a:r>
            <a:endParaRPr lang="zh-CN" altLang="en-US" sz="2800" dirty="0" smtClean="0">
              <a:solidFill>
                <a:srgbClr val="0070C0"/>
              </a:solidFill>
            </a:endParaRPr>
          </a:p>
        </p:txBody>
      </p:sp>
      <p:graphicFrame>
        <p:nvGraphicFramePr>
          <p:cNvPr id="28674" name="Object 4"/>
          <p:cNvGraphicFramePr>
            <a:graphicFrameLocks noChangeAspect="1"/>
          </p:cNvGraphicFramePr>
          <p:nvPr>
            <p:extLst>
              <p:ext uri="{D42A27DB-BD31-4B8C-83A1-F6EECF244321}">
                <p14:modId xmlns:p14="http://schemas.microsoft.com/office/powerpoint/2010/main" val="2573500910"/>
              </p:ext>
            </p:extLst>
          </p:nvPr>
        </p:nvGraphicFramePr>
        <p:xfrm>
          <a:off x="1907704" y="2493566"/>
          <a:ext cx="5655107" cy="1652976"/>
        </p:xfrm>
        <a:graphic>
          <a:graphicData uri="http://schemas.openxmlformats.org/presentationml/2006/ole">
            <mc:AlternateContent xmlns:mc="http://schemas.openxmlformats.org/markup-compatibility/2006">
              <mc:Choice xmlns:v="urn:schemas-microsoft-com:vml" Requires="v">
                <p:oleObj spid="_x0000_s28780" name="Equation" r:id="rId3" imgW="1752480" imgH="482400" progId="Equation.DSMT4">
                  <p:embed/>
                </p:oleObj>
              </mc:Choice>
              <mc:Fallback>
                <p:oleObj name="Equation" r:id="rId3" imgW="1752480" imgH="4824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7704" y="2493566"/>
                        <a:ext cx="5655107" cy="1652976"/>
                      </a:xfrm>
                      <a:prstGeom prst="rect">
                        <a:avLst/>
                      </a:prstGeom>
                      <a:noFill/>
                      <a:ln w="28575">
                        <a:solidFill>
                          <a:schemeClr val="bg1">
                            <a:lumMod val="95000"/>
                          </a:schemeClr>
                        </a:solidFill>
                        <a:miter lim="800000"/>
                        <a:headEnd/>
                        <a:tailEnd/>
                      </a:ln>
                      <a:extLst/>
                    </p:spPr>
                  </p:pic>
                </p:oleObj>
              </mc:Fallback>
            </mc:AlternateContent>
          </a:graphicData>
        </a:graphic>
      </p:graphicFrame>
      <p:sp>
        <p:nvSpPr>
          <p:cNvPr id="28678" name="Rectangle 5"/>
          <p:cNvSpPr>
            <a:spLocks noChangeArrowheads="1"/>
          </p:cNvSpPr>
          <p:nvPr/>
        </p:nvSpPr>
        <p:spPr bwMode="auto">
          <a:xfrm>
            <a:off x="0" y="3300413"/>
            <a:ext cx="9144000" cy="0"/>
          </a:xfrm>
          <a:prstGeom prst="rect">
            <a:avLst/>
          </a:prstGeom>
          <a:noFill/>
          <a:ln w="9525" algn="ctr">
            <a:noFill/>
            <a:miter lim="800000"/>
            <a:headEnd/>
            <a:tailEnd/>
          </a:ln>
        </p:spPr>
        <p:txBody>
          <a:bodyPr wrap="none" anchor="ctr">
            <a:spAutoFit/>
          </a:bodyPr>
          <a:lstStyle/>
          <a:p>
            <a:endParaRPr lang="zh-CN" altLang="en-US"/>
          </a:p>
        </p:txBody>
      </p:sp>
      <p:sp>
        <p:nvSpPr>
          <p:cNvPr id="28679" name="Rectangle 6"/>
          <p:cNvSpPr>
            <a:spLocks noChangeArrowheads="1"/>
          </p:cNvSpPr>
          <p:nvPr/>
        </p:nvSpPr>
        <p:spPr bwMode="auto">
          <a:xfrm>
            <a:off x="0" y="4725144"/>
            <a:ext cx="8208962" cy="1152525"/>
          </a:xfrm>
          <a:prstGeom prst="rect">
            <a:avLst/>
          </a:prstGeom>
          <a:noFill/>
          <a:ln w="9525">
            <a:noFill/>
            <a:miter lim="800000"/>
            <a:headEnd/>
            <a:tailEnd/>
          </a:ln>
        </p:spPr>
        <p:txBody>
          <a:bodyPr/>
          <a:lstStyle/>
          <a:p>
            <a:pPr marL="742950" lvl="1" indent="-285750">
              <a:lnSpc>
                <a:spcPct val="115000"/>
              </a:lnSpc>
              <a:spcBef>
                <a:spcPct val="30000"/>
              </a:spcBef>
              <a:buSzPct val="80000"/>
              <a:buFontTx/>
              <a:buBlip>
                <a:blip r:embed="rId5"/>
              </a:buBlip>
            </a:pPr>
            <a:r>
              <a:rPr lang="zh-CN" altLang="en-US" sz="2800" b="1" dirty="0" smtClean="0">
                <a:solidFill>
                  <a:srgbClr val="000000"/>
                </a:solidFill>
                <a:latin typeface="Tahoma" pitchFamily="34" charset="0"/>
              </a:rPr>
              <a:t>或</a:t>
            </a:r>
            <a:r>
              <a:rPr lang="zh-CN" altLang="en-US" sz="3600" b="1" dirty="0" smtClean="0">
                <a:solidFill>
                  <a:srgbClr val="000000"/>
                </a:solidFill>
                <a:latin typeface="Tahoma" pitchFamily="34" charset="0"/>
              </a:rPr>
              <a:t> </a:t>
            </a:r>
            <a:endParaRPr lang="zh-CN" altLang="en-US" sz="3600" b="1" dirty="0">
              <a:solidFill>
                <a:srgbClr val="000000"/>
              </a:solidFill>
              <a:latin typeface="Tahoma" pitchFamily="34" charset="0"/>
            </a:endParaRPr>
          </a:p>
        </p:txBody>
      </p:sp>
      <p:sp>
        <p:nvSpPr>
          <p:cNvPr id="28680" name="Rectangle 7"/>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28681" name="日期占位符 8"/>
          <p:cNvSpPr>
            <a:spLocks noGrp="1"/>
          </p:cNvSpPr>
          <p:nvPr>
            <p:ph type="dt" sz="quarter" idx="10"/>
          </p:nvPr>
        </p:nvSpPr>
        <p:spPr>
          <a:noFill/>
        </p:spPr>
        <p:txBody>
          <a:bodyPr/>
          <a:lstStyle/>
          <a:p>
            <a:endParaRPr lang="en-US" altLang="zh-CN" smtClean="0"/>
          </a:p>
        </p:txBody>
      </p:sp>
      <p:pic>
        <p:nvPicPr>
          <p:cNvPr id="3" name="Picture 4"/>
          <p:cNvPicPr>
            <a:picLocks noChangeAspect="1" noChangeArrowheads="1"/>
          </p:cNvPicPr>
          <p:nvPr/>
        </p:nvPicPr>
        <p:blipFill>
          <a:blip r:embed="rId6" cstate="print"/>
          <a:srcRect/>
          <a:stretch>
            <a:fillRect/>
          </a:stretch>
        </p:blipFill>
        <p:spPr bwMode="auto">
          <a:xfrm>
            <a:off x="1475656" y="4517338"/>
            <a:ext cx="5760640" cy="1800200"/>
          </a:xfrm>
          <a:prstGeom prst="rect">
            <a:avLst/>
          </a:prstGeom>
          <a:noFill/>
          <a:ln w="9525">
            <a:solidFill>
              <a:schemeClr val="accent1"/>
            </a:solidFill>
            <a:miter lim="800000"/>
            <a:headEnd/>
            <a:tailEnd/>
          </a:ln>
          <a:effectLst/>
        </p:spPr>
      </p:pic>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2" name="Rectangle 2"/>
          <p:cNvSpPr>
            <a:spLocks noGrp="1" noChangeArrowheads="1"/>
          </p:cNvSpPr>
          <p:nvPr>
            <p:ph type="title"/>
          </p:nvPr>
        </p:nvSpPr>
        <p:spPr>
          <a:xfrm>
            <a:off x="900113" y="404813"/>
            <a:ext cx="8027987" cy="709612"/>
          </a:xfrm>
        </p:spPr>
        <p:txBody>
          <a:bodyPr/>
          <a:lstStyle/>
          <a:p>
            <a:pPr eaLnBrk="1" hangingPunct="1"/>
            <a:r>
              <a:rPr lang="zh-CN" altLang="en-US" sz="3600" dirty="0" smtClean="0">
                <a:solidFill>
                  <a:srgbClr val="1313FF"/>
                </a:solidFill>
              </a:rPr>
              <a:t>年度增长率与月</a:t>
            </a:r>
            <a:r>
              <a:rPr lang="en-US" altLang="zh-CN" sz="3600" b="0" dirty="0" smtClean="0">
                <a:solidFill>
                  <a:srgbClr val="1313FF"/>
                </a:solidFill>
              </a:rPr>
              <a:t>(</a:t>
            </a:r>
            <a:r>
              <a:rPr lang="zh-CN" altLang="en-US" sz="3600" dirty="0" smtClean="0">
                <a:solidFill>
                  <a:srgbClr val="1313FF"/>
                </a:solidFill>
              </a:rPr>
              <a:t>季</a:t>
            </a:r>
            <a:r>
              <a:rPr lang="en-US" altLang="zh-CN" sz="3600" b="0" dirty="0" smtClean="0">
                <a:solidFill>
                  <a:srgbClr val="1313FF"/>
                </a:solidFill>
              </a:rPr>
              <a:t>)</a:t>
            </a:r>
            <a:r>
              <a:rPr lang="zh-CN" altLang="en-US" sz="3600" dirty="0" smtClean="0">
                <a:solidFill>
                  <a:srgbClr val="1313FF"/>
                </a:solidFill>
              </a:rPr>
              <a:t>增长率之间的换算</a:t>
            </a:r>
          </a:p>
        </p:txBody>
      </p:sp>
      <p:sp>
        <p:nvSpPr>
          <p:cNvPr id="29703" name="Rectangle 3"/>
          <p:cNvSpPr>
            <a:spLocks noGrp="1" noChangeArrowheads="1"/>
          </p:cNvSpPr>
          <p:nvPr>
            <p:ph type="body" idx="1"/>
          </p:nvPr>
        </p:nvSpPr>
        <p:spPr>
          <a:xfrm>
            <a:off x="323850" y="1196975"/>
            <a:ext cx="8626475" cy="2016125"/>
          </a:xfrm>
        </p:spPr>
        <p:txBody>
          <a:bodyPr/>
          <a:lstStyle/>
          <a:p>
            <a:pPr eaLnBrk="1" hangingPunct="1">
              <a:lnSpc>
                <a:spcPct val="115000"/>
              </a:lnSpc>
            </a:pPr>
            <a:r>
              <a:rPr lang="zh-CN" altLang="en-US" sz="2800" dirty="0" smtClean="0">
                <a:solidFill>
                  <a:schemeClr val="tx1"/>
                </a:solidFill>
                <a:latin typeface="Times New Roman" pitchFamily="18" charset="0"/>
              </a:rPr>
              <a:t>利用平均发展速度的原理，年度增长率</a:t>
            </a:r>
            <a:r>
              <a:rPr lang="en-US" altLang="zh-CN" sz="2800" dirty="0" err="1" smtClean="0">
                <a:solidFill>
                  <a:schemeClr val="tx1"/>
                </a:solidFill>
                <a:latin typeface="Times New Roman" pitchFamily="18" charset="0"/>
              </a:rPr>
              <a:t>z</a:t>
            </a:r>
            <a:r>
              <a:rPr lang="en-US" altLang="zh-CN" sz="2800" baseline="-25000" dirty="0" err="1" smtClean="0">
                <a:solidFill>
                  <a:schemeClr val="tx1"/>
                </a:solidFill>
                <a:latin typeface="Times New Roman" pitchFamily="18" charset="0"/>
              </a:rPr>
              <a:t>y</a:t>
            </a:r>
            <a:r>
              <a:rPr lang="zh-CN" altLang="en-US" sz="2800" dirty="0" smtClean="0">
                <a:solidFill>
                  <a:schemeClr val="tx1"/>
                </a:solidFill>
                <a:latin typeface="Times New Roman" pitchFamily="18" charset="0"/>
              </a:rPr>
              <a:t>与月增长率 </a:t>
            </a:r>
            <a:r>
              <a:rPr lang="en-US" altLang="zh-CN" sz="2800" dirty="0" err="1" smtClean="0">
                <a:solidFill>
                  <a:schemeClr val="tx1"/>
                </a:solidFill>
                <a:latin typeface="Times New Roman" pitchFamily="18" charset="0"/>
              </a:rPr>
              <a:t>z</a:t>
            </a:r>
            <a:r>
              <a:rPr lang="en-US" altLang="zh-CN" sz="2800" baseline="-25000" dirty="0" err="1" smtClean="0">
                <a:solidFill>
                  <a:schemeClr val="tx1"/>
                </a:solidFill>
                <a:latin typeface="Times New Roman" pitchFamily="18" charset="0"/>
              </a:rPr>
              <a:t>m</a:t>
            </a:r>
            <a:r>
              <a:rPr lang="en-US" altLang="zh-CN" sz="2800" dirty="0" smtClean="0">
                <a:solidFill>
                  <a:schemeClr val="tx1"/>
                </a:solidFill>
                <a:latin typeface="Times New Roman" pitchFamily="18" charset="0"/>
              </a:rPr>
              <a:t> </a:t>
            </a:r>
            <a:r>
              <a:rPr lang="zh-CN" altLang="en-US" sz="2800" dirty="0" smtClean="0">
                <a:solidFill>
                  <a:schemeClr val="tx1"/>
                </a:solidFill>
                <a:latin typeface="Times New Roman" pitchFamily="18" charset="0"/>
              </a:rPr>
              <a:t>（季增长率</a:t>
            </a:r>
            <a:r>
              <a:rPr lang="en-US" altLang="zh-CN" sz="2800" dirty="0" err="1" smtClean="0">
                <a:solidFill>
                  <a:schemeClr val="tx1"/>
                </a:solidFill>
                <a:latin typeface="Times New Roman" pitchFamily="18" charset="0"/>
              </a:rPr>
              <a:t>z</a:t>
            </a:r>
            <a:r>
              <a:rPr lang="en-US" altLang="zh-CN" sz="2800" baseline="-25000" dirty="0" err="1" smtClean="0">
                <a:solidFill>
                  <a:schemeClr val="tx1"/>
                </a:solidFill>
                <a:latin typeface="Times New Roman" pitchFamily="18" charset="0"/>
              </a:rPr>
              <a:t>s</a:t>
            </a:r>
            <a:r>
              <a:rPr lang="en-US" altLang="zh-CN" sz="2800" dirty="0" smtClean="0">
                <a:solidFill>
                  <a:schemeClr val="tx1"/>
                </a:solidFill>
                <a:latin typeface="Times New Roman" pitchFamily="18" charset="0"/>
              </a:rPr>
              <a:t> </a:t>
            </a:r>
            <a:r>
              <a:rPr lang="zh-CN" altLang="en-US" sz="2800" dirty="0" smtClean="0">
                <a:solidFill>
                  <a:schemeClr val="tx1"/>
                </a:solidFill>
                <a:latin typeface="Times New Roman" pitchFamily="18" charset="0"/>
              </a:rPr>
              <a:t>）之间可进行换算：</a:t>
            </a:r>
          </a:p>
        </p:txBody>
      </p:sp>
      <p:graphicFrame>
        <p:nvGraphicFramePr>
          <p:cNvPr id="29698" name="Object 4"/>
          <p:cNvGraphicFramePr>
            <a:graphicFrameLocks noChangeAspect="1"/>
          </p:cNvGraphicFramePr>
          <p:nvPr>
            <p:extLst>
              <p:ext uri="{D42A27DB-BD31-4B8C-83A1-F6EECF244321}">
                <p14:modId xmlns:p14="http://schemas.microsoft.com/office/powerpoint/2010/main" val="700621989"/>
              </p:ext>
            </p:extLst>
          </p:nvPr>
        </p:nvGraphicFramePr>
        <p:xfrm>
          <a:off x="996950" y="2371725"/>
          <a:ext cx="7583488" cy="995363"/>
        </p:xfrm>
        <a:graphic>
          <a:graphicData uri="http://schemas.openxmlformats.org/presentationml/2006/ole">
            <mc:AlternateContent xmlns:mc="http://schemas.openxmlformats.org/markup-compatibility/2006">
              <mc:Choice xmlns:v="urn:schemas-microsoft-com:vml" Requires="v">
                <p:oleObj spid="_x0000_s30022" name="公式" r:id="rId3" imgW="2349360" imgH="253800" progId="Equation.3">
                  <p:embed/>
                </p:oleObj>
              </mc:Choice>
              <mc:Fallback>
                <p:oleObj name="公式" r:id="rId3" imgW="2349360" imgH="253800" progId="Equation.3">
                  <p:embed/>
                  <p:pic>
                    <p:nvPicPr>
                      <p:cNvPr id="0" name="Object 4"/>
                      <p:cNvPicPr>
                        <a:picLocks noChangeAspect="1" noChangeArrowheads="1"/>
                      </p:cNvPicPr>
                      <p:nvPr/>
                    </p:nvPicPr>
                    <p:blipFill>
                      <a:blip r:embed="rId4"/>
                      <a:srcRect/>
                      <a:stretch>
                        <a:fillRect/>
                      </a:stretch>
                    </p:blipFill>
                    <p:spPr bwMode="auto">
                      <a:xfrm>
                        <a:off x="996950" y="2371725"/>
                        <a:ext cx="7583488" cy="995363"/>
                      </a:xfrm>
                      <a:prstGeom prst="rect">
                        <a:avLst/>
                      </a:prstGeom>
                      <a:noFill/>
                      <a:ln w="28575">
                        <a:solidFill>
                          <a:srgbClr val="92D050"/>
                        </a:solidFill>
                        <a:miter lim="800000"/>
                        <a:headEnd/>
                        <a:tailEnd/>
                      </a:ln>
                      <a:extLst/>
                    </p:spPr>
                  </p:pic>
                </p:oleObj>
              </mc:Fallback>
            </mc:AlternateContent>
          </a:graphicData>
        </a:graphic>
      </p:graphicFrame>
      <p:sp>
        <p:nvSpPr>
          <p:cNvPr id="428037" name="Rectangle 5"/>
          <p:cNvSpPr>
            <a:spLocks noChangeArrowheads="1"/>
          </p:cNvSpPr>
          <p:nvPr/>
        </p:nvSpPr>
        <p:spPr bwMode="auto">
          <a:xfrm>
            <a:off x="250825" y="3573463"/>
            <a:ext cx="8107363" cy="1368425"/>
          </a:xfrm>
          <a:prstGeom prst="rect">
            <a:avLst/>
          </a:prstGeom>
          <a:noFill/>
          <a:ln w="9525">
            <a:noFill/>
            <a:miter lim="800000"/>
            <a:headEnd/>
            <a:tailEnd/>
          </a:ln>
        </p:spPr>
        <p:txBody>
          <a:bodyPr/>
          <a:lstStyle/>
          <a:p>
            <a:pPr marL="342900" indent="-342900" algn="just">
              <a:lnSpc>
                <a:spcPct val="110000"/>
              </a:lnSpc>
              <a:spcBef>
                <a:spcPct val="20000"/>
              </a:spcBef>
              <a:buSzPct val="90000"/>
              <a:buFontTx/>
              <a:buBlip>
                <a:blip r:embed="rId5"/>
              </a:buBlip>
            </a:pPr>
            <a:r>
              <a:rPr lang="zh-CN" altLang="en-US" sz="2600" b="1" dirty="0" smtClean="0">
                <a:latin typeface="Tahoma" pitchFamily="34" charset="0"/>
                <a:cs typeface="Times New Roman" pitchFamily="18" charset="0"/>
              </a:rPr>
              <a:t>例如，某</a:t>
            </a:r>
            <a:r>
              <a:rPr lang="zh-CN" altLang="en-US" sz="2600" b="1" dirty="0">
                <a:latin typeface="Tahoma" pitchFamily="34" charset="0"/>
                <a:cs typeface="Times New Roman" pitchFamily="18" charset="0"/>
              </a:rPr>
              <a:t>商品</a:t>
            </a:r>
            <a:r>
              <a:rPr lang="zh-CN" altLang="en-US" sz="2600" b="1" dirty="0" smtClean="0">
                <a:latin typeface="Tahoma" pitchFamily="34" charset="0"/>
                <a:cs typeface="Times New Roman" pitchFamily="18" charset="0"/>
              </a:rPr>
              <a:t>销售量</a:t>
            </a:r>
            <a:r>
              <a:rPr lang="en-US" altLang="zh-CN" sz="2600" b="1" dirty="0" smtClean="0">
                <a:latin typeface="Tahoma" pitchFamily="34" charset="0"/>
                <a:cs typeface="Times New Roman" pitchFamily="18" charset="0"/>
              </a:rPr>
              <a:t>2022</a:t>
            </a:r>
            <a:r>
              <a:rPr lang="zh-CN" altLang="en-US" sz="2600" b="1" dirty="0" smtClean="0">
                <a:latin typeface="Tahoma" pitchFamily="34" charset="0"/>
              </a:rPr>
              <a:t>年</a:t>
            </a:r>
            <a:r>
              <a:rPr lang="en-US" altLang="zh-CN" sz="2600" b="1" dirty="0" smtClean="0">
                <a:latin typeface="Tahoma" pitchFamily="34" charset="0"/>
              </a:rPr>
              <a:t>7</a:t>
            </a:r>
            <a:r>
              <a:rPr lang="zh-CN" altLang="en-US" sz="2600" b="1" dirty="0" smtClean="0">
                <a:latin typeface="Tahoma" pitchFamily="34" charset="0"/>
              </a:rPr>
              <a:t>月</a:t>
            </a:r>
            <a:r>
              <a:rPr lang="zh-CN" altLang="en-US" sz="2600" b="1" dirty="0">
                <a:latin typeface="Tahoma" pitchFamily="34" charset="0"/>
              </a:rPr>
              <a:t>为</a:t>
            </a:r>
            <a:r>
              <a:rPr lang="en-US" altLang="zh-CN" sz="2600" b="1" dirty="0">
                <a:latin typeface="Tahoma" pitchFamily="34" charset="0"/>
                <a:cs typeface="Times New Roman" pitchFamily="18" charset="0"/>
              </a:rPr>
              <a:t>200</a:t>
            </a:r>
            <a:r>
              <a:rPr lang="en-US" altLang="zh-CN" sz="2600" b="1" dirty="0">
                <a:latin typeface="Tahoma" pitchFamily="34" charset="0"/>
              </a:rPr>
              <a:t>0</a:t>
            </a:r>
            <a:r>
              <a:rPr lang="zh-CN" altLang="en-US" sz="2600" b="1" dirty="0">
                <a:latin typeface="Tahoma" pitchFamily="34" charset="0"/>
              </a:rPr>
              <a:t>件，</a:t>
            </a:r>
            <a:r>
              <a:rPr lang="en-US" altLang="zh-CN" sz="2600" b="1" dirty="0" smtClean="0">
                <a:latin typeface="Tahoma" pitchFamily="34" charset="0"/>
                <a:cs typeface="Times New Roman" pitchFamily="18" charset="0"/>
              </a:rPr>
              <a:t>2024</a:t>
            </a:r>
            <a:r>
              <a:rPr lang="zh-CN" altLang="en-US" sz="2600" b="1" dirty="0" smtClean="0">
                <a:latin typeface="Tahoma" pitchFamily="34" charset="0"/>
              </a:rPr>
              <a:t>年</a:t>
            </a:r>
            <a:r>
              <a:rPr lang="en-US" altLang="zh-CN" sz="2600" b="1" dirty="0" smtClean="0">
                <a:latin typeface="Tahoma" pitchFamily="34" charset="0"/>
              </a:rPr>
              <a:t>3</a:t>
            </a:r>
            <a:r>
              <a:rPr lang="zh-CN" altLang="en-US" sz="2600" b="1" dirty="0" smtClean="0">
                <a:latin typeface="Tahoma" pitchFamily="34" charset="0"/>
              </a:rPr>
              <a:t>月</a:t>
            </a:r>
            <a:r>
              <a:rPr lang="zh-CN" altLang="en-US" sz="2600" b="1" dirty="0">
                <a:latin typeface="Tahoma" pitchFamily="34" charset="0"/>
              </a:rPr>
              <a:t>为</a:t>
            </a:r>
            <a:r>
              <a:rPr lang="en-US" altLang="zh-CN" sz="2600" b="1" dirty="0">
                <a:latin typeface="Tahoma" pitchFamily="34" charset="0"/>
                <a:cs typeface="Times New Roman" pitchFamily="18" charset="0"/>
              </a:rPr>
              <a:t>2600</a:t>
            </a:r>
            <a:r>
              <a:rPr lang="zh-CN" altLang="en-US" sz="2600" b="1" dirty="0" smtClean="0">
                <a:latin typeface="Tahoma" pitchFamily="34" charset="0"/>
                <a:cs typeface="Times New Roman" pitchFamily="18" charset="0"/>
              </a:rPr>
              <a:t>件</a:t>
            </a:r>
            <a:r>
              <a:rPr lang="en-US" altLang="zh-CN" sz="2000" dirty="0" smtClean="0">
                <a:latin typeface="Tahoma" pitchFamily="34" charset="0"/>
                <a:cs typeface="Times New Roman" pitchFamily="18" charset="0"/>
              </a:rPr>
              <a:t>(</a:t>
            </a:r>
            <a:r>
              <a:rPr lang="zh-CN" altLang="en-US" sz="2000" dirty="0" smtClean="0">
                <a:latin typeface="Tahoma" pitchFamily="34" charset="0"/>
                <a:cs typeface="Times New Roman" pitchFamily="18" charset="0"/>
              </a:rPr>
              <a:t>不考虑其它因素</a:t>
            </a:r>
            <a:r>
              <a:rPr lang="en-US" altLang="zh-CN" sz="2000" dirty="0" smtClean="0">
                <a:latin typeface="Tahoma" pitchFamily="34" charset="0"/>
                <a:cs typeface="Times New Roman" pitchFamily="18" charset="0"/>
              </a:rPr>
              <a:t>)</a:t>
            </a:r>
            <a:r>
              <a:rPr lang="zh-CN" altLang="en-US" sz="2600" b="1" dirty="0" smtClean="0">
                <a:latin typeface="Tahoma" pitchFamily="34" charset="0"/>
              </a:rPr>
              <a:t>。</a:t>
            </a:r>
            <a:r>
              <a:rPr lang="zh-CN" altLang="en-US" sz="2600" b="1" dirty="0">
                <a:latin typeface="Tahoma" pitchFamily="34" charset="0"/>
              </a:rPr>
              <a:t>则</a:t>
            </a:r>
            <a:r>
              <a:rPr lang="en-US" altLang="zh-CN" sz="2600" b="1" dirty="0">
                <a:latin typeface="Tahoma" pitchFamily="34" charset="0"/>
              </a:rPr>
              <a:t>:</a:t>
            </a:r>
          </a:p>
          <a:p>
            <a:pPr marL="742950" lvl="1" indent="-285750" algn="just">
              <a:lnSpc>
                <a:spcPct val="110000"/>
              </a:lnSpc>
              <a:spcBef>
                <a:spcPct val="20000"/>
              </a:spcBef>
              <a:buSzPct val="80000"/>
              <a:buFontTx/>
              <a:buBlip>
                <a:blip r:embed="rId6"/>
              </a:buBlip>
            </a:pPr>
            <a:r>
              <a:rPr lang="zh-CN" altLang="en-US" sz="2800" b="1" dirty="0">
                <a:solidFill>
                  <a:srgbClr val="1313FF"/>
                </a:solidFill>
                <a:latin typeface="Tahoma" pitchFamily="34" charset="0"/>
              </a:rPr>
              <a:t>月平均增长率   </a:t>
            </a:r>
            <a:r>
              <a:rPr lang="zh-CN" altLang="en-US" sz="2800" b="1" dirty="0">
                <a:latin typeface="Tahoma" pitchFamily="34" charset="0"/>
              </a:rPr>
              <a:t>和   </a:t>
            </a:r>
            <a:r>
              <a:rPr lang="zh-CN" altLang="en-US" sz="2800" b="1" dirty="0">
                <a:solidFill>
                  <a:srgbClr val="1313FF"/>
                </a:solidFill>
                <a:latin typeface="Tahoma" pitchFamily="34" charset="0"/>
              </a:rPr>
              <a:t>年平均增长率  </a:t>
            </a:r>
            <a:r>
              <a:rPr lang="zh-CN" altLang="en-US" sz="2800" b="1" dirty="0">
                <a:latin typeface="Tahoma" pitchFamily="34" charset="0"/>
              </a:rPr>
              <a:t>分别为：</a:t>
            </a:r>
          </a:p>
        </p:txBody>
      </p:sp>
      <p:graphicFrame>
        <p:nvGraphicFramePr>
          <p:cNvPr id="428038" name="Object 6">
            <a:hlinkClick r:id="" action="ppaction://ole?verb=0"/>
          </p:cNvPr>
          <p:cNvGraphicFramePr>
            <a:graphicFrameLocks/>
          </p:cNvGraphicFramePr>
          <p:nvPr>
            <p:extLst>
              <p:ext uri="{D42A27DB-BD31-4B8C-83A1-F6EECF244321}">
                <p14:modId xmlns:p14="http://schemas.microsoft.com/office/powerpoint/2010/main" val="1736816064"/>
              </p:ext>
            </p:extLst>
          </p:nvPr>
        </p:nvGraphicFramePr>
        <p:xfrm>
          <a:off x="848122" y="5083969"/>
          <a:ext cx="3219822" cy="1214438"/>
        </p:xfrm>
        <a:graphic>
          <a:graphicData uri="http://schemas.openxmlformats.org/presentationml/2006/ole">
            <mc:AlternateContent xmlns:mc="http://schemas.openxmlformats.org/markup-compatibility/2006">
              <mc:Choice xmlns:v="urn:schemas-microsoft-com:vml" Requires="v">
                <p:oleObj spid="_x0000_s30023" name="公式" r:id="rId7" imgW="1231560" imgH="444240" progId="Equation.3">
                  <p:embed/>
                </p:oleObj>
              </mc:Choice>
              <mc:Fallback>
                <p:oleObj name="公式" r:id="rId7" imgW="1231560" imgH="444240" progId="Equation.3">
                  <p:embed/>
                  <p:pic>
                    <p:nvPicPr>
                      <p:cNvPr id="0" name="Object 6"/>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8122" y="5083969"/>
                        <a:ext cx="3219822" cy="1214438"/>
                      </a:xfrm>
                      <a:prstGeom prst="rect">
                        <a:avLst/>
                      </a:prstGeom>
                      <a:noFill/>
                      <a:ln>
                        <a:noFill/>
                      </a:ln>
                      <a:effectLst>
                        <a:outerShdw dist="17961" dir="2700000" algn="ctr" rotWithShape="0">
                          <a:schemeClr val="bg2"/>
                        </a:outerShdw>
                      </a:effectLst>
                      <a:extLst/>
                    </p:spPr>
                  </p:pic>
                </p:oleObj>
              </mc:Fallback>
            </mc:AlternateContent>
          </a:graphicData>
        </a:graphic>
      </p:graphicFrame>
      <p:graphicFrame>
        <p:nvGraphicFramePr>
          <p:cNvPr id="428050" name="Object 18"/>
          <p:cNvGraphicFramePr>
            <a:graphicFrameLocks noChangeAspect="1"/>
          </p:cNvGraphicFramePr>
          <p:nvPr>
            <p:extLst>
              <p:ext uri="{D42A27DB-BD31-4B8C-83A1-F6EECF244321}">
                <p14:modId xmlns:p14="http://schemas.microsoft.com/office/powerpoint/2010/main" val="650711012"/>
              </p:ext>
            </p:extLst>
          </p:nvPr>
        </p:nvGraphicFramePr>
        <p:xfrm>
          <a:off x="4499992" y="5286375"/>
          <a:ext cx="4320480" cy="642938"/>
        </p:xfrm>
        <a:graphic>
          <a:graphicData uri="http://schemas.openxmlformats.org/presentationml/2006/ole">
            <mc:AlternateContent xmlns:mc="http://schemas.openxmlformats.org/markup-compatibility/2006">
              <mc:Choice xmlns:v="urn:schemas-microsoft-com:vml" Requires="v">
                <p:oleObj spid="_x0000_s30024" name="公式" r:id="rId9" imgW="1638000" imgH="228600" progId="Equation.3">
                  <p:embed/>
                </p:oleObj>
              </mc:Choice>
              <mc:Fallback>
                <p:oleObj name="公式" r:id="rId9" imgW="1638000" imgH="228600" progId="Equation.3">
                  <p:embed/>
                  <p:pic>
                    <p:nvPicPr>
                      <p:cNvPr id="0"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99992" y="5286375"/>
                        <a:ext cx="4320480" cy="642938"/>
                      </a:xfrm>
                      <a:prstGeom prst="rect">
                        <a:avLst/>
                      </a:prstGeom>
                      <a:noFill/>
                      <a:extLst/>
                    </p:spPr>
                  </p:pic>
                </p:oleObj>
              </mc:Fallback>
            </mc:AlternateContent>
          </a:graphicData>
        </a:graphic>
      </p:graphicFrame>
      <p:sp>
        <p:nvSpPr>
          <p:cNvPr id="29705" name="日期占位符 8"/>
          <p:cNvSpPr>
            <a:spLocks noGrp="1"/>
          </p:cNvSpPr>
          <p:nvPr>
            <p:ph type="dt" sz="quarter" idx="10"/>
          </p:nvPr>
        </p:nvSpPr>
        <p:spPr>
          <a:noFill/>
        </p:spPr>
        <p:txBody>
          <a:bodyPr/>
          <a:lstStyle/>
          <a:p>
            <a:endParaRPr lang="en-US" altLang="zh-CN"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28037"/>
                                        </p:tgtEl>
                                        <p:attrNameLst>
                                          <p:attrName>style.visibility</p:attrName>
                                        </p:attrNameLst>
                                      </p:cBhvr>
                                      <p:to>
                                        <p:strVal val="visible"/>
                                      </p:to>
                                    </p:set>
                                    <p:animEffect transition="in" filter="blinds(horizontal)">
                                      <p:cBhvr>
                                        <p:cTn id="7" dur="500"/>
                                        <p:tgtEl>
                                          <p:spTgt spid="42803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28038"/>
                                        </p:tgtEl>
                                        <p:attrNameLst>
                                          <p:attrName>style.visibility</p:attrName>
                                        </p:attrNameLst>
                                      </p:cBhvr>
                                      <p:to>
                                        <p:strVal val="visible"/>
                                      </p:to>
                                    </p:set>
                                    <p:anim calcmode="lin" valueType="num">
                                      <p:cBhvr additive="base">
                                        <p:cTn id="12" dur="500" fill="hold"/>
                                        <p:tgtEl>
                                          <p:spTgt spid="428038"/>
                                        </p:tgtEl>
                                        <p:attrNameLst>
                                          <p:attrName>ppt_x</p:attrName>
                                        </p:attrNameLst>
                                      </p:cBhvr>
                                      <p:tavLst>
                                        <p:tav tm="0">
                                          <p:val>
                                            <p:strVal val="0-#ppt_w/2"/>
                                          </p:val>
                                        </p:tav>
                                        <p:tav tm="100000">
                                          <p:val>
                                            <p:strVal val="#ppt_x"/>
                                          </p:val>
                                        </p:tav>
                                      </p:tavLst>
                                    </p:anim>
                                    <p:anim calcmode="lin" valueType="num">
                                      <p:cBhvr additive="base">
                                        <p:cTn id="13" dur="500" fill="hold"/>
                                        <p:tgtEl>
                                          <p:spTgt spid="428038"/>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428050"/>
                                        </p:tgtEl>
                                        <p:attrNameLst>
                                          <p:attrName>style.visibility</p:attrName>
                                        </p:attrNameLst>
                                      </p:cBhvr>
                                      <p:to>
                                        <p:strVal val="visible"/>
                                      </p:to>
                                    </p:set>
                                    <p:animEffect transition="in" filter="wipe(left)">
                                      <p:cBhvr>
                                        <p:cTn id="18" dur="500"/>
                                        <p:tgtEl>
                                          <p:spTgt spid="428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8037"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4018" name="Picture 18"/>
          <p:cNvPicPr>
            <a:picLocks noChangeAspect="1" noChangeArrowheads="1"/>
          </p:cNvPicPr>
          <p:nvPr/>
        </p:nvPicPr>
        <p:blipFill>
          <a:blip r:embed="rId4" cstate="print"/>
          <a:srcRect/>
          <a:stretch>
            <a:fillRect/>
          </a:stretch>
        </p:blipFill>
        <p:spPr bwMode="auto">
          <a:xfrm>
            <a:off x="1779004" y="4371764"/>
            <a:ext cx="5759921" cy="1327150"/>
          </a:xfrm>
          <a:prstGeom prst="rect">
            <a:avLst/>
          </a:prstGeom>
          <a:solidFill>
            <a:srgbClr val="D1E4EB"/>
          </a:solidFill>
          <a:ln w="9525">
            <a:noFill/>
            <a:miter lim="800000"/>
            <a:headEnd/>
            <a:tailEnd/>
          </a:ln>
        </p:spPr>
      </p:pic>
      <p:sp>
        <p:nvSpPr>
          <p:cNvPr id="30725" name="Rectangle 2"/>
          <p:cNvSpPr>
            <a:spLocks noGrp="1" noChangeArrowheads="1"/>
          </p:cNvSpPr>
          <p:nvPr>
            <p:ph type="title"/>
          </p:nvPr>
        </p:nvSpPr>
        <p:spPr>
          <a:xfrm>
            <a:off x="990600" y="228600"/>
            <a:ext cx="6324600" cy="990600"/>
          </a:xfrm>
        </p:spPr>
        <p:txBody>
          <a:bodyPr/>
          <a:lstStyle/>
          <a:p>
            <a:pPr eaLnBrk="1" hangingPunct="1"/>
            <a:r>
              <a:rPr lang="zh-CN" altLang="en-US" sz="4000" dirty="0" smtClean="0"/>
              <a:t>方程式法</a:t>
            </a:r>
            <a:r>
              <a:rPr lang="zh-CN" altLang="en-US" sz="4000" dirty="0" smtClean="0">
                <a:latin typeface="Times New Roman" pitchFamily="18" charset="0"/>
              </a:rPr>
              <a:t>的基本思想</a:t>
            </a:r>
          </a:p>
        </p:txBody>
      </p:sp>
      <p:sp>
        <p:nvSpPr>
          <p:cNvPr id="30726" name="Rectangle 3"/>
          <p:cNvSpPr>
            <a:spLocks noGrp="1" noChangeArrowheads="1"/>
          </p:cNvSpPr>
          <p:nvPr>
            <p:ph type="body" idx="1"/>
          </p:nvPr>
        </p:nvSpPr>
        <p:spPr>
          <a:xfrm>
            <a:off x="304800" y="1295400"/>
            <a:ext cx="8001000" cy="1752600"/>
          </a:xfrm>
        </p:spPr>
        <p:txBody>
          <a:bodyPr/>
          <a:lstStyle/>
          <a:p>
            <a:pPr marL="571500" indent="-571500" algn="just" eaLnBrk="1" hangingPunct="1">
              <a:lnSpc>
                <a:spcPct val="135000"/>
              </a:lnSpc>
              <a:spcBef>
                <a:spcPct val="0"/>
              </a:spcBef>
              <a:buFontTx/>
              <a:buNone/>
            </a:pPr>
            <a:r>
              <a:rPr lang="zh-CN" altLang="en-US" sz="2800" smtClean="0">
                <a:solidFill>
                  <a:schemeClr val="tx1"/>
                </a:solidFill>
                <a:latin typeface="Times New Roman" pitchFamily="18" charset="0"/>
              </a:rPr>
              <a:t>各期实际水平的总和为：          </a:t>
            </a:r>
          </a:p>
        </p:txBody>
      </p:sp>
      <p:sp>
        <p:nvSpPr>
          <p:cNvPr id="384006" name="Rectangle 6"/>
          <p:cNvSpPr>
            <a:spLocks noChangeArrowheads="1"/>
          </p:cNvSpPr>
          <p:nvPr/>
        </p:nvSpPr>
        <p:spPr bwMode="auto">
          <a:xfrm>
            <a:off x="425450" y="3810000"/>
            <a:ext cx="8467030" cy="1006475"/>
          </a:xfrm>
          <a:prstGeom prst="rect">
            <a:avLst/>
          </a:prstGeom>
          <a:noFill/>
          <a:ln w="9525">
            <a:noFill/>
            <a:miter lim="800000"/>
            <a:headEnd/>
            <a:tailEnd/>
          </a:ln>
        </p:spPr>
        <p:txBody>
          <a:bodyPr wrap="square">
            <a:spAutoFit/>
          </a:bodyPr>
          <a:lstStyle/>
          <a:p>
            <a:pPr eaLnBrk="0" hangingPunct="0"/>
            <a:r>
              <a:rPr kumimoji="1" lang="zh-CN" altLang="en-US" sz="2800" b="1" dirty="0">
                <a:latin typeface="Times New Roman" pitchFamily="18" charset="0"/>
              </a:rPr>
              <a:t>再用</a:t>
            </a:r>
            <a:r>
              <a:rPr kumimoji="1" lang="zh-CN" altLang="en-US" sz="2800" b="1" dirty="0">
                <a:solidFill>
                  <a:srgbClr val="0070C0"/>
                </a:solidFill>
                <a:latin typeface="Times New Roman" pitchFamily="18" charset="0"/>
              </a:rPr>
              <a:t>平均</a:t>
            </a:r>
            <a:r>
              <a:rPr kumimoji="1" lang="zh-CN" altLang="en-US" sz="2800" b="1" dirty="0" smtClean="0">
                <a:solidFill>
                  <a:srgbClr val="0070C0"/>
                </a:solidFill>
                <a:latin typeface="Times New Roman" pitchFamily="18" charset="0"/>
              </a:rPr>
              <a:t>发展速度       </a:t>
            </a:r>
            <a:r>
              <a:rPr kumimoji="1" lang="zh-CN" altLang="en-US" sz="2800" b="1" dirty="0" smtClean="0">
                <a:latin typeface="Times New Roman" pitchFamily="18" charset="0"/>
              </a:rPr>
              <a:t>去</a:t>
            </a:r>
            <a:r>
              <a:rPr kumimoji="1" lang="zh-CN" altLang="en-US" sz="2800" b="1" dirty="0">
                <a:latin typeface="Times New Roman" pitchFamily="18" charset="0"/>
              </a:rPr>
              <a:t>代表各期环比</a:t>
            </a:r>
            <a:r>
              <a:rPr kumimoji="1" lang="zh-CN" altLang="en-US" sz="2800" b="1" dirty="0" smtClean="0">
                <a:latin typeface="Times New Roman" pitchFamily="18" charset="0"/>
              </a:rPr>
              <a:t>发展速度 </a:t>
            </a:r>
            <a:r>
              <a:rPr kumimoji="1" lang="en-US" altLang="zh-CN" sz="3200" b="1" i="1" dirty="0" smtClean="0">
                <a:solidFill>
                  <a:srgbClr val="3333FF"/>
                </a:solidFill>
                <a:latin typeface="Times New Roman" pitchFamily="18" charset="0"/>
              </a:rPr>
              <a:t>x</a:t>
            </a:r>
            <a:r>
              <a:rPr kumimoji="1" lang="en-US" altLang="zh-CN" b="1" i="1" baseline="-25000" dirty="0" smtClean="0">
                <a:solidFill>
                  <a:srgbClr val="3333FF"/>
                </a:solidFill>
                <a:latin typeface="Times New Roman" pitchFamily="18" charset="0"/>
              </a:rPr>
              <a:t>i </a:t>
            </a:r>
            <a:r>
              <a:rPr kumimoji="1" lang="zh-CN" altLang="en-US" sz="2800" b="1" dirty="0">
                <a:latin typeface="Times New Roman" pitchFamily="18" charset="0"/>
              </a:rPr>
              <a:t>，应满足：</a:t>
            </a:r>
          </a:p>
        </p:txBody>
      </p:sp>
      <p:sp>
        <p:nvSpPr>
          <p:cNvPr id="384007" name="Rectangle 7"/>
          <p:cNvSpPr>
            <a:spLocks noChangeArrowheads="1"/>
          </p:cNvSpPr>
          <p:nvPr/>
        </p:nvSpPr>
        <p:spPr bwMode="auto">
          <a:xfrm>
            <a:off x="323528" y="1988840"/>
            <a:ext cx="7835799" cy="923330"/>
          </a:xfrm>
          <a:prstGeom prst="rect">
            <a:avLst/>
          </a:prstGeom>
          <a:noFill/>
          <a:ln w="9525">
            <a:noFill/>
            <a:miter lim="800000"/>
            <a:headEnd/>
            <a:tailEnd/>
          </a:ln>
        </p:spPr>
        <p:txBody>
          <a:bodyPr wrap="none">
            <a:spAutoFit/>
          </a:bodyPr>
          <a:lstStyle/>
          <a:p>
            <a:pPr eaLnBrk="0" hangingPunct="0">
              <a:lnSpc>
                <a:spcPct val="135000"/>
              </a:lnSpc>
            </a:pPr>
            <a:r>
              <a:rPr kumimoji="1" lang="zh-CN" altLang="en-US" sz="2800" b="1" dirty="0">
                <a:latin typeface="Times New Roman" pitchFamily="18" charset="0"/>
              </a:rPr>
              <a:t>用各期的环比</a:t>
            </a:r>
            <a:r>
              <a:rPr kumimoji="1" lang="zh-CN" altLang="en-US" sz="2800" b="1" dirty="0" smtClean="0">
                <a:latin typeface="Times New Roman" pitchFamily="18" charset="0"/>
              </a:rPr>
              <a:t>发展速度 </a:t>
            </a:r>
            <a:r>
              <a:rPr kumimoji="1" lang="en-US" altLang="zh-CN" sz="4000" b="1" i="1" dirty="0" smtClean="0">
                <a:solidFill>
                  <a:srgbClr val="3333FF"/>
                </a:solidFill>
                <a:latin typeface="Times New Roman" pitchFamily="18" charset="0"/>
              </a:rPr>
              <a:t>x</a:t>
            </a:r>
            <a:r>
              <a:rPr kumimoji="1" lang="en-US" altLang="zh-CN" sz="2400" b="1" i="1" baseline="-25000" dirty="0" smtClean="0">
                <a:solidFill>
                  <a:srgbClr val="3333FF"/>
                </a:solidFill>
                <a:latin typeface="Times New Roman" pitchFamily="18" charset="0"/>
              </a:rPr>
              <a:t>i </a:t>
            </a:r>
            <a:r>
              <a:rPr kumimoji="1" lang="zh-CN" altLang="en-US" sz="2800" b="1" dirty="0">
                <a:latin typeface="Times New Roman" pitchFamily="18" charset="0"/>
              </a:rPr>
              <a:t>去计算各期水平，则：</a:t>
            </a:r>
          </a:p>
        </p:txBody>
      </p:sp>
      <p:sp>
        <p:nvSpPr>
          <p:cNvPr id="384009" name="Text Box 9"/>
          <p:cNvSpPr txBox="1">
            <a:spLocks noChangeArrowheads="1"/>
          </p:cNvSpPr>
          <p:nvPr/>
        </p:nvSpPr>
        <p:spPr bwMode="auto">
          <a:xfrm>
            <a:off x="349311" y="5803901"/>
            <a:ext cx="7391400" cy="579437"/>
          </a:xfrm>
          <a:prstGeom prst="rect">
            <a:avLst/>
          </a:prstGeom>
          <a:noFill/>
          <a:ln w="9525">
            <a:noFill/>
            <a:miter lim="800000"/>
            <a:headEnd/>
            <a:tailEnd/>
          </a:ln>
        </p:spPr>
        <p:txBody>
          <a:bodyPr>
            <a:spAutoFit/>
          </a:bodyPr>
          <a:lstStyle/>
          <a:p>
            <a:pPr eaLnBrk="0" hangingPunct="0">
              <a:spcBef>
                <a:spcPct val="50000"/>
              </a:spcBef>
            </a:pPr>
            <a:r>
              <a:rPr kumimoji="1" lang="zh-CN" altLang="en-US" sz="3200" b="1" dirty="0">
                <a:solidFill>
                  <a:srgbClr val="3333FF"/>
                </a:solidFill>
              </a:rPr>
              <a:t>平均发展速度</a:t>
            </a:r>
            <a:r>
              <a:rPr kumimoji="1" lang="en-US" altLang="zh-CN" sz="3200" b="1" dirty="0"/>
              <a:t>=</a:t>
            </a:r>
            <a:r>
              <a:rPr kumimoji="1" lang="zh-CN" altLang="en-US" sz="3200" b="1" dirty="0"/>
              <a:t>上述方程的正根</a:t>
            </a:r>
            <a:endParaRPr kumimoji="1" lang="zh-CN" altLang="en-US" sz="3200" b="1" i="1" dirty="0">
              <a:solidFill>
                <a:srgbClr val="3333FF"/>
              </a:solidFill>
              <a:latin typeface="Times New Roman" pitchFamily="18" charset="0"/>
              <a:ea typeface="华文楷体" pitchFamily="2" charset="-122"/>
            </a:endParaRPr>
          </a:p>
        </p:txBody>
      </p:sp>
      <p:pic>
        <p:nvPicPr>
          <p:cNvPr id="30730" name="Picture 16"/>
          <p:cNvPicPr>
            <a:picLocks noChangeAspect="1" noChangeArrowheads="1"/>
          </p:cNvPicPr>
          <p:nvPr/>
        </p:nvPicPr>
        <p:blipFill>
          <a:blip r:embed="rId5" cstate="print"/>
          <a:srcRect/>
          <a:stretch>
            <a:fillRect/>
          </a:stretch>
        </p:blipFill>
        <p:spPr bwMode="auto">
          <a:xfrm>
            <a:off x="4211960" y="1196752"/>
            <a:ext cx="4464050" cy="995362"/>
          </a:xfrm>
          <a:prstGeom prst="rect">
            <a:avLst/>
          </a:prstGeom>
          <a:solidFill>
            <a:srgbClr val="D1E4EB"/>
          </a:solidFill>
          <a:ln w="9525">
            <a:noFill/>
            <a:miter lim="800000"/>
            <a:headEnd/>
            <a:tailEnd/>
          </a:ln>
        </p:spPr>
      </p:pic>
      <p:pic>
        <p:nvPicPr>
          <p:cNvPr id="384017" name="Picture 17"/>
          <p:cNvPicPr>
            <a:picLocks noChangeAspect="1" noChangeArrowheads="1"/>
          </p:cNvPicPr>
          <p:nvPr/>
        </p:nvPicPr>
        <p:blipFill>
          <a:blip r:embed="rId6" cstate="print"/>
          <a:srcRect/>
          <a:stretch>
            <a:fillRect/>
          </a:stretch>
        </p:blipFill>
        <p:spPr bwMode="auto">
          <a:xfrm>
            <a:off x="438334" y="2708920"/>
            <a:ext cx="8383329" cy="1008112"/>
          </a:xfrm>
          <a:prstGeom prst="rect">
            <a:avLst/>
          </a:prstGeom>
          <a:solidFill>
            <a:srgbClr val="D1E4EB"/>
          </a:solidFill>
          <a:ln w="9525" algn="ctr">
            <a:noFill/>
            <a:miter lim="800000"/>
            <a:headEnd/>
            <a:tailEnd/>
          </a:ln>
        </p:spPr>
      </p:pic>
      <p:graphicFrame>
        <p:nvGraphicFramePr>
          <p:cNvPr id="384019" name="Object 19"/>
          <p:cNvGraphicFramePr>
            <a:graphicFrameLocks noChangeAspect="1"/>
          </p:cNvGraphicFramePr>
          <p:nvPr>
            <p:extLst>
              <p:ext uri="{D42A27DB-BD31-4B8C-83A1-F6EECF244321}">
                <p14:modId xmlns:p14="http://schemas.microsoft.com/office/powerpoint/2010/main" val="1254383173"/>
              </p:ext>
            </p:extLst>
          </p:nvPr>
        </p:nvGraphicFramePr>
        <p:xfrm>
          <a:off x="6084168" y="5768975"/>
          <a:ext cx="525462" cy="649288"/>
        </p:xfrm>
        <a:graphic>
          <a:graphicData uri="http://schemas.openxmlformats.org/presentationml/2006/ole">
            <mc:AlternateContent xmlns:mc="http://schemas.openxmlformats.org/markup-compatibility/2006">
              <mc:Choice xmlns:v="urn:schemas-microsoft-com:vml" Requires="v">
                <p:oleObj spid="_x0000_s30936" name="公式" r:id="rId7" imgW="203024" imgH="215713" progId="Equation.3">
                  <p:embed/>
                </p:oleObj>
              </mc:Choice>
              <mc:Fallback>
                <p:oleObj name="公式" r:id="rId7" imgW="203024" imgH="215713" progId="Equation.3">
                  <p:embed/>
                  <p:pic>
                    <p:nvPicPr>
                      <p:cNvPr id="0"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84168" y="5768975"/>
                        <a:ext cx="525462" cy="649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32" name="日期占位符 11"/>
          <p:cNvSpPr>
            <a:spLocks noGrp="1"/>
          </p:cNvSpPr>
          <p:nvPr>
            <p:ph type="dt" sz="quarter" idx="10"/>
          </p:nvPr>
        </p:nvSpPr>
        <p:spPr>
          <a:noFill/>
        </p:spPr>
        <p:txBody>
          <a:bodyPr/>
          <a:lstStyle/>
          <a:p>
            <a:endParaRPr lang="en-US" altLang="zh-CN" smtClean="0"/>
          </a:p>
        </p:txBody>
      </p:sp>
      <p:graphicFrame>
        <p:nvGraphicFramePr>
          <p:cNvPr id="13" name="Object 19"/>
          <p:cNvGraphicFramePr>
            <a:graphicFrameLocks noChangeAspect="1"/>
          </p:cNvGraphicFramePr>
          <p:nvPr/>
        </p:nvGraphicFramePr>
        <p:xfrm>
          <a:off x="3419872" y="3789040"/>
          <a:ext cx="525462" cy="649288"/>
        </p:xfrm>
        <a:graphic>
          <a:graphicData uri="http://schemas.openxmlformats.org/presentationml/2006/ole">
            <mc:AlternateContent xmlns:mc="http://schemas.openxmlformats.org/markup-compatibility/2006">
              <mc:Choice xmlns:v="urn:schemas-microsoft-com:vml" Requires="v">
                <p:oleObj spid="_x0000_s30937" name="公式" r:id="rId9" imgW="203024" imgH="215713" progId="Equation.3">
                  <p:embed/>
                </p:oleObj>
              </mc:Choice>
              <mc:Fallback>
                <p:oleObj name="公式" r:id="rId9" imgW="203024" imgH="215713" progId="Equation.3">
                  <p:embed/>
                  <p:pic>
                    <p:nvPicPr>
                      <p:cNvPr id="0"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19872" y="3789040"/>
                        <a:ext cx="525462" cy="649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84007"/>
                                        </p:tgtEl>
                                        <p:attrNameLst>
                                          <p:attrName>style.visibility</p:attrName>
                                        </p:attrNameLst>
                                      </p:cBhvr>
                                      <p:to>
                                        <p:strVal val="visible"/>
                                      </p:to>
                                    </p:set>
                                    <p:animEffect transition="in" filter="slide(fromBottom)">
                                      <p:cBhvr>
                                        <p:cTn id="7" dur="500"/>
                                        <p:tgtEl>
                                          <p:spTgt spid="38400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84017"/>
                                        </p:tgtEl>
                                        <p:attrNameLst>
                                          <p:attrName>style.visibility</p:attrName>
                                        </p:attrNameLst>
                                      </p:cBhvr>
                                      <p:to>
                                        <p:strVal val="visible"/>
                                      </p:to>
                                    </p:set>
                                    <p:animEffect transition="in" filter="wipe(left)">
                                      <p:cBhvr>
                                        <p:cTn id="11" dur="500"/>
                                        <p:tgtEl>
                                          <p:spTgt spid="38401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84006"/>
                                        </p:tgtEl>
                                        <p:attrNameLst>
                                          <p:attrName>style.visibility</p:attrName>
                                        </p:attrNameLst>
                                      </p:cBhvr>
                                      <p:to>
                                        <p:strVal val="visible"/>
                                      </p:to>
                                    </p:set>
                                    <p:animEffect transition="in" filter="wipe(left)">
                                      <p:cBhvr>
                                        <p:cTn id="16" dur="500"/>
                                        <p:tgtEl>
                                          <p:spTgt spid="384006"/>
                                        </p:tgtEl>
                                      </p:cBhvr>
                                    </p:animEffect>
                                  </p:childTnLst>
                                </p:cTn>
                              </p:par>
                            </p:childTnLst>
                          </p:cTn>
                        </p:par>
                        <p:par>
                          <p:cTn id="17" fill="hold">
                            <p:stCondLst>
                              <p:cond delay="500"/>
                            </p:stCondLst>
                            <p:childTnLst>
                              <p:par>
                                <p:cTn id="18" presetID="1" presetClass="entr" presetSubtype="0" fill="hold" nodeType="afterEffect">
                                  <p:stCondLst>
                                    <p:cond delay="0"/>
                                  </p:stCondLst>
                                  <p:childTnLst>
                                    <p:set>
                                      <p:cBhvr>
                                        <p:cTn id="19" dur="1" fill="hold">
                                          <p:stCondLst>
                                            <p:cond delay="0"/>
                                          </p:stCondLst>
                                        </p:cTn>
                                        <p:tgtEl>
                                          <p:spTgt spid="13"/>
                                        </p:tgtEl>
                                        <p:attrNameLst>
                                          <p:attrName>style.visibility</p:attrName>
                                        </p:attrNameLst>
                                      </p:cBhvr>
                                      <p:to>
                                        <p:strVal val="visible"/>
                                      </p:to>
                                    </p:set>
                                  </p:childTnLst>
                                </p:cTn>
                              </p:par>
                            </p:childTnLst>
                          </p:cTn>
                        </p:par>
                        <p:par>
                          <p:cTn id="20" fill="hold">
                            <p:stCondLst>
                              <p:cond delay="500"/>
                            </p:stCondLst>
                            <p:childTnLst>
                              <p:par>
                                <p:cTn id="21" presetID="22" presetClass="entr" presetSubtype="8" fill="hold" nodeType="afterEffect">
                                  <p:stCondLst>
                                    <p:cond delay="0"/>
                                  </p:stCondLst>
                                  <p:childTnLst>
                                    <p:set>
                                      <p:cBhvr>
                                        <p:cTn id="22" dur="1" fill="hold">
                                          <p:stCondLst>
                                            <p:cond delay="0"/>
                                          </p:stCondLst>
                                        </p:cTn>
                                        <p:tgtEl>
                                          <p:spTgt spid="384018"/>
                                        </p:tgtEl>
                                        <p:attrNameLst>
                                          <p:attrName>style.visibility</p:attrName>
                                        </p:attrNameLst>
                                      </p:cBhvr>
                                      <p:to>
                                        <p:strVal val="visible"/>
                                      </p:to>
                                    </p:set>
                                    <p:animEffect transition="in" filter="wipe(left)">
                                      <p:cBhvr>
                                        <p:cTn id="23" dur="1000"/>
                                        <p:tgtEl>
                                          <p:spTgt spid="384018"/>
                                        </p:tgtEl>
                                      </p:cBhvr>
                                    </p:animEffect>
                                  </p:childTnLst>
                                </p:cTn>
                              </p:par>
                            </p:childTnLst>
                          </p:cTn>
                        </p:par>
                        <p:par>
                          <p:cTn id="24" fill="hold">
                            <p:stCondLst>
                              <p:cond delay="1500"/>
                            </p:stCondLst>
                            <p:childTnLst>
                              <p:par>
                                <p:cTn id="25" presetID="2" presetClass="entr" presetSubtype="8" fill="hold" grpId="0" nodeType="afterEffect">
                                  <p:stCondLst>
                                    <p:cond delay="0"/>
                                  </p:stCondLst>
                                  <p:childTnLst>
                                    <p:set>
                                      <p:cBhvr>
                                        <p:cTn id="26" dur="1" fill="hold">
                                          <p:stCondLst>
                                            <p:cond delay="0"/>
                                          </p:stCondLst>
                                        </p:cTn>
                                        <p:tgtEl>
                                          <p:spTgt spid="384009"/>
                                        </p:tgtEl>
                                        <p:attrNameLst>
                                          <p:attrName>style.visibility</p:attrName>
                                        </p:attrNameLst>
                                      </p:cBhvr>
                                      <p:to>
                                        <p:strVal val="visible"/>
                                      </p:to>
                                    </p:set>
                                    <p:anim calcmode="lin" valueType="num">
                                      <p:cBhvr additive="base">
                                        <p:cTn id="27" dur="1500" fill="hold"/>
                                        <p:tgtEl>
                                          <p:spTgt spid="384009"/>
                                        </p:tgtEl>
                                        <p:attrNameLst>
                                          <p:attrName>ppt_x</p:attrName>
                                        </p:attrNameLst>
                                      </p:cBhvr>
                                      <p:tavLst>
                                        <p:tav tm="0">
                                          <p:val>
                                            <p:strVal val="0-#ppt_w/2"/>
                                          </p:val>
                                        </p:tav>
                                        <p:tav tm="100000">
                                          <p:val>
                                            <p:strVal val="#ppt_x"/>
                                          </p:val>
                                        </p:tav>
                                      </p:tavLst>
                                    </p:anim>
                                    <p:anim calcmode="lin" valueType="num">
                                      <p:cBhvr additive="base">
                                        <p:cTn id="28" dur="1500" fill="hold"/>
                                        <p:tgtEl>
                                          <p:spTgt spid="384009"/>
                                        </p:tgtEl>
                                        <p:attrNameLst>
                                          <p:attrName>ppt_y</p:attrName>
                                        </p:attrNameLst>
                                      </p:cBhvr>
                                      <p:tavLst>
                                        <p:tav tm="0">
                                          <p:val>
                                            <p:strVal val="#ppt_y"/>
                                          </p:val>
                                        </p:tav>
                                        <p:tav tm="100000">
                                          <p:val>
                                            <p:strVal val="#ppt_y"/>
                                          </p:val>
                                        </p:tav>
                                      </p:tavLst>
                                    </p:anim>
                                  </p:childTnLst>
                                </p:cTn>
                              </p:par>
                            </p:childTnLst>
                          </p:cTn>
                        </p:par>
                        <p:par>
                          <p:cTn id="29" fill="hold">
                            <p:stCondLst>
                              <p:cond delay="3000"/>
                            </p:stCondLst>
                            <p:childTnLst>
                              <p:par>
                                <p:cTn id="30" presetID="1" presetClass="entr" presetSubtype="0" fill="hold" nodeType="afterEffect">
                                  <p:stCondLst>
                                    <p:cond delay="0"/>
                                  </p:stCondLst>
                                  <p:childTnLst>
                                    <p:set>
                                      <p:cBhvr>
                                        <p:cTn id="31" dur="1" fill="hold">
                                          <p:stCondLst>
                                            <p:cond delay="0"/>
                                          </p:stCondLst>
                                        </p:cTn>
                                        <p:tgtEl>
                                          <p:spTgt spid="3840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006" grpId="0"/>
      <p:bldP spid="384007" grpId="0"/>
      <p:bldP spid="384009"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99592" y="0"/>
            <a:ext cx="7772400" cy="990600"/>
          </a:xfrm>
        </p:spPr>
        <p:txBody>
          <a:bodyPr/>
          <a:lstStyle/>
          <a:p>
            <a:r>
              <a:rPr lang="en-US" altLang="zh-CN" sz="4000" dirty="0" smtClean="0"/>
              <a:t>[</a:t>
            </a:r>
            <a:r>
              <a:rPr lang="zh-CN" altLang="en-US" sz="4000" dirty="0" smtClean="0"/>
              <a:t>例</a:t>
            </a:r>
            <a:r>
              <a:rPr lang="en-US" altLang="zh-CN" sz="4000" dirty="0" smtClean="0"/>
              <a:t>——</a:t>
            </a:r>
            <a:r>
              <a:rPr lang="zh-CN" altLang="en-US" sz="4000" dirty="0" smtClean="0"/>
              <a:t>方程式法求解结果</a:t>
            </a:r>
            <a:r>
              <a:rPr lang="en-US" altLang="zh-CN" sz="4000" dirty="0" smtClean="0"/>
              <a:t>]</a:t>
            </a:r>
            <a:endParaRPr lang="zh-CN" altLang="en-US" sz="4000" dirty="0"/>
          </a:p>
        </p:txBody>
      </p:sp>
      <p:sp>
        <p:nvSpPr>
          <p:cNvPr id="4" name="日期占位符 3"/>
          <p:cNvSpPr>
            <a:spLocks noGrp="1"/>
          </p:cNvSpPr>
          <p:nvPr>
            <p:ph type="dt" sz="half" idx="10"/>
          </p:nvPr>
        </p:nvSpPr>
        <p:spPr/>
        <p:txBody>
          <a:bodyPr/>
          <a:lstStyle/>
          <a:p>
            <a:pPr>
              <a:defRPr/>
            </a:pPr>
            <a:endParaRPr lang="en-US" altLang="zh-CN"/>
          </a:p>
        </p:txBody>
      </p:sp>
      <p:sp>
        <p:nvSpPr>
          <p:cNvPr id="6" name="Rectangle 3"/>
          <p:cNvSpPr>
            <a:spLocks noGrp="1" noChangeArrowheads="1"/>
          </p:cNvSpPr>
          <p:nvPr>
            <p:ph idx="1"/>
          </p:nvPr>
        </p:nvSpPr>
        <p:spPr>
          <a:xfrm>
            <a:off x="688129" y="1292129"/>
            <a:ext cx="7772400" cy="4724400"/>
          </a:xfrm>
        </p:spPr>
        <p:txBody>
          <a:bodyPr/>
          <a:lstStyle/>
          <a:p>
            <a:pPr eaLnBrk="1" hangingPunct="1">
              <a:lnSpc>
                <a:spcPct val="150000"/>
              </a:lnSpc>
            </a:pPr>
            <a:r>
              <a:rPr lang="zh-CN" altLang="en-US" sz="2800" dirty="0">
                <a:solidFill>
                  <a:srgbClr val="000000"/>
                </a:solidFill>
              </a:rPr>
              <a:t>中国研究与试验发展基础研究经费</a:t>
            </a:r>
            <a:r>
              <a:rPr lang="zh-CN" altLang="en-US" sz="2800" dirty="0" smtClean="0">
                <a:solidFill>
                  <a:srgbClr val="000000"/>
                </a:solidFill>
              </a:rPr>
              <a:t>支出</a:t>
            </a:r>
            <a:endParaRPr lang="en-US" altLang="zh-CN" sz="2800" dirty="0" smtClean="0">
              <a:solidFill>
                <a:srgbClr val="000000"/>
              </a:solidFill>
            </a:endParaRPr>
          </a:p>
          <a:p>
            <a:pPr marL="0" indent="0" eaLnBrk="1" hangingPunct="1">
              <a:lnSpc>
                <a:spcPct val="150000"/>
              </a:lnSpc>
              <a:buNone/>
            </a:pPr>
            <a:r>
              <a:rPr lang="en-US" altLang="zh-CN" sz="2800" dirty="0" smtClean="0">
                <a:solidFill>
                  <a:schemeClr val="tx1"/>
                </a:solidFill>
              </a:rPr>
              <a:t>2019</a:t>
            </a:r>
            <a:r>
              <a:rPr lang="zh-CN" altLang="en-US" sz="2800" dirty="0" smtClean="0">
                <a:solidFill>
                  <a:schemeClr val="tx1"/>
                </a:solidFill>
              </a:rPr>
              <a:t>－</a:t>
            </a:r>
            <a:r>
              <a:rPr lang="en-US" altLang="zh-CN" sz="2800" dirty="0" smtClean="0">
                <a:solidFill>
                  <a:schemeClr val="tx1"/>
                </a:solidFill>
              </a:rPr>
              <a:t>2022</a:t>
            </a:r>
            <a:r>
              <a:rPr lang="zh-CN" altLang="en-US" sz="2800" dirty="0" smtClean="0">
                <a:solidFill>
                  <a:schemeClr val="tx1"/>
                </a:solidFill>
              </a:rPr>
              <a:t>年的</a:t>
            </a:r>
            <a:r>
              <a:rPr lang="zh-CN" altLang="en-US" sz="2800" dirty="0">
                <a:solidFill>
                  <a:srgbClr val="000000"/>
                </a:solidFill>
              </a:rPr>
              <a:t>年</a:t>
            </a:r>
            <a:r>
              <a:rPr lang="zh-CN" altLang="en-US" sz="2800" dirty="0" smtClean="0">
                <a:solidFill>
                  <a:schemeClr val="tx2"/>
                </a:solidFill>
              </a:rPr>
              <a:t>平均</a:t>
            </a:r>
            <a:r>
              <a:rPr lang="zh-CN" altLang="en-US" sz="2800" dirty="0" smtClean="0">
                <a:solidFill>
                  <a:srgbClr val="FF0000"/>
                </a:solidFill>
              </a:rPr>
              <a:t>发展</a:t>
            </a:r>
            <a:r>
              <a:rPr lang="zh-CN" altLang="en-US" sz="2800" dirty="0" smtClean="0">
                <a:solidFill>
                  <a:schemeClr val="tx2"/>
                </a:solidFill>
              </a:rPr>
              <a:t>速度的方程式法</a:t>
            </a:r>
            <a:r>
              <a:rPr lang="zh-CN" altLang="en-US" sz="2800" dirty="0" smtClean="0">
                <a:solidFill>
                  <a:schemeClr val="tx1"/>
                </a:solidFill>
              </a:rPr>
              <a:t>：</a:t>
            </a:r>
            <a:endParaRPr lang="en-US" altLang="zh-CN" sz="2800" dirty="0" smtClean="0">
              <a:solidFill>
                <a:schemeClr val="tx1"/>
              </a:solidFill>
            </a:endParaRPr>
          </a:p>
          <a:p>
            <a:pPr marL="0" indent="0" eaLnBrk="1" hangingPunct="1">
              <a:lnSpc>
                <a:spcPct val="150000"/>
              </a:lnSpc>
              <a:buNone/>
            </a:pPr>
            <a:endParaRPr lang="en-US" altLang="zh-CN" sz="2800" dirty="0">
              <a:solidFill>
                <a:schemeClr val="tx1"/>
              </a:solidFill>
            </a:endParaRPr>
          </a:p>
          <a:p>
            <a:pPr marL="0" indent="0" eaLnBrk="1" hangingPunct="1">
              <a:lnSpc>
                <a:spcPct val="150000"/>
              </a:lnSpc>
              <a:buNone/>
            </a:pPr>
            <a:endParaRPr lang="en-US" altLang="zh-CN" sz="2800" dirty="0" smtClean="0">
              <a:solidFill>
                <a:schemeClr val="tx1"/>
              </a:solidFill>
            </a:endParaRPr>
          </a:p>
          <a:p>
            <a:pPr eaLnBrk="1" hangingPunct="1"/>
            <a:r>
              <a:rPr lang="zh-CN" altLang="en-US" sz="2800" dirty="0" smtClean="0">
                <a:solidFill>
                  <a:schemeClr val="tx2"/>
                </a:solidFill>
              </a:rPr>
              <a:t>平均</a:t>
            </a:r>
            <a:r>
              <a:rPr lang="zh-CN" altLang="en-US" sz="2800" dirty="0" smtClean="0">
                <a:solidFill>
                  <a:srgbClr val="FF0000"/>
                </a:solidFill>
              </a:rPr>
              <a:t>发展</a:t>
            </a:r>
            <a:r>
              <a:rPr lang="zh-CN" altLang="en-US" sz="2800" dirty="0" smtClean="0">
                <a:solidFill>
                  <a:schemeClr val="tx2"/>
                </a:solidFill>
              </a:rPr>
              <a:t>速度      </a:t>
            </a:r>
            <a:r>
              <a:rPr lang="en-US" altLang="zh-CN" sz="2800" dirty="0" smtClean="0">
                <a:solidFill>
                  <a:schemeClr val="tx2"/>
                </a:solidFill>
              </a:rPr>
              <a:t>=1.171=117.1%</a:t>
            </a:r>
            <a:endParaRPr lang="en-US" altLang="zh-CN" sz="2800" dirty="0" smtClean="0">
              <a:solidFill>
                <a:schemeClr val="tx1"/>
              </a:solidFill>
            </a:endParaRPr>
          </a:p>
          <a:p>
            <a:pPr marL="1371600" lvl="3" indent="0" eaLnBrk="1" hangingPunct="1">
              <a:buNone/>
            </a:pPr>
            <a:endParaRPr lang="en-US" altLang="zh-CN" sz="1600" dirty="0" smtClean="0">
              <a:solidFill>
                <a:schemeClr val="tx1"/>
              </a:solidFill>
            </a:endParaRPr>
          </a:p>
          <a:p>
            <a:pPr eaLnBrk="1" hangingPunct="1"/>
            <a:r>
              <a:rPr lang="zh-CN" altLang="en-US" sz="2800" dirty="0">
                <a:solidFill>
                  <a:schemeClr val="tx2"/>
                </a:solidFill>
              </a:rPr>
              <a:t>平均</a:t>
            </a:r>
            <a:r>
              <a:rPr lang="zh-CN" altLang="en-US" sz="2800" dirty="0" smtClean="0">
                <a:solidFill>
                  <a:srgbClr val="FF0000"/>
                </a:solidFill>
              </a:rPr>
              <a:t>增长</a:t>
            </a:r>
            <a:r>
              <a:rPr lang="zh-CN" altLang="en-US" sz="2800" dirty="0" smtClean="0">
                <a:solidFill>
                  <a:schemeClr val="tx2"/>
                </a:solidFill>
              </a:rPr>
              <a:t>速度</a:t>
            </a:r>
            <a:r>
              <a:rPr lang="en-US" altLang="zh-CN" sz="2800" dirty="0" smtClean="0">
                <a:solidFill>
                  <a:schemeClr val="tx2"/>
                </a:solidFill>
              </a:rPr>
              <a:t>=</a:t>
            </a:r>
            <a:r>
              <a:rPr lang="en-US" altLang="zh-CN" sz="2800" dirty="0" smtClean="0">
                <a:solidFill>
                  <a:srgbClr val="7030A0"/>
                </a:solidFill>
              </a:rPr>
              <a:t>17.1%</a:t>
            </a:r>
            <a:endParaRPr lang="en-US" altLang="zh-CN" sz="2800" dirty="0">
              <a:solidFill>
                <a:srgbClr val="7030A0"/>
              </a:solidFill>
            </a:endParaRPr>
          </a:p>
          <a:p>
            <a:pPr marL="0" indent="0" eaLnBrk="1" hangingPunct="1">
              <a:buNone/>
            </a:pPr>
            <a:endParaRPr lang="zh-CN" altLang="en-US" sz="2800" dirty="0" smtClean="0">
              <a:solidFill>
                <a:schemeClr val="tx1"/>
              </a:solidFill>
            </a:endParaRPr>
          </a:p>
        </p:txBody>
      </p:sp>
      <p:graphicFrame>
        <p:nvGraphicFramePr>
          <p:cNvPr id="9" name="Object 4"/>
          <p:cNvGraphicFramePr>
            <a:graphicFrameLocks noChangeAspect="1"/>
          </p:cNvGraphicFramePr>
          <p:nvPr>
            <p:extLst>
              <p:ext uri="{D42A27DB-BD31-4B8C-83A1-F6EECF244321}">
                <p14:modId xmlns:p14="http://schemas.microsoft.com/office/powerpoint/2010/main" val="4292502544"/>
              </p:ext>
            </p:extLst>
          </p:nvPr>
        </p:nvGraphicFramePr>
        <p:xfrm>
          <a:off x="1357806" y="2822400"/>
          <a:ext cx="6433046" cy="831929"/>
        </p:xfrm>
        <a:graphic>
          <a:graphicData uri="http://schemas.openxmlformats.org/presentationml/2006/ole">
            <mc:AlternateContent xmlns:mc="http://schemas.openxmlformats.org/markup-compatibility/2006">
              <mc:Choice xmlns:v="urn:schemas-microsoft-com:vml" Requires="v">
                <p:oleObj spid="_x0000_s219299" name="公式" r:id="rId4" imgW="2070000" imgH="241200" progId="Equation.3">
                  <p:embed/>
                </p:oleObj>
              </mc:Choice>
              <mc:Fallback>
                <p:oleObj name="公式" r:id="rId4" imgW="2070000" imgH="241200" progId="Equation.3">
                  <p:embed/>
                  <p:pic>
                    <p:nvPicPr>
                      <p:cNvPr id="29698" name="Object 4"/>
                      <p:cNvPicPr>
                        <a:picLocks noChangeAspect="1" noChangeArrowheads="1"/>
                      </p:cNvPicPr>
                      <p:nvPr/>
                    </p:nvPicPr>
                    <p:blipFill>
                      <a:blip r:embed="rId5"/>
                      <a:srcRect/>
                      <a:stretch>
                        <a:fillRect/>
                      </a:stretch>
                    </p:blipFill>
                    <p:spPr bwMode="auto">
                      <a:xfrm>
                        <a:off x="1357806" y="2822400"/>
                        <a:ext cx="6433046" cy="831929"/>
                      </a:xfrm>
                      <a:prstGeom prst="rect">
                        <a:avLst/>
                      </a:prstGeom>
                      <a:noFill/>
                      <a:ln w="28575">
                        <a:noFill/>
                        <a:miter lim="800000"/>
                        <a:headEnd/>
                        <a:tailEnd/>
                      </a:ln>
                      <a:extLst/>
                    </p:spPr>
                  </p:pic>
                </p:oleObj>
              </mc:Fallback>
            </mc:AlternateContent>
          </a:graphicData>
        </a:graphic>
      </p:graphicFrame>
      <p:graphicFrame>
        <p:nvGraphicFramePr>
          <p:cNvPr id="10" name="Object 4"/>
          <p:cNvGraphicFramePr>
            <a:graphicFrameLocks noChangeAspect="1"/>
          </p:cNvGraphicFramePr>
          <p:nvPr>
            <p:extLst>
              <p:ext uri="{D42A27DB-BD31-4B8C-83A1-F6EECF244321}">
                <p14:modId xmlns:p14="http://schemas.microsoft.com/office/powerpoint/2010/main" val="3271326626"/>
              </p:ext>
            </p:extLst>
          </p:nvPr>
        </p:nvGraphicFramePr>
        <p:xfrm>
          <a:off x="3275856" y="4077072"/>
          <a:ext cx="548161" cy="734739"/>
        </p:xfrm>
        <a:graphic>
          <a:graphicData uri="http://schemas.openxmlformats.org/presentationml/2006/ole">
            <mc:AlternateContent xmlns:mc="http://schemas.openxmlformats.org/markup-compatibility/2006">
              <mc:Choice xmlns:v="urn:schemas-microsoft-com:vml" Requires="v">
                <p:oleObj spid="_x0000_s219300" name="公式" r:id="rId6" imgW="215640" imgH="228600" progId="Equation.3">
                  <p:embed/>
                </p:oleObj>
              </mc:Choice>
              <mc:Fallback>
                <p:oleObj name="公式" r:id="rId6" imgW="215640" imgH="228600" progId="Equation.3">
                  <p:embed/>
                  <p:pic>
                    <p:nvPicPr>
                      <p:cNvPr id="9" name="Object 4"/>
                      <p:cNvPicPr>
                        <a:picLocks noChangeAspect="1" noChangeArrowheads="1"/>
                      </p:cNvPicPr>
                      <p:nvPr/>
                    </p:nvPicPr>
                    <p:blipFill>
                      <a:blip r:embed="rId7"/>
                      <a:srcRect/>
                      <a:stretch>
                        <a:fillRect/>
                      </a:stretch>
                    </p:blipFill>
                    <p:spPr bwMode="auto">
                      <a:xfrm>
                        <a:off x="3275856" y="4077072"/>
                        <a:ext cx="548161" cy="734739"/>
                      </a:xfrm>
                      <a:prstGeom prst="rect">
                        <a:avLst/>
                      </a:prstGeom>
                      <a:noFill/>
                      <a:ln w="28575">
                        <a:noFill/>
                        <a:miter lim="800000"/>
                        <a:headEnd/>
                        <a:tailEnd/>
                      </a:ln>
                      <a:extLst/>
                    </p:spPr>
                  </p:pic>
                </p:oleObj>
              </mc:Fallback>
            </mc:AlternateContent>
          </a:graphicData>
        </a:graphic>
      </p:graphicFrame>
    </p:spTree>
    <p:extLst>
      <p:ext uri="{BB962C8B-B14F-4D97-AF65-F5344CB8AC3E}">
        <p14:creationId xmlns:p14="http://schemas.microsoft.com/office/powerpoint/2010/main" val="971018514"/>
      </p:ext>
    </p:extLst>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2"/>
          <p:cNvSpPr>
            <a:spLocks noGrp="1" noChangeArrowheads="1"/>
          </p:cNvSpPr>
          <p:nvPr>
            <p:ph type="title"/>
          </p:nvPr>
        </p:nvSpPr>
        <p:spPr>
          <a:xfrm>
            <a:off x="827088" y="404813"/>
            <a:ext cx="6781800" cy="990600"/>
          </a:xfrm>
        </p:spPr>
        <p:txBody>
          <a:bodyPr/>
          <a:lstStyle/>
          <a:p>
            <a:pPr eaLnBrk="1" hangingPunct="1"/>
            <a:r>
              <a:rPr lang="zh-CN" altLang="en-US" sz="4000" dirty="0" smtClean="0"/>
              <a:t>方程式法的特点</a:t>
            </a:r>
          </a:p>
        </p:txBody>
      </p:sp>
      <p:sp>
        <p:nvSpPr>
          <p:cNvPr id="385027" name="Rectangle 3"/>
          <p:cNvSpPr>
            <a:spLocks noGrp="1" noChangeArrowheads="1"/>
          </p:cNvSpPr>
          <p:nvPr>
            <p:ph type="body" idx="1"/>
          </p:nvPr>
        </p:nvSpPr>
        <p:spPr/>
        <p:txBody>
          <a:bodyPr/>
          <a:lstStyle/>
          <a:p>
            <a:pPr marL="571500" indent="-571500" eaLnBrk="1" hangingPunct="1">
              <a:lnSpc>
                <a:spcPct val="120000"/>
              </a:lnSpc>
            </a:pPr>
            <a:r>
              <a:rPr lang="zh-CN" altLang="en-US" b="0" dirty="0" smtClean="0">
                <a:solidFill>
                  <a:srgbClr val="0070C0"/>
                </a:solidFill>
                <a:ea typeface="华文中宋" pitchFamily="2" charset="-122"/>
              </a:rPr>
              <a:t>其出发点</a:t>
            </a:r>
            <a:r>
              <a:rPr lang="zh-CN" altLang="en-US" b="0" dirty="0" smtClean="0">
                <a:solidFill>
                  <a:srgbClr val="000000"/>
                </a:solidFill>
                <a:ea typeface="华文中宋" pitchFamily="2" charset="-122"/>
              </a:rPr>
              <a:t>是，</a:t>
            </a:r>
            <a:r>
              <a:rPr lang="zh-CN" altLang="en-US" dirty="0" smtClean="0">
                <a:solidFill>
                  <a:srgbClr val="000000"/>
                </a:solidFill>
                <a:ea typeface="华文中宋" pitchFamily="2" charset="-122"/>
              </a:rPr>
              <a:t>用所求的平均发展速度代表各期的环比发展速度，则推算的各期水平之总和与实际相等。</a:t>
            </a:r>
            <a:r>
              <a:rPr lang="zh-CN" altLang="en-US" dirty="0" smtClean="0">
                <a:solidFill>
                  <a:srgbClr val="000000"/>
                </a:solidFill>
              </a:rPr>
              <a:t> </a:t>
            </a:r>
          </a:p>
          <a:p>
            <a:pPr marL="571500" indent="-571500" eaLnBrk="1" hangingPunct="1">
              <a:lnSpc>
                <a:spcPct val="120000"/>
              </a:lnSpc>
            </a:pPr>
            <a:r>
              <a:rPr lang="zh-CN" altLang="en-US" b="0" dirty="0" smtClean="0">
                <a:solidFill>
                  <a:srgbClr val="3333FF"/>
                </a:solidFill>
                <a:ea typeface="华文中宋" pitchFamily="2" charset="-122"/>
              </a:rPr>
              <a:t>侧重于考察全期总水平</a:t>
            </a:r>
            <a:r>
              <a:rPr lang="zh-CN" altLang="en-US" b="0" dirty="0" smtClean="0">
                <a:solidFill>
                  <a:srgbClr val="000000"/>
                </a:solidFill>
                <a:ea typeface="华文中宋" pitchFamily="2" charset="-122"/>
              </a:rPr>
              <a:t>，</a:t>
            </a:r>
            <a:r>
              <a:rPr lang="zh-CN" altLang="en-US" dirty="0" smtClean="0">
                <a:solidFill>
                  <a:srgbClr val="000000"/>
                </a:solidFill>
                <a:ea typeface="华文中宋" pitchFamily="2" charset="-122"/>
              </a:rPr>
              <a:t>计算结果取决于整个计算期各期水平的累计总和，故称为</a:t>
            </a:r>
            <a:r>
              <a:rPr lang="zh-CN" altLang="en-US" dirty="0" smtClean="0">
                <a:solidFill>
                  <a:srgbClr val="000000"/>
                </a:solidFill>
                <a:latin typeface="Arial" charset="0"/>
                <a:ea typeface="华文中宋" pitchFamily="2" charset="-122"/>
              </a:rPr>
              <a:t>“</a:t>
            </a:r>
            <a:r>
              <a:rPr lang="zh-CN" altLang="en-US" dirty="0" smtClean="0">
                <a:solidFill>
                  <a:srgbClr val="3333FF"/>
                </a:solidFill>
                <a:ea typeface="华文中宋" pitchFamily="2" charset="-122"/>
              </a:rPr>
              <a:t>累计法</a:t>
            </a:r>
            <a:r>
              <a:rPr lang="zh-CN" altLang="en-US" dirty="0" smtClean="0">
                <a:solidFill>
                  <a:srgbClr val="000000"/>
                </a:solidFill>
                <a:latin typeface="Arial" charset="0"/>
                <a:ea typeface="华文中宋" pitchFamily="2" charset="-122"/>
              </a:rPr>
              <a:t>”</a:t>
            </a:r>
            <a:r>
              <a:rPr lang="zh-CN" altLang="en-US" dirty="0" smtClean="0">
                <a:solidFill>
                  <a:srgbClr val="000000"/>
                </a:solidFill>
                <a:ea typeface="华文中宋" pitchFamily="2" charset="-122"/>
              </a:rPr>
              <a:t>。</a:t>
            </a:r>
          </a:p>
          <a:p>
            <a:pPr marL="571500" indent="-571500" eaLnBrk="1" hangingPunct="1">
              <a:lnSpc>
                <a:spcPct val="120000"/>
              </a:lnSpc>
            </a:pPr>
            <a:r>
              <a:rPr lang="zh-CN" altLang="en-US" dirty="0" smtClean="0">
                <a:solidFill>
                  <a:srgbClr val="0070C0"/>
                </a:solidFill>
                <a:ea typeface="华文中宋" pitchFamily="2" charset="-122"/>
              </a:rPr>
              <a:t>适用于</a:t>
            </a:r>
            <a:r>
              <a:rPr lang="zh-CN" altLang="en-US" dirty="0" smtClean="0">
                <a:solidFill>
                  <a:srgbClr val="000000"/>
                </a:solidFill>
                <a:ea typeface="华文中宋" pitchFamily="2" charset="-122"/>
              </a:rPr>
              <a:t>：关心整个考察期内的总量时。</a:t>
            </a:r>
          </a:p>
        </p:txBody>
      </p:sp>
      <p:sp>
        <p:nvSpPr>
          <p:cNvPr id="95237" name="日期占位符 4"/>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5027">
                                            <p:txEl>
                                              <p:pRg st="0" end="0"/>
                                            </p:txEl>
                                          </p:spTgt>
                                        </p:tgtEl>
                                        <p:attrNameLst>
                                          <p:attrName>style.visibility</p:attrName>
                                        </p:attrNameLst>
                                      </p:cBhvr>
                                      <p:to>
                                        <p:strVal val="visible"/>
                                      </p:to>
                                    </p:set>
                                    <p:animEffect transition="in" filter="wipe(left)">
                                      <p:cBhvr>
                                        <p:cTn id="7" dur="500"/>
                                        <p:tgtEl>
                                          <p:spTgt spid="3850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85027">
                                            <p:txEl>
                                              <p:pRg st="1" end="1"/>
                                            </p:txEl>
                                          </p:spTgt>
                                        </p:tgtEl>
                                        <p:attrNameLst>
                                          <p:attrName>style.visibility</p:attrName>
                                        </p:attrNameLst>
                                      </p:cBhvr>
                                      <p:to>
                                        <p:strVal val="visible"/>
                                      </p:to>
                                    </p:set>
                                    <p:animEffect transition="in" filter="wipe(left)">
                                      <p:cBhvr>
                                        <p:cTn id="12" dur="500"/>
                                        <p:tgtEl>
                                          <p:spTgt spid="3850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85027">
                                            <p:txEl>
                                              <p:pRg st="2" end="2"/>
                                            </p:txEl>
                                          </p:spTgt>
                                        </p:tgtEl>
                                        <p:attrNameLst>
                                          <p:attrName>style.visibility</p:attrName>
                                        </p:attrNameLst>
                                      </p:cBhvr>
                                      <p:to>
                                        <p:strVal val="visible"/>
                                      </p:to>
                                    </p:set>
                                    <p:animEffect transition="in" filter="wipe(left)">
                                      <p:cBhvr>
                                        <p:cTn id="17" dur="500"/>
                                        <p:tgtEl>
                                          <p:spTgt spid="38502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5027" grpId="0" build="p"/>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259" name="Rectangle 2"/>
          <p:cNvSpPr>
            <a:spLocks noGrp="1" noChangeArrowheads="1"/>
          </p:cNvSpPr>
          <p:nvPr>
            <p:ph type="title"/>
          </p:nvPr>
        </p:nvSpPr>
        <p:spPr>
          <a:xfrm>
            <a:off x="2267744" y="417364"/>
            <a:ext cx="5073706" cy="1462534"/>
          </a:xfrm>
        </p:spPr>
        <p:txBody>
          <a:bodyPr/>
          <a:lstStyle/>
          <a:p>
            <a:pPr eaLnBrk="1" hangingPunct="1"/>
            <a:r>
              <a:rPr lang="en-US" altLang="zh-CN" sz="4000" dirty="0" smtClean="0"/>
              <a:t>4.3.4 </a:t>
            </a:r>
            <a:r>
              <a:rPr lang="zh-CN" altLang="en-US" sz="4000" dirty="0" smtClean="0"/>
              <a:t>应用平均速度应注意的问题</a:t>
            </a:r>
          </a:p>
        </p:txBody>
      </p:sp>
      <p:sp>
        <p:nvSpPr>
          <p:cNvPr id="386051" name="Rectangle 3"/>
          <p:cNvSpPr>
            <a:spLocks noGrp="1" noChangeArrowheads="1"/>
          </p:cNvSpPr>
          <p:nvPr>
            <p:ph type="body" idx="1"/>
          </p:nvPr>
        </p:nvSpPr>
        <p:spPr>
          <a:xfrm>
            <a:off x="918397" y="2035324"/>
            <a:ext cx="7772400" cy="4176713"/>
          </a:xfrm>
        </p:spPr>
        <p:txBody>
          <a:bodyPr/>
          <a:lstStyle/>
          <a:p>
            <a:pPr marL="609600" indent="-609600" algn="just" eaLnBrk="1" hangingPunct="1">
              <a:lnSpc>
                <a:spcPct val="120000"/>
              </a:lnSpc>
              <a:buFontTx/>
              <a:buAutoNum type="arabicPeriod"/>
            </a:pPr>
            <a:r>
              <a:rPr lang="zh-CN" altLang="en-US" sz="2800" dirty="0" smtClean="0">
                <a:solidFill>
                  <a:schemeClr val="tx1"/>
                </a:solidFill>
              </a:rPr>
              <a:t>正确选择基期</a:t>
            </a:r>
          </a:p>
          <a:p>
            <a:pPr marL="901700" lvl="1" indent="-215900" algn="just" eaLnBrk="1" hangingPunct="1">
              <a:lnSpc>
                <a:spcPct val="120000"/>
              </a:lnSpc>
              <a:buSzPct val="100000"/>
              <a:buFontTx/>
              <a:buChar char="•"/>
            </a:pPr>
            <a:r>
              <a:rPr lang="zh-CN" altLang="en-US" sz="2500" dirty="0" smtClean="0">
                <a:solidFill>
                  <a:schemeClr val="tx1"/>
                </a:solidFill>
                <a:latin typeface="Times New Roman" pitchFamily="18" charset="0"/>
              </a:rPr>
              <a:t>当变量值为</a:t>
            </a:r>
            <a:r>
              <a:rPr lang="en-US" altLang="zh-CN" sz="2500" dirty="0" smtClean="0">
                <a:solidFill>
                  <a:schemeClr val="tx1"/>
                </a:solidFill>
                <a:latin typeface="Times New Roman" pitchFamily="18" charset="0"/>
              </a:rPr>
              <a:t>0</a:t>
            </a:r>
            <a:r>
              <a:rPr lang="zh-CN" altLang="en-US" sz="2500" dirty="0" smtClean="0">
                <a:solidFill>
                  <a:schemeClr val="tx1"/>
                </a:solidFill>
                <a:latin typeface="Times New Roman" pitchFamily="18" charset="0"/>
              </a:rPr>
              <a:t>时，不能计算速度；</a:t>
            </a:r>
          </a:p>
          <a:p>
            <a:pPr marL="901700" lvl="1" indent="-215900" algn="just" eaLnBrk="1" hangingPunct="1">
              <a:lnSpc>
                <a:spcPct val="120000"/>
              </a:lnSpc>
              <a:buSzPct val="100000"/>
              <a:buFontTx/>
              <a:buChar char="•"/>
            </a:pPr>
            <a:r>
              <a:rPr lang="zh-CN" altLang="en-US" sz="2500" dirty="0" smtClean="0">
                <a:solidFill>
                  <a:schemeClr val="tx1"/>
                </a:solidFill>
                <a:latin typeface="Times New Roman" pitchFamily="18" charset="0"/>
              </a:rPr>
              <a:t>当变量值为负数时，不宜计算速度</a:t>
            </a:r>
          </a:p>
          <a:p>
            <a:pPr marL="609600" indent="-609600" algn="just" eaLnBrk="1" hangingPunct="1">
              <a:lnSpc>
                <a:spcPct val="120000"/>
              </a:lnSpc>
              <a:buFontTx/>
              <a:buAutoNum type="arabicPeriod"/>
            </a:pPr>
            <a:r>
              <a:rPr lang="zh-CN" altLang="en-US" sz="2800" dirty="0" smtClean="0">
                <a:solidFill>
                  <a:schemeClr val="tx1"/>
                </a:solidFill>
              </a:rPr>
              <a:t>总平均速度与各环比速度、分段平均速度结合；</a:t>
            </a:r>
          </a:p>
          <a:p>
            <a:pPr marL="609600" indent="-609600" eaLnBrk="1" hangingPunct="1">
              <a:lnSpc>
                <a:spcPct val="120000"/>
              </a:lnSpc>
              <a:buFontTx/>
              <a:buAutoNum type="arabicPeriod" startAt="3"/>
            </a:pPr>
            <a:r>
              <a:rPr lang="zh-CN" altLang="en-US" sz="2800" dirty="0" smtClean="0">
                <a:solidFill>
                  <a:schemeClr val="tx1"/>
                </a:solidFill>
              </a:rPr>
              <a:t>将速度与水平二者结合</a:t>
            </a:r>
            <a:r>
              <a:rPr lang="en-US" altLang="zh-CN" sz="2800" dirty="0" smtClean="0">
                <a:solidFill>
                  <a:schemeClr val="tx1"/>
                </a:solidFill>
                <a:latin typeface="Arial" charset="0"/>
              </a:rPr>
              <a:t>——</a:t>
            </a:r>
            <a:r>
              <a:rPr lang="zh-CN" altLang="en-US" sz="2800" dirty="0" smtClean="0">
                <a:solidFill>
                  <a:schemeClr val="tx1"/>
                </a:solidFill>
              </a:rPr>
              <a:t>常常用到</a:t>
            </a:r>
            <a:r>
              <a:rPr lang="zh-CN" altLang="en-US" sz="2800" dirty="0" smtClean="0">
                <a:solidFill>
                  <a:srgbClr val="000000"/>
                </a:solidFill>
                <a:latin typeface="黑体" panose="02010609060101010101" pitchFamily="49" charset="-122"/>
                <a:ea typeface="黑体" panose="02010609060101010101" pitchFamily="49" charset="-122"/>
              </a:rPr>
              <a:t>增长</a:t>
            </a:r>
            <a:r>
              <a:rPr lang="en-US" altLang="zh-CN" sz="2800" dirty="0" smtClean="0">
                <a:solidFill>
                  <a:srgbClr val="000000"/>
                </a:solidFill>
                <a:latin typeface="黑体" panose="02010609060101010101" pitchFamily="49" charset="-122"/>
                <a:ea typeface="黑体" panose="02010609060101010101" pitchFamily="49" charset="-122"/>
                <a:cs typeface="Times New Roman" pitchFamily="18" charset="0"/>
              </a:rPr>
              <a:t>1%</a:t>
            </a:r>
            <a:r>
              <a:rPr lang="zh-CN" altLang="en-US" sz="2800" dirty="0" smtClean="0">
                <a:solidFill>
                  <a:srgbClr val="000000"/>
                </a:solidFill>
                <a:latin typeface="黑体" panose="02010609060101010101" pitchFamily="49" charset="-122"/>
                <a:ea typeface="黑体" panose="02010609060101010101" pitchFamily="49" charset="-122"/>
              </a:rPr>
              <a:t>的</a:t>
            </a:r>
            <a:r>
              <a:rPr lang="zh-CN" altLang="en-US" sz="2800" dirty="0" smtClean="0">
                <a:solidFill>
                  <a:srgbClr val="000000"/>
                </a:solidFill>
                <a:latin typeface="黑体" panose="02010609060101010101" pitchFamily="49" charset="-122"/>
                <a:ea typeface="黑体" panose="02010609060101010101" pitchFamily="49" charset="-122"/>
              </a:rPr>
              <a:t>绝对量</a:t>
            </a:r>
            <a:r>
              <a:rPr lang="zh-CN" altLang="en-US" sz="2800" dirty="0" smtClean="0">
                <a:solidFill>
                  <a:schemeClr val="tx1"/>
                </a:solidFill>
              </a:rPr>
              <a:t>来</a:t>
            </a:r>
            <a:r>
              <a:rPr lang="zh-CN" altLang="en-US" sz="2800" dirty="0" smtClean="0">
                <a:solidFill>
                  <a:schemeClr val="tx1"/>
                </a:solidFill>
              </a:rPr>
              <a:t>补充说明增长速度</a:t>
            </a:r>
          </a:p>
        </p:txBody>
      </p:sp>
      <p:sp>
        <p:nvSpPr>
          <p:cNvPr id="96261" name="Rectangle 4"/>
          <p:cNvSpPr>
            <a:spLocks noChangeArrowheads="1"/>
          </p:cNvSpPr>
          <p:nvPr/>
        </p:nvSpPr>
        <p:spPr bwMode="auto">
          <a:xfrm>
            <a:off x="3562350" y="3219450"/>
            <a:ext cx="9144000" cy="0"/>
          </a:xfrm>
          <a:prstGeom prst="rect">
            <a:avLst/>
          </a:prstGeom>
          <a:noFill/>
          <a:ln w="9525">
            <a:noFill/>
            <a:miter lim="800000"/>
            <a:headEnd/>
            <a:tailEnd/>
          </a:ln>
        </p:spPr>
        <p:txBody>
          <a:bodyPr>
            <a:spAutoFit/>
          </a:bodyPr>
          <a:lstStyle/>
          <a:p>
            <a:endParaRPr lang="zh-CN" altLang="en-US"/>
          </a:p>
        </p:txBody>
      </p:sp>
      <p:pic>
        <p:nvPicPr>
          <p:cNvPr id="96262" name="Picture 5" descr="c004"/>
          <p:cNvPicPr>
            <a:picLocks noChangeAspect="1" noChangeArrowheads="1" noCrop="1"/>
          </p:cNvPicPr>
          <p:nvPr/>
        </p:nvPicPr>
        <p:blipFill>
          <a:blip r:embed="rId2" cstate="print"/>
          <a:srcRect/>
          <a:stretch>
            <a:fillRect/>
          </a:stretch>
        </p:blipFill>
        <p:spPr bwMode="auto">
          <a:xfrm>
            <a:off x="8286750" y="0"/>
            <a:ext cx="857250" cy="857250"/>
          </a:xfrm>
          <a:prstGeom prst="rect">
            <a:avLst/>
          </a:prstGeom>
          <a:noFill/>
          <a:ln w="9525">
            <a:noFill/>
            <a:miter lim="800000"/>
            <a:headEnd/>
            <a:tailEnd/>
          </a:ln>
        </p:spPr>
      </p:pic>
      <p:sp>
        <p:nvSpPr>
          <p:cNvPr id="96263" name="日期占位符 6"/>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86051">
                                            <p:txEl>
                                              <p:pRg st="0" end="0"/>
                                            </p:txEl>
                                          </p:spTgt>
                                        </p:tgtEl>
                                        <p:attrNameLst>
                                          <p:attrName>style.visibility</p:attrName>
                                        </p:attrNameLst>
                                      </p:cBhvr>
                                      <p:to>
                                        <p:strVal val="visible"/>
                                      </p:to>
                                    </p:set>
                                    <p:anim calcmode="lin" valueType="num">
                                      <p:cBhvr additive="base">
                                        <p:cTn id="7" dur="500" fill="hold"/>
                                        <p:tgtEl>
                                          <p:spTgt spid="38605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86051">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86051">
                                            <p:txEl>
                                              <p:pRg st="1" end="1"/>
                                            </p:txEl>
                                          </p:spTgt>
                                        </p:tgtEl>
                                        <p:attrNameLst>
                                          <p:attrName>style.visibility</p:attrName>
                                        </p:attrNameLst>
                                      </p:cBhvr>
                                      <p:to>
                                        <p:strVal val="visible"/>
                                      </p:to>
                                    </p:set>
                                    <p:anim calcmode="lin" valueType="num">
                                      <p:cBhvr additive="base">
                                        <p:cTn id="11" dur="500" fill="hold"/>
                                        <p:tgtEl>
                                          <p:spTgt spid="386051">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386051">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386051">
                                            <p:txEl>
                                              <p:pRg st="2" end="2"/>
                                            </p:txEl>
                                          </p:spTgt>
                                        </p:tgtEl>
                                        <p:attrNameLst>
                                          <p:attrName>style.visibility</p:attrName>
                                        </p:attrNameLst>
                                      </p:cBhvr>
                                      <p:to>
                                        <p:strVal val="visible"/>
                                      </p:to>
                                    </p:set>
                                    <p:anim calcmode="lin" valueType="num">
                                      <p:cBhvr additive="base">
                                        <p:cTn id="15" dur="500" fill="hold"/>
                                        <p:tgtEl>
                                          <p:spTgt spid="386051">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38605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386051">
                                            <p:txEl>
                                              <p:pRg st="3" end="3"/>
                                            </p:txEl>
                                          </p:spTgt>
                                        </p:tgtEl>
                                        <p:attrNameLst>
                                          <p:attrName>style.visibility</p:attrName>
                                        </p:attrNameLst>
                                      </p:cBhvr>
                                      <p:to>
                                        <p:strVal val="visible"/>
                                      </p:to>
                                    </p:set>
                                    <p:anim calcmode="lin" valueType="num">
                                      <p:cBhvr additive="base">
                                        <p:cTn id="21" dur="500" fill="hold"/>
                                        <p:tgtEl>
                                          <p:spTgt spid="386051">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38605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386051">
                                            <p:txEl>
                                              <p:pRg st="4" end="4"/>
                                            </p:txEl>
                                          </p:spTgt>
                                        </p:tgtEl>
                                        <p:attrNameLst>
                                          <p:attrName>style.visibility</p:attrName>
                                        </p:attrNameLst>
                                      </p:cBhvr>
                                      <p:to>
                                        <p:strVal val="visible"/>
                                      </p:to>
                                    </p:set>
                                    <p:anim calcmode="lin" valueType="num">
                                      <p:cBhvr additive="base">
                                        <p:cTn id="27" dur="500" fill="hold"/>
                                        <p:tgtEl>
                                          <p:spTgt spid="386051">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38605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051" grpId="0" build="p"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9" name="Rectangle 2"/>
          <p:cNvSpPr>
            <a:spLocks noGrp="1" noChangeArrowheads="1"/>
          </p:cNvSpPr>
          <p:nvPr>
            <p:ph type="title"/>
          </p:nvPr>
        </p:nvSpPr>
        <p:spPr>
          <a:xfrm>
            <a:off x="762000" y="304800"/>
            <a:ext cx="7162800" cy="762000"/>
          </a:xfrm>
        </p:spPr>
        <p:txBody>
          <a:bodyPr/>
          <a:lstStyle/>
          <a:p>
            <a:pPr eaLnBrk="1" hangingPunct="1"/>
            <a:r>
              <a:rPr lang="zh-CN" altLang="en-US" dirty="0" smtClean="0">
                <a:latin typeface="Times New Roman" pitchFamily="18" charset="0"/>
              </a:rPr>
              <a:t>增长</a:t>
            </a:r>
            <a:r>
              <a:rPr lang="en-US" altLang="zh-CN" dirty="0" smtClean="0">
                <a:latin typeface="Times New Roman" pitchFamily="18" charset="0"/>
                <a:cs typeface="Times New Roman" pitchFamily="18" charset="0"/>
              </a:rPr>
              <a:t>1%</a:t>
            </a:r>
            <a:r>
              <a:rPr lang="zh-CN" altLang="en-US" dirty="0" smtClean="0">
                <a:latin typeface="Times New Roman" pitchFamily="18" charset="0"/>
              </a:rPr>
              <a:t>的绝对量</a:t>
            </a:r>
          </a:p>
        </p:txBody>
      </p:sp>
      <p:sp>
        <p:nvSpPr>
          <p:cNvPr id="31750" name="Rectangle 3"/>
          <p:cNvSpPr>
            <a:spLocks noChangeArrowheads="1"/>
          </p:cNvSpPr>
          <p:nvPr/>
        </p:nvSpPr>
        <p:spPr bwMode="auto">
          <a:xfrm>
            <a:off x="3562350" y="3219450"/>
            <a:ext cx="9144000" cy="0"/>
          </a:xfrm>
          <a:prstGeom prst="rect">
            <a:avLst/>
          </a:prstGeom>
          <a:noFill/>
          <a:ln w="9525">
            <a:noFill/>
            <a:miter lim="800000"/>
            <a:headEnd/>
            <a:tailEnd/>
          </a:ln>
        </p:spPr>
        <p:txBody>
          <a:bodyPr>
            <a:spAutoFit/>
          </a:bodyPr>
          <a:lstStyle/>
          <a:p>
            <a:endParaRPr lang="zh-CN" altLang="en-US"/>
          </a:p>
        </p:txBody>
      </p:sp>
      <p:graphicFrame>
        <p:nvGraphicFramePr>
          <p:cNvPr id="429060" name="Object 4"/>
          <p:cNvGraphicFramePr>
            <a:graphicFrameLocks noChangeAspect="1"/>
          </p:cNvGraphicFramePr>
          <p:nvPr/>
        </p:nvGraphicFramePr>
        <p:xfrm>
          <a:off x="3276600" y="3500438"/>
          <a:ext cx="5113338" cy="1081087"/>
        </p:xfrm>
        <a:graphic>
          <a:graphicData uri="http://schemas.openxmlformats.org/presentationml/2006/ole">
            <mc:AlternateContent xmlns:mc="http://schemas.openxmlformats.org/markup-compatibility/2006">
              <mc:Choice xmlns:v="urn:schemas-microsoft-com:vml" Requires="v">
                <p:oleObj spid="_x0000_s31958" r:id="rId3" imgW="2019300" imgH="419100" progId="Equation.3">
                  <p:embed/>
                </p:oleObj>
              </mc:Choice>
              <mc:Fallback>
                <p:oleObj r:id="rId3" imgW="2019300" imgH="4191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3500438"/>
                        <a:ext cx="5113338" cy="1081087"/>
                      </a:xfrm>
                      <a:prstGeom prst="rect">
                        <a:avLst/>
                      </a:prstGeom>
                      <a:noFill/>
                      <a:extLst>
                        <a:ext uri="{909E8E84-426E-40DD-AFC4-6F175D3DCCD1}">
                          <a14:hiddenFill xmlns:a14="http://schemas.microsoft.com/office/drawing/2010/main">
                            <a:solidFill>
                              <a:schemeClr val="accent1"/>
                            </a:solidFill>
                          </a14:hiddenFill>
                        </a:ext>
                      </a:extLst>
                    </p:spPr>
                  </p:pic>
                </p:oleObj>
              </mc:Fallback>
            </mc:AlternateContent>
          </a:graphicData>
        </a:graphic>
      </p:graphicFrame>
      <p:sp>
        <p:nvSpPr>
          <p:cNvPr id="31751" name="Rectangle 5"/>
          <p:cNvSpPr>
            <a:spLocks noChangeArrowheads="1"/>
          </p:cNvSpPr>
          <p:nvPr/>
        </p:nvSpPr>
        <p:spPr bwMode="auto">
          <a:xfrm>
            <a:off x="251520" y="3781425"/>
            <a:ext cx="3959225" cy="519112"/>
          </a:xfrm>
          <a:prstGeom prst="rect">
            <a:avLst/>
          </a:prstGeom>
          <a:noFill/>
          <a:ln w="9525">
            <a:noFill/>
            <a:miter lim="800000"/>
            <a:headEnd/>
            <a:tailEnd/>
          </a:ln>
        </p:spPr>
        <p:txBody>
          <a:bodyPr>
            <a:spAutoFit/>
          </a:bodyPr>
          <a:lstStyle/>
          <a:p>
            <a:r>
              <a:rPr kumimoji="1" lang="zh-CN" altLang="en-US" sz="2800" b="1" dirty="0">
                <a:solidFill>
                  <a:srgbClr val="0070C0"/>
                </a:solidFill>
                <a:latin typeface="Times New Roman" pitchFamily="18" charset="0"/>
              </a:rPr>
              <a:t>增长</a:t>
            </a:r>
            <a:r>
              <a:rPr kumimoji="1" lang="en-US" altLang="zh-CN" sz="2800" b="1" dirty="0">
                <a:solidFill>
                  <a:srgbClr val="0070C0"/>
                </a:solidFill>
                <a:latin typeface="Times New Roman" pitchFamily="18" charset="0"/>
                <a:cs typeface="Times New Roman" pitchFamily="18" charset="0"/>
              </a:rPr>
              <a:t>1%</a:t>
            </a:r>
            <a:r>
              <a:rPr kumimoji="1" lang="zh-CN" altLang="en-US" sz="2800" b="1" dirty="0">
                <a:solidFill>
                  <a:srgbClr val="0070C0"/>
                </a:solidFill>
                <a:latin typeface="Times New Roman" pitchFamily="18" charset="0"/>
              </a:rPr>
              <a:t>的绝对量</a:t>
            </a:r>
            <a:r>
              <a:rPr kumimoji="1" lang="en-US" altLang="zh-CN" sz="2800" b="1" dirty="0">
                <a:solidFill>
                  <a:srgbClr val="0070C0"/>
                </a:solidFill>
                <a:latin typeface="Times New Roman" pitchFamily="18" charset="0"/>
                <a:cs typeface="Times New Roman" pitchFamily="18" charset="0"/>
              </a:rPr>
              <a:t>=</a:t>
            </a:r>
            <a:r>
              <a:rPr kumimoji="1" lang="en-US" altLang="zh-CN" sz="2800" dirty="0">
                <a:solidFill>
                  <a:srgbClr val="0070C0"/>
                </a:solidFill>
              </a:rPr>
              <a:t> </a:t>
            </a:r>
            <a:endParaRPr kumimoji="1" lang="en-US" altLang="zh-CN" sz="2800" dirty="0">
              <a:solidFill>
                <a:srgbClr val="0070C0"/>
              </a:solidFill>
              <a:latin typeface="Times New Roman" pitchFamily="18" charset="0"/>
            </a:endParaRPr>
          </a:p>
        </p:txBody>
      </p:sp>
      <p:graphicFrame>
        <p:nvGraphicFramePr>
          <p:cNvPr id="31747" name="Object 6"/>
          <p:cNvGraphicFramePr>
            <a:graphicFrameLocks noChangeAspect="1"/>
          </p:cNvGraphicFramePr>
          <p:nvPr/>
        </p:nvGraphicFramePr>
        <p:xfrm>
          <a:off x="2987675" y="4722813"/>
          <a:ext cx="4321175" cy="1743075"/>
        </p:xfrm>
        <a:graphic>
          <a:graphicData uri="http://schemas.openxmlformats.org/presentationml/2006/ole">
            <mc:AlternateContent xmlns:mc="http://schemas.openxmlformats.org/markup-compatibility/2006">
              <mc:Choice xmlns:v="urn:schemas-microsoft-com:vml" Requires="v">
                <p:oleObj spid="_x0000_s31959" name="Equation" r:id="rId5" imgW="1523880" imgH="622080" progId="Equation.DSMT4">
                  <p:embed/>
                </p:oleObj>
              </mc:Choice>
              <mc:Fallback>
                <p:oleObj name="Equation" r:id="rId5" imgW="1523880" imgH="62208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7675" y="4722813"/>
                        <a:ext cx="4321175" cy="17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folHlink"/>
                            </a:solidFill>
                            <a:miter lim="800000"/>
                            <a:headEnd/>
                            <a:tailEnd/>
                          </a14:hiddenLine>
                        </a:ext>
                      </a:extLst>
                    </p:spPr>
                  </p:pic>
                </p:oleObj>
              </mc:Fallback>
            </mc:AlternateContent>
          </a:graphicData>
        </a:graphic>
      </p:graphicFrame>
      <p:sp>
        <p:nvSpPr>
          <p:cNvPr id="31752" name="Rectangle 7"/>
          <p:cNvSpPr>
            <a:spLocks noGrp="1" noChangeArrowheads="1"/>
          </p:cNvSpPr>
          <p:nvPr>
            <p:ph type="body" idx="1"/>
          </p:nvPr>
        </p:nvSpPr>
        <p:spPr>
          <a:xfrm>
            <a:off x="373063" y="1196975"/>
            <a:ext cx="8231187" cy="1655763"/>
          </a:xfrm>
          <a:noFill/>
        </p:spPr>
        <p:txBody>
          <a:bodyPr/>
          <a:lstStyle/>
          <a:p>
            <a:pPr marL="381000" indent="-381000" eaLnBrk="1" hangingPunct="1">
              <a:lnSpc>
                <a:spcPct val="110000"/>
              </a:lnSpc>
            </a:pPr>
            <a:r>
              <a:rPr lang="zh-CN" altLang="en-US" sz="2800" smtClean="0">
                <a:solidFill>
                  <a:schemeClr val="tx1"/>
                </a:solidFill>
              </a:rPr>
              <a:t>是用来补充说明增长速度的，</a:t>
            </a:r>
          </a:p>
          <a:p>
            <a:pPr marL="800100" lvl="1" indent="-342900" eaLnBrk="1" hangingPunct="1">
              <a:lnSpc>
                <a:spcPct val="110000"/>
              </a:lnSpc>
            </a:pPr>
            <a:r>
              <a:rPr lang="zh-CN" altLang="en-US" smtClean="0"/>
              <a:t>表示：速度每增长一个百分点所对应的增加绝对量。</a:t>
            </a:r>
            <a:endParaRPr lang="zh-CN" altLang="en-US" smtClean="0">
              <a:solidFill>
                <a:schemeClr val="tx1"/>
              </a:solidFill>
            </a:endParaRPr>
          </a:p>
          <a:p>
            <a:pPr marL="381000" indent="-381000" eaLnBrk="1" hangingPunct="1">
              <a:lnSpc>
                <a:spcPct val="110000"/>
              </a:lnSpc>
            </a:pPr>
            <a:r>
              <a:rPr lang="zh-CN" altLang="en-US" sz="2800" smtClean="0">
                <a:solidFill>
                  <a:schemeClr val="tx1"/>
                </a:solidFill>
              </a:rPr>
              <a:t>一般只对环比增长速度计算，其计算公式为：</a:t>
            </a:r>
          </a:p>
        </p:txBody>
      </p:sp>
      <p:sp>
        <p:nvSpPr>
          <p:cNvPr id="31753" name="日期占位符 8"/>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429060"/>
                                        </p:tgtEl>
                                        <p:attrNameLst>
                                          <p:attrName>style.visibility</p:attrName>
                                        </p:attrNameLst>
                                      </p:cBhvr>
                                      <p:to>
                                        <p:strVal val="visible"/>
                                      </p:to>
                                    </p:set>
                                    <p:anim calcmode="lin" valueType="num">
                                      <p:cBhvr additive="base">
                                        <p:cTn id="7" dur="10" fill="hold"/>
                                        <p:tgtEl>
                                          <p:spTgt spid="429060"/>
                                        </p:tgtEl>
                                        <p:attrNameLst>
                                          <p:attrName>ppt_x</p:attrName>
                                        </p:attrNameLst>
                                      </p:cBhvr>
                                      <p:tavLst>
                                        <p:tav tm="0">
                                          <p:val>
                                            <p:strVal val="1+#ppt_w/2"/>
                                          </p:val>
                                        </p:tav>
                                        <p:tav tm="100000">
                                          <p:val>
                                            <p:strVal val="#ppt_x"/>
                                          </p:val>
                                        </p:tav>
                                      </p:tavLst>
                                    </p:anim>
                                    <p:anim calcmode="lin" valueType="num">
                                      <p:cBhvr additive="base">
                                        <p:cTn id="8" dur="10" fill="hold"/>
                                        <p:tgtEl>
                                          <p:spTgt spid="4290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Rectangle 2"/>
          <p:cNvSpPr>
            <a:spLocks noGrp="1" noChangeArrowheads="1"/>
          </p:cNvSpPr>
          <p:nvPr>
            <p:ph type="title"/>
          </p:nvPr>
        </p:nvSpPr>
        <p:spPr>
          <a:xfrm>
            <a:off x="1905000" y="381000"/>
            <a:ext cx="4724400" cy="838200"/>
          </a:xfrm>
        </p:spPr>
        <p:txBody>
          <a:bodyPr lIns="90488" tIns="44450" rIns="90488" bIns="44450" anchor="ctr" anchorCtr="1"/>
          <a:lstStyle/>
          <a:p>
            <a:pPr eaLnBrk="1" hangingPunct="1"/>
            <a:r>
              <a:rPr lang="zh-CN" altLang="en-US" sz="3600" dirty="0" smtClean="0"/>
              <a:t>例</a:t>
            </a:r>
          </a:p>
        </p:txBody>
      </p:sp>
      <p:graphicFrame>
        <p:nvGraphicFramePr>
          <p:cNvPr id="388099" name="Group 3"/>
          <p:cNvGraphicFramePr>
            <a:graphicFrameLocks noGrp="1"/>
          </p:cNvGraphicFramePr>
          <p:nvPr>
            <p:extLst>
              <p:ext uri="{D42A27DB-BD31-4B8C-83A1-F6EECF244321}">
                <p14:modId xmlns:p14="http://schemas.microsoft.com/office/powerpoint/2010/main" val="3904131148"/>
              </p:ext>
            </p:extLst>
          </p:nvPr>
        </p:nvGraphicFramePr>
        <p:xfrm>
          <a:off x="515112" y="2060848"/>
          <a:ext cx="8077200" cy="2594611"/>
        </p:xfrm>
        <a:graphic>
          <a:graphicData uri="http://schemas.openxmlformats.org/drawingml/2006/table">
            <a:tbl>
              <a:tblPr/>
              <a:tblGrid>
                <a:gridCol w="1660525">
                  <a:extLst>
                    <a:ext uri="{9D8B030D-6E8A-4147-A177-3AD203B41FA5}">
                      <a16:colId xmlns:a16="http://schemas.microsoft.com/office/drawing/2014/main" val="20000"/>
                    </a:ext>
                  </a:extLst>
                </a:gridCol>
                <a:gridCol w="1811338">
                  <a:extLst>
                    <a:ext uri="{9D8B030D-6E8A-4147-A177-3AD203B41FA5}">
                      <a16:colId xmlns:a16="http://schemas.microsoft.com/office/drawing/2014/main" val="20001"/>
                    </a:ext>
                  </a:extLst>
                </a:gridCol>
                <a:gridCol w="1509712">
                  <a:extLst>
                    <a:ext uri="{9D8B030D-6E8A-4147-A177-3AD203B41FA5}">
                      <a16:colId xmlns:a16="http://schemas.microsoft.com/office/drawing/2014/main" val="20002"/>
                    </a:ext>
                  </a:extLst>
                </a:gridCol>
                <a:gridCol w="1662113">
                  <a:extLst>
                    <a:ext uri="{9D8B030D-6E8A-4147-A177-3AD203B41FA5}">
                      <a16:colId xmlns:a16="http://schemas.microsoft.com/office/drawing/2014/main" val="20003"/>
                    </a:ext>
                  </a:extLst>
                </a:gridCol>
                <a:gridCol w="1433512">
                  <a:extLst>
                    <a:ext uri="{9D8B030D-6E8A-4147-A177-3AD203B41FA5}">
                      <a16:colId xmlns:a16="http://schemas.microsoft.com/office/drawing/2014/main" val="20004"/>
                    </a:ext>
                  </a:extLst>
                </a:gridCol>
              </a:tblGrid>
              <a:tr h="371475">
                <a:tc gridSpan="5">
                  <a:txBody>
                    <a:bodyPr/>
                    <a:lstStyle/>
                    <a:p>
                      <a:pPr marL="0" marR="0" lvl="0" indent="0" algn="ctr" defTabSz="914400" rtl="0" eaLnBrk="1" fontAlgn="base" latinLnBrk="0" hangingPunct="1">
                        <a:lnSpc>
                          <a:spcPct val="100000"/>
                        </a:lnSpc>
                        <a:spcBef>
                          <a:spcPct val="50000"/>
                        </a:spcBef>
                        <a:spcAft>
                          <a:spcPct val="0"/>
                        </a:spcAft>
                        <a:buClrTx/>
                        <a:buSzPct val="90000"/>
                        <a:buFontTx/>
                        <a:buNone/>
                        <a:tabLst/>
                      </a:pPr>
                      <a:endParaRPr kumimoji="0" lang="zh-CN" altLang="zh-CN" sz="2400" b="1" i="0" u="none" strike="noStrike" cap="none" normalizeH="0" baseline="0" dirty="0" smtClean="0">
                        <a:ln>
                          <a:noFill/>
                        </a:ln>
                        <a:solidFill>
                          <a:srgbClr val="CC0099"/>
                        </a:solidFill>
                        <a:effectLst/>
                        <a:latin typeface="Tahoma" pitchFamily="34" charset="0"/>
                        <a:ea typeface="宋体" pitchFamily="2" charset="-122"/>
                      </a:endParaRP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400050">
                <a:tc rowSpan="2">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2200" b="1" i="0" u="none" strike="noStrike" cap="none" normalizeH="0" baseline="0" dirty="0" smtClean="0">
                          <a:ln>
                            <a:noFill/>
                          </a:ln>
                          <a:solidFill>
                            <a:srgbClr val="000000"/>
                          </a:solidFill>
                          <a:effectLst/>
                          <a:latin typeface="Times New Roman" pitchFamily="18" charset="0"/>
                          <a:ea typeface="宋体" pitchFamily="2" charset="-122"/>
                        </a:rPr>
                        <a:t>年  份</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accent3">
                        <a:lumMod val="95000"/>
                      </a:schemeClr>
                    </a:solidFill>
                  </a:tcPr>
                </a:tc>
                <a:tc gridSpan="2">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2200" b="1" i="0" u="none" strike="noStrike" cap="none" normalizeH="0" baseline="0" dirty="0" smtClean="0">
                          <a:ln>
                            <a:noFill/>
                          </a:ln>
                          <a:solidFill>
                            <a:schemeClr val="tx1"/>
                          </a:solidFill>
                          <a:effectLst/>
                          <a:latin typeface="Times New Roman" pitchFamily="18" charset="0"/>
                          <a:ea typeface="宋体" pitchFamily="2" charset="-122"/>
                        </a:rPr>
                        <a:t>甲</a:t>
                      </a:r>
                      <a:r>
                        <a:rPr kumimoji="0" lang="zh-CN" altLang="en-US" sz="2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a:t>
                      </a:r>
                      <a:r>
                        <a:rPr kumimoji="0" lang="zh-CN" altLang="en-US" sz="2200" b="1" i="0" u="none" strike="noStrike" cap="none" normalizeH="0" baseline="0" dirty="0" smtClean="0">
                          <a:ln>
                            <a:noFill/>
                          </a:ln>
                          <a:solidFill>
                            <a:schemeClr val="tx1"/>
                          </a:solidFill>
                          <a:effectLst/>
                          <a:latin typeface="Times New Roman" pitchFamily="18" charset="0"/>
                          <a:ea typeface="宋体" pitchFamily="2" charset="-122"/>
                        </a:rPr>
                        <a:t>企</a:t>
                      </a:r>
                      <a:r>
                        <a:rPr kumimoji="0" lang="zh-CN" altLang="en-US" sz="2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a:t>
                      </a:r>
                      <a:r>
                        <a:rPr kumimoji="0" lang="zh-CN" altLang="en-US" sz="2200" b="1" i="0" u="none" strike="noStrike" cap="none" normalizeH="0" baseline="0" dirty="0" smtClean="0">
                          <a:ln>
                            <a:noFill/>
                          </a:ln>
                          <a:solidFill>
                            <a:schemeClr val="tx1"/>
                          </a:solidFill>
                          <a:effectLst/>
                          <a:latin typeface="Times New Roman" pitchFamily="18" charset="0"/>
                          <a:ea typeface="宋体" pitchFamily="2" charset="-122"/>
                        </a:rPr>
                        <a:t>业</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bg2">
                        <a:lumMod val="20000"/>
                        <a:lumOff val="80000"/>
                      </a:schemeClr>
                    </a:solid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2200" b="1" i="0" u="none" strike="noStrike" cap="none" normalizeH="0" baseline="0" dirty="0" smtClean="0">
                          <a:ln>
                            <a:noFill/>
                          </a:ln>
                          <a:solidFill>
                            <a:schemeClr val="tx1"/>
                          </a:solidFill>
                          <a:effectLst/>
                          <a:latin typeface="Times New Roman" pitchFamily="18" charset="0"/>
                          <a:ea typeface="宋体" pitchFamily="2" charset="-122"/>
                        </a:rPr>
                        <a:t>乙</a:t>
                      </a:r>
                      <a:r>
                        <a:rPr kumimoji="0" lang="zh-CN" altLang="en-US" sz="2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a:t>
                      </a:r>
                      <a:r>
                        <a:rPr kumimoji="0" lang="zh-CN" altLang="en-US" sz="2200" b="1" i="0" u="none" strike="noStrike" cap="none" normalizeH="0" baseline="0" dirty="0" smtClean="0">
                          <a:ln>
                            <a:noFill/>
                          </a:ln>
                          <a:solidFill>
                            <a:schemeClr val="tx1"/>
                          </a:solidFill>
                          <a:effectLst/>
                          <a:latin typeface="Times New Roman" pitchFamily="18" charset="0"/>
                          <a:ea typeface="宋体" pitchFamily="2" charset="-122"/>
                        </a:rPr>
                        <a:t>企</a:t>
                      </a:r>
                      <a:r>
                        <a:rPr kumimoji="0" lang="zh-CN" altLang="en-US" sz="2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a:t>
                      </a:r>
                      <a:r>
                        <a:rPr kumimoji="0" lang="zh-CN" altLang="en-US" sz="2200" b="1" i="0" u="none" strike="noStrike" cap="none" normalizeH="0" baseline="0" dirty="0" smtClean="0">
                          <a:ln>
                            <a:noFill/>
                          </a:ln>
                          <a:solidFill>
                            <a:schemeClr val="tx1"/>
                          </a:solidFill>
                          <a:effectLst/>
                          <a:latin typeface="Times New Roman" pitchFamily="18" charset="0"/>
                          <a:ea typeface="宋体" pitchFamily="2" charset="-122"/>
                        </a:rPr>
                        <a:t>业</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bg2">
                        <a:lumMod val="20000"/>
                        <a:lumOff val="80000"/>
                      </a:schemeClr>
                    </a:solidFill>
                  </a:tcPr>
                </a:tc>
                <a:tc hMerge="1">
                  <a:txBody>
                    <a:bodyPr/>
                    <a:lstStyle/>
                    <a:p>
                      <a:endParaRPr lang="zh-CN" altLang="en-US"/>
                    </a:p>
                  </a:txBody>
                  <a:tcPr/>
                </a:tc>
                <a:extLst>
                  <a:ext uri="{0D108BD9-81ED-4DB2-BD59-A6C34878D82A}">
                    <a16:rowId xmlns:a16="http://schemas.microsoft.com/office/drawing/2014/main" val="10001"/>
                  </a:ext>
                </a:extLst>
              </a:tr>
              <a:tr h="344488">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2000" b="0" i="0" u="none" strike="noStrike" cap="none" normalizeH="0" baseline="0" dirty="0" smtClean="0">
                          <a:ln>
                            <a:noFill/>
                          </a:ln>
                          <a:solidFill>
                            <a:schemeClr val="tx1"/>
                          </a:solidFill>
                          <a:effectLst/>
                          <a:latin typeface="Times New Roman" pitchFamily="18" charset="0"/>
                          <a:ea typeface="宋体" pitchFamily="2" charset="-122"/>
                        </a:rPr>
                        <a:t>利润额</a:t>
                      </a:r>
                      <a:r>
                        <a:rPr kumimoji="0" lang="en-US" altLang="zh-CN" sz="20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a:t>
                      </a:r>
                      <a:r>
                        <a:rPr kumimoji="0" lang="zh-CN" altLang="en-US" sz="2000" b="0" i="0" u="none" strike="noStrike" cap="none" normalizeH="0" baseline="0" dirty="0" smtClean="0">
                          <a:ln>
                            <a:noFill/>
                          </a:ln>
                          <a:solidFill>
                            <a:schemeClr val="tx1"/>
                          </a:solidFill>
                          <a:effectLst/>
                          <a:latin typeface="Times New Roman" pitchFamily="18" charset="0"/>
                          <a:ea typeface="宋体" pitchFamily="2" charset="-122"/>
                        </a:rPr>
                        <a:t>万元</a:t>
                      </a:r>
                      <a:r>
                        <a:rPr kumimoji="0" lang="en-US" altLang="zh-CN" sz="20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2000" b="0" i="0" u="none" strike="noStrike" cap="none" normalizeH="0" baseline="0" dirty="0" smtClean="0">
                          <a:ln>
                            <a:noFill/>
                          </a:ln>
                          <a:solidFill>
                            <a:schemeClr val="tx1"/>
                          </a:solidFill>
                          <a:effectLst/>
                          <a:latin typeface="Times New Roman" pitchFamily="18" charset="0"/>
                          <a:ea typeface="宋体" pitchFamily="2" charset="-122"/>
                        </a:rPr>
                        <a:t>增长率</a:t>
                      </a:r>
                      <a:r>
                        <a:rPr kumimoji="0" lang="en-US" altLang="zh-CN" sz="20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2000" b="0" i="0" u="none" strike="noStrike" cap="none" normalizeH="0" baseline="0" dirty="0" smtClean="0">
                          <a:ln>
                            <a:noFill/>
                          </a:ln>
                          <a:solidFill>
                            <a:schemeClr val="tx1"/>
                          </a:solidFill>
                          <a:effectLst/>
                          <a:latin typeface="Times New Roman" pitchFamily="18" charset="0"/>
                          <a:ea typeface="宋体" pitchFamily="2" charset="-122"/>
                        </a:rPr>
                        <a:t>利润额</a:t>
                      </a:r>
                      <a:r>
                        <a:rPr kumimoji="0" lang="en-US" altLang="zh-CN" sz="20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a:t>
                      </a:r>
                      <a:r>
                        <a:rPr kumimoji="0" lang="zh-CN" altLang="en-US" sz="2000" b="0" i="0" u="none" strike="noStrike" cap="none" normalizeH="0" baseline="0" dirty="0" smtClean="0">
                          <a:ln>
                            <a:noFill/>
                          </a:ln>
                          <a:solidFill>
                            <a:schemeClr val="tx1"/>
                          </a:solidFill>
                          <a:effectLst/>
                          <a:latin typeface="Times New Roman" pitchFamily="18" charset="0"/>
                          <a:ea typeface="宋体" pitchFamily="2" charset="-122"/>
                        </a:rPr>
                        <a:t>万元</a:t>
                      </a:r>
                      <a:r>
                        <a:rPr kumimoji="0" lang="en-US" altLang="zh-CN" sz="20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2000" b="0" i="0" u="none" strike="noStrike" cap="none" normalizeH="0" baseline="0" dirty="0" smtClean="0">
                          <a:ln>
                            <a:noFill/>
                          </a:ln>
                          <a:solidFill>
                            <a:schemeClr val="tx1"/>
                          </a:solidFill>
                          <a:effectLst/>
                          <a:latin typeface="Times New Roman" pitchFamily="18" charset="0"/>
                          <a:ea typeface="宋体" pitchFamily="2" charset="-122"/>
                        </a:rPr>
                        <a:t>增长率</a:t>
                      </a:r>
                      <a:r>
                        <a:rPr kumimoji="0" lang="en-US" altLang="zh-CN" sz="20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2"/>
                  </a:ext>
                </a:extLst>
              </a:tr>
              <a:tr h="642938">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2400" b="1"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基期</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accent3">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400" b="1"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1000</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400" b="1" i="0" u="none" strike="noStrike" cap="none" normalizeH="0" baseline="0" dirty="0" smtClean="0">
                          <a:ln>
                            <a:noFill/>
                          </a:ln>
                          <a:solidFill>
                            <a:srgbClr val="000000"/>
                          </a:solidFill>
                          <a:effectLst/>
                          <a:latin typeface="Arial"/>
                          <a:ea typeface="宋体" pitchFamily="2" charset="-122"/>
                          <a:cs typeface="Times New Roman" pitchFamily="18" charset="0"/>
                        </a:rPr>
                        <a:t>—</a:t>
                      </a:r>
                      <a:endParaRPr kumimoji="0" lang="en-US" altLang="zh-CN" sz="2400" b="1"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4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120</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400" b="1" i="0" u="none" strike="noStrike" cap="none" normalizeH="0" baseline="0" smtClean="0">
                          <a:ln>
                            <a:noFill/>
                          </a:ln>
                          <a:solidFill>
                            <a:srgbClr val="000000"/>
                          </a:solidFill>
                          <a:effectLst/>
                          <a:latin typeface="Arial"/>
                          <a:ea typeface="宋体" pitchFamily="2" charset="-122"/>
                          <a:cs typeface="Times New Roman" pitchFamily="18" charset="0"/>
                        </a:rPr>
                        <a:t>—</a:t>
                      </a:r>
                      <a:endParaRPr kumimoji="0" lang="en-US" altLang="zh-CN" sz="24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3"/>
                  </a:ext>
                </a:extLst>
              </a:tr>
              <a:tr h="671513">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2400" b="1" i="0" u="none" strike="noStrike" cap="none" normalizeH="0" baseline="0" dirty="0" smtClean="0">
                          <a:ln>
                            <a:noFill/>
                          </a:ln>
                          <a:solidFill>
                            <a:srgbClr val="000000"/>
                          </a:solidFill>
                          <a:effectLst/>
                          <a:latin typeface="Times New Roman" pitchFamily="18" charset="0"/>
                          <a:ea typeface="宋体" pitchFamily="2" charset="-122"/>
                        </a:rPr>
                        <a:t>报告期</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accent3">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400" b="1" i="0" u="none" strike="noStrike" cap="none" normalizeH="0" baseline="0" smtClean="0">
                          <a:ln>
                            <a:noFill/>
                          </a:ln>
                          <a:solidFill>
                            <a:srgbClr val="000000"/>
                          </a:solidFill>
                          <a:effectLst/>
                          <a:latin typeface="Times New Roman" pitchFamily="18" charset="0"/>
                          <a:ea typeface="宋体" pitchFamily="2" charset="-122"/>
                        </a:rPr>
                        <a:t>1200</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400" b="1" i="0" u="none" strike="noStrike" cap="none" normalizeH="0" baseline="0" dirty="0" smtClean="0">
                          <a:ln>
                            <a:noFill/>
                          </a:ln>
                          <a:solidFill>
                            <a:srgbClr val="000000"/>
                          </a:solidFill>
                          <a:effectLst/>
                          <a:latin typeface="Times New Roman" pitchFamily="18" charset="0"/>
                          <a:ea typeface="宋体" pitchFamily="2" charset="-122"/>
                        </a:rPr>
                        <a:t>20</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400" b="1" i="0" u="none" strike="noStrike" cap="none" normalizeH="0" baseline="0" dirty="0" smtClean="0">
                          <a:ln>
                            <a:noFill/>
                          </a:ln>
                          <a:solidFill>
                            <a:srgbClr val="000000"/>
                          </a:solidFill>
                          <a:effectLst/>
                          <a:latin typeface="Times New Roman" pitchFamily="18" charset="0"/>
                          <a:ea typeface="宋体" pitchFamily="2" charset="-122"/>
                        </a:rPr>
                        <a:t>168</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400" b="1" i="0" u="none" strike="noStrike" cap="none" normalizeH="0" baseline="0" dirty="0" smtClean="0">
                          <a:ln>
                            <a:noFill/>
                          </a:ln>
                          <a:solidFill>
                            <a:srgbClr val="000000"/>
                          </a:solidFill>
                          <a:effectLst/>
                          <a:latin typeface="Times New Roman" pitchFamily="18" charset="0"/>
                          <a:ea typeface="宋体" pitchFamily="2" charset="-122"/>
                        </a:rPr>
                        <a:t>40</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4"/>
                  </a:ext>
                </a:extLst>
              </a:tr>
            </a:tbl>
          </a:graphicData>
        </a:graphic>
      </p:graphicFrame>
      <p:sp>
        <p:nvSpPr>
          <p:cNvPr id="388131" name="Text Box 35"/>
          <p:cNvSpPr txBox="1">
            <a:spLocks noChangeArrowheads="1"/>
          </p:cNvSpPr>
          <p:nvPr/>
        </p:nvSpPr>
        <p:spPr bwMode="auto">
          <a:xfrm>
            <a:off x="971600" y="4855823"/>
            <a:ext cx="8001000" cy="1311275"/>
          </a:xfrm>
          <a:prstGeom prst="rect">
            <a:avLst/>
          </a:prstGeom>
          <a:noFill/>
          <a:ln w="9525">
            <a:noFill/>
            <a:miter lim="800000"/>
            <a:headEnd/>
            <a:tailEnd/>
          </a:ln>
        </p:spPr>
        <p:txBody>
          <a:bodyPr>
            <a:spAutoFit/>
          </a:bodyPr>
          <a:lstStyle/>
          <a:p>
            <a:pPr eaLnBrk="0" hangingPunct="0">
              <a:spcBef>
                <a:spcPct val="50000"/>
              </a:spcBef>
            </a:pPr>
            <a:r>
              <a:rPr kumimoji="1" lang="zh-CN" altLang="en-US" sz="3200" b="1"/>
              <a:t>甲企业：增长</a:t>
            </a:r>
            <a:r>
              <a:rPr kumimoji="1" lang="en-US" altLang="zh-CN" sz="3200" b="1"/>
              <a:t>1%</a:t>
            </a:r>
            <a:r>
              <a:rPr kumimoji="1" lang="zh-CN" altLang="en-US" sz="3200" b="1"/>
              <a:t>的绝对量</a:t>
            </a:r>
            <a:r>
              <a:rPr kumimoji="1" lang="en-US" altLang="zh-CN" sz="3200" b="1"/>
              <a:t>=10</a:t>
            </a:r>
            <a:r>
              <a:rPr kumimoji="1" lang="zh-CN" altLang="en-US" sz="3200" b="1"/>
              <a:t>（万元）</a:t>
            </a:r>
          </a:p>
          <a:p>
            <a:pPr eaLnBrk="0" hangingPunct="0">
              <a:spcBef>
                <a:spcPct val="50000"/>
              </a:spcBef>
            </a:pPr>
            <a:r>
              <a:rPr kumimoji="1" lang="zh-CN" altLang="en-US" sz="3200" b="1"/>
              <a:t>乙企业：增长</a:t>
            </a:r>
            <a:r>
              <a:rPr kumimoji="1" lang="en-US" altLang="zh-CN" sz="3200" b="1"/>
              <a:t>1%</a:t>
            </a:r>
            <a:r>
              <a:rPr kumimoji="1" lang="zh-CN" altLang="en-US" sz="3200" b="1"/>
              <a:t>的绝对量</a:t>
            </a:r>
            <a:r>
              <a:rPr kumimoji="1" lang="en-US" altLang="zh-CN" sz="3200" b="1"/>
              <a:t>=1.2</a:t>
            </a:r>
            <a:r>
              <a:rPr kumimoji="1" lang="zh-CN" altLang="en-US" sz="3200" b="1"/>
              <a:t>（万元）</a:t>
            </a:r>
          </a:p>
        </p:txBody>
      </p:sp>
      <p:sp>
        <p:nvSpPr>
          <p:cNvPr id="97317" name="日期占位符 6"/>
          <p:cNvSpPr>
            <a:spLocks noGrp="1"/>
          </p:cNvSpPr>
          <p:nvPr>
            <p:ph type="dt" sz="quarter" idx="10"/>
          </p:nvPr>
        </p:nvSpPr>
        <p:spPr>
          <a:noFill/>
        </p:spPr>
        <p:txBody>
          <a:bodyPr/>
          <a:lstStyle/>
          <a:p>
            <a:endParaRPr lang="en-US" altLang="zh-CN" smtClean="0"/>
          </a:p>
        </p:txBody>
      </p:sp>
      <p:sp>
        <p:nvSpPr>
          <p:cNvPr id="97315" name="Rectangle 34"/>
          <p:cNvSpPr>
            <a:spLocks noChangeArrowheads="1"/>
          </p:cNvSpPr>
          <p:nvPr/>
        </p:nvSpPr>
        <p:spPr bwMode="auto">
          <a:xfrm>
            <a:off x="457200" y="1322388"/>
            <a:ext cx="8153400" cy="1019175"/>
          </a:xfrm>
          <a:prstGeom prst="rect">
            <a:avLst/>
          </a:prstGeom>
          <a:solidFill>
            <a:schemeClr val="bg1"/>
          </a:solidFill>
          <a:ln w="12700">
            <a:solidFill>
              <a:schemeClr val="tx2"/>
            </a:solidFill>
            <a:miter lim="800000"/>
            <a:headEnd/>
            <a:tailEnd/>
          </a:ln>
        </p:spPr>
        <p:txBody>
          <a:bodyPr lIns="90000" tIns="46800" rIns="90000" bIns="46800">
            <a:spAutoFit/>
          </a:bodyPr>
          <a:lstStyle/>
          <a:p>
            <a:r>
              <a:rPr kumimoji="1" lang="en-US" altLang="zh-CN" sz="3000" b="1" dirty="0">
                <a:solidFill>
                  <a:srgbClr val="000000"/>
                </a:solidFill>
                <a:latin typeface="Times New Roman" pitchFamily="18" charset="0"/>
                <a:cs typeface="Times New Roman" pitchFamily="18" charset="0"/>
              </a:rPr>
              <a:t>     </a:t>
            </a:r>
            <a:r>
              <a:rPr kumimoji="1" lang="zh-CN" altLang="en-US" sz="3000" b="1" dirty="0">
                <a:solidFill>
                  <a:srgbClr val="000000"/>
                </a:solidFill>
                <a:latin typeface="Times New Roman" pitchFamily="18" charset="0"/>
              </a:rPr>
              <a:t>假定有两个生产条件基本相同的企业，各年的利润额及有关的速度如下表：</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88131"/>
                                        </p:tgtEl>
                                        <p:attrNameLst>
                                          <p:attrName>style.visibility</p:attrName>
                                        </p:attrNameLst>
                                      </p:cBhvr>
                                      <p:to>
                                        <p:strVal val="visible"/>
                                      </p:to>
                                    </p:set>
                                    <p:anim calcmode="lin" valueType="num">
                                      <p:cBhvr additive="base">
                                        <p:cTn id="7" dur="500" fill="hold"/>
                                        <p:tgtEl>
                                          <p:spTgt spid="388131"/>
                                        </p:tgtEl>
                                        <p:attrNameLst>
                                          <p:attrName>ppt_x</p:attrName>
                                        </p:attrNameLst>
                                      </p:cBhvr>
                                      <p:tavLst>
                                        <p:tav tm="0">
                                          <p:val>
                                            <p:strVal val="0-#ppt_w/2"/>
                                          </p:val>
                                        </p:tav>
                                        <p:tav tm="100000">
                                          <p:val>
                                            <p:strVal val="#ppt_x"/>
                                          </p:val>
                                        </p:tav>
                                      </p:tavLst>
                                    </p:anim>
                                    <p:anim calcmode="lin" valueType="num">
                                      <p:cBhvr additive="base">
                                        <p:cTn id="8" dur="500" fill="hold"/>
                                        <p:tgtEl>
                                          <p:spTgt spid="3881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131"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Rectangle 2"/>
          <p:cNvSpPr>
            <a:spLocks noGrp="1" noChangeArrowheads="1"/>
          </p:cNvSpPr>
          <p:nvPr>
            <p:ph type="title"/>
          </p:nvPr>
        </p:nvSpPr>
        <p:spPr>
          <a:xfrm>
            <a:off x="684213" y="765175"/>
            <a:ext cx="7772400" cy="990600"/>
          </a:xfrm>
        </p:spPr>
        <p:txBody>
          <a:bodyPr/>
          <a:lstStyle/>
          <a:p>
            <a:pPr eaLnBrk="1" hangingPunct="1"/>
            <a:r>
              <a:rPr lang="en-US" altLang="zh-CN" dirty="0" smtClean="0"/>
              <a:t>4.4  </a:t>
            </a:r>
            <a:r>
              <a:rPr lang="zh-CN" altLang="en-US" dirty="0" smtClean="0"/>
              <a:t>时间序列构成因素分析</a:t>
            </a:r>
          </a:p>
        </p:txBody>
      </p:sp>
      <p:sp>
        <p:nvSpPr>
          <p:cNvPr id="98308" name="Rectangle 3"/>
          <p:cNvSpPr>
            <a:spLocks noGrp="1" noChangeArrowheads="1"/>
          </p:cNvSpPr>
          <p:nvPr>
            <p:ph type="body" idx="1"/>
          </p:nvPr>
        </p:nvSpPr>
        <p:spPr>
          <a:xfrm>
            <a:off x="1115616" y="1988840"/>
            <a:ext cx="7632700" cy="3827463"/>
          </a:xfrm>
        </p:spPr>
        <p:txBody>
          <a:bodyPr/>
          <a:lstStyle/>
          <a:p>
            <a:pPr marL="457200" lvl="1" indent="0" eaLnBrk="1" hangingPunct="1">
              <a:lnSpc>
                <a:spcPct val="150000"/>
              </a:lnSpc>
              <a:spcBef>
                <a:spcPct val="25000"/>
              </a:spcBef>
              <a:buNone/>
            </a:pPr>
            <a:r>
              <a:rPr lang="en-US" altLang="zh-CN" sz="3200" dirty="0" smtClean="0"/>
              <a:t>4.4.1 </a:t>
            </a:r>
            <a:r>
              <a:rPr lang="zh-CN" altLang="en-US" sz="3200" dirty="0" smtClean="0"/>
              <a:t>时间序列的构成因素和组合形式</a:t>
            </a:r>
          </a:p>
          <a:p>
            <a:pPr marL="457200" lvl="1" indent="0" eaLnBrk="1" hangingPunct="1">
              <a:lnSpc>
                <a:spcPct val="150000"/>
              </a:lnSpc>
              <a:spcBef>
                <a:spcPct val="25000"/>
              </a:spcBef>
              <a:buNone/>
            </a:pPr>
            <a:r>
              <a:rPr lang="en-US" altLang="zh-CN" sz="3200" dirty="0" smtClean="0"/>
              <a:t>4.4.2 </a:t>
            </a:r>
            <a:r>
              <a:rPr lang="zh-CN" altLang="en-US" sz="3200" dirty="0" smtClean="0"/>
              <a:t>时间序列长期趋势测定</a:t>
            </a:r>
          </a:p>
          <a:p>
            <a:pPr marL="457200" lvl="1" indent="0" eaLnBrk="1" hangingPunct="1">
              <a:lnSpc>
                <a:spcPct val="150000"/>
              </a:lnSpc>
              <a:spcBef>
                <a:spcPct val="25000"/>
              </a:spcBef>
              <a:buNone/>
            </a:pPr>
            <a:r>
              <a:rPr lang="en-US" altLang="zh-CN" sz="3200" dirty="0" smtClean="0"/>
              <a:t>4.4.3 </a:t>
            </a:r>
            <a:r>
              <a:rPr lang="zh-CN" altLang="en-US" sz="3200" dirty="0" smtClean="0"/>
              <a:t>时间序列的季节变动</a:t>
            </a:r>
            <a:r>
              <a:rPr lang="zh-CN" altLang="en-US" sz="3200" dirty="0" smtClean="0"/>
              <a:t>测定</a:t>
            </a:r>
            <a:endParaRPr lang="en-US" altLang="zh-CN" sz="3200" dirty="0" smtClean="0"/>
          </a:p>
          <a:p>
            <a:pPr marL="457200" lvl="1" indent="0" eaLnBrk="1" hangingPunct="1">
              <a:lnSpc>
                <a:spcPct val="150000"/>
              </a:lnSpc>
              <a:spcBef>
                <a:spcPct val="25000"/>
              </a:spcBef>
              <a:buNone/>
            </a:pPr>
            <a:r>
              <a:rPr lang="en-US" altLang="zh-CN" sz="3200" dirty="0" smtClean="0"/>
              <a:t>4.4.4 </a:t>
            </a:r>
            <a:r>
              <a:rPr lang="zh-CN" altLang="en-US" sz="3200" dirty="0" smtClean="0"/>
              <a:t>时间序列</a:t>
            </a:r>
            <a:r>
              <a:rPr lang="zh-CN" altLang="en-US" sz="3200" dirty="0"/>
              <a:t>的</a:t>
            </a:r>
            <a:r>
              <a:rPr lang="zh-CN" altLang="en-US" sz="3200" dirty="0" smtClean="0"/>
              <a:t>循环变动测定</a:t>
            </a:r>
            <a:endParaRPr lang="zh-CN" altLang="en-US" sz="3200" dirty="0" smtClean="0"/>
          </a:p>
        </p:txBody>
      </p:sp>
      <p:pic>
        <p:nvPicPr>
          <p:cNvPr id="407556" name="Picture 4" descr="d102"/>
          <p:cNvPicPr>
            <a:picLocks noChangeAspect="1" noChangeArrowheads="1" noCrop="1"/>
          </p:cNvPicPr>
          <p:nvPr/>
        </p:nvPicPr>
        <p:blipFill>
          <a:blip r:embed="rId2" cstate="print"/>
          <a:srcRect/>
          <a:stretch>
            <a:fillRect/>
          </a:stretch>
        </p:blipFill>
        <p:spPr bwMode="auto">
          <a:xfrm>
            <a:off x="-234776" y="4950984"/>
            <a:ext cx="1926456" cy="1502246"/>
          </a:xfrm>
          <a:prstGeom prst="rect">
            <a:avLst/>
          </a:prstGeom>
          <a:noFill/>
          <a:ln w="9525">
            <a:noFill/>
            <a:miter lim="800000"/>
            <a:headEnd/>
            <a:tailEnd/>
          </a:ln>
        </p:spPr>
      </p:pic>
      <p:sp>
        <p:nvSpPr>
          <p:cNvPr id="98310" name="日期占位符 5"/>
          <p:cNvSpPr>
            <a:spLocks noGrp="1"/>
          </p:cNvSpPr>
          <p:nvPr>
            <p:ph type="dt" sz="quarter" idx="10"/>
          </p:nvPr>
        </p:nvSpPr>
        <p:spPr>
          <a:noFill/>
        </p:spPr>
        <p:txBody>
          <a:bodyPr/>
          <a:lstStyle/>
          <a:p>
            <a:endParaRPr lang="en-US" altLang="zh-CN"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withEffect">
                                  <p:stCondLst>
                                    <p:cond delay="0"/>
                                  </p:stCondLst>
                                  <p:childTnLst>
                                    <p:set>
                                      <p:cBhvr>
                                        <p:cTn id="6" dur="1" fill="hold">
                                          <p:stCondLst>
                                            <p:cond delay="0"/>
                                          </p:stCondLst>
                                        </p:cTn>
                                        <p:tgtEl>
                                          <p:spTgt spid="407556"/>
                                        </p:tgtEl>
                                        <p:attrNameLst>
                                          <p:attrName>style.visibility</p:attrName>
                                        </p:attrNameLst>
                                      </p:cBhvr>
                                      <p:to>
                                        <p:strVal val="visible"/>
                                      </p:to>
                                    </p:set>
                                    <p:animEffect transition="in" filter="wipe(down)">
                                      <p:cBhvr>
                                        <p:cTn id="7" dur="73">
                                          <p:stCondLst>
                                            <p:cond delay="0"/>
                                          </p:stCondLst>
                                        </p:cTn>
                                        <p:tgtEl>
                                          <p:spTgt spid="407556"/>
                                        </p:tgtEl>
                                      </p:cBhvr>
                                    </p:animEffect>
                                    <p:anim calcmode="lin" valueType="num">
                                      <p:cBhvr>
                                        <p:cTn id="8" dur="228" tmFilter="0,0; 0.14,0.36; 0.43,0.73; 0.71,0.91; 1.0,1.0">
                                          <p:stCondLst>
                                            <p:cond delay="0"/>
                                          </p:stCondLst>
                                        </p:cTn>
                                        <p:tgtEl>
                                          <p:spTgt spid="407556"/>
                                        </p:tgtEl>
                                        <p:attrNameLst>
                                          <p:attrName>ppt_x</p:attrName>
                                        </p:attrNameLst>
                                      </p:cBhvr>
                                      <p:tavLst>
                                        <p:tav tm="0">
                                          <p:val>
                                            <p:strVal val="#ppt_x-0.25"/>
                                          </p:val>
                                        </p:tav>
                                        <p:tav tm="100000">
                                          <p:val>
                                            <p:strVal val="#ppt_x"/>
                                          </p:val>
                                        </p:tav>
                                      </p:tavLst>
                                    </p:anim>
                                    <p:anim calcmode="lin" valueType="num">
                                      <p:cBhvr>
                                        <p:cTn id="9" dur="83" tmFilter="0.0,0.0; 0.25,0.07; 0.50,0.2; 0.75,0.467; 1.0,1.0">
                                          <p:stCondLst>
                                            <p:cond delay="0"/>
                                          </p:stCondLst>
                                        </p:cTn>
                                        <p:tgtEl>
                                          <p:spTgt spid="407556"/>
                                        </p:tgtEl>
                                        <p:attrNameLst>
                                          <p:attrName>ppt_y</p:attrName>
                                        </p:attrNameLst>
                                      </p:cBhvr>
                                      <p:tavLst>
                                        <p:tav tm="0" fmla="#ppt_y-sin(pi*$)/3">
                                          <p:val>
                                            <p:fltVal val="0.5"/>
                                          </p:val>
                                        </p:tav>
                                        <p:tav tm="100000">
                                          <p:val>
                                            <p:fltVal val="1"/>
                                          </p:val>
                                        </p:tav>
                                      </p:tavLst>
                                    </p:anim>
                                    <p:anim calcmode="lin" valueType="num">
                                      <p:cBhvr>
                                        <p:cTn id="10" dur="83" tmFilter="0, 0; 0.125,0.2665; 0.25,0.4; 0.375,0.465; 0.5,0.5;  0.625,0.535; 0.75,0.6; 0.875,0.7335; 1,1">
                                          <p:stCondLst>
                                            <p:cond delay="83"/>
                                          </p:stCondLst>
                                        </p:cTn>
                                        <p:tgtEl>
                                          <p:spTgt spid="407556"/>
                                        </p:tgtEl>
                                        <p:attrNameLst>
                                          <p:attrName>ppt_y</p:attrName>
                                        </p:attrNameLst>
                                      </p:cBhvr>
                                      <p:tavLst>
                                        <p:tav tm="0" fmla="#ppt_y-sin(pi*$)/9">
                                          <p:val>
                                            <p:fltVal val="0"/>
                                          </p:val>
                                        </p:tav>
                                        <p:tav tm="100000">
                                          <p:val>
                                            <p:fltVal val="1"/>
                                          </p:val>
                                        </p:tav>
                                      </p:tavLst>
                                    </p:anim>
                                    <p:anim calcmode="lin" valueType="num">
                                      <p:cBhvr>
                                        <p:cTn id="11" dur="41" tmFilter="0, 0; 0.125,0.2665; 0.25,0.4; 0.375,0.465; 0.5,0.5;  0.625,0.535; 0.75,0.6; 0.875,0.7335; 1,1">
                                          <p:stCondLst>
                                            <p:cond delay="165"/>
                                          </p:stCondLst>
                                        </p:cTn>
                                        <p:tgtEl>
                                          <p:spTgt spid="407556"/>
                                        </p:tgtEl>
                                        <p:attrNameLst>
                                          <p:attrName>ppt_y</p:attrName>
                                        </p:attrNameLst>
                                      </p:cBhvr>
                                      <p:tavLst>
                                        <p:tav tm="0" fmla="#ppt_y-sin(pi*$)/27">
                                          <p:val>
                                            <p:fltVal val="0"/>
                                          </p:val>
                                        </p:tav>
                                        <p:tav tm="100000">
                                          <p:val>
                                            <p:fltVal val="1"/>
                                          </p:val>
                                        </p:tav>
                                      </p:tavLst>
                                    </p:anim>
                                    <p:anim calcmode="lin" valueType="num">
                                      <p:cBhvr>
                                        <p:cTn id="12" dur="21" tmFilter="0, 0; 0.125,0.2665; 0.25,0.4; 0.375,0.465; 0.5,0.5;  0.625,0.535; 0.75,0.6; 0.875,0.7335; 1,1">
                                          <p:stCondLst>
                                            <p:cond delay="207"/>
                                          </p:stCondLst>
                                        </p:cTn>
                                        <p:tgtEl>
                                          <p:spTgt spid="407556"/>
                                        </p:tgtEl>
                                        <p:attrNameLst>
                                          <p:attrName>ppt_y</p:attrName>
                                        </p:attrNameLst>
                                      </p:cBhvr>
                                      <p:tavLst>
                                        <p:tav tm="0" fmla="#ppt_y-sin(pi*$)/81">
                                          <p:val>
                                            <p:fltVal val="0"/>
                                          </p:val>
                                        </p:tav>
                                        <p:tav tm="100000">
                                          <p:val>
                                            <p:fltVal val="1"/>
                                          </p:val>
                                        </p:tav>
                                      </p:tavLst>
                                    </p:anim>
                                    <p:animScale>
                                      <p:cBhvr>
                                        <p:cTn id="13" dur="3">
                                          <p:stCondLst>
                                            <p:cond delay="81"/>
                                          </p:stCondLst>
                                        </p:cTn>
                                        <p:tgtEl>
                                          <p:spTgt spid="407556"/>
                                        </p:tgtEl>
                                      </p:cBhvr>
                                      <p:to x="100000" y="60000"/>
                                    </p:animScale>
                                    <p:animScale>
                                      <p:cBhvr>
                                        <p:cTn id="14" dur="21" decel="50000">
                                          <p:stCondLst>
                                            <p:cond delay="84"/>
                                          </p:stCondLst>
                                        </p:cTn>
                                        <p:tgtEl>
                                          <p:spTgt spid="407556"/>
                                        </p:tgtEl>
                                      </p:cBhvr>
                                      <p:to x="100000" y="100000"/>
                                    </p:animScale>
                                    <p:animScale>
                                      <p:cBhvr>
                                        <p:cTn id="15" dur="3">
                                          <p:stCondLst>
                                            <p:cond delay="164"/>
                                          </p:stCondLst>
                                        </p:cTn>
                                        <p:tgtEl>
                                          <p:spTgt spid="407556"/>
                                        </p:tgtEl>
                                      </p:cBhvr>
                                      <p:to x="100000" y="80000"/>
                                    </p:animScale>
                                    <p:animScale>
                                      <p:cBhvr>
                                        <p:cTn id="16" dur="21" decel="50000">
                                          <p:stCondLst>
                                            <p:cond delay="167"/>
                                          </p:stCondLst>
                                        </p:cTn>
                                        <p:tgtEl>
                                          <p:spTgt spid="407556"/>
                                        </p:tgtEl>
                                      </p:cBhvr>
                                      <p:to x="100000" y="100000"/>
                                    </p:animScale>
                                    <p:animScale>
                                      <p:cBhvr>
                                        <p:cTn id="17" dur="3">
                                          <p:stCondLst>
                                            <p:cond delay="205"/>
                                          </p:stCondLst>
                                        </p:cTn>
                                        <p:tgtEl>
                                          <p:spTgt spid="407556"/>
                                        </p:tgtEl>
                                      </p:cBhvr>
                                      <p:to x="100000" y="90000"/>
                                    </p:animScale>
                                    <p:animScale>
                                      <p:cBhvr>
                                        <p:cTn id="18" dur="21" decel="50000">
                                          <p:stCondLst>
                                            <p:cond delay="209"/>
                                          </p:stCondLst>
                                        </p:cTn>
                                        <p:tgtEl>
                                          <p:spTgt spid="407556"/>
                                        </p:tgtEl>
                                      </p:cBhvr>
                                      <p:to x="100000" y="100000"/>
                                    </p:animScale>
                                    <p:animScale>
                                      <p:cBhvr>
                                        <p:cTn id="19" dur="3">
                                          <p:stCondLst>
                                            <p:cond delay="226"/>
                                          </p:stCondLst>
                                        </p:cTn>
                                        <p:tgtEl>
                                          <p:spTgt spid="407556"/>
                                        </p:tgtEl>
                                      </p:cBhvr>
                                      <p:to x="100000" y="95000"/>
                                    </p:animScale>
                                    <p:animScale>
                                      <p:cBhvr>
                                        <p:cTn id="20" dur="21" decel="50000">
                                          <p:stCondLst>
                                            <p:cond delay="229"/>
                                          </p:stCondLst>
                                        </p:cTn>
                                        <p:tgtEl>
                                          <p:spTgt spid="40755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Rectangle 2"/>
          <p:cNvSpPr>
            <a:spLocks noGrp="1" noChangeArrowheads="1"/>
          </p:cNvSpPr>
          <p:nvPr>
            <p:ph type="title"/>
          </p:nvPr>
        </p:nvSpPr>
        <p:spPr>
          <a:xfrm>
            <a:off x="611188" y="0"/>
            <a:ext cx="7772400" cy="990600"/>
          </a:xfrm>
        </p:spPr>
        <p:txBody>
          <a:bodyPr/>
          <a:lstStyle/>
          <a:p>
            <a:pPr eaLnBrk="1" hangingPunct="1"/>
            <a:r>
              <a:rPr lang="zh-CN" altLang="en-US" dirty="0" smtClean="0"/>
              <a:t>例</a:t>
            </a:r>
            <a:r>
              <a:rPr lang="en-US" altLang="zh-CN" dirty="0" smtClean="0">
                <a:latin typeface="Arial" charset="0"/>
              </a:rPr>
              <a:t>——</a:t>
            </a:r>
            <a:r>
              <a:rPr lang="zh-CN" altLang="en-US" dirty="0" smtClean="0"/>
              <a:t>企业历年的月销售额</a:t>
            </a:r>
          </a:p>
        </p:txBody>
      </p:sp>
      <p:sp>
        <p:nvSpPr>
          <p:cNvPr id="99332" name="Text Box 4"/>
          <p:cNvSpPr txBox="1">
            <a:spLocks noChangeArrowheads="1"/>
          </p:cNvSpPr>
          <p:nvPr/>
        </p:nvSpPr>
        <p:spPr bwMode="auto">
          <a:xfrm>
            <a:off x="0" y="0"/>
            <a:ext cx="900113" cy="376238"/>
          </a:xfrm>
          <a:prstGeom prst="rect">
            <a:avLst/>
          </a:prstGeom>
          <a:solidFill>
            <a:schemeClr val="accent1"/>
          </a:solidFill>
          <a:ln w="9525">
            <a:solidFill>
              <a:srgbClr val="00FFFF"/>
            </a:solidFill>
            <a:miter lim="800000"/>
            <a:headEnd/>
            <a:tailEnd/>
          </a:ln>
        </p:spPr>
        <p:txBody>
          <a:bodyPr>
            <a:spAutoFit/>
          </a:bodyPr>
          <a:lstStyle/>
          <a:p>
            <a:pPr>
              <a:spcBef>
                <a:spcPct val="50000"/>
              </a:spcBef>
            </a:pPr>
            <a:r>
              <a:rPr lang="en-US" altLang="zh-CN">
                <a:solidFill>
                  <a:srgbClr val="FF0066"/>
                </a:solidFill>
                <a:latin typeface="Garamond" pitchFamily="18" charset="0"/>
              </a:rPr>
              <a:t>【</a:t>
            </a:r>
            <a:r>
              <a:rPr lang="zh-CN" altLang="en-US">
                <a:solidFill>
                  <a:srgbClr val="FF0066"/>
                </a:solidFill>
                <a:latin typeface="Garamond" pitchFamily="18" charset="0"/>
              </a:rPr>
              <a:t>例</a:t>
            </a:r>
            <a:r>
              <a:rPr lang="en-US" altLang="zh-CN">
                <a:solidFill>
                  <a:srgbClr val="FF0066"/>
                </a:solidFill>
                <a:latin typeface="Garamond" pitchFamily="18" charset="0"/>
              </a:rPr>
              <a:t>】</a:t>
            </a:r>
          </a:p>
        </p:txBody>
      </p:sp>
      <p:pic>
        <p:nvPicPr>
          <p:cNvPr id="99333" name="Picture 6"/>
          <p:cNvPicPr>
            <a:picLocks noChangeAspect="1" noChangeArrowheads="1"/>
          </p:cNvPicPr>
          <p:nvPr/>
        </p:nvPicPr>
        <p:blipFill>
          <a:blip r:embed="rId2" cstate="print"/>
          <a:srcRect/>
          <a:stretch>
            <a:fillRect/>
          </a:stretch>
        </p:blipFill>
        <p:spPr bwMode="auto">
          <a:xfrm>
            <a:off x="-35496" y="913085"/>
            <a:ext cx="9144000" cy="57562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354" name="Picture 6"/>
          <p:cNvPicPr>
            <a:picLocks noChangeAspect="1" noChangeArrowheads="1"/>
          </p:cNvPicPr>
          <p:nvPr/>
        </p:nvPicPr>
        <p:blipFill>
          <a:blip r:embed="rId2" cstate="print"/>
          <a:srcRect/>
          <a:stretch>
            <a:fillRect/>
          </a:stretch>
        </p:blipFill>
        <p:spPr bwMode="auto">
          <a:xfrm>
            <a:off x="0" y="1219200"/>
            <a:ext cx="8743950" cy="5210175"/>
          </a:xfrm>
          <a:prstGeom prst="rect">
            <a:avLst/>
          </a:prstGeom>
          <a:noFill/>
          <a:ln w="9525">
            <a:noFill/>
            <a:miter lim="800000"/>
            <a:headEnd/>
            <a:tailEnd/>
          </a:ln>
        </p:spPr>
      </p:pic>
      <p:sp>
        <p:nvSpPr>
          <p:cNvPr id="100356" name="Rectangle 2"/>
          <p:cNvSpPr>
            <a:spLocks noGrp="1" noChangeArrowheads="1"/>
          </p:cNvSpPr>
          <p:nvPr>
            <p:ph type="title"/>
          </p:nvPr>
        </p:nvSpPr>
        <p:spPr>
          <a:xfrm>
            <a:off x="1042988" y="188913"/>
            <a:ext cx="7215187" cy="863600"/>
          </a:xfrm>
        </p:spPr>
        <p:txBody>
          <a:bodyPr/>
          <a:lstStyle/>
          <a:p>
            <a:pPr eaLnBrk="1" hangingPunct="1"/>
            <a:r>
              <a:rPr kumimoji="1" lang="zh-CN" altLang="en-US" sz="4000" dirty="0" smtClean="0">
                <a:solidFill>
                  <a:srgbClr val="000000"/>
                </a:solidFill>
              </a:rPr>
              <a:t>销售数据图（单位：百万元）</a:t>
            </a:r>
          </a:p>
        </p:txBody>
      </p:sp>
      <p:pic>
        <p:nvPicPr>
          <p:cNvPr id="100357" name="Picture 4" descr="f020"/>
          <p:cNvPicPr>
            <a:picLocks noChangeAspect="1" noChangeArrowheads="1" noCrop="1"/>
          </p:cNvPicPr>
          <p:nvPr/>
        </p:nvPicPr>
        <p:blipFill>
          <a:blip r:embed="rId3" cstate="print"/>
          <a:srcRect/>
          <a:stretch>
            <a:fillRect/>
          </a:stretch>
        </p:blipFill>
        <p:spPr bwMode="auto">
          <a:xfrm>
            <a:off x="8567738" y="0"/>
            <a:ext cx="576262" cy="720725"/>
          </a:xfrm>
          <a:prstGeom prst="rect">
            <a:avLst/>
          </a:prstGeom>
          <a:noFill/>
          <a:ln w="9525">
            <a:noFill/>
            <a:miter lim="800000"/>
            <a:headEnd/>
            <a:tailEnd/>
          </a:ln>
        </p:spPr>
      </p:pic>
      <p:pic>
        <p:nvPicPr>
          <p:cNvPr id="100358" name="Picture 5" descr="w042"/>
          <p:cNvPicPr>
            <a:picLocks noChangeAspect="1" noChangeArrowheads="1" noCrop="1"/>
          </p:cNvPicPr>
          <p:nvPr/>
        </p:nvPicPr>
        <p:blipFill>
          <a:blip r:embed="rId4" cstate="print"/>
          <a:srcRect/>
          <a:stretch>
            <a:fillRect/>
          </a:stretch>
        </p:blipFill>
        <p:spPr bwMode="auto">
          <a:xfrm>
            <a:off x="1476375" y="1484313"/>
            <a:ext cx="1143000" cy="1066800"/>
          </a:xfrm>
          <a:prstGeom prst="rect">
            <a:avLst/>
          </a:prstGeom>
          <a:noFill/>
          <a:ln w="9525">
            <a:noFill/>
            <a:miter lim="800000"/>
            <a:headEnd/>
            <a:tailEnd/>
          </a:ln>
        </p:spPr>
      </p:pic>
      <p:sp>
        <p:nvSpPr>
          <p:cNvPr id="100359" name="日期占位符 6"/>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1379" name="Rectangle 2"/>
          <p:cNvSpPr>
            <a:spLocks noGrp="1" noChangeArrowheads="1"/>
          </p:cNvSpPr>
          <p:nvPr>
            <p:ph type="title"/>
          </p:nvPr>
        </p:nvSpPr>
        <p:spPr>
          <a:xfrm>
            <a:off x="912106" y="781050"/>
            <a:ext cx="7272163" cy="1511300"/>
          </a:xfrm>
        </p:spPr>
        <p:txBody>
          <a:bodyPr lIns="90488" tIns="44450" rIns="90488" bIns="44450" anchor="ctr" anchorCtr="1"/>
          <a:lstStyle/>
          <a:p>
            <a:pPr eaLnBrk="1" hangingPunct="1"/>
            <a:r>
              <a:rPr lang="en-US" altLang="zh-CN" dirty="0" smtClean="0"/>
              <a:t>4.4.1 </a:t>
            </a:r>
            <a:r>
              <a:rPr lang="zh-CN" altLang="en-US" dirty="0" smtClean="0"/>
              <a:t>时间序列的构成因素和组合形式</a:t>
            </a:r>
          </a:p>
        </p:txBody>
      </p:sp>
      <p:sp>
        <p:nvSpPr>
          <p:cNvPr id="101380" name="Rectangle 3"/>
          <p:cNvSpPr>
            <a:spLocks noGrp="1" noChangeArrowheads="1"/>
          </p:cNvSpPr>
          <p:nvPr>
            <p:ph type="body" idx="1"/>
          </p:nvPr>
        </p:nvSpPr>
        <p:spPr>
          <a:xfrm>
            <a:off x="395288" y="2565400"/>
            <a:ext cx="8305800" cy="3529013"/>
          </a:xfrm>
          <a:noFill/>
        </p:spPr>
        <p:txBody>
          <a:bodyPr lIns="90488" tIns="44450" rIns="90488" bIns="44450"/>
          <a:lstStyle/>
          <a:p>
            <a:pPr marL="1219200" lvl="1" indent="-533400" algn="just" eaLnBrk="1" hangingPunct="1">
              <a:spcBef>
                <a:spcPct val="33000"/>
              </a:spcBef>
            </a:pPr>
            <a:r>
              <a:rPr lang="zh-CN" altLang="en-US" sz="3200" dirty="0" smtClean="0">
                <a:latin typeface="Times New Roman" pitchFamily="18" charset="0"/>
                <a:sym typeface="Wingdings" pitchFamily="2" charset="2"/>
              </a:rPr>
              <a:t>长期趋势  </a:t>
            </a:r>
            <a:r>
              <a:rPr lang="en-US" altLang="zh-CN" sz="3200" dirty="0" smtClean="0">
                <a:latin typeface="Times New Roman" pitchFamily="18" charset="0"/>
                <a:sym typeface="Wingdings" pitchFamily="2" charset="2"/>
              </a:rPr>
              <a:t>(</a:t>
            </a:r>
            <a:r>
              <a:rPr lang="en-US" altLang="zh-CN" sz="3200" dirty="0" smtClean="0">
                <a:solidFill>
                  <a:srgbClr val="FF0066"/>
                </a:solidFill>
                <a:latin typeface="Times New Roman" pitchFamily="18" charset="0"/>
                <a:sym typeface="Wingdings" pitchFamily="2" charset="2"/>
              </a:rPr>
              <a:t>T</a:t>
            </a:r>
            <a:r>
              <a:rPr lang="en-US" altLang="zh-CN" sz="3200" dirty="0" smtClean="0">
                <a:latin typeface="Times New Roman" pitchFamily="18" charset="0"/>
                <a:sym typeface="Wingdings" pitchFamily="2" charset="2"/>
              </a:rPr>
              <a:t>rend )</a:t>
            </a:r>
          </a:p>
          <a:p>
            <a:pPr marL="1219200" lvl="1" indent="-533400" algn="just" eaLnBrk="1" hangingPunct="1">
              <a:spcBef>
                <a:spcPct val="33000"/>
              </a:spcBef>
            </a:pPr>
            <a:r>
              <a:rPr lang="zh-CN" altLang="en-US" sz="3200" dirty="0" smtClean="0">
                <a:latin typeface="Times New Roman" pitchFamily="18" charset="0"/>
                <a:sym typeface="Wingdings" pitchFamily="2" charset="2"/>
              </a:rPr>
              <a:t>季节变动  </a:t>
            </a:r>
            <a:r>
              <a:rPr lang="en-US" altLang="zh-CN" sz="3200" dirty="0" smtClean="0">
                <a:latin typeface="Times New Roman" pitchFamily="18" charset="0"/>
                <a:sym typeface="Wingdings" pitchFamily="2" charset="2"/>
              </a:rPr>
              <a:t>( </a:t>
            </a:r>
            <a:r>
              <a:rPr lang="en-US" altLang="zh-CN" sz="3200" dirty="0" smtClean="0">
                <a:solidFill>
                  <a:srgbClr val="FF0066"/>
                </a:solidFill>
                <a:latin typeface="Times New Roman" pitchFamily="18" charset="0"/>
                <a:sym typeface="Wingdings" pitchFamily="2" charset="2"/>
              </a:rPr>
              <a:t>S</a:t>
            </a:r>
            <a:r>
              <a:rPr lang="en-US" altLang="zh-CN" sz="3200" dirty="0" smtClean="0">
                <a:latin typeface="Times New Roman" pitchFamily="18" charset="0"/>
                <a:sym typeface="Wingdings" pitchFamily="2" charset="2"/>
              </a:rPr>
              <a:t>easonal Fluctuation )</a:t>
            </a:r>
          </a:p>
          <a:p>
            <a:pPr marL="1219200" lvl="1" indent="-533400" algn="just" eaLnBrk="1" hangingPunct="1">
              <a:spcBef>
                <a:spcPct val="33000"/>
              </a:spcBef>
            </a:pPr>
            <a:r>
              <a:rPr lang="zh-CN" altLang="en-US" sz="3200" dirty="0" smtClean="0">
                <a:latin typeface="Times New Roman" pitchFamily="18" charset="0"/>
                <a:sym typeface="Wingdings" pitchFamily="2" charset="2"/>
              </a:rPr>
              <a:t>循环变动  </a:t>
            </a:r>
            <a:r>
              <a:rPr lang="en-US" altLang="zh-CN" sz="3200" dirty="0" smtClean="0">
                <a:latin typeface="Times New Roman" pitchFamily="18" charset="0"/>
                <a:sym typeface="Wingdings" pitchFamily="2" charset="2"/>
              </a:rPr>
              <a:t>( </a:t>
            </a:r>
            <a:r>
              <a:rPr lang="en-US" altLang="zh-CN" sz="3200" dirty="0" smtClean="0">
                <a:solidFill>
                  <a:srgbClr val="FF0066"/>
                </a:solidFill>
                <a:latin typeface="Times New Roman" pitchFamily="18" charset="0"/>
                <a:sym typeface="Wingdings" pitchFamily="2" charset="2"/>
              </a:rPr>
              <a:t>C</a:t>
            </a:r>
            <a:r>
              <a:rPr lang="en-US" altLang="zh-CN" sz="3200" dirty="0" smtClean="0">
                <a:latin typeface="Times New Roman" pitchFamily="18" charset="0"/>
                <a:sym typeface="Wingdings" pitchFamily="2" charset="2"/>
              </a:rPr>
              <a:t>yclical  Fluctuation)</a:t>
            </a:r>
          </a:p>
          <a:p>
            <a:pPr marL="1219200" lvl="1" indent="-533400" algn="just" eaLnBrk="1" hangingPunct="1">
              <a:spcBef>
                <a:spcPct val="33000"/>
              </a:spcBef>
            </a:pPr>
            <a:r>
              <a:rPr lang="zh-CN" altLang="en-US" sz="3200" dirty="0" smtClean="0">
                <a:latin typeface="Times New Roman" pitchFamily="18" charset="0"/>
                <a:sym typeface="Wingdings" pitchFamily="2" charset="2"/>
              </a:rPr>
              <a:t>不规则变动 </a:t>
            </a:r>
            <a:r>
              <a:rPr lang="en-US" altLang="zh-CN" sz="3200" dirty="0" smtClean="0">
                <a:latin typeface="Times New Roman" pitchFamily="18" charset="0"/>
                <a:sym typeface="Wingdings" pitchFamily="2" charset="2"/>
              </a:rPr>
              <a:t>( </a:t>
            </a:r>
            <a:r>
              <a:rPr lang="en-US" altLang="zh-CN" sz="3200" dirty="0" smtClean="0">
                <a:solidFill>
                  <a:srgbClr val="FF0066"/>
                </a:solidFill>
                <a:latin typeface="Times New Roman" pitchFamily="18" charset="0"/>
                <a:sym typeface="Wingdings" pitchFamily="2" charset="2"/>
              </a:rPr>
              <a:t>I</a:t>
            </a:r>
            <a:r>
              <a:rPr lang="en-US" altLang="zh-CN" sz="3200" dirty="0" smtClean="0">
                <a:latin typeface="Times New Roman" pitchFamily="18" charset="0"/>
                <a:sym typeface="Wingdings" pitchFamily="2" charset="2"/>
              </a:rPr>
              <a:t>rregular Variations )</a:t>
            </a:r>
          </a:p>
        </p:txBody>
      </p:sp>
      <p:sp>
        <p:nvSpPr>
          <p:cNvPr id="101381" name="日期占位符 4"/>
          <p:cNvSpPr>
            <a:spLocks noGrp="1"/>
          </p:cNvSpPr>
          <p:nvPr>
            <p:ph type="dt" sz="quarter" idx="10"/>
          </p:nvPr>
        </p:nvSpPr>
        <p:spPr>
          <a:noFill/>
        </p:spPr>
        <p:txBody>
          <a:bodyPr/>
          <a:lstStyle/>
          <a:p>
            <a:endParaRPr lang="en-US" altLang="zh-CN" smtClean="0"/>
          </a:p>
        </p:txBody>
      </p:sp>
    </p:spTree>
  </p:cSld>
  <p:clrMapOvr>
    <a:masterClrMapping/>
  </p:clrMapOvr>
  <p:transition>
    <p:wipe dir="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03" name="Rectangle 2"/>
          <p:cNvSpPr>
            <a:spLocks noGrp="1" noChangeArrowheads="1"/>
          </p:cNvSpPr>
          <p:nvPr>
            <p:ph type="title"/>
          </p:nvPr>
        </p:nvSpPr>
        <p:spPr>
          <a:xfrm>
            <a:off x="755650" y="228600"/>
            <a:ext cx="7920038" cy="1255713"/>
          </a:xfrm>
        </p:spPr>
        <p:txBody>
          <a:bodyPr lIns="90488" tIns="44450" rIns="90488" bIns="44450" anchor="ctr" anchorCtr="1"/>
          <a:lstStyle/>
          <a:p>
            <a:pPr eaLnBrk="1" hangingPunct="1"/>
            <a:r>
              <a:rPr lang="en-US" altLang="zh-CN" sz="4000" dirty="0" smtClean="0"/>
              <a:t>1. </a:t>
            </a:r>
            <a:r>
              <a:rPr lang="zh-CN" altLang="en-US" sz="4000" dirty="0" smtClean="0"/>
              <a:t>长期趋势（</a:t>
            </a:r>
            <a:r>
              <a:rPr lang="en-US" altLang="zh-CN" dirty="0" smtClean="0">
                <a:solidFill>
                  <a:srgbClr val="FF0066"/>
                </a:solidFill>
                <a:latin typeface="Times New Roman" pitchFamily="18" charset="0"/>
                <a:sym typeface="Wingdings" pitchFamily="2" charset="2"/>
              </a:rPr>
              <a:t>T</a:t>
            </a:r>
            <a:r>
              <a:rPr lang="en-US" altLang="zh-CN" dirty="0" smtClean="0">
                <a:latin typeface="Times New Roman" pitchFamily="18" charset="0"/>
                <a:sym typeface="Wingdings" pitchFamily="2" charset="2"/>
              </a:rPr>
              <a:t>rend )</a:t>
            </a:r>
          </a:p>
        </p:txBody>
      </p:sp>
      <p:sp>
        <p:nvSpPr>
          <p:cNvPr id="43011" name="Rectangle 3"/>
          <p:cNvSpPr>
            <a:spLocks noGrp="1" noChangeArrowheads="1"/>
          </p:cNvSpPr>
          <p:nvPr>
            <p:ph type="body" idx="1"/>
          </p:nvPr>
        </p:nvSpPr>
        <p:spPr>
          <a:xfrm>
            <a:off x="539552" y="1341438"/>
            <a:ext cx="8152011" cy="2333625"/>
          </a:xfrm>
          <a:noFill/>
        </p:spPr>
        <p:txBody>
          <a:bodyPr lIns="90488" tIns="44450" rIns="90488" bIns="44450"/>
          <a:lstStyle/>
          <a:p>
            <a:pPr marL="609600" indent="-609600" algn="just" eaLnBrk="1" hangingPunct="1">
              <a:lnSpc>
                <a:spcPct val="90000"/>
              </a:lnSpc>
              <a:spcBef>
                <a:spcPct val="33000"/>
              </a:spcBef>
              <a:buFontTx/>
              <a:buAutoNum type="arabicPeriod"/>
            </a:pPr>
            <a:r>
              <a:rPr lang="zh-CN" altLang="en-US" sz="3400" smtClean="0">
                <a:solidFill>
                  <a:srgbClr val="000000"/>
                </a:solidFill>
                <a:latin typeface="Times New Roman" pitchFamily="18" charset="0"/>
                <a:sym typeface="Wingdings" pitchFamily="2" charset="2"/>
              </a:rPr>
              <a:t>指现象在较长时期内持续发展变化的一种趋向或状态；</a:t>
            </a:r>
          </a:p>
          <a:p>
            <a:pPr marL="609600" indent="-609600" algn="just" eaLnBrk="1" hangingPunct="1">
              <a:lnSpc>
                <a:spcPct val="90000"/>
              </a:lnSpc>
              <a:spcBef>
                <a:spcPct val="33000"/>
              </a:spcBef>
              <a:buFontTx/>
              <a:buAutoNum type="arabicPeriod"/>
            </a:pPr>
            <a:r>
              <a:rPr lang="zh-CN" altLang="en-US" sz="3400" smtClean="0">
                <a:solidFill>
                  <a:srgbClr val="000000"/>
                </a:solidFill>
                <a:latin typeface="Times New Roman" pitchFamily="18" charset="0"/>
                <a:sym typeface="Wingdings" pitchFamily="2" charset="2"/>
              </a:rPr>
              <a:t>由影响时间序列的基本因素作用形成；</a:t>
            </a:r>
          </a:p>
          <a:p>
            <a:pPr marL="609600" indent="-609600" algn="just" eaLnBrk="1" hangingPunct="1">
              <a:lnSpc>
                <a:spcPct val="90000"/>
              </a:lnSpc>
              <a:spcBef>
                <a:spcPct val="33000"/>
              </a:spcBef>
              <a:buFontTx/>
              <a:buAutoNum type="arabicPeriod"/>
            </a:pPr>
            <a:r>
              <a:rPr lang="zh-CN" altLang="en-US" sz="3400" smtClean="0">
                <a:solidFill>
                  <a:srgbClr val="000000"/>
                </a:solidFill>
                <a:latin typeface="Times New Roman" pitchFamily="18" charset="0"/>
                <a:sym typeface="Wingdings" pitchFamily="2" charset="2"/>
              </a:rPr>
              <a:t>它是时间序列的主要构成要素；</a:t>
            </a:r>
          </a:p>
        </p:txBody>
      </p:sp>
      <p:pic>
        <p:nvPicPr>
          <p:cNvPr id="102405" name="Picture 4" descr="BS02064_"/>
          <p:cNvPicPr>
            <a:picLocks noChangeAspect="1" noChangeArrowheads="1"/>
          </p:cNvPicPr>
          <p:nvPr/>
        </p:nvPicPr>
        <p:blipFill>
          <a:blip r:embed="rId3" cstate="print"/>
          <a:srcRect/>
          <a:stretch>
            <a:fillRect/>
          </a:stretch>
        </p:blipFill>
        <p:spPr bwMode="auto">
          <a:xfrm>
            <a:off x="0" y="4221088"/>
            <a:ext cx="2959013" cy="2636912"/>
          </a:xfrm>
          <a:prstGeom prst="rect">
            <a:avLst/>
          </a:prstGeom>
          <a:noFill/>
          <a:ln w="9525">
            <a:noFill/>
            <a:miter lim="800000"/>
            <a:headEnd/>
            <a:tailEnd/>
          </a:ln>
        </p:spPr>
      </p:pic>
      <p:sp>
        <p:nvSpPr>
          <p:cNvPr id="43013" name="Rectangle 5"/>
          <p:cNvSpPr>
            <a:spLocks noChangeArrowheads="1"/>
          </p:cNvSpPr>
          <p:nvPr/>
        </p:nvSpPr>
        <p:spPr bwMode="auto">
          <a:xfrm>
            <a:off x="3200400" y="3860800"/>
            <a:ext cx="5332040" cy="1140954"/>
          </a:xfrm>
          <a:prstGeom prst="rect">
            <a:avLst/>
          </a:prstGeom>
          <a:noFill/>
          <a:ln w="12700">
            <a:noFill/>
            <a:miter lim="800000"/>
            <a:headEnd/>
            <a:tailEnd/>
          </a:ln>
        </p:spPr>
        <p:txBody>
          <a:bodyPr wrap="square" lIns="90000" tIns="46800" rIns="90000" bIns="46800">
            <a:spAutoFit/>
          </a:bodyPr>
          <a:lstStyle/>
          <a:p>
            <a:pPr marL="457200" indent="-457200" eaLnBrk="0" hangingPunct="0">
              <a:spcBef>
                <a:spcPct val="50000"/>
              </a:spcBef>
            </a:pPr>
            <a:r>
              <a:rPr kumimoji="1" lang="en-US" altLang="zh-CN" sz="3400" b="1" dirty="0">
                <a:solidFill>
                  <a:srgbClr val="000000"/>
                </a:solidFill>
                <a:latin typeface="Times New Roman" pitchFamily="18" charset="0"/>
                <a:sym typeface="Wingdings" pitchFamily="2" charset="2"/>
              </a:rPr>
              <a:t>4. </a:t>
            </a:r>
            <a:r>
              <a:rPr kumimoji="1" lang="zh-CN" altLang="en-US" sz="3400" b="1" dirty="0">
                <a:solidFill>
                  <a:srgbClr val="000000"/>
                </a:solidFill>
                <a:latin typeface="Times New Roman" pitchFamily="18" charset="0"/>
                <a:sym typeface="Wingdings" pitchFamily="2" charset="2"/>
              </a:rPr>
              <a:t>有上升趋势、下降趋势以及  水平趋势。</a:t>
            </a:r>
          </a:p>
        </p:txBody>
      </p:sp>
      <p:sp>
        <p:nvSpPr>
          <p:cNvPr id="43014" name="Rectangle 6"/>
          <p:cNvSpPr>
            <a:spLocks noChangeArrowheads="1"/>
          </p:cNvSpPr>
          <p:nvPr/>
        </p:nvSpPr>
        <p:spPr bwMode="auto">
          <a:xfrm>
            <a:off x="3238500" y="5234744"/>
            <a:ext cx="5905500" cy="609600"/>
          </a:xfrm>
          <a:prstGeom prst="rect">
            <a:avLst/>
          </a:prstGeom>
          <a:noFill/>
          <a:ln w="12700">
            <a:noFill/>
            <a:miter lim="800000"/>
            <a:headEnd/>
            <a:tailEnd/>
          </a:ln>
        </p:spPr>
        <p:txBody>
          <a:bodyPr lIns="90000" tIns="46800" rIns="90000" bIns="46800">
            <a:spAutoFit/>
          </a:bodyPr>
          <a:lstStyle/>
          <a:p>
            <a:pPr eaLnBrk="0" hangingPunct="0">
              <a:spcBef>
                <a:spcPct val="50000"/>
              </a:spcBef>
            </a:pPr>
            <a:r>
              <a:rPr kumimoji="1" lang="zh-CN" altLang="en-US" sz="3400" b="1" dirty="0">
                <a:solidFill>
                  <a:srgbClr val="000000"/>
                </a:solidFill>
                <a:latin typeface="Times New Roman" pitchFamily="18" charset="0"/>
                <a:sym typeface="Wingdings" pitchFamily="2" charset="2"/>
              </a:rPr>
              <a:t>或：线性趋势和非线性趋势。</a:t>
            </a:r>
          </a:p>
        </p:txBody>
      </p:sp>
      <p:sp>
        <p:nvSpPr>
          <p:cNvPr id="102408" name="日期占位符 7"/>
          <p:cNvSpPr>
            <a:spLocks noGrp="1"/>
          </p:cNvSpPr>
          <p:nvPr>
            <p:ph type="dt" sz="quarter" idx="10"/>
          </p:nvPr>
        </p:nvSpPr>
        <p:spPr>
          <a:noFill/>
        </p:spPr>
        <p:txBody>
          <a:bodyPr/>
          <a:lstStyle/>
          <a:p>
            <a:endParaRPr lang="en-US" altLang="zh-CN" smtClean="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011">
                                            <p:txEl>
                                              <p:pRg st="1" end="1"/>
                                            </p:txEl>
                                          </p:spTgt>
                                        </p:tgtEl>
                                        <p:attrNameLst>
                                          <p:attrName>style.visibility</p:attrName>
                                        </p:attrNameLst>
                                      </p:cBhvr>
                                      <p:to>
                                        <p:strVal val="visible"/>
                                      </p:to>
                                    </p:set>
                                    <p:animEffect transition="in" filter="wipe(left)">
                                      <p:cBhvr>
                                        <p:cTn id="7" dur="500"/>
                                        <p:tgtEl>
                                          <p:spTgt spid="430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011">
                                            <p:txEl>
                                              <p:pRg st="2" end="2"/>
                                            </p:txEl>
                                          </p:spTgt>
                                        </p:tgtEl>
                                        <p:attrNameLst>
                                          <p:attrName>style.visibility</p:attrName>
                                        </p:attrNameLst>
                                      </p:cBhvr>
                                      <p:to>
                                        <p:strVal val="visible"/>
                                      </p:to>
                                    </p:set>
                                    <p:animEffect transition="in" filter="wipe(left)">
                                      <p:cBhvr>
                                        <p:cTn id="12" dur="500"/>
                                        <p:tgtEl>
                                          <p:spTgt spid="4301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43013"/>
                                        </p:tgtEl>
                                        <p:attrNameLst>
                                          <p:attrName>style.visibility</p:attrName>
                                        </p:attrNameLst>
                                      </p:cBhvr>
                                      <p:to>
                                        <p:strVal val="visible"/>
                                      </p:to>
                                    </p:set>
                                    <p:anim calcmode="lin" valueType="num">
                                      <p:cBhvr additive="base">
                                        <p:cTn id="17" dur="500" fill="hold"/>
                                        <p:tgtEl>
                                          <p:spTgt spid="43013"/>
                                        </p:tgtEl>
                                        <p:attrNameLst>
                                          <p:attrName>ppt_x</p:attrName>
                                        </p:attrNameLst>
                                      </p:cBhvr>
                                      <p:tavLst>
                                        <p:tav tm="0">
                                          <p:val>
                                            <p:strVal val="0-#ppt_w/2"/>
                                          </p:val>
                                        </p:tav>
                                        <p:tav tm="100000">
                                          <p:val>
                                            <p:strVal val="#ppt_x"/>
                                          </p:val>
                                        </p:tav>
                                      </p:tavLst>
                                    </p:anim>
                                    <p:anim calcmode="lin" valueType="num">
                                      <p:cBhvr additive="base">
                                        <p:cTn id="18" dur="500" fill="hold"/>
                                        <p:tgtEl>
                                          <p:spTgt spid="43013"/>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43014"/>
                                        </p:tgtEl>
                                        <p:attrNameLst>
                                          <p:attrName>style.visibility</p:attrName>
                                        </p:attrNameLst>
                                      </p:cBhvr>
                                      <p:to>
                                        <p:strVal val="visible"/>
                                      </p:to>
                                    </p:set>
                                    <p:anim calcmode="lin" valueType="num">
                                      <p:cBhvr additive="base">
                                        <p:cTn id="23" dur="500" fill="hold"/>
                                        <p:tgtEl>
                                          <p:spTgt spid="43014"/>
                                        </p:tgtEl>
                                        <p:attrNameLst>
                                          <p:attrName>ppt_x</p:attrName>
                                        </p:attrNameLst>
                                      </p:cBhvr>
                                      <p:tavLst>
                                        <p:tav tm="0">
                                          <p:val>
                                            <p:strVal val="0-#ppt_w/2"/>
                                          </p:val>
                                        </p:tav>
                                        <p:tav tm="100000">
                                          <p:val>
                                            <p:strVal val="#ppt_x"/>
                                          </p:val>
                                        </p:tav>
                                      </p:tavLst>
                                    </p:anim>
                                    <p:anim calcmode="lin" valueType="num">
                                      <p:cBhvr additive="base">
                                        <p:cTn id="24" dur="500" fill="hold"/>
                                        <p:tgtEl>
                                          <p:spTgt spid="430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autoUpdateAnimBg="0"/>
      <p:bldP spid="43013" grpId="0" autoUpdateAnimBg="0"/>
      <p:bldP spid="43014" grpId="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427" name="Rectangle 2"/>
          <p:cNvSpPr>
            <a:spLocks noGrp="1" noChangeArrowheads="1"/>
          </p:cNvSpPr>
          <p:nvPr>
            <p:ph type="title"/>
          </p:nvPr>
        </p:nvSpPr>
        <p:spPr>
          <a:xfrm>
            <a:off x="762000" y="304800"/>
            <a:ext cx="7010400" cy="1143000"/>
          </a:xfrm>
        </p:spPr>
        <p:txBody>
          <a:bodyPr lIns="90488" tIns="44450" rIns="90488" bIns="44450" anchor="ctr" anchorCtr="1"/>
          <a:lstStyle/>
          <a:p>
            <a:pPr eaLnBrk="1" hangingPunct="1"/>
            <a:r>
              <a:rPr lang="zh-CN" altLang="en-US" sz="4000" dirty="0" smtClean="0"/>
              <a:t>线性趋势</a:t>
            </a:r>
            <a:endParaRPr lang="zh-CN" altLang="en-US" sz="3600" dirty="0" smtClean="0">
              <a:solidFill>
                <a:schemeClr val="hlink"/>
              </a:solidFill>
            </a:endParaRPr>
          </a:p>
        </p:txBody>
      </p:sp>
      <p:sp>
        <p:nvSpPr>
          <p:cNvPr id="45059" name="Rectangle 3"/>
          <p:cNvSpPr>
            <a:spLocks noGrp="1" noChangeArrowheads="1"/>
          </p:cNvSpPr>
          <p:nvPr>
            <p:ph type="body" idx="1"/>
          </p:nvPr>
        </p:nvSpPr>
        <p:spPr>
          <a:xfrm>
            <a:off x="762000" y="1341438"/>
            <a:ext cx="7481888" cy="2925762"/>
          </a:xfrm>
          <a:noFill/>
        </p:spPr>
        <p:txBody>
          <a:bodyPr lIns="90488" tIns="44450" rIns="90488" bIns="44450"/>
          <a:lstStyle/>
          <a:p>
            <a:pPr marL="609600" indent="-609600" algn="just" eaLnBrk="1" hangingPunct="1">
              <a:lnSpc>
                <a:spcPct val="130000"/>
              </a:lnSpc>
              <a:spcBef>
                <a:spcPct val="30000"/>
              </a:spcBef>
              <a:buFontTx/>
              <a:buAutoNum type="arabicPeriod"/>
            </a:pPr>
            <a:r>
              <a:rPr lang="zh-CN" altLang="en-US" sz="3000" dirty="0" smtClean="0">
                <a:solidFill>
                  <a:schemeClr val="tx1"/>
                </a:solidFill>
                <a:latin typeface="Times New Roman" pitchFamily="18" charset="0"/>
                <a:sym typeface="Wingdings" pitchFamily="2" charset="2"/>
              </a:rPr>
              <a:t>现象随时间的推移呈现出在某一直线上下波动的变化规律；</a:t>
            </a:r>
            <a:endParaRPr lang="zh-CN" altLang="en-US" sz="3000" dirty="0" smtClean="0">
              <a:solidFill>
                <a:schemeClr val="tx1"/>
              </a:solidFill>
              <a:latin typeface="Times New Roman" pitchFamily="18" charset="0"/>
            </a:endParaRPr>
          </a:p>
          <a:p>
            <a:pPr marL="609600" indent="-609600" algn="just" eaLnBrk="1" hangingPunct="1">
              <a:lnSpc>
                <a:spcPct val="130000"/>
              </a:lnSpc>
              <a:spcBef>
                <a:spcPct val="30000"/>
              </a:spcBef>
              <a:buFontTx/>
              <a:buAutoNum type="arabicPeriod"/>
            </a:pPr>
            <a:r>
              <a:rPr lang="zh-CN" altLang="en-US" sz="3000" dirty="0" smtClean="0">
                <a:solidFill>
                  <a:schemeClr val="tx1"/>
                </a:solidFill>
                <a:latin typeface="Times New Roman" pitchFamily="18" charset="0"/>
              </a:rPr>
              <a:t>测定方法有：平滑法（移动平均，指数平滑），线性模型法</a:t>
            </a:r>
          </a:p>
        </p:txBody>
      </p:sp>
      <p:grpSp>
        <p:nvGrpSpPr>
          <p:cNvPr id="103429" name="Group 24"/>
          <p:cNvGrpSpPr>
            <a:grpSpLocks/>
          </p:cNvGrpSpPr>
          <p:nvPr/>
        </p:nvGrpSpPr>
        <p:grpSpPr bwMode="auto">
          <a:xfrm>
            <a:off x="2411760" y="3689351"/>
            <a:ext cx="5689600" cy="2798763"/>
            <a:chOff x="930" y="2205"/>
            <a:chExt cx="3667" cy="1763"/>
          </a:xfrm>
        </p:grpSpPr>
        <p:grpSp>
          <p:nvGrpSpPr>
            <p:cNvPr id="103431" name="Group 21"/>
            <p:cNvGrpSpPr>
              <a:grpSpLocks/>
            </p:cNvGrpSpPr>
            <p:nvPr/>
          </p:nvGrpSpPr>
          <p:grpSpPr bwMode="auto">
            <a:xfrm>
              <a:off x="1247" y="2251"/>
              <a:ext cx="3350" cy="1717"/>
              <a:chOff x="1247" y="2251"/>
              <a:chExt cx="3350" cy="1717"/>
            </a:xfrm>
          </p:grpSpPr>
          <p:sp>
            <p:nvSpPr>
              <p:cNvPr id="103434" name="Freeform 5"/>
              <p:cNvSpPr>
                <a:spLocks/>
              </p:cNvSpPr>
              <p:nvPr/>
            </p:nvSpPr>
            <p:spPr bwMode="auto">
              <a:xfrm>
                <a:off x="1429" y="2432"/>
                <a:ext cx="3168" cy="1536"/>
              </a:xfrm>
              <a:custGeom>
                <a:avLst/>
                <a:gdLst>
                  <a:gd name="T0" fmla="*/ 0 w 904"/>
                  <a:gd name="T1" fmla="*/ 42045781 h 811"/>
                  <a:gd name="T2" fmla="*/ 0 w 904"/>
                  <a:gd name="T3" fmla="*/ 0 h 811"/>
                  <a:gd name="T4" fmla="*/ 2147483647 w 904"/>
                  <a:gd name="T5" fmla="*/ 0 h 811"/>
                  <a:gd name="T6" fmla="*/ 2147483647 w 904"/>
                  <a:gd name="T7" fmla="*/ 41852446 h 811"/>
                  <a:gd name="T8" fmla="*/ 0 w 904"/>
                  <a:gd name="T9" fmla="*/ 41852446 h 811"/>
                  <a:gd name="T10" fmla="*/ 0 w 904"/>
                  <a:gd name="T11" fmla="*/ 42045781 h 811"/>
                  <a:gd name="T12" fmla="*/ 0 60000 65536"/>
                  <a:gd name="T13" fmla="*/ 0 60000 65536"/>
                  <a:gd name="T14" fmla="*/ 0 60000 65536"/>
                  <a:gd name="T15" fmla="*/ 0 60000 65536"/>
                  <a:gd name="T16" fmla="*/ 0 60000 65536"/>
                  <a:gd name="T17" fmla="*/ 0 60000 65536"/>
                  <a:gd name="T18" fmla="*/ 0 w 904"/>
                  <a:gd name="T19" fmla="*/ 0 h 811"/>
                  <a:gd name="T20" fmla="*/ 904 w 904"/>
                  <a:gd name="T21" fmla="*/ 811 h 811"/>
                </a:gdLst>
                <a:ahLst/>
                <a:cxnLst>
                  <a:cxn ang="T12">
                    <a:pos x="T0" y="T1"/>
                  </a:cxn>
                  <a:cxn ang="T13">
                    <a:pos x="T2" y="T3"/>
                  </a:cxn>
                  <a:cxn ang="T14">
                    <a:pos x="T4" y="T5"/>
                  </a:cxn>
                  <a:cxn ang="T15">
                    <a:pos x="T6" y="T7"/>
                  </a:cxn>
                  <a:cxn ang="T16">
                    <a:pos x="T8" y="T9"/>
                  </a:cxn>
                  <a:cxn ang="T17">
                    <a:pos x="T10" y="T11"/>
                  </a:cxn>
                </a:cxnLst>
                <a:rect l="T18" t="T19" r="T20" b="T21"/>
                <a:pathLst>
                  <a:path w="904" h="811">
                    <a:moveTo>
                      <a:pt x="0" y="810"/>
                    </a:moveTo>
                    <a:lnTo>
                      <a:pt x="0" y="0"/>
                    </a:lnTo>
                    <a:lnTo>
                      <a:pt x="903" y="0"/>
                    </a:lnTo>
                    <a:lnTo>
                      <a:pt x="903" y="806"/>
                    </a:lnTo>
                    <a:lnTo>
                      <a:pt x="0" y="806"/>
                    </a:lnTo>
                    <a:lnTo>
                      <a:pt x="0" y="810"/>
                    </a:lnTo>
                  </a:path>
                </a:pathLst>
              </a:custGeom>
              <a:noFill/>
              <a:ln w="12700" cap="rnd">
                <a:noFill/>
                <a:round/>
                <a:headEnd/>
                <a:tailEnd/>
              </a:ln>
            </p:spPr>
            <p:txBody>
              <a:bodyPr/>
              <a:lstStyle/>
              <a:p>
                <a:endParaRPr lang="zh-CN" altLang="en-US"/>
              </a:p>
            </p:txBody>
          </p:sp>
          <p:sp>
            <p:nvSpPr>
              <p:cNvPr id="103435" name="Freeform 17"/>
              <p:cNvSpPr>
                <a:spLocks/>
              </p:cNvSpPr>
              <p:nvPr/>
            </p:nvSpPr>
            <p:spPr bwMode="auto">
              <a:xfrm>
                <a:off x="1292" y="2478"/>
                <a:ext cx="3085" cy="1274"/>
              </a:xfrm>
              <a:custGeom>
                <a:avLst/>
                <a:gdLst>
                  <a:gd name="T0" fmla="*/ 0 w 2604"/>
                  <a:gd name="T1" fmla="*/ 1772 h 1248"/>
                  <a:gd name="T2" fmla="*/ 1502 w 2604"/>
                  <a:gd name="T3" fmla="*/ 1551 h 1248"/>
                  <a:gd name="T4" fmla="*/ 1719 w 2604"/>
                  <a:gd name="T5" fmla="*/ 1465 h 1248"/>
                  <a:gd name="T6" fmla="*/ 2143 w 2604"/>
                  <a:gd name="T7" fmla="*/ 1364 h 1248"/>
                  <a:gd name="T8" fmla="*/ 2782 w 2604"/>
                  <a:gd name="T9" fmla="*/ 1396 h 1248"/>
                  <a:gd name="T10" fmla="*/ 3207 w 2604"/>
                  <a:gd name="T11" fmla="*/ 1516 h 1248"/>
                  <a:gd name="T12" fmla="*/ 4060 w 2604"/>
                  <a:gd name="T13" fmla="*/ 1637 h 1248"/>
                  <a:gd name="T14" fmla="*/ 5791 w 2604"/>
                  <a:gd name="T15" fmla="*/ 1280 h 1248"/>
                  <a:gd name="T16" fmla="*/ 8138 w 2604"/>
                  <a:gd name="T17" fmla="*/ 1671 h 1248"/>
                  <a:gd name="T18" fmla="*/ 8991 w 2604"/>
                  <a:gd name="T19" fmla="*/ 1516 h 1248"/>
                  <a:gd name="T20" fmla="*/ 9641 w 2604"/>
                  <a:gd name="T21" fmla="*/ 1073 h 1248"/>
                  <a:gd name="T22" fmla="*/ 9854 w 2604"/>
                  <a:gd name="T23" fmla="*/ 1192 h 1248"/>
                  <a:gd name="T24" fmla="*/ 10268 w 2604"/>
                  <a:gd name="T25" fmla="*/ 1124 h 1248"/>
                  <a:gd name="T26" fmla="*/ 11345 w 2604"/>
                  <a:gd name="T27" fmla="*/ 869 h 1248"/>
                  <a:gd name="T28" fmla="*/ 11562 w 2604"/>
                  <a:gd name="T29" fmla="*/ 987 h 1248"/>
                  <a:gd name="T30" fmla="*/ 11771 w 2604"/>
                  <a:gd name="T31" fmla="*/ 1089 h 1248"/>
                  <a:gd name="T32" fmla="*/ 12415 w 2604"/>
                  <a:gd name="T33" fmla="*/ 1073 h 1248"/>
                  <a:gd name="T34" fmla="*/ 13056 w 2604"/>
                  <a:gd name="T35" fmla="*/ 1004 h 1248"/>
                  <a:gd name="T36" fmla="*/ 13270 w 2604"/>
                  <a:gd name="T37" fmla="*/ 1073 h 1248"/>
                  <a:gd name="T38" fmla="*/ 13493 w 2604"/>
                  <a:gd name="T39" fmla="*/ 1158 h 1248"/>
                  <a:gd name="T40" fmla="*/ 14566 w 2604"/>
                  <a:gd name="T41" fmla="*/ 1022 h 1248"/>
                  <a:gd name="T42" fmla="*/ 15412 w 2604"/>
                  <a:gd name="T43" fmla="*/ 886 h 1248"/>
                  <a:gd name="T44" fmla="*/ 16487 w 2604"/>
                  <a:gd name="T45" fmla="*/ 1228 h 1248"/>
                  <a:gd name="T46" fmla="*/ 16708 w 2604"/>
                  <a:gd name="T47" fmla="*/ 1328 h 1248"/>
                  <a:gd name="T48" fmla="*/ 17125 w 2604"/>
                  <a:gd name="T49" fmla="*/ 1465 h 1248"/>
                  <a:gd name="T50" fmla="*/ 17770 w 2604"/>
                  <a:gd name="T51" fmla="*/ 1379 h 1248"/>
                  <a:gd name="T52" fmla="*/ 19050 w 2604"/>
                  <a:gd name="T53" fmla="*/ 1345 h 1248"/>
                  <a:gd name="T54" fmla="*/ 19910 w 2604"/>
                  <a:gd name="T55" fmla="*/ 903 h 1248"/>
                  <a:gd name="T56" fmla="*/ 21424 w 2604"/>
                  <a:gd name="T57" fmla="*/ 427 h 1248"/>
                  <a:gd name="T58" fmla="*/ 22270 w 2604"/>
                  <a:gd name="T59" fmla="*/ 852 h 1248"/>
                  <a:gd name="T60" fmla="*/ 22904 w 2604"/>
                  <a:gd name="T61" fmla="*/ 818 h 1248"/>
                  <a:gd name="T62" fmla="*/ 23972 w 2604"/>
                  <a:gd name="T63" fmla="*/ 1124 h 1248"/>
                  <a:gd name="T64" fmla="*/ 25265 w 2604"/>
                  <a:gd name="T65" fmla="*/ 766 h 1248"/>
                  <a:gd name="T66" fmla="*/ 25689 w 2604"/>
                  <a:gd name="T67" fmla="*/ 835 h 1248"/>
                  <a:gd name="T68" fmla="*/ 25901 w 2604"/>
                  <a:gd name="T69" fmla="*/ 903 h 1248"/>
                  <a:gd name="T70" fmla="*/ 29103 w 2604"/>
                  <a:gd name="T71" fmla="*/ 682 h 1248"/>
                  <a:gd name="T72" fmla="*/ 29337 w 2604"/>
                  <a:gd name="T73" fmla="*/ 748 h 1248"/>
                  <a:gd name="T74" fmla="*/ 30195 w 2604"/>
                  <a:gd name="T75" fmla="*/ 852 h 1248"/>
                  <a:gd name="T76" fmla="*/ 34027 w 2604"/>
                  <a:gd name="T77" fmla="*/ 510 h 1248"/>
                  <a:gd name="T78" fmla="*/ 34472 w 2604"/>
                  <a:gd name="T79" fmla="*/ 785 h 1248"/>
                  <a:gd name="T80" fmla="*/ 34681 w 2604"/>
                  <a:gd name="T81" fmla="*/ 920 h 1248"/>
                  <a:gd name="T82" fmla="*/ 36615 w 2604"/>
                  <a:gd name="T83" fmla="*/ 0 h 1248"/>
                  <a:gd name="T84" fmla="*/ 38744 w 2604"/>
                  <a:gd name="T85" fmla="*/ 323 h 1248"/>
                  <a:gd name="T86" fmla="*/ 40043 w 2604"/>
                  <a:gd name="T87" fmla="*/ 357 h 1248"/>
                  <a:gd name="T88" fmla="*/ 41520 w 2604"/>
                  <a:gd name="T89" fmla="*/ 494 h 1248"/>
                  <a:gd name="T90" fmla="*/ 42397 w 2604"/>
                  <a:gd name="T91" fmla="*/ 289 h 1248"/>
                  <a:gd name="T92" fmla="*/ 42810 w 2604"/>
                  <a:gd name="T93" fmla="*/ 341 h 1248"/>
                  <a:gd name="T94" fmla="*/ 43258 w 2604"/>
                  <a:gd name="T95" fmla="*/ 445 h 1248"/>
                  <a:gd name="T96" fmla="*/ 44112 w 2604"/>
                  <a:gd name="T97" fmla="*/ 409 h 1248"/>
                  <a:gd name="T98" fmla="*/ 45401 w 2604"/>
                  <a:gd name="T99" fmla="*/ 203 h 1248"/>
                  <a:gd name="T100" fmla="*/ 46467 w 2604"/>
                  <a:gd name="T101" fmla="*/ 152 h 1248"/>
                  <a:gd name="T102" fmla="*/ 46467 w 2604"/>
                  <a:gd name="T103" fmla="*/ 12 h 124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604"/>
                  <a:gd name="T157" fmla="*/ 0 h 1248"/>
                  <a:gd name="T158" fmla="*/ 2604 w 2604"/>
                  <a:gd name="T159" fmla="*/ 1248 h 1248"/>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604" h="1248">
                    <a:moveTo>
                      <a:pt x="0" y="1248"/>
                    </a:moveTo>
                    <a:cubicBezTo>
                      <a:pt x="34" y="1198"/>
                      <a:pt x="51" y="1142"/>
                      <a:pt x="84" y="1092"/>
                    </a:cubicBezTo>
                    <a:cubicBezTo>
                      <a:pt x="88" y="1072"/>
                      <a:pt x="91" y="1052"/>
                      <a:pt x="96" y="1032"/>
                    </a:cubicBezTo>
                    <a:cubicBezTo>
                      <a:pt x="103" y="1008"/>
                      <a:pt x="120" y="960"/>
                      <a:pt x="120" y="960"/>
                    </a:cubicBezTo>
                    <a:cubicBezTo>
                      <a:pt x="132" y="968"/>
                      <a:pt x="148" y="972"/>
                      <a:pt x="156" y="984"/>
                    </a:cubicBezTo>
                    <a:cubicBezTo>
                      <a:pt x="172" y="1008"/>
                      <a:pt x="169" y="1041"/>
                      <a:pt x="180" y="1068"/>
                    </a:cubicBezTo>
                    <a:cubicBezTo>
                      <a:pt x="198" y="1111"/>
                      <a:pt x="204" y="1116"/>
                      <a:pt x="228" y="1152"/>
                    </a:cubicBezTo>
                    <a:cubicBezTo>
                      <a:pt x="296" y="1050"/>
                      <a:pt x="288" y="1007"/>
                      <a:pt x="324" y="900"/>
                    </a:cubicBezTo>
                    <a:cubicBezTo>
                      <a:pt x="370" y="992"/>
                      <a:pt x="399" y="1090"/>
                      <a:pt x="456" y="1176"/>
                    </a:cubicBezTo>
                    <a:cubicBezTo>
                      <a:pt x="471" y="1139"/>
                      <a:pt x="490" y="1105"/>
                      <a:pt x="504" y="1068"/>
                    </a:cubicBezTo>
                    <a:cubicBezTo>
                      <a:pt x="538" y="976"/>
                      <a:pt x="533" y="848"/>
                      <a:pt x="540" y="756"/>
                    </a:cubicBezTo>
                    <a:cubicBezTo>
                      <a:pt x="544" y="784"/>
                      <a:pt x="532" y="820"/>
                      <a:pt x="552" y="840"/>
                    </a:cubicBezTo>
                    <a:cubicBezTo>
                      <a:pt x="565" y="853"/>
                      <a:pt x="569" y="809"/>
                      <a:pt x="576" y="792"/>
                    </a:cubicBezTo>
                    <a:cubicBezTo>
                      <a:pt x="601" y="730"/>
                      <a:pt x="599" y="667"/>
                      <a:pt x="636" y="612"/>
                    </a:cubicBezTo>
                    <a:cubicBezTo>
                      <a:pt x="640" y="640"/>
                      <a:pt x="644" y="668"/>
                      <a:pt x="648" y="696"/>
                    </a:cubicBezTo>
                    <a:cubicBezTo>
                      <a:pt x="652" y="720"/>
                      <a:pt x="645" y="749"/>
                      <a:pt x="660" y="768"/>
                    </a:cubicBezTo>
                    <a:cubicBezTo>
                      <a:pt x="668" y="778"/>
                      <a:pt x="684" y="760"/>
                      <a:pt x="696" y="756"/>
                    </a:cubicBezTo>
                    <a:cubicBezTo>
                      <a:pt x="708" y="740"/>
                      <a:pt x="712" y="708"/>
                      <a:pt x="732" y="708"/>
                    </a:cubicBezTo>
                    <a:cubicBezTo>
                      <a:pt x="748" y="708"/>
                      <a:pt x="740" y="740"/>
                      <a:pt x="744" y="756"/>
                    </a:cubicBezTo>
                    <a:cubicBezTo>
                      <a:pt x="748" y="776"/>
                      <a:pt x="752" y="796"/>
                      <a:pt x="756" y="816"/>
                    </a:cubicBezTo>
                    <a:cubicBezTo>
                      <a:pt x="820" y="774"/>
                      <a:pt x="776" y="813"/>
                      <a:pt x="816" y="720"/>
                    </a:cubicBezTo>
                    <a:cubicBezTo>
                      <a:pt x="830" y="687"/>
                      <a:pt x="864" y="624"/>
                      <a:pt x="864" y="624"/>
                    </a:cubicBezTo>
                    <a:cubicBezTo>
                      <a:pt x="906" y="708"/>
                      <a:pt x="911" y="771"/>
                      <a:pt x="924" y="864"/>
                    </a:cubicBezTo>
                    <a:cubicBezTo>
                      <a:pt x="927" y="888"/>
                      <a:pt x="931" y="912"/>
                      <a:pt x="936" y="936"/>
                    </a:cubicBezTo>
                    <a:cubicBezTo>
                      <a:pt x="943" y="968"/>
                      <a:pt x="960" y="1032"/>
                      <a:pt x="960" y="1032"/>
                    </a:cubicBezTo>
                    <a:cubicBezTo>
                      <a:pt x="972" y="1012"/>
                      <a:pt x="978" y="986"/>
                      <a:pt x="996" y="972"/>
                    </a:cubicBezTo>
                    <a:cubicBezTo>
                      <a:pt x="1016" y="956"/>
                      <a:pt x="1055" y="970"/>
                      <a:pt x="1068" y="948"/>
                    </a:cubicBezTo>
                    <a:cubicBezTo>
                      <a:pt x="1098" y="895"/>
                      <a:pt x="1100" y="711"/>
                      <a:pt x="1116" y="636"/>
                    </a:cubicBezTo>
                    <a:cubicBezTo>
                      <a:pt x="1140" y="522"/>
                      <a:pt x="1181" y="414"/>
                      <a:pt x="1200" y="300"/>
                    </a:cubicBezTo>
                    <a:cubicBezTo>
                      <a:pt x="1220" y="400"/>
                      <a:pt x="1223" y="501"/>
                      <a:pt x="1248" y="600"/>
                    </a:cubicBezTo>
                    <a:cubicBezTo>
                      <a:pt x="1260" y="592"/>
                      <a:pt x="1270" y="571"/>
                      <a:pt x="1284" y="576"/>
                    </a:cubicBezTo>
                    <a:cubicBezTo>
                      <a:pt x="1335" y="593"/>
                      <a:pt x="1336" y="745"/>
                      <a:pt x="1344" y="792"/>
                    </a:cubicBezTo>
                    <a:cubicBezTo>
                      <a:pt x="1378" y="708"/>
                      <a:pt x="1376" y="621"/>
                      <a:pt x="1416" y="540"/>
                    </a:cubicBezTo>
                    <a:cubicBezTo>
                      <a:pt x="1424" y="556"/>
                      <a:pt x="1434" y="571"/>
                      <a:pt x="1440" y="588"/>
                    </a:cubicBezTo>
                    <a:cubicBezTo>
                      <a:pt x="1446" y="603"/>
                      <a:pt x="1436" y="639"/>
                      <a:pt x="1452" y="636"/>
                    </a:cubicBezTo>
                    <a:cubicBezTo>
                      <a:pt x="1535" y="619"/>
                      <a:pt x="1578" y="534"/>
                      <a:pt x="1632" y="480"/>
                    </a:cubicBezTo>
                    <a:cubicBezTo>
                      <a:pt x="1636" y="496"/>
                      <a:pt x="1637" y="513"/>
                      <a:pt x="1644" y="528"/>
                    </a:cubicBezTo>
                    <a:cubicBezTo>
                      <a:pt x="1657" y="554"/>
                      <a:pt x="1692" y="600"/>
                      <a:pt x="1692" y="600"/>
                    </a:cubicBezTo>
                    <a:cubicBezTo>
                      <a:pt x="1782" y="540"/>
                      <a:pt x="1873" y="464"/>
                      <a:pt x="1908" y="360"/>
                    </a:cubicBezTo>
                    <a:cubicBezTo>
                      <a:pt x="1916" y="424"/>
                      <a:pt x="1924" y="488"/>
                      <a:pt x="1932" y="552"/>
                    </a:cubicBezTo>
                    <a:cubicBezTo>
                      <a:pt x="1936" y="584"/>
                      <a:pt x="1944" y="648"/>
                      <a:pt x="1944" y="648"/>
                    </a:cubicBezTo>
                    <a:cubicBezTo>
                      <a:pt x="2068" y="463"/>
                      <a:pt x="1983" y="208"/>
                      <a:pt x="2052" y="0"/>
                    </a:cubicBezTo>
                    <a:cubicBezTo>
                      <a:pt x="2117" y="65"/>
                      <a:pt x="2108" y="164"/>
                      <a:pt x="2172" y="228"/>
                    </a:cubicBezTo>
                    <a:cubicBezTo>
                      <a:pt x="2190" y="246"/>
                      <a:pt x="2220" y="244"/>
                      <a:pt x="2244" y="252"/>
                    </a:cubicBezTo>
                    <a:cubicBezTo>
                      <a:pt x="2261" y="302"/>
                      <a:pt x="2277" y="331"/>
                      <a:pt x="2328" y="348"/>
                    </a:cubicBezTo>
                    <a:cubicBezTo>
                      <a:pt x="2344" y="300"/>
                      <a:pt x="2348" y="162"/>
                      <a:pt x="2376" y="204"/>
                    </a:cubicBezTo>
                    <a:cubicBezTo>
                      <a:pt x="2384" y="216"/>
                      <a:pt x="2394" y="227"/>
                      <a:pt x="2400" y="240"/>
                    </a:cubicBezTo>
                    <a:cubicBezTo>
                      <a:pt x="2410" y="263"/>
                      <a:pt x="2424" y="312"/>
                      <a:pt x="2424" y="312"/>
                    </a:cubicBezTo>
                    <a:cubicBezTo>
                      <a:pt x="2440" y="304"/>
                      <a:pt x="2459" y="301"/>
                      <a:pt x="2472" y="288"/>
                    </a:cubicBezTo>
                    <a:cubicBezTo>
                      <a:pt x="2497" y="263"/>
                      <a:pt x="2526" y="180"/>
                      <a:pt x="2544" y="144"/>
                    </a:cubicBezTo>
                    <a:lnTo>
                      <a:pt x="2604" y="108"/>
                    </a:lnTo>
                    <a:lnTo>
                      <a:pt x="2604" y="12"/>
                    </a:lnTo>
                  </a:path>
                </a:pathLst>
              </a:custGeom>
              <a:noFill/>
              <a:ln w="38100">
                <a:solidFill>
                  <a:srgbClr val="FF00FF"/>
                </a:solidFill>
                <a:round/>
                <a:headEnd/>
                <a:tailEnd/>
              </a:ln>
            </p:spPr>
            <p:txBody>
              <a:bodyPr lIns="90000" tIns="46800" rIns="90000" bIns="46800"/>
              <a:lstStyle/>
              <a:p>
                <a:endParaRPr lang="zh-CN" altLang="en-US"/>
              </a:p>
            </p:txBody>
          </p:sp>
          <p:sp>
            <p:nvSpPr>
              <p:cNvPr id="103436" name="Line 18"/>
              <p:cNvSpPr>
                <a:spLocks noChangeShapeType="1"/>
              </p:cNvSpPr>
              <p:nvPr/>
            </p:nvSpPr>
            <p:spPr bwMode="auto">
              <a:xfrm flipV="1">
                <a:off x="1247" y="2568"/>
                <a:ext cx="3221" cy="1089"/>
              </a:xfrm>
              <a:prstGeom prst="line">
                <a:avLst/>
              </a:prstGeom>
              <a:noFill/>
              <a:ln w="57150">
                <a:solidFill>
                  <a:srgbClr val="3333FF"/>
                </a:solidFill>
                <a:round/>
                <a:headEnd/>
                <a:tailEnd/>
              </a:ln>
            </p:spPr>
            <p:txBody>
              <a:bodyPr/>
              <a:lstStyle/>
              <a:p>
                <a:endParaRPr lang="zh-CN" altLang="en-US"/>
              </a:p>
            </p:txBody>
          </p:sp>
          <p:sp>
            <p:nvSpPr>
              <p:cNvPr id="103437" name="Line 19"/>
              <p:cNvSpPr>
                <a:spLocks noChangeShapeType="1"/>
              </p:cNvSpPr>
              <p:nvPr/>
            </p:nvSpPr>
            <p:spPr bwMode="auto">
              <a:xfrm flipV="1">
                <a:off x="1247" y="2251"/>
                <a:ext cx="0" cy="1587"/>
              </a:xfrm>
              <a:prstGeom prst="line">
                <a:avLst/>
              </a:prstGeom>
              <a:noFill/>
              <a:ln w="38100">
                <a:solidFill>
                  <a:schemeClr val="tx1"/>
                </a:solidFill>
                <a:round/>
                <a:headEnd/>
                <a:tailEnd type="triangle" w="med" len="med"/>
              </a:ln>
            </p:spPr>
            <p:txBody>
              <a:bodyPr/>
              <a:lstStyle/>
              <a:p>
                <a:endParaRPr lang="zh-CN" altLang="en-US"/>
              </a:p>
            </p:txBody>
          </p:sp>
          <p:sp>
            <p:nvSpPr>
              <p:cNvPr id="103438" name="Line 20"/>
              <p:cNvSpPr>
                <a:spLocks noChangeShapeType="1"/>
              </p:cNvSpPr>
              <p:nvPr/>
            </p:nvSpPr>
            <p:spPr bwMode="auto">
              <a:xfrm>
                <a:off x="1247" y="3838"/>
                <a:ext cx="3084" cy="1"/>
              </a:xfrm>
              <a:prstGeom prst="line">
                <a:avLst/>
              </a:prstGeom>
              <a:noFill/>
              <a:ln w="38100">
                <a:solidFill>
                  <a:schemeClr val="tx1"/>
                </a:solidFill>
                <a:round/>
                <a:headEnd/>
                <a:tailEnd type="triangle" w="med" len="med"/>
              </a:ln>
            </p:spPr>
            <p:txBody>
              <a:bodyPr/>
              <a:lstStyle/>
              <a:p>
                <a:endParaRPr lang="zh-CN" altLang="en-US"/>
              </a:p>
            </p:txBody>
          </p:sp>
        </p:grpSp>
        <p:sp>
          <p:nvSpPr>
            <p:cNvPr id="103432" name="Text Box 22"/>
            <p:cNvSpPr txBox="1">
              <a:spLocks noChangeArrowheads="1"/>
            </p:cNvSpPr>
            <p:nvPr/>
          </p:nvSpPr>
          <p:spPr bwMode="auto">
            <a:xfrm>
              <a:off x="4272" y="3492"/>
              <a:ext cx="317" cy="442"/>
            </a:xfrm>
            <a:prstGeom prst="rect">
              <a:avLst/>
            </a:prstGeom>
            <a:noFill/>
            <a:ln w="9525">
              <a:noFill/>
              <a:miter lim="800000"/>
              <a:headEnd/>
              <a:tailEnd/>
            </a:ln>
          </p:spPr>
          <p:txBody>
            <a:bodyPr>
              <a:spAutoFit/>
            </a:bodyPr>
            <a:lstStyle/>
            <a:p>
              <a:pPr algn="ctr">
                <a:spcBef>
                  <a:spcPct val="50000"/>
                </a:spcBef>
              </a:pPr>
              <a:r>
                <a:rPr lang="en-US" altLang="zh-CN" sz="4000" b="1" i="1" dirty="0"/>
                <a:t>t</a:t>
              </a:r>
            </a:p>
          </p:txBody>
        </p:sp>
        <p:sp>
          <p:nvSpPr>
            <p:cNvPr id="103433" name="Text Box 23"/>
            <p:cNvSpPr txBox="1">
              <a:spLocks noChangeArrowheads="1"/>
            </p:cNvSpPr>
            <p:nvPr/>
          </p:nvSpPr>
          <p:spPr bwMode="auto">
            <a:xfrm>
              <a:off x="930" y="2205"/>
              <a:ext cx="317" cy="442"/>
            </a:xfrm>
            <a:prstGeom prst="rect">
              <a:avLst/>
            </a:prstGeom>
            <a:noFill/>
            <a:ln w="9525">
              <a:noFill/>
              <a:miter lim="800000"/>
              <a:headEnd/>
              <a:tailEnd/>
            </a:ln>
          </p:spPr>
          <p:txBody>
            <a:bodyPr>
              <a:spAutoFit/>
            </a:bodyPr>
            <a:lstStyle/>
            <a:p>
              <a:pPr algn="ctr">
                <a:spcBef>
                  <a:spcPct val="50000"/>
                </a:spcBef>
              </a:pPr>
              <a:r>
                <a:rPr lang="en-US" altLang="zh-CN" sz="4000" b="1" i="1"/>
                <a:t>y</a:t>
              </a:r>
            </a:p>
          </p:txBody>
        </p:sp>
      </p:grpSp>
      <p:sp>
        <p:nvSpPr>
          <p:cNvPr id="103430" name="日期占位符 13"/>
          <p:cNvSpPr>
            <a:spLocks noGrp="1"/>
          </p:cNvSpPr>
          <p:nvPr>
            <p:ph type="dt" sz="quarter" idx="10"/>
          </p:nvPr>
        </p:nvSpPr>
        <p:spPr>
          <a:noFill/>
        </p:spPr>
        <p:txBody>
          <a:bodyPr/>
          <a:lstStyle/>
          <a:p>
            <a:endParaRPr lang="en-US" altLang="zh-CN" smtClean="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Effect transition="in" filter="wipe(left)">
                                      <p:cBhvr>
                                        <p:cTn id="7" dur="500"/>
                                        <p:tgtEl>
                                          <p:spTgt spid="450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5059">
                                            <p:txEl>
                                              <p:pRg st="1" end="1"/>
                                            </p:txEl>
                                          </p:spTgt>
                                        </p:tgtEl>
                                        <p:attrNameLst>
                                          <p:attrName>style.visibility</p:attrName>
                                        </p:attrNameLst>
                                      </p:cBhvr>
                                      <p:to>
                                        <p:strVal val="visible"/>
                                      </p:to>
                                    </p:set>
                                    <p:animEffect transition="in" filter="wipe(left)">
                                      <p:cBhvr>
                                        <p:cTn id="12" dur="500"/>
                                        <p:tgtEl>
                                          <p:spTgt spid="4505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4451" name="Group 148"/>
          <p:cNvGrpSpPr>
            <a:grpSpLocks/>
          </p:cNvGrpSpPr>
          <p:nvPr/>
        </p:nvGrpSpPr>
        <p:grpSpPr bwMode="auto">
          <a:xfrm>
            <a:off x="900113" y="1700213"/>
            <a:ext cx="7577137" cy="4568825"/>
            <a:chOff x="535" y="663"/>
            <a:chExt cx="4773" cy="2878"/>
          </a:xfrm>
        </p:grpSpPr>
        <p:sp>
          <p:nvSpPr>
            <p:cNvPr id="104455" name="Rectangle 96"/>
            <p:cNvSpPr>
              <a:spLocks noChangeArrowheads="1"/>
            </p:cNvSpPr>
            <p:nvPr/>
          </p:nvSpPr>
          <p:spPr bwMode="auto">
            <a:xfrm>
              <a:off x="657" y="663"/>
              <a:ext cx="4651" cy="2832"/>
            </a:xfrm>
            <a:prstGeom prst="rect">
              <a:avLst/>
            </a:prstGeom>
            <a:solidFill>
              <a:schemeClr val="accent1"/>
            </a:solidFill>
            <a:ln w="0">
              <a:noFill/>
              <a:miter lim="800000"/>
              <a:headEnd/>
              <a:tailEnd/>
            </a:ln>
          </p:spPr>
          <p:txBody>
            <a:bodyPr/>
            <a:lstStyle/>
            <a:p>
              <a:endParaRPr lang="zh-CN" altLang="en-US"/>
            </a:p>
          </p:txBody>
        </p:sp>
        <p:sp>
          <p:nvSpPr>
            <p:cNvPr id="104456" name="Rectangle 97"/>
            <p:cNvSpPr>
              <a:spLocks noChangeArrowheads="1"/>
            </p:cNvSpPr>
            <p:nvPr/>
          </p:nvSpPr>
          <p:spPr bwMode="auto">
            <a:xfrm>
              <a:off x="767" y="925"/>
              <a:ext cx="300" cy="661"/>
            </a:xfrm>
            <a:prstGeom prst="rect">
              <a:avLst/>
            </a:prstGeom>
            <a:noFill/>
            <a:ln w="9525">
              <a:noFill/>
              <a:miter lim="800000"/>
              <a:headEnd/>
              <a:tailEnd/>
            </a:ln>
          </p:spPr>
          <p:txBody>
            <a:bodyPr/>
            <a:lstStyle/>
            <a:p>
              <a:endParaRPr lang="zh-CN" altLang="en-US"/>
            </a:p>
          </p:txBody>
        </p:sp>
        <p:sp>
          <p:nvSpPr>
            <p:cNvPr id="104457" name="Rectangle 101"/>
            <p:cNvSpPr>
              <a:spLocks noChangeArrowheads="1"/>
            </p:cNvSpPr>
            <p:nvPr/>
          </p:nvSpPr>
          <p:spPr bwMode="auto">
            <a:xfrm>
              <a:off x="535" y="1629"/>
              <a:ext cx="709" cy="259"/>
            </a:xfrm>
            <a:prstGeom prst="rect">
              <a:avLst/>
            </a:prstGeom>
            <a:noFill/>
            <a:ln w="9525">
              <a:noFill/>
              <a:miter lim="800000"/>
              <a:headEnd/>
              <a:tailEnd/>
            </a:ln>
          </p:spPr>
          <p:txBody>
            <a:bodyPr/>
            <a:lstStyle/>
            <a:p>
              <a:endParaRPr lang="zh-CN" altLang="en-US"/>
            </a:p>
          </p:txBody>
        </p:sp>
        <p:sp>
          <p:nvSpPr>
            <p:cNvPr id="104458" name="Rectangle 103"/>
            <p:cNvSpPr>
              <a:spLocks noChangeArrowheads="1"/>
            </p:cNvSpPr>
            <p:nvPr/>
          </p:nvSpPr>
          <p:spPr bwMode="auto">
            <a:xfrm>
              <a:off x="1449" y="3254"/>
              <a:ext cx="3233" cy="287"/>
            </a:xfrm>
            <a:prstGeom prst="rect">
              <a:avLst/>
            </a:prstGeom>
            <a:noFill/>
            <a:ln w="9525">
              <a:noFill/>
              <a:miter lim="800000"/>
              <a:headEnd/>
              <a:tailEnd/>
            </a:ln>
          </p:spPr>
          <p:txBody>
            <a:bodyPr/>
            <a:lstStyle/>
            <a:p>
              <a:endParaRPr lang="zh-CN" altLang="en-US"/>
            </a:p>
          </p:txBody>
        </p:sp>
        <p:sp>
          <p:nvSpPr>
            <p:cNvPr id="104459" name="Rectangle 104"/>
            <p:cNvSpPr>
              <a:spLocks noChangeArrowheads="1"/>
            </p:cNvSpPr>
            <p:nvPr/>
          </p:nvSpPr>
          <p:spPr bwMode="auto">
            <a:xfrm>
              <a:off x="2109" y="3203"/>
              <a:ext cx="1814" cy="192"/>
            </a:xfrm>
            <a:prstGeom prst="rect">
              <a:avLst/>
            </a:prstGeom>
            <a:noFill/>
            <a:ln w="9525">
              <a:noFill/>
              <a:miter lim="800000"/>
              <a:headEnd/>
              <a:tailEnd/>
            </a:ln>
          </p:spPr>
          <p:txBody>
            <a:bodyPr lIns="0" tIns="0" rIns="0" bIns="0">
              <a:spAutoFit/>
            </a:bodyPr>
            <a:lstStyle/>
            <a:p>
              <a:pPr algn="ctr" eaLnBrk="0" hangingPunct="0"/>
              <a:r>
                <a:rPr kumimoji="1" lang="zh-CN" altLang="en-US" sz="2000" b="1">
                  <a:solidFill>
                    <a:srgbClr val="000000"/>
                  </a:solidFill>
                  <a:latin typeface="宋体" pitchFamily="2" charset="-122"/>
                </a:rPr>
                <a:t>某商品历年的销售收入</a:t>
              </a:r>
              <a:endParaRPr kumimoji="1" lang="zh-CN" altLang="en-US" sz="2000"/>
            </a:p>
          </p:txBody>
        </p:sp>
        <p:sp>
          <p:nvSpPr>
            <p:cNvPr id="104460" name="Rectangle 105"/>
            <p:cNvSpPr>
              <a:spLocks noChangeArrowheads="1"/>
            </p:cNvSpPr>
            <p:nvPr/>
          </p:nvSpPr>
          <p:spPr bwMode="auto">
            <a:xfrm>
              <a:off x="4340" y="3009"/>
              <a:ext cx="710" cy="259"/>
            </a:xfrm>
            <a:prstGeom prst="rect">
              <a:avLst/>
            </a:prstGeom>
            <a:noFill/>
            <a:ln w="9525">
              <a:noFill/>
              <a:miter lim="800000"/>
              <a:headEnd/>
              <a:tailEnd/>
            </a:ln>
          </p:spPr>
          <p:txBody>
            <a:bodyPr/>
            <a:lstStyle/>
            <a:p>
              <a:endParaRPr lang="zh-CN" altLang="en-US"/>
            </a:p>
          </p:txBody>
        </p:sp>
        <p:sp>
          <p:nvSpPr>
            <p:cNvPr id="104461" name="Rectangle 106"/>
            <p:cNvSpPr>
              <a:spLocks noChangeArrowheads="1"/>
            </p:cNvSpPr>
            <p:nvPr/>
          </p:nvSpPr>
          <p:spPr bwMode="auto">
            <a:xfrm>
              <a:off x="4649" y="2840"/>
              <a:ext cx="320" cy="192"/>
            </a:xfrm>
            <a:prstGeom prst="rect">
              <a:avLst/>
            </a:prstGeom>
            <a:noFill/>
            <a:ln w="9525">
              <a:noFill/>
              <a:miter lim="800000"/>
              <a:headEnd/>
              <a:tailEnd/>
            </a:ln>
          </p:spPr>
          <p:txBody>
            <a:bodyPr wrap="none" lIns="0" tIns="0" rIns="0" bIns="0">
              <a:spAutoFit/>
            </a:bodyPr>
            <a:lstStyle/>
            <a:p>
              <a:pPr eaLnBrk="0" hangingPunct="0"/>
              <a:r>
                <a:rPr kumimoji="1" lang="zh-CN" altLang="en-US" sz="2000">
                  <a:solidFill>
                    <a:srgbClr val="000000"/>
                  </a:solidFill>
                  <a:latin typeface="宋体" pitchFamily="2" charset="-122"/>
                </a:rPr>
                <a:t>年份</a:t>
              </a:r>
              <a:endParaRPr kumimoji="1" lang="zh-CN" altLang="en-US" sz="3200"/>
            </a:p>
          </p:txBody>
        </p:sp>
        <p:sp>
          <p:nvSpPr>
            <p:cNvPr id="104462" name="Line 108"/>
            <p:cNvSpPr>
              <a:spLocks noChangeShapeType="1"/>
            </p:cNvSpPr>
            <p:nvPr/>
          </p:nvSpPr>
          <p:spPr bwMode="auto">
            <a:xfrm>
              <a:off x="1383" y="2750"/>
              <a:ext cx="3584" cy="0"/>
            </a:xfrm>
            <a:prstGeom prst="line">
              <a:avLst/>
            </a:prstGeom>
            <a:noFill/>
            <a:ln w="38100">
              <a:solidFill>
                <a:schemeClr val="tx1"/>
              </a:solidFill>
              <a:round/>
              <a:headEnd/>
              <a:tailEnd type="triangle" w="med" len="med"/>
            </a:ln>
          </p:spPr>
          <p:txBody>
            <a:bodyPr/>
            <a:lstStyle/>
            <a:p>
              <a:endParaRPr lang="zh-CN" altLang="en-US"/>
            </a:p>
          </p:txBody>
        </p:sp>
        <p:sp>
          <p:nvSpPr>
            <p:cNvPr id="104463" name="Line 109"/>
            <p:cNvSpPr>
              <a:spLocks noChangeShapeType="1"/>
            </p:cNvSpPr>
            <p:nvPr/>
          </p:nvSpPr>
          <p:spPr bwMode="auto">
            <a:xfrm flipV="1">
              <a:off x="1383" y="845"/>
              <a:ext cx="0" cy="1905"/>
            </a:xfrm>
            <a:prstGeom prst="line">
              <a:avLst/>
            </a:prstGeom>
            <a:noFill/>
            <a:ln w="38100">
              <a:solidFill>
                <a:schemeClr val="tx1"/>
              </a:solidFill>
              <a:round/>
              <a:headEnd/>
              <a:tailEnd type="triangle" w="med" len="med"/>
            </a:ln>
          </p:spPr>
          <p:txBody>
            <a:bodyPr/>
            <a:lstStyle/>
            <a:p>
              <a:endParaRPr lang="zh-CN" altLang="en-US"/>
            </a:p>
          </p:txBody>
        </p:sp>
        <p:sp>
          <p:nvSpPr>
            <p:cNvPr id="47219" name="Freeform 115"/>
            <p:cNvSpPr>
              <a:spLocks/>
            </p:cNvSpPr>
            <p:nvPr/>
          </p:nvSpPr>
          <p:spPr bwMode="auto">
            <a:xfrm>
              <a:off x="1429" y="1162"/>
              <a:ext cx="3583" cy="1021"/>
            </a:xfrm>
            <a:custGeom>
              <a:avLst/>
              <a:gdLst/>
              <a:ahLst/>
              <a:cxnLst>
                <a:cxn ang="0">
                  <a:pos x="0" y="1021"/>
                </a:cxn>
                <a:cxn ang="0">
                  <a:pos x="362" y="612"/>
                </a:cxn>
                <a:cxn ang="0">
                  <a:pos x="861" y="295"/>
                </a:cxn>
                <a:cxn ang="0">
                  <a:pos x="1270" y="159"/>
                </a:cxn>
                <a:cxn ang="0">
                  <a:pos x="1814" y="23"/>
                </a:cxn>
                <a:cxn ang="0">
                  <a:pos x="2313" y="23"/>
                </a:cxn>
                <a:cxn ang="0">
                  <a:pos x="2812" y="159"/>
                </a:cxn>
                <a:cxn ang="0">
                  <a:pos x="3220" y="431"/>
                </a:cxn>
                <a:cxn ang="0">
                  <a:pos x="3583" y="748"/>
                </a:cxn>
              </a:cxnLst>
              <a:rect l="0" t="0" r="r" b="b"/>
              <a:pathLst>
                <a:path w="3583" h="1021">
                  <a:moveTo>
                    <a:pt x="0" y="1021"/>
                  </a:moveTo>
                  <a:cubicBezTo>
                    <a:pt x="109" y="877"/>
                    <a:pt x="218" y="733"/>
                    <a:pt x="362" y="612"/>
                  </a:cubicBezTo>
                  <a:cubicBezTo>
                    <a:pt x="506" y="491"/>
                    <a:pt x="710" y="370"/>
                    <a:pt x="861" y="295"/>
                  </a:cubicBezTo>
                  <a:cubicBezTo>
                    <a:pt x="1012" y="220"/>
                    <a:pt x="1111" y="204"/>
                    <a:pt x="1270" y="159"/>
                  </a:cubicBezTo>
                  <a:cubicBezTo>
                    <a:pt x="1429" y="114"/>
                    <a:pt x="1640" y="46"/>
                    <a:pt x="1814" y="23"/>
                  </a:cubicBezTo>
                  <a:cubicBezTo>
                    <a:pt x="1988" y="0"/>
                    <a:pt x="2147" y="0"/>
                    <a:pt x="2313" y="23"/>
                  </a:cubicBezTo>
                  <a:cubicBezTo>
                    <a:pt x="2479" y="46"/>
                    <a:pt x="2661" y="91"/>
                    <a:pt x="2812" y="159"/>
                  </a:cubicBezTo>
                  <a:cubicBezTo>
                    <a:pt x="2963" y="227"/>
                    <a:pt x="3092" y="333"/>
                    <a:pt x="3220" y="431"/>
                  </a:cubicBezTo>
                  <a:cubicBezTo>
                    <a:pt x="3348" y="529"/>
                    <a:pt x="3522" y="695"/>
                    <a:pt x="3583" y="748"/>
                  </a:cubicBezTo>
                </a:path>
              </a:pathLst>
            </a:custGeom>
            <a:noFill/>
            <a:ln w="57150" cmpd="sng">
              <a:solidFill>
                <a:srgbClr val="3333FF"/>
              </a:solidFill>
              <a:round/>
              <a:headEnd/>
              <a:tailEnd/>
            </a:ln>
            <a:effectLst>
              <a:outerShdw dist="35921" dir="2700000" algn="ctr" rotWithShape="0">
                <a:schemeClr val="bg2"/>
              </a:outerShdw>
            </a:effectLst>
          </p:spPr>
          <p:txBody>
            <a:bodyPr/>
            <a:lstStyle/>
            <a:p>
              <a:pPr>
                <a:defRPr/>
              </a:pPr>
              <a:endParaRPr lang="zh-CN" altLang="en-US"/>
            </a:p>
          </p:txBody>
        </p:sp>
        <p:sp>
          <p:nvSpPr>
            <p:cNvPr id="104465" name="Text Box 116"/>
            <p:cNvSpPr txBox="1">
              <a:spLocks noChangeArrowheads="1"/>
            </p:cNvSpPr>
            <p:nvPr/>
          </p:nvSpPr>
          <p:spPr bwMode="auto">
            <a:xfrm>
              <a:off x="793" y="845"/>
              <a:ext cx="289" cy="1270"/>
            </a:xfrm>
            <a:prstGeom prst="rect">
              <a:avLst/>
            </a:prstGeom>
            <a:noFill/>
            <a:ln w="9525">
              <a:noFill/>
              <a:miter lim="800000"/>
              <a:headEnd/>
              <a:tailEnd/>
            </a:ln>
          </p:spPr>
          <p:txBody>
            <a:bodyPr vert="eaVert">
              <a:spAutoFit/>
            </a:bodyPr>
            <a:lstStyle/>
            <a:p>
              <a:pPr>
                <a:spcBef>
                  <a:spcPct val="50000"/>
                </a:spcBef>
              </a:pPr>
              <a:r>
                <a:rPr lang="zh-CN" altLang="en-US">
                  <a:solidFill>
                    <a:srgbClr val="000000"/>
                  </a:solidFill>
                </a:rPr>
                <a:t>销售收入（万元）</a:t>
              </a:r>
            </a:p>
          </p:txBody>
        </p:sp>
        <p:sp>
          <p:nvSpPr>
            <p:cNvPr id="104466" name="Text Box 118"/>
            <p:cNvSpPr txBox="1">
              <a:spLocks noChangeArrowheads="1"/>
            </p:cNvSpPr>
            <p:nvPr/>
          </p:nvSpPr>
          <p:spPr bwMode="auto">
            <a:xfrm>
              <a:off x="975" y="1044"/>
              <a:ext cx="409" cy="1751"/>
            </a:xfrm>
            <a:prstGeom prst="rect">
              <a:avLst/>
            </a:prstGeom>
            <a:noFill/>
            <a:ln w="9525">
              <a:noFill/>
              <a:miter lim="800000"/>
              <a:headEnd/>
              <a:tailEnd/>
            </a:ln>
          </p:spPr>
          <p:txBody>
            <a:bodyPr>
              <a:spAutoFit/>
            </a:bodyPr>
            <a:lstStyle/>
            <a:p>
              <a:pPr algn="r">
                <a:spcBef>
                  <a:spcPct val="10000"/>
                </a:spcBef>
              </a:pPr>
              <a:r>
                <a:rPr lang="en-US" altLang="zh-CN"/>
                <a:t>100</a:t>
              </a:r>
            </a:p>
            <a:p>
              <a:pPr algn="r">
                <a:spcBef>
                  <a:spcPct val="10000"/>
                </a:spcBef>
              </a:pPr>
              <a:endParaRPr lang="en-US" altLang="zh-CN"/>
            </a:p>
            <a:p>
              <a:pPr algn="r">
                <a:spcBef>
                  <a:spcPct val="10000"/>
                </a:spcBef>
              </a:pPr>
              <a:r>
                <a:rPr lang="en-US" altLang="zh-CN"/>
                <a:t>75</a:t>
              </a:r>
            </a:p>
            <a:p>
              <a:pPr algn="r">
                <a:spcBef>
                  <a:spcPct val="10000"/>
                </a:spcBef>
              </a:pPr>
              <a:endParaRPr lang="en-US" altLang="zh-CN"/>
            </a:p>
            <a:p>
              <a:pPr algn="r">
                <a:spcBef>
                  <a:spcPct val="10000"/>
                </a:spcBef>
              </a:pPr>
              <a:r>
                <a:rPr lang="en-US" altLang="zh-CN"/>
                <a:t>50</a:t>
              </a:r>
            </a:p>
            <a:p>
              <a:pPr algn="r">
                <a:spcBef>
                  <a:spcPct val="10000"/>
                </a:spcBef>
              </a:pPr>
              <a:endParaRPr lang="en-US" altLang="zh-CN"/>
            </a:p>
            <a:p>
              <a:pPr algn="r">
                <a:spcBef>
                  <a:spcPct val="10000"/>
                </a:spcBef>
              </a:pPr>
              <a:r>
                <a:rPr lang="en-US" altLang="zh-CN"/>
                <a:t>25</a:t>
              </a:r>
            </a:p>
            <a:p>
              <a:pPr algn="r">
                <a:spcBef>
                  <a:spcPct val="10000"/>
                </a:spcBef>
              </a:pPr>
              <a:endParaRPr lang="en-US" altLang="zh-CN"/>
            </a:p>
            <a:p>
              <a:pPr algn="r">
                <a:spcBef>
                  <a:spcPct val="10000"/>
                </a:spcBef>
              </a:pPr>
              <a:r>
                <a:rPr lang="en-US" altLang="zh-CN"/>
                <a:t>  0</a:t>
              </a:r>
            </a:p>
          </p:txBody>
        </p:sp>
        <p:sp>
          <p:nvSpPr>
            <p:cNvPr id="104467" name="Line 119"/>
            <p:cNvSpPr>
              <a:spLocks noChangeShapeType="1"/>
            </p:cNvSpPr>
            <p:nvPr/>
          </p:nvSpPr>
          <p:spPr bwMode="auto">
            <a:xfrm flipV="1">
              <a:off x="1565" y="1771"/>
              <a:ext cx="129" cy="363"/>
            </a:xfrm>
            <a:prstGeom prst="line">
              <a:avLst/>
            </a:prstGeom>
            <a:noFill/>
            <a:ln w="20638">
              <a:solidFill>
                <a:srgbClr val="FF6600"/>
              </a:solidFill>
              <a:round/>
              <a:headEnd/>
              <a:tailEnd/>
            </a:ln>
          </p:spPr>
          <p:txBody>
            <a:bodyPr/>
            <a:lstStyle/>
            <a:p>
              <a:endParaRPr lang="zh-CN" altLang="en-US"/>
            </a:p>
          </p:txBody>
        </p:sp>
        <p:sp>
          <p:nvSpPr>
            <p:cNvPr id="104468" name="Line 120"/>
            <p:cNvSpPr>
              <a:spLocks noChangeShapeType="1"/>
            </p:cNvSpPr>
            <p:nvPr/>
          </p:nvSpPr>
          <p:spPr bwMode="auto">
            <a:xfrm flipV="1">
              <a:off x="1694" y="1726"/>
              <a:ext cx="245" cy="72"/>
            </a:xfrm>
            <a:prstGeom prst="line">
              <a:avLst/>
            </a:prstGeom>
            <a:noFill/>
            <a:ln w="20638">
              <a:solidFill>
                <a:srgbClr val="FF6600"/>
              </a:solidFill>
              <a:round/>
              <a:headEnd/>
              <a:tailEnd/>
            </a:ln>
          </p:spPr>
          <p:txBody>
            <a:bodyPr/>
            <a:lstStyle/>
            <a:p>
              <a:endParaRPr lang="zh-CN" altLang="en-US"/>
            </a:p>
          </p:txBody>
        </p:sp>
        <p:sp>
          <p:nvSpPr>
            <p:cNvPr id="104469" name="Line 121"/>
            <p:cNvSpPr>
              <a:spLocks noChangeShapeType="1"/>
            </p:cNvSpPr>
            <p:nvPr/>
          </p:nvSpPr>
          <p:spPr bwMode="auto">
            <a:xfrm flipV="1">
              <a:off x="1939" y="1597"/>
              <a:ext cx="260" cy="129"/>
            </a:xfrm>
            <a:prstGeom prst="line">
              <a:avLst/>
            </a:prstGeom>
            <a:noFill/>
            <a:ln w="20638">
              <a:solidFill>
                <a:srgbClr val="FF6600"/>
              </a:solidFill>
              <a:round/>
              <a:headEnd/>
              <a:tailEnd/>
            </a:ln>
          </p:spPr>
          <p:txBody>
            <a:bodyPr/>
            <a:lstStyle/>
            <a:p>
              <a:endParaRPr lang="zh-CN" altLang="en-US"/>
            </a:p>
          </p:txBody>
        </p:sp>
        <p:sp>
          <p:nvSpPr>
            <p:cNvPr id="104470" name="Line 122"/>
            <p:cNvSpPr>
              <a:spLocks noChangeShapeType="1"/>
            </p:cNvSpPr>
            <p:nvPr/>
          </p:nvSpPr>
          <p:spPr bwMode="auto">
            <a:xfrm flipV="1">
              <a:off x="2199" y="1496"/>
              <a:ext cx="259" cy="101"/>
            </a:xfrm>
            <a:prstGeom prst="line">
              <a:avLst/>
            </a:prstGeom>
            <a:noFill/>
            <a:ln w="20638">
              <a:solidFill>
                <a:srgbClr val="FF6600"/>
              </a:solidFill>
              <a:round/>
              <a:headEnd/>
              <a:tailEnd/>
            </a:ln>
          </p:spPr>
          <p:txBody>
            <a:bodyPr/>
            <a:lstStyle/>
            <a:p>
              <a:endParaRPr lang="zh-CN" altLang="en-US"/>
            </a:p>
          </p:txBody>
        </p:sp>
        <p:sp>
          <p:nvSpPr>
            <p:cNvPr id="104471" name="Line 123"/>
            <p:cNvSpPr>
              <a:spLocks noChangeShapeType="1"/>
            </p:cNvSpPr>
            <p:nvPr/>
          </p:nvSpPr>
          <p:spPr bwMode="auto">
            <a:xfrm flipV="1">
              <a:off x="2472" y="1226"/>
              <a:ext cx="136" cy="270"/>
            </a:xfrm>
            <a:prstGeom prst="line">
              <a:avLst/>
            </a:prstGeom>
            <a:noFill/>
            <a:ln w="20638">
              <a:solidFill>
                <a:srgbClr val="FF6600"/>
              </a:solidFill>
              <a:round/>
              <a:headEnd/>
              <a:tailEnd/>
            </a:ln>
          </p:spPr>
          <p:txBody>
            <a:bodyPr/>
            <a:lstStyle/>
            <a:p>
              <a:endParaRPr lang="zh-CN" altLang="en-US"/>
            </a:p>
          </p:txBody>
        </p:sp>
        <p:sp>
          <p:nvSpPr>
            <p:cNvPr id="104472" name="Line 124"/>
            <p:cNvSpPr>
              <a:spLocks noChangeShapeType="1"/>
            </p:cNvSpPr>
            <p:nvPr/>
          </p:nvSpPr>
          <p:spPr bwMode="auto">
            <a:xfrm>
              <a:off x="2653" y="1226"/>
              <a:ext cx="306" cy="91"/>
            </a:xfrm>
            <a:prstGeom prst="line">
              <a:avLst/>
            </a:prstGeom>
            <a:noFill/>
            <a:ln w="20638">
              <a:solidFill>
                <a:srgbClr val="FF6600"/>
              </a:solidFill>
              <a:round/>
              <a:headEnd/>
              <a:tailEnd/>
            </a:ln>
          </p:spPr>
          <p:txBody>
            <a:bodyPr/>
            <a:lstStyle/>
            <a:p>
              <a:endParaRPr lang="zh-CN" altLang="en-US"/>
            </a:p>
          </p:txBody>
        </p:sp>
        <p:sp>
          <p:nvSpPr>
            <p:cNvPr id="104473" name="Line 125"/>
            <p:cNvSpPr>
              <a:spLocks noChangeShapeType="1"/>
            </p:cNvSpPr>
            <p:nvPr/>
          </p:nvSpPr>
          <p:spPr bwMode="auto">
            <a:xfrm flipV="1">
              <a:off x="2963" y="1195"/>
              <a:ext cx="259" cy="143"/>
            </a:xfrm>
            <a:prstGeom prst="line">
              <a:avLst/>
            </a:prstGeom>
            <a:noFill/>
            <a:ln w="20638">
              <a:solidFill>
                <a:srgbClr val="FF6600"/>
              </a:solidFill>
              <a:round/>
              <a:headEnd/>
              <a:tailEnd/>
            </a:ln>
          </p:spPr>
          <p:txBody>
            <a:bodyPr/>
            <a:lstStyle/>
            <a:p>
              <a:endParaRPr lang="zh-CN" altLang="en-US"/>
            </a:p>
          </p:txBody>
        </p:sp>
        <p:sp>
          <p:nvSpPr>
            <p:cNvPr id="104474" name="Line 126"/>
            <p:cNvSpPr>
              <a:spLocks noChangeShapeType="1"/>
            </p:cNvSpPr>
            <p:nvPr/>
          </p:nvSpPr>
          <p:spPr bwMode="auto">
            <a:xfrm>
              <a:off x="3222" y="1195"/>
              <a:ext cx="245" cy="1"/>
            </a:xfrm>
            <a:prstGeom prst="line">
              <a:avLst/>
            </a:prstGeom>
            <a:noFill/>
            <a:ln w="20638">
              <a:solidFill>
                <a:srgbClr val="FF6600"/>
              </a:solidFill>
              <a:round/>
              <a:headEnd/>
              <a:tailEnd/>
            </a:ln>
          </p:spPr>
          <p:txBody>
            <a:bodyPr/>
            <a:lstStyle/>
            <a:p>
              <a:endParaRPr lang="zh-CN" altLang="en-US"/>
            </a:p>
          </p:txBody>
        </p:sp>
        <p:sp>
          <p:nvSpPr>
            <p:cNvPr id="104475" name="Line 127"/>
            <p:cNvSpPr>
              <a:spLocks noChangeShapeType="1"/>
            </p:cNvSpPr>
            <p:nvPr/>
          </p:nvSpPr>
          <p:spPr bwMode="auto">
            <a:xfrm flipV="1">
              <a:off x="3467" y="1151"/>
              <a:ext cx="259" cy="44"/>
            </a:xfrm>
            <a:prstGeom prst="line">
              <a:avLst/>
            </a:prstGeom>
            <a:noFill/>
            <a:ln w="20638">
              <a:solidFill>
                <a:srgbClr val="FF6600"/>
              </a:solidFill>
              <a:round/>
              <a:headEnd/>
              <a:tailEnd/>
            </a:ln>
          </p:spPr>
          <p:txBody>
            <a:bodyPr/>
            <a:lstStyle/>
            <a:p>
              <a:endParaRPr lang="zh-CN" altLang="en-US"/>
            </a:p>
          </p:txBody>
        </p:sp>
        <p:sp>
          <p:nvSpPr>
            <p:cNvPr id="104476" name="Line 128"/>
            <p:cNvSpPr>
              <a:spLocks noChangeShapeType="1"/>
            </p:cNvSpPr>
            <p:nvPr/>
          </p:nvSpPr>
          <p:spPr bwMode="auto">
            <a:xfrm flipV="1">
              <a:off x="3726" y="1123"/>
              <a:ext cx="246" cy="28"/>
            </a:xfrm>
            <a:prstGeom prst="line">
              <a:avLst/>
            </a:prstGeom>
            <a:noFill/>
            <a:ln w="20638">
              <a:solidFill>
                <a:srgbClr val="FF6600"/>
              </a:solidFill>
              <a:round/>
              <a:headEnd/>
              <a:tailEnd/>
            </a:ln>
          </p:spPr>
          <p:txBody>
            <a:bodyPr/>
            <a:lstStyle/>
            <a:p>
              <a:endParaRPr lang="zh-CN" altLang="en-US"/>
            </a:p>
          </p:txBody>
        </p:sp>
        <p:sp>
          <p:nvSpPr>
            <p:cNvPr id="104477" name="Line 129"/>
            <p:cNvSpPr>
              <a:spLocks noChangeShapeType="1"/>
            </p:cNvSpPr>
            <p:nvPr/>
          </p:nvSpPr>
          <p:spPr bwMode="auto">
            <a:xfrm>
              <a:off x="3972" y="1123"/>
              <a:ext cx="259" cy="302"/>
            </a:xfrm>
            <a:prstGeom prst="line">
              <a:avLst/>
            </a:prstGeom>
            <a:noFill/>
            <a:ln w="20638">
              <a:solidFill>
                <a:srgbClr val="FF6600"/>
              </a:solidFill>
              <a:round/>
              <a:headEnd/>
              <a:tailEnd/>
            </a:ln>
          </p:spPr>
          <p:txBody>
            <a:bodyPr/>
            <a:lstStyle/>
            <a:p>
              <a:endParaRPr lang="zh-CN" altLang="en-US"/>
            </a:p>
          </p:txBody>
        </p:sp>
        <p:sp>
          <p:nvSpPr>
            <p:cNvPr id="104478" name="Line 130"/>
            <p:cNvSpPr>
              <a:spLocks noChangeShapeType="1"/>
            </p:cNvSpPr>
            <p:nvPr/>
          </p:nvSpPr>
          <p:spPr bwMode="auto">
            <a:xfrm>
              <a:off x="4241" y="1408"/>
              <a:ext cx="350" cy="38"/>
            </a:xfrm>
            <a:prstGeom prst="line">
              <a:avLst/>
            </a:prstGeom>
            <a:noFill/>
            <a:ln w="20638">
              <a:solidFill>
                <a:srgbClr val="FF6600"/>
              </a:solidFill>
              <a:round/>
              <a:headEnd/>
              <a:tailEnd/>
            </a:ln>
          </p:spPr>
          <p:txBody>
            <a:bodyPr/>
            <a:lstStyle/>
            <a:p>
              <a:endParaRPr lang="zh-CN" altLang="en-US"/>
            </a:p>
          </p:txBody>
        </p:sp>
        <p:sp>
          <p:nvSpPr>
            <p:cNvPr id="104479" name="Line 131"/>
            <p:cNvSpPr>
              <a:spLocks noChangeShapeType="1"/>
            </p:cNvSpPr>
            <p:nvPr/>
          </p:nvSpPr>
          <p:spPr bwMode="auto">
            <a:xfrm>
              <a:off x="4604" y="1453"/>
              <a:ext cx="110" cy="337"/>
            </a:xfrm>
            <a:prstGeom prst="line">
              <a:avLst/>
            </a:prstGeom>
            <a:noFill/>
            <a:ln w="20638">
              <a:solidFill>
                <a:srgbClr val="FF6600"/>
              </a:solidFill>
              <a:round/>
              <a:headEnd/>
              <a:tailEnd/>
            </a:ln>
          </p:spPr>
          <p:txBody>
            <a:bodyPr/>
            <a:lstStyle/>
            <a:p>
              <a:endParaRPr lang="zh-CN" altLang="en-US"/>
            </a:p>
          </p:txBody>
        </p:sp>
        <p:sp>
          <p:nvSpPr>
            <p:cNvPr id="104480" name="Line 132"/>
            <p:cNvSpPr>
              <a:spLocks noChangeShapeType="1"/>
            </p:cNvSpPr>
            <p:nvPr/>
          </p:nvSpPr>
          <p:spPr bwMode="auto">
            <a:xfrm>
              <a:off x="4736" y="1755"/>
              <a:ext cx="258" cy="58"/>
            </a:xfrm>
            <a:prstGeom prst="line">
              <a:avLst/>
            </a:prstGeom>
            <a:noFill/>
            <a:ln w="20638">
              <a:solidFill>
                <a:srgbClr val="FF6600"/>
              </a:solidFill>
              <a:round/>
              <a:headEnd/>
              <a:tailEnd/>
            </a:ln>
          </p:spPr>
          <p:txBody>
            <a:bodyPr/>
            <a:lstStyle/>
            <a:p>
              <a:endParaRPr lang="zh-CN" altLang="en-US"/>
            </a:p>
          </p:txBody>
        </p:sp>
        <p:sp>
          <p:nvSpPr>
            <p:cNvPr id="104481" name="Oval 133"/>
            <p:cNvSpPr>
              <a:spLocks noChangeArrowheads="1"/>
            </p:cNvSpPr>
            <p:nvPr/>
          </p:nvSpPr>
          <p:spPr bwMode="auto">
            <a:xfrm>
              <a:off x="1653" y="1755"/>
              <a:ext cx="68" cy="72"/>
            </a:xfrm>
            <a:prstGeom prst="ellipse">
              <a:avLst/>
            </a:prstGeom>
            <a:solidFill>
              <a:srgbClr val="FF00FF"/>
            </a:solidFill>
            <a:ln w="20638">
              <a:solidFill>
                <a:srgbClr val="FF6600"/>
              </a:solidFill>
              <a:round/>
              <a:headEnd/>
              <a:tailEnd/>
            </a:ln>
          </p:spPr>
          <p:txBody>
            <a:bodyPr/>
            <a:lstStyle/>
            <a:p>
              <a:endParaRPr lang="zh-CN" altLang="en-US"/>
            </a:p>
          </p:txBody>
        </p:sp>
        <p:sp>
          <p:nvSpPr>
            <p:cNvPr id="104482" name="Oval 134"/>
            <p:cNvSpPr>
              <a:spLocks noChangeArrowheads="1"/>
            </p:cNvSpPr>
            <p:nvPr/>
          </p:nvSpPr>
          <p:spPr bwMode="auto">
            <a:xfrm>
              <a:off x="1899" y="1683"/>
              <a:ext cx="68" cy="72"/>
            </a:xfrm>
            <a:prstGeom prst="ellipse">
              <a:avLst/>
            </a:prstGeom>
            <a:solidFill>
              <a:srgbClr val="FF00FF"/>
            </a:solidFill>
            <a:ln w="20638">
              <a:solidFill>
                <a:srgbClr val="FF6600"/>
              </a:solidFill>
              <a:round/>
              <a:headEnd/>
              <a:tailEnd/>
            </a:ln>
          </p:spPr>
          <p:txBody>
            <a:bodyPr/>
            <a:lstStyle/>
            <a:p>
              <a:endParaRPr lang="zh-CN" altLang="en-US"/>
            </a:p>
          </p:txBody>
        </p:sp>
        <p:sp>
          <p:nvSpPr>
            <p:cNvPr id="104483" name="Oval 135"/>
            <p:cNvSpPr>
              <a:spLocks noChangeArrowheads="1"/>
            </p:cNvSpPr>
            <p:nvPr/>
          </p:nvSpPr>
          <p:spPr bwMode="auto">
            <a:xfrm>
              <a:off x="2154" y="1544"/>
              <a:ext cx="68" cy="72"/>
            </a:xfrm>
            <a:prstGeom prst="ellipse">
              <a:avLst/>
            </a:prstGeom>
            <a:solidFill>
              <a:srgbClr val="FF00FF"/>
            </a:solidFill>
            <a:ln w="20638">
              <a:solidFill>
                <a:srgbClr val="FF6600"/>
              </a:solidFill>
              <a:round/>
              <a:headEnd/>
              <a:tailEnd/>
            </a:ln>
          </p:spPr>
          <p:txBody>
            <a:bodyPr/>
            <a:lstStyle/>
            <a:p>
              <a:endParaRPr lang="zh-CN" altLang="en-US"/>
            </a:p>
          </p:txBody>
        </p:sp>
        <p:sp>
          <p:nvSpPr>
            <p:cNvPr id="104484" name="Oval 136"/>
            <p:cNvSpPr>
              <a:spLocks noChangeArrowheads="1"/>
            </p:cNvSpPr>
            <p:nvPr/>
          </p:nvSpPr>
          <p:spPr bwMode="auto">
            <a:xfrm>
              <a:off x="2417" y="1453"/>
              <a:ext cx="68" cy="72"/>
            </a:xfrm>
            <a:prstGeom prst="ellipse">
              <a:avLst/>
            </a:prstGeom>
            <a:solidFill>
              <a:srgbClr val="FF00FF"/>
            </a:solidFill>
            <a:ln w="20638">
              <a:solidFill>
                <a:srgbClr val="FF6600"/>
              </a:solidFill>
              <a:round/>
              <a:headEnd/>
              <a:tailEnd/>
            </a:ln>
          </p:spPr>
          <p:txBody>
            <a:bodyPr/>
            <a:lstStyle/>
            <a:p>
              <a:endParaRPr lang="zh-CN" altLang="en-US"/>
            </a:p>
          </p:txBody>
        </p:sp>
        <p:sp>
          <p:nvSpPr>
            <p:cNvPr id="104485" name="Oval 137"/>
            <p:cNvSpPr>
              <a:spLocks noChangeArrowheads="1"/>
            </p:cNvSpPr>
            <p:nvPr/>
          </p:nvSpPr>
          <p:spPr bwMode="auto">
            <a:xfrm>
              <a:off x="2608" y="1181"/>
              <a:ext cx="68" cy="72"/>
            </a:xfrm>
            <a:prstGeom prst="ellipse">
              <a:avLst/>
            </a:prstGeom>
            <a:solidFill>
              <a:srgbClr val="FF00FF"/>
            </a:solidFill>
            <a:ln w="20638">
              <a:solidFill>
                <a:srgbClr val="FF6600"/>
              </a:solidFill>
              <a:round/>
              <a:headEnd/>
              <a:tailEnd/>
            </a:ln>
          </p:spPr>
          <p:txBody>
            <a:bodyPr/>
            <a:lstStyle/>
            <a:p>
              <a:endParaRPr lang="zh-CN" altLang="en-US"/>
            </a:p>
          </p:txBody>
        </p:sp>
        <p:sp>
          <p:nvSpPr>
            <p:cNvPr id="104486" name="Oval 138"/>
            <p:cNvSpPr>
              <a:spLocks noChangeArrowheads="1"/>
            </p:cNvSpPr>
            <p:nvPr/>
          </p:nvSpPr>
          <p:spPr bwMode="auto">
            <a:xfrm>
              <a:off x="2922" y="1295"/>
              <a:ext cx="68" cy="72"/>
            </a:xfrm>
            <a:prstGeom prst="ellipse">
              <a:avLst/>
            </a:prstGeom>
            <a:solidFill>
              <a:srgbClr val="FF00FF"/>
            </a:solidFill>
            <a:ln w="20638">
              <a:solidFill>
                <a:srgbClr val="FF6600"/>
              </a:solidFill>
              <a:round/>
              <a:headEnd/>
              <a:tailEnd/>
            </a:ln>
          </p:spPr>
          <p:txBody>
            <a:bodyPr/>
            <a:lstStyle/>
            <a:p>
              <a:endParaRPr lang="zh-CN" altLang="en-US"/>
            </a:p>
          </p:txBody>
        </p:sp>
        <p:sp>
          <p:nvSpPr>
            <p:cNvPr id="104487" name="Oval 139"/>
            <p:cNvSpPr>
              <a:spLocks noChangeArrowheads="1"/>
            </p:cNvSpPr>
            <p:nvPr/>
          </p:nvSpPr>
          <p:spPr bwMode="auto">
            <a:xfrm>
              <a:off x="3181" y="1151"/>
              <a:ext cx="68" cy="72"/>
            </a:xfrm>
            <a:prstGeom prst="ellipse">
              <a:avLst/>
            </a:prstGeom>
            <a:solidFill>
              <a:srgbClr val="FF00FF"/>
            </a:solidFill>
            <a:ln w="20638">
              <a:solidFill>
                <a:srgbClr val="FF6600"/>
              </a:solidFill>
              <a:round/>
              <a:headEnd/>
              <a:tailEnd/>
            </a:ln>
          </p:spPr>
          <p:txBody>
            <a:bodyPr/>
            <a:lstStyle/>
            <a:p>
              <a:endParaRPr lang="zh-CN" altLang="en-US"/>
            </a:p>
          </p:txBody>
        </p:sp>
        <p:sp>
          <p:nvSpPr>
            <p:cNvPr id="104488" name="Oval 140"/>
            <p:cNvSpPr>
              <a:spLocks noChangeArrowheads="1"/>
            </p:cNvSpPr>
            <p:nvPr/>
          </p:nvSpPr>
          <p:spPr bwMode="auto">
            <a:xfrm>
              <a:off x="3426" y="1151"/>
              <a:ext cx="68" cy="72"/>
            </a:xfrm>
            <a:prstGeom prst="ellipse">
              <a:avLst/>
            </a:prstGeom>
            <a:solidFill>
              <a:srgbClr val="FF00FF"/>
            </a:solidFill>
            <a:ln w="20638">
              <a:solidFill>
                <a:srgbClr val="FF6600"/>
              </a:solidFill>
              <a:round/>
              <a:headEnd/>
              <a:tailEnd/>
            </a:ln>
          </p:spPr>
          <p:txBody>
            <a:bodyPr/>
            <a:lstStyle/>
            <a:p>
              <a:endParaRPr lang="zh-CN" altLang="en-US"/>
            </a:p>
          </p:txBody>
        </p:sp>
        <p:sp>
          <p:nvSpPr>
            <p:cNvPr id="104489" name="Oval 141"/>
            <p:cNvSpPr>
              <a:spLocks noChangeArrowheads="1"/>
            </p:cNvSpPr>
            <p:nvPr/>
          </p:nvSpPr>
          <p:spPr bwMode="auto">
            <a:xfrm>
              <a:off x="3686" y="1108"/>
              <a:ext cx="68" cy="72"/>
            </a:xfrm>
            <a:prstGeom prst="ellipse">
              <a:avLst/>
            </a:prstGeom>
            <a:solidFill>
              <a:srgbClr val="FF00FF"/>
            </a:solidFill>
            <a:ln w="20638">
              <a:solidFill>
                <a:srgbClr val="FF6600"/>
              </a:solidFill>
              <a:round/>
              <a:headEnd/>
              <a:tailEnd/>
            </a:ln>
          </p:spPr>
          <p:txBody>
            <a:bodyPr/>
            <a:lstStyle/>
            <a:p>
              <a:endParaRPr lang="zh-CN" altLang="en-US"/>
            </a:p>
          </p:txBody>
        </p:sp>
        <p:sp>
          <p:nvSpPr>
            <p:cNvPr id="104490" name="Oval 142"/>
            <p:cNvSpPr>
              <a:spLocks noChangeArrowheads="1"/>
            </p:cNvSpPr>
            <p:nvPr/>
          </p:nvSpPr>
          <p:spPr bwMode="auto">
            <a:xfrm>
              <a:off x="3931" y="1080"/>
              <a:ext cx="68" cy="71"/>
            </a:xfrm>
            <a:prstGeom prst="ellipse">
              <a:avLst/>
            </a:prstGeom>
            <a:solidFill>
              <a:srgbClr val="FF00FF"/>
            </a:solidFill>
            <a:ln w="20638">
              <a:solidFill>
                <a:srgbClr val="FF6600"/>
              </a:solidFill>
              <a:round/>
              <a:headEnd/>
              <a:tailEnd/>
            </a:ln>
          </p:spPr>
          <p:txBody>
            <a:bodyPr/>
            <a:lstStyle/>
            <a:p>
              <a:endParaRPr lang="zh-CN" altLang="en-US"/>
            </a:p>
          </p:txBody>
        </p:sp>
        <p:sp>
          <p:nvSpPr>
            <p:cNvPr id="104491" name="Oval 143"/>
            <p:cNvSpPr>
              <a:spLocks noChangeArrowheads="1"/>
            </p:cNvSpPr>
            <p:nvPr/>
          </p:nvSpPr>
          <p:spPr bwMode="auto">
            <a:xfrm>
              <a:off x="4190" y="1381"/>
              <a:ext cx="68" cy="72"/>
            </a:xfrm>
            <a:prstGeom prst="ellipse">
              <a:avLst/>
            </a:prstGeom>
            <a:solidFill>
              <a:srgbClr val="FF00FF"/>
            </a:solidFill>
            <a:ln w="20638">
              <a:solidFill>
                <a:srgbClr val="FF6600"/>
              </a:solidFill>
              <a:round/>
              <a:headEnd/>
              <a:tailEnd/>
            </a:ln>
          </p:spPr>
          <p:txBody>
            <a:bodyPr/>
            <a:lstStyle/>
            <a:p>
              <a:endParaRPr lang="zh-CN" altLang="en-US"/>
            </a:p>
          </p:txBody>
        </p:sp>
        <p:sp>
          <p:nvSpPr>
            <p:cNvPr id="104492" name="Oval 144"/>
            <p:cNvSpPr>
              <a:spLocks noChangeArrowheads="1"/>
            </p:cNvSpPr>
            <p:nvPr/>
          </p:nvSpPr>
          <p:spPr bwMode="auto">
            <a:xfrm>
              <a:off x="4513" y="1408"/>
              <a:ext cx="68" cy="72"/>
            </a:xfrm>
            <a:prstGeom prst="ellipse">
              <a:avLst/>
            </a:prstGeom>
            <a:solidFill>
              <a:srgbClr val="FF00FF"/>
            </a:solidFill>
            <a:ln w="20638">
              <a:solidFill>
                <a:srgbClr val="FF6600"/>
              </a:solidFill>
              <a:round/>
              <a:headEnd/>
              <a:tailEnd/>
            </a:ln>
          </p:spPr>
          <p:txBody>
            <a:bodyPr/>
            <a:lstStyle/>
            <a:p>
              <a:endParaRPr lang="zh-CN" altLang="en-US"/>
            </a:p>
          </p:txBody>
        </p:sp>
        <p:sp>
          <p:nvSpPr>
            <p:cNvPr id="104493" name="Oval 145"/>
            <p:cNvSpPr>
              <a:spLocks noChangeArrowheads="1"/>
            </p:cNvSpPr>
            <p:nvPr/>
          </p:nvSpPr>
          <p:spPr bwMode="auto">
            <a:xfrm>
              <a:off x="4694" y="1712"/>
              <a:ext cx="69" cy="72"/>
            </a:xfrm>
            <a:prstGeom prst="ellipse">
              <a:avLst/>
            </a:prstGeom>
            <a:solidFill>
              <a:srgbClr val="FF00FF"/>
            </a:solidFill>
            <a:ln w="20638">
              <a:solidFill>
                <a:srgbClr val="FF6600"/>
              </a:solidFill>
              <a:round/>
              <a:headEnd/>
              <a:tailEnd/>
            </a:ln>
          </p:spPr>
          <p:txBody>
            <a:bodyPr/>
            <a:lstStyle/>
            <a:p>
              <a:endParaRPr lang="zh-CN" altLang="en-US"/>
            </a:p>
          </p:txBody>
        </p:sp>
        <p:sp>
          <p:nvSpPr>
            <p:cNvPr id="104494" name="Oval 146"/>
            <p:cNvSpPr>
              <a:spLocks noChangeArrowheads="1"/>
            </p:cNvSpPr>
            <p:nvPr/>
          </p:nvSpPr>
          <p:spPr bwMode="auto">
            <a:xfrm>
              <a:off x="4954" y="1770"/>
              <a:ext cx="68" cy="72"/>
            </a:xfrm>
            <a:prstGeom prst="ellipse">
              <a:avLst/>
            </a:prstGeom>
            <a:solidFill>
              <a:srgbClr val="FF00FF"/>
            </a:solidFill>
            <a:ln w="20638">
              <a:solidFill>
                <a:srgbClr val="FF6600"/>
              </a:solidFill>
              <a:round/>
              <a:headEnd/>
              <a:tailEnd/>
            </a:ln>
          </p:spPr>
          <p:txBody>
            <a:bodyPr/>
            <a:lstStyle/>
            <a:p>
              <a:endParaRPr lang="zh-CN" altLang="en-US"/>
            </a:p>
          </p:txBody>
        </p:sp>
        <p:sp>
          <p:nvSpPr>
            <p:cNvPr id="104495" name="Oval 147"/>
            <p:cNvSpPr>
              <a:spLocks noChangeArrowheads="1"/>
            </p:cNvSpPr>
            <p:nvPr/>
          </p:nvSpPr>
          <p:spPr bwMode="auto">
            <a:xfrm>
              <a:off x="1519" y="2088"/>
              <a:ext cx="68" cy="72"/>
            </a:xfrm>
            <a:prstGeom prst="ellipse">
              <a:avLst/>
            </a:prstGeom>
            <a:solidFill>
              <a:srgbClr val="FF00FF"/>
            </a:solidFill>
            <a:ln w="20638">
              <a:solidFill>
                <a:srgbClr val="FF6600"/>
              </a:solidFill>
              <a:round/>
              <a:headEnd/>
              <a:tailEnd/>
            </a:ln>
          </p:spPr>
          <p:txBody>
            <a:bodyPr/>
            <a:lstStyle/>
            <a:p>
              <a:endParaRPr lang="zh-CN" altLang="en-US"/>
            </a:p>
          </p:txBody>
        </p:sp>
      </p:grpSp>
      <p:sp>
        <p:nvSpPr>
          <p:cNvPr id="47253" name="Rectangle 149"/>
          <p:cNvSpPr>
            <a:spLocks noChangeArrowheads="1"/>
          </p:cNvSpPr>
          <p:nvPr/>
        </p:nvSpPr>
        <p:spPr bwMode="auto">
          <a:xfrm>
            <a:off x="1042988" y="1700213"/>
            <a:ext cx="7416800" cy="4465637"/>
          </a:xfrm>
          <a:prstGeom prst="rect">
            <a:avLst/>
          </a:prstGeom>
          <a:noFill/>
          <a:ln w="57150">
            <a:solidFill>
              <a:schemeClr val="hlink"/>
            </a:solidFill>
            <a:miter lim="800000"/>
            <a:headEnd/>
            <a:tailEnd/>
          </a:ln>
          <a:effectLst>
            <a:prstShdw prst="shdw17" dist="17961" dir="2700000">
              <a:schemeClr val="hlink">
                <a:gamma/>
                <a:shade val="60000"/>
                <a:invGamma/>
              </a:schemeClr>
            </a:prstShdw>
          </a:effectLst>
        </p:spPr>
        <p:txBody>
          <a:bodyPr wrap="none" anchor="ctr"/>
          <a:lstStyle/>
          <a:p>
            <a:pPr>
              <a:defRPr/>
            </a:pPr>
            <a:endParaRPr lang="zh-CN" altLang="en-US"/>
          </a:p>
        </p:txBody>
      </p:sp>
      <p:sp>
        <p:nvSpPr>
          <p:cNvPr id="104453" name="Rectangle 150"/>
          <p:cNvSpPr>
            <a:spLocks noGrp="1" noChangeArrowheads="1"/>
          </p:cNvSpPr>
          <p:nvPr>
            <p:ph type="title"/>
          </p:nvPr>
        </p:nvSpPr>
        <p:spPr>
          <a:xfrm>
            <a:off x="827584" y="476250"/>
            <a:ext cx="7586166" cy="1143000"/>
          </a:xfrm>
        </p:spPr>
        <p:txBody>
          <a:bodyPr lIns="90488" tIns="44450" rIns="90488" bIns="44450" anchor="ctr" anchorCtr="1"/>
          <a:lstStyle/>
          <a:p>
            <a:pPr eaLnBrk="1" hangingPunct="1"/>
            <a:r>
              <a:rPr lang="zh-CN" altLang="en-US" dirty="0" smtClean="0"/>
              <a:t>非线性趋势 </a:t>
            </a:r>
            <a:r>
              <a:rPr lang="en-US" altLang="zh-CN" sz="3000" dirty="0" smtClean="0"/>
              <a:t>(</a:t>
            </a:r>
            <a:r>
              <a:rPr lang="zh-CN" altLang="en-US" sz="3000" dirty="0" smtClean="0"/>
              <a:t>如二次曲线、指数曲线</a:t>
            </a:r>
            <a:r>
              <a:rPr lang="en-US" altLang="zh-CN" sz="3000" dirty="0" smtClean="0"/>
              <a:t>…)</a:t>
            </a:r>
          </a:p>
        </p:txBody>
      </p:sp>
      <p:sp>
        <p:nvSpPr>
          <p:cNvPr id="104454" name="日期占位符 46"/>
          <p:cNvSpPr>
            <a:spLocks noGrp="1"/>
          </p:cNvSpPr>
          <p:nvPr>
            <p:ph type="dt" sz="quarter" idx="10"/>
          </p:nvPr>
        </p:nvSpPr>
        <p:spPr>
          <a:noFill/>
        </p:spPr>
        <p:txBody>
          <a:bodyPr/>
          <a:lstStyle/>
          <a:p>
            <a:endParaRPr lang="en-US" altLang="zh-CN" smtClean="0"/>
          </a:p>
        </p:txBody>
      </p:sp>
    </p:spTree>
  </p:cSld>
  <p:clrMapOvr>
    <a:masterClrMapping/>
  </p:clrMapOvr>
  <p:transition>
    <p:wipe dir="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05475" name="Picture 8" descr="w041"/>
          <p:cNvPicPr>
            <a:picLocks noChangeAspect="1" noChangeArrowheads="1" noCrop="1"/>
          </p:cNvPicPr>
          <p:nvPr/>
        </p:nvPicPr>
        <p:blipFill>
          <a:blip r:embed="rId2" cstate="print">
            <a:clrChange>
              <a:clrFrom>
                <a:srgbClr val="FFFFFF"/>
              </a:clrFrom>
              <a:clrTo>
                <a:srgbClr val="FFFFFF">
                  <a:alpha val="0"/>
                </a:srgbClr>
              </a:clrTo>
            </a:clrChange>
          </a:blip>
          <a:srcRect/>
          <a:stretch>
            <a:fillRect/>
          </a:stretch>
        </p:blipFill>
        <p:spPr bwMode="auto">
          <a:xfrm>
            <a:off x="-180528" y="4509120"/>
            <a:ext cx="2376264" cy="1828974"/>
          </a:xfrm>
          <a:prstGeom prst="rect">
            <a:avLst/>
          </a:prstGeom>
          <a:noFill/>
          <a:ln w="9525">
            <a:noFill/>
            <a:miter lim="800000"/>
            <a:headEnd/>
            <a:tailEnd/>
          </a:ln>
        </p:spPr>
      </p:pic>
      <p:sp>
        <p:nvSpPr>
          <p:cNvPr id="105476" name="Rectangle 2"/>
          <p:cNvSpPr>
            <a:spLocks noGrp="1" noChangeArrowheads="1"/>
          </p:cNvSpPr>
          <p:nvPr>
            <p:ph type="title"/>
          </p:nvPr>
        </p:nvSpPr>
        <p:spPr>
          <a:xfrm>
            <a:off x="755650" y="260350"/>
            <a:ext cx="7772400" cy="1135063"/>
          </a:xfrm>
        </p:spPr>
        <p:txBody>
          <a:bodyPr/>
          <a:lstStyle/>
          <a:p>
            <a:pPr eaLnBrk="1" hangingPunct="1"/>
            <a:r>
              <a:rPr lang="en-US" altLang="zh-CN" sz="4000" dirty="0" smtClean="0">
                <a:latin typeface="Times New Roman" pitchFamily="18" charset="0"/>
              </a:rPr>
              <a:t>2. </a:t>
            </a:r>
            <a:r>
              <a:rPr lang="zh-CN" altLang="en-US" dirty="0" smtClean="0">
                <a:latin typeface="Times New Roman" pitchFamily="18" charset="0"/>
              </a:rPr>
              <a:t>季节变动</a:t>
            </a:r>
            <a:r>
              <a:rPr lang="zh-CN" altLang="en-US" sz="3600" dirty="0" smtClean="0">
                <a:latin typeface="Times New Roman" pitchFamily="18" charset="0"/>
              </a:rPr>
              <a:t> </a:t>
            </a:r>
            <a:r>
              <a:rPr lang="en-US" altLang="zh-CN" sz="3200" dirty="0" smtClean="0">
                <a:latin typeface="Times New Roman" pitchFamily="18" charset="0"/>
                <a:sym typeface="Wingdings" pitchFamily="2" charset="2"/>
              </a:rPr>
              <a:t>(</a:t>
            </a:r>
            <a:r>
              <a:rPr lang="en-US" altLang="zh-CN" sz="3200" b="0" dirty="0" smtClean="0">
                <a:solidFill>
                  <a:srgbClr val="FF0066"/>
                </a:solidFill>
                <a:latin typeface="Times New Roman" pitchFamily="18" charset="0"/>
                <a:sym typeface="Wingdings" pitchFamily="2" charset="2"/>
              </a:rPr>
              <a:t>S</a:t>
            </a:r>
            <a:r>
              <a:rPr lang="en-US" altLang="zh-CN" sz="3200" dirty="0" smtClean="0">
                <a:latin typeface="Times New Roman" pitchFamily="18" charset="0"/>
                <a:sym typeface="Wingdings" pitchFamily="2" charset="2"/>
              </a:rPr>
              <a:t>easonal Fluctuation )</a:t>
            </a:r>
            <a:endParaRPr lang="en-US" altLang="zh-CN" sz="3200" dirty="0" smtClean="0">
              <a:latin typeface="Times New Roman" pitchFamily="18" charset="0"/>
            </a:endParaRPr>
          </a:p>
        </p:txBody>
      </p:sp>
      <p:sp>
        <p:nvSpPr>
          <p:cNvPr id="49155" name="Rectangle 3"/>
          <p:cNvSpPr>
            <a:spLocks noGrp="1" noChangeArrowheads="1"/>
          </p:cNvSpPr>
          <p:nvPr>
            <p:ph type="body" idx="1"/>
          </p:nvPr>
        </p:nvSpPr>
        <p:spPr>
          <a:xfrm>
            <a:off x="1116013" y="1628775"/>
            <a:ext cx="7559675" cy="4679950"/>
          </a:xfrm>
        </p:spPr>
        <p:txBody>
          <a:bodyPr/>
          <a:lstStyle/>
          <a:p>
            <a:pPr marL="609600" indent="-609600" eaLnBrk="1" hangingPunct="1">
              <a:spcBef>
                <a:spcPct val="0"/>
              </a:spcBef>
            </a:pPr>
            <a:r>
              <a:rPr lang="zh-CN" altLang="en-US" sz="2800" dirty="0" smtClean="0">
                <a:solidFill>
                  <a:srgbClr val="000000"/>
                </a:solidFill>
                <a:latin typeface="宋体" pitchFamily="2" charset="-122"/>
              </a:rPr>
              <a:t>指现象以一定时期（如一年、一月、一周等）为一周期呈现较有规律的上升、下降交替运动，</a:t>
            </a:r>
            <a:r>
              <a:rPr lang="zh-CN" altLang="en-US" sz="2800" dirty="0" smtClean="0">
                <a:solidFill>
                  <a:srgbClr val="000000"/>
                </a:solidFill>
                <a:latin typeface="Times New Roman" pitchFamily="18" charset="0"/>
              </a:rPr>
              <a:t>有旺季和淡季之分。 </a:t>
            </a:r>
            <a:endParaRPr lang="en-US" altLang="zh-CN" sz="2800" dirty="0" smtClean="0">
              <a:solidFill>
                <a:srgbClr val="000000"/>
              </a:solidFill>
              <a:latin typeface="Times New Roman" pitchFamily="18" charset="0"/>
            </a:endParaRPr>
          </a:p>
          <a:p>
            <a:pPr marL="1219200" lvl="1" indent="-533400" algn="just" eaLnBrk="1" hangingPunct="1">
              <a:spcBef>
                <a:spcPct val="50000"/>
              </a:spcBef>
            </a:pPr>
            <a:r>
              <a:rPr lang="zh-CN" altLang="en-US" dirty="0" smtClean="0">
                <a:solidFill>
                  <a:schemeClr val="tx2"/>
                </a:solidFill>
                <a:latin typeface="Times New Roman" pitchFamily="18" charset="0"/>
              </a:rPr>
              <a:t>是一种周期性的变化；</a:t>
            </a:r>
          </a:p>
          <a:p>
            <a:pPr marL="1219200" lvl="1" indent="-533400" algn="just" eaLnBrk="1" hangingPunct="1">
              <a:spcBef>
                <a:spcPct val="50000"/>
              </a:spcBef>
            </a:pPr>
            <a:r>
              <a:rPr lang="zh-CN" altLang="en-US" dirty="0" smtClean="0">
                <a:solidFill>
                  <a:schemeClr val="tx2"/>
                </a:solidFill>
                <a:latin typeface="Times New Roman" pitchFamily="18" charset="0"/>
              </a:rPr>
              <a:t>周期长度等于（或小于）一年；</a:t>
            </a:r>
            <a:endParaRPr lang="en-US" altLang="zh-CN" dirty="0" smtClean="0">
              <a:solidFill>
                <a:schemeClr val="tx2"/>
              </a:solidFill>
              <a:latin typeface="Times New Roman" pitchFamily="18" charset="0"/>
            </a:endParaRPr>
          </a:p>
          <a:p>
            <a:pPr marL="1219200" lvl="1" indent="-533400" algn="just" eaLnBrk="1" hangingPunct="1">
              <a:spcBef>
                <a:spcPct val="50000"/>
              </a:spcBef>
            </a:pPr>
            <a:r>
              <a:rPr lang="zh-CN" altLang="en-US" dirty="0" smtClean="0">
                <a:solidFill>
                  <a:schemeClr val="tx2"/>
                </a:solidFill>
                <a:latin typeface="Times New Roman" pitchFamily="18" charset="0"/>
              </a:rPr>
              <a:t>形成原因</a:t>
            </a:r>
            <a:r>
              <a:rPr lang="en-US" altLang="zh-CN" dirty="0" smtClean="0">
                <a:solidFill>
                  <a:schemeClr val="tx2"/>
                </a:solidFill>
                <a:latin typeface="Times New Roman" pitchFamily="18" charset="0"/>
              </a:rPr>
              <a:t>——</a:t>
            </a:r>
            <a:r>
              <a:rPr lang="zh-CN" altLang="en-US" dirty="0" smtClean="0">
                <a:solidFill>
                  <a:schemeClr val="tx2"/>
                </a:solidFill>
                <a:latin typeface="Times New Roman" pitchFamily="18" charset="0"/>
              </a:rPr>
              <a:t>有自然的因素，也有人为因素。</a:t>
            </a:r>
          </a:p>
        </p:txBody>
      </p:sp>
      <p:sp>
        <p:nvSpPr>
          <p:cNvPr id="105478" name="日期占位符 5"/>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9155">
                                            <p:txEl>
                                              <p:pRg st="1" end="1"/>
                                            </p:txEl>
                                          </p:spTgt>
                                        </p:tgtEl>
                                        <p:attrNameLst>
                                          <p:attrName>style.visibility</p:attrName>
                                        </p:attrNameLst>
                                      </p:cBhvr>
                                      <p:to>
                                        <p:strVal val="visible"/>
                                      </p:to>
                                    </p:set>
                                    <p:anim calcmode="lin" valueType="num">
                                      <p:cBhvr additive="base">
                                        <p:cTn id="7" dur="500" fill="hold"/>
                                        <p:tgtEl>
                                          <p:spTgt spid="49155">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915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9155">
                                            <p:txEl>
                                              <p:pRg st="2" end="2"/>
                                            </p:txEl>
                                          </p:spTgt>
                                        </p:tgtEl>
                                        <p:attrNameLst>
                                          <p:attrName>style.visibility</p:attrName>
                                        </p:attrNameLst>
                                      </p:cBhvr>
                                      <p:to>
                                        <p:strVal val="visible"/>
                                      </p:to>
                                    </p:set>
                                    <p:anim calcmode="lin" valueType="num">
                                      <p:cBhvr additive="base">
                                        <p:cTn id="13" dur="500" fill="hold"/>
                                        <p:tgtEl>
                                          <p:spTgt spid="49155">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915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9155">
                                            <p:txEl>
                                              <p:pRg st="3" end="3"/>
                                            </p:txEl>
                                          </p:spTgt>
                                        </p:tgtEl>
                                        <p:attrNameLst>
                                          <p:attrName>style.visibility</p:attrName>
                                        </p:attrNameLst>
                                      </p:cBhvr>
                                      <p:to>
                                        <p:strVal val="visible"/>
                                      </p:to>
                                    </p:set>
                                    <p:anim calcmode="lin" valueType="num">
                                      <p:cBhvr additive="base">
                                        <p:cTn id="19" dur="500" fill="hold"/>
                                        <p:tgtEl>
                                          <p:spTgt spid="49155">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9155">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uild="p" bldLvl="3"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2"/>
          <p:cNvSpPr>
            <a:spLocks noGrp="1" noChangeArrowheads="1"/>
          </p:cNvSpPr>
          <p:nvPr>
            <p:ph type="title"/>
          </p:nvPr>
        </p:nvSpPr>
        <p:spPr/>
        <p:txBody>
          <a:bodyPr/>
          <a:lstStyle/>
          <a:p>
            <a:pPr eaLnBrk="1" hangingPunct="1"/>
            <a:r>
              <a:rPr lang="zh-CN" altLang="en-US" dirty="0" smtClean="0"/>
              <a:t>例</a:t>
            </a:r>
            <a:r>
              <a:rPr lang="zh-CN" altLang="en-US" sz="3600" dirty="0" smtClean="0">
                <a:solidFill>
                  <a:schemeClr val="tx1"/>
                </a:solidFill>
              </a:rPr>
              <a:t>（各月用电量）</a:t>
            </a:r>
            <a:endParaRPr lang="zh-CN" altLang="en-US" sz="3600" dirty="0" smtClean="0">
              <a:solidFill>
                <a:schemeClr val="tx1"/>
              </a:solidFill>
            </a:endParaRPr>
          </a:p>
        </p:txBody>
      </p:sp>
      <p:sp>
        <p:nvSpPr>
          <p:cNvPr id="32773" name="日期占位符 4"/>
          <p:cNvSpPr>
            <a:spLocks noGrp="1"/>
          </p:cNvSpPr>
          <p:nvPr>
            <p:ph type="dt" sz="quarter" idx="10"/>
          </p:nvPr>
        </p:nvSpPr>
        <p:spPr>
          <a:noFill/>
        </p:spPr>
        <p:txBody>
          <a:bodyPr/>
          <a:lstStyle/>
          <a:p>
            <a:endParaRPr lang="en-US" altLang="zh-CN" smtClean="0"/>
          </a:p>
        </p:txBody>
      </p:sp>
      <p:pic>
        <p:nvPicPr>
          <p:cNvPr id="3" name="图片 2"/>
          <p:cNvPicPr>
            <a:picLocks noChangeAspect="1"/>
          </p:cNvPicPr>
          <p:nvPr/>
        </p:nvPicPr>
        <p:blipFill>
          <a:blip r:embed="rId2"/>
          <a:stretch>
            <a:fillRect/>
          </a:stretch>
        </p:blipFill>
        <p:spPr>
          <a:xfrm>
            <a:off x="395537" y="1219200"/>
            <a:ext cx="8496944" cy="5148263"/>
          </a:xfrm>
          <a:prstGeom prst="rect">
            <a:avLst/>
          </a:prstGeom>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Rectangle 2"/>
          <p:cNvSpPr>
            <a:spLocks noGrp="1" noChangeArrowheads="1"/>
          </p:cNvSpPr>
          <p:nvPr>
            <p:ph type="title"/>
          </p:nvPr>
        </p:nvSpPr>
        <p:spPr>
          <a:xfrm>
            <a:off x="755650" y="476250"/>
            <a:ext cx="7772400" cy="1279525"/>
          </a:xfrm>
        </p:spPr>
        <p:txBody>
          <a:bodyPr/>
          <a:lstStyle/>
          <a:p>
            <a:pPr eaLnBrk="1" hangingPunct="1"/>
            <a:r>
              <a:rPr lang="en-US" altLang="zh-CN" sz="3600" dirty="0" smtClean="0">
                <a:latin typeface="宋体" pitchFamily="2" charset="-122"/>
              </a:rPr>
              <a:t>3.</a:t>
            </a:r>
            <a:r>
              <a:rPr lang="zh-CN" altLang="en-US" sz="3600" dirty="0" smtClean="0">
                <a:latin typeface="宋体" pitchFamily="2" charset="-122"/>
              </a:rPr>
              <a:t>循环变动 </a:t>
            </a:r>
            <a:r>
              <a:rPr lang="en-US" altLang="zh-CN" dirty="0" smtClean="0">
                <a:latin typeface="Times New Roman" pitchFamily="18" charset="0"/>
                <a:sym typeface="Wingdings" pitchFamily="2" charset="2"/>
              </a:rPr>
              <a:t>(</a:t>
            </a:r>
            <a:r>
              <a:rPr lang="en-US" altLang="zh-CN" dirty="0" smtClean="0">
                <a:solidFill>
                  <a:srgbClr val="FF00FF"/>
                </a:solidFill>
                <a:latin typeface="Times New Roman" pitchFamily="18" charset="0"/>
                <a:sym typeface="Wingdings" pitchFamily="2" charset="2"/>
              </a:rPr>
              <a:t>C</a:t>
            </a:r>
            <a:r>
              <a:rPr lang="en-US" altLang="zh-CN" dirty="0" smtClean="0">
                <a:latin typeface="Times New Roman" pitchFamily="18" charset="0"/>
                <a:sym typeface="Wingdings" pitchFamily="2" charset="2"/>
              </a:rPr>
              <a:t>yclical Fluctuation)</a:t>
            </a:r>
            <a:r>
              <a:rPr lang="en-US" altLang="zh-CN" sz="3600" dirty="0" smtClean="0">
                <a:latin typeface="宋体" pitchFamily="2" charset="-122"/>
              </a:rPr>
              <a:t> </a:t>
            </a:r>
          </a:p>
        </p:txBody>
      </p:sp>
      <p:sp>
        <p:nvSpPr>
          <p:cNvPr id="106500" name="Rectangle 3"/>
          <p:cNvSpPr>
            <a:spLocks noGrp="1" noChangeArrowheads="1"/>
          </p:cNvSpPr>
          <p:nvPr>
            <p:ph type="body" idx="1"/>
          </p:nvPr>
        </p:nvSpPr>
        <p:spPr>
          <a:xfrm>
            <a:off x="539750" y="2205038"/>
            <a:ext cx="8153400" cy="3816350"/>
          </a:xfrm>
        </p:spPr>
        <p:txBody>
          <a:bodyPr/>
          <a:lstStyle/>
          <a:p>
            <a:pPr marL="571500" indent="-571500" algn="just" eaLnBrk="1" hangingPunct="1">
              <a:lnSpc>
                <a:spcPct val="130000"/>
              </a:lnSpc>
            </a:pPr>
            <a:r>
              <a:rPr lang="en-US" altLang="zh-CN" sz="3600" smtClean="0">
                <a:solidFill>
                  <a:srgbClr val="000000"/>
                </a:solidFill>
                <a:latin typeface="Times New Roman" pitchFamily="18" charset="0"/>
              </a:rPr>
              <a:t>——</a:t>
            </a:r>
            <a:r>
              <a:rPr lang="zh-CN" altLang="en-US" sz="3600" smtClean="0">
                <a:solidFill>
                  <a:srgbClr val="000000"/>
                </a:solidFill>
                <a:latin typeface="宋体" pitchFamily="2" charset="-122"/>
              </a:rPr>
              <a:t>这种因素的影响使现象呈现出以若干年为一周期、涨落相间、扩张与紧缩、波峰与波谷相交替的波动</a:t>
            </a:r>
            <a:r>
              <a:rPr lang="zh-CN" altLang="en-US" smtClean="0">
                <a:solidFill>
                  <a:srgbClr val="000000"/>
                </a:solidFill>
                <a:latin typeface="宋体" pitchFamily="2" charset="-122"/>
              </a:rPr>
              <a:t>。</a:t>
            </a:r>
          </a:p>
        </p:txBody>
      </p:sp>
      <p:sp>
        <p:nvSpPr>
          <p:cNvPr id="106501" name="日期占位符 4"/>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灯片编号占位符 5"/>
          <p:cNvSpPr>
            <a:spLocks noGrp="1"/>
          </p:cNvSpPr>
          <p:nvPr>
            <p:ph type="sldNum" sz="quarter" idx="4294967295"/>
          </p:nvPr>
        </p:nvSpPr>
        <p:spPr>
          <a:xfrm>
            <a:off x="6988175" y="6308725"/>
            <a:ext cx="1905000" cy="457200"/>
          </a:xfrm>
          <a:prstGeom prst="rect">
            <a:avLst/>
          </a:prstGeom>
          <a:noFill/>
        </p:spPr>
        <p:txBody>
          <a:bodyPr/>
          <a:lstStyle/>
          <a:p>
            <a:r>
              <a:rPr lang="en-US" altLang="zh-CN" smtClean="0"/>
              <a:t>8--</a:t>
            </a:r>
            <a:fld id="{A6E4CA2E-F8E8-4ABA-BA7C-0ECCC0FBFD3C}" type="slidenum">
              <a:rPr lang="en-US" altLang="zh-CN" smtClean="0"/>
              <a:pPr/>
              <a:t>69</a:t>
            </a:fld>
            <a:endParaRPr lang="en-US" altLang="zh-CN" smtClean="0"/>
          </a:p>
        </p:txBody>
      </p:sp>
      <p:sp>
        <p:nvSpPr>
          <p:cNvPr id="107523" name="Rectangle 2"/>
          <p:cNvSpPr>
            <a:spLocks noGrp="1" noChangeArrowheads="1"/>
          </p:cNvSpPr>
          <p:nvPr>
            <p:ph type="title"/>
          </p:nvPr>
        </p:nvSpPr>
        <p:spPr/>
        <p:txBody>
          <a:bodyPr/>
          <a:lstStyle/>
          <a:p>
            <a:pPr eaLnBrk="1" hangingPunct="1"/>
            <a:r>
              <a:rPr lang="zh-CN" altLang="en-US" dirty="0" smtClean="0"/>
              <a:t>太阳黑子数目的变化</a:t>
            </a:r>
          </a:p>
        </p:txBody>
      </p:sp>
      <p:pic>
        <p:nvPicPr>
          <p:cNvPr id="107524" name="Picture 3"/>
          <p:cNvPicPr>
            <a:picLocks noGrp="1" noChangeAspect="1" noChangeArrowheads="1"/>
          </p:cNvPicPr>
          <p:nvPr>
            <p:ph idx="1"/>
          </p:nvPr>
        </p:nvPicPr>
        <p:blipFill>
          <a:blip r:embed="rId3" cstate="print"/>
          <a:srcRect/>
          <a:stretch>
            <a:fillRect/>
          </a:stretch>
        </p:blipFill>
        <p:spPr>
          <a:xfrm>
            <a:off x="82995" y="1152681"/>
            <a:ext cx="9144000" cy="5329237"/>
          </a:xfrm>
          <a:solidFill>
            <a:schemeClr val="accent1"/>
          </a:solidFill>
        </p:spPr>
      </p:pic>
      <p:sp>
        <p:nvSpPr>
          <p:cNvPr id="107525" name="日期占位符 4"/>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7" name="Rectangle 2"/>
          <p:cNvSpPr>
            <a:spLocks noGrp="1" noChangeArrowheads="1"/>
          </p:cNvSpPr>
          <p:nvPr>
            <p:ph type="title"/>
          </p:nvPr>
        </p:nvSpPr>
        <p:spPr>
          <a:xfrm>
            <a:off x="684213" y="765175"/>
            <a:ext cx="7772400" cy="1439863"/>
          </a:xfrm>
        </p:spPr>
        <p:txBody>
          <a:bodyPr/>
          <a:lstStyle/>
          <a:p>
            <a:pPr eaLnBrk="1" hangingPunct="1"/>
            <a:r>
              <a:rPr lang="zh-CN" altLang="en-US" dirty="0" smtClean="0">
                <a:latin typeface="Times New Roman" pitchFamily="18" charset="0"/>
              </a:rPr>
              <a:t>循环变动 </a:t>
            </a:r>
            <a:r>
              <a:rPr lang="en-US" altLang="zh-CN" dirty="0" smtClean="0">
                <a:solidFill>
                  <a:srgbClr val="FF00FF"/>
                </a:solidFill>
                <a:latin typeface="Times New Roman" pitchFamily="18" charset="0"/>
                <a:cs typeface="Times New Roman" pitchFamily="18" charset="0"/>
              </a:rPr>
              <a:t>C</a:t>
            </a:r>
            <a:br>
              <a:rPr lang="en-US" altLang="zh-CN" dirty="0" smtClean="0">
                <a:solidFill>
                  <a:srgbClr val="FF00FF"/>
                </a:solidFill>
                <a:latin typeface="Times New Roman" pitchFamily="18" charset="0"/>
                <a:cs typeface="Times New Roman" pitchFamily="18" charset="0"/>
              </a:rPr>
            </a:br>
            <a:r>
              <a:rPr lang="zh-CN" altLang="en-US" dirty="0" smtClean="0">
                <a:latin typeface="Times New Roman" pitchFamily="18" charset="0"/>
              </a:rPr>
              <a:t>与长期趋势 </a:t>
            </a:r>
            <a:r>
              <a:rPr lang="en-US" altLang="zh-CN" dirty="0" smtClean="0">
                <a:solidFill>
                  <a:srgbClr val="FF00FF"/>
                </a:solidFill>
                <a:latin typeface="Times New Roman" pitchFamily="18" charset="0"/>
                <a:cs typeface="Times New Roman" pitchFamily="18" charset="0"/>
              </a:rPr>
              <a:t>T </a:t>
            </a:r>
            <a:r>
              <a:rPr lang="zh-CN" altLang="en-US" dirty="0" smtClean="0">
                <a:latin typeface="Times New Roman" pitchFamily="18" charset="0"/>
              </a:rPr>
              <a:t>的异同</a:t>
            </a:r>
            <a:endParaRPr lang="zh-CN" altLang="en-US" dirty="0" smtClean="0">
              <a:latin typeface="Times New Roman" pitchFamily="18" charset="0"/>
              <a:cs typeface="Times New Roman" pitchFamily="18" charset="0"/>
            </a:endParaRPr>
          </a:p>
        </p:txBody>
      </p:sp>
      <p:sp>
        <p:nvSpPr>
          <p:cNvPr id="108548" name="Rectangle 3"/>
          <p:cNvSpPr>
            <a:spLocks noGrp="1" noChangeArrowheads="1"/>
          </p:cNvSpPr>
          <p:nvPr>
            <p:ph type="body" idx="1"/>
          </p:nvPr>
        </p:nvSpPr>
        <p:spPr>
          <a:xfrm>
            <a:off x="1042988" y="2492375"/>
            <a:ext cx="7416800" cy="3581400"/>
          </a:xfrm>
        </p:spPr>
        <p:txBody>
          <a:bodyPr/>
          <a:lstStyle/>
          <a:p>
            <a:pPr marL="971550" lvl="1" algn="just" eaLnBrk="1" hangingPunct="1">
              <a:lnSpc>
                <a:spcPct val="130000"/>
              </a:lnSpc>
              <a:buFontTx/>
              <a:buNone/>
            </a:pPr>
            <a:r>
              <a:rPr lang="zh-CN" altLang="en-US" smtClean="0">
                <a:solidFill>
                  <a:srgbClr val="FF00FF"/>
                </a:solidFill>
                <a:latin typeface="Times New Roman" pitchFamily="18" charset="0"/>
              </a:rPr>
              <a:t>同</a:t>
            </a:r>
            <a:r>
              <a:rPr lang="zh-CN" altLang="en-US" smtClean="0">
                <a:latin typeface="Times New Roman" pitchFamily="18" charset="0"/>
              </a:rPr>
              <a:t>：都是现象在相当长时间内呈现出的规律性；</a:t>
            </a:r>
          </a:p>
          <a:p>
            <a:pPr marL="971550" lvl="1" algn="just" eaLnBrk="1" hangingPunct="1">
              <a:lnSpc>
                <a:spcPct val="130000"/>
              </a:lnSpc>
              <a:buFontTx/>
              <a:buNone/>
            </a:pPr>
            <a:r>
              <a:rPr lang="zh-CN" altLang="en-US" smtClean="0">
                <a:solidFill>
                  <a:srgbClr val="FF00FF"/>
                </a:solidFill>
                <a:latin typeface="Times New Roman" pitchFamily="18" charset="0"/>
              </a:rPr>
              <a:t>异：</a:t>
            </a:r>
            <a:endParaRPr lang="zh-CN" altLang="en-US" smtClean="0">
              <a:solidFill>
                <a:srgbClr val="FF00FF"/>
              </a:solidFill>
              <a:latin typeface="Times New Roman" pitchFamily="18" charset="0"/>
              <a:cs typeface="Times New Roman" pitchFamily="18" charset="0"/>
            </a:endParaRPr>
          </a:p>
          <a:p>
            <a:pPr marL="971550" lvl="1" algn="just" eaLnBrk="1" hangingPunct="1">
              <a:lnSpc>
                <a:spcPct val="130000"/>
              </a:lnSpc>
            </a:pPr>
            <a:r>
              <a:rPr lang="en-US" altLang="zh-CN" smtClean="0">
                <a:latin typeface="Times New Roman" pitchFamily="18" charset="0"/>
                <a:cs typeface="Times New Roman" pitchFamily="18" charset="0"/>
              </a:rPr>
              <a:t>T</a:t>
            </a:r>
            <a:r>
              <a:rPr lang="zh-CN" altLang="en-US" smtClean="0">
                <a:latin typeface="Times New Roman" pitchFamily="18" charset="0"/>
              </a:rPr>
              <a:t>表现为单一方向的持续变动，</a:t>
            </a:r>
          </a:p>
          <a:p>
            <a:pPr marL="971550" lvl="1" algn="just" eaLnBrk="1" hangingPunct="1">
              <a:lnSpc>
                <a:spcPct val="130000"/>
              </a:lnSpc>
            </a:pPr>
            <a:r>
              <a:rPr lang="en-US" altLang="zh-CN" smtClean="0">
                <a:latin typeface="Times New Roman" pitchFamily="18" charset="0"/>
                <a:cs typeface="Times New Roman" pitchFamily="18" charset="0"/>
              </a:rPr>
              <a:t>C</a:t>
            </a:r>
            <a:r>
              <a:rPr lang="zh-CN" altLang="en-US" smtClean="0">
                <a:latin typeface="Times New Roman" pitchFamily="18" charset="0"/>
              </a:rPr>
              <a:t>表现为波浪式的涨落交替的变动。</a:t>
            </a:r>
            <a:endParaRPr lang="zh-CN" altLang="en-US" smtClean="0"/>
          </a:p>
        </p:txBody>
      </p:sp>
      <p:sp>
        <p:nvSpPr>
          <p:cNvPr id="108549" name="日期占位符 4"/>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Rectangle 2"/>
          <p:cNvSpPr>
            <a:spLocks noGrp="1" noChangeArrowheads="1"/>
          </p:cNvSpPr>
          <p:nvPr>
            <p:ph type="title"/>
          </p:nvPr>
        </p:nvSpPr>
        <p:spPr>
          <a:xfrm>
            <a:off x="827584" y="332656"/>
            <a:ext cx="7772400" cy="935955"/>
          </a:xfrm>
        </p:spPr>
        <p:txBody>
          <a:bodyPr/>
          <a:lstStyle/>
          <a:p>
            <a:pPr eaLnBrk="1" hangingPunct="1"/>
            <a:r>
              <a:rPr lang="zh-CN" altLang="en-US" sz="4000" dirty="0" smtClean="0">
                <a:latin typeface="Times New Roman" pitchFamily="18" charset="0"/>
              </a:rPr>
              <a:t>循环变动与季节变动</a:t>
            </a:r>
            <a:r>
              <a:rPr lang="en-US" altLang="zh-CN" sz="4000" dirty="0" smtClean="0">
                <a:solidFill>
                  <a:srgbClr val="FF00FF"/>
                </a:solidFill>
                <a:latin typeface="Times New Roman" pitchFamily="18" charset="0"/>
                <a:cs typeface="Times New Roman" pitchFamily="18" charset="0"/>
              </a:rPr>
              <a:t> </a:t>
            </a:r>
            <a:r>
              <a:rPr lang="zh-CN" altLang="en-US" sz="4000" dirty="0" smtClean="0">
                <a:latin typeface="Times New Roman" pitchFamily="18" charset="0"/>
              </a:rPr>
              <a:t>的比较</a:t>
            </a:r>
          </a:p>
        </p:txBody>
      </p:sp>
      <p:graphicFrame>
        <p:nvGraphicFramePr>
          <p:cNvPr id="53289" name="Group 41"/>
          <p:cNvGraphicFramePr>
            <a:graphicFrameLocks noGrp="1"/>
          </p:cNvGraphicFramePr>
          <p:nvPr>
            <p:extLst>
              <p:ext uri="{D42A27DB-BD31-4B8C-83A1-F6EECF244321}">
                <p14:modId xmlns:p14="http://schemas.microsoft.com/office/powerpoint/2010/main" val="4242221627"/>
              </p:ext>
            </p:extLst>
          </p:nvPr>
        </p:nvGraphicFramePr>
        <p:xfrm>
          <a:off x="251520" y="1490413"/>
          <a:ext cx="8437438" cy="4550869"/>
        </p:xfrm>
        <a:graphic>
          <a:graphicData uri="http://schemas.openxmlformats.org/drawingml/2006/table">
            <a:tbl>
              <a:tblPr/>
              <a:tblGrid>
                <a:gridCol w="552008">
                  <a:extLst>
                    <a:ext uri="{9D8B030D-6E8A-4147-A177-3AD203B41FA5}">
                      <a16:colId xmlns:a16="http://schemas.microsoft.com/office/drawing/2014/main" val="20000"/>
                    </a:ext>
                  </a:extLst>
                </a:gridCol>
                <a:gridCol w="2400320">
                  <a:extLst>
                    <a:ext uri="{9D8B030D-6E8A-4147-A177-3AD203B41FA5}">
                      <a16:colId xmlns:a16="http://schemas.microsoft.com/office/drawing/2014/main" val="20001"/>
                    </a:ext>
                  </a:extLst>
                </a:gridCol>
                <a:gridCol w="2808312">
                  <a:extLst>
                    <a:ext uri="{9D8B030D-6E8A-4147-A177-3AD203B41FA5}">
                      <a16:colId xmlns:a16="http://schemas.microsoft.com/office/drawing/2014/main" val="20002"/>
                    </a:ext>
                  </a:extLst>
                </a:gridCol>
                <a:gridCol w="2676798">
                  <a:extLst>
                    <a:ext uri="{9D8B030D-6E8A-4147-A177-3AD203B41FA5}">
                      <a16:colId xmlns:a16="http://schemas.microsoft.com/office/drawing/2014/main" val="20003"/>
                    </a:ext>
                  </a:extLst>
                </a:gridCol>
              </a:tblGrid>
              <a:tr h="648072">
                <a:tc gridSpan="2">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endParaRPr kumimoji="0" lang="zh-CN" altLang="en-US" sz="3200" b="1" i="0" u="none" strike="noStrike" cap="none" normalizeH="0" baseline="0" dirty="0" smtClean="0">
                        <a:ln>
                          <a:noFill/>
                        </a:ln>
                        <a:noFill/>
                        <a:effectLst/>
                        <a:latin typeface="Tahoma" pitchFamily="34" charset="0"/>
                        <a:ea typeface="宋体" pitchFamily="2" charset="-122"/>
                      </a:endParaRP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endParaRPr kumimoji="0" lang="zh-CN" altLang="en-US" sz="3200" b="1" i="0" u="none" strike="noStrike" cap="none" normalizeH="0" baseline="0" dirty="0" smtClean="0">
                        <a:ln>
                          <a:noFill/>
                        </a:ln>
                        <a:solidFill>
                          <a:srgbClr val="CC0099"/>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3200" b="1" i="0" u="none" strike="noStrike" cap="none" normalizeH="0" baseline="0" dirty="0" smtClean="0">
                          <a:ln>
                            <a:noFill/>
                          </a:ln>
                          <a:solidFill>
                            <a:srgbClr val="FF0066"/>
                          </a:solidFill>
                          <a:effectLst/>
                          <a:latin typeface="Times New Roman" pitchFamily="18" charset="0"/>
                          <a:ea typeface="宋体" pitchFamily="2" charset="-122"/>
                        </a:rPr>
                        <a:t>季节变动</a:t>
                      </a:r>
                      <a:r>
                        <a:rPr kumimoji="0" lang="en-US" altLang="zh-CN" sz="3200" b="1" i="0" u="none" strike="noStrike" cap="none" normalizeH="0" baseline="0" dirty="0" smtClean="0">
                          <a:ln>
                            <a:noFill/>
                          </a:ln>
                          <a:solidFill>
                            <a:srgbClr val="FF0066"/>
                          </a:solidFill>
                          <a:effectLst/>
                          <a:latin typeface="Times New Roman" pitchFamily="18" charset="0"/>
                          <a:ea typeface="宋体" pitchFamily="2" charset="-122"/>
                          <a:cs typeface="Times New Roman" pitchFamily="18" charset="0"/>
                        </a:rPr>
                        <a:t>S</a:t>
                      </a:r>
                      <a:endParaRPr kumimoji="0" lang="en-US" altLang="zh-CN" sz="3200" b="1" i="0" u="none" strike="noStrike" cap="none" normalizeH="0" baseline="0" dirty="0" smtClean="0">
                        <a:ln>
                          <a:noFill/>
                        </a:ln>
                        <a:solidFill>
                          <a:srgbClr val="FF0066"/>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3200" b="1" i="0" u="none" strike="noStrike" cap="none" normalizeH="0" baseline="0" dirty="0" smtClean="0">
                          <a:ln>
                            <a:noFill/>
                          </a:ln>
                          <a:solidFill>
                            <a:srgbClr val="FF0066"/>
                          </a:solidFill>
                          <a:effectLst/>
                          <a:latin typeface="Times New Roman" pitchFamily="18" charset="0"/>
                          <a:ea typeface="宋体" pitchFamily="2" charset="-122"/>
                        </a:rPr>
                        <a:t>循环变动</a:t>
                      </a:r>
                      <a:r>
                        <a:rPr kumimoji="0" lang="en-US" altLang="zh-CN" sz="3200" b="1" i="0" u="none" strike="noStrike" cap="none" normalizeH="0" baseline="0" dirty="0" smtClean="0">
                          <a:ln>
                            <a:noFill/>
                          </a:ln>
                          <a:solidFill>
                            <a:srgbClr val="FF0066"/>
                          </a:solidFill>
                          <a:effectLst/>
                          <a:latin typeface="Times New Roman" pitchFamily="18" charset="0"/>
                          <a:ea typeface="宋体" pitchFamily="2" charset="-122"/>
                          <a:cs typeface="Times New Roman" pitchFamily="18" charset="0"/>
                        </a:rPr>
                        <a:t>C</a:t>
                      </a:r>
                      <a:endParaRPr kumimoji="0" lang="en-US" altLang="zh-CN" sz="3200" b="1" i="0" u="none" strike="noStrike" cap="none" normalizeH="0" baseline="0" dirty="0" smtClean="0">
                        <a:ln>
                          <a:noFill/>
                        </a:ln>
                        <a:solidFill>
                          <a:srgbClr val="FF0066"/>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720080">
                <a:tc gridSpan="2">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2800" b="1" i="0" u="none" strike="noStrike" kern="1200" cap="none" normalizeH="0" baseline="0" dirty="0" smtClean="0">
                          <a:ln>
                            <a:noFill/>
                          </a:ln>
                          <a:solidFill>
                            <a:schemeClr val="tx1"/>
                          </a:solidFill>
                          <a:effectLst/>
                          <a:latin typeface="Times New Roman" pitchFamily="18" charset="0"/>
                          <a:ea typeface="宋体" pitchFamily="2" charset="-122"/>
                          <a:cs typeface="+mn-cs"/>
                        </a:rPr>
                        <a:t>  </a:t>
                      </a:r>
                      <a:r>
                        <a:rPr kumimoji="0" lang="zh-CN" altLang="en-US" sz="2800" b="1" i="0" u="none" strike="noStrike" kern="1200" cap="none" normalizeH="0" baseline="0" dirty="0" smtClean="0">
                          <a:ln>
                            <a:noFill/>
                          </a:ln>
                          <a:solidFill>
                            <a:srgbClr val="C00000"/>
                          </a:solidFill>
                          <a:effectLst/>
                          <a:latin typeface="Times New Roman" pitchFamily="18" charset="0"/>
                          <a:ea typeface="宋体" pitchFamily="2" charset="-122"/>
                          <a:cs typeface="+mn-cs"/>
                        </a:rPr>
                        <a:t>相 同</a:t>
                      </a:r>
                      <a:endParaRPr kumimoji="0" lang="zh-CN" altLang="en-US" sz="2800" b="1" i="0" u="none" strike="noStrike" kern="1200" cap="none" normalizeH="0" baseline="0" dirty="0" smtClean="0">
                        <a:ln>
                          <a:noFill/>
                        </a:ln>
                        <a:solidFill>
                          <a:srgbClr val="C00000"/>
                        </a:solidFill>
                        <a:effectLst/>
                        <a:latin typeface="Times New Roman" pitchFamily="18" charset="0"/>
                        <a:ea typeface="宋体" pitchFamily="2" charset="-122"/>
                        <a:cs typeface="+mn-cs"/>
                      </a:endParaRPr>
                    </a:p>
                  </a:txBody>
                  <a:tcPr marL="0" marR="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c hMerge="1">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endParaRPr kumimoji="0" lang="zh-CN" altLang="en-US" sz="3200" b="1" i="0" u="none" strike="noStrike" cap="none" normalizeH="0" baseline="0" dirty="0" smtClean="0">
                        <a:ln>
                          <a:noFill/>
                        </a:ln>
                        <a:solidFill>
                          <a:srgbClr val="CC0099"/>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2800" b="1" i="0" u="none" strike="noStrike" cap="none" normalizeH="0" baseline="0" dirty="0" smtClean="0">
                          <a:ln>
                            <a:noFill/>
                          </a:ln>
                          <a:solidFill>
                            <a:srgbClr val="C00000"/>
                          </a:solidFill>
                          <a:effectLst/>
                          <a:latin typeface="Tahoma" pitchFamily="34" charset="0"/>
                          <a:ea typeface="宋体" pitchFamily="2" charset="-122"/>
                        </a:rPr>
                        <a:t>周期性波动</a:t>
                      </a:r>
                      <a:endParaRPr kumimoji="0" lang="en-US" altLang="zh-CN" sz="2800" b="1" i="0" u="none" strike="noStrike" cap="none" normalizeH="0" baseline="0" dirty="0" smtClean="0">
                        <a:ln>
                          <a:noFill/>
                        </a:ln>
                        <a:solidFill>
                          <a:srgbClr val="C00000"/>
                        </a:solidFill>
                        <a:effectLst/>
                        <a:latin typeface="Tahoma" pitchFamily="34"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defRPr/>
                      </a:pPr>
                      <a:r>
                        <a:rPr kumimoji="0" lang="zh-CN" altLang="en-US" sz="2800" b="1" i="0" u="none" strike="noStrike" cap="none" normalizeH="0" baseline="0" dirty="0" smtClean="0">
                          <a:ln>
                            <a:noFill/>
                          </a:ln>
                          <a:solidFill>
                            <a:srgbClr val="C00000"/>
                          </a:solidFill>
                          <a:effectLst/>
                          <a:latin typeface="Tahoma" pitchFamily="34" charset="0"/>
                          <a:ea typeface="宋体" pitchFamily="2" charset="-122"/>
                        </a:rPr>
                        <a:t>周期性波动</a:t>
                      </a:r>
                      <a:endParaRPr kumimoji="0" lang="en-US" altLang="zh-CN" sz="2800" b="1" i="0" u="none" strike="noStrike" cap="none" normalizeH="0" baseline="0" dirty="0" smtClean="0">
                        <a:ln>
                          <a:noFill/>
                        </a:ln>
                        <a:solidFill>
                          <a:srgbClr val="C00000"/>
                        </a:solidFill>
                        <a:effectLst/>
                        <a:latin typeface="Tahoma" pitchFamily="34"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extLst>
                  <a:ext uri="{0D108BD9-81ED-4DB2-BD59-A6C34878D82A}">
                    <a16:rowId xmlns:a16="http://schemas.microsoft.com/office/drawing/2014/main" val="10001"/>
                  </a:ext>
                </a:extLst>
              </a:tr>
              <a:tr h="606351">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cap="none" normalizeH="0" baseline="0" dirty="0" smtClean="0">
                          <a:ln>
                            <a:noFill/>
                          </a:ln>
                          <a:solidFill>
                            <a:srgbClr val="002060"/>
                          </a:solidFill>
                          <a:effectLst/>
                          <a:latin typeface="Times New Roman" pitchFamily="18" charset="0"/>
                          <a:ea typeface="宋体" pitchFamily="2" charset="-122"/>
                        </a:rPr>
                        <a:t>区      别</a:t>
                      </a:r>
                      <a:endParaRPr lang="zh-CN" altLang="en-US" sz="2800" dirty="0">
                        <a:solidFill>
                          <a:srgbClr val="002060"/>
                        </a:solidFill>
                      </a:endParaRPr>
                    </a:p>
                  </a:txBody>
                  <a:tcPr marL="0" marR="0" marT="46800" marB="46800" vert="eaVert"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0" lang="zh-CN" altLang="en-US" sz="2400" b="1" i="0" u="none" strike="noStrike" cap="none" normalizeH="0" baseline="0" dirty="0" smtClean="0">
                          <a:ln>
                            <a:noFill/>
                          </a:ln>
                          <a:solidFill>
                            <a:srgbClr val="002060"/>
                          </a:solidFill>
                          <a:effectLst/>
                          <a:latin typeface="Times New Roman" pitchFamily="18" charset="0"/>
                          <a:ea typeface="宋体" pitchFamily="2" charset="-122"/>
                        </a:rPr>
                        <a:t>周期长度</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800" b="1" i="0" u="none" strike="noStrike" cap="none" normalizeH="0" baseline="0" dirty="0" smtClean="0">
                          <a:ln>
                            <a:noFill/>
                          </a:ln>
                          <a:solidFill>
                            <a:srgbClr val="0070C0"/>
                          </a:solidFill>
                          <a:effectLst/>
                          <a:latin typeface="宋体" pitchFamily="2" charset="-122"/>
                          <a:ea typeface="宋体" pitchFamily="2" charset="-122"/>
                        </a:rPr>
                        <a:t>≤ </a:t>
                      </a:r>
                      <a:r>
                        <a:rPr kumimoji="0" lang="en-US" altLang="zh-CN" sz="2800" b="1" i="0" u="none" strike="noStrike" cap="none" normalizeH="0" baseline="0" dirty="0" smtClean="0">
                          <a:ln>
                            <a:noFill/>
                          </a:ln>
                          <a:solidFill>
                            <a:srgbClr val="0070C0"/>
                          </a:solidFill>
                          <a:effectLst/>
                          <a:latin typeface="Times New Roman" pitchFamily="18" charset="0"/>
                          <a:ea typeface="宋体" pitchFamily="2" charset="-122"/>
                          <a:cs typeface="Times New Roman" pitchFamily="18" charset="0"/>
                        </a:rPr>
                        <a:t>1</a:t>
                      </a:r>
                      <a:r>
                        <a:rPr kumimoji="0" lang="zh-CN" altLang="en-US" sz="2800" b="1" i="0" u="none" strike="noStrike" cap="none" normalizeH="0" baseline="0" dirty="0" smtClean="0">
                          <a:ln>
                            <a:noFill/>
                          </a:ln>
                          <a:solidFill>
                            <a:srgbClr val="0070C0"/>
                          </a:solidFill>
                          <a:effectLst/>
                          <a:latin typeface="Times New Roman" pitchFamily="18" charset="0"/>
                          <a:ea typeface="宋体" pitchFamily="2" charset="-122"/>
                        </a:rPr>
                        <a:t>年</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800" b="1" i="0" u="none" strike="noStrike" cap="none" normalizeH="0" baseline="0" dirty="0" smtClean="0">
                          <a:ln>
                            <a:noFill/>
                          </a:ln>
                          <a:solidFill>
                            <a:srgbClr val="0070C0"/>
                          </a:solidFill>
                          <a:effectLst/>
                          <a:latin typeface="Times New Roman" pitchFamily="18" charset="0"/>
                          <a:ea typeface="宋体" pitchFamily="2" charset="-122"/>
                        </a:rPr>
                        <a:t>&gt; </a:t>
                      </a:r>
                      <a:r>
                        <a:rPr kumimoji="0" lang="en-US" altLang="zh-CN" sz="2800" b="1" i="0" u="none" strike="noStrike" cap="none" normalizeH="0" baseline="0" dirty="0" smtClean="0">
                          <a:ln>
                            <a:noFill/>
                          </a:ln>
                          <a:solidFill>
                            <a:srgbClr val="0070C0"/>
                          </a:solidFill>
                          <a:effectLst/>
                          <a:latin typeface="Times New Roman" pitchFamily="18" charset="0"/>
                          <a:ea typeface="宋体" pitchFamily="2" charset="-122"/>
                          <a:cs typeface="Times New Roman" pitchFamily="18" charset="0"/>
                        </a:rPr>
                        <a:t>1 </a:t>
                      </a:r>
                      <a:r>
                        <a:rPr kumimoji="0" lang="zh-CN" altLang="en-US" sz="2800" b="1" i="0" u="none" strike="noStrike" cap="none" normalizeH="0" baseline="0" dirty="0" smtClean="0">
                          <a:ln>
                            <a:noFill/>
                          </a:ln>
                          <a:solidFill>
                            <a:srgbClr val="0070C0"/>
                          </a:solidFill>
                          <a:effectLst/>
                          <a:latin typeface="Times New Roman" pitchFamily="18" charset="0"/>
                          <a:ea typeface="宋体" pitchFamily="2" charset="-122"/>
                        </a:rPr>
                        <a:t>年</a:t>
                      </a:r>
                      <a:endParaRPr kumimoji="0" lang="zh-CN" altLang="en-US" sz="2800" b="1" i="0" u="none" strike="noStrike" cap="none" normalizeH="0" baseline="0" dirty="0" smtClean="0">
                        <a:ln>
                          <a:noFill/>
                        </a:ln>
                        <a:solidFill>
                          <a:srgbClr val="0070C0"/>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2"/>
                  </a:ext>
                </a:extLst>
              </a:tr>
              <a:tr h="1201033">
                <a:tc vMerge="1">
                  <a:txBody>
                    <a:bodyPr/>
                    <a:lstStyle/>
                    <a:p>
                      <a:endParaRPr lang="zh-CN" altLang="en-US" dirty="0"/>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0" lang="zh-CN" altLang="en-US" sz="2400" b="1" i="0" u="none" strike="noStrike" cap="none" normalizeH="0" baseline="0" dirty="0" smtClean="0">
                          <a:ln>
                            <a:noFill/>
                          </a:ln>
                          <a:solidFill>
                            <a:srgbClr val="002060"/>
                          </a:solidFill>
                          <a:effectLst/>
                          <a:latin typeface="Times New Roman" pitchFamily="18" charset="0"/>
                          <a:ea typeface="宋体" pitchFamily="2" charset="-122"/>
                        </a:rPr>
                        <a:t>规律性</a:t>
                      </a:r>
                    </a:p>
                    <a:p>
                      <a:pPr marL="0" marR="0" lvl="0" indent="0" algn="l" defTabSz="914400" rtl="0" eaLnBrk="1" fontAlgn="base" latinLnBrk="0" hangingPunct="1">
                        <a:lnSpc>
                          <a:spcPct val="100000"/>
                        </a:lnSpc>
                        <a:spcBef>
                          <a:spcPct val="20000"/>
                        </a:spcBef>
                        <a:spcAft>
                          <a:spcPct val="0"/>
                        </a:spcAft>
                        <a:buClrTx/>
                        <a:buSzPct val="90000"/>
                        <a:buFontTx/>
                        <a:buNone/>
                        <a:tabLst/>
                      </a:pPr>
                      <a:r>
                        <a:rPr kumimoji="0" lang="zh-CN" altLang="en-US" sz="2400" b="1" i="0" u="none" strike="noStrike" cap="none" normalizeH="0" baseline="0" dirty="0" smtClean="0">
                          <a:ln>
                            <a:noFill/>
                          </a:ln>
                          <a:solidFill>
                            <a:srgbClr val="002060"/>
                          </a:solidFill>
                          <a:effectLst/>
                          <a:latin typeface="Times New Roman" pitchFamily="18" charset="0"/>
                          <a:ea typeface="宋体" pitchFamily="2" charset="-122"/>
                        </a:rPr>
                        <a:t>（周期长度、波形、波幅等）</a:t>
                      </a:r>
                      <a:endParaRPr kumimoji="0" lang="zh-CN" altLang="en-US" sz="2400" b="1" i="0" u="none" strike="noStrike" cap="none" normalizeH="0" baseline="0" dirty="0" smtClean="0">
                        <a:ln>
                          <a:noFill/>
                        </a:ln>
                        <a:solidFill>
                          <a:srgbClr val="002060"/>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endParaRPr kumimoji="0" lang="en-US" altLang="zh-CN" sz="2800" b="1" i="0" u="none" strike="noStrike" cap="none" normalizeH="0" baseline="0" dirty="0" smtClean="0">
                        <a:ln>
                          <a:noFill/>
                        </a:ln>
                        <a:solidFill>
                          <a:srgbClr val="0070C0"/>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2800" b="1" i="0" u="none" strike="noStrike" cap="none" normalizeH="0" baseline="0" dirty="0" smtClean="0">
                          <a:ln>
                            <a:noFill/>
                          </a:ln>
                          <a:solidFill>
                            <a:srgbClr val="0070C0"/>
                          </a:solidFill>
                          <a:effectLst/>
                          <a:latin typeface="Times New Roman" pitchFamily="18" charset="0"/>
                          <a:ea typeface="宋体" pitchFamily="2" charset="-122"/>
                        </a:rPr>
                        <a:t>稳定</a:t>
                      </a:r>
                      <a:endParaRPr kumimoji="0" lang="zh-CN" altLang="en-US" sz="2800" b="1" i="0" u="none" strike="noStrike" cap="none" normalizeH="0" baseline="0" dirty="0" smtClean="0">
                        <a:ln>
                          <a:noFill/>
                        </a:ln>
                        <a:solidFill>
                          <a:srgbClr val="0070C0"/>
                        </a:solidFill>
                        <a:effectLst/>
                        <a:latin typeface="Tahoma"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endParaRPr kumimoji="0" lang="en-US" altLang="zh-CN" sz="2800" b="1" i="0" u="none" strike="noStrike" cap="none" normalizeH="0" baseline="0" dirty="0" smtClean="0">
                        <a:ln>
                          <a:noFill/>
                        </a:ln>
                        <a:solidFill>
                          <a:srgbClr val="0070C0"/>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2800" b="1" i="0" u="none" strike="noStrike" cap="none" normalizeH="0" baseline="0" dirty="0" smtClean="0">
                          <a:ln>
                            <a:noFill/>
                          </a:ln>
                          <a:solidFill>
                            <a:srgbClr val="0070C0"/>
                          </a:solidFill>
                          <a:effectLst/>
                          <a:latin typeface="Times New Roman" pitchFamily="18" charset="0"/>
                          <a:ea typeface="宋体" pitchFamily="2" charset="-122"/>
                        </a:rPr>
                        <a:t>不稳定</a:t>
                      </a:r>
                      <a:endParaRPr kumimoji="0" lang="zh-CN" altLang="en-US" sz="2800" b="1" i="0" u="none" strike="noStrike" cap="none" normalizeH="0" baseline="0" dirty="0" smtClean="0">
                        <a:ln>
                          <a:noFill/>
                        </a:ln>
                        <a:solidFill>
                          <a:srgbClr val="0070C0"/>
                        </a:solidFill>
                        <a:effectLst/>
                        <a:latin typeface="Times New Roman" pitchFamily="18" charset="0"/>
                        <a:ea typeface="宋体" pitchFamily="2" charset="-122"/>
                        <a:cs typeface="Times New Roman" pitchFamily="18" charset="0"/>
                      </a:endParaRP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3"/>
                  </a:ext>
                </a:extLst>
              </a:tr>
              <a:tr h="585073">
                <a:tc vMerge="1">
                  <a:txBody>
                    <a:bodyPr/>
                    <a:lstStyle/>
                    <a:p>
                      <a:endParaRPr lang="zh-CN" altLang="en-US" dirty="0"/>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0" lang="zh-CN" altLang="en-US" sz="2400" b="1" i="0" u="none" strike="noStrike" cap="none" normalizeH="0" baseline="0" dirty="0" smtClean="0">
                          <a:ln>
                            <a:noFill/>
                          </a:ln>
                          <a:solidFill>
                            <a:srgbClr val="002060"/>
                          </a:solidFill>
                          <a:effectLst/>
                          <a:latin typeface="Times New Roman" pitchFamily="18" charset="0"/>
                          <a:ea typeface="宋体" pitchFamily="2" charset="-122"/>
                        </a:rPr>
                        <a:t>形成原因</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2800" b="1" i="0" u="none" strike="noStrike" cap="none" normalizeH="0" baseline="0" smtClean="0">
                          <a:ln>
                            <a:noFill/>
                          </a:ln>
                          <a:solidFill>
                            <a:srgbClr val="0070C0"/>
                          </a:solidFill>
                          <a:effectLst/>
                          <a:latin typeface="Times New Roman" pitchFamily="18" charset="0"/>
                          <a:ea typeface="宋体" pitchFamily="2" charset="-122"/>
                        </a:rPr>
                        <a:t>较固定、直观</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2800" b="1" i="0" u="none" strike="noStrike" cap="none" normalizeH="0" baseline="0" dirty="0" smtClean="0">
                          <a:ln>
                            <a:noFill/>
                          </a:ln>
                          <a:solidFill>
                            <a:srgbClr val="0070C0"/>
                          </a:solidFill>
                          <a:effectLst/>
                          <a:latin typeface="Times New Roman" pitchFamily="18" charset="0"/>
                          <a:ea typeface="宋体" pitchFamily="2" charset="-122"/>
                        </a:rPr>
                        <a:t>不固定、复杂</a:t>
                      </a:r>
                      <a:endParaRPr kumimoji="0" lang="zh-CN" altLang="en-US" sz="2400" b="1" i="0" u="none" strike="noStrike" cap="none" normalizeH="0" baseline="0" dirty="0" smtClean="0">
                        <a:ln>
                          <a:noFill/>
                        </a:ln>
                        <a:solidFill>
                          <a:srgbClr val="0070C0"/>
                        </a:solidFill>
                        <a:effectLst/>
                        <a:latin typeface="Times New Roman" pitchFamily="18"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4"/>
                  </a:ext>
                </a:extLst>
              </a:tr>
              <a:tr h="727261">
                <a:tc vMerge="1">
                  <a:txBody>
                    <a:bodyPr/>
                    <a:lstStyle/>
                    <a:p>
                      <a:endParaRPr lang="zh-CN" altLang="en-US" dirty="0"/>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0" lang="zh-CN" altLang="en-US" sz="2400" b="1" i="0" u="none" strike="noStrike" cap="none" normalizeH="0" baseline="0" dirty="0" smtClean="0">
                          <a:ln>
                            <a:noFill/>
                          </a:ln>
                          <a:solidFill>
                            <a:srgbClr val="002060"/>
                          </a:solidFill>
                          <a:effectLst/>
                          <a:latin typeface="Times New Roman" pitchFamily="18" charset="0"/>
                          <a:ea typeface="宋体" pitchFamily="2" charset="-122"/>
                        </a:rPr>
                        <a:t>模型的识别</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2800" b="1" i="0" u="none" strike="noStrike" cap="none" normalizeH="0" baseline="0" smtClean="0">
                          <a:ln>
                            <a:noFill/>
                          </a:ln>
                          <a:solidFill>
                            <a:srgbClr val="0070C0"/>
                          </a:solidFill>
                          <a:effectLst/>
                          <a:latin typeface="Times New Roman" pitchFamily="18" charset="0"/>
                          <a:ea typeface="宋体" pitchFamily="2" charset="-122"/>
                        </a:rPr>
                        <a:t>容易</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2800" b="1" i="0" u="none" strike="noStrike" cap="none" normalizeH="0" baseline="0" dirty="0" smtClean="0">
                          <a:ln>
                            <a:noFill/>
                          </a:ln>
                          <a:solidFill>
                            <a:srgbClr val="0070C0"/>
                          </a:solidFill>
                          <a:effectLst/>
                          <a:latin typeface="Times New Roman" pitchFamily="18" charset="0"/>
                          <a:ea typeface="宋体" pitchFamily="2" charset="-122"/>
                        </a:rPr>
                        <a:t>困难</a:t>
                      </a:r>
                      <a:endParaRPr kumimoji="0" lang="zh-CN" altLang="en-US" sz="2400" b="1" i="0" u="none" strike="noStrike" cap="none" normalizeH="0" baseline="0" dirty="0" smtClean="0">
                        <a:ln>
                          <a:noFill/>
                        </a:ln>
                        <a:solidFill>
                          <a:srgbClr val="0070C0"/>
                        </a:solidFill>
                        <a:effectLst/>
                        <a:latin typeface="Times New Roman" pitchFamily="18"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5"/>
                  </a:ext>
                </a:extLst>
              </a:tr>
            </a:tbl>
          </a:graphicData>
        </a:graphic>
      </p:graphicFrame>
      <p:sp>
        <p:nvSpPr>
          <p:cNvPr id="109598" name="日期占位符 4"/>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Rectangle 2"/>
          <p:cNvSpPr>
            <a:spLocks noGrp="1" noChangeArrowheads="1"/>
          </p:cNvSpPr>
          <p:nvPr>
            <p:ph type="title"/>
          </p:nvPr>
        </p:nvSpPr>
        <p:spPr>
          <a:xfrm>
            <a:off x="827088" y="549275"/>
            <a:ext cx="7772400" cy="1295400"/>
          </a:xfrm>
        </p:spPr>
        <p:txBody>
          <a:bodyPr/>
          <a:lstStyle/>
          <a:p>
            <a:pPr eaLnBrk="1" hangingPunct="1"/>
            <a:r>
              <a:rPr lang="en-US" altLang="zh-CN" dirty="0" smtClean="0">
                <a:latin typeface="Times New Roman" pitchFamily="18" charset="0"/>
                <a:sym typeface="Wingdings" pitchFamily="2" charset="2"/>
              </a:rPr>
              <a:t>4. </a:t>
            </a:r>
            <a:r>
              <a:rPr lang="zh-CN" altLang="en-US" dirty="0" smtClean="0">
                <a:latin typeface="Times New Roman" pitchFamily="18" charset="0"/>
                <a:sym typeface="Wingdings" pitchFamily="2" charset="2"/>
              </a:rPr>
              <a:t>不规则变动 </a:t>
            </a:r>
            <a:br>
              <a:rPr lang="zh-CN" altLang="en-US" dirty="0" smtClean="0">
                <a:latin typeface="Times New Roman" pitchFamily="18" charset="0"/>
                <a:sym typeface="Wingdings" pitchFamily="2" charset="2"/>
              </a:rPr>
            </a:br>
            <a:r>
              <a:rPr lang="en-US" altLang="zh-CN" dirty="0" smtClean="0">
                <a:latin typeface="Times New Roman" pitchFamily="18" charset="0"/>
                <a:sym typeface="Wingdings" pitchFamily="2" charset="2"/>
              </a:rPr>
              <a:t>( </a:t>
            </a:r>
            <a:r>
              <a:rPr lang="en-US" altLang="zh-CN" dirty="0" smtClean="0">
                <a:solidFill>
                  <a:srgbClr val="FF00FF"/>
                </a:solidFill>
                <a:latin typeface="Times New Roman" pitchFamily="18" charset="0"/>
                <a:sym typeface="Wingdings" pitchFamily="2" charset="2"/>
              </a:rPr>
              <a:t>I</a:t>
            </a:r>
            <a:r>
              <a:rPr lang="en-US" altLang="zh-CN" dirty="0" smtClean="0">
                <a:latin typeface="Times New Roman" pitchFamily="18" charset="0"/>
                <a:sym typeface="Wingdings" pitchFamily="2" charset="2"/>
              </a:rPr>
              <a:t>rregular Variations )</a:t>
            </a:r>
            <a:endParaRPr lang="en-US" altLang="zh-CN" dirty="0" smtClean="0">
              <a:latin typeface="Times New Roman" pitchFamily="18" charset="0"/>
            </a:endParaRPr>
          </a:p>
        </p:txBody>
      </p:sp>
      <p:sp>
        <p:nvSpPr>
          <p:cNvPr id="54275" name="Rectangle 3"/>
          <p:cNvSpPr>
            <a:spLocks noGrp="1" noChangeArrowheads="1"/>
          </p:cNvSpPr>
          <p:nvPr>
            <p:ph type="body" idx="1"/>
          </p:nvPr>
        </p:nvSpPr>
        <p:spPr>
          <a:xfrm>
            <a:off x="251520" y="1909763"/>
            <a:ext cx="8610600" cy="4392612"/>
          </a:xfrm>
        </p:spPr>
        <p:txBody>
          <a:bodyPr/>
          <a:lstStyle/>
          <a:p>
            <a:pPr marL="609600" indent="-609600" algn="just" eaLnBrk="1" hangingPunct="1">
              <a:lnSpc>
                <a:spcPct val="115000"/>
              </a:lnSpc>
            </a:pPr>
            <a:r>
              <a:rPr lang="zh-CN" altLang="en-US" sz="2800" dirty="0" smtClean="0">
                <a:solidFill>
                  <a:srgbClr val="000000"/>
                </a:solidFill>
                <a:latin typeface="Times New Roman" pitchFamily="18" charset="0"/>
              </a:rPr>
              <a:t>包括随机变动和突然变动。</a:t>
            </a:r>
          </a:p>
          <a:p>
            <a:pPr marL="609600" indent="-609600" algn="just" eaLnBrk="1" hangingPunct="1">
              <a:lnSpc>
                <a:spcPct val="115000"/>
              </a:lnSpc>
            </a:pPr>
            <a:r>
              <a:rPr lang="zh-CN" altLang="en-US" sz="2800" dirty="0" smtClean="0">
                <a:latin typeface="Times New Roman" pitchFamily="18" charset="0"/>
              </a:rPr>
              <a:t>随机变动（</a:t>
            </a:r>
            <a:r>
              <a:rPr lang="en-US" altLang="zh-CN" sz="2800" dirty="0" smtClean="0">
                <a:latin typeface="Times New Roman" pitchFamily="18" charset="0"/>
              </a:rPr>
              <a:t>disturbance</a:t>
            </a:r>
            <a:r>
              <a:rPr lang="zh-CN" altLang="en-US" sz="2800" dirty="0" smtClean="0">
                <a:latin typeface="Times New Roman" pitchFamily="18" charset="0"/>
              </a:rPr>
              <a:t>）</a:t>
            </a:r>
            <a:r>
              <a:rPr lang="en-US" altLang="zh-CN" sz="2800" dirty="0" smtClean="0">
                <a:solidFill>
                  <a:srgbClr val="000000"/>
                </a:solidFill>
                <a:latin typeface="Times New Roman" pitchFamily="18" charset="0"/>
              </a:rPr>
              <a:t>—</a:t>
            </a:r>
            <a:r>
              <a:rPr lang="zh-CN" altLang="en-US" sz="2800" dirty="0" smtClean="0">
                <a:solidFill>
                  <a:srgbClr val="000000"/>
                </a:solidFill>
                <a:latin typeface="Times New Roman" pitchFamily="18" charset="0"/>
              </a:rPr>
              <a:t>现象受到各种偶然因素影响而呈现出方向不定、时起时伏、时大时小的变动</a:t>
            </a:r>
            <a:endParaRPr lang="zh-CN" altLang="en-US" sz="1800" dirty="0" smtClean="0">
              <a:solidFill>
                <a:srgbClr val="000000"/>
              </a:solidFill>
              <a:latin typeface="Times New Roman" pitchFamily="18" charset="0"/>
            </a:endParaRPr>
          </a:p>
          <a:p>
            <a:pPr marL="609600" indent="-609600" algn="just" eaLnBrk="1" hangingPunct="1">
              <a:lnSpc>
                <a:spcPct val="115000"/>
              </a:lnSpc>
            </a:pPr>
            <a:r>
              <a:rPr lang="zh-CN" altLang="en-US" sz="2800" dirty="0" smtClean="0">
                <a:latin typeface="Times New Roman" pitchFamily="18" charset="0"/>
              </a:rPr>
              <a:t>突然变动</a:t>
            </a:r>
            <a:r>
              <a:rPr lang="en-US" altLang="zh-CN" sz="2800" dirty="0" smtClean="0">
                <a:latin typeface="Times New Roman" pitchFamily="18" charset="0"/>
              </a:rPr>
              <a:t>(</a:t>
            </a:r>
            <a:r>
              <a:rPr lang="zh-CN" altLang="en-US" sz="2400" dirty="0" smtClean="0">
                <a:latin typeface="Times New Roman" pitchFamily="18" charset="0"/>
              </a:rPr>
              <a:t>异常变动</a:t>
            </a:r>
            <a:r>
              <a:rPr lang="en-US" altLang="zh-CN" sz="2400" dirty="0" smtClean="0">
                <a:latin typeface="Times New Roman" pitchFamily="18" charset="0"/>
              </a:rPr>
              <a:t>)</a:t>
            </a:r>
            <a:r>
              <a:rPr lang="en-US" altLang="zh-CN" sz="2800" dirty="0" smtClean="0">
                <a:solidFill>
                  <a:srgbClr val="000000"/>
                </a:solidFill>
                <a:latin typeface="Times New Roman" pitchFamily="18" charset="0"/>
              </a:rPr>
              <a:t>—</a:t>
            </a:r>
            <a:r>
              <a:rPr lang="zh-CN" altLang="en-US" sz="2800" dirty="0" smtClean="0">
                <a:solidFill>
                  <a:srgbClr val="000000"/>
                </a:solidFill>
                <a:latin typeface="Times New Roman" pitchFamily="18" charset="0"/>
              </a:rPr>
              <a:t>战争、自然灾害或其它社会因素等意外事件引起的变动。影响作用无法相互抵消，影响幅度很大。</a:t>
            </a:r>
          </a:p>
          <a:p>
            <a:pPr marL="685800" lvl="1" indent="0" algn="just" eaLnBrk="1" hangingPunct="1">
              <a:lnSpc>
                <a:spcPct val="115000"/>
              </a:lnSpc>
              <a:buNone/>
            </a:pPr>
            <a:r>
              <a:rPr lang="zh-CN" altLang="en-US" sz="2600" dirty="0" smtClean="0">
                <a:solidFill>
                  <a:srgbClr val="0070C0"/>
                </a:solidFill>
                <a:latin typeface="Times New Roman" pitchFamily="18" charset="0"/>
              </a:rPr>
              <a:t>一般只讨论有随机波动而不含突然异常变动的情况。</a:t>
            </a:r>
          </a:p>
        </p:txBody>
      </p:sp>
      <p:sp>
        <p:nvSpPr>
          <p:cNvPr id="110597" name="日期占位符 4"/>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4275">
                                            <p:txEl>
                                              <p:pRg st="1" end="1"/>
                                            </p:txEl>
                                          </p:spTgt>
                                        </p:tgtEl>
                                        <p:attrNameLst>
                                          <p:attrName>style.visibility</p:attrName>
                                        </p:attrNameLst>
                                      </p:cBhvr>
                                      <p:to>
                                        <p:strVal val="visible"/>
                                      </p:to>
                                    </p:set>
                                    <p:animEffect transition="in" filter="wipe(down)">
                                      <p:cBhvr>
                                        <p:cTn id="7" dur="500"/>
                                        <p:tgtEl>
                                          <p:spTgt spid="5427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4275">
                                            <p:txEl>
                                              <p:pRg st="2" end="2"/>
                                            </p:txEl>
                                          </p:spTgt>
                                        </p:tgtEl>
                                        <p:attrNameLst>
                                          <p:attrName>style.visibility</p:attrName>
                                        </p:attrNameLst>
                                      </p:cBhvr>
                                      <p:to>
                                        <p:strVal val="visible"/>
                                      </p:to>
                                    </p:set>
                                    <p:animEffect transition="in" filter="wipe(down)">
                                      <p:cBhvr>
                                        <p:cTn id="12" dur="500"/>
                                        <p:tgtEl>
                                          <p:spTgt spid="54275">
                                            <p:txEl>
                                              <p:pRg st="2" end="2"/>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54275">
                                            <p:txEl>
                                              <p:pRg st="3" end="3"/>
                                            </p:txEl>
                                          </p:spTgt>
                                        </p:tgtEl>
                                        <p:attrNameLst>
                                          <p:attrName>style.visibility</p:attrName>
                                        </p:attrNameLst>
                                      </p:cBhvr>
                                      <p:to>
                                        <p:strVal val="visible"/>
                                      </p:to>
                                    </p:set>
                                    <p:animEffect transition="in" filter="wipe(down)">
                                      <p:cBhvr>
                                        <p:cTn id="15" dur="500"/>
                                        <p:tgtEl>
                                          <p:spTgt spid="5427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Rectangle 2"/>
          <p:cNvSpPr>
            <a:spLocks noGrp="1" noChangeArrowheads="1"/>
          </p:cNvSpPr>
          <p:nvPr>
            <p:ph type="title"/>
          </p:nvPr>
        </p:nvSpPr>
        <p:spPr>
          <a:xfrm>
            <a:off x="1082675" y="404813"/>
            <a:ext cx="7377113" cy="730250"/>
          </a:xfrm>
        </p:spPr>
        <p:txBody>
          <a:bodyPr/>
          <a:lstStyle/>
          <a:p>
            <a:pPr eaLnBrk="1" hangingPunct="1"/>
            <a:r>
              <a:rPr lang="zh-CN" altLang="en-US" sz="3200" dirty="0" smtClean="0"/>
              <a:t>时间数列</a:t>
            </a:r>
            <a:r>
              <a:rPr lang="en-US" altLang="zh-CN" sz="3200" dirty="0" smtClean="0">
                <a:latin typeface="Arial" charset="0"/>
              </a:rPr>
              <a:t>——</a:t>
            </a:r>
            <a:r>
              <a:rPr lang="zh-CN" altLang="en-US" sz="3200" dirty="0" smtClean="0">
                <a:solidFill>
                  <a:srgbClr val="FF0066"/>
                </a:solidFill>
              </a:rPr>
              <a:t>哪几种</a:t>
            </a:r>
            <a:r>
              <a:rPr lang="zh-CN" altLang="en-US" sz="3200" dirty="0" smtClean="0"/>
              <a:t>成分的共同作用？</a:t>
            </a:r>
          </a:p>
        </p:txBody>
      </p:sp>
      <p:sp>
        <p:nvSpPr>
          <p:cNvPr id="111620" name="Rectangle 192"/>
          <p:cNvSpPr>
            <a:spLocks noChangeArrowheads="1"/>
          </p:cNvSpPr>
          <p:nvPr/>
        </p:nvSpPr>
        <p:spPr bwMode="auto">
          <a:xfrm>
            <a:off x="452438" y="2616200"/>
            <a:ext cx="1281112" cy="468313"/>
          </a:xfrm>
          <a:prstGeom prst="rect">
            <a:avLst/>
          </a:prstGeom>
          <a:noFill/>
          <a:ln w="9525">
            <a:noFill/>
            <a:miter lim="800000"/>
            <a:headEnd/>
            <a:tailEnd/>
          </a:ln>
        </p:spPr>
        <p:txBody>
          <a:bodyPr/>
          <a:lstStyle/>
          <a:p>
            <a:endParaRPr lang="zh-CN" altLang="en-US"/>
          </a:p>
        </p:txBody>
      </p:sp>
      <p:grpSp>
        <p:nvGrpSpPr>
          <p:cNvPr id="111621" name="Group 202"/>
          <p:cNvGrpSpPr>
            <a:grpSpLocks/>
          </p:cNvGrpSpPr>
          <p:nvPr/>
        </p:nvGrpSpPr>
        <p:grpSpPr bwMode="auto">
          <a:xfrm>
            <a:off x="116396" y="939347"/>
            <a:ext cx="8611678" cy="5518150"/>
            <a:chOff x="513" y="457"/>
            <a:chExt cx="5179" cy="3476"/>
          </a:xfrm>
        </p:grpSpPr>
        <p:grpSp>
          <p:nvGrpSpPr>
            <p:cNvPr id="111623" name="Group 200"/>
            <p:cNvGrpSpPr>
              <a:grpSpLocks/>
            </p:cNvGrpSpPr>
            <p:nvPr/>
          </p:nvGrpSpPr>
          <p:grpSpPr bwMode="auto">
            <a:xfrm>
              <a:off x="971" y="579"/>
              <a:ext cx="4721" cy="3075"/>
              <a:chOff x="1247" y="941"/>
              <a:chExt cx="4404" cy="2432"/>
            </a:xfrm>
          </p:grpSpPr>
          <p:sp>
            <p:nvSpPr>
              <p:cNvPr id="111631" name="Rectangle 6"/>
              <p:cNvSpPr>
                <a:spLocks noChangeArrowheads="1"/>
              </p:cNvSpPr>
              <p:nvPr/>
            </p:nvSpPr>
            <p:spPr bwMode="auto">
              <a:xfrm>
                <a:off x="1269" y="969"/>
                <a:ext cx="4326" cy="2404"/>
              </a:xfrm>
              <a:prstGeom prst="rect">
                <a:avLst/>
              </a:prstGeom>
              <a:solidFill>
                <a:schemeClr val="bg2">
                  <a:lumMod val="20000"/>
                  <a:lumOff val="80000"/>
                </a:schemeClr>
              </a:solidFill>
              <a:ln w="9525">
                <a:solidFill>
                  <a:schemeClr val="tx1">
                    <a:lumMod val="20000"/>
                    <a:lumOff val="80000"/>
                  </a:schemeClr>
                </a:solidFill>
                <a:miter lim="800000"/>
                <a:headEnd/>
                <a:tailEnd/>
              </a:ln>
            </p:spPr>
            <p:txBody>
              <a:bodyPr/>
              <a:lstStyle/>
              <a:p>
                <a:endParaRPr lang="zh-CN" altLang="en-US"/>
              </a:p>
            </p:txBody>
          </p:sp>
          <p:sp>
            <p:nvSpPr>
              <p:cNvPr id="111632" name="Line 7"/>
              <p:cNvSpPr>
                <a:spLocks noChangeShapeType="1"/>
              </p:cNvSpPr>
              <p:nvPr/>
            </p:nvSpPr>
            <p:spPr bwMode="auto">
              <a:xfrm>
                <a:off x="1294" y="2827"/>
                <a:ext cx="4326" cy="1"/>
              </a:xfrm>
              <a:prstGeom prst="line">
                <a:avLst/>
              </a:prstGeom>
              <a:noFill/>
              <a:ln w="0">
                <a:solidFill>
                  <a:srgbClr val="000000"/>
                </a:solidFill>
                <a:prstDash val="sysDot"/>
                <a:round/>
                <a:headEnd/>
                <a:tailEnd/>
              </a:ln>
            </p:spPr>
            <p:txBody>
              <a:bodyPr/>
              <a:lstStyle/>
              <a:p>
                <a:endParaRPr lang="zh-CN" altLang="en-US"/>
              </a:p>
            </p:txBody>
          </p:sp>
          <p:sp>
            <p:nvSpPr>
              <p:cNvPr id="111633" name="Line 8"/>
              <p:cNvSpPr>
                <a:spLocks noChangeShapeType="1"/>
              </p:cNvSpPr>
              <p:nvPr/>
            </p:nvSpPr>
            <p:spPr bwMode="auto">
              <a:xfrm>
                <a:off x="1294" y="2355"/>
                <a:ext cx="4326" cy="1"/>
              </a:xfrm>
              <a:prstGeom prst="line">
                <a:avLst/>
              </a:prstGeom>
              <a:noFill/>
              <a:ln w="38100">
                <a:solidFill>
                  <a:srgbClr val="000000"/>
                </a:solidFill>
                <a:prstDash val="sysDot"/>
                <a:round/>
                <a:headEnd/>
                <a:tailEnd/>
              </a:ln>
            </p:spPr>
            <p:txBody>
              <a:bodyPr/>
              <a:lstStyle/>
              <a:p>
                <a:endParaRPr lang="zh-CN" altLang="en-US"/>
              </a:p>
            </p:txBody>
          </p:sp>
          <p:sp>
            <p:nvSpPr>
              <p:cNvPr id="111634" name="Line 9"/>
              <p:cNvSpPr>
                <a:spLocks noChangeShapeType="1"/>
              </p:cNvSpPr>
              <p:nvPr/>
            </p:nvSpPr>
            <p:spPr bwMode="auto">
              <a:xfrm>
                <a:off x="1294" y="1885"/>
                <a:ext cx="4326" cy="1"/>
              </a:xfrm>
              <a:prstGeom prst="line">
                <a:avLst/>
              </a:prstGeom>
              <a:noFill/>
              <a:ln w="38100">
                <a:solidFill>
                  <a:srgbClr val="000000"/>
                </a:solidFill>
                <a:prstDash val="sysDot"/>
                <a:round/>
                <a:headEnd/>
                <a:tailEnd/>
              </a:ln>
            </p:spPr>
            <p:txBody>
              <a:bodyPr/>
              <a:lstStyle/>
              <a:p>
                <a:endParaRPr lang="zh-CN" altLang="en-US"/>
              </a:p>
            </p:txBody>
          </p:sp>
          <p:sp>
            <p:nvSpPr>
              <p:cNvPr id="111635" name="Line 10"/>
              <p:cNvSpPr>
                <a:spLocks noChangeShapeType="1"/>
              </p:cNvSpPr>
              <p:nvPr/>
            </p:nvSpPr>
            <p:spPr bwMode="auto">
              <a:xfrm>
                <a:off x="1294" y="1413"/>
                <a:ext cx="4326" cy="1"/>
              </a:xfrm>
              <a:prstGeom prst="line">
                <a:avLst/>
              </a:prstGeom>
              <a:noFill/>
              <a:ln w="38100">
                <a:solidFill>
                  <a:srgbClr val="000000"/>
                </a:solidFill>
                <a:prstDash val="sysDot"/>
                <a:round/>
                <a:headEnd/>
                <a:tailEnd/>
              </a:ln>
            </p:spPr>
            <p:txBody>
              <a:bodyPr/>
              <a:lstStyle/>
              <a:p>
                <a:endParaRPr lang="zh-CN" altLang="en-US"/>
              </a:p>
            </p:txBody>
          </p:sp>
          <p:sp>
            <p:nvSpPr>
              <p:cNvPr id="111636" name="Line 11"/>
              <p:cNvSpPr>
                <a:spLocks noChangeShapeType="1"/>
              </p:cNvSpPr>
              <p:nvPr/>
            </p:nvSpPr>
            <p:spPr bwMode="auto">
              <a:xfrm>
                <a:off x="1294" y="941"/>
                <a:ext cx="4326" cy="2"/>
              </a:xfrm>
              <a:prstGeom prst="line">
                <a:avLst/>
              </a:prstGeom>
              <a:noFill/>
              <a:ln w="0">
                <a:solidFill>
                  <a:srgbClr val="000000"/>
                </a:solidFill>
                <a:prstDash val="sysDot"/>
                <a:round/>
                <a:headEnd/>
                <a:tailEnd/>
              </a:ln>
            </p:spPr>
            <p:txBody>
              <a:bodyPr/>
              <a:lstStyle/>
              <a:p>
                <a:endParaRPr lang="zh-CN" altLang="en-US"/>
              </a:p>
            </p:txBody>
          </p:sp>
          <p:sp>
            <p:nvSpPr>
              <p:cNvPr id="111637" name="Rectangle 12"/>
              <p:cNvSpPr>
                <a:spLocks noChangeArrowheads="1"/>
              </p:cNvSpPr>
              <p:nvPr/>
            </p:nvSpPr>
            <p:spPr bwMode="auto">
              <a:xfrm>
                <a:off x="1276" y="941"/>
                <a:ext cx="4326" cy="2358"/>
              </a:xfrm>
              <a:prstGeom prst="rect">
                <a:avLst/>
              </a:prstGeom>
              <a:noFill/>
              <a:ln w="20638">
                <a:solidFill>
                  <a:srgbClr val="808080"/>
                </a:solidFill>
                <a:miter lim="800000"/>
                <a:headEnd/>
                <a:tailEnd/>
              </a:ln>
            </p:spPr>
            <p:txBody>
              <a:bodyPr/>
              <a:lstStyle/>
              <a:p>
                <a:endParaRPr lang="zh-CN" altLang="en-US"/>
              </a:p>
            </p:txBody>
          </p:sp>
          <p:sp>
            <p:nvSpPr>
              <p:cNvPr id="111638" name="Line 13"/>
              <p:cNvSpPr>
                <a:spLocks noChangeShapeType="1"/>
              </p:cNvSpPr>
              <p:nvPr/>
            </p:nvSpPr>
            <p:spPr bwMode="auto">
              <a:xfrm>
                <a:off x="1294" y="941"/>
                <a:ext cx="1" cy="2358"/>
              </a:xfrm>
              <a:prstGeom prst="line">
                <a:avLst/>
              </a:prstGeom>
              <a:noFill/>
              <a:ln w="0">
                <a:solidFill>
                  <a:srgbClr val="000000"/>
                </a:solidFill>
                <a:round/>
                <a:headEnd/>
                <a:tailEnd/>
              </a:ln>
            </p:spPr>
            <p:txBody>
              <a:bodyPr/>
              <a:lstStyle/>
              <a:p>
                <a:endParaRPr lang="zh-CN" altLang="en-US"/>
              </a:p>
            </p:txBody>
          </p:sp>
          <p:sp>
            <p:nvSpPr>
              <p:cNvPr id="111639" name="Line 15"/>
              <p:cNvSpPr>
                <a:spLocks noChangeShapeType="1"/>
              </p:cNvSpPr>
              <p:nvPr/>
            </p:nvSpPr>
            <p:spPr bwMode="auto">
              <a:xfrm>
                <a:off x="1294" y="2827"/>
                <a:ext cx="46" cy="1"/>
              </a:xfrm>
              <a:prstGeom prst="line">
                <a:avLst/>
              </a:prstGeom>
              <a:noFill/>
              <a:ln w="0">
                <a:solidFill>
                  <a:srgbClr val="000000"/>
                </a:solidFill>
                <a:round/>
                <a:headEnd/>
                <a:tailEnd/>
              </a:ln>
            </p:spPr>
            <p:txBody>
              <a:bodyPr/>
              <a:lstStyle/>
              <a:p>
                <a:endParaRPr lang="zh-CN" altLang="en-US"/>
              </a:p>
            </p:txBody>
          </p:sp>
          <p:sp>
            <p:nvSpPr>
              <p:cNvPr id="111640" name="Line 16"/>
              <p:cNvSpPr>
                <a:spLocks noChangeShapeType="1"/>
              </p:cNvSpPr>
              <p:nvPr/>
            </p:nvSpPr>
            <p:spPr bwMode="auto">
              <a:xfrm>
                <a:off x="1294" y="2355"/>
                <a:ext cx="46" cy="1"/>
              </a:xfrm>
              <a:prstGeom prst="line">
                <a:avLst/>
              </a:prstGeom>
              <a:noFill/>
              <a:ln w="38100">
                <a:solidFill>
                  <a:srgbClr val="000000"/>
                </a:solidFill>
                <a:round/>
                <a:headEnd/>
                <a:tailEnd/>
              </a:ln>
            </p:spPr>
            <p:txBody>
              <a:bodyPr/>
              <a:lstStyle/>
              <a:p>
                <a:endParaRPr lang="zh-CN" altLang="en-US"/>
              </a:p>
            </p:txBody>
          </p:sp>
          <p:sp>
            <p:nvSpPr>
              <p:cNvPr id="111641" name="Line 17"/>
              <p:cNvSpPr>
                <a:spLocks noChangeShapeType="1"/>
              </p:cNvSpPr>
              <p:nvPr/>
            </p:nvSpPr>
            <p:spPr bwMode="auto">
              <a:xfrm>
                <a:off x="1294" y="1885"/>
                <a:ext cx="46" cy="1"/>
              </a:xfrm>
              <a:prstGeom prst="line">
                <a:avLst/>
              </a:prstGeom>
              <a:noFill/>
              <a:ln w="38100">
                <a:solidFill>
                  <a:srgbClr val="000000"/>
                </a:solidFill>
                <a:round/>
                <a:headEnd/>
                <a:tailEnd/>
              </a:ln>
            </p:spPr>
            <p:txBody>
              <a:bodyPr/>
              <a:lstStyle/>
              <a:p>
                <a:endParaRPr lang="zh-CN" altLang="en-US"/>
              </a:p>
            </p:txBody>
          </p:sp>
          <p:sp>
            <p:nvSpPr>
              <p:cNvPr id="111642" name="Line 18"/>
              <p:cNvSpPr>
                <a:spLocks noChangeShapeType="1"/>
              </p:cNvSpPr>
              <p:nvPr/>
            </p:nvSpPr>
            <p:spPr bwMode="auto">
              <a:xfrm>
                <a:off x="1294" y="1413"/>
                <a:ext cx="46" cy="1"/>
              </a:xfrm>
              <a:prstGeom prst="line">
                <a:avLst/>
              </a:prstGeom>
              <a:noFill/>
              <a:ln w="38100">
                <a:solidFill>
                  <a:srgbClr val="000000"/>
                </a:solidFill>
                <a:round/>
                <a:headEnd/>
                <a:tailEnd/>
              </a:ln>
            </p:spPr>
            <p:txBody>
              <a:bodyPr/>
              <a:lstStyle/>
              <a:p>
                <a:endParaRPr lang="zh-CN" altLang="en-US"/>
              </a:p>
            </p:txBody>
          </p:sp>
          <p:sp>
            <p:nvSpPr>
              <p:cNvPr id="111643" name="Line 19"/>
              <p:cNvSpPr>
                <a:spLocks noChangeShapeType="1"/>
              </p:cNvSpPr>
              <p:nvPr/>
            </p:nvSpPr>
            <p:spPr bwMode="auto">
              <a:xfrm>
                <a:off x="1294" y="941"/>
                <a:ext cx="46" cy="2"/>
              </a:xfrm>
              <a:prstGeom prst="line">
                <a:avLst/>
              </a:prstGeom>
              <a:noFill/>
              <a:ln w="0">
                <a:solidFill>
                  <a:srgbClr val="000000"/>
                </a:solidFill>
                <a:round/>
                <a:headEnd/>
                <a:tailEnd/>
              </a:ln>
            </p:spPr>
            <p:txBody>
              <a:bodyPr/>
              <a:lstStyle/>
              <a:p>
                <a:endParaRPr lang="zh-CN" altLang="en-US"/>
              </a:p>
            </p:txBody>
          </p:sp>
          <p:sp>
            <p:nvSpPr>
              <p:cNvPr id="111644" name="Line 20"/>
              <p:cNvSpPr>
                <a:spLocks noChangeShapeType="1"/>
              </p:cNvSpPr>
              <p:nvPr/>
            </p:nvSpPr>
            <p:spPr bwMode="auto">
              <a:xfrm>
                <a:off x="1294" y="3299"/>
                <a:ext cx="4326" cy="1"/>
              </a:xfrm>
              <a:prstGeom prst="line">
                <a:avLst/>
              </a:prstGeom>
              <a:noFill/>
              <a:ln w="0">
                <a:solidFill>
                  <a:srgbClr val="000000"/>
                </a:solidFill>
                <a:round/>
                <a:headEnd/>
                <a:tailEnd/>
              </a:ln>
            </p:spPr>
            <p:txBody>
              <a:bodyPr/>
              <a:lstStyle/>
              <a:p>
                <a:endParaRPr lang="zh-CN" altLang="en-US"/>
              </a:p>
            </p:txBody>
          </p:sp>
          <p:sp>
            <p:nvSpPr>
              <p:cNvPr id="111645" name="Line 44"/>
              <p:cNvSpPr>
                <a:spLocks noChangeShapeType="1"/>
              </p:cNvSpPr>
              <p:nvPr/>
            </p:nvSpPr>
            <p:spPr bwMode="auto">
              <a:xfrm flipV="1">
                <a:off x="5620" y="3255"/>
                <a:ext cx="1" cy="44"/>
              </a:xfrm>
              <a:prstGeom prst="line">
                <a:avLst/>
              </a:prstGeom>
              <a:noFill/>
              <a:ln w="0">
                <a:solidFill>
                  <a:srgbClr val="000000"/>
                </a:solidFill>
                <a:round/>
                <a:headEnd/>
                <a:tailEnd/>
              </a:ln>
            </p:spPr>
            <p:txBody>
              <a:bodyPr/>
              <a:lstStyle/>
              <a:p>
                <a:endParaRPr lang="zh-CN" altLang="en-US"/>
              </a:p>
            </p:txBody>
          </p:sp>
          <p:sp>
            <p:nvSpPr>
              <p:cNvPr id="111646" name="Line 45"/>
              <p:cNvSpPr>
                <a:spLocks noChangeShapeType="1"/>
              </p:cNvSpPr>
              <p:nvPr/>
            </p:nvSpPr>
            <p:spPr bwMode="auto">
              <a:xfrm flipV="1">
                <a:off x="1294" y="1913"/>
                <a:ext cx="185" cy="399"/>
              </a:xfrm>
              <a:prstGeom prst="line">
                <a:avLst/>
              </a:prstGeom>
              <a:noFill/>
              <a:ln w="38100">
                <a:solidFill>
                  <a:srgbClr val="000080"/>
                </a:solidFill>
                <a:round/>
                <a:headEnd/>
                <a:tailEnd/>
              </a:ln>
            </p:spPr>
            <p:txBody>
              <a:bodyPr/>
              <a:lstStyle/>
              <a:p>
                <a:endParaRPr lang="zh-CN" altLang="en-US"/>
              </a:p>
            </p:txBody>
          </p:sp>
          <p:sp>
            <p:nvSpPr>
              <p:cNvPr id="111647" name="Line 46"/>
              <p:cNvSpPr>
                <a:spLocks noChangeShapeType="1"/>
              </p:cNvSpPr>
              <p:nvPr/>
            </p:nvSpPr>
            <p:spPr bwMode="auto">
              <a:xfrm>
                <a:off x="1479" y="1913"/>
                <a:ext cx="186" cy="148"/>
              </a:xfrm>
              <a:prstGeom prst="line">
                <a:avLst/>
              </a:prstGeom>
              <a:noFill/>
              <a:ln w="38100">
                <a:solidFill>
                  <a:srgbClr val="000080"/>
                </a:solidFill>
                <a:round/>
                <a:headEnd/>
                <a:tailEnd/>
              </a:ln>
            </p:spPr>
            <p:txBody>
              <a:bodyPr/>
              <a:lstStyle/>
              <a:p>
                <a:endParaRPr lang="zh-CN" altLang="en-US"/>
              </a:p>
            </p:txBody>
          </p:sp>
          <p:sp>
            <p:nvSpPr>
              <p:cNvPr id="111648" name="Line 47"/>
              <p:cNvSpPr>
                <a:spLocks noChangeShapeType="1"/>
              </p:cNvSpPr>
              <p:nvPr/>
            </p:nvSpPr>
            <p:spPr bwMode="auto">
              <a:xfrm>
                <a:off x="1665" y="2061"/>
                <a:ext cx="187" cy="236"/>
              </a:xfrm>
              <a:prstGeom prst="line">
                <a:avLst/>
              </a:prstGeom>
              <a:noFill/>
              <a:ln w="38100">
                <a:solidFill>
                  <a:srgbClr val="000080"/>
                </a:solidFill>
                <a:round/>
                <a:headEnd/>
                <a:tailEnd/>
              </a:ln>
            </p:spPr>
            <p:txBody>
              <a:bodyPr/>
              <a:lstStyle/>
              <a:p>
                <a:endParaRPr lang="zh-CN" altLang="en-US"/>
              </a:p>
            </p:txBody>
          </p:sp>
          <p:sp>
            <p:nvSpPr>
              <p:cNvPr id="111649" name="Line 48"/>
              <p:cNvSpPr>
                <a:spLocks noChangeShapeType="1"/>
              </p:cNvSpPr>
              <p:nvPr/>
            </p:nvSpPr>
            <p:spPr bwMode="auto">
              <a:xfrm flipV="1">
                <a:off x="1852" y="2179"/>
                <a:ext cx="202" cy="118"/>
              </a:xfrm>
              <a:prstGeom prst="line">
                <a:avLst/>
              </a:prstGeom>
              <a:noFill/>
              <a:ln w="38100">
                <a:solidFill>
                  <a:srgbClr val="000080"/>
                </a:solidFill>
                <a:round/>
                <a:headEnd/>
                <a:tailEnd/>
              </a:ln>
            </p:spPr>
            <p:txBody>
              <a:bodyPr/>
              <a:lstStyle/>
              <a:p>
                <a:endParaRPr lang="zh-CN" altLang="en-US"/>
              </a:p>
            </p:txBody>
          </p:sp>
          <p:sp>
            <p:nvSpPr>
              <p:cNvPr id="111650" name="Line 49"/>
              <p:cNvSpPr>
                <a:spLocks noChangeShapeType="1"/>
              </p:cNvSpPr>
              <p:nvPr/>
            </p:nvSpPr>
            <p:spPr bwMode="auto">
              <a:xfrm flipV="1">
                <a:off x="2054" y="1795"/>
                <a:ext cx="185" cy="384"/>
              </a:xfrm>
              <a:prstGeom prst="line">
                <a:avLst/>
              </a:prstGeom>
              <a:noFill/>
              <a:ln w="38100">
                <a:solidFill>
                  <a:srgbClr val="000080"/>
                </a:solidFill>
                <a:round/>
                <a:headEnd/>
                <a:tailEnd/>
              </a:ln>
            </p:spPr>
            <p:txBody>
              <a:bodyPr/>
              <a:lstStyle/>
              <a:p>
                <a:endParaRPr lang="zh-CN" altLang="en-US"/>
              </a:p>
            </p:txBody>
          </p:sp>
          <p:sp>
            <p:nvSpPr>
              <p:cNvPr id="111651" name="Line 50"/>
              <p:cNvSpPr>
                <a:spLocks noChangeShapeType="1"/>
              </p:cNvSpPr>
              <p:nvPr/>
            </p:nvSpPr>
            <p:spPr bwMode="auto">
              <a:xfrm>
                <a:off x="2239" y="1795"/>
                <a:ext cx="186" cy="118"/>
              </a:xfrm>
              <a:prstGeom prst="line">
                <a:avLst/>
              </a:prstGeom>
              <a:noFill/>
              <a:ln w="38100">
                <a:solidFill>
                  <a:srgbClr val="000080"/>
                </a:solidFill>
                <a:round/>
                <a:headEnd/>
                <a:tailEnd/>
              </a:ln>
            </p:spPr>
            <p:txBody>
              <a:bodyPr/>
              <a:lstStyle/>
              <a:p>
                <a:endParaRPr lang="zh-CN" altLang="en-US"/>
              </a:p>
            </p:txBody>
          </p:sp>
          <p:sp>
            <p:nvSpPr>
              <p:cNvPr id="111652" name="Line 51"/>
              <p:cNvSpPr>
                <a:spLocks noChangeShapeType="1"/>
              </p:cNvSpPr>
              <p:nvPr/>
            </p:nvSpPr>
            <p:spPr bwMode="auto">
              <a:xfrm>
                <a:off x="2425" y="1913"/>
                <a:ext cx="187" cy="310"/>
              </a:xfrm>
              <a:prstGeom prst="line">
                <a:avLst/>
              </a:prstGeom>
              <a:noFill/>
              <a:ln w="38100">
                <a:solidFill>
                  <a:srgbClr val="000080"/>
                </a:solidFill>
                <a:round/>
                <a:headEnd/>
                <a:tailEnd/>
              </a:ln>
            </p:spPr>
            <p:txBody>
              <a:bodyPr/>
              <a:lstStyle/>
              <a:p>
                <a:endParaRPr lang="zh-CN" altLang="en-US"/>
              </a:p>
            </p:txBody>
          </p:sp>
          <p:sp>
            <p:nvSpPr>
              <p:cNvPr id="111653" name="Line 52"/>
              <p:cNvSpPr>
                <a:spLocks noChangeShapeType="1"/>
              </p:cNvSpPr>
              <p:nvPr/>
            </p:nvSpPr>
            <p:spPr bwMode="auto">
              <a:xfrm flipV="1">
                <a:off x="2612" y="2120"/>
                <a:ext cx="186" cy="103"/>
              </a:xfrm>
              <a:prstGeom prst="line">
                <a:avLst/>
              </a:prstGeom>
              <a:noFill/>
              <a:ln w="38100">
                <a:solidFill>
                  <a:srgbClr val="000080"/>
                </a:solidFill>
                <a:round/>
                <a:headEnd/>
                <a:tailEnd/>
              </a:ln>
            </p:spPr>
            <p:txBody>
              <a:bodyPr/>
              <a:lstStyle/>
              <a:p>
                <a:endParaRPr lang="zh-CN" altLang="en-US"/>
              </a:p>
            </p:txBody>
          </p:sp>
          <p:sp>
            <p:nvSpPr>
              <p:cNvPr id="111654" name="Line 53"/>
              <p:cNvSpPr>
                <a:spLocks noChangeShapeType="1"/>
              </p:cNvSpPr>
              <p:nvPr/>
            </p:nvSpPr>
            <p:spPr bwMode="auto">
              <a:xfrm flipV="1">
                <a:off x="2798" y="1633"/>
                <a:ext cx="185" cy="487"/>
              </a:xfrm>
              <a:prstGeom prst="line">
                <a:avLst/>
              </a:prstGeom>
              <a:noFill/>
              <a:ln w="38100">
                <a:solidFill>
                  <a:srgbClr val="000080"/>
                </a:solidFill>
                <a:round/>
                <a:headEnd/>
                <a:tailEnd/>
              </a:ln>
            </p:spPr>
            <p:txBody>
              <a:bodyPr/>
              <a:lstStyle/>
              <a:p>
                <a:endParaRPr lang="zh-CN" altLang="en-US"/>
              </a:p>
            </p:txBody>
          </p:sp>
          <p:sp>
            <p:nvSpPr>
              <p:cNvPr id="111655" name="Line 54"/>
              <p:cNvSpPr>
                <a:spLocks noChangeShapeType="1"/>
              </p:cNvSpPr>
              <p:nvPr/>
            </p:nvSpPr>
            <p:spPr bwMode="auto">
              <a:xfrm>
                <a:off x="2983" y="1633"/>
                <a:ext cx="187" cy="148"/>
              </a:xfrm>
              <a:prstGeom prst="line">
                <a:avLst/>
              </a:prstGeom>
              <a:noFill/>
              <a:ln w="38100">
                <a:solidFill>
                  <a:srgbClr val="000080"/>
                </a:solidFill>
                <a:round/>
                <a:headEnd/>
                <a:tailEnd/>
              </a:ln>
            </p:spPr>
            <p:txBody>
              <a:bodyPr/>
              <a:lstStyle/>
              <a:p>
                <a:endParaRPr lang="zh-CN" altLang="en-US"/>
              </a:p>
            </p:txBody>
          </p:sp>
          <p:sp>
            <p:nvSpPr>
              <p:cNvPr id="111656" name="Line 55"/>
              <p:cNvSpPr>
                <a:spLocks noChangeShapeType="1"/>
              </p:cNvSpPr>
              <p:nvPr/>
            </p:nvSpPr>
            <p:spPr bwMode="auto">
              <a:xfrm>
                <a:off x="3170" y="1781"/>
                <a:ext cx="186" cy="442"/>
              </a:xfrm>
              <a:prstGeom prst="line">
                <a:avLst/>
              </a:prstGeom>
              <a:noFill/>
              <a:ln w="38100">
                <a:solidFill>
                  <a:srgbClr val="000080"/>
                </a:solidFill>
                <a:round/>
                <a:headEnd/>
                <a:tailEnd/>
              </a:ln>
            </p:spPr>
            <p:txBody>
              <a:bodyPr/>
              <a:lstStyle/>
              <a:p>
                <a:endParaRPr lang="zh-CN" altLang="en-US"/>
              </a:p>
            </p:txBody>
          </p:sp>
          <p:sp>
            <p:nvSpPr>
              <p:cNvPr id="111657" name="Line 56"/>
              <p:cNvSpPr>
                <a:spLocks noChangeShapeType="1"/>
              </p:cNvSpPr>
              <p:nvPr/>
            </p:nvSpPr>
            <p:spPr bwMode="auto">
              <a:xfrm flipV="1">
                <a:off x="3356" y="2105"/>
                <a:ext cx="202" cy="118"/>
              </a:xfrm>
              <a:prstGeom prst="line">
                <a:avLst/>
              </a:prstGeom>
              <a:noFill/>
              <a:ln w="38100">
                <a:solidFill>
                  <a:srgbClr val="000080"/>
                </a:solidFill>
                <a:round/>
                <a:headEnd/>
                <a:tailEnd/>
              </a:ln>
            </p:spPr>
            <p:txBody>
              <a:bodyPr/>
              <a:lstStyle/>
              <a:p>
                <a:endParaRPr lang="zh-CN" altLang="en-US"/>
              </a:p>
            </p:txBody>
          </p:sp>
          <p:sp>
            <p:nvSpPr>
              <p:cNvPr id="111658" name="Line 57"/>
              <p:cNvSpPr>
                <a:spLocks noChangeShapeType="1"/>
              </p:cNvSpPr>
              <p:nvPr/>
            </p:nvSpPr>
            <p:spPr bwMode="auto">
              <a:xfrm flipV="1">
                <a:off x="3558" y="1633"/>
                <a:ext cx="185" cy="472"/>
              </a:xfrm>
              <a:prstGeom prst="line">
                <a:avLst/>
              </a:prstGeom>
              <a:noFill/>
              <a:ln w="38100">
                <a:solidFill>
                  <a:srgbClr val="000080"/>
                </a:solidFill>
                <a:round/>
                <a:headEnd/>
                <a:tailEnd/>
              </a:ln>
            </p:spPr>
            <p:txBody>
              <a:bodyPr/>
              <a:lstStyle/>
              <a:p>
                <a:endParaRPr lang="zh-CN" altLang="en-US"/>
              </a:p>
            </p:txBody>
          </p:sp>
          <p:sp>
            <p:nvSpPr>
              <p:cNvPr id="111659" name="Line 58"/>
              <p:cNvSpPr>
                <a:spLocks noChangeShapeType="1"/>
              </p:cNvSpPr>
              <p:nvPr/>
            </p:nvSpPr>
            <p:spPr bwMode="auto">
              <a:xfrm>
                <a:off x="3743" y="1633"/>
                <a:ext cx="186" cy="162"/>
              </a:xfrm>
              <a:prstGeom prst="line">
                <a:avLst/>
              </a:prstGeom>
              <a:noFill/>
              <a:ln w="38100">
                <a:solidFill>
                  <a:srgbClr val="000080"/>
                </a:solidFill>
                <a:round/>
                <a:headEnd/>
                <a:tailEnd/>
              </a:ln>
            </p:spPr>
            <p:txBody>
              <a:bodyPr/>
              <a:lstStyle/>
              <a:p>
                <a:endParaRPr lang="zh-CN" altLang="en-US"/>
              </a:p>
            </p:txBody>
          </p:sp>
          <p:sp>
            <p:nvSpPr>
              <p:cNvPr id="111660" name="Line 59"/>
              <p:cNvSpPr>
                <a:spLocks noChangeShapeType="1"/>
              </p:cNvSpPr>
              <p:nvPr/>
            </p:nvSpPr>
            <p:spPr bwMode="auto">
              <a:xfrm>
                <a:off x="3929" y="1795"/>
                <a:ext cx="187" cy="398"/>
              </a:xfrm>
              <a:prstGeom prst="line">
                <a:avLst/>
              </a:prstGeom>
              <a:noFill/>
              <a:ln w="38100">
                <a:solidFill>
                  <a:srgbClr val="000080"/>
                </a:solidFill>
                <a:round/>
                <a:headEnd/>
                <a:tailEnd/>
              </a:ln>
            </p:spPr>
            <p:txBody>
              <a:bodyPr/>
              <a:lstStyle/>
              <a:p>
                <a:endParaRPr lang="zh-CN" altLang="en-US"/>
              </a:p>
            </p:txBody>
          </p:sp>
          <p:sp>
            <p:nvSpPr>
              <p:cNvPr id="111661" name="Line 60"/>
              <p:cNvSpPr>
                <a:spLocks noChangeShapeType="1"/>
              </p:cNvSpPr>
              <p:nvPr/>
            </p:nvSpPr>
            <p:spPr bwMode="auto">
              <a:xfrm flipV="1">
                <a:off x="4116" y="1958"/>
                <a:ext cx="186" cy="235"/>
              </a:xfrm>
              <a:prstGeom prst="line">
                <a:avLst/>
              </a:prstGeom>
              <a:noFill/>
              <a:ln w="38100">
                <a:solidFill>
                  <a:srgbClr val="000080"/>
                </a:solidFill>
                <a:round/>
                <a:headEnd/>
                <a:tailEnd/>
              </a:ln>
            </p:spPr>
            <p:txBody>
              <a:bodyPr/>
              <a:lstStyle/>
              <a:p>
                <a:endParaRPr lang="zh-CN" altLang="en-US"/>
              </a:p>
            </p:txBody>
          </p:sp>
          <p:sp>
            <p:nvSpPr>
              <p:cNvPr id="111662" name="Line 61"/>
              <p:cNvSpPr>
                <a:spLocks noChangeShapeType="1"/>
              </p:cNvSpPr>
              <p:nvPr/>
            </p:nvSpPr>
            <p:spPr bwMode="auto">
              <a:xfrm flipV="1">
                <a:off x="4302" y="1457"/>
                <a:ext cx="187" cy="501"/>
              </a:xfrm>
              <a:prstGeom prst="line">
                <a:avLst/>
              </a:prstGeom>
              <a:noFill/>
              <a:ln w="38100">
                <a:solidFill>
                  <a:srgbClr val="000080"/>
                </a:solidFill>
                <a:round/>
                <a:headEnd/>
                <a:tailEnd/>
              </a:ln>
            </p:spPr>
            <p:txBody>
              <a:bodyPr/>
              <a:lstStyle/>
              <a:p>
                <a:endParaRPr lang="zh-CN" altLang="en-US"/>
              </a:p>
            </p:txBody>
          </p:sp>
          <p:sp>
            <p:nvSpPr>
              <p:cNvPr id="111663" name="Line 62"/>
              <p:cNvSpPr>
                <a:spLocks noChangeShapeType="1"/>
              </p:cNvSpPr>
              <p:nvPr/>
            </p:nvSpPr>
            <p:spPr bwMode="auto">
              <a:xfrm>
                <a:off x="4489" y="1457"/>
                <a:ext cx="185" cy="162"/>
              </a:xfrm>
              <a:prstGeom prst="line">
                <a:avLst/>
              </a:prstGeom>
              <a:noFill/>
              <a:ln w="38100">
                <a:solidFill>
                  <a:srgbClr val="000080"/>
                </a:solidFill>
                <a:round/>
                <a:headEnd/>
                <a:tailEnd/>
              </a:ln>
            </p:spPr>
            <p:txBody>
              <a:bodyPr/>
              <a:lstStyle/>
              <a:p>
                <a:endParaRPr lang="zh-CN" altLang="en-US"/>
              </a:p>
            </p:txBody>
          </p:sp>
          <p:sp>
            <p:nvSpPr>
              <p:cNvPr id="111664" name="Line 63"/>
              <p:cNvSpPr>
                <a:spLocks noChangeShapeType="1"/>
              </p:cNvSpPr>
              <p:nvPr/>
            </p:nvSpPr>
            <p:spPr bwMode="auto">
              <a:xfrm>
                <a:off x="4674" y="1619"/>
                <a:ext cx="186" cy="442"/>
              </a:xfrm>
              <a:prstGeom prst="line">
                <a:avLst/>
              </a:prstGeom>
              <a:noFill/>
              <a:ln w="38100">
                <a:solidFill>
                  <a:srgbClr val="000080"/>
                </a:solidFill>
                <a:round/>
                <a:headEnd/>
                <a:tailEnd/>
              </a:ln>
            </p:spPr>
            <p:txBody>
              <a:bodyPr/>
              <a:lstStyle/>
              <a:p>
                <a:endParaRPr lang="zh-CN" altLang="en-US"/>
              </a:p>
            </p:txBody>
          </p:sp>
          <p:sp>
            <p:nvSpPr>
              <p:cNvPr id="111665" name="Line 64"/>
              <p:cNvSpPr>
                <a:spLocks noChangeShapeType="1"/>
              </p:cNvSpPr>
              <p:nvPr/>
            </p:nvSpPr>
            <p:spPr bwMode="auto">
              <a:xfrm flipV="1">
                <a:off x="4860" y="1943"/>
                <a:ext cx="202" cy="118"/>
              </a:xfrm>
              <a:prstGeom prst="line">
                <a:avLst/>
              </a:prstGeom>
              <a:noFill/>
              <a:ln w="38100">
                <a:solidFill>
                  <a:srgbClr val="000080"/>
                </a:solidFill>
                <a:round/>
                <a:headEnd/>
                <a:tailEnd/>
              </a:ln>
            </p:spPr>
            <p:txBody>
              <a:bodyPr/>
              <a:lstStyle/>
              <a:p>
                <a:endParaRPr lang="zh-CN" altLang="en-US"/>
              </a:p>
            </p:txBody>
          </p:sp>
          <p:sp>
            <p:nvSpPr>
              <p:cNvPr id="111666" name="Line 65"/>
              <p:cNvSpPr>
                <a:spLocks noChangeShapeType="1"/>
              </p:cNvSpPr>
              <p:nvPr/>
            </p:nvSpPr>
            <p:spPr bwMode="auto">
              <a:xfrm flipV="1">
                <a:off x="5062" y="1235"/>
                <a:ext cx="187" cy="708"/>
              </a:xfrm>
              <a:prstGeom prst="line">
                <a:avLst/>
              </a:prstGeom>
              <a:noFill/>
              <a:ln w="38100">
                <a:solidFill>
                  <a:srgbClr val="000080"/>
                </a:solidFill>
                <a:round/>
                <a:headEnd/>
                <a:tailEnd/>
              </a:ln>
            </p:spPr>
            <p:txBody>
              <a:bodyPr/>
              <a:lstStyle/>
              <a:p>
                <a:endParaRPr lang="zh-CN" altLang="en-US"/>
              </a:p>
            </p:txBody>
          </p:sp>
          <p:sp>
            <p:nvSpPr>
              <p:cNvPr id="111667" name="Line 66"/>
              <p:cNvSpPr>
                <a:spLocks noChangeShapeType="1"/>
              </p:cNvSpPr>
              <p:nvPr/>
            </p:nvSpPr>
            <p:spPr bwMode="auto">
              <a:xfrm>
                <a:off x="5249" y="1235"/>
                <a:ext cx="185" cy="252"/>
              </a:xfrm>
              <a:prstGeom prst="line">
                <a:avLst/>
              </a:prstGeom>
              <a:noFill/>
              <a:ln w="38100">
                <a:solidFill>
                  <a:srgbClr val="000080"/>
                </a:solidFill>
                <a:round/>
                <a:headEnd/>
                <a:tailEnd/>
              </a:ln>
            </p:spPr>
            <p:txBody>
              <a:bodyPr/>
              <a:lstStyle/>
              <a:p>
                <a:endParaRPr lang="zh-CN" altLang="en-US"/>
              </a:p>
            </p:txBody>
          </p:sp>
          <p:sp>
            <p:nvSpPr>
              <p:cNvPr id="111668" name="Line 67"/>
              <p:cNvSpPr>
                <a:spLocks noChangeShapeType="1"/>
              </p:cNvSpPr>
              <p:nvPr/>
            </p:nvSpPr>
            <p:spPr bwMode="auto">
              <a:xfrm>
                <a:off x="5434" y="1487"/>
                <a:ext cx="186" cy="398"/>
              </a:xfrm>
              <a:prstGeom prst="line">
                <a:avLst/>
              </a:prstGeom>
              <a:noFill/>
              <a:ln w="38100">
                <a:solidFill>
                  <a:srgbClr val="000080"/>
                </a:solidFill>
                <a:round/>
                <a:headEnd/>
                <a:tailEnd/>
              </a:ln>
            </p:spPr>
            <p:txBody>
              <a:bodyPr/>
              <a:lstStyle/>
              <a:p>
                <a:endParaRPr lang="zh-CN" altLang="en-US"/>
              </a:p>
            </p:txBody>
          </p:sp>
          <p:sp>
            <p:nvSpPr>
              <p:cNvPr id="111669" name="Line 68"/>
              <p:cNvSpPr>
                <a:spLocks noChangeShapeType="1"/>
              </p:cNvSpPr>
              <p:nvPr/>
            </p:nvSpPr>
            <p:spPr bwMode="auto">
              <a:xfrm flipV="1">
                <a:off x="1294" y="2165"/>
                <a:ext cx="185" cy="14"/>
              </a:xfrm>
              <a:prstGeom prst="line">
                <a:avLst/>
              </a:prstGeom>
              <a:noFill/>
              <a:ln w="38100">
                <a:solidFill>
                  <a:srgbClr val="FF00FF"/>
                </a:solidFill>
                <a:round/>
                <a:headEnd/>
                <a:tailEnd/>
              </a:ln>
            </p:spPr>
            <p:txBody>
              <a:bodyPr/>
              <a:lstStyle/>
              <a:p>
                <a:endParaRPr lang="zh-CN" altLang="en-US"/>
              </a:p>
            </p:txBody>
          </p:sp>
          <p:sp>
            <p:nvSpPr>
              <p:cNvPr id="111670" name="Line 69"/>
              <p:cNvSpPr>
                <a:spLocks noChangeShapeType="1"/>
              </p:cNvSpPr>
              <p:nvPr/>
            </p:nvSpPr>
            <p:spPr bwMode="auto">
              <a:xfrm>
                <a:off x="1479" y="2165"/>
                <a:ext cx="186" cy="1"/>
              </a:xfrm>
              <a:prstGeom prst="line">
                <a:avLst/>
              </a:prstGeom>
              <a:noFill/>
              <a:ln w="38100">
                <a:solidFill>
                  <a:srgbClr val="FF00FF"/>
                </a:solidFill>
                <a:round/>
                <a:headEnd/>
                <a:tailEnd/>
              </a:ln>
            </p:spPr>
            <p:txBody>
              <a:bodyPr/>
              <a:lstStyle/>
              <a:p>
                <a:endParaRPr lang="zh-CN" altLang="en-US"/>
              </a:p>
            </p:txBody>
          </p:sp>
          <p:sp>
            <p:nvSpPr>
              <p:cNvPr id="111671" name="Line 70"/>
              <p:cNvSpPr>
                <a:spLocks noChangeShapeType="1"/>
              </p:cNvSpPr>
              <p:nvPr/>
            </p:nvSpPr>
            <p:spPr bwMode="auto">
              <a:xfrm flipV="1">
                <a:off x="1665" y="2047"/>
                <a:ext cx="187" cy="118"/>
              </a:xfrm>
              <a:prstGeom prst="line">
                <a:avLst/>
              </a:prstGeom>
              <a:noFill/>
              <a:ln w="38100">
                <a:solidFill>
                  <a:srgbClr val="FF00FF"/>
                </a:solidFill>
                <a:round/>
                <a:headEnd/>
                <a:tailEnd/>
              </a:ln>
            </p:spPr>
            <p:txBody>
              <a:bodyPr/>
              <a:lstStyle/>
              <a:p>
                <a:endParaRPr lang="zh-CN" altLang="en-US"/>
              </a:p>
            </p:txBody>
          </p:sp>
          <p:sp>
            <p:nvSpPr>
              <p:cNvPr id="111672" name="Line 71"/>
              <p:cNvSpPr>
                <a:spLocks noChangeShapeType="1"/>
              </p:cNvSpPr>
              <p:nvPr/>
            </p:nvSpPr>
            <p:spPr bwMode="auto">
              <a:xfrm flipV="1">
                <a:off x="1852" y="2032"/>
                <a:ext cx="202" cy="15"/>
              </a:xfrm>
              <a:prstGeom prst="line">
                <a:avLst/>
              </a:prstGeom>
              <a:noFill/>
              <a:ln w="38100">
                <a:solidFill>
                  <a:srgbClr val="FF00FF"/>
                </a:solidFill>
                <a:round/>
                <a:headEnd/>
                <a:tailEnd/>
              </a:ln>
            </p:spPr>
            <p:txBody>
              <a:bodyPr/>
              <a:lstStyle/>
              <a:p>
                <a:endParaRPr lang="zh-CN" altLang="en-US"/>
              </a:p>
            </p:txBody>
          </p:sp>
          <p:sp>
            <p:nvSpPr>
              <p:cNvPr id="111673" name="Line 72"/>
              <p:cNvSpPr>
                <a:spLocks noChangeShapeType="1"/>
              </p:cNvSpPr>
              <p:nvPr/>
            </p:nvSpPr>
            <p:spPr bwMode="auto">
              <a:xfrm>
                <a:off x="2054" y="2032"/>
                <a:ext cx="185" cy="43"/>
              </a:xfrm>
              <a:prstGeom prst="line">
                <a:avLst/>
              </a:prstGeom>
              <a:noFill/>
              <a:ln w="38100">
                <a:solidFill>
                  <a:srgbClr val="FF00FF"/>
                </a:solidFill>
                <a:round/>
                <a:headEnd/>
                <a:tailEnd/>
              </a:ln>
            </p:spPr>
            <p:txBody>
              <a:bodyPr/>
              <a:lstStyle/>
              <a:p>
                <a:endParaRPr lang="zh-CN" altLang="en-US"/>
              </a:p>
            </p:txBody>
          </p:sp>
          <p:sp>
            <p:nvSpPr>
              <p:cNvPr id="111674" name="Line 73"/>
              <p:cNvSpPr>
                <a:spLocks noChangeShapeType="1"/>
              </p:cNvSpPr>
              <p:nvPr/>
            </p:nvSpPr>
            <p:spPr bwMode="auto">
              <a:xfrm flipV="1">
                <a:off x="2239" y="2017"/>
                <a:ext cx="186" cy="58"/>
              </a:xfrm>
              <a:prstGeom prst="line">
                <a:avLst/>
              </a:prstGeom>
              <a:noFill/>
              <a:ln w="38100">
                <a:solidFill>
                  <a:srgbClr val="FF00FF"/>
                </a:solidFill>
                <a:round/>
                <a:headEnd/>
                <a:tailEnd/>
              </a:ln>
            </p:spPr>
            <p:txBody>
              <a:bodyPr/>
              <a:lstStyle/>
              <a:p>
                <a:endParaRPr lang="zh-CN" altLang="en-US"/>
              </a:p>
            </p:txBody>
          </p:sp>
          <p:sp>
            <p:nvSpPr>
              <p:cNvPr id="111675" name="Line 74"/>
              <p:cNvSpPr>
                <a:spLocks noChangeShapeType="1"/>
              </p:cNvSpPr>
              <p:nvPr/>
            </p:nvSpPr>
            <p:spPr bwMode="auto">
              <a:xfrm flipV="1">
                <a:off x="2425" y="1958"/>
                <a:ext cx="187" cy="59"/>
              </a:xfrm>
              <a:prstGeom prst="line">
                <a:avLst/>
              </a:prstGeom>
              <a:noFill/>
              <a:ln w="38100">
                <a:solidFill>
                  <a:srgbClr val="FF00FF"/>
                </a:solidFill>
                <a:round/>
                <a:headEnd/>
                <a:tailEnd/>
              </a:ln>
            </p:spPr>
            <p:txBody>
              <a:bodyPr/>
              <a:lstStyle/>
              <a:p>
                <a:endParaRPr lang="zh-CN" altLang="en-US"/>
              </a:p>
            </p:txBody>
          </p:sp>
          <p:sp>
            <p:nvSpPr>
              <p:cNvPr id="111676" name="Line 75"/>
              <p:cNvSpPr>
                <a:spLocks noChangeShapeType="1"/>
              </p:cNvSpPr>
              <p:nvPr/>
            </p:nvSpPr>
            <p:spPr bwMode="auto">
              <a:xfrm>
                <a:off x="2612" y="1958"/>
                <a:ext cx="186" cy="15"/>
              </a:xfrm>
              <a:prstGeom prst="line">
                <a:avLst/>
              </a:prstGeom>
              <a:noFill/>
              <a:ln w="38100">
                <a:solidFill>
                  <a:srgbClr val="FF00FF"/>
                </a:solidFill>
                <a:round/>
                <a:headEnd/>
                <a:tailEnd/>
              </a:ln>
            </p:spPr>
            <p:txBody>
              <a:bodyPr/>
              <a:lstStyle/>
              <a:p>
                <a:endParaRPr lang="zh-CN" altLang="en-US"/>
              </a:p>
            </p:txBody>
          </p:sp>
          <p:sp>
            <p:nvSpPr>
              <p:cNvPr id="111677" name="Line 76"/>
              <p:cNvSpPr>
                <a:spLocks noChangeShapeType="1"/>
              </p:cNvSpPr>
              <p:nvPr/>
            </p:nvSpPr>
            <p:spPr bwMode="auto">
              <a:xfrm flipV="1">
                <a:off x="2798" y="1928"/>
                <a:ext cx="185" cy="45"/>
              </a:xfrm>
              <a:prstGeom prst="line">
                <a:avLst/>
              </a:prstGeom>
              <a:noFill/>
              <a:ln w="38100">
                <a:solidFill>
                  <a:srgbClr val="FF00FF"/>
                </a:solidFill>
                <a:round/>
                <a:headEnd/>
                <a:tailEnd/>
              </a:ln>
            </p:spPr>
            <p:txBody>
              <a:bodyPr/>
              <a:lstStyle/>
              <a:p>
                <a:endParaRPr lang="zh-CN" altLang="en-US"/>
              </a:p>
            </p:txBody>
          </p:sp>
          <p:sp>
            <p:nvSpPr>
              <p:cNvPr id="111678" name="Line 77"/>
              <p:cNvSpPr>
                <a:spLocks noChangeShapeType="1"/>
              </p:cNvSpPr>
              <p:nvPr/>
            </p:nvSpPr>
            <p:spPr bwMode="auto">
              <a:xfrm flipV="1">
                <a:off x="2983" y="1913"/>
                <a:ext cx="187" cy="15"/>
              </a:xfrm>
              <a:prstGeom prst="line">
                <a:avLst/>
              </a:prstGeom>
              <a:noFill/>
              <a:ln w="38100">
                <a:solidFill>
                  <a:srgbClr val="FF00FF"/>
                </a:solidFill>
                <a:round/>
                <a:headEnd/>
                <a:tailEnd/>
              </a:ln>
            </p:spPr>
            <p:txBody>
              <a:bodyPr/>
              <a:lstStyle/>
              <a:p>
                <a:endParaRPr lang="zh-CN" altLang="en-US"/>
              </a:p>
            </p:txBody>
          </p:sp>
          <p:sp>
            <p:nvSpPr>
              <p:cNvPr id="111679" name="Line 78"/>
              <p:cNvSpPr>
                <a:spLocks noChangeShapeType="1"/>
              </p:cNvSpPr>
              <p:nvPr/>
            </p:nvSpPr>
            <p:spPr bwMode="auto">
              <a:xfrm>
                <a:off x="3170" y="1913"/>
                <a:ext cx="186" cy="45"/>
              </a:xfrm>
              <a:prstGeom prst="line">
                <a:avLst/>
              </a:prstGeom>
              <a:noFill/>
              <a:ln w="38100">
                <a:solidFill>
                  <a:srgbClr val="FF00FF"/>
                </a:solidFill>
                <a:round/>
                <a:headEnd/>
                <a:tailEnd/>
              </a:ln>
            </p:spPr>
            <p:txBody>
              <a:bodyPr/>
              <a:lstStyle/>
              <a:p>
                <a:endParaRPr lang="zh-CN" altLang="en-US"/>
              </a:p>
            </p:txBody>
          </p:sp>
          <p:sp>
            <p:nvSpPr>
              <p:cNvPr id="111680" name="Line 79"/>
              <p:cNvSpPr>
                <a:spLocks noChangeShapeType="1"/>
              </p:cNvSpPr>
              <p:nvPr/>
            </p:nvSpPr>
            <p:spPr bwMode="auto">
              <a:xfrm flipV="1">
                <a:off x="3356" y="1943"/>
                <a:ext cx="202" cy="15"/>
              </a:xfrm>
              <a:prstGeom prst="line">
                <a:avLst/>
              </a:prstGeom>
              <a:noFill/>
              <a:ln w="38100">
                <a:solidFill>
                  <a:srgbClr val="FF00FF"/>
                </a:solidFill>
                <a:round/>
                <a:headEnd/>
                <a:tailEnd/>
              </a:ln>
            </p:spPr>
            <p:txBody>
              <a:bodyPr/>
              <a:lstStyle/>
              <a:p>
                <a:endParaRPr lang="zh-CN" altLang="en-US"/>
              </a:p>
            </p:txBody>
          </p:sp>
          <p:sp>
            <p:nvSpPr>
              <p:cNvPr id="111681" name="Line 80"/>
              <p:cNvSpPr>
                <a:spLocks noChangeShapeType="1"/>
              </p:cNvSpPr>
              <p:nvPr/>
            </p:nvSpPr>
            <p:spPr bwMode="auto">
              <a:xfrm>
                <a:off x="3558" y="1943"/>
                <a:ext cx="185" cy="1"/>
              </a:xfrm>
              <a:prstGeom prst="line">
                <a:avLst/>
              </a:prstGeom>
              <a:noFill/>
              <a:ln w="38100">
                <a:solidFill>
                  <a:srgbClr val="FF00FF"/>
                </a:solidFill>
                <a:round/>
                <a:headEnd/>
                <a:tailEnd/>
              </a:ln>
            </p:spPr>
            <p:txBody>
              <a:bodyPr/>
              <a:lstStyle/>
              <a:p>
                <a:endParaRPr lang="zh-CN" altLang="en-US"/>
              </a:p>
            </p:txBody>
          </p:sp>
          <p:sp>
            <p:nvSpPr>
              <p:cNvPr id="111682" name="Line 81"/>
              <p:cNvSpPr>
                <a:spLocks noChangeShapeType="1"/>
              </p:cNvSpPr>
              <p:nvPr/>
            </p:nvSpPr>
            <p:spPr bwMode="auto">
              <a:xfrm flipV="1">
                <a:off x="3743" y="1913"/>
                <a:ext cx="186" cy="30"/>
              </a:xfrm>
              <a:prstGeom prst="line">
                <a:avLst/>
              </a:prstGeom>
              <a:noFill/>
              <a:ln w="38100">
                <a:solidFill>
                  <a:srgbClr val="FF00FF"/>
                </a:solidFill>
                <a:round/>
                <a:headEnd/>
                <a:tailEnd/>
              </a:ln>
            </p:spPr>
            <p:txBody>
              <a:bodyPr/>
              <a:lstStyle/>
              <a:p>
                <a:endParaRPr lang="zh-CN" altLang="en-US"/>
              </a:p>
            </p:txBody>
          </p:sp>
          <p:sp>
            <p:nvSpPr>
              <p:cNvPr id="111683" name="Line 82"/>
              <p:cNvSpPr>
                <a:spLocks noChangeShapeType="1"/>
              </p:cNvSpPr>
              <p:nvPr/>
            </p:nvSpPr>
            <p:spPr bwMode="auto">
              <a:xfrm>
                <a:off x="3929" y="1913"/>
                <a:ext cx="187" cy="15"/>
              </a:xfrm>
              <a:prstGeom prst="line">
                <a:avLst/>
              </a:prstGeom>
              <a:noFill/>
              <a:ln w="38100">
                <a:solidFill>
                  <a:srgbClr val="FF00FF"/>
                </a:solidFill>
                <a:round/>
                <a:headEnd/>
                <a:tailEnd/>
              </a:ln>
            </p:spPr>
            <p:txBody>
              <a:bodyPr/>
              <a:lstStyle/>
              <a:p>
                <a:endParaRPr lang="zh-CN" altLang="en-US"/>
              </a:p>
            </p:txBody>
          </p:sp>
          <p:sp>
            <p:nvSpPr>
              <p:cNvPr id="111684" name="Line 83"/>
              <p:cNvSpPr>
                <a:spLocks noChangeShapeType="1"/>
              </p:cNvSpPr>
              <p:nvPr/>
            </p:nvSpPr>
            <p:spPr bwMode="auto">
              <a:xfrm flipV="1">
                <a:off x="4116" y="1781"/>
                <a:ext cx="186" cy="147"/>
              </a:xfrm>
              <a:prstGeom prst="line">
                <a:avLst/>
              </a:prstGeom>
              <a:noFill/>
              <a:ln w="38100">
                <a:solidFill>
                  <a:srgbClr val="FF00FF"/>
                </a:solidFill>
                <a:round/>
                <a:headEnd/>
                <a:tailEnd/>
              </a:ln>
            </p:spPr>
            <p:txBody>
              <a:bodyPr/>
              <a:lstStyle/>
              <a:p>
                <a:endParaRPr lang="zh-CN" altLang="en-US"/>
              </a:p>
            </p:txBody>
          </p:sp>
          <p:sp>
            <p:nvSpPr>
              <p:cNvPr id="111685" name="Line 84"/>
              <p:cNvSpPr>
                <a:spLocks noChangeShapeType="1"/>
              </p:cNvSpPr>
              <p:nvPr/>
            </p:nvSpPr>
            <p:spPr bwMode="auto">
              <a:xfrm>
                <a:off x="4302" y="1781"/>
                <a:ext cx="187" cy="2"/>
              </a:xfrm>
              <a:prstGeom prst="line">
                <a:avLst/>
              </a:prstGeom>
              <a:noFill/>
              <a:ln w="38100">
                <a:solidFill>
                  <a:srgbClr val="FF00FF"/>
                </a:solidFill>
                <a:round/>
                <a:headEnd/>
                <a:tailEnd/>
              </a:ln>
            </p:spPr>
            <p:txBody>
              <a:bodyPr/>
              <a:lstStyle/>
              <a:p>
                <a:endParaRPr lang="zh-CN" altLang="en-US"/>
              </a:p>
            </p:txBody>
          </p:sp>
          <p:sp>
            <p:nvSpPr>
              <p:cNvPr id="111686" name="Line 85"/>
              <p:cNvSpPr>
                <a:spLocks noChangeShapeType="1"/>
              </p:cNvSpPr>
              <p:nvPr/>
            </p:nvSpPr>
            <p:spPr bwMode="auto">
              <a:xfrm flipV="1">
                <a:off x="4489" y="1752"/>
                <a:ext cx="185" cy="29"/>
              </a:xfrm>
              <a:prstGeom prst="line">
                <a:avLst/>
              </a:prstGeom>
              <a:noFill/>
              <a:ln w="38100">
                <a:solidFill>
                  <a:srgbClr val="FF00FF"/>
                </a:solidFill>
                <a:round/>
                <a:headEnd/>
                <a:tailEnd/>
              </a:ln>
            </p:spPr>
            <p:txBody>
              <a:bodyPr/>
              <a:lstStyle/>
              <a:p>
                <a:endParaRPr lang="zh-CN" altLang="en-US"/>
              </a:p>
            </p:txBody>
          </p:sp>
          <p:sp>
            <p:nvSpPr>
              <p:cNvPr id="111687" name="Line 86"/>
              <p:cNvSpPr>
                <a:spLocks noChangeShapeType="1"/>
              </p:cNvSpPr>
              <p:nvPr/>
            </p:nvSpPr>
            <p:spPr bwMode="auto">
              <a:xfrm>
                <a:off x="4674" y="1752"/>
                <a:ext cx="186" cy="15"/>
              </a:xfrm>
              <a:prstGeom prst="line">
                <a:avLst/>
              </a:prstGeom>
              <a:noFill/>
              <a:ln w="38100">
                <a:solidFill>
                  <a:srgbClr val="FF00FF"/>
                </a:solidFill>
                <a:round/>
                <a:headEnd/>
                <a:tailEnd/>
              </a:ln>
            </p:spPr>
            <p:txBody>
              <a:bodyPr/>
              <a:lstStyle/>
              <a:p>
                <a:endParaRPr lang="zh-CN" altLang="en-US"/>
              </a:p>
            </p:txBody>
          </p:sp>
          <p:sp>
            <p:nvSpPr>
              <p:cNvPr id="111688" name="Line 87"/>
              <p:cNvSpPr>
                <a:spLocks noChangeShapeType="1"/>
              </p:cNvSpPr>
              <p:nvPr/>
            </p:nvSpPr>
            <p:spPr bwMode="auto">
              <a:xfrm>
                <a:off x="4860" y="1767"/>
                <a:ext cx="202" cy="1"/>
              </a:xfrm>
              <a:prstGeom prst="line">
                <a:avLst/>
              </a:prstGeom>
              <a:noFill/>
              <a:ln w="38100">
                <a:solidFill>
                  <a:srgbClr val="FF00FF"/>
                </a:solidFill>
                <a:round/>
                <a:headEnd/>
                <a:tailEnd/>
              </a:ln>
            </p:spPr>
            <p:txBody>
              <a:bodyPr/>
              <a:lstStyle/>
              <a:p>
                <a:endParaRPr lang="zh-CN" altLang="en-US"/>
              </a:p>
            </p:txBody>
          </p:sp>
          <p:sp>
            <p:nvSpPr>
              <p:cNvPr id="111689" name="Line 88"/>
              <p:cNvSpPr>
                <a:spLocks noChangeShapeType="1"/>
              </p:cNvSpPr>
              <p:nvPr/>
            </p:nvSpPr>
            <p:spPr bwMode="auto">
              <a:xfrm flipV="1">
                <a:off x="5062" y="1619"/>
                <a:ext cx="187" cy="148"/>
              </a:xfrm>
              <a:prstGeom prst="line">
                <a:avLst/>
              </a:prstGeom>
              <a:noFill/>
              <a:ln w="38100">
                <a:solidFill>
                  <a:srgbClr val="FF00FF"/>
                </a:solidFill>
                <a:round/>
                <a:headEnd/>
                <a:tailEnd/>
              </a:ln>
            </p:spPr>
            <p:txBody>
              <a:bodyPr/>
              <a:lstStyle/>
              <a:p>
                <a:endParaRPr lang="zh-CN" altLang="en-US"/>
              </a:p>
            </p:txBody>
          </p:sp>
          <p:sp>
            <p:nvSpPr>
              <p:cNvPr id="111690" name="Line 89"/>
              <p:cNvSpPr>
                <a:spLocks noChangeShapeType="1"/>
              </p:cNvSpPr>
              <p:nvPr/>
            </p:nvSpPr>
            <p:spPr bwMode="auto">
              <a:xfrm>
                <a:off x="5249" y="1619"/>
                <a:ext cx="185" cy="14"/>
              </a:xfrm>
              <a:prstGeom prst="line">
                <a:avLst/>
              </a:prstGeom>
              <a:noFill/>
              <a:ln w="38100">
                <a:solidFill>
                  <a:srgbClr val="FF00FF"/>
                </a:solidFill>
                <a:round/>
                <a:headEnd/>
                <a:tailEnd/>
              </a:ln>
            </p:spPr>
            <p:txBody>
              <a:bodyPr/>
              <a:lstStyle/>
              <a:p>
                <a:endParaRPr lang="zh-CN" altLang="en-US"/>
              </a:p>
            </p:txBody>
          </p:sp>
          <p:sp>
            <p:nvSpPr>
              <p:cNvPr id="111691" name="Line 90"/>
              <p:cNvSpPr>
                <a:spLocks noChangeShapeType="1"/>
              </p:cNvSpPr>
              <p:nvPr/>
            </p:nvSpPr>
            <p:spPr bwMode="auto">
              <a:xfrm flipV="1">
                <a:off x="5434" y="1530"/>
                <a:ext cx="186" cy="103"/>
              </a:xfrm>
              <a:prstGeom prst="line">
                <a:avLst/>
              </a:prstGeom>
              <a:noFill/>
              <a:ln w="38100">
                <a:solidFill>
                  <a:srgbClr val="FF00FF"/>
                </a:solidFill>
                <a:round/>
                <a:headEnd/>
                <a:tailEnd/>
              </a:ln>
            </p:spPr>
            <p:txBody>
              <a:bodyPr/>
              <a:lstStyle/>
              <a:p>
                <a:endParaRPr lang="zh-CN" altLang="en-US"/>
              </a:p>
            </p:txBody>
          </p:sp>
          <p:sp>
            <p:nvSpPr>
              <p:cNvPr id="111692" name="Line 91"/>
              <p:cNvSpPr>
                <a:spLocks noChangeShapeType="1"/>
              </p:cNvSpPr>
              <p:nvPr/>
            </p:nvSpPr>
            <p:spPr bwMode="auto">
              <a:xfrm flipV="1">
                <a:off x="1294" y="2150"/>
                <a:ext cx="185" cy="29"/>
              </a:xfrm>
              <a:prstGeom prst="line">
                <a:avLst/>
              </a:prstGeom>
              <a:noFill/>
              <a:ln w="38100">
                <a:solidFill>
                  <a:srgbClr val="802060"/>
                </a:solidFill>
                <a:round/>
                <a:headEnd/>
                <a:tailEnd/>
              </a:ln>
            </p:spPr>
            <p:txBody>
              <a:bodyPr/>
              <a:lstStyle/>
              <a:p>
                <a:endParaRPr lang="zh-CN" altLang="en-US"/>
              </a:p>
            </p:txBody>
          </p:sp>
          <p:sp>
            <p:nvSpPr>
              <p:cNvPr id="111693" name="Line 92"/>
              <p:cNvSpPr>
                <a:spLocks noChangeShapeType="1"/>
              </p:cNvSpPr>
              <p:nvPr/>
            </p:nvSpPr>
            <p:spPr bwMode="auto">
              <a:xfrm flipV="1">
                <a:off x="1479" y="2135"/>
                <a:ext cx="186" cy="15"/>
              </a:xfrm>
              <a:prstGeom prst="line">
                <a:avLst/>
              </a:prstGeom>
              <a:noFill/>
              <a:ln w="38100">
                <a:solidFill>
                  <a:srgbClr val="802060"/>
                </a:solidFill>
                <a:round/>
                <a:headEnd/>
                <a:tailEnd/>
              </a:ln>
            </p:spPr>
            <p:txBody>
              <a:bodyPr/>
              <a:lstStyle/>
              <a:p>
                <a:endParaRPr lang="zh-CN" altLang="en-US"/>
              </a:p>
            </p:txBody>
          </p:sp>
          <p:sp>
            <p:nvSpPr>
              <p:cNvPr id="111694" name="Line 93"/>
              <p:cNvSpPr>
                <a:spLocks noChangeShapeType="1"/>
              </p:cNvSpPr>
              <p:nvPr/>
            </p:nvSpPr>
            <p:spPr bwMode="auto">
              <a:xfrm flipV="1">
                <a:off x="1665" y="2105"/>
                <a:ext cx="187" cy="30"/>
              </a:xfrm>
              <a:prstGeom prst="line">
                <a:avLst/>
              </a:prstGeom>
              <a:noFill/>
              <a:ln w="38100">
                <a:solidFill>
                  <a:srgbClr val="802060"/>
                </a:solidFill>
                <a:round/>
                <a:headEnd/>
                <a:tailEnd/>
              </a:ln>
            </p:spPr>
            <p:txBody>
              <a:bodyPr/>
              <a:lstStyle/>
              <a:p>
                <a:endParaRPr lang="zh-CN" altLang="en-US"/>
              </a:p>
            </p:txBody>
          </p:sp>
          <p:sp>
            <p:nvSpPr>
              <p:cNvPr id="111695" name="Line 94"/>
              <p:cNvSpPr>
                <a:spLocks noChangeShapeType="1"/>
              </p:cNvSpPr>
              <p:nvPr/>
            </p:nvSpPr>
            <p:spPr bwMode="auto">
              <a:xfrm flipV="1">
                <a:off x="1852" y="2075"/>
                <a:ext cx="202" cy="30"/>
              </a:xfrm>
              <a:prstGeom prst="line">
                <a:avLst/>
              </a:prstGeom>
              <a:noFill/>
              <a:ln w="38100">
                <a:solidFill>
                  <a:srgbClr val="802060"/>
                </a:solidFill>
                <a:round/>
                <a:headEnd/>
                <a:tailEnd/>
              </a:ln>
            </p:spPr>
            <p:txBody>
              <a:bodyPr/>
              <a:lstStyle/>
              <a:p>
                <a:endParaRPr lang="zh-CN" altLang="en-US"/>
              </a:p>
            </p:txBody>
          </p:sp>
          <p:sp>
            <p:nvSpPr>
              <p:cNvPr id="111696" name="Line 95"/>
              <p:cNvSpPr>
                <a:spLocks noChangeShapeType="1"/>
              </p:cNvSpPr>
              <p:nvPr/>
            </p:nvSpPr>
            <p:spPr bwMode="auto">
              <a:xfrm flipV="1">
                <a:off x="2054" y="2061"/>
                <a:ext cx="185" cy="14"/>
              </a:xfrm>
              <a:prstGeom prst="line">
                <a:avLst/>
              </a:prstGeom>
              <a:noFill/>
              <a:ln w="38100">
                <a:solidFill>
                  <a:srgbClr val="802060"/>
                </a:solidFill>
                <a:round/>
                <a:headEnd/>
                <a:tailEnd/>
              </a:ln>
            </p:spPr>
            <p:txBody>
              <a:bodyPr/>
              <a:lstStyle/>
              <a:p>
                <a:endParaRPr lang="zh-CN" altLang="en-US"/>
              </a:p>
            </p:txBody>
          </p:sp>
          <p:sp>
            <p:nvSpPr>
              <p:cNvPr id="111697" name="Line 96"/>
              <p:cNvSpPr>
                <a:spLocks noChangeShapeType="1"/>
              </p:cNvSpPr>
              <p:nvPr/>
            </p:nvSpPr>
            <p:spPr bwMode="auto">
              <a:xfrm flipV="1">
                <a:off x="2239" y="2032"/>
                <a:ext cx="186" cy="29"/>
              </a:xfrm>
              <a:prstGeom prst="line">
                <a:avLst/>
              </a:prstGeom>
              <a:noFill/>
              <a:ln w="38100">
                <a:solidFill>
                  <a:srgbClr val="802060"/>
                </a:solidFill>
                <a:round/>
                <a:headEnd/>
                <a:tailEnd/>
              </a:ln>
            </p:spPr>
            <p:txBody>
              <a:bodyPr/>
              <a:lstStyle/>
              <a:p>
                <a:endParaRPr lang="zh-CN" altLang="en-US"/>
              </a:p>
            </p:txBody>
          </p:sp>
          <p:sp>
            <p:nvSpPr>
              <p:cNvPr id="111698" name="Line 97"/>
              <p:cNvSpPr>
                <a:spLocks noChangeShapeType="1"/>
              </p:cNvSpPr>
              <p:nvPr/>
            </p:nvSpPr>
            <p:spPr bwMode="auto">
              <a:xfrm flipV="1">
                <a:off x="2425" y="2017"/>
                <a:ext cx="187" cy="15"/>
              </a:xfrm>
              <a:prstGeom prst="line">
                <a:avLst/>
              </a:prstGeom>
              <a:noFill/>
              <a:ln w="38100">
                <a:solidFill>
                  <a:srgbClr val="802060"/>
                </a:solidFill>
                <a:round/>
                <a:headEnd/>
                <a:tailEnd/>
              </a:ln>
            </p:spPr>
            <p:txBody>
              <a:bodyPr/>
              <a:lstStyle/>
              <a:p>
                <a:endParaRPr lang="zh-CN" altLang="en-US"/>
              </a:p>
            </p:txBody>
          </p:sp>
          <p:sp>
            <p:nvSpPr>
              <p:cNvPr id="111699" name="Line 98"/>
              <p:cNvSpPr>
                <a:spLocks noChangeShapeType="1"/>
              </p:cNvSpPr>
              <p:nvPr/>
            </p:nvSpPr>
            <p:spPr bwMode="auto">
              <a:xfrm flipV="1">
                <a:off x="2612" y="1987"/>
                <a:ext cx="186" cy="30"/>
              </a:xfrm>
              <a:prstGeom prst="line">
                <a:avLst/>
              </a:prstGeom>
              <a:noFill/>
              <a:ln w="38100">
                <a:solidFill>
                  <a:srgbClr val="802060"/>
                </a:solidFill>
                <a:round/>
                <a:headEnd/>
                <a:tailEnd/>
              </a:ln>
            </p:spPr>
            <p:txBody>
              <a:bodyPr/>
              <a:lstStyle/>
              <a:p>
                <a:endParaRPr lang="zh-CN" altLang="en-US"/>
              </a:p>
            </p:txBody>
          </p:sp>
          <p:sp>
            <p:nvSpPr>
              <p:cNvPr id="111700" name="Line 99"/>
              <p:cNvSpPr>
                <a:spLocks noChangeShapeType="1"/>
              </p:cNvSpPr>
              <p:nvPr/>
            </p:nvSpPr>
            <p:spPr bwMode="auto">
              <a:xfrm flipV="1">
                <a:off x="2798" y="1973"/>
                <a:ext cx="185" cy="14"/>
              </a:xfrm>
              <a:prstGeom prst="line">
                <a:avLst/>
              </a:prstGeom>
              <a:noFill/>
              <a:ln w="38100">
                <a:solidFill>
                  <a:srgbClr val="802060"/>
                </a:solidFill>
                <a:round/>
                <a:headEnd/>
                <a:tailEnd/>
              </a:ln>
            </p:spPr>
            <p:txBody>
              <a:bodyPr/>
              <a:lstStyle/>
              <a:p>
                <a:endParaRPr lang="zh-CN" altLang="en-US"/>
              </a:p>
            </p:txBody>
          </p:sp>
          <p:sp>
            <p:nvSpPr>
              <p:cNvPr id="111701" name="Line 100"/>
              <p:cNvSpPr>
                <a:spLocks noChangeShapeType="1"/>
              </p:cNvSpPr>
              <p:nvPr/>
            </p:nvSpPr>
            <p:spPr bwMode="auto">
              <a:xfrm flipV="1">
                <a:off x="2983" y="1943"/>
                <a:ext cx="187" cy="30"/>
              </a:xfrm>
              <a:prstGeom prst="line">
                <a:avLst/>
              </a:prstGeom>
              <a:noFill/>
              <a:ln w="38100">
                <a:solidFill>
                  <a:srgbClr val="802060"/>
                </a:solidFill>
                <a:round/>
                <a:headEnd/>
                <a:tailEnd/>
              </a:ln>
            </p:spPr>
            <p:txBody>
              <a:bodyPr/>
              <a:lstStyle/>
              <a:p>
                <a:endParaRPr lang="zh-CN" altLang="en-US"/>
              </a:p>
            </p:txBody>
          </p:sp>
          <p:sp>
            <p:nvSpPr>
              <p:cNvPr id="111702" name="Line 101"/>
              <p:cNvSpPr>
                <a:spLocks noChangeShapeType="1"/>
              </p:cNvSpPr>
              <p:nvPr/>
            </p:nvSpPr>
            <p:spPr bwMode="auto">
              <a:xfrm flipV="1">
                <a:off x="3170" y="1913"/>
                <a:ext cx="186" cy="30"/>
              </a:xfrm>
              <a:prstGeom prst="line">
                <a:avLst/>
              </a:prstGeom>
              <a:noFill/>
              <a:ln w="38100">
                <a:solidFill>
                  <a:srgbClr val="802060"/>
                </a:solidFill>
                <a:round/>
                <a:headEnd/>
                <a:tailEnd/>
              </a:ln>
            </p:spPr>
            <p:txBody>
              <a:bodyPr/>
              <a:lstStyle/>
              <a:p>
                <a:endParaRPr lang="zh-CN" altLang="en-US"/>
              </a:p>
            </p:txBody>
          </p:sp>
          <p:sp>
            <p:nvSpPr>
              <p:cNvPr id="111703" name="Line 102"/>
              <p:cNvSpPr>
                <a:spLocks noChangeShapeType="1"/>
              </p:cNvSpPr>
              <p:nvPr/>
            </p:nvSpPr>
            <p:spPr bwMode="auto">
              <a:xfrm flipV="1">
                <a:off x="3356" y="1899"/>
                <a:ext cx="202" cy="14"/>
              </a:xfrm>
              <a:prstGeom prst="line">
                <a:avLst/>
              </a:prstGeom>
              <a:noFill/>
              <a:ln w="38100">
                <a:solidFill>
                  <a:srgbClr val="802060"/>
                </a:solidFill>
                <a:round/>
                <a:headEnd/>
                <a:tailEnd/>
              </a:ln>
            </p:spPr>
            <p:txBody>
              <a:bodyPr/>
              <a:lstStyle/>
              <a:p>
                <a:endParaRPr lang="zh-CN" altLang="en-US"/>
              </a:p>
            </p:txBody>
          </p:sp>
          <p:sp>
            <p:nvSpPr>
              <p:cNvPr id="111704" name="Line 103"/>
              <p:cNvSpPr>
                <a:spLocks noChangeShapeType="1"/>
              </p:cNvSpPr>
              <p:nvPr/>
            </p:nvSpPr>
            <p:spPr bwMode="auto">
              <a:xfrm flipV="1">
                <a:off x="3558" y="1870"/>
                <a:ext cx="185" cy="29"/>
              </a:xfrm>
              <a:prstGeom prst="line">
                <a:avLst/>
              </a:prstGeom>
              <a:noFill/>
              <a:ln w="38100">
                <a:solidFill>
                  <a:srgbClr val="802060"/>
                </a:solidFill>
                <a:round/>
                <a:headEnd/>
                <a:tailEnd/>
              </a:ln>
            </p:spPr>
            <p:txBody>
              <a:bodyPr/>
              <a:lstStyle/>
              <a:p>
                <a:endParaRPr lang="zh-CN" altLang="en-US"/>
              </a:p>
            </p:txBody>
          </p:sp>
          <p:sp>
            <p:nvSpPr>
              <p:cNvPr id="111705" name="Line 104"/>
              <p:cNvSpPr>
                <a:spLocks noChangeShapeType="1"/>
              </p:cNvSpPr>
              <p:nvPr/>
            </p:nvSpPr>
            <p:spPr bwMode="auto">
              <a:xfrm flipV="1">
                <a:off x="3743" y="1855"/>
                <a:ext cx="186" cy="15"/>
              </a:xfrm>
              <a:prstGeom prst="line">
                <a:avLst/>
              </a:prstGeom>
              <a:noFill/>
              <a:ln w="38100">
                <a:solidFill>
                  <a:srgbClr val="802060"/>
                </a:solidFill>
                <a:round/>
                <a:headEnd/>
                <a:tailEnd/>
              </a:ln>
            </p:spPr>
            <p:txBody>
              <a:bodyPr/>
              <a:lstStyle/>
              <a:p>
                <a:endParaRPr lang="zh-CN" altLang="en-US"/>
              </a:p>
            </p:txBody>
          </p:sp>
          <p:sp>
            <p:nvSpPr>
              <p:cNvPr id="111706" name="Line 105"/>
              <p:cNvSpPr>
                <a:spLocks noChangeShapeType="1"/>
              </p:cNvSpPr>
              <p:nvPr/>
            </p:nvSpPr>
            <p:spPr bwMode="auto">
              <a:xfrm flipV="1">
                <a:off x="3929" y="1825"/>
                <a:ext cx="187" cy="30"/>
              </a:xfrm>
              <a:prstGeom prst="line">
                <a:avLst/>
              </a:prstGeom>
              <a:noFill/>
              <a:ln w="38100">
                <a:solidFill>
                  <a:srgbClr val="802060"/>
                </a:solidFill>
                <a:round/>
                <a:headEnd/>
                <a:tailEnd/>
              </a:ln>
            </p:spPr>
            <p:txBody>
              <a:bodyPr/>
              <a:lstStyle/>
              <a:p>
                <a:endParaRPr lang="zh-CN" altLang="en-US"/>
              </a:p>
            </p:txBody>
          </p:sp>
          <p:sp>
            <p:nvSpPr>
              <p:cNvPr id="111707" name="Line 106"/>
              <p:cNvSpPr>
                <a:spLocks noChangeShapeType="1"/>
              </p:cNvSpPr>
              <p:nvPr/>
            </p:nvSpPr>
            <p:spPr bwMode="auto">
              <a:xfrm flipV="1">
                <a:off x="4116" y="1795"/>
                <a:ext cx="186" cy="30"/>
              </a:xfrm>
              <a:prstGeom prst="line">
                <a:avLst/>
              </a:prstGeom>
              <a:noFill/>
              <a:ln w="38100">
                <a:solidFill>
                  <a:srgbClr val="802060"/>
                </a:solidFill>
                <a:round/>
                <a:headEnd/>
                <a:tailEnd/>
              </a:ln>
            </p:spPr>
            <p:txBody>
              <a:bodyPr/>
              <a:lstStyle/>
              <a:p>
                <a:endParaRPr lang="zh-CN" altLang="en-US"/>
              </a:p>
            </p:txBody>
          </p:sp>
          <p:sp>
            <p:nvSpPr>
              <p:cNvPr id="111708" name="Line 107"/>
              <p:cNvSpPr>
                <a:spLocks noChangeShapeType="1"/>
              </p:cNvSpPr>
              <p:nvPr/>
            </p:nvSpPr>
            <p:spPr bwMode="auto">
              <a:xfrm flipV="1">
                <a:off x="4302" y="1781"/>
                <a:ext cx="187" cy="14"/>
              </a:xfrm>
              <a:prstGeom prst="line">
                <a:avLst/>
              </a:prstGeom>
              <a:noFill/>
              <a:ln w="38100">
                <a:solidFill>
                  <a:srgbClr val="802060"/>
                </a:solidFill>
                <a:round/>
                <a:headEnd/>
                <a:tailEnd/>
              </a:ln>
            </p:spPr>
            <p:txBody>
              <a:bodyPr/>
              <a:lstStyle/>
              <a:p>
                <a:endParaRPr lang="zh-CN" altLang="en-US"/>
              </a:p>
            </p:txBody>
          </p:sp>
          <p:sp>
            <p:nvSpPr>
              <p:cNvPr id="111709" name="Line 108"/>
              <p:cNvSpPr>
                <a:spLocks noChangeShapeType="1"/>
              </p:cNvSpPr>
              <p:nvPr/>
            </p:nvSpPr>
            <p:spPr bwMode="auto">
              <a:xfrm flipV="1">
                <a:off x="4489" y="1752"/>
                <a:ext cx="185" cy="29"/>
              </a:xfrm>
              <a:prstGeom prst="line">
                <a:avLst/>
              </a:prstGeom>
              <a:noFill/>
              <a:ln w="38100">
                <a:solidFill>
                  <a:srgbClr val="802060"/>
                </a:solidFill>
                <a:round/>
                <a:headEnd/>
                <a:tailEnd/>
              </a:ln>
            </p:spPr>
            <p:txBody>
              <a:bodyPr/>
              <a:lstStyle/>
              <a:p>
                <a:endParaRPr lang="zh-CN" altLang="en-US"/>
              </a:p>
            </p:txBody>
          </p:sp>
          <p:sp>
            <p:nvSpPr>
              <p:cNvPr id="111710" name="Line 109"/>
              <p:cNvSpPr>
                <a:spLocks noChangeShapeType="1"/>
              </p:cNvSpPr>
              <p:nvPr/>
            </p:nvSpPr>
            <p:spPr bwMode="auto">
              <a:xfrm flipV="1">
                <a:off x="4674" y="1737"/>
                <a:ext cx="186" cy="15"/>
              </a:xfrm>
              <a:prstGeom prst="line">
                <a:avLst/>
              </a:prstGeom>
              <a:noFill/>
              <a:ln w="38100">
                <a:solidFill>
                  <a:srgbClr val="802060"/>
                </a:solidFill>
                <a:round/>
                <a:headEnd/>
                <a:tailEnd/>
              </a:ln>
            </p:spPr>
            <p:txBody>
              <a:bodyPr/>
              <a:lstStyle/>
              <a:p>
                <a:endParaRPr lang="zh-CN" altLang="en-US"/>
              </a:p>
            </p:txBody>
          </p:sp>
          <p:sp>
            <p:nvSpPr>
              <p:cNvPr id="111711" name="Line 110"/>
              <p:cNvSpPr>
                <a:spLocks noChangeShapeType="1"/>
              </p:cNvSpPr>
              <p:nvPr/>
            </p:nvSpPr>
            <p:spPr bwMode="auto">
              <a:xfrm flipV="1">
                <a:off x="4860" y="1707"/>
                <a:ext cx="202" cy="30"/>
              </a:xfrm>
              <a:prstGeom prst="line">
                <a:avLst/>
              </a:prstGeom>
              <a:noFill/>
              <a:ln w="38100">
                <a:solidFill>
                  <a:srgbClr val="802060"/>
                </a:solidFill>
                <a:round/>
                <a:headEnd/>
                <a:tailEnd/>
              </a:ln>
            </p:spPr>
            <p:txBody>
              <a:bodyPr/>
              <a:lstStyle/>
              <a:p>
                <a:endParaRPr lang="zh-CN" altLang="en-US"/>
              </a:p>
            </p:txBody>
          </p:sp>
          <p:sp>
            <p:nvSpPr>
              <p:cNvPr id="111712" name="Line 111"/>
              <p:cNvSpPr>
                <a:spLocks noChangeShapeType="1"/>
              </p:cNvSpPr>
              <p:nvPr/>
            </p:nvSpPr>
            <p:spPr bwMode="auto">
              <a:xfrm flipV="1">
                <a:off x="5062" y="1678"/>
                <a:ext cx="187" cy="29"/>
              </a:xfrm>
              <a:prstGeom prst="line">
                <a:avLst/>
              </a:prstGeom>
              <a:noFill/>
              <a:ln w="38100">
                <a:solidFill>
                  <a:srgbClr val="802060"/>
                </a:solidFill>
                <a:round/>
                <a:headEnd/>
                <a:tailEnd/>
              </a:ln>
            </p:spPr>
            <p:txBody>
              <a:bodyPr/>
              <a:lstStyle/>
              <a:p>
                <a:endParaRPr lang="zh-CN" altLang="en-US"/>
              </a:p>
            </p:txBody>
          </p:sp>
          <p:sp>
            <p:nvSpPr>
              <p:cNvPr id="111713" name="Line 112"/>
              <p:cNvSpPr>
                <a:spLocks noChangeShapeType="1"/>
              </p:cNvSpPr>
              <p:nvPr/>
            </p:nvSpPr>
            <p:spPr bwMode="auto">
              <a:xfrm flipV="1">
                <a:off x="5249" y="1663"/>
                <a:ext cx="185" cy="15"/>
              </a:xfrm>
              <a:prstGeom prst="line">
                <a:avLst/>
              </a:prstGeom>
              <a:noFill/>
              <a:ln w="38100">
                <a:solidFill>
                  <a:srgbClr val="802060"/>
                </a:solidFill>
                <a:round/>
                <a:headEnd/>
                <a:tailEnd/>
              </a:ln>
            </p:spPr>
            <p:txBody>
              <a:bodyPr/>
              <a:lstStyle/>
              <a:p>
                <a:endParaRPr lang="zh-CN" altLang="en-US"/>
              </a:p>
            </p:txBody>
          </p:sp>
          <p:sp>
            <p:nvSpPr>
              <p:cNvPr id="111714" name="Line 113"/>
              <p:cNvSpPr>
                <a:spLocks noChangeShapeType="1"/>
              </p:cNvSpPr>
              <p:nvPr/>
            </p:nvSpPr>
            <p:spPr bwMode="auto">
              <a:xfrm flipV="1">
                <a:off x="5434" y="1633"/>
                <a:ext cx="186" cy="30"/>
              </a:xfrm>
              <a:prstGeom prst="line">
                <a:avLst/>
              </a:prstGeom>
              <a:noFill/>
              <a:ln w="38100">
                <a:solidFill>
                  <a:srgbClr val="802060"/>
                </a:solidFill>
                <a:round/>
                <a:headEnd/>
                <a:tailEnd/>
              </a:ln>
            </p:spPr>
            <p:txBody>
              <a:bodyPr/>
              <a:lstStyle/>
              <a:p>
                <a:endParaRPr lang="zh-CN" altLang="en-US"/>
              </a:p>
            </p:txBody>
          </p:sp>
          <p:sp>
            <p:nvSpPr>
              <p:cNvPr id="111715" name="Oval 114"/>
              <p:cNvSpPr>
                <a:spLocks noChangeArrowheads="1"/>
              </p:cNvSpPr>
              <p:nvPr/>
            </p:nvSpPr>
            <p:spPr bwMode="auto">
              <a:xfrm>
                <a:off x="1247" y="2267"/>
                <a:ext cx="78" cy="74"/>
              </a:xfrm>
              <a:prstGeom prst="ellipse">
                <a:avLst/>
              </a:prstGeom>
              <a:solidFill>
                <a:srgbClr val="FFFF00"/>
              </a:solidFill>
              <a:ln w="38100">
                <a:solidFill>
                  <a:srgbClr val="FF0000"/>
                </a:solidFill>
                <a:round/>
                <a:headEnd/>
                <a:tailEnd/>
              </a:ln>
            </p:spPr>
            <p:txBody>
              <a:bodyPr/>
              <a:lstStyle/>
              <a:p>
                <a:endParaRPr lang="zh-CN" altLang="en-US"/>
              </a:p>
            </p:txBody>
          </p:sp>
          <p:sp>
            <p:nvSpPr>
              <p:cNvPr id="111716" name="Oval 115"/>
              <p:cNvSpPr>
                <a:spLocks noChangeArrowheads="1"/>
              </p:cNvSpPr>
              <p:nvPr/>
            </p:nvSpPr>
            <p:spPr bwMode="auto">
              <a:xfrm>
                <a:off x="1432" y="1870"/>
                <a:ext cx="78" cy="73"/>
              </a:xfrm>
              <a:prstGeom prst="ellipse">
                <a:avLst/>
              </a:prstGeom>
              <a:solidFill>
                <a:srgbClr val="FFFF00"/>
              </a:solidFill>
              <a:ln w="38100">
                <a:solidFill>
                  <a:srgbClr val="FF0000"/>
                </a:solidFill>
                <a:round/>
                <a:headEnd/>
                <a:tailEnd/>
              </a:ln>
            </p:spPr>
            <p:txBody>
              <a:bodyPr/>
              <a:lstStyle/>
              <a:p>
                <a:endParaRPr lang="zh-CN" altLang="en-US"/>
              </a:p>
            </p:txBody>
          </p:sp>
          <p:sp>
            <p:nvSpPr>
              <p:cNvPr id="111717" name="Oval 116"/>
              <p:cNvSpPr>
                <a:spLocks noChangeArrowheads="1"/>
              </p:cNvSpPr>
              <p:nvPr/>
            </p:nvSpPr>
            <p:spPr bwMode="auto">
              <a:xfrm>
                <a:off x="1619" y="2017"/>
                <a:ext cx="77" cy="73"/>
              </a:xfrm>
              <a:prstGeom prst="ellipse">
                <a:avLst/>
              </a:prstGeom>
              <a:solidFill>
                <a:srgbClr val="FFFF00"/>
              </a:solidFill>
              <a:ln w="38100">
                <a:solidFill>
                  <a:srgbClr val="FF0000"/>
                </a:solidFill>
                <a:round/>
                <a:headEnd/>
                <a:tailEnd/>
              </a:ln>
            </p:spPr>
            <p:txBody>
              <a:bodyPr/>
              <a:lstStyle/>
              <a:p>
                <a:endParaRPr lang="zh-CN" altLang="en-US"/>
              </a:p>
            </p:txBody>
          </p:sp>
          <p:sp>
            <p:nvSpPr>
              <p:cNvPr id="111718" name="Oval 117"/>
              <p:cNvSpPr>
                <a:spLocks noChangeArrowheads="1"/>
              </p:cNvSpPr>
              <p:nvPr/>
            </p:nvSpPr>
            <p:spPr bwMode="auto">
              <a:xfrm>
                <a:off x="1805" y="2253"/>
                <a:ext cx="78" cy="74"/>
              </a:xfrm>
              <a:prstGeom prst="ellipse">
                <a:avLst/>
              </a:prstGeom>
              <a:solidFill>
                <a:srgbClr val="FFFF00"/>
              </a:solidFill>
              <a:ln w="38100">
                <a:solidFill>
                  <a:srgbClr val="FF0000"/>
                </a:solidFill>
                <a:round/>
                <a:headEnd/>
                <a:tailEnd/>
              </a:ln>
            </p:spPr>
            <p:txBody>
              <a:bodyPr/>
              <a:lstStyle/>
              <a:p>
                <a:endParaRPr lang="zh-CN" altLang="en-US"/>
              </a:p>
            </p:txBody>
          </p:sp>
          <p:sp>
            <p:nvSpPr>
              <p:cNvPr id="111719" name="Oval 118"/>
              <p:cNvSpPr>
                <a:spLocks noChangeArrowheads="1"/>
              </p:cNvSpPr>
              <p:nvPr/>
            </p:nvSpPr>
            <p:spPr bwMode="auto">
              <a:xfrm>
                <a:off x="2007" y="2135"/>
                <a:ext cx="78" cy="73"/>
              </a:xfrm>
              <a:prstGeom prst="ellipse">
                <a:avLst/>
              </a:prstGeom>
              <a:solidFill>
                <a:srgbClr val="FFFF00"/>
              </a:solidFill>
              <a:ln w="38100">
                <a:solidFill>
                  <a:srgbClr val="FF0000"/>
                </a:solidFill>
                <a:round/>
                <a:headEnd/>
                <a:tailEnd/>
              </a:ln>
            </p:spPr>
            <p:txBody>
              <a:bodyPr/>
              <a:lstStyle/>
              <a:p>
                <a:endParaRPr lang="zh-CN" altLang="en-US"/>
              </a:p>
            </p:txBody>
          </p:sp>
          <p:sp>
            <p:nvSpPr>
              <p:cNvPr id="111720" name="Oval 119"/>
              <p:cNvSpPr>
                <a:spLocks noChangeArrowheads="1"/>
              </p:cNvSpPr>
              <p:nvPr/>
            </p:nvSpPr>
            <p:spPr bwMode="auto">
              <a:xfrm>
                <a:off x="2192" y="1752"/>
                <a:ext cx="78" cy="73"/>
              </a:xfrm>
              <a:prstGeom prst="ellipse">
                <a:avLst/>
              </a:prstGeom>
              <a:solidFill>
                <a:srgbClr val="FFFF00"/>
              </a:solidFill>
              <a:ln w="38100">
                <a:solidFill>
                  <a:srgbClr val="FF0000"/>
                </a:solidFill>
                <a:round/>
                <a:headEnd/>
                <a:tailEnd/>
              </a:ln>
            </p:spPr>
            <p:txBody>
              <a:bodyPr/>
              <a:lstStyle/>
              <a:p>
                <a:endParaRPr lang="zh-CN" altLang="en-US"/>
              </a:p>
            </p:txBody>
          </p:sp>
          <p:sp>
            <p:nvSpPr>
              <p:cNvPr id="111721" name="Oval 120"/>
              <p:cNvSpPr>
                <a:spLocks noChangeArrowheads="1"/>
              </p:cNvSpPr>
              <p:nvPr/>
            </p:nvSpPr>
            <p:spPr bwMode="auto">
              <a:xfrm>
                <a:off x="2379" y="1870"/>
                <a:ext cx="77" cy="73"/>
              </a:xfrm>
              <a:prstGeom prst="ellipse">
                <a:avLst/>
              </a:prstGeom>
              <a:solidFill>
                <a:srgbClr val="FFFF00"/>
              </a:solidFill>
              <a:ln w="38100">
                <a:solidFill>
                  <a:srgbClr val="FF0000"/>
                </a:solidFill>
                <a:round/>
                <a:headEnd/>
                <a:tailEnd/>
              </a:ln>
            </p:spPr>
            <p:txBody>
              <a:bodyPr/>
              <a:lstStyle/>
              <a:p>
                <a:endParaRPr lang="zh-CN" altLang="en-US"/>
              </a:p>
            </p:txBody>
          </p:sp>
          <p:sp>
            <p:nvSpPr>
              <p:cNvPr id="111722" name="Oval 121"/>
              <p:cNvSpPr>
                <a:spLocks noChangeArrowheads="1"/>
              </p:cNvSpPr>
              <p:nvPr/>
            </p:nvSpPr>
            <p:spPr bwMode="auto">
              <a:xfrm>
                <a:off x="2565" y="2179"/>
                <a:ext cx="78" cy="74"/>
              </a:xfrm>
              <a:prstGeom prst="ellipse">
                <a:avLst/>
              </a:prstGeom>
              <a:solidFill>
                <a:srgbClr val="FFFF00"/>
              </a:solidFill>
              <a:ln w="38100">
                <a:solidFill>
                  <a:srgbClr val="FF0000"/>
                </a:solidFill>
                <a:round/>
                <a:headEnd/>
                <a:tailEnd/>
              </a:ln>
            </p:spPr>
            <p:txBody>
              <a:bodyPr/>
              <a:lstStyle/>
              <a:p>
                <a:endParaRPr lang="zh-CN" altLang="en-US"/>
              </a:p>
            </p:txBody>
          </p:sp>
          <p:sp>
            <p:nvSpPr>
              <p:cNvPr id="111723" name="Oval 122"/>
              <p:cNvSpPr>
                <a:spLocks noChangeArrowheads="1"/>
              </p:cNvSpPr>
              <p:nvPr/>
            </p:nvSpPr>
            <p:spPr bwMode="auto">
              <a:xfrm>
                <a:off x="2751" y="2075"/>
                <a:ext cx="78" cy="75"/>
              </a:xfrm>
              <a:prstGeom prst="ellipse">
                <a:avLst/>
              </a:prstGeom>
              <a:solidFill>
                <a:srgbClr val="FFFF00"/>
              </a:solidFill>
              <a:ln w="38100">
                <a:solidFill>
                  <a:srgbClr val="FF0000"/>
                </a:solidFill>
                <a:round/>
                <a:headEnd/>
                <a:tailEnd/>
              </a:ln>
            </p:spPr>
            <p:txBody>
              <a:bodyPr/>
              <a:lstStyle/>
              <a:p>
                <a:endParaRPr lang="zh-CN" altLang="en-US"/>
              </a:p>
            </p:txBody>
          </p:sp>
          <p:sp>
            <p:nvSpPr>
              <p:cNvPr id="111724" name="Oval 123"/>
              <p:cNvSpPr>
                <a:spLocks noChangeArrowheads="1"/>
              </p:cNvSpPr>
              <p:nvPr/>
            </p:nvSpPr>
            <p:spPr bwMode="auto">
              <a:xfrm>
                <a:off x="2938" y="1590"/>
                <a:ext cx="76" cy="73"/>
              </a:xfrm>
              <a:prstGeom prst="ellipse">
                <a:avLst/>
              </a:prstGeom>
              <a:solidFill>
                <a:srgbClr val="FFFF00"/>
              </a:solidFill>
              <a:ln w="38100">
                <a:solidFill>
                  <a:srgbClr val="FF0000"/>
                </a:solidFill>
                <a:round/>
                <a:headEnd/>
                <a:tailEnd/>
              </a:ln>
            </p:spPr>
            <p:txBody>
              <a:bodyPr/>
              <a:lstStyle/>
              <a:p>
                <a:endParaRPr lang="zh-CN" altLang="en-US"/>
              </a:p>
            </p:txBody>
          </p:sp>
          <p:sp>
            <p:nvSpPr>
              <p:cNvPr id="111725" name="Oval 124"/>
              <p:cNvSpPr>
                <a:spLocks noChangeArrowheads="1"/>
              </p:cNvSpPr>
              <p:nvPr/>
            </p:nvSpPr>
            <p:spPr bwMode="auto">
              <a:xfrm>
                <a:off x="3123" y="1737"/>
                <a:ext cx="78" cy="73"/>
              </a:xfrm>
              <a:prstGeom prst="ellipse">
                <a:avLst/>
              </a:prstGeom>
              <a:solidFill>
                <a:srgbClr val="FFFF00"/>
              </a:solidFill>
              <a:ln w="38100">
                <a:solidFill>
                  <a:srgbClr val="FF0000"/>
                </a:solidFill>
                <a:round/>
                <a:headEnd/>
                <a:tailEnd/>
              </a:ln>
            </p:spPr>
            <p:txBody>
              <a:bodyPr/>
              <a:lstStyle/>
              <a:p>
                <a:endParaRPr lang="zh-CN" altLang="en-US"/>
              </a:p>
            </p:txBody>
          </p:sp>
          <p:sp>
            <p:nvSpPr>
              <p:cNvPr id="111726" name="Oval 125"/>
              <p:cNvSpPr>
                <a:spLocks noChangeArrowheads="1"/>
              </p:cNvSpPr>
              <p:nvPr/>
            </p:nvSpPr>
            <p:spPr bwMode="auto">
              <a:xfrm>
                <a:off x="3309" y="2179"/>
                <a:ext cx="78" cy="74"/>
              </a:xfrm>
              <a:prstGeom prst="ellipse">
                <a:avLst/>
              </a:prstGeom>
              <a:solidFill>
                <a:srgbClr val="FFFF00"/>
              </a:solidFill>
              <a:ln w="38100">
                <a:solidFill>
                  <a:srgbClr val="FF0000"/>
                </a:solidFill>
                <a:round/>
                <a:headEnd/>
                <a:tailEnd/>
              </a:ln>
            </p:spPr>
            <p:txBody>
              <a:bodyPr/>
              <a:lstStyle/>
              <a:p>
                <a:endParaRPr lang="zh-CN" altLang="en-US"/>
              </a:p>
            </p:txBody>
          </p:sp>
          <p:sp>
            <p:nvSpPr>
              <p:cNvPr id="111727" name="Oval 126"/>
              <p:cNvSpPr>
                <a:spLocks noChangeArrowheads="1"/>
              </p:cNvSpPr>
              <p:nvPr/>
            </p:nvSpPr>
            <p:spPr bwMode="auto">
              <a:xfrm>
                <a:off x="3511" y="2061"/>
                <a:ext cx="78" cy="74"/>
              </a:xfrm>
              <a:prstGeom prst="ellipse">
                <a:avLst/>
              </a:prstGeom>
              <a:solidFill>
                <a:srgbClr val="FFFF00"/>
              </a:solidFill>
              <a:ln w="38100">
                <a:solidFill>
                  <a:srgbClr val="FF0000"/>
                </a:solidFill>
                <a:round/>
                <a:headEnd/>
                <a:tailEnd/>
              </a:ln>
            </p:spPr>
            <p:txBody>
              <a:bodyPr/>
              <a:lstStyle/>
              <a:p>
                <a:endParaRPr lang="zh-CN" altLang="en-US"/>
              </a:p>
            </p:txBody>
          </p:sp>
          <p:sp>
            <p:nvSpPr>
              <p:cNvPr id="111728" name="Oval 127"/>
              <p:cNvSpPr>
                <a:spLocks noChangeArrowheads="1"/>
              </p:cNvSpPr>
              <p:nvPr/>
            </p:nvSpPr>
            <p:spPr bwMode="auto">
              <a:xfrm>
                <a:off x="3698" y="1590"/>
                <a:ext cx="76" cy="73"/>
              </a:xfrm>
              <a:prstGeom prst="ellipse">
                <a:avLst/>
              </a:prstGeom>
              <a:solidFill>
                <a:srgbClr val="FFFF00"/>
              </a:solidFill>
              <a:ln w="38100">
                <a:solidFill>
                  <a:srgbClr val="FF0000"/>
                </a:solidFill>
                <a:round/>
                <a:headEnd/>
                <a:tailEnd/>
              </a:ln>
            </p:spPr>
            <p:txBody>
              <a:bodyPr/>
              <a:lstStyle/>
              <a:p>
                <a:endParaRPr lang="zh-CN" altLang="en-US"/>
              </a:p>
            </p:txBody>
          </p:sp>
          <p:sp>
            <p:nvSpPr>
              <p:cNvPr id="111729" name="Oval 128"/>
              <p:cNvSpPr>
                <a:spLocks noChangeArrowheads="1"/>
              </p:cNvSpPr>
              <p:nvPr/>
            </p:nvSpPr>
            <p:spPr bwMode="auto">
              <a:xfrm>
                <a:off x="3883" y="1752"/>
                <a:ext cx="78" cy="73"/>
              </a:xfrm>
              <a:prstGeom prst="ellipse">
                <a:avLst/>
              </a:prstGeom>
              <a:solidFill>
                <a:srgbClr val="FFFF00"/>
              </a:solidFill>
              <a:ln w="38100">
                <a:solidFill>
                  <a:srgbClr val="FF0000"/>
                </a:solidFill>
                <a:round/>
                <a:headEnd/>
                <a:tailEnd/>
              </a:ln>
            </p:spPr>
            <p:txBody>
              <a:bodyPr/>
              <a:lstStyle/>
              <a:p>
                <a:endParaRPr lang="zh-CN" altLang="en-US"/>
              </a:p>
            </p:txBody>
          </p:sp>
          <p:sp>
            <p:nvSpPr>
              <p:cNvPr id="111730" name="Oval 129"/>
              <p:cNvSpPr>
                <a:spLocks noChangeArrowheads="1"/>
              </p:cNvSpPr>
              <p:nvPr/>
            </p:nvSpPr>
            <p:spPr bwMode="auto">
              <a:xfrm>
                <a:off x="4069" y="2150"/>
                <a:ext cx="78" cy="73"/>
              </a:xfrm>
              <a:prstGeom prst="ellipse">
                <a:avLst/>
              </a:prstGeom>
              <a:solidFill>
                <a:srgbClr val="FFFF00"/>
              </a:solidFill>
              <a:ln w="38100">
                <a:solidFill>
                  <a:srgbClr val="FF0000"/>
                </a:solidFill>
                <a:round/>
                <a:headEnd/>
                <a:tailEnd/>
              </a:ln>
            </p:spPr>
            <p:txBody>
              <a:bodyPr/>
              <a:lstStyle/>
              <a:p>
                <a:endParaRPr lang="zh-CN" altLang="en-US"/>
              </a:p>
            </p:txBody>
          </p:sp>
          <p:sp>
            <p:nvSpPr>
              <p:cNvPr id="111731" name="Oval 130"/>
              <p:cNvSpPr>
                <a:spLocks noChangeArrowheads="1"/>
              </p:cNvSpPr>
              <p:nvPr/>
            </p:nvSpPr>
            <p:spPr bwMode="auto">
              <a:xfrm>
                <a:off x="4256" y="1913"/>
                <a:ext cx="77" cy="74"/>
              </a:xfrm>
              <a:prstGeom prst="ellipse">
                <a:avLst/>
              </a:prstGeom>
              <a:solidFill>
                <a:srgbClr val="FFFF00"/>
              </a:solidFill>
              <a:ln w="38100">
                <a:solidFill>
                  <a:srgbClr val="FF0000"/>
                </a:solidFill>
                <a:round/>
                <a:headEnd/>
                <a:tailEnd/>
              </a:ln>
            </p:spPr>
            <p:txBody>
              <a:bodyPr/>
              <a:lstStyle/>
              <a:p>
                <a:endParaRPr lang="zh-CN" altLang="en-US"/>
              </a:p>
            </p:txBody>
          </p:sp>
          <p:sp>
            <p:nvSpPr>
              <p:cNvPr id="111732" name="Oval 131"/>
              <p:cNvSpPr>
                <a:spLocks noChangeArrowheads="1"/>
              </p:cNvSpPr>
              <p:nvPr/>
            </p:nvSpPr>
            <p:spPr bwMode="auto">
              <a:xfrm>
                <a:off x="4442" y="1413"/>
                <a:ext cx="77" cy="74"/>
              </a:xfrm>
              <a:prstGeom prst="ellipse">
                <a:avLst/>
              </a:prstGeom>
              <a:solidFill>
                <a:srgbClr val="FFFF00"/>
              </a:solidFill>
              <a:ln w="38100">
                <a:solidFill>
                  <a:srgbClr val="FF0000"/>
                </a:solidFill>
                <a:round/>
                <a:headEnd/>
                <a:tailEnd/>
              </a:ln>
            </p:spPr>
            <p:txBody>
              <a:bodyPr/>
              <a:lstStyle/>
              <a:p>
                <a:endParaRPr lang="zh-CN" altLang="en-US"/>
              </a:p>
            </p:txBody>
          </p:sp>
          <p:sp>
            <p:nvSpPr>
              <p:cNvPr id="111733" name="Oval 132"/>
              <p:cNvSpPr>
                <a:spLocks noChangeArrowheads="1"/>
              </p:cNvSpPr>
              <p:nvPr/>
            </p:nvSpPr>
            <p:spPr bwMode="auto">
              <a:xfrm>
                <a:off x="4627" y="1575"/>
                <a:ext cx="78" cy="73"/>
              </a:xfrm>
              <a:prstGeom prst="ellipse">
                <a:avLst/>
              </a:prstGeom>
              <a:solidFill>
                <a:srgbClr val="FFFF00"/>
              </a:solidFill>
              <a:ln w="38100">
                <a:solidFill>
                  <a:srgbClr val="FF0000"/>
                </a:solidFill>
                <a:round/>
                <a:headEnd/>
                <a:tailEnd/>
              </a:ln>
            </p:spPr>
            <p:txBody>
              <a:bodyPr/>
              <a:lstStyle/>
              <a:p>
                <a:endParaRPr lang="zh-CN" altLang="en-US"/>
              </a:p>
            </p:txBody>
          </p:sp>
          <p:sp>
            <p:nvSpPr>
              <p:cNvPr id="111734" name="Oval 133"/>
              <p:cNvSpPr>
                <a:spLocks noChangeArrowheads="1"/>
              </p:cNvSpPr>
              <p:nvPr/>
            </p:nvSpPr>
            <p:spPr bwMode="auto">
              <a:xfrm>
                <a:off x="4814" y="2017"/>
                <a:ext cx="77" cy="73"/>
              </a:xfrm>
              <a:prstGeom prst="ellipse">
                <a:avLst/>
              </a:prstGeom>
              <a:solidFill>
                <a:srgbClr val="FFFF00"/>
              </a:solidFill>
              <a:ln w="38100">
                <a:solidFill>
                  <a:srgbClr val="FF0000"/>
                </a:solidFill>
                <a:round/>
                <a:headEnd/>
                <a:tailEnd/>
              </a:ln>
            </p:spPr>
            <p:txBody>
              <a:bodyPr/>
              <a:lstStyle/>
              <a:p>
                <a:endParaRPr lang="zh-CN" altLang="en-US"/>
              </a:p>
            </p:txBody>
          </p:sp>
          <p:sp>
            <p:nvSpPr>
              <p:cNvPr id="111735" name="Oval 134"/>
              <p:cNvSpPr>
                <a:spLocks noChangeArrowheads="1"/>
              </p:cNvSpPr>
              <p:nvPr/>
            </p:nvSpPr>
            <p:spPr bwMode="auto">
              <a:xfrm>
                <a:off x="5016" y="1899"/>
                <a:ext cx="77" cy="74"/>
              </a:xfrm>
              <a:prstGeom prst="ellipse">
                <a:avLst/>
              </a:prstGeom>
              <a:solidFill>
                <a:srgbClr val="FFFF00"/>
              </a:solidFill>
              <a:ln w="38100">
                <a:solidFill>
                  <a:srgbClr val="FF0000"/>
                </a:solidFill>
                <a:round/>
                <a:headEnd/>
                <a:tailEnd/>
              </a:ln>
            </p:spPr>
            <p:txBody>
              <a:bodyPr/>
              <a:lstStyle/>
              <a:p>
                <a:endParaRPr lang="zh-CN" altLang="en-US"/>
              </a:p>
            </p:txBody>
          </p:sp>
          <p:sp>
            <p:nvSpPr>
              <p:cNvPr id="111736" name="Oval 135"/>
              <p:cNvSpPr>
                <a:spLocks noChangeArrowheads="1"/>
              </p:cNvSpPr>
              <p:nvPr/>
            </p:nvSpPr>
            <p:spPr bwMode="auto">
              <a:xfrm>
                <a:off x="5202" y="1192"/>
                <a:ext cx="78" cy="73"/>
              </a:xfrm>
              <a:prstGeom prst="ellipse">
                <a:avLst/>
              </a:prstGeom>
              <a:solidFill>
                <a:srgbClr val="FFFF00"/>
              </a:solidFill>
              <a:ln w="38100">
                <a:solidFill>
                  <a:srgbClr val="FF0000"/>
                </a:solidFill>
                <a:round/>
                <a:headEnd/>
                <a:tailEnd/>
              </a:ln>
            </p:spPr>
            <p:txBody>
              <a:bodyPr/>
              <a:lstStyle/>
              <a:p>
                <a:endParaRPr lang="zh-CN" altLang="en-US"/>
              </a:p>
            </p:txBody>
          </p:sp>
          <p:sp>
            <p:nvSpPr>
              <p:cNvPr id="111737" name="Oval 136"/>
              <p:cNvSpPr>
                <a:spLocks noChangeArrowheads="1"/>
              </p:cNvSpPr>
              <p:nvPr/>
            </p:nvSpPr>
            <p:spPr bwMode="auto">
              <a:xfrm>
                <a:off x="5387" y="1442"/>
                <a:ext cx="78" cy="73"/>
              </a:xfrm>
              <a:prstGeom prst="ellipse">
                <a:avLst/>
              </a:prstGeom>
              <a:solidFill>
                <a:srgbClr val="FFFF00"/>
              </a:solidFill>
              <a:ln w="38100">
                <a:solidFill>
                  <a:srgbClr val="FF0000"/>
                </a:solidFill>
                <a:round/>
                <a:headEnd/>
                <a:tailEnd/>
              </a:ln>
            </p:spPr>
            <p:txBody>
              <a:bodyPr/>
              <a:lstStyle/>
              <a:p>
                <a:endParaRPr lang="zh-CN" altLang="en-US"/>
              </a:p>
            </p:txBody>
          </p:sp>
          <p:sp>
            <p:nvSpPr>
              <p:cNvPr id="111738" name="Oval 137"/>
              <p:cNvSpPr>
                <a:spLocks noChangeArrowheads="1"/>
              </p:cNvSpPr>
              <p:nvPr/>
            </p:nvSpPr>
            <p:spPr bwMode="auto">
              <a:xfrm>
                <a:off x="5574" y="1840"/>
                <a:ext cx="77" cy="73"/>
              </a:xfrm>
              <a:prstGeom prst="ellipse">
                <a:avLst/>
              </a:prstGeom>
              <a:solidFill>
                <a:srgbClr val="FFFF00"/>
              </a:solidFill>
              <a:ln w="38100">
                <a:solidFill>
                  <a:srgbClr val="FF0000"/>
                </a:solidFill>
                <a:round/>
                <a:headEnd/>
                <a:tailEnd/>
              </a:ln>
            </p:spPr>
            <p:txBody>
              <a:bodyPr/>
              <a:lstStyle/>
              <a:p>
                <a:endParaRPr lang="zh-CN" altLang="en-US"/>
              </a:p>
            </p:txBody>
          </p:sp>
          <p:sp>
            <p:nvSpPr>
              <p:cNvPr id="111739" name="Oval 138"/>
              <p:cNvSpPr>
                <a:spLocks noChangeArrowheads="1"/>
              </p:cNvSpPr>
              <p:nvPr/>
            </p:nvSpPr>
            <p:spPr bwMode="auto">
              <a:xfrm>
                <a:off x="1247" y="2135"/>
                <a:ext cx="78" cy="73"/>
              </a:xfrm>
              <a:prstGeom prst="ellipse">
                <a:avLst/>
              </a:prstGeom>
              <a:solidFill>
                <a:srgbClr val="FFFFFF"/>
              </a:solidFill>
              <a:ln w="38100">
                <a:solidFill>
                  <a:srgbClr val="FF00FF"/>
                </a:solidFill>
                <a:round/>
                <a:headEnd/>
                <a:tailEnd/>
              </a:ln>
            </p:spPr>
            <p:txBody>
              <a:bodyPr/>
              <a:lstStyle/>
              <a:p>
                <a:endParaRPr lang="zh-CN" altLang="en-US"/>
              </a:p>
            </p:txBody>
          </p:sp>
          <p:sp>
            <p:nvSpPr>
              <p:cNvPr id="111740" name="Oval 139"/>
              <p:cNvSpPr>
                <a:spLocks noChangeArrowheads="1"/>
              </p:cNvSpPr>
              <p:nvPr/>
            </p:nvSpPr>
            <p:spPr bwMode="auto">
              <a:xfrm>
                <a:off x="1432" y="2120"/>
                <a:ext cx="78" cy="73"/>
              </a:xfrm>
              <a:prstGeom prst="ellipse">
                <a:avLst/>
              </a:prstGeom>
              <a:solidFill>
                <a:srgbClr val="FFFFFF"/>
              </a:solidFill>
              <a:ln w="38100">
                <a:solidFill>
                  <a:srgbClr val="FF00FF"/>
                </a:solidFill>
                <a:round/>
                <a:headEnd/>
                <a:tailEnd/>
              </a:ln>
            </p:spPr>
            <p:txBody>
              <a:bodyPr/>
              <a:lstStyle/>
              <a:p>
                <a:endParaRPr lang="zh-CN" altLang="en-US"/>
              </a:p>
            </p:txBody>
          </p:sp>
          <p:sp>
            <p:nvSpPr>
              <p:cNvPr id="111741" name="Oval 140"/>
              <p:cNvSpPr>
                <a:spLocks noChangeArrowheads="1"/>
              </p:cNvSpPr>
              <p:nvPr/>
            </p:nvSpPr>
            <p:spPr bwMode="auto">
              <a:xfrm>
                <a:off x="1619" y="2120"/>
                <a:ext cx="77" cy="73"/>
              </a:xfrm>
              <a:prstGeom prst="ellipse">
                <a:avLst/>
              </a:prstGeom>
              <a:solidFill>
                <a:srgbClr val="FFFFFF"/>
              </a:solidFill>
              <a:ln w="38100">
                <a:solidFill>
                  <a:srgbClr val="FF00FF"/>
                </a:solidFill>
                <a:round/>
                <a:headEnd/>
                <a:tailEnd/>
              </a:ln>
            </p:spPr>
            <p:txBody>
              <a:bodyPr/>
              <a:lstStyle/>
              <a:p>
                <a:endParaRPr lang="zh-CN" altLang="en-US"/>
              </a:p>
            </p:txBody>
          </p:sp>
          <p:sp>
            <p:nvSpPr>
              <p:cNvPr id="111742" name="Oval 141"/>
              <p:cNvSpPr>
                <a:spLocks noChangeArrowheads="1"/>
              </p:cNvSpPr>
              <p:nvPr/>
            </p:nvSpPr>
            <p:spPr bwMode="auto">
              <a:xfrm>
                <a:off x="1805" y="2002"/>
                <a:ext cx="78" cy="73"/>
              </a:xfrm>
              <a:prstGeom prst="ellipse">
                <a:avLst/>
              </a:prstGeom>
              <a:solidFill>
                <a:srgbClr val="FFFFFF"/>
              </a:solidFill>
              <a:ln w="38100">
                <a:solidFill>
                  <a:srgbClr val="FF00FF"/>
                </a:solidFill>
                <a:round/>
                <a:headEnd/>
                <a:tailEnd/>
              </a:ln>
            </p:spPr>
            <p:txBody>
              <a:bodyPr/>
              <a:lstStyle/>
              <a:p>
                <a:endParaRPr lang="zh-CN" altLang="en-US"/>
              </a:p>
            </p:txBody>
          </p:sp>
          <p:sp>
            <p:nvSpPr>
              <p:cNvPr id="111743" name="Oval 142"/>
              <p:cNvSpPr>
                <a:spLocks noChangeArrowheads="1"/>
              </p:cNvSpPr>
              <p:nvPr/>
            </p:nvSpPr>
            <p:spPr bwMode="auto">
              <a:xfrm>
                <a:off x="2007" y="1987"/>
                <a:ext cx="78" cy="74"/>
              </a:xfrm>
              <a:prstGeom prst="ellipse">
                <a:avLst/>
              </a:prstGeom>
              <a:solidFill>
                <a:srgbClr val="FFFFFF"/>
              </a:solidFill>
              <a:ln w="38100">
                <a:solidFill>
                  <a:srgbClr val="FF00FF"/>
                </a:solidFill>
                <a:round/>
                <a:headEnd/>
                <a:tailEnd/>
              </a:ln>
            </p:spPr>
            <p:txBody>
              <a:bodyPr/>
              <a:lstStyle/>
              <a:p>
                <a:endParaRPr lang="zh-CN" altLang="en-US"/>
              </a:p>
            </p:txBody>
          </p:sp>
          <p:sp>
            <p:nvSpPr>
              <p:cNvPr id="111744" name="Oval 143"/>
              <p:cNvSpPr>
                <a:spLocks noChangeArrowheads="1"/>
              </p:cNvSpPr>
              <p:nvPr/>
            </p:nvSpPr>
            <p:spPr bwMode="auto">
              <a:xfrm>
                <a:off x="2192" y="2032"/>
                <a:ext cx="78" cy="73"/>
              </a:xfrm>
              <a:prstGeom prst="ellipse">
                <a:avLst/>
              </a:prstGeom>
              <a:solidFill>
                <a:srgbClr val="FFFFFF"/>
              </a:solidFill>
              <a:ln w="38100">
                <a:solidFill>
                  <a:srgbClr val="FF00FF"/>
                </a:solidFill>
                <a:round/>
                <a:headEnd/>
                <a:tailEnd/>
              </a:ln>
            </p:spPr>
            <p:txBody>
              <a:bodyPr/>
              <a:lstStyle/>
              <a:p>
                <a:endParaRPr lang="zh-CN" altLang="en-US"/>
              </a:p>
            </p:txBody>
          </p:sp>
          <p:sp>
            <p:nvSpPr>
              <p:cNvPr id="111745" name="Oval 144"/>
              <p:cNvSpPr>
                <a:spLocks noChangeArrowheads="1"/>
              </p:cNvSpPr>
              <p:nvPr/>
            </p:nvSpPr>
            <p:spPr bwMode="auto">
              <a:xfrm>
                <a:off x="2379" y="1973"/>
                <a:ext cx="77" cy="74"/>
              </a:xfrm>
              <a:prstGeom prst="ellipse">
                <a:avLst/>
              </a:prstGeom>
              <a:solidFill>
                <a:srgbClr val="FFFFFF"/>
              </a:solidFill>
              <a:ln w="38100">
                <a:solidFill>
                  <a:srgbClr val="FF00FF"/>
                </a:solidFill>
                <a:round/>
                <a:headEnd/>
                <a:tailEnd/>
              </a:ln>
            </p:spPr>
            <p:txBody>
              <a:bodyPr/>
              <a:lstStyle/>
              <a:p>
                <a:endParaRPr lang="zh-CN" altLang="en-US"/>
              </a:p>
            </p:txBody>
          </p:sp>
          <p:sp>
            <p:nvSpPr>
              <p:cNvPr id="111746" name="Oval 145"/>
              <p:cNvSpPr>
                <a:spLocks noChangeArrowheads="1"/>
              </p:cNvSpPr>
              <p:nvPr/>
            </p:nvSpPr>
            <p:spPr bwMode="auto">
              <a:xfrm>
                <a:off x="2565" y="1913"/>
                <a:ext cx="78" cy="74"/>
              </a:xfrm>
              <a:prstGeom prst="ellipse">
                <a:avLst/>
              </a:prstGeom>
              <a:solidFill>
                <a:srgbClr val="FFFFFF"/>
              </a:solidFill>
              <a:ln w="38100">
                <a:solidFill>
                  <a:srgbClr val="FF00FF"/>
                </a:solidFill>
                <a:round/>
                <a:headEnd/>
                <a:tailEnd/>
              </a:ln>
            </p:spPr>
            <p:txBody>
              <a:bodyPr/>
              <a:lstStyle/>
              <a:p>
                <a:endParaRPr lang="zh-CN" altLang="en-US"/>
              </a:p>
            </p:txBody>
          </p:sp>
          <p:sp>
            <p:nvSpPr>
              <p:cNvPr id="111747" name="Oval 146"/>
              <p:cNvSpPr>
                <a:spLocks noChangeArrowheads="1"/>
              </p:cNvSpPr>
              <p:nvPr/>
            </p:nvSpPr>
            <p:spPr bwMode="auto">
              <a:xfrm>
                <a:off x="2751" y="1928"/>
                <a:ext cx="78" cy="74"/>
              </a:xfrm>
              <a:prstGeom prst="ellipse">
                <a:avLst/>
              </a:prstGeom>
              <a:solidFill>
                <a:srgbClr val="FFFFFF"/>
              </a:solidFill>
              <a:ln w="38100">
                <a:solidFill>
                  <a:srgbClr val="FF00FF"/>
                </a:solidFill>
                <a:round/>
                <a:headEnd/>
                <a:tailEnd/>
              </a:ln>
            </p:spPr>
            <p:txBody>
              <a:bodyPr/>
              <a:lstStyle/>
              <a:p>
                <a:endParaRPr lang="zh-CN" altLang="en-US"/>
              </a:p>
            </p:txBody>
          </p:sp>
          <p:sp>
            <p:nvSpPr>
              <p:cNvPr id="111748" name="Oval 147"/>
              <p:cNvSpPr>
                <a:spLocks noChangeArrowheads="1"/>
              </p:cNvSpPr>
              <p:nvPr/>
            </p:nvSpPr>
            <p:spPr bwMode="auto">
              <a:xfrm>
                <a:off x="2938" y="1885"/>
                <a:ext cx="76" cy="73"/>
              </a:xfrm>
              <a:prstGeom prst="ellipse">
                <a:avLst/>
              </a:prstGeom>
              <a:solidFill>
                <a:srgbClr val="FFFFFF"/>
              </a:solidFill>
              <a:ln w="38100">
                <a:solidFill>
                  <a:srgbClr val="FF00FF"/>
                </a:solidFill>
                <a:round/>
                <a:headEnd/>
                <a:tailEnd/>
              </a:ln>
            </p:spPr>
            <p:txBody>
              <a:bodyPr/>
              <a:lstStyle/>
              <a:p>
                <a:endParaRPr lang="zh-CN" altLang="en-US"/>
              </a:p>
            </p:txBody>
          </p:sp>
          <p:sp>
            <p:nvSpPr>
              <p:cNvPr id="111749" name="Oval 148"/>
              <p:cNvSpPr>
                <a:spLocks noChangeArrowheads="1"/>
              </p:cNvSpPr>
              <p:nvPr/>
            </p:nvSpPr>
            <p:spPr bwMode="auto">
              <a:xfrm>
                <a:off x="3123" y="1870"/>
                <a:ext cx="78" cy="73"/>
              </a:xfrm>
              <a:prstGeom prst="ellipse">
                <a:avLst/>
              </a:prstGeom>
              <a:solidFill>
                <a:srgbClr val="FFFFFF"/>
              </a:solidFill>
              <a:ln w="38100">
                <a:solidFill>
                  <a:srgbClr val="FF00FF"/>
                </a:solidFill>
                <a:round/>
                <a:headEnd/>
                <a:tailEnd/>
              </a:ln>
            </p:spPr>
            <p:txBody>
              <a:bodyPr/>
              <a:lstStyle/>
              <a:p>
                <a:endParaRPr lang="zh-CN" altLang="en-US"/>
              </a:p>
            </p:txBody>
          </p:sp>
          <p:sp>
            <p:nvSpPr>
              <p:cNvPr id="111750" name="Oval 149"/>
              <p:cNvSpPr>
                <a:spLocks noChangeArrowheads="1"/>
              </p:cNvSpPr>
              <p:nvPr/>
            </p:nvSpPr>
            <p:spPr bwMode="auto">
              <a:xfrm>
                <a:off x="3309" y="1913"/>
                <a:ext cx="78" cy="74"/>
              </a:xfrm>
              <a:prstGeom prst="ellipse">
                <a:avLst/>
              </a:prstGeom>
              <a:solidFill>
                <a:srgbClr val="FFFFFF"/>
              </a:solidFill>
              <a:ln w="38100">
                <a:solidFill>
                  <a:srgbClr val="FF00FF"/>
                </a:solidFill>
                <a:round/>
                <a:headEnd/>
                <a:tailEnd/>
              </a:ln>
            </p:spPr>
            <p:txBody>
              <a:bodyPr/>
              <a:lstStyle/>
              <a:p>
                <a:endParaRPr lang="zh-CN" altLang="en-US"/>
              </a:p>
            </p:txBody>
          </p:sp>
          <p:sp>
            <p:nvSpPr>
              <p:cNvPr id="111751" name="Oval 150"/>
              <p:cNvSpPr>
                <a:spLocks noChangeArrowheads="1"/>
              </p:cNvSpPr>
              <p:nvPr/>
            </p:nvSpPr>
            <p:spPr bwMode="auto">
              <a:xfrm>
                <a:off x="3511" y="1899"/>
                <a:ext cx="78" cy="74"/>
              </a:xfrm>
              <a:prstGeom prst="ellipse">
                <a:avLst/>
              </a:prstGeom>
              <a:solidFill>
                <a:srgbClr val="FFFFFF"/>
              </a:solidFill>
              <a:ln w="38100">
                <a:solidFill>
                  <a:srgbClr val="FF00FF"/>
                </a:solidFill>
                <a:round/>
                <a:headEnd/>
                <a:tailEnd/>
              </a:ln>
            </p:spPr>
            <p:txBody>
              <a:bodyPr/>
              <a:lstStyle/>
              <a:p>
                <a:endParaRPr lang="zh-CN" altLang="en-US"/>
              </a:p>
            </p:txBody>
          </p:sp>
          <p:sp>
            <p:nvSpPr>
              <p:cNvPr id="111752" name="Oval 151"/>
              <p:cNvSpPr>
                <a:spLocks noChangeArrowheads="1"/>
              </p:cNvSpPr>
              <p:nvPr/>
            </p:nvSpPr>
            <p:spPr bwMode="auto">
              <a:xfrm>
                <a:off x="3698" y="1899"/>
                <a:ext cx="76" cy="74"/>
              </a:xfrm>
              <a:prstGeom prst="ellipse">
                <a:avLst/>
              </a:prstGeom>
              <a:solidFill>
                <a:srgbClr val="FFFFFF"/>
              </a:solidFill>
              <a:ln w="38100">
                <a:solidFill>
                  <a:srgbClr val="FF00FF"/>
                </a:solidFill>
                <a:round/>
                <a:headEnd/>
                <a:tailEnd/>
              </a:ln>
            </p:spPr>
            <p:txBody>
              <a:bodyPr/>
              <a:lstStyle/>
              <a:p>
                <a:endParaRPr lang="zh-CN" altLang="en-US"/>
              </a:p>
            </p:txBody>
          </p:sp>
          <p:sp>
            <p:nvSpPr>
              <p:cNvPr id="111753" name="Oval 152"/>
              <p:cNvSpPr>
                <a:spLocks noChangeArrowheads="1"/>
              </p:cNvSpPr>
              <p:nvPr/>
            </p:nvSpPr>
            <p:spPr bwMode="auto">
              <a:xfrm>
                <a:off x="3883" y="1870"/>
                <a:ext cx="78" cy="73"/>
              </a:xfrm>
              <a:prstGeom prst="ellipse">
                <a:avLst/>
              </a:prstGeom>
              <a:solidFill>
                <a:srgbClr val="FFFFFF"/>
              </a:solidFill>
              <a:ln w="38100">
                <a:solidFill>
                  <a:srgbClr val="FF00FF"/>
                </a:solidFill>
                <a:round/>
                <a:headEnd/>
                <a:tailEnd/>
              </a:ln>
            </p:spPr>
            <p:txBody>
              <a:bodyPr/>
              <a:lstStyle/>
              <a:p>
                <a:endParaRPr lang="zh-CN" altLang="en-US"/>
              </a:p>
            </p:txBody>
          </p:sp>
          <p:sp>
            <p:nvSpPr>
              <p:cNvPr id="111754" name="Oval 153"/>
              <p:cNvSpPr>
                <a:spLocks noChangeArrowheads="1"/>
              </p:cNvSpPr>
              <p:nvPr/>
            </p:nvSpPr>
            <p:spPr bwMode="auto">
              <a:xfrm>
                <a:off x="4069" y="1885"/>
                <a:ext cx="78" cy="73"/>
              </a:xfrm>
              <a:prstGeom prst="ellipse">
                <a:avLst/>
              </a:prstGeom>
              <a:solidFill>
                <a:srgbClr val="FFFFFF"/>
              </a:solidFill>
              <a:ln w="38100">
                <a:solidFill>
                  <a:srgbClr val="FF00FF"/>
                </a:solidFill>
                <a:round/>
                <a:headEnd/>
                <a:tailEnd/>
              </a:ln>
            </p:spPr>
            <p:txBody>
              <a:bodyPr/>
              <a:lstStyle/>
              <a:p>
                <a:endParaRPr lang="zh-CN" altLang="en-US"/>
              </a:p>
            </p:txBody>
          </p:sp>
          <p:sp>
            <p:nvSpPr>
              <p:cNvPr id="111755" name="Oval 154"/>
              <p:cNvSpPr>
                <a:spLocks noChangeArrowheads="1"/>
              </p:cNvSpPr>
              <p:nvPr/>
            </p:nvSpPr>
            <p:spPr bwMode="auto">
              <a:xfrm>
                <a:off x="4256" y="1737"/>
                <a:ext cx="77" cy="73"/>
              </a:xfrm>
              <a:prstGeom prst="ellipse">
                <a:avLst/>
              </a:prstGeom>
              <a:solidFill>
                <a:srgbClr val="FFFFFF"/>
              </a:solidFill>
              <a:ln w="38100">
                <a:solidFill>
                  <a:srgbClr val="FF00FF"/>
                </a:solidFill>
                <a:round/>
                <a:headEnd/>
                <a:tailEnd/>
              </a:ln>
            </p:spPr>
            <p:txBody>
              <a:bodyPr/>
              <a:lstStyle/>
              <a:p>
                <a:endParaRPr lang="zh-CN" altLang="en-US"/>
              </a:p>
            </p:txBody>
          </p:sp>
          <p:sp>
            <p:nvSpPr>
              <p:cNvPr id="111756" name="Oval 155"/>
              <p:cNvSpPr>
                <a:spLocks noChangeArrowheads="1"/>
              </p:cNvSpPr>
              <p:nvPr/>
            </p:nvSpPr>
            <p:spPr bwMode="auto">
              <a:xfrm>
                <a:off x="4442" y="1737"/>
                <a:ext cx="77" cy="73"/>
              </a:xfrm>
              <a:prstGeom prst="ellipse">
                <a:avLst/>
              </a:prstGeom>
              <a:solidFill>
                <a:srgbClr val="FFFFFF"/>
              </a:solidFill>
              <a:ln w="38100">
                <a:solidFill>
                  <a:srgbClr val="FF00FF"/>
                </a:solidFill>
                <a:round/>
                <a:headEnd/>
                <a:tailEnd/>
              </a:ln>
            </p:spPr>
            <p:txBody>
              <a:bodyPr/>
              <a:lstStyle/>
              <a:p>
                <a:endParaRPr lang="zh-CN" altLang="en-US"/>
              </a:p>
            </p:txBody>
          </p:sp>
          <p:sp>
            <p:nvSpPr>
              <p:cNvPr id="111757" name="Oval 156"/>
              <p:cNvSpPr>
                <a:spLocks noChangeArrowheads="1"/>
              </p:cNvSpPr>
              <p:nvPr/>
            </p:nvSpPr>
            <p:spPr bwMode="auto">
              <a:xfrm>
                <a:off x="4627" y="1707"/>
                <a:ext cx="78" cy="74"/>
              </a:xfrm>
              <a:prstGeom prst="ellipse">
                <a:avLst/>
              </a:prstGeom>
              <a:solidFill>
                <a:srgbClr val="FFFFFF"/>
              </a:solidFill>
              <a:ln w="38100">
                <a:solidFill>
                  <a:srgbClr val="FF00FF"/>
                </a:solidFill>
                <a:round/>
                <a:headEnd/>
                <a:tailEnd/>
              </a:ln>
            </p:spPr>
            <p:txBody>
              <a:bodyPr/>
              <a:lstStyle/>
              <a:p>
                <a:endParaRPr lang="zh-CN" altLang="en-US"/>
              </a:p>
            </p:txBody>
          </p:sp>
          <p:sp>
            <p:nvSpPr>
              <p:cNvPr id="111758" name="Oval 157"/>
              <p:cNvSpPr>
                <a:spLocks noChangeArrowheads="1"/>
              </p:cNvSpPr>
              <p:nvPr/>
            </p:nvSpPr>
            <p:spPr bwMode="auto">
              <a:xfrm>
                <a:off x="4814" y="1722"/>
                <a:ext cx="77" cy="73"/>
              </a:xfrm>
              <a:prstGeom prst="ellipse">
                <a:avLst/>
              </a:prstGeom>
              <a:solidFill>
                <a:srgbClr val="FFFFFF"/>
              </a:solidFill>
              <a:ln w="38100">
                <a:solidFill>
                  <a:srgbClr val="FF00FF"/>
                </a:solidFill>
                <a:round/>
                <a:headEnd/>
                <a:tailEnd/>
              </a:ln>
            </p:spPr>
            <p:txBody>
              <a:bodyPr/>
              <a:lstStyle/>
              <a:p>
                <a:endParaRPr lang="zh-CN" altLang="en-US"/>
              </a:p>
            </p:txBody>
          </p:sp>
          <p:sp>
            <p:nvSpPr>
              <p:cNvPr id="111759" name="Oval 158"/>
              <p:cNvSpPr>
                <a:spLocks noChangeArrowheads="1"/>
              </p:cNvSpPr>
              <p:nvPr/>
            </p:nvSpPr>
            <p:spPr bwMode="auto">
              <a:xfrm>
                <a:off x="5016" y="1722"/>
                <a:ext cx="77" cy="73"/>
              </a:xfrm>
              <a:prstGeom prst="ellipse">
                <a:avLst/>
              </a:prstGeom>
              <a:solidFill>
                <a:srgbClr val="FFFFFF"/>
              </a:solidFill>
              <a:ln w="38100">
                <a:solidFill>
                  <a:srgbClr val="FF00FF"/>
                </a:solidFill>
                <a:round/>
                <a:headEnd/>
                <a:tailEnd/>
              </a:ln>
            </p:spPr>
            <p:txBody>
              <a:bodyPr/>
              <a:lstStyle/>
              <a:p>
                <a:endParaRPr lang="zh-CN" altLang="en-US"/>
              </a:p>
            </p:txBody>
          </p:sp>
          <p:sp>
            <p:nvSpPr>
              <p:cNvPr id="111760" name="Oval 159"/>
              <p:cNvSpPr>
                <a:spLocks noChangeArrowheads="1"/>
              </p:cNvSpPr>
              <p:nvPr/>
            </p:nvSpPr>
            <p:spPr bwMode="auto">
              <a:xfrm>
                <a:off x="5202" y="1575"/>
                <a:ext cx="78" cy="73"/>
              </a:xfrm>
              <a:prstGeom prst="ellipse">
                <a:avLst/>
              </a:prstGeom>
              <a:solidFill>
                <a:srgbClr val="FFFFFF"/>
              </a:solidFill>
              <a:ln w="38100">
                <a:solidFill>
                  <a:srgbClr val="FF00FF"/>
                </a:solidFill>
                <a:round/>
                <a:headEnd/>
                <a:tailEnd/>
              </a:ln>
            </p:spPr>
            <p:txBody>
              <a:bodyPr/>
              <a:lstStyle/>
              <a:p>
                <a:endParaRPr lang="zh-CN" altLang="en-US"/>
              </a:p>
            </p:txBody>
          </p:sp>
          <p:sp>
            <p:nvSpPr>
              <p:cNvPr id="111761" name="Oval 160"/>
              <p:cNvSpPr>
                <a:spLocks noChangeArrowheads="1"/>
              </p:cNvSpPr>
              <p:nvPr/>
            </p:nvSpPr>
            <p:spPr bwMode="auto">
              <a:xfrm>
                <a:off x="5387" y="1590"/>
                <a:ext cx="78" cy="73"/>
              </a:xfrm>
              <a:prstGeom prst="ellipse">
                <a:avLst/>
              </a:prstGeom>
              <a:solidFill>
                <a:srgbClr val="FFFFFF"/>
              </a:solidFill>
              <a:ln w="38100">
                <a:solidFill>
                  <a:srgbClr val="FF00FF"/>
                </a:solidFill>
                <a:round/>
                <a:headEnd/>
                <a:tailEnd/>
              </a:ln>
            </p:spPr>
            <p:txBody>
              <a:bodyPr/>
              <a:lstStyle/>
              <a:p>
                <a:endParaRPr lang="zh-CN" altLang="en-US"/>
              </a:p>
            </p:txBody>
          </p:sp>
          <p:sp>
            <p:nvSpPr>
              <p:cNvPr id="111762" name="Oval 161"/>
              <p:cNvSpPr>
                <a:spLocks noChangeArrowheads="1"/>
              </p:cNvSpPr>
              <p:nvPr/>
            </p:nvSpPr>
            <p:spPr bwMode="auto">
              <a:xfrm>
                <a:off x="5574" y="1487"/>
                <a:ext cx="77" cy="73"/>
              </a:xfrm>
              <a:prstGeom prst="ellipse">
                <a:avLst/>
              </a:prstGeom>
              <a:solidFill>
                <a:srgbClr val="FFFFFF"/>
              </a:solidFill>
              <a:ln w="38100">
                <a:solidFill>
                  <a:srgbClr val="FF00FF"/>
                </a:solidFill>
                <a:round/>
                <a:headEnd/>
                <a:tailEnd/>
              </a:ln>
            </p:spPr>
            <p:txBody>
              <a:bodyPr/>
              <a:lstStyle/>
              <a:p>
                <a:endParaRPr lang="zh-CN" altLang="en-US"/>
              </a:p>
            </p:txBody>
          </p:sp>
          <p:sp>
            <p:nvSpPr>
              <p:cNvPr id="111763" name="Rectangle 174"/>
              <p:cNvSpPr>
                <a:spLocks noChangeArrowheads="1"/>
              </p:cNvSpPr>
              <p:nvPr/>
            </p:nvSpPr>
            <p:spPr bwMode="auto">
              <a:xfrm>
                <a:off x="3587" y="2591"/>
                <a:ext cx="1800" cy="629"/>
              </a:xfrm>
              <a:prstGeom prst="rect">
                <a:avLst/>
              </a:prstGeom>
              <a:solidFill>
                <a:schemeClr val="bg1">
                  <a:lumMod val="95000"/>
                </a:schemeClr>
              </a:solidFill>
              <a:ln w="0">
                <a:solidFill>
                  <a:srgbClr val="000000"/>
                </a:solidFill>
                <a:miter lim="800000"/>
                <a:headEnd/>
                <a:tailEnd/>
              </a:ln>
            </p:spPr>
            <p:txBody>
              <a:bodyPr/>
              <a:lstStyle/>
              <a:p>
                <a:endParaRPr lang="zh-CN" altLang="zh-CN" sz="3200" dirty="0">
                  <a:solidFill>
                    <a:srgbClr val="000000"/>
                  </a:solidFill>
                </a:endParaRPr>
              </a:p>
            </p:txBody>
          </p:sp>
          <p:sp>
            <p:nvSpPr>
              <p:cNvPr id="111764" name="Line 175"/>
              <p:cNvSpPr>
                <a:spLocks noChangeShapeType="1"/>
              </p:cNvSpPr>
              <p:nvPr/>
            </p:nvSpPr>
            <p:spPr bwMode="auto">
              <a:xfrm>
                <a:off x="3636" y="2768"/>
                <a:ext cx="387" cy="2"/>
              </a:xfrm>
              <a:prstGeom prst="line">
                <a:avLst/>
              </a:prstGeom>
              <a:noFill/>
              <a:ln w="20638">
                <a:solidFill>
                  <a:srgbClr val="000080"/>
                </a:solidFill>
                <a:round/>
                <a:headEnd/>
                <a:tailEnd/>
              </a:ln>
            </p:spPr>
            <p:txBody>
              <a:bodyPr/>
              <a:lstStyle/>
              <a:p>
                <a:endParaRPr lang="zh-CN" altLang="en-US"/>
              </a:p>
            </p:txBody>
          </p:sp>
          <p:sp>
            <p:nvSpPr>
              <p:cNvPr id="111765" name="Oval 176"/>
              <p:cNvSpPr>
                <a:spLocks noChangeArrowheads="1"/>
              </p:cNvSpPr>
              <p:nvPr/>
            </p:nvSpPr>
            <p:spPr bwMode="auto">
              <a:xfrm>
                <a:off x="3790" y="2739"/>
                <a:ext cx="46" cy="44"/>
              </a:xfrm>
              <a:prstGeom prst="ellipse">
                <a:avLst/>
              </a:prstGeom>
              <a:solidFill>
                <a:srgbClr val="FFFF00"/>
              </a:solidFill>
              <a:ln w="20638">
                <a:solidFill>
                  <a:srgbClr val="FF0000"/>
                </a:solidFill>
                <a:round/>
                <a:headEnd/>
                <a:tailEnd/>
              </a:ln>
            </p:spPr>
            <p:txBody>
              <a:bodyPr/>
              <a:lstStyle/>
              <a:p>
                <a:endParaRPr lang="zh-CN" altLang="en-US"/>
              </a:p>
            </p:txBody>
          </p:sp>
          <p:sp>
            <p:nvSpPr>
              <p:cNvPr id="111766" name="Rectangle 177"/>
              <p:cNvSpPr>
                <a:spLocks noChangeArrowheads="1"/>
              </p:cNvSpPr>
              <p:nvPr/>
            </p:nvSpPr>
            <p:spPr bwMode="auto">
              <a:xfrm>
                <a:off x="4105" y="2659"/>
                <a:ext cx="550" cy="153"/>
              </a:xfrm>
              <a:prstGeom prst="rect">
                <a:avLst/>
              </a:prstGeom>
              <a:noFill/>
              <a:ln w="9525">
                <a:noFill/>
                <a:miter lim="800000"/>
                <a:headEnd/>
                <a:tailEnd/>
              </a:ln>
            </p:spPr>
            <p:txBody>
              <a:bodyPr lIns="0" tIns="0" rIns="0" bIns="0">
                <a:spAutoFit/>
              </a:bodyPr>
              <a:lstStyle/>
              <a:p>
                <a:pPr eaLnBrk="0" hangingPunct="0"/>
                <a:r>
                  <a:rPr kumimoji="1" lang="zh-CN" altLang="en-US" sz="2000" b="1" dirty="0">
                    <a:solidFill>
                      <a:srgbClr val="3333FF"/>
                    </a:solidFill>
                    <a:latin typeface="宋体" pitchFamily="2" charset="-122"/>
                  </a:rPr>
                  <a:t>销售额</a:t>
                </a:r>
                <a:endParaRPr kumimoji="1" lang="zh-CN" altLang="en-US" sz="2000" b="1" dirty="0">
                  <a:solidFill>
                    <a:srgbClr val="3333FF"/>
                  </a:solidFill>
                </a:endParaRPr>
              </a:p>
            </p:txBody>
          </p:sp>
          <p:sp>
            <p:nvSpPr>
              <p:cNvPr id="111767" name="Line 180"/>
              <p:cNvSpPr>
                <a:spLocks noChangeShapeType="1"/>
              </p:cNvSpPr>
              <p:nvPr/>
            </p:nvSpPr>
            <p:spPr bwMode="auto">
              <a:xfrm>
                <a:off x="3636" y="2945"/>
                <a:ext cx="387" cy="1"/>
              </a:xfrm>
              <a:prstGeom prst="line">
                <a:avLst/>
              </a:prstGeom>
              <a:noFill/>
              <a:ln w="20638">
                <a:solidFill>
                  <a:srgbClr val="FF00FF"/>
                </a:solidFill>
                <a:round/>
                <a:headEnd/>
                <a:tailEnd/>
              </a:ln>
            </p:spPr>
            <p:txBody>
              <a:bodyPr/>
              <a:lstStyle/>
              <a:p>
                <a:endParaRPr lang="zh-CN" altLang="en-US"/>
              </a:p>
            </p:txBody>
          </p:sp>
          <p:sp>
            <p:nvSpPr>
              <p:cNvPr id="111768" name="Oval 181"/>
              <p:cNvSpPr>
                <a:spLocks noChangeArrowheads="1"/>
              </p:cNvSpPr>
              <p:nvPr/>
            </p:nvSpPr>
            <p:spPr bwMode="auto">
              <a:xfrm>
                <a:off x="3790" y="2915"/>
                <a:ext cx="46" cy="45"/>
              </a:xfrm>
              <a:prstGeom prst="ellipse">
                <a:avLst/>
              </a:prstGeom>
              <a:solidFill>
                <a:srgbClr val="FFFFFF"/>
              </a:solidFill>
              <a:ln w="20638">
                <a:solidFill>
                  <a:srgbClr val="FF00FF"/>
                </a:solidFill>
                <a:round/>
                <a:headEnd/>
                <a:tailEnd/>
              </a:ln>
            </p:spPr>
            <p:txBody>
              <a:bodyPr/>
              <a:lstStyle/>
              <a:p>
                <a:endParaRPr lang="zh-CN" altLang="en-US"/>
              </a:p>
            </p:txBody>
          </p:sp>
          <p:sp>
            <p:nvSpPr>
              <p:cNvPr id="111769" name="Rectangle 182"/>
              <p:cNvSpPr>
                <a:spLocks noChangeArrowheads="1"/>
              </p:cNvSpPr>
              <p:nvPr/>
            </p:nvSpPr>
            <p:spPr bwMode="auto">
              <a:xfrm>
                <a:off x="4059" y="2840"/>
                <a:ext cx="1443" cy="153"/>
              </a:xfrm>
              <a:prstGeom prst="rect">
                <a:avLst/>
              </a:prstGeom>
              <a:noFill/>
              <a:ln w="9525">
                <a:noFill/>
                <a:miter lim="800000"/>
                <a:headEnd/>
                <a:tailEnd/>
              </a:ln>
            </p:spPr>
            <p:txBody>
              <a:bodyPr wrap="square" lIns="0" tIns="0" rIns="0" bIns="0">
                <a:spAutoFit/>
              </a:bodyPr>
              <a:lstStyle/>
              <a:p>
                <a:pPr eaLnBrk="0" hangingPunct="0"/>
                <a:r>
                  <a:rPr kumimoji="1" lang="zh-CN" altLang="en-US" sz="2000" b="1" dirty="0">
                    <a:solidFill>
                      <a:srgbClr val="FF00FF"/>
                    </a:solidFill>
                    <a:latin typeface="宋体" pitchFamily="2" charset="-122"/>
                  </a:rPr>
                  <a:t>季节调整后的销售额</a:t>
                </a:r>
                <a:endParaRPr kumimoji="1" lang="zh-CN" altLang="en-US" sz="2000" b="1" dirty="0">
                  <a:solidFill>
                    <a:srgbClr val="FF00FF"/>
                  </a:solidFill>
                </a:endParaRPr>
              </a:p>
            </p:txBody>
          </p:sp>
          <p:sp>
            <p:nvSpPr>
              <p:cNvPr id="111770" name="Line 185"/>
              <p:cNvSpPr>
                <a:spLocks noChangeShapeType="1"/>
              </p:cNvSpPr>
              <p:nvPr/>
            </p:nvSpPr>
            <p:spPr bwMode="auto">
              <a:xfrm>
                <a:off x="3636" y="3107"/>
                <a:ext cx="387" cy="1"/>
              </a:xfrm>
              <a:prstGeom prst="line">
                <a:avLst/>
              </a:prstGeom>
              <a:noFill/>
              <a:ln w="20638">
                <a:solidFill>
                  <a:srgbClr val="802060"/>
                </a:solidFill>
                <a:round/>
                <a:headEnd/>
                <a:tailEnd/>
              </a:ln>
            </p:spPr>
            <p:txBody>
              <a:bodyPr/>
              <a:lstStyle/>
              <a:p>
                <a:endParaRPr lang="zh-CN" altLang="en-US"/>
              </a:p>
            </p:txBody>
          </p:sp>
          <p:sp>
            <p:nvSpPr>
              <p:cNvPr id="111771" name="Rectangle 186"/>
              <p:cNvSpPr>
                <a:spLocks noChangeArrowheads="1"/>
              </p:cNvSpPr>
              <p:nvPr/>
            </p:nvSpPr>
            <p:spPr bwMode="auto">
              <a:xfrm>
                <a:off x="4059" y="3022"/>
                <a:ext cx="998" cy="137"/>
              </a:xfrm>
              <a:prstGeom prst="rect">
                <a:avLst/>
              </a:prstGeom>
              <a:noFill/>
              <a:ln w="9525">
                <a:noFill/>
                <a:miter lim="800000"/>
                <a:headEnd/>
                <a:tailEnd/>
              </a:ln>
            </p:spPr>
            <p:txBody>
              <a:bodyPr lIns="0" tIns="0" rIns="0" bIns="0">
                <a:spAutoFit/>
              </a:bodyPr>
              <a:lstStyle/>
              <a:p>
                <a:pPr eaLnBrk="0" hangingPunct="0"/>
                <a:r>
                  <a:rPr kumimoji="1" lang="zh-CN" altLang="en-US" b="1" dirty="0">
                    <a:solidFill>
                      <a:schemeClr val="tx2"/>
                    </a:solidFill>
                    <a:latin typeface="宋体" pitchFamily="2" charset="-122"/>
                  </a:rPr>
                  <a:t>趋势值</a:t>
                </a:r>
                <a:endParaRPr kumimoji="1" lang="zh-CN" altLang="en-US" b="1" dirty="0">
                  <a:solidFill>
                    <a:schemeClr val="tx2"/>
                  </a:solidFill>
                </a:endParaRPr>
              </a:p>
            </p:txBody>
          </p:sp>
        </p:grpSp>
        <p:sp>
          <p:nvSpPr>
            <p:cNvPr id="111624" name="Rectangle 194"/>
            <p:cNvSpPr>
              <a:spLocks noChangeArrowheads="1"/>
            </p:cNvSpPr>
            <p:nvPr/>
          </p:nvSpPr>
          <p:spPr bwMode="auto">
            <a:xfrm>
              <a:off x="1867" y="3697"/>
              <a:ext cx="36" cy="182"/>
            </a:xfrm>
            <a:prstGeom prst="rect">
              <a:avLst/>
            </a:prstGeom>
            <a:noFill/>
            <a:ln w="9525">
              <a:noFill/>
              <a:miter lim="800000"/>
              <a:headEnd/>
              <a:tailEnd/>
            </a:ln>
          </p:spPr>
          <p:txBody>
            <a:bodyPr wrap="none" lIns="0" tIns="0" rIns="0" bIns="0">
              <a:spAutoFit/>
            </a:bodyPr>
            <a:lstStyle/>
            <a:p>
              <a:pPr eaLnBrk="0" hangingPunct="0"/>
              <a:r>
                <a:rPr kumimoji="1" lang="en-US" altLang="zh-CN" sz="1900" b="1">
                  <a:solidFill>
                    <a:srgbClr val="000000"/>
                  </a:solidFill>
                  <a:latin typeface="Times New Roman" pitchFamily="18" charset="0"/>
                </a:rPr>
                <a:t> </a:t>
              </a:r>
              <a:endParaRPr kumimoji="1" lang="en-US" altLang="zh-CN" sz="3200"/>
            </a:p>
          </p:txBody>
        </p:sp>
        <p:sp>
          <p:nvSpPr>
            <p:cNvPr id="111625" name="Rectangle 195"/>
            <p:cNvSpPr>
              <a:spLocks noChangeArrowheads="1"/>
            </p:cNvSpPr>
            <p:nvPr/>
          </p:nvSpPr>
          <p:spPr bwMode="auto">
            <a:xfrm>
              <a:off x="2069" y="3664"/>
              <a:ext cx="2171" cy="269"/>
            </a:xfrm>
            <a:prstGeom prst="rect">
              <a:avLst/>
            </a:prstGeom>
            <a:noFill/>
            <a:ln w="9525">
              <a:noFill/>
              <a:miter lim="800000"/>
              <a:headEnd/>
              <a:tailEnd/>
            </a:ln>
          </p:spPr>
          <p:txBody>
            <a:bodyPr lIns="0" tIns="0" rIns="0" bIns="0">
              <a:spAutoFit/>
            </a:bodyPr>
            <a:lstStyle/>
            <a:p>
              <a:pPr eaLnBrk="0" hangingPunct="0"/>
              <a:r>
                <a:rPr kumimoji="1" lang="en-US" altLang="zh-CN" sz="2800" b="1" dirty="0">
                  <a:solidFill>
                    <a:srgbClr val="000000"/>
                  </a:solidFill>
                  <a:latin typeface="宋体" pitchFamily="2" charset="-122"/>
                </a:rPr>
                <a:t>  </a:t>
              </a:r>
              <a:r>
                <a:rPr kumimoji="1" lang="zh-CN" altLang="en-US" sz="2800" b="1" dirty="0">
                  <a:solidFill>
                    <a:srgbClr val="000000"/>
                  </a:solidFill>
                  <a:latin typeface="宋体" pitchFamily="2" charset="-122"/>
                </a:rPr>
                <a:t>季度销售额的变动</a:t>
              </a:r>
            </a:p>
          </p:txBody>
        </p:sp>
        <p:sp>
          <p:nvSpPr>
            <p:cNvPr id="111626" name="Rectangle 196"/>
            <p:cNvSpPr>
              <a:spLocks noChangeArrowheads="1"/>
            </p:cNvSpPr>
            <p:nvPr/>
          </p:nvSpPr>
          <p:spPr bwMode="auto">
            <a:xfrm>
              <a:off x="4953" y="3430"/>
              <a:ext cx="512" cy="318"/>
            </a:xfrm>
            <a:prstGeom prst="rect">
              <a:avLst/>
            </a:prstGeom>
            <a:noFill/>
            <a:ln w="9525">
              <a:noFill/>
              <a:miter lim="800000"/>
              <a:headEnd/>
              <a:tailEnd/>
            </a:ln>
          </p:spPr>
          <p:txBody>
            <a:bodyPr/>
            <a:lstStyle/>
            <a:p>
              <a:endParaRPr lang="zh-CN" altLang="en-US"/>
            </a:p>
          </p:txBody>
        </p:sp>
        <p:sp>
          <p:nvSpPr>
            <p:cNvPr id="111627" name="Rectangle 197"/>
            <p:cNvSpPr>
              <a:spLocks noChangeArrowheads="1"/>
            </p:cNvSpPr>
            <p:nvPr/>
          </p:nvSpPr>
          <p:spPr bwMode="auto">
            <a:xfrm>
              <a:off x="5094" y="3658"/>
              <a:ext cx="515" cy="192"/>
            </a:xfrm>
            <a:prstGeom prst="rect">
              <a:avLst/>
            </a:prstGeom>
            <a:noFill/>
            <a:ln w="9525">
              <a:noFill/>
              <a:miter lim="800000"/>
              <a:headEnd/>
              <a:tailEnd/>
            </a:ln>
          </p:spPr>
          <p:txBody>
            <a:bodyPr lIns="0" tIns="0" rIns="0" bIns="0">
              <a:spAutoFit/>
            </a:bodyPr>
            <a:lstStyle/>
            <a:p>
              <a:pPr eaLnBrk="0" hangingPunct="0"/>
              <a:r>
                <a:rPr kumimoji="1" lang="en-US" altLang="zh-CN" sz="2000" b="1" dirty="0">
                  <a:solidFill>
                    <a:srgbClr val="FF0066"/>
                  </a:solidFill>
                  <a:latin typeface="宋体" pitchFamily="2" charset="-122"/>
                </a:rPr>
                <a:t> </a:t>
              </a:r>
              <a:r>
                <a:rPr kumimoji="1" lang="zh-CN" altLang="en-US" sz="2000" b="1" dirty="0">
                  <a:solidFill>
                    <a:srgbClr val="FF0066"/>
                  </a:solidFill>
                  <a:latin typeface="宋体" pitchFamily="2" charset="-122"/>
                </a:rPr>
                <a:t>季 度</a:t>
              </a:r>
              <a:endParaRPr kumimoji="1" lang="zh-CN" altLang="en-US" sz="2000" b="1" dirty="0">
                <a:solidFill>
                  <a:srgbClr val="FF0066"/>
                </a:solidFill>
              </a:endParaRPr>
            </a:p>
          </p:txBody>
        </p:sp>
        <p:sp>
          <p:nvSpPr>
            <p:cNvPr id="111628" name="Text Box 198"/>
            <p:cNvSpPr txBox="1">
              <a:spLocks noChangeArrowheads="1"/>
            </p:cNvSpPr>
            <p:nvPr/>
          </p:nvSpPr>
          <p:spPr bwMode="auto">
            <a:xfrm>
              <a:off x="513" y="699"/>
              <a:ext cx="296" cy="1361"/>
            </a:xfrm>
            <a:prstGeom prst="rect">
              <a:avLst/>
            </a:prstGeom>
            <a:noFill/>
            <a:ln w="9525">
              <a:noFill/>
              <a:miter lim="800000"/>
              <a:headEnd/>
              <a:tailEnd/>
            </a:ln>
          </p:spPr>
          <p:txBody>
            <a:bodyPr vert="eaVert">
              <a:spAutoFit/>
            </a:bodyPr>
            <a:lstStyle/>
            <a:p>
              <a:pPr>
                <a:spcBef>
                  <a:spcPct val="50000"/>
                </a:spcBef>
              </a:pPr>
              <a:r>
                <a:rPr lang="zh-CN" altLang="en-US" sz="2000" dirty="0">
                  <a:solidFill>
                    <a:srgbClr val="000000"/>
                  </a:solidFill>
                </a:rPr>
                <a:t>销售额（万元）</a:t>
              </a:r>
            </a:p>
          </p:txBody>
        </p:sp>
        <p:sp>
          <p:nvSpPr>
            <p:cNvPr id="111629" name="Text Box 199"/>
            <p:cNvSpPr txBox="1">
              <a:spLocks noChangeArrowheads="1"/>
            </p:cNvSpPr>
            <p:nvPr/>
          </p:nvSpPr>
          <p:spPr bwMode="auto">
            <a:xfrm>
              <a:off x="628" y="457"/>
              <a:ext cx="409" cy="3169"/>
            </a:xfrm>
            <a:prstGeom prst="rect">
              <a:avLst/>
            </a:prstGeom>
            <a:noFill/>
            <a:ln w="9525">
              <a:noFill/>
              <a:miter lim="800000"/>
              <a:headEnd/>
              <a:tailEnd/>
            </a:ln>
          </p:spPr>
          <p:txBody>
            <a:bodyPr>
              <a:spAutoFit/>
            </a:bodyPr>
            <a:lstStyle/>
            <a:p>
              <a:pPr algn="r">
                <a:lnSpc>
                  <a:spcPct val="145000"/>
                </a:lnSpc>
                <a:spcBef>
                  <a:spcPct val="20000"/>
                </a:spcBef>
              </a:pPr>
              <a:r>
                <a:rPr lang="en-US" altLang="zh-CN">
                  <a:solidFill>
                    <a:srgbClr val="000000"/>
                  </a:solidFill>
                </a:rPr>
                <a:t>100</a:t>
              </a:r>
            </a:p>
            <a:p>
              <a:pPr algn="r">
                <a:lnSpc>
                  <a:spcPct val="145000"/>
                </a:lnSpc>
                <a:spcBef>
                  <a:spcPct val="20000"/>
                </a:spcBef>
              </a:pPr>
              <a:endParaRPr lang="en-US" altLang="zh-CN">
                <a:solidFill>
                  <a:srgbClr val="000000"/>
                </a:solidFill>
              </a:endParaRPr>
            </a:p>
            <a:p>
              <a:pPr algn="r">
                <a:lnSpc>
                  <a:spcPct val="145000"/>
                </a:lnSpc>
                <a:spcBef>
                  <a:spcPct val="20000"/>
                </a:spcBef>
              </a:pPr>
              <a:r>
                <a:rPr lang="en-US" altLang="zh-CN">
                  <a:solidFill>
                    <a:srgbClr val="000000"/>
                  </a:solidFill>
                </a:rPr>
                <a:t>80</a:t>
              </a:r>
            </a:p>
            <a:p>
              <a:pPr algn="r">
                <a:lnSpc>
                  <a:spcPct val="145000"/>
                </a:lnSpc>
                <a:spcBef>
                  <a:spcPct val="20000"/>
                </a:spcBef>
              </a:pPr>
              <a:endParaRPr lang="en-US" altLang="zh-CN">
                <a:solidFill>
                  <a:srgbClr val="000000"/>
                </a:solidFill>
              </a:endParaRPr>
            </a:p>
            <a:p>
              <a:pPr algn="r">
                <a:lnSpc>
                  <a:spcPct val="145000"/>
                </a:lnSpc>
                <a:spcBef>
                  <a:spcPct val="20000"/>
                </a:spcBef>
              </a:pPr>
              <a:r>
                <a:rPr lang="en-US" altLang="zh-CN">
                  <a:solidFill>
                    <a:srgbClr val="000000"/>
                  </a:solidFill>
                </a:rPr>
                <a:t>60</a:t>
              </a:r>
            </a:p>
            <a:p>
              <a:pPr algn="r">
                <a:lnSpc>
                  <a:spcPct val="145000"/>
                </a:lnSpc>
                <a:spcBef>
                  <a:spcPct val="20000"/>
                </a:spcBef>
              </a:pPr>
              <a:endParaRPr lang="en-US" altLang="zh-CN">
                <a:solidFill>
                  <a:srgbClr val="000000"/>
                </a:solidFill>
              </a:endParaRPr>
            </a:p>
            <a:p>
              <a:pPr algn="r">
                <a:lnSpc>
                  <a:spcPct val="145000"/>
                </a:lnSpc>
                <a:spcBef>
                  <a:spcPct val="20000"/>
                </a:spcBef>
              </a:pPr>
              <a:r>
                <a:rPr lang="en-US" altLang="zh-CN">
                  <a:solidFill>
                    <a:srgbClr val="000000"/>
                  </a:solidFill>
                </a:rPr>
                <a:t>40</a:t>
              </a:r>
            </a:p>
            <a:p>
              <a:pPr algn="r">
                <a:lnSpc>
                  <a:spcPct val="145000"/>
                </a:lnSpc>
                <a:spcBef>
                  <a:spcPct val="20000"/>
                </a:spcBef>
              </a:pPr>
              <a:endParaRPr lang="en-US" altLang="zh-CN">
                <a:solidFill>
                  <a:srgbClr val="000000"/>
                </a:solidFill>
              </a:endParaRPr>
            </a:p>
            <a:p>
              <a:pPr algn="r">
                <a:lnSpc>
                  <a:spcPct val="145000"/>
                </a:lnSpc>
                <a:spcBef>
                  <a:spcPct val="20000"/>
                </a:spcBef>
              </a:pPr>
              <a:r>
                <a:rPr lang="en-US" altLang="zh-CN">
                  <a:solidFill>
                    <a:srgbClr val="000000"/>
                  </a:solidFill>
                </a:rPr>
                <a:t> 2 0</a:t>
              </a:r>
            </a:p>
            <a:p>
              <a:pPr algn="r">
                <a:lnSpc>
                  <a:spcPct val="145000"/>
                </a:lnSpc>
                <a:spcBef>
                  <a:spcPct val="20000"/>
                </a:spcBef>
              </a:pPr>
              <a:endParaRPr lang="en-US" altLang="zh-CN">
                <a:solidFill>
                  <a:srgbClr val="000000"/>
                </a:solidFill>
              </a:endParaRPr>
            </a:p>
            <a:p>
              <a:pPr algn="r">
                <a:lnSpc>
                  <a:spcPct val="145000"/>
                </a:lnSpc>
                <a:spcBef>
                  <a:spcPct val="20000"/>
                </a:spcBef>
              </a:pPr>
              <a:r>
                <a:rPr lang="en-US" altLang="zh-CN">
                  <a:solidFill>
                    <a:srgbClr val="000000"/>
                  </a:solidFill>
                </a:rPr>
                <a:t>0</a:t>
              </a:r>
            </a:p>
          </p:txBody>
        </p:sp>
        <p:sp>
          <p:nvSpPr>
            <p:cNvPr id="55497" name="Rectangle 201"/>
            <p:cNvSpPr>
              <a:spLocks noChangeArrowheads="1"/>
            </p:cNvSpPr>
            <p:nvPr/>
          </p:nvSpPr>
          <p:spPr bwMode="auto">
            <a:xfrm>
              <a:off x="1020" y="572"/>
              <a:ext cx="4627" cy="3040"/>
            </a:xfrm>
            <a:prstGeom prst="rect">
              <a:avLst/>
            </a:prstGeom>
            <a:noFill/>
            <a:ln w="12700">
              <a:noFill/>
              <a:miter lim="800000"/>
              <a:headEnd/>
              <a:tailEnd/>
            </a:ln>
            <a:effectLst>
              <a:outerShdw dist="35921" dir="2700000" algn="ctr" rotWithShape="0">
                <a:schemeClr val="bg2"/>
              </a:outerShdw>
            </a:effectLst>
          </p:spPr>
          <p:txBody>
            <a:bodyPr wrap="none" anchor="ctr"/>
            <a:lstStyle/>
            <a:p>
              <a:pPr>
                <a:defRPr/>
              </a:pPr>
              <a:endParaRPr lang="zh-CN" altLang="en-US"/>
            </a:p>
          </p:txBody>
        </p:sp>
      </p:grpSp>
      <p:sp>
        <p:nvSpPr>
          <p:cNvPr id="111622" name="日期占位符 154"/>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43" name="Rectangle 2"/>
          <p:cNvSpPr>
            <a:spLocks noGrp="1" noChangeArrowheads="1"/>
          </p:cNvSpPr>
          <p:nvPr>
            <p:ph type="title"/>
          </p:nvPr>
        </p:nvSpPr>
        <p:spPr>
          <a:xfrm>
            <a:off x="684213" y="620713"/>
            <a:ext cx="7772400" cy="990600"/>
          </a:xfrm>
        </p:spPr>
        <p:txBody>
          <a:bodyPr/>
          <a:lstStyle/>
          <a:p>
            <a:pPr eaLnBrk="1" hangingPunct="1"/>
            <a:r>
              <a:rPr lang="zh-CN" altLang="en-US" sz="4000" dirty="0" smtClean="0">
                <a:latin typeface="宋体" pitchFamily="2" charset="-122"/>
              </a:rPr>
              <a:t>时间数列的组合模型</a:t>
            </a:r>
          </a:p>
        </p:txBody>
      </p:sp>
      <p:sp>
        <p:nvSpPr>
          <p:cNvPr id="56323" name="Rectangle 3"/>
          <p:cNvSpPr>
            <a:spLocks noGrp="1" noChangeArrowheads="1"/>
          </p:cNvSpPr>
          <p:nvPr>
            <p:ph type="body" idx="1"/>
          </p:nvPr>
        </p:nvSpPr>
        <p:spPr>
          <a:xfrm>
            <a:off x="914400" y="1952625"/>
            <a:ext cx="7848600" cy="1747838"/>
          </a:xfrm>
        </p:spPr>
        <p:txBody>
          <a:bodyPr/>
          <a:lstStyle/>
          <a:p>
            <a:pPr marL="571500" indent="-571500" algn="just" eaLnBrk="1" hangingPunct="1">
              <a:spcBef>
                <a:spcPct val="0"/>
              </a:spcBef>
            </a:pPr>
            <a:r>
              <a:rPr lang="en-US" altLang="zh-CN" sz="4000" dirty="0" smtClean="0">
                <a:solidFill>
                  <a:schemeClr val="tx1"/>
                </a:solidFill>
                <a:latin typeface="宋体" pitchFamily="2" charset="-122"/>
              </a:rPr>
              <a:t> Y= T+S+C+I</a:t>
            </a:r>
            <a:r>
              <a:rPr lang="en-US" altLang="zh-CN" sz="3600" dirty="0" smtClean="0">
                <a:solidFill>
                  <a:schemeClr val="tx1"/>
                </a:solidFill>
                <a:latin typeface="宋体" pitchFamily="2" charset="-122"/>
              </a:rPr>
              <a:t>    </a:t>
            </a:r>
            <a:r>
              <a:rPr lang="zh-CN" altLang="en-US" sz="3600" dirty="0" smtClean="0">
                <a:solidFill>
                  <a:srgbClr val="0070C0"/>
                </a:solidFill>
                <a:latin typeface="宋体" pitchFamily="2" charset="-122"/>
              </a:rPr>
              <a:t>（加法模型）</a:t>
            </a:r>
          </a:p>
          <a:p>
            <a:pPr marL="971550" lvl="1" algn="just" eaLnBrk="1" hangingPunct="1">
              <a:lnSpc>
                <a:spcPct val="90000"/>
              </a:lnSpc>
              <a:spcBef>
                <a:spcPct val="33000"/>
              </a:spcBef>
              <a:buClr>
                <a:schemeClr val="accent2"/>
              </a:buClr>
              <a:buSzPct val="55000"/>
              <a:buFontTx/>
              <a:buNone/>
            </a:pPr>
            <a:r>
              <a:rPr lang="zh-CN" altLang="en-US" sz="3200" i="1" dirty="0" smtClean="0">
                <a:solidFill>
                  <a:schemeClr val="tx1"/>
                </a:solidFill>
                <a:latin typeface="Times New Roman" pitchFamily="18" charset="0"/>
                <a:sym typeface="Wingdings" pitchFamily="2" charset="2"/>
              </a:rPr>
              <a:t> </a:t>
            </a:r>
            <a:r>
              <a:rPr lang="en-US" altLang="zh-CN" sz="3200" i="1" dirty="0" smtClean="0">
                <a:solidFill>
                  <a:schemeClr val="tx1"/>
                </a:solidFill>
                <a:latin typeface="Times New Roman" pitchFamily="18" charset="0"/>
                <a:sym typeface="Wingdings" pitchFamily="2" charset="2"/>
              </a:rPr>
              <a:t>Y</a:t>
            </a:r>
            <a:r>
              <a:rPr lang="en-US" altLang="zh-CN" sz="3200" baseline="-30000" dirty="0" smtClean="0">
                <a:solidFill>
                  <a:schemeClr val="tx1"/>
                </a:solidFill>
                <a:latin typeface="Times New Roman" pitchFamily="18" charset="0"/>
                <a:sym typeface="Wingdings" pitchFamily="2" charset="2"/>
              </a:rPr>
              <a:t>i </a:t>
            </a:r>
            <a:r>
              <a:rPr lang="en-US" altLang="zh-CN" sz="3200" dirty="0" smtClean="0">
                <a:solidFill>
                  <a:schemeClr val="tx1"/>
                </a:solidFill>
                <a:latin typeface="Times New Roman" pitchFamily="18" charset="0"/>
                <a:sym typeface="Wingdings" pitchFamily="2" charset="2"/>
              </a:rPr>
              <a:t>= </a:t>
            </a:r>
            <a:r>
              <a:rPr lang="en-US" altLang="zh-CN" sz="3200" i="1" dirty="0" smtClean="0">
                <a:solidFill>
                  <a:schemeClr val="tx1"/>
                </a:solidFill>
                <a:latin typeface="Times New Roman" pitchFamily="18" charset="0"/>
                <a:sym typeface="Wingdings" pitchFamily="2" charset="2"/>
              </a:rPr>
              <a:t>T</a:t>
            </a:r>
            <a:r>
              <a:rPr lang="en-US" altLang="zh-CN" sz="3200" baseline="-30000" dirty="0" smtClean="0">
                <a:solidFill>
                  <a:schemeClr val="tx1"/>
                </a:solidFill>
                <a:latin typeface="Times New Roman" pitchFamily="18" charset="0"/>
                <a:sym typeface="Wingdings" pitchFamily="2" charset="2"/>
              </a:rPr>
              <a:t>i </a:t>
            </a:r>
            <a:r>
              <a:rPr lang="en-US" altLang="zh-CN" sz="3200" dirty="0" smtClean="0">
                <a:solidFill>
                  <a:schemeClr val="tx1"/>
                </a:solidFill>
                <a:latin typeface="Times New Roman" pitchFamily="18" charset="0"/>
                <a:sym typeface="Wingdings" pitchFamily="2" charset="2"/>
              </a:rPr>
              <a:t>+ </a:t>
            </a:r>
            <a:r>
              <a:rPr lang="en-US" altLang="zh-CN" sz="3200" i="1" dirty="0" smtClean="0">
                <a:solidFill>
                  <a:schemeClr val="tx1"/>
                </a:solidFill>
                <a:latin typeface="Times New Roman" pitchFamily="18" charset="0"/>
                <a:sym typeface="Wingdings" pitchFamily="2" charset="2"/>
              </a:rPr>
              <a:t>S</a:t>
            </a:r>
            <a:r>
              <a:rPr lang="en-US" altLang="zh-CN" sz="3200" baseline="-30000" dirty="0" smtClean="0">
                <a:solidFill>
                  <a:schemeClr val="tx1"/>
                </a:solidFill>
                <a:latin typeface="Times New Roman" pitchFamily="18" charset="0"/>
                <a:sym typeface="Wingdings" pitchFamily="2" charset="2"/>
              </a:rPr>
              <a:t>i </a:t>
            </a:r>
            <a:r>
              <a:rPr lang="en-US" altLang="zh-CN" sz="3200" dirty="0" smtClean="0">
                <a:solidFill>
                  <a:schemeClr val="tx1"/>
                </a:solidFill>
                <a:latin typeface="Times New Roman" pitchFamily="18" charset="0"/>
                <a:sym typeface="Wingdings" pitchFamily="2" charset="2"/>
              </a:rPr>
              <a:t>+ </a:t>
            </a:r>
            <a:r>
              <a:rPr lang="en-US" altLang="zh-CN" sz="3200" i="1" dirty="0" err="1" smtClean="0">
                <a:solidFill>
                  <a:schemeClr val="tx1"/>
                </a:solidFill>
                <a:latin typeface="Times New Roman" pitchFamily="18" charset="0"/>
                <a:sym typeface="Wingdings" pitchFamily="2" charset="2"/>
              </a:rPr>
              <a:t>C</a:t>
            </a:r>
            <a:r>
              <a:rPr lang="en-US" altLang="zh-CN" sz="3200" baseline="-30000" dirty="0" err="1" smtClean="0">
                <a:solidFill>
                  <a:schemeClr val="tx1"/>
                </a:solidFill>
                <a:latin typeface="Times New Roman" pitchFamily="18" charset="0"/>
                <a:sym typeface="Wingdings" pitchFamily="2" charset="2"/>
              </a:rPr>
              <a:t>i</a:t>
            </a:r>
            <a:r>
              <a:rPr lang="en-US" altLang="zh-CN" sz="3200" baseline="-30000" dirty="0" smtClean="0">
                <a:solidFill>
                  <a:schemeClr val="tx1"/>
                </a:solidFill>
                <a:latin typeface="Times New Roman" pitchFamily="18" charset="0"/>
                <a:sym typeface="Wingdings" pitchFamily="2" charset="2"/>
              </a:rPr>
              <a:t> </a:t>
            </a:r>
            <a:r>
              <a:rPr lang="en-US" altLang="zh-CN" sz="3200" dirty="0" smtClean="0">
                <a:solidFill>
                  <a:schemeClr val="tx1"/>
                </a:solidFill>
                <a:latin typeface="Times New Roman" pitchFamily="18" charset="0"/>
                <a:sym typeface="Wingdings" pitchFamily="2" charset="2"/>
              </a:rPr>
              <a:t>+ </a:t>
            </a:r>
            <a:r>
              <a:rPr lang="en-US" altLang="zh-CN" sz="3200" i="1" dirty="0" smtClean="0">
                <a:solidFill>
                  <a:schemeClr val="tx1"/>
                </a:solidFill>
                <a:latin typeface="Times New Roman" pitchFamily="18" charset="0"/>
                <a:sym typeface="Wingdings" pitchFamily="2" charset="2"/>
              </a:rPr>
              <a:t>I</a:t>
            </a:r>
            <a:r>
              <a:rPr lang="en-US" altLang="zh-CN" sz="3200" baseline="-30000" dirty="0" smtClean="0">
                <a:solidFill>
                  <a:schemeClr val="tx1"/>
                </a:solidFill>
                <a:latin typeface="Times New Roman" pitchFamily="18" charset="0"/>
                <a:sym typeface="Wingdings" pitchFamily="2" charset="2"/>
              </a:rPr>
              <a:t>i</a:t>
            </a:r>
            <a:r>
              <a:rPr lang="en-US" altLang="zh-CN" sz="3200" dirty="0" smtClean="0">
                <a:solidFill>
                  <a:schemeClr val="tx1"/>
                </a:solidFill>
                <a:latin typeface="Times New Roman" pitchFamily="18" charset="0"/>
                <a:sym typeface="Wingdings" pitchFamily="2" charset="2"/>
              </a:rPr>
              <a:t> </a:t>
            </a:r>
            <a:endParaRPr lang="en-US" altLang="zh-CN" dirty="0" smtClean="0"/>
          </a:p>
        </p:txBody>
      </p:sp>
      <p:sp>
        <p:nvSpPr>
          <p:cNvPr id="56324" name="Rectangle 4"/>
          <p:cNvSpPr>
            <a:spLocks noChangeArrowheads="1"/>
          </p:cNvSpPr>
          <p:nvPr/>
        </p:nvSpPr>
        <p:spPr bwMode="auto">
          <a:xfrm>
            <a:off x="1331913" y="3989388"/>
            <a:ext cx="7127875" cy="1399487"/>
          </a:xfrm>
          <a:prstGeom prst="rect">
            <a:avLst/>
          </a:prstGeom>
          <a:noFill/>
          <a:ln w="12700">
            <a:noFill/>
            <a:miter lim="800000"/>
            <a:headEnd/>
            <a:tailEnd/>
          </a:ln>
        </p:spPr>
        <p:txBody>
          <a:bodyPr lIns="90000" tIns="46800" rIns="90000" bIns="46800">
            <a:spAutoFit/>
          </a:bodyPr>
          <a:lstStyle/>
          <a:p>
            <a:pPr eaLnBrk="0" hangingPunct="0">
              <a:spcBef>
                <a:spcPct val="50000"/>
              </a:spcBef>
            </a:pPr>
            <a:r>
              <a:rPr kumimoji="1" lang="en-US" altLang="zh-CN" sz="4000" b="1" dirty="0">
                <a:latin typeface="宋体" pitchFamily="2" charset="-122"/>
              </a:rPr>
              <a:t>Y= T×S×C×I   </a:t>
            </a:r>
            <a:r>
              <a:rPr kumimoji="1" lang="zh-CN" altLang="en-US" sz="3600" b="1" dirty="0">
                <a:solidFill>
                  <a:srgbClr val="0070C0"/>
                </a:solidFill>
                <a:latin typeface="宋体" pitchFamily="2" charset="-122"/>
              </a:rPr>
              <a:t>（乘法模型）</a:t>
            </a:r>
          </a:p>
          <a:p>
            <a:pPr lvl="1">
              <a:lnSpc>
                <a:spcPct val="90000"/>
              </a:lnSpc>
              <a:spcBef>
                <a:spcPct val="50000"/>
              </a:spcBef>
              <a:buClr>
                <a:schemeClr val="accent2"/>
              </a:buClr>
              <a:buSzPct val="55000"/>
              <a:buFont typeface="Wingdings" pitchFamily="2" charset="2"/>
              <a:buNone/>
            </a:pPr>
            <a:r>
              <a:rPr kumimoji="1" lang="zh-CN" altLang="en-US" sz="3200" b="1" i="1" dirty="0">
                <a:latin typeface="Times New Roman" pitchFamily="18" charset="0"/>
                <a:sym typeface="Wingdings" pitchFamily="2" charset="2"/>
              </a:rPr>
              <a:t> </a:t>
            </a:r>
            <a:r>
              <a:rPr kumimoji="1" lang="en-US" altLang="zh-CN" sz="3200" b="1" i="1" dirty="0">
                <a:latin typeface="Times New Roman" pitchFamily="18" charset="0"/>
                <a:sym typeface="Wingdings" pitchFamily="2" charset="2"/>
              </a:rPr>
              <a:t>Y</a:t>
            </a:r>
            <a:r>
              <a:rPr kumimoji="1" lang="en-US" altLang="zh-CN" sz="3200" b="1" baseline="-30000" dirty="0">
                <a:latin typeface="Times New Roman" pitchFamily="18" charset="0"/>
                <a:sym typeface="Wingdings" pitchFamily="2" charset="2"/>
              </a:rPr>
              <a:t>i </a:t>
            </a:r>
            <a:r>
              <a:rPr kumimoji="1" lang="en-US" altLang="zh-CN" sz="3200" b="1" dirty="0">
                <a:latin typeface="Times New Roman" pitchFamily="18" charset="0"/>
                <a:sym typeface="Wingdings" pitchFamily="2" charset="2"/>
              </a:rPr>
              <a:t>= </a:t>
            </a:r>
            <a:r>
              <a:rPr kumimoji="1" lang="en-US" altLang="zh-CN" sz="3200" b="1" i="1" dirty="0" err="1">
                <a:latin typeface="Times New Roman" pitchFamily="18" charset="0"/>
                <a:sym typeface="Wingdings" pitchFamily="2" charset="2"/>
              </a:rPr>
              <a:t>T</a:t>
            </a:r>
            <a:r>
              <a:rPr kumimoji="1" lang="en-US" altLang="zh-CN" sz="3200" b="1" baseline="-30000" dirty="0" err="1">
                <a:latin typeface="Times New Roman" pitchFamily="18" charset="0"/>
                <a:sym typeface="Wingdings" pitchFamily="2" charset="2"/>
              </a:rPr>
              <a:t>i</a:t>
            </a:r>
            <a:r>
              <a:rPr kumimoji="1" lang="en-US" altLang="zh-CN" sz="3200" b="1" baseline="-30000" dirty="0">
                <a:latin typeface="Times New Roman" pitchFamily="18" charset="0"/>
                <a:sym typeface="Wingdings" pitchFamily="2" charset="2"/>
              </a:rPr>
              <a:t>  </a:t>
            </a:r>
            <a:r>
              <a:rPr kumimoji="1" lang="en-US" altLang="zh-CN" sz="3200" b="1" dirty="0">
                <a:latin typeface="Times New Roman" pitchFamily="18" charset="0"/>
                <a:sym typeface="Wingdings" pitchFamily="2" charset="2"/>
              </a:rPr>
              <a:t>× </a:t>
            </a:r>
            <a:r>
              <a:rPr kumimoji="1" lang="en-US" altLang="zh-CN" sz="3200" b="1" i="1" dirty="0">
                <a:latin typeface="Times New Roman" pitchFamily="18" charset="0"/>
                <a:sym typeface="Wingdings" pitchFamily="2" charset="2"/>
              </a:rPr>
              <a:t>S</a:t>
            </a:r>
            <a:r>
              <a:rPr kumimoji="1" lang="en-US" altLang="zh-CN" sz="3200" b="1" baseline="-30000" dirty="0">
                <a:latin typeface="Times New Roman" pitchFamily="18" charset="0"/>
                <a:sym typeface="Wingdings" pitchFamily="2" charset="2"/>
              </a:rPr>
              <a:t>i </a:t>
            </a:r>
            <a:r>
              <a:rPr kumimoji="1" lang="en-US" altLang="zh-CN" sz="3200" b="1" dirty="0">
                <a:latin typeface="Times New Roman" pitchFamily="18" charset="0"/>
                <a:sym typeface="Wingdings" pitchFamily="2" charset="2"/>
              </a:rPr>
              <a:t>× </a:t>
            </a:r>
            <a:r>
              <a:rPr kumimoji="1" lang="en-US" altLang="zh-CN" sz="3200" b="1" i="1" dirty="0">
                <a:latin typeface="Times New Roman" pitchFamily="18" charset="0"/>
                <a:sym typeface="Wingdings" pitchFamily="2" charset="2"/>
              </a:rPr>
              <a:t>C</a:t>
            </a:r>
            <a:r>
              <a:rPr kumimoji="1" lang="en-US" altLang="zh-CN" sz="3200" b="1" baseline="-30000" dirty="0">
                <a:latin typeface="Times New Roman" pitchFamily="18" charset="0"/>
                <a:sym typeface="Wingdings" pitchFamily="2" charset="2"/>
              </a:rPr>
              <a:t>i </a:t>
            </a:r>
            <a:r>
              <a:rPr kumimoji="1" lang="en-US" altLang="zh-CN" sz="3200" b="1" dirty="0">
                <a:latin typeface="Times New Roman" pitchFamily="18" charset="0"/>
                <a:sym typeface="Wingdings" pitchFamily="2" charset="2"/>
              </a:rPr>
              <a:t>× </a:t>
            </a:r>
            <a:r>
              <a:rPr kumimoji="1" lang="en-US" altLang="zh-CN" sz="3200" b="1" i="1" dirty="0">
                <a:latin typeface="Times New Roman" pitchFamily="18" charset="0"/>
                <a:sym typeface="Wingdings" pitchFamily="2" charset="2"/>
              </a:rPr>
              <a:t>I</a:t>
            </a:r>
            <a:r>
              <a:rPr kumimoji="1" lang="en-US" altLang="zh-CN" sz="3200" b="1" baseline="-30000" dirty="0">
                <a:latin typeface="Times New Roman" pitchFamily="18" charset="0"/>
                <a:sym typeface="Wingdings" pitchFamily="2" charset="2"/>
              </a:rPr>
              <a:t>i</a:t>
            </a:r>
          </a:p>
        </p:txBody>
      </p:sp>
      <p:sp>
        <p:nvSpPr>
          <p:cNvPr id="112646" name="日期占位符 5"/>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6323">
                                            <p:txEl>
                                              <p:pRg st="0" end="0"/>
                                            </p:txEl>
                                          </p:spTgt>
                                        </p:tgtEl>
                                        <p:attrNameLst>
                                          <p:attrName>style.visibility</p:attrName>
                                        </p:attrNameLst>
                                      </p:cBhvr>
                                      <p:to>
                                        <p:strVal val="visible"/>
                                      </p:to>
                                    </p:set>
                                    <p:anim calcmode="lin" valueType="num">
                                      <p:cBhvr additive="base">
                                        <p:cTn id="7" dur="500" fill="hold"/>
                                        <p:tgtEl>
                                          <p:spTgt spid="563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632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56323">
                                            <p:txEl>
                                              <p:pRg st="1" end="1"/>
                                            </p:txEl>
                                          </p:spTgt>
                                        </p:tgtEl>
                                        <p:attrNameLst>
                                          <p:attrName>style.visibility</p:attrName>
                                        </p:attrNameLst>
                                      </p:cBhvr>
                                      <p:to>
                                        <p:strVal val="visible"/>
                                      </p:to>
                                    </p:set>
                                    <p:anim calcmode="lin" valueType="num">
                                      <p:cBhvr additive="base">
                                        <p:cTn id="11" dur="500" fill="hold"/>
                                        <p:tgtEl>
                                          <p:spTgt spid="5632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63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56324"/>
                                        </p:tgtEl>
                                        <p:attrNameLst>
                                          <p:attrName>style.visibility</p:attrName>
                                        </p:attrNameLst>
                                      </p:cBhvr>
                                      <p:to>
                                        <p:strVal val="visible"/>
                                      </p:to>
                                    </p:set>
                                    <p:anim calcmode="lin" valueType="num">
                                      <p:cBhvr additive="base">
                                        <p:cTn id="17" dur="500" fill="hold"/>
                                        <p:tgtEl>
                                          <p:spTgt spid="56324"/>
                                        </p:tgtEl>
                                        <p:attrNameLst>
                                          <p:attrName>ppt_x</p:attrName>
                                        </p:attrNameLst>
                                      </p:cBhvr>
                                      <p:tavLst>
                                        <p:tav tm="0">
                                          <p:val>
                                            <p:strVal val="0-#ppt_w/2"/>
                                          </p:val>
                                        </p:tav>
                                        <p:tav tm="100000">
                                          <p:val>
                                            <p:strVal val="#ppt_x"/>
                                          </p:val>
                                        </p:tav>
                                      </p:tavLst>
                                    </p:anim>
                                    <p:anim calcmode="lin" valueType="num">
                                      <p:cBhvr additive="base">
                                        <p:cTn id="18" dur="500" fill="hold"/>
                                        <p:tgtEl>
                                          <p:spTgt spid="563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build="p" autoUpdateAnimBg="0"/>
      <p:bldP spid="56324" grpId="0"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7" name="Rectangle 2"/>
          <p:cNvSpPr>
            <a:spLocks noGrp="1" noChangeArrowheads="1"/>
          </p:cNvSpPr>
          <p:nvPr>
            <p:ph type="title"/>
          </p:nvPr>
        </p:nvSpPr>
        <p:spPr>
          <a:xfrm>
            <a:off x="700953" y="153997"/>
            <a:ext cx="7772400" cy="857232"/>
          </a:xfrm>
        </p:spPr>
        <p:txBody>
          <a:bodyPr/>
          <a:lstStyle/>
          <a:p>
            <a:pPr eaLnBrk="1" hangingPunct="1"/>
            <a:r>
              <a:rPr lang="zh-CN" altLang="en-US" sz="4800" dirty="0" smtClean="0">
                <a:latin typeface="宋体" pitchFamily="2" charset="-122"/>
              </a:rPr>
              <a:t>在加法模型中</a:t>
            </a:r>
          </a:p>
        </p:txBody>
      </p:sp>
      <p:sp>
        <p:nvSpPr>
          <p:cNvPr id="57347" name="Rectangle 3"/>
          <p:cNvSpPr>
            <a:spLocks noGrp="1" noChangeArrowheads="1"/>
          </p:cNvSpPr>
          <p:nvPr>
            <p:ph type="body" idx="1"/>
          </p:nvPr>
        </p:nvSpPr>
        <p:spPr>
          <a:xfrm>
            <a:off x="636588" y="1039813"/>
            <a:ext cx="8153400" cy="5327650"/>
          </a:xfrm>
        </p:spPr>
        <p:txBody>
          <a:bodyPr/>
          <a:lstStyle/>
          <a:p>
            <a:pPr marL="571500" indent="-571500" eaLnBrk="1" hangingPunct="1">
              <a:lnSpc>
                <a:spcPct val="110000"/>
              </a:lnSpc>
              <a:spcBef>
                <a:spcPct val="15000"/>
              </a:spcBef>
              <a:buFontTx/>
              <a:buAutoNum type="arabicPeriod"/>
            </a:pPr>
            <a:r>
              <a:rPr lang="zh-CN" altLang="en-US" dirty="0" smtClean="0">
                <a:solidFill>
                  <a:srgbClr val="000000"/>
                </a:solidFill>
                <a:latin typeface="宋体" pitchFamily="2" charset="-122"/>
              </a:rPr>
              <a:t>各种影响因素是相互独立的、均为与</a:t>
            </a:r>
            <a:r>
              <a:rPr lang="en-US" altLang="zh-CN" dirty="0" smtClean="0">
                <a:solidFill>
                  <a:srgbClr val="000000"/>
                </a:solidFill>
                <a:latin typeface="宋体" pitchFamily="2" charset="-122"/>
              </a:rPr>
              <a:t>Y</a:t>
            </a:r>
            <a:r>
              <a:rPr lang="zh-CN" altLang="en-US" dirty="0" smtClean="0">
                <a:solidFill>
                  <a:srgbClr val="000000"/>
                </a:solidFill>
                <a:latin typeface="宋体" pitchFamily="2" charset="-122"/>
              </a:rPr>
              <a:t>同计量单位的</a:t>
            </a:r>
            <a:r>
              <a:rPr lang="zh-CN" altLang="en-US" dirty="0" smtClean="0">
                <a:latin typeface="宋体" pitchFamily="2" charset="-122"/>
              </a:rPr>
              <a:t>绝对量</a:t>
            </a:r>
            <a:r>
              <a:rPr lang="zh-CN" altLang="en-US" dirty="0" smtClean="0">
                <a:solidFill>
                  <a:srgbClr val="000000"/>
                </a:solidFill>
                <a:latin typeface="宋体" pitchFamily="2" charset="-122"/>
              </a:rPr>
              <a:t>。</a:t>
            </a:r>
          </a:p>
          <a:p>
            <a:pPr marL="571500" indent="-571500" eaLnBrk="1" hangingPunct="1">
              <a:lnSpc>
                <a:spcPct val="110000"/>
              </a:lnSpc>
              <a:spcBef>
                <a:spcPct val="15000"/>
              </a:spcBef>
              <a:buFontTx/>
              <a:buAutoNum type="arabicPeriod"/>
            </a:pPr>
            <a:r>
              <a:rPr lang="zh-CN" altLang="en-US" dirty="0" smtClean="0">
                <a:solidFill>
                  <a:srgbClr val="000000"/>
                </a:solidFill>
                <a:latin typeface="宋体" pitchFamily="2" charset="-122"/>
              </a:rPr>
              <a:t>季节周期和循环周期的数值在各自的</a:t>
            </a:r>
            <a:r>
              <a:rPr lang="zh-CN" altLang="en-US" dirty="0" smtClean="0">
                <a:latin typeface="宋体" pitchFamily="2" charset="-122"/>
              </a:rPr>
              <a:t>一个周期内总和（或平均）为零</a:t>
            </a:r>
            <a:r>
              <a:rPr lang="zh-CN" altLang="en-US" dirty="0" smtClean="0">
                <a:solidFill>
                  <a:srgbClr val="000000"/>
                </a:solidFill>
                <a:latin typeface="宋体" pitchFamily="2" charset="-122"/>
              </a:rPr>
              <a:t>；不规则变动的数值从长时间来看，其总和（或平均）也应趋于零。</a:t>
            </a:r>
          </a:p>
          <a:p>
            <a:pPr marL="571500" indent="-571500" eaLnBrk="1" hangingPunct="1">
              <a:lnSpc>
                <a:spcPct val="110000"/>
              </a:lnSpc>
              <a:spcBef>
                <a:spcPct val="15000"/>
              </a:spcBef>
              <a:buFontTx/>
              <a:buAutoNum type="arabicPeriod"/>
            </a:pPr>
            <a:r>
              <a:rPr lang="zh-CN" altLang="en-US" dirty="0" smtClean="0">
                <a:solidFill>
                  <a:srgbClr val="000000"/>
                </a:solidFill>
                <a:latin typeface="宋体" pitchFamily="2" charset="-122"/>
              </a:rPr>
              <a:t>各因素的分解是根据</a:t>
            </a:r>
            <a:r>
              <a:rPr lang="zh-CN" altLang="en-US" dirty="0" smtClean="0">
                <a:latin typeface="宋体" pitchFamily="2" charset="-122"/>
              </a:rPr>
              <a:t>减法</a:t>
            </a:r>
            <a:r>
              <a:rPr lang="zh-CN" altLang="en-US" dirty="0" smtClean="0">
                <a:solidFill>
                  <a:srgbClr val="000000"/>
                </a:solidFill>
                <a:latin typeface="宋体" pitchFamily="2" charset="-122"/>
              </a:rPr>
              <a:t>进行</a:t>
            </a:r>
          </a:p>
          <a:p>
            <a:pPr marL="1143000" lvl="1" indent="-457200" eaLnBrk="1" hangingPunct="1">
              <a:lnSpc>
                <a:spcPct val="110000"/>
              </a:lnSpc>
              <a:spcBef>
                <a:spcPct val="15000"/>
              </a:spcBef>
              <a:buFontTx/>
              <a:buNone/>
            </a:pPr>
            <a:r>
              <a:rPr lang="zh-CN" altLang="en-US" sz="3200" dirty="0" smtClean="0">
                <a:latin typeface="宋体" pitchFamily="2" charset="-122"/>
              </a:rPr>
              <a:t>如：剔 除 趋 势： </a:t>
            </a:r>
            <a:r>
              <a:rPr lang="en-US" altLang="zh-CN" sz="3200" dirty="0" smtClean="0">
                <a:latin typeface="宋体" pitchFamily="2" charset="-122"/>
              </a:rPr>
              <a:t>Y</a:t>
            </a:r>
            <a:r>
              <a:rPr lang="en-US" altLang="zh-CN" sz="3200" baseline="-30000" dirty="0" smtClean="0">
                <a:solidFill>
                  <a:schemeClr val="tx1"/>
                </a:solidFill>
                <a:latin typeface="Times New Roman" pitchFamily="18" charset="0"/>
                <a:sym typeface="Wingdings" pitchFamily="2" charset="2"/>
              </a:rPr>
              <a:t>i </a:t>
            </a:r>
            <a:r>
              <a:rPr lang="en-US" altLang="zh-CN" sz="3200" dirty="0" smtClean="0">
                <a:latin typeface="Times New Roman" pitchFamily="18" charset="0"/>
              </a:rPr>
              <a:t>–</a:t>
            </a:r>
            <a:r>
              <a:rPr lang="en-US" altLang="zh-CN" sz="3200" dirty="0" smtClean="0">
                <a:latin typeface="宋体" pitchFamily="2" charset="-122"/>
              </a:rPr>
              <a:t>T</a:t>
            </a:r>
            <a:r>
              <a:rPr lang="en-US" altLang="zh-CN" sz="3200" baseline="-30000" dirty="0" smtClean="0">
                <a:solidFill>
                  <a:schemeClr val="tx1"/>
                </a:solidFill>
                <a:latin typeface="Times New Roman" pitchFamily="18" charset="0"/>
                <a:sym typeface="Wingdings" pitchFamily="2" charset="2"/>
              </a:rPr>
              <a:t>i </a:t>
            </a:r>
            <a:r>
              <a:rPr lang="en-US" altLang="zh-CN" sz="3200" dirty="0" smtClean="0">
                <a:latin typeface="宋体" pitchFamily="2" charset="-122"/>
              </a:rPr>
              <a:t>=S</a:t>
            </a:r>
            <a:r>
              <a:rPr lang="en-US" altLang="zh-CN" sz="3200" baseline="-30000" dirty="0" smtClean="0">
                <a:solidFill>
                  <a:schemeClr val="tx1"/>
                </a:solidFill>
                <a:latin typeface="Times New Roman" pitchFamily="18" charset="0"/>
                <a:sym typeface="Wingdings" pitchFamily="2" charset="2"/>
              </a:rPr>
              <a:t>i </a:t>
            </a:r>
            <a:r>
              <a:rPr lang="en-US" altLang="zh-CN" sz="3200" dirty="0" smtClean="0">
                <a:latin typeface="宋体" pitchFamily="2" charset="-122"/>
              </a:rPr>
              <a:t>+</a:t>
            </a:r>
            <a:r>
              <a:rPr lang="en-US" altLang="zh-CN" sz="3200" dirty="0" err="1" smtClean="0">
                <a:latin typeface="宋体" pitchFamily="2" charset="-122"/>
              </a:rPr>
              <a:t>C</a:t>
            </a:r>
            <a:r>
              <a:rPr lang="en-US" altLang="zh-CN" sz="3200" baseline="-30000" dirty="0" err="1" smtClean="0">
                <a:solidFill>
                  <a:schemeClr val="tx1"/>
                </a:solidFill>
                <a:latin typeface="Times New Roman" pitchFamily="18" charset="0"/>
                <a:sym typeface="Wingdings" pitchFamily="2" charset="2"/>
              </a:rPr>
              <a:t>i</a:t>
            </a:r>
            <a:r>
              <a:rPr lang="en-US" altLang="zh-CN" sz="3200" baseline="-30000" dirty="0" smtClean="0">
                <a:solidFill>
                  <a:schemeClr val="tx1"/>
                </a:solidFill>
                <a:latin typeface="Times New Roman" pitchFamily="18" charset="0"/>
                <a:sym typeface="Wingdings" pitchFamily="2" charset="2"/>
              </a:rPr>
              <a:t> </a:t>
            </a:r>
            <a:r>
              <a:rPr lang="en-US" altLang="zh-CN" sz="3200" dirty="0" smtClean="0">
                <a:latin typeface="宋体" pitchFamily="2" charset="-122"/>
              </a:rPr>
              <a:t>+I</a:t>
            </a:r>
            <a:r>
              <a:rPr lang="en-US" altLang="zh-CN" sz="3200" baseline="-30000" dirty="0" smtClean="0">
                <a:solidFill>
                  <a:schemeClr val="tx1"/>
                </a:solidFill>
                <a:latin typeface="Times New Roman" pitchFamily="18" charset="0"/>
                <a:sym typeface="Wingdings" pitchFamily="2" charset="2"/>
              </a:rPr>
              <a:t>i </a:t>
            </a:r>
            <a:endParaRPr lang="en-US" altLang="zh-CN" sz="3200" dirty="0" smtClean="0">
              <a:latin typeface="宋体" pitchFamily="2" charset="-122"/>
            </a:endParaRPr>
          </a:p>
          <a:p>
            <a:pPr marL="1143000" lvl="1" indent="-457200" eaLnBrk="1" hangingPunct="1">
              <a:lnSpc>
                <a:spcPct val="110000"/>
              </a:lnSpc>
              <a:spcBef>
                <a:spcPct val="15000"/>
              </a:spcBef>
              <a:buNone/>
            </a:pPr>
            <a:r>
              <a:rPr lang="zh-CN" altLang="en-US" sz="3200" dirty="0" smtClean="0">
                <a:latin typeface="宋体" pitchFamily="2" charset="-122"/>
              </a:rPr>
              <a:t>   剔除季节变动： </a:t>
            </a:r>
            <a:r>
              <a:rPr lang="en-US" altLang="zh-CN" sz="3200" dirty="0" smtClean="0">
                <a:latin typeface="宋体" pitchFamily="2" charset="-122"/>
              </a:rPr>
              <a:t>Y</a:t>
            </a:r>
            <a:r>
              <a:rPr lang="en-US" altLang="zh-CN" sz="3200" baseline="-30000" dirty="0" smtClean="0">
                <a:solidFill>
                  <a:schemeClr val="tx1"/>
                </a:solidFill>
                <a:latin typeface="Times New Roman" pitchFamily="18" charset="0"/>
                <a:sym typeface="Wingdings" pitchFamily="2" charset="2"/>
              </a:rPr>
              <a:t>i </a:t>
            </a:r>
            <a:r>
              <a:rPr lang="en-US" altLang="zh-CN" sz="3200" dirty="0" smtClean="0">
                <a:latin typeface="Times New Roman" pitchFamily="18" charset="0"/>
              </a:rPr>
              <a:t>–S</a:t>
            </a:r>
            <a:r>
              <a:rPr lang="en-US" altLang="zh-CN" sz="3200" baseline="-30000" dirty="0" smtClean="0">
                <a:solidFill>
                  <a:schemeClr val="tx1"/>
                </a:solidFill>
                <a:latin typeface="Times New Roman" pitchFamily="18" charset="0"/>
                <a:sym typeface="Wingdings" pitchFamily="2" charset="2"/>
              </a:rPr>
              <a:t>i</a:t>
            </a:r>
            <a:r>
              <a:rPr lang="en-US" altLang="zh-CN" sz="3200" dirty="0" smtClean="0">
                <a:latin typeface="Times New Roman" pitchFamily="18" charset="0"/>
              </a:rPr>
              <a:t> </a:t>
            </a:r>
            <a:r>
              <a:rPr lang="en-US" altLang="zh-CN" sz="3200" dirty="0" smtClean="0">
                <a:latin typeface="宋体" pitchFamily="2" charset="-122"/>
              </a:rPr>
              <a:t>=T</a:t>
            </a:r>
            <a:r>
              <a:rPr lang="en-US" altLang="zh-CN" sz="3200" baseline="-30000" dirty="0" smtClean="0">
                <a:solidFill>
                  <a:schemeClr val="tx1"/>
                </a:solidFill>
                <a:latin typeface="Times New Roman" pitchFamily="18" charset="0"/>
                <a:sym typeface="Wingdings" pitchFamily="2" charset="2"/>
              </a:rPr>
              <a:t>i </a:t>
            </a:r>
            <a:r>
              <a:rPr lang="en-US" altLang="zh-CN" sz="3200" dirty="0" smtClean="0">
                <a:latin typeface="宋体" pitchFamily="2" charset="-122"/>
              </a:rPr>
              <a:t>+</a:t>
            </a:r>
            <a:r>
              <a:rPr lang="en-US" altLang="zh-CN" sz="3200" dirty="0" err="1" smtClean="0">
                <a:latin typeface="宋体" pitchFamily="2" charset="-122"/>
              </a:rPr>
              <a:t>C</a:t>
            </a:r>
            <a:r>
              <a:rPr lang="en-US" altLang="zh-CN" sz="3200" baseline="-30000" dirty="0" err="1" smtClean="0">
                <a:solidFill>
                  <a:schemeClr val="tx1"/>
                </a:solidFill>
                <a:latin typeface="Times New Roman" pitchFamily="18" charset="0"/>
                <a:sym typeface="Wingdings" pitchFamily="2" charset="2"/>
              </a:rPr>
              <a:t>i</a:t>
            </a:r>
            <a:r>
              <a:rPr lang="en-US" altLang="zh-CN" sz="3200" baseline="-30000" dirty="0" smtClean="0">
                <a:solidFill>
                  <a:schemeClr val="tx1"/>
                </a:solidFill>
                <a:latin typeface="Times New Roman" pitchFamily="18" charset="0"/>
                <a:sym typeface="Wingdings" pitchFamily="2" charset="2"/>
              </a:rPr>
              <a:t> </a:t>
            </a:r>
            <a:r>
              <a:rPr lang="en-US" altLang="zh-CN" sz="3200" dirty="0" smtClean="0">
                <a:latin typeface="宋体" pitchFamily="2" charset="-122"/>
              </a:rPr>
              <a:t>+I</a:t>
            </a:r>
            <a:r>
              <a:rPr lang="en-US" altLang="zh-CN" sz="3200" baseline="-30000" dirty="0" smtClean="0">
                <a:solidFill>
                  <a:schemeClr val="tx1"/>
                </a:solidFill>
                <a:latin typeface="Times New Roman" pitchFamily="18" charset="0"/>
                <a:sym typeface="Wingdings" pitchFamily="2" charset="2"/>
              </a:rPr>
              <a:t>i </a:t>
            </a:r>
            <a:endParaRPr lang="en-US" altLang="zh-CN" sz="3200" dirty="0" smtClean="0">
              <a:latin typeface="宋体" pitchFamily="2" charset="-122"/>
            </a:endParaRPr>
          </a:p>
          <a:p>
            <a:pPr marL="1143000" lvl="1" indent="-457200" eaLnBrk="1" hangingPunct="1">
              <a:lnSpc>
                <a:spcPct val="110000"/>
              </a:lnSpc>
              <a:spcBef>
                <a:spcPct val="15000"/>
              </a:spcBef>
              <a:buFontTx/>
              <a:buNone/>
            </a:pPr>
            <a:endParaRPr lang="zh-CN" altLang="en-US" sz="3200" dirty="0" smtClean="0">
              <a:latin typeface="宋体" pitchFamily="2" charset="-122"/>
            </a:endParaRPr>
          </a:p>
        </p:txBody>
      </p:sp>
      <p:sp>
        <p:nvSpPr>
          <p:cNvPr id="113669" name="日期占位符 4"/>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347">
                                            <p:txEl>
                                              <p:pRg st="1" end="1"/>
                                            </p:txEl>
                                          </p:spTgt>
                                        </p:tgtEl>
                                        <p:attrNameLst>
                                          <p:attrName>style.visibility</p:attrName>
                                        </p:attrNameLst>
                                      </p:cBhvr>
                                      <p:to>
                                        <p:strVal val="visible"/>
                                      </p:to>
                                    </p:set>
                                    <p:animEffect transition="in" filter="wipe(left)">
                                      <p:cBhvr>
                                        <p:cTn id="7" dur="500"/>
                                        <p:tgtEl>
                                          <p:spTgt spid="5734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347">
                                            <p:txEl>
                                              <p:pRg st="2" end="2"/>
                                            </p:txEl>
                                          </p:spTgt>
                                        </p:tgtEl>
                                        <p:attrNameLst>
                                          <p:attrName>style.visibility</p:attrName>
                                        </p:attrNameLst>
                                      </p:cBhvr>
                                      <p:to>
                                        <p:strVal val="visible"/>
                                      </p:to>
                                    </p:set>
                                    <p:animEffect transition="in" filter="wipe(left)">
                                      <p:cBhvr>
                                        <p:cTn id="12" dur="500"/>
                                        <p:tgtEl>
                                          <p:spTgt spid="57347">
                                            <p:txEl>
                                              <p:pRg st="2" end="2"/>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57347">
                                            <p:txEl>
                                              <p:pRg st="3" end="3"/>
                                            </p:txEl>
                                          </p:spTgt>
                                        </p:tgtEl>
                                        <p:attrNameLst>
                                          <p:attrName>style.visibility</p:attrName>
                                        </p:attrNameLst>
                                      </p:cBhvr>
                                      <p:to>
                                        <p:strVal val="visible"/>
                                      </p:to>
                                    </p:set>
                                    <p:animEffect transition="in" filter="wipe(left)">
                                      <p:cBhvr>
                                        <p:cTn id="15" dur="500"/>
                                        <p:tgtEl>
                                          <p:spTgt spid="57347">
                                            <p:txEl>
                                              <p:pRg st="3" end="3"/>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7347">
                                            <p:txEl>
                                              <p:pRg st="4" end="4"/>
                                            </p:txEl>
                                          </p:spTgt>
                                        </p:tgtEl>
                                        <p:attrNameLst>
                                          <p:attrName>style.visibility</p:attrName>
                                        </p:attrNameLst>
                                      </p:cBhvr>
                                      <p:to>
                                        <p:strVal val="visible"/>
                                      </p:to>
                                    </p:set>
                                    <p:animEffect transition="in" filter="wipe(left)">
                                      <p:cBhvr>
                                        <p:cTn id="18" dur="500"/>
                                        <p:tgtEl>
                                          <p:spTgt spid="573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uiExpand="1"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1" name="Rectangle 2"/>
          <p:cNvSpPr>
            <a:spLocks noGrp="1" noChangeArrowheads="1"/>
          </p:cNvSpPr>
          <p:nvPr>
            <p:ph type="title"/>
          </p:nvPr>
        </p:nvSpPr>
        <p:spPr>
          <a:xfrm>
            <a:off x="665163" y="133350"/>
            <a:ext cx="7772400" cy="990600"/>
          </a:xfrm>
        </p:spPr>
        <p:txBody>
          <a:bodyPr/>
          <a:lstStyle/>
          <a:p>
            <a:pPr eaLnBrk="1" hangingPunct="1"/>
            <a:r>
              <a:rPr lang="zh-CN" altLang="en-US" sz="4800" dirty="0" smtClean="0">
                <a:latin typeface="宋体" pitchFamily="2" charset="-122"/>
              </a:rPr>
              <a:t>在乘法模型中</a:t>
            </a:r>
          </a:p>
        </p:txBody>
      </p:sp>
      <p:sp>
        <p:nvSpPr>
          <p:cNvPr id="58371" name="Rectangle 3"/>
          <p:cNvSpPr>
            <a:spLocks noGrp="1" noChangeArrowheads="1"/>
          </p:cNvSpPr>
          <p:nvPr>
            <p:ph type="body" idx="1"/>
          </p:nvPr>
        </p:nvSpPr>
        <p:spPr>
          <a:xfrm>
            <a:off x="251520" y="1123950"/>
            <a:ext cx="8353425" cy="5472113"/>
          </a:xfrm>
        </p:spPr>
        <p:txBody>
          <a:bodyPr/>
          <a:lstStyle/>
          <a:p>
            <a:pPr marL="609600" indent="-609600" algn="just" eaLnBrk="1" hangingPunct="1">
              <a:lnSpc>
                <a:spcPct val="114000"/>
              </a:lnSpc>
              <a:spcBef>
                <a:spcPts val="600"/>
              </a:spcBef>
              <a:buFontTx/>
              <a:buAutoNum type="arabicPeriod"/>
            </a:pPr>
            <a:r>
              <a:rPr lang="zh-CN" altLang="en-US" sz="3000" dirty="0" smtClean="0">
                <a:solidFill>
                  <a:srgbClr val="000000"/>
                </a:solidFill>
                <a:latin typeface="宋体" pitchFamily="2" charset="-122"/>
              </a:rPr>
              <a:t>只有长期趋势</a:t>
            </a:r>
            <a:r>
              <a:rPr lang="en-US" altLang="zh-CN" sz="3000" dirty="0" smtClean="0">
                <a:solidFill>
                  <a:srgbClr val="000000"/>
                </a:solidFill>
                <a:latin typeface="宋体" pitchFamily="2" charset="-122"/>
              </a:rPr>
              <a:t>T</a:t>
            </a:r>
            <a:r>
              <a:rPr lang="zh-CN" altLang="en-US" sz="3000" dirty="0" smtClean="0">
                <a:solidFill>
                  <a:srgbClr val="000000"/>
                </a:solidFill>
                <a:latin typeface="宋体" pitchFamily="2" charset="-122"/>
              </a:rPr>
              <a:t>是与</a:t>
            </a:r>
            <a:r>
              <a:rPr lang="en-US" altLang="zh-CN" sz="3000" dirty="0" smtClean="0">
                <a:solidFill>
                  <a:srgbClr val="000000"/>
                </a:solidFill>
                <a:latin typeface="宋体" pitchFamily="2" charset="-122"/>
              </a:rPr>
              <a:t>Y</a:t>
            </a:r>
            <a:r>
              <a:rPr lang="zh-CN" altLang="en-US" sz="3000" dirty="0" smtClean="0">
                <a:solidFill>
                  <a:srgbClr val="000000"/>
                </a:solidFill>
                <a:latin typeface="宋体" pitchFamily="2" charset="-122"/>
              </a:rPr>
              <a:t>同计量单位的绝对量；</a:t>
            </a:r>
            <a:r>
              <a:rPr lang="zh-CN" altLang="en-US" sz="3000" dirty="0" smtClean="0">
                <a:latin typeface="宋体" pitchFamily="2" charset="-122"/>
              </a:rPr>
              <a:t>其余因素均为以长期趋势为基础的比率</a:t>
            </a:r>
            <a:r>
              <a:rPr lang="zh-CN" altLang="en-US" sz="3000" dirty="0" smtClean="0">
                <a:solidFill>
                  <a:srgbClr val="000000"/>
                </a:solidFill>
                <a:latin typeface="宋体" pitchFamily="2" charset="-122"/>
              </a:rPr>
              <a:t>，通常以小数或百分数表示。</a:t>
            </a:r>
          </a:p>
          <a:p>
            <a:pPr marL="609600" indent="-609600" algn="just" eaLnBrk="1" hangingPunct="1">
              <a:lnSpc>
                <a:spcPct val="114000"/>
              </a:lnSpc>
              <a:spcBef>
                <a:spcPts val="600"/>
              </a:spcBef>
              <a:buFontTx/>
              <a:buAutoNum type="arabicPeriod"/>
            </a:pPr>
            <a:r>
              <a:rPr lang="zh-CN" altLang="en-US" sz="3000" dirty="0" smtClean="0">
                <a:solidFill>
                  <a:srgbClr val="000000"/>
                </a:solidFill>
                <a:latin typeface="宋体" pitchFamily="2" charset="-122"/>
              </a:rPr>
              <a:t>季节周期和循环周期的数值在各自的一个</a:t>
            </a:r>
            <a:r>
              <a:rPr lang="zh-CN" altLang="en-US" sz="3000" dirty="0" smtClean="0">
                <a:latin typeface="宋体" pitchFamily="2" charset="-122"/>
              </a:rPr>
              <a:t>周期内平均为</a:t>
            </a:r>
            <a:r>
              <a:rPr lang="en-US" altLang="zh-CN" sz="3000" dirty="0" smtClean="0">
                <a:latin typeface="宋体" pitchFamily="2" charset="-122"/>
              </a:rPr>
              <a:t>1</a:t>
            </a:r>
            <a:r>
              <a:rPr lang="zh-CN" altLang="en-US" sz="3000" dirty="0" smtClean="0">
                <a:latin typeface="宋体" pitchFamily="2" charset="-122"/>
              </a:rPr>
              <a:t>（</a:t>
            </a:r>
            <a:r>
              <a:rPr lang="en-US" altLang="zh-CN" sz="3000" dirty="0" smtClean="0">
                <a:latin typeface="宋体" pitchFamily="2" charset="-122"/>
              </a:rPr>
              <a:t>or 100%</a:t>
            </a:r>
            <a:r>
              <a:rPr lang="zh-CN" altLang="en-US" sz="3000" dirty="0" smtClean="0">
                <a:latin typeface="宋体" pitchFamily="2" charset="-122"/>
              </a:rPr>
              <a:t>）</a:t>
            </a:r>
            <a:r>
              <a:rPr lang="zh-CN" altLang="en-US" sz="3000" dirty="0" smtClean="0">
                <a:solidFill>
                  <a:srgbClr val="000000"/>
                </a:solidFill>
                <a:latin typeface="宋体" pitchFamily="2" charset="-122"/>
              </a:rPr>
              <a:t>；不规则变动的数值从长时间来看，其平均也应趋于</a:t>
            </a:r>
            <a:r>
              <a:rPr lang="en-US" altLang="zh-CN" sz="3000" dirty="0" smtClean="0">
                <a:solidFill>
                  <a:srgbClr val="000000"/>
                </a:solidFill>
                <a:latin typeface="宋体" pitchFamily="2" charset="-122"/>
              </a:rPr>
              <a:t>1</a:t>
            </a:r>
            <a:r>
              <a:rPr lang="zh-CN" altLang="en-US" sz="3000" dirty="0" smtClean="0">
                <a:solidFill>
                  <a:srgbClr val="000000"/>
                </a:solidFill>
                <a:latin typeface="宋体" pitchFamily="2" charset="-122"/>
              </a:rPr>
              <a:t>。</a:t>
            </a:r>
          </a:p>
          <a:p>
            <a:pPr marL="609600" indent="-609600" algn="just" eaLnBrk="1" hangingPunct="1">
              <a:lnSpc>
                <a:spcPct val="114000"/>
              </a:lnSpc>
              <a:spcBef>
                <a:spcPts val="600"/>
              </a:spcBef>
              <a:buFontTx/>
              <a:buAutoNum type="arabicPeriod"/>
            </a:pPr>
            <a:r>
              <a:rPr lang="zh-CN" altLang="en-US" sz="3000" dirty="0" smtClean="0">
                <a:solidFill>
                  <a:srgbClr val="000000"/>
                </a:solidFill>
                <a:latin typeface="宋体" pitchFamily="2" charset="-122"/>
              </a:rPr>
              <a:t>各因素的分解是根据</a:t>
            </a:r>
            <a:r>
              <a:rPr lang="zh-CN" altLang="en-US" sz="3000" dirty="0" smtClean="0">
                <a:latin typeface="宋体" pitchFamily="2" charset="-122"/>
              </a:rPr>
              <a:t>除法</a:t>
            </a:r>
            <a:r>
              <a:rPr lang="zh-CN" altLang="en-US" sz="3000" dirty="0" smtClean="0">
                <a:solidFill>
                  <a:srgbClr val="000000"/>
                </a:solidFill>
                <a:latin typeface="宋体" pitchFamily="2" charset="-122"/>
              </a:rPr>
              <a:t>进行：</a:t>
            </a:r>
          </a:p>
          <a:p>
            <a:pPr marL="1219200" lvl="1" indent="-533400" algn="just" eaLnBrk="1" hangingPunct="1">
              <a:lnSpc>
                <a:spcPct val="114000"/>
              </a:lnSpc>
              <a:spcBef>
                <a:spcPts val="600"/>
              </a:spcBef>
              <a:buFontTx/>
              <a:buNone/>
            </a:pPr>
            <a:r>
              <a:rPr lang="zh-CN" altLang="en-US" dirty="0" smtClean="0">
                <a:latin typeface="宋体" pitchFamily="2" charset="-122"/>
              </a:rPr>
              <a:t>如</a:t>
            </a:r>
            <a:r>
              <a:rPr lang="zh-CN" altLang="en-US" sz="3200" dirty="0" smtClean="0">
                <a:latin typeface="宋体" pitchFamily="2" charset="-122"/>
              </a:rPr>
              <a:t>：剔 除 趋 势： </a:t>
            </a:r>
            <a:r>
              <a:rPr lang="en-US" altLang="zh-CN" sz="3200" dirty="0" smtClean="0">
                <a:latin typeface="宋体" pitchFamily="2" charset="-122"/>
              </a:rPr>
              <a:t>Y</a:t>
            </a:r>
            <a:r>
              <a:rPr lang="en-US" altLang="zh-CN" sz="3200" baseline="-30000" dirty="0" smtClean="0">
                <a:solidFill>
                  <a:schemeClr val="tx1"/>
                </a:solidFill>
                <a:latin typeface="Times New Roman" pitchFamily="18" charset="0"/>
                <a:sym typeface="Wingdings" pitchFamily="2" charset="2"/>
              </a:rPr>
              <a:t>i </a:t>
            </a:r>
            <a:r>
              <a:rPr lang="en-US" altLang="zh-CN" sz="3200" dirty="0" smtClean="0">
                <a:latin typeface="宋体" pitchFamily="2" charset="-122"/>
              </a:rPr>
              <a:t>/T</a:t>
            </a:r>
            <a:r>
              <a:rPr lang="en-US" altLang="zh-CN" sz="3200" baseline="-30000" dirty="0" smtClean="0">
                <a:solidFill>
                  <a:schemeClr val="tx1"/>
                </a:solidFill>
                <a:latin typeface="Times New Roman" pitchFamily="18" charset="0"/>
                <a:sym typeface="Wingdings" pitchFamily="2" charset="2"/>
              </a:rPr>
              <a:t>i </a:t>
            </a:r>
            <a:r>
              <a:rPr lang="en-US" altLang="zh-CN" sz="3200" dirty="0" smtClean="0">
                <a:latin typeface="宋体" pitchFamily="2" charset="-122"/>
              </a:rPr>
              <a:t>=S</a:t>
            </a:r>
            <a:r>
              <a:rPr lang="en-US" altLang="zh-CN" sz="2400" baseline="-30000" dirty="0" smtClean="0">
                <a:solidFill>
                  <a:schemeClr val="tx1"/>
                </a:solidFill>
                <a:latin typeface="Times New Roman" pitchFamily="18" charset="0"/>
                <a:sym typeface="Wingdings" pitchFamily="2" charset="2"/>
              </a:rPr>
              <a:t>i </a:t>
            </a:r>
            <a:r>
              <a:rPr lang="en-US" altLang="zh-CN" sz="2400" dirty="0" smtClean="0">
                <a:latin typeface="宋体" pitchFamily="2" charset="-122"/>
              </a:rPr>
              <a:t>·</a:t>
            </a:r>
            <a:r>
              <a:rPr lang="en-US" altLang="zh-CN" sz="3200" dirty="0" err="1" smtClean="0">
                <a:latin typeface="宋体" pitchFamily="2" charset="-122"/>
              </a:rPr>
              <a:t>C</a:t>
            </a:r>
            <a:r>
              <a:rPr lang="en-US" altLang="zh-CN" sz="3200" baseline="-30000" dirty="0" err="1" smtClean="0">
                <a:solidFill>
                  <a:schemeClr val="tx1"/>
                </a:solidFill>
                <a:latin typeface="Times New Roman" pitchFamily="18" charset="0"/>
                <a:sym typeface="Wingdings" pitchFamily="2" charset="2"/>
              </a:rPr>
              <a:t>i</a:t>
            </a:r>
            <a:r>
              <a:rPr lang="en-US" altLang="zh-CN" sz="3200" baseline="-30000" dirty="0" smtClean="0">
                <a:solidFill>
                  <a:schemeClr val="tx1"/>
                </a:solidFill>
                <a:latin typeface="Times New Roman" pitchFamily="18" charset="0"/>
                <a:sym typeface="Wingdings" pitchFamily="2" charset="2"/>
              </a:rPr>
              <a:t> </a:t>
            </a:r>
            <a:r>
              <a:rPr lang="en-US" altLang="zh-CN" sz="2400" dirty="0" smtClean="0">
                <a:latin typeface="宋体" pitchFamily="2" charset="-122"/>
              </a:rPr>
              <a:t>·</a:t>
            </a:r>
            <a:r>
              <a:rPr lang="en-US" altLang="zh-CN" sz="3200" dirty="0" smtClean="0">
                <a:latin typeface="宋体" pitchFamily="2" charset="-122"/>
              </a:rPr>
              <a:t>I</a:t>
            </a:r>
            <a:r>
              <a:rPr lang="en-US" altLang="zh-CN" sz="3200" baseline="-30000" dirty="0" smtClean="0">
                <a:solidFill>
                  <a:schemeClr val="tx1"/>
                </a:solidFill>
                <a:latin typeface="Times New Roman" pitchFamily="18" charset="0"/>
                <a:sym typeface="Wingdings" pitchFamily="2" charset="2"/>
              </a:rPr>
              <a:t>i </a:t>
            </a:r>
            <a:r>
              <a:rPr lang="en-US" altLang="zh-CN" sz="3200" dirty="0" smtClean="0">
                <a:latin typeface="宋体" pitchFamily="2" charset="-122"/>
              </a:rPr>
              <a:t> </a:t>
            </a:r>
          </a:p>
          <a:p>
            <a:pPr marL="1219200" lvl="1" indent="-533400" algn="just" eaLnBrk="1" hangingPunct="1">
              <a:lnSpc>
                <a:spcPct val="114000"/>
              </a:lnSpc>
              <a:spcBef>
                <a:spcPts val="600"/>
              </a:spcBef>
              <a:buFontTx/>
              <a:buNone/>
            </a:pPr>
            <a:r>
              <a:rPr lang="zh-CN" altLang="en-US" sz="3200" dirty="0" smtClean="0">
                <a:latin typeface="宋体" pitchFamily="2" charset="-122"/>
              </a:rPr>
              <a:t>   剔除季节变动： </a:t>
            </a:r>
            <a:r>
              <a:rPr lang="en-US" altLang="zh-CN" sz="3200" dirty="0" smtClean="0">
                <a:latin typeface="宋体" pitchFamily="2" charset="-122"/>
              </a:rPr>
              <a:t>Y</a:t>
            </a:r>
            <a:r>
              <a:rPr lang="en-US" altLang="zh-CN" sz="3200" baseline="-30000" dirty="0" smtClean="0">
                <a:solidFill>
                  <a:schemeClr val="tx1"/>
                </a:solidFill>
                <a:latin typeface="Times New Roman" pitchFamily="18" charset="0"/>
                <a:sym typeface="Wingdings" pitchFamily="2" charset="2"/>
              </a:rPr>
              <a:t>i </a:t>
            </a:r>
            <a:r>
              <a:rPr lang="en-US" altLang="zh-CN" sz="3200" dirty="0" smtClean="0">
                <a:latin typeface="宋体" pitchFamily="2" charset="-122"/>
              </a:rPr>
              <a:t>/S</a:t>
            </a:r>
            <a:r>
              <a:rPr lang="en-US" altLang="zh-CN" sz="3200" baseline="-30000" dirty="0" smtClean="0">
                <a:solidFill>
                  <a:schemeClr val="tx1"/>
                </a:solidFill>
                <a:latin typeface="Times New Roman" pitchFamily="18" charset="0"/>
                <a:sym typeface="Wingdings" pitchFamily="2" charset="2"/>
              </a:rPr>
              <a:t>i </a:t>
            </a:r>
            <a:r>
              <a:rPr lang="en-US" altLang="zh-CN" sz="3200" dirty="0" smtClean="0">
                <a:latin typeface="宋体" pitchFamily="2" charset="-122"/>
              </a:rPr>
              <a:t>=T</a:t>
            </a:r>
            <a:r>
              <a:rPr lang="en-US" altLang="zh-CN" sz="2000" baseline="-30000" dirty="0" smtClean="0">
                <a:solidFill>
                  <a:schemeClr val="tx1"/>
                </a:solidFill>
                <a:latin typeface="Times New Roman" pitchFamily="18" charset="0"/>
                <a:sym typeface="Wingdings" pitchFamily="2" charset="2"/>
              </a:rPr>
              <a:t>i </a:t>
            </a:r>
            <a:r>
              <a:rPr lang="en-US" altLang="zh-CN" sz="2000" dirty="0" smtClean="0">
                <a:latin typeface="宋体" pitchFamily="2" charset="-122"/>
              </a:rPr>
              <a:t>· </a:t>
            </a:r>
            <a:r>
              <a:rPr lang="en-US" altLang="zh-CN" sz="3200" dirty="0" err="1" smtClean="0">
                <a:latin typeface="宋体" pitchFamily="2" charset="-122"/>
              </a:rPr>
              <a:t>C</a:t>
            </a:r>
            <a:r>
              <a:rPr lang="en-US" altLang="zh-CN" sz="3200" baseline="-30000" dirty="0" err="1" smtClean="0">
                <a:solidFill>
                  <a:schemeClr val="tx1"/>
                </a:solidFill>
                <a:latin typeface="Times New Roman" pitchFamily="18" charset="0"/>
                <a:sym typeface="Wingdings" pitchFamily="2" charset="2"/>
              </a:rPr>
              <a:t>i</a:t>
            </a:r>
            <a:r>
              <a:rPr lang="en-US" altLang="zh-CN" sz="2000" dirty="0" err="1" smtClean="0">
                <a:latin typeface="宋体" pitchFamily="2" charset="-122"/>
              </a:rPr>
              <a:t>·</a:t>
            </a:r>
            <a:r>
              <a:rPr lang="en-US" altLang="zh-CN" sz="3200" dirty="0" err="1" smtClean="0">
                <a:latin typeface="宋体" pitchFamily="2" charset="-122"/>
              </a:rPr>
              <a:t>I</a:t>
            </a:r>
            <a:r>
              <a:rPr lang="en-US" altLang="zh-CN" sz="3200" baseline="-30000" dirty="0" err="1" smtClean="0">
                <a:solidFill>
                  <a:schemeClr val="tx1"/>
                </a:solidFill>
                <a:latin typeface="Times New Roman" pitchFamily="18" charset="0"/>
                <a:sym typeface="Wingdings" pitchFamily="2" charset="2"/>
              </a:rPr>
              <a:t>i</a:t>
            </a:r>
            <a:r>
              <a:rPr lang="en-US" altLang="zh-CN" sz="3200" baseline="-30000" dirty="0" smtClean="0">
                <a:solidFill>
                  <a:schemeClr val="tx1"/>
                </a:solidFill>
                <a:latin typeface="Times New Roman" pitchFamily="18" charset="0"/>
                <a:sym typeface="Wingdings" pitchFamily="2" charset="2"/>
              </a:rPr>
              <a:t> </a:t>
            </a:r>
            <a:r>
              <a:rPr lang="en-US" altLang="zh-CN" sz="3200" dirty="0" smtClean="0">
                <a:latin typeface="宋体" pitchFamily="2" charset="-122"/>
              </a:rPr>
              <a:t> </a:t>
            </a:r>
            <a:endParaRPr lang="zh-CN" altLang="en-US" sz="3200" dirty="0" smtClean="0">
              <a:latin typeface="宋体" pitchFamily="2" charset="-122"/>
            </a:endParaRPr>
          </a:p>
        </p:txBody>
      </p:sp>
      <p:sp>
        <p:nvSpPr>
          <p:cNvPr id="114693" name="日期占位符 4"/>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371">
                                            <p:txEl>
                                              <p:pRg st="1" end="1"/>
                                            </p:txEl>
                                          </p:spTgt>
                                        </p:tgtEl>
                                        <p:attrNameLst>
                                          <p:attrName>style.visibility</p:attrName>
                                        </p:attrNameLst>
                                      </p:cBhvr>
                                      <p:to>
                                        <p:strVal val="visible"/>
                                      </p:to>
                                    </p:set>
                                    <p:animEffect transition="in" filter="wipe(left)">
                                      <p:cBhvr>
                                        <p:cTn id="7" dur="500"/>
                                        <p:tgtEl>
                                          <p:spTgt spid="5837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8371">
                                            <p:txEl>
                                              <p:pRg st="2" end="2"/>
                                            </p:txEl>
                                          </p:spTgt>
                                        </p:tgtEl>
                                        <p:attrNameLst>
                                          <p:attrName>style.visibility</p:attrName>
                                        </p:attrNameLst>
                                      </p:cBhvr>
                                      <p:to>
                                        <p:strVal val="visible"/>
                                      </p:to>
                                    </p:set>
                                    <p:animEffect transition="in" filter="wipe(left)">
                                      <p:cBhvr>
                                        <p:cTn id="12" dur="500"/>
                                        <p:tgtEl>
                                          <p:spTgt spid="58371">
                                            <p:txEl>
                                              <p:pRg st="2" end="2"/>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58371">
                                            <p:txEl>
                                              <p:pRg st="3" end="3"/>
                                            </p:txEl>
                                          </p:spTgt>
                                        </p:tgtEl>
                                        <p:attrNameLst>
                                          <p:attrName>style.visibility</p:attrName>
                                        </p:attrNameLst>
                                      </p:cBhvr>
                                      <p:to>
                                        <p:strVal val="visible"/>
                                      </p:to>
                                    </p:set>
                                    <p:animEffect transition="in" filter="wipe(left)">
                                      <p:cBhvr>
                                        <p:cTn id="15" dur="500"/>
                                        <p:tgtEl>
                                          <p:spTgt spid="58371">
                                            <p:txEl>
                                              <p:pRg st="3" end="3"/>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8371">
                                            <p:txEl>
                                              <p:pRg st="4" end="4"/>
                                            </p:txEl>
                                          </p:spTgt>
                                        </p:tgtEl>
                                        <p:attrNameLst>
                                          <p:attrName>style.visibility</p:attrName>
                                        </p:attrNameLst>
                                      </p:cBhvr>
                                      <p:to>
                                        <p:strVal val="visible"/>
                                      </p:to>
                                    </p:set>
                                    <p:animEffect transition="in" filter="wipe(left)">
                                      <p:cBhvr>
                                        <p:cTn id="18" dur="500"/>
                                        <p:tgtEl>
                                          <p:spTgt spid="583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uiExpand="1"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5" name="Rectangle 2"/>
          <p:cNvSpPr>
            <a:spLocks noGrp="1" noChangeArrowheads="1"/>
          </p:cNvSpPr>
          <p:nvPr>
            <p:ph type="title"/>
          </p:nvPr>
        </p:nvSpPr>
        <p:spPr>
          <a:xfrm>
            <a:off x="539750" y="908050"/>
            <a:ext cx="7772400" cy="792163"/>
          </a:xfrm>
        </p:spPr>
        <p:txBody>
          <a:bodyPr/>
          <a:lstStyle/>
          <a:p>
            <a:pPr eaLnBrk="1" hangingPunct="1"/>
            <a:r>
              <a:rPr lang="zh-CN" altLang="en-US" sz="3600" dirty="0" smtClean="0">
                <a:latin typeface="宋体" pitchFamily="2" charset="-122"/>
              </a:rPr>
              <a:t>时间数列的不同组合模式</a:t>
            </a:r>
          </a:p>
        </p:txBody>
      </p:sp>
      <p:sp>
        <p:nvSpPr>
          <p:cNvPr id="115716" name="Rectangle 3"/>
          <p:cNvSpPr>
            <a:spLocks noGrp="1" noChangeArrowheads="1"/>
          </p:cNvSpPr>
          <p:nvPr>
            <p:ph type="body" idx="1"/>
          </p:nvPr>
        </p:nvSpPr>
        <p:spPr>
          <a:xfrm>
            <a:off x="1187450" y="2133600"/>
            <a:ext cx="7129463" cy="3959225"/>
          </a:xfrm>
        </p:spPr>
        <p:txBody>
          <a:bodyPr/>
          <a:lstStyle/>
          <a:p>
            <a:pPr marL="571500" indent="-571500" algn="just" eaLnBrk="1" hangingPunct="1">
              <a:lnSpc>
                <a:spcPct val="90000"/>
              </a:lnSpc>
              <a:spcBef>
                <a:spcPct val="0"/>
              </a:spcBef>
            </a:pPr>
            <a:r>
              <a:rPr lang="zh-CN" altLang="en-US" smtClean="0">
                <a:latin typeface="宋体" pitchFamily="2" charset="-122"/>
              </a:rPr>
              <a:t>常常采用乘法模式</a:t>
            </a:r>
          </a:p>
          <a:p>
            <a:pPr marL="971550" lvl="1" algn="just" eaLnBrk="1" hangingPunct="1">
              <a:lnSpc>
                <a:spcPct val="90000"/>
              </a:lnSpc>
              <a:spcBef>
                <a:spcPct val="0"/>
              </a:spcBef>
            </a:pPr>
            <a:endParaRPr lang="zh-CN" altLang="en-US" smtClean="0">
              <a:latin typeface="宋体" pitchFamily="2" charset="-122"/>
            </a:endParaRPr>
          </a:p>
          <a:p>
            <a:pPr marL="971550" lvl="1" algn="just" eaLnBrk="1" hangingPunct="1">
              <a:lnSpc>
                <a:spcPct val="90000"/>
              </a:lnSpc>
              <a:spcBef>
                <a:spcPct val="0"/>
              </a:spcBef>
            </a:pPr>
            <a:r>
              <a:rPr lang="zh-CN" altLang="en-US" smtClean="0">
                <a:latin typeface="宋体" pitchFamily="2" charset="-122"/>
              </a:rPr>
              <a:t>趋势模式：</a:t>
            </a:r>
            <a:r>
              <a:rPr lang="en-US" altLang="zh-CN" smtClean="0">
                <a:latin typeface="宋体" pitchFamily="2" charset="-122"/>
              </a:rPr>
              <a:t>Y = T I </a:t>
            </a:r>
          </a:p>
          <a:p>
            <a:pPr marL="971550" lvl="1" algn="just" eaLnBrk="1" hangingPunct="1">
              <a:lnSpc>
                <a:spcPct val="90000"/>
              </a:lnSpc>
              <a:spcBef>
                <a:spcPct val="0"/>
              </a:spcBef>
            </a:pPr>
            <a:endParaRPr lang="en-US" altLang="zh-CN" smtClean="0">
              <a:latin typeface="宋体" pitchFamily="2" charset="-122"/>
            </a:endParaRPr>
          </a:p>
          <a:p>
            <a:pPr marL="971550" lvl="1" algn="just" eaLnBrk="1" hangingPunct="1">
              <a:lnSpc>
                <a:spcPct val="90000"/>
              </a:lnSpc>
              <a:spcBef>
                <a:spcPct val="0"/>
              </a:spcBef>
            </a:pPr>
            <a:r>
              <a:rPr lang="zh-CN" altLang="en-US" smtClean="0">
                <a:latin typeface="宋体" pitchFamily="2" charset="-122"/>
              </a:rPr>
              <a:t>趋势季节模式：</a:t>
            </a:r>
            <a:r>
              <a:rPr lang="en-US" altLang="zh-CN" smtClean="0">
                <a:latin typeface="宋体" pitchFamily="2" charset="-122"/>
              </a:rPr>
              <a:t>Y = T S I</a:t>
            </a:r>
          </a:p>
          <a:p>
            <a:pPr marL="971550" lvl="1" algn="just" eaLnBrk="1" hangingPunct="1">
              <a:lnSpc>
                <a:spcPct val="90000"/>
              </a:lnSpc>
              <a:spcBef>
                <a:spcPct val="0"/>
              </a:spcBef>
              <a:buFontTx/>
              <a:buNone/>
            </a:pPr>
            <a:endParaRPr lang="en-US" altLang="zh-CN" smtClean="0">
              <a:latin typeface="宋体" pitchFamily="2" charset="-122"/>
            </a:endParaRPr>
          </a:p>
          <a:p>
            <a:pPr marL="971550" lvl="1" algn="just" eaLnBrk="1" hangingPunct="1">
              <a:lnSpc>
                <a:spcPct val="90000"/>
              </a:lnSpc>
              <a:spcBef>
                <a:spcPct val="0"/>
              </a:spcBef>
            </a:pPr>
            <a:r>
              <a:rPr lang="zh-CN" altLang="en-US" smtClean="0">
                <a:latin typeface="宋体" pitchFamily="2" charset="-122"/>
              </a:rPr>
              <a:t>趋势循环模式：</a:t>
            </a:r>
            <a:r>
              <a:rPr lang="en-US" altLang="zh-CN" smtClean="0">
                <a:latin typeface="宋体" pitchFamily="2" charset="-122"/>
              </a:rPr>
              <a:t>Y = T C I</a:t>
            </a:r>
          </a:p>
          <a:p>
            <a:pPr marL="971550" lvl="1" algn="just" eaLnBrk="1" hangingPunct="1">
              <a:lnSpc>
                <a:spcPct val="90000"/>
              </a:lnSpc>
              <a:spcBef>
                <a:spcPct val="0"/>
              </a:spcBef>
              <a:buFontTx/>
              <a:buNone/>
            </a:pPr>
            <a:endParaRPr lang="en-US" altLang="zh-CN" smtClean="0">
              <a:latin typeface="宋体" pitchFamily="2" charset="-122"/>
            </a:endParaRPr>
          </a:p>
          <a:p>
            <a:pPr marL="971550" lvl="1" algn="just" eaLnBrk="1" hangingPunct="1">
              <a:lnSpc>
                <a:spcPct val="90000"/>
              </a:lnSpc>
              <a:spcBef>
                <a:spcPct val="0"/>
              </a:spcBef>
            </a:pPr>
            <a:r>
              <a:rPr lang="zh-CN" altLang="en-US" smtClean="0">
                <a:latin typeface="宋体" pitchFamily="2" charset="-122"/>
              </a:rPr>
              <a:t>趋势季节循环模式：</a:t>
            </a:r>
            <a:r>
              <a:rPr lang="en-US" altLang="zh-CN" smtClean="0">
                <a:latin typeface="宋体" pitchFamily="2" charset="-122"/>
              </a:rPr>
              <a:t>Y=T S C I</a:t>
            </a:r>
          </a:p>
        </p:txBody>
      </p:sp>
      <p:sp>
        <p:nvSpPr>
          <p:cNvPr id="115717" name="日期占位符 4"/>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9" name="Rectangle 2"/>
          <p:cNvSpPr>
            <a:spLocks noGrp="1" noChangeArrowheads="1"/>
          </p:cNvSpPr>
          <p:nvPr>
            <p:ph type="subTitle" idx="1"/>
          </p:nvPr>
        </p:nvSpPr>
        <p:spPr>
          <a:xfrm>
            <a:off x="1763713" y="3501008"/>
            <a:ext cx="6400800" cy="2519362"/>
          </a:xfrm>
          <a:noFill/>
        </p:spPr>
        <p:txBody>
          <a:bodyPr/>
          <a:lstStyle/>
          <a:p>
            <a:pPr algn="l" eaLnBrk="1" hangingPunct="1">
              <a:lnSpc>
                <a:spcPct val="120000"/>
              </a:lnSpc>
            </a:pPr>
            <a:r>
              <a:rPr lang="en-US" altLang="zh-CN" sz="4000" dirty="0" smtClean="0">
                <a:solidFill>
                  <a:schemeClr val="tx2"/>
                </a:solidFill>
              </a:rPr>
              <a:t>1.</a:t>
            </a:r>
            <a:r>
              <a:rPr lang="zh-CN" altLang="en-US" sz="4000" dirty="0" smtClean="0">
                <a:solidFill>
                  <a:schemeClr val="tx2"/>
                </a:solidFill>
              </a:rPr>
              <a:t>移动平均法 </a:t>
            </a:r>
            <a:endParaRPr lang="en-US" altLang="en-US" sz="4000" dirty="0" smtClean="0">
              <a:solidFill>
                <a:schemeClr val="tx2"/>
              </a:solidFill>
            </a:endParaRPr>
          </a:p>
          <a:p>
            <a:pPr algn="l" eaLnBrk="1" hangingPunct="1">
              <a:lnSpc>
                <a:spcPct val="120000"/>
              </a:lnSpc>
            </a:pPr>
            <a:r>
              <a:rPr lang="en-US" altLang="zh-CN" sz="4000" dirty="0" smtClean="0">
                <a:solidFill>
                  <a:schemeClr val="tx2"/>
                </a:solidFill>
              </a:rPr>
              <a:t>2.</a:t>
            </a:r>
            <a:r>
              <a:rPr lang="zh-CN" altLang="en-US" sz="4000" dirty="0" smtClean="0">
                <a:solidFill>
                  <a:schemeClr val="tx2"/>
                </a:solidFill>
              </a:rPr>
              <a:t>指数平滑法</a:t>
            </a:r>
          </a:p>
          <a:p>
            <a:pPr algn="l" eaLnBrk="1" hangingPunct="1">
              <a:lnSpc>
                <a:spcPct val="120000"/>
              </a:lnSpc>
            </a:pPr>
            <a:r>
              <a:rPr lang="en-US" altLang="en-US" sz="4000" dirty="0" smtClean="0">
                <a:solidFill>
                  <a:schemeClr val="tx2"/>
                </a:solidFill>
              </a:rPr>
              <a:t>3.趋势方程拟合法</a:t>
            </a:r>
          </a:p>
        </p:txBody>
      </p:sp>
      <p:sp>
        <p:nvSpPr>
          <p:cNvPr id="116740" name="Rectangle 3"/>
          <p:cNvSpPr>
            <a:spLocks noGrp="1" noChangeArrowheads="1"/>
          </p:cNvSpPr>
          <p:nvPr>
            <p:ph type="ctrTitle"/>
          </p:nvPr>
        </p:nvSpPr>
        <p:spPr>
          <a:xfrm>
            <a:off x="1763713" y="1628775"/>
            <a:ext cx="5616599" cy="1600200"/>
          </a:xfrm>
        </p:spPr>
        <p:txBody>
          <a:bodyPr/>
          <a:lstStyle/>
          <a:p>
            <a:pPr eaLnBrk="1" hangingPunct="1"/>
            <a:r>
              <a:rPr lang="en-US" altLang="zh-CN" sz="4800" dirty="0" smtClean="0"/>
              <a:t>4.4.2  </a:t>
            </a:r>
            <a:r>
              <a:rPr lang="zh-CN" altLang="en-US" sz="4800" dirty="0" smtClean="0"/>
              <a:t>时间序列的长期趋势测定</a:t>
            </a:r>
          </a:p>
        </p:txBody>
      </p:sp>
    </p:spTree>
  </p:cSld>
  <p:clrMapOvr>
    <a:masterClrMapping/>
  </p:clrMapOvr>
  <p:transition>
    <p:zoom/>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3" name="Rectangle 2"/>
          <p:cNvSpPr>
            <a:spLocks noGrp="1" noChangeArrowheads="1"/>
          </p:cNvSpPr>
          <p:nvPr>
            <p:ph type="title"/>
          </p:nvPr>
        </p:nvSpPr>
        <p:spPr>
          <a:xfrm>
            <a:off x="611188" y="692150"/>
            <a:ext cx="8131175" cy="1511300"/>
          </a:xfrm>
        </p:spPr>
        <p:txBody>
          <a:bodyPr/>
          <a:lstStyle/>
          <a:p>
            <a:pPr eaLnBrk="1" hangingPunct="1"/>
            <a:r>
              <a:rPr lang="en-US" altLang="zh-CN" dirty="0" smtClean="0">
                <a:latin typeface="宋体" pitchFamily="2" charset="-122"/>
              </a:rPr>
              <a:t>1.</a:t>
            </a:r>
            <a:r>
              <a:rPr lang="zh-CN" altLang="en-US" dirty="0" smtClean="0">
                <a:latin typeface="宋体" pitchFamily="2" charset="-122"/>
              </a:rPr>
              <a:t>移动平均法</a:t>
            </a:r>
            <a:br>
              <a:rPr lang="zh-CN" altLang="en-US" dirty="0" smtClean="0">
                <a:latin typeface="宋体" pitchFamily="2" charset="-122"/>
              </a:rPr>
            </a:br>
            <a:r>
              <a:rPr lang="zh-CN" altLang="en-US" dirty="0" smtClean="0">
                <a:latin typeface="宋体" pitchFamily="2" charset="-122"/>
              </a:rPr>
              <a:t> </a:t>
            </a:r>
            <a:r>
              <a:rPr lang="en-US" altLang="zh-CN" sz="4000" dirty="0" smtClean="0">
                <a:latin typeface="Times New Roman" pitchFamily="18" charset="0"/>
              </a:rPr>
              <a:t>(</a:t>
            </a:r>
            <a:r>
              <a:rPr lang="en-US" altLang="zh-CN" sz="4000" dirty="0" smtClean="0">
                <a:solidFill>
                  <a:srgbClr val="FF0066"/>
                </a:solidFill>
                <a:latin typeface="Times New Roman" pitchFamily="18" charset="0"/>
              </a:rPr>
              <a:t>M</a:t>
            </a:r>
            <a:r>
              <a:rPr lang="en-US" altLang="zh-CN" sz="4000" dirty="0" smtClean="0">
                <a:latin typeface="Times New Roman" pitchFamily="18" charset="0"/>
              </a:rPr>
              <a:t>oving </a:t>
            </a:r>
            <a:r>
              <a:rPr lang="en-US" altLang="zh-CN" sz="4000" dirty="0" smtClean="0">
                <a:solidFill>
                  <a:srgbClr val="FF0066"/>
                </a:solidFill>
                <a:latin typeface="Times New Roman" pitchFamily="18" charset="0"/>
              </a:rPr>
              <a:t>A</a:t>
            </a:r>
            <a:r>
              <a:rPr lang="en-US" altLang="zh-CN" sz="4000" dirty="0" smtClean="0">
                <a:latin typeface="Times New Roman" pitchFamily="18" charset="0"/>
              </a:rPr>
              <a:t>verage Method)</a:t>
            </a:r>
          </a:p>
        </p:txBody>
      </p:sp>
      <p:sp>
        <p:nvSpPr>
          <p:cNvPr id="117764" name="Rectangle 3"/>
          <p:cNvSpPr>
            <a:spLocks noGrp="1" noChangeArrowheads="1"/>
          </p:cNvSpPr>
          <p:nvPr>
            <p:ph type="body" idx="1"/>
          </p:nvPr>
        </p:nvSpPr>
        <p:spPr>
          <a:xfrm>
            <a:off x="468313" y="2781300"/>
            <a:ext cx="8135937" cy="3556000"/>
          </a:xfrm>
        </p:spPr>
        <p:txBody>
          <a:bodyPr/>
          <a:lstStyle/>
          <a:p>
            <a:pPr marL="971550" lvl="1" eaLnBrk="1" hangingPunct="1">
              <a:lnSpc>
                <a:spcPct val="115000"/>
              </a:lnSpc>
              <a:spcBef>
                <a:spcPct val="25000"/>
              </a:spcBef>
            </a:pPr>
            <a:r>
              <a:rPr lang="zh-CN" altLang="en-US" sz="3200" dirty="0" smtClean="0">
                <a:solidFill>
                  <a:schemeClr val="tx1"/>
                </a:solidFill>
                <a:latin typeface="宋体" pitchFamily="2" charset="-122"/>
              </a:rPr>
              <a:t>移动平均是选择一定的平均项数（</a:t>
            </a:r>
            <a:r>
              <a:rPr lang="zh-CN" altLang="en-US" dirty="0" smtClean="0">
                <a:solidFill>
                  <a:schemeClr val="tx1"/>
                </a:solidFill>
              </a:rPr>
              <a:t>或称</a:t>
            </a:r>
            <a:r>
              <a:rPr lang="zh-CN" altLang="en-US" dirty="0" smtClean="0">
                <a:latin typeface="黑体" panose="02010609060101010101" pitchFamily="49" charset="-122"/>
                <a:ea typeface="黑体" panose="02010609060101010101" pitchFamily="49" charset="-122"/>
              </a:rPr>
              <a:t>步长</a:t>
            </a:r>
            <a:r>
              <a:rPr lang="zh-CN" altLang="en-US" dirty="0" smtClean="0">
                <a:solidFill>
                  <a:schemeClr val="tx1"/>
                </a:solidFill>
              </a:rPr>
              <a:t>，</a:t>
            </a:r>
            <a:r>
              <a:rPr lang="zh-CN" altLang="en-US" sz="3200" dirty="0" smtClean="0">
                <a:solidFill>
                  <a:schemeClr val="tx1"/>
                </a:solidFill>
                <a:latin typeface="宋体" pitchFamily="2" charset="-122"/>
              </a:rPr>
              <a:t>常用 </a:t>
            </a:r>
            <a:r>
              <a:rPr lang="en-US" altLang="zh-CN" sz="3200" i="1" dirty="0" smtClean="0">
                <a:latin typeface="Times New Roman" pitchFamily="18" charset="0"/>
              </a:rPr>
              <a:t>K</a:t>
            </a:r>
            <a:r>
              <a:rPr lang="en-US" altLang="zh-CN" sz="3200" dirty="0" smtClean="0">
                <a:solidFill>
                  <a:schemeClr val="tx1"/>
                </a:solidFill>
                <a:latin typeface="宋体" pitchFamily="2" charset="-122"/>
              </a:rPr>
              <a:t> </a:t>
            </a:r>
            <a:r>
              <a:rPr lang="zh-CN" altLang="en-US" sz="3200" dirty="0" smtClean="0">
                <a:solidFill>
                  <a:schemeClr val="tx1"/>
                </a:solidFill>
                <a:latin typeface="宋体" pitchFamily="2" charset="-122"/>
              </a:rPr>
              <a:t>表示），采用</a:t>
            </a:r>
            <a:r>
              <a:rPr lang="zh-CN" altLang="en-US" sz="3200" dirty="0" smtClean="0">
                <a:solidFill>
                  <a:srgbClr val="3333FF"/>
                </a:solidFill>
                <a:latin typeface="宋体" pitchFamily="2" charset="-122"/>
              </a:rPr>
              <a:t>逐项递移</a:t>
            </a:r>
            <a:r>
              <a:rPr lang="zh-CN" altLang="en-US" sz="3200" dirty="0" smtClean="0">
                <a:solidFill>
                  <a:schemeClr val="tx1"/>
                </a:solidFill>
                <a:latin typeface="宋体" pitchFamily="2" charset="-122"/>
              </a:rPr>
              <a:t>的方法对原时间数列计算一系列序时平均值，揭示现象在较长时间内的发展趋势。</a:t>
            </a:r>
          </a:p>
        </p:txBody>
      </p:sp>
      <p:sp>
        <p:nvSpPr>
          <p:cNvPr id="117765" name="AutoShape 4"/>
          <p:cNvSpPr>
            <a:spLocks noChangeArrowheads="1"/>
          </p:cNvSpPr>
          <p:nvPr/>
        </p:nvSpPr>
        <p:spPr bwMode="auto">
          <a:xfrm rot="5400000">
            <a:off x="7714457" y="5760244"/>
            <a:ext cx="773112" cy="4318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117766" name="日期占位符 5"/>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7874" name="Object 2"/>
          <p:cNvGraphicFramePr>
            <a:graphicFrameLocks noChangeAspect="1"/>
          </p:cNvGraphicFramePr>
          <p:nvPr>
            <p:extLst>
              <p:ext uri="{D42A27DB-BD31-4B8C-83A1-F6EECF244321}">
                <p14:modId xmlns:p14="http://schemas.microsoft.com/office/powerpoint/2010/main" val="1210061336"/>
              </p:ext>
            </p:extLst>
          </p:nvPr>
        </p:nvGraphicFramePr>
        <p:xfrm>
          <a:off x="3563938" y="2349500"/>
          <a:ext cx="5688012" cy="4176713"/>
        </p:xfrm>
        <a:graphic>
          <a:graphicData uri="http://schemas.openxmlformats.org/presentationml/2006/ole">
            <mc:AlternateContent xmlns:mc="http://schemas.openxmlformats.org/markup-compatibility/2006">
              <mc:Choice xmlns:v="urn:schemas-microsoft-com:vml" Requires="v">
                <p:oleObj spid="_x0000_s36971" name="图表" r:id="rId3" imgW="3352943" imgH="1771633" progId="Excel.Sheet.8">
                  <p:embed/>
                </p:oleObj>
              </mc:Choice>
              <mc:Fallback>
                <p:oleObj name="图表" r:id="rId3" imgW="3352943" imgH="1771633" progId="Excel.Shee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3938" y="2349500"/>
                        <a:ext cx="5688012" cy="4176713"/>
                      </a:xfrm>
                      <a:prstGeom prst="rect">
                        <a:avLst/>
                      </a:prstGeom>
                      <a:noFill/>
                      <a:ln>
                        <a:noFill/>
                      </a:ln>
                      <a:effectLst/>
                      <a:extLst/>
                    </p:spPr>
                  </p:pic>
                </p:oleObj>
              </mc:Fallback>
            </mc:AlternateContent>
          </a:graphicData>
        </a:graphic>
      </p:graphicFrame>
      <p:sp>
        <p:nvSpPr>
          <p:cNvPr id="36868" name="Rectangle 3"/>
          <p:cNvSpPr>
            <a:spLocks noGrp="1" noChangeArrowheads="1"/>
          </p:cNvSpPr>
          <p:nvPr>
            <p:ph type="title"/>
          </p:nvPr>
        </p:nvSpPr>
        <p:spPr>
          <a:xfrm>
            <a:off x="1371600" y="0"/>
            <a:ext cx="7772400" cy="765175"/>
          </a:xfrm>
        </p:spPr>
        <p:txBody>
          <a:bodyPr/>
          <a:lstStyle/>
          <a:p>
            <a:pPr eaLnBrk="1" hangingPunct="1"/>
            <a:r>
              <a:rPr lang="zh-CN" altLang="en-US" dirty="0" smtClean="0"/>
              <a:t>移动平均法（续）</a:t>
            </a:r>
          </a:p>
        </p:txBody>
      </p:sp>
      <p:graphicFrame>
        <p:nvGraphicFramePr>
          <p:cNvPr id="207876" name="Group 4"/>
          <p:cNvGraphicFramePr>
            <a:graphicFrameLocks noGrp="1"/>
          </p:cNvGraphicFramePr>
          <p:nvPr>
            <p:extLst>
              <p:ext uri="{D42A27DB-BD31-4B8C-83A1-F6EECF244321}">
                <p14:modId xmlns:p14="http://schemas.microsoft.com/office/powerpoint/2010/main" val="2651317298"/>
              </p:ext>
            </p:extLst>
          </p:nvPr>
        </p:nvGraphicFramePr>
        <p:xfrm>
          <a:off x="0" y="981075"/>
          <a:ext cx="2519363" cy="5582607"/>
        </p:xfrm>
        <a:graphic>
          <a:graphicData uri="http://schemas.openxmlformats.org/drawingml/2006/table">
            <a:tbl>
              <a:tblPr/>
              <a:tblGrid>
                <a:gridCol w="685800">
                  <a:extLst>
                    <a:ext uri="{9D8B030D-6E8A-4147-A177-3AD203B41FA5}">
                      <a16:colId xmlns:a16="http://schemas.microsoft.com/office/drawing/2014/main" val="20000"/>
                    </a:ext>
                  </a:extLst>
                </a:gridCol>
                <a:gridCol w="790575">
                  <a:extLst>
                    <a:ext uri="{9D8B030D-6E8A-4147-A177-3AD203B41FA5}">
                      <a16:colId xmlns:a16="http://schemas.microsoft.com/office/drawing/2014/main" val="20001"/>
                    </a:ext>
                  </a:extLst>
                </a:gridCol>
                <a:gridCol w="1042988">
                  <a:extLst>
                    <a:ext uri="{9D8B030D-6E8A-4147-A177-3AD203B41FA5}">
                      <a16:colId xmlns:a16="http://schemas.microsoft.com/office/drawing/2014/main" val="20002"/>
                    </a:ext>
                  </a:extLst>
                </a:gridCol>
              </a:tblGrid>
              <a:tr h="71913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zh-CN" altLang="en-US" sz="2000" b="1" i="0" u="none" strike="noStrike" cap="none" normalizeH="0" baseline="0" dirty="0" smtClean="0">
                          <a:ln>
                            <a:noFill/>
                          </a:ln>
                          <a:solidFill>
                            <a:srgbClr val="000000"/>
                          </a:solidFill>
                          <a:effectLst/>
                          <a:latin typeface="宋体" pitchFamily="2" charset="-122"/>
                          <a:ea typeface="宋体" pitchFamily="2" charset="-122"/>
                        </a:rPr>
                        <a:t>年份</a:t>
                      </a:r>
                      <a:endParaRPr kumimoji="0" lang="zh-CN" altLang="en-US" sz="20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zh-CN" altLang="en-US" sz="2000" b="1" i="0" u="none" strike="noStrike" cap="none" normalizeH="0" baseline="0" dirty="0" smtClean="0">
                          <a:ln>
                            <a:noFill/>
                          </a:ln>
                          <a:solidFill>
                            <a:srgbClr val="000000"/>
                          </a:solidFill>
                          <a:effectLst/>
                          <a:latin typeface="宋体" pitchFamily="2" charset="-122"/>
                          <a:ea typeface="宋体" pitchFamily="2" charset="-122"/>
                        </a:rPr>
                        <a:t>产量</a:t>
                      </a:r>
                      <a:endParaRPr kumimoji="0" lang="zh-CN" altLang="en-US" sz="2000" b="1" i="0" u="none" strike="noStrike" cap="none" normalizeH="0" baseline="0" dirty="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3333FF"/>
                          </a:solidFill>
                          <a:effectLst/>
                          <a:latin typeface="宋体" pitchFamily="2" charset="-122"/>
                          <a:ea typeface="宋体" pitchFamily="2" charset="-122"/>
                        </a:rPr>
                        <a:t>3</a:t>
                      </a:r>
                      <a:r>
                        <a:rPr kumimoji="0" lang="zh-CN" altLang="en-US" sz="2000" b="1" i="0" u="none" strike="noStrike" cap="none" normalizeH="0" baseline="0" dirty="0" smtClean="0">
                          <a:ln>
                            <a:noFill/>
                          </a:ln>
                          <a:solidFill>
                            <a:srgbClr val="3333FF"/>
                          </a:solidFill>
                          <a:effectLst/>
                          <a:latin typeface="宋体" pitchFamily="2" charset="-122"/>
                          <a:ea typeface="宋体" pitchFamily="2" charset="-122"/>
                        </a:rPr>
                        <a:t>项移动</a:t>
                      </a:r>
                      <a:r>
                        <a:rPr kumimoji="0" lang="zh-CN" altLang="en-US" sz="2000" b="1" i="0" u="none" strike="noStrike" cap="none" normalizeH="0" baseline="0" dirty="0" smtClean="0">
                          <a:ln>
                            <a:noFill/>
                          </a:ln>
                          <a:solidFill>
                            <a:srgbClr val="3333FF"/>
                          </a:solidFill>
                          <a:effectLst/>
                          <a:latin typeface="宋体" pitchFamily="2" charset="-122"/>
                          <a:ea typeface="宋体" pitchFamily="2" charset="-122"/>
                        </a:rPr>
                        <a:t>平均</a:t>
                      </a:r>
                      <a:endParaRPr kumimoji="0" lang="zh-CN" altLang="en-US" sz="2000" b="1" i="0" u="none" strike="noStrike" cap="none" normalizeH="0" baseline="0" dirty="0" smtClean="0">
                        <a:ln>
                          <a:noFill/>
                        </a:ln>
                        <a:solidFill>
                          <a:srgbClr val="3333FF"/>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048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1</a:t>
                      </a:r>
                      <a:endParaRPr kumimoji="0" lang="en-US" altLang="zh-CN" sz="20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54</a:t>
                      </a:r>
                      <a:endParaRPr kumimoji="0" lang="en-US" altLang="zh-CN" sz="20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40000"/>
                        <a:lumOff val="6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zh-CN" altLang="en-US" sz="2000" b="1" i="0" u="none" strike="noStrike" cap="none" normalizeH="0" baseline="0" dirty="0" smtClean="0">
                          <a:ln>
                            <a:noFill/>
                          </a:ln>
                          <a:solidFill>
                            <a:srgbClr val="00B0F0"/>
                          </a:solidFill>
                          <a:effectLst/>
                          <a:latin typeface="宋体" pitchFamily="2" charset="-122"/>
                          <a:ea typeface="宋体" pitchFamily="2" charset="-122"/>
                        </a:rPr>
                        <a:t>　</a:t>
                      </a:r>
                      <a:endParaRPr kumimoji="0" lang="zh-CN" altLang="en-US" sz="2000" b="1" i="0" u="none" strike="noStrike" cap="none" normalizeH="0" baseline="0" dirty="0" smtClean="0">
                        <a:ln>
                          <a:noFill/>
                        </a:ln>
                        <a:solidFill>
                          <a:srgbClr val="00B0F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1"/>
                  </a:ext>
                </a:extLst>
              </a:tr>
              <a:tr h="41433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2</a:t>
                      </a:r>
                      <a:endParaRPr kumimoji="0" lang="en-US" altLang="zh-CN" sz="20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50</a:t>
                      </a:r>
                      <a:endParaRPr kumimoji="0" lang="en-US" altLang="zh-CN" sz="20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40000"/>
                        <a:lumOff val="6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2000" b="1" i="0" u="none" strike="noStrike" cap="none" normalizeH="0" baseline="0" dirty="0" smtClean="0">
                        <a:ln>
                          <a:noFill/>
                        </a:ln>
                        <a:solidFill>
                          <a:srgbClr val="00B0F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2"/>
                  </a:ext>
                </a:extLst>
              </a:tr>
              <a:tr h="352425">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3</a:t>
                      </a:r>
                      <a:endParaRPr kumimoji="0" lang="en-US" altLang="zh-CN" sz="20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52</a:t>
                      </a:r>
                      <a:endParaRPr kumimoji="0" lang="en-US" altLang="zh-CN" sz="20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40000"/>
                        <a:lumOff val="6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zh-CN" altLang="zh-CN" sz="2000" b="1" i="0" u="none" strike="noStrike" cap="none" normalizeH="0" baseline="0" dirty="0" smtClean="0">
                        <a:ln>
                          <a:noFill/>
                        </a:ln>
                        <a:solidFill>
                          <a:srgbClr val="00B0F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3"/>
                  </a:ext>
                </a:extLst>
              </a:tr>
              <a:tr h="406400">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4</a:t>
                      </a:r>
                      <a:endParaRPr kumimoji="0" lang="en-US" altLang="zh-CN" sz="20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67</a:t>
                      </a:r>
                      <a:endParaRPr kumimoji="0" lang="en-US" altLang="zh-CN" sz="20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40000"/>
                        <a:lumOff val="6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zh-CN" altLang="zh-CN" sz="2000" b="1" i="0" u="none" strike="noStrike" cap="none" normalizeH="0" baseline="0" dirty="0" smtClean="0">
                        <a:ln>
                          <a:noFill/>
                        </a:ln>
                        <a:solidFill>
                          <a:srgbClr val="00B0F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4"/>
                  </a:ext>
                </a:extLst>
              </a:tr>
              <a:tr h="4048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5</a:t>
                      </a:r>
                      <a:endParaRPr kumimoji="0" lang="en-US" altLang="zh-CN" sz="20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82</a:t>
                      </a:r>
                      <a:endParaRPr kumimoji="0" lang="en-US" altLang="zh-CN" sz="20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40000"/>
                        <a:lumOff val="6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zh-CN" altLang="zh-CN" sz="2000" b="1" i="0" u="none" strike="noStrike" cap="none" normalizeH="0" baseline="0" dirty="0" smtClean="0">
                        <a:ln>
                          <a:noFill/>
                        </a:ln>
                        <a:solidFill>
                          <a:srgbClr val="00B0F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5"/>
                  </a:ext>
                </a:extLst>
              </a:tr>
              <a:tr h="4048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6</a:t>
                      </a:r>
                      <a:endParaRPr kumimoji="0" lang="en-US" altLang="zh-CN" sz="20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70</a:t>
                      </a:r>
                      <a:endParaRPr kumimoji="0" lang="en-US" altLang="zh-CN" sz="20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40000"/>
                        <a:lumOff val="6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zh-CN" altLang="zh-CN" sz="2000" b="1" i="0" u="none" strike="noStrike" cap="none" normalizeH="0" baseline="0" dirty="0" smtClean="0">
                        <a:ln>
                          <a:noFill/>
                        </a:ln>
                        <a:solidFill>
                          <a:srgbClr val="00B0F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6"/>
                  </a:ext>
                </a:extLst>
              </a:tr>
              <a:tr h="406400">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7</a:t>
                      </a:r>
                      <a:endParaRPr kumimoji="0" lang="en-US" altLang="zh-CN" sz="20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89</a:t>
                      </a:r>
                      <a:endParaRPr kumimoji="0" lang="en-US" altLang="zh-CN" sz="20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40000"/>
                        <a:lumOff val="6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zh-CN" altLang="zh-CN" sz="2000" b="1" i="0" u="none" strike="noStrike" cap="none" normalizeH="0" baseline="0" dirty="0" smtClean="0">
                        <a:ln>
                          <a:noFill/>
                        </a:ln>
                        <a:solidFill>
                          <a:srgbClr val="00B0F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7"/>
                  </a:ext>
                </a:extLst>
              </a:tr>
              <a:tr h="4048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8</a:t>
                      </a:r>
                      <a:endParaRPr kumimoji="0" lang="en-US" altLang="zh-CN" sz="20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88</a:t>
                      </a:r>
                      <a:endParaRPr kumimoji="0" lang="en-US" altLang="zh-CN" sz="20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40000"/>
                        <a:lumOff val="6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zh-CN" altLang="zh-CN" sz="2000" b="1" i="0" u="none" strike="noStrike" cap="none" normalizeH="0" baseline="0" dirty="0" smtClean="0">
                        <a:ln>
                          <a:noFill/>
                        </a:ln>
                        <a:solidFill>
                          <a:srgbClr val="00B0F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8"/>
                  </a:ext>
                </a:extLst>
              </a:tr>
              <a:tr h="4048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9</a:t>
                      </a:r>
                      <a:endParaRPr kumimoji="0" lang="en-US" altLang="zh-CN" sz="20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84</a:t>
                      </a:r>
                      <a:endParaRPr kumimoji="0" lang="en-US" altLang="zh-CN" sz="20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40000"/>
                        <a:lumOff val="6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zh-CN" altLang="zh-CN" sz="2000" b="1" i="0" u="none" strike="noStrike" cap="none" normalizeH="0" baseline="0" dirty="0" smtClean="0">
                        <a:ln>
                          <a:noFill/>
                        </a:ln>
                        <a:solidFill>
                          <a:srgbClr val="00B0F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9"/>
                  </a:ext>
                </a:extLst>
              </a:tr>
              <a:tr h="4048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10</a:t>
                      </a:r>
                      <a:endParaRPr kumimoji="0" lang="en-US" altLang="zh-CN" sz="20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98</a:t>
                      </a:r>
                      <a:endParaRPr kumimoji="0" lang="en-US" altLang="zh-CN" sz="20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40000"/>
                        <a:lumOff val="6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zh-CN" altLang="zh-CN" sz="2000" b="1" i="0" u="none" strike="noStrike" cap="none" normalizeH="0" baseline="0" dirty="0" smtClean="0">
                        <a:ln>
                          <a:noFill/>
                        </a:ln>
                        <a:solidFill>
                          <a:srgbClr val="00B0F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10"/>
                  </a:ext>
                </a:extLst>
              </a:tr>
              <a:tr h="406400">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11</a:t>
                      </a:r>
                      <a:endParaRPr kumimoji="0" lang="en-US" altLang="zh-CN" sz="20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91</a:t>
                      </a:r>
                      <a:endParaRPr kumimoji="0" lang="en-US" altLang="zh-CN" sz="20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40000"/>
                        <a:lumOff val="60000"/>
                      </a:schemeClr>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zh-CN" altLang="zh-CN" sz="2000" b="1" i="0" u="none" strike="noStrike" cap="none" normalizeH="0" baseline="0" dirty="0" smtClean="0">
                        <a:ln>
                          <a:noFill/>
                        </a:ln>
                        <a:solidFill>
                          <a:srgbClr val="00B0F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11"/>
                  </a:ext>
                </a:extLst>
              </a:tr>
              <a:tr h="4048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12</a:t>
                      </a:r>
                      <a:endParaRPr kumimoji="0" lang="en-US" altLang="zh-CN" sz="20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106</a:t>
                      </a:r>
                      <a:endParaRPr kumimoji="0" lang="en-US" altLang="zh-CN" sz="20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40000"/>
                        <a:lumOff val="6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zh-CN" altLang="en-US" sz="2000" b="1" i="0" u="none" strike="noStrike" cap="none" normalizeH="0" baseline="0" dirty="0" smtClean="0">
                          <a:ln>
                            <a:noFill/>
                          </a:ln>
                          <a:solidFill>
                            <a:srgbClr val="00B0F0"/>
                          </a:solidFill>
                          <a:effectLst/>
                          <a:latin typeface="宋体" pitchFamily="2" charset="-122"/>
                          <a:ea typeface="宋体" pitchFamily="2" charset="-122"/>
                        </a:rPr>
                        <a:t>　</a:t>
                      </a:r>
                      <a:endParaRPr kumimoji="0" lang="zh-CN" altLang="en-US" sz="2000" b="1" i="0" u="none" strike="noStrike" cap="none" normalizeH="0" baseline="0" dirty="0" smtClean="0">
                        <a:ln>
                          <a:noFill/>
                        </a:ln>
                        <a:solidFill>
                          <a:srgbClr val="00B0F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12"/>
                  </a:ext>
                </a:extLst>
              </a:tr>
            </a:tbl>
          </a:graphicData>
        </a:graphic>
      </p:graphicFrame>
      <p:grpSp>
        <p:nvGrpSpPr>
          <p:cNvPr id="2" name="Group 62"/>
          <p:cNvGrpSpPr>
            <a:grpSpLocks/>
          </p:cNvGrpSpPr>
          <p:nvPr/>
        </p:nvGrpSpPr>
        <p:grpSpPr bwMode="auto">
          <a:xfrm>
            <a:off x="1331913" y="1916113"/>
            <a:ext cx="1223962" cy="792162"/>
            <a:chOff x="2290" y="1525"/>
            <a:chExt cx="862" cy="499"/>
          </a:xfrm>
        </p:grpSpPr>
        <p:sp>
          <p:nvSpPr>
            <p:cNvPr id="36983" name="AutoShape 63"/>
            <p:cNvSpPr>
              <a:spLocks/>
            </p:cNvSpPr>
            <p:nvPr/>
          </p:nvSpPr>
          <p:spPr bwMode="auto">
            <a:xfrm>
              <a:off x="2290" y="1525"/>
              <a:ext cx="227" cy="499"/>
            </a:xfrm>
            <a:prstGeom prst="rightBrace">
              <a:avLst>
                <a:gd name="adj1" fmla="val 18319"/>
                <a:gd name="adj2" fmla="val 50000"/>
              </a:avLst>
            </a:prstGeom>
            <a:noFill/>
            <a:ln w="57150">
              <a:solidFill>
                <a:srgbClr val="FF0066"/>
              </a:solidFill>
              <a:round/>
              <a:headEnd/>
              <a:tailEnd/>
            </a:ln>
          </p:spPr>
          <p:txBody>
            <a:bodyPr wrap="none" anchor="ctr"/>
            <a:lstStyle/>
            <a:p>
              <a:pPr algn="ctr"/>
              <a:endParaRPr lang="zh-CN" altLang="zh-CN">
                <a:solidFill>
                  <a:schemeClr val="bg2"/>
                </a:solidFill>
                <a:latin typeface="Tahoma" pitchFamily="34" charset="0"/>
              </a:endParaRPr>
            </a:p>
          </p:txBody>
        </p:sp>
        <p:sp>
          <p:nvSpPr>
            <p:cNvPr id="36984" name="Text Box 64"/>
            <p:cNvSpPr txBox="1">
              <a:spLocks noChangeArrowheads="1"/>
            </p:cNvSpPr>
            <p:nvPr/>
          </p:nvSpPr>
          <p:spPr bwMode="auto">
            <a:xfrm>
              <a:off x="2471" y="1661"/>
              <a:ext cx="681" cy="288"/>
            </a:xfrm>
            <a:prstGeom prst="rect">
              <a:avLst/>
            </a:prstGeom>
            <a:noFill/>
            <a:ln w="9525" algn="ctr">
              <a:noFill/>
              <a:miter lim="800000"/>
              <a:headEnd/>
              <a:tailEnd/>
            </a:ln>
          </p:spPr>
          <p:txBody>
            <a:bodyPr>
              <a:spAutoFit/>
            </a:bodyPr>
            <a:lstStyle/>
            <a:p>
              <a:pPr algn="ctr">
                <a:spcBef>
                  <a:spcPct val="50000"/>
                </a:spcBef>
              </a:pPr>
              <a:r>
                <a:rPr lang="en-US" altLang="zh-CN" sz="2400" b="1">
                  <a:solidFill>
                    <a:srgbClr val="FF0066"/>
                  </a:solidFill>
                  <a:latin typeface="Tahoma" pitchFamily="34" charset="0"/>
                </a:rPr>
                <a:t>52.0</a:t>
              </a:r>
            </a:p>
          </p:txBody>
        </p:sp>
      </p:grpSp>
      <p:grpSp>
        <p:nvGrpSpPr>
          <p:cNvPr id="3" name="Group 65"/>
          <p:cNvGrpSpPr>
            <a:grpSpLocks/>
          </p:cNvGrpSpPr>
          <p:nvPr/>
        </p:nvGrpSpPr>
        <p:grpSpPr bwMode="auto">
          <a:xfrm>
            <a:off x="1258888" y="2349500"/>
            <a:ext cx="1296987" cy="792163"/>
            <a:chOff x="2290" y="1525"/>
            <a:chExt cx="862" cy="499"/>
          </a:xfrm>
        </p:grpSpPr>
        <p:sp>
          <p:nvSpPr>
            <p:cNvPr id="36981" name="AutoShape 66"/>
            <p:cNvSpPr>
              <a:spLocks/>
            </p:cNvSpPr>
            <p:nvPr/>
          </p:nvSpPr>
          <p:spPr bwMode="auto">
            <a:xfrm>
              <a:off x="2290" y="1525"/>
              <a:ext cx="227" cy="499"/>
            </a:xfrm>
            <a:prstGeom prst="rightBrace">
              <a:avLst>
                <a:gd name="adj1" fmla="val 18319"/>
                <a:gd name="adj2" fmla="val 50000"/>
              </a:avLst>
            </a:prstGeom>
            <a:noFill/>
            <a:ln w="57150">
              <a:solidFill>
                <a:srgbClr val="3333FF"/>
              </a:solidFill>
              <a:round/>
              <a:headEnd/>
              <a:tailEnd/>
            </a:ln>
          </p:spPr>
          <p:txBody>
            <a:bodyPr wrap="none" anchor="ctr"/>
            <a:lstStyle/>
            <a:p>
              <a:pPr algn="ctr"/>
              <a:endParaRPr lang="zh-CN" altLang="zh-CN">
                <a:solidFill>
                  <a:srgbClr val="FF00FF"/>
                </a:solidFill>
                <a:latin typeface="Tahoma" pitchFamily="34" charset="0"/>
              </a:endParaRPr>
            </a:p>
          </p:txBody>
        </p:sp>
        <p:sp>
          <p:nvSpPr>
            <p:cNvPr id="36982" name="Text Box 67"/>
            <p:cNvSpPr txBox="1">
              <a:spLocks noChangeArrowheads="1"/>
            </p:cNvSpPr>
            <p:nvPr/>
          </p:nvSpPr>
          <p:spPr bwMode="auto">
            <a:xfrm>
              <a:off x="2471" y="1661"/>
              <a:ext cx="681" cy="250"/>
            </a:xfrm>
            <a:prstGeom prst="rect">
              <a:avLst/>
            </a:prstGeom>
            <a:noFill/>
            <a:ln w="9525" algn="ctr">
              <a:noFill/>
              <a:miter lim="800000"/>
              <a:headEnd/>
              <a:tailEnd/>
            </a:ln>
          </p:spPr>
          <p:txBody>
            <a:bodyPr>
              <a:spAutoFit/>
            </a:bodyPr>
            <a:lstStyle/>
            <a:p>
              <a:pPr algn="ctr">
                <a:spcBef>
                  <a:spcPct val="50000"/>
                </a:spcBef>
              </a:pPr>
              <a:r>
                <a:rPr lang="en-US" altLang="zh-CN" sz="2000" b="1" dirty="0">
                  <a:solidFill>
                    <a:srgbClr val="3333FF"/>
                  </a:solidFill>
                  <a:latin typeface="Tahoma" pitchFamily="34" charset="0"/>
                </a:rPr>
                <a:t>56.33</a:t>
              </a:r>
            </a:p>
          </p:txBody>
        </p:sp>
      </p:grpSp>
      <p:graphicFrame>
        <p:nvGraphicFramePr>
          <p:cNvPr id="207940" name="Group 68"/>
          <p:cNvGraphicFramePr>
            <a:graphicFrameLocks noGrp="1"/>
          </p:cNvGraphicFramePr>
          <p:nvPr>
            <p:extLst>
              <p:ext uri="{D42A27DB-BD31-4B8C-83A1-F6EECF244321}">
                <p14:modId xmlns:p14="http://schemas.microsoft.com/office/powerpoint/2010/main" val="3065993274"/>
              </p:ext>
            </p:extLst>
          </p:nvPr>
        </p:nvGraphicFramePr>
        <p:xfrm>
          <a:off x="1476375" y="2924175"/>
          <a:ext cx="1008063" cy="3233105"/>
        </p:xfrm>
        <a:graphic>
          <a:graphicData uri="http://schemas.openxmlformats.org/drawingml/2006/table">
            <a:tbl>
              <a:tblPr/>
              <a:tblGrid>
                <a:gridCol w="1008063">
                  <a:extLst>
                    <a:ext uri="{9D8B030D-6E8A-4147-A177-3AD203B41FA5}">
                      <a16:colId xmlns:a16="http://schemas.microsoft.com/office/drawing/2014/main" val="20000"/>
                    </a:ext>
                  </a:extLst>
                </a:gridCol>
              </a:tblGrid>
              <a:tr h="404813">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B0F0"/>
                          </a:solidFill>
                          <a:effectLst/>
                          <a:latin typeface="宋体" pitchFamily="2" charset="-122"/>
                          <a:ea typeface="宋体" pitchFamily="2" charset="-122"/>
                        </a:rPr>
                        <a:t>67.00 </a:t>
                      </a:r>
                      <a:endParaRPr kumimoji="0" lang="en-US" altLang="zh-CN" sz="2000" b="1" i="0" u="none" strike="noStrike" cap="none" normalizeH="0" baseline="0" dirty="0" smtClean="0">
                        <a:ln>
                          <a:noFill/>
                        </a:ln>
                        <a:solidFill>
                          <a:srgbClr val="00B0F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6400">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B0F0"/>
                          </a:solidFill>
                          <a:effectLst/>
                          <a:latin typeface="宋体" pitchFamily="2" charset="-122"/>
                          <a:ea typeface="宋体" pitchFamily="2" charset="-122"/>
                        </a:rPr>
                        <a:t>73.00 </a:t>
                      </a:r>
                      <a:endParaRPr kumimoji="0" lang="en-US" altLang="zh-CN" sz="2000" b="1" i="0" u="none" strike="noStrike" cap="none" normalizeH="0" baseline="0" dirty="0" smtClean="0">
                        <a:ln>
                          <a:noFill/>
                        </a:ln>
                        <a:solidFill>
                          <a:srgbClr val="00B0F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4813">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B0F0"/>
                          </a:solidFill>
                          <a:effectLst/>
                          <a:latin typeface="宋体" pitchFamily="2" charset="-122"/>
                          <a:ea typeface="宋体" pitchFamily="2" charset="-122"/>
                        </a:rPr>
                        <a:t>80.33 </a:t>
                      </a:r>
                      <a:endParaRPr kumimoji="0" lang="en-US" altLang="zh-CN" sz="2000" b="1" i="0" u="none" strike="noStrike" cap="none" normalizeH="0" baseline="0" dirty="0" smtClean="0">
                        <a:ln>
                          <a:noFill/>
                        </a:ln>
                        <a:solidFill>
                          <a:srgbClr val="00B0F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4813">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B0F0"/>
                          </a:solidFill>
                          <a:effectLst/>
                          <a:latin typeface="宋体" pitchFamily="2" charset="-122"/>
                          <a:ea typeface="宋体" pitchFamily="2" charset="-122"/>
                        </a:rPr>
                        <a:t>82.33 </a:t>
                      </a:r>
                      <a:endParaRPr kumimoji="0" lang="en-US" altLang="zh-CN" sz="2000" b="1" i="0" u="none" strike="noStrike" cap="none" normalizeH="0" baseline="0" dirty="0" smtClean="0">
                        <a:ln>
                          <a:noFill/>
                        </a:ln>
                        <a:solidFill>
                          <a:srgbClr val="00B0F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4813">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B0F0"/>
                          </a:solidFill>
                          <a:effectLst/>
                          <a:latin typeface="宋体" pitchFamily="2" charset="-122"/>
                          <a:ea typeface="宋体" pitchFamily="2" charset="-122"/>
                        </a:rPr>
                        <a:t>87.00 </a:t>
                      </a:r>
                      <a:endParaRPr kumimoji="0" lang="en-US" altLang="zh-CN" sz="2000" b="1" i="0" u="none" strike="noStrike" cap="none" normalizeH="0" baseline="0" dirty="0" smtClean="0">
                        <a:ln>
                          <a:noFill/>
                        </a:ln>
                        <a:solidFill>
                          <a:srgbClr val="00B0F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00">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B0F0"/>
                          </a:solidFill>
                          <a:effectLst/>
                          <a:latin typeface="宋体" pitchFamily="2" charset="-122"/>
                          <a:ea typeface="宋体" pitchFamily="2" charset="-122"/>
                        </a:rPr>
                        <a:t>90.00 </a:t>
                      </a:r>
                      <a:endParaRPr kumimoji="0" lang="en-US" altLang="zh-CN" sz="2000" b="1" i="0" u="none" strike="noStrike" cap="none" normalizeH="0" baseline="0" dirty="0" smtClean="0">
                        <a:ln>
                          <a:noFill/>
                        </a:ln>
                        <a:solidFill>
                          <a:srgbClr val="00B0F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77029">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B0F0"/>
                          </a:solidFill>
                          <a:effectLst/>
                          <a:latin typeface="宋体" pitchFamily="2" charset="-122"/>
                          <a:ea typeface="宋体" pitchFamily="2" charset="-122"/>
                        </a:rPr>
                        <a:t>91.00 </a:t>
                      </a:r>
                      <a:endParaRPr kumimoji="0" lang="en-US" altLang="zh-CN" sz="2000" b="1" i="0" u="none" strike="noStrike" cap="none" normalizeH="0" baseline="0" dirty="0" smtClean="0">
                        <a:ln>
                          <a:noFill/>
                        </a:ln>
                        <a:solidFill>
                          <a:srgbClr val="00B0F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4813">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B0F0"/>
                          </a:solidFill>
                          <a:effectLst/>
                          <a:latin typeface="宋体" pitchFamily="2" charset="-122"/>
                          <a:ea typeface="宋体" pitchFamily="2" charset="-122"/>
                        </a:rPr>
                        <a:t>98.33 </a:t>
                      </a:r>
                      <a:endParaRPr kumimoji="0" lang="en-US" altLang="zh-CN" sz="2000" b="1" i="0" u="none" strike="noStrike" cap="none" normalizeH="0" baseline="0" dirty="0" smtClean="0">
                        <a:ln>
                          <a:noFill/>
                        </a:ln>
                        <a:solidFill>
                          <a:srgbClr val="00B0F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7"/>
                  </a:ext>
                </a:extLst>
              </a:tr>
            </a:tbl>
          </a:graphicData>
        </a:graphic>
      </p:graphicFrame>
      <p:graphicFrame>
        <p:nvGraphicFramePr>
          <p:cNvPr id="207960" name="Group 88"/>
          <p:cNvGraphicFramePr>
            <a:graphicFrameLocks noGrp="1"/>
          </p:cNvGraphicFramePr>
          <p:nvPr>
            <p:extLst>
              <p:ext uri="{D42A27DB-BD31-4B8C-83A1-F6EECF244321}">
                <p14:modId xmlns:p14="http://schemas.microsoft.com/office/powerpoint/2010/main" val="4078194481"/>
              </p:ext>
            </p:extLst>
          </p:nvPr>
        </p:nvGraphicFramePr>
        <p:xfrm>
          <a:off x="2484438" y="981075"/>
          <a:ext cx="1296987" cy="5616581"/>
        </p:xfrm>
        <a:graphic>
          <a:graphicData uri="http://schemas.openxmlformats.org/drawingml/2006/table">
            <a:tbl>
              <a:tblPr/>
              <a:tblGrid>
                <a:gridCol w="1296987">
                  <a:extLst>
                    <a:ext uri="{9D8B030D-6E8A-4147-A177-3AD203B41FA5}">
                      <a16:colId xmlns:a16="http://schemas.microsoft.com/office/drawing/2014/main" val="20000"/>
                    </a:ext>
                  </a:extLst>
                </a:gridCol>
              </a:tblGrid>
              <a:tr h="7223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CC0099"/>
                          </a:solidFill>
                          <a:effectLst/>
                          <a:latin typeface="宋体" pitchFamily="2" charset="-122"/>
                          <a:ea typeface="宋体" pitchFamily="2" charset="-122"/>
                        </a:rPr>
                        <a:t>5</a:t>
                      </a:r>
                      <a:r>
                        <a:rPr kumimoji="0" lang="zh-CN" altLang="en-US" sz="2000" b="1" i="0" u="none" strike="noStrike" cap="none" normalizeH="0" baseline="0" dirty="0" smtClean="0">
                          <a:ln>
                            <a:noFill/>
                          </a:ln>
                          <a:solidFill>
                            <a:srgbClr val="CC0099"/>
                          </a:solidFill>
                          <a:effectLst/>
                          <a:latin typeface="宋体" pitchFamily="2" charset="-122"/>
                          <a:ea typeface="宋体" pitchFamily="2" charset="-122"/>
                        </a:rPr>
                        <a:t>项移动</a:t>
                      </a:r>
                      <a:r>
                        <a:rPr kumimoji="0" lang="zh-CN" altLang="en-US" sz="2000" b="1" i="0" u="none" strike="noStrike" cap="none" normalizeH="0" baseline="0" dirty="0" smtClean="0">
                          <a:ln>
                            <a:noFill/>
                          </a:ln>
                          <a:solidFill>
                            <a:srgbClr val="CC0099"/>
                          </a:solidFill>
                          <a:effectLst/>
                          <a:latin typeface="宋体" pitchFamily="2" charset="-122"/>
                          <a:ea typeface="宋体" pitchFamily="2" charset="-122"/>
                        </a:rPr>
                        <a:t>平均</a:t>
                      </a:r>
                      <a:endParaRPr kumimoji="0" lang="zh-CN" altLang="en-US" sz="2000" b="1" i="0" u="none" strike="noStrike" cap="none" normalizeH="0" baseline="0" dirty="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079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zh-CN" altLang="en-US" sz="2000" b="1" i="0" u="none" strike="noStrike" cap="none" normalizeH="0" baseline="0" dirty="0" smtClean="0">
                          <a:ln>
                            <a:noFill/>
                          </a:ln>
                          <a:solidFill>
                            <a:srgbClr val="000000"/>
                          </a:solidFill>
                          <a:effectLst/>
                          <a:latin typeface="宋体" pitchFamily="2" charset="-122"/>
                          <a:ea typeface="宋体" pitchFamily="2" charset="-122"/>
                        </a:rPr>
                        <a:t>　</a:t>
                      </a:r>
                      <a:endParaRPr kumimoji="0" lang="zh-CN" altLang="en-US" sz="20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95000"/>
                      </a:schemeClr>
                    </a:solidFill>
                  </a:tcPr>
                </a:tc>
                <a:extLst>
                  <a:ext uri="{0D108BD9-81ED-4DB2-BD59-A6C34878D82A}">
                    <a16:rowId xmlns:a16="http://schemas.microsoft.com/office/drawing/2014/main" val="10001"/>
                  </a:ext>
                </a:extLst>
              </a:tr>
              <a:tr h="4079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rgbClr val="000000"/>
                          </a:solidFill>
                          <a:effectLst/>
                          <a:latin typeface="宋体" pitchFamily="2" charset="-122"/>
                          <a:ea typeface="宋体" pitchFamily="2" charset="-122"/>
                        </a:rPr>
                        <a:t>　</a:t>
                      </a:r>
                      <a:endParaRPr kumimoji="0" lang="zh-CN" altLang="en-US" sz="2000" b="1" i="0" u="none" strike="noStrike" cap="none" normalizeH="0" baseline="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95000"/>
                      </a:schemeClr>
                    </a:solidFill>
                  </a:tcPr>
                </a:tc>
                <a:extLst>
                  <a:ext uri="{0D108BD9-81ED-4DB2-BD59-A6C34878D82A}">
                    <a16:rowId xmlns:a16="http://schemas.microsoft.com/office/drawing/2014/main" val="10002"/>
                  </a:ext>
                </a:extLst>
              </a:tr>
              <a:tr h="4079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CC0099"/>
                          </a:solidFill>
                          <a:effectLst/>
                          <a:latin typeface="宋体" pitchFamily="2" charset="-122"/>
                          <a:ea typeface="宋体" pitchFamily="2" charset="-122"/>
                        </a:rPr>
                        <a:t>61.00 </a:t>
                      </a:r>
                      <a:endParaRPr kumimoji="0" lang="en-US" altLang="zh-CN" sz="2000" b="1" i="0" u="none" strike="noStrike" cap="none" normalizeH="0" baseline="0" dirty="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95000"/>
                      </a:schemeClr>
                    </a:solidFill>
                  </a:tcPr>
                </a:tc>
                <a:extLst>
                  <a:ext uri="{0D108BD9-81ED-4DB2-BD59-A6C34878D82A}">
                    <a16:rowId xmlns:a16="http://schemas.microsoft.com/office/drawing/2014/main" val="10003"/>
                  </a:ext>
                </a:extLst>
              </a:tr>
              <a:tr h="4079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CC0099"/>
                          </a:solidFill>
                          <a:effectLst/>
                          <a:latin typeface="宋体" pitchFamily="2" charset="-122"/>
                          <a:ea typeface="宋体" pitchFamily="2" charset="-122"/>
                        </a:rPr>
                        <a:t>64.20 </a:t>
                      </a:r>
                      <a:endParaRPr kumimoji="0" lang="en-US" altLang="zh-CN" sz="2000" b="1" i="0" u="none" strike="noStrike" cap="none" normalizeH="0" baseline="0" dirty="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95000"/>
                      </a:schemeClr>
                    </a:solidFill>
                  </a:tcPr>
                </a:tc>
                <a:extLst>
                  <a:ext uri="{0D108BD9-81ED-4DB2-BD59-A6C34878D82A}">
                    <a16:rowId xmlns:a16="http://schemas.microsoft.com/office/drawing/2014/main" val="10004"/>
                  </a:ext>
                </a:extLst>
              </a:tr>
              <a:tr h="4079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CC0099"/>
                          </a:solidFill>
                          <a:effectLst/>
                          <a:latin typeface="宋体" pitchFamily="2" charset="-122"/>
                          <a:ea typeface="宋体" pitchFamily="2" charset="-122"/>
                        </a:rPr>
                        <a:t>72.00 </a:t>
                      </a:r>
                      <a:endParaRPr kumimoji="0" lang="en-US" altLang="zh-CN" sz="2000" b="1" i="0" u="none" strike="noStrike" cap="none" normalizeH="0" baseline="0" dirty="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95000"/>
                      </a:schemeClr>
                    </a:solidFill>
                  </a:tcPr>
                </a:tc>
                <a:extLst>
                  <a:ext uri="{0D108BD9-81ED-4DB2-BD59-A6C34878D82A}">
                    <a16:rowId xmlns:a16="http://schemas.microsoft.com/office/drawing/2014/main" val="10005"/>
                  </a:ext>
                </a:extLst>
              </a:tr>
              <a:tr h="4079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CC0099"/>
                          </a:solidFill>
                          <a:effectLst/>
                          <a:latin typeface="宋体" pitchFamily="2" charset="-122"/>
                          <a:ea typeface="宋体" pitchFamily="2" charset="-122"/>
                        </a:rPr>
                        <a:t>79.20 </a:t>
                      </a:r>
                      <a:endParaRPr kumimoji="0" lang="en-US" altLang="zh-CN" sz="2000" b="1" i="0" u="none" strike="noStrike" cap="none" normalizeH="0" baseline="0" dirty="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95000"/>
                      </a:schemeClr>
                    </a:solidFill>
                  </a:tcPr>
                </a:tc>
                <a:extLst>
                  <a:ext uri="{0D108BD9-81ED-4DB2-BD59-A6C34878D82A}">
                    <a16:rowId xmlns:a16="http://schemas.microsoft.com/office/drawing/2014/main" val="10006"/>
                  </a:ext>
                </a:extLst>
              </a:tr>
              <a:tr h="406400">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CC0099"/>
                          </a:solidFill>
                          <a:effectLst/>
                          <a:latin typeface="宋体" pitchFamily="2" charset="-122"/>
                          <a:ea typeface="宋体" pitchFamily="2" charset="-122"/>
                        </a:rPr>
                        <a:t>82.60 </a:t>
                      </a:r>
                      <a:endParaRPr kumimoji="0" lang="en-US" altLang="zh-CN" sz="2000" b="1" i="0" u="none" strike="noStrike" cap="none" normalizeH="0" baseline="0" dirty="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95000"/>
                      </a:schemeClr>
                    </a:solidFill>
                  </a:tcPr>
                </a:tc>
                <a:extLst>
                  <a:ext uri="{0D108BD9-81ED-4DB2-BD59-A6C34878D82A}">
                    <a16:rowId xmlns:a16="http://schemas.microsoft.com/office/drawing/2014/main" val="10007"/>
                  </a:ext>
                </a:extLst>
              </a:tr>
              <a:tr h="4079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CC0099"/>
                          </a:solidFill>
                          <a:effectLst/>
                          <a:latin typeface="宋体" pitchFamily="2" charset="-122"/>
                          <a:ea typeface="宋体" pitchFamily="2" charset="-122"/>
                        </a:rPr>
                        <a:t>85.80 </a:t>
                      </a:r>
                      <a:endParaRPr kumimoji="0" lang="en-US" altLang="zh-CN" sz="2000" b="1" i="0" u="none" strike="noStrike" cap="none" normalizeH="0" baseline="0" dirty="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95000"/>
                      </a:schemeClr>
                    </a:solidFill>
                  </a:tcPr>
                </a:tc>
                <a:extLst>
                  <a:ext uri="{0D108BD9-81ED-4DB2-BD59-A6C34878D82A}">
                    <a16:rowId xmlns:a16="http://schemas.microsoft.com/office/drawing/2014/main" val="10008"/>
                  </a:ext>
                </a:extLst>
              </a:tr>
              <a:tr h="4079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CC0099"/>
                          </a:solidFill>
                          <a:effectLst/>
                          <a:latin typeface="宋体" pitchFamily="2" charset="-122"/>
                          <a:ea typeface="宋体" pitchFamily="2" charset="-122"/>
                        </a:rPr>
                        <a:t>90.00 </a:t>
                      </a:r>
                      <a:endParaRPr kumimoji="0" lang="en-US" altLang="zh-CN" sz="2000" b="1" i="0" u="none" strike="noStrike" cap="none" normalizeH="0" baseline="0" dirty="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95000"/>
                      </a:schemeClr>
                    </a:solidFill>
                  </a:tcPr>
                </a:tc>
                <a:extLst>
                  <a:ext uri="{0D108BD9-81ED-4DB2-BD59-A6C34878D82A}">
                    <a16:rowId xmlns:a16="http://schemas.microsoft.com/office/drawing/2014/main" val="10009"/>
                  </a:ext>
                </a:extLst>
              </a:tr>
              <a:tr h="4079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CC0099"/>
                          </a:solidFill>
                          <a:effectLst/>
                          <a:latin typeface="宋体" pitchFamily="2" charset="-122"/>
                          <a:ea typeface="宋体" pitchFamily="2" charset="-122"/>
                        </a:rPr>
                        <a:t>93.40 </a:t>
                      </a:r>
                      <a:endParaRPr kumimoji="0" lang="en-US" altLang="zh-CN" sz="2000" b="1" i="0" u="none" strike="noStrike" cap="none" normalizeH="0" baseline="0" dirty="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95000"/>
                      </a:schemeClr>
                    </a:solidFill>
                  </a:tcPr>
                </a:tc>
                <a:extLst>
                  <a:ext uri="{0D108BD9-81ED-4DB2-BD59-A6C34878D82A}">
                    <a16:rowId xmlns:a16="http://schemas.microsoft.com/office/drawing/2014/main" val="10010"/>
                  </a:ext>
                </a:extLst>
              </a:tr>
              <a:tr h="4079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zh-CN" altLang="en-US" sz="2000" b="1" i="0" u="none" strike="noStrike" cap="none" normalizeH="0" baseline="0" dirty="0" smtClean="0">
                          <a:ln>
                            <a:noFill/>
                          </a:ln>
                          <a:solidFill>
                            <a:srgbClr val="000000"/>
                          </a:solidFill>
                          <a:effectLst/>
                          <a:latin typeface="宋体" pitchFamily="2" charset="-122"/>
                          <a:ea typeface="宋体" pitchFamily="2" charset="-122"/>
                        </a:rPr>
                        <a:t>　</a:t>
                      </a:r>
                      <a:endParaRPr kumimoji="0" lang="zh-CN" altLang="en-US" sz="20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95000"/>
                      </a:schemeClr>
                    </a:solidFill>
                  </a:tcPr>
                </a:tc>
                <a:extLst>
                  <a:ext uri="{0D108BD9-81ED-4DB2-BD59-A6C34878D82A}">
                    <a16:rowId xmlns:a16="http://schemas.microsoft.com/office/drawing/2014/main" val="10011"/>
                  </a:ext>
                </a:extLst>
              </a:tr>
              <a:tr h="4079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zh-CN" altLang="en-US" sz="2000" b="1" i="0" u="none" strike="noStrike" cap="none" normalizeH="0" baseline="0" dirty="0" smtClean="0">
                          <a:ln>
                            <a:noFill/>
                          </a:ln>
                          <a:solidFill>
                            <a:srgbClr val="000000"/>
                          </a:solidFill>
                          <a:effectLst/>
                          <a:latin typeface="宋体" pitchFamily="2" charset="-122"/>
                          <a:ea typeface="宋体" pitchFamily="2" charset="-122"/>
                        </a:rPr>
                        <a:t>　</a:t>
                      </a:r>
                      <a:endParaRPr kumimoji="0" lang="zh-CN" altLang="en-US" sz="20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95000"/>
                      </a:schemeClr>
                    </a:solidFill>
                  </a:tcPr>
                </a:tc>
                <a:extLst>
                  <a:ext uri="{0D108BD9-81ED-4DB2-BD59-A6C34878D82A}">
                    <a16:rowId xmlns:a16="http://schemas.microsoft.com/office/drawing/2014/main" val="10012"/>
                  </a:ext>
                </a:extLst>
              </a:tr>
            </a:tbl>
          </a:graphicData>
        </a:graphic>
      </p:graphicFrame>
      <p:sp>
        <p:nvSpPr>
          <p:cNvPr id="207990" name="Rectangle 118"/>
          <p:cNvSpPr>
            <a:spLocks noGrp="1" noChangeArrowheads="1"/>
          </p:cNvSpPr>
          <p:nvPr>
            <p:ph type="body" idx="1"/>
          </p:nvPr>
        </p:nvSpPr>
        <p:spPr>
          <a:xfrm>
            <a:off x="3132138" y="1052513"/>
            <a:ext cx="6278562" cy="1511300"/>
          </a:xfrm>
          <a:noFill/>
        </p:spPr>
        <p:txBody>
          <a:bodyPr/>
          <a:lstStyle/>
          <a:p>
            <a:pPr marL="971550" lvl="1" eaLnBrk="1" hangingPunct="1"/>
            <a:r>
              <a:rPr lang="zh-CN" altLang="en-US" sz="2400" smtClean="0"/>
              <a:t>移动平均值消除或削弱了原数列中的不规则变动和其他变动，揭示出现象在较长时间内的基本发展趋势。</a:t>
            </a:r>
          </a:p>
        </p:txBody>
      </p:sp>
      <p:sp>
        <p:nvSpPr>
          <p:cNvPr id="36980" name="日期占位符 14"/>
          <p:cNvSpPr>
            <a:spLocks noGrp="1"/>
          </p:cNvSpPr>
          <p:nvPr>
            <p:ph type="dt" sz="quarter" idx="10"/>
          </p:nvPr>
        </p:nvSpPr>
        <p:spPr>
          <a:noFill/>
        </p:spPr>
        <p:txBody>
          <a:bodyPr/>
          <a:lstStyle/>
          <a:p>
            <a:endParaRPr lang="en-US" altLang="zh-CN"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Top)">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slide(fromTop)">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nodeType="clickEffect">
                                  <p:stCondLst>
                                    <p:cond delay="0"/>
                                  </p:stCondLst>
                                  <p:childTnLst>
                                    <p:set>
                                      <p:cBhvr>
                                        <p:cTn id="16" dur="1" fill="hold">
                                          <p:stCondLst>
                                            <p:cond delay="0"/>
                                          </p:stCondLst>
                                        </p:cTn>
                                        <p:tgtEl>
                                          <p:spTgt spid="207940"/>
                                        </p:tgtEl>
                                        <p:attrNameLst>
                                          <p:attrName>style.visibility</p:attrName>
                                        </p:attrNameLst>
                                      </p:cBhvr>
                                      <p:to>
                                        <p:strVal val="visible"/>
                                      </p:to>
                                    </p:set>
                                    <p:animEffect transition="in" filter="slide(fromLeft)">
                                      <p:cBhvr>
                                        <p:cTn id="17" dur="500"/>
                                        <p:tgtEl>
                                          <p:spTgt spid="207940"/>
                                        </p:tgtEl>
                                      </p:cBhvr>
                                    </p:animEffect>
                                  </p:childTnLst>
                                </p:cTn>
                              </p:par>
                            </p:childTnLst>
                          </p:cTn>
                        </p:par>
                      </p:childTnLst>
                    </p:cTn>
                  </p:par>
                  <p:par>
                    <p:cTn id="18" fill="hold">
                      <p:stCondLst>
                        <p:cond delay="indefinite"/>
                      </p:stCondLst>
                      <p:childTnLst>
                        <p:par>
                          <p:cTn id="19" fill="hold">
                            <p:stCondLst>
                              <p:cond delay="0"/>
                            </p:stCondLst>
                            <p:childTnLst>
                              <p:par>
                                <p:cTn id="20" presetID="55" presetClass="entr" presetSubtype="0" fill="hold" nodeType="clickEffect">
                                  <p:stCondLst>
                                    <p:cond delay="0"/>
                                  </p:stCondLst>
                                  <p:childTnLst>
                                    <p:set>
                                      <p:cBhvr>
                                        <p:cTn id="21" dur="1" fill="hold">
                                          <p:stCondLst>
                                            <p:cond delay="0"/>
                                          </p:stCondLst>
                                        </p:cTn>
                                        <p:tgtEl>
                                          <p:spTgt spid="207960"/>
                                        </p:tgtEl>
                                        <p:attrNameLst>
                                          <p:attrName>style.visibility</p:attrName>
                                        </p:attrNameLst>
                                      </p:cBhvr>
                                      <p:to>
                                        <p:strVal val="visible"/>
                                      </p:to>
                                    </p:set>
                                    <p:anim calcmode="lin" valueType="num">
                                      <p:cBhvr>
                                        <p:cTn id="22" dur="1000" fill="hold"/>
                                        <p:tgtEl>
                                          <p:spTgt spid="207960"/>
                                        </p:tgtEl>
                                        <p:attrNameLst>
                                          <p:attrName>ppt_w</p:attrName>
                                        </p:attrNameLst>
                                      </p:cBhvr>
                                      <p:tavLst>
                                        <p:tav tm="0">
                                          <p:val>
                                            <p:strVal val="#ppt_w*0.70"/>
                                          </p:val>
                                        </p:tav>
                                        <p:tav tm="100000">
                                          <p:val>
                                            <p:strVal val="#ppt_w"/>
                                          </p:val>
                                        </p:tav>
                                      </p:tavLst>
                                    </p:anim>
                                    <p:anim calcmode="lin" valueType="num">
                                      <p:cBhvr>
                                        <p:cTn id="23" dur="1000" fill="hold"/>
                                        <p:tgtEl>
                                          <p:spTgt spid="207960"/>
                                        </p:tgtEl>
                                        <p:attrNameLst>
                                          <p:attrName>ppt_h</p:attrName>
                                        </p:attrNameLst>
                                      </p:cBhvr>
                                      <p:tavLst>
                                        <p:tav tm="0">
                                          <p:val>
                                            <p:strVal val="#ppt_h"/>
                                          </p:val>
                                        </p:tav>
                                        <p:tav tm="100000">
                                          <p:val>
                                            <p:strVal val="#ppt_h"/>
                                          </p:val>
                                        </p:tav>
                                      </p:tavLst>
                                    </p:anim>
                                    <p:animEffect transition="in" filter="fade">
                                      <p:cBhvr>
                                        <p:cTn id="24" dur="1000"/>
                                        <p:tgtEl>
                                          <p:spTgt spid="207960"/>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07990">
                                            <p:txEl>
                                              <p:pRg st="0" end="0"/>
                                            </p:txEl>
                                          </p:spTgt>
                                        </p:tgtEl>
                                        <p:attrNameLst>
                                          <p:attrName>style.visibility</p:attrName>
                                        </p:attrNameLst>
                                      </p:cBhvr>
                                      <p:to>
                                        <p:strVal val="visible"/>
                                      </p:to>
                                    </p:set>
                                    <p:animEffect transition="in" filter="wipe(left)">
                                      <p:cBhvr>
                                        <p:cTn id="29" dur="500"/>
                                        <p:tgtEl>
                                          <p:spTgt spid="207990">
                                            <p:txEl>
                                              <p:pRg st="0" end="0"/>
                                            </p:txEl>
                                          </p:spTgt>
                                        </p:tgtEl>
                                      </p:cBhvr>
                                    </p:animEffect>
                                  </p:childTnLst>
                                </p:cTn>
                              </p:par>
                            </p:childTnLst>
                          </p:cTn>
                        </p:par>
                        <p:par>
                          <p:cTn id="30" fill="hold">
                            <p:stCondLst>
                              <p:cond delay="500"/>
                            </p:stCondLst>
                            <p:childTnLst>
                              <p:par>
                                <p:cTn id="31" presetID="26" presetClass="entr" presetSubtype="0" fill="hold" grpId="0" nodeType="afterEffect">
                                  <p:stCondLst>
                                    <p:cond delay="0"/>
                                  </p:stCondLst>
                                  <p:childTnLst>
                                    <p:set>
                                      <p:cBhvr>
                                        <p:cTn id="32" dur="1" fill="hold">
                                          <p:stCondLst>
                                            <p:cond delay="0"/>
                                          </p:stCondLst>
                                        </p:cTn>
                                        <p:tgtEl>
                                          <p:spTgt spid="207874"/>
                                        </p:tgtEl>
                                        <p:attrNameLst>
                                          <p:attrName>style.visibility</p:attrName>
                                        </p:attrNameLst>
                                      </p:cBhvr>
                                      <p:to>
                                        <p:strVal val="visible"/>
                                      </p:to>
                                    </p:set>
                                    <p:animEffect transition="in" filter="wipe(down)">
                                      <p:cBhvr>
                                        <p:cTn id="33" dur="580">
                                          <p:stCondLst>
                                            <p:cond delay="0"/>
                                          </p:stCondLst>
                                        </p:cTn>
                                        <p:tgtEl>
                                          <p:spTgt spid="207874"/>
                                        </p:tgtEl>
                                      </p:cBhvr>
                                    </p:animEffect>
                                    <p:anim calcmode="lin" valueType="num">
                                      <p:cBhvr>
                                        <p:cTn id="34" dur="1822" tmFilter="0,0; 0.14,0.36; 0.43,0.73; 0.71,0.91; 1.0,1.0">
                                          <p:stCondLst>
                                            <p:cond delay="0"/>
                                          </p:stCondLst>
                                        </p:cTn>
                                        <p:tgtEl>
                                          <p:spTgt spid="207874"/>
                                        </p:tgtEl>
                                        <p:attrNameLst>
                                          <p:attrName>ppt_x</p:attrName>
                                        </p:attrNameLst>
                                      </p:cBhvr>
                                      <p:tavLst>
                                        <p:tav tm="0">
                                          <p:val>
                                            <p:strVal val="#ppt_x-0.25"/>
                                          </p:val>
                                        </p:tav>
                                        <p:tav tm="100000">
                                          <p:val>
                                            <p:strVal val="#ppt_x"/>
                                          </p:val>
                                        </p:tav>
                                      </p:tavLst>
                                    </p:anim>
                                    <p:anim calcmode="lin" valueType="num">
                                      <p:cBhvr>
                                        <p:cTn id="35" dur="664" tmFilter="0.0,0.0; 0.25,0.07; 0.50,0.2; 0.75,0.467; 1.0,1.0">
                                          <p:stCondLst>
                                            <p:cond delay="0"/>
                                          </p:stCondLst>
                                        </p:cTn>
                                        <p:tgtEl>
                                          <p:spTgt spid="207874"/>
                                        </p:tgtEl>
                                        <p:attrNameLst>
                                          <p:attrName>ppt_y</p:attrName>
                                        </p:attrNameLst>
                                      </p:cBhvr>
                                      <p:tavLst>
                                        <p:tav tm="0" fmla="#ppt_y-sin(pi*$)/3">
                                          <p:val>
                                            <p:fltVal val="0.5"/>
                                          </p:val>
                                        </p:tav>
                                        <p:tav tm="100000">
                                          <p:val>
                                            <p:fltVal val="1"/>
                                          </p:val>
                                        </p:tav>
                                      </p:tavLst>
                                    </p:anim>
                                    <p:anim calcmode="lin" valueType="num">
                                      <p:cBhvr>
                                        <p:cTn id="36" dur="664" tmFilter="0, 0; 0.125,0.2665; 0.25,0.4; 0.375,0.465; 0.5,0.5;  0.625,0.535; 0.75,0.6; 0.875,0.7335; 1,1">
                                          <p:stCondLst>
                                            <p:cond delay="664"/>
                                          </p:stCondLst>
                                        </p:cTn>
                                        <p:tgtEl>
                                          <p:spTgt spid="207874"/>
                                        </p:tgtEl>
                                        <p:attrNameLst>
                                          <p:attrName>ppt_y</p:attrName>
                                        </p:attrNameLst>
                                      </p:cBhvr>
                                      <p:tavLst>
                                        <p:tav tm="0" fmla="#ppt_y-sin(pi*$)/9">
                                          <p:val>
                                            <p:fltVal val="0"/>
                                          </p:val>
                                        </p:tav>
                                        <p:tav tm="100000">
                                          <p:val>
                                            <p:fltVal val="1"/>
                                          </p:val>
                                        </p:tav>
                                      </p:tavLst>
                                    </p:anim>
                                    <p:anim calcmode="lin" valueType="num">
                                      <p:cBhvr>
                                        <p:cTn id="37" dur="332" tmFilter="0, 0; 0.125,0.2665; 0.25,0.4; 0.375,0.465; 0.5,0.5;  0.625,0.535; 0.75,0.6; 0.875,0.7335; 1,1">
                                          <p:stCondLst>
                                            <p:cond delay="1324"/>
                                          </p:stCondLst>
                                        </p:cTn>
                                        <p:tgtEl>
                                          <p:spTgt spid="207874"/>
                                        </p:tgtEl>
                                        <p:attrNameLst>
                                          <p:attrName>ppt_y</p:attrName>
                                        </p:attrNameLst>
                                      </p:cBhvr>
                                      <p:tavLst>
                                        <p:tav tm="0" fmla="#ppt_y-sin(pi*$)/27">
                                          <p:val>
                                            <p:fltVal val="0"/>
                                          </p:val>
                                        </p:tav>
                                        <p:tav tm="100000">
                                          <p:val>
                                            <p:fltVal val="1"/>
                                          </p:val>
                                        </p:tav>
                                      </p:tavLst>
                                    </p:anim>
                                    <p:anim calcmode="lin" valueType="num">
                                      <p:cBhvr>
                                        <p:cTn id="38" dur="164" tmFilter="0, 0; 0.125,0.2665; 0.25,0.4; 0.375,0.465; 0.5,0.5;  0.625,0.535; 0.75,0.6; 0.875,0.7335; 1,1">
                                          <p:stCondLst>
                                            <p:cond delay="1656"/>
                                          </p:stCondLst>
                                        </p:cTn>
                                        <p:tgtEl>
                                          <p:spTgt spid="207874"/>
                                        </p:tgtEl>
                                        <p:attrNameLst>
                                          <p:attrName>ppt_y</p:attrName>
                                        </p:attrNameLst>
                                      </p:cBhvr>
                                      <p:tavLst>
                                        <p:tav tm="0" fmla="#ppt_y-sin(pi*$)/81">
                                          <p:val>
                                            <p:fltVal val="0"/>
                                          </p:val>
                                        </p:tav>
                                        <p:tav tm="100000">
                                          <p:val>
                                            <p:fltVal val="1"/>
                                          </p:val>
                                        </p:tav>
                                      </p:tavLst>
                                    </p:anim>
                                    <p:animScale>
                                      <p:cBhvr>
                                        <p:cTn id="39" dur="26">
                                          <p:stCondLst>
                                            <p:cond delay="650"/>
                                          </p:stCondLst>
                                        </p:cTn>
                                        <p:tgtEl>
                                          <p:spTgt spid="207874"/>
                                        </p:tgtEl>
                                      </p:cBhvr>
                                      <p:to x="100000" y="60000"/>
                                    </p:animScale>
                                    <p:animScale>
                                      <p:cBhvr>
                                        <p:cTn id="40" dur="166" decel="50000">
                                          <p:stCondLst>
                                            <p:cond delay="676"/>
                                          </p:stCondLst>
                                        </p:cTn>
                                        <p:tgtEl>
                                          <p:spTgt spid="207874"/>
                                        </p:tgtEl>
                                      </p:cBhvr>
                                      <p:to x="100000" y="100000"/>
                                    </p:animScale>
                                    <p:animScale>
                                      <p:cBhvr>
                                        <p:cTn id="41" dur="26">
                                          <p:stCondLst>
                                            <p:cond delay="1312"/>
                                          </p:stCondLst>
                                        </p:cTn>
                                        <p:tgtEl>
                                          <p:spTgt spid="207874"/>
                                        </p:tgtEl>
                                      </p:cBhvr>
                                      <p:to x="100000" y="80000"/>
                                    </p:animScale>
                                    <p:animScale>
                                      <p:cBhvr>
                                        <p:cTn id="42" dur="166" decel="50000">
                                          <p:stCondLst>
                                            <p:cond delay="1338"/>
                                          </p:stCondLst>
                                        </p:cTn>
                                        <p:tgtEl>
                                          <p:spTgt spid="207874"/>
                                        </p:tgtEl>
                                      </p:cBhvr>
                                      <p:to x="100000" y="100000"/>
                                    </p:animScale>
                                    <p:animScale>
                                      <p:cBhvr>
                                        <p:cTn id="43" dur="26">
                                          <p:stCondLst>
                                            <p:cond delay="1642"/>
                                          </p:stCondLst>
                                        </p:cTn>
                                        <p:tgtEl>
                                          <p:spTgt spid="207874"/>
                                        </p:tgtEl>
                                      </p:cBhvr>
                                      <p:to x="100000" y="90000"/>
                                    </p:animScale>
                                    <p:animScale>
                                      <p:cBhvr>
                                        <p:cTn id="44" dur="166" decel="50000">
                                          <p:stCondLst>
                                            <p:cond delay="1668"/>
                                          </p:stCondLst>
                                        </p:cTn>
                                        <p:tgtEl>
                                          <p:spTgt spid="207874"/>
                                        </p:tgtEl>
                                      </p:cBhvr>
                                      <p:to x="100000" y="100000"/>
                                    </p:animScale>
                                    <p:animScale>
                                      <p:cBhvr>
                                        <p:cTn id="45" dur="26">
                                          <p:stCondLst>
                                            <p:cond delay="1808"/>
                                          </p:stCondLst>
                                        </p:cTn>
                                        <p:tgtEl>
                                          <p:spTgt spid="207874"/>
                                        </p:tgtEl>
                                      </p:cBhvr>
                                      <p:to x="100000" y="95000"/>
                                    </p:animScale>
                                    <p:animScale>
                                      <p:cBhvr>
                                        <p:cTn id="46" dur="166" decel="50000">
                                          <p:stCondLst>
                                            <p:cond delay="1834"/>
                                          </p:stCondLst>
                                        </p:cTn>
                                        <p:tgtEl>
                                          <p:spTgt spid="20787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OleChart spid="207874" grpId="0"/>
      <p:bldP spid="207990" grpId="0" build="p"/>
    </p:bldLst>
  </p:timing>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8787" name="Rectangle 2"/>
          <p:cNvSpPr>
            <a:spLocks noGrp="1" noChangeArrowheads="1"/>
          </p:cNvSpPr>
          <p:nvPr>
            <p:ph type="title"/>
          </p:nvPr>
        </p:nvSpPr>
        <p:spPr>
          <a:xfrm>
            <a:off x="1403350" y="549275"/>
            <a:ext cx="7010400" cy="1143000"/>
          </a:xfrm>
        </p:spPr>
        <p:txBody>
          <a:bodyPr lIns="90488" tIns="44450" rIns="90488" bIns="44450" anchor="ctr" anchorCtr="1"/>
          <a:lstStyle/>
          <a:p>
            <a:pPr eaLnBrk="1" hangingPunct="1"/>
            <a:r>
              <a:rPr lang="zh-CN" altLang="en-US" sz="4000" dirty="0" smtClean="0"/>
              <a:t>移动</a:t>
            </a:r>
            <a:r>
              <a:rPr lang="zh-CN" altLang="en-US" sz="4000" dirty="0" smtClean="0"/>
              <a:t>平均法的</a:t>
            </a:r>
            <a:r>
              <a:rPr lang="zh-CN" altLang="en-US" sz="3600" dirty="0" smtClean="0"/>
              <a:t>特点</a:t>
            </a:r>
            <a:r>
              <a:rPr lang="zh-CN" altLang="en-US" sz="4000" dirty="0" smtClean="0"/>
              <a:t> </a:t>
            </a:r>
            <a:br>
              <a:rPr lang="zh-CN" altLang="en-US" sz="4000" dirty="0" smtClean="0"/>
            </a:br>
            <a:r>
              <a:rPr lang="en-US" altLang="zh-CN" sz="3600" dirty="0" smtClean="0">
                <a:latin typeface="Times New Roman" pitchFamily="18" charset="0"/>
              </a:rPr>
              <a:t>(</a:t>
            </a:r>
            <a:r>
              <a:rPr lang="zh-CN" altLang="en-US" sz="3600" dirty="0" smtClean="0">
                <a:latin typeface="Times New Roman" pitchFamily="18" charset="0"/>
              </a:rPr>
              <a:t>应注意的问题</a:t>
            </a:r>
            <a:r>
              <a:rPr lang="en-US" altLang="zh-CN" sz="3600" dirty="0" smtClean="0">
                <a:latin typeface="Times New Roman" pitchFamily="18" charset="0"/>
              </a:rPr>
              <a:t>)</a:t>
            </a:r>
          </a:p>
        </p:txBody>
      </p:sp>
      <p:sp>
        <p:nvSpPr>
          <p:cNvPr id="118788" name="Rectangle 3"/>
          <p:cNvSpPr>
            <a:spLocks noGrp="1" noChangeArrowheads="1"/>
          </p:cNvSpPr>
          <p:nvPr>
            <p:ph type="body" idx="1"/>
          </p:nvPr>
        </p:nvSpPr>
        <p:spPr>
          <a:xfrm>
            <a:off x="827088" y="2276475"/>
            <a:ext cx="7200900" cy="3095625"/>
          </a:xfrm>
          <a:noFill/>
        </p:spPr>
        <p:txBody>
          <a:bodyPr lIns="90488" tIns="44450" rIns="90488" bIns="44450"/>
          <a:lstStyle/>
          <a:p>
            <a:pPr marL="609600" indent="-609600" algn="just" eaLnBrk="1" hangingPunct="1">
              <a:lnSpc>
                <a:spcPct val="135000"/>
              </a:lnSpc>
              <a:spcBef>
                <a:spcPct val="45000"/>
              </a:spcBef>
              <a:buFontTx/>
              <a:buNone/>
            </a:pPr>
            <a:r>
              <a:rPr lang="en-US" altLang="zh-CN" dirty="0">
                <a:solidFill>
                  <a:srgbClr val="000000"/>
                </a:solidFill>
                <a:latin typeface="Times New Roman" pitchFamily="18" charset="0"/>
              </a:rPr>
              <a:t>(</a:t>
            </a:r>
            <a:r>
              <a:rPr lang="en-US" altLang="zh-CN" dirty="0" smtClean="0">
                <a:solidFill>
                  <a:srgbClr val="000000"/>
                </a:solidFill>
                <a:latin typeface="Times New Roman" pitchFamily="18" charset="0"/>
              </a:rPr>
              <a:t>1)</a:t>
            </a:r>
            <a:r>
              <a:rPr lang="zh-CN" altLang="en-US" dirty="0" smtClean="0">
                <a:solidFill>
                  <a:srgbClr val="000000"/>
                </a:solidFill>
                <a:latin typeface="宋体" pitchFamily="2" charset="-122"/>
              </a:rPr>
              <a:t>移动</a:t>
            </a:r>
            <a:r>
              <a:rPr lang="zh-CN" altLang="en-US" dirty="0" smtClean="0">
                <a:solidFill>
                  <a:srgbClr val="000000"/>
                </a:solidFill>
                <a:latin typeface="宋体" pitchFamily="2" charset="-122"/>
              </a:rPr>
              <a:t>平均对数列具有平滑修匀作用，</a:t>
            </a:r>
            <a:r>
              <a:rPr lang="zh-CN" altLang="en-US" dirty="0" smtClean="0">
                <a:latin typeface="宋体" pitchFamily="2" charset="-122"/>
              </a:rPr>
              <a:t>平均项数（</a:t>
            </a:r>
            <a:r>
              <a:rPr lang="en-US" altLang="zh-CN" dirty="0" smtClean="0">
                <a:latin typeface="宋体" pitchFamily="2" charset="-122"/>
              </a:rPr>
              <a:t>K</a:t>
            </a:r>
            <a:r>
              <a:rPr lang="zh-CN" altLang="en-US" dirty="0" smtClean="0">
                <a:latin typeface="宋体" pitchFamily="2" charset="-122"/>
              </a:rPr>
              <a:t>）越大</a:t>
            </a:r>
            <a:r>
              <a:rPr lang="zh-CN" altLang="en-US" dirty="0" smtClean="0">
                <a:solidFill>
                  <a:srgbClr val="000000"/>
                </a:solidFill>
                <a:latin typeface="宋体" pitchFamily="2" charset="-122"/>
              </a:rPr>
              <a:t>，对数列的</a:t>
            </a:r>
            <a:r>
              <a:rPr lang="zh-CN" altLang="en-US" dirty="0" smtClean="0">
                <a:solidFill>
                  <a:srgbClr val="FF00FF"/>
                </a:solidFill>
                <a:latin typeface="宋体" pitchFamily="2" charset="-122"/>
              </a:rPr>
              <a:t>平滑修匀作用越强</a:t>
            </a:r>
            <a:r>
              <a:rPr lang="zh-CN" altLang="en-US" dirty="0" smtClean="0">
                <a:solidFill>
                  <a:srgbClr val="000000"/>
                </a:solidFill>
                <a:latin typeface="宋体" pitchFamily="2" charset="-122"/>
              </a:rPr>
              <a:t>； </a:t>
            </a:r>
            <a:r>
              <a:rPr lang="zh-CN" altLang="en-US" dirty="0" smtClean="0">
                <a:solidFill>
                  <a:schemeClr val="bg2"/>
                </a:solidFill>
                <a:latin typeface="Times New Roman" pitchFamily="18" charset="0"/>
              </a:rPr>
              <a:t>（见下图）</a:t>
            </a:r>
          </a:p>
        </p:txBody>
      </p:sp>
      <p:sp>
        <p:nvSpPr>
          <p:cNvPr id="118789" name="日期占位符 4"/>
          <p:cNvSpPr>
            <a:spLocks noGrp="1"/>
          </p:cNvSpPr>
          <p:nvPr>
            <p:ph type="dt" sz="quarter" idx="10"/>
          </p:nvPr>
        </p:nvSpPr>
        <p:spPr>
          <a:noFill/>
        </p:spPr>
        <p:txBody>
          <a:bodyPr/>
          <a:lstStyle/>
          <a:p>
            <a:endParaRPr lang="en-US" altLang="zh-CN" smtClean="0"/>
          </a:p>
        </p:txBody>
      </p:sp>
    </p:spTree>
  </p:cSld>
  <p:clrMapOvr>
    <a:masterClrMapping/>
  </p:clrMapOvr>
  <p:transition>
    <p:wipe dir="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857250" y="332706"/>
            <a:ext cx="8035230" cy="785795"/>
          </a:xfrm>
        </p:spPr>
        <p:txBody>
          <a:bodyPr/>
          <a:lstStyle/>
          <a:p>
            <a:pPr eaLnBrk="1" hangingPunct="1"/>
            <a:r>
              <a:rPr lang="zh-CN" altLang="en-US" dirty="0" smtClean="0"/>
              <a:t>均线图</a:t>
            </a:r>
            <a:r>
              <a:rPr lang="zh-CN" altLang="en-US" sz="3200" dirty="0" smtClean="0">
                <a:solidFill>
                  <a:srgbClr val="0070C0"/>
                </a:solidFill>
              </a:rPr>
              <a:t>（</a:t>
            </a:r>
            <a:r>
              <a:rPr lang="zh-CN" altLang="en-US" sz="3200" dirty="0">
                <a:solidFill>
                  <a:srgbClr val="0070C0"/>
                </a:solidFill>
              </a:rPr>
              <a:t>上证</a:t>
            </a:r>
            <a:r>
              <a:rPr lang="zh-CN" altLang="en-US" sz="3200" dirty="0" smtClean="0">
                <a:solidFill>
                  <a:srgbClr val="0070C0"/>
                </a:solidFill>
              </a:rPr>
              <a:t>指数</a:t>
            </a:r>
            <a:r>
              <a:rPr lang="zh-CN" altLang="en-US" sz="3200" dirty="0" smtClean="0">
                <a:solidFill>
                  <a:srgbClr val="0070C0"/>
                </a:solidFill>
              </a:rPr>
              <a:t>日</a:t>
            </a:r>
            <a:r>
              <a:rPr lang="en-US" altLang="zh-CN" sz="3200" dirty="0" smtClean="0">
                <a:solidFill>
                  <a:srgbClr val="0070C0"/>
                </a:solidFill>
              </a:rPr>
              <a:t>K</a:t>
            </a:r>
            <a:r>
              <a:rPr lang="zh-CN" altLang="en-US" sz="3200" dirty="0" smtClean="0">
                <a:solidFill>
                  <a:srgbClr val="0070C0"/>
                </a:solidFill>
              </a:rPr>
              <a:t>线与均线）</a:t>
            </a:r>
            <a:endParaRPr lang="zh-CN" altLang="en-US" sz="3200" dirty="0" smtClean="0">
              <a:solidFill>
                <a:srgbClr val="0070C0"/>
              </a:solidFill>
            </a:endParaRPr>
          </a:p>
        </p:txBody>
      </p:sp>
      <p:pic>
        <p:nvPicPr>
          <p:cNvPr id="3" name="图片 2"/>
          <p:cNvPicPr>
            <a:picLocks noChangeAspect="1"/>
          </p:cNvPicPr>
          <p:nvPr/>
        </p:nvPicPr>
        <p:blipFill>
          <a:blip r:embed="rId2"/>
          <a:stretch>
            <a:fillRect/>
          </a:stretch>
        </p:blipFill>
        <p:spPr>
          <a:xfrm>
            <a:off x="235485" y="1052736"/>
            <a:ext cx="8656995" cy="5181202"/>
          </a:xfrm>
          <a:prstGeom prst="rect">
            <a:avLst/>
          </a:prstGeom>
        </p:spPr>
      </p:pic>
    </p:spTree>
  </p:cSld>
  <p:clrMapOvr>
    <a:masterClrMapping/>
  </p:clrMapOv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0835" name="Rectangle 2"/>
          <p:cNvSpPr>
            <a:spLocks noGrp="1" noChangeArrowheads="1"/>
          </p:cNvSpPr>
          <p:nvPr>
            <p:ph type="title"/>
          </p:nvPr>
        </p:nvSpPr>
        <p:spPr>
          <a:xfrm>
            <a:off x="1403350" y="549275"/>
            <a:ext cx="7200900" cy="1143000"/>
          </a:xfrm>
        </p:spPr>
        <p:txBody>
          <a:bodyPr lIns="90488" tIns="44450" rIns="90488" bIns="44450" anchor="ctr" anchorCtr="1"/>
          <a:lstStyle/>
          <a:p>
            <a:pPr eaLnBrk="1" hangingPunct="1"/>
            <a:r>
              <a:rPr lang="zh-CN" altLang="en-US" sz="4000" dirty="0" smtClean="0"/>
              <a:t>移动平均法的</a:t>
            </a:r>
            <a:r>
              <a:rPr lang="zh-CN" altLang="en-US" sz="3600" dirty="0" smtClean="0"/>
              <a:t>特点   </a:t>
            </a:r>
            <a:r>
              <a:rPr lang="en-US" altLang="zh-CN" sz="3600" dirty="0" smtClean="0">
                <a:latin typeface="Times New Roman" pitchFamily="18" charset="0"/>
              </a:rPr>
              <a:t>(</a:t>
            </a:r>
            <a:r>
              <a:rPr lang="zh-CN" altLang="en-US" sz="3600" dirty="0" smtClean="0">
                <a:latin typeface="Times New Roman" pitchFamily="18" charset="0"/>
              </a:rPr>
              <a:t>续</a:t>
            </a:r>
            <a:r>
              <a:rPr lang="en-US" altLang="zh-CN" sz="3600" dirty="0" smtClean="0">
                <a:latin typeface="Times New Roman" pitchFamily="18" charset="0"/>
              </a:rPr>
              <a:t>)</a:t>
            </a:r>
          </a:p>
        </p:txBody>
      </p:sp>
      <p:sp>
        <p:nvSpPr>
          <p:cNvPr id="120836" name="Rectangle 3"/>
          <p:cNvSpPr>
            <a:spLocks noGrp="1" noChangeArrowheads="1"/>
          </p:cNvSpPr>
          <p:nvPr>
            <p:ph type="body" idx="1"/>
          </p:nvPr>
        </p:nvSpPr>
        <p:spPr>
          <a:xfrm>
            <a:off x="468313" y="1773238"/>
            <a:ext cx="8382000" cy="4495800"/>
          </a:xfrm>
          <a:noFill/>
        </p:spPr>
        <p:txBody>
          <a:bodyPr lIns="90488" tIns="44450" rIns="90488" bIns="44450"/>
          <a:lstStyle/>
          <a:p>
            <a:pPr marL="609600" indent="-609600" algn="just" eaLnBrk="1" hangingPunct="1">
              <a:lnSpc>
                <a:spcPct val="120000"/>
              </a:lnSpc>
              <a:spcBef>
                <a:spcPct val="33000"/>
              </a:spcBef>
              <a:buFontTx/>
              <a:buNone/>
            </a:pPr>
            <a:r>
              <a:rPr lang="en-US" altLang="zh-CN" dirty="0" smtClean="0">
                <a:solidFill>
                  <a:srgbClr val="000000"/>
                </a:solidFill>
                <a:latin typeface="Times New Roman" pitchFamily="18" charset="0"/>
              </a:rPr>
              <a:t>(2)</a:t>
            </a:r>
            <a:r>
              <a:rPr lang="zh-CN" altLang="en-US" dirty="0" smtClean="0">
                <a:latin typeface="Times New Roman" pitchFamily="18" charset="0"/>
              </a:rPr>
              <a:t>移动</a:t>
            </a:r>
            <a:r>
              <a:rPr lang="zh-CN" altLang="en-US" dirty="0" smtClean="0">
                <a:latin typeface="Times New Roman" pitchFamily="18" charset="0"/>
              </a:rPr>
              <a:t>平均数应放在所平均时间的中间位置（作为中间一期的代表值或趋势值）；</a:t>
            </a:r>
          </a:p>
          <a:p>
            <a:pPr marL="1219200" lvl="1" indent="-533400" algn="just" eaLnBrk="1" hangingPunct="1">
              <a:lnSpc>
                <a:spcPct val="120000"/>
              </a:lnSpc>
              <a:spcBef>
                <a:spcPct val="33000"/>
              </a:spcBef>
            </a:pPr>
            <a:r>
              <a:rPr lang="zh-CN" altLang="en-US" dirty="0" smtClean="0">
                <a:latin typeface="Times New Roman" pitchFamily="18" charset="0"/>
              </a:rPr>
              <a:t>当</a:t>
            </a:r>
            <a:r>
              <a:rPr lang="en-US" altLang="zh-CN" dirty="0" smtClean="0">
                <a:latin typeface="Times New Roman" pitchFamily="18" charset="0"/>
              </a:rPr>
              <a:t>K</a:t>
            </a:r>
            <a:r>
              <a:rPr lang="zh-CN" altLang="en-US" dirty="0" smtClean="0">
                <a:latin typeface="Times New Roman" pitchFamily="18" charset="0"/>
              </a:rPr>
              <a:t>为奇数，只需一次移动平均；</a:t>
            </a:r>
          </a:p>
          <a:p>
            <a:pPr marL="1219200" lvl="1" indent="-533400" algn="just" eaLnBrk="1" hangingPunct="1">
              <a:lnSpc>
                <a:spcPct val="120000"/>
              </a:lnSpc>
              <a:spcBef>
                <a:spcPct val="33000"/>
              </a:spcBef>
            </a:pPr>
            <a:r>
              <a:rPr lang="en-US" altLang="zh-CN" dirty="0" smtClean="0">
                <a:latin typeface="Times New Roman" pitchFamily="18" charset="0"/>
              </a:rPr>
              <a:t>K</a:t>
            </a:r>
            <a:r>
              <a:rPr lang="zh-CN" altLang="en-US" dirty="0" smtClean="0">
                <a:latin typeface="Times New Roman" pitchFamily="18" charset="0"/>
              </a:rPr>
              <a:t>为偶数，需再进行二项移动平均即移正平均（或中心化）</a:t>
            </a:r>
            <a:r>
              <a:rPr lang="zh-CN" altLang="en-US" dirty="0" smtClean="0">
                <a:solidFill>
                  <a:schemeClr val="bg2"/>
                </a:solidFill>
                <a:latin typeface="Times New Roman" pitchFamily="18" charset="0"/>
              </a:rPr>
              <a:t>（见下表）</a:t>
            </a:r>
            <a:r>
              <a:rPr lang="zh-CN" altLang="en-US" dirty="0" smtClean="0">
                <a:latin typeface="Times New Roman" pitchFamily="18" charset="0"/>
              </a:rPr>
              <a:t>。</a:t>
            </a:r>
          </a:p>
        </p:txBody>
      </p:sp>
      <p:sp>
        <p:nvSpPr>
          <p:cNvPr id="120837" name="日期占位符 4"/>
          <p:cNvSpPr>
            <a:spLocks noGrp="1"/>
          </p:cNvSpPr>
          <p:nvPr>
            <p:ph type="dt" sz="quarter" idx="10"/>
          </p:nvPr>
        </p:nvSpPr>
        <p:spPr>
          <a:noFill/>
        </p:spPr>
        <p:txBody>
          <a:bodyPr/>
          <a:lstStyle/>
          <a:p>
            <a:endParaRPr lang="en-US" altLang="zh-CN" smtClean="0"/>
          </a:p>
        </p:txBody>
      </p:sp>
    </p:spTree>
  </p:cSld>
  <p:clrMapOvr>
    <a:masterClrMapping/>
  </p:clrMapOvr>
  <p:transition>
    <p:wipe dir="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a:xfrm>
            <a:off x="5929313" y="642938"/>
            <a:ext cx="2928937" cy="1576387"/>
          </a:xfrm>
        </p:spPr>
        <p:txBody>
          <a:bodyPr/>
          <a:lstStyle/>
          <a:p>
            <a:pPr eaLnBrk="1" hangingPunct="1"/>
            <a:r>
              <a:rPr lang="zh-CN" altLang="en-US" sz="4000" dirty="0" smtClean="0"/>
              <a:t>例</a:t>
            </a:r>
            <a:r>
              <a:rPr lang="en-US" altLang="zh-CN" sz="4000" dirty="0" smtClean="0"/>
              <a:t/>
            </a:r>
            <a:br>
              <a:rPr lang="en-US" altLang="zh-CN" sz="4000" dirty="0" smtClean="0"/>
            </a:br>
            <a:r>
              <a:rPr lang="zh-CN" altLang="en-US" sz="4000" dirty="0" smtClean="0"/>
              <a:t>（偶数项移动平均）</a:t>
            </a:r>
          </a:p>
        </p:txBody>
      </p:sp>
      <p:graphicFrame>
        <p:nvGraphicFramePr>
          <p:cNvPr id="186498" name="Group 130"/>
          <p:cNvGraphicFramePr>
            <a:graphicFrameLocks noGrp="1"/>
          </p:cNvGraphicFramePr>
          <p:nvPr>
            <p:extLst>
              <p:ext uri="{D42A27DB-BD31-4B8C-83A1-F6EECF244321}">
                <p14:modId xmlns:p14="http://schemas.microsoft.com/office/powerpoint/2010/main" val="1064288689"/>
              </p:ext>
            </p:extLst>
          </p:nvPr>
        </p:nvGraphicFramePr>
        <p:xfrm>
          <a:off x="828675" y="133350"/>
          <a:ext cx="3598863" cy="6773231"/>
        </p:xfrm>
        <a:graphic>
          <a:graphicData uri="http://schemas.openxmlformats.org/drawingml/2006/table">
            <a:tbl>
              <a:tblPr/>
              <a:tblGrid>
                <a:gridCol w="1028700">
                  <a:extLst>
                    <a:ext uri="{9D8B030D-6E8A-4147-A177-3AD203B41FA5}">
                      <a16:colId xmlns:a16="http://schemas.microsoft.com/office/drawing/2014/main" val="20000"/>
                    </a:ext>
                  </a:extLst>
                </a:gridCol>
                <a:gridCol w="1284288">
                  <a:extLst>
                    <a:ext uri="{9D8B030D-6E8A-4147-A177-3AD203B41FA5}">
                      <a16:colId xmlns:a16="http://schemas.microsoft.com/office/drawing/2014/main" val="20001"/>
                    </a:ext>
                  </a:extLst>
                </a:gridCol>
                <a:gridCol w="1285875">
                  <a:extLst>
                    <a:ext uri="{9D8B030D-6E8A-4147-A177-3AD203B41FA5}">
                      <a16:colId xmlns:a16="http://schemas.microsoft.com/office/drawing/2014/main" val="20002"/>
                    </a:ext>
                  </a:extLst>
                </a:gridCol>
              </a:tblGrid>
              <a:tr h="847725">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chemeClr val="tx1"/>
                          </a:solidFill>
                          <a:effectLst/>
                          <a:latin typeface="宋体" pitchFamily="2" charset="-122"/>
                          <a:ea typeface="宋体" pitchFamily="2" charset="-122"/>
                        </a:rPr>
                        <a:t>季别</a:t>
                      </a:r>
                      <a:endParaRPr kumimoji="0" lang="zh-CN" altLang="en-US" sz="1800" b="1"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zh-CN" altLang="en-US" sz="1600" b="1" i="0" u="none" strike="noStrike" cap="none" normalizeH="0" baseline="0" dirty="0" smtClean="0">
                          <a:ln>
                            <a:noFill/>
                          </a:ln>
                          <a:solidFill>
                            <a:srgbClr val="000000"/>
                          </a:solidFill>
                          <a:effectLst/>
                          <a:latin typeface="宋体" pitchFamily="2" charset="-122"/>
                          <a:ea typeface="宋体" pitchFamily="2" charset="-122"/>
                        </a:rPr>
                        <a:t>商品零售量（万件）</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3698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chemeClr val="tx1"/>
                          </a:solidFill>
                          <a:effectLst/>
                          <a:latin typeface="宋体" pitchFamily="2" charset="-122"/>
                          <a:ea typeface="宋体" pitchFamily="2" charset="-122"/>
                        </a:rPr>
                        <a:t>一</a:t>
                      </a:r>
                      <a:r>
                        <a:rPr kumimoji="0" lang="en-US" altLang="zh-CN" sz="1800" b="1" i="0" u="none" strike="noStrike" cap="none" normalizeH="0" baseline="0" smtClean="0">
                          <a:ln>
                            <a:noFill/>
                          </a:ln>
                          <a:solidFill>
                            <a:schemeClr val="tx1"/>
                          </a:solidFill>
                          <a:effectLst/>
                          <a:latin typeface="宋体" pitchFamily="2" charset="-122"/>
                          <a:ea typeface="宋体" pitchFamily="2" charset="-122"/>
                        </a:rPr>
                        <a:t>/1</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000000"/>
                          </a:solidFill>
                          <a:effectLst/>
                          <a:latin typeface="宋体" pitchFamily="2" charset="-122"/>
                          <a:ea typeface="宋体" pitchFamily="2" charset="-122"/>
                        </a:rPr>
                        <a:t>13.3 </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solidFill>
                      <a:schemeClr val="tx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349250">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2</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FF6600"/>
                          </a:solidFill>
                          <a:effectLst/>
                          <a:latin typeface="宋体" pitchFamily="2" charset="-122"/>
                          <a:ea typeface="宋体" pitchFamily="2" charset="-122"/>
                        </a:rPr>
                        <a:t>18.2 </a:t>
                      </a:r>
                      <a:endParaRPr kumimoji="0" lang="en-US" altLang="zh-CN" sz="1800" b="0" i="0" u="none" strike="noStrike" cap="none" normalizeH="0" baseline="0" smtClean="0">
                        <a:ln>
                          <a:noFill/>
                        </a:ln>
                        <a:solidFill>
                          <a:srgbClr val="FF66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tx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371475">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3</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FF00FF"/>
                          </a:solidFill>
                          <a:effectLst/>
                          <a:latin typeface="宋体" pitchFamily="2" charset="-122"/>
                          <a:ea typeface="宋体" pitchFamily="2" charset="-122"/>
                        </a:rPr>
                        <a:t>5.4 </a:t>
                      </a:r>
                      <a:endParaRPr kumimoji="0" lang="en-US" altLang="zh-CN" sz="1800" b="0" i="0" u="none" strike="noStrike" cap="none" normalizeH="0" baseline="0" smtClean="0">
                        <a:ln>
                          <a:noFill/>
                        </a:ln>
                        <a:solidFill>
                          <a:srgbClr val="FF00FF"/>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tx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rgbClr val="FF0066"/>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3698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4</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宋体" pitchFamily="2" charset="-122"/>
                          <a:ea typeface="宋体" pitchFamily="2" charset="-122"/>
                        </a:rPr>
                        <a:t>8.1 </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tx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387350">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chemeClr val="tx1"/>
                          </a:solidFill>
                          <a:effectLst/>
                          <a:latin typeface="宋体" pitchFamily="2" charset="-122"/>
                          <a:ea typeface="宋体" pitchFamily="2" charset="-122"/>
                        </a:rPr>
                        <a:t>二</a:t>
                      </a:r>
                      <a:r>
                        <a:rPr kumimoji="0" lang="en-US" altLang="zh-CN" sz="1800" b="1" i="0" u="none" strike="noStrike" cap="none" normalizeH="0" baseline="0" smtClean="0">
                          <a:ln>
                            <a:noFill/>
                          </a:ln>
                          <a:solidFill>
                            <a:schemeClr val="tx1"/>
                          </a:solidFill>
                          <a:effectLst/>
                          <a:latin typeface="宋体" pitchFamily="2" charset="-122"/>
                          <a:ea typeface="宋体" pitchFamily="2" charset="-122"/>
                        </a:rPr>
                        <a:t>/1</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000000"/>
                          </a:solidFill>
                          <a:effectLst/>
                          <a:latin typeface="宋体" pitchFamily="2" charset="-122"/>
                          <a:ea typeface="宋体" pitchFamily="2" charset="-122"/>
                        </a:rPr>
                        <a:t>15.8 </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tx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bg1">
                        <a:lumMod val="95000"/>
                      </a:schemeClr>
                    </a:solidFill>
                  </a:tcPr>
                </a:tc>
                <a:extLst>
                  <a:ext uri="{0D108BD9-81ED-4DB2-BD59-A6C34878D82A}">
                    <a16:rowId xmlns:a16="http://schemas.microsoft.com/office/drawing/2014/main" val="10005"/>
                  </a:ext>
                </a:extLst>
              </a:tr>
              <a:tr h="36353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2</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000000"/>
                          </a:solidFill>
                          <a:effectLst/>
                          <a:latin typeface="宋体" pitchFamily="2" charset="-122"/>
                          <a:ea typeface="宋体" pitchFamily="2" charset="-122"/>
                        </a:rPr>
                        <a:t>20.4 </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tx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bg1">
                        <a:lumMod val="95000"/>
                      </a:schemeClr>
                    </a:solidFill>
                  </a:tcPr>
                </a:tc>
                <a:extLst>
                  <a:ext uri="{0D108BD9-81ED-4DB2-BD59-A6C34878D82A}">
                    <a16:rowId xmlns:a16="http://schemas.microsoft.com/office/drawing/2014/main" val="10006"/>
                  </a:ext>
                </a:extLst>
              </a:tr>
              <a:tr h="3698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3</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000000"/>
                          </a:solidFill>
                          <a:effectLst/>
                          <a:latin typeface="宋体" pitchFamily="2" charset="-122"/>
                          <a:ea typeface="宋体" pitchFamily="2" charset="-122"/>
                        </a:rPr>
                        <a:t>7.6 </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tx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bg1">
                        <a:lumMod val="95000"/>
                      </a:schemeClr>
                    </a:solidFill>
                  </a:tcPr>
                </a:tc>
                <a:extLst>
                  <a:ext uri="{0D108BD9-81ED-4DB2-BD59-A6C34878D82A}">
                    <a16:rowId xmlns:a16="http://schemas.microsoft.com/office/drawing/2014/main" val="10007"/>
                  </a:ext>
                </a:extLst>
              </a:tr>
              <a:tr h="342900">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4</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000000"/>
                          </a:solidFill>
                          <a:effectLst/>
                          <a:latin typeface="宋体" pitchFamily="2" charset="-122"/>
                          <a:ea typeface="宋体" pitchFamily="2" charset="-122"/>
                        </a:rPr>
                        <a:t>9.9 </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tx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bg1">
                        <a:lumMod val="95000"/>
                      </a:schemeClr>
                    </a:solidFill>
                  </a:tcPr>
                </a:tc>
                <a:extLst>
                  <a:ext uri="{0D108BD9-81ED-4DB2-BD59-A6C34878D82A}">
                    <a16:rowId xmlns:a16="http://schemas.microsoft.com/office/drawing/2014/main" val="10008"/>
                  </a:ext>
                </a:extLst>
              </a:tr>
              <a:tr h="3698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chemeClr val="tx1"/>
                          </a:solidFill>
                          <a:effectLst/>
                          <a:latin typeface="宋体" pitchFamily="2" charset="-122"/>
                          <a:ea typeface="宋体" pitchFamily="2" charset="-122"/>
                        </a:rPr>
                        <a:t>三</a:t>
                      </a: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000000"/>
                          </a:solidFill>
                          <a:effectLst/>
                          <a:latin typeface="宋体" pitchFamily="2" charset="-122"/>
                          <a:ea typeface="宋体" pitchFamily="2" charset="-122"/>
                        </a:rPr>
                        <a:t>18.2 </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tx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bg1">
                        <a:lumMod val="95000"/>
                      </a:schemeClr>
                    </a:solidFill>
                  </a:tcPr>
                </a:tc>
                <a:extLst>
                  <a:ext uri="{0D108BD9-81ED-4DB2-BD59-A6C34878D82A}">
                    <a16:rowId xmlns:a16="http://schemas.microsoft.com/office/drawing/2014/main" val="10009"/>
                  </a:ext>
                </a:extLst>
              </a:tr>
              <a:tr h="371475">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2</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000000"/>
                          </a:solidFill>
                          <a:effectLst/>
                          <a:latin typeface="宋体" pitchFamily="2" charset="-122"/>
                          <a:ea typeface="宋体" pitchFamily="2" charset="-122"/>
                        </a:rPr>
                        <a:t>22.7 </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tx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bg1">
                        <a:lumMod val="95000"/>
                      </a:schemeClr>
                    </a:solidFill>
                  </a:tcPr>
                </a:tc>
                <a:extLst>
                  <a:ext uri="{0D108BD9-81ED-4DB2-BD59-A6C34878D82A}">
                    <a16:rowId xmlns:a16="http://schemas.microsoft.com/office/drawing/2014/main" val="10010"/>
                  </a:ext>
                </a:extLst>
              </a:tr>
              <a:tr h="371475">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3</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000000"/>
                          </a:solidFill>
                          <a:effectLst/>
                          <a:latin typeface="宋体" pitchFamily="2" charset="-122"/>
                          <a:ea typeface="宋体" pitchFamily="2" charset="-122"/>
                        </a:rPr>
                        <a:t>9.6 </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tx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bg1">
                        <a:lumMod val="95000"/>
                      </a:schemeClr>
                    </a:solidFill>
                  </a:tcPr>
                </a:tc>
                <a:extLst>
                  <a:ext uri="{0D108BD9-81ED-4DB2-BD59-A6C34878D82A}">
                    <a16:rowId xmlns:a16="http://schemas.microsoft.com/office/drawing/2014/main" val="10011"/>
                  </a:ext>
                </a:extLst>
              </a:tr>
              <a:tr h="3698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4</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000000"/>
                          </a:solidFill>
                          <a:effectLst/>
                          <a:latin typeface="宋体" pitchFamily="2" charset="-122"/>
                          <a:ea typeface="宋体" pitchFamily="2" charset="-122"/>
                        </a:rPr>
                        <a:t>12.0 </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tx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bg1">
                        <a:lumMod val="95000"/>
                      </a:schemeClr>
                    </a:solidFill>
                  </a:tcPr>
                </a:tc>
                <a:extLst>
                  <a:ext uri="{0D108BD9-81ED-4DB2-BD59-A6C34878D82A}">
                    <a16:rowId xmlns:a16="http://schemas.microsoft.com/office/drawing/2014/main" val="10012"/>
                  </a:ext>
                </a:extLst>
              </a:tr>
              <a:tr h="3698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chemeClr val="tx1"/>
                          </a:solidFill>
                          <a:effectLst/>
                          <a:latin typeface="宋体" pitchFamily="2" charset="-122"/>
                          <a:ea typeface="宋体" pitchFamily="2" charset="-122"/>
                        </a:rPr>
                        <a:t>四</a:t>
                      </a: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000000"/>
                          </a:solidFill>
                          <a:effectLst/>
                          <a:latin typeface="宋体" pitchFamily="2" charset="-122"/>
                          <a:ea typeface="宋体" pitchFamily="2" charset="-122"/>
                        </a:rPr>
                        <a:t>20.7 </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tx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bg1">
                        <a:lumMod val="95000"/>
                      </a:schemeClr>
                    </a:solidFill>
                  </a:tcPr>
                </a:tc>
                <a:extLst>
                  <a:ext uri="{0D108BD9-81ED-4DB2-BD59-A6C34878D82A}">
                    <a16:rowId xmlns:a16="http://schemas.microsoft.com/office/drawing/2014/main" val="10013"/>
                  </a:ext>
                </a:extLst>
              </a:tr>
              <a:tr h="371475">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2</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000000"/>
                          </a:solidFill>
                          <a:effectLst/>
                          <a:latin typeface="宋体" pitchFamily="2" charset="-122"/>
                          <a:ea typeface="宋体" pitchFamily="2" charset="-122"/>
                        </a:rPr>
                        <a:t>24.8 </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tx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bg1">
                        <a:lumMod val="95000"/>
                      </a:schemeClr>
                    </a:solidFill>
                  </a:tcPr>
                </a:tc>
                <a:extLst>
                  <a:ext uri="{0D108BD9-81ED-4DB2-BD59-A6C34878D82A}">
                    <a16:rowId xmlns:a16="http://schemas.microsoft.com/office/drawing/2014/main" val="10014"/>
                  </a:ext>
                </a:extLst>
              </a:tr>
              <a:tr h="3698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3</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000000"/>
                          </a:solidFill>
                          <a:effectLst/>
                          <a:latin typeface="宋体" pitchFamily="2" charset="-122"/>
                          <a:ea typeface="宋体" pitchFamily="2" charset="-122"/>
                        </a:rPr>
                        <a:t>11.7 </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tx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bg1">
                        <a:lumMod val="95000"/>
                      </a:schemeClr>
                    </a:solidFill>
                  </a:tcPr>
                </a:tc>
                <a:extLst>
                  <a:ext uri="{0D108BD9-81ED-4DB2-BD59-A6C34878D82A}">
                    <a16:rowId xmlns:a16="http://schemas.microsoft.com/office/drawing/2014/main" val="10015"/>
                  </a:ext>
                </a:extLst>
              </a:tr>
              <a:tr h="355600">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4</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000000"/>
                          </a:solidFill>
                          <a:effectLst/>
                          <a:latin typeface="宋体" pitchFamily="2" charset="-122"/>
                          <a:ea typeface="宋体" pitchFamily="2" charset="-122"/>
                        </a:rPr>
                        <a:t>14.1 </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solidFill>
                      <a:schemeClr val="tx1">
                        <a:lumMod val="20000"/>
                        <a:lumOff val="8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6"/>
                  </a:ext>
                </a:extLst>
              </a:tr>
            </a:tbl>
          </a:graphicData>
        </a:graphic>
      </p:graphicFrame>
      <p:graphicFrame>
        <p:nvGraphicFramePr>
          <p:cNvPr id="186511" name="Group 143"/>
          <p:cNvGraphicFramePr>
            <a:graphicFrameLocks noGrp="1"/>
          </p:cNvGraphicFramePr>
          <p:nvPr>
            <p:extLst>
              <p:ext uri="{D42A27DB-BD31-4B8C-83A1-F6EECF244321}">
                <p14:modId xmlns:p14="http://schemas.microsoft.com/office/powerpoint/2010/main" val="4129547473"/>
              </p:ext>
            </p:extLst>
          </p:nvPr>
        </p:nvGraphicFramePr>
        <p:xfrm>
          <a:off x="2931506" y="891793"/>
          <a:ext cx="1509712" cy="6048759"/>
        </p:xfrm>
        <a:graphic>
          <a:graphicData uri="http://schemas.openxmlformats.org/drawingml/2006/table">
            <a:tbl>
              <a:tblPr/>
              <a:tblGrid>
                <a:gridCol w="1509712">
                  <a:extLst>
                    <a:ext uri="{9D8B030D-6E8A-4147-A177-3AD203B41FA5}">
                      <a16:colId xmlns:a16="http://schemas.microsoft.com/office/drawing/2014/main" val="20000"/>
                    </a:ext>
                  </a:extLst>
                </a:gridCol>
              </a:tblGrid>
              <a:tr h="774700">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endParaRPr kumimoji="0" lang="zh-CN" altLang="zh-CN" sz="2000" b="1" i="0" u="none" strike="noStrike" cap="none" normalizeH="0" baseline="0" dirty="0" smtClean="0">
                        <a:ln>
                          <a:noFill/>
                        </a:ln>
                        <a:solidFill>
                          <a:srgbClr val="CC0099"/>
                        </a:solidFill>
                        <a:effectLst/>
                        <a:latin typeface="Tahoma" pitchFamily="34" charset="0"/>
                        <a:ea typeface="宋体" pitchFamily="2" charset="-122"/>
                      </a:endParaRPr>
                    </a:p>
                  </a:txBody>
                  <a:tcPr anchor="b" horzOverflow="overflow">
                    <a:lnL cap="flat">
                      <a:noFill/>
                    </a:lnL>
                    <a:lnR cap="flat">
                      <a:noFill/>
                    </a:lnR>
                    <a:lnT cap="flat">
                      <a:noFill/>
                    </a:lnT>
                    <a:lnB>
                      <a:noFill/>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376238">
                <a:tc>
                  <a:txBody>
                    <a:bodyPr/>
                    <a:lstStyle/>
                    <a:p>
                      <a:pPr marL="0" marR="0" lvl="0" indent="0" algn="ctr" defTabSz="914400" rtl="0" eaLnBrk="1" fontAlgn="t" latinLnBrk="0" hangingPunct="1">
                        <a:lnSpc>
                          <a:spcPct val="100000"/>
                        </a:lnSpc>
                        <a:spcBef>
                          <a:spcPct val="0"/>
                        </a:spcBef>
                        <a:spcAft>
                          <a:spcPct val="0"/>
                        </a:spcAft>
                        <a:buClrTx/>
                        <a:buSzTx/>
                        <a:buFontTx/>
                        <a:buNone/>
                        <a:tabLst/>
                      </a:pPr>
                      <a:endParaRPr kumimoji="0" lang="zh-CN" altLang="zh-CN" sz="1800" b="1" i="0" u="none" strike="noStrike" cap="none" normalizeH="0" baseline="0" smtClean="0">
                        <a:ln>
                          <a:noFill/>
                        </a:ln>
                        <a:solidFill>
                          <a:srgbClr val="3333FF"/>
                        </a:solidFill>
                        <a:effectLst/>
                        <a:latin typeface="Arial" charset="0"/>
                        <a:ea typeface="宋体" pitchFamily="2" charset="-122"/>
                      </a:endParaRPr>
                    </a:p>
                  </a:txBody>
                  <a:tcPr horzOverflow="overflow">
                    <a:lnL cap="flat">
                      <a:noFill/>
                    </a:lnL>
                    <a:lnR cap="flat">
                      <a:noFill/>
                    </a:lnR>
                    <a:lnT>
                      <a:noFill/>
                    </a:lnT>
                    <a:lnB>
                      <a:noFill/>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328613">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11.9 </a:t>
                      </a:r>
                      <a:endParaRPr kumimoji="0" lang="en-US" altLang="zh-CN" sz="1800" b="1" i="0" u="none" strike="noStrike" cap="none" normalizeH="0" baseline="0" smtClean="0">
                        <a:ln>
                          <a:noFill/>
                        </a:ln>
                        <a:solidFill>
                          <a:schemeClr val="tx1"/>
                        </a:solidFill>
                        <a:effectLst/>
                        <a:latin typeface="Arial" charset="0"/>
                        <a:ea typeface="宋体" pitchFamily="2" charset="-122"/>
                      </a:endParaRPr>
                    </a:p>
                  </a:txBody>
                  <a:tcPr horzOverflow="overflow">
                    <a:lnL cap="flat">
                      <a:noFill/>
                    </a:lnL>
                    <a:lnR cap="flat">
                      <a:noFill/>
                    </a:lnR>
                    <a:lnT>
                      <a:noFill/>
                    </a:lnT>
                    <a:lnB>
                      <a:noFill/>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414338">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12.4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horzOverflow="overflow">
                    <a:lnL cap="flat">
                      <a:noFill/>
                    </a:lnL>
                    <a:lnR cap="flat">
                      <a:noFill/>
                    </a:lnR>
                    <a:lnT>
                      <a:noFill/>
                    </a:lnT>
                    <a:lnB>
                      <a:noFill/>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334963">
                <a:tc>
                  <a:txBody>
                    <a:body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13.0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horzOverflow="overflow">
                    <a:lnL cap="flat">
                      <a:noFill/>
                    </a:lnL>
                    <a:lnR cap="flat">
                      <a:noFill/>
                    </a:lnR>
                    <a:lnT>
                      <a:noFill/>
                    </a:lnT>
                    <a:lnB>
                      <a:noFill/>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381000">
                <a:tc>
                  <a:txBody>
                    <a:body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13.4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horzOverflow="overflow">
                    <a:lnL cap="flat">
                      <a:noFill/>
                    </a:lnL>
                    <a:lnR cap="flat">
                      <a:noFill/>
                    </a:lnR>
                    <a:lnT>
                      <a:noFill/>
                    </a:lnT>
                    <a:lnB>
                      <a:noFill/>
                    </a:lnB>
                    <a:lnTlToBr>
                      <a:noFill/>
                    </a:lnTlToBr>
                    <a:lnBlToTr>
                      <a:noFill/>
                    </a:lnBlToTr>
                    <a:solidFill>
                      <a:schemeClr val="bg1">
                        <a:lumMod val="95000"/>
                      </a:schemeClr>
                    </a:solidFill>
                  </a:tcPr>
                </a:tc>
                <a:extLst>
                  <a:ext uri="{0D108BD9-81ED-4DB2-BD59-A6C34878D82A}">
                    <a16:rowId xmlns:a16="http://schemas.microsoft.com/office/drawing/2014/main" val="10005"/>
                  </a:ext>
                </a:extLst>
              </a:tr>
              <a:tr h="388938">
                <a:tc>
                  <a:txBody>
                    <a:body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14.0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horzOverflow="overflow">
                    <a:lnL cap="flat">
                      <a:noFill/>
                    </a:lnL>
                    <a:lnR cap="flat">
                      <a:noFill/>
                    </a:lnR>
                    <a:lnT>
                      <a:noFill/>
                    </a:lnT>
                    <a:lnB>
                      <a:noFill/>
                    </a:lnB>
                    <a:lnTlToBr>
                      <a:noFill/>
                    </a:lnTlToBr>
                    <a:lnBlToTr>
                      <a:noFill/>
                    </a:lnBlToTr>
                    <a:solidFill>
                      <a:schemeClr val="bg1">
                        <a:lumMod val="95000"/>
                      </a:schemeClr>
                    </a:solidFill>
                  </a:tcPr>
                </a:tc>
                <a:extLst>
                  <a:ext uri="{0D108BD9-81ED-4DB2-BD59-A6C34878D82A}">
                    <a16:rowId xmlns:a16="http://schemas.microsoft.com/office/drawing/2014/main" val="10006"/>
                  </a:ext>
                </a:extLst>
              </a:tr>
              <a:tr h="366713">
                <a:tc>
                  <a:txBody>
                    <a:body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14.6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horzOverflow="overflow">
                    <a:lnL cap="flat">
                      <a:noFill/>
                    </a:lnL>
                    <a:lnR cap="flat">
                      <a:noFill/>
                    </a:lnR>
                    <a:lnT>
                      <a:noFill/>
                    </a:lnT>
                    <a:lnB>
                      <a:noFill/>
                    </a:lnB>
                    <a:lnTlToBr>
                      <a:noFill/>
                    </a:lnTlToBr>
                    <a:lnBlToTr>
                      <a:noFill/>
                    </a:lnBlToTr>
                    <a:solidFill>
                      <a:schemeClr val="bg1">
                        <a:lumMod val="95000"/>
                      </a:schemeClr>
                    </a:solidFill>
                  </a:tcPr>
                </a:tc>
                <a:extLst>
                  <a:ext uri="{0D108BD9-81ED-4DB2-BD59-A6C34878D82A}">
                    <a16:rowId xmlns:a16="http://schemas.microsoft.com/office/drawing/2014/main" val="10007"/>
                  </a:ext>
                </a:extLst>
              </a:tr>
              <a:tr h="381000">
                <a:tc>
                  <a:txBody>
                    <a:body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15.1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horzOverflow="overflow">
                    <a:lnL cap="flat">
                      <a:noFill/>
                    </a:lnL>
                    <a:lnR cap="flat">
                      <a:noFill/>
                    </a:lnR>
                    <a:lnT>
                      <a:noFill/>
                    </a:lnT>
                    <a:lnB>
                      <a:noFill/>
                    </a:lnB>
                    <a:lnTlToBr>
                      <a:noFill/>
                    </a:lnTlToBr>
                    <a:lnBlToTr>
                      <a:noFill/>
                    </a:lnBlToTr>
                    <a:solidFill>
                      <a:schemeClr val="bg1">
                        <a:lumMod val="95000"/>
                      </a:schemeClr>
                    </a:solidFill>
                  </a:tcPr>
                </a:tc>
                <a:extLst>
                  <a:ext uri="{0D108BD9-81ED-4DB2-BD59-A6C34878D82A}">
                    <a16:rowId xmlns:a16="http://schemas.microsoft.com/office/drawing/2014/main" val="10008"/>
                  </a:ext>
                </a:extLst>
              </a:tr>
              <a:tr h="428625">
                <a:tc>
                  <a:txBody>
                    <a:body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15.6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horzOverflow="overflow">
                    <a:lnL cap="flat">
                      <a:noFill/>
                    </a:lnL>
                    <a:lnR cap="flat">
                      <a:noFill/>
                    </a:lnR>
                    <a:lnT>
                      <a:noFill/>
                    </a:lnT>
                    <a:lnB>
                      <a:noFill/>
                    </a:lnB>
                    <a:lnTlToBr>
                      <a:noFill/>
                    </a:lnTlToBr>
                    <a:lnBlToTr>
                      <a:noFill/>
                    </a:lnBlToTr>
                    <a:solidFill>
                      <a:schemeClr val="bg1">
                        <a:lumMod val="95000"/>
                      </a:schemeClr>
                    </a:solidFill>
                  </a:tcPr>
                </a:tc>
                <a:extLst>
                  <a:ext uri="{0D108BD9-81ED-4DB2-BD59-A6C34878D82A}">
                    <a16:rowId xmlns:a16="http://schemas.microsoft.com/office/drawing/2014/main" val="10009"/>
                  </a:ext>
                </a:extLst>
              </a:tr>
              <a:tr h="381000">
                <a:tc>
                  <a:txBody>
                    <a:body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16.3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horzOverflow="overflow">
                    <a:lnL cap="flat">
                      <a:noFill/>
                    </a:lnL>
                    <a:lnR cap="flat">
                      <a:noFill/>
                    </a:lnR>
                    <a:lnT>
                      <a:noFill/>
                    </a:lnT>
                    <a:lnB>
                      <a:noFill/>
                    </a:lnB>
                    <a:lnTlToBr>
                      <a:noFill/>
                    </a:lnTlToBr>
                    <a:lnBlToTr>
                      <a:noFill/>
                    </a:lnBlToTr>
                    <a:solidFill>
                      <a:schemeClr val="bg1">
                        <a:lumMod val="95000"/>
                      </a:schemeClr>
                    </a:solidFill>
                  </a:tcPr>
                </a:tc>
                <a:extLst>
                  <a:ext uri="{0D108BD9-81ED-4DB2-BD59-A6C34878D82A}">
                    <a16:rowId xmlns:a16="http://schemas.microsoft.com/office/drawing/2014/main" val="10010"/>
                  </a:ext>
                </a:extLst>
              </a:tr>
              <a:tr h="381000">
                <a:tc>
                  <a:txBody>
                    <a:body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16.8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horzOverflow="overflow">
                    <a:lnL cap="flat">
                      <a:noFill/>
                    </a:lnL>
                    <a:lnR cap="flat">
                      <a:noFill/>
                    </a:lnR>
                    <a:lnT>
                      <a:noFill/>
                    </a:lnT>
                    <a:lnB>
                      <a:noFill/>
                    </a:lnB>
                    <a:lnTlToBr>
                      <a:noFill/>
                    </a:lnTlToBr>
                    <a:lnBlToTr>
                      <a:noFill/>
                    </a:lnBlToTr>
                    <a:solidFill>
                      <a:schemeClr val="bg1">
                        <a:lumMod val="95000"/>
                      </a:schemeClr>
                    </a:solidFill>
                  </a:tcPr>
                </a:tc>
                <a:extLst>
                  <a:ext uri="{0D108BD9-81ED-4DB2-BD59-A6C34878D82A}">
                    <a16:rowId xmlns:a16="http://schemas.microsoft.com/office/drawing/2014/main" val="10011"/>
                  </a:ext>
                </a:extLst>
              </a:tr>
              <a:tr h="382588">
                <a:tc>
                  <a:txBody>
                    <a:body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17.3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horzOverflow="overflow">
                    <a:lnL cap="flat">
                      <a:noFill/>
                    </a:lnL>
                    <a:lnR cap="flat">
                      <a:noFill/>
                    </a:lnR>
                    <a:lnT>
                      <a:noFill/>
                    </a:lnT>
                    <a:lnB>
                      <a:noFill/>
                    </a:lnB>
                    <a:lnTlToBr>
                      <a:noFill/>
                    </a:lnTlToBr>
                    <a:lnBlToTr>
                      <a:noFill/>
                    </a:lnBlToTr>
                    <a:solidFill>
                      <a:schemeClr val="bg1">
                        <a:lumMod val="95000"/>
                      </a:schemeClr>
                    </a:solidFill>
                  </a:tcPr>
                </a:tc>
                <a:extLst>
                  <a:ext uri="{0D108BD9-81ED-4DB2-BD59-A6C34878D82A}">
                    <a16:rowId xmlns:a16="http://schemas.microsoft.com/office/drawing/2014/main" val="10012"/>
                  </a:ext>
                </a:extLst>
              </a:tr>
              <a:tr h="285750">
                <a:tc>
                  <a:txBody>
                    <a:body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17.8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horzOverflow="overflow">
                    <a:lnL cap="flat">
                      <a:noFill/>
                    </a:lnL>
                    <a:lnR cap="flat">
                      <a:noFill/>
                    </a:lnR>
                    <a:lnT>
                      <a:noFill/>
                    </a:lnT>
                    <a:lnB>
                      <a:noFill/>
                    </a:lnB>
                    <a:lnTlToBr>
                      <a:noFill/>
                    </a:lnTlToBr>
                    <a:lnBlToTr>
                      <a:noFill/>
                    </a:lnBlToTr>
                    <a:solidFill>
                      <a:schemeClr val="bg1">
                        <a:lumMod val="95000"/>
                      </a:schemeClr>
                    </a:solidFill>
                  </a:tcPr>
                </a:tc>
                <a:extLst>
                  <a:ext uri="{0D108BD9-81ED-4DB2-BD59-A6C34878D82A}">
                    <a16:rowId xmlns:a16="http://schemas.microsoft.com/office/drawing/2014/main" val="10013"/>
                  </a:ext>
                </a:extLst>
              </a:tr>
              <a:tr h="381000">
                <a:tc>
                  <a:txBody>
                    <a:bodyPr/>
                    <a:lstStyle/>
                    <a:p>
                      <a:pPr marL="0" marR="0" lvl="0" indent="0" algn="ctr" defTabSz="914400" rtl="0" eaLnBrk="1" fontAlgn="b" latinLnBrk="0" hangingPunct="1">
                        <a:lnSpc>
                          <a:spcPct val="80000"/>
                        </a:lnSpc>
                        <a:spcBef>
                          <a:spcPct val="0"/>
                        </a:spcBef>
                        <a:spcAft>
                          <a:spcPct val="0"/>
                        </a:spcAft>
                        <a:buClrTx/>
                        <a:buSzTx/>
                        <a:buFontTx/>
                        <a:buNone/>
                        <a:tabLst/>
                      </a:pPr>
                      <a:endParaRPr kumimoji="0" lang="zh-CN" altLang="zh-CN" sz="1800" b="1" i="0" u="none" strike="noStrike" cap="none" normalizeH="0" baseline="0" dirty="0" smtClean="0">
                        <a:ln>
                          <a:noFill/>
                        </a:ln>
                        <a:solidFill>
                          <a:schemeClr val="tx1"/>
                        </a:solidFill>
                        <a:effectLst/>
                        <a:latin typeface="Arial" charset="0"/>
                        <a:ea typeface="宋体" pitchFamily="2" charset="-122"/>
                      </a:endParaRPr>
                    </a:p>
                  </a:txBody>
                  <a:tcPr anchor="b" horzOverflow="overflow">
                    <a:lnL cap="flat">
                      <a:noFill/>
                    </a:lnL>
                    <a:lnR cap="flat">
                      <a:noFill/>
                    </a:lnR>
                    <a:lnT>
                      <a:noFill/>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4"/>
                  </a:ext>
                </a:extLst>
              </a:tr>
            </a:tbl>
          </a:graphicData>
        </a:graphic>
      </p:graphicFrame>
      <p:graphicFrame>
        <p:nvGraphicFramePr>
          <p:cNvPr id="186510" name="Group 142"/>
          <p:cNvGraphicFramePr>
            <a:graphicFrameLocks noGrp="1"/>
          </p:cNvGraphicFramePr>
          <p:nvPr>
            <p:extLst>
              <p:ext uri="{D42A27DB-BD31-4B8C-83A1-F6EECF244321}">
                <p14:modId xmlns:p14="http://schemas.microsoft.com/office/powerpoint/2010/main" val="137397278"/>
              </p:ext>
            </p:extLst>
          </p:nvPr>
        </p:nvGraphicFramePr>
        <p:xfrm>
          <a:off x="4384799" y="133350"/>
          <a:ext cx="1365499" cy="6841174"/>
        </p:xfrm>
        <a:graphic>
          <a:graphicData uri="http://schemas.openxmlformats.org/drawingml/2006/table">
            <a:tbl>
              <a:tblPr/>
              <a:tblGrid>
                <a:gridCol w="1365499">
                  <a:extLst>
                    <a:ext uri="{9D8B030D-6E8A-4147-A177-3AD203B41FA5}">
                      <a16:colId xmlns:a16="http://schemas.microsoft.com/office/drawing/2014/main" val="20000"/>
                    </a:ext>
                  </a:extLst>
                </a:gridCol>
              </a:tblGrid>
              <a:tr h="836613">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2000" b="1" i="0" u="none" strike="noStrike" cap="none" normalizeH="0" baseline="0" dirty="0" smtClean="0">
                          <a:ln>
                            <a:noFill/>
                          </a:ln>
                          <a:solidFill>
                            <a:srgbClr val="000000"/>
                          </a:solidFill>
                          <a:effectLst/>
                          <a:latin typeface="宋体" pitchFamily="2" charset="-122"/>
                          <a:ea typeface="宋体" pitchFamily="2" charset="-122"/>
                        </a:rPr>
                        <a:t>移正平均</a:t>
                      </a:r>
                    </a:p>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2000" b="0" i="0" u="none" strike="noStrike" cap="none" normalizeH="0" baseline="0" dirty="0" smtClean="0">
                          <a:ln>
                            <a:noFill/>
                          </a:ln>
                          <a:solidFill>
                            <a:schemeClr val="tx1"/>
                          </a:solidFill>
                          <a:effectLst/>
                          <a:latin typeface="宋体" pitchFamily="2" charset="-122"/>
                          <a:ea typeface="宋体" pitchFamily="2" charset="-122"/>
                        </a:rPr>
                        <a:t>（中心化）</a:t>
                      </a:r>
                      <a:endParaRPr kumimoji="0" lang="zh-CN" altLang="en-US" sz="20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3667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339933"/>
                          </a:solidFill>
                          <a:effectLst/>
                          <a:latin typeface="Arial"/>
                          <a:ea typeface="宋体" pitchFamily="2" charset="-122"/>
                        </a:rPr>
                        <a:t>——</a:t>
                      </a:r>
                      <a:endParaRPr kumimoji="0" lang="en-US" altLang="zh-CN" sz="1800" b="0" i="0" u="none" strike="noStrike" cap="none" normalizeH="0" baseline="0" dirty="0" smtClean="0">
                        <a:ln>
                          <a:noFill/>
                        </a:ln>
                        <a:solidFill>
                          <a:srgbClr val="339933"/>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solidFill>
                      <a:schemeClr val="accent1">
                        <a:lumMod val="40000"/>
                        <a:lumOff val="60000"/>
                      </a:schemeClr>
                    </a:solidFill>
                  </a:tcPr>
                </a:tc>
                <a:extLst>
                  <a:ext uri="{0D108BD9-81ED-4DB2-BD59-A6C34878D82A}">
                    <a16:rowId xmlns:a16="http://schemas.microsoft.com/office/drawing/2014/main" val="10001"/>
                  </a:ext>
                </a:extLst>
              </a:tr>
              <a:tr h="361950">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339933"/>
                          </a:solidFill>
                          <a:effectLst/>
                          <a:latin typeface="Arial"/>
                          <a:ea typeface="宋体" pitchFamily="2" charset="-122"/>
                        </a:rPr>
                        <a:t>——</a:t>
                      </a:r>
                      <a:endParaRPr kumimoji="0" lang="en-US" altLang="zh-CN" sz="1800" b="0" i="0" u="none" strike="noStrike" cap="none" normalizeH="0" baseline="0" dirty="0" smtClean="0">
                        <a:ln>
                          <a:noFill/>
                        </a:ln>
                        <a:solidFill>
                          <a:srgbClr val="339933"/>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lumMod val="40000"/>
                        <a:lumOff val="60000"/>
                      </a:schemeClr>
                    </a:solidFill>
                  </a:tcPr>
                </a:tc>
                <a:extLst>
                  <a:ext uri="{0D108BD9-81ED-4DB2-BD59-A6C34878D82A}">
                    <a16:rowId xmlns:a16="http://schemas.microsoft.com/office/drawing/2014/main" val="10002"/>
                  </a:ext>
                </a:extLst>
              </a:tr>
              <a:tr h="447675">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rgbClr val="339933"/>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lumMod val="40000"/>
                        <a:lumOff val="60000"/>
                      </a:schemeClr>
                    </a:solidFill>
                  </a:tcPr>
                </a:tc>
                <a:extLst>
                  <a:ext uri="{0D108BD9-81ED-4DB2-BD59-A6C34878D82A}">
                    <a16:rowId xmlns:a16="http://schemas.microsoft.com/office/drawing/2014/main" val="10003"/>
                  </a:ext>
                </a:extLst>
              </a:tr>
              <a:tr h="431800">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339933"/>
                          </a:solidFill>
                          <a:effectLst/>
                          <a:latin typeface="宋体" pitchFamily="2" charset="-122"/>
                          <a:ea typeface="宋体" pitchFamily="2" charset="-122"/>
                        </a:rPr>
                        <a:t>12.2 </a:t>
                      </a:r>
                      <a:endParaRPr kumimoji="0" lang="en-US" altLang="zh-CN" sz="1800" b="0" i="0" u="none" strike="noStrike" cap="none" normalizeH="0" baseline="0" dirty="0" smtClean="0">
                        <a:ln>
                          <a:noFill/>
                        </a:ln>
                        <a:solidFill>
                          <a:srgbClr val="339933"/>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lumMod val="40000"/>
                        <a:lumOff val="60000"/>
                      </a:schemeClr>
                    </a:solidFill>
                  </a:tcPr>
                </a:tc>
                <a:extLst>
                  <a:ext uri="{0D108BD9-81ED-4DB2-BD59-A6C34878D82A}">
                    <a16:rowId xmlns:a16="http://schemas.microsoft.com/office/drawing/2014/main" val="10004"/>
                  </a:ext>
                </a:extLst>
              </a:tr>
              <a:tr h="361950">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339933"/>
                          </a:solidFill>
                          <a:effectLst/>
                          <a:latin typeface="宋体" pitchFamily="2" charset="-122"/>
                          <a:ea typeface="宋体" pitchFamily="2" charset="-122"/>
                        </a:rPr>
                        <a:t>12.7 </a:t>
                      </a:r>
                      <a:endParaRPr kumimoji="0" lang="en-US" altLang="zh-CN" sz="1800" b="0" i="0" u="none" strike="noStrike" cap="none" normalizeH="0" baseline="0" dirty="0" smtClean="0">
                        <a:ln>
                          <a:noFill/>
                        </a:ln>
                        <a:solidFill>
                          <a:srgbClr val="339933"/>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lumMod val="40000"/>
                        <a:lumOff val="60000"/>
                      </a:schemeClr>
                    </a:solidFill>
                  </a:tcPr>
                </a:tc>
                <a:extLst>
                  <a:ext uri="{0D108BD9-81ED-4DB2-BD59-A6C34878D82A}">
                    <a16:rowId xmlns:a16="http://schemas.microsoft.com/office/drawing/2014/main" val="10005"/>
                  </a:ext>
                </a:extLst>
              </a:tr>
              <a:tr h="3667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339933"/>
                          </a:solidFill>
                          <a:effectLst/>
                          <a:latin typeface="宋体" pitchFamily="2" charset="-122"/>
                          <a:ea typeface="宋体" pitchFamily="2" charset="-122"/>
                        </a:rPr>
                        <a:t>13.2 </a:t>
                      </a:r>
                      <a:endParaRPr kumimoji="0" lang="en-US" altLang="zh-CN" sz="1800" b="0" i="0" u="none" strike="noStrike" cap="none" normalizeH="0" baseline="0" dirty="0" smtClean="0">
                        <a:ln>
                          <a:noFill/>
                        </a:ln>
                        <a:solidFill>
                          <a:srgbClr val="339933"/>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lumMod val="40000"/>
                        <a:lumOff val="60000"/>
                      </a:schemeClr>
                    </a:solidFill>
                  </a:tcPr>
                </a:tc>
                <a:extLst>
                  <a:ext uri="{0D108BD9-81ED-4DB2-BD59-A6C34878D82A}">
                    <a16:rowId xmlns:a16="http://schemas.microsoft.com/office/drawing/2014/main" val="10006"/>
                  </a:ext>
                </a:extLst>
              </a:tr>
              <a:tr h="36353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339933"/>
                          </a:solidFill>
                          <a:effectLst/>
                          <a:latin typeface="宋体" pitchFamily="2" charset="-122"/>
                          <a:ea typeface="宋体" pitchFamily="2" charset="-122"/>
                        </a:rPr>
                        <a:t>13.7 </a:t>
                      </a:r>
                      <a:endParaRPr kumimoji="0" lang="en-US" altLang="zh-CN" sz="1800" b="0" i="0" u="none" strike="noStrike" cap="none" normalizeH="0" baseline="0" dirty="0" smtClean="0">
                        <a:ln>
                          <a:noFill/>
                        </a:ln>
                        <a:solidFill>
                          <a:srgbClr val="339933"/>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lumMod val="40000"/>
                        <a:lumOff val="60000"/>
                      </a:schemeClr>
                    </a:solidFill>
                  </a:tcPr>
                </a:tc>
                <a:extLst>
                  <a:ext uri="{0D108BD9-81ED-4DB2-BD59-A6C34878D82A}">
                    <a16:rowId xmlns:a16="http://schemas.microsoft.com/office/drawing/2014/main" val="10007"/>
                  </a:ext>
                </a:extLst>
              </a:tr>
              <a:tr h="3444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339933"/>
                          </a:solidFill>
                          <a:effectLst/>
                          <a:latin typeface="宋体" pitchFamily="2" charset="-122"/>
                          <a:ea typeface="宋体" pitchFamily="2" charset="-122"/>
                        </a:rPr>
                        <a:t>14.3 </a:t>
                      </a:r>
                      <a:endParaRPr kumimoji="0" lang="en-US" altLang="zh-CN" sz="1800" b="0" i="0" u="none" strike="noStrike" cap="none" normalizeH="0" baseline="0" dirty="0" smtClean="0">
                        <a:ln>
                          <a:noFill/>
                        </a:ln>
                        <a:solidFill>
                          <a:srgbClr val="339933"/>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lumMod val="40000"/>
                        <a:lumOff val="60000"/>
                      </a:schemeClr>
                    </a:solidFill>
                  </a:tcPr>
                </a:tc>
                <a:extLst>
                  <a:ext uri="{0D108BD9-81ED-4DB2-BD59-A6C34878D82A}">
                    <a16:rowId xmlns:a16="http://schemas.microsoft.com/office/drawing/2014/main" val="10008"/>
                  </a:ext>
                </a:extLst>
              </a:tr>
              <a:tr h="365125">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339933"/>
                          </a:solidFill>
                          <a:effectLst/>
                          <a:latin typeface="宋体" pitchFamily="2" charset="-122"/>
                          <a:ea typeface="宋体" pitchFamily="2" charset="-122"/>
                        </a:rPr>
                        <a:t>14.9 </a:t>
                      </a:r>
                      <a:endParaRPr kumimoji="0" lang="en-US" altLang="zh-CN" sz="1800" b="0" i="0" u="none" strike="noStrike" cap="none" normalizeH="0" baseline="0" dirty="0" smtClean="0">
                        <a:ln>
                          <a:noFill/>
                        </a:ln>
                        <a:solidFill>
                          <a:srgbClr val="339933"/>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lumMod val="40000"/>
                        <a:lumOff val="60000"/>
                      </a:schemeClr>
                    </a:solidFill>
                  </a:tcPr>
                </a:tc>
                <a:extLst>
                  <a:ext uri="{0D108BD9-81ED-4DB2-BD59-A6C34878D82A}">
                    <a16:rowId xmlns:a16="http://schemas.microsoft.com/office/drawing/2014/main" val="10009"/>
                  </a:ext>
                </a:extLst>
              </a:tr>
              <a:tr h="365125">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339933"/>
                          </a:solidFill>
                          <a:effectLst/>
                          <a:latin typeface="宋体" pitchFamily="2" charset="-122"/>
                          <a:ea typeface="宋体" pitchFamily="2" charset="-122"/>
                        </a:rPr>
                        <a:t>15.4 </a:t>
                      </a:r>
                      <a:endParaRPr kumimoji="0" lang="en-US" altLang="zh-CN" sz="1800" b="0" i="0" u="none" strike="noStrike" cap="none" normalizeH="0" baseline="0" dirty="0" smtClean="0">
                        <a:ln>
                          <a:noFill/>
                        </a:ln>
                        <a:solidFill>
                          <a:srgbClr val="339933"/>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lumMod val="40000"/>
                        <a:lumOff val="60000"/>
                      </a:schemeClr>
                    </a:solidFill>
                  </a:tcPr>
                </a:tc>
                <a:extLst>
                  <a:ext uri="{0D108BD9-81ED-4DB2-BD59-A6C34878D82A}">
                    <a16:rowId xmlns:a16="http://schemas.microsoft.com/office/drawing/2014/main" val="10010"/>
                  </a:ext>
                </a:extLst>
              </a:tr>
              <a:tr h="365125">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339933"/>
                          </a:solidFill>
                          <a:effectLst/>
                          <a:latin typeface="宋体" pitchFamily="2" charset="-122"/>
                          <a:ea typeface="宋体" pitchFamily="2" charset="-122"/>
                        </a:rPr>
                        <a:t>15.9 </a:t>
                      </a:r>
                      <a:endParaRPr kumimoji="0" lang="en-US" altLang="zh-CN" sz="1800" b="0" i="0" u="none" strike="noStrike" cap="none" normalizeH="0" baseline="0" dirty="0" smtClean="0">
                        <a:ln>
                          <a:noFill/>
                        </a:ln>
                        <a:solidFill>
                          <a:srgbClr val="339933"/>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lumMod val="40000"/>
                        <a:lumOff val="60000"/>
                      </a:schemeClr>
                    </a:solidFill>
                  </a:tcPr>
                </a:tc>
                <a:extLst>
                  <a:ext uri="{0D108BD9-81ED-4DB2-BD59-A6C34878D82A}">
                    <a16:rowId xmlns:a16="http://schemas.microsoft.com/office/drawing/2014/main" val="10011"/>
                  </a:ext>
                </a:extLst>
              </a:tr>
              <a:tr h="365125">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339933"/>
                          </a:solidFill>
                          <a:effectLst/>
                          <a:latin typeface="宋体" pitchFamily="2" charset="-122"/>
                          <a:ea typeface="宋体" pitchFamily="2" charset="-122"/>
                        </a:rPr>
                        <a:t>16.5 </a:t>
                      </a:r>
                      <a:endParaRPr kumimoji="0" lang="en-US" altLang="zh-CN" sz="1800" b="0" i="0" u="none" strike="noStrike" cap="none" normalizeH="0" baseline="0" dirty="0" smtClean="0">
                        <a:ln>
                          <a:noFill/>
                        </a:ln>
                        <a:solidFill>
                          <a:srgbClr val="339933"/>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lumMod val="40000"/>
                        <a:lumOff val="60000"/>
                      </a:schemeClr>
                    </a:solidFill>
                  </a:tcPr>
                </a:tc>
                <a:extLst>
                  <a:ext uri="{0D108BD9-81ED-4DB2-BD59-A6C34878D82A}">
                    <a16:rowId xmlns:a16="http://schemas.microsoft.com/office/drawing/2014/main" val="10012"/>
                  </a:ext>
                </a:extLst>
              </a:tr>
              <a:tr h="36353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339933"/>
                          </a:solidFill>
                          <a:effectLst/>
                          <a:latin typeface="宋体" pitchFamily="2" charset="-122"/>
                          <a:ea typeface="宋体" pitchFamily="2" charset="-122"/>
                        </a:rPr>
                        <a:t>17.0 </a:t>
                      </a:r>
                      <a:endParaRPr kumimoji="0" lang="en-US" altLang="zh-CN" sz="1800" b="0" i="0" u="none" strike="noStrike" cap="none" normalizeH="0" baseline="0" dirty="0" smtClean="0">
                        <a:ln>
                          <a:noFill/>
                        </a:ln>
                        <a:solidFill>
                          <a:srgbClr val="339933"/>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lumMod val="40000"/>
                        <a:lumOff val="60000"/>
                      </a:schemeClr>
                    </a:solidFill>
                  </a:tcPr>
                </a:tc>
                <a:extLst>
                  <a:ext uri="{0D108BD9-81ED-4DB2-BD59-A6C34878D82A}">
                    <a16:rowId xmlns:a16="http://schemas.microsoft.com/office/drawing/2014/main" val="10013"/>
                  </a:ext>
                </a:extLst>
              </a:tr>
              <a:tr h="36036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339933"/>
                          </a:solidFill>
                          <a:effectLst/>
                          <a:latin typeface="宋体" pitchFamily="2" charset="-122"/>
                          <a:ea typeface="宋体" pitchFamily="2" charset="-122"/>
                        </a:rPr>
                        <a:t>17.6 </a:t>
                      </a:r>
                      <a:endParaRPr kumimoji="0" lang="en-US" altLang="zh-CN" sz="1800" b="0" i="0" u="none" strike="noStrike" cap="none" normalizeH="0" baseline="0" dirty="0" smtClean="0">
                        <a:ln>
                          <a:noFill/>
                        </a:ln>
                        <a:solidFill>
                          <a:srgbClr val="339933"/>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lumMod val="40000"/>
                        <a:lumOff val="60000"/>
                      </a:schemeClr>
                    </a:solidFill>
                  </a:tcPr>
                </a:tc>
                <a:extLst>
                  <a:ext uri="{0D108BD9-81ED-4DB2-BD59-A6C34878D82A}">
                    <a16:rowId xmlns:a16="http://schemas.microsoft.com/office/drawing/2014/main" val="10014"/>
                  </a:ext>
                </a:extLst>
              </a:tr>
              <a:tr h="365125">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339933"/>
                          </a:solidFill>
                          <a:effectLst/>
                          <a:latin typeface="Arial"/>
                          <a:ea typeface="宋体" pitchFamily="2" charset="-122"/>
                        </a:rPr>
                        <a:t>——</a:t>
                      </a:r>
                      <a:endParaRPr kumimoji="0" lang="en-US" altLang="zh-CN" sz="1800" b="0" i="0" u="none" strike="noStrike" cap="none" normalizeH="0" baseline="0" dirty="0" smtClean="0">
                        <a:ln>
                          <a:noFill/>
                        </a:ln>
                        <a:solidFill>
                          <a:srgbClr val="339933"/>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lumMod val="40000"/>
                        <a:lumOff val="60000"/>
                      </a:schemeClr>
                    </a:solidFill>
                  </a:tcPr>
                </a:tc>
                <a:extLst>
                  <a:ext uri="{0D108BD9-81ED-4DB2-BD59-A6C34878D82A}">
                    <a16:rowId xmlns:a16="http://schemas.microsoft.com/office/drawing/2014/main" val="10015"/>
                  </a:ext>
                </a:extLst>
              </a:tr>
              <a:tr h="368300">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339933"/>
                          </a:solidFill>
                          <a:effectLst/>
                          <a:latin typeface="Arial"/>
                          <a:ea typeface="宋体" pitchFamily="2" charset="-122"/>
                        </a:rPr>
                        <a:t>——</a:t>
                      </a:r>
                      <a:endParaRPr kumimoji="0" lang="en-US" altLang="zh-CN" sz="1800" b="0" i="0" u="none" strike="noStrike" cap="none" normalizeH="0" baseline="0" dirty="0" smtClean="0">
                        <a:ln>
                          <a:noFill/>
                        </a:ln>
                        <a:solidFill>
                          <a:srgbClr val="339933"/>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16"/>
                  </a:ext>
                </a:extLst>
              </a:tr>
            </a:tbl>
          </a:graphicData>
        </a:graphic>
      </p:graphicFrame>
      <p:graphicFrame>
        <p:nvGraphicFramePr>
          <p:cNvPr id="186507" name="Group 139"/>
          <p:cNvGraphicFramePr>
            <a:graphicFrameLocks noGrp="1"/>
          </p:cNvGraphicFramePr>
          <p:nvPr>
            <p:extLst>
              <p:ext uri="{D42A27DB-BD31-4B8C-83A1-F6EECF244321}">
                <p14:modId xmlns:p14="http://schemas.microsoft.com/office/powerpoint/2010/main" val="1785154503"/>
              </p:ext>
            </p:extLst>
          </p:nvPr>
        </p:nvGraphicFramePr>
        <p:xfrm>
          <a:off x="3059113" y="117475"/>
          <a:ext cx="1366837" cy="863600"/>
        </p:xfrm>
        <a:graphic>
          <a:graphicData uri="http://schemas.openxmlformats.org/drawingml/2006/table">
            <a:tbl>
              <a:tblPr/>
              <a:tblGrid>
                <a:gridCol w="1366837">
                  <a:extLst>
                    <a:ext uri="{9D8B030D-6E8A-4147-A177-3AD203B41FA5}">
                      <a16:colId xmlns:a16="http://schemas.microsoft.com/office/drawing/2014/main" val="20000"/>
                    </a:ext>
                  </a:extLst>
                </a:gridCol>
              </a:tblGrid>
              <a:tr h="86360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 4</a:t>
                      </a:r>
                      <a:r>
                        <a:rPr kumimoji="0" lang="zh-CN" altLang="en-US" sz="2000" b="1" i="0" u="none" strike="noStrike" cap="none" normalizeH="0" baseline="0" dirty="0" smtClean="0">
                          <a:ln>
                            <a:noFill/>
                          </a:ln>
                          <a:solidFill>
                            <a:srgbClr val="000000"/>
                          </a:solidFill>
                          <a:effectLst/>
                          <a:latin typeface="宋体" pitchFamily="2" charset="-122"/>
                          <a:ea typeface="宋体" pitchFamily="2" charset="-122"/>
                        </a:rPr>
                        <a:t>项 </a:t>
                      </a:r>
                    </a:p>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2000" b="1" i="0" u="none" strike="noStrike" cap="none" normalizeH="0" baseline="0" dirty="0" smtClean="0">
                          <a:ln>
                            <a:noFill/>
                          </a:ln>
                          <a:solidFill>
                            <a:srgbClr val="000000"/>
                          </a:solidFill>
                          <a:effectLst/>
                          <a:latin typeface="宋体" pitchFamily="2" charset="-122"/>
                          <a:ea typeface="宋体" pitchFamily="2" charset="-122"/>
                        </a:rPr>
                        <a:t>移动平均</a:t>
                      </a:r>
                      <a:endParaRPr kumimoji="0" lang="zh-CN" altLang="en-US" sz="20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cap="flat">
                      <a:noFill/>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bl>
          </a:graphicData>
        </a:graphic>
      </p:graphicFrame>
      <p:sp>
        <p:nvSpPr>
          <p:cNvPr id="121977" name="AutoShape 127"/>
          <p:cNvSpPr>
            <a:spLocks/>
          </p:cNvSpPr>
          <p:nvPr/>
        </p:nvSpPr>
        <p:spPr bwMode="auto">
          <a:xfrm>
            <a:off x="2843213" y="1125538"/>
            <a:ext cx="431800" cy="1223962"/>
          </a:xfrm>
          <a:prstGeom prst="rightBrace">
            <a:avLst>
              <a:gd name="adj1" fmla="val 23621"/>
              <a:gd name="adj2" fmla="val 50000"/>
            </a:avLst>
          </a:prstGeom>
          <a:noFill/>
          <a:ln w="38100">
            <a:solidFill>
              <a:srgbClr val="FF0066"/>
            </a:solidFill>
            <a:round/>
            <a:headEnd/>
            <a:tailEnd/>
          </a:ln>
        </p:spPr>
        <p:txBody>
          <a:bodyPr wrap="none" anchor="ctr"/>
          <a:lstStyle/>
          <a:p>
            <a:endParaRPr lang="zh-CN" altLang="en-US"/>
          </a:p>
        </p:txBody>
      </p:sp>
      <p:sp>
        <p:nvSpPr>
          <p:cNvPr id="186500" name="AutoShape 132"/>
          <p:cNvSpPr>
            <a:spLocks/>
          </p:cNvSpPr>
          <p:nvPr/>
        </p:nvSpPr>
        <p:spPr bwMode="auto">
          <a:xfrm>
            <a:off x="4281487" y="1631949"/>
            <a:ext cx="360363" cy="503237"/>
          </a:xfrm>
          <a:prstGeom prst="rightBrace">
            <a:avLst>
              <a:gd name="adj1" fmla="val 8333"/>
              <a:gd name="adj2" fmla="val 50000"/>
            </a:avLst>
          </a:prstGeom>
          <a:noFill/>
          <a:ln w="38100">
            <a:solidFill>
              <a:srgbClr val="FF00FF"/>
            </a:solidFill>
            <a:round/>
            <a:headEnd/>
            <a:tailEnd/>
          </a:ln>
        </p:spPr>
        <p:txBody>
          <a:bodyPr wrap="none" anchor="ctr"/>
          <a:lstStyle/>
          <a:p>
            <a:endParaRPr lang="zh-CN" altLang="en-US"/>
          </a:p>
        </p:txBody>
      </p:sp>
      <p:sp>
        <p:nvSpPr>
          <p:cNvPr id="186504" name="Rectangle 136"/>
          <p:cNvSpPr>
            <a:spLocks noChangeArrowheads="1"/>
          </p:cNvSpPr>
          <p:nvPr/>
        </p:nvSpPr>
        <p:spPr bwMode="auto">
          <a:xfrm>
            <a:off x="4671938" y="1700212"/>
            <a:ext cx="692150" cy="366712"/>
          </a:xfrm>
          <a:prstGeom prst="rect">
            <a:avLst/>
          </a:prstGeom>
          <a:noFill/>
          <a:ln w="9525">
            <a:noFill/>
            <a:miter lim="800000"/>
            <a:headEnd/>
            <a:tailEnd/>
          </a:ln>
        </p:spPr>
        <p:txBody>
          <a:bodyPr wrap="none">
            <a:spAutoFit/>
          </a:bodyPr>
          <a:lstStyle/>
          <a:p>
            <a:pPr fontAlgn="b"/>
            <a:r>
              <a:rPr lang="en-US" altLang="zh-CN" b="1" dirty="0">
                <a:solidFill>
                  <a:srgbClr val="FF00FF"/>
                </a:solidFill>
              </a:rPr>
              <a:t>11.6</a:t>
            </a:r>
            <a:r>
              <a:rPr lang="en-US" altLang="zh-CN" dirty="0"/>
              <a:t> </a:t>
            </a:r>
          </a:p>
        </p:txBody>
      </p:sp>
      <p:sp>
        <p:nvSpPr>
          <p:cNvPr id="186505" name="Rectangle 137"/>
          <p:cNvSpPr>
            <a:spLocks noChangeArrowheads="1"/>
          </p:cNvSpPr>
          <p:nvPr/>
        </p:nvSpPr>
        <p:spPr bwMode="auto">
          <a:xfrm>
            <a:off x="3367286" y="1557338"/>
            <a:ext cx="628650" cy="366712"/>
          </a:xfrm>
          <a:prstGeom prst="rect">
            <a:avLst/>
          </a:prstGeom>
          <a:noFill/>
          <a:ln w="9525">
            <a:noFill/>
            <a:miter lim="800000"/>
            <a:headEnd/>
            <a:tailEnd/>
          </a:ln>
        </p:spPr>
        <p:txBody>
          <a:bodyPr wrap="none">
            <a:spAutoFit/>
          </a:bodyPr>
          <a:lstStyle/>
          <a:p>
            <a:r>
              <a:rPr lang="en-US" altLang="zh-CN" b="1" dirty="0">
                <a:solidFill>
                  <a:srgbClr val="FF0000"/>
                </a:solidFill>
              </a:rPr>
              <a:t>11.3</a:t>
            </a:r>
          </a:p>
        </p:txBody>
      </p:sp>
      <p:sp>
        <p:nvSpPr>
          <p:cNvPr id="121982" name="日期占位符 11"/>
          <p:cNvSpPr>
            <a:spLocks noGrp="1"/>
          </p:cNvSpPr>
          <p:nvPr>
            <p:ph type="dt" sz="quarter" idx="10"/>
          </p:nvPr>
        </p:nvSpPr>
        <p:spPr>
          <a:xfrm>
            <a:off x="31543" y="6356176"/>
            <a:ext cx="760619" cy="457200"/>
          </a:xfrm>
          <a:noFill/>
        </p:spPr>
        <p:txBody>
          <a:bodyPr/>
          <a:lstStyle/>
          <a:p>
            <a:endParaRPr lang="en-US" altLang="zh-CN"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186505"/>
                                        </p:tgtEl>
                                        <p:attrNameLst>
                                          <p:attrName>style.visibility</p:attrName>
                                        </p:attrNameLst>
                                      </p:cBhvr>
                                      <p:to>
                                        <p:strVal val="visible"/>
                                      </p:to>
                                    </p:set>
                                    <p:animEffect transition="in" filter="slide(fromLeft)">
                                      <p:cBhvr>
                                        <p:cTn id="7" dur="500"/>
                                        <p:tgtEl>
                                          <p:spTgt spid="18650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86511"/>
                                        </p:tgtEl>
                                        <p:attrNameLst>
                                          <p:attrName>style.visibility</p:attrName>
                                        </p:attrNameLst>
                                      </p:cBhvr>
                                      <p:to>
                                        <p:strVal val="visible"/>
                                      </p:to>
                                    </p:set>
                                    <p:animEffect transition="in" filter="blinds(horizontal)">
                                      <p:cBhvr>
                                        <p:cTn id="12" dur="1000"/>
                                        <p:tgtEl>
                                          <p:spTgt spid="186511"/>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186500"/>
                                        </p:tgtEl>
                                        <p:attrNameLst>
                                          <p:attrName>style.visibility</p:attrName>
                                        </p:attrNameLst>
                                      </p:cBhvr>
                                      <p:to>
                                        <p:strVal val="visible"/>
                                      </p:to>
                                    </p:set>
                                    <p:animEffect transition="in" filter="slide(fromLeft)">
                                      <p:cBhvr>
                                        <p:cTn id="17" dur="500"/>
                                        <p:tgtEl>
                                          <p:spTgt spid="186500"/>
                                        </p:tgtEl>
                                      </p:cBhvr>
                                    </p:animEffect>
                                  </p:childTnLst>
                                </p:cTn>
                              </p:par>
                              <p:par>
                                <p:cTn id="18" presetID="12" presetClass="entr" presetSubtype="8" fill="hold" grpId="0" nodeType="withEffect">
                                  <p:stCondLst>
                                    <p:cond delay="0"/>
                                  </p:stCondLst>
                                  <p:childTnLst>
                                    <p:set>
                                      <p:cBhvr>
                                        <p:cTn id="19" dur="1" fill="hold">
                                          <p:stCondLst>
                                            <p:cond delay="0"/>
                                          </p:stCondLst>
                                        </p:cTn>
                                        <p:tgtEl>
                                          <p:spTgt spid="186504"/>
                                        </p:tgtEl>
                                        <p:attrNameLst>
                                          <p:attrName>style.visibility</p:attrName>
                                        </p:attrNameLst>
                                      </p:cBhvr>
                                      <p:to>
                                        <p:strVal val="visible"/>
                                      </p:to>
                                    </p:set>
                                    <p:animEffect transition="in" filter="slide(fromLeft)">
                                      <p:cBhvr>
                                        <p:cTn id="20" dur="500"/>
                                        <p:tgtEl>
                                          <p:spTgt spid="18650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186510"/>
                                        </p:tgtEl>
                                        <p:attrNameLst>
                                          <p:attrName>style.visibility</p:attrName>
                                        </p:attrNameLst>
                                      </p:cBhvr>
                                      <p:to>
                                        <p:strVal val="visible"/>
                                      </p:to>
                                    </p:set>
                                    <p:animEffect transition="in" filter="wipe(up)">
                                      <p:cBhvr>
                                        <p:cTn id="25" dur="500"/>
                                        <p:tgtEl>
                                          <p:spTgt spid="1865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500" grpId="0" animBg="1"/>
      <p:bldP spid="186504"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3" name="Rectangle 2"/>
          <p:cNvSpPr>
            <a:spLocks noGrp="1" noChangeArrowheads="1"/>
          </p:cNvSpPr>
          <p:nvPr>
            <p:ph type="title"/>
          </p:nvPr>
        </p:nvSpPr>
        <p:spPr>
          <a:xfrm>
            <a:off x="827088" y="0"/>
            <a:ext cx="7772400" cy="593725"/>
          </a:xfrm>
        </p:spPr>
        <p:txBody>
          <a:bodyPr/>
          <a:lstStyle/>
          <a:p>
            <a:pPr eaLnBrk="1" hangingPunct="1"/>
            <a:r>
              <a:rPr lang="zh-CN" altLang="en-US" sz="3200" b="0" dirty="0" smtClean="0"/>
              <a:t>（续）</a:t>
            </a:r>
          </a:p>
        </p:txBody>
      </p:sp>
      <p:sp>
        <p:nvSpPr>
          <p:cNvPr id="122884" name="Rectangle 3"/>
          <p:cNvSpPr>
            <a:spLocks noGrp="1" noChangeArrowheads="1"/>
          </p:cNvSpPr>
          <p:nvPr>
            <p:ph type="body" idx="1"/>
          </p:nvPr>
        </p:nvSpPr>
        <p:spPr>
          <a:xfrm>
            <a:off x="395288" y="692150"/>
            <a:ext cx="8075612" cy="5256213"/>
          </a:xfrm>
        </p:spPr>
        <p:txBody>
          <a:bodyPr/>
          <a:lstStyle/>
          <a:p>
            <a:pPr marL="571500" indent="-571500" algn="just" eaLnBrk="1" hangingPunct="1">
              <a:lnSpc>
                <a:spcPct val="120000"/>
              </a:lnSpc>
              <a:spcBef>
                <a:spcPct val="40000"/>
              </a:spcBef>
            </a:pPr>
            <a:r>
              <a:rPr lang="zh-CN" altLang="en-US" dirty="0" smtClean="0">
                <a:solidFill>
                  <a:srgbClr val="3333FF"/>
                </a:solidFill>
                <a:latin typeface="Times New Roman" pitchFamily="18" charset="0"/>
              </a:rPr>
              <a:t>需要说明的是，</a:t>
            </a:r>
            <a:r>
              <a:rPr lang="zh-CN" altLang="en-US" dirty="0" smtClean="0">
                <a:solidFill>
                  <a:srgbClr val="0070C0"/>
                </a:solidFill>
                <a:latin typeface="Times New Roman" pitchFamily="18" charset="0"/>
              </a:rPr>
              <a:t>为了预测方便，也可以将移动平均值放在所平均时间的最末一期。</a:t>
            </a:r>
          </a:p>
          <a:p>
            <a:pPr marL="971550" lvl="1" algn="just" eaLnBrk="1" hangingPunct="1">
              <a:lnSpc>
                <a:spcPct val="120000"/>
              </a:lnSpc>
              <a:spcBef>
                <a:spcPct val="40000"/>
              </a:spcBef>
            </a:pPr>
            <a:r>
              <a:rPr lang="zh-CN" altLang="en-US" dirty="0" smtClean="0">
                <a:latin typeface="Times New Roman" pitchFamily="18" charset="0"/>
              </a:rPr>
              <a:t>股票证券技术分析中的各种均线（即移动平均曲线）就是采用这种方法。</a:t>
            </a:r>
          </a:p>
          <a:p>
            <a:pPr marL="971550" lvl="1" algn="just" eaLnBrk="1" hangingPunct="1">
              <a:lnSpc>
                <a:spcPct val="120000"/>
              </a:lnSpc>
              <a:spcBef>
                <a:spcPct val="40000"/>
              </a:spcBef>
            </a:pPr>
            <a:r>
              <a:rPr lang="en-US" altLang="zh-CN" dirty="0" smtClean="0">
                <a:latin typeface="Times New Roman" pitchFamily="18" charset="0"/>
                <a:cs typeface="Times New Roman" pitchFamily="18" charset="0"/>
              </a:rPr>
              <a:t>EXCEL</a:t>
            </a:r>
            <a:r>
              <a:rPr lang="zh-CN" altLang="en-US" dirty="0" smtClean="0">
                <a:latin typeface="Times New Roman" pitchFamily="18" charset="0"/>
              </a:rPr>
              <a:t>中移动平均即是这样处理的。</a:t>
            </a:r>
          </a:p>
          <a:p>
            <a:pPr marL="971550" lvl="1" algn="just" eaLnBrk="1" hangingPunct="1">
              <a:lnSpc>
                <a:spcPct val="120000"/>
              </a:lnSpc>
              <a:spcBef>
                <a:spcPct val="40000"/>
              </a:spcBef>
            </a:pPr>
            <a:r>
              <a:rPr lang="zh-CN" altLang="en-US" dirty="0" smtClean="0">
                <a:latin typeface="Times New Roman" pitchFamily="18" charset="0"/>
              </a:rPr>
              <a:t>但当</a:t>
            </a:r>
            <a:r>
              <a:rPr lang="en-US" altLang="zh-CN" dirty="0" smtClean="0">
                <a:latin typeface="Times New Roman" pitchFamily="18" charset="0"/>
                <a:cs typeface="Times New Roman" pitchFamily="18" charset="0"/>
              </a:rPr>
              <a:t>T</a:t>
            </a:r>
            <a:r>
              <a:rPr lang="zh-CN" altLang="en-US" dirty="0" smtClean="0">
                <a:latin typeface="Times New Roman" pitchFamily="18" charset="0"/>
              </a:rPr>
              <a:t>有升降趋势时，须注意移动平均值的</a:t>
            </a:r>
            <a:r>
              <a:rPr lang="zh-CN" altLang="en-US" dirty="0" smtClean="0">
                <a:solidFill>
                  <a:srgbClr val="3333FF"/>
                </a:solidFill>
                <a:latin typeface="Times New Roman" pitchFamily="18" charset="0"/>
              </a:rPr>
              <a:t>时滞性</a:t>
            </a:r>
            <a:r>
              <a:rPr lang="zh-CN" altLang="en-US" dirty="0" smtClean="0">
                <a:latin typeface="Times New Roman" pitchFamily="18" charset="0"/>
              </a:rPr>
              <a:t>。</a:t>
            </a:r>
            <a:r>
              <a:rPr lang="en-US" altLang="zh-CN" dirty="0" smtClean="0">
                <a:latin typeface="Times New Roman" pitchFamily="18" charset="0"/>
                <a:cs typeface="Times New Roman" pitchFamily="18" charset="0"/>
              </a:rPr>
              <a:t>K</a:t>
            </a:r>
            <a:r>
              <a:rPr lang="zh-CN" altLang="en-US" dirty="0" smtClean="0">
                <a:latin typeface="Times New Roman" pitchFamily="18" charset="0"/>
              </a:rPr>
              <a:t>越大，平均值对实际变化的跟踪反映越迟钝，滞后越严重。</a:t>
            </a:r>
          </a:p>
        </p:txBody>
      </p:sp>
      <p:sp>
        <p:nvSpPr>
          <p:cNvPr id="122885" name="Text Box 4"/>
          <p:cNvSpPr txBox="1">
            <a:spLocks noChangeArrowheads="1"/>
          </p:cNvSpPr>
          <p:nvPr/>
        </p:nvSpPr>
        <p:spPr bwMode="auto">
          <a:xfrm>
            <a:off x="7451725" y="5940425"/>
            <a:ext cx="1655763" cy="376238"/>
          </a:xfrm>
          <a:prstGeom prst="rect">
            <a:avLst/>
          </a:prstGeom>
          <a:solidFill>
            <a:schemeClr val="accent1"/>
          </a:solidFill>
          <a:ln w="9525">
            <a:solidFill>
              <a:srgbClr val="FF0066"/>
            </a:solidFill>
            <a:miter lim="800000"/>
            <a:headEnd/>
            <a:tailEnd/>
          </a:ln>
        </p:spPr>
        <p:txBody>
          <a:bodyPr>
            <a:spAutoFit/>
          </a:bodyPr>
          <a:lstStyle/>
          <a:p>
            <a:pPr>
              <a:spcBef>
                <a:spcPct val="50000"/>
              </a:spcBef>
            </a:pPr>
            <a:r>
              <a:rPr lang="en-US" altLang="zh-CN" b="1">
                <a:solidFill>
                  <a:srgbClr val="FF0066"/>
                </a:solidFill>
              </a:rPr>
              <a:t>EXCEL</a:t>
            </a:r>
            <a:r>
              <a:rPr lang="zh-CN" altLang="en-US" b="1">
                <a:solidFill>
                  <a:srgbClr val="FF0066"/>
                </a:solidFill>
              </a:rPr>
              <a:t>链接</a:t>
            </a:r>
          </a:p>
        </p:txBody>
      </p:sp>
      <p:pic>
        <p:nvPicPr>
          <p:cNvPr id="122886" name="Picture 5" descr="f020"/>
          <p:cNvPicPr>
            <a:picLocks noChangeAspect="1" noChangeArrowheads="1" noCrop="1"/>
          </p:cNvPicPr>
          <p:nvPr/>
        </p:nvPicPr>
        <p:blipFill>
          <a:blip r:embed="rId2" cstate="print"/>
          <a:srcRect/>
          <a:stretch>
            <a:fillRect/>
          </a:stretch>
        </p:blipFill>
        <p:spPr bwMode="auto">
          <a:xfrm>
            <a:off x="8532813" y="6300788"/>
            <a:ext cx="431800" cy="512762"/>
          </a:xfrm>
          <a:prstGeom prst="rect">
            <a:avLst/>
          </a:prstGeom>
          <a:noFill/>
          <a:ln w="9525">
            <a:noFill/>
            <a:miter lim="800000"/>
            <a:headEnd/>
            <a:tailEnd/>
          </a:ln>
        </p:spPr>
      </p:pic>
      <p:sp>
        <p:nvSpPr>
          <p:cNvPr id="122887" name="日期占位符 6"/>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7" name="Rectangle 2"/>
          <p:cNvSpPr>
            <a:spLocks noGrp="1" noChangeArrowheads="1"/>
          </p:cNvSpPr>
          <p:nvPr>
            <p:ph type="title"/>
          </p:nvPr>
        </p:nvSpPr>
        <p:spPr>
          <a:xfrm>
            <a:off x="827088" y="260350"/>
            <a:ext cx="7772400" cy="990600"/>
          </a:xfrm>
        </p:spPr>
        <p:txBody>
          <a:bodyPr/>
          <a:lstStyle/>
          <a:p>
            <a:pPr eaLnBrk="1" hangingPunct="1"/>
            <a:r>
              <a:rPr lang="zh-CN" altLang="en-US" sz="4000" dirty="0" smtClean="0"/>
              <a:t>移动平均法的</a:t>
            </a:r>
            <a:r>
              <a:rPr lang="zh-CN" altLang="en-US" sz="3600" dirty="0" smtClean="0"/>
              <a:t>特点（续）</a:t>
            </a:r>
          </a:p>
        </p:txBody>
      </p:sp>
      <p:sp>
        <p:nvSpPr>
          <p:cNvPr id="67587" name="Rectangle 3"/>
          <p:cNvSpPr>
            <a:spLocks noGrp="1" noChangeArrowheads="1"/>
          </p:cNvSpPr>
          <p:nvPr>
            <p:ph type="body" idx="1"/>
          </p:nvPr>
        </p:nvSpPr>
        <p:spPr>
          <a:xfrm>
            <a:off x="827088" y="1600200"/>
            <a:ext cx="7554912" cy="4419600"/>
          </a:xfrm>
        </p:spPr>
        <p:txBody>
          <a:bodyPr/>
          <a:lstStyle/>
          <a:p>
            <a:pPr marL="571500" indent="-571500" algn="just" eaLnBrk="1" hangingPunct="1">
              <a:spcBef>
                <a:spcPct val="33000"/>
              </a:spcBef>
            </a:pPr>
            <a:r>
              <a:rPr lang="en-US" altLang="zh-CN" dirty="0" smtClean="0">
                <a:solidFill>
                  <a:srgbClr val="000000"/>
                </a:solidFill>
                <a:latin typeface="Times New Roman" pitchFamily="18" charset="0"/>
              </a:rPr>
              <a:t>(3)</a:t>
            </a:r>
            <a:r>
              <a:rPr lang="zh-CN" altLang="en-US" dirty="0" smtClean="0">
                <a:latin typeface="Times New Roman" pitchFamily="18" charset="0"/>
              </a:rPr>
              <a:t>若</a:t>
            </a:r>
            <a:r>
              <a:rPr lang="zh-CN" altLang="en-US" dirty="0" smtClean="0">
                <a:latin typeface="Times New Roman" pitchFamily="18" charset="0"/>
              </a:rPr>
              <a:t>数列包含周期性变动</a:t>
            </a:r>
            <a:r>
              <a:rPr lang="zh-CN" altLang="en-US" b="0" dirty="0" smtClean="0">
                <a:latin typeface="Times New Roman" pitchFamily="18" charset="0"/>
              </a:rPr>
              <a:t>，</a:t>
            </a:r>
            <a:r>
              <a:rPr lang="zh-CN" altLang="en-US" b="0" dirty="0" smtClean="0">
                <a:solidFill>
                  <a:srgbClr val="000000"/>
                </a:solidFill>
                <a:latin typeface="Times New Roman" pitchFamily="18" charset="0"/>
              </a:rPr>
              <a:t>为了消除周期变动而只反映</a:t>
            </a:r>
            <a:r>
              <a:rPr lang="en-US" altLang="zh-CN" b="0" dirty="0" smtClean="0">
                <a:solidFill>
                  <a:srgbClr val="000000"/>
                </a:solidFill>
                <a:latin typeface="Times New Roman" pitchFamily="18" charset="0"/>
              </a:rPr>
              <a:t>T</a:t>
            </a:r>
            <a:r>
              <a:rPr lang="zh-CN" altLang="en-US" b="0" dirty="0" smtClean="0">
                <a:solidFill>
                  <a:srgbClr val="000000"/>
                </a:solidFill>
                <a:latin typeface="Times New Roman" pitchFamily="18" charset="0"/>
              </a:rPr>
              <a:t>，应以周期长度作为移动间隔的长度，即：</a:t>
            </a:r>
          </a:p>
          <a:p>
            <a:pPr marL="571500" indent="-571500" algn="just" eaLnBrk="1" hangingPunct="1">
              <a:spcBef>
                <a:spcPct val="33000"/>
              </a:spcBef>
            </a:pPr>
            <a:r>
              <a:rPr lang="zh-CN" altLang="en-US" sz="2600" b="0" dirty="0" smtClean="0">
                <a:latin typeface="Times New Roman" pitchFamily="18" charset="0"/>
              </a:rPr>
              <a:t>         </a:t>
            </a:r>
            <a:r>
              <a:rPr lang="en-US" altLang="zh-CN" sz="2600" dirty="0" smtClean="0">
                <a:latin typeface="Times New Roman" pitchFamily="18" charset="0"/>
              </a:rPr>
              <a:t>K = </a:t>
            </a:r>
            <a:r>
              <a:rPr lang="zh-CN" altLang="en-US" sz="2600" dirty="0" smtClean="0">
                <a:latin typeface="Times New Roman" pitchFamily="18" charset="0"/>
              </a:rPr>
              <a:t>周期长度    </a:t>
            </a:r>
            <a:r>
              <a:rPr lang="zh-CN" altLang="en-US" sz="2600" dirty="0" smtClean="0">
                <a:solidFill>
                  <a:srgbClr val="FF6600"/>
                </a:solidFill>
                <a:latin typeface="Times New Roman" pitchFamily="18" charset="0"/>
              </a:rPr>
              <a:t> </a:t>
            </a:r>
            <a:r>
              <a:rPr lang="en-US" altLang="zh-CN" sz="2600" dirty="0" smtClean="0">
                <a:solidFill>
                  <a:srgbClr val="FF6600"/>
                </a:solidFill>
                <a:latin typeface="Times New Roman" pitchFamily="18" charset="0"/>
              </a:rPr>
              <a:t>(</a:t>
            </a:r>
            <a:r>
              <a:rPr lang="en-US" altLang="zh-CN" sz="2600" dirty="0" smtClean="0">
                <a:latin typeface="Times New Roman" pitchFamily="18" charset="0"/>
              </a:rPr>
              <a:t> </a:t>
            </a:r>
            <a:r>
              <a:rPr lang="en-US" altLang="zh-CN" sz="2600" dirty="0" smtClean="0">
                <a:solidFill>
                  <a:srgbClr val="FF6600"/>
                </a:solidFill>
                <a:latin typeface="Times New Roman" pitchFamily="18" charset="0"/>
              </a:rPr>
              <a:t>or   K= </a:t>
            </a:r>
            <a:r>
              <a:rPr lang="zh-CN" altLang="en-US" sz="2600" dirty="0" smtClean="0">
                <a:solidFill>
                  <a:srgbClr val="FF6600"/>
                </a:solidFill>
                <a:latin typeface="Times New Roman" pitchFamily="18" charset="0"/>
              </a:rPr>
              <a:t>周期长度*整数</a:t>
            </a:r>
            <a:r>
              <a:rPr lang="en-US" altLang="zh-CN" sz="2600" dirty="0" smtClean="0">
                <a:solidFill>
                  <a:srgbClr val="FF6600"/>
                </a:solidFill>
                <a:latin typeface="Times New Roman" pitchFamily="18" charset="0"/>
              </a:rPr>
              <a:t>)</a:t>
            </a:r>
          </a:p>
          <a:p>
            <a:pPr marL="971550" lvl="1" algn="just" eaLnBrk="1" hangingPunct="1">
              <a:spcBef>
                <a:spcPct val="33000"/>
              </a:spcBef>
            </a:pPr>
            <a:r>
              <a:rPr lang="zh-CN" altLang="en-US" dirty="0" smtClean="0">
                <a:latin typeface="Times New Roman" pitchFamily="18" charset="0"/>
              </a:rPr>
              <a:t>若是季度资料，应</a:t>
            </a:r>
            <a:r>
              <a:rPr lang="zh-CN" altLang="en-US" dirty="0" smtClean="0">
                <a:latin typeface="Times New Roman" pitchFamily="18" charset="0"/>
              </a:rPr>
              <a:t>采用 </a:t>
            </a:r>
            <a:r>
              <a:rPr lang="en-US" altLang="zh-CN" dirty="0" smtClean="0">
                <a:latin typeface="Times New Roman" pitchFamily="18" charset="0"/>
              </a:rPr>
              <a:t>4</a:t>
            </a:r>
            <a:r>
              <a:rPr lang="zh-CN" altLang="en-US" dirty="0" smtClean="0">
                <a:latin typeface="Times New Roman" pitchFamily="18" charset="0"/>
              </a:rPr>
              <a:t>项</a:t>
            </a:r>
            <a:r>
              <a:rPr lang="en-US" altLang="zh-CN" sz="2400" b="0" dirty="0" smtClean="0">
                <a:latin typeface="Times New Roman" pitchFamily="18" charset="0"/>
              </a:rPr>
              <a:t>(</a:t>
            </a:r>
            <a:r>
              <a:rPr lang="zh-CN" altLang="en-US" sz="2400" b="0" dirty="0" smtClean="0">
                <a:latin typeface="Times New Roman" pitchFamily="18" charset="0"/>
              </a:rPr>
              <a:t>或</a:t>
            </a:r>
            <a:r>
              <a:rPr lang="en-US" altLang="zh-CN" sz="2400" b="0" dirty="0" smtClean="0">
                <a:latin typeface="Times New Roman" pitchFamily="18" charset="0"/>
              </a:rPr>
              <a:t>8</a:t>
            </a:r>
            <a:r>
              <a:rPr lang="zh-CN" altLang="en-US" sz="2400" b="0" dirty="0" smtClean="0">
                <a:latin typeface="Times New Roman" pitchFamily="18" charset="0"/>
              </a:rPr>
              <a:t>、</a:t>
            </a:r>
            <a:r>
              <a:rPr lang="en-US" altLang="zh-CN" sz="2400" b="0" dirty="0" smtClean="0">
                <a:latin typeface="Times New Roman" pitchFamily="18" charset="0"/>
              </a:rPr>
              <a:t>12…</a:t>
            </a:r>
            <a:r>
              <a:rPr lang="zh-CN" altLang="en-US" sz="2400" b="0" dirty="0" smtClean="0">
                <a:latin typeface="Times New Roman" pitchFamily="18" charset="0"/>
              </a:rPr>
              <a:t>项</a:t>
            </a:r>
            <a:r>
              <a:rPr lang="en-US" altLang="zh-CN" sz="2400" b="0" dirty="0" smtClean="0">
                <a:latin typeface="Times New Roman" pitchFamily="18" charset="0"/>
              </a:rPr>
              <a:t>)</a:t>
            </a:r>
            <a:r>
              <a:rPr lang="zh-CN" altLang="en-US" dirty="0" smtClean="0">
                <a:latin typeface="Times New Roman" pitchFamily="18" charset="0"/>
              </a:rPr>
              <a:t>移动</a:t>
            </a:r>
            <a:r>
              <a:rPr lang="zh-CN" altLang="en-US" dirty="0" smtClean="0">
                <a:latin typeface="Times New Roman" pitchFamily="18" charset="0"/>
              </a:rPr>
              <a:t>平均；</a:t>
            </a:r>
          </a:p>
          <a:p>
            <a:pPr marL="971550" lvl="1" algn="just" eaLnBrk="1" hangingPunct="1">
              <a:spcBef>
                <a:spcPct val="33000"/>
              </a:spcBef>
            </a:pPr>
            <a:r>
              <a:rPr lang="zh-CN" altLang="en-US" dirty="0" smtClean="0">
                <a:latin typeface="Times New Roman" pitchFamily="18" charset="0"/>
              </a:rPr>
              <a:t>若为月份资料，应采用</a:t>
            </a:r>
            <a:r>
              <a:rPr lang="en-US" altLang="zh-CN" dirty="0" smtClean="0">
                <a:latin typeface="Times New Roman" pitchFamily="18" charset="0"/>
              </a:rPr>
              <a:t>12</a:t>
            </a:r>
            <a:r>
              <a:rPr lang="zh-CN" altLang="en-US" dirty="0" smtClean="0">
                <a:latin typeface="Times New Roman" pitchFamily="18" charset="0"/>
              </a:rPr>
              <a:t>项</a:t>
            </a:r>
            <a:r>
              <a:rPr lang="en-US" altLang="zh-CN" sz="2400" b="0" dirty="0">
                <a:latin typeface="Times New Roman" pitchFamily="18" charset="0"/>
              </a:rPr>
              <a:t>(</a:t>
            </a:r>
            <a:r>
              <a:rPr lang="zh-CN" altLang="en-US" sz="2400" b="0" dirty="0" smtClean="0">
                <a:latin typeface="Times New Roman" pitchFamily="18" charset="0"/>
              </a:rPr>
              <a:t>或</a:t>
            </a:r>
            <a:r>
              <a:rPr lang="en-US" altLang="zh-CN" sz="2400" b="0" dirty="0" smtClean="0">
                <a:latin typeface="Times New Roman" pitchFamily="18" charset="0"/>
              </a:rPr>
              <a:t>24</a:t>
            </a:r>
            <a:r>
              <a:rPr lang="zh-CN" altLang="en-US" sz="2400" b="0" dirty="0" smtClean="0">
                <a:latin typeface="Times New Roman" pitchFamily="18" charset="0"/>
              </a:rPr>
              <a:t>、</a:t>
            </a:r>
            <a:r>
              <a:rPr lang="en-US" altLang="zh-CN" sz="2400" b="0" dirty="0" smtClean="0">
                <a:latin typeface="Times New Roman" pitchFamily="18" charset="0"/>
              </a:rPr>
              <a:t>36…</a:t>
            </a:r>
            <a:r>
              <a:rPr lang="zh-CN" altLang="en-US" sz="2400" b="0" dirty="0">
                <a:latin typeface="Times New Roman" pitchFamily="18" charset="0"/>
              </a:rPr>
              <a:t>项</a:t>
            </a:r>
            <a:r>
              <a:rPr lang="en-US" altLang="zh-CN" sz="2400" b="0" dirty="0">
                <a:latin typeface="Times New Roman" pitchFamily="18" charset="0"/>
              </a:rPr>
              <a:t>)</a:t>
            </a:r>
            <a:r>
              <a:rPr lang="zh-CN" altLang="en-US" dirty="0" smtClean="0">
                <a:latin typeface="Times New Roman" pitchFamily="18" charset="0"/>
              </a:rPr>
              <a:t>移动</a:t>
            </a:r>
            <a:r>
              <a:rPr lang="zh-CN" altLang="en-US" dirty="0" smtClean="0">
                <a:latin typeface="Times New Roman" pitchFamily="18" charset="0"/>
              </a:rPr>
              <a:t>平均。</a:t>
            </a:r>
          </a:p>
        </p:txBody>
      </p:sp>
      <p:sp>
        <p:nvSpPr>
          <p:cNvPr id="123909" name="Text Box 4"/>
          <p:cNvSpPr txBox="1">
            <a:spLocks noChangeArrowheads="1"/>
          </p:cNvSpPr>
          <p:nvPr/>
        </p:nvSpPr>
        <p:spPr bwMode="auto">
          <a:xfrm>
            <a:off x="7488237" y="5963436"/>
            <a:ext cx="1655763" cy="376238"/>
          </a:xfrm>
          <a:prstGeom prst="rect">
            <a:avLst/>
          </a:prstGeom>
          <a:solidFill>
            <a:schemeClr val="accent1"/>
          </a:solidFill>
          <a:ln w="9525">
            <a:solidFill>
              <a:srgbClr val="FF0066"/>
            </a:solidFill>
            <a:miter lim="800000"/>
            <a:headEnd/>
            <a:tailEnd/>
          </a:ln>
        </p:spPr>
        <p:txBody>
          <a:bodyPr>
            <a:spAutoFit/>
          </a:bodyPr>
          <a:lstStyle/>
          <a:p>
            <a:pPr>
              <a:spcBef>
                <a:spcPct val="50000"/>
              </a:spcBef>
            </a:pPr>
            <a:r>
              <a:rPr lang="en-US" altLang="zh-CN" b="1" dirty="0">
                <a:solidFill>
                  <a:srgbClr val="FF0066"/>
                </a:solidFill>
              </a:rPr>
              <a:t>EXCEL</a:t>
            </a:r>
            <a:r>
              <a:rPr lang="zh-CN" altLang="en-US" b="1" dirty="0">
                <a:solidFill>
                  <a:srgbClr val="FF0066"/>
                </a:solidFill>
              </a:rPr>
              <a:t>链接</a:t>
            </a:r>
          </a:p>
        </p:txBody>
      </p:sp>
      <p:sp>
        <p:nvSpPr>
          <p:cNvPr id="123910" name="日期占位符 5"/>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7587">
                                            <p:txEl>
                                              <p:pRg st="2" end="2"/>
                                            </p:txEl>
                                          </p:spTgt>
                                        </p:tgtEl>
                                        <p:attrNameLst>
                                          <p:attrName>style.visibility</p:attrName>
                                        </p:attrNameLst>
                                      </p:cBhvr>
                                      <p:to>
                                        <p:strVal val="visible"/>
                                      </p:to>
                                    </p:set>
                                    <p:animEffect transition="in" filter="wipe(left)">
                                      <p:cBhvr>
                                        <p:cTn id="7" dur="500"/>
                                        <p:tgtEl>
                                          <p:spTgt spid="67587">
                                            <p:txEl>
                                              <p:pRg st="2" end="2"/>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7587">
                                            <p:txEl>
                                              <p:pRg st="3" end="3"/>
                                            </p:txEl>
                                          </p:spTgt>
                                        </p:tgtEl>
                                        <p:attrNameLst>
                                          <p:attrName>style.visibility</p:attrName>
                                        </p:attrNameLst>
                                      </p:cBhvr>
                                      <p:to>
                                        <p:strVal val="visible"/>
                                      </p:to>
                                    </p:set>
                                    <p:animEffect transition="in" filter="wipe(left)">
                                      <p:cBhvr>
                                        <p:cTn id="10" dur="500"/>
                                        <p:tgtEl>
                                          <p:spTgt spid="675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a:xfrm>
            <a:off x="48581" y="1482014"/>
            <a:ext cx="785813" cy="1452562"/>
          </a:xfrm>
        </p:spPr>
        <p:txBody>
          <a:bodyPr/>
          <a:lstStyle/>
          <a:p>
            <a:pPr algn="l" eaLnBrk="1" hangingPunct="1"/>
            <a:r>
              <a:rPr lang="zh-CN" altLang="en-US" sz="4000" dirty="0" smtClean="0"/>
              <a:t>对比</a:t>
            </a:r>
          </a:p>
        </p:txBody>
      </p:sp>
      <p:graphicFrame>
        <p:nvGraphicFramePr>
          <p:cNvPr id="185203" name="Group 883"/>
          <p:cNvGraphicFramePr>
            <a:graphicFrameLocks noGrp="1"/>
          </p:cNvGraphicFramePr>
          <p:nvPr>
            <p:extLst>
              <p:ext uri="{D42A27DB-BD31-4B8C-83A1-F6EECF244321}">
                <p14:modId xmlns:p14="http://schemas.microsoft.com/office/powerpoint/2010/main" val="2812138287"/>
              </p:ext>
            </p:extLst>
          </p:nvPr>
        </p:nvGraphicFramePr>
        <p:xfrm>
          <a:off x="754063" y="115888"/>
          <a:ext cx="3603625" cy="6793235"/>
        </p:xfrm>
        <a:graphic>
          <a:graphicData uri="http://schemas.openxmlformats.org/drawingml/2006/table">
            <a:tbl>
              <a:tblPr/>
              <a:tblGrid>
                <a:gridCol w="1030287">
                  <a:extLst>
                    <a:ext uri="{9D8B030D-6E8A-4147-A177-3AD203B41FA5}">
                      <a16:colId xmlns:a16="http://schemas.microsoft.com/office/drawing/2014/main" val="20000"/>
                    </a:ext>
                  </a:extLst>
                </a:gridCol>
                <a:gridCol w="1285875">
                  <a:extLst>
                    <a:ext uri="{9D8B030D-6E8A-4147-A177-3AD203B41FA5}">
                      <a16:colId xmlns:a16="http://schemas.microsoft.com/office/drawing/2014/main" val="20001"/>
                    </a:ext>
                  </a:extLst>
                </a:gridCol>
                <a:gridCol w="1287463">
                  <a:extLst>
                    <a:ext uri="{9D8B030D-6E8A-4147-A177-3AD203B41FA5}">
                      <a16:colId xmlns:a16="http://schemas.microsoft.com/office/drawing/2014/main" val="20002"/>
                    </a:ext>
                  </a:extLst>
                </a:gridCol>
              </a:tblGrid>
              <a:tr h="8651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chemeClr val="tx1"/>
                          </a:solidFill>
                          <a:effectLst/>
                          <a:latin typeface="宋体" pitchFamily="2" charset="-122"/>
                          <a:ea typeface="宋体" pitchFamily="2" charset="-122"/>
                        </a:rPr>
                        <a:t>季别</a:t>
                      </a:r>
                      <a:endParaRPr kumimoji="0" lang="zh-CN" altLang="en-US" sz="1800" b="1"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zh-CN" altLang="en-US" sz="1600" b="1" i="0" u="none" strike="noStrike" cap="none" normalizeH="0" baseline="0" dirty="0" smtClean="0">
                          <a:ln>
                            <a:noFill/>
                          </a:ln>
                          <a:solidFill>
                            <a:srgbClr val="000000"/>
                          </a:solidFill>
                          <a:effectLst/>
                          <a:latin typeface="宋体" pitchFamily="2" charset="-122"/>
                          <a:ea typeface="宋体" pitchFamily="2" charset="-122"/>
                        </a:rPr>
                        <a:t>商品零售量（万件）</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2200" b="1" i="0" u="none" strike="noStrike" kern="1200" cap="none" normalizeH="0" baseline="0" dirty="0" smtClean="0">
                          <a:ln>
                            <a:noFill/>
                          </a:ln>
                          <a:solidFill>
                            <a:srgbClr val="000000"/>
                          </a:solidFill>
                          <a:effectLst/>
                          <a:latin typeface="宋体" pitchFamily="2" charset="-122"/>
                          <a:ea typeface="宋体" pitchFamily="2" charset="-122"/>
                          <a:cs typeface="+mn-cs"/>
                        </a:rPr>
                        <a:t>  3 </a:t>
                      </a:r>
                      <a:r>
                        <a:rPr kumimoji="0" lang="zh-CN" altLang="en-US" sz="2200" b="1" i="0" u="none" strike="noStrike" kern="1200" cap="none" normalizeH="0" baseline="0" dirty="0" smtClean="0">
                          <a:ln>
                            <a:noFill/>
                          </a:ln>
                          <a:solidFill>
                            <a:srgbClr val="000000"/>
                          </a:solidFill>
                          <a:effectLst/>
                          <a:latin typeface="宋体" pitchFamily="2" charset="-122"/>
                          <a:ea typeface="宋体" pitchFamily="2" charset="-122"/>
                          <a:cs typeface="+mn-cs"/>
                        </a:rPr>
                        <a:t>项</a:t>
                      </a:r>
                      <a:endParaRPr kumimoji="0" lang="en-US" altLang="zh-CN" sz="2200" b="1" i="0" u="none" strike="noStrike" kern="1200" cap="none" normalizeH="0" baseline="0" dirty="0" smtClean="0">
                        <a:ln>
                          <a:noFill/>
                        </a:ln>
                        <a:solidFill>
                          <a:srgbClr val="000000"/>
                        </a:solidFill>
                        <a:effectLst/>
                        <a:latin typeface="宋体" pitchFamily="2" charset="-122"/>
                        <a:ea typeface="宋体" pitchFamily="2" charset="-122"/>
                        <a:cs typeface="+mn-cs"/>
                      </a:endParaRPr>
                    </a:p>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2200" b="1" i="0" u="none" strike="noStrike" kern="1200" cap="none" normalizeH="0" baseline="0" dirty="0" smtClean="0">
                          <a:ln>
                            <a:noFill/>
                          </a:ln>
                          <a:solidFill>
                            <a:srgbClr val="000000"/>
                          </a:solidFill>
                          <a:effectLst/>
                          <a:latin typeface="宋体" pitchFamily="2" charset="-122"/>
                          <a:ea typeface="宋体" pitchFamily="2" charset="-122"/>
                          <a:cs typeface="+mn-cs"/>
                        </a:rPr>
                        <a:t>移动平均</a:t>
                      </a:r>
                    </a:p>
                  </a:txBody>
                  <a:tcPr marL="0" marR="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3698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chemeClr val="tx1"/>
                          </a:solidFill>
                          <a:effectLst/>
                          <a:latin typeface="宋体" pitchFamily="2" charset="-122"/>
                          <a:ea typeface="宋体" pitchFamily="2" charset="-122"/>
                        </a:rPr>
                        <a:t>一</a:t>
                      </a: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FF0066"/>
                          </a:solidFill>
                          <a:effectLst/>
                          <a:latin typeface="宋体" pitchFamily="2" charset="-122"/>
                          <a:ea typeface="宋体" pitchFamily="2" charset="-122"/>
                        </a:rPr>
                        <a:t>13.3</a:t>
                      </a:r>
                      <a:r>
                        <a:rPr kumimoji="0" lang="en-US" altLang="zh-CN" sz="1800" b="1" i="0" u="none" strike="noStrike" cap="none" normalizeH="0" baseline="0" smtClean="0">
                          <a:ln>
                            <a:noFill/>
                          </a:ln>
                          <a:solidFill>
                            <a:srgbClr val="FF00FF"/>
                          </a:solidFill>
                          <a:effectLst/>
                          <a:latin typeface="宋体" pitchFamily="2" charset="-122"/>
                          <a:ea typeface="宋体" pitchFamily="2" charset="-122"/>
                        </a:rPr>
                        <a:t> </a:t>
                      </a:r>
                      <a:endParaRPr kumimoji="0" lang="en-US" altLang="zh-CN" sz="1800" b="0" i="0" u="none" strike="noStrike" cap="none" normalizeH="0" baseline="0" smtClean="0">
                        <a:ln>
                          <a:noFill/>
                        </a:ln>
                        <a:solidFill>
                          <a:srgbClr val="FF00FF"/>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solidFill>
                      <a:schemeClr val="accent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Arial"/>
                          <a:ea typeface="宋体" pitchFamily="2" charset="-122"/>
                        </a:rPr>
                        <a:t>——</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solidFill>
                      <a:schemeClr val="accent3">
                        <a:lumMod val="85000"/>
                      </a:schemeClr>
                    </a:solidFill>
                  </a:tcPr>
                </a:tc>
                <a:extLst>
                  <a:ext uri="{0D108BD9-81ED-4DB2-BD59-A6C34878D82A}">
                    <a16:rowId xmlns:a16="http://schemas.microsoft.com/office/drawing/2014/main" val="10001"/>
                  </a:ext>
                </a:extLst>
              </a:tr>
              <a:tr h="3698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2</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FF0066"/>
                          </a:solidFill>
                          <a:effectLst/>
                          <a:latin typeface="宋体" pitchFamily="2" charset="-122"/>
                          <a:ea typeface="宋体" pitchFamily="2" charset="-122"/>
                        </a:rPr>
                        <a:t>18.2 </a:t>
                      </a:r>
                      <a:endParaRPr kumimoji="0" lang="en-US" altLang="zh-CN" sz="1800" b="0" i="0" u="none" strike="noStrike" cap="none" normalizeH="0" baseline="0" dirty="0" smtClean="0">
                        <a:ln>
                          <a:noFill/>
                        </a:ln>
                        <a:solidFill>
                          <a:srgbClr val="FF0066"/>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rgbClr val="FF0066"/>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3">
                        <a:lumMod val="85000"/>
                      </a:schemeClr>
                    </a:solidFill>
                  </a:tcPr>
                </a:tc>
                <a:extLst>
                  <a:ext uri="{0D108BD9-81ED-4DB2-BD59-A6C34878D82A}">
                    <a16:rowId xmlns:a16="http://schemas.microsoft.com/office/drawing/2014/main" val="10002"/>
                  </a:ext>
                </a:extLst>
              </a:tr>
              <a:tr h="339725">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3</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FF0066"/>
                          </a:solidFill>
                          <a:effectLst/>
                          <a:latin typeface="宋体" pitchFamily="2" charset="-122"/>
                          <a:ea typeface="宋体" pitchFamily="2" charset="-122"/>
                        </a:rPr>
                        <a:t>5.4 </a:t>
                      </a:r>
                      <a:endParaRPr kumimoji="0" lang="en-US" altLang="zh-CN" sz="1800" b="0" i="0" u="none" strike="noStrike" cap="none" normalizeH="0" baseline="0" smtClean="0">
                        <a:ln>
                          <a:noFill/>
                        </a:ln>
                        <a:solidFill>
                          <a:srgbClr val="FF0066"/>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1" i="0" u="none" strike="noStrike" cap="none" normalizeH="0" baseline="0" dirty="0" smtClean="0">
                        <a:ln>
                          <a:noFill/>
                        </a:ln>
                        <a:solidFill>
                          <a:srgbClr val="3333FF"/>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3">
                        <a:lumMod val="85000"/>
                      </a:schemeClr>
                    </a:solidFill>
                  </a:tcPr>
                </a:tc>
                <a:extLst>
                  <a:ext uri="{0D108BD9-81ED-4DB2-BD59-A6C34878D82A}">
                    <a16:rowId xmlns:a16="http://schemas.microsoft.com/office/drawing/2014/main" val="10003"/>
                  </a:ext>
                </a:extLst>
              </a:tr>
              <a:tr h="3698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4</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3333FF"/>
                          </a:solidFill>
                          <a:effectLst/>
                          <a:latin typeface="宋体" pitchFamily="2" charset="-122"/>
                          <a:ea typeface="宋体" pitchFamily="2" charset="-122"/>
                        </a:rPr>
                        <a:t>8.1 </a:t>
                      </a:r>
                      <a:endParaRPr kumimoji="0" lang="en-US" altLang="zh-CN" sz="1800" b="0" i="0" u="none" strike="noStrike" cap="none" normalizeH="0" baseline="0" smtClean="0">
                        <a:ln>
                          <a:noFill/>
                        </a:ln>
                        <a:solidFill>
                          <a:srgbClr val="3333FF"/>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3">
                        <a:lumMod val="85000"/>
                      </a:schemeClr>
                    </a:solidFill>
                  </a:tcPr>
                </a:tc>
                <a:extLst>
                  <a:ext uri="{0D108BD9-81ED-4DB2-BD59-A6C34878D82A}">
                    <a16:rowId xmlns:a16="http://schemas.microsoft.com/office/drawing/2014/main" val="10004"/>
                  </a:ext>
                </a:extLst>
              </a:tr>
              <a:tr h="387350">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chemeClr val="tx1"/>
                          </a:solidFill>
                          <a:effectLst/>
                          <a:latin typeface="宋体" pitchFamily="2" charset="-122"/>
                          <a:ea typeface="宋体" pitchFamily="2" charset="-122"/>
                        </a:rPr>
                        <a:t>二</a:t>
                      </a: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宋体" pitchFamily="2" charset="-122"/>
                          <a:ea typeface="宋体" pitchFamily="2" charset="-122"/>
                        </a:rPr>
                        <a:t>15.8 </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3">
                        <a:lumMod val="85000"/>
                      </a:schemeClr>
                    </a:solidFill>
                  </a:tcPr>
                </a:tc>
                <a:extLst>
                  <a:ext uri="{0D108BD9-81ED-4DB2-BD59-A6C34878D82A}">
                    <a16:rowId xmlns:a16="http://schemas.microsoft.com/office/drawing/2014/main" val="10005"/>
                  </a:ext>
                </a:extLst>
              </a:tr>
              <a:tr h="3698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2</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宋体" pitchFamily="2" charset="-122"/>
                          <a:ea typeface="宋体" pitchFamily="2" charset="-122"/>
                        </a:rPr>
                        <a:t>20.4 </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3">
                        <a:lumMod val="85000"/>
                      </a:schemeClr>
                    </a:solidFill>
                  </a:tcPr>
                </a:tc>
                <a:extLst>
                  <a:ext uri="{0D108BD9-81ED-4DB2-BD59-A6C34878D82A}">
                    <a16:rowId xmlns:a16="http://schemas.microsoft.com/office/drawing/2014/main" val="10006"/>
                  </a:ext>
                </a:extLst>
              </a:tr>
              <a:tr h="3698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3</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宋体" pitchFamily="2" charset="-122"/>
                          <a:ea typeface="宋体" pitchFamily="2" charset="-122"/>
                        </a:rPr>
                        <a:t>7.6 </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3">
                        <a:lumMod val="85000"/>
                      </a:schemeClr>
                    </a:solidFill>
                  </a:tcPr>
                </a:tc>
                <a:extLst>
                  <a:ext uri="{0D108BD9-81ED-4DB2-BD59-A6C34878D82A}">
                    <a16:rowId xmlns:a16="http://schemas.microsoft.com/office/drawing/2014/main" val="10007"/>
                  </a:ext>
                </a:extLst>
              </a:tr>
              <a:tr h="342900">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4</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宋体" pitchFamily="2" charset="-122"/>
                          <a:ea typeface="宋体" pitchFamily="2" charset="-122"/>
                        </a:rPr>
                        <a:t>9.9 </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3">
                        <a:lumMod val="85000"/>
                      </a:schemeClr>
                    </a:solidFill>
                  </a:tcPr>
                </a:tc>
                <a:extLst>
                  <a:ext uri="{0D108BD9-81ED-4DB2-BD59-A6C34878D82A}">
                    <a16:rowId xmlns:a16="http://schemas.microsoft.com/office/drawing/2014/main" val="10008"/>
                  </a:ext>
                </a:extLst>
              </a:tr>
              <a:tr h="3698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chemeClr val="tx1"/>
                          </a:solidFill>
                          <a:effectLst/>
                          <a:latin typeface="宋体" pitchFamily="2" charset="-122"/>
                          <a:ea typeface="宋体" pitchFamily="2" charset="-122"/>
                        </a:rPr>
                        <a:t>三</a:t>
                      </a: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宋体" pitchFamily="2" charset="-122"/>
                          <a:ea typeface="宋体" pitchFamily="2" charset="-122"/>
                        </a:rPr>
                        <a:t>18.2 </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3">
                        <a:lumMod val="85000"/>
                      </a:schemeClr>
                    </a:solidFill>
                  </a:tcPr>
                </a:tc>
                <a:extLst>
                  <a:ext uri="{0D108BD9-81ED-4DB2-BD59-A6C34878D82A}">
                    <a16:rowId xmlns:a16="http://schemas.microsoft.com/office/drawing/2014/main" val="10009"/>
                  </a:ext>
                </a:extLst>
              </a:tr>
              <a:tr h="371475">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2</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宋体" pitchFamily="2" charset="-122"/>
                          <a:ea typeface="宋体" pitchFamily="2" charset="-122"/>
                        </a:rPr>
                        <a:t>22.7 </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3">
                        <a:lumMod val="85000"/>
                      </a:schemeClr>
                    </a:solidFill>
                  </a:tcPr>
                </a:tc>
                <a:extLst>
                  <a:ext uri="{0D108BD9-81ED-4DB2-BD59-A6C34878D82A}">
                    <a16:rowId xmlns:a16="http://schemas.microsoft.com/office/drawing/2014/main" val="10010"/>
                  </a:ext>
                </a:extLst>
              </a:tr>
              <a:tr h="371475">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3</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宋体" pitchFamily="2" charset="-122"/>
                          <a:ea typeface="宋体" pitchFamily="2" charset="-122"/>
                        </a:rPr>
                        <a:t>9.6 </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3">
                        <a:lumMod val="85000"/>
                      </a:schemeClr>
                    </a:solidFill>
                  </a:tcPr>
                </a:tc>
                <a:extLst>
                  <a:ext uri="{0D108BD9-81ED-4DB2-BD59-A6C34878D82A}">
                    <a16:rowId xmlns:a16="http://schemas.microsoft.com/office/drawing/2014/main" val="10011"/>
                  </a:ext>
                </a:extLst>
              </a:tr>
              <a:tr h="3698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4</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宋体" pitchFamily="2" charset="-122"/>
                          <a:ea typeface="宋体" pitchFamily="2" charset="-122"/>
                        </a:rPr>
                        <a:t>12.0 </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3">
                        <a:lumMod val="85000"/>
                      </a:schemeClr>
                    </a:solidFill>
                  </a:tcPr>
                </a:tc>
                <a:extLst>
                  <a:ext uri="{0D108BD9-81ED-4DB2-BD59-A6C34878D82A}">
                    <a16:rowId xmlns:a16="http://schemas.microsoft.com/office/drawing/2014/main" val="10012"/>
                  </a:ext>
                </a:extLst>
              </a:tr>
              <a:tr h="3698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chemeClr val="tx1"/>
                          </a:solidFill>
                          <a:effectLst/>
                          <a:latin typeface="宋体" pitchFamily="2" charset="-122"/>
                          <a:ea typeface="宋体" pitchFamily="2" charset="-122"/>
                        </a:rPr>
                        <a:t>四</a:t>
                      </a: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宋体" pitchFamily="2" charset="-122"/>
                          <a:ea typeface="宋体" pitchFamily="2" charset="-122"/>
                        </a:rPr>
                        <a:t>20.7 </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3">
                        <a:lumMod val="85000"/>
                      </a:schemeClr>
                    </a:solidFill>
                  </a:tcPr>
                </a:tc>
                <a:extLst>
                  <a:ext uri="{0D108BD9-81ED-4DB2-BD59-A6C34878D82A}">
                    <a16:rowId xmlns:a16="http://schemas.microsoft.com/office/drawing/2014/main" val="10013"/>
                  </a:ext>
                </a:extLst>
              </a:tr>
              <a:tr h="371475">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2</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宋体" pitchFamily="2" charset="-122"/>
                          <a:ea typeface="宋体" pitchFamily="2" charset="-122"/>
                        </a:rPr>
                        <a:t>24.8 </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3">
                        <a:lumMod val="85000"/>
                      </a:schemeClr>
                    </a:solidFill>
                  </a:tcPr>
                </a:tc>
                <a:extLst>
                  <a:ext uri="{0D108BD9-81ED-4DB2-BD59-A6C34878D82A}">
                    <a16:rowId xmlns:a16="http://schemas.microsoft.com/office/drawing/2014/main" val="10014"/>
                  </a:ext>
                </a:extLst>
              </a:tr>
              <a:tr h="3698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3</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宋体" pitchFamily="2" charset="-122"/>
                          <a:ea typeface="宋体" pitchFamily="2" charset="-122"/>
                        </a:rPr>
                        <a:t>11.7 </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3">
                        <a:lumMod val="85000"/>
                      </a:schemeClr>
                    </a:solidFill>
                  </a:tcPr>
                </a:tc>
                <a:extLst>
                  <a:ext uri="{0D108BD9-81ED-4DB2-BD59-A6C34878D82A}">
                    <a16:rowId xmlns:a16="http://schemas.microsoft.com/office/drawing/2014/main" val="10015"/>
                  </a:ext>
                </a:extLst>
              </a:tr>
              <a:tr h="355600">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4</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宋体" pitchFamily="2" charset="-122"/>
                          <a:ea typeface="宋体" pitchFamily="2" charset="-122"/>
                        </a:rPr>
                        <a:t>14.1 </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solidFill>
                      <a:schemeClr val="accent3">
                        <a:lumMod val="85000"/>
                      </a:schemeClr>
                    </a:solidFill>
                  </a:tcPr>
                </a:tc>
                <a:extLst>
                  <a:ext uri="{0D108BD9-81ED-4DB2-BD59-A6C34878D82A}">
                    <a16:rowId xmlns:a16="http://schemas.microsoft.com/office/drawing/2014/main" val="10016"/>
                  </a:ext>
                </a:extLst>
              </a:tr>
            </a:tbl>
          </a:graphicData>
        </a:graphic>
      </p:graphicFrame>
      <p:sp>
        <p:nvSpPr>
          <p:cNvPr id="185138" name="AutoShape 818"/>
          <p:cNvSpPr>
            <a:spLocks/>
          </p:cNvSpPr>
          <p:nvPr/>
        </p:nvSpPr>
        <p:spPr bwMode="auto">
          <a:xfrm>
            <a:off x="2843213" y="1125538"/>
            <a:ext cx="360362" cy="863600"/>
          </a:xfrm>
          <a:prstGeom prst="rightBrace">
            <a:avLst>
              <a:gd name="adj1" fmla="val 19971"/>
              <a:gd name="adj2" fmla="val 50000"/>
            </a:avLst>
          </a:prstGeom>
          <a:noFill/>
          <a:ln w="38100">
            <a:solidFill>
              <a:srgbClr val="FF0066"/>
            </a:solidFill>
            <a:round/>
            <a:headEnd/>
            <a:tailEnd/>
          </a:ln>
        </p:spPr>
        <p:txBody>
          <a:bodyPr wrap="none" anchor="ctr"/>
          <a:lstStyle/>
          <a:p>
            <a:endParaRPr lang="zh-CN" altLang="en-US"/>
          </a:p>
        </p:txBody>
      </p:sp>
      <p:sp>
        <p:nvSpPr>
          <p:cNvPr id="185139" name="AutoShape 819"/>
          <p:cNvSpPr>
            <a:spLocks/>
          </p:cNvSpPr>
          <p:nvPr/>
        </p:nvSpPr>
        <p:spPr bwMode="auto">
          <a:xfrm>
            <a:off x="2771775" y="1484313"/>
            <a:ext cx="431800" cy="863600"/>
          </a:xfrm>
          <a:prstGeom prst="rightBrace">
            <a:avLst>
              <a:gd name="adj1" fmla="val 16667"/>
              <a:gd name="adj2" fmla="val 50000"/>
            </a:avLst>
          </a:prstGeom>
          <a:noFill/>
          <a:ln w="38100">
            <a:solidFill>
              <a:srgbClr val="3333FF"/>
            </a:solidFill>
            <a:round/>
            <a:headEnd/>
            <a:tailEnd/>
          </a:ln>
        </p:spPr>
        <p:txBody>
          <a:bodyPr wrap="none" anchor="ctr"/>
          <a:lstStyle/>
          <a:p>
            <a:endParaRPr lang="zh-CN" altLang="en-US"/>
          </a:p>
        </p:txBody>
      </p:sp>
      <p:sp>
        <p:nvSpPr>
          <p:cNvPr id="185140" name="Rectangle 820"/>
          <p:cNvSpPr>
            <a:spLocks noChangeArrowheads="1"/>
          </p:cNvSpPr>
          <p:nvPr/>
        </p:nvSpPr>
        <p:spPr bwMode="auto">
          <a:xfrm>
            <a:off x="3276600" y="1700213"/>
            <a:ext cx="755650" cy="366712"/>
          </a:xfrm>
          <a:prstGeom prst="rect">
            <a:avLst/>
          </a:prstGeom>
          <a:noFill/>
          <a:ln w="9525">
            <a:noFill/>
            <a:miter lim="800000"/>
            <a:headEnd/>
            <a:tailEnd/>
          </a:ln>
        </p:spPr>
        <p:txBody>
          <a:bodyPr wrap="none">
            <a:spAutoFit/>
          </a:bodyPr>
          <a:lstStyle/>
          <a:p>
            <a:r>
              <a:rPr lang="en-US" altLang="zh-CN" b="1">
                <a:solidFill>
                  <a:srgbClr val="3333FF"/>
                </a:solidFill>
              </a:rPr>
              <a:t>10.57</a:t>
            </a:r>
          </a:p>
        </p:txBody>
      </p:sp>
      <p:sp>
        <p:nvSpPr>
          <p:cNvPr id="185142" name="Rectangle 822"/>
          <p:cNvSpPr>
            <a:spLocks noChangeArrowheads="1"/>
          </p:cNvSpPr>
          <p:nvPr/>
        </p:nvSpPr>
        <p:spPr bwMode="auto">
          <a:xfrm>
            <a:off x="3203575" y="1341438"/>
            <a:ext cx="755650" cy="366712"/>
          </a:xfrm>
          <a:prstGeom prst="rect">
            <a:avLst/>
          </a:prstGeom>
          <a:noFill/>
          <a:ln w="9525">
            <a:noFill/>
            <a:miter lim="800000"/>
            <a:headEnd/>
            <a:tailEnd/>
          </a:ln>
        </p:spPr>
        <p:txBody>
          <a:bodyPr wrap="none">
            <a:spAutoFit/>
          </a:bodyPr>
          <a:lstStyle/>
          <a:p>
            <a:r>
              <a:rPr lang="en-US" altLang="zh-CN" b="1">
                <a:solidFill>
                  <a:srgbClr val="FF0066"/>
                </a:solidFill>
              </a:rPr>
              <a:t>12.30</a:t>
            </a:r>
          </a:p>
        </p:txBody>
      </p:sp>
      <p:graphicFrame>
        <p:nvGraphicFramePr>
          <p:cNvPr id="185199" name="Group 879"/>
          <p:cNvGraphicFramePr>
            <a:graphicFrameLocks noGrp="1"/>
          </p:cNvGraphicFramePr>
          <p:nvPr/>
        </p:nvGraphicFramePr>
        <p:xfrm>
          <a:off x="3059113" y="2051050"/>
          <a:ext cx="1287462" cy="4835211"/>
        </p:xfrm>
        <a:graphic>
          <a:graphicData uri="http://schemas.openxmlformats.org/drawingml/2006/table">
            <a:tbl>
              <a:tblPr/>
              <a:tblGrid>
                <a:gridCol w="1287462">
                  <a:extLst>
                    <a:ext uri="{9D8B030D-6E8A-4147-A177-3AD203B41FA5}">
                      <a16:colId xmlns:a16="http://schemas.microsoft.com/office/drawing/2014/main" val="20000"/>
                    </a:ext>
                  </a:extLst>
                </a:gridCol>
              </a:tblGrid>
              <a:tr h="3698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9.77 </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7350">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14.77 </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98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14.60 </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98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12.63 </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125">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11.90 </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98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16.93 </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4175">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16.83 </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71475">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14.77 </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98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14.10 </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698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19.17 </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71475">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19.07 </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698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16.87 </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65125">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Arial"/>
                          <a:ea typeface="宋体" pitchFamily="2" charset="-122"/>
                        </a:rPr>
                        <a:t>——</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sp>
        <p:nvSpPr>
          <p:cNvPr id="125039" name="灯片编号占位符 13"/>
          <p:cNvSpPr>
            <a:spLocks noGrp="1"/>
          </p:cNvSpPr>
          <p:nvPr>
            <p:ph type="sldNum" sz="quarter" idx="4294967295"/>
          </p:nvPr>
        </p:nvSpPr>
        <p:spPr>
          <a:xfrm>
            <a:off x="6988175" y="6308725"/>
            <a:ext cx="1905000" cy="457200"/>
          </a:xfrm>
          <a:prstGeom prst="rect">
            <a:avLst/>
          </a:prstGeom>
          <a:noFill/>
        </p:spPr>
        <p:txBody>
          <a:bodyPr/>
          <a:lstStyle/>
          <a:p>
            <a:r>
              <a:rPr lang="en-US" altLang="zh-CN" smtClean="0"/>
              <a:t>2-</a:t>
            </a:r>
            <a:fld id="{9D6CEB2E-7EEF-4CC4-8C03-7D0F6BA36429}" type="slidenum">
              <a:rPr lang="en-US" altLang="zh-CN" smtClean="0"/>
              <a:pPr/>
              <a:t>87</a:t>
            </a:fld>
            <a:endParaRPr lang="en-US" altLang="zh-CN" smtClean="0"/>
          </a:p>
        </p:txBody>
      </p:sp>
      <p:graphicFrame>
        <p:nvGraphicFramePr>
          <p:cNvPr id="13" name="Group 130"/>
          <p:cNvGraphicFramePr>
            <a:graphicFrameLocks noGrp="1"/>
          </p:cNvGraphicFramePr>
          <p:nvPr>
            <p:extLst>
              <p:ext uri="{D42A27DB-BD31-4B8C-83A1-F6EECF244321}">
                <p14:modId xmlns:p14="http://schemas.microsoft.com/office/powerpoint/2010/main" val="443980662"/>
              </p:ext>
            </p:extLst>
          </p:nvPr>
        </p:nvGraphicFramePr>
        <p:xfrm>
          <a:off x="5115403" y="51432"/>
          <a:ext cx="1103313" cy="6773231"/>
        </p:xfrm>
        <a:graphic>
          <a:graphicData uri="http://schemas.openxmlformats.org/drawingml/2006/table">
            <a:tbl>
              <a:tblPr/>
              <a:tblGrid>
                <a:gridCol w="1103313">
                  <a:extLst>
                    <a:ext uri="{9D8B030D-6E8A-4147-A177-3AD203B41FA5}">
                      <a16:colId xmlns:a16="http://schemas.microsoft.com/office/drawing/2014/main" val="20000"/>
                    </a:ext>
                  </a:extLst>
                </a:gridCol>
              </a:tblGrid>
              <a:tr h="847725">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zh-CN" altLang="en-US" sz="1600" b="1" i="0" u="none" strike="noStrike" cap="none" normalizeH="0" baseline="0" dirty="0" smtClean="0">
                          <a:ln>
                            <a:noFill/>
                          </a:ln>
                          <a:solidFill>
                            <a:srgbClr val="000000"/>
                          </a:solidFill>
                          <a:effectLst/>
                          <a:latin typeface="宋体" pitchFamily="2" charset="-122"/>
                          <a:ea typeface="宋体" pitchFamily="2" charset="-122"/>
                        </a:rPr>
                        <a:t>商品零售量（万件）</a:t>
                      </a:r>
                      <a:endParaRPr kumimoji="0" lang="zh-CN" altLang="en-US" sz="1600" b="1"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3698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000000"/>
                          </a:solidFill>
                          <a:effectLst/>
                          <a:latin typeface="宋体" pitchFamily="2" charset="-122"/>
                          <a:ea typeface="宋体" pitchFamily="2" charset="-122"/>
                        </a:rPr>
                        <a:t>13.3 </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solidFill>
                      <a:schemeClr val="accent1"/>
                    </a:solidFill>
                  </a:tcPr>
                </a:tc>
                <a:extLst>
                  <a:ext uri="{0D108BD9-81ED-4DB2-BD59-A6C34878D82A}">
                    <a16:rowId xmlns:a16="http://schemas.microsoft.com/office/drawing/2014/main" val="10001"/>
                  </a:ext>
                </a:extLst>
              </a:tr>
              <a:tr h="349250">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FF6600"/>
                          </a:solidFill>
                          <a:effectLst/>
                          <a:latin typeface="宋体" pitchFamily="2" charset="-122"/>
                          <a:ea typeface="宋体" pitchFamily="2" charset="-122"/>
                        </a:rPr>
                        <a:t>18.2 </a:t>
                      </a:r>
                      <a:endParaRPr kumimoji="0" lang="en-US" altLang="zh-CN" sz="1800" b="0" i="0" u="none" strike="noStrike" cap="none" normalizeH="0" baseline="0" dirty="0" smtClean="0">
                        <a:ln>
                          <a:noFill/>
                        </a:ln>
                        <a:solidFill>
                          <a:srgbClr val="FF66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solidFill>
                  </a:tcPr>
                </a:tc>
                <a:extLst>
                  <a:ext uri="{0D108BD9-81ED-4DB2-BD59-A6C34878D82A}">
                    <a16:rowId xmlns:a16="http://schemas.microsoft.com/office/drawing/2014/main" val="10002"/>
                  </a:ext>
                </a:extLst>
              </a:tr>
              <a:tr h="371475">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FF00FF"/>
                          </a:solidFill>
                          <a:effectLst/>
                          <a:latin typeface="+mj-lt"/>
                          <a:ea typeface="宋体" pitchFamily="2" charset="-122"/>
                        </a:rPr>
                        <a:t>5.4 </a:t>
                      </a:r>
                      <a:endParaRPr kumimoji="0" lang="en-US" altLang="zh-CN" sz="1800" b="0" i="0" u="none" strike="noStrike" cap="none" normalizeH="0" baseline="0" dirty="0" smtClean="0">
                        <a:ln>
                          <a:noFill/>
                        </a:ln>
                        <a:solidFill>
                          <a:srgbClr val="FF00FF"/>
                        </a:solidFill>
                        <a:effectLst/>
                        <a:latin typeface="+mj-lt"/>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solidFill>
                  </a:tcPr>
                </a:tc>
                <a:extLst>
                  <a:ext uri="{0D108BD9-81ED-4DB2-BD59-A6C34878D82A}">
                    <a16:rowId xmlns:a16="http://schemas.microsoft.com/office/drawing/2014/main" val="10003"/>
                  </a:ext>
                </a:extLst>
              </a:tr>
              <a:tr h="3698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宋体" pitchFamily="2" charset="-122"/>
                          <a:ea typeface="宋体" pitchFamily="2" charset="-122"/>
                        </a:rPr>
                        <a:t>8.1 </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solidFill>
                  </a:tcPr>
                </a:tc>
                <a:extLst>
                  <a:ext uri="{0D108BD9-81ED-4DB2-BD59-A6C34878D82A}">
                    <a16:rowId xmlns:a16="http://schemas.microsoft.com/office/drawing/2014/main" val="10004"/>
                  </a:ext>
                </a:extLst>
              </a:tr>
              <a:tr h="387350">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宋体" pitchFamily="2" charset="-122"/>
                          <a:ea typeface="宋体" pitchFamily="2" charset="-122"/>
                        </a:rPr>
                        <a:t>15.8 </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solidFill>
                  </a:tcPr>
                </a:tc>
                <a:extLst>
                  <a:ext uri="{0D108BD9-81ED-4DB2-BD59-A6C34878D82A}">
                    <a16:rowId xmlns:a16="http://schemas.microsoft.com/office/drawing/2014/main" val="10005"/>
                  </a:ext>
                </a:extLst>
              </a:tr>
              <a:tr h="36353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000000"/>
                          </a:solidFill>
                          <a:effectLst/>
                          <a:latin typeface="宋体" pitchFamily="2" charset="-122"/>
                          <a:ea typeface="宋体" pitchFamily="2" charset="-122"/>
                        </a:rPr>
                        <a:t>20.4 </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solidFill>
                  </a:tcPr>
                </a:tc>
                <a:extLst>
                  <a:ext uri="{0D108BD9-81ED-4DB2-BD59-A6C34878D82A}">
                    <a16:rowId xmlns:a16="http://schemas.microsoft.com/office/drawing/2014/main" val="10006"/>
                  </a:ext>
                </a:extLst>
              </a:tr>
              <a:tr h="3698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宋体" pitchFamily="2" charset="-122"/>
                          <a:ea typeface="宋体" pitchFamily="2" charset="-122"/>
                        </a:rPr>
                        <a:t>7.6 </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solidFill>
                  </a:tcPr>
                </a:tc>
                <a:extLst>
                  <a:ext uri="{0D108BD9-81ED-4DB2-BD59-A6C34878D82A}">
                    <a16:rowId xmlns:a16="http://schemas.microsoft.com/office/drawing/2014/main" val="10007"/>
                  </a:ext>
                </a:extLst>
              </a:tr>
              <a:tr h="342900">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宋体" pitchFamily="2" charset="-122"/>
                          <a:ea typeface="宋体" pitchFamily="2" charset="-122"/>
                        </a:rPr>
                        <a:t>9.9 </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solidFill>
                  </a:tcPr>
                </a:tc>
                <a:extLst>
                  <a:ext uri="{0D108BD9-81ED-4DB2-BD59-A6C34878D82A}">
                    <a16:rowId xmlns:a16="http://schemas.microsoft.com/office/drawing/2014/main" val="10008"/>
                  </a:ext>
                </a:extLst>
              </a:tr>
              <a:tr h="3698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000000"/>
                          </a:solidFill>
                          <a:effectLst/>
                          <a:latin typeface="宋体" pitchFamily="2" charset="-122"/>
                          <a:ea typeface="宋体" pitchFamily="2" charset="-122"/>
                        </a:rPr>
                        <a:t>18.2 </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solidFill>
                  </a:tcPr>
                </a:tc>
                <a:extLst>
                  <a:ext uri="{0D108BD9-81ED-4DB2-BD59-A6C34878D82A}">
                    <a16:rowId xmlns:a16="http://schemas.microsoft.com/office/drawing/2014/main" val="10009"/>
                  </a:ext>
                </a:extLst>
              </a:tr>
              <a:tr h="371475">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宋体" pitchFamily="2" charset="-122"/>
                          <a:ea typeface="宋体" pitchFamily="2" charset="-122"/>
                        </a:rPr>
                        <a:t>22.7 </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solidFill>
                  </a:tcPr>
                </a:tc>
                <a:extLst>
                  <a:ext uri="{0D108BD9-81ED-4DB2-BD59-A6C34878D82A}">
                    <a16:rowId xmlns:a16="http://schemas.microsoft.com/office/drawing/2014/main" val="10010"/>
                  </a:ext>
                </a:extLst>
              </a:tr>
              <a:tr h="371475">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宋体" pitchFamily="2" charset="-122"/>
                          <a:ea typeface="宋体" pitchFamily="2" charset="-122"/>
                        </a:rPr>
                        <a:t>9.6 </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solidFill>
                  </a:tcPr>
                </a:tc>
                <a:extLst>
                  <a:ext uri="{0D108BD9-81ED-4DB2-BD59-A6C34878D82A}">
                    <a16:rowId xmlns:a16="http://schemas.microsoft.com/office/drawing/2014/main" val="10011"/>
                  </a:ext>
                </a:extLst>
              </a:tr>
              <a:tr h="3698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宋体" pitchFamily="2" charset="-122"/>
                          <a:ea typeface="宋体" pitchFamily="2" charset="-122"/>
                        </a:rPr>
                        <a:t>12.0 </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solidFill>
                  </a:tcPr>
                </a:tc>
                <a:extLst>
                  <a:ext uri="{0D108BD9-81ED-4DB2-BD59-A6C34878D82A}">
                    <a16:rowId xmlns:a16="http://schemas.microsoft.com/office/drawing/2014/main" val="10012"/>
                  </a:ext>
                </a:extLst>
              </a:tr>
              <a:tr h="3698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宋体" pitchFamily="2" charset="-122"/>
                          <a:ea typeface="宋体" pitchFamily="2" charset="-122"/>
                        </a:rPr>
                        <a:t>20.7 </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solidFill>
                  </a:tcPr>
                </a:tc>
                <a:extLst>
                  <a:ext uri="{0D108BD9-81ED-4DB2-BD59-A6C34878D82A}">
                    <a16:rowId xmlns:a16="http://schemas.microsoft.com/office/drawing/2014/main" val="10013"/>
                  </a:ext>
                </a:extLst>
              </a:tr>
              <a:tr h="371475">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宋体" pitchFamily="2" charset="-122"/>
                          <a:ea typeface="宋体" pitchFamily="2" charset="-122"/>
                        </a:rPr>
                        <a:t>24.8 </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solidFill>
                  </a:tcPr>
                </a:tc>
                <a:extLst>
                  <a:ext uri="{0D108BD9-81ED-4DB2-BD59-A6C34878D82A}">
                    <a16:rowId xmlns:a16="http://schemas.microsoft.com/office/drawing/2014/main" val="10014"/>
                  </a:ext>
                </a:extLst>
              </a:tr>
              <a:tr h="3698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宋体" pitchFamily="2" charset="-122"/>
                          <a:ea typeface="宋体" pitchFamily="2" charset="-122"/>
                        </a:rPr>
                        <a:t>11.7 </a:t>
                      </a:r>
                      <a:endParaRPr kumimoji="0" lang="en-US" altLang="zh-CN" sz="1800" b="0"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1"/>
                    </a:solidFill>
                  </a:tcPr>
                </a:tc>
                <a:extLst>
                  <a:ext uri="{0D108BD9-81ED-4DB2-BD59-A6C34878D82A}">
                    <a16:rowId xmlns:a16="http://schemas.microsoft.com/office/drawing/2014/main" val="10015"/>
                  </a:ext>
                </a:extLst>
              </a:tr>
              <a:tr h="355600">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000000"/>
                          </a:solidFill>
                          <a:effectLst/>
                          <a:latin typeface="宋体" pitchFamily="2" charset="-122"/>
                          <a:ea typeface="宋体" pitchFamily="2" charset="-122"/>
                        </a:rPr>
                        <a:t>14.1 </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6"/>
                  </a:ext>
                </a:extLst>
              </a:tr>
            </a:tbl>
          </a:graphicData>
        </a:graphic>
      </p:graphicFrame>
      <p:graphicFrame>
        <p:nvGraphicFramePr>
          <p:cNvPr id="14" name="Group 143"/>
          <p:cNvGraphicFramePr>
            <a:graphicFrameLocks noGrp="1"/>
          </p:cNvGraphicFramePr>
          <p:nvPr>
            <p:extLst>
              <p:ext uri="{D42A27DB-BD31-4B8C-83A1-F6EECF244321}">
                <p14:modId xmlns:p14="http://schemas.microsoft.com/office/powerpoint/2010/main" val="74459137"/>
              </p:ext>
            </p:extLst>
          </p:nvPr>
        </p:nvGraphicFramePr>
        <p:xfrm>
          <a:off x="6218715" y="692695"/>
          <a:ext cx="1149505" cy="6132351"/>
        </p:xfrm>
        <a:graphic>
          <a:graphicData uri="http://schemas.openxmlformats.org/drawingml/2006/table">
            <a:tbl>
              <a:tblPr/>
              <a:tblGrid>
                <a:gridCol w="1149505">
                  <a:extLst>
                    <a:ext uri="{9D8B030D-6E8A-4147-A177-3AD203B41FA5}">
                      <a16:colId xmlns:a16="http://schemas.microsoft.com/office/drawing/2014/main" val="20000"/>
                    </a:ext>
                  </a:extLst>
                </a:gridCol>
              </a:tblGrid>
              <a:tr h="783958">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endParaRPr kumimoji="0" lang="zh-CN" altLang="zh-CN" sz="2000" b="1" i="0" u="none" strike="noStrike" cap="none" normalizeH="0" baseline="0" dirty="0" smtClean="0">
                        <a:ln>
                          <a:noFill/>
                        </a:ln>
                        <a:solidFill>
                          <a:srgbClr val="CC0099"/>
                        </a:solidFill>
                        <a:effectLst/>
                        <a:latin typeface="Tahoma" pitchFamily="34" charset="0"/>
                        <a:ea typeface="宋体" pitchFamily="2" charset="-122"/>
                      </a:endParaRPr>
                    </a:p>
                  </a:txBody>
                  <a:tcPr anchor="b" horzOverflow="overflow">
                    <a:lnL cap="flat">
                      <a:noFill/>
                    </a:lnL>
                    <a:lnR cap="flat">
                      <a:noFill/>
                    </a:lnR>
                    <a:lnT cap="flat">
                      <a:noFill/>
                    </a:lnT>
                    <a:lnB>
                      <a:noFill/>
                    </a:lnB>
                    <a:lnTlToBr>
                      <a:noFill/>
                    </a:lnTlToBr>
                    <a:lnBlToTr>
                      <a:noFill/>
                    </a:lnBlToTr>
                    <a:solidFill>
                      <a:srgbClr val="99CC00"/>
                    </a:solidFill>
                  </a:tcPr>
                </a:tc>
                <a:extLst>
                  <a:ext uri="{0D108BD9-81ED-4DB2-BD59-A6C34878D82A}">
                    <a16:rowId xmlns:a16="http://schemas.microsoft.com/office/drawing/2014/main" val="10000"/>
                  </a:ext>
                </a:extLst>
              </a:tr>
              <a:tr h="380734">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3333FF"/>
                          </a:solidFill>
                          <a:effectLst/>
                          <a:latin typeface="Arial" charset="0"/>
                          <a:ea typeface="宋体" pitchFamily="2" charset="-122"/>
                        </a:rPr>
                        <a:t>11.3</a:t>
                      </a:r>
                      <a:endParaRPr kumimoji="0" lang="zh-CN" altLang="zh-CN" sz="1800" b="1" i="0" u="none" strike="noStrike" cap="none" normalizeH="0" baseline="0" dirty="0" smtClean="0">
                        <a:ln>
                          <a:noFill/>
                        </a:ln>
                        <a:solidFill>
                          <a:srgbClr val="3333FF"/>
                        </a:solidFill>
                        <a:effectLst/>
                        <a:latin typeface="Arial" charset="0"/>
                        <a:ea typeface="宋体" pitchFamily="2" charset="-122"/>
                      </a:endParaRPr>
                    </a:p>
                  </a:txBody>
                  <a:tcPr horzOverflow="overflow">
                    <a:lnL cap="flat">
                      <a:noFill/>
                    </a:lnL>
                    <a:lnR cap="flat">
                      <a:noFill/>
                    </a:lnR>
                    <a:lnT>
                      <a:noFill/>
                    </a:lnT>
                    <a:lnB>
                      <a:noFill/>
                    </a:lnB>
                    <a:lnTlToBr>
                      <a:noFill/>
                    </a:lnTlToBr>
                    <a:lnBlToTr>
                      <a:noFill/>
                    </a:lnBlToTr>
                    <a:solidFill>
                      <a:srgbClr val="99CC00"/>
                    </a:solidFill>
                  </a:tcPr>
                </a:tc>
                <a:extLst>
                  <a:ext uri="{0D108BD9-81ED-4DB2-BD59-A6C34878D82A}">
                    <a16:rowId xmlns:a16="http://schemas.microsoft.com/office/drawing/2014/main" val="10001"/>
                  </a:ext>
                </a:extLst>
              </a:tr>
              <a:tr h="370131">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11.9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horzOverflow="overflow">
                    <a:lnL cap="flat">
                      <a:noFill/>
                    </a:lnL>
                    <a:lnR cap="flat">
                      <a:noFill/>
                    </a:lnR>
                    <a:lnT>
                      <a:noFill/>
                    </a:lnT>
                    <a:lnB>
                      <a:noFill/>
                    </a:lnB>
                    <a:lnTlToBr>
                      <a:noFill/>
                    </a:lnTlToBr>
                    <a:lnBlToTr>
                      <a:noFill/>
                    </a:lnBlToTr>
                    <a:solidFill>
                      <a:srgbClr val="99CC00"/>
                    </a:solidFill>
                  </a:tcPr>
                </a:tc>
                <a:extLst>
                  <a:ext uri="{0D108BD9-81ED-4DB2-BD59-A6C34878D82A}">
                    <a16:rowId xmlns:a16="http://schemas.microsoft.com/office/drawing/2014/main" val="10002"/>
                  </a:ext>
                </a:extLst>
              </a:tr>
              <a:tr h="419290">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12.4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horzOverflow="overflow">
                    <a:lnL cap="flat">
                      <a:noFill/>
                    </a:lnL>
                    <a:lnR cap="flat">
                      <a:noFill/>
                    </a:lnR>
                    <a:lnT>
                      <a:noFill/>
                    </a:lnT>
                    <a:lnB>
                      <a:noFill/>
                    </a:lnB>
                    <a:lnTlToBr>
                      <a:noFill/>
                    </a:lnTlToBr>
                    <a:lnBlToTr>
                      <a:noFill/>
                    </a:lnBlToTr>
                    <a:solidFill>
                      <a:srgbClr val="99CC00"/>
                    </a:solidFill>
                  </a:tcPr>
                </a:tc>
                <a:extLst>
                  <a:ext uri="{0D108BD9-81ED-4DB2-BD59-A6C34878D82A}">
                    <a16:rowId xmlns:a16="http://schemas.microsoft.com/office/drawing/2014/main" val="10003"/>
                  </a:ext>
                </a:extLst>
              </a:tr>
              <a:tr h="338967">
                <a:tc>
                  <a:txBody>
                    <a:body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13.0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horzOverflow="overflow">
                    <a:lnL cap="flat">
                      <a:noFill/>
                    </a:lnL>
                    <a:lnR cap="flat">
                      <a:noFill/>
                    </a:lnR>
                    <a:lnT>
                      <a:noFill/>
                    </a:lnT>
                    <a:lnB>
                      <a:noFill/>
                    </a:lnB>
                    <a:lnTlToBr>
                      <a:noFill/>
                    </a:lnTlToBr>
                    <a:lnBlToTr>
                      <a:noFill/>
                    </a:lnBlToTr>
                    <a:solidFill>
                      <a:srgbClr val="99CC00"/>
                    </a:solidFill>
                  </a:tcPr>
                </a:tc>
                <a:extLst>
                  <a:ext uri="{0D108BD9-81ED-4DB2-BD59-A6C34878D82A}">
                    <a16:rowId xmlns:a16="http://schemas.microsoft.com/office/drawing/2014/main" val="10004"/>
                  </a:ext>
                </a:extLst>
              </a:tr>
              <a:tr h="385554">
                <a:tc>
                  <a:txBody>
                    <a:body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13.4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horzOverflow="overflow">
                    <a:lnL cap="flat">
                      <a:noFill/>
                    </a:lnL>
                    <a:lnR cap="flat">
                      <a:noFill/>
                    </a:lnR>
                    <a:lnT>
                      <a:noFill/>
                    </a:lnT>
                    <a:lnB>
                      <a:noFill/>
                    </a:lnB>
                    <a:lnTlToBr>
                      <a:noFill/>
                    </a:lnTlToBr>
                    <a:lnBlToTr>
                      <a:noFill/>
                    </a:lnBlToTr>
                    <a:solidFill>
                      <a:srgbClr val="99CC00"/>
                    </a:solidFill>
                  </a:tcPr>
                </a:tc>
                <a:extLst>
                  <a:ext uri="{0D108BD9-81ED-4DB2-BD59-A6C34878D82A}">
                    <a16:rowId xmlns:a16="http://schemas.microsoft.com/office/drawing/2014/main" val="10005"/>
                  </a:ext>
                </a:extLst>
              </a:tr>
              <a:tr h="393586">
                <a:tc>
                  <a:txBody>
                    <a:body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14.0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horzOverflow="overflow">
                    <a:lnL cap="flat">
                      <a:noFill/>
                    </a:lnL>
                    <a:lnR cap="flat">
                      <a:noFill/>
                    </a:lnR>
                    <a:lnT>
                      <a:noFill/>
                    </a:lnT>
                    <a:lnB>
                      <a:noFill/>
                    </a:lnB>
                    <a:lnTlToBr>
                      <a:noFill/>
                    </a:lnTlToBr>
                    <a:lnBlToTr>
                      <a:noFill/>
                    </a:lnBlToTr>
                    <a:solidFill>
                      <a:srgbClr val="99CC00"/>
                    </a:solidFill>
                  </a:tcPr>
                </a:tc>
                <a:extLst>
                  <a:ext uri="{0D108BD9-81ED-4DB2-BD59-A6C34878D82A}">
                    <a16:rowId xmlns:a16="http://schemas.microsoft.com/office/drawing/2014/main" val="10006"/>
                  </a:ext>
                </a:extLst>
              </a:tr>
              <a:tr h="371095">
                <a:tc>
                  <a:txBody>
                    <a:body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14.6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horzOverflow="overflow">
                    <a:lnL cap="flat">
                      <a:noFill/>
                    </a:lnL>
                    <a:lnR cap="flat">
                      <a:noFill/>
                    </a:lnR>
                    <a:lnT>
                      <a:noFill/>
                    </a:lnT>
                    <a:lnB>
                      <a:noFill/>
                    </a:lnB>
                    <a:lnTlToBr>
                      <a:noFill/>
                    </a:lnTlToBr>
                    <a:lnBlToTr>
                      <a:noFill/>
                    </a:lnBlToTr>
                    <a:solidFill>
                      <a:srgbClr val="99CC00"/>
                    </a:solidFill>
                  </a:tcPr>
                </a:tc>
                <a:extLst>
                  <a:ext uri="{0D108BD9-81ED-4DB2-BD59-A6C34878D82A}">
                    <a16:rowId xmlns:a16="http://schemas.microsoft.com/office/drawing/2014/main" val="10007"/>
                  </a:ext>
                </a:extLst>
              </a:tr>
              <a:tr h="385554">
                <a:tc>
                  <a:txBody>
                    <a:body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15.1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horzOverflow="overflow">
                    <a:lnL cap="flat">
                      <a:noFill/>
                    </a:lnL>
                    <a:lnR cap="flat">
                      <a:noFill/>
                    </a:lnR>
                    <a:lnT>
                      <a:noFill/>
                    </a:lnT>
                    <a:lnB>
                      <a:noFill/>
                    </a:lnB>
                    <a:lnTlToBr>
                      <a:noFill/>
                    </a:lnTlToBr>
                    <a:lnBlToTr>
                      <a:noFill/>
                    </a:lnBlToTr>
                    <a:solidFill>
                      <a:srgbClr val="99CC00"/>
                    </a:solidFill>
                  </a:tcPr>
                </a:tc>
                <a:extLst>
                  <a:ext uri="{0D108BD9-81ED-4DB2-BD59-A6C34878D82A}">
                    <a16:rowId xmlns:a16="http://schemas.microsoft.com/office/drawing/2014/main" val="10008"/>
                  </a:ext>
                </a:extLst>
              </a:tr>
              <a:tr h="433748">
                <a:tc>
                  <a:txBody>
                    <a:body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15.6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horzOverflow="overflow">
                    <a:lnL cap="flat">
                      <a:noFill/>
                    </a:lnL>
                    <a:lnR cap="flat">
                      <a:noFill/>
                    </a:lnR>
                    <a:lnT>
                      <a:noFill/>
                    </a:lnT>
                    <a:lnB>
                      <a:noFill/>
                    </a:lnB>
                    <a:lnTlToBr>
                      <a:noFill/>
                    </a:lnTlToBr>
                    <a:lnBlToTr>
                      <a:noFill/>
                    </a:lnBlToTr>
                    <a:solidFill>
                      <a:srgbClr val="99CC00"/>
                    </a:solidFill>
                  </a:tcPr>
                </a:tc>
                <a:extLst>
                  <a:ext uri="{0D108BD9-81ED-4DB2-BD59-A6C34878D82A}">
                    <a16:rowId xmlns:a16="http://schemas.microsoft.com/office/drawing/2014/main" val="10009"/>
                  </a:ext>
                </a:extLst>
              </a:tr>
              <a:tr h="385554">
                <a:tc>
                  <a:txBody>
                    <a:body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16.3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horzOverflow="overflow">
                    <a:lnL cap="flat">
                      <a:noFill/>
                    </a:lnL>
                    <a:lnR cap="flat">
                      <a:noFill/>
                    </a:lnR>
                    <a:lnT>
                      <a:noFill/>
                    </a:lnT>
                    <a:lnB>
                      <a:noFill/>
                    </a:lnB>
                    <a:lnTlToBr>
                      <a:noFill/>
                    </a:lnTlToBr>
                    <a:lnBlToTr>
                      <a:noFill/>
                    </a:lnBlToTr>
                    <a:solidFill>
                      <a:srgbClr val="99CC00"/>
                    </a:solidFill>
                  </a:tcPr>
                </a:tc>
                <a:extLst>
                  <a:ext uri="{0D108BD9-81ED-4DB2-BD59-A6C34878D82A}">
                    <a16:rowId xmlns:a16="http://schemas.microsoft.com/office/drawing/2014/main" val="10010"/>
                  </a:ext>
                </a:extLst>
              </a:tr>
              <a:tr h="385554">
                <a:tc>
                  <a:txBody>
                    <a:body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16.8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horzOverflow="overflow">
                    <a:lnL cap="flat">
                      <a:noFill/>
                    </a:lnL>
                    <a:lnR cap="flat">
                      <a:noFill/>
                    </a:lnR>
                    <a:lnT>
                      <a:noFill/>
                    </a:lnT>
                    <a:lnB>
                      <a:noFill/>
                    </a:lnB>
                    <a:lnTlToBr>
                      <a:noFill/>
                    </a:lnTlToBr>
                    <a:lnBlToTr>
                      <a:noFill/>
                    </a:lnBlToTr>
                    <a:solidFill>
                      <a:srgbClr val="99CC00"/>
                    </a:solidFill>
                  </a:tcPr>
                </a:tc>
                <a:extLst>
                  <a:ext uri="{0D108BD9-81ED-4DB2-BD59-A6C34878D82A}">
                    <a16:rowId xmlns:a16="http://schemas.microsoft.com/office/drawing/2014/main" val="10011"/>
                  </a:ext>
                </a:extLst>
              </a:tr>
              <a:tr h="387160">
                <a:tc>
                  <a:txBody>
                    <a:body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17.3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horzOverflow="overflow">
                    <a:lnL cap="flat">
                      <a:noFill/>
                    </a:lnL>
                    <a:lnR cap="flat">
                      <a:noFill/>
                    </a:lnR>
                    <a:lnT>
                      <a:noFill/>
                    </a:lnT>
                    <a:lnB>
                      <a:noFill/>
                    </a:lnB>
                    <a:lnTlToBr>
                      <a:noFill/>
                    </a:lnTlToBr>
                    <a:lnBlToTr>
                      <a:noFill/>
                    </a:lnBlToTr>
                    <a:solidFill>
                      <a:srgbClr val="99CC00"/>
                    </a:solidFill>
                  </a:tcPr>
                </a:tc>
                <a:extLst>
                  <a:ext uri="{0D108BD9-81ED-4DB2-BD59-A6C34878D82A}">
                    <a16:rowId xmlns:a16="http://schemas.microsoft.com/office/drawing/2014/main" val="10012"/>
                  </a:ext>
                </a:extLst>
              </a:tr>
              <a:tr h="325912">
                <a:tc>
                  <a:txBody>
                    <a:bodyPr/>
                    <a:lstStyle/>
                    <a:p>
                      <a:pPr marL="0" marR="0" lvl="0" indent="0" algn="ctr" defTabSz="914400" rtl="0" eaLnBrk="1" fontAlgn="t" latinLnBrk="0" hangingPunct="1">
                        <a:lnSpc>
                          <a:spcPct val="8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17.8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horzOverflow="overflow">
                    <a:lnL cap="flat">
                      <a:noFill/>
                    </a:lnL>
                    <a:lnR cap="flat">
                      <a:noFill/>
                    </a:lnR>
                    <a:lnT>
                      <a:noFill/>
                    </a:lnT>
                    <a:lnB>
                      <a:noFill/>
                    </a:lnB>
                    <a:lnTlToBr>
                      <a:noFill/>
                    </a:lnTlToBr>
                    <a:lnBlToTr>
                      <a:noFill/>
                    </a:lnBlToTr>
                    <a:solidFill>
                      <a:srgbClr val="99CC00"/>
                    </a:solidFill>
                  </a:tcPr>
                </a:tc>
                <a:extLst>
                  <a:ext uri="{0D108BD9-81ED-4DB2-BD59-A6C34878D82A}">
                    <a16:rowId xmlns:a16="http://schemas.microsoft.com/office/drawing/2014/main" val="10013"/>
                  </a:ext>
                </a:extLst>
              </a:tr>
              <a:tr h="385554">
                <a:tc>
                  <a:txBody>
                    <a:bodyPr/>
                    <a:lstStyle/>
                    <a:p>
                      <a:pPr marL="0" marR="0" lvl="0" indent="0" algn="ctr" defTabSz="914400" rtl="0" eaLnBrk="1" fontAlgn="b" latinLnBrk="0" hangingPunct="1">
                        <a:lnSpc>
                          <a:spcPct val="80000"/>
                        </a:lnSpc>
                        <a:spcBef>
                          <a:spcPct val="0"/>
                        </a:spcBef>
                        <a:spcAft>
                          <a:spcPct val="0"/>
                        </a:spcAft>
                        <a:buClrTx/>
                        <a:buSzTx/>
                        <a:buFontTx/>
                        <a:buNone/>
                        <a:tabLst/>
                      </a:pPr>
                      <a:endParaRPr kumimoji="0" lang="zh-CN" altLang="zh-CN" sz="1800" b="1" i="0" u="none" strike="noStrike" cap="none" normalizeH="0" baseline="0" dirty="0" smtClean="0">
                        <a:ln>
                          <a:noFill/>
                        </a:ln>
                        <a:solidFill>
                          <a:schemeClr val="tx1"/>
                        </a:solidFill>
                        <a:effectLst/>
                        <a:latin typeface="Arial" charset="0"/>
                        <a:ea typeface="宋体" pitchFamily="2" charset="-122"/>
                      </a:endParaRPr>
                    </a:p>
                  </a:txBody>
                  <a:tcPr anchor="b" horzOverflow="overflow">
                    <a:lnL cap="flat">
                      <a:noFill/>
                    </a:lnL>
                    <a:lnR cap="flat">
                      <a:noFill/>
                    </a:lnR>
                    <a:lnT>
                      <a:noFill/>
                    </a:lnT>
                    <a:lnB w="12700" cap="flat" cmpd="sng" algn="ctr">
                      <a:solidFill>
                        <a:srgbClr val="000000"/>
                      </a:solidFill>
                      <a:prstDash val="solid"/>
                      <a:round/>
                      <a:headEnd type="none" w="med" len="med"/>
                      <a:tailEnd type="none" w="med" len="med"/>
                    </a:lnB>
                    <a:lnTlToBr>
                      <a:noFill/>
                    </a:lnTlToBr>
                    <a:lnBlToTr>
                      <a:noFill/>
                    </a:lnBlToTr>
                    <a:solidFill>
                      <a:srgbClr val="99CC00"/>
                    </a:solidFill>
                  </a:tcPr>
                </a:tc>
                <a:extLst>
                  <a:ext uri="{0D108BD9-81ED-4DB2-BD59-A6C34878D82A}">
                    <a16:rowId xmlns:a16="http://schemas.microsoft.com/office/drawing/2014/main" val="10014"/>
                  </a:ext>
                </a:extLst>
              </a:tr>
            </a:tbl>
          </a:graphicData>
        </a:graphic>
      </p:graphicFrame>
      <p:graphicFrame>
        <p:nvGraphicFramePr>
          <p:cNvPr id="15" name="Group 142"/>
          <p:cNvGraphicFramePr>
            <a:graphicFrameLocks noGrp="1"/>
          </p:cNvGraphicFramePr>
          <p:nvPr>
            <p:extLst>
              <p:ext uri="{D42A27DB-BD31-4B8C-83A1-F6EECF244321}">
                <p14:modId xmlns:p14="http://schemas.microsoft.com/office/powerpoint/2010/main" val="445347145"/>
              </p:ext>
            </p:extLst>
          </p:nvPr>
        </p:nvGraphicFramePr>
        <p:xfrm>
          <a:off x="7368220" y="32958"/>
          <a:ext cx="1358675" cy="6841174"/>
        </p:xfrm>
        <a:graphic>
          <a:graphicData uri="http://schemas.openxmlformats.org/drawingml/2006/table">
            <a:tbl>
              <a:tblPr/>
              <a:tblGrid>
                <a:gridCol w="1358675">
                  <a:extLst>
                    <a:ext uri="{9D8B030D-6E8A-4147-A177-3AD203B41FA5}">
                      <a16:colId xmlns:a16="http://schemas.microsoft.com/office/drawing/2014/main" val="20000"/>
                    </a:ext>
                  </a:extLst>
                </a:gridCol>
              </a:tblGrid>
              <a:tr h="836613">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2000" b="1" i="0" u="none" strike="noStrike" cap="none" normalizeH="0" baseline="0" dirty="0" smtClean="0">
                          <a:ln>
                            <a:noFill/>
                          </a:ln>
                          <a:solidFill>
                            <a:srgbClr val="000000"/>
                          </a:solidFill>
                          <a:effectLst/>
                          <a:latin typeface="宋体" pitchFamily="2" charset="-122"/>
                          <a:ea typeface="宋体" pitchFamily="2" charset="-122"/>
                        </a:rPr>
                        <a:t>移正平均</a:t>
                      </a:r>
                    </a:p>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2000" b="0" i="0" u="none" strike="noStrike" cap="none" normalizeH="0" baseline="0" dirty="0" smtClean="0">
                          <a:ln>
                            <a:noFill/>
                          </a:ln>
                          <a:solidFill>
                            <a:srgbClr val="000000"/>
                          </a:solidFill>
                          <a:effectLst/>
                          <a:latin typeface="宋体" pitchFamily="2" charset="-122"/>
                          <a:ea typeface="宋体" pitchFamily="2" charset="-122"/>
                        </a:rPr>
                        <a:t>（中心化）</a:t>
                      </a:r>
                      <a:endParaRPr kumimoji="0" lang="zh-CN" altLang="en-US" sz="2000" b="0"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6">
                        <a:lumMod val="20000"/>
                        <a:lumOff val="80000"/>
                      </a:schemeClr>
                    </a:solidFill>
                  </a:tcPr>
                </a:tc>
                <a:extLst>
                  <a:ext uri="{0D108BD9-81ED-4DB2-BD59-A6C34878D82A}">
                    <a16:rowId xmlns:a16="http://schemas.microsoft.com/office/drawing/2014/main" val="10000"/>
                  </a:ext>
                </a:extLst>
              </a:tr>
              <a:tr h="366713">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Arial"/>
                          <a:ea typeface="宋体" pitchFamily="2" charset="-122"/>
                        </a:rPr>
                        <a:t>——</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solidFill>
                      <a:schemeClr val="accent6">
                        <a:lumMod val="20000"/>
                        <a:lumOff val="80000"/>
                      </a:schemeClr>
                    </a:solidFill>
                  </a:tcPr>
                </a:tc>
                <a:extLst>
                  <a:ext uri="{0D108BD9-81ED-4DB2-BD59-A6C34878D82A}">
                    <a16:rowId xmlns:a16="http://schemas.microsoft.com/office/drawing/2014/main" val="10001"/>
                  </a:ext>
                </a:extLst>
              </a:tr>
              <a:tr h="36195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Arial"/>
                          <a:ea typeface="宋体" pitchFamily="2" charset="-122"/>
                        </a:rPr>
                        <a:t>——</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6">
                        <a:lumMod val="20000"/>
                        <a:lumOff val="80000"/>
                      </a:schemeClr>
                    </a:solidFill>
                  </a:tcPr>
                </a:tc>
                <a:extLst>
                  <a:ext uri="{0D108BD9-81ED-4DB2-BD59-A6C34878D82A}">
                    <a16:rowId xmlns:a16="http://schemas.microsoft.com/office/drawing/2014/main" val="10002"/>
                  </a:ext>
                </a:extLst>
              </a:tr>
              <a:tr h="447675">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rgbClr val="FF00FF"/>
                          </a:solidFill>
                          <a:effectLst/>
                          <a:latin typeface="+mj-lt"/>
                          <a:ea typeface="+mj-ea"/>
                        </a:rPr>
                        <a:t>11.6</a:t>
                      </a:r>
                      <a:endParaRPr kumimoji="0" lang="zh-CN" altLang="zh-CN" sz="1800" b="0" i="0" u="none" strike="noStrike" cap="none" normalizeH="0" baseline="0" dirty="0" smtClean="0">
                        <a:ln>
                          <a:noFill/>
                        </a:ln>
                        <a:solidFill>
                          <a:srgbClr val="FF00FF"/>
                        </a:solidFill>
                        <a:effectLst/>
                        <a:latin typeface="+mj-lt"/>
                        <a:ea typeface="+mj-ea"/>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6">
                        <a:lumMod val="20000"/>
                        <a:lumOff val="80000"/>
                      </a:schemeClr>
                    </a:solidFill>
                  </a:tcPr>
                </a:tc>
                <a:extLst>
                  <a:ext uri="{0D108BD9-81ED-4DB2-BD59-A6C34878D82A}">
                    <a16:rowId xmlns:a16="http://schemas.microsoft.com/office/drawing/2014/main" val="10003"/>
                  </a:ext>
                </a:extLst>
              </a:tr>
              <a:tr h="43180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12.2 </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6">
                        <a:lumMod val="20000"/>
                        <a:lumOff val="80000"/>
                      </a:schemeClr>
                    </a:solidFill>
                  </a:tcPr>
                </a:tc>
                <a:extLst>
                  <a:ext uri="{0D108BD9-81ED-4DB2-BD59-A6C34878D82A}">
                    <a16:rowId xmlns:a16="http://schemas.microsoft.com/office/drawing/2014/main" val="10004"/>
                  </a:ext>
                </a:extLst>
              </a:tr>
              <a:tr h="36195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12.7 </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6">
                        <a:lumMod val="20000"/>
                        <a:lumOff val="80000"/>
                      </a:schemeClr>
                    </a:solidFill>
                  </a:tcPr>
                </a:tc>
                <a:extLst>
                  <a:ext uri="{0D108BD9-81ED-4DB2-BD59-A6C34878D82A}">
                    <a16:rowId xmlns:a16="http://schemas.microsoft.com/office/drawing/2014/main" val="10005"/>
                  </a:ext>
                </a:extLst>
              </a:tr>
              <a:tr h="366713">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13.2 </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6">
                        <a:lumMod val="20000"/>
                        <a:lumOff val="80000"/>
                      </a:schemeClr>
                    </a:solidFill>
                  </a:tcPr>
                </a:tc>
                <a:extLst>
                  <a:ext uri="{0D108BD9-81ED-4DB2-BD59-A6C34878D82A}">
                    <a16:rowId xmlns:a16="http://schemas.microsoft.com/office/drawing/2014/main" val="10006"/>
                  </a:ext>
                </a:extLst>
              </a:tr>
              <a:tr h="363538">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13.7 </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6">
                        <a:lumMod val="20000"/>
                        <a:lumOff val="80000"/>
                      </a:schemeClr>
                    </a:solidFill>
                  </a:tcPr>
                </a:tc>
                <a:extLst>
                  <a:ext uri="{0D108BD9-81ED-4DB2-BD59-A6C34878D82A}">
                    <a16:rowId xmlns:a16="http://schemas.microsoft.com/office/drawing/2014/main" val="10007"/>
                  </a:ext>
                </a:extLst>
              </a:tr>
              <a:tr h="344488">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14.3 </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6">
                        <a:lumMod val="20000"/>
                        <a:lumOff val="80000"/>
                      </a:schemeClr>
                    </a:solidFill>
                  </a:tcPr>
                </a:tc>
                <a:extLst>
                  <a:ext uri="{0D108BD9-81ED-4DB2-BD59-A6C34878D82A}">
                    <a16:rowId xmlns:a16="http://schemas.microsoft.com/office/drawing/2014/main" val="10008"/>
                  </a:ext>
                </a:extLst>
              </a:tr>
              <a:tr h="365125">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14.9 </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6">
                        <a:lumMod val="20000"/>
                        <a:lumOff val="80000"/>
                      </a:schemeClr>
                    </a:solidFill>
                  </a:tcPr>
                </a:tc>
                <a:extLst>
                  <a:ext uri="{0D108BD9-81ED-4DB2-BD59-A6C34878D82A}">
                    <a16:rowId xmlns:a16="http://schemas.microsoft.com/office/drawing/2014/main" val="10009"/>
                  </a:ext>
                </a:extLst>
              </a:tr>
              <a:tr h="365125">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15.4 </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6">
                        <a:lumMod val="20000"/>
                        <a:lumOff val="80000"/>
                      </a:schemeClr>
                    </a:solidFill>
                  </a:tcPr>
                </a:tc>
                <a:extLst>
                  <a:ext uri="{0D108BD9-81ED-4DB2-BD59-A6C34878D82A}">
                    <a16:rowId xmlns:a16="http://schemas.microsoft.com/office/drawing/2014/main" val="10010"/>
                  </a:ext>
                </a:extLst>
              </a:tr>
              <a:tr h="365125">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15.9 </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6">
                        <a:lumMod val="20000"/>
                        <a:lumOff val="80000"/>
                      </a:schemeClr>
                    </a:solidFill>
                  </a:tcPr>
                </a:tc>
                <a:extLst>
                  <a:ext uri="{0D108BD9-81ED-4DB2-BD59-A6C34878D82A}">
                    <a16:rowId xmlns:a16="http://schemas.microsoft.com/office/drawing/2014/main" val="10011"/>
                  </a:ext>
                </a:extLst>
              </a:tr>
              <a:tr h="365125">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16.5 </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6">
                        <a:lumMod val="20000"/>
                        <a:lumOff val="80000"/>
                      </a:schemeClr>
                    </a:solidFill>
                  </a:tcPr>
                </a:tc>
                <a:extLst>
                  <a:ext uri="{0D108BD9-81ED-4DB2-BD59-A6C34878D82A}">
                    <a16:rowId xmlns:a16="http://schemas.microsoft.com/office/drawing/2014/main" val="10012"/>
                  </a:ext>
                </a:extLst>
              </a:tr>
              <a:tr h="363538">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17.0 </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6">
                        <a:lumMod val="20000"/>
                        <a:lumOff val="80000"/>
                      </a:schemeClr>
                    </a:solidFill>
                  </a:tcPr>
                </a:tc>
                <a:extLst>
                  <a:ext uri="{0D108BD9-81ED-4DB2-BD59-A6C34878D82A}">
                    <a16:rowId xmlns:a16="http://schemas.microsoft.com/office/drawing/2014/main" val="10013"/>
                  </a:ext>
                </a:extLst>
              </a:tr>
              <a:tr h="360363">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17.6 </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6">
                        <a:lumMod val="20000"/>
                        <a:lumOff val="80000"/>
                      </a:schemeClr>
                    </a:solidFill>
                  </a:tcPr>
                </a:tc>
                <a:extLst>
                  <a:ext uri="{0D108BD9-81ED-4DB2-BD59-A6C34878D82A}">
                    <a16:rowId xmlns:a16="http://schemas.microsoft.com/office/drawing/2014/main" val="10014"/>
                  </a:ext>
                </a:extLst>
              </a:tr>
              <a:tr h="365125">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Arial"/>
                          <a:ea typeface="宋体" pitchFamily="2" charset="-122"/>
                        </a:rPr>
                        <a:t>——</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chemeClr val="accent6">
                        <a:lumMod val="20000"/>
                        <a:lumOff val="80000"/>
                      </a:schemeClr>
                    </a:solidFill>
                  </a:tcPr>
                </a:tc>
                <a:extLst>
                  <a:ext uri="{0D108BD9-81ED-4DB2-BD59-A6C34878D82A}">
                    <a16:rowId xmlns:a16="http://schemas.microsoft.com/office/drawing/2014/main" val="10015"/>
                  </a:ext>
                </a:extLst>
              </a:tr>
              <a:tr h="36830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Arial"/>
                          <a:ea typeface="宋体" pitchFamily="2" charset="-122"/>
                        </a:rPr>
                        <a:t>——</a:t>
                      </a:r>
                      <a:endParaRPr kumimoji="0" lang="en-US" altLang="zh-CN" sz="1800" b="0"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solidFill>
                      <a:schemeClr val="accent6">
                        <a:lumMod val="20000"/>
                        <a:lumOff val="80000"/>
                      </a:schemeClr>
                    </a:solidFill>
                  </a:tcPr>
                </a:tc>
                <a:extLst>
                  <a:ext uri="{0D108BD9-81ED-4DB2-BD59-A6C34878D82A}">
                    <a16:rowId xmlns:a16="http://schemas.microsoft.com/office/drawing/2014/main" val="10016"/>
                  </a:ext>
                </a:extLst>
              </a:tr>
            </a:tbl>
          </a:graphicData>
        </a:graphic>
      </p:graphicFrame>
      <p:graphicFrame>
        <p:nvGraphicFramePr>
          <p:cNvPr id="16" name="Group 139"/>
          <p:cNvGraphicFramePr>
            <a:graphicFrameLocks noGrp="1"/>
          </p:cNvGraphicFramePr>
          <p:nvPr>
            <p:extLst>
              <p:ext uri="{D42A27DB-BD31-4B8C-83A1-F6EECF244321}">
                <p14:modId xmlns:p14="http://schemas.microsoft.com/office/powerpoint/2010/main" val="3972024541"/>
              </p:ext>
            </p:extLst>
          </p:nvPr>
        </p:nvGraphicFramePr>
        <p:xfrm>
          <a:off x="6207125" y="71438"/>
          <a:ext cx="1149350" cy="863600"/>
        </p:xfrm>
        <a:graphic>
          <a:graphicData uri="http://schemas.openxmlformats.org/drawingml/2006/table">
            <a:tbl>
              <a:tblPr/>
              <a:tblGrid>
                <a:gridCol w="1149350">
                  <a:extLst>
                    <a:ext uri="{9D8B030D-6E8A-4147-A177-3AD203B41FA5}">
                      <a16:colId xmlns:a16="http://schemas.microsoft.com/office/drawing/2014/main" val="20000"/>
                    </a:ext>
                  </a:extLst>
                </a:gridCol>
              </a:tblGrid>
              <a:tr h="86360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2200" b="1" i="0" u="none" strike="noStrike" cap="none" normalizeH="0" baseline="0" dirty="0" smtClean="0">
                          <a:ln>
                            <a:noFill/>
                          </a:ln>
                          <a:solidFill>
                            <a:srgbClr val="000000"/>
                          </a:solidFill>
                          <a:effectLst/>
                          <a:latin typeface="宋体" pitchFamily="2" charset="-122"/>
                          <a:ea typeface="宋体" pitchFamily="2" charset="-122"/>
                        </a:rPr>
                        <a:t>  4</a:t>
                      </a:r>
                      <a:r>
                        <a:rPr kumimoji="0" lang="zh-CN" altLang="en-US" sz="2200" b="1" i="0" u="none" strike="noStrike" cap="none" normalizeH="0" baseline="0" dirty="0" smtClean="0">
                          <a:ln>
                            <a:noFill/>
                          </a:ln>
                          <a:solidFill>
                            <a:srgbClr val="000000"/>
                          </a:solidFill>
                          <a:effectLst/>
                          <a:latin typeface="宋体" pitchFamily="2" charset="-122"/>
                          <a:ea typeface="宋体" pitchFamily="2" charset="-122"/>
                        </a:rPr>
                        <a:t>项 </a:t>
                      </a:r>
                    </a:p>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rgbClr val="000000"/>
                          </a:solidFill>
                          <a:effectLst/>
                          <a:latin typeface="宋体" pitchFamily="2" charset="-122"/>
                          <a:ea typeface="宋体" pitchFamily="2" charset="-122"/>
                        </a:rPr>
                        <a:t>移动平均</a:t>
                      </a:r>
                      <a:endParaRPr kumimoji="0" lang="zh-CN" altLang="en-US" sz="18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cap="flat">
                      <a:noFill/>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CC00"/>
                    </a:solidFill>
                  </a:tcPr>
                </a:tc>
                <a:extLst>
                  <a:ext uri="{0D108BD9-81ED-4DB2-BD59-A6C34878D82A}">
                    <a16:rowId xmlns:a16="http://schemas.microsoft.com/office/drawing/2014/main" val="10000"/>
                  </a:ext>
                </a:extLst>
              </a:tr>
            </a:tbl>
          </a:graphicData>
        </a:graphic>
      </p:graphicFrame>
      <p:sp>
        <p:nvSpPr>
          <p:cNvPr id="125107" name="AutoShape 127"/>
          <p:cNvSpPr>
            <a:spLocks/>
          </p:cNvSpPr>
          <p:nvPr/>
        </p:nvSpPr>
        <p:spPr bwMode="auto">
          <a:xfrm>
            <a:off x="5980111" y="1053720"/>
            <a:ext cx="431800" cy="1223962"/>
          </a:xfrm>
          <a:prstGeom prst="rightBrace">
            <a:avLst>
              <a:gd name="adj1" fmla="val 23621"/>
              <a:gd name="adj2" fmla="val 50000"/>
            </a:avLst>
          </a:prstGeom>
          <a:noFill/>
          <a:ln w="38100">
            <a:solidFill>
              <a:srgbClr val="FF0066"/>
            </a:solidFill>
            <a:round/>
            <a:headEnd/>
            <a:tailEnd/>
          </a:ln>
        </p:spPr>
        <p:txBody>
          <a:bodyPr wrap="none" anchor="ctr"/>
          <a:lstStyle/>
          <a:p>
            <a:endParaRPr lang="zh-CN" altLang="en-US"/>
          </a:p>
        </p:txBody>
      </p:sp>
      <p:sp>
        <p:nvSpPr>
          <p:cNvPr id="18" name="AutoShape 132"/>
          <p:cNvSpPr>
            <a:spLocks/>
          </p:cNvSpPr>
          <p:nvPr/>
        </p:nvSpPr>
        <p:spPr bwMode="auto">
          <a:xfrm>
            <a:off x="7083424" y="1580765"/>
            <a:ext cx="361090" cy="486159"/>
          </a:xfrm>
          <a:prstGeom prst="rightBrace">
            <a:avLst>
              <a:gd name="adj1" fmla="val 8333"/>
              <a:gd name="adj2" fmla="val 50000"/>
            </a:avLst>
          </a:prstGeom>
          <a:noFill/>
          <a:ln w="38100">
            <a:solidFill>
              <a:srgbClr val="FF00FF"/>
            </a:solidFill>
            <a:round/>
            <a:headEnd/>
            <a:tailEnd/>
          </a:ln>
        </p:spPr>
        <p:txBody>
          <a:bodyPr wrap="none" anchor="ctr"/>
          <a:lstStyle/>
          <a:p>
            <a:endParaRPr lang="zh-CN" altLang="en-US"/>
          </a:p>
        </p:txBody>
      </p:sp>
      <p:sp>
        <p:nvSpPr>
          <p:cNvPr id="125111" name="日期占位符 20"/>
          <p:cNvSpPr>
            <a:spLocks noGrp="1"/>
          </p:cNvSpPr>
          <p:nvPr>
            <p:ph type="dt" sz="quarter" idx="10"/>
          </p:nvPr>
        </p:nvSpPr>
        <p:spPr>
          <a:noFill/>
        </p:spPr>
        <p:txBody>
          <a:bodyPr/>
          <a:lstStyle/>
          <a:p>
            <a:endParaRPr lang="en-US" altLang="zh-CN" smtClean="0"/>
          </a:p>
        </p:txBody>
      </p:sp>
    </p:spTree>
  </p:cSld>
  <p:clrMapOvr>
    <a:masterClrMapping/>
  </p:clrMapOv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5" name="Rectangle 2"/>
          <p:cNvSpPr>
            <a:spLocks noChangeArrowheads="1"/>
          </p:cNvSpPr>
          <p:nvPr/>
        </p:nvSpPr>
        <p:spPr bwMode="auto">
          <a:xfrm>
            <a:off x="676566" y="2060848"/>
            <a:ext cx="8153400" cy="3379788"/>
          </a:xfrm>
          <a:prstGeom prst="rect">
            <a:avLst/>
          </a:prstGeom>
          <a:noFill/>
          <a:ln w="12700">
            <a:noFill/>
            <a:miter lim="800000"/>
            <a:headEnd/>
            <a:tailEnd/>
          </a:ln>
        </p:spPr>
        <p:txBody>
          <a:bodyPr lIns="90488" tIns="44450" rIns="90488" bIns="44450">
            <a:spAutoFit/>
          </a:bodyPr>
          <a:lstStyle/>
          <a:p>
            <a:pPr algn="just">
              <a:lnSpc>
                <a:spcPct val="120000"/>
              </a:lnSpc>
              <a:spcBef>
                <a:spcPct val="50000"/>
              </a:spcBef>
            </a:pPr>
            <a:r>
              <a:rPr kumimoji="1" lang="en-US" altLang="zh-CN" sz="2400" dirty="0">
                <a:solidFill>
                  <a:srgbClr val="FF00FF"/>
                </a:solidFill>
                <a:latin typeface="黑体" pitchFamily="49" charset="-122"/>
                <a:ea typeface="黑体" pitchFamily="49" charset="-122"/>
              </a:rPr>
              <a:t>  ◆</a:t>
            </a:r>
            <a:r>
              <a:rPr kumimoji="1" lang="en-US" altLang="zh-CN" sz="2400" dirty="0">
                <a:solidFill>
                  <a:srgbClr val="000000"/>
                </a:solidFill>
                <a:latin typeface="黑体" pitchFamily="49" charset="-122"/>
                <a:ea typeface="黑体" pitchFamily="49" charset="-122"/>
              </a:rPr>
              <a:t> </a:t>
            </a:r>
            <a:r>
              <a:rPr kumimoji="1" lang="zh-CN" altLang="en-US" sz="2800" dirty="0">
                <a:solidFill>
                  <a:srgbClr val="000000"/>
                </a:solidFill>
                <a:latin typeface="黑体" pitchFamily="49" charset="-122"/>
                <a:ea typeface="黑体" pitchFamily="49" charset="-122"/>
              </a:rPr>
              <a:t>取决于移动平均的项数是否能与时间序列中的循环周期长度一致。</a:t>
            </a:r>
          </a:p>
          <a:p>
            <a:pPr>
              <a:lnSpc>
                <a:spcPct val="120000"/>
              </a:lnSpc>
              <a:spcBef>
                <a:spcPct val="50000"/>
              </a:spcBef>
            </a:pPr>
            <a:r>
              <a:rPr lang="zh-CN" altLang="en-US" sz="2800" dirty="0">
                <a:solidFill>
                  <a:srgbClr val="000000"/>
                </a:solidFill>
                <a:latin typeface="Verdana" pitchFamily="34" charset="0"/>
                <a:ea typeface="黑体" pitchFamily="49" charset="-122"/>
              </a:rPr>
              <a:t>  </a:t>
            </a:r>
            <a:r>
              <a:rPr kumimoji="1" lang="zh-CN" altLang="en-US" sz="2400" dirty="0">
                <a:solidFill>
                  <a:srgbClr val="FF00FF"/>
                </a:solidFill>
                <a:latin typeface="黑体" pitchFamily="49" charset="-122"/>
                <a:ea typeface="黑体" pitchFamily="49" charset="-122"/>
              </a:rPr>
              <a:t>◆ </a:t>
            </a:r>
            <a:r>
              <a:rPr lang="zh-CN" altLang="en-US" sz="2800" dirty="0">
                <a:solidFill>
                  <a:srgbClr val="000000"/>
                </a:solidFill>
                <a:latin typeface="Verdana" pitchFamily="34" charset="0"/>
                <a:ea typeface="黑体" pitchFamily="49" charset="-122"/>
              </a:rPr>
              <a:t>但循环波动的周期长度远不如季节周期长度那么有规律，在同一数列中，各循环周期的长度是各不相同的。因而，固定平均项数的移动平均也就很难将数列中的循环波动完全消除。</a:t>
            </a:r>
          </a:p>
        </p:txBody>
      </p:sp>
      <p:sp>
        <p:nvSpPr>
          <p:cNvPr id="188419" name="Rectangle 3"/>
          <p:cNvSpPr>
            <a:spLocks noChangeArrowheads="1"/>
          </p:cNvSpPr>
          <p:nvPr/>
        </p:nvSpPr>
        <p:spPr bwMode="auto">
          <a:xfrm>
            <a:off x="1476375" y="981075"/>
            <a:ext cx="5895975" cy="579438"/>
          </a:xfrm>
          <a:prstGeom prst="rect">
            <a:avLst/>
          </a:prstGeom>
          <a:noFill/>
          <a:ln w="12700" cap="sq">
            <a:noFill/>
            <a:miter lim="800000"/>
            <a:headEnd type="none" w="sm" len="sm"/>
            <a:tailEnd type="none" w="sm" len="sm"/>
          </a:ln>
          <a:effectLst/>
        </p:spPr>
        <p:txBody>
          <a:bodyPr wrap="none">
            <a:spAutoFit/>
          </a:bodyPr>
          <a:lstStyle/>
          <a:p>
            <a:pPr>
              <a:defRPr/>
            </a:pPr>
            <a:r>
              <a:rPr kumimoji="1" lang="zh-CN" altLang="en-US" sz="3200" b="1">
                <a:solidFill>
                  <a:srgbClr val="3333FF"/>
                </a:solidFill>
                <a:effectLst>
                  <a:outerShdw blurRad="38100" dist="38100" dir="2700000" algn="tl">
                    <a:srgbClr val="C0C0C0"/>
                  </a:outerShdw>
                </a:effectLst>
                <a:latin typeface="黑体" pitchFamily="2" charset="-122"/>
                <a:ea typeface="黑体" pitchFamily="2" charset="-122"/>
              </a:rPr>
              <a:t>移动平均是否能消除循环变动？</a:t>
            </a:r>
          </a:p>
        </p:txBody>
      </p:sp>
      <p:sp>
        <p:nvSpPr>
          <p:cNvPr id="125957" name="日期占位符 4"/>
          <p:cNvSpPr>
            <a:spLocks noGrp="1"/>
          </p:cNvSpPr>
          <p:nvPr>
            <p:ph type="dt" sz="quarter" idx="10"/>
          </p:nvPr>
        </p:nvSpPr>
        <p:spPr>
          <a:noFill/>
        </p:spPr>
        <p:txBody>
          <a:bodyPr/>
          <a:lstStyle/>
          <a:p>
            <a:endParaRPr lang="en-US" altLang="zh-CN" smtClean="0"/>
          </a:p>
        </p:txBody>
      </p:sp>
    </p:spTree>
  </p:cSld>
  <p:clrMapOvr>
    <a:masterClrMapping/>
  </p:clrMapOvr>
  <p:transition>
    <p:cover dir="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9" name="Rectangle 2"/>
          <p:cNvSpPr>
            <a:spLocks noGrp="1" noChangeArrowheads="1"/>
          </p:cNvSpPr>
          <p:nvPr>
            <p:ph type="title"/>
          </p:nvPr>
        </p:nvSpPr>
        <p:spPr/>
        <p:txBody>
          <a:bodyPr/>
          <a:lstStyle/>
          <a:p>
            <a:pPr eaLnBrk="1" hangingPunct="1"/>
            <a:r>
              <a:rPr lang="zh-CN" altLang="en-US" dirty="0" smtClean="0"/>
              <a:t>（续）</a:t>
            </a:r>
          </a:p>
        </p:txBody>
      </p:sp>
      <p:sp>
        <p:nvSpPr>
          <p:cNvPr id="126980" name="Rectangle 3"/>
          <p:cNvSpPr>
            <a:spLocks noGrp="1" noChangeArrowheads="1"/>
          </p:cNvSpPr>
          <p:nvPr>
            <p:ph type="body" idx="1"/>
          </p:nvPr>
        </p:nvSpPr>
        <p:spPr>
          <a:xfrm>
            <a:off x="533400" y="1447800"/>
            <a:ext cx="7848600" cy="4286250"/>
          </a:xfrm>
        </p:spPr>
        <p:txBody>
          <a:bodyPr/>
          <a:lstStyle/>
          <a:p>
            <a:pPr marL="571500" indent="-571500" eaLnBrk="1" hangingPunct="1">
              <a:lnSpc>
                <a:spcPct val="115000"/>
              </a:lnSpc>
              <a:spcBef>
                <a:spcPct val="25000"/>
              </a:spcBef>
              <a:buFontTx/>
              <a:buNone/>
            </a:pPr>
            <a:r>
              <a:rPr lang="en-US" altLang="zh-CN" b="0" dirty="0" smtClean="0">
                <a:solidFill>
                  <a:srgbClr val="002060"/>
                </a:solidFill>
                <a:latin typeface="Times New Roman" pitchFamily="18" charset="0"/>
              </a:rPr>
              <a:t> </a:t>
            </a:r>
            <a:r>
              <a:rPr lang="en-US" altLang="zh-CN" b="0" dirty="0" smtClean="0">
                <a:solidFill>
                  <a:srgbClr val="002060"/>
                </a:solidFill>
                <a:latin typeface="Times New Roman" pitchFamily="18" charset="0"/>
              </a:rPr>
              <a:t>(4)</a:t>
            </a:r>
            <a:r>
              <a:rPr lang="zh-CN" altLang="en-US" dirty="0" smtClean="0">
                <a:solidFill>
                  <a:srgbClr val="002060"/>
                </a:solidFill>
                <a:latin typeface="Times New Roman" pitchFamily="18" charset="0"/>
              </a:rPr>
              <a:t> </a:t>
            </a:r>
            <a:r>
              <a:rPr lang="zh-CN" altLang="en-US" dirty="0" smtClean="0">
                <a:latin typeface="Times New Roman" pitchFamily="18" charset="0"/>
              </a:rPr>
              <a:t>新数列较原数列项数少</a:t>
            </a:r>
            <a:r>
              <a:rPr lang="zh-CN" altLang="en-US" dirty="0" smtClean="0">
                <a:solidFill>
                  <a:schemeClr val="tx1"/>
                </a:solidFill>
                <a:latin typeface="Times New Roman" pitchFamily="18" charset="0"/>
              </a:rPr>
              <a:t>。</a:t>
            </a:r>
          </a:p>
          <a:p>
            <a:pPr marL="971550" lvl="1" eaLnBrk="1" hangingPunct="1">
              <a:lnSpc>
                <a:spcPct val="115000"/>
              </a:lnSpc>
              <a:spcBef>
                <a:spcPct val="25000"/>
              </a:spcBef>
              <a:buFontTx/>
              <a:buNone/>
            </a:pPr>
            <a:r>
              <a:rPr lang="zh-CN" altLang="en-US" sz="3200" dirty="0" smtClean="0">
                <a:latin typeface="Times New Roman" pitchFamily="18" charset="0"/>
              </a:rPr>
              <a:t>移动平均的项数</a:t>
            </a:r>
            <a:r>
              <a:rPr lang="en-US" altLang="zh-CN" sz="3200" dirty="0" smtClean="0">
                <a:latin typeface="Times New Roman" pitchFamily="18" charset="0"/>
                <a:cs typeface="Times New Roman" pitchFamily="18" charset="0"/>
              </a:rPr>
              <a:t>K</a:t>
            </a:r>
            <a:r>
              <a:rPr lang="zh-CN" altLang="en-US" sz="3200" dirty="0" smtClean="0">
                <a:latin typeface="Times New Roman" pitchFamily="18" charset="0"/>
              </a:rPr>
              <a:t>越大，缺项越多。</a:t>
            </a:r>
            <a:r>
              <a:rPr lang="zh-CN" altLang="en-US" sz="3200" dirty="0" smtClean="0"/>
              <a:t> </a:t>
            </a:r>
          </a:p>
          <a:p>
            <a:pPr marL="971550" lvl="1" eaLnBrk="1" hangingPunct="1">
              <a:lnSpc>
                <a:spcPct val="115000"/>
              </a:lnSpc>
              <a:spcBef>
                <a:spcPct val="25000"/>
              </a:spcBef>
            </a:pPr>
            <a:r>
              <a:rPr lang="en-US" altLang="zh-CN" sz="3200" b="0" dirty="0" smtClean="0">
                <a:latin typeface="宋体" pitchFamily="2" charset="-122"/>
              </a:rPr>
              <a:t>K</a:t>
            </a:r>
            <a:r>
              <a:rPr lang="zh-CN" altLang="en-US" sz="3200" b="0" dirty="0" smtClean="0">
                <a:latin typeface="宋体" pitchFamily="2" charset="-122"/>
              </a:rPr>
              <a:t>为奇数时，新数列首尾各少       （</a:t>
            </a:r>
            <a:r>
              <a:rPr lang="en-US" altLang="zh-CN" sz="3200" b="0" dirty="0" smtClean="0">
                <a:latin typeface="宋体" pitchFamily="2" charset="-122"/>
              </a:rPr>
              <a:t>K-1</a:t>
            </a:r>
            <a:r>
              <a:rPr lang="zh-CN" altLang="en-US" sz="3200" b="0" dirty="0" smtClean="0">
                <a:latin typeface="宋体" pitchFamily="2" charset="-122"/>
              </a:rPr>
              <a:t>）</a:t>
            </a:r>
            <a:r>
              <a:rPr lang="en-US" altLang="zh-CN" sz="3200" b="0" dirty="0" smtClean="0">
                <a:latin typeface="宋体" pitchFamily="2" charset="-122"/>
              </a:rPr>
              <a:t>/2</a:t>
            </a:r>
            <a:r>
              <a:rPr lang="zh-CN" altLang="en-US" sz="3200" b="0" dirty="0" smtClean="0">
                <a:latin typeface="宋体" pitchFamily="2" charset="-122"/>
              </a:rPr>
              <a:t>项；</a:t>
            </a:r>
          </a:p>
          <a:p>
            <a:pPr marL="971550" lvl="1" eaLnBrk="1" hangingPunct="1">
              <a:lnSpc>
                <a:spcPct val="115000"/>
              </a:lnSpc>
              <a:spcBef>
                <a:spcPct val="25000"/>
              </a:spcBef>
            </a:pPr>
            <a:r>
              <a:rPr lang="en-US" altLang="zh-CN" sz="3200" b="0" dirty="0" smtClean="0">
                <a:latin typeface="宋体" pitchFamily="2" charset="-122"/>
              </a:rPr>
              <a:t>K</a:t>
            </a:r>
            <a:r>
              <a:rPr lang="zh-CN" altLang="en-US" sz="3200" b="0" dirty="0" smtClean="0">
                <a:latin typeface="宋体" pitchFamily="2" charset="-122"/>
              </a:rPr>
              <a:t>为偶数时，（移正后）新数列首尾各少 </a:t>
            </a:r>
            <a:r>
              <a:rPr lang="en-US" altLang="zh-CN" sz="3200" b="0" dirty="0" smtClean="0">
                <a:latin typeface="宋体" pitchFamily="2" charset="-122"/>
              </a:rPr>
              <a:t>K/2 </a:t>
            </a:r>
            <a:r>
              <a:rPr lang="zh-CN" altLang="en-US" sz="3200" b="0" dirty="0" smtClean="0">
                <a:latin typeface="宋体" pitchFamily="2" charset="-122"/>
              </a:rPr>
              <a:t>项。</a:t>
            </a:r>
          </a:p>
        </p:txBody>
      </p:sp>
      <p:sp>
        <p:nvSpPr>
          <p:cNvPr id="126981" name="日期占位符 4"/>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2"/>
          <p:cNvSpPr>
            <a:spLocks noGrp="1" noChangeArrowheads="1"/>
          </p:cNvSpPr>
          <p:nvPr>
            <p:ph type="title"/>
          </p:nvPr>
        </p:nvSpPr>
        <p:spPr>
          <a:xfrm>
            <a:off x="827088" y="549275"/>
            <a:ext cx="7772400" cy="593725"/>
          </a:xfrm>
        </p:spPr>
        <p:txBody>
          <a:bodyPr/>
          <a:lstStyle/>
          <a:p>
            <a:pPr eaLnBrk="1" hangingPunct="1"/>
            <a:r>
              <a:rPr lang="zh-CN" altLang="en-US" sz="3200" dirty="0" smtClean="0">
                <a:solidFill>
                  <a:srgbClr val="002060"/>
                </a:solidFill>
              </a:rPr>
              <a:t>（</a:t>
            </a:r>
            <a:r>
              <a:rPr lang="en-US" altLang="zh-CN" sz="3200" dirty="0" smtClean="0">
                <a:solidFill>
                  <a:srgbClr val="002060"/>
                </a:solidFill>
              </a:rPr>
              <a:t>5</a:t>
            </a:r>
            <a:r>
              <a:rPr lang="zh-CN" altLang="en-US" sz="3200" dirty="0" smtClean="0">
                <a:solidFill>
                  <a:srgbClr val="002060"/>
                </a:solidFill>
              </a:rPr>
              <a:t>）</a:t>
            </a:r>
            <a:r>
              <a:rPr lang="zh-CN" altLang="en-US" sz="3200" dirty="0" smtClean="0"/>
              <a:t>移动平均值用于水平趋势预测</a:t>
            </a:r>
          </a:p>
        </p:txBody>
      </p:sp>
      <p:sp>
        <p:nvSpPr>
          <p:cNvPr id="69635" name="Rectangle 3"/>
          <p:cNvSpPr>
            <a:spLocks noGrp="1" noChangeArrowheads="1"/>
          </p:cNvSpPr>
          <p:nvPr>
            <p:ph type="body" idx="1"/>
          </p:nvPr>
        </p:nvSpPr>
        <p:spPr>
          <a:xfrm>
            <a:off x="468313" y="1268413"/>
            <a:ext cx="8153400" cy="5184775"/>
          </a:xfrm>
        </p:spPr>
        <p:txBody>
          <a:bodyPr/>
          <a:lstStyle/>
          <a:p>
            <a:pPr marL="571500" indent="-571500" algn="just" eaLnBrk="1" hangingPunct="1">
              <a:lnSpc>
                <a:spcPct val="110000"/>
              </a:lnSpc>
              <a:spcBef>
                <a:spcPct val="30000"/>
              </a:spcBef>
              <a:buFontTx/>
              <a:buNone/>
            </a:pPr>
            <a:r>
              <a:rPr lang="zh-CN" altLang="en-US" sz="2800" b="0" dirty="0" smtClean="0">
                <a:latin typeface="Times New Roman" pitchFamily="18" charset="0"/>
              </a:rPr>
              <a:t>移动平均法可以呈现出现象的长期趋势（将平均值作为过去相应时间上的趋势值），但本身</a:t>
            </a:r>
            <a:r>
              <a:rPr lang="zh-CN" altLang="en-US" sz="2800" dirty="0" smtClean="0">
                <a:solidFill>
                  <a:srgbClr val="FF6600"/>
                </a:solidFill>
                <a:latin typeface="Times New Roman" pitchFamily="18" charset="0"/>
              </a:rPr>
              <a:t>不能进行外推预测</a:t>
            </a:r>
            <a:r>
              <a:rPr lang="zh-CN" altLang="en-US" sz="2800" b="0" dirty="0" smtClean="0">
                <a:latin typeface="Times New Roman" pitchFamily="18" charset="0"/>
              </a:rPr>
              <a:t>。</a:t>
            </a:r>
          </a:p>
          <a:p>
            <a:pPr marL="971550" lvl="1" algn="just" eaLnBrk="1" hangingPunct="1">
              <a:lnSpc>
                <a:spcPct val="110000"/>
              </a:lnSpc>
              <a:spcBef>
                <a:spcPct val="30000"/>
              </a:spcBef>
            </a:pPr>
            <a:r>
              <a:rPr lang="zh-CN" altLang="en-US" b="0" dirty="0" smtClean="0">
                <a:latin typeface="Times New Roman" pitchFamily="18" charset="0"/>
              </a:rPr>
              <a:t>只有水平趋势才可用移动平均值作为最近一期的预测值：</a:t>
            </a:r>
          </a:p>
          <a:p>
            <a:pPr marL="1657350" lvl="3" algn="just" eaLnBrk="1" hangingPunct="1">
              <a:lnSpc>
                <a:spcPct val="110000"/>
              </a:lnSpc>
              <a:spcBef>
                <a:spcPct val="30000"/>
              </a:spcBef>
            </a:pPr>
            <a:endParaRPr lang="zh-CN" altLang="en-US" b="0" dirty="0" smtClean="0">
              <a:latin typeface="Times New Roman" pitchFamily="18" charset="0"/>
            </a:endParaRPr>
          </a:p>
          <a:p>
            <a:pPr marL="971550" lvl="1" algn="just" eaLnBrk="1" hangingPunct="1">
              <a:lnSpc>
                <a:spcPct val="110000"/>
              </a:lnSpc>
              <a:spcBef>
                <a:spcPct val="30000"/>
              </a:spcBef>
            </a:pPr>
            <a:r>
              <a:rPr lang="zh-CN" altLang="en-US" b="0" dirty="0" smtClean="0">
                <a:latin typeface="Times New Roman" pitchFamily="18" charset="0"/>
              </a:rPr>
              <a:t> 对于呈现增长（或下降）趋势的时间序列，若直接以本期移动平均值为下期预测值会产生</a:t>
            </a:r>
            <a:r>
              <a:rPr lang="zh-CN" altLang="en-US" dirty="0" smtClean="0">
                <a:solidFill>
                  <a:srgbClr val="CC0099"/>
                </a:solidFill>
                <a:latin typeface="Times New Roman" pitchFamily="18" charset="0"/>
              </a:rPr>
              <a:t>滞后偏差</a:t>
            </a:r>
            <a:r>
              <a:rPr lang="zh-CN" altLang="en-US" b="0" dirty="0" smtClean="0">
                <a:latin typeface="Times New Roman" pitchFamily="18" charset="0"/>
              </a:rPr>
              <a:t>。</a:t>
            </a:r>
          </a:p>
          <a:p>
            <a:pPr marL="1314450" lvl="2" algn="just" eaLnBrk="1" hangingPunct="1">
              <a:lnSpc>
                <a:spcPct val="110000"/>
              </a:lnSpc>
              <a:spcBef>
                <a:spcPct val="30000"/>
              </a:spcBef>
            </a:pPr>
            <a:r>
              <a:rPr lang="zh-CN" altLang="en-US" b="0" dirty="0" smtClean="0"/>
              <a:t>移动平均的项数</a:t>
            </a:r>
            <a:r>
              <a:rPr lang="en-US" altLang="zh-CN" b="0" i="1" dirty="0" smtClean="0"/>
              <a:t>K </a:t>
            </a:r>
            <a:r>
              <a:rPr lang="zh-CN" altLang="en-US" b="0" dirty="0" smtClean="0"/>
              <a:t>越大，滞后偏差就越大。</a:t>
            </a:r>
            <a:endParaRPr lang="zh-CN" altLang="en-US" b="0" dirty="0" smtClean="0">
              <a:latin typeface="Times New Roman" pitchFamily="18" charset="0"/>
            </a:endParaRPr>
          </a:p>
        </p:txBody>
      </p:sp>
      <p:sp>
        <p:nvSpPr>
          <p:cNvPr id="37894"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9636" name="Object 4"/>
          <p:cNvGraphicFramePr>
            <a:graphicFrameLocks noChangeAspect="1"/>
          </p:cNvGraphicFramePr>
          <p:nvPr/>
        </p:nvGraphicFramePr>
        <p:xfrm>
          <a:off x="3708400" y="3429000"/>
          <a:ext cx="2016125" cy="792163"/>
        </p:xfrm>
        <a:graphic>
          <a:graphicData uri="http://schemas.openxmlformats.org/presentationml/2006/ole">
            <mc:AlternateContent xmlns:mc="http://schemas.openxmlformats.org/markup-compatibility/2006">
              <mc:Choice xmlns:v="urn:schemas-microsoft-com:vml" Requires="v">
                <p:oleObj spid="_x0000_s37997" name="Equation" r:id="rId3" imgW="609600" imgH="228600" progId="Equation.DSMT4">
                  <p:embed/>
                </p:oleObj>
              </mc:Choice>
              <mc:Fallback>
                <p:oleObj name="Equation" r:id="rId3" imgW="609600" imgH="2286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8400" y="3429000"/>
                        <a:ext cx="2016125" cy="792163"/>
                      </a:xfrm>
                      <a:prstGeom prst="rect">
                        <a:avLst/>
                      </a:prstGeom>
                      <a:noFill/>
                      <a:ln w="28575">
                        <a:solidFill>
                          <a:srgbClr val="CC0099"/>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895" name="日期占位符 6"/>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9635">
                                            <p:txEl>
                                              <p:pRg st="3" end="3"/>
                                            </p:txEl>
                                          </p:spTgt>
                                        </p:tgtEl>
                                        <p:attrNameLst>
                                          <p:attrName>style.visibility</p:attrName>
                                        </p:attrNameLst>
                                      </p:cBhvr>
                                      <p:to>
                                        <p:strVal val="visible"/>
                                      </p:to>
                                    </p:set>
                                    <p:animEffect transition="in" filter="wipe(left)">
                                      <p:cBhvr>
                                        <p:cTn id="7" dur="10"/>
                                        <p:tgtEl>
                                          <p:spTgt spid="69635">
                                            <p:txEl>
                                              <p:pRg st="3" end="3"/>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9635">
                                            <p:txEl>
                                              <p:pRg st="4" end="4"/>
                                            </p:txEl>
                                          </p:spTgt>
                                        </p:tgtEl>
                                        <p:attrNameLst>
                                          <p:attrName>style.visibility</p:attrName>
                                        </p:attrNameLst>
                                      </p:cBhvr>
                                      <p:to>
                                        <p:strVal val="visible"/>
                                      </p:to>
                                    </p:set>
                                    <p:animEffect transition="in" filter="wipe(left)">
                                      <p:cBhvr>
                                        <p:cTn id="10" dur="10"/>
                                        <p:tgtEl>
                                          <p:spTgt spid="6963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uiExpand="1"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0" dirty="0"/>
              <a:t>【</a:t>
            </a:r>
            <a:r>
              <a:rPr lang="zh-CN" altLang="en-US" b="0" dirty="0"/>
              <a:t>附</a:t>
            </a:r>
            <a:r>
              <a:rPr lang="en-US" altLang="zh-CN" b="0" dirty="0"/>
              <a:t>】</a:t>
            </a:r>
            <a:r>
              <a:rPr lang="zh-CN" altLang="en-US" b="0" dirty="0"/>
              <a:t>加权移动平均</a:t>
            </a:r>
            <a:r>
              <a:rPr lang="zh-CN" altLang="en-US" dirty="0"/>
              <a:t>预测</a:t>
            </a:r>
          </a:p>
        </p:txBody>
      </p:sp>
      <p:sp>
        <p:nvSpPr>
          <p:cNvPr id="4" name="日期占位符 3"/>
          <p:cNvSpPr>
            <a:spLocks noGrp="1"/>
          </p:cNvSpPr>
          <p:nvPr>
            <p:ph type="dt" sz="half" idx="10"/>
          </p:nvPr>
        </p:nvSpPr>
        <p:spPr/>
        <p:txBody>
          <a:bodyPr/>
          <a:lstStyle/>
          <a:p>
            <a:pPr>
              <a:defRPr/>
            </a:pPr>
            <a:endParaRPr lang="en-US" altLang="zh-CN"/>
          </a:p>
        </p:txBody>
      </p:sp>
      <p:sp>
        <p:nvSpPr>
          <p:cNvPr id="5" name="Rectangle 4"/>
          <p:cNvSpPr>
            <a:spLocks noChangeArrowheads="1"/>
          </p:cNvSpPr>
          <p:nvPr/>
        </p:nvSpPr>
        <p:spPr bwMode="auto">
          <a:xfrm>
            <a:off x="425599" y="1419093"/>
            <a:ext cx="8230939" cy="647700"/>
          </a:xfrm>
          <a:prstGeom prst="rect">
            <a:avLst/>
          </a:prstGeom>
          <a:noFill/>
          <a:ln w="9525">
            <a:noFill/>
            <a:miter lim="800000"/>
            <a:headEnd/>
            <a:tailEnd/>
          </a:ln>
        </p:spPr>
        <p:txBody>
          <a:bodyPr/>
          <a:lstStyle/>
          <a:p>
            <a:pPr>
              <a:spcBef>
                <a:spcPct val="20000"/>
              </a:spcBef>
              <a:buSzPct val="90000"/>
            </a:pPr>
            <a:r>
              <a:rPr lang="zh-CN" altLang="en-US" sz="3200" b="1" dirty="0">
                <a:solidFill>
                  <a:srgbClr val="CC0099"/>
                </a:solidFill>
                <a:latin typeface="Tahoma" pitchFamily="34" charset="0"/>
              </a:rPr>
              <a:t>第 </a:t>
            </a:r>
            <a:r>
              <a:rPr lang="en-US" altLang="zh-CN" sz="3200" b="1" i="1" dirty="0">
                <a:solidFill>
                  <a:srgbClr val="CC0099"/>
                </a:solidFill>
                <a:latin typeface="Times New Roman" pitchFamily="18" charset="0"/>
              </a:rPr>
              <a:t>t </a:t>
            </a:r>
            <a:r>
              <a:rPr lang="en-US" altLang="zh-CN" sz="3200" b="1" dirty="0">
                <a:solidFill>
                  <a:srgbClr val="CC0099"/>
                </a:solidFill>
                <a:latin typeface="Times New Roman" pitchFamily="18" charset="0"/>
              </a:rPr>
              <a:t>+1</a:t>
            </a:r>
            <a:r>
              <a:rPr lang="en-US" altLang="zh-CN" sz="3200" b="1" dirty="0">
                <a:solidFill>
                  <a:srgbClr val="CC0099"/>
                </a:solidFill>
                <a:latin typeface="Tahoma" pitchFamily="34" charset="0"/>
              </a:rPr>
              <a:t> </a:t>
            </a:r>
            <a:r>
              <a:rPr lang="zh-CN" altLang="en-US" sz="3200" b="1" dirty="0">
                <a:solidFill>
                  <a:srgbClr val="CC0099"/>
                </a:solidFill>
                <a:latin typeface="Tahoma" pitchFamily="34" charset="0"/>
              </a:rPr>
              <a:t>期预测值</a:t>
            </a:r>
            <a:r>
              <a:rPr lang="zh-CN" altLang="en-US" sz="3200" b="1" dirty="0">
                <a:latin typeface="Tahoma" pitchFamily="34" charset="0"/>
              </a:rPr>
              <a:t>的公式：</a:t>
            </a:r>
          </a:p>
        </p:txBody>
      </p:sp>
      <p:graphicFrame>
        <p:nvGraphicFramePr>
          <p:cNvPr id="6" name="Object 5"/>
          <p:cNvGraphicFramePr>
            <a:graphicFrameLocks noChangeAspect="1"/>
          </p:cNvGraphicFramePr>
          <p:nvPr>
            <p:extLst>
              <p:ext uri="{D42A27DB-BD31-4B8C-83A1-F6EECF244321}">
                <p14:modId xmlns:p14="http://schemas.microsoft.com/office/powerpoint/2010/main" val="187048211"/>
              </p:ext>
            </p:extLst>
          </p:nvPr>
        </p:nvGraphicFramePr>
        <p:xfrm>
          <a:off x="395536" y="2169523"/>
          <a:ext cx="8424936" cy="1849431"/>
        </p:xfrm>
        <a:graphic>
          <a:graphicData uri="http://schemas.openxmlformats.org/presentationml/2006/ole">
            <mc:AlternateContent xmlns:mc="http://schemas.openxmlformats.org/markup-compatibility/2006">
              <mc:Choice xmlns:v="urn:schemas-microsoft-com:vml" Requires="v">
                <p:oleObj spid="_x0000_s215143" name="公式" r:id="rId3" imgW="2921000" imgH="381000" progId="Equation.3">
                  <p:embed/>
                </p:oleObj>
              </mc:Choice>
              <mc:Fallback>
                <p:oleObj name="公式" r:id="rId3" imgW="2921000" imgH="381000" progId="Equation.3">
                  <p:embed/>
                  <p:pic>
                    <p:nvPicPr>
                      <p:cNvPr id="39938"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536" y="2169523"/>
                        <a:ext cx="8424936" cy="1849431"/>
                      </a:xfrm>
                      <a:prstGeom prst="rect">
                        <a:avLst/>
                      </a:prstGeom>
                      <a:solidFill>
                        <a:schemeClr val="accent1">
                          <a:lumMod val="40000"/>
                          <a:lumOff val="60000"/>
                        </a:schemeClr>
                      </a:solidFill>
                      <a:ln w="28575">
                        <a:solidFill>
                          <a:schemeClr val="bg1"/>
                        </a:solidFill>
                        <a:miter lim="800000"/>
                        <a:headEnd/>
                        <a:tailEnd/>
                      </a:ln>
                    </p:spPr>
                  </p:pic>
                </p:oleObj>
              </mc:Fallback>
            </mc:AlternateContent>
          </a:graphicData>
        </a:graphic>
      </p:graphicFrame>
      <p:sp>
        <p:nvSpPr>
          <p:cNvPr id="7" name="Rectangle 6"/>
          <p:cNvSpPr>
            <a:spLocks noChangeArrowheads="1"/>
          </p:cNvSpPr>
          <p:nvPr/>
        </p:nvSpPr>
        <p:spPr bwMode="auto">
          <a:xfrm>
            <a:off x="838200" y="4302834"/>
            <a:ext cx="7405738" cy="1859169"/>
          </a:xfrm>
          <a:prstGeom prst="rect">
            <a:avLst/>
          </a:prstGeom>
          <a:noFill/>
          <a:ln w="9525">
            <a:noFill/>
            <a:miter lim="800000"/>
            <a:headEnd/>
            <a:tailEnd/>
          </a:ln>
        </p:spPr>
        <p:txBody>
          <a:bodyPr/>
          <a:lstStyle/>
          <a:p>
            <a:pPr marL="342900" indent="-342900">
              <a:lnSpc>
                <a:spcPct val="114000"/>
              </a:lnSpc>
              <a:spcBef>
                <a:spcPts val="600"/>
              </a:spcBef>
              <a:buSzPct val="90000"/>
            </a:pPr>
            <a:r>
              <a:rPr lang="en-US" altLang="zh-CN" sz="3200" b="1" i="1" dirty="0" err="1">
                <a:latin typeface="Times New Roman" pitchFamily="18" charset="0"/>
              </a:rPr>
              <a:t>w</a:t>
            </a:r>
            <a:r>
              <a:rPr lang="en-US" altLang="zh-CN" sz="3200" b="1" i="1" baseline="-25000" dirty="0" err="1">
                <a:latin typeface="Times New Roman" pitchFamily="18" charset="0"/>
              </a:rPr>
              <a:t>i</a:t>
            </a:r>
            <a:r>
              <a:rPr lang="zh-CN" altLang="en-US" sz="3200" b="1" dirty="0">
                <a:latin typeface="Times New Roman" pitchFamily="18" charset="0"/>
              </a:rPr>
              <a:t>为观测值 </a:t>
            </a:r>
            <a:r>
              <a:rPr lang="en-US" altLang="zh-CN" sz="3200" b="1" i="1" dirty="0" err="1">
                <a:latin typeface="Times New Roman" pitchFamily="18" charset="0"/>
              </a:rPr>
              <a:t>y</a:t>
            </a:r>
            <a:r>
              <a:rPr lang="en-US" altLang="zh-CN" sz="3200" b="1" i="1" baseline="-25000" dirty="0" err="1">
                <a:latin typeface="Times New Roman" pitchFamily="18" charset="0"/>
              </a:rPr>
              <a:t>i</a:t>
            </a:r>
            <a:r>
              <a:rPr lang="en-US" altLang="zh-CN" sz="3200" b="1" i="1" baseline="-25000" dirty="0">
                <a:latin typeface="Times New Roman" pitchFamily="18" charset="0"/>
              </a:rPr>
              <a:t> </a:t>
            </a:r>
            <a:r>
              <a:rPr lang="zh-CN" altLang="en-US" sz="3200" b="1" dirty="0">
                <a:latin typeface="Times New Roman" pitchFamily="18" charset="0"/>
              </a:rPr>
              <a:t>的权数</a:t>
            </a:r>
          </a:p>
          <a:p>
            <a:pPr marL="742950" lvl="1" indent="-285750">
              <a:lnSpc>
                <a:spcPct val="114000"/>
              </a:lnSpc>
              <a:spcBef>
                <a:spcPts val="600"/>
              </a:spcBef>
              <a:buSzPct val="80000"/>
            </a:pPr>
            <a:r>
              <a:rPr lang="en-US" altLang="zh-CN" sz="2800" b="1" dirty="0" smtClean="0">
                <a:latin typeface="Times New Roman" pitchFamily="18" charset="0"/>
              </a:rPr>
              <a:t>      ——</a:t>
            </a:r>
            <a:r>
              <a:rPr lang="zh-CN" altLang="en-US" sz="2800" b="1" dirty="0">
                <a:solidFill>
                  <a:srgbClr val="C00000"/>
                </a:solidFill>
                <a:latin typeface="Times New Roman" pitchFamily="18" charset="0"/>
              </a:rPr>
              <a:t>近大远小</a:t>
            </a:r>
            <a:r>
              <a:rPr lang="zh-CN" altLang="en-US" sz="2800" b="1" dirty="0">
                <a:latin typeface="Times New Roman" pitchFamily="18" charset="0"/>
              </a:rPr>
              <a:t>（</a:t>
            </a:r>
            <a:r>
              <a:rPr lang="en-US" altLang="zh-CN" sz="2800" b="1" i="1" dirty="0" err="1">
                <a:latin typeface="Times New Roman" pitchFamily="18" charset="0"/>
              </a:rPr>
              <a:t>w</a:t>
            </a:r>
            <a:r>
              <a:rPr lang="en-US" altLang="zh-CN" sz="2800" b="1" i="1" baseline="-25000" dirty="0" err="1">
                <a:latin typeface="Times New Roman" pitchFamily="18" charset="0"/>
              </a:rPr>
              <a:t>t</a:t>
            </a:r>
            <a:r>
              <a:rPr lang="en-US" altLang="zh-CN" sz="2800" b="1" i="1" baseline="-25000" dirty="0">
                <a:latin typeface="Times New Roman" pitchFamily="18" charset="0"/>
              </a:rPr>
              <a:t> </a:t>
            </a:r>
            <a:r>
              <a:rPr lang="en-US" altLang="zh-CN" sz="2800" b="1" dirty="0">
                <a:latin typeface="Times New Roman" pitchFamily="18" charset="0"/>
              </a:rPr>
              <a:t>&gt;</a:t>
            </a:r>
            <a:r>
              <a:rPr lang="en-US" altLang="zh-CN" sz="2800" b="1" i="1" dirty="0">
                <a:latin typeface="Times New Roman" pitchFamily="18" charset="0"/>
              </a:rPr>
              <a:t>w</a:t>
            </a:r>
            <a:r>
              <a:rPr lang="en-US" altLang="zh-CN" sz="2800" b="1" i="1" baseline="-25000" dirty="0">
                <a:latin typeface="Times New Roman" pitchFamily="18" charset="0"/>
              </a:rPr>
              <a:t>t-1 </a:t>
            </a:r>
            <a:r>
              <a:rPr lang="en-US" altLang="zh-CN" sz="2800" b="1" dirty="0">
                <a:latin typeface="Times New Roman" pitchFamily="18" charset="0"/>
              </a:rPr>
              <a:t>&gt;…&gt;</a:t>
            </a:r>
            <a:r>
              <a:rPr lang="en-US" altLang="zh-CN" sz="2800" b="1" i="1" dirty="0">
                <a:latin typeface="Times New Roman" pitchFamily="18" charset="0"/>
              </a:rPr>
              <a:t> w</a:t>
            </a:r>
            <a:r>
              <a:rPr lang="en-US" altLang="zh-CN" sz="2800" b="1" i="1" baseline="-25000" dirty="0">
                <a:latin typeface="Times New Roman" pitchFamily="18" charset="0"/>
              </a:rPr>
              <a:t>t-k+1</a:t>
            </a:r>
            <a:r>
              <a:rPr lang="zh-CN" altLang="en-US" sz="2800" b="1" dirty="0">
                <a:latin typeface="Times New Roman" pitchFamily="18" charset="0"/>
              </a:rPr>
              <a:t>），</a:t>
            </a:r>
          </a:p>
          <a:p>
            <a:pPr marL="342900" indent="-342900">
              <a:lnSpc>
                <a:spcPct val="114000"/>
              </a:lnSpc>
              <a:spcBef>
                <a:spcPts val="600"/>
              </a:spcBef>
              <a:buSzPct val="90000"/>
            </a:pPr>
            <a:r>
              <a:rPr lang="zh-CN" altLang="en-US" sz="2800" b="1" dirty="0" smtClean="0">
                <a:latin typeface="Times New Roman" pitchFamily="18" charset="0"/>
              </a:rPr>
              <a:t>  常常</a:t>
            </a:r>
            <a:r>
              <a:rPr lang="zh-CN" altLang="en-US" sz="2800" b="1" dirty="0">
                <a:latin typeface="Times New Roman" pitchFamily="18" charset="0"/>
              </a:rPr>
              <a:t>取自然数 </a:t>
            </a:r>
            <a:r>
              <a:rPr lang="en-US" altLang="zh-CN" sz="2800" b="1" i="1" dirty="0">
                <a:latin typeface="Times New Roman" pitchFamily="18" charset="0"/>
              </a:rPr>
              <a:t>K</a:t>
            </a:r>
            <a:r>
              <a:rPr lang="en-US" altLang="zh-CN" sz="2800" b="1" dirty="0">
                <a:latin typeface="Times New Roman" pitchFamily="18" charset="0"/>
              </a:rPr>
              <a:t>, </a:t>
            </a:r>
            <a:r>
              <a:rPr lang="en-US" altLang="zh-CN" sz="2800" b="1" i="1" dirty="0">
                <a:latin typeface="Times New Roman" pitchFamily="18" charset="0"/>
              </a:rPr>
              <a:t>K</a:t>
            </a:r>
            <a:r>
              <a:rPr lang="en-US" altLang="zh-CN" sz="2800" b="1" dirty="0">
                <a:latin typeface="Times New Roman" pitchFamily="18" charset="0"/>
              </a:rPr>
              <a:t>-1, …, 2, 1</a:t>
            </a:r>
            <a:r>
              <a:rPr lang="zh-CN" altLang="en-US" sz="2800" b="1" dirty="0">
                <a:latin typeface="Times New Roman" pitchFamily="18" charset="0"/>
              </a:rPr>
              <a:t>。</a:t>
            </a:r>
          </a:p>
        </p:txBody>
      </p:sp>
    </p:spTree>
    <p:extLst>
      <p:ext uri="{BB962C8B-B14F-4D97-AF65-F5344CB8AC3E}">
        <p14:creationId xmlns:p14="http://schemas.microsoft.com/office/powerpoint/2010/main" val="2071246314"/>
      </p:ext>
    </p:extLst>
  </p:cSld>
  <p:clrMapOvr>
    <a:masterClrMapping/>
  </p:clrMapOv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t>
            </a:r>
            <a:r>
              <a:rPr lang="zh-CN" altLang="en-US" dirty="0"/>
              <a:t>附</a:t>
            </a:r>
            <a:r>
              <a:rPr lang="en-US" altLang="zh-CN" dirty="0"/>
              <a:t>】</a:t>
            </a:r>
            <a:r>
              <a:rPr lang="zh-CN" altLang="en-US" dirty="0"/>
              <a:t>加权移动平均</a:t>
            </a:r>
          </a:p>
        </p:txBody>
      </p:sp>
      <p:sp>
        <p:nvSpPr>
          <p:cNvPr id="4" name="日期占位符 3"/>
          <p:cNvSpPr>
            <a:spLocks noGrp="1"/>
          </p:cNvSpPr>
          <p:nvPr>
            <p:ph type="dt" sz="half" idx="10"/>
          </p:nvPr>
        </p:nvSpPr>
        <p:spPr/>
        <p:txBody>
          <a:bodyPr/>
          <a:lstStyle/>
          <a:p>
            <a:pPr>
              <a:defRPr/>
            </a:pPr>
            <a:endParaRPr lang="en-US" altLang="zh-CN"/>
          </a:p>
        </p:txBody>
      </p:sp>
      <p:sp>
        <p:nvSpPr>
          <p:cNvPr id="7" name="Rectangle 6"/>
          <p:cNvSpPr>
            <a:spLocks noGrp="1" noChangeArrowheads="1"/>
          </p:cNvSpPr>
          <p:nvPr>
            <p:ph idx="1"/>
          </p:nvPr>
        </p:nvSpPr>
        <p:spPr bwMode="auto">
          <a:prstGeom prst="rect">
            <a:avLst/>
          </a:prstGeom>
          <a:noFill/>
          <a:ln w="9525">
            <a:noFill/>
            <a:miter lim="800000"/>
            <a:headEnd/>
            <a:tailEnd/>
          </a:ln>
        </p:spPr>
        <p:txBody>
          <a:bodyPr/>
          <a:lstStyle/>
          <a:p>
            <a:pPr marL="342900" indent="-342900">
              <a:lnSpc>
                <a:spcPct val="110000"/>
              </a:lnSpc>
              <a:spcBef>
                <a:spcPct val="20000"/>
              </a:spcBef>
              <a:buSzPct val="90000"/>
              <a:buFontTx/>
              <a:buBlip>
                <a:blip r:embed="rId3"/>
              </a:buBlip>
            </a:pPr>
            <a:r>
              <a:rPr lang="zh-CN" altLang="en-US" sz="3200" b="1" dirty="0">
                <a:solidFill>
                  <a:srgbClr val="000000"/>
                </a:solidFill>
                <a:latin typeface="Tahoma" pitchFamily="34" charset="0"/>
              </a:rPr>
              <a:t>用于</a:t>
            </a:r>
            <a:r>
              <a:rPr lang="zh-CN" altLang="en-US" sz="3200" b="1" dirty="0">
                <a:solidFill>
                  <a:srgbClr val="000000"/>
                </a:solidFill>
                <a:latin typeface="黑体" panose="02010609060101010101" pitchFamily="49" charset="-122"/>
                <a:ea typeface="黑体" panose="02010609060101010101" pitchFamily="49" charset="-122"/>
              </a:rPr>
              <a:t>测定</a:t>
            </a:r>
            <a:r>
              <a:rPr lang="zh-CN" altLang="en-US" sz="3200" b="1" dirty="0">
                <a:solidFill>
                  <a:srgbClr val="000000"/>
                </a:solidFill>
                <a:latin typeface="Tahoma" pitchFamily="34" charset="0"/>
              </a:rPr>
              <a:t>非线性趋势的</a:t>
            </a:r>
            <a:r>
              <a:rPr lang="zh-CN" altLang="en-US" sz="3200" b="1" dirty="0">
                <a:solidFill>
                  <a:srgbClr val="CC0099"/>
                </a:solidFill>
                <a:latin typeface="Tahoma" pitchFamily="34" charset="0"/>
              </a:rPr>
              <a:t>加权移动平均</a:t>
            </a:r>
            <a:endParaRPr lang="zh-CN" altLang="en-US" sz="3200" b="1" dirty="0">
              <a:latin typeface="Tahoma" pitchFamily="34" charset="0"/>
            </a:endParaRPr>
          </a:p>
          <a:p>
            <a:pPr marL="742950" lvl="1" indent="-285750">
              <a:lnSpc>
                <a:spcPct val="110000"/>
              </a:lnSpc>
              <a:spcBef>
                <a:spcPct val="20000"/>
              </a:spcBef>
              <a:buSzPct val="80000"/>
              <a:buFontTx/>
              <a:buBlip>
                <a:blip r:embed="rId4"/>
              </a:buBlip>
            </a:pPr>
            <a:r>
              <a:rPr lang="en-US" altLang="zh-CN" sz="2800" b="1" dirty="0"/>
              <a:t>——</a:t>
            </a:r>
            <a:r>
              <a:rPr lang="zh-CN" altLang="en-US" sz="2800" b="1" dirty="0">
                <a:latin typeface="Tahoma" pitchFamily="34" charset="0"/>
              </a:rPr>
              <a:t>以</a:t>
            </a:r>
            <a:r>
              <a:rPr lang="en-US" altLang="zh-CN" sz="2800" b="1" dirty="0">
                <a:solidFill>
                  <a:srgbClr val="000000"/>
                </a:solidFill>
                <a:latin typeface="Tahoma" pitchFamily="34" charset="0"/>
              </a:rPr>
              <a:t>5</a:t>
            </a:r>
            <a:r>
              <a:rPr lang="zh-CN" altLang="en-US" sz="2800" b="1" dirty="0">
                <a:solidFill>
                  <a:srgbClr val="000000"/>
                </a:solidFill>
                <a:latin typeface="Tahoma" pitchFamily="34" charset="0"/>
              </a:rPr>
              <a:t>项中心化移动平均</a:t>
            </a:r>
            <a:r>
              <a:rPr lang="zh-CN" altLang="en-US" sz="2800" b="1" dirty="0">
                <a:latin typeface="Tahoma" pitchFamily="34" charset="0"/>
              </a:rPr>
              <a:t>为例：</a:t>
            </a:r>
          </a:p>
        </p:txBody>
      </p:sp>
      <p:graphicFrame>
        <p:nvGraphicFramePr>
          <p:cNvPr id="8" name="Object 11"/>
          <p:cNvGraphicFramePr>
            <a:graphicFrameLocks noChangeAspect="1"/>
          </p:cNvGraphicFramePr>
          <p:nvPr>
            <p:extLst>
              <p:ext uri="{D42A27DB-BD31-4B8C-83A1-F6EECF244321}">
                <p14:modId xmlns:p14="http://schemas.microsoft.com/office/powerpoint/2010/main" val="782086299"/>
              </p:ext>
            </p:extLst>
          </p:nvPr>
        </p:nvGraphicFramePr>
        <p:xfrm>
          <a:off x="395536" y="2996951"/>
          <a:ext cx="8353177" cy="1512169"/>
        </p:xfrm>
        <a:graphic>
          <a:graphicData uri="http://schemas.openxmlformats.org/presentationml/2006/ole">
            <mc:AlternateContent xmlns:mc="http://schemas.openxmlformats.org/markup-compatibility/2006">
              <mc:Choice xmlns:v="urn:schemas-microsoft-com:vml" Requires="v">
                <p:oleObj spid="_x0000_s214118" name="公式" r:id="rId5" imgW="3060360" imgH="444240" progId="Equation.3">
                  <p:embed/>
                </p:oleObj>
              </mc:Choice>
              <mc:Fallback>
                <p:oleObj name="公式" r:id="rId5" imgW="3060360" imgH="444240" progId="Equation.3">
                  <p:embed/>
                  <p:pic>
                    <p:nvPicPr>
                      <p:cNvPr id="38914"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5536" y="2996951"/>
                        <a:ext cx="8353177" cy="1512169"/>
                      </a:xfrm>
                      <a:prstGeom prst="rect">
                        <a:avLst/>
                      </a:prstGeom>
                      <a:noFill/>
                      <a:ln>
                        <a:noFill/>
                      </a:ln>
                      <a:extLst/>
                    </p:spPr>
                  </p:pic>
                </p:oleObj>
              </mc:Fallback>
            </mc:AlternateContent>
          </a:graphicData>
        </a:graphic>
      </p:graphicFrame>
      <p:sp>
        <p:nvSpPr>
          <p:cNvPr id="9" name="Rectangle 8"/>
          <p:cNvSpPr>
            <a:spLocks noChangeArrowheads="1"/>
          </p:cNvSpPr>
          <p:nvPr/>
        </p:nvSpPr>
        <p:spPr bwMode="auto">
          <a:xfrm>
            <a:off x="1116013" y="5084763"/>
            <a:ext cx="7632700" cy="1150937"/>
          </a:xfrm>
          <a:prstGeom prst="rect">
            <a:avLst/>
          </a:prstGeom>
          <a:noFill/>
          <a:ln w="9525">
            <a:noFill/>
            <a:miter lim="800000"/>
            <a:headEnd/>
            <a:tailEnd/>
          </a:ln>
        </p:spPr>
        <p:txBody>
          <a:bodyPr/>
          <a:lstStyle/>
          <a:p>
            <a:pPr marL="342900" indent="-342900">
              <a:lnSpc>
                <a:spcPct val="110000"/>
              </a:lnSpc>
              <a:spcBef>
                <a:spcPct val="20000"/>
              </a:spcBef>
              <a:buSzPct val="90000"/>
            </a:pPr>
            <a:r>
              <a:rPr lang="zh-CN" altLang="en-US" sz="3200" b="1" dirty="0">
                <a:latin typeface="Times New Roman" pitchFamily="18" charset="0"/>
              </a:rPr>
              <a:t>权数</a:t>
            </a:r>
            <a:r>
              <a:rPr lang="en-US" altLang="zh-CN" sz="3200" b="1" i="1" dirty="0" err="1">
                <a:latin typeface="Times New Roman" pitchFamily="18" charset="0"/>
              </a:rPr>
              <a:t>w</a:t>
            </a:r>
            <a:r>
              <a:rPr lang="en-US" altLang="zh-CN" sz="3200" b="1" i="1" baseline="-25000" dirty="0" err="1">
                <a:latin typeface="Times New Roman" pitchFamily="18" charset="0"/>
              </a:rPr>
              <a:t>i</a:t>
            </a:r>
            <a:r>
              <a:rPr lang="en-US" altLang="zh-CN" sz="3200" b="1" i="1" baseline="-25000" dirty="0">
                <a:latin typeface="Times New Roman" pitchFamily="18" charset="0"/>
              </a:rPr>
              <a:t> </a:t>
            </a:r>
            <a:r>
              <a:rPr lang="en-US" altLang="zh-CN" sz="3200" b="1" dirty="0">
                <a:latin typeface="Times New Roman" pitchFamily="18" charset="0"/>
              </a:rPr>
              <a:t>——</a:t>
            </a:r>
            <a:r>
              <a:rPr lang="zh-CN" altLang="en-US" sz="3200" b="1" dirty="0">
                <a:solidFill>
                  <a:srgbClr val="C00000"/>
                </a:solidFill>
                <a:latin typeface="Times New Roman" pitchFamily="18" charset="0"/>
              </a:rPr>
              <a:t>中间大、两头</a:t>
            </a:r>
            <a:r>
              <a:rPr lang="zh-CN" altLang="en-US" sz="3200" b="1" dirty="0" smtClean="0">
                <a:solidFill>
                  <a:srgbClr val="C00000"/>
                </a:solidFill>
                <a:latin typeface="Times New Roman" pitchFamily="18" charset="0"/>
              </a:rPr>
              <a:t>小</a:t>
            </a:r>
            <a:r>
              <a:rPr lang="zh-CN" altLang="en-US" sz="3200" b="1" dirty="0" smtClean="0">
                <a:solidFill>
                  <a:srgbClr val="000000"/>
                </a:solidFill>
                <a:latin typeface="Times New Roman" pitchFamily="18" charset="0"/>
              </a:rPr>
              <a:t>（实质也是一种“近大</a:t>
            </a:r>
            <a:r>
              <a:rPr lang="zh-CN" altLang="en-US" sz="3200" b="1" dirty="0">
                <a:solidFill>
                  <a:srgbClr val="000000"/>
                </a:solidFill>
                <a:latin typeface="Times New Roman" pitchFamily="18" charset="0"/>
              </a:rPr>
              <a:t>远小”）</a:t>
            </a:r>
            <a:r>
              <a:rPr lang="zh-CN" altLang="en-US" sz="3200" b="1" dirty="0" smtClean="0">
                <a:latin typeface="Times New Roman" pitchFamily="18" charset="0"/>
              </a:rPr>
              <a:t>。</a:t>
            </a:r>
            <a:endParaRPr lang="zh-CN" altLang="en-US" sz="3200" b="1" dirty="0">
              <a:latin typeface="Times New Roman" pitchFamily="18" charset="0"/>
            </a:endParaRPr>
          </a:p>
        </p:txBody>
      </p:sp>
    </p:spTree>
    <p:extLst>
      <p:ext uri="{BB962C8B-B14F-4D97-AF65-F5344CB8AC3E}">
        <p14:creationId xmlns:p14="http://schemas.microsoft.com/office/powerpoint/2010/main" val="2591255324"/>
      </p:ext>
    </p:extLst>
  </p:cSld>
  <p:clrMapOvr>
    <a:masterClrMapping/>
  </p:clrMapOv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5163" y="798679"/>
            <a:ext cx="7772400" cy="990600"/>
          </a:xfrm>
        </p:spPr>
        <p:txBody>
          <a:bodyPr/>
          <a:lstStyle/>
          <a:p>
            <a:pPr>
              <a:lnSpc>
                <a:spcPct val="90000"/>
              </a:lnSpc>
            </a:pPr>
            <a:r>
              <a:rPr lang="en-US" altLang="zh-CN" sz="4000" dirty="0"/>
              <a:t>2</a:t>
            </a:r>
            <a:r>
              <a:rPr lang="en-US" altLang="zh-CN" sz="4000" dirty="0" smtClean="0"/>
              <a:t>. </a:t>
            </a:r>
            <a:r>
              <a:rPr lang="zh-CN" altLang="en-US" sz="4000" dirty="0" smtClean="0"/>
              <a:t>指数</a:t>
            </a:r>
            <a:r>
              <a:rPr lang="zh-CN" altLang="en-US" sz="4000" dirty="0"/>
              <a:t>平滑法</a:t>
            </a:r>
            <a:br>
              <a:rPr lang="zh-CN" altLang="en-US" sz="4000" dirty="0"/>
            </a:br>
            <a:r>
              <a:rPr lang="zh-CN" altLang="en-US" sz="4000" b="0" dirty="0"/>
              <a:t>（</a:t>
            </a:r>
            <a:r>
              <a:rPr lang="en-US" altLang="zh-CN" sz="3600" b="0" dirty="0"/>
              <a:t>Exponential </a:t>
            </a:r>
            <a:r>
              <a:rPr lang="en-US" altLang="zh-CN" sz="3600" b="0" dirty="0" smtClean="0"/>
              <a:t>Smoothing</a:t>
            </a:r>
            <a:r>
              <a:rPr lang="zh-CN" altLang="en-US" sz="4000" b="0" dirty="0"/>
              <a:t>）</a:t>
            </a:r>
            <a:endParaRPr lang="zh-CN" altLang="en-US" sz="4000" dirty="0"/>
          </a:p>
        </p:txBody>
      </p:sp>
      <p:sp>
        <p:nvSpPr>
          <p:cNvPr id="4" name="日期占位符 3"/>
          <p:cNvSpPr>
            <a:spLocks noGrp="1"/>
          </p:cNvSpPr>
          <p:nvPr>
            <p:ph type="dt" sz="half" idx="10"/>
          </p:nvPr>
        </p:nvSpPr>
        <p:spPr/>
        <p:txBody>
          <a:bodyPr/>
          <a:lstStyle/>
          <a:p>
            <a:pPr>
              <a:defRPr/>
            </a:pPr>
            <a:endParaRPr lang="en-US" altLang="zh-CN"/>
          </a:p>
        </p:txBody>
      </p:sp>
      <p:sp>
        <p:nvSpPr>
          <p:cNvPr id="5" name="Rectangle 3"/>
          <p:cNvSpPr>
            <a:spLocks noGrp="1" noChangeArrowheads="1"/>
          </p:cNvSpPr>
          <p:nvPr>
            <p:ph idx="1"/>
          </p:nvPr>
        </p:nvSpPr>
        <p:spPr>
          <a:xfrm>
            <a:off x="393756" y="1855761"/>
            <a:ext cx="7772400" cy="658261"/>
          </a:xfrm>
        </p:spPr>
        <p:txBody>
          <a:bodyPr/>
          <a:lstStyle/>
          <a:p>
            <a:pPr eaLnBrk="1" hangingPunct="1">
              <a:lnSpc>
                <a:spcPct val="90000"/>
              </a:lnSpc>
              <a:buFontTx/>
              <a:buNone/>
            </a:pPr>
            <a:r>
              <a:rPr lang="zh-CN" altLang="en-US" sz="2400" dirty="0" smtClean="0">
                <a:solidFill>
                  <a:srgbClr val="000000"/>
                </a:solidFill>
              </a:rPr>
              <a:t>用 </a:t>
            </a:r>
            <a:r>
              <a:rPr lang="en-US" altLang="zh-CN" sz="2400" i="1" dirty="0" smtClean="0">
                <a:solidFill>
                  <a:srgbClr val="000000"/>
                </a:solidFill>
              </a:rPr>
              <a:t>E</a:t>
            </a:r>
            <a:r>
              <a:rPr lang="en-US" altLang="zh-CN" sz="2400" i="1" baseline="-25000" dirty="0" smtClean="0">
                <a:solidFill>
                  <a:srgbClr val="000000"/>
                </a:solidFill>
              </a:rPr>
              <a:t>t</a:t>
            </a:r>
            <a:r>
              <a:rPr lang="en-US" altLang="zh-CN" sz="2400" i="1" dirty="0" smtClean="0">
                <a:solidFill>
                  <a:srgbClr val="000000"/>
                </a:solidFill>
              </a:rPr>
              <a:t> </a:t>
            </a:r>
            <a:r>
              <a:rPr lang="zh-CN" altLang="en-US" sz="2400" dirty="0" smtClean="0">
                <a:solidFill>
                  <a:srgbClr val="000000"/>
                </a:solidFill>
              </a:rPr>
              <a:t>表示第 </a:t>
            </a:r>
            <a:r>
              <a:rPr lang="en-US" altLang="zh-CN" sz="2400" i="1" dirty="0" smtClean="0">
                <a:solidFill>
                  <a:srgbClr val="000000"/>
                </a:solidFill>
              </a:rPr>
              <a:t>t </a:t>
            </a:r>
            <a:r>
              <a:rPr lang="zh-CN" altLang="en-US" sz="2400" dirty="0" smtClean="0">
                <a:solidFill>
                  <a:srgbClr val="000000"/>
                </a:solidFill>
              </a:rPr>
              <a:t>期的指数平滑值，其计算公式为：</a:t>
            </a:r>
          </a:p>
        </p:txBody>
      </p:sp>
      <p:graphicFrame>
        <p:nvGraphicFramePr>
          <p:cNvPr id="6" name="Object 5"/>
          <p:cNvGraphicFramePr>
            <a:graphicFrameLocks noChangeAspect="1"/>
          </p:cNvGraphicFramePr>
          <p:nvPr>
            <p:extLst>
              <p:ext uri="{D42A27DB-BD31-4B8C-83A1-F6EECF244321}">
                <p14:modId xmlns:p14="http://schemas.microsoft.com/office/powerpoint/2010/main" val="600190887"/>
              </p:ext>
            </p:extLst>
          </p:nvPr>
        </p:nvGraphicFramePr>
        <p:xfrm>
          <a:off x="1475656" y="2561006"/>
          <a:ext cx="4808538" cy="688975"/>
        </p:xfrm>
        <a:graphic>
          <a:graphicData uri="http://schemas.openxmlformats.org/presentationml/2006/ole">
            <mc:AlternateContent xmlns:mc="http://schemas.openxmlformats.org/markup-compatibility/2006">
              <mc:Choice xmlns:v="urn:schemas-microsoft-com:vml" Requires="v">
                <p:oleObj spid="_x0000_s216367" name="Equation" r:id="rId4" imgW="1307880" imgH="228600" progId="Equation.DSMT4">
                  <p:embed/>
                </p:oleObj>
              </mc:Choice>
              <mc:Fallback>
                <p:oleObj name="Equation" r:id="rId4" imgW="1307880" imgH="228600" progId="Equation.DSMT4">
                  <p:embed/>
                  <p:pic>
                    <p:nvPicPr>
                      <p:cNvPr id="40962"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5656" y="2561006"/>
                        <a:ext cx="4808538" cy="688975"/>
                      </a:xfrm>
                      <a:prstGeom prst="rect">
                        <a:avLst/>
                      </a:prstGeom>
                      <a:noFill/>
                      <a:ln w="28575">
                        <a:solidFill>
                          <a:srgbClr val="CC0099"/>
                        </a:solidFill>
                        <a:miter lim="800000"/>
                        <a:headEnd/>
                        <a:tailEnd/>
                      </a:ln>
                      <a:extLst>
                        <a:ext uri="{909E8E84-426E-40DD-AFC4-6F175D3DCCD1}">
                          <a14:hiddenFill xmlns:a14="http://schemas.microsoft.com/office/drawing/2010/main">
                            <a:solidFill>
                              <a:schemeClr val="accent1"/>
                            </a:solidFill>
                          </a14:hiddenFill>
                        </a:ext>
                      </a:extLst>
                    </p:spPr>
                  </p:pic>
                </p:oleObj>
              </mc:Fallback>
            </mc:AlternateContent>
          </a:graphicData>
        </a:graphic>
      </p:graphicFrame>
      <p:sp>
        <p:nvSpPr>
          <p:cNvPr id="7" name="Rectangle 4"/>
          <p:cNvSpPr>
            <a:spLocks noChangeArrowheads="1"/>
          </p:cNvSpPr>
          <p:nvPr/>
        </p:nvSpPr>
        <p:spPr bwMode="auto">
          <a:xfrm>
            <a:off x="6623050" y="2538029"/>
            <a:ext cx="2520950" cy="935037"/>
          </a:xfrm>
          <a:prstGeom prst="rect">
            <a:avLst/>
          </a:prstGeom>
          <a:noFill/>
          <a:ln w="9525">
            <a:noFill/>
            <a:miter lim="800000"/>
            <a:headEnd/>
            <a:tailEnd/>
          </a:ln>
        </p:spPr>
        <p:txBody>
          <a:bodyPr/>
          <a:lstStyle/>
          <a:p>
            <a:pPr marL="342900" indent="-342900">
              <a:spcBef>
                <a:spcPct val="20000"/>
              </a:spcBef>
              <a:buSzPct val="90000"/>
            </a:pPr>
            <a:r>
              <a:rPr lang="en-US" altLang="zh-CN" sz="3600" b="1" i="1" dirty="0">
                <a:solidFill>
                  <a:srgbClr val="000000"/>
                </a:solidFill>
                <a:latin typeface="Times New Roman" pitchFamily="18" charset="0"/>
              </a:rPr>
              <a:t>α</a:t>
            </a:r>
            <a:r>
              <a:rPr lang="zh-CN" altLang="en-US" sz="2800" b="1" dirty="0" smtClean="0">
                <a:solidFill>
                  <a:srgbClr val="000000"/>
                </a:solidFill>
                <a:latin typeface="Tahoma" pitchFamily="34" charset="0"/>
              </a:rPr>
              <a:t>为</a:t>
            </a:r>
            <a:r>
              <a:rPr lang="zh-CN" altLang="en-US" sz="2800" b="1" dirty="0">
                <a:solidFill>
                  <a:srgbClr val="CC0099"/>
                </a:solidFill>
                <a:latin typeface="Tahoma" pitchFamily="34" charset="0"/>
              </a:rPr>
              <a:t>平滑系数</a:t>
            </a:r>
            <a:r>
              <a:rPr lang="en-US" altLang="zh-CN" sz="2800" dirty="0">
                <a:solidFill>
                  <a:srgbClr val="000000"/>
                </a:solidFill>
                <a:latin typeface="Tahoma" pitchFamily="34" charset="0"/>
              </a:rPr>
              <a:t>(</a:t>
            </a:r>
            <a:r>
              <a:rPr lang="en-US" altLang="zh-CN" sz="2400" dirty="0">
                <a:solidFill>
                  <a:srgbClr val="000000"/>
                </a:solidFill>
                <a:latin typeface="Tahoma" pitchFamily="34" charset="0"/>
              </a:rPr>
              <a:t>0</a:t>
            </a:r>
            <a:r>
              <a:rPr lang="en-US" altLang="zh-CN" sz="2800" dirty="0">
                <a:solidFill>
                  <a:srgbClr val="000000"/>
                </a:solidFill>
                <a:latin typeface="Tahoma" pitchFamily="34" charset="0"/>
              </a:rPr>
              <a:t>&lt;</a:t>
            </a:r>
            <a:r>
              <a:rPr lang="en-US" altLang="zh-CN" sz="2800" i="1" dirty="0">
                <a:solidFill>
                  <a:srgbClr val="000000"/>
                </a:solidFill>
                <a:latin typeface="Times New Roman" pitchFamily="18" charset="0"/>
              </a:rPr>
              <a:t>α</a:t>
            </a:r>
            <a:r>
              <a:rPr lang="en-US" altLang="zh-CN" sz="2800" i="1" dirty="0">
                <a:solidFill>
                  <a:srgbClr val="000000"/>
                </a:solidFill>
                <a:latin typeface="Tahoma" pitchFamily="34" charset="0"/>
              </a:rPr>
              <a:t>&lt;</a:t>
            </a:r>
            <a:r>
              <a:rPr lang="en-US" altLang="zh-CN" sz="2400" dirty="0">
                <a:solidFill>
                  <a:srgbClr val="000000"/>
                </a:solidFill>
                <a:latin typeface="Tahoma" pitchFamily="34" charset="0"/>
              </a:rPr>
              <a:t>1</a:t>
            </a:r>
            <a:r>
              <a:rPr lang="en-US" altLang="zh-CN" sz="2800" dirty="0" smtClean="0">
                <a:solidFill>
                  <a:srgbClr val="000000"/>
                </a:solidFill>
                <a:latin typeface="Tahoma" pitchFamily="34" charset="0"/>
              </a:rPr>
              <a:t>)</a:t>
            </a:r>
            <a:endParaRPr lang="zh-CN" altLang="en-US" sz="2400" b="1" dirty="0">
              <a:solidFill>
                <a:srgbClr val="000000"/>
              </a:solidFill>
              <a:latin typeface="Tahoma" pitchFamily="34" charset="0"/>
            </a:endParaRPr>
          </a:p>
        </p:txBody>
      </p:sp>
      <p:sp>
        <p:nvSpPr>
          <p:cNvPr id="8" name="Rectangle 12"/>
          <p:cNvSpPr>
            <a:spLocks noChangeArrowheads="1"/>
          </p:cNvSpPr>
          <p:nvPr/>
        </p:nvSpPr>
        <p:spPr bwMode="auto">
          <a:xfrm>
            <a:off x="393756" y="3607708"/>
            <a:ext cx="3673475" cy="503238"/>
          </a:xfrm>
          <a:prstGeom prst="rect">
            <a:avLst/>
          </a:prstGeom>
          <a:noFill/>
          <a:ln w="9525">
            <a:noFill/>
            <a:miter lim="800000"/>
            <a:headEnd/>
            <a:tailEnd/>
          </a:ln>
        </p:spPr>
        <p:txBody>
          <a:bodyPr/>
          <a:lstStyle/>
          <a:p>
            <a:pPr marL="342900" indent="-342900">
              <a:spcBef>
                <a:spcPct val="20000"/>
              </a:spcBef>
              <a:buSzPct val="90000"/>
            </a:pPr>
            <a:r>
              <a:rPr lang="zh-CN" altLang="en-US" sz="2600" b="1" dirty="0">
                <a:solidFill>
                  <a:srgbClr val="000000"/>
                </a:solidFill>
                <a:latin typeface="Tahoma" pitchFamily="34" charset="0"/>
              </a:rPr>
              <a:t>指数平滑具有</a:t>
            </a:r>
            <a:r>
              <a:rPr lang="zh-CN" altLang="en-US" sz="2600" b="1" dirty="0">
                <a:solidFill>
                  <a:schemeClr val="tx2"/>
                </a:solidFill>
                <a:latin typeface="Tahoma" pitchFamily="34" charset="0"/>
              </a:rPr>
              <a:t>递推性质</a:t>
            </a:r>
            <a:r>
              <a:rPr lang="zh-CN" altLang="en-US" sz="2600" b="1" dirty="0">
                <a:solidFill>
                  <a:srgbClr val="000000"/>
                </a:solidFill>
                <a:latin typeface="Tahoma" pitchFamily="34" charset="0"/>
              </a:rPr>
              <a:t>：</a:t>
            </a:r>
          </a:p>
        </p:txBody>
      </p:sp>
      <p:graphicFrame>
        <p:nvGraphicFramePr>
          <p:cNvPr id="9" name="Object 8"/>
          <p:cNvGraphicFramePr>
            <a:graphicFrameLocks noChangeAspect="1"/>
          </p:cNvGraphicFramePr>
          <p:nvPr>
            <p:extLst>
              <p:ext uri="{D42A27DB-BD31-4B8C-83A1-F6EECF244321}">
                <p14:modId xmlns:p14="http://schemas.microsoft.com/office/powerpoint/2010/main" val="186822293"/>
              </p:ext>
            </p:extLst>
          </p:nvPr>
        </p:nvGraphicFramePr>
        <p:xfrm>
          <a:off x="394890" y="4212737"/>
          <a:ext cx="6348413" cy="657225"/>
        </p:xfrm>
        <a:graphic>
          <a:graphicData uri="http://schemas.openxmlformats.org/presentationml/2006/ole">
            <mc:AlternateContent xmlns:mc="http://schemas.openxmlformats.org/markup-compatibility/2006">
              <mc:Choice xmlns:v="urn:schemas-microsoft-com:vml" Requires="v">
                <p:oleObj spid="_x0000_s216368" name="Equation" r:id="rId6" imgW="2273040" imgH="228600" progId="Equation.DSMT4">
                  <p:embed/>
                </p:oleObj>
              </mc:Choice>
              <mc:Fallback>
                <p:oleObj name="Equation" r:id="rId6" imgW="2273040" imgH="228600" progId="Equation.DSMT4">
                  <p:embed/>
                  <p:pic>
                    <p:nvPicPr>
                      <p:cNvPr id="26932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4890" y="4212737"/>
                        <a:ext cx="6348413" cy="657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10"/>
          <p:cNvGraphicFramePr>
            <a:graphicFrameLocks noChangeAspect="1"/>
          </p:cNvGraphicFramePr>
          <p:nvPr>
            <p:extLst>
              <p:ext uri="{D42A27DB-BD31-4B8C-83A1-F6EECF244321}">
                <p14:modId xmlns:p14="http://schemas.microsoft.com/office/powerpoint/2010/main" val="2638526718"/>
              </p:ext>
            </p:extLst>
          </p:nvPr>
        </p:nvGraphicFramePr>
        <p:xfrm>
          <a:off x="827584" y="5049841"/>
          <a:ext cx="7993013" cy="1187450"/>
        </p:xfrm>
        <a:graphic>
          <a:graphicData uri="http://schemas.openxmlformats.org/presentationml/2006/ole">
            <mc:AlternateContent xmlns:mc="http://schemas.openxmlformats.org/markup-compatibility/2006">
              <mc:Choice xmlns:v="urn:schemas-microsoft-com:vml" Requires="v">
                <p:oleObj spid="_x0000_s216369" name="Equation" r:id="rId8" imgW="3009600" imgH="431640" progId="Equation.DSMT4">
                  <p:embed/>
                </p:oleObj>
              </mc:Choice>
              <mc:Fallback>
                <p:oleObj name="Equation" r:id="rId8" imgW="3009600" imgH="431640" progId="Equation.DSMT4">
                  <p:embed/>
                  <p:pic>
                    <p:nvPicPr>
                      <p:cNvPr id="269322"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7584" y="5049841"/>
                        <a:ext cx="7993013" cy="1187450"/>
                      </a:xfrm>
                      <a:prstGeom prst="rect">
                        <a:avLst/>
                      </a:prstGeom>
                      <a:noFill/>
                      <a:extLst/>
                    </p:spPr>
                  </p:pic>
                </p:oleObj>
              </mc:Fallback>
            </mc:AlternateContent>
          </a:graphicData>
        </a:graphic>
      </p:graphicFrame>
    </p:spTree>
    <p:extLst>
      <p:ext uri="{BB962C8B-B14F-4D97-AF65-F5344CB8AC3E}">
        <p14:creationId xmlns:p14="http://schemas.microsoft.com/office/powerpoint/2010/main" val="89396325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28600"/>
            <a:ext cx="7772400" cy="680120"/>
          </a:xfrm>
        </p:spPr>
        <p:txBody>
          <a:bodyPr/>
          <a:lstStyle/>
          <a:p>
            <a:r>
              <a:rPr lang="zh-CN" altLang="en-US" sz="3200" dirty="0" smtClean="0"/>
              <a:t>指数平滑法（续）</a:t>
            </a:r>
            <a:endParaRPr lang="zh-CN" altLang="en-US" sz="3200" dirty="0"/>
          </a:p>
        </p:txBody>
      </p:sp>
      <p:sp>
        <p:nvSpPr>
          <p:cNvPr id="4" name="日期占位符 3"/>
          <p:cNvSpPr>
            <a:spLocks noGrp="1"/>
          </p:cNvSpPr>
          <p:nvPr>
            <p:ph type="dt" sz="half" idx="10"/>
          </p:nvPr>
        </p:nvSpPr>
        <p:spPr/>
        <p:txBody>
          <a:bodyPr/>
          <a:lstStyle/>
          <a:p>
            <a:pPr>
              <a:defRPr/>
            </a:pPr>
            <a:endParaRPr lang="en-US" altLang="zh-CN"/>
          </a:p>
        </p:txBody>
      </p:sp>
      <p:sp>
        <p:nvSpPr>
          <p:cNvPr id="6" name="Rectangle 7"/>
          <p:cNvSpPr>
            <a:spLocks noChangeArrowheads="1"/>
          </p:cNvSpPr>
          <p:nvPr/>
        </p:nvSpPr>
        <p:spPr bwMode="auto">
          <a:xfrm>
            <a:off x="0" y="2540788"/>
            <a:ext cx="8642350" cy="3600450"/>
          </a:xfrm>
          <a:prstGeom prst="rect">
            <a:avLst/>
          </a:prstGeom>
          <a:noFill/>
          <a:ln w="9525">
            <a:noFill/>
            <a:miter lim="800000"/>
            <a:headEnd/>
            <a:tailEnd/>
          </a:ln>
        </p:spPr>
        <p:txBody>
          <a:bodyPr/>
          <a:lstStyle/>
          <a:p>
            <a:pPr marL="742950" lvl="1" indent="-285750">
              <a:lnSpc>
                <a:spcPct val="110000"/>
              </a:lnSpc>
              <a:spcBef>
                <a:spcPct val="30000"/>
              </a:spcBef>
              <a:buSzPct val="80000"/>
              <a:buFontTx/>
              <a:buBlip>
                <a:blip r:embed="rId3"/>
              </a:buBlip>
            </a:pPr>
            <a:r>
              <a:rPr lang="en-US" altLang="zh-CN" sz="2600" b="1" i="1" dirty="0">
                <a:solidFill>
                  <a:srgbClr val="000000"/>
                </a:solidFill>
                <a:latin typeface="Times New Roman" pitchFamily="18" charset="0"/>
              </a:rPr>
              <a:t>E</a:t>
            </a:r>
            <a:r>
              <a:rPr lang="en-US" altLang="zh-CN" sz="2600" b="1" i="1" baseline="-25000" dirty="0">
                <a:solidFill>
                  <a:srgbClr val="000000"/>
                </a:solidFill>
                <a:latin typeface="Times New Roman" pitchFamily="18" charset="0"/>
              </a:rPr>
              <a:t>0</a:t>
            </a:r>
            <a:r>
              <a:rPr lang="zh-CN" altLang="en-US" sz="2600" b="1" dirty="0">
                <a:solidFill>
                  <a:srgbClr val="000000"/>
                </a:solidFill>
                <a:latin typeface="Times New Roman" pitchFamily="18" charset="0"/>
              </a:rPr>
              <a:t>为初始值</a:t>
            </a:r>
            <a:r>
              <a:rPr lang="zh-CN" altLang="en-US" sz="2600" b="1" dirty="0">
                <a:latin typeface="Times New Roman" pitchFamily="18" charset="0"/>
              </a:rPr>
              <a:t>，通常设</a:t>
            </a:r>
            <a:r>
              <a:rPr lang="en-US" altLang="zh-CN" sz="2600" b="1" i="1" dirty="0">
                <a:latin typeface="Times New Roman" pitchFamily="18" charset="0"/>
              </a:rPr>
              <a:t>E</a:t>
            </a:r>
            <a:r>
              <a:rPr lang="en-US" altLang="zh-CN" sz="2600" b="1" i="1" baseline="-25000" dirty="0">
                <a:latin typeface="Times New Roman" pitchFamily="18" charset="0"/>
              </a:rPr>
              <a:t>0</a:t>
            </a:r>
            <a:r>
              <a:rPr lang="en-US" altLang="zh-CN" sz="2600" b="1" i="1" dirty="0">
                <a:latin typeface="Times New Roman" pitchFamily="18" charset="0"/>
              </a:rPr>
              <a:t>= y</a:t>
            </a:r>
            <a:r>
              <a:rPr lang="en-US" altLang="zh-CN" sz="2600" b="1" i="1" baseline="-25000" dirty="0">
                <a:latin typeface="Times New Roman" pitchFamily="18" charset="0"/>
              </a:rPr>
              <a:t>0</a:t>
            </a:r>
            <a:r>
              <a:rPr lang="zh-CN" altLang="en-US" sz="2600" b="1" dirty="0">
                <a:latin typeface="Times New Roman" pitchFamily="18" charset="0"/>
              </a:rPr>
              <a:t>，序列项数较多时，初始值对平滑值的影响不大。</a:t>
            </a:r>
          </a:p>
          <a:p>
            <a:pPr marL="742950" lvl="1" indent="-285750">
              <a:lnSpc>
                <a:spcPct val="110000"/>
              </a:lnSpc>
              <a:spcBef>
                <a:spcPct val="30000"/>
              </a:spcBef>
              <a:buSzPct val="80000"/>
              <a:buFontTx/>
              <a:buBlip>
                <a:blip r:embed="rId3"/>
              </a:buBlip>
            </a:pPr>
            <a:r>
              <a:rPr lang="en-US" altLang="zh-CN" sz="2600" b="1" i="1" dirty="0">
                <a:latin typeface="Times New Roman" pitchFamily="18" charset="0"/>
              </a:rPr>
              <a:t>t</a:t>
            </a:r>
            <a:r>
              <a:rPr lang="en-US" altLang="zh-CN" sz="2600" b="1" dirty="0">
                <a:latin typeface="Times New Roman" pitchFamily="18" charset="0"/>
              </a:rPr>
              <a:t>→∞</a:t>
            </a:r>
            <a:r>
              <a:rPr lang="zh-CN" altLang="en-US" sz="2600" b="1" dirty="0">
                <a:latin typeface="Times New Roman" pitchFamily="18" charset="0"/>
              </a:rPr>
              <a:t>时，最后一项系数趋于</a:t>
            </a:r>
            <a:r>
              <a:rPr lang="en-US" altLang="zh-CN" sz="2600" b="1" dirty="0">
                <a:latin typeface="Times New Roman" pitchFamily="18" charset="0"/>
              </a:rPr>
              <a:t>0</a:t>
            </a:r>
            <a:r>
              <a:rPr lang="zh-CN" altLang="en-US" sz="2600" b="1" dirty="0">
                <a:latin typeface="Times New Roman" pitchFamily="18" charset="0"/>
              </a:rPr>
              <a:t>，其余各项的系数构成一个无穷递减等比数列，总和为 </a:t>
            </a:r>
            <a:r>
              <a:rPr lang="en-US" altLang="zh-CN" sz="2600" b="1" dirty="0">
                <a:latin typeface="Times New Roman" pitchFamily="18" charset="0"/>
              </a:rPr>
              <a:t>1</a:t>
            </a:r>
            <a:r>
              <a:rPr lang="zh-CN" altLang="en-US" sz="2600" b="1" dirty="0">
                <a:latin typeface="Times New Roman" pitchFamily="18" charset="0"/>
              </a:rPr>
              <a:t>：</a:t>
            </a:r>
          </a:p>
          <a:p>
            <a:pPr marL="1143000" lvl="2" indent="-228600">
              <a:lnSpc>
                <a:spcPct val="110000"/>
              </a:lnSpc>
              <a:spcBef>
                <a:spcPct val="30000"/>
              </a:spcBef>
              <a:buSzPct val="70000"/>
              <a:buFontTx/>
              <a:buBlip>
                <a:blip r:embed="rId4"/>
              </a:buBlip>
            </a:pPr>
            <a:endParaRPr lang="zh-CN" altLang="en-US" sz="2600" b="1" dirty="0">
              <a:latin typeface="Times New Roman" pitchFamily="18" charset="0"/>
            </a:endParaRPr>
          </a:p>
          <a:p>
            <a:pPr marL="742950" lvl="1" indent="-285750">
              <a:lnSpc>
                <a:spcPct val="110000"/>
              </a:lnSpc>
              <a:spcBef>
                <a:spcPct val="30000"/>
              </a:spcBef>
              <a:buSzPct val="80000"/>
              <a:buFontTx/>
              <a:buBlip>
                <a:blip r:embed="rId3"/>
              </a:buBlip>
            </a:pPr>
            <a:r>
              <a:rPr lang="zh-CN" altLang="en-US" sz="2600" b="1" dirty="0">
                <a:solidFill>
                  <a:srgbClr val="0070C0"/>
                </a:solidFill>
                <a:latin typeface="Tahoma" pitchFamily="34" charset="0"/>
              </a:rPr>
              <a:t>指数平滑值 </a:t>
            </a:r>
            <a:r>
              <a:rPr lang="en-US" altLang="zh-CN" sz="2600" b="1" i="1" dirty="0">
                <a:solidFill>
                  <a:srgbClr val="0070C0"/>
                </a:solidFill>
                <a:latin typeface="Times New Roman" pitchFamily="18" charset="0"/>
              </a:rPr>
              <a:t>E</a:t>
            </a:r>
            <a:r>
              <a:rPr lang="en-US" altLang="zh-CN" sz="2600" b="1" i="1" baseline="-25000" dirty="0">
                <a:solidFill>
                  <a:srgbClr val="0070C0"/>
                </a:solidFill>
                <a:latin typeface="Times New Roman" pitchFamily="18" charset="0"/>
              </a:rPr>
              <a:t>t </a:t>
            </a:r>
            <a:r>
              <a:rPr lang="zh-CN" altLang="en-US" sz="2600" b="1" dirty="0">
                <a:solidFill>
                  <a:srgbClr val="0070C0"/>
                </a:solidFill>
                <a:latin typeface="Tahoma" pitchFamily="34" charset="0"/>
              </a:rPr>
              <a:t>实质上是以前各期观测值的加权算术平均数，权数呈指数形式递减</a:t>
            </a:r>
            <a:r>
              <a:rPr lang="zh-CN" altLang="en-US" sz="2600" b="1" dirty="0">
                <a:solidFill>
                  <a:srgbClr val="000000"/>
                </a:solidFill>
                <a:latin typeface="Tahoma" pitchFamily="34" charset="0"/>
              </a:rPr>
              <a:t>，故得名</a:t>
            </a:r>
            <a:r>
              <a:rPr lang="en-US" altLang="zh-CN" sz="2600" b="1" dirty="0">
                <a:latin typeface="Tahoma" pitchFamily="34" charset="0"/>
              </a:rPr>
              <a:t>.</a:t>
            </a:r>
          </a:p>
        </p:txBody>
      </p:sp>
      <p:graphicFrame>
        <p:nvGraphicFramePr>
          <p:cNvPr id="7" name="Object 9"/>
          <p:cNvGraphicFramePr>
            <a:graphicFrameLocks noChangeAspect="1"/>
          </p:cNvGraphicFramePr>
          <p:nvPr>
            <p:extLst>
              <p:ext uri="{D42A27DB-BD31-4B8C-83A1-F6EECF244321}">
                <p14:modId xmlns:p14="http://schemas.microsoft.com/office/powerpoint/2010/main" val="2555270970"/>
              </p:ext>
            </p:extLst>
          </p:nvPr>
        </p:nvGraphicFramePr>
        <p:xfrm>
          <a:off x="5868144" y="4022005"/>
          <a:ext cx="2952750" cy="919163"/>
        </p:xfrm>
        <a:graphic>
          <a:graphicData uri="http://schemas.openxmlformats.org/presentationml/2006/ole">
            <mc:AlternateContent xmlns:mc="http://schemas.openxmlformats.org/markup-compatibility/2006">
              <mc:Choice xmlns:v="urn:schemas-microsoft-com:vml" Requires="v">
                <p:oleObj spid="_x0000_s217189" name="Equation" r:id="rId5" imgW="1511300" imgH="431800" progId="Equation.DSMT4">
                  <p:embed/>
                </p:oleObj>
              </mc:Choice>
              <mc:Fallback>
                <p:oleObj name="Equation" r:id="rId5" imgW="1511300" imgH="431800" progId="Equation.DSMT4">
                  <p:embed/>
                  <p:pic>
                    <p:nvPicPr>
                      <p:cNvPr id="281609"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68144" y="4022005"/>
                        <a:ext cx="2952750" cy="919163"/>
                      </a:xfrm>
                      <a:prstGeom prst="rect">
                        <a:avLst/>
                      </a:prstGeom>
                      <a:solidFill>
                        <a:schemeClr val="accent1">
                          <a:lumMod val="20000"/>
                          <a:lumOff val="80000"/>
                        </a:schemeClr>
                      </a:solidFill>
                    </p:spPr>
                  </p:pic>
                </p:oleObj>
              </mc:Fallback>
            </mc:AlternateContent>
          </a:graphicData>
        </a:graphic>
      </p:graphicFrame>
      <p:pic>
        <p:nvPicPr>
          <p:cNvPr id="8" name="图片 7"/>
          <p:cNvPicPr>
            <a:picLocks noChangeAspect="1"/>
          </p:cNvPicPr>
          <p:nvPr/>
        </p:nvPicPr>
        <p:blipFill>
          <a:blip r:embed="rId7"/>
          <a:stretch>
            <a:fillRect/>
          </a:stretch>
        </p:blipFill>
        <p:spPr>
          <a:xfrm>
            <a:off x="335168" y="1269672"/>
            <a:ext cx="8633257" cy="1044892"/>
          </a:xfrm>
          <a:prstGeom prst="rect">
            <a:avLst/>
          </a:prstGeom>
        </p:spPr>
      </p:pic>
    </p:spTree>
    <p:extLst>
      <p:ext uri="{BB962C8B-B14F-4D97-AF65-F5344CB8AC3E}">
        <p14:creationId xmlns:p14="http://schemas.microsoft.com/office/powerpoint/2010/main" val="9591983"/>
      </p:ext>
    </p:extLst>
  </p:cSld>
  <p:clrMapOvr>
    <a:masterClrMapping/>
  </p:clrMapOvr>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指数平滑法的主要优点</a:t>
            </a:r>
          </a:p>
        </p:txBody>
      </p:sp>
      <p:sp>
        <p:nvSpPr>
          <p:cNvPr id="3" name="内容占位符 2"/>
          <p:cNvSpPr>
            <a:spLocks noGrp="1"/>
          </p:cNvSpPr>
          <p:nvPr>
            <p:ph idx="1"/>
          </p:nvPr>
        </p:nvSpPr>
        <p:spPr>
          <a:xfrm>
            <a:off x="539552" y="1431131"/>
            <a:ext cx="8208912" cy="4724400"/>
          </a:xfrm>
        </p:spPr>
        <p:txBody>
          <a:bodyPr/>
          <a:lstStyle/>
          <a:p>
            <a:pPr eaLnBrk="1" hangingPunct="1">
              <a:lnSpc>
                <a:spcPct val="115000"/>
              </a:lnSpc>
              <a:spcBef>
                <a:spcPct val="30000"/>
              </a:spcBef>
            </a:pPr>
            <a:r>
              <a:rPr lang="zh-CN" altLang="en-US" sz="2800" dirty="0">
                <a:solidFill>
                  <a:srgbClr val="000000"/>
                </a:solidFill>
              </a:rPr>
              <a:t>按</a:t>
            </a:r>
            <a:r>
              <a:rPr lang="zh-CN" altLang="en-US" sz="2800" dirty="0">
                <a:solidFill>
                  <a:srgbClr val="000000"/>
                </a:solidFill>
                <a:latin typeface="Arial" charset="0"/>
              </a:rPr>
              <a:t>“</a:t>
            </a:r>
            <a:r>
              <a:rPr lang="zh-CN" altLang="en-US" sz="2800" dirty="0">
                <a:solidFill>
                  <a:srgbClr val="000000"/>
                </a:solidFill>
              </a:rPr>
              <a:t>近大远小</a:t>
            </a:r>
            <a:r>
              <a:rPr lang="zh-CN" altLang="en-US" sz="2800" dirty="0">
                <a:solidFill>
                  <a:srgbClr val="000000"/>
                </a:solidFill>
                <a:latin typeface="Arial" charset="0"/>
              </a:rPr>
              <a:t>”</a:t>
            </a:r>
            <a:r>
              <a:rPr lang="zh-CN" altLang="en-US" sz="2800" dirty="0">
                <a:solidFill>
                  <a:srgbClr val="000000"/>
                </a:solidFill>
              </a:rPr>
              <a:t>原则给各期观测值赋予了不同的权数，既充分利用了以前各期观测值的信息，又突出了近期数据的影响，能够及时跟踪反映现象的最新变化。</a:t>
            </a:r>
          </a:p>
          <a:p>
            <a:pPr eaLnBrk="1" hangingPunct="1">
              <a:lnSpc>
                <a:spcPct val="115000"/>
              </a:lnSpc>
              <a:spcBef>
                <a:spcPct val="30000"/>
              </a:spcBef>
            </a:pPr>
            <a:r>
              <a:rPr lang="zh-CN" altLang="en-US" sz="2800" dirty="0">
                <a:solidFill>
                  <a:srgbClr val="000000"/>
                </a:solidFill>
              </a:rPr>
              <a:t>它采用递推公式，更便于连续计算，因为实际计算时不必保留以前全部信息，只需上期的平滑值和最新的观测值两项数据即可。</a:t>
            </a:r>
          </a:p>
          <a:p>
            <a:pPr eaLnBrk="1" hangingPunct="1">
              <a:lnSpc>
                <a:spcPct val="115000"/>
              </a:lnSpc>
              <a:spcBef>
                <a:spcPct val="30000"/>
              </a:spcBef>
            </a:pPr>
            <a:r>
              <a:rPr lang="zh-CN" altLang="en-US" sz="2800" dirty="0">
                <a:solidFill>
                  <a:srgbClr val="000000"/>
                </a:solidFill>
              </a:rPr>
              <a:t>其权数确定也较为简便，只需确定最新一期数据的权数，其他各项观测值的权数可自动生成。 </a:t>
            </a:r>
          </a:p>
        </p:txBody>
      </p:sp>
      <p:sp>
        <p:nvSpPr>
          <p:cNvPr id="4" name="日期占位符 3"/>
          <p:cNvSpPr>
            <a:spLocks noGrp="1"/>
          </p:cNvSpPr>
          <p:nvPr>
            <p:ph type="dt" sz="half" idx="10"/>
          </p:nvPr>
        </p:nvSpPr>
        <p:spPr/>
        <p:txBody>
          <a:bodyPr/>
          <a:lstStyle/>
          <a:p>
            <a:pPr>
              <a:defRPr/>
            </a:pPr>
            <a:endParaRPr lang="en-US" altLang="zh-CN"/>
          </a:p>
        </p:txBody>
      </p:sp>
    </p:spTree>
    <p:extLst>
      <p:ext uri="{BB962C8B-B14F-4D97-AF65-F5344CB8AC3E}">
        <p14:creationId xmlns:p14="http://schemas.microsoft.com/office/powerpoint/2010/main" val="4269540234"/>
      </p:ext>
    </p:extLst>
  </p:cSld>
  <p:clrMapOvr>
    <a:masterClrMapping/>
  </p:clrMapOvr>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7" name="Rectangle 2"/>
          <p:cNvSpPr>
            <a:spLocks noGrp="1" noChangeArrowheads="1"/>
          </p:cNvSpPr>
          <p:nvPr>
            <p:ph type="title"/>
          </p:nvPr>
        </p:nvSpPr>
        <p:spPr>
          <a:xfrm>
            <a:off x="827584" y="63726"/>
            <a:ext cx="7772400" cy="990600"/>
          </a:xfrm>
        </p:spPr>
        <p:txBody>
          <a:bodyPr/>
          <a:lstStyle/>
          <a:p>
            <a:pPr eaLnBrk="1" hangingPunct="1"/>
            <a:r>
              <a:rPr lang="zh-CN" altLang="en-US" dirty="0" smtClean="0"/>
              <a:t>平滑</a:t>
            </a:r>
            <a:r>
              <a:rPr lang="zh-CN" altLang="en-US" dirty="0" smtClean="0"/>
              <a:t>系数</a:t>
            </a:r>
            <a:r>
              <a:rPr lang="en-US" altLang="zh-CN" i="1" dirty="0" smtClean="0">
                <a:latin typeface="Times New Roman" pitchFamily="18" charset="0"/>
                <a:cs typeface="Times New Roman" pitchFamily="18" charset="0"/>
              </a:rPr>
              <a:t>α</a:t>
            </a:r>
            <a:r>
              <a:rPr lang="zh-CN" altLang="en-US" dirty="0" smtClean="0"/>
              <a:t>的选择</a:t>
            </a:r>
          </a:p>
        </p:txBody>
      </p:sp>
      <p:sp>
        <p:nvSpPr>
          <p:cNvPr id="271363" name="Rectangle 3"/>
          <p:cNvSpPr>
            <a:spLocks noGrp="1" noChangeArrowheads="1"/>
          </p:cNvSpPr>
          <p:nvPr>
            <p:ph type="body" idx="1"/>
          </p:nvPr>
        </p:nvSpPr>
        <p:spPr>
          <a:xfrm>
            <a:off x="557957" y="1034595"/>
            <a:ext cx="8042027" cy="5306556"/>
          </a:xfrm>
        </p:spPr>
        <p:txBody>
          <a:bodyPr/>
          <a:lstStyle/>
          <a:p>
            <a:pPr eaLnBrk="1" hangingPunct="1">
              <a:lnSpc>
                <a:spcPct val="110000"/>
              </a:lnSpc>
              <a:spcBef>
                <a:spcPct val="25000"/>
              </a:spcBef>
              <a:buFontTx/>
              <a:buNone/>
            </a:pPr>
            <a:r>
              <a:rPr lang="en-US" altLang="zh-CN" sz="2400" dirty="0" smtClean="0">
                <a:solidFill>
                  <a:srgbClr val="0070C0"/>
                </a:solidFill>
              </a:rPr>
              <a:t>——</a:t>
            </a:r>
            <a:r>
              <a:rPr lang="zh-CN" altLang="en-US" sz="2400" dirty="0" smtClean="0">
                <a:solidFill>
                  <a:srgbClr val="0070C0"/>
                </a:solidFill>
              </a:rPr>
              <a:t>指数</a:t>
            </a:r>
            <a:r>
              <a:rPr lang="zh-CN" altLang="en-US" sz="2400" dirty="0" smtClean="0">
                <a:solidFill>
                  <a:srgbClr val="0070C0"/>
                </a:solidFill>
              </a:rPr>
              <a:t>平滑法的关键</a:t>
            </a:r>
            <a:r>
              <a:rPr lang="zh-CN" altLang="en-US" sz="2400" dirty="0" smtClean="0">
                <a:solidFill>
                  <a:srgbClr val="0070C0"/>
                </a:solidFill>
              </a:rPr>
              <a:t>，</a:t>
            </a:r>
            <a:r>
              <a:rPr lang="en-US" altLang="zh-CN" sz="2400" i="1" dirty="0" smtClean="0">
                <a:solidFill>
                  <a:srgbClr val="0070C0"/>
                </a:solidFill>
                <a:latin typeface="Times New Roman" pitchFamily="18" charset="0"/>
                <a:cs typeface="Times New Roman" pitchFamily="18" charset="0"/>
              </a:rPr>
              <a:t>α</a:t>
            </a:r>
            <a:r>
              <a:rPr lang="zh-CN" altLang="en-US" sz="2400" dirty="0" smtClean="0">
                <a:solidFill>
                  <a:srgbClr val="0070C0"/>
                </a:solidFill>
                <a:latin typeface="Times New Roman" pitchFamily="18" charset="0"/>
                <a:cs typeface="Times New Roman" pitchFamily="18" charset="0"/>
              </a:rPr>
              <a:t>越</a:t>
            </a:r>
            <a:r>
              <a:rPr lang="zh-CN" altLang="en-US" sz="2400" dirty="0" smtClean="0">
                <a:solidFill>
                  <a:srgbClr val="0070C0"/>
                </a:solidFill>
              </a:rPr>
              <a:t>大，近期数据影响越大，对现象变化的跟踪反应越快，但修匀作用越弱。 </a:t>
            </a:r>
            <a:endParaRPr lang="zh-CN" altLang="en-US" sz="2400" dirty="0" smtClean="0">
              <a:solidFill>
                <a:srgbClr val="0070C0"/>
              </a:solidFill>
            </a:endParaRPr>
          </a:p>
          <a:p>
            <a:pPr marL="457200" lvl="1" indent="0" eaLnBrk="1" hangingPunct="1">
              <a:lnSpc>
                <a:spcPct val="110000"/>
              </a:lnSpc>
              <a:spcBef>
                <a:spcPct val="25000"/>
              </a:spcBef>
              <a:buNone/>
            </a:pPr>
            <a:r>
              <a:rPr lang="zh-CN" altLang="en-US" sz="2400" dirty="0" smtClean="0"/>
              <a:t> </a:t>
            </a:r>
            <a:r>
              <a:rPr lang="en-US" altLang="zh-CN" sz="2400" dirty="0" smtClean="0"/>
              <a:t>(1)</a:t>
            </a:r>
            <a:r>
              <a:rPr lang="zh-CN" altLang="en-US" sz="2400" dirty="0" smtClean="0"/>
              <a:t>若认为序列中随机波动成份较大，可选择较小的</a:t>
            </a:r>
            <a:r>
              <a:rPr lang="en-US" altLang="zh-CN" i="1" dirty="0" smtClean="0">
                <a:latin typeface="Times New Roman" pitchFamily="18" charset="0"/>
                <a:cs typeface="Times New Roman" pitchFamily="18" charset="0"/>
              </a:rPr>
              <a:t>α</a:t>
            </a:r>
            <a:r>
              <a:rPr lang="zh-CN" altLang="en-US" sz="2400" dirty="0" smtClean="0"/>
              <a:t>；反之，</a:t>
            </a:r>
            <a:r>
              <a:rPr lang="zh-CN" altLang="en-US" sz="2400" dirty="0"/>
              <a:t>若随机</a:t>
            </a:r>
            <a:r>
              <a:rPr lang="zh-CN" altLang="en-US" sz="2400" dirty="0" smtClean="0"/>
              <a:t>波动小，为了及时跟踪现象的实质性变化，可选择较大的</a:t>
            </a:r>
            <a:r>
              <a:rPr lang="en-US" altLang="zh-CN" i="1" dirty="0" smtClean="0">
                <a:latin typeface="Times New Roman" pitchFamily="18" charset="0"/>
                <a:cs typeface="Times New Roman" pitchFamily="18" charset="0"/>
              </a:rPr>
              <a:t>α</a:t>
            </a:r>
            <a:r>
              <a:rPr lang="zh-CN" altLang="en-US" sz="2400" dirty="0" smtClean="0"/>
              <a:t>。</a:t>
            </a:r>
          </a:p>
          <a:p>
            <a:pPr marL="457200" lvl="1" indent="0" eaLnBrk="1" hangingPunct="1">
              <a:lnSpc>
                <a:spcPct val="110000"/>
              </a:lnSpc>
              <a:spcBef>
                <a:spcPct val="25000"/>
              </a:spcBef>
              <a:buNone/>
            </a:pPr>
            <a:r>
              <a:rPr lang="en-US" altLang="zh-CN" sz="2400" dirty="0" smtClean="0"/>
              <a:t>(2)</a:t>
            </a:r>
            <a:r>
              <a:rPr lang="zh-CN" altLang="en-US" sz="2400" dirty="0" smtClean="0"/>
              <a:t>如果现象的趋势变化很</a:t>
            </a:r>
            <a:r>
              <a:rPr lang="zh-CN" altLang="en-US" sz="2400" dirty="0"/>
              <a:t>平缓，可选择较小的</a:t>
            </a:r>
            <a:r>
              <a:rPr lang="en-US" altLang="zh-CN" sz="2400" i="1" dirty="0">
                <a:latin typeface="Times New Roman" pitchFamily="18" charset="0"/>
                <a:cs typeface="Times New Roman" pitchFamily="18" charset="0"/>
              </a:rPr>
              <a:t>α</a:t>
            </a:r>
            <a:r>
              <a:rPr lang="zh-CN" altLang="en-US" sz="2400" dirty="0"/>
              <a:t>；反之</a:t>
            </a:r>
            <a:r>
              <a:rPr lang="zh-CN" altLang="en-US" sz="2400" dirty="0" smtClean="0"/>
              <a:t>，可</a:t>
            </a:r>
            <a:r>
              <a:rPr lang="zh-CN" altLang="en-US" sz="2400" dirty="0"/>
              <a:t>选择较大的</a:t>
            </a:r>
            <a:r>
              <a:rPr lang="en-US" altLang="zh-CN" sz="2400" i="1" dirty="0">
                <a:latin typeface="Times New Roman" pitchFamily="18" charset="0"/>
                <a:cs typeface="Times New Roman" pitchFamily="18" charset="0"/>
              </a:rPr>
              <a:t>α</a:t>
            </a:r>
            <a:r>
              <a:rPr lang="zh-CN" altLang="en-US" sz="2400" dirty="0" smtClean="0"/>
              <a:t>。</a:t>
            </a:r>
            <a:endParaRPr lang="en-US" altLang="zh-CN" sz="2400" dirty="0" smtClean="0"/>
          </a:p>
          <a:p>
            <a:pPr marL="457200" lvl="1" indent="0" eaLnBrk="1" hangingPunct="1">
              <a:lnSpc>
                <a:spcPct val="110000"/>
              </a:lnSpc>
              <a:spcBef>
                <a:spcPct val="25000"/>
              </a:spcBef>
              <a:buNone/>
            </a:pPr>
            <a:r>
              <a:rPr lang="en-US" altLang="zh-CN" sz="2400" dirty="0"/>
              <a:t>(3)</a:t>
            </a:r>
            <a:r>
              <a:rPr lang="zh-CN" altLang="en-US" sz="2400" dirty="0" smtClean="0"/>
              <a:t>主要</a:t>
            </a:r>
            <a:r>
              <a:rPr lang="zh-CN" altLang="en-US" sz="2400" dirty="0" smtClean="0"/>
              <a:t>依靠近期信息，</a:t>
            </a:r>
            <a:r>
              <a:rPr lang="en-US" altLang="zh-CN" i="1" dirty="0" smtClean="0">
                <a:latin typeface="Times New Roman" pitchFamily="18" charset="0"/>
                <a:cs typeface="Times New Roman" pitchFamily="18" charset="0"/>
              </a:rPr>
              <a:t>α</a:t>
            </a:r>
            <a:r>
              <a:rPr lang="zh-CN" altLang="en-US" sz="2400" dirty="0" smtClean="0"/>
              <a:t>宜大；如果希望充分重视历史信息，</a:t>
            </a:r>
            <a:r>
              <a:rPr lang="en-US" altLang="zh-CN" sz="2400" i="1" dirty="0" smtClean="0">
                <a:latin typeface="Times New Roman" pitchFamily="18" charset="0"/>
                <a:cs typeface="Times New Roman" pitchFamily="18" charset="0"/>
              </a:rPr>
              <a:t>α</a:t>
            </a:r>
            <a:r>
              <a:rPr lang="zh-CN" altLang="en-US" sz="2400" dirty="0" smtClean="0"/>
              <a:t>宜小</a:t>
            </a:r>
            <a:r>
              <a:rPr lang="zh-CN" altLang="en-US" sz="2400" dirty="0" smtClean="0"/>
              <a:t>。</a:t>
            </a:r>
            <a:r>
              <a:rPr lang="zh-CN" altLang="en-US" sz="2000" dirty="0" smtClean="0"/>
              <a:t>对</a:t>
            </a:r>
            <a:r>
              <a:rPr lang="zh-CN" altLang="en-US" sz="2000" dirty="0" smtClean="0"/>
              <a:t>初始值的正确性把握性较小，希望</a:t>
            </a:r>
            <a:r>
              <a:rPr lang="zh-CN" altLang="en-US" sz="2000" dirty="0" smtClean="0"/>
              <a:t>减小其影响</a:t>
            </a:r>
            <a:r>
              <a:rPr lang="zh-CN" altLang="en-US" sz="2000" dirty="0" smtClean="0"/>
              <a:t>，则</a:t>
            </a:r>
            <a:r>
              <a:rPr lang="en-US" altLang="zh-CN" sz="2000" i="1" dirty="0" smtClean="0"/>
              <a:t>α</a:t>
            </a:r>
            <a:r>
              <a:rPr lang="zh-CN" altLang="en-US" sz="2000" dirty="0" smtClean="0"/>
              <a:t>宜</a:t>
            </a:r>
            <a:r>
              <a:rPr lang="zh-CN" altLang="en-US" sz="2000" dirty="0" smtClean="0"/>
              <a:t>大。 </a:t>
            </a:r>
            <a:endParaRPr lang="zh-CN" altLang="en-US" sz="2000" dirty="0" smtClean="0"/>
          </a:p>
          <a:p>
            <a:pPr marL="457200" lvl="1" indent="0" eaLnBrk="1" hangingPunct="1">
              <a:lnSpc>
                <a:spcPct val="110000"/>
              </a:lnSpc>
              <a:spcBef>
                <a:spcPct val="25000"/>
              </a:spcBef>
              <a:buNone/>
            </a:pPr>
            <a:r>
              <a:rPr lang="en-US" altLang="zh-CN" sz="2400" dirty="0" smtClean="0"/>
              <a:t>(4)</a:t>
            </a:r>
            <a:r>
              <a:rPr lang="zh-CN" altLang="en-US" sz="2400" dirty="0" smtClean="0"/>
              <a:t>通过大小不同的</a:t>
            </a:r>
            <a:r>
              <a:rPr lang="en-US" altLang="zh-CN" sz="2400" i="1" dirty="0" smtClean="0"/>
              <a:t>α</a:t>
            </a:r>
            <a:r>
              <a:rPr lang="zh-CN" altLang="en-US" sz="2400" dirty="0" smtClean="0"/>
              <a:t>值进行试算，使得预测误差最小的</a:t>
            </a:r>
            <a:r>
              <a:rPr lang="en-US" altLang="zh-CN" sz="2400" i="1" dirty="0" smtClean="0"/>
              <a:t>α</a:t>
            </a:r>
            <a:r>
              <a:rPr lang="zh-CN" altLang="en-US" sz="2400" dirty="0" smtClean="0"/>
              <a:t>值就是最合适的平滑系数。</a:t>
            </a:r>
          </a:p>
        </p:txBody>
      </p:sp>
      <p:sp>
        <p:nvSpPr>
          <p:cNvPr id="129029" name="日期占位符 4"/>
          <p:cNvSpPr>
            <a:spLocks noGrp="1"/>
          </p:cNvSpPr>
          <p:nvPr>
            <p:ph type="dt" sz="quarter" idx="10"/>
          </p:nvPr>
        </p:nvSpPr>
        <p:spPr>
          <a:noFill/>
        </p:spPr>
        <p:txBody>
          <a:bodyPr/>
          <a:lstStyle/>
          <a:p>
            <a:endParaRPr lang="en-US" altLang="zh-CN" dirty="0" smtClean="0"/>
          </a:p>
        </p:txBody>
      </p:sp>
    </p:spTree>
  </p:cSld>
  <p:clrMapOvr>
    <a:masterClrMapping/>
  </p:clrMapOvr>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3" name="Rectangle 2"/>
          <p:cNvSpPr>
            <a:spLocks noGrp="1" noChangeArrowheads="1"/>
          </p:cNvSpPr>
          <p:nvPr>
            <p:ph type="title"/>
          </p:nvPr>
        </p:nvSpPr>
        <p:spPr>
          <a:xfrm>
            <a:off x="684213" y="115888"/>
            <a:ext cx="8137525" cy="990600"/>
          </a:xfrm>
        </p:spPr>
        <p:txBody>
          <a:bodyPr/>
          <a:lstStyle/>
          <a:p>
            <a:pPr eaLnBrk="1" hangingPunct="1"/>
            <a:r>
              <a:rPr lang="zh-CN" altLang="en-US" sz="4000" dirty="0" smtClean="0"/>
              <a:t>（</a:t>
            </a:r>
            <a:r>
              <a:rPr lang="en-US" altLang="zh-CN" sz="4000" dirty="0" smtClean="0"/>
              <a:t>3</a:t>
            </a:r>
            <a:r>
              <a:rPr lang="zh-CN" altLang="en-US" sz="4000" dirty="0" smtClean="0"/>
              <a:t>） 指数平滑用于水平趋势预测</a:t>
            </a:r>
          </a:p>
        </p:txBody>
      </p:sp>
      <p:sp>
        <p:nvSpPr>
          <p:cNvPr id="43014" name="Rectangle 3"/>
          <p:cNvSpPr>
            <a:spLocks noGrp="1" noChangeArrowheads="1"/>
          </p:cNvSpPr>
          <p:nvPr>
            <p:ph type="body" idx="1"/>
          </p:nvPr>
        </p:nvSpPr>
        <p:spPr>
          <a:xfrm>
            <a:off x="395288" y="1125538"/>
            <a:ext cx="8208962" cy="931862"/>
          </a:xfrm>
        </p:spPr>
        <p:txBody>
          <a:bodyPr/>
          <a:lstStyle/>
          <a:p>
            <a:pPr eaLnBrk="1" hangingPunct="1">
              <a:lnSpc>
                <a:spcPct val="90000"/>
              </a:lnSpc>
            </a:pPr>
            <a:r>
              <a:rPr lang="zh-CN" altLang="en-US" sz="3000" dirty="0" smtClean="0">
                <a:solidFill>
                  <a:srgbClr val="002060"/>
                </a:solidFill>
              </a:rPr>
              <a:t>当时间序列呈水平趋势或没有明显波动规律时，可以用一次指数平滑进行短期预测：</a:t>
            </a:r>
          </a:p>
        </p:txBody>
      </p:sp>
      <p:sp>
        <p:nvSpPr>
          <p:cNvPr id="272388" name="Rectangle 4"/>
          <p:cNvSpPr>
            <a:spLocks noChangeArrowheads="1"/>
          </p:cNvSpPr>
          <p:nvPr/>
        </p:nvSpPr>
        <p:spPr bwMode="auto">
          <a:xfrm>
            <a:off x="71438" y="3860800"/>
            <a:ext cx="8821737" cy="2520950"/>
          </a:xfrm>
          <a:prstGeom prst="rect">
            <a:avLst/>
          </a:prstGeom>
          <a:noFill/>
          <a:ln w="9525">
            <a:noFill/>
            <a:miter lim="800000"/>
            <a:headEnd/>
            <a:tailEnd/>
          </a:ln>
        </p:spPr>
        <p:txBody>
          <a:bodyPr/>
          <a:lstStyle/>
          <a:p>
            <a:pPr marL="342900" indent="-342900">
              <a:lnSpc>
                <a:spcPct val="105000"/>
              </a:lnSpc>
              <a:spcBef>
                <a:spcPct val="20000"/>
              </a:spcBef>
              <a:buSzPct val="90000"/>
              <a:buFontTx/>
              <a:buBlip>
                <a:blip r:embed="rId3"/>
              </a:buBlip>
            </a:pPr>
            <a:r>
              <a:rPr lang="zh-CN" altLang="en-US" sz="2200" b="1" dirty="0">
                <a:solidFill>
                  <a:srgbClr val="C00000"/>
                </a:solidFill>
                <a:latin typeface="Tahoma" pitchFamily="34" charset="0"/>
              </a:rPr>
              <a:t>基本思想</a:t>
            </a:r>
            <a:r>
              <a:rPr lang="zh-CN" altLang="en-US" sz="2200" b="1" dirty="0">
                <a:solidFill>
                  <a:srgbClr val="002060"/>
                </a:solidFill>
                <a:latin typeface="Tahoma" pitchFamily="34" charset="0"/>
              </a:rPr>
              <a:t>：如果第</a:t>
            </a:r>
            <a:r>
              <a:rPr lang="en-US" altLang="zh-CN" sz="2200" b="1" dirty="0">
                <a:solidFill>
                  <a:srgbClr val="002060"/>
                </a:solidFill>
                <a:latin typeface="Tahoma" pitchFamily="34" charset="0"/>
              </a:rPr>
              <a:t>t</a:t>
            </a:r>
            <a:r>
              <a:rPr lang="zh-CN" altLang="en-US" sz="2200" b="1" dirty="0">
                <a:solidFill>
                  <a:srgbClr val="002060"/>
                </a:solidFill>
                <a:latin typeface="Tahoma" pitchFamily="34" charset="0"/>
              </a:rPr>
              <a:t>期的预测没有误差，则第 </a:t>
            </a:r>
            <a:r>
              <a:rPr lang="en-US" altLang="zh-CN" sz="2200" b="1" dirty="0">
                <a:solidFill>
                  <a:srgbClr val="002060"/>
                </a:solidFill>
                <a:latin typeface="Tahoma" pitchFamily="34" charset="0"/>
              </a:rPr>
              <a:t>t </a:t>
            </a:r>
            <a:r>
              <a:rPr lang="zh-CN" altLang="en-US" sz="2200" b="1" dirty="0">
                <a:solidFill>
                  <a:srgbClr val="002060"/>
                </a:solidFill>
                <a:latin typeface="Tahoma" pitchFamily="34" charset="0"/>
              </a:rPr>
              <a:t>期预测值仍然是第</a:t>
            </a:r>
            <a:r>
              <a:rPr lang="en-US" altLang="zh-CN" sz="2200" b="1" dirty="0">
                <a:solidFill>
                  <a:srgbClr val="002060"/>
                </a:solidFill>
                <a:latin typeface="Tahoma" pitchFamily="34" charset="0"/>
              </a:rPr>
              <a:t>t+1</a:t>
            </a:r>
            <a:r>
              <a:rPr lang="zh-CN" altLang="en-US" sz="2200" b="1" dirty="0">
                <a:solidFill>
                  <a:srgbClr val="002060"/>
                </a:solidFill>
                <a:latin typeface="Tahoma" pitchFamily="34" charset="0"/>
              </a:rPr>
              <a:t>期的预测值；如果有预测误差，则不外乎：</a:t>
            </a:r>
          </a:p>
          <a:p>
            <a:pPr marL="742950" lvl="1" indent="-285750">
              <a:lnSpc>
                <a:spcPct val="105000"/>
              </a:lnSpc>
              <a:spcBef>
                <a:spcPct val="20000"/>
              </a:spcBef>
              <a:buSzPct val="80000"/>
              <a:buFontTx/>
              <a:buBlip>
                <a:blip r:embed="rId4"/>
              </a:buBlip>
            </a:pPr>
            <a:r>
              <a:rPr lang="zh-CN" altLang="en-US" sz="2200" b="1" dirty="0">
                <a:solidFill>
                  <a:srgbClr val="000000"/>
                </a:solidFill>
                <a:latin typeface="Tahoma" pitchFamily="34" charset="0"/>
              </a:rPr>
              <a:t>一是随机波动所引起的误差，预测时应尽可能予以剔除；</a:t>
            </a:r>
          </a:p>
          <a:p>
            <a:pPr marL="742950" lvl="1" indent="-285750">
              <a:lnSpc>
                <a:spcPct val="105000"/>
              </a:lnSpc>
              <a:spcBef>
                <a:spcPct val="20000"/>
              </a:spcBef>
              <a:buSzPct val="80000"/>
              <a:buFontTx/>
              <a:buBlip>
                <a:blip r:embed="rId4"/>
              </a:buBlip>
            </a:pPr>
            <a:r>
              <a:rPr lang="zh-CN" altLang="en-US" sz="2200" b="1" dirty="0">
                <a:solidFill>
                  <a:srgbClr val="000000"/>
                </a:solidFill>
                <a:latin typeface="Tahoma" pitchFamily="34" charset="0"/>
              </a:rPr>
              <a:t>另一是由于 </a:t>
            </a:r>
            <a:r>
              <a:rPr lang="en-US" altLang="zh-CN" sz="2200" b="1" dirty="0">
                <a:solidFill>
                  <a:srgbClr val="000000"/>
                </a:solidFill>
                <a:latin typeface="Tahoma" pitchFamily="34" charset="0"/>
              </a:rPr>
              <a:t>t </a:t>
            </a:r>
            <a:r>
              <a:rPr lang="zh-CN" altLang="en-US" sz="2200" b="1" dirty="0">
                <a:solidFill>
                  <a:srgbClr val="000000"/>
                </a:solidFill>
                <a:latin typeface="Tahoma" pitchFamily="34" charset="0"/>
              </a:rPr>
              <a:t>期确实有了实质性变化而造成的误差，对此须及时跟踪反应，这就要求根据预测误差调整预测值。</a:t>
            </a:r>
          </a:p>
          <a:p>
            <a:pPr marL="342900" indent="-342900">
              <a:lnSpc>
                <a:spcPct val="105000"/>
              </a:lnSpc>
              <a:spcBef>
                <a:spcPct val="20000"/>
              </a:spcBef>
              <a:buSzPct val="90000"/>
              <a:buFontTx/>
              <a:buBlip>
                <a:blip r:embed="rId3"/>
              </a:buBlip>
            </a:pPr>
            <a:r>
              <a:rPr lang="en-US" altLang="zh-CN" sz="2200" b="1" i="1" dirty="0">
                <a:solidFill>
                  <a:srgbClr val="CC0099"/>
                </a:solidFill>
                <a:latin typeface="Times New Roman" panose="02020603050405020304" pitchFamily="18" charset="0"/>
                <a:cs typeface="Times New Roman" panose="02020603050405020304" pitchFamily="18" charset="0"/>
              </a:rPr>
              <a:t>α</a:t>
            </a:r>
            <a:r>
              <a:rPr lang="zh-CN" altLang="en-US" sz="2200" b="1" dirty="0">
                <a:solidFill>
                  <a:srgbClr val="CC0099"/>
                </a:solidFill>
                <a:latin typeface="Tahoma" pitchFamily="34" charset="0"/>
              </a:rPr>
              <a:t>实质上体现了预测者对预测误差中实质性变化所占比重的估计。</a:t>
            </a:r>
          </a:p>
        </p:txBody>
      </p:sp>
      <p:sp>
        <p:nvSpPr>
          <p:cNvPr id="43016" name="Rectangle 5"/>
          <p:cNvSpPr>
            <a:spLocks noChangeArrowheads="1"/>
          </p:cNvSpPr>
          <p:nvPr/>
        </p:nvSpPr>
        <p:spPr bwMode="auto">
          <a:xfrm>
            <a:off x="0" y="3328988"/>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43010" name="Object 6"/>
          <p:cNvGraphicFramePr>
            <a:graphicFrameLocks noChangeAspect="1"/>
          </p:cNvGraphicFramePr>
          <p:nvPr/>
        </p:nvGraphicFramePr>
        <p:xfrm>
          <a:off x="1908175" y="2205038"/>
          <a:ext cx="5041900" cy="674687"/>
        </p:xfrm>
        <a:graphic>
          <a:graphicData uri="http://schemas.openxmlformats.org/presentationml/2006/ole">
            <mc:AlternateContent xmlns:mc="http://schemas.openxmlformats.org/markup-compatibility/2006">
              <mc:Choice xmlns:v="urn:schemas-microsoft-com:vml" Requires="v">
                <p:oleObj spid="_x0000_s43220" name="公式" r:id="rId5" imgW="1498320" imgH="203040" progId="Equation.3">
                  <p:embed/>
                </p:oleObj>
              </mc:Choice>
              <mc:Fallback>
                <p:oleObj name="公式" r:id="rId5" imgW="1498320" imgH="20304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8175" y="2205038"/>
                        <a:ext cx="5041900" cy="674687"/>
                      </a:xfrm>
                      <a:prstGeom prst="rect">
                        <a:avLst/>
                      </a:prstGeom>
                      <a:noFill/>
                      <a:ln w="38100">
                        <a:solidFill>
                          <a:srgbClr val="9933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17" name="Rectangle 7"/>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43011" name="Object 8"/>
          <p:cNvGraphicFramePr>
            <a:graphicFrameLocks noChangeAspect="1"/>
          </p:cNvGraphicFramePr>
          <p:nvPr>
            <p:extLst>
              <p:ext uri="{D42A27DB-BD31-4B8C-83A1-F6EECF244321}">
                <p14:modId xmlns:p14="http://schemas.microsoft.com/office/powerpoint/2010/main" val="2553940938"/>
              </p:ext>
            </p:extLst>
          </p:nvPr>
        </p:nvGraphicFramePr>
        <p:xfrm>
          <a:off x="1879399" y="3061074"/>
          <a:ext cx="5057303" cy="786651"/>
        </p:xfrm>
        <a:graphic>
          <a:graphicData uri="http://schemas.openxmlformats.org/presentationml/2006/ole">
            <mc:AlternateContent xmlns:mc="http://schemas.openxmlformats.org/markup-compatibility/2006">
              <mc:Choice xmlns:v="urn:schemas-microsoft-com:vml" Requires="v">
                <p:oleObj spid="_x0000_s43221" name="公式" r:id="rId7" imgW="1562040" imgH="228600" progId="Equation.3">
                  <p:embed/>
                </p:oleObj>
              </mc:Choice>
              <mc:Fallback>
                <p:oleObj name="公式" r:id="rId7" imgW="1562040" imgH="228600" progId="Equation.3">
                  <p:embed/>
                  <p:pic>
                    <p:nvPicPr>
                      <p:cNvPr id="0" name="Object 8"/>
                      <p:cNvPicPr>
                        <a:picLocks noChangeAspect="1" noChangeArrowheads="1"/>
                      </p:cNvPicPr>
                      <p:nvPr/>
                    </p:nvPicPr>
                    <p:blipFill>
                      <a:blip r:embed="rId8"/>
                      <a:srcRect/>
                      <a:stretch>
                        <a:fillRect/>
                      </a:stretch>
                    </p:blipFill>
                    <p:spPr bwMode="auto">
                      <a:xfrm>
                        <a:off x="1879399" y="3061074"/>
                        <a:ext cx="5057303" cy="786651"/>
                      </a:xfrm>
                      <a:prstGeom prst="rect">
                        <a:avLst/>
                      </a:prstGeom>
                      <a:noFill/>
                      <a:ln w="28575">
                        <a:solidFill>
                          <a:srgbClr val="3333FF"/>
                        </a:solidFill>
                        <a:miter lim="800000"/>
                        <a:headEnd/>
                        <a:tailEnd/>
                      </a:ln>
                      <a:extLst/>
                    </p:spPr>
                  </p:pic>
                </p:oleObj>
              </mc:Fallback>
            </mc:AlternateContent>
          </a:graphicData>
        </a:graphic>
      </p:graphicFrame>
      <p:sp>
        <p:nvSpPr>
          <p:cNvPr id="43018" name="Text Box 9"/>
          <p:cNvSpPr txBox="1">
            <a:spLocks noChangeArrowheads="1"/>
          </p:cNvSpPr>
          <p:nvPr/>
        </p:nvSpPr>
        <p:spPr bwMode="auto">
          <a:xfrm>
            <a:off x="468313" y="2997200"/>
            <a:ext cx="1258887" cy="457200"/>
          </a:xfrm>
          <a:prstGeom prst="rect">
            <a:avLst/>
          </a:prstGeom>
          <a:noFill/>
          <a:ln w="9525" algn="ctr">
            <a:noFill/>
            <a:miter lim="800000"/>
            <a:headEnd/>
            <a:tailEnd/>
          </a:ln>
        </p:spPr>
        <p:txBody>
          <a:bodyPr>
            <a:spAutoFit/>
          </a:bodyPr>
          <a:lstStyle/>
          <a:p>
            <a:pPr algn="ctr">
              <a:spcBef>
                <a:spcPct val="50000"/>
              </a:spcBef>
            </a:pPr>
            <a:r>
              <a:rPr lang="zh-CN" altLang="en-US" sz="2400" b="1">
                <a:latin typeface="Tahoma" pitchFamily="34" charset="0"/>
              </a:rPr>
              <a:t>或：</a:t>
            </a:r>
          </a:p>
        </p:txBody>
      </p:sp>
      <p:sp>
        <p:nvSpPr>
          <p:cNvPr id="43019" name="日期占位符 10"/>
          <p:cNvSpPr>
            <a:spLocks noGrp="1"/>
          </p:cNvSpPr>
          <p:nvPr>
            <p:ph type="dt" sz="quarter" idx="10"/>
          </p:nvPr>
        </p:nvSpPr>
        <p:spPr>
          <a:noFill/>
        </p:spPr>
        <p:txBody>
          <a:bodyPr/>
          <a:lstStyle/>
          <a:p>
            <a:endParaRPr lang="en-US" altLang="zh-CN"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72388"/>
                                        </p:tgtEl>
                                        <p:attrNameLst>
                                          <p:attrName>style.visibility</p:attrName>
                                        </p:attrNameLst>
                                      </p:cBhvr>
                                      <p:to>
                                        <p:strVal val="visible"/>
                                      </p:to>
                                    </p:set>
                                    <p:animEffect transition="in" filter="checkerboard(across)">
                                      <p:cBhvr>
                                        <p:cTn id="7" dur="500"/>
                                        <p:tgtEl>
                                          <p:spTgt spid="2723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388"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灯片编号占位符 5"/>
          <p:cNvSpPr>
            <a:spLocks noGrp="1"/>
          </p:cNvSpPr>
          <p:nvPr>
            <p:ph type="sldNum" sz="quarter" idx="4294967295"/>
          </p:nvPr>
        </p:nvSpPr>
        <p:spPr>
          <a:xfrm>
            <a:off x="6988175" y="6308725"/>
            <a:ext cx="1905000" cy="457200"/>
          </a:xfrm>
          <a:prstGeom prst="rect">
            <a:avLst/>
          </a:prstGeom>
          <a:noFill/>
        </p:spPr>
        <p:txBody>
          <a:bodyPr/>
          <a:lstStyle/>
          <a:p>
            <a:r>
              <a:rPr lang="en-US" altLang="zh-CN" smtClean="0"/>
              <a:t>8--</a:t>
            </a:r>
            <a:fld id="{ED0EA9B7-1AA1-4608-A307-B8C2E016B09F}" type="slidenum">
              <a:rPr lang="en-US" altLang="zh-CN" smtClean="0"/>
              <a:pPr/>
              <a:t>98</a:t>
            </a:fld>
            <a:endParaRPr lang="en-US" altLang="zh-CN" smtClean="0"/>
          </a:p>
        </p:txBody>
      </p:sp>
      <p:sp>
        <p:nvSpPr>
          <p:cNvPr id="130051" name="Rectangle 2"/>
          <p:cNvSpPr>
            <a:spLocks noGrp="1" noChangeArrowheads="1"/>
          </p:cNvSpPr>
          <p:nvPr>
            <p:ph type="title"/>
          </p:nvPr>
        </p:nvSpPr>
        <p:spPr>
          <a:xfrm>
            <a:off x="971550" y="260350"/>
            <a:ext cx="7732713" cy="709613"/>
          </a:xfrm>
        </p:spPr>
        <p:txBody>
          <a:bodyPr/>
          <a:lstStyle/>
          <a:p>
            <a:pPr algn="l" eaLnBrk="1" hangingPunct="1"/>
            <a:r>
              <a:rPr lang="en-US" altLang="zh-CN" dirty="0" smtClean="0"/>
              <a:t>【</a:t>
            </a:r>
            <a:r>
              <a:rPr lang="zh-CN" altLang="en-US" dirty="0" smtClean="0"/>
              <a:t>例</a:t>
            </a:r>
            <a:r>
              <a:rPr lang="en-US" altLang="zh-CN" dirty="0" smtClean="0"/>
              <a:t>】</a:t>
            </a:r>
          </a:p>
        </p:txBody>
      </p:sp>
      <p:sp>
        <p:nvSpPr>
          <p:cNvPr id="130052" name="Rectangle 3"/>
          <p:cNvSpPr>
            <a:spLocks noGrp="1" noChangeArrowheads="1"/>
          </p:cNvSpPr>
          <p:nvPr>
            <p:ph type="body" idx="1"/>
          </p:nvPr>
        </p:nvSpPr>
        <p:spPr>
          <a:xfrm>
            <a:off x="323850" y="908050"/>
            <a:ext cx="2663825" cy="5184775"/>
          </a:xfrm>
          <a:ln w="38100">
            <a:solidFill>
              <a:srgbClr val="3399FF"/>
            </a:solidFill>
          </a:ln>
        </p:spPr>
        <p:txBody>
          <a:bodyPr/>
          <a:lstStyle/>
          <a:p>
            <a:pPr eaLnBrk="1" hangingPunct="1"/>
            <a:r>
              <a:rPr lang="zh-CN" altLang="en-US" sz="2400" b="0" smtClean="0"/>
              <a:t>要求用移动平均法和指数平滑法进行预测</a:t>
            </a:r>
            <a:r>
              <a:rPr lang="en-US" altLang="zh-CN" sz="2400" b="0" smtClean="0"/>
              <a:t>.</a:t>
            </a:r>
          </a:p>
          <a:p>
            <a:pPr eaLnBrk="1" hangingPunct="1"/>
            <a:r>
              <a:rPr lang="zh-CN" altLang="en-US" sz="2400" smtClean="0">
                <a:solidFill>
                  <a:srgbClr val="3333FF"/>
                </a:solidFill>
              </a:rPr>
              <a:t>解：</a:t>
            </a:r>
          </a:p>
          <a:p>
            <a:pPr eaLnBrk="1" hangingPunct="1"/>
            <a:r>
              <a:rPr lang="zh-CN" altLang="en-US" sz="2400" b="0" smtClean="0"/>
              <a:t>采用</a:t>
            </a:r>
            <a:r>
              <a:rPr lang="en-US" altLang="zh-CN" sz="2400" b="0" smtClean="0"/>
              <a:t>5</a:t>
            </a:r>
            <a:r>
              <a:rPr lang="zh-CN" altLang="en-US" sz="2400" b="0" smtClean="0"/>
              <a:t>日移动平均，</a:t>
            </a:r>
            <a:r>
              <a:rPr lang="zh-CN" altLang="en-US" sz="2400" b="0" smtClean="0">
                <a:solidFill>
                  <a:schemeClr val="tx1"/>
                </a:solidFill>
              </a:rPr>
              <a:t>加权移动平均预测中各期数据的权数由近到远分别为</a:t>
            </a:r>
            <a:r>
              <a:rPr lang="en-US" altLang="zh-CN" sz="2400" b="0" smtClean="0">
                <a:solidFill>
                  <a:schemeClr val="tx1"/>
                </a:solidFill>
              </a:rPr>
              <a:t>5,4,3,2, 1</a:t>
            </a:r>
            <a:r>
              <a:rPr lang="zh-CN" altLang="en-US" sz="2400" b="0" smtClean="0">
                <a:solidFill>
                  <a:schemeClr val="tx1"/>
                </a:solidFill>
              </a:rPr>
              <a:t>。</a:t>
            </a:r>
          </a:p>
          <a:p>
            <a:pPr eaLnBrk="1" hangingPunct="1"/>
            <a:r>
              <a:rPr lang="zh-CN" altLang="en-US" sz="2400" b="0" smtClean="0"/>
              <a:t>指数平滑法预测取</a:t>
            </a:r>
            <a:r>
              <a:rPr lang="en-US" altLang="zh-CN" sz="2400" b="0" i="1" smtClean="0"/>
              <a:t>α</a:t>
            </a:r>
            <a:r>
              <a:rPr lang="en-US" altLang="zh-CN" sz="2400" b="0" smtClean="0"/>
              <a:t>=0.4</a:t>
            </a:r>
            <a:r>
              <a:rPr lang="zh-CN" altLang="en-US" sz="2400" b="0" smtClean="0"/>
              <a:t>。</a:t>
            </a:r>
          </a:p>
        </p:txBody>
      </p:sp>
      <p:graphicFrame>
        <p:nvGraphicFramePr>
          <p:cNvPr id="273528" name="Group 120"/>
          <p:cNvGraphicFramePr>
            <a:graphicFrameLocks noGrp="1"/>
          </p:cNvGraphicFramePr>
          <p:nvPr>
            <p:extLst>
              <p:ext uri="{D42A27DB-BD31-4B8C-83A1-F6EECF244321}">
                <p14:modId xmlns:p14="http://schemas.microsoft.com/office/powerpoint/2010/main" val="1802189920"/>
              </p:ext>
            </p:extLst>
          </p:nvPr>
        </p:nvGraphicFramePr>
        <p:xfrm>
          <a:off x="3132138" y="101600"/>
          <a:ext cx="6011862" cy="6797675"/>
        </p:xfrm>
        <a:graphic>
          <a:graphicData uri="http://schemas.openxmlformats.org/drawingml/2006/table">
            <a:tbl>
              <a:tblPr/>
              <a:tblGrid>
                <a:gridCol w="792162">
                  <a:extLst>
                    <a:ext uri="{9D8B030D-6E8A-4147-A177-3AD203B41FA5}">
                      <a16:colId xmlns:a16="http://schemas.microsoft.com/office/drawing/2014/main" val="20000"/>
                    </a:ext>
                  </a:extLst>
                </a:gridCol>
                <a:gridCol w="935038">
                  <a:extLst>
                    <a:ext uri="{9D8B030D-6E8A-4147-A177-3AD203B41FA5}">
                      <a16:colId xmlns:a16="http://schemas.microsoft.com/office/drawing/2014/main" val="20001"/>
                    </a:ext>
                  </a:extLst>
                </a:gridCol>
                <a:gridCol w="1152525">
                  <a:extLst>
                    <a:ext uri="{9D8B030D-6E8A-4147-A177-3AD203B41FA5}">
                      <a16:colId xmlns:a16="http://schemas.microsoft.com/office/drawing/2014/main" val="20002"/>
                    </a:ext>
                  </a:extLst>
                </a:gridCol>
                <a:gridCol w="1584325">
                  <a:extLst>
                    <a:ext uri="{9D8B030D-6E8A-4147-A177-3AD203B41FA5}">
                      <a16:colId xmlns:a16="http://schemas.microsoft.com/office/drawing/2014/main" val="20003"/>
                    </a:ext>
                  </a:extLst>
                </a:gridCol>
                <a:gridCol w="1547812">
                  <a:extLst>
                    <a:ext uri="{9D8B030D-6E8A-4147-A177-3AD203B41FA5}">
                      <a16:colId xmlns:a16="http://schemas.microsoft.com/office/drawing/2014/main" val="20004"/>
                    </a:ext>
                  </a:extLst>
                </a:gridCol>
              </a:tblGrid>
              <a:tr h="549275">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chemeClr val="tx1"/>
                          </a:solidFill>
                          <a:effectLst/>
                          <a:latin typeface="宋体" pitchFamily="2" charset="-122"/>
                          <a:ea typeface="宋体" pitchFamily="2" charset="-122"/>
                        </a:rPr>
                        <a:t>日期</a:t>
                      </a:r>
                      <a:endParaRPr kumimoji="0" lang="zh-CN" altLang="en-US" sz="18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chemeClr val="tx1"/>
                          </a:solidFill>
                          <a:effectLst/>
                          <a:latin typeface="宋体" pitchFamily="2" charset="-122"/>
                          <a:ea typeface="宋体" pitchFamily="2" charset="-122"/>
                        </a:rPr>
                        <a:t>价格</a:t>
                      </a:r>
                      <a:endParaRPr kumimoji="0" lang="zh-CN" altLang="en-US" sz="18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rgbClr val="CC0099"/>
                          </a:solidFill>
                          <a:effectLst/>
                          <a:latin typeface="宋体" pitchFamily="2" charset="-122"/>
                          <a:ea typeface="宋体" pitchFamily="2" charset="-122"/>
                        </a:rPr>
                        <a:t>移动平均</a:t>
                      </a:r>
                      <a:endParaRPr kumimoji="0" lang="zh-CN" altLang="en-US" sz="1800" b="1" i="0" u="none" strike="noStrike" cap="none" normalizeH="0" baseline="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rgbClr val="CC0099"/>
                          </a:solidFill>
                          <a:effectLst/>
                          <a:latin typeface="宋体" pitchFamily="2" charset="-122"/>
                          <a:ea typeface="宋体" pitchFamily="2" charset="-122"/>
                        </a:rPr>
                        <a:t>加权移动平均</a:t>
                      </a:r>
                      <a:endParaRPr kumimoji="0" lang="zh-CN" altLang="en-US"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rgbClr val="CC0099"/>
                          </a:solidFill>
                          <a:effectLst/>
                          <a:latin typeface="宋体" pitchFamily="2" charset="-122"/>
                          <a:ea typeface="宋体" pitchFamily="2" charset="-122"/>
                        </a:rPr>
                        <a:t>指数平滑值</a:t>
                      </a:r>
                      <a:endParaRPr kumimoji="0" lang="zh-CN" altLang="en-US"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268288">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7.20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rgbClr val="CC0099"/>
                          </a:solidFill>
                          <a:effectLst/>
                          <a:latin typeface="宋体" pitchFamily="2" charset="-122"/>
                          <a:ea typeface="宋体" pitchFamily="2" charset="-122"/>
                        </a:rPr>
                        <a:t>　</a:t>
                      </a:r>
                      <a:endParaRPr kumimoji="0" lang="zh-CN" altLang="en-US"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rgbClr val="CC0099"/>
                          </a:solidFill>
                          <a:effectLst/>
                          <a:latin typeface="宋体" pitchFamily="2" charset="-122"/>
                          <a:ea typeface="宋体" pitchFamily="2" charset="-122"/>
                        </a:rPr>
                        <a:t>　</a:t>
                      </a:r>
                      <a:endParaRPr kumimoji="0" lang="zh-CN" altLang="en-US"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rgbClr val="CC0099"/>
                          </a:solidFill>
                          <a:effectLst/>
                          <a:latin typeface="宋体" pitchFamily="2" charset="-122"/>
                          <a:ea typeface="宋体" pitchFamily="2" charset="-122"/>
                        </a:rPr>
                        <a:t>　</a:t>
                      </a:r>
                      <a:endParaRPr kumimoji="0" lang="zh-CN" altLang="en-US"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1"/>
                  </a:ext>
                </a:extLst>
              </a:tr>
              <a:tr h="263525">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2</a:t>
                      </a:r>
                      <a:endParaRPr kumimoji="0" lang="en-US" altLang="zh-CN" sz="1800" b="1" i="0" u="none" strike="noStrike" cap="none" normalizeH="0" baseline="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7.09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rgbClr val="CC0099"/>
                          </a:solidFill>
                          <a:effectLst/>
                          <a:latin typeface="宋体" pitchFamily="2" charset="-122"/>
                          <a:ea typeface="宋体" pitchFamily="2" charset="-122"/>
                        </a:rPr>
                        <a:t>　</a:t>
                      </a:r>
                      <a:endParaRPr kumimoji="0" lang="zh-CN" altLang="en-US"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rgbClr val="CC0099"/>
                          </a:solidFill>
                          <a:effectLst/>
                          <a:latin typeface="宋体" pitchFamily="2" charset="-122"/>
                          <a:ea typeface="宋体" pitchFamily="2" charset="-122"/>
                        </a:rPr>
                        <a:t>　</a:t>
                      </a:r>
                      <a:endParaRPr kumimoji="0" lang="zh-CN" altLang="en-US"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7.200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2"/>
                  </a:ext>
                </a:extLst>
              </a:tr>
              <a:tr h="352425">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3</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7.05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rgbClr val="CC0099"/>
                          </a:solidFill>
                          <a:effectLst/>
                          <a:latin typeface="宋体" pitchFamily="2" charset="-122"/>
                          <a:ea typeface="宋体" pitchFamily="2" charset="-122"/>
                        </a:rPr>
                        <a:t>　</a:t>
                      </a:r>
                      <a:endParaRPr kumimoji="0" lang="zh-CN" altLang="en-US"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rgbClr val="CC0099"/>
                          </a:solidFill>
                          <a:effectLst/>
                          <a:latin typeface="宋体" pitchFamily="2" charset="-122"/>
                          <a:ea typeface="宋体" pitchFamily="2" charset="-122"/>
                        </a:rPr>
                        <a:t>　</a:t>
                      </a:r>
                      <a:endParaRPr kumimoji="0" lang="zh-CN" altLang="en-US"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7.156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3"/>
                  </a:ext>
                </a:extLst>
              </a:tr>
              <a:tr h="350838">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4</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7.20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rgbClr val="CC0099"/>
                          </a:solidFill>
                          <a:effectLst/>
                          <a:latin typeface="宋体" pitchFamily="2" charset="-122"/>
                          <a:ea typeface="宋体" pitchFamily="2" charset="-122"/>
                        </a:rPr>
                        <a:t>　</a:t>
                      </a:r>
                      <a:endParaRPr kumimoji="0" lang="zh-CN" altLang="en-US"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rgbClr val="CC0099"/>
                          </a:solidFill>
                          <a:effectLst/>
                          <a:latin typeface="宋体" pitchFamily="2" charset="-122"/>
                          <a:ea typeface="宋体" pitchFamily="2" charset="-122"/>
                        </a:rPr>
                        <a:t>　</a:t>
                      </a:r>
                      <a:endParaRPr kumimoji="0" lang="zh-CN" altLang="en-US"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7.114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4"/>
                  </a:ext>
                </a:extLst>
              </a:tr>
              <a:tr h="350838">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5</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7.32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rgbClr val="CC0099"/>
                          </a:solidFill>
                          <a:effectLst/>
                          <a:latin typeface="宋体" pitchFamily="2" charset="-122"/>
                          <a:ea typeface="宋体" pitchFamily="2" charset="-122"/>
                        </a:rPr>
                        <a:t>　</a:t>
                      </a:r>
                      <a:endParaRPr kumimoji="0" lang="zh-CN" altLang="en-US"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rgbClr val="CC0099"/>
                          </a:solidFill>
                          <a:effectLst/>
                          <a:latin typeface="宋体" pitchFamily="2" charset="-122"/>
                          <a:ea typeface="宋体" pitchFamily="2" charset="-122"/>
                        </a:rPr>
                        <a:t>　</a:t>
                      </a:r>
                      <a:endParaRPr kumimoji="0" lang="zh-CN" altLang="en-US"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7.148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5"/>
                  </a:ext>
                </a:extLst>
              </a:tr>
              <a:tr h="352425">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6</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7.20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7.172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7.195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7.217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6"/>
                  </a:ext>
                </a:extLst>
              </a:tr>
              <a:tr h="350838">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7</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7.25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7.172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7.205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7.210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7"/>
                  </a:ext>
                </a:extLst>
              </a:tr>
              <a:tr h="352425">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8</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7.38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7.204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7.231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7.226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8"/>
                  </a:ext>
                </a:extLst>
              </a:tr>
              <a:tr h="350838">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9</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7.51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7.270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7.289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7.288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9"/>
                  </a:ext>
                </a:extLst>
              </a:tr>
              <a:tr h="352425">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10</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7.42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7.332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7.369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7.377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10"/>
                  </a:ext>
                </a:extLst>
              </a:tr>
              <a:tr h="350838">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11</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7.35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7.352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7.399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7.394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11"/>
                  </a:ext>
                </a:extLst>
              </a:tr>
              <a:tr h="352425">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12</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7.25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7.382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7.398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7.376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12"/>
                  </a:ext>
                </a:extLst>
              </a:tr>
              <a:tr h="350838">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13</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7.17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7.382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7.354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7.326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13"/>
                  </a:ext>
                </a:extLst>
              </a:tr>
              <a:tr h="352425">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14</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7.21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7.340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7.283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7.263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14"/>
                  </a:ext>
                </a:extLst>
              </a:tr>
              <a:tr h="350838">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15</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7.28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7.280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7.240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7.242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15"/>
                  </a:ext>
                </a:extLst>
              </a:tr>
              <a:tr h="352425">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16</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7.30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7.252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7.240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7.257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16"/>
                  </a:ext>
                </a:extLst>
              </a:tr>
              <a:tr h="350838">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chemeClr val="tx1"/>
                          </a:solidFill>
                          <a:effectLst/>
                          <a:latin typeface="宋体" pitchFamily="2" charset="-122"/>
                          <a:ea typeface="宋体" pitchFamily="2" charset="-122"/>
                        </a:rPr>
                        <a:t>17</a:t>
                      </a:r>
                      <a:endParaRPr kumimoji="0" lang="en-US" altLang="zh-CN" sz="20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000" b="1" i="0" u="none" strike="noStrike" cap="none" normalizeH="0" baseline="0" dirty="0" smtClean="0">
                          <a:ln>
                            <a:noFill/>
                          </a:ln>
                          <a:solidFill>
                            <a:schemeClr val="tx1"/>
                          </a:solidFill>
                          <a:effectLst/>
                          <a:latin typeface="宋体" pitchFamily="2" charset="-122"/>
                          <a:ea typeface="宋体" pitchFamily="2" charset="-122"/>
                        </a:rPr>
                        <a:t>　</a:t>
                      </a:r>
                      <a:endParaRPr kumimoji="0" lang="zh-CN" altLang="en-US" sz="2000" b="1" i="0" u="none" strike="noStrike" cap="none" normalizeH="0" baseline="0" dirty="0" smtClean="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FF0066"/>
                          </a:solidFill>
                          <a:effectLst/>
                          <a:latin typeface="宋体" pitchFamily="2" charset="-122"/>
                          <a:ea typeface="宋体" pitchFamily="2" charset="-122"/>
                        </a:rPr>
                        <a:t>7.242 </a:t>
                      </a:r>
                      <a:endParaRPr kumimoji="0" lang="en-US" altLang="zh-CN" sz="2000" b="1" i="0" u="none" strike="noStrike" cap="none" normalizeH="0" baseline="0" dirty="0" smtClean="0">
                        <a:ln>
                          <a:noFill/>
                        </a:ln>
                        <a:solidFill>
                          <a:srgbClr val="FF0066"/>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FF0066"/>
                          </a:solidFill>
                          <a:effectLst/>
                          <a:latin typeface="宋体" pitchFamily="2" charset="-122"/>
                          <a:ea typeface="宋体" pitchFamily="2" charset="-122"/>
                        </a:rPr>
                        <a:t>7.256 </a:t>
                      </a:r>
                      <a:endParaRPr kumimoji="0" lang="en-US" altLang="zh-CN" sz="2000" b="1" i="0" u="none" strike="noStrike" cap="none" normalizeH="0" baseline="0" dirty="0" smtClean="0">
                        <a:ln>
                          <a:noFill/>
                        </a:ln>
                        <a:solidFill>
                          <a:srgbClr val="FF0066"/>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FF0066"/>
                          </a:solidFill>
                          <a:effectLst/>
                          <a:latin typeface="宋体" pitchFamily="2" charset="-122"/>
                          <a:ea typeface="宋体" pitchFamily="2" charset="-122"/>
                        </a:rPr>
                        <a:t>7.274 </a:t>
                      </a:r>
                      <a:endParaRPr kumimoji="0" lang="en-US" altLang="zh-CN" sz="2000" b="1" i="0" u="none" strike="noStrike" cap="none" normalizeH="0" baseline="0" dirty="0" smtClean="0">
                        <a:ln>
                          <a:noFill/>
                        </a:ln>
                        <a:solidFill>
                          <a:srgbClr val="FF0066"/>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17"/>
                  </a:ext>
                </a:extLst>
              </a:tr>
            </a:tbl>
          </a:graphicData>
        </a:graphic>
      </p:graphicFrame>
      <p:sp>
        <p:nvSpPr>
          <p:cNvPr id="130169" name="日期占位符 5"/>
          <p:cNvSpPr>
            <a:spLocks noGrp="1"/>
          </p:cNvSpPr>
          <p:nvPr>
            <p:ph type="dt" sz="quarter" idx="10"/>
          </p:nvPr>
        </p:nvSpPr>
        <p:spPr>
          <a:noFill/>
        </p:spPr>
        <p:txBody>
          <a:bodyPr/>
          <a:lstStyle/>
          <a:p>
            <a:endParaRPr lang="en-US" altLang="zh-CN" smtClean="0"/>
          </a:p>
        </p:txBody>
      </p:sp>
    </p:spTree>
  </p:cSld>
  <p:clrMapOvr>
    <a:masterClrMapping/>
  </p:clrMapOvr>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7" name="Rectangle 2"/>
          <p:cNvSpPr>
            <a:spLocks noGrp="1" noChangeArrowheads="1"/>
          </p:cNvSpPr>
          <p:nvPr>
            <p:ph type="title"/>
          </p:nvPr>
        </p:nvSpPr>
        <p:spPr/>
        <p:txBody>
          <a:bodyPr/>
          <a:lstStyle/>
          <a:p>
            <a:pPr eaLnBrk="1" hangingPunct="1"/>
            <a:r>
              <a:rPr lang="en-US" altLang="zh-CN" dirty="0" smtClean="0"/>
              <a:t>【</a:t>
            </a:r>
            <a:r>
              <a:rPr lang="zh-CN" altLang="en-US" dirty="0" smtClean="0"/>
              <a:t>附</a:t>
            </a:r>
            <a:r>
              <a:rPr lang="en-US" altLang="zh-CN" dirty="0" smtClean="0"/>
              <a:t>】  </a:t>
            </a:r>
            <a:r>
              <a:rPr lang="zh-CN" altLang="en-US" dirty="0" smtClean="0"/>
              <a:t>二次指数平滑法</a:t>
            </a:r>
          </a:p>
        </p:txBody>
      </p:sp>
      <p:sp>
        <p:nvSpPr>
          <p:cNvPr id="44038" name="Rectangle 3"/>
          <p:cNvSpPr>
            <a:spLocks noGrp="1" noChangeArrowheads="1"/>
          </p:cNvSpPr>
          <p:nvPr>
            <p:ph type="body" idx="1"/>
          </p:nvPr>
        </p:nvSpPr>
        <p:spPr>
          <a:xfrm>
            <a:off x="539750" y="1412875"/>
            <a:ext cx="7772400" cy="931863"/>
          </a:xfrm>
        </p:spPr>
        <p:txBody>
          <a:bodyPr/>
          <a:lstStyle/>
          <a:p>
            <a:pPr eaLnBrk="1" hangingPunct="1">
              <a:lnSpc>
                <a:spcPct val="150000"/>
              </a:lnSpc>
            </a:pPr>
            <a:r>
              <a:rPr lang="zh-CN" altLang="en-US" smtClean="0"/>
              <a:t>二次指数平滑 </a:t>
            </a:r>
            <a:r>
              <a:rPr lang="en-US" altLang="zh-CN" i="1" smtClean="0">
                <a:latin typeface="Times New Roman" pitchFamily="18" charset="0"/>
              </a:rPr>
              <a:t>E</a:t>
            </a:r>
            <a:r>
              <a:rPr lang="en-US" altLang="zh-CN" i="1" baseline="30000" smtClean="0">
                <a:latin typeface="Times New Roman" pitchFamily="18" charset="0"/>
              </a:rPr>
              <a:t>(2)</a:t>
            </a:r>
            <a:r>
              <a:rPr lang="zh-CN" altLang="en-US" smtClean="0"/>
              <a:t>是对第一次指数平滑值序列 </a:t>
            </a:r>
            <a:r>
              <a:rPr lang="en-US" altLang="zh-CN" i="1" smtClean="0">
                <a:latin typeface="Times New Roman" pitchFamily="18" charset="0"/>
              </a:rPr>
              <a:t>E</a:t>
            </a:r>
            <a:r>
              <a:rPr lang="en-US" altLang="zh-CN" i="1" baseline="30000" smtClean="0">
                <a:latin typeface="Times New Roman" pitchFamily="18" charset="0"/>
              </a:rPr>
              <a:t>(1)</a:t>
            </a:r>
            <a:r>
              <a:rPr lang="zh-CN" altLang="en-US" smtClean="0"/>
              <a:t>再计算指数平滑值 ，即： </a:t>
            </a:r>
          </a:p>
        </p:txBody>
      </p:sp>
      <p:graphicFrame>
        <p:nvGraphicFramePr>
          <p:cNvPr id="44034" name="Object 4"/>
          <p:cNvGraphicFramePr>
            <a:graphicFrameLocks noChangeAspect="1"/>
          </p:cNvGraphicFramePr>
          <p:nvPr/>
        </p:nvGraphicFramePr>
        <p:xfrm>
          <a:off x="2268538" y="3081338"/>
          <a:ext cx="4749800" cy="857250"/>
        </p:xfrm>
        <a:graphic>
          <a:graphicData uri="http://schemas.openxmlformats.org/presentationml/2006/ole">
            <mc:AlternateContent xmlns:mc="http://schemas.openxmlformats.org/markup-compatibility/2006">
              <mc:Choice xmlns:v="urn:schemas-microsoft-com:vml" Requires="v">
                <p:oleObj spid="_x0000_s44244" name="Equation" r:id="rId3" imgW="1409400" imgH="241200" progId="Equation.DSMT4">
                  <p:embed/>
                </p:oleObj>
              </mc:Choice>
              <mc:Fallback>
                <p:oleObj name="Equation" r:id="rId3" imgW="1409400" imgH="2412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8538" y="3081338"/>
                        <a:ext cx="47498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3333FF"/>
                            </a:solidFill>
                            <a:miter lim="800000"/>
                            <a:headEnd/>
                            <a:tailEnd/>
                          </a14:hiddenLine>
                        </a:ext>
                      </a:extLst>
                    </p:spPr>
                  </p:pic>
                </p:oleObj>
              </mc:Fallback>
            </mc:AlternateContent>
          </a:graphicData>
        </a:graphic>
      </p:graphicFrame>
      <p:graphicFrame>
        <p:nvGraphicFramePr>
          <p:cNvPr id="44035" name="Object 9"/>
          <p:cNvGraphicFramePr>
            <a:graphicFrameLocks noChangeAspect="1"/>
          </p:cNvGraphicFramePr>
          <p:nvPr/>
        </p:nvGraphicFramePr>
        <p:xfrm>
          <a:off x="2124075" y="4446588"/>
          <a:ext cx="5256213" cy="982662"/>
        </p:xfrm>
        <a:graphic>
          <a:graphicData uri="http://schemas.openxmlformats.org/presentationml/2006/ole">
            <mc:AlternateContent xmlns:mc="http://schemas.openxmlformats.org/markup-compatibility/2006">
              <mc:Choice xmlns:v="urn:schemas-microsoft-com:vml" Requires="v">
                <p:oleObj spid="_x0000_s44245" name="公式" r:id="rId5" imgW="1345616" imgH="215806" progId="Equation.3">
                  <p:embed/>
                </p:oleObj>
              </mc:Choice>
              <mc:Fallback>
                <p:oleObj name="公式" r:id="rId5" imgW="1345616" imgH="215806"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4075" y="4446588"/>
                        <a:ext cx="5256213"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3333FF"/>
                            </a:solidFill>
                            <a:miter lim="800000"/>
                            <a:headEnd/>
                            <a:tailEnd/>
                          </a14:hiddenLine>
                        </a:ext>
                      </a:extLst>
                    </p:spPr>
                  </p:pic>
                </p:oleObj>
              </mc:Fallback>
            </mc:AlternateContent>
          </a:graphicData>
        </a:graphic>
      </p:graphicFrame>
      <p:sp>
        <p:nvSpPr>
          <p:cNvPr id="44039" name="日期占位符 6"/>
          <p:cNvSpPr>
            <a:spLocks noGrp="1"/>
          </p:cNvSpPr>
          <p:nvPr>
            <p:ph type="dt" sz="quarter" idx="10"/>
          </p:nvPr>
        </p:nvSpPr>
        <p:spPr>
          <a:noFill/>
        </p:spPr>
        <p:txBody>
          <a:bodyPr/>
          <a:lstStyle/>
          <a:p>
            <a:endParaRPr lang="en-US" altLang="zh-CN" smtClean="0"/>
          </a:p>
        </p:txBody>
      </p:sp>
    </p:spTree>
  </p:cSld>
  <p:clrMapOvr>
    <a:masterClrMapping/>
  </p:clrMapOvr>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2"/>
          <p:cNvSpPr>
            <a:spLocks noGrp="1" noChangeArrowheads="1"/>
          </p:cNvSpPr>
          <p:nvPr>
            <p:ph type="title"/>
          </p:nvPr>
        </p:nvSpPr>
        <p:spPr>
          <a:xfrm>
            <a:off x="642938" y="188913"/>
            <a:ext cx="8215312" cy="990600"/>
          </a:xfrm>
        </p:spPr>
        <p:txBody>
          <a:bodyPr/>
          <a:lstStyle/>
          <a:p>
            <a:pPr eaLnBrk="1" hangingPunct="1"/>
            <a:r>
              <a:rPr lang="zh-CN" altLang="en-US" sz="4000" dirty="0" smtClean="0"/>
              <a:t>二次指数平滑线性趋势预测模型</a:t>
            </a:r>
          </a:p>
        </p:txBody>
      </p:sp>
      <p:sp>
        <p:nvSpPr>
          <p:cNvPr id="45061" name="Rectangle 6"/>
          <p:cNvSpPr>
            <a:spLocks noChangeArrowheads="1"/>
          </p:cNvSpPr>
          <p:nvPr/>
        </p:nvSpPr>
        <p:spPr bwMode="auto">
          <a:xfrm>
            <a:off x="6500813" y="1571625"/>
            <a:ext cx="2071687" cy="430213"/>
          </a:xfrm>
          <a:prstGeom prst="rect">
            <a:avLst/>
          </a:prstGeom>
          <a:noFill/>
          <a:ln w="9525" algn="ctr">
            <a:noFill/>
            <a:miter lim="800000"/>
            <a:headEnd/>
            <a:tailEnd/>
          </a:ln>
        </p:spPr>
        <p:txBody>
          <a:bodyPr anchor="ctr">
            <a:spAutoFit/>
          </a:bodyPr>
          <a:lstStyle/>
          <a:p>
            <a:r>
              <a:rPr lang="zh-CN" altLang="en-US" sz="2200" b="1">
                <a:solidFill>
                  <a:srgbClr val="3333FF"/>
                </a:solidFill>
                <a:latin typeface="Times New Roman" pitchFamily="18" charset="0"/>
              </a:rPr>
              <a:t>（</a:t>
            </a:r>
            <a:r>
              <a:rPr lang="el-GR" altLang="zh-CN" sz="2200" b="1" i="1">
                <a:solidFill>
                  <a:srgbClr val="3333FF"/>
                </a:solidFill>
                <a:latin typeface="Times New Roman" pitchFamily="18" charset="0"/>
                <a:cs typeface="Times New Roman" pitchFamily="18" charset="0"/>
              </a:rPr>
              <a:t>τ</a:t>
            </a:r>
            <a:r>
              <a:rPr lang="en-US" altLang="zh-CN" sz="2200" b="1">
                <a:solidFill>
                  <a:srgbClr val="3333FF"/>
                </a:solidFill>
                <a:latin typeface="Times New Roman" pitchFamily="18" charset="0"/>
              </a:rPr>
              <a:t>=1,2,…</a:t>
            </a:r>
            <a:r>
              <a:rPr lang="zh-CN" altLang="en-US" sz="2200" b="1">
                <a:solidFill>
                  <a:srgbClr val="3333FF"/>
                </a:solidFill>
                <a:latin typeface="Times New Roman" pitchFamily="18" charset="0"/>
              </a:rPr>
              <a:t>）</a:t>
            </a:r>
            <a:r>
              <a:rPr lang="zh-CN" altLang="en-US" sz="2200">
                <a:latin typeface="Tahoma" pitchFamily="34" charset="0"/>
              </a:rPr>
              <a:t> </a:t>
            </a:r>
          </a:p>
        </p:txBody>
      </p:sp>
      <p:sp>
        <p:nvSpPr>
          <p:cNvPr id="45062" name="Rectangle 8"/>
          <p:cNvSpPr>
            <a:spLocks noChangeArrowheads="1"/>
          </p:cNvSpPr>
          <p:nvPr/>
        </p:nvSpPr>
        <p:spPr bwMode="auto">
          <a:xfrm>
            <a:off x="571500" y="2132856"/>
            <a:ext cx="8135938" cy="2736850"/>
          </a:xfrm>
          <a:prstGeom prst="rect">
            <a:avLst/>
          </a:prstGeom>
          <a:noFill/>
          <a:ln w="9525">
            <a:noFill/>
            <a:miter lim="800000"/>
            <a:headEnd/>
            <a:tailEnd/>
          </a:ln>
        </p:spPr>
        <p:txBody>
          <a:bodyPr/>
          <a:lstStyle/>
          <a:p>
            <a:pPr marL="342900" indent="-342900">
              <a:spcBef>
                <a:spcPct val="20000"/>
              </a:spcBef>
              <a:buSzPct val="90000"/>
            </a:pPr>
            <a:r>
              <a:rPr lang="zh-CN" altLang="en-US" sz="2400" b="1" dirty="0">
                <a:latin typeface="Times New Roman" pitchFamily="18" charset="0"/>
              </a:rPr>
              <a:t>式中，</a:t>
            </a:r>
          </a:p>
          <a:p>
            <a:pPr marL="342900" indent="-342900">
              <a:spcBef>
                <a:spcPct val="20000"/>
              </a:spcBef>
              <a:buSzPct val="90000"/>
            </a:pPr>
            <a:r>
              <a:rPr lang="zh-CN" altLang="en-US" sz="2400" b="1" i="1" dirty="0">
                <a:solidFill>
                  <a:srgbClr val="3333FF"/>
                </a:solidFill>
                <a:latin typeface="Times New Roman" pitchFamily="18" charset="0"/>
              </a:rPr>
              <a:t> </a:t>
            </a:r>
            <a:r>
              <a:rPr lang="en-US" altLang="zh-CN" sz="2400" b="1" i="1" dirty="0">
                <a:solidFill>
                  <a:srgbClr val="3333FF"/>
                </a:solidFill>
                <a:latin typeface="Times New Roman" pitchFamily="18" charset="0"/>
              </a:rPr>
              <a:t>a</a:t>
            </a:r>
            <a:r>
              <a:rPr lang="en-US" altLang="zh-CN" sz="2400" b="1" i="1" baseline="-25000" dirty="0">
                <a:solidFill>
                  <a:srgbClr val="3333FF"/>
                </a:solidFill>
                <a:latin typeface="Times New Roman" pitchFamily="18" charset="0"/>
              </a:rPr>
              <a:t>t </a:t>
            </a:r>
            <a:r>
              <a:rPr lang="zh-CN" altLang="en-US" sz="2400" b="1" dirty="0">
                <a:latin typeface="Times New Roman" pitchFamily="18" charset="0"/>
              </a:rPr>
              <a:t>是第 </a:t>
            </a:r>
            <a:r>
              <a:rPr lang="en-US" altLang="zh-CN" sz="2400" b="1" i="1" dirty="0">
                <a:latin typeface="Times New Roman" pitchFamily="18" charset="0"/>
              </a:rPr>
              <a:t>t </a:t>
            </a:r>
            <a:r>
              <a:rPr lang="zh-CN" altLang="en-US" sz="2400" b="1" dirty="0">
                <a:latin typeface="Times New Roman" pitchFamily="18" charset="0"/>
              </a:rPr>
              <a:t>期的截距</a:t>
            </a:r>
            <a:r>
              <a:rPr lang="en-US" altLang="zh-CN" sz="2400" b="1" dirty="0">
                <a:latin typeface="Times New Roman" pitchFamily="18" charset="0"/>
              </a:rPr>
              <a:t>(</a:t>
            </a:r>
            <a:r>
              <a:rPr lang="zh-CN" altLang="en-US" sz="2400" b="1" dirty="0">
                <a:latin typeface="Times New Roman" pitchFamily="18" charset="0"/>
              </a:rPr>
              <a:t>在完全线性条件下，</a:t>
            </a:r>
            <a:r>
              <a:rPr lang="en-US" altLang="zh-CN" sz="2400" b="1" i="1" dirty="0">
                <a:latin typeface="Times New Roman" pitchFamily="18" charset="0"/>
              </a:rPr>
              <a:t>a</a:t>
            </a:r>
            <a:r>
              <a:rPr lang="en-US" altLang="zh-CN" sz="2400" b="1" i="1" baseline="-25000" dirty="0">
                <a:latin typeface="Times New Roman" pitchFamily="18" charset="0"/>
              </a:rPr>
              <a:t>t</a:t>
            </a:r>
            <a:r>
              <a:rPr lang="en-US" altLang="zh-CN" sz="2400" b="1" i="1" dirty="0">
                <a:latin typeface="Times New Roman" pitchFamily="18" charset="0"/>
              </a:rPr>
              <a:t>=</a:t>
            </a:r>
            <a:r>
              <a:rPr lang="en-US" altLang="zh-CN" sz="2400" b="1" i="1" dirty="0" err="1">
                <a:latin typeface="Times New Roman" pitchFamily="18" charset="0"/>
              </a:rPr>
              <a:t>y</a:t>
            </a:r>
            <a:r>
              <a:rPr lang="en-US" altLang="zh-CN" sz="2400" b="1" i="1" baseline="-25000" dirty="0" err="1">
                <a:latin typeface="Times New Roman" pitchFamily="18" charset="0"/>
              </a:rPr>
              <a:t>t</a:t>
            </a:r>
            <a:r>
              <a:rPr lang="en-US" altLang="zh-CN" sz="2400" b="1" i="1" baseline="-25000" dirty="0">
                <a:latin typeface="Times New Roman" pitchFamily="18" charset="0"/>
              </a:rPr>
              <a:t> </a:t>
            </a:r>
            <a:r>
              <a:rPr lang="en-US" altLang="zh-CN" sz="2400" b="1" dirty="0">
                <a:latin typeface="Times New Roman" pitchFamily="18" charset="0"/>
              </a:rPr>
              <a:t>)</a:t>
            </a:r>
          </a:p>
          <a:p>
            <a:pPr marL="342900" indent="-342900">
              <a:spcBef>
                <a:spcPct val="20000"/>
              </a:spcBef>
              <a:buSzPct val="90000"/>
            </a:pPr>
            <a:r>
              <a:rPr lang="en-US" altLang="zh-CN" sz="2400" b="1" i="1" dirty="0">
                <a:solidFill>
                  <a:srgbClr val="3333FF"/>
                </a:solidFill>
                <a:latin typeface="Times New Roman" pitchFamily="18" charset="0"/>
              </a:rPr>
              <a:t> </a:t>
            </a:r>
            <a:r>
              <a:rPr lang="en-US" altLang="zh-CN" sz="2400" b="1" i="1" dirty="0" err="1">
                <a:solidFill>
                  <a:srgbClr val="3333FF"/>
                </a:solidFill>
                <a:latin typeface="Times New Roman" pitchFamily="18" charset="0"/>
              </a:rPr>
              <a:t>b</a:t>
            </a:r>
            <a:r>
              <a:rPr lang="en-US" altLang="zh-CN" sz="2400" b="1" i="1" baseline="-25000" dirty="0" err="1">
                <a:solidFill>
                  <a:srgbClr val="3333FF"/>
                </a:solidFill>
                <a:latin typeface="Times New Roman" pitchFamily="18" charset="0"/>
              </a:rPr>
              <a:t>t</a:t>
            </a:r>
            <a:r>
              <a:rPr lang="en-US" altLang="zh-CN" sz="2400" b="1" i="1" baseline="-25000" dirty="0">
                <a:solidFill>
                  <a:srgbClr val="3333FF"/>
                </a:solidFill>
                <a:latin typeface="Times New Roman" pitchFamily="18" charset="0"/>
              </a:rPr>
              <a:t> </a:t>
            </a:r>
            <a:r>
              <a:rPr lang="zh-CN" altLang="en-US" sz="2400" b="1" dirty="0">
                <a:latin typeface="Times New Roman" pitchFamily="18" charset="0"/>
              </a:rPr>
              <a:t>是从第 </a:t>
            </a:r>
            <a:r>
              <a:rPr lang="en-US" altLang="zh-CN" sz="2400" b="1" i="1" dirty="0">
                <a:latin typeface="Times New Roman" pitchFamily="18" charset="0"/>
              </a:rPr>
              <a:t>t </a:t>
            </a:r>
            <a:r>
              <a:rPr lang="zh-CN" altLang="en-US" sz="2400" b="1" dirty="0">
                <a:latin typeface="Times New Roman" pitchFamily="18" charset="0"/>
              </a:rPr>
              <a:t>期起的平均增长量；</a:t>
            </a:r>
          </a:p>
          <a:p>
            <a:pPr marL="342900" indent="-342900">
              <a:spcBef>
                <a:spcPct val="20000"/>
              </a:spcBef>
              <a:buSzPct val="90000"/>
            </a:pPr>
            <a:r>
              <a:rPr lang="el-GR" altLang="zh-CN" sz="2400" b="1" i="1" dirty="0">
                <a:solidFill>
                  <a:srgbClr val="3333FF"/>
                </a:solidFill>
                <a:latin typeface="Times New Roman" pitchFamily="18" charset="0"/>
                <a:cs typeface="Times New Roman" pitchFamily="18" charset="0"/>
              </a:rPr>
              <a:t>τ</a:t>
            </a:r>
            <a:r>
              <a:rPr lang="zh-CN" altLang="en-US" sz="2400" b="1" dirty="0">
                <a:latin typeface="Times New Roman" pitchFamily="18" charset="0"/>
              </a:rPr>
              <a:t>代表 </a:t>
            </a:r>
            <a:r>
              <a:rPr lang="en-US" altLang="zh-CN" sz="2400" b="1" i="1" dirty="0">
                <a:latin typeface="Times New Roman" pitchFamily="18" charset="0"/>
              </a:rPr>
              <a:t>t </a:t>
            </a:r>
            <a:r>
              <a:rPr lang="zh-CN" altLang="en-US" sz="2400" b="1" dirty="0">
                <a:latin typeface="Times New Roman" pitchFamily="18" charset="0"/>
              </a:rPr>
              <a:t>期到预测期的间隔期数 </a:t>
            </a:r>
          </a:p>
        </p:txBody>
      </p:sp>
      <p:sp>
        <p:nvSpPr>
          <p:cNvPr id="275465" name="Rectangle 9"/>
          <p:cNvSpPr>
            <a:spLocks noChangeArrowheads="1"/>
          </p:cNvSpPr>
          <p:nvPr/>
        </p:nvSpPr>
        <p:spPr bwMode="auto">
          <a:xfrm>
            <a:off x="285750" y="5286375"/>
            <a:ext cx="8569325" cy="1341438"/>
          </a:xfrm>
          <a:prstGeom prst="rect">
            <a:avLst/>
          </a:prstGeom>
          <a:noFill/>
          <a:ln w="9525">
            <a:noFill/>
            <a:miter lim="800000"/>
            <a:headEnd/>
            <a:tailEnd/>
          </a:ln>
        </p:spPr>
        <p:txBody>
          <a:bodyPr/>
          <a:lstStyle/>
          <a:p>
            <a:pPr marL="742950" lvl="1" indent="-285750">
              <a:spcBef>
                <a:spcPct val="20000"/>
              </a:spcBef>
              <a:buSzPct val="80000"/>
              <a:buFontTx/>
              <a:buBlip>
                <a:blip r:embed="rId3"/>
              </a:buBlip>
            </a:pPr>
            <a:r>
              <a:rPr lang="zh-CN" altLang="en-US" sz="2800" b="1" dirty="0">
                <a:solidFill>
                  <a:srgbClr val="000000"/>
                </a:solidFill>
                <a:latin typeface="Tahoma" pitchFamily="34" charset="0"/>
              </a:rPr>
              <a:t>模型参数是根据数据的最新变化而不断修正的；</a:t>
            </a:r>
          </a:p>
          <a:p>
            <a:pPr marL="742950" lvl="1" indent="-285750">
              <a:spcBef>
                <a:spcPct val="20000"/>
              </a:spcBef>
              <a:buSzPct val="80000"/>
              <a:buFontTx/>
              <a:buBlip>
                <a:blip r:embed="rId3"/>
              </a:buBlip>
            </a:pPr>
            <a:r>
              <a:rPr lang="zh-CN" altLang="en-US" sz="2800" b="1" dirty="0">
                <a:solidFill>
                  <a:srgbClr val="000000"/>
                </a:solidFill>
                <a:latin typeface="Tahoma" pitchFamily="34" charset="0"/>
              </a:rPr>
              <a:t>此预测方法适宜对现象进行</a:t>
            </a:r>
            <a:r>
              <a:rPr lang="zh-CN" altLang="en-US" sz="2800" b="1" dirty="0">
                <a:solidFill>
                  <a:schemeClr val="tx2"/>
                </a:solidFill>
                <a:latin typeface="Tahoma" pitchFamily="34" charset="0"/>
              </a:rPr>
              <a:t>短中期预测。</a:t>
            </a:r>
          </a:p>
        </p:txBody>
      </p:sp>
      <p:graphicFrame>
        <p:nvGraphicFramePr>
          <p:cNvPr id="45058" name="Object 2"/>
          <p:cNvGraphicFramePr>
            <a:graphicFrameLocks noChangeAspect="1"/>
          </p:cNvGraphicFramePr>
          <p:nvPr/>
        </p:nvGraphicFramePr>
        <p:xfrm>
          <a:off x="2549525" y="1357313"/>
          <a:ext cx="3511550" cy="928687"/>
        </p:xfrm>
        <a:graphic>
          <a:graphicData uri="http://schemas.openxmlformats.org/presentationml/2006/ole">
            <mc:AlternateContent xmlns:mc="http://schemas.openxmlformats.org/markup-compatibility/2006">
              <mc:Choice xmlns:v="urn:schemas-microsoft-com:vml" Requires="v">
                <p:oleObj spid="_x0000_s45270" name="公式" r:id="rId4" imgW="901440" imgH="241200" progId="Equation.3">
                  <p:embed/>
                </p:oleObj>
              </mc:Choice>
              <mc:Fallback>
                <p:oleObj name="公式" r:id="rId4" imgW="901440" imgH="2412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49525" y="1357313"/>
                        <a:ext cx="3511550" cy="928687"/>
                      </a:xfrm>
                      <a:prstGeom prst="rect">
                        <a:avLst/>
                      </a:prstGeom>
                      <a:noFill/>
                      <a:ln w="28575">
                        <a:solidFill>
                          <a:srgbClr val="3333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4676" name="Object 3"/>
          <p:cNvGraphicFramePr>
            <a:graphicFrameLocks noChangeAspect="1"/>
          </p:cNvGraphicFramePr>
          <p:nvPr>
            <p:extLst>
              <p:ext uri="{D42A27DB-BD31-4B8C-83A1-F6EECF244321}">
                <p14:modId xmlns:p14="http://schemas.microsoft.com/office/powerpoint/2010/main" val="2987529989"/>
              </p:ext>
            </p:extLst>
          </p:nvPr>
        </p:nvGraphicFramePr>
        <p:xfrm>
          <a:off x="4788024" y="3265488"/>
          <a:ext cx="4203700" cy="1949450"/>
        </p:xfrm>
        <a:graphic>
          <a:graphicData uri="http://schemas.openxmlformats.org/presentationml/2006/ole">
            <mc:AlternateContent xmlns:mc="http://schemas.openxmlformats.org/markup-compatibility/2006">
              <mc:Choice xmlns:v="urn:schemas-microsoft-com:vml" Requires="v">
                <p:oleObj spid="_x0000_s45271" name="公式" r:id="rId6" imgW="1371600" imgH="634680" progId="Equation.3">
                  <p:embed/>
                </p:oleObj>
              </mc:Choice>
              <mc:Fallback>
                <p:oleObj name="公式" r:id="rId6" imgW="1371600" imgH="63468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88024" y="3265488"/>
                        <a:ext cx="4203700" cy="1949450"/>
                      </a:xfrm>
                      <a:prstGeom prst="rect">
                        <a:avLst/>
                      </a:prstGeom>
                      <a:solidFill>
                        <a:schemeClr val="accent1">
                          <a:lumMod val="20000"/>
                          <a:lumOff val="80000"/>
                        </a:schemeClr>
                      </a:solidFill>
                      <a:ln w="28575">
                        <a:solidFill>
                          <a:srgbClr val="CC0099"/>
                        </a:solidFill>
                        <a:miter lim="800000"/>
                        <a:headEnd/>
                        <a:tailEnd/>
                      </a:ln>
                    </p:spPr>
                  </p:pic>
                </p:oleObj>
              </mc:Fallback>
            </mc:AlternateContent>
          </a:graphicData>
        </a:graphic>
      </p:graphicFrame>
      <p:sp>
        <p:nvSpPr>
          <p:cNvPr id="45065" name="日期占位符 8"/>
          <p:cNvSpPr>
            <a:spLocks noGrp="1"/>
          </p:cNvSpPr>
          <p:nvPr>
            <p:ph type="dt" sz="quarter" idx="10"/>
          </p:nvPr>
        </p:nvSpPr>
        <p:spPr>
          <a:noFill/>
        </p:spPr>
        <p:txBody>
          <a:bodyPr/>
          <a:lstStyle/>
          <a:p>
            <a:endParaRPr lang="en-US" altLang="zh-CN"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84676"/>
                                        </p:tgtEl>
                                        <p:attrNameLst>
                                          <p:attrName>style.visibility</p:attrName>
                                        </p:attrNameLst>
                                      </p:cBhvr>
                                      <p:to>
                                        <p:strVal val="visible"/>
                                      </p:to>
                                    </p:set>
                                    <p:animEffect transition="in" filter="wipe(left)">
                                      <p:cBhvr>
                                        <p:cTn id="7" dur="750"/>
                                        <p:tgtEl>
                                          <p:spTgt spid="284676"/>
                                        </p:tgtEl>
                                      </p:cBhvr>
                                    </p:animEffect>
                                  </p:childTnLst>
                                </p:cTn>
                              </p:par>
                            </p:childTnLst>
                          </p:cTn>
                        </p:par>
                        <p:par>
                          <p:cTn id="8" fill="hold">
                            <p:stCondLst>
                              <p:cond delay="750"/>
                            </p:stCondLst>
                            <p:childTnLst>
                              <p:par>
                                <p:cTn id="9" presetID="5" presetClass="entr" presetSubtype="10" fill="hold" grpId="0" nodeType="afterEffect">
                                  <p:stCondLst>
                                    <p:cond delay="0"/>
                                  </p:stCondLst>
                                  <p:childTnLst>
                                    <p:set>
                                      <p:cBhvr>
                                        <p:cTn id="10" dur="1" fill="hold">
                                          <p:stCondLst>
                                            <p:cond delay="0"/>
                                          </p:stCondLst>
                                        </p:cTn>
                                        <p:tgtEl>
                                          <p:spTgt spid="275465"/>
                                        </p:tgtEl>
                                        <p:attrNameLst>
                                          <p:attrName>style.visibility</p:attrName>
                                        </p:attrNameLst>
                                      </p:cBhvr>
                                      <p:to>
                                        <p:strVal val="visible"/>
                                      </p:to>
                                    </p:set>
                                    <p:animEffect transition="in" filter="checkerboard(across)">
                                      <p:cBhvr>
                                        <p:cTn id="11" dur="500"/>
                                        <p:tgtEl>
                                          <p:spTgt spid="2754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5465"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6" name="Rectangle 2"/>
          <p:cNvSpPr>
            <a:spLocks noGrp="1" noChangeArrowheads="1"/>
          </p:cNvSpPr>
          <p:nvPr>
            <p:ph type="title"/>
          </p:nvPr>
        </p:nvSpPr>
        <p:spPr>
          <a:xfrm>
            <a:off x="428625" y="214313"/>
            <a:ext cx="7643813" cy="714375"/>
          </a:xfrm>
        </p:spPr>
        <p:txBody>
          <a:bodyPr/>
          <a:lstStyle/>
          <a:p>
            <a:pPr eaLnBrk="1" hangingPunct="1"/>
            <a:r>
              <a:rPr lang="en-US" altLang="zh-CN" sz="4000" dirty="0" smtClean="0"/>
              <a:t>[</a:t>
            </a:r>
            <a:r>
              <a:rPr lang="zh-CN" altLang="en-US" sz="4000" dirty="0" smtClean="0"/>
              <a:t>附</a:t>
            </a:r>
            <a:r>
              <a:rPr lang="en-US" altLang="zh-CN" sz="4000" dirty="0" smtClean="0"/>
              <a:t>]</a:t>
            </a:r>
            <a:r>
              <a:rPr lang="zh-CN" altLang="en-US" sz="4000" dirty="0" smtClean="0"/>
              <a:t>证明</a:t>
            </a:r>
          </a:p>
        </p:txBody>
      </p:sp>
      <p:sp>
        <p:nvSpPr>
          <p:cNvPr id="46087" name="Rectangle 8"/>
          <p:cNvSpPr>
            <a:spLocks noChangeArrowheads="1"/>
          </p:cNvSpPr>
          <p:nvPr/>
        </p:nvSpPr>
        <p:spPr bwMode="auto">
          <a:xfrm>
            <a:off x="571500" y="2571750"/>
            <a:ext cx="3889375" cy="935038"/>
          </a:xfrm>
          <a:prstGeom prst="rect">
            <a:avLst/>
          </a:prstGeom>
          <a:noFill/>
          <a:ln w="9525">
            <a:noFill/>
            <a:miter lim="800000"/>
            <a:headEnd/>
            <a:tailEnd/>
          </a:ln>
        </p:spPr>
        <p:txBody>
          <a:bodyPr/>
          <a:lstStyle/>
          <a:p>
            <a:pPr marL="342900" indent="-342900">
              <a:spcBef>
                <a:spcPct val="20000"/>
              </a:spcBef>
              <a:buSzPct val="90000"/>
            </a:pPr>
            <a:r>
              <a:rPr lang="zh-CN" altLang="en-US" sz="2800" b="1">
                <a:latin typeface="Tahoma" pitchFamily="34" charset="0"/>
              </a:rPr>
              <a:t>原观测值与一次平滑值间的滞后偏差为：</a:t>
            </a:r>
          </a:p>
        </p:txBody>
      </p:sp>
      <p:sp>
        <p:nvSpPr>
          <p:cNvPr id="46088" name="Rectangle 10"/>
          <p:cNvSpPr>
            <a:spLocks noChangeArrowheads="1"/>
          </p:cNvSpPr>
          <p:nvPr/>
        </p:nvSpPr>
        <p:spPr bwMode="auto">
          <a:xfrm>
            <a:off x="714375" y="3786188"/>
            <a:ext cx="3744913" cy="998537"/>
          </a:xfrm>
          <a:prstGeom prst="rect">
            <a:avLst/>
          </a:prstGeom>
          <a:noFill/>
          <a:ln w="9525">
            <a:noFill/>
            <a:miter lim="800000"/>
            <a:headEnd/>
            <a:tailEnd/>
          </a:ln>
        </p:spPr>
        <p:txBody>
          <a:bodyPr/>
          <a:lstStyle/>
          <a:p>
            <a:pPr marL="342900" indent="-342900" algn="ctr">
              <a:spcBef>
                <a:spcPct val="20000"/>
              </a:spcBef>
              <a:buSzPct val="90000"/>
            </a:pPr>
            <a:r>
              <a:rPr lang="zh-CN" altLang="en-US" sz="2800" b="1">
                <a:latin typeface="Tahoma" pitchFamily="34" charset="0"/>
              </a:rPr>
              <a:t>一次平滑值与二次平滑值间的滞后偏差为：</a:t>
            </a:r>
            <a:r>
              <a:rPr lang="zh-CN" altLang="en-US" sz="3200" b="1">
                <a:latin typeface="Tahoma" pitchFamily="34" charset="0"/>
              </a:rPr>
              <a:t> </a:t>
            </a:r>
          </a:p>
        </p:txBody>
      </p:sp>
      <p:sp>
        <p:nvSpPr>
          <p:cNvPr id="46089" name="Rectangle 12"/>
          <p:cNvSpPr>
            <a:spLocks noChangeArrowheads="1"/>
          </p:cNvSpPr>
          <p:nvPr/>
        </p:nvSpPr>
        <p:spPr bwMode="auto">
          <a:xfrm>
            <a:off x="0" y="3252788"/>
            <a:ext cx="9144000" cy="0"/>
          </a:xfrm>
          <a:prstGeom prst="rect">
            <a:avLst/>
          </a:prstGeom>
          <a:noFill/>
          <a:ln w="9525">
            <a:noFill/>
            <a:miter lim="800000"/>
            <a:headEnd/>
            <a:tailEnd/>
          </a:ln>
        </p:spPr>
        <p:txBody>
          <a:bodyPr wrap="none" anchor="ctr">
            <a:spAutoFit/>
          </a:bodyPr>
          <a:lstStyle/>
          <a:p>
            <a:endParaRPr lang="zh-CN" altLang="en-US"/>
          </a:p>
        </p:txBody>
      </p:sp>
      <p:sp>
        <p:nvSpPr>
          <p:cNvPr id="46090" name="Rectangle 1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46091" name="Rectangle 16"/>
          <p:cNvSpPr>
            <a:spLocks noChangeArrowheads="1"/>
          </p:cNvSpPr>
          <p:nvPr/>
        </p:nvSpPr>
        <p:spPr bwMode="auto">
          <a:xfrm>
            <a:off x="556987" y="5152005"/>
            <a:ext cx="3571875" cy="879475"/>
          </a:xfrm>
          <a:prstGeom prst="rect">
            <a:avLst/>
          </a:prstGeom>
          <a:noFill/>
          <a:ln w="9525">
            <a:noFill/>
            <a:miter lim="800000"/>
            <a:headEnd/>
            <a:tailEnd/>
          </a:ln>
        </p:spPr>
        <p:txBody>
          <a:bodyPr anchor="ctr">
            <a:spAutoFit/>
          </a:bodyPr>
          <a:lstStyle/>
          <a:p>
            <a:pPr>
              <a:lnSpc>
                <a:spcPct val="110000"/>
              </a:lnSpc>
              <a:spcBef>
                <a:spcPct val="15000"/>
              </a:spcBef>
            </a:pPr>
            <a:r>
              <a:rPr lang="zh-CN" altLang="en-US" sz="2200" b="1"/>
              <a:t>注：两个偏差相等</a:t>
            </a:r>
          </a:p>
          <a:p>
            <a:pPr>
              <a:lnSpc>
                <a:spcPct val="110000"/>
              </a:lnSpc>
              <a:spcBef>
                <a:spcPct val="15000"/>
              </a:spcBef>
            </a:pPr>
            <a:r>
              <a:rPr lang="zh-CN" altLang="en-US" sz="2200" b="1"/>
              <a:t>  且完全线性条件下</a:t>
            </a:r>
            <a:r>
              <a:rPr lang="en-US" altLang="zh-CN" sz="2200" b="1" i="1">
                <a:latin typeface="Times New Roman" pitchFamily="18" charset="0"/>
              </a:rPr>
              <a:t>a</a:t>
            </a:r>
            <a:r>
              <a:rPr lang="en-US" altLang="zh-CN" sz="2200" b="1" i="1" baseline="-25000">
                <a:latin typeface="Times New Roman" pitchFamily="18" charset="0"/>
              </a:rPr>
              <a:t>t</a:t>
            </a:r>
            <a:r>
              <a:rPr lang="en-US" altLang="zh-CN" sz="2200" b="1" i="1">
                <a:latin typeface="Times New Roman" pitchFamily="18" charset="0"/>
              </a:rPr>
              <a:t>=y</a:t>
            </a:r>
            <a:r>
              <a:rPr lang="en-US" altLang="zh-CN" sz="2200" b="1" i="1" baseline="-25000">
                <a:latin typeface="Times New Roman" pitchFamily="18" charset="0"/>
              </a:rPr>
              <a:t>t</a:t>
            </a:r>
            <a:r>
              <a:rPr lang="en-US" altLang="zh-CN" sz="2000" b="1"/>
              <a:t> </a:t>
            </a:r>
          </a:p>
        </p:txBody>
      </p:sp>
      <p:sp>
        <p:nvSpPr>
          <p:cNvPr id="46092" name="灯片编号占位符 12"/>
          <p:cNvSpPr>
            <a:spLocks noGrp="1"/>
          </p:cNvSpPr>
          <p:nvPr>
            <p:ph type="sldNum" sz="quarter" idx="4294967295"/>
          </p:nvPr>
        </p:nvSpPr>
        <p:spPr>
          <a:xfrm>
            <a:off x="6988175" y="6308725"/>
            <a:ext cx="1905000" cy="457200"/>
          </a:xfrm>
          <a:prstGeom prst="rect">
            <a:avLst/>
          </a:prstGeom>
          <a:noFill/>
        </p:spPr>
        <p:txBody>
          <a:bodyPr/>
          <a:lstStyle/>
          <a:p>
            <a:r>
              <a:rPr lang="en-US" altLang="zh-CN" smtClean="0"/>
              <a:t>2-</a:t>
            </a:r>
            <a:fld id="{4165DC93-9DE4-4480-A6B7-CDE77C6DCD1A}" type="slidenum">
              <a:rPr lang="en-US" altLang="zh-CN" smtClean="0"/>
              <a:pPr/>
              <a:t>101</a:t>
            </a:fld>
            <a:endParaRPr lang="en-US" altLang="zh-CN" smtClean="0"/>
          </a:p>
        </p:txBody>
      </p:sp>
      <p:sp>
        <p:nvSpPr>
          <p:cNvPr id="46093" name="Rectangle 5"/>
          <p:cNvSpPr>
            <a:spLocks noChangeArrowheads="1"/>
          </p:cNvSpPr>
          <p:nvPr/>
        </p:nvSpPr>
        <p:spPr bwMode="auto">
          <a:xfrm>
            <a:off x="500063" y="989013"/>
            <a:ext cx="8424862" cy="1439862"/>
          </a:xfrm>
          <a:prstGeom prst="rect">
            <a:avLst/>
          </a:prstGeom>
          <a:noFill/>
          <a:ln w="9525">
            <a:noFill/>
            <a:miter lim="800000"/>
            <a:headEnd/>
            <a:tailEnd/>
          </a:ln>
        </p:spPr>
        <p:txBody>
          <a:bodyPr/>
          <a:lstStyle/>
          <a:p>
            <a:pPr marL="342900" indent="-342900">
              <a:lnSpc>
                <a:spcPct val="110000"/>
              </a:lnSpc>
              <a:spcBef>
                <a:spcPct val="20000"/>
              </a:spcBef>
              <a:buSzPct val="90000"/>
              <a:buFontTx/>
              <a:buBlip>
                <a:blip r:embed="rId4"/>
              </a:buBlip>
            </a:pPr>
            <a:r>
              <a:rPr lang="zh-CN" altLang="en-US" sz="2800" b="1">
                <a:solidFill>
                  <a:srgbClr val="000000"/>
                </a:solidFill>
                <a:latin typeface="Tahoma" pitchFamily="34" charset="0"/>
              </a:rPr>
              <a:t>当现象有明显上升或下降趋势时，</a:t>
            </a:r>
            <a:r>
              <a:rPr lang="en-US" altLang="zh-CN" sz="2800" b="1" i="1">
                <a:solidFill>
                  <a:srgbClr val="000000"/>
                </a:solidFill>
                <a:latin typeface="Times New Roman" pitchFamily="18" charset="0"/>
              </a:rPr>
              <a:t>E</a:t>
            </a:r>
            <a:r>
              <a:rPr lang="en-US" altLang="zh-CN" sz="2800" b="1" i="1" baseline="30000">
                <a:solidFill>
                  <a:srgbClr val="000000"/>
                </a:solidFill>
                <a:latin typeface="Times New Roman" pitchFamily="18" charset="0"/>
              </a:rPr>
              <a:t>(1)</a:t>
            </a:r>
            <a:r>
              <a:rPr lang="en-US" altLang="zh-CN" sz="2800" b="1" baseline="30000">
                <a:solidFill>
                  <a:srgbClr val="000000"/>
                </a:solidFill>
                <a:latin typeface="Tahoma" pitchFamily="34" charset="0"/>
              </a:rPr>
              <a:t> </a:t>
            </a:r>
            <a:r>
              <a:rPr lang="zh-CN" altLang="en-US" sz="2800" b="1">
                <a:solidFill>
                  <a:srgbClr val="000000"/>
                </a:solidFill>
                <a:latin typeface="Tahoma" pitchFamily="34" charset="0"/>
              </a:rPr>
              <a:t>与趋势值      之间存在明显的滞后偏差，</a:t>
            </a:r>
            <a:r>
              <a:rPr lang="en-US" altLang="zh-CN" sz="2800" b="1" i="1">
                <a:solidFill>
                  <a:srgbClr val="000000"/>
                </a:solidFill>
                <a:latin typeface="Times New Roman" pitchFamily="18" charset="0"/>
              </a:rPr>
              <a:t>E</a:t>
            </a:r>
            <a:r>
              <a:rPr lang="en-US" altLang="zh-CN" sz="2800" b="1" i="1" baseline="30000">
                <a:solidFill>
                  <a:srgbClr val="000000"/>
                </a:solidFill>
                <a:latin typeface="Times New Roman" pitchFamily="18" charset="0"/>
              </a:rPr>
              <a:t>(2)</a:t>
            </a:r>
            <a:r>
              <a:rPr lang="zh-CN" altLang="en-US" sz="2800" b="1">
                <a:solidFill>
                  <a:srgbClr val="000000"/>
                </a:solidFill>
                <a:latin typeface="Times New Roman" pitchFamily="18" charset="0"/>
              </a:rPr>
              <a:t>与 </a:t>
            </a:r>
            <a:r>
              <a:rPr lang="en-US" altLang="zh-CN" sz="2800" b="1" i="1">
                <a:solidFill>
                  <a:srgbClr val="000000"/>
                </a:solidFill>
                <a:latin typeface="Times New Roman" pitchFamily="18" charset="0"/>
              </a:rPr>
              <a:t>E</a:t>
            </a:r>
            <a:r>
              <a:rPr lang="en-US" altLang="zh-CN" sz="2800" b="1" i="1" baseline="30000">
                <a:solidFill>
                  <a:srgbClr val="000000"/>
                </a:solidFill>
                <a:latin typeface="Times New Roman" pitchFamily="18" charset="0"/>
              </a:rPr>
              <a:t>(1)</a:t>
            </a:r>
            <a:r>
              <a:rPr lang="zh-CN" altLang="en-US" sz="2800" b="1">
                <a:solidFill>
                  <a:srgbClr val="000000"/>
                </a:solidFill>
                <a:latin typeface="Times New Roman" pitchFamily="18" charset="0"/>
              </a:rPr>
              <a:t>之</a:t>
            </a:r>
            <a:r>
              <a:rPr lang="zh-CN" altLang="en-US" sz="2800" b="1">
                <a:solidFill>
                  <a:srgbClr val="000000"/>
                </a:solidFill>
                <a:latin typeface="Tahoma" pitchFamily="34" charset="0"/>
              </a:rPr>
              <a:t>间也存在着同样的滞后偏差。</a:t>
            </a:r>
          </a:p>
        </p:txBody>
      </p:sp>
      <p:graphicFrame>
        <p:nvGraphicFramePr>
          <p:cNvPr id="284676" name="Object 2"/>
          <p:cNvGraphicFramePr>
            <a:graphicFrameLocks noChangeAspect="1"/>
          </p:cNvGraphicFramePr>
          <p:nvPr>
            <p:extLst>
              <p:ext uri="{D42A27DB-BD31-4B8C-83A1-F6EECF244321}">
                <p14:modId xmlns:p14="http://schemas.microsoft.com/office/powerpoint/2010/main" val="3070641793"/>
              </p:ext>
            </p:extLst>
          </p:nvPr>
        </p:nvGraphicFramePr>
        <p:xfrm>
          <a:off x="3779912" y="4799013"/>
          <a:ext cx="3527425" cy="1636712"/>
        </p:xfrm>
        <a:graphic>
          <a:graphicData uri="http://schemas.openxmlformats.org/presentationml/2006/ole">
            <mc:AlternateContent xmlns:mc="http://schemas.openxmlformats.org/markup-compatibility/2006">
              <mc:Choice xmlns:v="urn:schemas-microsoft-com:vml" Requires="v">
                <p:oleObj spid="_x0000_s46506" name="公式" r:id="rId5" imgW="1371600" imgH="634680" progId="Equation.3">
                  <p:embed/>
                </p:oleObj>
              </mc:Choice>
              <mc:Fallback>
                <p:oleObj name="公式" r:id="rId5" imgW="1371600" imgH="63468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79912" y="4799013"/>
                        <a:ext cx="3527425" cy="1636712"/>
                      </a:xfrm>
                      <a:prstGeom prst="rect">
                        <a:avLst/>
                      </a:prstGeom>
                      <a:solidFill>
                        <a:srgbClr val="CCECFF"/>
                      </a:solidFill>
                      <a:ln w="28575">
                        <a:solidFill>
                          <a:srgbClr val="CC0099"/>
                        </a:solidFill>
                        <a:miter lim="800000"/>
                        <a:headEnd/>
                        <a:tailEnd/>
                      </a:ln>
                    </p:spPr>
                  </p:pic>
                </p:oleObj>
              </mc:Fallback>
            </mc:AlternateContent>
          </a:graphicData>
        </a:graphic>
      </p:graphicFrame>
      <p:graphicFrame>
        <p:nvGraphicFramePr>
          <p:cNvPr id="274439" name="Object 3"/>
          <p:cNvGraphicFramePr>
            <a:graphicFrameLocks noChangeAspect="1"/>
          </p:cNvGraphicFramePr>
          <p:nvPr/>
        </p:nvGraphicFramePr>
        <p:xfrm>
          <a:off x="8286750" y="1000125"/>
          <a:ext cx="357188" cy="506413"/>
        </p:xfrm>
        <a:graphic>
          <a:graphicData uri="http://schemas.openxmlformats.org/presentationml/2006/ole">
            <mc:AlternateContent xmlns:mc="http://schemas.openxmlformats.org/markup-compatibility/2006">
              <mc:Choice xmlns:v="urn:schemas-microsoft-com:vml" Requires="v">
                <p:oleObj spid="_x0000_s46507" name="Equation" r:id="rId7" imgW="139680" imgH="203040" progId="Equation.DSMT4">
                  <p:embed/>
                </p:oleObj>
              </mc:Choice>
              <mc:Fallback>
                <p:oleObj name="Equation" r:id="rId7" imgW="139680" imgH="203040" progId="Equation.DSMT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86750" y="1000125"/>
                        <a:ext cx="357188" cy="506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4"/>
          <p:cNvGraphicFramePr>
            <a:graphicFrameLocks noChangeAspect="1"/>
          </p:cNvGraphicFramePr>
          <p:nvPr>
            <p:extLst>
              <p:ext uri="{D42A27DB-BD31-4B8C-83A1-F6EECF244321}">
                <p14:modId xmlns:p14="http://schemas.microsoft.com/office/powerpoint/2010/main" val="3094921386"/>
              </p:ext>
            </p:extLst>
          </p:nvPr>
        </p:nvGraphicFramePr>
        <p:xfrm>
          <a:off x="4459288" y="2159793"/>
          <a:ext cx="3624262" cy="1071563"/>
        </p:xfrm>
        <a:graphic>
          <a:graphicData uri="http://schemas.openxmlformats.org/presentationml/2006/ole">
            <mc:AlternateContent xmlns:mc="http://schemas.openxmlformats.org/markup-compatibility/2006">
              <mc:Choice xmlns:v="urn:schemas-microsoft-com:vml" Requires="v">
                <p:oleObj spid="_x0000_s46508" name="公式" r:id="rId9" imgW="1130040" imgH="393480" progId="Equation.3">
                  <p:embed/>
                </p:oleObj>
              </mc:Choice>
              <mc:Fallback>
                <p:oleObj name="公式" r:id="rId9" imgW="1130040" imgH="393480" progId="Equation.3">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59288" y="2159793"/>
                        <a:ext cx="3624262" cy="1071563"/>
                      </a:xfrm>
                      <a:prstGeom prst="rect">
                        <a:avLst/>
                      </a:prstGeom>
                      <a:noFill/>
                      <a:ln w="28575">
                        <a:solidFill>
                          <a:srgbClr val="CC0099"/>
                        </a:solidFill>
                        <a:miter lim="800000"/>
                        <a:headEnd/>
                        <a:tailEnd/>
                      </a:ln>
                      <a:extLst>
                        <a:ext uri="{909E8E84-426E-40DD-AFC4-6F175D3DCCD1}">
                          <a14:hiddenFill xmlns:a14="http://schemas.microsoft.com/office/drawing/2010/main">
                            <a:solidFill>
                              <a:srgbClr val="00FFFF"/>
                            </a:solidFill>
                          </a14:hiddenFill>
                        </a:ext>
                      </a:extLst>
                    </p:spPr>
                  </p:pic>
                </p:oleObj>
              </mc:Fallback>
            </mc:AlternateContent>
          </a:graphicData>
        </a:graphic>
      </p:graphicFrame>
      <p:graphicFrame>
        <p:nvGraphicFramePr>
          <p:cNvPr id="3" name="Object 5"/>
          <p:cNvGraphicFramePr>
            <a:graphicFrameLocks noChangeAspect="1"/>
          </p:cNvGraphicFramePr>
          <p:nvPr>
            <p:extLst>
              <p:ext uri="{D42A27DB-BD31-4B8C-83A1-F6EECF244321}">
                <p14:modId xmlns:p14="http://schemas.microsoft.com/office/powerpoint/2010/main" val="1457743225"/>
              </p:ext>
            </p:extLst>
          </p:nvPr>
        </p:nvGraphicFramePr>
        <p:xfrm>
          <a:off x="4456471" y="3545344"/>
          <a:ext cx="3643312" cy="1014412"/>
        </p:xfrm>
        <a:graphic>
          <a:graphicData uri="http://schemas.openxmlformats.org/presentationml/2006/ole">
            <mc:AlternateContent xmlns:mc="http://schemas.openxmlformats.org/markup-compatibility/2006">
              <mc:Choice xmlns:v="urn:schemas-microsoft-com:vml" Requires="v">
                <p:oleObj spid="_x0000_s46509" name="公式" r:id="rId11" imgW="1244520" imgH="393480" progId="Equation.3">
                  <p:embed/>
                </p:oleObj>
              </mc:Choice>
              <mc:Fallback>
                <p:oleObj name="公式" r:id="rId11" imgW="1244520" imgH="393480" progId="Equation.3">
                  <p:embed/>
                  <p:pic>
                    <p:nvPicPr>
                      <p:cNvPr id="0"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56471" y="3545344"/>
                        <a:ext cx="3643312" cy="1014412"/>
                      </a:xfrm>
                      <a:prstGeom prst="rect">
                        <a:avLst/>
                      </a:prstGeom>
                      <a:noFill/>
                      <a:ln w="28575">
                        <a:solidFill>
                          <a:srgbClr val="CC0099"/>
                        </a:solidFill>
                        <a:miter lim="800000"/>
                        <a:headEnd/>
                        <a:tailEnd/>
                      </a:ln>
                      <a:extLst>
                        <a:ext uri="{909E8E84-426E-40DD-AFC4-6F175D3DCCD1}">
                          <a14:hiddenFill xmlns:a14="http://schemas.microsoft.com/office/drawing/2010/main">
                            <a:solidFill>
                              <a:srgbClr val="00FFFF"/>
                            </a:solidFill>
                          </a14:hiddenFill>
                        </a:ext>
                      </a:extLst>
                    </p:spPr>
                  </p:pic>
                </p:oleObj>
              </mc:Fallback>
            </mc:AlternateContent>
          </a:graphicData>
        </a:graphic>
      </p:graphicFrame>
      <p:sp>
        <p:nvSpPr>
          <p:cNvPr id="46094" name="日期占位符 13"/>
          <p:cNvSpPr>
            <a:spLocks noGrp="1"/>
          </p:cNvSpPr>
          <p:nvPr>
            <p:ph type="dt" sz="quarter" idx="10"/>
          </p:nvPr>
        </p:nvSpPr>
        <p:spPr>
          <a:xfrm>
            <a:off x="0" y="6400800"/>
            <a:ext cx="1905000" cy="457200"/>
          </a:xfrm>
          <a:noFill/>
        </p:spPr>
        <p:txBody>
          <a:bodyPr/>
          <a:lstStyle/>
          <a:p>
            <a:endParaRPr lang="en-US" altLang="zh-CN"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744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11" name="Rectangle 2"/>
          <p:cNvSpPr>
            <a:spLocks noGrp="1" noChangeArrowheads="1"/>
          </p:cNvSpPr>
          <p:nvPr>
            <p:ph type="title"/>
          </p:nvPr>
        </p:nvSpPr>
        <p:spPr>
          <a:xfrm>
            <a:off x="900113" y="-100013"/>
            <a:ext cx="3240087" cy="990601"/>
          </a:xfrm>
        </p:spPr>
        <p:txBody>
          <a:bodyPr/>
          <a:lstStyle/>
          <a:p>
            <a:pPr eaLnBrk="1" hangingPunct="1"/>
            <a:r>
              <a:rPr lang="en-US" altLang="zh-CN" dirty="0" smtClean="0"/>
              <a:t>【</a:t>
            </a:r>
            <a:r>
              <a:rPr lang="zh-CN" altLang="en-US" dirty="0" smtClean="0"/>
              <a:t>例</a:t>
            </a:r>
            <a:r>
              <a:rPr lang="en-US" altLang="zh-CN" dirty="0" smtClean="0"/>
              <a:t>】</a:t>
            </a:r>
          </a:p>
        </p:txBody>
      </p:sp>
      <p:sp>
        <p:nvSpPr>
          <p:cNvPr id="47112" name="Rectangle 3"/>
          <p:cNvSpPr>
            <a:spLocks noGrp="1" noChangeArrowheads="1"/>
          </p:cNvSpPr>
          <p:nvPr>
            <p:ph type="body" idx="1"/>
          </p:nvPr>
        </p:nvSpPr>
        <p:spPr>
          <a:xfrm>
            <a:off x="50800" y="908050"/>
            <a:ext cx="4305300" cy="2089150"/>
          </a:xfrm>
        </p:spPr>
        <p:txBody>
          <a:bodyPr/>
          <a:lstStyle/>
          <a:p>
            <a:pPr eaLnBrk="1" hangingPunct="1"/>
            <a:r>
              <a:rPr lang="zh-CN" altLang="en-US" sz="2400" dirty="0" smtClean="0">
                <a:solidFill>
                  <a:schemeClr val="tx1"/>
                </a:solidFill>
              </a:rPr>
              <a:t>根据表的数据，利用指数平滑法进行预测</a:t>
            </a:r>
            <a:r>
              <a:rPr lang="en-US" altLang="zh-CN" sz="2400" dirty="0" smtClean="0">
                <a:solidFill>
                  <a:schemeClr val="tx1"/>
                </a:solidFill>
              </a:rPr>
              <a:t>.</a:t>
            </a:r>
          </a:p>
          <a:p>
            <a:pPr eaLnBrk="1" hangingPunct="1">
              <a:buFontTx/>
              <a:buNone/>
            </a:pPr>
            <a:r>
              <a:rPr lang="zh-CN" altLang="en-US" sz="2400" dirty="0" smtClean="0">
                <a:solidFill>
                  <a:schemeClr val="tx1"/>
                </a:solidFill>
              </a:rPr>
              <a:t>解：</a:t>
            </a:r>
            <a:r>
              <a:rPr lang="en-US" altLang="zh-CN" sz="2400" i="1" dirty="0" smtClean="0">
                <a:solidFill>
                  <a:schemeClr val="tx1"/>
                </a:solidFill>
                <a:latin typeface="Times New Roman" pitchFamily="18" charset="0"/>
              </a:rPr>
              <a:t>α</a:t>
            </a:r>
            <a:r>
              <a:rPr lang="en-US" altLang="zh-CN" sz="2400" dirty="0" smtClean="0">
                <a:solidFill>
                  <a:schemeClr val="tx1"/>
                </a:solidFill>
              </a:rPr>
              <a:t>=0.45</a:t>
            </a:r>
            <a:r>
              <a:rPr lang="zh-CN" altLang="en-US" sz="2400" dirty="0" smtClean="0">
                <a:solidFill>
                  <a:schemeClr val="tx1"/>
                </a:solidFill>
              </a:rPr>
              <a:t>，初始值都取</a:t>
            </a:r>
            <a:r>
              <a:rPr lang="en-US" altLang="zh-CN" sz="2400" dirty="0" smtClean="0">
                <a:solidFill>
                  <a:schemeClr val="tx1"/>
                </a:solidFill>
              </a:rPr>
              <a:t>y</a:t>
            </a:r>
            <a:r>
              <a:rPr lang="en-US" altLang="zh-CN" sz="2400" baseline="-25000" dirty="0" smtClean="0">
                <a:solidFill>
                  <a:schemeClr val="tx1"/>
                </a:solidFill>
              </a:rPr>
              <a:t>1</a:t>
            </a:r>
            <a:r>
              <a:rPr lang="zh-CN" altLang="en-US" sz="2400" dirty="0" smtClean="0">
                <a:solidFill>
                  <a:schemeClr val="tx1"/>
                </a:solidFill>
              </a:rPr>
              <a:t>。</a:t>
            </a:r>
          </a:p>
          <a:p>
            <a:pPr eaLnBrk="1" hangingPunct="1">
              <a:buFontTx/>
              <a:buNone/>
            </a:pPr>
            <a:r>
              <a:rPr lang="zh-CN" altLang="en-US" sz="2400" dirty="0" smtClean="0">
                <a:solidFill>
                  <a:schemeClr val="tx1"/>
                </a:solidFill>
              </a:rPr>
              <a:t>     第</a:t>
            </a:r>
            <a:r>
              <a:rPr lang="en-US" altLang="zh-CN" sz="2400" dirty="0" smtClean="0">
                <a:solidFill>
                  <a:schemeClr val="tx1"/>
                </a:solidFill>
              </a:rPr>
              <a:t>12</a:t>
            </a:r>
            <a:r>
              <a:rPr lang="zh-CN" altLang="en-US" sz="2400" dirty="0" smtClean="0">
                <a:solidFill>
                  <a:schemeClr val="tx1"/>
                </a:solidFill>
              </a:rPr>
              <a:t>期参数估计值为： </a:t>
            </a:r>
          </a:p>
        </p:txBody>
      </p:sp>
      <p:sp>
        <p:nvSpPr>
          <p:cNvPr id="47113" name="Rectangle 4"/>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47114" name="Rectangle 5"/>
          <p:cNvSpPr>
            <a:spLocks noChangeArrowheads="1"/>
          </p:cNvSpPr>
          <p:nvPr/>
        </p:nvSpPr>
        <p:spPr bwMode="auto">
          <a:xfrm>
            <a:off x="0" y="3328988"/>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276488" name="Group 8"/>
          <p:cNvGraphicFramePr>
            <a:graphicFrameLocks noGrp="1"/>
          </p:cNvGraphicFramePr>
          <p:nvPr>
            <p:extLst>
              <p:ext uri="{D42A27DB-BD31-4B8C-83A1-F6EECF244321}">
                <p14:modId xmlns:p14="http://schemas.microsoft.com/office/powerpoint/2010/main" val="2706600689"/>
              </p:ext>
            </p:extLst>
          </p:nvPr>
        </p:nvGraphicFramePr>
        <p:xfrm>
          <a:off x="4284663" y="223838"/>
          <a:ext cx="4859337" cy="6210303"/>
        </p:xfrm>
        <a:graphic>
          <a:graphicData uri="http://schemas.openxmlformats.org/drawingml/2006/table">
            <a:tbl>
              <a:tblPr/>
              <a:tblGrid>
                <a:gridCol w="473075">
                  <a:extLst>
                    <a:ext uri="{9D8B030D-6E8A-4147-A177-3AD203B41FA5}">
                      <a16:colId xmlns:a16="http://schemas.microsoft.com/office/drawing/2014/main" val="20000"/>
                    </a:ext>
                  </a:extLst>
                </a:gridCol>
                <a:gridCol w="474662">
                  <a:extLst>
                    <a:ext uri="{9D8B030D-6E8A-4147-A177-3AD203B41FA5}">
                      <a16:colId xmlns:a16="http://schemas.microsoft.com/office/drawing/2014/main" val="20001"/>
                    </a:ext>
                  </a:extLst>
                </a:gridCol>
                <a:gridCol w="879475">
                  <a:extLst>
                    <a:ext uri="{9D8B030D-6E8A-4147-A177-3AD203B41FA5}">
                      <a16:colId xmlns:a16="http://schemas.microsoft.com/office/drawing/2014/main" val="20002"/>
                    </a:ext>
                  </a:extLst>
                </a:gridCol>
                <a:gridCol w="803275">
                  <a:extLst>
                    <a:ext uri="{9D8B030D-6E8A-4147-A177-3AD203B41FA5}">
                      <a16:colId xmlns:a16="http://schemas.microsoft.com/office/drawing/2014/main" val="20003"/>
                    </a:ext>
                  </a:extLst>
                </a:gridCol>
                <a:gridCol w="752475">
                  <a:extLst>
                    <a:ext uri="{9D8B030D-6E8A-4147-A177-3AD203B41FA5}">
                      <a16:colId xmlns:a16="http://schemas.microsoft.com/office/drawing/2014/main" val="20004"/>
                    </a:ext>
                  </a:extLst>
                </a:gridCol>
                <a:gridCol w="730250">
                  <a:extLst>
                    <a:ext uri="{9D8B030D-6E8A-4147-A177-3AD203B41FA5}">
                      <a16:colId xmlns:a16="http://schemas.microsoft.com/office/drawing/2014/main" val="20005"/>
                    </a:ext>
                  </a:extLst>
                </a:gridCol>
                <a:gridCol w="746125">
                  <a:extLst>
                    <a:ext uri="{9D8B030D-6E8A-4147-A177-3AD203B41FA5}">
                      <a16:colId xmlns:a16="http://schemas.microsoft.com/office/drawing/2014/main" val="20006"/>
                    </a:ext>
                  </a:extLst>
                </a:gridCol>
              </a:tblGrid>
              <a:tr h="126523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rgbClr val="000000"/>
                          </a:solidFill>
                          <a:effectLst/>
                          <a:latin typeface="宋体" pitchFamily="2" charset="-122"/>
                          <a:ea typeface="宋体" pitchFamily="2" charset="-122"/>
                        </a:rPr>
                        <a:t>年份</a:t>
                      </a:r>
                    </a:p>
                    <a:p>
                      <a:pPr marL="0" marR="0" lvl="0" indent="0" algn="ctr" defTabSz="914400" rtl="0" eaLnBrk="1" fontAlgn="b"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rgbClr val="000000"/>
                          </a:solidFill>
                          <a:effectLst/>
                          <a:latin typeface="宋体" pitchFamily="2" charset="-122"/>
                          <a:ea typeface="宋体" pitchFamily="2" charset="-122"/>
                        </a:rPr>
                        <a:t>序号</a:t>
                      </a:r>
                      <a:endParaRPr kumimoji="0" lang="zh-CN" altLang="en-US" sz="1400" b="1" i="0" u="none" strike="noStrike" cap="none" normalizeH="0" baseline="0" dirty="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rgbClr val="000000"/>
                          </a:solidFill>
                          <a:effectLst/>
                          <a:latin typeface="宋体" pitchFamily="2" charset="-122"/>
                          <a:ea typeface="宋体" pitchFamily="2" charset="-122"/>
                        </a:rPr>
                        <a:t>销售量</a:t>
                      </a:r>
                      <a:endParaRPr kumimoji="0" lang="zh-CN" altLang="en-US"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rgbClr val="000000"/>
                          </a:solidFill>
                          <a:effectLst/>
                          <a:latin typeface="宋体" pitchFamily="2" charset="-122"/>
                          <a:ea typeface="宋体" pitchFamily="2" charset="-122"/>
                        </a:rPr>
                        <a:t>一次指数平滑值 </a:t>
                      </a:r>
                      <a:r>
                        <a:rPr kumimoji="0" lang="en-US" altLang="zh-CN" sz="1600" b="1" i="0" u="none" strike="noStrike" cap="none" normalizeH="0" baseline="0" smtClean="0">
                          <a:ln>
                            <a:noFill/>
                          </a:ln>
                          <a:solidFill>
                            <a:srgbClr val="000000"/>
                          </a:solidFill>
                          <a:effectLst/>
                          <a:latin typeface="宋体" pitchFamily="2" charset="-122"/>
                          <a:ea typeface="宋体" pitchFamily="2" charset="-122"/>
                        </a:rPr>
                        <a:t>E</a:t>
                      </a:r>
                      <a:r>
                        <a:rPr kumimoji="0" lang="en-US" altLang="zh-CN" sz="1600" b="1" i="0" u="none" strike="noStrike" cap="none" normalizeH="0" baseline="30000" smtClean="0">
                          <a:ln>
                            <a:noFill/>
                          </a:ln>
                          <a:solidFill>
                            <a:srgbClr val="000000"/>
                          </a:solidFill>
                          <a:effectLst/>
                          <a:latin typeface="宋体" pitchFamily="2" charset="-122"/>
                          <a:ea typeface="宋体" pitchFamily="2" charset="-122"/>
                        </a:rPr>
                        <a:t>(1)</a:t>
                      </a:r>
                      <a:endParaRPr kumimoji="0" lang="en-US" altLang="zh-CN" sz="16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rgbClr val="000000"/>
                          </a:solidFill>
                          <a:effectLst/>
                          <a:latin typeface="宋体" pitchFamily="2" charset="-122"/>
                          <a:ea typeface="宋体" pitchFamily="2" charset="-122"/>
                        </a:rPr>
                        <a:t>二次指数平滑值 </a:t>
                      </a:r>
                      <a:r>
                        <a:rPr kumimoji="0" lang="en-US" altLang="zh-CN" sz="1600" b="1" i="0" u="none" strike="noStrike" cap="none" normalizeH="0" baseline="0" smtClean="0">
                          <a:ln>
                            <a:noFill/>
                          </a:ln>
                          <a:solidFill>
                            <a:srgbClr val="000000"/>
                          </a:solidFill>
                          <a:effectLst/>
                          <a:latin typeface="宋体" pitchFamily="2" charset="-122"/>
                          <a:ea typeface="宋体" pitchFamily="2" charset="-122"/>
                        </a:rPr>
                        <a:t>E</a:t>
                      </a:r>
                      <a:r>
                        <a:rPr kumimoji="0" lang="en-US" altLang="zh-CN" sz="1600" b="1" i="0" u="none" strike="noStrike" cap="none" normalizeH="0" baseline="30000" smtClean="0">
                          <a:ln>
                            <a:noFill/>
                          </a:ln>
                          <a:solidFill>
                            <a:srgbClr val="000000"/>
                          </a:solidFill>
                          <a:effectLst/>
                          <a:latin typeface="宋体" pitchFamily="2" charset="-122"/>
                          <a:ea typeface="宋体" pitchFamily="2" charset="-122"/>
                        </a:rPr>
                        <a:t>(2)</a:t>
                      </a:r>
                      <a:endParaRPr kumimoji="0" lang="en-US" altLang="zh-CN" sz="16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400" b="1" i="1" u="none" strike="noStrike" cap="none" normalizeH="0" baseline="0" smtClean="0">
                          <a:ln>
                            <a:noFill/>
                          </a:ln>
                          <a:solidFill>
                            <a:srgbClr val="CC0099"/>
                          </a:solidFill>
                          <a:effectLst/>
                          <a:latin typeface="Tahoma" pitchFamily="34" charset="0"/>
                          <a:ea typeface="宋体" pitchFamily="2" charset="-122"/>
                        </a:rPr>
                        <a:t>a</a:t>
                      </a:r>
                      <a:r>
                        <a:rPr kumimoji="0" lang="en-US" altLang="zh-CN" sz="2400" b="1" i="1" u="none" strike="noStrike" cap="none" normalizeH="0" baseline="-30000" smtClean="0">
                          <a:ln>
                            <a:noFill/>
                          </a:ln>
                          <a:solidFill>
                            <a:srgbClr val="CC0099"/>
                          </a:solidFill>
                          <a:effectLst/>
                          <a:latin typeface="Tahoma" pitchFamily="34" charset="0"/>
                          <a:ea typeface="宋体" pitchFamily="2" charset="-122"/>
                        </a:rPr>
                        <a:t>t</a:t>
                      </a:r>
                      <a:endParaRPr kumimoji="0" lang="en-US" altLang="zh-CN" sz="2400" b="1" i="1" u="none" strike="noStrike" cap="none" normalizeH="0" baseline="0" smtClean="0">
                        <a:ln>
                          <a:noFill/>
                        </a:ln>
                        <a:solidFill>
                          <a:srgbClr val="CC0099"/>
                        </a:solidFill>
                        <a:effectLst/>
                        <a:latin typeface="Tahoma" pitchFamily="34"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2400" b="1" i="1" u="none" strike="noStrike" cap="none" normalizeH="0" baseline="0" smtClean="0">
                          <a:ln>
                            <a:noFill/>
                          </a:ln>
                          <a:solidFill>
                            <a:srgbClr val="CC0099"/>
                          </a:solidFill>
                          <a:effectLst/>
                          <a:latin typeface="宋体" pitchFamily="2" charset="-122"/>
                          <a:ea typeface="宋体" pitchFamily="2" charset="-122"/>
                        </a:rPr>
                        <a:t>b</a:t>
                      </a:r>
                      <a:r>
                        <a:rPr kumimoji="0" lang="en-US" altLang="zh-CN" sz="2400" b="1" i="1" u="none" strike="noStrike" cap="none" normalizeH="0" baseline="-30000" smtClean="0">
                          <a:ln>
                            <a:noFill/>
                          </a:ln>
                          <a:solidFill>
                            <a:srgbClr val="CC0099"/>
                          </a:solidFill>
                          <a:effectLst/>
                          <a:latin typeface="宋体" pitchFamily="2" charset="-122"/>
                          <a:ea typeface="宋体" pitchFamily="2" charset="-122"/>
                        </a:rPr>
                        <a:t>t</a:t>
                      </a:r>
                      <a:endParaRPr kumimoji="0" lang="en-US" altLang="zh-CN" sz="2400" b="1" i="1" u="none" strike="noStrike" cap="none" normalizeH="0" baseline="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rgbClr val="3333FF"/>
                          </a:solidFill>
                          <a:effectLst/>
                          <a:latin typeface="宋体" pitchFamily="2" charset="-122"/>
                          <a:ea typeface="宋体" pitchFamily="2" charset="-122"/>
                        </a:rPr>
                        <a:t>预测值</a:t>
                      </a:r>
                      <a:endParaRPr kumimoji="0" lang="zh-CN" altLang="en-US" sz="1800" b="1" i="0" u="none" strike="noStrike" cap="none" normalizeH="0" baseline="0" smtClean="0">
                        <a:ln>
                          <a:noFill/>
                        </a:ln>
                        <a:solidFill>
                          <a:srgbClr val="3333FF"/>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794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1</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54</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54.00 </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54.00 </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rgbClr val="CC0099"/>
                          </a:solidFill>
                          <a:effectLst/>
                          <a:latin typeface="宋体" pitchFamily="2" charset="-122"/>
                          <a:ea typeface="宋体" pitchFamily="2" charset="-122"/>
                        </a:rPr>
                        <a:t>　</a:t>
                      </a:r>
                      <a:endParaRPr kumimoji="0" lang="zh-CN" altLang="en-US" sz="1400" b="1" i="0" u="none" strike="noStrike" cap="none" normalizeH="0" baseline="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rgbClr val="CC0099"/>
                          </a:solidFill>
                          <a:effectLst/>
                          <a:latin typeface="宋体" pitchFamily="2" charset="-122"/>
                          <a:ea typeface="宋体" pitchFamily="2" charset="-122"/>
                        </a:rPr>
                        <a:t>　</a:t>
                      </a:r>
                      <a:endParaRPr kumimoji="0" lang="zh-CN" altLang="en-US" sz="1400" b="1" i="0" u="none" strike="noStrike" cap="none" normalizeH="0" baseline="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rgbClr val="3333FF"/>
                          </a:solidFill>
                          <a:effectLst/>
                          <a:latin typeface="宋体" pitchFamily="2" charset="-122"/>
                          <a:ea typeface="宋体" pitchFamily="2" charset="-122"/>
                        </a:rPr>
                        <a:t>　</a:t>
                      </a:r>
                      <a:endParaRPr kumimoji="0" lang="zh-CN" altLang="en-US" sz="1400" b="1" i="0" u="none" strike="noStrike" cap="none" normalizeH="0" baseline="0" smtClean="0">
                        <a:ln>
                          <a:noFill/>
                        </a:ln>
                        <a:solidFill>
                          <a:srgbClr val="3333FF"/>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81000">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2</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50</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52.20 </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53.19 </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rgbClr val="CC0099"/>
                          </a:solidFill>
                          <a:effectLst/>
                          <a:latin typeface="宋体" pitchFamily="2" charset="-122"/>
                          <a:ea typeface="宋体" pitchFamily="2" charset="-122"/>
                        </a:rPr>
                        <a:t>51.21 </a:t>
                      </a:r>
                      <a:endParaRPr kumimoji="0" lang="en-US" altLang="zh-CN" sz="16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CC0099"/>
                          </a:solidFill>
                          <a:effectLst/>
                          <a:latin typeface="宋体" pitchFamily="2" charset="-122"/>
                          <a:ea typeface="宋体" pitchFamily="2" charset="-122"/>
                        </a:rPr>
                        <a:t>-0.81 </a:t>
                      </a:r>
                      <a:endParaRPr kumimoji="0" lang="en-US" altLang="zh-CN" sz="1600" b="1" i="0" u="none" strike="noStrike" cap="none" normalizeH="0" baseline="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3333FF"/>
                          </a:solidFill>
                          <a:effectLst/>
                          <a:latin typeface="宋体" pitchFamily="2" charset="-122"/>
                          <a:ea typeface="宋体" pitchFamily="2" charset="-122"/>
                        </a:rPr>
                        <a:t>　</a:t>
                      </a:r>
                      <a:endParaRPr kumimoji="0" lang="zh-CN" altLang="en-US" sz="1600" b="1" i="0" u="none" strike="noStrike" cap="none" normalizeH="0" baseline="0" smtClean="0">
                        <a:ln>
                          <a:noFill/>
                        </a:ln>
                        <a:solidFill>
                          <a:srgbClr val="3333FF"/>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81000">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3</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52</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52.11 </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52.70 </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CC0099"/>
                          </a:solidFill>
                          <a:effectLst/>
                          <a:latin typeface="宋体" pitchFamily="2" charset="-122"/>
                          <a:ea typeface="宋体" pitchFamily="2" charset="-122"/>
                        </a:rPr>
                        <a:t>51.52 </a:t>
                      </a:r>
                      <a:endParaRPr kumimoji="0" lang="en-US" altLang="zh-CN" sz="1600" b="1" i="0" u="none" strike="noStrike" cap="none" normalizeH="0" baseline="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rgbClr val="CC0099"/>
                          </a:solidFill>
                          <a:effectLst/>
                          <a:latin typeface="宋体" pitchFamily="2" charset="-122"/>
                          <a:ea typeface="宋体" pitchFamily="2" charset="-122"/>
                        </a:rPr>
                        <a:t>-0.49 </a:t>
                      </a:r>
                      <a:endParaRPr kumimoji="0" lang="en-US" altLang="zh-CN" sz="16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3333FF"/>
                          </a:solidFill>
                          <a:effectLst/>
                          <a:latin typeface="宋体" pitchFamily="2" charset="-122"/>
                          <a:ea typeface="宋体" pitchFamily="2" charset="-122"/>
                        </a:rPr>
                        <a:t>50.40 </a:t>
                      </a:r>
                      <a:endParaRPr kumimoji="0" lang="en-US" altLang="zh-CN" sz="1600" b="1" i="0" u="none" strike="noStrike" cap="none" normalizeH="0" baseline="0" smtClean="0">
                        <a:ln>
                          <a:noFill/>
                        </a:ln>
                        <a:solidFill>
                          <a:srgbClr val="3333FF"/>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81000">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4</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67</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58.81 </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55.45 </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CC0099"/>
                          </a:solidFill>
                          <a:effectLst/>
                          <a:latin typeface="宋体" pitchFamily="2" charset="-122"/>
                          <a:ea typeface="宋体" pitchFamily="2" charset="-122"/>
                        </a:rPr>
                        <a:t>62.17 </a:t>
                      </a:r>
                      <a:endParaRPr kumimoji="0" lang="en-US" altLang="zh-CN" sz="1600" b="1" i="0" u="none" strike="noStrike" cap="none" normalizeH="0" baseline="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rgbClr val="CC0099"/>
                          </a:solidFill>
                          <a:effectLst/>
                          <a:latin typeface="宋体" pitchFamily="2" charset="-122"/>
                          <a:ea typeface="宋体" pitchFamily="2" charset="-122"/>
                        </a:rPr>
                        <a:t>2.75 </a:t>
                      </a:r>
                      <a:endParaRPr kumimoji="0" lang="en-US" altLang="zh-CN" sz="16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3333FF"/>
                          </a:solidFill>
                          <a:effectLst/>
                          <a:latin typeface="宋体" pitchFamily="2" charset="-122"/>
                          <a:ea typeface="宋体" pitchFamily="2" charset="-122"/>
                        </a:rPr>
                        <a:t>51.03 </a:t>
                      </a:r>
                      <a:endParaRPr kumimoji="0" lang="en-US" altLang="zh-CN" sz="1600" b="1" i="0" u="none" strike="noStrike" cap="none" normalizeH="0" baseline="0" smtClean="0">
                        <a:ln>
                          <a:noFill/>
                        </a:ln>
                        <a:solidFill>
                          <a:srgbClr val="3333FF"/>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794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5</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82</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69.25 </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61.66 </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CC0099"/>
                          </a:solidFill>
                          <a:effectLst/>
                          <a:latin typeface="宋体" pitchFamily="2" charset="-122"/>
                          <a:ea typeface="宋体" pitchFamily="2" charset="-122"/>
                        </a:rPr>
                        <a:t>76.83 </a:t>
                      </a:r>
                      <a:endParaRPr kumimoji="0" lang="en-US" altLang="zh-CN" sz="1600" b="1" i="0" u="none" strike="noStrike" cap="none" normalizeH="0" baseline="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rgbClr val="CC0099"/>
                          </a:solidFill>
                          <a:effectLst/>
                          <a:latin typeface="宋体" pitchFamily="2" charset="-122"/>
                          <a:ea typeface="宋体" pitchFamily="2" charset="-122"/>
                        </a:rPr>
                        <a:t>6.21 </a:t>
                      </a:r>
                      <a:endParaRPr kumimoji="0" lang="en-US" altLang="zh-CN" sz="16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3333FF"/>
                          </a:solidFill>
                          <a:effectLst/>
                          <a:latin typeface="宋体" pitchFamily="2" charset="-122"/>
                          <a:ea typeface="宋体" pitchFamily="2" charset="-122"/>
                        </a:rPr>
                        <a:t>64.92 </a:t>
                      </a:r>
                      <a:endParaRPr kumimoji="0" lang="en-US" altLang="zh-CN" sz="1600" b="1" i="0" u="none" strike="noStrike" cap="none" normalizeH="0" baseline="0" smtClean="0">
                        <a:ln>
                          <a:noFill/>
                        </a:ln>
                        <a:solidFill>
                          <a:srgbClr val="3333FF"/>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43656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6</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70</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69.59 </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65.23 </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CC0099"/>
                          </a:solidFill>
                          <a:effectLst/>
                          <a:latin typeface="宋体" pitchFamily="2" charset="-122"/>
                          <a:ea typeface="宋体" pitchFamily="2" charset="-122"/>
                        </a:rPr>
                        <a:t>73.94 </a:t>
                      </a:r>
                      <a:endParaRPr kumimoji="0" lang="en-US" altLang="zh-CN" sz="1600" b="1" i="0" u="none" strike="noStrike" cap="none" normalizeH="0" baseline="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rgbClr val="CC0099"/>
                          </a:solidFill>
                          <a:effectLst/>
                          <a:latin typeface="宋体" pitchFamily="2" charset="-122"/>
                          <a:ea typeface="宋体" pitchFamily="2" charset="-122"/>
                        </a:rPr>
                        <a:t>3.57 </a:t>
                      </a:r>
                      <a:endParaRPr kumimoji="0" lang="en-US" altLang="zh-CN" sz="16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3333FF"/>
                          </a:solidFill>
                          <a:effectLst/>
                          <a:latin typeface="宋体" pitchFamily="2" charset="-122"/>
                          <a:ea typeface="宋体" pitchFamily="2" charset="-122"/>
                        </a:rPr>
                        <a:t>83.04 </a:t>
                      </a:r>
                      <a:endParaRPr kumimoji="0" lang="en-US" altLang="zh-CN" sz="1600" b="1" i="0" u="none" strike="noStrike" cap="none" normalizeH="0" baseline="0" smtClean="0">
                        <a:ln>
                          <a:noFill/>
                        </a:ln>
                        <a:solidFill>
                          <a:srgbClr val="3333FF"/>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381000">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7</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89</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78.32 </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71.12 </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CC0099"/>
                          </a:solidFill>
                          <a:effectLst/>
                          <a:latin typeface="宋体" pitchFamily="2" charset="-122"/>
                          <a:ea typeface="宋体" pitchFamily="2" charset="-122"/>
                        </a:rPr>
                        <a:t>85.52 </a:t>
                      </a:r>
                      <a:endParaRPr kumimoji="0" lang="en-US" altLang="zh-CN" sz="1600" b="1" i="0" u="none" strike="noStrike" cap="none" normalizeH="0" baseline="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rgbClr val="CC0099"/>
                          </a:solidFill>
                          <a:effectLst/>
                          <a:latin typeface="宋体" pitchFamily="2" charset="-122"/>
                          <a:ea typeface="宋体" pitchFamily="2" charset="-122"/>
                        </a:rPr>
                        <a:t>5.89 </a:t>
                      </a:r>
                      <a:endParaRPr kumimoji="0" lang="en-US" altLang="zh-CN" sz="16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3333FF"/>
                          </a:solidFill>
                          <a:effectLst/>
                          <a:latin typeface="宋体" pitchFamily="2" charset="-122"/>
                          <a:ea typeface="宋体" pitchFamily="2" charset="-122"/>
                        </a:rPr>
                        <a:t>77.51 </a:t>
                      </a:r>
                      <a:endParaRPr kumimoji="0" lang="en-US" altLang="zh-CN" sz="1600" b="1" i="0" u="none" strike="noStrike" cap="none" normalizeH="0" baseline="0" smtClean="0">
                        <a:ln>
                          <a:noFill/>
                        </a:ln>
                        <a:solidFill>
                          <a:srgbClr val="3333FF"/>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3794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8</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88</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82.68 </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76.32 </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CC0099"/>
                          </a:solidFill>
                          <a:effectLst/>
                          <a:latin typeface="宋体" pitchFamily="2" charset="-122"/>
                          <a:ea typeface="宋体" pitchFamily="2" charset="-122"/>
                        </a:rPr>
                        <a:t>89.03 </a:t>
                      </a:r>
                      <a:endParaRPr kumimoji="0" lang="en-US" altLang="zh-CN" sz="1600" b="1" i="0" u="none" strike="noStrike" cap="none" normalizeH="0" baseline="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rgbClr val="CC0099"/>
                          </a:solidFill>
                          <a:effectLst/>
                          <a:latin typeface="宋体" pitchFamily="2" charset="-122"/>
                          <a:ea typeface="宋体" pitchFamily="2" charset="-122"/>
                        </a:rPr>
                        <a:t>5.20 </a:t>
                      </a:r>
                      <a:endParaRPr kumimoji="0" lang="en-US" altLang="zh-CN" sz="16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3333FF"/>
                          </a:solidFill>
                          <a:effectLst/>
                          <a:latin typeface="宋体" pitchFamily="2" charset="-122"/>
                          <a:ea typeface="宋体" pitchFamily="2" charset="-122"/>
                        </a:rPr>
                        <a:t>91.42 </a:t>
                      </a:r>
                      <a:endParaRPr kumimoji="0" lang="en-US" altLang="zh-CN" sz="1600" b="1" i="0" u="none" strike="noStrike" cap="none" normalizeH="0" baseline="0" smtClean="0">
                        <a:ln>
                          <a:noFill/>
                        </a:ln>
                        <a:solidFill>
                          <a:srgbClr val="3333FF"/>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r h="3794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9</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84</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83.27 </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79.45 </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CC0099"/>
                          </a:solidFill>
                          <a:effectLst/>
                          <a:latin typeface="宋体" pitchFamily="2" charset="-122"/>
                          <a:ea typeface="宋体" pitchFamily="2" charset="-122"/>
                        </a:rPr>
                        <a:t>87.10 </a:t>
                      </a:r>
                      <a:endParaRPr kumimoji="0" lang="en-US" altLang="zh-CN" sz="1600" b="1" i="0" u="none" strike="noStrike" cap="none" normalizeH="0" baseline="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rgbClr val="CC0099"/>
                          </a:solidFill>
                          <a:effectLst/>
                          <a:latin typeface="宋体" pitchFamily="2" charset="-122"/>
                          <a:ea typeface="宋体" pitchFamily="2" charset="-122"/>
                        </a:rPr>
                        <a:t>3.13 </a:t>
                      </a:r>
                      <a:endParaRPr kumimoji="0" lang="en-US" altLang="zh-CN" sz="16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3333FF"/>
                          </a:solidFill>
                          <a:effectLst/>
                          <a:latin typeface="宋体" pitchFamily="2" charset="-122"/>
                          <a:ea typeface="宋体" pitchFamily="2" charset="-122"/>
                        </a:rPr>
                        <a:t>94.23 </a:t>
                      </a:r>
                      <a:endParaRPr kumimoji="0" lang="en-US" altLang="zh-CN" sz="1600" b="1" i="0" u="none" strike="noStrike" cap="none" normalizeH="0" baseline="0" smtClean="0">
                        <a:ln>
                          <a:noFill/>
                        </a:ln>
                        <a:solidFill>
                          <a:srgbClr val="3333FF"/>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9"/>
                  </a:ext>
                </a:extLst>
              </a:tr>
              <a:tr h="381000">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10</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98</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89.90 </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84.15 </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CC0099"/>
                          </a:solidFill>
                          <a:effectLst/>
                          <a:latin typeface="宋体" pitchFamily="2" charset="-122"/>
                          <a:ea typeface="宋体" pitchFamily="2" charset="-122"/>
                        </a:rPr>
                        <a:t>95.65 </a:t>
                      </a:r>
                      <a:endParaRPr kumimoji="0" lang="en-US" altLang="zh-CN" sz="1600" b="1" i="0" u="none" strike="noStrike" cap="none" normalizeH="0" baseline="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rgbClr val="CC0099"/>
                          </a:solidFill>
                          <a:effectLst/>
                          <a:latin typeface="宋体" pitchFamily="2" charset="-122"/>
                          <a:ea typeface="宋体" pitchFamily="2" charset="-122"/>
                        </a:rPr>
                        <a:t>4.70 </a:t>
                      </a:r>
                      <a:endParaRPr kumimoji="0" lang="en-US" altLang="zh-CN" sz="16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3333FF"/>
                          </a:solidFill>
                          <a:effectLst/>
                          <a:latin typeface="宋体" pitchFamily="2" charset="-122"/>
                          <a:ea typeface="宋体" pitchFamily="2" charset="-122"/>
                        </a:rPr>
                        <a:t>90.22 </a:t>
                      </a:r>
                      <a:endParaRPr kumimoji="0" lang="en-US" altLang="zh-CN" sz="1600" b="1" i="0" u="none" strike="noStrike" cap="none" normalizeH="0" baseline="0" smtClean="0">
                        <a:ln>
                          <a:noFill/>
                        </a:ln>
                        <a:solidFill>
                          <a:srgbClr val="3333FF"/>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0"/>
                  </a:ext>
                </a:extLst>
              </a:tr>
              <a:tr h="669925">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11</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91</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90.39 </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86.96 </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CC0099"/>
                          </a:solidFill>
                          <a:effectLst/>
                          <a:latin typeface="宋体" pitchFamily="2" charset="-122"/>
                          <a:ea typeface="宋体" pitchFamily="2" charset="-122"/>
                        </a:rPr>
                        <a:t>93.83 </a:t>
                      </a:r>
                      <a:endParaRPr kumimoji="0" lang="en-US" altLang="zh-CN" sz="1600" b="1" i="0" u="none" strike="noStrike" cap="none" normalizeH="0" baseline="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rgbClr val="CC0099"/>
                          </a:solidFill>
                          <a:effectLst/>
                          <a:latin typeface="宋体" pitchFamily="2" charset="-122"/>
                          <a:ea typeface="宋体" pitchFamily="2" charset="-122"/>
                        </a:rPr>
                        <a:t>2.81 </a:t>
                      </a:r>
                      <a:endParaRPr kumimoji="0" lang="en-US" altLang="zh-CN" sz="1600" b="1" i="0" u="none" strike="noStrike" cap="none" normalizeH="0" baseline="0" dirty="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rgbClr val="3333FF"/>
                          </a:solidFill>
                          <a:effectLst/>
                          <a:latin typeface="宋体" pitchFamily="2" charset="-122"/>
                          <a:ea typeface="宋体" pitchFamily="2" charset="-122"/>
                        </a:rPr>
                        <a:t>100.35</a:t>
                      </a:r>
                      <a:r>
                        <a:rPr kumimoji="0" lang="en-US" altLang="zh-CN" sz="1600" b="1" i="0" u="none" strike="noStrike" cap="none" normalizeH="0" baseline="0" dirty="0" smtClean="0">
                          <a:ln>
                            <a:noFill/>
                          </a:ln>
                          <a:solidFill>
                            <a:srgbClr val="3333FF"/>
                          </a:solidFill>
                          <a:effectLst/>
                          <a:latin typeface="宋体" pitchFamily="2" charset="-122"/>
                          <a:ea typeface="宋体" pitchFamily="2" charset="-122"/>
                        </a:rPr>
                        <a:t> </a:t>
                      </a:r>
                      <a:endParaRPr kumimoji="0" lang="en-US" altLang="zh-CN" sz="1600" b="1" i="0" u="none" strike="noStrike" cap="none" normalizeH="0" baseline="0" dirty="0" smtClean="0">
                        <a:ln>
                          <a:noFill/>
                        </a:ln>
                        <a:solidFill>
                          <a:srgbClr val="3333FF"/>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1"/>
                  </a:ext>
                </a:extLst>
              </a:tr>
              <a:tr h="415925">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宋体" pitchFamily="2" charset="-122"/>
                          <a:ea typeface="宋体" pitchFamily="2" charset="-122"/>
                        </a:rPr>
                        <a:t>12</a:t>
                      </a:r>
                      <a:endParaRPr kumimoji="0" lang="en-US" altLang="zh-CN" sz="16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200" b="1" i="0" u="none" strike="noStrike" cap="none" normalizeH="0" baseline="0" smtClean="0">
                          <a:ln>
                            <a:noFill/>
                          </a:ln>
                          <a:solidFill>
                            <a:srgbClr val="000000"/>
                          </a:solidFill>
                          <a:effectLst/>
                          <a:latin typeface="宋体" pitchFamily="2" charset="-122"/>
                          <a:ea typeface="宋体" pitchFamily="2" charset="-122"/>
                        </a:rPr>
                        <a:t>106</a:t>
                      </a:r>
                      <a:endParaRPr kumimoji="0" lang="en-US" altLang="zh-CN" sz="12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rgbClr val="000000"/>
                          </a:solidFill>
                          <a:effectLst/>
                          <a:latin typeface="宋体" pitchFamily="2" charset="-122"/>
                          <a:ea typeface="宋体" pitchFamily="2" charset="-122"/>
                        </a:rPr>
                        <a:t>97.42 </a:t>
                      </a:r>
                      <a:endParaRPr kumimoji="0" lang="en-US" altLang="zh-CN" sz="14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rgbClr val="000000"/>
                          </a:solidFill>
                          <a:effectLst/>
                          <a:latin typeface="宋体" pitchFamily="2" charset="-122"/>
                          <a:ea typeface="宋体" pitchFamily="2" charset="-122"/>
                        </a:rPr>
                        <a:t>91.67 </a:t>
                      </a:r>
                      <a:endParaRPr kumimoji="0" lang="en-US" altLang="zh-CN" sz="1400" b="1" i="0" u="none" strike="noStrike" cap="none" normalizeH="0" baseline="0" dirty="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rgbClr val="CC0099"/>
                          </a:solidFill>
                          <a:effectLst/>
                          <a:latin typeface="宋体" pitchFamily="2" charset="-122"/>
                          <a:ea typeface="宋体" pitchFamily="2" charset="-122"/>
                        </a:rPr>
                        <a:t>103.17 </a:t>
                      </a:r>
                      <a:endParaRPr kumimoji="0" lang="en-US" altLang="zh-CN" sz="1600" b="1" i="0" u="none" strike="noStrike" cap="none" normalizeH="0" baseline="0" dirty="0" smtClean="0">
                        <a:ln>
                          <a:noFill/>
                        </a:ln>
                        <a:solidFill>
                          <a:srgbClr val="CC0099"/>
                        </a:solidFill>
                        <a:effectLst/>
                        <a:latin typeface="Arial" charset="0"/>
                        <a:ea typeface="宋体" pitchFamily="2" charset="-122"/>
                      </a:endParaRPr>
                    </a:p>
                  </a:txBody>
                  <a:tcPr marL="36000" marR="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CC0099"/>
                          </a:solidFill>
                          <a:effectLst/>
                          <a:latin typeface="宋体" pitchFamily="2" charset="-122"/>
                          <a:ea typeface="宋体" pitchFamily="2" charset="-122"/>
                        </a:rPr>
                        <a:t>4.71 </a:t>
                      </a:r>
                      <a:endParaRPr kumimoji="0" lang="en-US" altLang="zh-CN" sz="1600" b="1" i="0" u="none" strike="noStrike" cap="none" normalizeH="0" baseline="0" smtClean="0">
                        <a:ln>
                          <a:noFill/>
                        </a:ln>
                        <a:solidFill>
                          <a:srgbClr val="CC0099"/>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rgbClr val="3333FF"/>
                          </a:solidFill>
                          <a:effectLst/>
                          <a:latin typeface="宋体" pitchFamily="2" charset="-122"/>
                          <a:ea typeface="宋体" pitchFamily="2" charset="-122"/>
                        </a:rPr>
                        <a:t>96.64</a:t>
                      </a:r>
                      <a:r>
                        <a:rPr kumimoji="0" lang="en-US" altLang="zh-CN" sz="1400" b="1" i="0" u="none" strike="noStrike" cap="none" normalizeH="0" baseline="0" dirty="0" smtClean="0">
                          <a:ln>
                            <a:noFill/>
                          </a:ln>
                          <a:solidFill>
                            <a:srgbClr val="3333FF"/>
                          </a:solidFill>
                          <a:effectLst/>
                          <a:latin typeface="宋体" pitchFamily="2" charset="-122"/>
                          <a:ea typeface="宋体" pitchFamily="2" charset="-122"/>
                        </a:rPr>
                        <a:t> </a:t>
                      </a:r>
                      <a:endParaRPr kumimoji="0" lang="en-US" altLang="zh-CN" sz="1400" b="1" i="0" u="none" strike="noStrike" cap="none" normalizeH="0" baseline="0" dirty="0" smtClean="0">
                        <a:ln>
                          <a:noFill/>
                        </a:ln>
                        <a:solidFill>
                          <a:srgbClr val="3333FF"/>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2"/>
                  </a:ext>
                </a:extLst>
              </a:tr>
            </a:tbl>
          </a:graphicData>
        </a:graphic>
      </p:graphicFrame>
      <p:graphicFrame>
        <p:nvGraphicFramePr>
          <p:cNvPr id="276486" name="Object 6"/>
          <p:cNvGraphicFramePr>
            <a:graphicFrameLocks noChangeAspect="1"/>
          </p:cNvGraphicFramePr>
          <p:nvPr>
            <p:extLst>
              <p:ext uri="{D42A27DB-BD31-4B8C-83A1-F6EECF244321}">
                <p14:modId xmlns:p14="http://schemas.microsoft.com/office/powerpoint/2010/main" val="1183587206"/>
              </p:ext>
            </p:extLst>
          </p:nvPr>
        </p:nvGraphicFramePr>
        <p:xfrm>
          <a:off x="1015207" y="2586833"/>
          <a:ext cx="4824413" cy="650875"/>
        </p:xfrm>
        <a:graphic>
          <a:graphicData uri="http://schemas.openxmlformats.org/presentationml/2006/ole">
            <mc:AlternateContent xmlns:mc="http://schemas.openxmlformats.org/markup-compatibility/2006">
              <mc:Choice xmlns:v="urn:schemas-microsoft-com:vml" Requires="v">
                <p:oleObj spid="_x0000_s47526" name="Equation" r:id="rId3" imgW="1930320" imgH="228600" progId="Equation.DSMT4">
                  <p:embed/>
                </p:oleObj>
              </mc:Choice>
              <mc:Fallback>
                <p:oleObj name="Equation" r:id="rId3" imgW="1930320" imgH="2286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5207" y="2586833"/>
                        <a:ext cx="4824413" cy="650875"/>
                      </a:xfrm>
                      <a:prstGeom prst="rect">
                        <a:avLst/>
                      </a:prstGeom>
                      <a:solidFill>
                        <a:srgbClr val="00FFFF"/>
                      </a:solidFill>
                    </p:spPr>
                  </p:pic>
                </p:oleObj>
              </mc:Fallback>
            </mc:AlternateContent>
          </a:graphicData>
        </a:graphic>
      </p:graphicFrame>
      <p:graphicFrame>
        <p:nvGraphicFramePr>
          <p:cNvPr id="276487" name="Object 7"/>
          <p:cNvGraphicFramePr>
            <a:graphicFrameLocks noChangeAspect="1"/>
          </p:cNvGraphicFramePr>
          <p:nvPr>
            <p:extLst>
              <p:ext uri="{D42A27DB-BD31-4B8C-83A1-F6EECF244321}">
                <p14:modId xmlns:p14="http://schemas.microsoft.com/office/powerpoint/2010/main" val="414688659"/>
              </p:ext>
            </p:extLst>
          </p:nvPr>
        </p:nvGraphicFramePr>
        <p:xfrm>
          <a:off x="931183" y="3328988"/>
          <a:ext cx="6473825" cy="628650"/>
        </p:xfrm>
        <a:graphic>
          <a:graphicData uri="http://schemas.openxmlformats.org/presentationml/2006/ole">
            <mc:AlternateContent xmlns:mc="http://schemas.openxmlformats.org/markup-compatibility/2006">
              <mc:Choice xmlns:v="urn:schemas-microsoft-com:vml" Requires="v">
                <p:oleObj spid="_x0000_s47527" name="Equation" r:id="rId5" imgW="2527200" imgH="228600" progId="Equation.DSMT4">
                  <p:embed/>
                </p:oleObj>
              </mc:Choice>
              <mc:Fallback>
                <p:oleObj name="Equation" r:id="rId5" imgW="2527200" imgH="2286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1183" y="3328988"/>
                        <a:ext cx="6473825" cy="628650"/>
                      </a:xfrm>
                      <a:prstGeom prst="rect">
                        <a:avLst/>
                      </a:prstGeom>
                      <a:solidFill>
                        <a:srgbClr val="00FFFF"/>
                      </a:solidFill>
                    </p:spPr>
                  </p:pic>
                </p:oleObj>
              </mc:Fallback>
            </mc:AlternateContent>
          </a:graphicData>
        </a:graphic>
      </p:graphicFrame>
      <p:sp>
        <p:nvSpPr>
          <p:cNvPr id="276603" name="Rectangle 123"/>
          <p:cNvSpPr>
            <a:spLocks noChangeArrowheads="1"/>
          </p:cNvSpPr>
          <p:nvPr/>
        </p:nvSpPr>
        <p:spPr bwMode="auto">
          <a:xfrm>
            <a:off x="107950" y="4060825"/>
            <a:ext cx="4576763" cy="488950"/>
          </a:xfrm>
          <a:prstGeom prst="rect">
            <a:avLst/>
          </a:prstGeom>
          <a:noFill/>
          <a:ln w="9525" algn="ctr">
            <a:noFill/>
            <a:miter lim="800000"/>
            <a:headEnd/>
            <a:tailEnd/>
          </a:ln>
        </p:spPr>
        <p:txBody>
          <a:bodyPr wrap="none" anchor="ctr">
            <a:spAutoFit/>
          </a:bodyPr>
          <a:lstStyle/>
          <a:p>
            <a:r>
              <a:rPr lang="zh-CN" altLang="en-US" sz="2600" b="1" dirty="0">
                <a:solidFill>
                  <a:srgbClr val="3333FF"/>
                </a:solidFill>
                <a:latin typeface="Times New Roman" pitchFamily="18" charset="0"/>
              </a:rPr>
              <a:t>第</a:t>
            </a:r>
            <a:r>
              <a:rPr lang="en-US" altLang="zh-CN" sz="2600" b="1" dirty="0">
                <a:solidFill>
                  <a:srgbClr val="3333FF"/>
                </a:solidFill>
                <a:latin typeface="Times New Roman" pitchFamily="18" charset="0"/>
              </a:rPr>
              <a:t>13</a:t>
            </a:r>
            <a:r>
              <a:rPr lang="zh-CN" altLang="en-US" sz="2600" b="1" dirty="0">
                <a:solidFill>
                  <a:srgbClr val="3333FF"/>
                </a:solidFill>
                <a:latin typeface="Times New Roman" pitchFamily="18" charset="0"/>
              </a:rPr>
              <a:t>、</a:t>
            </a:r>
            <a:r>
              <a:rPr lang="en-US" altLang="zh-CN" sz="2600" b="1" dirty="0">
                <a:solidFill>
                  <a:srgbClr val="3333FF"/>
                </a:solidFill>
                <a:latin typeface="Times New Roman" pitchFamily="18" charset="0"/>
              </a:rPr>
              <a:t>14</a:t>
            </a:r>
            <a:r>
              <a:rPr lang="zh-CN" altLang="en-US" sz="2600" b="1" dirty="0">
                <a:solidFill>
                  <a:srgbClr val="3333FF"/>
                </a:solidFill>
                <a:latin typeface="Times New Roman" pitchFamily="18" charset="0"/>
              </a:rPr>
              <a:t>年销售量预测值为： </a:t>
            </a:r>
          </a:p>
        </p:txBody>
      </p:sp>
      <p:graphicFrame>
        <p:nvGraphicFramePr>
          <p:cNvPr id="276604" name="Object 124"/>
          <p:cNvGraphicFramePr>
            <a:graphicFrameLocks noChangeAspect="1"/>
          </p:cNvGraphicFramePr>
          <p:nvPr/>
        </p:nvGraphicFramePr>
        <p:xfrm>
          <a:off x="755650" y="4613275"/>
          <a:ext cx="5635625" cy="760413"/>
        </p:xfrm>
        <a:graphic>
          <a:graphicData uri="http://schemas.openxmlformats.org/presentationml/2006/ole">
            <mc:AlternateContent xmlns:mc="http://schemas.openxmlformats.org/markup-compatibility/2006">
              <mc:Choice xmlns:v="urn:schemas-microsoft-com:vml" Requires="v">
                <p:oleObj spid="_x0000_s47528" name="Equation" r:id="rId7" imgW="1892160" imgH="228600" progId="Equation.DSMT4">
                  <p:embed/>
                </p:oleObj>
              </mc:Choice>
              <mc:Fallback>
                <p:oleObj name="Equation" r:id="rId7" imgW="1892160" imgH="228600" progId="Equation.DSMT4">
                  <p:embed/>
                  <p:pic>
                    <p:nvPicPr>
                      <p:cNvPr id="0" name="Object 12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5650" y="4613275"/>
                        <a:ext cx="5635625" cy="760413"/>
                      </a:xfrm>
                      <a:prstGeom prst="rect">
                        <a:avLst/>
                      </a:prstGeom>
                      <a:solidFill>
                        <a:srgbClr val="00FFFF"/>
                      </a:solidFill>
                    </p:spPr>
                  </p:pic>
                </p:oleObj>
              </mc:Fallback>
            </mc:AlternateContent>
          </a:graphicData>
        </a:graphic>
      </p:graphicFrame>
      <p:graphicFrame>
        <p:nvGraphicFramePr>
          <p:cNvPr id="276605" name="Object 125"/>
          <p:cNvGraphicFramePr>
            <a:graphicFrameLocks noChangeAspect="1"/>
          </p:cNvGraphicFramePr>
          <p:nvPr/>
        </p:nvGraphicFramePr>
        <p:xfrm>
          <a:off x="684213" y="5445125"/>
          <a:ext cx="5759450" cy="715963"/>
        </p:xfrm>
        <a:graphic>
          <a:graphicData uri="http://schemas.openxmlformats.org/presentationml/2006/ole">
            <mc:AlternateContent xmlns:mc="http://schemas.openxmlformats.org/markup-compatibility/2006">
              <mc:Choice xmlns:v="urn:schemas-microsoft-com:vml" Requires="v">
                <p:oleObj spid="_x0000_s47529" name="Equation" r:id="rId9" imgW="1917360" imgH="228600" progId="Equation.DSMT4">
                  <p:embed/>
                </p:oleObj>
              </mc:Choice>
              <mc:Fallback>
                <p:oleObj name="Equation" r:id="rId9" imgW="1917360" imgH="228600" progId="Equation.DSMT4">
                  <p:embed/>
                  <p:pic>
                    <p:nvPicPr>
                      <p:cNvPr id="0" name="Object 12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4213" y="5445125"/>
                        <a:ext cx="5759450" cy="715963"/>
                      </a:xfrm>
                      <a:prstGeom prst="rect">
                        <a:avLst/>
                      </a:prstGeom>
                      <a:solidFill>
                        <a:srgbClr val="00FFFF"/>
                      </a:solidFill>
                    </p:spPr>
                  </p:pic>
                </p:oleObj>
              </mc:Fallback>
            </mc:AlternateContent>
          </a:graphicData>
        </a:graphic>
      </p:graphicFrame>
      <p:sp>
        <p:nvSpPr>
          <p:cNvPr id="47230" name="日期占位符 12"/>
          <p:cNvSpPr>
            <a:spLocks noGrp="1"/>
          </p:cNvSpPr>
          <p:nvPr>
            <p:ph type="dt" sz="quarter" idx="10"/>
          </p:nvPr>
        </p:nvSpPr>
        <p:spPr>
          <a:noFill/>
        </p:spPr>
        <p:txBody>
          <a:bodyPr/>
          <a:lstStyle/>
          <a:p>
            <a:endParaRPr lang="en-US" altLang="zh-CN"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76486"/>
                                        </p:tgtEl>
                                        <p:attrNameLst>
                                          <p:attrName>style.visibility</p:attrName>
                                        </p:attrNameLst>
                                      </p:cBhvr>
                                      <p:to>
                                        <p:strVal val="visible"/>
                                      </p:to>
                                    </p:set>
                                    <p:animEffect transition="in" filter="slide(fromBottom)">
                                      <p:cBhvr>
                                        <p:cTn id="7" dur="1000"/>
                                        <p:tgtEl>
                                          <p:spTgt spid="276486"/>
                                        </p:tgtEl>
                                      </p:cBhvr>
                                    </p:animEffect>
                                  </p:childTnLst>
                                </p:cTn>
                              </p:par>
                            </p:childTnLst>
                          </p:cTn>
                        </p:par>
                        <p:par>
                          <p:cTn id="8" fill="hold">
                            <p:stCondLst>
                              <p:cond delay="1000"/>
                            </p:stCondLst>
                            <p:childTnLst>
                              <p:par>
                                <p:cTn id="9" presetID="12" presetClass="entr" presetSubtype="4" fill="hold" nodeType="afterEffect">
                                  <p:stCondLst>
                                    <p:cond delay="0"/>
                                  </p:stCondLst>
                                  <p:childTnLst>
                                    <p:set>
                                      <p:cBhvr>
                                        <p:cTn id="10" dur="1" fill="hold">
                                          <p:stCondLst>
                                            <p:cond delay="0"/>
                                          </p:stCondLst>
                                        </p:cTn>
                                        <p:tgtEl>
                                          <p:spTgt spid="276487"/>
                                        </p:tgtEl>
                                        <p:attrNameLst>
                                          <p:attrName>style.visibility</p:attrName>
                                        </p:attrNameLst>
                                      </p:cBhvr>
                                      <p:to>
                                        <p:strVal val="visible"/>
                                      </p:to>
                                    </p:set>
                                    <p:animEffect transition="in" filter="slide(fromBottom)">
                                      <p:cBhvr>
                                        <p:cTn id="11" dur="1000"/>
                                        <p:tgtEl>
                                          <p:spTgt spid="276487"/>
                                        </p:tgtEl>
                                      </p:cBhvr>
                                    </p:animEffect>
                                  </p:childTnLst>
                                </p:cTn>
                              </p:par>
                            </p:childTnLst>
                          </p:cTn>
                        </p:par>
                      </p:childTnLst>
                    </p:cTn>
                  </p:par>
                  <p:par>
                    <p:cTn id="12" fill="hold">
                      <p:stCondLst>
                        <p:cond delay="indefinite"/>
                      </p:stCondLst>
                      <p:childTnLst>
                        <p:par>
                          <p:cTn id="13" fill="hold">
                            <p:stCondLst>
                              <p:cond delay="0"/>
                            </p:stCondLst>
                            <p:childTnLst>
                              <p:par>
                                <p:cTn id="14" presetID="27" presetClass="entr" presetSubtype="0" fill="hold" grpId="0" nodeType="clickEffect">
                                  <p:stCondLst>
                                    <p:cond delay="0"/>
                                  </p:stCondLst>
                                  <p:iterate type="lt">
                                    <p:tmPct val="50000"/>
                                  </p:iterate>
                                  <p:childTnLst>
                                    <p:set>
                                      <p:cBhvr>
                                        <p:cTn id="15" dur="1" fill="hold">
                                          <p:stCondLst>
                                            <p:cond delay="0"/>
                                          </p:stCondLst>
                                        </p:cTn>
                                        <p:tgtEl>
                                          <p:spTgt spid="276603"/>
                                        </p:tgtEl>
                                        <p:attrNameLst>
                                          <p:attrName>style.visibility</p:attrName>
                                        </p:attrNameLst>
                                      </p:cBhvr>
                                      <p:to>
                                        <p:strVal val="visible"/>
                                      </p:to>
                                    </p:set>
                                    <p:anim calcmode="discrete" valueType="clr">
                                      <p:cBhvr override="childStyle">
                                        <p:cTn id="16" dur="500"/>
                                        <p:tgtEl>
                                          <p:spTgt spid="276603"/>
                                        </p:tgtEl>
                                        <p:attrNameLst>
                                          <p:attrName>style.color</p:attrName>
                                        </p:attrNameLst>
                                      </p:cBhvr>
                                      <p:tavLst>
                                        <p:tav tm="0">
                                          <p:val>
                                            <p:clrVal>
                                              <a:srgbClr val="FF0066"/>
                                            </p:clrVal>
                                          </p:val>
                                        </p:tav>
                                        <p:tav tm="50000">
                                          <p:val>
                                            <p:clrVal>
                                              <a:schemeClr val="hlink"/>
                                            </p:clrVal>
                                          </p:val>
                                        </p:tav>
                                      </p:tavLst>
                                    </p:anim>
                                    <p:anim calcmode="discrete" valueType="clr">
                                      <p:cBhvr>
                                        <p:cTn id="17" dur="500"/>
                                        <p:tgtEl>
                                          <p:spTgt spid="276603"/>
                                        </p:tgtEl>
                                        <p:attrNameLst>
                                          <p:attrName>fillcolor</p:attrName>
                                        </p:attrNameLst>
                                      </p:cBhvr>
                                      <p:tavLst>
                                        <p:tav tm="0">
                                          <p:val>
                                            <p:clrVal>
                                              <a:schemeClr val="accent2"/>
                                            </p:clrVal>
                                          </p:val>
                                        </p:tav>
                                        <p:tav tm="50000">
                                          <p:val>
                                            <p:clrVal>
                                              <a:schemeClr val="hlink"/>
                                            </p:clrVal>
                                          </p:val>
                                        </p:tav>
                                      </p:tavLst>
                                    </p:anim>
                                    <p:set>
                                      <p:cBhvr>
                                        <p:cTn id="18" dur="500"/>
                                        <p:tgtEl>
                                          <p:spTgt spid="276603"/>
                                        </p:tgtEl>
                                        <p:attrNameLst>
                                          <p:attrName>fill.type</p:attrName>
                                        </p:attrNameLst>
                                      </p:cBhvr>
                                      <p:to>
                                        <p:strVal val="solid"/>
                                      </p:to>
                                    </p:set>
                                  </p:childTnLst>
                                </p:cTn>
                              </p:par>
                            </p:childTnLst>
                          </p:cTn>
                        </p:par>
                        <p:par>
                          <p:cTn id="19" fill="hold">
                            <p:stCondLst>
                              <p:cond delay="4000"/>
                            </p:stCondLst>
                            <p:childTnLst>
                              <p:par>
                                <p:cTn id="20" presetID="22" presetClass="entr" presetSubtype="8" fill="hold" nodeType="afterEffect">
                                  <p:stCondLst>
                                    <p:cond delay="0"/>
                                  </p:stCondLst>
                                  <p:childTnLst>
                                    <p:set>
                                      <p:cBhvr>
                                        <p:cTn id="21" dur="1" fill="hold">
                                          <p:stCondLst>
                                            <p:cond delay="0"/>
                                          </p:stCondLst>
                                        </p:cTn>
                                        <p:tgtEl>
                                          <p:spTgt spid="276604"/>
                                        </p:tgtEl>
                                        <p:attrNameLst>
                                          <p:attrName>style.visibility</p:attrName>
                                        </p:attrNameLst>
                                      </p:cBhvr>
                                      <p:to>
                                        <p:strVal val="visible"/>
                                      </p:to>
                                    </p:set>
                                    <p:animEffect transition="in" filter="wipe(left)">
                                      <p:cBhvr>
                                        <p:cTn id="22" dur="1000"/>
                                        <p:tgtEl>
                                          <p:spTgt spid="276604"/>
                                        </p:tgtEl>
                                      </p:cBhvr>
                                    </p:animEffect>
                                  </p:childTnLst>
                                </p:cTn>
                              </p:par>
                            </p:childTnLst>
                          </p:cTn>
                        </p:par>
                        <p:par>
                          <p:cTn id="23" fill="hold">
                            <p:stCondLst>
                              <p:cond delay="5000"/>
                            </p:stCondLst>
                            <p:childTnLst>
                              <p:par>
                                <p:cTn id="24" presetID="22" presetClass="entr" presetSubtype="8" fill="hold" nodeType="afterEffect">
                                  <p:stCondLst>
                                    <p:cond delay="0"/>
                                  </p:stCondLst>
                                  <p:childTnLst>
                                    <p:set>
                                      <p:cBhvr>
                                        <p:cTn id="25" dur="1" fill="hold">
                                          <p:stCondLst>
                                            <p:cond delay="0"/>
                                          </p:stCondLst>
                                        </p:cTn>
                                        <p:tgtEl>
                                          <p:spTgt spid="276605"/>
                                        </p:tgtEl>
                                        <p:attrNameLst>
                                          <p:attrName>style.visibility</p:attrName>
                                        </p:attrNameLst>
                                      </p:cBhvr>
                                      <p:to>
                                        <p:strVal val="visible"/>
                                      </p:to>
                                    </p:set>
                                    <p:animEffect transition="in" filter="wipe(left)">
                                      <p:cBhvr>
                                        <p:cTn id="26" dur="1000"/>
                                        <p:tgtEl>
                                          <p:spTgt spid="2766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603"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5" name="Rectangle 2"/>
          <p:cNvSpPr>
            <a:spLocks noGrp="1" noChangeArrowheads="1"/>
          </p:cNvSpPr>
          <p:nvPr>
            <p:ph type="title"/>
          </p:nvPr>
        </p:nvSpPr>
        <p:spPr>
          <a:xfrm>
            <a:off x="827088" y="476250"/>
            <a:ext cx="7772400" cy="990600"/>
          </a:xfrm>
        </p:spPr>
        <p:txBody>
          <a:bodyPr/>
          <a:lstStyle/>
          <a:p>
            <a:pPr eaLnBrk="1" hangingPunct="1"/>
            <a:r>
              <a:rPr lang="en-US" altLang="zh-CN" dirty="0" smtClean="0"/>
              <a:t>3. </a:t>
            </a:r>
            <a:r>
              <a:rPr lang="zh-CN" altLang="en-US" dirty="0" smtClean="0">
                <a:latin typeface="Times New Roman" pitchFamily="18" charset="0"/>
              </a:rPr>
              <a:t>趋势方程拟合法</a:t>
            </a:r>
          </a:p>
        </p:txBody>
      </p:sp>
      <p:sp>
        <p:nvSpPr>
          <p:cNvPr id="131076" name="Rectangle 3"/>
          <p:cNvSpPr>
            <a:spLocks noGrp="1" noChangeArrowheads="1"/>
          </p:cNvSpPr>
          <p:nvPr>
            <p:ph type="body" idx="1"/>
          </p:nvPr>
        </p:nvSpPr>
        <p:spPr>
          <a:xfrm>
            <a:off x="827088" y="1844675"/>
            <a:ext cx="7561262" cy="4321175"/>
          </a:xfrm>
        </p:spPr>
        <p:txBody>
          <a:bodyPr/>
          <a:lstStyle/>
          <a:p>
            <a:pPr marL="0" indent="0" eaLnBrk="1" hangingPunct="1">
              <a:lnSpc>
                <a:spcPct val="115000"/>
              </a:lnSpc>
              <a:spcBef>
                <a:spcPct val="30000"/>
              </a:spcBef>
              <a:buNone/>
            </a:pPr>
            <a:r>
              <a:rPr lang="en-US" altLang="zh-CN" dirty="0" smtClean="0">
                <a:solidFill>
                  <a:schemeClr val="tx1"/>
                </a:solidFill>
                <a:latin typeface="Times New Roman" pitchFamily="18" charset="0"/>
              </a:rPr>
              <a:t>——</a:t>
            </a:r>
            <a:r>
              <a:rPr lang="zh-CN" altLang="en-US" b="0" dirty="0" smtClean="0">
                <a:solidFill>
                  <a:srgbClr val="000000"/>
                </a:solidFill>
                <a:latin typeface="宋体" pitchFamily="2" charset="-122"/>
              </a:rPr>
              <a:t>利用</a:t>
            </a:r>
            <a:r>
              <a:rPr lang="zh-CN" altLang="en-US" b="0" dirty="0" smtClean="0">
                <a:solidFill>
                  <a:srgbClr val="000000"/>
                </a:solidFill>
                <a:latin typeface="宋体" pitchFamily="2" charset="-122"/>
              </a:rPr>
              <a:t>某种数学方程对原数列中的趋势进行拟合、以揭示数列长期趋势的一种方法。</a:t>
            </a:r>
          </a:p>
          <a:p>
            <a:pPr marL="971550" lvl="1" eaLnBrk="1" hangingPunct="1">
              <a:lnSpc>
                <a:spcPct val="115000"/>
              </a:lnSpc>
              <a:spcBef>
                <a:spcPct val="30000"/>
              </a:spcBef>
            </a:pPr>
            <a:r>
              <a:rPr lang="zh-CN" altLang="en-US" sz="3600" b="0" dirty="0" smtClean="0">
                <a:latin typeface="宋体" pitchFamily="2" charset="-122"/>
              </a:rPr>
              <a:t> </a:t>
            </a:r>
            <a:r>
              <a:rPr lang="zh-CN" altLang="en-US" dirty="0" smtClean="0">
                <a:latin typeface="宋体" pitchFamily="2" charset="-122"/>
              </a:rPr>
              <a:t>在只包含</a:t>
            </a:r>
            <a:r>
              <a:rPr lang="en-US" altLang="zh-CN" dirty="0" smtClean="0">
                <a:latin typeface="宋体" pitchFamily="2" charset="-122"/>
              </a:rPr>
              <a:t>T</a:t>
            </a:r>
            <a:r>
              <a:rPr lang="zh-CN" altLang="en-US" dirty="0" smtClean="0">
                <a:latin typeface="宋体" pitchFamily="2" charset="-122"/>
              </a:rPr>
              <a:t>、</a:t>
            </a:r>
            <a:r>
              <a:rPr lang="en-US" altLang="zh-CN" dirty="0" smtClean="0">
                <a:latin typeface="宋体" pitchFamily="2" charset="-122"/>
              </a:rPr>
              <a:t>I</a:t>
            </a:r>
            <a:r>
              <a:rPr lang="zh-CN" altLang="en-US" dirty="0" smtClean="0">
                <a:latin typeface="宋体" pitchFamily="2" charset="-122"/>
              </a:rPr>
              <a:t>中进行长期趋势的测定时应用较为广泛。</a:t>
            </a:r>
          </a:p>
          <a:p>
            <a:pPr marL="971550" lvl="1" eaLnBrk="1" hangingPunct="1">
              <a:lnSpc>
                <a:spcPct val="115000"/>
              </a:lnSpc>
              <a:spcBef>
                <a:spcPct val="30000"/>
              </a:spcBef>
            </a:pPr>
            <a:r>
              <a:rPr lang="zh-CN" altLang="en-US" dirty="0" smtClean="0"/>
              <a:t>趋势方程具有延伸外推的功能，便于对未来时期的趋势做出外推预测 。</a:t>
            </a:r>
          </a:p>
        </p:txBody>
      </p:sp>
      <p:sp>
        <p:nvSpPr>
          <p:cNvPr id="131077" name="日期占位符 4"/>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9" name="Rectangle 2"/>
          <p:cNvSpPr>
            <a:spLocks noGrp="1" noChangeArrowheads="1"/>
          </p:cNvSpPr>
          <p:nvPr>
            <p:ph type="title"/>
          </p:nvPr>
        </p:nvSpPr>
        <p:spPr>
          <a:xfrm>
            <a:off x="967433" y="413544"/>
            <a:ext cx="7772400" cy="935038"/>
          </a:xfrm>
        </p:spPr>
        <p:txBody>
          <a:bodyPr/>
          <a:lstStyle/>
          <a:p>
            <a:pPr eaLnBrk="1" hangingPunct="1"/>
            <a:r>
              <a:rPr lang="zh-CN" altLang="en-US" sz="4000" dirty="0" smtClean="0"/>
              <a:t>趋势方程形式的选择</a:t>
            </a:r>
            <a:endParaRPr lang="zh-CN" altLang="en-US" sz="4800" dirty="0" smtClean="0"/>
          </a:p>
        </p:txBody>
      </p:sp>
      <p:sp>
        <p:nvSpPr>
          <p:cNvPr id="189443" name="Rectangle 3"/>
          <p:cNvSpPr>
            <a:spLocks noGrp="1" noChangeArrowheads="1"/>
          </p:cNvSpPr>
          <p:nvPr>
            <p:ph type="body" idx="1"/>
          </p:nvPr>
        </p:nvSpPr>
        <p:spPr>
          <a:xfrm>
            <a:off x="539750" y="1557338"/>
            <a:ext cx="8208963" cy="4392612"/>
          </a:xfrm>
        </p:spPr>
        <p:txBody>
          <a:bodyPr/>
          <a:lstStyle/>
          <a:p>
            <a:pPr marL="536575" indent="-449263" algn="just" eaLnBrk="1" hangingPunct="1">
              <a:spcBef>
                <a:spcPts val="1200"/>
              </a:spcBef>
              <a:buFontTx/>
              <a:buAutoNum type="arabicPeriod"/>
            </a:pPr>
            <a:r>
              <a:rPr lang="zh-CN" altLang="en-US" dirty="0" smtClean="0">
                <a:latin typeface="宋体" pitchFamily="2" charset="-122"/>
              </a:rPr>
              <a:t>定性分析</a:t>
            </a:r>
            <a:endParaRPr lang="zh-CN" altLang="en-US" b="0" dirty="0" smtClean="0">
              <a:latin typeface="宋体" pitchFamily="2" charset="-122"/>
            </a:endParaRPr>
          </a:p>
          <a:p>
            <a:pPr marL="536575" lvl="1" indent="0" algn="just" eaLnBrk="1" hangingPunct="1">
              <a:spcBef>
                <a:spcPts val="1200"/>
              </a:spcBef>
              <a:buNone/>
            </a:pPr>
            <a:r>
              <a:rPr lang="zh-CN" altLang="en-US" b="0" dirty="0" smtClean="0">
                <a:latin typeface="宋体" pitchFamily="2" charset="-122"/>
              </a:rPr>
              <a:t>根据有关理论、经验、结合现象变化特点；</a:t>
            </a:r>
          </a:p>
          <a:p>
            <a:pPr marL="536575" indent="-449263" algn="just" eaLnBrk="1" hangingPunct="1">
              <a:spcBef>
                <a:spcPts val="1200"/>
              </a:spcBef>
              <a:buFontTx/>
              <a:buAutoNum type="arabicPeriod"/>
            </a:pPr>
            <a:r>
              <a:rPr lang="zh-CN" altLang="en-US" dirty="0" smtClean="0">
                <a:latin typeface="宋体" pitchFamily="2" charset="-122"/>
              </a:rPr>
              <a:t>绘制观测值散点图或折线图</a:t>
            </a:r>
            <a:r>
              <a:rPr lang="zh-CN" altLang="en-US" b="0" dirty="0" smtClean="0">
                <a:latin typeface="宋体" pitchFamily="2" charset="-122"/>
              </a:rPr>
              <a:t>。</a:t>
            </a:r>
          </a:p>
          <a:p>
            <a:pPr marL="536575" lvl="1" indent="0" algn="just" eaLnBrk="1" hangingPunct="1">
              <a:spcBef>
                <a:spcPts val="1200"/>
              </a:spcBef>
              <a:buNone/>
            </a:pPr>
            <a:r>
              <a:rPr lang="zh-CN" altLang="en-US" b="0" dirty="0">
                <a:latin typeface="宋体" pitchFamily="2" charset="-122"/>
              </a:rPr>
              <a:t>直观表现出数列的趋势类型；</a:t>
            </a:r>
          </a:p>
          <a:p>
            <a:pPr marL="536575" indent="-449263" algn="just" eaLnBrk="1" hangingPunct="1">
              <a:spcBef>
                <a:spcPts val="1200"/>
              </a:spcBef>
              <a:buFontTx/>
              <a:buAutoNum type="arabicPeriod"/>
            </a:pPr>
            <a:r>
              <a:rPr lang="zh-CN" altLang="en-US" dirty="0" smtClean="0">
                <a:latin typeface="宋体" pitchFamily="2" charset="-122"/>
              </a:rPr>
              <a:t>对混合趋势形式的数列，也可采取分段拟合的方法，分别考察各阶段的趋势变化。</a:t>
            </a:r>
          </a:p>
          <a:p>
            <a:pPr marL="536575" lvl="1" indent="0" algn="just" eaLnBrk="1" hangingPunct="1">
              <a:spcBef>
                <a:spcPts val="1200"/>
              </a:spcBef>
              <a:buNone/>
            </a:pPr>
            <a:r>
              <a:rPr lang="zh-CN" altLang="en-US" b="0" dirty="0">
                <a:latin typeface="宋体" pitchFamily="2" charset="-122"/>
              </a:rPr>
              <a:t>但通常只能根据最后一阶段的趋势方程进行外推预测。</a:t>
            </a:r>
          </a:p>
        </p:txBody>
      </p:sp>
      <p:sp>
        <p:nvSpPr>
          <p:cNvPr id="132101" name="日期占位符 4"/>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89443">
                                            <p:txEl>
                                              <p:pRg st="0" end="0"/>
                                            </p:txEl>
                                          </p:spTgt>
                                        </p:tgtEl>
                                        <p:attrNameLst>
                                          <p:attrName>style.visibility</p:attrName>
                                        </p:attrNameLst>
                                      </p:cBhvr>
                                      <p:to>
                                        <p:strVal val="visible"/>
                                      </p:to>
                                    </p:set>
                                    <p:animEffect transition="in" filter="slide(fromBottom)">
                                      <p:cBhvr>
                                        <p:cTn id="7" dur="500"/>
                                        <p:tgtEl>
                                          <p:spTgt spid="189443">
                                            <p:txEl>
                                              <p:pRg st="0" end="0"/>
                                            </p:txEl>
                                          </p:spTgt>
                                        </p:tgtEl>
                                      </p:cBhvr>
                                    </p:animEffect>
                                  </p:childTnLst>
                                </p:cTn>
                              </p:par>
                              <p:par>
                                <p:cTn id="8" presetID="12" presetClass="entr" presetSubtype="4" fill="hold" grpId="0" nodeType="withEffect">
                                  <p:stCondLst>
                                    <p:cond delay="0"/>
                                  </p:stCondLst>
                                  <p:childTnLst>
                                    <p:set>
                                      <p:cBhvr>
                                        <p:cTn id="9" dur="1" fill="hold">
                                          <p:stCondLst>
                                            <p:cond delay="0"/>
                                          </p:stCondLst>
                                        </p:cTn>
                                        <p:tgtEl>
                                          <p:spTgt spid="189443">
                                            <p:txEl>
                                              <p:pRg st="1" end="1"/>
                                            </p:txEl>
                                          </p:spTgt>
                                        </p:tgtEl>
                                        <p:attrNameLst>
                                          <p:attrName>style.visibility</p:attrName>
                                        </p:attrNameLst>
                                      </p:cBhvr>
                                      <p:to>
                                        <p:strVal val="visible"/>
                                      </p:to>
                                    </p:set>
                                    <p:animEffect transition="in" filter="slide(fromBottom)">
                                      <p:cBhvr>
                                        <p:cTn id="10" dur="500"/>
                                        <p:tgtEl>
                                          <p:spTgt spid="18944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2" presetClass="entr" presetSubtype="4" fill="hold" grpId="0" nodeType="clickEffect">
                                  <p:stCondLst>
                                    <p:cond delay="0"/>
                                  </p:stCondLst>
                                  <p:childTnLst>
                                    <p:set>
                                      <p:cBhvr>
                                        <p:cTn id="14" dur="1" fill="hold">
                                          <p:stCondLst>
                                            <p:cond delay="0"/>
                                          </p:stCondLst>
                                        </p:cTn>
                                        <p:tgtEl>
                                          <p:spTgt spid="189443">
                                            <p:txEl>
                                              <p:pRg st="2" end="2"/>
                                            </p:txEl>
                                          </p:spTgt>
                                        </p:tgtEl>
                                        <p:attrNameLst>
                                          <p:attrName>style.visibility</p:attrName>
                                        </p:attrNameLst>
                                      </p:cBhvr>
                                      <p:to>
                                        <p:strVal val="visible"/>
                                      </p:to>
                                    </p:set>
                                    <p:animEffect transition="in" filter="slide(fromBottom)">
                                      <p:cBhvr>
                                        <p:cTn id="15" dur="500"/>
                                        <p:tgtEl>
                                          <p:spTgt spid="189443">
                                            <p:txEl>
                                              <p:pRg st="2" end="2"/>
                                            </p:txEl>
                                          </p:spTgt>
                                        </p:tgtEl>
                                      </p:cBhvr>
                                    </p:animEffect>
                                  </p:childTnLst>
                                </p:cTn>
                              </p:par>
                              <p:par>
                                <p:cTn id="16" presetID="12" presetClass="entr" presetSubtype="4" fill="hold" grpId="0" nodeType="withEffect">
                                  <p:stCondLst>
                                    <p:cond delay="0"/>
                                  </p:stCondLst>
                                  <p:childTnLst>
                                    <p:set>
                                      <p:cBhvr>
                                        <p:cTn id="17" dur="1" fill="hold">
                                          <p:stCondLst>
                                            <p:cond delay="0"/>
                                          </p:stCondLst>
                                        </p:cTn>
                                        <p:tgtEl>
                                          <p:spTgt spid="189443">
                                            <p:txEl>
                                              <p:pRg st="3" end="3"/>
                                            </p:txEl>
                                          </p:spTgt>
                                        </p:tgtEl>
                                        <p:attrNameLst>
                                          <p:attrName>style.visibility</p:attrName>
                                        </p:attrNameLst>
                                      </p:cBhvr>
                                      <p:to>
                                        <p:strVal val="visible"/>
                                      </p:to>
                                    </p:set>
                                    <p:animEffect transition="in" filter="slide(fromBottom)">
                                      <p:cBhvr>
                                        <p:cTn id="18" dur="500"/>
                                        <p:tgtEl>
                                          <p:spTgt spid="18944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189443">
                                            <p:txEl>
                                              <p:pRg st="4" end="4"/>
                                            </p:txEl>
                                          </p:spTgt>
                                        </p:tgtEl>
                                        <p:attrNameLst>
                                          <p:attrName>style.visibility</p:attrName>
                                        </p:attrNameLst>
                                      </p:cBhvr>
                                      <p:to>
                                        <p:strVal val="visible"/>
                                      </p:to>
                                    </p:set>
                                    <p:animEffect transition="in" filter="slide(fromBottom)">
                                      <p:cBhvr>
                                        <p:cTn id="23" dur="500"/>
                                        <p:tgtEl>
                                          <p:spTgt spid="189443">
                                            <p:txEl>
                                              <p:pRg st="4" end="4"/>
                                            </p:txEl>
                                          </p:spTgt>
                                        </p:tgtEl>
                                      </p:cBhvr>
                                    </p:animEffect>
                                  </p:childTnLst>
                                </p:cTn>
                              </p:par>
                              <p:par>
                                <p:cTn id="24" presetID="12" presetClass="entr" presetSubtype="4" fill="hold" grpId="0" nodeType="withEffect">
                                  <p:stCondLst>
                                    <p:cond delay="0"/>
                                  </p:stCondLst>
                                  <p:childTnLst>
                                    <p:set>
                                      <p:cBhvr>
                                        <p:cTn id="25" dur="1" fill="hold">
                                          <p:stCondLst>
                                            <p:cond delay="0"/>
                                          </p:stCondLst>
                                        </p:cTn>
                                        <p:tgtEl>
                                          <p:spTgt spid="189443">
                                            <p:txEl>
                                              <p:pRg st="5" end="5"/>
                                            </p:txEl>
                                          </p:spTgt>
                                        </p:tgtEl>
                                        <p:attrNameLst>
                                          <p:attrName>style.visibility</p:attrName>
                                        </p:attrNameLst>
                                      </p:cBhvr>
                                      <p:to>
                                        <p:strVal val="visible"/>
                                      </p:to>
                                    </p:set>
                                    <p:animEffect transition="in" filter="slide(fromBottom)">
                                      <p:cBhvr>
                                        <p:cTn id="26" dur="500"/>
                                        <p:tgtEl>
                                          <p:spTgt spid="18944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3" grpId="0" uiExpand="1" build="p"/>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4" name="Rectangle 2"/>
          <p:cNvSpPr>
            <a:spLocks noGrp="1" noChangeArrowheads="1"/>
          </p:cNvSpPr>
          <p:nvPr>
            <p:ph type="title"/>
          </p:nvPr>
        </p:nvSpPr>
        <p:spPr/>
        <p:txBody>
          <a:bodyPr/>
          <a:lstStyle/>
          <a:p>
            <a:pPr eaLnBrk="1" hangingPunct="1"/>
            <a:r>
              <a:rPr lang="zh-CN" altLang="en-US" dirty="0" smtClean="0"/>
              <a:t>模型的数学特征</a:t>
            </a:r>
          </a:p>
        </p:txBody>
      </p:sp>
      <p:sp>
        <p:nvSpPr>
          <p:cNvPr id="48135" name="Text Box 4"/>
          <p:cNvSpPr txBox="1">
            <a:spLocks noChangeArrowheads="1"/>
          </p:cNvSpPr>
          <p:nvPr/>
        </p:nvSpPr>
        <p:spPr bwMode="auto">
          <a:xfrm>
            <a:off x="395288" y="1341438"/>
            <a:ext cx="8208962" cy="954107"/>
          </a:xfrm>
          <a:prstGeom prst="rect">
            <a:avLst/>
          </a:prstGeom>
          <a:noFill/>
          <a:ln w="9525">
            <a:noFill/>
            <a:miter lim="800000"/>
            <a:headEnd/>
            <a:tailEnd/>
          </a:ln>
        </p:spPr>
        <p:txBody>
          <a:bodyPr>
            <a:spAutoFit/>
          </a:bodyPr>
          <a:lstStyle/>
          <a:p>
            <a:pPr>
              <a:spcBef>
                <a:spcPct val="30000"/>
              </a:spcBef>
              <a:buFontTx/>
              <a:buChar char="•"/>
            </a:pPr>
            <a:r>
              <a:rPr lang="en-US" altLang="zh-CN" sz="2800" b="1" dirty="0">
                <a:solidFill>
                  <a:srgbClr val="000000"/>
                </a:solidFill>
              </a:rPr>
              <a:t>  </a:t>
            </a:r>
            <a:r>
              <a:rPr lang="zh-CN" altLang="en-US" sz="2800" b="1" dirty="0">
                <a:solidFill>
                  <a:srgbClr val="000000"/>
                </a:solidFill>
              </a:rPr>
              <a:t>若数列各项数据的 </a:t>
            </a:r>
            <a:r>
              <a:rPr lang="en-US" altLang="zh-CN" sz="2800" b="1" dirty="0">
                <a:solidFill>
                  <a:srgbClr val="000000"/>
                </a:solidFill>
              </a:rPr>
              <a:t>K</a:t>
            </a:r>
            <a:r>
              <a:rPr lang="zh-CN" altLang="en-US" sz="2800" b="1" dirty="0">
                <a:solidFill>
                  <a:srgbClr val="000000"/>
                </a:solidFill>
              </a:rPr>
              <a:t>次差（</a:t>
            </a:r>
            <a:r>
              <a:rPr lang="en-US" altLang="zh-CN" sz="2800" b="1" dirty="0">
                <a:solidFill>
                  <a:srgbClr val="000000"/>
                </a:solidFill>
              </a:rPr>
              <a:t>K</a:t>
            </a:r>
            <a:r>
              <a:rPr lang="zh-CN" altLang="en-US" sz="2800" b="1" dirty="0">
                <a:solidFill>
                  <a:srgbClr val="000000"/>
                </a:solidFill>
              </a:rPr>
              <a:t>级增长量）大致为一常数，</a:t>
            </a:r>
            <a:r>
              <a:rPr lang="zh-CN" altLang="en-US" sz="2800" dirty="0">
                <a:solidFill>
                  <a:srgbClr val="000000"/>
                </a:solidFill>
              </a:rPr>
              <a:t>可对该数列拟合</a:t>
            </a:r>
            <a:r>
              <a:rPr lang="en-US" altLang="zh-CN" sz="2800" b="1" dirty="0">
                <a:solidFill>
                  <a:srgbClr val="CC0099"/>
                </a:solidFill>
              </a:rPr>
              <a:t>K</a:t>
            </a:r>
            <a:r>
              <a:rPr lang="zh-CN" altLang="en-US" sz="2800" b="1" dirty="0">
                <a:solidFill>
                  <a:srgbClr val="CC0099"/>
                </a:solidFill>
              </a:rPr>
              <a:t>次</a:t>
            </a:r>
            <a:r>
              <a:rPr lang="zh-CN" altLang="en-US" sz="2800" b="1" dirty="0" smtClean="0">
                <a:solidFill>
                  <a:srgbClr val="CC0099"/>
                </a:solidFill>
              </a:rPr>
              <a:t>曲线（多项式曲线）</a:t>
            </a:r>
            <a:r>
              <a:rPr lang="zh-CN" altLang="en-US" sz="2800" b="1" dirty="0" smtClean="0">
                <a:solidFill>
                  <a:srgbClr val="000000"/>
                </a:solidFill>
              </a:rPr>
              <a:t>；</a:t>
            </a:r>
            <a:endParaRPr lang="zh-CN" altLang="en-US" sz="2800" b="1" dirty="0">
              <a:solidFill>
                <a:srgbClr val="000000"/>
              </a:solidFill>
            </a:endParaRPr>
          </a:p>
        </p:txBody>
      </p:sp>
      <p:graphicFrame>
        <p:nvGraphicFramePr>
          <p:cNvPr id="72712" name="Object 8"/>
          <p:cNvGraphicFramePr>
            <a:graphicFrameLocks noChangeAspect="1"/>
          </p:cNvGraphicFramePr>
          <p:nvPr>
            <p:extLst>
              <p:ext uri="{D42A27DB-BD31-4B8C-83A1-F6EECF244321}">
                <p14:modId xmlns:p14="http://schemas.microsoft.com/office/powerpoint/2010/main" val="635196132"/>
              </p:ext>
            </p:extLst>
          </p:nvPr>
        </p:nvGraphicFramePr>
        <p:xfrm>
          <a:off x="4178300" y="4913535"/>
          <a:ext cx="4210124" cy="1495425"/>
        </p:xfrm>
        <a:graphic>
          <a:graphicData uri="http://schemas.openxmlformats.org/presentationml/2006/ole">
            <mc:AlternateContent xmlns:mc="http://schemas.openxmlformats.org/markup-compatibility/2006">
              <mc:Choice xmlns:v="urn:schemas-microsoft-com:vml" Requires="v">
                <p:oleObj spid="_x0000_s48445" name="Equation" r:id="rId4" imgW="1244520" imgH="419040" progId="Equation.DSMT4">
                  <p:embed/>
                </p:oleObj>
              </mc:Choice>
              <mc:Fallback>
                <p:oleObj name="Equation" r:id="rId4" imgW="1244520" imgH="419040" progId="Equation.DSMT4">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78300" y="4913535"/>
                        <a:ext cx="4210124" cy="1495425"/>
                      </a:xfrm>
                      <a:prstGeom prst="rect">
                        <a:avLst/>
                      </a:prstGeom>
                      <a:noFill/>
                      <a:extLst/>
                    </p:spPr>
                  </p:pic>
                </p:oleObj>
              </mc:Fallback>
            </mc:AlternateContent>
          </a:graphicData>
        </a:graphic>
      </p:graphicFrame>
      <p:sp>
        <p:nvSpPr>
          <p:cNvPr id="72713" name="Rectangle 9"/>
          <p:cNvSpPr>
            <a:spLocks noGrp="1" noChangeArrowheads="1"/>
          </p:cNvSpPr>
          <p:nvPr>
            <p:ph type="body" idx="1"/>
          </p:nvPr>
        </p:nvSpPr>
        <p:spPr>
          <a:xfrm>
            <a:off x="468313" y="4077072"/>
            <a:ext cx="7991475" cy="1655762"/>
          </a:xfrm>
        </p:spPr>
        <p:txBody>
          <a:bodyPr/>
          <a:lstStyle/>
          <a:p>
            <a:pPr algn="just" eaLnBrk="1" hangingPunct="1">
              <a:spcBef>
                <a:spcPct val="33000"/>
              </a:spcBef>
              <a:buFontTx/>
              <a:buChar char="•"/>
            </a:pPr>
            <a:r>
              <a:rPr lang="zh-CN" altLang="en-US" b="0" dirty="0" smtClean="0">
                <a:solidFill>
                  <a:srgbClr val="000000"/>
                </a:solidFill>
                <a:latin typeface="宋体" pitchFamily="2" charset="-122"/>
              </a:rPr>
              <a:t>若数列的</a:t>
            </a:r>
            <a:r>
              <a:rPr lang="zh-CN" altLang="en-US" dirty="0" smtClean="0">
                <a:solidFill>
                  <a:srgbClr val="000000"/>
                </a:solidFill>
                <a:latin typeface="宋体" pitchFamily="2" charset="-122"/>
              </a:rPr>
              <a:t>环比发展速度大致为一常数</a:t>
            </a:r>
            <a:r>
              <a:rPr lang="zh-CN" altLang="en-US" b="0" dirty="0" smtClean="0">
                <a:solidFill>
                  <a:srgbClr val="000000"/>
                </a:solidFill>
                <a:latin typeface="宋体" pitchFamily="2" charset="-122"/>
              </a:rPr>
              <a:t>，可对该数列拟合</a:t>
            </a:r>
            <a:r>
              <a:rPr lang="zh-CN" altLang="en-US" dirty="0" smtClean="0">
                <a:latin typeface="宋体" pitchFamily="2" charset="-122"/>
              </a:rPr>
              <a:t>指数曲线</a:t>
            </a:r>
            <a:r>
              <a:rPr lang="zh-CN" altLang="en-US" b="0" dirty="0" smtClean="0">
                <a:solidFill>
                  <a:srgbClr val="000000"/>
                </a:solidFill>
                <a:latin typeface="宋体" pitchFamily="2" charset="-122"/>
              </a:rPr>
              <a:t>。</a:t>
            </a:r>
          </a:p>
        </p:txBody>
      </p:sp>
      <p:graphicFrame>
        <p:nvGraphicFramePr>
          <p:cNvPr id="48131" name="Object 10"/>
          <p:cNvGraphicFramePr>
            <a:graphicFrameLocks noChangeAspect="1"/>
          </p:cNvGraphicFramePr>
          <p:nvPr>
            <p:extLst>
              <p:ext uri="{D42A27DB-BD31-4B8C-83A1-F6EECF244321}">
                <p14:modId xmlns:p14="http://schemas.microsoft.com/office/powerpoint/2010/main" val="3502899951"/>
              </p:ext>
            </p:extLst>
          </p:nvPr>
        </p:nvGraphicFramePr>
        <p:xfrm>
          <a:off x="1979712" y="2419351"/>
          <a:ext cx="5832475" cy="725487"/>
        </p:xfrm>
        <a:graphic>
          <a:graphicData uri="http://schemas.openxmlformats.org/presentationml/2006/ole">
            <mc:AlternateContent xmlns:mc="http://schemas.openxmlformats.org/markup-compatibility/2006">
              <mc:Choice xmlns:v="urn:schemas-microsoft-com:vml" Requires="v">
                <p:oleObj spid="_x0000_s48446" name="Equation" r:id="rId6" imgW="1650960" imgH="241200" progId="Equation.DSMT4">
                  <p:embed/>
                </p:oleObj>
              </mc:Choice>
              <mc:Fallback>
                <p:oleObj name="Equation" r:id="rId6" imgW="1650960" imgH="241200" progId="Equation.DSMT4">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79712" y="2419351"/>
                        <a:ext cx="5832475" cy="725487"/>
                      </a:xfrm>
                      <a:prstGeom prst="rect">
                        <a:avLst/>
                      </a:prstGeom>
                      <a:noFill/>
                      <a:extLst>
                        <a:ext uri="{909E8E84-426E-40DD-AFC4-6F175D3DCCD1}">
                          <a14:hiddenFill xmlns:a14="http://schemas.microsoft.com/office/drawing/2010/main">
                            <a:solidFill>
                              <a:schemeClr val="accent1"/>
                            </a:solidFill>
                          </a14:hiddenFill>
                        </a:ext>
                      </a:extLst>
                    </p:spPr>
                  </p:pic>
                </p:oleObj>
              </mc:Fallback>
            </mc:AlternateContent>
          </a:graphicData>
        </a:graphic>
      </p:graphicFrame>
      <p:sp>
        <p:nvSpPr>
          <p:cNvPr id="48137" name="Rectangle 11"/>
          <p:cNvSpPr>
            <a:spLocks noChangeArrowheads="1"/>
          </p:cNvSpPr>
          <p:nvPr/>
        </p:nvSpPr>
        <p:spPr bwMode="auto">
          <a:xfrm>
            <a:off x="971550" y="3356992"/>
            <a:ext cx="7065963" cy="958850"/>
          </a:xfrm>
          <a:prstGeom prst="rect">
            <a:avLst/>
          </a:prstGeom>
          <a:noFill/>
          <a:ln w="9525">
            <a:noFill/>
            <a:miter lim="800000"/>
            <a:headEnd/>
            <a:tailEnd/>
          </a:ln>
        </p:spPr>
        <p:txBody>
          <a:bodyPr wrap="none">
            <a:spAutoFit/>
          </a:bodyPr>
          <a:lstStyle/>
          <a:p>
            <a:pPr>
              <a:lnSpc>
                <a:spcPct val="105000"/>
              </a:lnSpc>
              <a:buFontTx/>
              <a:buChar char="•"/>
            </a:pPr>
            <a:r>
              <a:rPr lang="en-US" altLang="zh-CN" b="1" dirty="0"/>
              <a:t> </a:t>
            </a:r>
            <a:r>
              <a:rPr lang="zh-CN" altLang="en-US" b="1" dirty="0"/>
              <a:t>逐期增长量（一次差）大致为常数</a:t>
            </a:r>
            <a:r>
              <a:rPr lang="en-US" altLang="zh-CN" b="1" dirty="0"/>
              <a:t>,</a:t>
            </a:r>
            <a:r>
              <a:rPr lang="zh-CN" altLang="en-US" b="1" dirty="0"/>
              <a:t>拟合直线</a:t>
            </a:r>
          </a:p>
          <a:p>
            <a:pPr>
              <a:lnSpc>
                <a:spcPct val="105000"/>
              </a:lnSpc>
              <a:buFontTx/>
              <a:buChar char="•"/>
            </a:pPr>
            <a:r>
              <a:rPr lang="zh-CN" altLang="en-US" b="1" dirty="0"/>
              <a:t> 逐期增长量的增量（二次差）大致为常数</a:t>
            </a:r>
            <a:r>
              <a:rPr lang="en-US" altLang="zh-CN" b="1" dirty="0"/>
              <a:t>,</a:t>
            </a:r>
            <a:r>
              <a:rPr lang="zh-CN" altLang="en-US" b="1" dirty="0"/>
              <a:t>拟合二次曲线（抛物线）</a:t>
            </a:r>
          </a:p>
          <a:p>
            <a:pPr>
              <a:lnSpc>
                <a:spcPct val="105000"/>
              </a:lnSpc>
            </a:pPr>
            <a:endParaRPr lang="en-US" altLang="zh-CN" b="1" dirty="0"/>
          </a:p>
        </p:txBody>
      </p:sp>
      <p:graphicFrame>
        <p:nvGraphicFramePr>
          <p:cNvPr id="284676" name="Object 11"/>
          <p:cNvGraphicFramePr>
            <a:graphicFrameLocks noChangeAspect="1"/>
          </p:cNvGraphicFramePr>
          <p:nvPr>
            <p:extLst>
              <p:ext uri="{D42A27DB-BD31-4B8C-83A1-F6EECF244321}">
                <p14:modId xmlns:p14="http://schemas.microsoft.com/office/powerpoint/2010/main" val="1611497778"/>
              </p:ext>
            </p:extLst>
          </p:nvPr>
        </p:nvGraphicFramePr>
        <p:xfrm>
          <a:off x="755576" y="5301207"/>
          <a:ext cx="2637173" cy="1063377"/>
        </p:xfrm>
        <a:graphic>
          <a:graphicData uri="http://schemas.openxmlformats.org/presentationml/2006/ole">
            <mc:AlternateContent xmlns:mc="http://schemas.openxmlformats.org/markup-compatibility/2006">
              <mc:Choice xmlns:v="urn:schemas-microsoft-com:vml" Requires="v">
                <p:oleObj spid="_x0000_s48447" name="公式" r:id="rId8" imgW="571320" imgH="253800" progId="Equation.3">
                  <p:embed/>
                </p:oleObj>
              </mc:Choice>
              <mc:Fallback>
                <p:oleObj name="公式" r:id="rId8" imgW="571320" imgH="253800" progId="Equation.3">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5576" y="5301207"/>
                        <a:ext cx="2637173" cy="1063377"/>
                      </a:xfrm>
                      <a:prstGeom prst="rect">
                        <a:avLst/>
                      </a:prstGeom>
                      <a:noFill/>
                      <a:ln w="3175">
                        <a:solidFill>
                          <a:srgbClr val="666699"/>
                        </a:solidFill>
                        <a:miter lim="800000"/>
                        <a:headEnd/>
                        <a:tailEnd/>
                      </a:ln>
                      <a:extLst/>
                    </p:spPr>
                  </p:pic>
                </p:oleObj>
              </mc:Fallback>
            </mc:AlternateContent>
          </a:graphicData>
        </a:graphic>
      </p:graphicFrame>
      <p:sp>
        <p:nvSpPr>
          <p:cNvPr id="48138" name="TextBox 7"/>
          <p:cNvSpPr txBox="1">
            <a:spLocks noChangeArrowheads="1"/>
          </p:cNvSpPr>
          <p:nvPr/>
        </p:nvSpPr>
        <p:spPr bwMode="auto">
          <a:xfrm>
            <a:off x="2198018" y="2722363"/>
            <a:ext cx="285750" cy="431800"/>
          </a:xfrm>
          <a:prstGeom prst="rect">
            <a:avLst/>
          </a:prstGeom>
          <a:noFill/>
          <a:ln w="9525">
            <a:noFill/>
            <a:miter lim="800000"/>
            <a:headEnd/>
            <a:tailEnd/>
          </a:ln>
        </p:spPr>
        <p:txBody>
          <a:bodyPr>
            <a:spAutoFit/>
          </a:bodyPr>
          <a:lstStyle/>
          <a:p>
            <a:r>
              <a:rPr lang="en-US" altLang="zh-CN" sz="2200" b="1" i="1" dirty="0">
                <a:solidFill>
                  <a:srgbClr val="000000"/>
                </a:solidFill>
                <a:latin typeface="Times New Roman" pitchFamily="18" charset="0"/>
                <a:cs typeface="Times New Roman" pitchFamily="18" charset="0"/>
              </a:rPr>
              <a:t>t</a:t>
            </a:r>
            <a:endParaRPr lang="zh-CN" altLang="en-US" sz="2200" b="1" i="1" dirty="0">
              <a:solidFill>
                <a:srgbClr val="000000"/>
              </a:solidFill>
              <a:latin typeface="Times New Roman" pitchFamily="18" charset="0"/>
              <a:cs typeface="Times New Roman" pitchFamily="18" charset="0"/>
            </a:endParaRPr>
          </a:p>
        </p:txBody>
      </p:sp>
      <p:sp>
        <p:nvSpPr>
          <p:cNvPr id="48139" name="TextBox 7"/>
          <p:cNvSpPr txBox="1">
            <a:spLocks noChangeArrowheads="1"/>
          </p:cNvSpPr>
          <p:nvPr/>
        </p:nvSpPr>
        <p:spPr bwMode="auto">
          <a:xfrm>
            <a:off x="4438650" y="5732834"/>
            <a:ext cx="285750" cy="431800"/>
          </a:xfrm>
          <a:prstGeom prst="rect">
            <a:avLst/>
          </a:prstGeom>
          <a:noFill/>
          <a:ln w="9525">
            <a:noFill/>
            <a:miter lim="800000"/>
            <a:headEnd/>
            <a:tailEnd/>
          </a:ln>
        </p:spPr>
        <p:txBody>
          <a:bodyPr>
            <a:spAutoFit/>
          </a:bodyPr>
          <a:lstStyle/>
          <a:p>
            <a:r>
              <a:rPr lang="en-US" altLang="zh-CN" sz="2200" b="1" i="1" dirty="0">
                <a:solidFill>
                  <a:srgbClr val="000000"/>
                </a:solidFill>
                <a:latin typeface="Times New Roman" pitchFamily="18" charset="0"/>
                <a:cs typeface="Times New Roman" pitchFamily="18" charset="0"/>
              </a:rPr>
              <a:t>t</a:t>
            </a:r>
            <a:endParaRPr lang="zh-CN" altLang="en-US" sz="2200" b="1" i="1" dirty="0">
              <a:solidFill>
                <a:srgbClr val="000000"/>
              </a:solidFill>
              <a:latin typeface="Times New Roman" pitchFamily="18" charset="0"/>
              <a:cs typeface="Times New Roman" pitchFamily="18" charset="0"/>
            </a:endParaRPr>
          </a:p>
        </p:txBody>
      </p:sp>
      <p:sp>
        <p:nvSpPr>
          <p:cNvPr id="48140" name="日期占位符 11"/>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2713">
                                            <p:txEl>
                                              <p:pRg st="0" end="0"/>
                                            </p:txEl>
                                          </p:spTgt>
                                        </p:tgtEl>
                                        <p:attrNameLst>
                                          <p:attrName>style.visibility</p:attrName>
                                        </p:attrNameLst>
                                      </p:cBhvr>
                                      <p:to>
                                        <p:strVal val="visible"/>
                                      </p:to>
                                    </p:set>
                                    <p:animEffect transition="in" filter="wipe(left)">
                                      <p:cBhvr>
                                        <p:cTn id="7" dur="500"/>
                                        <p:tgtEl>
                                          <p:spTgt spid="72713">
                                            <p:txEl>
                                              <p:pRg st="0" end="0"/>
                                            </p:txEl>
                                          </p:spTgt>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284676"/>
                                        </p:tgtEl>
                                        <p:attrNameLst>
                                          <p:attrName>style.visibility</p:attrName>
                                        </p:attrNameLst>
                                      </p:cBhvr>
                                      <p:to>
                                        <p:strVal val="visible"/>
                                      </p:to>
                                    </p:set>
                                    <p:anim calcmode="lin" valueType="num">
                                      <p:cBhvr additive="base">
                                        <p:cTn id="11" dur="500" fill="hold"/>
                                        <p:tgtEl>
                                          <p:spTgt spid="284676"/>
                                        </p:tgtEl>
                                        <p:attrNameLst>
                                          <p:attrName>ppt_x</p:attrName>
                                        </p:attrNameLst>
                                      </p:cBhvr>
                                      <p:tavLst>
                                        <p:tav tm="0">
                                          <p:val>
                                            <p:strVal val="#ppt_x"/>
                                          </p:val>
                                        </p:tav>
                                        <p:tav tm="100000">
                                          <p:val>
                                            <p:strVal val="#ppt_x"/>
                                          </p:val>
                                        </p:tav>
                                      </p:tavLst>
                                    </p:anim>
                                    <p:anim calcmode="lin" valueType="num">
                                      <p:cBhvr additive="base">
                                        <p:cTn id="12" dur="500" fill="hold"/>
                                        <p:tgtEl>
                                          <p:spTgt spid="284676"/>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72712"/>
                                        </p:tgtEl>
                                        <p:attrNameLst>
                                          <p:attrName>style.visibility</p:attrName>
                                        </p:attrNameLst>
                                      </p:cBhvr>
                                      <p:to>
                                        <p:strVal val="visible"/>
                                      </p:to>
                                    </p:set>
                                    <p:animEffect transition="in" filter="wipe(left)">
                                      <p:cBhvr>
                                        <p:cTn id="16" dur="1000"/>
                                        <p:tgtEl>
                                          <p:spTgt spid="72712"/>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48139"/>
                                        </p:tgtEl>
                                        <p:attrNameLst>
                                          <p:attrName>style.visibility</p:attrName>
                                        </p:attrNameLst>
                                      </p:cBhvr>
                                      <p:to>
                                        <p:strVal val="visible"/>
                                      </p:to>
                                    </p:set>
                                    <p:animEffect transition="in" filter="wipe(left)">
                                      <p:cBhvr>
                                        <p:cTn id="19" dur="500"/>
                                        <p:tgtEl>
                                          <p:spTgt spid="48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13" grpId="0" build="p"/>
      <p:bldP spid="48139"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2"/>
          <p:cNvSpPr>
            <a:spLocks noGrp="1" noChangeArrowheads="1"/>
          </p:cNvSpPr>
          <p:nvPr>
            <p:ph type="title"/>
          </p:nvPr>
        </p:nvSpPr>
        <p:spPr>
          <a:xfrm>
            <a:off x="827088" y="404813"/>
            <a:ext cx="7772400" cy="990600"/>
          </a:xfrm>
        </p:spPr>
        <p:txBody>
          <a:bodyPr/>
          <a:lstStyle/>
          <a:p>
            <a:pPr eaLnBrk="1" hangingPunct="1"/>
            <a:r>
              <a:rPr lang="zh-CN" altLang="en-US" dirty="0" smtClean="0"/>
              <a:t>模型的选择（续）</a:t>
            </a:r>
          </a:p>
        </p:txBody>
      </p:sp>
      <p:sp>
        <p:nvSpPr>
          <p:cNvPr id="49157" name="Rectangle 3"/>
          <p:cNvSpPr>
            <a:spLocks noGrp="1" noChangeArrowheads="1"/>
          </p:cNvSpPr>
          <p:nvPr>
            <p:ph type="body" idx="1"/>
          </p:nvPr>
        </p:nvSpPr>
        <p:spPr>
          <a:xfrm>
            <a:off x="468313" y="1557338"/>
            <a:ext cx="8064500" cy="3097212"/>
          </a:xfrm>
          <a:noFill/>
        </p:spPr>
        <p:txBody>
          <a:bodyPr lIns="90488" tIns="44450" rIns="90488" bIns="44450"/>
          <a:lstStyle/>
          <a:p>
            <a:pPr marL="571500" algn="just" eaLnBrk="1" hangingPunct="1">
              <a:lnSpc>
                <a:spcPct val="120000"/>
              </a:lnSpc>
              <a:spcBef>
                <a:spcPct val="30000"/>
              </a:spcBef>
            </a:pPr>
            <a:r>
              <a:rPr lang="zh-CN" altLang="en-US" dirty="0" smtClean="0">
                <a:solidFill>
                  <a:srgbClr val="000000"/>
                </a:solidFill>
                <a:latin typeface="宋体" pitchFamily="2" charset="-122"/>
              </a:rPr>
              <a:t>若有多种曲线形式可供选择，则应选择其中</a:t>
            </a:r>
            <a:r>
              <a:rPr lang="zh-CN" altLang="en-US" dirty="0" smtClean="0">
                <a:latin typeface="宋体" pitchFamily="2" charset="-122"/>
              </a:rPr>
              <a:t>均方误差最小者</a:t>
            </a:r>
            <a:r>
              <a:rPr lang="zh-CN" altLang="en-US" dirty="0" smtClean="0">
                <a:solidFill>
                  <a:srgbClr val="000000"/>
                </a:solidFill>
                <a:latin typeface="宋体" pitchFamily="2" charset="-122"/>
              </a:rPr>
              <a:t>或</a:t>
            </a:r>
            <a:r>
              <a:rPr lang="zh-CN" altLang="en-US" dirty="0" smtClean="0">
                <a:solidFill>
                  <a:srgbClr val="7030A0"/>
                </a:solidFill>
                <a:latin typeface="宋体" pitchFamily="2" charset="-122"/>
              </a:rPr>
              <a:t>可决系数</a:t>
            </a:r>
            <a:r>
              <a:rPr lang="en-US" altLang="zh-CN" i="1" dirty="0" smtClean="0">
                <a:solidFill>
                  <a:srgbClr val="7030A0"/>
                </a:solidFill>
                <a:latin typeface="Times New Roman" pitchFamily="18" charset="0"/>
              </a:rPr>
              <a:t>R</a:t>
            </a:r>
            <a:r>
              <a:rPr lang="en-US" altLang="zh-CN" baseline="30000" dirty="0" smtClean="0">
                <a:solidFill>
                  <a:srgbClr val="7030A0"/>
                </a:solidFill>
                <a:latin typeface="宋体" pitchFamily="2" charset="-122"/>
              </a:rPr>
              <a:t>2</a:t>
            </a:r>
            <a:r>
              <a:rPr lang="zh-CN" altLang="en-US" dirty="0" smtClean="0">
                <a:solidFill>
                  <a:srgbClr val="7030A0"/>
                </a:solidFill>
                <a:latin typeface="宋体" pitchFamily="2" charset="-122"/>
              </a:rPr>
              <a:t>最大</a:t>
            </a:r>
            <a:r>
              <a:rPr lang="zh-CN" altLang="en-US" dirty="0" smtClean="0">
                <a:solidFill>
                  <a:srgbClr val="000000"/>
                </a:solidFill>
                <a:latin typeface="宋体" pitchFamily="2" charset="-122"/>
              </a:rPr>
              <a:t>者为宜。</a:t>
            </a:r>
          </a:p>
          <a:p>
            <a:pPr marL="571500" algn="just" eaLnBrk="1" hangingPunct="1">
              <a:lnSpc>
                <a:spcPct val="120000"/>
              </a:lnSpc>
              <a:spcBef>
                <a:spcPct val="30000"/>
              </a:spcBef>
            </a:pPr>
            <a:r>
              <a:rPr lang="zh-CN" altLang="en-US" dirty="0" smtClean="0">
                <a:solidFill>
                  <a:srgbClr val="FF00FF"/>
                </a:solidFill>
                <a:latin typeface="宋体" pitchFamily="2" charset="-122"/>
              </a:rPr>
              <a:t>  </a:t>
            </a:r>
            <a:r>
              <a:rPr lang="zh-CN" altLang="en-US" dirty="0">
                <a:latin typeface="宋体" pitchFamily="2" charset="-122"/>
              </a:rPr>
              <a:t>均方误差 </a:t>
            </a:r>
            <a:r>
              <a:rPr lang="en-US" altLang="zh-CN" dirty="0">
                <a:latin typeface="宋体" pitchFamily="2" charset="-122"/>
              </a:rPr>
              <a:t>MSE </a:t>
            </a:r>
            <a:r>
              <a:rPr lang="zh-CN" altLang="en-US" dirty="0" smtClean="0">
                <a:solidFill>
                  <a:srgbClr val="000000"/>
                </a:solidFill>
                <a:latin typeface="宋体" pitchFamily="2" charset="-122"/>
              </a:rPr>
              <a:t>的计算公式是：</a:t>
            </a:r>
          </a:p>
        </p:txBody>
      </p:sp>
      <p:graphicFrame>
        <p:nvGraphicFramePr>
          <p:cNvPr id="49154" name="Object 4"/>
          <p:cNvGraphicFramePr>
            <a:graphicFrameLocks noChangeAspect="1"/>
          </p:cNvGraphicFramePr>
          <p:nvPr>
            <p:extLst>
              <p:ext uri="{D42A27DB-BD31-4B8C-83A1-F6EECF244321}">
                <p14:modId xmlns:p14="http://schemas.microsoft.com/office/powerpoint/2010/main" val="3252672631"/>
              </p:ext>
            </p:extLst>
          </p:nvPr>
        </p:nvGraphicFramePr>
        <p:xfrm>
          <a:off x="2195736" y="4149080"/>
          <a:ext cx="4208462" cy="1391295"/>
        </p:xfrm>
        <a:graphic>
          <a:graphicData uri="http://schemas.openxmlformats.org/presentationml/2006/ole">
            <mc:AlternateContent xmlns:mc="http://schemas.openxmlformats.org/markup-compatibility/2006">
              <mc:Choice xmlns:v="urn:schemas-microsoft-com:vml" Requires="v">
                <p:oleObj spid="_x0000_s49259" name="Equation" r:id="rId3" imgW="1333440" imgH="419040" progId="Equation.3">
                  <p:embed/>
                </p:oleObj>
              </mc:Choice>
              <mc:Fallback>
                <p:oleObj name="Equation" r:id="rId3" imgW="1333440" imgH="41904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736" y="4149080"/>
                        <a:ext cx="4208462" cy="1391295"/>
                      </a:xfrm>
                      <a:prstGeom prst="rect">
                        <a:avLst/>
                      </a:prstGeom>
                      <a:noFill/>
                      <a:ln w="38100">
                        <a:noFill/>
                        <a:miter lim="800000"/>
                        <a:headEnd/>
                        <a:tailEnd/>
                      </a:ln>
                      <a:extLst/>
                    </p:spPr>
                  </p:pic>
                </p:oleObj>
              </mc:Fallback>
            </mc:AlternateContent>
          </a:graphicData>
        </a:graphic>
      </p:graphicFrame>
      <p:sp>
        <p:nvSpPr>
          <p:cNvPr id="49158" name="Rectangle 5"/>
          <p:cNvSpPr>
            <a:spLocks noChangeArrowheads="1"/>
          </p:cNvSpPr>
          <p:nvPr/>
        </p:nvSpPr>
        <p:spPr bwMode="auto">
          <a:xfrm>
            <a:off x="4932363" y="5734050"/>
            <a:ext cx="3527425" cy="535531"/>
          </a:xfrm>
          <a:prstGeom prst="rect">
            <a:avLst/>
          </a:prstGeom>
          <a:noFill/>
          <a:ln w="9525">
            <a:noFill/>
            <a:miter lim="800000"/>
            <a:headEnd/>
            <a:tailEnd/>
          </a:ln>
        </p:spPr>
        <p:txBody>
          <a:bodyPr>
            <a:spAutoFit/>
          </a:bodyPr>
          <a:lstStyle/>
          <a:p>
            <a:pPr>
              <a:lnSpc>
                <a:spcPct val="120000"/>
              </a:lnSpc>
              <a:spcBef>
                <a:spcPct val="30000"/>
              </a:spcBef>
              <a:buSzPct val="90000"/>
              <a:buFontTx/>
              <a:buBlip>
                <a:blip r:embed="rId5"/>
              </a:buBlip>
            </a:pPr>
            <a:r>
              <a:rPr lang="en-US" altLang="zh-CN" sz="2400" b="1" dirty="0"/>
              <a:t> </a:t>
            </a:r>
            <a:r>
              <a:rPr lang="en-US" altLang="zh-CN" sz="2400" b="1" i="1" dirty="0">
                <a:solidFill>
                  <a:srgbClr val="000000"/>
                </a:solidFill>
                <a:latin typeface="Times New Roman" pitchFamily="18" charset="0"/>
                <a:ea typeface="Arial Unicode MS" pitchFamily="34" charset="-122"/>
                <a:cs typeface="Times New Roman" pitchFamily="18" charset="0"/>
              </a:rPr>
              <a:t>m</a:t>
            </a:r>
            <a:r>
              <a:rPr lang="en-US" altLang="zh-CN" sz="2400" b="1" i="1" dirty="0">
                <a:solidFill>
                  <a:srgbClr val="000000"/>
                </a:solidFill>
                <a:latin typeface="Times New Roman" pitchFamily="18" charset="0"/>
                <a:cs typeface="Times New Roman" pitchFamily="18" charset="0"/>
              </a:rPr>
              <a:t> </a:t>
            </a:r>
            <a:r>
              <a:rPr lang="en-US" altLang="zh-CN" sz="2400" b="1" dirty="0"/>
              <a:t>= </a:t>
            </a:r>
            <a:r>
              <a:rPr lang="zh-CN" altLang="en-US" sz="2400" b="1" dirty="0"/>
              <a:t>模型中参数的个数</a:t>
            </a:r>
          </a:p>
        </p:txBody>
      </p:sp>
      <p:sp>
        <p:nvSpPr>
          <p:cNvPr id="49159" name="日期占位符 6"/>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1" name="Rectangle 2"/>
          <p:cNvSpPr>
            <a:spLocks noGrp="1" noChangeArrowheads="1"/>
          </p:cNvSpPr>
          <p:nvPr>
            <p:ph type="title"/>
          </p:nvPr>
        </p:nvSpPr>
        <p:spPr>
          <a:xfrm>
            <a:off x="900113" y="0"/>
            <a:ext cx="7772400" cy="1206500"/>
          </a:xfrm>
        </p:spPr>
        <p:txBody>
          <a:bodyPr/>
          <a:lstStyle/>
          <a:p>
            <a:pPr eaLnBrk="1" hangingPunct="1"/>
            <a:r>
              <a:rPr lang="zh-CN" altLang="en-US" sz="3600" dirty="0" smtClean="0">
                <a:latin typeface="宋体" pitchFamily="2" charset="-122"/>
              </a:rPr>
              <a:t>直线趋势模型的参数估计</a:t>
            </a:r>
          </a:p>
        </p:txBody>
      </p:sp>
      <p:sp>
        <p:nvSpPr>
          <p:cNvPr id="50182" name="Rectangle 3"/>
          <p:cNvSpPr>
            <a:spLocks noGrp="1" noChangeArrowheads="1"/>
          </p:cNvSpPr>
          <p:nvPr>
            <p:ph type="body" sz="half" idx="1"/>
          </p:nvPr>
        </p:nvSpPr>
        <p:spPr>
          <a:xfrm>
            <a:off x="762000" y="1524000"/>
            <a:ext cx="4170363" cy="825500"/>
          </a:xfrm>
        </p:spPr>
        <p:txBody>
          <a:bodyPr/>
          <a:lstStyle/>
          <a:p>
            <a:pPr marL="571500" indent="-571500" algn="just" eaLnBrk="1" hangingPunct="1">
              <a:spcBef>
                <a:spcPct val="0"/>
              </a:spcBef>
            </a:pPr>
            <a:r>
              <a:rPr lang="zh-CN" altLang="en-US" smtClean="0">
                <a:solidFill>
                  <a:srgbClr val="000000"/>
                </a:solidFill>
                <a:latin typeface="宋体" pitchFamily="2" charset="-122"/>
              </a:rPr>
              <a:t>直线趋势方程为： </a:t>
            </a:r>
          </a:p>
          <a:p>
            <a:pPr marL="571500" indent="-571500" algn="just" eaLnBrk="1" hangingPunct="1">
              <a:spcBef>
                <a:spcPct val="0"/>
              </a:spcBef>
            </a:pPr>
            <a:endParaRPr lang="zh-CN" altLang="en-US" smtClean="0">
              <a:solidFill>
                <a:srgbClr val="000000"/>
              </a:solidFill>
              <a:latin typeface="宋体" pitchFamily="2" charset="-122"/>
            </a:endParaRPr>
          </a:p>
          <a:p>
            <a:pPr marL="571500" indent="-571500" algn="just" eaLnBrk="1" hangingPunct="1">
              <a:spcBef>
                <a:spcPct val="0"/>
              </a:spcBef>
            </a:pPr>
            <a:endParaRPr lang="en-US" altLang="zh-CN" sz="2800" smtClean="0">
              <a:solidFill>
                <a:srgbClr val="000000"/>
              </a:solidFill>
            </a:endParaRPr>
          </a:p>
        </p:txBody>
      </p:sp>
      <p:graphicFrame>
        <p:nvGraphicFramePr>
          <p:cNvPr id="50178" name="Object 4"/>
          <p:cNvGraphicFramePr>
            <a:graphicFrameLocks noGrp="1" noChangeAspect="1"/>
          </p:cNvGraphicFramePr>
          <p:nvPr>
            <p:ph sz="quarter" idx="2"/>
          </p:nvPr>
        </p:nvGraphicFramePr>
        <p:xfrm>
          <a:off x="4860032" y="1484784"/>
          <a:ext cx="3010738" cy="1002829"/>
        </p:xfrm>
        <a:graphic>
          <a:graphicData uri="http://schemas.openxmlformats.org/presentationml/2006/ole">
            <mc:AlternateContent xmlns:mc="http://schemas.openxmlformats.org/markup-compatibility/2006">
              <mc:Choice xmlns:v="urn:schemas-microsoft-com:vml" Requires="v">
                <p:oleObj spid="_x0000_s50386" name="公式" r:id="rId3" imgW="685800" imgH="228600" progId="Equation.3">
                  <p:embed/>
                </p:oleObj>
              </mc:Choice>
              <mc:Fallback>
                <p:oleObj name="公式" r:id="rId3" imgW="685800" imgH="228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0032" y="1484784"/>
                        <a:ext cx="3010738" cy="10028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183" name="Text Box 5"/>
          <p:cNvSpPr txBox="1">
            <a:spLocks noChangeArrowheads="1"/>
          </p:cNvSpPr>
          <p:nvPr/>
        </p:nvSpPr>
        <p:spPr bwMode="auto">
          <a:xfrm>
            <a:off x="1331913" y="2781300"/>
            <a:ext cx="7010400" cy="3254375"/>
          </a:xfrm>
          <a:prstGeom prst="rect">
            <a:avLst/>
          </a:prstGeom>
          <a:noFill/>
          <a:ln w="12700">
            <a:noFill/>
            <a:miter lim="800000"/>
            <a:headEnd/>
            <a:tailEnd/>
          </a:ln>
        </p:spPr>
        <p:txBody>
          <a:bodyPr lIns="90000" tIns="46800" rIns="90000" bIns="46800">
            <a:spAutoFit/>
          </a:bodyPr>
          <a:lstStyle/>
          <a:p>
            <a:pPr algn="just" eaLnBrk="0" hangingPunct="0">
              <a:lnSpc>
                <a:spcPct val="110000"/>
              </a:lnSpc>
              <a:spcBef>
                <a:spcPct val="20000"/>
              </a:spcBef>
              <a:buClr>
                <a:schemeClr val="hlink"/>
              </a:buClr>
              <a:buFont typeface="Wingdings" pitchFamily="2" charset="2"/>
              <a:buChar char="§"/>
            </a:pPr>
            <a:r>
              <a:rPr kumimoji="1" lang="en-US" altLang="zh-CN" sz="2800" dirty="0">
                <a:solidFill>
                  <a:srgbClr val="000000"/>
                </a:solidFill>
                <a:latin typeface="Times New Roman" pitchFamily="18" charset="0"/>
              </a:rPr>
              <a:t>       </a:t>
            </a:r>
            <a:r>
              <a:rPr kumimoji="1" lang="zh-CN" altLang="en-US" sz="2800" dirty="0">
                <a:solidFill>
                  <a:srgbClr val="000000"/>
                </a:solidFill>
                <a:latin typeface="Times New Roman" pitchFamily="18" charset="0"/>
              </a:rPr>
              <a:t>代表时间 </a:t>
            </a:r>
            <a:r>
              <a:rPr kumimoji="1" lang="en-US" altLang="zh-CN" sz="2800" i="1" dirty="0">
                <a:solidFill>
                  <a:srgbClr val="000000"/>
                </a:solidFill>
                <a:latin typeface="Times New Roman" pitchFamily="18" charset="0"/>
              </a:rPr>
              <a:t>t </a:t>
            </a:r>
            <a:r>
              <a:rPr kumimoji="1" lang="zh-CN" altLang="en-US" sz="2800" dirty="0">
                <a:solidFill>
                  <a:srgbClr val="000000"/>
                </a:solidFill>
                <a:latin typeface="Times New Roman" pitchFamily="18" charset="0"/>
              </a:rPr>
              <a:t>的趋势值</a:t>
            </a:r>
          </a:p>
          <a:p>
            <a:pPr algn="just" eaLnBrk="0" hangingPunct="0">
              <a:lnSpc>
                <a:spcPct val="110000"/>
              </a:lnSpc>
              <a:spcBef>
                <a:spcPct val="20000"/>
              </a:spcBef>
              <a:buClr>
                <a:schemeClr val="hlink"/>
              </a:buClr>
              <a:buFont typeface="Wingdings" pitchFamily="2" charset="2"/>
              <a:buChar char="§"/>
            </a:pPr>
            <a:r>
              <a:rPr kumimoji="1" lang="zh-CN" altLang="en-US" sz="2800" b="1" i="1" dirty="0">
                <a:solidFill>
                  <a:srgbClr val="000000"/>
                </a:solidFill>
                <a:latin typeface="Times New Roman" pitchFamily="18" charset="0"/>
              </a:rPr>
              <a:t>  </a:t>
            </a:r>
            <a:r>
              <a:rPr kumimoji="1" lang="en-US" altLang="zh-CN" sz="2800" b="1" i="1" dirty="0">
                <a:solidFill>
                  <a:srgbClr val="000000"/>
                </a:solidFill>
                <a:latin typeface="Times New Roman" pitchFamily="18" charset="0"/>
              </a:rPr>
              <a:t>t  </a:t>
            </a:r>
            <a:r>
              <a:rPr kumimoji="1" lang="zh-CN" altLang="en-US" sz="2800" dirty="0">
                <a:solidFill>
                  <a:srgbClr val="000000"/>
                </a:solidFill>
                <a:latin typeface="Times New Roman" pitchFamily="18" charset="0"/>
              </a:rPr>
              <a:t>代表时间标号，常常取</a:t>
            </a:r>
            <a:r>
              <a:rPr kumimoji="1" lang="en-US" altLang="zh-CN" sz="2800" dirty="0">
                <a:solidFill>
                  <a:srgbClr val="000000"/>
                </a:solidFill>
                <a:latin typeface="Times New Roman" pitchFamily="18" charset="0"/>
              </a:rPr>
              <a:t>1</a:t>
            </a:r>
            <a:r>
              <a:rPr kumimoji="1" lang="zh-CN" altLang="en-US" sz="2800" dirty="0">
                <a:solidFill>
                  <a:srgbClr val="000000"/>
                </a:solidFill>
                <a:latin typeface="Times New Roman" pitchFamily="18" charset="0"/>
              </a:rPr>
              <a:t>、</a:t>
            </a:r>
            <a:r>
              <a:rPr kumimoji="1" lang="en-US" altLang="zh-CN" sz="2800" dirty="0">
                <a:solidFill>
                  <a:srgbClr val="000000"/>
                </a:solidFill>
                <a:latin typeface="Times New Roman" pitchFamily="18" charset="0"/>
              </a:rPr>
              <a:t>2</a:t>
            </a:r>
            <a:r>
              <a:rPr kumimoji="1" lang="zh-CN" altLang="en-US" sz="2800" dirty="0">
                <a:solidFill>
                  <a:srgbClr val="000000"/>
                </a:solidFill>
                <a:latin typeface="Times New Roman" pitchFamily="18" charset="0"/>
              </a:rPr>
              <a:t>、</a:t>
            </a:r>
            <a:r>
              <a:rPr kumimoji="1" lang="en-US" altLang="zh-CN" sz="2800" dirty="0">
                <a:solidFill>
                  <a:srgbClr val="000000"/>
                </a:solidFill>
                <a:latin typeface="Times New Roman" pitchFamily="18" charset="0"/>
              </a:rPr>
              <a:t>3</a:t>
            </a:r>
            <a:r>
              <a:rPr kumimoji="1" lang="zh-CN" altLang="en-US" sz="2800" dirty="0">
                <a:solidFill>
                  <a:srgbClr val="000000"/>
                </a:solidFill>
                <a:latin typeface="Times New Roman" pitchFamily="18" charset="0"/>
              </a:rPr>
              <a:t>、</a:t>
            </a:r>
            <a:r>
              <a:rPr kumimoji="1" lang="en-US" altLang="zh-CN" sz="2800" dirty="0">
                <a:solidFill>
                  <a:srgbClr val="000000"/>
                </a:solidFill>
                <a:latin typeface="Times New Roman" pitchFamily="18" charset="0"/>
              </a:rPr>
              <a:t>…n</a:t>
            </a:r>
            <a:r>
              <a:rPr kumimoji="1" lang="zh-CN" altLang="en-US" sz="2800" dirty="0">
                <a:solidFill>
                  <a:srgbClr val="000000"/>
                </a:solidFill>
                <a:latin typeface="Times New Roman" pitchFamily="18" charset="0"/>
              </a:rPr>
              <a:t>；</a:t>
            </a:r>
          </a:p>
          <a:p>
            <a:pPr algn="just" eaLnBrk="0" hangingPunct="0">
              <a:lnSpc>
                <a:spcPct val="110000"/>
              </a:lnSpc>
              <a:spcBef>
                <a:spcPct val="20000"/>
              </a:spcBef>
              <a:buClr>
                <a:schemeClr val="hlink"/>
              </a:buClr>
              <a:buFont typeface="Wingdings" pitchFamily="2" charset="2"/>
              <a:buChar char="§"/>
            </a:pPr>
            <a:r>
              <a:rPr kumimoji="1" lang="zh-CN" altLang="en-US" sz="2800" b="1" i="1" dirty="0">
                <a:solidFill>
                  <a:srgbClr val="000000"/>
                </a:solidFill>
                <a:latin typeface="Times New Roman" pitchFamily="18" charset="0"/>
              </a:rPr>
              <a:t> </a:t>
            </a:r>
            <a:r>
              <a:rPr kumimoji="1" lang="en-US" altLang="zh-CN" sz="2800" b="1" i="1" dirty="0">
                <a:solidFill>
                  <a:srgbClr val="000000"/>
                </a:solidFill>
                <a:latin typeface="Times New Roman" pitchFamily="18" charset="0"/>
              </a:rPr>
              <a:t>a</a:t>
            </a:r>
            <a:r>
              <a:rPr kumimoji="1" lang="en-US" altLang="zh-CN" sz="2800" i="1" dirty="0">
                <a:solidFill>
                  <a:srgbClr val="000000"/>
                </a:solidFill>
                <a:latin typeface="Arial Unicode MS" pitchFamily="34" charset="-122"/>
                <a:ea typeface="Arial Unicode MS" pitchFamily="34" charset="-122"/>
                <a:cs typeface="Arial Unicode MS" pitchFamily="34" charset="-122"/>
              </a:rPr>
              <a:t> </a:t>
            </a:r>
            <a:r>
              <a:rPr kumimoji="1" lang="zh-CN" altLang="en-US" sz="2800" dirty="0">
                <a:solidFill>
                  <a:srgbClr val="000000"/>
                </a:solidFill>
                <a:latin typeface="宋体" pitchFamily="2" charset="-122"/>
              </a:rPr>
              <a:t>、</a:t>
            </a:r>
            <a:r>
              <a:rPr kumimoji="1" lang="en-US" altLang="zh-CN" sz="2800" b="1" i="1" dirty="0">
                <a:solidFill>
                  <a:srgbClr val="000000"/>
                </a:solidFill>
                <a:latin typeface="宋体" pitchFamily="2" charset="-122"/>
              </a:rPr>
              <a:t>b</a:t>
            </a:r>
            <a:r>
              <a:rPr kumimoji="1" lang="zh-CN" altLang="en-US" sz="2800" dirty="0">
                <a:solidFill>
                  <a:srgbClr val="000000"/>
                </a:solidFill>
                <a:latin typeface="宋体" pitchFamily="2" charset="-122"/>
              </a:rPr>
              <a:t>为直线趋势方程的待估计参数。 </a:t>
            </a:r>
          </a:p>
          <a:p>
            <a:pPr lvl="1" algn="just" eaLnBrk="0" hangingPunct="0">
              <a:lnSpc>
                <a:spcPct val="110000"/>
              </a:lnSpc>
              <a:spcBef>
                <a:spcPct val="20000"/>
              </a:spcBef>
              <a:buClr>
                <a:schemeClr val="hlink"/>
              </a:buClr>
              <a:buFont typeface="Wingdings" pitchFamily="2" charset="2"/>
              <a:buChar char="§"/>
            </a:pPr>
            <a:r>
              <a:rPr kumimoji="1" lang="zh-CN" altLang="en-US" sz="2800" b="1" i="1" dirty="0">
                <a:solidFill>
                  <a:srgbClr val="000000"/>
                </a:solidFill>
                <a:latin typeface="Times New Roman" pitchFamily="18" charset="0"/>
              </a:rPr>
              <a:t> </a:t>
            </a:r>
            <a:r>
              <a:rPr kumimoji="1" lang="en-US" altLang="zh-CN" sz="2800" b="1" i="1" dirty="0">
                <a:solidFill>
                  <a:srgbClr val="FF00FF"/>
                </a:solidFill>
                <a:latin typeface="Times New Roman" pitchFamily="18" charset="0"/>
              </a:rPr>
              <a:t>a </a:t>
            </a:r>
            <a:r>
              <a:rPr kumimoji="1" lang="zh-CN" altLang="en-US" sz="2800" dirty="0">
                <a:solidFill>
                  <a:srgbClr val="000000"/>
                </a:solidFill>
                <a:latin typeface="Times New Roman" pitchFamily="18" charset="0"/>
              </a:rPr>
              <a:t>为趋势线在</a:t>
            </a:r>
            <a:r>
              <a:rPr kumimoji="1" lang="en-US" altLang="zh-CN" sz="2800" i="1" dirty="0">
                <a:solidFill>
                  <a:srgbClr val="000000"/>
                </a:solidFill>
                <a:latin typeface="Times New Roman" pitchFamily="18" charset="0"/>
              </a:rPr>
              <a:t>Y </a:t>
            </a:r>
            <a:r>
              <a:rPr kumimoji="1" lang="zh-CN" altLang="en-US" sz="2800" dirty="0">
                <a:solidFill>
                  <a:srgbClr val="000000"/>
                </a:solidFill>
                <a:latin typeface="Times New Roman" pitchFamily="18" charset="0"/>
              </a:rPr>
              <a:t>轴上的截距；</a:t>
            </a:r>
          </a:p>
          <a:p>
            <a:pPr lvl="1" algn="just" eaLnBrk="0" hangingPunct="0">
              <a:lnSpc>
                <a:spcPct val="110000"/>
              </a:lnSpc>
              <a:spcBef>
                <a:spcPct val="20000"/>
              </a:spcBef>
              <a:buClr>
                <a:schemeClr val="hlink"/>
              </a:buClr>
              <a:buFont typeface="Wingdings" pitchFamily="2" charset="2"/>
              <a:buChar char="§"/>
            </a:pPr>
            <a:r>
              <a:rPr kumimoji="1" lang="zh-CN" altLang="en-US" sz="2800" b="1" i="1" dirty="0">
                <a:solidFill>
                  <a:srgbClr val="000000"/>
                </a:solidFill>
                <a:latin typeface="Times New Roman" pitchFamily="18" charset="0"/>
              </a:rPr>
              <a:t> </a:t>
            </a:r>
            <a:r>
              <a:rPr kumimoji="1" lang="en-US" altLang="zh-CN" sz="2800" b="1" i="1" dirty="0">
                <a:solidFill>
                  <a:srgbClr val="FF00FF"/>
                </a:solidFill>
                <a:latin typeface="Times New Roman" pitchFamily="18" charset="0"/>
              </a:rPr>
              <a:t>b</a:t>
            </a:r>
            <a:r>
              <a:rPr kumimoji="1" lang="en-US" altLang="zh-CN" sz="2800" i="1" dirty="0">
                <a:solidFill>
                  <a:srgbClr val="FF00FF"/>
                </a:solidFill>
                <a:latin typeface="Times New Roman" pitchFamily="18" charset="0"/>
              </a:rPr>
              <a:t> </a:t>
            </a:r>
            <a:r>
              <a:rPr kumimoji="1" lang="zh-CN" altLang="en-US" sz="2800" dirty="0">
                <a:solidFill>
                  <a:srgbClr val="000000"/>
                </a:solidFill>
                <a:latin typeface="Times New Roman" pitchFamily="18" charset="0"/>
              </a:rPr>
              <a:t>是趋势线的斜率，表示时间 </a:t>
            </a:r>
            <a:r>
              <a:rPr kumimoji="1" lang="en-US" altLang="zh-CN" sz="2800" b="1" i="1" dirty="0">
                <a:solidFill>
                  <a:srgbClr val="000000"/>
                </a:solidFill>
                <a:latin typeface="Times New Roman" pitchFamily="18" charset="0"/>
              </a:rPr>
              <a:t>t</a:t>
            </a:r>
            <a:r>
              <a:rPr kumimoji="1" lang="en-US" altLang="zh-CN" sz="2800" i="1" dirty="0">
                <a:solidFill>
                  <a:srgbClr val="000000"/>
                </a:solidFill>
                <a:latin typeface="Times New Roman" pitchFamily="18" charset="0"/>
              </a:rPr>
              <a:t>  </a:t>
            </a:r>
            <a:r>
              <a:rPr kumimoji="1" lang="zh-CN" altLang="en-US" sz="2800" dirty="0">
                <a:solidFill>
                  <a:srgbClr val="000000"/>
                </a:solidFill>
                <a:latin typeface="Times New Roman" pitchFamily="18" charset="0"/>
              </a:rPr>
              <a:t>变动一个单位时趋势值的平均变动数量；</a:t>
            </a:r>
          </a:p>
        </p:txBody>
      </p:sp>
      <p:graphicFrame>
        <p:nvGraphicFramePr>
          <p:cNvPr id="50179" name="Object 6"/>
          <p:cNvGraphicFramePr>
            <a:graphicFrameLocks noGrp="1" noChangeAspect="1"/>
          </p:cNvGraphicFramePr>
          <p:nvPr>
            <p:ph sz="quarter" idx="3"/>
          </p:nvPr>
        </p:nvGraphicFramePr>
        <p:xfrm>
          <a:off x="1619250" y="2665413"/>
          <a:ext cx="508000" cy="703262"/>
        </p:xfrm>
        <a:graphic>
          <a:graphicData uri="http://schemas.openxmlformats.org/presentationml/2006/ole">
            <mc:AlternateContent xmlns:mc="http://schemas.openxmlformats.org/markup-compatibility/2006">
              <mc:Choice xmlns:v="urn:schemas-microsoft-com:vml" Requires="v">
                <p:oleObj spid="_x0000_s50387" name="公式" r:id="rId5" imgW="164880" imgH="228600" progId="Equation.3">
                  <p:embed/>
                </p:oleObj>
              </mc:Choice>
              <mc:Fallback>
                <p:oleObj name="公式" r:id="rId5" imgW="164880" imgH="2286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9250" y="2665413"/>
                        <a:ext cx="508000" cy="703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184" name="日期占位符 7"/>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8898" name="Picture 2" descr="C:\Users\Administrator\Desktop\捕获1.PNG"/>
          <p:cNvPicPr>
            <a:picLocks noChangeAspect="1" noChangeArrowheads="1"/>
          </p:cNvPicPr>
          <p:nvPr/>
        </p:nvPicPr>
        <p:blipFill>
          <a:blip r:embed="rId4" cstate="print"/>
          <a:srcRect/>
          <a:stretch>
            <a:fillRect/>
          </a:stretch>
        </p:blipFill>
        <p:spPr bwMode="auto">
          <a:xfrm>
            <a:off x="827584" y="980728"/>
            <a:ext cx="7877832" cy="43204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nvGrpSpPr>
          <p:cNvPr id="2" name="Group 20"/>
          <p:cNvGrpSpPr>
            <a:grpSpLocks/>
          </p:cNvGrpSpPr>
          <p:nvPr/>
        </p:nvGrpSpPr>
        <p:grpSpPr bwMode="auto">
          <a:xfrm>
            <a:off x="1115616" y="1361831"/>
            <a:ext cx="7345364" cy="3271157"/>
            <a:chOff x="793" y="890"/>
            <a:chExt cx="4627" cy="2404"/>
          </a:xfrm>
        </p:grpSpPr>
        <p:graphicFrame>
          <p:nvGraphicFramePr>
            <p:cNvPr id="9" name="Object 21"/>
            <p:cNvGraphicFramePr>
              <a:graphicFrameLocks noChangeAspect="1"/>
            </p:cNvGraphicFramePr>
            <p:nvPr/>
          </p:nvGraphicFramePr>
          <p:xfrm>
            <a:off x="3106" y="980"/>
            <a:ext cx="1089" cy="352"/>
          </p:xfrm>
          <a:graphic>
            <a:graphicData uri="http://schemas.openxmlformats.org/presentationml/2006/ole">
              <mc:AlternateContent xmlns:mc="http://schemas.openxmlformats.org/markup-compatibility/2006">
                <mc:Choice xmlns:v="urn:schemas-microsoft-com:vml" Requires="v">
                  <p:oleObj spid="_x0000_s213206" name="Equation" r:id="rId5" imgW="685800" imgH="215640" progId="Equation.DSMT4">
                    <p:embed/>
                  </p:oleObj>
                </mc:Choice>
                <mc:Fallback>
                  <p:oleObj name="Equation" r:id="rId5" imgW="685800" imgH="215640" progId="Equation.DSMT4">
                    <p:embed/>
                    <p:pic>
                      <p:nvPicPr>
                        <p:cNvPr id="0" name="Object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06" y="980"/>
                          <a:ext cx="1089" cy="352"/>
                        </a:xfrm>
                        <a:prstGeom prst="rect">
                          <a:avLst/>
                        </a:prstGeom>
                        <a:noFill/>
                        <a:extLst>
                          <a:ext uri="{909E8E84-426E-40DD-AFC4-6F175D3DCCD1}">
                            <a14:hiddenFill xmlns:a14="http://schemas.microsoft.com/office/drawing/2010/main">
                              <a:solidFill>
                                <a:schemeClr val="accent2"/>
                              </a:solidFill>
                            </a14:hiddenFill>
                          </a:ext>
                        </a:extLst>
                      </p:spPr>
                    </p:pic>
                  </p:oleObj>
                </mc:Fallback>
              </mc:AlternateContent>
            </a:graphicData>
          </a:graphic>
        </p:graphicFrame>
        <p:sp>
          <p:nvSpPr>
            <p:cNvPr id="10" name="Line 22"/>
            <p:cNvSpPr>
              <a:spLocks noChangeShapeType="1"/>
            </p:cNvSpPr>
            <p:nvPr/>
          </p:nvSpPr>
          <p:spPr bwMode="auto">
            <a:xfrm flipV="1">
              <a:off x="793" y="890"/>
              <a:ext cx="4627" cy="2404"/>
            </a:xfrm>
            <a:prstGeom prst="line">
              <a:avLst/>
            </a:prstGeom>
            <a:noFill/>
            <a:ln w="57150">
              <a:solidFill>
                <a:srgbClr val="FF0000"/>
              </a:solidFill>
              <a:round/>
              <a:headEnd/>
              <a:tailEnd/>
            </a:ln>
            <a:effectLst>
              <a:outerShdw dist="35921" dir="2700000" algn="ctr" rotWithShape="0">
                <a:schemeClr val="bg2"/>
              </a:outerShdw>
            </a:effectLst>
          </p:spPr>
          <p:txBody>
            <a:bodyPr/>
            <a:lstStyle/>
            <a:p>
              <a:pPr>
                <a:defRPr/>
              </a:pPr>
              <a:endParaRPr lang="zh-CN" altLang="en-US"/>
            </a:p>
          </p:txBody>
        </p:sp>
        <p:sp>
          <p:nvSpPr>
            <p:cNvPr id="11" name="Line 23"/>
            <p:cNvSpPr>
              <a:spLocks noChangeShapeType="1"/>
            </p:cNvSpPr>
            <p:nvPr/>
          </p:nvSpPr>
          <p:spPr bwMode="auto">
            <a:xfrm>
              <a:off x="3651" y="1298"/>
              <a:ext cx="363" cy="363"/>
            </a:xfrm>
            <a:prstGeom prst="line">
              <a:avLst/>
            </a:prstGeom>
            <a:noFill/>
            <a:ln w="76200">
              <a:solidFill>
                <a:srgbClr val="7030A0"/>
              </a:solidFill>
              <a:round/>
              <a:headEnd/>
              <a:tailEnd type="triangle" w="med" len="med"/>
            </a:ln>
          </p:spPr>
          <p:txBody>
            <a:bodyPr/>
            <a:lstStyle/>
            <a:p>
              <a:endParaRPr lang="zh-CN" altLang="en-US"/>
            </a:p>
          </p:txBody>
        </p:sp>
      </p:grpSp>
      <p:sp>
        <p:nvSpPr>
          <p:cNvPr id="13" name="Rectangle 2"/>
          <p:cNvSpPr>
            <a:spLocks noGrp="1" noChangeArrowheads="1"/>
          </p:cNvSpPr>
          <p:nvPr>
            <p:ph type="title"/>
          </p:nvPr>
        </p:nvSpPr>
        <p:spPr>
          <a:xfrm>
            <a:off x="755650" y="188913"/>
            <a:ext cx="7772400" cy="990600"/>
          </a:xfrm>
          <a:noFill/>
        </p:spPr>
        <p:txBody>
          <a:bodyPr lIns="90488" tIns="44450" rIns="90488" bIns="44450" anchor="ctr" anchorCtr="1"/>
          <a:lstStyle/>
          <a:p>
            <a:pPr eaLnBrk="1" hangingPunct="1"/>
            <a:r>
              <a:rPr lang="zh-CN" altLang="en-US" sz="4000" dirty="0" smtClean="0"/>
              <a:t>观察点与趋势线（图示</a:t>
            </a:r>
            <a:r>
              <a:rPr lang="en-US" altLang="zh-CN" sz="4000" dirty="0" smtClean="0"/>
              <a:t>1</a:t>
            </a:r>
            <a:r>
              <a:rPr lang="zh-CN" altLang="en-US" sz="4000" dirty="0" smtClean="0"/>
              <a:t>）</a:t>
            </a:r>
          </a:p>
        </p:txBody>
      </p:sp>
      <p:sp>
        <p:nvSpPr>
          <p:cNvPr id="16" name="TextBox 15"/>
          <p:cNvSpPr txBox="1"/>
          <p:nvPr/>
        </p:nvSpPr>
        <p:spPr>
          <a:xfrm>
            <a:off x="683568" y="836712"/>
            <a:ext cx="288032" cy="646331"/>
          </a:xfrm>
          <a:prstGeom prst="rect">
            <a:avLst/>
          </a:prstGeom>
          <a:noFill/>
        </p:spPr>
        <p:txBody>
          <a:bodyPr wrap="square" rtlCol="0">
            <a:spAutoFit/>
          </a:bodyPr>
          <a:lstStyle/>
          <a:p>
            <a:r>
              <a:rPr lang="en-US" altLang="zh-CN" sz="3600" b="1" i="1" dirty="0" smtClean="0">
                <a:solidFill>
                  <a:srgbClr val="000000"/>
                </a:solidFill>
                <a:latin typeface="Times New Roman" pitchFamily="18" charset="0"/>
                <a:cs typeface="Times New Roman" pitchFamily="18" charset="0"/>
              </a:rPr>
              <a:t>y</a:t>
            </a:r>
            <a:endParaRPr lang="zh-CN" altLang="en-US" sz="3600" b="1" i="1" dirty="0">
              <a:solidFill>
                <a:srgbClr val="000000"/>
              </a:solidFill>
              <a:latin typeface="Times New Roman" pitchFamily="18" charset="0"/>
              <a:cs typeface="Times New Roman" pitchFamily="18" charset="0"/>
            </a:endParaRPr>
          </a:p>
        </p:txBody>
      </p:sp>
      <p:sp>
        <p:nvSpPr>
          <p:cNvPr id="17" name="TextBox 16"/>
          <p:cNvSpPr txBox="1"/>
          <p:nvPr/>
        </p:nvSpPr>
        <p:spPr>
          <a:xfrm>
            <a:off x="8388424" y="4932457"/>
            <a:ext cx="288032" cy="584775"/>
          </a:xfrm>
          <a:prstGeom prst="rect">
            <a:avLst/>
          </a:prstGeom>
          <a:noFill/>
        </p:spPr>
        <p:txBody>
          <a:bodyPr wrap="square" rtlCol="0">
            <a:spAutoFit/>
          </a:bodyPr>
          <a:lstStyle/>
          <a:p>
            <a:r>
              <a:rPr lang="en-US" altLang="zh-CN" sz="3200" b="1" i="1" dirty="0" smtClean="0">
                <a:solidFill>
                  <a:srgbClr val="000000"/>
                </a:solidFill>
                <a:latin typeface="Times New Roman" pitchFamily="18" charset="0"/>
                <a:cs typeface="Times New Roman" pitchFamily="18" charset="0"/>
              </a:rPr>
              <a:t>t</a:t>
            </a:r>
            <a:endParaRPr lang="zh-CN" altLang="en-US" sz="3200" b="1" i="1" dirty="0">
              <a:solidFill>
                <a:srgbClr val="000000"/>
              </a:solidFill>
              <a:latin typeface="Times New Roman" pitchFamily="18" charset="0"/>
              <a:cs typeface="Times New Roman" pitchFamily="18" charset="0"/>
            </a:endParaRPr>
          </a:p>
        </p:txBody>
      </p:sp>
      <p:sp>
        <p:nvSpPr>
          <p:cNvPr id="18" name="Rectangle 3"/>
          <p:cNvSpPr>
            <a:spLocks noChangeArrowheads="1"/>
          </p:cNvSpPr>
          <p:nvPr/>
        </p:nvSpPr>
        <p:spPr bwMode="auto">
          <a:xfrm>
            <a:off x="617768" y="5662488"/>
            <a:ext cx="8297464" cy="553998"/>
          </a:xfrm>
          <a:prstGeom prst="rect">
            <a:avLst/>
          </a:prstGeom>
          <a:noFill/>
          <a:ln w="12700">
            <a:noFill/>
            <a:miter lim="800000"/>
            <a:headEnd/>
            <a:tailEnd/>
          </a:ln>
        </p:spPr>
        <p:txBody>
          <a:bodyPr wrap="none">
            <a:spAutoFit/>
          </a:bodyPr>
          <a:lstStyle/>
          <a:p>
            <a:pPr algn="ctr" eaLnBrk="0" hangingPunct="0"/>
            <a:r>
              <a:rPr kumimoji="1" lang="zh-CN" altLang="en-US" sz="3000" b="1" dirty="0">
                <a:solidFill>
                  <a:srgbClr val="C00000"/>
                </a:solidFill>
                <a:latin typeface="Times New Roman" pitchFamily="18" charset="0"/>
              </a:rPr>
              <a:t>理想的趋势线应该尽可能接近各个实际观察点。</a:t>
            </a:r>
          </a:p>
        </p:txBody>
      </p:sp>
      <p:sp>
        <p:nvSpPr>
          <p:cNvPr id="19" name="Text Box 21"/>
          <p:cNvSpPr txBox="1">
            <a:spLocks noChangeArrowheads="1"/>
          </p:cNvSpPr>
          <p:nvPr/>
        </p:nvSpPr>
        <p:spPr bwMode="auto">
          <a:xfrm>
            <a:off x="3276029" y="2132856"/>
            <a:ext cx="1223963" cy="519113"/>
          </a:xfrm>
          <a:prstGeom prst="rect">
            <a:avLst/>
          </a:prstGeom>
          <a:noFill/>
          <a:ln w="12700">
            <a:noFill/>
            <a:miter lim="800000"/>
            <a:headEnd/>
            <a:tailEnd/>
          </a:ln>
        </p:spPr>
        <p:txBody>
          <a:bodyPr>
            <a:spAutoFit/>
          </a:bodyPr>
          <a:lstStyle/>
          <a:p>
            <a:pPr algn="ctr" eaLnBrk="0" hangingPunct="0">
              <a:spcBef>
                <a:spcPct val="50000"/>
              </a:spcBef>
            </a:pPr>
            <a:r>
              <a:rPr kumimoji="1" lang="en-US" altLang="zh-CN" sz="2800" b="1" dirty="0">
                <a:solidFill>
                  <a:srgbClr val="3333FF"/>
                </a:solidFill>
                <a:latin typeface="Times New Roman" pitchFamily="18" charset="0"/>
              </a:rPr>
              <a:t>(</a:t>
            </a:r>
            <a:r>
              <a:rPr kumimoji="1" lang="en-US" altLang="zh-CN" sz="2800" b="1" i="1" dirty="0" err="1">
                <a:solidFill>
                  <a:srgbClr val="3333FF"/>
                </a:solidFill>
                <a:latin typeface="Times New Roman" pitchFamily="18" charset="0"/>
              </a:rPr>
              <a:t>i</a:t>
            </a:r>
            <a:r>
              <a:rPr kumimoji="1" lang="en-US" altLang="zh-CN" sz="2800" b="1" i="1" baseline="-25000" dirty="0">
                <a:solidFill>
                  <a:srgbClr val="3333FF"/>
                </a:solidFill>
                <a:latin typeface="Times New Roman" pitchFamily="18" charset="0"/>
              </a:rPr>
              <a:t> </a:t>
            </a:r>
            <a:r>
              <a:rPr kumimoji="1" lang="en-US" altLang="zh-CN" sz="2800" b="1" dirty="0">
                <a:solidFill>
                  <a:srgbClr val="3333FF"/>
                </a:solidFill>
                <a:latin typeface="Times New Roman" pitchFamily="18" charset="0"/>
              </a:rPr>
              <a:t>, </a:t>
            </a:r>
            <a:r>
              <a:rPr kumimoji="1" lang="en-US" altLang="zh-CN" sz="2800" b="1" dirty="0" err="1">
                <a:solidFill>
                  <a:srgbClr val="3333FF"/>
                </a:solidFill>
                <a:latin typeface="Times New Roman" pitchFamily="18" charset="0"/>
              </a:rPr>
              <a:t>y</a:t>
            </a:r>
            <a:r>
              <a:rPr kumimoji="1" lang="en-US" altLang="zh-CN" sz="2800" b="1" i="1" baseline="-25000" dirty="0" err="1">
                <a:solidFill>
                  <a:srgbClr val="3333FF"/>
                </a:solidFill>
                <a:latin typeface="Times New Roman" pitchFamily="18" charset="0"/>
              </a:rPr>
              <a:t>i</a:t>
            </a:r>
            <a:r>
              <a:rPr kumimoji="1" lang="en-US" altLang="zh-CN" sz="2800" b="1" baseline="-25000" dirty="0">
                <a:solidFill>
                  <a:srgbClr val="3333FF"/>
                </a:solidFill>
                <a:latin typeface="Times New Roman" pitchFamily="18" charset="0"/>
              </a:rPr>
              <a:t> </a:t>
            </a:r>
            <a:r>
              <a:rPr kumimoji="1" lang="en-US" altLang="zh-CN" sz="2800" b="1" dirty="0">
                <a:solidFill>
                  <a:srgbClr val="3333FF"/>
                </a:solidFill>
                <a:latin typeface="Times New Roman" pitchFamily="18" charset="0"/>
              </a:rPr>
              <a:t>)</a:t>
            </a:r>
          </a:p>
        </p:txBody>
      </p:sp>
      <p:graphicFrame>
        <p:nvGraphicFramePr>
          <p:cNvPr id="22" name="Object 24"/>
          <p:cNvGraphicFramePr>
            <a:graphicFrameLocks noChangeAspect="1"/>
          </p:cNvGraphicFramePr>
          <p:nvPr/>
        </p:nvGraphicFramePr>
        <p:xfrm>
          <a:off x="1835696" y="2564904"/>
          <a:ext cx="1524000" cy="792088"/>
        </p:xfrm>
        <a:graphic>
          <a:graphicData uri="http://schemas.openxmlformats.org/presentationml/2006/ole">
            <mc:AlternateContent xmlns:mc="http://schemas.openxmlformats.org/markup-compatibility/2006">
              <mc:Choice xmlns:v="urn:schemas-microsoft-com:vml" Requires="v">
                <p:oleObj spid="_x0000_s213207" name="公式" r:id="rId7" imgW="685800" imgH="228600" progId="Equation.3">
                  <p:embed/>
                </p:oleObj>
              </mc:Choice>
              <mc:Fallback>
                <p:oleObj name="公式" r:id="rId7" imgW="685800" imgH="228600" progId="Equation.3">
                  <p:embed/>
                  <p:pic>
                    <p:nvPicPr>
                      <p:cNvPr id="0" name="Object 2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35696" y="2564904"/>
                        <a:ext cx="1524000" cy="792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Line 20"/>
          <p:cNvSpPr>
            <a:spLocks noChangeShapeType="1"/>
          </p:cNvSpPr>
          <p:nvPr/>
        </p:nvSpPr>
        <p:spPr bwMode="auto">
          <a:xfrm>
            <a:off x="3834000" y="2780928"/>
            <a:ext cx="0" cy="684000"/>
          </a:xfrm>
          <a:prstGeom prst="line">
            <a:avLst/>
          </a:prstGeom>
          <a:noFill/>
          <a:ln w="57150">
            <a:solidFill>
              <a:srgbClr val="3333FF"/>
            </a:solidFill>
            <a:round/>
            <a:headEnd/>
            <a:tailEnd/>
          </a:ln>
        </p:spPr>
        <p:txBody>
          <a:bodyPr/>
          <a:lstStyle/>
          <a:p>
            <a:endParaRPr lang="zh-CN" altLang="en-US"/>
          </a:p>
        </p:txBody>
      </p:sp>
      <p:sp>
        <p:nvSpPr>
          <p:cNvPr id="24" name="TextBox 23"/>
          <p:cNvSpPr txBox="1"/>
          <p:nvPr/>
        </p:nvSpPr>
        <p:spPr>
          <a:xfrm>
            <a:off x="3707904" y="5148481"/>
            <a:ext cx="288032" cy="584775"/>
          </a:xfrm>
          <a:prstGeom prst="rect">
            <a:avLst/>
          </a:prstGeom>
          <a:noFill/>
        </p:spPr>
        <p:txBody>
          <a:bodyPr wrap="square" rtlCol="0">
            <a:spAutoFit/>
          </a:bodyPr>
          <a:lstStyle/>
          <a:p>
            <a:r>
              <a:rPr lang="en-US" altLang="zh-CN" sz="3200" b="1" i="1" dirty="0" err="1" smtClean="0">
                <a:solidFill>
                  <a:srgbClr val="3333FF"/>
                </a:solidFill>
                <a:latin typeface="Times New Roman" pitchFamily="18" charset="0"/>
                <a:cs typeface="Times New Roman" pitchFamily="18" charset="0"/>
              </a:rPr>
              <a:t>i</a:t>
            </a:r>
            <a:endParaRPr lang="zh-CN" altLang="en-US" sz="3200" b="1" i="1" dirty="0">
              <a:solidFill>
                <a:srgbClr val="3333FF"/>
              </a:solidFill>
              <a:latin typeface="Times New Roman" pitchFamily="18" charset="0"/>
              <a:cs typeface="Times New Roman" pitchFamily="18" charset="0"/>
            </a:endParaRPr>
          </a:p>
        </p:txBody>
      </p:sp>
      <p:sp>
        <p:nvSpPr>
          <p:cNvPr id="25" name="椭圆 24"/>
          <p:cNvSpPr/>
          <p:nvPr/>
        </p:nvSpPr>
        <p:spPr>
          <a:xfrm>
            <a:off x="3743928" y="2600928"/>
            <a:ext cx="180000" cy="180000"/>
          </a:xfrm>
          <a:prstGeom prst="ellipse">
            <a:avLst/>
          </a:prstGeom>
          <a:solidFill>
            <a:srgbClr val="FFC000"/>
          </a:solidFill>
          <a:ln w="2222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左大括号 25"/>
          <p:cNvSpPr/>
          <p:nvPr/>
        </p:nvSpPr>
        <p:spPr>
          <a:xfrm>
            <a:off x="3419872" y="2780928"/>
            <a:ext cx="360040" cy="648072"/>
          </a:xfrm>
          <a:prstGeom prst="leftBrace">
            <a:avLst/>
          </a:prstGeom>
          <a:ln w="28575">
            <a:solidFill>
              <a:srgbClr val="0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solidFill>
                <a:srgbClr val="00206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1000"/>
                                        <p:tgtEl>
                                          <p:spTgt spid="2"/>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1000"/>
                                        <p:tgtEl>
                                          <p:spTgt spid="18"/>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blinds(horizontal)">
                                      <p:cBhvr>
                                        <p:cTn id="16" dur="500"/>
                                        <p:tgtEl>
                                          <p:spTgt spid="25"/>
                                        </p:tgtEl>
                                      </p:cBhvr>
                                    </p:animEffect>
                                  </p:childTnLst>
                                </p:cTn>
                              </p:par>
                            </p:childTnLst>
                          </p:cTn>
                        </p:par>
                        <p:par>
                          <p:cTn id="17" fill="hold">
                            <p:stCondLst>
                              <p:cond delay="500"/>
                            </p:stCondLst>
                            <p:childTnLst>
                              <p:par>
                                <p:cTn id="18" presetID="3" presetClass="entr" presetSubtype="10" fill="hold" grpId="0" nodeType="after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blinds(horizontal)">
                                      <p:cBhvr>
                                        <p:cTn id="20" dur="500"/>
                                        <p:tgtEl>
                                          <p:spTgt spid="19"/>
                                        </p:tgtEl>
                                      </p:cBhvr>
                                    </p:animEffect>
                                  </p:childTnLst>
                                </p:cTn>
                              </p:par>
                            </p:childTnLst>
                          </p:cTn>
                        </p:par>
                        <p:par>
                          <p:cTn id="21" fill="hold">
                            <p:stCondLst>
                              <p:cond delay="1000"/>
                            </p:stCondLst>
                            <p:childTnLst>
                              <p:par>
                                <p:cTn id="22" presetID="22" presetClass="entr" presetSubtype="1" fill="hold" grpId="0" nodeType="after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wipe(up)">
                                      <p:cBhvr>
                                        <p:cTn id="24" dur="2000"/>
                                        <p:tgtEl>
                                          <p:spTgt spid="23"/>
                                        </p:tgtEl>
                                      </p:cBhvr>
                                    </p:animEffect>
                                  </p:childTnLst>
                                </p:cTn>
                              </p:par>
                            </p:childTnLst>
                          </p:cTn>
                        </p:par>
                        <p:par>
                          <p:cTn id="25" fill="hold">
                            <p:stCondLst>
                              <p:cond delay="3000"/>
                            </p:stCondLst>
                            <p:childTnLst>
                              <p:par>
                                <p:cTn id="26" presetID="22" presetClass="entr" presetSubtype="2" fill="hold" grpId="0" nodeType="after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wipe(right)">
                                      <p:cBhvr>
                                        <p:cTn id="28" dur="750"/>
                                        <p:tgtEl>
                                          <p:spTgt spid="26"/>
                                        </p:tgtEl>
                                      </p:cBhvr>
                                    </p:animEffect>
                                  </p:childTnLst>
                                </p:cTn>
                              </p:par>
                            </p:childTnLst>
                          </p:cTn>
                        </p:par>
                        <p:par>
                          <p:cTn id="29" fill="hold">
                            <p:stCondLst>
                              <p:cond delay="3750"/>
                            </p:stCondLst>
                            <p:childTnLst>
                              <p:par>
                                <p:cTn id="30" presetID="22" presetClass="entr" presetSubtype="2" fill="hold" nodeType="after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right)">
                                      <p:cBhvr>
                                        <p:cTn id="32" dur="7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3" grpId="0" animBg="1"/>
      <p:bldP spid="25" grpId="0" animBg="1"/>
      <p:bldP spid="26"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2"/>
          <p:cNvSpPr>
            <a:spLocks noGrp="1" noChangeArrowheads="1"/>
          </p:cNvSpPr>
          <p:nvPr>
            <p:ph type="title"/>
          </p:nvPr>
        </p:nvSpPr>
        <p:spPr>
          <a:xfrm>
            <a:off x="1042988" y="620713"/>
            <a:ext cx="7162800" cy="1143000"/>
          </a:xfrm>
        </p:spPr>
        <p:txBody>
          <a:bodyPr/>
          <a:lstStyle/>
          <a:p>
            <a:pPr eaLnBrk="1" hangingPunct="1"/>
            <a:r>
              <a:rPr lang="zh-CN" altLang="en-US" sz="3600" dirty="0" smtClean="0">
                <a:latin typeface="Times New Roman" pitchFamily="18" charset="0"/>
              </a:rPr>
              <a:t>用最小平方法估计方程参数</a:t>
            </a:r>
            <a:r>
              <a:rPr lang="en-US" altLang="zh-CN" sz="4300" dirty="0" smtClean="0">
                <a:latin typeface="Times New Roman" pitchFamily="18" charset="0"/>
              </a:rPr>
              <a:t>(</a:t>
            </a:r>
            <a:r>
              <a:rPr lang="en-US" altLang="zh-CN" sz="4300" dirty="0" smtClean="0">
                <a:solidFill>
                  <a:srgbClr val="FF00FF"/>
                </a:solidFill>
                <a:latin typeface="Times New Roman" pitchFamily="18" charset="0"/>
                <a:cs typeface="Times New Roman" pitchFamily="18" charset="0"/>
              </a:rPr>
              <a:t>L</a:t>
            </a:r>
            <a:r>
              <a:rPr lang="en-US" altLang="zh-CN" sz="4300" dirty="0" smtClean="0">
                <a:latin typeface="Times New Roman" pitchFamily="18" charset="0"/>
                <a:cs typeface="Times New Roman" pitchFamily="18" charset="0"/>
              </a:rPr>
              <a:t>east-</a:t>
            </a:r>
            <a:r>
              <a:rPr lang="en-US" altLang="zh-CN" sz="4300" dirty="0" smtClean="0">
                <a:solidFill>
                  <a:srgbClr val="FF00FF"/>
                </a:solidFill>
                <a:latin typeface="Times New Roman" pitchFamily="18" charset="0"/>
                <a:cs typeface="Times New Roman" pitchFamily="18" charset="0"/>
              </a:rPr>
              <a:t>S</a:t>
            </a:r>
            <a:r>
              <a:rPr lang="en-US" altLang="zh-CN" sz="4300" dirty="0" smtClean="0">
                <a:latin typeface="Times New Roman" pitchFamily="18" charset="0"/>
                <a:cs typeface="Times New Roman" pitchFamily="18" charset="0"/>
              </a:rPr>
              <a:t>quare Method</a:t>
            </a:r>
            <a:r>
              <a:rPr lang="zh-CN" altLang="en-US" sz="4300" dirty="0" smtClean="0">
                <a:latin typeface="Times New Roman" pitchFamily="18" charset="0"/>
                <a:cs typeface="Times New Roman" pitchFamily="18" charset="0"/>
              </a:rPr>
              <a:t>）</a:t>
            </a:r>
          </a:p>
        </p:txBody>
      </p:sp>
      <p:sp>
        <p:nvSpPr>
          <p:cNvPr id="53253" name="Rectangle 3"/>
          <p:cNvSpPr>
            <a:spLocks noGrp="1" noChangeArrowheads="1"/>
          </p:cNvSpPr>
          <p:nvPr>
            <p:ph type="body" idx="1"/>
          </p:nvPr>
        </p:nvSpPr>
        <p:spPr>
          <a:xfrm>
            <a:off x="468313" y="1989138"/>
            <a:ext cx="7848600" cy="1600200"/>
          </a:xfrm>
        </p:spPr>
        <p:txBody>
          <a:bodyPr/>
          <a:lstStyle/>
          <a:p>
            <a:pPr marL="571500" indent="-571500" algn="just" eaLnBrk="1" hangingPunct="1">
              <a:spcBef>
                <a:spcPct val="0"/>
              </a:spcBef>
            </a:pPr>
            <a:r>
              <a:rPr lang="zh-CN" altLang="en-US" dirty="0" smtClean="0">
                <a:solidFill>
                  <a:srgbClr val="000000"/>
                </a:solidFill>
                <a:latin typeface="宋体" pitchFamily="2" charset="-122"/>
              </a:rPr>
              <a:t>按</a:t>
            </a:r>
            <a:r>
              <a:rPr lang="zh-CN" altLang="en-US" dirty="0" smtClean="0">
                <a:solidFill>
                  <a:srgbClr val="FF00FF"/>
                </a:solidFill>
                <a:latin typeface="宋体" pitchFamily="2" charset="-122"/>
              </a:rPr>
              <a:t>最小平方法</a:t>
            </a:r>
            <a:r>
              <a:rPr kumimoji="1" lang="zh-CN" altLang="en-US" dirty="0" smtClean="0">
                <a:solidFill>
                  <a:srgbClr val="000000"/>
                </a:solidFill>
              </a:rPr>
              <a:t>（最小二乘法）</a:t>
            </a:r>
            <a:r>
              <a:rPr lang="zh-CN" altLang="en-US" dirty="0" smtClean="0">
                <a:solidFill>
                  <a:srgbClr val="000000"/>
                </a:solidFill>
                <a:latin typeface="宋体" pitchFamily="2" charset="-122"/>
              </a:rPr>
              <a:t>估计方程参数，要求满足如下</a:t>
            </a:r>
            <a:r>
              <a:rPr lang="zh-CN" altLang="en-US" dirty="0" smtClean="0">
                <a:solidFill>
                  <a:srgbClr val="000000"/>
                </a:solidFill>
                <a:latin typeface="宋体" pitchFamily="2" charset="-122"/>
              </a:rPr>
              <a:t>条件：                                 </a:t>
            </a:r>
            <a:endParaRPr lang="zh-CN" altLang="en-US" dirty="0" smtClean="0">
              <a:solidFill>
                <a:srgbClr val="000000"/>
              </a:solidFill>
              <a:latin typeface="宋体" pitchFamily="2" charset="-122"/>
            </a:endParaRPr>
          </a:p>
          <a:p>
            <a:pPr marL="571500" indent="-571500" algn="just" eaLnBrk="1" hangingPunct="1">
              <a:spcBef>
                <a:spcPct val="0"/>
              </a:spcBef>
            </a:pPr>
            <a:endParaRPr lang="en-US" altLang="zh-CN" dirty="0" smtClean="0">
              <a:solidFill>
                <a:srgbClr val="000000"/>
              </a:solidFill>
            </a:endParaRPr>
          </a:p>
        </p:txBody>
      </p:sp>
      <p:sp>
        <p:nvSpPr>
          <p:cNvPr id="53255" name="日期占位符 6"/>
          <p:cNvSpPr>
            <a:spLocks noGrp="1"/>
          </p:cNvSpPr>
          <p:nvPr>
            <p:ph type="dt" sz="quarter" idx="10"/>
          </p:nvPr>
        </p:nvSpPr>
        <p:spPr>
          <a:noFill/>
        </p:spPr>
        <p:txBody>
          <a:bodyPr/>
          <a:lstStyle/>
          <a:p>
            <a:endParaRPr lang="en-US" altLang="zh-CN" smtClean="0"/>
          </a:p>
        </p:txBody>
      </p:sp>
      <p:graphicFrame>
        <p:nvGraphicFramePr>
          <p:cNvPr id="11" name="Object 1">
            <a:extLst>
              <a:ext uri="{FF2B5EF4-FFF2-40B4-BE49-F238E27FC236}">
                <a16:creationId xmlns:a16="http://schemas.microsoft.com/office/drawing/2014/main" id="{B7892508-977C-A492-077B-E1E76F516083}"/>
              </a:ext>
            </a:extLst>
          </p:cNvPr>
          <p:cNvGraphicFramePr>
            <a:graphicFrameLocks noChangeAspect="1"/>
          </p:cNvGraphicFramePr>
          <p:nvPr>
            <p:extLst>
              <p:ext uri="{D42A27DB-BD31-4B8C-83A1-F6EECF244321}">
                <p14:modId xmlns:p14="http://schemas.microsoft.com/office/powerpoint/2010/main" val="4049831945"/>
              </p:ext>
            </p:extLst>
          </p:nvPr>
        </p:nvGraphicFramePr>
        <p:xfrm>
          <a:off x="1598213" y="3138029"/>
          <a:ext cx="6161088" cy="2807617"/>
        </p:xfrm>
        <a:graphic>
          <a:graphicData uri="http://schemas.openxmlformats.org/presentationml/2006/ole">
            <mc:AlternateContent xmlns:mc="http://schemas.openxmlformats.org/markup-compatibility/2006">
              <mc:Choice xmlns:v="urn:schemas-microsoft-com:vml" Requires="v">
                <p:oleObj spid="_x0000_s53356" name="公式" r:id="rId3" imgW="1955520" imgH="888840" progId="Equation.3">
                  <p:embed/>
                </p:oleObj>
              </mc:Choice>
              <mc:Fallback>
                <p:oleObj name="公式" r:id="rId3" imgW="1955520" imgH="888840" progId="Equation.3">
                  <p:embed/>
                  <p:pic>
                    <p:nvPicPr>
                      <p:cNvPr id="32770" name="Object 1">
                        <a:extLst>
                          <a:ext uri="{FF2B5EF4-FFF2-40B4-BE49-F238E27FC236}">
                            <a16:creationId xmlns:a16="http://schemas.microsoft.com/office/drawing/2014/main" id="{B7892508-977C-A492-077B-E1E76F516083}"/>
                          </a:ext>
                        </a:extLst>
                      </p:cNvPr>
                      <p:cNvPicPr>
                        <a:picLocks noChangeAspect="1" noChangeArrowheads="1"/>
                      </p:cNvPicPr>
                      <p:nvPr/>
                    </p:nvPicPr>
                    <p:blipFill>
                      <a:blip r:embed="rId4"/>
                      <a:srcRect/>
                      <a:stretch>
                        <a:fillRect/>
                      </a:stretch>
                    </p:blipFill>
                    <p:spPr bwMode="auto">
                      <a:xfrm>
                        <a:off x="1598213" y="3138029"/>
                        <a:ext cx="6161088" cy="2807617"/>
                      </a:xfrm>
                      <a:prstGeom prst="rect">
                        <a:avLst/>
                      </a:prstGeom>
                      <a:noFill/>
                      <a:extLst/>
                    </p:spPr>
                  </p:pic>
                </p:oleObj>
              </mc:Fallback>
            </mc:AlternateContent>
          </a:graphicData>
        </a:graphic>
      </p:graphicFrame>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4284663" y="4366986"/>
            <a:ext cx="3816350" cy="2000477"/>
          </a:xfrm>
          <a:prstGeom prst="roundRect">
            <a:avLst>
              <a:gd name="adj" fmla="val 8108"/>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278" name="Rectangle 2"/>
          <p:cNvSpPr>
            <a:spLocks noGrp="1" noChangeArrowheads="1"/>
          </p:cNvSpPr>
          <p:nvPr>
            <p:ph type="title"/>
          </p:nvPr>
        </p:nvSpPr>
        <p:spPr>
          <a:noFill/>
        </p:spPr>
        <p:txBody>
          <a:bodyPr lIns="90488" tIns="44450" rIns="90488" bIns="44450" anchor="ctr" anchorCtr="1"/>
          <a:lstStyle/>
          <a:p>
            <a:pPr eaLnBrk="1" hangingPunct="1"/>
            <a:r>
              <a:rPr kumimoji="1" lang="en-US" altLang="zh-CN" i="1" dirty="0" smtClean="0">
                <a:latin typeface="Book Antiqua" pitchFamily="18" charset="0"/>
                <a:sym typeface="Symbol" pitchFamily="18" charset="2"/>
              </a:rPr>
              <a:t>a</a:t>
            </a:r>
            <a:r>
              <a:rPr lang="en-US" altLang="zh-CN" sz="4000" i="1" dirty="0" smtClean="0">
                <a:sym typeface="Symbol" pitchFamily="18" charset="2"/>
              </a:rPr>
              <a:t> </a:t>
            </a:r>
            <a:r>
              <a:rPr lang="zh-CN" altLang="en-US" sz="4000" dirty="0" smtClean="0">
                <a:sym typeface="Symbol" pitchFamily="18" charset="2"/>
              </a:rPr>
              <a:t>和 </a:t>
            </a:r>
            <a:r>
              <a:rPr lang="en-US" altLang="zh-CN" sz="4000" i="1" dirty="0" smtClean="0">
                <a:sym typeface="Symbol" pitchFamily="18" charset="2"/>
              </a:rPr>
              <a:t>b</a:t>
            </a:r>
            <a:r>
              <a:rPr lang="en-US" altLang="zh-CN" sz="4000" dirty="0" smtClean="0">
                <a:sym typeface="Symbol" pitchFamily="18" charset="2"/>
              </a:rPr>
              <a:t> </a:t>
            </a:r>
            <a:r>
              <a:rPr lang="zh-CN" altLang="en-US" sz="4000" dirty="0" smtClean="0">
                <a:sym typeface="Symbol" pitchFamily="18" charset="2"/>
              </a:rPr>
              <a:t>的计算公式</a:t>
            </a:r>
          </a:p>
        </p:txBody>
      </p:sp>
      <p:sp>
        <p:nvSpPr>
          <p:cNvPr id="54279" name="Text Box 3"/>
          <p:cNvSpPr txBox="1">
            <a:spLocks noChangeArrowheads="1"/>
          </p:cNvSpPr>
          <p:nvPr/>
        </p:nvSpPr>
        <p:spPr bwMode="auto">
          <a:xfrm>
            <a:off x="468313" y="1196975"/>
            <a:ext cx="7559675" cy="1774825"/>
          </a:xfrm>
          <a:prstGeom prst="rect">
            <a:avLst/>
          </a:prstGeom>
          <a:noFill/>
          <a:ln w="12700">
            <a:noFill/>
            <a:miter lim="800000"/>
            <a:headEnd/>
            <a:tailEnd/>
          </a:ln>
        </p:spPr>
        <p:txBody>
          <a:bodyPr>
            <a:spAutoFit/>
          </a:bodyPr>
          <a:lstStyle/>
          <a:p>
            <a:pPr marL="457200" indent="-457200" algn="just" eaLnBrk="0" hangingPunct="0">
              <a:lnSpc>
                <a:spcPct val="115000"/>
              </a:lnSpc>
              <a:spcBef>
                <a:spcPct val="25000"/>
              </a:spcBef>
            </a:pPr>
            <a:r>
              <a:rPr kumimoji="1" lang="zh-CN" altLang="en-US" sz="3000">
                <a:solidFill>
                  <a:srgbClr val="000000"/>
                </a:solidFill>
                <a:latin typeface="Times New Roman" pitchFamily="18" charset="0"/>
              </a:rPr>
              <a:t>根据最小平方法的原则，利用微分求解极值（最优值）的原理，可得求解  </a:t>
            </a:r>
            <a:r>
              <a:rPr kumimoji="1" lang="en-US" altLang="zh-CN" sz="3600" b="1" i="1">
                <a:solidFill>
                  <a:srgbClr val="000000"/>
                </a:solidFill>
                <a:latin typeface="Book Antiqua" pitchFamily="18" charset="0"/>
                <a:sym typeface="Symbol" pitchFamily="18" charset="2"/>
              </a:rPr>
              <a:t>a</a:t>
            </a:r>
            <a:r>
              <a:rPr kumimoji="1" lang="en-US" altLang="zh-CN" sz="3000" i="1">
                <a:solidFill>
                  <a:srgbClr val="000000"/>
                </a:solidFill>
                <a:sym typeface="Symbol" pitchFamily="18" charset="2"/>
              </a:rPr>
              <a:t> </a:t>
            </a:r>
            <a:r>
              <a:rPr kumimoji="1" lang="zh-CN" altLang="en-US" sz="3000">
                <a:solidFill>
                  <a:srgbClr val="000000"/>
                </a:solidFill>
                <a:sym typeface="Symbol" pitchFamily="18" charset="2"/>
              </a:rPr>
              <a:t>和 </a:t>
            </a:r>
            <a:r>
              <a:rPr kumimoji="1" lang="en-US" altLang="zh-CN" sz="3000" b="1" i="1">
                <a:solidFill>
                  <a:srgbClr val="000000"/>
                </a:solidFill>
                <a:sym typeface="Symbol" pitchFamily="18" charset="2"/>
              </a:rPr>
              <a:t>b</a:t>
            </a:r>
            <a:r>
              <a:rPr kumimoji="1" lang="en-US" altLang="zh-CN" sz="3000">
                <a:solidFill>
                  <a:srgbClr val="000000"/>
                </a:solidFill>
                <a:sym typeface="Symbol" pitchFamily="18" charset="2"/>
              </a:rPr>
              <a:t> </a:t>
            </a:r>
            <a:r>
              <a:rPr kumimoji="1" lang="zh-CN" altLang="en-US" sz="3000">
                <a:solidFill>
                  <a:srgbClr val="000000"/>
                </a:solidFill>
                <a:sym typeface="Symbol" pitchFamily="18" charset="2"/>
              </a:rPr>
              <a:t>的标准方程组如下：</a:t>
            </a:r>
          </a:p>
        </p:txBody>
      </p:sp>
      <p:graphicFrame>
        <p:nvGraphicFramePr>
          <p:cNvPr id="249860" name="Object 4"/>
          <p:cNvGraphicFramePr>
            <a:graphicFrameLocks noGrp="1" noChangeAspect="1"/>
          </p:cNvGraphicFramePr>
          <p:nvPr>
            <p:ph idx="1"/>
          </p:nvPr>
        </p:nvGraphicFramePr>
        <p:xfrm>
          <a:off x="468313" y="3267075"/>
          <a:ext cx="2808287" cy="2178050"/>
        </p:xfrm>
        <a:graphic>
          <a:graphicData uri="http://schemas.openxmlformats.org/presentationml/2006/ole">
            <mc:AlternateContent xmlns:mc="http://schemas.openxmlformats.org/markup-compatibility/2006">
              <mc:Choice xmlns:v="urn:schemas-microsoft-com:vml" Requires="v">
                <p:oleObj spid="_x0000_s54592" name="Equation" r:id="rId4" imgW="1028520" imgH="1244520" progId="Equation.DSMT4">
                  <p:embed/>
                </p:oleObj>
              </mc:Choice>
              <mc:Fallback>
                <p:oleObj name="Equation" r:id="rId4" imgW="1028520" imgH="124452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313" y="3267075"/>
                        <a:ext cx="2808287" cy="2178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9861" name="AutoShape 5"/>
          <p:cNvSpPr>
            <a:spLocks noChangeArrowheads="1"/>
          </p:cNvSpPr>
          <p:nvPr/>
        </p:nvSpPr>
        <p:spPr bwMode="auto">
          <a:xfrm>
            <a:off x="3492500" y="3524930"/>
            <a:ext cx="719138" cy="288925"/>
          </a:xfrm>
          <a:prstGeom prst="rightArrow">
            <a:avLst>
              <a:gd name="adj1" fmla="val 50000"/>
              <a:gd name="adj2" fmla="val 62225"/>
            </a:avLst>
          </a:prstGeom>
          <a:solidFill>
            <a:schemeClr val="accent1"/>
          </a:solidFill>
          <a:ln w="9525">
            <a:solidFill>
              <a:schemeClr val="tx1"/>
            </a:solidFill>
            <a:miter lim="800000"/>
            <a:headEnd/>
            <a:tailEnd/>
          </a:ln>
        </p:spPr>
        <p:txBody>
          <a:bodyPr wrap="none" anchor="ctr"/>
          <a:lstStyle/>
          <a:p>
            <a:endParaRPr lang="zh-CN" altLang="en-US"/>
          </a:p>
        </p:txBody>
      </p:sp>
      <p:graphicFrame>
        <p:nvGraphicFramePr>
          <p:cNvPr id="249862" name="Object 6">
            <a:hlinkClick r:id="" action="ppaction://ole?verb=0"/>
          </p:cNvPr>
          <p:cNvGraphicFramePr>
            <a:graphicFrameLocks/>
          </p:cNvGraphicFramePr>
          <p:nvPr/>
        </p:nvGraphicFramePr>
        <p:xfrm>
          <a:off x="4284663" y="2924175"/>
          <a:ext cx="3024187" cy="1257300"/>
        </p:xfrm>
        <a:graphic>
          <a:graphicData uri="http://schemas.openxmlformats.org/presentationml/2006/ole">
            <mc:AlternateContent xmlns:mc="http://schemas.openxmlformats.org/markup-compatibility/2006">
              <mc:Choice xmlns:v="urn:schemas-microsoft-com:vml" Requires="v">
                <p:oleObj spid="_x0000_s54593" name="公式" r:id="rId6" imgW="1257120" imgH="482400" progId="Equation.3">
                  <p:embed/>
                </p:oleObj>
              </mc:Choice>
              <mc:Fallback>
                <p:oleObj name="公式" r:id="rId6" imgW="1257120" imgH="482400" progId="Equation.3">
                  <p:embed/>
                  <p:pic>
                    <p:nvPicPr>
                      <p:cNvPr id="0" name="Object 6"/>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84663" y="2924175"/>
                        <a:ext cx="3024187" cy="125730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graphicFrame>
        <p:nvGraphicFramePr>
          <p:cNvPr id="249863" name="Object 7">
            <a:hlinkClick r:id="" action="ppaction://ole?verb=0"/>
          </p:cNvPr>
          <p:cNvGraphicFramePr>
            <a:graphicFrameLocks/>
          </p:cNvGraphicFramePr>
          <p:nvPr>
            <p:extLst>
              <p:ext uri="{D42A27DB-BD31-4B8C-83A1-F6EECF244321}">
                <p14:modId xmlns:p14="http://schemas.microsoft.com/office/powerpoint/2010/main" val="3376213496"/>
              </p:ext>
            </p:extLst>
          </p:nvPr>
        </p:nvGraphicFramePr>
        <p:xfrm>
          <a:off x="4392986" y="4411185"/>
          <a:ext cx="3599704" cy="1885974"/>
        </p:xfrm>
        <a:graphic>
          <a:graphicData uri="http://schemas.openxmlformats.org/presentationml/2006/ole">
            <mc:AlternateContent xmlns:mc="http://schemas.openxmlformats.org/markup-compatibility/2006">
              <mc:Choice xmlns:v="urn:schemas-microsoft-com:vml" Requires="v">
                <p:oleObj spid="_x0000_s54594" name="公式" r:id="rId8" imgW="1676160" imgH="761760" progId="Equation.3">
                  <p:embed/>
                </p:oleObj>
              </mc:Choice>
              <mc:Fallback>
                <p:oleObj name="公式" r:id="rId8" imgW="1676160" imgH="761760" progId="Equation.3">
                  <p:embed/>
                  <p:pic>
                    <p:nvPicPr>
                      <p:cNvPr id="0" name="Object 7"/>
                      <p:cNvPicPr>
                        <a:picLocks noChangeArrowheads="1"/>
                      </p:cNvPicPr>
                      <p:nvPr/>
                    </p:nvPicPr>
                    <p:blipFill>
                      <a:blip r:embed="rId9"/>
                      <a:srcRect/>
                      <a:stretch>
                        <a:fillRect/>
                      </a:stretch>
                    </p:blipFill>
                    <p:spPr bwMode="auto">
                      <a:xfrm>
                        <a:off x="4392986" y="4411185"/>
                        <a:ext cx="3599704" cy="1885974"/>
                      </a:xfrm>
                      <a:prstGeom prst="rect">
                        <a:avLst/>
                      </a:prstGeom>
                      <a:noFill/>
                      <a:ln w="28575">
                        <a:noFill/>
                        <a:miter lim="800000"/>
                        <a:headEnd/>
                        <a:tailEnd/>
                      </a:ln>
                      <a:effectLst>
                        <a:outerShdw dist="17961" dir="2700000" algn="ctr" rotWithShape="0">
                          <a:schemeClr val="bg2"/>
                        </a:outerShdw>
                      </a:effectLst>
                      <a:extLst/>
                    </p:spPr>
                  </p:pic>
                </p:oleObj>
              </mc:Fallback>
            </mc:AlternateContent>
          </a:graphicData>
        </a:graphic>
      </p:graphicFrame>
      <p:sp>
        <p:nvSpPr>
          <p:cNvPr id="54281" name="日期占位符 8"/>
          <p:cNvSpPr>
            <a:spLocks noGrp="1"/>
          </p:cNvSpPr>
          <p:nvPr>
            <p:ph type="dt" sz="quarter" idx="10"/>
          </p:nvPr>
        </p:nvSpPr>
        <p:spPr>
          <a:noFill/>
        </p:spPr>
        <p:txBody>
          <a:bodyPr/>
          <a:lstStyle/>
          <a:p>
            <a:endParaRPr lang="en-US" altLang="zh-CN" smtClean="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49860"/>
                                        </p:tgtEl>
                                        <p:attrNameLst>
                                          <p:attrName>style.visibility</p:attrName>
                                        </p:attrNameLst>
                                      </p:cBhvr>
                                      <p:to>
                                        <p:strVal val="visible"/>
                                      </p:to>
                                    </p:set>
                                    <p:animEffect transition="in" filter="wipe(up)">
                                      <p:cBhvr>
                                        <p:cTn id="7" dur="250"/>
                                        <p:tgtEl>
                                          <p:spTgt spid="24986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9861"/>
                                        </p:tgtEl>
                                        <p:attrNameLst>
                                          <p:attrName>style.visibility</p:attrName>
                                        </p:attrNameLst>
                                      </p:cBhvr>
                                      <p:to>
                                        <p:strVal val="visible"/>
                                      </p:to>
                                    </p:set>
                                    <p:animEffect transition="in" filter="wipe(left)">
                                      <p:cBhvr>
                                        <p:cTn id="12" dur="250"/>
                                        <p:tgtEl>
                                          <p:spTgt spid="249861"/>
                                        </p:tgtEl>
                                      </p:cBhvr>
                                    </p:animEffect>
                                  </p:childTnLst>
                                </p:cTn>
                              </p:par>
                            </p:childTnLst>
                          </p:cTn>
                        </p:par>
                        <p:par>
                          <p:cTn id="13" fill="hold">
                            <p:stCondLst>
                              <p:cond delay="250"/>
                            </p:stCondLst>
                            <p:childTnLst>
                              <p:par>
                                <p:cTn id="14" presetID="22" presetClass="entr" presetSubtype="8" fill="hold" nodeType="afterEffect">
                                  <p:stCondLst>
                                    <p:cond delay="0"/>
                                  </p:stCondLst>
                                  <p:childTnLst>
                                    <p:set>
                                      <p:cBhvr>
                                        <p:cTn id="15" dur="1" fill="hold">
                                          <p:stCondLst>
                                            <p:cond delay="0"/>
                                          </p:stCondLst>
                                        </p:cTn>
                                        <p:tgtEl>
                                          <p:spTgt spid="249862"/>
                                        </p:tgtEl>
                                        <p:attrNameLst>
                                          <p:attrName>style.visibility</p:attrName>
                                        </p:attrNameLst>
                                      </p:cBhvr>
                                      <p:to>
                                        <p:strVal val="visible"/>
                                      </p:to>
                                    </p:set>
                                    <p:animEffect transition="in" filter="wipe(left)">
                                      <p:cBhvr>
                                        <p:cTn id="16" dur="500"/>
                                        <p:tgtEl>
                                          <p:spTgt spid="249862"/>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nodeType="clickEffect">
                                  <p:stCondLst>
                                    <p:cond delay="0"/>
                                  </p:stCondLst>
                                  <p:childTnLst>
                                    <p:set>
                                      <p:cBhvr>
                                        <p:cTn id="20" dur="1" fill="hold">
                                          <p:stCondLst>
                                            <p:cond delay="0"/>
                                          </p:stCondLst>
                                        </p:cTn>
                                        <p:tgtEl>
                                          <p:spTgt spid="249863"/>
                                        </p:tgtEl>
                                        <p:attrNameLst>
                                          <p:attrName>style.visibility</p:attrName>
                                        </p:attrNameLst>
                                      </p:cBhvr>
                                      <p:to>
                                        <p:strVal val="visible"/>
                                      </p:to>
                                    </p:set>
                                    <p:animEffect transition="in" filter="checkerboard(across)">
                                      <p:cBhvr>
                                        <p:cTn id="21" dur="500"/>
                                        <p:tgtEl>
                                          <p:spTgt spid="2498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61"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298" name="Object 2"/>
          <p:cNvGraphicFramePr>
            <a:graphicFrameLocks noChangeAspect="1"/>
          </p:cNvGraphicFramePr>
          <p:nvPr/>
        </p:nvGraphicFramePr>
        <p:xfrm>
          <a:off x="4427538" y="0"/>
          <a:ext cx="4716462" cy="2743200"/>
        </p:xfrm>
        <a:graphic>
          <a:graphicData uri="http://schemas.openxmlformats.org/presentationml/2006/ole">
            <mc:AlternateContent xmlns:mc="http://schemas.openxmlformats.org/markup-compatibility/2006">
              <mc:Choice xmlns:v="urn:schemas-microsoft-com:vml" Requires="v">
                <p:oleObj spid="_x0000_s55510" name="图表" r:id="rId3" imgW="4162492" imgH="2114635" progId="Excel.Sheet.8">
                  <p:embed/>
                </p:oleObj>
              </mc:Choice>
              <mc:Fallback>
                <p:oleObj name="图表" r:id="rId3" imgW="4162492" imgH="2114635" progId="Excel.Shee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7538" y="0"/>
                        <a:ext cx="4716462"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5301" name="Rectangle 3"/>
          <p:cNvSpPr>
            <a:spLocks noGrp="1" noChangeArrowheads="1"/>
          </p:cNvSpPr>
          <p:nvPr>
            <p:ph type="title"/>
          </p:nvPr>
        </p:nvSpPr>
        <p:spPr>
          <a:xfrm>
            <a:off x="0" y="0"/>
            <a:ext cx="7732713" cy="709613"/>
          </a:xfrm>
        </p:spPr>
        <p:txBody>
          <a:bodyPr/>
          <a:lstStyle/>
          <a:p>
            <a:pPr eaLnBrk="1" hangingPunct="1"/>
            <a:r>
              <a:rPr lang="en-US" altLang="zh-CN" dirty="0" smtClean="0"/>
              <a:t>【</a:t>
            </a:r>
            <a:r>
              <a:rPr lang="zh-CN" altLang="en-US" dirty="0" smtClean="0"/>
              <a:t>例</a:t>
            </a:r>
            <a:r>
              <a:rPr lang="en-US" altLang="zh-CN" dirty="0" smtClean="0"/>
              <a:t>】 </a:t>
            </a:r>
          </a:p>
        </p:txBody>
      </p:sp>
      <p:sp>
        <p:nvSpPr>
          <p:cNvPr id="55302" name="Rectangle 4"/>
          <p:cNvSpPr>
            <a:spLocks noGrp="1" noChangeArrowheads="1"/>
          </p:cNvSpPr>
          <p:nvPr>
            <p:ph type="body" idx="1"/>
          </p:nvPr>
        </p:nvSpPr>
        <p:spPr>
          <a:xfrm>
            <a:off x="4427984" y="2708920"/>
            <a:ext cx="4500562" cy="1440160"/>
          </a:xfrm>
        </p:spPr>
        <p:txBody>
          <a:bodyPr/>
          <a:lstStyle/>
          <a:p>
            <a:pPr eaLnBrk="1" hangingPunct="1">
              <a:lnSpc>
                <a:spcPct val="125000"/>
              </a:lnSpc>
              <a:spcBef>
                <a:spcPct val="35000"/>
              </a:spcBef>
              <a:buFontTx/>
              <a:buNone/>
            </a:pPr>
            <a:r>
              <a:rPr lang="en-US" altLang="zh-CN" sz="2800" dirty="0" smtClean="0">
                <a:solidFill>
                  <a:srgbClr val="3333FF"/>
                </a:solidFill>
              </a:rPr>
              <a:t> </a:t>
            </a:r>
            <a:r>
              <a:rPr lang="zh-CN" altLang="en-US" sz="2800" dirty="0" smtClean="0">
                <a:solidFill>
                  <a:srgbClr val="3333FF"/>
                </a:solidFill>
              </a:rPr>
              <a:t>解：</a:t>
            </a:r>
            <a:r>
              <a:rPr lang="zh-CN" altLang="en-US" sz="2800" dirty="0" smtClean="0"/>
              <a:t>趋势方程为：</a:t>
            </a:r>
          </a:p>
          <a:p>
            <a:pPr eaLnBrk="1" hangingPunct="1">
              <a:lnSpc>
                <a:spcPct val="125000"/>
              </a:lnSpc>
              <a:spcBef>
                <a:spcPct val="35000"/>
              </a:spcBef>
              <a:buFontTx/>
              <a:buNone/>
            </a:pPr>
            <a:r>
              <a:rPr lang="zh-CN" altLang="en-US" sz="2400" b="0" dirty="0" smtClean="0"/>
              <a:t>          </a:t>
            </a:r>
            <a:r>
              <a:rPr lang="en-US" altLang="zh-CN" sz="2800" b="0" dirty="0" smtClean="0">
                <a:solidFill>
                  <a:srgbClr val="000000"/>
                </a:solidFill>
                <a:latin typeface="Times New Roman" pitchFamily="18" charset="0"/>
              </a:rPr>
              <a:t>=46.10606+4.84266 </a:t>
            </a:r>
            <a:r>
              <a:rPr lang="en-US" altLang="zh-CN" sz="2800" b="0" i="1" dirty="0" smtClean="0">
                <a:solidFill>
                  <a:srgbClr val="000000"/>
                </a:solidFill>
                <a:latin typeface="Times New Roman" pitchFamily="18" charset="0"/>
              </a:rPr>
              <a:t>t</a:t>
            </a:r>
          </a:p>
        </p:txBody>
      </p:sp>
      <p:graphicFrame>
        <p:nvGraphicFramePr>
          <p:cNvPr id="217220" name="Group 132"/>
          <p:cNvGraphicFramePr>
            <a:graphicFrameLocks noGrp="1"/>
          </p:cNvGraphicFramePr>
          <p:nvPr/>
        </p:nvGraphicFramePr>
        <p:xfrm>
          <a:off x="179388" y="764704"/>
          <a:ext cx="2330768" cy="4843145"/>
        </p:xfrm>
        <a:graphic>
          <a:graphicData uri="http://schemas.openxmlformats.org/drawingml/2006/table">
            <a:tbl>
              <a:tblPr/>
              <a:tblGrid>
                <a:gridCol w="208280">
                  <a:extLst>
                    <a:ext uri="{9D8B030D-6E8A-4147-A177-3AD203B41FA5}">
                      <a16:colId xmlns:a16="http://schemas.microsoft.com/office/drawing/2014/main" val="20000"/>
                    </a:ext>
                  </a:extLst>
                </a:gridCol>
                <a:gridCol w="896938">
                  <a:extLst>
                    <a:ext uri="{9D8B030D-6E8A-4147-A177-3AD203B41FA5}">
                      <a16:colId xmlns:a16="http://schemas.microsoft.com/office/drawing/2014/main" val="20001"/>
                    </a:ext>
                  </a:extLst>
                </a:gridCol>
                <a:gridCol w="1225550">
                  <a:extLst>
                    <a:ext uri="{9D8B030D-6E8A-4147-A177-3AD203B41FA5}">
                      <a16:colId xmlns:a16="http://schemas.microsoft.com/office/drawing/2014/main" val="20002"/>
                    </a:ext>
                  </a:extLst>
                </a:gridCol>
              </a:tblGrid>
              <a:tr h="454025">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1" i="0" u="none" strike="noStrike" cap="none" normalizeH="0" baseline="0" dirty="0" smtClean="0">
                        <a:ln>
                          <a:noFill/>
                        </a:ln>
                        <a:solidFill>
                          <a:srgbClr val="3333FF"/>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t</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rgbClr val="000000"/>
                          </a:solidFill>
                          <a:effectLst/>
                          <a:latin typeface="宋体" pitchFamily="2" charset="-122"/>
                          <a:ea typeface="宋体" pitchFamily="2" charset="-122"/>
                        </a:rPr>
                        <a:t>观测值</a:t>
                      </a:r>
                      <a:r>
                        <a:rPr kumimoji="0" lang="en-US" altLang="zh-CN" sz="1800" b="1" i="0" u="none" strike="noStrike" cap="none" normalizeH="0" baseline="0" smtClean="0">
                          <a:ln>
                            <a:noFill/>
                          </a:ln>
                          <a:solidFill>
                            <a:srgbClr val="000000"/>
                          </a:solidFill>
                          <a:effectLst/>
                          <a:latin typeface="宋体" pitchFamily="2" charset="-122"/>
                          <a:ea typeface="宋体" pitchFamily="2" charset="-122"/>
                        </a:rPr>
                        <a:t>y</a:t>
                      </a:r>
                      <a:endParaRPr kumimoji="0" lang="en-US" altLang="zh-CN" sz="1800" b="1" i="0" u="none" strike="noStrike" cap="none" normalizeH="0" baseline="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74638">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1" i="0" u="none" strike="noStrike" cap="none" normalizeH="0" baseline="0" smtClean="0">
                        <a:ln>
                          <a:noFill/>
                        </a:ln>
                        <a:solidFill>
                          <a:srgbClr val="3333FF"/>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1</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000000"/>
                          </a:solidFill>
                          <a:effectLst/>
                          <a:latin typeface="宋体" pitchFamily="2" charset="-122"/>
                          <a:ea typeface="宋体" pitchFamily="2" charset="-122"/>
                        </a:rPr>
                        <a:t>54</a:t>
                      </a:r>
                      <a:endParaRPr kumimoji="0" lang="en-US" altLang="zh-CN" sz="18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74638">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1" i="0" u="none" strike="noStrike" cap="none" normalizeH="0" baseline="0" smtClean="0">
                        <a:ln>
                          <a:noFill/>
                        </a:ln>
                        <a:solidFill>
                          <a:srgbClr val="3333FF"/>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2</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000000"/>
                          </a:solidFill>
                          <a:effectLst/>
                          <a:latin typeface="宋体" pitchFamily="2" charset="-122"/>
                          <a:ea typeface="宋体" pitchFamily="2" charset="-122"/>
                        </a:rPr>
                        <a:t>50</a:t>
                      </a:r>
                      <a:endParaRPr kumimoji="0" lang="en-US" altLang="zh-CN" sz="18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74638">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1" i="0" u="none" strike="noStrike" cap="none" normalizeH="0" baseline="0" smtClean="0">
                        <a:ln>
                          <a:noFill/>
                        </a:ln>
                        <a:solidFill>
                          <a:srgbClr val="3333FF"/>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3</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000000"/>
                          </a:solidFill>
                          <a:effectLst/>
                          <a:latin typeface="宋体" pitchFamily="2" charset="-122"/>
                          <a:ea typeface="宋体" pitchFamily="2" charset="-122"/>
                        </a:rPr>
                        <a:t>52</a:t>
                      </a:r>
                      <a:endParaRPr kumimoji="0" lang="en-US" altLang="zh-CN" sz="18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274638">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1" i="0" u="none" strike="noStrike" cap="none" normalizeH="0" baseline="0" smtClean="0">
                        <a:ln>
                          <a:noFill/>
                        </a:ln>
                        <a:solidFill>
                          <a:srgbClr val="3333FF"/>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4</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000000"/>
                          </a:solidFill>
                          <a:effectLst/>
                          <a:latin typeface="宋体" pitchFamily="2" charset="-122"/>
                          <a:ea typeface="宋体" pitchFamily="2" charset="-122"/>
                        </a:rPr>
                        <a:t>67</a:t>
                      </a:r>
                      <a:endParaRPr kumimoji="0" lang="en-US" altLang="zh-CN" sz="18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274638">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1" i="0" u="none" strike="noStrike" cap="none" normalizeH="0" baseline="0" smtClean="0">
                        <a:ln>
                          <a:noFill/>
                        </a:ln>
                        <a:solidFill>
                          <a:srgbClr val="3333FF"/>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5</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0000"/>
                          </a:solidFill>
                          <a:effectLst/>
                          <a:latin typeface="宋体" pitchFamily="2" charset="-122"/>
                          <a:ea typeface="宋体" pitchFamily="2" charset="-122"/>
                        </a:rPr>
                        <a:t>82</a:t>
                      </a:r>
                      <a:endParaRPr kumimoji="0" lang="en-US" altLang="zh-CN" sz="1800" b="1" i="0" u="none" strike="noStrike" cap="none" normalizeH="0" baseline="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274638">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1" i="0" u="none" strike="noStrike" cap="none" normalizeH="0" baseline="0" smtClean="0">
                        <a:ln>
                          <a:noFill/>
                        </a:ln>
                        <a:solidFill>
                          <a:srgbClr val="3333FF"/>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CC0099"/>
                          </a:solidFill>
                          <a:effectLst/>
                          <a:latin typeface="宋体" pitchFamily="2" charset="-122"/>
                          <a:ea typeface="宋体" pitchFamily="2" charset="-122"/>
                        </a:rPr>
                        <a:t>6</a:t>
                      </a:r>
                      <a:endParaRPr kumimoji="0" lang="en-US" altLang="zh-CN" sz="1800" b="1" i="0" u="none" strike="noStrike" cap="none" normalizeH="0" baseline="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000000"/>
                          </a:solidFill>
                          <a:effectLst/>
                          <a:latin typeface="宋体" pitchFamily="2" charset="-122"/>
                          <a:ea typeface="宋体" pitchFamily="2" charset="-122"/>
                        </a:rPr>
                        <a:t>70</a:t>
                      </a:r>
                      <a:endParaRPr kumimoji="0" lang="en-US" altLang="zh-CN" sz="18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274638">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1" i="0" u="none" strike="noStrike" cap="none" normalizeH="0" baseline="0" smtClean="0">
                        <a:ln>
                          <a:noFill/>
                        </a:ln>
                        <a:solidFill>
                          <a:srgbClr val="3333FF"/>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CC0099"/>
                          </a:solidFill>
                          <a:effectLst/>
                          <a:latin typeface="宋体" pitchFamily="2" charset="-122"/>
                          <a:ea typeface="宋体" pitchFamily="2" charset="-122"/>
                        </a:rPr>
                        <a:t>7</a:t>
                      </a:r>
                      <a:endParaRPr kumimoji="0" lang="en-US" altLang="zh-CN" sz="1800" b="1" i="0" u="none" strike="noStrike" cap="none" normalizeH="0" baseline="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000000"/>
                          </a:solidFill>
                          <a:effectLst/>
                          <a:latin typeface="宋体" pitchFamily="2" charset="-122"/>
                          <a:ea typeface="宋体" pitchFamily="2" charset="-122"/>
                        </a:rPr>
                        <a:t>89</a:t>
                      </a:r>
                      <a:endParaRPr kumimoji="0" lang="en-US" altLang="zh-CN" sz="18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274638">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1" i="0" u="none" strike="noStrike" cap="none" normalizeH="0" baseline="0" smtClean="0">
                        <a:ln>
                          <a:noFill/>
                        </a:ln>
                        <a:solidFill>
                          <a:srgbClr val="3333FF"/>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CC0099"/>
                          </a:solidFill>
                          <a:effectLst/>
                          <a:latin typeface="宋体" pitchFamily="2" charset="-122"/>
                          <a:ea typeface="宋体" pitchFamily="2" charset="-122"/>
                        </a:rPr>
                        <a:t>8</a:t>
                      </a:r>
                      <a:endParaRPr kumimoji="0" lang="en-US" altLang="zh-CN" sz="1800" b="1" i="0" u="none" strike="noStrike" cap="none" normalizeH="0" baseline="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000000"/>
                          </a:solidFill>
                          <a:effectLst/>
                          <a:latin typeface="宋体" pitchFamily="2" charset="-122"/>
                          <a:ea typeface="宋体" pitchFamily="2" charset="-122"/>
                        </a:rPr>
                        <a:t>88</a:t>
                      </a:r>
                      <a:endParaRPr kumimoji="0" lang="en-US" altLang="zh-CN" sz="18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r h="274638">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1" i="0" u="none" strike="noStrike" cap="none" normalizeH="0" baseline="0" smtClean="0">
                        <a:ln>
                          <a:noFill/>
                        </a:ln>
                        <a:solidFill>
                          <a:srgbClr val="3333FF"/>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CC0099"/>
                          </a:solidFill>
                          <a:effectLst/>
                          <a:latin typeface="宋体" pitchFamily="2" charset="-122"/>
                          <a:ea typeface="宋体" pitchFamily="2" charset="-122"/>
                        </a:rPr>
                        <a:t>9</a:t>
                      </a:r>
                      <a:endParaRPr kumimoji="0" lang="en-US" altLang="zh-CN" sz="1800" b="1" i="0" u="none" strike="noStrike" cap="none" normalizeH="0" baseline="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000000"/>
                          </a:solidFill>
                          <a:effectLst/>
                          <a:latin typeface="宋体" pitchFamily="2" charset="-122"/>
                          <a:ea typeface="宋体" pitchFamily="2" charset="-122"/>
                        </a:rPr>
                        <a:t>84</a:t>
                      </a:r>
                      <a:endParaRPr kumimoji="0" lang="en-US" altLang="zh-CN" sz="18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9"/>
                  </a:ext>
                </a:extLst>
              </a:tr>
              <a:tr h="274638">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1" i="0" u="none" strike="noStrike" cap="none" normalizeH="0" baseline="0" smtClean="0">
                        <a:ln>
                          <a:noFill/>
                        </a:ln>
                        <a:solidFill>
                          <a:srgbClr val="3333FF"/>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CC0099"/>
                          </a:solidFill>
                          <a:effectLst/>
                          <a:latin typeface="宋体" pitchFamily="2" charset="-122"/>
                          <a:ea typeface="宋体" pitchFamily="2" charset="-122"/>
                        </a:rPr>
                        <a:t>10</a:t>
                      </a:r>
                      <a:endParaRPr kumimoji="0" lang="en-US" altLang="zh-CN" sz="1800" b="1" i="0" u="none" strike="noStrike" cap="none" normalizeH="0" baseline="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000000"/>
                          </a:solidFill>
                          <a:effectLst/>
                          <a:latin typeface="宋体" pitchFamily="2" charset="-122"/>
                          <a:ea typeface="宋体" pitchFamily="2" charset="-122"/>
                        </a:rPr>
                        <a:t>98</a:t>
                      </a:r>
                      <a:endParaRPr kumimoji="0" lang="en-US" altLang="zh-CN" sz="18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0"/>
                  </a:ext>
                </a:extLst>
              </a:tr>
              <a:tr h="274638">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1" i="0" u="none" strike="noStrike" cap="none" normalizeH="0" baseline="0" smtClean="0">
                        <a:ln>
                          <a:noFill/>
                        </a:ln>
                        <a:solidFill>
                          <a:srgbClr val="3333FF"/>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CC0099"/>
                          </a:solidFill>
                          <a:effectLst/>
                          <a:latin typeface="宋体" pitchFamily="2" charset="-122"/>
                          <a:ea typeface="宋体" pitchFamily="2" charset="-122"/>
                        </a:rPr>
                        <a:t>11</a:t>
                      </a:r>
                      <a:endParaRPr kumimoji="0" lang="en-US" altLang="zh-CN" sz="1800" b="1" i="0" u="none" strike="noStrike" cap="none" normalizeH="0" baseline="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000000"/>
                          </a:solidFill>
                          <a:effectLst/>
                          <a:latin typeface="宋体" pitchFamily="2" charset="-122"/>
                          <a:ea typeface="宋体" pitchFamily="2" charset="-122"/>
                        </a:rPr>
                        <a:t>91</a:t>
                      </a:r>
                      <a:endParaRPr kumimoji="0" lang="en-US" altLang="zh-CN" sz="18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1"/>
                  </a:ext>
                </a:extLst>
              </a:tr>
              <a:tr h="354013">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1" i="0" u="none" strike="noStrike" cap="none" normalizeH="0" baseline="0" smtClean="0">
                        <a:ln>
                          <a:noFill/>
                        </a:ln>
                        <a:solidFill>
                          <a:srgbClr val="3333FF"/>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cap="flat">
                      <a:noFill/>
                    </a:lnB>
                    <a:lnTlToBr>
                      <a:noFill/>
                    </a:lnTlToBr>
                    <a:lnBlToTr>
                      <a:noFill/>
                    </a:lnBlToTr>
                    <a:solidFill>
                      <a:srgbClr val="CCEC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CC0099"/>
                          </a:solidFill>
                          <a:effectLst/>
                          <a:latin typeface="宋体" pitchFamily="2" charset="-122"/>
                          <a:ea typeface="宋体" pitchFamily="2" charset="-122"/>
                        </a:rPr>
                        <a:t>12</a:t>
                      </a:r>
                      <a:endParaRPr kumimoji="0" lang="en-US" altLang="zh-CN" sz="1800" b="1" i="0" u="none" strike="noStrike" cap="none" normalizeH="0" baseline="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cap="flat">
                      <a:noFill/>
                    </a:lnB>
                    <a:lnTlToBr>
                      <a:noFill/>
                    </a:lnTlToBr>
                    <a:lnBlToTr>
                      <a:noFill/>
                    </a:lnBlToTr>
                    <a:solidFill>
                      <a:srgbClr val="CCECFF"/>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000000"/>
                          </a:solidFill>
                          <a:effectLst/>
                          <a:latin typeface="宋体" pitchFamily="2" charset="-122"/>
                          <a:ea typeface="宋体" pitchFamily="2" charset="-122"/>
                        </a:rPr>
                        <a:t>106</a:t>
                      </a:r>
                      <a:endParaRPr kumimoji="0" lang="en-US" altLang="zh-CN" sz="1800" b="1" i="0" u="none" strike="noStrike" cap="none" normalizeH="0" baseline="0" dirty="0" smtClean="0">
                        <a:ln>
                          <a:noFill/>
                        </a:ln>
                        <a:solidFill>
                          <a:srgbClr val="000000"/>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cap="flat">
                      <a:noFill/>
                    </a:lnB>
                    <a:lnTlToBr>
                      <a:noFill/>
                    </a:lnTlToBr>
                    <a:lnBlToTr>
                      <a:noFill/>
                    </a:lnBlToTr>
                    <a:solidFill>
                      <a:schemeClr val="bg1"/>
                    </a:solidFill>
                  </a:tcPr>
                </a:tc>
                <a:extLst>
                  <a:ext uri="{0D108BD9-81ED-4DB2-BD59-A6C34878D82A}">
                    <a16:rowId xmlns:a16="http://schemas.microsoft.com/office/drawing/2014/main" val="10012"/>
                  </a:ext>
                </a:extLst>
              </a:tr>
            </a:tbl>
          </a:graphicData>
        </a:graphic>
      </p:graphicFrame>
      <p:graphicFrame>
        <p:nvGraphicFramePr>
          <p:cNvPr id="55299" name="Object 63"/>
          <p:cNvGraphicFramePr>
            <a:graphicFrameLocks noChangeAspect="1"/>
          </p:cNvGraphicFramePr>
          <p:nvPr/>
        </p:nvGraphicFramePr>
        <p:xfrm>
          <a:off x="4860032" y="3284984"/>
          <a:ext cx="621283" cy="720725"/>
        </p:xfrm>
        <a:graphic>
          <a:graphicData uri="http://schemas.openxmlformats.org/presentationml/2006/ole">
            <mc:AlternateContent xmlns:mc="http://schemas.openxmlformats.org/markup-compatibility/2006">
              <mc:Choice xmlns:v="urn:schemas-microsoft-com:vml" Requires="v">
                <p:oleObj spid="_x0000_s55511" name="公式" r:id="rId5" imgW="152268" imgH="203024" progId="Equation.3">
                  <p:embed/>
                </p:oleObj>
              </mc:Choice>
              <mc:Fallback>
                <p:oleObj name="公式" r:id="rId5" imgW="152268" imgH="203024" progId="Equation.3">
                  <p:embed/>
                  <p:pic>
                    <p:nvPicPr>
                      <p:cNvPr id="0" name="Object 6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60032" y="3284984"/>
                        <a:ext cx="621283" cy="720725"/>
                      </a:xfrm>
                      <a:prstGeom prst="rect">
                        <a:avLst/>
                      </a:prstGeom>
                      <a:noFill/>
                      <a:extLst>
                        <a:ext uri="{909E8E84-426E-40DD-AFC4-6F175D3DCCD1}">
                          <a14:hiddenFill xmlns:a14="http://schemas.microsoft.com/office/drawing/2010/main">
                            <a:solidFill>
                              <a:schemeClr val="accent1"/>
                            </a:solidFill>
                          </a14:hiddenFill>
                        </a:ext>
                      </a:extLst>
                    </p:spPr>
                  </p:pic>
                </p:oleObj>
              </mc:Fallback>
            </mc:AlternateContent>
          </a:graphicData>
        </a:graphic>
      </p:graphicFrame>
      <p:sp>
        <p:nvSpPr>
          <p:cNvPr id="217152" name="Rectangle 64"/>
          <p:cNvSpPr>
            <a:spLocks noChangeArrowheads="1"/>
          </p:cNvSpPr>
          <p:nvPr/>
        </p:nvSpPr>
        <p:spPr bwMode="auto">
          <a:xfrm>
            <a:off x="4716114" y="4186039"/>
            <a:ext cx="3924300" cy="1009650"/>
          </a:xfrm>
          <a:prstGeom prst="rect">
            <a:avLst/>
          </a:prstGeom>
          <a:noFill/>
          <a:ln w="9525">
            <a:noFill/>
            <a:miter lim="800000"/>
            <a:headEnd/>
            <a:tailEnd/>
          </a:ln>
        </p:spPr>
        <p:txBody>
          <a:bodyPr/>
          <a:lstStyle/>
          <a:p>
            <a:pPr marL="342900" indent="-342900">
              <a:spcBef>
                <a:spcPct val="20000"/>
              </a:spcBef>
              <a:buSzPct val="90000"/>
            </a:pPr>
            <a:r>
              <a:rPr lang="en-US" altLang="zh-CN" sz="2800" dirty="0">
                <a:solidFill>
                  <a:srgbClr val="000000"/>
                </a:solidFill>
              </a:rPr>
              <a:t>——</a:t>
            </a:r>
            <a:r>
              <a:rPr lang="zh-CN" altLang="en-US" sz="2800" dirty="0">
                <a:solidFill>
                  <a:srgbClr val="000000"/>
                </a:solidFill>
                <a:latin typeface="Tahoma" pitchFamily="34" charset="0"/>
              </a:rPr>
              <a:t>根据趋势方程</a:t>
            </a:r>
            <a:r>
              <a:rPr lang="zh-CN" altLang="en-US" sz="2800" b="1" dirty="0">
                <a:solidFill>
                  <a:srgbClr val="000000"/>
                </a:solidFill>
                <a:latin typeface="Tahoma" pitchFamily="34" charset="0"/>
              </a:rPr>
              <a:t>可计算各期趋势值及残差         </a:t>
            </a:r>
            <a:endParaRPr lang="zh-CN" altLang="en-US" sz="2800" b="1" i="1" dirty="0">
              <a:solidFill>
                <a:srgbClr val="000000"/>
              </a:solidFill>
              <a:latin typeface="Tahoma" pitchFamily="34" charset="0"/>
            </a:endParaRPr>
          </a:p>
        </p:txBody>
      </p:sp>
      <p:sp>
        <p:nvSpPr>
          <p:cNvPr id="217153" name="Rectangle 65"/>
          <p:cNvSpPr>
            <a:spLocks noChangeArrowheads="1"/>
          </p:cNvSpPr>
          <p:nvPr/>
        </p:nvSpPr>
        <p:spPr bwMode="auto">
          <a:xfrm>
            <a:off x="4560224" y="5480532"/>
            <a:ext cx="4105275" cy="1009650"/>
          </a:xfrm>
          <a:prstGeom prst="rect">
            <a:avLst/>
          </a:prstGeom>
          <a:noFill/>
          <a:ln w="9525">
            <a:noFill/>
            <a:miter lim="800000"/>
            <a:headEnd/>
            <a:tailEnd/>
          </a:ln>
        </p:spPr>
        <p:txBody>
          <a:bodyPr/>
          <a:lstStyle/>
          <a:p>
            <a:pPr marL="342900" indent="-342900">
              <a:spcBef>
                <a:spcPct val="20000"/>
              </a:spcBef>
              <a:buSzPct val="90000"/>
            </a:pPr>
            <a:r>
              <a:rPr lang="en-US" altLang="zh-CN" sz="2800" dirty="0">
                <a:solidFill>
                  <a:srgbClr val="000000"/>
                </a:solidFill>
              </a:rPr>
              <a:t>——</a:t>
            </a:r>
            <a:r>
              <a:rPr lang="zh-CN" altLang="en-US" sz="2800" dirty="0">
                <a:solidFill>
                  <a:srgbClr val="000000"/>
                </a:solidFill>
                <a:latin typeface="Tahoma" pitchFamily="34" charset="0"/>
              </a:rPr>
              <a:t>根据趋势方程</a:t>
            </a:r>
            <a:r>
              <a:rPr lang="zh-CN" altLang="en-US" sz="2800" b="1" dirty="0">
                <a:solidFill>
                  <a:srgbClr val="000000"/>
                </a:solidFill>
                <a:latin typeface="Tahoma" pitchFamily="34" charset="0"/>
              </a:rPr>
              <a:t>也可进行外推预测</a:t>
            </a:r>
            <a:endParaRPr lang="zh-CN" altLang="en-US" sz="2800" b="1" i="1" dirty="0">
              <a:solidFill>
                <a:srgbClr val="000000"/>
              </a:solidFill>
              <a:latin typeface="Tahoma" pitchFamily="34" charset="0"/>
            </a:endParaRPr>
          </a:p>
        </p:txBody>
      </p:sp>
      <p:graphicFrame>
        <p:nvGraphicFramePr>
          <p:cNvPr id="217225" name="Group 137"/>
          <p:cNvGraphicFramePr>
            <a:graphicFrameLocks noGrp="1"/>
          </p:cNvGraphicFramePr>
          <p:nvPr>
            <p:extLst>
              <p:ext uri="{D42A27DB-BD31-4B8C-83A1-F6EECF244321}">
                <p14:modId xmlns:p14="http://schemas.microsoft.com/office/powerpoint/2010/main" val="1510290991"/>
              </p:ext>
            </p:extLst>
          </p:nvPr>
        </p:nvGraphicFramePr>
        <p:xfrm>
          <a:off x="2411413" y="764704"/>
          <a:ext cx="1871662" cy="4843145"/>
        </p:xfrm>
        <a:graphic>
          <a:graphicData uri="http://schemas.openxmlformats.org/drawingml/2006/table">
            <a:tbl>
              <a:tblPr/>
              <a:tblGrid>
                <a:gridCol w="1008062">
                  <a:extLst>
                    <a:ext uri="{9D8B030D-6E8A-4147-A177-3AD203B41FA5}">
                      <a16:colId xmlns:a16="http://schemas.microsoft.com/office/drawing/2014/main" val="20000"/>
                    </a:ext>
                  </a:extLst>
                </a:gridCol>
                <a:gridCol w="863600">
                  <a:extLst>
                    <a:ext uri="{9D8B030D-6E8A-4147-A177-3AD203B41FA5}">
                      <a16:colId xmlns:a16="http://schemas.microsoft.com/office/drawing/2014/main" val="20001"/>
                    </a:ext>
                  </a:extLst>
                </a:gridCol>
              </a:tblGrid>
              <a:tr h="454025">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rgbClr val="CC0099"/>
                          </a:solidFill>
                          <a:effectLst/>
                          <a:latin typeface="宋体" pitchFamily="2" charset="-122"/>
                          <a:ea typeface="宋体" pitchFamily="2" charset="-122"/>
                        </a:rPr>
                        <a:t>趋势值</a:t>
                      </a:r>
                      <a:endParaRPr kumimoji="0" lang="zh-CN" altLang="en-US" sz="1800" b="1" i="0" u="none" strike="noStrike" cap="none" normalizeH="0" baseline="0" dirty="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zh-CN" altLang="en-US" sz="1800" b="1" i="0" u="none" strike="noStrike" cap="none" normalizeH="0" baseline="0" dirty="0" smtClean="0">
                          <a:ln>
                            <a:noFill/>
                          </a:ln>
                          <a:solidFill>
                            <a:srgbClr val="3333FF"/>
                          </a:solidFill>
                          <a:effectLst/>
                          <a:latin typeface="宋体" pitchFamily="2" charset="-122"/>
                          <a:ea typeface="宋体" pitchFamily="2" charset="-122"/>
                        </a:rPr>
                        <a:t>残差</a:t>
                      </a:r>
                      <a:endParaRPr kumimoji="0" lang="zh-CN" altLang="en-US" sz="1800" b="1" i="0" u="none" strike="noStrike" cap="none" normalizeH="0" baseline="0" dirty="0" smtClean="0">
                        <a:ln>
                          <a:noFill/>
                        </a:ln>
                        <a:solidFill>
                          <a:srgbClr val="3333FF"/>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7463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50.95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3.05 </a:t>
                      </a:r>
                      <a:endParaRPr kumimoji="0" lang="en-US" altLang="zh-CN" sz="1800" b="1"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27463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55.79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-5.79 </a:t>
                      </a:r>
                      <a:endParaRPr kumimoji="0" lang="en-US" altLang="zh-CN" sz="1800" b="1"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27463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60.63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-8.63 </a:t>
                      </a:r>
                      <a:endParaRPr kumimoji="0" lang="en-US" altLang="zh-CN" sz="1800" b="1"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27463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65.48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1.52 </a:t>
                      </a:r>
                      <a:endParaRPr kumimoji="0" lang="en-US" altLang="zh-CN" sz="1800" b="1"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27463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70.32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11.68 </a:t>
                      </a:r>
                      <a:endParaRPr kumimoji="0" lang="en-US" altLang="zh-CN" sz="1800" b="1"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5"/>
                  </a:ext>
                </a:extLst>
              </a:tr>
              <a:tr h="27463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75.16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-5.16 </a:t>
                      </a:r>
                      <a:endParaRPr kumimoji="0" lang="en-US" altLang="zh-CN" sz="1800" b="1"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6"/>
                  </a:ext>
                </a:extLst>
              </a:tr>
              <a:tr h="27463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80.00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9.00 </a:t>
                      </a:r>
                      <a:endParaRPr kumimoji="0" lang="en-US" altLang="zh-CN" sz="1800" b="1"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7"/>
                  </a:ext>
                </a:extLst>
              </a:tr>
              <a:tr h="27463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84.85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3.15 </a:t>
                      </a:r>
                      <a:endParaRPr kumimoji="0" lang="en-US" altLang="zh-CN" sz="1800" b="1"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8"/>
                  </a:ext>
                </a:extLst>
              </a:tr>
              <a:tr h="27463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89.69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-5.69 </a:t>
                      </a:r>
                      <a:endParaRPr kumimoji="0" lang="en-US" altLang="zh-CN" sz="1800" b="1"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9"/>
                  </a:ext>
                </a:extLst>
              </a:tr>
              <a:tr h="36353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94.53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3.47 </a:t>
                      </a:r>
                      <a:endParaRPr kumimoji="0" lang="en-US" altLang="zh-CN" sz="1800" b="1"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0"/>
                  </a:ext>
                </a:extLst>
              </a:tr>
              <a:tr h="358775">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99.38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宋体" pitchFamily="2" charset="-122"/>
                          <a:ea typeface="宋体" pitchFamily="2" charset="-122"/>
                        </a:rPr>
                        <a:t>-8.38 </a:t>
                      </a:r>
                      <a:endParaRPr kumimoji="0" lang="en-US" altLang="zh-CN" sz="1800" b="1" i="0" u="none" strike="noStrike" cap="none" normalizeH="0" baseline="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1"/>
                  </a:ext>
                </a:extLst>
              </a:tr>
              <a:tr h="217488">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C0099"/>
                          </a:solidFill>
                          <a:effectLst/>
                          <a:latin typeface="宋体" pitchFamily="2" charset="-122"/>
                          <a:ea typeface="宋体" pitchFamily="2" charset="-122"/>
                        </a:rPr>
                        <a:t>104.22 </a:t>
                      </a:r>
                      <a:endParaRPr kumimoji="0" lang="en-US" altLang="zh-CN" sz="1800" b="1" i="0" u="none" strike="noStrike" cap="none" normalizeH="0" baseline="0" dirty="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cap="flat">
                      <a:noFill/>
                    </a:lnB>
                    <a:lnTlToBr>
                      <a:noFill/>
                    </a:lnTlToBr>
                    <a:lnBlToTr>
                      <a:noFill/>
                    </a:lnBlToTr>
                    <a:solidFill>
                      <a:srgbClr val="99CC0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宋体" pitchFamily="2" charset="-122"/>
                          <a:ea typeface="宋体" pitchFamily="2" charset="-122"/>
                        </a:rPr>
                        <a:t>1.78 </a:t>
                      </a:r>
                      <a:endParaRPr kumimoji="0" lang="en-US" altLang="zh-CN" sz="1800" b="1" i="0" u="none" strike="noStrike" cap="none" normalizeH="0" baseline="0" dirty="0" smtClean="0">
                        <a:ln>
                          <a:noFill/>
                        </a:ln>
                        <a:solidFill>
                          <a:schemeClr val="tx1"/>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cap="flat">
                      <a:noFill/>
                    </a:lnB>
                    <a:lnTlToBr>
                      <a:noFill/>
                    </a:lnTlToBr>
                    <a:lnBlToTr>
                      <a:noFill/>
                    </a:lnBlToTr>
                    <a:solidFill>
                      <a:schemeClr val="accent1"/>
                    </a:solidFill>
                  </a:tcPr>
                </a:tc>
                <a:extLst>
                  <a:ext uri="{0D108BD9-81ED-4DB2-BD59-A6C34878D82A}">
                    <a16:rowId xmlns:a16="http://schemas.microsoft.com/office/drawing/2014/main" val="10012"/>
                  </a:ext>
                </a:extLst>
              </a:tr>
            </a:tbl>
          </a:graphicData>
        </a:graphic>
      </p:graphicFrame>
      <p:graphicFrame>
        <p:nvGraphicFramePr>
          <p:cNvPr id="217224" name="Group 136"/>
          <p:cNvGraphicFramePr>
            <a:graphicFrameLocks noGrp="1"/>
          </p:cNvGraphicFramePr>
          <p:nvPr/>
        </p:nvGraphicFramePr>
        <p:xfrm>
          <a:off x="179388" y="5589117"/>
          <a:ext cx="3338830" cy="792480"/>
        </p:xfrm>
        <a:graphic>
          <a:graphicData uri="http://schemas.openxmlformats.org/drawingml/2006/table">
            <a:tbl>
              <a:tblPr/>
              <a:tblGrid>
                <a:gridCol w="208280">
                  <a:extLst>
                    <a:ext uri="{9D8B030D-6E8A-4147-A177-3AD203B41FA5}">
                      <a16:colId xmlns:a16="http://schemas.microsoft.com/office/drawing/2014/main" val="20000"/>
                    </a:ext>
                  </a:extLst>
                </a:gridCol>
                <a:gridCol w="896938">
                  <a:extLst>
                    <a:ext uri="{9D8B030D-6E8A-4147-A177-3AD203B41FA5}">
                      <a16:colId xmlns:a16="http://schemas.microsoft.com/office/drawing/2014/main" val="20001"/>
                    </a:ext>
                  </a:extLst>
                </a:gridCol>
                <a:gridCol w="1152525">
                  <a:extLst>
                    <a:ext uri="{9D8B030D-6E8A-4147-A177-3AD203B41FA5}">
                      <a16:colId xmlns:a16="http://schemas.microsoft.com/office/drawing/2014/main" val="20002"/>
                    </a:ext>
                  </a:extLst>
                </a:gridCol>
                <a:gridCol w="1081087">
                  <a:extLst>
                    <a:ext uri="{9D8B030D-6E8A-4147-A177-3AD203B41FA5}">
                      <a16:colId xmlns:a16="http://schemas.microsoft.com/office/drawing/2014/main" val="20003"/>
                    </a:ext>
                  </a:extLst>
                </a:gridCol>
              </a:tblGrid>
              <a:tr h="360363">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1" i="0" u="none" strike="noStrike" cap="none" normalizeH="0" baseline="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99"/>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FF0066"/>
                          </a:solidFill>
                          <a:effectLst/>
                          <a:latin typeface="宋体" pitchFamily="2" charset="-122"/>
                          <a:ea typeface="宋体" pitchFamily="2" charset="-122"/>
                        </a:rPr>
                        <a:t>13</a:t>
                      </a:r>
                      <a:endParaRPr kumimoji="0" lang="en-US" altLang="zh-CN" sz="1800" b="1" i="0" u="none" strike="noStrike" cap="none" normalizeH="0" baseline="0" smtClean="0">
                        <a:ln>
                          <a:noFill/>
                        </a:ln>
                        <a:solidFill>
                          <a:srgbClr val="FF0066"/>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99"/>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chemeClr val="hlink"/>
                          </a:solidFill>
                          <a:effectLst/>
                          <a:latin typeface="宋体" pitchFamily="2" charset="-122"/>
                          <a:ea typeface="宋体" pitchFamily="2" charset="-122"/>
                        </a:rPr>
                        <a:t>　</a:t>
                      </a:r>
                      <a:endParaRPr kumimoji="0" lang="zh-CN" altLang="en-US" sz="1800" b="1" i="0" u="none" strike="noStrike" cap="none" normalizeH="0" baseline="0" smtClean="0">
                        <a:ln>
                          <a:noFill/>
                        </a:ln>
                        <a:solidFill>
                          <a:schemeClr val="hlink"/>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99"/>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FF0066"/>
                          </a:solidFill>
                          <a:effectLst/>
                          <a:latin typeface="宋体" pitchFamily="2" charset="-122"/>
                          <a:ea typeface="宋体" pitchFamily="2" charset="-122"/>
                        </a:rPr>
                        <a:t>109.06</a:t>
                      </a:r>
                      <a:endParaRPr kumimoji="0" lang="en-US" altLang="zh-CN" sz="2000" b="1" i="0" u="none" strike="noStrike" cap="none" normalizeH="0" baseline="0" smtClean="0">
                        <a:ln>
                          <a:noFill/>
                        </a:ln>
                        <a:solidFill>
                          <a:srgbClr val="FF0066"/>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99"/>
                    </a:solidFill>
                  </a:tcPr>
                </a:tc>
                <a:extLst>
                  <a:ext uri="{0D108BD9-81ED-4DB2-BD59-A6C34878D82A}">
                    <a16:rowId xmlns:a16="http://schemas.microsoft.com/office/drawing/2014/main" val="10000"/>
                  </a:ext>
                </a:extLst>
              </a:tr>
              <a:tr h="354013">
                <a:tc>
                  <a:txBody>
                    <a:bodyPr/>
                    <a:lstStyle/>
                    <a:p>
                      <a:pPr marL="0" marR="0" lvl="0" indent="0" algn="ctr" defTabSz="914400" rtl="0" eaLnBrk="1" fontAlgn="b" latinLnBrk="0" hangingPunct="1">
                        <a:lnSpc>
                          <a:spcPct val="100000"/>
                        </a:lnSpc>
                        <a:spcBef>
                          <a:spcPct val="0"/>
                        </a:spcBef>
                        <a:spcAft>
                          <a:spcPct val="0"/>
                        </a:spcAft>
                        <a:buClrTx/>
                        <a:buSzTx/>
                        <a:buFontTx/>
                        <a:buNone/>
                        <a:tabLst/>
                      </a:pPr>
                      <a:endParaRPr kumimoji="0" lang="zh-CN" altLang="zh-CN" sz="1800" b="1" i="0" u="none" strike="noStrike" cap="none" normalizeH="0" baseline="0" smtClean="0">
                        <a:ln>
                          <a:noFill/>
                        </a:ln>
                        <a:solidFill>
                          <a:srgbClr val="CC0099"/>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99"/>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FF0066"/>
                          </a:solidFill>
                          <a:effectLst/>
                          <a:latin typeface="宋体" pitchFamily="2" charset="-122"/>
                          <a:ea typeface="宋体" pitchFamily="2" charset="-122"/>
                        </a:rPr>
                        <a:t>14</a:t>
                      </a:r>
                      <a:endParaRPr kumimoji="0" lang="en-US" altLang="zh-CN" sz="1800" b="1" i="0" u="none" strike="noStrike" cap="none" normalizeH="0" baseline="0" smtClean="0">
                        <a:ln>
                          <a:noFill/>
                        </a:ln>
                        <a:solidFill>
                          <a:srgbClr val="FF0066"/>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99"/>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1" i="0" u="none" strike="noStrike" cap="none" normalizeH="0" baseline="0" smtClean="0">
                          <a:ln>
                            <a:noFill/>
                          </a:ln>
                          <a:solidFill>
                            <a:schemeClr val="hlink"/>
                          </a:solidFill>
                          <a:effectLst/>
                          <a:latin typeface="宋体" pitchFamily="2" charset="-122"/>
                          <a:ea typeface="宋体" pitchFamily="2" charset="-122"/>
                        </a:rPr>
                        <a:t>　</a:t>
                      </a:r>
                      <a:endParaRPr kumimoji="0" lang="zh-CN" altLang="en-US" sz="1800" b="1" i="0" u="none" strike="noStrike" cap="none" normalizeH="0" baseline="0" smtClean="0">
                        <a:ln>
                          <a:noFill/>
                        </a:ln>
                        <a:solidFill>
                          <a:schemeClr val="hlink"/>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99"/>
                    </a:solid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FF0066"/>
                          </a:solidFill>
                          <a:effectLst/>
                          <a:latin typeface="宋体" pitchFamily="2" charset="-122"/>
                          <a:ea typeface="宋体" pitchFamily="2" charset="-122"/>
                        </a:rPr>
                        <a:t>113.90</a:t>
                      </a:r>
                      <a:endParaRPr kumimoji="0" lang="en-US" altLang="zh-CN" sz="2000" b="1" i="0" u="none" strike="noStrike" cap="none" normalizeH="0" baseline="0" smtClean="0">
                        <a:ln>
                          <a:noFill/>
                        </a:ln>
                        <a:solidFill>
                          <a:srgbClr val="FF0066"/>
                        </a:solidFill>
                        <a:effectLst/>
                        <a:latin typeface="Arial" charset="0"/>
                        <a:ea typeface="宋体"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99"/>
                    </a:solidFill>
                  </a:tcPr>
                </a:tc>
                <a:extLst>
                  <a:ext uri="{0D108BD9-81ED-4DB2-BD59-A6C34878D82A}">
                    <a16:rowId xmlns:a16="http://schemas.microsoft.com/office/drawing/2014/main" val="10001"/>
                  </a:ext>
                </a:extLst>
              </a:tr>
            </a:tbl>
          </a:graphicData>
        </a:graphic>
      </p:graphicFrame>
      <p:sp>
        <p:nvSpPr>
          <p:cNvPr id="55422" name="日期占位符 11"/>
          <p:cNvSpPr>
            <a:spLocks noGrp="1"/>
          </p:cNvSpPr>
          <p:nvPr>
            <p:ph type="dt" sz="quarter" idx="10"/>
          </p:nvPr>
        </p:nvSpPr>
        <p:spPr>
          <a:xfrm>
            <a:off x="665163" y="6151092"/>
            <a:ext cx="1905000" cy="457200"/>
          </a:xfrm>
          <a:noFill/>
        </p:spPr>
        <p:txBody>
          <a:bodyPr/>
          <a:lstStyle/>
          <a:p>
            <a:endParaRPr lang="en-US" altLang="zh-CN"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17152"/>
                                        </p:tgtEl>
                                        <p:attrNameLst>
                                          <p:attrName>style.visibility</p:attrName>
                                        </p:attrNameLst>
                                      </p:cBhvr>
                                      <p:to>
                                        <p:strVal val="visible"/>
                                      </p:to>
                                    </p:set>
                                    <p:anim calcmode="discrete" valueType="clr">
                                      <p:cBhvr override="childStyle">
                                        <p:cTn id="7" dur="80"/>
                                        <p:tgtEl>
                                          <p:spTgt spid="21715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17152"/>
                                        </p:tgtEl>
                                        <p:attrNameLst>
                                          <p:attrName>fillcolor</p:attrName>
                                        </p:attrNameLst>
                                      </p:cBhvr>
                                      <p:tavLst>
                                        <p:tav tm="0">
                                          <p:val>
                                            <p:clrVal>
                                              <a:schemeClr val="accent2"/>
                                            </p:clrVal>
                                          </p:val>
                                        </p:tav>
                                        <p:tav tm="50000">
                                          <p:val>
                                            <p:clrVal>
                                              <a:schemeClr val="hlink"/>
                                            </p:clrVal>
                                          </p:val>
                                        </p:tav>
                                      </p:tavLst>
                                    </p:anim>
                                    <p:set>
                                      <p:cBhvr>
                                        <p:cTn id="9" dur="80"/>
                                        <p:tgtEl>
                                          <p:spTgt spid="217152"/>
                                        </p:tgtEl>
                                        <p:attrNameLst>
                                          <p:attrName>fill.type</p:attrName>
                                        </p:attrNameLst>
                                      </p:cBhvr>
                                      <p:to>
                                        <p:strVal val="solid"/>
                                      </p:to>
                                    </p:set>
                                  </p:childTnLst>
                                </p:cTn>
                              </p:par>
                            </p:childTnLst>
                          </p:cTn>
                        </p:par>
                        <p:par>
                          <p:cTn id="10" fill="hold">
                            <p:stCondLst>
                              <p:cond delay="800"/>
                            </p:stCondLst>
                            <p:childTnLst>
                              <p:par>
                                <p:cTn id="11" presetID="12" presetClass="entr" presetSubtype="2" fill="hold" nodeType="afterEffect">
                                  <p:stCondLst>
                                    <p:cond delay="0"/>
                                  </p:stCondLst>
                                  <p:childTnLst>
                                    <p:set>
                                      <p:cBhvr>
                                        <p:cTn id="12" dur="1" fill="hold">
                                          <p:stCondLst>
                                            <p:cond delay="0"/>
                                          </p:stCondLst>
                                        </p:cTn>
                                        <p:tgtEl>
                                          <p:spTgt spid="217225"/>
                                        </p:tgtEl>
                                        <p:attrNameLst>
                                          <p:attrName>style.visibility</p:attrName>
                                        </p:attrNameLst>
                                      </p:cBhvr>
                                      <p:to>
                                        <p:strVal val="visible"/>
                                      </p:to>
                                    </p:set>
                                    <p:animEffect transition="in" filter="slide(fromRight)">
                                      <p:cBhvr>
                                        <p:cTn id="13" dur="500"/>
                                        <p:tgtEl>
                                          <p:spTgt spid="217225"/>
                                        </p:tgtEl>
                                      </p:cBhvr>
                                    </p:animEffect>
                                  </p:childTnLst>
                                </p:cTn>
                              </p:par>
                            </p:childTnLst>
                          </p:cTn>
                        </p:par>
                      </p:childTnLst>
                    </p:cTn>
                  </p:par>
                  <p:par>
                    <p:cTn id="14" fill="hold">
                      <p:stCondLst>
                        <p:cond delay="indefinite"/>
                      </p:stCondLst>
                      <p:childTnLst>
                        <p:par>
                          <p:cTn id="15" fill="hold">
                            <p:stCondLst>
                              <p:cond delay="0"/>
                            </p:stCondLst>
                            <p:childTnLst>
                              <p:par>
                                <p:cTn id="16" presetID="27" presetClass="entr" presetSubtype="0" fill="hold" grpId="0" nodeType="clickEffect">
                                  <p:stCondLst>
                                    <p:cond delay="0"/>
                                  </p:stCondLst>
                                  <p:iterate type="lt">
                                    <p:tmPct val="50000"/>
                                  </p:iterate>
                                  <p:childTnLst>
                                    <p:set>
                                      <p:cBhvr>
                                        <p:cTn id="17" dur="1" fill="hold">
                                          <p:stCondLst>
                                            <p:cond delay="0"/>
                                          </p:stCondLst>
                                        </p:cTn>
                                        <p:tgtEl>
                                          <p:spTgt spid="217153"/>
                                        </p:tgtEl>
                                        <p:attrNameLst>
                                          <p:attrName>style.visibility</p:attrName>
                                        </p:attrNameLst>
                                      </p:cBhvr>
                                      <p:to>
                                        <p:strVal val="visible"/>
                                      </p:to>
                                    </p:set>
                                    <p:anim calcmode="discrete" valueType="clr">
                                      <p:cBhvr override="childStyle">
                                        <p:cTn id="18" dur="80"/>
                                        <p:tgtEl>
                                          <p:spTgt spid="217153"/>
                                        </p:tgtEl>
                                        <p:attrNameLst>
                                          <p:attrName>style.color</p:attrName>
                                        </p:attrNameLst>
                                      </p:cBhvr>
                                      <p:tavLst>
                                        <p:tav tm="0">
                                          <p:val>
                                            <p:clrVal>
                                              <a:schemeClr val="accent2"/>
                                            </p:clrVal>
                                          </p:val>
                                        </p:tav>
                                        <p:tav tm="50000">
                                          <p:val>
                                            <p:clrVal>
                                              <a:schemeClr val="hlink"/>
                                            </p:clrVal>
                                          </p:val>
                                        </p:tav>
                                      </p:tavLst>
                                    </p:anim>
                                    <p:anim calcmode="discrete" valueType="clr">
                                      <p:cBhvr>
                                        <p:cTn id="19" dur="80"/>
                                        <p:tgtEl>
                                          <p:spTgt spid="217153"/>
                                        </p:tgtEl>
                                        <p:attrNameLst>
                                          <p:attrName>fillcolor</p:attrName>
                                        </p:attrNameLst>
                                      </p:cBhvr>
                                      <p:tavLst>
                                        <p:tav tm="0">
                                          <p:val>
                                            <p:clrVal>
                                              <a:schemeClr val="accent2"/>
                                            </p:clrVal>
                                          </p:val>
                                        </p:tav>
                                        <p:tav tm="50000">
                                          <p:val>
                                            <p:clrVal>
                                              <a:schemeClr val="hlink"/>
                                            </p:clrVal>
                                          </p:val>
                                        </p:tav>
                                      </p:tavLst>
                                    </p:anim>
                                    <p:set>
                                      <p:cBhvr>
                                        <p:cTn id="20" dur="80"/>
                                        <p:tgtEl>
                                          <p:spTgt spid="217153"/>
                                        </p:tgtEl>
                                        <p:attrNameLst>
                                          <p:attrName>fill.type</p:attrName>
                                        </p:attrNameLst>
                                      </p:cBhvr>
                                      <p:to>
                                        <p:strVal val="solid"/>
                                      </p:to>
                                    </p:set>
                                  </p:childTnLst>
                                </p:cTn>
                              </p:par>
                            </p:childTnLst>
                          </p:cTn>
                        </p:par>
                        <p:par>
                          <p:cTn id="21" fill="hold">
                            <p:stCondLst>
                              <p:cond delay="680"/>
                            </p:stCondLst>
                            <p:childTnLst>
                              <p:par>
                                <p:cTn id="22" presetID="12" presetClass="entr" presetSubtype="1" fill="hold" nodeType="afterEffect">
                                  <p:stCondLst>
                                    <p:cond delay="0"/>
                                  </p:stCondLst>
                                  <p:childTnLst>
                                    <p:set>
                                      <p:cBhvr>
                                        <p:cTn id="23" dur="1" fill="hold">
                                          <p:stCondLst>
                                            <p:cond delay="0"/>
                                          </p:stCondLst>
                                        </p:cTn>
                                        <p:tgtEl>
                                          <p:spTgt spid="217224"/>
                                        </p:tgtEl>
                                        <p:attrNameLst>
                                          <p:attrName>style.visibility</p:attrName>
                                        </p:attrNameLst>
                                      </p:cBhvr>
                                      <p:to>
                                        <p:strVal val="visible"/>
                                      </p:to>
                                    </p:set>
                                    <p:animEffect transition="in" filter="slide(fromTop)">
                                      <p:cBhvr>
                                        <p:cTn id="24" dur="500"/>
                                        <p:tgtEl>
                                          <p:spTgt spid="2172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152" grpId="0"/>
      <p:bldP spid="217153" grpId="0"/>
    </p:bldLst>
  </p:timing>
</p:sld>
</file>

<file path=ppt/slides/slide1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23" name="Rectangle 2"/>
          <p:cNvSpPr>
            <a:spLocks noGrp="1" noChangeArrowheads="1"/>
          </p:cNvSpPr>
          <p:nvPr>
            <p:ph type="body" idx="1"/>
          </p:nvPr>
        </p:nvSpPr>
        <p:spPr>
          <a:xfrm>
            <a:off x="1385399" y="1840706"/>
            <a:ext cx="6624638" cy="4197311"/>
          </a:xfrm>
        </p:spPr>
        <p:txBody>
          <a:bodyPr/>
          <a:lstStyle/>
          <a:p>
            <a:pPr marL="609600" indent="-609600" algn="just" eaLnBrk="1" hangingPunct="1">
              <a:lnSpc>
                <a:spcPct val="150000"/>
              </a:lnSpc>
              <a:buFontTx/>
              <a:buNone/>
            </a:pPr>
            <a:r>
              <a:rPr lang="zh-CN" altLang="en-US" dirty="0" smtClean="0"/>
              <a:t>常见的非线性形式</a:t>
            </a:r>
            <a:r>
              <a:rPr lang="zh-CN" altLang="en-US" sz="2800" dirty="0" smtClean="0"/>
              <a:t>：</a:t>
            </a:r>
            <a:endParaRPr lang="zh-CN" altLang="en-US" sz="2800" dirty="0" smtClean="0">
              <a:latin typeface="Times New Roman" pitchFamily="18" charset="0"/>
            </a:endParaRPr>
          </a:p>
          <a:p>
            <a:pPr marL="987425" lvl="1" indent="-301625" algn="just" eaLnBrk="1" hangingPunct="1">
              <a:lnSpc>
                <a:spcPct val="150000"/>
              </a:lnSpc>
              <a:buFontTx/>
              <a:buChar char="•"/>
            </a:pPr>
            <a:r>
              <a:rPr lang="zh-CN" altLang="en-US" dirty="0" smtClean="0"/>
              <a:t>二次曲线（</a:t>
            </a:r>
            <a:r>
              <a:rPr lang="zh-CN" altLang="en-US" dirty="0" smtClean="0">
                <a:latin typeface="Times New Roman" pitchFamily="18" charset="0"/>
              </a:rPr>
              <a:t>抛物线）</a:t>
            </a:r>
          </a:p>
          <a:p>
            <a:pPr marL="987425" lvl="1" indent="-301625" algn="just" eaLnBrk="1" hangingPunct="1">
              <a:lnSpc>
                <a:spcPct val="150000"/>
              </a:lnSpc>
              <a:buFontTx/>
              <a:buChar char="•"/>
            </a:pPr>
            <a:r>
              <a:rPr lang="zh-CN" altLang="en-US" dirty="0" smtClean="0"/>
              <a:t>指数曲线和修正指数曲线</a:t>
            </a:r>
          </a:p>
          <a:p>
            <a:pPr marL="987425" lvl="1" indent="-301625" algn="just" eaLnBrk="1" hangingPunct="1">
              <a:lnSpc>
                <a:spcPct val="150000"/>
              </a:lnSpc>
              <a:buFontTx/>
              <a:buChar char="•"/>
            </a:pPr>
            <a:r>
              <a:rPr lang="en-US" altLang="zh-CN" i="1" dirty="0" smtClean="0">
                <a:latin typeface="Times New Roman" pitchFamily="18" charset="0"/>
              </a:rPr>
              <a:t>S</a:t>
            </a:r>
            <a:r>
              <a:rPr lang="zh-CN" altLang="en-US" dirty="0" smtClean="0"/>
              <a:t>曲线形式（成长曲线）</a:t>
            </a:r>
          </a:p>
          <a:p>
            <a:pPr marL="1160463" lvl="2" indent="276225" algn="just" eaLnBrk="1" hangingPunct="1">
              <a:lnSpc>
                <a:spcPct val="150000"/>
              </a:lnSpc>
              <a:buFontTx/>
              <a:buChar char="•"/>
            </a:pPr>
            <a:r>
              <a:rPr lang="zh-CN" altLang="en-US" dirty="0" smtClean="0">
                <a:solidFill>
                  <a:schemeClr val="tx1"/>
                </a:solidFill>
              </a:rPr>
              <a:t>龚铂资曲线</a:t>
            </a:r>
          </a:p>
          <a:p>
            <a:pPr marL="1160463" lvl="2" indent="276225" algn="just" eaLnBrk="1" hangingPunct="1">
              <a:lnSpc>
                <a:spcPct val="150000"/>
              </a:lnSpc>
              <a:buFontTx/>
              <a:buChar char="•"/>
            </a:pPr>
            <a:r>
              <a:rPr lang="en-US" altLang="zh-CN" i="1" dirty="0" smtClean="0">
                <a:solidFill>
                  <a:schemeClr val="tx1"/>
                </a:solidFill>
              </a:rPr>
              <a:t>Logistic</a:t>
            </a:r>
            <a:r>
              <a:rPr lang="zh-CN" altLang="en-US" dirty="0" smtClean="0">
                <a:solidFill>
                  <a:schemeClr val="tx1"/>
                </a:solidFill>
              </a:rPr>
              <a:t>曲线</a:t>
            </a:r>
          </a:p>
        </p:txBody>
      </p:sp>
      <p:sp>
        <p:nvSpPr>
          <p:cNvPr id="133124" name="Rectangle 3"/>
          <p:cNvSpPr>
            <a:spLocks noGrp="1" noChangeArrowheads="1"/>
          </p:cNvSpPr>
          <p:nvPr>
            <p:ph type="title"/>
          </p:nvPr>
        </p:nvSpPr>
        <p:spPr>
          <a:xfrm>
            <a:off x="971600" y="697706"/>
            <a:ext cx="7010400" cy="1143000"/>
          </a:xfrm>
        </p:spPr>
        <p:txBody>
          <a:bodyPr lIns="90488" tIns="44450" rIns="90488" bIns="44450" anchor="ctr" anchorCtr="1"/>
          <a:lstStyle/>
          <a:p>
            <a:pPr eaLnBrk="1" hangingPunct="1"/>
            <a:r>
              <a:rPr lang="en-US" altLang="zh-CN" dirty="0" smtClean="0"/>
              <a:t>【</a:t>
            </a:r>
            <a:r>
              <a:rPr lang="zh-CN" altLang="en-US" dirty="0" smtClean="0"/>
              <a:t>附</a:t>
            </a:r>
            <a:r>
              <a:rPr lang="en-US" altLang="zh-CN" dirty="0" smtClean="0"/>
              <a:t>】</a:t>
            </a:r>
            <a:r>
              <a:rPr lang="zh-CN" altLang="en-US" dirty="0" smtClean="0"/>
              <a:t>非线性</a:t>
            </a:r>
            <a:r>
              <a:rPr lang="zh-CN" altLang="en-US" dirty="0" smtClean="0"/>
              <a:t>方程拟合</a:t>
            </a:r>
            <a:endParaRPr lang="zh-CN" altLang="en-US" sz="4000" dirty="0" smtClean="0">
              <a:latin typeface="Times New Roman" pitchFamily="18" charset="0"/>
            </a:endParaRPr>
          </a:p>
        </p:txBody>
      </p:sp>
      <p:sp>
        <p:nvSpPr>
          <p:cNvPr id="133125" name="Rectangle 7"/>
          <p:cNvSpPr>
            <a:spLocks noChangeArrowheads="1"/>
          </p:cNvSpPr>
          <p:nvPr/>
        </p:nvSpPr>
        <p:spPr bwMode="auto">
          <a:xfrm>
            <a:off x="1979613" y="4076700"/>
            <a:ext cx="5410200" cy="1219200"/>
          </a:xfrm>
          <a:prstGeom prst="rect">
            <a:avLst/>
          </a:prstGeom>
          <a:noFill/>
          <a:ln w="12700">
            <a:noFill/>
            <a:miter lim="800000"/>
            <a:headEnd/>
            <a:tailEnd/>
          </a:ln>
        </p:spPr>
        <p:txBody>
          <a:bodyPr lIns="90488" tIns="44450" rIns="90488" bIns="44450"/>
          <a:lstStyle/>
          <a:p>
            <a:pPr marL="609600" indent="-609600" algn="just" eaLnBrk="0" hangingPunct="0">
              <a:spcBef>
                <a:spcPct val="20000"/>
              </a:spcBef>
              <a:buClr>
                <a:schemeClr val="hlink"/>
              </a:buClr>
              <a:buFont typeface="Wingdings" pitchFamily="2" charset="2"/>
              <a:buChar char="§"/>
            </a:pPr>
            <a:endParaRPr kumimoji="1" lang="zh-CN" altLang="zh-CN" sz="2800" b="1">
              <a:solidFill>
                <a:srgbClr val="000000"/>
              </a:solidFill>
              <a:latin typeface="Times New Roman" pitchFamily="18" charset="0"/>
            </a:endParaRPr>
          </a:p>
        </p:txBody>
      </p:sp>
      <p:sp>
        <p:nvSpPr>
          <p:cNvPr id="133126" name="日期占位符 5"/>
          <p:cNvSpPr>
            <a:spLocks noGrp="1"/>
          </p:cNvSpPr>
          <p:nvPr>
            <p:ph type="dt" sz="quarter" idx="10"/>
          </p:nvPr>
        </p:nvSpPr>
        <p:spPr>
          <a:noFill/>
        </p:spPr>
        <p:txBody>
          <a:bodyPr/>
          <a:lstStyle/>
          <a:p>
            <a:endParaRPr lang="en-US" altLang="zh-CN" smtClean="0"/>
          </a:p>
        </p:txBody>
      </p:sp>
    </p:spTree>
  </p:cSld>
  <p:clrMapOvr>
    <a:masterClrMapping/>
  </p:clrMapOvr>
  <p:transition>
    <p:wipe dir="r"/>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4" name="Rectangle 2"/>
          <p:cNvSpPr>
            <a:spLocks noGrp="1" noChangeArrowheads="1"/>
          </p:cNvSpPr>
          <p:nvPr>
            <p:ph type="body" idx="1"/>
          </p:nvPr>
        </p:nvSpPr>
        <p:spPr>
          <a:xfrm>
            <a:off x="457200" y="1828800"/>
            <a:ext cx="8153400" cy="1219200"/>
          </a:xfrm>
        </p:spPr>
        <p:txBody>
          <a:bodyPr/>
          <a:lstStyle/>
          <a:p>
            <a:pPr marL="609600" indent="-609600" algn="just" eaLnBrk="1" hangingPunct="1">
              <a:buFontTx/>
              <a:buAutoNum type="arabicPeriod"/>
            </a:pPr>
            <a:r>
              <a:rPr lang="zh-CN" altLang="en-US" sz="2800" smtClean="0">
                <a:latin typeface="Times New Roman" pitchFamily="18" charset="0"/>
              </a:rPr>
              <a:t>现象的发展趋势为</a:t>
            </a:r>
            <a:r>
              <a:rPr lang="zh-CN" altLang="en-US" sz="2800" smtClean="0"/>
              <a:t>二次曲线（</a:t>
            </a:r>
            <a:r>
              <a:rPr lang="zh-CN" altLang="en-US" sz="2800" smtClean="0">
                <a:latin typeface="Times New Roman" pitchFamily="18" charset="0"/>
              </a:rPr>
              <a:t>抛物线）形态</a:t>
            </a:r>
          </a:p>
          <a:p>
            <a:pPr marL="609600" indent="-609600" algn="just" eaLnBrk="1" hangingPunct="1">
              <a:buFontTx/>
              <a:buAutoNum type="arabicPeriod"/>
            </a:pPr>
            <a:r>
              <a:rPr lang="zh-CN" altLang="en-US" sz="2800" smtClean="0">
                <a:latin typeface="Times New Roman" pitchFamily="18" charset="0"/>
              </a:rPr>
              <a:t>一般形式为 ：</a:t>
            </a:r>
          </a:p>
        </p:txBody>
      </p:sp>
      <p:sp>
        <p:nvSpPr>
          <p:cNvPr id="56325" name="Rectangle 3"/>
          <p:cNvSpPr>
            <a:spLocks noGrp="1" noChangeArrowheads="1"/>
          </p:cNvSpPr>
          <p:nvPr>
            <p:ph type="title"/>
          </p:nvPr>
        </p:nvSpPr>
        <p:spPr>
          <a:xfrm>
            <a:off x="1042988" y="476250"/>
            <a:ext cx="7010400" cy="1143000"/>
          </a:xfrm>
        </p:spPr>
        <p:txBody>
          <a:bodyPr lIns="90488" tIns="44450" rIns="90488" bIns="44450" anchor="ctr" anchorCtr="1"/>
          <a:lstStyle/>
          <a:p>
            <a:pPr eaLnBrk="1" hangingPunct="1"/>
            <a:r>
              <a:rPr lang="zh-CN" altLang="en-US" sz="4000" dirty="0" smtClean="0"/>
              <a:t>二次曲线（</a:t>
            </a:r>
            <a:r>
              <a:rPr lang="zh-CN" altLang="en-US" sz="4000" dirty="0" smtClean="0">
                <a:latin typeface="Times New Roman" pitchFamily="18" charset="0"/>
              </a:rPr>
              <a:t>抛物线）</a:t>
            </a:r>
          </a:p>
        </p:txBody>
      </p:sp>
      <p:sp>
        <p:nvSpPr>
          <p:cNvPr id="56326" name="Rectangle 4"/>
          <p:cNvSpPr>
            <a:spLocks noChangeArrowheads="1"/>
          </p:cNvSpPr>
          <p:nvPr/>
        </p:nvSpPr>
        <p:spPr bwMode="auto">
          <a:xfrm>
            <a:off x="1979613" y="4076700"/>
            <a:ext cx="5410200" cy="1219200"/>
          </a:xfrm>
          <a:prstGeom prst="rect">
            <a:avLst/>
          </a:prstGeom>
          <a:noFill/>
          <a:ln w="12700">
            <a:noFill/>
            <a:miter lim="800000"/>
            <a:headEnd/>
            <a:tailEnd/>
          </a:ln>
        </p:spPr>
        <p:txBody>
          <a:bodyPr lIns="90488" tIns="44450" rIns="90488" bIns="44450"/>
          <a:lstStyle/>
          <a:p>
            <a:pPr marL="609600" indent="-609600" algn="just" eaLnBrk="0" hangingPunct="0">
              <a:spcBef>
                <a:spcPct val="20000"/>
              </a:spcBef>
              <a:buClr>
                <a:schemeClr val="hlink"/>
              </a:buClr>
              <a:buFont typeface="Wingdings" pitchFamily="2" charset="2"/>
              <a:buChar char="§"/>
            </a:pPr>
            <a:r>
              <a:rPr kumimoji="1" lang="en-US" altLang="zh-CN" sz="2800" b="1">
                <a:solidFill>
                  <a:srgbClr val="000000"/>
                </a:solidFill>
                <a:latin typeface="Times New Roman" pitchFamily="18" charset="0"/>
              </a:rPr>
              <a:t> a</a:t>
            </a:r>
            <a:r>
              <a:rPr kumimoji="1" lang="zh-CN" altLang="en-US" sz="2800" b="1">
                <a:solidFill>
                  <a:srgbClr val="000000"/>
                </a:solidFill>
                <a:latin typeface="Times New Roman" pitchFamily="18" charset="0"/>
              </a:rPr>
              <a:t>、</a:t>
            </a:r>
            <a:r>
              <a:rPr kumimoji="1" lang="en-US" altLang="zh-CN" sz="2800" b="1">
                <a:solidFill>
                  <a:srgbClr val="000000"/>
                </a:solidFill>
                <a:latin typeface="Times New Roman" pitchFamily="18" charset="0"/>
              </a:rPr>
              <a:t>b</a:t>
            </a:r>
            <a:r>
              <a:rPr kumimoji="1" lang="zh-CN" altLang="en-US" sz="2800" b="1">
                <a:solidFill>
                  <a:srgbClr val="000000"/>
                </a:solidFill>
                <a:latin typeface="Times New Roman" pitchFamily="18" charset="0"/>
              </a:rPr>
              <a:t>、</a:t>
            </a:r>
            <a:r>
              <a:rPr kumimoji="1" lang="en-US" altLang="zh-CN" sz="2800" b="1">
                <a:solidFill>
                  <a:srgbClr val="000000"/>
                </a:solidFill>
                <a:latin typeface="Times New Roman" pitchFamily="18" charset="0"/>
              </a:rPr>
              <a:t>c  </a:t>
            </a:r>
            <a:r>
              <a:rPr kumimoji="1" lang="zh-CN" altLang="en-US" sz="2800" b="1">
                <a:solidFill>
                  <a:srgbClr val="000000"/>
                </a:solidFill>
                <a:latin typeface="Times New Roman" pitchFamily="18" charset="0"/>
              </a:rPr>
              <a:t>为未知常数</a:t>
            </a:r>
          </a:p>
          <a:p>
            <a:pPr marL="609600" indent="-609600" algn="just" eaLnBrk="0" hangingPunct="0">
              <a:spcBef>
                <a:spcPct val="20000"/>
              </a:spcBef>
              <a:buClr>
                <a:schemeClr val="hlink"/>
              </a:buClr>
              <a:buFont typeface="Wingdings" pitchFamily="2" charset="2"/>
              <a:buChar char="§"/>
            </a:pPr>
            <a:r>
              <a:rPr kumimoji="1" lang="zh-CN" altLang="en-US" sz="2800" b="1">
                <a:solidFill>
                  <a:srgbClr val="000000"/>
                </a:solidFill>
                <a:latin typeface="Times New Roman" pitchFamily="18" charset="0"/>
              </a:rPr>
              <a:t>根据最小二乘法求得</a:t>
            </a:r>
          </a:p>
        </p:txBody>
      </p:sp>
      <p:graphicFrame>
        <p:nvGraphicFramePr>
          <p:cNvPr id="56322" name="Object 5"/>
          <p:cNvGraphicFramePr>
            <a:graphicFrameLocks noChangeAspect="1"/>
          </p:cNvGraphicFramePr>
          <p:nvPr/>
        </p:nvGraphicFramePr>
        <p:xfrm>
          <a:off x="2700338" y="2924175"/>
          <a:ext cx="3133725" cy="820738"/>
        </p:xfrm>
        <a:graphic>
          <a:graphicData uri="http://schemas.openxmlformats.org/presentationml/2006/ole">
            <mc:AlternateContent xmlns:mc="http://schemas.openxmlformats.org/markup-compatibility/2006">
              <mc:Choice xmlns:v="urn:schemas-microsoft-com:vml" Requires="v">
                <p:oleObj spid="_x0000_s56426" name="公式" r:id="rId4" imgW="825480" imgH="215640" progId="Equation.3">
                  <p:embed/>
                </p:oleObj>
              </mc:Choice>
              <mc:Fallback>
                <p:oleObj name="公式" r:id="rId4" imgW="825480" imgH="21564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00338" y="2924175"/>
                        <a:ext cx="3133725" cy="820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327" name="日期占位符 6"/>
          <p:cNvSpPr>
            <a:spLocks noGrp="1"/>
          </p:cNvSpPr>
          <p:nvPr>
            <p:ph type="dt" sz="quarter" idx="10"/>
          </p:nvPr>
        </p:nvSpPr>
        <p:spPr>
          <a:noFill/>
        </p:spPr>
        <p:txBody>
          <a:bodyPr/>
          <a:lstStyle/>
          <a:p>
            <a:endParaRPr lang="en-US" altLang="zh-CN" smtClean="0"/>
          </a:p>
        </p:txBody>
      </p:sp>
    </p:spTree>
  </p:cSld>
  <p:clrMapOvr>
    <a:masterClrMapping/>
  </p:clrMapOvr>
  <p:transition>
    <p:wipe dir="r"/>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8" name="Rectangle 2"/>
          <p:cNvSpPr>
            <a:spLocks noGrp="1" noChangeArrowheads="1"/>
          </p:cNvSpPr>
          <p:nvPr>
            <p:ph type="body" idx="1"/>
          </p:nvPr>
        </p:nvSpPr>
        <p:spPr>
          <a:xfrm>
            <a:off x="381000" y="1828800"/>
            <a:ext cx="8458200" cy="2057400"/>
          </a:xfrm>
        </p:spPr>
        <p:txBody>
          <a:bodyPr/>
          <a:lstStyle/>
          <a:p>
            <a:pPr marL="609600" indent="-609600" algn="just" eaLnBrk="1" hangingPunct="1">
              <a:buFontTx/>
              <a:buAutoNum type="arabicPeriod"/>
            </a:pPr>
            <a:r>
              <a:rPr lang="zh-CN" altLang="en-US" sz="3000" smtClean="0">
                <a:latin typeface="Times New Roman" pitchFamily="18" charset="0"/>
              </a:rPr>
              <a:t>用于描述以几何级数递增或递减的现象</a:t>
            </a:r>
          </a:p>
          <a:p>
            <a:pPr marL="609600" indent="-609600" algn="just" eaLnBrk="1" hangingPunct="1">
              <a:buFontTx/>
              <a:buAutoNum type="arabicPeriod"/>
            </a:pPr>
            <a:r>
              <a:rPr lang="zh-CN" altLang="en-US" sz="3000" smtClean="0">
                <a:latin typeface="Times New Roman" pitchFamily="18" charset="0"/>
              </a:rPr>
              <a:t>一般形式为</a:t>
            </a:r>
          </a:p>
        </p:txBody>
      </p:sp>
      <p:sp>
        <p:nvSpPr>
          <p:cNvPr id="57349" name="Rectangle 3"/>
          <p:cNvSpPr>
            <a:spLocks noGrp="1" noChangeArrowheads="1"/>
          </p:cNvSpPr>
          <p:nvPr>
            <p:ph type="title"/>
          </p:nvPr>
        </p:nvSpPr>
        <p:spPr>
          <a:xfrm>
            <a:off x="971550" y="549275"/>
            <a:ext cx="7010400" cy="1143000"/>
          </a:xfrm>
        </p:spPr>
        <p:txBody>
          <a:bodyPr lIns="90488" tIns="44450" rIns="90488" bIns="44450" anchor="ctr" anchorCtr="1"/>
          <a:lstStyle/>
          <a:p>
            <a:pPr eaLnBrk="1" hangingPunct="1"/>
            <a:r>
              <a:rPr lang="zh-CN" altLang="en-US" sz="4000" dirty="0" smtClean="0"/>
              <a:t>指数曲线</a:t>
            </a:r>
            <a:endParaRPr lang="zh-CN" altLang="en-US" sz="3600" dirty="0" smtClean="0">
              <a:solidFill>
                <a:schemeClr val="hlink"/>
              </a:solidFill>
              <a:latin typeface="Times New Roman" pitchFamily="18" charset="0"/>
            </a:endParaRPr>
          </a:p>
        </p:txBody>
      </p:sp>
      <p:sp>
        <p:nvSpPr>
          <p:cNvPr id="89095" name="Rectangle 7"/>
          <p:cNvSpPr>
            <a:spLocks noChangeArrowheads="1"/>
          </p:cNvSpPr>
          <p:nvPr/>
        </p:nvSpPr>
        <p:spPr bwMode="auto">
          <a:xfrm>
            <a:off x="900113" y="3860800"/>
            <a:ext cx="7086600" cy="1905000"/>
          </a:xfrm>
          <a:prstGeom prst="rect">
            <a:avLst/>
          </a:prstGeom>
          <a:noFill/>
          <a:ln w="12700">
            <a:noFill/>
            <a:miter lim="800000"/>
            <a:headEnd/>
            <a:tailEnd/>
          </a:ln>
        </p:spPr>
        <p:txBody>
          <a:bodyPr lIns="90488" tIns="44450" rIns="90488" bIns="44450"/>
          <a:lstStyle/>
          <a:p>
            <a:pPr marL="609600" indent="-609600" algn="just" eaLnBrk="0" hangingPunct="0">
              <a:spcBef>
                <a:spcPct val="20000"/>
              </a:spcBef>
              <a:buClr>
                <a:schemeClr val="hlink"/>
              </a:buClr>
              <a:buFont typeface="Wingdings" pitchFamily="2" charset="2"/>
              <a:buChar char="§"/>
            </a:pPr>
            <a:r>
              <a:rPr kumimoji="1" lang="en-US" altLang="zh-CN" sz="2600" b="1">
                <a:solidFill>
                  <a:srgbClr val="000000"/>
                </a:solidFill>
                <a:latin typeface="Times New Roman" pitchFamily="18" charset="0"/>
              </a:rPr>
              <a:t>a</a:t>
            </a:r>
            <a:r>
              <a:rPr kumimoji="1" lang="zh-CN" altLang="en-US" sz="2600" b="1">
                <a:solidFill>
                  <a:srgbClr val="000000"/>
                </a:solidFill>
                <a:latin typeface="Times New Roman" pitchFamily="18" charset="0"/>
              </a:rPr>
              <a:t>、</a:t>
            </a:r>
            <a:r>
              <a:rPr kumimoji="1" lang="en-US" altLang="zh-CN" sz="2600" b="1">
                <a:solidFill>
                  <a:srgbClr val="000000"/>
                </a:solidFill>
                <a:latin typeface="Times New Roman" pitchFamily="18" charset="0"/>
              </a:rPr>
              <a:t>b</a:t>
            </a:r>
            <a:r>
              <a:rPr kumimoji="1" lang="zh-CN" altLang="en-US" sz="2600" b="1">
                <a:solidFill>
                  <a:srgbClr val="000000"/>
                </a:solidFill>
                <a:latin typeface="Times New Roman" pitchFamily="18" charset="0"/>
              </a:rPr>
              <a:t>为未知常数</a:t>
            </a:r>
          </a:p>
          <a:p>
            <a:pPr marL="609600" indent="-609600" algn="just" eaLnBrk="0" hangingPunct="0">
              <a:spcBef>
                <a:spcPct val="20000"/>
              </a:spcBef>
              <a:buClr>
                <a:schemeClr val="hlink"/>
              </a:buClr>
              <a:buFont typeface="Wingdings" pitchFamily="2" charset="2"/>
              <a:buChar char="§"/>
            </a:pPr>
            <a:r>
              <a:rPr kumimoji="1" lang="zh-CN" altLang="en-US" sz="2600" b="1">
                <a:solidFill>
                  <a:srgbClr val="000000"/>
                </a:solidFill>
                <a:latin typeface="Times New Roman" pitchFamily="18" charset="0"/>
              </a:rPr>
              <a:t>若</a:t>
            </a:r>
            <a:r>
              <a:rPr kumimoji="1" lang="en-US" altLang="zh-CN" sz="2600" b="1">
                <a:solidFill>
                  <a:srgbClr val="000000"/>
                </a:solidFill>
                <a:latin typeface="Times New Roman" pitchFamily="18" charset="0"/>
              </a:rPr>
              <a:t>b&gt;1</a:t>
            </a:r>
            <a:r>
              <a:rPr kumimoji="1" lang="zh-CN" altLang="en-US" sz="2600" b="1">
                <a:solidFill>
                  <a:srgbClr val="000000"/>
                </a:solidFill>
                <a:latin typeface="Times New Roman" pitchFamily="18" charset="0"/>
              </a:rPr>
              <a:t>，趋势值随着时间</a:t>
            </a:r>
            <a:r>
              <a:rPr kumimoji="1" lang="en-US" altLang="zh-CN" sz="2600" b="1">
                <a:solidFill>
                  <a:srgbClr val="000000"/>
                </a:solidFill>
                <a:latin typeface="Times New Roman" pitchFamily="18" charset="0"/>
              </a:rPr>
              <a:t>t</a:t>
            </a:r>
            <a:r>
              <a:rPr kumimoji="1" lang="zh-CN" altLang="en-US" sz="2600" b="1">
                <a:solidFill>
                  <a:srgbClr val="000000"/>
                </a:solidFill>
                <a:latin typeface="Times New Roman" pitchFamily="18" charset="0"/>
              </a:rPr>
              <a:t>的增加而增加</a:t>
            </a:r>
          </a:p>
          <a:p>
            <a:pPr marL="609600" indent="-609600" algn="just" eaLnBrk="0" hangingPunct="0">
              <a:spcBef>
                <a:spcPct val="20000"/>
              </a:spcBef>
              <a:buClr>
                <a:schemeClr val="hlink"/>
              </a:buClr>
              <a:buFont typeface="Wingdings" pitchFamily="2" charset="2"/>
              <a:buChar char="§"/>
            </a:pPr>
            <a:r>
              <a:rPr kumimoji="1" lang="zh-CN" altLang="en-US" sz="2600" b="1">
                <a:solidFill>
                  <a:srgbClr val="000000"/>
                </a:solidFill>
                <a:latin typeface="Times New Roman" pitchFamily="18" charset="0"/>
              </a:rPr>
              <a:t>若</a:t>
            </a:r>
            <a:r>
              <a:rPr kumimoji="1" lang="en-US" altLang="zh-CN" sz="2600" b="1">
                <a:solidFill>
                  <a:srgbClr val="000000"/>
                </a:solidFill>
                <a:latin typeface="Times New Roman" pitchFamily="18" charset="0"/>
              </a:rPr>
              <a:t>b&lt;1</a:t>
            </a:r>
            <a:r>
              <a:rPr kumimoji="1" lang="zh-CN" altLang="en-US" sz="2600" b="1">
                <a:solidFill>
                  <a:srgbClr val="000000"/>
                </a:solidFill>
                <a:latin typeface="Times New Roman" pitchFamily="18" charset="0"/>
              </a:rPr>
              <a:t>，趋势值随着时间</a:t>
            </a:r>
            <a:r>
              <a:rPr kumimoji="1" lang="en-US" altLang="zh-CN" sz="2600" b="1">
                <a:solidFill>
                  <a:srgbClr val="000000"/>
                </a:solidFill>
                <a:latin typeface="Times New Roman" pitchFamily="18" charset="0"/>
              </a:rPr>
              <a:t>t</a:t>
            </a:r>
            <a:r>
              <a:rPr kumimoji="1" lang="zh-CN" altLang="en-US" sz="2600" b="1">
                <a:solidFill>
                  <a:srgbClr val="000000"/>
                </a:solidFill>
                <a:latin typeface="Times New Roman" pitchFamily="18" charset="0"/>
              </a:rPr>
              <a:t>的增加而降低</a:t>
            </a:r>
          </a:p>
          <a:p>
            <a:pPr marL="609600" indent="-609600" algn="just" eaLnBrk="0" hangingPunct="0">
              <a:spcBef>
                <a:spcPct val="20000"/>
              </a:spcBef>
              <a:buClr>
                <a:schemeClr val="hlink"/>
              </a:buClr>
              <a:buFont typeface="Wingdings" pitchFamily="2" charset="2"/>
              <a:buChar char="§"/>
            </a:pPr>
            <a:r>
              <a:rPr kumimoji="1" lang="zh-CN" altLang="en-US" sz="2600" b="1">
                <a:solidFill>
                  <a:srgbClr val="000000"/>
                </a:solidFill>
                <a:latin typeface="Times New Roman" pitchFamily="18" charset="0"/>
              </a:rPr>
              <a:t>若</a:t>
            </a:r>
            <a:r>
              <a:rPr kumimoji="1" lang="en-US" altLang="zh-CN" sz="2600" b="1">
                <a:solidFill>
                  <a:srgbClr val="000000"/>
                </a:solidFill>
                <a:latin typeface="Times New Roman" pitchFamily="18" charset="0"/>
              </a:rPr>
              <a:t>a&gt;0</a:t>
            </a:r>
            <a:r>
              <a:rPr kumimoji="1" lang="zh-CN" altLang="en-US" sz="2600" b="1">
                <a:solidFill>
                  <a:srgbClr val="000000"/>
                </a:solidFill>
                <a:latin typeface="Times New Roman" pitchFamily="18" charset="0"/>
              </a:rPr>
              <a:t>，</a:t>
            </a:r>
            <a:r>
              <a:rPr kumimoji="1" lang="en-US" altLang="zh-CN" sz="2600" b="1">
                <a:solidFill>
                  <a:srgbClr val="000000"/>
                </a:solidFill>
                <a:latin typeface="Times New Roman" pitchFamily="18" charset="0"/>
              </a:rPr>
              <a:t>b&lt;1</a:t>
            </a:r>
            <a:r>
              <a:rPr kumimoji="1" lang="zh-CN" altLang="en-US" sz="2600" b="1">
                <a:solidFill>
                  <a:srgbClr val="000000"/>
                </a:solidFill>
                <a:latin typeface="Times New Roman" pitchFamily="18" charset="0"/>
              </a:rPr>
              <a:t>，趋势值逐渐降低到以</a:t>
            </a:r>
            <a:r>
              <a:rPr kumimoji="1" lang="en-US" altLang="zh-CN" sz="2600" b="1">
                <a:solidFill>
                  <a:srgbClr val="000000"/>
                </a:solidFill>
                <a:latin typeface="Times New Roman" pitchFamily="18" charset="0"/>
              </a:rPr>
              <a:t>0</a:t>
            </a:r>
            <a:r>
              <a:rPr kumimoji="1" lang="zh-CN" altLang="en-US" sz="2600" b="1">
                <a:solidFill>
                  <a:srgbClr val="000000"/>
                </a:solidFill>
                <a:latin typeface="Times New Roman" pitchFamily="18" charset="0"/>
              </a:rPr>
              <a:t>为极限</a:t>
            </a:r>
          </a:p>
        </p:txBody>
      </p:sp>
      <p:graphicFrame>
        <p:nvGraphicFramePr>
          <p:cNvPr id="57346" name="Object 10"/>
          <p:cNvGraphicFramePr>
            <a:graphicFrameLocks noChangeAspect="1"/>
          </p:cNvGraphicFramePr>
          <p:nvPr/>
        </p:nvGraphicFramePr>
        <p:xfrm>
          <a:off x="3448050" y="2924175"/>
          <a:ext cx="1638300" cy="820738"/>
        </p:xfrm>
        <a:graphic>
          <a:graphicData uri="http://schemas.openxmlformats.org/presentationml/2006/ole">
            <mc:AlternateContent xmlns:mc="http://schemas.openxmlformats.org/markup-compatibility/2006">
              <mc:Choice xmlns:v="urn:schemas-microsoft-com:vml" Requires="v">
                <p:oleObj spid="_x0000_s57450" name="公式" r:id="rId4" imgW="431640" imgH="215640" progId="Equation.3">
                  <p:embed/>
                </p:oleObj>
              </mc:Choice>
              <mc:Fallback>
                <p:oleObj name="公式" r:id="rId4" imgW="431640" imgH="215640" progId="Equation.3">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48050" y="2924175"/>
                        <a:ext cx="1638300" cy="820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351" name="日期占位符 6"/>
          <p:cNvSpPr>
            <a:spLocks noGrp="1"/>
          </p:cNvSpPr>
          <p:nvPr>
            <p:ph type="dt" sz="quarter" idx="10"/>
          </p:nvPr>
        </p:nvSpPr>
        <p:spPr>
          <a:noFill/>
        </p:spPr>
        <p:txBody>
          <a:bodyPr/>
          <a:lstStyle/>
          <a:p>
            <a:endParaRPr lang="en-US" altLang="zh-CN" smtClean="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9095"/>
                                        </p:tgtEl>
                                        <p:attrNameLst>
                                          <p:attrName>style.visibility</p:attrName>
                                        </p:attrNameLst>
                                      </p:cBhvr>
                                      <p:to>
                                        <p:strVal val="visible"/>
                                      </p:to>
                                    </p:set>
                                    <p:animEffect transition="in" filter="wipe(left)">
                                      <p:cBhvr>
                                        <p:cTn id="7" dur="500"/>
                                        <p:tgtEl>
                                          <p:spTgt spid="890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5" grpId="0" autoUpdateAnimBg="0"/>
    </p:bldLst>
  </p:timing>
</p:sld>
</file>

<file path=ppt/slides/slide1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2" name="Rectangle 2"/>
          <p:cNvSpPr>
            <a:spLocks noGrp="1" noChangeArrowheads="1"/>
          </p:cNvSpPr>
          <p:nvPr>
            <p:ph type="body" idx="1"/>
          </p:nvPr>
        </p:nvSpPr>
        <p:spPr>
          <a:xfrm>
            <a:off x="395288" y="1484313"/>
            <a:ext cx="8458200" cy="990600"/>
          </a:xfrm>
        </p:spPr>
        <p:txBody>
          <a:bodyPr/>
          <a:lstStyle/>
          <a:p>
            <a:pPr marL="609600" indent="-609600" algn="just" eaLnBrk="1" hangingPunct="1">
              <a:lnSpc>
                <a:spcPct val="90000"/>
              </a:lnSpc>
              <a:buFontTx/>
              <a:buAutoNum type="arabicPeriod"/>
            </a:pPr>
            <a:r>
              <a:rPr lang="zh-CN" altLang="en-US" sz="3000" smtClean="0">
                <a:latin typeface="Times New Roman" pitchFamily="18" charset="0"/>
              </a:rPr>
              <a:t>在一般指数曲线的基础上增加一个常数</a:t>
            </a:r>
            <a:r>
              <a:rPr lang="en-US" altLang="zh-CN" sz="3000" i="1" smtClean="0">
                <a:latin typeface="Times New Roman" pitchFamily="18" charset="0"/>
              </a:rPr>
              <a:t>K</a:t>
            </a:r>
          </a:p>
          <a:p>
            <a:pPr marL="609600" indent="-609600" algn="just" eaLnBrk="1" hangingPunct="1">
              <a:lnSpc>
                <a:spcPct val="90000"/>
              </a:lnSpc>
              <a:buFontTx/>
              <a:buAutoNum type="arabicPeriod"/>
            </a:pPr>
            <a:r>
              <a:rPr lang="zh-CN" altLang="en-US" sz="3000" smtClean="0">
                <a:latin typeface="Times New Roman" pitchFamily="18" charset="0"/>
              </a:rPr>
              <a:t>一般形式为</a:t>
            </a:r>
          </a:p>
        </p:txBody>
      </p:sp>
      <p:sp>
        <p:nvSpPr>
          <p:cNvPr id="58373" name="Rectangle 3"/>
          <p:cNvSpPr>
            <a:spLocks noGrp="1" noChangeArrowheads="1"/>
          </p:cNvSpPr>
          <p:nvPr>
            <p:ph type="title"/>
          </p:nvPr>
        </p:nvSpPr>
        <p:spPr>
          <a:xfrm>
            <a:off x="468313" y="404813"/>
            <a:ext cx="5688012" cy="1143000"/>
          </a:xfrm>
        </p:spPr>
        <p:txBody>
          <a:bodyPr lIns="90488" tIns="44450" rIns="90488" bIns="44450" anchor="ctr" anchorCtr="1"/>
          <a:lstStyle/>
          <a:p>
            <a:pPr eaLnBrk="1" hangingPunct="1"/>
            <a:r>
              <a:rPr lang="zh-CN" altLang="en-US" sz="4000" dirty="0" smtClean="0"/>
              <a:t>修正指数曲线</a:t>
            </a:r>
            <a:endParaRPr lang="zh-CN" altLang="en-US" sz="3600" dirty="0" smtClean="0">
              <a:solidFill>
                <a:schemeClr val="hlink"/>
              </a:solidFill>
              <a:latin typeface="Times New Roman" pitchFamily="18" charset="0"/>
            </a:endParaRPr>
          </a:p>
        </p:txBody>
      </p:sp>
      <p:sp>
        <p:nvSpPr>
          <p:cNvPr id="58374" name="Rectangle 4"/>
          <p:cNvSpPr>
            <a:spLocks noChangeArrowheads="1"/>
          </p:cNvSpPr>
          <p:nvPr/>
        </p:nvSpPr>
        <p:spPr bwMode="auto">
          <a:xfrm>
            <a:off x="1619250" y="3860800"/>
            <a:ext cx="4876800" cy="990600"/>
          </a:xfrm>
          <a:prstGeom prst="rect">
            <a:avLst/>
          </a:prstGeom>
          <a:noFill/>
          <a:ln w="12700">
            <a:noFill/>
            <a:miter lim="800000"/>
            <a:headEnd/>
            <a:tailEnd/>
          </a:ln>
        </p:spPr>
        <p:txBody>
          <a:bodyPr lIns="90488" tIns="44450" rIns="90488" bIns="44450"/>
          <a:lstStyle/>
          <a:p>
            <a:pPr marL="609600" indent="-609600" algn="just" eaLnBrk="0" hangingPunct="0">
              <a:spcBef>
                <a:spcPct val="20000"/>
              </a:spcBef>
              <a:buClr>
                <a:schemeClr val="hlink"/>
              </a:buClr>
              <a:buFont typeface="Wingdings" pitchFamily="2" charset="2"/>
              <a:buChar char="§"/>
            </a:pPr>
            <a:r>
              <a:rPr kumimoji="1" lang="en-US" altLang="zh-CN" sz="2600" i="1">
                <a:solidFill>
                  <a:srgbClr val="000000"/>
                </a:solidFill>
                <a:latin typeface="Times New Roman" pitchFamily="18" charset="0"/>
              </a:rPr>
              <a:t>K</a:t>
            </a:r>
            <a:r>
              <a:rPr kumimoji="1" lang="zh-CN" altLang="en-US" sz="2600">
                <a:solidFill>
                  <a:srgbClr val="000000"/>
                </a:solidFill>
                <a:latin typeface="Times New Roman" pitchFamily="18" charset="0"/>
              </a:rPr>
              <a:t>、</a:t>
            </a:r>
            <a:r>
              <a:rPr kumimoji="1" lang="en-US" altLang="zh-CN" sz="2600" i="1">
                <a:solidFill>
                  <a:srgbClr val="000000"/>
                </a:solidFill>
                <a:latin typeface="Times New Roman" pitchFamily="18" charset="0"/>
              </a:rPr>
              <a:t>a</a:t>
            </a:r>
            <a:r>
              <a:rPr kumimoji="1" lang="zh-CN" altLang="en-US" sz="2600">
                <a:solidFill>
                  <a:srgbClr val="000000"/>
                </a:solidFill>
                <a:latin typeface="Times New Roman" pitchFamily="18" charset="0"/>
              </a:rPr>
              <a:t>、</a:t>
            </a:r>
            <a:r>
              <a:rPr kumimoji="1" lang="en-US" altLang="zh-CN" sz="2600" i="1">
                <a:solidFill>
                  <a:srgbClr val="000000"/>
                </a:solidFill>
                <a:latin typeface="Times New Roman" pitchFamily="18" charset="0"/>
              </a:rPr>
              <a:t>b </a:t>
            </a:r>
            <a:r>
              <a:rPr kumimoji="1" lang="zh-CN" altLang="en-US" sz="2600">
                <a:solidFill>
                  <a:srgbClr val="000000"/>
                </a:solidFill>
                <a:latin typeface="Times New Roman" pitchFamily="18" charset="0"/>
              </a:rPr>
              <a:t>为未知常数</a:t>
            </a:r>
          </a:p>
          <a:p>
            <a:pPr marL="609600" indent="-609600" algn="just" eaLnBrk="0" hangingPunct="0">
              <a:spcBef>
                <a:spcPct val="20000"/>
              </a:spcBef>
              <a:buClr>
                <a:schemeClr val="hlink"/>
              </a:buClr>
              <a:buFont typeface="Wingdings" pitchFamily="2" charset="2"/>
              <a:buChar char="§"/>
            </a:pPr>
            <a:r>
              <a:rPr kumimoji="1" lang="en-US" altLang="zh-CN" sz="2600" i="1">
                <a:solidFill>
                  <a:srgbClr val="000000"/>
                </a:solidFill>
                <a:latin typeface="Times New Roman" pitchFamily="18" charset="0"/>
              </a:rPr>
              <a:t>K </a:t>
            </a:r>
            <a:r>
              <a:rPr kumimoji="1" lang="en-US" altLang="zh-CN" sz="2600">
                <a:solidFill>
                  <a:srgbClr val="000000"/>
                </a:solidFill>
                <a:latin typeface="Times New Roman" pitchFamily="18" charset="0"/>
              </a:rPr>
              <a:t>&gt; 0</a:t>
            </a:r>
            <a:r>
              <a:rPr kumimoji="1" lang="zh-CN" altLang="en-US" sz="2600">
                <a:solidFill>
                  <a:srgbClr val="000000"/>
                </a:solidFill>
                <a:latin typeface="Times New Roman" pitchFamily="18" charset="0"/>
              </a:rPr>
              <a:t>，</a:t>
            </a:r>
            <a:r>
              <a:rPr kumimoji="1" lang="en-US" altLang="zh-CN" sz="2600" i="1">
                <a:solidFill>
                  <a:srgbClr val="000000"/>
                </a:solidFill>
                <a:latin typeface="Times New Roman" pitchFamily="18" charset="0"/>
              </a:rPr>
              <a:t>a </a:t>
            </a:r>
            <a:r>
              <a:rPr kumimoji="1" lang="en-US" altLang="zh-CN" sz="2600">
                <a:solidFill>
                  <a:srgbClr val="000000"/>
                </a:solidFill>
                <a:latin typeface="Times New Roman" pitchFamily="18" charset="0"/>
              </a:rPr>
              <a:t>≠ 0</a:t>
            </a:r>
            <a:r>
              <a:rPr kumimoji="1" lang="zh-CN" altLang="en-US" sz="2600">
                <a:solidFill>
                  <a:srgbClr val="000000"/>
                </a:solidFill>
                <a:latin typeface="Times New Roman" pitchFamily="18" charset="0"/>
              </a:rPr>
              <a:t>，</a:t>
            </a:r>
            <a:r>
              <a:rPr kumimoji="1" lang="en-US" altLang="zh-CN" sz="2600">
                <a:solidFill>
                  <a:srgbClr val="000000"/>
                </a:solidFill>
                <a:latin typeface="Times New Roman" pitchFamily="18" charset="0"/>
              </a:rPr>
              <a:t>0 &lt; </a:t>
            </a:r>
            <a:r>
              <a:rPr kumimoji="1" lang="en-US" altLang="zh-CN" sz="2600" i="1">
                <a:solidFill>
                  <a:srgbClr val="000000"/>
                </a:solidFill>
                <a:latin typeface="Times New Roman" pitchFamily="18" charset="0"/>
              </a:rPr>
              <a:t>b </a:t>
            </a:r>
            <a:r>
              <a:rPr kumimoji="1" lang="en-US" altLang="zh-CN" sz="2600">
                <a:solidFill>
                  <a:srgbClr val="000000"/>
                </a:solidFill>
                <a:latin typeface="Times New Roman" pitchFamily="18" charset="0"/>
              </a:rPr>
              <a:t>≠ 1</a:t>
            </a:r>
          </a:p>
        </p:txBody>
      </p:sp>
      <p:sp>
        <p:nvSpPr>
          <p:cNvPr id="218117" name="Rectangle 5"/>
          <p:cNvSpPr>
            <a:spLocks noChangeArrowheads="1"/>
          </p:cNvSpPr>
          <p:nvPr/>
        </p:nvSpPr>
        <p:spPr bwMode="auto">
          <a:xfrm>
            <a:off x="395288" y="4990419"/>
            <a:ext cx="8001000" cy="1443037"/>
          </a:xfrm>
          <a:prstGeom prst="rect">
            <a:avLst/>
          </a:prstGeom>
          <a:noFill/>
          <a:ln w="12700">
            <a:noFill/>
            <a:miter lim="800000"/>
            <a:headEnd/>
            <a:tailEnd/>
          </a:ln>
        </p:spPr>
        <p:txBody>
          <a:bodyPr lIns="90488" tIns="44450" rIns="90488" bIns="44450"/>
          <a:lstStyle/>
          <a:p>
            <a:pPr marL="609600" indent="-609600" algn="just" eaLnBrk="0" hangingPunct="0">
              <a:spcBef>
                <a:spcPct val="20000"/>
              </a:spcBef>
              <a:buFontTx/>
              <a:buAutoNum type="arabicPeriod" startAt="3"/>
            </a:pPr>
            <a:r>
              <a:rPr kumimoji="1" lang="zh-CN" altLang="en-US" sz="3000" b="1" dirty="0">
                <a:solidFill>
                  <a:srgbClr val="CC0099"/>
                </a:solidFill>
                <a:latin typeface="Times New Roman" pitchFamily="18" charset="0"/>
              </a:rPr>
              <a:t>用于</a:t>
            </a:r>
            <a:r>
              <a:rPr kumimoji="1" lang="zh-CN" altLang="en-US" sz="3000" b="1" dirty="0">
                <a:solidFill>
                  <a:srgbClr val="000000"/>
                </a:solidFill>
                <a:latin typeface="Times New Roman" pitchFamily="18" charset="0"/>
              </a:rPr>
              <a:t>描述的现象：初期增长迅速，随后增长率逐渐降低，最终则以</a:t>
            </a:r>
            <a:r>
              <a:rPr kumimoji="1" lang="en-US" altLang="zh-CN" sz="3000" b="1" i="1" dirty="0">
                <a:solidFill>
                  <a:srgbClr val="000000"/>
                </a:solidFill>
                <a:latin typeface="Times New Roman" pitchFamily="18" charset="0"/>
              </a:rPr>
              <a:t>K</a:t>
            </a:r>
            <a:r>
              <a:rPr kumimoji="1" lang="zh-CN" altLang="en-US" sz="3000" b="1" dirty="0">
                <a:solidFill>
                  <a:srgbClr val="000000"/>
                </a:solidFill>
                <a:latin typeface="Times New Roman" pitchFamily="18" charset="0"/>
              </a:rPr>
              <a:t>为增长极限</a:t>
            </a:r>
          </a:p>
        </p:txBody>
      </p:sp>
      <p:graphicFrame>
        <p:nvGraphicFramePr>
          <p:cNvPr id="58370" name="Object 6"/>
          <p:cNvGraphicFramePr>
            <a:graphicFrameLocks noChangeAspect="1"/>
          </p:cNvGraphicFramePr>
          <p:nvPr/>
        </p:nvGraphicFramePr>
        <p:xfrm>
          <a:off x="2339975" y="2852738"/>
          <a:ext cx="3040063" cy="820737"/>
        </p:xfrm>
        <a:graphic>
          <a:graphicData uri="http://schemas.openxmlformats.org/presentationml/2006/ole">
            <mc:AlternateContent xmlns:mc="http://schemas.openxmlformats.org/markup-compatibility/2006">
              <mc:Choice xmlns:v="urn:schemas-microsoft-com:vml" Requires="v">
                <p:oleObj spid="_x0000_s58476" name="公式" r:id="rId4" imgW="660240" imgH="215640" progId="Equation.3">
                  <p:embed/>
                </p:oleObj>
              </mc:Choice>
              <mc:Fallback>
                <p:oleObj name="公式" r:id="rId4" imgW="660240" imgH="21564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9975" y="2852738"/>
                        <a:ext cx="3040063" cy="820737"/>
                      </a:xfrm>
                      <a:prstGeom prst="rect">
                        <a:avLst/>
                      </a:prstGeom>
                      <a:noFill/>
                      <a:ln w="28575">
                        <a:solidFill>
                          <a:srgbClr val="FF66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8376" name="Picture 7"/>
          <p:cNvPicPr>
            <a:picLocks noChangeAspect="1" noChangeArrowheads="1"/>
          </p:cNvPicPr>
          <p:nvPr/>
        </p:nvPicPr>
        <p:blipFill>
          <a:blip r:embed="rId6" cstate="print"/>
          <a:srcRect/>
          <a:stretch>
            <a:fillRect/>
          </a:stretch>
        </p:blipFill>
        <p:spPr bwMode="auto">
          <a:xfrm>
            <a:off x="5778500" y="2205038"/>
            <a:ext cx="3365500" cy="1960562"/>
          </a:xfrm>
          <a:prstGeom prst="rect">
            <a:avLst/>
          </a:prstGeom>
          <a:noFill/>
          <a:ln w="9525">
            <a:noFill/>
            <a:miter lim="800000"/>
            <a:headEnd/>
            <a:tailEnd/>
          </a:ln>
        </p:spPr>
      </p:pic>
      <p:sp>
        <p:nvSpPr>
          <p:cNvPr id="58377" name="日期占位符 8"/>
          <p:cNvSpPr>
            <a:spLocks noGrp="1"/>
          </p:cNvSpPr>
          <p:nvPr>
            <p:ph type="dt" sz="quarter" idx="10"/>
          </p:nvPr>
        </p:nvSpPr>
        <p:spPr>
          <a:noFill/>
        </p:spPr>
        <p:txBody>
          <a:bodyPr/>
          <a:lstStyle/>
          <a:p>
            <a:endParaRPr lang="en-US" altLang="zh-CN" smtClean="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18117">
                                            <p:txEl>
                                              <p:pRg st="0" end="0"/>
                                            </p:txEl>
                                          </p:spTgt>
                                        </p:tgtEl>
                                        <p:attrNameLst>
                                          <p:attrName>style.visibility</p:attrName>
                                        </p:attrNameLst>
                                      </p:cBhvr>
                                      <p:to>
                                        <p:strVal val="visible"/>
                                      </p:to>
                                    </p:set>
                                    <p:animEffect transition="in" filter="wipe(left)">
                                      <p:cBhvr>
                                        <p:cTn id="7" dur="500"/>
                                        <p:tgtEl>
                                          <p:spTgt spid="2181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7" grpId="0" build="p" autoUpdateAnimBg="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8" name="Rectangle 2"/>
          <p:cNvSpPr>
            <a:spLocks noGrp="1" noChangeArrowheads="1"/>
          </p:cNvSpPr>
          <p:nvPr>
            <p:ph type="title"/>
          </p:nvPr>
        </p:nvSpPr>
        <p:spPr/>
        <p:txBody>
          <a:bodyPr/>
          <a:lstStyle/>
          <a:p>
            <a:pPr eaLnBrk="1" hangingPunct="1"/>
            <a:r>
              <a:rPr lang="en-US" altLang="zh-CN" i="1" smtClean="0">
                <a:latin typeface="Times New Roman" pitchFamily="18" charset="0"/>
              </a:rPr>
              <a:t>S </a:t>
            </a:r>
            <a:r>
              <a:rPr lang="zh-CN" altLang="en-US" smtClean="0"/>
              <a:t>曲线（成长曲线）</a:t>
            </a:r>
            <a:endParaRPr lang="zh-CN" altLang="en-US" dirty="0" smtClean="0"/>
          </a:p>
        </p:txBody>
      </p:sp>
      <p:graphicFrame>
        <p:nvGraphicFramePr>
          <p:cNvPr id="292868" name="Object 4"/>
          <p:cNvGraphicFramePr>
            <a:graphicFrameLocks noChangeAspect="1"/>
          </p:cNvGraphicFramePr>
          <p:nvPr/>
        </p:nvGraphicFramePr>
        <p:xfrm>
          <a:off x="3059113" y="3716338"/>
          <a:ext cx="2447925" cy="1225550"/>
        </p:xfrm>
        <a:graphic>
          <a:graphicData uri="http://schemas.openxmlformats.org/presentationml/2006/ole">
            <mc:AlternateContent xmlns:mc="http://schemas.openxmlformats.org/markup-compatibility/2006">
              <mc:Choice xmlns:v="urn:schemas-microsoft-com:vml" Requires="v">
                <p:oleObj spid="_x0000_s59709" name="Equation" r:id="rId3" imgW="545626" imgH="266469" progId="Equation.DSMT4">
                  <p:embed/>
                </p:oleObj>
              </mc:Choice>
              <mc:Fallback>
                <p:oleObj name="Equation" r:id="rId3" imgW="545626" imgH="266469"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113" y="3716338"/>
                        <a:ext cx="2447925" cy="1225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2869" name="Object 5"/>
          <p:cNvGraphicFramePr>
            <a:graphicFrameLocks noChangeAspect="1"/>
          </p:cNvGraphicFramePr>
          <p:nvPr>
            <p:extLst>
              <p:ext uri="{D42A27DB-BD31-4B8C-83A1-F6EECF244321}">
                <p14:modId xmlns:p14="http://schemas.microsoft.com/office/powerpoint/2010/main" val="1527400381"/>
              </p:ext>
            </p:extLst>
          </p:nvPr>
        </p:nvGraphicFramePr>
        <p:xfrm>
          <a:off x="2673561" y="5015583"/>
          <a:ext cx="3024188" cy="1511300"/>
        </p:xfrm>
        <a:graphic>
          <a:graphicData uri="http://schemas.openxmlformats.org/presentationml/2006/ole">
            <mc:AlternateContent xmlns:mc="http://schemas.openxmlformats.org/markup-compatibility/2006">
              <mc:Choice xmlns:v="urn:schemas-microsoft-com:vml" Requires="v">
                <p:oleObj spid="_x0000_s59710" name="公式" r:id="rId5" imgW="698400" imgH="355320" progId="Equation.3">
                  <p:embed/>
                </p:oleObj>
              </mc:Choice>
              <mc:Fallback>
                <p:oleObj name="公式" r:id="rId5" imgW="698400" imgH="35532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73561" y="5015583"/>
                        <a:ext cx="3024188"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6600"/>
                            </a:solidFill>
                            <a:miter lim="800000"/>
                            <a:headEnd/>
                            <a:tailEnd/>
                          </a14:hiddenLine>
                        </a:ext>
                      </a:extLst>
                    </p:spPr>
                  </p:pic>
                </p:oleObj>
              </mc:Fallback>
            </mc:AlternateContent>
          </a:graphicData>
        </a:graphic>
      </p:graphicFrame>
      <p:graphicFrame>
        <p:nvGraphicFramePr>
          <p:cNvPr id="59396" name="Object 6"/>
          <p:cNvGraphicFramePr>
            <a:graphicFrameLocks noChangeAspect="1"/>
          </p:cNvGraphicFramePr>
          <p:nvPr>
            <p:extLst>
              <p:ext uri="{D42A27DB-BD31-4B8C-83A1-F6EECF244321}">
                <p14:modId xmlns:p14="http://schemas.microsoft.com/office/powerpoint/2010/main" val="3262310755"/>
              </p:ext>
            </p:extLst>
          </p:nvPr>
        </p:nvGraphicFramePr>
        <p:xfrm>
          <a:off x="5610225" y="3033713"/>
          <a:ext cx="3563938" cy="2736850"/>
        </p:xfrm>
        <a:graphic>
          <a:graphicData uri="http://schemas.openxmlformats.org/presentationml/2006/ole">
            <mc:AlternateContent xmlns:mc="http://schemas.openxmlformats.org/markup-compatibility/2006">
              <mc:Choice xmlns:v="urn:schemas-microsoft-com:vml" Requires="v">
                <p:oleObj spid="_x0000_s59711" name="工作表" r:id="rId7" imgW="3095621" imgH="1743026" progId="Excel.Sheet.8">
                  <p:embed/>
                </p:oleObj>
              </mc:Choice>
              <mc:Fallback>
                <p:oleObj name="工作表" r:id="rId7" imgW="3095621" imgH="1743026" progId="Excel.Sheet.8">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10225" y="3033713"/>
                        <a:ext cx="3563938" cy="2736850"/>
                      </a:xfrm>
                      <a:prstGeom prst="rect">
                        <a:avLst/>
                      </a:prstGeom>
                      <a:noFill/>
                      <a:ln>
                        <a:noFill/>
                      </a:ln>
                      <a:effectLst/>
                      <a:extLst/>
                    </p:spPr>
                  </p:pic>
                </p:oleObj>
              </mc:Fallback>
            </mc:AlternateContent>
          </a:graphicData>
        </a:graphic>
      </p:graphicFrame>
      <p:sp>
        <p:nvSpPr>
          <p:cNvPr id="292867" name="Rectangle 3"/>
          <p:cNvSpPr>
            <a:spLocks noGrp="1" noChangeArrowheads="1"/>
          </p:cNvSpPr>
          <p:nvPr>
            <p:ph type="body" idx="1"/>
          </p:nvPr>
        </p:nvSpPr>
        <p:spPr>
          <a:xfrm>
            <a:off x="251520" y="1219200"/>
            <a:ext cx="7772400" cy="4724400"/>
          </a:xfrm>
        </p:spPr>
        <p:txBody>
          <a:bodyPr/>
          <a:lstStyle/>
          <a:p>
            <a:pPr eaLnBrk="1" hangingPunct="1"/>
            <a:r>
              <a:rPr lang="zh-CN" altLang="en-US" dirty="0" smtClean="0"/>
              <a:t>所描述的趋势特征：</a:t>
            </a:r>
            <a:r>
              <a:rPr lang="zh-CN" altLang="en-US" sz="2800" dirty="0" smtClean="0">
                <a:solidFill>
                  <a:schemeClr val="tx1"/>
                </a:solidFill>
              </a:rPr>
              <a:t>初期增长缓慢（</a:t>
            </a:r>
            <a:r>
              <a:rPr lang="zh-CN" altLang="en-US" sz="2800" dirty="0" smtClean="0">
                <a:solidFill>
                  <a:schemeClr val="tx2"/>
                </a:solidFill>
              </a:rPr>
              <a:t>导入期</a:t>
            </a:r>
            <a:r>
              <a:rPr lang="zh-CN" altLang="en-US" sz="2800" dirty="0" smtClean="0">
                <a:solidFill>
                  <a:schemeClr val="tx1"/>
                </a:solidFill>
              </a:rPr>
              <a:t>），其后逐渐加快（</a:t>
            </a:r>
            <a:r>
              <a:rPr lang="zh-CN" altLang="en-US" sz="2800" dirty="0" smtClean="0">
                <a:solidFill>
                  <a:schemeClr val="tx2"/>
                </a:solidFill>
              </a:rPr>
              <a:t>成长期</a:t>
            </a:r>
            <a:r>
              <a:rPr lang="zh-CN" altLang="en-US" sz="2800" dirty="0" smtClean="0">
                <a:solidFill>
                  <a:schemeClr val="tx1"/>
                </a:solidFill>
              </a:rPr>
              <a:t>），当达到一定程度（</a:t>
            </a:r>
            <a:r>
              <a:rPr lang="zh-CN" altLang="en-US" sz="2800" dirty="0" smtClean="0">
                <a:solidFill>
                  <a:schemeClr val="tx2"/>
                </a:solidFill>
              </a:rPr>
              <a:t>成熟期</a:t>
            </a:r>
            <a:r>
              <a:rPr lang="zh-CN" altLang="en-US" sz="2800" dirty="0" smtClean="0">
                <a:solidFill>
                  <a:schemeClr val="tx1"/>
                </a:solidFill>
              </a:rPr>
              <a:t>）后，发展趋于平缓，维持在一定的保有量或高限渐近水平上</a:t>
            </a:r>
            <a:r>
              <a:rPr lang="zh-CN" altLang="en-US" sz="2800" dirty="0" smtClean="0">
                <a:solidFill>
                  <a:schemeClr val="tx2"/>
                </a:solidFill>
              </a:rPr>
              <a:t>（饱和期）</a:t>
            </a:r>
            <a:r>
              <a:rPr lang="zh-CN" altLang="en-US" dirty="0" smtClean="0"/>
              <a:t> </a:t>
            </a:r>
            <a:r>
              <a:rPr lang="zh-CN" altLang="en-US" sz="2800" dirty="0" smtClean="0">
                <a:solidFill>
                  <a:schemeClr val="tx1"/>
                </a:solidFill>
              </a:rPr>
              <a:t>。</a:t>
            </a:r>
          </a:p>
          <a:p>
            <a:pPr eaLnBrk="1" hangingPunct="1"/>
            <a:r>
              <a:rPr lang="zh-CN" altLang="en-US" dirty="0" smtClean="0"/>
              <a:t>通常有两种形式：</a:t>
            </a:r>
          </a:p>
          <a:p>
            <a:pPr lvl="3" eaLnBrk="1" hangingPunct="1"/>
            <a:endParaRPr lang="zh-CN" altLang="en-US" dirty="0" smtClean="0"/>
          </a:p>
          <a:p>
            <a:pPr lvl="1" eaLnBrk="1" hangingPunct="1"/>
            <a:r>
              <a:rPr lang="zh-CN" altLang="en-US" dirty="0" smtClean="0"/>
              <a:t>龚铂资曲线</a:t>
            </a:r>
          </a:p>
          <a:p>
            <a:pPr lvl="3" eaLnBrk="1" hangingPunct="1"/>
            <a:endParaRPr lang="zh-CN" altLang="en-US" i="1" dirty="0" smtClean="0"/>
          </a:p>
          <a:p>
            <a:pPr lvl="1" eaLnBrk="1" hangingPunct="1"/>
            <a:r>
              <a:rPr lang="en-US" altLang="zh-CN" i="1" dirty="0" smtClean="0"/>
              <a:t>Logistic</a:t>
            </a:r>
            <a:r>
              <a:rPr lang="zh-CN" altLang="en-US" dirty="0" smtClean="0"/>
              <a:t>曲线</a:t>
            </a:r>
            <a:endParaRPr lang="zh-CN" altLang="en-US" dirty="0" smtClean="0"/>
          </a:p>
        </p:txBody>
      </p:sp>
      <p:sp>
        <p:nvSpPr>
          <p:cNvPr id="59400" name="日期占位符 7"/>
          <p:cNvSpPr>
            <a:spLocks noGrp="1"/>
          </p:cNvSpPr>
          <p:nvPr>
            <p:ph type="dt" sz="quarter" idx="10"/>
          </p:nvPr>
        </p:nvSpPr>
        <p:spPr>
          <a:noFill/>
        </p:spPr>
        <p:txBody>
          <a:bodyPr/>
          <a:lstStyle/>
          <a:p>
            <a:endParaRPr lang="en-US" altLang="zh-CN" smtClean="0"/>
          </a:p>
        </p:txBody>
      </p:sp>
      <p:sp>
        <p:nvSpPr>
          <p:cNvPr id="2" name="文本框 1"/>
          <p:cNvSpPr txBox="1"/>
          <p:nvPr/>
        </p:nvSpPr>
        <p:spPr>
          <a:xfrm>
            <a:off x="7845140" y="3716338"/>
            <a:ext cx="461665" cy="92398"/>
          </a:xfrm>
          <a:prstGeom prst="rect">
            <a:avLst/>
          </a:prstGeom>
          <a:noFill/>
        </p:spPr>
        <p:txBody>
          <a:bodyPr vert="eaVert" wrap="none" rtlCol="0">
            <a:spAutoFit/>
          </a:bodyPr>
          <a:lstStyle/>
          <a:p>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2867">
                                            <p:txEl>
                                              <p:pRg st="1" end="1"/>
                                            </p:txEl>
                                          </p:spTgt>
                                        </p:tgtEl>
                                        <p:attrNameLst>
                                          <p:attrName>style.visibility</p:attrName>
                                        </p:attrNameLst>
                                      </p:cBhvr>
                                      <p:to>
                                        <p:strVal val="visible"/>
                                      </p:to>
                                    </p:set>
                                    <p:animEffect transition="in" filter="blinds(horizontal)">
                                      <p:cBhvr>
                                        <p:cTn id="7" dur="500"/>
                                        <p:tgtEl>
                                          <p:spTgt spid="292867">
                                            <p:txEl>
                                              <p:pRg st="1" end="1"/>
                                            </p:txEl>
                                          </p:spTgt>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292867">
                                            <p:txEl>
                                              <p:pRg st="3" end="3"/>
                                            </p:txEl>
                                          </p:spTgt>
                                        </p:tgtEl>
                                        <p:attrNameLst>
                                          <p:attrName>style.visibility</p:attrName>
                                        </p:attrNameLst>
                                      </p:cBhvr>
                                      <p:to>
                                        <p:strVal val="visible"/>
                                      </p:to>
                                    </p:set>
                                    <p:animEffect transition="in" filter="blinds(horizontal)">
                                      <p:cBhvr>
                                        <p:cTn id="11" dur="500"/>
                                        <p:tgtEl>
                                          <p:spTgt spid="292867">
                                            <p:txEl>
                                              <p:pRg st="3" end="3"/>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92868"/>
                                        </p:tgtEl>
                                        <p:attrNameLst>
                                          <p:attrName>style.visibility</p:attrName>
                                        </p:attrNameLst>
                                      </p:cBhvr>
                                      <p:to>
                                        <p:strVal val="visible"/>
                                      </p:to>
                                    </p:set>
                                    <p:animEffect transition="in" filter="wipe(left)">
                                      <p:cBhvr>
                                        <p:cTn id="15" dur="500"/>
                                        <p:tgtEl>
                                          <p:spTgt spid="292868"/>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92867">
                                            <p:txEl>
                                              <p:pRg st="5" end="5"/>
                                            </p:txEl>
                                          </p:spTgt>
                                        </p:tgtEl>
                                        <p:attrNameLst>
                                          <p:attrName>style.visibility</p:attrName>
                                        </p:attrNameLst>
                                      </p:cBhvr>
                                      <p:to>
                                        <p:strVal val="visible"/>
                                      </p:to>
                                    </p:set>
                                    <p:animEffect transition="in" filter="blinds(horizontal)">
                                      <p:cBhvr>
                                        <p:cTn id="20" dur="500"/>
                                        <p:tgtEl>
                                          <p:spTgt spid="292867">
                                            <p:txEl>
                                              <p:pRg st="5" end="5"/>
                                            </p:txEl>
                                          </p:spTgt>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292869"/>
                                        </p:tgtEl>
                                        <p:attrNameLst>
                                          <p:attrName>style.visibility</p:attrName>
                                        </p:attrNameLst>
                                      </p:cBhvr>
                                      <p:to>
                                        <p:strVal val="visible"/>
                                      </p:to>
                                    </p:set>
                                    <p:animEffect transition="in" filter="wipe(left)">
                                      <p:cBhvr>
                                        <p:cTn id="24" dur="500"/>
                                        <p:tgtEl>
                                          <p:spTgt spid="2928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867" grpId="0" build="p"/>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7" name="Rectangle 3"/>
          <p:cNvSpPr>
            <a:spLocks noChangeArrowheads="1"/>
          </p:cNvSpPr>
          <p:nvPr/>
        </p:nvSpPr>
        <p:spPr bwMode="auto">
          <a:xfrm>
            <a:off x="571500" y="4429125"/>
            <a:ext cx="7704138" cy="1928813"/>
          </a:xfrm>
          <a:prstGeom prst="rect">
            <a:avLst/>
          </a:prstGeom>
          <a:noFill/>
          <a:ln w="12700">
            <a:noFill/>
            <a:miter lim="800000"/>
            <a:headEnd/>
            <a:tailEnd/>
          </a:ln>
        </p:spPr>
        <p:txBody>
          <a:bodyPr lIns="90488" tIns="44450" rIns="90488" bIns="44450"/>
          <a:lstStyle/>
          <a:p>
            <a:pPr marL="457200" indent="-457200" algn="just" eaLnBrk="0" hangingPunct="0">
              <a:buClr>
                <a:srgbClr val="3333FF"/>
              </a:buClr>
              <a:buSzPct val="88000"/>
              <a:buFont typeface="Wingdings" pitchFamily="2" charset="2"/>
              <a:buChar char="§"/>
            </a:pPr>
            <a:r>
              <a:rPr kumimoji="1" lang="zh-CN" altLang="en-US" sz="3600" b="1">
                <a:solidFill>
                  <a:srgbClr val="3333FF"/>
                </a:solidFill>
                <a:latin typeface="Times New Roman" pitchFamily="18" charset="0"/>
              </a:rPr>
              <a:t>方法</a:t>
            </a:r>
            <a:r>
              <a:rPr kumimoji="1" lang="zh-CN" altLang="en-US" sz="3200" b="1">
                <a:solidFill>
                  <a:srgbClr val="3333FF"/>
                </a:solidFill>
                <a:latin typeface="Times New Roman" pitchFamily="18" charset="0"/>
              </a:rPr>
              <a:t>：</a:t>
            </a:r>
            <a:endParaRPr kumimoji="1" lang="en-US" altLang="zh-CN" sz="3200" b="1">
              <a:solidFill>
                <a:srgbClr val="3333FF"/>
              </a:solidFill>
              <a:latin typeface="Times New Roman" pitchFamily="18" charset="0"/>
            </a:endParaRPr>
          </a:p>
          <a:p>
            <a:pPr lvl="2" indent="171450">
              <a:buSzPct val="70000"/>
              <a:buFontTx/>
              <a:buBlip>
                <a:blip r:embed="rId3"/>
              </a:buBlip>
            </a:pPr>
            <a:r>
              <a:rPr lang="zh-CN" altLang="en-US" sz="3200" b="1">
                <a:solidFill>
                  <a:schemeClr val="tx2"/>
                </a:solidFill>
                <a:latin typeface="Tahoma" pitchFamily="34" charset="0"/>
              </a:rPr>
              <a:t>同期平均法（</a:t>
            </a:r>
            <a:r>
              <a:rPr lang="zh-CN" altLang="en-US" sz="3200" b="1">
                <a:solidFill>
                  <a:schemeClr val="tx2"/>
                </a:solidFill>
                <a:latin typeface="Times New Roman" pitchFamily="18" charset="0"/>
              </a:rPr>
              <a:t>原资料平均法）</a:t>
            </a:r>
          </a:p>
          <a:p>
            <a:pPr lvl="2" indent="171450">
              <a:buSzPct val="70000"/>
              <a:buFontTx/>
              <a:buBlip>
                <a:blip r:embed="rId3"/>
              </a:buBlip>
            </a:pPr>
            <a:r>
              <a:rPr lang="zh-CN" altLang="en-US" sz="3200" b="1">
                <a:solidFill>
                  <a:schemeClr val="tx2"/>
                </a:solidFill>
                <a:latin typeface="Times New Roman" pitchFamily="18" charset="0"/>
              </a:rPr>
              <a:t> 趋势剔除法</a:t>
            </a:r>
            <a:endParaRPr lang="zh-CN" altLang="en-US" sz="3200" b="1">
              <a:solidFill>
                <a:schemeClr val="tx2"/>
              </a:solidFill>
              <a:latin typeface="Tahoma" pitchFamily="34" charset="0"/>
            </a:endParaRPr>
          </a:p>
        </p:txBody>
      </p:sp>
      <p:sp>
        <p:nvSpPr>
          <p:cNvPr id="134148" name="Rectangle 4"/>
          <p:cNvSpPr>
            <a:spLocks noGrp="1" noChangeArrowheads="1"/>
          </p:cNvSpPr>
          <p:nvPr>
            <p:ph type="ctrTitle"/>
          </p:nvPr>
        </p:nvSpPr>
        <p:spPr>
          <a:xfrm>
            <a:off x="214313" y="571500"/>
            <a:ext cx="8572500" cy="1357313"/>
          </a:xfrm>
        </p:spPr>
        <p:txBody>
          <a:bodyPr/>
          <a:lstStyle/>
          <a:p>
            <a:pPr eaLnBrk="1" hangingPunct="1"/>
            <a:r>
              <a:rPr lang="en-US" altLang="zh-CN" dirty="0" smtClean="0"/>
              <a:t>4.4.3 </a:t>
            </a:r>
            <a:r>
              <a:rPr lang="zh-CN" altLang="en-US" dirty="0" smtClean="0"/>
              <a:t>时间序列的季节变动测定</a:t>
            </a:r>
          </a:p>
        </p:txBody>
      </p:sp>
      <p:sp>
        <p:nvSpPr>
          <p:cNvPr id="5" name="Text Box 3"/>
          <p:cNvSpPr txBox="1">
            <a:spLocks noChangeArrowheads="1"/>
          </p:cNvSpPr>
          <p:nvPr/>
        </p:nvSpPr>
        <p:spPr bwMode="auto">
          <a:xfrm>
            <a:off x="642938" y="2214563"/>
            <a:ext cx="8286750" cy="2125662"/>
          </a:xfrm>
          <a:prstGeom prst="rect">
            <a:avLst/>
          </a:prstGeom>
          <a:noFill/>
          <a:ln w="12700">
            <a:noFill/>
            <a:miter lim="800000"/>
            <a:headEnd/>
            <a:tailEnd/>
          </a:ln>
        </p:spPr>
        <p:txBody>
          <a:bodyPr lIns="90000" tIns="46800" rIns="90000" bIns="46800">
            <a:spAutoFit/>
          </a:bodyPr>
          <a:lstStyle/>
          <a:p>
            <a:pPr marL="457200" indent="-457200" algn="just" eaLnBrk="0" hangingPunct="0">
              <a:spcBef>
                <a:spcPct val="50000"/>
              </a:spcBef>
              <a:buClr>
                <a:srgbClr val="3333FF"/>
              </a:buClr>
              <a:buFont typeface="Wingdings" pitchFamily="2" charset="2"/>
              <a:buChar char="§"/>
              <a:defRPr/>
            </a:pPr>
            <a:r>
              <a:rPr kumimoji="1" lang="zh-CN" altLang="en-US" sz="3600" b="1" dirty="0">
                <a:solidFill>
                  <a:srgbClr val="3333FF"/>
                </a:solidFill>
                <a:latin typeface="Times New Roman" pitchFamily="18" charset="0"/>
              </a:rPr>
              <a:t>目的：</a:t>
            </a:r>
            <a:endParaRPr kumimoji="1" lang="en-US" altLang="zh-CN" sz="3600" b="1" dirty="0">
              <a:solidFill>
                <a:srgbClr val="3333FF"/>
              </a:solidFill>
              <a:latin typeface="Times New Roman" pitchFamily="18" charset="0"/>
            </a:endParaRPr>
          </a:p>
          <a:p>
            <a:pPr marL="914400" lvl="1" indent="-457200" algn="just" eaLnBrk="0" hangingPunct="0">
              <a:spcBef>
                <a:spcPts val="0"/>
              </a:spcBef>
              <a:buClr>
                <a:schemeClr val="tx2">
                  <a:lumMod val="40000"/>
                  <a:lumOff val="60000"/>
                </a:schemeClr>
              </a:buClr>
              <a:buSzPct val="90000"/>
              <a:buFont typeface="Wingdings" pitchFamily="2" charset="2"/>
              <a:buChar char="Ø"/>
              <a:defRPr/>
            </a:pPr>
            <a:r>
              <a:rPr kumimoji="1" lang="zh-CN" altLang="en-US" sz="3200" b="1" dirty="0">
                <a:solidFill>
                  <a:srgbClr val="000000"/>
                </a:solidFill>
                <a:latin typeface="Times New Roman" pitchFamily="18" charset="0"/>
              </a:rPr>
              <a:t>确定现象过去的季节变化规律；</a:t>
            </a:r>
          </a:p>
          <a:p>
            <a:pPr marL="914400" lvl="1" indent="-457200" algn="just" eaLnBrk="0" hangingPunct="0">
              <a:spcBef>
                <a:spcPts val="0"/>
              </a:spcBef>
              <a:buClr>
                <a:schemeClr val="tx2">
                  <a:lumMod val="40000"/>
                  <a:lumOff val="60000"/>
                </a:schemeClr>
              </a:buClr>
              <a:buSzPct val="90000"/>
              <a:buFont typeface="Wingdings" pitchFamily="2" charset="2"/>
              <a:buChar char="Ø"/>
              <a:defRPr/>
            </a:pPr>
            <a:r>
              <a:rPr kumimoji="1" lang="zh-CN" altLang="en-US" sz="3200" b="1" dirty="0">
                <a:solidFill>
                  <a:srgbClr val="000000"/>
                </a:solidFill>
                <a:latin typeface="Times New Roman" pitchFamily="18" charset="0"/>
              </a:rPr>
              <a:t>消除季节因素，更好地研究时间数列中的其它成分</a:t>
            </a:r>
            <a:r>
              <a:rPr kumimoji="1" lang="en-US" altLang="zh-CN" sz="3200" b="1" dirty="0">
                <a:solidFill>
                  <a:srgbClr val="000000"/>
                </a:solidFill>
                <a:latin typeface="Times New Roman" pitchFamily="18" charset="0"/>
              </a:rPr>
              <a:t>——</a:t>
            </a:r>
            <a:r>
              <a:rPr lang="zh-CN" altLang="en-US" sz="3200" b="1" dirty="0">
                <a:solidFill>
                  <a:srgbClr val="002060"/>
                </a:solidFill>
                <a:latin typeface="Tahoma" pitchFamily="34" charset="0"/>
              </a:rPr>
              <a:t>季节影响的调整 。</a:t>
            </a:r>
            <a:endParaRPr kumimoji="1" lang="zh-CN" altLang="en-US" sz="3200" b="1" dirty="0">
              <a:solidFill>
                <a:srgbClr val="002060"/>
              </a:solidFill>
              <a:latin typeface="Times New Roman" pitchFamily="18" charset="0"/>
            </a:endParaRPr>
          </a:p>
        </p:txBody>
      </p:sp>
    </p:spTree>
  </p:cSld>
  <p:clrMapOvr>
    <a:masterClrMapping/>
  </p:clrMapOvr>
  <p:transition>
    <p:zoom/>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1" name="Rectangle 2"/>
          <p:cNvSpPr>
            <a:spLocks noGrp="1" noChangeArrowheads="1"/>
          </p:cNvSpPr>
          <p:nvPr>
            <p:ph type="title"/>
          </p:nvPr>
        </p:nvSpPr>
        <p:spPr>
          <a:xfrm>
            <a:off x="250825" y="549275"/>
            <a:ext cx="8153400" cy="1143000"/>
          </a:xfrm>
        </p:spPr>
        <p:txBody>
          <a:bodyPr lIns="90488" tIns="44450" rIns="90488" bIns="44450" anchor="ctr" anchorCtr="1"/>
          <a:lstStyle/>
          <a:p>
            <a:pPr eaLnBrk="1" hangingPunct="1"/>
            <a:r>
              <a:rPr lang="en-US" altLang="zh-CN" dirty="0" smtClean="0"/>
              <a:t>1 </a:t>
            </a:r>
            <a:r>
              <a:rPr lang="en-US" altLang="zh-CN" dirty="0" smtClean="0"/>
              <a:t>.</a:t>
            </a:r>
            <a:r>
              <a:rPr kumimoji="1" lang="zh-CN" altLang="en-US" dirty="0">
                <a:latin typeface="Times New Roman" pitchFamily="18" charset="0"/>
              </a:rPr>
              <a:t>同期平均法</a:t>
            </a:r>
            <a:endParaRPr lang="zh-CN" altLang="en-US" dirty="0" smtClean="0"/>
          </a:p>
        </p:txBody>
      </p:sp>
      <p:sp>
        <p:nvSpPr>
          <p:cNvPr id="135172" name="Text Box 3"/>
          <p:cNvSpPr txBox="1">
            <a:spLocks noChangeArrowheads="1"/>
          </p:cNvSpPr>
          <p:nvPr/>
        </p:nvSpPr>
        <p:spPr bwMode="auto">
          <a:xfrm>
            <a:off x="1121317" y="2135952"/>
            <a:ext cx="7272338" cy="3787833"/>
          </a:xfrm>
          <a:prstGeom prst="rect">
            <a:avLst/>
          </a:prstGeom>
          <a:noFill/>
          <a:ln w="12700">
            <a:noFill/>
            <a:miter lim="800000"/>
            <a:headEnd/>
            <a:tailEnd/>
          </a:ln>
        </p:spPr>
        <p:txBody>
          <a:bodyPr lIns="90000" tIns="46800" rIns="90000" bIns="46800">
            <a:spAutoFit/>
          </a:bodyPr>
          <a:lstStyle/>
          <a:p>
            <a:pPr marL="457200" indent="-457200" algn="just" eaLnBrk="0" hangingPunct="0">
              <a:lnSpc>
                <a:spcPct val="150000"/>
              </a:lnSpc>
              <a:spcBef>
                <a:spcPts val="1800"/>
              </a:spcBef>
            </a:pPr>
            <a:r>
              <a:rPr kumimoji="1" lang="zh-CN" altLang="en-US" sz="2800" b="1" dirty="0">
                <a:solidFill>
                  <a:srgbClr val="3333FF"/>
                </a:solidFill>
                <a:latin typeface="Tahoma" pitchFamily="34" charset="0"/>
                <a:sym typeface="Wingdings 3" pitchFamily="18" charset="2"/>
              </a:rPr>
              <a:t>假定：</a:t>
            </a:r>
            <a:r>
              <a:rPr kumimoji="1" lang="en-US" altLang="zh-CN" sz="2800" b="1" dirty="0">
                <a:solidFill>
                  <a:srgbClr val="000000"/>
                </a:solidFill>
                <a:latin typeface="Tahoma" pitchFamily="34" charset="0"/>
                <a:sym typeface="Wingdings 3" pitchFamily="18" charset="2"/>
              </a:rPr>
              <a:t>Y</a:t>
            </a:r>
            <a:r>
              <a:rPr kumimoji="1" lang="en-US" altLang="zh-CN" sz="2800" b="1" i="1" baseline="-25000" dirty="0">
                <a:solidFill>
                  <a:srgbClr val="000000"/>
                </a:solidFill>
                <a:latin typeface="Times New Roman" pitchFamily="18" charset="0"/>
                <a:cs typeface="Times New Roman" pitchFamily="18" charset="0"/>
                <a:sym typeface="Wingdings 3" pitchFamily="18" charset="2"/>
              </a:rPr>
              <a:t>i</a:t>
            </a:r>
            <a:r>
              <a:rPr kumimoji="1" lang="en-US" altLang="zh-CN" sz="2800" b="1" dirty="0">
                <a:solidFill>
                  <a:srgbClr val="000000"/>
                </a:solidFill>
                <a:latin typeface="Tahoma" pitchFamily="34" charset="0"/>
                <a:sym typeface="Wingdings 3" pitchFamily="18" charset="2"/>
              </a:rPr>
              <a:t>=</a:t>
            </a:r>
            <a:r>
              <a:rPr kumimoji="1" lang="en-US" altLang="zh-CN" sz="2800" b="1" i="1" dirty="0" err="1">
                <a:solidFill>
                  <a:srgbClr val="000000"/>
                </a:solidFill>
                <a:latin typeface="Times New Roman" pitchFamily="18" charset="0"/>
                <a:ea typeface="Arial Unicode MS" pitchFamily="34" charset="-122"/>
                <a:cs typeface="Times New Roman" pitchFamily="18" charset="0"/>
                <a:sym typeface="Wingdings 3" pitchFamily="18" charset="2"/>
              </a:rPr>
              <a:t>a</a:t>
            </a:r>
            <a:r>
              <a:rPr kumimoji="1" lang="en-US" altLang="zh-CN" sz="2800" b="1" dirty="0" err="1">
                <a:solidFill>
                  <a:srgbClr val="000000"/>
                </a:solidFill>
                <a:latin typeface="Times New Roman" pitchFamily="18" charset="0"/>
                <a:cs typeface="Times New Roman" pitchFamily="18" charset="0"/>
                <a:sym typeface="Wingdings 3" pitchFamily="18" charset="2"/>
              </a:rPr>
              <a:t>.</a:t>
            </a:r>
            <a:r>
              <a:rPr kumimoji="1" lang="en-US" altLang="zh-CN" sz="2800" b="1" dirty="0" err="1">
                <a:solidFill>
                  <a:srgbClr val="000000"/>
                </a:solidFill>
                <a:latin typeface="Tahoma" pitchFamily="34" charset="0"/>
                <a:sym typeface="Wingdings 3" pitchFamily="18" charset="2"/>
              </a:rPr>
              <a:t>S</a:t>
            </a:r>
            <a:r>
              <a:rPr kumimoji="1" lang="en-US" altLang="zh-CN" sz="2800" b="1" i="1" baseline="-25000" dirty="0" err="1">
                <a:solidFill>
                  <a:srgbClr val="000000"/>
                </a:solidFill>
                <a:latin typeface="Times New Roman" pitchFamily="18" charset="0"/>
                <a:cs typeface="Times New Roman" pitchFamily="18" charset="0"/>
                <a:sym typeface="Wingdings 3" pitchFamily="18" charset="2"/>
              </a:rPr>
              <a:t>i</a:t>
            </a:r>
            <a:r>
              <a:rPr kumimoji="1" lang="en-US" altLang="zh-CN" sz="2800" b="1" dirty="0" err="1">
                <a:solidFill>
                  <a:srgbClr val="000000"/>
                </a:solidFill>
                <a:latin typeface="Times New Roman" pitchFamily="18" charset="0"/>
                <a:cs typeface="Times New Roman" pitchFamily="18" charset="0"/>
                <a:sym typeface="Wingdings 3" pitchFamily="18" charset="2"/>
              </a:rPr>
              <a:t>.</a:t>
            </a:r>
            <a:r>
              <a:rPr kumimoji="1" lang="en-US" altLang="zh-CN" sz="2800" b="1" dirty="0" err="1">
                <a:solidFill>
                  <a:srgbClr val="000000"/>
                </a:solidFill>
                <a:latin typeface="Tahoma" pitchFamily="34" charset="0"/>
                <a:sym typeface="Wingdings 3" pitchFamily="18" charset="2"/>
              </a:rPr>
              <a:t>I</a:t>
            </a:r>
            <a:r>
              <a:rPr kumimoji="1" lang="en-US" altLang="zh-CN" sz="2800" b="1" i="1" baseline="-25000" dirty="0" err="1">
                <a:solidFill>
                  <a:srgbClr val="000000"/>
                </a:solidFill>
                <a:latin typeface="Times New Roman" pitchFamily="18" charset="0"/>
                <a:cs typeface="Times New Roman" pitchFamily="18" charset="0"/>
                <a:sym typeface="Wingdings 3" pitchFamily="18" charset="2"/>
              </a:rPr>
              <a:t>i</a:t>
            </a:r>
            <a:r>
              <a:rPr kumimoji="1" lang="en-US" altLang="zh-CN" sz="2800" b="1" dirty="0">
                <a:solidFill>
                  <a:srgbClr val="000000"/>
                </a:solidFill>
                <a:latin typeface="Tahoma" pitchFamily="34" charset="0"/>
                <a:sym typeface="Wingdings 3" pitchFamily="18" charset="2"/>
              </a:rPr>
              <a:t>    </a:t>
            </a:r>
            <a:r>
              <a:rPr kumimoji="1" lang="en-US" altLang="zh-CN" sz="2800" dirty="0">
                <a:solidFill>
                  <a:srgbClr val="000000"/>
                </a:solidFill>
                <a:latin typeface="Times New Roman" pitchFamily="18" charset="0"/>
                <a:sym typeface="Wingdings 3" pitchFamily="18" charset="2"/>
              </a:rPr>
              <a:t>    </a:t>
            </a:r>
            <a:r>
              <a:rPr kumimoji="1" lang="zh-CN" altLang="en-US" sz="2800" dirty="0">
                <a:solidFill>
                  <a:srgbClr val="000000"/>
                </a:solidFill>
                <a:latin typeface="Times New Roman" pitchFamily="18" charset="0"/>
                <a:sym typeface="Wingdings 3" pitchFamily="18" charset="2"/>
              </a:rPr>
              <a:t>即假定时间数列为水平趋势</a:t>
            </a:r>
            <a:r>
              <a:rPr kumimoji="1" lang="zh-CN" altLang="en-US" sz="2800" dirty="0">
                <a:solidFill>
                  <a:srgbClr val="000000"/>
                </a:solidFill>
                <a:latin typeface="Tahoma" pitchFamily="34" charset="0"/>
                <a:sym typeface="Wingdings 3" pitchFamily="18" charset="2"/>
              </a:rPr>
              <a:t>（</a:t>
            </a:r>
            <a:r>
              <a:rPr kumimoji="1" lang="en-US" altLang="zh-CN" sz="2800" b="1" dirty="0" err="1">
                <a:solidFill>
                  <a:srgbClr val="000000"/>
                </a:solidFill>
                <a:latin typeface="Tahoma" pitchFamily="34" charset="0"/>
                <a:sym typeface="Wingdings 3" pitchFamily="18" charset="2"/>
              </a:rPr>
              <a:t>T</a:t>
            </a:r>
            <a:r>
              <a:rPr kumimoji="1" lang="en-US" altLang="zh-CN" sz="2800" b="1" i="1" baseline="-25000" dirty="0" err="1">
                <a:solidFill>
                  <a:srgbClr val="000000"/>
                </a:solidFill>
                <a:latin typeface="Times New Roman" pitchFamily="18" charset="0"/>
                <a:cs typeface="Times New Roman" pitchFamily="18" charset="0"/>
                <a:sym typeface="Wingdings 3" pitchFamily="18" charset="2"/>
              </a:rPr>
              <a:t>i</a:t>
            </a:r>
            <a:r>
              <a:rPr kumimoji="1" lang="en-US" altLang="zh-CN" sz="2800" dirty="0">
                <a:solidFill>
                  <a:srgbClr val="000000"/>
                </a:solidFill>
                <a:latin typeface="Tahoma" pitchFamily="34" charset="0"/>
                <a:sym typeface="Wingdings 3" pitchFamily="18" charset="2"/>
              </a:rPr>
              <a:t>=</a:t>
            </a:r>
            <a:r>
              <a:rPr kumimoji="1" lang="en-US" altLang="zh-CN" sz="2800" b="1" i="1" dirty="0">
                <a:solidFill>
                  <a:srgbClr val="000000"/>
                </a:solidFill>
                <a:latin typeface="Times New Roman" pitchFamily="18" charset="0"/>
                <a:ea typeface="Arial Unicode MS" pitchFamily="34" charset="-122"/>
                <a:cs typeface="Arial Unicode MS" pitchFamily="34" charset="-122"/>
                <a:sym typeface="Wingdings 3" pitchFamily="18" charset="2"/>
              </a:rPr>
              <a:t>a</a:t>
            </a:r>
            <a:r>
              <a:rPr kumimoji="1" lang="zh-CN" altLang="en-US" sz="2800" dirty="0">
                <a:solidFill>
                  <a:srgbClr val="000000"/>
                </a:solidFill>
                <a:latin typeface="Tahoma" pitchFamily="34" charset="0"/>
                <a:sym typeface="Wingdings 3" pitchFamily="18" charset="2"/>
              </a:rPr>
              <a:t>，为常数）</a:t>
            </a:r>
            <a:r>
              <a:rPr kumimoji="1" lang="zh-CN" altLang="en-US" sz="2800" dirty="0">
                <a:solidFill>
                  <a:srgbClr val="000000"/>
                </a:solidFill>
                <a:latin typeface="Times New Roman" pitchFamily="18" charset="0"/>
                <a:sym typeface="Wingdings 3" pitchFamily="18" charset="2"/>
              </a:rPr>
              <a:t> 且无循环波动。</a:t>
            </a:r>
            <a:endParaRPr kumimoji="1" lang="zh-CN" altLang="en-US" sz="2800" dirty="0">
              <a:solidFill>
                <a:srgbClr val="000000"/>
              </a:solidFill>
              <a:latin typeface="Times New Roman" pitchFamily="18" charset="0"/>
            </a:endParaRPr>
          </a:p>
          <a:p>
            <a:pPr marL="457200" indent="-457200" algn="just" eaLnBrk="0" hangingPunct="0">
              <a:lnSpc>
                <a:spcPct val="150000"/>
              </a:lnSpc>
              <a:spcBef>
                <a:spcPts val="1800"/>
              </a:spcBef>
            </a:pPr>
            <a:r>
              <a:rPr kumimoji="1" lang="zh-CN" altLang="en-US" sz="2800" b="1" dirty="0">
                <a:solidFill>
                  <a:srgbClr val="3333FF"/>
                </a:solidFill>
                <a:latin typeface="Times New Roman" pitchFamily="18" charset="0"/>
              </a:rPr>
              <a:t>计算 </a:t>
            </a:r>
            <a:r>
              <a:rPr kumimoji="1" lang="zh-CN" altLang="en-US" sz="2800" b="1" dirty="0">
                <a:solidFill>
                  <a:srgbClr val="0070C0"/>
                </a:solidFill>
                <a:latin typeface="Times New Roman" pitchFamily="18" charset="0"/>
              </a:rPr>
              <a:t>季节比率 </a:t>
            </a:r>
            <a:r>
              <a:rPr kumimoji="1" lang="en-US" altLang="zh-CN" sz="2800" b="1" dirty="0">
                <a:solidFill>
                  <a:srgbClr val="0070C0"/>
                </a:solidFill>
                <a:latin typeface="Times New Roman" pitchFamily="18" charset="0"/>
              </a:rPr>
              <a:t>S</a:t>
            </a:r>
            <a:r>
              <a:rPr kumimoji="1" lang="en-US" altLang="zh-CN" sz="2800" b="1" i="1" baseline="-25000" dirty="0">
                <a:solidFill>
                  <a:srgbClr val="0070C0"/>
                </a:solidFill>
                <a:latin typeface="Times New Roman" pitchFamily="18" charset="0"/>
                <a:cs typeface="Times New Roman" pitchFamily="18" charset="0"/>
                <a:sym typeface="Wingdings 3" pitchFamily="18" charset="2"/>
              </a:rPr>
              <a:t>i</a:t>
            </a:r>
            <a:r>
              <a:rPr kumimoji="1" lang="en-US" altLang="zh-CN" sz="2800" b="1" dirty="0">
                <a:solidFill>
                  <a:srgbClr val="0070C0"/>
                </a:solidFill>
                <a:latin typeface="Times New Roman" pitchFamily="18" charset="0"/>
              </a:rPr>
              <a:t>  </a:t>
            </a:r>
            <a:r>
              <a:rPr kumimoji="1" lang="zh-CN" altLang="en-US" sz="2800" b="1" dirty="0">
                <a:solidFill>
                  <a:srgbClr val="0070C0"/>
                </a:solidFill>
                <a:latin typeface="Times New Roman" pitchFamily="18" charset="0"/>
              </a:rPr>
              <a:t>（或称为季节指数）</a:t>
            </a:r>
          </a:p>
          <a:p>
            <a:pPr marL="914400" lvl="1" indent="-457200" algn="just" eaLnBrk="0" hangingPunct="0">
              <a:lnSpc>
                <a:spcPct val="150000"/>
              </a:lnSpc>
              <a:spcBef>
                <a:spcPts val="1800"/>
              </a:spcBef>
              <a:buFontTx/>
              <a:buChar char="•"/>
            </a:pPr>
            <a:r>
              <a:rPr kumimoji="1" lang="zh-CN" altLang="en-US" sz="2800" dirty="0">
                <a:solidFill>
                  <a:srgbClr val="000000"/>
                </a:solidFill>
                <a:latin typeface="Times New Roman" pitchFamily="18" charset="0"/>
              </a:rPr>
              <a:t>根据原时间数列通过对同期数据求简单平均的方法来分离出季节变动因素</a:t>
            </a:r>
          </a:p>
        </p:txBody>
      </p:sp>
      <p:sp>
        <p:nvSpPr>
          <p:cNvPr id="135174" name="日期占位符 5"/>
          <p:cNvSpPr>
            <a:spLocks noGrp="1"/>
          </p:cNvSpPr>
          <p:nvPr>
            <p:ph type="dt" sz="quarter" idx="10"/>
          </p:nvPr>
        </p:nvSpPr>
        <p:spPr>
          <a:noFill/>
        </p:spPr>
        <p:txBody>
          <a:bodyPr/>
          <a:lstStyle/>
          <a:p>
            <a:endParaRPr lang="en-US" altLang="zh-CN" smtClean="0"/>
          </a:p>
        </p:txBody>
      </p:sp>
    </p:spTree>
  </p:cSld>
  <p:clrMapOvr>
    <a:masterClrMapping/>
  </p:clrMapOvr>
  <p:transition>
    <p:wipe dir="r"/>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6" name="Rectangle 2"/>
          <p:cNvSpPr>
            <a:spLocks noGrp="1" noChangeArrowheads="1"/>
          </p:cNvSpPr>
          <p:nvPr>
            <p:ph type="title"/>
          </p:nvPr>
        </p:nvSpPr>
        <p:spPr>
          <a:xfrm>
            <a:off x="2268105" y="-108421"/>
            <a:ext cx="6404248" cy="990600"/>
          </a:xfrm>
        </p:spPr>
        <p:txBody>
          <a:bodyPr/>
          <a:lstStyle/>
          <a:p>
            <a:pPr eaLnBrk="1" hangingPunct="1"/>
            <a:r>
              <a:rPr kumimoji="1" lang="zh-CN" altLang="en-US" sz="4000" dirty="0">
                <a:latin typeface="Times New Roman" pitchFamily="18" charset="0"/>
              </a:rPr>
              <a:t>同期平均法</a:t>
            </a:r>
            <a:r>
              <a:rPr lang="zh-CN" altLang="en-US" sz="4000" dirty="0" smtClean="0"/>
              <a:t>的</a:t>
            </a:r>
            <a:r>
              <a:rPr lang="zh-CN" altLang="en-US" sz="4000" dirty="0" smtClean="0"/>
              <a:t>步骤</a:t>
            </a:r>
            <a:endParaRPr lang="en-US" altLang="zh-CN" sz="4000" dirty="0" smtClean="0"/>
          </a:p>
        </p:txBody>
      </p:sp>
      <p:graphicFrame>
        <p:nvGraphicFramePr>
          <p:cNvPr id="103428" name="Object 4">
            <a:hlinkClick r:id="" action="ppaction://ole?verb=0"/>
          </p:cNvPr>
          <p:cNvGraphicFramePr>
            <a:graphicFrameLocks/>
          </p:cNvGraphicFramePr>
          <p:nvPr>
            <p:extLst>
              <p:ext uri="{D42A27DB-BD31-4B8C-83A1-F6EECF244321}">
                <p14:modId xmlns:p14="http://schemas.microsoft.com/office/powerpoint/2010/main" val="4275435201"/>
              </p:ext>
            </p:extLst>
          </p:nvPr>
        </p:nvGraphicFramePr>
        <p:xfrm>
          <a:off x="899593" y="4482181"/>
          <a:ext cx="5688631" cy="1008063"/>
        </p:xfrm>
        <a:graphic>
          <a:graphicData uri="http://schemas.openxmlformats.org/presentationml/2006/ole">
            <mc:AlternateContent xmlns:mc="http://schemas.openxmlformats.org/markup-compatibility/2006">
              <mc:Choice xmlns:v="urn:schemas-microsoft-com:vml" Requires="v">
                <p:oleObj spid="_x0000_s61870" name="公式" r:id="rId3" imgW="3136680" imgH="431640" progId="Equation.3">
                  <p:embed/>
                </p:oleObj>
              </mc:Choice>
              <mc:Fallback>
                <p:oleObj name="公式" r:id="rId3" imgW="3136680" imgH="431640" progId="Equation.3">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593" y="4482181"/>
                        <a:ext cx="5688631" cy="1008063"/>
                      </a:xfrm>
                      <a:prstGeom prst="rect">
                        <a:avLst/>
                      </a:prstGeom>
                      <a:solidFill>
                        <a:schemeClr val="accent1">
                          <a:lumMod val="40000"/>
                          <a:lumOff val="60000"/>
                        </a:schemeClr>
                      </a:solidFill>
                      <a:ln>
                        <a:noFill/>
                      </a:ln>
                      <a:effectLst>
                        <a:outerShdw dist="17961" dir="2700000" algn="ctr" rotWithShape="0">
                          <a:schemeClr val="bg2"/>
                        </a:outerShdw>
                      </a:effectLst>
                      <a:extLst/>
                    </p:spPr>
                  </p:pic>
                </p:oleObj>
              </mc:Fallback>
            </mc:AlternateContent>
          </a:graphicData>
        </a:graphic>
      </p:graphicFrame>
      <p:sp>
        <p:nvSpPr>
          <p:cNvPr id="103432" name="Rectangle 8"/>
          <p:cNvSpPr>
            <a:spLocks noChangeArrowheads="1"/>
          </p:cNvSpPr>
          <p:nvPr/>
        </p:nvSpPr>
        <p:spPr bwMode="auto">
          <a:xfrm>
            <a:off x="683568" y="3345681"/>
            <a:ext cx="8301038" cy="587375"/>
          </a:xfrm>
          <a:prstGeom prst="rect">
            <a:avLst/>
          </a:prstGeom>
          <a:noFill/>
          <a:ln w="12700">
            <a:noFill/>
            <a:miter lim="800000"/>
            <a:headEnd/>
            <a:tailEnd/>
          </a:ln>
        </p:spPr>
        <p:txBody>
          <a:bodyPr wrap="none" lIns="90000" tIns="46800" rIns="90000" bIns="46800">
            <a:spAutoFit/>
          </a:bodyPr>
          <a:lstStyle/>
          <a:p>
            <a:pPr eaLnBrk="0" hangingPunct="0"/>
            <a:r>
              <a:rPr kumimoji="1" lang="en-US" altLang="zh-CN" sz="3200" b="1" dirty="0">
                <a:solidFill>
                  <a:srgbClr val="0070C0"/>
                </a:solidFill>
                <a:latin typeface="Tahoma" pitchFamily="34" charset="0"/>
              </a:rPr>
              <a:t>2.</a:t>
            </a:r>
            <a:r>
              <a:rPr kumimoji="1" lang="zh-CN" altLang="en-US" sz="3200" b="1" dirty="0">
                <a:solidFill>
                  <a:srgbClr val="0070C0"/>
                </a:solidFill>
                <a:latin typeface="Tahoma" pitchFamily="34" charset="0"/>
              </a:rPr>
              <a:t>计算全部数据的总平均数    </a:t>
            </a:r>
            <a:r>
              <a:rPr kumimoji="1" lang="zh-CN" altLang="en-US" sz="3200" b="1" dirty="0">
                <a:solidFill>
                  <a:srgbClr val="000000"/>
                </a:solidFill>
                <a:latin typeface="Tahoma" pitchFamily="34" charset="0"/>
              </a:rPr>
              <a:t>（相当于</a:t>
            </a:r>
            <a:r>
              <a:rPr kumimoji="1" lang="en-US" altLang="zh-CN" sz="3200" b="1" i="1" dirty="0">
                <a:solidFill>
                  <a:srgbClr val="000000"/>
                </a:solidFill>
                <a:latin typeface="Times New Roman" pitchFamily="18" charset="0"/>
                <a:cs typeface="Times New Roman" pitchFamily="18" charset="0"/>
              </a:rPr>
              <a:t>a</a:t>
            </a:r>
            <a:r>
              <a:rPr kumimoji="1" lang="zh-CN" altLang="en-US" sz="3200" b="1" dirty="0">
                <a:solidFill>
                  <a:srgbClr val="000000"/>
                </a:solidFill>
                <a:latin typeface="Tahoma" pitchFamily="34" charset="0"/>
              </a:rPr>
              <a:t>）；</a:t>
            </a:r>
          </a:p>
        </p:txBody>
      </p:sp>
      <p:sp>
        <p:nvSpPr>
          <p:cNvPr id="103433" name="Rectangle 9"/>
          <p:cNvSpPr>
            <a:spLocks noChangeArrowheads="1"/>
          </p:cNvSpPr>
          <p:nvPr/>
        </p:nvSpPr>
        <p:spPr bwMode="auto">
          <a:xfrm>
            <a:off x="683568" y="3929683"/>
            <a:ext cx="4752528" cy="586957"/>
          </a:xfrm>
          <a:prstGeom prst="rect">
            <a:avLst/>
          </a:prstGeom>
          <a:noFill/>
          <a:ln w="12700">
            <a:noFill/>
            <a:miter lim="800000"/>
            <a:headEnd/>
            <a:tailEnd/>
          </a:ln>
        </p:spPr>
        <p:txBody>
          <a:bodyPr wrap="square" lIns="90000" tIns="46800" rIns="90000" bIns="46800">
            <a:spAutoFit/>
          </a:bodyPr>
          <a:lstStyle/>
          <a:p>
            <a:pPr eaLnBrk="0" hangingPunct="0">
              <a:spcBef>
                <a:spcPct val="50000"/>
              </a:spcBef>
            </a:pPr>
            <a:r>
              <a:rPr kumimoji="1" lang="en-US" altLang="zh-CN" sz="3200" b="1" dirty="0">
                <a:solidFill>
                  <a:srgbClr val="0070C0"/>
                </a:solidFill>
                <a:latin typeface="Tahoma" pitchFamily="34" charset="0"/>
              </a:rPr>
              <a:t>3.</a:t>
            </a:r>
            <a:r>
              <a:rPr kumimoji="1" lang="zh-CN" altLang="en-US" sz="3200" b="1" dirty="0">
                <a:solidFill>
                  <a:srgbClr val="0070C0"/>
                </a:solidFill>
                <a:latin typeface="Tahoma" pitchFamily="34" charset="0"/>
              </a:rPr>
              <a:t>计算各</a:t>
            </a:r>
            <a:r>
              <a:rPr kumimoji="1" lang="zh-CN" altLang="en-US" sz="3200" b="1" dirty="0" smtClean="0">
                <a:solidFill>
                  <a:srgbClr val="0070C0"/>
                </a:solidFill>
                <a:latin typeface="Tahoma" pitchFamily="34" charset="0"/>
              </a:rPr>
              <a:t>期的</a:t>
            </a:r>
            <a:r>
              <a:rPr kumimoji="1" lang="zh-CN" altLang="en-US" sz="3200" b="1" dirty="0">
                <a:solidFill>
                  <a:srgbClr val="0070C0"/>
                </a:solidFill>
                <a:latin typeface="Tahoma" pitchFamily="34" charset="0"/>
              </a:rPr>
              <a:t>季节比率：</a:t>
            </a:r>
            <a:endParaRPr kumimoji="1" lang="zh-CN" altLang="en-US" sz="3200" b="1" dirty="0">
              <a:solidFill>
                <a:srgbClr val="0070C0"/>
              </a:solidFill>
            </a:endParaRPr>
          </a:p>
        </p:txBody>
      </p:sp>
      <p:graphicFrame>
        <p:nvGraphicFramePr>
          <p:cNvPr id="103434" name="Object 10"/>
          <p:cNvGraphicFramePr>
            <a:graphicFrameLocks noChangeAspect="1"/>
          </p:cNvGraphicFramePr>
          <p:nvPr>
            <p:extLst>
              <p:ext uri="{D42A27DB-BD31-4B8C-83A1-F6EECF244321}">
                <p14:modId xmlns:p14="http://schemas.microsoft.com/office/powerpoint/2010/main" val="635929141"/>
              </p:ext>
            </p:extLst>
          </p:nvPr>
        </p:nvGraphicFramePr>
        <p:xfrm>
          <a:off x="5796136" y="3284984"/>
          <a:ext cx="476250" cy="648072"/>
        </p:xfrm>
        <a:graphic>
          <a:graphicData uri="http://schemas.openxmlformats.org/presentationml/2006/ole">
            <mc:AlternateContent xmlns:mc="http://schemas.openxmlformats.org/markup-compatibility/2006">
              <mc:Choice xmlns:v="urn:schemas-microsoft-com:vml" Requires="v">
                <p:oleObj spid="_x0000_s61871" name="Equation" r:id="rId5" imgW="139680" imgH="190440" progId="Equation.3">
                  <p:embed/>
                </p:oleObj>
              </mc:Choice>
              <mc:Fallback>
                <p:oleObj name="Equation" r:id="rId5" imgW="139680" imgH="190440"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6136" y="3284984"/>
                        <a:ext cx="476250" cy="648072"/>
                      </a:xfrm>
                      <a:prstGeom prst="rect">
                        <a:avLst/>
                      </a:prstGeom>
                      <a:solidFill>
                        <a:schemeClr val="accent1">
                          <a:lumMod val="40000"/>
                          <a:lumOff val="60000"/>
                        </a:schemeClr>
                      </a:solidFill>
                    </p:spPr>
                  </p:pic>
                </p:oleObj>
              </mc:Fallback>
            </mc:AlternateContent>
          </a:graphicData>
        </a:graphic>
      </p:graphicFrame>
      <p:graphicFrame>
        <p:nvGraphicFramePr>
          <p:cNvPr id="103436" name="Object 12"/>
          <p:cNvGraphicFramePr>
            <a:graphicFrameLocks noChangeAspect="1"/>
          </p:cNvGraphicFramePr>
          <p:nvPr>
            <p:extLst>
              <p:ext uri="{D42A27DB-BD31-4B8C-83A1-F6EECF244321}">
                <p14:modId xmlns:p14="http://schemas.microsoft.com/office/powerpoint/2010/main" val="730189436"/>
              </p:ext>
            </p:extLst>
          </p:nvPr>
        </p:nvGraphicFramePr>
        <p:xfrm>
          <a:off x="2768600" y="5490803"/>
          <a:ext cx="5903753" cy="967308"/>
        </p:xfrm>
        <a:graphic>
          <a:graphicData uri="http://schemas.openxmlformats.org/presentationml/2006/ole">
            <mc:AlternateContent xmlns:mc="http://schemas.openxmlformats.org/markup-compatibility/2006">
              <mc:Choice xmlns:v="urn:schemas-microsoft-com:vml" Requires="v">
                <p:oleObj spid="_x0000_s61872" name="公式" r:id="rId7" imgW="2997000" imgH="457200" progId="Equation.3">
                  <p:embed/>
                </p:oleObj>
              </mc:Choice>
              <mc:Fallback>
                <p:oleObj name="公式" r:id="rId7" imgW="2997000" imgH="457200" progId="Equation.3">
                  <p:embed/>
                  <p:pic>
                    <p:nvPicPr>
                      <p:cNvPr id="0" name="Object 12"/>
                      <p:cNvPicPr>
                        <a:picLocks noChangeAspect="1" noChangeArrowheads="1"/>
                      </p:cNvPicPr>
                      <p:nvPr/>
                    </p:nvPicPr>
                    <p:blipFill>
                      <a:blip r:embed="rId8"/>
                      <a:srcRect/>
                      <a:stretch>
                        <a:fillRect/>
                      </a:stretch>
                    </p:blipFill>
                    <p:spPr bwMode="auto">
                      <a:xfrm>
                        <a:off x="2768600" y="5490803"/>
                        <a:ext cx="5903753" cy="967308"/>
                      </a:xfrm>
                      <a:prstGeom prst="rect">
                        <a:avLst/>
                      </a:prstGeom>
                      <a:solidFill>
                        <a:srgbClr val="CCECFF"/>
                      </a:solidFill>
                    </p:spPr>
                  </p:pic>
                </p:oleObj>
              </mc:Fallback>
            </mc:AlternateContent>
          </a:graphicData>
        </a:graphic>
      </p:graphicFrame>
      <p:sp>
        <p:nvSpPr>
          <p:cNvPr id="61450" name="日期占位符 9"/>
          <p:cNvSpPr>
            <a:spLocks noGrp="1"/>
          </p:cNvSpPr>
          <p:nvPr>
            <p:ph type="dt" sz="quarter" idx="10"/>
          </p:nvPr>
        </p:nvSpPr>
        <p:spPr>
          <a:xfrm>
            <a:off x="251520" y="6296744"/>
            <a:ext cx="1905000" cy="457200"/>
          </a:xfrm>
          <a:noFill/>
        </p:spPr>
        <p:txBody>
          <a:bodyPr/>
          <a:lstStyle/>
          <a:p>
            <a:endParaRPr lang="en-US" altLang="zh-CN" smtClean="0"/>
          </a:p>
        </p:txBody>
      </p:sp>
      <p:sp>
        <p:nvSpPr>
          <p:cNvPr id="12" name="Rectangle 3"/>
          <p:cNvSpPr txBox="1">
            <a:spLocks noChangeArrowheads="1"/>
          </p:cNvSpPr>
          <p:nvPr/>
        </p:nvSpPr>
        <p:spPr bwMode="auto">
          <a:xfrm>
            <a:off x="665163" y="764704"/>
            <a:ext cx="7795890" cy="252028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R="0" lvl="0" algn="l" defTabSz="914400" rtl="0" eaLnBrk="1" fontAlgn="base" latinLnBrk="0" hangingPunct="1">
              <a:spcBef>
                <a:spcPts val="600"/>
              </a:spcBef>
              <a:spcAft>
                <a:spcPct val="0"/>
              </a:spcAft>
              <a:buClrTx/>
              <a:buSzPct val="90000"/>
              <a:tabLst/>
              <a:defRPr/>
            </a:pPr>
            <a:r>
              <a:rPr kumimoji="0" lang="en-US" altLang="zh-CN" sz="3200" b="1" i="0" u="none" strike="noStrike" kern="0" cap="none" spc="0" normalizeH="0" baseline="0" noProof="0" dirty="0" smtClean="0">
                <a:ln>
                  <a:noFill/>
                </a:ln>
                <a:solidFill>
                  <a:srgbClr val="0070C0"/>
                </a:solidFill>
                <a:effectLst/>
                <a:uLnTx/>
                <a:uFillTx/>
                <a:latin typeface="+mn-lt"/>
                <a:ea typeface="+mn-ea"/>
                <a:cs typeface="+mn-cs"/>
              </a:rPr>
              <a:t>1. </a:t>
            </a:r>
            <a:r>
              <a:rPr kumimoji="0" lang="zh-CN" altLang="en-US" sz="3200" b="1" i="0" u="none" strike="noStrike" kern="0" cap="none" spc="0" normalizeH="0" baseline="0" noProof="0" dirty="0" smtClean="0">
                <a:ln>
                  <a:noFill/>
                </a:ln>
                <a:solidFill>
                  <a:srgbClr val="0070C0"/>
                </a:solidFill>
                <a:effectLst/>
                <a:uLnTx/>
                <a:uFillTx/>
                <a:latin typeface="+mn-lt"/>
                <a:ea typeface="+mn-ea"/>
                <a:cs typeface="+mn-cs"/>
              </a:rPr>
              <a:t>计算同期平均数     </a:t>
            </a:r>
          </a:p>
          <a:p>
            <a:pPr marL="971550" marR="0" lvl="1" indent="-285750" algn="l" defTabSz="914400" rtl="0" eaLnBrk="1" fontAlgn="base" latinLnBrk="0" hangingPunct="1">
              <a:spcBef>
                <a:spcPts val="600"/>
              </a:spcBef>
              <a:spcAft>
                <a:spcPct val="0"/>
              </a:spcAft>
              <a:buClrTx/>
              <a:buSzPct val="80000"/>
              <a:buFontTx/>
              <a:buBlip>
                <a:blip r:embed="rId9"/>
              </a:buBlip>
              <a:tabLst/>
              <a:defRPr/>
            </a:pPr>
            <a:r>
              <a:rPr kumimoji="0" lang="zh-CN" altLang="en-US" sz="2800" b="1" i="0" u="none" strike="noStrike" kern="0" cap="none" spc="0" normalizeH="0" baseline="0" noProof="0" dirty="0" smtClean="0">
                <a:ln>
                  <a:noFill/>
                </a:ln>
                <a:solidFill>
                  <a:srgbClr val="000000"/>
                </a:solidFill>
                <a:effectLst/>
                <a:uLnTx/>
                <a:uFillTx/>
                <a:latin typeface="+mn-lt"/>
                <a:ea typeface="+mn-ea"/>
              </a:rPr>
              <a:t>各年（或各季节周期）第</a:t>
            </a:r>
            <a:r>
              <a:rPr kumimoji="0" lang="zh-CN" altLang="en-US" sz="2800" b="1" i="1" u="none" strike="noStrike" kern="0" cap="none" spc="0" normalizeH="0" baseline="0" noProof="0" dirty="0" smtClean="0">
                <a:ln>
                  <a:noFill/>
                </a:ln>
                <a:solidFill>
                  <a:srgbClr val="000000"/>
                </a:solidFill>
                <a:effectLst/>
                <a:uLnTx/>
                <a:uFillTx/>
                <a:latin typeface="+mn-lt"/>
                <a:ea typeface="+mn-ea"/>
              </a:rPr>
              <a:t> </a:t>
            </a:r>
            <a:r>
              <a:rPr kumimoji="0" lang="en-US" altLang="zh-CN" sz="2800" b="1" i="1" u="none" strike="noStrike" kern="0" cap="none" spc="0" normalizeH="0" baseline="0" noProof="0" dirty="0" err="1" smtClean="0">
                <a:ln>
                  <a:noFill/>
                </a:ln>
                <a:solidFill>
                  <a:srgbClr val="000000"/>
                </a:solidFill>
                <a:effectLst/>
                <a:uLnTx/>
                <a:uFillTx/>
                <a:latin typeface="Times New Roman" pitchFamily="18" charset="0"/>
                <a:ea typeface="+mn-ea"/>
                <a:cs typeface="Times New Roman" pitchFamily="18" charset="0"/>
              </a:rPr>
              <a:t>i</a:t>
            </a:r>
            <a:r>
              <a:rPr kumimoji="0" lang="en-US" altLang="zh-CN" sz="2800" b="1" i="1" u="none" strike="noStrike" kern="0" cap="none" spc="0" normalizeH="0" baseline="0" noProof="0" dirty="0" smtClean="0">
                <a:ln>
                  <a:noFill/>
                </a:ln>
                <a:solidFill>
                  <a:srgbClr val="000000"/>
                </a:solidFill>
                <a:effectLst/>
                <a:uLnTx/>
                <a:uFillTx/>
                <a:latin typeface="Times New Roman" pitchFamily="18" charset="0"/>
                <a:ea typeface="+mn-ea"/>
                <a:cs typeface="Times New Roman" pitchFamily="18" charset="0"/>
              </a:rPr>
              <a:t> </a:t>
            </a:r>
            <a:r>
              <a:rPr kumimoji="0" lang="zh-CN" altLang="en-US" sz="2800" b="1" i="0" u="none" strike="noStrike" kern="0" cap="none" spc="0" normalizeH="0" baseline="0" noProof="0" dirty="0" smtClean="0">
                <a:ln>
                  <a:noFill/>
                </a:ln>
                <a:solidFill>
                  <a:srgbClr val="000000"/>
                </a:solidFill>
                <a:effectLst/>
                <a:uLnTx/>
                <a:uFillTx/>
                <a:latin typeface="+mn-lt"/>
                <a:ea typeface="+mn-ea"/>
              </a:rPr>
              <a:t>期数据的平均；</a:t>
            </a:r>
          </a:p>
          <a:p>
            <a:pPr marL="971550" marR="0" lvl="1" indent="-285750" algn="l" defTabSz="914400" rtl="0" eaLnBrk="1" fontAlgn="base" latinLnBrk="0" hangingPunct="1">
              <a:spcBef>
                <a:spcPts val="600"/>
              </a:spcBef>
              <a:spcAft>
                <a:spcPct val="0"/>
              </a:spcAft>
              <a:buClrTx/>
              <a:buSzPct val="80000"/>
              <a:buFontTx/>
              <a:buBlip>
                <a:blip r:embed="rId9"/>
              </a:buBlip>
              <a:tabLst/>
              <a:defRPr/>
            </a:pPr>
            <a:r>
              <a:rPr kumimoji="0" lang="zh-CN" altLang="en-US" sz="2800" b="1" i="0" u="none" strike="noStrike" kern="0" cap="none" spc="0" normalizeH="0" baseline="0" noProof="0" dirty="0" smtClean="0">
                <a:ln>
                  <a:noFill/>
                </a:ln>
                <a:solidFill>
                  <a:srgbClr val="000000"/>
                </a:solidFill>
                <a:effectLst/>
                <a:uLnTx/>
                <a:uFillTx/>
                <a:latin typeface="+mn-lt"/>
                <a:ea typeface="+mn-ea"/>
              </a:rPr>
              <a:t>消除</a:t>
            </a:r>
            <a:r>
              <a:rPr kumimoji="0" lang="zh-CN" altLang="en-US" sz="2400" b="1" i="0" u="none" strike="noStrike" kern="0" cap="none" spc="0" normalizeH="0" baseline="0" noProof="0" dirty="0" smtClean="0">
                <a:ln>
                  <a:noFill/>
                </a:ln>
                <a:solidFill>
                  <a:srgbClr val="000000"/>
                </a:solidFill>
                <a:effectLst/>
                <a:uLnTx/>
                <a:uFillTx/>
                <a:latin typeface="+mn-lt"/>
                <a:ea typeface="+mn-ea"/>
              </a:rPr>
              <a:t>（或减弱</a:t>
            </a:r>
            <a:r>
              <a:rPr kumimoji="0" lang="zh-CN" altLang="en-US" sz="2400" b="1" i="0" u="none" strike="noStrike" kern="0" cap="none" spc="0" normalizeH="0" baseline="0" noProof="0" dirty="0" smtClean="0">
                <a:ln>
                  <a:noFill/>
                </a:ln>
                <a:solidFill>
                  <a:srgbClr val="000000"/>
                </a:solidFill>
                <a:effectLst/>
                <a:uLnTx/>
                <a:uFillTx/>
                <a:latin typeface="+mn-lt"/>
                <a:ea typeface="+mn-ea"/>
              </a:rPr>
              <a:t>）</a:t>
            </a:r>
            <a:r>
              <a:rPr kumimoji="0" lang="zh-CN" altLang="en-US" sz="2800" b="1" i="0" u="none" strike="noStrike" kern="0" cap="none" spc="0" normalizeH="0" baseline="0" noProof="0" dirty="0" smtClean="0">
                <a:ln>
                  <a:noFill/>
                </a:ln>
                <a:solidFill>
                  <a:srgbClr val="000000"/>
                </a:solidFill>
                <a:effectLst/>
                <a:uLnTx/>
                <a:uFillTx/>
                <a:latin typeface="+mn-lt"/>
                <a:ea typeface="+mn-ea"/>
              </a:rPr>
              <a:t>不同</a:t>
            </a:r>
            <a:r>
              <a:rPr kumimoji="0" lang="zh-CN" altLang="en-US" sz="2800" b="1" i="0" u="none" strike="noStrike" kern="0" cap="none" spc="0" normalizeH="0" baseline="0" noProof="0" dirty="0" smtClean="0">
                <a:ln>
                  <a:noFill/>
                </a:ln>
                <a:solidFill>
                  <a:srgbClr val="000000"/>
                </a:solidFill>
                <a:effectLst/>
                <a:uLnTx/>
                <a:uFillTx/>
                <a:latin typeface="+mn-lt"/>
                <a:ea typeface="+mn-ea"/>
              </a:rPr>
              <a:t>年份同一季节上不规则变动 </a:t>
            </a:r>
            <a:r>
              <a:rPr kumimoji="0" lang="en-US" altLang="zh-CN" sz="2800" b="1" i="0" u="none" strike="noStrike" kern="0" cap="none" spc="0" normalizeH="0" baseline="0" noProof="0" dirty="0" smtClean="0">
                <a:ln>
                  <a:noFill/>
                </a:ln>
                <a:solidFill>
                  <a:srgbClr val="000000"/>
                </a:solidFill>
                <a:effectLst/>
                <a:uLnTx/>
                <a:uFillTx/>
                <a:latin typeface="+mn-lt"/>
                <a:ea typeface="+mn-ea"/>
              </a:rPr>
              <a:t>I </a:t>
            </a:r>
            <a:r>
              <a:rPr kumimoji="0" lang="zh-CN" altLang="en-US" sz="2800" b="1" i="0" u="none" strike="noStrike" kern="0" cap="none" spc="0" normalizeH="0" baseline="0" noProof="0" dirty="0" smtClean="0">
                <a:ln>
                  <a:noFill/>
                </a:ln>
                <a:solidFill>
                  <a:srgbClr val="000000"/>
                </a:solidFill>
                <a:effectLst/>
                <a:uLnTx/>
                <a:uFillTx/>
                <a:latin typeface="+mn-lt"/>
                <a:ea typeface="+mn-ea"/>
              </a:rPr>
              <a:t>的影响，相当于 ：    </a:t>
            </a:r>
            <a:endParaRPr kumimoji="0" lang="en-US" altLang="zh-CN" sz="2800" b="1" i="0" u="none" strike="noStrike" kern="0" cap="none" spc="0" normalizeH="0" baseline="0" noProof="0" dirty="0" smtClean="0">
              <a:ln>
                <a:noFill/>
              </a:ln>
              <a:solidFill>
                <a:srgbClr val="000000"/>
              </a:solidFill>
              <a:effectLst/>
              <a:uLnTx/>
              <a:uFillTx/>
              <a:latin typeface="+mn-lt"/>
              <a:ea typeface="+mn-ea"/>
            </a:endParaRPr>
          </a:p>
          <a:p>
            <a:pPr marL="971550" marR="0" lvl="1" indent="-285750" algn="l" defTabSz="914400" rtl="0" eaLnBrk="1" fontAlgn="base" latinLnBrk="0" hangingPunct="1">
              <a:spcBef>
                <a:spcPts val="600"/>
              </a:spcBef>
              <a:spcAft>
                <a:spcPct val="0"/>
              </a:spcAft>
              <a:buClrTx/>
              <a:buSzPct val="80000"/>
              <a:buFontTx/>
              <a:buNone/>
              <a:tabLst/>
              <a:defRPr/>
            </a:pPr>
            <a:r>
              <a:rPr kumimoji="0" lang="zh-CN" altLang="en-US" sz="2400" b="1" i="0" u="none" strike="noStrike" kern="0" cap="none" spc="0" normalizeH="0" baseline="0" noProof="0" dirty="0" smtClean="0">
                <a:ln>
                  <a:noFill/>
                </a:ln>
                <a:solidFill>
                  <a:srgbClr val="000000"/>
                </a:solidFill>
                <a:effectLst/>
                <a:uLnTx/>
                <a:uFillTx/>
                <a:latin typeface="+mn-lt"/>
                <a:ea typeface="+mn-ea"/>
              </a:rPr>
              <a:t>（趋势值和该季节的季节比率）</a:t>
            </a:r>
            <a:endParaRPr kumimoji="0" lang="en-US" altLang="zh-CN" sz="2800" b="1" i="0" u="none" strike="noStrike" kern="0" cap="none" spc="0" normalizeH="0" baseline="0" noProof="0" dirty="0" smtClean="0">
              <a:ln>
                <a:noFill/>
              </a:ln>
              <a:solidFill>
                <a:srgbClr val="000000"/>
              </a:solidFill>
              <a:effectLst/>
              <a:uLnTx/>
              <a:uFillTx/>
              <a:latin typeface="Times New Roman" pitchFamily="18" charset="0"/>
              <a:ea typeface="+mn-ea"/>
              <a:cs typeface="Times New Roman" pitchFamily="18" charset="0"/>
            </a:endParaRPr>
          </a:p>
        </p:txBody>
      </p:sp>
      <p:graphicFrame>
        <p:nvGraphicFramePr>
          <p:cNvPr id="2" name="Object 7"/>
          <p:cNvGraphicFramePr>
            <a:graphicFrameLocks noChangeAspect="1"/>
          </p:cNvGraphicFramePr>
          <p:nvPr>
            <p:extLst>
              <p:ext uri="{D42A27DB-BD31-4B8C-83A1-F6EECF244321}">
                <p14:modId xmlns:p14="http://schemas.microsoft.com/office/powerpoint/2010/main" val="830251540"/>
              </p:ext>
            </p:extLst>
          </p:nvPr>
        </p:nvGraphicFramePr>
        <p:xfrm>
          <a:off x="5652120" y="2348880"/>
          <a:ext cx="2000250" cy="677862"/>
        </p:xfrm>
        <a:graphic>
          <a:graphicData uri="http://schemas.openxmlformats.org/presentationml/2006/ole">
            <mc:AlternateContent xmlns:mc="http://schemas.openxmlformats.org/markup-compatibility/2006">
              <mc:Choice xmlns:v="urn:schemas-microsoft-com:vml" Requires="v">
                <p:oleObj spid="_x0000_s61873" name="Equation" r:id="rId10" imgW="672840" imgH="228600" progId="Equation.3">
                  <p:embed/>
                </p:oleObj>
              </mc:Choice>
              <mc:Fallback>
                <p:oleObj name="Equation" r:id="rId10" imgW="672840" imgH="228600" progId="Equation.3">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652120" y="2348880"/>
                        <a:ext cx="2000250" cy="677862"/>
                      </a:xfrm>
                      <a:prstGeom prst="rect">
                        <a:avLst/>
                      </a:prstGeom>
                      <a:solidFill>
                        <a:schemeClr val="accent1">
                          <a:lumMod val="40000"/>
                          <a:lumOff val="60000"/>
                        </a:schemeClr>
                      </a:solid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3432"/>
                                        </p:tgtEl>
                                        <p:attrNameLst>
                                          <p:attrName>style.visibility</p:attrName>
                                        </p:attrNameLst>
                                      </p:cBhvr>
                                      <p:to>
                                        <p:strVal val="visible"/>
                                      </p:to>
                                    </p:set>
                                    <p:anim calcmode="lin" valueType="num">
                                      <p:cBhvr additive="base">
                                        <p:cTn id="7" dur="500" fill="hold"/>
                                        <p:tgtEl>
                                          <p:spTgt spid="103432"/>
                                        </p:tgtEl>
                                        <p:attrNameLst>
                                          <p:attrName>ppt_x</p:attrName>
                                        </p:attrNameLst>
                                      </p:cBhvr>
                                      <p:tavLst>
                                        <p:tav tm="0">
                                          <p:val>
                                            <p:strVal val="0-#ppt_w/2"/>
                                          </p:val>
                                        </p:tav>
                                        <p:tav tm="100000">
                                          <p:val>
                                            <p:strVal val="#ppt_x"/>
                                          </p:val>
                                        </p:tav>
                                      </p:tavLst>
                                    </p:anim>
                                    <p:anim calcmode="lin" valueType="num">
                                      <p:cBhvr additive="base">
                                        <p:cTn id="8" dur="500" fill="hold"/>
                                        <p:tgtEl>
                                          <p:spTgt spid="10343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 presetClass="entr" presetSubtype="0" fill="hold" nodeType="afterEffect">
                                  <p:stCondLst>
                                    <p:cond delay="0"/>
                                  </p:stCondLst>
                                  <p:childTnLst>
                                    <p:set>
                                      <p:cBhvr>
                                        <p:cTn id="11" dur="1" fill="hold">
                                          <p:stCondLst>
                                            <p:cond delay="499"/>
                                          </p:stCondLst>
                                        </p:cTn>
                                        <p:tgtEl>
                                          <p:spTgt spid="10343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grpId="0" nodeType="clickEffect">
                                  <p:stCondLst>
                                    <p:cond delay="0"/>
                                  </p:stCondLst>
                                  <p:childTnLst>
                                    <p:set>
                                      <p:cBhvr>
                                        <p:cTn id="15" dur="1" fill="hold">
                                          <p:stCondLst>
                                            <p:cond delay="0"/>
                                          </p:stCondLst>
                                        </p:cTn>
                                        <p:tgtEl>
                                          <p:spTgt spid="103433"/>
                                        </p:tgtEl>
                                        <p:attrNameLst>
                                          <p:attrName>style.visibility</p:attrName>
                                        </p:attrNameLst>
                                      </p:cBhvr>
                                      <p:to>
                                        <p:strVal val="visible"/>
                                      </p:to>
                                    </p:set>
                                    <p:anim calcmode="lin" valueType="num">
                                      <p:cBhvr additive="base">
                                        <p:cTn id="16" dur="500" fill="hold"/>
                                        <p:tgtEl>
                                          <p:spTgt spid="103433"/>
                                        </p:tgtEl>
                                        <p:attrNameLst>
                                          <p:attrName>ppt_x</p:attrName>
                                        </p:attrNameLst>
                                      </p:cBhvr>
                                      <p:tavLst>
                                        <p:tav tm="0">
                                          <p:val>
                                            <p:strVal val="0-#ppt_w/2"/>
                                          </p:val>
                                        </p:tav>
                                        <p:tav tm="100000">
                                          <p:val>
                                            <p:strVal val="#ppt_x"/>
                                          </p:val>
                                        </p:tav>
                                      </p:tavLst>
                                    </p:anim>
                                    <p:anim calcmode="lin" valueType="num">
                                      <p:cBhvr additive="base">
                                        <p:cTn id="17" dur="500" fill="hold"/>
                                        <p:tgtEl>
                                          <p:spTgt spid="103433"/>
                                        </p:tgtEl>
                                        <p:attrNameLst>
                                          <p:attrName>ppt_y</p:attrName>
                                        </p:attrNameLst>
                                      </p:cBhvr>
                                      <p:tavLst>
                                        <p:tav tm="0">
                                          <p:val>
                                            <p:strVal val="#ppt_y"/>
                                          </p:val>
                                        </p:tav>
                                        <p:tav tm="100000">
                                          <p:val>
                                            <p:strVal val="#ppt_y"/>
                                          </p:val>
                                        </p:tav>
                                      </p:tavLst>
                                    </p:anim>
                                  </p:childTnLst>
                                </p:cTn>
                              </p:par>
                            </p:childTnLst>
                          </p:cTn>
                        </p:par>
                        <p:par>
                          <p:cTn id="18" fill="hold">
                            <p:stCondLst>
                              <p:cond delay="500"/>
                            </p:stCondLst>
                            <p:childTnLst>
                              <p:par>
                                <p:cTn id="19" presetID="1" presetClass="entr" presetSubtype="0" fill="hold" nodeType="afterEffect">
                                  <p:stCondLst>
                                    <p:cond delay="0"/>
                                  </p:stCondLst>
                                  <p:childTnLst>
                                    <p:set>
                                      <p:cBhvr>
                                        <p:cTn id="20" dur="1" fill="hold">
                                          <p:stCondLst>
                                            <p:cond delay="249"/>
                                          </p:stCondLst>
                                        </p:cTn>
                                        <p:tgtEl>
                                          <p:spTgt spid="10342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499"/>
                                          </p:stCondLst>
                                        </p:cTn>
                                        <p:tgtEl>
                                          <p:spTgt spid="1034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32" grpId="0" autoUpdateAnimBg="0"/>
      <p:bldP spid="103433" grpId="0" autoUpdateAnimBg="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5" name="Rectangle 2"/>
          <p:cNvSpPr>
            <a:spLocks noGrp="1" noChangeArrowheads="1"/>
          </p:cNvSpPr>
          <p:nvPr>
            <p:ph type="title"/>
          </p:nvPr>
        </p:nvSpPr>
        <p:spPr>
          <a:xfrm>
            <a:off x="1258888" y="333375"/>
            <a:ext cx="7010400" cy="896938"/>
          </a:xfrm>
        </p:spPr>
        <p:txBody>
          <a:bodyPr lIns="90488" tIns="44450" rIns="90488" bIns="44450" anchor="ctr" anchorCtr="1"/>
          <a:lstStyle/>
          <a:p>
            <a:pPr eaLnBrk="1" hangingPunct="1"/>
            <a:r>
              <a:rPr kumimoji="1" lang="en-US" altLang="zh-CN" sz="3600" dirty="0" smtClean="0">
                <a:latin typeface="Times New Roman" pitchFamily="18" charset="0"/>
              </a:rPr>
              <a:t>【</a:t>
            </a:r>
            <a:r>
              <a:rPr kumimoji="1" lang="zh-CN" altLang="en-US" sz="3600" dirty="0" smtClean="0">
                <a:latin typeface="Times New Roman" pitchFamily="18" charset="0"/>
              </a:rPr>
              <a:t>例</a:t>
            </a:r>
            <a:r>
              <a:rPr kumimoji="1" lang="en-US" altLang="zh-CN" sz="3600" dirty="0" smtClean="0">
                <a:latin typeface="Times New Roman" pitchFamily="18" charset="0"/>
              </a:rPr>
              <a:t>】</a:t>
            </a:r>
            <a:r>
              <a:rPr kumimoji="1" lang="zh-CN" altLang="en-US" sz="3600" dirty="0" smtClean="0">
                <a:latin typeface="Times New Roman" pitchFamily="18" charset="0"/>
              </a:rPr>
              <a:t>同期平均法</a:t>
            </a:r>
            <a:r>
              <a:rPr lang="zh-CN" altLang="en-US" sz="3600" dirty="0">
                <a:latin typeface="Times New Roman" pitchFamily="18" charset="0"/>
              </a:rPr>
              <a:t>计算</a:t>
            </a:r>
            <a:r>
              <a:rPr lang="zh-CN" altLang="en-US" sz="3600" dirty="0" smtClean="0"/>
              <a:t>季节比率</a:t>
            </a:r>
            <a:endParaRPr lang="en-US" altLang="zh-CN" sz="3600" dirty="0" smtClean="0">
              <a:latin typeface="Times New Roman" pitchFamily="18" charset="0"/>
            </a:endParaRPr>
          </a:p>
        </p:txBody>
      </p:sp>
      <p:graphicFrame>
        <p:nvGraphicFramePr>
          <p:cNvPr id="104547" name="Group 99"/>
          <p:cNvGraphicFramePr>
            <a:graphicFrameLocks noGrp="1"/>
          </p:cNvGraphicFramePr>
          <p:nvPr>
            <p:extLst>
              <p:ext uri="{D42A27DB-BD31-4B8C-83A1-F6EECF244321}">
                <p14:modId xmlns:p14="http://schemas.microsoft.com/office/powerpoint/2010/main" val="753482437"/>
              </p:ext>
            </p:extLst>
          </p:nvPr>
        </p:nvGraphicFramePr>
        <p:xfrm>
          <a:off x="442913" y="1125538"/>
          <a:ext cx="8305800" cy="3603626"/>
        </p:xfrm>
        <a:graphic>
          <a:graphicData uri="http://schemas.openxmlformats.org/drawingml/2006/table">
            <a:tbl>
              <a:tblPr/>
              <a:tblGrid>
                <a:gridCol w="16764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2954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tblGrid>
              <a:tr h="485775">
                <a:tc gridSpan="6">
                  <a:txBody>
                    <a:bodyPr/>
                    <a:lstStyle/>
                    <a:p>
                      <a:pPr marL="0" marR="0" lvl="0" indent="0" algn="ctr" defTabSz="914400" rtl="0" eaLnBrk="1" fontAlgn="base" latinLnBrk="0" hangingPunct="1">
                        <a:lnSpc>
                          <a:spcPct val="100000"/>
                        </a:lnSpc>
                        <a:spcBef>
                          <a:spcPct val="50000"/>
                        </a:spcBef>
                        <a:spcAft>
                          <a:spcPct val="0"/>
                        </a:spcAft>
                        <a:buClrTx/>
                        <a:buSzPct val="90000"/>
                        <a:buFontTx/>
                        <a:buNone/>
                        <a:tabLst/>
                      </a:pPr>
                      <a:r>
                        <a:rPr kumimoji="0" lang="zh-CN" altLang="en-US" sz="2400" b="1" i="0" u="none" strike="noStrike" cap="none" normalizeH="0" baseline="0" dirty="0" smtClean="0">
                          <a:ln>
                            <a:noFill/>
                          </a:ln>
                          <a:solidFill>
                            <a:srgbClr val="000000"/>
                          </a:solidFill>
                          <a:effectLst/>
                          <a:latin typeface="Tahoma" pitchFamily="34" charset="0"/>
                          <a:ea typeface="宋体" pitchFamily="2" charset="-122"/>
                        </a:rPr>
                        <a:t>某企业近几年的销售额数据</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487363">
                <a:tc rowSpan="2">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1800" b="1" i="0" u="none" strike="noStrike" cap="none" normalizeH="0" baseline="0" dirty="0" smtClean="0">
                          <a:ln>
                            <a:noFill/>
                          </a:ln>
                          <a:solidFill>
                            <a:srgbClr val="000000"/>
                          </a:solidFill>
                          <a:effectLst/>
                          <a:latin typeface="Times New Roman" pitchFamily="18" charset="0"/>
                          <a:ea typeface="宋体" pitchFamily="2" charset="-122"/>
                        </a:rPr>
                        <a:t>年  份</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bg2">
                        <a:lumMod val="20000"/>
                        <a:lumOff val="80000"/>
                      </a:schemeClr>
                    </a:solidFill>
                  </a:tcPr>
                </a:tc>
                <a:tc gridSpan="5">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0" lang="zh-CN" altLang="en-US" sz="2400" b="1" i="0" u="none" strike="noStrike" cap="none" normalizeH="0" baseline="0" dirty="0" smtClean="0">
                          <a:ln>
                            <a:noFill/>
                          </a:ln>
                          <a:solidFill>
                            <a:srgbClr val="000000"/>
                          </a:solidFill>
                          <a:effectLst/>
                          <a:latin typeface="Times New Roman" pitchFamily="18" charset="0"/>
                          <a:ea typeface="宋体" pitchFamily="2" charset="-122"/>
                        </a:rPr>
                        <a:t>销售额</a:t>
                      </a:r>
                      <a:r>
                        <a:rPr kumimoji="0" lang="en-US" altLang="zh-CN" sz="2400" b="1"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a:t>
                      </a:r>
                      <a:r>
                        <a:rPr kumimoji="0" lang="zh-CN" altLang="en-US" sz="2400" b="1" i="0" u="none" strike="noStrike" cap="none" normalizeH="0" baseline="0" dirty="0" smtClean="0">
                          <a:ln>
                            <a:noFill/>
                          </a:ln>
                          <a:solidFill>
                            <a:srgbClr val="000000"/>
                          </a:solidFill>
                          <a:effectLst/>
                          <a:latin typeface="Times New Roman" pitchFamily="18" charset="0"/>
                          <a:ea typeface="宋体" pitchFamily="2" charset="-122"/>
                        </a:rPr>
                        <a:t>万元</a:t>
                      </a:r>
                      <a:r>
                        <a:rPr kumimoji="0" lang="en-US" altLang="zh-CN" sz="2400" b="1"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bg2">
                        <a:lumMod val="20000"/>
                        <a:lumOff val="80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1"/>
                  </a:ext>
                </a:extLst>
              </a:tr>
              <a:tr h="485775">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1800" b="1" i="0" u="none" strike="noStrike" cap="none" normalizeH="0" baseline="0" dirty="0" smtClean="0">
                          <a:ln>
                            <a:noFill/>
                          </a:ln>
                          <a:solidFill>
                            <a:srgbClr val="000000"/>
                          </a:solidFill>
                          <a:effectLst/>
                          <a:latin typeface="Times New Roman" pitchFamily="18" charset="0"/>
                          <a:ea typeface="宋体" pitchFamily="2" charset="-122"/>
                        </a:rPr>
                        <a:t>一季度</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1800" b="1" i="0" u="none" strike="noStrike" cap="none" normalizeH="0" baseline="0" smtClean="0">
                          <a:ln>
                            <a:noFill/>
                          </a:ln>
                          <a:solidFill>
                            <a:srgbClr val="000000"/>
                          </a:solidFill>
                          <a:effectLst/>
                          <a:latin typeface="Times New Roman" pitchFamily="18" charset="0"/>
                          <a:ea typeface="宋体" pitchFamily="2" charset="-122"/>
                        </a:rPr>
                        <a:t>二季度</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1800" b="1" i="0" u="none" strike="noStrike" cap="none" normalizeH="0" baseline="0" dirty="0" smtClean="0">
                          <a:ln>
                            <a:noFill/>
                          </a:ln>
                          <a:solidFill>
                            <a:srgbClr val="000000"/>
                          </a:solidFill>
                          <a:effectLst/>
                          <a:latin typeface="Times New Roman" pitchFamily="18" charset="0"/>
                          <a:ea typeface="宋体" pitchFamily="2" charset="-122"/>
                        </a:rPr>
                        <a:t>三季度</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1800" b="1" i="0" u="none" strike="noStrike" cap="none" normalizeH="0" baseline="0" dirty="0" smtClean="0">
                          <a:ln>
                            <a:noFill/>
                          </a:ln>
                          <a:solidFill>
                            <a:srgbClr val="000000"/>
                          </a:solidFill>
                          <a:effectLst/>
                          <a:latin typeface="Times New Roman" pitchFamily="18" charset="0"/>
                          <a:ea typeface="宋体" pitchFamily="2" charset="-122"/>
                        </a:rPr>
                        <a:t>四季度</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endParaRPr kumimoji="0" lang="zh-CN" altLang="zh-CN" sz="1800" b="0" i="0" u="none" strike="noStrike" cap="none" normalizeH="0" baseline="0" smtClean="0">
                        <a:ln>
                          <a:noFill/>
                        </a:ln>
                        <a:solidFill>
                          <a:srgbClr val="3333FF"/>
                        </a:solidFill>
                        <a:effectLst/>
                        <a:latin typeface="Times New Roman" pitchFamily="18" charset="0"/>
                        <a:ea typeface="宋体" pitchFamily="2" charset="-122"/>
                      </a:endParaRP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2144713">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1800" b="1" i="0" u="none" strike="noStrike" cap="none" normalizeH="0" baseline="0" dirty="0" smtClean="0">
                          <a:ln>
                            <a:noFill/>
                          </a:ln>
                          <a:solidFill>
                            <a:srgbClr val="000000"/>
                          </a:solidFill>
                          <a:effectLst/>
                          <a:latin typeface="Times New Roman" pitchFamily="18" charset="0"/>
                          <a:ea typeface="宋体" pitchFamily="2" charset="-122"/>
                        </a:rPr>
                        <a:t>1</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1800" b="1" i="0" u="none" strike="noStrike" cap="none" normalizeH="0" baseline="0" dirty="0" smtClean="0">
                          <a:ln>
                            <a:noFill/>
                          </a:ln>
                          <a:solidFill>
                            <a:srgbClr val="000000"/>
                          </a:solidFill>
                          <a:effectLst/>
                          <a:latin typeface="Times New Roman" pitchFamily="18" charset="0"/>
                          <a:ea typeface="宋体" pitchFamily="2" charset="-122"/>
                        </a:rPr>
                        <a:t>2</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1800" b="1" i="0" u="none" strike="noStrike" cap="none" normalizeH="0" baseline="0" dirty="0" smtClean="0">
                          <a:ln>
                            <a:noFill/>
                          </a:ln>
                          <a:solidFill>
                            <a:srgbClr val="000000"/>
                          </a:solidFill>
                          <a:effectLst/>
                          <a:latin typeface="Times New Roman" pitchFamily="18" charset="0"/>
                          <a:ea typeface="宋体" pitchFamily="2" charset="-122"/>
                        </a:rPr>
                        <a:t>3</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1800" b="1" i="0" u="none" strike="noStrike" cap="none" normalizeH="0" baseline="0" dirty="0" smtClean="0">
                          <a:ln>
                            <a:noFill/>
                          </a:ln>
                          <a:solidFill>
                            <a:srgbClr val="000000"/>
                          </a:solidFill>
                          <a:effectLst/>
                          <a:latin typeface="Times New Roman" pitchFamily="18" charset="0"/>
                          <a:ea typeface="宋体" pitchFamily="2" charset="-122"/>
                        </a:rPr>
                        <a:t>4</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1800" b="1" i="0" u="none" strike="noStrike" cap="none" normalizeH="0" baseline="0" dirty="0" smtClean="0">
                          <a:ln>
                            <a:noFill/>
                          </a:ln>
                          <a:solidFill>
                            <a:srgbClr val="000000"/>
                          </a:solidFill>
                          <a:effectLst/>
                          <a:latin typeface="Times New Roman" pitchFamily="18" charset="0"/>
                          <a:ea typeface="宋体" pitchFamily="2" charset="-122"/>
                        </a:rPr>
                        <a:t>5</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1800" b="1" i="0" u="none" strike="noStrike" cap="none" normalizeH="0" baseline="0" dirty="0" smtClean="0">
                          <a:ln>
                            <a:noFill/>
                          </a:ln>
                          <a:solidFill>
                            <a:srgbClr val="000000"/>
                          </a:solidFill>
                          <a:effectLst/>
                          <a:latin typeface="Times New Roman" pitchFamily="18" charset="0"/>
                          <a:ea typeface="宋体" pitchFamily="2" charset="-122"/>
                        </a:rPr>
                        <a:t>6</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1800" b="1" i="0" u="none" strike="noStrike" cap="none" normalizeH="0" baseline="0" dirty="0" smtClean="0">
                          <a:ln>
                            <a:noFill/>
                          </a:ln>
                          <a:solidFill>
                            <a:srgbClr val="000000"/>
                          </a:solidFill>
                          <a:effectLst/>
                          <a:latin typeface="Times New Roman" pitchFamily="18" charset="0"/>
                          <a:ea typeface="宋体" pitchFamily="2" charset="-122"/>
                        </a:rPr>
                        <a:t>62.6</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1800" b="1" i="0" u="none" strike="noStrike" cap="none" normalizeH="0" baseline="0" dirty="0" smtClean="0">
                          <a:ln>
                            <a:noFill/>
                          </a:ln>
                          <a:solidFill>
                            <a:srgbClr val="000000"/>
                          </a:solidFill>
                          <a:effectLst/>
                          <a:latin typeface="Times New Roman" pitchFamily="18" charset="0"/>
                          <a:ea typeface="宋体" pitchFamily="2" charset="-122"/>
                        </a:rPr>
                        <a:t>71.5</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1800" b="1" i="0" u="none" strike="noStrike" cap="none" normalizeH="0" baseline="0" dirty="0" smtClean="0">
                          <a:ln>
                            <a:noFill/>
                          </a:ln>
                          <a:solidFill>
                            <a:srgbClr val="000000"/>
                          </a:solidFill>
                          <a:effectLst/>
                          <a:latin typeface="Times New Roman" pitchFamily="18" charset="0"/>
                          <a:ea typeface="宋体" pitchFamily="2" charset="-122"/>
                        </a:rPr>
                        <a:t>74.8</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1800" b="1" i="0" u="none" strike="noStrike" cap="none" normalizeH="0" baseline="0" dirty="0" smtClean="0">
                          <a:ln>
                            <a:noFill/>
                          </a:ln>
                          <a:solidFill>
                            <a:srgbClr val="000000"/>
                          </a:solidFill>
                          <a:effectLst/>
                          <a:latin typeface="Times New Roman" pitchFamily="18" charset="0"/>
                          <a:ea typeface="宋体" pitchFamily="2" charset="-122"/>
                        </a:rPr>
                        <a:t>75.9</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1800" b="1" i="0" u="none" strike="noStrike" cap="none" normalizeH="0" baseline="0" dirty="0" smtClean="0">
                          <a:ln>
                            <a:noFill/>
                          </a:ln>
                          <a:solidFill>
                            <a:srgbClr val="000000"/>
                          </a:solidFill>
                          <a:effectLst/>
                          <a:latin typeface="Times New Roman" pitchFamily="18" charset="0"/>
                          <a:ea typeface="宋体" pitchFamily="2" charset="-122"/>
                        </a:rPr>
                        <a:t>85.2</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1800" b="1" i="0" u="none" strike="noStrike" cap="none" normalizeH="0" baseline="0" dirty="0" smtClean="0">
                          <a:ln>
                            <a:noFill/>
                          </a:ln>
                          <a:solidFill>
                            <a:srgbClr val="000000"/>
                          </a:solidFill>
                          <a:effectLst/>
                          <a:latin typeface="Times New Roman" pitchFamily="18" charset="0"/>
                          <a:ea typeface="宋体" pitchFamily="2" charset="-122"/>
                        </a:rPr>
                        <a:t>86.5</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1800" b="1" i="0" u="none" strike="noStrike" cap="none" normalizeH="0" baseline="0" smtClean="0">
                          <a:ln>
                            <a:noFill/>
                          </a:ln>
                          <a:solidFill>
                            <a:srgbClr val="000000"/>
                          </a:solidFill>
                          <a:effectLst/>
                          <a:latin typeface="Times New Roman" pitchFamily="18" charset="0"/>
                          <a:ea typeface="宋体" pitchFamily="2" charset="-122"/>
                        </a:rPr>
                        <a:t>88.0</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1800" b="1" i="0" u="none" strike="noStrike" cap="none" normalizeH="0" baseline="0" smtClean="0">
                          <a:ln>
                            <a:noFill/>
                          </a:ln>
                          <a:solidFill>
                            <a:srgbClr val="000000"/>
                          </a:solidFill>
                          <a:effectLst/>
                          <a:latin typeface="Times New Roman" pitchFamily="18" charset="0"/>
                          <a:ea typeface="宋体" pitchFamily="2" charset="-122"/>
                        </a:rPr>
                        <a:t>95.3</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1800" b="1" i="0" u="none" strike="noStrike" cap="none" normalizeH="0" baseline="0" smtClean="0">
                          <a:ln>
                            <a:noFill/>
                          </a:ln>
                          <a:solidFill>
                            <a:srgbClr val="000000"/>
                          </a:solidFill>
                          <a:effectLst/>
                          <a:latin typeface="Times New Roman" pitchFamily="18" charset="0"/>
                          <a:ea typeface="宋体" pitchFamily="2" charset="-122"/>
                        </a:rPr>
                        <a:t>106.3</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1800" b="1" i="0" u="none" strike="noStrike" cap="none" normalizeH="0" baseline="0" smtClean="0">
                          <a:ln>
                            <a:noFill/>
                          </a:ln>
                          <a:solidFill>
                            <a:srgbClr val="000000"/>
                          </a:solidFill>
                          <a:effectLst/>
                          <a:latin typeface="Times New Roman" pitchFamily="18" charset="0"/>
                          <a:ea typeface="宋体" pitchFamily="2" charset="-122"/>
                        </a:rPr>
                        <a:t>106.0</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1800" b="1" i="0" u="none" strike="noStrike" cap="none" normalizeH="0" baseline="0" smtClean="0">
                          <a:ln>
                            <a:noFill/>
                          </a:ln>
                          <a:solidFill>
                            <a:srgbClr val="000000"/>
                          </a:solidFill>
                          <a:effectLst/>
                          <a:latin typeface="Times New Roman" pitchFamily="18" charset="0"/>
                          <a:ea typeface="宋体" pitchFamily="2" charset="-122"/>
                        </a:rPr>
                        <a:t>117.6</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1800" b="1" i="0" u="none" strike="noStrike" cap="none" normalizeH="0" baseline="0" smtClean="0">
                          <a:ln>
                            <a:noFill/>
                          </a:ln>
                          <a:solidFill>
                            <a:srgbClr val="000000"/>
                          </a:solidFill>
                          <a:effectLst/>
                          <a:latin typeface="Times New Roman" pitchFamily="18" charset="0"/>
                          <a:ea typeface="宋体" pitchFamily="2" charset="-122"/>
                        </a:rPr>
                        <a:t>131.1</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1800" b="1" i="0" u="none" strike="noStrike" cap="none" normalizeH="0" baseline="0" smtClean="0">
                          <a:ln>
                            <a:noFill/>
                          </a:ln>
                          <a:solidFill>
                            <a:srgbClr val="000000"/>
                          </a:solidFill>
                          <a:effectLst/>
                          <a:latin typeface="Times New Roman" pitchFamily="18" charset="0"/>
                          <a:ea typeface="宋体" pitchFamily="2" charset="-122"/>
                        </a:rPr>
                        <a:t>79.1</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1800" b="1" i="0" u="none" strike="noStrike" cap="none" normalizeH="0" baseline="0" smtClean="0">
                          <a:ln>
                            <a:noFill/>
                          </a:ln>
                          <a:solidFill>
                            <a:srgbClr val="000000"/>
                          </a:solidFill>
                          <a:effectLst/>
                          <a:latin typeface="Times New Roman" pitchFamily="18" charset="0"/>
                          <a:ea typeface="宋体" pitchFamily="2" charset="-122"/>
                        </a:rPr>
                        <a:t>88.5</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1800" b="1" i="0" u="none" strike="noStrike" cap="none" normalizeH="0" baseline="0" smtClean="0">
                          <a:ln>
                            <a:noFill/>
                          </a:ln>
                          <a:solidFill>
                            <a:srgbClr val="000000"/>
                          </a:solidFill>
                          <a:effectLst/>
                          <a:latin typeface="Times New Roman" pitchFamily="18" charset="0"/>
                          <a:ea typeface="宋体" pitchFamily="2" charset="-122"/>
                        </a:rPr>
                        <a:t>96.4</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1800" b="1" i="0" u="none" strike="noStrike" cap="none" normalizeH="0" baseline="0" smtClean="0">
                          <a:ln>
                            <a:noFill/>
                          </a:ln>
                          <a:solidFill>
                            <a:srgbClr val="000000"/>
                          </a:solidFill>
                          <a:effectLst/>
                          <a:latin typeface="Times New Roman" pitchFamily="18" charset="0"/>
                          <a:ea typeface="宋体" pitchFamily="2" charset="-122"/>
                        </a:rPr>
                        <a:t>95.7</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1800" b="1" i="0" u="none" strike="noStrike" cap="none" normalizeH="0" baseline="0" smtClean="0">
                          <a:ln>
                            <a:noFill/>
                          </a:ln>
                          <a:solidFill>
                            <a:srgbClr val="000000"/>
                          </a:solidFill>
                          <a:effectLst/>
                          <a:latin typeface="Times New Roman" pitchFamily="18" charset="0"/>
                          <a:ea typeface="宋体" pitchFamily="2" charset="-122"/>
                        </a:rPr>
                        <a:t>107.3</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1800" b="1" i="0" u="none" strike="noStrike" cap="none" normalizeH="0" baseline="0" smtClean="0">
                          <a:ln>
                            <a:noFill/>
                          </a:ln>
                          <a:solidFill>
                            <a:srgbClr val="000000"/>
                          </a:solidFill>
                          <a:effectLst/>
                          <a:latin typeface="Times New Roman" pitchFamily="18" charset="0"/>
                          <a:ea typeface="宋体" pitchFamily="2" charset="-122"/>
                        </a:rPr>
                        <a:t>115.4</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1800" b="1" i="0" u="none" strike="noStrike" cap="none" normalizeH="0" baseline="0" smtClean="0">
                          <a:ln>
                            <a:noFill/>
                          </a:ln>
                          <a:solidFill>
                            <a:srgbClr val="000000"/>
                          </a:solidFill>
                          <a:effectLst/>
                          <a:latin typeface="Times New Roman" pitchFamily="18" charset="0"/>
                          <a:ea typeface="宋体" pitchFamily="2" charset="-122"/>
                        </a:rPr>
                        <a:t>64.0</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1800" b="1" i="0" u="none" strike="noStrike" cap="none" normalizeH="0" baseline="0" smtClean="0">
                          <a:ln>
                            <a:noFill/>
                          </a:ln>
                          <a:solidFill>
                            <a:srgbClr val="000000"/>
                          </a:solidFill>
                          <a:effectLst/>
                          <a:latin typeface="Times New Roman" pitchFamily="18" charset="0"/>
                          <a:ea typeface="宋体" pitchFamily="2" charset="-122"/>
                        </a:rPr>
                        <a:t>68.7</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1800" b="1" i="0" u="none" strike="noStrike" cap="none" normalizeH="0" baseline="0" smtClean="0">
                          <a:ln>
                            <a:noFill/>
                          </a:ln>
                          <a:solidFill>
                            <a:srgbClr val="000000"/>
                          </a:solidFill>
                          <a:effectLst/>
                          <a:latin typeface="Times New Roman" pitchFamily="18" charset="0"/>
                          <a:ea typeface="宋体" pitchFamily="2" charset="-122"/>
                        </a:rPr>
                        <a:t>68.5</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1800" b="1" i="0" u="none" strike="noStrike" cap="none" normalizeH="0" baseline="0" smtClean="0">
                          <a:ln>
                            <a:noFill/>
                          </a:ln>
                          <a:solidFill>
                            <a:srgbClr val="000000"/>
                          </a:solidFill>
                          <a:effectLst/>
                          <a:latin typeface="Times New Roman" pitchFamily="18" charset="0"/>
                          <a:ea typeface="宋体" pitchFamily="2" charset="-122"/>
                        </a:rPr>
                        <a:t>69.9</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1800" b="1" i="0" u="none" strike="noStrike" cap="none" normalizeH="0" baseline="0" smtClean="0">
                          <a:ln>
                            <a:noFill/>
                          </a:ln>
                          <a:solidFill>
                            <a:srgbClr val="000000"/>
                          </a:solidFill>
                          <a:effectLst/>
                          <a:latin typeface="Times New Roman" pitchFamily="18" charset="0"/>
                          <a:ea typeface="宋体" pitchFamily="2" charset="-122"/>
                        </a:rPr>
                        <a:t>78.4</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1800" b="1" i="0" u="none" strike="noStrike" cap="none" normalizeH="0" baseline="0" smtClean="0">
                          <a:ln>
                            <a:noFill/>
                          </a:ln>
                          <a:solidFill>
                            <a:srgbClr val="000000"/>
                          </a:solidFill>
                          <a:effectLst/>
                          <a:latin typeface="Times New Roman" pitchFamily="18" charset="0"/>
                          <a:ea typeface="宋体" pitchFamily="2" charset="-122"/>
                        </a:rPr>
                        <a:t>90.3</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endParaRPr kumimoji="0" lang="zh-CN" altLang="zh-CN" sz="1600" b="0" i="0" u="none" strike="noStrike" cap="none" normalizeH="0" baseline="0" dirty="0" smtClean="0">
                        <a:ln>
                          <a:noFill/>
                        </a:ln>
                        <a:solidFill>
                          <a:srgbClr val="000000"/>
                        </a:solidFill>
                        <a:effectLst/>
                        <a:latin typeface="Times New Roman" pitchFamily="18" charset="0"/>
                        <a:ea typeface="宋体" pitchFamily="2" charset="-122"/>
                      </a:endParaRP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04571" name="Group 123"/>
          <p:cNvGraphicFramePr>
            <a:graphicFrameLocks noGrp="1"/>
          </p:cNvGraphicFramePr>
          <p:nvPr>
            <p:extLst>
              <p:ext uri="{D42A27DB-BD31-4B8C-83A1-F6EECF244321}">
                <p14:modId xmlns:p14="http://schemas.microsoft.com/office/powerpoint/2010/main" val="3197418666"/>
              </p:ext>
            </p:extLst>
          </p:nvPr>
        </p:nvGraphicFramePr>
        <p:xfrm>
          <a:off x="447849" y="4761401"/>
          <a:ext cx="7166141" cy="679087"/>
        </p:xfrm>
        <a:graphic>
          <a:graphicData uri="http://schemas.openxmlformats.org/drawingml/2006/table">
            <a:tbl>
              <a:tblPr/>
              <a:tblGrid>
                <a:gridCol w="1675879">
                  <a:extLst>
                    <a:ext uri="{9D8B030D-6E8A-4147-A177-3AD203B41FA5}">
                      <a16:colId xmlns:a16="http://schemas.microsoft.com/office/drawing/2014/main" val="20000"/>
                    </a:ext>
                  </a:extLst>
                </a:gridCol>
                <a:gridCol w="1368152">
                  <a:extLst>
                    <a:ext uri="{9D8B030D-6E8A-4147-A177-3AD203B41FA5}">
                      <a16:colId xmlns:a16="http://schemas.microsoft.com/office/drawing/2014/main" val="20001"/>
                    </a:ext>
                  </a:extLst>
                </a:gridCol>
                <a:gridCol w="1440160">
                  <a:extLst>
                    <a:ext uri="{9D8B030D-6E8A-4147-A177-3AD203B41FA5}">
                      <a16:colId xmlns:a16="http://schemas.microsoft.com/office/drawing/2014/main" val="20002"/>
                    </a:ext>
                  </a:extLst>
                </a:gridCol>
                <a:gridCol w="1368152">
                  <a:extLst>
                    <a:ext uri="{9D8B030D-6E8A-4147-A177-3AD203B41FA5}">
                      <a16:colId xmlns:a16="http://schemas.microsoft.com/office/drawing/2014/main" val="20003"/>
                    </a:ext>
                  </a:extLst>
                </a:gridCol>
                <a:gridCol w="1313798">
                  <a:extLst>
                    <a:ext uri="{9D8B030D-6E8A-4147-A177-3AD203B41FA5}">
                      <a16:colId xmlns:a16="http://schemas.microsoft.com/office/drawing/2014/main" val="20004"/>
                    </a:ext>
                  </a:extLst>
                </a:gridCol>
              </a:tblGrid>
              <a:tr h="679087">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2400" b="1" i="0" u="none" strike="noStrike" cap="none" normalizeH="0" baseline="0" dirty="0" smtClean="0">
                          <a:ln>
                            <a:noFill/>
                          </a:ln>
                          <a:solidFill>
                            <a:srgbClr val="FF0066"/>
                          </a:solidFill>
                          <a:effectLst/>
                          <a:latin typeface="Times New Roman" pitchFamily="18" charset="0"/>
                          <a:ea typeface="宋体" pitchFamily="2" charset="-122"/>
                        </a:rPr>
                        <a:t>同季平均</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400" b="1" i="0" u="none" strike="noStrike" cap="none" normalizeH="0" baseline="0" dirty="0" smtClean="0">
                          <a:ln>
                            <a:noFill/>
                          </a:ln>
                          <a:solidFill>
                            <a:srgbClr val="FF0066"/>
                          </a:solidFill>
                          <a:effectLst/>
                          <a:latin typeface="Times New Roman" pitchFamily="18" charset="0"/>
                          <a:ea typeface="宋体" pitchFamily="2" charset="-122"/>
                        </a:rPr>
                        <a:t>76.08</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400" b="1" i="0" u="none" strike="noStrike" cap="none" normalizeH="0" baseline="0" dirty="0" smtClean="0">
                          <a:ln>
                            <a:noFill/>
                          </a:ln>
                          <a:solidFill>
                            <a:srgbClr val="FF0066"/>
                          </a:solidFill>
                          <a:effectLst/>
                          <a:latin typeface="Times New Roman" pitchFamily="18" charset="0"/>
                          <a:ea typeface="宋体" pitchFamily="2" charset="-122"/>
                        </a:rPr>
                        <a:t>107.38</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400" b="1" i="0" u="none" strike="noStrike" cap="none" normalizeH="0" baseline="0" dirty="0" smtClean="0">
                          <a:ln>
                            <a:noFill/>
                          </a:ln>
                          <a:solidFill>
                            <a:srgbClr val="FF0066"/>
                          </a:solidFill>
                          <a:effectLst/>
                          <a:latin typeface="Times New Roman" pitchFamily="18" charset="0"/>
                          <a:ea typeface="宋体" pitchFamily="2" charset="-122"/>
                        </a:rPr>
                        <a:t>97.07</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400" b="1" i="0" u="none" strike="noStrike" cap="none" normalizeH="0" baseline="0" dirty="0" smtClean="0">
                          <a:ln>
                            <a:noFill/>
                          </a:ln>
                          <a:solidFill>
                            <a:srgbClr val="FF0066"/>
                          </a:solidFill>
                          <a:effectLst/>
                          <a:latin typeface="Times New Roman" pitchFamily="18" charset="0"/>
                          <a:ea typeface="宋体" pitchFamily="2" charset="-122"/>
                        </a:rPr>
                        <a:t>73.30</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bl>
          </a:graphicData>
        </a:graphic>
      </p:graphicFrame>
      <p:graphicFrame>
        <p:nvGraphicFramePr>
          <p:cNvPr id="104566" name="Group 118"/>
          <p:cNvGraphicFramePr>
            <a:graphicFrameLocks noGrp="1"/>
          </p:cNvGraphicFramePr>
          <p:nvPr>
            <p:extLst>
              <p:ext uri="{D42A27DB-BD31-4B8C-83A1-F6EECF244321}">
                <p14:modId xmlns:p14="http://schemas.microsoft.com/office/powerpoint/2010/main" val="352897938"/>
              </p:ext>
            </p:extLst>
          </p:nvPr>
        </p:nvGraphicFramePr>
        <p:xfrm>
          <a:off x="7617391" y="1179383"/>
          <a:ext cx="1296988" cy="4307381"/>
        </p:xfrm>
        <a:graphic>
          <a:graphicData uri="http://schemas.openxmlformats.org/drawingml/2006/table">
            <a:tbl>
              <a:tblPr/>
              <a:tblGrid>
                <a:gridCol w="1296988">
                  <a:extLst>
                    <a:ext uri="{9D8B030D-6E8A-4147-A177-3AD203B41FA5}">
                      <a16:colId xmlns:a16="http://schemas.microsoft.com/office/drawing/2014/main" val="20000"/>
                    </a:ext>
                  </a:extLst>
                </a:gridCol>
              </a:tblGrid>
              <a:tr h="355850">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endParaRPr kumimoji="0" lang="zh-CN" altLang="zh-CN" sz="1800" b="1" i="0" u="none" strike="noStrike" cap="none" normalizeH="0" baseline="0" dirty="0" smtClean="0">
                        <a:ln>
                          <a:noFill/>
                        </a:ln>
                        <a:solidFill>
                          <a:srgbClr val="FF0066"/>
                        </a:solidFill>
                        <a:effectLst/>
                        <a:latin typeface="Times New Roman" pitchFamily="18" charset="0"/>
                        <a:ea typeface="宋体" pitchFamily="2" charset="-122"/>
                      </a:endParaRP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943314">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endParaRPr kumimoji="0" lang="en-US" altLang="zh-CN" sz="1000" b="1" i="0" u="none" strike="noStrike" cap="none" normalizeH="0" baseline="0" dirty="0" smtClean="0">
                        <a:ln>
                          <a:noFill/>
                        </a:ln>
                        <a:solidFill>
                          <a:srgbClr val="FF0066"/>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2000" b="1" i="0" u="none" strike="noStrike" cap="none" normalizeH="0" baseline="0" dirty="0" smtClean="0">
                          <a:ln>
                            <a:noFill/>
                          </a:ln>
                          <a:solidFill>
                            <a:schemeClr val="tx2">
                              <a:lumMod val="40000"/>
                              <a:lumOff val="60000"/>
                            </a:schemeClr>
                          </a:solidFill>
                          <a:effectLst/>
                          <a:latin typeface="Times New Roman" pitchFamily="18" charset="0"/>
                          <a:ea typeface="宋体" pitchFamily="2" charset="-122"/>
                        </a:rPr>
                        <a:t>全年</a:t>
                      </a:r>
                      <a:endParaRPr kumimoji="0" lang="en-US" altLang="zh-CN" sz="2000" b="1" i="0" u="none" strike="noStrike" cap="none" normalizeH="0" baseline="0" dirty="0" smtClean="0">
                        <a:ln>
                          <a:noFill/>
                        </a:ln>
                        <a:solidFill>
                          <a:schemeClr val="tx2">
                            <a:lumMod val="40000"/>
                            <a:lumOff val="60000"/>
                          </a:schemeClr>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2000" b="1" i="0" u="none" strike="noStrike" cap="none" normalizeH="0" baseline="0" dirty="0" smtClean="0">
                          <a:ln>
                            <a:noFill/>
                          </a:ln>
                          <a:solidFill>
                            <a:schemeClr val="tx2">
                              <a:lumMod val="40000"/>
                              <a:lumOff val="60000"/>
                            </a:schemeClr>
                          </a:solidFill>
                          <a:effectLst/>
                          <a:latin typeface="Times New Roman" pitchFamily="18" charset="0"/>
                          <a:ea typeface="宋体" pitchFamily="2" charset="-122"/>
                        </a:rPr>
                        <a:t>平均</a:t>
                      </a:r>
                      <a:endParaRPr kumimoji="0" lang="zh-CN" altLang="en-US" sz="2400" b="1" i="0" u="none" strike="noStrike" cap="none" normalizeH="0" baseline="0" dirty="0" smtClean="0">
                        <a:ln>
                          <a:noFill/>
                        </a:ln>
                        <a:solidFill>
                          <a:schemeClr val="tx2">
                            <a:lumMod val="40000"/>
                            <a:lumOff val="60000"/>
                          </a:schemeClr>
                        </a:solidFill>
                        <a:effectLst/>
                        <a:latin typeface="Times New Roman" pitchFamily="18" charset="0"/>
                        <a:ea typeface="宋体" pitchFamily="2" charset="-122"/>
                      </a:endParaRP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2961941">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endParaRPr kumimoji="0" lang="en-US" altLang="zh-CN" sz="2000" b="1" i="0" u="none" strike="noStrike" cap="none" normalizeH="0" baseline="0" dirty="0" smtClean="0">
                        <a:ln>
                          <a:noFill/>
                        </a:ln>
                        <a:solidFill>
                          <a:srgbClr val="3333FF"/>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Pct val="90000"/>
                        <a:buFontTx/>
                        <a:buNone/>
                        <a:tabLst/>
                      </a:pPr>
                      <a:endParaRPr kumimoji="0" lang="en-US" altLang="zh-CN" sz="2000" b="1" i="0" u="none" strike="noStrike" cap="none" normalizeH="0" baseline="0" dirty="0" smtClean="0">
                        <a:ln>
                          <a:noFill/>
                        </a:ln>
                        <a:solidFill>
                          <a:srgbClr val="3333FF"/>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Pct val="90000"/>
                        <a:buFontTx/>
                        <a:buNone/>
                        <a:tabLst/>
                      </a:pPr>
                      <a:endParaRPr kumimoji="0" lang="en-US" altLang="zh-CN" sz="2000" b="1" i="0" u="none" strike="noStrike" cap="none" normalizeH="0" baseline="0" dirty="0" smtClean="0">
                        <a:ln>
                          <a:noFill/>
                        </a:ln>
                        <a:solidFill>
                          <a:srgbClr val="3333FF"/>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Pct val="90000"/>
                        <a:buFontTx/>
                        <a:buNone/>
                        <a:tabLst/>
                      </a:pPr>
                      <a:endParaRPr kumimoji="0" lang="en-US" altLang="zh-CN" sz="2000" b="1" i="0" u="none" strike="noStrike" cap="none" normalizeH="0" baseline="0" dirty="0" smtClean="0">
                        <a:ln>
                          <a:noFill/>
                        </a:ln>
                        <a:solidFill>
                          <a:srgbClr val="3333FF"/>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Pct val="90000"/>
                        <a:buFontTx/>
                        <a:buNone/>
                        <a:tabLst/>
                      </a:pPr>
                      <a:endParaRPr kumimoji="0" lang="en-US" altLang="zh-CN" sz="2000" b="1" i="0" u="none" strike="noStrike" cap="none" normalizeH="0" baseline="0" dirty="0" smtClean="0">
                        <a:ln>
                          <a:noFill/>
                        </a:ln>
                        <a:solidFill>
                          <a:srgbClr val="3333FF"/>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Pct val="90000"/>
                        <a:buFontTx/>
                        <a:buNone/>
                        <a:tabLst/>
                      </a:pPr>
                      <a:endParaRPr kumimoji="0" lang="en-US" altLang="zh-CN" sz="2000" b="1" i="0" u="none" strike="noStrike" cap="none" normalizeH="0" baseline="0" dirty="0" smtClean="0">
                        <a:ln>
                          <a:noFill/>
                        </a:ln>
                        <a:solidFill>
                          <a:srgbClr val="3333FF"/>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3200" b="1" i="0" u="none" strike="noStrike" cap="none" normalizeH="0" baseline="0" dirty="0" smtClean="0">
                          <a:ln>
                            <a:noFill/>
                          </a:ln>
                          <a:solidFill>
                            <a:schemeClr val="tx2">
                              <a:lumMod val="40000"/>
                              <a:lumOff val="60000"/>
                            </a:schemeClr>
                          </a:solidFill>
                          <a:effectLst/>
                          <a:latin typeface="Times New Roman" pitchFamily="18" charset="0"/>
                          <a:ea typeface="宋体" pitchFamily="2" charset="-122"/>
                        </a:rPr>
                        <a:t>88.46</a:t>
                      </a: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bl>
          </a:graphicData>
        </a:graphic>
      </p:graphicFrame>
      <p:graphicFrame>
        <p:nvGraphicFramePr>
          <p:cNvPr id="104577" name="Group 129"/>
          <p:cNvGraphicFramePr>
            <a:graphicFrameLocks noGrp="1"/>
          </p:cNvGraphicFramePr>
          <p:nvPr>
            <p:extLst>
              <p:ext uri="{D42A27DB-BD31-4B8C-83A1-F6EECF244321}">
                <p14:modId xmlns:p14="http://schemas.microsoft.com/office/powerpoint/2010/main" val="72349786"/>
              </p:ext>
            </p:extLst>
          </p:nvPr>
        </p:nvGraphicFramePr>
        <p:xfrm>
          <a:off x="442913" y="5440489"/>
          <a:ext cx="8474867" cy="825120"/>
        </p:xfrm>
        <a:graphic>
          <a:graphicData uri="http://schemas.openxmlformats.org/drawingml/2006/table">
            <a:tbl>
              <a:tblPr/>
              <a:tblGrid>
                <a:gridCol w="1680815">
                  <a:extLst>
                    <a:ext uri="{9D8B030D-6E8A-4147-A177-3AD203B41FA5}">
                      <a16:colId xmlns:a16="http://schemas.microsoft.com/office/drawing/2014/main" val="20000"/>
                    </a:ext>
                  </a:extLst>
                </a:gridCol>
                <a:gridCol w="1368152">
                  <a:extLst>
                    <a:ext uri="{9D8B030D-6E8A-4147-A177-3AD203B41FA5}">
                      <a16:colId xmlns:a16="http://schemas.microsoft.com/office/drawing/2014/main" val="20001"/>
                    </a:ext>
                  </a:extLst>
                </a:gridCol>
                <a:gridCol w="1440160">
                  <a:extLst>
                    <a:ext uri="{9D8B030D-6E8A-4147-A177-3AD203B41FA5}">
                      <a16:colId xmlns:a16="http://schemas.microsoft.com/office/drawing/2014/main" val="20002"/>
                    </a:ext>
                  </a:extLst>
                </a:gridCol>
                <a:gridCol w="1373059">
                  <a:extLst>
                    <a:ext uri="{9D8B030D-6E8A-4147-A177-3AD203B41FA5}">
                      <a16:colId xmlns:a16="http://schemas.microsoft.com/office/drawing/2014/main" val="20003"/>
                    </a:ext>
                  </a:extLst>
                </a:gridCol>
                <a:gridCol w="1291237">
                  <a:extLst>
                    <a:ext uri="{9D8B030D-6E8A-4147-A177-3AD203B41FA5}">
                      <a16:colId xmlns:a16="http://schemas.microsoft.com/office/drawing/2014/main" val="20004"/>
                    </a:ext>
                  </a:extLst>
                </a:gridCol>
                <a:gridCol w="1321444">
                  <a:extLst>
                    <a:ext uri="{9D8B030D-6E8A-4147-A177-3AD203B41FA5}">
                      <a16:colId xmlns:a16="http://schemas.microsoft.com/office/drawing/2014/main" val="20005"/>
                    </a:ext>
                  </a:extLst>
                </a:gridCol>
              </a:tblGrid>
              <a:tr h="652807">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2400" b="1" i="0" u="none" strike="noStrike" cap="none" normalizeH="0" baseline="0" dirty="0" smtClean="0">
                          <a:ln>
                            <a:noFill/>
                          </a:ln>
                          <a:solidFill>
                            <a:srgbClr val="3333FF"/>
                          </a:solidFill>
                          <a:effectLst/>
                          <a:latin typeface="Times New Roman" pitchFamily="18" charset="0"/>
                          <a:ea typeface="宋体" pitchFamily="2" charset="-122"/>
                        </a:rPr>
                        <a:t>季节比率</a:t>
                      </a:r>
                      <a:r>
                        <a:rPr kumimoji="0" lang="en-US" altLang="zh-CN" sz="2400" b="1" i="0" u="none" strike="noStrike" cap="none" normalizeH="0" baseline="0" dirty="0" smtClean="0">
                          <a:ln>
                            <a:noFill/>
                          </a:ln>
                          <a:solidFill>
                            <a:srgbClr val="3333FF"/>
                          </a:solidFill>
                          <a:effectLst/>
                          <a:latin typeface="Times New Roman" pitchFamily="18" charset="0"/>
                          <a:ea typeface="宋体" pitchFamily="2" charset="-122"/>
                        </a:rPr>
                        <a:t>(</a:t>
                      </a:r>
                      <a:r>
                        <a:rPr kumimoji="0" lang="en-US" altLang="zh-CN" sz="2400" b="1" i="0" u="none" strike="noStrike" cap="none" normalizeH="0" baseline="0" dirty="0" smtClean="0">
                          <a:ln>
                            <a:noFill/>
                          </a:ln>
                          <a:solidFill>
                            <a:srgbClr val="3333FF"/>
                          </a:solidFill>
                          <a:effectLst/>
                          <a:latin typeface="Times New Roman" pitchFamily="18" charset="0"/>
                          <a:ea typeface="宋体" pitchFamily="2" charset="-122"/>
                          <a:cs typeface="Times New Roman" pitchFamily="18" charset="0"/>
                        </a:rPr>
                        <a:t>%</a:t>
                      </a:r>
                      <a:r>
                        <a:rPr kumimoji="0" lang="en-US" altLang="zh-CN" sz="2400" b="1" i="0" u="none" strike="noStrike" cap="none" normalizeH="0" baseline="0" dirty="0" smtClean="0">
                          <a:ln>
                            <a:noFill/>
                          </a:ln>
                          <a:solidFill>
                            <a:srgbClr val="3333FF"/>
                          </a:solidFill>
                          <a:effectLst/>
                          <a:latin typeface="Times New Roman" pitchFamily="18" charset="0"/>
                          <a:ea typeface="宋体" pitchFamily="2" charset="-122"/>
                        </a:rPr>
                        <a:t>)</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400" b="1" i="0" u="none" strike="noStrike" cap="none" normalizeH="0" baseline="0" dirty="0" smtClean="0">
                          <a:ln>
                            <a:noFill/>
                          </a:ln>
                          <a:solidFill>
                            <a:srgbClr val="3333FF"/>
                          </a:solidFill>
                          <a:effectLst/>
                          <a:latin typeface="Times New Roman" pitchFamily="18" charset="0"/>
                          <a:ea typeface="宋体" pitchFamily="2" charset="-122"/>
                        </a:rPr>
                        <a:t>86.01</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400" b="1" i="0" u="none" strike="noStrike" cap="none" normalizeH="0" baseline="0" dirty="0" smtClean="0">
                          <a:ln>
                            <a:noFill/>
                          </a:ln>
                          <a:solidFill>
                            <a:srgbClr val="3333FF"/>
                          </a:solidFill>
                          <a:effectLst/>
                          <a:latin typeface="Times New Roman" pitchFamily="18" charset="0"/>
                          <a:ea typeface="宋体" pitchFamily="2" charset="-122"/>
                        </a:rPr>
                        <a:t>121.39</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400" b="1" i="0" u="none" strike="noStrike" cap="none" normalizeH="0" baseline="0" dirty="0" smtClean="0">
                          <a:ln>
                            <a:noFill/>
                          </a:ln>
                          <a:solidFill>
                            <a:srgbClr val="3333FF"/>
                          </a:solidFill>
                          <a:effectLst/>
                          <a:latin typeface="Times New Roman" pitchFamily="18" charset="0"/>
                          <a:ea typeface="宋体" pitchFamily="2" charset="-122"/>
                        </a:rPr>
                        <a:t>109.73</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400" b="1" i="0" u="none" strike="noStrike" cap="none" normalizeH="0" baseline="0" dirty="0" smtClean="0">
                          <a:ln>
                            <a:noFill/>
                          </a:ln>
                          <a:solidFill>
                            <a:srgbClr val="3333FF"/>
                          </a:solidFill>
                          <a:effectLst/>
                          <a:latin typeface="Times New Roman" pitchFamily="18" charset="0"/>
                          <a:ea typeface="宋体" pitchFamily="2" charset="-122"/>
                        </a:rPr>
                        <a:t>82.86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600" b="1" i="0" u="none" strike="noStrike" cap="none" normalizeH="0" baseline="0" dirty="0" smtClean="0">
                          <a:ln>
                            <a:noFill/>
                          </a:ln>
                          <a:solidFill>
                            <a:srgbClr val="3333FF"/>
                          </a:solidFill>
                          <a:effectLst/>
                          <a:latin typeface="Times New Roman" pitchFamily="18" charset="0"/>
                          <a:ea typeface="宋体" pitchFamily="2" charset="-122"/>
                        </a:rPr>
                        <a:t>100.00</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bl>
          </a:graphicData>
        </a:graphic>
      </p:graphicFrame>
      <p:sp>
        <p:nvSpPr>
          <p:cNvPr id="136274" name="日期占位符 7"/>
          <p:cNvSpPr>
            <a:spLocks noGrp="1"/>
          </p:cNvSpPr>
          <p:nvPr>
            <p:ph type="dt" sz="quarter" idx="10"/>
          </p:nvPr>
        </p:nvSpPr>
        <p:spPr>
          <a:noFill/>
        </p:spPr>
        <p:txBody>
          <a:bodyPr/>
          <a:lstStyle/>
          <a:p>
            <a:endParaRPr lang="en-US" altLang="zh-CN" smtClean="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4571"/>
                                        </p:tgtEl>
                                        <p:attrNameLst>
                                          <p:attrName>style.visibility</p:attrName>
                                        </p:attrNameLst>
                                      </p:cBhvr>
                                      <p:to>
                                        <p:strVal val="visible"/>
                                      </p:to>
                                    </p:set>
                                    <p:anim calcmode="lin" valueType="num">
                                      <p:cBhvr additive="base">
                                        <p:cTn id="7" dur="500" fill="hold"/>
                                        <p:tgtEl>
                                          <p:spTgt spid="104571"/>
                                        </p:tgtEl>
                                        <p:attrNameLst>
                                          <p:attrName>ppt_x</p:attrName>
                                        </p:attrNameLst>
                                      </p:cBhvr>
                                      <p:tavLst>
                                        <p:tav tm="0">
                                          <p:val>
                                            <p:strVal val="0-#ppt_w/2"/>
                                          </p:val>
                                        </p:tav>
                                        <p:tav tm="100000">
                                          <p:val>
                                            <p:strVal val="#ppt_x"/>
                                          </p:val>
                                        </p:tav>
                                      </p:tavLst>
                                    </p:anim>
                                    <p:anim calcmode="lin" valueType="num">
                                      <p:cBhvr additive="base">
                                        <p:cTn id="8" dur="500" fill="hold"/>
                                        <p:tgtEl>
                                          <p:spTgt spid="10457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04566"/>
                                        </p:tgtEl>
                                        <p:attrNameLst>
                                          <p:attrName>style.visibility</p:attrName>
                                        </p:attrNameLst>
                                      </p:cBhvr>
                                      <p:to>
                                        <p:strVal val="visible"/>
                                      </p:to>
                                    </p:set>
                                    <p:anim calcmode="lin" valueType="num">
                                      <p:cBhvr additive="base">
                                        <p:cTn id="13" dur="500" fill="hold"/>
                                        <p:tgtEl>
                                          <p:spTgt spid="104566"/>
                                        </p:tgtEl>
                                        <p:attrNameLst>
                                          <p:attrName>ppt_x</p:attrName>
                                        </p:attrNameLst>
                                      </p:cBhvr>
                                      <p:tavLst>
                                        <p:tav tm="0">
                                          <p:val>
                                            <p:strVal val="0-#ppt_w/2"/>
                                          </p:val>
                                        </p:tav>
                                        <p:tav tm="100000">
                                          <p:val>
                                            <p:strVal val="#ppt_x"/>
                                          </p:val>
                                        </p:tav>
                                      </p:tavLst>
                                    </p:anim>
                                    <p:anim calcmode="lin" valueType="num">
                                      <p:cBhvr additive="base">
                                        <p:cTn id="14" dur="500" fill="hold"/>
                                        <p:tgtEl>
                                          <p:spTgt spid="10456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04577"/>
                                        </p:tgtEl>
                                        <p:attrNameLst>
                                          <p:attrName>style.visibility</p:attrName>
                                        </p:attrNameLst>
                                      </p:cBhvr>
                                      <p:to>
                                        <p:strVal val="visible"/>
                                      </p:to>
                                    </p:set>
                                    <p:anim calcmode="lin" valueType="num">
                                      <p:cBhvr additive="base">
                                        <p:cTn id="19" dur="500" fill="hold"/>
                                        <p:tgtEl>
                                          <p:spTgt spid="104577"/>
                                        </p:tgtEl>
                                        <p:attrNameLst>
                                          <p:attrName>ppt_x</p:attrName>
                                        </p:attrNameLst>
                                      </p:cBhvr>
                                      <p:tavLst>
                                        <p:tav tm="0">
                                          <p:val>
                                            <p:strVal val="0-#ppt_w/2"/>
                                          </p:val>
                                        </p:tav>
                                        <p:tav tm="100000">
                                          <p:val>
                                            <p:strVal val="#ppt_x"/>
                                          </p:val>
                                        </p:tav>
                                      </p:tavLst>
                                    </p:anim>
                                    <p:anim calcmode="lin" valueType="num">
                                      <p:cBhvr additive="base">
                                        <p:cTn id="20" dur="500" fill="hold"/>
                                        <p:tgtEl>
                                          <p:spTgt spid="10457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9" name="Rectangle 6"/>
          <p:cNvSpPr>
            <a:spLocks noChangeArrowheads="1"/>
          </p:cNvSpPr>
          <p:nvPr/>
        </p:nvSpPr>
        <p:spPr bwMode="auto">
          <a:xfrm>
            <a:off x="611188" y="2276475"/>
            <a:ext cx="8229600" cy="3171825"/>
          </a:xfrm>
          <a:prstGeom prst="rect">
            <a:avLst/>
          </a:prstGeom>
          <a:noFill/>
          <a:ln w="12700">
            <a:noFill/>
            <a:miter lim="800000"/>
            <a:headEnd/>
            <a:tailEnd/>
          </a:ln>
        </p:spPr>
        <p:txBody>
          <a:bodyPr lIns="90000" tIns="46800" rIns="90000" bIns="46800">
            <a:spAutoFit/>
          </a:bodyPr>
          <a:lstStyle/>
          <a:p>
            <a:pPr>
              <a:lnSpc>
                <a:spcPct val="125000"/>
              </a:lnSpc>
            </a:pPr>
            <a:r>
              <a:rPr kumimoji="1" lang="en-US" altLang="zh-CN" sz="2400" b="1">
                <a:solidFill>
                  <a:srgbClr val="3333FF"/>
                </a:solidFill>
                <a:latin typeface="Times New Roman" pitchFamily="18" charset="0"/>
              </a:rPr>
              <a:t>——</a:t>
            </a:r>
            <a:r>
              <a:rPr kumimoji="1" lang="zh-CN" altLang="en-US" sz="3200" b="1">
                <a:solidFill>
                  <a:srgbClr val="3333FF"/>
                </a:solidFill>
                <a:latin typeface="Tahoma" pitchFamily="34" charset="0"/>
              </a:rPr>
              <a:t>数列无明显的升降趋势。</a:t>
            </a:r>
          </a:p>
          <a:p>
            <a:pPr>
              <a:lnSpc>
                <a:spcPct val="125000"/>
              </a:lnSpc>
            </a:pPr>
            <a:r>
              <a:rPr kumimoji="1" lang="zh-CN" altLang="en-US" sz="3200" b="1">
                <a:solidFill>
                  <a:srgbClr val="000000"/>
                </a:solidFill>
                <a:latin typeface="Tahoma" pitchFamily="34" charset="0"/>
              </a:rPr>
              <a:t>否则，趋势值的变化会被误以为是季节波动，既不能反映出趋势增长量，不能正确测定季节变动。</a:t>
            </a:r>
            <a:endParaRPr kumimoji="1" lang="en-US" altLang="zh-CN" sz="3200" b="1">
              <a:solidFill>
                <a:srgbClr val="000000"/>
              </a:solidFill>
              <a:latin typeface="Tahoma" pitchFamily="34" charset="0"/>
            </a:endParaRPr>
          </a:p>
          <a:p>
            <a:pPr lvl="1">
              <a:lnSpc>
                <a:spcPct val="125000"/>
              </a:lnSpc>
              <a:buFont typeface="Arial" charset="0"/>
              <a:buChar char="•"/>
            </a:pPr>
            <a:r>
              <a:rPr kumimoji="1" lang="zh-CN" altLang="en-US" sz="3200">
                <a:latin typeface="Tahoma" pitchFamily="34" charset="0"/>
              </a:rPr>
              <a:t>例</a:t>
            </a:r>
          </a:p>
        </p:txBody>
      </p:sp>
      <p:sp>
        <p:nvSpPr>
          <p:cNvPr id="137220" name="Rectangle 7"/>
          <p:cNvSpPr>
            <a:spLocks noGrp="1" noChangeArrowheads="1"/>
          </p:cNvSpPr>
          <p:nvPr>
            <p:ph type="title"/>
          </p:nvPr>
        </p:nvSpPr>
        <p:spPr>
          <a:xfrm>
            <a:off x="827088" y="981075"/>
            <a:ext cx="7772400" cy="990600"/>
          </a:xfrm>
        </p:spPr>
        <p:txBody>
          <a:bodyPr/>
          <a:lstStyle/>
          <a:p>
            <a:pPr eaLnBrk="1" hangingPunct="1"/>
            <a:r>
              <a:rPr kumimoji="1" lang="zh-CN" altLang="en-US" dirty="0" smtClean="0">
                <a:solidFill>
                  <a:srgbClr val="0070C0"/>
                </a:solidFill>
              </a:rPr>
              <a:t>原资料平均法的应用前提</a:t>
            </a:r>
          </a:p>
        </p:txBody>
      </p:sp>
      <p:sp>
        <p:nvSpPr>
          <p:cNvPr id="137221" name="日期占位符 4"/>
          <p:cNvSpPr>
            <a:spLocks noGrp="1"/>
          </p:cNvSpPr>
          <p:nvPr>
            <p:ph type="dt" sz="quarter" idx="10"/>
          </p:nvPr>
        </p:nvSpPr>
        <p:spPr>
          <a:noFill/>
        </p:spPr>
        <p:txBody>
          <a:bodyPr/>
          <a:lstStyle/>
          <a:p>
            <a:endParaRPr lang="en-US" altLang="zh-CN" smtClean="0"/>
          </a:p>
        </p:txBody>
      </p:sp>
    </p:spTree>
  </p:cSld>
  <p:clrMapOvr>
    <a:masterClrMapping/>
  </p:clrMapOvr>
  <p:transition>
    <p:wipe dir="r"/>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3" name="Rectangle 2"/>
          <p:cNvSpPr>
            <a:spLocks noGrp="1" noChangeArrowheads="1"/>
          </p:cNvSpPr>
          <p:nvPr>
            <p:ph type="title"/>
          </p:nvPr>
        </p:nvSpPr>
        <p:spPr>
          <a:xfrm>
            <a:off x="900113" y="404813"/>
            <a:ext cx="7010400" cy="1143000"/>
          </a:xfrm>
          <a:noFill/>
        </p:spPr>
        <p:txBody>
          <a:bodyPr lIns="90488" tIns="44450" rIns="90488" bIns="44450" anchor="ctr" anchorCtr="1"/>
          <a:lstStyle/>
          <a:p>
            <a:pPr eaLnBrk="1" hangingPunct="1"/>
            <a:r>
              <a:rPr lang="zh-CN" altLang="en-US" sz="3600" dirty="0" smtClean="0">
                <a:latin typeface="Times New Roman" pitchFamily="18" charset="0"/>
              </a:rPr>
              <a:t>思考</a:t>
            </a:r>
          </a:p>
        </p:txBody>
      </p:sp>
      <p:sp>
        <p:nvSpPr>
          <p:cNvPr id="138244" name="Rectangle 3"/>
          <p:cNvSpPr>
            <a:spLocks noChangeArrowheads="1"/>
          </p:cNvSpPr>
          <p:nvPr/>
        </p:nvSpPr>
        <p:spPr bwMode="auto">
          <a:xfrm>
            <a:off x="395288" y="1412875"/>
            <a:ext cx="8305800" cy="2289175"/>
          </a:xfrm>
          <a:prstGeom prst="rect">
            <a:avLst/>
          </a:prstGeom>
          <a:noFill/>
          <a:ln w="12700">
            <a:noFill/>
            <a:miter lim="800000"/>
            <a:headEnd/>
            <a:tailEnd/>
          </a:ln>
        </p:spPr>
        <p:txBody>
          <a:bodyPr lIns="90000" tIns="46800" rIns="90000" bIns="46800">
            <a:spAutoFit/>
          </a:bodyPr>
          <a:lstStyle/>
          <a:p>
            <a:pPr algn="just" eaLnBrk="0" hangingPunct="0"/>
            <a:r>
              <a:rPr kumimoji="1" lang="zh-CN" altLang="en-US" sz="3600" b="1" dirty="0">
                <a:solidFill>
                  <a:srgbClr val="0070C0"/>
                </a:solidFill>
                <a:latin typeface="Times New Roman" pitchFamily="18" charset="0"/>
              </a:rPr>
              <a:t>例</a:t>
            </a:r>
            <a:r>
              <a:rPr kumimoji="1" lang="zh-CN" altLang="en-US" sz="3600" b="1" dirty="0">
                <a:latin typeface="Times New Roman" pitchFamily="18" charset="0"/>
              </a:rPr>
              <a:t>：某企业产品销售量一月份季节比率</a:t>
            </a:r>
            <a:r>
              <a:rPr kumimoji="1" lang="en-US" altLang="zh-CN" sz="3600" b="1" dirty="0">
                <a:latin typeface="Times New Roman" pitchFamily="18" charset="0"/>
              </a:rPr>
              <a:t>=150%</a:t>
            </a:r>
            <a:r>
              <a:rPr kumimoji="1" lang="zh-CN" altLang="en-US" sz="3600" b="1" dirty="0">
                <a:latin typeface="Times New Roman" pitchFamily="18" charset="0"/>
              </a:rPr>
              <a:t>，全年的销售目标是</a:t>
            </a:r>
            <a:r>
              <a:rPr kumimoji="1" lang="en-US" altLang="zh-CN" sz="3600" b="1" dirty="0">
                <a:latin typeface="Times New Roman" pitchFamily="18" charset="0"/>
              </a:rPr>
              <a:t>24000</a:t>
            </a:r>
            <a:r>
              <a:rPr kumimoji="1" lang="zh-CN" altLang="en-US" sz="3600" b="1" dirty="0">
                <a:latin typeface="Times New Roman" pitchFamily="18" charset="0"/>
              </a:rPr>
              <a:t>件。一月份实际销售了</a:t>
            </a:r>
            <a:r>
              <a:rPr kumimoji="1" lang="en-US" altLang="zh-CN" sz="3600" b="1" dirty="0">
                <a:latin typeface="Times New Roman" pitchFamily="18" charset="0"/>
              </a:rPr>
              <a:t>2800</a:t>
            </a:r>
            <a:r>
              <a:rPr kumimoji="1" lang="zh-CN" altLang="en-US" sz="3600" b="1" dirty="0">
                <a:latin typeface="Times New Roman" pitchFamily="18" charset="0"/>
              </a:rPr>
              <a:t>件。试问，一月份的销售情况是否满意？</a:t>
            </a:r>
            <a:endParaRPr kumimoji="1" lang="zh-CN" altLang="en-US" sz="3600" dirty="0">
              <a:latin typeface="Times New Roman" pitchFamily="18" charset="0"/>
            </a:endParaRPr>
          </a:p>
        </p:txBody>
      </p:sp>
      <p:sp>
        <p:nvSpPr>
          <p:cNvPr id="197637" name="Rectangle 5"/>
          <p:cNvSpPr>
            <a:spLocks noChangeArrowheads="1"/>
          </p:cNvSpPr>
          <p:nvPr/>
        </p:nvSpPr>
        <p:spPr bwMode="auto">
          <a:xfrm>
            <a:off x="428625" y="4214813"/>
            <a:ext cx="8001000" cy="1801812"/>
          </a:xfrm>
          <a:prstGeom prst="rect">
            <a:avLst/>
          </a:prstGeom>
          <a:noFill/>
          <a:ln w="12700">
            <a:noFill/>
            <a:miter lim="800000"/>
            <a:headEnd/>
            <a:tailEnd/>
          </a:ln>
          <a:effectLst/>
        </p:spPr>
        <p:txBody>
          <a:bodyPr lIns="90000" tIns="46800" rIns="90000" bIns="46800">
            <a:spAutoFit/>
          </a:bodyPr>
          <a:lstStyle/>
          <a:p>
            <a:pPr eaLnBrk="0" hangingPunct="0">
              <a:spcBef>
                <a:spcPct val="50000"/>
              </a:spcBef>
              <a:defRPr/>
            </a:pPr>
            <a:r>
              <a:rPr kumimoji="1" lang="zh-CN" altLang="en-US" sz="2800" b="1" dirty="0">
                <a:solidFill>
                  <a:srgbClr val="7030A0"/>
                </a:solidFill>
                <a:effectLst>
                  <a:outerShdw blurRad="38100" dist="38100" dir="2700000" algn="tl">
                    <a:srgbClr val="C0C0C0"/>
                  </a:outerShdw>
                </a:effectLst>
                <a:latin typeface="黑体" pitchFamily="2" charset="-122"/>
                <a:ea typeface="黑体" pitchFamily="2" charset="-122"/>
              </a:rPr>
              <a:t>一月份销售量目标</a:t>
            </a:r>
            <a:r>
              <a:rPr kumimoji="1" lang="zh-CN" altLang="en-US" sz="2800" b="1" dirty="0">
                <a:solidFill>
                  <a:srgbClr val="7030A0"/>
                </a:solidFill>
                <a:effectLst>
                  <a:outerShdw blurRad="38100" dist="38100" dir="2700000" algn="tl">
                    <a:srgbClr val="C0C0C0"/>
                  </a:outerShdw>
                </a:effectLst>
                <a:latin typeface="Tahoma" pitchFamily="34" charset="0"/>
                <a:ea typeface="黑体" pitchFamily="2" charset="-122"/>
              </a:rPr>
              <a:t>值</a:t>
            </a:r>
            <a:r>
              <a:rPr kumimoji="1" lang="en-US" altLang="zh-CN" sz="2800" b="1" dirty="0">
                <a:solidFill>
                  <a:srgbClr val="7030A0"/>
                </a:solidFill>
                <a:effectLst>
                  <a:outerShdw blurRad="38100" dist="38100" dir="2700000" algn="tl">
                    <a:srgbClr val="C0C0C0"/>
                  </a:outerShdw>
                </a:effectLst>
                <a:latin typeface="Tahoma" pitchFamily="34" charset="0"/>
                <a:ea typeface="黑体" pitchFamily="2" charset="-122"/>
              </a:rPr>
              <a:t>=</a:t>
            </a:r>
            <a:r>
              <a:rPr kumimoji="1" lang="zh-CN" altLang="en-US" sz="2800" b="1" dirty="0">
                <a:solidFill>
                  <a:srgbClr val="7030A0"/>
                </a:solidFill>
                <a:effectLst>
                  <a:outerShdw blurRad="38100" dist="38100" dir="2700000" algn="tl">
                    <a:srgbClr val="C0C0C0"/>
                  </a:outerShdw>
                </a:effectLst>
                <a:latin typeface="Tahoma" pitchFamily="34" charset="0"/>
                <a:ea typeface="黑体" pitchFamily="2" charset="-122"/>
              </a:rPr>
              <a:t>月平均值</a:t>
            </a:r>
            <a:r>
              <a:rPr kumimoji="1" lang="en-US" altLang="zh-CN" sz="2800" b="1" dirty="0">
                <a:solidFill>
                  <a:srgbClr val="7030A0"/>
                </a:solidFill>
                <a:effectLst>
                  <a:outerShdw blurRad="38100" dist="38100" dir="2700000" algn="tl">
                    <a:srgbClr val="C0C0C0"/>
                  </a:outerShdw>
                </a:effectLst>
                <a:latin typeface="Tahoma" pitchFamily="34" charset="0"/>
                <a:ea typeface="黑体" pitchFamily="2" charset="-122"/>
              </a:rPr>
              <a:t>×</a:t>
            </a:r>
            <a:r>
              <a:rPr kumimoji="1" lang="zh-CN" altLang="en-US" sz="2800" b="1" dirty="0">
                <a:solidFill>
                  <a:srgbClr val="7030A0"/>
                </a:solidFill>
                <a:effectLst>
                  <a:outerShdw blurRad="38100" dist="38100" dir="2700000" algn="tl">
                    <a:srgbClr val="C0C0C0"/>
                  </a:outerShdw>
                </a:effectLst>
                <a:latin typeface="Tahoma" pitchFamily="34" charset="0"/>
                <a:ea typeface="黑体" pitchFamily="2" charset="-122"/>
              </a:rPr>
              <a:t>一月份季节比率</a:t>
            </a:r>
          </a:p>
          <a:p>
            <a:pPr eaLnBrk="0" hangingPunct="0">
              <a:spcBef>
                <a:spcPct val="50000"/>
              </a:spcBef>
              <a:defRPr/>
            </a:pPr>
            <a:r>
              <a:rPr kumimoji="1" lang="zh-CN" altLang="en-US" sz="2400" b="1" dirty="0">
                <a:solidFill>
                  <a:srgbClr val="7030A0"/>
                </a:solidFill>
                <a:effectLst>
                  <a:outerShdw blurRad="38100" dist="38100" dir="2700000" algn="tl">
                    <a:srgbClr val="C0C0C0"/>
                  </a:outerShdw>
                </a:effectLst>
                <a:latin typeface="Tahoma" pitchFamily="34" charset="0"/>
              </a:rPr>
              <a:t>                                     </a:t>
            </a:r>
            <a:r>
              <a:rPr kumimoji="1" lang="zh-CN" altLang="en-US" sz="2800" b="1" dirty="0">
                <a:solidFill>
                  <a:srgbClr val="7030A0"/>
                </a:solidFill>
                <a:effectLst>
                  <a:outerShdw blurRad="38100" dist="38100" dir="2700000" algn="tl">
                    <a:srgbClr val="C0C0C0"/>
                  </a:outerShdw>
                </a:effectLst>
                <a:latin typeface="Tahoma" pitchFamily="34" charset="0"/>
                <a:ea typeface="黑体" pitchFamily="2" charset="-122"/>
              </a:rPr>
              <a:t>＝</a:t>
            </a:r>
            <a:r>
              <a:rPr kumimoji="1" lang="en-US" altLang="zh-CN" sz="2800" b="1" dirty="0">
                <a:solidFill>
                  <a:srgbClr val="7030A0"/>
                </a:solidFill>
                <a:effectLst>
                  <a:outerShdw blurRad="38100" dist="38100" dir="2700000" algn="tl">
                    <a:srgbClr val="C0C0C0"/>
                  </a:outerShdw>
                </a:effectLst>
                <a:latin typeface="Tahoma" pitchFamily="34" charset="0"/>
                <a:ea typeface="黑体" pitchFamily="2" charset="-122"/>
              </a:rPr>
              <a:t>2000</a:t>
            </a:r>
            <a:r>
              <a:rPr kumimoji="1" lang="zh-CN" altLang="en-US" sz="2800" b="1" dirty="0">
                <a:solidFill>
                  <a:srgbClr val="7030A0"/>
                </a:solidFill>
                <a:effectLst>
                  <a:outerShdw blurRad="38100" dist="38100" dir="2700000" algn="tl">
                    <a:srgbClr val="C0C0C0"/>
                  </a:outerShdw>
                </a:effectLst>
                <a:latin typeface="Tahoma" pitchFamily="34" charset="0"/>
                <a:ea typeface="黑体" pitchFamily="2" charset="-122"/>
              </a:rPr>
              <a:t>件</a:t>
            </a:r>
            <a:r>
              <a:rPr kumimoji="1" lang="en-US" altLang="zh-CN" sz="2800" b="1" dirty="0">
                <a:solidFill>
                  <a:srgbClr val="7030A0"/>
                </a:solidFill>
                <a:effectLst>
                  <a:outerShdw blurRad="38100" dist="38100" dir="2700000" algn="tl">
                    <a:srgbClr val="C0C0C0"/>
                  </a:outerShdw>
                </a:effectLst>
                <a:latin typeface="Tahoma" pitchFamily="34" charset="0"/>
                <a:ea typeface="黑体" pitchFamily="2" charset="-122"/>
              </a:rPr>
              <a:t>×1.5</a:t>
            </a:r>
          </a:p>
          <a:p>
            <a:pPr eaLnBrk="0" hangingPunct="0">
              <a:spcBef>
                <a:spcPct val="50000"/>
              </a:spcBef>
              <a:defRPr/>
            </a:pPr>
            <a:r>
              <a:rPr kumimoji="1" lang="en-US" altLang="zh-CN" sz="2800" b="1" dirty="0">
                <a:solidFill>
                  <a:srgbClr val="7030A0"/>
                </a:solidFill>
                <a:effectLst>
                  <a:outerShdw blurRad="38100" dist="38100" dir="2700000" algn="tl">
                    <a:srgbClr val="C0C0C0"/>
                  </a:outerShdw>
                </a:effectLst>
                <a:latin typeface="Tahoma" pitchFamily="34" charset="0"/>
                <a:ea typeface="黑体" pitchFamily="2" charset="-122"/>
              </a:rPr>
              <a:t>                                </a:t>
            </a:r>
            <a:r>
              <a:rPr kumimoji="1" lang="zh-CN" altLang="en-US" sz="2800" b="1" dirty="0">
                <a:solidFill>
                  <a:srgbClr val="7030A0"/>
                </a:solidFill>
                <a:effectLst>
                  <a:outerShdw blurRad="38100" dist="38100" dir="2700000" algn="tl">
                    <a:srgbClr val="C0C0C0"/>
                  </a:outerShdw>
                </a:effectLst>
                <a:latin typeface="Tahoma" pitchFamily="34" charset="0"/>
                <a:ea typeface="黑体" pitchFamily="2" charset="-122"/>
              </a:rPr>
              <a:t>＝</a:t>
            </a:r>
            <a:r>
              <a:rPr kumimoji="1" lang="en-US" altLang="zh-CN" sz="2800" b="1" dirty="0">
                <a:solidFill>
                  <a:srgbClr val="7030A0"/>
                </a:solidFill>
                <a:effectLst>
                  <a:outerShdw blurRad="38100" dist="38100" dir="2700000" algn="tl">
                    <a:srgbClr val="C0C0C0"/>
                  </a:outerShdw>
                </a:effectLst>
                <a:latin typeface="Tahoma" pitchFamily="34" charset="0"/>
                <a:ea typeface="黑体" pitchFamily="2" charset="-122"/>
              </a:rPr>
              <a:t>3000</a:t>
            </a:r>
            <a:r>
              <a:rPr kumimoji="1" lang="zh-CN" altLang="en-US" sz="2800" b="1" dirty="0">
                <a:solidFill>
                  <a:srgbClr val="7030A0"/>
                </a:solidFill>
                <a:effectLst>
                  <a:outerShdw blurRad="38100" dist="38100" dir="2700000" algn="tl">
                    <a:srgbClr val="C0C0C0"/>
                  </a:outerShdw>
                </a:effectLst>
                <a:latin typeface="Tahoma" pitchFamily="34" charset="0"/>
                <a:ea typeface="黑体" pitchFamily="2" charset="-122"/>
              </a:rPr>
              <a:t>件</a:t>
            </a:r>
          </a:p>
        </p:txBody>
      </p:sp>
      <p:sp>
        <p:nvSpPr>
          <p:cNvPr id="138246" name="日期占位符 5"/>
          <p:cNvSpPr>
            <a:spLocks noGrp="1"/>
          </p:cNvSpPr>
          <p:nvPr>
            <p:ph type="dt" sz="quarter" idx="10"/>
          </p:nvPr>
        </p:nvSpPr>
        <p:spPr>
          <a:noFill/>
        </p:spPr>
        <p:txBody>
          <a:bodyPr/>
          <a:lstStyle/>
          <a:p>
            <a:endParaRPr lang="en-US" altLang="zh-CN" smtClean="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197637"/>
                                        </p:tgtEl>
                                        <p:attrNameLst>
                                          <p:attrName>style.visibility</p:attrName>
                                        </p:attrNameLst>
                                      </p:cBhvr>
                                      <p:to>
                                        <p:strVal val="visible"/>
                                      </p:to>
                                    </p:set>
                                    <p:anim calcmode="lin" valueType="num">
                                      <p:cBhvr>
                                        <p:cTn id="7" dur="500" fill="hold"/>
                                        <p:tgtEl>
                                          <p:spTgt spid="197637"/>
                                        </p:tgtEl>
                                        <p:attrNameLst>
                                          <p:attrName>ppt_w</p:attrName>
                                        </p:attrNameLst>
                                      </p:cBhvr>
                                      <p:tavLst>
                                        <p:tav tm="0">
                                          <p:val>
                                            <p:fltVal val="0"/>
                                          </p:val>
                                        </p:tav>
                                        <p:tav tm="100000">
                                          <p:val>
                                            <p:strVal val="#ppt_w"/>
                                          </p:val>
                                        </p:tav>
                                      </p:tavLst>
                                    </p:anim>
                                    <p:anim calcmode="lin" valueType="num">
                                      <p:cBhvr>
                                        <p:cTn id="8" dur="500" fill="hold"/>
                                        <p:tgtEl>
                                          <p:spTgt spid="19763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7" grpId="0" autoUpdateAnimBg="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7" name="Rectangle 2"/>
          <p:cNvSpPr>
            <a:spLocks noGrp="1" noChangeArrowheads="1"/>
          </p:cNvSpPr>
          <p:nvPr>
            <p:ph type="title"/>
          </p:nvPr>
        </p:nvSpPr>
        <p:spPr>
          <a:xfrm>
            <a:off x="914400" y="381000"/>
            <a:ext cx="7010400" cy="1143000"/>
          </a:xfrm>
        </p:spPr>
        <p:txBody>
          <a:bodyPr lIns="90488" tIns="44450" rIns="90488" bIns="44450" anchor="ctr" anchorCtr="1"/>
          <a:lstStyle/>
          <a:p>
            <a:pPr eaLnBrk="1" hangingPunct="1"/>
            <a:r>
              <a:rPr lang="en-US" altLang="zh-CN" sz="4000" dirty="0" smtClean="0"/>
              <a:t>2. </a:t>
            </a:r>
            <a:r>
              <a:rPr lang="zh-CN" altLang="en-US" sz="4000" dirty="0" smtClean="0"/>
              <a:t>趋势剔除法</a:t>
            </a:r>
            <a:endParaRPr lang="zh-CN" altLang="en-US" sz="3600" dirty="0" smtClean="0">
              <a:solidFill>
                <a:schemeClr val="hlink"/>
              </a:solidFill>
              <a:latin typeface="Times New Roman" pitchFamily="18" charset="0"/>
            </a:endParaRPr>
          </a:p>
        </p:txBody>
      </p:sp>
      <p:sp>
        <p:nvSpPr>
          <p:cNvPr id="108547" name="Text Box 3"/>
          <p:cNvSpPr txBox="1">
            <a:spLocks noChangeArrowheads="1"/>
          </p:cNvSpPr>
          <p:nvPr/>
        </p:nvSpPr>
        <p:spPr bwMode="auto">
          <a:xfrm>
            <a:off x="457200" y="1340768"/>
            <a:ext cx="8305800" cy="5065106"/>
          </a:xfrm>
          <a:prstGeom prst="rect">
            <a:avLst/>
          </a:prstGeom>
          <a:noFill/>
          <a:ln w="12700">
            <a:noFill/>
            <a:miter lim="800000"/>
            <a:headEnd/>
            <a:tailEnd/>
          </a:ln>
        </p:spPr>
        <p:txBody>
          <a:bodyPr lIns="90000" tIns="46800" rIns="90000" bIns="46800">
            <a:spAutoFit/>
          </a:bodyPr>
          <a:lstStyle/>
          <a:p>
            <a:pPr marL="457200" indent="-457200" algn="just" eaLnBrk="0" hangingPunct="0">
              <a:spcBef>
                <a:spcPts val="1200"/>
              </a:spcBef>
            </a:pPr>
            <a:r>
              <a:rPr kumimoji="1" lang="zh-CN" altLang="en-US" sz="3000" b="1" dirty="0">
                <a:solidFill>
                  <a:srgbClr val="0070C0"/>
                </a:solidFill>
                <a:latin typeface="Times New Roman" pitchFamily="18" charset="0"/>
                <a:sym typeface="Wingdings 3" pitchFamily="18" charset="2"/>
              </a:rPr>
              <a:t>假定：</a:t>
            </a:r>
            <a:r>
              <a:rPr kumimoji="1" lang="en-US" altLang="zh-CN" sz="3200" b="1" dirty="0">
                <a:solidFill>
                  <a:srgbClr val="0070C0"/>
                </a:solidFill>
                <a:latin typeface="Tahoma" pitchFamily="34" charset="0"/>
                <a:sym typeface="Wingdings 3" pitchFamily="18" charset="2"/>
              </a:rPr>
              <a:t> </a:t>
            </a:r>
            <a:r>
              <a:rPr kumimoji="1" lang="en-US" altLang="zh-CN" sz="3200" b="1" dirty="0">
                <a:solidFill>
                  <a:srgbClr val="3333FF"/>
                </a:solidFill>
                <a:latin typeface="Tahoma" pitchFamily="34" charset="0"/>
                <a:sym typeface="Wingdings 3" pitchFamily="18" charset="2"/>
              </a:rPr>
              <a:t>Y</a:t>
            </a:r>
            <a:r>
              <a:rPr kumimoji="1" lang="en-US" altLang="zh-CN" sz="3200" b="1" i="1" baseline="-25000" dirty="0">
                <a:solidFill>
                  <a:srgbClr val="3333FF"/>
                </a:solidFill>
                <a:latin typeface="Times New Roman" pitchFamily="18" charset="0"/>
                <a:cs typeface="Times New Roman" pitchFamily="18" charset="0"/>
                <a:sym typeface="Wingdings 3" pitchFamily="18" charset="2"/>
              </a:rPr>
              <a:t>i</a:t>
            </a:r>
            <a:r>
              <a:rPr kumimoji="1" lang="en-US" altLang="zh-CN" sz="3200" b="1" dirty="0">
                <a:solidFill>
                  <a:srgbClr val="3333FF"/>
                </a:solidFill>
                <a:latin typeface="Tahoma" pitchFamily="34" charset="0"/>
                <a:sym typeface="Wingdings 3" pitchFamily="18" charset="2"/>
              </a:rPr>
              <a:t>=T</a:t>
            </a:r>
            <a:r>
              <a:rPr kumimoji="1" lang="en-US" altLang="zh-CN" sz="3200" b="1" i="1" baseline="-25000" dirty="0">
                <a:solidFill>
                  <a:srgbClr val="3333FF"/>
                </a:solidFill>
                <a:latin typeface="Times New Roman" pitchFamily="18" charset="0"/>
                <a:cs typeface="Times New Roman" pitchFamily="18" charset="0"/>
                <a:sym typeface="Wingdings 3" pitchFamily="18" charset="2"/>
              </a:rPr>
              <a:t>i </a:t>
            </a:r>
            <a:r>
              <a:rPr kumimoji="1" lang="en-US" altLang="zh-CN" sz="3200" b="1" dirty="0">
                <a:solidFill>
                  <a:srgbClr val="3333FF"/>
                </a:solidFill>
                <a:latin typeface="Tahoma" pitchFamily="34" charset="0"/>
                <a:sym typeface="Wingdings 3" pitchFamily="18" charset="2"/>
              </a:rPr>
              <a:t>S</a:t>
            </a:r>
            <a:r>
              <a:rPr kumimoji="1" lang="en-US" altLang="zh-CN" sz="3200" b="1" i="1" baseline="-25000" dirty="0">
                <a:solidFill>
                  <a:srgbClr val="3333FF"/>
                </a:solidFill>
                <a:latin typeface="Times New Roman" pitchFamily="18" charset="0"/>
                <a:cs typeface="Times New Roman" pitchFamily="18" charset="0"/>
                <a:sym typeface="Wingdings 3" pitchFamily="18" charset="2"/>
              </a:rPr>
              <a:t>i </a:t>
            </a:r>
            <a:r>
              <a:rPr kumimoji="1" lang="en-US" altLang="zh-CN" sz="3200" b="1" dirty="0">
                <a:solidFill>
                  <a:srgbClr val="3333FF"/>
                </a:solidFill>
                <a:latin typeface="Tahoma" pitchFamily="34" charset="0"/>
                <a:sym typeface="Wingdings 3" pitchFamily="18" charset="2"/>
              </a:rPr>
              <a:t>I</a:t>
            </a:r>
            <a:r>
              <a:rPr kumimoji="1" lang="en-US" altLang="zh-CN" sz="3200" b="1" i="1" baseline="-25000" dirty="0">
                <a:solidFill>
                  <a:srgbClr val="3333FF"/>
                </a:solidFill>
                <a:latin typeface="Times New Roman" pitchFamily="18" charset="0"/>
                <a:cs typeface="Times New Roman" pitchFamily="18" charset="0"/>
                <a:sym typeface="Wingdings 3" pitchFamily="18" charset="2"/>
              </a:rPr>
              <a:t>i</a:t>
            </a:r>
            <a:endParaRPr kumimoji="1" lang="en-US" altLang="zh-CN" sz="3000" dirty="0">
              <a:solidFill>
                <a:srgbClr val="3333FF"/>
              </a:solidFill>
              <a:latin typeface="Times New Roman" pitchFamily="18" charset="0"/>
              <a:sym typeface="Wingdings 3" pitchFamily="18" charset="2"/>
            </a:endParaRPr>
          </a:p>
          <a:p>
            <a:pPr marL="457200" indent="-457200" eaLnBrk="0" hangingPunct="0">
              <a:spcBef>
                <a:spcPts val="1200"/>
              </a:spcBef>
            </a:pPr>
            <a:r>
              <a:rPr kumimoji="1" lang="zh-CN" altLang="en-US" sz="3000" b="1" dirty="0">
                <a:solidFill>
                  <a:srgbClr val="0070C0"/>
                </a:solidFill>
                <a:latin typeface="Times New Roman" pitchFamily="18" charset="0"/>
                <a:sym typeface="Wingdings 3" pitchFamily="18" charset="2"/>
              </a:rPr>
              <a:t>基本思想</a:t>
            </a:r>
            <a:r>
              <a:rPr kumimoji="1" lang="zh-CN" altLang="en-US" sz="3000" dirty="0">
                <a:solidFill>
                  <a:srgbClr val="0070C0"/>
                </a:solidFill>
                <a:latin typeface="Times New Roman" pitchFamily="18" charset="0"/>
                <a:sym typeface="Wingdings 3" pitchFamily="18" charset="2"/>
              </a:rPr>
              <a:t>：</a:t>
            </a:r>
            <a:r>
              <a:rPr kumimoji="1" lang="zh-CN" altLang="en-US" sz="3000" b="1" dirty="0">
                <a:solidFill>
                  <a:srgbClr val="000000"/>
                </a:solidFill>
                <a:latin typeface="Times New Roman" pitchFamily="18" charset="0"/>
                <a:sym typeface="Wingdings 3" pitchFamily="18" charset="2"/>
              </a:rPr>
              <a:t>先将数列中的趋势予以消除，再计算季节指数</a:t>
            </a:r>
            <a:r>
              <a:rPr kumimoji="1" lang="zh-CN" altLang="en-US" sz="3000" b="1" dirty="0">
                <a:solidFill>
                  <a:srgbClr val="000000"/>
                </a:solidFill>
                <a:sym typeface="Wingdings 3" pitchFamily="18" charset="2"/>
              </a:rPr>
              <a:t> </a:t>
            </a:r>
            <a:r>
              <a:rPr kumimoji="1" lang="zh-CN" altLang="en-US" sz="3000" dirty="0">
                <a:solidFill>
                  <a:srgbClr val="000000"/>
                </a:solidFill>
                <a:sym typeface="Wingdings 3" pitchFamily="18" charset="2"/>
              </a:rPr>
              <a:t>。</a:t>
            </a:r>
          </a:p>
          <a:p>
            <a:pPr marL="457200" indent="-457200" eaLnBrk="0" hangingPunct="0">
              <a:spcBef>
                <a:spcPts val="1200"/>
              </a:spcBef>
            </a:pPr>
            <a:r>
              <a:rPr kumimoji="1" lang="zh-CN" altLang="en-US" sz="3000" b="1" dirty="0">
                <a:solidFill>
                  <a:srgbClr val="0070C0"/>
                </a:solidFill>
                <a:sym typeface="Wingdings 3" pitchFamily="18" charset="2"/>
              </a:rPr>
              <a:t>具体</a:t>
            </a:r>
            <a:r>
              <a:rPr kumimoji="1" lang="zh-CN" altLang="en-US" sz="3000" b="1" dirty="0">
                <a:solidFill>
                  <a:srgbClr val="0070C0"/>
                </a:solidFill>
                <a:latin typeface="Tahoma" pitchFamily="34" charset="0"/>
                <a:sym typeface="Wingdings 3" pitchFamily="18" charset="2"/>
              </a:rPr>
              <a:t>步骤：</a:t>
            </a:r>
          </a:p>
          <a:p>
            <a:pPr marL="457200" indent="-457200" eaLnBrk="0" hangingPunct="0">
              <a:spcBef>
                <a:spcPts val="1200"/>
              </a:spcBef>
              <a:buFontTx/>
              <a:buChar char="•"/>
            </a:pPr>
            <a:r>
              <a:rPr kumimoji="1" lang="zh-CN" altLang="en-US" sz="3000" b="1" dirty="0">
                <a:solidFill>
                  <a:srgbClr val="000000"/>
                </a:solidFill>
                <a:latin typeface="Tahoma" pitchFamily="34" charset="0"/>
                <a:sym typeface="Wingdings 3" pitchFamily="18" charset="2"/>
              </a:rPr>
              <a:t> 计算长期趋势值 </a:t>
            </a:r>
            <a:r>
              <a:rPr kumimoji="1" lang="en-US" altLang="zh-CN" sz="3000" b="1" i="1" dirty="0">
                <a:solidFill>
                  <a:srgbClr val="3333FF"/>
                </a:solidFill>
                <a:latin typeface="Tahoma" pitchFamily="34" charset="0"/>
                <a:sym typeface="Wingdings 3" pitchFamily="18" charset="2"/>
              </a:rPr>
              <a:t>T</a:t>
            </a:r>
            <a:r>
              <a:rPr kumimoji="1" lang="en-US" altLang="zh-CN" sz="2800" b="1" i="1" baseline="-25000" dirty="0">
                <a:solidFill>
                  <a:srgbClr val="3333FF"/>
                </a:solidFill>
                <a:latin typeface="Times New Roman" pitchFamily="18" charset="0"/>
                <a:cs typeface="Times New Roman" pitchFamily="18" charset="0"/>
                <a:sym typeface="Wingdings 3" pitchFamily="18" charset="2"/>
              </a:rPr>
              <a:t>i</a:t>
            </a:r>
            <a:endParaRPr kumimoji="1" lang="en-US" altLang="zh-CN" sz="3000" b="1" i="1" dirty="0">
              <a:solidFill>
                <a:srgbClr val="3333FF"/>
              </a:solidFill>
              <a:latin typeface="Tahoma" pitchFamily="34" charset="0"/>
              <a:sym typeface="Wingdings 3" pitchFamily="18" charset="2"/>
            </a:endParaRPr>
          </a:p>
          <a:p>
            <a:pPr marL="914400" lvl="1" indent="-457200" algn="just" eaLnBrk="0" hangingPunct="0">
              <a:spcBef>
                <a:spcPts val="1200"/>
              </a:spcBef>
            </a:pPr>
            <a:r>
              <a:rPr kumimoji="1" lang="en-US" altLang="zh-CN" sz="2400" dirty="0">
                <a:solidFill>
                  <a:srgbClr val="000000"/>
                </a:solidFill>
                <a:latin typeface="Times New Roman" pitchFamily="18" charset="0"/>
                <a:sym typeface="Wingdings 3" pitchFamily="18" charset="2"/>
              </a:rPr>
              <a:t>——</a:t>
            </a:r>
            <a:r>
              <a:rPr kumimoji="1" lang="zh-CN" altLang="en-US" sz="2800" b="1" dirty="0">
                <a:solidFill>
                  <a:srgbClr val="000000"/>
                </a:solidFill>
                <a:latin typeface="Tahoma" pitchFamily="34" charset="0"/>
                <a:sym typeface="Wingdings 3" pitchFamily="18" charset="2"/>
              </a:rPr>
              <a:t>常用</a:t>
            </a:r>
            <a:r>
              <a:rPr kumimoji="1" lang="zh-CN" altLang="en-US" sz="2800" b="1" dirty="0">
                <a:solidFill>
                  <a:srgbClr val="3333FF"/>
                </a:solidFill>
                <a:latin typeface="Tahoma" pitchFamily="34" charset="0"/>
                <a:sym typeface="Wingdings 3" pitchFamily="18" charset="2"/>
              </a:rPr>
              <a:t>移动平均值</a:t>
            </a:r>
            <a:r>
              <a:rPr kumimoji="1" lang="en-US" altLang="zh-CN" sz="2800" b="1" dirty="0">
                <a:solidFill>
                  <a:srgbClr val="3333FF"/>
                </a:solidFill>
                <a:latin typeface="Times New Roman" pitchFamily="18" charset="0"/>
                <a:cs typeface="Times New Roman" pitchFamily="18" charset="0"/>
                <a:sym typeface="Wingdings 3" pitchFamily="18" charset="2"/>
              </a:rPr>
              <a:t>M </a:t>
            </a:r>
            <a:r>
              <a:rPr kumimoji="1" lang="zh-CN" altLang="en-US" sz="2800" b="1" dirty="0" smtClean="0">
                <a:solidFill>
                  <a:srgbClr val="002060"/>
                </a:solidFill>
                <a:latin typeface="Tahoma" pitchFamily="34" charset="0"/>
                <a:sym typeface="Wingdings 3" pitchFamily="18" charset="2"/>
              </a:rPr>
              <a:t>作为</a:t>
            </a:r>
            <a:r>
              <a:rPr kumimoji="1" lang="en-US" altLang="zh-CN" sz="2800" b="1" dirty="0" smtClean="0">
                <a:solidFill>
                  <a:srgbClr val="002060"/>
                </a:solidFill>
                <a:latin typeface="Tahoma" pitchFamily="34" charset="0"/>
                <a:sym typeface="Wingdings 3" pitchFamily="18" charset="2"/>
              </a:rPr>
              <a:t> </a:t>
            </a:r>
            <a:r>
              <a:rPr kumimoji="1" lang="en-US" altLang="zh-CN" sz="2800" b="1" i="1" dirty="0" err="1" smtClean="0">
                <a:solidFill>
                  <a:srgbClr val="002060"/>
                </a:solidFill>
                <a:latin typeface="Tahoma" pitchFamily="34" charset="0"/>
                <a:sym typeface="Wingdings 3" pitchFamily="18" charset="2"/>
              </a:rPr>
              <a:t>T</a:t>
            </a:r>
            <a:r>
              <a:rPr kumimoji="1" lang="en-US" altLang="zh-CN" sz="2400" b="1" i="1" baseline="-25000" dirty="0" err="1" smtClean="0">
                <a:solidFill>
                  <a:srgbClr val="002060"/>
                </a:solidFill>
                <a:latin typeface="Times New Roman" pitchFamily="18" charset="0"/>
                <a:cs typeface="Times New Roman" pitchFamily="18" charset="0"/>
                <a:sym typeface="Wingdings 3" pitchFamily="18" charset="2"/>
              </a:rPr>
              <a:t>i</a:t>
            </a:r>
            <a:r>
              <a:rPr kumimoji="1" lang="en-US" altLang="zh-CN" sz="2400" b="1" i="1" baseline="-25000" dirty="0" smtClean="0">
                <a:solidFill>
                  <a:srgbClr val="002060"/>
                </a:solidFill>
                <a:latin typeface="Times New Roman" pitchFamily="18" charset="0"/>
                <a:cs typeface="Times New Roman" pitchFamily="18" charset="0"/>
                <a:sym typeface="Wingdings 3" pitchFamily="18" charset="2"/>
              </a:rPr>
              <a:t> </a:t>
            </a:r>
            <a:r>
              <a:rPr kumimoji="1" lang="zh-CN" altLang="en-US" sz="2800" b="1" dirty="0" smtClean="0">
                <a:solidFill>
                  <a:srgbClr val="002060"/>
                </a:solidFill>
                <a:latin typeface="Tahoma" pitchFamily="34" charset="0"/>
                <a:sym typeface="Wingdings 3" pitchFamily="18" charset="2"/>
              </a:rPr>
              <a:t>：</a:t>
            </a:r>
            <a:r>
              <a:rPr kumimoji="1" lang="en-US" altLang="zh-CN" sz="3200" b="1" i="1" dirty="0" err="1">
                <a:solidFill>
                  <a:srgbClr val="3333FF"/>
                </a:solidFill>
                <a:latin typeface="Tahoma" pitchFamily="34" charset="0"/>
                <a:sym typeface="Wingdings 3" pitchFamily="18" charset="2"/>
              </a:rPr>
              <a:t>T</a:t>
            </a:r>
            <a:r>
              <a:rPr kumimoji="1" lang="en-US" altLang="zh-CN" sz="2800" b="1" i="1" baseline="-25000" dirty="0" err="1">
                <a:solidFill>
                  <a:srgbClr val="3333FF"/>
                </a:solidFill>
                <a:latin typeface="Times New Roman" pitchFamily="18" charset="0"/>
                <a:cs typeface="Times New Roman" pitchFamily="18" charset="0"/>
                <a:sym typeface="Wingdings 3" pitchFamily="18" charset="2"/>
              </a:rPr>
              <a:t>i</a:t>
            </a:r>
            <a:r>
              <a:rPr kumimoji="1" lang="en-US" altLang="zh-CN" sz="2800" b="1" i="1" baseline="-25000" dirty="0">
                <a:solidFill>
                  <a:srgbClr val="3333FF"/>
                </a:solidFill>
                <a:latin typeface="Times New Roman" pitchFamily="18" charset="0"/>
                <a:cs typeface="Times New Roman" pitchFamily="18" charset="0"/>
                <a:sym typeface="Wingdings 3" pitchFamily="18" charset="2"/>
              </a:rPr>
              <a:t> </a:t>
            </a:r>
            <a:r>
              <a:rPr kumimoji="1" lang="en-US" altLang="zh-CN" sz="2800" b="1" dirty="0" smtClean="0">
                <a:solidFill>
                  <a:srgbClr val="000000"/>
                </a:solidFill>
                <a:latin typeface="Tahoma" pitchFamily="34" charset="0"/>
                <a:sym typeface="Wingdings 3" pitchFamily="18" charset="2"/>
              </a:rPr>
              <a:t>=</a:t>
            </a:r>
            <a:r>
              <a:rPr kumimoji="1" lang="en-US" altLang="zh-CN" sz="3200" b="1" i="1" dirty="0" err="1" smtClean="0">
                <a:solidFill>
                  <a:srgbClr val="3333FF"/>
                </a:solidFill>
                <a:latin typeface="Times New Roman" pitchFamily="18" charset="0"/>
                <a:cs typeface="Times New Roman" pitchFamily="18" charset="0"/>
                <a:sym typeface="Wingdings 3" pitchFamily="18" charset="2"/>
              </a:rPr>
              <a:t>M</a:t>
            </a:r>
            <a:r>
              <a:rPr kumimoji="1" lang="en-US" altLang="zh-CN" sz="3200" b="1" i="1" baseline="-25000" dirty="0" err="1" smtClean="0">
                <a:solidFill>
                  <a:srgbClr val="3333FF"/>
                </a:solidFill>
                <a:latin typeface="Times New Roman" pitchFamily="18" charset="0"/>
                <a:cs typeface="Times New Roman" pitchFamily="18" charset="0"/>
                <a:sym typeface="Wingdings 3" pitchFamily="18" charset="2"/>
              </a:rPr>
              <a:t>i</a:t>
            </a:r>
            <a:r>
              <a:rPr kumimoji="1" lang="zh-CN" altLang="en-US" sz="3200" b="1" dirty="0">
                <a:solidFill>
                  <a:srgbClr val="002060"/>
                </a:solidFill>
                <a:latin typeface="Times New Roman" pitchFamily="18" charset="0"/>
                <a:cs typeface="Times New Roman" pitchFamily="18" charset="0"/>
                <a:sym typeface="Wingdings 3" pitchFamily="18" charset="2"/>
              </a:rPr>
              <a:t> </a:t>
            </a:r>
            <a:endParaRPr kumimoji="1" lang="en-US" altLang="zh-CN" sz="2800" b="1" dirty="0" smtClean="0">
              <a:solidFill>
                <a:srgbClr val="002060"/>
              </a:solidFill>
              <a:latin typeface="Times New Roman" pitchFamily="18" charset="0"/>
              <a:cs typeface="Times New Roman" pitchFamily="18" charset="0"/>
              <a:sym typeface="Wingdings 3" pitchFamily="18" charset="2"/>
            </a:endParaRPr>
          </a:p>
          <a:p>
            <a:pPr marL="1371600" lvl="2" indent="-457200" algn="just" eaLnBrk="0" hangingPunct="0">
              <a:spcBef>
                <a:spcPts val="1200"/>
              </a:spcBef>
            </a:pPr>
            <a:r>
              <a:rPr kumimoji="1" lang="zh-CN" altLang="en-US" sz="2300" b="1" dirty="0" smtClean="0">
                <a:solidFill>
                  <a:srgbClr val="000000"/>
                </a:solidFill>
                <a:latin typeface="Tahoma" pitchFamily="34" charset="0"/>
                <a:sym typeface="Wingdings 3" pitchFamily="18" charset="2"/>
              </a:rPr>
              <a:t>（</a:t>
            </a:r>
            <a:r>
              <a:rPr kumimoji="1" lang="zh-CN" altLang="en-US" sz="2300" b="1" dirty="0">
                <a:solidFill>
                  <a:srgbClr val="000000"/>
                </a:solidFill>
                <a:latin typeface="Tahoma" pitchFamily="34" charset="0"/>
                <a:sym typeface="Wingdings 3" pitchFamily="18" charset="2"/>
              </a:rPr>
              <a:t>平均项数</a:t>
            </a:r>
            <a:r>
              <a:rPr kumimoji="1" lang="en-US" altLang="zh-CN" sz="2300" b="1" dirty="0">
                <a:solidFill>
                  <a:srgbClr val="000000"/>
                </a:solidFill>
                <a:latin typeface="Tahoma" pitchFamily="34" charset="0"/>
                <a:sym typeface="Wingdings 3" pitchFamily="18" charset="2"/>
              </a:rPr>
              <a:t>=</a:t>
            </a:r>
            <a:r>
              <a:rPr kumimoji="1" lang="zh-CN" altLang="en-US" sz="2300" b="1" dirty="0">
                <a:solidFill>
                  <a:srgbClr val="000000"/>
                </a:solidFill>
                <a:latin typeface="Tahoma" pitchFamily="34" charset="0"/>
                <a:sym typeface="Wingdings 3" pitchFamily="18" charset="2"/>
              </a:rPr>
              <a:t>季节变动的周期长度，平均值中不含</a:t>
            </a:r>
            <a:r>
              <a:rPr kumimoji="1" lang="en-US" altLang="zh-CN" sz="2300" b="1" dirty="0">
                <a:solidFill>
                  <a:srgbClr val="000000"/>
                </a:solidFill>
                <a:latin typeface="Tahoma" pitchFamily="34" charset="0"/>
                <a:sym typeface="Wingdings 3" pitchFamily="18" charset="2"/>
              </a:rPr>
              <a:t>S</a:t>
            </a:r>
            <a:r>
              <a:rPr kumimoji="1" lang="en-US" altLang="zh-CN" sz="2300" b="1" dirty="0">
                <a:solidFill>
                  <a:srgbClr val="000000"/>
                </a:solidFill>
                <a:latin typeface="Times New Roman" pitchFamily="18" charset="0"/>
                <a:cs typeface="Times New Roman" pitchFamily="18" charset="0"/>
                <a:sym typeface="Wingdings 3" pitchFamily="18" charset="2"/>
              </a:rPr>
              <a:t>,</a:t>
            </a:r>
            <a:r>
              <a:rPr kumimoji="1" lang="en-US" altLang="zh-CN" sz="2300" b="1" dirty="0">
                <a:solidFill>
                  <a:srgbClr val="000000"/>
                </a:solidFill>
                <a:latin typeface="Tahoma" pitchFamily="34" charset="0"/>
                <a:sym typeface="Wingdings 3" pitchFamily="18" charset="2"/>
              </a:rPr>
              <a:t>I</a:t>
            </a:r>
            <a:r>
              <a:rPr kumimoji="1" lang="zh-CN" altLang="en-US" sz="2300" b="1" dirty="0">
                <a:solidFill>
                  <a:srgbClr val="000000"/>
                </a:solidFill>
                <a:latin typeface="Tahoma" pitchFamily="34" charset="0"/>
                <a:sym typeface="Wingdings 3" pitchFamily="18" charset="2"/>
              </a:rPr>
              <a:t>）</a:t>
            </a:r>
          </a:p>
          <a:p>
            <a:pPr marL="914400" lvl="1" indent="-457200" algn="just" eaLnBrk="0" hangingPunct="0">
              <a:spcBef>
                <a:spcPts val="1200"/>
              </a:spcBef>
            </a:pPr>
            <a:r>
              <a:rPr kumimoji="1" lang="en-US" altLang="zh-CN" sz="2400" b="1" dirty="0">
                <a:solidFill>
                  <a:srgbClr val="000000"/>
                </a:solidFill>
                <a:latin typeface="Times New Roman" pitchFamily="18" charset="0"/>
                <a:sym typeface="Wingdings 3" pitchFamily="18" charset="2"/>
              </a:rPr>
              <a:t>——</a:t>
            </a:r>
            <a:r>
              <a:rPr kumimoji="1" lang="zh-CN" altLang="en-US" sz="2800" b="1" dirty="0">
                <a:solidFill>
                  <a:srgbClr val="000000"/>
                </a:solidFill>
                <a:latin typeface="Tahoma" pitchFamily="34" charset="0"/>
                <a:sym typeface="Wingdings 3" pitchFamily="18" charset="2"/>
              </a:rPr>
              <a:t>也</a:t>
            </a:r>
            <a:r>
              <a:rPr kumimoji="1" lang="zh-CN" altLang="en-US" sz="2800" b="1" dirty="0" smtClean="0">
                <a:solidFill>
                  <a:srgbClr val="000000"/>
                </a:solidFill>
                <a:latin typeface="Tahoma" pitchFamily="34" charset="0"/>
                <a:sym typeface="Wingdings 3" pitchFamily="18" charset="2"/>
              </a:rPr>
              <a:t>可用</a:t>
            </a:r>
            <a:r>
              <a:rPr kumimoji="1" lang="zh-CN" altLang="en-US" sz="2800" b="1" dirty="0">
                <a:solidFill>
                  <a:srgbClr val="002060"/>
                </a:solidFill>
                <a:latin typeface="Tahoma" pitchFamily="34" charset="0"/>
                <a:sym typeface="Wingdings 3" pitchFamily="18" charset="2"/>
              </a:rPr>
              <a:t>移动</a:t>
            </a:r>
            <a:r>
              <a:rPr kumimoji="1" lang="zh-CN" altLang="en-US" sz="2800" b="1" dirty="0" smtClean="0">
                <a:solidFill>
                  <a:srgbClr val="002060"/>
                </a:solidFill>
                <a:latin typeface="Tahoma" pitchFamily="34" charset="0"/>
                <a:sym typeface="Wingdings 3" pitchFamily="18" charset="2"/>
              </a:rPr>
              <a:t>平均法与方程</a:t>
            </a:r>
            <a:r>
              <a:rPr kumimoji="1" lang="zh-CN" altLang="en-US" sz="2800" b="1" dirty="0">
                <a:solidFill>
                  <a:srgbClr val="002060"/>
                </a:solidFill>
                <a:latin typeface="Tahoma" pitchFamily="34" charset="0"/>
                <a:sym typeface="Wingdings 3" pitchFamily="18" charset="2"/>
              </a:rPr>
              <a:t>拟合</a:t>
            </a:r>
            <a:r>
              <a:rPr kumimoji="1" lang="zh-CN" altLang="en-US" sz="2800" b="1" dirty="0" smtClean="0">
                <a:solidFill>
                  <a:srgbClr val="002060"/>
                </a:solidFill>
                <a:latin typeface="Tahoma" pitchFamily="34" charset="0"/>
                <a:sym typeface="Wingdings 3" pitchFamily="18" charset="2"/>
              </a:rPr>
              <a:t>法结合</a:t>
            </a:r>
            <a:r>
              <a:rPr kumimoji="1" lang="zh-CN" altLang="en-US" sz="2800" b="1" dirty="0" smtClean="0">
                <a:solidFill>
                  <a:srgbClr val="000000"/>
                </a:solidFill>
                <a:latin typeface="Tahoma" pitchFamily="34" charset="0"/>
                <a:sym typeface="Wingdings 3" pitchFamily="18" charset="2"/>
              </a:rPr>
              <a:t>计算</a:t>
            </a:r>
            <a:r>
              <a:rPr kumimoji="1" lang="zh-CN" altLang="en-US" sz="2800" b="1" dirty="0">
                <a:solidFill>
                  <a:srgbClr val="000000"/>
                </a:solidFill>
                <a:latin typeface="Tahoma" pitchFamily="34" charset="0"/>
                <a:sym typeface="Wingdings 3" pitchFamily="18" charset="2"/>
              </a:rPr>
              <a:t>长期趋势值</a:t>
            </a:r>
            <a:r>
              <a:rPr kumimoji="1" lang="zh-CN" altLang="en-US" sz="2400" b="1" dirty="0">
                <a:solidFill>
                  <a:srgbClr val="000000"/>
                </a:solidFill>
                <a:latin typeface="Tahoma" pitchFamily="34" charset="0"/>
                <a:sym typeface="Wingdings 3" pitchFamily="18" charset="2"/>
              </a:rPr>
              <a:t>。</a:t>
            </a:r>
            <a:endParaRPr kumimoji="1" lang="zh-CN" altLang="en-US" sz="3000" b="1" dirty="0">
              <a:solidFill>
                <a:srgbClr val="000000"/>
              </a:solidFill>
              <a:latin typeface="Times New Roman" pitchFamily="18" charset="0"/>
              <a:sym typeface="Wingdings 3" pitchFamily="18" charset="2"/>
            </a:endParaRPr>
          </a:p>
        </p:txBody>
      </p:sp>
      <p:sp>
        <p:nvSpPr>
          <p:cNvPr id="139269" name="日期占位符 4"/>
          <p:cNvSpPr>
            <a:spLocks noGrp="1"/>
          </p:cNvSpPr>
          <p:nvPr>
            <p:ph type="dt" sz="quarter" idx="10"/>
          </p:nvPr>
        </p:nvSpPr>
        <p:spPr>
          <a:noFill/>
        </p:spPr>
        <p:txBody>
          <a:bodyPr/>
          <a:lstStyle/>
          <a:p>
            <a:endParaRPr lang="en-US" altLang="zh-CN" smtClean="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8547">
                                            <p:txEl>
                                              <p:pRg st="2" end="2"/>
                                            </p:txEl>
                                          </p:spTgt>
                                        </p:tgtEl>
                                        <p:attrNameLst>
                                          <p:attrName>style.visibility</p:attrName>
                                        </p:attrNameLst>
                                      </p:cBhvr>
                                      <p:to>
                                        <p:strVal val="visible"/>
                                      </p:to>
                                    </p:set>
                                    <p:animEffect transition="in" filter="wipe(left)">
                                      <p:cBhvr>
                                        <p:cTn id="7" dur="500"/>
                                        <p:tgtEl>
                                          <p:spTgt spid="108547">
                                            <p:txEl>
                                              <p:pRg st="2" end="2"/>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8547">
                                            <p:txEl>
                                              <p:pRg st="3" end="3"/>
                                            </p:txEl>
                                          </p:spTgt>
                                        </p:tgtEl>
                                        <p:attrNameLst>
                                          <p:attrName>style.visibility</p:attrName>
                                        </p:attrNameLst>
                                      </p:cBhvr>
                                      <p:to>
                                        <p:strVal val="visible"/>
                                      </p:to>
                                    </p:set>
                                    <p:animEffect transition="in" filter="wipe(left)">
                                      <p:cBhvr>
                                        <p:cTn id="11" dur="500"/>
                                        <p:tgtEl>
                                          <p:spTgt spid="108547">
                                            <p:txEl>
                                              <p:pRg st="3" end="3"/>
                                            </p:txEl>
                                          </p:spTgt>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8547">
                                            <p:txEl>
                                              <p:pRg st="4" end="4"/>
                                            </p:txEl>
                                          </p:spTgt>
                                        </p:tgtEl>
                                        <p:attrNameLst>
                                          <p:attrName>style.visibility</p:attrName>
                                        </p:attrNameLst>
                                      </p:cBhvr>
                                      <p:to>
                                        <p:strVal val="visible"/>
                                      </p:to>
                                    </p:set>
                                    <p:animEffect transition="in" filter="wipe(left)">
                                      <p:cBhvr>
                                        <p:cTn id="14" dur="500"/>
                                        <p:tgtEl>
                                          <p:spTgt spid="108547">
                                            <p:txEl>
                                              <p:pRg st="4" end="4"/>
                                            </p:txEl>
                                          </p:spTgt>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108547">
                                            <p:txEl>
                                              <p:pRg st="5" end="5"/>
                                            </p:txEl>
                                          </p:spTgt>
                                        </p:tgtEl>
                                        <p:attrNameLst>
                                          <p:attrName>style.visibility</p:attrName>
                                        </p:attrNameLst>
                                      </p:cBhvr>
                                      <p:to>
                                        <p:strVal val="visible"/>
                                      </p:to>
                                    </p:set>
                                    <p:animEffect transition="in" filter="wipe(left)">
                                      <p:cBhvr>
                                        <p:cTn id="17" dur="500"/>
                                        <p:tgtEl>
                                          <p:spTgt spid="108547">
                                            <p:txEl>
                                              <p:pRg st="5" end="5"/>
                                            </p:txEl>
                                          </p:spTgt>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108547">
                                            <p:txEl>
                                              <p:pRg st="6" end="6"/>
                                            </p:txEl>
                                          </p:spTgt>
                                        </p:tgtEl>
                                        <p:attrNameLst>
                                          <p:attrName>style.visibility</p:attrName>
                                        </p:attrNameLst>
                                      </p:cBhvr>
                                      <p:to>
                                        <p:strVal val="visible"/>
                                      </p:to>
                                    </p:set>
                                    <p:animEffect transition="in" filter="wipe(left)">
                                      <p:cBhvr>
                                        <p:cTn id="20" dur="500"/>
                                        <p:tgtEl>
                                          <p:spTgt spid="10854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7" grpId="0" uiExpand="1" build="p" autoUpdateAnimBg="0"/>
    </p:bldLst>
  </p:timing>
</p:sld>
</file>

<file path=ppt/slides/slide1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0291" name="Rectangle 2"/>
          <p:cNvSpPr>
            <a:spLocks noGrp="1" noChangeArrowheads="1"/>
          </p:cNvSpPr>
          <p:nvPr>
            <p:ph type="title"/>
          </p:nvPr>
        </p:nvSpPr>
        <p:spPr/>
        <p:txBody>
          <a:bodyPr/>
          <a:lstStyle/>
          <a:p>
            <a:pPr eaLnBrk="1" hangingPunct="1"/>
            <a:r>
              <a:rPr lang="zh-CN" altLang="en-US" dirty="0" smtClean="0"/>
              <a:t>趋势剔除法（续）</a:t>
            </a:r>
          </a:p>
        </p:txBody>
      </p:sp>
      <p:sp>
        <p:nvSpPr>
          <p:cNvPr id="110595" name="Rectangle 3"/>
          <p:cNvSpPr>
            <a:spLocks noGrp="1" noChangeArrowheads="1"/>
          </p:cNvSpPr>
          <p:nvPr>
            <p:ph type="body" idx="1"/>
          </p:nvPr>
        </p:nvSpPr>
        <p:spPr>
          <a:xfrm>
            <a:off x="323528" y="1268413"/>
            <a:ext cx="8459788" cy="5099050"/>
          </a:xfrm>
        </p:spPr>
        <p:txBody>
          <a:bodyPr/>
          <a:lstStyle/>
          <a:p>
            <a:pPr marL="363538" indent="-363538" algn="just" eaLnBrk="1" hangingPunct="1">
              <a:lnSpc>
                <a:spcPct val="110000"/>
              </a:lnSpc>
              <a:spcBef>
                <a:spcPts val="1200"/>
              </a:spcBef>
            </a:pPr>
            <a:r>
              <a:rPr lang="zh-CN" altLang="en-US" sz="3100" dirty="0" smtClean="0">
                <a:solidFill>
                  <a:srgbClr val="000000"/>
                </a:solidFill>
                <a:sym typeface="Wingdings 3" pitchFamily="18" charset="2"/>
              </a:rPr>
              <a:t>从原数列中剔除趋势值，得季节变动和不规则变动相对数</a:t>
            </a:r>
            <a:r>
              <a:rPr lang="en-US" altLang="zh-CN" sz="3100" dirty="0" smtClean="0">
                <a:solidFill>
                  <a:srgbClr val="000000"/>
                </a:solidFill>
                <a:latin typeface="Times New Roman" pitchFamily="18" charset="0"/>
                <a:sym typeface="Wingdings 3" pitchFamily="18" charset="2"/>
              </a:rPr>
              <a:t>——</a:t>
            </a:r>
            <a:r>
              <a:rPr kumimoji="1" lang="en-US" altLang="zh-CN" sz="2800" dirty="0" smtClean="0">
                <a:solidFill>
                  <a:srgbClr val="000000"/>
                </a:solidFill>
                <a:sym typeface="Wingdings 3" pitchFamily="18" charset="2"/>
              </a:rPr>
              <a:t> </a:t>
            </a:r>
            <a:r>
              <a:rPr kumimoji="1" lang="en-US" altLang="zh-CN" sz="2800" dirty="0" smtClean="0">
                <a:solidFill>
                  <a:srgbClr val="3333FF"/>
                </a:solidFill>
                <a:latin typeface="Times New Roman" panose="02020603050405020304" pitchFamily="18" charset="0"/>
                <a:cs typeface="Times New Roman" panose="02020603050405020304" pitchFamily="18" charset="0"/>
                <a:sym typeface="Wingdings 3" pitchFamily="18" charset="2"/>
              </a:rPr>
              <a:t>Y</a:t>
            </a:r>
            <a:r>
              <a:rPr kumimoji="1" lang="en-US" altLang="zh-CN" sz="2800" i="1" baseline="-25000" dirty="0" smtClean="0">
                <a:solidFill>
                  <a:srgbClr val="3333FF"/>
                </a:solidFill>
                <a:latin typeface="Times New Roman" pitchFamily="18" charset="0"/>
                <a:cs typeface="Times New Roman" pitchFamily="18" charset="0"/>
                <a:sym typeface="Wingdings 3" pitchFamily="18" charset="2"/>
              </a:rPr>
              <a:t>i</a:t>
            </a:r>
            <a:r>
              <a:rPr lang="en-US" altLang="zh-CN" sz="2800" dirty="0" smtClean="0">
                <a:solidFill>
                  <a:srgbClr val="3333FF"/>
                </a:solidFill>
                <a:latin typeface="Times New Roman" panose="02020603050405020304" pitchFamily="18" charset="0"/>
                <a:cs typeface="Times New Roman" panose="02020603050405020304" pitchFamily="18" charset="0"/>
                <a:sym typeface="Wingdings 3" pitchFamily="18" charset="2"/>
              </a:rPr>
              <a:t>/</a:t>
            </a:r>
            <a:r>
              <a:rPr kumimoji="1" lang="en-US" altLang="zh-CN" sz="2800" dirty="0" err="1" smtClean="0">
                <a:solidFill>
                  <a:srgbClr val="3333FF"/>
                </a:solidFill>
                <a:latin typeface="Times New Roman" panose="02020603050405020304" pitchFamily="18" charset="0"/>
                <a:cs typeface="Times New Roman" panose="02020603050405020304" pitchFamily="18" charset="0"/>
                <a:sym typeface="Wingdings 3" pitchFamily="18" charset="2"/>
              </a:rPr>
              <a:t>M</a:t>
            </a:r>
            <a:r>
              <a:rPr kumimoji="1" lang="en-US" altLang="zh-CN" sz="2800" i="1" baseline="-25000" dirty="0" err="1" smtClean="0">
                <a:solidFill>
                  <a:srgbClr val="3333FF"/>
                </a:solidFill>
                <a:latin typeface="Times New Roman" pitchFamily="18" charset="0"/>
                <a:cs typeface="Times New Roman" pitchFamily="18" charset="0"/>
                <a:sym typeface="Wingdings 3" pitchFamily="18" charset="2"/>
              </a:rPr>
              <a:t>i</a:t>
            </a:r>
            <a:r>
              <a:rPr kumimoji="1" lang="en-US" altLang="zh-CN" sz="2800" dirty="0" smtClean="0">
                <a:solidFill>
                  <a:srgbClr val="3333FF"/>
                </a:solidFill>
                <a:latin typeface="Times New Roman" panose="02020603050405020304" pitchFamily="18" charset="0"/>
                <a:cs typeface="Times New Roman" panose="02020603050405020304" pitchFamily="18" charset="0"/>
                <a:sym typeface="Wingdings 3" pitchFamily="18" charset="2"/>
              </a:rPr>
              <a:t>=Y</a:t>
            </a:r>
            <a:r>
              <a:rPr kumimoji="1" lang="en-US" altLang="zh-CN" sz="2800" i="1" baseline="-25000" dirty="0" smtClean="0">
                <a:solidFill>
                  <a:srgbClr val="3333FF"/>
                </a:solidFill>
                <a:latin typeface="Times New Roman" pitchFamily="18" charset="0"/>
                <a:cs typeface="Times New Roman" pitchFamily="18" charset="0"/>
                <a:sym typeface="Wingdings 3" pitchFamily="18" charset="2"/>
              </a:rPr>
              <a:t>i</a:t>
            </a:r>
            <a:r>
              <a:rPr lang="en-US" altLang="zh-CN" sz="2800" dirty="0" smtClean="0">
                <a:solidFill>
                  <a:srgbClr val="3333FF"/>
                </a:solidFill>
                <a:latin typeface="Times New Roman" panose="02020603050405020304" pitchFamily="18" charset="0"/>
                <a:cs typeface="Times New Roman" panose="02020603050405020304" pitchFamily="18" charset="0"/>
                <a:sym typeface="Wingdings 3" pitchFamily="18" charset="2"/>
              </a:rPr>
              <a:t>/</a:t>
            </a:r>
            <a:r>
              <a:rPr kumimoji="1" lang="en-US" altLang="zh-CN" sz="2800" dirty="0" err="1" smtClean="0">
                <a:solidFill>
                  <a:srgbClr val="3333FF"/>
                </a:solidFill>
                <a:latin typeface="Times New Roman" panose="02020603050405020304" pitchFamily="18" charset="0"/>
                <a:cs typeface="Times New Roman" panose="02020603050405020304" pitchFamily="18" charset="0"/>
                <a:sym typeface="Wingdings 3" pitchFamily="18" charset="2"/>
              </a:rPr>
              <a:t>T</a:t>
            </a:r>
            <a:r>
              <a:rPr kumimoji="1" lang="en-US" altLang="zh-CN" sz="2800" i="1" baseline="-25000" dirty="0" err="1" smtClean="0">
                <a:solidFill>
                  <a:srgbClr val="3333FF"/>
                </a:solidFill>
                <a:latin typeface="Times New Roman" pitchFamily="18" charset="0"/>
                <a:cs typeface="Times New Roman" pitchFamily="18" charset="0"/>
                <a:sym typeface="Wingdings 3" pitchFamily="18" charset="2"/>
              </a:rPr>
              <a:t>i</a:t>
            </a:r>
            <a:r>
              <a:rPr kumimoji="1" lang="en-US" altLang="zh-CN" sz="2800" dirty="0" smtClean="0">
                <a:solidFill>
                  <a:srgbClr val="3333FF"/>
                </a:solidFill>
                <a:latin typeface="Times New Roman" panose="02020603050405020304" pitchFamily="18" charset="0"/>
                <a:cs typeface="Times New Roman" panose="02020603050405020304" pitchFamily="18" charset="0"/>
                <a:sym typeface="Wingdings 3" pitchFamily="18" charset="2"/>
              </a:rPr>
              <a:t>=S</a:t>
            </a:r>
            <a:r>
              <a:rPr kumimoji="1" lang="en-US" altLang="zh-CN" sz="2800" i="1" baseline="-25000" dirty="0" smtClean="0">
                <a:solidFill>
                  <a:srgbClr val="3333FF"/>
                </a:solidFill>
                <a:latin typeface="Times New Roman" pitchFamily="18" charset="0"/>
                <a:cs typeface="Times New Roman" pitchFamily="18" charset="0"/>
                <a:sym typeface="Wingdings 3" pitchFamily="18" charset="2"/>
              </a:rPr>
              <a:t>i </a:t>
            </a:r>
            <a:r>
              <a:rPr kumimoji="1" lang="en-US" altLang="zh-CN" sz="2800" dirty="0" smtClean="0">
                <a:solidFill>
                  <a:srgbClr val="3333FF"/>
                </a:solidFill>
                <a:latin typeface="Times New Roman" panose="02020603050405020304" pitchFamily="18" charset="0"/>
                <a:cs typeface="Times New Roman" panose="02020603050405020304" pitchFamily="18" charset="0"/>
                <a:sym typeface="Wingdings 3" pitchFamily="18" charset="2"/>
              </a:rPr>
              <a:t>I</a:t>
            </a:r>
            <a:r>
              <a:rPr kumimoji="1" lang="en-US" altLang="zh-CN" sz="2800" i="1" baseline="-25000" dirty="0" smtClean="0">
                <a:solidFill>
                  <a:srgbClr val="3333FF"/>
                </a:solidFill>
                <a:latin typeface="Times New Roman" pitchFamily="18" charset="0"/>
                <a:cs typeface="Times New Roman" pitchFamily="18" charset="0"/>
                <a:sym typeface="Wingdings 3" pitchFamily="18" charset="2"/>
              </a:rPr>
              <a:t>i </a:t>
            </a:r>
            <a:endParaRPr lang="en-US" altLang="zh-CN" sz="3100" dirty="0" smtClean="0">
              <a:solidFill>
                <a:srgbClr val="3333FF"/>
              </a:solidFill>
              <a:latin typeface="Times New Roman" panose="02020603050405020304" pitchFamily="18" charset="0"/>
              <a:cs typeface="Times New Roman" panose="02020603050405020304" pitchFamily="18" charset="0"/>
              <a:sym typeface="Wingdings 3" pitchFamily="18" charset="2"/>
            </a:endParaRPr>
          </a:p>
          <a:p>
            <a:pPr marL="363538" indent="-363538" algn="just" eaLnBrk="1" hangingPunct="1">
              <a:lnSpc>
                <a:spcPct val="110000"/>
              </a:lnSpc>
              <a:spcBef>
                <a:spcPts val="1200"/>
              </a:spcBef>
            </a:pPr>
            <a:r>
              <a:rPr lang="zh-CN" altLang="en-US" sz="3100" dirty="0" smtClean="0">
                <a:solidFill>
                  <a:srgbClr val="000000"/>
                </a:solidFill>
                <a:sym typeface="Wingdings 3" pitchFamily="18" charset="2"/>
              </a:rPr>
              <a:t>消除不规则变动</a:t>
            </a:r>
            <a:r>
              <a:rPr lang="en-US" altLang="zh-CN" sz="3100" dirty="0" smtClean="0">
                <a:solidFill>
                  <a:srgbClr val="000000"/>
                </a:solidFill>
                <a:sym typeface="Wingdings 3" pitchFamily="18" charset="2"/>
              </a:rPr>
              <a:t>I</a:t>
            </a:r>
            <a:r>
              <a:rPr kumimoji="1" lang="en-US" altLang="zh-CN" sz="2800" i="1" baseline="-25000" dirty="0" smtClean="0">
                <a:solidFill>
                  <a:srgbClr val="000000"/>
                </a:solidFill>
                <a:latin typeface="Times New Roman" pitchFamily="18" charset="0"/>
                <a:cs typeface="Times New Roman" pitchFamily="18" charset="0"/>
                <a:sym typeface="Wingdings 3" pitchFamily="18" charset="2"/>
              </a:rPr>
              <a:t>i</a:t>
            </a:r>
            <a:r>
              <a:rPr lang="zh-CN" altLang="en-US" sz="3100" dirty="0" smtClean="0">
                <a:solidFill>
                  <a:srgbClr val="000000"/>
                </a:solidFill>
                <a:sym typeface="Wingdings 3" pitchFamily="18" charset="2"/>
              </a:rPr>
              <a:t>，</a:t>
            </a:r>
            <a:r>
              <a:rPr lang="zh-CN" altLang="en-US" sz="3100" dirty="0" smtClean="0">
                <a:solidFill>
                  <a:srgbClr val="000000"/>
                </a:solidFill>
                <a:sym typeface="Wingdings 3" pitchFamily="18" charset="2"/>
              </a:rPr>
              <a:t>得季节</a:t>
            </a:r>
            <a:r>
              <a:rPr lang="zh-CN" altLang="en-US" sz="3100" dirty="0" smtClean="0">
                <a:solidFill>
                  <a:srgbClr val="000000"/>
                </a:solidFill>
                <a:sym typeface="Wingdings 3" pitchFamily="18" charset="2"/>
              </a:rPr>
              <a:t>比率</a:t>
            </a:r>
            <a:r>
              <a:rPr lang="en-US" altLang="zh-CN" sz="3100" dirty="0" smtClean="0">
                <a:solidFill>
                  <a:srgbClr val="000000"/>
                </a:solidFill>
                <a:sym typeface="Wingdings 3" pitchFamily="18" charset="2"/>
              </a:rPr>
              <a:t>S</a:t>
            </a:r>
            <a:r>
              <a:rPr kumimoji="1" lang="en-US" altLang="zh-CN" sz="2800" i="1" baseline="-25000" dirty="0" smtClean="0">
                <a:solidFill>
                  <a:srgbClr val="000000"/>
                </a:solidFill>
                <a:latin typeface="Times New Roman" pitchFamily="18" charset="0"/>
                <a:cs typeface="Times New Roman" pitchFamily="18" charset="0"/>
                <a:sym typeface="Wingdings 3" pitchFamily="18" charset="2"/>
              </a:rPr>
              <a:t>i</a:t>
            </a:r>
            <a:r>
              <a:rPr lang="en-US" altLang="zh-CN" sz="2400" b="0" dirty="0">
                <a:solidFill>
                  <a:srgbClr val="000000"/>
                </a:solidFill>
                <a:latin typeface="+mn-ea"/>
                <a:sym typeface="Wingdings 3" pitchFamily="18" charset="2"/>
              </a:rPr>
              <a:t>(</a:t>
            </a:r>
            <a:r>
              <a:rPr lang="zh-CN" altLang="en-US" sz="2400" b="0" dirty="0">
                <a:solidFill>
                  <a:srgbClr val="000000"/>
                </a:solidFill>
                <a:latin typeface="+mn-ea"/>
                <a:sym typeface="Wingdings 3" pitchFamily="18" charset="2"/>
              </a:rPr>
              <a:t>调整前的</a:t>
            </a:r>
            <a:r>
              <a:rPr lang="en-US" altLang="zh-CN" sz="2400" b="0" dirty="0">
                <a:solidFill>
                  <a:srgbClr val="000000"/>
                </a:solidFill>
                <a:latin typeface="+mn-ea"/>
                <a:sym typeface="Wingdings 3" pitchFamily="18" charset="2"/>
              </a:rPr>
              <a:t>)</a:t>
            </a:r>
            <a:endParaRPr lang="en-US" altLang="zh-CN" sz="3100" b="0" dirty="0" smtClean="0">
              <a:solidFill>
                <a:srgbClr val="000000"/>
              </a:solidFill>
              <a:latin typeface="+mn-ea"/>
              <a:sym typeface="Wingdings 3" pitchFamily="18" charset="2"/>
            </a:endParaRPr>
          </a:p>
          <a:p>
            <a:pPr marL="363538" lvl="1" indent="-363538" algn="just" eaLnBrk="1" hangingPunct="1">
              <a:lnSpc>
                <a:spcPct val="110000"/>
              </a:lnSpc>
              <a:spcBef>
                <a:spcPts val="1200"/>
              </a:spcBef>
              <a:buNone/>
            </a:pPr>
            <a:r>
              <a:rPr lang="en-US" altLang="zh-CN" dirty="0" smtClean="0">
                <a:sym typeface="Wingdings 3" pitchFamily="18" charset="2"/>
              </a:rPr>
              <a:t>    </a:t>
            </a:r>
            <a:r>
              <a:rPr lang="en-US" altLang="zh-CN" sz="2400" b="0" dirty="0">
                <a:solidFill>
                  <a:srgbClr val="3333FF"/>
                </a:solidFill>
                <a:latin typeface="+mn-ea"/>
                <a:sym typeface="Wingdings 3" pitchFamily="18" charset="2"/>
              </a:rPr>
              <a:t>(</a:t>
            </a:r>
            <a:r>
              <a:rPr lang="zh-CN" altLang="en-US" sz="2400" b="0" dirty="0">
                <a:solidFill>
                  <a:srgbClr val="3333FF"/>
                </a:solidFill>
                <a:latin typeface="+mn-ea"/>
                <a:sym typeface="Wingdings 3" pitchFamily="18" charset="2"/>
              </a:rPr>
              <a:t>调整前的</a:t>
            </a:r>
            <a:r>
              <a:rPr lang="en-US" altLang="zh-CN" sz="2400" b="0" dirty="0" smtClean="0">
                <a:solidFill>
                  <a:srgbClr val="3333FF"/>
                </a:solidFill>
                <a:latin typeface="+mn-ea"/>
                <a:sym typeface="Wingdings 3" pitchFamily="18" charset="2"/>
              </a:rPr>
              <a:t>)</a:t>
            </a:r>
            <a:r>
              <a:rPr lang="en-US" altLang="zh-CN" dirty="0" smtClean="0">
                <a:solidFill>
                  <a:srgbClr val="3333FF"/>
                </a:solidFill>
                <a:sym typeface="Wingdings 3" pitchFamily="18" charset="2"/>
              </a:rPr>
              <a:t>S</a:t>
            </a:r>
            <a:r>
              <a:rPr kumimoji="1" lang="en-US" altLang="zh-CN" i="1" baseline="-25000" dirty="0" smtClean="0">
                <a:solidFill>
                  <a:srgbClr val="3333FF"/>
                </a:solidFill>
                <a:latin typeface="Times New Roman" pitchFamily="18" charset="0"/>
                <a:cs typeface="Times New Roman" pitchFamily="18" charset="0"/>
                <a:sym typeface="Wingdings 3" pitchFamily="18" charset="2"/>
              </a:rPr>
              <a:t>i</a:t>
            </a:r>
            <a:r>
              <a:rPr lang="en-US" altLang="zh-CN" dirty="0" smtClean="0">
                <a:solidFill>
                  <a:srgbClr val="3333FF"/>
                </a:solidFill>
                <a:sym typeface="Wingdings 3" pitchFamily="18" charset="2"/>
              </a:rPr>
              <a:t>=</a:t>
            </a:r>
            <a:r>
              <a:rPr lang="zh-CN" altLang="en-US" sz="2500" dirty="0" smtClean="0">
                <a:solidFill>
                  <a:srgbClr val="3333FF"/>
                </a:solidFill>
                <a:sym typeface="Wingdings 3" pitchFamily="18" charset="2"/>
              </a:rPr>
              <a:t>各年同期的（</a:t>
            </a:r>
            <a:r>
              <a:rPr lang="en-US" altLang="zh-CN" sz="2500" dirty="0" err="1" smtClean="0">
                <a:solidFill>
                  <a:srgbClr val="3333FF"/>
                </a:solidFill>
                <a:sym typeface="Wingdings 3" pitchFamily="18" charset="2"/>
              </a:rPr>
              <a:t>S</a:t>
            </a:r>
            <a:r>
              <a:rPr kumimoji="1" lang="en-US" altLang="zh-CN" sz="2400" i="1" baseline="-25000" dirty="0" err="1" smtClean="0">
                <a:solidFill>
                  <a:srgbClr val="3333FF"/>
                </a:solidFill>
                <a:latin typeface="Times New Roman" pitchFamily="18" charset="0"/>
                <a:cs typeface="Times New Roman" pitchFamily="18" charset="0"/>
                <a:sym typeface="Wingdings 3" pitchFamily="18" charset="2"/>
              </a:rPr>
              <a:t>i</a:t>
            </a:r>
            <a:r>
              <a:rPr lang="en-US" altLang="zh-CN" sz="2500" dirty="0" err="1" smtClean="0">
                <a:solidFill>
                  <a:srgbClr val="3333FF"/>
                </a:solidFill>
                <a:sym typeface="Wingdings 3" pitchFamily="18" charset="2"/>
              </a:rPr>
              <a:t>I</a:t>
            </a:r>
            <a:r>
              <a:rPr kumimoji="1" lang="en-US" altLang="zh-CN" sz="2400" i="1" baseline="-25000" dirty="0" err="1" smtClean="0">
                <a:solidFill>
                  <a:srgbClr val="3333FF"/>
                </a:solidFill>
                <a:latin typeface="Times New Roman" pitchFamily="18" charset="0"/>
                <a:cs typeface="Times New Roman" pitchFamily="18" charset="0"/>
                <a:sym typeface="Wingdings 3" pitchFamily="18" charset="2"/>
              </a:rPr>
              <a:t>i</a:t>
            </a:r>
            <a:r>
              <a:rPr lang="zh-CN" altLang="en-US" sz="2500" dirty="0" smtClean="0">
                <a:solidFill>
                  <a:srgbClr val="3333FF"/>
                </a:solidFill>
                <a:sym typeface="Wingdings 3" pitchFamily="18" charset="2"/>
              </a:rPr>
              <a:t>）的</a:t>
            </a:r>
            <a:r>
              <a:rPr lang="zh-CN" altLang="en-US" sz="2500" dirty="0" smtClean="0">
                <a:solidFill>
                  <a:srgbClr val="3333FF"/>
                </a:solidFill>
                <a:sym typeface="Wingdings 3" pitchFamily="18" charset="2"/>
              </a:rPr>
              <a:t>平均</a:t>
            </a:r>
            <a:endParaRPr lang="zh-CN" altLang="en-US" sz="2500" dirty="0" smtClean="0">
              <a:sym typeface="Wingdings 3" pitchFamily="18" charset="2"/>
            </a:endParaRPr>
          </a:p>
          <a:p>
            <a:pPr marL="363538" indent="-363538" algn="just" eaLnBrk="1" hangingPunct="1">
              <a:lnSpc>
                <a:spcPct val="110000"/>
              </a:lnSpc>
              <a:spcBef>
                <a:spcPts val="1200"/>
              </a:spcBef>
            </a:pPr>
            <a:r>
              <a:rPr lang="zh-CN" altLang="en-US" sz="3100" dirty="0" smtClean="0">
                <a:solidFill>
                  <a:srgbClr val="000000"/>
                </a:solidFill>
                <a:sym typeface="Wingdings 3" pitchFamily="18" charset="2"/>
              </a:rPr>
              <a:t>调整</a:t>
            </a:r>
            <a:r>
              <a:rPr lang="zh-CN" altLang="en-US" sz="3100" dirty="0" smtClean="0">
                <a:solidFill>
                  <a:srgbClr val="000000"/>
                </a:solidFill>
                <a:sym typeface="Wingdings 3" pitchFamily="18" charset="2"/>
              </a:rPr>
              <a:t>季节比率，即对季节比率进行归一化处理</a:t>
            </a:r>
            <a:endParaRPr lang="zh-CN" altLang="en-US" sz="3100" dirty="0" smtClean="0">
              <a:solidFill>
                <a:srgbClr val="000000"/>
              </a:solidFill>
              <a:sym typeface="Wingdings 3" pitchFamily="18" charset="2"/>
            </a:endParaRPr>
          </a:p>
          <a:p>
            <a:pPr marL="363538" lvl="1" indent="347663" algn="just" eaLnBrk="1" hangingPunct="1">
              <a:lnSpc>
                <a:spcPct val="110000"/>
              </a:lnSpc>
              <a:spcBef>
                <a:spcPts val="1200"/>
              </a:spcBef>
              <a:buClr>
                <a:schemeClr val="bg2"/>
              </a:buClr>
              <a:buSzPct val="70000"/>
              <a:buNone/>
            </a:pPr>
            <a:r>
              <a:rPr lang="zh-CN" altLang="en-US" sz="2600" dirty="0" smtClean="0">
                <a:sym typeface="Wingdings 3" pitchFamily="18" charset="2"/>
              </a:rPr>
              <a:t>调整</a:t>
            </a:r>
            <a:r>
              <a:rPr lang="zh-CN" altLang="en-US" sz="2600" dirty="0" smtClean="0">
                <a:sym typeface="Wingdings 3" pitchFamily="18" charset="2"/>
              </a:rPr>
              <a:t>系数</a:t>
            </a:r>
            <a:r>
              <a:rPr lang="en-US" altLang="zh-CN" sz="2600" dirty="0" smtClean="0">
                <a:sym typeface="Wingdings 3" pitchFamily="18" charset="2"/>
              </a:rPr>
              <a:t>=1</a:t>
            </a:r>
            <a:r>
              <a:rPr lang="en-US" altLang="zh-CN" sz="2600" dirty="0" smtClean="0">
                <a:sym typeface="Wingdings 3" pitchFamily="18" charset="2"/>
              </a:rPr>
              <a:t>/</a:t>
            </a:r>
            <a:r>
              <a:rPr lang="zh-CN" altLang="en-US" b="0" dirty="0" smtClean="0">
                <a:latin typeface="+mn-ea"/>
                <a:sym typeface="Wingdings 3" pitchFamily="18" charset="2"/>
              </a:rPr>
              <a:t>调整前</a:t>
            </a:r>
            <a:r>
              <a:rPr lang="zh-CN" altLang="en-US" sz="2600" dirty="0" smtClean="0">
                <a:sym typeface="Wingdings 3" pitchFamily="18" charset="2"/>
              </a:rPr>
              <a:t>季节比率的</a:t>
            </a:r>
            <a:r>
              <a:rPr lang="zh-CN" altLang="en-US" sz="2600" dirty="0" smtClean="0">
                <a:sym typeface="Wingdings 3" pitchFamily="18" charset="2"/>
              </a:rPr>
              <a:t>平均数</a:t>
            </a:r>
            <a:endParaRPr lang="en-US" altLang="zh-CN" sz="2600" dirty="0" smtClean="0">
              <a:sym typeface="Wingdings 3" pitchFamily="18" charset="2"/>
            </a:endParaRPr>
          </a:p>
          <a:p>
            <a:pPr marL="363538" lvl="1" indent="347663" algn="just" eaLnBrk="1" hangingPunct="1">
              <a:lnSpc>
                <a:spcPct val="110000"/>
              </a:lnSpc>
              <a:spcBef>
                <a:spcPts val="1200"/>
              </a:spcBef>
              <a:buClr>
                <a:schemeClr val="bg2"/>
              </a:buClr>
              <a:buSzPct val="70000"/>
              <a:buNone/>
            </a:pPr>
            <a:r>
              <a:rPr lang="zh-CN" altLang="en-US" dirty="0">
                <a:solidFill>
                  <a:srgbClr val="3333FF"/>
                </a:solidFill>
                <a:sym typeface="Wingdings 3" pitchFamily="18" charset="2"/>
              </a:rPr>
              <a:t>调整后的季节</a:t>
            </a:r>
            <a:r>
              <a:rPr lang="zh-CN" altLang="en-US" dirty="0" smtClean="0">
                <a:solidFill>
                  <a:srgbClr val="3333FF"/>
                </a:solidFill>
                <a:sym typeface="Wingdings 3" pitchFamily="18" charset="2"/>
              </a:rPr>
              <a:t>比率</a:t>
            </a:r>
            <a:r>
              <a:rPr lang="en-US" altLang="zh-CN" dirty="0" smtClean="0">
                <a:solidFill>
                  <a:srgbClr val="3333FF"/>
                </a:solidFill>
                <a:sym typeface="Wingdings 3" pitchFamily="18" charset="2"/>
              </a:rPr>
              <a:t>=</a:t>
            </a:r>
            <a:r>
              <a:rPr lang="zh-CN" altLang="en-US" sz="2400" b="0" dirty="0">
                <a:latin typeface="+mn-ea"/>
                <a:sym typeface="Wingdings 3" pitchFamily="18" charset="2"/>
              </a:rPr>
              <a:t>调整前的</a:t>
            </a:r>
            <a:r>
              <a:rPr lang="zh-CN" altLang="en-US" sz="2600" dirty="0">
                <a:sym typeface="Wingdings 3" pitchFamily="18" charset="2"/>
              </a:rPr>
              <a:t>季节</a:t>
            </a:r>
            <a:r>
              <a:rPr lang="zh-CN" altLang="en-US" sz="2600" dirty="0" smtClean="0">
                <a:sym typeface="Wingdings 3" pitchFamily="18" charset="2"/>
              </a:rPr>
              <a:t>比率</a:t>
            </a:r>
            <a:r>
              <a:rPr lang="en-US" altLang="zh-CN" sz="2600" dirty="0" smtClean="0">
                <a:sym typeface="Wingdings 3" pitchFamily="18" charset="2"/>
              </a:rPr>
              <a:t>×</a:t>
            </a:r>
            <a:r>
              <a:rPr lang="zh-CN" altLang="en-US" sz="2600" dirty="0">
                <a:sym typeface="Wingdings 3" pitchFamily="18" charset="2"/>
              </a:rPr>
              <a:t>调整</a:t>
            </a:r>
            <a:r>
              <a:rPr lang="zh-CN" altLang="en-US" sz="2600" dirty="0" smtClean="0">
                <a:sym typeface="Wingdings 3" pitchFamily="18" charset="2"/>
              </a:rPr>
              <a:t>系数</a:t>
            </a:r>
            <a:endParaRPr lang="zh-CN" altLang="en-US" sz="2600" dirty="0" smtClean="0">
              <a:latin typeface="Times New Roman" pitchFamily="18" charset="0"/>
              <a:sym typeface="Wingdings 3" pitchFamily="18" charset="2"/>
            </a:endParaRPr>
          </a:p>
          <a:p>
            <a:pPr marL="0" indent="0" eaLnBrk="1" hangingPunct="1">
              <a:lnSpc>
                <a:spcPct val="110000"/>
              </a:lnSpc>
              <a:spcBef>
                <a:spcPts val="1200"/>
              </a:spcBef>
              <a:buNone/>
            </a:pPr>
            <a:r>
              <a:rPr lang="en-US" altLang="zh-CN" sz="3100" dirty="0" smtClean="0">
                <a:solidFill>
                  <a:srgbClr val="002060"/>
                </a:solidFill>
                <a:sym typeface="Wingdings 3" pitchFamily="18" charset="2"/>
              </a:rPr>
              <a:t>【</a:t>
            </a:r>
            <a:r>
              <a:rPr lang="zh-CN" altLang="en-US" sz="3100" dirty="0" smtClean="0">
                <a:solidFill>
                  <a:srgbClr val="002060"/>
                </a:solidFill>
                <a:sym typeface="Wingdings 3" pitchFamily="18" charset="2"/>
              </a:rPr>
              <a:t>思考</a:t>
            </a:r>
            <a:r>
              <a:rPr lang="en-US" altLang="zh-CN" sz="3100" dirty="0" smtClean="0">
                <a:solidFill>
                  <a:srgbClr val="002060"/>
                </a:solidFill>
                <a:sym typeface="Wingdings 3" pitchFamily="18" charset="2"/>
              </a:rPr>
              <a:t>】</a:t>
            </a:r>
            <a:r>
              <a:rPr lang="zh-CN" altLang="en-US" sz="3100" dirty="0" smtClean="0">
                <a:solidFill>
                  <a:srgbClr val="002060"/>
                </a:solidFill>
                <a:sym typeface="Wingdings 3" pitchFamily="18" charset="2"/>
              </a:rPr>
              <a:t>为什么通常</a:t>
            </a:r>
            <a:r>
              <a:rPr lang="zh-CN" altLang="en-US" sz="3100" dirty="0" smtClean="0">
                <a:solidFill>
                  <a:srgbClr val="002060"/>
                </a:solidFill>
                <a:sym typeface="Wingdings 3" pitchFamily="18" charset="2"/>
              </a:rPr>
              <a:t>需要调整？</a:t>
            </a:r>
          </a:p>
        </p:txBody>
      </p:sp>
      <p:sp>
        <p:nvSpPr>
          <p:cNvPr id="140293" name="日期占位符 4"/>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0595">
                                            <p:txEl>
                                              <p:pRg st="1" end="1"/>
                                            </p:txEl>
                                          </p:spTgt>
                                        </p:tgtEl>
                                        <p:attrNameLst>
                                          <p:attrName>style.visibility</p:attrName>
                                        </p:attrNameLst>
                                      </p:cBhvr>
                                      <p:to>
                                        <p:strVal val="visible"/>
                                      </p:to>
                                    </p:set>
                                    <p:anim calcmode="lin" valueType="num">
                                      <p:cBhvr additive="base">
                                        <p:cTn id="7" dur="500" fill="hold"/>
                                        <p:tgtEl>
                                          <p:spTgt spid="110595">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0595">
                                            <p:txEl>
                                              <p:pRg st="1" end="1"/>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10595">
                                            <p:txEl>
                                              <p:pRg st="2" end="2"/>
                                            </p:txEl>
                                          </p:spTgt>
                                        </p:tgtEl>
                                        <p:attrNameLst>
                                          <p:attrName>style.visibility</p:attrName>
                                        </p:attrNameLst>
                                      </p:cBhvr>
                                      <p:to>
                                        <p:strVal val="visible"/>
                                      </p:to>
                                    </p:set>
                                    <p:anim calcmode="lin" valueType="num">
                                      <p:cBhvr additive="base">
                                        <p:cTn id="11" dur="500" fill="hold"/>
                                        <p:tgtEl>
                                          <p:spTgt spid="110595">
                                            <p:txEl>
                                              <p:pRg st="2" end="2"/>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1059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10595">
                                            <p:txEl>
                                              <p:pRg st="3" end="3"/>
                                            </p:txEl>
                                          </p:spTgt>
                                        </p:tgtEl>
                                        <p:attrNameLst>
                                          <p:attrName>style.visibility</p:attrName>
                                        </p:attrNameLst>
                                      </p:cBhvr>
                                      <p:to>
                                        <p:strVal val="visible"/>
                                      </p:to>
                                    </p:set>
                                    <p:anim calcmode="lin" valueType="num">
                                      <p:cBhvr additive="base">
                                        <p:cTn id="17" dur="500" fill="hold"/>
                                        <p:tgtEl>
                                          <p:spTgt spid="110595">
                                            <p:txEl>
                                              <p:pRg st="3" end="3"/>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10595">
                                            <p:txEl>
                                              <p:pRg st="3" end="3"/>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110595">
                                            <p:txEl>
                                              <p:pRg st="4" end="4"/>
                                            </p:txEl>
                                          </p:spTgt>
                                        </p:tgtEl>
                                        <p:attrNameLst>
                                          <p:attrName>style.visibility</p:attrName>
                                        </p:attrNameLst>
                                      </p:cBhvr>
                                      <p:to>
                                        <p:strVal val="visible"/>
                                      </p:to>
                                    </p:set>
                                    <p:anim calcmode="lin" valueType="num">
                                      <p:cBhvr additive="base">
                                        <p:cTn id="21" dur="500" fill="hold"/>
                                        <p:tgtEl>
                                          <p:spTgt spid="110595">
                                            <p:txEl>
                                              <p:pRg st="4" end="4"/>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110595">
                                            <p:txEl>
                                              <p:pRg st="4" end="4"/>
                                            </p:tx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110595">
                                            <p:txEl>
                                              <p:pRg st="5" end="5"/>
                                            </p:txEl>
                                          </p:spTgt>
                                        </p:tgtEl>
                                        <p:attrNameLst>
                                          <p:attrName>style.visibility</p:attrName>
                                        </p:attrNameLst>
                                      </p:cBhvr>
                                      <p:to>
                                        <p:strVal val="visible"/>
                                      </p:to>
                                    </p:set>
                                    <p:anim calcmode="lin" valueType="num">
                                      <p:cBhvr additive="base">
                                        <p:cTn id="25" dur="500" fill="hold"/>
                                        <p:tgtEl>
                                          <p:spTgt spid="110595">
                                            <p:txEl>
                                              <p:pRg st="5" end="5"/>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1059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10595">
                                            <p:txEl>
                                              <p:pRg st="6" end="6"/>
                                            </p:txEl>
                                          </p:spTgt>
                                        </p:tgtEl>
                                        <p:attrNameLst>
                                          <p:attrName>style.visibility</p:attrName>
                                        </p:attrNameLst>
                                      </p:cBhvr>
                                      <p:to>
                                        <p:strVal val="visible"/>
                                      </p:to>
                                    </p:set>
                                    <p:anim calcmode="lin" valueType="num">
                                      <p:cBhvr additive="base">
                                        <p:cTn id="31" dur="500" fill="hold"/>
                                        <p:tgtEl>
                                          <p:spTgt spid="110595">
                                            <p:txEl>
                                              <p:pRg st="6" end="6"/>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10595">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5" grpId="0" uiExpand="1" build="p" autoUpdateAnimBg="0"/>
    </p:bldLst>
  </p:timing>
</p:sld>
</file>

<file path=ppt/slides/slide1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1315" name="Rectangle 2"/>
          <p:cNvSpPr>
            <a:spLocks noGrp="1" noChangeArrowheads="1"/>
          </p:cNvSpPr>
          <p:nvPr>
            <p:ph type="title"/>
          </p:nvPr>
        </p:nvSpPr>
        <p:spPr/>
        <p:txBody>
          <a:bodyPr/>
          <a:lstStyle/>
          <a:p>
            <a:pPr eaLnBrk="1" hangingPunct="1"/>
            <a:r>
              <a:rPr lang="zh-CN" altLang="en-US" sz="4000" dirty="0" smtClean="0"/>
              <a:t>趋势</a:t>
            </a:r>
            <a:r>
              <a:rPr lang="en-US" altLang="zh-CN" sz="4000" dirty="0" smtClean="0"/>
              <a:t>_</a:t>
            </a:r>
            <a:r>
              <a:rPr lang="zh-CN" altLang="en-US" sz="4000" dirty="0" smtClean="0"/>
              <a:t>循环剔除法</a:t>
            </a:r>
          </a:p>
        </p:txBody>
      </p:sp>
      <p:sp>
        <p:nvSpPr>
          <p:cNvPr id="111619" name="Rectangle 3"/>
          <p:cNvSpPr>
            <a:spLocks noGrp="1" noChangeArrowheads="1"/>
          </p:cNvSpPr>
          <p:nvPr>
            <p:ph type="body" idx="1"/>
          </p:nvPr>
        </p:nvSpPr>
        <p:spPr>
          <a:xfrm>
            <a:off x="500063" y="1285875"/>
            <a:ext cx="8286750" cy="5143500"/>
          </a:xfrm>
        </p:spPr>
        <p:txBody>
          <a:bodyPr/>
          <a:lstStyle/>
          <a:p>
            <a:pPr marL="571500" indent="-571500" algn="just" eaLnBrk="1" hangingPunct="1">
              <a:lnSpc>
                <a:spcPct val="90000"/>
              </a:lnSpc>
              <a:spcBef>
                <a:spcPts val="1800"/>
              </a:spcBef>
              <a:defRPr/>
            </a:pPr>
            <a:r>
              <a:rPr lang="zh-CN" altLang="en-US" sz="2600" dirty="0" smtClean="0">
                <a:solidFill>
                  <a:srgbClr val="000000"/>
                </a:solidFill>
                <a:latin typeface="Times New Roman" pitchFamily="18" charset="0"/>
                <a:sym typeface="Wingdings 3" pitchFamily="18" charset="2"/>
              </a:rPr>
              <a:t>假定</a:t>
            </a:r>
            <a:r>
              <a:rPr lang="zh-CN" altLang="en-US" sz="2600" b="0" dirty="0" smtClean="0">
                <a:solidFill>
                  <a:srgbClr val="000000"/>
                </a:solidFill>
                <a:latin typeface="Times New Roman" pitchFamily="18" charset="0"/>
                <a:sym typeface="Wingdings 3" pitchFamily="18" charset="2"/>
              </a:rPr>
              <a:t>：</a:t>
            </a:r>
            <a:r>
              <a:rPr kumimoji="1" lang="en-US" altLang="zh-CN" sz="2800" dirty="0" smtClean="0">
                <a:solidFill>
                  <a:srgbClr val="000000"/>
                </a:solidFill>
                <a:sym typeface="Wingdings 3" pitchFamily="18" charset="2"/>
              </a:rPr>
              <a:t> </a:t>
            </a:r>
            <a:r>
              <a:rPr kumimoji="1" lang="en-US" altLang="zh-CN" sz="2800" dirty="0" smtClean="0">
                <a:solidFill>
                  <a:srgbClr val="3333FF"/>
                </a:solidFill>
                <a:sym typeface="Wingdings 3" pitchFamily="18" charset="2"/>
              </a:rPr>
              <a:t>Y</a:t>
            </a:r>
            <a:r>
              <a:rPr kumimoji="1" lang="en-US" altLang="zh-CN" sz="2800" i="1" baseline="-25000" dirty="0" smtClean="0">
                <a:solidFill>
                  <a:srgbClr val="3333FF"/>
                </a:solidFill>
                <a:latin typeface="Times New Roman" pitchFamily="18" charset="0"/>
                <a:cs typeface="Times New Roman" pitchFamily="18" charset="0"/>
                <a:sym typeface="Wingdings 3" pitchFamily="18" charset="2"/>
              </a:rPr>
              <a:t>i</a:t>
            </a:r>
            <a:r>
              <a:rPr kumimoji="1" lang="en-US" altLang="zh-CN" sz="2800" dirty="0" smtClean="0">
                <a:solidFill>
                  <a:srgbClr val="3333FF"/>
                </a:solidFill>
                <a:sym typeface="Wingdings 3" pitchFamily="18" charset="2"/>
              </a:rPr>
              <a:t>=T</a:t>
            </a:r>
            <a:r>
              <a:rPr kumimoji="1" lang="en-US" altLang="zh-CN" sz="2800" i="1" baseline="-25000" dirty="0" smtClean="0">
                <a:solidFill>
                  <a:srgbClr val="3333FF"/>
                </a:solidFill>
                <a:latin typeface="Times New Roman" pitchFamily="18" charset="0"/>
                <a:cs typeface="Times New Roman" pitchFamily="18" charset="0"/>
                <a:sym typeface="Wingdings 3" pitchFamily="18" charset="2"/>
              </a:rPr>
              <a:t>i </a:t>
            </a:r>
            <a:r>
              <a:rPr kumimoji="1" lang="en-US" altLang="zh-CN" sz="2800" dirty="0" smtClean="0">
                <a:solidFill>
                  <a:srgbClr val="3333FF"/>
                </a:solidFill>
                <a:sym typeface="Wingdings 3" pitchFamily="18" charset="2"/>
              </a:rPr>
              <a:t>S</a:t>
            </a:r>
            <a:r>
              <a:rPr kumimoji="1" lang="en-US" altLang="zh-CN" sz="2800" i="1" baseline="-25000" dirty="0" smtClean="0">
                <a:solidFill>
                  <a:srgbClr val="3333FF"/>
                </a:solidFill>
                <a:latin typeface="Times New Roman" pitchFamily="18" charset="0"/>
                <a:cs typeface="Times New Roman" pitchFamily="18" charset="0"/>
                <a:sym typeface="Wingdings 3" pitchFamily="18" charset="2"/>
              </a:rPr>
              <a:t>i </a:t>
            </a:r>
            <a:r>
              <a:rPr kumimoji="1" lang="en-US" altLang="zh-CN" sz="2800" dirty="0" err="1" smtClean="0">
                <a:solidFill>
                  <a:srgbClr val="3333FF"/>
                </a:solidFill>
                <a:sym typeface="Wingdings 3" pitchFamily="18" charset="2"/>
              </a:rPr>
              <a:t>C</a:t>
            </a:r>
            <a:r>
              <a:rPr kumimoji="1" lang="en-US" altLang="zh-CN" sz="2800" i="1" baseline="-25000" dirty="0" err="1" smtClean="0">
                <a:solidFill>
                  <a:srgbClr val="3333FF"/>
                </a:solidFill>
                <a:latin typeface="Times New Roman" pitchFamily="18" charset="0"/>
                <a:cs typeface="Times New Roman" pitchFamily="18" charset="0"/>
                <a:sym typeface="Wingdings 3" pitchFamily="18" charset="2"/>
              </a:rPr>
              <a:t>i</a:t>
            </a:r>
            <a:r>
              <a:rPr kumimoji="1" lang="en-US" altLang="zh-CN" sz="2800" i="1" baseline="-25000" dirty="0" smtClean="0">
                <a:solidFill>
                  <a:srgbClr val="3333FF"/>
                </a:solidFill>
                <a:latin typeface="Times New Roman" pitchFamily="18" charset="0"/>
                <a:cs typeface="Times New Roman" pitchFamily="18" charset="0"/>
                <a:sym typeface="Wingdings 3" pitchFamily="18" charset="2"/>
              </a:rPr>
              <a:t> </a:t>
            </a:r>
            <a:r>
              <a:rPr kumimoji="1" lang="en-US" altLang="zh-CN" sz="2800" dirty="0" smtClean="0">
                <a:solidFill>
                  <a:srgbClr val="3333FF"/>
                </a:solidFill>
                <a:sym typeface="Wingdings 3" pitchFamily="18" charset="2"/>
              </a:rPr>
              <a:t>I</a:t>
            </a:r>
            <a:r>
              <a:rPr kumimoji="1" lang="en-US" altLang="zh-CN" sz="2800" i="1" baseline="-25000" dirty="0" smtClean="0">
                <a:solidFill>
                  <a:srgbClr val="3333FF"/>
                </a:solidFill>
                <a:latin typeface="Times New Roman" pitchFamily="18" charset="0"/>
                <a:cs typeface="Times New Roman" pitchFamily="18" charset="0"/>
                <a:sym typeface="Wingdings 3" pitchFamily="18" charset="2"/>
              </a:rPr>
              <a:t>i</a:t>
            </a:r>
            <a:endParaRPr lang="en-US" altLang="zh-CN" sz="2600" b="0" dirty="0" smtClean="0">
              <a:solidFill>
                <a:srgbClr val="000000"/>
              </a:solidFill>
              <a:sym typeface="Wingdings 3" pitchFamily="18" charset="2"/>
            </a:endParaRPr>
          </a:p>
          <a:p>
            <a:pPr marL="571500" indent="-571500" eaLnBrk="1" hangingPunct="1">
              <a:lnSpc>
                <a:spcPct val="90000"/>
              </a:lnSpc>
              <a:spcBef>
                <a:spcPts val="1800"/>
              </a:spcBef>
              <a:defRPr/>
            </a:pPr>
            <a:r>
              <a:rPr lang="zh-CN" altLang="en-US" sz="2800" dirty="0" smtClean="0">
                <a:solidFill>
                  <a:srgbClr val="000000"/>
                </a:solidFill>
                <a:sym typeface="Wingdings 3" pitchFamily="18" charset="2"/>
              </a:rPr>
              <a:t>计算趋势</a:t>
            </a:r>
            <a:r>
              <a:rPr lang="en-US" altLang="zh-CN" sz="2800" dirty="0" smtClean="0">
                <a:solidFill>
                  <a:srgbClr val="000000"/>
                </a:solidFill>
                <a:sym typeface="Wingdings 3" pitchFamily="18" charset="2"/>
              </a:rPr>
              <a:t>-</a:t>
            </a:r>
            <a:r>
              <a:rPr lang="zh-CN" altLang="en-US" sz="2800" dirty="0" smtClean="0">
                <a:solidFill>
                  <a:srgbClr val="000000"/>
                </a:solidFill>
                <a:sym typeface="Wingdings 3" pitchFamily="18" charset="2"/>
              </a:rPr>
              <a:t>循环值（</a:t>
            </a:r>
            <a:r>
              <a:rPr kumimoji="1" lang="en-US" altLang="zh-CN" sz="2800" dirty="0" smtClean="0">
                <a:solidFill>
                  <a:srgbClr val="000000"/>
                </a:solidFill>
                <a:sym typeface="Wingdings 3" pitchFamily="18" charset="2"/>
              </a:rPr>
              <a:t>T</a:t>
            </a:r>
            <a:r>
              <a:rPr kumimoji="1" lang="en-US" altLang="zh-CN" sz="2800" i="1" baseline="-25000" dirty="0" smtClean="0">
                <a:solidFill>
                  <a:srgbClr val="000000"/>
                </a:solidFill>
                <a:latin typeface="Times New Roman" pitchFamily="18" charset="0"/>
                <a:cs typeface="Times New Roman" pitchFamily="18" charset="0"/>
                <a:sym typeface="Wingdings 3" pitchFamily="18" charset="2"/>
              </a:rPr>
              <a:t>i </a:t>
            </a:r>
            <a:r>
              <a:rPr kumimoji="1" lang="en-US" altLang="zh-CN" sz="2800" dirty="0" smtClean="0">
                <a:solidFill>
                  <a:srgbClr val="000000"/>
                </a:solidFill>
                <a:sym typeface="Wingdings 3" pitchFamily="18" charset="2"/>
              </a:rPr>
              <a:t>C</a:t>
            </a:r>
            <a:r>
              <a:rPr kumimoji="1" lang="en-US" altLang="zh-CN" sz="2800" i="1" baseline="-25000" dirty="0" smtClean="0">
                <a:solidFill>
                  <a:srgbClr val="000000"/>
                </a:solidFill>
                <a:latin typeface="Times New Roman" pitchFamily="18" charset="0"/>
                <a:cs typeface="Times New Roman" pitchFamily="18" charset="0"/>
                <a:sym typeface="Wingdings 3" pitchFamily="18" charset="2"/>
              </a:rPr>
              <a:t>i </a:t>
            </a:r>
            <a:r>
              <a:rPr lang="zh-CN" altLang="en-US" sz="2800" dirty="0" smtClean="0">
                <a:solidFill>
                  <a:srgbClr val="000000"/>
                </a:solidFill>
                <a:sym typeface="Wingdings 3" pitchFamily="18" charset="2"/>
              </a:rPr>
              <a:t>）：</a:t>
            </a:r>
            <a:r>
              <a:rPr kumimoji="1" lang="en-US" altLang="zh-CN" sz="2800" dirty="0" err="1" smtClean="0">
                <a:solidFill>
                  <a:srgbClr val="3333FF"/>
                </a:solidFill>
                <a:latin typeface="Times New Roman" panose="02020603050405020304" pitchFamily="18" charset="0"/>
                <a:cs typeface="Times New Roman" panose="02020603050405020304" pitchFamily="18" charset="0"/>
                <a:sym typeface="Wingdings 3" pitchFamily="18" charset="2"/>
              </a:rPr>
              <a:t>M</a:t>
            </a:r>
            <a:r>
              <a:rPr kumimoji="1" lang="en-US" altLang="zh-CN" sz="2800" i="1" baseline="-25000" dirty="0" err="1" smtClean="0">
                <a:solidFill>
                  <a:srgbClr val="3333FF"/>
                </a:solidFill>
                <a:latin typeface="Times New Roman" pitchFamily="18" charset="0"/>
                <a:cs typeface="Times New Roman" pitchFamily="18" charset="0"/>
                <a:sym typeface="Wingdings 3" pitchFamily="18" charset="2"/>
              </a:rPr>
              <a:t>i</a:t>
            </a:r>
            <a:r>
              <a:rPr kumimoji="1" lang="en-US" altLang="zh-CN" sz="2800" dirty="0" smtClean="0">
                <a:solidFill>
                  <a:srgbClr val="3333FF"/>
                </a:solidFill>
                <a:latin typeface="Times New Roman" panose="02020603050405020304" pitchFamily="18" charset="0"/>
                <a:cs typeface="Times New Roman" panose="02020603050405020304" pitchFamily="18" charset="0"/>
                <a:sym typeface="Wingdings 3" pitchFamily="18" charset="2"/>
              </a:rPr>
              <a:t>=</a:t>
            </a:r>
            <a:r>
              <a:rPr kumimoji="1" lang="en-US" altLang="zh-CN" sz="2800" dirty="0" err="1" smtClean="0">
                <a:solidFill>
                  <a:srgbClr val="3333FF"/>
                </a:solidFill>
                <a:latin typeface="Times New Roman" panose="02020603050405020304" pitchFamily="18" charset="0"/>
                <a:cs typeface="Times New Roman" panose="02020603050405020304" pitchFamily="18" charset="0"/>
                <a:sym typeface="Wingdings 3" pitchFamily="18" charset="2"/>
              </a:rPr>
              <a:t>T</a:t>
            </a:r>
            <a:r>
              <a:rPr kumimoji="1" lang="en-US" altLang="zh-CN" sz="2800" i="1" baseline="-25000" dirty="0" err="1" smtClean="0">
                <a:solidFill>
                  <a:srgbClr val="3333FF"/>
                </a:solidFill>
                <a:latin typeface="Times New Roman" pitchFamily="18" charset="0"/>
                <a:cs typeface="Times New Roman" pitchFamily="18" charset="0"/>
                <a:sym typeface="Wingdings 3" pitchFamily="18" charset="2"/>
              </a:rPr>
              <a:t>i</a:t>
            </a:r>
            <a:r>
              <a:rPr kumimoji="1" lang="en-US" altLang="zh-CN" sz="2800" i="1" baseline="-25000" dirty="0" smtClean="0">
                <a:solidFill>
                  <a:srgbClr val="3333FF"/>
                </a:solidFill>
                <a:latin typeface="Times New Roman" pitchFamily="18" charset="0"/>
                <a:cs typeface="Times New Roman" pitchFamily="18" charset="0"/>
                <a:sym typeface="Wingdings 3" pitchFamily="18" charset="2"/>
              </a:rPr>
              <a:t> </a:t>
            </a:r>
            <a:r>
              <a:rPr kumimoji="1" lang="en-US" altLang="zh-CN" sz="2800" dirty="0" smtClean="0">
                <a:solidFill>
                  <a:srgbClr val="3333FF"/>
                </a:solidFill>
                <a:latin typeface="Times New Roman" panose="02020603050405020304" pitchFamily="18" charset="0"/>
                <a:cs typeface="Times New Roman" panose="02020603050405020304" pitchFamily="18" charset="0"/>
                <a:sym typeface="Wingdings 3" pitchFamily="18" charset="2"/>
              </a:rPr>
              <a:t>C</a:t>
            </a:r>
            <a:r>
              <a:rPr kumimoji="1" lang="en-US" altLang="zh-CN" sz="2800" i="1" baseline="-25000" dirty="0" smtClean="0">
                <a:solidFill>
                  <a:srgbClr val="3333FF"/>
                </a:solidFill>
                <a:latin typeface="Times New Roman" pitchFamily="18" charset="0"/>
                <a:cs typeface="Times New Roman" pitchFamily="18" charset="0"/>
                <a:sym typeface="Wingdings 3" pitchFamily="18" charset="2"/>
              </a:rPr>
              <a:t>i</a:t>
            </a:r>
            <a:endParaRPr lang="zh-CN" altLang="en-US" sz="2800" dirty="0" smtClean="0">
              <a:solidFill>
                <a:srgbClr val="3333FF"/>
              </a:solidFill>
              <a:latin typeface="Times New Roman" panose="02020603050405020304" pitchFamily="18" charset="0"/>
              <a:cs typeface="Times New Roman" panose="02020603050405020304" pitchFamily="18" charset="0"/>
              <a:sym typeface="Wingdings 3" pitchFamily="18" charset="2"/>
            </a:endParaRPr>
          </a:p>
          <a:p>
            <a:pPr marL="971550" lvl="1" algn="just" eaLnBrk="1" hangingPunct="1">
              <a:lnSpc>
                <a:spcPct val="90000"/>
              </a:lnSpc>
              <a:spcBef>
                <a:spcPts val="1800"/>
              </a:spcBef>
              <a:defRPr/>
            </a:pPr>
            <a:r>
              <a:rPr lang="zh-CN" altLang="en-US" sz="2400" dirty="0" smtClean="0">
                <a:solidFill>
                  <a:srgbClr val="0070C0"/>
                </a:solidFill>
                <a:sym typeface="Wingdings 3" pitchFamily="18" charset="2"/>
              </a:rPr>
              <a:t>常用移动平均值</a:t>
            </a:r>
            <a:r>
              <a:rPr lang="en-US" altLang="zh-CN" sz="2400" dirty="0" smtClean="0">
                <a:solidFill>
                  <a:srgbClr val="0070C0"/>
                </a:solidFill>
                <a:sym typeface="Wingdings 3" pitchFamily="18" charset="2"/>
              </a:rPr>
              <a:t>M</a:t>
            </a:r>
            <a:r>
              <a:rPr lang="zh-CN" altLang="en-US" sz="2400" dirty="0" smtClean="0">
                <a:solidFill>
                  <a:srgbClr val="0070C0"/>
                </a:solidFill>
                <a:sym typeface="Wingdings 3" pitchFamily="18" charset="2"/>
              </a:rPr>
              <a:t>代表</a:t>
            </a:r>
            <a:r>
              <a:rPr lang="en-US" altLang="zh-CN" sz="2400" dirty="0" smtClean="0">
                <a:solidFill>
                  <a:srgbClr val="0070C0"/>
                </a:solidFill>
                <a:sym typeface="Wingdings 3" pitchFamily="18" charset="2"/>
              </a:rPr>
              <a:t>TC</a:t>
            </a:r>
            <a:r>
              <a:rPr lang="zh-CN" altLang="en-US" sz="2400" dirty="0" smtClean="0">
                <a:sym typeface="Wingdings 3" pitchFamily="18" charset="2"/>
              </a:rPr>
              <a:t>（平均项数</a:t>
            </a:r>
            <a:r>
              <a:rPr lang="en-US" altLang="zh-CN" sz="2400" dirty="0" smtClean="0">
                <a:sym typeface="Wingdings 3" pitchFamily="18" charset="2"/>
              </a:rPr>
              <a:t>K=</a:t>
            </a:r>
            <a:r>
              <a:rPr lang="zh-CN" altLang="en-US" sz="2400" dirty="0" smtClean="0">
                <a:sym typeface="Wingdings 3" pitchFamily="18" charset="2"/>
              </a:rPr>
              <a:t>季节周期长度，所以平均值中不含</a:t>
            </a:r>
            <a:r>
              <a:rPr lang="en-US" altLang="zh-CN" sz="2400" dirty="0" smtClean="0">
                <a:sym typeface="Wingdings 3" pitchFamily="18" charset="2"/>
              </a:rPr>
              <a:t>S</a:t>
            </a:r>
            <a:r>
              <a:rPr lang="zh-CN" altLang="en-US" sz="2400" dirty="0" smtClean="0">
                <a:sym typeface="Wingdings 3" pitchFamily="18" charset="2"/>
              </a:rPr>
              <a:t>、</a:t>
            </a:r>
            <a:r>
              <a:rPr lang="en-US" altLang="zh-CN" sz="2400" dirty="0" smtClean="0">
                <a:sym typeface="Wingdings 3" pitchFamily="18" charset="2"/>
              </a:rPr>
              <a:t>I</a:t>
            </a:r>
            <a:r>
              <a:rPr lang="zh-CN" altLang="en-US" sz="2400" dirty="0" smtClean="0">
                <a:sym typeface="Wingdings 3" pitchFamily="18" charset="2"/>
              </a:rPr>
              <a:t>，只含 </a:t>
            </a:r>
            <a:r>
              <a:rPr lang="en-US" altLang="zh-CN" sz="2400" dirty="0" smtClean="0">
                <a:sym typeface="Wingdings 3" pitchFamily="18" charset="2"/>
              </a:rPr>
              <a:t>TC </a:t>
            </a:r>
            <a:r>
              <a:rPr lang="zh-CN" altLang="en-US" sz="2400" dirty="0" smtClean="0">
                <a:sym typeface="Wingdings 3" pitchFamily="18" charset="2"/>
              </a:rPr>
              <a:t>）</a:t>
            </a:r>
          </a:p>
          <a:p>
            <a:pPr marL="571500" indent="-571500" algn="just" eaLnBrk="1" hangingPunct="1">
              <a:lnSpc>
                <a:spcPct val="90000"/>
              </a:lnSpc>
              <a:spcBef>
                <a:spcPts val="1800"/>
              </a:spcBef>
              <a:defRPr/>
            </a:pPr>
            <a:r>
              <a:rPr lang="zh-CN" altLang="en-US" sz="2600" dirty="0" smtClean="0">
                <a:solidFill>
                  <a:srgbClr val="000000"/>
                </a:solidFill>
                <a:sym typeface="Wingdings 3" pitchFamily="18" charset="2"/>
              </a:rPr>
              <a:t>从原数列中</a:t>
            </a:r>
            <a:r>
              <a:rPr lang="zh-CN" altLang="en-US" sz="2800" dirty="0" smtClean="0">
                <a:solidFill>
                  <a:srgbClr val="000000"/>
                </a:solidFill>
                <a:sym typeface="Wingdings 3" pitchFamily="18" charset="2"/>
              </a:rPr>
              <a:t>剔除趋势</a:t>
            </a:r>
            <a:r>
              <a:rPr lang="en-US" altLang="zh-CN" sz="2800" dirty="0" smtClean="0">
                <a:solidFill>
                  <a:srgbClr val="000000"/>
                </a:solidFill>
                <a:sym typeface="Wingdings 3" pitchFamily="18" charset="2"/>
              </a:rPr>
              <a:t>-</a:t>
            </a:r>
            <a:r>
              <a:rPr lang="zh-CN" altLang="en-US" sz="2800" dirty="0" smtClean="0">
                <a:solidFill>
                  <a:srgbClr val="000000"/>
                </a:solidFill>
                <a:sym typeface="Wingdings 3" pitchFamily="18" charset="2"/>
              </a:rPr>
              <a:t>循环值 </a:t>
            </a:r>
            <a:r>
              <a:rPr lang="en-US" altLang="zh-CN" sz="2800" dirty="0" smtClean="0">
                <a:solidFill>
                  <a:srgbClr val="000000"/>
                </a:solidFill>
                <a:sym typeface="Wingdings 3" pitchFamily="18" charset="2"/>
              </a:rPr>
              <a:t>TC</a:t>
            </a:r>
            <a:r>
              <a:rPr lang="zh-CN" altLang="en-US" sz="2600" dirty="0" smtClean="0">
                <a:solidFill>
                  <a:srgbClr val="000000"/>
                </a:solidFill>
                <a:sym typeface="Wingdings 3" pitchFamily="18" charset="2"/>
              </a:rPr>
              <a:t>，得季节变动和不规则变动相对数</a:t>
            </a:r>
            <a:r>
              <a:rPr lang="en-US" altLang="zh-CN" sz="2600" dirty="0" smtClean="0">
                <a:solidFill>
                  <a:srgbClr val="000000"/>
                </a:solidFill>
                <a:latin typeface="Times New Roman" pitchFamily="18" charset="0"/>
                <a:sym typeface="Wingdings 3" pitchFamily="18" charset="2"/>
              </a:rPr>
              <a:t>——</a:t>
            </a:r>
            <a:r>
              <a:rPr kumimoji="1" lang="en-US" altLang="zh-CN" sz="2400" dirty="0">
                <a:solidFill>
                  <a:srgbClr val="3333FF"/>
                </a:solidFill>
                <a:latin typeface="Times New Roman" panose="02020603050405020304" pitchFamily="18" charset="0"/>
                <a:cs typeface="Times New Roman" panose="02020603050405020304" pitchFamily="18" charset="0"/>
                <a:sym typeface="Wingdings 3" pitchFamily="18" charset="2"/>
              </a:rPr>
              <a:t>Y</a:t>
            </a:r>
            <a:r>
              <a:rPr kumimoji="1" lang="en-US" altLang="zh-CN" sz="2400" i="1" baseline="-25000" dirty="0">
                <a:solidFill>
                  <a:srgbClr val="3333FF"/>
                </a:solidFill>
                <a:latin typeface="Times New Roman" pitchFamily="18" charset="0"/>
                <a:cs typeface="Times New Roman" pitchFamily="18" charset="0"/>
                <a:sym typeface="Wingdings 3" pitchFamily="18" charset="2"/>
              </a:rPr>
              <a:t>i</a:t>
            </a:r>
            <a:r>
              <a:rPr lang="en-US" altLang="zh-CN" sz="2400" dirty="0">
                <a:solidFill>
                  <a:srgbClr val="3333FF"/>
                </a:solidFill>
                <a:latin typeface="Times New Roman" panose="02020603050405020304" pitchFamily="18" charset="0"/>
                <a:cs typeface="Times New Roman" panose="02020603050405020304" pitchFamily="18" charset="0"/>
                <a:sym typeface="Wingdings 3" pitchFamily="18" charset="2"/>
              </a:rPr>
              <a:t>/</a:t>
            </a:r>
            <a:r>
              <a:rPr kumimoji="1" lang="en-US" altLang="zh-CN" sz="2400" dirty="0" err="1">
                <a:solidFill>
                  <a:srgbClr val="3333FF"/>
                </a:solidFill>
                <a:latin typeface="Times New Roman" panose="02020603050405020304" pitchFamily="18" charset="0"/>
                <a:cs typeface="Times New Roman" panose="02020603050405020304" pitchFamily="18" charset="0"/>
                <a:sym typeface="Wingdings 3" pitchFamily="18" charset="2"/>
              </a:rPr>
              <a:t>M</a:t>
            </a:r>
            <a:r>
              <a:rPr kumimoji="1" lang="en-US" altLang="zh-CN" sz="2400" i="1" baseline="-25000" dirty="0" err="1">
                <a:solidFill>
                  <a:srgbClr val="3333FF"/>
                </a:solidFill>
                <a:latin typeface="Times New Roman" pitchFamily="18" charset="0"/>
                <a:cs typeface="Times New Roman" pitchFamily="18" charset="0"/>
                <a:sym typeface="Wingdings 3" pitchFamily="18" charset="2"/>
              </a:rPr>
              <a:t>i</a:t>
            </a:r>
            <a:r>
              <a:rPr lang="en-US" altLang="zh-CN" sz="2400" dirty="0">
                <a:solidFill>
                  <a:srgbClr val="3333FF"/>
                </a:solidFill>
                <a:sym typeface="Wingdings 3" pitchFamily="18" charset="2"/>
              </a:rPr>
              <a:t>=</a:t>
            </a:r>
            <a:r>
              <a:rPr kumimoji="1" lang="en-US" altLang="zh-CN" sz="2400" dirty="0" smtClean="0">
                <a:solidFill>
                  <a:srgbClr val="3333FF"/>
                </a:solidFill>
                <a:sym typeface="Wingdings 3" pitchFamily="18" charset="2"/>
              </a:rPr>
              <a:t>Y</a:t>
            </a:r>
            <a:r>
              <a:rPr kumimoji="1" lang="en-US" altLang="zh-CN" sz="2400" i="1" baseline="-25000" dirty="0" smtClean="0">
                <a:solidFill>
                  <a:srgbClr val="3333FF"/>
                </a:solidFill>
                <a:latin typeface="Times New Roman" pitchFamily="18" charset="0"/>
                <a:cs typeface="Times New Roman" pitchFamily="18" charset="0"/>
                <a:sym typeface="Wingdings 3" pitchFamily="18" charset="2"/>
              </a:rPr>
              <a:t>i</a:t>
            </a:r>
            <a:r>
              <a:rPr lang="en-US" altLang="zh-CN" sz="2400" dirty="0" smtClean="0">
                <a:solidFill>
                  <a:srgbClr val="3333FF"/>
                </a:solidFill>
                <a:sym typeface="Wingdings 3" pitchFamily="18" charset="2"/>
              </a:rPr>
              <a:t>/</a:t>
            </a:r>
            <a:r>
              <a:rPr lang="zh-CN" altLang="en-US" sz="2400" dirty="0" smtClean="0">
                <a:solidFill>
                  <a:srgbClr val="3333FF"/>
                </a:solidFill>
                <a:sym typeface="Wingdings 3" pitchFamily="18" charset="2"/>
              </a:rPr>
              <a:t>（</a:t>
            </a:r>
            <a:r>
              <a:rPr lang="en-US" altLang="zh-CN" sz="2400" dirty="0" smtClean="0">
                <a:solidFill>
                  <a:srgbClr val="3333FF"/>
                </a:solidFill>
                <a:sym typeface="Wingdings 3" pitchFamily="18" charset="2"/>
              </a:rPr>
              <a:t>T</a:t>
            </a:r>
            <a:r>
              <a:rPr kumimoji="1" lang="en-US" altLang="zh-CN" sz="2400" i="1" baseline="-25000" dirty="0" smtClean="0">
                <a:solidFill>
                  <a:srgbClr val="3333FF"/>
                </a:solidFill>
                <a:latin typeface="Times New Roman" pitchFamily="18" charset="0"/>
                <a:cs typeface="Times New Roman" pitchFamily="18" charset="0"/>
                <a:sym typeface="Wingdings 3" pitchFamily="18" charset="2"/>
              </a:rPr>
              <a:t>i  </a:t>
            </a:r>
            <a:r>
              <a:rPr kumimoji="1" lang="en-US" altLang="zh-CN" sz="2400" dirty="0" smtClean="0">
                <a:solidFill>
                  <a:srgbClr val="3333FF"/>
                </a:solidFill>
                <a:sym typeface="Wingdings 3" pitchFamily="18" charset="2"/>
              </a:rPr>
              <a:t>C</a:t>
            </a:r>
            <a:r>
              <a:rPr kumimoji="1" lang="en-US" altLang="zh-CN" sz="2400" i="1" baseline="-25000" dirty="0" smtClean="0">
                <a:solidFill>
                  <a:srgbClr val="3333FF"/>
                </a:solidFill>
                <a:latin typeface="Times New Roman" pitchFamily="18" charset="0"/>
                <a:cs typeface="Times New Roman" pitchFamily="18" charset="0"/>
                <a:sym typeface="Wingdings 3" pitchFamily="18" charset="2"/>
              </a:rPr>
              <a:t>i </a:t>
            </a:r>
            <a:r>
              <a:rPr lang="zh-CN" altLang="en-US" sz="2600" dirty="0" smtClean="0">
                <a:solidFill>
                  <a:srgbClr val="3333FF"/>
                </a:solidFill>
                <a:sym typeface="Wingdings 3" pitchFamily="18" charset="2"/>
              </a:rPr>
              <a:t>）</a:t>
            </a:r>
            <a:r>
              <a:rPr kumimoji="1" lang="en-US" altLang="zh-CN" sz="2800" dirty="0" smtClean="0">
                <a:solidFill>
                  <a:srgbClr val="3333FF"/>
                </a:solidFill>
                <a:latin typeface="Times New Roman" panose="02020603050405020304" pitchFamily="18" charset="0"/>
                <a:cs typeface="Times New Roman" panose="02020603050405020304" pitchFamily="18" charset="0"/>
                <a:sym typeface="Wingdings 3" pitchFamily="18" charset="2"/>
              </a:rPr>
              <a:t>=</a:t>
            </a:r>
            <a:r>
              <a:rPr lang="en-US" altLang="zh-CN" sz="2600" dirty="0" smtClean="0">
                <a:solidFill>
                  <a:srgbClr val="3333FF"/>
                </a:solidFill>
                <a:sym typeface="Wingdings 3" pitchFamily="18" charset="2"/>
              </a:rPr>
              <a:t>S.I</a:t>
            </a:r>
            <a:endParaRPr lang="en-US" altLang="zh-CN" sz="2600" dirty="0" smtClean="0">
              <a:solidFill>
                <a:srgbClr val="3333FF"/>
              </a:solidFill>
              <a:sym typeface="Wingdings 3" pitchFamily="18" charset="2"/>
            </a:endParaRPr>
          </a:p>
          <a:p>
            <a:pPr marL="571500" indent="-571500" algn="just" eaLnBrk="1" hangingPunct="1">
              <a:lnSpc>
                <a:spcPct val="90000"/>
              </a:lnSpc>
              <a:spcBef>
                <a:spcPts val="1800"/>
              </a:spcBef>
              <a:defRPr/>
            </a:pPr>
            <a:r>
              <a:rPr lang="zh-CN" altLang="en-US" sz="2800" dirty="0" smtClean="0">
                <a:solidFill>
                  <a:srgbClr val="000000"/>
                </a:solidFill>
                <a:sym typeface="Wingdings 3" pitchFamily="18" charset="2"/>
              </a:rPr>
              <a:t>消除不规则变动</a:t>
            </a:r>
            <a:r>
              <a:rPr lang="en-US" altLang="zh-CN" sz="2800" dirty="0" smtClean="0">
                <a:solidFill>
                  <a:srgbClr val="000000"/>
                </a:solidFill>
                <a:sym typeface="Wingdings 3" pitchFamily="18" charset="2"/>
              </a:rPr>
              <a:t>I</a:t>
            </a:r>
            <a:r>
              <a:rPr lang="zh-CN" altLang="en-US" sz="2800" dirty="0" smtClean="0">
                <a:solidFill>
                  <a:srgbClr val="000000"/>
                </a:solidFill>
                <a:sym typeface="Wingdings 3" pitchFamily="18" charset="2"/>
              </a:rPr>
              <a:t>，得季节比率</a:t>
            </a:r>
            <a:r>
              <a:rPr lang="en-US" altLang="zh-CN" sz="2800" dirty="0" smtClean="0">
                <a:solidFill>
                  <a:srgbClr val="000000"/>
                </a:solidFill>
                <a:sym typeface="Wingdings 3" pitchFamily="18" charset="2"/>
              </a:rPr>
              <a:t>S</a:t>
            </a:r>
            <a:r>
              <a:rPr lang="en-US" altLang="zh-CN" sz="2400" b="0" dirty="0" smtClean="0">
                <a:solidFill>
                  <a:srgbClr val="000000"/>
                </a:solidFill>
                <a:latin typeface="+mn-ea"/>
                <a:sym typeface="Wingdings 3" pitchFamily="18" charset="2"/>
              </a:rPr>
              <a:t>(</a:t>
            </a:r>
            <a:r>
              <a:rPr lang="zh-CN" altLang="en-US" sz="2400" b="0" dirty="0" smtClean="0">
                <a:solidFill>
                  <a:srgbClr val="000000"/>
                </a:solidFill>
                <a:latin typeface="+mn-ea"/>
                <a:sym typeface="Wingdings 3" pitchFamily="18" charset="2"/>
              </a:rPr>
              <a:t>未调整的</a:t>
            </a:r>
            <a:r>
              <a:rPr lang="en-US" altLang="zh-CN" sz="2400" b="0" dirty="0" smtClean="0">
                <a:solidFill>
                  <a:srgbClr val="000000"/>
                </a:solidFill>
                <a:latin typeface="+mn-ea"/>
                <a:sym typeface="Wingdings 3" pitchFamily="18" charset="2"/>
              </a:rPr>
              <a:t>)</a:t>
            </a:r>
          </a:p>
          <a:p>
            <a:pPr marL="400050" lvl="1" indent="0" algn="just" eaLnBrk="1" hangingPunct="1">
              <a:lnSpc>
                <a:spcPct val="90000"/>
              </a:lnSpc>
              <a:spcBef>
                <a:spcPts val="1800"/>
              </a:spcBef>
              <a:buNone/>
              <a:defRPr/>
            </a:pPr>
            <a:r>
              <a:rPr lang="en-US" altLang="zh-CN" sz="1800" b="0" dirty="0">
                <a:latin typeface="+mn-ea"/>
                <a:sym typeface="Wingdings 3" pitchFamily="18" charset="2"/>
              </a:rPr>
              <a:t> </a:t>
            </a:r>
            <a:r>
              <a:rPr lang="en-US" altLang="zh-CN" sz="1800" b="0" dirty="0" smtClean="0">
                <a:latin typeface="+mn-ea"/>
                <a:sym typeface="Wingdings 3" pitchFamily="18" charset="2"/>
              </a:rPr>
              <a:t>     </a:t>
            </a:r>
            <a:r>
              <a:rPr lang="en-US" altLang="zh-CN" sz="1800" dirty="0" smtClean="0">
                <a:sym typeface="Wingdings 3" pitchFamily="18" charset="2"/>
              </a:rPr>
              <a:t>    </a:t>
            </a:r>
            <a:r>
              <a:rPr lang="en-US" altLang="zh-CN" sz="2400" dirty="0" smtClean="0">
                <a:solidFill>
                  <a:srgbClr val="3333FF"/>
                </a:solidFill>
                <a:sym typeface="Wingdings 3" pitchFamily="18" charset="2"/>
              </a:rPr>
              <a:t>S=</a:t>
            </a:r>
            <a:r>
              <a:rPr lang="zh-CN" altLang="en-US" sz="2400" dirty="0" smtClean="0">
                <a:solidFill>
                  <a:srgbClr val="3333FF"/>
                </a:solidFill>
                <a:sym typeface="Wingdings 3" pitchFamily="18" charset="2"/>
              </a:rPr>
              <a:t>各年同期的（</a:t>
            </a:r>
            <a:r>
              <a:rPr lang="en-US" altLang="zh-CN" sz="2400" dirty="0" smtClean="0">
                <a:solidFill>
                  <a:srgbClr val="3333FF"/>
                </a:solidFill>
                <a:sym typeface="Wingdings 3" pitchFamily="18" charset="2"/>
              </a:rPr>
              <a:t>S.I</a:t>
            </a:r>
            <a:r>
              <a:rPr lang="zh-CN" altLang="en-US" sz="2400" dirty="0" smtClean="0">
                <a:solidFill>
                  <a:srgbClr val="3333FF"/>
                </a:solidFill>
                <a:sym typeface="Wingdings 3" pitchFamily="18" charset="2"/>
              </a:rPr>
              <a:t>）的平均</a:t>
            </a:r>
          </a:p>
          <a:p>
            <a:pPr marL="571500" indent="-571500" algn="just" eaLnBrk="1" hangingPunct="1">
              <a:lnSpc>
                <a:spcPct val="90000"/>
              </a:lnSpc>
              <a:spcBef>
                <a:spcPts val="1800"/>
              </a:spcBef>
              <a:defRPr/>
            </a:pPr>
            <a:r>
              <a:rPr lang="zh-CN" altLang="en-US" sz="2800" dirty="0" smtClean="0">
                <a:solidFill>
                  <a:srgbClr val="000000"/>
                </a:solidFill>
                <a:sym typeface="Wingdings 3" pitchFamily="18" charset="2"/>
              </a:rPr>
              <a:t>调整季节比率，使季节比率的平均</a:t>
            </a:r>
            <a:r>
              <a:rPr lang="en-US" altLang="zh-CN" sz="2800" dirty="0" smtClean="0">
                <a:solidFill>
                  <a:srgbClr val="000000"/>
                </a:solidFill>
                <a:sym typeface="Wingdings 3" pitchFamily="18" charset="2"/>
              </a:rPr>
              <a:t>=1</a:t>
            </a:r>
          </a:p>
        </p:txBody>
      </p:sp>
      <p:sp>
        <p:nvSpPr>
          <p:cNvPr id="141317" name="日期占位符 4"/>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1619">
                                            <p:txEl>
                                              <p:pRg st="1" end="1"/>
                                            </p:txEl>
                                          </p:spTgt>
                                        </p:tgtEl>
                                        <p:attrNameLst>
                                          <p:attrName>style.visibility</p:attrName>
                                        </p:attrNameLst>
                                      </p:cBhvr>
                                      <p:to>
                                        <p:strVal val="visible"/>
                                      </p:to>
                                    </p:set>
                                    <p:anim calcmode="lin" valueType="num">
                                      <p:cBhvr additive="base">
                                        <p:cTn id="7" dur="500" fill="hold"/>
                                        <p:tgtEl>
                                          <p:spTgt spid="111619">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1619">
                                            <p:txEl>
                                              <p:pRg st="1" end="1"/>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11619">
                                            <p:txEl>
                                              <p:pRg st="2" end="2"/>
                                            </p:txEl>
                                          </p:spTgt>
                                        </p:tgtEl>
                                        <p:attrNameLst>
                                          <p:attrName>style.visibility</p:attrName>
                                        </p:attrNameLst>
                                      </p:cBhvr>
                                      <p:to>
                                        <p:strVal val="visible"/>
                                      </p:to>
                                    </p:set>
                                    <p:anim calcmode="lin" valueType="num">
                                      <p:cBhvr additive="base">
                                        <p:cTn id="11" dur="500" fill="hold"/>
                                        <p:tgtEl>
                                          <p:spTgt spid="111619">
                                            <p:txEl>
                                              <p:pRg st="2" end="2"/>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1161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11619">
                                            <p:txEl>
                                              <p:pRg st="3" end="3"/>
                                            </p:txEl>
                                          </p:spTgt>
                                        </p:tgtEl>
                                        <p:attrNameLst>
                                          <p:attrName>style.visibility</p:attrName>
                                        </p:attrNameLst>
                                      </p:cBhvr>
                                      <p:to>
                                        <p:strVal val="visible"/>
                                      </p:to>
                                    </p:set>
                                    <p:anim calcmode="lin" valueType="num">
                                      <p:cBhvr additive="base">
                                        <p:cTn id="17" dur="500" fill="hold"/>
                                        <p:tgtEl>
                                          <p:spTgt spid="111619">
                                            <p:txEl>
                                              <p:pRg st="3" end="3"/>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1161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11619">
                                            <p:txEl>
                                              <p:pRg st="4" end="4"/>
                                            </p:txEl>
                                          </p:spTgt>
                                        </p:tgtEl>
                                        <p:attrNameLst>
                                          <p:attrName>style.visibility</p:attrName>
                                        </p:attrNameLst>
                                      </p:cBhvr>
                                      <p:to>
                                        <p:strVal val="visible"/>
                                      </p:to>
                                    </p:set>
                                    <p:anim calcmode="lin" valueType="num">
                                      <p:cBhvr additive="base">
                                        <p:cTn id="23" dur="500" fill="hold"/>
                                        <p:tgtEl>
                                          <p:spTgt spid="111619">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11619">
                                            <p:txEl>
                                              <p:pRg st="4" end="4"/>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11619">
                                            <p:txEl>
                                              <p:pRg st="5" end="5"/>
                                            </p:txEl>
                                          </p:spTgt>
                                        </p:tgtEl>
                                        <p:attrNameLst>
                                          <p:attrName>style.visibility</p:attrName>
                                        </p:attrNameLst>
                                      </p:cBhvr>
                                      <p:to>
                                        <p:strVal val="visible"/>
                                      </p:to>
                                    </p:set>
                                    <p:anim calcmode="lin" valueType="num">
                                      <p:cBhvr additive="base">
                                        <p:cTn id="27" dur="500" fill="hold"/>
                                        <p:tgtEl>
                                          <p:spTgt spid="111619">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1161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111619">
                                            <p:txEl>
                                              <p:pRg st="6" end="6"/>
                                            </p:txEl>
                                          </p:spTgt>
                                        </p:tgtEl>
                                        <p:attrNameLst>
                                          <p:attrName>style.visibility</p:attrName>
                                        </p:attrNameLst>
                                      </p:cBhvr>
                                      <p:to>
                                        <p:strVal val="visible"/>
                                      </p:to>
                                    </p:set>
                                    <p:anim calcmode="lin" valueType="num">
                                      <p:cBhvr additive="base">
                                        <p:cTn id="33" dur="500" fill="hold"/>
                                        <p:tgtEl>
                                          <p:spTgt spid="111619">
                                            <p:txEl>
                                              <p:pRg st="6" end="6"/>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111619">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9" grpId="0" build="p" autoUpdateAnimBg="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9" name="Rectangle 2"/>
          <p:cNvSpPr>
            <a:spLocks noGrp="1" noChangeArrowheads="1"/>
          </p:cNvSpPr>
          <p:nvPr>
            <p:ph type="title"/>
          </p:nvPr>
        </p:nvSpPr>
        <p:spPr>
          <a:xfrm>
            <a:off x="990600" y="381000"/>
            <a:ext cx="7010400" cy="1143000"/>
          </a:xfrm>
        </p:spPr>
        <p:txBody>
          <a:bodyPr lIns="90488" tIns="44450" rIns="90488" bIns="44450" anchor="ctr" anchorCtr="1"/>
          <a:lstStyle/>
          <a:p>
            <a:pPr eaLnBrk="1" hangingPunct="1"/>
            <a:r>
              <a:rPr lang="en-US" altLang="zh-CN" sz="3600" dirty="0" smtClean="0">
                <a:latin typeface="Times New Roman" pitchFamily="18" charset="0"/>
              </a:rPr>
              <a:t>(</a:t>
            </a:r>
            <a:r>
              <a:rPr lang="zh-CN" altLang="en-US" sz="3600" dirty="0" smtClean="0">
                <a:latin typeface="Times New Roman" pitchFamily="18" charset="0"/>
              </a:rPr>
              <a:t>续前例：</a:t>
            </a:r>
            <a:r>
              <a:rPr lang="zh-CN" altLang="en-US" sz="4000" dirty="0" smtClean="0"/>
              <a:t>趋势剔除法</a:t>
            </a:r>
            <a:r>
              <a:rPr lang="zh-CN" altLang="en-US" sz="3600" dirty="0" smtClean="0">
                <a:latin typeface="Times New Roman" pitchFamily="18" charset="0"/>
              </a:rPr>
              <a:t>计算表</a:t>
            </a:r>
            <a:r>
              <a:rPr lang="en-US" altLang="zh-CN" sz="3600" dirty="0" smtClean="0">
                <a:latin typeface="Times New Roman" pitchFamily="18" charset="0"/>
              </a:rPr>
              <a:t>) </a:t>
            </a:r>
          </a:p>
        </p:txBody>
      </p:sp>
      <p:graphicFrame>
        <p:nvGraphicFramePr>
          <p:cNvPr id="112709" name="Group 69"/>
          <p:cNvGraphicFramePr>
            <a:graphicFrameLocks noGrp="1"/>
          </p:cNvGraphicFramePr>
          <p:nvPr>
            <p:extLst>
              <p:ext uri="{D42A27DB-BD31-4B8C-83A1-F6EECF244321}">
                <p14:modId xmlns:p14="http://schemas.microsoft.com/office/powerpoint/2010/main" val="1665961631"/>
              </p:ext>
            </p:extLst>
          </p:nvPr>
        </p:nvGraphicFramePr>
        <p:xfrm>
          <a:off x="395288" y="1268413"/>
          <a:ext cx="8305800" cy="3596640"/>
        </p:xfrm>
        <a:graphic>
          <a:graphicData uri="http://schemas.openxmlformats.org/drawingml/2006/table">
            <a:tbl>
              <a:tblPr/>
              <a:tblGrid>
                <a:gridCol w="16764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2954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tblGrid>
              <a:tr h="350838">
                <a:tc gridSpan="6">
                  <a:txBody>
                    <a:bodyPr/>
                    <a:lstStyle/>
                    <a:p>
                      <a:pPr marL="0" marR="0" lvl="0" indent="0" algn="l" defTabSz="914400" rtl="0" eaLnBrk="1" fontAlgn="base" latinLnBrk="0" hangingPunct="1">
                        <a:lnSpc>
                          <a:spcPct val="100000"/>
                        </a:lnSpc>
                        <a:spcBef>
                          <a:spcPct val="50000"/>
                        </a:spcBef>
                        <a:spcAft>
                          <a:spcPct val="0"/>
                        </a:spcAft>
                        <a:buClrTx/>
                        <a:buSzPct val="90000"/>
                        <a:buFontTx/>
                        <a:buNone/>
                        <a:tabLst/>
                      </a:pPr>
                      <a:r>
                        <a:rPr kumimoji="0" lang="zh-CN" altLang="en-US" sz="2000" b="1" i="0" u="none" strike="noStrike" cap="none" normalizeH="0" baseline="0" dirty="0" smtClean="0">
                          <a:ln>
                            <a:noFill/>
                          </a:ln>
                          <a:solidFill>
                            <a:srgbClr val="000000"/>
                          </a:solidFill>
                          <a:effectLst/>
                          <a:latin typeface="Tahoma" pitchFamily="34" charset="0"/>
                          <a:ea typeface="宋体" pitchFamily="2" charset="-122"/>
                        </a:rPr>
                        <a:t>先计算</a:t>
                      </a:r>
                      <a:r>
                        <a:rPr kumimoji="0" lang="zh-CN" altLang="en-US" sz="2400" b="1" i="0" u="none" strike="noStrike" cap="none" normalizeH="0" baseline="0" dirty="0" smtClean="0">
                          <a:ln>
                            <a:noFill/>
                          </a:ln>
                          <a:solidFill>
                            <a:srgbClr val="000000"/>
                          </a:solidFill>
                          <a:effectLst/>
                          <a:latin typeface="Tahoma" pitchFamily="34" charset="0"/>
                          <a:ea typeface="宋体" pitchFamily="2" charset="-122"/>
                        </a:rPr>
                        <a:t>四项移动平均值</a:t>
                      </a:r>
                      <a:r>
                        <a:rPr kumimoji="0" lang="en-US" altLang="zh-CN" sz="2400" b="1" i="0" u="none" strike="noStrike" cap="none" normalizeH="0" baseline="0" dirty="0" smtClean="0">
                          <a:ln>
                            <a:noFill/>
                          </a:ln>
                          <a:solidFill>
                            <a:srgbClr val="000000"/>
                          </a:solidFill>
                          <a:effectLst/>
                          <a:latin typeface="Tahoma" pitchFamily="34" charset="0"/>
                          <a:ea typeface="宋体" pitchFamily="2" charset="-122"/>
                        </a:rPr>
                        <a:t>M</a:t>
                      </a:r>
                      <a:r>
                        <a:rPr kumimoji="0" lang="zh-CN" altLang="en-US" sz="2000" b="1" i="0" u="none" strike="noStrike" cap="none" normalizeH="0" baseline="0" dirty="0" smtClean="0">
                          <a:ln>
                            <a:noFill/>
                          </a:ln>
                          <a:solidFill>
                            <a:srgbClr val="000000"/>
                          </a:solidFill>
                          <a:effectLst/>
                          <a:latin typeface="Tahoma" pitchFamily="34" charset="0"/>
                          <a:ea typeface="宋体" pitchFamily="2" charset="-122"/>
                        </a:rPr>
                        <a:t>，再计算</a:t>
                      </a:r>
                      <a:r>
                        <a:rPr kumimoji="0" lang="zh-CN" altLang="en-US" sz="2400" b="1" i="0" u="none" strike="noStrike" cap="none" normalizeH="0" baseline="0" dirty="0" smtClean="0">
                          <a:ln>
                            <a:noFill/>
                          </a:ln>
                          <a:solidFill>
                            <a:srgbClr val="000000"/>
                          </a:solidFill>
                          <a:effectLst/>
                          <a:latin typeface="Tahoma" pitchFamily="34" charset="0"/>
                          <a:ea typeface="宋体" pitchFamily="2" charset="-122"/>
                        </a:rPr>
                        <a:t>趋势剔除值</a:t>
                      </a:r>
                      <a:r>
                        <a:rPr kumimoji="0" lang="en-US" altLang="zh-CN" sz="2400" b="1" i="0" u="none" strike="noStrike" cap="none" normalizeH="0" baseline="0" dirty="0" smtClean="0">
                          <a:ln>
                            <a:noFill/>
                          </a:ln>
                          <a:solidFill>
                            <a:srgbClr val="000000"/>
                          </a:solidFill>
                          <a:effectLst/>
                          <a:latin typeface="Tahoma" pitchFamily="34" charset="0"/>
                          <a:ea typeface="宋体" pitchFamily="2" charset="-122"/>
                        </a:rPr>
                        <a:t>(Y/M)</a:t>
                      </a:r>
                      <a:r>
                        <a:rPr kumimoji="0" lang="zh-CN" altLang="en-US" sz="2000" b="1" i="0" u="none" strike="noStrike" cap="none" normalizeH="0" baseline="0" dirty="0" smtClean="0">
                          <a:ln>
                            <a:noFill/>
                          </a:ln>
                          <a:solidFill>
                            <a:srgbClr val="000000"/>
                          </a:solidFill>
                          <a:effectLst/>
                          <a:latin typeface="Tahoma" pitchFamily="34" charset="0"/>
                          <a:ea typeface="宋体" pitchFamily="2" charset="-122"/>
                        </a:rPr>
                        <a:t>，得如下表：</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bg1">
                        <a:lumMod val="95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412750">
                <a:tc rowSpan="2">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2000" b="1" i="0" u="none" strike="noStrike" cap="none" normalizeH="0" baseline="0" dirty="0" smtClean="0">
                          <a:ln>
                            <a:noFill/>
                          </a:ln>
                          <a:solidFill>
                            <a:srgbClr val="000000"/>
                          </a:solidFill>
                          <a:effectLst/>
                          <a:latin typeface="Times New Roman" pitchFamily="18" charset="0"/>
                          <a:ea typeface="宋体" pitchFamily="2" charset="-122"/>
                        </a:rPr>
                        <a:t>年  份</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bg1">
                        <a:lumMod val="95000"/>
                      </a:schemeClr>
                    </a:solidFill>
                  </a:tcPr>
                </a:tc>
                <a:tc gridSpan="5">
                  <a:txBody>
                    <a:bodyPr/>
                    <a:lstStyle/>
                    <a:p>
                      <a:pPr marL="0" marR="0" lvl="0" indent="0" algn="ctr" defTabSz="914400" rtl="0" eaLnBrk="1" fontAlgn="base" latinLnBrk="0" hangingPunct="1">
                        <a:lnSpc>
                          <a:spcPct val="100000"/>
                        </a:lnSpc>
                        <a:spcBef>
                          <a:spcPct val="0"/>
                        </a:spcBef>
                        <a:spcAft>
                          <a:spcPct val="0"/>
                        </a:spcAft>
                        <a:buClrTx/>
                        <a:buSzPct val="90000"/>
                        <a:buFontTx/>
                        <a:buNone/>
                        <a:tabLst/>
                      </a:pPr>
                      <a:r>
                        <a:rPr kumimoji="0" lang="zh-CN" altLang="en-US" sz="2400" b="1" i="0" u="none" strike="noStrike" cap="none" normalizeH="0" baseline="0" dirty="0" smtClean="0">
                          <a:ln>
                            <a:noFill/>
                          </a:ln>
                          <a:solidFill>
                            <a:srgbClr val="000000"/>
                          </a:solidFill>
                          <a:effectLst/>
                          <a:latin typeface="Times New Roman" pitchFamily="18" charset="0"/>
                          <a:ea typeface="宋体" pitchFamily="2" charset="-122"/>
                        </a:rPr>
                        <a:t>销售额的</a:t>
                      </a:r>
                      <a:r>
                        <a:rPr kumimoji="0" lang="zh-CN" altLang="en-US" sz="2400" b="1" i="0" u="none" strike="noStrike" cap="none" normalizeH="0" baseline="0" dirty="0" smtClean="0">
                          <a:ln>
                            <a:noFill/>
                          </a:ln>
                          <a:solidFill>
                            <a:srgbClr val="000000"/>
                          </a:solidFill>
                          <a:effectLst/>
                          <a:latin typeface="Tahoma" pitchFamily="34" charset="0"/>
                          <a:ea typeface="宋体" pitchFamily="2" charset="-122"/>
                        </a:rPr>
                        <a:t>移动平均</a:t>
                      </a:r>
                      <a:r>
                        <a:rPr kumimoji="0" lang="zh-CN" altLang="en-US" sz="2400" b="1" i="0" u="none" strike="noStrike" cap="none" normalizeH="0" baseline="0" dirty="0" smtClean="0">
                          <a:ln>
                            <a:noFill/>
                          </a:ln>
                          <a:solidFill>
                            <a:srgbClr val="000000"/>
                          </a:solidFill>
                          <a:effectLst/>
                          <a:latin typeface="Times New Roman" pitchFamily="18" charset="0"/>
                          <a:ea typeface="宋体" pitchFamily="2" charset="-122"/>
                        </a:rPr>
                        <a:t>趋势剔除值</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bg2">
                        <a:lumMod val="20000"/>
                        <a:lumOff val="80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1"/>
                  </a:ext>
                </a:extLst>
              </a:tr>
              <a:tr h="45720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2000" b="1" i="0" u="none" strike="noStrike" cap="none" normalizeH="0" baseline="0" dirty="0" smtClean="0">
                          <a:ln>
                            <a:noFill/>
                          </a:ln>
                          <a:solidFill>
                            <a:srgbClr val="3333FF"/>
                          </a:solidFill>
                          <a:effectLst/>
                          <a:latin typeface="Times New Roman" pitchFamily="18" charset="0"/>
                          <a:ea typeface="宋体" pitchFamily="2" charset="-122"/>
                        </a:rPr>
                        <a:t>一季度</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2000" b="1" i="0" u="none" strike="noStrike" cap="none" normalizeH="0" baseline="0" dirty="0" smtClean="0">
                          <a:ln>
                            <a:noFill/>
                          </a:ln>
                          <a:solidFill>
                            <a:srgbClr val="3333FF"/>
                          </a:solidFill>
                          <a:effectLst/>
                          <a:latin typeface="Times New Roman" pitchFamily="18" charset="0"/>
                          <a:ea typeface="宋体" pitchFamily="2" charset="-122"/>
                        </a:rPr>
                        <a:t>二季度</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2000" b="1" i="0" u="none" strike="noStrike" cap="none" normalizeH="0" baseline="0" dirty="0" smtClean="0">
                          <a:ln>
                            <a:noFill/>
                          </a:ln>
                          <a:solidFill>
                            <a:srgbClr val="3333FF"/>
                          </a:solidFill>
                          <a:effectLst/>
                          <a:latin typeface="Times New Roman" pitchFamily="18" charset="0"/>
                          <a:ea typeface="宋体" pitchFamily="2" charset="-122"/>
                        </a:rPr>
                        <a:t>三季度</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2000" b="1" i="0" u="none" strike="noStrike" cap="none" normalizeH="0" baseline="0" dirty="0" smtClean="0">
                          <a:ln>
                            <a:noFill/>
                          </a:ln>
                          <a:solidFill>
                            <a:srgbClr val="3333FF"/>
                          </a:solidFill>
                          <a:effectLst/>
                          <a:latin typeface="Times New Roman" pitchFamily="18" charset="0"/>
                          <a:ea typeface="宋体" pitchFamily="2" charset="-122"/>
                        </a:rPr>
                        <a:t>四季度</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2000" b="1" i="0" u="none" strike="noStrike" cap="none" normalizeH="0" baseline="0" dirty="0" smtClean="0">
                          <a:ln>
                            <a:noFill/>
                          </a:ln>
                          <a:solidFill>
                            <a:srgbClr val="3333FF"/>
                          </a:solidFill>
                          <a:effectLst/>
                          <a:latin typeface="Times New Roman" pitchFamily="18" charset="0"/>
                          <a:ea typeface="宋体" pitchFamily="2" charset="-122"/>
                        </a:rPr>
                        <a:t>平均</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2"/>
                  </a:ext>
                </a:extLst>
              </a:tr>
              <a:tr h="1846263">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000" b="1" i="0" u="none" strike="noStrike" cap="none" normalizeH="0" baseline="0" dirty="0" smtClean="0">
                          <a:ln>
                            <a:noFill/>
                          </a:ln>
                          <a:solidFill>
                            <a:srgbClr val="000000"/>
                          </a:solidFill>
                          <a:effectLst/>
                          <a:latin typeface="Times New Roman" pitchFamily="18" charset="0"/>
                          <a:ea typeface="宋体" pitchFamily="2" charset="-122"/>
                        </a:rPr>
                        <a:t>1</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000" b="1" i="0" u="none" strike="noStrike" cap="none" normalizeH="0" baseline="0" dirty="0" smtClean="0">
                          <a:ln>
                            <a:noFill/>
                          </a:ln>
                          <a:solidFill>
                            <a:srgbClr val="000000"/>
                          </a:solidFill>
                          <a:effectLst/>
                          <a:latin typeface="Times New Roman" pitchFamily="18" charset="0"/>
                          <a:ea typeface="宋体" pitchFamily="2" charset="-122"/>
                        </a:rPr>
                        <a:t>2</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000" b="1" i="0" u="none" strike="noStrike" cap="none" normalizeH="0" baseline="0" dirty="0" smtClean="0">
                          <a:ln>
                            <a:noFill/>
                          </a:ln>
                          <a:solidFill>
                            <a:srgbClr val="000000"/>
                          </a:solidFill>
                          <a:effectLst/>
                          <a:latin typeface="Times New Roman" pitchFamily="18" charset="0"/>
                          <a:ea typeface="宋体" pitchFamily="2" charset="-122"/>
                        </a:rPr>
                        <a:t>3</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000" b="1" i="0" u="none" strike="noStrike" cap="none" normalizeH="0" baseline="0" dirty="0" smtClean="0">
                          <a:ln>
                            <a:noFill/>
                          </a:ln>
                          <a:solidFill>
                            <a:srgbClr val="000000"/>
                          </a:solidFill>
                          <a:effectLst/>
                          <a:latin typeface="Times New Roman" pitchFamily="18" charset="0"/>
                          <a:ea typeface="宋体" pitchFamily="2" charset="-122"/>
                        </a:rPr>
                        <a:t>4</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000" b="1" i="0" u="none" strike="noStrike" cap="none" normalizeH="0" baseline="0" dirty="0" smtClean="0">
                          <a:ln>
                            <a:noFill/>
                          </a:ln>
                          <a:solidFill>
                            <a:srgbClr val="000000"/>
                          </a:solidFill>
                          <a:effectLst/>
                          <a:latin typeface="Times New Roman" pitchFamily="18" charset="0"/>
                          <a:ea typeface="宋体" pitchFamily="2" charset="-122"/>
                        </a:rPr>
                        <a:t>5</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000" b="1" i="0" u="none" strike="noStrike" cap="none" normalizeH="0" baseline="0" dirty="0" smtClean="0">
                          <a:ln>
                            <a:noFill/>
                          </a:ln>
                          <a:solidFill>
                            <a:srgbClr val="000000"/>
                          </a:solidFill>
                          <a:effectLst/>
                          <a:latin typeface="Times New Roman" pitchFamily="18" charset="0"/>
                          <a:ea typeface="宋体" pitchFamily="2" charset="-122"/>
                        </a:rPr>
                        <a:t>6</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000" b="1" i="0" u="none" strike="noStrike" cap="none" normalizeH="0" baseline="0" dirty="0" smtClean="0">
                          <a:ln>
                            <a:noFill/>
                          </a:ln>
                          <a:solidFill>
                            <a:srgbClr val="000000"/>
                          </a:solidFill>
                          <a:effectLst/>
                          <a:latin typeface="Times New Roman" pitchFamily="18" charset="0"/>
                          <a:ea typeface="宋体" pitchFamily="2" charset="-122"/>
                        </a:rPr>
                        <a:t>—</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000" b="1" i="0" u="none" strike="noStrike" cap="none" normalizeH="0" baseline="0" dirty="0" smtClean="0">
                          <a:ln>
                            <a:noFill/>
                          </a:ln>
                          <a:solidFill>
                            <a:srgbClr val="000000"/>
                          </a:solidFill>
                          <a:effectLst/>
                          <a:latin typeface="Times New Roman" pitchFamily="18" charset="0"/>
                          <a:ea typeface="宋体" pitchFamily="2" charset="-122"/>
                        </a:rPr>
                        <a:t>90.91</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000" b="1" i="0" u="none" strike="noStrike" cap="none" normalizeH="0" baseline="0" dirty="0" smtClean="0">
                          <a:ln>
                            <a:noFill/>
                          </a:ln>
                          <a:solidFill>
                            <a:srgbClr val="000000"/>
                          </a:solidFill>
                          <a:effectLst/>
                          <a:latin typeface="Times New Roman" pitchFamily="18" charset="0"/>
                          <a:ea typeface="宋体" pitchFamily="2" charset="-122"/>
                        </a:rPr>
                        <a:t>87.42</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000" b="1" i="0" u="none" strike="noStrike" cap="none" normalizeH="0" baseline="0" dirty="0" smtClean="0">
                          <a:ln>
                            <a:noFill/>
                          </a:ln>
                          <a:solidFill>
                            <a:srgbClr val="000000"/>
                          </a:solidFill>
                          <a:effectLst/>
                          <a:latin typeface="Times New Roman" pitchFamily="18" charset="0"/>
                          <a:ea typeface="宋体" pitchFamily="2" charset="-122"/>
                        </a:rPr>
                        <a:t>87.63</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000" b="1" i="0" u="none" strike="noStrike" cap="none" normalizeH="0" baseline="0" dirty="0" smtClean="0">
                          <a:ln>
                            <a:noFill/>
                          </a:ln>
                          <a:solidFill>
                            <a:srgbClr val="000000"/>
                          </a:solidFill>
                          <a:effectLst/>
                          <a:latin typeface="Times New Roman" pitchFamily="18" charset="0"/>
                          <a:ea typeface="宋体" pitchFamily="2" charset="-122"/>
                        </a:rPr>
                        <a:t>91.07</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000" b="1" i="0" u="none" strike="noStrike" cap="none" normalizeH="0" baseline="0" dirty="0" smtClean="0">
                          <a:ln>
                            <a:noFill/>
                          </a:ln>
                          <a:solidFill>
                            <a:srgbClr val="000000"/>
                          </a:solidFill>
                          <a:effectLst/>
                          <a:latin typeface="Times New Roman" pitchFamily="18" charset="0"/>
                          <a:ea typeface="宋体" pitchFamily="2" charset="-122"/>
                        </a:rPr>
                        <a:t>84.94</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000" b="1" i="0" u="none" strike="noStrike" cap="none" normalizeH="0" baseline="0" dirty="0" smtClean="0">
                          <a:ln>
                            <a:noFill/>
                          </a:ln>
                          <a:solidFill>
                            <a:srgbClr val="000000"/>
                          </a:solidFill>
                          <a:effectLst/>
                          <a:latin typeface="Times New Roman" pitchFamily="18" charset="0"/>
                          <a:ea typeface="宋体" pitchFamily="2" charset="-122"/>
                        </a:rPr>
                        <a:t>—</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000" b="1" i="0" u="none" strike="noStrike" cap="none" normalizeH="0" baseline="0" dirty="0" smtClean="0">
                          <a:ln>
                            <a:noFill/>
                          </a:ln>
                          <a:solidFill>
                            <a:srgbClr val="000000"/>
                          </a:solidFill>
                          <a:effectLst/>
                          <a:latin typeface="Times New Roman" pitchFamily="18" charset="0"/>
                          <a:ea typeface="宋体" pitchFamily="2" charset="-122"/>
                        </a:rPr>
                        <a:t>118.51</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000" b="1" i="0" u="none" strike="noStrike" cap="none" normalizeH="0" baseline="0" dirty="0" smtClean="0">
                          <a:ln>
                            <a:noFill/>
                          </a:ln>
                          <a:solidFill>
                            <a:srgbClr val="000000"/>
                          </a:solidFill>
                          <a:effectLst/>
                          <a:latin typeface="Times New Roman" pitchFamily="18" charset="0"/>
                          <a:ea typeface="宋体" pitchFamily="2" charset="-122"/>
                        </a:rPr>
                        <a:t>122.85</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000" b="1" i="0" u="none" strike="noStrike" cap="none" normalizeH="0" baseline="0" dirty="0" smtClean="0">
                          <a:ln>
                            <a:noFill/>
                          </a:ln>
                          <a:solidFill>
                            <a:srgbClr val="000000"/>
                          </a:solidFill>
                          <a:effectLst/>
                          <a:latin typeface="Times New Roman" pitchFamily="18" charset="0"/>
                          <a:ea typeface="宋体" pitchFamily="2" charset="-122"/>
                        </a:rPr>
                        <a:t>122.26</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000" b="1" i="0" u="none" strike="noStrike" cap="none" normalizeH="0" baseline="0" dirty="0" smtClean="0">
                          <a:ln>
                            <a:noFill/>
                          </a:ln>
                          <a:solidFill>
                            <a:srgbClr val="000000"/>
                          </a:solidFill>
                          <a:effectLst/>
                          <a:latin typeface="Times New Roman" pitchFamily="18" charset="0"/>
                          <a:ea typeface="宋体" pitchFamily="2" charset="-122"/>
                        </a:rPr>
                        <a:t>122.42</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000" b="1" i="0" u="none" strike="noStrike" cap="none" normalizeH="0" baseline="0" dirty="0" smtClean="0">
                          <a:ln>
                            <a:noFill/>
                          </a:ln>
                          <a:solidFill>
                            <a:srgbClr val="000000"/>
                          </a:solidFill>
                          <a:effectLst/>
                          <a:latin typeface="Times New Roman" pitchFamily="18" charset="0"/>
                          <a:ea typeface="宋体" pitchFamily="2" charset="-122"/>
                        </a:rPr>
                        <a:t>125.65</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000" b="1" i="0" u="none" strike="noStrike" cap="none" normalizeH="0" baseline="0" dirty="0" smtClean="0">
                          <a:ln>
                            <a:noFill/>
                          </a:ln>
                          <a:solidFill>
                            <a:srgbClr val="000000"/>
                          </a:solidFill>
                          <a:effectLst/>
                          <a:latin typeface="Times New Roman" pitchFamily="18" charset="0"/>
                          <a:ea typeface="宋体" pitchFamily="2" charset="-122"/>
                        </a:rPr>
                        <a:t>106.12</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000" b="1" i="0" u="none" strike="noStrike" cap="none" normalizeH="0" baseline="0" dirty="0" smtClean="0">
                          <a:ln>
                            <a:noFill/>
                          </a:ln>
                          <a:solidFill>
                            <a:srgbClr val="000000"/>
                          </a:solidFill>
                          <a:effectLst/>
                          <a:latin typeface="Times New Roman" pitchFamily="18" charset="0"/>
                          <a:ea typeface="宋体" pitchFamily="2" charset="-122"/>
                        </a:rPr>
                        <a:t>108.71</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000" b="1" i="0" u="none" strike="noStrike" cap="none" normalizeH="0" baseline="0" dirty="0" smtClean="0">
                          <a:ln>
                            <a:noFill/>
                          </a:ln>
                          <a:solidFill>
                            <a:srgbClr val="000000"/>
                          </a:solidFill>
                          <a:effectLst/>
                          <a:latin typeface="Times New Roman" pitchFamily="18" charset="0"/>
                          <a:ea typeface="宋体" pitchFamily="2" charset="-122"/>
                        </a:rPr>
                        <a:t>111.27</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000" b="1" i="0" u="none" strike="noStrike" cap="none" normalizeH="0" baseline="0" dirty="0" smtClean="0">
                          <a:ln>
                            <a:noFill/>
                          </a:ln>
                          <a:solidFill>
                            <a:srgbClr val="000000"/>
                          </a:solidFill>
                          <a:effectLst/>
                          <a:latin typeface="Times New Roman" pitchFamily="18" charset="0"/>
                          <a:ea typeface="宋体" pitchFamily="2" charset="-122"/>
                        </a:rPr>
                        <a:t>108.70</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000" b="1" i="0" u="none" strike="noStrike" cap="none" normalizeH="0" baseline="0" dirty="0" smtClean="0">
                          <a:ln>
                            <a:noFill/>
                          </a:ln>
                          <a:solidFill>
                            <a:srgbClr val="000000"/>
                          </a:solidFill>
                          <a:effectLst/>
                          <a:latin typeface="Times New Roman" pitchFamily="18" charset="0"/>
                          <a:ea typeface="宋体" pitchFamily="2" charset="-122"/>
                        </a:rPr>
                        <a:t>110.29</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000" b="1" i="0" u="none" strike="noStrike" cap="none" normalizeH="0" baseline="0" dirty="0" smtClean="0">
                          <a:ln>
                            <a:noFill/>
                          </a:ln>
                          <a:solidFill>
                            <a:srgbClr val="000000"/>
                          </a:solidFill>
                          <a:effectLst/>
                          <a:latin typeface="Times New Roman" pitchFamily="18" charset="0"/>
                          <a:ea typeface="宋体" pitchFamily="2" charset="-122"/>
                        </a:rPr>
                        <a:t>—</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000" b="1" i="0" u="none" strike="noStrike" cap="none" normalizeH="0" baseline="0" dirty="0" smtClean="0">
                          <a:ln>
                            <a:noFill/>
                          </a:ln>
                          <a:solidFill>
                            <a:srgbClr val="000000"/>
                          </a:solidFill>
                          <a:effectLst/>
                          <a:latin typeface="Times New Roman" pitchFamily="18" charset="0"/>
                          <a:ea typeface="宋体" pitchFamily="2" charset="-122"/>
                        </a:rPr>
                        <a:t>83.59</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000" b="1" i="0" u="none" strike="noStrike" cap="none" normalizeH="0" baseline="0" dirty="0" smtClean="0">
                          <a:ln>
                            <a:noFill/>
                          </a:ln>
                          <a:solidFill>
                            <a:srgbClr val="000000"/>
                          </a:solidFill>
                          <a:effectLst/>
                          <a:latin typeface="Times New Roman" pitchFamily="18" charset="0"/>
                          <a:ea typeface="宋体" pitchFamily="2" charset="-122"/>
                        </a:rPr>
                        <a:t>82.57</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000" b="1" i="0" u="none" strike="noStrike" cap="none" normalizeH="0" baseline="0" dirty="0" smtClean="0">
                          <a:ln>
                            <a:noFill/>
                          </a:ln>
                          <a:solidFill>
                            <a:srgbClr val="000000"/>
                          </a:solidFill>
                          <a:effectLst/>
                          <a:latin typeface="Times New Roman" pitchFamily="18" charset="0"/>
                          <a:ea typeface="宋体" pitchFamily="2" charset="-122"/>
                        </a:rPr>
                        <a:t>78.97</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000" b="1" i="0" u="none" strike="noStrike" cap="none" normalizeH="0" baseline="0" dirty="0" smtClean="0">
                          <a:ln>
                            <a:noFill/>
                          </a:ln>
                          <a:solidFill>
                            <a:srgbClr val="000000"/>
                          </a:solidFill>
                          <a:effectLst/>
                          <a:latin typeface="Times New Roman" pitchFamily="18" charset="0"/>
                          <a:ea typeface="宋体" pitchFamily="2" charset="-122"/>
                        </a:rPr>
                        <a:t>77.11</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000" b="1" i="0" u="none" strike="noStrike" cap="none" normalizeH="0" baseline="0" dirty="0" smtClean="0">
                          <a:ln>
                            <a:noFill/>
                          </a:ln>
                          <a:solidFill>
                            <a:srgbClr val="000000"/>
                          </a:solidFill>
                          <a:effectLst/>
                          <a:latin typeface="Times New Roman" pitchFamily="18" charset="0"/>
                          <a:ea typeface="宋体" pitchFamily="2" charset="-122"/>
                        </a:rPr>
                        <a:t>79.08</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000" b="1" i="0" u="none" strike="noStrike" cap="none" normalizeH="0" baseline="0" dirty="0" smtClean="0">
                          <a:ln>
                            <a:noFill/>
                          </a:ln>
                          <a:solidFill>
                            <a:srgbClr val="000000"/>
                          </a:solidFill>
                          <a:effectLst/>
                          <a:latin typeface="Times New Roman" pitchFamily="18" charset="0"/>
                          <a:ea typeface="宋体" pitchFamily="2" charset="-122"/>
                        </a:rPr>
                        <a:t>—</a:t>
                      </a: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endParaRPr kumimoji="0" lang="en-US" altLang="zh-CN" sz="2000" b="1" i="0" u="none" strike="noStrike" cap="none" normalizeH="0" baseline="0" dirty="0" smtClean="0">
                        <a:ln>
                          <a:noFill/>
                        </a:ln>
                        <a:solidFill>
                          <a:srgbClr val="000000"/>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Pct val="90000"/>
                        <a:buFontTx/>
                        <a:buNone/>
                        <a:tabLst/>
                      </a:pPr>
                      <a:endParaRPr kumimoji="0" lang="en-US" altLang="zh-CN" sz="2000" b="1" i="0" u="none" strike="noStrike" cap="none" normalizeH="0" baseline="0" dirty="0" smtClean="0">
                        <a:ln>
                          <a:noFill/>
                        </a:ln>
                        <a:solidFill>
                          <a:srgbClr val="000000"/>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Pct val="90000"/>
                        <a:buFontTx/>
                        <a:buNone/>
                        <a:tabLst/>
                      </a:pPr>
                      <a:endParaRPr kumimoji="0" lang="en-US" altLang="zh-CN" sz="2000" b="1" i="0" u="none" strike="noStrike" cap="none" normalizeH="0" baseline="0" dirty="0" smtClean="0">
                        <a:ln>
                          <a:noFill/>
                        </a:ln>
                        <a:solidFill>
                          <a:srgbClr val="000000"/>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Pct val="90000"/>
                        <a:buFontTx/>
                        <a:buNone/>
                        <a:tabLst/>
                      </a:pPr>
                      <a:endParaRPr kumimoji="0" lang="en-US" altLang="zh-CN" sz="2000" b="1" i="0" u="none" strike="noStrike" cap="none" normalizeH="0" baseline="0" dirty="0" smtClean="0">
                        <a:ln>
                          <a:noFill/>
                        </a:ln>
                        <a:solidFill>
                          <a:srgbClr val="000000"/>
                        </a:solidFill>
                        <a:effectLst/>
                        <a:latin typeface="Times New Roman" pitchFamily="18" charset="0"/>
                        <a:ea typeface="宋体" pitchFamily="2" charset="-122"/>
                      </a:endParaRPr>
                    </a:p>
                  </a:txBody>
                  <a:tcPr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bl>
          </a:graphicData>
        </a:graphic>
      </p:graphicFrame>
      <p:graphicFrame>
        <p:nvGraphicFramePr>
          <p:cNvPr id="112710" name="Group 70"/>
          <p:cNvGraphicFramePr>
            <a:graphicFrameLocks noGrp="1"/>
          </p:cNvGraphicFramePr>
          <p:nvPr>
            <p:extLst>
              <p:ext uri="{D42A27DB-BD31-4B8C-83A1-F6EECF244321}">
                <p14:modId xmlns:p14="http://schemas.microsoft.com/office/powerpoint/2010/main" val="2320938404"/>
              </p:ext>
            </p:extLst>
          </p:nvPr>
        </p:nvGraphicFramePr>
        <p:xfrm>
          <a:off x="395288" y="4857750"/>
          <a:ext cx="8305800" cy="1450523"/>
        </p:xfrm>
        <a:graphic>
          <a:graphicData uri="http://schemas.openxmlformats.org/drawingml/2006/table">
            <a:tbl>
              <a:tblPr/>
              <a:tblGrid>
                <a:gridCol w="16764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2954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tblGrid>
              <a:tr h="625403">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2400" b="1" i="0" u="none" strike="noStrike" cap="none" normalizeH="0" baseline="0" dirty="0" smtClean="0">
                          <a:ln>
                            <a:noFill/>
                          </a:ln>
                          <a:solidFill>
                            <a:srgbClr val="000000"/>
                          </a:solidFill>
                          <a:effectLst/>
                          <a:latin typeface="Times New Roman" pitchFamily="18" charset="0"/>
                          <a:ea typeface="宋体" pitchFamily="2" charset="-122"/>
                        </a:rPr>
                        <a:t>同季平均</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400" b="1" i="0" u="none" strike="noStrike" cap="none" normalizeH="0" baseline="0" dirty="0" smtClean="0">
                          <a:ln>
                            <a:noFill/>
                          </a:ln>
                          <a:solidFill>
                            <a:srgbClr val="000000"/>
                          </a:solidFill>
                          <a:effectLst/>
                          <a:latin typeface="Times New Roman" pitchFamily="18" charset="0"/>
                          <a:ea typeface="宋体" pitchFamily="2" charset="-122"/>
                        </a:rPr>
                        <a:t>88.40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400" b="1" i="0" u="none" strike="noStrike" cap="none" normalizeH="0" baseline="0" dirty="0" smtClean="0">
                          <a:ln>
                            <a:noFill/>
                          </a:ln>
                          <a:solidFill>
                            <a:srgbClr val="000000"/>
                          </a:solidFill>
                          <a:effectLst/>
                          <a:latin typeface="Times New Roman" pitchFamily="18" charset="0"/>
                          <a:ea typeface="宋体" pitchFamily="2" charset="-122"/>
                        </a:rPr>
                        <a:t>122.34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400" b="1" i="0" u="none" strike="noStrike" cap="none" normalizeH="0" baseline="0" dirty="0" smtClean="0">
                          <a:ln>
                            <a:noFill/>
                          </a:ln>
                          <a:solidFill>
                            <a:srgbClr val="000000"/>
                          </a:solidFill>
                          <a:effectLst/>
                          <a:latin typeface="Times New Roman" pitchFamily="18" charset="0"/>
                          <a:ea typeface="宋体" pitchFamily="2" charset="-122"/>
                        </a:rPr>
                        <a:t>109.02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400" b="1" i="0" u="none" strike="noStrike" cap="none" normalizeH="0" baseline="0" dirty="0" smtClean="0">
                          <a:ln>
                            <a:noFill/>
                          </a:ln>
                          <a:solidFill>
                            <a:srgbClr val="000000"/>
                          </a:solidFill>
                          <a:effectLst/>
                          <a:latin typeface="Times New Roman" pitchFamily="18" charset="0"/>
                          <a:ea typeface="宋体" pitchFamily="2" charset="-122"/>
                        </a:rPr>
                        <a:t>80.27</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400" b="1" i="0" u="none" strike="noStrike" cap="none" normalizeH="0" baseline="0" dirty="0" smtClean="0">
                          <a:ln>
                            <a:noFill/>
                          </a:ln>
                          <a:solidFill>
                            <a:srgbClr val="000000"/>
                          </a:solidFill>
                          <a:effectLst/>
                          <a:latin typeface="Times New Roman" pitchFamily="18" charset="0"/>
                          <a:ea typeface="宋体" pitchFamily="2" charset="-122"/>
                        </a:rPr>
                        <a:t> 100.005</a:t>
                      </a:r>
                    </a:p>
                  </a:txBody>
                  <a:tcPr marL="0" marR="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0"/>
                  </a:ext>
                </a:extLst>
              </a:tr>
              <a:tr h="430213">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2400" b="1" i="0" u="none" strike="noStrike" cap="none" normalizeH="0" baseline="0" dirty="0" smtClean="0">
                          <a:ln>
                            <a:noFill/>
                          </a:ln>
                          <a:solidFill>
                            <a:srgbClr val="3333FF"/>
                          </a:solidFill>
                          <a:effectLst/>
                          <a:latin typeface="Times New Roman" pitchFamily="18" charset="0"/>
                          <a:ea typeface="宋体" pitchFamily="2" charset="-122"/>
                        </a:rPr>
                        <a:t>季节比率</a:t>
                      </a:r>
                      <a:r>
                        <a:rPr kumimoji="0" lang="en-US" altLang="zh-CN" sz="2400" b="1" i="0" u="none" strike="noStrike" cap="none" normalizeH="0" baseline="0" dirty="0" smtClean="0">
                          <a:ln>
                            <a:noFill/>
                          </a:ln>
                          <a:solidFill>
                            <a:srgbClr val="3333FF"/>
                          </a:solidFill>
                          <a:effectLst/>
                          <a:latin typeface="Times New Roman" pitchFamily="18" charset="0"/>
                          <a:ea typeface="宋体" pitchFamily="2" charset="-122"/>
                        </a:rPr>
                        <a:t>(</a:t>
                      </a:r>
                      <a:r>
                        <a:rPr kumimoji="0" lang="en-US" altLang="zh-CN" sz="2400" b="1" i="0" u="none" strike="noStrike" cap="none" normalizeH="0" baseline="0" dirty="0" smtClean="0">
                          <a:ln>
                            <a:noFill/>
                          </a:ln>
                          <a:solidFill>
                            <a:srgbClr val="3333FF"/>
                          </a:solidFill>
                          <a:effectLst/>
                          <a:latin typeface="Times New Roman" pitchFamily="18" charset="0"/>
                          <a:ea typeface="宋体" pitchFamily="2" charset="-122"/>
                          <a:cs typeface="Times New Roman" pitchFamily="18" charset="0"/>
                        </a:rPr>
                        <a:t>%</a:t>
                      </a:r>
                      <a:r>
                        <a:rPr kumimoji="0" lang="en-US" altLang="zh-CN" sz="2400" b="1" i="0" u="none" strike="noStrike" cap="none" normalizeH="0" baseline="0" dirty="0" smtClean="0">
                          <a:ln>
                            <a:noFill/>
                          </a:ln>
                          <a:solidFill>
                            <a:srgbClr val="3333FF"/>
                          </a:solidFill>
                          <a:effectLst/>
                          <a:latin typeface="Times New Roman" pitchFamily="18" charset="0"/>
                          <a:ea typeface="宋体" pitchFamily="2" charset="-122"/>
                        </a:rPr>
                        <a:t>)</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400" b="1" i="0" u="none" strike="noStrike" cap="none" normalizeH="0" baseline="0" dirty="0" smtClean="0">
                          <a:ln>
                            <a:noFill/>
                          </a:ln>
                          <a:solidFill>
                            <a:srgbClr val="3333FF"/>
                          </a:solidFill>
                          <a:effectLst/>
                          <a:latin typeface="Times New Roman" pitchFamily="18" charset="0"/>
                          <a:ea typeface="宋体" pitchFamily="2" charset="-122"/>
                        </a:rPr>
                        <a:t>88.39</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400" b="1" i="0" u="none" strike="noStrike" cap="none" normalizeH="0" baseline="0" dirty="0" smtClean="0">
                          <a:ln>
                            <a:noFill/>
                          </a:ln>
                          <a:solidFill>
                            <a:srgbClr val="3333FF"/>
                          </a:solidFill>
                          <a:effectLst/>
                          <a:latin typeface="Times New Roman" pitchFamily="18" charset="0"/>
                          <a:ea typeface="宋体" pitchFamily="2" charset="-122"/>
                        </a:rPr>
                        <a:t>122.33</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400" b="1" i="0" u="none" strike="noStrike" cap="none" normalizeH="0" baseline="0" dirty="0" smtClean="0">
                          <a:ln>
                            <a:noFill/>
                          </a:ln>
                          <a:solidFill>
                            <a:srgbClr val="3333FF"/>
                          </a:solidFill>
                          <a:effectLst/>
                          <a:latin typeface="Times New Roman" pitchFamily="18" charset="0"/>
                          <a:ea typeface="宋体" pitchFamily="2" charset="-122"/>
                        </a:rPr>
                        <a:t>109.01</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400" b="1" i="0" u="none" strike="noStrike" cap="none" normalizeH="0" baseline="0" dirty="0" smtClean="0">
                          <a:ln>
                            <a:noFill/>
                          </a:ln>
                          <a:solidFill>
                            <a:srgbClr val="3333FF"/>
                          </a:solidFill>
                          <a:effectLst/>
                          <a:latin typeface="Times New Roman" pitchFamily="18" charset="0"/>
                          <a:ea typeface="宋体" pitchFamily="2" charset="-122"/>
                        </a:rPr>
                        <a:t>80.26</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0" lang="en-US" altLang="zh-CN" sz="2400" b="1" i="0" u="none" strike="noStrike" cap="none" normalizeH="0" baseline="0" dirty="0" smtClean="0">
                          <a:ln>
                            <a:noFill/>
                          </a:ln>
                          <a:solidFill>
                            <a:srgbClr val="3333FF"/>
                          </a:solidFill>
                          <a:effectLst/>
                          <a:latin typeface="Times New Roman" pitchFamily="18" charset="0"/>
                          <a:ea typeface="宋体" pitchFamily="2" charset="-122"/>
                        </a:rPr>
                        <a:t>100.00</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bl>
          </a:graphicData>
        </a:graphic>
      </p:graphicFrame>
      <p:sp>
        <p:nvSpPr>
          <p:cNvPr id="142390" name="日期占位符 5"/>
          <p:cNvSpPr>
            <a:spLocks noGrp="1"/>
          </p:cNvSpPr>
          <p:nvPr>
            <p:ph type="dt" sz="quarter" idx="10"/>
          </p:nvPr>
        </p:nvSpPr>
        <p:spPr>
          <a:noFill/>
        </p:spPr>
        <p:txBody>
          <a:bodyPr/>
          <a:lstStyle/>
          <a:p>
            <a:endParaRPr lang="en-US" altLang="zh-CN" smtClean="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12710"/>
                                        </p:tgtEl>
                                        <p:attrNameLst>
                                          <p:attrName>style.visibility</p:attrName>
                                        </p:attrNameLst>
                                      </p:cBhvr>
                                      <p:to>
                                        <p:strVal val="visible"/>
                                      </p:to>
                                    </p:set>
                                    <p:anim calcmode="lin" valueType="num">
                                      <p:cBhvr additive="base">
                                        <p:cTn id="7" dur="500" fill="hold"/>
                                        <p:tgtEl>
                                          <p:spTgt spid="112710"/>
                                        </p:tgtEl>
                                        <p:attrNameLst>
                                          <p:attrName>ppt_x</p:attrName>
                                        </p:attrNameLst>
                                      </p:cBhvr>
                                      <p:tavLst>
                                        <p:tav tm="0">
                                          <p:val>
                                            <p:strVal val="0-#ppt_w/2"/>
                                          </p:val>
                                        </p:tav>
                                        <p:tav tm="100000">
                                          <p:val>
                                            <p:strVal val="#ppt_x"/>
                                          </p:val>
                                        </p:tav>
                                      </p:tavLst>
                                    </p:anim>
                                    <p:anim calcmode="lin" valueType="num">
                                      <p:cBhvr additive="base">
                                        <p:cTn id="8" dur="500" fill="hold"/>
                                        <p:tgtEl>
                                          <p:spTgt spid="1127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a:xfrm>
            <a:off x="611188" y="620713"/>
            <a:ext cx="7772400" cy="579437"/>
          </a:xfrm>
        </p:spPr>
        <p:txBody>
          <a:bodyPr/>
          <a:lstStyle/>
          <a:p>
            <a:pPr eaLnBrk="1" hangingPunct="1">
              <a:defRPr/>
            </a:pPr>
            <a:r>
              <a:rPr lang="zh-CN" altLang="en-US" sz="3600" dirty="0" smtClean="0">
                <a:effectLst>
                  <a:outerShdw blurRad="38100" dist="38100" dir="2700000" algn="tl">
                    <a:srgbClr val="C0C0C0"/>
                  </a:outerShdw>
                </a:effectLst>
                <a:ea typeface="黑体" pitchFamily="2" charset="-122"/>
              </a:rPr>
              <a:t>季节比率的应用</a:t>
            </a:r>
          </a:p>
        </p:txBody>
      </p:sp>
      <p:graphicFrame>
        <p:nvGraphicFramePr>
          <p:cNvPr id="62466" name="Object 3"/>
          <p:cNvGraphicFramePr>
            <a:graphicFrameLocks noChangeAspect="1"/>
          </p:cNvGraphicFramePr>
          <p:nvPr>
            <p:extLst>
              <p:ext uri="{D42A27DB-BD31-4B8C-83A1-F6EECF244321}">
                <p14:modId xmlns:p14="http://schemas.microsoft.com/office/powerpoint/2010/main" val="3875987877"/>
              </p:ext>
            </p:extLst>
          </p:nvPr>
        </p:nvGraphicFramePr>
        <p:xfrm>
          <a:off x="4641850" y="1571625"/>
          <a:ext cx="2536825" cy="841375"/>
        </p:xfrm>
        <a:graphic>
          <a:graphicData uri="http://schemas.openxmlformats.org/presentationml/2006/ole">
            <mc:AlternateContent xmlns:mc="http://schemas.openxmlformats.org/markup-compatibility/2006">
              <mc:Choice xmlns:v="urn:schemas-microsoft-com:vml" Requires="v">
                <p:oleObj spid="_x0000_s63102" name="公式" r:id="rId3" imgW="685800" imgH="253800" progId="Equation.3">
                  <p:embed/>
                </p:oleObj>
              </mc:Choice>
              <mc:Fallback>
                <p:oleObj name="公式" r:id="rId3" imgW="685800" imgH="2538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1850" y="1571625"/>
                        <a:ext cx="2536825" cy="841375"/>
                      </a:xfrm>
                      <a:prstGeom prst="rect">
                        <a:avLst/>
                      </a:prstGeom>
                      <a:solidFill>
                        <a:schemeClr val="hlink"/>
                      </a:solidFill>
                      <a:ln>
                        <a:noFill/>
                      </a:ln>
                    </p:spPr>
                  </p:pic>
                </p:oleObj>
              </mc:Fallback>
            </mc:AlternateContent>
          </a:graphicData>
        </a:graphic>
      </p:graphicFrame>
      <p:sp>
        <p:nvSpPr>
          <p:cNvPr id="203780" name="Rectangle 4"/>
          <p:cNvSpPr>
            <a:spLocks noChangeArrowheads="1"/>
          </p:cNvSpPr>
          <p:nvPr/>
        </p:nvSpPr>
        <p:spPr bwMode="auto">
          <a:xfrm>
            <a:off x="533400" y="1700213"/>
            <a:ext cx="8610600" cy="1377950"/>
          </a:xfrm>
          <a:prstGeom prst="rect">
            <a:avLst/>
          </a:prstGeom>
          <a:noFill/>
          <a:ln w="12700">
            <a:noFill/>
            <a:miter lim="800000"/>
            <a:headEnd/>
            <a:tailEnd/>
          </a:ln>
          <a:effectLst/>
        </p:spPr>
        <p:txBody>
          <a:bodyPr lIns="90000" tIns="46800" rIns="90000" bIns="46800">
            <a:spAutoFit/>
          </a:bodyPr>
          <a:lstStyle/>
          <a:p>
            <a:pPr marL="457200" indent="-457200" eaLnBrk="0" hangingPunct="0">
              <a:lnSpc>
                <a:spcPct val="125000"/>
              </a:lnSpc>
              <a:spcBef>
                <a:spcPct val="30000"/>
              </a:spcBef>
              <a:buFontTx/>
              <a:buAutoNum type="arabicPeriod"/>
              <a:defRPr/>
            </a:pPr>
            <a:r>
              <a:rPr kumimoji="1" lang="zh-CN" altLang="en-US" sz="3200" b="1" dirty="0">
                <a:solidFill>
                  <a:srgbClr val="3333FF"/>
                </a:solidFill>
                <a:effectLst>
                  <a:outerShdw blurRad="38100" dist="38100" dir="2700000" algn="tl">
                    <a:srgbClr val="C0C0C0"/>
                  </a:outerShdw>
                </a:effectLst>
                <a:latin typeface="Book Antiqua" pitchFamily="18" charset="0"/>
                <a:ea typeface="黑体" pitchFamily="2" charset="-122"/>
              </a:rPr>
              <a:t>用于估计或预测：</a:t>
            </a:r>
            <a:r>
              <a:rPr kumimoji="1" lang="zh-CN" altLang="en-US" sz="3200" b="1" dirty="0">
                <a:solidFill>
                  <a:srgbClr val="3333FF"/>
                </a:solidFill>
                <a:latin typeface="Tahoma" pitchFamily="34" charset="0"/>
                <a:ea typeface="黑体" pitchFamily="2" charset="-122"/>
              </a:rPr>
              <a:t>  </a:t>
            </a:r>
          </a:p>
          <a:p>
            <a:pPr marL="457200" indent="-457200" eaLnBrk="0" hangingPunct="0">
              <a:lnSpc>
                <a:spcPct val="125000"/>
              </a:lnSpc>
              <a:spcBef>
                <a:spcPct val="30000"/>
              </a:spcBef>
              <a:defRPr/>
            </a:pPr>
            <a:r>
              <a:rPr kumimoji="1" lang="zh-CN" altLang="en-US" sz="2800" dirty="0">
                <a:latin typeface="Tahoma" pitchFamily="34" charset="0"/>
              </a:rPr>
              <a:t> </a:t>
            </a:r>
            <a:r>
              <a:rPr kumimoji="1" lang="zh-CN" altLang="en-US" sz="2800" b="1" dirty="0">
                <a:latin typeface="Tahoma" pitchFamily="34" charset="0"/>
                <a:ea typeface="黑体" pitchFamily="2" charset="-122"/>
              </a:rPr>
              <a:t>即：预测值</a:t>
            </a:r>
            <a:r>
              <a:rPr kumimoji="1" lang="en-US" altLang="zh-CN" sz="2800" b="1" dirty="0">
                <a:latin typeface="宋体" pitchFamily="2" charset="-122"/>
                <a:ea typeface="黑体" pitchFamily="2" charset="-122"/>
              </a:rPr>
              <a:t>= </a:t>
            </a:r>
            <a:r>
              <a:rPr kumimoji="1" lang="zh-CN" altLang="en-US" sz="2800" b="1" dirty="0">
                <a:latin typeface="Tahoma" pitchFamily="34" charset="0"/>
                <a:ea typeface="黑体" pitchFamily="2" charset="-122"/>
              </a:rPr>
              <a:t>趋势值</a:t>
            </a:r>
            <a:r>
              <a:rPr kumimoji="1" lang="en-US" altLang="zh-CN" sz="2800" b="1" dirty="0">
                <a:latin typeface="Tahoma" pitchFamily="34" charset="0"/>
                <a:ea typeface="黑体" pitchFamily="2" charset="-122"/>
              </a:rPr>
              <a:t>X</a:t>
            </a:r>
            <a:r>
              <a:rPr kumimoji="1" lang="zh-CN" altLang="en-US" sz="2800" b="1" dirty="0">
                <a:latin typeface="Tahoma" pitchFamily="34" charset="0"/>
                <a:ea typeface="黑体" pitchFamily="2" charset="-122"/>
              </a:rPr>
              <a:t>预测期所在季节的季节比率</a:t>
            </a:r>
          </a:p>
        </p:txBody>
      </p:sp>
      <p:sp>
        <p:nvSpPr>
          <p:cNvPr id="62475" name="Rectangle 5"/>
          <p:cNvSpPr>
            <a:spLocks noChangeArrowheads="1"/>
          </p:cNvSpPr>
          <p:nvPr/>
        </p:nvSpPr>
        <p:spPr bwMode="auto">
          <a:xfrm>
            <a:off x="4205288" y="3314700"/>
            <a:ext cx="9144000" cy="0"/>
          </a:xfrm>
          <a:prstGeom prst="rect">
            <a:avLst/>
          </a:prstGeom>
          <a:noFill/>
          <a:ln w="12700" cap="sq">
            <a:noFill/>
            <a:miter lim="800000"/>
            <a:headEnd/>
            <a:tailEnd/>
          </a:ln>
        </p:spPr>
        <p:txBody>
          <a:bodyPr>
            <a:spAutoFit/>
          </a:bodyPr>
          <a:lstStyle/>
          <a:p>
            <a:endParaRPr lang="zh-CN" altLang="en-US"/>
          </a:p>
        </p:txBody>
      </p:sp>
      <p:graphicFrame>
        <p:nvGraphicFramePr>
          <p:cNvPr id="203783" name="Object 7"/>
          <p:cNvGraphicFramePr>
            <a:graphicFrameLocks noChangeAspect="1"/>
          </p:cNvGraphicFramePr>
          <p:nvPr/>
        </p:nvGraphicFramePr>
        <p:xfrm>
          <a:off x="1187450" y="3213100"/>
          <a:ext cx="2089150" cy="766763"/>
        </p:xfrm>
        <a:graphic>
          <a:graphicData uri="http://schemas.openxmlformats.org/presentationml/2006/ole">
            <mc:AlternateContent xmlns:mc="http://schemas.openxmlformats.org/markup-compatibility/2006">
              <mc:Choice xmlns:v="urn:schemas-microsoft-com:vml" Requires="v">
                <p:oleObj spid="_x0000_s63103" name="Equation" r:id="rId5" imgW="507960" imgH="203040" progId="Equation.DSMT4">
                  <p:embed/>
                </p:oleObj>
              </mc:Choice>
              <mc:Fallback>
                <p:oleObj name="Equation" r:id="rId5" imgW="507960" imgH="20304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7450" y="3213100"/>
                        <a:ext cx="2089150" cy="766763"/>
                      </a:xfrm>
                      <a:prstGeom prst="rect">
                        <a:avLst/>
                      </a:prstGeom>
                      <a:noFill/>
                      <a:extLst>
                        <a:ext uri="{909E8E84-426E-40DD-AFC4-6F175D3DCCD1}">
                          <a14:hiddenFill xmlns:a14="http://schemas.microsoft.com/office/drawing/2010/main">
                            <a:solidFill>
                              <a:srgbClr val="FFFFCC"/>
                            </a:solidFill>
                          </a14:hiddenFill>
                        </a:ext>
                      </a:extLst>
                    </p:spPr>
                  </p:pic>
                </p:oleObj>
              </mc:Fallback>
            </mc:AlternateContent>
          </a:graphicData>
        </a:graphic>
      </p:graphicFrame>
      <p:sp>
        <p:nvSpPr>
          <p:cNvPr id="203784" name="Rectangle 8"/>
          <p:cNvSpPr>
            <a:spLocks noChangeArrowheads="1"/>
          </p:cNvSpPr>
          <p:nvPr/>
        </p:nvSpPr>
        <p:spPr bwMode="auto">
          <a:xfrm>
            <a:off x="827088" y="3365500"/>
            <a:ext cx="541337" cy="519113"/>
          </a:xfrm>
          <a:prstGeom prst="rect">
            <a:avLst/>
          </a:prstGeom>
          <a:noFill/>
          <a:ln w="12700" cap="sq">
            <a:noFill/>
            <a:miter lim="800000"/>
            <a:headEnd type="none" w="sm" len="sm"/>
            <a:tailEnd type="none" w="sm" len="sm"/>
          </a:ln>
        </p:spPr>
        <p:txBody>
          <a:bodyPr wrap="none">
            <a:spAutoFit/>
          </a:bodyPr>
          <a:lstStyle/>
          <a:p>
            <a:r>
              <a:rPr kumimoji="1" lang="zh-CN" altLang="en-US" sz="2800" b="1">
                <a:solidFill>
                  <a:srgbClr val="000000"/>
                </a:solidFill>
                <a:latin typeface="黑体" pitchFamily="49" charset="-122"/>
                <a:ea typeface="黑体" pitchFamily="49" charset="-122"/>
              </a:rPr>
              <a:t>在</a:t>
            </a:r>
          </a:p>
        </p:txBody>
      </p:sp>
      <p:sp>
        <p:nvSpPr>
          <p:cNvPr id="203785" name="Rectangle 9"/>
          <p:cNvSpPr>
            <a:spLocks noChangeArrowheads="1"/>
          </p:cNvSpPr>
          <p:nvPr/>
        </p:nvSpPr>
        <p:spPr bwMode="auto">
          <a:xfrm>
            <a:off x="3203575" y="3429000"/>
            <a:ext cx="1612900" cy="519113"/>
          </a:xfrm>
          <a:prstGeom prst="rect">
            <a:avLst/>
          </a:prstGeom>
          <a:noFill/>
          <a:ln w="12700" cap="sq">
            <a:noFill/>
            <a:miter lim="800000"/>
            <a:headEnd type="none" w="sm" len="sm"/>
            <a:tailEnd type="none" w="sm" len="sm"/>
          </a:ln>
        </p:spPr>
        <p:txBody>
          <a:bodyPr wrap="none">
            <a:spAutoFit/>
          </a:bodyPr>
          <a:lstStyle/>
          <a:p>
            <a:r>
              <a:rPr kumimoji="1" lang="zh-CN" altLang="en-US" sz="2800" b="1">
                <a:solidFill>
                  <a:srgbClr val="000000"/>
                </a:solidFill>
                <a:latin typeface="黑体" pitchFamily="49" charset="-122"/>
                <a:ea typeface="黑体" pitchFamily="49" charset="-122"/>
              </a:rPr>
              <a:t>模式下，</a:t>
            </a:r>
          </a:p>
        </p:txBody>
      </p:sp>
      <p:graphicFrame>
        <p:nvGraphicFramePr>
          <p:cNvPr id="203786" name="Object 10"/>
          <p:cNvGraphicFramePr>
            <a:graphicFrameLocks noChangeAspect="1"/>
          </p:cNvGraphicFramePr>
          <p:nvPr/>
        </p:nvGraphicFramePr>
        <p:xfrm>
          <a:off x="4787900" y="3284538"/>
          <a:ext cx="2528888" cy="831850"/>
        </p:xfrm>
        <a:graphic>
          <a:graphicData uri="http://schemas.openxmlformats.org/presentationml/2006/ole">
            <mc:AlternateContent xmlns:mc="http://schemas.openxmlformats.org/markup-compatibility/2006">
              <mc:Choice xmlns:v="urn:schemas-microsoft-com:vml" Requires="v">
                <p:oleObj spid="_x0000_s63104" name="Equation" r:id="rId7" imgW="698400" imgH="228600" progId="Equation.DSMT4">
                  <p:embed/>
                </p:oleObj>
              </mc:Choice>
              <mc:Fallback>
                <p:oleObj name="Equation" r:id="rId7" imgW="698400" imgH="2286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87900" y="3284538"/>
                        <a:ext cx="2528888" cy="831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3787" name="Object 11"/>
          <p:cNvGraphicFramePr>
            <a:graphicFrameLocks noChangeAspect="1"/>
          </p:cNvGraphicFramePr>
          <p:nvPr>
            <p:extLst>
              <p:ext uri="{D42A27DB-BD31-4B8C-83A1-F6EECF244321}">
                <p14:modId xmlns:p14="http://schemas.microsoft.com/office/powerpoint/2010/main" val="433971201"/>
              </p:ext>
            </p:extLst>
          </p:nvPr>
        </p:nvGraphicFramePr>
        <p:xfrm>
          <a:off x="4641850" y="4482646"/>
          <a:ext cx="2543175" cy="1014413"/>
        </p:xfrm>
        <a:graphic>
          <a:graphicData uri="http://schemas.openxmlformats.org/presentationml/2006/ole">
            <mc:AlternateContent xmlns:mc="http://schemas.openxmlformats.org/markup-compatibility/2006">
              <mc:Choice xmlns:v="urn:schemas-microsoft-com:vml" Requires="v">
                <p:oleObj spid="_x0000_s63105" name="Equation" r:id="rId9" imgW="647640" imgH="253800" progId="Equation.DSMT4">
                  <p:embed/>
                </p:oleObj>
              </mc:Choice>
              <mc:Fallback>
                <p:oleObj name="Equation" r:id="rId9" imgW="647640" imgH="253800" progId="Equation.DSMT4">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41850" y="4482646"/>
                        <a:ext cx="2543175" cy="1014413"/>
                      </a:xfrm>
                      <a:prstGeom prst="rect">
                        <a:avLst/>
                      </a:prstGeom>
                      <a:noFill/>
                      <a:extLst>
                        <a:ext uri="{909E8E84-426E-40DD-AFC4-6F175D3DCCD1}">
                          <a14:hiddenFill xmlns:a14="http://schemas.microsoft.com/office/drawing/2010/main">
                            <a:solidFill>
                              <a:srgbClr val="FFCC99"/>
                            </a:solidFill>
                          </a14:hiddenFill>
                        </a:ext>
                      </a:extLst>
                    </p:spPr>
                  </p:pic>
                </p:oleObj>
              </mc:Fallback>
            </mc:AlternateContent>
          </a:graphicData>
        </a:graphic>
      </p:graphicFrame>
      <p:sp>
        <p:nvSpPr>
          <p:cNvPr id="203788" name="Rectangle 12"/>
          <p:cNvSpPr>
            <a:spLocks noChangeArrowheads="1"/>
          </p:cNvSpPr>
          <p:nvPr/>
        </p:nvSpPr>
        <p:spPr bwMode="auto">
          <a:xfrm>
            <a:off x="827088" y="4860925"/>
            <a:ext cx="541337" cy="519113"/>
          </a:xfrm>
          <a:prstGeom prst="rect">
            <a:avLst/>
          </a:prstGeom>
          <a:noFill/>
          <a:ln w="12700" cap="sq">
            <a:noFill/>
            <a:miter lim="800000"/>
            <a:headEnd type="none" w="sm" len="sm"/>
            <a:tailEnd type="none" w="sm" len="sm"/>
          </a:ln>
        </p:spPr>
        <p:txBody>
          <a:bodyPr wrap="none">
            <a:spAutoFit/>
          </a:bodyPr>
          <a:lstStyle/>
          <a:p>
            <a:r>
              <a:rPr kumimoji="1" lang="zh-CN" altLang="en-US" sz="2800" b="1">
                <a:solidFill>
                  <a:srgbClr val="000000"/>
                </a:solidFill>
                <a:latin typeface="黑体" pitchFamily="49" charset="-122"/>
                <a:ea typeface="黑体" pitchFamily="49" charset="-122"/>
              </a:rPr>
              <a:t>在</a:t>
            </a:r>
          </a:p>
        </p:txBody>
      </p:sp>
      <p:graphicFrame>
        <p:nvGraphicFramePr>
          <p:cNvPr id="203789" name="Object 13"/>
          <p:cNvGraphicFramePr>
            <a:graphicFrameLocks noChangeAspect="1"/>
          </p:cNvGraphicFramePr>
          <p:nvPr>
            <p:extLst>
              <p:ext uri="{D42A27DB-BD31-4B8C-83A1-F6EECF244321}">
                <p14:modId xmlns:p14="http://schemas.microsoft.com/office/powerpoint/2010/main" val="1720717156"/>
              </p:ext>
            </p:extLst>
          </p:nvPr>
        </p:nvGraphicFramePr>
        <p:xfrm>
          <a:off x="1317625" y="4681538"/>
          <a:ext cx="1828800" cy="766763"/>
        </p:xfrm>
        <a:graphic>
          <a:graphicData uri="http://schemas.openxmlformats.org/presentationml/2006/ole">
            <mc:AlternateContent xmlns:mc="http://schemas.openxmlformats.org/markup-compatibility/2006">
              <mc:Choice xmlns:v="urn:schemas-microsoft-com:vml" Requires="v">
                <p:oleObj spid="_x0000_s63106" name="Equation" r:id="rId11" imgW="507960" imgH="203040" progId="Equation.DSMT4">
                  <p:embed/>
                </p:oleObj>
              </mc:Choice>
              <mc:Fallback>
                <p:oleObj name="Equation" r:id="rId11" imgW="507960" imgH="203040" progId="Equation.DSMT4">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17625" y="4681538"/>
                        <a:ext cx="1828800" cy="766763"/>
                      </a:xfrm>
                      <a:prstGeom prst="rect">
                        <a:avLst/>
                      </a:prstGeom>
                      <a:noFill/>
                      <a:extLst>
                        <a:ext uri="{909E8E84-426E-40DD-AFC4-6F175D3DCCD1}">
                          <a14:hiddenFill xmlns:a14="http://schemas.microsoft.com/office/drawing/2010/main">
                            <a:solidFill>
                              <a:srgbClr val="FFFFCC"/>
                            </a:solidFill>
                          </a14:hiddenFill>
                        </a:ext>
                      </a:extLst>
                    </p:spPr>
                  </p:pic>
                </p:oleObj>
              </mc:Fallback>
            </mc:AlternateContent>
          </a:graphicData>
        </a:graphic>
      </p:graphicFrame>
      <p:sp>
        <p:nvSpPr>
          <p:cNvPr id="203790" name="Rectangle 14"/>
          <p:cNvSpPr>
            <a:spLocks noChangeArrowheads="1"/>
          </p:cNvSpPr>
          <p:nvPr/>
        </p:nvSpPr>
        <p:spPr bwMode="auto">
          <a:xfrm>
            <a:off x="3176133" y="4805362"/>
            <a:ext cx="1612900" cy="519113"/>
          </a:xfrm>
          <a:prstGeom prst="rect">
            <a:avLst/>
          </a:prstGeom>
          <a:noFill/>
          <a:ln w="12700" cap="sq">
            <a:noFill/>
            <a:miter lim="800000"/>
            <a:headEnd type="none" w="sm" len="sm"/>
            <a:tailEnd type="none" w="sm" len="sm"/>
          </a:ln>
        </p:spPr>
        <p:txBody>
          <a:bodyPr wrap="none">
            <a:spAutoFit/>
          </a:bodyPr>
          <a:lstStyle/>
          <a:p>
            <a:r>
              <a:rPr kumimoji="1" lang="zh-CN" altLang="en-US" sz="2800" b="1">
                <a:solidFill>
                  <a:srgbClr val="000000"/>
                </a:solidFill>
                <a:latin typeface="黑体" pitchFamily="49" charset="-122"/>
                <a:ea typeface="黑体" pitchFamily="49" charset="-122"/>
              </a:rPr>
              <a:t>模式下，</a:t>
            </a:r>
          </a:p>
        </p:txBody>
      </p:sp>
      <p:sp>
        <p:nvSpPr>
          <p:cNvPr id="62480" name="日期占位符 14"/>
          <p:cNvSpPr>
            <a:spLocks noGrp="1"/>
          </p:cNvSpPr>
          <p:nvPr>
            <p:ph type="dt" sz="quarter" idx="10"/>
          </p:nvPr>
        </p:nvSpPr>
        <p:spPr>
          <a:noFill/>
        </p:spPr>
        <p:txBody>
          <a:bodyPr/>
          <a:lstStyle/>
          <a:p>
            <a:endParaRPr lang="en-US" altLang="zh-CN" smtClean="0"/>
          </a:p>
        </p:txBody>
      </p:sp>
      <p:graphicFrame>
        <p:nvGraphicFramePr>
          <p:cNvPr id="62471" name="Object 16"/>
          <p:cNvGraphicFramePr>
            <a:graphicFrameLocks noChangeAspect="1"/>
          </p:cNvGraphicFramePr>
          <p:nvPr>
            <p:extLst>
              <p:ext uri="{D42A27DB-BD31-4B8C-83A1-F6EECF244321}">
                <p14:modId xmlns:p14="http://schemas.microsoft.com/office/powerpoint/2010/main" val="3684650124"/>
              </p:ext>
            </p:extLst>
          </p:nvPr>
        </p:nvGraphicFramePr>
        <p:xfrm>
          <a:off x="6948264" y="5694363"/>
          <a:ext cx="1597025" cy="673100"/>
        </p:xfrm>
        <a:graphic>
          <a:graphicData uri="http://schemas.openxmlformats.org/presentationml/2006/ole">
            <mc:AlternateContent xmlns:mc="http://schemas.openxmlformats.org/markup-compatibility/2006">
              <mc:Choice xmlns:v="urn:schemas-microsoft-com:vml" Requires="v">
                <p:oleObj spid="_x0000_s63107" name="公式" r:id="rId13" imgW="431640" imgH="253800" progId="Equation.3">
                  <p:embed/>
                </p:oleObj>
              </mc:Choice>
              <mc:Fallback>
                <p:oleObj name="公式" r:id="rId13" imgW="431640" imgH="253800" progId="Equation.3">
                  <p:embed/>
                  <p:pic>
                    <p:nvPicPr>
                      <p:cNvPr id="0" name="Object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948264" y="5694363"/>
                        <a:ext cx="1597025" cy="673100"/>
                      </a:xfrm>
                      <a:prstGeom prst="rect">
                        <a:avLst/>
                      </a:prstGeom>
                      <a:solidFill>
                        <a:schemeClr val="tx1">
                          <a:lumMod val="60000"/>
                          <a:lumOff val="40000"/>
                        </a:schemeClr>
                      </a:solid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3783"/>
                                        </p:tgtEl>
                                        <p:attrNameLst>
                                          <p:attrName>style.visibility</p:attrName>
                                        </p:attrNameLst>
                                      </p:cBhvr>
                                      <p:to>
                                        <p:strVal val="visible"/>
                                      </p:to>
                                    </p:set>
                                    <p:animEffect transition="in" filter="wipe(left)">
                                      <p:cBhvr>
                                        <p:cTn id="7" dur="500"/>
                                        <p:tgtEl>
                                          <p:spTgt spid="20378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03784"/>
                                        </p:tgtEl>
                                        <p:attrNameLst>
                                          <p:attrName>style.visibility</p:attrName>
                                        </p:attrNameLst>
                                      </p:cBhvr>
                                      <p:to>
                                        <p:strVal val="visible"/>
                                      </p:to>
                                    </p:set>
                                    <p:animEffect transition="in" filter="wipe(left)">
                                      <p:cBhvr>
                                        <p:cTn id="10" dur="500"/>
                                        <p:tgtEl>
                                          <p:spTgt spid="20378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03785"/>
                                        </p:tgtEl>
                                        <p:attrNameLst>
                                          <p:attrName>style.visibility</p:attrName>
                                        </p:attrNameLst>
                                      </p:cBhvr>
                                      <p:to>
                                        <p:strVal val="visible"/>
                                      </p:to>
                                    </p:set>
                                    <p:animEffect transition="in" filter="wipe(left)">
                                      <p:cBhvr>
                                        <p:cTn id="13" dur="500"/>
                                        <p:tgtEl>
                                          <p:spTgt spid="203785"/>
                                        </p:tgtEl>
                                      </p:cBhvr>
                                    </p:animEffect>
                                  </p:childTnLst>
                                </p:cTn>
                              </p:par>
                              <p:par>
                                <p:cTn id="14" presetID="22" presetClass="entr" presetSubtype="8" fill="hold" nodeType="withEffect">
                                  <p:stCondLst>
                                    <p:cond delay="0"/>
                                  </p:stCondLst>
                                  <p:childTnLst>
                                    <p:set>
                                      <p:cBhvr>
                                        <p:cTn id="15" dur="1" fill="hold">
                                          <p:stCondLst>
                                            <p:cond delay="0"/>
                                          </p:stCondLst>
                                        </p:cTn>
                                        <p:tgtEl>
                                          <p:spTgt spid="203786"/>
                                        </p:tgtEl>
                                        <p:attrNameLst>
                                          <p:attrName>style.visibility</p:attrName>
                                        </p:attrNameLst>
                                      </p:cBhvr>
                                      <p:to>
                                        <p:strVal val="visible"/>
                                      </p:to>
                                    </p:set>
                                    <p:animEffect transition="in" filter="wipe(left)">
                                      <p:cBhvr>
                                        <p:cTn id="16" dur="500"/>
                                        <p:tgtEl>
                                          <p:spTgt spid="20378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03787"/>
                                        </p:tgtEl>
                                        <p:attrNameLst>
                                          <p:attrName>style.visibility</p:attrName>
                                        </p:attrNameLst>
                                      </p:cBhvr>
                                      <p:to>
                                        <p:strVal val="visible"/>
                                      </p:to>
                                    </p:set>
                                    <p:animEffect transition="in" filter="wipe(left)">
                                      <p:cBhvr>
                                        <p:cTn id="21" dur="500"/>
                                        <p:tgtEl>
                                          <p:spTgt spid="203787"/>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203788"/>
                                        </p:tgtEl>
                                        <p:attrNameLst>
                                          <p:attrName>style.visibility</p:attrName>
                                        </p:attrNameLst>
                                      </p:cBhvr>
                                      <p:to>
                                        <p:strVal val="visible"/>
                                      </p:to>
                                    </p:set>
                                    <p:animEffect transition="in" filter="wipe(left)">
                                      <p:cBhvr>
                                        <p:cTn id="24" dur="500"/>
                                        <p:tgtEl>
                                          <p:spTgt spid="203788"/>
                                        </p:tgtEl>
                                      </p:cBhvr>
                                    </p:animEffect>
                                  </p:childTnLst>
                                </p:cTn>
                              </p:par>
                              <p:par>
                                <p:cTn id="25" presetID="22" presetClass="entr" presetSubtype="8" fill="hold" nodeType="withEffect">
                                  <p:stCondLst>
                                    <p:cond delay="0"/>
                                  </p:stCondLst>
                                  <p:childTnLst>
                                    <p:set>
                                      <p:cBhvr>
                                        <p:cTn id="26" dur="1" fill="hold">
                                          <p:stCondLst>
                                            <p:cond delay="0"/>
                                          </p:stCondLst>
                                        </p:cTn>
                                        <p:tgtEl>
                                          <p:spTgt spid="203789"/>
                                        </p:tgtEl>
                                        <p:attrNameLst>
                                          <p:attrName>style.visibility</p:attrName>
                                        </p:attrNameLst>
                                      </p:cBhvr>
                                      <p:to>
                                        <p:strVal val="visible"/>
                                      </p:to>
                                    </p:set>
                                    <p:animEffect transition="in" filter="wipe(left)">
                                      <p:cBhvr>
                                        <p:cTn id="27" dur="500"/>
                                        <p:tgtEl>
                                          <p:spTgt spid="203789"/>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203790"/>
                                        </p:tgtEl>
                                        <p:attrNameLst>
                                          <p:attrName>style.visibility</p:attrName>
                                        </p:attrNameLst>
                                      </p:cBhvr>
                                      <p:to>
                                        <p:strVal val="visible"/>
                                      </p:to>
                                    </p:set>
                                    <p:animEffect transition="in" filter="wipe(left)">
                                      <p:cBhvr>
                                        <p:cTn id="30" dur="500"/>
                                        <p:tgtEl>
                                          <p:spTgt spid="2037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84" grpId="0"/>
      <p:bldP spid="203785" grpId="0"/>
      <p:bldP spid="203788" grpId="0"/>
      <p:bldP spid="203790"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Text Box 2"/>
          <p:cNvSpPr txBox="1">
            <a:spLocks noChangeArrowheads="1"/>
          </p:cNvSpPr>
          <p:nvPr/>
        </p:nvSpPr>
        <p:spPr bwMode="auto">
          <a:xfrm>
            <a:off x="467544" y="908720"/>
            <a:ext cx="8286750" cy="3024187"/>
          </a:xfrm>
          <a:prstGeom prst="rect">
            <a:avLst/>
          </a:prstGeom>
          <a:noFill/>
          <a:ln w="12700">
            <a:noFill/>
            <a:miter lim="800000"/>
            <a:headEnd/>
            <a:tailEnd/>
          </a:ln>
          <a:effectLst/>
        </p:spPr>
        <p:txBody>
          <a:bodyPr lIns="90000" tIns="46800" rIns="90000" bIns="46800">
            <a:spAutoFit/>
          </a:bodyPr>
          <a:lstStyle/>
          <a:p>
            <a:pPr eaLnBrk="0" hangingPunct="0">
              <a:lnSpc>
                <a:spcPct val="120000"/>
              </a:lnSpc>
              <a:spcBef>
                <a:spcPct val="50000"/>
              </a:spcBef>
              <a:defRPr/>
            </a:pPr>
            <a:r>
              <a:rPr kumimoji="1" lang="en-US" altLang="zh-CN" sz="3600" dirty="0">
                <a:effectLst>
                  <a:outerShdw blurRad="38100" dist="38100" dir="2700000" algn="tl">
                    <a:srgbClr val="C0C0C0"/>
                  </a:outerShdw>
                </a:effectLst>
                <a:latin typeface="Times New Roman" pitchFamily="18" charset="0"/>
                <a:sym typeface="Wingdings 3" pitchFamily="18" charset="2"/>
              </a:rPr>
              <a:t>  </a:t>
            </a:r>
            <a:r>
              <a:rPr kumimoji="1" lang="en-US" altLang="zh-CN" sz="3600" dirty="0">
                <a:solidFill>
                  <a:srgbClr val="3333FF"/>
                </a:solidFill>
                <a:effectLst>
                  <a:outerShdw blurRad="38100" dist="38100" dir="2700000" algn="tl">
                    <a:srgbClr val="C0C0C0"/>
                  </a:outerShdw>
                </a:effectLst>
                <a:latin typeface="Times New Roman" pitchFamily="18" charset="0"/>
                <a:sym typeface="Wingdings 3" pitchFamily="18" charset="2"/>
              </a:rPr>
              <a:t>2</a:t>
            </a:r>
            <a:r>
              <a:rPr kumimoji="1" lang="en-US" altLang="zh-CN" sz="3600" b="1" dirty="0">
                <a:solidFill>
                  <a:srgbClr val="3333FF"/>
                </a:solidFill>
                <a:effectLst>
                  <a:outerShdw blurRad="38100" dist="38100" dir="2700000" algn="tl">
                    <a:srgbClr val="C0C0C0"/>
                  </a:outerShdw>
                </a:effectLst>
                <a:latin typeface="Times New Roman" pitchFamily="18" charset="0"/>
                <a:sym typeface="Wingdings 3" pitchFamily="18" charset="2"/>
              </a:rPr>
              <a:t>.  </a:t>
            </a:r>
            <a:r>
              <a:rPr kumimoji="1" lang="zh-CN" altLang="en-US" sz="3600" b="1" dirty="0">
                <a:solidFill>
                  <a:srgbClr val="3333FF"/>
                </a:solidFill>
                <a:effectLst>
                  <a:outerShdw blurRad="38100" dist="38100" dir="2700000" algn="tl">
                    <a:srgbClr val="C0C0C0"/>
                  </a:outerShdw>
                </a:effectLst>
                <a:latin typeface="黑体" pitchFamily="2" charset="-122"/>
                <a:ea typeface="黑体" pitchFamily="2" charset="-122"/>
                <a:sym typeface="Wingdings 3" pitchFamily="18" charset="2"/>
              </a:rPr>
              <a:t>用于季节变动的调整</a:t>
            </a:r>
            <a:endParaRPr kumimoji="1" lang="en-US" altLang="zh-CN" sz="3600" b="1" dirty="0">
              <a:effectLst>
                <a:outerShdw blurRad="38100" dist="38100" dir="2700000" algn="tl">
                  <a:srgbClr val="C0C0C0"/>
                </a:outerShdw>
              </a:effectLst>
              <a:latin typeface="黑体" pitchFamily="2" charset="-122"/>
              <a:ea typeface="黑体" pitchFamily="2" charset="-122"/>
              <a:sym typeface="Wingdings 3" pitchFamily="18" charset="2"/>
            </a:endParaRPr>
          </a:p>
          <a:p>
            <a:pPr marL="0" lvl="1" indent="190500" eaLnBrk="0" hangingPunct="0">
              <a:lnSpc>
                <a:spcPct val="120000"/>
              </a:lnSpc>
              <a:spcBef>
                <a:spcPct val="50000"/>
              </a:spcBef>
              <a:defRPr/>
            </a:pPr>
            <a:r>
              <a:rPr kumimoji="1" lang="zh-CN" altLang="en-US" sz="3200" b="1" dirty="0" smtClean="0">
                <a:effectLst>
                  <a:outerShdw blurRad="38100" dist="38100" dir="2700000" algn="tl">
                    <a:srgbClr val="C0C0C0"/>
                  </a:outerShdw>
                </a:effectLst>
                <a:latin typeface="黑体" pitchFamily="2" charset="-122"/>
                <a:ea typeface="黑体" pitchFamily="2" charset="-122"/>
                <a:sym typeface="Wingdings 3" pitchFamily="18" charset="2"/>
              </a:rPr>
              <a:t>目的</a:t>
            </a:r>
            <a:r>
              <a:rPr kumimoji="1" lang="en-US" altLang="zh-CN" sz="3200" b="1" dirty="0" smtClean="0">
                <a:effectLst>
                  <a:outerShdw blurRad="38100" dist="38100" dir="2700000" algn="tl">
                    <a:srgbClr val="C0C0C0"/>
                  </a:outerShdw>
                </a:effectLst>
                <a:latin typeface="黑体" pitchFamily="2" charset="-122"/>
                <a:ea typeface="黑体" pitchFamily="2" charset="-122"/>
                <a:sym typeface="Wingdings 3" pitchFamily="18" charset="2"/>
              </a:rPr>
              <a:t>——</a:t>
            </a:r>
            <a:r>
              <a:rPr kumimoji="1" lang="zh-CN" altLang="en-US" sz="3200" b="1" dirty="0" smtClean="0">
                <a:effectLst>
                  <a:outerShdw blurRad="38100" dist="38100" dir="2700000" algn="tl">
                    <a:srgbClr val="C0C0C0"/>
                  </a:outerShdw>
                </a:effectLst>
                <a:latin typeface="黑体" pitchFamily="2" charset="-122"/>
                <a:ea typeface="黑体" pitchFamily="2" charset="-122"/>
                <a:sym typeface="Wingdings 3" pitchFamily="18" charset="2"/>
              </a:rPr>
              <a:t>将</a:t>
            </a:r>
            <a:r>
              <a:rPr kumimoji="1" lang="zh-CN" altLang="en-US" sz="3200" b="1" dirty="0">
                <a:effectLst>
                  <a:outerShdw blurRad="38100" dist="38100" dir="2700000" algn="tl">
                    <a:srgbClr val="C0C0C0"/>
                  </a:outerShdw>
                </a:effectLst>
                <a:latin typeface="黑体" pitchFamily="2" charset="-122"/>
                <a:ea typeface="黑体" pitchFamily="2" charset="-122"/>
                <a:sym typeface="Wingdings 3" pitchFamily="18" charset="2"/>
              </a:rPr>
              <a:t>季节变动从时间数列中予以剔除，以便观察和分析时间数列其他特征。</a:t>
            </a:r>
            <a:endParaRPr kumimoji="1" lang="en-US" altLang="zh-CN" sz="3200" b="1" dirty="0">
              <a:effectLst>
                <a:outerShdw blurRad="38100" dist="38100" dir="2700000" algn="tl">
                  <a:srgbClr val="C0C0C0"/>
                </a:outerShdw>
              </a:effectLst>
              <a:latin typeface="黑体" pitchFamily="2" charset="-122"/>
              <a:ea typeface="黑体" pitchFamily="2" charset="-122"/>
              <a:sym typeface="Wingdings 3" pitchFamily="18" charset="2"/>
            </a:endParaRPr>
          </a:p>
          <a:p>
            <a:pPr marL="0" lvl="1" indent="190500" eaLnBrk="0" hangingPunct="0">
              <a:lnSpc>
                <a:spcPct val="120000"/>
              </a:lnSpc>
              <a:spcBef>
                <a:spcPct val="50000"/>
              </a:spcBef>
              <a:defRPr/>
            </a:pPr>
            <a:r>
              <a:rPr kumimoji="1" lang="zh-CN" altLang="en-US" sz="3200" b="1" dirty="0" smtClean="0">
                <a:effectLst>
                  <a:outerShdw blurRad="38100" dist="38100" dir="2700000" algn="tl">
                    <a:srgbClr val="C0C0C0"/>
                  </a:outerShdw>
                </a:effectLst>
                <a:latin typeface="黑体" pitchFamily="2" charset="-122"/>
                <a:ea typeface="黑体" pitchFamily="2" charset="-122"/>
                <a:sym typeface="Wingdings 3" pitchFamily="18" charset="2"/>
              </a:rPr>
              <a:t>方法</a:t>
            </a:r>
            <a:r>
              <a:rPr kumimoji="1" lang="en-US" altLang="zh-CN" sz="3200" b="1" dirty="0" smtClean="0">
                <a:effectLst>
                  <a:outerShdw blurRad="38100" dist="38100" dir="2700000" algn="tl">
                    <a:srgbClr val="C0C0C0"/>
                  </a:outerShdw>
                </a:effectLst>
                <a:latin typeface="黑体" pitchFamily="2" charset="-122"/>
                <a:ea typeface="黑体" pitchFamily="2" charset="-122"/>
                <a:sym typeface="Wingdings 3" pitchFamily="18" charset="2"/>
              </a:rPr>
              <a:t>——</a:t>
            </a:r>
            <a:r>
              <a:rPr kumimoji="1" lang="zh-CN" altLang="en-US" sz="3200" b="1" dirty="0" smtClean="0">
                <a:effectLst>
                  <a:outerShdw blurRad="38100" dist="38100" dir="2700000" algn="tl">
                    <a:srgbClr val="C0C0C0"/>
                  </a:outerShdw>
                </a:effectLst>
                <a:latin typeface="黑体" pitchFamily="2" charset="-122"/>
                <a:ea typeface="黑体" pitchFamily="2" charset="-122"/>
                <a:sym typeface="Wingdings 3" pitchFamily="18" charset="2"/>
              </a:rPr>
              <a:t>原</a:t>
            </a:r>
            <a:r>
              <a:rPr kumimoji="1" lang="zh-CN" altLang="en-US" sz="3200" b="1" dirty="0">
                <a:effectLst>
                  <a:outerShdw blurRad="38100" dist="38100" dir="2700000" algn="tl">
                    <a:srgbClr val="C0C0C0"/>
                  </a:outerShdw>
                </a:effectLst>
                <a:latin typeface="黑体" pitchFamily="2" charset="-122"/>
                <a:ea typeface="黑体" pitchFamily="2" charset="-122"/>
                <a:sym typeface="Wingdings 3" pitchFamily="18" charset="2"/>
              </a:rPr>
              <a:t>时间数列除以相应的季节指数</a:t>
            </a:r>
            <a:r>
              <a:rPr kumimoji="1" lang="en-US" altLang="zh-CN" sz="2000" b="1" dirty="0">
                <a:effectLst>
                  <a:outerShdw blurRad="38100" dist="38100" dir="2700000" algn="tl">
                    <a:srgbClr val="C0C0C0"/>
                  </a:outerShdw>
                </a:effectLst>
                <a:latin typeface="黑体" pitchFamily="2" charset="-122"/>
                <a:ea typeface="黑体" pitchFamily="2" charset="-122"/>
                <a:sym typeface="Wingdings 3" pitchFamily="18" charset="2"/>
              </a:rPr>
              <a:t>:</a:t>
            </a:r>
            <a:endParaRPr kumimoji="1" lang="zh-CN" altLang="en-US" sz="2000" b="1" dirty="0">
              <a:effectLst>
                <a:outerShdw blurRad="38100" dist="38100" dir="2700000" algn="tl">
                  <a:srgbClr val="C0C0C0"/>
                </a:outerShdw>
              </a:effectLst>
              <a:latin typeface="黑体" pitchFamily="2" charset="-122"/>
              <a:ea typeface="黑体" pitchFamily="2" charset="-122"/>
              <a:sym typeface="Wingdings 3" pitchFamily="18" charset="2"/>
            </a:endParaRPr>
          </a:p>
        </p:txBody>
      </p:sp>
      <p:graphicFrame>
        <p:nvGraphicFramePr>
          <p:cNvPr id="63490" name="Object 3"/>
          <p:cNvGraphicFramePr>
            <a:graphicFrameLocks noChangeAspect="1"/>
          </p:cNvGraphicFramePr>
          <p:nvPr>
            <p:extLst>
              <p:ext uri="{D42A27DB-BD31-4B8C-83A1-F6EECF244321}">
                <p14:modId xmlns:p14="http://schemas.microsoft.com/office/powerpoint/2010/main" val="2581158410"/>
              </p:ext>
            </p:extLst>
          </p:nvPr>
        </p:nvGraphicFramePr>
        <p:xfrm>
          <a:off x="518559" y="4484228"/>
          <a:ext cx="8262938" cy="1331913"/>
        </p:xfrm>
        <a:graphic>
          <a:graphicData uri="http://schemas.openxmlformats.org/presentationml/2006/ole">
            <mc:AlternateContent xmlns:mc="http://schemas.openxmlformats.org/markup-compatibility/2006">
              <mc:Choice xmlns:v="urn:schemas-microsoft-com:vml" Requires="v">
                <p:oleObj spid="_x0000_s63595" name="公式" r:id="rId4" imgW="3644640" imgH="431640" progId="Equation.3">
                  <p:embed/>
                </p:oleObj>
              </mc:Choice>
              <mc:Fallback>
                <p:oleObj name="公式" r:id="rId4" imgW="3644640" imgH="43164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8559" y="4484228"/>
                        <a:ext cx="8262938" cy="1331913"/>
                      </a:xfrm>
                      <a:prstGeom prst="rect">
                        <a:avLst/>
                      </a:prstGeom>
                      <a:solidFill>
                        <a:schemeClr val="bg1">
                          <a:lumMod val="95000"/>
                        </a:schemeClr>
                      </a:solidFill>
                    </p:spPr>
                  </p:pic>
                </p:oleObj>
              </mc:Fallback>
            </mc:AlternateContent>
          </a:graphicData>
        </a:graphic>
      </p:graphicFrame>
      <p:sp>
        <p:nvSpPr>
          <p:cNvPr id="63493" name="日期占位符 4"/>
          <p:cNvSpPr>
            <a:spLocks noGrp="1"/>
          </p:cNvSpPr>
          <p:nvPr>
            <p:ph type="dt" sz="quarter" idx="10"/>
          </p:nvPr>
        </p:nvSpPr>
        <p:spPr>
          <a:noFill/>
        </p:spPr>
        <p:txBody>
          <a:bodyPr/>
          <a:lstStyle/>
          <a:p>
            <a:endParaRPr lang="en-US" altLang="zh-CN" smtClean="0"/>
          </a:p>
        </p:txBody>
      </p:sp>
    </p:spTree>
  </p:cSld>
  <p:clrMapOvr>
    <a:masterClrMapping/>
  </p:clrMapOvr>
  <p:transition>
    <p:wipe dir="r"/>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2"/>
          <p:cNvSpPr>
            <a:spLocks noGrp="1" noChangeArrowheads="1"/>
          </p:cNvSpPr>
          <p:nvPr>
            <p:ph type="title"/>
          </p:nvPr>
        </p:nvSpPr>
        <p:spPr/>
        <p:txBody>
          <a:bodyPr/>
          <a:lstStyle/>
          <a:p>
            <a:pPr eaLnBrk="1" hangingPunct="1"/>
            <a:r>
              <a:rPr lang="zh-CN" altLang="en-US" sz="3600" dirty="0" smtClean="0"/>
              <a:t>季节调整后的数据</a:t>
            </a:r>
          </a:p>
        </p:txBody>
      </p:sp>
      <p:graphicFrame>
        <p:nvGraphicFramePr>
          <p:cNvPr id="64514" name="Object 3"/>
          <p:cNvGraphicFramePr>
            <a:graphicFrameLocks noChangeAspect="1"/>
          </p:cNvGraphicFramePr>
          <p:nvPr/>
        </p:nvGraphicFramePr>
        <p:xfrm>
          <a:off x="323850" y="1196975"/>
          <a:ext cx="8428038" cy="4967288"/>
        </p:xfrm>
        <a:graphic>
          <a:graphicData uri="http://schemas.openxmlformats.org/presentationml/2006/ole">
            <mc:AlternateContent xmlns:mc="http://schemas.openxmlformats.org/markup-compatibility/2006">
              <mc:Choice xmlns:v="urn:schemas-microsoft-com:vml" Requires="v">
                <p:oleObj spid="_x0000_s64619" name="图表" r:id="rId3" imgW="5048349" imgH="2524015" progId="Excel.Sheet.8">
                  <p:embed/>
                </p:oleObj>
              </mc:Choice>
              <mc:Fallback>
                <p:oleObj name="图表" r:id="rId3" imgW="5048349" imgH="2524015" progId="Excel.Sheet.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1196975"/>
                        <a:ext cx="8428038" cy="4967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4517" name="日期占位符 4"/>
          <p:cNvSpPr>
            <a:spLocks noGrp="1"/>
          </p:cNvSpPr>
          <p:nvPr>
            <p:ph type="dt" sz="quarter" idx="10"/>
          </p:nvPr>
        </p:nvSpPr>
        <p:spPr>
          <a:noFill/>
        </p:spPr>
        <p:txBody>
          <a:bodyPr/>
          <a:lstStyle/>
          <a:p>
            <a:endParaRPr lang="en-US" altLang="zh-CN" smtClean="0"/>
          </a:p>
        </p:txBody>
      </p:sp>
    </p:spTree>
  </p:cSld>
  <p:clrMapOvr>
    <a:masterClrMapping/>
  </p:clrMapOvr>
  <p:transition/>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3" name="Rectangle 2"/>
          <p:cNvSpPr>
            <a:spLocks noGrp="1" noChangeArrowheads="1"/>
          </p:cNvSpPr>
          <p:nvPr>
            <p:ph type="title"/>
          </p:nvPr>
        </p:nvSpPr>
        <p:spPr>
          <a:xfrm>
            <a:off x="1331913" y="0"/>
            <a:ext cx="7010400" cy="1143000"/>
          </a:xfrm>
        </p:spPr>
        <p:txBody>
          <a:bodyPr lIns="90488" tIns="44450" rIns="90488" bIns="44450" anchor="ctr" anchorCtr="1"/>
          <a:lstStyle/>
          <a:p>
            <a:pPr eaLnBrk="1" hangingPunct="1"/>
            <a:r>
              <a:rPr lang="zh-CN" altLang="en-US" sz="4000" dirty="0" smtClean="0"/>
              <a:t>季节变动（小结）</a:t>
            </a:r>
            <a:endParaRPr lang="zh-CN" altLang="en-US" sz="3600" dirty="0" smtClean="0">
              <a:solidFill>
                <a:schemeClr val="hlink"/>
              </a:solidFill>
              <a:latin typeface="Times New Roman" pitchFamily="18" charset="0"/>
            </a:endParaRPr>
          </a:p>
        </p:txBody>
      </p:sp>
      <p:sp>
        <p:nvSpPr>
          <p:cNvPr id="121859" name="Text Box 3"/>
          <p:cNvSpPr txBox="1">
            <a:spLocks noChangeArrowheads="1"/>
          </p:cNvSpPr>
          <p:nvPr/>
        </p:nvSpPr>
        <p:spPr bwMode="auto">
          <a:xfrm>
            <a:off x="250825" y="1052513"/>
            <a:ext cx="8534400" cy="5033962"/>
          </a:xfrm>
          <a:prstGeom prst="rect">
            <a:avLst/>
          </a:prstGeom>
          <a:noFill/>
          <a:ln w="12700">
            <a:noFill/>
            <a:miter lim="800000"/>
            <a:headEnd/>
            <a:tailEnd/>
          </a:ln>
        </p:spPr>
        <p:txBody>
          <a:bodyPr lIns="90000" tIns="46800" rIns="90000" bIns="46800">
            <a:spAutoFit/>
          </a:bodyPr>
          <a:lstStyle/>
          <a:p>
            <a:pPr marL="457200" indent="-457200" algn="just" eaLnBrk="0" hangingPunct="0">
              <a:spcBef>
                <a:spcPct val="50000"/>
              </a:spcBef>
              <a:buFontTx/>
              <a:buAutoNum type="arabicPeriod"/>
            </a:pPr>
            <a:r>
              <a:rPr kumimoji="1" lang="zh-CN" altLang="en-US" sz="2800">
                <a:solidFill>
                  <a:srgbClr val="000000"/>
                </a:solidFill>
                <a:latin typeface="Times New Roman" pitchFamily="18" charset="0"/>
              </a:rPr>
              <a:t>将季节变动规律用一系列季节比率（季节指数）来反映；</a:t>
            </a:r>
            <a:r>
              <a:rPr kumimoji="1" lang="zh-CN" altLang="en-US" sz="2600">
                <a:solidFill>
                  <a:srgbClr val="000000"/>
                </a:solidFill>
                <a:latin typeface="Times New Roman" pitchFamily="18" charset="0"/>
              </a:rPr>
              <a:t>月份（季度）数据，由</a:t>
            </a:r>
            <a:r>
              <a:rPr kumimoji="1" lang="en-US" altLang="zh-CN" sz="2600">
                <a:solidFill>
                  <a:srgbClr val="000000"/>
                </a:solidFill>
                <a:latin typeface="Times New Roman" pitchFamily="18" charset="0"/>
              </a:rPr>
              <a:t>12</a:t>
            </a:r>
            <a:r>
              <a:rPr kumimoji="1" lang="zh-CN" altLang="en-US" sz="2600">
                <a:solidFill>
                  <a:srgbClr val="000000"/>
                </a:solidFill>
                <a:latin typeface="Times New Roman" pitchFamily="18" charset="0"/>
              </a:rPr>
              <a:t>个（</a:t>
            </a:r>
            <a:r>
              <a:rPr kumimoji="1" lang="en-US" altLang="zh-CN" sz="2600">
                <a:solidFill>
                  <a:srgbClr val="000000"/>
                </a:solidFill>
                <a:latin typeface="Times New Roman" pitchFamily="18" charset="0"/>
              </a:rPr>
              <a:t>4</a:t>
            </a:r>
            <a:r>
              <a:rPr kumimoji="1" lang="zh-CN" altLang="en-US" sz="2600">
                <a:solidFill>
                  <a:srgbClr val="000000"/>
                </a:solidFill>
                <a:latin typeface="Times New Roman" pitchFamily="18" charset="0"/>
              </a:rPr>
              <a:t>个）指数组成。</a:t>
            </a:r>
          </a:p>
          <a:p>
            <a:pPr marL="457200" indent="-457200" algn="just" eaLnBrk="0" hangingPunct="0">
              <a:spcBef>
                <a:spcPct val="50000"/>
              </a:spcBef>
              <a:buFontTx/>
              <a:buAutoNum type="arabicPeriod"/>
            </a:pPr>
            <a:r>
              <a:rPr kumimoji="1" lang="zh-CN" altLang="en-US" sz="2800">
                <a:solidFill>
                  <a:srgbClr val="000000"/>
                </a:solidFill>
                <a:latin typeface="Times New Roman" pitchFamily="18" charset="0"/>
              </a:rPr>
              <a:t>季节比率的平均数等于</a:t>
            </a:r>
            <a:r>
              <a:rPr kumimoji="1" lang="en-US" altLang="zh-CN" sz="2800">
                <a:solidFill>
                  <a:srgbClr val="000000"/>
                </a:solidFill>
                <a:latin typeface="Times New Roman" pitchFamily="18" charset="0"/>
              </a:rPr>
              <a:t>100%</a:t>
            </a:r>
            <a:r>
              <a:rPr kumimoji="1" lang="zh-CN" altLang="en-US" sz="2800">
                <a:solidFill>
                  <a:srgbClr val="000000"/>
                </a:solidFill>
                <a:latin typeface="Times New Roman" pitchFamily="18" charset="0"/>
              </a:rPr>
              <a:t>；</a:t>
            </a:r>
          </a:p>
          <a:p>
            <a:pPr marL="914400" lvl="1" indent="-457200" algn="just" eaLnBrk="0" hangingPunct="0">
              <a:spcBef>
                <a:spcPct val="50000"/>
              </a:spcBef>
              <a:buFontTx/>
              <a:buChar char="•"/>
            </a:pPr>
            <a:r>
              <a:rPr kumimoji="1" lang="zh-CN" altLang="en-US" sz="2400">
                <a:solidFill>
                  <a:srgbClr val="000000"/>
                </a:solidFill>
                <a:latin typeface="Times New Roman" pitchFamily="18" charset="0"/>
              </a:rPr>
              <a:t>月</a:t>
            </a:r>
            <a:r>
              <a:rPr kumimoji="1" lang="en-US" altLang="zh-CN" sz="2400">
                <a:solidFill>
                  <a:srgbClr val="000000"/>
                </a:solidFill>
                <a:latin typeface="Times New Roman" pitchFamily="18" charset="0"/>
              </a:rPr>
              <a:t>(</a:t>
            </a:r>
            <a:r>
              <a:rPr kumimoji="1" lang="zh-CN" altLang="en-US" sz="2400">
                <a:solidFill>
                  <a:srgbClr val="000000"/>
                </a:solidFill>
                <a:latin typeface="Times New Roman" pitchFamily="18" charset="0"/>
              </a:rPr>
              <a:t>或季</a:t>
            </a:r>
            <a:r>
              <a:rPr kumimoji="1" lang="en-US" altLang="zh-CN" sz="2400">
                <a:solidFill>
                  <a:srgbClr val="000000"/>
                </a:solidFill>
                <a:latin typeface="Times New Roman" pitchFamily="18" charset="0"/>
              </a:rPr>
              <a:t>)</a:t>
            </a:r>
            <a:r>
              <a:rPr kumimoji="1" lang="zh-CN" altLang="en-US" sz="2400">
                <a:solidFill>
                  <a:srgbClr val="000000"/>
                </a:solidFill>
                <a:latin typeface="Times New Roman" pitchFamily="18" charset="0"/>
              </a:rPr>
              <a:t>的指数之和等于</a:t>
            </a:r>
            <a:r>
              <a:rPr kumimoji="1" lang="en-US" altLang="zh-CN" sz="2400">
                <a:solidFill>
                  <a:srgbClr val="000000"/>
                </a:solidFill>
                <a:latin typeface="Times New Roman" pitchFamily="18" charset="0"/>
              </a:rPr>
              <a:t>1200%(</a:t>
            </a:r>
            <a:r>
              <a:rPr kumimoji="1" lang="zh-CN" altLang="en-US" sz="2400">
                <a:solidFill>
                  <a:srgbClr val="000000"/>
                </a:solidFill>
                <a:latin typeface="Times New Roman" pitchFamily="18" charset="0"/>
              </a:rPr>
              <a:t>或</a:t>
            </a:r>
            <a:r>
              <a:rPr kumimoji="1" lang="en-US" altLang="zh-CN" sz="2400">
                <a:solidFill>
                  <a:srgbClr val="000000"/>
                </a:solidFill>
                <a:latin typeface="Times New Roman" pitchFamily="18" charset="0"/>
              </a:rPr>
              <a:t>400%)</a:t>
            </a:r>
            <a:endParaRPr kumimoji="1" lang="en-US" altLang="zh-CN" sz="2800">
              <a:solidFill>
                <a:srgbClr val="000000"/>
              </a:solidFill>
              <a:latin typeface="Times New Roman" pitchFamily="18" charset="0"/>
            </a:endParaRPr>
          </a:p>
          <a:p>
            <a:pPr marL="457200" indent="-457200" algn="just" eaLnBrk="0" hangingPunct="0">
              <a:spcBef>
                <a:spcPct val="50000"/>
              </a:spcBef>
              <a:buFontTx/>
              <a:buAutoNum type="arabicPeriod"/>
            </a:pPr>
            <a:r>
              <a:rPr kumimoji="1" lang="zh-CN" altLang="en-US" sz="2800">
                <a:solidFill>
                  <a:srgbClr val="000000"/>
                </a:solidFill>
                <a:latin typeface="Times New Roman" pitchFamily="18" charset="0"/>
              </a:rPr>
              <a:t>根据季节比率与其平均数</a:t>
            </a:r>
            <a:r>
              <a:rPr kumimoji="1" lang="en-US" altLang="zh-CN" sz="2800">
                <a:solidFill>
                  <a:srgbClr val="000000"/>
                </a:solidFill>
                <a:latin typeface="Times New Roman" pitchFamily="18" charset="0"/>
              </a:rPr>
              <a:t>(100%)</a:t>
            </a:r>
            <a:r>
              <a:rPr kumimoji="1" lang="zh-CN" altLang="en-US" sz="2800">
                <a:solidFill>
                  <a:srgbClr val="000000"/>
                </a:solidFill>
                <a:latin typeface="Times New Roman" pitchFamily="18" charset="0"/>
              </a:rPr>
              <a:t>的偏差程度来测定季节变动的程度；</a:t>
            </a:r>
          </a:p>
          <a:p>
            <a:pPr marL="914400" lvl="1" indent="-457200" algn="just" eaLnBrk="0" hangingPunct="0">
              <a:spcBef>
                <a:spcPct val="50000"/>
              </a:spcBef>
              <a:buClr>
                <a:schemeClr val="hlink"/>
              </a:buClr>
              <a:buFont typeface="Wingdings" pitchFamily="2" charset="2"/>
              <a:buChar char="§"/>
            </a:pPr>
            <a:r>
              <a:rPr kumimoji="1" lang="zh-CN" altLang="en-US" sz="2400">
                <a:solidFill>
                  <a:srgbClr val="000000"/>
                </a:solidFill>
                <a:latin typeface="Times New Roman" pitchFamily="18" charset="0"/>
              </a:rPr>
              <a:t>如果现象没有季节变动，各期的季节比率等于</a:t>
            </a:r>
            <a:r>
              <a:rPr kumimoji="1" lang="en-US" altLang="zh-CN" sz="2400">
                <a:solidFill>
                  <a:srgbClr val="000000"/>
                </a:solidFill>
                <a:latin typeface="Times New Roman" pitchFamily="18" charset="0"/>
              </a:rPr>
              <a:t>100%</a:t>
            </a:r>
            <a:r>
              <a:rPr kumimoji="1" lang="zh-CN" altLang="en-US" sz="2400">
                <a:solidFill>
                  <a:srgbClr val="000000"/>
                </a:solidFill>
                <a:latin typeface="Times New Roman" pitchFamily="18" charset="0"/>
              </a:rPr>
              <a:t>；</a:t>
            </a:r>
          </a:p>
          <a:p>
            <a:pPr marL="914400" lvl="1" indent="-457200" algn="just" eaLnBrk="0" hangingPunct="0">
              <a:spcBef>
                <a:spcPct val="50000"/>
              </a:spcBef>
              <a:buClr>
                <a:schemeClr val="hlink"/>
              </a:buClr>
              <a:buFont typeface="Wingdings" pitchFamily="2" charset="2"/>
              <a:buChar char="§"/>
            </a:pPr>
            <a:r>
              <a:rPr kumimoji="1" lang="zh-CN" altLang="en-US" sz="2800">
                <a:solidFill>
                  <a:srgbClr val="000000"/>
                </a:solidFill>
                <a:latin typeface="Times New Roman" pitchFamily="18" charset="0"/>
              </a:rPr>
              <a:t>比率越远离其平均数</a:t>
            </a:r>
            <a:r>
              <a:rPr kumimoji="1" lang="en-US" altLang="zh-CN" sz="2800">
                <a:solidFill>
                  <a:srgbClr val="000000"/>
                </a:solidFill>
                <a:latin typeface="Times New Roman" pitchFamily="18" charset="0"/>
              </a:rPr>
              <a:t>(100%) </a:t>
            </a:r>
            <a:r>
              <a:rPr kumimoji="1" lang="zh-CN" altLang="en-US" sz="2800">
                <a:solidFill>
                  <a:srgbClr val="000000"/>
                </a:solidFill>
                <a:latin typeface="Times New Roman" pitchFamily="18" charset="0"/>
              </a:rPr>
              <a:t>季节变动程度越大</a:t>
            </a:r>
            <a:r>
              <a:rPr kumimoji="1" lang="en-US" altLang="zh-CN" sz="2800">
                <a:solidFill>
                  <a:srgbClr val="000000"/>
                </a:solidFill>
                <a:latin typeface="Times New Roman" pitchFamily="18" charset="0"/>
              </a:rPr>
              <a:t>.</a:t>
            </a:r>
          </a:p>
          <a:p>
            <a:pPr marL="457200" indent="-457200" algn="just" eaLnBrk="0" hangingPunct="0">
              <a:spcBef>
                <a:spcPct val="50000"/>
              </a:spcBef>
              <a:buFontTx/>
              <a:buAutoNum type="arabicPeriod" startAt="4"/>
            </a:pPr>
            <a:r>
              <a:rPr kumimoji="1" lang="zh-CN" altLang="en-US" sz="2800">
                <a:solidFill>
                  <a:srgbClr val="000000"/>
                </a:solidFill>
                <a:latin typeface="Times New Roman" pitchFamily="18" charset="0"/>
              </a:rPr>
              <a:t>主要方法有原资料平均法和趋势</a:t>
            </a:r>
            <a:r>
              <a:rPr kumimoji="1" lang="en-US" altLang="zh-CN" sz="2800">
                <a:solidFill>
                  <a:srgbClr val="000000"/>
                </a:solidFill>
                <a:latin typeface="Times New Roman" pitchFamily="18" charset="0"/>
              </a:rPr>
              <a:t>(-</a:t>
            </a:r>
            <a:r>
              <a:rPr kumimoji="1" lang="zh-CN" altLang="en-US" sz="2800">
                <a:solidFill>
                  <a:srgbClr val="000000"/>
                </a:solidFill>
                <a:latin typeface="Times New Roman" pitchFamily="18" charset="0"/>
              </a:rPr>
              <a:t>循环</a:t>
            </a:r>
            <a:r>
              <a:rPr kumimoji="1" lang="en-US" altLang="zh-CN" sz="2800">
                <a:solidFill>
                  <a:srgbClr val="000000"/>
                </a:solidFill>
                <a:latin typeface="Times New Roman" pitchFamily="18" charset="0"/>
              </a:rPr>
              <a:t>)</a:t>
            </a:r>
            <a:r>
              <a:rPr kumimoji="1" lang="zh-CN" altLang="en-US" sz="2800">
                <a:solidFill>
                  <a:srgbClr val="000000"/>
                </a:solidFill>
                <a:latin typeface="Times New Roman" pitchFamily="18" charset="0"/>
              </a:rPr>
              <a:t>剔除法。</a:t>
            </a:r>
            <a:endParaRPr kumimoji="1" lang="zh-CN" altLang="en-US" sz="2800">
              <a:solidFill>
                <a:srgbClr val="000000"/>
              </a:solidFill>
              <a:latin typeface="宋体" pitchFamily="2" charset="-122"/>
            </a:endParaRPr>
          </a:p>
        </p:txBody>
      </p:sp>
      <p:sp>
        <p:nvSpPr>
          <p:cNvPr id="143365" name="日期占位符 4"/>
          <p:cNvSpPr>
            <a:spLocks noGrp="1"/>
          </p:cNvSpPr>
          <p:nvPr>
            <p:ph type="dt" sz="quarter" idx="10"/>
          </p:nvPr>
        </p:nvSpPr>
        <p:spPr>
          <a:noFill/>
        </p:spPr>
        <p:txBody>
          <a:bodyPr/>
          <a:lstStyle/>
          <a:p>
            <a:endParaRPr lang="en-US" altLang="zh-CN" smtClean="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1859">
                                            <p:txEl>
                                              <p:pRg st="1" end="1"/>
                                            </p:txEl>
                                          </p:spTgt>
                                        </p:tgtEl>
                                        <p:attrNameLst>
                                          <p:attrName>style.visibility</p:attrName>
                                        </p:attrNameLst>
                                      </p:cBhvr>
                                      <p:to>
                                        <p:strVal val="visible"/>
                                      </p:to>
                                    </p:set>
                                    <p:animEffect transition="in" filter="wipe(left)">
                                      <p:cBhvr>
                                        <p:cTn id="7" dur="500"/>
                                        <p:tgtEl>
                                          <p:spTgt spid="121859">
                                            <p:txEl>
                                              <p:pRg st="1" end="1"/>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1859">
                                            <p:txEl>
                                              <p:pRg st="2" end="2"/>
                                            </p:txEl>
                                          </p:spTgt>
                                        </p:tgtEl>
                                        <p:attrNameLst>
                                          <p:attrName>style.visibility</p:attrName>
                                        </p:attrNameLst>
                                      </p:cBhvr>
                                      <p:to>
                                        <p:strVal val="visible"/>
                                      </p:to>
                                    </p:set>
                                    <p:animEffect transition="in" filter="wipe(left)">
                                      <p:cBhvr>
                                        <p:cTn id="10" dur="500"/>
                                        <p:tgtEl>
                                          <p:spTgt spid="121859">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21859">
                                            <p:txEl>
                                              <p:pRg st="3" end="3"/>
                                            </p:txEl>
                                          </p:spTgt>
                                        </p:tgtEl>
                                        <p:attrNameLst>
                                          <p:attrName>style.visibility</p:attrName>
                                        </p:attrNameLst>
                                      </p:cBhvr>
                                      <p:to>
                                        <p:strVal val="visible"/>
                                      </p:to>
                                    </p:set>
                                    <p:animEffect transition="in" filter="wipe(left)">
                                      <p:cBhvr>
                                        <p:cTn id="15" dur="500"/>
                                        <p:tgtEl>
                                          <p:spTgt spid="121859">
                                            <p:txEl>
                                              <p:pRg st="3" end="3"/>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21859">
                                            <p:txEl>
                                              <p:pRg st="4" end="4"/>
                                            </p:txEl>
                                          </p:spTgt>
                                        </p:tgtEl>
                                        <p:attrNameLst>
                                          <p:attrName>style.visibility</p:attrName>
                                        </p:attrNameLst>
                                      </p:cBhvr>
                                      <p:to>
                                        <p:strVal val="visible"/>
                                      </p:to>
                                    </p:set>
                                    <p:animEffect transition="in" filter="wipe(left)">
                                      <p:cBhvr>
                                        <p:cTn id="18" dur="500"/>
                                        <p:tgtEl>
                                          <p:spTgt spid="121859">
                                            <p:txEl>
                                              <p:pRg st="4" end="4"/>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21859">
                                            <p:txEl>
                                              <p:pRg st="5" end="5"/>
                                            </p:txEl>
                                          </p:spTgt>
                                        </p:tgtEl>
                                        <p:attrNameLst>
                                          <p:attrName>style.visibility</p:attrName>
                                        </p:attrNameLst>
                                      </p:cBhvr>
                                      <p:to>
                                        <p:strVal val="visible"/>
                                      </p:to>
                                    </p:set>
                                    <p:animEffect transition="in" filter="wipe(left)">
                                      <p:cBhvr>
                                        <p:cTn id="21" dur="500"/>
                                        <p:tgtEl>
                                          <p:spTgt spid="121859">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21859">
                                            <p:txEl>
                                              <p:pRg st="6" end="6"/>
                                            </p:txEl>
                                          </p:spTgt>
                                        </p:tgtEl>
                                        <p:attrNameLst>
                                          <p:attrName>style.visibility</p:attrName>
                                        </p:attrNameLst>
                                      </p:cBhvr>
                                      <p:to>
                                        <p:strVal val="visible"/>
                                      </p:to>
                                    </p:set>
                                    <p:animEffect transition="in" filter="wipe(left)">
                                      <p:cBhvr>
                                        <p:cTn id="26" dur="500"/>
                                        <p:tgtEl>
                                          <p:spTgt spid="12185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9" grpId="0" build="p" autoUpdateAnimBg="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7" name="Rectangle 3"/>
          <p:cNvSpPr>
            <a:spLocks noChangeArrowheads="1"/>
          </p:cNvSpPr>
          <p:nvPr/>
        </p:nvSpPr>
        <p:spPr bwMode="auto">
          <a:xfrm>
            <a:off x="390104" y="1909416"/>
            <a:ext cx="8215312" cy="4143375"/>
          </a:xfrm>
          <a:prstGeom prst="rect">
            <a:avLst/>
          </a:prstGeom>
          <a:noFill/>
          <a:ln w="12700">
            <a:noFill/>
            <a:miter lim="800000"/>
            <a:headEnd/>
            <a:tailEnd/>
          </a:ln>
        </p:spPr>
        <p:txBody>
          <a:bodyPr lIns="90488" tIns="44450" rIns="90488" bIns="44450"/>
          <a:lstStyle/>
          <a:p>
            <a:pPr marL="457200" indent="-457200" algn="just" eaLnBrk="0" hangingPunct="0">
              <a:spcBef>
                <a:spcPts val="600"/>
              </a:spcBef>
              <a:defRPr/>
            </a:pPr>
            <a:r>
              <a:rPr kumimoji="1" lang="zh-CN" altLang="en-US" sz="3000" b="1" dirty="0">
                <a:solidFill>
                  <a:srgbClr val="000000"/>
                </a:solidFill>
                <a:latin typeface="Times New Roman" pitchFamily="18" charset="0"/>
                <a:sym typeface="Wingdings 3" pitchFamily="18" charset="2"/>
              </a:rPr>
              <a:t>循环周期</a:t>
            </a:r>
            <a:r>
              <a:rPr kumimoji="1" lang="en-US" altLang="zh-CN" sz="2600" dirty="0">
                <a:solidFill>
                  <a:srgbClr val="000000"/>
                </a:solidFill>
                <a:latin typeface="Times New Roman" pitchFamily="18" charset="0"/>
                <a:sym typeface="Wingdings 3" pitchFamily="18" charset="2"/>
              </a:rPr>
              <a:t>——</a:t>
            </a:r>
            <a:r>
              <a:rPr kumimoji="1" lang="zh-CN" altLang="en-US" sz="2600" dirty="0">
                <a:solidFill>
                  <a:srgbClr val="000000"/>
                </a:solidFill>
                <a:latin typeface="Times New Roman" pitchFamily="18" charset="0"/>
                <a:sym typeface="Wingdings 3" pitchFamily="18" charset="2"/>
              </a:rPr>
              <a:t>人口周期、产品寿命周期、经济周期</a:t>
            </a:r>
            <a:r>
              <a:rPr kumimoji="1" lang="en-US" altLang="zh-CN" sz="2600" dirty="0">
                <a:solidFill>
                  <a:srgbClr val="000000"/>
                </a:solidFill>
                <a:latin typeface="Times New Roman" pitchFamily="18" charset="0"/>
                <a:sym typeface="Wingdings 3" pitchFamily="18" charset="2"/>
              </a:rPr>
              <a:t>…</a:t>
            </a:r>
            <a:endParaRPr kumimoji="1" lang="zh-CN" altLang="en-US" sz="2600" dirty="0">
              <a:solidFill>
                <a:srgbClr val="000000"/>
              </a:solidFill>
              <a:latin typeface="Times New Roman" pitchFamily="18" charset="0"/>
              <a:sym typeface="Wingdings 3" pitchFamily="18" charset="2"/>
            </a:endParaRPr>
          </a:p>
          <a:p>
            <a:pPr marL="457200" indent="-457200" algn="just" eaLnBrk="0" hangingPunct="0">
              <a:spcBef>
                <a:spcPts val="600"/>
              </a:spcBef>
              <a:defRPr/>
            </a:pPr>
            <a:r>
              <a:rPr lang="zh-CN" altLang="en-US" sz="2800" b="1" dirty="0">
                <a:solidFill>
                  <a:srgbClr val="3333FF"/>
                </a:solidFill>
                <a:latin typeface="Tahoma" pitchFamily="34" charset="0"/>
                <a:sym typeface="Wingdings 3" pitchFamily="18" charset="2"/>
              </a:rPr>
              <a:t>研究循环周期的目的和意义</a:t>
            </a:r>
            <a:endParaRPr lang="en-US" altLang="zh-CN" sz="2800" b="1" dirty="0">
              <a:solidFill>
                <a:srgbClr val="3333FF"/>
              </a:solidFill>
              <a:latin typeface="Tahoma" pitchFamily="34" charset="0"/>
              <a:sym typeface="Wingdings 3" pitchFamily="18" charset="2"/>
            </a:endParaRPr>
          </a:p>
          <a:p>
            <a:pPr marL="914400" lvl="1" indent="-457200" algn="just" eaLnBrk="0" hangingPunct="0">
              <a:spcBef>
                <a:spcPts val="600"/>
              </a:spcBef>
              <a:buFontTx/>
              <a:buChar char="•"/>
              <a:defRPr/>
            </a:pPr>
            <a:r>
              <a:rPr kumimoji="1" lang="zh-CN" altLang="en-US" sz="3000" dirty="0">
                <a:solidFill>
                  <a:srgbClr val="000000"/>
                </a:solidFill>
                <a:latin typeface="Times New Roman" pitchFamily="18" charset="0"/>
                <a:sym typeface="Wingdings 3" pitchFamily="18" charset="2"/>
              </a:rPr>
              <a:t>探索现象循环周期的变动规律性；</a:t>
            </a:r>
          </a:p>
          <a:p>
            <a:pPr marL="914400" lvl="1" indent="-457200" algn="just" eaLnBrk="0" hangingPunct="0">
              <a:spcBef>
                <a:spcPts val="600"/>
              </a:spcBef>
              <a:buFontTx/>
              <a:buChar char="•"/>
              <a:defRPr/>
            </a:pPr>
            <a:r>
              <a:rPr kumimoji="1" lang="zh-CN" altLang="en-US" sz="3000" dirty="0">
                <a:solidFill>
                  <a:srgbClr val="000000"/>
                </a:solidFill>
                <a:latin typeface="Times New Roman" pitchFamily="18" charset="0"/>
                <a:sym typeface="Wingdings 3" pitchFamily="18" charset="2"/>
              </a:rPr>
              <a:t>预测周期变动的影响、作好应对准备</a:t>
            </a:r>
            <a:r>
              <a:rPr kumimoji="1" lang="en-US" altLang="zh-CN" sz="3000" dirty="0" smtClean="0">
                <a:solidFill>
                  <a:srgbClr val="000000"/>
                </a:solidFill>
                <a:latin typeface="Times New Roman" pitchFamily="18" charset="0"/>
                <a:sym typeface="Wingdings 3" pitchFamily="18" charset="2"/>
              </a:rPr>
              <a:t>……</a:t>
            </a:r>
            <a:endParaRPr kumimoji="1" lang="en-US" altLang="zh-CN" sz="3000" dirty="0">
              <a:solidFill>
                <a:srgbClr val="000000"/>
              </a:solidFill>
              <a:latin typeface="Times New Roman" pitchFamily="18" charset="0"/>
              <a:sym typeface="Wingdings 3" pitchFamily="18" charset="2"/>
            </a:endParaRPr>
          </a:p>
        </p:txBody>
      </p:sp>
      <p:sp>
        <p:nvSpPr>
          <p:cNvPr id="144388" name="Rectangle 4"/>
          <p:cNvSpPr>
            <a:spLocks noGrp="1" noChangeArrowheads="1"/>
          </p:cNvSpPr>
          <p:nvPr>
            <p:ph type="ctrTitle"/>
          </p:nvPr>
        </p:nvSpPr>
        <p:spPr>
          <a:xfrm>
            <a:off x="611560" y="980728"/>
            <a:ext cx="7772400" cy="928688"/>
          </a:xfrm>
        </p:spPr>
        <p:txBody>
          <a:bodyPr/>
          <a:lstStyle/>
          <a:p>
            <a:pPr eaLnBrk="1" hangingPunct="1"/>
            <a:r>
              <a:rPr lang="en-US" altLang="zh-CN" dirty="0" smtClean="0">
                <a:latin typeface="黑体" panose="02010609060101010101" pitchFamily="49" charset="-122"/>
                <a:ea typeface="黑体" panose="02010609060101010101" pitchFamily="49" charset="-122"/>
              </a:rPr>
              <a:t>4.4.4 </a:t>
            </a:r>
            <a:r>
              <a:rPr lang="zh-CN" altLang="en-US" dirty="0" smtClean="0">
                <a:latin typeface="黑体" panose="02010609060101010101" pitchFamily="49" charset="-122"/>
                <a:ea typeface="黑体" panose="02010609060101010101" pitchFamily="49" charset="-122"/>
              </a:rPr>
              <a:t>循环</a:t>
            </a:r>
            <a:r>
              <a:rPr lang="zh-CN" altLang="en-US" dirty="0" smtClean="0">
                <a:latin typeface="黑体" panose="02010609060101010101" pitchFamily="49" charset="-122"/>
                <a:ea typeface="黑体" panose="02010609060101010101" pitchFamily="49" charset="-122"/>
              </a:rPr>
              <a:t>变动的</a:t>
            </a:r>
            <a:r>
              <a:rPr lang="zh-CN" altLang="en-US" dirty="0" smtClean="0">
                <a:latin typeface="黑体" panose="02010609060101010101" pitchFamily="49" charset="-122"/>
                <a:ea typeface="黑体" panose="02010609060101010101" pitchFamily="49" charset="-122"/>
              </a:rPr>
              <a:t>测定</a:t>
            </a:r>
            <a:endParaRPr lang="zh-CN" altLang="en-US" dirty="0" smtClean="0">
              <a:latin typeface="黑体" panose="02010609060101010101" pitchFamily="49" charset="-122"/>
              <a:ea typeface="黑体" panose="02010609060101010101" pitchFamily="49" charset="-122"/>
            </a:endParaRPr>
          </a:p>
        </p:txBody>
      </p:sp>
      <p:sp>
        <p:nvSpPr>
          <p:cNvPr id="2" name="矩形 1"/>
          <p:cNvSpPr/>
          <p:nvPr/>
        </p:nvSpPr>
        <p:spPr>
          <a:xfrm>
            <a:off x="320812" y="4149080"/>
            <a:ext cx="8353896" cy="2135969"/>
          </a:xfrm>
          <a:prstGeom prst="rect">
            <a:avLst/>
          </a:prstGeom>
        </p:spPr>
        <p:txBody>
          <a:bodyPr wrap="square">
            <a:spAutoFit/>
          </a:bodyPr>
          <a:lstStyle/>
          <a:p>
            <a:pPr marL="342900" lvl="0" indent="-342900">
              <a:spcBef>
                <a:spcPct val="20000"/>
              </a:spcBef>
              <a:buSzPct val="90000"/>
              <a:buBlip>
                <a:blip r:embed="rId3"/>
              </a:buBlip>
            </a:pPr>
            <a:r>
              <a:rPr lang="zh-CN" altLang="en-US" sz="3200" b="1" kern="0" dirty="0">
                <a:solidFill>
                  <a:srgbClr val="0070C0"/>
                </a:solidFill>
                <a:latin typeface="Tahoma"/>
                <a:ea typeface="宋体"/>
              </a:rPr>
              <a:t>循环变动通常很难识别和分解</a:t>
            </a:r>
          </a:p>
          <a:p>
            <a:pPr marL="987425" lvl="1" indent="-276225">
              <a:spcBef>
                <a:spcPct val="20000"/>
              </a:spcBef>
              <a:buClr>
                <a:srgbClr val="0070C0"/>
              </a:buClr>
              <a:buSzPct val="60000"/>
              <a:buFont typeface="Wingdings" panose="05000000000000000000" pitchFamily="2" charset="2"/>
              <a:buChar char="l"/>
            </a:pPr>
            <a:r>
              <a:rPr lang="zh-CN" altLang="en-US" sz="2800" b="1" kern="0" dirty="0">
                <a:solidFill>
                  <a:srgbClr val="000000"/>
                </a:solidFill>
                <a:latin typeface="Tahoma"/>
                <a:ea typeface="宋体"/>
              </a:rPr>
              <a:t>周期往往不固定，其规律性不很</a:t>
            </a:r>
            <a:r>
              <a:rPr lang="zh-CN" altLang="en-US" sz="2800" b="1" kern="0" dirty="0" smtClean="0">
                <a:solidFill>
                  <a:srgbClr val="000000"/>
                </a:solidFill>
                <a:latin typeface="Tahoma"/>
                <a:ea typeface="宋体"/>
              </a:rPr>
              <a:t>明显</a:t>
            </a:r>
            <a:endParaRPr lang="zh-CN" altLang="en-US" sz="2800" b="1" kern="0" dirty="0">
              <a:solidFill>
                <a:srgbClr val="000000"/>
              </a:solidFill>
              <a:latin typeface="Tahoma"/>
              <a:ea typeface="宋体"/>
            </a:endParaRPr>
          </a:p>
          <a:p>
            <a:pPr marL="987425" lvl="1" indent="-276225">
              <a:spcBef>
                <a:spcPct val="20000"/>
              </a:spcBef>
              <a:buClr>
                <a:srgbClr val="0070C0"/>
              </a:buClr>
              <a:buSzPct val="60000"/>
              <a:buFont typeface="Wingdings" panose="05000000000000000000" pitchFamily="2" charset="2"/>
              <a:buChar char="l"/>
            </a:pPr>
            <a:r>
              <a:rPr lang="zh-CN" altLang="en-US" sz="2800" b="1" kern="0" dirty="0">
                <a:solidFill>
                  <a:srgbClr val="000000"/>
                </a:solidFill>
                <a:latin typeface="Tahoma"/>
                <a:ea typeface="宋体"/>
              </a:rPr>
              <a:t>它需要相当长时间的观察数据</a:t>
            </a:r>
          </a:p>
          <a:p>
            <a:pPr marL="987425" lvl="1" indent="-276225">
              <a:spcBef>
                <a:spcPct val="20000"/>
              </a:spcBef>
              <a:buClr>
                <a:srgbClr val="0070C0"/>
              </a:buClr>
              <a:buSzPct val="60000"/>
              <a:buFont typeface="Wingdings" panose="05000000000000000000" pitchFamily="2" charset="2"/>
              <a:buChar char="l"/>
            </a:pPr>
            <a:r>
              <a:rPr lang="zh-CN" altLang="en-US" sz="2800" b="1" kern="0" dirty="0">
                <a:solidFill>
                  <a:srgbClr val="000000"/>
                </a:solidFill>
                <a:latin typeface="Tahoma"/>
                <a:ea typeface="宋体"/>
              </a:rPr>
              <a:t>必须借助于定性分析</a:t>
            </a:r>
          </a:p>
        </p:txBody>
      </p:sp>
    </p:spTree>
  </p:cSld>
  <p:clrMapOvr>
    <a:masterClrMapping/>
  </p:clrMapOvr>
  <p:transition>
    <p:zoom/>
  </p:transition>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5" name="Rectangle 2"/>
          <p:cNvSpPr>
            <a:spLocks noGrp="1" noChangeArrowheads="1"/>
          </p:cNvSpPr>
          <p:nvPr>
            <p:ph type="title"/>
          </p:nvPr>
        </p:nvSpPr>
        <p:spPr>
          <a:xfrm>
            <a:off x="827584" y="544513"/>
            <a:ext cx="7772400" cy="990600"/>
          </a:xfrm>
        </p:spPr>
        <p:txBody>
          <a:bodyPr/>
          <a:lstStyle/>
          <a:p>
            <a:pPr eaLnBrk="1" hangingPunct="1"/>
            <a:r>
              <a:rPr lang="zh-CN" altLang="en-US" dirty="0" smtClean="0"/>
              <a:t>循环周期</a:t>
            </a:r>
            <a:r>
              <a:rPr lang="zh-CN" altLang="en-US" dirty="0" smtClean="0"/>
              <a:t>的测定方法</a:t>
            </a:r>
          </a:p>
        </p:txBody>
      </p:sp>
      <p:sp>
        <p:nvSpPr>
          <p:cNvPr id="151556" name="Rectangle 3"/>
          <p:cNvSpPr>
            <a:spLocks noGrp="1" noChangeArrowheads="1"/>
          </p:cNvSpPr>
          <p:nvPr>
            <p:ph type="body" idx="1"/>
          </p:nvPr>
        </p:nvSpPr>
        <p:spPr>
          <a:xfrm>
            <a:off x="665163" y="1955024"/>
            <a:ext cx="8154987" cy="3932982"/>
          </a:xfrm>
        </p:spPr>
        <p:txBody>
          <a:bodyPr/>
          <a:lstStyle/>
          <a:p>
            <a:pPr eaLnBrk="1" hangingPunct="1">
              <a:lnSpc>
                <a:spcPct val="120000"/>
              </a:lnSpc>
              <a:spcBef>
                <a:spcPts val="1200"/>
              </a:spcBef>
            </a:pPr>
            <a:r>
              <a:rPr lang="en-US" altLang="zh-CN" dirty="0" smtClean="0">
                <a:solidFill>
                  <a:srgbClr val="3333FF"/>
                </a:solidFill>
              </a:rPr>
              <a:t>1</a:t>
            </a:r>
            <a:r>
              <a:rPr lang="en-US" altLang="zh-CN" dirty="0" smtClean="0">
                <a:solidFill>
                  <a:srgbClr val="3333FF"/>
                </a:solidFill>
              </a:rPr>
              <a:t>. </a:t>
            </a:r>
            <a:r>
              <a:rPr lang="zh-CN" altLang="en-US" dirty="0" smtClean="0">
                <a:solidFill>
                  <a:srgbClr val="3333FF"/>
                </a:solidFill>
              </a:rPr>
              <a:t>直接法</a:t>
            </a:r>
          </a:p>
          <a:p>
            <a:pPr lvl="1" eaLnBrk="1" hangingPunct="1">
              <a:lnSpc>
                <a:spcPct val="120000"/>
              </a:lnSpc>
              <a:spcBef>
                <a:spcPts val="1200"/>
              </a:spcBef>
            </a:pPr>
            <a:r>
              <a:rPr lang="zh-CN" altLang="en-US" dirty="0" smtClean="0"/>
              <a:t>用同比</a:t>
            </a:r>
            <a:r>
              <a:rPr lang="zh-CN" altLang="en-US" dirty="0" smtClean="0"/>
              <a:t>发展速度的</a:t>
            </a:r>
            <a:r>
              <a:rPr lang="zh-CN" altLang="en-US" dirty="0" smtClean="0"/>
              <a:t>波动来粗略地描述循环变动的特征</a:t>
            </a:r>
          </a:p>
          <a:p>
            <a:pPr lvl="1" eaLnBrk="1" hangingPunct="1">
              <a:lnSpc>
                <a:spcPct val="120000"/>
              </a:lnSpc>
              <a:spcBef>
                <a:spcPts val="1200"/>
              </a:spcBef>
            </a:pPr>
            <a:r>
              <a:rPr lang="zh-CN" altLang="en-US" dirty="0" smtClean="0"/>
              <a:t>简便直观，但没有消除不规则波动的影响，往往也不能真正消除长期趋势和季节变动的影响，很难准确描述循环波动的峰、谷和振荡幅度等特征</a:t>
            </a:r>
          </a:p>
        </p:txBody>
      </p:sp>
      <p:sp>
        <p:nvSpPr>
          <p:cNvPr id="151557" name="日期占位符 4"/>
          <p:cNvSpPr>
            <a:spLocks noGrp="1"/>
          </p:cNvSpPr>
          <p:nvPr>
            <p:ph type="dt" sz="quarter" idx="10"/>
          </p:nvPr>
        </p:nvSpPr>
        <p:spPr>
          <a:noFill/>
        </p:spPr>
        <p:txBody>
          <a:bodyPr/>
          <a:lstStyle/>
          <a:p>
            <a:endParaRPr lang="en-US" altLang="zh-CN" smtClean="0"/>
          </a:p>
        </p:txBody>
      </p:sp>
    </p:spTree>
  </p:cSld>
  <p:clrMapOvr>
    <a:masterClrMapping/>
  </p:clrMapOvr>
  <p:transition/>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665163" y="3290459"/>
            <a:ext cx="6125430" cy="3077004"/>
          </a:xfrm>
          <a:prstGeom prst="rect">
            <a:avLst/>
          </a:prstGeom>
        </p:spPr>
      </p:pic>
      <p:sp>
        <p:nvSpPr>
          <p:cNvPr id="65540" name="Rectangle 2"/>
          <p:cNvSpPr>
            <a:spLocks noGrp="1" noChangeArrowheads="1"/>
          </p:cNvSpPr>
          <p:nvPr>
            <p:ph type="title"/>
          </p:nvPr>
        </p:nvSpPr>
        <p:spPr>
          <a:xfrm>
            <a:off x="1187450" y="0"/>
            <a:ext cx="7772400" cy="990600"/>
          </a:xfrm>
        </p:spPr>
        <p:txBody>
          <a:bodyPr/>
          <a:lstStyle/>
          <a:p>
            <a:pPr eaLnBrk="1" hangingPunct="1"/>
            <a:r>
              <a:rPr lang="zh-CN" altLang="en-US" dirty="0" smtClean="0"/>
              <a:t>直接法测定循环变动（例）</a:t>
            </a:r>
          </a:p>
        </p:txBody>
      </p:sp>
      <p:graphicFrame>
        <p:nvGraphicFramePr>
          <p:cNvPr id="224259" name="Group 3"/>
          <p:cNvGraphicFramePr>
            <a:graphicFrameLocks noGrp="1"/>
          </p:cNvGraphicFramePr>
          <p:nvPr>
            <p:extLst>
              <p:ext uri="{D42A27DB-BD31-4B8C-83A1-F6EECF244321}">
                <p14:modId xmlns:p14="http://schemas.microsoft.com/office/powerpoint/2010/main" val="548757775"/>
              </p:ext>
            </p:extLst>
          </p:nvPr>
        </p:nvGraphicFramePr>
        <p:xfrm>
          <a:off x="3563888" y="1268760"/>
          <a:ext cx="4828629" cy="2520951"/>
        </p:xfrm>
        <a:graphic>
          <a:graphicData uri="http://schemas.openxmlformats.org/drawingml/2006/table">
            <a:tbl>
              <a:tblPr/>
              <a:tblGrid>
                <a:gridCol w="664698">
                  <a:extLst>
                    <a:ext uri="{9D8B030D-6E8A-4147-A177-3AD203B41FA5}">
                      <a16:colId xmlns:a16="http://schemas.microsoft.com/office/drawing/2014/main" val="20000"/>
                    </a:ext>
                  </a:extLst>
                </a:gridCol>
                <a:gridCol w="1205478">
                  <a:extLst>
                    <a:ext uri="{9D8B030D-6E8A-4147-A177-3AD203B41FA5}">
                      <a16:colId xmlns:a16="http://schemas.microsoft.com/office/drawing/2014/main" val="20001"/>
                    </a:ext>
                  </a:extLst>
                </a:gridCol>
                <a:gridCol w="994826">
                  <a:extLst>
                    <a:ext uri="{9D8B030D-6E8A-4147-A177-3AD203B41FA5}">
                      <a16:colId xmlns:a16="http://schemas.microsoft.com/office/drawing/2014/main" val="20002"/>
                    </a:ext>
                  </a:extLst>
                </a:gridCol>
                <a:gridCol w="994825">
                  <a:extLst>
                    <a:ext uri="{9D8B030D-6E8A-4147-A177-3AD203B41FA5}">
                      <a16:colId xmlns:a16="http://schemas.microsoft.com/office/drawing/2014/main" val="20003"/>
                    </a:ext>
                  </a:extLst>
                </a:gridCol>
                <a:gridCol w="968802">
                  <a:extLst>
                    <a:ext uri="{9D8B030D-6E8A-4147-A177-3AD203B41FA5}">
                      <a16:colId xmlns:a16="http://schemas.microsoft.com/office/drawing/2014/main" val="20004"/>
                    </a:ext>
                  </a:extLst>
                </a:gridCol>
              </a:tblGrid>
              <a:tr h="533400">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endParaRPr kumimoji="0" lang="zh-CN" altLang="zh-CN" sz="2400" b="1" i="0" u="none" strike="noStrike" cap="none" normalizeH="0" baseline="0" dirty="0" smtClean="0">
                        <a:ln>
                          <a:noFill/>
                        </a:ln>
                        <a:solidFill>
                          <a:srgbClr val="000000"/>
                        </a:solidFill>
                        <a:effectLst/>
                        <a:latin typeface="Tahoma" pitchFamily="34" charset="0"/>
                        <a:ea typeface="宋体" pitchFamily="2" charset="-122"/>
                      </a:endParaRPr>
                    </a:p>
                  </a:txBody>
                  <a:tcPr anchor="ctr" horzOverflow="overflow">
                    <a:lnL cap="flat">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400" b="1" i="0" u="none" strike="noStrike" cap="none" normalizeH="0" baseline="0" dirty="0" smtClean="0">
                          <a:ln>
                            <a:noFill/>
                          </a:ln>
                          <a:solidFill>
                            <a:srgbClr val="000000"/>
                          </a:solidFill>
                          <a:effectLst/>
                          <a:latin typeface="宋体" pitchFamily="2" charset="-122"/>
                          <a:ea typeface="宋体" pitchFamily="2" charset="-122"/>
                        </a:rPr>
                        <a:t>同比发展速度</a:t>
                      </a:r>
                      <a:r>
                        <a:rPr kumimoji="0" lang="en-US" altLang="zh-CN" sz="2400" b="1" i="0" u="none" strike="noStrike" cap="none" normalizeH="0" baseline="0" dirty="0" smtClean="0">
                          <a:ln>
                            <a:noFill/>
                          </a:ln>
                          <a:solidFill>
                            <a:srgbClr val="000000"/>
                          </a:solidFill>
                          <a:effectLst/>
                          <a:latin typeface="宋体" pitchFamily="2" charset="-122"/>
                          <a:ea typeface="宋体" pitchFamily="2" charset="-122"/>
                        </a:rPr>
                        <a:t>(</a:t>
                      </a:r>
                      <a:r>
                        <a:rPr kumimoji="0" lang="zh-CN" altLang="en-US" sz="2400" b="1" i="0" u="none" strike="noStrike" cap="none" normalizeH="0" baseline="0" dirty="0" smtClean="0">
                          <a:ln>
                            <a:noFill/>
                          </a:ln>
                          <a:solidFill>
                            <a:srgbClr val="000000"/>
                          </a:solidFill>
                          <a:effectLst/>
                          <a:latin typeface="宋体" pitchFamily="2" charset="-122"/>
                          <a:ea typeface="宋体" pitchFamily="2" charset="-122"/>
                        </a:rPr>
                        <a:t>％）</a:t>
                      </a:r>
                      <a:endParaRPr kumimoji="0" lang="zh-CN" altLang="en-US" sz="2400" b="1" i="0" u="none" strike="noStrike" cap="none" normalizeH="0" baseline="0" dirty="0" smtClean="0">
                        <a:ln>
                          <a:noFill/>
                        </a:ln>
                        <a:solidFill>
                          <a:srgbClr val="000000"/>
                        </a:solidFill>
                        <a:effectLst/>
                        <a:latin typeface="Arial" charset="0"/>
                        <a:ea typeface="宋体" pitchFamily="2" charset="-122"/>
                      </a:endParaRPr>
                    </a:p>
                  </a:txBody>
                  <a:tcPr anchor="ct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hMerge="1">
                  <a:txBody>
                    <a:bodyPr/>
                    <a:lstStyle/>
                    <a:p>
                      <a:endParaRPr lang="zh-CN" altLang="en-US"/>
                    </a:p>
                  </a:txBody>
                  <a:tcPr/>
                </a:tc>
                <a:tc h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endParaRPr kumimoji="0" lang="zh-CN" altLang="zh-CN" sz="2000" b="1" i="0" u="none" strike="noStrike" cap="none" normalizeH="0" baseline="0" dirty="0" smtClean="0">
                        <a:ln>
                          <a:noFill/>
                        </a:ln>
                        <a:solidFill>
                          <a:srgbClr val="000000"/>
                        </a:solidFill>
                        <a:effectLst/>
                        <a:latin typeface="Tahoma" pitchFamily="34" charset="0"/>
                        <a:ea typeface="宋体" pitchFamily="2" charset="-122"/>
                      </a:endParaRPr>
                    </a:p>
                  </a:txBody>
                  <a:tcPr anchor="ctr" horzOverflow="overflow">
                    <a:lnL>
                      <a:noFill/>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0"/>
                  </a:ext>
                </a:extLst>
              </a:tr>
              <a:tr h="396875">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000" b="1" i="0" u="none" strike="noStrike" cap="none" normalizeH="0" baseline="0" dirty="0" smtClean="0">
                          <a:ln>
                            <a:noFill/>
                          </a:ln>
                          <a:solidFill>
                            <a:srgbClr val="000000"/>
                          </a:solidFill>
                          <a:effectLst/>
                          <a:latin typeface="宋体" pitchFamily="2" charset="-122"/>
                          <a:ea typeface="宋体" pitchFamily="2" charset="-122"/>
                        </a:rPr>
                        <a:t>　</a:t>
                      </a:r>
                      <a:endParaRPr kumimoji="0" lang="zh-CN" altLang="en-US" sz="2000" b="1" i="0" u="none" strike="noStrike" cap="none" normalizeH="0" baseline="0" dirty="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1</a:t>
                      </a:r>
                      <a:endParaRPr kumimoji="0" lang="en-US" altLang="zh-CN" sz="2000" b="1" i="0" u="none" strike="noStrike" cap="none" normalizeH="0" baseline="0" dirty="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2</a:t>
                      </a:r>
                      <a:endParaRPr kumimoji="0" lang="en-US" altLang="zh-CN" sz="2000" b="1" i="0" u="none" strike="noStrike" cap="none" normalizeH="0" baseline="0" dirty="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3</a:t>
                      </a:r>
                      <a:endParaRPr kumimoji="0" lang="en-US" altLang="zh-CN" sz="2000" b="1" i="0" u="none" strike="noStrike" cap="none" normalizeH="0" baseline="0" dirty="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4</a:t>
                      </a:r>
                      <a:endParaRPr kumimoji="0" lang="en-US" altLang="zh-CN" sz="2000" b="1" i="0" u="none" strike="noStrike" cap="none" normalizeH="0" baseline="0" dirty="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1"/>
                  </a:ext>
                </a:extLst>
              </a:tr>
              <a:tr h="39846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000" b="1" i="0" u="none" strike="noStrike" cap="none" normalizeH="0" baseline="0" dirty="0" smtClean="0">
                          <a:ln>
                            <a:noFill/>
                          </a:ln>
                          <a:solidFill>
                            <a:srgbClr val="000000"/>
                          </a:solidFill>
                          <a:effectLst/>
                          <a:latin typeface="宋体" pitchFamily="2" charset="-122"/>
                          <a:ea typeface="宋体" pitchFamily="2" charset="-122"/>
                        </a:rPr>
                        <a:t>二</a:t>
                      </a:r>
                      <a:endParaRPr kumimoji="0" lang="zh-CN" altLang="en-US" sz="2000" b="1" i="0" u="none" strike="noStrike" cap="none" normalizeH="0" baseline="0" dirty="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120.69 </a:t>
                      </a:r>
                      <a:endParaRPr kumimoji="0" lang="en-US" altLang="zh-CN" sz="2000" b="1" i="0" u="none" strike="noStrike" cap="none" normalizeH="0" baseline="0" dirty="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宋体" pitchFamily="2" charset="-122"/>
                          <a:ea typeface="宋体" pitchFamily="2" charset="-122"/>
                        </a:rPr>
                        <a:t>124.44 </a:t>
                      </a:r>
                      <a:endParaRPr kumimoji="0" lang="en-US" altLang="zh-CN" sz="20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宋体" pitchFamily="2" charset="-122"/>
                          <a:ea typeface="宋体" pitchFamily="2" charset="-122"/>
                        </a:rPr>
                        <a:t>120.37 </a:t>
                      </a:r>
                      <a:endParaRPr kumimoji="0" lang="en-US" altLang="zh-CN" sz="20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171.43 </a:t>
                      </a:r>
                      <a:endParaRPr kumimoji="0" lang="en-US" altLang="zh-CN" sz="2000" b="1" i="0" u="none" strike="noStrike" cap="none" normalizeH="0" baseline="0" dirty="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396875">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000" b="1" i="0" u="none" strike="noStrike" cap="none" normalizeH="0" baseline="0" dirty="0" smtClean="0">
                          <a:ln>
                            <a:noFill/>
                          </a:ln>
                          <a:solidFill>
                            <a:srgbClr val="000000"/>
                          </a:solidFill>
                          <a:effectLst/>
                          <a:latin typeface="宋体" pitchFamily="2" charset="-122"/>
                          <a:ea typeface="宋体" pitchFamily="2" charset="-122"/>
                        </a:rPr>
                        <a:t>三</a:t>
                      </a:r>
                      <a:endParaRPr kumimoji="0" lang="zh-CN" altLang="en-US" sz="2000" b="1" i="0" u="none" strike="noStrike" cap="none" normalizeH="0" baseline="0" dirty="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114.29 </a:t>
                      </a:r>
                      <a:endParaRPr kumimoji="0" lang="en-US" altLang="zh-CN" sz="2000" b="1" i="0" u="none" strike="noStrike" cap="none" normalizeH="0" baseline="0" dirty="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宋体" pitchFamily="2" charset="-122"/>
                          <a:ea typeface="宋体" pitchFamily="2" charset="-122"/>
                        </a:rPr>
                        <a:t>96.43 </a:t>
                      </a:r>
                      <a:endParaRPr kumimoji="0" lang="en-US" altLang="zh-CN" sz="20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宋体" pitchFamily="2" charset="-122"/>
                          <a:ea typeface="宋体" pitchFamily="2" charset="-122"/>
                        </a:rPr>
                        <a:t>96.92 </a:t>
                      </a:r>
                      <a:endParaRPr kumimoji="0" lang="en-US" altLang="zh-CN" sz="20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宋体" pitchFamily="2" charset="-122"/>
                          <a:ea typeface="宋体" pitchFamily="2" charset="-122"/>
                        </a:rPr>
                        <a:t>116.67 </a:t>
                      </a:r>
                      <a:endParaRPr kumimoji="0" lang="en-US" altLang="zh-CN" sz="20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398463">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000" b="1" i="0" u="none" strike="noStrike" cap="none" normalizeH="0" baseline="0" dirty="0" smtClean="0">
                          <a:ln>
                            <a:noFill/>
                          </a:ln>
                          <a:solidFill>
                            <a:srgbClr val="000000"/>
                          </a:solidFill>
                          <a:effectLst/>
                          <a:latin typeface="宋体" pitchFamily="2" charset="-122"/>
                          <a:ea typeface="宋体" pitchFamily="2" charset="-122"/>
                        </a:rPr>
                        <a:t>四</a:t>
                      </a:r>
                      <a:endParaRPr kumimoji="0" lang="zh-CN" altLang="en-US" sz="2000" b="1" i="0" u="none" strike="noStrike" cap="none" normalizeH="0" baseline="0" dirty="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120.00 </a:t>
                      </a:r>
                      <a:endParaRPr kumimoji="0" lang="en-US" altLang="zh-CN" sz="2000" b="1" i="0" u="none" strike="noStrike" cap="none" normalizeH="0" baseline="0" dirty="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128.70 </a:t>
                      </a:r>
                      <a:endParaRPr kumimoji="0" lang="en-US" altLang="zh-CN" sz="2000" b="1" i="0" u="none" strike="noStrike" cap="none" normalizeH="0" baseline="0" dirty="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宋体" pitchFamily="2" charset="-122"/>
                          <a:ea typeface="宋体" pitchFamily="2" charset="-122"/>
                        </a:rPr>
                        <a:t>142.06 </a:t>
                      </a:r>
                      <a:endParaRPr kumimoji="0" lang="en-US" altLang="zh-CN" sz="20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宋体" pitchFamily="2" charset="-122"/>
                          <a:ea typeface="宋体" pitchFamily="2" charset="-122"/>
                        </a:rPr>
                        <a:t>117.86 </a:t>
                      </a:r>
                      <a:endParaRPr kumimoji="0" lang="en-US" altLang="zh-CN" sz="20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r h="396875">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zh-CN" altLang="en-US" sz="2000" b="1" i="0" u="none" strike="noStrike" cap="none" normalizeH="0" baseline="0" dirty="0" smtClean="0">
                          <a:ln>
                            <a:noFill/>
                          </a:ln>
                          <a:solidFill>
                            <a:srgbClr val="000000"/>
                          </a:solidFill>
                          <a:effectLst/>
                          <a:latin typeface="宋体" pitchFamily="2" charset="-122"/>
                          <a:ea typeface="宋体" pitchFamily="2" charset="-122"/>
                        </a:rPr>
                        <a:t>五</a:t>
                      </a:r>
                      <a:endParaRPr kumimoji="0" lang="zh-CN" altLang="en-US" sz="2000" b="1" i="0" u="none" strike="noStrike" cap="none" normalizeH="0" baseline="0" dirty="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宋体" pitchFamily="2" charset="-122"/>
                          <a:ea typeface="宋体" pitchFamily="2" charset="-122"/>
                        </a:rPr>
                        <a:t>116.67 </a:t>
                      </a:r>
                      <a:endParaRPr kumimoji="0" lang="en-US" altLang="zh-CN" sz="2000" b="1" i="0" u="none" strike="noStrike" cap="none" normalizeH="0" baseline="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109.35 </a:t>
                      </a:r>
                      <a:endParaRPr kumimoji="0" lang="en-US" altLang="zh-CN" sz="2000" b="1" i="0" u="none" strike="noStrike" cap="none" normalizeH="0" baseline="0" dirty="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107.26 </a:t>
                      </a:r>
                      <a:endParaRPr kumimoji="0" lang="en-US" altLang="zh-CN" sz="2000" b="1" i="0" u="none" strike="noStrike" cap="none" normalizeH="0" baseline="0" dirty="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ct val="0"/>
                        </a:spcBef>
                        <a:spcAft>
                          <a:spcPct val="0"/>
                        </a:spcAft>
                        <a:buClrTx/>
                        <a:buSzTx/>
                        <a:buFontTx/>
                        <a:buNone/>
                        <a:tabLst/>
                      </a:pPr>
                      <a:r>
                        <a:rPr kumimoji="0" lang="en-US" altLang="zh-CN" sz="2000" b="1" i="0" u="none" strike="noStrike" cap="none" normalizeH="0" baseline="0" dirty="0" smtClean="0">
                          <a:ln>
                            <a:noFill/>
                          </a:ln>
                          <a:solidFill>
                            <a:srgbClr val="000000"/>
                          </a:solidFill>
                          <a:effectLst/>
                          <a:latin typeface="宋体" pitchFamily="2" charset="-122"/>
                          <a:ea typeface="宋体" pitchFamily="2" charset="-122"/>
                        </a:rPr>
                        <a:t>106.06 </a:t>
                      </a:r>
                      <a:endParaRPr kumimoji="0" lang="en-US" altLang="zh-CN" sz="2000" b="1" i="0" u="none" strike="noStrike" cap="none" normalizeH="0" baseline="0" dirty="0" smtClean="0">
                        <a:ln>
                          <a:noFill/>
                        </a:ln>
                        <a:solidFill>
                          <a:srgbClr val="000000"/>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bl>
          </a:graphicData>
        </a:graphic>
      </p:graphicFrame>
      <p:sp>
        <p:nvSpPr>
          <p:cNvPr id="65582" name="日期占位符 5"/>
          <p:cNvSpPr>
            <a:spLocks noGrp="1"/>
          </p:cNvSpPr>
          <p:nvPr>
            <p:ph type="dt" sz="quarter" idx="10"/>
          </p:nvPr>
        </p:nvSpPr>
        <p:spPr>
          <a:noFill/>
        </p:spPr>
        <p:txBody>
          <a:bodyPr/>
          <a:lstStyle/>
          <a:p>
            <a:endParaRPr lang="en-US" altLang="zh-CN"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7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5" name="Rectangle 2"/>
          <p:cNvSpPr>
            <a:spLocks noGrp="1" noChangeArrowheads="1"/>
          </p:cNvSpPr>
          <p:nvPr>
            <p:ph type="title"/>
          </p:nvPr>
        </p:nvSpPr>
        <p:spPr>
          <a:xfrm>
            <a:off x="827088" y="0"/>
            <a:ext cx="7772400" cy="990600"/>
          </a:xfrm>
        </p:spPr>
        <p:txBody>
          <a:bodyPr/>
          <a:lstStyle/>
          <a:p>
            <a:pPr eaLnBrk="1" hangingPunct="1"/>
            <a:r>
              <a:rPr lang="en-US" altLang="zh-CN" dirty="0" smtClean="0"/>
              <a:t>2. </a:t>
            </a:r>
            <a:r>
              <a:rPr lang="zh-CN" altLang="en-US" dirty="0" smtClean="0"/>
              <a:t>剩余法（分解法）</a:t>
            </a:r>
          </a:p>
        </p:txBody>
      </p:sp>
      <p:sp>
        <p:nvSpPr>
          <p:cNvPr id="225283" name="Rectangle 3"/>
          <p:cNvSpPr>
            <a:spLocks noGrp="1" noChangeArrowheads="1"/>
          </p:cNvSpPr>
          <p:nvPr>
            <p:ph type="body" idx="1"/>
          </p:nvPr>
        </p:nvSpPr>
        <p:spPr>
          <a:xfrm>
            <a:off x="179512" y="990601"/>
            <a:ext cx="8847013" cy="5397706"/>
          </a:xfrm>
          <a:ln>
            <a:noFill/>
          </a:ln>
        </p:spPr>
        <p:txBody>
          <a:bodyPr/>
          <a:lstStyle/>
          <a:p>
            <a:pPr eaLnBrk="1" hangingPunct="1">
              <a:spcBef>
                <a:spcPts val="1200"/>
              </a:spcBef>
            </a:pPr>
            <a:r>
              <a:rPr lang="zh-CN" altLang="en-US" sz="2800" dirty="0" smtClean="0">
                <a:solidFill>
                  <a:srgbClr val="0070C0"/>
                </a:solidFill>
              </a:rPr>
              <a:t>基本思想：</a:t>
            </a:r>
            <a:r>
              <a:rPr lang="zh-CN" altLang="en-US" sz="2800" dirty="0" smtClean="0">
                <a:solidFill>
                  <a:srgbClr val="000000"/>
                </a:solidFill>
              </a:rPr>
              <a:t>以因素构成模型为基础，分别从时间序列中分离出长期趋势和季节变动因素，再消除不规则变动，则剩余的成份就是时间序列的循环变动。</a:t>
            </a:r>
          </a:p>
          <a:p>
            <a:pPr eaLnBrk="1" hangingPunct="1">
              <a:spcBef>
                <a:spcPts val="1200"/>
              </a:spcBef>
            </a:pPr>
            <a:r>
              <a:rPr lang="zh-CN" altLang="en-US" sz="2800" dirty="0" smtClean="0"/>
              <a:t>步骤：</a:t>
            </a:r>
            <a:r>
              <a:rPr lang="zh-CN" altLang="en-US" sz="2800" dirty="0" smtClean="0">
                <a:solidFill>
                  <a:srgbClr val="0070C0"/>
                </a:solidFill>
              </a:rPr>
              <a:t>假定因素构成模型为 </a:t>
            </a:r>
            <a:r>
              <a:rPr lang="en-US" altLang="zh-CN" sz="2800" i="1" dirty="0" smtClean="0">
                <a:solidFill>
                  <a:srgbClr val="0070C0"/>
                </a:solidFill>
              </a:rPr>
              <a:t>Y=T·S·C·I</a:t>
            </a:r>
            <a:r>
              <a:rPr lang="zh-CN" altLang="en-US" sz="2800" dirty="0" smtClean="0">
                <a:solidFill>
                  <a:srgbClr val="0070C0"/>
                </a:solidFill>
              </a:rPr>
              <a:t> </a:t>
            </a:r>
            <a:endParaRPr lang="zh-CN" altLang="en-US" sz="2800" dirty="0" smtClean="0">
              <a:solidFill>
                <a:srgbClr val="0070C0"/>
              </a:solidFill>
            </a:endParaRPr>
          </a:p>
          <a:p>
            <a:pPr marL="457200" lvl="1" indent="0" eaLnBrk="1" hangingPunct="1">
              <a:spcBef>
                <a:spcPts val="1200"/>
              </a:spcBef>
              <a:buNone/>
            </a:pPr>
            <a:r>
              <a:rPr lang="en-US" altLang="zh-CN" sz="2400" dirty="0" smtClean="0"/>
              <a:t>1</a:t>
            </a:r>
            <a:r>
              <a:rPr lang="zh-CN" altLang="en-US" sz="2400" dirty="0" smtClean="0"/>
              <a:t>）消除</a:t>
            </a:r>
            <a:r>
              <a:rPr lang="zh-CN" altLang="en-US" sz="2400" dirty="0" smtClean="0"/>
              <a:t>季节变动，得到无季节影响的序列；</a:t>
            </a:r>
          </a:p>
          <a:p>
            <a:pPr marL="457200" lvl="1" indent="0" eaLnBrk="1" hangingPunct="1">
              <a:spcBef>
                <a:spcPts val="1200"/>
              </a:spcBef>
              <a:buNone/>
            </a:pPr>
            <a:r>
              <a:rPr lang="en-US" altLang="zh-CN" sz="2400" dirty="0" smtClean="0"/>
              <a:t>2</a:t>
            </a:r>
            <a:r>
              <a:rPr lang="zh-CN" altLang="en-US" sz="2400" dirty="0" smtClean="0"/>
              <a:t>）由</a:t>
            </a:r>
            <a:r>
              <a:rPr lang="zh-CN" altLang="en-US" sz="2400" dirty="0" smtClean="0"/>
              <a:t>无季节影响序列计算出各期趋势值</a:t>
            </a:r>
            <a:r>
              <a:rPr lang="en-US" altLang="zh-CN" sz="2400" i="1" dirty="0" smtClean="0"/>
              <a:t>T</a:t>
            </a:r>
            <a:r>
              <a:rPr lang="zh-CN" altLang="en-US" sz="2400" dirty="0" smtClean="0"/>
              <a:t>，再剔除趋势，求得循环和不规则变动序列 </a:t>
            </a:r>
            <a:r>
              <a:rPr lang="en-US" altLang="zh-CN" sz="2400" i="1" dirty="0" smtClean="0"/>
              <a:t>CI</a:t>
            </a:r>
            <a:r>
              <a:rPr lang="zh-CN" altLang="en-US" sz="2400" dirty="0" smtClean="0"/>
              <a:t>。</a:t>
            </a:r>
            <a:endParaRPr lang="en-US" altLang="zh-CN" sz="2400" dirty="0" smtClean="0"/>
          </a:p>
          <a:p>
            <a:pPr marL="914400" lvl="2" indent="0" eaLnBrk="1" hangingPunct="1">
              <a:spcBef>
                <a:spcPts val="1200"/>
              </a:spcBef>
              <a:buNone/>
            </a:pPr>
            <a:endParaRPr lang="zh-CN" altLang="en-US" sz="1800" dirty="0" smtClean="0"/>
          </a:p>
          <a:p>
            <a:pPr marL="457200" lvl="1" indent="0" eaLnBrk="1" hangingPunct="1">
              <a:spcBef>
                <a:spcPts val="1200"/>
              </a:spcBef>
              <a:buNone/>
            </a:pPr>
            <a:r>
              <a:rPr lang="en-US" altLang="zh-CN" sz="2400" dirty="0" smtClean="0"/>
              <a:t>3</a:t>
            </a:r>
            <a:r>
              <a:rPr lang="zh-CN" altLang="en-US" sz="2400" dirty="0" smtClean="0"/>
              <a:t>）对 </a:t>
            </a:r>
            <a:r>
              <a:rPr lang="en-US" altLang="zh-CN" sz="2400" i="1" dirty="0" smtClean="0"/>
              <a:t>CI </a:t>
            </a:r>
            <a:r>
              <a:rPr lang="zh-CN" altLang="en-US" sz="2400" dirty="0" smtClean="0"/>
              <a:t>进行移动平均，消除 </a:t>
            </a:r>
            <a:r>
              <a:rPr lang="en-US" altLang="zh-CN" sz="2400" i="1" dirty="0" smtClean="0"/>
              <a:t>I</a:t>
            </a:r>
            <a:r>
              <a:rPr lang="zh-CN" altLang="en-US" sz="2400" dirty="0" smtClean="0"/>
              <a:t>，求得  </a:t>
            </a:r>
            <a:r>
              <a:rPr lang="en-US" altLang="zh-CN" sz="2400" i="1" dirty="0" smtClean="0"/>
              <a:t>C</a:t>
            </a:r>
            <a:r>
              <a:rPr lang="zh-CN" altLang="en-US" sz="2400" dirty="0" smtClean="0"/>
              <a:t>。</a:t>
            </a:r>
          </a:p>
          <a:p>
            <a:pPr eaLnBrk="1" hangingPunct="1">
              <a:spcBef>
                <a:spcPts val="1200"/>
              </a:spcBef>
            </a:pPr>
            <a:r>
              <a:rPr lang="zh-CN" altLang="en-US" sz="2400" dirty="0" smtClean="0">
                <a:solidFill>
                  <a:srgbClr val="7030A0"/>
                </a:solidFill>
              </a:rPr>
              <a:t>剩余</a:t>
            </a:r>
            <a:r>
              <a:rPr lang="zh-CN" altLang="en-US" sz="2400" dirty="0" smtClean="0">
                <a:solidFill>
                  <a:srgbClr val="7030A0"/>
                </a:solidFill>
              </a:rPr>
              <a:t>法思路</a:t>
            </a:r>
            <a:r>
              <a:rPr lang="zh-CN" altLang="en-US" sz="2400" dirty="0" smtClean="0">
                <a:solidFill>
                  <a:srgbClr val="7030A0"/>
                </a:solidFill>
              </a:rPr>
              <a:t>清晰，但</a:t>
            </a:r>
            <a:r>
              <a:rPr lang="zh-CN" altLang="en-US" sz="2400" dirty="0" smtClean="0">
                <a:solidFill>
                  <a:srgbClr val="7030A0"/>
                </a:solidFill>
              </a:rPr>
              <a:t>计算复杂，其准确性受其他各因素分离效果的</a:t>
            </a:r>
            <a:r>
              <a:rPr lang="zh-CN" altLang="en-US" sz="2400" dirty="0" smtClean="0">
                <a:solidFill>
                  <a:srgbClr val="7030A0"/>
                </a:solidFill>
              </a:rPr>
              <a:t>影响</a:t>
            </a:r>
            <a:r>
              <a:rPr lang="zh-CN" altLang="en-US" sz="2400" b="0" dirty="0" smtClean="0">
                <a:solidFill>
                  <a:srgbClr val="7030A0"/>
                </a:solidFill>
              </a:rPr>
              <a:t>（如 趋势值的测定方法、</a:t>
            </a:r>
            <a:r>
              <a:rPr lang="en-US" altLang="zh-CN" sz="2400" b="0" i="1" dirty="0" smtClean="0">
                <a:solidFill>
                  <a:srgbClr val="7030A0"/>
                </a:solidFill>
              </a:rPr>
              <a:t>CI </a:t>
            </a:r>
            <a:r>
              <a:rPr lang="zh-CN" altLang="en-US" sz="2400" b="0" dirty="0" smtClean="0">
                <a:solidFill>
                  <a:srgbClr val="7030A0"/>
                </a:solidFill>
              </a:rPr>
              <a:t>的移动</a:t>
            </a:r>
            <a:r>
              <a:rPr lang="zh-CN" altLang="en-US" sz="2400" b="0" dirty="0" smtClean="0">
                <a:solidFill>
                  <a:srgbClr val="7030A0"/>
                </a:solidFill>
              </a:rPr>
              <a:t>平均的时距？</a:t>
            </a:r>
            <a:r>
              <a:rPr lang="zh-CN" altLang="en-US" sz="2400" b="0" dirty="0" smtClean="0">
                <a:solidFill>
                  <a:srgbClr val="7030A0"/>
                </a:solidFill>
              </a:rPr>
              <a:t>）</a:t>
            </a:r>
            <a:r>
              <a:rPr lang="en-US" altLang="zh-CN" sz="2400" dirty="0" smtClean="0">
                <a:solidFill>
                  <a:srgbClr val="7030A0"/>
                </a:solidFill>
              </a:rPr>
              <a:t>.</a:t>
            </a:r>
            <a:endParaRPr lang="en-US" altLang="zh-CN" sz="2400" dirty="0" smtClean="0">
              <a:solidFill>
                <a:srgbClr val="7030A0"/>
              </a:solidFill>
            </a:endParaRPr>
          </a:p>
        </p:txBody>
      </p:sp>
      <p:sp>
        <p:nvSpPr>
          <p:cNvPr id="66567" name="Rectangle 4"/>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225285" name="Object 5"/>
          <p:cNvGraphicFramePr>
            <a:graphicFrameLocks noChangeAspect="1"/>
          </p:cNvGraphicFramePr>
          <p:nvPr>
            <p:extLst>
              <p:ext uri="{D42A27DB-BD31-4B8C-83A1-F6EECF244321}">
                <p14:modId xmlns:p14="http://schemas.microsoft.com/office/powerpoint/2010/main" val="3415966191"/>
              </p:ext>
            </p:extLst>
          </p:nvPr>
        </p:nvGraphicFramePr>
        <p:xfrm>
          <a:off x="7020272" y="2564904"/>
          <a:ext cx="1871662" cy="968375"/>
        </p:xfrm>
        <a:graphic>
          <a:graphicData uri="http://schemas.openxmlformats.org/presentationml/2006/ole">
            <mc:AlternateContent xmlns:mc="http://schemas.openxmlformats.org/markup-compatibility/2006">
              <mc:Choice xmlns:v="urn:schemas-microsoft-com:vml" Requires="v">
                <p:oleObj spid="_x0000_s66774" name="公式" r:id="rId3" imgW="672840" imgH="355320" progId="Equation.3">
                  <p:embed/>
                </p:oleObj>
              </mc:Choice>
              <mc:Fallback>
                <p:oleObj name="公式" r:id="rId3" imgW="672840" imgH="35532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20272" y="2564904"/>
                        <a:ext cx="1871662" cy="968375"/>
                      </a:xfrm>
                      <a:prstGeom prst="rect">
                        <a:avLst/>
                      </a:prstGeom>
                      <a:solidFill>
                        <a:schemeClr val="bg1">
                          <a:lumMod val="95000"/>
                        </a:schemeClr>
                      </a:solidFill>
                      <a:ln w="3175">
                        <a:solidFill>
                          <a:srgbClr val="CCCCFF"/>
                        </a:solidFill>
                        <a:miter lim="800000"/>
                        <a:headEnd/>
                        <a:tailEnd/>
                      </a:ln>
                    </p:spPr>
                  </p:pic>
                </p:oleObj>
              </mc:Fallback>
            </mc:AlternateContent>
          </a:graphicData>
        </a:graphic>
      </p:graphicFrame>
      <p:graphicFrame>
        <p:nvGraphicFramePr>
          <p:cNvPr id="225286" name="Object 6"/>
          <p:cNvGraphicFramePr>
            <a:graphicFrameLocks noChangeAspect="1"/>
          </p:cNvGraphicFramePr>
          <p:nvPr>
            <p:extLst>
              <p:ext uri="{D42A27DB-BD31-4B8C-83A1-F6EECF244321}">
                <p14:modId xmlns:p14="http://schemas.microsoft.com/office/powerpoint/2010/main" val="467695410"/>
              </p:ext>
            </p:extLst>
          </p:nvPr>
        </p:nvGraphicFramePr>
        <p:xfrm>
          <a:off x="4932040" y="3926497"/>
          <a:ext cx="1656184" cy="942663"/>
        </p:xfrm>
        <a:graphic>
          <a:graphicData uri="http://schemas.openxmlformats.org/presentationml/2006/ole">
            <mc:AlternateContent xmlns:mc="http://schemas.openxmlformats.org/markup-compatibility/2006">
              <mc:Choice xmlns:v="urn:schemas-microsoft-com:vml" Requires="v">
                <p:oleObj spid="_x0000_s66775" name="公式" r:id="rId5" imgW="812447" imgH="355446" progId="Equation.3">
                  <p:embed/>
                </p:oleObj>
              </mc:Choice>
              <mc:Fallback>
                <p:oleObj name="公式" r:id="rId5" imgW="812447" imgH="355446"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32040" y="3926497"/>
                        <a:ext cx="1656184" cy="942663"/>
                      </a:xfrm>
                      <a:prstGeom prst="rect">
                        <a:avLst/>
                      </a:prstGeom>
                      <a:solidFill>
                        <a:schemeClr val="accent1">
                          <a:lumMod val="20000"/>
                          <a:lumOff val="80000"/>
                        </a:schemeClr>
                      </a:solidFill>
                      <a:ln w="12700">
                        <a:solidFill>
                          <a:schemeClr val="accent1">
                            <a:lumMod val="20000"/>
                            <a:lumOff val="80000"/>
                          </a:schemeClr>
                        </a:solidFill>
                        <a:miter lim="800000"/>
                        <a:headEnd/>
                        <a:tailEnd/>
                      </a:ln>
                    </p:spPr>
                  </p:pic>
                </p:oleObj>
              </mc:Fallback>
            </mc:AlternateContent>
          </a:graphicData>
        </a:graphic>
      </p:graphicFrame>
      <p:sp>
        <p:nvSpPr>
          <p:cNvPr id="66568" name="日期占位符 7"/>
          <p:cNvSpPr>
            <a:spLocks noGrp="1"/>
          </p:cNvSpPr>
          <p:nvPr>
            <p:ph type="dt" sz="quarter" idx="10"/>
          </p:nvPr>
        </p:nvSpPr>
        <p:spPr>
          <a:xfrm>
            <a:off x="179512" y="6388306"/>
            <a:ext cx="1905000" cy="457200"/>
          </a:xfrm>
          <a:noFill/>
        </p:spPr>
        <p:txBody>
          <a:bodyPr/>
          <a:lstStyle/>
          <a:p>
            <a:endParaRPr lang="en-US" altLang="zh-CN"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25283">
                                            <p:txEl>
                                              <p:pRg st="1" end="1"/>
                                            </p:txEl>
                                          </p:spTgt>
                                        </p:tgtEl>
                                        <p:attrNameLst>
                                          <p:attrName>style.visibility</p:attrName>
                                        </p:attrNameLst>
                                      </p:cBhvr>
                                      <p:to>
                                        <p:strVal val="visible"/>
                                      </p:to>
                                    </p:set>
                                    <p:animEffect transition="in" filter="wipe(down)">
                                      <p:cBhvr>
                                        <p:cTn id="7" dur="500"/>
                                        <p:tgtEl>
                                          <p:spTgt spid="22528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25283">
                                            <p:txEl>
                                              <p:pRg st="2" end="2"/>
                                            </p:txEl>
                                          </p:spTgt>
                                        </p:tgtEl>
                                        <p:attrNameLst>
                                          <p:attrName>style.visibility</p:attrName>
                                        </p:attrNameLst>
                                      </p:cBhvr>
                                      <p:to>
                                        <p:strVal val="visible"/>
                                      </p:to>
                                    </p:set>
                                    <p:animEffect transition="in" filter="wipe(down)">
                                      <p:cBhvr>
                                        <p:cTn id="12" dur="500"/>
                                        <p:tgtEl>
                                          <p:spTgt spid="225283">
                                            <p:txEl>
                                              <p:pRg st="2" end="2"/>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225285"/>
                                        </p:tgtEl>
                                        <p:attrNameLst>
                                          <p:attrName>style.visibility</p:attrName>
                                        </p:attrNameLst>
                                      </p:cBhvr>
                                      <p:to>
                                        <p:strVal val="visible"/>
                                      </p:to>
                                    </p:set>
                                    <p:animEffect transition="in" filter="wipe(left)">
                                      <p:cBhvr>
                                        <p:cTn id="16" dur="500"/>
                                        <p:tgtEl>
                                          <p:spTgt spid="22528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225283">
                                            <p:txEl>
                                              <p:pRg st="3" end="3"/>
                                            </p:txEl>
                                          </p:spTgt>
                                        </p:tgtEl>
                                        <p:attrNameLst>
                                          <p:attrName>style.visibility</p:attrName>
                                        </p:attrNameLst>
                                      </p:cBhvr>
                                      <p:to>
                                        <p:strVal val="visible"/>
                                      </p:to>
                                    </p:set>
                                    <p:animEffect transition="in" filter="wipe(down)">
                                      <p:cBhvr>
                                        <p:cTn id="21" dur="500"/>
                                        <p:tgtEl>
                                          <p:spTgt spid="225283">
                                            <p:txEl>
                                              <p:pRg st="3" end="3"/>
                                            </p:txEl>
                                          </p:spTgt>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225286"/>
                                        </p:tgtEl>
                                        <p:attrNameLst>
                                          <p:attrName>style.visibility</p:attrName>
                                        </p:attrNameLst>
                                      </p:cBhvr>
                                      <p:to>
                                        <p:strVal val="visible"/>
                                      </p:to>
                                    </p:set>
                                    <p:animEffect transition="in" filter="wipe(left)">
                                      <p:cBhvr>
                                        <p:cTn id="25" dur="500"/>
                                        <p:tgtEl>
                                          <p:spTgt spid="22528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225283">
                                            <p:txEl>
                                              <p:pRg st="5" end="5"/>
                                            </p:txEl>
                                          </p:spTgt>
                                        </p:tgtEl>
                                        <p:attrNameLst>
                                          <p:attrName>style.visibility</p:attrName>
                                        </p:attrNameLst>
                                      </p:cBhvr>
                                      <p:to>
                                        <p:strVal val="visible"/>
                                      </p:to>
                                    </p:set>
                                    <p:animEffect transition="in" filter="wipe(down)">
                                      <p:cBhvr>
                                        <p:cTn id="30" dur="500"/>
                                        <p:tgtEl>
                                          <p:spTgt spid="22528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225283">
                                            <p:txEl>
                                              <p:pRg st="6" end="6"/>
                                            </p:txEl>
                                          </p:spTgt>
                                        </p:tgtEl>
                                        <p:attrNameLst>
                                          <p:attrName>style.visibility</p:attrName>
                                        </p:attrNameLst>
                                      </p:cBhvr>
                                      <p:to>
                                        <p:strVal val="visible"/>
                                      </p:to>
                                    </p:set>
                                    <p:animEffect transition="in" filter="wipe(down)">
                                      <p:cBhvr>
                                        <p:cTn id="35" dur="500"/>
                                        <p:tgtEl>
                                          <p:spTgt spid="22528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83" grpId="0" uiExpand="1" build="p"/>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9" name="Rectangle 2"/>
          <p:cNvSpPr>
            <a:spLocks noGrp="1" noChangeArrowheads="1"/>
          </p:cNvSpPr>
          <p:nvPr>
            <p:ph type="title"/>
          </p:nvPr>
        </p:nvSpPr>
        <p:spPr>
          <a:xfrm>
            <a:off x="1187450" y="549275"/>
            <a:ext cx="7162800" cy="914400"/>
          </a:xfrm>
        </p:spPr>
        <p:txBody>
          <a:bodyPr/>
          <a:lstStyle/>
          <a:p>
            <a:pPr eaLnBrk="1" hangingPunct="1"/>
            <a:r>
              <a:rPr lang="en-US" altLang="zh-CN" sz="4000" dirty="0" smtClean="0">
                <a:latin typeface="宋体" pitchFamily="2" charset="-122"/>
              </a:rPr>
              <a:t>【</a:t>
            </a:r>
            <a:r>
              <a:rPr lang="zh-CN" altLang="en-US" sz="4000" dirty="0" smtClean="0">
                <a:latin typeface="宋体" pitchFamily="2" charset="-122"/>
              </a:rPr>
              <a:t>附</a:t>
            </a:r>
            <a:r>
              <a:rPr lang="en-US" altLang="zh-CN" sz="4000" dirty="0" smtClean="0">
                <a:latin typeface="宋体" pitchFamily="2" charset="-122"/>
              </a:rPr>
              <a:t>】</a:t>
            </a:r>
            <a:r>
              <a:rPr lang="zh-CN" altLang="en-US" sz="4000" dirty="0" smtClean="0">
                <a:latin typeface="宋体" pitchFamily="2" charset="-122"/>
              </a:rPr>
              <a:t>周期</a:t>
            </a:r>
            <a:r>
              <a:rPr lang="zh-CN" altLang="en-US" sz="4000" dirty="0" smtClean="0">
                <a:latin typeface="宋体" pitchFamily="2" charset="-122"/>
              </a:rPr>
              <a:t>波动的特征分类</a:t>
            </a:r>
          </a:p>
        </p:txBody>
      </p:sp>
      <p:grpSp>
        <p:nvGrpSpPr>
          <p:cNvPr id="152580" name="Group 20"/>
          <p:cNvGrpSpPr>
            <a:grpSpLocks/>
          </p:cNvGrpSpPr>
          <p:nvPr/>
        </p:nvGrpSpPr>
        <p:grpSpPr bwMode="auto">
          <a:xfrm>
            <a:off x="501650" y="2443163"/>
            <a:ext cx="8534400" cy="1417637"/>
            <a:chOff x="144" y="1104"/>
            <a:chExt cx="5376" cy="893"/>
          </a:xfrm>
        </p:grpSpPr>
        <p:sp>
          <p:nvSpPr>
            <p:cNvPr id="152592" name="Line 3"/>
            <p:cNvSpPr>
              <a:spLocks noChangeShapeType="1"/>
            </p:cNvSpPr>
            <p:nvPr/>
          </p:nvSpPr>
          <p:spPr bwMode="auto">
            <a:xfrm flipV="1">
              <a:off x="1344" y="1536"/>
              <a:ext cx="3936" cy="0"/>
            </a:xfrm>
            <a:prstGeom prst="line">
              <a:avLst/>
            </a:prstGeom>
            <a:noFill/>
            <a:ln w="38100">
              <a:solidFill>
                <a:srgbClr val="A6A19A"/>
              </a:solidFill>
              <a:round/>
              <a:headEnd/>
              <a:tailEnd/>
            </a:ln>
          </p:spPr>
          <p:txBody>
            <a:bodyPr lIns="90000" tIns="46800" rIns="90000" bIns="46800"/>
            <a:lstStyle/>
            <a:p>
              <a:endParaRPr lang="zh-CN" altLang="en-US"/>
            </a:p>
          </p:txBody>
        </p:sp>
        <p:sp>
          <p:nvSpPr>
            <p:cNvPr id="152593" name="Line 4"/>
            <p:cNvSpPr>
              <a:spLocks noChangeShapeType="1"/>
            </p:cNvSpPr>
            <p:nvPr/>
          </p:nvSpPr>
          <p:spPr bwMode="auto">
            <a:xfrm>
              <a:off x="1440" y="1344"/>
              <a:ext cx="0" cy="192"/>
            </a:xfrm>
            <a:prstGeom prst="line">
              <a:avLst/>
            </a:prstGeom>
            <a:noFill/>
            <a:ln w="38100">
              <a:solidFill>
                <a:srgbClr val="A6A19A"/>
              </a:solidFill>
              <a:round/>
              <a:headEnd/>
              <a:tailEnd/>
            </a:ln>
          </p:spPr>
          <p:txBody>
            <a:bodyPr lIns="90000" tIns="46800" rIns="90000" bIns="46800"/>
            <a:lstStyle/>
            <a:p>
              <a:endParaRPr lang="zh-CN" altLang="en-US"/>
            </a:p>
          </p:txBody>
        </p:sp>
        <p:sp>
          <p:nvSpPr>
            <p:cNvPr id="152594" name="Line 5"/>
            <p:cNvSpPr>
              <a:spLocks noChangeShapeType="1"/>
            </p:cNvSpPr>
            <p:nvPr/>
          </p:nvSpPr>
          <p:spPr bwMode="auto">
            <a:xfrm>
              <a:off x="2688" y="1344"/>
              <a:ext cx="0" cy="192"/>
            </a:xfrm>
            <a:prstGeom prst="line">
              <a:avLst/>
            </a:prstGeom>
            <a:noFill/>
            <a:ln w="38100">
              <a:solidFill>
                <a:srgbClr val="A6A19A"/>
              </a:solidFill>
              <a:round/>
              <a:headEnd/>
              <a:tailEnd/>
            </a:ln>
          </p:spPr>
          <p:txBody>
            <a:bodyPr lIns="90000" tIns="46800" rIns="90000" bIns="46800"/>
            <a:lstStyle/>
            <a:p>
              <a:endParaRPr lang="zh-CN" altLang="en-US"/>
            </a:p>
          </p:txBody>
        </p:sp>
        <p:sp>
          <p:nvSpPr>
            <p:cNvPr id="152595" name="Line 6"/>
            <p:cNvSpPr>
              <a:spLocks noChangeShapeType="1"/>
            </p:cNvSpPr>
            <p:nvPr/>
          </p:nvSpPr>
          <p:spPr bwMode="auto">
            <a:xfrm>
              <a:off x="4080" y="1344"/>
              <a:ext cx="0" cy="192"/>
            </a:xfrm>
            <a:prstGeom prst="line">
              <a:avLst/>
            </a:prstGeom>
            <a:noFill/>
            <a:ln w="38100">
              <a:solidFill>
                <a:srgbClr val="A6A19A"/>
              </a:solidFill>
              <a:round/>
              <a:headEnd/>
              <a:tailEnd/>
            </a:ln>
          </p:spPr>
          <p:txBody>
            <a:bodyPr lIns="90000" tIns="46800" rIns="90000" bIns="46800"/>
            <a:lstStyle/>
            <a:p>
              <a:endParaRPr lang="zh-CN" altLang="en-US"/>
            </a:p>
          </p:txBody>
        </p:sp>
        <p:sp>
          <p:nvSpPr>
            <p:cNvPr id="152596" name="Line 7"/>
            <p:cNvSpPr>
              <a:spLocks noChangeShapeType="1"/>
            </p:cNvSpPr>
            <p:nvPr/>
          </p:nvSpPr>
          <p:spPr bwMode="auto">
            <a:xfrm>
              <a:off x="5280" y="1344"/>
              <a:ext cx="0" cy="192"/>
            </a:xfrm>
            <a:prstGeom prst="line">
              <a:avLst/>
            </a:prstGeom>
            <a:noFill/>
            <a:ln w="38100">
              <a:solidFill>
                <a:srgbClr val="A6A19A"/>
              </a:solidFill>
              <a:round/>
              <a:headEnd/>
              <a:tailEnd/>
            </a:ln>
          </p:spPr>
          <p:txBody>
            <a:bodyPr lIns="90000" tIns="46800" rIns="90000" bIns="46800"/>
            <a:lstStyle/>
            <a:p>
              <a:endParaRPr lang="zh-CN" altLang="en-US"/>
            </a:p>
          </p:txBody>
        </p:sp>
        <p:sp>
          <p:nvSpPr>
            <p:cNvPr id="152597" name="Text Box 8"/>
            <p:cNvSpPr txBox="1">
              <a:spLocks noChangeArrowheads="1"/>
            </p:cNvSpPr>
            <p:nvPr/>
          </p:nvSpPr>
          <p:spPr bwMode="auto">
            <a:xfrm>
              <a:off x="1488" y="1104"/>
              <a:ext cx="4032" cy="365"/>
            </a:xfrm>
            <a:prstGeom prst="rect">
              <a:avLst/>
            </a:prstGeom>
            <a:noFill/>
            <a:ln w="12700">
              <a:noFill/>
              <a:miter lim="800000"/>
              <a:headEnd/>
              <a:tailEnd/>
            </a:ln>
          </p:spPr>
          <p:txBody>
            <a:bodyPr lIns="90000" tIns="46800" rIns="90000" bIns="46800">
              <a:spAutoFit/>
            </a:bodyPr>
            <a:lstStyle/>
            <a:p>
              <a:pPr eaLnBrk="0" hangingPunct="0">
                <a:spcBef>
                  <a:spcPct val="50000"/>
                </a:spcBef>
              </a:pPr>
              <a:r>
                <a:rPr kumimoji="1" lang="zh-CN" altLang="en-US" sz="3200">
                  <a:solidFill>
                    <a:srgbClr val="000000"/>
                  </a:solidFill>
                </a:rPr>
                <a:t>低振幅型     中振幅型    强振幅型          </a:t>
              </a:r>
            </a:p>
          </p:txBody>
        </p:sp>
        <p:sp>
          <p:nvSpPr>
            <p:cNvPr id="152598" name="Text Box 9"/>
            <p:cNvSpPr txBox="1">
              <a:spLocks noChangeArrowheads="1"/>
            </p:cNvSpPr>
            <p:nvPr/>
          </p:nvSpPr>
          <p:spPr bwMode="auto">
            <a:xfrm>
              <a:off x="144" y="1296"/>
              <a:ext cx="1248" cy="672"/>
            </a:xfrm>
            <a:prstGeom prst="rect">
              <a:avLst/>
            </a:prstGeom>
            <a:noFill/>
            <a:ln w="12700">
              <a:noFill/>
              <a:miter lim="800000"/>
              <a:headEnd/>
              <a:tailEnd/>
            </a:ln>
          </p:spPr>
          <p:txBody>
            <a:bodyPr lIns="90000" tIns="46800" rIns="90000" bIns="46800">
              <a:spAutoFit/>
            </a:bodyPr>
            <a:lstStyle/>
            <a:p>
              <a:pPr eaLnBrk="0" hangingPunct="0">
                <a:spcBef>
                  <a:spcPct val="50000"/>
                </a:spcBef>
              </a:pPr>
              <a:r>
                <a:rPr kumimoji="1" lang="en-US" altLang="zh-CN" sz="3200">
                  <a:solidFill>
                    <a:srgbClr val="CC0099"/>
                  </a:solidFill>
                </a:rPr>
                <a:t> </a:t>
              </a:r>
              <a:r>
                <a:rPr kumimoji="1" lang="zh-CN" altLang="en-US" sz="3200" b="1">
                  <a:solidFill>
                    <a:srgbClr val="CC0099"/>
                  </a:solidFill>
                </a:rPr>
                <a:t>峰谷落差</a:t>
              </a:r>
              <a:r>
                <a:rPr kumimoji="1" lang="en-US" altLang="zh-CN" sz="3200" b="1">
                  <a:solidFill>
                    <a:srgbClr val="CC0099"/>
                  </a:solidFill>
                </a:rPr>
                <a:t>(</a:t>
              </a:r>
              <a:r>
                <a:rPr kumimoji="1" lang="zh-CN" altLang="en-US" sz="3200" b="1">
                  <a:solidFill>
                    <a:srgbClr val="CC0099"/>
                  </a:solidFill>
                </a:rPr>
                <a:t>百分点）</a:t>
              </a:r>
            </a:p>
          </p:txBody>
        </p:sp>
        <p:sp>
          <p:nvSpPr>
            <p:cNvPr id="152599" name="Rectangle 10"/>
            <p:cNvSpPr>
              <a:spLocks noChangeArrowheads="1"/>
            </p:cNvSpPr>
            <p:nvPr/>
          </p:nvSpPr>
          <p:spPr bwMode="auto">
            <a:xfrm>
              <a:off x="1680" y="1632"/>
              <a:ext cx="3552" cy="365"/>
            </a:xfrm>
            <a:prstGeom prst="rect">
              <a:avLst/>
            </a:prstGeom>
            <a:noFill/>
            <a:ln w="12700">
              <a:noFill/>
              <a:miter lim="800000"/>
              <a:headEnd/>
              <a:tailEnd/>
            </a:ln>
          </p:spPr>
          <p:txBody>
            <a:bodyPr lIns="90000" tIns="46800" rIns="90000" bIns="46800">
              <a:spAutoFit/>
            </a:bodyPr>
            <a:lstStyle/>
            <a:p>
              <a:pPr eaLnBrk="0" hangingPunct="0"/>
              <a:r>
                <a:rPr kumimoji="1" lang="en-US" altLang="zh-CN" sz="3200"/>
                <a:t>&lt;=5          (5,10)          &gt;=10     </a:t>
              </a:r>
            </a:p>
          </p:txBody>
        </p:sp>
      </p:grpSp>
      <p:grpSp>
        <p:nvGrpSpPr>
          <p:cNvPr id="3" name="Group 21"/>
          <p:cNvGrpSpPr>
            <a:grpSpLocks/>
          </p:cNvGrpSpPr>
          <p:nvPr/>
        </p:nvGrpSpPr>
        <p:grpSpPr bwMode="auto">
          <a:xfrm>
            <a:off x="511175" y="4365625"/>
            <a:ext cx="8382000" cy="1357313"/>
            <a:chOff x="192" y="2323"/>
            <a:chExt cx="5280" cy="855"/>
          </a:xfrm>
        </p:grpSpPr>
        <p:sp>
          <p:nvSpPr>
            <p:cNvPr id="152584" name="Line 11"/>
            <p:cNvSpPr>
              <a:spLocks noChangeShapeType="1"/>
            </p:cNvSpPr>
            <p:nvPr/>
          </p:nvSpPr>
          <p:spPr bwMode="auto">
            <a:xfrm>
              <a:off x="1488" y="2688"/>
              <a:ext cx="3984" cy="0"/>
            </a:xfrm>
            <a:prstGeom prst="line">
              <a:avLst/>
            </a:prstGeom>
            <a:noFill/>
            <a:ln w="38100">
              <a:solidFill>
                <a:srgbClr val="A6A19A"/>
              </a:solidFill>
              <a:round/>
              <a:headEnd/>
              <a:tailEnd/>
            </a:ln>
          </p:spPr>
          <p:txBody>
            <a:bodyPr lIns="90000" tIns="46800" rIns="90000" bIns="46800"/>
            <a:lstStyle/>
            <a:p>
              <a:endParaRPr lang="zh-CN" altLang="en-US"/>
            </a:p>
          </p:txBody>
        </p:sp>
        <p:sp>
          <p:nvSpPr>
            <p:cNvPr id="152585" name="Line 12"/>
            <p:cNvSpPr>
              <a:spLocks noChangeShapeType="1"/>
            </p:cNvSpPr>
            <p:nvPr/>
          </p:nvSpPr>
          <p:spPr bwMode="auto">
            <a:xfrm>
              <a:off x="1488" y="2525"/>
              <a:ext cx="0" cy="192"/>
            </a:xfrm>
            <a:prstGeom prst="line">
              <a:avLst/>
            </a:prstGeom>
            <a:noFill/>
            <a:ln w="38100">
              <a:solidFill>
                <a:srgbClr val="A6A19A"/>
              </a:solidFill>
              <a:round/>
              <a:headEnd/>
              <a:tailEnd/>
            </a:ln>
          </p:spPr>
          <p:txBody>
            <a:bodyPr lIns="90000" tIns="46800" rIns="90000" bIns="46800"/>
            <a:lstStyle/>
            <a:p>
              <a:endParaRPr lang="zh-CN" altLang="en-US"/>
            </a:p>
          </p:txBody>
        </p:sp>
        <p:sp>
          <p:nvSpPr>
            <p:cNvPr id="152586" name="Line 13"/>
            <p:cNvSpPr>
              <a:spLocks noChangeShapeType="1"/>
            </p:cNvSpPr>
            <p:nvPr/>
          </p:nvSpPr>
          <p:spPr bwMode="auto">
            <a:xfrm>
              <a:off x="2688" y="2525"/>
              <a:ext cx="0" cy="192"/>
            </a:xfrm>
            <a:prstGeom prst="line">
              <a:avLst/>
            </a:prstGeom>
            <a:noFill/>
            <a:ln w="38100">
              <a:solidFill>
                <a:srgbClr val="A6A19A"/>
              </a:solidFill>
              <a:round/>
              <a:headEnd/>
              <a:tailEnd/>
            </a:ln>
          </p:spPr>
          <p:txBody>
            <a:bodyPr lIns="90000" tIns="46800" rIns="90000" bIns="46800"/>
            <a:lstStyle/>
            <a:p>
              <a:endParaRPr lang="zh-CN" altLang="en-US"/>
            </a:p>
          </p:txBody>
        </p:sp>
        <p:sp>
          <p:nvSpPr>
            <p:cNvPr id="152587" name="Line 14"/>
            <p:cNvSpPr>
              <a:spLocks noChangeShapeType="1"/>
            </p:cNvSpPr>
            <p:nvPr/>
          </p:nvSpPr>
          <p:spPr bwMode="auto">
            <a:xfrm>
              <a:off x="4080" y="2525"/>
              <a:ext cx="0" cy="192"/>
            </a:xfrm>
            <a:prstGeom prst="line">
              <a:avLst/>
            </a:prstGeom>
            <a:noFill/>
            <a:ln w="38100">
              <a:solidFill>
                <a:srgbClr val="A6A19A"/>
              </a:solidFill>
              <a:round/>
              <a:headEnd/>
              <a:tailEnd/>
            </a:ln>
          </p:spPr>
          <p:txBody>
            <a:bodyPr lIns="90000" tIns="46800" rIns="90000" bIns="46800"/>
            <a:lstStyle/>
            <a:p>
              <a:endParaRPr lang="zh-CN" altLang="en-US"/>
            </a:p>
          </p:txBody>
        </p:sp>
        <p:sp>
          <p:nvSpPr>
            <p:cNvPr id="152588" name="Line 15"/>
            <p:cNvSpPr>
              <a:spLocks noChangeShapeType="1"/>
            </p:cNvSpPr>
            <p:nvPr/>
          </p:nvSpPr>
          <p:spPr bwMode="auto">
            <a:xfrm>
              <a:off x="5472" y="2525"/>
              <a:ext cx="0" cy="192"/>
            </a:xfrm>
            <a:prstGeom prst="line">
              <a:avLst/>
            </a:prstGeom>
            <a:noFill/>
            <a:ln w="38100">
              <a:solidFill>
                <a:srgbClr val="A6A19A"/>
              </a:solidFill>
              <a:round/>
              <a:headEnd/>
              <a:tailEnd/>
            </a:ln>
          </p:spPr>
          <p:txBody>
            <a:bodyPr lIns="90000" tIns="46800" rIns="90000" bIns="46800"/>
            <a:lstStyle/>
            <a:p>
              <a:endParaRPr lang="zh-CN" altLang="en-US"/>
            </a:p>
          </p:txBody>
        </p:sp>
        <p:sp>
          <p:nvSpPr>
            <p:cNvPr id="152589" name="Text Box 16"/>
            <p:cNvSpPr txBox="1">
              <a:spLocks noChangeArrowheads="1"/>
            </p:cNvSpPr>
            <p:nvPr/>
          </p:nvSpPr>
          <p:spPr bwMode="auto">
            <a:xfrm>
              <a:off x="1584" y="2323"/>
              <a:ext cx="3745" cy="365"/>
            </a:xfrm>
            <a:prstGeom prst="rect">
              <a:avLst/>
            </a:prstGeom>
            <a:noFill/>
            <a:ln w="12700">
              <a:noFill/>
              <a:miter lim="800000"/>
              <a:headEnd/>
              <a:tailEnd/>
            </a:ln>
          </p:spPr>
          <p:txBody>
            <a:bodyPr lIns="90000" tIns="46800" rIns="90000" bIns="46800">
              <a:spAutoFit/>
            </a:bodyPr>
            <a:lstStyle/>
            <a:p>
              <a:pPr eaLnBrk="0" hangingPunct="0">
                <a:spcBef>
                  <a:spcPct val="50000"/>
                </a:spcBef>
              </a:pPr>
              <a:r>
                <a:rPr kumimoji="1" lang="zh-CN" altLang="en-US" sz="3200"/>
                <a:t>低峰型         中峰型         高峰型          </a:t>
              </a:r>
            </a:p>
          </p:txBody>
        </p:sp>
        <p:sp>
          <p:nvSpPr>
            <p:cNvPr id="152590" name="Text Box 17"/>
            <p:cNvSpPr txBox="1">
              <a:spLocks noChangeArrowheads="1"/>
            </p:cNvSpPr>
            <p:nvPr/>
          </p:nvSpPr>
          <p:spPr bwMode="auto">
            <a:xfrm>
              <a:off x="192" y="2544"/>
              <a:ext cx="1344" cy="634"/>
            </a:xfrm>
            <a:prstGeom prst="rect">
              <a:avLst/>
            </a:prstGeom>
            <a:noFill/>
            <a:ln w="12700">
              <a:noFill/>
              <a:miter lim="800000"/>
              <a:headEnd/>
              <a:tailEnd/>
            </a:ln>
          </p:spPr>
          <p:txBody>
            <a:bodyPr lIns="90000" tIns="46800" rIns="90000" bIns="46800">
              <a:spAutoFit/>
            </a:bodyPr>
            <a:lstStyle/>
            <a:p>
              <a:pPr eaLnBrk="0" hangingPunct="0">
                <a:spcBef>
                  <a:spcPct val="50000"/>
                </a:spcBef>
              </a:pPr>
              <a:r>
                <a:rPr kumimoji="1" lang="en-US" altLang="zh-CN" sz="3200" b="1"/>
                <a:t> </a:t>
              </a:r>
              <a:r>
                <a:rPr kumimoji="1" lang="zh-CN" altLang="en-US" sz="2800" b="1">
                  <a:solidFill>
                    <a:srgbClr val="FF00FF"/>
                  </a:solidFill>
                </a:rPr>
                <a:t>波峰年份的增长率</a:t>
              </a:r>
              <a:r>
                <a:rPr kumimoji="1" lang="en-US" altLang="zh-CN" sz="2800" b="1">
                  <a:solidFill>
                    <a:srgbClr val="FF00FF"/>
                  </a:solidFill>
                </a:rPr>
                <a:t>(</a:t>
              </a:r>
              <a:r>
                <a:rPr kumimoji="1" lang="en-US" altLang="zh-CN" sz="2400" b="1">
                  <a:solidFill>
                    <a:srgbClr val="FF00FF"/>
                  </a:solidFill>
                </a:rPr>
                <a:t>%)</a:t>
              </a:r>
            </a:p>
          </p:txBody>
        </p:sp>
        <p:sp>
          <p:nvSpPr>
            <p:cNvPr id="152591" name="Rectangle 18"/>
            <p:cNvSpPr>
              <a:spLocks noChangeArrowheads="1"/>
            </p:cNvSpPr>
            <p:nvPr/>
          </p:nvSpPr>
          <p:spPr bwMode="auto">
            <a:xfrm>
              <a:off x="1632" y="2813"/>
              <a:ext cx="3552" cy="365"/>
            </a:xfrm>
            <a:prstGeom prst="rect">
              <a:avLst/>
            </a:prstGeom>
            <a:noFill/>
            <a:ln w="12700">
              <a:noFill/>
              <a:miter lim="800000"/>
              <a:headEnd/>
              <a:tailEnd/>
            </a:ln>
          </p:spPr>
          <p:txBody>
            <a:bodyPr lIns="90000" tIns="46800" rIns="90000" bIns="46800">
              <a:spAutoFit/>
            </a:bodyPr>
            <a:lstStyle/>
            <a:p>
              <a:pPr eaLnBrk="0" hangingPunct="0"/>
              <a:r>
                <a:rPr kumimoji="1" lang="en-US" altLang="zh-CN" sz="3200"/>
                <a:t>&lt;=10          (10</a:t>
              </a:r>
              <a:r>
                <a:rPr kumimoji="1" lang="zh-CN" altLang="en-US" sz="3200"/>
                <a:t>，</a:t>
              </a:r>
              <a:r>
                <a:rPr kumimoji="1" lang="en-US" altLang="zh-CN" sz="3200"/>
                <a:t>15)       &gt;=15</a:t>
              </a:r>
            </a:p>
          </p:txBody>
        </p:sp>
      </p:grpSp>
      <p:sp>
        <p:nvSpPr>
          <p:cNvPr id="152582" name="Rectangle 19"/>
          <p:cNvSpPr>
            <a:spLocks noChangeArrowheads="1"/>
          </p:cNvSpPr>
          <p:nvPr/>
        </p:nvSpPr>
        <p:spPr bwMode="auto">
          <a:xfrm>
            <a:off x="827088" y="1700213"/>
            <a:ext cx="1966912" cy="519112"/>
          </a:xfrm>
          <a:prstGeom prst="rect">
            <a:avLst/>
          </a:prstGeom>
          <a:noFill/>
          <a:ln w="12700">
            <a:noFill/>
            <a:miter lim="800000"/>
            <a:headEnd/>
            <a:tailEnd/>
          </a:ln>
        </p:spPr>
        <p:txBody>
          <a:bodyPr wrap="none" lIns="90000" tIns="46800" rIns="90000" bIns="46800">
            <a:spAutoFit/>
          </a:bodyPr>
          <a:lstStyle/>
          <a:p>
            <a:pPr eaLnBrk="0" hangingPunct="0"/>
            <a:r>
              <a:rPr kumimoji="1" lang="zh-CN" altLang="en-US" sz="2800" b="1">
                <a:solidFill>
                  <a:srgbClr val="000000"/>
                </a:solidFill>
                <a:latin typeface="宋体" pitchFamily="2" charset="-122"/>
              </a:rPr>
              <a:t>一般认为：</a:t>
            </a:r>
          </a:p>
        </p:txBody>
      </p:sp>
      <p:sp>
        <p:nvSpPr>
          <p:cNvPr id="152583" name="日期占位符 22"/>
          <p:cNvSpPr>
            <a:spLocks noGrp="1"/>
          </p:cNvSpPr>
          <p:nvPr>
            <p:ph type="dt" sz="quarter" idx="10"/>
          </p:nvPr>
        </p:nvSpPr>
        <p:spPr>
          <a:noFill/>
        </p:spPr>
        <p:txBody>
          <a:bodyPr/>
          <a:lstStyle/>
          <a:p>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1" name="Rectangle 2"/>
          <p:cNvSpPr>
            <a:spLocks noGrp="1" noChangeArrowheads="1"/>
          </p:cNvSpPr>
          <p:nvPr>
            <p:ph type="title"/>
          </p:nvPr>
        </p:nvSpPr>
        <p:spPr>
          <a:xfrm>
            <a:off x="762000" y="228600"/>
            <a:ext cx="6781800" cy="1143000"/>
          </a:xfrm>
        </p:spPr>
        <p:txBody>
          <a:bodyPr/>
          <a:lstStyle/>
          <a:p>
            <a:pPr eaLnBrk="1" hangingPunct="1"/>
            <a:r>
              <a:rPr lang="en-US" altLang="zh-CN" dirty="0" smtClean="0">
                <a:sym typeface="Wingdings 3" pitchFamily="18" charset="2"/>
              </a:rPr>
              <a:t>【</a:t>
            </a:r>
            <a:r>
              <a:rPr lang="zh-CN" altLang="en-US" dirty="0" smtClean="0">
                <a:sym typeface="Wingdings 3" pitchFamily="18" charset="2"/>
              </a:rPr>
              <a:t>附</a:t>
            </a:r>
            <a:r>
              <a:rPr lang="en-US" altLang="zh-CN" dirty="0" smtClean="0">
                <a:sym typeface="Wingdings 3" pitchFamily="18" charset="2"/>
              </a:rPr>
              <a:t>】</a:t>
            </a:r>
            <a:r>
              <a:rPr lang="zh-CN" altLang="en-US" dirty="0" smtClean="0">
                <a:sym typeface="Wingdings 3" pitchFamily="18" charset="2"/>
              </a:rPr>
              <a:t>循环周期</a:t>
            </a:r>
            <a:r>
              <a:rPr lang="zh-CN" altLang="en-US" dirty="0" smtClean="0">
                <a:sym typeface="Wingdings 3" pitchFamily="18" charset="2"/>
              </a:rPr>
              <a:t>的类型</a:t>
            </a:r>
            <a:endParaRPr lang="zh-CN" altLang="en-US" dirty="0" smtClean="0">
              <a:latin typeface="Times New Roman" pitchFamily="18" charset="0"/>
              <a:sym typeface="Wingdings 3" pitchFamily="18" charset="2"/>
            </a:endParaRPr>
          </a:p>
        </p:txBody>
      </p:sp>
      <p:sp>
        <p:nvSpPr>
          <p:cNvPr id="145412" name="Rectangle 3"/>
          <p:cNvSpPr>
            <a:spLocks noGrp="1" noChangeArrowheads="1"/>
          </p:cNvSpPr>
          <p:nvPr>
            <p:ph type="body" idx="1"/>
          </p:nvPr>
        </p:nvSpPr>
        <p:spPr>
          <a:xfrm>
            <a:off x="539750" y="1557338"/>
            <a:ext cx="7848600" cy="4794250"/>
          </a:xfrm>
        </p:spPr>
        <p:txBody>
          <a:bodyPr/>
          <a:lstStyle/>
          <a:p>
            <a:pPr marL="571500" indent="-571500" eaLnBrk="1" hangingPunct="1">
              <a:lnSpc>
                <a:spcPct val="90000"/>
              </a:lnSpc>
            </a:pPr>
            <a:r>
              <a:rPr lang="en-US" altLang="zh-CN" smtClean="0"/>
              <a:t>1. </a:t>
            </a:r>
            <a:r>
              <a:rPr lang="zh-CN" altLang="en-US" b="0" smtClean="0">
                <a:latin typeface="Times New Roman" pitchFamily="18" charset="0"/>
              </a:rPr>
              <a:t>按经济活动的绝对水平是否下降，循环周期可分为古典型周期和增长型周期</a:t>
            </a:r>
            <a:endParaRPr lang="zh-CN" altLang="en-US" b="0" smtClean="0">
              <a:latin typeface="Times New Roman" pitchFamily="18" charset="0"/>
              <a:cs typeface="Times New Roman" pitchFamily="18" charset="0"/>
            </a:endParaRPr>
          </a:p>
          <a:p>
            <a:pPr marL="571500" indent="-571500" algn="just" eaLnBrk="1" hangingPunct="1">
              <a:lnSpc>
                <a:spcPct val="90000"/>
              </a:lnSpc>
            </a:pPr>
            <a:r>
              <a:rPr lang="zh-CN" altLang="en-US" smtClean="0">
                <a:solidFill>
                  <a:srgbClr val="FF00FF"/>
                </a:solidFill>
                <a:latin typeface="Times New Roman" pitchFamily="18" charset="0"/>
              </a:rPr>
              <a:t>古典型周期</a:t>
            </a:r>
            <a:endParaRPr lang="zh-CN" altLang="en-US" b="0" smtClean="0">
              <a:solidFill>
                <a:srgbClr val="000000"/>
              </a:solidFill>
              <a:latin typeface="Times New Roman" pitchFamily="18" charset="0"/>
            </a:endParaRPr>
          </a:p>
          <a:p>
            <a:pPr marL="971550" lvl="1" algn="just" eaLnBrk="1" hangingPunct="1">
              <a:lnSpc>
                <a:spcPct val="90000"/>
              </a:lnSpc>
            </a:pPr>
            <a:r>
              <a:rPr lang="zh-CN" altLang="en-US" b="0" smtClean="0">
                <a:latin typeface="Times New Roman" pitchFamily="18" charset="0"/>
              </a:rPr>
              <a:t>指绝对水平上表现出涨落（峰谷）相间或扩张与紧缩相交替的波动。</a:t>
            </a:r>
          </a:p>
          <a:p>
            <a:pPr marL="971550" lvl="1" algn="just" eaLnBrk="1" hangingPunct="1">
              <a:lnSpc>
                <a:spcPct val="90000"/>
              </a:lnSpc>
            </a:pPr>
            <a:r>
              <a:rPr lang="zh-CN" altLang="en-US" b="0" smtClean="0">
                <a:latin typeface="Times New Roman" pitchFamily="18" charset="0"/>
              </a:rPr>
              <a:t>要被认定为一个古典型周期，经济活动的绝对量上应具有深度和振幅，即应表现出明显的峰和谷，周期的持续性（由扩张转为衰退，由紧缩到复苏）也很明显（至少一年）。</a:t>
            </a:r>
            <a:endParaRPr lang="zh-CN" altLang="en-US" smtClean="0">
              <a:latin typeface="Times New Roman" pitchFamily="18" charset="0"/>
              <a:cs typeface="Times New Roman" pitchFamily="18" charset="0"/>
            </a:endParaRPr>
          </a:p>
        </p:txBody>
      </p:sp>
      <p:sp>
        <p:nvSpPr>
          <p:cNvPr id="145413" name="日期占位符 4"/>
          <p:cNvSpPr>
            <a:spLocks noGrp="1"/>
          </p:cNvSpPr>
          <p:nvPr>
            <p:ph type="dt" sz="quarter" idx="10"/>
          </p:nvPr>
        </p:nvSpPr>
        <p:spPr>
          <a:noFill/>
        </p:spPr>
        <p:txBody>
          <a:bodyPr/>
          <a:lstStyle/>
          <a:p>
            <a:endParaRPr lang="en-US" altLang="zh-CN" smtClean="0"/>
          </a:p>
        </p:txBody>
      </p:sp>
    </p:spTree>
    <p:extLst>
      <p:ext uri="{BB962C8B-B14F-4D97-AF65-F5344CB8AC3E}">
        <p14:creationId xmlns:p14="http://schemas.microsoft.com/office/powerpoint/2010/main" val="34127503"/>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5" name="Rectangle 3"/>
          <p:cNvSpPr>
            <a:spLocks noGrp="1" noChangeArrowheads="1"/>
          </p:cNvSpPr>
          <p:nvPr>
            <p:ph type="body" idx="1"/>
          </p:nvPr>
        </p:nvSpPr>
        <p:spPr>
          <a:xfrm>
            <a:off x="539750" y="981075"/>
            <a:ext cx="7848600" cy="4895850"/>
          </a:xfrm>
        </p:spPr>
        <p:txBody>
          <a:bodyPr/>
          <a:lstStyle/>
          <a:p>
            <a:pPr marL="571500" indent="-571500" algn="just" eaLnBrk="1" hangingPunct="1"/>
            <a:r>
              <a:rPr lang="zh-CN" altLang="en-US" smtClean="0">
                <a:solidFill>
                  <a:srgbClr val="FF00FF"/>
                </a:solidFill>
                <a:latin typeface="Times New Roman" pitchFamily="18" charset="0"/>
              </a:rPr>
              <a:t>增长型周期</a:t>
            </a:r>
            <a:endParaRPr lang="zh-CN" altLang="en-US" b="0" smtClean="0">
              <a:solidFill>
                <a:srgbClr val="000000"/>
              </a:solidFill>
              <a:latin typeface="Times New Roman" pitchFamily="18" charset="0"/>
            </a:endParaRPr>
          </a:p>
          <a:p>
            <a:pPr marL="971550" lvl="1" algn="just" eaLnBrk="1" hangingPunct="1"/>
            <a:r>
              <a:rPr lang="zh-CN" altLang="en-US" sz="3200" b="0" smtClean="0">
                <a:latin typeface="Times New Roman" pitchFamily="18" charset="0"/>
              </a:rPr>
              <a:t>在经济活动的绝对水平上不一定下降，但增长率上有明显的涨落（峰谷）相间或扩张与紧缩相交替的波动</a:t>
            </a:r>
          </a:p>
          <a:p>
            <a:pPr marL="971550" lvl="1" algn="just" eaLnBrk="1" hangingPunct="1"/>
            <a:r>
              <a:rPr lang="zh-CN" altLang="en-US" sz="3200" b="0" smtClean="0">
                <a:latin typeface="Times New Roman" pitchFamily="18" charset="0"/>
              </a:rPr>
              <a:t>也就是增长率上表现出明显的峰、谷和周期的连续性</a:t>
            </a:r>
          </a:p>
          <a:p>
            <a:pPr marL="971550" lvl="1" algn="just" eaLnBrk="1" hangingPunct="1"/>
            <a:r>
              <a:rPr lang="zh-CN" altLang="en-US" sz="3200" b="0" smtClean="0">
                <a:latin typeface="Times New Roman" pitchFamily="18" charset="0"/>
              </a:rPr>
              <a:t>又称为离差型周期，是指增长率的趋势上有明显的离差。</a:t>
            </a:r>
            <a:endParaRPr lang="zh-CN" altLang="en-US" sz="3200" smtClean="0"/>
          </a:p>
        </p:txBody>
      </p:sp>
      <p:sp>
        <p:nvSpPr>
          <p:cNvPr id="146436" name="日期占位符 3"/>
          <p:cNvSpPr>
            <a:spLocks noGrp="1"/>
          </p:cNvSpPr>
          <p:nvPr>
            <p:ph type="dt" sz="quarter" idx="10"/>
          </p:nvPr>
        </p:nvSpPr>
        <p:spPr>
          <a:noFill/>
        </p:spPr>
        <p:txBody>
          <a:bodyPr/>
          <a:lstStyle/>
          <a:p>
            <a:endParaRPr lang="en-US" altLang="zh-CN" smtClean="0"/>
          </a:p>
        </p:txBody>
      </p:sp>
    </p:spTree>
    <p:extLst>
      <p:ext uri="{BB962C8B-B14F-4D97-AF65-F5344CB8AC3E}">
        <p14:creationId xmlns:p14="http://schemas.microsoft.com/office/powerpoint/2010/main" val="1664594172"/>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7459" name="Rectangle 2"/>
          <p:cNvSpPr>
            <a:spLocks noGrp="1" noChangeArrowheads="1"/>
          </p:cNvSpPr>
          <p:nvPr>
            <p:ph type="title"/>
          </p:nvPr>
        </p:nvSpPr>
        <p:spPr>
          <a:xfrm>
            <a:off x="609600" y="457200"/>
            <a:ext cx="7696200" cy="1905000"/>
          </a:xfrm>
        </p:spPr>
        <p:txBody>
          <a:bodyPr/>
          <a:lstStyle/>
          <a:p>
            <a:pPr algn="l" eaLnBrk="1" hangingPunct="1"/>
            <a:r>
              <a:rPr lang="en-US" altLang="zh-CN" sz="3600" dirty="0" smtClean="0">
                <a:solidFill>
                  <a:schemeClr val="tx1"/>
                </a:solidFill>
                <a:latin typeface="Times New Roman" pitchFamily="18" charset="0"/>
              </a:rPr>
              <a:t>2. </a:t>
            </a:r>
            <a:r>
              <a:rPr lang="zh-CN" altLang="en-US" sz="3600" dirty="0" smtClean="0">
                <a:latin typeface="Times New Roman" pitchFamily="18" charset="0"/>
              </a:rPr>
              <a:t>按周期持续时间长短的不同</a:t>
            </a:r>
            <a:r>
              <a:rPr lang="zh-CN" altLang="en-US" sz="3600" dirty="0" smtClean="0">
                <a:solidFill>
                  <a:schemeClr val="tx1"/>
                </a:solidFill>
                <a:latin typeface="Times New Roman" pitchFamily="18" charset="0"/>
              </a:rPr>
              <a:t>，循环周期可分为短周期、中周期、中长周期及长周期几种类型：</a:t>
            </a:r>
            <a:endParaRPr lang="zh-CN" altLang="en-US" sz="3600" dirty="0" smtClean="0">
              <a:solidFill>
                <a:schemeClr val="tx1"/>
              </a:solidFill>
              <a:latin typeface="Times New Roman" pitchFamily="18" charset="0"/>
              <a:cs typeface="Times New Roman" pitchFamily="18" charset="0"/>
            </a:endParaRPr>
          </a:p>
        </p:txBody>
      </p:sp>
      <p:sp>
        <p:nvSpPr>
          <p:cNvPr id="147460" name="Rectangle 3"/>
          <p:cNvSpPr>
            <a:spLocks noGrp="1" noChangeArrowheads="1"/>
          </p:cNvSpPr>
          <p:nvPr>
            <p:ph type="body" idx="1"/>
          </p:nvPr>
        </p:nvSpPr>
        <p:spPr>
          <a:xfrm>
            <a:off x="611188" y="2420938"/>
            <a:ext cx="8153400" cy="3657600"/>
          </a:xfrm>
        </p:spPr>
        <p:txBody>
          <a:bodyPr/>
          <a:lstStyle/>
          <a:p>
            <a:pPr marL="0" indent="0" algn="just" eaLnBrk="1" hangingPunct="1">
              <a:buNone/>
            </a:pPr>
            <a:r>
              <a:rPr lang="zh-CN" altLang="en-US" dirty="0" smtClean="0">
                <a:solidFill>
                  <a:srgbClr val="3333FF"/>
                </a:solidFill>
                <a:latin typeface="Times New Roman" pitchFamily="18" charset="0"/>
              </a:rPr>
              <a:t>（</a:t>
            </a:r>
            <a:r>
              <a:rPr lang="en-US" altLang="zh-CN" dirty="0" smtClean="0">
                <a:solidFill>
                  <a:srgbClr val="3333FF"/>
                </a:solidFill>
                <a:latin typeface="Times New Roman" pitchFamily="18" charset="0"/>
                <a:cs typeface="Times New Roman" pitchFamily="18" charset="0"/>
              </a:rPr>
              <a:t>1</a:t>
            </a:r>
            <a:r>
              <a:rPr lang="zh-CN" altLang="en-US" dirty="0" smtClean="0">
                <a:solidFill>
                  <a:srgbClr val="3333FF"/>
                </a:solidFill>
                <a:latin typeface="Times New Roman" pitchFamily="18" charset="0"/>
              </a:rPr>
              <a:t>）</a:t>
            </a:r>
            <a:r>
              <a:rPr lang="en-US" altLang="zh-CN" dirty="0" smtClean="0">
                <a:solidFill>
                  <a:srgbClr val="3333FF"/>
                </a:solidFill>
                <a:latin typeface="Times New Roman" pitchFamily="18" charset="0"/>
                <a:cs typeface="Times New Roman" pitchFamily="18" charset="0"/>
              </a:rPr>
              <a:t>2</a:t>
            </a:r>
            <a:r>
              <a:rPr lang="en-US" altLang="zh-CN" dirty="0" smtClean="0">
                <a:solidFill>
                  <a:srgbClr val="3333FF"/>
                </a:solidFill>
                <a:latin typeface="Times New Roman" pitchFamily="18" charset="0"/>
              </a:rPr>
              <a:t>—</a:t>
            </a:r>
            <a:r>
              <a:rPr lang="en-US" altLang="zh-CN" dirty="0" smtClean="0">
                <a:solidFill>
                  <a:srgbClr val="3333FF"/>
                </a:solidFill>
                <a:latin typeface="Times New Roman" pitchFamily="18" charset="0"/>
                <a:cs typeface="Times New Roman" pitchFamily="18" charset="0"/>
              </a:rPr>
              <a:t>5</a:t>
            </a:r>
            <a:r>
              <a:rPr lang="zh-CN" altLang="en-US" dirty="0" smtClean="0">
                <a:solidFill>
                  <a:srgbClr val="3333FF"/>
                </a:solidFill>
                <a:latin typeface="Times New Roman" pitchFamily="18" charset="0"/>
              </a:rPr>
              <a:t>年左右的短周期（小循环）</a:t>
            </a:r>
          </a:p>
          <a:p>
            <a:pPr marL="0" indent="0" algn="just" eaLnBrk="1" hangingPunct="1">
              <a:buNone/>
            </a:pPr>
            <a:r>
              <a:rPr lang="en-US" altLang="zh-CN" sz="2800" b="0" dirty="0" smtClean="0">
                <a:solidFill>
                  <a:srgbClr val="000000"/>
                </a:solidFill>
                <a:latin typeface="Times New Roman" pitchFamily="18" charset="0"/>
              </a:rPr>
              <a:t>—</a:t>
            </a:r>
            <a:r>
              <a:rPr lang="zh-CN" altLang="en-US" sz="2800" b="0" dirty="0" smtClean="0">
                <a:solidFill>
                  <a:srgbClr val="000000"/>
                </a:solidFill>
                <a:latin typeface="Times New Roman" pitchFamily="18" charset="0"/>
              </a:rPr>
              <a:t>基钦周期，</a:t>
            </a:r>
            <a:r>
              <a:rPr lang="en-US" altLang="zh-CN" sz="2800" b="0" dirty="0" smtClean="0">
                <a:solidFill>
                  <a:srgbClr val="000000"/>
                </a:solidFill>
                <a:latin typeface="Times New Roman" pitchFamily="18" charset="0"/>
              </a:rPr>
              <a:t>20</a:t>
            </a:r>
            <a:r>
              <a:rPr lang="zh-CN" altLang="en-US" sz="2800" b="0" dirty="0" smtClean="0">
                <a:solidFill>
                  <a:srgbClr val="000000"/>
                </a:solidFill>
                <a:latin typeface="Times New Roman" pitchFamily="18" charset="0"/>
              </a:rPr>
              <a:t>世纪</a:t>
            </a:r>
            <a:r>
              <a:rPr lang="en-US" altLang="zh-CN" sz="2800" b="0" dirty="0" smtClean="0">
                <a:solidFill>
                  <a:srgbClr val="000000"/>
                </a:solidFill>
                <a:latin typeface="Times New Roman" pitchFamily="18" charset="0"/>
              </a:rPr>
              <a:t>20</a:t>
            </a:r>
            <a:r>
              <a:rPr lang="zh-CN" altLang="en-US" sz="2800" b="0" dirty="0" smtClean="0">
                <a:solidFill>
                  <a:srgbClr val="000000"/>
                </a:solidFill>
                <a:latin typeface="Times New Roman" pitchFamily="18" charset="0"/>
              </a:rPr>
              <a:t>年代英国统计学家</a:t>
            </a:r>
            <a:r>
              <a:rPr lang="en-US" altLang="zh-CN" sz="2800" b="0" dirty="0" smtClean="0">
                <a:solidFill>
                  <a:srgbClr val="000000"/>
                </a:solidFill>
                <a:latin typeface="Times New Roman" pitchFamily="18" charset="0"/>
                <a:cs typeface="Times New Roman" pitchFamily="18" charset="0"/>
              </a:rPr>
              <a:t>Joseph </a:t>
            </a:r>
            <a:r>
              <a:rPr lang="en-US" altLang="zh-CN" sz="2800" b="0" dirty="0" err="1" smtClean="0">
                <a:solidFill>
                  <a:srgbClr val="000000"/>
                </a:solidFill>
                <a:latin typeface="Times New Roman" pitchFamily="18" charset="0"/>
                <a:cs typeface="Times New Roman" pitchFamily="18" charset="0"/>
              </a:rPr>
              <a:t>Kitchin</a:t>
            </a:r>
            <a:r>
              <a:rPr lang="zh-CN" altLang="en-US" sz="2800" b="0" dirty="0" smtClean="0">
                <a:solidFill>
                  <a:srgbClr val="000000"/>
                </a:solidFill>
                <a:latin typeface="Times New Roman" pitchFamily="18" charset="0"/>
              </a:rPr>
              <a:t>对这种周期首次系统地进行了研究。</a:t>
            </a:r>
          </a:p>
          <a:p>
            <a:pPr marL="0" indent="0" algn="just" eaLnBrk="1" hangingPunct="1">
              <a:buNone/>
            </a:pPr>
            <a:r>
              <a:rPr lang="en-US" altLang="zh-CN" sz="2800" b="0" dirty="0" smtClean="0">
                <a:solidFill>
                  <a:srgbClr val="000000"/>
                </a:solidFill>
                <a:latin typeface="Times New Roman" pitchFamily="18" charset="0"/>
              </a:rPr>
              <a:t>——</a:t>
            </a:r>
            <a:r>
              <a:rPr lang="zh-CN" altLang="en-US" sz="2800" b="0" dirty="0" smtClean="0">
                <a:solidFill>
                  <a:srgbClr val="000000"/>
                </a:solidFill>
                <a:latin typeface="Times New Roman" pitchFamily="18" charset="0"/>
              </a:rPr>
              <a:t>通常认为其原因是固定资产更新和周期性的技术革命。</a:t>
            </a:r>
          </a:p>
          <a:p>
            <a:pPr marL="0" indent="0" algn="just" eaLnBrk="1" hangingPunct="1">
              <a:buNone/>
            </a:pPr>
            <a:r>
              <a:rPr lang="en-US" altLang="zh-CN" sz="2800" b="0" dirty="0" smtClean="0">
                <a:solidFill>
                  <a:srgbClr val="000000"/>
                </a:solidFill>
                <a:latin typeface="Times New Roman" pitchFamily="18" charset="0"/>
              </a:rPr>
              <a:t>——</a:t>
            </a:r>
            <a:r>
              <a:rPr lang="zh-CN" altLang="en-US" sz="2800" b="0" dirty="0" smtClean="0">
                <a:solidFill>
                  <a:srgbClr val="000000"/>
                </a:solidFill>
                <a:latin typeface="Times New Roman" pitchFamily="18" charset="0"/>
              </a:rPr>
              <a:t>有人也称“存货周期”。存货波动会引起经济周期，但它是经济周期的原因还是结果？</a:t>
            </a:r>
          </a:p>
        </p:txBody>
      </p:sp>
      <p:sp>
        <p:nvSpPr>
          <p:cNvPr id="147461" name="日期占位符 4"/>
          <p:cNvSpPr>
            <a:spLocks noGrp="1"/>
          </p:cNvSpPr>
          <p:nvPr>
            <p:ph type="dt" sz="quarter" idx="10"/>
          </p:nvPr>
        </p:nvSpPr>
        <p:spPr>
          <a:noFill/>
        </p:spPr>
        <p:txBody>
          <a:bodyPr/>
          <a:lstStyle/>
          <a:p>
            <a:endParaRPr lang="en-US" altLang="zh-CN" smtClean="0"/>
          </a:p>
        </p:txBody>
      </p:sp>
    </p:spTree>
    <p:extLst>
      <p:ext uri="{BB962C8B-B14F-4D97-AF65-F5344CB8AC3E}">
        <p14:creationId xmlns:p14="http://schemas.microsoft.com/office/powerpoint/2010/main" val="566895243"/>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3" name="Rectangle 2"/>
          <p:cNvSpPr>
            <a:spLocks noGrp="1" noChangeArrowheads="1"/>
          </p:cNvSpPr>
          <p:nvPr>
            <p:ph type="title"/>
          </p:nvPr>
        </p:nvSpPr>
        <p:spPr>
          <a:xfrm>
            <a:off x="827088" y="620713"/>
            <a:ext cx="7848600" cy="1219200"/>
          </a:xfrm>
        </p:spPr>
        <p:txBody>
          <a:bodyPr/>
          <a:lstStyle/>
          <a:p>
            <a:pPr algn="l" eaLnBrk="1" hangingPunct="1"/>
            <a:r>
              <a:rPr lang="zh-CN" altLang="en-US" sz="3600" dirty="0" smtClean="0">
                <a:latin typeface="Times New Roman" pitchFamily="18" charset="0"/>
              </a:rPr>
              <a:t>（</a:t>
            </a:r>
            <a:r>
              <a:rPr lang="en-US" altLang="zh-CN" sz="3600" dirty="0" smtClean="0">
                <a:latin typeface="Times New Roman" pitchFamily="18" charset="0"/>
                <a:cs typeface="Times New Roman" pitchFamily="18" charset="0"/>
              </a:rPr>
              <a:t>2</a:t>
            </a:r>
            <a:r>
              <a:rPr lang="zh-CN" altLang="en-US" sz="3600" dirty="0" smtClean="0">
                <a:latin typeface="Times New Roman" pitchFamily="18" charset="0"/>
              </a:rPr>
              <a:t>）</a:t>
            </a:r>
            <a:r>
              <a:rPr lang="en-US" altLang="zh-CN" sz="3600" dirty="0" smtClean="0">
                <a:latin typeface="Times New Roman" pitchFamily="18" charset="0"/>
                <a:cs typeface="Times New Roman" pitchFamily="18" charset="0"/>
              </a:rPr>
              <a:t>8</a:t>
            </a:r>
            <a:r>
              <a:rPr lang="en-US" altLang="zh-CN" sz="3600" dirty="0" smtClean="0">
                <a:latin typeface="Times New Roman" pitchFamily="18" charset="0"/>
              </a:rPr>
              <a:t>—</a:t>
            </a:r>
            <a:r>
              <a:rPr lang="en-US" altLang="zh-CN" sz="3600" dirty="0" smtClean="0">
                <a:latin typeface="Times New Roman" pitchFamily="18" charset="0"/>
                <a:cs typeface="Times New Roman" pitchFamily="18" charset="0"/>
              </a:rPr>
              <a:t>10</a:t>
            </a:r>
            <a:r>
              <a:rPr lang="zh-CN" altLang="en-US" sz="3600" dirty="0" smtClean="0">
                <a:latin typeface="Times New Roman" pitchFamily="18" charset="0"/>
              </a:rPr>
              <a:t>年左右的中周期</a:t>
            </a:r>
            <a:r>
              <a:rPr lang="zh-CN" altLang="en-US" sz="3600" dirty="0" smtClean="0">
                <a:solidFill>
                  <a:srgbClr val="FF6600"/>
                </a:solidFill>
                <a:latin typeface="Times New Roman" pitchFamily="18" charset="0"/>
              </a:rPr>
              <a:t/>
            </a:r>
            <a:br>
              <a:rPr lang="zh-CN" altLang="en-US" sz="3600" dirty="0" smtClean="0">
                <a:solidFill>
                  <a:srgbClr val="FF6600"/>
                </a:solidFill>
                <a:latin typeface="Times New Roman" pitchFamily="18" charset="0"/>
              </a:rPr>
            </a:br>
            <a:r>
              <a:rPr lang="en-US" altLang="zh-CN" sz="3600" dirty="0" smtClean="0">
                <a:solidFill>
                  <a:srgbClr val="0070C0"/>
                </a:solidFill>
                <a:latin typeface="Times New Roman" pitchFamily="18" charset="0"/>
              </a:rPr>
              <a:t>——</a:t>
            </a:r>
            <a:r>
              <a:rPr lang="zh-CN" altLang="en-US" sz="3600" dirty="0" smtClean="0">
                <a:solidFill>
                  <a:srgbClr val="0070C0"/>
                </a:solidFill>
                <a:latin typeface="Times New Roman" pitchFamily="18" charset="0"/>
              </a:rPr>
              <a:t>朱格拉周期（固定投资周期</a:t>
            </a:r>
            <a:r>
              <a:rPr lang="zh-CN" altLang="en-US" sz="3600" b="0" dirty="0" smtClean="0">
                <a:solidFill>
                  <a:srgbClr val="0070C0"/>
                </a:solidFill>
                <a:latin typeface="Times New Roman" pitchFamily="18" charset="0"/>
              </a:rPr>
              <a:t>）</a:t>
            </a:r>
            <a:endParaRPr lang="zh-CN" altLang="en-US" dirty="0" smtClean="0">
              <a:solidFill>
                <a:srgbClr val="0070C0"/>
              </a:solidFill>
              <a:latin typeface="Times New Roman" pitchFamily="18" charset="0"/>
              <a:cs typeface="Times New Roman" pitchFamily="18" charset="0"/>
            </a:endParaRPr>
          </a:p>
        </p:txBody>
      </p:sp>
      <p:sp>
        <p:nvSpPr>
          <p:cNvPr id="148484" name="Rectangle 3"/>
          <p:cNvSpPr>
            <a:spLocks noGrp="1" noChangeArrowheads="1"/>
          </p:cNvSpPr>
          <p:nvPr>
            <p:ph type="body" idx="1"/>
          </p:nvPr>
        </p:nvSpPr>
        <p:spPr>
          <a:xfrm>
            <a:off x="539750" y="2132855"/>
            <a:ext cx="7848600" cy="4202857"/>
          </a:xfrm>
        </p:spPr>
        <p:txBody>
          <a:bodyPr/>
          <a:lstStyle/>
          <a:p>
            <a:pPr marL="571500" indent="-571500" algn="just" eaLnBrk="1" hangingPunct="1">
              <a:lnSpc>
                <a:spcPct val="110000"/>
              </a:lnSpc>
            </a:pPr>
            <a:r>
              <a:rPr lang="zh-CN" altLang="en-US" sz="2800" b="0" dirty="0" smtClean="0">
                <a:solidFill>
                  <a:schemeClr val="tx1"/>
                </a:solidFill>
                <a:latin typeface="Times New Roman" pitchFamily="18" charset="0"/>
              </a:rPr>
              <a:t>法国经济学家</a:t>
            </a:r>
            <a:r>
              <a:rPr lang="en-US" altLang="zh-CN" sz="2800" b="0" dirty="0" smtClean="0">
                <a:solidFill>
                  <a:schemeClr val="tx1"/>
                </a:solidFill>
                <a:latin typeface="Times New Roman" pitchFamily="18" charset="0"/>
                <a:cs typeface="Times New Roman" pitchFamily="18" charset="0"/>
              </a:rPr>
              <a:t>Clement Juglar</a:t>
            </a:r>
            <a:r>
              <a:rPr lang="zh-CN" altLang="en-US" sz="2800" b="0" dirty="0" smtClean="0">
                <a:solidFill>
                  <a:schemeClr val="tx1"/>
                </a:solidFill>
                <a:latin typeface="Times New Roman" pitchFamily="18" charset="0"/>
              </a:rPr>
              <a:t>于</a:t>
            </a:r>
            <a:r>
              <a:rPr lang="en-US" altLang="zh-CN" sz="2800" b="0" dirty="0" smtClean="0">
                <a:solidFill>
                  <a:schemeClr val="tx1"/>
                </a:solidFill>
                <a:latin typeface="Times New Roman" pitchFamily="18" charset="0"/>
                <a:cs typeface="Times New Roman" pitchFamily="18" charset="0"/>
              </a:rPr>
              <a:t>1860</a:t>
            </a:r>
            <a:r>
              <a:rPr lang="zh-CN" altLang="en-US" sz="2800" b="0" dirty="0" smtClean="0">
                <a:solidFill>
                  <a:schemeClr val="tx1"/>
                </a:solidFill>
                <a:latin typeface="Times New Roman" pitchFamily="18" charset="0"/>
              </a:rPr>
              <a:t>年对这种周期首次进行了研究。熊彼特认为这种周期往往是由三个短周期组成。但伯恩斯和米切尔对此持反对意见（他们观察到的周期峰谷及长度也有差异）。西方资本主义国家的周期性经济衰退就是典型的中循环周期波动。造成这种波动的社会原因通常认为是资本主义生产的相对过剩和固定资产的大规模更新。</a:t>
            </a:r>
            <a:endParaRPr lang="zh-CN" altLang="en-US" sz="2000" dirty="0" smtClean="0">
              <a:solidFill>
                <a:schemeClr val="tx1"/>
              </a:solidFill>
            </a:endParaRPr>
          </a:p>
        </p:txBody>
      </p:sp>
      <p:sp>
        <p:nvSpPr>
          <p:cNvPr id="148485" name="日期占位符 4"/>
          <p:cNvSpPr>
            <a:spLocks noGrp="1"/>
          </p:cNvSpPr>
          <p:nvPr>
            <p:ph type="dt" sz="quarter" idx="10"/>
          </p:nvPr>
        </p:nvSpPr>
        <p:spPr>
          <a:noFill/>
        </p:spPr>
        <p:txBody>
          <a:bodyPr/>
          <a:lstStyle/>
          <a:p>
            <a:endParaRPr lang="en-US" altLang="zh-CN" smtClean="0"/>
          </a:p>
        </p:txBody>
      </p:sp>
    </p:spTree>
    <p:extLst>
      <p:ext uri="{BB962C8B-B14F-4D97-AF65-F5344CB8AC3E}">
        <p14:creationId xmlns:p14="http://schemas.microsoft.com/office/powerpoint/2010/main" val="2291578659"/>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7" name="Rectangle 2"/>
          <p:cNvSpPr>
            <a:spLocks noGrp="1" noChangeArrowheads="1"/>
          </p:cNvSpPr>
          <p:nvPr>
            <p:ph type="title"/>
          </p:nvPr>
        </p:nvSpPr>
        <p:spPr>
          <a:xfrm>
            <a:off x="827088" y="1125538"/>
            <a:ext cx="7058025" cy="1447800"/>
          </a:xfrm>
        </p:spPr>
        <p:txBody>
          <a:bodyPr/>
          <a:lstStyle/>
          <a:p>
            <a:pPr algn="l" eaLnBrk="1" hangingPunct="1"/>
            <a:r>
              <a:rPr lang="zh-CN" altLang="en-US" sz="3600" dirty="0" smtClean="0">
                <a:latin typeface="Times New Roman" pitchFamily="18" charset="0"/>
              </a:rPr>
              <a:t>（</a:t>
            </a:r>
            <a:r>
              <a:rPr lang="en-US" altLang="zh-CN" sz="3600" dirty="0" smtClean="0">
                <a:latin typeface="Times New Roman" pitchFamily="18" charset="0"/>
                <a:cs typeface="Times New Roman" pitchFamily="18" charset="0"/>
              </a:rPr>
              <a:t>3</a:t>
            </a:r>
            <a:r>
              <a:rPr lang="zh-CN" altLang="en-US" sz="3600" dirty="0" smtClean="0">
                <a:latin typeface="Times New Roman" pitchFamily="18" charset="0"/>
              </a:rPr>
              <a:t>）</a:t>
            </a:r>
            <a:r>
              <a:rPr lang="en-US" altLang="zh-CN" sz="3600" dirty="0" smtClean="0">
                <a:latin typeface="Times New Roman" pitchFamily="18" charset="0"/>
                <a:cs typeface="Times New Roman" pitchFamily="18" charset="0"/>
              </a:rPr>
              <a:t>15</a:t>
            </a:r>
            <a:r>
              <a:rPr lang="en-US" altLang="zh-CN" sz="3600" dirty="0" smtClean="0">
                <a:latin typeface="Times New Roman" pitchFamily="18" charset="0"/>
              </a:rPr>
              <a:t>—</a:t>
            </a:r>
            <a:r>
              <a:rPr lang="en-US" altLang="zh-CN" sz="3600" dirty="0" smtClean="0">
                <a:latin typeface="Times New Roman" pitchFamily="18" charset="0"/>
                <a:cs typeface="Times New Roman" pitchFamily="18" charset="0"/>
              </a:rPr>
              <a:t>25</a:t>
            </a:r>
            <a:r>
              <a:rPr lang="zh-CN" altLang="en-US" sz="3600" dirty="0" smtClean="0">
                <a:latin typeface="Times New Roman" pitchFamily="18" charset="0"/>
              </a:rPr>
              <a:t>年左右的中长周期（中长循环）</a:t>
            </a:r>
            <a:r>
              <a:rPr lang="en-US" altLang="zh-CN" sz="3600" dirty="0" smtClean="0">
                <a:solidFill>
                  <a:srgbClr val="0070C0"/>
                </a:solidFill>
                <a:latin typeface="Times New Roman" pitchFamily="18" charset="0"/>
              </a:rPr>
              <a:t>——“</a:t>
            </a:r>
            <a:r>
              <a:rPr lang="zh-CN" altLang="en-US" sz="3600" dirty="0" smtClean="0">
                <a:solidFill>
                  <a:srgbClr val="0070C0"/>
                </a:solidFill>
                <a:latin typeface="Times New Roman" pitchFamily="18" charset="0"/>
              </a:rPr>
              <a:t>建筑业周期”或“库兹涅茨周期”。</a:t>
            </a:r>
            <a:endParaRPr lang="zh-CN" altLang="en-US" sz="3600" dirty="0" smtClean="0">
              <a:solidFill>
                <a:srgbClr val="0070C0"/>
              </a:solidFill>
              <a:latin typeface="Times New Roman" pitchFamily="18" charset="0"/>
              <a:cs typeface="Times New Roman" pitchFamily="18" charset="0"/>
            </a:endParaRPr>
          </a:p>
        </p:txBody>
      </p:sp>
      <p:sp>
        <p:nvSpPr>
          <p:cNvPr id="149508" name="Rectangle 3"/>
          <p:cNvSpPr>
            <a:spLocks noGrp="1" noChangeArrowheads="1"/>
          </p:cNvSpPr>
          <p:nvPr>
            <p:ph type="body" idx="1"/>
          </p:nvPr>
        </p:nvSpPr>
        <p:spPr>
          <a:xfrm>
            <a:off x="684213" y="2708275"/>
            <a:ext cx="7848600" cy="3529013"/>
          </a:xfrm>
        </p:spPr>
        <p:txBody>
          <a:bodyPr/>
          <a:lstStyle/>
          <a:p>
            <a:pPr marL="571500" indent="-571500" eaLnBrk="1" hangingPunct="1">
              <a:lnSpc>
                <a:spcPct val="110000"/>
              </a:lnSpc>
            </a:pPr>
            <a:r>
              <a:rPr lang="zh-CN" altLang="en-US" sz="2800" b="0" dirty="0" smtClean="0">
                <a:solidFill>
                  <a:schemeClr val="tx1"/>
                </a:solidFill>
                <a:latin typeface="Times New Roman" pitchFamily="18" charset="0"/>
              </a:rPr>
              <a:t>这种周期的形成一般由房屋建筑业的波动和固定资产的更新引起。美国经济学家</a:t>
            </a:r>
            <a:r>
              <a:rPr lang="en-US" altLang="zh-CN" sz="2800" b="0" dirty="0" smtClean="0">
                <a:solidFill>
                  <a:schemeClr val="tx1"/>
                </a:solidFill>
                <a:latin typeface="Times New Roman" pitchFamily="18" charset="0"/>
                <a:cs typeface="Times New Roman" pitchFamily="18" charset="0"/>
              </a:rPr>
              <a:t>Simon Kuznets</a:t>
            </a:r>
            <a:r>
              <a:rPr lang="zh-CN" altLang="en-US" sz="2800" b="0" dirty="0" smtClean="0">
                <a:solidFill>
                  <a:schemeClr val="tx1"/>
                </a:solidFill>
                <a:latin typeface="Times New Roman" pitchFamily="18" charset="0"/>
              </a:rPr>
              <a:t>于</a:t>
            </a:r>
            <a:r>
              <a:rPr lang="en-US" altLang="zh-CN" sz="2800" b="0" dirty="0" smtClean="0">
                <a:solidFill>
                  <a:schemeClr val="tx1"/>
                </a:solidFill>
                <a:latin typeface="Times New Roman" pitchFamily="18" charset="0"/>
                <a:cs typeface="Times New Roman" pitchFamily="18" charset="0"/>
              </a:rPr>
              <a:t>1930</a:t>
            </a:r>
            <a:r>
              <a:rPr lang="zh-CN" altLang="en-US" sz="2800" b="0" dirty="0" smtClean="0">
                <a:solidFill>
                  <a:schemeClr val="tx1"/>
                </a:solidFill>
                <a:latin typeface="Times New Roman" pitchFamily="18" charset="0"/>
              </a:rPr>
              <a:t>年首次对这种周期进行了研究。但也有人认为这种周期既是一种长期的现象，也是一种短期的现象。其短期波动与信贷市场相联系，而长期波动则主要由人口变动所引起。</a:t>
            </a:r>
            <a:r>
              <a:rPr lang="zh-CN" altLang="en-US" sz="2800" dirty="0" smtClean="0">
                <a:solidFill>
                  <a:schemeClr val="tx1"/>
                </a:solidFill>
              </a:rPr>
              <a:t> </a:t>
            </a:r>
          </a:p>
        </p:txBody>
      </p:sp>
      <p:sp>
        <p:nvSpPr>
          <p:cNvPr id="149509" name="日期占位符 4"/>
          <p:cNvSpPr>
            <a:spLocks noGrp="1"/>
          </p:cNvSpPr>
          <p:nvPr>
            <p:ph type="dt" sz="quarter" idx="10"/>
          </p:nvPr>
        </p:nvSpPr>
        <p:spPr>
          <a:noFill/>
        </p:spPr>
        <p:txBody>
          <a:bodyPr/>
          <a:lstStyle/>
          <a:p>
            <a:endParaRPr lang="en-US" altLang="zh-CN" smtClean="0"/>
          </a:p>
        </p:txBody>
      </p:sp>
    </p:spTree>
    <p:extLst>
      <p:ext uri="{BB962C8B-B14F-4D97-AF65-F5344CB8AC3E}">
        <p14:creationId xmlns:p14="http://schemas.microsoft.com/office/powerpoint/2010/main" val="1086300829"/>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1" name="Rectangle 2"/>
          <p:cNvSpPr>
            <a:spLocks noGrp="1" noChangeArrowheads="1"/>
          </p:cNvSpPr>
          <p:nvPr>
            <p:ph type="title"/>
          </p:nvPr>
        </p:nvSpPr>
        <p:spPr>
          <a:xfrm>
            <a:off x="0" y="609600"/>
            <a:ext cx="8382000" cy="1143000"/>
          </a:xfrm>
        </p:spPr>
        <p:txBody>
          <a:bodyPr/>
          <a:lstStyle/>
          <a:p>
            <a:pPr eaLnBrk="1" hangingPunct="1"/>
            <a:r>
              <a:rPr lang="zh-CN" altLang="en-US" sz="4000" dirty="0" smtClean="0">
                <a:latin typeface="Times New Roman" pitchFamily="18" charset="0"/>
              </a:rPr>
              <a:t>（</a:t>
            </a:r>
            <a:r>
              <a:rPr lang="en-US" altLang="zh-CN" sz="4000" dirty="0" smtClean="0">
                <a:latin typeface="Times New Roman" pitchFamily="18" charset="0"/>
                <a:cs typeface="Times New Roman" pitchFamily="18" charset="0"/>
              </a:rPr>
              <a:t>4</a:t>
            </a:r>
            <a:r>
              <a:rPr lang="zh-CN" altLang="en-US" sz="4000" dirty="0" smtClean="0">
                <a:latin typeface="Times New Roman" pitchFamily="18" charset="0"/>
              </a:rPr>
              <a:t>）</a:t>
            </a:r>
            <a:r>
              <a:rPr lang="en-US" altLang="zh-CN" sz="4000" dirty="0" smtClean="0">
                <a:latin typeface="Times New Roman" pitchFamily="18" charset="0"/>
                <a:cs typeface="Times New Roman" pitchFamily="18" charset="0"/>
              </a:rPr>
              <a:t>50</a:t>
            </a:r>
            <a:r>
              <a:rPr lang="zh-CN" altLang="en-US" sz="4000" dirty="0" smtClean="0">
                <a:latin typeface="Times New Roman" pitchFamily="18" charset="0"/>
              </a:rPr>
              <a:t>年左右的长周期（大循环）</a:t>
            </a:r>
          </a:p>
        </p:txBody>
      </p:sp>
      <p:sp>
        <p:nvSpPr>
          <p:cNvPr id="150532" name="Rectangle 3"/>
          <p:cNvSpPr>
            <a:spLocks noGrp="1" noChangeArrowheads="1"/>
          </p:cNvSpPr>
          <p:nvPr>
            <p:ph type="body" idx="1"/>
          </p:nvPr>
        </p:nvSpPr>
        <p:spPr>
          <a:xfrm>
            <a:off x="533400" y="2060575"/>
            <a:ext cx="7848600" cy="3654425"/>
          </a:xfrm>
        </p:spPr>
        <p:txBody>
          <a:bodyPr/>
          <a:lstStyle/>
          <a:p>
            <a:pPr marL="571500" indent="-571500" eaLnBrk="1" hangingPunct="1"/>
            <a:r>
              <a:rPr lang="en-US" altLang="zh-CN" b="0" dirty="0" smtClean="0">
                <a:solidFill>
                  <a:schemeClr val="tx1"/>
                </a:solidFill>
                <a:latin typeface="Times New Roman" pitchFamily="18" charset="0"/>
              </a:rPr>
              <a:t>——“</a:t>
            </a:r>
            <a:r>
              <a:rPr lang="zh-CN" altLang="en-US" b="0" dirty="0" smtClean="0">
                <a:solidFill>
                  <a:schemeClr val="tx1"/>
                </a:solidFill>
                <a:latin typeface="Times New Roman" pitchFamily="18" charset="0"/>
              </a:rPr>
              <a:t>长期波动”（简称长波）或“康德拉季耶夫周期”。由俄国调查统计学家</a:t>
            </a:r>
            <a:r>
              <a:rPr lang="en-US" altLang="zh-CN" b="0" dirty="0" smtClean="0">
                <a:solidFill>
                  <a:schemeClr val="tx1"/>
                </a:solidFill>
                <a:latin typeface="Times New Roman" pitchFamily="18" charset="0"/>
                <a:cs typeface="Times New Roman" pitchFamily="18" charset="0"/>
              </a:rPr>
              <a:t>Nikolai  Kondratieff</a:t>
            </a:r>
            <a:r>
              <a:rPr lang="zh-CN" altLang="en-US" b="0" dirty="0" smtClean="0">
                <a:solidFill>
                  <a:schemeClr val="tx1"/>
                </a:solidFill>
                <a:latin typeface="Times New Roman" pitchFamily="18" charset="0"/>
              </a:rPr>
              <a:t>于</a:t>
            </a:r>
            <a:r>
              <a:rPr lang="en-US" altLang="zh-CN" b="0" dirty="0" smtClean="0">
                <a:solidFill>
                  <a:schemeClr val="tx1"/>
                </a:solidFill>
                <a:latin typeface="Times New Roman" pitchFamily="18" charset="0"/>
                <a:cs typeface="Times New Roman" pitchFamily="18" charset="0"/>
              </a:rPr>
              <a:t>1925</a:t>
            </a:r>
            <a:r>
              <a:rPr lang="zh-CN" altLang="en-US" b="0" dirty="0" smtClean="0">
                <a:solidFill>
                  <a:schemeClr val="tx1"/>
                </a:solidFill>
                <a:latin typeface="Times New Roman" pitchFamily="18" charset="0"/>
              </a:rPr>
              <a:t>年首次进行研究。解释：“在长波的衰退中，就生产技术和交通通讯作出了特别大数目的重大发现和发明，然而只有在下一个长波的上升开始时，它们才回被大规模地采用”</a:t>
            </a:r>
            <a:r>
              <a:rPr lang="zh-CN" altLang="en-US" dirty="0" smtClean="0">
                <a:solidFill>
                  <a:schemeClr val="tx1"/>
                </a:solidFill>
              </a:rPr>
              <a:t> </a:t>
            </a:r>
          </a:p>
        </p:txBody>
      </p:sp>
      <p:sp>
        <p:nvSpPr>
          <p:cNvPr id="150533" name="日期占位符 4"/>
          <p:cNvSpPr>
            <a:spLocks noGrp="1"/>
          </p:cNvSpPr>
          <p:nvPr>
            <p:ph type="dt" sz="quarter" idx="10"/>
          </p:nvPr>
        </p:nvSpPr>
        <p:spPr>
          <a:noFill/>
        </p:spPr>
        <p:txBody>
          <a:bodyPr/>
          <a:lstStyle/>
          <a:p>
            <a:endParaRPr lang="en-US" altLang="zh-CN" smtClean="0"/>
          </a:p>
        </p:txBody>
      </p:sp>
    </p:spTree>
    <p:extLst>
      <p:ext uri="{BB962C8B-B14F-4D97-AF65-F5344CB8AC3E}">
        <p14:creationId xmlns:p14="http://schemas.microsoft.com/office/powerpoint/2010/main" val="2786722926"/>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3" name="Rectangle 2"/>
          <p:cNvSpPr>
            <a:spLocks noGrp="1" noChangeArrowheads="1"/>
          </p:cNvSpPr>
          <p:nvPr>
            <p:ph type="title"/>
          </p:nvPr>
        </p:nvSpPr>
        <p:spPr>
          <a:xfrm>
            <a:off x="1115616" y="403226"/>
            <a:ext cx="7772400" cy="990600"/>
          </a:xfrm>
        </p:spPr>
        <p:txBody>
          <a:bodyPr/>
          <a:lstStyle/>
          <a:p>
            <a:pPr eaLnBrk="1" hangingPunct="1"/>
            <a:r>
              <a:rPr lang="en-US" altLang="zh-CN" dirty="0" smtClean="0"/>
              <a:t>【</a:t>
            </a:r>
            <a:r>
              <a:rPr lang="zh-CN" altLang="en-US" dirty="0" smtClean="0"/>
              <a:t>附</a:t>
            </a:r>
            <a:r>
              <a:rPr lang="en-US" altLang="zh-CN" dirty="0" smtClean="0"/>
              <a:t>】</a:t>
            </a:r>
            <a:r>
              <a:rPr lang="zh-CN" altLang="en-US" dirty="0" smtClean="0"/>
              <a:t>不规则变动的测定</a:t>
            </a:r>
          </a:p>
        </p:txBody>
      </p:sp>
      <p:sp>
        <p:nvSpPr>
          <p:cNvPr id="153604" name="Rectangle 3"/>
          <p:cNvSpPr>
            <a:spLocks noGrp="1" noChangeArrowheads="1"/>
          </p:cNvSpPr>
          <p:nvPr>
            <p:ph type="body" idx="1"/>
          </p:nvPr>
        </p:nvSpPr>
        <p:spPr>
          <a:xfrm>
            <a:off x="696580" y="1566808"/>
            <a:ext cx="8211021" cy="4879180"/>
          </a:xfrm>
        </p:spPr>
        <p:txBody>
          <a:bodyPr/>
          <a:lstStyle/>
          <a:p>
            <a:pPr marL="0" indent="0" eaLnBrk="1" hangingPunct="1">
              <a:lnSpc>
                <a:spcPct val="115000"/>
              </a:lnSpc>
              <a:spcBef>
                <a:spcPct val="25000"/>
              </a:spcBef>
              <a:buNone/>
            </a:pPr>
            <a:r>
              <a:rPr lang="zh-CN" altLang="en-US" sz="2800" dirty="0" smtClean="0">
                <a:solidFill>
                  <a:schemeClr val="tx1"/>
                </a:solidFill>
              </a:rPr>
              <a:t>      不规则</a:t>
            </a:r>
            <a:r>
              <a:rPr lang="zh-CN" altLang="en-US" sz="2800" dirty="0" smtClean="0">
                <a:solidFill>
                  <a:schemeClr val="tx1"/>
                </a:solidFill>
              </a:rPr>
              <a:t>变动没有规律可寻，不可能像其他因素那样可以直接进行测定，因此只能从时间序列中逐一将长期趋势、季节变动和循环变动分离出去，之后剩余的因素统统归结为不规则变动，又称为</a:t>
            </a:r>
            <a:r>
              <a:rPr lang="zh-CN" altLang="en-US" sz="2800" dirty="0" smtClean="0">
                <a:solidFill>
                  <a:srgbClr val="0070C0"/>
                </a:solidFill>
              </a:rPr>
              <a:t>剩余变动或残余变动。</a:t>
            </a:r>
          </a:p>
          <a:p>
            <a:pPr marL="0" indent="0" eaLnBrk="1" hangingPunct="1">
              <a:lnSpc>
                <a:spcPct val="115000"/>
              </a:lnSpc>
              <a:spcBef>
                <a:spcPct val="25000"/>
              </a:spcBef>
              <a:buNone/>
            </a:pPr>
            <a:r>
              <a:rPr lang="zh-CN" altLang="en-US" sz="2800" dirty="0" smtClean="0">
                <a:solidFill>
                  <a:schemeClr val="tx1"/>
                </a:solidFill>
              </a:rPr>
              <a:t>      对于不规则</a:t>
            </a:r>
            <a:r>
              <a:rPr lang="zh-CN" altLang="en-US" sz="2800" dirty="0" smtClean="0">
                <a:solidFill>
                  <a:schemeClr val="tx1"/>
                </a:solidFill>
              </a:rPr>
              <a:t>变动，无法</a:t>
            </a:r>
            <a:r>
              <a:rPr lang="zh-CN" altLang="en-US" sz="2800" dirty="0" smtClean="0">
                <a:solidFill>
                  <a:schemeClr val="tx1"/>
                </a:solidFill>
              </a:rPr>
              <a:t>预测，</a:t>
            </a:r>
            <a:r>
              <a:rPr lang="zh-CN" altLang="en-US" sz="2800" dirty="0" smtClean="0">
                <a:solidFill>
                  <a:schemeClr val="tx1"/>
                </a:solidFill>
              </a:rPr>
              <a:t>只能在事后进行测定和分析。对不规则变动的事后分析，有利于分析现象变化的具体原因，以便在以后的决策和行动中采取有效的防范措施和应对措施。</a:t>
            </a:r>
          </a:p>
        </p:txBody>
      </p:sp>
      <p:pic>
        <p:nvPicPr>
          <p:cNvPr id="226308" name="Picture 4" descr="d253"/>
          <p:cNvPicPr>
            <a:picLocks noChangeAspect="1" noChangeArrowheads="1" noCrop="1"/>
          </p:cNvPicPr>
          <p:nvPr/>
        </p:nvPicPr>
        <p:blipFill>
          <a:blip r:embed="rId2" cstate="print"/>
          <a:srcRect/>
          <a:stretch>
            <a:fillRect/>
          </a:stretch>
        </p:blipFill>
        <p:spPr bwMode="auto">
          <a:xfrm>
            <a:off x="250826" y="0"/>
            <a:ext cx="1761776" cy="1566808"/>
          </a:xfrm>
          <a:prstGeom prst="rect">
            <a:avLst/>
          </a:prstGeom>
          <a:noFill/>
          <a:ln w="9525">
            <a:noFill/>
            <a:miter lim="800000"/>
            <a:headEnd/>
            <a:tailEnd/>
          </a:ln>
        </p:spPr>
      </p:pic>
      <p:sp>
        <p:nvSpPr>
          <p:cNvPr id="153606" name="日期占位符 5"/>
          <p:cNvSpPr>
            <a:spLocks noGrp="1"/>
          </p:cNvSpPr>
          <p:nvPr>
            <p:ph type="dt" sz="quarter" idx="10"/>
          </p:nvPr>
        </p:nvSpPr>
        <p:spPr>
          <a:noFill/>
        </p:spPr>
        <p:txBody>
          <a:bodyPr/>
          <a:lstStyle/>
          <a:p>
            <a:endParaRPr lang="en-US" altLang="zh-CN"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nodeType="afterEffect">
                                  <p:stCondLst>
                                    <p:cond delay="0"/>
                                  </p:stCondLst>
                                  <p:childTnLst>
                                    <p:set>
                                      <p:cBhvr>
                                        <p:cTn id="6" dur="1" fill="hold">
                                          <p:stCondLst>
                                            <p:cond delay="0"/>
                                          </p:stCondLst>
                                        </p:cTn>
                                        <p:tgtEl>
                                          <p:spTgt spid="226308"/>
                                        </p:tgtEl>
                                        <p:attrNameLst>
                                          <p:attrName>style.visibility</p:attrName>
                                        </p:attrNameLst>
                                      </p:cBhvr>
                                      <p:to>
                                        <p:strVal val="visible"/>
                                      </p:to>
                                    </p:set>
                                    <p:anim calcmode="lin" valueType="num">
                                      <p:cBhvr additive="base">
                                        <p:cTn id="7" dur="2000" fill="hold"/>
                                        <p:tgtEl>
                                          <p:spTgt spid="226308"/>
                                        </p:tgtEl>
                                        <p:attrNameLst>
                                          <p:attrName>ppt_x</p:attrName>
                                        </p:attrNameLst>
                                      </p:cBhvr>
                                      <p:tavLst>
                                        <p:tav tm="0">
                                          <p:val>
                                            <p:strVal val="0-#ppt_w/2"/>
                                          </p:val>
                                        </p:tav>
                                        <p:tav tm="100000">
                                          <p:val>
                                            <p:strVal val="#ppt_x"/>
                                          </p:val>
                                        </p:tav>
                                      </p:tavLst>
                                    </p:anim>
                                    <p:anim calcmode="lin" valueType="num">
                                      <p:cBhvr additive="base">
                                        <p:cTn id="8" dur="2000" fill="hold"/>
                                        <p:tgtEl>
                                          <p:spTgt spid="2263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90" name="Rectangle 2"/>
          <p:cNvSpPr>
            <a:spLocks noGrp="1" noChangeArrowheads="1"/>
          </p:cNvSpPr>
          <p:nvPr>
            <p:ph type="title"/>
          </p:nvPr>
        </p:nvSpPr>
        <p:spPr/>
        <p:txBody>
          <a:bodyPr/>
          <a:lstStyle/>
          <a:p>
            <a:pPr eaLnBrk="1" hangingPunct="1"/>
            <a:r>
              <a:rPr lang="en-US" altLang="zh-CN" dirty="0" smtClean="0"/>
              <a:t>【</a:t>
            </a:r>
            <a:r>
              <a:rPr lang="zh-CN" altLang="en-US" dirty="0" smtClean="0"/>
              <a:t>例</a:t>
            </a:r>
            <a:r>
              <a:rPr lang="en-US" altLang="zh-CN" dirty="0" smtClean="0"/>
              <a:t>】</a:t>
            </a:r>
          </a:p>
        </p:txBody>
      </p:sp>
      <p:sp>
        <p:nvSpPr>
          <p:cNvPr id="67591" name="Rectangle 3"/>
          <p:cNvSpPr>
            <a:spLocks noGrp="1" noChangeArrowheads="1"/>
          </p:cNvSpPr>
          <p:nvPr>
            <p:ph type="body" idx="1"/>
          </p:nvPr>
        </p:nvSpPr>
        <p:spPr>
          <a:xfrm>
            <a:off x="827088" y="1196975"/>
            <a:ext cx="7772400" cy="998538"/>
          </a:xfrm>
        </p:spPr>
        <p:txBody>
          <a:bodyPr/>
          <a:lstStyle/>
          <a:p>
            <a:pPr eaLnBrk="1" hangingPunct="1"/>
            <a:r>
              <a:rPr lang="zh-CN" altLang="en-US" dirty="0" smtClean="0">
                <a:solidFill>
                  <a:srgbClr val="0070C0"/>
                </a:solidFill>
              </a:rPr>
              <a:t>用剩余法测定某销售公司的饮料销售额的循环波动和不规则变动。</a:t>
            </a:r>
          </a:p>
        </p:txBody>
      </p:sp>
      <p:graphicFrame>
        <p:nvGraphicFramePr>
          <p:cNvPr id="67586" name="Object 4"/>
          <p:cNvGraphicFramePr>
            <a:graphicFrameLocks noChangeAspect="1"/>
          </p:cNvGraphicFramePr>
          <p:nvPr/>
        </p:nvGraphicFramePr>
        <p:xfrm>
          <a:off x="0" y="2276475"/>
          <a:ext cx="4419600" cy="2552700"/>
        </p:xfrm>
        <a:graphic>
          <a:graphicData uri="http://schemas.openxmlformats.org/presentationml/2006/ole">
            <mc:AlternateContent xmlns:mc="http://schemas.openxmlformats.org/markup-compatibility/2006">
              <mc:Choice xmlns:v="urn:schemas-microsoft-com:vml" Requires="v">
                <p:oleObj spid="_x0000_s67901" name="图表" r:id="rId3" imgW="4419528" imgH="2552734" progId="Excel.Sheet.8">
                  <p:embed/>
                </p:oleObj>
              </mc:Choice>
              <mc:Fallback>
                <p:oleObj name="图表" r:id="rId3" imgW="4419528" imgH="2552734" progId="Excel.Shee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276475"/>
                        <a:ext cx="4419600" cy="255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7587" name="Object 5"/>
          <p:cNvGraphicFramePr>
            <a:graphicFrameLocks noChangeAspect="1"/>
          </p:cNvGraphicFramePr>
          <p:nvPr/>
        </p:nvGraphicFramePr>
        <p:xfrm>
          <a:off x="4572000" y="2276475"/>
          <a:ext cx="4400550" cy="2592388"/>
        </p:xfrm>
        <a:graphic>
          <a:graphicData uri="http://schemas.openxmlformats.org/presentationml/2006/ole">
            <mc:AlternateContent xmlns:mc="http://schemas.openxmlformats.org/markup-compatibility/2006">
              <mc:Choice xmlns:v="urn:schemas-microsoft-com:vml" Requires="v">
                <p:oleObj spid="_x0000_s67902" name="图表" r:id="rId5" imgW="4400595" imgH="2324066" progId="Excel.Sheet.8">
                  <p:embed/>
                </p:oleObj>
              </mc:Choice>
              <mc:Fallback>
                <p:oleObj name="图表" r:id="rId5" imgW="4400595" imgH="2324066" progId="Excel.Sheet.8">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0" y="2276475"/>
                        <a:ext cx="4400550" cy="25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7588" name="Object 6"/>
          <p:cNvGraphicFramePr>
            <a:graphicFrameLocks noChangeAspect="1"/>
          </p:cNvGraphicFramePr>
          <p:nvPr/>
        </p:nvGraphicFramePr>
        <p:xfrm>
          <a:off x="2357438" y="4465638"/>
          <a:ext cx="4429125" cy="2419350"/>
        </p:xfrm>
        <a:graphic>
          <a:graphicData uri="http://schemas.openxmlformats.org/presentationml/2006/ole">
            <mc:AlternateContent xmlns:mc="http://schemas.openxmlformats.org/markup-compatibility/2006">
              <mc:Choice xmlns:v="urn:schemas-microsoft-com:vml" Requires="v">
                <p:oleObj spid="_x0000_s67903" name="图表" r:id="rId7" imgW="4428995" imgH="2419435" progId="Excel.Sheet.8">
                  <p:embed/>
                </p:oleObj>
              </mc:Choice>
              <mc:Fallback>
                <p:oleObj name="图表" r:id="rId7" imgW="4428995" imgH="2419435" progId="Excel.Sheet.8">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57438" y="4465638"/>
                        <a:ext cx="4429125" cy="2419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7592" name="日期占位符 7"/>
          <p:cNvSpPr>
            <a:spLocks noGrp="1"/>
          </p:cNvSpPr>
          <p:nvPr>
            <p:ph type="dt" sz="quarter" idx="10"/>
          </p:nvPr>
        </p:nvSpPr>
        <p:spPr>
          <a:noFill/>
        </p:spPr>
        <p:txBody>
          <a:bodyPr/>
          <a:lstStyle/>
          <a:p>
            <a:endParaRPr lang="en-US" altLang="zh-CN" smtClean="0"/>
          </a:p>
        </p:txBody>
      </p:sp>
    </p:spTree>
  </p:cSld>
  <p:clrMapOvr>
    <a:masterClrMapping/>
  </p:clrMapOvr>
  <p:transition/>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3" name="Rectangle 2"/>
          <p:cNvSpPr>
            <a:spLocks noGrp="1" noChangeArrowheads="1"/>
          </p:cNvSpPr>
          <p:nvPr>
            <p:ph type="title"/>
          </p:nvPr>
        </p:nvSpPr>
        <p:spPr>
          <a:xfrm>
            <a:off x="755650" y="188913"/>
            <a:ext cx="7772400" cy="990600"/>
          </a:xfrm>
        </p:spPr>
        <p:txBody>
          <a:bodyPr/>
          <a:lstStyle/>
          <a:p>
            <a:pPr eaLnBrk="1" hangingPunct="1"/>
            <a:r>
              <a:rPr lang="en-US" altLang="zh-CN" dirty="0" smtClean="0"/>
              <a:t>【</a:t>
            </a:r>
            <a:r>
              <a:rPr lang="zh-CN" altLang="en-US" dirty="0" smtClean="0"/>
              <a:t>附</a:t>
            </a:r>
            <a:r>
              <a:rPr lang="en-US" altLang="zh-CN" dirty="0" smtClean="0"/>
              <a:t>】</a:t>
            </a:r>
            <a:r>
              <a:rPr lang="zh-CN" altLang="en-US" dirty="0" smtClean="0"/>
              <a:t>预测误差</a:t>
            </a:r>
          </a:p>
        </p:txBody>
      </p:sp>
      <p:sp>
        <p:nvSpPr>
          <p:cNvPr id="285699" name="Rectangle 3"/>
          <p:cNvSpPr>
            <a:spLocks noGrp="1" noChangeArrowheads="1"/>
          </p:cNvSpPr>
          <p:nvPr>
            <p:ph type="body" idx="1"/>
          </p:nvPr>
        </p:nvSpPr>
        <p:spPr>
          <a:xfrm>
            <a:off x="323850" y="1126268"/>
            <a:ext cx="8424863" cy="3060700"/>
          </a:xfrm>
        </p:spPr>
        <p:txBody>
          <a:bodyPr/>
          <a:lstStyle/>
          <a:p>
            <a:pPr eaLnBrk="1" hangingPunct="1"/>
            <a:r>
              <a:rPr lang="zh-CN" altLang="en-US" dirty="0" smtClean="0">
                <a:solidFill>
                  <a:srgbClr val="0070C0"/>
                </a:solidFill>
              </a:rPr>
              <a:t>预测误差是指现象的实际值与预测值之差。</a:t>
            </a:r>
          </a:p>
          <a:p>
            <a:pPr lvl="1" eaLnBrk="1" hangingPunct="1"/>
            <a:r>
              <a:rPr lang="zh-CN" altLang="en-US" dirty="0" smtClean="0"/>
              <a:t>误差小，预测结果的精度就高。</a:t>
            </a:r>
          </a:p>
          <a:p>
            <a:pPr lvl="1" eaLnBrk="1" hangingPunct="1"/>
            <a:r>
              <a:rPr lang="zh-CN" altLang="en-US" dirty="0" smtClean="0"/>
              <a:t>要衡量一个预测模型的质量优劣，就只能分析预测模型在原时间序列范围内的预测误差大小</a:t>
            </a:r>
          </a:p>
          <a:p>
            <a:pPr eaLnBrk="1" hangingPunct="1"/>
            <a:r>
              <a:rPr lang="zh-CN" altLang="en-US" dirty="0" smtClean="0">
                <a:solidFill>
                  <a:srgbClr val="3333FF"/>
                </a:solidFill>
              </a:rPr>
              <a:t>衡量预测模型的误差常用的指标有： </a:t>
            </a:r>
          </a:p>
          <a:p>
            <a:pPr marL="457200" lvl="1" indent="0" eaLnBrk="1" hangingPunct="1">
              <a:buNone/>
            </a:pPr>
            <a:r>
              <a:rPr lang="en-US" altLang="zh-CN" dirty="0" smtClean="0"/>
              <a:t>1. </a:t>
            </a:r>
            <a:r>
              <a:rPr lang="zh-CN" altLang="en-US" dirty="0" smtClean="0">
                <a:solidFill>
                  <a:srgbClr val="3333FF"/>
                </a:solidFill>
              </a:rPr>
              <a:t>平均绝对误差（</a:t>
            </a:r>
            <a:r>
              <a:rPr lang="en-US" altLang="zh-CN" i="1" dirty="0" smtClean="0">
                <a:solidFill>
                  <a:srgbClr val="3333FF"/>
                </a:solidFill>
              </a:rPr>
              <a:t>MAE</a:t>
            </a:r>
            <a:r>
              <a:rPr lang="zh-CN" altLang="en-US" dirty="0" smtClean="0">
                <a:solidFill>
                  <a:srgbClr val="3333FF"/>
                </a:solidFill>
              </a:rPr>
              <a:t>）</a:t>
            </a:r>
            <a:r>
              <a:rPr lang="zh-CN" altLang="en-US" dirty="0" smtClean="0"/>
              <a:t>：</a:t>
            </a:r>
          </a:p>
        </p:txBody>
      </p:sp>
      <p:graphicFrame>
        <p:nvGraphicFramePr>
          <p:cNvPr id="285700" name="Object 4"/>
          <p:cNvGraphicFramePr>
            <a:graphicFrameLocks noChangeAspect="1"/>
          </p:cNvGraphicFramePr>
          <p:nvPr>
            <p:extLst>
              <p:ext uri="{D42A27DB-BD31-4B8C-83A1-F6EECF244321}">
                <p14:modId xmlns:p14="http://schemas.microsoft.com/office/powerpoint/2010/main" val="4045260780"/>
              </p:ext>
            </p:extLst>
          </p:nvPr>
        </p:nvGraphicFramePr>
        <p:xfrm>
          <a:off x="5336520" y="3647632"/>
          <a:ext cx="3168650" cy="985837"/>
        </p:xfrm>
        <a:graphic>
          <a:graphicData uri="http://schemas.openxmlformats.org/presentationml/2006/ole">
            <mc:AlternateContent xmlns:mc="http://schemas.openxmlformats.org/markup-compatibility/2006">
              <mc:Choice xmlns:v="urn:schemas-microsoft-com:vml" Requires="v">
                <p:oleObj spid="_x0000_s68820" name="公式" r:id="rId3" imgW="1129810" imgH="355446" progId="Equation.3">
                  <p:embed/>
                </p:oleObj>
              </mc:Choice>
              <mc:Fallback>
                <p:oleObj name="公式" r:id="rId3" imgW="1129810" imgH="355446"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6520" y="3647632"/>
                        <a:ext cx="3168650" cy="985837"/>
                      </a:xfrm>
                      <a:prstGeom prst="rect">
                        <a:avLst/>
                      </a:prstGeom>
                      <a:solidFill>
                        <a:schemeClr val="accent1">
                          <a:lumMod val="20000"/>
                          <a:lumOff val="80000"/>
                        </a:schemeClr>
                      </a:solidFill>
                      <a:ln w="28575">
                        <a:noFill/>
                        <a:miter lim="800000"/>
                        <a:headEnd/>
                        <a:tailEnd/>
                      </a:ln>
                    </p:spPr>
                  </p:pic>
                </p:oleObj>
              </mc:Fallback>
            </mc:AlternateContent>
          </a:graphicData>
        </a:graphic>
      </p:graphicFrame>
      <p:sp>
        <p:nvSpPr>
          <p:cNvPr id="285701" name="Rectangle 5"/>
          <p:cNvSpPr>
            <a:spLocks noChangeArrowheads="1"/>
          </p:cNvSpPr>
          <p:nvPr/>
        </p:nvSpPr>
        <p:spPr bwMode="auto">
          <a:xfrm>
            <a:off x="323850" y="4428301"/>
            <a:ext cx="8302625" cy="863600"/>
          </a:xfrm>
          <a:prstGeom prst="rect">
            <a:avLst/>
          </a:prstGeom>
          <a:noFill/>
          <a:ln w="9525">
            <a:noFill/>
            <a:miter lim="800000"/>
            <a:headEnd/>
            <a:tailEnd/>
          </a:ln>
        </p:spPr>
        <p:txBody>
          <a:bodyPr/>
          <a:lstStyle/>
          <a:p>
            <a:pPr lvl="1">
              <a:spcBef>
                <a:spcPct val="20000"/>
              </a:spcBef>
              <a:buSzPct val="80000"/>
            </a:pPr>
            <a:r>
              <a:rPr lang="en-US" altLang="zh-CN" sz="2800" b="1" dirty="0">
                <a:solidFill>
                  <a:srgbClr val="000000"/>
                </a:solidFill>
                <a:latin typeface="Tahoma" pitchFamily="34" charset="0"/>
              </a:rPr>
              <a:t>2.</a:t>
            </a:r>
            <a:r>
              <a:rPr lang="zh-CN" altLang="en-US" sz="2800" b="1" dirty="0">
                <a:solidFill>
                  <a:srgbClr val="3333FF"/>
                </a:solidFill>
                <a:latin typeface="Tahoma" pitchFamily="34" charset="0"/>
              </a:rPr>
              <a:t>平均相对误差（</a:t>
            </a:r>
            <a:r>
              <a:rPr lang="en-US" altLang="zh-CN" sz="2800" b="1" i="1" dirty="0">
                <a:solidFill>
                  <a:srgbClr val="3333FF"/>
                </a:solidFill>
                <a:latin typeface="Tahoma" pitchFamily="34" charset="0"/>
              </a:rPr>
              <a:t>MPE</a:t>
            </a:r>
            <a:r>
              <a:rPr lang="zh-CN" altLang="en-US" sz="2800" b="1" dirty="0">
                <a:solidFill>
                  <a:srgbClr val="3333FF"/>
                </a:solidFill>
                <a:latin typeface="Tahoma" pitchFamily="34" charset="0"/>
              </a:rPr>
              <a:t>）</a:t>
            </a:r>
            <a:r>
              <a:rPr lang="zh-CN" altLang="en-US" sz="2800" b="1" dirty="0">
                <a:solidFill>
                  <a:srgbClr val="000000"/>
                </a:solidFill>
                <a:latin typeface="Tahoma" pitchFamily="34" charset="0"/>
              </a:rPr>
              <a:t>：</a:t>
            </a:r>
          </a:p>
        </p:txBody>
      </p:sp>
      <p:sp>
        <p:nvSpPr>
          <p:cNvPr id="68616" name="Rectangle 6"/>
          <p:cNvSpPr>
            <a:spLocks noChangeArrowheads="1"/>
          </p:cNvSpPr>
          <p:nvPr/>
        </p:nvSpPr>
        <p:spPr bwMode="auto">
          <a:xfrm>
            <a:off x="0" y="323850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285703" name="Object 7"/>
          <p:cNvGraphicFramePr>
            <a:graphicFrameLocks noChangeAspect="1"/>
          </p:cNvGraphicFramePr>
          <p:nvPr>
            <p:extLst>
              <p:ext uri="{D42A27DB-BD31-4B8C-83A1-F6EECF244321}">
                <p14:modId xmlns:p14="http://schemas.microsoft.com/office/powerpoint/2010/main" val="2260751036"/>
              </p:ext>
            </p:extLst>
          </p:nvPr>
        </p:nvGraphicFramePr>
        <p:xfrm>
          <a:off x="5097285" y="4810189"/>
          <a:ext cx="3407885" cy="1165543"/>
        </p:xfrm>
        <a:graphic>
          <a:graphicData uri="http://schemas.openxmlformats.org/presentationml/2006/ole">
            <mc:AlternateContent xmlns:mc="http://schemas.openxmlformats.org/markup-compatibility/2006">
              <mc:Choice xmlns:v="urn:schemas-microsoft-com:vml" Requires="v">
                <p:oleObj spid="_x0000_s68821" name="公式" r:id="rId5" imgW="1155700" imgH="381000" progId="Equation.3">
                  <p:embed/>
                </p:oleObj>
              </mc:Choice>
              <mc:Fallback>
                <p:oleObj name="公式" r:id="rId5" imgW="1155700" imgH="3810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97285" y="4810189"/>
                        <a:ext cx="3407885" cy="1165543"/>
                      </a:xfrm>
                      <a:prstGeom prst="rect">
                        <a:avLst/>
                      </a:prstGeom>
                      <a:solidFill>
                        <a:schemeClr val="accent1">
                          <a:lumMod val="20000"/>
                          <a:lumOff val="80000"/>
                        </a:schemeClr>
                      </a:solidFill>
                      <a:ln w="28575">
                        <a:noFill/>
                        <a:miter lim="800000"/>
                        <a:headEnd/>
                        <a:tailEnd/>
                      </a:ln>
                    </p:spPr>
                  </p:pic>
                </p:oleObj>
              </mc:Fallback>
            </mc:AlternateContent>
          </a:graphicData>
        </a:graphic>
      </p:graphicFrame>
      <p:sp>
        <p:nvSpPr>
          <p:cNvPr id="285704" name="Rectangle 8"/>
          <p:cNvSpPr>
            <a:spLocks noChangeArrowheads="1"/>
          </p:cNvSpPr>
          <p:nvPr/>
        </p:nvSpPr>
        <p:spPr bwMode="auto">
          <a:xfrm>
            <a:off x="424854" y="5088384"/>
            <a:ext cx="4500563" cy="1460500"/>
          </a:xfrm>
          <a:prstGeom prst="rect">
            <a:avLst/>
          </a:prstGeom>
          <a:noFill/>
          <a:ln w="28575" algn="ctr">
            <a:solidFill>
              <a:srgbClr val="3399FF"/>
            </a:solidFill>
            <a:miter lim="800000"/>
            <a:headEnd/>
            <a:tailEnd/>
          </a:ln>
        </p:spPr>
        <p:txBody>
          <a:bodyPr>
            <a:spAutoFit/>
          </a:bodyPr>
          <a:lstStyle/>
          <a:p>
            <a:pPr>
              <a:spcBef>
                <a:spcPct val="20000"/>
              </a:spcBef>
              <a:buClr>
                <a:schemeClr val="tx1"/>
              </a:buClr>
              <a:buSzPct val="60000"/>
              <a:buFont typeface="Wingdings" pitchFamily="2" charset="2"/>
              <a:buChar char="n"/>
            </a:pPr>
            <a:r>
              <a:rPr lang="en-US" altLang="zh-CN" sz="2200" b="1">
                <a:latin typeface="Tahoma" pitchFamily="34" charset="0"/>
              </a:rPr>
              <a:t> </a:t>
            </a:r>
            <a:r>
              <a:rPr lang="zh-CN" altLang="en-US" sz="2200" b="1">
                <a:latin typeface="Tahoma" pitchFamily="34" charset="0"/>
              </a:rPr>
              <a:t>这两种误差受异常值的影响较小，对多个模型的预测误差进行比较时，采用平均相对误差可以避免绝对水平和计量单位不同的影响。</a:t>
            </a:r>
          </a:p>
        </p:txBody>
      </p:sp>
      <p:sp>
        <p:nvSpPr>
          <p:cNvPr id="68618" name="日期占位符 9"/>
          <p:cNvSpPr>
            <a:spLocks noGrp="1"/>
          </p:cNvSpPr>
          <p:nvPr>
            <p:ph type="dt" sz="quarter" idx="10"/>
          </p:nvPr>
        </p:nvSpPr>
        <p:spPr>
          <a:noFill/>
        </p:spPr>
        <p:txBody>
          <a:bodyPr/>
          <a:lstStyle/>
          <a:p>
            <a:endParaRPr lang="en-US" altLang="zh-CN"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5699">
                                            <p:txEl>
                                              <p:pRg st="3" end="3"/>
                                            </p:txEl>
                                          </p:spTgt>
                                        </p:tgtEl>
                                        <p:attrNameLst>
                                          <p:attrName>style.visibility</p:attrName>
                                        </p:attrNameLst>
                                      </p:cBhvr>
                                      <p:to>
                                        <p:strVal val="visible"/>
                                      </p:to>
                                    </p:set>
                                    <p:animEffect transition="in" filter="wipe(left)">
                                      <p:cBhvr>
                                        <p:cTn id="7" dur="500"/>
                                        <p:tgtEl>
                                          <p:spTgt spid="285699">
                                            <p:txEl>
                                              <p:pRg st="3" end="3"/>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85699">
                                            <p:txEl>
                                              <p:pRg st="4" end="4"/>
                                            </p:txEl>
                                          </p:spTgt>
                                        </p:tgtEl>
                                        <p:attrNameLst>
                                          <p:attrName>style.visibility</p:attrName>
                                        </p:attrNameLst>
                                      </p:cBhvr>
                                      <p:to>
                                        <p:strVal val="visible"/>
                                      </p:to>
                                    </p:set>
                                    <p:animEffect transition="in" filter="wipe(left)">
                                      <p:cBhvr>
                                        <p:cTn id="10" dur="500"/>
                                        <p:tgtEl>
                                          <p:spTgt spid="285699">
                                            <p:txEl>
                                              <p:pRg st="4" end="4"/>
                                            </p:txEl>
                                          </p:spTgt>
                                        </p:tgtEl>
                                      </p:cBhvr>
                                    </p:animEffect>
                                  </p:childTnLst>
                                </p:cTn>
                              </p:par>
                            </p:childTnLst>
                          </p:cTn>
                        </p:par>
                        <p:par>
                          <p:cTn id="11" fill="hold">
                            <p:stCondLst>
                              <p:cond delay="500"/>
                            </p:stCondLst>
                            <p:childTnLst>
                              <p:par>
                                <p:cTn id="12" presetID="12" presetClass="entr" presetSubtype="4" fill="hold" nodeType="afterEffect">
                                  <p:stCondLst>
                                    <p:cond delay="0"/>
                                  </p:stCondLst>
                                  <p:childTnLst>
                                    <p:set>
                                      <p:cBhvr>
                                        <p:cTn id="13" dur="1" fill="hold">
                                          <p:stCondLst>
                                            <p:cond delay="0"/>
                                          </p:stCondLst>
                                        </p:cTn>
                                        <p:tgtEl>
                                          <p:spTgt spid="285700"/>
                                        </p:tgtEl>
                                        <p:attrNameLst>
                                          <p:attrName>style.visibility</p:attrName>
                                        </p:attrNameLst>
                                      </p:cBhvr>
                                      <p:to>
                                        <p:strVal val="visible"/>
                                      </p:to>
                                    </p:set>
                                    <p:animEffect transition="in" filter="slide(fromBottom)">
                                      <p:cBhvr>
                                        <p:cTn id="14" dur="500"/>
                                        <p:tgtEl>
                                          <p:spTgt spid="285700"/>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285701"/>
                                        </p:tgtEl>
                                        <p:attrNameLst>
                                          <p:attrName>style.visibility</p:attrName>
                                        </p:attrNameLst>
                                      </p:cBhvr>
                                      <p:to>
                                        <p:strVal val="visible"/>
                                      </p:to>
                                    </p:set>
                                    <p:animEffect transition="in" filter="wipe(left)">
                                      <p:cBhvr>
                                        <p:cTn id="19" dur="500"/>
                                        <p:tgtEl>
                                          <p:spTgt spid="285701"/>
                                        </p:tgtEl>
                                      </p:cBhvr>
                                    </p:animEffect>
                                  </p:childTnLst>
                                </p:cTn>
                              </p:par>
                            </p:childTnLst>
                          </p:cTn>
                        </p:par>
                        <p:par>
                          <p:cTn id="20" fill="hold">
                            <p:stCondLst>
                              <p:cond delay="500"/>
                            </p:stCondLst>
                            <p:childTnLst>
                              <p:par>
                                <p:cTn id="21" presetID="26" presetClass="entr" presetSubtype="0" fill="hold" nodeType="afterEffect">
                                  <p:stCondLst>
                                    <p:cond delay="0"/>
                                  </p:stCondLst>
                                  <p:childTnLst>
                                    <p:set>
                                      <p:cBhvr>
                                        <p:cTn id="22" dur="1" fill="hold">
                                          <p:stCondLst>
                                            <p:cond delay="0"/>
                                          </p:stCondLst>
                                        </p:cTn>
                                        <p:tgtEl>
                                          <p:spTgt spid="285703"/>
                                        </p:tgtEl>
                                        <p:attrNameLst>
                                          <p:attrName>style.visibility</p:attrName>
                                        </p:attrNameLst>
                                      </p:cBhvr>
                                      <p:to>
                                        <p:strVal val="visible"/>
                                      </p:to>
                                    </p:set>
                                    <p:animEffect transition="in" filter="wipe(down)">
                                      <p:cBhvr>
                                        <p:cTn id="23" dur="580">
                                          <p:stCondLst>
                                            <p:cond delay="0"/>
                                          </p:stCondLst>
                                        </p:cTn>
                                        <p:tgtEl>
                                          <p:spTgt spid="285703"/>
                                        </p:tgtEl>
                                      </p:cBhvr>
                                    </p:animEffect>
                                    <p:anim calcmode="lin" valueType="num">
                                      <p:cBhvr>
                                        <p:cTn id="24" dur="1822" tmFilter="0,0; 0.14,0.36; 0.43,0.73; 0.71,0.91; 1.0,1.0">
                                          <p:stCondLst>
                                            <p:cond delay="0"/>
                                          </p:stCondLst>
                                        </p:cTn>
                                        <p:tgtEl>
                                          <p:spTgt spid="285703"/>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285703"/>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285703"/>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285703"/>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285703"/>
                                        </p:tgtEl>
                                        <p:attrNameLst>
                                          <p:attrName>ppt_y</p:attrName>
                                        </p:attrNameLst>
                                      </p:cBhvr>
                                      <p:tavLst>
                                        <p:tav tm="0" fmla="#ppt_y-sin(pi*$)/81">
                                          <p:val>
                                            <p:fltVal val="0"/>
                                          </p:val>
                                        </p:tav>
                                        <p:tav tm="100000">
                                          <p:val>
                                            <p:fltVal val="1"/>
                                          </p:val>
                                        </p:tav>
                                      </p:tavLst>
                                    </p:anim>
                                    <p:animScale>
                                      <p:cBhvr>
                                        <p:cTn id="29" dur="26">
                                          <p:stCondLst>
                                            <p:cond delay="650"/>
                                          </p:stCondLst>
                                        </p:cTn>
                                        <p:tgtEl>
                                          <p:spTgt spid="285703"/>
                                        </p:tgtEl>
                                      </p:cBhvr>
                                      <p:to x="100000" y="60000"/>
                                    </p:animScale>
                                    <p:animScale>
                                      <p:cBhvr>
                                        <p:cTn id="30" dur="166" decel="50000">
                                          <p:stCondLst>
                                            <p:cond delay="676"/>
                                          </p:stCondLst>
                                        </p:cTn>
                                        <p:tgtEl>
                                          <p:spTgt spid="285703"/>
                                        </p:tgtEl>
                                      </p:cBhvr>
                                      <p:to x="100000" y="100000"/>
                                    </p:animScale>
                                    <p:animScale>
                                      <p:cBhvr>
                                        <p:cTn id="31" dur="26">
                                          <p:stCondLst>
                                            <p:cond delay="1312"/>
                                          </p:stCondLst>
                                        </p:cTn>
                                        <p:tgtEl>
                                          <p:spTgt spid="285703"/>
                                        </p:tgtEl>
                                      </p:cBhvr>
                                      <p:to x="100000" y="80000"/>
                                    </p:animScale>
                                    <p:animScale>
                                      <p:cBhvr>
                                        <p:cTn id="32" dur="166" decel="50000">
                                          <p:stCondLst>
                                            <p:cond delay="1338"/>
                                          </p:stCondLst>
                                        </p:cTn>
                                        <p:tgtEl>
                                          <p:spTgt spid="285703"/>
                                        </p:tgtEl>
                                      </p:cBhvr>
                                      <p:to x="100000" y="100000"/>
                                    </p:animScale>
                                    <p:animScale>
                                      <p:cBhvr>
                                        <p:cTn id="33" dur="26">
                                          <p:stCondLst>
                                            <p:cond delay="1642"/>
                                          </p:stCondLst>
                                        </p:cTn>
                                        <p:tgtEl>
                                          <p:spTgt spid="285703"/>
                                        </p:tgtEl>
                                      </p:cBhvr>
                                      <p:to x="100000" y="90000"/>
                                    </p:animScale>
                                    <p:animScale>
                                      <p:cBhvr>
                                        <p:cTn id="34" dur="166" decel="50000">
                                          <p:stCondLst>
                                            <p:cond delay="1668"/>
                                          </p:stCondLst>
                                        </p:cTn>
                                        <p:tgtEl>
                                          <p:spTgt spid="285703"/>
                                        </p:tgtEl>
                                      </p:cBhvr>
                                      <p:to x="100000" y="100000"/>
                                    </p:animScale>
                                    <p:animScale>
                                      <p:cBhvr>
                                        <p:cTn id="35" dur="26">
                                          <p:stCondLst>
                                            <p:cond delay="1808"/>
                                          </p:stCondLst>
                                        </p:cTn>
                                        <p:tgtEl>
                                          <p:spTgt spid="285703"/>
                                        </p:tgtEl>
                                      </p:cBhvr>
                                      <p:to x="100000" y="95000"/>
                                    </p:animScale>
                                    <p:animScale>
                                      <p:cBhvr>
                                        <p:cTn id="36" dur="166" decel="50000">
                                          <p:stCondLst>
                                            <p:cond delay="1834"/>
                                          </p:stCondLst>
                                        </p:cTn>
                                        <p:tgtEl>
                                          <p:spTgt spid="285703"/>
                                        </p:tgtEl>
                                      </p:cBhvr>
                                      <p:to x="100000" y="100000"/>
                                    </p:animScale>
                                  </p:childTnLst>
                                </p:cTn>
                              </p:par>
                            </p:childTnLst>
                          </p:cTn>
                        </p:par>
                      </p:childTnLst>
                    </p:cTn>
                  </p:par>
                  <p:par>
                    <p:cTn id="37" fill="hold">
                      <p:stCondLst>
                        <p:cond delay="indefinite"/>
                      </p:stCondLst>
                      <p:childTnLst>
                        <p:par>
                          <p:cTn id="38" fill="hold">
                            <p:stCondLst>
                              <p:cond delay="0"/>
                            </p:stCondLst>
                            <p:childTnLst>
                              <p:par>
                                <p:cTn id="39" presetID="27" presetClass="entr" presetSubtype="0" fill="hold" grpId="0" nodeType="clickEffect">
                                  <p:stCondLst>
                                    <p:cond delay="0"/>
                                  </p:stCondLst>
                                  <p:iterate type="lt">
                                    <p:tmPct val="50000"/>
                                  </p:iterate>
                                  <p:childTnLst>
                                    <p:set>
                                      <p:cBhvr>
                                        <p:cTn id="40" dur="1" fill="hold">
                                          <p:stCondLst>
                                            <p:cond delay="0"/>
                                          </p:stCondLst>
                                        </p:cTn>
                                        <p:tgtEl>
                                          <p:spTgt spid="285704"/>
                                        </p:tgtEl>
                                        <p:attrNameLst>
                                          <p:attrName>style.visibility</p:attrName>
                                        </p:attrNameLst>
                                      </p:cBhvr>
                                      <p:to>
                                        <p:strVal val="visible"/>
                                      </p:to>
                                    </p:set>
                                    <p:anim calcmode="discrete" valueType="clr">
                                      <p:cBhvr override="childStyle">
                                        <p:cTn id="41" dur="80"/>
                                        <p:tgtEl>
                                          <p:spTgt spid="285704"/>
                                        </p:tgtEl>
                                        <p:attrNameLst>
                                          <p:attrName>style.color</p:attrName>
                                        </p:attrNameLst>
                                      </p:cBhvr>
                                      <p:tavLst>
                                        <p:tav tm="0">
                                          <p:val>
                                            <p:clrVal>
                                              <a:schemeClr val="accent2"/>
                                            </p:clrVal>
                                          </p:val>
                                        </p:tav>
                                        <p:tav tm="50000">
                                          <p:val>
                                            <p:clrVal>
                                              <a:schemeClr val="hlink"/>
                                            </p:clrVal>
                                          </p:val>
                                        </p:tav>
                                      </p:tavLst>
                                    </p:anim>
                                    <p:anim calcmode="discrete" valueType="clr">
                                      <p:cBhvr>
                                        <p:cTn id="42" dur="80"/>
                                        <p:tgtEl>
                                          <p:spTgt spid="285704"/>
                                        </p:tgtEl>
                                        <p:attrNameLst>
                                          <p:attrName>fillcolor</p:attrName>
                                        </p:attrNameLst>
                                      </p:cBhvr>
                                      <p:tavLst>
                                        <p:tav tm="0">
                                          <p:val>
                                            <p:clrVal>
                                              <a:schemeClr val="accent2"/>
                                            </p:clrVal>
                                          </p:val>
                                        </p:tav>
                                        <p:tav tm="50000">
                                          <p:val>
                                            <p:clrVal>
                                              <a:schemeClr val="hlink"/>
                                            </p:clrVal>
                                          </p:val>
                                        </p:tav>
                                      </p:tavLst>
                                    </p:anim>
                                    <p:set>
                                      <p:cBhvr>
                                        <p:cTn id="43" dur="80"/>
                                        <p:tgtEl>
                                          <p:spTgt spid="285704"/>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5699" grpId="0" build="p"/>
      <p:bldP spid="285701" grpId="0"/>
      <p:bldP spid="285704" grpId="0" animBg="1"/>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7" name="Rectangle 2"/>
          <p:cNvSpPr>
            <a:spLocks noGrp="1" noChangeArrowheads="1"/>
          </p:cNvSpPr>
          <p:nvPr>
            <p:ph type="title"/>
          </p:nvPr>
        </p:nvSpPr>
        <p:spPr/>
        <p:txBody>
          <a:bodyPr/>
          <a:lstStyle/>
          <a:p>
            <a:pPr eaLnBrk="1" hangingPunct="1"/>
            <a:r>
              <a:rPr lang="zh-CN" altLang="en-US" dirty="0" smtClean="0"/>
              <a:t>预测误差（续）</a:t>
            </a:r>
          </a:p>
        </p:txBody>
      </p:sp>
      <p:sp>
        <p:nvSpPr>
          <p:cNvPr id="69638" name="Rectangle 3"/>
          <p:cNvSpPr>
            <a:spLocks noGrp="1" noChangeArrowheads="1"/>
          </p:cNvSpPr>
          <p:nvPr>
            <p:ph type="body" idx="1"/>
          </p:nvPr>
        </p:nvSpPr>
        <p:spPr>
          <a:xfrm>
            <a:off x="1042988" y="1539081"/>
            <a:ext cx="4087812" cy="600075"/>
          </a:xfrm>
        </p:spPr>
        <p:txBody>
          <a:bodyPr/>
          <a:lstStyle/>
          <a:p>
            <a:pPr marL="0" indent="0" eaLnBrk="1" hangingPunct="1">
              <a:lnSpc>
                <a:spcPct val="90000"/>
              </a:lnSpc>
              <a:buNone/>
            </a:pPr>
            <a:r>
              <a:rPr lang="en-US" altLang="zh-CN" sz="2800" dirty="0" smtClean="0">
                <a:solidFill>
                  <a:srgbClr val="3333FF"/>
                </a:solidFill>
              </a:rPr>
              <a:t>3. </a:t>
            </a:r>
            <a:r>
              <a:rPr lang="zh-CN" altLang="en-US" sz="2800" dirty="0" smtClean="0">
                <a:solidFill>
                  <a:srgbClr val="3333FF"/>
                </a:solidFill>
              </a:rPr>
              <a:t>均方误差（</a:t>
            </a:r>
            <a:r>
              <a:rPr lang="en-US" altLang="zh-CN" sz="2800" dirty="0" smtClean="0">
                <a:solidFill>
                  <a:srgbClr val="3333FF"/>
                </a:solidFill>
              </a:rPr>
              <a:t>MSE</a:t>
            </a:r>
            <a:r>
              <a:rPr lang="zh-CN" altLang="en-US" sz="2800" dirty="0" smtClean="0">
                <a:solidFill>
                  <a:srgbClr val="3333FF"/>
                </a:solidFill>
              </a:rPr>
              <a:t>）</a:t>
            </a:r>
          </a:p>
        </p:txBody>
      </p:sp>
      <p:graphicFrame>
        <p:nvGraphicFramePr>
          <p:cNvPr id="69634" name="Object 4"/>
          <p:cNvGraphicFramePr>
            <a:graphicFrameLocks noChangeAspect="1"/>
          </p:cNvGraphicFramePr>
          <p:nvPr>
            <p:extLst>
              <p:ext uri="{D42A27DB-BD31-4B8C-83A1-F6EECF244321}">
                <p14:modId xmlns:p14="http://schemas.microsoft.com/office/powerpoint/2010/main" val="281354341"/>
              </p:ext>
            </p:extLst>
          </p:nvPr>
        </p:nvGraphicFramePr>
        <p:xfrm>
          <a:off x="5004048" y="1267073"/>
          <a:ext cx="3862684" cy="1152029"/>
        </p:xfrm>
        <a:graphic>
          <a:graphicData uri="http://schemas.openxmlformats.org/presentationml/2006/ole">
            <mc:AlternateContent xmlns:mc="http://schemas.openxmlformats.org/markup-compatibility/2006">
              <mc:Choice xmlns:v="urn:schemas-microsoft-com:vml" Requires="v">
                <p:oleObj spid="_x0000_s69844" name="公式" r:id="rId3" imgW="1180588" imgH="355446" progId="Equation.3">
                  <p:embed/>
                </p:oleObj>
              </mc:Choice>
              <mc:Fallback>
                <p:oleObj name="公式" r:id="rId3" imgW="1180588" imgH="355446"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4048" y="1267073"/>
                        <a:ext cx="3862684" cy="1152029"/>
                      </a:xfrm>
                      <a:prstGeom prst="rect">
                        <a:avLst/>
                      </a:prstGeom>
                      <a:solidFill>
                        <a:schemeClr val="accent1">
                          <a:lumMod val="20000"/>
                          <a:lumOff val="80000"/>
                        </a:schemeClr>
                      </a:solidFill>
                      <a:ln w="28575">
                        <a:noFill/>
                        <a:miter lim="800000"/>
                        <a:headEnd/>
                        <a:tailEnd/>
                      </a:ln>
                    </p:spPr>
                  </p:pic>
                </p:oleObj>
              </mc:Fallback>
            </mc:AlternateContent>
          </a:graphicData>
        </a:graphic>
      </p:graphicFrame>
      <p:graphicFrame>
        <p:nvGraphicFramePr>
          <p:cNvPr id="286725" name="Object 5"/>
          <p:cNvGraphicFramePr>
            <a:graphicFrameLocks noChangeAspect="1"/>
          </p:cNvGraphicFramePr>
          <p:nvPr>
            <p:extLst>
              <p:ext uri="{D42A27DB-BD31-4B8C-83A1-F6EECF244321}">
                <p14:modId xmlns:p14="http://schemas.microsoft.com/office/powerpoint/2010/main" val="1193629276"/>
              </p:ext>
            </p:extLst>
          </p:nvPr>
        </p:nvGraphicFramePr>
        <p:xfrm>
          <a:off x="1818630" y="3016901"/>
          <a:ext cx="5328939" cy="1296466"/>
        </p:xfrm>
        <a:graphic>
          <a:graphicData uri="http://schemas.openxmlformats.org/presentationml/2006/ole">
            <mc:AlternateContent xmlns:mc="http://schemas.openxmlformats.org/markup-compatibility/2006">
              <mc:Choice xmlns:v="urn:schemas-microsoft-com:vml" Requires="v">
                <p:oleObj spid="_x0000_s69845" name="公式" r:id="rId5" imgW="1879600" imgH="406400" progId="Equation.3">
                  <p:embed/>
                </p:oleObj>
              </mc:Choice>
              <mc:Fallback>
                <p:oleObj name="公式" r:id="rId5" imgW="1879600" imgH="4064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18630" y="3016901"/>
                        <a:ext cx="5328939" cy="1296466"/>
                      </a:xfrm>
                      <a:prstGeom prst="rect">
                        <a:avLst/>
                      </a:prstGeom>
                      <a:solidFill>
                        <a:schemeClr val="accent1">
                          <a:lumMod val="20000"/>
                          <a:lumOff val="80000"/>
                        </a:schemeClr>
                      </a:solidFill>
                      <a:ln w="28575">
                        <a:noFill/>
                        <a:miter lim="800000"/>
                        <a:headEnd/>
                        <a:tailEnd/>
                      </a:ln>
                    </p:spPr>
                  </p:pic>
                </p:oleObj>
              </mc:Fallback>
            </mc:AlternateContent>
          </a:graphicData>
        </a:graphic>
      </p:graphicFrame>
      <p:sp>
        <p:nvSpPr>
          <p:cNvPr id="286726" name="Rectangle 6"/>
          <p:cNvSpPr>
            <a:spLocks noChangeArrowheads="1"/>
          </p:cNvSpPr>
          <p:nvPr/>
        </p:nvSpPr>
        <p:spPr bwMode="auto">
          <a:xfrm>
            <a:off x="1042988" y="2497175"/>
            <a:ext cx="4968875" cy="1295400"/>
          </a:xfrm>
          <a:prstGeom prst="rect">
            <a:avLst/>
          </a:prstGeom>
          <a:noFill/>
          <a:ln w="9525">
            <a:noFill/>
            <a:miter lim="800000"/>
            <a:headEnd/>
            <a:tailEnd/>
          </a:ln>
        </p:spPr>
        <p:txBody>
          <a:bodyPr/>
          <a:lstStyle/>
          <a:p>
            <a:pPr>
              <a:lnSpc>
                <a:spcPct val="90000"/>
              </a:lnSpc>
              <a:spcBef>
                <a:spcPct val="20000"/>
              </a:spcBef>
              <a:buSzPct val="90000"/>
            </a:pPr>
            <a:r>
              <a:rPr lang="en-US" altLang="zh-CN" sz="2800" b="1" dirty="0">
                <a:solidFill>
                  <a:srgbClr val="3333FF"/>
                </a:solidFill>
                <a:latin typeface="Tahoma" pitchFamily="34" charset="0"/>
              </a:rPr>
              <a:t>4. </a:t>
            </a:r>
            <a:r>
              <a:rPr lang="zh-CN" altLang="en-US" sz="2800" b="1" dirty="0">
                <a:solidFill>
                  <a:srgbClr val="3333FF"/>
                </a:solidFill>
                <a:latin typeface="Tahoma" pitchFamily="34" charset="0"/>
              </a:rPr>
              <a:t>均方根误差（</a:t>
            </a:r>
            <a:r>
              <a:rPr lang="en-US" altLang="zh-CN" sz="2800" b="1" dirty="0">
                <a:solidFill>
                  <a:srgbClr val="3333FF"/>
                </a:solidFill>
                <a:latin typeface="Tahoma" pitchFamily="34" charset="0"/>
              </a:rPr>
              <a:t>RMSE</a:t>
            </a:r>
            <a:r>
              <a:rPr lang="zh-CN" altLang="en-US" sz="2800" b="1" dirty="0">
                <a:solidFill>
                  <a:srgbClr val="3333FF"/>
                </a:solidFill>
                <a:latin typeface="Tahoma" pitchFamily="34" charset="0"/>
              </a:rPr>
              <a:t>）：</a:t>
            </a:r>
          </a:p>
        </p:txBody>
      </p:sp>
      <p:sp>
        <p:nvSpPr>
          <p:cNvPr id="286727" name="Rectangle 7"/>
          <p:cNvSpPr>
            <a:spLocks noChangeArrowheads="1"/>
          </p:cNvSpPr>
          <p:nvPr/>
        </p:nvSpPr>
        <p:spPr bwMode="auto">
          <a:xfrm>
            <a:off x="990401" y="4911166"/>
            <a:ext cx="6985395" cy="1049246"/>
          </a:xfrm>
          <a:prstGeom prst="rect">
            <a:avLst/>
          </a:prstGeom>
          <a:noFill/>
          <a:ln w="12700">
            <a:noFill/>
            <a:miter lim="800000"/>
            <a:headEnd/>
            <a:tailEnd/>
          </a:ln>
        </p:spPr>
        <p:txBody>
          <a:bodyPr/>
          <a:lstStyle/>
          <a:p>
            <a:pPr marL="268288" lvl="1" indent="-268288">
              <a:lnSpc>
                <a:spcPct val="110000"/>
              </a:lnSpc>
              <a:spcBef>
                <a:spcPct val="20000"/>
              </a:spcBef>
              <a:buSzPct val="80000"/>
              <a:buFontTx/>
              <a:buBlip>
                <a:blip r:embed="rId7"/>
              </a:buBlip>
              <a:tabLst>
                <a:tab pos="182563" algn="l"/>
                <a:tab pos="268288" algn="l"/>
              </a:tabLst>
            </a:pPr>
            <a:r>
              <a:rPr lang="zh-CN" altLang="en-US" sz="2800" b="1" dirty="0">
                <a:solidFill>
                  <a:srgbClr val="000000"/>
                </a:solidFill>
                <a:latin typeface="Tahoma" pitchFamily="34" charset="0"/>
              </a:rPr>
              <a:t>均方误差和均方根误差由于取误差的平方来计算，因此受异常值的影响较大。</a:t>
            </a:r>
          </a:p>
        </p:txBody>
      </p:sp>
      <p:sp>
        <p:nvSpPr>
          <p:cNvPr id="69641" name="日期占位符 8"/>
          <p:cNvSpPr>
            <a:spLocks noGrp="1"/>
          </p:cNvSpPr>
          <p:nvPr>
            <p:ph type="dt" sz="quarter" idx="10"/>
          </p:nvPr>
        </p:nvSpPr>
        <p:spPr>
          <a:noFill/>
        </p:spPr>
        <p:txBody>
          <a:bodyPr/>
          <a:lstStyle/>
          <a:p>
            <a:endParaRPr lang="en-US" altLang="zh-CN"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6726"/>
                                        </p:tgtEl>
                                        <p:attrNameLst>
                                          <p:attrName>style.visibility</p:attrName>
                                        </p:attrNameLst>
                                      </p:cBhvr>
                                      <p:to>
                                        <p:strVal val="visible"/>
                                      </p:to>
                                    </p:set>
                                    <p:animEffect transition="in" filter="wipe(left)">
                                      <p:cBhvr>
                                        <p:cTn id="7" dur="500"/>
                                        <p:tgtEl>
                                          <p:spTgt spid="286726"/>
                                        </p:tgtEl>
                                      </p:cBhvr>
                                    </p:animEffect>
                                  </p:childTnLst>
                                </p:cTn>
                              </p:par>
                            </p:childTnLst>
                          </p:cTn>
                        </p:par>
                        <p:par>
                          <p:cTn id="8" fill="hold">
                            <p:stCondLst>
                              <p:cond delay="500"/>
                            </p:stCondLst>
                            <p:childTnLst>
                              <p:par>
                                <p:cTn id="9" presetID="12" presetClass="entr" presetSubtype="4" fill="hold" nodeType="afterEffect">
                                  <p:stCondLst>
                                    <p:cond delay="0"/>
                                  </p:stCondLst>
                                  <p:childTnLst>
                                    <p:set>
                                      <p:cBhvr>
                                        <p:cTn id="10" dur="1" fill="hold">
                                          <p:stCondLst>
                                            <p:cond delay="0"/>
                                          </p:stCondLst>
                                        </p:cTn>
                                        <p:tgtEl>
                                          <p:spTgt spid="286725"/>
                                        </p:tgtEl>
                                        <p:attrNameLst>
                                          <p:attrName>style.visibility</p:attrName>
                                        </p:attrNameLst>
                                      </p:cBhvr>
                                      <p:to>
                                        <p:strVal val="visible"/>
                                      </p:to>
                                    </p:set>
                                    <p:animEffect transition="in" filter="slide(fromBottom)">
                                      <p:cBhvr>
                                        <p:cTn id="11" dur="500"/>
                                        <p:tgtEl>
                                          <p:spTgt spid="286725"/>
                                        </p:tgtEl>
                                      </p:cBhvr>
                                    </p:animEffect>
                                  </p:childTnLst>
                                </p:cTn>
                              </p:par>
                            </p:childTnLst>
                          </p:cTn>
                        </p:par>
                      </p:childTnLst>
                    </p:cTn>
                  </p:par>
                  <p:par>
                    <p:cTn id="12" fill="hold">
                      <p:stCondLst>
                        <p:cond delay="indefinite"/>
                      </p:stCondLst>
                      <p:childTnLst>
                        <p:par>
                          <p:cTn id="13" fill="hold">
                            <p:stCondLst>
                              <p:cond delay="0"/>
                            </p:stCondLst>
                            <p:childTnLst>
                              <p:par>
                                <p:cTn id="14" presetID="27" presetClass="entr" presetSubtype="0" fill="hold" grpId="0" nodeType="clickEffect">
                                  <p:stCondLst>
                                    <p:cond delay="0"/>
                                  </p:stCondLst>
                                  <p:iterate type="lt">
                                    <p:tmPct val="50000"/>
                                  </p:iterate>
                                  <p:childTnLst>
                                    <p:set>
                                      <p:cBhvr>
                                        <p:cTn id="15" dur="1" fill="hold">
                                          <p:stCondLst>
                                            <p:cond delay="0"/>
                                          </p:stCondLst>
                                        </p:cTn>
                                        <p:tgtEl>
                                          <p:spTgt spid="286727"/>
                                        </p:tgtEl>
                                        <p:attrNameLst>
                                          <p:attrName>style.visibility</p:attrName>
                                        </p:attrNameLst>
                                      </p:cBhvr>
                                      <p:to>
                                        <p:strVal val="visible"/>
                                      </p:to>
                                    </p:set>
                                    <p:anim calcmode="discrete" valueType="clr">
                                      <p:cBhvr override="childStyle">
                                        <p:cTn id="16" dur="80"/>
                                        <p:tgtEl>
                                          <p:spTgt spid="286727"/>
                                        </p:tgtEl>
                                        <p:attrNameLst>
                                          <p:attrName>style.color</p:attrName>
                                        </p:attrNameLst>
                                      </p:cBhvr>
                                      <p:tavLst>
                                        <p:tav tm="0">
                                          <p:val>
                                            <p:clrVal>
                                              <a:schemeClr val="accent2"/>
                                            </p:clrVal>
                                          </p:val>
                                        </p:tav>
                                        <p:tav tm="50000">
                                          <p:val>
                                            <p:clrVal>
                                              <a:schemeClr val="hlink"/>
                                            </p:clrVal>
                                          </p:val>
                                        </p:tav>
                                      </p:tavLst>
                                    </p:anim>
                                    <p:anim calcmode="discrete" valueType="clr">
                                      <p:cBhvr>
                                        <p:cTn id="17" dur="80"/>
                                        <p:tgtEl>
                                          <p:spTgt spid="286727"/>
                                        </p:tgtEl>
                                        <p:attrNameLst>
                                          <p:attrName>fillcolor</p:attrName>
                                        </p:attrNameLst>
                                      </p:cBhvr>
                                      <p:tavLst>
                                        <p:tav tm="0">
                                          <p:val>
                                            <p:clrVal>
                                              <a:schemeClr val="accent2"/>
                                            </p:clrVal>
                                          </p:val>
                                        </p:tav>
                                        <p:tav tm="50000">
                                          <p:val>
                                            <p:clrVal>
                                              <a:schemeClr val="hlink"/>
                                            </p:clrVal>
                                          </p:val>
                                        </p:tav>
                                      </p:tavLst>
                                    </p:anim>
                                    <p:set>
                                      <p:cBhvr>
                                        <p:cTn id="18" dur="80"/>
                                        <p:tgtEl>
                                          <p:spTgt spid="286727"/>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26" grpId="0"/>
      <p:bldP spid="286727" grpId="0"/>
    </p:bldLst>
  </p:timing>
</p:sld>
</file>

<file path=ppt/theme/theme1.xml><?xml version="1.0" encoding="utf-8"?>
<a:theme xmlns:a="http://schemas.openxmlformats.org/drawingml/2006/main" name="Sumi Painting">
  <a:themeElements>
    <a:clrScheme name="Sumi Painting 1">
      <a:dk1>
        <a:srgbClr val="545472"/>
      </a:dk1>
      <a:lt1>
        <a:srgbClr val="FFFFFF"/>
      </a:lt1>
      <a:dk2>
        <a:srgbClr val="660066"/>
      </a:dk2>
      <a:lt2>
        <a:srgbClr val="9797B7"/>
      </a:lt2>
      <a:accent1>
        <a:srgbClr val="A7CCD9"/>
      </a:accent1>
      <a:accent2>
        <a:srgbClr val="C7C7DF"/>
      </a:accent2>
      <a:accent3>
        <a:srgbClr val="FFFFFF"/>
      </a:accent3>
      <a:accent4>
        <a:srgbClr val="464660"/>
      </a:accent4>
      <a:accent5>
        <a:srgbClr val="D0E2E9"/>
      </a:accent5>
      <a:accent6>
        <a:srgbClr val="B4B4CA"/>
      </a:accent6>
      <a:hlink>
        <a:srgbClr val="9595FF"/>
      </a:hlink>
      <a:folHlink>
        <a:srgbClr val="8888AE"/>
      </a:folHlink>
    </a:clrScheme>
    <a:fontScheme name="Sumi Painting">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umi Painting 1">
        <a:dk1>
          <a:srgbClr val="545472"/>
        </a:dk1>
        <a:lt1>
          <a:srgbClr val="FFFFFF"/>
        </a:lt1>
        <a:dk2>
          <a:srgbClr val="660066"/>
        </a:dk2>
        <a:lt2>
          <a:srgbClr val="9797B7"/>
        </a:lt2>
        <a:accent1>
          <a:srgbClr val="A7CCD9"/>
        </a:accent1>
        <a:accent2>
          <a:srgbClr val="C7C7DF"/>
        </a:accent2>
        <a:accent3>
          <a:srgbClr val="FFFFFF"/>
        </a:accent3>
        <a:accent4>
          <a:srgbClr val="464660"/>
        </a:accent4>
        <a:accent5>
          <a:srgbClr val="D0E2E9"/>
        </a:accent5>
        <a:accent6>
          <a:srgbClr val="B4B4CA"/>
        </a:accent6>
        <a:hlink>
          <a:srgbClr val="9595FF"/>
        </a:hlink>
        <a:folHlink>
          <a:srgbClr val="8888AE"/>
        </a:folHlink>
      </a:clrScheme>
      <a:clrMap bg1="lt1" tx1="dk1" bg2="lt2" tx2="dk2" accent1="accent1" accent2="accent2" accent3="accent3" accent4="accent4" accent5="accent5" accent6="accent6" hlink="hlink" folHlink="folHlink"/>
    </a:extraClrScheme>
    <a:extraClrScheme>
      <a:clrScheme name="Sumi Painting 2">
        <a:dk1>
          <a:srgbClr val="545472"/>
        </a:dk1>
        <a:lt1>
          <a:srgbClr val="FFFFFF"/>
        </a:lt1>
        <a:dk2>
          <a:srgbClr val="892D5B"/>
        </a:dk2>
        <a:lt2>
          <a:srgbClr val="68A7BE"/>
        </a:lt2>
        <a:accent1>
          <a:srgbClr val="CAACCC"/>
        </a:accent1>
        <a:accent2>
          <a:srgbClr val="A7CCD9"/>
        </a:accent2>
        <a:accent3>
          <a:srgbClr val="FFFFFF"/>
        </a:accent3>
        <a:accent4>
          <a:srgbClr val="464660"/>
        </a:accent4>
        <a:accent5>
          <a:srgbClr val="E1D2E2"/>
        </a:accent5>
        <a:accent6>
          <a:srgbClr val="97B9C4"/>
        </a:accent6>
        <a:hlink>
          <a:srgbClr val="9595FF"/>
        </a:hlink>
        <a:folHlink>
          <a:srgbClr val="8888AE"/>
        </a:folHlink>
      </a:clrScheme>
      <a:clrMap bg1="lt1" tx1="dk1" bg2="lt2" tx2="dk2" accent1="accent1" accent2="accent2" accent3="accent3" accent4="accent4" accent5="accent5" accent6="accent6" hlink="hlink" folHlink="folHlink"/>
    </a:extraClrScheme>
    <a:extraClrScheme>
      <a:clrScheme name="Sumi Painting 3">
        <a:dk1>
          <a:srgbClr val="000000"/>
        </a:dk1>
        <a:lt1>
          <a:srgbClr val="FFFFFF"/>
        </a:lt1>
        <a:dk2>
          <a:srgbClr val="000000"/>
        </a:dk2>
        <a:lt2>
          <a:srgbClr val="333333"/>
        </a:lt2>
        <a:accent1>
          <a:srgbClr val="B2B2B2"/>
        </a:accent1>
        <a:accent2>
          <a:srgbClr val="DDDDDD"/>
        </a:accent2>
        <a:accent3>
          <a:srgbClr val="FFFFFF"/>
        </a:accent3>
        <a:accent4>
          <a:srgbClr val="000000"/>
        </a:accent4>
        <a:accent5>
          <a:srgbClr val="D5D5D5"/>
        </a:accent5>
        <a:accent6>
          <a:srgbClr val="C8C8C8"/>
        </a:accent6>
        <a:hlink>
          <a:srgbClr val="4D4D4D"/>
        </a:hlink>
        <a:folHlink>
          <a:srgbClr val="969696"/>
        </a:folHlink>
      </a:clrScheme>
      <a:clrMap bg1="lt1" tx1="dk1" bg2="lt2" tx2="dk2" accent1="accent1" accent2="accent2" accent3="accent3" accent4="accent4" accent5="accent5" accent6="accent6" hlink="hlink" folHlink="folHlink"/>
    </a:extraClrScheme>
    <a:extraClrScheme>
      <a:clrScheme name="Sumi Painting 4">
        <a:dk1>
          <a:srgbClr val="545472"/>
        </a:dk1>
        <a:lt1>
          <a:srgbClr val="FFFFFF"/>
        </a:lt1>
        <a:dk2>
          <a:srgbClr val="892D5B"/>
        </a:dk2>
        <a:lt2>
          <a:srgbClr val="AC3872"/>
        </a:lt2>
        <a:accent1>
          <a:srgbClr val="660066"/>
        </a:accent1>
        <a:accent2>
          <a:srgbClr val="E2A6C4"/>
        </a:accent2>
        <a:accent3>
          <a:srgbClr val="FFFFFF"/>
        </a:accent3>
        <a:accent4>
          <a:srgbClr val="464660"/>
        </a:accent4>
        <a:accent5>
          <a:srgbClr val="B8AAB8"/>
        </a:accent5>
        <a:accent6>
          <a:srgbClr val="CD96B1"/>
        </a:accent6>
        <a:hlink>
          <a:srgbClr val="8585FF"/>
        </a:hlink>
        <a:folHlink>
          <a:srgbClr val="563EE8"/>
        </a:folHlink>
      </a:clrScheme>
      <a:clrMap bg1="lt1" tx1="dk1" bg2="lt2" tx2="dk2" accent1="accent1" accent2="accent2" accent3="accent3" accent4="accent4" accent5="accent5" accent6="accent6" hlink="hlink" folHlink="folHlink"/>
    </a:extraClrScheme>
    <a:extraClrScheme>
      <a:clrScheme name="Sumi Painting 5">
        <a:dk1>
          <a:srgbClr val="545472"/>
        </a:dk1>
        <a:lt1>
          <a:srgbClr val="FFFFFF"/>
        </a:lt1>
        <a:dk2>
          <a:srgbClr val="892D5B"/>
        </a:dk2>
        <a:lt2>
          <a:srgbClr val="515BA7"/>
        </a:lt2>
        <a:accent1>
          <a:srgbClr val="8BD8E7"/>
        </a:accent1>
        <a:accent2>
          <a:srgbClr val="A5AAD3"/>
        </a:accent2>
        <a:accent3>
          <a:srgbClr val="FFFFFF"/>
        </a:accent3>
        <a:accent4>
          <a:srgbClr val="464660"/>
        </a:accent4>
        <a:accent5>
          <a:srgbClr val="C4E9F1"/>
        </a:accent5>
        <a:accent6>
          <a:srgbClr val="959ABF"/>
        </a:accent6>
        <a:hlink>
          <a:srgbClr val="B78AFA"/>
        </a:hlink>
        <a:folHlink>
          <a:srgbClr val="A0A5D0"/>
        </a:folHlink>
      </a:clrScheme>
      <a:clrMap bg1="lt1" tx1="dk1" bg2="lt2" tx2="dk2" accent1="accent1" accent2="accent2" accent3="accent3" accent4="accent4" accent5="accent5" accent6="accent6" hlink="hlink" folHlink="folHlink"/>
    </a:extraClrScheme>
    <a:extraClrScheme>
      <a:clrScheme name="Sumi Painting 6">
        <a:dk1>
          <a:srgbClr val="545472"/>
        </a:dk1>
        <a:lt1>
          <a:srgbClr val="FFFFFF"/>
        </a:lt1>
        <a:dk2>
          <a:srgbClr val="37467F"/>
        </a:dk2>
        <a:lt2>
          <a:srgbClr val="547A3C"/>
        </a:lt2>
        <a:accent1>
          <a:srgbClr val="8BD8E7"/>
        </a:accent1>
        <a:accent2>
          <a:srgbClr val="B7D3A5"/>
        </a:accent2>
        <a:accent3>
          <a:srgbClr val="FFFFFF"/>
        </a:accent3>
        <a:accent4>
          <a:srgbClr val="464660"/>
        </a:accent4>
        <a:accent5>
          <a:srgbClr val="C4E9F1"/>
        </a:accent5>
        <a:accent6>
          <a:srgbClr val="A6BF95"/>
        </a:accent6>
        <a:hlink>
          <a:srgbClr val="619147"/>
        </a:hlink>
        <a:folHlink>
          <a:srgbClr val="94BE7C"/>
        </a:folHlink>
      </a:clrScheme>
      <a:clrMap bg1="lt1" tx1="dk1" bg2="lt2" tx2="dk2" accent1="accent1" accent2="accent2" accent3="accent3" accent4="accent4" accent5="accent5" accent6="accent6" hlink="hlink" folHlink="folHlink"/>
    </a:extraClrScheme>
    <a:extraClrScheme>
      <a:clrScheme name="Sumi Painting 7">
        <a:dk1>
          <a:srgbClr val="545472"/>
        </a:dk1>
        <a:lt1>
          <a:srgbClr val="FFFFFF"/>
        </a:lt1>
        <a:dk2>
          <a:srgbClr val="655851"/>
        </a:dk2>
        <a:lt2>
          <a:srgbClr val="B49234"/>
        </a:lt2>
        <a:accent1>
          <a:srgbClr val="F8C684"/>
        </a:accent1>
        <a:accent2>
          <a:srgbClr val="E1CE97"/>
        </a:accent2>
        <a:accent3>
          <a:srgbClr val="FFFFFF"/>
        </a:accent3>
        <a:accent4>
          <a:srgbClr val="464660"/>
        </a:accent4>
        <a:accent5>
          <a:srgbClr val="FBDFC2"/>
        </a:accent5>
        <a:accent6>
          <a:srgbClr val="CCBA88"/>
        </a:accent6>
        <a:hlink>
          <a:srgbClr val="7C6148"/>
        </a:hlink>
        <a:folHlink>
          <a:srgbClr val="8E856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5532</TotalTime>
  <Words>9298</Words>
  <Application>Microsoft Office PowerPoint</Application>
  <PresentationFormat>全屏显示(4:3)</PresentationFormat>
  <Paragraphs>1784</Paragraphs>
  <Slides>145</Slides>
  <Notes>53</Notes>
  <HiddenSlides>0</HiddenSlides>
  <MMClips>0</MMClips>
  <ScaleCrop>false</ScaleCrop>
  <HeadingPairs>
    <vt:vector size="8" baseType="variant">
      <vt:variant>
        <vt:lpstr>已用的字体</vt:lpstr>
      </vt:variant>
      <vt:variant>
        <vt:i4>21</vt:i4>
      </vt:variant>
      <vt:variant>
        <vt:lpstr>主题</vt:lpstr>
      </vt:variant>
      <vt:variant>
        <vt:i4>1</vt:i4>
      </vt:variant>
      <vt:variant>
        <vt:lpstr>嵌入 OLE 服务器</vt:lpstr>
      </vt:variant>
      <vt:variant>
        <vt:i4>6</vt:i4>
      </vt:variant>
      <vt:variant>
        <vt:lpstr>幻灯片标题</vt:lpstr>
      </vt:variant>
      <vt:variant>
        <vt:i4>145</vt:i4>
      </vt:variant>
    </vt:vector>
  </HeadingPairs>
  <TitlesOfParts>
    <vt:vector size="173" baseType="lpstr">
      <vt:lpstr>Arial Unicode MS</vt:lpstr>
      <vt:lpstr>BatangChe</vt:lpstr>
      <vt:lpstr>PMingLiU</vt:lpstr>
      <vt:lpstr>等线</vt:lpstr>
      <vt:lpstr>黑体</vt:lpstr>
      <vt:lpstr>华文楷体</vt:lpstr>
      <vt:lpstr>华文行楷</vt:lpstr>
      <vt:lpstr>华文中宋</vt:lpstr>
      <vt:lpstr>宋体</vt:lpstr>
      <vt:lpstr>Arial</vt:lpstr>
      <vt:lpstr>Book Antiqua</vt:lpstr>
      <vt:lpstr>Calibri</vt:lpstr>
      <vt:lpstr>Cambria Math</vt:lpstr>
      <vt:lpstr>Garamond</vt:lpstr>
      <vt:lpstr>Symbol</vt:lpstr>
      <vt:lpstr>Tahoma</vt:lpstr>
      <vt:lpstr>Times New Roman</vt:lpstr>
      <vt:lpstr>Verdana</vt:lpstr>
      <vt:lpstr>Wingdings</vt:lpstr>
      <vt:lpstr>Wingdings 2</vt:lpstr>
      <vt:lpstr>Wingdings 3</vt:lpstr>
      <vt:lpstr>Sumi Painting</vt:lpstr>
      <vt:lpstr>公式</vt:lpstr>
      <vt:lpstr>Equation</vt:lpstr>
      <vt:lpstr>Microsoft 公式 3.0</vt:lpstr>
      <vt:lpstr>BMP 图象</vt:lpstr>
      <vt:lpstr>图表</vt:lpstr>
      <vt:lpstr>Microsoft Excel 97-2003 工作表</vt:lpstr>
      <vt:lpstr>ch4　时间序列分析</vt:lpstr>
      <vt:lpstr>PowerPoint 演示文稿</vt:lpstr>
      <vt:lpstr>4.1 时间序列概述</vt:lpstr>
      <vt:lpstr>统计数据的种类</vt:lpstr>
      <vt:lpstr>时间序列分析方法</vt:lpstr>
      <vt:lpstr>时间序列分析方法（续）</vt:lpstr>
      <vt:lpstr>PowerPoint 演示文稿</vt:lpstr>
      <vt:lpstr>4.1.1 时间数列的概念</vt:lpstr>
      <vt:lpstr>表4-2</vt:lpstr>
      <vt:lpstr>4.1.2 时间序列的种类</vt:lpstr>
      <vt:lpstr>时期数列与时点数列的区别</vt:lpstr>
      <vt:lpstr>4.1.3 时间数列的编制原则</vt:lpstr>
      <vt:lpstr>4.2  时间序列的水平分析</vt:lpstr>
      <vt:lpstr>4.2.1 发展水平</vt:lpstr>
      <vt:lpstr>4.2.2  平均发展水平</vt:lpstr>
      <vt:lpstr>1.时期数列的序时平均数</vt:lpstr>
      <vt:lpstr>2. 时点数列的序时平均数</vt:lpstr>
      <vt:lpstr>不连续时点数列计算序时平均数—图示</vt:lpstr>
      <vt:lpstr>2.时点序列的平均发展水平（续）</vt:lpstr>
      <vt:lpstr>不连续时点数列计算序时平均数的公式 </vt:lpstr>
      <vt:lpstr>例</vt:lpstr>
      <vt:lpstr>【例4-3】</vt:lpstr>
      <vt:lpstr>问题与思考</vt:lpstr>
      <vt:lpstr>结论</vt:lpstr>
      <vt:lpstr>3. 相对数(或平均数) 序列的平均发展水平</vt:lpstr>
      <vt:lpstr>3.相对数(或平均数) 序列的平均发展水平（续）</vt:lpstr>
      <vt:lpstr>【例4-4】</vt:lpstr>
      <vt:lpstr>序时平均数的计算（小结）</vt:lpstr>
      <vt:lpstr>【附】加权平均净资产收益率</vt:lpstr>
      <vt:lpstr>【附】加权平均每股收益</vt:lpstr>
      <vt:lpstr>4.2.3 增长量</vt:lpstr>
      <vt:lpstr>PowerPoint 演示文稿</vt:lpstr>
      <vt:lpstr>4.2.4 平均增减量</vt:lpstr>
      <vt:lpstr>（例）</vt:lpstr>
      <vt:lpstr>4.3 时间序列的速度分析</vt:lpstr>
      <vt:lpstr>4.3.1  发展速度</vt:lpstr>
      <vt:lpstr>环比发展速度与定基发展速度之关系</vt:lpstr>
      <vt:lpstr>同比发展速度（年距发展速度）</vt:lpstr>
      <vt:lpstr>4.3.2 增减速度（增长率）</vt:lpstr>
      <vt:lpstr>几个速度之间的关系</vt:lpstr>
      <vt:lpstr>速度的表现形式和文字表述</vt:lpstr>
      <vt:lpstr>例（速度）</vt:lpstr>
      <vt:lpstr>4.3.3  平均速度</vt:lpstr>
      <vt:lpstr>平均增长速度及其计算方法</vt:lpstr>
      <vt:lpstr>1.计算平均发展速度的几何平均法</vt:lpstr>
      <vt:lpstr>【平均速度——例】</vt:lpstr>
      <vt:lpstr>PowerPoint 演示文稿</vt:lpstr>
      <vt:lpstr>PowerPoint 演示文稿</vt:lpstr>
      <vt:lpstr>几何平均法（水平法）的不足</vt:lpstr>
      <vt:lpstr>几何平均法的特点</vt:lpstr>
      <vt:lpstr>平均速度用于预测</vt:lpstr>
      <vt:lpstr>年度增长率与月(季)增长率之间的换算</vt:lpstr>
      <vt:lpstr>方程式法的基本思想</vt:lpstr>
      <vt:lpstr>[例——方程式法求解结果]</vt:lpstr>
      <vt:lpstr>方程式法的特点</vt:lpstr>
      <vt:lpstr>4.3.4 应用平均速度应注意的问题</vt:lpstr>
      <vt:lpstr>增长1%的绝对量</vt:lpstr>
      <vt:lpstr>例</vt:lpstr>
      <vt:lpstr>4.4  时间序列构成因素分析</vt:lpstr>
      <vt:lpstr>例——企业历年的月销售额</vt:lpstr>
      <vt:lpstr>销售数据图（单位：百万元）</vt:lpstr>
      <vt:lpstr>4.4.1 时间序列的构成因素和组合形式</vt:lpstr>
      <vt:lpstr>1. 长期趋势（Trend )</vt:lpstr>
      <vt:lpstr>线性趋势</vt:lpstr>
      <vt:lpstr>非线性趋势 (如二次曲线、指数曲线…)</vt:lpstr>
      <vt:lpstr>2. 季节变动 (Seasonal Fluctuation )</vt:lpstr>
      <vt:lpstr>例（各月用电量）</vt:lpstr>
      <vt:lpstr>3.循环变动 (Cyclical Fluctuation) </vt:lpstr>
      <vt:lpstr>太阳黑子数目的变化</vt:lpstr>
      <vt:lpstr>循环变动 C 与长期趋势 T 的异同</vt:lpstr>
      <vt:lpstr>循环变动与季节变动 的比较</vt:lpstr>
      <vt:lpstr>4. 不规则变动  ( Irregular Variations )</vt:lpstr>
      <vt:lpstr>时间数列——哪几种成分的共同作用？</vt:lpstr>
      <vt:lpstr>时间数列的组合模型</vt:lpstr>
      <vt:lpstr>在加法模型中</vt:lpstr>
      <vt:lpstr>在乘法模型中</vt:lpstr>
      <vt:lpstr>时间数列的不同组合模式</vt:lpstr>
      <vt:lpstr>4.4.2  时间序列的长期趋势测定</vt:lpstr>
      <vt:lpstr>1.移动平均法  (Moving Average Method)</vt:lpstr>
      <vt:lpstr>移动平均法（续）</vt:lpstr>
      <vt:lpstr>移动平均法的特点  (应注意的问题)</vt:lpstr>
      <vt:lpstr>均线图（上证指数日K线与均线）</vt:lpstr>
      <vt:lpstr>移动平均法的特点   (续)</vt:lpstr>
      <vt:lpstr>例 （偶数项移动平均）</vt:lpstr>
      <vt:lpstr>（续）</vt:lpstr>
      <vt:lpstr>移动平均法的特点（续）</vt:lpstr>
      <vt:lpstr>对比</vt:lpstr>
      <vt:lpstr>PowerPoint 演示文稿</vt:lpstr>
      <vt:lpstr>（续）</vt:lpstr>
      <vt:lpstr>（5）移动平均值用于水平趋势预测</vt:lpstr>
      <vt:lpstr>【附】加权移动平均预测</vt:lpstr>
      <vt:lpstr>【附】加权移动平均</vt:lpstr>
      <vt:lpstr>2. 指数平滑法 （Exponential Smoothing）</vt:lpstr>
      <vt:lpstr>指数平滑法（续）</vt:lpstr>
      <vt:lpstr>指数平滑法的主要优点</vt:lpstr>
      <vt:lpstr>平滑系数α的选择</vt:lpstr>
      <vt:lpstr>（3） 指数平滑用于水平趋势预测</vt:lpstr>
      <vt:lpstr>【例】</vt:lpstr>
      <vt:lpstr>【附】  二次指数平滑法</vt:lpstr>
      <vt:lpstr>二次指数平滑线性趋势预测模型</vt:lpstr>
      <vt:lpstr>[附]证明</vt:lpstr>
      <vt:lpstr>【例】</vt:lpstr>
      <vt:lpstr>3. 趋势方程拟合法</vt:lpstr>
      <vt:lpstr>趋势方程形式的选择</vt:lpstr>
      <vt:lpstr>模型的数学特征</vt:lpstr>
      <vt:lpstr>模型的选择（续）</vt:lpstr>
      <vt:lpstr>直线趋势模型的参数估计</vt:lpstr>
      <vt:lpstr>观察点与趋势线（图示1）</vt:lpstr>
      <vt:lpstr>用最小平方法估计方程参数(Least-Square Method）</vt:lpstr>
      <vt:lpstr>a 和 b 的计算公式</vt:lpstr>
      <vt:lpstr>【例】 </vt:lpstr>
      <vt:lpstr>【附】非线性方程拟合</vt:lpstr>
      <vt:lpstr>二次曲线（抛物线）</vt:lpstr>
      <vt:lpstr>指数曲线</vt:lpstr>
      <vt:lpstr>修正指数曲线</vt:lpstr>
      <vt:lpstr>S 曲线（成长曲线）</vt:lpstr>
      <vt:lpstr>4.4.3 时间序列的季节变动测定</vt:lpstr>
      <vt:lpstr>1 .同期平均法</vt:lpstr>
      <vt:lpstr>同期平均法的步骤</vt:lpstr>
      <vt:lpstr>【例】同期平均法计算季节比率</vt:lpstr>
      <vt:lpstr>原资料平均法的应用前提</vt:lpstr>
      <vt:lpstr>思考</vt:lpstr>
      <vt:lpstr>2. 趋势剔除法</vt:lpstr>
      <vt:lpstr>趋势剔除法（续）</vt:lpstr>
      <vt:lpstr>趋势_循环剔除法</vt:lpstr>
      <vt:lpstr>(续前例：趋势剔除法计算表) </vt:lpstr>
      <vt:lpstr>季节比率的应用</vt:lpstr>
      <vt:lpstr>PowerPoint 演示文稿</vt:lpstr>
      <vt:lpstr>季节调整后的数据</vt:lpstr>
      <vt:lpstr>季节变动（小结）</vt:lpstr>
      <vt:lpstr>4.4.4 循环变动的测定</vt:lpstr>
      <vt:lpstr>循环周期的测定方法</vt:lpstr>
      <vt:lpstr>直接法测定循环变动（例）</vt:lpstr>
      <vt:lpstr>2. 剩余法（分解法）</vt:lpstr>
      <vt:lpstr>【附】周期波动的特征分类</vt:lpstr>
      <vt:lpstr>【附】循环周期的类型</vt:lpstr>
      <vt:lpstr>PowerPoint 演示文稿</vt:lpstr>
      <vt:lpstr>2. 按周期持续时间长短的不同，循环周期可分为短周期、中周期、中长周期及长周期几种类型：</vt:lpstr>
      <vt:lpstr>（2）8—10年左右的中周期 ——朱格拉周期（固定投资周期）</vt:lpstr>
      <vt:lpstr>（3）15—25年左右的中长周期（中长循环）——“建筑业周期”或“库兹涅茨周期”。</vt:lpstr>
      <vt:lpstr>（4）50年左右的长周期（大循环）</vt:lpstr>
      <vt:lpstr>【附】不规则变动的测定</vt:lpstr>
      <vt:lpstr>【例】</vt:lpstr>
      <vt:lpstr>【附】预测误差</vt:lpstr>
      <vt:lpstr>预测误差（续）</vt:lpstr>
    </vt:vector>
  </TitlesOfParts>
  <Company>SWUFE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Wangqh</dc:creator>
  <cp:lastModifiedBy>Windows User</cp:lastModifiedBy>
  <cp:revision>564</cp:revision>
  <dcterms:created xsi:type="dcterms:W3CDTF">2003-09-12T10:32:41Z</dcterms:created>
  <dcterms:modified xsi:type="dcterms:W3CDTF">2024-03-09T14:06:53Z</dcterms:modified>
</cp:coreProperties>
</file>