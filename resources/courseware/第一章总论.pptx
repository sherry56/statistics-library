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851" r:id="rId1"/>
  </p:sldMasterIdLst>
  <p:notesMasterIdLst>
    <p:notesMasterId r:id="rId77"/>
  </p:notesMasterIdLst>
  <p:handoutMasterIdLst>
    <p:handoutMasterId r:id="rId78"/>
  </p:handoutMasterIdLst>
  <p:sldIdLst>
    <p:sldId id="505" r:id="rId2"/>
    <p:sldId id="531" r:id="rId3"/>
    <p:sldId id="506" r:id="rId4"/>
    <p:sldId id="549" r:id="rId5"/>
    <p:sldId id="507" r:id="rId6"/>
    <p:sldId id="543" r:id="rId7"/>
    <p:sldId id="552" r:id="rId8"/>
    <p:sldId id="513" r:id="rId9"/>
    <p:sldId id="557" r:id="rId10"/>
    <p:sldId id="558" r:id="rId11"/>
    <p:sldId id="551" r:id="rId12"/>
    <p:sldId id="517" r:id="rId13"/>
    <p:sldId id="518" r:id="rId14"/>
    <p:sldId id="520" r:id="rId15"/>
    <p:sldId id="521" r:id="rId16"/>
    <p:sldId id="522" r:id="rId17"/>
    <p:sldId id="523" r:id="rId18"/>
    <p:sldId id="524" r:id="rId19"/>
    <p:sldId id="525" r:id="rId20"/>
    <p:sldId id="429" r:id="rId21"/>
    <p:sldId id="439" r:id="rId22"/>
    <p:sldId id="291" r:id="rId23"/>
    <p:sldId id="297" r:id="rId24"/>
    <p:sldId id="347" r:id="rId25"/>
    <p:sldId id="292" r:id="rId26"/>
    <p:sldId id="294" r:id="rId27"/>
    <p:sldId id="298" r:id="rId28"/>
    <p:sldId id="437" r:id="rId29"/>
    <p:sldId id="357" r:id="rId30"/>
    <p:sldId id="358" r:id="rId31"/>
    <p:sldId id="440" r:id="rId32"/>
    <p:sldId id="441" r:id="rId33"/>
    <p:sldId id="352" r:id="rId34"/>
    <p:sldId id="431" r:id="rId35"/>
    <p:sldId id="432" r:id="rId36"/>
    <p:sldId id="443" r:id="rId37"/>
    <p:sldId id="433" r:id="rId38"/>
    <p:sldId id="446" r:id="rId39"/>
    <p:sldId id="447" r:id="rId40"/>
    <p:sldId id="448" r:id="rId41"/>
    <p:sldId id="430" r:id="rId42"/>
    <p:sldId id="444" r:id="rId43"/>
    <p:sldId id="445" r:id="rId44"/>
    <p:sldId id="449" r:id="rId45"/>
    <p:sldId id="450" r:id="rId46"/>
    <p:sldId id="451" r:id="rId47"/>
    <p:sldId id="391" r:id="rId48"/>
    <p:sldId id="399" r:id="rId49"/>
    <p:sldId id="533" r:id="rId50"/>
    <p:sldId id="534" r:id="rId51"/>
    <p:sldId id="554" r:id="rId52"/>
    <p:sldId id="454" r:id="rId53"/>
    <p:sldId id="467" r:id="rId54"/>
    <p:sldId id="477" r:id="rId55"/>
    <p:sldId id="469" r:id="rId56"/>
    <p:sldId id="476" r:id="rId57"/>
    <p:sldId id="559" r:id="rId58"/>
    <p:sldId id="455" r:id="rId59"/>
    <p:sldId id="535" r:id="rId60"/>
    <p:sldId id="536" r:id="rId61"/>
    <p:sldId id="537" r:id="rId62"/>
    <p:sldId id="538" r:id="rId63"/>
    <p:sldId id="457" r:id="rId64"/>
    <p:sldId id="400" r:id="rId65"/>
    <p:sldId id="401" r:id="rId66"/>
    <p:sldId id="402" r:id="rId67"/>
    <p:sldId id="403" r:id="rId68"/>
    <p:sldId id="458" r:id="rId69"/>
    <p:sldId id="555" r:id="rId70"/>
    <p:sldId id="460" r:id="rId71"/>
    <p:sldId id="397" r:id="rId72"/>
    <p:sldId id="560" r:id="rId73"/>
    <p:sldId id="503" r:id="rId74"/>
    <p:sldId id="561" r:id="rId75"/>
    <p:sldId id="461" r:id="rId76"/>
  </p:sldIdLst>
  <p:sldSz cx="9144000" cy="6858000" type="screen4x3"/>
  <p:notesSz cx="12344400" cy="8686800"/>
  <p:defaultTextStyle>
    <a:defPPr>
      <a:defRPr lang="zh-CN"/>
    </a:defPPr>
    <a:lvl1pPr algn="l" rtl="0" fontAlgn="base">
      <a:lnSpc>
        <a:spcPct val="90000"/>
      </a:lnSpc>
      <a:spcBef>
        <a:spcPct val="15000"/>
      </a:spcBef>
      <a:spcAft>
        <a:spcPct val="0"/>
      </a:spcAft>
      <a:buClr>
        <a:srgbClr val="FF3300"/>
      </a:buClr>
      <a:buSzPct val="70000"/>
      <a:buFont typeface="Wingdings" pitchFamily="2" charset="2"/>
      <a:buChar char="|"/>
      <a:defRPr sz="2800" b="1" kern="1200">
        <a:solidFill>
          <a:schemeClr val="tx1"/>
        </a:solidFill>
        <a:latin typeface="Times New Roman" pitchFamily="18" charset="0"/>
        <a:ea typeface="宋体" pitchFamily="2" charset="-122"/>
        <a:cs typeface="+mn-cs"/>
      </a:defRPr>
    </a:lvl1pPr>
    <a:lvl2pPr marL="457200" algn="l" rtl="0" fontAlgn="base">
      <a:lnSpc>
        <a:spcPct val="90000"/>
      </a:lnSpc>
      <a:spcBef>
        <a:spcPct val="15000"/>
      </a:spcBef>
      <a:spcAft>
        <a:spcPct val="0"/>
      </a:spcAft>
      <a:buClr>
        <a:srgbClr val="FF3300"/>
      </a:buClr>
      <a:buSzPct val="70000"/>
      <a:buFont typeface="Wingdings" pitchFamily="2" charset="2"/>
      <a:buChar char="|"/>
      <a:defRPr sz="2800" b="1" kern="1200">
        <a:solidFill>
          <a:schemeClr val="tx1"/>
        </a:solidFill>
        <a:latin typeface="Times New Roman" pitchFamily="18" charset="0"/>
        <a:ea typeface="宋体" pitchFamily="2" charset="-122"/>
        <a:cs typeface="+mn-cs"/>
      </a:defRPr>
    </a:lvl2pPr>
    <a:lvl3pPr marL="914400" algn="l" rtl="0" fontAlgn="base">
      <a:lnSpc>
        <a:spcPct val="90000"/>
      </a:lnSpc>
      <a:spcBef>
        <a:spcPct val="15000"/>
      </a:spcBef>
      <a:spcAft>
        <a:spcPct val="0"/>
      </a:spcAft>
      <a:buClr>
        <a:srgbClr val="FF3300"/>
      </a:buClr>
      <a:buSzPct val="70000"/>
      <a:buFont typeface="Wingdings" pitchFamily="2" charset="2"/>
      <a:buChar char="|"/>
      <a:defRPr sz="2800" b="1" kern="1200">
        <a:solidFill>
          <a:schemeClr val="tx1"/>
        </a:solidFill>
        <a:latin typeface="Times New Roman" pitchFamily="18" charset="0"/>
        <a:ea typeface="宋体" pitchFamily="2" charset="-122"/>
        <a:cs typeface="+mn-cs"/>
      </a:defRPr>
    </a:lvl3pPr>
    <a:lvl4pPr marL="1371600" algn="l" rtl="0" fontAlgn="base">
      <a:lnSpc>
        <a:spcPct val="90000"/>
      </a:lnSpc>
      <a:spcBef>
        <a:spcPct val="15000"/>
      </a:spcBef>
      <a:spcAft>
        <a:spcPct val="0"/>
      </a:spcAft>
      <a:buClr>
        <a:srgbClr val="FF3300"/>
      </a:buClr>
      <a:buSzPct val="70000"/>
      <a:buFont typeface="Wingdings" pitchFamily="2" charset="2"/>
      <a:buChar char="|"/>
      <a:defRPr sz="2800" b="1" kern="1200">
        <a:solidFill>
          <a:schemeClr val="tx1"/>
        </a:solidFill>
        <a:latin typeface="Times New Roman" pitchFamily="18" charset="0"/>
        <a:ea typeface="宋体" pitchFamily="2" charset="-122"/>
        <a:cs typeface="+mn-cs"/>
      </a:defRPr>
    </a:lvl4pPr>
    <a:lvl5pPr marL="1828800" algn="l" rtl="0" fontAlgn="base">
      <a:lnSpc>
        <a:spcPct val="90000"/>
      </a:lnSpc>
      <a:spcBef>
        <a:spcPct val="15000"/>
      </a:spcBef>
      <a:spcAft>
        <a:spcPct val="0"/>
      </a:spcAft>
      <a:buClr>
        <a:srgbClr val="FF3300"/>
      </a:buClr>
      <a:buSzPct val="70000"/>
      <a:buFont typeface="Wingdings" pitchFamily="2" charset="2"/>
      <a:buChar char="|"/>
      <a:defRPr sz="2800" b="1" kern="1200">
        <a:solidFill>
          <a:schemeClr val="tx1"/>
        </a:solidFill>
        <a:latin typeface="Times New Roman" pitchFamily="18" charset="0"/>
        <a:ea typeface="宋体" pitchFamily="2" charset="-122"/>
        <a:cs typeface="+mn-cs"/>
      </a:defRPr>
    </a:lvl5pPr>
    <a:lvl6pPr marL="2286000" algn="l" defTabSz="914400" rtl="0" eaLnBrk="1" latinLnBrk="0" hangingPunct="1">
      <a:defRPr sz="2800" b="1" kern="1200">
        <a:solidFill>
          <a:schemeClr val="tx1"/>
        </a:solidFill>
        <a:latin typeface="Times New Roman" pitchFamily="18" charset="0"/>
        <a:ea typeface="宋体" pitchFamily="2" charset="-122"/>
        <a:cs typeface="+mn-cs"/>
      </a:defRPr>
    </a:lvl6pPr>
    <a:lvl7pPr marL="2743200" algn="l" defTabSz="914400" rtl="0" eaLnBrk="1" latinLnBrk="0" hangingPunct="1">
      <a:defRPr sz="2800" b="1" kern="1200">
        <a:solidFill>
          <a:schemeClr val="tx1"/>
        </a:solidFill>
        <a:latin typeface="Times New Roman" pitchFamily="18" charset="0"/>
        <a:ea typeface="宋体" pitchFamily="2" charset="-122"/>
        <a:cs typeface="+mn-cs"/>
      </a:defRPr>
    </a:lvl7pPr>
    <a:lvl8pPr marL="3200400" algn="l" defTabSz="914400" rtl="0" eaLnBrk="1" latinLnBrk="0" hangingPunct="1">
      <a:defRPr sz="2800" b="1" kern="1200">
        <a:solidFill>
          <a:schemeClr val="tx1"/>
        </a:solidFill>
        <a:latin typeface="Times New Roman" pitchFamily="18" charset="0"/>
        <a:ea typeface="宋体" pitchFamily="2" charset="-122"/>
        <a:cs typeface="+mn-cs"/>
      </a:defRPr>
    </a:lvl8pPr>
    <a:lvl9pPr marL="3657600" algn="l" defTabSz="914400" rtl="0" eaLnBrk="1" latinLnBrk="0" hangingPunct="1">
      <a:defRPr sz="2800" b="1"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3">
          <p15:clr>
            <a:srgbClr val="A4A3A4"/>
          </p15:clr>
        </p15:guide>
        <p15:guide id="2" pos="2237">
          <p15:clr>
            <a:srgbClr val="A4A3A4"/>
          </p15:clr>
        </p15:guide>
        <p15:guide id="3" orient="horz" pos="2736">
          <p15:clr>
            <a:srgbClr val="A4A3A4"/>
          </p15:clr>
        </p15:guide>
        <p15:guide id="4" pos="388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0000"/>
    <a:srgbClr val="336600"/>
    <a:srgbClr val="FFCC66"/>
    <a:srgbClr val="9999FF"/>
    <a:srgbClr val="990000"/>
    <a:srgbClr val="FF00FF"/>
    <a:srgbClr val="D60093"/>
    <a:srgbClr val="CCCCFF"/>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326" autoAdjust="0"/>
    <p:restoredTop sz="91568" autoAdjust="0"/>
  </p:normalViewPr>
  <p:slideViewPr>
    <p:cSldViewPr>
      <p:cViewPr varScale="1">
        <p:scale>
          <a:sx n="77" d="100"/>
          <a:sy n="77" d="100"/>
        </p:scale>
        <p:origin x="726" y="90"/>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 r:id="rId33" collapse="1"/>
      <p:sld r:id="rId34" collapse="1"/>
      <p:sld r:id="rId35" collapse="1"/>
      <p:sld r:id="rId36" collapse="1"/>
      <p:sld r:id="rId37" collapse="1"/>
      <p:sld r:id="rId38" collapse="1"/>
      <p:sld r:id="rId39" collapse="1"/>
      <p:sld r:id="rId40" collapse="1"/>
      <p:sld r:id="rId41" collapse="1"/>
      <p:sld r:id="rId42" collapse="1"/>
      <p:sld r:id="rId43" collapse="1"/>
      <p:sld r:id="rId44" collapse="1"/>
      <p:sld r:id="rId45" collapse="1"/>
      <p:sld r:id="rId46" collapse="1"/>
      <p:sld r:id="rId47" collapse="1"/>
      <p:sld r:id="rId48" collapse="1"/>
      <p:sld r:id="rId49" collapse="1"/>
      <p:sld r:id="rId50" collapse="1"/>
      <p:sld r:id="rId51" collapse="1"/>
      <p:sld r:id="rId52" collapse="1"/>
      <p:sld r:id="rId53" collapse="1"/>
      <p:sld r:id="rId54" collapse="1"/>
      <p:sld r:id="rId55" collapse="1"/>
      <p:sld r:id="rId56" collapse="1"/>
      <p:sld r:id="rId57" collapse="1"/>
      <p:sld r:id="rId58" collapse="1"/>
      <p:sld r:id="rId59" collapse="1"/>
      <p:sld r:id="rId60" collapse="1"/>
      <p:sld r:id="rId61" collapse="1"/>
      <p:sld r:id="rId62" collapse="1"/>
      <p:sld r:id="rId63" collapse="1"/>
      <p:sld r:id="rId64" collapse="1"/>
      <p:sld r:id="rId65" collapse="1"/>
      <p:sld r:id="rId66" collapse="1"/>
      <p:sld r:id="rId67" collapse="1"/>
      <p:sld r:id="rId68" collapse="1"/>
      <p:sld r:id="rId69" collapse="1"/>
      <p:sld r:id="rId70" collapse="1"/>
      <p:sld r:id="rId71" collapse="1"/>
    </p:sldLst>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43" d="100"/>
          <a:sy n="43" d="100"/>
        </p:scale>
        <p:origin x="-2794" y="-67"/>
      </p:cViewPr>
      <p:guideLst>
        <p:guide orient="horz" pos="3223"/>
        <p:guide pos="2237"/>
        <p:guide orient="horz" pos="2736"/>
        <p:guide pos="3888"/>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handoutMaster" Target="handoutMasters/handout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_rels/viewProps.xml.rels><?xml version="1.0" encoding="UTF-8" standalone="yes"?>
<Relationships xmlns="http://schemas.openxmlformats.org/package/2006/relationships"><Relationship Id="rId13" Type="http://schemas.openxmlformats.org/officeDocument/2006/relationships/slide" Target="slides/slide16.xml"/><Relationship Id="rId18" Type="http://schemas.openxmlformats.org/officeDocument/2006/relationships/slide" Target="slides/slide21.xml"/><Relationship Id="rId26" Type="http://schemas.openxmlformats.org/officeDocument/2006/relationships/slide" Target="slides/slide29.xml"/><Relationship Id="rId39" Type="http://schemas.openxmlformats.org/officeDocument/2006/relationships/slide" Target="slides/slide42.xml"/><Relationship Id="rId21" Type="http://schemas.openxmlformats.org/officeDocument/2006/relationships/slide" Target="slides/slide24.xml"/><Relationship Id="rId34" Type="http://schemas.openxmlformats.org/officeDocument/2006/relationships/slide" Target="slides/slide37.xml"/><Relationship Id="rId42" Type="http://schemas.openxmlformats.org/officeDocument/2006/relationships/slide" Target="slides/slide45.xml"/><Relationship Id="rId47" Type="http://schemas.openxmlformats.org/officeDocument/2006/relationships/slide" Target="slides/slide50.xml"/><Relationship Id="rId50" Type="http://schemas.openxmlformats.org/officeDocument/2006/relationships/slide" Target="slides/slide53.xml"/><Relationship Id="rId55" Type="http://schemas.openxmlformats.org/officeDocument/2006/relationships/slide" Target="slides/slide59.xml"/><Relationship Id="rId63" Type="http://schemas.openxmlformats.org/officeDocument/2006/relationships/slide" Target="slides/slide67.xml"/><Relationship Id="rId68" Type="http://schemas.openxmlformats.org/officeDocument/2006/relationships/slide" Target="slides/slide72.xml"/><Relationship Id="rId7" Type="http://schemas.openxmlformats.org/officeDocument/2006/relationships/slide" Target="slides/slide8.xml"/><Relationship Id="rId71" Type="http://schemas.openxmlformats.org/officeDocument/2006/relationships/slide" Target="slides/slide75.xml"/><Relationship Id="rId2" Type="http://schemas.openxmlformats.org/officeDocument/2006/relationships/slide" Target="slides/slide2.xml"/><Relationship Id="rId16" Type="http://schemas.openxmlformats.org/officeDocument/2006/relationships/slide" Target="slides/slide19.xml"/><Relationship Id="rId29" Type="http://schemas.openxmlformats.org/officeDocument/2006/relationships/slide" Target="slides/slide32.xml"/><Relationship Id="rId1" Type="http://schemas.openxmlformats.org/officeDocument/2006/relationships/slide" Target="slides/slide1.xml"/><Relationship Id="rId6" Type="http://schemas.openxmlformats.org/officeDocument/2006/relationships/slide" Target="slides/slide7.xml"/><Relationship Id="rId11" Type="http://schemas.openxmlformats.org/officeDocument/2006/relationships/slide" Target="slides/slide14.xml"/><Relationship Id="rId24" Type="http://schemas.openxmlformats.org/officeDocument/2006/relationships/slide" Target="slides/slide27.xml"/><Relationship Id="rId32" Type="http://schemas.openxmlformats.org/officeDocument/2006/relationships/slide" Target="slides/slide35.xml"/><Relationship Id="rId37" Type="http://schemas.openxmlformats.org/officeDocument/2006/relationships/slide" Target="slides/slide40.xml"/><Relationship Id="rId40" Type="http://schemas.openxmlformats.org/officeDocument/2006/relationships/slide" Target="slides/slide43.xml"/><Relationship Id="rId45" Type="http://schemas.openxmlformats.org/officeDocument/2006/relationships/slide" Target="slides/slide48.xml"/><Relationship Id="rId53" Type="http://schemas.openxmlformats.org/officeDocument/2006/relationships/slide" Target="slides/slide56.xml"/><Relationship Id="rId58" Type="http://schemas.openxmlformats.org/officeDocument/2006/relationships/slide" Target="slides/slide62.xml"/><Relationship Id="rId66" Type="http://schemas.openxmlformats.org/officeDocument/2006/relationships/slide" Target="slides/slide70.xml"/><Relationship Id="rId5" Type="http://schemas.openxmlformats.org/officeDocument/2006/relationships/slide" Target="slides/slide5.xml"/><Relationship Id="rId15" Type="http://schemas.openxmlformats.org/officeDocument/2006/relationships/slide" Target="slides/slide18.xml"/><Relationship Id="rId23" Type="http://schemas.openxmlformats.org/officeDocument/2006/relationships/slide" Target="slides/slide26.xml"/><Relationship Id="rId28" Type="http://schemas.openxmlformats.org/officeDocument/2006/relationships/slide" Target="slides/slide31.xml"/><Relationship Id="rId36" Type="http://schemas.openxmlformats.org/officeDocument/2006/relationships/slide" Target="slides/slide39.xml"/><Relationship Id="rId49" Type="http://schemas.openxmlformats.org/officeDocument/2006/relationships/slide" Target="slides/slide52.xml"/><Relationship Id="rId57" Type="http://schemas.openxmlformats.org/officeDocument/2006/relationships/slide" Target="slides/slide61.xml"/><Relationship Id="rId61" Type="http://schemas.openxmlformats.org/officeDocument/2006/relationships/slide" Target="slides/slide65.xml"/><Relationship Id="rId10" Type="http://schemas.openxmlformats.org/officeDocument/2006/relationships/slide" Target="slides/slide13.xml"/><Relationship Id="rId19" Type="http://schemas.openxmlformats.org/officeDocument/2006/relationships/slide" Target="slides/slide22.xml"/><Relationship Id="rId31" Type="http://schemas.openxmlformats.org/officeDocument/2006/relationships/slide" Target="slides/slide34.xml"/><Relationship Id="rId44" Type="http://schemas.openxmlformats.org/officeDocument/2006/relationships/slide" Target="slides/slide47.xml"/><Relationship Id="rId52" Type="http://schemas.openxmlformats.org/officeDocument/2006/relationships/slide" Target="slides/slide55.xml"/><Relationship Id="rId60" Type="http://schemas.openxmlformats.org/officeDocument/2006/relationships/slide" Target="slides/slide64.xml"/><Relationship Id="rId65" Type="http://schemas.openxmlformats.org/officeDocument/2006/relationships/slide" Target="slides/slide69.xml"/><Relationship Id="rId4" Type="http://schemas.openxmlformats.org/officeDocument/2006/relationships/slide" Target="slides/slide4.xml"/><Relationship Id="rId9" Type="http://schemas.openxmlformats.org/officeDocument/2006/relationships/slide" Target="slides/slide12.xml"/><Relationship Id="rId14" Type="http://schemas.openxmlformats.org/officeDocument/2006/relationships/slide" Target="slides/slide17.xml"/><Relationship Id="rId22" Type="http://schemas.openxmlformats.org/officeDocument/2006/relationships/slide" Target="slides/slide25.xml"/><Relationship Id="rId27" Type="http://schemas.openxmlformats.org/officeDocument/2006/relationships/slide" Target="slides/slide30.xml"/><Relationship Id="rId30" Type="http://schemas.openxmlformats.org/officeDocument/2006/relationships/slide" Target="slides/slide33.xml"/><Relationship Id="rId35" Type="http://schemas.openxmlformats.org/officeDocument/2006/relationships/slide" Target="slides/slide38.xml"/><Relationship Id="rId43" Type="http://schemas.openxmlformats.org/officeDocument/2006/relationships/slide" Target="slides/slide46.xml"/><Relationship Id="rId48" Type="http://schemas.openxmlformats.org/officeDocument/2006/relationships/slide" Target="slides/slide51.xml"/><Relationship Id="rId56" Type="http://schemas.openxmlformats.org/officeDocument/2006/relationships/slide" Target="slides/slide60.xml"/><Relationship Id="rId64" Type="http://schemas.openxmlformats.org/officeDocument/2006/relationships/slide" Target="slides/slide68.xml"/><Relationship Id="rId69" Type="http://schemas.openxmlformats.org/officeDocument/2006/relationships/slide" Target="slides/slide73.xml"/><Relationship Id="rId8" Type="http://schemas.openxmlformats.org/officeDocument/2006/relationships/slide" Target="slides/slide11.xml"/><Relationship Id="rId51" Type="http://schemas.openxmlformats.org/officeDocument/2006/relationships/slide" Target="slides/slide54.xml"/><Relationship Id="rId3" Type="http://schemas.openxmlformats.org/officeDocument/2006/relationships/slide" Target="slides/slide3.xml"/><Relationship Id="rId12" Type="http://schemas.openxmlformats.org/officeDocument/2006/relationships/slide" Target="slides/slide15.xml"/><Relationship Id="rId17" Type="http://schemas.openxmlformats.org/officeDocument/2006/relationships/slide" Target="slides/slide20.xml"/><Relationship Id="rId25" Type="http://schemas.openxmlformats.org/officeDocument/2006/relationships/slide" Target="slides/slide28.xml"/><Relationship Id="rId33" Type="http://schemas.openxmlformats.org/officeDocument/2006/relationships/slide" Target="slides/slide36.xml"/><Relationship Id="rId38" Type="http://schemas.openxmlformats.org/officeDocument/2006/relationships/slide" Target="slides/slide41.xml"/><Relationship Id="rId46" Type="http://schemas.openxmlformats.org/officeDocument/2006/relationships/slide" Target="slides/slide49.xml"/><Relationship Id="rId59" Type="http://schemas.openxmlformats.org/officeDocument/2006/relationships/slide" Target="slides/slide63.xml"/><Relationship Id="rId67" Type="http://schemas.openxmlformats.org/officeDocument/2006/relationships/slide" Target="slides/slide71.xml"/><Relationship Id="rId20" Type="http://schemas.openxmlformats.org/officeDocument/2006/relationships/slide" Target="slides/slide23.xml"/><Relationship Id="rId41" Type="http://schemas.openxmlformats.org/officeDocument/2006/relationships/slide" Target="slides/slide44.xml"/><Relationship Id="rId54" Type="http://schemas.openxmlformats.org/officeDocument/2006/relationships/slide" Target="slides/slide58.xml"/><Relationship Id="rId62" Type="http://schemas.openxmlformats.org/officeDocument/2006/relationships/slide" Target="slides/slide66.xml"/><Relationship Id="rId70" Type="http://schemas.openxmlformats.org/officeDocument/2006/relationships/slide" Target="slides/slide7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灯片编号占位符 4"/>
          <p:cNvSpPr>
            <a:spLocks noGrp="1"/>
          </p:cNvSpPr>
          <p:nvPr>
            <p:ph type="sldNum" sz="quarter" idx="3"/>
          </p:nvPr>
        </p:nvSpPr>
        <p:spPr>
          <a:xfrm>
            <a:off x="6991666" y="8251518"/>
            <a:ext cx="5349976" cy="433935"/>
          </a:xfrm>
          <a:prstGeom prst="rect">
            <a:avLst/>
          </a:prstGeom>
        </p:spPr>
        <p:txBody>
          <a:bodyPr vert="horz" lIns="120150" tIns="60074" rIns="120150" bIns="60074" rtlCol="0" anchor="b"/>
          <a:lstStyle>
            <a:lvl1pPr algn="r">
              <a:defRPr sz="1600"/>
            </a:lvl1pPr>
          </a:lstStyle>
          <a:p>
            <a:pPr>
              <a:defRPr/>
            </a:pPr>
            <a:fld id="{A232AA8A-1CC4-4028-A4E6-6796F3FA4AC8}" type="slidenum">
              <a:rPr lang="zh-CN" altLang="en-US"/>
              <a:pPr>
                <a:defRPr/>
              </a:pPr>
              <a:t>‹#›</a:t>
            </a:fld>
            <a:endParaRPr lang="zh-CN" altLang="en-US"/>
          </a:p>
        </p:txBody>
      </p:sp>
    </p:spTree>
    <p:extLst>
      <p:ext uri="{BB962C8B-B14F-4D97-AF65-F5344CB8AC3E}">
        <p14:creationId xmlns:p14="http://schemas.microsoft.com/office/powerpoint/2010/main" val="37424165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1" y="1"/>
            <a:ext cx="5349976" cy="433935"/>
          </a:xfrm>
          <a:prstGeom prst="rect">
            <a:avLst/>
          </a:prstGeom>
          <a:noFill/>
          <a:ln w="9525">
            <a:noFill/>
            <a:miter lim="800000"/>
            <a:headEnd/>
            <a:tailEnd/>
          </a:ln>
          <a:effectLst/>
        </p:spPr>
        <p:txBody>
          <a:bodyPr vert="horz" wrap="square" lIns="120150" tIns="60074" rIns="120150" bIns="60074" numCol="1" anchor="t" anchorCtr="0" compatLnSpc="1">
            <a:prstTxWarp prst="textNoShape">
              <a:avLst/>
            </a:prstTxWarp>
          </a:bodyPr>
          <a:lstStyle>
            <a:lvl1pPr>
              <a:lnSpc>
                <a:spcPct val="100000"/>
              </a:lnSpc>
              <a:spcBef>
                <a:spcPct val="0"/>
              </a:spcBef>
              <a:buClrTx/>
              <a:buSzTx/>
              <a:buFontTx/>
              <a:buNone/>
              <a:defRPr sz="1600" b="0">
                <a:latin typeface="Arial" charset="0"/>
              </a:defRPr>
            </a:lvl1pPr>
          </a:lstStyle>
          <a:p>
            <a:pPr>
              <a:defRPr/>
            </a:pPr>
            <a:endParaRPr lang="en-US" altLang="zh-CN" dirty="0"/>
          </a:p>
        </p:txBody>
      </p:sp>
      <p:sp>
        <p:nvSpPr>
          <p:cNvPr id="36867" name="Rectangle 3"/>
          <p:cNvSpPr>
            <a:spLocks noGrp="1" noChangeArrowheads="1"/>
          </p:cNvSpPr>
          <p:nvPr>
            <p:ph type="dt" idx="1"/>
          </p:nvPr>
        </p:nvSpPr>
        <p:spPr bwMode="auto">
          <a:xfrm>
            <a:off x="6991666" y="1"/>
            <a:ext cx="5349976" cy="433935"/>
          </a:xfrm>
          <a:prstGeom prst="rect">
            <a:avLst/>
          </a:prstGeom>
          <a:noFill/>
          <a:ln w="9525">
            <a:noFill/>
            <a:miter lim="800000"/>
            <a:headEnd/>
            <a:tailEnd/>
          </a:ln>
          <a:effectLst/>
        </p:spPr>
        <p:txBody>
          <a:bodyPr vert="horz" wrap="square" lIns="120150" tIns="60074" rIns="120150" bIns="60074" numCol="1" anchor="t" anchorCtr="0" compatLnSpc="1">
            <a:prstTxWarp prst="textNoShape">
              <a:avLst/>
            </a:prstTxWarp>
          </a:bodyPr>
          <a:lstStyle>
            <a:lvl1pPr algn="r">
              <a:lnSpc>
                <a:spcPct val="100000"/>
              </a:lnSpc>
              <a:spcBef>
                <a:spcPct val="0"/>
              </a:spcBef>
              <a:buClrTx/>
              <a:buSzTx/>
              <a:buFontTx/>
              <a:buNone/>
              <a:defRPr sz="1600" b="0">
                <a:latin typeface="Arial" charset="0"/>
              </a:defRPr>
            </a:lvl1pPr>
          </a:lstStyle>
          <a:p>
            <a:pPr>
              <a:defRPr/>
            </a:pPr>
            <a:endParaRPr lang="en-US" altLang="zh-CN" dirty="0"/>
          </a:p>
        </p:txBody>
      </p:sp>
      <p:sp>
        <p:nvSpPr>
          <p:cNvPr id="71684" name="Rectangle 4"/>
          <p:cNvSpPr>
            <a:spLocks noGrp="1" noRot="1" noChangeAspect="1" noChangeArrowheads="1" noTextEdit="1"/>
          </p:cNvSpPr>
          <p:nvPr>
            <p:ph type="sldImg" idx="2"/>
          </p:nvPr>
        </p:nvSpPr>
        <p:spPr bwMode="auto">
          <a:xfrm>
            <a:off x="3998913" y="650875"/>
            <a:ext cx="4346575" cy="3260725"/>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1236097" y="4127780"/>
            <a:ext cx="9872209" cy="3906769"/>
          </a:xfrm>
          <a:prstGeom prst="rect">
            <a:avLst/>
          </a:prstGeom>
          <a:noFill/>
          <a:ln w="9525">
            <a:noFill/>
            <a:miter lim="800000"/>
            <a:headEnd/>
            <a:tailEnd/>
          </a:ln>
          <a:effectLst/>
        </p:spPr>
        <p:txBody>
          <a:bodyPr vert="horz" wrap="square" lIns="120150" tIns="60074" rIns="120150" bIns="60074"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36870" name="Rectangle 6"/>
          <p:cNvSpPr>
            <a:spLocks noGrp="1" noChangeArrowheads="1"/>
          </p:cNvSpPr>
          <p:nvPr>
            <p:ph type="ftr" sz="quarter" idx="4"/>
          </p:nvPr>
        </p:nvSpPr>
        <p:spPr bwMode="auto">
          <a:xfrm>
            <a:off x="1" y="8251518"/>
            <a:ext cx="5349976" cy="433935"/>
          </a:xfrm>
          <a:prstGeom prst="rect">
            <a:avLst/>
          </a:prstGeom>
          <a:noFill/>
          <a:ln w="9525">
            <a:noFill/>
            <a:miter lim="800000"/>
            <a:headEnd/>
            <a:tailEnd/>
          </a:ln>
          <a:effectLst/>
        </p:spPr>
        <p:txBody>
          <a:bodyPr vert="horz" wrap="square" lIns="120150" tIns="60074" rIns="120150" bIns="60074" numCol="1" anchor="b" anchorCtr="0" compatLnSpc="1">
            <a:prstTxWarp prst="textNoShape">
              <a:avLst/>
            </a:prstTxWarp>
          </a:bodyPr>
          <a:lstStyle>
            <a:lvl1pPr>
              <a:lnSpc>
                <a:spcPct val="100000"/>
              </a:lnSpc>
              <a:spcBef>
                <a:spcPct val="0"/>
              </a:spcBef>
              <a:buClrTx/>
              <a:buSzTx/>
              <a:buFontTx/>
              <a:buNone/>
              <a:defRPr sz="1600" b="0">
                <a:latin typeface="Arial" charset="0"/>
              </a:defRPr>
            </a:lvl1pPr>
          </a:lstStyle>
          <a:p>
            <a:pPr>
              <a:defRPr/>
            </a:pPr>
            <a:endParaRPr lang="en-US" altLang="zh-CN" dirty="0"/>
          </a:p>
        </p:txBody>
      </p:sp>
      <p:sp>
        <p:nvSpPr>
          <p:cNvPr id="36871" name="Rectangle 7"/>
          <p:cNvSpPr>
            <a:spLocks noGrp="1" noChangeArrowheads="1"/>
          </p:cNvSpPr>
          <p:nvPr>
            <p:ph type="sldNum" sz="quarter" idx="5"/>
          </p:nvPr>
        </p:nvSpPr>
        <p:spPr bwMode="auto">
          <a:xfrm>
            <a:off x="6991666" y="8251518"/>
            <a:ext cx="5349976" cy="433935"/>
          </a:xfrm>
          <a:prstGeom prst="rect">
            <a:avLst/>
          </a:prstGeom>
          <a:noFill/>
          <a:ln w="9525">
            <a:noFill/>
            <a:miter lim="800000"/>
            <a:headEnd/>
            <a:tailEnd/>
          </a:ln>
          <a:effectLst/>
        </p:spPr>
        <p:txBody>
          <a:bodyPr vert="horz" wrap="square" lIns="120150" tIns="60074" rIns="120150" bIns="60074" numCol="1" anchor="b" anchorCtr="0" compatLnSpc="1">
            <a:prstTxWarp prst="textNoShape">
              <a:avLst/>
            </a:prstTxWarp>
          </a:bodyPr>
          <a:lstStyle>
            <a:lvl1pPr algn="r">
              <a:lnSpc>
                <a:spcPct val="100000"/>
              </a:lnSpc>
              <a:spcBef>
                <a:spcPct val="0"/>
              </a:spcBef>
              <a:buClrTx/>
              <a:buSzTx/>
              <a:buFontTx/>
              <a:buNone/>
              <a:defRPr sz="1600" b="0">
                <a:latin typeface="Arial" charset="0"/>
              </a:defRPr>
            </a:lvl1pPr>
          </a:lstStyle>
          <a:p>
            <a:pPr>
              <a:defRPr/>
            </a:pPr>
            <a:fld id="{F0DBD6AC-5849-4D90-9D75-B7E4F7CA0771}" type="slidenum">
              <a:rPr lang="en-US" altLang="zh-CN"/>
              <a:pPr>
                <a:defRPr/>
              </a:pPr>
              <a:t>‹#›</a:t>
            </a:fld>
            <a:endParaRPr lang="en-US" altLang="zh-CN" dirty="0"/>
          </a:p>
        </p:txBody>
      </p:sp>
    </p:spTree>
    <p:extLst>
      <p:ext uri="{BB962C8B-B14F-4D97-AF65-F5344CB8AC3E}">
        <p14:creationId xmlns:p14="http://schemas.microsoft.com/office/powerpoint/2010/main" val="8985990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p:cNvSpPr>
            <a:spLocks noGrp="1" noRot="1" noChangeAspect="1" noTextEdit="1"/>
          </p:cNvSpPr>
          <p:nvPr>
            <p:ph type="sldImg"/>
          </p:nvPr>
        </p:nvSpPr>
        <p:spPr>
          <a:ln/>
        </p:spPr>
      </p:sp>
      <p:sp>
        <p:nvSpPr>
          <p:cNvPr id="72707" name="备注占位符 2"/>
          <p:cNvSpPr>
            <a:spLocks noGrp="1"/>
          </p:cNvSpPr>
          <p:nvPr>
            <p:ph type="body" idx="1"/>
          </p:nvPr>
        </p:nvSpPr>
        <p:spPr>
          <a:noFill/>
          <a:ln/>
        </p:spPr>
        <p:txBody>
          <a:bodyPr/>
          <a:lstStyle/>
          <a:p>
            <a:endParaRPr lang="zh-CN" altLang="en-US" dirty="0" smtClean="0"/>
          </a:p>
        </p:txBody>
      </p:sp>
      <p:sp>
        <p:nvSpPr>
          <p:cNvPr id="72708" name="灯片编号占位符 3"/>
          <p:cNvSpPr>
            <a:spLocks noGrp="1"/>
          </p:cNvSpPr>
          <p:nvPr>
            <p:ph type="sldNum" sz="quarter" idx="5"/>
          </p:nvPr>
        </p:nvSpPr>
        <p:spPr>
          <a:noFill/>
        </p:spPr>
        <p:txBody>
          <a:bodyPr/>
          <a:lstStyle/>
          <a:p>
            <a:fld id="{77248378-95D2-4E8A-A72F-B06D48F721AA}" type="slidenum">
              <a:rPr lang="en-US" altLang="zh-CN" smtClean="0"/>
              <a:pPr/>
              <a:t>1</a:t>
            </a:fld>
            <a:endParaRPr lang="en-US" altLang="zh-CN"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p:cNvSpPr>
            <a:spLocks noGrp="1" noRot="1" noChangeAspect="1" noTextEdit="1"/>
          </p:cNvSpPr>
          <p:nvPr>
            <p:ph type="sldImg"/>
          </p:nvPr>
        </p:nvSpPr>
        <p:spPr>
          <a:ln/>
        </p:spPr>
      </p:sp>
      <p:sp>
        <p:nvSpPr>
          <p:cNvPr id="72707" name="备注占位符 2"/>
          <p:cNvSpPr>
            <a:spLocks noGrp="1"/>
          </p:cNvSpPr>
          <p:nvPr>
            <p:ph type="body" idx="1"/>
          </p:nvPr>
        </p:nvSpPr>
        <p:spPr>
          <a:noFill/>
          <a:ln/>
        </p:spPr>
        <p:txBody>
          <a:bodyPr/>
          <a:lstStyle/>
          <a:p>
            <a:endParaRPr lang="zh-CN" altLang="en-US" smtClean="0"/>
          </a:p>
        </p:txBody>
      </p:sp>
      <p:sp>
        <p:nvSpPr>
          <p:cNvPr id="72708" name="灯片编号占位符 3"/>
          <p:cNvSpPr>
            <a:spLocks noGrp="1"/>
          </p:cNvSpPr>
          <p:nvPr>
            <p:ph type="sldNum" sz="quarter" idx="5"/>
          </p:nvPr>
        </p:nvSpPr>
        <p:spPr>
          <a:noFill/>
        </p:spPr>
        <p:txBody>
          <a:bodyPr/>
          <a:lstStyle/>
          <a:p>
            <a:fld id="{77248378-95D2-4E8A-A72F-B06D48F721AA}" type="slidenum">
              <a:rPr lang="en-US" altLang="zh-CN" smtClean="0"/>
              <a:pPr/>
              <a:t>5</a:t>
            </a:fld>
            <a:endParaRPr lang="en-US" altLang="zh-CN" dirty="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F0DBD6AC-5849-4D90-9D75-B7E4F7CA0771}" type="slidenum">
              <a:rPr lang="en-US" altLang="zh-CN" smtClean="0"/>
              <a:pPr>
                <a:defRPr/>
              </a:pPr>
              <a:t>6</a:t>
            </a:fld>
            <a:endParaRPr lang="en-US"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defTabSz="1109259">
              <a:defRPr/>
            </a:pPr>
            <a:r>
              <a:rPr lang="zh-CN" altLang="en-US" dirty="0" smtClean="0">
                <a:solidFill>
                  <a:srgbClr val="FF0000"/>
                </a:solidFill>
              </a:rPr>
              <a:t>知乎，搜狐等：</a:t>
            </a:r>
            <a:endParaRPr lang="en-US" altLang="zh-CN" dirty="0" smtClean="0">
              <a:solidFill>
                <a:srgbClr val="FF0000"/>
              </a:solidFill>
            </a:endParaRPr>
          </a:p>
          <a:p>
            <a:pPr defTabSz="1109259">
              <a:defRPr/>
            </a:pPr>
            <a:r>
              <a:rPr lang="en-US" altLang="zh-CN" dirty="0" smtClean="0">
                <a:solidFill>
                  <a:srgbClr val="FF0000"/>
                </a:solidFill>
              </a:rPr>
              <a:t>R0</a:t>
            </a:r>
            <a:r>
              <a:rPr lang="en-US" altLang="zh-CN" sz="1500" dirty="0" smtClean="0">
                <a:latin typeface="+mn-ea"/>
              </a:rPr>
              <a:t>(</a:t>
            </a:r>
            <a:r>
              <a:rPr lang="zh-CN" altLang="en-US" sz="1500" dirty="0" smtClean="0">
                <a:latin typeface="+mn-ea"/>
              </a:rPr>
              <a:t>基本传染数，</a:t>
            </a:r>
            <a:r>
              <a:rPr lang="zh-CN" altLang="en-US" sz="1500" dirty="0" smtClean="0"/>
              <a:t>基本再生数</a:t>
            </a:r>
            <a:r>
              <a:rPr lang="zh-CN" altLang="en-US" sz="1500" dirty="0" smtClean="0">
                <a:latin typeface="+mn-ea"/>
              </a:rPr>
              <a:t>）</a:t>
            </a:r>
            <a:r>
              <a:rPr lang="en-US" altLang="zh-CN" sz="1500" dirty="0" smtClean="0">
                <a:latin typeface="+mn-ea"/>
              </a:rPr>
              <a:t>——</a:t>
            </a:r>
            <a:r>
              <a:rPr lang="zh-CN" altLang="en-US" sz="1500" dirty="0" smtClean="0">
                <a:latin typeface="+mn-ea"/>
              </a:rPr>
              <a:t>有的也称传染指数。是</a:t>
            </a:r>
            <a:r>
              <a:rPr lang="zh-CN" altLang="en-US" dirty="0" smtClean="0"/>
              <a:t>流行病学中常用的一个概念。</a:t>
            </a:r>
            <a:br>
              <a:rPr lang="zh-CN" altLang="en-US" dirty="0" smtClean="0"/>
            </a:br>
            <a:r>
              <a:rPr lang="zh-CN" altLang="en-US" dirty="0" smtClean="0"/>
              <a:t>含义：</a:t>
            </a:r>
            <a:r>
              <a:rPr lang="zh-CN" altLang="en-US" b="1" dirty="0" smtClean="0">
                <a:solidFill>
                  <a:srgbClr val="FF00FF"/>
                </a:solidFill>
              </a:rPr>
              <a:t>在没有外力介入（控制）、所有人都没有免疫力的情况下的前提下，一个感染某种传染病的人会传染给其他多少个人的平均数</a:t>
            </a:r>
            <a:r>
              <a:rPr lang="zh-CN" altLang="en-US" dirty="0" smtClean="0"/>
              <a:t>。</a:t>
            </a:r>
            <a:endParaRPr lang="en-US" altLang="zh-CN" dirty="0" smtClean="0"/>
          </a:p>
          <a:p>
            <a:pPr defTabSz="1109259">
              <a:defRPr/>
            </a:pPr>
            <a:r>
              <a:rPr lang="en-US" altLang="zh-CN" sz="1500" dirty="0" smtClean="0"/>
              <a:t>R0</a:t>
            </a:r>
            <a:r>
              <a:rPr lang="zh-CN" altLang="en-US" sz="1500" dirty="0" smtClean="0"/>
              <a:t>的一个重要临界点是</a:t>
            </a:r>
            <a:r>
              <a:rPr lang="en-US" altLang="zh-CN" sz="1500" dirty="0" smtClean="0"/>
              <a:t>R0=1</a:t>
            </a:r>
            <a:r>
              <a:rPr lang="zh-CN" altLang="en-US" sz="1500" dirty="0" smtClean="0"/>
              <a:t>，</a:t>
            </a:r>
            <a:r>
              <a:rPr lang="en-US" altLang="zh-CN" sz="1500" dirty="0" smtClean="0"/>
              <a:t>R0</a:t>
            </a:r>
            <a:r>
              <a:rPr lang="zh-CN" altLang="en-US" sz="1500" dirty="0" smtClean="0"/>
              <a:t>的数字越大，代表流行病的越难控制。</a:t>
            </a:r>
          </a:p>
          <a:p>
            <a:pPr defTabSz="1109259">
              <a:defRPr/>
            </a:pPr>
            <a:r>
              <a:rPr lang="en-US" altLang="zh-CN" sz="1500" dirty="0" smtClean="0"/>
              <a:t>R0=1</a:t>
            </a:r>
            <a:r>
              <a:rPr lang="zh-CN" altLang="en-US" sz="1500" dirty="0" smtClean="0"/>
              <a:t>一个人只能传染给另一个人，像击鼓传花一样，花始终在一个人身上。</a:t>
            </a:r>
            <a:endParaRPr lang="en-US" altLang="zh-CN" sz="1500" dirty="0" smtClean="0"/>
          </a:p>
          <a:p>
            <a:r>
              <a:rPr lang="en-US" altLang="zh-CN" sz="1500" dirty="0" smtClean="0"/>
              <a:t>R0&lt;1</a:t>
            </a:r>
            <a:r>
              <a:rPr lang="zh-CN" altLang="en-US" sz="1500" dirty="0" smtClean="0"/>
              <a:t>，传染病将会逐渐消失。</a:t>
            </a:r>
            <a:endParaRPr lang="en-US" altLang="zh-CN" sz="1500" dirty="0" smtClean="0"/>
          </a:p>
          <a:p>
            <a:r>
              <a:rPr lang="en-US" altLang="zh-CN" sz="1500" dirty="0" smtClean="0"/>
              <a:t>R0&gt;1</a:t>
            </a:r>
            <a:r>
              <a:rPr lang="zh-CN" altLang="en-US" sz="1500" dirty="0" smtClean="0"/>
              <a:t>，传染病以指数方式散布。但是不会永远持续，因为要么全部被团灭，没有健康的人了。要么有些人病愈后产生免疫力。</a:t>
            </a:r>
            <a:endParaRPr lang="en-US" altLang="zh-CN" sz="1500" dirty="0" smtClean="0"/>
          </a:p>
          <a:p>
            <a:r>
              <a:rPr lang="zh-CN" altLang="en-US" sz="1500" dirty="0" smtClean="0"/>
              <a:t>计算</a:t>
            </a:r>
            <a:r>
              <a:rPr lang="en-US" altLang="zh-CN" sz="1500" dirty="0" smtClean="0"/>
              <a:t>——</a:t>
            </a:r>
            <a:r>
              <a:rPr lang="zh-CN" altLang="en-US" sz="1500" dirty="0" smtClean="0"/>
              <a:t>模型测算。参见</a:t>
            </a:r>
            <a:r>
              <a:rPr lang="en-US" altLang="zh-CN" sz="1500" dirty="0" smtClean="0"/>
              <a:t>《</a:t>
            </a:r>
            <a:r>
              <a:rPr lang="zh-CN" altLang="en-US" sz="1500" dirty="0" smtClean="0"/>
              <a:t>几类传染病模型中基本再生数的计算</a:t>
            </a:r>
            <a:r>
              <a:rPr lang="en-US" altLang="zh-CN" sz="1500" dirty="0" smtClean="0"/>
              <a:t>》—2017.4《</a:t>
            </a:r>
            <a:r>
              <a:rPr lang="zh-CN" altLang="en-US" sz="1500" dirty="0" smtClean="0"/>
              <a:t>复杂系统与复杂性科学</a:t>
            </a:r>
            <a:r>
              <a:rPr lang="en-US" altLang="zh-CN" sz="1500" dirty="0" smtClean="0"/>
              <a:t>》</a:t>
            </a:r>
            <a:endParaRPr lang="en-US" altLang="zh-CN" sz="1500" dirty="0" smtClean="0">
              <a:latin typeface="+mn-ea"/>
            </a:endParaRPr>
          </a:p>
          <a:p>
            <a:endParaRPr lang="zh-CN" altLang="en-US" dirty="0"/>
          </a:p>
        </p:txBody>
      </p:sp>
      <p:sp>
        <p:nvSpPr>
          <p:cNvPr id="4" name="灯片编号占位符 3"/>
          <p:cNvSpPr>
            <a:spLocks noGrp="1"/>
          </p:cNvSpPr>
          <p:nvPr>
            <p:ph type="sldNum" sz="quarter" idx="10"/>
          </p:nvPr>
        </p:nvSpPr>
        <p:spPr/>
        <p:txBody>
          <a:bodyPr/>
          <a:lstStyle/>
          <a:p>
            <a:pPr>
              <a:defRPr/>
            </a:pPr>
            <a:fld id="{F0DBD6AC-5849-4D90-9D75-B7E4F7CA0771}" type="slidenum">
              <a:rPr lang="en-US" altLang="zh-CN" smtClean="0"/>
              <a:pPr>
                <a:defRPr/>
              </a:pPr>
              <a:t>8</a:t>
            </a:fld>
            <a:endParaRPr lang="en-US"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F0DBD6AC-5849-4D90-9D75-B7E4F7CA0771}" type="slidenum">
              <a:rPr lang="en-US" altLang="zh-CN" smtClean="0"/>
              <a:pPr>
                <a:defRPr/>
              </a:pPr>
              <a:t>11</a:t>
            </a:fld>
            <a:endParaRPr lang="en-US"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p:cNvSpPr>
            <a:spLocks noGrp="1" noRot="1" noChangeAspect="1" noTextEdit="1"/>
          </p:cNvSpPr>
          <p:nvPr>
            <p:ph type="sldImg"/>
          </p:nvPr>
        </p:nvSpPr>
        <p:spPr>
          <a:ln/>
        </p:spPr>
      </p:sp>
      <p:sp>
        <p:nvSpPr>
          <p:cNvPr id="75779" name="备注占位符 2"/>
          <p:cNvSpPr>
            <a:spLocks noGrp="1"/>
          </p:cNvSpPr>
          <p:nvPr>
            <p:ph type="body" idx="1"/>
          </p:nvPr>
        </p:nvSpPr>
        <p:spPr>
          <a:noFill/>
          <a:ln/>
        </p:spPr>
        <p:txBody>
          <a:bodyPr/>
          <a:lstStyle/>
          <a:p>
            <a:r>
              <a:rPr lang="zh-CN" altLang="en-US" dirty="0" smtClean="0"/>
              <a:t> </a:t>
            </a:r>
          </a:p>
        </p:txBody>
      </p:sp>
      <p:sp>
        <p:nvSpPr>
          <p:cNvPr id="75780" name="灯片编号占位符 3"/>
          <p:cNvSpPr>
            <a:spLocks noGrp="1"/>
          </p:cNvSpPr>
          <p:nvPr>
            <p:ph type="sldNum" sz="quarter" idx="5"/>
          </p:nvPr>
        </p:nvSpPr>
        <p:spPr>
          <a:noFill/>
        </p:spPr>
        <p:txBody>
          <a:bodyPr/>
          <a:lstStyle/>
          <a:p>
            <a:fld id="{AEDDFBF1-7863-4B88-A620-58DB23C86E85}" type="slidenum">
              <a:rPr lang="en-US" altLang="zh-CN" smtClean="0"/>
              <a:pPr/>
              <a:t>12</a:t>
            </a:fld>
            <a:endParaRPr lang="en-US" altLang="zh-CN" dirty="0"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defTabSz="1109259">
              <a:defRPr/>
            </a:pPr>
            <a:r>
              <a:rPr lang="zh-CN" altLang="en-US" dirty="0" smtClean="0"/>
              <a:t>从数据到大数据，不仅是量的积累，更是质的飞跃。海量的、不同来源、不同形式、包含不同信息的数据可以容易地被整合、分析，原本孤立的数据变得互相联通。这使得人们通过数据分析，能发现小数据时代很难发现的新知识，创造新的价值。大量性</a:t>
            </a:r>
            <a:r>
              <a:rPr lang="en-US" altLang="zh-CN" dirty="0" smtClean="0"/>
              <a:t>——</a:t>
            </a:r>
            <a:r>
              <a:rPr lang="zh-CN" altLang="en-US" sz="1500" dirty="0" smtClean="0">
                <a:solidFill>
                  <a:srgbClr val="1003BD"/>
                </a:solidFill>
                <a:latin typeface="Calibri" pitchFamily="34" charset="0"/>
                <a:ea typeface="黑体" pitchFamily="49" charset="-122"/>
              </a:rPr>
              <a:t>人类获得数据资料在不断更改数据的计量单位：</a:t>
            </a:r>
            <a:r>
              <a:rPr lang="zh-CN" altLang="en-US" dirty="0" smtClean="0"/>
              <a:t> </a:t>
            </a:r>
            <a:r>
              <a:rPr lang="zh-CN" altLang="en-US" dirty="0" smtClean="0">
                <a:solidFill>
                  <a:schemeClr val="hlink"/>
                </a:solidFill>
                <a:latin typeface="黑体" pitchFamily="49" charset="-122"/>
                <a:ea typeface="黑体" pitchFamily="49" charset="-122"/>
              </a:rPr>
              <a:t>最小的基本单位是</a:t>
            </a:r>
            <a:r>
              <a:rPr lang="en-US" altLang="zh-CN" dirty="0" smtClean="0">
                <a:solidFill>
                  <a:schemeClr val="hlink"/>
                </a:solidFill>
                <a:latin typeface="黑体" pitchFamily="49" charset="-122"/>
                <a:ea typeface="黑体" pitchFamily="49" charset="-122"/>
              </a:rPr>
              <a:t>Byte</a:t>
            </a:r>
            <a:r>
              <a:rPr lang="zh-CN" altLang="en-US" dirty="0" smtClean="0">
                <a:solidFill>
                  <a:schemeClr val="hlink"/>
                </a:solidFill>
                <a:latin typeface="黑体" pitchFamily="49" charset="-122"/>
                <a:ea typeface="黑体" pitchFamily="49" charset="-122"/>
              </a:rPr>
              <a:t>，所有单位：</a:t>
            </a:r>
            <a:r>
              <a:rPr lang="en-US" altLang="zh-CN" dirty="0" smtClean="0">
                <a:solidFill>
                  <a:schemeClr val="hlink"/>
                </a:solidFill>
                <a:latin typeface="黑体" pitchFamily="49" charset="-122"/>
                <a:ea typeface="黑体" pitchFamily="49" charset="-122"/>
              </a:rPr>
              <a:t>Byte</a:t>
            </a:r>
            <a:r>
              <a:rPr lang="zh-CN" altLang="en-US" dirty="0" smtClean="0">
                <a:solidFill>
                  <a:schemeClr val="hlink"/>
                </a:solidFill>
                <a:latin typeface="黑体" pitchFamily="49" charset="-122"/>
                <a:ea typeface="黑体" pitchFamily="49" charset="-122"/>
              </a:rPr>
              <a:t>、</a:t>
            </a:r>
            <a:r>
              <a:rPr lang="en-US" altLang="zh-CN" dirty="0" smtClean="0">
                <a:solidFill>
                  <a:schemeClr val="hlink"/>
                </a:solidFill>
                <a:latin typeface="黑体" pitchFamily="49" charset="-122"/>
                <a:ea typeface="黑体" pitchFamily="49" charset="-122"/>
              </a:rPr>
              <a:t>KB</a:t>
            </a:r>
            <a:r>
              <a:rPr lang="zh-CN" altLang="en-US" dirty="0" smtClean="0">
                <a:solidFill>
                  <a:schemeClr val="hlink"/>
                </a:solidFill>
                <a:latin typeface="黑体" pitchFamily="49" charset="-122"/>
                <a:ea typeface="黑体" pitchFamily="49" charset="-122"/>
              </a:rPr>
              <a:t>、</a:t>
            </a:r>
            <a:r>
              <a:rPr lang="en-US" altLang="zh-CN" dirty="0" smtClean="0">
                <a:solidFill>
                  <a:schemeClr val="hlink"/>
                </a:solidFill>
                <a:latin typeface="黑体" pitchFamily="49" charset="-122"/>
                <a:ea typeface="黑体" pitchFamily="49" charset="-122"/>
              </a:rPr>
              <a:t>MB</a:t>
            </a:r>
            <a:r>
              <a:rPr lang="zh-CN" altLang="en-US" dirty="0" smtClean="0">
                <a:solidFill>
                  <a:schemeClr val="hlink"/>
                </a:solidFill>
                <a:latin typeface="黑体" pitchFamily="49" charset="-122"/>
                <a:ea typeface="黑体" pitchFamily="49" charset="-122"/>
              </a:rPr>
              <a:t>、</a:t>
            </a:r>
            <a:r>
              <a:rPr lang="en-US" altLang="zh-CN" dirty="0" smtClean="0">
                <a:solidFill>
                  <a:schemeClr val="hlink"/>
                </a:solidFill>
                <a:latin typeface="黑体" pitchFamily="49" charset="-122"/>
                <a:ea typeface="黑体" pitchFamily="49" charset="-122"/>
              </a:rPr>
              <a:t>GB</a:t>
            </a:r>
            <a:r>
              <a:rPr lang="zh-CN" altLang="en-US" dirty="0" smtClean="0">
                <a:solidFill>
                  <a:schemeClr val="hlink"/>
                </a:solidFill>
                <a:latin typeface="黑体" pitchFamily="49" charset="-122"/>
                <a:ea typeface="黑体" pitchFamily="49" charset="-122"/>
              </a:rPr>
              <a:t>、</a:t>
            </a:r>
            <a:r>
              <a:rPr lang="en-US" altLang="zh-CN" dirty="0" smtClean="0">
                <a:solidFill>
                  <a:schemeClr val="hlink"/>
                </a:solidFill>
                <a:latin typeface="黑体" pitchFamily="49" charset="-122"/>
                <a:ea typeface="黑体" pitchFamily="49" charset="-122"/>
              </a:rPr>
              <a:t>TB</a:t>
            </a:r>
            <a:r>
              <a:rPr lang="zh-CN" altLang="en-US" dirty="0" smtClean="0">
                <a:solidFill>
                  <a:schemeClr val="hlink"/>
                </a:solidFill>
                <a:latin typeface="黑体" pitchFamily="49" charset="-122"/>
                <a:ea typeface="黑体" pitchFamily="49" charset="-122"/>
              </a:rPr>
              <a:t>、</a:t>
            </a:r>
            <a:r>
              <a:rPr lang="en-US" altLang="zh-CN" dirty="0" smtClean="0">
                <a:solidFill>
                  <a:schemeClr val="hlink"/>
                </a:solidFill>
                <a:latin typeface="黑体" pitchFamily="49" charset="-122"/>
                <a:ea typeface="黑体" pitchFamily="49" charset="-122"/>
              </a:rPr>
              <a:t>PB</a:t>
            </a:r>
            <a:r>
              <a:rPr lang="zh-CN" altLang="en-US" dirty="0" smtClean="0">
                <a:solidFill>
                  <a:schemeClr val="hlink"/>
                </a:solidFill>
                <a:latin typeface="黑体" pitchFamily="49" charset="-122"/>
                <a:ea typeface="黑体" pitchFamily="49" charset="-122"/>
              </a:rPr>
              <a:t>、</a:t>
            </a:r>
            <a:r>
              <a:rPr lang="en-US" altLang="zh-CN" dirty="0" smtClean="0">
                <a:solidFill>
                  <a:schemeClr val="hlink"/>
                </a:solidFill>
                <a:latin typeface="黑体" pitchFamily="49" charset="-122"/>
                <a:ea typeface="黑体" pitchFamily="49" charset="-122"/>
              </a:rPr>
              <a:t>EB</a:t>
            </a:r>
            <a:r>
              <a:rPr lang="zh-CN" altLang="en-US" dirty="0" smtClean="0">
                <a:solidFill>
                  <a:schemeClr val="hlink"/>
                </a:solidFill>
                <a:latin typeface="黑体" pitchFamily="49" charset="-122"/>
                <a:ea typeface="黑体" pitchFamily="49" charset="-122"/>
              </a:rPr>
              <a:t>、</a:t>
            </a:r>
            <a:r>
              <a:rPr lang="en-US" altLang="zh-CN" dirty="0" smtClean="0">
                <a:solidFill>
                  <a:schemeClr val="hlink"/>
                </a:solidFill>
                <a:latin typeface="黑体" pitchFamily="49" charset="-122"/>
                <a:ea typeface="黑体" pitchFamily="49" charset="-122"/>
              </a:rPr>
              <a:t>ZB</a:t>
            </a:r>
            <a:r>
              <a:rPr lang="zh-CN" altLang="en-US" dirty="0" smtClean="0">
                <a:solidFill>
                  <a:schemeClr val="hlink"/>
                </a:solidFill>
                <a:latin typeface="黑体" pitchFamily="49" charset="-122"/>
                <a:ea typeface="黑体" pitchFamily="49" charset="-122"/>
              </a:rPr>
              <a:t>、</a:t>
            </a:r>
            <a:r>
              <a:rPr lang="en-US" altLang="zh-CN" dirty="0" smtClean="0">
                <a:solidFill>
                  <a:schemeClr val="hlink"/>
                </a:solidFill>
                <a:latin typeface="黑体" pitchFamily="49" charset="-122"/>
                <a:ea typeface="黑体" pitchFamily="49" charset="-122"/>
              </a:rPr>
              <a:t>YB</a:t>
            </a:r>
            <a:r>
              <a:rPr lang="zh-CN" altLang="en-US" dirty="0" smtClean="0">
                <a:solidFill>
                  <a:schemeClr val="hlink"/>
                </a:solidFill>
                <a:latin typeface="黑体" pitchFamily="49" charset="-122"/>
                <a:ea typeface="黑体" pitchFamily="49" charset="-122"/>
              </a:rPr>
              <a:t>、</a:t>
            </a:r>
            <a:r>
              <a:rPr lang="en-US" altLang="zh-CN" dirty="0" smtClean="0">
                <a:solidFill>
                  <a:schemeClr val="hlink"/>
                </a:solidFill>
                <a:latin typeface="黑体" pitchFamily="49" charset="-122"/>
                <a:ea typeface="黑体" pitchFamily="49" charset="-122"/>
              </a:rPr>
              <a:t>DB</a:t>
            </a:r>
            <a:r>
              <a:rPr lang="zh-CN" altLang="en-US" dirty="0" smtClean="0">
                <a:solidFill>
                  <a:schemeClr val="hlink"/>
                </a:solidFill>
                <a:latin typeface="黑体" pitchFamily="49" charset="-122"/>
                <a:ea typeface="黑体" pitchFamily="49" charset="-122"/>
              </a:rPr>
              <a:t>、</a:t>
            </a:r>
            <a:r>
              <a:rPr lang="en-US" altLang="zh-CN" dirty="0" smtClean="0">
                <a:solidFill>
                  <a:schemeClr val="hlink"/>
                </a:solidFill>
                <a:latin typeface="黑体" pitchFamily="49" charset="-122"/>
                <a:ea typeface="黑体" pitchFamily="49" charset="-122"/>
              </a:rPr>
              <a:t>NB </a:t>
            </a:r>
            <a:r>
              <a:rPr lang="zh-CN" altLang="en-US" dirty="0" smtClean="0">
                <a:solidFill>
                  <a:schemeClr val="hlink"/>
                </a:solidFill>
                <a:latin typeface="黑体" pitchFamily="49" charset="-122"/>
                <a:ea typeface="黑体" pitchFamily="49" charset="-122"/>
              </a:rPr>
              <a:t>。按照进率</a:t>
            </a:r>
            <a:r>
              <a:rPr lang="en-US" altLang="zh-CN" dirty="0" smtClean="0">
                <a:solidFill>
                  <a:schemeClr val="hlink"/>
                </a:solidFill>
                <a:latin typeface="黑体" pitchFamily="49" charset="-122"/>
                <a:ea typeface="黑体" pitchFamily="49" charset="-122"/>
              </a:rPr>
              <a:t>1024</a:t>
            </a:r>
            <a:r>
              <a:rPr lang="zh-CN" altLang="en-US" dirty="0" smtClean="0">
                <a:solidFill>
                  <a:schemeClr val="hlink"/>
                </a:solidFill>
                <a:latin typeface="黑体" pitchFamily="49" charset="-122"/>
                <a:ea typeface="黑体" pitchFamily="49" charset="-122"/>
              </a:rPr>
              <a:t>（</a:t>
            </a:r>
            <a:r>
              <a:rPr lang="en-US" altLang="zh-CN" dirty="0" smtClean="0">
                <a:solidFill>
                  <a:schemeClr val="hlink"/>
                </a:solidFill>
                <a:latin typeface="黑体" pitchFamily="49" charset="-122"/>
                <a:ea typeface="黑体" pitchFamily="49" charset="-122"/>
              </a:rPr>
              <a:t>2</a:t>
            </a:r>
            <a:r>
              <a:rPr lang="zh-CN" altLang="en-US" dirty="0" smtClean="0">
                <a:solidFill>
                  <a:schemeClr val="hlink"/>
                </a:solidFill>
                <a:latin typeface="黑体" pitchFamily="49" charset="-122"/>
                <a:ea typeface="黑体" pitchFamily="49" charset="-122"/>
              </a:rPr>
              <a:t>的十次方）</a:t>
            </a:r>
            <a:endParaRPr lang="zh-CN" altLang="en-US" sz="1500" dirty="0" smtClean="0">
              <a:solidFill>
                <a:srgbClr val="1003BD"/>
              </a:solidFill>
              <a:latin typeface="Calibri" pitchFamily="34" charset="0"/>
              <a:ea typeface="黑体" pitchFamily="49" charset="-122"/>
            </a:endParaRPr>
          </a:p>
          <a:p>
            <a:endParaRPr lang="zh-CN" altLang="en-US" dirty="0"/>
          </a:p>
        </p:txBody>
      </p:sp>
      <p:sp>
        <p:nvSpPr>
          <p:cNvPr id="4" name="灯片编号占位符 3"/>
          <p:cNvSpPr>
            <a:spLocks noGrp="1"/>
          </p:cNvSpPr>
          <p:nvPr>
            <p:ph type="sldNum" sz="quarter" idx="10"/>
          </p:nvPr>
        </p:nvSpPr>
        <p:spPr/>
        <p:txBody>
          <a:bodyPr/>
          <a:lstStyle/>
          <a:p>
            <a:pPr>
              <a:defRPr/>
            </a:pPr>
            <a:fld id="{F0DBD6AC-5849-4D90-9D75-B7E4F7CA0771}" type="slidenum">
              <a:rPr lang="en-US" altLang="zh-CN" smtClean="0"/>
              <a:pPr>
                <a:defRPr/>
              </a:pPr>
              <a:t>13</a:t>
            </a:fld>
            <a:endParaRPr lang="en-US"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F0DBD6AC-5849-4D90-9D75-B7E4F7CA0771}" type="slidenum">
              <a:rPr lang="en-US" altLang="zh-CN" smtClean="0"/>
              <a:pPr>
                <a:defRPr/>
              </a:pPr>
              <a:t>16</a:t>
            </a:fld>
            <a:endParaRPr lang="en-US"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BDA14BB9-B1BA-4DB3-821B-640272457F30}" type="slidenum">
              <a:rPr lang="en-US" altLang="zh-CN" smtClean="0"/>
              <a:pPr/>
              <a:t>33</a:t>
            </a:fld>
            <a:endParaRPr lang="en-US" altLang="zh-CN" dirty="0" smtClean="0"/>
          </a:p>
        </p:txBody>
      </p:sp>
      <p:sp>
        <p:nvSpPr>
          <p:cNvPr id="76803" name="Rectangle 2"/>
          <p:cNvSpPr>
            <a:spLocks noGrp="1" noChangeArrowheads="1"/>
          </p:cNvSpPr>
          <p:nvPr>
            <p:ph type="body" idx="1"/>
          </p:nvPr>
        </p:nvSpPr>
        <p:spPr>
          <a:xfrm>
            <a:off x="1647209" y="3113017"/>
            <a:ext cx="9049985" cy="4921532"/>
          </a:xfrm>
          <a:noFill/>
          <a:ln/>
        </p:spPr>
        <p:txBody>
          <a:bodyPr lIns="118889" tIns="58402" rIns="118889" bIns="58402"/>
          <a:lstStyle/>
          <a:p>
            <a:pPr eaLnBrk="1" hangingPunct="1"/>
            <a:endParaRPr lang="zh-CN" altLang="zh-CN" smtClean="0"/>
          </a:p>
        </p:txBody>
      </p:sp>
      <p:sp>
        <p:nvSpPr>
          <p:cNvPr id="76804" name="Rectangle 3"/>
          <p:cNvSpPr>
            <a:spLocks noGrp="1" noRot="1" noChangeAspect="1" noChangeArrowheads="1" noTextEdit="1"/>
          </p:cNvSpPr>
          <p:nvPr>
            <p:ph type="sldImg"/>
          </p:nvPr>
        </p:nvSpPr>
        <p:spPr>
          <a:xfrm>
            <a:off x="4733925" y="657225"/>
            <a:ext cx="2879725" cy="2159000"/>
          </a:xfrm>
          <a:ln w="12700" cap="flat">
            <a:solidFill>
              <a:schemeClr val="tx1"/>
            </a:solid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p:cNvSpPr>
            <a:spLocks noGrp="1" noRot="1" noChangeAspect="1" noTextEdit="1"/>
          </p:cNvSpPr>
          <p:nvPr>
            <p:ph type="sldImg"/>
          </p:nvPr>
        </p:nvSpPr>
        <p:spPr>
          <a:ln/>
        </p:spPr>
      </p:sp>
      <p:sp>
        <p:nvSpPr>
          <p:cNvPr id="77827" name="备注占位符 2"/>
          <p:cNvSpPr>
            <a:spLocks noGrp="1"/>
          </p:cNvSpPr>
          <p:nvPr>
            <p:ph type="body" idx="1"/>
          </p:nvPr>
        </p:nvSpPr>
        <p:spPr>
          <a:noFill/>
          <a:ln/>
        </p:spPr>
        <p:txBody>
          <a:bodyPr/>
          <a:lstStyle/>
          <a:p>
            <a:r>
              <a:rPr lang="zh-CN" altLang="en-US" smtClean="0"/>
              <a:t>许多科学活动都是数据挖掘，不是从预设理论或者原理出发，通过演绎方法来研究问题，而是从数据本身出发通过归纳来总结规律。近现代以来，随着我们面临的问题变得越来越复杂，通过演绎的方式来研究问题常常变得很困难。这就使得数据归纳的方法变得越来越重要，数据的重要性也越发凸显出来。</a:t>
            </a:r>
          </a:p>
        </p:txBody>
      </p:sp>
      <p:sp>
        <p:nvSpPr>
          <p:cNvPr id="77828" name="灯片编号占位符 3"/>
          <p:cNvSpPr>
            <a:spLocks noGrp="1"/>
          </p:cNvSpPr>
          <p:nvPr>
            <p:ph type="sldNum" sz="quarter" idx="5"/>
          </p:nvPr>
        </p:nvSpPr>
        <p:spPr>
          <a:noFill/>
        </p:spPr>
        <p:txBody>
          <a:bodyPr/>
          <a:lstStyle/>
          <a:p>
            <a:fld id="{3DD10E26-43F0-4CC2-A926-78DFC018B6FD}" type="slidenum">
              <a:rPr lang="en-US" altLang="zh-CN" smtClean="0"/>
              <a:pPr/>
              <a:t>40</a:t>
            </a:fld>
            <a:endParaRPr lang="en-US" altLang="zh-CN" dirty="0"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smtClean="0">
                <a:solidFill>
                  <a:srgbClr val="0000FF"/>
                </a:solidFill>
              </a:rPr>
              <a:t>全球创新指数（</a:t>
            </a:r>
            <a:r>
              <a:rPr lang="en-US" altLang="zh-CN" dirty="0" smtClean="0">
                <a:solidFill>
                  <a:srgbClr val="0000FF"/>
                </a:solidFill>
              </a:rPr>
              <a:t>GII</a:t>
            </a:r>
            <a:r>
              <a:rPr lang="zh-CN" altLang="en-US" dirty="0" smtClean="0">
                <a:solidFill>
                  <a:srgbClr val="0000FF"/>
                </a:solidFill>
              </a:rPr>
              <a:t>）</a:t>
            </a:r>
            <a:r>
              <a:rPr lang="en-US" altLang="zh-CN" dirty="0" smtClean="0">
                <a:solidFill>
                  <a:srgbClr val="0000FF"/>
                </a:solidFill>
              </a:rPr>
              <a:t>——</a:t>
            </a:r>
            <a:r>
              <a:rPr lang="zh-CN" altLang="en-US" b="0" dirty="0" smtClean="0">
                <a:solidFill>
                  <a:srgbClr val="000000"/>
                </a:solidFill>
              </a:rPr>
              <a:t>由</a:t>
            </a:r>
            <a:r>
              <a:rPr lang="zh-CN" altLang="en-US" dirty="0" smtClean="0">
                <a:solidFill>
                  <a:srgbClr val="0099FF"/>
                </a:solidFill>
              </a:rPr>
              <a:t>世界知识产权组织、康奈尔大学等机构共同发布</a:t>
            </a:r>
            <a:r>
              <a:rPr lang="zh-CN" altLang="en-US" b="0" dirty="0" smtClean="0">
                <a:solidFill>
                  <a:srgbClr val="000000"/>
                </a:solidFill>
              </a:rPr>
              <a:t>，是衡量一个经济体广泛的经济创新能力的指标，</a:t>
            </a:r>
            <a:r>
              <a:rPr lang="zh-CN" altLang="en-US" dirty="0" smtClean="0">
                <a:solidFill>
                  <a:srgbClr val="7030A0"/>
                </a:solidFill>
              </a:rPr>
              <a:t>根据反映创新投入和产出的共</a:t>
            </a:r>
            <a:r>
              <a:rPr lang="en-US" altLang="zh-CN" dirty="0" smtClean="0">
                <a:solidFill>
                  <a:srgbClr val="7030A0"/>
                </a:solidFill>
              </a:rPr>
              <a:t>7</a:t>
            </a:r>
            <a:r>
              <a:rPr lang="zh-CN" altLang="en-US" dirty="0" smtClean="0">
                <a:solidFill>
                  <a:srgbClr val="7030A0"/>
                </a:solidFill>
              </a:rPr>
              <a:t>大类</a:t>
            </a:r>
            <a:r>
              <a:rPr lang="en-US" altLang="zh-CN" dirty="0" smtClean="0">
                <a:solidFill>
                  <a:srgbClr val="7030A0"/>
                </a:solidFill>
              </a:rPr>
              <a:t>80</a:t>
            </a:r>
            <a:r>
              <a:rPr lang="zh-CN" altLang="en-US" dirty="0" smtClean="0">
                <a:solidFill>
                  <a:srgbClr val="7030A0"/>
                </a:solidFill>
              </a:rPr>
              <a:t>个指标对</a:t>
            </a:r>
            <a:r>
              <a:rPr lang="en-US" altLang="zh-CN" dirty="0" smtClean="0">
                <a:solidFill>
                  <a:srgbClr val="7030A0"/>
                </a:solidFill>
              </a:rPr>
              <a:t>126</a:t>
            </a:r>
            <a:r>
              <a:rPr lang="zh-CN" altLang="en-US" dirty="0" smtClean="0">
                <a:solidFill>
                  <a:srgbClr val="7030A0"/>
                </a:solidFill>
              </a:rPr>
              <a:t>个经济体进行排名。</a:t>
            </a:r>
            <a:r>
              <a:rPr lang="zh-CN" altLang="en-US" b="0" dirty="0" smtClean="0">
                <a:solidFill>
                  <a:srgbClr val="000000"/>
                </a:solidFill>
              </a:rPr>
              <a:t>于</a:t>
            </a:r>
            <a:r>
              <a:rPr lang="en-US" altLang="zh-CN" b="0" dirty="0" smtClean="0">
                <a:solidFill>
                  <a:srgbClr val="000000"/>
                </a:solidFill>
              </a:rPr>
              <a:t>2007</a:t>
            </a:r>
            <a:r>
              <a:rPr lang="zh-CN" altLang="en-US" b="0" dirty="0" smtClean="0">
                <a:solidFill>
                  <a:srgbClr val="000000"/>
                </a:solidFill>
              </a:rPr>
              <a:t>年首次推出，每年发布一次。</a:t>
            </a:r>
            <a:endParaRPr lang="en-US" altLang="zh-CN" b="0" dirty="0" smtClean="0">
              <a:solidFill>
                <a:srgbClr val="000000"/>
              </a:solidFill>
            </a:endParaRPr>
          </a:p>
          <a:p>
            <a:r>
              <a:rPr lang="en-US" altLang="zh-CN" sz="1300" dirty="0" smtClean="0">
                <a:solidFill>
                  <a:srgbClr val="000000"/>
                </a:solidFill>
              </a:rPr>
              <a:t>2018</a:t>
            </a:r>
            <a:r>
              <a:rPr lang="zh-CN" altLang="en-US" sz="1300" dirty="0" smtClean="0">
                <a:solidFill>
                  <a:srgbClr val="000000"/>
                </a:solidFill>
              </a:rPr>
              <a:t>年</a:t>
            </a:r>
            <a:r>
              <a:rPr lang="en-US" altLang="zh-CN" sz="1300" dirty="0" smtClean="0">
                <a:solidFill>
                  <a:srgbClr val="000000"/>
                </a:solidFill>
              </a:rPr>
              <a:t>7</a:t>
            </a:r>
            <a:r>
              <a:rPr lang="zh-CN" altLang="en-US" sz="1300" dirty="0" smtClean="0">
                <a:solidFill>
                  <a:srgbClr val="000000"/>
                </a:solidFill>
              </a:rPr>
              <a:t>月</a:t>
            </a:r>
            <a:r>
              <a:rPr lang="en-US" altLang="zh-CN" sz="1300" dirty="0" smtClean="0">
                <a:solidFill>
                  <a:srgbClr val="000000"/>
                </a:solidFill>
              </a:rPr>
              <a:t>10</a:t>
            </a:r>
            <a:r>
              <a:rPr lang="zh-CN" altLang="en-US" sz="1300" dirty="0" smtClean="0">
                <a:solidFill>
                  <a:srgbClr val="000000"/>
                </a:solidFill>
              </a:rPr>
              <a:t>日发布表明：</a:t>
            </a:r>
            <a:r>
              <a:rPr lang="zh-CN" altLang="en-US" sz="1300" dirty="0" smtClean="0">
                <a:solidFill>
                  <a:srgbClr val="7030A0"/>
                </a:solidFill>
              </a:rPr>
              <a:t>中国在创新方面的进步让人瞩目，是唯一一个创新指数持续攀升的国家，今年排名</a:t>
            </a:r>
            <a:r>
              <a:rPr lang="zh-CN" altLang="en-US" sz="1300" dirty="0" smtClean="0"/>
              <a:t>第</a:t>
            </a:r>
            <a:r>
              <a:rPr lang="en-US" altLang="zh-CN" sz="1300" dirty="0" smtClean="0"/>
              <a:t>17</a:t>
            </a:r>
            <a:r>
              <a:rPr lang="zh-CN" altLang="en-US" sz="1300" dirty="0" smtClean="0"/>
              <a:t>位。</a:t>
            </a:r>
            <a:r>
              <a:rPr lang="zh-CN" altLang="en-US" sz="1300" dirty="0" smtClean="0">
                <a:solidFill>
                  <a:srgbClr val="C00000"/>
                </a:solidFill>
              </a:rPr>
              <a:t>其中，研究人员、专利申请数量、科技出版物三个方面名列前茅</a:t>
            </a:r>
            <a:r>
              <a:rPr lang="en-US" altLang="zh-CN" sz="1300" dirty="0" smtClean="0"/>
              <a:t>.</a:t>
            </a:r>
            <a:endParaRPr lang="en-US" altLang="zh-CN" sz="1300" dirty="0" smtClean="0">
              <a:solidFill>
                <a:srgbClr val="0000FF"/>
              </a:solidFill>
            </a:endParaRPr>
          </a:p>
        </p:txBody>
      </p:sp>
      <p:sp>
        <p:nvSpPr>
          <p:cNvPr id="4" name="灯片编号占位符 3"/>
          <p:cNvSpPr>
            <a:spLocks noGrp="1"/>
          </p:cNvSpPr>
          <p:nvPr>
            <p:ph type="sldNum" sz="quarter" idx="10"/>
          </p:nvPr>
        </p:nvSpPr>
        <p:spPr/>
        <p:txBody>
          <a:bodyPr/>
          <a:lstStyle/>
          <a:p>
            <a:pPr>
              <a:defRPr/>
            </a:pPr>
            <a:fld id="{F0DBD6AC-5849-4D90-9D75-B7E4F7CA0771}" type="slidenum">
              <a:rPr lang="en-US" altLang="zh-CN" smtClean="0"/>
              <a:pPr>
                <a:defRPr/>
              </a:pPr>
              <a:t>56</a:t>
            </a:fld>
            <a:endParaRPr lang="en-US"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sz="1500" b="1" dirty="0" smtClean="0"/>
              <a:t>Nominal,Ordinal,Interval</a:t>
            </a:r>
            <a:r>
              <a:rPr lang="zh-CN" altLang="zh-CN" sz="1500" b="1" dirty="0" smtClean="0"/>
              <a:t>，</a:t>
            </a:r>
            <a:r>
              <a:rPr lang="en-US" altLang="zh-CN" sz="1500" b="1" dirty="0" smtClean="0"/>
              <a:t>Ratio data</a:t>
            </a:r>
            <a:endParaRPr lang="zh-CN" altLang="en-US" dirty="0"/>
          </a:p>
        </p:txBody>
      </p:sp>
      <p:sp>
        <p:nvSpPr>
          <p:cNvPr id="4" name="灯片编号占位符 3"/>
          <p:cNvSpPr>
            <a:spLocks noGrp="1"/>
          </p:cNvSpPr>
          <p:nvPr>
            <p:ph type="sldNum" sz="quarter" idx="10"/>
          </p:nvPr>
        </p:nvSpPr>
        <p:spPr/>
        <p:txBody>
          <a:bodyPr/>
          <a:lstStyle/>
          <a:p>
            <a:pPr>
              <a:defRPr/>
            </a:pPr>
            <a:fld id="{F0DBD6AC-5849-4D90-9D75-B7E4F7CA0771}" type="slidenum">
              <a:rPr lang="en-US" altLang="zh-CN" smtClean="0"/>
              <a:pPr>
                <a:defRPr/>
              </a:pPr>
              <a:t>64</a:t>
            </a:fld>
            <a:endParaRPr lang="en-US"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187866FA-63B6-4BE1-8373-A640686D1E6E}" type="slidenum">
              <a:rPr lang="en-US" altLang="zh-CN" smtClean="0"/>
              <a:pPr/>
              <a:t>65</a:t>
            </a:fld>
            <a:endParaRPr lang="en-US" altLang="zh-CN" dirty="0" smtClean="0"/>
          </a:p>
        </p:txBody>
      </p:sp>
      <p:sp>
        <p:nvSpPr>
          <p:cNvPr id="78851" name="Rectangle 2"/>
          <p:cNvSpPr>
            <a:spLocks noGrp="1" noChangeArrowheads="1"/>
          </p:cNvSpPr>
          <p:nvPr>
            <p:ph type="body" idx="1"/>
          </p:nvPr>
        </p:nvSpPr>
        <p:spPr>
          <a:xfrm>
            <a:off x="1647209" y="3113017"/>
            <a:ext cx="9049985" cy="4921532"/>
          </a:xfrm>
          <a:noFill/>
          <a:ln/>
        </p:spPr>
        <p:txBody>
          <a:bodyPr lIns="118898" tIns="58406" rIns="118898" bIns="58406"/>
          <a:lstStyle/>
          <a:p>
            <a:pPr eaLnBrk="1" hangingPunct="1"/>
            <a:endParaRPr lang="zh-CN" altLang="zh-CN" smtClean="0"/>
          </a:p>
        </p:txBody>
      </p:sp>
      <p:sp>
        <p:nvSpPr>
          <p:cNvPr id="78852" name="Rectangle 3"/>
          <p:cNvSpPr>
            <a:spLocks noGrp="1" noRot="1" noChangeAspect="1" noChangeArrowheads="1" noTextEdit="1"/>
          </p:cNvSpPr>
          <p:nvPr>
            <p:ph type="sldImg"/>
          </p:nvPr>
        </p:nvSpPr>
        <p:spPr>
          <a:xfrm>
            <a:off x="4732338" y="657225"/>
            <a:ext cx="2879725" cy="2159000"/>
          </a:xfrm>
          <a:ln w="12700" cap="flat">
            <a:solidFill>
              <a:schemeClr val="tx1"/>
            </a:solid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3560CDC9-776D-43C0-901B-8E86C86BBE1B}" type="slidenum">
              <a:rPr lang="en-US" altLang="zh-CN" smtClean="0"/>
              <a:pPr/>
              <a:t>66</a:t>
            </a:fld>
            <a:endParaRPr lang="en-US" altLang="zh-CN" dirty="0" smtClean="0"/>
          </a:p>
        </p:txBody>
      </p:sp>
      <p:sp>
        <p:nvSpPr>
          <p:cNvPr id="79875" name="Rectangle 2"/>
          <p:cNvSpPr>
            <a:spLocks noGrp="1" noChangeArrowheads="1"/>
          </p:cNvSpPr>
          <p:nvPr>
            <p:ph type="body" idx="1"/>
          </p:nvPr>
        </p:nvSpPr>
        <p:spPr>
          <a:xfrm>
            <a:off x="1647209" y="3113017"/>
            <a:ext cx="9049985" cy="4921532"/>
          </a:xfrm>
          <a:noFill/>
          <a:ln/>
        </p:spPr>
        <p:txBody>
          <a:bodyPr lIns="118898" tIns="58406" rIns="118898" bIns="58406"/>
          <a:lstStyle/>
          <a:p>
            <a:pPr eaLnBrk="1" hangingPunct="1"/>
            <a:endParaRPr lang="zh-CN" altLang="zh-CN" smtClean="0"/>
          </a:p>
        </p:txBody>
      </p:sp>
      <p:sp>
        <p:nvSpPr>
          <p:cNvPr id="79876" name="Rectangle 3"/>
          <p:cNvSpPr>
            <a:spLocks noGrp="1" noRot="1" noChangeAspect="1" noChangeArrowheads="1" noTextEdit="1"/>
          </p:cNvSpPr>
          <p:nvPr>
            <p:ph type="sldImg"/>
          </p:nvPr>
        </p:nvSpPr>
        <p:spPr>
          <a:xfrm>
            <a:off x="4732338" y="657225"/>
            <a:ext cx="2879725" cy="2159000"/>
          </a:xfrm>
          <a:ln w="12700" cap="flat">
            <a:solidFill>
              <a:schemeClr val="tx1"/>
            </a:solid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6D2FD5E4-4AE1-4086-A8AE-DFB9CEA589AA}" type="slidenum">
              <a:rPr lang="en-US" altLang="zh-CN" smtClean="0"/>
              <a:pPr/>
              <a:t>67</a:t>
            </a:fld>
            <a:endParaRPr lang="en-US" altLang="zh-CN" dirty="0" smtClean="0"/>
          </a:p>
        </p:txBody>
      </p:sp>
      <p:sp>
        <p:nvSpPr>
          <p:cNvPr id="80899" name="Rectangle 2"/>
          <p:cNvSpPr>
            <a:spLocks noGrp="1" noChangeArrowheads="1"/>
          </p:cNvSpPr>
          <p:nvPr>
            <p:ph type="body" idx="1"/>
          </p:nvPr>
        </p:nvSpPr>
        <p:spPr>
          <a:xfrm>
            <a:off x="1647209" y="3113017"/>
            <a:ext cx="9049985" cy="4921532"/>
          </a:xfrm>
          <a:noFill/>
          <a:ln/>
        </p:spPr>
        <p:txBody>
          <a:bodyPr lIns="118898" tIns="58406" rIns="118898" bIns="58406"/>
          <a:lstStyle/>
          <a:p>
            <a:pPr eaLnBrk="1" hangingPunct="1"/>
            <a:endParaRPr lang="zh-CN" altLang="zh-CN" smtClean="0"/>
          </a:p>
        </p:txBody>
      </p:sp>
      <p:sp>
        <p:nvSpPr>
          <p:cNvPr id="80900" name="Rectangle 3"/>
          <p:cNvSpPr>
            <a:spLocks noGrp="1" noRot="1" noChangeAspect="1" noChangeArrowheads="1" noTextEdit="1"/>
          </p:cNvSpPr>
          <p:nvPr>
            <p:ph type="sldImg"/>
          </p:nvPr>
        </p:nvSpPr>
        <p:spPr>
          <a:xfrm>
            <a:off x="4732338" y="657225"/>
            <a:ext cx="2879725" cy="2159000"/>
          </a:xfrm>
          <a:ln w="12700" cap="flat">
            <a:solidFill>
              <a:schemeClr val="tx1"/>
            </a:solid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E1D66281-DD4E-4D9F-8CF3-8E43B4DAE9CD}" type="slidenum">
              <a:rPr lang="en-US" altLang="zh-CN" smtClean="0"/>
              <a:pPr/>
              <a:t>68</a:t>
            </a:fld>
            <a:endParaRPr lang="en-US" altLang="zh-CN" dirty="0" smtClean="0"/>
          </a:p>
        </p:txBody>
      </p:sp>
      <p:sp>
        <p:nvSpPr>
          <p:cNvPr id="81923" name="Rectangle 2"/>
          <p:cNvSpPr>
            <a:spLocks noGrp="1" noChangeArrowheads="1"/>
          </p:cNvSpPr>
          <p:nvPr>
            <p:ph type="body" idx="1"/>
          </p:nvPr>
        </p:nvSpPr>
        <p:spPr>
          <a:xfrm>
            <a:off x="1647209" y="3113017"/>
            <a:ext cx="9049985" cy="4921532"/>
          </a:xfrm>
          <a:noFill/>
          <a:ln/>
        </p:spPr>
        <p:txBody>
          <a:bodyPr lIns="118898" tIns="58406" rIns="118898" bIns="58406"/>
          <a:lstStyle/>
          <a:p>
            <a:pPr eaLnBrk="1" hangingPunct="1"/>
            <a:endParaRPr lang="zh-CN" altLang="zh-CN" smtClean="0"/>
          </a:p>
        </p:txBody>
      </p:sp>
      <p:sp>
        <p:nvSpPr>
          <p:cNvPr id="81924" name="Rectangle 3"/>
          <p:cNvSpPr>
            <a:spLocks noGrp="1" noRot="1" noChangeAspect="1" noChangeArrowheads="1" noTextEdit="1"/>
          </p:cNvSpPr>
          <p:nvPr>
            <p:ph type="sldImg"/>
          </p:nvPr>
        </p:nvSpPr>
        <p:spPr>
          <a:xfrm>
            <a:off x="4732338" y="657225"/>
            <a:ext cx="2879725" cy="2159000"/>
          </a:xfrm>
          <a:ln w="12700" cap="flat">
            <a:solidFill>
              <a:schemeClr val="tx1"/>
            </a:solid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F0DBD6AC-5849-4D90-9D75-B7E4F7CA0771}" type="slidenum">
              <a:rPr lang="en-US" altLang="zh-CN" smtClean="0"/>
              <a:pPr>
                <a:defRPr/>
              </a:pPr>
              <a:t>74</a:t>
            </a:fld>
            <a:endParaRPr lang="en-US" altLang="zh-CN" dirty="0"/>
          </a:p>
        </p:txBody>
      </p:sp>
    </p:spTree>
    <p:extLst>
      <p:ext uri="{BB962C8B-B14F-4D97-AF65-F5344CB8AC3E}">
        <p14:creationId xmlns:p14="http://schemas.microsoft.com/office/powerpoint/2010/main" val="8296380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defTabSz="1109259">
              <a:defRPr/>
            </a:pPr>
            <a:r>
              <a:rPr lang="zh-CN" altLang="en-US" sz="1500" b="1" dirty="0" smtClean="0"/>
              <a:t>大数据时代：统计学是数据分析的灵魂</a:t>
            </a:r>
            <a:r>
              <a:rPr lang="en-US" altLang="zh-CN" sz="1500" b="1" dirty="0" smtClean="0"/>
              <a:t>——</a:t>
            </a:r>
            <a:r>
              <a:rPr lang="en-US" altLang="zh-CN" sz="1500" dirty="0" smtClean="0"/>
              <a:t>7</a:t>
            </a:r>
            <a:r>
              <a:rPr lang="zh-CN" altLang="en-US" sz="1500" dirty="0" smtClean="0"/>
              <a:t>月</a:t>
            </a:r>
            <a:r>
              <a:rPr lang="en-US" altLang="zh-CN" sz="1500" dirty="0" smtClean="0"/>
              <a:t>20</a:t>
            </a:r>
            <a:r>
              <a:rPr lang="zh-CN" altLang="en-US" sz="1500" dirty="0" smtClean="0"/>
              <a:t>日出版的</a:t>
            </a:r>
            <a:r>
              <a:rPr lang="en-US" altLang="zh-CN" sz="1500" dirty="0" smtClean="0"/>
              <a:t>《</a:t>
            </a:r>
            <a:r>
              <a:rPr lang="zh-CN" altLang="en-US" sz="1500" dirty="0" smtClean="0"/>
              <a:t>人民日报</a:t>
            </a:r>
            <a:r>
              <a:rPr lang="en-US" altLang="zh-CN" sz="1500" dirty="0" smtClean="0"/>
              <a:t>》</a:t>
            </a:r>
            <a:r>
              <a:rPr lang="zh-CN" altLang="en-US" sz="1500" dirty="0" smtClean="0"/>
              <a:t>，刊发了清华大学统计学研究中心主任刘军做客人民日报、人民网</a:t>
            </a:r>
            <a:r>
              <a:rPr lang="en-US" altLang="zh-CN" sz="1500" dirty="0" smtClean="0"/>
              <a:t>《</a:t>
            </a:r>
            <a:r>
              <a:rPr lang="zh-CN" altLang="en-US" sz="1500" dirty="0" smtClean="0"/>
              <a:t>文化讲坛</a:t>
            </a:r>
            <a:r>
              <a:rPr lang="en-US" altLang="zh-CN" sz="1500" dirty="0" smtClean="0"/>
              <a:t>》</a:t>
            </a:r>
            <a:r>
              <a:rPr lang="zh-CN" altLang="en-US" sz="1500" dirty="0" smtClean="0"/>
              <a:t>时，对相关问题所做的介绍和分析。</a:t>
            </a:r>
            <a:endParaRPr lang="zh-CN" altLang="en-US" dirty="0"/>
          </a:p>
        </p:txBody>
      </p:sp>
      <p:sp>
        <p:nvSpPr>
          <p:cNvPr id="4" name="灯片编号占位符 3"/>
          <p:cNvSpPr>
            <a:spLocks noGrp="1"/>
          </p:cNvSpPr>
          <p:nvPr>
            <p:ph type="sldNum" sz="quarter" idx="10"/>
          </p:nvPr>
        </p:nvSpPr>
        <p:spPr/>
        <p:txBody>
          <a:bodyPr/>
          <a:lstStyle/>
          <a:p>
            <a:pPr>
              <a:defRPr/>
            </a:pPr>
            <a:fld id="{F0DBD6AC-5849-4D90-9D75-B7E4F7CA0771}" type="slidenum">
              <a:rPr lang="en-US" altLang="zh-CN" smtClean="0"/>
              <a:pPr>
                <a:defRPr/>
              </a:pPr>
              <a:t>75</a:t>
            </a:fld>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 name="Group 2"/>
          <p:cNvGrpSpPr>
            <a:grpSpLocks/>
          </p:cNvGrpSpPr>
          <p:nvPr/>
        </p:nvGrpSpPr>
        <p:grpSpPr bwMode="auto">
          <a:xfrm>
            <a:off x="19050" y="1109663"/>
            <a:ext cx="9156700" cy="757237"/>
            <a:chOff x="0" y="0"/>
            <a:chExt cx="5768" cy="477"/>
          </a:xfrm>
        </p:grpSpPr>
        <p:sp>
          <p:nvSpPr>
            <p:cNvPr id="5" name="Freeform 3"/>
            <p:cNvSpPr>
              <a:spLocks/>
            </p:cNvSpPr>
            <p:nvPr userDrawn="1"/>
          </p:nvSpPr>
          <p:spPr bwMode="auto">
            <a:xfrm>
              <a:off x="5" y="0"/>
              <a:ext cx="5763" cy="477"/>
            </a:xfrm>
            <a:custGeom>
              <a:avLst/>
              <a:gdLst/>
              <a:ahLst/>
              <a:cxnLst>
                <a:cxn ang="0">
                  <a:pos x="0" y="450"/>
                </a:cxn>
                <a:cxn ang="0">
                  <a:pos x="3" y="0"/>
                </a:cxn>
                <a:cxn ang="0">
                  <a:pos x="5763" y="0"/>
                </a:cxn>
                <a:cxn ang="0">
                  <a:pos x="5763" y="465"/>
                </a:cxn>
                <a:cxn ang="0">
                  <a:pos x="4821" y="477"/>
                </a:cxn>
                <a:cxn ang="0">
                  <a:pos x="4326" y="447"/>
                </a:cxn>
                <a:cxn ang="0">
                  <a:pos x="3783" y="465"/>
                </a:cxn>
                <a:cxn ang="0">
                  <a:pos x="3417" y="456"/>
                </a:cxn>
                <a:cxn ang="0">
                  <a:pos x="2973" y="459"/>
                </a:cxn>
                <a:cxn ang="0">
                  <a:pos x="2451" y="453"/>
                </a:cxn>
                <a:cxn ang="0">
                  <a:pos x="2289" y="441"/>
                </a:cxn>
                <a:cxn ang="0">
                  <a:pos x="2010" y="453"/>
                </a:cxn>
                <a:cxn ang="0">
                  <a:pos x="1827" y="450"/>
                </a:cxn>
                <a:cxn ang="0">
                  <a:pos x="1215" y="465"/>
                </a:cxn>
                <a:cxn ang="0">
                  <a:pos x="660" y="456"/>
                </a:cxn>
                <a:cxn ang="0">
                  <a:pos x="0" y="450"/>
                </a:cxn>
              </a:cxnLst>
              <a:rect l="0" t="0" r="r" b="b"/>
              <a:pathLst>
                <a:path w="5763" h="477">
                  <a:moveTo>
                    <a:pt x="0" y="450"/>
                  </a:moveTo>
                  <a:lnTo>
                    <a:pt x="3" y="0"/>
                  </a:lnTo>
                  <a:lnTo>
                    <a:pt x="5763" y="0"/>
                  </a:lnTo>
                  <a:lnTo>
                    <a:pt x="5763" y="465"/>
                  </a:lnTo>
                  <a:lnTo>
                    <a:pt x="4821" y="477"/>
                  </a:lnTo>
                  <a:lnTo>
                    <a:pt x="4326" y="447"/>
                  </a:lnTo>
                  <a:lnTo>
                    <a:pt x="3783" y="465"/>
                  </a:lnTo>
                  <a:lnTo>
                    <a:pt x="3417" y="456"/>
                  </a:lnTo>
                  <a:lnTo>
                    <a:pt x="2973" y="459"/>
                  </a:lnTo>
                  <a:lnTo>
                    <a:pt x="2451" y="453"/>
                  </a:lnTo>
                  <a:lnTo>
                    <a:pt x="2289" y="441"/>
                  </a:lnTo>
                  <a:lnTo>
                    <a:pt x="2010" y="453"/>
                  </a:lnTo>
                  <a:lnTo>
                    <a:pt x="1827" y="450"/>
                  </a:lnTo>
                  <a:lnTo>
                    <a:pt x="1215" y="465"/>
                  </a:lnTo>
                  <a:lnTo>
                    <a:pt x="660" y="456"/>
                  </a:lnTo>
                  <a:lnTo>
                    <a:pt x="0" y="450"/>
                  </a:lnTo>
                  <a:close/>
                </a:path>
              </a:pathLst>
            </a:custGeom>
            <a:solidFill>
              <a:schemeClr val="accent2">
                <a:alpha val="50000"/>
              </a:schemeClr>
            </a:solidFill>
            <a:ln w="9525" cap="flat" cmpd="sng">
              <a:noFill/>
              <a:prstDash val="solid"/>
              <a:round/>
              <a:headEnd/>
              <a:tailEnd/>
            </a:ln>
            <a:effectLst/>
          </p:spPr>
          <p:txBody>
            <a:bodyPr wrap="none" anchor="ctr"/>
            <a:lstStyle/>
            <a:p>
              <a:pPr>
                <a:defRPr/>
              </a:pPr>
              <a:endParaRPr lang="zh-CN" altLang="en-US">
                <a:solidFill>
                  <a:srgbClr val="545472"/>
                </a:solidFill>
              </a:endParaRPr>
            </a:p>
          </p:txBody>
        </p:sp>
        <p:sp>
          <p:nvSpPr>
            <p:cNvPr id="6" name="Freeform 4"/>
            <p:cNvSpPr>
              <a:spLocks/>
            </p:cNvSpPr>
            <p:nvPr userDrawn="1"/>
          </p:nvSpPr>
          <p:spPr bwMode="auto">
            <a:xfrm>
              <a:off x="0" y="98"/>
              <a:ext cx="256" cy="253"/>
            </a:xfrm>
            <a:custGeom>
              <a:avLst/>
              <a:gdLst/>
              <a:ahLst/>
              <a:cxnLst>
                <a:cxn ang="0">
                  <a:pos x="8" y="190"/>
                </a:cxn>
                <a:cxn ang="0">
                  <a:pos x="71" y="115"/>
                </a:cxn>
                <a:cxn ang="0">
                  <a:pos x="203" y="16"/>
                </a:cxn>
                <a:cxn ang="0">
                  <a:pos x="251" y="19"/>
                </a:cxn>
                <a:cxn ang="0">
                  <a:pos x="236" y="46"/>
                </a:cxn>
                <a:cxn ang="0">
                  <a:pos x="176" y="82"/>
                </a:cxn>
                <a:cxn ang="0">
                  <a:pos x="92" y="154"/>
                </a:cxn>
                <a:cxn ang="0">
                  <a:pos x="23" y="247"/>
                </a:cxn>
                <a:cxn ang="0">
                  <a:pos x="8" y="190"/>
                </a:cxn>
              </a:cxnLst>
              <a:rect l="0" t="0" r="r" b="b"/>
              <a:pathLst>
                <a:path w="256" h="253">
                  <a:moveTo>
                    <a:pt x="8" y="190"/>
                  </a:moveTo>
                  <a:cubicBezTo>
                    <a:pt x="16" y="168"/>
                    <a:pt x="38" y="144"/>
                    <a:pt x="71" y="115"/>
                  </a:cubicBezTo>
                  <a:cubicBezTo>
                    <a:pt x="104" y="86"/>
                    <a:pt x="173" y="32"/>
                    <a:pt x="203" y="16"/>
                  </a:cubicBezTo>
                  <a:cubicBezTo>
                    <a:pt x="233" y="0"/>
                    <a:pt x="246" y="14"/>
                    <a:pt x="251" y="19"/>
                  </a:cubicBezTo>
                  <a:cubicBezTo>
                    <a:pt x="256" y="24"/>
                    <a:pt x="249" y="35"/>
                    <a:pt x="236" y="46"/>
                  </a:cubicBezTo>
                  <a:cubicBezTo>
                    <a:pt x="223" y="57"/>
                    <a:pt x="200" y="64"/>
                    <a:pt x="176" y="82"/>
                  </a:cubicBezTo>
                  <a:cubicBezTo>
                    <a:pt x="152" y="100"/>
                    <a:pt x="118" y="126"/>
                    <a:pt x="92" y="154"/>
                  </a:cubicBezTo>
                  <a:cubicBezTo>
                    <a:pt x="66" y="182"/>
                    <a:pt x="36" y="241"/>
                    <a:pt x="23" y="247"/>
                  </a:cubicBezTo>
                  <a:cubicBezTo>
                    <a:pt x="10" y="253"/>
                    <a:pt x="0" y="212"/>
                    <a:pt x="8" y="190"/>
                  </a:cubicBezTo>
                  <a:close/>
                </a:path>
              </a:pathLst>
            </a:custGeom>
            <a:gradFill rotWithShape="0">
              <a:gsLst>
                <a:gs pos="0">
                  <a:schemeClr val="accent2"/>
                </a:gs>
                <a:gs pos="100000">
                  <a:schemeClr val="bg2"/>
                </a:gs>
              </a:gsLst>
              <a:lin ang="18900000" scaled="1"/>
            </a:gradFill>
            <a:ln w="9525">
              <a:noFill/>
              <a:round/>
              <a:headEnd/>
              <a:tailEnd/>
            </a:ln>
            <a:effectLst/>
          </p:spPr>
          <p:txBody>
            <a:bodyPr wrap="none" anchor="ctr"/>
            <a:lstStyle/>
            <a:p>
              <a:pPr>
                <a:defRPr/>
              </a:pPr>
              <a:endParaRPr lang="zh-CN" altLang="en-US">
                <a:solidFill>
                  <a:srgbClr val="545472"/>
                </a:solidFill>
              </a:endParaRPr>
            </a:p>
          </p:txBody>
        </p:sp>
        <p:sp>
          <p:nvSpPr>
            <p:cNvPr id="7" name="Freeform 5"/>
            <p:cNvSpPr>
              <a:spLocks/>
            </p:cNvSpPr>
            <p:nvPr userDrawn="1"/>
          </p:nvSpPr>
          <p:spPr bwMode="auto">
            <a:xfrm>
              <a:off x="56" y="0"/>
              <a:ext cx="708" cy="459"/>
            </a:xfrm>
            <a:custGeom>
              <a:avLst/>
              <a:gdLst/>
              <a:ahLst/>
              <a:cxnLst>
                <a:cxn ang="0">
                  <a:pos x="0" y="432"/>
                </a:cxn>
                <a:cxn ang="0">
                  <a:pos x="0" y="453"/>
                </a:cxn>
                <a:cxn ang="0">
                  <a:pos x="72" y="324"/>
                </a:cxn>
                <a:cxn ang="0">
                  <a:pos x="198" y="201"/>
                </a:cxn>
                <a:cxn ang="0">
                  <a:pos x="366" y="102"/>
                </a:cxn>
                <a:cxn ang="0">
                  <a:pos x="531" y="36"/>
                </a:cxn>
                <a:cxn ang="0">
                  <a:pos x="609" y="0"/>
                </a:cxn>
                <a:cxn ang="0">
                  <a:pos x="708" y="3"/>
                </a:cxn>
                <a:cxn ang="0">
                  <a:pos x="591" y="66"/>
                </a:cxn>
                <a:cxn ang="0">
                  <a:pos x="417" y="126"/>
                </a:cxn>
                <a:cxn ang="0">
                  <a:pos x="237" y="231"/>
                </a:cxn>
                <a:cxn ang="0">
                  <a:pos x="117" y="345"/>
                </a:cxn>
                <a:cxn ang="0">
                  <a:pos x="51" y="459"/>
                </a:cxn>
                <a:cxn ang="0">
                  <a:pos x="0" y="453"/>
                </a:cxn>
              </a:cxnLst>
              <a:rect l="0" t="0" r="r" b="b"/>
              <a:pathLst>
                <a:path w="708" h="459">
                  <a:moveTo>
                    <a:pt x="0" y="432"/>
                  </a:moveTo>
                  <a:lnTo>
                    <a:pt x="0" y="453"/>
                  </a:lnTo>
                  <a:cubicBezTo>
                    <a:pt x="12" y="435"/>
                    <a:pt x="39" y="366"/>
                    <a:pt x="72" y="324"/>
                  </a:cubicBezTo>
                  <a:cubicBezTo>
                    <a:pt x="105" y="282"/>
                    <a:pt x="149" y="238"/>
                    <a:pt x="198" y="201"/>
                  </a:cubicBezTo>
                  <a:cubicBezTo>
                    <a:pt x="247" y="164"/>
                    <a:pt x="311" y="129"/>
                    <a:pt x="366" y="102"/>
                  </a:cubicBezTo>
                  <a:cubicBezTo>
                    <a:pt x="421" y="75"/>
                    <a:pt x="490" y="53"/>
                    <a:pt x="531" y="36"/>
                  </a:cubicBezTo>
                  <a:cubicBezTo>
                    <a:pt x="572" y="19"/>
                    <a:pt x="580" y="5"/>
                    <a:pt x="609" y="0"/>
                  </a:cubicBezTo>
                  <a:lnTo>
                    <a:pt x="708" y="3"/>
                  </a:lnTo>
                  <a:cubicBezTo>
                    <a:pt x="705" y="14"/>
                    <a:pt x="640" y="45"/>
                    <a:pt x="591" y="66"/>
                  </a:cubicBezTo>
                  <a:cubicBezTo>
                    <a:pt x="542" y="87"/>
                    <a:pt x="476" y="98"/>
                    <a:pt x="417" y="126"/>
                  </a:cubicBezTo>
                  <a:cubicBezTo>
                    <a:pt x="358" y="154"/>
                    <a:pt x="287" y="195"/>
                    <a:pt x="237" y="231"/>
                  </a:cubicBezTo>
                  <a:cubicBezTo>
                    <a:pt x="187" y="267"/>
                    <a:pt x="148" y="307"/>
                    <a:pt x="117" y="345"/>
                  </a:cubicBezTo>
                  <a:cubicBezTo>
                    <a:pt x="86" y="383"/>
                    <a:pt x="70" y="441"/>
                    <a:pt x="51" y="459"/>
                  </a:cubicBezTo>
                  <a:lnTo>
                    <a:pt x="0" y="453"/>
                  </a:lnTo>
                </a:path>
              </a:pathLst>
            </a:custGeom>
            <a:gradFill rotWithShape="0">
              <a:gsLst>
                <a:gs pos="0">
                  <a:schemeClr val="bg2"/>
                </a:gs>
                <a:gs pos="50000">
                  <a:schemeClr val="accent2"/>
                </a:gs>
                <a:gs pos="100000">
                  <a:schemeClr val="bg2"/>
                </a:gs>
              </a:gsLst>
              <a:lin ang="540000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8" name="Freeform 6"/>
            <p:cNvSpPr>
              <a:spLocks/>
            </p:cNvSpPr>
            <p:nvPr userDrawn="1"/>
          </p:nvSpPr>
          <p:spPr bwMode="auto">
            <a:xfrm>
              <a:off x="131" y="269"/>
              <a:ext cx="251" cy="194"/>
            </a:xfrm>
            <a:custGeom>
              <a:avLst/>
              <a:gdLst/>
              <a:ahLst/>
              <a:cxnLst>
                <a:cxn ang="0">
                  <a:pos x="21" y="163"/>
                </a:cxn>
                <a:cxn ang="0">
                  <a:pos x="9" y="184"/>
                </a:cxn>
                <a:cxn ang="0">
                  <a:pos x="75" y="103"/>
                </a:cxn>
                <a:cxn ang="0">
                  <a:pos x="165" y="28"/>
                </a:cxn>
                <a:cxn ang="0">
                  <a:pos x="207" y="7"/>
                </a:cxn>
                <a:cxn ang="0">
                  <a:pos x="246" y="4"/>
                </a:cxn>
                <a:cxn ang="0">
                  <a:pos x="237" y="34"/>
                </a:cxn>
                <a:cxn ang="0">
                  <a:pos x="183" y="61"/>
                </a:cxn>
                <a:cxn ang="0">
                  <a:pos x="108" y="124"/>
                </a:cxn>
                <a:cxn ang="0">
                  <a:pos x="54" y="190"/>
                </a:cxn>
                <a:cxn ang="0">
                  <a:pos x="6" y="184"/>
                </a:cxn>
              </a:cxnLst>
              <a:rect l="0" t="0" r="r" b="b"/>
              <a:pathLst>
                <a:path w="251" h="194">
                  <a:moveTo>
                    <a:pt x="21" y="163"/>
                  </a:moveTo>
                  <a:cubicBezTo>
                    <a:pt x="10" y="178"/>
                    <a:pt x="0" y="194"/>
                    <a:pt x="9" y="184"/>
                  </a:cubicBezTo>
                  <a:cubicBezTo>
                    <a:pt x="18" y="174"/>
                    <a:pt x="49" y="129"/>
                    <a:pt x="75" y="103"/>
                  </a:cubicBezTo>
                  <a:cubicBezTo>
                    <a:pt x="101" y="77"/>
                    <a:pt x="143" y="44"/>
                    <a:pt x="165" y="28"/>
                  </a:cubicBezTo>
                  <a:cubicBezTo>
                    <a:pt x="187" y="12"/>
                    <a:pt x="194" y="11"/>
                    <a:pt x="207" y="7"/>
                  </a:cubicBezTo>
                  <a:cubicBezTo>
                    <a:pt x="220" y="3"/>
                    <a:pt x="241" y="0"/>
                    <a:pt x="246" y="4"/>
                  </a:cubicBezTo>
                  <a:cubicBezTo>
                    <a:pt x="251" y="8"/>
                    <a:pt x="247" y="25"/>
                    <a:pt x="237" y="34"/>
                  </a:cubicBezTo>
                  <a:cubicBezTo>
                    <a:pt x="227" y="43"/>
                    <a:pt x="204" y="46"/>
                    <a:pt x="183" y="61"/>
                  </a:cubicBezTo>
                  <a:cubicBezTo>
                    <a:pt x="162" y="76"/>
                    <a:pt x="129" y="103"/>
                    <a:pt x="108" y="124"/>
                  </a:cubicBezTo>
                  <a:cubicBezTo>
                    <a:pt x="87" y="145"/>
                    <a:pt x="71" y="180"/>
                    <a:pt x="54" y="190"/>
                  </a:cubicBezTo>
                  <a:lnTo>
                    <a:pt x="6" y="184"/>
                  </a:lnTo>
                </a:path>
              </a:pathLst>
            </a:custGeom>
            <a:gradFill rotWithShape="0">
              <a:gsLst>
                <a:gs pos="0">
                  <a:schemeClr val="accent2"/>
                </a:gs>
                <a:gs pos="100000">
                  <a:schemeClr val="bg2"/>
                </a:gs>
              </a:gsLst>
              <a:lin ang="1890000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9" name="Freeform 7"/>
            <p:cNvSpPr>
              <a:spLocks/>
            </p:cNvSpPr>
            <p:nvPr userDrawn="1"/>
          </p:nvSpPr>
          <p:spPr bwMode="auto">
            <a:xfrm>
              <a:off x="341" y="0"/>
              <a:ext cx="159" cy="72"/>
            </a:xfrm>
            <a:custGeom>
              <a:avLst/>
              <a:gdLst/>
              <a:ahLst/>
              <a:cxnLst>
                <a:cxn ang="0">
                  <a:pos x="99" y="0"/>
                </a:cxn>
                <a:cxn ang="0">
                  <a:pos x="15" y="36"/>
                </a:cxn>
                <a:cxn ang="0">
                  <a:pos x="6" y="60"/>
                </a:cxn>
                <a:cxn ang="0">
                  <a:pos x="36" y="69"/>
                </a:cxn>
                <a:cxn ang="0">
                  <a:pos x="87" y="42"/>
                </a:cxn>
                <a:cxn ang="0">
                  <a:pos x="159" y="0"/>
                </a:cxn>
                <a:cxn ang="0">
                  <a:pos x="99" y="0"/>
                </a:cxn>
              </a:cxnLst>
              <a:rect l="0" t="0" r="r" b="b"/>
              <a:pathLst>
                <a:path w="159" h="72">
                  <a:moveTo>
                    <a:pt x="99" y="0"/>
                  </a:moveTo>
                  <a:cubicBezTo>
                    <a:pt x="75" y="6"/>
                    <a:pt x="30" y="26"/>
                    <a:pt x="15" y="36"/>
                  </a:cubicBezTo>
                  <a:cubicBezTo>
                    <a:pt x="0" y="46"/>
                    <a:pt x="3" y="55"/>
                    <a:pt x="6" y="60"/>
                  </a:cubicBezTo>
                  <a:cubicBezTo>
                    <a:pt x="9" y="65"/>
                    <a:pt x="23" y="72"/>
                    <a:pt x="36" y="69"/>
                  </a:cubicBezTo>
                  <a:cubicBezTo>
                    <a:pt x="49" y="66"/>
                    <a:pt x="67" y="53"/>
                    <a:pt x="87" y="42"/>
                  </a:cubicBezTo>
                  <a:cubicBezTo>
                    <a:pt x="107" y="31"/>
                    <a:pt x="158" y="6"/>
                    <a:pt x="159" y="0"/>
                  </a:cubicBezTo>
                  <a:lnTo>
                    <a:pt x="99" y="0"/>
                  </a:lnTo>
                  <a:close/>
                </a:path>
              </a:pathLst>
            </a:custGeom>
            <a:gradFill rotWithShape="0">
              <a:gsLst>
                <a:gs pos="0">
                  <a:schemeClr val="accent2"/>
                </a:gs>
                <a:gs pos="100000">
                  <a:schemeClr val="bg2"/>
                </a:gs>
              </a:gsLst>
              <a:lin ang="1890000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10" name="Freeform 8"/>
            <p:cNvSpPr>
              <a:spLocks/>
            </p:cNvSpPr>
            <p:nvPr userDrawn="1"/>
          </p:nvSpPr>
          <p:spPr bwMode="auto">
            <a:xfrm>
              <a:off x="488" y="0"/>
              <a:ext cx="455" cy="216"/>
            </a:xfrm>
            <a:custGeom>
              <a:avLst/>
              <a:gdLst/>
              <a:ahLst/>
              <a:cxnLst>
                <a:cxn ang="0">
                  <a:pos x="395" y="0"/>
                </a:cxn>
                <a:cxn ang="0">
                  <a:pos x="338" y="48"/>
                </a:cxn>
                <a:cxn ang="0">
                  <a:pos x="242" y="102"/>
                </a:cxn>
                <a:cxn ang="0">
                  <a:pos x="104" y="147"/>
                </a:cxn>
                <a:cxn ang="0">
                  <a:pos x="35" y="168"/>
                </a:cxn>
                <a:cxn ang="0">
                  <a:pos x="8" y="192"/>
                </a:cxn>
                <a:cxn ang="0">
                  <a:pos x="8" y="213"/>
                </a:cxn>
                <a:cxn ang="0">
                  <a:pos x="59" y="213"/>
                </a:cxn>
                <a:cxn ang="0">
                  <a:pos x="86" y="192"/>
                </a:cxn>
                <a:cxn ang="0">
                  <a:pos x="173" y="159"/>
                </a:cxn>
                <a:cxn ang="0">
                  <a:pos x="299" y="126"/>
                </a:cxn>
                <a:cxn ang="0">
                  <a:pos x="392" y="72"/>
                </a:cxn>
                <a:cxn ang="0">
                  <a:pos x="455" y="0"/>
                </a:cxn>
                <a:cxn ang="0">
                  <a:pos x="395" y="0"/>
                </a:cxn>
              </a:cxnLst>
              <a:rect l="0" t="0" r="r" b="b"/>
              <a:pathLst>
                <a:path w="455" h="216">
                  <a:moveTo>
                    <a:pt x="395" y="0"/>
                  </a:moveTo>
                  <a:cubicBezTo>
                    <a:pt x="376" y="8"/>
                    <a:pt x="364" y="31"/>
                    <a:pt x="338" y="48"/>
                  </a:cubicBezTo>
                  <a:cubicBezTo>
                    <a:pt x="312" y="65"/>
                    <a:pt x="281" y="86"/>
                    <a:pt x="242" y="102"/>
                  </a:cubicBezTo>
                  <a:cubicBezTo>
                    <a:pt x="203" y="118"/>
                    <a:pt x="138" y="136"/>
                    <a:pt x="104" y="147"/>
                  </a:cubicBezTo>
                  <a:cubicBezTo>
                    <a:pt x="70" y="158"/>
                    <a:pt x="51" y="161"/>
                    <a:pt x="35" y="168"/>
                  </a:cubicBezTo>
                  <a:cubicBezTo>
                    <a:pt x="19" y="175"/>
                    <a:pt x="12" y="185"/>
                    <a:pt x="8" y="192"/>
                  </a:cubicBezTo>
                  <a:cubicBezTo>
                    <a:pt x="4" y="199"/>
                    <a:pt x="0" y="210"/>
                    <a:pt x="8" y="213"/>
                  </a:cubicBezTo>
                  <a:cubicBezTo>
                    <a:pt x="16" y="216"/>
                    <a:pt x="46" y="216"/>
                    <a:pt x="59" y="213"/>
                  </a:cubicBezTo>
                  <a:cubicBezTo>
                    <a:pt x="72" y="210"/>
                    <a:pt x="67" y="201"/>
                    <a:pt x="86" y="192"/>
                  </a:cubicBezTo>
                  <a:cubicBezTo>
                    <a:pt x="105" y="183"/>
                    <a:pt x="138" y="170"/>
                    <a:pt x="173" y="159"/>
                  </a:cubicBezTo>
                  <a:cubicBezTo>
                    <a:pt x="208" y="148"/>
                    <a:pt x="263" y="140"/>
                    <a:pt x="299" y="126"/>
                  </a:cubicBezTo>
                  <a:cubicBezTo>
                    <a:pt x="335" y="112"/>
                    <a:pt x="366" y="93"/>
                    <a:pt x="392" y="72"/>
                  </a:cubicBezTo>
                  <a:cubicBezTo>
                    <a:pt x="418" y="51"/>
                    <a:pt x="454" y="12"/>
                    <a:pt x="455" y="0"/>
                  </a:cubicBezTo>
                  <a:lnTo>
                    <a:pt x="395" y="0"/>
                  </a:lnTo>
                  <a:close/>
                </a:path>
              </a:pathLst>
            </a:custGeom>
            <a:gradFill rotWithShape="0">
              <a:gsLst>
                <a:gs pos="0">
                  <a:schemeClr val="bg2"/>
                </a:gs>
                <a:gs pos="100000">
                  <a:schemeClr val="accent2"/>
                </a:gs>
              </a:gsLst>
              <a:lin ang="270000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11" name="Freeform 9"/>
            <p:cNvSpPr>
              <a:spLocks/>
            </p:cNvSpPr>
            <p:nvPr userDrawn="1"/>
          </p:nvSpPr>
          <p:spPr bwMode="auto">
            <a:xfrm>
              <a:off x="1448" y="37"/>
              <a:ext cx="414" cy="108"/>
            </a:xfrm>
            <a:custGeom>
              <a:avLst/>
              <a:gdLst/>
              <a:ahLst/>
              <a:cxnLst>
                <a:cxn ang="0">
                  <a:pos x="0" y="11"/>
                </a:cxn>
                <a:cxn ang="0">
                  <a:pos x="24" y="11"/>
                </a:cxn>
                <a:cxn ang="0">
                  <a:pos x="156" y="2"/>
                </a:cxn>
                <a:cxn ang="0">
                  <a:pos x="288" y="23"/>
                </a:cxn>
                <a:cxn ang="0">
                  <a:pos x="384" y="53"/>
                </a:cxn>
                <a:cxn ang="0">
                  <a:pos x="411" y="74"/>
                </a:cxn>
                <a:cxn ang="0">
                  <a:pos x="405" y="104"/>
                </a:cxn>
                <a:cxn ang="0">
                  <a:pos x="363" y="101"/>
                </a:cxn>
                <a:cxn ang="0">
                  <a:pos x="294" y="77"/>
                </a:cxn>
                <a:cxn ang="0">
                  <a:pos x="174" y="50"/>
                </a:cxn>
                <a:cxn ang="0">
                  <a:pos x="72" y="62"/>
                </a:cxn>
                <a:cxn ang="0">
                  <a:pos x="36" y="59"/>
                </a:cxn>
                <a:cxn ang="0">
                  <a:pos x="0" y="11"/>
                </a:cxn>
              </a:cxnLst>
              <a:rect l="0" t="0" r="r" b="b"/>
              <a:pathLst>
                <a:path w="414" h="108">
                  <a:moveTo>
                    <a:pt x="0" y="11"/>
                  </a:moveTo>
                  <a:lnTo>
                    <a:pt x="24" y="11"/>
                  </a:lnTo>
                  <a:cubicBezTo>
                    <a:pt x="50" y="9"/>
                    <a:pt x="112" y="0"/>
                    <a:pt x="156" y="2"/>
                  </a:cubicBezTo>
                  <a:cubicBezTo>
                    <a:pt x="200" y="4"/>
                    <a:pt x="250" y="15"/>
                    <a:pt x="288" y="23"/>
                  </a:cubicBezTo>
                  <a:cubicBezTo>
                    <a:pt x="326" y="31"/>
                    <a:pt x="363" y="44"/>
                    <a:pt x="384" y="53"/>
                  </a:cubicBezTo>
                  <a:cubicBezTo>
                    <a:pt x="405" y="62"/>
                    <a:pt x="408" y="66"/>
                    <a:pt x="411" y="74"/>
                  </a:cubicBezTo>
                  <a:cubicBezTo>
                    <a:pt x="414" y="82"/>
                    <a:pt x="413" y="100"/>
                    <a:pt x="405" y="104"/>
                  </a:cubicBezTo>
                  <a:cubicBezTo>
                    <a:pt x="397" y="108"/>
                    <a:pt x="381" y="105"/>
                    <a:pt x="363" y="101"/>
                  </a:cubicBezTo>
                  <a:cubicBezTo>
                    <a:pt x="345" y="97"/>
                    <a:pt x="325" y="85"/>
                    <a:pt x="294" y="77"/>
                  </a:cubicBezTo>
                  <a:cubicBezTo>
                    <a:pt x="263" y="69"/>
                    <a:pt x="211" y="53"/>
                    <a:pt x="174" y="50"/>
                  </a:cubicBezTo>
                  <a:cubicBezTo>
                    <a:pt x="137" y="47"/>
                    <a:pt x="95" y="61"/>
                    <a:pt x="72" y="62"/>
                  </a:cubicBezTo>
                  <a:cubicBezTo>
                    <a:pt x="49" y="63"/>
                    <a:pt x="48" y="66"/>
                    <a:pt x="36" y="59"/>
                  </a:cubicBezTo>
                  <a:cubicBezTo>
                    <a:pt x="24" y="52"/>
                    <a:pt x="13" y="36"/>
                    <a:pt x="0" y="11"/>
                  </a:cubicBezTo>
                  <a:close/>
                </a:path>
              </a:pathLst>
            </a:custGeom>
            <a:gradFill rotWithShape="0">
              <a:gsLst>
                <a:gs pos="0">
                  <a:schemeClr val="accent2"/>
                </a:gs>
                <a:gs pos="100000">
                  <a:schemeClr val="bg2"/>
                </a:gs>
              </a:gsLst>
              <a:lin ang="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12" name="Freeform 10"/>
            <p:cNvSpPr>
              <a:spLocks/>
            </p:cNvSpPr>
            <p:nvPr userDrawn="1"/>
          </p:nvSpPr>
          <p:spPr bwMode="auto">
            <a:xfrm>
              <a:off x="1790" y="0"/>
              <a:ext cx="520" cy="225"/>
            </a:xfrm>
            <a:custGeom>
              <a:avLst/>
              <a:gdLst/>
              <a:ahLst/>
              <a:cxnLst>
                <a:cxn ang="0">
                  <a:pos x="42" y="0"/>
                </a:cxn>
                <a:cxn ang="0">
                  <a:pos x="12" y="24"/>
                </a:cxn>
                <a:cxn ang="0">
                  <a:pos x="114" y="54"/>
                </a:cxn>
                <a:cxn ang="0">
                  <a:pos x="240" y="117"/>
                </a:cxn>
                <a:cxn ang="0">
                  <a:pos x="333" y="153"/>
                </a:cxn>
                <a:cxn ang="0">
                  <a:pos x="438" y="219"/>
                </a:cxn>
                <a:cxn ang="0">
                  <a:pos x="426" y="192"/>
                </a:cxn>
                <a:cxn ang="0">
                  <a:pos x="441" y="180"/>
                </a:cxn>
                <a:cxn ang="0">
                  <a:pos x="519" y="216"/>
                </a:cxn>
                <a:cxn ang="0">
                  <a:pos x="450" y="162"/>
                </a:cxn>
                <a:cxn ang="0">
                  <a:pos x="381" y="135"/>
                </a:cxn>
                <a:cxn ang="0">
                  <a:pos x="285" y="84"/>
                </a:cxn>
                <a:cxn ang="0">
                  <a:pos x="186" y="18"/>
                </a:cxn>
                <a:cxn ang="0">
                  <a:pos x="123" y="0"/>
                </a:cxn>
                <a:cxn ang="0">
                  <a:pos x="42" y="0"/>
                </a:cxn>
              </a:cxnLst>
              <a:rect l="0" t="0" r="r" b="b"/>
              <a:pathLst>
                <a:path w="520" h="225">
                  <a:moveTo>
                    <a:pt x="42" y="0"/>
                  </a:moveTo>
                  <a:cubicBezTo>
                    <a:pt x="24" y="4"/>
                    <a:pt x="0" y="15"/>
                    <a:pt x="12" y="24"/>
                  </a:cubicBezTo>
                  <a:cubicBezTo>
                    <a:pt x="24" y="33"/>
                    <a:pt x="76" y="39"/>
                    <a:pt x="114" y="54"/>
                  </a:cubicBezTo>
                  <a:cubicBezTo>
                    <a:pt x="152" y="69"/>
                    <a:pt x="203" y="100"/>
                    <a:pt x="240" y="117"/>
                  </a:cubicBezTo>
                  <a:cubicBezTo>
                    <a:pt x="277" y="134"/>
                    <a:pt x="300" y="136"/>
                    <a:pt x="333" y="153"/>
                  </a:cubicBezTo>
                  <a:cubicBezTo>
                    <a:pt x="366" y="170"/>
                    <a:pt x="423" y="213"/>
                    <a:pt x="438" y="219"/>
                  </a:cubicBezTo>
                  <a:cubicBezTo>
                    <a:pt x="453" y="225"/>
                    <a:pt x="426" y="198"/>
                    <a:pt x="426" y="192"/>
                  </a:cubicBezTo>
                  <a:cubicBezTo>
                    <a:pt x="426" y="186"/>
                    <a:pt x="426" y="176"/>
                    <a:pt x="441" y="180"/>
                  </a:cubicBezTo>
                  <a:cubicBezTo>
                    <a:pt x="456" y="184"/>
                    <a:pt x="518" y="219"/>
                    <a:pt x="519" y="216"/>
                  </a:cubicBezTo>
                  <a:cubicBezTo>
                    <a:pt x="520" y="213"/>
                    <a:pt x="473" y="176"/>
                    <a:pt x="450" y="162"/>
                  </a:cubicBezTo>
                  <a:cubicBezTo>
                    <a:pt x="427" y="148"/>
                    <a:pt x="408" y="148"/>
                    <a:pt x="381" y="135"/>
                  </a:cubicBezTo>
                  <a:cubicBezTo>
                    <a:pt x="354" y="122"/>
                    <a:pt x="318" y="104"/>
                    <a:pt x="285" y="84"/>
                  </a:cubicBezTo>
                  <a:cubicBezTo>
                    <a:pt x="252" y="64"/>
                    <a:pt x="213" y="32"/>
                    <a:pt x="186" y="18"/>
                  </a:cubicBezTo>
                  <a:cubicBezTo>
                    <a:pt x="159" y="4"/>
                    <a:pt x="147" y="2"/>
                    <a:pt x="123" y="0"/>
                  </a:cubicBezTo>
                  <a:lnTo>
                    <a:pt x="42" y="0"/>
                  </a:lnTo>
                  <a:close/>
                </a:path>
              </a:pathLst>
            </a:custGeom>
            <a:gradFill rotWithShape="0">
              <a:gsLst>
                <a:gs pos="0">
                  <a:schemeClr val="accent2"/>
                </a:gs>
                <a:gs pos="100000">
                  <a:schemeClr val="bg2"/>
                </a:gs>
              </a:gsLst>
              <a:lin ang="1890000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13" name="Freeform 11"/>
            <p:cNvSpPr>
              <a:spLocks/>
            </p:cNvSpPr>
            <p:nvPr userDrawn="1"/>
          </p:nvSpPr>
          <p:spPr bwMode="auto">
            <a:xfrm>
              <a:off x="1943" y="154"/>
              <a:ext cx="431" cy="233"/>
            </a:xfrm>
            <a:custGeom>
              <a:avLst/>
              <a:gdLst/>
              <a:ahLst/>
              <a:cxnLst>
                <a:cxn ang="0">
                  <a:pos x="6" y="38"/>
                </a:cxn>
                <a:cxn ang="0">
                  <a:pos x="9" y="20"/>
                </a:cxn>
                <a:cxn ang="0">
                  <a:pos x="42" y="2"/>
                </a:cxn>
                <a:cxn ang="0">
                  <a:pos x="90" y="35"/>
                </a:cxn>
                <a:cxn ang="0">
                  <a:pos x="189" y="89"/>
                </a:cxn>
                <a:cxn ang="0">
                  <a:pos x="288" y="140"/>
                </a:cxn>
                <a:cxn ang="0">
                  <a:pos x="375" y="176"/>
                </a:cxn>
                <a:cxn ang="0">
                  <a:pos x="396" y="176"/>
                </a:cxn>
                <a:cxn ang="0">
                  <a:pos x="429" y="212"/>
                </a:cxn>
                <a:cxn ang="0">
                  <a:pos x="408" y="233"/>
                </a:cxn>
                <a:cxn ang="0">
                  <a:pos x="333" y="212"/>
                </a:cxn>
                <a:cxn ang="0">
                  <a:pos x="186" y="143"/>
                </a:cxn>
                <a:cxn ang="0">
                  <a:pos x="48" y="68"/>
                </a:cxn>
                <a:cxn ang="0">
                  <a:pos x="6" y="38"/>
                </a:cxn>
              </a:cxnLst>
              <a:rect l="0" t="0" r="r" b="b"/>
              <a:pathLst>
                <a:path w="431" h="233">
                  <a:moveTo>
                    <a:pt x="6" y="38"/>
                  </a:moveTo>
                  <a:cubicBezTo>
                    <a:pt x="0" y="26"/>
                    <a:pt x="3" y="26"/>
                    <a:pt x="9" y="20"/>
                  </a:cubicBezTo>
                  <a:cubicBezTo>
                    <a:pt x="15" y="14"/>
                    <a:pt x="29" y="0"/>
                    <a:pt x="42" y="2"/>
                  </a:cubicBezTo>
                  <a:cubicBezTo>
                    <a:pt x="55" y="4"/>
                    <a:pt x="66" y="21"/>
                    <a:pt x="90" y="35"/>
                  </a:cubicBezTo>
                  <a:cubicBezTo>
                    <a:pt x="114" y="49"/>
                    <a:pt x="156" y="72"/>
                    <a:pt x="189" y="89"/>
                  </a:cubicBezTo>
                  <a:cubicBezTo>
                    <a:pt x="222" y="106"/>
                    <a:pt x="257" y="126"/>
                    <a:pt x="288" y="140"/>
                  </a:cubicBezTo>
                  <a:cubicBezTo>
                    <a:pt x="319" y="154"/>
                    <a:pt x="357" y="170"/>
                    <a:pt x="375" y="176"/>
                  </a:cubicBezTo>
                  <a:cubicBezTo>
                    <a:pt x="393" y="182"/>
                    <a:pt x="387" y="170"/>
                    <a:pt x="396" y="176"/>
                  </a:cubicBezTo>
                  <a:cubicBezTo>
                    <a:pt x="405" y="182"/>
                    <a:pt x="427" y="203"/>
                    <a:pt x="429" y="212"/>
                  </a:cubicBezTo>
                  <a:cubicBezTo>
                    <a:pt x="431" y="221"/>
                    <a:pt x="424" y="233"/>
                    <a:pt x="408" y="233"/>
                  </a:cubicBezTo>
                  <a:cubicBezTo>
                    <a:pt x="392" y="233"/>
                    <a:pt x="370" y="227"/>
                    <a:pt x="333" y="212"/>
                  </a:cubicBezTo>
                  <a:cubicBezTo>
                    <a:pt x="296" y="197"/>
                    <a:pt x="234" y="167"/>
                    <a:pt x="186" y="143"/>
                  </a:cubicBezTo>
                  <a:cubicBezTo>
                    <a:pt x="138" y="119"/>
                    <a:pt x="78" y="86"/>
                    <a:pt x="48" y="68"/>
                  </a:cubicBezTo>
                  <a:cubicBezTo>
                    <a:pt x="18" y="50"/>
                    <a:pt x="12" y="50"/>
                    <a:pt x="6" y="38"/>
                  </a:cubicBezTo>
                  <a:close/>
                </a:path>
              </a:pathLst>
            </a:custGeom>
            <a:gradFill rotWithShape="0">
              <a:gsLst>
                <a:gs pos="0">
                  <a:schemeClr val="accent2"/>
                </a:gs>
                <a:gs pos="100000">
                  <a:schemeClr val="bg2"/>
                </a:gs>
              </a:gsLst>
              <a:lin ang="1890000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14" name="Freeform 12"/>
            <p:cNvSpPr>
              <a:spLocks/>
            </p:cNvSpPr>
            <p:nvPr userDrawn="1"/>
          </p:nvSpPr>
          <p:spPr bwMode="auto">
            <a:xfrm>
              <a:off x="2262" y="87"/>
              <a:ext cx="396" cy="227"/>
            </a:xfrm>
            <a:custGeom>
              <a:avLst/>
              <a:gdLst/>
              <a:ahLst/>
              <a:cxnLst>
                <a:cxn ang="0">
                  <a:pos x="2" y="9"/>
                </a:cxn>
                <a:cxn ang="0">
                  <a:pos x="53" y="66"/>
                </a:cxn>
                <a:cxn ang="0">
                  <a:pos x="176" y="132"/>
                </a:cxn>
                <a:cxn ang="0">
                  <a:pos x="293" y="189"/>
                </a:cxn>
                <a:cxn ang="0">
                  <a:pos x="341" y="222"/>
                </a:cxn>
                <a:cxn ang="0">
                  <a:pos x="377" y="219"/>
                </a:cxn>
                <a:cxn ang="0">
                  <a:pos x="377" y="180"/>
                </a:cxn>
                <a:cxn ang="0">
                  <a:pos x="260" y="126"/>
                </a:cxn>
                <a:cxn ang="0">
                  <a:pos x="113" y="51"/>
                </a:cxn>
                <a:cxn ang="0">
                  <a:pos x="41" y="9"/>
                </a:cxn>
                <a:cxn ang="0">
                  <a:pos x="2" y="9"/>
                </a:cxn>
              </a:cxnLst>
              <a:rect l="0" t="0" r="r" b="b"/>
              <a:pathLst>
                <a:path w="396" h="227">
                  <a:moveTo>
                    <a:pt x="2" y="9"/>
                  </a:moveTo>
                  <a:cubicBezTo>
                    <a:pt x="4" y="18"/>
                    <a:pt x="24" y="45"/>
                    <a:pt x="53" y="66"/>
                  </a:cubicBezTo>
                  <a:cubicBezTo>
                    <a:pt x="82" y="87"/>
                    <a:pt x="136" y="111"/>
                    <a:pt x="176" y="132"/>
                  </a:cubicBezTo>
                  <a:cubicBezTo>
                    <a:pt x="216" y="153"/>
                    <a:pt x="266" y="174"/>
                    <a:pt x="293" y="189"/>
                  </a:cubicBezTo>
                  <a:cubicBezTo>
                    <a:pt x="320" y="204"/>
                    <a:pt x="327" y="217"/>
                    <a:pt x="341" y="222"/>
                  </a:cubicBezTo>
                  <a:cubicBezTo>
                    <a:pt x="355" y="227"/>
                    <a:pt x="371" y="226"/>
                    <a:pt x="377" y="219"/>
                  </a:cubicBezTo>
                  <a:cubicBezTo>
                    <a:pt x="383" y="212"/>
                    <a:pt x="396" y="195"/>
                    <a:pt x="377" y="180"/>
                  </a:cubicBezTo>
                  <a:cubicBezTo>
                    <a:pt x="358" y="165"/>
                    <a:pt x="304" y="147"/>
                    <a:pt x="260" y="126"/>
                  </a:cubicBezTo>
                  <a:cubicBezTo>
                    <a:pt x="216" y="105"/>
                    <a:pt x="149" y="70"/>
                    <a:pt x="113" y="51"/>
                  </a:cubicBezTo>
                  <a:cubicBezTo>
                    <a:pt x="77" y="32"/>
                    <a:pt x="60" y="17"/>
                    <a:pt x="41" y="9"/>
                  </a:cubicBezTo>
                  <a:cubicBezTo>
                    <a:pt x="22" y="1"/>
                    <a:pt x="0" y="0"/>
                    <a:pt x="2" y="9"/>
                  </a:cubicBezTo>
                  <a:close/>
                </a:path>
              </a:pathLst>
            </a:custGeom>
            <a:gradFill rotWithShape="0">
              <a:gsLst>
                <a:gs pos="0">
                  <a:schemeClr val="accent2"/>
                </a:gs>
                <a:gs pos="100000">
                  <a:schemeClr val="bg2"/>
                </a:gs>
              </a:gsLst>
              <a:lin ang="1890000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15" name="Freeform 13"/>
            <p:cNvSpPr>
              <a:spLocks/>
            </p:cNvSpPr>
            <p:nvPr userDrawn="1"/>
          </p:nvSpPr>
          <p:spPr bwMode="auto">
            <a:xfrm>
              <a:off x="2264" y="240"/>
              <a:ext cx="516" cy="223"/>
            </a:xfrm>
            <a:custGeom>
              <a:avLst/>
              <a:gdLst/>
              <a:ahLst/>
              <a:cxnLst>
                <a:cxn ang="0">
                  <a:pos x="3" y="10"/>
                </a:cxn>
                <a:cxn ang="0">
                  <a:pos x="105" y="97"/>
                </a:cxn>
                <a:cxn ang="0">
                  <a:pos x="243" y="178"/>
                </a:cxn>
                <a:cxn ang="0">
                  <a:pos x="357" y="217"/>
                </a:cxn>
                <a:cxn ang="0">
                  <a:pos x="498" y="214"/>
                </a:cxn>
                <a:cxn ang="0">
                  <a:pos x="468" y="187"/>
                </a:cxn>
                <a:cxn ang="0">
                  <a:pos x="309" y="136"/>
                </a:cxn>
                <a:cxn ang="0">
                  <a:pos x="123" y="34"/>
                </a:cxn>
                <a:cxn ang="0">
                  <a:pos x="3" y="10"/>
                </a:cxn>
              </a:cxnLst>
              <a:rect l="0" t="0" r="r" b="b"/>
              <a:pathLst>
                <a:path w="516" h="223">
                  <a:moveTo>
                    <a:pt x="3" y="10"/>
                  </a:moveTo>
                  <a:cubicBezTo>
                    <a:pt x="0" y="20"/>
                    <a:pt x="65" y="69"/>
                    <a:pt x="105" y="97"/>
                  </a:cubicBezTo>
                  <a:cubicBezTo>
                    <a:pt x="145" y="125"/>
                    <a:pt x="201" y="158"/>
                    <a:pt x="243" y="178"/>
                  </a:cubicBezTo>
                  <a:cubicBezTo>
                    <a:pt x="285" y="198"/>
                    <a:pt x="315" y="211"/>
                    <a:pt x="357" y="217"/>
                  </a:cubicBezTo>
                  <a:cubicBezTo>
                    <a:pt x="399" y="223"/>
                    <a:pt x="480" y="219"/>
                    <a:pt x="498" y="214"/>
                  </a:cubicBezTo>
                  <a:cubicBezTo>
                    <a:pt x="516" y="209"/>
                    <a:pt x="499" y="200"/>
                    <a:pt x="468" y="187"/>
                  </a:cubicBezTo>
                  <a:cubicBezTo>
                    <a:pt x="437" y="174"/>
                    <a:pt x="366" y="161"/>
                    <a:pt x="309" y="136"/>
                  </a:cubicBezTo>
                  <a:cubicBezTo>
                    <a:pt x="252" y="111"/>
                    <a:pt x="172" y="54"/>
                    <a:pt x="123" y="34"/>
                  </a:cubicBezTo>
                  <a:cubicBezTo>
                    <a:pt x="74" y="14"/>
                    <a:pt x="6" y="0"/>
                    <a:pt x="3" y="10"/>
                  </a:cubicBezTo>
                  <a:close/>
                </a:path>
              </a:pathLst>
            </a:custGeom>
            <a:gradFill rotWithShape="0">
              <a:gsLst>
                <a:gs pos="0">
                  <a:schemeClr val="bg2"/>
                </a:gs>
                <a:gs pos="100000">
                  <a:schemeClr val="accent2"/>
                </a:gs>
              </a:gsLst>
              <a:lin ang="540000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16" name="Freeform 14"/>
            <p:cNvSpPr>
              <a:spLocks/>
            </p:cNvSpPr>
            <p:nvPr userDrawn="1"/>
          </p:nvSpPr>
          <p:spPr bwMode="auto">
            <a:xfrm>
              <a:off x="2723" y="324"/>
              <a:ext cx="414" cy="100"/>
            </a:xfrm>
            <a:custGeom>
              <a:avLst/>
              <a:gdLst/>
              <a:ahLst/>
              <a:cxnLst>
                <a:cxn ang="0">
                  <a:pos x="69" y="60"/>
                </a:cxn>
                <a:cxn ang="0">
                  <a:pos x="12" y="42"/>
                </a:cxn>
                <a:cxn ang="0">
                  <a:pos x="3" y="15"/>
                </a:cxn>
                <a:cxn ang="0">
                  <a:pos x="30" y="0"/>
                </a:cxn>
                <a:cxn ang="0">
                  <a:pos x="117" y="18"/>
                </a:cxn>
                <a:cxn ang="0">
                  <a:pos x="243" y="48"/>
                </a:cxn>
                <a:cxn ang="0">
                  <a:pos x="387" y="48"/>
                </a:cxn>
                <a:cxn ang="0">
                  <a:pos x="408" y="54"/>
                </a:cxn>
                <a:cxn ang="0">
                  <a:pos x="381" y="87"/>
                </a:cxn>
                <a:cxn ang="0">
                  <a:pos x="318" y="99"/>
                </a:cxn>
                <a:cxn ang="0">
                  <a:pos x="195" y="93"/>
                </a:cxn>
                <a:cxn ang="0">
                  <a:pos x="69" y="60"/>
                </a:cxn>
              </a:cxnLst>
              <a:rect l="0" t="0" r="r" b="b"/>
              <a:pathLst>
                <a:path w="414" h="100">
                  <a:moveTo>
                    <a:pt x="69" y="60"/>
                  </a:moveTo>
                  <a:cubicBezTo>
                    <a:pt x="39" y="52"/>
                    <a:pt x="23" y="49"/>
                    <a:pt x="12" y="42"/>
                  </a:cubicBezTo>
                  <a:cubicBezTo>
                    <a:pt x="1" y="35"/>
                    <a:pt x="0" y="22"/>
                    <a:pt x="3" y="15"/>
                  </a:cubicBezTo>
                  <a:cubicBezTo>
                    <a:pt x="6" y="8"/>
                    <a:pt x="11" y="0"/>
                    <a:pt x="30" y="0"/>
                  </a:cubicBezTo>
                  <a:cubicBezTo>
                    <a:pt x="49" y="0"/>
                    <a:pt x="82" y="10"/>
                    <a:pt x="117" y="18"/>
                  </a:cubicBezTo>
                  <a:cubicBezTo>
                    <a:pt x="152" y="26"/>
                    <a:pt x="198" y="43"/>
                    <a:pt x="243" y="48"/>
                  </a:cubicBezTo>
                  <a:cubicBezTo>
                    <a:pt x="288" y="53"/>
                    <a:pt x="360" y="47"/>
                    <a:pt x="387" y="48"/>
                  </a:cubicBezTo>
                  <a:cubicBezTo>
                    <a:pt x="414" y="49"/>
                    <a:pt x="409" y="48"/>
                    <a:pt x="408" y="54"/>
                  </a:cubicBezTo>
                  <a:cubicBezTo>
                    <a:pt x="407" y="60"/>
                    <a:pt x="396" y="80"/>
                    <a:pt x="381" y="87"/>
                  </a:cubicBezTo>
                  <a:cubicBezTo>
                    <a:pt x="366" y="94"/>
                    <a:pt x="349" y="98"/>
                    <a:pt x="318" y="99"/>
                  </a:cubicBezTo>
                  <a:cubicBezTo>
                    <a:pt x="287" y="100"/>
                    <a:pt x="237" y="99"/>
                    <a:pt x="195" y="93"/>
                  </a:cubicBezTo>
                  <a:cubicBezTo>
                    <a:pt x="153" y="87"/>
                    <a:pt x="99" y="68"/>
                    <a:pt x="69" y="60"/>
                  </a:cubicBezTo>
                  <a:close/>
                </a:path>
              </a:pathLst>
            </a:custGeom>
            <a:gradFill rotWithShape="0">
              <a:gsLst>
                <a:gs pos="0">
                  <a:schemeClr val="bg2"/>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17" name="Freeform 15"/>
            <p:cNvSpPr>
              <a:spLocks/>
            </p:cNvSpPr>
            <p:nvPr userDrawn="1"/>
          </p:nvSpPr>
          <p:spPr bwMode="auto">
            <a:xfrm>
              <a:off x="3165" y="375"/>
              <a:ext cx="150" cy="72"/>
            </a:xfrm>
            <a:custGeom>
              <a:avLst/>
              <a:gdLst/>
              <a:ahLst/>
              <a:cxnLst>
                <a:cxn ang="0">
                  <a:pos x="3" y="67"/>
                </a:cxn>
                <a:cxn ang="0">
                  <a:pos x="84" y="19"/>
                </a:cxn>
                <a:cxn ang="0">
                  <a:pos x="123" y="1"/>
                </a:cxn>
                <a:cxn ang="0">
                  <a:pos x="150" y="22"/>
                </a:cxn>
                <a:cxn ang="0">
                  <a:pos x="123" y="55"/>
                </a:cxn>
                <a:cxn ang="0">
                  <a:pos x="90" y="70"/>
                </a:cxn>
                <a:cxn ang="0">
                  <a:pos x="0" y="67"/>
                </a:cxn>
              </a:cxnLst>
              <a:rect l="0" t="0" r="r" b="b"/>
              <a:pathLst>
                <a:path w="150" h="72">
                  <a:moveTo>
                    <a:pt x="3" y="67"/>
                  </a:moveTo>
                  <a:cubicBezTo>
                    <a:pt x="16" y="59"/>
                    <a:pt x="64" y="30"/>
                    <a:pt x="84" y="19"/>
                  </a:cubicBezTo>
                  <a:cubicBezTo>
                    <a:pt x="104" y="8"/>
                    <a:pt x="112" y="0"/>
                    <a:pt x="123" y="1"/>
                  </a:cubicBezTo>
                  <a:cubicBezTo>
                    <a:pt x="134" y="2"/>
                    <a:pt x="150" y="13"/>
                    <a:pt x="150" y="22"/>
                  </a:cubicBezTo>
                  <a:cubicBezTo>
                    <a:pt x="150" y="31"/>
                    <a:pt x="133" y="47"/>
                    <a:pt x="123" y="55"/>
                  </a:cubicBezTo>
                  <a:cubicBezTo>
                    <a:pt x="113" y="63"/>
                    <a:pt x="110" y="68"/>
                    <a:pt x="90" y="70"/>
                  </a:cubicBezTo>
                  <a:cubicBezTo>
                    <a:pt x="70" y="72"/>
                    <a:pt x="35" y="69"/>
                    <a:pt x="0" y="67"/>
                  </a:cubicBezTo>
                </a:path>
              </a:pathLst>
            </a:custGeom>
            <a:gradFill rotWithShape="0">
              <a:gsLst>
                <a:gs pos="0">
                  <a:schemeClr val="accent2"/>
                </a:gs>
                <a:gs pos="100000">
                  <a:schemeClr val="bg2"/>
                </a:gs>
              </a:gsLst>
              <a:lin ang="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18" name="Freeform 16"/>
            <p:cNvSpPr>
              <a:spLocks/>
            </p:cNvSpPr>
            <p:nvPr userDrawn="1"/>
          </p:nvSpPr>
          <p:spPr bwMode="auto">
            <a:xfrm>
              <a:off x="3463" y="267"/>
              <a:ext cx="148" cy="91"/>
            </a:xfrm>
            <a:custGeom>
              <a:avLst/>
              <a:gdLst/>
              <a:ahLst/>
              <a:cxnLst>
                <a:cxn ang="0">
                  <a:pos x="1" y="69"/>
                </a:cxn>
                <a:cxn ang="0">
                  <a:pos x="25" y="51"/>
                </a:cxn>
                <a:cxn ang="0">
                  <a:pos x="100" y="9"/>
                </a:cxn>
                <a:cxn ang="0">
                  <a:pos x="133" y="3"/>
                </a:cxn>
                <a:cxn ang="0">
                  <a:pos x="136" y="27"/>
                </a:cxn>
                <a:cxn ang="0">
                  <a:pos x="61" y="75"/>
                </a:cxn>
                <a:cxn ang="0">
                  <a:pos x="19" y="90"/>
                </a:cxn>
                <a:cxn ang="0">
                  <a:pos x="1" y="69"/>
                </a:cxn>
              </a:cxnLst>
              <a:rect l="0" t="0" r="r" b="b"/>
              <a:pathLst>
                <a:path w="148" h="91">
                  <a:moveTo>
                    <a:pt x="1" y="69"/>
                  </a:moveTo>
                  <a:cubicBezTo>
                    <a:pt x="2" y="63"/>
                    <a:pt x="9" y="61"/>
                    <a:pt x="25" y="51"/>
                  </a:cubicBezTo>
                  <a:cubicBezTo>
                    <a:pt x="41" y="41"/>
                    <a:pt x="82" y="17"/>
                    <a:pt x="100" y="9"/>
                  </a:cubicBezTo>
                  <a:cubicBezTo>
                    <a:pt x="118" y="1"/>
                    <a:pt x="127" y="0"/>
                    <a:pt x="133" y="3"/>
                  </a:cubicBezTo>
                  <a:cubicBezTo>
                    <a:pt x="139" y="6"/>
                    <a:pt x="148" y="15"/>
                    <a:pt x="136" y="27"/>
                  </a:cubicBezTo>
                  <a:cubicBezTo>
                    <a:pt x="124" y="39"/>
                    <a:pt x="80" y="65"/>
                    <a:pt x="61" y="75"/>
                  </a:cubicBezTo>
                  <a:cubicBezTo>
                    <a:pt x="42" y="85"/>
                    <a:pt x="29" y="91"/>
                    <a:pt x="19" y="90"/>
                  </a:cubicBezTo>
                  <a:cubicBezTo>
                    <a:pt x="9" y="89"/>
                    <a:pt x="0" y="75"/>
                    <a:pt x="1" y="69"/>
                  </a:cubicBezTo>
                  <a:close/>
                </a:path>
              </a:pathLst>
            </a:custGeom>
            <a:gradFill rotWithShape="0">
              <a:gsLst>
                <a:gs pos="0">
                  <a:schemeClr val="bg2"/>
                </a:gs>
                <a:gs pos="100000">
                  <a:schemeClr val="accent2"/>
                </a:gs>
              </a:gsLst>
              <a:lin ang="270000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19" name="Freeform 17"/>
            <p:cNvSpPr>
              <a:spLocks/>
            </p:cNvSpPr>
            <p:nvPr userDrawn="1"/>
          </p:nvSpPr>
          <p:spPr bwMode="auto">
            <a:xfrm>
              <a:off x="3580" y="58"/>
              <a:ext cx="938" cy="158"/>
            </a:xfrm>
            <a:custGeom>
              <a:avLst/>
              <a:gdLst/>
              <a:ahLst/>
              <a:cxnLst>
                <a:cxn ang="0">
                  <a:pos x="172" y="86"/>
                </a:cxn>
                <a:cxn ang="0">
                  <a:pos x="61" y="137"/>
                </a:cxn>
                <a:cxn ang="0">
                  <a:pos x="16" y="155"/>
                </a:cxn>
                <a:cxn ang="0">
                  <a:pos x="7" y="122"/>
                </a:cxn>
                <a:cxn ang="0">
                  <a:pos x="58" y="80"/>
                </a:cxn>
                <a:cxn ang="0">
                  <a:pos x="172" y="38"/>
                </a:cxn>
                <a:cxn ang="0">
                  <a:pos x="304" y="11"/>
                </a:cxn>
                <a:cxn ang="0">
                  <a:pos x="463" y="2"/>
                </a:cxn>
                <a:cxn ang="0">
                  <a:pos x="631" y="23"/>
                </a:cxn>
                <a:cxn ang="0">
                  <a:pos x="796" y="53"/>
                </a:cxn>
                <a:cxn ang="0">
                  <a:pos x="841" y="47"/>
                </a:cxn>
                <a:cxn ang="0">
                  <a:pos x="907" y="71"/>
                </a:cxn>
                <a:cxn ang="0">
                  <a:pos x="919" y="101"/>
                </a:cxn>
                <a:cxn ang="0">
                  <a:pos x="793" y="98"/>
                </a:cxn>
                <a:cxn ang="0">
                  <a:pos x="634" y="62"/>
                </a:cxn>
                <a:cxn ang="0">
                  <a:pos x="439" y="38"/>
                </a:cxn>
                <a:cxn ang="0">
                  <a:pos x="238" y="59"/>
                </a:cxn>
                <a:cxn ang="0">
                  <a:pos x="172" y="86"/>
                </a:cxn>
              </a:cxnLst>
              <a:rect l="0" t="0" r="r" b="b"/>
              <a:pathLst>
                <a:path w="938" h="158">
                  <a:moveTo>
                    <a:pt x="172" y="86"/>
                  </a:moveTo>
                  <a:cubicBezTo>
                    <a:pt x="142" y="99"/>
                    <a:pt x="87" y="126"/>
                    <a:pt x="61" y="137"/>
                  </a:cubicBezTo>
                  <a:cubicBezTo>
                    <a:pt x="35" y="148"/>
                    <a:pt x="25" y="158"/>
                    <a:pt x="16" y="155"/>
                  </a:cubicBezTo>
                  <a:cubicBezTo>
                    <a:pt x="7" y="152"/>
                    <a:pt x="0" y="134"/>
                    <a:pt x="7" y="122"/>
                  </a:cubicBezTo>
                  <a:cubicBezTo>
                    <a:pt x="14" y="110"/>
                    <a:pt x="31" y="94"/>
                    <a:pt x="58" y="80"/>
                  </a:cubicBezTo>
                  <a:cubicBezTo>
                    <a:pt x="85" y="66"/>
                    <a:pt x="131" y="49"/>
                    <a:pt x="172" y="38"/>
                  </a:cubicBezTo>
                  <a:cubicBezTo>
                    <a:pt x="213" y="27"/>
                    <a:pt x="256" y="17"/>
                    <a:pt x="304" y="11"/>
                  </a:cubicBezTo>
                  <a:cubicBezTo>
                    <a:pt x="352" y="5"/>
                    <a:pt x="409" y="0"/>
                    <a:pt x="463" y="2"/>
                  </a:cubicBezTo>
                  <a:cubicBezTo>
                    <a:pt x="517" y="4"/>
                    <a:pt x="576" y="15"/>
                    <a:pt x="631" y="23"/>
                  </a:cubicBezTo>
                  <a:cubicBezTo>
                    <a:pt x="686" y="31"/>
                    <a:pt x="761" y="49"/>
                    <a:pt x="796" y="53"/>
                  </a:cubicBezTo>
                  <a:cubicBezTo>
                    <a:pt x="831" y="57"/>
                    <a:pt x="823" y="44"/>
                    <a:pt x="841" y="47"/>
                  </a:cubicBezTo>
                  <a:cubicBezTo>
                    <a:pt x="859" y="50"/>
                    <a:pt x="894" y="62"/>
                    <a:pt x="907" y="71"/>
                  </a:cubicBezTo>
                  <a:cubicBezTo>
                    <a:pt x="920" y="80"/>
                    <a:pt x="938" y="97"/>
                    <a:pt x="919" y="101"/>
                  </a:cubicBezTo>
                  <a:cubicBezTo>
                    <a:pt x="900" y="105"/>
                    <a:pt x="840" y="104"/>
                    <a:pt x="793" y="98"/>
                  </a:cubicBezTo>
                  <a:cubicBezTo>
                    <a:pt x="746" y="92"/>
                    <a:pt x="693" y="72"/>
                    <a:pt x="634" y="62"/>
                  </a:cubicBezTo>
                  <a:cubicBezTo>
                    <a:pt x="575" y="52"/>
                    <a:pt x="505" y="38"/>
                    <a:pt x="439" y="38"/>
                  </a:cubicBezTo>
                  <a:cubicBezTo>
                    <a:pt x="373" y="38"/>
                    <a:pt x="284" y="51"/>
                    <a:pt x="238" y="59"/>
                  </a:cubicBezTo>
                  <a:cubicBezTo>
                    <a:pt x="192" y="67"/>
                    <a:pt x="202" y="73"/>
                    <a:pt x="172" y="86"/>
                  </a:cubicBezTo>
                  <a:close/>
                </a:path>
              </a:pathLst>
            </a:custGeom>
            <a:gradFill rotWithShape="0">
              <a:gsLst>
                <a:gs pos="0">
                  <a:schemeClr val="bg2"/>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0" name="Freeform 18"/>
            <p:cNvSpPr>
              <a:spLocks/>
            </p:cNvSpPr>
            <p:nvPr userDrawn="1"/>
          </p:nvSpPr>
          <p:spPr bwMode="auto">
            <a:xfrm>
              <a:off x="3686" y="145"/>
              <a:ext cx="372" cy="98"/>
            </a:xfrm>
            <a:custGeom>
              <a:avLst/>
              <a:gdLst/>
              <a:ahLst/>
              <a:cxnLst>
                <a:cxn ang="0">
                  <a:pos x="18" y="47"/>
                </a:cxn>
                <a:cxn ang="0">
                  <a:pos x="141" y="17"/>
                </a:cxn>
                <a:cxn ang="0">
                  <a:pos x="246" y="2"/>
                </a:cxn>
                <a:cxn ang="0">
                  <a:pos x="351" y="5"/>
                </a:cxn>
                <a:cxn ang="0">
                  <a:pos x="372" y="23"/>
                </a:cxn>
                <a:cxn ang="0">
                  <a:pos x="354" y="44"/>
                </a:cxn>
                <a:cxn ang="0">
                  <a:pos x="264" y="50"/>
                </a:cxn>
                <a:cxn ang="0">
                  <a:pos x="168" y="53"/>
                </a:cxn>
                <a:cxn ang="0">
                  <a:pos x="72" y="77"/>
                </a:cxn>
                <a:cxn ang="0">
                  <a:pos x="15" y="95"/>
                </a:cxn>
                <a:cxn ang="0">
                  <a:pos x="0" y="56"/>
                </a:cxn>
              </a:cxnLst>
              <a:rect l="0" t="0" r="r" b="b"/>
              <a:pathLst>
                <a:path w="372" h="98">
                  <a:moveTo>
                    <a:pt x="18" y="47"/>
                  </a:moveTo>
                  <a:cubicBezTo>
                    <a:pt x="60" y="36"/>
                    <a:pt x="103" y="25"/>
                    <a:pt x="141" y="17"/>
                  </a:cubicBezTo>
                  <a:cubicBezTo>
                    <a:pt x="179" y="9"/>
                    <a:pt x="211" y="4"/>
                    <a:pt x="246" y="2"/>
                  </a:cubicBezTo>
                  <a:cubicBezTo>
                    <a:pt x="281" y="0"/>
                    <a:pt x="330" y="1"/>
                    <a:pt x="351" y="5"/>
                  </a:cubicBezTo>
                  <a:cubicBezTo>
                    <a:pt x="372" y="9"/>
                    <a:pt x="372" y="17"/>
                    <a:pt x="372" y="23"/>
                  </a:cubicBezTo>
                  <a:cubicBezTo>
                    <a:pt x="372" y="29"/>
                    <a:pt x="372" y="40"/>
                    <a:pt x="354" y="44"/>
                  </a:cubicBezTo>
                  <a:cubicBezTo>
                    <a:pt x="336" y="48"/>
                    <a:pt x="295" y="49"/>
                    <a:pt x="264" y="50"/>
                  </a:cubicBezTo>
                  <a:cubicBezTo>
                    <a:pt x="233" y="51"/>
                    <a:pt x="200" y="49"/>
                    <a:pt x="168" y="53"/>
                  </a:cubicBezTo>
                  <a:cubicBezTo>
                    <a:pt x="136" y="57"/>
                    <a:pt x="98" y="70"/>
                    <a:pt x="72" y="77"/>
                  </a:cubicBezTo>
                  <a:cubicBezTo>
                    <a:pt x="46" y="84"/>
                    <a:pt x="27" y="98"/>
                    <a:pt x="15" y="95"/>
                  </a:cubicBezTo>
                  <a:cubicBezTo>
                    <a:pt x="3" y="92"/>
                    <a:pt x="1" y="74"/>
                    <a:pt x="0" y="56"/>
                  </a:cubicBezTo>
                </a:path>
              </a:pathLst>
            </a:custGeom>
            <a:gradFill rotWithShape="0">
              <a:gsLst>
                <a:gs pos="0">
                  <a:schemeClr val="accent2"/>
                </a:gs>
                <a:gs pos="100000">
                  <a:schemeClr val="bg2"/>
                </a:gs>
              </a:gsLst>
              <a:lin ang="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1" name="Freeform 19"/>
            <p:cNvSpPr>
              <a:spLocks/>
            </p:cNvSpPr>
            <p:nvPr userDrawn="1"/>
          </p:nvSpPr>
          <p:spPr bwMode="auto">
            <a:xfrm>
              <a:off x="3618" y="308"/>
              <a:ext cx="318" cy="158"/>
            </a:xfrm>
            <a:custGeom>
              <a:avLst/>
              <a:gdLst/>
              <a:ahLst/>
              <a:cxnLst>
                <a:cxn ang="0">
                  <a:pos x="0" y="158"/>
                </a:cxn>
                <a:cxn ang="0">
                  <a:pos x="12" y="137"/>
                </a:cxn>
                <a:cxn ang="0">
                  <a:pos x="162" y="71"/>
                </a:cxn>
                <a:cxn ang="0">
                  <a:pos x="249" y="20"/>
                </a:cxn>
                <a:cxn ang="0">
                  <a:pos x="285" y="2"/>
                </a:cxn>
                <a:cxn ang="0">
                  <a:pos x="309" y="11"/>
                </a:cxn>
                <a:cxn ang="0">
                  <a:pos x="303" y="47"/>
                </a:cxn>
                <a:cxn ang="0">
                  <a:pos x="219" y="89"/>
                </a:cxn>
                <a:cxn ang="0">
                  <a:pos x="108" y="140"/>
                </a:cxn>
                <a:cxn ang="0">
                  <a:pos x="57" y="152"/>
                </a:cxn>
                <a:cxn ang="0">
                  <a:pos x="0" y="158"/>
                </a:cxn>
              </a:cxnLst>
              <a:rect l="0" t="0" r="r" b="b"/>
              <a:pathLst>
                <a:path w="318" h="158">
                  <a:moveTo>
                    <a:pt x="0" y="158"/>
                  </a:moveTo>
                  <a:lnTo>
                    <a:pt x="12" y="137"/>
                  </a:lnTo>
                  <a:cubicBezTo>
                    <a:pt x="39" y="123"/>
                    <a:pt x="122" y="90"/>
                    <a:pt x="162" y="71"/>
                  </a:cubicBezTo>
                  <a:cubicBezTo>
                    <a:pt x="202" y="52"/>
                    <a:pt x="229" y="31"/>
                    <a:pt x="249" y="20"/>
                  </a:cubicBezTo>
                  <a:cubicBezTo>
                    <a:pt x="269" y="9"/>
                    <a:pt x="275" y="4"/>
                    <a:pt x="285" y="2"/>
                  </a:cubicBezTo>
                  <a:cubicBezTo>
                    <a:pt x="295" y="0"/>
                    <a:pt x="306" y="4"/>
                    <a:pt x="309" y="11"/>
                  </a:cubicBezTo>
                  <a:cubicBezTo>
                    <a:pt x="312" y="18"/>
                    <a:pt x="318" y="34"/>
                    <a:pt x="303" y="47"/>
                  </a:cubicBezTo>
                  <a:cubicBezTo>
                    <a:pt x="288" y="60"/>
                    <a:pt x="252" y="74"/>
                    <a:pt x="219" y="89"/>
                  </a:cubicBezTo>
                  <a:cubicBezTo>
                    <a:pt x="186" y="104"/>
                    <a:pt x="135" y="130"/>
                    <a:pt x="108" y="140"/>
                  </a:cubicBezTo>
                  <a:cubicBezTo>
                    <a:pt x="81" y="150"/>
                    <a:pt x="74" y="150"/>
                    <a:pt x="57" y="152"/>
                  </a:cubicBezTo>
                  <a:cubicBezTo>
                    <a:pt x="40" y="154"/>
                    <a:pt x="23" y="154"/>
                    <a:pt x="0" y="158"/>
                  </a:cubicBezTo>
                  <a:close/>
                </a:path>
              </a:pathLst>
            </a:custGeom>
            <a:gradFill rotWithShape="0">
              <a:gsLst>
                <a:gs pos="0">
                  <a:schemeClr val="bg2"/>
                </a:gs>
                <a:gs pos="50000">
                  <a:schemeClr val="accent2"/>
                </a:gs>
                <a:gs pos="100000">
                  <a:schemeClr val="bg2"/>
                </a:gs>
              </a:gsLst>
              <a:lin ang="270000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2" name="Freeform 20"/>
            <p:cNvSpPr>
              <a:spLocks/>
            </p:cNvSpPr>
            <p:nvPr userDrawn="1"/>
          </p:nvSpPr>
          <p:spPr bwMode="auto">
            <a:xfrm>
              <a:off x="3413" y="291"/>
              <a:ext cx="380" cy="174"/>
            </a:xfrm>
            <a:custGeom>
              <a:avLst/>
              <a:gdLst/>
              <a:ahLst/>
              <a:cxnLst>
                <a:cxn ang="0">
                  <a:pos x="3" y="165"/>
                </a:cxn>
                <a:cxn ang="0">
                  <a:pos x="129" y="93"/>
                </a:cxn>
                <a:cxn ang="0">
                  <a:pos x="261" y="30"/>
                </a:cxn>
                <a:cxn ang="0">
                  <a:pos x="351" y="0"/>
                </a:cxn>
                <a:cxn ang="0">
                  <a:pos x="378" y="27"/>
                </a:cxn>
                <a:cxn ang="0">
                  <a:pos x="336" y="51"/>
                </a:cxn>
                <a:cxn ang="0">
                  <a:pos x="291" y="60"/>
                </a:cxn>
                <a:cxn ang="0">
                  <a:pos x="240" y="75"/>
                </a:cxn>
                <a:cxn ang="0">
                  <a:pos x="189" y="120"/>
                </a:cxn>
                <a:cxn ang="0">
                  <a:pos x="102" y="174"/>
                </a:cxn>
                <a:cxn ang="0">
                  <a:pos x="0" y="162"/>
                </a:cxn>
              </a:cxnLst>
              <a:rect l="0" t="0" r="r" b="b"/>
              <a:pathLst>
                <a:path w="380" h="174">
                  <a:moveTo>
                    <a:pt x="3" y="165"/>
                  </a:moveTo>
                  <a:cubicBezTo>
                    <a:pt x="24" y="153"/>
                    <a:pt x="86" y="115"/>
                    <a:pt x="129" y="93"/>
                  </a:cubicBezTo>
                  <a:cubicBezTo>
                    <a:pt x="172" y="71"/>
                    <a:pt x="224" y="45"/>
                    <a:pt x="261" y="30"/>
                  </a:cubicBezTo>
                  <a:cubicBezTo>
                    <a:pt x="298" y="15"/>
                    <a:pt x="332" y="0"/>
                    <a:pt x="351" y="0"/>
                  </a:cubicBezTo>
                  <a:cubicBezTo>
                    <a:pt x="370" y="0"/>
                    <a:pt x="380" y="19"/>
                    <a:pt x="378" y="27"/>
                  </a:cubicBezTo>
                  <a:cubicBezTo>
                    <a:pt x="376" y="35"/>
                    <a:pt x="350" y="46"/>
                    <a:pt x="336" y="51"/>
                  </a:cubicBezTo>
                  <a:cubicBezTo>
                    <a:pt x="322" y="56"/>
                    <a:pt x="307" y="56"/>
                    <a:pt x="291" y="60"/>
                  </a:cubicBezTo>
                  <a:cubicBezTo>
                    <a:pt x="275" y="64"/>
                    <a:pt x="257" y="65"/>
                    <a:pt x="240" y="75"/>
                  </a:cubicBezTo>
                  <a:cubicBezTo>
                    <a:pt x="223" y="85"/>
                    <a:pt x="212" y="104"/>
                    <a:pt x="189" y="120"/>
                  </a:cubicBezTo>
                  <a:cubicBezTo>
                    <a:pt x="166" y="136"/>
                    <a:pt x="133" y="167"/>
                    <a:pt x="102" y="174"/>
                  </a:cubicBezTo>
                  <a:lnTo>
                    <a:pt x="0" y="162"/>
                  </a:lnTo>
                </a:path>
              </a:pathLst>
            </a:custGeom>
            <a:gradFill rotWithShape="0">
              <a:gsLst>
                <a:gs pos="0">
                  <a:schemeClr val="bg2"/>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3" name="Freeform 21"/>
            <p:cNvSpPr>
              <a:spLocks/>
            </p:cNvSpPr>
            <p:nvPr userDrawn="1"/>
          </p:nvSpPr>
          <p:spPr bwMode="auto">
            <a:xfrm>
              <a:off x="4178" y="187"/>
              <a:ext cx="523" cy="69"/>
            </a:xfrm>
            <a:custGeom>
              <a:avLst/>
              <a:gdLst/>
              <a:ahLst/>
              <a:cxnLst>
                <a:cxn ang="0">
                  <a:pos x="84" y="11"/>
                </a:cxn>
                <a:cxn ang="0">
                  <a:pos x="27" y="5"/>
                </a:cxn>
                <a:cxn ang="0">
                  <a:pos x="9" y="35"/>
                </a:cxn>
                <a:cxn ang="0">
                  <a:pos x="81" y="56"/>
                </a:cxn>
                <a:cxn ang="0">
                  <a:pos x="255" y="68"/>
                </a:cxn>
                <a:cxn ang="0">
                  <a:pos x="432" y="50"/>
                </a:cxn>
                <a:cxn ang="0">
                  <a:pos x="513" y="5"/>
                </a:cxn>
                <a:cxn ang="0">
                  <a:pos x="372" y="20"/>
                </a:cxn>
                <a:cxn ang="0">
                  <a:pos x="141" y="14"/>
                </a:cxn>
                <a:cxn ang="0">
                  <a:pos x="84" y="11"/>
                </a:cxn>
              </a:cxnLst>
              <a:rect l="0" t="0" r="r" b="b"/>
              <a:pathLst>
                <a:path w="523" h="69">
                  <a:moveTo>
                    <a:pt x="84" y="11"/>
                  </a:moveTo>
                  <a:cubicBezTo>
                    <a:pt x="65" y="9"/>
                    <a:pt x="40" y="1"/>
                    <a:pt x="27" y="5"/>
                  </a:cubicBezTo>
                  <a:cubicBezTo>
                    <a:pt x="14" y="9"/>
                    <a:pt x="0" y="27"/>
                    <a:pt x="9" y="35"/>
                  </a:cubicBezTo>
                  <a:cubicBezTo>
                    <a:pt x="18" y="43"/>
                    <a:pt x="40" y="51"/>
                    <a:pt x="81" y="56"/>
                  </a:cubicBezTo>
                  <a:cubicBezTo>
                    <a:pt x="122" y="61"/>
                    <a:pt x="197" y="69"/>
                    <a:pt x="255" y="68"/>
                  </a:cubicBezTo>
                  <a:cubicBezTo>
                    <a:pt x="313" y="67"/>
                    <a:pt x="389" y="60"/>
                    <a:pt x="432" y="50"/>
                  </a:cubicBezTo>
                  <a:cubicBezTo>
                    <a:pt x="475" y="40"/>
                    <a:pt x="523" y="10"/>
                    <a:pt x="513" y="5"/>
                  </a:cubicBezTo>
                  <a:cubicBezTo>
                    <a:pt x="503" y="0"/>
                    <a:pt x="434" y="19"/>
                    <a:pt x="372" y="20"/>
                  </a:cubicBezTo>
                  <a:cubicBezTo>
                    <a:pt x="310" y="21"/>
                    <a:pt x="189" y="15"/>
                    <a:pt x="141" y="14"/>
                  </a:cubicBezTo>
                  <a:cubicBezTo>
                    <a:pt x="93" y="13"/>
                    <a:pt x="103" y="13"/>
                    <a:pt x="84" y="11"/>
                  </a:cubicBezTo>
                  <a:close/>
                </a:path>
              </a:pathLst>
            </a:custGeom>
            <a:gradFill rotWithShape="0">
              <a:gsLst>
                <a:gs pos="0">
                  <a:schemeClr val="bg2"/>
                </a:gs>
                <a:gs pos="100000">
                  <a:schemeClr val="accent2"/>
                </a:gs>
              </a:gsLst>
              <a:lin ang="1890000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4" name="Freeform 22"/>
            <p:cNvSpPr>
              <a:spLocks/>
            </p:cNvSpPr>
            <p:nvPr userDrawn="1"/>
          </p:nvSpPr>
          <p:spPr bwMode="auto">
            <a:xfrm>
              <a:off x="4689" y="186"/>
              <a:ext cx="537" cy="120"/>
            </a:xfrm>
            <a:custGeom>
              <a:avLst/>
              <a:gdLst/>
              <a:ahLst/>
              <a:cxnLst>
                <a:cxn ang="0">
                  <a:pos x="23" y="6"/>
                </a:cxn>
                <a:cxn ang="0">
                  <a:pos x="188" y="3"/>
                </a:cxn>
                <a:cxn ang="0">
                  <a:pos x="323" y="27"/>
                </a:cxn>
                <a:cxn ang="0">
                  <a:pos x="464" y="69"/>
                </a:cxn>
                <a:cxn ang="0">
                  <a:pos x="521" y="90"/>
                </a:cxn>
                <a:cxn ang="0">
                  <a:pos x="533" y="105"/>
                </a:cxn>
                <a:cxn ang="0">
                  <a:pos x="497" y="120"/>
                </a:cxn>
                <a:cxn ang="0">
                  <a:pos x="452" y="108"/>
                </a:cxn>
                <a:cxn ang="0">
                  <a:pos x="350" y="72"/>
                </a:cxn>
                <a:cxn ang="0">
                  <a:pos x="158" y="39"/>
                </a:cxn>
                <a:cxn ang="0">
                  <a:pos x="50" y="39"/>
                </a:cxn>
                <a:cxn ang="0">
                  <a:pos x="23" y="6"/>
                </a:cxn>
              </a:cxnLst>
              <a:rect l="0" t="0" r="r" b="b"/>
              <a:pathLst>
                <a:path w="537" h="120">
                  <a:moveTo>
                    <a:pt x="23" y="6"/>
                  </a:moveTo>
                  <a:cubicBezTo>
                    <a:pt x="46" y="0"/>
                    <a:pt x="138" y="0"/>
                    <a:pt x="188" y="3"/>
                  </a:cubicBezTo>
                  <a:cubicBezTo>
                    <a:pt x="238" y="6"/>
                    <a:pt x="277" y="16"/>
                    <a:pt x="323" y="27"/>
                  </a:cubicBezTo>
                  <a:cubicBezTo>
                    <a:pt x="369" y="38"/>
                    <a:pt x="431" y="59"/>
                    <a:pt x="464" y="69"/>
                  </a:cubicBezTo>
                  <a:cubicBezTo>
                    <a:pt x="497" y="79"/>
                    <a:pt x="509" y="84"/>
                    <a:pt x="521" y="90"/>
                  </a:cubicBezTo>
                  <a:cubicBezTo>
                    <a:pt x="533" y="96"/>
                    <a:pt x="537" y="100"/>
                    <a:pt x="533" y="105"/>
                  </a:cubicBezTo>
                  <a:cubicBezTo>
                    <a:pt x="529" y="110"/>
                    <a:pt x="510" y="120"/>
                    <a:pt x="497" y="120"/>
                  </a:cubicBezTo>
                  <a:cubicBezTo>
                    <a:pt x="484" y="120"/>
                    <a:pt x="476" y="116"/>
                    <a:pt x="452" y="108"/>
                  </a:cubicBezTo>
                  <a:cubicBezTo>
                    <a:pt x="428" y="100"/>
                    <a:pt x="399" y="84"/>
                    <a:pt x="350" y="72"/>
                  </a:cubicBezTo>
                  <a:cubicBezTo>
                    <a:pt x="301" y="60"/>
                    <a:pt x="208" y="45"/>
                    <a:pt x="158" y="39"/>
                  </a:cubicBezTo>
                  <a:cubicBezTo>
                    <a:pt x="108" y="33"/>
                    <a:pt x="72" y="43"/>
                    <a:pt x="50" y="39"/>
                  </a:cubicBezTo>
                  <a:cubicBezTo>
                    <a:pt x="28" y="35"/>
                    <a:pt x="0" y="12"/>
                    <a:pt x="23" y="6"/>
                  </a:cubicBezTo>
                  <a:close/>
                </a:path>
              </a:pathLst>
            </a:custGeom>
            <a:gradFill rotWithShape="0">
              <a:gsLst>
                <a:gs pos="0">
                  <a:schemeClr val="bg2"/>
                </a:gs>
                <a:gs pos="50000">
                  <a:schemeClr val="accent2"/>
                </a:gs>
                <a:gs pos="100000">
                  <a:schemeClr val="bg2"/>
                </a:gs>
              </a:gsLst>
              <a:lin ang="18900000" scaled="1"/>
            </a:gradFill>
            <a:ln w="9525">
              <a:noFill/>
              <a:round/>
              <a:headEnd/>
              <a:tailEnd/>
            </a:ln>
            <a:effectLst/>
          </p:spPr>
          <p:txBody>
            <a:bodyPr wrap="none" anchor="ctr"/>
            <a:lstStyle/>
            <a:p>
              <a:pPr>
                <a:defRPr/>
              </a:pPr>
              <a:endParaRPr lang="zh-CN" altLang="en-US">
                <a:solidFill>
                  <a:srgbClr val="545472"/>
                </a:solidFill>
              </a:endParaRPr>
            </a:p>
          </p:txBody>
        </p:sp>
        <p:sp>
          <p:nvSpPr>
            <p:cNvPr id="25" name="Freeform 23"/>
            <p:cNvSpPr>
              <a:spLocks/>
            </p:cNvSpPr>
            <p:nvPr userDrawn="1"/>
          </p:nvSpPr>
          <p:spPr bwMode="auto">
            <a:xfrm>
              <a:off x="4968" y="312"/>
              <a:ext cx="800" cy="143"/>
            </a:xfrm>
            <a:custGeom>
              <a:avLst/>
              <a:gdLst/>
              <a:ahLst/>
              <a:cxnLst>
                <a:cxn ang="0">
                  <a:pos x="800" y="24"/>
                </a:cxn>
                <a:cxn ang="0">
                  <a:pos x="782" y="15"/>
                </a:cxn>
                <a:cxn ang="0">
                  <a:pos x="659" y="63"/>
                </a:cxn>
                <a:cxn ang="0">
                  <a:pos x="500" y="84"/>
                </a:cxn>
                <a:cxn ang="0">
                  <a:pos x="326" y="69"/>
                </a:cxn>
                <a:cxn ang="0">
                  <a:pos x="98" y="21"/>
                </a:cxn>
                <a:cxn ang="0">
                  <a:pos x="11" y="6"/>
                </a:cxn>
                <a:cxn ang="0">
                  <a:pos x="32" y="60"/>
                </a:cxn>
                <a:cxn ang="0">
                  <a:pos x="155" y="96"/>
                </a:cxn>
                <a:cxn ang="0">
                  <a:pos x="410" y="138"/>
                </a:cxn>
                <a:cxn ang="0">
                  <a:pos x="596" y="129"/>
                </a:cxn>
                <a:cxn ang="0">
                  <a:pos x="737" y="90"/>
                </a:cxn>
                <a:cxn ang="0">
                  <a:pos x="788" y="69"/>
                </a:cxn>
                <a:cxn ang="0">
                  <a:pos x="800" y="24"/>
                </a:cxn>
              </a:cxnLst>
              <a:rect l="0" t="0" r="r" b="b"/>
              <a:pathLst>
                <a:path w="800" h="143">
                  <a:moveTo>
                    <a:pt x="800" y="24"/>
                  </a:moveTo>
                  <a:lnTo>
                    <a:pt x="782" y="15"/>
                  </a:lnTo>
                  <a:cubicBezTo>
                    <a:pt x="759" y="21"/>
                    <a:pt x="706" y="51"/>
                    <a:pt x="659" y="63"/>
                  </a:cubicBezTo>
                  <a:cubicBezTo>
                    <a:pt x="612" y="75"/>
                    <a:pt x="555" y="83"/>
                    <a:pt x="500" y="84"/>
                  </a:cubicBezTo>
                  <a:cubicBezTo>
                    <a:pt x="445" y="85"/>
                    <a:pt x="393" y="79"/>
                    <a:pt x="326" y="69"/>
                  </a:cubicBezTo>
                  <a:cubicBezTo>
                    <a:pt x="259" y="59"/>
                    <a:pt x="150" y="31"/>
                    <a:pt x="98" y="21"/>
                  </a:cubicBezTo>
                  <a:cubicBezTo>
                    <a:pt x="46" y="11"/>
                    <a:pt x="22" y="0"/>
                    <a:pt x="11" y="6"/>
                  </a:cubicBezTo>
                  <a:cubicBezTo>
                    <a:pt x="0" y="12"/>
                    <a:pt x="8" y="45"/>
                    <a:pt x="32" y="60"/>
                  </a:cubicBezTo>
                  <a:cubicBezTo>
                    <a:pt x="56" y="75"/>
                    <a:pt x="92" y="83"/>
                    <a:pt x="155" y="96"/>
                  </a:cubicBezTo>
                  <a:cubicBezTo>
                    <a:pt x="218" y="109"/>
                    <a:pt x="337" y="133"/>
                    <a:pt x="410" y="138"/>
                  </a:cubicBezTo>
                  <a:cubicBezTo>
                    <a:pt x="483" y="143"/>
                    <a:pt x="542" y="137"/>
                    <a:pt x="596" y="129"/>
                  </a:cubicBezTo>
                  <a:cubicBezTo>
                    <a:pt x="650" y="121"/>
                    <a:pt x="705" y="100"/>
                    <a:pt x="737" y="90"/>
                  </a:cubicBezTo>
                  <a:cubicBezTo>
                    <a:pt x="769" y="80"/>
                    <a:pt x="780" y="80"/>
                    <a:pt x="788" y="69"/>
                  </a:cubicBezTo>
                  <a:cubicBezTo>
                    <a:pt x="796" y="58"/>
                    <a:pt x="792" y="39"/>
                    <a:pt x="800" y="24"/>
                  </a:cubicBezTo>
                  <a:close/>
                </a:path>
              </a:pathLst>
            </a:custGeom>
            <a:gradFill rotWithShape="0">
              <a:gsLst>
                <a:gs pos="0">
                  <a:schemeClr val="bg2"/>
                </a:gs>
                <a:gs pos="50000">
                  <a:schemeClr val="accent2"/>
                </a:gs>
                <a:gs pos="100000">
                  <a:schemeClr val="bg2"/>
                </a:gs>
              </a:gsLst>
              <a:lin ang="0" scaled="1"/>
            </a:gradFill>
            <a:ln w="9525">
              <a:noFill/>
              <a:round/>
              <a:headEnd/>
              <a:tailEnd/>
            </a:ln>
            <a:effectLst/>
          </p:spPr>
          <p:txBody>
            <a:bodyPr wrap="none" anchor="ctr"/>
            <a:lstStyle/>
            <a:p>
              <a:pPr>
                <a:defRPr/>
              </a:pPr>
              <a:endParaRPr lang="zh-CN" altLang="en-US">
                <a:solidFill>
                  <a:srgbClr val="545472"/>
                </a:solidFill>
              </a:endParaRPr>
            </a:p>
          </p:txBody>
        </p:sp>
        <p:sp>
          <p:nvSpPr>
            <p:cNvPr id="26" name="Freeform 24"/>
            <p:cNvSpPr>
              <a:spLocks/>
            </p:cNvSpPr>
            <p:nvPr userDrawn="1"/>
          </p:nvSpPr>
          <p:spPr bwMode="auto">
            <a:xfrm>
              <a:off x="5318" y="240"/>
              <a:ext cx="402" cy="115"/>
            </a:xfrm>
            <a:custGeom>
              <a:avLst/>
              <a:gdLst/>
              <a:ahLst/>
              <a:cxnLst>
                <a:cxn ang="0">
                  <a:pos x="402" y="0"/>
                </a:cxn>
                <a:cxn ang="0">
                  <a:pos x="384" y="12"/>
                </a:cxn>
                <a:cxn ang="0">
                  <a:pos x="276" y="51"/>
                </a:cxn>
                <a:cxn ang="0">
                  <a:pos x="165" y="66"/>
                </a:cxn>
                <a:cxn ang="0">
                  <a:pos x="51" y="57"/>
                </a:cxn>
                <a:cxn ang="0">
                  <a:pos x="15" y="54"/>
                </a:cxn>
                <a:cxn ang="0">
                  <a:pos x="3" y="69"/>
                </a:cxn>
                <a:cxn ang="0">
                  <a:pos x="9" y="93"/>
                </a:cxn>
                <a:cxn ang="0">
                  <a:pos x="54" y="102"/>
                </a:cxn>
                <a:cxn ang="0">
                  <a:pos x="198" y="111"/>
                </a:cxn>
                <a:cxn ang="0">
                  <a:pos x="336" y="75"/>
                </a:cxn>
                <a:cxn ang="0">
                  <a:pos x="375" y="54"/>
                </a:cxn>
                <a:cxn ang="0">
                  <a:pos x="402" y="0"/>
                </a:cxn>
              </a:cxnLst>
              <a:rect l="0" t="0" r="r" b="b"/>
              <a:pathLst>
                <a:path w="402" h="115">
                  <a:moveTo>
                    <a:pt x="402" y="0"/>
                  </a:moveTo>
                  <a:lnTo>
                    <a:pt x="384" y="12"/>
                  </a:lnTo>
                  <a:cubicBezTo>
                    <a:pt x="363" y="20"/>
                    <a:pt x="312" y="42"/>
                    <a:pt x="276" y="51"/>
                  </a:cubicBezTo>
                  <a:cubicBezTo>
                    <a:pt x="240" y="60"/>
                    <a:pt x="202" y="65"/>
                    <a:pt x="165" y="66"/>
                  </a:cubicBezTo>
                  <a:cubicBezTo>
                    <a:pt x="128" y="67"/>
                    <a:pt x="76" y="59"/>
                    <a:pt x="51" y="57"/>
                  </a:cubicBezTo>
                  <a:cubicBezTo>
                    <a:pt x="26" y="55"/>
                    <a:pt x="23" y="52"/>
                    <a:pt x="15" y="54"/>
                  </a:cubicBezTo>
                  <a:cubicBezTo>
                    <a:pt x="7" y="56"/>
                    <a:pt x="4" y="63"/>
                    <a:pt x="3" y="69"/>
                  </a:cubicBezTo>
                  <a:cubicBezTo>
                    <a:pt x="2" y="75"/>
                    <a:pt x="0" y="88"/>
                    <a:pt x="9" y="93"/>
                  </a:cubicBezTo>
                  <a:cubicBezTo>
                    <a:pt x="18" y="98"/>
                    <a:pt x="22" y="99"/>
                    <a:pt x="54" y="102"/>
                  </a:cubicBezTo>
                  <a:cubicBezTo>
                    <a:pt x="86" y="105"/>
                    <a:pt x="151" y="115"/>
                    <a:pt x="198" y="111"/>
                  </a:cubicBezTo>
                  <a:cubicBezTo>
                    <a:pt x="245" y="107"/>
                    <a:pt x="307" y="84"/>
                    <a:pt x="336" y="75"/>
                  </a:cubicBezTo>
                  <a:cubicBezTo>
                    <a:pt x="365" y="66"/>
                    <a:pt x="365" y="65"/>
                    <a:pt x="375" y="54"/>
                  </a:cubicBezTo>
                  <a:cubicBezTo>
                    <a:pt x="385" y="43"/>
                    <a:pt x="392" y="26"/>
                    <a:pt x="402" y="0"/>
                  </a:cubicBezTo>
                  <a:close/>
                </a:path>
              </a:pathLst>
            </a:custGeom>
            <a:gradFill rotWithShape="0">
              <a:gsLst>
                <a:gs pos="0">
                  <a:schemeClr val="bg2"/>
                </a:gs>
                <a:gs pos="100000">
                  <a:schemeClr val="accent2"/>
                </a:gs>
              </a:gsLst>
              <a:lin ang="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grpSp>
      <p:grpSp>
        <p:nvGrpSpPr>
          <p:cNvPr id="3" name="Group 25"/>
          <p:cNvGrpSpPr>
            <a:grpSpLocks/>
          </p:cNvGrpSpPr>
          <p:nvPr/>
        </p:nvGrpSpPr>
        <p:grpSpPr bwMode="auto">
          <a:xfrm>
            <a:off x="20638" y="6161088"/>
            <a:ext cx="9169400" cy="138112"/>
            <a:chOff x="0" y="4032"/>
            <a:chExt cx="5776" cy="87"/>
          </a:xfrm>
        </p:grpSpPr>
        <p:sp>
          <p:nvSpPr>
            <p:cNvPr id="28" name="Freeform 26"/>
            <p:cNvSpPr>
              <a:spLocks/>
            </p:cNvSpPr>
            <p:nvPr userDrawn="1"/>
          </p:nvSpPr>
          <p:spPr bwMode="auto">
            <a:xfrm>
              <a:off x="4041" y="4047"/>
              <a:ext cx="1735" cy="72"/>
            </a:xfrm>
            <a:custGeom>
              <a:avLst/>
              <a:gdLst/>
              <a:ahLst/>
              <a:cxnLst>
                <a:cxn ang="0">
                  <a:pos x="165" y="6"/>
                </a:cxn>
                <a:cxn ang="0">
                  <a:pos x="450" y="3"/>
                </a:cxn>
                <a:cxn ang="0">
                  <a:pos x="714" y="12"/>
                </a:cxn>
                <a:cxn ang="0">
                  <a:pos x="957" y="24"/>
                </a:cxn>
                <a:cxn ang="0">
                  <a:pos x="1173" y="24"/>
                </a:cxn>
                <a:cxn ang="0">
                  <a:pos x="1473" y="15"/>
                </a:cxn>
                <a:cxn ang="0">
                  <a:pos x="1617" y="0"/>
                </a:cxn>
                <a:cxn ang="0">
                  <a:pos x="1719" y="15"/>
                </a:cxn>
                <a:cxn ang="0">
                  <a:pos x="1716" y="66"/>
                </a:cxn>
                <a:cxn ang="0">
                  <a:pos x="1632" y="51"/>
                </a:cxn>
                <a:cxn ang="0">
                  <a:pos x="1407" y="51"/>
                </a:cxn>
                <a:cxn ang="0">
                  <a:pos x="1191" y="48"/>
                </a:cxn>
                <a:cxn ang="0">
                  <a:pos x="870" y="60"/>
                </a:cxn>
                <a:cxn ang="0">
                  <a:pos x="492" y="48"/>
                </a:cxn>
                <a:cxn ang="0">
                  <a:pos x="291" y="27"/>
                </a:cxn>
                <a:cxn ang="0">
                  <a:pos x="21" y="36"/>
                </a:cxn>
                <a:cxn ang="0">
                  <a:pos x="165" y="6"/>
                </a:cxn>
              </a:cxnLst>
              <a:rect l="0" t="0" r="r" b="b"/>
              <a:pathLst>
                <a:path w="1735" h="72">
                  <a:moveTo>
                    <a:pt x="165" y="6"/>
                  </a:moveTo>
                  <a:cubicBezTo>
                    <a:pt x="236" y="1"/>
                    <a:pt x="359" y="2"/>
                    <a:pt x="450" y="3"/>
                  </a:cubicBezTo>
                  <a:cubicBezTo>
                    <a:pt x="541" y="4"/>
                    <a:pt x="630" y="9"/>
                    <a:pt x="714" y="12"/>
                  </a:cubicBezTo>
                  <a:cubicBezTo>
                    <a:pt x="798" y="15"/>
                    <a:pt x="881" y="22"/>
                    <a:pt x="957" y="24"/>
                  </a:cubicBezTo>
                  <a:cubicBezTo>
                    <a:pt x="1033" y="26"/>
                    <a:pt x="1087" y="25"/>
                    <a:pt x="1173" y="24"/>
                  </a:cubicBezTo>
                  <a:cubicBezTo>
                    <a:pt x="1259" y="23"/>
                    <a:pt x="1399" y="19"/>
                    <a:pt x="1473" y="15"/>
                  </a:cubicBezTo>
                  <a:cubicBezTo>
                    <a:pt x="1547" y="11"/>
                    <a:pt x="1576" y="0"/>
                    <a:pt x="1617" y="0"/>
                  </a:cubicBezTo>
                  <a:cubicBezTo>
                    <a:pt x="1658" y="0"/>
                    <a:pt x="1703" y="4"/>
                    <a:pt x="1719" y="15"/>
                  </a:cubicBezTo>
                  <a:cubicBezTo>
                    <a:pt x="1735" y="26"/>
                    <a:pt x="1730" y="60"/>
                    <a:pt x="1716" y="66"/>
                  </a:cubicBezTo>
                  <a:cubicBezTo>
                    <a:pt x="1702" y="72"/>
                    <a:pt x="1683" y="53"/>
                    <a:pt x="1632" y="51"/>
                  </a:cubicBezTo>
                  <a:cubicBezTo>
                    <a:pt x="1581" y="49"/>
                    <a:pt x="1480" y="51"/>
                    <a:pt x="1407" y="51"/>
                  </a:cubicBezTo>
                  <a:cubicBezTo>
                    <a:pt x="1334" y="51"/>
                    <a:pt x="1280" y="47"/>
                    <a:pt x="1191" y="48"/>
                  </a:cubicBezTo>
                  <a:cubicBezTo>
                    <a:pt x="1102" y="49"/>
                    <a:pt x="986" y="60"/>
                    <a:pt x="870" y="60"/>
                  </a:cubicBezTo>
                  <a:cubicBezTo>
                    <a:pt x="754" y="60"/>
                    <a:pt x="588" y="53"/>
                    <a:pt x="492" y="48"/>
                  </a:cubicBezTo>
                  <a:cubicBezTo>
                    <a:pt x="396" y="43"/>
                    <a:pt x="369" y="29"/>
                    <a:pt x="291" y="27"/>
                  </a:cubicBezTo>
                  <a:cubicBezTo>
                    <a:pt x="213" y="25"/>
                    <a:pt x="42" y="39"/>
                    <a:pt x="21" y="36"/>
                  </a:cubicBezTo>
                  <a:cubicBezTo>
                    <a:pt x="0" y="33"/>
                    <a:pt x="94" y="11"/>
                    <a:pt x="165" y="6"/>
                  </a:cubicBezTo>
                  <a:close/>
                </a:path>
              </a:pathLst>
            </a:custGeom>
            <a:gradFill rotWithShape="0">
              <a:gsLst>
                <a:gs pos="0">
                  <a:schemeClr val="accent2"/>
                </a:gs>
                <a:gs pos="100000">
                  <a:schemeClr val="bg2"/>
                </a:gs>
              </a:gsLst>
              <a:lin ang="540000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9" name="Freeform 27"/>
            <p:cNvSpPr>
              <a:spLocks/>
            </p:cNvSpPr>
            <p:nvPr userDrawn="1"/>
          </p:nvSpPr>
          <p:spPr bwMode="auto">
            <a:xfrm>
              <a:off x="1727" y="4038"/>
              <a:ext cx="2655" cy="60"/>
            </a:xfrm>
            <a:custGeom>
              <a:avLst/>
              <a:gdLst/>
              <a:ahLst/>
              <a:cxnLst>
                <a:cxn ang="0">
                  <a:pos x="2641" y="6"/>
                </a:cxn>
                <a:cxn ang="0">
                  <a:pos x="2620" y="30"/>
                </a:cxn>
                <a:cxn ang="0">
                  <a:pos x="2368" y="45"/>
                </a:cxn>
                <a:cxn ang="0">
                  <a:pos x="2023" y="60"/>
                </a:cxn>
                <a:cxn ang="0">
                  <a:pos x="1786" y="48"/>
                </a:cxn>
                <a:cxn ang="0">
                  <a:pos x="1525" y="36"/>
                </a:cxn>
                <a:cxn ang="0">
                  <a:pos x="1195" y="45"/>
                </a:cxn>
                <a:cxn ang="0">
                  <a:pos x="817" y="39"/>
                </a:cxn>
                <a:cxn ang="0">
                  <a:pos x="499" y="27"/>
                </a:cxn>
                <a:cxn ang="0">
                  <a:pos x="136" y="39"/>
                </a:cxn>
                <a:cxn ang="0">
                  <a:pos x="10" y="33"/>
                </a:cxn>
                <a:cxn ang="0">
                  <a:pos x="76" y="24"/>
                </a:cxn>
                <a:cxn ang="0">
                  <a:pos x="310" y="18"/>
                </a:cxn>
                <a:cxn ang="0">
                  <a:pos x="544" y="0"/>
                </a:cxn>
                <a:cxn ang="0">
                  <a:pos x="853" y="21"/>
                </a:cxn>
                <a:cxn ang="0">
                  <a:pos x="1114" y="21"/>
                </a:cxn>
                <a:cxn ang="0">
                  <a:pos x="1399" y="3"/>
                </a:cxn>
                <a:cxn ang="0">
                  <a:pos x="1588" y="9"/>
                </a:cxn>
                <a:cxn ang="0">
                  <a:pos x="1807" y="21"/>
                </a:cxn>
                <a:cxn ang="0">
                  <a:pos x="2035" y="12"/>
                </a:cxn>
                <a:cxn ang="0">
                  <a:pos x="2290" y="18"/>
                </a:cxn>
                <a:cxn ang="0">
                  <a:pos x="2596" y="3"/>
                </a:cxn>
                <a:cxn ang="0">
                  <a:pos x="2641" y="6"/>
                </a:cxn>
              </a:cxnLst>
              <a:rect l="0" t="0" r="r" b="b"/>
              <a:pathLst>
                <a:path w="2655" h="60">
                  <a:moveTo>
                    <a:pt x="2641" y="6"/>
                  </a:moveTo>
                  <a:lnTo>
                    <a:pt x="2620" y="30"/>
                  </a:lnTo>
                  <a:cubicBezTo>
                    <a:pt x="2575" y="36"/>
                    <a:pt x="2467" y="40"/>
                    <a:pt x="2368" y="45"/>
                  </a:cubicBezTo>
                  <a:cubicBezTo>
                    <a:pt x="2269" y="50"/>
                    <a:pt x="2120" y="60"/>
                    <a:pt x="2023" y="60"/>
                  </a:cubicBezTo>
                  <a:cubicBezTo>
                    <a:pt x="1926" y="60"/>
                    <a:pt x="1869" y="52"/>
                    <a:pt x="1786" y="48"/>
                  </a:cubicBezTo>
                  <a:cubicBezTo>
                    <a:pt x="1703" y="44"/>
                    <a:pt x="1623" y="36"/>
                    <a:pt x="1525" y="36"/>
                  </a:cubicBezTo>
                  <a:cubicBezTo>
                    <a:pt x="1427" y="36"/>
                    <a:pt x="1313" y="44"/>
                    <a:pt x="1195" y="45"/>
                  </a:cubicBezTo>
                  <a:cubicBezTo>
                    <a:pt x="1077" y="46"/>
                    <a:pt x="933" y="42"/>
                    <a:pt x="817" y="39"/>
                  </a:cubicBezTo>
                  <a:cubicBezTo>
                    <a:pt x="701" y="36"/>
                    <a:pt x="612" y="27"/>
                    <a:pt x="499" y="27"/>
                  </a:cubicBezTo>
                  <a:cubicBezTo>
                    <a:pt x="386" y="27"/>
                    <a:pt x="217" y="38"/>
                    <a:pt x="136" y="39"/>
                  </a:cubicBezTo>
                  <a:cubicBezTo>
                    <a:pt x="55" y="40"/>
                    <a:pt x="20" y="36"/>
                    <a:pt x="10" y="33"/>
                  </a:cubicBezTo>
                  <a:cubicBezTo>
                    <a:pt x="0" y="30"/>
                    <a:pt x="26" y="27"/>
                    <a:pt x="76" y="24"/>
                  </a:cubicBezTo>
                  <a:cubicBezTo>
                    <a:pt x="126" y="21"/>
                    <a:pt x="232" y="22"/>
                    <a:pt x="310" y="18"/>
                  </a:cubicBezTo>
                  <a:cubicBezTo>
                    <a:pt x="388" y="14"/>
                    <a:pt x="454" y="0"/>
                    <a:pt x="544" y="0"/>
                  </a:cubicBezTo>
                  <a:cubicBezTo>
                    <a:pt x="634" y="0"/>
                    <a:pt x="758" y="18"/>
                    <a:pt x="853" y="21"/>
                  </a:cubicBezTo>
                  <a:cubicBezTo>
                    <a:pt x="948" y="24"/>
                    <a:pt x="1023" y="24"/>
                    <a:pt x="1114" y="21"/>
                  </a:cubicBezTo>
                  <a:cubicBezTo>
                    <a:pt x="1205" y="18"/>
                    <a:pt x="1320" y="5"/>
                    <a:pt x="1399" y="3"/>
                  </a:cubicBezTo>
                  <a:cubicBezTo>
                    <a:pt x="1478" y="1"/>
                    <a:pt x="1520" y="6"/>
                    <a:pt x="1588" y="9"/>
                  </a:cubicBezTo>
                  <a:cubicBezTo>
                    <a:pt x="1656" y="12"/>
                    <a:pt x="1733" y="21"/>
                    <a:pt x="1807" y="21"/>
                  </a:cubicBezTo>
                  <a:cubicBezTo>
                    <a:pt x="1881" y="21"/>
                    <a:pt x="1955" y="12"/>
                    <a:pt x="2035" y="12"/>
                  </a:cubicBezTo>
                  <a:cubicBezTo>
                    <a:pt x="2115" y="12"/>
                    <a:pt x="2197" y="19"/>
                    <a:pt x="2290" y="18"/>
                  </a:cubicBezTo>
                  <a:cubicBezTo>
                    <a:pt x="2383" y="17"/>
                    <a:pt x="2537" y="5"/>
                    <a:pt x="2596" y="3"/>
                  </a:cubicBezTo>
                  <a:cubicBezTo>
                    <a:pt x="2655" y="1"/>
                    <a:pt x="2651" y="3"/>
                    <a:pt x="2641" y="6"/>
                  </a:cubicBezTo>
                  <a:close/>
                </a:path>
              </a:pathLst>
            </a:custGeom>
            <a:gradFill rotWithShape="0">
              <a:gsLst>
                <a:gs pos="0">
                  <a:schemeClr val="accent2"/>
                </a:gs>
                <a:gs pos="100000">
                  <a:schemeClr val="bg2"/>
                </a:gs>
              </a:gsLst>
              <a:lin ang="540000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30" name="Freeform 28"/>
            <p:cNvSpPr>
              <a:spLocks/>
            </p:cNvSpPr>
            <p:nvPr userDrawn="1"/>
          </p:nvSpPr>
          <p:spPr bwMode="auto">
            <a:xfrm>
              <a:off x="0" y="4032"/>
              <a:ext cx="2041" cy="62"/>
            </a:xfrm>
            <a:custGeom>
              <a:avLst/>
              <a:gdLst/>
              <a:ahLst/>
              <a:cxnLst>
                <a:cxn ang="0">
                  <a:pos x="1893" y="39"/>
                </a:cxn>
                <a:cxn ang="0">
                  <a:pos x="1578" y="45"/>
                </a:cxn>
                <a:cxn ang="0">
                  <a:pos x="1011" y="60"/>
                </a:cxn>
                <a:cxn ang="0">
                  <a:pos x="438" y="57"/>
                </a:cxn>
                <a:cxn ang="0">
                  <a:pos x="0" y="36"/>
                </a:cxn>
                <a:cxn ang="0">
                  <a:pos x="0" y="3"/>
                </a:cxn>
                <a:cxn ang="0">
                  <a:pos x="210" y="18"/>
                </a:cxn>
                <a:cxn ang="0">
                  <a:pos x="474" y="21"/>
                </a:cxn>
                <a:cxn ang="0">
                  <a:pos x="678" y="9"/>
                </a:cxn>
                <a:cxn ang="0">
                  <a:pos x="897" y="9"/>
                </a:cxn>
                <a:cxn ang="0">
                  <a:pos x="1167" y="30"/>
                </a:cxn>
                <a:cxn ang="0">
                  <a:pos x="1500" y="24"/>
                </a:cxn>
                <a:cxn ang="0">
                  <a:pos x="1758" y="3"/>
                </a:cxn>
                <a:cxn ang="0">
                  <a:pos x="1938" y="18"/>
                </a:cxn>
                <a:cxn ang="0">
                  <a:pos x="2034" y="33"/>
                </a:cxn>
                <a:cxn ang="0">
                  <a:pos x="1893" y="39"/>
                </a:cxn>
              </a:cxnLst>
              <a:rect l="0" t="0" r="r" b="b"/>
              <a:pathLst>
                <a:path w="2041" h="62">
                  <a:moveTo>
                    <a:pt x="1893" y="39"/>
                  </a:moveTo>
                  <a:cubicBezTo>
                    <a:pt x="1817" y="41"/>
                    <a:pt x="1725" y="42"/>
                    <a:pt x="1578" y="45"/>
                  </a:cubicBezTo>
                  <a:cubicBezTo>
                    <a:pt x="1431" y="48"/>
                    <a:pt x="1201" y="58"/>
                    <a:pt x="1011" y="60"/>
                  </a:cubicBezTo>
                  <a:cubicBezTo>
                    <a:pt x="821" y="62"/>
                    <a:pt x="606" y="61"/>
                    <a:pt x="438" y="57"/>
                  </a:cubicBezTo>
                  <a:cubicBezTo>
                    <a:pt x="270" y="53"/>
                    <a:pt x="73" y="45"/>
                    <a:pt x="0" y="36"/>
                  </a:cubicBezTo>
                  <a:lnTo>
                    <a:pt x="0" y="3"/>
                  </a:lnTo>
                  <a:cubicBezTo>
                    <a:pt x="35" y="0"/>
                    <a:pt x="131" y="15"/>
                    <a:pt x="210" y="18"/>
                  </a:cubicBezTo>
                  <a:cubicBezTo>
                    <a:pt x="289" y="21"/>
                    <a:pt x="396" y="22"/>
                    <a:pt x="474" y="21"/>
                  </a:cubicBezTo>
                  <a:cubicBezTo>
                    <a:pt x="552" y="20"/>
                    <a:pt x="608" y="11"/>
                    <a:pt x="678" y="9"/>
                  </a:cubicBezTo>
                  <a:cubicBezTo>
                    <a:pt x="748" y="7"/>
                    <a:pt x="816" y="6"/>
                    <a:pt x="897" y="9"/>
                  </a:cubicBezTo>
                  <a:cubicBezTo>
                    <a:pt x="978" y="12"/>
                    <a:pt x="1067" y="28"/>
                    <a:pt x="1167" y="30"/>
                  </a:cubicBezTo>
                  <a:cubicBezTo>
                    <a:pt x="1267" y="32"/>
                    <a:pt x="1402" y="28"/>
                    <a:pt x="1500" y="24"/>
                  </a:cubicBezTo>
                  <a:cubicBezTo>
                    <a:pt x="1598" y="20"/>
                    <a:pt x="1685" y="4"/>
                    <a:pt x="1758" y="3"/>
                  </a:cubicBezTo>
                  <a:cubicBezTo>
                    <a:pt x="1831" y="2"/>
                    <a:pt x="1892" y="13"/>
                    <a:pt x="1938" y="18"/>
                  </a:cubicBezTo>
                  <a:cubicBezTo>
                    <a:pt x="1984" y="23"/>
                    <a:pt x="2041" y="30"/>
                    <a:pt x="2034" y="33"/>
                  </a:cubicBezTo>
                  <a:cubicBezTo>
                    <a:pt x="2027" y="36"/>
                    <a:pt x="1969" y="37"/>
                    <a:pt x="1893" y="39"/>
                  </a:cubicBezTo>
                  <a:close/>
                </a:path>
              </a:pathLst>
            </a:custGeom>
            <a:gradFill rotWithShape="0">
              <a:gsLst>
                <a:gs pos="0">
                  <a:schemeClr val="accent2"/>
                </a:gs>
                <a:gs pos="100000">
                  <a:schemeClr val="bg2"/>
                </a:gs>
              </a:gsLst>
              <a:lin ang="5400000" scaled="1"/>
            </a:gra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grpSp>
      <p:grpSp>
        <p:nvGrpSpPr>
          <p:cNvPr id="4" name="Group 34"/>
          <p:cNvGrpSpPr>
            <a:grpSpLocks/>
          </p:cNvGrpSpPr>
          <p:nvPr userDrawn="1"/>
        </p:nvGrpSpPr>
        <p:grpSpPr bwMode="auto">
          <a:xfrm>
            <a:off x="0" y="0"/>
            <a:ext cx="1296988" cy="1125538"/>
            <a:chOff x="74" y="91"/>
            <a:chExt cx="720" cy="709"/>
          </a:xfrm>
        </p:grpSpPr>
        <p:sp>
          <p:nvSpPr>
            <p:cNvPr id="32" name="Rectangle 35"/>
            <p:cNvSpPr>
              <a:spLocks noChangeArrowheads="1"/>
            </p:cNvSpPr>
            <p:nvPr userDrawn="1"/>
          </p:nvSpPr>
          <p:spPr bwMode="ltGray">
            <a:xfrm>
              <a:off x="251" y="101"/>
              <a:ext cx="276" cy="299"/>
            </a:xfrm>
            <a:prstGeom prst="rect">
              <a:avLst/>
            </a:prstGeom>
            <a:solidFill>
              <a:schemeClr val="accent2"/>
            </a:solidFill>
            <a:ln w="9525">
              <a:noFill/>
              <a:miter lim="800000"/>
              <a:headEnd/>
              <a:tailEnd/>
            </a:ln>
            <a:effectLst/>
          </p:spPr>
          <p:txBody>
            <a:bodyPr wrap="none" anchor="ctr"/>
            <a:lstStyle/>
            <a:p>
              <a:pPr algn="ctr">
                <a:lnSpc>
                  <a:spcPct val="100000"/>
                </a:lnSpc>
                <a:spcBef>
                  <a:spcPct val="0"/>
                </a:spcBef>
                <a:buClrTx/>
                <a:buSzTx/>
                <a:buFontTx/>
                <a:buNone/>
                <a:defRPr/>
              </a:pPr>
              <a:endParaRPr kumimoji="1" lang="zh-CN" altLang="zh-CN" sz="2400" b="0">
                <a:solidFill>
                  <a:srgbClr val="545472"/>
                </a:solidFill>
                <a:latin typeface="Tahoma" pitchFamily="34" charset="0"/>
              </a:endParaRPr>
            </a:p>
          </p:txBody>
        </p:sp>
        <p:sp>
          <p:nvSpPr>
            <p:cNvPr id="33" name="Rectangle 36"/>
            <p:cNvSpPr>
              <a:spLocks noChangeArrowheads="1"/>
            </p:cNvSpPr>
            <p:nvPr userDrawn="1"/>
          </p:nvSpPr>
          <p:spPr bwMode="ltGray">
            <a:xfrm>
              <a:off x="492" y="101"/>
              <a:ext cx="207" cy="299"/>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lnSpc>
                  <a:spcPct val="100000"/>
                </a:lnSpc>
                <a:spcBef>
                  <a:spcPct val="0"/>
                </a:spcBef>
                <a:buClrTx/>
                <a:buSzTx/>
                <a:buFontTx/>
                <a:buNone/>
                <a:defRPr/>
              </a:pPr>
              <a:endParaRPr kumimoji="1" lang="zh-CN" altLang="zh-CN" sz="2400" b="0">
                <a:solidFill>
                  <a:srgbClr val="545472"/>
                </a:solidFill>
                <a:latin typeface="Tahoma" pitchFamily="34" charset="0"/>
              </a:endParaRPr>
            </a:p>
          </p:txBody>
        </p:sp>
        <p:sp>
          <p:nvSpPr>
            <p:cNvPr id="34" name="Rectangle 37"/>
            <p:cNvSpPr>
              <a:spLocks noChangeArrowheads="1"/>
            </p:cNvSpPr>
            <p:nvPr userDrawn="1"/>
          </p:nvSpPr>
          <p:spPr bwMode="ltGray">
            <a:xfrm>
              <a:off x="329" y="367"/>
              <a:ext cx="266" cy="299"/>
            </a:xfrm>
            <a:prstGeom prst="rect">
              <a:avLst/>
            </a:prstGeom>
            <a:gradFill rotWithShape="1">
              <a:gsLst>
                <a:gs pos="0">
                  <a:srgbClr val="FF99CC">
                    <a:gamma/>
                    <a:shade val="46275"/>
                    <a:invGamma/>
                  </a:srgbClr>
                </a:gs>
                <a:gs pos="100000">
                  <a:srgbClr val="FF99CC"/>
                </a:gs>
              </a:gsLst>
              <a:lin ang="0" scaled="1"/>
            </a:gradFill>
            <a:ln w="9525">
              <a:noFill/>
              <a:miter lim="800000"/>
              <a:headEnd/>
              <a:tailEnd/>
            </a:ln>
            <a:effectLst/>
          </p:spPr>
          <p:txBody>
            <a:bodyPr wrap="none" anchor="ctr"/>
            <a:lstStyle/>
            <a:p>
              <a:pPr algn="ctr">
                <a:lnSpc>
                  <a:spcPct val="100000"/>
                </a:lnSpc>
                <a:spcBef>
                  <a:spcPct val="0"/>
                </a:spcBef>
                <a:buClrTx/>
                <a:buSzTx/>
                <a:buFontTx/>
                <a:buNone/>
                <a:defRPr/>
              </a:pPr>
              <a:endParaRPr kumimoji="1" lang="zh-CN" altLang="zh-CN" sz="2400" b="0">
                <a:solidFill>
                  <a:srgbClr val="545472"/>
                </a:solidFill>
                <a:latin typeface="Tahoma" pitchFamily="34" charset="0"/>
              </a:endParaRPr>
            </a:p>
          </p:txBody>
        </p:sp>
        <p:sp>
          <p:nvSpPr>
            <p:cNvPr id="35" name="Rectangle 38"/>
            <p:cNvSpPr>
              <a:spLocks noChangeArrowheads="1"/>
            </p:cNvSpPr>
            <p:nvPr userDrawn="1"/>
          </p:nvSpPr>
          <p:spPr bwMode="ltGray">
            <a:xfrm>
              <a:off x="562" y="367"/>
              <a:ext cx="232" cy="299"/>
            </a:xfrm>
            <a:prstGeom prst="rect">
              <a:avLst/>
            </a:prstGeom>
            <a:gradFill rotWithShape="1">
              <a:gsLst>
                <a:gs pos="0">
                  <a:srgbClr val="FF99CC"/>
                </a:gs>
                <a:gs pos="100000">
                  <a:schemeClr val="bg1"/>
                </a:gs>
              </a:gsLst>
              <a:lin ang="0" scaled="1"/>
            </a:gradFill>
            <a:ln w="9525">
              <a:noFill/>
              <a:miter lim="800000"/>
              <a:headEnd/>
              <a:tailEnd/>
            </a:ln>
            <a:effectLst/>
          </p:spPr>
          <p:txBody>
            <a:bodyPr wrap="none" anchor="ctr"/>
            <a:lstStyle/>
            <a:p>
              <a:pPr algn="ctr">
                <a:lnSpc>
                  <a:spcPct val="100000"/>
                </a:lnSpc>
                <a:spcBef>
                  <a:spcPct val="0"/>
                </a:spcBef>
                <a:buClrTx/>
                <a:buSzTx/>
                <a:buFontTx/>
                <a:buNone/>
                <a:defRPr/>
              </a:pPr>
              <a:endParaRPr kumimoji="1" lang="zh-CN" altLang="zh-CN" sz="2400" b="0">
                <a:solidFill>
                  <a:srgbClr val="545472"/>
                </a:solidFill>
                <a:latin typeface="Tahoma" pitchFamily="34" charset="0"/>
              </a:endParaRPr>
            </a:p>
          </p:txBody>
        </p:sp>
        <p:sp>
          <p:nvSpPr>
            <p:cNvPr id="36" name="Rectangle 39"/>
            <p:cNvSpPr>
              <a:spLocks noChangeArrowheads="1"/>
            </p:cNvSpPr>
            <p:nvPr userDrawn="1"/>
          </p:nvSpPr>
          <p:spPr bwMode="ltGray">
            <a:xfrm>
              <a:off x="74" y="321"/>
              <a:ext cx="353" cy="266"/>
            </a:xfrm>
            <a:prstGeom prst="rect">
              <a:avLst/>
            </a:prstGeom>
            <a:gradFill rotWithShape="0">
              <a:gsLst>
                <a:gs pos="0">
                  <a:schemeClr val="hlink"/>
                </a:gs>
                <a:gs pos="100000">
                  <a:schemeClr val="bg1"/>
                </a:gs>
              </a:gsLst>
              <a:lin ang="0" scaled="1"/>
            </a:gradFill>
            <a:ln w="9525">
              <a:noFill/>
              <a:miter lim="800000"/>
              <a:headEnd/>
              <a:tailEnd/>
            </a:ln>
            <a:effectLst/>
          </p:spPr>
          <p:txBody>
            <a:bodyPr wrap="none" anchor="ctr"/>
            <a:lstStyle/>
            <a:p>
              <a:pPr algn="ctr">
                <a:lnSpc>
                  <a:spcPct val="100000"/>
                </a:lnSpc>
                <a:spcBef>
                  <a:spcPct val="0"/>
                </a:spcBef>
                <a:buClrTx/>
                <a:buSzTx/>
                <a:buFontTx/>
                <a:buNone/>
                <a:defRPr/>
              </a:pPr>
              <a:endParaRPr kumimoji="1" lang="zh-CN" altLang="zh-CN" sz="2400" b="0">
                <a:solidFill>
                  <a:srgbClr val="545472"/>
                </a:solidFill>
                <a:latin typeface="Tahoma" pitchFamily="34" charset="0"/>
              </a:endParaRPr>
            </a:p>
          </p:txBody>
        </p:sp>
        <p:sp>
          <p:nvSpPr>
            <p:cNvPr id="37" name="Rectangle 40"/>
            <p:cNvSpPr>
              <a:spLocks noChangeArrowheads="1"/>
            </p:cNvSpPr>
            <p:nvPr userDrawn="1"/>
          </p:nvSpPr>
          <p:spPr bwMode="gray">
            <a:xfrm>
              <a:off x="158" y="91"/>
              <a:ext cx="20" cy="663"/>
            </a:xfrm>
            <a:prstGeom prst="rect">
              <a:avLst/>
            </a:prstGeom>
            <a:gradFill rotWithShape="1">
              <a:gsLst>
                <a:gs pos="0">
                  <a:schemeClr val="accent2"/>
                </a:gs>
                <a:gs pos="100000">
                  <a:schemeClr val="hlink"/>
                </a:gs>
              </a:gsLst>
              <a:lin ang="5400000" scaled="1"/>
            </a:gradFill>
            <a:ln w="9525">
              <a:noFill/>
              <a:miter lim="800000"/>
              <a:headEnd/>
              <a:tailEnd/>
            </a:ln>
            <a:effectLst/>
          </p:spPr>
          <p:txBody>
            <a:bodyPr wrap="none" anchor="ctr"/>
            <a:lstStyle/>
            <a:p>
              <a:pPr algn="ctr">
                <a:lnSpc>
                  <a:spcPct val="100000"/>
                </a:lnSpc>
                <a:spcBef>
                  <a:spcPct val="0"/>
                </a:spcBef>
                <a:buClrTx/>
                <a:buSzTx/>
                <a:buFontTx/>
                <a:buNone/>
                <a:defRPr/>
              </a:pPr>
              <a:endParaRPr kumimoji="1" lang="zh-CN" altLang="zh-CN" sz="2400" b="0">
                <a:solidFill>
                  <a:srgbClr val="545472"/>
                </a:solidFill>
                <a:latin typeface="Tahoma" pitchFamily="34" charset="0"/>
              </a:endParaRPr>
            </a:p>
          </p:txBody>
        </p:sp>
        <p:sp>
          <p:nvSpPr>
            <p:cNvPr id="38" name="WordArt 41"/>
            <p:cNvSpPr>
              <a:spLocks noChangeArrowheads="1" noChangeShapeType="1" noTextEdit="1"/>
            </p:cNvSpPr>
            <p:nvPr userDrawn="1"/>
          </p:nvSpPr>
          <p:spPr bwMode="auto">
            <a:xfrm>
              <a:off x="113" y="255"/>
              <a:ext cx="544" cy="545"/>
            </a:xfrm>
            <a:prstGeom prst="rect">
              <a:avLst/>
            </a:prstGeom>
          </p:spPr>
          <p:txBody>
            <a:bodyPr spcFirstLastPara="1" wrap="none" fromWordArt="1">
              <a:prstTxWarp prst="textArchUp">
                <a:avLst>
                  <a:gd name="adj" fmla="val 10800004"/>
                </a:avLst>
              </a:prstTxWarp>
            </a:bodyPr>
            <a:lstStyle/>
            <a:p>
              <a:pPr algn="ctr"/>
              <a:r>
                <a:rPr lang="en-US" altLang="zh-CN" sz="1600" kern="10" dirty="0">
                  <a:ln w="9525">
                    <a:solidFill>
                      <a:srgbClr val="339966"/>
                    </a:solidFill>
                    <a:round/>
                    <a:headEnd/>
                    <a:tailEnd/>
                  </a:ln>
                  <a:solidFill>
                    <a:srgbClr val="339966"/>
                  </a:solidFill>
                  <a:latin typeface="BatangChe"/>
                  <a:ea typeface="BatangChe"/>
                </a:rPr>
                <a:t>Statistics</a:t>
              </a:r>
              <a:endParaRPr lang="zh-CN" altLang="en-US" sz="1600" kern="10">
                <a:ln w="9525">
                  <a:solidFill>
                    <a:srgbClr val="339966"/>
                  </a:solidFill>
                  <a:round/>
                  <a:headEnd/>
                  <a:tailEnd/>
                </a:ln>
                <a:solidFill>
                  <a:srgbClr val="339966"/>
                </a:solidFill>
                <a:latin typeface="BatangChe"/>
                <a:ea typeface="BatangChe"/>
              </a:endParaRPr>
            </a:p>
          </p:txBody>
        </p:sp>
      </p:grpSp>
      <p:sp>
        <p:nvSpPr>
          <p:cNvPr id="255005" name="Rectangle 29"/>
          <p:cNvSpPr>
            <a:spLocks noGrp="1" noChangeArrowheads="1"/>
          </p:cNvSpPr>
          <p:nvPr>
            <p:ph type="ctrTitle" sz="quarter"/>
          </p:nvPr>
        </p:nvSpPr>
        <p:spPr>
          <a:xfrm>
            <a:off x="685800" y="1868488"/>
            <a:ext cx="7772400" cy="1600200"/>
          </a:xfrm>
        </p:spPr>
        <p:txBody>
          <a:bodyPr anchorCtr="1"/>
          <a:lstStyle>
            <a:lvl1pPr>
              <a:defRPr/>
            </a:lvl1pPr>
          </a:lstStyle>
          <a:p>
            <a:r>
              <a:rPr lang="zh-CN" altLang="en-US"/>
              <a:t>单击此处编辑母版标题样式</a:t>
            </a:r>
          </a:p>
        </p:txBody>
      </p:sp>
      <p:sp>
        <p:nvSpPr>
          <p:cNvPr id="255006" name="Rectangle 30"/>
          <p:cNvSpPr>
            <a:spLocks noGrp="1" noChangeArrowheads="1"/>
          </p:cNvSpPr>
          <p:nvPr>
            <p:ph type="subTitle" sz="quarter" idx="1"/>
          </p:nvPr>
        </p:nvSpPr>
        <p:spPr>
          <a:xfrm>
            <a:off x="1273175" y="3729038"/>
            <a:ext cx="6400800" cy="1371600"/>
          </a:xfrm>
        </p:spPr>
        <p:txBody>
          <a:bodyPr anchorCtr="1"/>
          <a:lstStyle>
            <a:lvl1pPr marL="0" indent="0" algn="ctr">
              <a:buFontTx/>
              <a:buNone/>
              <a:defRPr>
                <a:solidFill>
                  <a:srgbClr val="3333FF"/>
                </a:solidFill>
              </a:defRPr>
            </a:lvl1pPr>
          </a:lstStyle>
          <a:p>
            <a:r>
              <a:rPr lang="zh-CN" altLang="en-US"/>
              <a:t>单击此处编辑母版副标题样式</a:t>
            </a:r>
          </a:p>
        </p:txBody>
      </p:sp>
      <p:sp>
        <p:nvSpPr>
          <p:cNvPr id="39" name="Rectangle 31"/>
          <p:cNvSpPr>
            <a:spLocks noGrp="1" noChangeArrowheads="1"/>
          </p:cNvSpPr>
          <p:nvPr>
            <p:ph type="dt" sz="quarter" idx="10"/>
          </p:nvPr>
        </p:nvSpPr>
        <p:spPr>
          <a:xfrm>
            <a:off x="685800" y="6348413"/>
            <a:ext cx="1905000" cy="457200"/>
          </a:xfrm>
        </p:spPr>
        <p:txBody>
          <a:bodyPr/>
          <a:lstStyle>
            <a:lvl1pPr>
              <a:defRPr/>
            </a:lvl1pPr>
          </a:lstStyle>
          <a:p>
            <a:pPr>
              <a:defRPr/>
            </a:pPr>
            <a:endParaRPr lang="en-US" altLang="zh-CN" dirty="0">
              <a:solidFill>
                <a:srgbClr val="545472"/>
              </a:solidFill>
            </a:endParaRPr>
          </a:p>
        </p:txBody>
      </p:sp>
      <p:sp>
        <p:nvSpPr>
          <p:cNvPr id="40" name="Rectangle 32"/>
          <p:cNvSpPr>
            <a:spLocks noGrp="1" noChangeArrowheads="1"/>
          </p:cNvSpPr>
          <p:nvPr>
            <p:ph type="ftr" sz="quarter" idx="11"/>
          </p:nvPr>
        </p:nvSpPr>
        <p:spPr>
          <a:xfrm>
            <a:off x="3124200" y="6348413"/>
            <a:ext cx="2895600" cy="457200"/>
          </a:xfrm>
        </p:spPr>
        <p:txBody>
          <a:bodyPr/>
          <a:lstStyle>
            <a:lvl1pPr>
              <a:defRPr/>
            </a:lvl1pPr>
          </a:lstStyle>
          <a:p>
            <a:pPr>
              <a:defRPr/>
            </a:pPr>
            <a:endParaRPr lang="en-US" altLang="zh-CN" dirty="0">
              <a:solidFill>
                <a:srgbClr val="545472"/>
              </a:solidFill>
            </a:endParaRPr>
          </a:p>
        </p:txBody>
      </p:sp>
      <p:sp>
        <p:nvSpPr>
          <p:cNvPr id="41" name="Rectangle 33"/>
          <p:cNvSpPr>
            <a:spLocks noGrp="1" noChangeArrowheads="1"/>
          </p:cNvSpPr>
          <p:nvPr>
            <p:ph type="sldNum" sz="quarter" idx="12"/>
          </p:nvPr>
        </p:nvSpPr>
        <p:spPr>
          <a:xfrm>
            <a:off x="6858000" y="6157913"/>
            <a:ext cx="1905000" cy="457200"/>
          </a:xfrm>
        </p:spPr>
        <p:txBody>
          <a:bodyPr/>
          <a:lstStyle>
            <a:lvl1pPr>
              <a:defRPr b="1"/>
            </a:lvl1pPr>
          </a:lstStyle>
          <a:p>
            <a:pPr>
              <a:defRPr/>
            </a:pPr>
            <a:fld id="{E1E23DB2-43BA-406F-8BA5-56D04C3A2818}" type="slidenum">
              <a:rPr lang="en-US" altLang="zh-CN" smtClean="0">
                <a:solidFill>
                  <a:srgbClr val="545472"/>
                </a:solidFill>
              </a:rPr>
              <a:pPr>
                <a:defRPr/>
              </a:pPr>
              <a:t>‹#›</a:t>
            </a:fld>
            <a:endParaRPr lang="en-US" altLang="zh-CN" dirty="0">
              <a:solidFill>
                <a:srgbClr val="545472"/>
              </a:solidFill>
            </a:endParaRPr>
          </a:p>
        </p:txBody>
      </p:sp>
      <p:sp>
        <p:nvSpPr>
          <p:cNvPr id="42" name="TextBox 41"/>
          <p:cNvSpPr txBox="1"/>
          <p:nvPr userDrawn="1"/>
        </p:nvSpPr>
        <p:spPr>
          <a:xfrm>
            <a:off x="35496" y="404664"/>
            <a:ext cx="720080" cy="320088"/>
          </a:xfrm>
          <a:prstGeom prst="rect">
            <a:avLst/>
          </a:prstGeom>
          <a:noFill/>
          <a:effectLst>
            <a:outerShdw blurRad="50800" dist="50800" dir="5400000" sx="59000" sy="59000" algn="ctr" rotWithShape="0">
              <a:srgbClr val="336600">
                <a:alpha val="99000"/>
              </a:srgbClr>
            </a:outerShdw>
          </a:effectLst>
        </p:spPr>
        <p:txBody>
          <a:bodyPr wrap="square" rtlCol="0">
            <a:spAutoFit/>
          </a:bodyPr>
          <a:lstStyle/>
          <a:p>
            <a:pPr algn="ctr">
              <a:buFont typeface="Wingdings" pitchFamily="2" charset="2"/>
              <a:buNone/>
            </a:pPr>
            <a:r>
              <a:rPr lang="en-US" altLang="zh-CN" sz="1600" dirty="0" smtClean="0">
                <a:solidFill>
                  <a:srgbClr val="CCCCFF"/>
                </a:solidFill>
                <a:latin typeface="华文行楷" pitchFamily="2" charset="-122"/>
                <a:ea typeface="华文行楷" pitchFamily="2" charset="-122"/>
              </a:rPr>
              <a:t>wangqh</a:t>
            </a:r>
            <a:endParaRPr lang="zh-CN" altLang="en-US" sz="1600" dirty="0">
              <a:solidFill>
                <a:srgbClr val="CCCCFF"/>
              </a:solidFill>
              <a:latin typeface="华文行楷" pitchFamily="2" charset="-122"/>
              <a:ea typeface="华文行楷" pitchFamily="2" charset="-122"/>
            </a:endParaRPr>
          </a:p>
        </p:txBody>
      </p:sp>
      <p:pic>
        <p:nvPicPr>
          <p:cNvPr id="43" name="Picture 1" descr="C:\Users\Administrator\Desktop\临时下载\财大校徽-蓝.png"/>
          <p:cNvPicPr>
            <a:picLocks noChangeAspect="1" noChangeArrowheads="1"/>
          </p:cNvPicPr>
          <p:nvPr userDrawn="1"/>
        </p:nvPicPr>
        <p:blipFill>
          <a:blip r:embed="rId2" cstate="print"/>
          <a:srcRect/>
          <a:stretch>
            <a:fillRect/>
          </a:stretch>
        </p:blipFill>
        <p:spPr bwMode="auto">
          <a:xfrm>
            <a:off x="8388424" y="0"/>
            <a:ext cx="755576" cy="756616"/>
          </a:xfrm>
          <a:prstGeom prst="rect">
            <a:avLst/>
          </a:prstGeom>
          <a:noFill/>
        </p:spPr>
      </p:pic>
    </p:spTree>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Rectangle 31"/>
          <p:cNvSpPr>
            <a:spLocks noGrp="1" noChangeArrowheads="1"/>
          </p:cNvSpPr>
          <p:nvPr>
            <p:ph type="dt" sz="half" idx="10"/>
          </p:nvPr>
        </p:nvSpPr>
        <p:spPr>
          <a:ln/>
        </p:spPr>
        <p:txBody>
          <a:bodyPr/>
          <a:lstStyle>
            <a:lvl1pPr>
              <a:defRPr/>
            </a:lvl1pPr>
          </a:lstStyle>
          <a:p>
            <a:pPr>
              <a:defRPr/>
            </a:pPr>
            <a:endParaRPr lang="en-US" altLang="zh-CN" dirty="0">
              <a:solidFill>
                <a:srgbClr val="545472"/>
              </a:solidFill>
            </a:endParaRPr>
          </a:p>
        </p:txBody>
      </p:sp>
      <p:sp>
        <p:nvSpPr>
          <p:cNvPr id="5" name="Rectangle 32"/>
          <p:cNvSpPr>
            <a:spLocks noGrp="1" noChangeArrowheads="1"/>
          </p:cNvSpPr>
          <p:nvPr>
            <p:ph type="ftr" sz="quarter" idx="11"/>
          </p:nvPr>
        </p:nvSpPr>
        <p:spPr>
          <a:ln/>
        </p:spPr>
        <p:txBody>
          <a:bodyPr/>
          <a:lstStyle>
            <a:lvl1pPr>
              <a:defRPr/>
            </a:lvl1pPr>
          </a:lstStyle>
          <a:p>
            <a:pPr>
              <a:defRPr/>
            </a:pPr>
            <a:endParaRPr lang="en-US" altLang="zh-CN" dirty="0">
              <a:solidFill>
                <a:srgbClr val="545472"/>
              </a:solidFill>
            </a:endParaRPr>
          </a:p>
        </p:txBody>
      </p:sp>
      <p:sp>
        <p:nvSpPr>
          <p:cNvPr id="6" name="Rectangle 33"/>
          <p:cNvSpPr>
            <a:spLocks noGrp="1" noChangeArrowheads="1"/>
          </p:cNvSpPr>
          <p:nvPr>
            <p:ph type="sldNum" sz="quarter" idx="12"/>
          </p:nvPr>
        </p:nvSpPr>
        <p:spPr>
          <a:xfrm>
            <a:off x="6948264" y="6237312"/>
            <a:ext cx="1905000" cy="457200"/>
          </a:xfrm>
          <a:ln/>
        </p:spPr>
        <p:txBody>
          <a:bodyPr/>
          <a:lstStyle>
            <a:lvl1pPr>
              <a:defRPr/>
            </a:lvl1pPr>
          </a:lstStyle>
          <a:p>
            <a:pPr>
              <a:defRPr/>
            </a:pPr>
            <a:fld id="{C1467358-15B4-4F20-B401-AEDE43D029E2}" type="slidenum">
              <a:rPr lang="en-US" altLang="zh-CN" smtClean="0">
                <a:solidFill>
                  <a:srgbClr val="545472"/>
                </a:solidFill>
              </a:rPr>
              <a:pPr>
                <a:defRPr/>
              </a:pPr>
              <a:t>‹#›</a:t>
            </a:fld>
            <a:endParaRPr lang="en-US" altLang="zh-CN" dirty="0">
              <a:solidFill>
                <a:srgbClr val="545472"/>
              </a:solidFill>
            </a:endParaRPr>
          </a:p>
        </p:txBody>
      </p:sp>
      <p:sp>
        <p:nvSpPr>
          <p:cNvPr id="7" name="TextBox 6"/>
          <p:cNvSpPr txBox="1"/>
          <p:nvPr userDrawn="1"/>
        </p:nvSpPr>
        <p:spPr>
          <a:xfrm>
            <a:off x="35496" y="404664"/>
            <a:ext cx="720080" cy="320088"/>
          </a:xfrm>
          <a:prstGeom prst="rect">
            <a:avLst/>
          </a:prstGeom>
          <a:noFill/>
          <a:effectLst>
            <a:outerShdw blurRad="50800" dist="50800" dir="5400000" sx="59000" sy="59000" algn="ctr" rotWithShape="0">
              <a:srgbClr val="336600">
                <a:alpha val="99000"/>
              </a:srgbClr>
            </a:outerShdw>
          </a:effectLst>
        </p:spPr>
        <p:txBody>
          <a:bodyPr wrap="square" rtlCol="0">
            <a:spAutoFit/>
          </a:bodyPr>
          <a:lstStyle/>
          <a:p>
            <a:pPr algn="ctr">
              <a:buFont typeface="Wingdings" pitchFamily="2" charset="2"/>
              <a:buNone/>
            </a:pPr>
            <a:r>
              <a:rPr lang="en-US" altLang="zh-CN" sz="1600" dirty="0" smtClean="0">
                <a:solidFill>
                  <a:srgbClr val="CCCCFF"/>
                </a:solidFill>
                <a:latin typeface="华文行楷" pitchFamily="2" charset="-122"/>
                <a:ea typeface="华文行楷" pitchFamily="2" charset="-122"/>
              </a:rPr>
              <a:t>wangqh</a:t>
            </a:r>
            <a:endParaRPr lang="zh-CN" altLang="en-US" sz="1600" dirty="0">
              <a:solidFill>
                <a:srgbClr val="CCCCFF"/>
              </a:solidFill>
              <a:latin typeface="华文行楷" pitchFamily="2" charset="-122"/>
              <a:ea typeface="华文行楷" pitchFamily="2" charset="-122"/>
            </a:endParaRPr>
          </a:p>
        </p:txBody>
      </p:sp>
    </p:spTree>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762000" y="15240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24400" y="1524000"/>
            <a:ext cx="3810000" cy="4724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31"/>
          <p:cNvSpPr>
            <a:spLocks noGrp="1" noChangeArrowheads="1"/>
          </p:cNvSpPr>
          <p:nvPr>
            <p:ph type="dt" sz="half" idx="10"/>
          </p:nvPr>
        </p:nvSpPr>
        <p:spPr>
          <a:ln/>
        </p:spPr>
        <p:txBody>
          <a:bodyPr/>
          <a:lstStyle>
            <a:lvl1pPr>
              <a:defRPr/>
            </a:lvl1pPr>
          </a:lstStyle>
          <a:p>
            <a:pPr>
              <a:defRPr/>
            </a:pPr>
            <a:endParaRPr lang="en-US" altLang="zh-CN" dirty="0">
              <a:solidFill>
                <a:srgbClr val="545472"/>
              </a:solidFill>
            </a:endParaRPr>
          </a:p>
        </p:txBody>
      </p:sp>
      <p:sp>
        <p:nvSpPr>
          <p:cNvPr id="6" name="Rectangle 32"/>
          <p:cNvSpPr>
            <a:spLocks noGrp="1" noChangeArrowheads="1"/>
          </p:cNvSpPr>
          <p:nvPr>
            <p:ph type="ftr" sz="quarter" idx="11"/>
          </p:nvPr>
        </p:nvSpPr>
        <p:spPr>
          <a:ln/>
        </p:spPr>
        <p:txBody>
          <a:bodyPr/>
          <a:lstStyle>
            <a:lvl1pPr>
              <a:defRPr/>
            </a:lvl1pPr>
          </a:lstStyle>
          <a:p>
            <a:pPr>
              <a:defRPr/>
            </a:pPr>
            <a:endParaRPr lang="en-US" altLang="zh-CN" dirty="0">
              <a:solidFill>
                <a:srgbClr val="545472"/>
              </a:solidFill>
            </a:endParaRPr>
          </a:p>
        </p:txBody>
      </p:sp>
      <p:sp>
        <p:nvSpPr>
          <p:cNvPr id="7" name="Rectangle 33"/>
          <p:cNvSpPr>
            <a:spLocks noGrp="1" noChangeArrowheads="1"/>
          </p:cNvSpPr>
          <p:nvPr>
            <p:ph type="sldNum" sz="quarter" idx="12"/>
          </p:nvPr>
        </p:nvSpPr>
        <p:spPr>
          <a:ln/>
        </p:spPr>
        <p:txBody>
          <a:bodyPr/>
          <a:lstStyle>
            <a:lvl1pPr>
              <a:defRPr/>
            </a:lvl1pPr>
          </a:lstStyle>
          <a:p>
            <a:pPr>
              <a:defRPr/>
            </a:pPr>
            <a:r>
              <a:rPr lang="en-US" altLang="zh-CN" dirty="0" smtClean="0">
                <a:solidFill>
                  <a:srgbClr val="545472"/>
                </a:solidFill>
              </a:rPr>
              <a:t>-</a:t>
            </a:r>
            <a:fld id="{F2A6A95E-57FA-4B2F-875A-59B6B1E65150}" type="slidenum">
              <a:rPr lang="en-US" altLang="zh-CN" smtClean="0">
                <a:solidFill>
                  <a:srgbClr val="545472"/>
                </a:solidFill>
              </a:rPr>
              <a:pPr>
                <a:defRPr/>
              </a:pPr>
              <a:t>‹#›</a:t>
            </a:fld>
            <a:endParaRPr lang="en-US" altLang="zh-CN" dirty="0">
              <a:solidFill>
                <a:srgbClr val="545472"/>
              </a:solidFill>
            </a:endParaRPr>
          </a:p>
        </p:txBody>
      </p:sp>
    </p:spTree>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31"/>
          <p:cNvSpPr>
            <a:spLocks noGrp="1" noChangeArrowheads="1"/>
          </p:cNvSpPr>
          <p:nvPr>
            <p:ph type="dt" sz="half" idx="10"/>
          </p:nvPr>
        </p:nvSpPr>
        <p:spPr>
          <a:ln/>
        </p:spPr>
        <p:txBody>
          <a:bodyPr/>
          <a:lstStyle>
            <a:lvl1pPr>
              <a:defRPr/>
            </a:lvl1pPr>
          </a:lstStyle>
          <a:p>
            <a:pPr>
              <a:defRPr/>
            </a:pPr>
            <a:endParaRPr lang="en-US" altLang="zh-CN" dirty="0">
              <a:solidFill>
                <a:srgbClr val="545472"/>
              </a:solidFill>
            </a:endParaRPr>
          </a:p>
        </p:txBody>
      </p:sp>
      <p:sp>
        <p:nvSpPr>
          <p:cNvPr id="4" name="Rectangle 32"/>
          <p:cNvSpPr>
            <a:spLocks noGrp="1" noChangeArrowheads="1"/>
          </p:cNvSpPr>
          <p:nvPr>
            <p:ph type="ftr" sz="quarter" idx="11"/>
          </p:nvPr>
        </p:nvSpPr>
        <p:spPr>
          <a:ln/>
        </p:spPr>
        <p:txBody>
          <a:bodyPr/>
          <a:lstStyle>
            <a:lvl1pPr>
              <a:defRPr/>
            </a:lvl1pPr>
          </a:lstStyle>
          <a:p>
            <a:pPr>
              <a:defRPr/>
            </a:pPr>
            <a:endParaRPr lang="en-US" altLang="zh-CN" dirty="0">
              <a:solidFill>
                <a:srgbClr val="545472"/>
              </a:solidFill>
            </a:endParaRPr>
          </a:p>
        </p:txBody>
      </p:sp>
      <p:sp>
        <p:nvSpPr>
          <p:cNvPr id="5" name="Rectangle 33"/>
          <p:cNvSpPr>
            <a:spLocks noGrp="1" noChangeArrowheads="1"/>
          </p:cNvSpPr>
          <p:nvPr>
            <p:ph type="sldNum" sz="quarter" idx="12"/>
          </p:nvPr>
        </p:nvSpPr>
        <p:spPr>
          <a:ln/>
        </p:spPr>
        <p:txBody>
          <a:bodyPr/>
          <a:lstStyle>
            <a:lvl1pPr>
              <a:defRPr/>
            </a:lvl1pPr>
          </a:lstStyle>
          <a:p>
            <a:pPr>
              <a:defRPr/>
            </a:pPr>
            <a:r>
              <a:rPr lang="en-US" altLang="zh-CN" dirty="0" smtClean="0">
                <a:solidFill>
                  <a:srgbClr val="545472"/>
                </a:solidFill>
              </a:rPr>
              <a:t>-</a:t>
            </a:r>
            <a:fld id="{AFBB8D39-E199-438D-AF08-C9AC6DE6206B}" type="slidenum">
              <a:rPr lang="en-US" altLang="zh-CN" smtClean="0">
                <a:solidFill>
                  <a:srgbClr val="545472"/>
                </a:solidFill>
              </a:rPr>
              <a:pPr>
                <a:defRPr/>
              </a:pPr>
              <a:t>‹#›</a:t>
            </a:fld>
            <a:endParaRPr lang="en-US" altLang="zh-CN" dirty="0">
              <a:solidFill>
                <a:srgbClr val="545472"/>
              </a:solidFill>
            </a:endParaRPr>
          </a:p>
        </p:txBody>
      </p:sp>
    </p:spTree>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31"/>
          <p:cNvSpPr>
            <a:spLocks noGrp="1" noChangeArrowheads="1"/>
          </p:cNvSpPr>
          <p:nvPr>
            <p:ph type="dt" sz="half" idx="10"/>
          </p:nvPr>
        </p:nvSpPr>
        <p:spPr>
          <a:ln/>
        </p:spPr>
        <p:txBody>
          <a:bodyPr/>
          <a:lstStyle>
            <a:lvl1pPr>
              <a:defRPr/>
            </a:lvl1pPr>
          </a:lstStyle>
          <a:p>
            <a:pPr>
              <a:defRPr/>
            </a:pPr>
            <a:endParaRPr lang="en-US" altLang="zh-CN" dirty="0">
              <a:solidFill>
                <a:srgbClr val="545472"/>
              </a:solidFill>
            </a:endParaRPr>
          </a:p>
        </p:txBody>
      </p:sp>
      <p:sp>
        <p:nvSpPr>
          <p:cNvPr id="3" name="Rectangle 32"/>
          <p:cNvSpPr>
            <a:spLocks noGrp="1" noChangeArrowheads="1"/>
          </p:cNvSpPr>
          <p:nvPr>
            <p:ph type="ftr" sz="quarter" idx="11"/>
          </p:nvPr>
        </p:nvSpPr>
        <p:spPr>
          <a:ln/>
        </p:spPr>
        <p:txBody>
          <a:bodyPr/>
          <a:lstStyle>
            <a:lvl1pPr>
              <a:defRPr/>
            </a:lvl1pPr>
          </a:lstStyle>
          <a:p>
            <a:pPr>
              <a:defRPr/>
            </a:pPr>
            <a:endParaRPr lang="en-US" altLang="zh-CN" dirty="0">
              <a:solidFill>
                <a:srgbClr val="545472"/>
              </a:solidFill>
            </a:endParaRPr>
          </a:p>
        </p:txBody>
      </p:sp>
      <p:sp>
        <p:nvSpPr>
          <p:cNvPr id="4" name="Rectangle 33"/>
          <p:cNvSpPr>
            <a:spLocks noGrp="1" noChangeArrowheads="1"/>
          </p:cNvSpPr>
          <p:nvPr>
            <p:ph type="sldNum" sz="quarter" idx="12"/>
          </p:nvPr>
        </p:nvSpPr>
        <p:spPr>
          <a:ln/>
        </p:spPr>
        <p:txBody>
          <a:bodyPr/>
          <a:lstStyle>
            <a:lvl1pPr>
              <a:defRPr/>
            </a:lvl1pPr>
          </a:lstStyle>
          <a:p>
            <a:pPr>
              <a:defRPr/>
            </a:pPr>
            <a:fld id="{47B6616A-C4FF-49E2-A2BD-C1BE94A88A57}" type="slidenum">
              <a:rPr lang="en-US" altLang="zh-CN" smtClean="0">
                <a:solidFill>
                  <a:srgbClr val="545472"/>
                </a:solidFill>
              </a:rPr>
              <a:pPr>
                <a:defRPr/>
              </a:pPr>
              <a:t>‹#›</a:t>
            </a:fld>
            <a:endParaRPr lang="en-US" altLang="zh-CN" dirty="0">
              <a:solidFill>
                <a:srgbClr val="545472"/>
              </a:solidFill>
            </a:endParaRPr>
          </a:p>
        </p:txBody>
      </p:sp>
    </p:spTree>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228600"/>
            <a:ext cx="7772400" cy="9906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762000" y="1524000"/>
            <a:ext cx="3810000" cy="47244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24400" y="1524000"/>
            <a:ext cx="3810000" cy="47244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31"/>
          <p:cNvSpPr>
            <a:spLocks noGrp="1" noChangeArrowheads="1"/>
          </p:cNvSpPr>
          <p:nvPr>
            <p:ph type="dt" sz="half" idx="10"/>
          </p:nvPr>
        </p:nvSpPr>
        <p:spPr>
          <a:ln/>
        </p:spPr>
        <p:txBody>
          <a:bodyPr/>
          <a:lstStyle>
            <a:lvl1pPr>
              <a:defRPr/>
            </a:lvl1pPr>
          </a:lstStyle>
          <a:p>
            <a:pPr>
              <a:defRPr/>
            </a:pPr>
            <a:endParaRPr lang="en-US" altLang="zh-CN" dirty="0">
              <a:solidFill>
                <a:srgbClr val="545472"/>
              </a:solidFill>
            </a:endParaRPr>
          </a:p>
        </p:txBody>
      </p:sp>
      <p:sp>
        <p:nvSpPr>
          <p:cNvPr id="6" name="Rectangle 32"/>
          <p:cNvSpPr>
            <a:spLocks noGrp="1" noChangeArrowheads="1"/>
          </p:cNvSpPr>
          <p:nvPr>
            <p:ph type="ftr" sz="quarter" idx="11"/>
          </p:nvPr>
        </p:nvSpPr>
        <p:spPr>
          <a:ln/>
        </p:spPr>
        <p:txBody>
          <a:bodyPr/>
          <a:lstStyle>
            <a:lvl1pPr>
              <a:defRPr/>
            </a:lvl1pPr>
          </a:lstStyle>
          <a:p>
            <a:pPr>
              <a:defRPr/>
            </a:pPr>
            <a:endParaRPr lang="en-US" altLang="zh-CN" dirty="0">
              <a:solidFill>
                <a:srgbClr val="545472"/>
              </a:solidFill>
            </a:endParaRPr>
          </a:p>
        </p:txBody>
      </p:sp>
      <p:sp>
        <p:nvSpPr>
          <p:cNvPr id="7" name="Rectangle 33"/>
          <p:cNvSpPr>
            <a:spLocks noGrp="1" noChangeArrowheads="1"/>
          </p:cNvSpPr>
          <p:nvPr>
            <p:ph type="sldNum" sz="quarter" idx="12"/>
          </p:nvPr>
        </p:nvSpPr>
        <p:spPr>
          <a:ln/>
        </p:spPr>
        <p:txBody>
          <a:bodyPr/>
          <a:lstStyle>
            <a:lvl1pPr>
              <a:defRPr/>
            </a:lvl1pPr>
          </a:lstStyle>
          <a:p>
            <a:pPr>
              <a:defRPr/>
            </a:pPr>
            <a:r>
              <a:rPr lang="en-US" altLang="zh-CN" dirty="0" smtClean="0">
                <a:solidFill>
                  <a:srgbClr val="545472"/>
                </a:solidFill>
              </a:rPr>
              <a:t>-</a:t>
            </a:r>
            <a:fld id="{700CA714-1592-49FA-93A7-06EE161E2C9A}" type="slidenum">
              <a:rPr lang="en-US" altLang="zh-CN" smtClean="0">
                <a:solidFill>
                  <a:srgbClr val="545472"/>
                </a:solidFill>
              </a:rPr>
              <a:pPr>
                <a:defRPr/>
              </a:pPr>
              <a:t>‹#›</a:t>
            </a:fld>
            <a:endParaRPr lang="en-US" altLang="zh-CN" dirty="0">
              <a:solidFill>
                <a:srgbClr val="545472"/>
              </a:solidFill>
            </a:endParaRPr>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13" Type="http://schemas.openxmlformats.org/officeDocument/2006/relationships/image" Target="../media/image6.png"/><Relationship Id="rId3" Type="http://schemas.openxmlformats.org/officeDocument/2006/relationships/slideLayout" Target="../slideLayouts/slideLayout3.xml"/><Relationship Id="rId7" Type="http://schemas.openxmlformats.org/officeDocument/2006/relationships/theme" Target="../theme/theme1.xml"/><Relationship Id="rId12"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4.png"/><Relationship Id="rId5" Type="http://schemas.openxmlformats.org/officeDocument/2006/relationships/slideLayout" Target="../slideLayouts/slideLayout5.xml"/><Relationship Id="rId10"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image" Target="../media/image2.png"/><Relationship Id="rId14" Type="http://schemas.openxmlformats.org/officeDocument/2006/relationships/image" Target="../media/image7.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8" cstate="print"/>
          <a:srcRect/>
          <a:tile tx="0" ty="0" sx="100000" sy="100000" flip="none" algn="tl"/>
        </a:blipFill>
        <a:effectLst/>
      </p:bgPr>
    </p:bg>
    <p:spTree>
      <p:nvGrpSpPr>
        <p:cNvPr id="1" name=""/>
        <p:cNvGrpSpPr/>
        <p:nvPr/>
      </p:nvGrpSpPr>
      <p:grpSpPr>
        <a:xfrm>
          <a:off x="0" y="0"/>
          <a:ext cx="0" cy="0"/>
          <a:chOff x="0" y="0"/>
          <a:chExt cx="0" cy="0"/>
        </a:xfrm>
      </p:grpSpPr>
      <p:grpSp>
        <p:nvGrpSpPr>
          <p:cNvPr id="2" name="Group 2"/>
          <p:cNvGrpSpPr>
            <a:grpSpLocks/>
          </p:cNvGrpSpPr>
          <p:nvPr/>
        </p:nvGrpSpPr>
        <p:grpSpPr bwMode="auto">
          <a:xfrm>
            <a:off x="0" y="0"/>
            <a:ext cx="9156700" cy="757238"/>
            <a:chOff x="0" y="0"/>
            <a:chExt cx="5768" cy="477"/>
          </a:xfrm>
        </p:grpSpPr>
        <p:sp>
          <p:nvSpPr>
            <p:cNvPr id="253955" name="Freeform 3"/>
            <p:cNvSpPr>
              <a:spLocks/>
            </p:cNvSpPr>
            <p:nvPr userDrawn="1"/>
          </p:nvSpPr>
          <p:spPr bwMode="auto">
            <a:xfrm>
              <a:off x="5" y="0"/>
              <a:ext cx="5763" cy="477"/>
            </a:xfrm>
            <a:custGeom>
              <a:avLst/>
              <a:gdLst/>
              <a:ahLst/>
              <a:cxnLst>
                <a:cxn ang="0">
                  <a:pos x="0" y="450"/>
                </a:cxn>
                <a:cxn ang="0">
                  <a:pos x="3" y="0"/>
                </a:cxn>
                <a:cxn ang="0">
                  <a:pos x="5763" y="0"/>
                </a:cxn>
                <a:cxn ang="0">
                  <a:pos x="5763" y="465"/>
                </a:cxn>
                <a:cxn ang="0">
                  <a:pos x="4821" y="477"/>
                </a:cxn>
                <a:cxn ang="0">
                  <a:pos x="4326" y="447"/>
                </a:cxn>
                <a:cxn ang="0">
                  <a:pos x="3783" y="465"/>
                </a:cxn>
                <a:cxn ang="0">
                  <a:pos x="3417" y="456"/>
                </a:cxn>
                <a:cxn ang="0">
                  <a:pos x="2973" y="459"/>
                </a:cxn>
                <a:cxn ang="0">
                  <a:pos x="2451" y="453"/>
                </a:cxn>
                <a:cxn ang="0">
                  <a:pos x="2289" y="441"/>
                </a:cxn>
                <a:cxn ang="0">
                  <a:pos x="2010" y="453"/>
                </a:cxn>
                <a:cxn ang="0">
                  <a:pos x="1827" y="450"/>
                </a:cxn>
                <a:cxn ang="0">
                  <a:pos x="1215" y="465"/>
                </a:cxn>
                <a:cxn ang="0">
                  <a:pos x="660" y="456"/>
                </a:cxn>
                <a:cxn ang="0">
                  <a:pos x="0" y="450"/>
                </a:cxn>
              </a:cxnLst>
              <a:rect l="0" t="0" r="r" b="b"/>
              <a:pathLst>
                <a:path w="5763" h="477">
                  <a:moveTo>
                    <a:pt x="0" y="450"/>
                  </a:moveTo>
                  <a:lnTo>
                    <a:pt x="3" y="0"/>
                  </a:lnTo>
                  <a:lnTo>
                    <a:pt x="5763" y="0"/>
                  </a:lnTo>
                  <a:lnTo>
                    <a:pt x="5763" y="465"/>
                  </a:lnTo>
                  <a:lnTo>
                    <a:pt x="4821" y="477"/>
                  </a:lnTo>
                  <a:lnTo>
                    <a:pt x="4326" y="447"/>
                  </a:lnTo>
                  <a:lnTo>
                    <a:pt x="3783" y="465"/>
                  </a:lnTo>
                  <a:lnTo>
                    <a:pt x="3417" y="456"/>
                  </a:lnTo>
                  <a:lnTo>
                    <a:pt x="2973" y="459"/>
                  </a:lnTo>
                  <a:lnTo>
                    <a:pt x="2451" y="453"/>
                  </a:lnTo>
                  <a:lnTo>
                    <a:pt x="2289" y="441"/>
                  </a:lnTo>
                  <a:lnTo>
                    <a:pt x="2010" y="453"/>
                  </a:lnTo>
                  <a:lnTo>
                    <a:pt x="1827" y="450"/>
                  </a:lnTo>
                  <a:lnTo>
                    <a:pt x="1215" y="465"/>
                  </a:lnTo>
                  <a:lnTo>
                    <a:pt x="660" y="456"/>
                  </a:lnTo>
                  <a:lnTo>
                    <a:pt x="0" y="450"/>
                  </a:lnTo>
                  <a:close/>
                </a:path>
              </a:pathLst>
            </a:custGeom>
            <a:solidFill>
              <a:schemeClr val="accent1">
                <a:alpha val="50000"/>
              </a:schemeClr>
            </a:solidFill>
            <a:ln w="9525" cap="flat" cmpd="sng">
              <a:noFill/>
              <a:prstDash val="solid"/>
              <a:round/>
              <a:headEnd/>
              <a:tailEnd/>
            </a:ln>
            <a:effectLst/>
          </p:spPr>
          <p:txBody>
            <a:bodyPr wrap="none" anchor="ctr"/>
            <a:lstStyle/>
            <a:p>
              <a:pPr>
                <a:defRPr/>
              </a:pPr>
              <a:endParaRPr lang="zh-CN" altLang="en-US">
                <a:solidFill>
                  <a:srgbClr val="545472"/>
                </a:solidFill>
              </a:endParaRPr>
            </a:p>
          </p:txBody>
        </p:sp>
        <p:sp>
          <p:nvSpPr>
            <p:cNvPr id="253956" name="Freeform 4"/>
            <p:cNvSpPr>
              <a:spLocks/>
            </p:cNvSpPr>
            <p:nvPr userDrawn="1"/>
          </p:nvSpPr>
          <p:spPr bwMode="auto">
            <a:xfrm>
              <a:off x="0" y="98"/>
              <a:ext cx="256" cy="253"/>
            </a:xfrm>
            <a:custGeom>
              <a:avLst/>
              <a:gdLst/>
              <a:ahLst/>
              <a:cxnLst>
                <a:cxn ang="0">
                  <a:pos x="8" y="190"/>
                </a:cxn>
                <a:cxn ang="0">
                  <a:pos x="71" y="115"/>
                </a:cxn>
                <a:cxn ang="0">
                  <a:pos x="203" y="16"/>
                </a:cxn>
                <a:cxn ang="0">
                  <a:pos x="251" y="19"/>
                </a:cxn>
                <a:cxn ang="0">
                  <a:pos x="236" y="46"/>
                </a:cxn>
                <a:cxn ang="0">
                  <a:pos x="176" y="82"/>
                </a:cxn>
                <a:cxn ang="0">
                  <a:pos x="92" y="154"/>
                </a:cxn>
                <a:cxn ang="0">
                  <a:pos x="23" y="247"/>
                </a:cxn>
                <a:cxn ang="0">
                  <a:pos x="8" y="190"/>
                </a:cxn>
              </a:cxnLst>
              <a:rect l="0" t="0" r="r" b="b"/>
              <a:pathLst>
                <a:path w="256" h="253">
                  <a:moveTo>
                    <a:pt x="8" y="190"/>
                  </a:moveTo>
                  <a:cubicBezTo>
                    <a:pt x="16" y="168"/>
                    <a:pt x="38" y="144"/>
                    <a:pt x="71" y="115"/>
                  </a:cubicBezTo>
                  <a:cubicBezTo>
                    <a:pt x="104" y="86"/>
                    <a:pt x="173" y="32"/>
                    <a:pt x="203" y="16"/>
                  </a:cubicBezTo>
                  <a:cubicBezTo>
                    <a:pt x="233" y="0"/>
                    <a:pt x="246" y="14"/>
                    <a:pt x="251" y="19"/>
                  </a:cubicBezTo>
                  <a:cubicBezTo>
                    <a:pt x="256" y="24"/>
                    <a:pt x="249" y="35"/>
                    <a:pt x="236" y="46"/>
                  </a:cubicBezTo>
                  <a:cubicBezTo>
                    <a:pt x="223" y="57"/>
                    <a:pt x="200" y="64"/>
                    <a:pt x="176" y="82"/>
                  </a:cubicBezTo>
                  <a:cubicBezTo>
                    <a:pt x="152" y="100"/>
                    <a:pt x="118" y="126"/>
                    <a:pt x="92" y="154"/>
                  </a:cubicBezTo>
                  <a:cubicBezTo>
                    <a:pt x="66" y="182"/>
                    <a:pt x="36" y="241"/>
                    <a:pt x="23" y="247"/>
                  </a:cubicBezTo>
                  <a:cubicBezTo>
                    <a:pt x="10" y="253"/>
                    <a:pt x="0" y="212"/>
                    <a:pt x="8" y="190"/>
                  </a:cubicBezTo>
                  <a:close/>
                </a:path>
              </a:pathLst>
            </a:custGeom>
            <a:solidFill>
              <a:schemeClr val="accent1"/>
            </a:solidFill>
            <a:ln w="9525">
              <a:noFill/>
              <a:round/>
              <a:headEnd/>
              <a:tailEnd/>
            </a:ln>
            <a:effectLst/>
          </p:spPr>
          <p:txBody>
            <a:bodyPr wrap="none" anchor="ctr"/>
            <a:lstStyle/>
            <a:p>
              <a:pPr>
                <a:defRPr/>
              </a:pPr>
              <a:endParaRPr lang="zh-CN" altLang="en-US">
                <a:solidFill>
                  <a:srgbClr val="545472"/>
                </a:solidFill>
              </a:endParaRPr>
            </a:p>
          </p:txBody>
        </p:sp>
        <p:sp>
          <p:nvSpPr>
            <p:cNvPr id="253957" name="Freeform 5"/>
            <p:cNvSpPr>
              <a:spLocks/>
            </p:cNvSpPr>
            <p:nvPr userDrawn="1"/>
          </p:nvSpPr>
          <p:spPr bwMode="auto">
            <a:xfrm>
              <a:off x="56" y="0"/>
              <a:ext cx="708" cy="459"/>
            </a:xfrm>
            <a:custGeom>
              <a:avLst/>
              <a:gdLst/>
              <a:ahLst/>
              <a:cxnLst>
                <a:cxn ang="0">
                  <a:pos x="0" y="432"/>
                </a:cxn>
                <a:cxn ang="0">
                  <a:pos x="0" y="453"/>
                </a:cxn>
                <a:cxn ang="0">
                  <a:pos x="72" y="324"/>
                </a:cxn>
                <a:cxn ang="0">
                  <a:pos x="198" y="201"/>
                </a:cxn>
                <a:cxn ang="0">
                  <a:pos x="366" y="102"/>
                </a:cxn>
                <a:cxn ang="0">
                  <a:pos x="531" y="36"/>
                </a:cxn>
                <a:cxn ang="0">
                  <a:pos x="609" y="0"/>
                </a:cxn>
                <a:cxn ang="0">
                  <a:pos x="708" y="3"/>
                </a:cxn>
                <a:cxn ang="0">
                  <a:pos x="591" y="66"/>
                </a:cxn>
                <a:cxn ang="0">
                  <a:pos x="417" y="126"/>
                </a:cxn>
                <a:cxn ang="0">
                  <a:pos x="237" y="231"/>
                </a:cxn>
                <a:cxn ang="0">
                  <a:pos x="117" y="345"/>
                </a:cxn>
                <a:cxn ang="0">
                  <a:pos x="51" y="459"/>
                </a:cxn>
                <a:cxn ang="0">
                  <a:pos x="0" y="453"/>
                </a:cxn>
              </a:cxnLst>
              <a:rect l="0" t="0" r="r" b="b"/>
              <a:pathLst>
                <a:path w="708" h="459">
                  <a:moveTo>
                    <a:pt x="0" y="432"/>
                  </a:moveTo>
                  <a:lnTo>
                    <a:pt x="0" y="453"/>
                  </a:lnTo>
                  <a:cubicBezTo>
                    <a:pt x="12" y="435"/>
                    <a:pt x="39" y="366"/>
                    <a:pt x="72" y="324"/>
                  </a:cubicBezTo>
                  <a:cubicBezTo>
                    <a:pt x="105" y="282"/>
                    <a:pt x="149" y="238"/>
                    <a:pt x="198" y="201"/>
                  </a:cubicBezTo>
                  <a:cubicBezTo>
                    <a:pt x="247" y="164"/>
                    <a:pt x="311" y="129"/>
                    <a:pt x="366" y="102"/>
                  </a:cubicBezTo>
                  <a:cubicBezTo>
                    <a:pt x="421" y="75"/>
                    <a:pt x="490" y="53"/>
                    <a:pt x="531" y="36"/>
                  </a:cubicBezTo>
                  <a:cubicBezTo>
                    <a:pt x="572" y="19"/>
                    <a:pt x="580" y="5"/>
                    <a:pt x="609" y="0"/>
                  </a:cubicBezTo>
                  <a:lnTo>
                    <a:pt x="708" y="3"/>
                  </a:lnTo>
                  <a:cubicBezTo>
                    <a:pt x="705" y="14"/>
                    <a:pt x="640" y="45"/>
                    <a:pt x="591" y="66"/>
                  </a:cubicBezTo>
                  <a:cubicBezTo>
                    <a:pt x="542" y="87"/>
                    <a:pt x="476" y="98"/>
                    <a:pt x="417" y="126"/>
                  </a:cubicBezTo>
                  <a:cubicBezTo>
                    <a:pt x="358" y="154"/>
                    <a:pt x="287" y="195"/>
                    <a:pt x="237" y="231"/>
                  </a:cubicBezTo>
                  <a:cubicBezTo>
                    <a:pt x="187" y="267"/>
                    <a:pt x="148" y="307"/>
                    <a:pt x="117" y="345"/>
                  </a:cubicBezTo>
                  <a:cubicBezTo>
                    <a:pt x="86" y="383"/>
                    <a:pt x="70" y="441"/>
                    <a:pt x="51" y="459"/>
                  </a:cubicBezTo>
                  <a:lnTo>
                    <a:pt x="0" y="453"/>
                  </a:lnTo>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53958" name="Freeform 6"/>
            <p:cNvSpPr>
              <a:spLocks/>
            </p:cNvSpPr>
            <p:nvPr userDrawn="1"/>
          </p:nvSpPr>
          <p:spPr bwMode="auto">
            <a:xfrm>
              <a:off x="131" y="269"/>
              <a:ext cx="251" cy="194"/>
            </a:xfrm>
            <a:custGeom>
              <a:avLst/>
              <a:gdLst/>
              <a:ahLst/>
              <a:cxnLst>
                <a:cxn ang="0">
                  <a:pos x="21" y="163"/>
                </a:cxn>
                <a:cxn ang="0">
                  <a:pos x="9" y="184"/>
                </a:cxn>
                <a:cxn ang="0">
                  <a:pos x="75" y="103"/>
                </a:cxn>
                <a:cxn ang="0">
                  <a:pos x="165" y="28"/>
                </a:cxn>
                <a:cxn ang="0">
                  <a:pos x="207" y="7"/>
                </a:cxn>
                <a:cxn ang="0">
                  <a:pos x="246" y="4"/>
                </a:cxn>
                <a:cxn ang="0">
                  <a:pos x="237" y="34"/>
                </a:cxn>
                <a:cxn ang="0">
                  <a:pos x="183" y="61"/>
                </a:cxn>
                <a:cxn ang="0">
                  <a:pos x="108" y="124"/>
                </a:cxn>
                <a:cxn ang="0">
                  <a:pos x="54" y="190"/>
                </a:cxn>
                <a:cxn ang="0">
                  <a:pos x="6" y="184"/>
                </a:cxn>
              </a:cxnLst>
              <a:rect l="0" t="0" r="r" b="b"/>
              <a:pathLst>
                <a:path w="251" h="194">
                  <a:moveTo>
                    <a:pt x="21" y="163"/>
                  </a:moveTo>
                  <a:cubicBezTo>
                    <a:pt x="10" y="178"/>
                    <a:pt x="0" y="194"/>
                    <a:pt x="9" y="184"/>
                  </a:cubicBezTo>
                  <a:cubicBezTo>
                    <a:pt x="18" y="174"/>
                    <a:pt x="49" y="129"/>
                    <a:pt x="75" y="103"/>
                  </a:cubicBezTo>
                  <a:cubicBezTo>
                    <a:pt x="101" y="77"/>
                    <a:pt x="143" y="44"/>
                    <a:pt x="165" y="28"/>
                  </a:cubicBezTo>
                  <a:cubicBezTo>
                    <a:pt x="187" y="12"/>
                    <a:pt x="194" y="11"/>
                    <a:pt x="207" y="7"/>
                  </a:cubicBezTo>
                  <a:cubicBezTo>
                    <a:pt x="220" y="3"/>
                    <a:pt x="241" y="0"/>
                    <a:pt x="246" y="4"/>
                  </a:cubicBezTo>
                  <a:cubicBezTo>
                    <a:pt x="251" y="8"/>
                    <a:pt x="247" y="25"/>
                    <a:pt x="237" y="34"/>
                  </a:cubicBezTo>
                  <a:cubicBezTo>
                    <a:pt x="227" y="43"/>
                    <a:pt x="204" y="46"/>
                    <a:pt x="183" y="61"/>
                  </a:cubicBezTo>
                  <a:cubicBezTo>
                    <a:pt x="162" y="76"/>
                    <a:pt x="129" y="103"/>
                    <a:pt x="108" y="124"/>
                  </a:cubicBezTo>
                  <a:cubicBezTo>
                    <a:pt x="87" y="145"/>
                    <a:pt x="71" y="180"/>
                    <a:pt x="54" y="190"/>
                  </a:cubicBezTo>
                  <a:lnTo>
                    <a:pt x="6" y="184"/>
                  </a:lnTo>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53959" name="Freeform 7"/>
            <p:cNvSpPr>
              <a:spLocks/>
            </p:cNvSpPr>
            <p:nvPr userDrawn="1"/>
          </p:nvSpPr>
          <p:spPr bwMode="auto">
            <a:xfrm>
              <a:off x="341" y="0"/>
              <a:ext cx="159" cy="72"/>
            </a:xfrm>
            <a:custGeom>
              <a:avLst/>
              <a:gdLst/>
              <a:ahLst/>
              <a:cxnLst>
                <a:cxn ang="0">
                  <a:pos x="99" y="0"/>
                </a:cxn>
                <a:cxn ang="0">
                  <a:pos x="15" y="36"/>
                </a:cxn>
                <a:cxn ang="0">
                  <a:pos x="6" y="60"/>
                </a:cxn>
                <a:cxn ang="0">
                  <a:pos x="36" y="69"/>
                </a:cxn>
                <a:cxn ang="0">
                  <a:pos x="87" y="42"/>
                </a:cxn>
                <a:cxn ang="0">
                  <a:pos x="159" y="0"/>
                </a:cxn>
                <a:cxn ang="0">
                  <a:pos x="99" y="0"/>
                </a:cxn>
              </a:cxnLst>
              <a:rect l="0" t="0" r="r" b="b"/>
              <a:pathLst>
                <a:path w="159" h="72">
                  <a:moveTo>
                    <a:pt x="99" y="0"/>
                  </a:moveTo>
                  <a:cubicBezTo>
                    <a:pt x="75" y="6"/>
                    <a:pt x="30" y="26"/>
                    <a:pt x="15" y="36"/>
                  </a:cubicBezTo>
                  <a:cubicBezTo>
                    <a:pt x="0" y="46"/>
                    <a:pt x="3" y="55"/>
                    <a:pt x="6" y="60"/>
                  </a:cubicBezTo>
                  <a:cubicBezTo>
                    <a:pt x="9" y="65"/>
                    <a:pt x="23" y="72"/>
                    <a:pt x="36" y="69"/>
                  </a:cubicBezTo>
                  <a:cubicBezTo>
                    <a:pt x="49" y="66"/>
                    <a:pt x="67" y="53"/>
                    <a:pt x="87" y="42"/>
                  </a:cubicBezTo>
                  <a:cubicBezTo>
                    <a:pt x="107" y="31"/>
                    <a:pt x="158" y="6"/>
                    <a:pt x="159" y="0"/>
                  </a:cubicBezTo>
                  <a:lnTo>
                    <a:pt x="99" y="0"/>
                  </a:ln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53960" name="Freeform 8"/>
            <p:cNvSpPr>
              <a:spLocks/>
            </p:cNvSpPr>
            <p:nvPr userDrawn="1"/>
          </p:nvSpPr>
          <p:spPr bwMode="auto">
            <a:xfrm>
              <a:off x="488" y="0"/>
              <a:ext cx="455" cy="216"/>
            </a:xfrm>
            <a:custGeom>
              <a:avLst/>
              <a:gdLst/>
              <a:ahLst/>
              <a:cxnLst>
                <a:cxn ang="0">
                  <a:pos x="395" y="0"/>
                </a:cxn>
                <a:cxn ang="0">
                  <a:pos x="338" y="48"/>
                </a:cxn>
                <a:cxn ang="0">
                  <a:pos x="242" y="102"/>
                </a:cxn>
                <a:cxn ang="0">
                  <a:pos x="104" y="147"/>
                </a:cxn>
                <a:cxn ang="0">
                  <a:pos x="35" y="168"/>
                </a:cxn>
                <a:cxn ang="0">
                  <a:pos x="8" y="192"/>
                </a:cxn>
                <a:cxn ang="0">
                  <a:pos x="8" y="213"/>
                </a:cxn>
                <a:cxn ang="0">
                  <a:pos x="59" y="213"/>
                </a:cxn>
                <a:cxn ang="0">
                  <a:pos x="86" y="192"/>
                </a:cxn>
                <a:cxn ang="0">
                  <a:pos x="173" y="159"/>
                </a:cxn>
                <a:cxn ang="0">
                  <a:pos x="299" y="126"/>
                </a:cxn>
                <a:cxn ang="0">
                  <a:pos x="392" y="72"/>
                </a:cxn>
                <a:cxn ang="0">
                  <a:pos x="455" y="0"/>
                </a:cxn>
                <a:cxn ang="0">
                  <a:pos x="395" y="0"/>
                </a:cxn>
              </a:cxnLst>
              <a:rect l="0" t="0" r="r" b="b"/>
              <a:pathLst>
                <a:path w="455" h="216">
                  <a:moveTo>
                    <a:pt x="395" y="0"/>
                  </a:moveTo>
                  <a:cubicBezTo>
                    <a:pt x="376" y="8"/>
                    <a:pt x="364" y="31"/>
                    <a:pt x="338" y="48"/>
                  </a:cubicBezTo>
                  <a:cubicBezTo>
                    <a:pt x="312" y="65"/>
                    <a:pt x="281" y="86"/>
                    <a:pt x="242" y="102"/>
                  </a:cubicBezTo>
                  <a:cubicBezTo>
                    <a:pt x="203" y="118"/>
                    <a:pt x="138" y="136"/>
                    <a:pt x="104" y="147"/>
                  </a:cubicBezTo>
                  <a:cubicBezTo>
                    <a:pt x="70" y="158"/>
                    <a:pt x="51" y="161"/>
                    <a:pt x="35" y="168"/>
                  </a:cubicBezTo>
                  <a:cubicBezTo>
                    <a:pt x="19" y="175"/>
                    <a:pt x="12" y="185"/>
                    <a:pt x="8" y="192"/>
                  </a:cubicBezTo>
                  <a:cubicBezTo>
                    <a:pt x="4" y="199"/>
                    <a:pt x="0" y="210"/>
                    <a:pt x="8" y="213"/>
                  </a:cubicBezTo>
                  <a:cubicBezTo>
                    <a:pt x="16" y="216"/>
                    <a:pt x="46" y="216"/>
                    <a:pt x="59" y="213"/>
                  </a:cubicBezTo>
                  <a:cubicBezTo>
                    <a:pt x="72" y="210"/>
                    <a:pt x="67" y="201"/>
                    <a:pt x="86" y="192"/>
                  </a:cubicBezTo>
                  <a:cubicBezTo>
                    <a:pt x="105" y="183"/>
                    <a:pt x="138" y="170"/>
                    <a:pt x="173" y="159"/>
                  </a:cubicBezTo>
                  <a:cubicBezTo>
                    <a:pt x="208" y="148"/>
                    <a:pt x="263" y="140"/>
                    <a:pt x="299" y="126"/>
                  </a:cubicBezTo>
                  <a:cubicBezTo>
                    <a:pt x="335" y="112"/>
                    <a:pt x="366" y="93"/>
                    <a:pt x="392" y="72"/>
                  </a:cubicBezTo>
                  <a:cubicBezTo>
                    <a:pt x="418" y="51"/>
                    <a:pt x="454" y="12"/>
                    <a:pt x="455" y="0"/>
                  </a:cubicBezTo>
                  <a:lnTo>
                    <a:pt x="395" y="0"/>
                  </a:ln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53961" name="Freeform 9"/>
            <p:cNvSpPr>
              <a:spLocks/>
            </p:cNvSpPr>
            <p:nvPr userDrawn="1"/>
          </p:nvSpPr>
          <p:spPr bwMode="auto">
            <a:xfrm>
              <a:off x="1448" y="37"/>
              <a:ext cx="414" cy="108"/>
            </a:xfrm>
            <a:custGeom>
              <a:avLst/>
              <a:gdLst/>
              <a:ahLst/>
              <a:cxnLst>
                <a:cxn ang="0">
                  <a:pos x="0" y="11"/>
                </a:cxn>
                <a:cxn ang="0">
                  <a:pos x="24" y="11"/>
                </a:cxn>
                <a:cxn ang="0">
                  <a:pos x="156" y="2"/>
                </a:cxn>
                <a:cxn ang="0">
                  <a:pos x="288" y="23"/>
                </a:cxn>
                <a:cxn ang="0">
                  <a:pos x="384" y="53"/>
                </a:cxn>
                <a:cxn ang="0">
                  <a:pos x="411" y="74"/>
                </a:cxn>
                <a:cxn ang="0">
                  <a:pos x="405" y="104"/>
                </a:cxn>
                <a:cxn ang="0">
                  <a:pos x="363" y="101"/>
                </a:cxn>
                <a:cxn ang="0">
                  <a:pos x="294" y="77"/>
                </a:cxn>
                <a:cxn ang="0">
                  <a:pos x="174" y="50"/>
                </a:cxn>
                <a:cxn ang="0">
                  <a:pos x="72" y="62"/>
                </a:cxn>
                <a:cxn ang="0">
                  <a:pos x="36" y="59"/>
                </a:cxn>
                <a:cxn ang="0">
                  <a:pos x="0" y="11"/>
                </a:cxn>
              </a:cxnLst>
              <a:rect l="0" t="0" r="r" b="b"/>
              <a:pathLst>
                <a:path w="414" h="108">
                  <a:moveTo>
                    <a:pt x="0" y="11"/>
                  </a:moveTo>
                  <a:lnTo>
                    <a:pt x="24" y="11"/>
                  </a:lnTo>
                  <a:cubicBezTo>
                    <a:pt x="50" y="9"/>
                    <a:pt x="112" y="0"/>
                    <a:pt x="156" y="2"/>
                  </a:cubicBezTo>
                  <a:cubicBezTo>
                    <a:pt x="200" y="4"/>
                    <a:pt x="250" y="15"/>
                    <a:pt x="288" y="23"/>
                  </a:cubicBezTo>
                  <a:cubicBezTo>
                    <a:pt x="326" y="31"/>
                    <a:pt x="363" y="44"/>
                    <a:pt x="384" y="53"/>
                  </a:cubicBezTo>
                  <a:cubicBezTo>
                    <a:pt x="405" y="62"/>
                    <a:pt x="408" y="66"/>
                    <a:pt x="411" y="74"/>
                  </a:cubicBezTo>
                  <a:cubicBezTo>
                    <a:pt x="414" y="82"/>
                    <a:pt x="413" y="100"/>
                    <a:pt x="405" y="104"/>
                  </a:cubicBezTo>
                  <a:cubicBezTo>
                    <a:pt x="397" y="108"/>
                    <a:pt x="381" y="105"/>
                    <a:pt x="363" y="101"/>
                  </a:cubicBezTo>
                  <a:cubicBezTo>
                    <a:pt x="345" y="97"/>
                    <a:pt x="325" y="85"/>
                    <a:pt x="294" y="77"/>
                  </a:cubicBezTo>
                  <a:cubicBezTo>
                    <a:pt x="263" y="69"/>
                    <a:pt x="211" y="53"/>
                    <a:pt x="174" y="50"/>
                  </a:cubicBezTo>
                  <a:cubicBezTo>
                    <a:pt x="137" y="47"/>
                    <a:pt x="95" y="61"/>
                    <a:pt x="72" y="62"/>
                  </a:cubicBezTo>
                  <a:cubicBezTo>
                    <a:pt x="49" y="63"/>
                    <a:pt x="48" y="66"/>
                    <a:pt x="36" y="59"/>
                  </a:cubicBezTo>
                  <a:cubicBezTo>
                    <a:pt x="24" y="52"/>
                    <a:pt x="13" y="36"/>
                    <a:pt x="0" y="11"/>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53962" name="Freeform 10"/>
            <p:cNvSpPr>
              <a:spLocks/>
            </p:cNvSpPr>
            <p:nvPr userDrawn="1"/>
          </p:nvSpPr>
          <p:spPr bwMode="auto">
            <a:xfrm>
              <a:off x="1790" y="0"/>
              <a:ext cx="520" cy="225"/>
            </a:xfrm>
            <a:custGeom>
              <a:avLst/>
              <a:gdLst/>
              <a:ahLst/>
              <a:cxnLst>
                <a:cxn ang="0">
                  <a:pos x="42" y="0"/>
                </a:cxn>
                <a:cxn ang="0">
                  <a:pos x="12" y="24"/>
                </a:cxn>
                <a:cxn ang="0">
                  <a:pos x="114" y="54"/>
                </a:cxn>
                <a:cxn ang="0">
                  <a:pos x="240" y="117"/>
                </a:cxn>
                <a:cxn ang="0">
                  <a:pos x="333" y="153"/>
                </a:cxn>
                <a:cxn ang="0">
                  <a:pos x="438" y="219"/>
                </a:cxn>
                <a:cxn ang="0">
                  <a:pos x="426" y="192"/>
                </a:cxn>
                <a:cxn ang="0">
                  <a:pos x="441" y="180"/>
                </a:cxn>
                <a:cxn ang="0">
                  <a:pos x="519" y="216"/>
                </a:cxn>
                <a:cxn ang="0">
                  <a:pos x="450" y="162"/>
                </a:cxn>
                <a:cxn ang="0">
                  <a:pos x="381" y="135"/>
                </a:cxn>
                <a:cxn ang="0">
                  <a:pos x="285" y="84"/>
                </a:cxn>
                <a:cxn ang="0">
                  <a:pos x="186" y="18"/>
                </a:cxn>
                <a:cxn ang="0">
                  <a:pos x="123" y="0"/>
                </a:cxn>
                <a:cxn ang="0">
                  <a:pos x="42" y="0"/>
                </a:cxn>
              </a:cxnLst>
              <a:rect l="0" t="0" r="r" b="b"/>
              <a:pathLst>
                <a:path w="520" h="225">
                  <a:moveTo>
                    <a:pt x="42" y="0"/>
                  </a:moveTo>
                  <a:cubicBezTo>
                    <a:pt x="24" y="4"/>
                    <a:pt x="0" y="15"/>
                    <a:pt x="12" y="24"/>
                  </a:cubicBezTo>
                  <a:cubicBezTo>
                    <a:pt x="24" y="33"/>
                    <a:pt x="76" y="39"/>
                    <a:pt x="114" y="54"/>
                  </a:cubicBezTo>
                  <a:cubicBezTo>
                    <a:pt x="152" y="69"/>
                    <a:pt x="203" y="100"/>
                    <a:pt x="240" y="117"/>
                  </a:cubicBezTo>
                  <a:cubicBezTo>
                    <a:pt x="277" y="134"/>
                    <a:pt x="300" y="136"/>
                    <a:pt x="333" y="153"/>
                  </a:cubicBezTo>
                  <a:cubicBezTo>
                    <a:pt x="366" y="170"/>
                    <a:pt x="423" y="213"/>
                    <a:pt x="438" y="219"/>
                  </a:cubicBezTo>
                  <a:cubicBezTo>
                    <a:pt x="453" y="225"/>
                    <a:pt x="426" y="198"/>
                    <a:pt x="426" y="192"/>
                  </a:cubicBezTo>
                  <a:cubicBezTo>
                    <a:pt x="426" y="186"/>
                    <a:pt x="426" y="176"/>
                    <a:pt x="441" y="180"/>
                  </a:cubicBezTo>
                  <a:cubicBezTo>
                    <a:pt x="456" y="184"/>
                    <a:pt x="518" y="219"/>
                    <a:pt x="519" y="216"/>
                  </a:cubicBezTo>
                  <a:cubicBezTo>
                    <a:pt x="520" y="213"/>
                    <a:pt x="473" y="176"/>
                    <a:pt x="450" y="162"/>
                  </a:cubicBezTo>
                  <a:cubicBezTo>
                    <a:pt x="427" y="148"/>
                    <a:pt x="408" y="148"/>
                    <a:pt x="381" y="135"/>
                  </a:cubicBezTo>
                  <a:cubicBezTo>
                    <a:pt x="354" y="122"/>
                    <a:pt x="318" y="104"/>
                    <a:pt x="285" y="84"/>
                  </a:cubicBezTo>
                  <a:cubicBezTo>
                    <a:pt x="252" y="64"/>
                    <a:pt x="213" y="32"/>
                    <a:pt x="186" y="18"/>
                  </a:cubicBezTo>
                  <a:cubicBezTo>
                    <a:pt x="159" y="4"/>
                    <a:pt x="147" y="2"/>
                    <a:pt x="123" y="0"/>
                  </a:cubicBezTo>
                  <a:lnTo>
                    <a:pt x="42" y="0"/>
                  </a:ln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53963" name="Freeform 11"/>
            <p:cNvSpPr>
              <a:spLocks/>
            </p:cNvSpPr>
            <p:nvPr userDrawn="1"/>
          </p:nvSpPr>
          <p:spPr bwMode="auto">
            <a:xfrm>
              <a:off x="1943" y="154"/>
              <a:ext cx="431" cy="233"/>
            </a:xfrm>
            <a:custGeom>
              <a:avLst/>
              <a:gdLst/>
              <a:ahLst/>
              <a:cxnLst>
                <a:cxn ang="0">
                  <a:pos x="6" y="38"/>
                </a:cxn>
                <a:cxn ang="0">
                  <a:pos x="9" y="20"/>
                </a:cxn>
                <a:cxn ang="0">
                  <a:pos x="42" y="2"/>
                </a:cxn>
                <a:cxn ang="0">
                  <a:pos x="90" y="35"/>
                </a:cxn>
                <a:cxn ang="0">
                  <a:pos x="189" y="89"/>
                </a:cxn>
                <a:cxn ang="0">
                  <a:pos x="288" y="140"/>
                </a:cxn>
                <a:cxn ang="0">
                  <a:pos x="375" y="176"/>
                </a:cxn>
                <a:cxn ang="0">
                  <a:pos x="396" y="176"/>
                </a:cxn>
                <a:cxn ang="0">
                  <a:pos x="429" y="212"/>
                </a:cxn>
                <a:cxn ang="0">
                  <a:pos x="408" y="233"/>
                </a:cxn>
                <a:cxn ang="0">
                  <a:pos x="333" y="212"/>
                </a:cxn>
                <a:cxn ang="0">
                  <a:pos x="186" y="143"/>
                </a:cxn>
                <a:cxn ang="0">
                  <a:pos x="48" y="68"/>
                </a:cxn>
                <a:cxn ang="0">
                  <a:pos x="6" y="38"/>
                </a:cxn>
              </a:cxnLst>
              <a:rect l="0" t="0" r="r" b="b"/>
              <a:pathLst>
                <a:path w="431" h="233">
                  <a:moveTo>
                    <a:pt x="6" y="38"/>
                  </a:moveTo>
                  <a:cubicBezTo>
                    <a:pt x="0" y="26"/>
                    <a:pt x="3" y="26"/>
                    <a:pt x="9" y="20"/>
                  </a:cubicBezTo>
                  <a:cubicBezTo>
                    <a:pt x="15" y="14"/>
                    <a:pt x="29" y="0"/>
                    <a:pt x="42" y="2"/>
                  </a:cubicBezTo>
                  <a:cubicBezTo>
                    <a:pt x="55" y="4"/>
                    <a:pt x="66" y="21"/>
                    <a:pt x="90" y="35"/>
                  </a:cubicBezTo>
                  <a:cubicBezTo>
                    <a:pt x="114" y="49"/>
                    <a:pt x="156" y="72"/>
                    <a:pt x="189" y="89"/>
                  </a:cubicBezTo>
                  <a:cubicBezTo>
                    <a:pt x="222" y="106"/>
                    <a:pt x="257" y="126"/>
                    <a:pt x="288" y="140"/>
                  </a:cubicBezTo>
                  <a:cubicBezTo>
                    <a:pt x="319" y="154"/>
                    <a:pt x="357" y="170"/>
                    <a:pt x="375" y="176"/>
                  </a:cubicBezTo>
                  <a:cubicBezTo>
                    <a:pt x="393" y="182"/>
                    <a:pt x="387" y="170"/>
                    <a:pt x="396" y="176"/>
                  </a:cubicBezTo>
                  <a:cubicBezTo>
                    <a:pt x="405" y="182"/>
                    <a:pt x="427" y="203"/>
                    <a:pt x="429" y="212"/>
                  </a:cubicBezTo>
                  <a:cubicBezTo>
                    <a:pt x="431" y="221"/>
                    <a:pt x="424" y="233"/>
                    <a:pt x="408" y="233"/>
                  </a:cubicBezTo>
                  <a:cubicBezTo>
                    <a:pt x="392" y="233"/>
                    <a:pt x="370" y="227"/>
                    <a:pt x="333" y="212"/>
                  </a:cubicBezTo>
                  <a:cubicBezTo>
                    <a:pt x="296" y="197"/>
                    <a:pt x="234" y="167"/>
                    <a:pt x="186" y="143"/>
                  </a:cubicBezTo>
                  <a:cubicBezTo>
                    <a:pt x="138" y="119"/>
                    <a:pt x="78" y="86"/>
                    <a:pt x="48" y="68"/>
                  </a:cubicBezTo>
                  <a:cubicBezTo>
                    <a:pt x="18" y="50"/>
                    <a:pt x="12" y="50"/>
                    <a:pt x="6" y="38"/>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53964" name="Freeform 12"/>
            <p:cNvSpPr>
              <a:spLocks/>
            </p:cNvSpPr>
            <p:nvPr userDrawn="1"/>
          </p:nvSpPr>
          <p:spPr bwMode="auto">
            <a:xfrm>
              <a:off x="2262" y="87"/>
              <a:ext cx="396" cy="227"/>
            </a:xfrm>
            <a:custGeom>
              <a:avLst/>
              <a:gdLst/>
              <a:ahLst/>
              <a:cxnLst>
                <a:cxn ang="0">
                  <a:pos x="2" y="9"/>
                </a:cxn>
                <a:cxn ang="0">
                  <a:pos x="53" y="66"/>
                </a:cxn>
                <a:cxn ang="0">
                  <a:pos x="176" y="132"/>
                </a:cxn>
                <a:cxn ang="0">
                  <a:pos x="293" y="189"/>
                </a:cxn>
                <a:cxn ang="0">
                  <a:pos x="341" y="222"/>
                </a:cxn>
                <a:cxn ang="0">
                  <a:pos x="377" y="219"/>
                </a:cxn>
                <a:cxn ang="0">
                  <a:pos x="377" y="180"/>
                </a:cxn>
                <a:cxn ang="0">
                  <a:pos x="260" y="126"/>
                </a:cxn>
                <a:cxn ang="0">
                  <a:pos x="113" y="51"/>
                </a:cxn>
                <a:cxn ang="0">
                  <a:pos x="41" y="9"/>
                </a:cxn>
                <a:cxn ang="0">
                  <a:pos x="2" y="9"/>
                </a:cxn>
              </a:cxnLst>
              <a:rect l="0" t="0" r="r" b="b"/>
              <a:pathLst>
                <a:path w="396" h="227">
                  <a:moveTo>
                    <a:pt x="2" y="9"/>
                  </a:moveTo>
                  <a:cubicBezTo>
                    <a:pt x="4" y="18"/>
                    <a:pt x="24" y="45"/>
                    <a:pt x="53" y="66"/>
                  </a:cubicBezTo>
                  <a:cubicBezTo>
                    <a:pt x="82" y="87"/>
                    <a:pt x="136" y="111"/>
                    <a:pt x="176" y="132"/>
                  </a:cubicBezTo>
                  <a:cubicBezTo>
                    <a:pt x="216" y="153"/>
                    <a:pt x="266" y="174"/>
                    <a:pt x="293" y="189"/>
                  </a:cubicBezTo>
                  <a:cubicBezTo>
                    <a:pt x="320" y="204"/>
                    <a:pt x="327" y="217"/>
                    <a:pt x="341" y="222"/>
                  </a:cubicBezTo>
                  <a:cubicBezTo>
                    <a:pt x="355" y="227"/>
                    <a:pt x="371" y="226"/>
                    <a:pt x="377" y="219"/>
                  </a:cubicBezTo>
                  <a:cubicBezTo>
                    <a:pt x="383" y="212"/>
                    <a:pt x="396" y="195"/>
                    <a:pt x="377" y="180"/>
                  </a:cubicBezTo>
                  <a:cubicBezTo>
                    <a:pt x="358" y="165"/>
                    <a:pt x="304" y="147"/>
                    <a:pt x="260" y="126"/>
                  </a:cubicBezTo>
                  <a:cubicBezTo>
                    <a:pt x="216" y="105"/>
                    <a:pt x="149" y="70"/>
                    <a:pt x="113" y="51"/>
                  </a:cubicBezTo>
                  <a:cubicBezTo>
                    <a:pt x="77" y="32"/>
                    <a:pt x="60" y="17"/>
                    <a:pt x="41" y="9"/>
                  </a:cubicBezTo>
                  <a:cubicBezTo>
                    <a:pt x="22" y="1"/>
                    <a:pt x="0" y="0"/>
                    <a:pt x="2" y="9"/>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53965" name="Freeform 13"/>
            <p:cNvSpPr>
              <a:spLocks/>
            </p:cNvSpPr>
            <p:nvPr userDrawn="1"/>
          </p:nvSpPr>
          <p:spPr bwMode="auto">
            <a:xfrm>
              <a:off x="2264" y="240"/>
              <a:ext cx="516" cy="223"/>
            </a:xfrm>
            <a:custGeom>
              <a:avLst/>
              <a:gdLst/>
              <a:ahLst/>
              <a:cxnLst>
                <a:cxn ang="0">
                  <a:pos x="3" y="10"/>
                </a:cxn>
                <a:cxn ang="0">
                  <a:pos x="105" y="97"/>
                </a:cxn>
                <a:cxn ang="0">
                  <a:pos x="243" y="178"/>
                </a:cxn>
                <a:cxn ang="0">
                  <a:pos x="357" y="217"/>
                </a:cxn>
                <a:cxn ang="0">
                  <a:pos x="498" y="214"/>
                </a:cxn>
                <a:cxn ang="0">
                  <a:pos x="468" y="187"/>
                </a:cxn>
                <a:cxn ang="0">
                  <a:pos x="309" y="136"/>
                </a:cxn>
                <a:cxn ang="0">
                  <a:pos x="123" y="34"/>
                </a:cxn>
                <a:cxn ang="0">
                  <a:pos x="3" y="10"/>
                </a:cxn>
              </a:cxnLst>
              <a:rect l="0" t="0" r="r" b="b"/>
              <a:pathLst>
                <a:path w="516" h="223">
                  <a:moveTo>
                    <a:pt x="3" y="10"/>
                  </a:moveTo>
                  <a:cubicBezTo>
                    <a:pt x="0" y="20"/>
                    <a:pt x="65" y="69"/>
                    <a:pt x="105" y="97"/>
                  </a:cubicBezTo>
                  <a:cubicBezTo>
                    <a:pt x="145" y="125"/>
                    <a:pt x="201" y="158"/>
                    <a:pt x="243" y="178"/>
                  </a:cubicBezTo>
                  <a:cubicBezTo>
                    <a:pt x="285" y="198"/>
                    <a:pt x="315" y="211"/>
                    <a:pt x="357" y="217"/>
                  </a:cubicBezTo>
                  <a:cubicBezTo>
                    <a:pt x="399" y="223"/>
                    <a:pt x="480" y="219"/>
                    <a:pt x="498" y="214"/>
                  </a:cubicBezTo>
                  <a:cubicBezTo>
                    <a:pt x="516" y="209"/>
                    <a:pt x="499" y="200"/>
                    <a:pt x="468" y="187"/>
                  </a:cubicBezTo>
                  <a:cubicBezTo>
                    <a:pt x="437" y="174"/>
                    <a:pt x="366" y="161"/>
                    <a:pt x="309" y="136"/>
                  </a:cubicBezTo>
                  <a:cubicBezTo>
                    <a:pt x="252" y="111"/>
                    <a:pt x="172" y="54"/>
                    <a:pt x="123" y="34"/>
                  </a:cubicBezTo>
                  <a:cubicBezTo>
                    <a:pt x="74" y="14"/>
                    <a:pt x="6" y="0"/>
                    <a:pt x="3" y="10"/>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53966" name="Freeform 14"/>
            <p:cNvSpPr>
              <a:spLocks/>
            </p:cNvSpPr>
            <p:nvPr userDrawn="1"/>
          </p:nvSpPr>
          <p:spPr bwMode="auto">
            <a:xfrm>
              <a:off x="2723" y="324"/>
              <a:ext cx="414" cy="100"/>
            </a:xfrm>
            <a:custGeom>
              <a:avLst/>
              <a:gdLst/>
              <a:ahLst/>
              <a:cxnLst>
                <a:cxn ang="0">
                  <a:pos x="69" y="60"/>
                </a:cxn>
                <a:cxn ang="0">
                  <a:pos x="12" y="42"/>
                </a:cxn>
                <a:cxn ang="0">
                  <a:pos x="3" y="15"/>
                </a:cxn>
                <a:cxn ang="0">
                  <a:pos x="30" y="0"/>
                </a:cxn>
                <a:cxn ang="0">
                  <a:pos x="117" y="18"/>
                </a:cxn>
                <a:cxn ang="0">
                  <a:pos x="243" y="48"/>
                </a:cxn>
                <a:cxn ang="0">
                  <a:pos x="387" y="48"/>
                </a:cxn>
                <a:cxn ang="0">
                  <a:pos x="408" y="54"/>
                </a:cxn>
                <a:cxn ang="0">
                  <a:pos x="381" y="87"/>
                </a:cxn>
                <a:cxn ang="0">
                  <a:pos x="318" y="99"/>
                </a:cxn>
                <a:cxn ang="0">
                  <a:pos x="195" y="93"/>
                </a:cxn>
                <a:cxn ang="0">
                  <a:pos x="69" y="60"/>
                </a:cxn>
              </a:cxnLst>
              <a:rect l="0" t="0" r="r" b="b"/>
              <a:pathLst>
                <a:path w="414" h="100">
                  <a:moveTo>
                    <a:pt x="69" y="60"/>
                  </a:moveTo>
                  <a:cubicBezTo>
                    <a:pt x="39" y="52"/>
                    <a:pt x="23" y="49"/>
                    <a:pt x="12" y="42"/>
                  </a:cubicBezTo>
                  <a:cubicBezTo>
                    <a:pt x="1" y="35"/>
                    <a:pt x="0" y="22"/>
                    <a:pt x="3" y="15"/>
                  </a:cubicBezTo>
                  <a:cubicBezTo>
                    <a:pt x="6" y="8"/>
                    <a:pt x="11" y="0"/>
                    <a:pt x="30" y="0"/>
                  </a:cubicBezTo>
                  <a:cubicBezTo>
                    <a:pt x="49" y="0"/>
                    <a:pt x="82" y="10"/>
                    <a:pt x="117" y="18"/>
                  </a:cubicBezTo>
                  <a:cubicBezTo>
                    <a:pt x="152" y="26"/>
                    <a:pt x="198" y="43"/>
                    <a:pt x="243" y="48"/>
                  </a:cubicBezTo>
                  <a:cubicBezTo>
                    <a:pt x="288" y="53"/>
                    <a:pt x="360" y="47"/>
                    <a:pt x="387" y="48"/>
                  </a:cubicBezTo>
                  <a:cubicBezTo>
                    <a:pt x="414" y="49"/>
                    <a:pt x="409" y="48"/>
                    <a:pt x="408" y="54"/>
                  </a:cubicBezTo>
                  <a:cubicBezTo>
                    <a:pt x="407" y="60"/>
                    <a:pt x="396" y="80"/>
                    <a:pt x="381" y="87"/>
                  </a:cubicBezTo>
                  <a:cubicBezTo>
                    <a:pt x="366" y="94"/>
                    <a:pt x="349" y="98"/>
                    <a:pt x="318" y="99"/>
                  </a:cubicBezTo>
                  <a:cubicBezTo>
                    <a:pt x="287" y="100"/>
                    <a:pt x="237" y="99"/>
                    <a:pt x="195" y="93"/>
                  </a:cubicBezTo>
                  <a:cubicBezTo>
                    <a:pt x="153" y="87"/>
                    <a:pt x="99" y="68"/>
                    <a:pt x="69" y="60"/>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53967" name="Freeform 15"/>
            <p:cNvSpPr>
              <a:spLocks/>
            </p:cNvSpPr>
            <p:nvPr userDrawn="1"/>
          </p:nvSpPr>
          <p:spPr bwMode="auto">
            <a:xfrm>
              <a:off x="3165" y="375"/>
              <a:ext cx="150" cy="72"/>
            </a:xfrm>
            <a:custGeom>
              <a:avLst/>
              <a:gdLst/>
              <a:ahLst/>
              <a:cxnLst>
                <a:cxn ang="0">
                  <a:pos x="3" y="67"/>
                </a:cxn>
                <a:cxn ang="0">
                  <a:pos x="84" y="19"/>
                </a:cxn>
                <a:cxn ang="0">
                  <a:pos x="123" y="1"/>
                </a:cxn>
                <a:cxn ang="0">
                  <a:pos x="150" y="22"/>
                </a:cxn>
                <a:cxn ang="0">
                  <a:pos x="123" y="55"/>
                </a:cxn>
                <a:cxn ang="0">
                  <a:pos x="90" y="70"/>
                </a:cxn>
                <a:cxn ang="0">
                  <a:pos x="0" y="67"/>
                </a:cxn>
              </a:cxnLst>
              <a:rect l="0" t="0" r="r" b="b"/>
              <a:pathLst>
                <a:path w="150" h="72">
                  <a:moveTo>
                    <a:pt x="3" y="67"/>
                  </a:moveTo>
                  <a:cubicBezTo>
                    <a:pt x="16" y="59"/>
                    <a:pt x="64" y="30"/>
                    <a:pt x="84" y="19"/>
                  </a:cubicBezTo>
                  <a:cubicBezTo>
                    <a:pt x="104" y="8"/>
                    <a:pt x="112" y="0"/>
                    <a:pt x="123" y="1"/>
                  </a:cubicBezTo>
                  <a:cubicBezTo>
                    <a:pt x="134" y="2"/>
                    <a:pt x="150" y="13"/>
                    <a:pt x="150" y="22"/>
                  </a:cubicBezTo>
                  <a:cubicBezTo>
                    <a:pt x="150" y="31"/>
                    <a:pt x="133" y="47"/>
                    <a:pt x="123" y="55"/>
                  </a:cubicBezTo>
                  <a:cubicBezTo>
                    <a:pt x="113" y="63"/>
                    <a:pt x="110" y="68"/>
                    <a:pt x="90" y="70"/>
                  </a:cubicBezTo>
                  <a:cubicBezTo>
                    <a:pt x="70" y="72"/>
                    <a:pt x="35" y="69"/>
                    <a:pt x="0" y="67"/>
                  </a:cubicBezTo>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53968" name="Freeform 16"/>
            <p:cNvSpPr>
              <a:spLocks/>
            </p:cNvSpPr>
            <p:nvPr userDrawn="1"/>
          </p:nvSpPr>
          <p:spPr bwMode="auto">
            <a:xfrm>
              <a:off x="3463" y="267"/>
              <a:ext cx="148" cy="91"/>
            </a:xfrm>
            <a:custGeom>
              <a:avLst/>
              <a:gdLst/>
              <a:ahLst/>
              <a:cxnLst>
                <a:cxn ang="0">
                  <a:pos x="1" y="69"/>
                </a:cxn>
                <a:cxn ang="0">
                  <a:pos x="25" y="51"/>
                </a:cxn>
                <a:cxn ang="0">
                  <a:pos x="100" y="9"/>
                </a:cxn>
                <a:cxn ang="0">
                  <a:pos x="133" y="3"/>
                </a:cxn>
                <a:cxn ang="0">
                  <a:pos x="136" y="27"/>
                </a:cxn>
                <a:cxn ang="0">
                  <a:pos x="61" y="75"/>
                </a:cxn>
                <a:cxn ang="0">
                  <a:pos x="19" y="90"/>
                </a:cxn>
                <a:cxn ang="0">
                  <a:pos x="1" y="69"/>
                </a:cxn>
              </a:cxnLst>
              <a:rect l="0" t="0" r="r" b="b"/>
              <a:pathLst>
                <a:path w="148" h="91">
                  <a:moveTo>
                    <a:pt x="1" y="69"/>
                  </a:moveTo>
                  <a:cubicBezTo>
                    <a:pt x="2" y="63"/>
                    <a:pt x="9" y="61"/>
                    <a:pt x="25" y="51"/>
                  </a:cubicBezTo>
                  <a:cubicBezTo>
                    <a:pt x="41" y="41"/>
                    <a:pt x="82" y="17"/>
                    <a:pt x="100" y="9"/>
                  </a:cubicBezTo>
                  <a:cubicBezTo>
                    <a:pt x="118" y="1"/>
                    <a:pt x="127" y="0"/>
                    <a:pt x="133" y="3"/>
                  </a:cubicBezTo>
                  <a:cubicBezTo>
                    <a:pt x="139" y="6"/>
                    <a:pt x="148" y="15"/>
                    <a:pt x="136" y="27"/>
                  </a:cubicBezTo>
                  <a:cubicBezTo>
                    <a:pt x="124" y="39"/>
                    <a:pt x="80" y="65"/>
                    <a:pt x="61" y="75"/>
                  </a:cubicBezTo>
                  <a:cubicBezTo>
                    <a:pt x="42" y="85"/>
                    <a:pt x="29" y="91"/>
                    <a:pt x="19" y="90"/>
                  </a:cubicBezTo>
                  <a:cubicBezTo>
                    <a:pt x="9" y="89"/>
                    <a:pt x="0" y="75"/>
                    <a:pt x="1" y="69"/>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53969" name="Freeform 17"/>
            <p:cNvSpPr>
              <a:spLocks/>
            </p:cNvSpPr>
            <p:nvPr userDrawn="1"/>
          </p:nvSpPr>
          <p:spPr bwMode="auto">
            <a:xfrm>
              <a:off x="3580" y="58"/>
              <a:ext cx="938" cy="158"/>
            </a:xfrm>
            <a:custGeom>
              <a:avLst/>
              <a:gdLst/>
              <a:ahLst/>
              <a:cxnLst>
                <a:cxn ang="0">
                  <a:pos x="172" y="86"/>
                </a:cxn>
                <a:cxn ang="0">
                  <a:pos x="61" y="137"/>
                </a:cxn>
                <a:cxn ang="0">
                  <a:pos x="16" y="155"/>
                </a:cxn>
                <a:cxn ang="0">
                  <a:pos x="7" y="122"/>
                </a:cxn>
                <a:cxn ang="0">
                  <a:pos x="58" y="80"/>
                </a:cxn>
                <a:cxn ang="0">
                  <a:pos x="172" y="38"/>
                </a:cxn>
                <a:cxn ang="0">
                  <a:pos x="304" y="11"/>
                </a:cxn>
                <a:cxn ang="0">
                  <a:pos x="463" y="2"/>
                </a:cxn>
                <a:cxn ang="0">
                  <a:pos x="631" y="23"/>
                </a:cxn>
                <a:cxn ang="0">
                  <a:pos x="796" y="53"/>
                </a:cxn>
                <a:cxn ang="0">
                  <a:pos x="841" y="47"/>
                </a:cxn>
                <a:cxn ang="0">
                  <a:pos x="907" y="71"/>
                </a:cxn>
                <a:cxn ang="0">
                  <a:pos x="919" y="101"/>
                </a:cxn>
                <a:cxn ang="0">
                  <a:pos x="793" y="98"/>
                </a:cxn>
                <a:cxn ang="0">
                  <a:pos x="634" y="62"/>
                </a:cxn>
                <a:cxn ang="0">
                  <a:pos x="439" y="38"/>
                </a:cxn>
                <a:cxn ang="0">
                  <a:pos x="238" y="59"/>
                </a:cxn>
                <a:cxn ang="0">
                  <a:pos x="172" y="86"/>
                </a:cxn>
              </a:cxnLst>
              <a:rect l="0" t="0" r="r" b="b"/>
              <a:pathLst>
                <a:path w="938" h="158">
                  <a:moveTo>
                    <a:pt x="172" y="86"/>
                  </a:moveTo>
                  <a:cubicBezTo>
                    <a:pt x="142" y="99"/>
                    <a:pt x="87" y="126"/>
                    <a:pt x="61" y="137"/>
                  </a:cubicBezTo>
                  <a:cubicBezTo>
                    <a:pt x="35" y="148"/>
                    <a:pt x="25" y="158"/>
                    <a:pt x="16" y="155"/>
                  </a:cubicBezTo>
                  <a:cubicBezTo>
                    <a:pt x="7" y="152"/>
                    <a:pt x="0" y="134"/>
                    <a:pt x="7" y="122"/>
                  </a:cubicBezTo>
                  <a:cubicBezTo>
                    <a:pt x="14" y="110"/>
                    <a:pt x="31" y="94"/>
                    <a:pt x="58" y="80"/>
                  </a:cubicBezTo>
                  <a:cubicBezTo>
                    <a:pt x="85" y="66"/>
                    <a:pt x="131" y="49"/>
                    <a:pt x="172" y="38"/>
                  </a:cubicBezTo>
                  <a:cubicBezTo>
                    <a:pt x="213" y="27"/>
                    <a:pt x="256" y="17"/>
                    <a:pt x="304" y="11"/>
                  </a:cubicBezTo>
                  <a:cubicBezTo>
                    <a:pt x="352" y="5"/>
                    <a:pt x="409" y="0"/>
                    <a:pt x="463" y="2"/>
                  </a:cubicBezTo>
                  <a:cubicBezTo>
                    <a:pt x="517" y="4"/>
                    <a:pt x="576" y="15"/>
                    <a:pt x="631" y="23"/>
                  </a:cubicBezTo>
                  <a:cubicBezTo>
                    <a:pt x="686" y="31"/>
                    <a:pt x="761" y="49"/>
                    <a:pt x="796" y="53"/>
                  </a:cubicBezTo>
                  <a:cubicBezTo>
                    <a:pt x="831" y="57"/>
                    <a:pt x="823" y="44"/>
                    <a:pt x="841" y="47"/>
                  </a:cubicBezTo>
                  <a:cubicBezTo>
                    <a:pt x="859" y="50"/>
                    <a:pt x="894" y="62"/>
                    <a:pt x="907" y="71"/>
                  </a:cubicBezTo>
                  <a:cubicBezTo>
                    <a:pt x="920" y="80"/>
                    <a:pt x="938" y="97"/>
                    <a:pt x="919" y="101"/>
                  </a:cubicBezTo>
                  <a:cubicBezTo>
                    <a:pt x="900" y="105"/>
                    <a:pt x="840" y="104"/>
                    <a:pt x="793" y="98"/>
                  </a:cubicBezTo>
                  <a:cubicBezTo>
                    <a:pt x="746" y="92"/>
                    <a:pt x="693" y="72"/>
                    <a:pt x="634" y="62"/>
                  </a:cubicBezTo>
                  <a:cubicBezTo>
                    <a:pt x="575" y="52"/>
                    <a:pt x="505" y="38"/>
                    <a:pt x="439" y="38"/>
                  </a:cubicBezTo>
                  <a:cubicBezTo>
                    <a:pt x="373" y="38"/>
                    <a:pt x="284" y="51"/>
                    <a:pt x="238" y="59"/>
                  </a:cubicBezTo>
                  <a:cubicBezTo>
                    <a:pt x="192" y="67"/>
                    <a:pt x="202" y="73"/>
                    <a:pt x="172" y="86"/>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53970" name="Freeform 18"/>
            <p:cNvSpPr>
              <a:spLocks/>
            </p:cNvSpPr>
            <p:nvPr userDrawn="1"/>
          </p:nvSpPr>
          <p:spPr bwMode="auto">
            <a:xfrm>
              <a:off x="3686" y="145"/>
              <a:ext cx="372" cy="98"/>
            </a:xfrm>
            <a:custGeom>
              <a:avLst/>
              <a:gdLst/>
              <a:ahLst/>
              <a:cxnLst>
                <a:cxn ang="0">
                  <a:pos x="18" y="47"/>
                </a:cxn>
                <a:cxn ang="0">
                  <a:pos x="141" y="17"/>
                </a:cxn>
                <a:cxn ang="0">
                  <a:pos x="246" y="2"/>
                </a:cxn>
                <a:cxn ang="0">
                  <a:pos x="351" y="5"/>
                </a:cxn>
                <a:cxn ang="0">
                  <a:pos x="372" y="23"/>
                </a:cxn>
                <a:cxn ang="0">
                  <a:pos x="354" y="44"/>
                </a:cxn>
                <a:cxn ang="0">
                  <a:pos x="264" y="50"/>
                </a:cxn>
                <a:cxn ang="0">
                  <a:pos x="168" y="53"/>
                </a:cxn>
                <a:cxn ang="0">
                  <a:pos x="72" y="77"/>
                </a:cxn>
                <a:cxn ang="0">
                  <a:pos x="15" y="95"/>
                </a:cxn>
                <a:cxn ang="0">
                  <a:pos x="0" y="56"/>
                </a:cxn>
              </a:cxnLst>
              <a:rect l="0" t="0" r="r" b="b"/>
              <a:pathLst>
                <a:path w="372" h="98">
                  <a:moveTo>
                    <a:pt x="18" y="47"/>
                  </a:moveTo>
                  <a:cubicBezTo>
                    <a:pt x="60" y="36"/>
                    <a:pt x="103" y="25"/>
                    <a:pt x="141" y="17"/>
                  </a:cubicBezTo>
                  <a:cubicBezTo>
                    <a:pt x="179" y="9"/>
                    <a:pt x="211" y="4"/>
                    <a:pt x="246" y="2"/>
                  </a:cubicBezTo>
                  <a:cubicBezTo>
                    <a:pt x="281" y="0"/>
                    <a:pt x="330" y="1"/>
                    <a:pt x="351" y="5"/>
                  </a:cubicBezTo>
                  <a:cubicBezTo>
                    <a:pt x="372" y="9"/>
                    <a:pt x="372" y="17"/>
                    <a:pt x="372" y="23"/>
                  </a:cubicBezTo>
                  <a:cubicBezTo>
                    <a:pt x="372" y="29"/>
                    <a:pt x="372" y="40"/>
                    <a:pt x="354" y="44"/>
                  </a:cubicBezTo>
                  <a:cubicBezTo>
                    <a:pt x="336" y="48"/>
                    <a:pt x="295" y="49"/>
                    <a:pt x="264" y="50"/>
                  </a:cubicBezTo>
                  <a:cubicBezTo>
                    <a:pt x="233" y="51"/>
                    <a:pt x="200" y="49"/>
                    <a:pt x="168" y="53"/>
                  </a:cubicBezTo>
                  <a:cubicBezTo>
                    <a:pt x="136" y="57"/>
                    <a:pt x="98" y="70"/>
                    <a:pt x="72" y="77"/>
                  </a:cubicBezTo>
                  <a:cubicBezTo>
                    <a:pt x="46" y="84"/>
                    <a:pt x="27" y="98"/>
                    <a:pt x="15" y="95"/>
                  </a:cubicBezTo>
                  <a:cubicBezTo>
                    <a:pt x="3" y="92"/>
                    <a:pt x="1" y="74"/>
                    <a:pt x="0" y="56"/>
                  </a:cubicBezTo>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53971" name="Freeform 19"/>
            <p:cNvSpPr>
              <a:spLocks/>
            </p:cNvSpPr>
            <p:nvPr userDrawn="1"/>
          </p:nvSpPr>
          <p:spPr bwMode="auto">
            <a:xfrm>
              <a:off x="3618" y="308"/>
              <a:ext cx="318" cy="158"/>
            </a:xfrm>
            <a:custGeom>
              <a:avLst/>
              <a:gdLst/>
              <a:ahLst/>
              <a:cxnLst>
                <a:cxn ang="0">
                  <a:pos x="0" y="158"/>
                </a:cxn>
                <a:cxn ang="0">
                  <a:pos x="12" y="137"/>
                </a:cxn>
                <a:cxn ang="0">
                  <a:pos x="162" y="71"/>
                </a:cxn>
                <a:cxn ang="0">
                  <a:pos x="249" y="20"/>
                </a:cxn>
                <a:cxn ang="0">
                  <a:pos x="285" y="2"/>
                </a:cxn>
                <a:cxn ang="0">
                  <a:pos x="309" y="11"/>
                </a:cxn>
                <a:cxn ang="0">
                  <a:pos x="303" y="47"/>
                </a:cxn>
                <a:cxn ang="0">
                  <a:pos x="219" y="89"/>
                </a:cxn>
                <a:cxn ang="0">
                  <a:pos x="108" y="140"/>
                </a:cxn>
                <a:cxn ang="0">
                  <a:pos x="57" y="152"/>
                </a:cxn>
                <a:cxn ang="0">
                  <a:pos x="0" y="158"/>
                </a:cxn>
              </a:cxnLst>
              <a:rect l="0" t="0" r="r" b="b"/>
              <a:pathLst>
                <a:path w="318" h="158">
                  <a:moveTo>
                    <a:pt x="0" y="158"/>
                  </a:moveTo>
                  <a:lnTo>
                    <a:pt x="12" y="137"/>
                  </a:lnTo>
                  <a:cubicBezTo>
                    <a:pt x="39" y="123"/>
                    <a:pt x="122" y="90"/>
                    <a:pt x="162" y="71"/>
                  </a:cubicBezTo>
                  <a:cubicBezTo>
                    <a:pt x="202" y="52"/>
                    <a:pt x="229" y="31"/>
                    <a:pt x="249" y="20"/>
                  </a:cubicBezTo>
                  <a:cubicBezTo>
                    <a:pt x="269" y="9"/>
                    <a:pt x="275" y="4"/>
                    <a:pt x="285" y="2"/>
                  </a:cubicBezTo>
                  <a:cubicBezTo>
                    <a:pt x="295" y="0"/>
                    <a:pt x="306" y="4"/>
                    <a:pt x="309" y="11"/>
                  </a:cubicBezTo>
                  <a:cubicBezTo>
                    <a:pt x="312" y="18"/>
                    <a:pt x="318" y="34"/>
                    <a:pt x="303" y="47"/>
                  </a:cubicBezTo>
                  <a:cubicBezTo>
                    <a:pt x="288" y="60"/>
                    <a:pt x="252" y="74"/>
                    <a:pt x="219" y="89"/>
                  </a:cubicBezTo>
                  <a:cubicBezTo>
                    <a:pt x="186" y="104"/>
                    <a:pt x="135" y="130"/>
                    <a:pt x="108" y="140"/>
                  </a:cubicBezTo>
                  <a:cubicBezTo>
                    <a:pt x="81" y="150"/>
                    <a:pt x="74" y="150"/>
                    <a:pt x="57" y="152"/>
                  </a:cubicBezTo>
                  <a:cubicBezTo>
                    <a:pt x="40" y="154"/>
                    <a:pt x="23" y="154"/>
                    <a:pt x="0" y="158"/>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53972" name="Freeform 20"/>
            <p:cNvSpPr>
              <a:spLocks/>
            </p:cNvSpPr>
            <p:nvPr userDrawn="1"/>
          </p:nvSpPr>
          <p:spPr bwMode="auto">
            <a:xfrm>
              <a:off x="3413" y="291"/>
              <a:ext cx="380" cy="174"/>
            </a:xfrm>
            <a:custGeom>
              <a:avLst/>
              <a:gdLst/>
              <a:ahLst/>
              <a:cxnLst>
                <a:cxn ang="0">
                  <a:pos x="3" y="165"/>
                </a:cxn>
                <a:cxn ang="0">
                  <a:pos x="129" y="93"/>
                </a:cxn>
                <a:cxn ang="0">
                  <a:pos x="261" y="30"/>
                </a:cxn>
                <a:cxn ang="0">
                  <a:pos x="351" y="0"/>
                </a:cxn>
                <a:cxn ang="0">
                  <a:pos x="378" y="27"/>
                </a:cxn>
                <a:cxn ang="0">
                  <a:pos x="336" y="51"/>
                </a:cxn>
                <a:cxn ang="0">
                  <a:pos x="291" y="60"/>
                </a:cxn>
                <a:cxn ang="0">
                  <a:pos x="240" y="75"/>
                </a:cxn>
                <a:cxn ang="0">
                  <a:pos x="189" y="120"/>
                </a:cxn>
                <a:cxn ang="0">
                  <a:pos x="102" y="174"/>
                </a:cxn>
                <a:cxn ang="0">
                  <a:pos x="0" y="162"/>
                </a:cxn>
              </a:cxnLst>
              <a:rect l="0" t="0" r="r" b="b"/>
              <a:pathLst>
                <a:path w="380" h="174">
                  <a:moveTo>
                    <a:pt x="3" y="165"/>
                  </a:moveTo>
                  <a:cubicBezTo>
                    <a:pt x="24" y="153"/>
                    <a:pt x="86" y="115"/>
                    <a:pt x="129" y="93"/>
                  </a:cubicBezTo>
                  <a:cubicBezTo>
                    <a:pt x="172" y="71"/>
                    <a:pt x="224" y="45"/>
                    <a:pt x="261" y="30"/>
                  </a:cubicBezTo>
                  <a:cubicBezTo>
                    <a:pt x="298" y="15"/>
                    <a:pt x="332" y="0"/>
                    <a:pt x="351" y="0"/>
                  </a:cubicBezTo>
                  <a:cubicBezTo>
                    <a:pt x="370" y="0"/>
                    <a:pt x="380" y="19"/>
                    <a:pt x="378" y="27"/>
                  </a:cubicBezTo>
                  <a:cubicBezTo>
                    <a:pt x="376" y="35"/>
                    <a:pt x="350" y="46"/>
                    <a:pt x="336" y="51"/>
                  </a:cubicBezTo>
                  <a:cubicBezTo>
                    <a:pt x="322" y="56"/>
                    <a:pt x="307" y="56"/>
                    <a:pt x="291" y="60"/>
                  </a:cubicBezTo>
                  <a:cubicBezTo>
                    <a:pt x="275" y="64"/>
                    <a:pt x="257" y="65"/>
                    <a:pt x="240" y="75"/>
                  </a:cubicBezTo>
                  <a:cubicBezTo>
                    <a:pt x="223" y="85"/>
                    <a:pt x="212" y="104"/>
                    <a:pt x="189" y="120"/>
                  </a:cubicBezTo>
                  <a:cubicBezTo>
                    <a:pt x="166" y="136"/>
                    <a:pt x="133" y="167"/>
                    <a:pt x="102" y="174"/>
                  </a:cubicBezTo>
                  <a:lnTo>
                    <a:pt x="0" y="162"/>
                  </a:lnTo>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53973" name="Freeform 21"/>
            <p:cNvSpPr>
              <a:spLocks/>
            </p:cNvSpPr>
            <p:nvPr userDrawn="1"/>
          </p:nvSpPr>
          <p:spPr bwMode="auto">
            <a:xfrm>
              <a:off x="4178" y="187"/>
              <a:ext cx="523" cy="69"/>
            </a:xfrm>
            <a:custGeom>
              <a:avLst/>
              <a:gdLst/>
              <a:ahLst/>
              <a:cxnLst>
                <a:cxn ang="0">
                  <a:pos x="84" y="11"/>
                </a:cxn>
                <a:cxn ang="0">
                  <a:pos x="27" y="5"/>
                </a:cxn>
                <a:cxn ang="0">
                  <a:pos x="9" y="35"/>
                </a:cxn>
                <a:cxn ang="0">
                  <a:pos x="81" y="56"/>
                </a:cxn>
                <a:cxn ang="0">
                  <a:pos x="255" y="68"/>
                </a:cxn>
                <a:cxn ang="0">
                  <a:pos x="432" y="50"/>
                </a:cxn>
                <a:cxn ang="0">
                  <a:pos x="513" y="5"/>
                </a:cxn>
                <a:cxn ang="0">
                  <a:pos x="372" y="20"/>
                </a:cxn>
                <a:cxn ang="0">
                  <a:pos x="141" y="14"/>
                </a:cxn>
                <a:cxn ang="0">
                  <a:pos x="84" y="11"/>
                </a:cxn>
              </a:cxnLst>
              <a:rect l="0" t="0" r="r" b="b"/>
              <a:pathLst>
                <a:path w="523" h="69">
                  <a:moveTo>
                    <a:pt x="84" y="11"/>
                  </a:moveTo>
                  <a:cubicBezTo>
                    <a:pt x="65" y="9"/>
                    <a:pt x="40" y="1"/>
                    <a:pt x="27" y="5"/>
                  </a:cubicBezTo>
                  <a:cubicBezTo>
                    <a:pt x="14" y="9"/>
                    <a:pt x="0" y="27"/>
                    <a:pt x="9" y="35"/>
                  </a:cubicBezTo>
                  <a:cubicBezTo>
                    <a:pt x="18" y="43"/>
                    <a:pt x="40" y="51"/>
                    <a:pt x="81" y="56"/>
                  </a:cubicBezTo>
                  <a:cubicBezTo>
                    <a:pt x="122" y="61"/>
                    <a:pt x="197" y="69"/>
                    <a:pt x="255" y="68"/>
                  </a:cubicBezTo>
                  <a:cubicBezTo>
                    <a:pt x="313" y="67"/>
                    <a:pt x="389" y="60"/>
                    <a:pt x="432" y="50"/>
                  </a:cubicBezTo>
                  <a:cubicBezTo>
                    <a:pt x="475" y="40"/>
                    <a:pt x="523" y="10"/>
                    <a:pt x="513" y="5"/>
                  </a:cubicBezTo>
                  <a:cubicBezTo>
                    <a:pt x="503" y="0"/>
                    <a:pt x="434" y="19"/>
                    <a:pt x="372" y="20"/>
                  </a:cubicBezTo>
                  <a:cubicBezTo>
                    <a:pt x="310" y="21"/>
                    <a:pt x="189" y="15"/>
                    <a:pt x="141" y="14"/>
                  </a:cubicBezTo>
                  <a:cubicBezTo>
                    <a:pt x="93" y="13"/>
                    <a:pt x="103" y="13"/>
                    <a:pt x="84" y="11"/>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53974" name="Freeform 22"/>
            <p:cNvSpPr>
              <a:spLocks/>
            </p:cNvSpPr>
            <p:nvPr userDrawn="1"/>
          </p:nvSpPr>
          <p:spPr bwMode="auto">
            <a:xfrm>
              <a:off x="4689" y="186"/>
              <a:ext cx="537" cy="120"/>
            </a:xfrm>
            <a:custGeom>
              <a:avLst/>
              <a:gdLst/>
              <a:ahLst/>
              <a:cxnLst>
                <a:cxn ang="0">
                  <a:pos x="23" y="6"/>
                </a:cxn>
                <a:cxn ang="0">
                  <a:pos x="188" y="3"/>
                </a:cxn>
                <a:cxn ang="0">
                  <a:pos x="323" y="27"/>
                </a:cxn>
                <a:cxn ang="0">
                  <a:pos x="464" y="69"/>
                </a:cxn>
                <a:cxn ang="0">
                  <a:pos x="521" y="90"/>
                </a:cxn>
                <a:cxn ang="0">
                  <a:pos x="533" y="105"/>
                </a:cxn>
                <a:cxn ang="0">
                  <a:pos x="497" y="120"/>
                </a:cxn>
                <a:cxn ang="0">
                  <a:pos x="452" y="108"/>
                </a:cxn>
                <a:cxn ang="0">
                  <a:pos x="350" y="72"/>
                </a:cxn>
                <a:cxn ang="0">
                  <a:pos x="158" y="39"/>
                </a:cxn>
                <a:cxn ang="0">
                  <a:pos x="50" y="39"/>
                </a:cxn>
                <a:cxn ang="0">
                  <a:pos x="23" y="6"/>
                </a:cxn>
              </a:cxnLst>
              <a:rect l="0" t="0" r="r" b="b"/>
              <a:pathLst>
                <a:path w="537" h="120">
                  <a:moveTo>
                    <a:pt x="23" y="6"/>
                  </a:moveTo>
                  <a:cubicBezTo>
                    <a:pt x="46" y="0"/>
                    <a:pt x="138" y="0"/>
                    <a:pt x="188" y="3"/>
                  </a:cubicBezTo>
                  <a:cubicBezTo>
                    <a:pt x="238" y="6"/>
                    <a:pt x="277" y="16"/>
                    <a:pt x="323" y="27"/>
                  </a:cubicBezTo>
                  <a:cubicBezTo>
                    <a:pt x="369" y="38"/>
                    <a:pt x="431" y="59"/>
                    <a:pt x="464" y="69"/>
                  </a:cubicBezTo>
                  <a:cubicBezTo>
                    <a:pt x="497" y="79"/>
                    <a:pt x="509" y="84"/>
                    <a:pt x="521" y="90"/>
                  </a:cubicBezTo>
                  <a:cubicBezTo>
                    <a:pt x="533" y="96"/>
                    <a:pt x="537" y="100"/>
                    <a:pt x="533" y="105"/>
                  </a:cubicBezTo>
                  <a:cubicBezTo>
                    <a:pt x="529" y="110"/>
                    <a:pt x="510" y="120"/>
                    <a:pt x="497" y="120"/>
                  </a:cubicBezTo>
                  <a:cubicBezTo>
                    <a:pt x="484" y="120"/>
                    <a:pt x="476" y="116"/>
                    <a:pt x="452" y="108"/>
                  </a:cubicBezTo>
                  <a:cubicBezTo>
                    <a:pt x="428" y="100"/>
                    <a:pt x="399" y="84"/>
                    <a:pt x="350" y="72"/>
                  </a:cubicBezTo>
                  <a:cubicBezTo>
                    <a:pt x="301" y="60"/>
                    <a:pt x="208" y="45"/>
                    <a:pt x="158" y="39"/>
                  </a:cubicBezTo>
                  <a:cubicBezTo>
                    <a:pt x="108" y="33"/>
                    <a:pt x="72" y="43"/>
                    <a:pt x="50" y="39"/>
                  </a:cubicBezTo>
                  <a:cubicBezTo>
                    <a:pt x="28" y="35"/>
                    <a:pt x="0" y="12"/>
                    <a:pt x="23" y="6"/>
                  </a:cubicBezTo>
                  <a:close/>
                </a:path>
              </a:pathLst>
            </a:custGeom>
            <a:solidFill>
              <a:schemeClr val="accent1"/>
            </a:solidFill>
            <a:ln w="9525">
              <a:noFill/>
              <a:round/>
              <a:headEnd/>
              <a:tailEnd/>
            </a:ln>
            <a:effectLst/>
          </p:spPr>
          <p:txBody>
            <a:bodyPr wrap="none" anchor="ctr"/>
            <a:lstStyle/>
            <a:p>
              <a:pPr>
                <a:defRPr/>
              </a:pPr>
              <a:endParaRPr lang="zh-CN" altLang="en-US">
                <a:solidFill>
                  <a:srgbClr val="545472"/>
                </a:solidFill>
              </a:endParaRPr>
            </a:p>
          </p:txBody>
        </p:sp>
        <p:sp>
          <p:nvSpPr>
            <p:cNvPr id="253975" name="Freeform 23"/>
            <p:cNvSpPr>
              <a:spLocks/>
            </p:cNvSpPr>
            <p:nvPr userDrawn="1"/>
          </p:nvSpPr>
          <p:spPr bwMode="auto">
            <a:xfrm>
              <a:off x="4968" y="312"/>
              <a:ext cx="800" cy="143"/>
            </a:xfrm>
            <a:custGeom>
              <a:avLst/>
              <a:gdLst/>
              <a:ahLst/>
              <a:cxnLst>
                <a:cxn ang="0">
                  <a:pos x="800" y="24"/>
                </a:cxn>
                <a:cxn ang="0">
                  <a:pos x="782" y="15"/>
                </a:cxn>
                <a:cxn ang="0">
                  <a:pos x="659" y="63"/>
                </a:cxn>
                <a:cxn ang="0">
                  <a:pos x="500" y="84"/>
                </a:cxn>
                <a:cxn ang="0">
                  <a:pos x="326" y="69"/>
                </a:cxn>
                <a:cxn ang="0">
                  <a:pos x="98" y="21"/>
                </a:cxn>
                <a:cxn ang="0">
                  <a:pos x="11" y="6"/>
                </a:cxn>
                <a:cxn ang="0">
                  <a:pos x="32" y="60"/>
                </a:cxn>
                <a:cxn ang="0">
                  <a:pos x="155" y="96"/>
                </a:cxn>
                <a:cxn ang="0">
                  <a:pos x="410" y="138"/>
                </a:cxn>
                <a:cxn ang="0">
                  <a:pos x="596" y="129"/>
                </a:cxn>
                <a:cxn ang="0">
                  <a:pos x="737" y="90"/>
                </a:cxn>
                <a:cxn ang="0">
                  <a:pos x="788" y="69"/>
                </a:cxn>
                <a:cxn ang="0">
                  <a:pos x="800" y="24"/>
                </a:cxn>
              </a:cxnLst>
              <a:rect l="0" t="0" r="r" b="b"/>
              <a:pathLst>
                <a:path w="800" h="143">
                  <a:moveTo>
                    <a:pt x="800" y="24"/>
                  </a:moveTo>
                  <a:lnTo>
                    <a:pt x="782" y="15"/>
                  </a:lnTo>
                  <a:cubicBezTo>
                    <a:pt x="759" y="21"/>
                    <a:pt x="706" y="51"/>
                    <a:pt x="659" y="63"/>
                  </a:cubicBezTo>
                  <a:cubicBezTo>
                    <a:pt x="612" y="75"/>
                    <a:pt x="555" y="83"/>
                    <a:pt x="500" y="84"/>
                  </a:cubicBezTo>
                  <a:cubicBezTo>
                    <a:pt x="445" y="85"/>
                    <a:pt x="393" y="79"/>
                    <a:pt x="326" y="69"/>
                  </a:cubicBezTo>
                  <a:cubicBezTo>
                    <a:pt x="259" y="59"/>
                    <a:pt x="150" y="31"/>
                    <a:pt x="98" y="21"/>
                  </a:cubicBezTo>
                  <a:cubicBezTo>
                    <a:pt x="46" y="11"/>
                    <a:pt x="22" y="0"/>
                    <a:pt x="11" y="6"/>
                  </a:cubicBezTo>
                  <a:cubicBezTo>
                    <a:pt x="0" y="12"/>
                    <a:pt x="8" y="45"/>
                    <a:pt x="32" y="60"/>
                  </a:cubicBezTo>
                  <a:cubicBezTo>
                    <a:pt x="56" y="75"/>
                    <a:pt x="92" y="83"/>
                    <a:pt x="155" y="96"/>
                  </a:cubicBezTo>
                  <a:cubicBezTo>
                    <a:pt x="218" y="109"/>
                    <a:pt x="337" y="133"/>
                    <a:pt x="410" y="138"/>
                  </a:cubicBezTo>
                  <a:cubicBezTo>
                    <a:pt x="483" y="143"/>
                    <a:pt x="542" y="137"/>
                    <a:pt x="596" y="129"/>
                  </a:cubicBezTo>
                  <a:cubicBezTo>
                    <a:pt x="650" y="121"/>
                    <a:pt x="705" y="100"/>
                    <a:pt x="737" y="90"/>
                  </a:cubicBezTo>
                  <a:cubicBezTo>
                    <a:pt x="769" y="80"/>
                    <a:pt x="780" y="80"/>
                    <a:pt x="788" y="69"/>
                  </a:cubicBezTo>
                  <a:cubicBezTo>
                    <a:pt x="796" y="58"/>
                    <a:pt x="792" y="39"/>
                    <a:pt x="800" y="24"/>
                  </a:cubicBezTo>
                  <a:close/>
                </a:path>
              </a:pathLst>
            </a:custGeom>
            <a:solidFill>
              <a:schemeClr val="accent1"/>
            </a:solidFill>
            <a:ln w="9525">
              <a:noFill/>
              <a:round/>
              <a:headEnd/>
              <a:tailEnd/>
            </a:ln>
            <a:effectLst/>
          </p:spPr>
          <p:txBody>
            <a:bodyPr wrap="none" anchor="ctr"/>
            <a:lstStyle/>
            <a:p>
              <a:pPr>
                <a:defRPr/>
              </a:pPr>
              <a:endParaRPr lang="zh-CN" altLang="en-US">
                <a:solidFill>
                  <a:srgbClr val="545472"/>
                </a:solidFill>
              </a:endParaRPr>
            </a:p>
          </p:txBody>
        </p:sp>
        <p:sp>
          <p:nvSpPr>
            <p:cNvPr id="253976" name="Freeform 24"/>
            <p:cNvSpPr>
              <a:spLocks/>
            </p:cNvSpPr>
            <p:nvPr userDrawn="1"/>
          </p:nvSpPr>
          <p:spPr bwMode="auto">
            <a:xfrm>
              <a:off x="5318" y="240"/>
              <a:ext cx="402" cy="115"/>
            </a:xfrm>
            <a:custGeom>
              <a:avLst/>
              <a:gdLst/>
              <a:ahLst/>
              <a:cxnLst>
                <a:cxn ang="0">
                  <a:pos x="402" y="0"/>
                </a:cxn>
                <a:cxn ang="0">
                  <a:pos x="384" y="12"/>
                </a:cxn>
                <a:cxn ang="0">
                  <a:pos x="276" y="51"/>
                </a:cxn>
                <a:cxn ang="0">
                  <a:pos x="165" y="66"/>
                </a:cxn>
                <a:cxn ang="0">
                  <a:pos x="51" y="57"/>
                </a:cxn>
                <a:cxn ang="0">
                  <a:pos x="15" y="54"/>
                </a:cxn>
                <a:cxn ang="0">
                  <a:pos x="3" y="69"/>
                </a:cxn>
                <a:cxn ang="0">
                  <a:pos x="9" y="93"/>
                </a:cxn>
                <a:cxn ang="0">
                  <a:pos x="54" y="102"/>
                </a:cxn>
                <a:cxn ang="0">
                  <a:pos x="198" y="111"/>
                </a:cxn>
                <a:cxn ang="0">
                  <a:pos x="336" y="75"/>
                </a:cxn>
                <a:cxn ang="0">
                  <a:pos x="375" y="54"/>
                </a:cxn>
                <a:cxn ang="0">
                  <a:pos x="402" y="0"/>
                </a:cxn>
              </a:cxnLst>
              <a:rect l="0" t="0" r="r" b="b"/>
              <a:pathLst>
                <a:path w="402" h="115">
                  <a:moveTo>
                    <a:pt x="402" y="0"/>
                  </a:moveTo>
                  <a:lnTo>
                    <a:pt x="384" y="12"/>
                  </a:lnTo>
                  <a:cubicBezTo>
                    <a:pt x="363" y="20"/>
                    <a:pt x="312" y="42"/>
                    <a:pt x="276" y="51"/>
                  </a:cubicBezTo>
                  <a:cubicBezTo>
                    <a:pt x="240" y="60"/>
                    <a:pt x="202" y="65"/>
                    <a:pt x="165" y="66"/>
                  </a:cubicBezTo>
                  <a:cubicBezTo>
                    <a:pt x="128" y="67"/>
                    <a:pt x="76" y="59"/>
                    <a:pt x="51" y="57"/>
                  </a:cubicBezTo>
                  <a:cubicBezTo>
                    <a:pt x="26" y="55"/>
                    <a:pt x="23" y="52"/>
                    <a:pt x="15" y="54"/>
                  </a:cubicBezTo>
                  <a:cubicBezTo>
                    <a:pt x="7" y="56"/>
                    <a:pt x="4" y="63"/>
                    <a:pt x="3" y="69"/>
                  </a:cubicBezTo>
                  <a:cubicBezTo>
                    <a:pt x="2" y="75"/>
                    <a:pt x="0" y="88"/>
                    <a:pt x="9" y="93"/>
                  </a:cubicBezTo>
                  <a:cubicBezTo>
                    <a:pt x="18" y="98"/>
                    <a:pt x="22" y="99"/>
                    <a:pt x="54" y="102"/>
                  </a:cubicBezTo>
                  <a:cubicBezTo>
                    <a:pt x="86" y="105"/>
                    <a:pt x="151" y="115"/>
                    <a:pt x="198" y="111"/>
                  </a:cubicBezTo>
                  <a:cubicBezTo>
                    <a:pt x="245" y="107"/>
                    <a:pt x="307" y="84"/>
                    <a:pt x="336" y="75"/>
                  </a:cubicBezTo>
                  <a:cubicBezTo>
                    <a:pt x="365" y="66"/>
                    <a:pt x="365" y="65"/>
                    <a:pt x="375" y="54"/>
                  </a:cubicBezTo>
                  <a:cubicBezTo>
                    <a:pt x="385" y="43"/>
                    <a:pt x="392" y="26"/>
                    <a:pt x="402" y="0"/>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grpSp>
      <p:grpSp>
        <p:nvGrpSpPr>
          <p:cNvPr id="3" name="Group 25"/>
          <p:cNvGrpSpPr>
            <a:grpSpLocks/>
          </p:cNvGrpSpPr>
          <p:nvPr/>
        </p:nvGrpSpPr>
        <p:grpSpPr bwMode="auto">
          <a:xfrm>
            <a:off x="-25400" y="6248400"/>
            <a:ext cx="9169400" cy="222250"/>
            <a:chOff x="0" y="4032"/>
            <a:chExt cx="5776" cy="87"/>
          </a:xfrm>
        </p:grpSpPr>
        <p:sp>
          <p:nvSpPr>
            <p:cNvPr id="253978" name="Freeform 26"/>
            <p:cNvSpPr>
              <a:spLocks/>
            </p:cNvSpPr>
            <p:nvPr userDrawn="1"/>
          </p:nvSpPr>
          <p:spPr bwMode="auto">
            <a:xfrm>
              <a:off x="4041" y="4047"/>
              <a:ext cx="1735" cy="72"/>
            </a:xfrm>
            <a:custGeom>
              <a:avLst/>
              <a:gdLst/>
              <a:ahLst/>
              <a:cxnLst>
                <a:cxn ang="0">
                  <a:pos x="165" y="6"/>
                </a:cxn>
                <a:cxn ang="0">
                  <a:pos x="450" y="3"/>
                </a:cxn>
                <a:cxn ang="0">
                  <a:pos x="714" y="12"/>
                </a:cxn>
                <a:cxn ang="0">
                  <a:pos x="957" y="24"/>
                </a:cxn>
                <a:cxn ang="0">
                  <a:pos x="1173" y="24"/>
                </a:cxn>
                <a:cxn ang="0">
                  <a:pos x="1473" y="15"/>
                </a:cxn>
                <a:cxn ang="0">
                  <a:pos x="1617" y="0"/>
                </a:cxn>
                <a:cxn ang="0">
                  <a:pos x="1719" y="15"/>
                </a:cxn>
                <a:cxn ang="0">
                  <a:pos x="1716" y="66"/>
                </a:cxn>
                <a:cxn ang="0">
                  <a:pos x="1632" y="51"/>
                </a:cxn>
                <a:cxn ang="0">
                  <a:pos x="1407" y="51"/>
                </a:cxn>
                <a:cxn ang="0">
                  <a:pos x="1191" y="48"/>
                </a:cxn>
                <a:cxn ang="0">
                  <a:pos x="870" y="60"/>
                </a:cxn>
                <a:cxn ang="0">
                  <a:pos x="492" y="48"/>
                </a:cxn>
                <a:cxn ang="0">
                  <a:pos x="291" y="27"/>
                </a:cxn>
                <a:cxn ang="0">
                  <a:pos x="21" y="36"/>
                </a:cxn>
                <a:cxn ang="0">
                  <a:pos x="165" y="6"/>
                </a:cxn>
              </a:cxnLst>
              <a:rect l="0" t="0" r="r" b="b"/>
              <a:pathLst>
                <a:path w="1735" h="72">
                  <a:moveTo>
                    <a:pt x="165" y="6"/>
                  </a:moveTo>
                  <a:cubicBezTo>
                    <a:pt x="236" y="1"/>
                    <a:pt x="359" y="2"/>
                    <a:pt x="450" y="3"/>
                  </a:cubicBezTo>
                  <a:cubicBezTo>
                    <a:pt x="541" y="4"/>
                    <a:pt x="630" y="9"/>
                    <a:pt x="714" y="12"/>
                  </a:cubicBezTo>
                  <a:cubicBezTo>
                    <a:pt x="798" y="15"/>
                    <a:pt x="881" y="22"/>
                    <a:pt x="957" y="24"/>
                  </a:cubicBezTo>
                  <a:cubicBezTo>
                    <a:pt x="1033" y="26"/>
                    <a:pt x="1087" y="25"/>
                    <a:pt x="1173" y="24"/>
                  </a:cubicBezTo>
                  <a:cubicBezTo>
                    <a:pt x="1259" y="23"/>
                    <a:pt x="1399" y="19"/>
                    <a:pt x="1473" y="15"/>
                  </a:cubicBezTo>
                  <a:cubicBezTo>
                    <a:pt x="1547" y="11"/>
                    <a:pt x="1576" y="0"/>
                    <a:pt x="1617" y="0"/>
                  </a:cubicBezTo>
                  <a:cubicBezTo>
                    <a:pt x="1658" y="0"/>
                    <a:pt x="1703" y="4"/>
                    <a:pt x="1719" y="15"/>
                  </a:cubicBezTo>
                  <a:cubicBezTo>
                    <a:pt x="1735" y="26"/>
                    <a:pt x="1730" y="60"/>
                    <a:pt x="1716" y="66"/>
                  </a:cubicBezTo>
                  <a:cubicBezTo>
                    <a:pt x="1702" y="72"/>
                    <a:pt x="1683" y="53"/>
                    <a:pt x="1632" y="51"/>
                  </a:cubicBezTo>
                  <a:cubicBezTo>
                    <a:pt x="1581" y="49"/>
                    <a:pt x="1480" y="51"/>
                    <a:pt x="1407" y="51"/>
                  </a:cubicBezTo>
                  <a:cubicBezTo>
                    <a:pt x="1334" y="51"/>
                    <a:pt x="1280" y="47"/>
                    <a:pt x="1191" y="48"/>
                  </a:cubicBezTo>
                  <a:cubicBezTo>
                    <a:pt x="1102" y="49"/>
                    <a:pt x="986" y="60"/>
                    <a:pt x="870" y="60"/>
                  </a:cubicBezTo>
                  <a:cubicBezTo>
                    <a:pt x="754" y="60"/>
                    <a:pt x="588" y="53"/>
                    <a:pt x="492" y="48"/>
                  </a:cubicBezTo>
                  <a:cubicBezTo>
                    <a:pt x="396" y="43"/>
                    <a:pt x="369" y="29"/>
                    <a:pt x="291" y="27"/>
                  </a:cubicBezTo>
                  <a:cubicBezTo>
                    <a:pt x="213" y="25"/>
                    <a:pt x="42" y="39"/>
                    <a:pt x="21" y="36"/>
                  </a:cubicBezTo>
                  <a:cubicBezTo>
                    <a:pt x="0" y="33"/>
                    <a:pt x="94" y="11"/>
                    <a:pt x="165" y="6"/>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53979" name="Freeform 27"/>
            <p:cNvSpPr>
              <a:spLocks/>
            </p:cNvSpPr>
            <p:nvPr userDrawn="1"/>
          </p:nvSpPr>
          <p:spPr bwMode="auto">
            <a:xfrm>
              <a:off x="1727" y="4038"/>
              <a:ext cx="2655" cy="60"/>
            </a:xfrm>
            <a:custGeom>
              <a:avLst/>
              <a:gdLst/>
              <a:ahLst/>
              <a:cxnLst>
                <a:cxn ang="0">
                  <a:pos x="2641" y="6"/>
                </a:cxn>
                <a:cxn ang="0">
                  <a:pos x="2620" y="30"/>
                </a:cxn>
                <a:cxn ang="0">
                  <a:pos x="2368" y="45"/>
                </a:cxn>
                <a:cxn ang="0">
                  <a:pos x="2023" y="60"/>
                </a:cxn>
                <a:cxn ang="0">
                  <a:pos x="1786" y="48"/>
                </a:cxn>
                <a:cxn ang="0">
                  <a:pos x="1525" y="36"/>
                </a:cxn>
                <a:cxn ang="0">
                  <a:pos x="1195" y="45"/>
                </a:cxn>
                <a:cxn ang="0">
                  <a:pos x="817" y="39"/>
                </a:cxn>
                <a:cxn ang="0">
                  <a:pos x="499" y="27"/>
                </a:cxn>
                <a:cxn ang="0">
                  <a:pos x="136" y="39"/>
                </a:cxn>
                <a:cxn ang="0">
                  <a:pos x="10" y="33"/>
                </a:cxn>
                <a:cxn ang="0">
                  <a:pos x="76" y="24"/>
                </a:cxn>
                <a:cxn ang="0">
                  <a:pos x="310" y="18"/>
                </a:cxn>
                <a:cxn ang="0">
                  <a:pos x="544" y="0"/>
                </a:cxn>
                <a:cxn ang="0">
                  <a:pos x="853" y="21"/>
                </a:cxn>
                <a:cxn ang="0">
                  <a:pos x="1114" y="21"/>
                </a:cxn>
                <a:cxn ang="0">
                  <a:pos x="1399" y="3"/>
                </a:cxn>
                <a:cxn ang="0">
                  <a:pos x="1588" y="9"/>
                </a:cxn>
                <a:cxn ang="0">
                  <a:pos x="1807" y="21"/>
                </a:cxn>
                <a:cxn ang="0">
                  <a:pos x="2035" y="12"/>
                </a:cxn>
                <a:cxn ang="0">
                  <a:pos x="2290" y="18"/>
                </a:cxn>
                <a:cxn ang="0">
                  <a:pos x="2596" y="3"/>
                </a:cxn>
                <a:cxn ang="0">
                  <a:pos x="2641" y="6"/>
                </a:cxn>
              </a:cxnLst>
              <a:rect l="0" t="0" r="r" b="b"/>
              <a:pathLst>
                <a:path w="2655" h="60">
                  <a:moveTo>
                    <a:pt x="2641" y="6"/>
                  </a:moveTo>
                  <a:lnTo>
                    <a:pt x="2620" y="30"/>
                  </a:lnTo>
                  <a:cubicBezTo>
                    <a:pt x="2575" y="36"/>
                    <a:pt x="2467" y="40"/>
                    <a:pt x="2368" y="45"/>
                  </a:cubicBezTo>
                  <a:cubicBezTo>
                    <a:pt x="2269" y="50"/>
                    <a:pt x="2120" y="60"/>
                    <a:pt x="2023" y="60"/>
                  </a:cubicBezTo>
                  <a:cubicBezTo>
                    <a:pt x="1926" y="60"/>
                    <a:pt x="1869" y="52"/>
                    <a:pt x="1786" y="48"/>
                  </a:cubicBezTo>
                  <a:cubicBezTo>
                    <a:pt x="1703" y="44"/>
                    <a:pt x="1623" y="36"/>
                    <a:pt x="1525" y="36"/>
                  </a:cubicBezTo>
                  <a:cubicBezTo>
                    <a:pt x="1427" y="36"/>
                    <a:pt x="1313" y="44"/>
                    <a:pt x="1195" y="45"/>
                  </a:cubicBezTo>
                  <a:cubicBezTo>
                    <a:pt x="1077" y="46"/>
                    <a:pt x="933" y="42"/>
                    <a:pt x="817" y="39"/>
                  </a:cubicBezTo>
                  <a:cubicBezTo>
                    <a:pt x="701" y="36"/>
                    <a:pt x="612" y="27"/>
                    <a:pt x="499" y="27"/>
                  </a:cubicBezTo>
                  <a:cubicBezTo>
                    <a:pt x="386" y="27"/>
                    <a:pt x="217" y="38"/>
                    <a:pt x="136" y="39"/>
                  </a:cubicBezTo>
                  <a:cubicBezTo>
                    <a:pt x="55" y="40"/>
                    <a:pt x="20" y="36"/>
                    <a:pt x="10" y="33"/>
                  </a:cubicBezTo>
                  <a:cubicBezTo>
                    <a:pt x="0" y="30"/>
                    <a:pt x="26" y="27"/>
                    <a:pt x="76" y="24"/>
                  </a:cubicBezTo>
                  <a:cubicBezTo>
                    <a:pt x="126" y="21"/>
                    <a:pt x="232" y="22"/>
                    <a:pt x="310" y="18"/>
                  </a:cubicBezTo>
                  <a:cubicBezTo>
                    <a:pt x="388" y="14"/>
                    <a:pt x="454" y="0"/>
                    <a:pt x="544" y="0"/>
                  </a:cubicBezTo>
                  <a:cubicBezTo>
                    <a:pt x="634" y="0"/>
                    <a:pt x="758" y="18"/>
                    <a:pt x="853" y="21"/>
                  </a:cubicBezTo>
                  <a:cubicBezTo>
                    <a:pt x="948" y="24"/>
                    <a:pt x="1023" y="24"/>
                    <a:pt x="1114" y="21"/>
                  </a:cubicBezTo>
                  <a:cubicBezTo>
                    <a:pt x="1205" y="18"/>
                    <a:pt x="1320" y="5"/>
                    <a:pt x="1399" y="3"/>
                  </a:cubicBezTo>
                  <a:cubicBezTo>
                    <a:pt x="1478" y="1"/>
                    <a:pt x="1520" y="6"/>
                    <a:pt x="1588" y="9"/>
                  </a:cubicBezTo>
                  <a:cubicBezTo>
                    <a:pt x="1656" y="12"/>
                    <a:pt x="1733" y="21"/>
                    <a:pt x="1807" y="21"/>
                  </a:cubicBezTo>
                  <a:cubicBezTo>
                    <a:pt x="1881" y="21"/>
                    <a:pt x="1955" y="12"/>
                    <a:pt x="2035" y="12"/>
                  </a:cubicBezTo>
                  <a:cubicBezTo>
                    <a:pt x="2115" y="12"/>
                    <a:pt x="2197" y="19"/>
                    <a:pt x="2290" y="18"/>
                  </a:cubicBezTo>
                  <a:cubicBezTo>
                    <a:pt x="2383" y="17"/>
                    <a:pt x="2537" y="5"/>
                    <a:pt x="2596" y="3"/>
                  </a:cubicBezTo>
                  <a:cubicBezTo>
                    <a:pt x="2655" y="1"/>
                    <a:pt x="2651" y="3"/>
                    <a:pt x="2641" y="6"/>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sp>
          <p:nvSpPr>
            <p:cNvPr id="253980" name="Freeform 28"/>
            <p:cNvSpPr>
              <a:spLocks/>
            </p:cNvSpPr>
            <p:nvPr userDrawn="1"/>
          </p:nvSpPr>
          <p:spPr bwMode="auto">
            <a:xfrm>
              <a:off x="0" y="4032"/>
              <a:ext cx="2041" cy="62"/>
            </a:xfrm>
            <a:custGeom>
              <a:avLst/>
              <a:gdLst/>
              <a:ahLst/>
              <a:cxnLst>
                <a:cxn ang="0">
                  <a:pos x="1893" y="39"/>
                </a:cxn>
                <a:cxn ang="0">
                  <a:pos x="1578" y="45"/>
                </a:cxn>
                <a:cxn ang="0">
                  <a:pos x="1011" y="60"/>
                </a:cxn>
                <a:cxn ang="0">
                  <a:pos x="438" y="57"/>
                </a:cxn>
                <a:cxn ang="0">
                  <a:pos x="0" y="36"/>
                </a:cxn>
                <a:cxn ang="0">
                  <a:pos x="0" y="3"/>
                </a:cxn>
                <a:cxn ang="0">
                  <a:pos x="210" y="18"/>
                </a:cxn>
                <a:cxn ang="0">
                  <a:pos x="474" y="21"/>
                </a:cxn>
                <a:cxn ang="0">
                  <a:pos x="678" y="9"/>
                </a:cxn>
                <a:cxn ang="0">
                  <a:pos x="897" y="9"/>
                </a:cxn>
                <a:cxn ang="0">
                  <a:pos x="1167" y="30"/>
                </a:cxn>
                <a:cxn ang="0">
                  <a:pos x="1500" y="24"/>
                </a:cxn>
                <a:cxn ang="0">
                  <a:pos x="1758" y="3"/>
                </a:cxn>
                <a:cxn ang="0">
                  <a:pos x="1938" y="18"/>
                </a:cxn>
                <a:cxn ang="0">
                  <a:pos x="2034" y="33"/>
                </a:cxn>
                <a:cxn ang="0">
                  <a:pos x="1893" y="39"/>
                </a:cxn>
              </a:cxnLst>
              <a:rect l="0" t="0" r="r" b="b"/>
              <a:pathLst>
                <a:path w="2041" h="62">
                  <a:moveTo>
                    <a:pt x="1893" y="39"/>
                  </a:moveTo>
                  <a:cubicBezTo>
                    <a:pt x="1817" y="41"/>
                    <a:pt x="1725" y="42"/>
                    <a:pt x="1578" y="45"/>
                  </a:cubicBezTo>
                  <a:cubicBezTo>
                    <a:pt x="1431" y="48"/>
                    <a:pt x="1201" y="58"/>
                    <a:pt x="1011" y="60"/>
                  </a:cubicBezTo>
                  <a:cubicBezTo>
                    <a:pt x="821" y="62"/>
                    <a:pt x="606" y="61"/>
                    <a:pt x="438" y="57"/>
                  </a:cubicBezTo>
                  <a:cubicBezTo>
                    <a:pt x="270" y="53"/>
                    <a:pt x="73" y="45"/>
                    <a:pt x="0" y="36"/>
                  </a:cubicBezTo>
                  <a:lnTo>
                    <a:pt x="0" y="3"/>
                  </a:lnTo>
                  <a:cubicBezTo>
                    <a:pt x="35" y="0"/>
                    <a:pt x="131" y="15"/>
                    <a:pt x="210" y="18"/>
                  </a:cubicBezTo>
                  <a:cubicBezTo>
                    <a:pt x="289" y="21"/>
                    <a:pt x="396" y="22"/>
                    <a:pt x="474" y="21"/>
                  </a:cubicBezTo>
                  <a:cubicBezTo>
                    <a:pt x="552" y="20"/>
                    <a:pt x="608" y="11"/>
                    <a:pt x="678" y="9"/>
                  </a:cubicBezTo>
                  <a:cubicBezTo>
                    <a:pt x="748" y="7"/>
                    <a:pt x="816" y="6"/>
                    <a:pt x="897" y="9"/>
                  </a:cubicBezTo>
                  <a:cubicBezTo>
                    <a:pt x="978" y="12"/>
                    <a:pt x="1067" y="28"/>
                    <a:pt x="1167" y="30"/>
                  </a:cubicBezTo>
                  <a:cubicBezTo>
                    <a:pt x="1267" y="32"/>
                    <a:pt x="1402" y="28"/>
                    <a:pt x="1500" y="24"/>
                  </a:cubicBezTo>
                  <a:cubicBezTo>
                    <a:pt x="1598" y="20"/>
                    <a:pt x="1685" y="4"/>
                    <a:pt x="1758" y="3"/>
                  </a:cubicBezTo>
                  <a:cubicBezTo>
                    <a:pt x="1831" y="2"/>
                    <a:pt x="1892" y="13"/>
                    <a:pt x="1938" y="18"/>
                  </a:cubicBezTo>
                  <a:cubicBezTo>
                    <a:pt x="1984" y="23"/>
                    <a:pt x="2041" y="30"/>
                    <a:pt x="2034" y="33"/>
                  </a:cubicBezTo>
                  <a:cubicBezTo>
                    <a:pt x="2027" y="36"/>
                    <a:pt x="1969" y="37"/>
                    <a:pt x="1893" y="39"/>
                  </a:cubicBezTo>
                  <a:close/>
                </a:path>
              </a:pathLst>
            </a:custGeom>
            <a:solidFill>
              <a:schemeClr val="accent1"/>
            </a:solidFill>
            <a:ln w="9525" cap="flat" cmpd="sng">
              <a:noFill/>
              <a:prstDash val="solid"/>
              <a:round/>
              <a:headEnd type="none" w="med" len="med"/>
              <a:tailEnd type="none" w="med" len="med"/>
            </a:ln>
            <a:effectLst/>
          </p:spPr>
          <p:txBody>
            <a:bodyPr wrap="none" anchor="ctr"/>
            <a:lstStyle/>
            <a:p>
              <a:pPr>
                <a:defRPr/>
              </a:pPr>
              <a:endParaRPr lang="zh-CN" altLang="en-US">
                <a:solidFill>
                  <a:srgbClr val="545472"/>
                </a:solidFill>
              </a:endParaRPr>
            </a:p>
          </p:txBody>
        </p:sp>
      </p:grpSp>
      <p:sp>
        <p:nvSpPr>
          <p:cNvPr id="10244" name="Rectangle 29"/>
          <p:cNvSpPr>
            <a:spLocks noGrp="1" noChangeArrowheads="1"/>
          </p:cNvSpPr>
          <p:nvPr>
            <p:ph type="title"/>
          </p:nvPr>
        </p:nvSpPr>
        <p:spPr bwMode="auto">
          <a:xfrm>
            <a:off x="838200" y="228600"/>
            <a:ext cx="7772400" cy="990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10245" name="Rectangle 30"/>
          <p:cNvSpPr>
            <a:spLocks noGrp="1" noChangeArrowheads="1"/>
          </p:cNvSpPr>
          <p:nvPr>
            <p:ph type="body" idx="1"/>
          </p:nvPr>
        </p:nvSpPr>
        <p:spPr bwMode="auto">
          <a:xfrm>
            <a:off x="762000" y="1524000"/>
            <a:ext cx="7772400" cy="4724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253983" name="Rectangle 31"/>
          <p:cNvSpPr>
            <a:spLocks noGrp="1" noChangeArrowheads="1"/>
          </p:cNvSpPr>
          <p:nvPr>
            <p:ph type="dt" sz="half" idx="2"/>
          </p:nvPr>
        </p:nvSpPr>
        <p:spPr bwMode="auto">
          <a:xfrm>
            <a:off x="665163" y="6367463"/>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ClrTx/>
              <a:buSzTx/>
              <a:buFontTx/>
              <a:buNone/>
              <a:defRPr sz="1400" b="0"/>
            </a:lvl1pPr>
          </a:lstStyle>
          <a:p>
            <a:pPr>
              <a:defRPr/>
            </a:pPr>
            <a:endParaRPr lang="en-US" altLang="zh-CN" dirty="0">
              <a:solidFill>
                <a:srgbClr val="545472"/>
              </a:solidFill>
            </a:endParaRPr>
          </a:p>
        </p:txBody>
      </p:sp>
      <p:sp>
        <p:nvSpPr>
          <p:cNvPr id="253984" name="Rectangle 32"/>
          <p:cNvSpPr>
            <a:spLocks noGrp="1" noChangeArrowheads="1"/>
          </p:cNvSpPr>
          <p:nvPr>
            <p:ph type="ftr" sz="quarter" idx="3"/>
          </p:nvPr>
        </p:nvSpPr>
        <p:spPr bwMode="auto">
          <a:xfrm>
            <a:off x="3103563" y="6367463"/>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lnSpc>
                <a:spcPct val="100000"/>
              </a:lnSpc>
              <a:spcBef>
                <a:spcPct val="0"/>
              </a:spcBef>
              <a:buClrTx/>
              <a:buSzTx/>
              <a:buFontTx/>
              <a:buNone/>
              <a:defRPr sz="1400" b="0"/>
            </a:lvl1pPr>
          </a:lstStyle>
          <a:p>
            <a:pPr>
              <a:defRPr/>
            </a:pPr>
            <a:endParaRPr lang="en-US" altLang="zh-CN" dirty="0">
              <a:solidFill>
                <a:srgbClr val="545472"/>
              </a:solidFill>
            </a:endParaRPr>
          </a:p>
        </p:txBody>
      </p:sp>
      <p:sp>
        <p:nvSpPr>
          <p:cNvPr id="253985" name="Rectangle 33"/>
          <p:cNvSpPr>
            <a:spLocks noGrp="1" noChangeArrowheads="1"/>
          </p:cNvSpPr>
          <p:nvPr>
            <p:ph type="sldNum" sz="quarter" idx="4"/>
          </p:nvPr>
        </p:nvSpPr>
        <p:spPr bwMode="auto">
          <a:xfrm>
            <a:off x="6988175" y="6308725"/>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ClrTx/>
              <a:buSzTx/>
              <a:buFontTx/>
              <a:buNone/>
              <a:defRPr sz="1400" b="0"/>
            </a:lvl1pPr>
          </a:lstStyle>
          <a:p>
            <a:pPr>
              <a:defRPr/>
            </a:pPr>
            <a:r>
              <a:rPr lang="en-US" altLang="zh-CN" dirty="0" smtClean="0">
                <a:solidFill>
                  <a:srgbClr val="545472"/>
                </a:solidFill>
              </a:rPr>
              <a:t>--</a:t>
            </a:r>
            <a:fld id="{055978E1-1AFA-4FD3-9630-9C248B535EAF}" type="slidenum">
              <a:rPr lang="en-US" altLang="zh-CN" smtClean="0">
                <a:solidFill>
                  <a:srgbClr val="545472"/>
                </a:solidFill>
              </a:rPr>
              <a:pPr>
                <a:defRPr/>
              </a:pPr>
              <a:t>‹#›</a:t>
            </a:fld>
            <a:endParaRPr lang="en-US" altLang="zh-CN" dirty="0">
              <a:solidFill>
                <a:srgbClr val="545472"/>
              </a:solidFill>
            </a:endParaRPr>
          </a:p>
        </p:txBody>
      </p:sp>
      <p:grpSp>
        <p:nvGrpSpPr>
          <p:cNvPr id="4" name="Group 34"/>
          <p:cNvGrpSpPr>
            <a:grpSpLocks/>
          </p:cNvGrpSpPr>
          <p:nvPr userDrawn="1"/>
        </p:nvGrpSpPr>
        <p:grpSpPr bwMode="auto">
          <a:xfrm>
            <a:off x="0" y="0"/>
            <a:ext cx="1331913" cy="1125538"/>
            <a:chOff x="0" y="0"/>
            <a:chExt cx="839" cy="709"/>
          </a:xfrm>
        </p:grpSpPr>
        <p:sp>
          <p:nvSpPr>
            <p:cNvPr id="253987" name="Rectangle 35"/>
            <p:cNvSpPr>
              <a:spLocks noChangeArrowheads="1"/>
            </p:cNvSpPr>
            <p:nvPr userDrawn="1"/>
          </p:nvSpPr>
          <p:spPr bwMode="ltGray">
            <a:xfrm>
              <a:off x="201" y="10"/>
              <a:ext cx="313" cy="299"/>
            </a:xfrm>
            <a:prstGeom prst="rect">
              <a:avLst/>
            </a:prstGeom>
            <a:solidFill>
              <a:schemeClr val="accent2"/>
            </a:solidFill>
            <a:ln w="9525">
              <a:noFill/>
              <a:miter lim="800000"/>
              <a:headEnd/>
              <a:tailEnd/>
            </a:ln>
            <a:effectLst/>
          </p:spPr>
          <p:txBody>
            <a:bodyPr wrap="none" anchor="ctr"/>
            <a:lstStyle/>
            <a:p>
              <a:pPr algn="ctr">
                <a:lnSpc>
                  <a:spcPct val="100000"/>
                </a:lnSpc>
                <a:spcBef>
                  <a:spcPct val="0"/>
                </a:spcBef>
                <a:buClrTx/>
                <a:buSzTx/>
                <a:buFontTx/>
                <a:buNone/>
                <a:defRPr/>
              </a:pPr>
              <a:endParaRPr kumimoji="1" lang="zh-CN" altLang="zh-CN" sz="2400" b="0">
                <a:solidFill>
                  <a:srgbClr val="545472"/>
                </a:solidFill>
                <a:latin typeface="Tahoma" pitchFamily="34" charset="0"/>
              </a:endParaRPr>
            </a:p>
          </p:txBody>
        </p:sp>
        <p:sp>
          <p:nvSpPr>
            <p:cNvPr id="253988" name="Rectangle 36"/>
            <p:cNvSpPr>
              <a:spLocks noChangeArrowheads="1"/>
            </p:cNvSpPr>
            <p:nvPr userDrawn="1"/>
          </p:nvSpPr>
          <p:spPr bwMode="ltGray">
            <a:xfrm>
              <a:off x="474" y="10"/>
              <a:ext cx="235" cy="299"/>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a:lnSpc>
                  <a:spcPct val="100000"/>
                </a:lnSpc>
                <a:spcBef>
                  <a:spcPct val="0"/>
                </a:spcBef>
                <a:buClrTx/>
                <a:buSzTx/>
                <a:buFontTx/>
                <a:buNone/>
                <a:defRPr/>
              </a:pPr>
              <a:endParaRPr kumimoji="1" lang="zh-CN" altLang="zh-CN" sz="2400" b="0">
                <a:solidFill>
                  <a:srgbClr val="545472"/>
                </a:solidFill>
                <a:latin typeface="Tahoma" pitchFamily="34" charset="0"/>
              </a:endParaRPr>
            </a:p>
          </p:txBody>
        </p:sp>
        <p:sp>
          <p:nvSpPr>
            <p:cNvPr id="253989" name="Rectangle 37"/>
            <p:cNvSpPr>
              <a:spLocks noChangeArrowheads="1"/>
            </p:cNvSpPr>
            <p:nvPr userDrawn="1"/>
          </p:nvSpPr>
          <p:spPr bwMode="ltGray">
            <a:xfrm>
              <a:off x="265" y="255"/>
              <a:ext cx="302" cy="206"/>
            </a:xfrm>
            <a:prstGeom prst="rect">
              <a:avLst/>
            </a:prstGeom>
            <a:gradFill rotWithShape="1">
              <a:gsLst>
                <a:gs pos="0">
                  <a:srgbClr val="FF99CC">
                    <a:gamma/>
                    <a:shade val="46275"/>
                    <a:invGamma/>
                  </a:srgbClr>
                </a:gs>
                <a:gs pos="100000">
                  <a:srgbClr val="FF99CC"/>
                </a:gs>
              </a:gsLst>
              <a:lin ang="0" scaled="1"/>
            </a:gradFill>
            <a:ln w="9525">
              <a:noFill/>
              <a:miter lim="800000"/>
              <a:headEnd/>
              <a:tailEnd/>
            </a:ln>
            <a:effectLst/>
          </p:spPr>
          <p:txBody>
            <a:bodyPr wrap="none" anchor="ctr"/>
            <a:lstStyle/>
            <a:p>
              <a:pPr algn="ctr">
                <a:lnSpc>
                  <a:spcPct val="100000"/>
                </a:lnSpc>
                <a:spcBef>
                  <a:spcPct val="0"/>
                </a:spcBef>
                <a:buClrTx/>
                <a:buSzTx/>
                <a:buFontTx/>
                <a:buNone/>
                <a:defRPr/>
              </a:pPr>
              <a:endParaRPr kumimoji="1" lang="zh-CN" altLang="zh-CN" sz="2400" b="0">
                <a:solidFill>
                  <a:srgbClr val="545472"/>
                </a:solidFill>
                <a:latin typeface="Tahoma" pitchFamily="34" charset="0"/>
              </a:endParaRPr>
            </a:p>
          </p:txBody>
        </p:sp>
        <p:sp>
          <p:nvSpPr>
            <p:cNvPr id="253990" name="Rectangle 38"/>
            <p:cNvSpPr>
              <a:spLocks noChangeArrowheads="1"/>
            </p:cNvSpPr>
            <p:nvPr userDrawn="1"/>
          </p:nvSpPr>
          <p:spPr bwMode="ltGray">
            <a:xfrm>
              <a:off x="554" y="255"/>
              <a:ext cx="285" cy="206"/>
            </a:xfrm>
            <a:prstGeom prst="rect">
              <a:avLst/>
            </a:prstGeom>
            <a:gradFill rotWithShape="1">
              <a:gsLst>
                <a:gs pos="0">
                  <a:srgbClr val="FF99CC"/>
                </a:gs>
                <a:gs pos="100000">
                  <a:schemeClr val="bg1"/>
                </a:gs>
              </a:gsLst>
              <a:lin ang="0" scaled="1"/>
            </a:gradFill>
            <a:ln w="9525">
              <a:noFill/>
              <a:miter lim="800000"/>
              <a:headEnd/>
              <a:tailEnd/>
            </a:ln>
            <a:effectLst/>
          </p:spPr>
          <p:txBody>
            <a:bodyPr wrap="none" anchor="ctr"/>
            <a:lstStyle/>
            <a:p>
              <a:pPr algn="ctr">
                <a:lnSpc>
                  <a:spcPct val="100000"/>
                </a:lnSpc>
                <a:spcBef>
                  <a:spcPct val="0"/>
                </a:spcBef>
                <a:buClrTx/>
                <a:buSzTx/>
                <a:buFontTx/>
                <a:buNone/>
                <a:defRPr/>
              </a:pPr>
              <a:endParaRPr kumimoji="1" lang="zh-CN" altLang="zh-CN" sz="2400" b="0">
                <a:solidFill>
                  <a:srgbClr val="545472"/>
                </a:solidFill>
                <a:latin typeface="Tahoma" pitchFamily="34" charset="0"/>
              </a:endParaRPr>
            </a:p>
          </p:txBody>
        </p:sp>
        <p:sp>
          <p:nvSpPr>
            <p:cNvPr id="253991" name="Rectangle 39"/>
            <p:cNvSpPr>
              <a:spLocks noChangeArrowheads="1"/>
            </p:cNvSpPr>
            <p:nvPr userDrawn="1"/>
          </p:nvSpPr>
          <p:spPr bwMode="ltGray">
            <a:xfrm>
              <a:off x="0" y="230"/>
              <a:ext cx="401" cy="266"/>
            </a:xfrm>
            <a:prstGeom prst="rect">
              <a:avLst/>
            </a:prstGeom>
            <a:gradFill rotWithShape="0">
              <a:gsLst>
                <a:gs pos="0">
                  <a:schemeClr val="hlink"/>
                </a:gs>
                <a:gs pos="100000">
                  <a:schemeClr val="bg1"/>
                </a:gs>
              </a:gsLst>
              <a:lin ang="0" scaled="1"/>
            </a:gradFill>
            <a:ln w="9525">
              <a:noFill/>
              <a:miter lim="800000"/>
              <a:headEnd/>
              <a:tailEnd/>
            </a:ln>
            <a:effectLst/>
          </p:spPr>
          <p:txBody>
            <a:bodyPr wrap="none" anchor="ctr"/>
            <a:lstStyle/>
            <a:p>
              <a:pPr algn="ctr">
                <a:lnSpc>
                  <a:spcPct val="100000"/>
                </a:lnSpc>
                <a:spcBef>
                  <a:spcPct val="0"/>
                </a:spcBef>
                <a:buClrTx/>
                <a:buSzTx/>
                <a:buFontTx/>
                <a:buNone/>
                <a:defRPr/>
              </a:pPr>
              <a:endParaRPr kumimoji="1" lang="zh-CN" altLang="zh-CN" sz="2400" b="0">
                <a:solidFill>
                  <a:srgbClr val="545472"/>
                </a:solidFill>
                <a:latin typeface="Tahoma" pitchFamily="34" charset="0"/>
              </a:endParaRPr>
            </a:p>
          </p:txBody>
        </p:sp>
        <p:sp>
          <p:nvSpPr>
            <p:cNvPr id="253992" name="Rectangle 40"/>
            <p:cNvSpPr>
              <a:spLocks noChangeArrowheads="1"/>
            </p:cNvSpPr>
            <p:nvPr userDrawn="1"/>
          </p:nvSpPr>
          <p:spPr bwMode="gray">
            <a:xfrm>
              <a:off x="95" y="0"/>
              <a:ext cx="23" cy="663"/>
            </a:xfrm>
            <a:prstGeom prst="rect">
              <a:avLst/>
            </a:prstGeom>
            <a:gradFill rotWithShape="1">
              <a:gsLst>
                <a:gs pos="0">
                  <a:schemeClr val="accent2"/>
                </a:gs>
                <a:gs pos="100000">
                  <a:schemeClr val="hlink"/>
                </a:gs>
              </a:gsLst>
              <a:lin ang="5400000" scaled="1"/>
            </a:gradFill>
            <a:ln w="9525">
              <a:noFill/>
              <a:miter lim="800000"/>
              <a:headEnd/>
              <a:tailEnd/>
            </a:ln>
            <a:effectLst/>
          </p:spPr>
          <p:txBody>
            <a:bodyPr wrap="none" anchor="ctr"/>
            <a:lstStyle/>
            <a:p>
              <a:pPr algn="ctr">
                <a:lnSpc>
                  <a:spcPct val="100000"/>
                </a:lnSpc>
                <a:spcBef>
                  <a:spcPct val="0"/>
                </a:spcBef>
                <a:buClrTx/>
                <a:buSzTx/>
                <a:buFontTx/>
                <a:buNone/>
                <a:defRPr/>
              </a:pPr>
              <a:endParaRPr kumimoji="1" lang="zh-CN" altLang="zh-CN" sz="2400" b="0">
                <a:solidFill>
                  <a:srgbClr val="545472"/>
                </a:solidFill>
                <a:latin typeface="Tahoma" pitchFamily="34" charset="0"/>
              </a:endParaRPr>
            </a:p>
          </p:txBody>
        </p:sp>
        <p:sp>
          <p:nvSpPr>
            <p:cNvPr id="10256" name="WordArt 41"/>
            <p:cNvSpPr>
              <a:spLocks noChangeArrowheads="1" noChangeShapeType="1" noTextEdit="1"/>
            </p:cNvSpPr>
            <p:nvPr userDrawn="1"/>
          </p:nvSpPr>
          <p:spPr bwMode="auto">
            <a:xfrm>
              <a:off x="44" y="164"/>
              <a:ext cx="618" cy="545"/>
            </a:xfrm>
            <a:prstGeom prst="rect">
              <a:avLst/>
            </a:prstGeom>
          </p:spPr>
          <p:txBody>
            <a:bodyPr spcFirstLastPara="1" wrap="none" fromWordArt="1">
              <a:prstTxWarp prst="textArchUp">
                <a:avLst>
                  <a:gd name="adj" fmla="val 10800004"/>
                </a:avLst>
              </a:prstTxWarp>
            </a:bodyPr>
            <a:lstStyle/>
            <a:p>
              <a:pPr algn="ctr"/>
              <a:r>
                <a:rPr lang="en-US" altLang="zh-CN" sz="1600" kern="10" dirty="0">
                  <a:ln w="9525">
                    <a:solidFill>
                      <a:srgbClr val="339966"/>
                    </a:solidFill>
                    <a:round/>
                    <a:headEnd/>
                    <a:tailEnd/>
                  </a:ln>
                  <a:solidFill>
                    <a:srgbClr val="339966"/>
                  </a:solidFill>
                  <a:latin typeface="BatangChe"/>
                  <a:ea typeface="BatangChe"/>
                </a:rPr>
                <a:t>Statistics</a:t>
              </a:r>
              <a:endParaRPr lang="zh-CN" altLang="en-US" sz="1600" kern="10">
                <a:ln w="9525">
                  <a:solidFill>
                    <a:srgbClr val="339966"/>
                  </a:solidFill>
                  <a:round/>
                  <a:headEnd/>
                  <a:tailEnd/>
                </a:ln>
                <a:solidFill>
                  <a:srgbClr val="339966"/>
                </a:solidFill>
                <a:latin typeface="BatangChe"/>
                <a:ea typeface="BatangChe"/>
              </a:endParaRPr>
            </a:p>
          </p:txBody>
        </p:sp>
      </p:grpSp>
      <p:sp>
        <p:nvSpPr>
          <p:cNvPr id="42" name="TextBox 41"/>
          <p:cNvSpPr txBox="1"/>
          <p:nvPr userDrawn="1"/>
        </p:nvSpPr>
        <p:spPr>
          <a:xfrm>
            <a:off x="35496" y="404664"/>
            <a:ext cx="720080" cy="320088"/>
          </a:xfrm>
          <a:prstGeom prst="rect">
            <a:avLst/>
          </a:prstGeom>
          <a:noFill/>
          <a:effectLst>
            <a:outerShdw blurRad="50800" dist="50800" dir="5400000" sx="59000" sy="59000" algn="ctr" rotWithShape="0">
              <a:srgbClr val="336600">
                <a:alpha val="99000"/>
              </a:srgbClr>
            </a:outerShdw>
          </a:effectLst>
        </p:spPr>
        <p:txBody>
          <a:bodyPr wrap="square" rtlCol="0">
            <a:spAutoFit/>
          </a:bodyPr>
          <a:lstStyle/>
          <a:p>
            <a:pPr algn="ctr">
              <a:buFont typeface="Wingdings" pitchFamily="2" charset="2"/>
              <a:buNone/>
            </a:pPr>
            <a:r>
              <a:rPr lang="en-US" altLang="zh-CN" sz="1600" dirty="0" smtClean="0">
                <a:solidFill>
                  <a:srgbClr val="CCCCFF"/>
                </a:solidFill>
                <a:latin typeface="华文行楷" pitchFamily="2" charset="-122"/>
                <a:ea typeface="华文行楷" pitchFamily="2" charset="-122"/>
              </a:rPr>
              <a:t>wangqh</a:t>
            </a:r>
            <a:endParaRPr lang="zh-CN" altLang="en-US" sz="1600" dirty="0">
              <a:solidFill>
                <a:srgbClr val="CCCCFF"/>
              </a:solidFill>
              <a:latin typeface="华文行楷" pitchFamily="2" charset="-122"/>
              <a:ea typeface="华文行楷" pitchFamily="2" charset="-122"/>
            </a:endParaRPr>
          </a:p>
        </p:txBody>
      </p:sp>
      <p:pic>
        <p:nvPicPr>
          <p:cNvPr id="43" name="Picture 1" descr="C:\Users\Administrator\Desktop\临时下载\财大校徽-蓝.png"/>
          <p:cNvPicPr>
            <a:picLocks noChangeAspect="1" noChangeArrowheads="1"/>
          </p:cNvPicPr>
          <p:nvPr userDrawn="1"/>
        </p:nvPicPr>
        <p:blipFill>
          <a:blip r:embed="rId9" cstate="print"/>
          <a:srcRect/>
          <a:stretch>
            <a:fillRect/>
          </a:stretch>
        </p:blipFill>
        <p:spPr bwMode="auto">
          <a:xfrm>
            <a:off x="8380347" y="0"/>
            <a:ext cx="763653" cy="764704"/>
          </a:xfrm>
          <a:prstGeom prst="rect">
            <a:avLst/>
          </a:prstGeom>
          <a:noFill/>
        </p:spPr>
      </p:pic>
    </p:spTree>
  </p:cSld>
  <p:clrMap bg1="lt1" tx1="dk1" bg2="lt2" tx2="dk2" accent1="accent1" accent2="accent2" accent3="accent3" accent4="accent4" accent5="accent5" accent6="accent6" hlink="hlink" folHlink="folHlink"/>
  <p:sldLayoutIdLst>
    <p:sldLayoutId id="2147484852" r:id="rId1"/>
    <p:sldLayoutId id="2147484853" r:id="rId2"/>
    <p:sldLayoutId id="2147484855" r:id="rId3"/>
    <p:sldLayoutId id="2147484857" r:id="rId4"/>
    <p:sldLayoutId id="2147484858" r:id="rId5"/>
    <p:sldLayoutId id="2147484863" r:id="rId6"/>
  </p:sldLayoutIdLst>
  <p:transition>
    <p:wipe dir="r"/>
  </p:transition>
  <p:timing>
    <p:tnLst>
      <p:par>
        <p:cTn id="1" dur="indefinite" restart="never" nodeType="tmRoot"/>
      </p:par>
    </p:tnLst>
  </p:timing>
  <p:hf hdr="0" ftr="0" dt="0"/>
  <p:txStyles>
    <p:titleStyle>
      <a:lvl1pPr algn="ctr" rtl="0" eaLnBrk="0" fontAlgn="base" hangingPunct="0">
        <a:spcBef>
          <a:spcPct val="0"/>
        </a:spcBef>
        <a:spcAft>
          <a:spcPct val="0"/>
        </a:spcAft>
        <a:defRPr sz="4400" b="1">
          <a:solidFill>
            <a:srgbClr val="3333FF"/>
          </a:solidFill>
          <a:latin typeface="+mj-lt"/>
          <a:ea typeface="+mj-ea"/>
          <a:cs typeface="+mj-cs"/>
        </a:defRPr>
      </a:lvl1pPr>
      <a:lvl2pPr algn="ctr" rtl="0" eaLnBrk="0" fontAlgn="base" hangingPunct="0">
        <a:spcBef>
          <a:spcPct val="0"/>
        </a:spcBef>
        <a:spcAft>
          <a:spcPct val="0"/>
        </a:spcAft>
        <a:defRPr sz="4400" b="1">
          <a:solidFill>
            <a:srgbClr val="3333FF"/>
          </a:solidFill>
          <a:latin typeface="Tahoma" pitchFamily="34" charset="0"/>
          <a:ea typeface="宋体" pitchFamily="2" charset="-122"/>
        </a:defRPr>
      </a:lvl2pPr>
      <a:lvl3pPr algn="ctr" rtl="0" eaLnBrk="0" fontAlgn="base" hangingPunct="0">
        <a:spcBef>
          <a:spcPct val="0"/>
        </a:spcBef>
        <a:spcAft>
          <a:spcPct val="0"/>
        </a:spcAft>
        <a:defRPr sz="4400" b="1">
          <a:solidFill>
            <a:srgbClr val="3333FF"/>
          </a:solidFill>
          <a:latin typeface="Tahoma" pitchFamily="34" charset="0"/>
          <a:ea typeface="宋体" pitchFamily="2" charset="-122"/>
        </a:defRPr>
      </a:lvl3pPr>
      <a:lvl4pPr algn="ctr" rtl="0" eaLnBrk="0" fontAlgn="base" hangingPunct="0">
        <a:spcBef>
          <a:spcPct val="0"/>
        </a:spcBef>
        <a:spcAft>
          <a:spcPct val="0"/>
        </a:spcAft>
        <a:defRPr sz="4400" b="1">
          <a:solidFill>
            <a:srgbClr val="3333FF"/>
          </a:solidFill>
          <a:latin typeface="Tahoma" pitchFamily="34" charset="0"/>
          <a:ea typeface="宋体" pitchFamily="2" charset="-122"/>
        </a:defRPr>
      </a:lvl4pPr>
      <a:lvl5pPr algn="ctr" rtl="0" eaLnBrk="0" fontAlgn="base" hangingPunct="0">
        <a:spcBef>
          <a:spcPct val="0"/>
        </a:spcBef>
        <a:spcAft>
          <a:spcPct val="0"/>
        </a:spcAft>
        <a:defRPr sz="4400" b="1">
          <a:solidFill>
            <a:srgbClr val="3333FF"/>
          </a:solidFill>
          <a:latin typeface="Tahoma" pitchFamily="34" charset="0"/>
          <a:ea typeface="宋体" pitchFamily="2" charset="-122"/>
        </a:defRPr>
      </a:lvl5pPr>
      <a:lvl6pPr marL="457200" algn="ctr" rtl="0" fontAlgn="base">
        <a:spcBef>
          <a:spcPct val="0"/>
        </a:spcBef>
        <a:spcAft>
          <a:spcPct val="0"/>
        </a:spcAft>
        <a:defRPr sz="4400" b="1">
          <a:solidFill>
            <a:srgbClr val="3333FF"/>
          </a:solidFill>
          <a:latin typeface="Tahoma" pitchFamily="34" charset="0"/>
          <a:ea typeface="宋体" pitchFamily="2" charset="-122"/>
        </a:defRPr>
      </a:lvl6pPr>
      <a:lvl7pPr marL="914400" algn="ctr" rtl="0" fontAlgn="base">
        <a:spcBef>
          <a:spcPct val="0"/>
        </a:spcBef>
        <a:spcAft>
          <a:spcPct val="0"/>
        </a:spcAft>
        <a:defRPr sz="4400" b="1">
          <a:solidFill>
            <a:srgbClr val="3333FF"/>
          </a:solidFill>
          <a:latin typeface="Tahoma" pitchFamily="34" charset="0"/>
          <a:ea typeface="宋体" pitchFamily="2" charset="-122"/>
        </a:defRPr>
      </a:lvl7pPr>
      <a:lvl8pPr marL="1371600" algn="ctr" rtl="0" fontAlgn="base">
        <a:spcBef>
          <a:spcPct val="0"/>
        </a:spcBef>
        <a:spcAft>
          <a:spcPct val="0"/>
        </a:spcAft>
        <a:defRPr sz="4400" b="1">
          <a:solidFill>
            <a:srgbClr val="3333FF"/>
          </a:solidFill>
          <a:latin typeface="Tahoma" pitchFamily="34" charset="0"/>
          <a:ea typeface="宋体" pitchFamily="2" charset="-122"/>
        </a:defRPr>
      </a:lvl8pPr>
      <a:lvl9pPr marL="1828800" algn="ctr" rtl="0" fontAlgn="base">
        <a:spcBef>
          <a:spcPct val="0"/>
        </a:spcBef>
        <a:spcAft>
          <a:spcPct val="0"/>
        </a:spcAft>
        <a:defRPr sz="4400" b="1">
          <a:solidFill>
            <a:srgbClr val="3333FF"/>
          </a:solidFill>
          <a:latin typeface="Tahoma" pitchFamily="34" charset="0"/>
          <a:ea typeface="宋体" pitchFamily="2" charset="-122"/>
        </a:defRPr>
      </a:lvl9pPr>
    </p:titleStyle>
    <p:bodyStyle>
      <a:lvl1pPr marL="342900" indent="-342900" algn="l" rtl="0" eaLnBrk="0" fontAlgn="base" hangingPunct="0">
        <a:spcBef>
          <a:spcPct val="20000"/>
        </a:spcBef>
        <a:spcAft>
          <a:spcPct val="0"/>
        </a:spcAft>
        <a:buSzPct val="90000"/>
        <a:buBlip>
          <a:blip r:embed="rId10"/>
        </a:buBlip>
        <a:defRPr sz="3200" b="1">
          <a:solidFill>
            <a:srgbClr val="FF33CC"/>
          </a:solidFill>
          <a:latin typeface="+mn-lt"/>
          <a:ea typeface="+mn-ea"/>
          <a:cs typeface="+mn-cs"/>
        </a:defRPr>
      </a:lvl1pPr>
      <a:lvl2pPr marL="742950" indent="-285750" algn="l" rtl="0" eaLnBrk="0" fontAlgn="base" hangingPunct="0">
        <a:spcBef>
          <a:spcPct val="20000"/>
        </a:spcBef>
        <a:spcAft>
          <a:spcPct val="0"/>
        </a:spcAft>
        <a:buSzPct val="80000"/>
        <a:buBlip>
          <a:blip r:embed="rId11"/>
        </a:buBlip>
        <a:defRPr sz="2800" b="1">
          <a:solidFill>
            <a:srgbClr val="000000"/>
          </a:solidFill>
          <a:latin typeface="+mn-lt"/>
          <a:ea typeface="+mn-ea"/>
        </a:defRPr>
      </a:lvl2pPr>
      <a:lvl3pPr marL="1143000" indent="-228600" algn="l" rtl="0" eaLnBrk="0" fontAlgn="base" hangingPunct="0">
        <a:spcBef>
          <a:spcPct val="20000"/>
        </a:spcBef>
        <a:spcAft>
          <a:spcPct val="0"/>
        </a:spcAft>
        <a:buSzPct val="70000"/>
        <a:buBlip>
          <a:blip r:embed="rId12"/>
        </a:buBlip>
        <a:defRPr sz="2400" b="1">
          <a:solidFill>
            <a:schemeClr val="tx2"/>
          </a:solidFill>
          <a:latin typeface="+mn-lt"/>
          <a:ea typeface="+mn-ea"/>
        </a:defRPr>
      </a:lvl3pPr>
      <a:lvl4pPr marL="1600200" indent="-228600" algn="l" rtl="0" eaLnBrk="0" fontAlgn="base" hangingPunct="0">
        <a:spcBef>
          <a:spcPct val="20000"/>
        </a:spcBef>
        <a:spcAft>
          <a:spcPct val="0"/>
        </a:spcAft>
        <a:buSzPct val="70000"/>
        <a:buBlip>
          <a:blip r:embed="rId13"/>
        </a:buBlip>
        <a:defRPr sz="2000" b="1">
          <a:solidFill>
            <a:srgbClr val="336600"/>
          </a:solidFill>
          <a:latin typeface="+mn-lt"/>
          <a:ea typeface="+mn-ea"/>
        </a:defRPr>
      </a:lvl4pPr>
      <a:lvl5pPr marL="2057400" indent="-228600" algn="l" rtl="0" eaLnBrk="0" fontAlgn="base" hangingPunct="0">
        <a:spcBef>
          <a:spcPct val="20000"/>
        </a:spcBef>
        <a:spcAft>
          <a:spcPct val="0"/>
        </a:spcAft>
        <a:buSzPct val="70000"/>
        <a:buBlip>
          <a:blip r:embed="rId14"/>
        </a:buBlip>
        <a:defRPr sz="2000" b="1">
          <a:solidFill>
            <a:schemeClr val="tx1"/>
          </a:solidFill>
          <a:latin typeface="+mn-lt"/>
          <a:ea typeface="+mn-ea"/>
        </a:defRPr>
      </a:lvl5pPr>
      <a:lvl6pPr marL="2514600" indent="-228600" algn="l" rtl="0" fontAlgn="base">
        <a:spcBef>
          <a:spcPct val="20000"/>
        </a:spcBef>
        <a:spcAft>
          <a:spcPct val="0"/>
        </a:spcAft>
        <a:buSzPct val="70000"/>
        <a:buBlip>
          <a:blip r:embed="rId14"/>
        </a:buBlip>
        <a:defRPr sz="2000" b="1">
          <a:solidFill>
            <a:schemeClr val="tx1"/>
          </a:solidFill>
          <a:latin typeface="+mn-lt"/>
          <a:ea typeface="+mn-ea"/>
        </a:defRPr>
      </a:lvl6pPr>
      <a:lvl7pPr marL="2971800" indent="-228600" algn="l" rtl="0" fontAlgn="base">
        <a:spcBef>
          <a:spcPct val="20000"/>
        </a:spcBef>
        <a:spcAft>
          <a:spcPct val="0"/>
        </a:spcAft>
        <a:buSzPct val="70000"/>
        <a:buBlip>
          <a:blip r:embed="rId14"/>
        </a:buBlip>
        <a:defRPr sz="2000" b="1">
          <a:solidFill>
            <a:schemeClr val="tx1"/>
          </a:solidFill>
          <a:latin typeface="+mn-lt"/>
          <a:ea typeface="+mn-ea"/>
        </a:defRPr>
      </a:lvl7pPr>
      <a:lvl8pPr marL="3429000" indent="-228600" algn="l" rtl="0" fontAlgn="base">
        <a:spcBef>
          <a:spcPct val="20000"/>
        </a:spcBef>
        <a:spcAft>
          <a:spcPct val="0"/>
        </a:spcAft>
        <a:buSzPct val="70000"/>
        <a:buBlip>
          <a:blip r:embed="rId14"/>
        </a:buBlip>
        <a:defRPr sz="2000" b="1">
          <a:solidFill>
            <a:schemeClr val="tx1"/>
          </a:solidFill>
          <a:latin typeface="+mn-lt"/>
          <a:ea typeface="+mn-ea"/>
        </a:defRPr>
      </a:lvl8pPr>
      <a:lvl9pPr marL="3886200" indent="-228600" algn="l" rtl="0" fontAlgn="base">
        <a:spcBef>
          <a:spcPct val="20000"/>
        </a:spcBef>
        <a:spcAft>
          <a:spcPct val="0"/>
        </a:spcAft>
        <a:buSzPct val="70000"/>
        <a:buBlip>
          <a:blip r:embed="rId14"/>
        </a:buBlip>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hyperlink" Target="http://www.icourses.cn/coursestatic/course_4309.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 Id="rId5" Type="http://schemas.openxmlformats.org/officeDocument/2006/relationships/image" Target="../media/image27.jpeg"/><Relationship Id="rId4" Type="http://schemas.openxmlformats.org/officeDocument/2006/relationships/image" Target="../media/image26.jpeg"/></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29.wmf"/><Relationship Id="rId4" Type="http://schemas.openxmlformats.org/officeDocument/2006/relationships/image" Target="../media/image28.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hyperlink" Target="http://www.stats.gov.cn/tjsj"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31.w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4.png"/><Relationship Id="rId4" Type="http://schemas.openxmlformats.org/officeDocument/2006/relationships/image" Target="../media/image34.w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39.wmf"/></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42.gif"/></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7159642" y="3645024"/>
            <a:ext cx="2014973" cy="3154751"/>
          </a:xfrm>
          <a:prstGeom prst="rect">
            <a:avLst/>
          </a:prstGeom>
        </p:spPr>
      </p:pic>
      <p:sp>
        <p:nvSpPr>
          <p:cNvPr id="139" name="标题 138"/>
          <p:cNvSpPr>
            <a:spLocks noGrp="1"/>
          </p:cNvSpPr>
          <p:nvPr>
            <p:ph type="title"/>
          </p:nvPr>
        </p:nvSpPr>
        <p:spPr>
          <a:xfrm>
            <a:off x="899592" y="116632"/>
            <a:ext cx="1944216" cy="824136"/>
          </a:xfrm>
        </p:spPr>
        <p:txBody>
          <a:bodyPr/>
          <a:lstStyle/>
          <a:p>
            <a:pPr algn="l"/>
            <a:r>
              <a:rPr lang="zh-CN" altLang="en-US" b="0" dirty="0" smtClean="0">
                <a:solidFill>
                  <a:schemeClr val="accent5">
                    <a:lumMod val="90000"/>
                  </a:schemeClr>
                </a:solidFill>
                <a:latin typeface="华文行楷" pitchFamily="2" charset="-122"/>
                <a:ea typeface="华文行楷" pitchFamily="2" charset="-122"/>
              </a:rPr>
              <a:t>统计学</a:t>
            </a:r>
            <a:endParaRPr lang="zh-CN" altLang="en-US" b="0" dirty="0">
              <a:solidFill>
                <a:schemeClr val="accent5">
                  <a:lumMod val="90000"/>
                </a:schemeClr>
              </a:solidFill>
              <a:latin typeface="华文行楷" pitchFamily="2" charset="-122"/>
              <a:ea typeface="华文行楷" pitchFamily="2" charset="-122"/>
            </a:endParaRPr>
          </a:p>
        </p:txBody>
      </p:sp>
      <p:sp>
        <p:nvSpPr>
          <p:cNvPr id="15363" name="Rectangle 2"/>
          <p:cNvSpPr>
            <a:spLocks noGrp="1" noChangeArrowheads="1"/>
          </p:cNvSpPr>
          <p:nvPr>
            <p:ph idx="1"/>
          </p:nvPr>
        </p:nvSpPr>
        <p:spPr>
          <a:xfrm>
            <a:off x="539552" y="548680"/>
            <a:ext cx="5786478" cy="1285884"/>
          </a:xfrm>
          <a:noFill/>
        </p:spPr>
        <p:txBody>
          <a:bodyPr/>
          <a:lstStyle/>
          <a:p>
            <a:pPr algn="ctr" eaLnBrk="1" hangingPunct="1">
              <a:lnSpc>
                <a:spcPct val="90000"/>
              </a:lnSpc>
              <a:spcBef>
                <a:spcPct val="15000"/>
              </a:spcBef>
              <a:buNone/>
            </a:pPr>
            <a:r>
              <a:rPr lang="zh-CN" altLang="en-US" sz="9600" dirty="0" smtClean="0">
                <a:solidFill>
                  <a:schemeClr val="tx2"/>
                </a:solidFill>
                <a:latin typeface="隶书" pitchFamily="49" charset="-122"/>
                <a:ea typeface="隶书" pitchFamily="49" charset="-122"/>
              </a:rPr>
              <a:t>统计学</a:t>
            </a:r>
          </a:p>
        </p:txBody>
      </p:sp>
      <p:sp>
        <p:nvSpPr>
          <p:cNvPr id="138" name="矩形 137"/>
          <p:cNvSpPr/>
          <p:nvPr/>
        </p:nvSpPr>
        <p:spPr>
          <a:xfrm>
            <a:off x="395536" y="2276228"/>
            <a:ext cx="7429552" cy="4311950"/>
          </a:xfrm>
          <a:prstGeom prst="rect">
            <a:avLst/>
          </a:prstGeom>
        </p:spPr>
        <p:txBody>
          <a:bodyPr wrap="square">
            <a:spAutoFit/>
          </a:bodyPr>
          <a:lstStyle/>
          <a:p>
            <a:pPr>
              <a:lnSpc>
                <a:spcPct val="105000"/>
              </a:lnSpc>
            </a:pPr>
            <a:r>
              <a:rPr lang="zh-CN" altLang="en-US" dirty="0" smtClean="0">
                <a:solidFill>
                  <a:srgbClr val="000000"/>
                </a:solidFill>
              </a:rPr>
              <a:t>主讲：</a:t>
            </a:r>
            <a:endParaRPr lang="en-US" altLang="zh-CN" dirty="0" smtClean="0">
              <a:solidFill>
                <a:srgbClr val="000000"/>
              </a:solidFill>
            </a:endParaRPr>
          </a:p>
          <a:p>
            <a:pPr indent="538163">
              <a:lnSpc>
                <a:spcPct val="105000"/>
              </a:lnSpc>
              <a:buNone/>
            </a:pPr>
            <a:r>
              <a:rPr lang="zh-CN" altLang="en-US" dirty="0" smtClean="0">
                <a:solidFill>
                  <a:srgbClr val="000000"/>
                </a:solidFill>
              </a:rPr>
              <a:t>夏怡凡</a:t>
            </a:r>
            <a:endParaRPr lang="en-US" altLang="zh-CN" dirty="0" smtClean="0">
              <a:solidFill>
                <a:srgbClr val="000000"/>
              </a:solidFill>
            </a:endParaRPr>
          </a:p>
          <a:p>
            <a:pPr indent="538163">
              <a:lnSpc>
                <a:spcPct val="105000"/>
              </a:lnSpc>
              <a:buNone/>
            </a:pPr>
            <a:r>
              <a:rPr lang="zh-CN" altLang="en-US" dirty="0" smtClean="0">
                <a:solidFill>
                  <a:srgbClr val="000000"/>
                </a:solidFill>
              </a:rPr>
              <a:t>王青华  </a:t>
            </a:r>
            <a:r>
              <a:rPr lang="en-US" altLang="zh-CN" dirty="0" smtClean="0">
                <a:solidFill>
                  <a:srgbClr val="000000"/>
                </a:solidFill>
              </a:rPr>
              <a:t>wangqh@swufe.edu.cn</a:t>
            </a:r>
          </a:p>
          <a:p>
            <a:pPr>
              <a:lnSpc>
                <a:spcPct val="105000"/>
              </a:lnSpc>
            </a:pPr>
            <a:r>
              <a:rPr lang="zh-CN" altLang="en-US" dirty="0" smtClean="0">
                <a:solidFill>
                  <a:srgbClr val="000000"/>
                </a:solidFill>
              </a:rPr>
              <a:t>教学助理</a:t>
            </a:r>
            <a:r>
              <a:rPr lang="en-US" altLang="zh-CN" sz="2000" dirty="0" smtClean="0">
                <a:solidFill>
                  <a:srgbClr val="000000"/>
                </a:solidFill>
              </a:rPr>
              <a:t>:</a:t>
            </a:r>
          </a:p>
          <a:p>
            <a:pPr>
              <a:lnSpc>
                <a:spcPct val="105000"/>
              </a:lnSpc>
              <a:buNone/>
            </a:pPr>
            <a:r>
              <a:rPr lang="zh-CN" altLang="en-US" sz="3200" dirty="0" smtClean="0">
                <a:solidFill>
                  <a:srgbClr val="0070C0"/>
                </a:solidFill>
              </a:rPr>
              <a:t>学习通：</a:t>
            </a:r>
            <a:r>
              <a:rPr lang="zh-CN" altLang="en-US" sz="2400" dirty="0" smtClean="0">
                <a:solidFill>
                  <a:srgbClr val="000000"/>
                </a:solidFill>
              </a:rPr>
              <a:t>统计学（主讲：夏怡凡 </a:t>
            </a:r>
            <a:r>
              <a:rPr lang="en-US" altLang="zh-CN" sz="2400" dirty="0" smtClean="0">
                <a:solidFill>
                  <a:srgbClr val="000000"/>
                </a:solidFill>
              </a:rPr>
              <a:t>//</a:t>
            </a:r>
            <a:r>
              <a:rPr lang="zh-CN" altLang="en-US" sz="2400" dirty="0" smtClean="0">
                <a:solidFill>
                  <a:srgbClr val="000000"/>
                </a:solidFill>
              </a:rPr>
              <a:t>王青华）</a:t>
            </a:r>
            <a:endParaRPr lang="en-US" altLang="zh-CN" sz="4000" dirty="0" smtClean="0">
              <a:solidFill>
                <a:srgbClr val="000000"/>
              </a:solidFill>
            </a:endParaRPr>
          </a:p>
          <a:p>
            <a:pPr>
              <a:lnSpc>
                <a:spcPct val="150000"/>
              </a:lnSpc>
              <a:buNone/>
            </a:pPr>
            <a:r>
              <a:rPr lang="zh-CN" altLang="en-US" sz="2400" dirty="0" smtClean="0">
                <a:solidFill>
                  <a:srgbClr val="000000"/>
                </a:solidFill>
              </a:rPr>
              <a:t>爱课程网：向蓉美等主讲的统计学</a:t>
            </a:r>
            <a:br>
              <a:rPr lang="zh-CN" altLang="en-US" sz="2400" dirty="0" smtClean="0">
                <a:solidFill>
                  <a:srgbClr val="000000"/>
                </a:solidFill>
              </a:rPr>
            </a:br>
            <a:r>
              <a:rPr lang="en-US" altLang="zh-CN" sz="2400" dirty="0" smtClean="0">
                <a:solidFill>
                  <a:srgbClr val="FF0000"/>
                </a:solidFill>
                <a:hlinkClick r:id="rId4"/>
              </a:rPr>
              <a:t>http://www.icourses.cn/coursestatic/course_4309.html</a:t>
            </a:r>
            <a:r>
              <a:rPr lang="zh-CN" altLang="en-US" sz="1800" dirty="0" smtClean="0">
                <a:solidFill>
                  <a:srgbClr val="0070C0"/>
                </a:solidFill>
              </a:rPr>
              <a:t>（</a:t>
            </a:r>
            <a:r>
              <a:rPr lang="zh-CN" altLang="en-US" sz="2000" dirty="0" smtClean="0">
                <a:solidFill>
                  <a:srgbClr val="0070C0"/>
                </a:solidFill>
              </a:rPr>
              <a:t>爱课程网</a:t>
            </a:r>
            <a:r>
              <a:rPr lang="en-US" altLang="zh-CN" sz="2000" dirty="0" smtClean="0">
                <a:solidFill>
                  <a:srgbClr val="0070C0"/>
                </a:solidFill>
              </a:rPr>
              <a:t>→</a:t>
            </a:r>
            <a:r>
              <a:rPr lang="zh-CN" altLang="en-US" sz="2000" dirty="0" smtClean="0">
                <a:solidFill>
                  <a:srgbClr val="0070C0"/>
                </a:solidFill>
              </a:rPr>
              <a:t>资源共享课</a:t>
            </a:r>
            <a:r>
              <a:rPr lang="en-US" altLang="zh-CN" sz="2000" dirty="0" smtClean="0">
                <a:solidFill>
                  <a:srgbClr val="0070C0"/>
                </a:solidFill>
              </a:rPr>
              <a:t>→ </a:t>
            </a:r>
            <a:r>
              <a:rPr lang="zh-CN" altLang="en-US" sz="2000" dirty="0" smtClean="0">
                <a:solidFill>
                  <a:srgbClr val="0070C0"/>
                </a:solidFill>
              </a:rPr>
              <a:t>统计学</a:t>
            </a:r>
            <a:r>
              <a:rPr lang="en-US" altLang="zh-CN" sz="2000" dirty="0" smtClean="0">
                <a:solidFill>
                  <a:srgbClr val="0070C0"/>
                </a:solidFill>
              </a:rPr>
              <a:t>→</a:t>
            </a:r>
            <a:r>
              <a:rPr lang="zh-CN" altLang="en-US" sz="2000" dirty="0" smtClean="0">
                <a:solidFill>
                  <a:srgbClr val="0070C0"/>
                </a:solidFill>
              </a:rPr>
              <a:t>向蓉美</a:t>
            </a:r>
            <a:r>
              <a:rPr lang="zh-CN" altLang="en-US" sz="1800" dirty="0" smtClean="0">
                <a:solidFill>
                  <a:srgbClr val="0070C0"/>
                </a:solidFill>
              </a:rPr>
              <a:t>）</a:t>
            </a:r>
            <a:endParaRPr lang="zh-CN" altLang="en-US" sz="2000" dirty="0">
              <a:solidFill>
                <a:srgbClr val="0070C0"/>
              </a:solidFill>
            </a:endParaRPr>
          </a:p>
        </p:txBody>
      </p:sp>
      <p:sp>
        <p:nvSpPr>
          <p:cNvPr id="6" name="灯片编号占位符 5"/>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1</a:t>
            </a:fld>
            <a:endParaRPr lang="en-US" altLang="zh-CN" dirty="0">
              <a:solidFill>
                <a:srgbClr val="545472"/>
              </a:solidFill>
            </a:endParaRPr>
          </a:p>
        </p:txBody>
      </p:sp>
      <p:pic>
        <p:nvPicPr>
          <p:cNvPr id="3" name="图片 2"/>
          <p:cNvPicPr>
            <a:picLocks noChangeAspect="1"/>
          </p:cNvPicPr>
          <p:nvPr/>
        </p:nvPicPr>
        <p:blipFill>
          <a:blip r:embed="rId5"/>
          <a:stretch>
            <a:fillRect/>
          </a:stretch>
        </p:blipFill>
        <p:spPr>
          <a:xfrm>
            <a:off x="6984314" y="0"/>
            <a:ext cx="2165653" cy="3429000"/>
          </a:xfrm>
          <a:prstGeom prst="rect">
            <a:avLst/>
          </a:prstGeom>
        </p:spPr>
      </p:pic>
    </p:spTree>
  </p:cSld>
  <p:clrMapOvr>
    <a:masterClrMapping/>
  </p:clrMapOvr>
  <p:transition>
    <p:wipe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500063" y="785813"/>
            <a:ext cx="6643687" cy="990600"/>
          </a:xfrm>
        </p:spPr>
        <p:txBody>
          <a:bodyPr/>
          <a:lstStyle/>
          <a:p>
            <a:pPr eaLnBrk="1" hangingPunct="1"/>
            <a:r>
              <a:rPr lang="zh-CN" altLang="en-US" sz="4800" dirty="0" smtClean="0"/>
              <a:t>第 </a:t>
            </a:r>
            <a:r>
              <a:rPr lang="en-US" altLang="zh-CN" sz="4800" dirty="0" smtClean="0"/>
              <a:t>1 </a:t>
            </a:r>
            <a:r>
              <a:rPr lang="zh-CN" altLang="en-US" sz="4800" dirty="0" smtClean="0"/>
              <a:t>章  总  论</a:t>
            </a:r>
          </a:p>
        </p:txBody>
      </p:sp>
      <p:sp>
        <p:nvSpPr>
          <p:cNvPr id="16387" name="Rectangle 3"/>
          <p:cNvSpPr>
            <a:spLocks noGrp="1" noChangeArrowheads="1"/>
          </p:cNvSpPr>
          <p:nvPr>
            <p:ph idx="1"/>
          </p:nvPr>
        </p:nvSpPr>
        <p:spPr>
          <a:xfrm>
            <a:off x="1258888" y="2143125"/>
            <a:ext cx="6954837" cy="4310063"/>
          </a:xfrm>
        </p:spPr>
        <p:txBody>
          <a:bodyPr/>
          <a:lstStyle/>
          <a:p>
            <a:pPr eaLnBrk="1" hangingPunct="1">
              <a:lnSpc>
                <a:spcPct val="150000"/>
              </a:lnSpc>
            </a:pPr>
            <a:r>
              <a:rPr lang="en-US" altLang="zh-CN" sz="3600" dirty="0" smtClean="0">
                <a:solidFill>
                  <a:srgbClr val="000000"/>
                </a:solidFill>
              </a:rPr>
              <a:t>1.1</a:t>
            </a:r>
            <a:r>
              <a:rPr lang="zh-CN" altLang="en-US" sz="3600" dirty="0" smtClean="0">
                <a:solidFill>
                  <a:srgbClr val="000000"/>
                </a:solidFill>
              </a:rPr>
              <a:t>为什么要学习统计学</a:t>
            </a:r>
          </a:p>
          <a:p>
            <a:pPr eaLnBrk="1" hangingPunct="1">
              <a:lnSpc>
                <a:spcPct val="150000"/>
              </a:lnSpc>
            </a:pPr>
            <a:r>
              <a:rPr lang="en-US" altLang="zh-CN" sz="3600" dirty="0" smtClean="0">
                <a:solidFill>
                  <a:srgbClr val="000000"/>
                </a:solidFill>
              </a:rPr>
              <a:t>1.2 </a:t>
            </a:r>
            <a:r>
              <a:rPr lang="zh-CN" altLang="en-US" sz="3600" dirty="0" smtClean="0">
                <a:solidFill>
                  <a:srgbClr val="000000"/>
                </a:solidFill>
              </a:rPr>
              <a:t>什么是统计</a:t>
            </a:r>
          </a:p>
          <a:p>
            <a:pPr eaLnBrk="1" hangingPunct="1">
              <a:lnSpc>
                <a:spcPct val="150000"/>
              </a:lnSpc>
            </a:pPr>
            <a:r>
              <a:rPr lang="en-US" altLang="zh-CN" sz="3600" dirty="0" smtClean="0">
                <a:solidFill>
                  <a:srgbClr val="000000"/>
                </a:solidFill>
              </a:rPr>
              <a:t>1.3  </a:t>
            </a:r>
            <a:r>
              <a:rPr lang="zh-CN" altLang="en-US" sz="3600" dirty="0" smtClean="0">
                <a:solidFill>
                  <a:srgbClr val="000000"/>
                </a:solidFill>
              </a:rPr>
              <a:t>统计学中的基本概念</a:t>
            </a:r>
          </a:p>
          <a:p>
            <a:pPr eaLnBrk="1" hangingPunct="1">
              <a:lnSpc>
                <a:spcPct val="150000"/>
              </a:lnSpc>
            </a:pPr>
            <a:r>
              <a:rPr lang="en-US" altLang="zh-CN" sz="3600" dirty="0" smtClean="0">
                <a:solidFill>
                  <a:srgbClr val="000000"/>
                </a:solidFill>
              </a:rPr>
              <a:t>1.4  </a:t>
            </a:r>
            <a:r>
              <a:rPr lang="zh-CN" altLang="en-US" sz="3600" dirty="0" smtClean="0">
                <a:solidFill>
                  <a:srgbClr val="000000"/>
                </a:solidFill>
              </a:rPr>
              <a:t>用</a:t>
            </a:r>
            <a:r>
              <a:rPr lang="en-US" altLang="zh-CN" sz="3600" dirty="0" smtClean="0">
                <a:solidFill>
                  <a:srgbClr val="000000"/>
                </a:solidFill>
              </a:rPr>
              <a:t>EXCEL</a:t>
            </a:r>
            <a:r>
              <a:rPr lang="zh-CN" altLang="en-US" sz="3600" dirty="0" smtClean="0">
                <a:solidFill>
                  <a:srgbClr val="000000"/>
                </a:solidFill>
              </a:rPr>
              <a:t>进行统计分析</a:t>
            </a:r>
          </a:p>
        </p:txBody>
      </p:sp>
      <p:sp>
        <p:nvSpPr>
          <p:cNvPr id="4" name="灯片编号占位符 3"/>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2</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500063" y="785812"/>
            <a:ext cx="7744345" cy="1491059"/>
          </a:xfrm>
        </p:spPr>
        <p:txBody>
          <a:bodyPr/>
          <a:lstStyle/>
          <a:p>
            <a:pPr eaLnBrk="1" hangingPunct="1">
              <a:lnSpc>
                <a:spcPct val="150000"/>
              </a:lnSpc>
            </a:pPr>
            <a:r>
              <a:rPr lang="en-US" altLang="zh-CN" sz="4800" dirty="0" smtClean="0">
                <a:solidFill>
                  <a:srgbClr val="000000"/>
                </a:solidFill>
              </a:rPr>
              <a:t>1.1  </a:t>
            </a:r>
            <a:r>
              <a:rPr lang="zh-CN" altLang="en-US" sz="4800" dirty="0" smtClean="0">
                <a:solidFill>
                  <a:srgbClr val="000000"/>
                </a:solidFill>
              </a:rPr>
              <a:t>为什么要学习统计学</a:t>
            </a:r>
            <a:endParaRPr lang="en-US" altLang="zh-CN" sz="4800" dirty="0" smtClean="0">
              <a:solidFill>
                <a:srgbClr val="000000"/>
              </a:solidFill>
            </a:endParaRPr>
          </a:p>
        </p:txBody>
      </p:sp>
      <p:sp>
        <p:nvSpPr>
          <p:cNvPr id="16387" name="Rectangle 3"/>
          <p:cNvSpPr>
            <a:spLocks noGrp="1" noChangeArrowheads="1"/>
          </p:cNvSpPr>
          <p:nvPr>
            <p:ph idx="1"/>
          </p:nvPr>
        </p:nvSpPr>
        <p:spPr>
          <a:xfrm>
            <a:off x="2483768" y="2492896"/>
            <a:ext cx="5873973" cy="3888284"/>
          </a:xfrm>
        </p:spPr>
        <p:txBody>
          <a:bodyPr/>
          <a:lstStyle/>
          <a:p>
            <a:pPr lvl="1" eaLnBrk="1" hangingPunct="1">
              <a:lnSpc>
                <a:spcPct val="150000"/>
              </a:lnSpc>
            </a:pPr>
            <a:r>
              <a:rPr lang="zh-CN" altLang="en-US" sz="3600" dirty="0" smtClean="0"/>
              <a:t>感悟统计</a:t>
            </a:r>
            <a:endParaRPr lang="en-US" altLang="zh-CN" sz="3600" dirty="0" smtClean="0"/>
          </a:p>
          <a:p>
            <a:pPr lvl="1" eaLnBrk="1" hangingPunct="1">
              <a:lnSpc>
                <a:spcPct val="150000"/>
              </a:lnSpc>
            </a:pPr>
            <a:r>
              <a:rPr lang="zh-CN" altLang="en-US" sz="3600" dirty="0" smtClean="0"/>
              <a:t>统计与大数据</a:t>
            </a:r>
            <a:endParaRPr lang="en-US" altLang="zh-CN" sz="3600" dirty="0" smtClean="0"/>
          </a:p>
          <a:p>
            <a:pPr lvl="1" eaLnBrk="1" hangingPunct="1">
              <a:lnSpc>
                <a:spcPct val="150000"/>
              </a:lnSpc>
            </a:pPr>
            <a:r>
              <a:rPr lang="zh-CN" altLang="en-US" sz="3600" dirty="0" smtClean="0"/>
              <a:t>如何学好统计（及考试要求）</a:t>
            </a:r>
            <a:endParaRPr lang="en-US" altLang="zh-CN" sz="3600" dirty="0" smtClean="0"/>
          </a:p>
          <a:p>
            <a:pPr lvl="1" eaLnBrk="1" hangingPunct="1">
              <a:lnSpc>
                <a:spcPct val="150000"/>
              </a:lnSpc>
            </a:pPr>
            <a:endParaRPr lang="en-US" altLang="zh-CN" sz="3600" dirty="0" smtClean="0"/>
          </a:p>
          <a:p>
            <a:pPr eaLnBrk="1" hangingPunct="1">
              <a:lnSpc>
                <a:spcPct val="150000"/>
              </a:lnSpc>
            </a:pPr>
            <a:endParaRPr lang="zh-CN" altLang="en-US" sz="4000" dirty="0" smtClean="0">
              <a:solidFill>
                <a:srgbClr val="000000"/>
              </a:solidFill>
            </a:endParaRPr>
          </a:p>
        </p:txBody>
      </p:sp>
      <p:graphicFrame>
        <p:nvGraphicFramePr>
          <p:cNvPr id="125953" name="Object 1"/>
          <p:cNvGraphicFramePr>
            <a:graphicFrameLocks noChangeAspect="1"/>
          </p:cNvGraphicFramePr>
          <p:nvPr/>
        </p:nvGraphicFramePr>
        <p:xfrm>
          <a:off x="1" y="3789040"/>
          <a:ext cx="2341460" cy="3068960"/>
        </p:xfrm>
        <a:graphic>
          <a:graphicData uri="http://schemas.openxmlformats.org/presentationml/2006/ole">
            <mc:AlternateContent xmlns:mc="http://schemas.openxmlformats.org/markup-compatibility/2006">
              <mc:Choice xmlns:v="urn:schemas-microsoft-com:vml" Requires="v">
                <p:oleObj spid="_x0000_s125983" name="BMP 图象" r:id="rId3" imgW="1238423" imgH="1600000" progId="PBrush">
                  <p:embed/>
                </p:oleObj>
              </mc:Choice>
              <mc:Fallback>
                <p:oleObj name="BMP 图象" r:id="rId3" imgW="1238423" imgH="1600000" progId="PBrush">
                  <p:embed/>
                  <p:pic>
                    <p:nvPicPr>
                      <p:cNvPr id="0" name="Picture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3789040"/>
                        <a:ext cx="2341460" cy="3068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灯片编号占位符 4"/>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3</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Text Box 4"/>
          <p:cNvSpPr txBox="1">
            <a:spLocks noChangeArrowheads="1"/>
          </p:cNvSpPr>
          <p:nvPr/>
        </p:nvSpPr>
        <p:spPr bwMode="auto">
          <a:xfrm>
            <a:off x="539552" y="1052736"/>
            <a:ext cx="8352928" cy="5601533"/>
          </a:xfrm>
          <a:prstGeom prst="rect">
            <a:avLst/>
          </a:prstGeom>
          <a:noFill/>
          <a:ln w="9525">
            <a:noFill/>
            <a:miter lim="800000"/>
            <a:headEnd/>
            <a:tailEnd/>
          </a:ln>
        </p:spPr>
        <p:txBody>
          <a:bodyPr wrap="square">
            <a:spAutoFit/>
          </a:bodyPr>
          <a:lstStyle/>
          <a:p>
            <a:pPr>
              <a:lnSpc>
                <a:spcPct val="110000"/>
              </a:lnSpc>
              <a:spcBef>
                <a:spcPts val="1200"/>
              </a:spcBef>
            </a:pPr>
            <a:r>
              <a:rPr lang="zh-CN" altLang="en-US" dirty="0" smtClean="0"/>
              <a:t>教育部：</a:t>
            </a:r>
            <a:r>
              <a:rPr lang="zh-CN" altLang="en-US" sz="2400" dirty="0" smtClean="0">
                <a:solidFill>
                  <a:srgbClr val="C00000"/>
                </a:solidFill>
              </a:rPr>
              <a:t>统计学是经济类和管理类各专业的核心课之一</a:t>
            </a:r>
            <a:endParaRPr lang="zh-CN" altLang="en-US" dirty="0" smtClean="0">
              <a:solidFill>
                <a:srgbClr val="C00000"/>
              </a:solidFill>
            </a:endParaRPr>
          </a:p>
          <a:p>
            <a:pPr>
              <a:lnSpc>
                <a:spcPct val="110000"/>
              </a:lnSpc>
              <a:spcBef>
                <a:spcPts val="1200"/>
              </a:spcBef>
            </a:pPr>
            <a:r>
              <a:rPr lang="zh-CN" altLang="zh-CN" dirty="0" smtClean="0">
                <a:solidFill>
                  <a:srgbClr val="7030A0"/>
                </a:solidFill>
              </a:rPr>
              <a:t>统计是社会认识最有力的武器之一</a:t>
            </a:r>
            <a:r>
              <a:rPr lang="en-US" altLang="zh-CN" dirty="0" smtClean="0">
                <a:solidFill>
                  <a:srgbClr val="7030A0"/>
                </a:solidFill>
              </a:rPr>
              <a:t> </a:t>
            </a:r>
            <a:r>
              <a:rPr lang="zh-CN" altLang="zh-CN" sz="2400" dirty="0" smtClean="0"/>
              <a:t>———列宁</a:t>
            </a:r>
            <a:endParaRPr lang="en-US" altLang="zh-CN" sz="2400" dirty="0" smtClean="0"/>
          </a:p>
          <a:p>
            <a:pPr>
              <a:lnSpc>
                <a:spcPct val="110000"/>
              </a:lnSpc>
              <a:spcBef>
                <a:spcPts val="1200"/>
              </a:spcBef>
            </a:pPr>
            <a:r>
              <a:rPr lang="zh-CN" altLang="zh-CN" dirty="0" smtClean="0"/>
              <a:t>某些人不喜欢</a:t>
            </a:r>
            <a:r>
              <a:rPr lang="zh-CN" altLang="zh-CN" dirty="0" smtClean="0">
                <a:solidFill>
                  <a:srgbClr val="002060"/>
                </a:solidFill>
              </a:rPr>
              <a:t>统计</a:t>
            </a:r>
            <a:r>
              <a:rPr lang="zh-CN" altLang="zh-CN" dirty="0" smtClean="0"/>
              <a:t>这个名词，但我却发现其中充满了乐趣……它们处理各种复杂现象的能力是非凡的，它们</a:t>
            </a:r>
            <a:r>
              <a:rPr lang="zh-CN" altLang="zh-CN" dirty="0" smtClean="0">
                <a:solidFill>
                  <a:srgbClr val="002060"/>
                </a:solidFill>
              </a:rPr>
              <a:t>是追求科学的人从荆棘丛生的困难阻挡中开辟道路的最好工具</a:t>
            </a:r>
            <a:r>
              <a:rPr lang="zh-CN" altLang="zh-CN" sz="2400" dirty="0" smtClean="0"/>
              <a:t>———高尔顿</a:t>
            </a:r>
            <a:endParaRPr lang="en-US" altLang="zh-CN" sz="2400" dirty="0" smtClean="0"/>
          </a:p>
          <a:p>
            <a:pPr>
              <a:lnSpc>
                <a:spcPct val="110000"/>
              </a:lnSpc>
              <a:spcBef>
                <a:spcPts val="1200"/>
              </a:spcBef>
            </a:pPr>
            <a:r>
              <a:rPr lang="zh-CN" altLang="en-US" dirty="0" smtClean="0">
                <a:solidFill>
                  <a:srgbClr val="7030A0"/>
                </a:solidFill>
              </a:rPr>
              <a:t>学者不能离开统计而研究，</a:t>
            </a:r>
            <a:endParaRPr lang="en-US" altLang="zh-CN" dirty="0" smtClean="0">
              <a:solidFill>
                <a:srgbClr val="7030A0"/>
              </a:solidFill>
            </a:endParaRPr>
          </a:p>
          <a:p>
            <a:pPr marL="180975" lvl="1">
              <a:lnSpc>
                <a:spcPct val="110000"/>
              </a:lnSpc>
              <a:spcBef>
                <a:spcPts val="600"/>
              </a:spcBef>
              <a:buNone/>
            </a:pPr>
            <a:r>
              <a:rPr lang="zh-CN" altLang="en-US" dirty="0" smtClean="0">
                <a:solidFill>
                  <a:srgbClr val="7030A0"/>
                </a:solidFill>
              </a:rPr>
              <a:t> 政治不能离开统计而施政，</a:t>
            </a:r>
            <a:endParaRPr lang="en-US" altLang="zh-CN" dirty="0" smtClean="0">
              <a:solidFill>
                <a:srgbClr val="7030A0"/>
              </a:solidFill>
            </a:endParaRPr>
          </a:p>
          <a:p>
            <a:pPr marL="180975" lvl="1">
              <a:lnSpc>
                <a:spcPct val="110000"/>
              </a:lnSpc>
              <a:spcBef>
                <a:spcPts val="600"/>
              </a:spcBef>
              <a:buNone/>
            </a:pPr>
            <a:r>
              <a:rPr lang="zh-CN" altLang="en-US" dirty="0" smtClean="0">
                <a:solidFill>
                  <a:srgbClr val="7030A0"/>
                </a:solidFill>
              </a:rPr>
              <a:t>企业不能离开统计而执业</a:t>
            </a:r>
            <a:r>
              <a:rPr lang="en-US" altLang="zh-CN" dirty="0" smtClean="0">
                <a:solidFill>
                  <a:srgbClr val="7030A0"/>
                </a:solidFill>
                <a:latin typeface="+mn-ea"/>
                <a:ea typeface="+mn-ea"/>
              </a:rPr>
              <a:t>——</a:t>
            </a:r>
            <a:r>
              <a:rPr kumimoji="1" lang="zh-CN" altLang="en-US" dirty="0" smtClean="0">
                <a:solidFill>
                  <a:srgbClr val="7030A0"/>
                </a:solidFill>
                <a:latin typeface="+mn-ea"/>
                <a:ea typeface="+mn-ea"/>
              </a:rPr>
              <a:t>马寅初</a:t>
            </a:r>
            <a:endParaRPr kumimoji="1" lang="en-US" altLang="zh-CN" dirty="0" smtClean="0">
              <a:solidFill>
                <a:srgbClr val="7030A0"/>
              </a:solidFill>
              <a:latin typeface="+mn-ea"/>
              <a:ea typeface="+mn-ea"/>
            </a:endParaRPr>
          </a:p>
          <a:p>
            <a:pPr>
              <a:lnSpc>
                <a:spcPct val="110000"/>
              </a:lnSpc>
              <a:spcBef>
                <a:spcPts val="1200"/>
              </a:spcBef>
              <a:buNone/>
            </a:pPr>
            <a:endParaRPr lang="zh-CN" altLang="en-US" dirty="0">
              <a:solidFill>
                <a:srgbClr val="D60093"/>
              </a:solidFill>
            </a:endParaRPr>
          </a:p>
        </p:txBody>
      </p:sp>
      <p:sp>
        <p:nvSpPr>
          <p:cNvPr id="5" name="标题 4"/>
          <p:cNvSpPr>
            <a:spLocks noGrp="1"/>
          </p:cNvSpPr>
          <p:nvPr>
            <p:ph type="title" idx="4294967295"/>
          </p:nvPr>
        </p:nvSpPr>
        <p:spPr>
          <a:xfrm>
            <a:off x="1835696" y="260648"/>
            <a:ext cx="3671888" cy="792162"/>
          </a:xfrm>
        </p:spPr>
        <p:txBody>
          <a:bodyPr/>
          <a:lstStyle/>
          <a:p>
            <a:pPr rtl="0" fontAlgn="base"/>
            <a:r>
              <a:rPr kumimoji="1" lang="zh-CN" altLang="en-US" sz="4800" b="1" kern="1200" dirty="0" smtClean="0">
                <a:solidFill>
                  <a:srgbClr val="D60093"/>
                </a:solidFill>
                <a:latin typeface="Times New Roman"/>
                <a:ea typeface="宋体"/>
                <a:cs typeface="+mn-cs"/>
              </a:rPr>
              <a:t>感悟统计</a:t>
            </a:r>
            <a:endParaRPr lang="zh-CN" altLang="en-US" sz="3600" dirty="0"/>
          </a:p>
        </p:txBody>
      </p:sp>
      <p:sp>
        <p:nvSpPr>
          <p:cNvPr id="6" name="灯片编号占位符 5"/>
          <p:cNvSpPr>
            <a:spLocks noGrp="1"/>
          </p:cNvSpPr>
          <p:nvPr>
            <p:ph type="sldNum" sz="quarter" idx="12"/>
          </p:nvPr>
        </p:nvSpPr>
        <p:spPr/>
        <p:txBody>
          <a:bodyPr/>
          <a:lstStyle/>
          <a:p>
            <a:pPr>
              <a:defRPr/>
            </a:pPr>
            <a:fld id="{47B6616A-C4FF-49E2-A2BD-C1BE94A88A57}" type="slidenum">
              <a:rPr lang="en-US" altLang="zh-CN" smtClean="0">
                <a:solidFill>
                  <a:srgbClr val="545472"/>
                </a:solidFill>
              </a:rPr>
              <a:pPr>
                <a:defRPr/>
              </a:pPr>
              <a:t>4</a:t>
            </a:fld>
            <a:endParaRPr lang="en-US" altLang="zh-CN" dirty="0">
              <a:solidFill>
                <a:srgbClr val="545472"/>
              </a:solidFill>
            </a:endParaRPr>
          </a:p>
        </p:txBody>
      </p:sp>
      <p:pic>
        <p:nvPicPr>
          <p:cNvPr id="7" name="Picture 2" descr="C:\Users\zhaojun\Documents\picture\统计学家\马寅初.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83760" y="4006483"/>
            <a:ext cx="2160240" cy="2851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1"/>
          <p:cNvSpPr txBox="1">
            <a:spLocks noChangeArrowheads="1"/>
          </p:cNvSpPr>
          <p:nvPr/>
        </p:nvSpPr>
        <p:spPr bwMode="auto">
          <a:xfrm>
            <a:off x="7067746" y="6211669"/>
            <a:ext cx="207625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9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kumimoji="1" lang="zh-CN" altLang="en-US" sz="2000" dirty="0">
                <a:latin typeface="微软雅黑" pitchFamily="34" charset="-122"/>
                <a:ea typeface="微软雅黑" pitchFamily="34" charset="-122"/>
              </a:rPr>
              <a:t>马寅初</a:t>
            </a:r>
            <a:endParaRPr kumimoji="1" lang="en-US" altLang="zh-CN" sz="2000" dirty="0">
              <a:latin typeface="微软雅黑" pitchFamily="34" charset="-122"/>
              <a:ea typeface="微软雅黑" pitchFamily="34" charset="-122"/>
            </a:endParaRPr>
          </a:p>
          <a:p>
            <a:pPr algn="ctr" eaLnBrk="1" hangingPunct="1">
              <a:spcBef>
                <a:spcPct val="0"/>
              </a:spcBef>
              <a:buFontTx/>
              <a:buNone/>
            </a:pPr>
            <a:r>
              <a:rPr kumimoji="1" lang="en-US" altLang="zh-CN" sz="2000" dirty="0">
                <a:latin typeface="微软雅黑" pitchFamily="34" charset="-122"/>
                <a:ea typeface="微软雅黑" pitchFamily="34" charset="-122"/>
              </a:rPr>
              <a:t>(1882-1982)</a:t>
            </a:r>
            <a:endParaRPr kumimoji="1" lang="zh-CN" altLang="en-US" sz="2000" dirty="0">
              <a:latin typeface="微软雅黑" pitchFamily="34" charset="-122"/>
              <a:ea typeface="微软雅黑" pitchFamily="34" charset="-122"/>
            </a:endParaRPr>
          </a:p>
        </p:txBody>
      </p:sp>
    </p:spTree>
  </p:cSld>
  <p:clrMapOvr>
    <a:masterClrMapping/>
  </p:clrMapOvr>
  <p:transition>
    <p:wipe dir="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3" name="Rectangle 2"/>
          <p:cNvSpPr>
            <a:spLocks noGrp="1" noChangeArrowheads="1"/>
          </p:cNvSpPr>
          <p:nvPr>
            <p:ph idx="1"/>
          </p:nvPr>
        </p:nvSpPr>
        <p:spPr>
          <a:xfrm>
            <a:off x="395536" y="764704"/>
            <a:ext cx="7812087" cy="5616575"/>
          </a:xfrm>
          <a:noFill/>
        </p:spPr>
        <p:txBody>
          <a:bodyPr/>
          <a:lstStyle/>
          <a:p>
            <a:pPr eaLnBrk="1" hangingPunct="1">
              <a:lnSpc>
                <a:spcPct val="90000"/>
              </a:lnSpc>
              <a:spcBef>
                <a:spcPct val="15000"/>
              </a:spcBef>
            </a:pPr>
            <a:r>
              <a:rPr lang="zh-CN" altLang="en-US" sz="2400" dirty="0" smtClean="0">
                <a:solidFill>
                  <a:srgbClr val="000000"/>
                </a:solidFill>
              </a:rPr>
              <a:t>知识是我们已有的</a:t>
            </a:r>
          </a:p>
          <a:p>
            <a:pPr eaLnBrk="1" hangingPunct="1">
              <a:lnSpc>
                <a:spcPct val="90000"/>
              </a:lnSpc>
              <a:spcBef>
                <a:spcPct val="15000"/>
              </a:spcBef>
            </a:pPr>
            <a:r>
              <a:rPr lang="zh-CN" altLang="en-US" sz="2400" dirty="0" smtClean="0">
                <a:solidFill>
                  <a:srgbClr val="000000"/>
                </a:solidFill>
              </a:rPr>
              <a:t>也是我们未知的</a:t>
            </a:r>
          </a:p>
          <a:p>
            <a:pPr eaLnBrk="1" hangingPunct="1">
              <a:lnSpc>
                <a:spcPct val="90000"/>
              </a:lnSpc>
              <a:spcBef>
                <a:spcPct val="15000"/>
              </a:spcBef>
            </a:pPr>
            <a:r>
              <a:rPr lang="zh-CN" altLang="en-US" sz="2400" dirty="0" smtClean="0">
                <a:solidFill>
                  <a:srgbClr val="000000"/>
                </a:solidFill>
              </a:rPr>
              <a:t>基于已有知识之上</a:t>
            </a:r>
          </a:p>
          <a:p>
            <a:pPr eaLnBrk="1" hangingPunct="1">
              <a:lnSpc>
                <a:spcPct val="90000"/>
              </a:lnSpc>
              <a:spcBef>
                <a:spcPct val="15000"/>
              </a:spcBef>
            </a:pPr>
            <a:r>
              <a:rPr lang="zh-CN" altLang="en-US" sz="2400" dirty="0" smtClean="0">
                <a:solidFill>
                  <a:srgbClr val="000000"/>
                </a:solidFill>
              </a:rPr>
              <a:t>我们去发现未知的</a:t>
            </a:r>
          </a:p>
          <a:p>
            <a:pPr eaLnBrk="1" hangingPunct="1">
              <a:lnSpc>
                <a:spcPct val="90000"/>
              </a:lnSpc>
              <a:spcBef>
                <a:spcPct val="15000"/>
              </a:spcBef>
            </a:pPr>
            <a:r>
              <a:rPr lang="zh-CN" altLang="en-US" sz="2400" dirty="0" smtClean="0">
                <a:solidFill>
                  <a:srgbClr val="000000"/>
                </a:solidFill>
              </a:rPr>
              <a:t>由此知识得到扩充</a:t>
            </a:r>
          </a:p>
          <a:p>
            <a:pPr eaLnBrk="1" hangingPunct="1">
              <a:lnSpc>
                <a:spcPct val="90000"/>
              </a:lnSpc>
              <a:spcBef>
                <a:spcPct val="15000"/>
              </a:spcBef>
            </a:pPr>
            <a:r>
              <a:rPr lang="zh-CN" altLang="en-US" sz="2400" dirty="0" smtClean="0">
                <a:solidFill>
                  <a:srgbClr val="000000"/>
                </a:solidFill>
              </a:rPr>
              <a:t>我们获得的知识越多</a:t>
            </a:r>
          </a:p>
          <a:p>
            <a:pPr eaLnBrk="1" hangingPunct="1">
              <a:lnSpc>
                <a:spcPct val="90000"/>
              </a:lnSpc>
              <a:spcBef>
                <a:spcPct val="15000"/>
              </a:spcBef>
            </a:pPr>
            <a:r>
              <a:rPr lang="zh-CN" altLang="en-US" sz="2400" dirty="0" smtClean="0">
                <a:solidFill>
                  <a:srgbClr val="000000"/>
                </a:solidFill>
              </a:rPr>
              <a:t>未知的知识就会更多</a:t>
            </a:r>
          </a:p>
          <a:p>
            <a:pPr eaLnBrk="1" hangingPunct="1">
              <a:lnSpc>
                <a:spcPct val="90000"/>
              </a:lnSpc>
              <a:spcBef>
                <a:spcPct val="15000"/>
              </a:spcBef>
            </a:pPr>
            <a:r>
              <a:rPr lang="zh-CN" altLang="en-US" sz="2400" dirty="0" smtClean="0">
                <a:solidFill>
                  <a:srgbClr val="000000"/>
                </a:solidFill>
              </a:rPr>
              <a:t>因而知识的扩充永无止境</a:t>
            </a:r>
          </a:p>
          <a:p>
            <a:pPr eaLnBrk="1" hangingPunct="1">
              <a:lnSpc>
                <a:spcPct val="90000"/>
              </a:lnSpc>
              <a:spcBef>
                <a:spcPct val="15000"/>
              </a:spcBef>
            </a:pPr>
            <a:r>
              <a:rPr lang="zh-CN" altLang="en-US" sz="2400" dirty="0" smtClean="0">
                <a:solidFill>
                  <a:srgbClr val="FF00FF"/>
                </a:solidFill>
              </a:rPr>
              <a:t>在终极的分析中，一切知识都是历史</a:t>
            </a:r>
          </a:p>
          <a:p>
            <a:pPr eaLnBrk="1" hangingPunct="1">
              <a:lnSpc>
                <a:spcPct val="90000"/>
              </a:lnSpc>
              <a:spcBef>
                <a:spcPct val="15000"/>
              </a:spcBef>
            </a:pPr>
            <a:r>
              <a:rPr lang="zh-CN" altLang="en-US" sz="2400" dirty="0" smtClean="0">
                <a:solidFill>
                  <a:srgbClr val="FF00FF"/>
                </a:solidFill>
              </a:rPr>
              <a:t>在抽象的意义下，一切科学都是数学</a:t>
            </a:r>
          </a:p>
          <a:p>
            <a:pPr eaLnBrk="1" hangingPunct="1">
              <a:lnSpc>
                <a:spcPct val="90000"/>
              </a:lnSpc>
              <a:spcBef>
                <a:spcPct val="15000"/>
              </a:spcBef>
            </a:pPr>
            <a:r>
              <a:rPr lang="zh-CN" altLang="en-US" sz="2400" dirty="0" smtClean="0">
                <a:solidFill>
                  <a:srgbClr val="FF00FF"/>
                </a:solidFill>
              </a:rPr>
              <a:t>在理性的基础上，所有的判断都是统计学</a:t>
            </a:r>
            <a:r>
              <a:rPr lang="zh-CN" altLang="en-US" sz="1800" dirty="0" smtClean="0">
                <a:solidFill>
                  <a:srgbClr val="FF00FF"/>
                </a:solidFill>
              </a:rPr>
              <a:t>  </a:t>
            </a:r>
            <a:endParaRPr lang="en-US" altLang="zh-CN" sz="1800" dirty="0" smtClean="0">
              <a:solidFill>
                <a:srgbClr val="FF00FF"/>
              </a:solidFill>
            </a:endParaRPr>
          </a:p>
          <a:p>
            <a:pPr marR="26035" lvl="0">
              <a:buNone/>
              <a:defRPr/>
            </a:pPr>
            <a:r>
              <a:rPr lang="en-US" altLang="zh-CN" sz="1800" dirty="0" smtClean="0">
                <a:solidFill>
                  <a:srgbClr val="C00000"/>
                </a:solidFill>
              </a:rPr>
              <a:t>      All knowledge is, in the final analysis, history.</a:t>
            </a:r>
          </a:p>
          <a:p>
            <a:pPr marR="7620" lvl="0">
              <a:buNone/>
              <a:defRPr/>
            </a:pPr>
            <a:r>
              <a:rPr lang="en-US" altLang="zh-CN" sz="1800" dirty="0" smtClean="0">
                <a:solidFill>
                  <a:srgbClr val="C00000"/>
                </a:solidFill>
              </a:rPr>
              <a:t>      All sciences are, in the abstract, mathematics.</a:t>
            </a:r>
          </a:p>
          <a:p>
            <a:pPr marR="93345" lvl="0">
              <a:buNone/>
              <a:defRPr/>
            </a:pPr>
            <a:r>
              <a:rPr lang="en-US" altLang="zh-CN" sz="1800" dirty="0" smtClean="0">
                <a:solidFill>
                  <a:srgbClr val="C00000"/>
                </a:solidFill>
              </a:rPr>
              <a:t>      I venture to add:</a:t>
            </a:r>
          </a:p>
          <a:p>
            <a:pPr marR="24765" lvl="0">
              <a:buNone/>
              <a:defRPr/>
            </a:pPr>
            <a:r>
              <a:rPr lang="en-US" altLang="zh-CN" sz="1800" dirty="0" smtClean="0">
                <a:solidFill>
                  <a:srgbClr val="C00000"/>
                </a:solidFill>
              </a:rPr>
              <a:t>      All methods of acquiring knowledge are statistics.</a:t>
            </a:r>
          </a:p>
          <a:p>
            <a:pPr lvl="4" eaLnBrk="1" hangingPunct="1">
              <a:lnSpc>
                <a:spcPct val="90000"/>
              </a:lnSpc>
              <a:spcBef>
                <a:spcPct val="15000"/>
              </a:spcBef>
              <a:buFontTx/>
              <a:buNone/>
            </a:pPr>
            <a:r>
              <a:rPr lang="zh-CN" altLang="en-US" sz="1400" dirty="0" smtClean="0"/>
              <a:t>        </a:t>
            </a:r>
            <a:r>
              <a:rPr lang="en-US" altLang="zh-CN" sz="2200" dirty="0" smtClean="0">
                <a:solidFill>
                  <a:schemeClr val="tx2"/>
                </a:solidFill>
                <a:latin typeface="Arial" charset="0"/>
              </a:rPr>
              <a:t>——</a:t>
            </a:r>
            <a:r>
              <a:rPr lang="en-US" altLang="zh-CN" sz="2200" dirty="0" smtClean="0">
                <a:solidFill>
                  <a:schemeClr val="tx2"/>
                </a:solidFill>
              </a:rPr>
              <a:t>《</a:t>
            </a:r>
            <a:r>
              <a:rPr lang="zh-CN" altLang="en-US" sz="2200" dirty="0" smtClean="0">
                <a:solidFill>
                  <a:schemeClr val="tx2"/>
                </a:solidFill>
              </a:rPr>
              <a:t>统计与真理</a:t>
            </a:r>
            <a:r>
              <a:rPr lang="en-US" altLang="zh-CN" sz="2200" dirty="0" smtClean="0">
                <a:solidFill>
                  <a:schemeClr val="tx2"/>
                </a:solidFill>
                <a:latin typeface="Arial" charset="0"/>
              </a:rPr>
              <a:t>—</a:t>
            </a:r>
            <a:r>
              <a:rPr lang="zh-CN" altLang="en-US" sz="2200" dirty="0" smtClean="0">
                <a:solidFill>
                  <a:schemeClr val="tx2"/>
                </a:solidFill>
              </a:rPr>
              <a:t>怎样运用偶然性</a:t>
            </a:r>
            <a:r>
              <a:rPr lang="en-US" altLang="zh-CN" sz="2200" dirty="0" smtClean="0">
                <a:solidFill>
                  <a:schemeClr val="tx2"/>
                </a:solidFill>
              </a:rPr>
              <a:t>》</a:t>
            </a:r>
            <a:r>
              <a:rPr lang="zh-CN" altLang="en-US" sz="2200" dirty="0" smtClean="0">
                <a:solidFill>
                  <a:schemeClr val="tx2"/>
                </a:solidFill>
              </a:rPr>
              <a:t>扉页</a:t>
            </a:r>
          </a:p>
        </p:txBody>
      </p:sp>
      <p:pic>
        <p:nvPicPr>
          <p:cNvPr id="138" name="Picture 2" descr="C:\Users\zhaojun\Documents\picture\统计学家\统计与真理.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48265" y="332656"/>
            <a:ext cx="2195736" cy="2880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9" name="Picture 3" descr="C:\Users\zhaojun\Documents\picture\统计学家\CR Rao.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88024" y="332656"/>
            <a:ext cx="2160240" cy="289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0" name="文本框 4"/>
          <p:cNvSpPr txBox="1"/>
          <p:nvPr/>
        </p:nvSpPr>
        <p:spPr>
          <a:xfrm>
            <a:off x="5481654" y="3140968"/>
            <a:ext cx="1314784" cy="738664"/>
          </a:xfrm>
          <a:prstGeom prst="rect">
            <a:avLst/>
          </a:prstGeom>
          <a:noFill/>
        </p:spPr>
        <p:txBody>
          <a:bodyPr wrap="none" rtlCol="0">
            <a:spAutoFit/>
          </a:bodyPr>
          <a:lstStyle/>
          <a:p>
            <a:pPr algn="ctr">
              <a:lnSpc>
                <a:spcPct val="100000"/>
              </a:lnSpc>
              <a:spcBef>
                <a:spcPts val="0"/>
              </a:spcBef>
              <a:buNone/>
            </a:pPr>
            <a:r>
              <a:rPr lang="en-US" altLang="zh-CN" sz="2400" dirty="0" smtClean="0">
                <a:solidFill>
                  <a:srgbClr val="FF0000"/>
                </a:solidFill>
              </a:rPr>
              <a:t>C.R.Rao</a:t>
            </a:r>
          </a:p>
          <a:p>
            <a:pPr algn="ctr">
              <a:lnSpc>
                <a:spcPct val="100000"/>
              </a:lnSpc>
              <a:spcBef>
                <a:spcPts val="0"/>
              </a:spcBef>
              <a:buNone/>
            </a:pPr>
            <a:r>
              <a:rPr lang="en-US" altLang="zh-CN" sz="1800" b="0" dirty="0" smtClean="0">
                <a:solidFill>
                  <a:srgbClr val="C00000"/>
                </a:solidFill>
              </a:rPr>
              <a:t>(1920.9.10)</a:t>
            </a:r>
            <a:endParaRPr lang="zh-CN" altLang="en-US" sz="1800" b="0" dirty="0">
              <a:solidFill>
                <a:srgbClr val="C00000"/>
              </a:solidFill>
            </a:endParaRPr>
          </a:p>
        </p:txBody>
      </p:sp>
      <p:sp>
        <p:nvSpPr>
          <p:cNvPr id="6" name="灯片编号占位符 5"/>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5</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683568" y="404664"/>
            <a:ext cx="7772400" cy="729952"/>
          </a:xfrm>
        </p:spPr>
        <p:txBody>
          <a:bodyPr/>
          <a:lstStyle/>
          <a:p>
            <a:pPr rtl="0" eaLnBrk="0" fontAlgn="base" hangingPunct="0"/>
            <a:r>
              <a:rPr lang="zh-CN" altLang="zh-CN" sz="2800" b="1" dirty="0" smtClean="0">
                <a:solidFill>
                  <a:srgbClr val="C00000"/>
                </a:solidFill>
                <a:latin typeface="黑体" pitchFamily="49" charset="-122"/>
                <a:ea typeface="黑体" pitchFamily="49" charset="-122"/>
                <a:cs typeface="+mn-cs"/>
              </a:rPr>
              <a:t>中国国内生产总值</a:t>
            </a:r>
            <a:r>
              <a:rPr lang="zh-CN" altLang="en-US" sz="2800" b="1" dirty="0" smtClean="0">
                <a:solidFill>
                  <a:srgbClr val="C00000"/>
                </a:solidFill>
                <a:latin typeface="黑体" pitchFamily="49" charset="-122"/>
                <a:ea typeface="黑体" pitchFamily="49" charset="-122"/>
                <a:cs typeface="+mn-cs"/>
              </a:rPr>
              <a:t>及其增长速度</a:t>
            </a:r>
            <a:endParaRPr lang="zh-CN" altLang="en-US" sz="2800" dirty="0">
              <a:solidFill>
                <a:srgbClr val="C00000"/>
              </a:solidFill>
              <a:latin typeface="黑体" pitchFamily="49" charset="-122"/>
              <a:ea typeface="黑体" pitchFamily="49" charset="-122"/>
            </a:endParaRPr>
          </a:p>
        </p:txBody>
      </p:sp>
      <p:sp>
        <p:nvSpPr>
          <p:cNvPr id="10" name="灯片编号占位符 9"/>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6</a:t>
            </a:fld>
            <a:endParaRPr lang="en-US" altLang="zh-CN" dirty="0">
              <a:solidFill>
                <a:srgbClr val="545472"/>
              </a:solidFill>
            </a:endParaRPr>
          </a:p>
        </p:txBody>
      </p:sp>
      <p:pic>
        <p:nvPicPr>
          <p:cNvPr id="3" name="图片 2"/>
          <p:cNvPicPr>
            <a:picLocks noChangeAspect="1"/>
          </p:cNvPicPr>
          <p:nvPr/>
        </p:nvPicPr>
        <p:blipFill>
          <a:blip r:embed="rId3"/>
          <a:stretch>
            <a:fillRect/>
          </a:stretch>
        </p:blipFill>
        <p:spPr>
          <a:xfrm>
            <a:off x="25652" y="1133100"/>
            <a:ext cx="8229743" cy="5105728"/>
          </a:xfrm>
          <a:prstGeom prst="rect">
            <a:avLst/>
          </a:prstGeom>
        </p:spPr>
      </p:pic>
      <p:graphicFrame>
        <p:nvGraphicFramePr>
          <p:cNvPr id="7" name="表格 6"/>
          <p:cNvGraphicFramePr>
            <a:graphicFrameLocks noGrp="1"/>
          </p:cNvGraphicFramePr>
          <p:nvPr>
            <p:extLst>
              <p:ext uri="{D42A27DB-BD31-4B8C-83A1-F6EECF244321}">
                <p14:modId xmlns:p14="http://schemas.microsoft.com/office/powerpoint/2010/main" val="3327626104"/>
              </p:ext>
            </p:extLst>
          </p:nvPr>
        </p:nvGraphicFramePr>
        <p:xfrm>
          <a:off x="7559824" y="5302628"/>
          <a:ext cx="1584176" cy="1555372"/>
        </p:xfrm>
        <a:graphic>
          <a:graphicData uri="http://schemas.openxmlformats.org/drawingml/2006/table">
            <a:tbl>
              <a:tblPr/>
              <a:tblGrid>
                <a:gridCol w="752876">
                  <a:extLst>
                    <a:ext uri="{9D8B030D-6E8A-4147-A177-3AD203B41FA5}">
                      <a16:colId xmlns:a16="http://schemas.microsoft.com/office/drawing/2014/main" val="20000"/>
                    </a:ext>
                  </a:extLst>
                </a:gridCol>
                <a:gridCol w="831300">
                  <a:extLst>
                    <a:ext uri="{9D8B030D-6E8A-4147-A177-3AD203B41FA5}">
                      <a16:colId xmlns:a16="http://schemas.microsoft.com/office/drawing/2014/main" val="20001"/>
                    </a:ext>
                  </a:extLst>
                </a:gridCol>
              </a:tblGrid>
              <a:tr h="388843">
                <a:tc>
                  <a:txBody>
                    <a:bodyPr/>
                    <a:lstStyle/>
                    <a:p>
                      <a:pPr algn="r" fontAlgn="ctr"/>
                      <a:r>
                        <a:rPr lang="en-US" altLang="zh-CN" sz="1600" b="1" i="0" u="none" strike="noStrike" dirty="0">
                          <a:solidFill>
                            <a:srgbClr val="000000"/>
                          </a:solidFill>
                          <a:latin typeface="Arial"/>
                        </a:rPr>
                        <a:t>2010</a:t>
                      </a:r>
                      <a:r>
                        <a:rPr lang="zh-CN" altLang="en-US" sz="1600" b="1" i="0" u="none" strike="noStrike" dirty="0">
                          <a:solidFill>
                            <a:srgbClr val="000000"/>
                          </a:solidFill>
                          <a:latin typeface="Arial"/>
                        </a:rPr>
                        <a:t>年</a:t>
                      </a:r>
                    </a:p>
                  </a:txBody>
                  <a:tcPr marL="7620" marR="7620" marT="7620" marB="0" anchor="ctr">
                    <a:lnL w="12700" cap="flat" cmpd="sng" algn="ctr">
                      <a:solidFill>
                        <a:schemeClr val="tx1"/>
                      </a:solidFill>
                      <a:prstDash val="solid"/>
                      <a:round/>
                      <a:headEnd type="none" w="med" len="med"/>
                      <a:tailEnd type="none" w="med" len="med"/>
                    </a:lnL>
                    <a:lnR>
                      <a:noFill/>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chemeClr val="accent5"/>
                    </a:solidFill>
                  </a:tcPr>
                </a:tc>
                <a:tc>
                  <a:txBody>
                    <a:bodyPr/>
                    <a:lstStyle/>
                    <a:p>
                      <a:pPr algn="r" fontAlgn="ctr"/>
                      <a:r>
                        <a:rPr lang="en-US" altLang="zh-CN" sz="1600" b="1" i="0" u="none" strike="noStrike" dirty="0">
                          <a:solidFill>
                            <a:srgbClr val="000000"/>
                          </a:solidFill>
                          <a:latin typeface="Arial"/>
                        </a:rPr>
                        <a:t>412119 </a:t>
                      </a:r>
                    </a:p>
                  </a:txBody>
                  <a:tcPr marL="7620" marR="7620" marT="7620" marB="0" anchor="ctr">
                    <a:lnL>
                      <a:noFill/>
                    </a:lnL>
                    <a:lnR w="12700" cap="flat" cmpd="sng" algn="ctr">
                      <a:solidFill>
                        <a:schemeClr val="tx1"/>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chemeClr val="accent5"/>
                    </a:solidFill>
                  </a:tcPr>
                </a:tc>
                <a:extLst>
                  <a:ext uri="{0D108BD9-81ED-4DB2-BD59-A6C34878D82A}">
                    <a16:rowId xmlns:a16="http://schemas.microsoft.com/office/drawing/2014/main" val="10000"/>
                  </a:ext>
                </a:extLst>
              </a:tr>
              <a:tr h="388843">
                <a:tc>
                  <a:txBody>
                    <a:bodyPr/>
                    <a:lstStyle/>
                    <a:p>
                      <a:pPr algn="r" fontAlgn="ctr"/>
                      <a:r>
                        <a:rPr lang="en-US" altLang="zh-CN" sz="1600" b="1" i="0" u="none" strike="noStrike">
                          <a:solidFill>
                            <a:srgbClr val="000000"/>
                          </a:solidFill>
                          <a:latin typeface="Arial"/>
                        </a:rPr>
                        <a:t>2000</a:t>
                      </a:r>
                      <a:r>
                        <a:rPr lang="zh-CN" altLang="en-US" sz="1600" b="1" i="0" u="none" strike="noStrike">
                          <a:solidFill>
                            <a:srgbClr val="000000"/>
                          </a:solidFill>
                          <a:latin typeface="Arial"/>
                        </a:rPr>
                        <a:t>年</a:t>
                      </a:r>
                    </a:p>
                  </a:txBody>
                  <a:tcPr marL="7620" marR="7620" marT="7620" marB="0" anchor="ctr">
                    <a:lnL w="12700" cap="flat" cmpd="sng" algn="ctr">
                      <a:solidFill>
                        <a:schemeClr val="tx1"/>
                      </a:solidFill>
                      <a:prstDash val="solid"/>
                      <a:round/>
                      <a:headEnd type="none" w="med" len="med"/>
                      <a:tailEnd type="none" w="med" len="med"/>
                    </a:lnL>
                    <a:lnR>
                      <a:noFill/>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chemeClr val="accent5"/>
                    </a:solidFill>
                  </a:tcPr>
                </a:tc>
                <a:tc>
                  <a:txBody>
                    <a:bodyPr/>
                    <a:lstStyle/>
                    <a:p>
                      <a:pPr algn="r" fontAlgn="ctr"/>
                      <a:r>
                        <a:rPr lang="en-US" altLang="zh-CN" sz="1600" b="1" i="0" u="none" strike="noStrike" dirty="0">
                          <a:solidFill>
                            <a:srgbClr val="000000"/>
                          </a:solidFill>
                          <a:latin typeface="Arial"/>
                        </a:rPr>
                        <a:t>100280 </a:t>
                      </a:r>
                    </a:p>
                  </a:txBody>
                  <a:tcPr marL="7620" marR="7620" marT="7620" marB="0" anchor="ctr">
                    <a:lnL>
                      <a:noFill/>
                    </a:lnL>
                    <a:lnR w="12700" cap="flat" cmpd="sng" algn="ctr">
                      <a:solidFill>
                        <a:schemeClr val="tx1"/>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chemeClr val="accent5"/>
                    </a:solidFill>
                  </a:tcPr>
                </a:tc>
                <a:extLst>
                  <a:ext uri="{0D108BD9-81ED-4DB2-BD59-A6C34878D82A}">
                    <a16:rowId xmlns:a16="http://schemas.microsoft.com/office/drawing/2014/main" val="10001"/>
                  </a:ext>
                </a:extLst>
              </a:tr>
              <a:tr h="388843">
                <a:tc>
                  <a:txBody>
                    <a:bodyPr/>
                    <a:lstStyle/>
                    <a:p>
                      <a:pPr algn="r" fontAlgn="ctr"/>
                      <a:r>
                        <a:rPr lang="en-US" altLang="zh-CN" sz="1600" b="1" i="0" u="none" strike="noStrike">
                          <a:solidFill>
                            <a:srgbClr val="000000"/>
                          </a:solidFill>
                          <a:latin typeface="Arial"/>
                        </a:rPr>
                        <a:t>1986</a:t>
                      </a:r>
                      <a:r>
                        <a:rPr lang="zh-CN" altLang="en-US" sz="1600" b="1" i="0" u="none" strike="noStrike">
                          <a:solidFill>
                            <a:srgbClr val="000000"/>
                          </a:solidFill>
                          <a:latin typeface="Arial"/>
                        </a:rPr>
                        <a:t>年</a:t>
                      </a:r>
                    </a:p>
                  </a:txBody>
                  <a:tcPr marL="7620" marR="7620" marT="7620" marB="0" anchor="ctr">
                    <a:lnL w="12700" cap="flat" cmpd="sng" algn="ctr">
                      <a:solidFill>
                        <a:schemeClr val="tx1"/>
                      </a:solidFill>
                      <a:prstDash val="solid"/>
                      <a:round/>
                      <a:headEnd type="none" w="med" len="med"/>
                      <a:tailEnd type="none" w="med" len="med"/>
                    </a:lnL>
                    <a:lnR>
                      <a:noFill/>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chemeClr val="accent5"/>
                    </a:solidFill>
                  </a:tcPr>
                </a:tc>
                <a:tc>
                  <a:txBody>
                    <a:bodyPr/>
                    <a:lstStyle/>
                    <a:p>
                      <a:pPr algn="r" fontAlgn="ctr"/>
                      <a:r>
                        <a:rPr lang="en-US" altLang="zh-CN" sz="1600" b="1" i="0" u="none" strike="noStrike" dirty="0">
                          <a:solidFill>
                            <a:srgbClr val="000000"/>
                          </a:solidFill>
                          <a:latin typeface="Arial"/>
                        </a:rPr>
                        <a:t>10376 </a:t>
                      </a:r>
                    </a:p>
                  </a:txBody>
                  <a:tcPr marL="7620" marR="7620" marT="7620" marB="0" anchor="ctr">
                    <a:lnL>
                      <a:noFill/>
                    </a:lnL>
                    <a:lnR w="12700" cap="flat" cmpd="sng" algn="ctr">
                      <a:solidFill>
                        <a:schemeClr val="tx1"/>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rgbClr val="E3E3E3"/>
                      </a:solidFill>
                      <a:prstDash val="solid"/>
                      <a:round/>
                      <a:headEnd type="none" w="med" len="med"/>
                      <a:tailEnd type="none" w="med" len="med"/>
                    </a:lnB>
                    <a:solidFill>
                      <a:schemeClr val="accent5"/>
                    </a:solidFill>
                  </a:tcPr>
                </a:tc>
                <a:extLst>
                  <a:ext uri="{0D108BD9-81ED-4DB2-BD59-A6C34878D82A}">
                    <a16:rowId xmlns:a16="http://schemas.microsoft.com/office/drawing/2014/main" val="10002"/>
                  </a:ext>
                </a:extLst>
              </a:tr>
              <a:tr h="388843">
                <a:tc>
                  <a:txBody>
                    <a:bodyPr/>
                    <a:lstStyle/>
                    <a:p>
                      <a:pPr algn="r" fontAlgn="ctr"/>
                      <a:r>
                        <a:rPr lang="en-US" altLang="zh-CN" sz="1600" b="1" i="0" u="none" strike="noStrike" dirty="0">
                          <a:solidFill>
                            <a:srgbClr val="000000"/>
                          </a:solidFill>
                          <a:latin typeface="Arial"/>
                        </a:rPr>
                        <a:t>1952</a:t>
                      </a:r>
                      <a:r>
                        <a:rPr lang="zh-CN" altLang="en-US" sz="1600" b="1" i="0" u="none" strike="noStrike" dirty="0">
                          <a:solidFill>
                            <a:srgbClr val="000000"/>
                          </a:solidFill>
                          <a:latin typeface="Arial"/>
                        </a:rPr>
                        <a:t>年</a:t>
                      </a:r>
                    </a:p>
                  </a:txBody>
                  <a:tcPr marL="7620" marR="7620" marT="7620" marB="0" anchor="ctr">
                    <a:lnL w="12700" cap="flat" cmpd="sng" algn="ctr">
                      <a:solidFill>
                        <a:schemeClr val="tx1"/>
                      </a:solidFill>
                      <a:prstDash val="solid"/>
                      <a:round/>
                      <a:headEnd type="none" w="med" len="med"/>
                      <a:tailEnd type="none" w="med" len="med"/>
                    </a:lnL>
                    <a:lnR>
                      <a:noFill/>
                    </a:lnR>
                    <a:lnT w="12700" cap="flat" cmpd="sng" algn="ctr">
                      <a:solidFill>
                        <a:srgbClr val="E3E3E3"/>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tc>
                  <a:txBody>
                    <a:bodyPr/>
                    <a:lstStyle/>
                    <a:p>
                      <a:pPr algn="r" fontAlgn="ctr"/>
                      <a:r>
                        <a:rPr lang="en-US" altLang="zh-CN" sz="1600" b="1" i="0" u="none" strike="noStrike" dirty="0">
                          <a:solidFill>
                            <a:srgbClr val="000000"/>
                          </a:solidFill>
                          <a:latin typeface="Arial"/>
                        </a:rPr>
                        <a:t>679 </a:t>
                      </a:r>
                    </a:p>
                  </a:txBody>
                  <a:tcPr marL="7620" marR="7620" marT="7620" marB="0" anchor="ctr">
                    <a:lnL>
                      <a:noFill/>
                    </a:lnL>
                    <a:lnR w="12700" cap="flat" cmpd="sng" algn="ctr">
                      <a:solidFill>
                        <a:schemeClr val="tx1"/>
                      </a:solidFill>
                      <a:prstDash val="solid"/>
                      <a:round/>
                      <a:headEnd type="none" w="med" len="med"/>
                      <a:tailEnd type="none" w="med" len="med"/>
                    </a:lnR>
                    <a:lnT w="12700" cap="flat" cmpd="sng" algn="ctr">
                      <a:solidFill>
                        <a:srgbClr val="E3E3E3"/>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10003"/>
                  </a:ext>
                </a:extLst>
              </a:tr>
            </a:tbl>
          </a:graphicData>
        </a:graphic>
      </p:graphicFrame>
    </p:spTree>
  </p:cSld>
  <p:clrMapOvr>
    <a:masterClrMapping/>
  </p:clrMapOvr>
  <p:transition>
    <p:wipe dir="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683568" y="581487"/>
            <a:ext cx="8280920" cy="867930"/>
          </a:xfrm>
          <a:prstGeom prst="rect">
            <a:avLst/>
          </a:prstGeom>
        </p:spPr>
        <p:txBody>
          <a:bodyPr wrap="square">
            <a:spAutoFit/>
          </a:bodyPr>
          <a:lstStyle/>
          <a:p>
            <a:r>
              <a:rPr lang="en-US" altLang="zh-CN" dirty="0">
                <a:solidFill>
                  <a:srgbClr val="FF0000"/>
                </a:solidFill>
              </a:rPr>
              <a:t>2023</a:t>
            </a:r>
            <a:r>
              <a:rPr lang="zh-CN" altLang="en-US" dirty="0">
                <a:solidFill>
                  <a:srgbClr val="FF0000"/>
                </a:solidFill>
              </a:rPr>
              <a:t>年国民经济回升向好 高质量发展扎实推进</a:t>
            </a:r>
          </a:p>
          <a:p>
            <a:pPr algn="ctr">
              <a:buNone/>
            </a:pPr>
            <a:r>
              <a:rPr lang="zh-CN" altLang="en-US" sz="2400" dirty="0" smtClean="0"/>
              <a:t>国家统计局 </a:t>
            </a:r>
            <a:r>
              <a:rPr lang="en-US" altLang="zh-CN" sz="2400" b="0" dirty="0" smtClean="0"/>
              <a:t>2024/01/17 </a:t>
            </a:r>
            <a:endParaRPr lang="zh-CN" altLang="en-US" sz="2400" b="0" dirty="0"/>
          </a:p>
        </p:txBody>
      </p:sp>
      <p:sp>
        <p:nvSpPr>
          <p:cNvPr id="4" name="矩形 3"/>
          <p:cNvSpPr/>
          <p:nvPr/>
        </p:nvSpPr>
        <p:spPr>
          <a:xfrm>
            <a:off x="323528" y="1445815"/>
            <a:ext cx="8568952" cy="5078313"/>
          </a:xfrm>
          <a:prstGeom prst="rect">
            <a:avLst/>
          </a:prstGeom>
        </p:spPr>
        <p:txBody>
          <a:bodyPr wrap="square">
            <a:spAutoFit/>
          </a:bodyPr>
          <a:lstStyle/>
          <a:p>
            <a:pPr>
              <a:lnSpc>
                <a:spcPct val="100000"/>
              </a:lnSpc>
              <a:spcBef>
                <a:spcPts val="0"/>
              </a:spcBef>
              <a:buNone/>
            </a:pPr>
            <a:r>
              <a:rPr lang="en-US" altLang="zh-CN" sz="1800" b="0" dirty="0"/>
              <a:t>2023</a:t>
            </a:r>
            <a:r>
              <a:rPr lang="zh-CN" altLang="en-US" sz="1800" b="0" dirty="0"/>
              <a:t>年，我国顶住外部压力、克服内部困难，国民经济回升向</a:t>
            </a:r>
            <a:r>
              <a:rPr lang="zh-CN" altLang="en-US" sz="1800" b="0" dirty="0" smtClean="0"/>
              <a:t>好</a:t>
            </a:r>
            <a:r>
              <a:rPr lang="en-US" altLang="zh-CN" sz="1800" b="0" dirty="0" smtClean="0"/>
              <a:t>……</a:t>
            </a:r>
            <a:r>
              <a:rPr lang="zh-CN" altLang="en-US" sz="1800" b="0" dirty="0" smtClean="0"/>
              <a:t>主要</a:t>
            </a:r>
            <a:r>
              <a:rPr lang="zh-CN" altLang="en-US" sz="1800" b="0" dirty="0"/>
              <a:t>预期目标圆满实现</a:t>
            </a:r>
            <a:r>
              <a:rPr lang="zh-CN" altLang="en-US" sz="1800" b="0" dirty="0" smtClean="0"/>
              <a:t>。</a:t>
            </a:r>
            <a:endParaRPr lang="zh-CN" altLang="en-US" sz="1800" b="0" dirty="0"/>
          </a:p>
          <a:p>
            <a:pPr>
              <a:lnSpc>
                <a:spcPct val="100000"/>
              </a:lnSpc>
              <a:spcBef>
                <a:spcPts val="0"/>
              </a:spcBef>
            </a:pPr>
            <a:r>
              <a:rPr lang="zh-CN" altLang="en-US" sz="2400" b="0" dirty="0" smtClean="0">
                <a:solidFill>
                  <a:srgbClr val="000000"/>
                </a:solidFill>
                <a:latin typeface="黑体" panose="02010609060101010101" pitchFamily="49" charset="-122"/>
                <a:ea typeface="黑体" panose="02010609060101010101" pitchFamily="49" charset="-122"/>
              </a:rPr>
              <a:t>初步</a:t>
            </a:r>
            <a:r>
              <a:rPr lang="zh-CN" altLang="en-US" sz="2400" b="0" dirty="0">
                <a:solidFill>
                  <a:srgbClr val="000000"/>
                </a:solidFill>
                <a:latin typeface="黑体" panose="02010609060101010101" pitchFamily="49" charset="-122"/>
                <a:ea typeface="黑体" panose="02010609060101010101" pitchFamily="49" charset="-122"/>
              </a:rPr>
              <a:t>核算，全年国内生产总值</a:t>
            </a:r>
            <a:r>
              <a:rPr lang="en-US" altLang="zh-CN" sz="2400" b="0" dirty="0">
                <a:solidFill>
                  <a:srgbClr val="000000"/>
                </a:solidFill>
                <a:latin typeface="黑体" panose="02010609060101010101" pitchFamily="49" charset="-122"/>
                <a:ea typeface="黑体" panose="02010609060101010101" pitchFamily="49" charset="-122"/>
              </a:rPr>
              <a:t>1260582</a:t>
            </a:r>
            <a:r>
              <a:rPr lang="zh-CN" altLang="en-US" sz="2400" b="0" dirty="0">
                <a:solidFill>
                  <a:srgbClr val="000000"/>
                </a:solidFill>
                <a:latin typeface="黑体" panose="02010609060101010101" pitchFamily="49" charset="-122"/>
                <a:ea typeface="黑体" panose="02010609060101010101" pitchFamily="49" charset="-122"/>
              </a:rPr>
              <a:t>亿元，按不变价格计算，比上年增长</a:t>
            </a:r>
            <a:r>
              <a:rPr lang="en-US" altLang="zh-CN" sz="2400" b="0" dirty="0">
                <a:solidFill>
                  <a:srgbClr val="000000"/>
                </a:solidFill>
                <a:latin typeface="黑体" panose="02010609060101010101" pitchFamily="49" charset="-122"/>
                <a:ea typeface="黑体" panose="02010609060101010101" pitchFamily="49" charset="-122"/>
              </a:rPr>
              <a:t>5.2%</a:t>
            </a:r>
            <a:r>
              <a:rPr lang="zh-CN" altLang="en-US" sz="2400" b="0" dirty="0">
                <a:latin typeface="黑体" panose="02010609060101010101" pitchFamily="49" charset="-122"/>
                <a:ea typeface="黑体" panose="02010609060101010101" pitchFamily="49" charset="-122"/>
              </a:rPr>
              <a:t>。</a:t>
            </a:r>
          </a:p>
          <a:p>
            <a:pPr indent="174625">
              <a:lnSpc>
                <a:spcPct val="100000"/>
              </a:lnSpc>
              <a:spcBef>
                <a:spcPts val="0"/>
              </a:spcBef>
              <a:buNone/>
            </a:pPr>
            <a:r>
              <a:rPr lang="zh-CN" altLang="en-US" sz="2400" dirty="0" smtClean="0">
                <a:solidFill>
                  <a:srgbClr val="000000"/>
                </a:solidFill>
              </a:rPr>
              <a:t>一</a:t>
            </a:r>
            <a:r>
              <a:rPr lang="zh-CN" altLang="en-US" sz="2400" dirty="0">
                <a:solidFill>
                  <a:srgbClr val="000000"/>
                </a:solidFill>
              </a:rPr>
              <a:t>、粮食产量再创新高，畜牧业生产稳定</a:t>
            </a:r>
            <a:r>
              <a:rPr lang="zh-CN" altLang="en-US" sz="2400" dirty="0" smtClean="0">
                <a:solidFill>
                  <a:srgbClr val="000000"/>
                </a:solidFill>
              </a:rPr>
              <a:t>增长</a:t>
            </a:r>
            <a:endParaRPr lang="en-US" altLang="zh-CN" sz="2400" dirty="0" smtClean="0">
              <a:solidFill>
                <a:srgbClr val="000000"/>
              </a:solidFill>
            </a:endParaRPr>
          </a:p>
          <a:p>
            <a:pPr indent="174625">
              <a:lnSpc>
                <a:spcPct val="100000"/>
              </a:lnSpc>
              <a:spcBef>
                <a:spcPts val="0"/>
              </a:spcBef>
              <a:buNone/>
            </a:pPr>
            <a:r>
              <a:rPr lang="zh-CN" altLang="en-US" sz="2400" dirty="0">
                <a:solidFill>
                  <a:srgbClr val="000000"/>
                </a:solidFill>
              </a:rPr>
              <a:t>二、工业生产稳步回升，装备制造业增长较</a:t>
            </a:r>
            <a:r>
              <a:rPr lang="zh-CN" altLang="en-US" sz="2400" dirty="0" smtClean="0">
                <a:solidFill>
                  <a:srgbClr val="000000"/>
                </a:solidFill>
              </a:rPr>
              <a:t>快</a:t>
            </a:r>
            <a:endParaRPr lang="en-US" altLang="zh-CN" sz="2400" dirty="0" smtClean="0">
              <a:solidFill>
                <a:srgbClr val="000000"/>
              </a:solidFill>
            </a:endParaRPr>
          </a:p>
          <a:p>
            <a:pPr indent="174625">
              <a:lnSpc>
                <a:spcPct val="100000"/>
              </a:lnSpc>
              <a:spcBef>
                <a:spcPts val="0"/>
              </a:spcBef>
              <a:buNone/>
            </a:pPr>
            <a:r>
              <a:rPr lang="zh-CN" altLang="en-US" sz="2400" dirty="0">
                <a:solidFill>
                  <a:srgbClr val="000000"/>
                </a:solidFill>
              </a:rPr>
              <a:t>三、服务业增长较快，接触型聚集型服务业明显</a:t>
            </a:r>
            <a:r>
              <a:rPr lang="zh-CN" altLang="en-US" sz="2400" dirty="0" smtClean="0">
                <a:solidFill>
                  <a:srgbClr val="000000"/>
                </a:solidFill>
              </a:rPr>
              <a:t>改善</a:t>
            </a:r>
            <a:endParaRPr lang="en-US" altLang="zh-CN" sz="2400" dirty="0" smtClean="0">
              <a:solidFill>
                <a:srgbClr val="000000"/>
              </a:solidFill>
            </a:endParaRPr>
          </a:p>
          <a:p>
            <a:pPr indent="174625">
              <a:lnSpc>
                <a:spcPct val="100000"/>
              </a:lnSpc>
              <a:spcBef>
                <a:spcPts val="0"/>
              </a:spcBef>
              <a:buNone/>
            </a:pPr>
            <a:r>
              <a:rPr lang="zh-CN" altLang="en-US" sz="2400" dirty="0">
                <a:solidFill>
                  <a:srgbClr val="000000"/>
                </a:solidFill>
              </a:rPr>
              <a:t>四、市场销售较快恢复，服务消费快速</a:t>
            </a:r>
            <a:r>
              <a:rPr lang="zh-CN" altLang="en-US" sz="2400" dirty="0" smtClean="0">
                <a:solidFill>
                  <a:srgbClr val="000000"/>
                </a:solidFill>
              </a:rPr>
              <a:t>增长</a:t>
            </a:r>
            <a:endParaRPr lang="en-US" altLang="zh-CN" sz="2400" dirty="0" smtClean="0">
              <a:solidFill>
                <a:srgbClr val="000000"/>
              </a:solidFill>
            </a:endParaRPr>
          </a:p>
          <a:p>
            <a:pPr indent="174625">
              <a:lnSpc>
                <a:spcPct val="100000"/>
              </a:lnSpc>
              <a:spcBef>
                <a:spcPts val="0"/>
              </a:spcBef>
              <a:buNone/>
            </a:pPr>
            <a:r>
              <a:rPr lang="zh-CN" altLang="en-US" sz="2400" dirty="0">
                <a:solidFill>
                  <a:srgbClr val="000000"/>
                </a:solidFill>
              </a:rPr>
              <a:t>五、固定资产投资规模增加，高技术产业投资增势</a:t>
            </a:r>
            <a:r>
              <a:rPr lang="zh-CN" altLang="en-US" sz="2400" dirty="0" smtClean="0">
                <a:solidFill>
                  <a:srgbClr val="000000"/>
                </a:solidFill>
              </a:rPr>
              <a:t>较好</a:t>
            </a:r>
            <a:endParaRPr lang="en-US" altLang="zh-CN" sz="2400" dirty="0" smtClean="0">
              <a:solidFill>
                <a:srgbClr val="000000"/>
              </a:solidFill>
            </a:endParaRPr>
          </a:p>
          <a:p>
            <a:pPr indent="174625">
              <a:lnSpc>
                <a:spcPct val="100000"/>
              </a:lnSpc>
              <a:spcBef>
                <a:spcPts val="0"/>
              </a:spcBef>
              <a:buNone/>
            </a:pPr>
            <a:r>
              <a:rPr lang="zh-CN" altLang="en-US" sz="2400" dirty="0">
                <a:solidFill>
                  <a:srgbClr val="000000"/>
                </a:solidFill>
              </a:rPr>
              <a:t>六、货物进出口总体平稳，贸易结构持续</a:t>
            </a:r>
            <a:r>
              <a:rPr lang="zh-CN" altLang="en-US" sz="2400" dirty="0" smtClean="0">
                <a:solidFill>
                  <a:srgbClr val="000000"/>
                </a:solidFill>
              </a:rPr>
              <a:t>优化</a:t>
            </a:r>
            <a:endParaRPr lang="en-US" altLang="zh-CN" sz="2400" dirty="0" smtClean="0">
              <a:solidFill>
                <a:srgbClr val="000000"/>
              </a:solidFill>
            </a:endParaRPr>
          </a:p>
          <a:p>
            <a:pPr indent="174625">
              <a:lnSpc>
                <a:spcPct val="100000"/>
              </a:lnSpc>
              <a:spcBef>
                <a:spcPts val="0"/>
              </a:spcBef>
              <a:buNone/>
            </a:pPr>
            <a:r>
              <a:rPr lang="zh-CN" altLang="en-US" sz="2400" dirty="0">
                <a:solidFill>
                  <a:srgbClr val="000000"/>
                </a:solidFill>
              </a:rPr>
              <a:t>七、居民消费价格小幅上涨，核心</a:t>
            </a:r>
            <a:r>
              <a:rPr lang="en-US" altLang="zh-CN" sz="2400" dirty="0">
                <a:solidFill>
                  <a:srgbClr val="000000"/>
                </a:solidFill>
              </a:rPr>
              <a:t>CPI</a:t>
            </a:r>
            <a:r>
              <a:rPr lang="zh-CN" altLang="en-US" sz="2400" dirty="0">
                <a:solidFill>
                  <a:srgbClr val="000000"/>
                </a:solidFill>
              </a:rPr>
              <a:t>总体</a:t>
            </a:r>
            <a:r>
              <a:rPr lang="zh-CN" altLang="en-US" sz="2400" dirty="0" smtClean="0">
                <a:solidFill>
                  <a:srgbClr val="000000"/>
                </a:solidFill>
              </a:rPr>
              <a:t>平稳</a:t>
            </a:r>
            <a:endParaRPr lang="en-US" altLang="zh-CN" sz="2400" dirty="0" smtClean="0">
              <a:solidFill>
                <a:srgbClr val="000000"/>
              </a:solidFill>
            </a:endParaRPr>
          </a:p>
          <a:p>
            <a:pPr indent="174625">
              <a:lnSpc>
                <a:spcPct val="100000"/>
              </a:lnSpc>
              <a:spcBef>
                <a:spcPts val="0"/>
              </a:spcBef>
              <a:buNone/>
            </a:pPr>
            <a:r>
              <a:rPr lang="zh-CN" altLang="en-US" sz="2400" dirty="0">
                <a:solidFill>
                  <a:srgbClr val="000000"/>
                </a:solidFill>
              </a:rPr>
              <a:t>八、就业形势总体稳定，城镇调查失业率</a:t>
            </a:r>
            <a:r>
              <a:rPr lang="zh-CN" altLang="en-US" sz="2400" dirty="0" smtClean="0">
                <a:solidFill>
                  <a:srgbClr val="000000"/>
                </a:solidFill>
              </a:rPr>
              <a:t>下降</a:t>
            </a:r>
            <a:endParaRPr lang="en-US" altLang="zh-CN" sz="2400" dirty="0" smtClean="0">
              <a:solidFill>
                <a:srgbClr val="000000"/>
              </a:solidFill>
            </a:endParaRPr>
          </a:p>
          <a:p>
            <a:pPr indent="174625">
              <a:lnSpc>
                <a:spcPct val="100000"/>
              </a:lnSpc>
              <a:spcBef>
                <a:spcPts val="0"/>
              </a:spcBef>
              <a:buNone/>
            </a:pPr>
            <a:r>
              <a:rPr lang="zh-CN" altLang="en-US" sz="2400" dirty="0">
                <a:solidFill>
                  <a:srgbClr val="000000"/>
                </a:solidFill>
              </a:rPr>
              <a:t>九、居民收入继续增加，农村居民收入增速快于</a:t>
            </a:r>
            <a:r>
              <a:rPr lang="zh-CN" altLang="en-US" sz="2400" dirty="0" smtClean="0">
                <a:solidFill>
                  <a:srgbClr val="000000"/>
                </a:solidFill>
              </a:rPr>
              <a:t>城镇</a:t>
            </a:r>
            <a:endParaRPr lang="en-US" altLang="zh-CN" sz="2400" dirty="0" smtClean="0">
              <a:solidFill>
                <a:srgbClr val="000000"/>
              </a:solidFill>
            </a:endParaRPr>
          </a:p>
          <a:p>
            <a:pPr indent="174625">
              <a:lnSpc>
                <a:spcPct val="100000"/>
              </a:lnSpc>
              <a:spcBef>
                <a:spcPts val="0"/>
              </a:spcBef>
              <a:buNone/>
            </a:pPr>
            <a:r>
              <a:rPr lang="zh-CN" altLang="en-US" sz="2400" dirty="0">
                <a:solidFill>
                  <a:srgbClr val="000000"/>
                </a:solidFill>
              </a:rPr>
              <a:t>十、人口总量有所减少，城镇化率持续</a:t>
            </a:r>
            <a:r>
              <a:rPr lang="zh-CN" altLang="en-US" sz="2400" dirty="0" smtClean="0">
                <a:solidFill>
                  <a:srgbClr val="000000"/>
                </a:solidFill>
              </a:rPr>
              <a:t>提高</a:t>
            </a:r>
            <a:endParaRPr lang="en-US" altLang="zh-CN" sz="2400" dirty="0" smtClean="0">
              <a:solidFill>
                <a:srgbClr val="000000"/>
              </a:solidFill>
            </a:endParaRPr>
          </a:p>
        </p:txBody>
      </p:sp>
    </p:spTree>
  </p:cSld>
  <p:clrMapOvr>
    <a:masterClrMapping/>
  </p:clrMapOvr>
  <p:transition>
    <p:wipe dir="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71600" y="621407"/>
            <a:ext cx="7653536" cy="647353"/>
          </a:xfrm>
        </p:spPr>
        <p:txBody>
          <a:bodyPr/>
          <a:lstStyle/>
          <a:p>
            <a:pPr algn="l"/>
            <a:r>
              <a:rPr lang="zh-CN" altLang="en-US" sz="3200" dirty="0" smtClean="0">
                <a:solidFill>
                  <a:srgbClr val="0000FF"/>
                </a:solidFill>
                <a:latin typeface="+mj-ea"/>
              </a:rPr>
              <a:t>疫情期间最受关注的统计数据</a:t>
            </a:r>
            <a:endParaRPr lang="zh-CN" altLang="en-US" sz="3600" dirty="0">
              <a:solidFill>
                <a:srgbClr val="0000FF"/>
              </a:solidFill>
              <a:latin typeface="+mj-ea"/>
            </a:endParaRPr>
          </a:p>
        </p:txBody>
      </p:sp>
      <p:sp>
        <p:nvSpPr>
          <p:cNvPr id="7" name="内容占位符 2"/>
          <p:cNvSpPr txBox="1">
            <a:spLocks/>
          </p:cNvSpPr>
          <p:nvPr/>
        </p:nvSpPr>
        <p:spPr bwMode="auto">
          <a:xfrm>
            <a:off x="4896036" y="3791305"/>
            <a:ext cx="4104456" cy="270892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ct val="20000"/>
              </a:spcBef>
              <a:spcAft>
                <a:spcPct val="0"/>
              </a:spcAft>
              <a:buClr>
                <a:schemeClr val="accent1"/>
              </a:buClr>
              <a:buSzPct val="65000"/>
              <a:buFont typeface="Wingdings" pitchFamily="2" charset="2"/>
              <a:buChar char="n"/>
              <a:tabLst/>
              <a:defRPr/>
            </a:pPr>
            <a:r>
              <a:rPr kumimoji="0" lang="zh-CN" altLang="en-US" sz="2000" b="1" i="0" u="none" strike="noStrike" kern="0" cap="none" spc="0" normalizeH="0" baseline="0" noProof="0" dirty="0" smtClean="0">
                <a:ln>
                  <a:noFill/>
                </a:ln>
                <a:solidFill>
                  <a:schemeClr val="tx1"/>
                </a:solidFill>
                <a:effectLst/>
                <a:uLnTx/>
                <a:uFillTx/>
                <a:latin typeface="+mn-lt"/>
                <a:ea typeface="+mn-ea"/>
              </a:rPr>
              <a:t>药物有效率</a:t>
            </a:r>
            <a:endParaRPr kumimoji="0" lang="en-US" altLang="zh-CN" sz="2000" b="1" i="0" u="none" strike="noStrike" kern="0" cap="none" spc="0" normalizeH="0" baseline="0" noProof="0" dirty="0" smtClean="0">
              <a:ln>
                <a:noFill/>
              </a:ln>
              <a:solidFill>
                <a:schemeClr val="tx1"/>
              </a:solidFill>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
                <a:schemeClr val="accent1"/>
              </a:buClr>
              <a:buSzPct val="65000"/>
              <a:buFont typeface="Wingdings" pitchFamily="2" charset="2"/>
              <a:buChar char="n"/>
              <a:tabLst/>
              <a:defRPr/>
            </a:pPr>
            <a:r>
              <a:rPr kumimoji="0" lang="zh-CN" altLang="en-US" sz="2000" b="1" i="0" u="none" strike="noStrike" kern="0" cap="none" spc="0" normalizeH="0" baseline="0" noProof="0" dirty="0" smtClean="0">
                <a:ln>
                  <a:noFill/>
                </a:ln>
                <a:solidFill>
                  <a:schemeClr val="tx1"/>
                </a:solidFill>
                <a:effectLst/>
                <a:uLnTx/>
                <a:uFillTx/>
                <a:latin typeface="+mn-lt"/>
                <a:ea typeface="+mn-ea"/>
              </a:rPr>
              <a:t>中西医疗效比较</a:t>
            </a:r>
            <a:endParaRPr kumimoji="0" lang="en-US" altLang="zh-CN" sz="2000" b="1" i="0" u="none" strike="noStrike" kern="0" cap="none" spc="0" normalizeH="0" baseline="0" noProof="0" dirty="0" smtClean="0">
              <a:ln>
                <a:noFill/>
              </a:ln>
              <a:solidFill>
                <a:schemeClr val="tx1"/>
              </a:solidFill>
              <a:effectLst/>
              <a:uLnTx/>
              <a:uFillTx/>
              <a:latin typeface="+mn-lt"/>
              <a:ea typeface="+mn-ea"/>
            </a:endParaRPr>
          </a:p>
          <a:p>
            <a:pPr marL="342900" lvl="0" indent="-342900" eaLnBrk="0" hangingPunct="0">
              <a:lnSpc>
                <a:spcPct val="100000"/>
              </a:lnSpc>
              <a:spcBef>
                <a:spcPct val="20000"/>
              </a:spcBef>
              <a:buClr>
                <a:schemeClr val="accent1"/>
              </a:buClr>
              <a:buSzPct val="65000"/>
              <a:buFont typeface="Wingdings" pitchFamily="2" charset="2"/>
              <a:buChar char="n"/>
            </a:pPr>
            <a:r>
              <a:rPr lang="zh-CN" altLang="en-US" sz="2000" dirty="0" smtClean="0"/>
              <a:t>药品、医护人员数、床位数</a:t>
            </a:r>
            <a:endParaRPr lang="en-US" altLang="zh-CN" sz="2000" dirty="0" smtClean="0"/>
          </a:p>
          <a:p>
            <a:pPr marL="342900" lvl="0" indent="-342900" eaLnBrk="0" hangingPunct="0">
              <a:lnSpc>
                <a:spcPct val="100000"/>
              </a:lnSpc>
              <a:spcBef>
                <a:spcPct val="20000"/>
              </a:spcBef>
              <a:buClr>
                <a:schemeClr val="accent1"/>
              </a:buClr>
              <a:buSzPct val="65000"/>
              <a:buFont typeface="Wingdings" pitchFamily="2" charset="2"/>
              <a:buChar char="n"/>
            </a:pPr>
            <a:r>
              <a:rPr lang="zh-CN" altLang="en-US" sz="2000" dirty="0" smtClean="0"/>
              <a:t>防护品的产供销存</a:t>
            </a:r>
            <a:endParaRPr lang="en-US" altLang="zh-CN" sz="2000" dirty="0" smtClean="0"/>
          </a:p>
          <a:p>
            <a:pPr marL="342900" lvl="0" indent="-342900" eaLnBrk="0" hangingPunct="0">
              <a:lnSpc>
                <a:spcPct val="100000"/>
              </a:lnSpc>
              <a:spcBef>
                <a:spcPct val="20000"/>
              </a:spcBef>
              <a:buClr>
                <a:schemeClr val="accent1"/>
              </a:buClr>
              <a:buSzPct val="65000"/>
              <a:buFont typeface="Wingdings" pitchFamily="2" charset="2"/>
              <a:buChar char="n"/>
            </a:pPr>
            <a:r>
              <a:rPr lang="zh-CN" altLang="en-US" sz="2000" dirty="0" smtClean="0">
                <a:solidFill>
                  <a:srgbClr val="002060"/>
                </a:solidFill>
              </a:rPr>
              <a:t>疫情对经济各行业的影响分析</a:t>
            </a:r>
            <a:r>
              <a:rPr lang="en-US" altLang="zh-CN" sz="2000" kern="0" dirty="0" smtClean="0">
                <a:latin typeface="+mn-lt"/>
                <a:ea typeface="+mn-ea"/>
              </a:rPr>
              <a:t>……</a:t>
            </a:r>
          </a:p>
          <a:p>
            <a:pPr marL="342900" marR="0" lvl="0" indent="-342900" algn="l" defTabSz="914400" rtl="0" eaLnBrk="0" fontAlgn="base" latinLnBrk="0" hangingPunct="0">
              <a:lnSpc>
                <a:spcPct val="100000"/>
              </a:lnSpc>
              <a:spcBef>
                <a:spcPct val="20000"/>
              </a:spcBef>
              <a:spcAft>
                <a:spcPct val="0"/>
              </a:spcAft>
              <a:buClr>
                <a:schemeClr val="accent1"/>
              </a:buClr>
              <a:buSzPct val="65000"/>
              <a:buFont typeface="Wingdings" pitchFamily="2" charset="2"/>
              <a:buChar char="n"/>
              <a:tabLst/>
              <a:defRPr/>
            </a:pPr>
            <a:endParaRPr kumimoji="0" lang="en-US" altLang="zh-CN" sz="2000" b="1" i="0" u="none" strike="noStrike" kern="0" cap="none" spc="0" normalizeH="0" baseline="0" noProof="0" dirty="0" smtClean="0">
              <a:ln>
                <a:noFill/>
              </a:ln>
              <a:solidFill>
                <a:schemeClr val="tx1"/>
              </a:solidFill>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
                <a:schemeClr val="accent1"/>
              </a:buClr>
              <a:buSzPct val="65000"/>
              <a:buFont typeface="Wingdings" pitchFamily="2" charset="2"/>
              <a:buChar char="n"/>
              <a:tabLst/>
              <a:defRPr/>
            </a:pPr>
            <a:endParaRPr kumimoji="0" lang="en-US" altLang="zh-CN" sz="2000" b="1" i="0" u="none" strike="noStrike" kern="0" cap="none" spc="0" normalizeH="0" baseline="0" noProof="0" dirty="0" smtClean="0">
              <a:ln>
                <a:noFill/>
              </a:ln>
              <a:solidFill>
                <a:schemeClr val="tx1"/>
              </a:solidFill>
              <a:effectLst/>
              <a:uLnTx/>
              <a:uFillTx/>
              <a:latin typeface="+mn-lt"/>
              <a:ea typeface="+mn-ea"/>
            </a:endParaRPr>
          </a:p>
          <a:p>
            <a:pPr marL="342900" marR="0" lvl="0" indent="-342900" algn="l" defTabSz="914400" rtl="0" eaLnBrk="0" fontAlgn="base" latinLnBrk="0" hangingPunct="0">
              <a:lnSpc>
                <a:spcPct val="100000"/>
              </a:lnSpc>
              <a:spcBef>
                <a:spcPct val="20000"/>
              </a:spcBef>
              <a:spcAft>
                <a:spcPct val="0"/>
              </a:spcAft>
              <a:buClr>
                <a:schemeClr val="accent1"/>
              </a:buClr>
              <a:buSzPct val="65000"/>
              <a:buFont typeface="Wingdings" pitchFamily="2" charset="2"/>
              <a:buChar char="n"/>
              <a:tabLst/>
              <a:defRPr/>
            </a:pPr>
            <a:endParaRPr kumimoji="0" lang="zh-CN" altLang="en-US" sz="2000" b="1" i="0" u="none" strike="noStrike" kern="0" cap="none" spc="0" normalizeH="0" baseline="0" noProof="0" dirty="0">
              <a:ln>
                <a:noFill/>
              </a:ln>
              <a:solidFill>
                <a:schemeClr val="tx1"/>
              </a:solidFill>
              <a:effectLst/>
              <a:uLnTx/>
              <a:uFillTx/>
              <a:latin typeface="+mn-lt"/>
              <a:ea typeface="+mn-ea"/>
            </a:endParaRPr>
          </a:p>
        </p:txBody>
      </p:sp>
      <p:sp>
        <p:nvSpPr>
          <p:cNvPr id="6" name="内容占位符 2"/>
          <p:cNvSpPr txBox="1">
            <a:spLocks/>
          </p:cNvSpPr>
          <p:nvPr/>
        </p:nvSpPr>
        <p:spPr bwMode="auto">
          <a:xfrm>
            <a:off x="1331640" y="1412776"/>
            <a:ext cx="4680520" cy="216024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lvl="0" indent="-342900" eaLnBrk="0" hangingPunct="0">
              <a:lnSpc>
                <a:spcPct val="100000"/>
              </a:lnSpc>
              <a:spcBef>
                <a:spcPct val="20000"/>
              </a:spcBef>
              <a:buClr>
                <a:schemeClr val="accent1"/>
              </a:buClr>
              <a:buSzPct val="65000"/>
              <a:buFont typeface="Wingdings" pitchFamily="2" charset="2"/>
              <a:buChar char="n"/>
              <a:defRPr/>
            </a:pPr>
            <a:r>
              <a:rPr kumimoji="0" lang="zh-CN" altLang="en-US" sz="2000" b="1" i="0" u="none" strike="noStrike" kern="0" cap="none" spc="0" normalizeH="0" baseline="0" noProof="0" dirty="0" smtClean="0">
                <a:ln>
                  <a:noFill/>
                </a:ln>
                <a:solidFill>
                  <a:srgbClr val="C00000"/>
                </a:solidFill>
                <a:effectLst/>
                <a:uLnTx/>
                <a:uFillTx/>
                <a:latin typeface="+mn-lt"/>
                <a:ea typeface="+mn-ea"/>
                <a:cs typeface="+mn-cs"/>
              </a:rPr>
              <a:t>确诊病例</a:t>
            </a:r>
            <a:r>
              <a:rPr lang="zh-CN" altLang="en-US" sz="2000" kern="0" dirty="0" smtClean="0">
                <a:solidFill>
                  <a:srgbClr val="C00000"/>
                </a:solidFill>
                <a:latin typeface="+mn-lt"/>
                <a:ea typeface="+mn-ea"/>
              </a:rPr>
              <a:t>数</a:t>
            </a:r>
            <a:r>
              <a:rPr lang="zh-CN" altLang="en-US" sz="2000" kern="0" dirty="0" smtClean="0">
                <a:latin typeface="+mn-lt"/>
                <a:ea typeface="+mn-ea"/>
              </a:rPr>
              <a:t>（新增、累计）</a:t>
            </a:r>
            <a:endParaRPr kumimoji="0" lang="en-US" altLang="zh-CN" sz="20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accent1"/>
              </a:buClr>
              <a:buSzPct val="65000"/>
              <a:buFont typeface="Wingdings" pitchFamily="2" charset="2"/>
              <a:buChar char="n"/>
              <a:tabLst/>
              <a:defRPr/>
            </a:pPr>
            <a:r>
              <a:rPr kumimoji="0" lang="zh-CN" altLang="en-US" sz="2000" b="1" i="0" u="none" strike="noStrike" kern="0" cap="none" spc="0" normalizeH="0" baseline="0" noProof="0" dirty="0" smtClean="0">
                <a:ln>
                  <a:noFill/>
                </a:ln>
                <a:solidFill>
                  <a:srgbClr val="990000"/>
                </a:solidFill>
                <a:effectLst/>
                <a:uLnTx/>
                <a:uFillTx/>
                <a:latin typeface="+mn-lt"/>
                <a:ea typeface="+mn-ea"/>
                <a:cs typeface="+mn-cs"/>
              </a:rPr>
              <a:t>无症状感染者</a:t>
            </a:r>
            <a:r>
              <a:rPr kumimoji="0" lang="zh-CN" altLang="en-US" sz="2000" b="1" i="0" u="none" strike="noStrike" kern="0" cap="none" spc="0" normalizeH="0" baseline="0" noProof="0" dirty="0" smtClean="0">
                <a:ln>
                  <a:noFill/>
                </a:ln>
                <a:solidFill>
                  <a:schemeClr val="tx1"/>
                </a:solidFill>
                <a:effectLst/>
                <a:uLnTx/>
                <a:uFillTx/>
                <a:latin typeface="+mn-lt"/>
                <a:ea typeface="+mn-ea"/>
                <a:cs typeface="+mn-cs"/>
              </a:rPr>
              <a:t>（新增、增加）</a:t>
            </a:r>
            <a:endParaRPr kumimoji="0" lang="en-US" altLang="zh-CN" sz="20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accent1"/>
              </a:buClr>
              <a:buSzPct val="65000"/>
              <a:buFont typeface="Wingdings" pitchFamily="2" charset="2"/>
              <a:buChar char="n"/>
              <a:tabLst/>
              <a:defRPr/>
            </a:pPr>
            <a:r>
              <a:rPr kumimoji="0" lang="zh-CN" altLang="en-US" sz="2000" b="1" i="0" u="none" strike="noStrike" kern="0" cap="none" spc="0" normalizeH="0" baseline="0" noProof="0" dirty="0" smtClean="0">
                <a:ln>
                  <a:noFill/>
                </a:ln>
                <a:solidFill>
                  <a:schemeClr val="tx1"/>
                </a:solidFill>
                <a:effectLst/>
                <a:uLnTx/>
                <a:uFillTx/>
                <a:latin typeface="+mn-lt"/>
                <a:ea typeface="+mn-ea"/>
                <a:cs typeface="+mn-cs"/>
              </a:rPr>
              <a:t>感染率、治愈数、治愈率</a:t>
            </a:r>
            <a:endParaRPr kumimoji="0" lang="en-US" altLang="zh-CN" sz="20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accent1"/>
              </a:buClr>
              <a:buSzPct val="65000"/>
              <a:buFont typeface="Wingdings" pitchFamily="2" charset="2"/>
              <a:buChar char="n"/>
              <a:tabLst/>
              <a:defRPr/>
            </a:pPr>
            <a:r>
              <a:rPr kumimoji="0" lang="zh-CN" altLang="en-US" sz="2000" b="1" i="0" u="none" strike="noStrike" kern="0" cap="none" spc="0" normalizeH="0" baseline="0" noProof="0" dirty="0" smtClean="0">
                <a:ln>
                  <a:noFill/>
                </a:ln>
                <a:solidFill>
                  <a:srgbClr val="0070C0"/>
                </a:solidFill>
                <a:effectLst/>
                <a:uLnTx/>
                <a:uFillTx/>
                <a:latin typeface="+mn-lt"/>
                <a:ea typeface="+mn-ea"/>
                <a:cs typeface="+mn-cs"/>
              </a:rPr>
              <a:t>死亡数、病死率</a:t>
            </a:r>
            <a:endParaRPr kumimoji="0" lang="en-US" altLang="zh-CN" sz="2000" b="1" i="0" u="none" strike="noStrike" kern="0" cap="none" spc="0" normalizeH="0" baseline="0" noProof="0" dirty="0" smtClean="0">
              <a:ln>
                <a:noFill/>
              </a:ln>
              <a:solidFill>
                <a:srgbClr val="0070C0"/>
              </a:solidFill>
              <a:effectLst/>
              <a:uLnTx/>
              <a:uFillTx/>
              <a:latin typeface="+mn-lt"/>
              <a:ea typeface="+mn-ea"/>
              <a:cs typeface="+mn-cs"/>
            </a:endParaRPr>
          </a:p>
          <a:p>
            <a:pPr marL="342900" lvl="0" indent="-342900" eaLnBrk="0" hangingPunct="0">
              <a:lnSpc>
                <a:spcPct val="100000"/>
              </a:lnSpc>
              <a:spcBef>
                <a:spcPct val="20000"/>
              </a:spcBef>
              <a:buClr>
                <a:schemeClr val="accent1"/>
              </a:buClr>
              <a:buSzPct val="65000"/>
              <a:buFont typeface="Wingdings" pitchFamily="2" charset="2"/>
              <a:buChar char="n"/>
            </a:pPr>
            <a:r>
              <a:rPr lang="zh-CN" altLang="en-US" sz="1800" kern="0" dirty="0" smtClean="0">
                <a:latin typeface="+mn-lt"/>
                <a:ea typeface="+mn-ea"/>
              </a:rPr>
              <a:t>病例分布（地区、年龄、性别）</a:t>
            </a:r>
            <a:endParaRPr lang="en-US" altLang="zh-CN" sz="1800" kern="0" dirty="0" smtClean="0">
              <a:latin typeface="+mn-lt"/>
              <a:ea typeface="+mn-ea"/>
            </a:endParaRPr>
          </a:p>
          <a:p>
            <a:pPr marL="342900" indent="-342900" eaLnBrk="0" hangingPunct="0">
              <a:lnSpc>
                <a:spcPct val="100000"/>
              </a:lnSpc>
              <a:spcBef>
                <a:spcPct val="20000"/>
              </a:spcBef>
              <a:buClr>
                <a:schemeClr val="accent1"/>
              </a:buClr>
              <a:buSzPct val="65000"/>
              <a:buFont typeface="Wingdings" pitchFamily="2" charset="2"/>
              <a:buChar char="n"/>
            </a:pPr>
            <a:r>
              <a:rPr lang="zh-CN" altLang="en-US" sz="1800" kern="0" dirty="0" smtClean="0"/>
              <a:t>潜伏期，住院天数，</a:t>
            </a:r>
            <a:r>
              <a:rPr lang="en-US" altLang="zh-CN" sz="1800" kern="0" dirty="0" smtClean="0">
                <a:solidFill>
                  <a:srgbClr val="002060"/>
                </a:solidFill>
              </a:rPr>
              <a:t>R0</a:t>
            </a:r>
            <a:r>
              <a:rPr lang="zh-CN" altLang="en-US" sz="1800" kern="0" dirty="0" smtClean="0"/>
              <a:t>，</a:t>
            </a:r>
            <a:r>
              <a:rPr lang="en-US" altLang="zh-CN" sz="1800" kern="0" dirty="0" smtClean="0"/>
              <a:t>…</a:t>
            </a:r>
            <a:endParaRPr kumimoji="0" lang="zh-CN" altLang="en-US" sz="1800" b="1" i="0" u="none" strike="noStrike" kern="0" cap="none" spc="0" normalizeH="0" baseline="0" noProof="0" dirty="0">
              <a:ln>
                <a:noFill/>
              </a:ln>
              <a:solidFill>
                <a:schemeClr val="tx1"/>
              </a:solidFill>
              <a:effectLst/>
              <a:uLnTx/>
              <a:uFillTx/>
              <a:latin typeface="+mn-lt"/>
              <a:ea typeface="+mn-ea"/>
              <a:cs typeface="+mn-cs"/>
            </a:endParaRPr>
          </a:p>
        </p:txBody>
      </p:sp>
      <p:sp>
        <p:nvSpPr>
          <p:cNvPr id="9" name="矩形 8"/>
          <p:cNvSpPr/>
          <p:nvPr/>
        </p:nvSpPr>
        <p:spPr>
          <a:xfrm>
            <a:off x="549896" y="4240902"/>
            <a:ext cx="4022104" cy="1523494"/>
          </a:xfrm>
          <a:prstGeom prst="rect">
            <a:avLst/>
          </a:prstGeom>
        </p:spPr>
        <p:txBody>
          <a:bodyPr wrap="square">
            <a:spAutoFit/>
          </a:bodyPr>
          <a:lstStyle/>
          <a:p>
            <a:pPr>
              <a:buNone/>
            </a:pPr>
            <a:r>
              <a:rPr lang="en-US" altLang="zh-CN" sz="2000" kern="0" dirty="0" smtClean="0">
                <a:solidFill>
                  <a:srgbClr val="0070C0"/>
                </a:solidFill>
              </a:rPr>
              <a:t>R0</a:t>
            </a:r>
            <a:r>
              <a:rPr lang="en-US" altLang="zh-CN" sz="2000" dirty="0" smtClean="0">
                <a:solidFill>
                  <a:srgbClr val="000000"/>
                </a:solidFill>
                <a:latin typeface="+mn-ea"/>
              </a:rPr>
              <a:t>(</a:t>
            </a:r>
            <a:r>
              <a:rPr lang="zh-CN" altLang="en-US" sz="2000" dirty="0" smtClean="0">
                <a:solidFill>
                  <a:srgbClr val="000000"/>
                </a:solidFill>
                <a:latin typeface="+mn-ea"/>
              </a:rPr>
              <a:t>基本传染数 </a:t>
            </a:r>
            <a:r>
              <a:rPr lang="en-US" altLang="zh-CN" sz="2000" dirty="0" smtClean="0">
                <a:solidFill>
                  <a:srgbClr val="000000"/>
                </a:solidFill>
                <a:latin typeface="+mn-ea"/>
              </a:rPr>
              <a:t>Basic reproduction number</a:t>
            </a:r>
            <a:r>
              <a:rPr lang="en-US" altLang="zh-CN" sz="2000" b="0" dirty="0" smtClean="0">
                <a:solidFill>
                  <a:srgbClr val="000000"/>
                </a:solidFill>
                <a:latin typeface="+mn-ea"/>
              </a:rPr>
              <a:t>)</a:t>
            </a:r>
            <a:r>
              <a:rPr lang="zh-CN" altLang="en-US" sz="2000" b="0" dirty="0" smtClean="0">
                <a:solidFill>
                  <a:srgbClr val="000000"/>
                </a:solidFill>
                <a:latin typeface="+mn-ea"/>
              </a:rPr>
              <a:t>：</a:t>
            </a:r>
            <a:endParaRPr lang="en-US" altLang="zh-CN" sz="2000" b="0" dirty="0" smtClean="0">
              <a:solidFill>
                <a:srgbClr val="000000"/>
              </a:solidFill>
              <a:latin typeface="+mn-ea"/>
            </a:endParaRPr>
          </a:p>
          <a:p>
            <a:pPr>
              <a:buNone/>
            </a:pPr>
            <a:r>
              <a:rPr lang="zh-CN" altLang="en-US" sz="2000" b="0" dirty="0" smtClean="0">
                <a:solidFill>
                  <a:srgbClr val="000000"/>
                </a:solidFill>
                <a:latin typeface="+mn-ea"/>
              </a:rPr>
              <a:t>简言之，</a:t>
            </a:r>
            <a:r>
              <a:rPr lang="zh-CN" altLang="en-US" sz="2000" b="0" dirty="0" smtClean="0">
                <a:solidFill>
                  <a:srgbClr val="000000"/>
                </a:solidFill>
              </a:rPr>
              <a:t>一个感染者平均会传染多少人。</a:t>
            </a:r>
            <a:r>
              <a:rPr lang="en-US" altLang="zh-CN" sz="2000" b="0" dirty="0" smtClean="0">
                <a:solidFill>
                  <a:srgbClr val="000000"/>
                </a:solidFill>
              </a:rPr>
              <a:t> </a:t>
            </a:r>
            <a:r>
              <a:rPr lang="zh-CN" altLang="en-US" sz="2000" b="0" dirty="0" smtClean="0">
                <a:solidFill>
                  <a:srgbClr val="000000"/>
                </a:solidFill>
              </a:rPr>
              <a:t>其数值越大，表示疾病的传染性越强，越难控制</a:t>
            </a:r>
            <a:endParaRPr lang="zh-CN" altLang="en-US" sz="2000" dirty="0"/>
          </a:p>
        </p:txBody>
      </p:sp>
      <p:sp>
        <p:nvSpPr>
          <p:cNvPr id="10" name="灯片编号占位符 9"/>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8</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9</a:t>
            </a:fld>
            <a:endParaRPr lang="en-US" altLang="zh-CN" dirty="0">
              <a:solidFill>
                <a:srgbClr val="545472"/>
              </a:solidFill>
            </a:endParaRPr>
          </a:p>
        </p:txBody>
      </p:sp>
      <p:sp>
        <p:nvSpPr>
          <p:cNvPr id="6" name="标题 5"/>
          <p:cNvSpPr>
            <a:spLocks noGrp="1"/>
          </p:cNvSpPr>
          <p:nvPr>
            <p:ph type="title"/>
          </p:nvPr>
        </p:nvSpPr>
        <p:spPr>
          <a:xfrm>
            <a:off x="3275856" y="228600"/>
            <a:ext cx="5334744" cy="680120"/>
          </a:xfrm>
        </p:spPr>
        <p:txBody>
          <a:bodyPr/>
          <a:lstStyle/>
          <a:p>
            <a:r>
              <a:rPr lang="zh-CN" altLang="en-US" sz="3600" dirty="0" smtClean="0"/>
              <a:t>死亡率？病死率？</a:t>
            </a:r>
            <a:endParaRPr lang="zh-CN" altLang="en-US" sz="3600" dirty="0"/>
          </a:p>
        </p:txBody>
      </p:sp>
      <p:pic>
        <p:nvPicPr>
          <p:cNvPr id="299013" name="Picture 5"/>
          <p:cNvPicPr>
            <a:picLocks noChangeAspect="1" noChangeArrowheads="1"/>
          </p:cNvPicPr>
          <p:nvPr/>
        </p:nvPicPr>
        <p:blipFill>
          <a:blip r:embed="rId2" cstate="print"/>
          <a:srcRect/>
          <a:stretch>
            <a:fillRect/>
          </a:stretch>
        </p:blipFill>
        <p:spPr bwMode="auto">
          <a:xfrm>
            <a:off x="389173" y="908720"/>
            <a:ext cx="8064896" cy="4248472"/>
          </a:xfrm>
          <a:prstGeom prst="rect">
            <a:avLst/>
          </a:prstGeom>
          <a:noFill/>
          <a:ln w="9525">
            <a:noFill/>
            <a:miter lim="800000"/>
            <a:headEnd/>
            <a:tailEnd/>
          </a:ln>
        </p:spPr>
      </p:pic>
      <p:pic>
        <p:nvPicPr>
          <p:cNvPr id="299014" name="Picture 6"/>
          <p:cNvPicPr>
            <a:picLocks noChangeAspect="1" noChangeArrowheads="1"/>
          </p:cNvPicPr>
          <p:nvPr/>
        </p:nvPicPr>
        <p:blipFill>
          <a:blip r:embed="rId3" cstate="print"/>
          <a:srcRect/>
          <a:stretch>
            <a:fillRect/>
          </a:stretch>
        </p:blipFill>
        <p:spPr bwMode="auto">
          <a:xfrm>
            <a:off x="890527" y="5157192"/>
            <a:ext cx="7569905" cy="1241673"/>
          </a:xfrm>
          <a:prstGeom prst="rect">
            <a:avLst/>
          </a:prstGeom>
          <a:noFill/>
          <a:ln w="9525">
            <a:noFill/>
            <a:miter lim="800000"/>
            <a:headEnd/>
            <a:tailEnd/>
          </a:ln>
        </p:spPr>
      </p:pic>
    </p:spTree>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10</a:t>
            </a:fld>
            <a:endParaRPr lang="en-US" altLang="zh-CN" dirty="0">
              <a:solidFill>
                <a:srgbClr val="545472"/>
              </a:solidFill>
            </a:endParaRPr>
          </a:p>
        </p:txBody>
      </p:sp>
      <p:sp>
        <p:nvSpPr>
          <p:cNvPr id="6" name="标题 5"/>
          <p:cNvSpPr>
            <a:spLocks noGrp="1"/>
          </p:cNvSpPr>
          <p:nvPr>
            <p:ph type="title"/>
          </p:nvPr>
        </p:nvSpPr>
        <p:spPr/>
        <p:txBody>
          <a:bodyPr/>
          <a:lstStyle/>
          <a:p>
            <a:r>
              <a:rPr lang="zh-CN" altLang="en-US" dirty="0" smtClean="0"/>
              <a:t>严重指数</a:t>
            </a:r>
            <a:endParaRPr lang="zh-CN" altLang="en-US" dirty="0"/>
          </a:p>
        </p:txBody>
      </p:sp>
      <p:pic>
        <p:nvPicPr>
          <p:cNvPr id="299010" name="Picture 2"/>
          <p:cNvPicPr>
            <a:picLocks noChangeAspect="1" noChangeArrowheads="1"/>
          </p:cNvPicPr>
          <p:nvPr/>
        </p:nvPicPr>
        <p:blipFill>
          <a:blip r:embed="rId2" cstate="print"/>
          <a:srcRect/>
          <a:stretch>
            <a:fillRect/>
          </a:stretch>
        </p:blipFill>
        <p:spPr bwMode="auto">
          <a:xfrm>
            <a:off x="467544" y="404664"/>
            <a:ext cx="8424936" cy="5472608"/>
          </a:xfrm>
          <a:prstGeom prst="rect">
            <a:avLst/>
          </a:prstGeom>
          <a:noFill/>
          <a:ln w="9525">
            <a:noFill/>
            <a:miter lim="800000"/>
            <a:headEnd/>
            <a:tailEnd/>
          </a:ln>
        </p:spPr>
      </p:pic>
      <p:pic>
        <p:nvPicPr>
          <p:cNvPr id="299011" name="Picture 3"/>
          <p:cNvPicPr>
            <a:picLocks noChangeAspect="1" noChangeArrowheads="1"/>
          </p:cNvPicPr>
          <p:nvPr/>
        </p:nvPicPr>
        <p:blipFill>
          <a:blip r:embed="rId3" cstate="print"/>
          <a:srcRect/>
          <a:stretch>
            <a:fillRect/>
          </a:stretch>
        </p:blipFill>
        <p:spPr bwMode="auto">
          <a:xfrm>
            <a:off x="1811858" y="2046784"/>
            <a:ext cx="7080622" cy="4032448"/>
          </a:xfrm>
          <a:prstGeom prst="rect">
            <a:avLst/>
          </a:prstGeom>
          <a:noFill/>
          <a:ln w="9525">
            <a:solidFill>
              <a:srgbClr val="9999FF"/>
            </a:solidFill>
            <a:miter lim="800000"/>
            <a:headEnd/>
            <a:tailEnd/>
          </a:ln>
        </p:spPr>
      </p:pic>
      <p:sp>
        <p:nvSpPr>
          <p:cNvPr id="7" name="内容占位符 2"/>
          <p:cNvSpPr txBox="1">
            <a:spLocks/>
          </p:cNvSpPr>
          <p:nvPr/>
        </p:nvSpPr>
        <p:spPr bwMode="auto">
          <a:xfrm>
            <a:off x="3516721" y="6237312"/>
            <a:ext cx="5112568" cy="299120"/>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ct val="20000"/>
              </a:spcBef>
              <a:spcAft>
                <a:spcPct val="0"/>
              </a:spcAft>
              <a:buClrTx/>
              <a:buSzPct val="90000"/>
              <a:buFontTx/>
              <a:buNone/>
              <a:tabLst/>
              <a:defRPr/>
            </a:pPr>
            <a:r>
              <a:rPr lang="zh-CN" altLang="en-US" sz="1800" b="0" kern="0" dirty="0" smtClean="0">
                <a:solidFill>
                  <a:schemeClr val="tx1">
                    <a:lumMod val="75000"/>
                  </a:schemeClr>
                </a:solidFill>
              </a:rPr>
              <a:t>资料</a:t>
            </a:r>
            <a:r>
              <a:rPr kumimoji="0" lang="zh-CN" altLang="en-US" sz="1800" b="0" i="0" u="none" strike="noStrike" kern="0" cap="none" spc="0" normalizeH="0" baseline="0" noProof="0" dirty="0" smtClean="0">
                <a:ln>
                  <a:noFill/>
                </a:ln>
                <a:solidFill>
                  <a:schemeClr val="tx1">
                    <a:lumMod val="75000"/>
                  </a:schemeClr>
                </a:solidFill>
                <a:effectLst/>
                <a:uLnTx/>
                <a:uFillTx/>
                <a:latin typeface="+mn-lt"/>
                <a:ea typeface="+mn-ea"/>
                <a:cs typeface="+mn-cs"/>
              </a:rPr>
              <a:t>来源：</a:t>
            </a:r>
            <a:r>
              <a:rPr kumimoji="0" lang="en-US" altLang="zh-CN" sz="1800" b="0" i="0" u="none" strike="noStrike" kern="0" cap="none" spc="0" normalizeH="0" baseline="0" noProof="0" dirty="0" smtClean="0">
                <a:ln>
                  <a:noFill/>
                </a:ln>
                <a:solidFill>
                  <a:schemeClr val="tx1">
                    <a:lumMod val="75000"/>
                  </a:schemeClr>
                </a:solidFill>
                <a:effectLst/>
                <a:uLnTx/>
                <a:uFillTx/>
                <a:latin typeface="+mn-lt"/>
                <a:ea typeface="+mn-ea"/>
                <a:cs typeface="+mn-cs"/>
              </a:rPr>
              <a:t>https://news.sina.cn/zt_d/yiqing0121</a:t>
            </a:r>
            <a:endParaRPr kumimoji="0" lang="zh-CN" altLang="en-US" sz="1800" b="0" i="0" u="none" strike="noStrike" kern="0" cap="none" spc="0" normalizeH="0" baseline="0" noProof="0" dirty="0">
              <a:ln>
                <a:noFill/>
              </a:ln>
              <a:solidFill>
                <a:schemeClr val="tx1">
                  <a:lumMod val="75000"/>
                </a:schemeClr>
              </a:solidFill>
              <a:effectLst/>
              <a:uLnTx/>
              <a:uFillTx/>
              <a:latin typeface="+mn-lt"/>
              <a:ea typeface="+mn-ea"/>
              <a:cs typeface="+mn-cs"/>
            </a:endParaRPr>
          </a:p>
        </p:txBody>
      </p:sp>
    </p:spTree>
  </p:cSld>
  <p:clrMapOvr>
    <a:masterClrMapping/>
  </p:clrMapOvr>
  <p:transition>
    <p:wipe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31" name="Oval 23"/>
          <p:cNvSpPr>
            <a:spLocks noChangeArrowheads="1"/>
          </p:cNvSpPr>
          <p:nvPr/>
        </p:nvSpPr>
        <p:spPr bwMode="auto">
          <a:xfrm rot="-3044923">
            <a:off x="3744888" y="983456"/>
            <a:ext cx="390525" cy="258763"/>
          </a:xfrm>
          <a:prstGeom prst="ellipse">
            <a:avLst/>
          </a:prstGeom>
          <a:gradFill rotWithShape="1">
            <a:gsLst>
              <a:gs pos="0">
                <a:srgbClr val="FFFFFF">
                  <a:alpha val="79999"/>
                </a:srgbClr>
              </a:gs>
              <a:gs pos="100000">
                <a:srgbClr val="767676">
                  <a:alpha val="0"/>
                </a:srgbClr>
              </a:gs>
            </a:gsLst>
            <a:path path="shape">
              <a:fillToRect l="50000" t="50000" r="50000" b="50000"/>
            </a:path>
          </a:gradFill>
          <a:ln w="9525" algn="ctr">
            <a:noFill/>
            <a:round/>
            <a:headEnd/>
            <a:tailEnd/>
          </a:ln>
        </p:spPr>
        <p:txBody>
          <a:bodyPr wrap="none" anchor="ctr"/>
          <a:lstStyle/>
          <a:p>
            <a:endParaRPr lang="zh-CN" altLang="en-US"/>
          </a:p>
        </p:txBody>
      </p:sp>
      <p:sp>
        <p:nvSpPr>
          <p:cNvPr id="17432" name="Rectangle 24"/>
          <p:cNvSpPr>
            <a:spLocks noGrp="1" noChangeArrowheads="1"/>
          </p:cNvSpPr>
          <p:nvPr>
            <p:ph type="title" idx="4294967295"/>
          </p:nvPr>
        </p:nvSpPr>
        <p:spPr>
          <a:xfrm>
            <a:off x="533292" y="375426"/>
            <a:ext cx="7632700" cy="719138"/>
          </a:xfrm>
          <a:solidFill>
            <a:schemeClr val="accent1"/>
          </a:solidFill>
        </p:spPr>
        <p:txBody>
          <a:bodyPr vert="horz"/>
          <a:lstStyle/>
          <a:p>
            <a:pPr marL="0" marR="0" indent="0" algn="l" defTabSz="914400" rtl="0" eaLnBrk="1" fontAlgn="base" latinLnBrk="0" hangingPunct="1">
              <a:lnSpc>
                <a:spcPct val="85000"/>
              </a:lnSpc>
              <a:spcBef>
                <a:spcPct val="0"/>
              </a:spcBef>
              <a:spcAft>
                <a:spcPct val="0"/>
              </a:spcAft>
              <a:buClrTx/>
              <a:buSzTx/>
              <a:buFontTx/>
              <a:buNone/>
              <a:tabLst/>
              <a:defRPr/>
            </a:pPr>
            <a:r>
              <a:rPr lang="zh-CN" altLang="zh-CN" sz="4400" b="1" dirty="0" smtClean="0">
                <a:solidFill>
                  <a:srgbClr val="3333FF"/>
                </a:solidFill>
                <a:latin typeface="+mj-lt"/>
                <a:ea typeface="+mj-ea"/>
                <a:cs typeface="+mj-cs"/>
              </a:rPr>
              <a:t>统计学是一门应用很广的学科</a:t>
            </a:r>
            <a:endParaRPr kumimoji="1" lang="zh-CN" altLang="en-US" sz="3200" dirty="0" smtClean="0">
              <a:solidFill>
                <a:srgbClr val="000000"/>
              </a:solidFill>
            </a:endParaRPr>
          </a:p>
        </p:txBody>
      </p:sp>
      <p:sp>
        <p:nvSpPr>
          <p:cNvPr id="33" name="Rectangle 24"/>
          <p:cNvSpPr txBox="1">
            <a:spLocks noChangeArrowheads="1"/>
          </p:cNvSpPr>
          <p:nvPr/>
        </p:nvSpPr>
        <p:spPr bwMode="auto">
          <a:xfrm>
            <a:off x="8172450" y="980728"/>
            <a:ext cx="720030" cy="5400600"/>
          </a:xfrm>
          <a:prstGeom prst="rect">
            <a:avLst/>
          </a:prstGeom>
          <a:solidFill>
            <a:schemeClr val="accent1"/>
          </a:solidFill>
          <a:ln w="9525">
            <a:noFill/>
            <a:miter lim="800000"/>
            <a:headEnd/>
            <a:tailEnd/>
          </a:ln>
        </p:spPr>
        <p:txBody>
          <a:bodyPr vert="eaVert" wrap="square" lIns="91440" tIns="45720" rIns="91440" bIns="45720" numCol="1" anchor="b" anchorCtr="0" compatLnSpc="1">
            <a:prstTxWarp prst="textNoShape">
              <a:avLst/>
            </a:prstTxWarp>
          </a:bodyPr>
          <a:lstStyle/>
          <a:p>
            <a:pPr lvl="0">
              <a:lnSpc>
                <a:spcPct val="85000"/>
              </a:lnSpc>
              <a:spcBef>
                <a:spcPct val="0"/>
              </a:spcBef>
              <a:buClrTx/>
              <a:buSzTx/>
              <a:buNone/>
            </a:pPr>
            <a:r>
              <a:rPr lang="zh-CN" altLang="en-US" dirty="0" smtClean="0">
                <a:solidFill>
                  <a:srgbClr val="000000"/>
                </a:solidFill>
              </a:rPr>
              <a:t>谁掌握了数据   谁就掌握了主动权</a:t>
            </a:r>
            <a:endParaRPr kumimoji="1" lang="zh-CN" altLang="en-US" i="0" u="none" strike="noStrike" kern="0" cap="none" spc="0" normalizeH="0" baseline="0" noProof="0" dirty="0" smtClean="0">
              <a:ln>
                <a:noFill/>
              </a:ln>
              <a:solidFill>
                <a:srgbClr val="000000"/>
              </a:solidFill>
              <a:effectLst/>
              <a:uLnTx/>
              <a:uFillTx/>
              <a:latin typeface="+mj-lt"/>
              <a:ea typeface="+mj-ea"/>
              <a:cs typeface="+mj-cs"/>
            </a:endParaRPr>
          </a:p>
        </p:txBody>
      </p:sp>
      <p:sp>
        <p:nvSpPr>
          <p:cNvPr id="34" name="矩形 33"/>
          <p:cNvSpPr/>
          <p:nvPr/>
        </p:nvSpPr>
        <p:spPr>
          <a:xfrm>
            <a:off x="467544" y="1484784"/>
            <a:ext cx="603242" cy="4896544"/>
          </a:xfrm>
          <a:prstGeom prst="rect">
            <a:avLst/>
          </a:prstGeom>
          <a:solidFill>
            <a:schemeClr val="accent5"/>
          </a:solidFill>
        </p:spPr>
        <p:txBody>
          <a:bodyPr vert="eaVert" wrap="square">
            <a:spAutoFit/>
          </a:bodyPr>
          <a:lstStyle/>
          <a:p>
            <a:pPr>
              <a:lnSpc>
                <a:spcPct val="85000"/>
              </a:lnSpc>
              <a:buNone/>
            </a:pPr>
            <a:r>
              <a:rPr kumimoji="1" lang="zh-CN" altLang="en-US" sz="3200" dirty="0" smtClean="0">
                <a:solidFill>
                  <a:srgbClr val="000000"/>
                </a:solidFill>
              </a:rPr>
              <a:t>哪里有数据  哪里就有统计</a:t>
            </a:r>
            <a:endParaRPr lang="zh-CN" altLang="en-US" sz="3200" dirty="0"/>
          </a:p>
        </p:txBody>
      </p:sp>
      <p:pic>
        <p:nvPicPr>
          <p:cNvPr id="203777" name="Picture 1"/>
          <p:cNvPicPr>
            <a:picLocks noChangeAspect="1" noChangeArrowheads="1"/>
          </p:cNvPicPr>
          <p:nvPr/>
        </p:nvPicPr>
        <p:blipFill>
          <a:blip r:embed="rId3" cstate="print"/>
          <a:srcRect/>
          <a:stretch>
            <a:fillRect/>
          </a:stretch>
        </p:blipFill>
        <p:spPr bwMode="auto">
          <a:xfrm>
            <a:off x="1691680" y="1340768"/>
            <a:ext cx="5544616" cy="4957564"/>
          </a:xfrm>
          <a:prstGeom prst="rect">
            <a:avLst/>
          </a:prstGeom>
          <a:noFill/>
          <a:ln w="9525">
            <a:noFill/>
            <a:miter lim="800000"/>
            <a:headEnd/>
            <a:tailEnd/>
          </a:ln>
        </p:spPr>
      </p:pic>
      <p:sp>
        <p:nvSpPr>
          <p:cNvPr id="8" name="灯片编号占位符 7"/>
          <p:cNvSpPr>
            <a:spLocks noGrp="1"/>
          </p:cNvSpPr>
          <p:nvPr>
            <p:ph type="sldNum" sz="quarter" idx="12"/>
          </p:nvPr>
        </p:nvSpPr>
        <p:spPr/>
        <p:txBody>
          <a:bodyPr/>
          <a:lstStyle/>
          <a:p>
            <a:pPr>
              <a:defRPr/>
            </a:pPr>
            <a:fld id="{47B6616A-C4FF-49E2-A2BD-C1BE94A88A57}" type="slidenum">
              <a:rPr lang="en-US" altLang="zh-CN" smtClean="0">
                <a:solidFill>
                  <a:srgbClr val="545472"/>
                </a:solidFill>
              </a:rPr>
              <a:pPr>
                <a:defRPr/>
              </a:pPr>
              <a:t>11</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187624" y="283406"/>
            <a:ext cx="7772400" cy="990600"/>
          </a:xfrm>
        </p:spPr>
        <p:txBody>
          <a:bodyPr/>
          <a:lstStyle/>
          <a:p>
            <a:pPr algn="l" eaLnBrk="1" hangingPunct="1"/>
            <a:r>
              <a:rPr lang="zh-CN" altLang="en-US" dirty="0" smtClean="0"/>
              <a:t>统计与大数据</a:t>
            </a:r>
          </a:p>
        </p:txBody>
      </p:sp>
      <p:sp>
        <p:nvSpPr>
          <p:cNvPr id="28675" name="Rectangle 3"/>
          <p:cNvSpPr>
            <a:spLocks noGrp="1" noChangeArrowheads="1"/>
          </p:cNvSpPr>
          <p:nvPr>
            <p:ph idx="1"/>
          </p:nvPr>
        </p:nvSpPr>
        <p:spPr>
          <a:xfrm>
            <a:off x="611560" y="1340768"/>
            <a:ext cx="7715250" cy="4998950"/>
          </a:xfrm>
        </p:spPr>
        <p:txBody>
          <a:bodyPr/>
          <a:lstStyle/>
          <a:p>
            <a:pPr eaLnBrk="1" hangingPunct="1">
              <a:defRPr/>
            </a:pPr>
            <a:r>
              <a:rPr lang="zh-CN" altLang="en-US" dirty="0" smtClean="0">
                <a:solidFill>
                  <a:schemeClr val="tx2"/>
                </a:solidFill>
              </a:rPr>
              <a:t>统计在信息社会中的重要作用</a:t>
            </a:r>
            <a:r>
              <a:rPr lang="en-US" altLang="zh-CN" sz="2800" dirty="0" smtClean="0">
                <a:solidFill>
                  <a:srgbClr val="000000"/>
                </a:solidFill>
                <a:latin typeface="+mn-ea"/>
              </a:rPr>
              <a:t>:</a:t>
            </a:r>
          </a:p>
          <a:p>
            <a:pPr lvl="1" eaLnBrk="1" hangingPunct="1">
              <a:defRPr/>
            </a:pPr>
            <a:r>
              <a:rPr lang="zh-CN" altLang="en-US" sz="2600" dirty="0" smtClean="0"/>
              <a:t>提供收集信息的理论方法；</a:t>
            </a:r>
            <a:endParaRPr lang="en-US" altLang="zh-CN" sz="2600" dirty="0" smtClean="0"/>
          </a:p>
          <a:p>
            <a:pPr lvl="1" eaLnBrk="1" hangingPunct="1">
              <a:lnSpc>
                <a:spcPct val="110000"/>
              </a:lnSpc>
              <a:spcBef>
                <a:spcPts val="1200"/>
              </a:spcBef>
              <a:defRPr/>
            </a:pPr>
            <a:r>
              <a:rPr lang="zh-CN" altLang="en-US" sz="2600" dirty="0" smtClean="0"/>
              <a:t>提供加工处理信息的理论方法</a:t>
            </a:r>
            <a:r>
              <a:rPr lang="en-US" altLang="zh-CN" sz="2600" dirty="0" smtClean="0"/>
              <a:t>.</a:t>
            </a:r>
          </a:p>
          <a:p>
            <a:pPr eaLnBrk="1" hangingPunct="1">
              <a:defRPr/>
            </a:pPr>
            <a:r>
              <a:rPr lang="zh-CN" altLang="en-US" dirty="0" smtClean="0"/>
              <a:t>大数据时代，统计的作用日益凸显</a:t>
            </a:r>
            <a:endParaRPr lang="en-US" altLang="zh-CN" dirty="0" smtClean="0"/>
          </a:p>
          <a:p>
            <a:pPr lvl="1" eaLnBrk="1" hangingPunct="1">
              <a:defRPr/>
            </a:pPr>
            <a:r>
              <a:rPr lang="zh-CN" altLang="zh-CN" dirty="0" smtClean="0">
                <a:latin typeface="华文中宋" panose="02010600040101010101" pitchFamily="2" charset="-122"/>
                <a:ea typeface="华文中宋" panose="02010600040101010101" pitchFamily="2" charset="-122"/>
                <a:cs typeface="Times New Roman" panose="02020603050405020304" pitchFamily="18" charset="0"/>
              </a:rPr>
              <a:t>大</a:t>
            </a:r>
            <a:r>
              <a:rPr lang="zh-CN" altLang="zh-CN" dirty="0">
                <a:latin typeface="华文中宋" panose="02010600040101010101" pitchFamily="2" charset="-122"/>
                <a:ea typeface="华文中宋" panose="02010600040101010101" pitchFamily="2" charset="-122"/>
                <a:cs typeface="Times New Roman" panose="02020603050405020304" pitchFamily="18" charset="0"/>
              </a:rPr>
              <a:t>数据时代，</a:t>
            </a:r>
            <a:r>
              <a:rPr lang="zh-CN" altLang="zh-CN" dirty="0">
                <a:latin typeface="华文中宋" panose="02010600040101010101" pitchFamily="2" charset="-122"/>
                <a:ea typeface="华文中宋" panose="02010600040101010101" pitchFamily="2" charset="-122"/>
                <a:cs typeface="宋体" panose="02010600030101010101" pitchFamily="2" charset="-122"/>
              </a:rPr>
              <a:t>数据的规模、类型、结构和增长速度发生了很大的变化，</a:t>
            </a:r>
            <a:r>
              <a:rPr lang="zh-CN" altLang="zh-CN" dirty="0">
                <a:latin typeface="华文中宋" panose="02010600040101010101" pitchFamily="2" charset="-122"/>
                <a:ea typeface="华文中宋" panose="02010600040101010101" pitchFamily="2" charset="-122"/>
                <a:cs typeface="Times New Roman" panose="02020603050405020304" pitchFamily="18" charset="0"/>
              </a:rPr>
              <a:t>如此背景下，统计方法和统计思想成为每个人的必修课，</a:t>
            </a:r>
            <a:r>
              <a:rPr lang="zh-CN" altLang="zh-CN" dirty="0">
                <a:latin typeface="华文中宋" panose="02010600040101010101" pitchFamily="2" charset="-122"/>
                <a:ea typeface="华文中宋" panose="02010600040101010101" pitchFamily="2" charset="-122"/>
                <a:cs typeface="宋体" panose="02010600030101010101" pitchFamily="2" charset="-122"/>
              </a:rPr>
              <a:t>统计学依然是数据分析的灵魂，它会引领我们合理分析利用大数据资源</a:t>
            </a:r>
            <a:r>
              <a:rPr lang="zh-CN" altLang="zh-CN" dirty="0" smtClean="0">
                <a:latin typeface="华文中宋" panose="02010600040101010101" pitchFamily="2" charset="-122"/>
                <a:ea typeface="华文中宋" panose="02010600040101010101" pitchFamily="2" charset="-122"/>
                <a:cs typeface="宋体" panose="02010600030101010101" pitchFamily="2" charset="-122"/>
              </a:rPr>
              <a:t>。</a:t>
            </a:r>
            <a:r>
              <a:rPr lang="zh-CN" altLang="en-US" sz="2600" dirty="0"/>
              <a:t>对大数据整合关联分析，发现新的知识和价值</a:t>
            </a:r>
            <a:endParaRPr lang="en-US" altLang="zh-CN" sz="2600" dirty="0"/>
          </a:p>
          <a:p>
            <a:pPr lvl="1" eaLnBrk="1" hangingPunct="1">
              <a:defRPr/>
            </a:pPr>
            <a:endParaRPr lang="en-US" altLang="zh-CN" sz="2600" dirty="0" smtClean="0"/>
          </a:p>
        </p:txBody>
      </p:sp>
      <p:sp>
        <p:nvSpPr>
          <p:cNvPr id="4" name="灯片编号占位符 3"/>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12</a:t>
            </a:fld>
            <a:endParaRPr lang="en-US" altLang="zh-CN" dirty="0">
              <a:solidFill>
                <a:srgbClr val="545472"/>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8675">
                                            <p:txEl>
                                              <p:pRg st="3" end="3"/>
                                            </p:txEl>
                                          </p:spTgt>
                                        </p:tgtEl>
                                        <p:attrNameLst>
                                          <p:attrName>style.visibility</p:attrName>
                                        </p:attrNameLst>
                                      </p:cBhvr>
                                      <p:to>
                                        <p:strVal val="visible"/>
                                      </p:to>
                                    </p:set>
                                    <p:animEffect transition="in" filter="wipe(down)">
                                      <p:cBhvr>
                                        <p:cTn id="7" dur="500"/>
                                        <p:tgtEl>
                                          <p:spTgt spid="28675">
                                            <p:txEl>
                                              <p:pRg st="3" end="3"/>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8675">
                                            <p:txEl>
                                              <p:pRg st="4" end="4"/>
                                            </p:txEl>
                                          </p:spTgt>
                                        </p:tgtEl>
                                        <p:attrNameLst>
                                          <p:attrName>style.visibility</p:attrName>
                                        </p:attrNameLst>
                                      </p:cBhvr>
                                      <p:to>
                                        <p:strVal val="visible"/>
                                      </p:to>
                                    </p:set>
                                    <p:animEffect transition="in" filter="wipe(down)">
                                      <p:cBhvr>
                                        <p:cTn id="10" dur="500"/>
                                        <p:tgtEl>
                                          <p:spTgt spid="2867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28600"/>
            <a:ext cx="7772400" cy="896144"/>
          </a:xfrm>
        </p:spPr>
        <p:txBody>
          <a:bodyPr/>
          <a:lstStyle/>
          <a:p>
            <a:r>
              <a:rPr lang="zh-CN" altLang="en-US" dirty="0" smtClean="0"/>
              <a:t>大数据的</a:t>
            </a:r>
            <a:r>
              <a:rPr lang="en-US" altLang="zh-CN" dirty="0" smtClean="0"/>
              <a:t>4 V </a:t>
            </a:r>
            <a:r>
              <a:rPr lang="zh-CN" altLang="en-US" dirty="0" smtClean="0"/>
              <a:t>特性</a:t>
            </a:r>
            <a:endParaRPr lang="zh-CN" altLang="en-US" dirty="0"/>
          </a:p>
        </p:txBody>
      </p:sp>
      <p:sp>
        <p:nvSpPr>
          <p:cNvPr id="3" name="内容占位符 2"/>
          <p:cNvSpPr>
            <a:spLocks noGrp="1"/>
          </p:cNvSpPr>
          <p:nvPr>
            <p:ph idx="1"/>
          </p:nvPr>
        </p:nvSpPr>
        <p:spPr>
          <a:xfrm>
            <a:off x="179512" y="1124744"/>
            <a:ext cx="8640960" cy="5123656"/>
          </a:xfrm>
        </p:spPr>
        <p:txBody>
          <a:bodyPr/>
          <a:lstStyle/>
          <a:p>
            <a:pPr>
              <a:spcBef>
                <a:spcPts val="300"/>
              </a:spcBef>
            </a:pPr>
            <a:r>
              <a:rPr lang="zh-CN" altLang="en-US" sz="2800" dirty="0" smtClean="0"/>
              <a:t>体量大（</a:t>
            </a:r>
            <a:r>
              <a:rPr lang="en-US" altLang="zh-CN" sz="2800" dirty="0" smtClean="0"/>
              <a:t>Volume</a:t>
            </a:r>
            <a:r>
              <a:rPr lang="zh-CN" altLang="en-US" sz="2800" dirty="0" smtClean="0"/>
              <a:t>）</a:t>
            </a:r>
            <a:endParaRPr lang="en-US" altLang="zh-CN" sz="2800" dirty="0" smtClean="0"/>
          </a:p>
          <a:p>
            <a:pPr lvl="1">
              <a:spcBef>
                <a:spcPts val="300"/>
              </a:spcBef>
            </a:pPr>
            <a:r>
              <a:rPr lang="zh-CN" altLang="en-US" sz="2400" b="0" dirty="0" smtClean="0">
                <a:latin typeface="Calibri" pitchFamily="34" charset="0"/>
                <a:ea typeface="黑体" pitchFamily="49" charset="-122"/>
              </a:rPr>
              <a:t>数据量的计量单位不断升级：</a:t>
            </a:r>
            <a:r>
              <a:rPr lang="en-US" altLang="zh-CN" sz="2400" dirty="0" smtClean="0">
                <a:latin typeface="黑体" pitchFamily="49" charset="-122"/>
                <a:ea typeface="黑体" pitchFamily="49" charset="-122"/>
              </a:rPr>
              <a:t>Byte</a:t>
            </a:r>
            <a:r>
              <a:rPr lang="zh-CN" altLang="en-US" sz="2400" dirty="0" smtClean="0">
                <a:latin typeface="黑体" pitchFamily="49" charset="-122"/>
                <a:ea typeface="黑体" pitchFamily="49" charset="-122"/>
              </a:rPr>
              <a:t>、</a:t>
            </a:r>
            <a:r>
              <a:rPr lang="en-US" altLang="zh-CN" sz="2400" dirty="0" smtClean="0">
                <a:latin typeface="黑体" pitchFamily="49" charset="-122"/>
                <a:ea typeface="黑体" pitchFamily="49" charset="-122"/>
              </a:rPr>
              <a:t>KB</a:t>
            </a:r>
            <a:r>
              <a:rPr lang="zh-CN" altLang="en-US" sz="2400" dirty="0" smtClean="0">
                <a:latin typeface="黑体" pitchFamily="49" charset="-122"/>
                <a:ea typeface="黑体" pitchFamily="49" charset="-122"/>
              </a:rPr>
              <a:t>、</a:t>
            </a:r>
            <a:r>
              <a:rPr lang="en-US" altLang="zh-CN" sz="2400" dirty="0" smtClean="0">
                <a:latin typeface="黑体" pitchFamily="49" charset="-122"/>
                <a:ea typeface="黑体" pitchFamily="49" charset="-122"/>
              </a:rPr>
              <a:t>MB</a:t>
            </a:r>
            <a:r>
              <a:rPr lang="zh-CN" altLang="en-US" sz="2400" dirty="0" smtClean="0">
                <a:latin typeface="黑体" pitchFamily="49" charset="-122"/>
                <a:ea typeface="黑体" pitchFamily="49" charset="-122"/>
              </a:rPr>
              <a:t>、</a:t>
            </a:r>
            <a:r>
              <a:rPr lang="en-US" altLang="zh-CN" sz="2400" dirty="0" smtClean="0">
                <a:latin typeface="黑体" pitchFamily="49" charset="-122"/>
                <a:ea typeface="黑体" pitchFamily="49" charset="-122"/>
              </a:rPr>
              <a:t>GB</a:t>
            </a:r>
            <a:r>
              <a:rPr lang="zh-CN" altLang="en-US" sz="2400" dirty="0" smtClean="0">
                <a:latin typeface="黑体" pitchFamily="49" charset="-122"/>
                <a:ea typeface="黑体" pitchFamily="49" charset="-122"/>
              </a:rPr>
              <a:t>、</a:t>
            </a:r>
            <a:r>
              <a:rPr lang="en-US" altLang="zh-CN" sz="2400" dirty="0" smtClean="0">
                <a:latin typeface="黑体" pitchFamily="49" charset="-122"/>
                <a:ea typeface="黑体" pitchFamily="49" charset="-122"/>
              </a:rPr>
              <a:t>TB</a:t>
            </a:r>
            <a:r>
              <a:rPr lang="zh-CN" altLang="en-US" sz="2400" dirty="0" smtClean="0">
                <a:latin typeface="黑体" pitchFamily="49" charset="-122"/>
                <a:ea typeface="黑体" pitchFamily="49" charset="-122"/>
              </a:rPr>
              <a:t>、</a:t>
            </a:r>
            <a:r>
              <a:rPr lang="en-US" altLang="zh-CN" sz="2400" dirty="0" smtClean="0">
                <a:solidFill>
                  <a:srgbClr val="990000"/>
                </a:solidFill>
                <a:latin typeface="黑体" pitchFamily="49" charset="-122"/>
                <a:ea typeface="黑体" pitchFamily="49" charset="-122"/>
              </a:rPr>
              <a:t>PB</a:t>
            </a:r>
            <a:r>
              <a:rPr lang="zh-CN" altLang="en-US" sz="2400" dirty="0" smtClean="0">
                <a:solidFill>
                  <a:srgbClr val="990000"/>
                </a:solidFill>
                <a:latin typeface="黑体" pitchFamily="49" charset="-122"/>
                <a:ea typeface="黑体" pitchFamily="49" charset="-122"/>
              </a:rPr>
              <a:t>、</a:t>
            </a:r>
            <a:r>
              <a:rPr lang="en-US" altLang="zh-CN" sz="2400" dirty="0" smtClean="0">
                <a:solidFill>
                  <a:srgbClr val="990000"/>
                </a:solidFill>
                <a:latin typeface="黑体" pitchFamily="49" charset="-122"/>
                <a:ea typeface="黑体" pitchFamily="49" charset="-122"/>
              </a:rPr>
              <a:t>EB</a:t>
            </a:r>
            <a:r>
              <a:rPr lang="zh-CN" altLang="en-US" sz="2400" dirty="0" smtClean="0">
                <a:solidFill>
                  <a:srgbClr val="990000"/>
                </a:solidFill>
                <a:latin typeface="黑体" pitchFamily="49" charset="-122"/>
                <a:ea typeface="黑体" pitchFamily="49" charset="-122"/>
              </a:rPr>
              <a:t>、</a:t>
            </a:r>
            <a:r>
              <a:rPr lang="en-US" altLang="zh-CN" sz="2400" dirty="0" smtClean="0">
                <a:solidFill>
                  <a:srgbClr val="990000"/>
                </a:solidFill>
                <a:latin typeface="黑体" pitchFamily="49" charset="-122"/>
                <a:ea typeface="黑体" pitchFamily="49" charset="-122"/>
              </a:rPr>
              <a:t>ZB</a:t>
            </a:r>
            <a:r>
              <a:rPr lang="zh-CN" altLang="en-US" sz="2400" dirty="0" smtClean="0">
                <a:solidFill>
                  <a:srgbClr val="990000"/>
                </a:solidFill>
                <a:latin typeface="黑体" pitchFamily="49" charset="-122"/>
                <a:ea typeface="黑体" pitchFamily="49" charset="-122"/>
              </a:rPr>
              <a:t>、</a:t>
            </a:r>
            <a:r>
              <a:rPr lang="en-US" altLang="zh-CN" sz="2400" dirty="0" smtClean="0">
                <a:solidFill>
                  <a:srgbClr val="990000"/>
                </a:solidFill>
                <a:latin typeface="黑体" pitchFamily="49" charset="-122"/>
                <a:ea typeface="黑体" pitchFamily="49" charset="-122"/>
              </a:rPr>
              <a:t>YB</a:t>
            </a:r>
            <a:r>
              <a:rPr lang="zh-CN" altLang="en-US" sz="2400" dirty="0" smtClean="0">
                <a:solidFill>
                  <a:srgbClr val="990000"/>
                </a:solidFill>
                <a:latin typeface="黑体" pitchFamily="49" charset="-122"/>
                <a:ea typeface="黑体" pitchFamily="49" charset="-122"/>
              </a:rPr>
              <a:t>、</a:t>
            </a:r>
            <a:r>
              <a:rPr lang="en-US" altLang="zh-CN" sz="2400" dirty="0" smtClean="0">
                <a:solidFill>
                  <a:srgbClr val="990000"/>
                </a:solidFill>
                <a:latin typeface="黑体" pitchFamily="49" charset="-122"/>
                <a:ea typeface="黑体" pitchFamily="49" charset="-122"/>
              </a:rPr>
              <a:t>DB</a:t>
            </a:r>
            <a:r>
              <a:rPr lang="zh-CN" altLang="en-US" sz="2400" dirty="0" smtClean="0">
                <a:solidFill>
                  <a:srgbClr val="990000"/>
                </a:solidFill>
                <a:latin typeface="黑体" pitchFamily="49" charset="-122"/>
                <a:ea typeface="黑体" pitchFamily="49" charset="-122"/>
              </a:rPr>
              <a:t>、</a:t>
            </a:r>
            <a:r>
              <a:rPr lang="en-US" altLang="zh-CN" sz="2400" dirty="0" smtClean="0">
                <a:solidFill>
                  <a:srgbClr val="990000"/>
                </a:solidFill>
                <a:latin typeface="黑体" pitchFamily="49" charset="-122"/>
                <a:ea typeface="黑体" pitchFamily="49" charset="-122"/>
              </a:rPr>
              <a:t>NB</a:t>
            </a:r>
            <a:r>
              <a:rPr lang="zh-CN" altLang="en-US" sz="2400" dirty="0" smtClean="0">
                <a:solidFill>
                  <a:srgbClr val="990000"/>
                </a:solidFill>
                <a:latin typeface="黑体" pitchFamily="49" charset="-122"/>
                <a:ea typeface="黑体" pitchFamily="49" charset="-122"/>
              </a:rPr>
              <a:t>。</a:t>
            </a:r>
            <a:r>
              <a:rPr lang="en-US" altLang="zh-CN" sz="2400" b="0" dirty="0" smtClean="0">
                <a:solidFill>
                  <a:schemeClr val="accent4"/>
                </a:solidFill>
                <a:latin typeface="黑体" pitchFamily="49" charset="-122"/>
                <a:ea typeface="黑体" pitchFamily="49" charset="-122"/>
              </a:rPr>
              <a:t>PB</a:t>
            </a:r>
            <a:r>
              <a:rPr lang="zh-CN" altLang="en-US" sz="2400" b="0" dirty="0" smtClean="0">
                <a:solidFill>
                  <a:schemeClr val="accent4"/>
                </a:solidFill>
                <a:latin typeface="黑体" pitchFamily="49" charset="-122"/>
                <a:ea typeface="黑体" pitchFamily="49" charset="-122"/>
              </a:rPr>
              <a:t>是大数据的临界点。</a:t>
            </a:r>
            <a:endParaRPr lang="en-US" altLang="zh-CN" b="0" dirty="0" smtClean="0">
              <a:solidFill>
                <a:schemeClr val="accent4"/>
              </a:solidFill>
            </a:endParaRPr>
          </a:p>
          <a:p>
            <a:pPr lvl="1">
              <a:spcBef>
                <a:spcPts val="300"/>
              </a:spcBef>
            </a:pPr>
            <a:r>
              <a:rPr lang="zh-CN" altLang="en-US" sz="2200" b="0" dirty="0" smtClean="0"/>
              <a:t>某公司每天爬取和处理中国主要电商平台超</a:t>
            </a:r>
            <a:r>
              <a:rPr lang="en-US" altLang="zh-CN" sz="2200" b="0" dirty="0" smtClean="0"/>
              <a:t>100</a:t>
            </a:r>
            <a:r>
              <a:rPr lang="zh-CN" altLang="en-US" sz="2200" b="0" dirty="0" smtClean="0"/>
              <a:t>亿的交易额，覆盖全网</a:t>
            </a:r>
            <a:r>
              <a:rPr lang="en-US" altLang="zh-CN" sz="2200" b="0" dirty="0" smtClean="0"/>
              <a:t>2</a:t>
            </a:r>
            <a:r>
              <a:rPr lang="zh-CN" altLang="en-US" sz="2200" b="0" dirty="0" smtClean="0"/>
              <a:t>万</a:t>
            </a:r>
            <a:r>
              <a:rPr lang="en-US" altLang="zh-CN" sz="2200" b="0" dirty="0" smtClean="0"/>
              <a:t>+</a:t>
            </a:r>
            <a:r>
              <a:rPr lang="zh-CN" altLang="en-US" sz="2200" b="0" dirty="0" smtClean="0"/>
              <a:t>细分行业、</a:t>
            </a:r>
            <a:r>
              <a:rPr lang="en-US" altLang="zh-CN" sz="2200" b="0" dirty="0" smtClean="0"/>
              <a:t>40</a:t>
            </a:r>
            <a:r>
              <a:rPr lang="zh-CN" altLang="en-US" sz="2200" b="0" dirty="0" smtClean="0"/>
              <a:t>万</a:t>
            </a:r>
            <a:r>
              <a:rPr lang="en-US" altLang="zh-CN" sz="2200" b="0" dirty="0" smtClean="0"/>
              <a:t>+</a:t>
            </a:r>
            <a:r>
              <a:rPr lang="zh-CN" altLang="en-US" sz="2200" b="0" dirty="0" smtClean="0"/>
              <a:t>品牌。</a:t>
            </a:r>
            <a:endParaRPr lang="en-US" altLang="zh-CN" sz="2200" dirty="0" smtClean="0"/>
          </a:p>
          <a:p>
            <a:pPr>
              <a:spcBef>
                <a:spcPts val="300"/>
              </a:spcBef>
            </a:pPr>
            <a:r>
              <a:rPr lang="zh-CN" altLang="en-US" sz="2800" dirty="0" smtClean="0"/>
              <a:t>多样性（</a:t>
            </a:r>
            <a:r>
              <a:rPr lang="en-US" altLang="zh-CN" sz="2800" dirty="0" smtClean="0"/>
              <a:t>Variety</a:t>
            </a:r>
            <a:r>
              <a:rPr lang="zh-CN" altLang="en-US" sz="2800" dirty="0" smtClean="0"/>
              <a:t>）</a:t>
            </a:r>
            <a:endParaRPr lang="en-US" altLang="zh-CN" sz="2800" dirty="0" smtClean="0"/>
          </a:p>
          <a:p>
            <a:pPr lvl="1">
              <a:spcBef>
                <a:spcPts val="300"/>
              </a:spcBef>
            </a:pPr>
            <a:r>
              <a:rPr lang="zh-CN" altLang="zh-CN" sz="2200" b="0" dirty="0" smtClean="0"/>
              <a:t>数据</a:t>
            </a:r>
            <a:r>
              <a:rPr lang="zh-CN" altLang="en-US" sz="2200" b="0" dirty="0" smtClean="0"/>
              <a:t>有很多不同形式，</a:t>
            </a:r>
            <a:r>
              <a:rPr lang="zh-CN" altLang="zh-CN" sz="2200" b="0" dirty="0" smtClean="0"/>
              <a:t>既包括</a:t>
            </a:r>
            <a:r>
              <a:rPr lang="zh-CN" altLang="en-US" sz="2200" b="0" dirty="0" smtClean="0"/>
              <a:t>结构</a:t>
            </a:r>
            <a:r>
              <a:rPr lang="zh-CN" altLang="zh-CN" sz="2200" b="0" dirty="0" smtClean="0"/>
              <a:t>化的，又包括</a:t>
            </a:r>
            <a:r>
              <a:rPr lang="zh-CN" altLang="en-US" sz="2200" b="0" dirty="0" smtClean="0"/>
              <a:t>文本</a:t>
            </a:r>
            <a:r>
              <a:rPr lang="zh-CN" altLang="zh-CN" sz="2200" b="0" dirty="0" smtClean="0"/>
              <a:t>、音频、视频、图片、地理信息等非结构型</a:t>
            </a:r>
            <a:r>
              <a:rPr lang="zh-CN" altLang="en-US" sz="2200" b="0" dirty="0" smtClean="0"/>
              <a:t>的</a:t>
            </a:r>
            <a:r>
              <a:rPr lang="zh-CN" altLang="zh-CN" sz="2200" b="0" dirty="0" smtClean="0"/>
              <a:t>。非结构</a:t>
            </a:r>
            <a:r>
              <a:rPr lang="zh-CN" altLang="en-US" sz="2200" b="0" dirty="0" smtClean="0"/>
              <a:t>化数据比结构化护具增长快</a:t>
            </a:r>
            <a:r>
              <a:rPr lang="en-US" altLang="zh-CN" sz="2200" b="0" dirty="0" smtClean="0"/>
              <a:t>10-50</a:t>
            </a:r>
            <a:r>
              <a:rPr lang="zh-CN" altLang="en-US" sz="2200" b="0" dirty="0" smtClean="0"/>
              <a:t>倍。</a:t>
            </a:r>
            <a:endParaRPr lang="en-US" altLang="zh-CN" sz="2200" b="0" dirty="0" smtClean="0"/>
          </a:p>
          <a:p>
            <a:pPr marL="342900" lvl="1" indent="-342900">
              <a:spcBef>
                <a:spcPts val="300"/>
              </a:spcBef>
              <a:buSzPct val="90000"/>
              <a:buBlip>
                <a:blip r:embed="rId3"/>
              </a:buBlip>
            </a:pPr>
            <a:r>
              <a:rPr lang="zh-CN" altLang="en-US" dirty="0" smtClean="0">
                <a:solidFill>
                  <a:srgbClr val="FF33CC"/>
                </a:solidFill>
                <a:cs typeface="+mn-cs"/>
              </a:rPr>
              <a:t>价值密度低（</a:t>
            </a:r>
            <a:r>
              <a:rPr lang="en-US" altLang="zh-CN" dirty="0" smtClean="0">
                <a:solidFill>
                  <a:srgbClr val="FF33CC"/>
                </a:solidFill>
                <a:cs typeface="+mn-cs"/>
              </a:rPr>
              <a:t>Value</a:t>
            </a:r>
            <a:r>
              <a:rPr lang="zh-CN" altLang="en-US" dirty="0" smtClean="0">
                <a:solidFill>
                  <a:srgbClr val="FF33CC"/>
                </a:solidFill>
                <a:cs typeface="+mn-cs"/>
              </a:rPr>
              <a:t>）</a:t>
            </a:r>
            <a:endParaRPr lang="en-US" altLang="zh-CN" dirty="0" smtClean="0">
              <a:solidFill>
                <a:srgbClr val="FF33CC"/>
              </a:solidFill>
              <a:cs typeface="+mn-cs"/>
            </a:endParaRPr>
          </a:p>
          <a:p>
            <a:pPr lvl="1">
              <a:spcBef>
                <a:spcPts val="300"/>
              </a:spcBef>
            </a:pPr>
            <a:r>
              <a:rPr lang="zh-CN" altLang="zh-CN" sz="2200" b="0" dirty="0" smtClean="0"/>
              <a:t>可能包含大量没有意义</a:t>
            </a:r>
            <a:r>
              <a:rPr lang="zh-CN" altLang="en-US" sz="2200" b="0" dirty="0" smtClean="0"/>
              <a:t>、不相关的</a:t>
            </a:r>
            <a:r>
              <a:rPr lang="zh-CN" altLang="zh-CN" sz="2200" b="0" dirty="0" smtClean="0"/>
              <a:t>甚至是错误的信息</a:t>
            </a:r>
            <a:endParaRPr lang="en-US" altLang="zh-CN" sz="2200" b="0" dirty="0" smtClean="0"/>
          </a:p>
          <a:p>
            <a:pPr marL="342900" lvl="1" indent="-342900">
              <a:spcBef>
                <a:spcPts val="300"/>
              </a:spcBef>
              <a:buSzPct val="90000"/>
              <a:buBlip>
                <a:blip r:embed="rId3"/>
              </a:buBlip>
            </a:pPr>
            <a:r>
              <a:rPr lang="zh-CN" altLang="en-US" dirty="0" smtClean="0">
                <a:solidFill>
                  <a:srgbClr val="FF33CC"/>
                </a:solidFill>
                <a:cs typeface="+mn-cs"/>
              </a:rPr>
              <a:t>速度快（</a:t>
            </a:r>
            <a:r>
              <a:rPr lang="en-US" altLang="zh-CN" dirty="0" smtClean="0">
                <a:solidFill>
                  <a:srgbClr val="FF33CC"/>
                </a:solidFill>
                <a:cs typeface="+mn-cs"/>
              </a:rPr>
              <a:t>Velocity</a:t>
            </a:r>
            <a:r>
              <a:rPr lang="zh-CN" altLang="en-US" dirty="0" smtClean="0">
                <a:solidFill>
                  <a:srgbClr val="FF33CC"/>
                </a:solidFill>
                <a:cs typeface="+mn-cs"/>
              </a:rPr>
              <a:t>）</a:t>
            </a:r>
            <a:endParaRPr lang="en-US" altLang="zh-CN" dirty="0" smtClean="0">
              <a:solidFill>
                <a:srgbClr val="FF33CC"/>
              </a:solidFill>
              <a:cs typeface="+mn-cs"/>
            </a:endParaRPr>
          </a:p>
          <a:p>
            <a:pPr lvl="1">
              <a:spcBef>
                <a:spcPts val="300"/>
              </a:spcBef>
            </a:pPr>
            <a:r>
              <a:rPr lang="zh-CN" altLang="en-US" sz="2200" b="0" dirty="0" smtClean="0"/>
              <a:t>在线的，实时分析</a:t>
            </a:r>
          </a:p>
        </p:txBody>
      </p:sp>
      <p:sp>
        <p:nvSpPr>
          <p:cNvPr id="4" name="灯片编号占位符 3"/>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13</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p:cNvSpPr/>
          <p:nvPr/>
        </p:nvSpPr>
        <p:spPr>
          <a:xfrm>
            <a:off x="2627784" y="548680"/>
            <a:ext cx="3600400" cy="995644"/>
          </a:xfrm>
          <a:prstGeom prst="ellipse">
            <a:avLst/>
          </a:prstGeom>
          <a:solidFill>
            <a:schemeClr val="tx2">
              <a:lumMod val="20000"/>
              <a:lumOff val="80000"/>
            </a:schemeClr>
          </a:solidFill>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r>
              <a:rPr lang="zh-CN" altLang="zh-CN" sz="3200" b="1" dirty="0">
                <a:solidFill>
                  <a:srgbClr val="FF0000"/>
                </a:solidFill>
              </a:rPr>
              <a:t>大数据产业</a:t>
            </a:r>
            <a:endParaRPr lang="zh-CN" altLang="en-US" sz="3200" dirty="0">
              <a:solidFill>
                <a:srgbClr val="FF0000"/>
              </a:solidFill>
            </a:endParaRPr>
          </a:p>
        </p:txBody>
      </p:sp>
      <p:sp>
        <p:nvSpPr>
          <p:cNvPr id="5" name="椭圆 4"/>
          <p:cNvSpPr/>
          <p:nvPr/>
        </p:nvSpPr>
        <p:spPr>
          <a:xfrm>
            <a:off x="1140917" y="1623434"/>
            <a:ext cx="1671624" cy="9366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defRPr/>
            </a:pPr>
            <a:r>
              <a:rPr lang="zh-CN" altLang="zh-CN" b="1" dirty="0">
                <a:solidFill>
                  <a:srgbClr val="0000FF"/>
                </a:solidFill>
              </a:rPr>
              <a:t>政府牵头</a:t>
            </a:r>
            <a:endParaRPr lang="zh-CN" altLang="en-US" dirty="0">
              <a:solidFill>
                <a:srgbClr val="0000FF"/>
              </a:solidFill>
            </a:endParaRPr>
          </a:p>
        </p:txBody>
      </p:sp>
      <p:sp>
        <p:nvSpPr>
          <p:cNvPr id="6" name="椭圆 5"/>
          <p:cNvSpPr/>
          <p:nvPr/>
        </p:nvSpPr>
        <p:spPr>
          <a:xfrm>
            <a:off x="3403864" y="1996009"/>
            <a:ext cx="2232248" cy="10080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buNone/>
              <a:defRPr/>
            </a:pPr>
            <a:r>
              <a:rPr lang="zh-CN" altLang="en-US" b="1" dirty="0">
                <a:solidFill>
                  <a:srgbClr val="0000FF"/>
                </a:solidFill>
              </a:rPr>
              <a:t>企业</a:t>
            </a:r>
            <a:r>
              <a:rPr lang="zh-CN" altLang="en-US" b="1" dirty="0" smtClean="0">
                <a:solidFill>
                  <a:srgbClr val="0000FF"/>
                </a:solidFill>
              </a:rPr>
              <a:t>牵头</a:t>
            </a:r>
            <a:endParaRPr lang="en-US" altLang="zh-CN" b="1" dirty="0" smtClean="0">
              <a:solidFill>
                <a:srgbClr val="0000FF"/>
              </a:solidFill>
            </a:endParaRPr>
          </a:p>
          <a:p>
            <a:pPr algn="ctr">
              <a:buNone/>
              <a:defRPr/>
            </a:pPr>
            <a:r>
              <a:rPr lang="zh-CN" altLang="en-US" sz="2000" b="0" dirty="0" smtClean="0">
                <a:solidFill>
                  <a:srgbClr val="0000FF"/>
                </a:solidFill>
              </a:rPr>
              <a:t>（大数据公司）</a:t>
            </a:r>
            <a:endParaRPr lang="zh-CN" altLang="en-US" sz="2000" b="0" dirty="0">
              <a:solidFill>
                <a:srgbClr val="0000FF"/>
              </a:solidFill>
            </a:endParaRPr>
          </a:p>
        </p:txBody>
      </p:sp>
      <p:sp>
        <p:nvSpPr>
          <p:cNvPr id="7" name="椭圆 6"/>
          <p:cNvSpPr/>
          <p:nvPr/>
        </p:nvSpPr>
        <p:spPr>
          <a:xfrm>
            <a:off x="5840172" y="1777350"/>
            <a:ext cx="2143140" cy="107950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defRPr/>
            </a:pPr>
            <a:r>
              <a:rPr lang="zh-CN" altLang="en-US" sz="2600" b="1" dirty="0" smtClean="0">
                <a:solidFill>
                  <a:srgbClr val="0000FF"/>
                </a:solidFill>
              </a:rPr>
              <a:t>高校</a:t>
            </a:r>
            <a:endParaRPr lang="en-US" altLang="zh-CN" sz="2600" b="1" dirty="0" smtClean="0">
              <a:solidFill>
                <a:srgbClr val="0000FF"/>
              </a:solidFill>
            </a:endParaRPr>
          </a:p>
          <a:p>
            <a:pPr algn="ctr">
              <a:buNone/>
              <a:defRPr/>
            </a:pPr>
            <a:r>
              <a:rPr lang="zh-CN" altLang="en-US" sz="2600" b="1" dirty="0" smtClean="0">
                <a:solidFill>
                  <a:srgbClr val="0000FF"/>
                </a:solidFill>
              </a:rPr>
              <a:t>科研</a:t>
            </a:r>
            <a:r>
              <a:rPr lang="zh-CN" altLang="en-US" sz="2600" b="1" dirty="0">
                <a:solidFill>
                  <a:srgbClr val="0000FF"/>
                </a:solidFill>
              </a:rPr>
              <a:t>部门</a:t>
            </a:r>
          </a:p>
        </p:txBody>
      </p:sp>
      <p:sp>
        <p:nvSpPr>
          <p:cNvPr id="12" name="右箭头 11"/>
          <p:cNvSpPr/>
          <p:nvPr/>
        </p:nvSpPr>
        <p:spPr>
          <a:xfrm rot="18872236">
            <a:off x="2445669" y="1404029"/>
            <a:ext cx="669086" cy="311235"/>
          </a:xfrm>
          <a:prstGeom prst="rightArrow">
            <a:avLst/>
          </a:prstGeom>
          <a:solidFill>
            <a:srgbClr val="1003BD"/>
          </a:solidFill>
          <a:ln>
            <a:solidFill>
              <a:srgbClr val="1003B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3" name="右箭头 12"/>
          <p:cNvSpPr/>
          <p:nvPr/>
        </p:nvSpPr>
        <p:spPr>
          <a:xfrm rot="13427527">
            <a:off x="5788361" y="1470588"/>
            <a:ext cx="726925" cy="294850"/>
          </a:xfrm>
          <a:prstGeom prst="rightArrow">
            <a:avLst/>
          </a:prstGeom>
          <a:solidFill>
            <a:srgbClr val="1003BD"/>
          </a:solidFill>
          <a:ln>
            <a:solidFill>
              <a:srgbClr val="1003B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sp>
        <p:nvSpPr>
          <p:cNvPr id="14" name="矩形 13"/>
          <p:cNvSpPr/>
          <p:nvPr/>
        </p:nvSpPr>
        <p:spPr>
          <a:xfrm>
            <a:off x="282634" y="3089877"/>
            <a:ext cx="8601744" cy="3157788"/>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marL="185738">
              <a:lnSpc>
                <a:spcPct val="105000"/>
              </a:lnSpc>
              <a:buFont typeface="Wingdings" pitchFamily="2" charset="2"/>
              <a:buChar char="l"/>
            </a:pPr>
            <a:r>
              <a:rPr lang="en-US" altLang="zh-CN" sz="2200" dirty="0" smtClean="0">
                <a:solidFill>
                  <a:srgbClr val="000000"/>
                </a:solidFill>
                <a:latin typeface="黑体" pitchFamily="49" charset="-122"/>
                <a:ea typeface="黑体" pitchFamily="49" charset="-122"/>
              </a:rPr>
              <a:t>2014</a:t>
            </a:r>
            <a:r>
              <a:rPr lang="zh-CN" altLang="en-US" sz="2200" dirty="0" smtClean="0">
                <a:solidFill>
                  <a:srgbClr val="000000"/>
                </a:solidFill>
                <a:latin typeface="黑体" pitchFamily="49" charset="-122"/>
                <a:ea typeface="黑体" pitchFamily="49" charset="-122"/>
              </a:rPr>
              <a:t>年</a:t>
            </a:r>
            <a:r>
              <a:rPr lang="en-US" altLang="zh-CN" sz="2200" dirty="0" smtClean="0">
                <a:solidFill>
                  <a:srgbClr val="000000"/>
                </a:solidFill>
                <a:latin typeface="黑体" pitchFamily="49" charset="-122"/>
                <a:ea typeface="黑体" pitchFamily="49" charset="-122"/>
              </a:rPr>
              <a:t>10</a:t>
            </a:r>
            <a:r>
              <a:rPr lang="zh-CN" altLang="en-US" sz="2200" dirty="0" smtClean="0">
                <a:solidFill>
                  <a:srgbClr val="000000"/>
                </a:solidFill>
                <a:latin typeface="黑体" pitchFamily="49" charset="-122"/>
                <a:ea typeface="黑体" pitchFamily="49" charset="-122"/>
              </a:rPr>
              <a:t>月国家统计局和联合国统计司联合主办“大数据和官方统计”国际会议，</a:t>
            </a:r>
            <a:r>
              <a:rPr lang="en-US" altLang="zh-CN" sz="2200" dirty="0" smtClean="0">
                <a:solidFill>
                  <a:srgbClr val="000000"/>
                </a:solidFill>
                <a:latin typeface="黑体" pitchFamily="49" charset="-122"/>
                <a:ea typeface="黑体" pitchFamily="49" charset="-122"/>
              </a:rPr>
              <a:t>27</a:t>
            </a:r>
            <a:r>
              <a:rPr lang="zh-CN" altLang="en-US" sz="2200" dirty="0" smtClean="0">
                <a:solidFill>
                  <a:srgbClr val="000000"/>
                </a:solidFill>
                <a:latin typeface="黑体" pitchFamily="49" charset="-122"/>
                <a:ea typeface="黑体" pitchFamily="49" charset="-122"/>
              </a:rPr>
              <a:t>个国家的近</a:t>
            </a:r>
            <a:r>
              <a:rPr lang="en-US" altLang="zh-CN" sz="2200" dirty="0" smtClean="0">
                <a:solidFill>
                  <a:srgbClr val="000000"/>
                </a:solidFill>
                <a:latin typeface="黑体" pitchFamily="49" charset="-122"/>
                <a:ea typeface="黑体" pitchFamily="49" charset="-122"/>
              </a:rPr>
              <a:t>120</a:t>
            </a:r>
            <a:r>
              <a:rPr lang="zh-CN" altLang="en-US" sz="2200" dirty="0" smtClean="0">
                <a:solidFill>
                  <a:srgbClr val="000000"/>
                </a:solidFill>
                <a:latin typeface="黑体" pitchFamily="49" charset="-122"/>
                <a:ea typeface="黑体" pitchFamily="49" charset="-122"/>
              </a:rPr>
              <a:t>位代表参加研讨会。       </a:t>
            </a:r>
          </a:p>
          <a:p>
            <a:pPr marL="185738">
              <a:lnSpc>
                <a:spcPct val="105000"/>
              </a:lnSpc>
              <a:buFont typeface="Wingdings" pitchFamily="2" charset="2"/>
              <a:buChar char="l"/>
            </a:pPr>
            <a:r>
              <a:rPr lang="en-US" altLang="zh-CN" sz="2200" dirty="0" smtClean="0">
                <a:solidFill>
                  <a:srgbClr val="000000"/>
                </a:solidFill>
                <a:latin typeface="黑体" pitchFamily="49" charset="-122"/>
                <a:ea typeface="黑体" pitchFamily="49" charset="-122"/>
              </a:rPr>
              <a:t>2015</a:t>
            </a:r>
            <a:r>
              <a:rPr lang="zh-CN" altLang="en-US" sz="2200" dirty="0" smtClean="0">
                <a:solidFill>
                  <a:srgbClr val="000000"/>
                </a:solidFill>
                <a:latin typeface="黑体" pitchFamily="49" charset="-122"/>
                <a:ea typeface="黑体" pitchFamily="49" charset="-122"/>
              </a:rPr>
              <a:t>年广州、沈阳、成都等多地先后宣布准备设立</a:t>
            </a:r>
            <a:r>
              <a:rPr lang="zh-CN" altLang="zh-CN" sz="2200" dirty="0" smtClean="0">
                <a:solidFill>
                  <a:srgbClr val="000000"/>
                </a:solidFill>
              </a:rPr>
              <a:t>成立“大数据管理局”</a:t>
            </a:r>
            <a:r>
              <a:rPr lang="zh-CN" altLang="en-US" sz="2200" dirty="0" smtClean="0">
                <a:solidFill>
                  <a:srgbClr val="000000"/>
                </a:solidFill>
              </a:rPr>
              <a:t>等机构，</a:t>
            </a:r>
            <a:r>
              <a:rPr lang="zh-CN" altLang="en-US" sz="2200" dirty="0" smtClean="0">
                <a:solidFill>
                  <a:srgbClr val="000000"/>
                </a:solidFill>
                <a:latin typeface="黑体" pitchFamily="49" charset="-122"/>
                <a:ea typeface="黑体" pitchFamily="49" charset="-122"/>
              </a:rPr>
              <a:t>贵阳大数据交易所（中国首个大数据交易所）</a:t>
            </a:r>
            <a:r>
              <a:rPr lang="en-US" altLang="zh-CN" sz="2200" dirty="0" smtClean="0">
                <a:solidFill>
                  <a:srgbClr val="000000"/>
                </a:solidFill>
                <a:latin typeface="黑体" pitchFamily="49" charset="-122"/>
                <a:ea typeface="黑体" pitchFamily="49" charset="-122"/>
              </a:rPr>
              <a:t>2015</a:t>
            </a:r>
            <a:r>
              <a:rPr lang="zh-CN" altLang="en-US" sz="2200" dirty="0" smtClean="0">
                <a:solidFill>
                  <a:srgbClr val="000000"/>
                </a:solidFill>
                <a:latin typeface="黑体" pitchFamily="49" charset="-122"/>
                <a:ea typeface="黑体" pitchFamily="49" charset="-122"/>
              </a:rPr>
              <a:t>年</a:t>
            </a:r>
            <a:r>
              <a:rPr lang="en-US" altLang="zh-CN" sz="2200" dirty="0" smtClean="0">
                <a:solidFill>
                  <a:srgbClr val="000000"/>
                </a:solidFill>
                <a:latin typeface="黑体" pitchFamily="49" charset="-122"/>
                <a:ea typeface="黑体" pitchFamily="49" charset="-122"/>
              </a:rPr>
              <a:t>4</a:t>
            </a:r>
            <a:r>
              <a:rPr lang="zh-CN" altLang="en-US" sz="2200" dirty="0" smtClean="0">
                <a:solidFill>
                  <a:srgbClr val="000000"/>
                </a:solidFill>
                <a:latin typeface="黑体" pitchFamily="49" charset="-122"/>
                <a:ea typeface="黑体" pitchFamily="49" charset="-122"/>
              </a:rPr>
              <a:t>月</a:t>
            </a:r>
            <a:r>
              <a:rPr lang="en-US" altLang="zh-CN" sz="2200" dirty="0" smtClean="0">
                <a:solidFill>
                  <a:srgbClr val="000000"/>
                </a:solidFill>
                <a:latin typeface="黑体" pitchFamily="49" charset="-122"/>
                <a:ea typeface="黑体" pitchFamily="49" charset="-122"/>
              </a:rPr>
              <a:t>14</a:t>
            </a:r>
            <a:r>
              <a:rPr lang="zh-CN" altLang="en-US" sz="2200" dirty="0" smtClean="0">
                <a:solidFill>
                  <a:srgbClr val="000000"/>
                </a:solidFill>
                <a:latin typeface="黑体" pitchFamily="49" charset="-122"/>
                <a:ea typeface="黑体" pitchFamily="49" charset="-122"/>
              </a:rPr>
              <a:t>正式挂牌运营。</a:t>
            </a:r>
            <a:endParaRPr lang="en-US" altLang="zh-CN" sz="2200" dirty="0" smtClean="0">
              <a:solidFill>
                <a:srgbClr val="000000"/>
              </a:solidFill>
              <a:latin typeface="黑体" pitchFamily="49" charset="-122"/>
              <a:ea typeface="黑体" pitchFamily="49" charset="-122"/>
            </a:endParaRPr>
          </a:p>
          <a:p>
            <a:pPr marL="185738">
              <a:lnSpc>
                <a:spcPct val="105000"/>
              </a:lnSpc>
              <a:buFont typeface="Wingdings" pitchFamily="2" charset="2"/>
              <a:buChar char="l"/>
            </a:pPr>
            <a:r>
              <a:rPr lang="en-US" altLang="zh-CN" sz="2200" dirty="0" smtClean="0">
                <a:solidFill>
                  <a:srgbClr val="000000"/>
                </a:solidFill>
              </a:rPr>
              <a:t> 2015</a:t>
            </a:r>
            <a:r>
              <a:rPr lang="zh-CN" altLang="zh-CN" sz="2200" dirty="0" smtClean="0">
                <a:solidFill>
                  <a:srgbClr val="000000"/>
                </a:solidFill>
              </a:rPr>
              <a:t>年</a:t>
            </a:r>
            <a:r>
              <a:rPr lang="en-US" altLang="zh-CN" sz="2200" dirty="0" smtClean="0">
                <a:solidFill>
                  <a:srgbClr val="000000"/>
                </a:solidFill>
              </a:rPr>
              <a:t>8</a:t>
            </a:r>
            <a:r>
              <a:rPr lang="zh-CN" altLang="zh-CN" sz="2200" dirty="0" smtClean="0">
                <a:solidFill>
                  <a:srgbClr val="000000"/>
                </a:solidFill>
              </a:rPr>
              <a:t>月</a:t>
            </a:r>
            <a:r>
              <a:rPr lang="en-US" altLang="zh-CN" sz="2200" dirty="0" smtClean="0">
                <a:solidFill>
                  <a:srgbClr val="000000"/>
                </a:solidFill>
              </a:rPr>
              <a:t>31</a:t>
            </a:r>
            <a:r>
              <a:rPr lang="zh-CN" altLang="zh-CN" sz="2200" dirty="0" smtClean="0">
                <a:solidFill>
                  <a:srgbClr val="000000"/>
                </a:solidFill>
              </a:rPr>
              <a:t>日</a:t>
            </a:r>
            <a:r>
              <a:rPr lang="zh-CN" altLang="zh-CN" sz="2200" dirty="0" smtClean="0">
                <a:solidFill>
                  <a:srgbClr val="000000"/>
                </a:solidFill>
                <a:latin typeface="黑体" pitchFamily="49" charset="-122"/>
                <a:ea typeface="黑体" pitchFamily="49" charset="-122"/>
              </a:rPr>
              <a:t>国务院关于印发促进大数据发展行动纲要的通知</a:t>
            </a:r>
            <a:endParaRPr lang="en-US" altLang="zh-CN" sz="2200" dirty="0" smtClean="0">
              <a:solidFill>
                <a:srgbClr val="000000"/>
              </a:solidFill>
              <a:latin typeface="黑体" pitchFamily="49" charset="-122"/>
              <a:ea typeface="黑体" pitchFamily="49" charset="-122"/>
            </a:endParaRPr>
          </a:p>
          <a:p>
            <a:pPr marL="185738">
              <a:lnSpc>
                <a:spcPct val="105000"/>
              </a:lnSpc>
              <a:buFont typeface="Wingdings" pitchFamily="2" charset="2"/>
              <a:buChar char="l"/>
            </a:pPr>
            <a:r>
              <a:rPr lang="en-US" altLang="zh-CN" sz="2400" dirty="0" smtClean="0"/>
              <a:t>2021</a:t>
            </a:r>
            <a:r>
              <a:rPr lang="zh-CN" altLang="en-US" sz="2400" dirty="0" smtClean="0"/>
              <a:t>年国家统计局</a:t>
            </a:r>
            <a:r>
              <a:rPr lang="zh-CN" altLang="en-US" sz="2400" dirty="0"/>
              <a:t>发布统计标准：</a:t>
            </a:r>
            <a:r>
              <a:rPr lang="zh-CN" altLang="en-US" sz="2400" dirty="0">
                <a:solidFill>
                  <a:srgbClr val="0070C0"/>
                </a:solidFill>
                <a:latin typeface="黑体" panose="02010609060101010101" pitchFamily="49" charset="-122"/>
                <a:ea typeface="黑体" panose="02010609060101010101" pitchFamily="49" charset="-122"/>
              </a:rPr>
              <a:t>数字经济及其核心产业统计</a:t>
            </a:r>
            <a:r>
              <a:rPr lang="zh-CN" altLang="en-US" sz="2400" dirty="0" smtClean="0">
                <a:solidFill>
                  <a:srgbClr val="0070C0"/>
                </a:solidFill>
                <a:latin typeface="黑体" panose="02010609060101010101" pitchFamily="49" charset="-122"/>
                <a:ea typeface="黑体" panose="02010609060101010101" pitchFamily="49" charset="-122"/>
              </a:rPr>
              <a:t>分类</a:t>
            </a:r>
            <a:endParaRPr lang="zh-CN" altLang="en-US" sz="2200" dirty="0">
              <a:solidFill>
                <a:srgbClr val="000000"/>
              </a:solidFill>
            </a:endParaRPr>
          </a:p>
        </p:txBody>
      </p:sp>
      <p:sp>
        <p:nvSpPr>
          <p:cNvPr id="20" name="右箭头 19"/>
          <p:cNvSpPr/>
          <p:nvPr/>
        </p:nvSpPr>
        <p:spPr>
          <a:xfrm rot="16200000">
            <a:off x="4301938" y="1702013"/>
            <a:ext cx="503239" cy="276226"/>
          </a:xfrm>
          <a:prstGeom prst="rightArrow">
            <a:avLst/>
          </a:prstGeom>
          <a:solidFill>
            <a:srgbClr val="1003BD"/>
          </a:solidFill>
          <a:ln>
            <a:solidFill>
              <a:srgbClr val="1003B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 name="下箭头 10"/>
          <p:cNvSpPr/>
          <p:nvPr/>
        </p:nvSpPr>
        <p:spPr>
          <a:xfrm rot="1714169" flipH="1">
            <a:off x="1147328" y="2412794"/>
            <a:ext cx="312278" cy="72008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sp>
        <p:nvSpPr>
          <p:cNvPr id="17" name="标题 16"/>
          <p:cNvSpPr>
            <a:spLocks noGrp="1"/>
          </p:cNvSpPr>
          <p:nvPr>
            <p:ph type="title"/>
          </p:nvPr>
        </p:nvSpPr>
        <p:spPr>
          <a:xfrm>
            <a:off x="214282" y="0"/>
            <a:ext cx="3071834" cy="990600"/>
          </a:xfrm>
        </p:spPr>
        <p:txBody>
          <a:bodyPr/>
          <a:lstStyle/>
          <a:p>
            <a:pPr algn="l"/>
            <a:r>
              <a:rPr lang="zh-CN" altLang="en-US" sz="2400" dirty="0" smtClean="0">
                <a:solidFill>
                  <a:schemeClr val="bg2"/>
                </a:solidFill>
              </a:rPr>
              <a:t>大数据产业方兴未艾</a:t>
            </a:r>
            <a:endParaRPr lang="zh-CN" altLang="en-US" sz="2400" dirty="0">
              <a:solidFill>
                <a:schemeClr val="bg2"/>
              </a:solidFill>
            </a:endParaRPr>
          </a:p>
        </p:txBody>
      </p:sp>
      <p:sp>
        <p:nvSpPr>
          <p:cNvPr id="15" name="下箭头 14"/>
          <p:cNvSpPr/>
          <p:nvPr/>
        </p:nvSpPr>
        <p:spPr>
          <a:xfrm rot="12754654" flipH="1">
            <a:off x="7920392" y="1759038"/>
            <a:ext cx="272987" cy="46751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sp>
        <p:nvSpPr>
          <p:cNvPr id="16" name="TextBox 15"/>
          <p:cNvSpPr txBox="1"/>
          <p:nvPr/>
        </p:nvSpPr>
        <p:spPr>
          <a:xfrm>
            <a:off x="7101468" y="1190662"/>
            <a:ext cx="1763688" cy="572464"/>
          </a:xfrm>
          <a:prstGeom prst="rect">
            <a:avLst/>
          </a:prstGeom>
          <a:ln w="3175"/>
        </p:spPr>
        <p:style>
          <a:lnRef idx="2">
            <a:schemeClr val="accent4"/>
          </a:lnRef>
          <a:fillRef idx="1">
            <a:schemeClr val="lt1"/>
          </a:fillRef>
          <a:effectRef idx="0">
            <a:schemeClr val="accent4"/>
          </a:effectRef>
          <a:fontRef idx="minor">
            <a:schemeClr val="dk1"/>
          </a:fontRef>
        </p:style>
        <p:txBody>
          <a:bodyPr wrap="square" rtlCol="0">
            <a:spAutoFit/>
          </a:bodyPr>
          <a:lstStyle/>
          <a:p>
            <a:r>
              <a:rPr lang="zh-CN" altLang="en-US" sz="1600" dirty="0" smtClean="0"/>
              <a:t>大数据专业</a:t>
            </a:r>
            <a:endParaRPr lang="en-US" altLang="zh-CN" sz="1600" dirty="0" smtClean="0"/>
          </a:p>
          <a:p>
            <a:r>
              <a:rPr lang="zh-CN" altLang="en-US" sz="1600" dirty="0" smtClean="0"/>
              <a:t>大数据研究中心</a:t>
            </a:r>
            <a:endParaRPr lang="zh-CN" altLang="en-US" sz="1600" dirty="0"/>
          </a:p>
        </p:txBody>
      </p:sp>
      <p:sp>
        <p:nvSpPr>
          <p:cNvPr id="18" name="灯片编号占位符 17"/>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14</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16632"/>
            <a:ext cx="7838256" cy="680120"/>
          </a:xfrm>
        </p:spPr>
        <p:txBody>
          <a:bodyPr/>
          <a:lstStyle/>
          <a:p>
            <a:r>
              <a:rPr lang="zh-CN" altLang="en-US" sz="2800" dirty="0" smtClean="0"/>
              <a:t>习近平：实施国家大数据战略加快建设数字中国</a:t>
            </a:r>
            <a:endParaRPr lang="zh-CN" altLang="en-US" sz="2800" dirty="0">
              <a:solidFill>
                <a:srgbClr val="0000FF"/>
              </a:solidFill>
            </a:endParaRPr>
          </a:p>
        </p:txBody>
      </p:sp>
      <p:sp>
        <p:nvSpPr>
          <p:cNvPr id="3" name="内容占位符 2"/>
          <p:cNvSpPr>
            <a:spLocks noGrp="1"/>
          </p:cNvSpPr>
          <p:nvPr>
            <p:ph idx="1"/>
          </p:nvPr>
        </p:nvSpPr>
        <p:spPr>
          <a:xfrm>
            <a:off x="2411760" y="864840"/>
            <a:ext cx="6480720" cy="4724400"/>
          </a:xfrm>
        </p:spPr>
        <p:txBody>
          <a:bodyPr/>
          <a:lstStyle/>
          <a:p>
            <a:r>
              <a:rPr lang="en-US" altLang="zh-CN" sz="2000" dirty="0" smtClean="0">
                <a:solidFill>
                  <a:schemeClr val="tx1"/>
                </a:solidFill>
              </a:rPr>
              <a:t>2017</a:t>
            </a:r>
            <a:r>
              <a:rPr lang="zh-CN" altLang="en-US" sz="2000" dirty="0" smtClean="0">
                <a:solidFill>
                  <a:schemeClr val="tx1"/>
                </a:solidFill>
              </a:rPr>
              <a:t>年</a:t>
            </a:r>
            <a:r>
              <a:rPr lang="en-US" altLang="zh-CN" sz="2000" dirty="0" smtClean="0">
                <a:solidFill>
                  <a:schemeClr val="tx1"/>
                </a:solidFill>
              </a:rPr>
              <a:t>12</a:t>
            </a:r>
            <a:r>
              <a:rPr lang="zh-CN" altLang="en-US" sz="2000" dirty="0" smtClean="0">
                <a:solidFill>
                  <a:schemeClr val="tx1"/>
                </a:solidFill>
              </a:rPr>
              <a:t>月</a:t>
            </a:r>
            <a:r>
              <a:rPr lang="en-US" altLang="zh-CN" sz="2000" dirty="0" smtClean="0">
                <a:solidFill>
                  <a:schemeClr val="tx1"/>
                </a:solidFill>
              </a:rPr>
              <a:t>8</a:t>
            </a:r>
            <a:r>
              <a:rPr lang="zh-CN" altLang="en-US" sz="2000" dirty="0" smtClean="0">
                <a:solidFill>
                  <a:schemeClr val="tx1"/>
                </a:solidFill>
              </a:rPr>
              <a:t>日中共中央政治局就国家大数据战略实施进行第二次集体学习。习近平主持学习时指出：</a:t>
            </a:r>
            <a:r>
              <a:rPr lang="zh-CN" altLang="en-US" sz="2200" dirty="0" smtClean="0">
                <a:solidFill>
                  <a:srgbClr val="0000FF"/>
                </a:solidFill>
              </a:rPr>
              <a:t>大数据是信息化发展的新阶段。随着信息技术和人类生产生活交汇融合，互联网快速普及，全球数据呈现爆发增长、海量集聚的特点，对经济发展、社会治理、国家管理、人民生活都产生了重大影响。世界各国都把推进经济数字化作为实现创新发展的重要动能，在前沿技术研发、数据开放共享、隐私安全保护、人才培养等方面做了前瞻性布局。</a:t>
            </a:r>
            <a:endParaRPr lang="zh-CN" altLang="en-US" sz="2000" dirty="0">
              <a:solidFill>
                <a:srgbClr val="0000FF"/>
              </a:solidFill>
            </a:endParaRPr>
          </a:p>
        </p:txBody>
      </p:sp>
      <p:pic>
        <p:nvPicPr>
          <p:cNvPr id="122882" name="Picture 2"/>
          <p:cNvPicPr>
            <a:picLocks noChangeAspect="1" noChangeArrowheads="1"/>
          </p:cNvPicPr>
          <p:nvPr/>
        </p:nvPicPr>
        <p:blipFill>
          <a:blip r:embed="rId2" cstate="print"/>
          <a:srcRect/>
          <a:stretch>
            <a:fillRect/>
          </a:stretch>
        </p:blipFill>
        <p:spPr bwMode="auto">
          <a:xfrm>
            <a:off x="0" y="980728"/>
            <a:ext cx="2701505" cy="2088232"/>
          </a:xfrm>
          <a:prstGeom prst="rect">
            <a:avLst/>
          </a:prstGeom>
          <a:noFill/>
          <a:ln w="9525">
            <a:noFill/>
            <a:miter lim="800000"/>
            <a:headEnd/>
            <a:tailEnd/>
          </a:ln>
        </p:spPr>
      </p:pic>
      <p:sp>
        <p:nvSpPr>
          <p:cNvPr id="5" name="内容占位符 2"/>
          <p:cNvSpPr txBox="1">
            <a:spLocks/>
          </p:cNvSpPr>
          <p:nvPr/>
        </p:nvSpPr>
        <p:spPr bwMode="auto">
          <a:xfrm>
            <a:off x="323528" y="4077072"/>
            <a:ext cx="7920880" cy="244827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0" fontAlgn="base" latinLnBrk="0" hangingPunct="0">
              <a:lnSpc>
                <a:spcPct val="100000"/>
              </a:lnSpc>
              <a:spcBef>
                <a:spcPts val="0"/>
              </a:spcBef>
              <a:spcAft>
                <a:spcPct val="0"/>
              </a:spcAft>
              <a:buClrTx/>
              <a:buSzPct val="90000"/>
              <a:buFontTx/>
              <a:buBlip>
                <a:blip r:embed="rId3"/>
              </a:buBlip>
              <a:tabLst/>
              <a:defRPr/>
            </a:pPr>
            <a:r>
              <a:rPr kumimoji="0" lang="zh-CN" altLang="en-US" sz="2400" i="0" u="none" strike="noStrike" kern="0" cap="none" spc="0" normalizeH="0" baseline="0" noProof="0" dirty="0" smtClean="0">
                <a:ln>
                  <a:noFill/>
                </a:ln>
                <a:solidFill>
                  <a:schemeClr val="tx1"/>
                </a:solidFill>
                <a:effectLst/>
                <a:uLnTx/>
                <a:uFillTx/>
                <a:latin typeface="+mn-lt"/>
                <a:ea typeface="+mn-ea"/>
                <a:cs typeface="+mn-cs"/>
              </a:rPr>
              <a:t>强调：</a:t>
            </a:r>
            <a:endParaRPr kumimoji="0" lang="en-US" altLang="zh-CN" sz="2400" i="0" u="none" strike="noStrike" kern="0" cap="none" spc="0" normalizeH="0" baseline="0" noProof="0" dirty="0" smtClean="0">
              <a:ln>
                <a:noFill/>
              </a:ln>
              <a:solidFill>
                <a:schemeClr val="tx1"/>
              </a:solidFill>
              <a:effectLst/>
              <a:uLnTx/>
              <a:uFillTx/>
              <a:latin typeface="+mn-lt"/>
              <a:ea typeface="+mn-ea"/>
              <a:cs typeface="+mn-cs"/>
            </a:endParaRPr>
          </a:p>
          <a:p>
            <a:pPr marL="800100" lvl="1" indent="-342900" eaLnBrk="0" hangingPunct="0">
              <a:lnSpc>
                <a:spcPct val="100000"/>
              </a:lnSpc>
              <a:spcBef>
                <a:spcPts val="0"/>
              </a:spcBef>
              <a:buClr>
                <a:srgbClr val="7030A0"/>
              </a:buClr>
              <a:buFont typeface="Wingdings" pitchFamily="2" charset="2"/>
              <a:buChar char="l"/>
            </a:pPr>
            <a:r>
              <a:rPr kumimoji="0" lang="zh-CN" altLang="en-US" sz="2400" i="0" u="none" strike="noStrike" kern="0" cap="none" spc="0" normalizeH="0" baseline="0" noProof="0" dirty="0" smtClean="0">
                <a:ln>
                  <a:noFill/>
                </a:ln>
                <a:solidFill>
                  <a:srgbClr val="FF33CC"/>
                </a:solidFill>
                <a:effectLst/>
                <a:uLnTx/>
                <a:uFillTx/>
                <a:latin typeface="+mn-lt"/>
                <a:ea typeface="+mn-ea"/>
                <a:cs typeface="+mn-cs"/>
              </a:rPr>
              <a:t>要推动大数据技术产业创新发展；</a:t>
            </a:r>
            <a:endParaRPr kumimoji="0" lang="en-US" altLang="zh-CN" sz="2400" i="0" u="none" strike="noStrike" kern="0" cap="none" spc="0" normalizeH="0" baseline="0" noProof="0" dirty="0" smtClean="0">
              <a:ln>
                <a:noFill/>
              </a:ln>
              <a:solidFill>
                <a:srgbClr val="FF33CC"/>
              </a:solidFill>
              <a:effectLst/>
              <a:uLnTx/>
              <a:uFillTx/>
              <a:latin typeface="+mn-lt"/>
              <a:ea typeface="+mn-ea"/>
              <a:cs typeface="+mn-cs"/>
            </a:endParaRPr>
          </a:p>
          <a:p>
            <a:pPr marL="800100" lvl="1" indent="-342900" eaLnBrk="0" hangingPunct="0">
              <a:lnSpc>
                <a:spcPct val="100000"/>
              </a:lnSpc>
              <a:spcBef>
                <a:spcPts val="0"/>
              </a:spcBef>
              <a:buClr>
                <a:srgbClr val="7030A0"/>
              </a:buClr>
              <a:buFont typeface="Wingdings" pitchFamily="2" charset="2"/>
              <a:buChar char="l"/>
            </a:pPr>
            <a:r>
              <a:rPr kumimoji="0" lang="zh-CN" altLang="en-US" sz="2400" i="0" u="none" strike="noStrike" kern="0" cap="none" spc="0" normalizeH="0" baseline="0" noProof="0" dirty="0" smtClean="0">
                <a:ln>
                  <a:noFill/>
                </a:ln>
                <a:solidFill>
                  <a:srgbClr val="FF33CC"/>
                </a:solidFill>
                <a:effectLst/>
                <a:uLnTx/>
                <a:uFillTx/>
                <a:latin typeface="+mn-lt"/>
                <a:ea typeface="+mn-ea"/>
                <a:cs typeface="+mn-cs"/>
              </a:rPr>
              <a:t>要构建以数据为关键要素的数字经济；</a:t>
            </a:r>
            <a:endParaRPr kumimoji="0" lang="en-US" altLang="zh-CN" sz="2400" i="0" u="none" strike="noStrike" kern="0" cap="none" spc="0" normalizeH="0" baseline="0" noProof="0" dirty="0" smtClean="0">
              <a:ln>
                <a:noFill/>
              </a:ln>
              <a:solidFill>
                <a:srgbClr val="FF33CC"/>
              </a:solidFill>
              <a:effectLst/>
              <a:uLnTx/>
              <a:uFillTx/>
              <a:latin typeface="+mn-lt"/>
              <a:ea typeface="+mn-ea"/>
              <a:cs typeface="+mn-cs"/>
            </a:endParaRPr>
          </a:p>
          <a:p>
            <a:pPr marL="800100" lvl="1" indent="-342900" eaLnBrk="0" hangingPunct="0">
              <a:lnSpc>
                <a:spcPct val="100000"/>
              </a:lnSpc>
              <a:spcBef>
                <a:spcPts val="0"/>
              </a:spcBef>
              <a:buClr>
                <a:srgbClr val="7030A0"/>
              </a:buClr>
              <a:buFont typeface="Wingdings" pitchFamily="2" charset="2"/>
              <a:buChar char="l"/>
            </a:pPr>
            <a:r>
              <a:rPr kumimoji="0" lang="zh-CN" altLang="en-US" sz="2400" i="0" u="none" strike="noStrike" kern="0" cap="none" spc="0" normalizeH="0" baseline="0" noProof="0" dirty="0" smtClean="0">
                <a:ln>
                  <a:noFill/>
                </a:ln>
                <a:solidFill>
                  <a:srgbClr val="FF33CC"/>
                </a:solidFill>
                <a:effectLst/>
                <a:uLnTx/>
                <a:uFillTx/>
                <a:latin typeface="+mn-lt"/>
                <a:ea typeface="+mn-ea"/>
                <a:cs typeface="+mn-cs"/>
              </a:rPr>
              <a:t>要运用大数据提升国家治理现代化水平；</a:t>
            </a:r>
            <a:endParaRPr kumimoji="0" lang="en-US" altLang="zh-CN" sz="2400" i="0" u="none" strike="noStrike" kern="0" cap="none" spc="0" normalizeH="0" baseline="0" noProof="0" dirty="0" smtClean="0">
              <a:ln>
                <a:noFill/>
              </a:ln>
              <a:solidFill>
                <a:srgbClr val="FF33CC"/>
              </a:solidFill>
              <a:effectLst/>
              <a:uLnTx/>
              <a:uFillTx/>
              <a:latin typeface="+mn-lt"/>
              <a:ea typeface="+mn-ea"/>
              <a:cs typeface="+mn-cs"/>
            </a:endParaRPr>
          </a:p>
          <a:p>
            <a:pPr marL="800100" lvl="1" indent="-342900" eaLnBrk="0" hangingPunct="0">
              <a:lnSpc>
                <a:spcPct val="100000"/>
              </a:lnSpc>
              <a:spcBef>
                <a:spcPts val="0"/>
              </a:spcBef>
              <a:buClr>
                <a:srgbClr val="7030A0"/>
              </a:buClr>
              <a:buFont typeface="Wingdings" pitchFamily="2" charset="2"/>
              <a:buChar char="l"/>
            </a:pPr>
            <a:r>
              <a:rPr kumimoji="0" lang="zh-CN" altLang="en-US" sz="2400" i="0" u="none" strike="noStrike" kern="0" cap="none" spc="0" normalizeH="0" baseline="0" noProof="0" dirty="0" smtClean="0">
                <a:ln>
                  <a:noFill/>
                </a:ln>
                <a:solidFill>
                  <a:srgbClr val="FF33CC"/>
                </a:solidFill>
                <a:effectLst/>
                <a:uLnTx/>
                <a:uFillTx/>
                <a:latin typeface="+mn-lt"/>
                <a:ea typeface="+mn-ea"/>
                <a:cs typeface="+mn-cs"/>
              </a:rPr>
              <a:t>要运用大数据促进保障和改善民生；</a:t>
            </a:r>
            <a:endParaRPr kumimoji="0" lang="en-US" altLang="zh-CN" sz="2400" i="0" u="none" strike="noStrike" kern="0" cap="none" spc="0" normalizeH="0" baseline="0" noProof="0" dirty="0" smtClean="0">
              <a:ln>
                <a:noFill/>
              </a:ln>
              <a:solidFill>
                <a:srgbClr val="FF33CC"/>
              </a:solidFill>
              <a:effectLst/>
              <a:uLnTx/>
              <a:uFillTx/>
              <a:latin typeface="+mn-lt"/>
              <a:ea typeface="+mn-ea"/>
              <a:cs typeface="+mn-cs"/>
            </a:endParaRPr>
          </a:p>
          <a:p>
            <a:pPr marL="800100" lvl="1" indent="-342900" eaLnBrk="0" hangingPunct="0">
              <a:lnSpc>
                <a:spcPct val="100000"/>
              </a:lnSpc>
              <a:spcBef>
                <a:spcPts val="0"/>
              </a:spcBef>
              <a:buClr>
                <a:srgbClr val="7030A0"/>
              </a:buClr>
              <a:buFont typeface="Wingdings" pitchFamily="2" charset="2"/>
              <a:buChar char="l"/>
            </a:pPr>
            <a:r>
              <a:rPr kumimoji="0" lang="zh-CN" altLang="en-US" sz="2400" i="0" u="none" strike="noStrike" kern="0" cap="none" spc="0" normalizeH="0" baseline="0" noProof="0" dirty="0" smtClean="0">
                <a:ln>
                  <a:noFill/>
                </a:ln>
                <a:solidFill>
                  <a:srgbClr val="FF33CC"/>
                </a:solidFill>
                <a:effectLst/>
                <a:uLnTx/>
                <a:uFillTx/>
                <a:latin typeface="+mn-lt"/>
                <a:ea typeface="+mn-ea"/>
                <a:cs typeface="+mn-cs"/>
              </a:rPr>
              <a:t>要切实保障国家数据安全。</a:t>
            </a:r>
            <a:endParaRPr kumimoji="0" lang="en-US" altLang="zh-CN" sz="2400" i="0" u="none" strike="noStrike" kern="0" cap="none" spc="0" normalizeH="0" baseline="0" noProof="0" dirty="0" smtClean="0">
              <a:ln>
                <a:noFill/>
              </a:ln>
              <a:solidFill>
                <a:srgbClr val="0000FF"/>
              </a:solidFill>
              <a:effectLst/>
              <a:uLnTx/>
              <a:uFillTx/>
              <a:latin typeface="+mn-lt"/>
              <a:ea typeface="+mn-ea"/>
              <a:cs typeface="+mn-cs"/>
            </a:endParaRPr>
          </a:p>
          <a:p>
            <a:pPr marL="342900" marR="0" lvl="0" indent="-342900" algn="l" defTabSz="914400" rtl="0" eaLnBrk="0" fontAlgn="base" latinLnBrk="0" hangingPunct="0">
              <a:lnSpc>
                <a:spcPct val="100000"/>
              </a:lnSpc>
              <a:spcBef>
                <a:spcPts val="0"/>
              </a:spcBef>
              <a:spcAft>
                <a:spcPct val="0"/>
              </a:spcAft>
              <a:buClrTx/>
              <a:buSzPct val="90000"/>
              <a:buFontTx/>
              <a:buBlip>
                <a:blip r:embed="rId3"/>
              </a:buBlip>
              <a:tabLst/>
              <a:defRPr/>
            </a:pPr>
            <a:endParaRPr kumimoji="0" lang="zh-CN" altLang="en-US" sz="2400" i="0" u="none" strike="noStrike" kern="0" cap="none" spc="0" normalizeH="0" baseline="0" noProof="0" dirty="0">
              <a:ln>
                <a:noFill/>
              </a:ln>
              <a:solidFill>
                <a:srgbClr val="0000FF"/>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15</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企业家谈统计学</a:t>
            </a:r>
            <a:endParaRPr lang="zh-CN" altLang="en-US" dirty="0"/>
          </a:p>
        </p:txBody>
      </p:sp>
      <p:sp>
        <p:nvSpPr>
          <p:cNvPr id="3" name="内容占位符 2"/>
          <p:cNvSpPr>
            <a:spLocks noGrp="1"/>
          </p:cNvSpPr>
          <p:nvPr>
            <p:ph idx="1"/>
          </p:nvPr>
        </p:nvSpPr>
        <p:spPr>
          <a:xfrm>
            <a:off x="323528" y="5661248"/>
            <a:ext cx="8136904" cy="576064"/>
          </a:xfrm>
        </p:spPr>
        <p:txBody>
          <a:bodyPr/>
          <a:lstStyle/>
          <a:p>
            <a:pPr>
              <a:buNone/>
            </a:pPr>
            <a:r>
              <a:rPr lang="zh-CN" altLang="en-US" sz="2400" b="0" dirty="0" smtClean="0">
                <a:solidFill>
                  <a:srgbClr val="000000"/>
                </a:solidFill>
              </a:rPr>
              <a:t>（</a:t>
            </a:r>
            <a:r>
              <a:rPr lang="en-US" altLang="zh-CN" sz="2400" b="0" dirty="0" smtClean="0">
                <a:solidFill>
                  <a:srgbClr val="000000"/>
                </a:solidFill>
              </a:rPr>
              <a:t>2019</a:t>
            </a:r>
            <a:r>
              <a:rPr lang="zh-CN" altLang="en-US" sz="2400" b="0" dirty="0" smtClean="0">
                <a:solidFill>
                  <a:srgbClr val="000000"/>
                </a:solidFill>
              </a:rPr>
              <a:t>年</a:t>
            </a:r>
            <a:r>
              <a:rPr lang="en-US" altLang="zh-CN" sz="2400" b="0" dirty="0" smtClean="0">
                <a:solidFill>
                  <a:srgbClr val="000000"/>
                </a:solidFill>
              </a:rPr>
              <a:t>1.17</a:t>
            </a:r>
            <a:r>
              <a:rPr lang="zh-CN" altLang="en-US" sz="2400" b="0" dirty="0" smtClean="0">
                <a:solidFill>
                  <a:srgbClr val="000000"/>
                </a:solidFill>
              </a:rPr>
              <a:t>接受专访，</a:t>
            </a:r>
            <a:r>
              <a:rPr lang="en-US" altLang="zh-CN" sz="2400" b="0" dirty="0" smtClean="0">
                <a:solidFill>
                  <a:srgbClr val="000000"/>
                </a:solidFill>
              </a:rPr>
              <a:t>1.20</a:t>
            </a:r>
            <a:r>
              <a:rPr lang="zh-CN" altLang="en-US" sz="2400" b="0" dirty="0" smtClean="0">
                <a:solidFill>
                  <a:srgbClr val="000000"/>
                </a:solidFill>
              </a:rPr>
              <a:t>晚央视新闻频道完整播出）</a:t>
            </a:r>
            <a:endParaRPr lang="zh-CN" altLang="en-US" sz="2400" b="0" dirty="0">
              <a:solidFill>
                <a:srgbClr val="000000"/>
              </a:solidFill>
            </a:endParaRPr>
          </a:p>
        </p:txBody>
      </p:sp>
      <p:pic>
        <p:nvPicPr>
          <p:cNvPr id="124930" name="Picture 2"/>
          <p:cNvPicPr>
            <a:picLocks noChangeAspect="1" noChangeArrowheads="1"/>
          </p:cNvPicPr>
          <p:nvPr/>
        </p:nvPicPr>
        <p:blipFill>
          <a:blip r:embed="rId3" cstate="print"/>
          <a:srcRect/>
          <a:stretch>
            <a:fillRect/>
          </a:stretch>
        </p:blipFill>
        <p:spPr bwMode="auto">
          <a:xfrm>
            <a:off x="382305" y="548680"/>
            <a:ext cx="8496944" cy="4752528"/>
          </a:xfrm>
          <a:prstGeom prst="rect">
            <a:avLst/>
          </a:prstGeom>
          <a:noFill/>
          <a:ln w="9525">
            <a:noFill/>
            <a:miter lim="800000"/>
            <a:headEnd/>
            <a:tailEnd/>
          </a:ln>
        </p:spPr>
      </p:pic>
      <p:sp>
        <p:nvSpPr>
          <p:cNvPr id="5" name="灯片编号占位符 4"/>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16</a:t>
            </a:fld>
            <a:endParaRPr lang="en-US" altLang="zh-CN" dirty="0">
              <a:solidFill>
                <a:srgbClr val="545472"/>
              </a:solidFill>
            </a:endParaRPr>
          </a:p>
        </p:txBody>
      </p:sp>
      <p:cxnSp>
        <p:nvCxnSpPr>
          <p:cNvPr id="6" name="直接连接符 5"/>
          <p:cNvCxnSpPr/>
          <p:nvPr/>
        </p:nvCxnSpPr>
        <p:spPr bwMode="auto">
          <a:xfrm>
            <a:off x="382305" y="2132856"/>
            <a:ext cx="3037567" cy="0"/>
          </a:xfrm>
          <a:prstGeom prst="line">
            <a:avLst/>
          </a:prstGeom>
          <a:solidFill>
            <a:schemeClr val="hlink"/>
          </a:solidFill>
          <a:ln w="38100" cap="flat" cmpd="sng" algn="ctr">
            <a:solidFill>
              <a:srgbClr val="FF0000"/>
            </a:solidFill>
            <a:prstDash val="solid"/>
            <a:round/>
            <a:headEnd type="none" w="med" len="med"/>
            <a:tailEnd type="none" w="med" len="med"/>
          </a:ln>
          <a:effectLst/>
        </p:spPr>
      </p:cxnSp>
    </p:spTree>
  </p:cSld>
  <p:clrMapOvr>
    <a:masterClrMapping/>
  </p:clrMapOvr>
  <p:transition>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诺奖得主谈统计学</a:t>
            </a:r>
            <a:endParaRPr lang="zh-CN" altLang="en-US" dirty="0"/>
          </a:p>
        </p:txBody>
      </p:sp>
      <p:sp>
        <p:nvSpPr>
          <p:cNvPr id="3" name="内容占位符 2"/>
          <p:cNvSpPr>
            <a:spLocks noGrp="1"/>
          </p:cNvSpPr>
          <p:nvPr>
            <p:ph idx="1"/>
          </p:nvPr>
        </p:nvSpPr>
        <p:spPr/>
        <p:txBody>
          <a:bodyPr/>
          <a:lstStyle/>
          <a:p>
            <a:endParaRPr lang="zh-CN" altLang="en-US"/>
          </a:p>
        </p:txBody>
      </p:sp>
      <p:pic>
        <p:nvPicPr>
          <p:cNvPr id="125954" name="Picture 2"/>
          <p:cNvPicPr>
            <a:picLocks noChangeAspect="1" noChangeArrowheads="1"/>
          </p:cNvPicPr>
          <p:nvPr/>
        </p:nvPicPr>
        <p:blipFill>
          <a:blip r:embed="rId2" cstate="print"/>
          <a:srcRect/>
          <a:stretch>
            <a:fillRect/>
          </a:stretch>
        </p:blipFill>
        <p:spPr bwMode="auto">
          <a:xfrm>
            <a:off x="298696" y="476672"/>
            <a:ext cx="8665792" cy="6381328"/>
          </a:xfrm>
          <a:prstGeom prst="rect">
            <a:avLst/>
          </a:prstGeom>
          <a:noFill/>
          <a:ln w="9525">
            <a:noFill/>
            <a:miter lim="800000"/>
            <a:headEnd/>
            <a:tailEnd/>
          </a:ln>
        </p:spPr>
      </p:pic>
      <p:cxnSp>
        <p:nvCxnSpPr>
          <p:cNvPr id="9" name="直接连接符 8"/>
          <p:cNvCxnSpPr/>
          <p:nvPr/>
        </p:nvCxnSpPr>
        <p:spPr bwMode="auto">
          <a:xfrm>
            <a:off x="2555776" y="2420888"/>
            <a:ext cx="2232248" cy="0"/>
          </a:xfrm>
          <a:prstGeom prst="line">
            <a:avLst/>
          </a:prstGeom>
          <a:solidFill>
            <a:schemeClr val="hlink"/>
          </a:solidFill>
          <a:ln w="38100" cap="flat" cmpd="sng" algn="ctr">
            <a:solidFill>
              <a:srgbClr val="FF0000"/>
            </a:solidFill>
            <a:prstDash val="solid"/>
            <a:round/>
            <a:headEnd type="none" w="med" len="med"/>
            <a:tailEnd type="none" w="med" len="med"/>
          </a:ln>
          <a:effectLst/>
        </p:spPr>
      </p:cxnSp>
      <p:cxnSp>
        <p:nvCxnSpPr>
          <p:cNvPr id="10" name="直接连接符 9"/>
          <p:cNvCxnSpPr/>
          <p:nvPr/>
        </p:nvCxnSpPr>
        <p:spPr bwMode="auto">
          <a:xfrm>
            <a:off x="323528" y="2780928"/>
            <a:ext cx="1224136" cy="0"/>
          </a:xfrm>
          <a:prstGeom prst="line">
            <a:avLst/>
          </a:prstGeom>
          <a:solidFill>
            <a:schemeClr val="hlink"/>
          </a:solidFill>
          <a:ln w="38100" cap="flat" cmpd="sng" algn="ctr">
            <a:solidFill>
              <a:srgbClr val="FF0000"/>
            </a:solidFill>
            <a:prstDash val="solid"/>
            <a:round/>
            <a:headEnd type="none" w="med" len="med"/>
            <a:tailEnd type="none" w="med" len="med"/>
          </a:ln>
          <a:effectLst/>
        </p:spPr>
      </p:cxnSp>
      <p:cxnSp>
        <p:nvCxnSpPr>
          <p:cNvPr id="12" name="直接连接符 11"/>
          <p:cNvCxnSpPr/>
          <p:nvPr/>
        </p:nvCxnSpPr>
        <p:spPr bwMode="auto">
          <a:xfrm>
            <a:off x="5004048" y="3789040"/>
            <a:ext cx="3744416" cy="0"/>
          </a:xfrm>
          <a:prstGeom prst="line">
            <a:avLst/>
          </a:prstGeom>
          <a:solidFill>
            <a:schemeClr val="hlink"/>
          </a:solidFill>
          <a:ln w="38100" cap="flat" cmpd="sng" algn="ctr">
            <a:solidFill>
              <a:srgbClr val="FF0000"/>
            </a:solidFill>
            <a:prstDash val="solid"/>
            <a:round/>
            <a:headEnd type="none" w="med" len="med"/>
            <a:tailEnd type="none" w="med" len="med"/>
          </a:ln>
          <a:effectLst/>
        </p:spPr>
      </p:cxnSp>
      <p:cxnSp>
        <p:nvCxnSpPr>
          <p:cNvPr id="14" name="直接连接符 13"/>
          <p:cNvCxnSpPr/>
          <p:nvPr/>
        </p:nvCxnSpPr>
        <p:spPr bwMode="auto">
          <a:xfrm>
            <a:off x="323528" y="4149080"/>
            <a:ext cx="648072" cy="0"/>
          </a:xfrm>
          <a:prstGeom prst="line">
            <a:avLst/>
          </a:prstGeom>
          <a:solidFill>
            <a:schemeClr val="hlink"/>
          </a:solidFill>
          <a:ln w="38100" cap="flat" cmpd="sng" algn="ctr">
            <a:solidFill>
              <a:srgbClr val="FF0000"/>
            </a:solidFill>
            <a:prstDash val="solid"/>
            <a:round/>
            <a:headEnd type="none" w="med" len="med"/>
            <a:tailEnd type="none" w="med" len="med"/>
          </a:ln>
          <a:effectLst/>
        </p:spPr>
      </p:cxnSp>
      <p:sp>
        <p:nvSpPr>
          <p:cNvPr id="11" name="灯片编号占位符 10"/>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17</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28600"/>
            <a:ext cx="7772400" cy="824136"/>
          </a:xfrm>
        </p:spPr>
        <p:txBody>
          <a:bodyPr/>
          <a:lstStyle/>
          <a:p>
            <a:r>
              <a:rPr lang="zh-CN" altLang="en-US" dirty="0" smtClean="0"/>
              <a:t>统计与人生</a:t>
            </a:r>
            <a:endParaRPr lang="zh-CN" altLang="en-US" dirty="0"/>
          </a:p>
        </p:txBody>
      </p:sp>
      <p:pic>
        <p:nvPicPr>
          <p:cNvPr id="118786" name="Picture 2"/>
          <p:cNvPicPr>
            <a:picLocks noGrp="1" noChangeAspect="1" noChangeArrowheads="1"/>
          </p:cNvPicPr>
          <p:nvPr>
            <p:ph idx="1"/>
          </p:nvPr>
        </p:nvPicPr>
        <p:blipFill>
          <a:blip r:embed="rId2" cstate="print"/>
          <a:srcRect/>
          <a:stretch>
            <a:fillRect/>
          </a:stretch>
        </p:blipFill>
        <p:spPr bwMode="auto">
          <a:xfrm>
            <a:off x="0" y="0"/>
            <a:ext cx="9144000" cy="6669360"/>
          </a:xfrm>
          <a:prstGeom prst="rect">
            <a:avLst/>
          </a:prstGeom>
          <a:noFill/>
          <a:ln w="9525">
            <a:noFill/>
            <a:miter lim="800000"/>
            <a:headEnd/>
            <a:tailEnd/>
          </a:ln>
        </p:spPr>
      </p:pic>
      <p:sp>
        <p:nvSpPr>
          <p:cNvPr id="4" name="灯片编号占位符 3"/>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18</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2195736" y="188640"/>
            <a:ext cx="4860032" cy="692150"/>
          </a:xfrm>
        </p:spPr>
        <p:txBody>
          <a:bodyPr/>
          <a:lstStyle/>
          <a:p>
            <a:pPr eaLnBrk="1" hangingPunct="1"/>
            <a:r>
              <a:rPr lang="zh-CN" altLang="en-US" dirty="0" smtClean="0"/>
              <a:t>统计的误用</a:t>
            </a:r>
          </a:p>
        </p:txBody>
      </p:sp>
      <p:sp>
        <p:nvSpPr>
          <p:cNvPr id="108547" name="Rectangle 3"/>
          <p:cNvSpPr>
            <a:spLocks noGrp="1" noChangeArrowheads="1"/>
          </p:cNvSpPr>
          <p:nvPr>
            <p:ph idx="1"/>
          </p:nvPr>
        </p:nvSpPr>
        <p:spPr>
          <a:xfrm>
            <a:off x="323528" y="836712"/>
            <a:ext cx="8429625" cy="4643437"/>
          </a:xfrm>
        </p:spPr>
        <p:txBody>
          <a:bodyPr/>
          <a:lstStyle/>
          <a:p>
            <a:pPr marL="0" indent="0" eaLnBrk="1" hangingPunct="1">
              <a:spcBef>
                <a:spcPts val="0"/>
              </a:spcBef>
              <a:buFontTx/>
              <a:buNone/>
              <a:defRPr/>
            </a:pPr>
            <a:r>
              <a:rPr lang="zh-CN" altLang="en-US" sz="3600" dirty="0" smtClean="0">
                <a:solidFill>
                  <a:srgbClr val="D60093"/>
                </a:solidFill>
              </a:rPr>
              <a:t>数据≠信息    </a:t>
            </a:r>
            <a:r>
              <a:rPr lang="zh-CN" altLang="en-US" sz="2600" dirty="0" smtClean="0">
                <a:solidFill>
                  <a:srgbClr val="000000"/>
                </a:solidFill>
              </a:rPr>
              <a:t>数据的误用、故意歪曲        错误结论</a:t>
            </a:r>
          </a:p>
          <a:p>
            <a:pPr marL="722313" lvl="2" indent="-277813" algn="just" eaLnBrk="1" hangingPunct="1">
              <a:spcBef>
                <a:spcPts val="0"/>
              </a:spcBef>
              <a:defRPr/>
            </a:pPr>
            <a:r>
              <a:rPr lang="zh-CN" altLang="en-US" dirty="0" smtClean="0"/>
              <a:t>谎言有三种：谎言、糟糕透顶的谎言、统计</a:t>
            </a:r>
          </a:p>
          <a:p>
            <a:pPr marL="722313" lvl="3" indent="-277813" eaLnBrk="1" hangingPunct="1">
              <a:spcBef>
                <a:spcPts val="0"/>
              </a:spcBef>
              <a:buNone/>
              <a:defRPr/>
            </a:pPr>
            <a:r>
              <a:rPr lang="zh-CN" altLang="en-US" dirty="0" smtClean="0"/>
              <a:t>  </a:t>
            </a:r>
            <a:r>
              <a:rPr lang="en-US" altLang="zh-CN" b="0" dirty="0" smtClean="0">
                <a:latin typeface="Times New Roman" pitchFamily="18" charset="0"/>
              </a:rPr>
              <a:t>——</a:t>
            </a:r>
            <a:r>
              <a:rPr lang="zh-CN" altLang="en-US" b="0" dirty="0" smtClean="0"/>
              <a:t>Darrell Huff (1954)  </a:t>
            </a:r>
            <a:r>
              <a:rPr lang="zh-CN" altLang="en-US" dirty="0" smtClean="0"/>
              <a:t>统计陷阱</a:t>
            </a:r>
            <a:r>
              <a:rPr lang="en-US" altLang="zh-CN" dirty="0" smtClean="0"/>
              <a:t>/</a:t>
            </a:r>
            <a:r>
              <a:rPr lang="zh-CN" altLang="en-US" dirty="0" smtClean="0"/>
              <a:t>统计数据会说谎</a:t>
            </a:r>
            <a:r>
              <a:rPr lang="zh-CN" altLang="en-US" sz="1800" b="0" dirty="0" smtClean="0"/>
              <a:t>（</a:t>
            </a:r>
            <a:r>
              <a:rPr lang="zh-CN" altLang="en-US" sz="1800" b="0" dirty="0" smtClean="0">
                <a:latin typeface="圆体-简" panose="02010600040101010101" charset="-122"/>
                <a:ea typeface="圆体-简" panose="02010600040101010101" charset="-122"/>
              </a:rPr>
              <a:t>中信出版集团</a:t>
            </a:r>
            <a:r>
              <a:rPr lang="zh-CN" altLang="en-US" sz="1800" b="0" dirty="0" smtClean="0"/>
              <a:t>）</a:t>
            </a:r>
            <a:endParaRPr lang="en-US" altLang="zh-CN" dirty="0" smtClean="0"/>
          </a:p>
          <a:p>
            <a:pPr marL="722313" lvl="2" indent="-277813" algn="just" eaLnBrk="1" hangingPunct="1">
              <a:spcBef>
                <a:spcPts val="0"/>
              </a:spcBef>
              <a:defRPr/>
            </a:pPr>
            <a:r>
              <a:rPr lang="zh-CN" altLang="en-US" dirty="0" smtClean="0"/>
              <a:t>数据不会说谎，但说谎的人会想办法利用数据</a:t>
            </a:r>
            <a:endParaRPr lang="en-US" altLang="zh-CN" dirty="0" smtClean="0"/>
          </a:p>
          <a:p>
            <a:pPr marL="722313" lvl="2" indent="-277813" algn="ctr" eaLnBrk="1" hangingPunct="1">
              <a:spcBef>
                <a:spcPts val="0"/>
              </a:spcBef>
              <a:buNone/>
              <a:defRPr/>
            </a:pPr>
            <a:r>
              <a:rPr lang="zh-CN" altLang="en-US" sz="1800" dirty="0" smtClean="0"/>
              <a:t> </a:t>
            </a:r>
            <a:r>
              <a:rPr lang="en-US" altLang="zh-CN" sz="2000" dirty="0" smtClean="0">
                <a:solidFill>
                  <a:srgbClr val="336600"/>
                </a:solidFill>
                <a:latin typeface="Times New Roman" pitchFamily="18" charset="0"/>
              </a:rPr>
              <a:t>——</a:t>
            </a:r>
            <a:r>
              <a:rPr lang="zh-CN" altLang="en-US" sz="2000" dirty="0" smtClean="0">
                <a:solidFill>
                  <a:srgbClr val="336600"/>
                </a:solidFill>
              </a:rPr>
              <a:t>统计学的世界</a:t>
            </a:r>
            <a:endParaRPr lang="en-US" altLang="zh-CN" sz="2400" dirty="0" smtClean="0">
              <a:solidFill>
                <a:srgbClr val="336600"/>
              </a:solidFill>
            </a:endParaRPr>
          </a:p>
          <a:p>
            <a:pPr marL="722313" lvl="2" indent="-277813" algn="just" eaLnBrk="1" hangingPunct="1">
              <a:spcBef>
                <a:spcPts val="0"/>
              </a:spcBef>
              <a:buFont typeface="Arial" pitchFamily="34" charset="0"/>
              <a:buChar char="•"/>
              <a:defRPr/>
            </a:pPr>
            <a:r>
              <a:rPr lang="en-US" altLang="zh-CN" dirty="0" smtClean="0"/>
              <a:t>It is easy to lie with statistics, but it is easier to lie without them</a:t>
            </a:r>
            <a:r>
              <a:rPr lang="en-US" altLang="zh-CN" sz="2000" dirty="0" smtClean="0">
                <a:solidFill>
                  <a:srgbClr val="336600"/>
                </a:solidFill>
                <a:latin typeface="Times New Roman" pitchFamily="18" charset="0"/>
              </a:rPr>
              <a:t>—Frederick Mosteller</a:t>
            </a:r>
            <a:endParaRPr lang="zh-CN" altLang="en-US" sz="2000" dirty="0" smtClean="0">
              <a:solidFill>
                <a:srgbClr val="336600"/>
              </a:solidFill>
              <a:latin typeface="Times New Roman" pitchFamily="18" charset="0"/>
            </a:endParaRPr>
          </a:p>
        </p:txBody>
      </p:sp>
      <p:sp>
        <p:nvSpPr>
          <p:cNvPr id="5" name="右箭头 4"/>
          <p:cNvSpPr>
            <a:spLocks noChangeArrowheads="1"/>
          </p:cNvSpPr>
          <p:nvPr/>
        </p:nvSpPr>
        <p:spPr bwMode="auto">
          <a:xfrm>
            <a:off x="6588224" y="1052736"/>
            <a:ext cx="576064" cy="288031"/>
          </a:xfrm>
          <a:prstGeom prst="rightArrow">
            <a:avLst>
              <a:gd name="adj1" fmla="val 50000"/>
              <a:gd name="adj2" fmla="val 50000"/>
            </a:avLst>
          </a:prstGeom>
          <a:blipFill dpi="0" rotWithShape="1">
            <a:blip r:embed="rId2" cstate="print"/>
            <a:srcRect/>
            <a:tile tx="0" ty="0" sx="100000" sy="100000" flip="none" algn="tl"/>
          </a:blipFill>
          <a:ln w="9525" algn="ctr">
            <a:noFill/>
            <a:round/>
            <a:headEnd/>
            <a:tailEnd/>
          </a:ln>
        </p:spPr>
        <p:txBody>
          <a:bodyPr/>
          <a:lstStyle/>
          <a:p>
            <a:pPr marL="342900" indent="-342900"/>
            <a:endParaRPr lang="zh-CN" altLang="en-US"/>
          </a:p>
        </p:txBody>
      </p:sp>
      <p:pic>
        <p:nvPicPr>
          <p:cNvPr id="6" name="Picture 6" descr="C:\Users\zhaojun\Documents\picture\powerpoint\如何用统计说话.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3645024"/>
            <a:ext cx="2652888" cy="321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descr="统计数据会说谎"/>
          <p:cNvPicPr>
            <a:picLocks noChangeAspect="1"/>
          </p:cNvPicPr>
          <p:nvPr/>
        </p:nvPicPr>
        <p:blipFill>
          <a:blip r:embed="rId4" cstate="print"/>
          <a:stretch>
            <a:fillRect/>
          </a:stretch>
        </p:blipFill>
        <p:spPr>
          <a:xfrm>
            <a:off x="6444208" y="3483024"/>
            <a:ext cx="2699792" cy="3374975"/>
          </a:xfrm>
          <a:prstGeom prst="rect">
            <a:avLst/>
          </a:prstGeom>
        </p:spPr>
      </p:pic>
      <p:pic>
        <p:nvPicPr>
          <p:cNvPr id="9" name="Picture 4" descr="how"/>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086678" y="4221088"/>
            <a:ext cx="2637450" cy="263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灯片编号占位符 9"/>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19</a:t>
            </a:fld>
            <a:endParaRPr lang="en-US" altLang="zh-CN" dirty="0">
              <a:solidFill>
                <a:srgbClr val="545472"/>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108547">
                                            <p:txEl>
                                              <p:pRg st="1" end="1"/>
                                            </p:txEl>
                                          </p:spTgt>
                                        </p:tgtEl>
                                        <p:attrNameLst>
                                          <p:attrName>style.visibility</p:attrName>
                                        </p:attrNameLst>
                                      </p:cBhvr>
                                      <p:to>
                                        <p:strVal val="visible"/>
                                      </p:to>
                                    </p:set>
                                    <p:animEffect transition="in" filter="blinds(horizontal)">
                                      <p:cBhvr>
                                        <p:cTn id="7" dur="500"/>
                                        <p:tgtEl>
                                          <p:spTgt spid="108547">
                                            <p:txEl>
                                              <p:pRg st="1" end="1"/>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08547">
                                            <p:txEl>
                                              <p:pRg st="2" end="2"/>
                                            </p:txEl>
                                          </p:spTgt>
                                        </p:tgtEl>
                                        <p:attrNameLst>
                                          <p:attrName>style.visibility</p:attrName>
                                        </p:attrNameLst>
                                      </p:cBhvr>
                                      <p:to>
                                        <p:strVal val="visible"/>
                                      </p:to>
                                    </p:set>
                                    <p:animEffect transition="in" filter="blinds(horizontal)">
                                      <p:cBhvr>
                                        <p:cTn id="10" dur="500"/>
                                        <p:tgtEl>
                                          <p:spTgt spid="108547">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08547">
                                            <p:txEl>
                                              <p:pRg st="3" end="3"/>
                                            </p:txEl>
                                          </p:spTgt>
                                        </p:tgtEl>
                                        <p:attrNameLst>
                                          <p:attrName>style.visibility</p:attrName>
                                        </p:attrNameLst>
                                      </p:cBhvr>
                                      <p:to>
                                        <p:strVal val="visible"/>
                                      </p:to>
                                    </p:set>
                                    <p:animEffect transition="in" filter="wipe(left)">
                                      <p:cBhvr>
                                        <p:cTn id="15" dur="2000"/>
                                        <p:tgtEl>
                                          <p:spTgt spid="108547">
                                            <p:txEl>
                                              <p:pRg st="3" end="3"/>
                                            </p:txEl>
                                          </p:spTgt>
                                        </p:tgtEl>
                                      </p:cBhvr>
                                    </p:animEffect>
                                  </p:childTnLst>
                                </p:cTn>
                              </p:par>
                            </p:childTnLst>
                          </p:cTn>
                        </p:par>
                        <p:par>
                          <p:cTn id="16" fill="hold">
                            <p:stCondLst>
                              <p:cond delay="2000"/>
                            </p:stCondLst>
                            <p:childTnLst>
                              <p:par>
                                <p:cTn id="17" presetID="22" presetClass="entr" presetSubtype="8" fill="hold" grpId="0" nodeType="afterEffect">
                                  <p:stCondLst>
                                    <p:cond delay="0"/>
                                  </p:stCondLst>
                                  <p:childTnLst>
                                    <p:set>
                                      <p:cBhvr>
                                        <p:cTn id="18" dur="1" fill="hold">
                                          <p:stCondLst>
                                            <p:cond delay="0"/>
                                          </p:stCondLst>
                                        </p:cTn>
                                        <p:tgtEl>
                                          <p:spTgt spid="108547">
                                            <p:txEl>
                                              <p:pRg st="4" end="4"/>
                                            </p:txEl>
                                          </p:spTgt>
                                        </p:tgtEl>
                                        <p:attrNameLst>
                                          <p:attrName>style.visibility</p:attrName>
                                        </p:attrNameLst>
                                      </p:cBhvr>
                                      <p:to>
                                        <p:strVal val="visible"/>
                                      </p:to>
                                    </p:set>
                                    <p:animEffect transition="in" filter="wipe(left)">
                                      <p:cBhvr>
                                        <p:cTn id="19" dur="1000"/>
                                        <p:tgtEl>
                                          <p:spTgt spid="108547">
                                            <p:txEl>
                                              <p:pRg st="4" end="4"/>
                                            </p:txEl>
                                          </p:spTgt>
                                        </p:tgtEl>
                                      </p:cBhvr>
                                    </p:animEffect>
                                  </p:childTnLst>
                                </p:cTn>
                              </p:par>
                              <p:par>
                                <p:cTn id="20" presetID="22" presetClass="entr" presetSubtype="1" fill="hold" grpId="0" nodeType="withEffect">
                                  <p:stCondLst>
                                    <p:cond delay="0"/>
                                  </p:stCondLst>
                                  <p:childTnLst>
                                    <p:set>
                                      <p:cBhvr>
                                        <p:cTn id="21" dur="1" fill="hold">
                                          <p:stCondLst>
                                            <p:cond delay="0"/>
                                          </p:stCondLst>
                                        </p:cTn>
                                        <p:tgtEl>
                                          <p:spTgt spid="108547">
                                            <p:txEl>
                                              <p:pRg st="5" end="5"/>
                                            </p:txEl>
                                          </p:spTgt>
                                        </p:tgtEl>
                                        <p:attrNameLst>
                                          <p:attrName>style.visibility</p:attrName>
                                        </p:attrNameLst>
                                      </p:cBhvr>
                                      <p:to>
                                        <p:strVal val="visible"/>
                                      </p:to>
                                    </p:set>
                                    <p:animEffect transition="in" filter="wipe(up)">
                                      <p:cBhvr>
                                        <p:cTn id="22" dur="5000"/>
                                        <p:tgtEl>
                                          <p:spTgt spid="10854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7"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51" name="Group 4"/>
          <p:cNvGrpSpPr>
            <a:grpSpLocks/>
          </p:cNvGrpSpPr>
          <p:nvPr/>
        </p:nvGrpSpPr>
        <p:grpSpPr bwMode="auto">
          <a:xfrm>
            <a:off x="-71438" y="4437063"/>
            <a:ext cx="2952751" cy="2349500"/>
            <a:chOff x="192" y="1872"/>
            <a:chExt cx="2549" cy="2112"/>
          </a:xfrm>
        </p:grpSpPr>
        <p:graphicFrame>
          <p:nvGraphicFramePr>
            <p:cNvPr id="2050" name="Object 5"/>
            <p:cNvGraphicFramePr>
              <a:graphicFrameLocks noChangeAspect="1"/>
            </p:cNvGraphicFramePr>
            <p:nvPr/>
          </p:nvGraphicFramePr>
          <p:xfrm>
            <a:off x="192" y="1872"/>
            <a:ext cx="2549" cy="2112"/>
          </p:xfrm>
          <a:graphic>
            <a:graphicData uri="http://schemas.openxmlformats.org/presentationml/2006/ole">
              <mc:AlternateContent xmlns:mc="http://schemas.openxmlformats.org/markup-compatibility/2006">
                <mc:Choice xmlns:v="urn:schemas-microsoft-com:vml" Requires="v">
                  <p:oleObj spid="_x0000_s2083" name="剪辑" r:id="rId3" imgW="4046538" imgH="3352800" progId="">
                    <p:embed/>
                  </p:oleObj>
                </mc:Choice>
                <mc:Fallback>
                  <p:oleObj name="剪辑" r:id="rId3" imgW="4046538" imgH="3352800" progId="">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 y="1872"/>
                          <a:ext cx="2549" cy="2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054" name="Picture 6" descr="BD00028_"/>
            <p:cNvPicPr>
              <a:picLocks noChangeAspect="1" noChangeArrowheads="1"/>
            </p:cNvPicPr>
            <p:nvPr/>
          </p:nvPicPr>
          <p:blipFill>
            <a:blip r:embed="rId5" cstate="print"/>
            <a:srcRect/>
            <a:stretch>
              <a:fillRect/>
            </a:stretch>
          </p:blipFill>
          <p:spPr bwMode="auto">
            <a:xfrm>
              <a:off x="1920" y="2304"/>
              <a:ext cx="543" cy="532"/>
            </a:xfrm>
            <a:prstGeom prst="rect">
              <a:avLst/>
            </a:prstGeom>
            <a:noFill/>
            <a:ln w="9525">
              <a:noFill/>
              <a:miter lim="800000"/>
              <a:headEnd/>
              <a:tailEnd/>
            </a:ln>
          </p:spPr>
        </p:pic>
      </p:grpSp>
      <p:sp>
        <p:nvSpPr>
          <p:cNvPr id="2052" name="Rectangle 2"/>
          <p:cNvSpPr>
            <a:spLocks noGrp="1" noChangeArrowheads="1"/>
          </p:cNvSpPr>
          <p:nvPr>
            <p:ph type="title"/>
          </p:nvPr>
        </p:nvSpPr>
        <p:spPr>
          <a:xfrm>
            <a:off x="-396875" y="1125538"/>
            <a:ext cx="8748713" cy="576262"/>
          </a:xfrm>
        </p:spPr>
        <p:txBody>
          <a:bodyPr/>
          <a:lstStyle/>
          <a:p>
            <a:pPr eaLnBrk="1" hangingPunct="1"/>
            <a:r>
              <a:rPr lang="en-US" altLang="zh-CN" dirty="0" smtClean="0">
                <a:solidFill>
                  <a:srgbClr val="0000FF"/>
                </a:solidFill>
              </a:rPr>
              <a:t>§1.2  </a:t>
            </a:r>
            <a:r>
              <a:rPr lang="zh-CN" altLang="en-US" dirty="0" smtClean="0">
                <a:solidFill>
                  <a:srgbClr val="0000FF"/>
                </a:solidFill>
              </a:rPr>
              <a:t>什么是统计</a:t>
            </a:r>
          </a:p>
        </p:txBody>
      </p:sp>
      <p:sp>
        <p:nvSpPr>
          <p:cNvPr id="2053" name="Rectangle 3"/>
          <p:cNvSpPr>
            <a:spLocks noGrp="1" noChangeArrowheads="1"/>
          </p:cNvSpPr>
          <p:nvPr>
            <p:ph idx="1"/>
          </p:nvPr>
        </p:nvSpPr>
        <p:spPr>
          <a:xfrm>
            <a:off x="1857375" y="2214563"/>
            <a:ext cx="7092950" cy="3671887"/>
          </a:xfrm>
        </p:spPr>
        <p:txBody>
          <a:bodyPr/>
          <a:lstStyle/>
          <a:p>
            <a:pPr lvl="1" eaLnBrk="1" hangingPunct="1"/>
            <a:r>
              <a:rPr lang="en-US" altLang="zh-CN" sz="3600" dirty="0" smtClean="0"/>
              <a:t>§1.2.1 </a:t>
            </a:r>
            <a:r>
              <a:rPr lang="zh-CN" altLang="en-US" sz="3600" smtClean="0"/>
              <a:t>统计的涵义</a:t>
            </a:r>
          </a:p>
          <a:p>
            <a:pPr lvl="1" eaLnBrk="1" hangingPunct="1"/>
            <a:r>
              <a:rPr lang="en-US" altLang="zh-CN" sz="3600" dirty="0" smtClean="0"/>
              <a:t>§1.2.2 </a:t>
            </a:r>
            <a:r>
              <a:rPr lang="zh-CN" altLang="en-US" sz="3600" smtClean="0"/>
              <a:t>统计学的类型</a:t>
            </a:r>
          </a:p>
          <a:p>
            <a:pPr lvl="1" eaLnBrk="1" hangingPunct="1"/>
            <a:r>
              <a:rPr lang="en-US" altLang="zh-CN" sz="3600" dirty="0" smtClean="0"/>
              <a:t>§1.2.3 </a:t>
            </a:r>
            <a:r>
              <a:rPr lang="zh-CN" altLang="en-US" sz="3600" smtClean="0"/>
              <a:t>统计的特点</a:t>
            </a:r>
          </a:p>
          <a:p>
            <a:pPr lvl="1" eaLnBrk="1" hangingPunct="1"/>
            <a:r>
              <a:rPr lang="en-US" altLang="zh-CN" sz="3600" dirty="0" smtClean="0"/>
              <a:t>§1.2.4 </a:t>
            </a:r>
            <a:r>
              <a:rPr lang="zh-CN" altLang="en-US" sz="3600" smtClean="0"/>
              <a:t>统计研究的基本方法</a:t>
            </a:r>
            <a:endParaRPr lang="zh-CN" altLang="en-US" sz="3600" smtClean="0">
              <a:solidFill>
                <a:schemeClr val="accent2"/>
              </a:solidFill>
            </a:endParaRPr>
          </a:p>
        </p:txBody>
      </p:sp>
      <p:sp>
        <p:nvSpPr>
          <p:cNvPr id="7" name="灯片编号占位符 6"/>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20</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1" name="Rectangle 3"/>
          <p:cNvSpPr>
            <a:spLocks noGrp="1" noChangeArrowheads="1"/>
          </p:cNvSpPr>
          <p:nvPr>
            <p:ph type="title"/>
          </p:nvPr>
        </p:nvSpPr>
        <p:spPr>
          <a:xfrm>
            <a:off x="503238" y="476250"/>
            <a:ext cx="7524750" cy="1196975"/>
          </a:xfrm>
          <a:noFill/>
        </p:spPr>
        <p:txBody>
          <a:bodyPr anchor="ctr"/>
          <a:lstStyle/>
          <a:p>
            <a:pPr algn="l" eaLnBrk="1" hangingPunct="1"/>
            <a:r>
              <a:rPr lang="en-US" altLang="zh-CN" sz="5400" dirty="0" smtClean="0">
                <a:latin typeface="华文隶书" pitchFamily="2" charset="-122"/>
                <a:ea typeface="华文隶书" pitchFamily="2" charset="-122"/>
              </a:rPr>
              <a:t>§</a:t>
            </a:r>
            <a:r>
              <a:rPr lang="en-US" altLang="zh-CN" sz="5400" dirty="0" smtClean="0">
                <a:ea typeface="华文隶书" pitchFamily="2" charset="-122"/>
              </a:rPr>
              <a:t>1.2.1 </a:t>
            </a:r>
            <a:r>
              <a:rPr lang="en-US" altLang="zh-CN" sz="5400" dirty="0" smtClean="0">
                <a:latin typeface="华文隶书" pitchFamily="2" charset="-122"/>
                <a:ea typeface="华文隶书" pitchFamily="2" charset="-122"/>
              </a:rPr>
              <a:t> </a:t>
            </a:r>
            <a:r>
              <a:rPr lang="zh-CN" altLang="en-US" sz="5400" dirty="0" smtClean="0">
                <a:latin typeface="华文隶书" pitchFamily="2" charset="-122"/>
                <a:ea typeface="华文隶书" pitchFamily="2" charset="-122"/>
              </a:rPr>
              <a:t>统计学的类型</a:t>
            </a:r>
          </a:p>
        </p:txBody>
      </p:sp>
      <p:sp>
        <p:nvSpPr>
          <p:cNvPr id="27650" name="Rectangle 2"/>
          <p:cNvSpPr>
            <a:spLocks noGrp="1" noChangeArrowheads="1"/>
          </p:cNvSpPr>
          <p:nvPr>
            <p:ph idx="1"/>
          </p:nvPr>
        </p:nvSpPr>
        <p:spPr>
          <a:xfrm>
            <a:off x="1187624" y="1772816"/>
            <a:ext cx="6913562" cy="4608513"/>
          </a:xfrm>
        </p:spPr>
        <p:txBody>
          <a:bodyPr/>
          <a:lstStyle/>
          <a:p>
            <a:pPr marL="0" indent="0" algn="just" eaLnBrk="1" hangingPunct="1">
              <a:lnSpc>
                <a:spcPct val="105000"/>
              </a:lnSpc>
              <a:spcBef>
                <a:spcPct val="25000"/>
              </a:spcBef>
            </a:pPr>
            <a:r>
              <a:rPr lang="zh-CN" altLang="en-US" dirty="0" smtClean="0">
                <a:solidFill>
                  <a:srgbClr val="000000"/>
                </a:solidFill>
              </a:rPr>
              <a:t>统计的原义</a:t>
            </a:r>
            <a:r>
              <a:rPr lang="en-US" altLang="zh-CN" dirty="0" smtClean="0">
                <a:solidFill>
                  <a:srgbClr val="000000"/>
                </a:solidFill>
                <a:latin typeface="Arial" charset="0"/>
              </a:rPr>
              <a:t>——</a:t>
            </a:r>
            <a:r>
              <a:rPr lang="zh-CN" altLang="en-US" dirty="0" smtClean="0">
                <a:solidFill>
                  <a:srgbClr val="000000"/>
                </a:solidFill>
              </a:rPr>
              <a:t>合计、汇总计算。</a:t>
            </a:r>
          </a:p>
          <a:p>
            <a:pPr marL="0" indent="0" algn="just" eaLnBrk="1" hangingPunct="1">
              <a:lnSpc>
                <a:spcPct val="105000"/>
              </a:lnSpc>
              <a:spcBef>
                <a:spcPct val="25000"/>
              </a:spcBef>
              <a:buNone/>
            </a:pPr>
            <a:r>
              <a:rPr lang="zh-CN" altLang="zh-CN" sz="2800" dirty="0" smtClean="0">
                <a:solidFill>
                  <a:schemeClr val="tx1"/>
                </a:solidFill>
              </a:rPr>
              <a:t>在英语中，</a:t>
            </a:r>
            <a:r>
              <a:rPr lang="en-US" altLang="zh-CN" sz="2800" dirty="0" smtClean="0">
                <a:solidFill>
                  <a:schemeClr val="tx1"/>
                </a:solidFill>
              </a:rPr>
              <a:t>Statistics</a:t>
            </a:r>
            <a:r>
              <a:rPr lang="zh-CN" altLang="zh-CN" sz="2800" dirty="0" smtClean="0">
                <a:solidFill>
                  <a:schemeClr val="tx1"/>
                </a:solidFill>
              </a:rPr>
              <a:t>作为单数指统计学；作为复数，指统计资料。</a:t>
            </a:r>
            <a:endParaRPr lang="en-US" altLang="zh-CN" sz="2800" dirty="0" smtClean="0">
              <a:solidFill>
                <a:schemeClr val="tx1"/>
              </a:solidFill>
            </a:endParaRPr>
          </a:p>
          <a:p>
            <a:pPr marL="0" indent="0" algn="just" eaLnBrk="1" hangingPunct="1">
              <a:lnSpc>
                <a:spcPct val="105000"/>
              </a:lnSpc>
              <a:spcBef>
                <a:spcPct val="25000"/>
              </a:spcBef>
            </a:pPr>
            <a:r>
              <a:rPr lang="zh-CN" altLang="en-US" dirty="0" smtClean="0">
                <a:solidFill>
                  <a:srgbClr val="000000"/>
                </a:solidFill>
              </a:rPr>
              <a:t>习惯上人们对于</a:t>
            </a:r>
            <a:r>
              <a:rPr lang="zh-CN" altLang="en-US" dirty="0" smtClean="0">
                <a:solidFill>
                  <a:srgbClr val="000000"/>
                </a:solidFill>
                <a:latin typeface="Arial" charset="0"/>
              </a:rPr>
              <a:t>“</a:t>
            </a:r>
            <a:r>
              <a:rPr lang="zh-CN" altLang="en-US" dirty="0" smtClean="0">
                <a:solidFill>
                  <a:srgbClr val="000000"/>
                </a:solidFill>
              </a:rPr>
              <a:t>统计</a:t>
            </a:r>
            <a:r>
              <a:rPr lang="zh-CN" altLang="en-US" dirty="0" smtClean="0">
                <a:solidFill>
                  <a:srgbClr val="000000"/>
                </a:solidFill>
                <a:latin typeface="Arial" charset="0"/>
              </a:rPr>
              <a:t>”</a:t>
            </a:r>
            <a:r>
              <a:rPr lang="zh-CN" altLang="en-US" dirty="0" smtClean="0">
                <a:solidFill>
                  <a:srgbClr val="000000"/>
                </a:solidFill>
              </a:rPr>
              <a:t> 常常有不同的用法（三种涵义）：</a:t>
            </a:r>
          </a:p>
          <a:p>
            <a:pPr marL="857250" lvl="1" algn="just" eaLnBrk="1" hangingPunct="1">
              <a:lnSpc>
                <a:spcPct val="105000"/>
              </a:lnSpc>
              <a:spcBef>
                <a:spcPct val="25000"/>
              </a:spcBef>
            </a:pPr>
            <a:r>
              <a:rPr lang="zh-CN" altLang="en-US" sz="3200" dirty="0" smtClean="0"/>
              <a:t> 统计工作</a:t>
            </a:r>
          </a:p>
          <a:p>
            <a:pPr marL="857250" lvl="1" algn="just" eaLnBrk="1" hangingPunct="1">
              <a:lnSpc>
                <a:spcPct val="105000"/>
              </a:lnSpc>
              <a:spcBef>
                <a:spcPct val="25000"/>
              </a:spcBef>
            </a:pPr>
            <a:r>
              <a:rPr lang="zh-CN" altLang="en-US" sz="3200" dirty="0" smtClean="0"/>
              <a:t> 统计资料</a:t>
            </a:r>
          </a:p>
          <a:p>
            <a:pPr marL="857250" lvl="1" algn="just" eaLnBrk="1" hangingPunct="1">
              <a:lnSpc>
                <a:spcPct val="105000"/>
              </a:lnSpc>
              <a:spcBef>
                <a:spcPct val="25000"/>
              </a:spcBef>
            </a:pPr>
            <a:r>
              <a:rPr lang="zh-CN" altLang="en-US" sz="3200" dirty="0" smtClean="0"/>
              <a:t> 统计科学</a:t>
            </a:r>
            <a:r>
              <a:rPr lang="zh-CN" altLang="en-US" dirty="0" smtClean="0"/>
              <a:t> </a:t>
            </a:r>
            <a:r>
              <a:rPr lang="zh-CN" altLang="en-US" sz="2400" dirty="0" smtClean="0"/>
              <a:t>        </a:t>
            </a:r>
          </a:p>
        </p:txBody>
      </p:sp>
      <p:sp>
        <p:nvSpPr>
          <p:cNvPr id="4" name="灯片编号占位符 3"/>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21</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4"/>
          <p:cNvSpPr>
            <a:spLocks noGrp="1" noChangeArrowheads="1"/>
          </p:cNvSpPr>
          <p:nvPr>
            <p:ph type="title"/>
          </p:nvPr>
        </p:nvSpPr>
        <p:spPr/>
        <p:txBody>
          <a:bodyPr/>
          <a:lstStyle/>
          <a:p>
            <a:pPr eaLnBrk="1" hangingPunct="1"/>
            <a:r>
              <a:rPr lang="zh-CN" altLang="en-US" dirty="0" smtClean="0">
                <a:solidFill>
                  <a:srgbClr val="0000FF"/>
                </a:solidFill>
              </a:rPr>
              <a:t>统计工作</a:t>
            </a:r>
          </a:p>
        </p:txBody>
      </p:sp>
      <p:sp>
        <p:nvSpPr>
          <p:cNvPr id="28674" name="Rectangle 2"/>
          <p:cNvSpPr>
            <a:spLocks noGrp="1" noChangeArrowheads="1"/>
          </p:cNvSpPr>
          <p:nvPr>
            <p:ph idx="1"/>
          </p:nvPr>
        </p:nvSpPr>
        <p:spPr>
          <a:xfrm>
            <a:off x="971550" y="1341438"/>
            <a:ext cx="7239000" cy="4679950"/>
          </a:xfrm>
        </p:spPr>
        <p:txBody>
          <a:bodyPr/>
          <a:lstStyle/>
          <a:p>
            <a:pPr eaLnBrk="1" hangingPunct="1">
              <a:lnSpc>
                <a:spcPct val="150000"/>
              </a:lnSpc>
            </a:pPr>
            <a:r>
              <a:rPr lang="en-US" altLang="zh-CN" sz="4000" dirty="0" smtClean="0">
                <a:solidFill>
                  <a:schemeClr val="accent4"/>
                </a:solidFill>
              </a:rPr>
              <a:t> </a:t>
            </a:r>
            <a:r>
              <a:rPr lang="zh-CN" altLang="en-US" sz="4000" dirty="0" smtClean="0">
                <a:solidFill>
                  <a:schemeClr val="accent4"/>
                </a:solidFill>
              </a:rPr>
              <a:t>统计工作即统计实践活动，是人们为了说明所研究对象的某种数量特征和数量规律性，而对该现象的数据进行收集、整理与分析的活动。</a:t>
            </a:r>
          </a:p>
        </p:txBody>
      </p:sp>
      <p:sp>
        <p:nvSpPr>
          <p:cNvPr id="4" name="灯片编号占位符 3"/>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22</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2"/>
          <p:cNvSpPr>
            <a:spLocks noGrp="1" noChangeArrowheads="1"/>
          </p:cNvSpPr>
          <p:nvPr>
            <p:ph idx="1"/>
          </p:nvPr>
        </p:nvSpPr>
        <p:spPr>
          <a:xfrm>
            <a:off x="611560" y="908720"/>
            <a:ext cx="8208962" cy="4929634"/>
          </a:xfrm>
        </p:spPr>
        <p:txBody>
          <a:bodyPr/>
          <a:lstStyle/>
          <a:p>
            <a:pPr eaLnBrk="1" hangingPunct="1">
              <a:spcBef>
                <a:spcPts val="900"/>
              </a:spcBef>
              <a:buFontTx/>
              <a:buNone/>
            </a:pPr>
            <a:r>
              <a:rPr lang="zh-CN" altLang="en-US" dirty="0" smtClean="0">
                <a:solidFill>
                  <a:srgbClr val="A50021"/>
                </a:solidFill>
              </a:rPr>
              <a:t>统计实践活动的产生与发展</a:t>
            </a:r>
            <a:r>
              <a:rPr lang="zh-CN" altLang="en-US" dirty="0" smtClean="0">
                <a:solidFill>
                  <a:schemeClr val="accent2"/>
                </a:solidFill>
              </a:rPr>
              <a:t> </a:t>
            </a:r>
          </a:p>
          <a:p>
            <a:pPr eaLnBrk="1" hangingPunct="1">
              <a:spcBef>
                <a:spcPts val="900"/>
              </a:spcBef>
            </a:pPr>
            <a:r>
              <a:rPr lang="zh-CN" altLang="en-US" sz="2800" dirty="0" smtClean="0">
                <a:solidFill>
                  <a:srgbClr val="003300"/>
                </a:solidFill>
              </a:rPr>
              <a:t>结绳记事</a:t>
            </a:r>
            <a:r>
              <a:rPr lang="en-US" altLang="zh-CN" sz="2800" dirty="0" smtClean="0">
                <a:solidFill>
                  <a:srgbClr val="003300"/>
                </a:solidFill>
              </a:rPr>
              <a:t>——</a:t>
            </a:r>
            <a:r>
              <a:rPr lang="zh-CN" altLang="en-US" sz="2800" dirty="0" smtClean="0">
                <a:solidFill>
                  <a:srgbClr val="003300"/>
                </a:solidFill>
              </a:rPr>
              <a:t>数据的萌芽；</a:t>
            </a:r>
          </a:p>
          <a:p>
            <a:pPr eaLnBrk="1" hangingPunct="1">
              <a:spcBef>
                <a:spcPts val="900"/>
              </a:spcBef>
            </a:pPr>
            <a:r>
              <a:rPr lang="zh-CN" altLang="en-US" sz="2800" dirty="0" smtClean="0">
                <a:solidFill>
                  <a:srgbClr val="003300"/>
                </a:solidFill>
              </a:rPr>
              <a:t>有文字记载的统计实践活动；</a:t>
            </a:r>
          </a:p>
          <a:p>
            <a:pPr eaLnBrk="1" hangingPunct="1">
              <a:spcBef>
                <a:spcPts val="900"/>
              </a:spcBef>
            </a:pPr>
            <a:r>
              <a:rPr lang="zh-CN" altLang="en-US" sz="2800" dirty="0" smtClean="0">
                <a:solidFill>
                  <a:srgbClr val="003300"/>
                </a:solidFill>
              </a:rPr>
              <a:t>资本主义生产方式出现以前，统计主要限于人口、土地、财产等；</a:t>
            </a:r>
            <a:endParaRPr lang="en-US" altLang="zh-CN" sz="2800" dirty="0" smtClean="0">
              <a:solidFill>
                <a:srgbClr val="003300"/>
              </a:solidFill>
            </a:endParaRPr>
          </a:p>
          <a:p>
            <a:pPr eaLnBrk="1" hangingPunct="1">
              <a:spcBef>
                <a:spcPts val="900"/>
              </a:spcBef>
            </a:pPr>
            <a:r>
              <a:rPr lang="zh-CN" altLang="en-US" sz="2800" dirty="0" smtClean="0">
                <a:solidFill>
                  <a:srgbClr val="003300"/>
                </a:solidFill>
              </a:rPr>
              <a:t>随着资本主义生产方式的推进，统计飞速发展</a:t>
            </a:r>
            <a:r>
              <a:rPr lang="en-US" altLang="zh-CN" sz="2800" dirty="0" smtClean="0">
                <a:solidFill>
                  <a:srgbClr val="003300"/>
                </a:solidFill>
                <a:latin typeface="Arial" charset="0"/>
              </a:rPr>
              <a:t>——</a:t>
            </a:r>
            <a:r>
              <a:rPr lang="zh-CN" altLang="en-US" sz="2800" dirty="0" smtClean="0">
                <a:solidFill>
                  <a:srgbClr val="003300"/>
                </a:solidFill>
              </a:rPr>
              <a:t>统计内容扩展，专门统计机构成立；</a:t>
            </a:r>
            <a:endParaRPr lang="en-US" altLang="zh-CN" sz="2800" dirty="0" smtClean="0">
              <a:solidFill>
                <a:srgbClr val="003300"/>
              </a:solidFill>
            </a:endParaRPr>
          </a:p>
          <a:p>
            <a:pPr eaLnBrk="1" hangingPunct="1">
              <a:spcBef>
                <a:spcPts val="900"/>
              </a:spcBef>
            </a:pPr>
            <a:r>
              <a:rPr lang="en-US" altLang="zh-CN" sz="2800" dirty="0" smtClean="0">
                <a:solidFill>
                  <a:srgbClr val="003300"/>
                </a:solidFill>
              </a:rPr>
              <a:t>20</a:t>
            </a:r>
            <a:r>
              <a:rPr lang="zh-CN" altLang="en-US" sz="2800" dirty="0" smtClean="0">
                <a:solidFill>
                  <a:srgbClr val="003300"/>
                </a:solidFill>
              </a:rPr>
              <a:t>世纪</a:t>
            </a:r>
            <a:r>
              <a:rPr lang="en-US" altLang="zh-CN" sz="2800" dirty="0" smtClean="0">
                <a:solidFill>
                  <a:srgbClr val="003300"/>
                </a:solidFill>
              </a:rPr>
              <a:t>50</a:t>
            </a:r>
            <a:r>
              <a:rPr lang="zh-CN" altLang="en-US" sz="2800" dirty="0" smtClean="0">
                <a:solidFill>
                  <a:srgbClr val="003300"/>
                </a:solidFill>
              </a:rPr>
              <a:t>年代以后，统计又出现一次飞跃。</a:t>
            </a:r>
          </a:p>
          <a:p>
            <a:pPr eaLnBrk="1" hangingPunct="1">
              <a:spcBef>
                <a:spcPts val="900"/>
              </a:spcBef>
              <a:buFontTx/>
              <a:buNone/>
            </a:pPr>
            <a:r>
              <a:rPr lang="zh-CN" altLang="en-US" sz="2800" dirty="0" smtClean="0">
                <a:solidFill>
                  <a:srgbClr val="003300"/>
                </a:solidFill>
              </a:rPr>
              <a:t>        </a:t>
            </a:r>
            <a:r>
              <a:rPr lang="zh-CN" altLang="en-US" sz="2800" dirty="0" smtClean="0">
                <a:solidFill>
                  <a:srgbClr val="7030A0"/>
                </a:solidFill>
              </a:rPr>
              <a:t>低级</a:t>
            </a:r>
            <a:r>
              <a:rPr lang="zh-CN" altLang="en-US" sz="2800" dirty="0" smtClean="0">
                <a:solidFill>
                  <a:srgbClr val="7030A0"/>
                </a:solidFill>
                <a:latin typeface="宋体" pitchFamily="2" charset="-122"/>
              </a:rPr>
              <a:t>→高级   简单→复杂  单一 →体系</a:t>
            </a:r>
            <a:endParaRPr lang="zh-CN" altLang="en-US" sz="2400" dirty="0" smtClean="0">
              <a:solidFill>
                <a:srgbClr val="7030A0"/>
              </a:solidFill>
            </a:endParaRPr>
          </a:p>
        </p:txBody>
      </p:sp>
      <p:sp>
        <p:nvSpPr>
          <p:cNvPr id="3" name="灯片编号占位符 2"/>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23</a:t>
            </a:fld>
            <a:endParaRPr lang="en-US" altLang="zh-CN" dirty="0">
              <a:solidFill>
                <a:srgbClr val="545472"/>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46082">
                                            <p:txEl>
                                              <p:pRg st="2" end="2"/>
                                            </p:txEl>
                                          </p:spTgt>
                                        </p:tgtEl>
                                        <p:attrNameLst>
                                          <p:attrName>style.visibility</p:attrName>
                                        </p:attrNameLst>
                                      </p:cBhvr>
                                      <p:to>
                                        <p:strVal val="visible"/>
                                      </p:to>
                                    </p:set>
                                    <p:anim calcmode="lin" valueType="num">
                                      <p:cBhvr additive="base">
                                        <p:cTn id="7" dur="1000" fill="hold"/>
                                        <p:tgtEl>
                                          <p:spTgt spid="46082">
                                            <p:txEl>
                                              <p:pRg st="2" end="2"/>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46082">
                                            <p:txEl>
                                              <p:pRg st="2" end="2"/>
                                            </p:txEl>
                                          </p:spTgt>
                                        </p:tgtEl>
                                        <p:attrNameLst>
                                          <p:attrName>ppt_y</p:attrName>
                                        </p:attrNameLst>
                                      </p:cBhvr>
                                      <p:tavLst>
                                        <p:tav tm="0">
                                          <p:val>
                                            <p:strVal val="1+#ppt_h/2"/>
                                          </p:val>
                                        </p:tav>
                                        <p:tav tm="100000">
                                          <p:val>
                                            <p:strVal val="#ppt_y"/>
                                          </p:val>
                                        </p:tav>
                                      </p:tavLst>
                                    </p:anim>
                                  </p:childTnLst>
                                </p:cTn>
                              </p:par>
                            </p:childTnLst>
                          </p:cTn>
                        </p:par>
                        <p:par>
                          <p:cTn id="9" fill="hold">
                            <p:stCondLst>
                              <p:cond delay="1000"/>
                            </p:stCondLst>
                            <p:childTnLst>
                              <p:par>
                                <p:cTn id="10" presetID="2" presetClass="entr" presetSubtype="4" fill="hold" grpId="0" nodeType="afterEffect">
                                  <p:stCondLst>
                                    <p:cond delay="0"/>
                                  </p:stCondLst>
                                  <p:childTnLst>
                                    <p:set>
                                      <p:cBhvr>
                                        <p:cTn id="11" dur="1" fill="hold">
                                          <p:stCondLst>
                                            <p:cond delay="0"/>
                                          </p:stCondLst>
                                        </p:cTn>
                                        <p:tgtEl>
                                          <p:spTgt spid="46082">
                                            <p:txEl>
                                              <p:pRg st="3" end="3"/>
                                            </p:txEl>
                                          </p:spTgt>
                                        </p:tgtEl>
                                        <p:attrNameLst>
                                          <p:attrName>style.visibility</p:attrName>
                                        </p:attrNameLst>
                                      </p:cBhvr>
                                      <p:to>
                                        <p:strVal val="visible"/>
                                      </p:to>
                                    </p:set>
                                    <p:anim calcmode="lin" valueType="num">
                                      <p:cBhvr additive="base">
                                        <p:cTn id="12" dur="1000" fill="hold"/>
                                        <p:tgtEl>
                                          <p:spTgt spid="46082">
                                            <p:txEl>
                                              <p:pRg st="3" end="3"/>
                                            </p:txEl>
                                          </p:spTgt>
                                        </p:tgtEl>
                                        <p:attrNameLst>
                                          <p:attrName>ppt_x</p:attrName>
                                        </p:attrNameLst>
                                      </p:cBhvr>
                                      <p:tavLst>
                                        <p:tav tm="0">
                                          <p:val>
                                            <p:strVal val="#ppt_x"/>
                                          </p:val>
                                        </p:tav>
                                        <p:tav tm="100000">
                                          <p:val>
                                            <p:strVal val="#ppt_x"/>
                                          </p:val>
                                        </p:tav>
                                      </p:tavLst>
                                    </p:anim>
                                    <p:anim calcmode="lin" valueType="num">
                                      <p:cBhvr additive="base">
                                        <p:cTn id="13" dur="1000" fill="hold"/>
                                        <p:tgtEl>
                                          <p:spTgt spid="46082">
                                            <p:txEl>
                                              <p:pRg st="3" end="3"/>
                                            </p:txEl>
                                          </p:spTgt>
                                        </p:tgtEl>
                                        <p:attrNameLst>
                                          <p:attrName>ppt_y</p:attrName>
                                        </p:attrNameLst>
                                      </p:cBhvr>
                                      <p:tavLst>
                                        <p:tav tm="0">
                                          <p:val>
                                            <p:strVal val="1+#ppt_h/2"/>
                                          </p:val>
                                        </p:tav>
                                        <p:tav tm="100000">
                                          <p:val>
                                            <p:strVal val="#ppt_y"/>
                                          </p:val>
                                        </p:tav>
                                      </p:tavLst>
                                    </p:anim>
                                  </p:childTnLst>
                                </p:cTn>
                              </p:par>
                            </p:childTnLst>
                          </p:cTn>
                        </p:par>
                        <p:par>
                          <p:cTn id="14" fill="hold">
                            <p:stCondLst>
                              <p:cond delay="2000"/>
                            </p:stCondLst>
                            <p:childTnLst>
                              <p:par>
                                <p:cTn id="15" presetID="2" presetClass="entr" presetSubtype="4" fill="hold" grpId="0" nodeType="afterEffect">
                                  <p:stCondLst>
                                    <p:cond delay="0"/>
                                  </p:stCondLst>
                                  <p:childTnLst>
                                    <p:set>
                                      <p:cBhvr>
                                        <p:cTn id="16" dur="1" fill="hold">
                                          <p:stCondLst>
                                            <p:cond delay="0"/>
                                          </p:stCondLst>
                                        </p:cTn>
                                        <p:tgtEl>
                                          <p:spTgt spid="46082">
                                            <p:txEl>
                                              <p:pRg st="4" end="4"/>
                                            </p:txEl>
                                          </p:spTgt>
                                        </p:tgtEl>
                                        <p:attrNameLst>
                                          <p:attrName>style.visibility</p:attrName>
                                        </p:attrNameLst>
                                      </p:cBhvr>
                                      <p:to>
                                        <p:strVal val="visible"/>
                                      </p:to>
                                    </p:set>
                                    <p:anim calcmode="lin" valueType="num">
                                      <p:cBhvr additive="base">
                                        <p:cTn id="17" dur="1000" fill="hold"/>
                                        <p:tgtEl>
                                          <p:spTgt spid="46082">
                                            <p:txEl>
                                              <p:pRg st="4" end="4"/>
                                            </p:txEl>
                                          </p:spTgt>
                                        </p:tgtEl>
                                        <p:attrNameLst>
                                          <p:attrName>ppt_x</p:attrName>
                                        </p:attrNameLst>
                                      </p:cBhvr>
                                      <p:tavLst>
                                        <p:tav tm="0">
                                          <p:val>
                                            <p:strVal val="#ppt_x"/>
                                          </p:val>
                                        </p:tav>
                                        <p:tav tm="100000">
                                          <p:val>
                                            <p:strVal val="#ppt_x"/>
                                          </p:val>
                                        </p:tav>
                                      </p:tavLst>
                                    </p:anim>
                                    <p:anim calcmode="lin" valueType="num">
                                      <p:cBhvr additive="base">
                                        <p:cTn id="18" dur="1000" fill="hold"/>
                                        <p:tgtEl>
                                          <p:spTgt spid="46082">
                                            <p:txEl>
                                              <p:pRg st="4" end="4"/>
                                            </p:txEl>
                                          </p:spTgt>
                                        </p:tgtEl>
                                        <p:attrNameLst>
                                          <p:attrName>ppt_y</p:attrName>
                                        </p:attrNameLst>
                                      </p:cBhvr>
                                      <p:tavLst>
                                        <p:tav tm="0">
                                          <p:val>
                                            <p:strVal val="1+#ppt_h/2"/>
                                          </p:val>
                                        </p:tav>
                                        <p:tav tm="100000">
                                          <p:val>
                                            <p:strVal val="#ppt_y"/>
                                          </p:val>
                                        </p:tav>
                                      </p:tavLst>
                                    </p:anim>
                                  </p:childTnLst>
                                </p:cTn>
                              </p:par>
                            </p:childTnLst>
                          </p:cTn>
                        </p:par>
                        <p:par>
                          <p:cTn id="19" fill="hold">
                            <p:stCondLst>
                              <p:cond delay="3000"/>
                            </p:stCondLst>
                            <p:childTnLst>
                              <p:par>
                                <p:cTn id="20" presetID="2" presetClass="entr" presetSubtype="4" fill="hold" grpId="0" nodeType="afterEffect">
                                  <p:stCondLst>
                                    <p:cond delay="0"/>
                                  </p:stCondLst>
                                  <p:childTnLst>
                                    <p:set>
                                      <p:cBhvr>
                                        <p:cTn id="21" dur="1" fill="hold">
                                          <p:stCondLst>
                                            <p:cond delay="0"/>
                                          </p:stCondLst>
                                        </p:cTn>
                                        <p:tgtEl>
                                          <p:spTgt spid="46082">
                                            <p:txEl>
                                              <p:pRg st="5" end="5"/>
                                            </p:txEl>
                                          </p:spTgt>
                                        </p:tgtEl>
                                        <p:attrNameLst>
                                          <p:attrName>style.visibility</p:attrName>
                                        </p:attrNameLst>
                                      </p:cBhvr>
                                      <p:to>
                                        <p:strVal val="visible"/>
                                      </p:to>
                                    </p:set>
                                    <p:anim calcmode="lin" valueType="num">
                                      <p:cBhvr additive="base">
                                        <p:cTn id="22" dur="1000" fill="hold"/>
                                        <p:tgtEl>
                                          <p:spTgt spid="46082">
                                            <p:txEl>
                                              <p:pRg st="5" end="5"/>
                                            </p:txEl>
                                          </p:spTgt>
                                        </p:tgtEl>
                                        <p:attrNameLst>
                                          <p:attrName>ppt_x</p:attrName>
                                        </p:attrNameLst>
                                      </p:cBhvr>
                                      <p:tavLst>
                                        <p:tav tm="0">
                                          <p:val>
                                            <p:strVal val="#ppt_x"/>
                                          </p:val>
                                        </p:tav>
                                        <p:tav tm="100000">
                                          <p:val>
                                            <p:strVal val="#ppt_x"/>
                                          </p:val>
                                        </p:tav>
                                      </p:tavLst>
                                    </p:anim>
                                    <p:anim calcmode="lin" valueType="num">
                                      <p:cBhvr additive="base">
                                        <p:cTn id="23" dur="1000" fill="hold"/>
                                        <p:tgtEl>
                                          <p:spTgt spid="4608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build="p"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a:xfrm>
            <a:off x="1258888" y="188913"/>
            <a:ext cx="6999287" cy="954087"/>
          </a:xfrm>
        </p:spPr>
        <p:txBody>
          <a:bodyPr/>
          <a:lstStyle/>
          <a:p>
            <a:pPr eaLnBrk="1" hangingPunct="1">
              <a:defRPr/>
            </a:pPr>
            <a:r>
              <a:rPr lang="zh-CN" altLang="en-US" dirty="0" smtClean="0"/>
              <a:t>统计研究的基本环节 </a:t>
            </a:r>
          </a:p>
        </p:txBody>
      </p:sp>
      <p:sp>
        <p:nvSpPr>
          <p:cNvPr id="115715" name="Rectangle 3"/>
          <p:cNvSpPr>
            <a:spLocks noGrp="1" noChangeArrowheads="1"/>
          </p:cNvSpPr>
          <p:nvPr>
            <p:ph idx="1"/>
          </p:nvPr>
        </p:nvSpPr>
        <p:spPr>
          <a:xfrm>
            <a:off x="323850" y="1268413"/>
            <a:ext cx="8215313" cy="5183187"/>
          </a:xfrm>
        </p:spPr>
        <p:txBody>
          <a:bodyPr/>
          <a:lstStyle/>
          <a:p>
            <a:pPr eaLnBrk="1" hangingPunct="1">
              <a:buFontTx/>
              <a:buNone/>
              <a:defRPr/>
            </a:pPr>
            <a:r>
              <a:rPr lang="zh-CN" altLang="en-US" b="1" dirty="0" smtClean="0">
                <a:solidFill>
                  <a:srgbClr val="0070C0"/>
                </a:solidFill>
              </a:rPr>
              <a:t>统计研究的一般过程：</a:t>
            </a:r>
          </a:p>
        </p:txBody>
      </p:sp>
      <p:grpSp>
        <p:nvGrpSpPr>
          <p:cNvPr id="29700" name="Group 4"/>
          <p:cNvGrpSpPr>
            <a:grpSpLocks/>
          </p:cNvGrpSpPr>
          <p:nvPr/>
        </p:nvGrpSpPr>
        <p:grpSpPr bwMode="auto">
          <a:xfrm>
            <a:off x="323850" y="2276475"/>
            <a:ext cx="8351838" cy="801688"/>
            <a:chOff x="295" y="1842"/>
            <a:chExt cx="4937" cy="505"/>
          </a:xfrm>
        </p:grpSpPr>
        <p:sp>
          <p:nvSpPr>
            <p:cNvPr id="29705" name="Text Box 5"/>
            <p:cNvSpPr txBox="1">
              <a:spLocks noChangeArrowheads="1"/>
            </p:cNvSpPr>
            <p:nvPr/>
          </p:nvSpPr>
          <p:spPr bwMode="auto">
            <a:xfrm>
              <a:off x="295" y="1842"/>
              <a:ext cx="967" cy="497"/>
            </a:xfrm>
            <a:prstGeom prst="rect">
              <a:avLst/>
            </a:prstGeom>
            <a:solidFill>
              <a:schemeClr val="bg1">
                <a:lumMod val="95000"/>
              </a:schemeClr>
            </a:solidFill>
            <a:ln w="9525">
              <a:solidFill>
                <a:srgbClr val="000000"/>
              </a:solidFill>
              <a:miter lim="800000"/>
              <a:headEnd/>
              <a:tailEnd/>
            </a:ln>
          </p:spPr>
          <p:txBody>
            <a:bodyPr tIns="72000" anchor="ctr" anchorCtr="1"/>
            <a:lstStyle/>
            <a:p>
              <a:pPr algn="ctr">
                <a:lnSpc>
                  <a:spcPct val="100000"/>
                </a:lnSpc>
                <a:spcBef>
                  <a:spcPct val="50000"/>
                </a:spcBef>
                <a:buClrTx/>
                <a:buSzTx/>
                <a:buFontTx/>
                <a:buNone/>
              </a:pPr>
              <a:r>
                <a:rPr kumimoji="1" lang="zh-CN" altLang="en-US" dirty="0">
                  <a:solidFill>
                    <a:srgbClr val="FD1F59"/>
                  </a:solidFill>
                </a:rPr>
                <a:t>统计设计</a:t>
              </a:r>
              <a:endParaRPr kumimoji="1" lang="zh-CN" altLang="en-US" dirty="0">
                <a:solidFill>
                  <a:srgbClr val="FD1F59"/>
                </a:solidFill>
                <a:ea typeface="华文宋体" pitchFamily="2" charset="-122"/>
              </a:endParaRPr>
            </a:p>
          </p:txBody>
        </p:sp>
        <p:sp>
          <p:nvSpPr>
            <p:cNvPr id="29706" name="AutoShape 6"/>
            <p:cNvSpPr>
              <a:spLocks noChangeArrowheads="1"/>
            </p:cNvSpPr>
            <p:nvPr/>
          </p:nvSpPr>
          <p:spPr bwMode="auto">
            <a:xfrm>
              <a:off x="1263" y="2030"/>
              <a:ext cx="363" cy="227"/>
            </a:xfrm>
            <a:prstGeom prst="rightArrow">
              <a:avLst>
                <a:gd name="adj1" fmla="val 50000"/>
                <a:gd name="adj2" fmla="val 39978"/>
              </a:avLst>
            </a:prstGeom>
            <a:solidFill>
              <a:schemeClr val="tx2"/>
            </a:solidFill>
            <a:ln w="9525" algn="ctr">
              <a:solidFill>
                <a:schemeClr val="tx1"/>
              </a:solidFill>
              <a:miter lim="800000"/>
              <a:headEnd/>
              <a:tailEnd/>
            </a:ln>
          </p:spPr>
          <p:txBody>
            <a:bodyPr wrap="none" anchor="ctr"/>
            <a:lstStyle/>
            <a:p>
              <a:endParaRPr lang="zh-CN" altLang="en-US"/>
            </a:p>
          </p:txBody>
        </p:sp>
        <p:sp>
          <p:nvSpPr>
            <p:cNvPr id="29707" name="AutoShape 7"/>
            <p:cNvSpPr>
              <a:spLocks noChangeArrowheads="1"/>
            </p:cNvSpPr>
            <p:nvPr/>
          </p:nvSpPr>
          <p:spPr bwMode="auto">
            <a:xfrm>
              <a:off x="2579" y="1984"/>
              <a:ext cx="363" cy="227"/>
            </a:xfrm>
            <a:prstGeom prst="rightArrow">
              <a:avLst>
                <a:gd name="adj1" fmla="val 50000"/>
                <a:gd name="adj2" fmla="val 39978"/>
              </a:avLst>
            </a:prstGeom>
            <a:solidFill>
              <a:schemeClr val="tx2"/>
            </a:solidFill>
            <a:ln w="9525" algn="ctr">
              <a:solidFill>
                <a:schemeClr val="tx1"/>
              </a:solidFill>
              <a:miter lim="800000"/>
              <a:headEnd/>
              <a:tailEnd/>
            </a:ln>
          </p:spPr>
          <p:txBody>
            <a:bodyPr wrap="none" anchor="ctr"/>
            <a:lstStyle/>
            <a:p>
              <a:endParaRPr lang="zh-CN" altLang="en-US"/>
            </a:p>
          </p:txBody>
        </p:sp>
        <p:sp>
          <p:nvSpPr>
            <p:cNvPr id="29708" name="AutoShape 8"/>
            <p:cNvSpPr>
              <a:spLocks noChangeArrowheads="1"/>
            </p:cNvSpPr>
            <p:nvPr/>
          </p:nvSpPr>
          <p:spPr bwMode="auto">
            <a:xfrm>
              <a:off x="3894" y="2030"/>
              <a:ext cx="363" cy="227"/>
            </a:xfrm>
            <a:prstGeom prst="rightArrow">
              <a:avLst>
                <a:gd name="adj1" fmla="val 50000"/>
                <a:gd name="adj2" fmla="val 39978"/>
              </a:avLst>
            </a:prstGeom>
            <a:solidFill>
              <a:schemeClr val="tx2"/>
            </a:solidFill>
            <a:ln w="9525" algn="ctr">
              <a:solidFill>
                <a:schemeClr val="tx1"/>
              </a:solidFill>
              <a:miter lim="800000"/>
              <a:headEnd/>
              <a:tailEnd/>
            </a:ln>
          </p:spPr>
          <p:txBody>
            <a:bodyPr wrap="none" anchor="ctr"/>
            <a:lstStyle/>
            <a:p>
              <a:endParaRPr lang="zh-CN" altLang="en-US"/>
            </a:p>
          </p:txBody>
        </p:sp>
        <p:sp>
          <p:nvSpPr>
            <p:cNvPr id="29709" name="Text Box 9"/>
            <p:cNvSpPr txBox="1">
              <a:spLocks noChangeArrowheads="1"/>
            </p:cNvSpPr>
            <p:nvPr/>
          </p:nvSpPr>
          <p:spPr bwMode="auto">
            <a:xfrm>
              <a:off x="1626" y="1848"/>
              <a:ext cx="967" cy="497"/>
            </a:xfrm>
            <a:prstGeom prst="rect">
              <a:avLst/>
            </a:prstGeom>
            <a:solidFill>
              <a:schemeClr val="bg1">
                <a:lumMod val="95000"/>
              </a:schemeClr>
            </a:solidFill>
            <a:ln w="9525">
              <a:solidFill>
                <a:srgbClr val="000000"/>
              </a:solidFill>
              <a:miter lim="800000"/>
              <a:headEnd/>
              <a:tailEnd/>
            </a:ln>
          </p:spPr>
          <p:txBody>
            <a:bodyPr tIns="72000" anchor="ctr" anchorCtr="1"/>
            <a:lstStyle/>
            <a:p>
              <a:pPr algn="ctr">
                <a:lnSpc>
                  <a:spcPct val="100000"/>
                </a:lnSpc>
                <a:spcBef>
                  <a:spcPct val="50000"/>
                </a:spcBef>
                <a:buClrTx/>
                <a:buSzTx/>
                <a:buFontTx/>
                <a:buNone/>
              </a:pPr>
              <a:r>
                <a:rPr kumimoji="1" lang="zh-CN" altLang="en-US" dirty="0">
                  <a:solidFill>
                    <a:srgbClr val="FD1F59"/>
                  </a:solidFill>
                </a:rPr>
                <a:t>收集数据</a:t>
              </a:r>
            </a:p>
          </p:txBody>
        </p:sp>
        <p:sp>
          <p:nvSpPr>
            <p:cNvPr id="29710" name="Text Box 10"/>
            <p:cNvSpPr txBox="1">
              <a:spLocks noChangeArrowheads="1"/>
            </p:cNvSpPr>
            <p:nvPr/>
          </p:nvSpPr>
          <p:spPr bwMode="auto">
            <a:xfrm>
              <a:off x="2942" y="1848"/>
              <a:ext cx="1012" cy="499"/>
            </a:xfrm>
            <a:prstGeom prst="rect">
              <a:avLst/>
            </a:prstGeom>
            <a:solidFill>
              <a:schemeClr val="bg1">
                <a:lumMod val="95000"/>
              </a:schemeClr>
            </a:solidFill>
            <a:ln w="9525">
              <a:solidFill>
                <a:srgbClr val="000000"/>
              </a:solidFill>
              <a:miter lim="800000"/>
              <a:headEnd/>
              <a:tailEnd/>
            </a:ln>
          </p:spPr>
          <p:txBody>
            <a:bodyPr tIns="72000" anchor="ctr" anchorCtr="1"/>
            <a:lstStyle/>
            <a:p>
              <a:pPr algn="ctr">
                <a:lnSpc>
                  <a:spcPct val="100000"/>
                </a:lnSpc>
                <a:spcBef>
                  <a:spcPct val="50000"/>
                </a:spcBef>
                <a:buClrTx/>
                <a:buSzTx/>
                <a:buFontTx/>
                <a:buNone/>
              </a:pPr>
              <a:r>
                <a:rPr kumimoji="1" lang="zh-CN" altLang="en-US" dirty="0">
                  <a:solidFill>
                    <a:srgbClr val="FD1F59"/>
                  </a:solidFill>
                </a:rPr>
                <a:t>数据整理</a:t>
              </a:r>
              <a:endParaRPr kumimoji="1" lang="zh-CN" altLang="en-US" dirty="0">
                <a:solidFill>
                  <a:srgbClr val="FD1F59"/>
                </a:solidFill>
                <a:ea typeface="华文宋体" pitchFamily="2" charset="-122"/>
              </a:endParaRPr>
            </a:p>
          </p:txBody>
        </p:sp>
        <p:sp>
          <p:nvSpPr>
            <p:cNvPr id="29711" name="Text Box 11"/>
            <p:cNvSpPr txBox="1">
              <a:spLocks noChangeArrowheads="1"/>
            </p:cNvSpPr>
            <p:nvPr/>
          </p:nvSpPr>
          <p:spPr bwMode="auto">
            <a:xfrm>
              <a:off x="4265" y="1848"/>
              <a:ext cx="967" cy="497"/>
            </a:xfrm>
            <a:prstGeom prst="rect">
              <a:avLst/>
            </a:prstGeom>
            <a:solidFill>
              <a:schemeClr val="bg1">
                <a:lumMod val="95000"/>
              </a:schemeClr>
            </a:solidFill>
            <a:ln w="9525">
              <a:solidFill>
                <a:srgbClr val="000000"/>
              </a:solidFill>
              <a:miter lim="800000"/>
              <a:headEnd/>
              <a:tailEnd/>
            </a:ln>
          </p:spPr>
          <p:txBody>
            <a:bodyPr tIns="72000" anchor="ctr" anchorCtr="1"/>
            <a:lstStyle/>
            <a:p>
              <a:pPr algn="ctr">
                <a:lnSpc>
                  <a:spcPct val="100000"/>
                </a:lnSpc>
                <a:spcBef>
                  <a:spcPct val="50000"/>
                </a:spcBef>
                <a:buClrTx/>
                <a:buSzTx/>
                <a:buFontTx/>
                <a:buNone/>
              </a:pPr>
              <a:r>
                <a:rPr kumimoji="1" lang="zh-CN" altLang="en-US" dirty="0">
                  <a:solidFill>
                    <a:srgbClr val="FD1F59"/>
                  </a:solidFill>
                </a:rPr>
                <a:t>分析应用</a:t>
              </a:r>
            </a:p>
          </p:txBody>
        </p:sp>
      </p:grpSp>
      <p:sp>
        <p:nvSpPr>
          <p:cNvPr id="115724" name="AutoShape 12"/>
          <p:cNvSpPr>
            <a:spLocks noChangeArrowheads="1"/>
          </p:cNvSpPr>
          <p:nvPr/>
        </p:nvSpPr>
        <p:spPr bwMode="auto">
          <a:xfrm rot="10800000">
            <a:off x="539750" y="3573463"/>
            <a:ext cx="1439863" cy="1943100"/>
          </a:xfrm>
          <a:prstGeom prst="wedgeRectCallout">
            <a:avLst>
              <a:gd name="adj1" fmla="val 6556"/>
              <a:gd name="adj2" fmla="val 78185"/>
            </a:avLst>
          </a:prstGeom>
          <a:solidFill>
            <a:schemeClr val="tx1">
              <a:lumMod val="20000"/>
              <a:lumOff val="80000"/>
            </a:schemeClr>
          </a:solidFill>
          <a:ln w="9525" algn="ctr">
            <a:solidFill>
              <a:schemeClr val="tx1"/>
            </a:solidFill>
            <a:miter lim="800000"/>
            <a:headEnd/>
            <a:tailEnd/>
          </a:ln>
        </p:spPr>
        <p:txBody>
          <a:bodyPr rot="10800000"/>
          <a:lstStyle/>
          <a:p>
            <a:pPr>
              <a:lnSpc>
                <a:spcPct val="100000"/>
              </a:lnSpc>
              <a:spcBef>
                <a:spcPct val="20000"/>
              </a:spcBef>
              <a:buClrTx/>
              <a:buSzTx/>
              <a:buFontTx/>
              <a:buNone/>
            </a:pPr>
            <a:r>
              <a:rPr kumimoji="1" lang="zh-CN" altLang="en-US" sz="2200">
                <a:solidFill>
                  <a:srgbClr val="000099"/>
                </a:solidFill>
                <a:ea typeface="华文宋体" pitchFamily="2" charset="-122"/>
              </a:rPr>
              <a:t>研究对象</a:t>
            </a:r>
          </a:p>
          <a:p>
            <a:pPr>
              <a:lnSpc>
                <a:spcPct val="100000"/>
              </a:lnSpc>
              <a:spcBef>
                <a:spcPct val="20000"/>
              </a:spcBef>
              <a:buClrTx/>
              <a:buSzTx/>
              <a:buFontTx/>
              <a:buNone/>
            </a:pPr>
            <a:r>
              <a:rPr kumimoji="1" lang="zh-CN" altLang="en-US" sz="2200">
                <a:solidFill>
                  <a:srgbClr val="000099"/>
                </a:solidFill>
                <a:ea typeface="华文宋体" pitchFamily="2" charset="-122"/>
              </a:rPr>
              <a:t>研究内容</a:t>
            </a:r>
          </a:p>
          <a:p>
            <a:pPr>
              <a:lnSpc>
                <a:spcPct val="100000"/>
              </a:lnSpc>
              <a:spcBef>
                <a:spcPct val="20000"/>
              </a:spcBef>
              <a:buClrTx/>
              <a:buSzTx/>
              <a:buFontTx/>
              <a:buNone/>
            </a:pPr>
            <a:r>
              <a:rPr kumimoji="1" lang="zh-CN" altLang="en-US" sz="2200">
                <a:solidFill>
                  <a:srgbClr val="000099"/>
                </a:solidFill>
                <a:ea typeface="华文宋体" pitchFamily="2" charset="-122"/>
              </a:rPr>
              <a:t>研究方法</a:t>
            </a:r>
          </a:p>
          <a:p>
            <a:pPr>
              <a:lnSpc>
                <a:spcPct val="100000"/>
              </a:lnSpc>
              <a:spcBef>
                <a:spcPct val="20000"/>
              </a:spcBef>
              <a:buClrTx/>
              <a:buSzTx/>
              <a:buFontTx/>
              <a:buNone/>
            </a:pPr>
            <a:r>
              <a:rPr kumimoji="1" lang="zh-CN" altLang="en-US" sz="2200">
                <a:solidFill>
                  <a:srgbClr val="000099"/>
                </a:solidFill>
                <a:ea typeface="华文宋体" pitchFamily="2" charset="-122"/>
              </a:rPr>
              <a:t>研究进度</a:t>
            </a:r>
          </a:p>
          <a:p>
            <a:pPr>
              <a:lnSpc>
                <a:spcPct val="100000"/>
              </a:lnSpc>
              <a:spcBef>
                <a:spcPct val="20000"/>
              </a:spcBef>
              <a:buClrTx/>
              <a:buSzTx/>
              <a:buFontTx/>
              <a:buNone/>
            </a:pPr>
            <a:r>
              <a:rPr kumimoji="1" lang="en-US" altLang="zh-CN" sz="2200" dirty="0">
                <a:solidFill>
                  <a:srgbClr val="000099"/>
                </a:solidFill>
                <a:latin typeface="华文宋体" pitchFamily="2" charset="-122"/>
                <a:ea typeface="华文宋体" pitchFamily="2" charset="-122"/>
              </a:rPr>
              <a:t>…</a:t>
            </a:r>
            <a:endParaRPr kumimoji="1" lang="en-US" altLang="zh-CN" sz="2200" dirty="0">
              <a:solidFill>
                <a:srgbClr val="000099"/>
              </a:solidFill>
              <a:ea typeface="华文宋体" pitchFamily="2" charset="-122"/>
            </a:endParaRPr>
          </a:p>
        </p:txBody>
      </p:sp>
      <p:sp>
        <p:nvSpPr>
          <p:cNvPr id="115725" name="AutoShape 13"/>
          <p:cNvSpPr>
            <a:spLocks noChangeArrowheads="1"/>
          </p:cNvSpPr>
          <p:nvPr/>
        </p:nvSpPr>
        <p:spPr bwMode="auto">
          <a:xfrm rot="10800000">
            <a:off x="2627312" y="3716338"/>
            <a:ext cx="1584325" cy="1944910"/>
          </a:xfrm>
          <a:prstGeom prst="wedgeRectCallout">
            <a:avLst>
              <a:gd name="adj1" fmla="val 7412"/>
              <a:gd name="adj2" fmla="val 85704"/>
            </a:avLst>
          </a:prstGeom>
          <a:solidFill>
            <a:schemeClr val="tx1">
              <a:lumMod val="20000"/>
              <a:lumOff val="80000"/>
            </a:schemeClr>
          </a:solidFill>
          <a:ln w="9525" algn="ctr">
            <a:solidFill>
              <a:schemeClr val="tx1"/>
            </a:solidFill>
            <a:miter lim="800000"/>
            <a:headEnd/>
            <a:tailEnd/>
          </a:ln>
        </p:spPr>
        <p:txBody>
          <a:bodyPr rot="10800000"/>
          <a:lstStyle/>
          <a:p>
            <a:pPr>
              <a:lnSpc>
                <a:spcPct val="100000"/>
              </a:lnSpc>
              <a:spcBef>
                <a:spcPct val="20000"/>
              </a:spcBef>
              <a:buClrTx/>
              <a:buSzTx/>
              <a:buFontTx/>
              <a:buNone/>
            </a:pPr>
            <a:r>
              <a:rPr kumimoji="1" lang="zh-CN" altLang="en-US" sz="2200" dirty="0">
                <a:solidFill>
                  <a:srgbClr val="000099"/>
                </a:solidFill>
                <a:ea typeface="华文宋体" pitchFamily="2" charset="-122"/>
              </a:rPr>
              <a:t>方法：</a:t>
            </a:r>
          </a:p>
          <a:p>
            <a:pPr>
              <a:lnSpc>
                <a:spcPct val="100000"/>
              </a:lnSpc>
              <a:spcBef>
                <a:spcPct val="20000"/>
              </a:spcBef>
              <a:buClrTx/>
              <a:buSzTx/>
              <a:buFontTx/>
              <a:buNone/>
            </a:pPr>
            <a:r>
              <a:rPr kumimoji="1" lang="zh-CN" altLang="en-US" sz="2200" dirty="0">
                <a:solidFill>
                  <a:srgbClr val="000099"/>
                </a:solidFill>
                <a:ea typeface="华文宋体" pitchFamily="2" charset="-122"/>
              </a:rPr>
              <a:t>   科学实验</a:t>
            </a:r>
          </a:p>
          <a:p>
            <a:pPr>
              <a:lnSpc>
                <a:spcPct val="100000"/>
              </a:lnSpc>
              <a:spcBef>
                <a:spcPct val="20000"/>
              </a:spcBef>
              <a:buClrTx/>
              <a:buSzTx/>
              <a:buFontTx/>
              <a:buNone/>
            </a:pPr>
            <a:r>
              <a:rPr kumimoji="1" lang="zh-CN" altLang="en-US" sz="2200" dirty="0">
                <a:solidFill>
                  <a:srgbClr val="000099"/>
                </a:solidFill>
                <a:ea typeface="华文宋体" pitchFamily="2" charset="-122"/>
              </a:rPr>
              <a:t>   </a:t>
            </a:r>
            <a:r>
              <a:rPr kumimoji="1" lang="en-US" altLang="en-US" sz="2200" dirty="0">
                <a:solidFill>
                  <a:srgbClr val="000099"/>
                </a:solidFill>
                <a:ea typeface="华文宋体" pitchFamily="2" charset="-122"/>
              </a:rPr>
              <a:t>调查观察</a:t>
            </a:r>
            <a:endParaRPr kumimoji="1" lang="zh-CN" altLang="en-US" sz="2200" dirty="0">
              <a:solidFill>
                <a:srgbClr val="000099"/>
              </a:solidFill>
              <a:ea typeface="华文宋体" pitchFamily="2" charset="-122"/>
            </a:endParaRPr>
          </a:p>
          <a:p>
            <a:pPr>
              <a:lnSpc>
                <a:spcPct val="100000"/>
              </a:lnSpc>
              <a:spcBef>
                <a:spcPct val="20000"/>
              </a:spcBef>
              <a:buClrTx/>
              <a:buSzTx/>
              <a:buFontTx/>
              <a:buNone/>
            </a:pPr>
            <a:r>
              <a:rPr kumimoji="1" lang="zh-CN" altLang="en-US" sz="2200" dirty="0">
                <a:solidFill>
                  <a:srgbClr val="000099"/>
                </a:solidFill>
                <a:ea typeface="华文宋体" pitchFamily="2" charset="-122"/>
              </a:rPr>
              <a:t>内容</a:t>
            </a:r>
          </a:p>
          <a:p>
            <a:pPr>
              <a:lnSpc>
                <a:spcPct val="100000"/>
              </a:lnSpc>
              <a:spcBef>
                <a:spcPct val="20000"/>
              </a:spcBef>
              <a:buClrTx/>
              <a:buSzTx/>
              <a:buFontTx/>
              <a:buNone/>
            </a:pPr>
            <a:r>
              <a:rPr kumimoji="1" lang="zh-CN" altLang="en-US" sz="2200" dirty="0">
                <a:solidFill>
                  <a:srgbClr val="000099"/>
                </a:solidFill>
                <a:ea typeface="华文宋体" pitchFamily="2" charset="-122"/>
              </a:rPr>
              <a:t> </a:t>
            </a:r>
            <a:r>
              <a:rPr kumimoji="1" lang="en-US" altLang="zh-CN" sz="2200" dirty="0">
                <a:solidFill>
                  <a:srgbClr val="000099"/>
                </a:solidFill>
                <a:latin typeface="华文宋体" pitchFamily="2" charset="-122"/>
                <a:ea typeface="华文宋体" pitchFamily="2" charset="-122"/>
              </a:rPr>
              <a:t>…</a:t>
            </a:r>
            <a:endParaRPr kumimoji="1" lang="en-US" altLang="zh-CN" sz="2200" dirty="0">
              <a:solidFill>
                <a:srgbClr val="000099"/>
              </a:solidFill>
              <a:ea typeface="华文宋体" pitchFamily="2" charset="-122"/>
            </a:endParaRPr>
          </a:p>
        </p:txBody>
      </p:sp>
      <p:sp>
        <p:nvSpPr>
          <p:cNvPr id="115726" name="AutoShape 14"/>
          <p:cNvSpPr>
            <a:spLocks noChangeArrowheads="1"/>
          </p:cNvSpPr>
          <p:nvPr/>
        </p:nvSpPr>
        <p:spPr bwMode="auto">
          <a:xfrm rot="10800000">
            <a:off x="4932362" y="3716337"/>
            <a:ext cx="1727869" cy="2304950"/>
          </a:xfrm>
          <a:prstGeom prst="wedgeRectCallout">
            <a:avLst>
              <a:gd name="adj1" fmla="val 6852"/>
              <a:gd name="adj2" fmla="val 81181"/>
            </a:avLst>
          </a:prstGeom>
          <a:solidFill>
            <a:schemeClr val="tx1">
              <a:lumMod val="20000"/>
              <a:lumOff val="80000"/>
            </a:schemeClr>
          </a:solidFill>
          <a:ln w="9525" algn="ctr">
            <a:solidFill>
              <a:schemeClr val="tx1"/>
            </a:solidFill>
            <a:miter lim="800000"/>
            <a:headEnd/>
            <a:tailEnd/>
          </a:ln>
        </p:spPr>
        <p:txBody>
          <a:bodyPr rot="10800000"/>
          <a:lstStyle/>
          <a:p>
            <a:pPr>
              <a:lnSpc>
                <a:spcPct val="100000"/>
              </a:lnSpc>
              <a:spcBef>
                <a:spcPct val="20000"/>
              </a:spcBef>
              <a:buClrTx/>
              <a:buSzTx/>
              <a:buFontTx/>
              <a:buNone/>
            </a:pPr>
            <a:r>
              <a:rPr kumimoji="1" lang="zh-CN" altLang="en-US" sz="2200" dirty="0">
                <a:solidFill>
                  <a:srgbClr val="000099"/>
                </a:solidFill>
                <a:ea typeface="华文宋体" pitchFamily="2" charset="-122"/>
              </a:rPr>
              <a:t>审核</a:t>
            </a:r>
          </a:p>
          <a:p>
            <a:pPr>
              <a:lnSpc>
                <a:spcPct val="100000"/>
              </a:lnSpc>
              <a:spcBef>
                <a:spcPct val="20000"/>
              </a:spcBef>
              <a:buClrTx/>
              <a:buSzTx/>
              <a:buFontTx/>
              <a:buNone/>
            </a:pPr>
            <a:r>
              <a:rPr kumimoji="1" lang="zh-CN" altLang="en-US" sz="2200" dirty="0">
                <a:solidFill>
                  <a:srgbClr val="000099"/>
                </a:solidFill>
                <a:ea typeface="华文宋体" pitchFamily="2" charset="-122"/>
              </a:rPr>
              <a:t>分类汇总</a:t>
            </a:r>
          </a:p>
          <a:p>
            <a:pPr>
              <a:lnSpc>
                <a:spcPct val="100000"/>
              </a:lnSpc>
              <a:spcBef>
                <a:spcPct val="20000"/>
              </a:spcBef>
              <a:buClrTx/>
              <a:buSzTx/>
              <a:buFontTx/>
              <a:buNone/>
            </a:pPr>
            <a:r>
              <a:rPr kumimoji="1" lang="zh-CN" altLang="en-US" sz="1800" dirty="0">
                <a:solidFill>
                  <a:srgbClr val="000099"/>
                </a:solidFill>
                <a:ea typeface="华文宋体" pitchFamily="2" charset="-122"/>
              </a:rPr>
              <a:t>总体基础数据</a:t>
            </a:r>
          </a:p>
          <a:p>
            <a:pPr>
              <a:lnSpc>
                <a:spcPct val="100000"/>
              </a:lnSpc>
              <a:spcBef>
                <a:spcPct val="20000"/>
              </a:spcBef>
              <a:buClrTx/>
              <a:buSzTx/>
              <a:buFontTx/>
              <a:buNone/>
            </a:pPr>
            <a:r>
              <a:rPr kumimoji="1" lang="zh-CN" altLang="en-US" sz="2000" dirty="0" smtClean="0">
                <a:solidFill>
                  <a:srgbClr val="000099"/>
                </a:solidFill>
                <a:ea typeface="华文宋体" pitchFamily="2" charset="-122"/>
              </a:rPr>
              <a:t>图表、数据库</a:t>
            </a:r>
            <a:endParaRPr kumimoji="1" lang="zh-CN" altLang="en-US" sz="2000" dirty="0">
              <a:solidFill>
                <a:srgbClr val="000099"/>
              </a:solidFill>
              <a:ea typeface="华文宋体" pitchFamily="2" charset="-122"/>
            </a:endParaRPr>
          </a:p>
          <a:p>
            <a:pPr>
              <a:lnSpc>
                <a:spcPct val="100000"/>
              </a:lnSpc>
              <a:spcBef>
                <a:spcPct val="20000"/>
              </a:spcBef>
              <a:buClrTx/>
              <a:buSzTx/>
              <a:buFontTx/>
              <a:buNone/>
            </a:pPr>
            <a:r>
              <a:rPr kumimoji="1" lang="en-US" altLang="zh-CN" sz="2200" dirty="0">
                <a:solidFill>
                  <a:srgbClr val="000099"/>
                </a:solidFill>
                <a:latin typeface="华文宋体" pitchFamily="2" charset="-122"/>
                <a:ea typeface="华文宋体" pitchFamily="2" charset="-122"/>
              </a:rPr>
              <a:t>…</a:t>
            </a:r>
            <a:endParaRPr kumimoji="1" lang="en-US" altLang="zh-CN" sz="2200" dirty="0">
              <a:solidFill>
                <a:srgbClr val="000099"/>
              </a:solidFill>
              <a:ea typeface="华文宋体" pitchFamily="2" charset="-122"/>
            </a:endParaRPr>
          </a:p>
        </p:txBody>
      </p:sp>
      <p:sp>
        <p:nvSpPr>
          <p:cNvPr id="115727" name="AutoShape 15"/>
          <p:cNvSpPr>
            <a:spLocks noChangeArrowheads="1"/>
          </p:cNvSpPr>
          <p:nvPr/>
        </p:nvSpPr>
        <p:spPr bwMode="auto">
          <a:xfrm rot="10800000">
            <a:off x="7380288" y="3789362"/>
            <a:ext cx="1296168" cy="1800225"/>
          </a:xfrm>
          <a:prstGeom prst="wedgeRectCallout">
            <a:avLst>
              <a:gd name="adj1" fmla="val 7477"/>
              <a:gd name="adj2" fmla="val 91444"/>
            </a:avLst>
          </a:prstGeom>
          <a:solidFill>
            <a:schemeClr val="tx1">
              <a:lumMod val="20000"/>
              <a:lumOff val="80000"/>
            </a:schemeClr>
          </a:solidFill>
          <a:ln w="9525" algn="ctr">
            <a:solidFill>
              <a:schemeClr val="tx1"/>
            </a:solidFill>
            <a:miter lim="800000"/>
            <a:headEnd/>
            <a:tailEnd/>
          </a:ln>
        </p:spPr>
        <p:txBody>
          <a:bodyPr rot="10800000"/>
          <a:lstStyle/>
          <a:p>
            <a:pPr algn="ctr">
              <a:lnSpc>
                <a:spcPct val="100000"/>
              </a:lnSpc>
              <a:spcBef>
                <a:spcPct val="20000"/>
              </a:spcBef>
              <a:buClrTx/>
              <a:buSzTx/>
              <a:buFontTx/>
              <a:buNone/>
            </a:pPr>
            <a:r>
              <a:rPr kumimoji="1" lang="zh-CN" altLang="en-US" sz="2200" dirty="0">
                <a:solidFill>
                  <a:srgbClr val="000099"/>
                </a:solidFill>
                <a:ea typeface="华文宋体" pitchFamily="2" charset="-122"/>
              </a:rPr>
              <a:t>分析</a:t>
            </a:r>
          </a:p>
          <a:p>
            <a:pPr algn="ctr">
              <a:lnSpc>
                <a:spcPct val="100000"/>
              </a:lnSpc>
              <a:spcBef>
                <a:spcPct val="20000"/>
              </a:spcBef>
              <a:buClrTx/>
              <a:buSzTx/>
              <a:buFontTx/>
              <a:buNone/>
            </a:pPr>
            <a:r>
              <a:rPr kumimoji="1" lang="zh-CN" altLang="en-US" sz="2200" dirty="0">
                <a:solidFill>
                  <a:srgbClr val="000099"/>
                </a:solidFill>
                <a:ea typeface="华文宋体" pitchFamily="2" charset="-122"/>
              </a:rPr>
              <a:t>预测</a:t>
            </a:r>
          </a:p>
          <a:p>
            <a:pPr algn="ctr">
              <a:lnSpc>
                <a:spcPct val="100000"/>
              </a:lnSpc>
              <a:spcBef>
                <a:spcPct val="20000"/>
              </a:spcBef>
              <a:buClrTx/>
              <a:buSzTx/>
              <a:buFontTx/>
              <a:buNone/>
            </a:pPr>
            <a:r>
              <a:rPr kumimoji="1" lang="zh-CN" altLang="en-US" sz="2200" dirty="0">
                <a:solidFill>
                  <a:srgbClr val="000099"/>
                </a:solidFill>
                <a:ea typeface="华文宋体" pitchFamily="2" charset="-122"/>
              </a:rPr>
              <a:t>决策</a:t>
            </a:r>
          </a:p>
          <a:p>
            <a:pPr algn="ctr">
              <a:lnSpc>
                <a:spcPct val="100000"/>
              </a:lnSpc>
              <a:spcBef>
                <a:spcPct val="20000"/>
              </a:spcBef>
              <a:buClrTx/>
              <a:buSzTx/>
              <a:buFontTx/>
              <a:buNone/>
            </a:pPr>
            <a:r>
              <a:rPr kumimoji="1" lang="en-US" altLang="zh-CN" sz="2200" dirty="0">
                <a:solidFill>
                  <a:srgbClr val="000099"/>
                </a:solidFill>
                <a:latin typeface="华文宋体" pitchFamily="2" charset="-122"/>
                <a:ea typeface="华文宋体" pitchFamily="2" charset="-122"/>
              </a:rPr>
              <a:t>…</a:t>
            </a:r>
            <a:endParaRPr kumimoji="1" lang="en-US" altLang="zh-CN" sz="2200" dirty="0">
              <a:solidFill>
                <a:srgbClr val="000099"/>
              </a:solidFill>
              <a:ea typeface="华文宋体" pitchFamily="2" charset="-122"/>
            </a:endParaRPr>
          </a:p>
        </p:txBody>
      </p:sp>
      <p:sp>
        <p:nvSpPr>
          <p:cNvPr id="16" name="灯片编号占位符 15"/>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24</a:t>
            </a:fld>
            <a:endParaRPr lang="en-US" altLang="zh-CN" dirty="0">
              <a:solidFill>
                <a:srgbClr val="545472"/>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15724"/>
                                        </p:tgtEl>
                                        <p:attrNameLst>
                                          <p:attrName>style.visibility</p:attrName>
                                        </p:attrNameLst>
                                      </p:cBhvr>
                                      <p:to>
                                        <p:strVal val="visible"/>
                                      </p:to>
                                    </p:set>
                                    <p:animEffect transition="in" filter="wipe(up)">
                                      <p:cBhvr>
                                        <p:cTn id="7" dur="500"/>
                                        <p:tgtEl>
                                          <p:spTgt spid="1157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5725"/>
                                        </p:tgtEl>
                                        <p:attrNameLst>
                                          <p:attrName>style.visibility</p:attrName>
                                        </p:attrNameLst>
                                      </p:cBhvr>
                                      <p:to>
                                        <p:strVal val="visible"/>
                                      </p:to>
                                    </p:set>
                                    <p:animEffect transition="in" filter="wipe(up)">
                                      <p:cBhvr>
                                        <p:cTn id="12" dur="500"/>
                                        <p:tgtEl>
                                          <p:spTgt spid="1157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15726"/>
                                        </p:tgtEl>
                                        <p:attrNameLst>
                                          <p:attrName>style.visibility</p:attrName>
                                        </p:attrNameLst>
                                      </p:cBhvr>
                                      <p:to>
                                        <p:strVal val="visible"/>
                                      </p:to>
                                    </p:set>
                                    <p:animEffect transition="in" filter="wipe(up)">
                                      <p:cBhvr>
                                        <p:cTn id="17" dur="500"/>
                                        <p:tgtEl>
                                          <p:spTgt spid="11572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15727"/>
                                        </p:tgtEl>
                                        <p:attrNameLst>
                                          <p:attrName>style.visibility</p:attrName>
                                        </p:attrNameLst>
                                      </p:cBhvr>
                                      <p:to>
                                        <p:strVal val="visible"/>
                                      </p:to>
                                    </p:set>
                                    <p:animEffect transition="in" filter="wipe(up)">
                                      <p:cBhvr>
                                        <p:cTn id="22" dur="500"/>
                                        <p:tgtEl>
                                          <p:spTgt spid="1157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24" grpId="0" animBg="1"/>
      <p:bldP spid="115725" grpId="0" animBg="1"/>
      <p:bldP spid="115726" grpId="0" animBg="1"/>
      <p:bldP spid="11572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6"/>
          <p:cNvSpPr>
            <a:spLocks noGrp="1" noChangeArrowheads="1"/>
          </p:cNvSpPr>
          <p:nvPr>
            <p:ph type="title"/>
          </p:nvPr>
        </p:nvSpPr>
        <p:spPr/>
        <p:txBody>
          <a:bodyPr/>
          <a:lstStyle/>
          <a:p>
            <a:pPr eaLnBrk="1" hangingPunct="1"/>
            <a:r>
              <a:rPr lang="zh-CN" altLang="en-US" dirty="0" smtClean="0">
                <a:solidFill>
                  <a:srgbClr val="0000FF"/>
                </a:solidFill>
              </a:rPr>
              <a:t>统计资料</a:t>
            </a:r>
          </a:p>
        </p:txBody>
      </p:sp>
      <p:sp>
        <p:nvSpPr>
          <p:cNvPr id="30722" name="Rectangle 2"/>
          <p:cNvSpPr>
            <a:spLocks noGrp="1" noChangeArrowheads="1"/>
          </p:cNvSpPr>
          <p:nvPr>
            <p:ph idx="1"/>
          </p:nvPr>
        </p:nvSpPr>
        <p:spPr>
          <a:xfrm>
            <a:off x="684213" y="1268413"/>
            <a:ext cx="6769100" cy="5334000"/>
          </a:xfrm>
        </p:spPr>
        <p:txBody>
          <a:bodyPr/>
          <a:lstStyle/>
          <a:p>
            <a:pPr algn="just" eaLnBrk="1" hangingPunct="1">
              <a:lnSpc>
                <a:spcPct val="110000"/>
              </a:lnSpc>
            </a:pPr>
            <a:r>
              <a:rPr lang="zh-CN" altLang="en-US" sz="4000" dirty="0" smtClean="0">
                <a:solidFill>
                  <a:srgbClr val="000000"/>
                </a:solidFill>
              </a:rPr>
              <a:t>统计资料</a:t>
            </a:r>
            <a:r>
              <a:rPr lang="zh-CN" altLang="en-US" sz="3600" dirty="0" smtClean="0">
                <a:solidFill>
                  <a:srgbClr val="000000"/>
                </a:solidFill>
              </a:rPr>
              <a:t>即统计数据，是通过统计工作所获得的能够说明现象总体某种特征的数据，是统计实践活动的成果。</a:t>
            </a:r>
          </a:p>
          <a:p>
            <a:pPr lvl="1" algn="just" eaLnBrk="1" hangingPunct="1">
              <a:lnSpc>
                <a:spcPct val="110000"/>
              </a:lnSpc>
            </a:pPr>
            <a:r>
              <a:rPr lang="zh-CN" altLang="en-US" dirty="0" smtClean="0"/>
              <a:t>统计年鉴，统计公报，统计分析报告</a:t>
            </a:r>
          </a:p>
          <a:p>
            <a:pPr lvl="1" algn="just" eaLnBrk="1" hangingPunct="1">
              <a:lnSpc>
                <a:spcPct val="110000"/>
              </a:lnSpc>
            </a:pPr>
            <a:r>
              <a:rPr lang="zh-CN" altLang="en-US" dirty="0" smtClean="0"/>
              <a:t> </a:t>
            </a:r>
            <a:r>
              <a:rPr lang="en-US" altLang="zh-CN" dirty="0" smtClean="0">
                <a:solidFill>
                  <a:schemeClr val="accent2"/>
                </a:solidFill>
                <a:hlinkClick r:id="rId2"/>
              </a:rPr>
              <a:t>http://www.stats.gov.cn/tjsj</a:t>
            </a:r>
            <a:endParaRPr lang="en-US" altLang="zh-CN" dirty="0" smtClean="0">
              <a:solidFill>
                <a:schemeClr val="accent2"/>
              </a:solidFill>
            </a:endParaRPr>
          </a:p>
          <a:p>
            <a:pPr lvl="1" algn="just" eaLnBrk="1" hangingPunct="1">
              <a:lnSpc>
                <a:spcPct val="110000"/>
              </a:lnSpc>
            </a:pPr>
            <a:r>
              <a:rPr lang="en-US" altLang="zh-CN" dirty="0" smtClean="0">
                <a:solidFill>
                  <a:schemeClr val="accent2"/>
                </a:solidFill>
                <a:latin typeface="Arial" charset="0"/>
              </a:rPr>
              <a:t>…</a:t>
            </a:r>
            <a:endParaRPr lang="en-US" altLang="zh-CN" dirty="0" smtClean="0">
              <a:solidFill>
                <a:schemeClr val="accent2"/>
              </a:solidFill>
            </a:endParaRPr>
          </a:p>
        </p:txBody>
      </p:sp>
      <p:pic>
        <p:nvPicPr>
          <p:cNvPr id="30723" name="Picture 4" descr="BS00559_"/>
          <p:cNvPicPr>
            <a:picLocks noChangeAspect="1" noChangeArrowheads="1"/>
          </p:cNvPicPr>
          <p:nvPr/>
        </p:nvPicPr>
        <p:blipFill>
          <a:blip r:embed="rId3" cstate="print"/>
          <a:srcRect/>
          <a:stretch>
            <a:fillRect/>
          </a:stretch>
        </p:blipFill>
        <p:spPr bwMode="auto">
          <a:xfrm>
            <a:off x="5940425" y="4916488"/>
            <a:ext cx="3203575" cy="2041525"/>
          </a:xfrm>
          <a:prstGeom prst="rect">
            <a:avLst/>
          </a:prstGeom>
          <a:noFill/>
          <a:ln w="9525">
            <a:noFill/>
            <a:miter lim="800000"/>
            <a:headEnd/>
            <a:tailEnd/>
          </a:ln>
        </p:spPr>
      </p:pic>
      <p:sp>
        <p:nvSpPr>
          <p:cNvPr id="5" name="灯片编号占位符 4"/>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25</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7" name="Rectangle 6"/>
          <p:cNvSpPr>
            <a:spLocks noGrp="1" noChangeArrowheads="1"/>
          </p:cNvSpPr>
          <p:nvPr>
            <p:ph type="title"/>
          </p:nvPr>
        </p:nvSpPr>
        <p:spPr>
          <a:xfrm>
            <a:off x="827088" y="260350"/>
            <a:ext cx="7772400" cy="990600"/>
          </a:xfrm>
        </p:spPr>
        <p:txBody>
          <a:bodyPr/>
          <a:lstStyle/>
          <a:p>
            <a:pPr eaLnBrk="1" hangingPunct="1"/>
            <a:r>
              <a:rPr lang="zh-CN" altLang="en-US" dirty="0" smtClean="0">
                <a:solidFill>
                  <a:srgbClr val="0000FF"/>
                </a:solidFill>
              </a:rPr>
              <a:t>统计学</a:t>
            </a:r>
            <a:r>
              <a:rPr kumimoji="1" lang="zh-CN" altLang="en-US" dirty="0" smtClean="0">
                <a:solidFill>
                  <a:srgbClr val="0000FF"/>
                </a:solidFill>
              </a:rPr>
              <a:t>（</a:t>
            </a:r>
            <a:r>
              <a:rPr kumimoji="1" lang="en-US" altLang="zh-CN" dirty="0" smtClean="0">
                <a:solidFill>
                  <a:srgbClr val="0000FF"/>
                </a:solidFill>
              </a:rPr>
              <a:t>statistics </a:t>
            </a:r>
            <a:r>
              <a:rPr kumimoji="1" lang="zh-CN" altLang="en-US" dirty="0" smtClean="0">
                <a:solidFill>
                  <a:srgbClr val="0000FF"/>
                </a:solidFill>
              </a:rPr>
              <a:t>）</a:t>
            </a:r>
          </a:p>
        </p:txBody>
      </p:sp>
      <p:sp>
        <p:nvSpPr>
          <p:cNvPr id="31746" name="Rectangle 2"/>
          <p:cNvSpPr>
            <a:spLocks noGrp="1" noChangeArrowheads="1"/>
          </p:cNvSpPr>
          <p:nvPr>
            <p:ph idx="1"/>
          </p:nvPr>
        </p:nvSpPr>
        <p:spPr>
          <a:xfrm>
            <a:off x="0" y="1196975"/>
            <a:ext cx="8821738" cy="4968875"/>
          </a:xfrm>
        </p:spPr>
        <p:txBody>
          <a:bodyPr/>
          <a:lstStyle/>
          <a:p>
            <a:pPr marL="765175" lvl="1" eaLnBrk="1" hangingPunct="1">
              <a:lnSpc>
                <a:spcPct val="110000"/>
              </a:lnSpc>
              <a:spcBef>
                <a:spcPct val="25000"/>
              </a:spcBef>
            </a:pPr>
            <a:r>
              <a:rPr lang="zh-CN" altLang="en-US" sz="3600" dirty="0" smtClean="0"/>
              <a:t>最简单的定义： “数据的科学” ；</a:t>
            </a:r>
          </a:p>
          <a:p>
            <a:pPr marL="765175" lvl="1" eaLnBrk="1" hangingPunct="1">
              <a:lnSpc>
                <a:spcPct val="110000"/>
              </a:lnSpc>
              <a:spcBef>
                <a:spcPct val="25000"/>
              </a:spcBef>
            </a:pPr>
            <a:r>
              <a:rPr lang="zh-CN" altLang="en-US" sz="3600" dirty="0" smtClean="0"/>
              <a:t>一门研究如何收集数据、表现数据、分析数据、解释数据，从而认识数量规律的方法论科学。</a:t>
            </a:r>
            <a:r>
              <a:rPr lang="zh-CN" altLang="en-US" sz="3600" b="0" dirty="0" smtClean="0"/>
              <a:t> </a:t>
            </a:r>
          </a:p>
          <a:p>
            <a:pPr marL="765175" lvl="1" eaLnBrk="1" hangingPunct="1">
              <a:lnSpc>
                <a:spcPct val="110000"/>
              </a:lnSpc>
              <a:spcBef>
                <a:spcPct val="25000"/>
              </a:spcBef>
            </a:pPr>
            <a:r>
              <a:rPr lang="en-US" altLang="zh-CN" sz="3200" dirty="0" smtClean="0">
                <a:solidFill>
                  <a:schemeClr val="tx2"/>
                </a:solidFill>
              </a:rPr>
              <a:t>the science of collecting</a:t>
            </a:r>
            <a:r>
              <a:rPr lang="zh-CN" altLang="en-US" sz="3200" dirty="0" smtClean="0">
                <a:solidFill>
                  <a:schemeClr val="tx2"/>
                </a:solidFill>
              </a:rPr>
              <a:t>，</a:t>
            </a:r>
            <a:r>
              <a:rPr lang="en-US" altLang="zh-CN" sz="3200" dirty="0" smtClean="0">
                <a:solidFill>
                  <a:schemeClr val="tx2"/>
                </a:solidFill>
              </a:rPr>
              <a:t> analyzing</a:t>
            </a:r>
            <a:r>
              <a:rPr lang="zh-CN" altLang="en-US" sz="3200" dirty="0" smtClean="0">
                <a:solidFill>
                  <a:schemeClr val="tx2"/>
                </a:solidFill>
              </a:rPr>
              <a:t>，</a:t>
            </a:r>
            <a:r>
              <a:rPr lang="en-US" altLang="zh-CN" sz="3200" dirty="0" smtClean="0">
                <a:solidFill>
                  <a:schemeClr val="tx2"/>
                </a:solidFill>
              </a:rPr>
              <a:t> presenting and interpreting data. </a:t>
            </a:r>
          </a:p>
          <a:p>
            <a:pPr marL="1184275" lvl="2" eaLnBrk="1" hangingPunct="1">
              <a:lnSpc>
                <a:spcPct val="110000"/>
              </a:lnSpc>
              <a:spcBef>
                <a:spcPct val="25000"/>
              </a:spcBef>
              <a:buFontTx/>
              <a:buNone/>
            </a:pPr>
            <a:r>
              <a:rPr lang="en-US" altLang="zh-CN" sz="3200" dirty="0" smtClean="0">
                <a:solidFill>
                  <a:srgbClr val="DDDDDD"/>
                </a:solidFill>
              </a:rPr>
              <a:t> </a:t>
            </a:r>
            <a:r>
              <a:rPr lang="en-US" altLang="zh-CN" sz="3200" dirty="0" smtClean="0"/>
              <a:t>  </a:t>
            </a:r>
            <a:r>
              <a:rPr lang="en-US" altLang="zh-CN" sz="2800" dirty="0" smtClean="0">
                <a:latin typeface="Times New Roman" pitchFamily="18" charset="0"/>
              </a:rPr>
              <a:t>——</a:t>
            </a:r>
            <a:r>
              <a:rPr lang="en-US" altLang="zh-CN" sz="2800" dirty="0" smtClean="0"/>
              <a:t> Copyright 1994-2000 Encyclopaedia Britannica, Inc. </a:t>
            </a:r>
            <a:r>
              <a:rPr lang="zh-CN" altLang="en-US" sz="2800" dirty="0" smtClean="0"/>
              <a:t>（不列颠百科全书）</a:t>
            </a:r>
          </a:p>
        </p:txBody>
      </p:sp>
      <p:sp>
        <p:nvSpPr>
          <p:cNvPr id="4" name="灯片编号占位符 3"/>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26</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403350" y="333375"/>
            <a:ext cx="7740650" cy="720725"/>
          </a:xfrm>
        </p:spPr>
        <p:txBody>
          <a:bodyPr/>
          <a:lstStyle/>
          <a:p>
            <a:pPr algn="l" eaLnBrk="1" fontAlgn="t" hangingPunct="1"/>
            <a:r>
              <a:rPr lang="zh-CN" altLang="en-US" dirty="0" smtClean="0"/>
              <a:t>统计学的产生与主要学派</a:t>
            </a:r>
          </a:p>
        </p:txBody>
      </p:sp>
      <p:sp>
        <p:nvSpPr>
          <p:cNvPr id="47107" name="Rectangle 3"/>
          <p:cNvSpPr>
            <a:spLocks noGrp="1" noChangeArrowheads="1"/>
          </p:cNvSpPr>
          <p:nvPr>
            <p:ph idx="1"/>
          </p:nvPr>
        </p:nvSpPr>
        <p:spPr>
          <a:xfrm>
            <a:off x="285720" y="1071546"/>
            <a:ext cx="8429684" cy="5214974"/>
          </a:xfrm>
        </p:spPr>
        <p:txBody>
          <a:bodyPr/>
          <a:lstStyle/>
          <a:p>
            <a:pPr eaLnBrk="1" hangingPunct="1"/>
            <a:r>
              <a:rPr lang="zh-CN" altLang="en-US" sz="2800" dirty="0" smtClean="0">
                <a:solidFill>
                  <a:schemeClr val="tx2"/>
                </a:solidFill>
              </a:rPr>
              <a:t>国势学派</a:t>
            </a:r>
            <a:r>
              <a:rPr lang="en-US" altLang="zh-CN" sz="2800" dirty="0" smtClean="0">
                <a:solidFill>
                  <a:schemeClr val="tx2"/>
                </a:solidFill>
                <a:latin typeface="Arial" charset="0"/>
              </a:rPr>
              <a:t>—</a:t>
            </a:r>
            <a:r>
              <a:rPr lang="en-US" altLang="zh-CN" sz="2800" dirty="0" smtClean="0">
                <a:solidFill>
                  <a:schemeClr val="tx2"/>
                </a:solidFill>
              </a:rPr>
              <a:t> </a:t>
            </a:r>
            <a:r>
              <a:rPr lang="zh-CN" altLang="en-US" sz="2600" dirty="0" smtClean="0">
                <a:solidFill>
                  <a:schemeClr val="tx2"/>
                </a:solidFill>
              </a:rPr>
              <a:t>（德国）</a:t>
            </a:r>
            <a:r>
              <a:rPr lang="zh-CN" altLang="en-US" sz="2600" dirty="0" smtClean="0">
                <a:solidFill>
                  <a:srgbClr val="000000"/>
                </a:solidFill>
                <a:latin typeface="宋体" pitchFamily="2" charset="-122"/>
              </a:rPr>
              <a:t>海门尔</a:t>
            </a:r>
            <a:r>
              <a:rPr lang="en-US" altLang="zh-CN" sz="2600" dirty="0" smtClean="0">
                <a:solidFill>
                  <a:srgbClr val="000000"/>
                </a:solidFill>
                <a:latin typeface="宋体" pitchFamily="2" charset="-122"/>
              </a:rPr>
              <a:t>.</a:t>
            </a:r>
            <a:r>
              <a:rPr lang="zh-CN" altLang="en-US" sz="2600" dirty="0" smtClean="0">
                <a:solidFill>
                  <a:srgbClr val="000000"/>
                </a:solidFill>
                <a:latin typeface="宋体" pitchFamily="2" charset="-122"/>
              </a:rPr>
              <a:t>康令，阿亨瓦尔</a:t>
            </a:r>
            <a:r>
              <a:rPr lang="en-US" altLang="zh-CN" sz="2600" dirty="0" smtClean="0">
                <a:solidFill>
                  <a:srgbClr val="000000"/>
                </a:solidFill>
                <a:latin typeface="宋体" pitchFamily="2" charset="-122"/>
              </a:rPr>
              <a:t>1749</a:t>
            </a:r>
            <a:r>
              <a:rPr lang="zh-CN" altLang="en-US" sz="2600" dirty="0" smtClean="0">
                <a:solidFill>
                  <a:srgbClr val="000000"/>
                </a:solidFill>
                <a:latin typeface="宋体" pitchFamily="2" charset="-122"/>
              </a:rPr>
              <a:t>年</a:t>
            </a:r>
            <a:r>
              <a:rPr lang="en-US" altLang="zh-CN" sz="2600" b="0" dirty="0" smtClean="0">
                <a:solidFill>
                  <a:srgbClr val="000000"/>
                </a:solidFill>
                <a:latin typeface="宋体" pitchFamily="2" charset="-122"/>
              </a:rPr>
              <a:t>《</a:t>
            </a:r>
            <a:r>
              <a:rPr lang="zh-CN" altLang="en-US" sz="2600" b="0" dirty="0" smtClean="0">
                <a:solidFill>
                  <a:srgbClr val="000000"/>
                </a:solidFill>
                <a:latin typeface="宋体" pitchFamily="2" charset="-122"/>
              </a:rPr>
              <a:t>近代欧洲各国国势学论</a:t>
            </a:r>
            <a:r>
              <a:rPr lang="en-US" altLang="zh-CN" sz="2600" b="0" dirty="0" smtClean="0">
                <a:solidFill>
                  <a:srgbClr val="000000"/>
                </a:solidFill>
                <a:latin typeface="宋体" pitchFamily="2" charset="-122"/>
              </a:rPr>
              <a:t>》</a:t>
            </a:r>
            <a:r>
              <a:rPr lang="zh-CN" altLang="en-US" sz="2600" dirty="0" smtClean="0">
                <a:solidFill>
                  <a:srgbClr val="000000"/>
                </a:solidFill>
                <a:latin typeface="宋体" pitchFamily="2" charset="-122"/>
              </a:rPr>
              <a:t>提出“统计学”</a:t>
            </a:r>
            <a:r>
              <a:rPr lang="en-US" altLang="zh-CN" sz="2600" dirty="0" smtClean="0">
                <a:solidFill>
                  <a:srgbClr val="000000"/>
                </a:solidFill>
                <a:latin typeface="宋体" pitchFamily="2" charset="-122"/>
              </a:rPr>
              <a:t>.</a:t>
            </a:r>
          </a:p>
          <a:p>
            <a:pPr lvl="1" eaLnBrk="1" hangingPunct="1"/>
            <a:r>
              <a:rPr lang="zh-CN" altLang="en-US" sz="2400" dirty="0" smtClean="0"/>
              <a:t>有统计学之名，无统计学之实</a:t>
            </a:r>
          </a:p>
          <a:p>
            <a:pPr eaLnBrk="1" hangingPunct="1"/>
            <a:r>
              <a:rPr lang="zh-CN" altLang="en-US" sz="2800" dirty="0" smtClean="0">
                <a:solidFill>
                  <a:schemeClr val="tx2"/>
                </a:solidFill>
              </a:rPr>
              <a:t>政治算术学派</a:t>
            </a:r>
            <a:r>
              <a:rPr lang="en-US" altLang="zh-CN" sz="2800" dirty="0" smtClean="0">
                <a:solidFill>
                  <a:schemeClr val="tx2"/>
                </a:solidFill>
                <a:latin typeface="Arial" charset="0"/>
              </a:rPr>
              <a:t>——</a:t>
            </a:r>
            <a:r>
              <a:rPr lang="en-US" altLang="zh-CN" sz="2800" dirty="0" smtClean="0">
                <a:solidFill>
                  <a:schemeClr val="tx2"/>
                </a:solidFill>
              </a:rPr>
              <a:t> </a:t>
            </a:r>
            <a:r>
              <a:rPr lang="zh-CN" altLang="en-US" sz="2600" dirty="0" smtClean="0">
                <a:solidFill>
                  <a:schemeClr val="tx2"/>
                </a:solidFill>
              </a:rPr>
              <a:t>（英国）</a:t>
            </a:r>
            <a:r>
              <a:rPr lang="zh-CN" altLang="en-US" sz="2600" dirty="0" smtClean="0">
                <a:solidFill>
                  <a:srgbClr val="000000"/>
                </a:solidFill>
                <a:latin typeface="宋体" pitchFamily="2" charset="-122"/>
              </a:rPr>
              <a:t>威廉．配第的</a:t>
            </a:r>
            <a:r>
              <a:rPr lang="en-US" altLang="zh-CN" sz="2600" b="0" dirty="0" smtClean="0">
                <a:solidFill>
                  <a:srgbClr val="000000"/>
                </a:solidFill>
                <a:latin typeface="宋体" pitchFamily="2" charset="-122"/>
              </a:rPr>
              <a:t>《</a:t>
            </a:r>
            <a:r>
              <a:rPr lang="zh-CN" altLang="en-US" sz="2600" b="0" dirty="0" smtClean="0">
                <a:solidFill>
                  <a:srgbClr val="000000"/>
                </a:solidFill>
                <a:latin typeface="宋体" pitchFamily="2" charset="-122"/>
              </a:rPr>
              <a:t>政治算术</a:t>
            </a:r>
            <a:r>
              <a:rPr lang="en-US" altLang="zh-CN" sz="2600" b="0" dirty="0" smtClean="0">
                <a:solidFill>
                  <a:srgbClr val="000000"/>
                </a:solidFill>
                <a:latin typeface="宋体" pitchFamily="2" charset="-122"/>
              </a:rPr>
              <a:t>》</a:t>
            </a:r>
            <a:r>
              <a:rPr lang="zh-CN" altLang="en-US" sz="2600" dirty="0" smtClean="0">
                <a:solidFill>
                  <a:srgbClr val="000000"/>
                </a:solidFill>
                <a:latin typeface="宋体" pitchFamily="2" charset="-122"/>
              </a:rPr>
              <a:t>，约翰</a:t>
            </a:r>
            <a:r>
              <a:rPr lang="en-US" altLang="zh-CN" sz="2600" dirty="0" smtClean="0">
                <a:solidFill>
                  <a:srgbClr val="000000"/>
                </a:solidFill>
                <a:latin typeface="宋体" pitchFamily="2" charset="-122"/>
              </a:rPr>
              <a:t>.</a:t>
            </a:r>
            <a:r>
              <a:rPr lang="zh-CN" altLang="en-US" sz="2600" dirty="0" smtClean="0">
                <a:solidFill>
                  <a:srgbClr val="000000"/>
                </a:solidFill>
                <a:latin typeface="宋体" pitchFamily="2" charset="-122"/>
              </a:rPr>
              <a:t>格朗特的</a:t>
            </a:r>
            <a:r>
              <a:rPr lang="en-US" altLang="zh-CN" sz="2600" b="0" dirty="0" smtClean="0">
                <a:solidFill>
                  <a:srgbClr val="000000"/>
                </a:solidFill>
                <a:latin typeface="宋体" pitchFamily="2" charset="-122"/>
              </a:rPr>
              <a:t>《</a:t>
            </a:r>
            <a:r>
              <a:rPr lang="zh-CN" altLang="en-US" sz="2600" b="0" dirty="0" smtClean="0">
                <a:solidFill>
                  <a:srgbClr val="000000"/>
                </a:solidFill>
                <a:latin typeface="宋体" pitchFamily="2" charset="-122"/>
              </a:rPr>
              <a:t>对死亡率公报的自然和政治观察</a:t>
            </a:r>
            <a:r>
              <a:rPr lang="en-US" altLang="zh-CN" sz="2600" b="0" dirty="0" smtClean="0">
                <a:solidFill>
                  <a:srgbClr val="000000"/>
                </a:solidFill>
                <a:latin typeface="宋体" pitchFamily="2" charset="-122"/>
              </a:rPr>
              <a:t>》</a:t>
            </a:r>
          </a:p>
          <a:p>
            <a:pPr lvl="1" eaLnBrk="1" hangingPunct="1"/>
            <a:r>
              <a:rPr lang="zh-CN" altLang="en-US" sz="2400" dirty="0" smtClean="0"/>
              <a:t>用数字描述经济状况；有统计学之实，无统计学之名</a:t>
            </a:r>
          </a:p>
          <a:p>
            <a:pPr eaLnBrk="1" hangingPunct="1"/>
            <a:r>
              <a:rPr lang="zh-CN" altLang="en-US" sz="2800" dirty="0" smtClean="0">
                <a:solidFill>
                  <a:schemeClr val="tx2"/>
                </a:solidFill>
              </a:rPr>
              <a:t>数理统计学派</a:t>
            </a:r>
            <a:r>
              <a:rPr lang="en-US" altLang="zh-CN" sz="2800" dirty="0" smtClean="0">
                <a:solidFill>
                  <a:schemeClr val="tx2"/>
                </a:solidFill>
                <a:latin typeface="Arial" charset="0"/>
              </a:rPr>
              <a:t>——</a:t>
            </a:r>
            <a:r>
              <a:rPr lang="zh-CN" altLang="en-US" sz="2800" dirty="0" smtClean="0">
                <a:solidFill>
                  <a:schemeClr val="tx2"/>
                </a:solidFill>
              </a:rPr>
              <a:t>（比利时）凯特勒</a:t>
            </a:r>
          </a:p>
          <a:p>
            <a:pPr lvl="1" eaLnBrk="1" hangingPunct="1"/>
            <a:r>
              <a:rPr lang="zh-CN" altLang="en-US" sz="2400" dirty="0" smtClean="0"/>
              <a:t>引入概率论，丰富了统计方法体系</a:t>
            </a:r>
            <a:r>
              <a:rPr lang="en-US" altLang="zh-CN" sz="2400" dirty="0" smtClean="0">
                <a:latin typeface="Arial" charset="0"/>
              </a:rPr>
              <a:t>——</a:t>
            </a:r>
            <a:r>
              <a:rPr lang="zh-CN" altLang="en-US" sz="2400" dirty="0" smtClean="0"/>
              <a:t>提出了误差理论等，开创近代统计学。</a:t>
            </a:r>
            <a:endParaRPr lang="en-US" altLang="zh-CN" sz="2400" dirty="0" smtClean="0"/>
          </a:p>
          <a:p>
            <a:pPr eaLnBrk="1" hangingPunct="1">
              <a:buNone/>
            </a:pPr>
            <a:r>
              <a:rPr lang="zh-CN" altLang="en-US" sz="2600" dirty="0" smtClean="0">
                <a:solidFill>
                  <a:srgbClr val="0070C0"/>
                </a:solidFill>
              </a:rPr>
              <a:t>统计学又是一门生命力及其旺盛的学科，它海纳百川又博采众长她随着各门具体学科的发展不断壮大自己</a:t>
            </a:r>
            <a:r>
              <a:rPr lang="en-US" altLang="zh-CN" sz="2600" dirty="0" smtClean="0">
                <a:solidFill>
                  <a:srgbClr val="0070C0"/>
                </a:solidFill>
              </a:rPr>
              <a:t>.</a:t>
            </a:r>
            <a:endParaRPr lang="zh-CN" altLang="en-US" sz="2600" dirty="0" smtClean="0">
              <a:solidFill>
                <a:srgbClr val="0070C0"/>
              </a:solidFill>
            </a:endParaRPr>
          </a:p>
          <a:p>
            <a:pPr lvl="1" eaLnBrk="1" hangingPunct="1"/>
            <a:endParaRPr lang="zh-CN" altLang="en-US" sz="2400" dirty="0" smtClean="0"/>
          </a:p>
        </p:txBody>
      </p:sp>
      <p:sp>
        <p:nvSpPr>
          <p:cNvPr id="4" name="灯片编号占位符 3"/>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27</a:t>
            </a:fld>
            <a:endParaRPr lang="en-US" altLang="zh-CN" dirty="0">
              <a:solidFill>
                <a:srgbClr val="545472"/>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7107">
                                            <p:txEl>
                                              <p:pRg st="1" end="1"/>
                                            </p:txEl>
                                          </p:spTgt>
                                        </p:tgtEl>
                                        <p:attrNameLst>
                                          <p:attrName>style.visibility</p:attrName>
                                        </p:attrNameLst>
                                      </p:cBhvr>
                                      <p:to>
                                        <p:strVal val="visible"/>
                                      </p:to>
                                    </p:set>
                                    <p:animEffect transition="in" filter="wipe(left)">
                                      <p:cBhvr>
                                        <p:cTn id="7" dur="500"/>
                                        <p:tgtEl>
                                          <p:spTgt spid="4710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7107">
                                            <p:txEl>
                                              <p:pRg st="2" end="2"/>
                                            </p:txEl>
                                          </p:spTgt>
                                        </p:tgtEl>
                                        <p:attrNameLst>
                                          <p:attrName>style.visibility</p:attrName>
                                        </p:attrNameLst>
                                      </p:cBhvr>
                                      <p:to>
                                        <p:strVal val="visible"/>
                                      </p:to>
                                    </p:set>
                                    <p:animEffect transition="in" filter="wipe(left)">
                                      <p:cBhvr>
                                        <p:cTn id="12" dur="500"/>
                                        <p:tgtEl>
                                          <p:spTgt spid="47107">
                                            <p:txEl>
                                              <p:pRg st="2" end="2"/>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47107">
                                            <p:txEl>
                                              <p:pRg st="3" end="3"/>
                                            </p:txEl>
                                          </p:spTgt>
                                        </p:tgtEl>
                                        <p:attrNameLst>
                                          <p:attrName>style.visibility</p:attrName>
                                        </p:attrNameLst>
                                      </p:cBhvr>
                                      <p:to>
                                        <p:strVal val="visible"/>
                                      </p:to>
                                    </p:set>
                                    <p:animEffect transition="in" filter="wipe(left)">
                                      <p:cBhvr>
                                        <p:cTn id="15" dur="500"/>
                                        <p:tgtEl>
                                          <p:spTgt spid="47107">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47107">
                                            <p:txEl>
                                              <p:pRg st="4" end="4"/>
                                            </p:txEl>
                                          </p:spTgt>
                                        </p:tgtEl>
                                        <p:attrNameLst>
                                          <p:attrName>style.visibility</p:attrName>
                                        </p:attrNameLst>
                                      </p:cBhvr>
                                      <p:to>
                                        <p:strVal val="visible"/>
                                      </p:to>
                                    </p:set>
                                    <p:animEffect transition="in" filter="wipe(left)">
                                      <p:cBhvr>
                                        <p:cTn id="20" dur="500"/>
                                        <p:tgtEl>
                                          <p:spTgt spid="47107">
                                            <p:txEl>
                                              <p:pRg st="4" end="4"/>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47107">
                                            <p:txEl>
                                              <p:pRg st="5" end="5"/>
                                            </p:txEl>
                                          </p:spTgt>
                                        </p:tgtEl>
                                        <p:attrNameLst>
                                          <p:attrName>style.visibility</p:attrName>
                                        </p:attrNameLst>
                                      </p:cBhvr>
                                      <p:to>
                                        <p:strVal val="visible"/>
                                      </p:to>
                                    </p:set>
                                    <p:animEffect transition="in" filter="wipe(left)">
                                      <p:cBhvr>
                                        <p:cTn id="23" dur="500"/>
                                        <p:tgtEl>
                                          <p:spTgt spid="47107">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47107">
                                            <p:txEl>
                                              <p:pRg st="6" end="6"/>
                                            </p:txEl>
                                          </p:spTgt>
                                        </p:tgtEl>
                                        <p:attrNameLst>
                                          <p:attrName>style.visibility</p:attrName>
                                        </p:attrNameLst>
                                      </p:cBhvr>
                                      <p:to>
                                        <p:strVal val="visible"/>
                                      </p:to>
                                    </p:set>
                                    <p:animEffect transition="in" filter="wipe(left)">
                                      <p:cBhvr>
                                        <p:cTn id="28" dur="500"/>
                                        <p:tgtEl>
                                          <p:spTgt spid="4710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9" name="Rectangle 3"/>
          <p:cNvSpPr>
            <a:spLocks noGrp="1" noChangeArrowheads="1"/>
          </p:cNvSpPr>
          <p:nvPr>
            <p:ph type="title"/>
          </p:nvPr>
        </p:nvSpPr>
        <p:spPr>
          <a:xfrm>
            <a:off x="611188" y="836613"/>
            <a:ext cx="7524750" cy="1196975"/>
          </a:xfrm>
          <a:noFill/>
        </p:spPr>
        <p:txBody>
          <a:bodyPr anchor="ctr"/>
          <a:lstStyle/>
          <a:p>
            <a:pPr algn="l" eaLnBrk="1" hangingPunct="1"/>
            <a:r>
              <a:rPr lang="en-US" altLang="zh-CN" sz="5400" dirty="0" smtClean="0">
                <a:latin typeface="华文隶书" pitchFamily="2" charset="-122"/>
                <a:ea typeface="华文隶书" pitchFamily="2" charset="-122"/>
              </a:rPr>
              <a:t>§1.2.2  </a:t>
            </a:r>
            <a:r>
              <a:rPr lang="zh-CN" altLang="en-US" sz="5400" dirty="0" smtClean="0">
                <a:latin typeface="华文隶书" pitchFamily="2" charset="-122"/>
                <a:ea typeface="华文隶书" pitchFamily="2" charset="-122"/>
              </a:rPr>
              <a:t>统计学的类型</a:t>
            </a:r>
          </a:p>
        </p:txBody>
      </p:sp>
      <p:sp>
        <p:nvSpPr>
          <p:cNvPr id="4100" name="Rectangle 5"/>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4098" name="Object 2"/>
          <p:cNvGraphicFramePr>
            <a:graphicFrameLocks noChangeAspect="1"/>
          </p:cNvGraphicFramePr>
          <p:nvPr/>
        </p:nvGraphicFramePr>
        <p:xfrm>
          <a:off x="714375" y="1863725"/>
          <a:ext cx="7126288" cy="4565650"/>
        </p:xfrm>
        <a:graphic>
          <a:graphicData uri="http://schemas.openxmlformats.org/presentationml/2006/ole">
            <mc:AlternateContent xmlns:mc="http://schemas.openxmlformats.org/markup-compatibility/2006">
              <mc:Choice xmlns:v="urn:schemas-microsoft-com:vml" Requires="v">
                <p:oleObj spid="_x0000_s4131" name="公式" r:id="rId3" imgW="2159000" imgH="1727200" progId="">
                  <p:embed/>
                </p:oleObj>
              </mc:Choice>
              <mc:Fallback>
                <p:oleObj name="公式" r:id="rId3" imgW="2159000" imgH="1727200" progId="">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375" y="1863725"/>
                        <a:ext cx="7126288" cy="4565650"/>
                      </a:xfrm>
                      <a:prstGeom prst="rect">
                        <a:avLst/>
                      </a:prstGeom>
                      <a:noFill/>
                      <a:extLst>
                        <a:ext uri="{909E8E84-426E-40DD-AFC4-6F175D3DCCD1}">
                          <a14:hiddenFill xmlns:a14="http://schemas.microsoft.com/office/drawing/2010/main">
                            <a:solidFill>
                              <a:schemeClr val="hlink"/>
                            </a:solidFill>
                          </a14:hiddenFill>
                        </a:ext>
                      </a:extLst>
                    </p:spPr>
                  </p:pic>
                </p:oleObj>
              </mc:Fallback>
            </mc:AlternateContent>
          </a:graphicData>
        </a:graphic>
      </p:graphicFrame>
      <p:sp>
        <p:nvSpPr>
          <p:cNvPr id="5" name="灯片编号占位符 4"/>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28</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5" name="Rectangle 4"/>
          <p:cNvSpPr>
            <a:spLocks noGrp="1" noChangeArrowheads="1"/>
          </p:cNvSpPr>
          <p:nvPr>
            <p:ph type="title"/>
          </p:nvPr>
        </p:nvSpPr>
        <p:spPr>
          <a:xfrm>
            <a:off x="1476375" y="765175"/>
            <a:ext cx="5545138" cy="649288"/>
          </a:xfrm>
        </p:spPr>
        <p:txBody>
          <a:bodyPr/>
          <a:lstStyle/>
          <a:p>
            <a:pPr algn="l" eaLnBrk="1" hangingPunct="1"/>
            <a:r>
              <a:rPr lang="zh-CN" altLang="en-US" dirty="0" smtClean="0"/>
              <a:t>理论统计学</a:t>
            </a:r>
          </a:p>
        </p:txBody>
      </p:sp>
      <p:sp>
        <p:nvSpPr>
          <p:cNvPr id="33794" name="Rectangle 3"/>
          <p:cNvSpPr>
            <a:spLocks noGrp="1" noChangeArrowheads="1"/>
          </p:cNvSpPr>
          <p:nvPr>
            <p:ph idx="1"/>
          </p:nvPr>
        </p:nvSpPr>
        <p:spPr>
          <a:xfrm>
            <a:off x="539750" y="1557338"/>
            <a:ext cx="7850188" cy="5037137"/>
          </a:xfrm>
        </p:spPr>
        <p:txBody>
          <a:bodyPr/>
          <a:lstStyle/>
          <a:p>
            <a:pPr marL="971550" lvl="1" eaLnBrk="1" hangingPunct="1">
              <a:lnSpc>
                <a:spcPct val="115000"/>
              </a:lnSpc>
            </a:pPr>
            <a:r>
              <a:rPr lang="zh-CN" altLang="en-US" sz="3200" smtClean="0"/>
              <a:t>是关于数据的收集、整理和分析的一般理论和方法。</a:t>
            </a:r>
          </a:p>
          <a:p>
            <a:pPr marL="971550" lvl="1" eaLnBrk="1" hangingPunct="1">
              <a:lnSpc>
                <a:spcPct val="115000"/>
              </a:lnSpc>
            </a:pPr>
            <a:r>
              <a:rPr lang="zh-CN" altLang="en-US" sz="3200" smtClean="0"/>
              <a:t>适用于各种现象数量特征的分析研究。它是应用统计学共同的理论基础。</a:t>
            </a:r>
          </a:p>
          <a:p>
            <a:pPr marL="1314450" lvl="2" eaLnBrk="1" hangingPunct="1">
              <a:lnSpc>
                <a:spcPct val="115000"/>
              </a:lnSpc>
            </a:pPr>
            <a:r>
              <a:rPr lang="zh-CN" altLang="en-US" sz="2800" smtClean="0"/>
              <a:t>所谓统计学是一门通用方法论科学，就是指理论统计学而言。 </a:t>
            </a:r>
            <a:endParaRPr lang="zh-CN" altLang="en-US" smtClean="0"/>
          </a:p>
        </p:txBody>
      </p:sp>
      <p:sp>
        <p:nvSpPr>
          <p:cNvPr id="4" name="灯片编号占位符 3"/>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29</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9" name="Rectangle 3"/>
          <p:cNvSpPr>
            <a:spLocks noGrp="1" noChangeArrowheads="1"/>
          </p:cNvSpPr>
          <p:nvPr>
            <p:ph type="title"/>
          </p:nvPr>
        </p:nvSpPr>
        <p:spPr>
          <a:xfrm>
            <a:off x="827088" y="453231"/>
            <a:ext cx="7772400" cy="671513"/>
          </a:xfrm>
        </p:spPr>
        <p:txBody>
          <a:bodyPr/>
          <a:lstStyle/>
          <a:p>
            <a:pPr eaLnBrk="1" hangingPunct="1"/>
            <a:r>
              <a:rPr lang="zh-CN" altLang="en-US" dirty="0" smtClean="0"/>
              <a:t>应用统计学</a:t>
            </a:r>
          </a:p>
        </p:txBody>
      </p:sp>
      <p:sp>
        <p:nvSpPr>
          <p:cNvPr id="34818" name="Rectangle 2"/>
          <p:cNvSpPr>
            <a:spLocks noGrp="1" noChangeArrowheads="1"/>
          </p:cNvSpPr>
          <p:nvPr>
            <p:ph idx="1"/>
          </p:nvPr>
        </p:nvSpPr>
        <p:spPr>
          <a:xfrm>
            <a:off x="179388" y="1052115"/>
            <a:ext cx="8785225" cy="3529013"/>
          </a:xfrm>
        </p:spPr>
        <p:txBody>
          <a:bodyPr/>
          <a:lstStyle/>
          <a:p>
            <a:pPr marL="971550" lvl="1" eaLnBrk="1" hangingPunct="1">
              <a:spcBef>
                <a:spcPct val="15000"/>
              </a:spcBef>
            </a:pPr>
            <a:r>
              <a:rPr lang="zh-CN" altLang="en-US" dirty="0" smtClean="0"/>
              <a:t>从所研究的领域或专门问题出发，根据研究对象的性质采用适当的指标体系和统计方法，以解决所需研究的问题。</a:t>
            </a:r>
          </a:p>
          <a:p>
            <a:pPr marL="971550" lvl="1" eaLnBrk="1" hangingPunct="1">
              <a:spcBef>
                <a:spcPct val="15000"/>
              </a:spcBef>
            </a:pPr>
            <a:r>
              <a:rPr lang="zh-CN" altLang="en-US" dirty="0" smtClean="0"/>
              <a:t>与各不同领域的实质性学科有着非常密切的联系，是有具体对象的方法论。通常具有边缘交叉和复合型学科的性质。</a:t>
            </a:r>
          </a:p>
          <a:p>
            <a:pPr marL="971550" lvl="1" eaLnBrk="1" hangingPunct="1">
              <a:spcBef>
                <a:spcPct val="15000"/>
              </a:spcBef>
            </a:pPr>
            <a:r>
              <a:rPr lang="zh-CN" altLang="en-US" dirty="0" smtClean="0"/>
              <a:t>例如： </a:t>
            </a:r>
          </a:p>
        </p:txBody>
      </p:sp>
      <p:sp>
        <p:nvSpPr>
          <p:cNvPr id="140292" name="Rectangle 4"/>
          <p:cNvSpPr>
            <a:spLocks noChangeArrowheads="1"/>
          </p:cNvSpPr>
          <p:nvPr/>
        </p:nvSpPr>
        <p:spPr bwMode="auto">
          <a:xfrm>
            <a:off x="4211638" y="3357563"/>
            <a:ext cx="3703637" cy="3175000"/>
          </a:xfrm>
          <a:prstGeom prst="rect">
            <a:avLst/>
          </a:prstGeom>
          <a:noFill/>
          <a:ln w="9525" algn="ctr">
            <a:noFill/>
            <a:miter lim="800000"/>
            <a:headEnd/>
            <a:tailEnd/>
          </a:ln>
        </p:spPr>
        <p:txBody>
          <a:bodyPr wrap="none" lIns="18000" tIns="10800" rIns="18000" bIns="0">
            <a:spAutoFit/>
          </a:bodyPr>
          <a:lstStyle/>
          <a:p>
            <a:pPr lvl="3">
              <a:lnSpc>
                <a:spcPct val="115000"/>
              </a:lnSpc>
              <a:spcBef>
                <a:spcPct val="10000"/>
              </a:spcBef>
              <a:buClr>
                <a:schemeClr val="tx2"/>
              </a:buClr>
              <a:buSzPct val="65000"/>
              <a:buFont typeface="Wingdings" pitchFamily="2" charset="2"/>
              <a:buChar char="l"/>
            </a:pPr>
            <a:r>
              <a:rPr lang="zh-CN" altLang="en-US" sz="2400" dirty="0">
                <a:solidFill>
                  <a:srgbClr val="336600"/>
                </a:solidFill>
                <a:latin typeface="Arial" charset="0"/>
              </a:rPr>
              <a:t>宏观经济统计学</a:t>
            </a:r>
          </a:p>
          <a:p>
            <a:pPr lvl="3">
              <a:lnSpc>
                <a:spcPct val="115000"/>
              </a:lnSpc>
              <a:spcBef>
                <a:spcPct val="10000"/>
              </a:spcBef>
              <a:buClr>
                <a:schemeClr val="tx2"/>
              </a:buClr>
              <a:buSzPct val="65000"/>
              <a:buFont typeface="Wingdings" pitchFamily="2" charset="2"/>
              <a:buChar char="l"/>
            </a:pPr>
            <a:r>
              <a:rPr lang="zh-CN" altLang="en-US" sz="2400" dirty="0">
                <a:solidFill>
                  <a:srgbClr val="336600"/>
                </a:solidFill>
                <a:latin typeface="Arial" charset="0"/>
              </a:rPr>
              <a:t>企业经济统计学</a:t>
            </a:r>
          </a:p>
          <a:p>
            <a:pPr lvl="3">
              <a:lnSpc>
                <a:spcPct val="115000"/>
              </a:lnSpc>
              <a:spcBef>
                <a:spcPct val="10000"/>
              </a:spcBef>
              <a:buClr>
                <a:schemeClr val="tx2"/>
              </a:buClr>
              <a:buSzPct val="65000"/>
              <a:buFont typeface="Wingdings" pitchFamily="2" charset="2"/>
              <a:buChar char="l"/>
            </a:pPr>
            <a:r>
              <a:rPr lang="zh-CN" altLang="en-US" sz="2400" dirty="0">
                <a:solidFill>
                  <a:srgbClr val="336600"/>
                </a:solidFill>
                <a:latin typeface="Arial" charset="0"/>
              </a:rPr>
              <a:t>金融统计学</a:t>
            </a:r>
          </a:p>
          <a:p>
            <a:pPr lvl="3">
              <a:lnSpc>
                <a:spcPct val="115000"/>
              </a:lnSpc>
              <a:spcBef>
                <a:spcPct val="10000"/>
              </a:spcBef>
              <a:buClr>
                <a:schemeClr val="tx2"/>
              </a:buClr>
              <a:buSzPct val="65000"/>
              <a:buFont typeface="Wingdings" pitchFamily="2" charset="2"/>
              <a:buChar char="l"/>
            </a:pPr>
            <a:r>
              <a:rPr lang="zh-CN" altLang="en-US" sz="2400" dirty="0">
                <a:solidFill>
                  <a:srgbClr val="336600"/>
                </a:solidFill>
                <a:latin typeface="Arial" charset="0"/>
              </a:rPr>
              <a:t>保险统计学</a:t>
            </a:r>
          </a:p>
          <a:p>
            <a:pPr lvl="3">
              <a:lnSpc>
                <a:spcPct val="115000"/>
              </a:lnSpc>
              <a:spcBef>
                <a:spcPct val="10000"/>
              </a:spcBef>
              <a:buClr>
                <a:schemeClr val="tx2"/>
              </a:buClr>
              <a:buSzPct val="65000"/>
              <a:buFont typeface="Wingdings" pitchFamily="2" charset="2"/>
              <a:buChar char="l"/>
            </a:pPr>
            <a:r>
              <a:rPr lang="zh-CN" altLang="en-US" sz="2400" dirty="0">
                <a:solidFill>
                  <a:srgbClr val="336600"/>
                </a:solidFill>
                <a:latin typeface="Arial" charset="0"/>
              </a:rPr>
              <a:t>价格统计学</a:t>
            </a:r>
          </a:p>
          <a:p>
            <a:pPr lvl="3">
              <a:lnSpc>
                <a:spcPct val="115000"/>
              </a:lnSpc>
              <a:spcBef>
                <a:spcPct val="10000"/>
              </a:spcBef>
              <a:buClr>
                <a:schemeClr val="tx2"/>
              </a:buClr>
              <a:buSzPct val="65000"/>
              <a:buFont typeface="Wingdings" pitchFamily="2" charset="2"/>
              <a:buChar char="l"/>
            </a:pPr>
            <a:r>
              <a:rPr lang="zh-CN" altLang="en-US" sz="2400" dirty="0">
                <a:solidFill>
                  <a:srgbClr val="336600"/>
                </a:solidFill>
                <a:latin typeface="Arial" charset="0"/>
              </a:rPr>
              <a:t>对外贸易统计学</a:t>
            </a:r>
          </a:p>
          <a:p>
            <a:pPr lvl="3">
              <a:lnSpc>
                <a:spcPct val="115000"/>
              </a:lnSpc>
              <a:spcBef>
                <a:spcPct val="10000"/>
              </a:spcBef>
              <a:buClr>
                <a:schemeClr val="tx2"/>
              </a:buClr>
              <a:buSzPct val="65000"/>
              <a:buFont typeface="Wingdings" pitchFamily="2" charset="2"/>
              <a:buChar char="l"/>
            </a:pPr>
            <a:r>
              <a:rPr lang="en-US" altLang="zh-CN" sz="2400" dirty="0">
                <a:solidFill>
                  <a:srgbClr val="336600"/>
                </a:solidFill>
                <a:latin typeface="Arial" charset="0"/>
              </a:rPr>
              <a:t>… …</a:t>
            </a:r>
          </a:p>
        </p:txBody>
      </p:sp>
      <p:sp>
        <p:nvSpPr>
          <p:cNvPr id="140293" name="AutoShape 5"/>
          <p:cNvSpPr>
            <a:spLocks/>
          </p:cNvSpPr>
          <p:nvPr/>
        </p:nvSpPr>
        <p:spPr bwMode="auto">
          <a:xfrm>
            <a:off x="5003800" y="3573463"/>
            <a:ext cx="504825" cy="2808287"/>
          </a:xfrm>
          <a:prstGeom prst="leftBrace">
            <a:avLst>
              <a:gd name="adj1" fmla="val 46357"/>
              <a:gd name="adj2" fmla="val 50000"/>
            </a:avLst>
          </a:prstGeom>
          <a:noFill/>
          <a:ln w="57150">
            <a:solidFill>
              <a:srgbClr val="336600"/>
            </a:solidFill>
            <a:round/>
            <a:headEnd/>
            <a:tailEnd/>
          </a:ln>
        </p:spPr>
        <p:txBody>
          <a:bodyPr wrap="none" anchor="ctr"/>
          <a:lstStyle/>
          <a:p>
            <a:pPr algn="ctr">
              <a:lnSpc>
                <a:spcPct val="100000"/>
              </a:lnSpc>
              <a:spcBef>
                <a:spcPct val="50000"/>
              </a:spcBef>
              <a:buClrTx/>
              <a:buSzTx/>
              <a:buFontTx/>
              <a:buNone/>
            </a:pPr>
            <a:endParaRPr kumimoji="1" lang="zh-CN" altLang="zh-CN" sz="1200">
              <a:solidFill>
                <a:srgbClr val="0099FF"/>
              </a:solidFill>
              <a:ea typeface="华文宋体" pitchFamily="2" charset="-122"/>
            </a:endParaRPr>
          </a:p>
        </p:txBody>
      </p:sp>
      <p:sp>
        <p:nvSpPr>
          <p:cNvPr id="140294" name="Rectangle 6"/>
          <p:cNvSpPr>
            <a:spLocks noChangeArrowheads="1"/>
          </p:cNvSpPr>
          <p:nvPr/>
        </p:nvSpPr>
        <p:spPr bwMode="auto">
          <a:xfrm>
            <a:off x="1835150" y="4005263"/>
            <a:ext cx="3384550" cy="2087562"/>
          </a:xfrm>
          <a:prstGeom prst="rect">
            <a:avLst/>
          </a:prstGeom>
          <a:noFill/>
          <a:ln w="12700">
            <a:noFill/>
            <a:miter lim="800000"/>
            <a:headEnd/>
            <a:tailEnd/>
          </a:ln>
        </p:spPr>
        <p:txBody>
          <a:bodyPr lIns="90488" tIns="44450" rIns="90488" bIns="44450"/>
          <a:lstStyle/>
          <a:p>
            <a:pPr marL="1314450" lvl="2" indent="-228600">
              <a:spcBef>
                <a:spcPct val="20000"/>
              </a:spcBef>
              <a:buClrTx/>
              <a:buFontTx/>
              <a:buBlip>
                <a:blip r:embed="rId2"/>
              </a:buBlip>
            </a:pPr>
            <a:r>
              <a:rPr lang="zh-CN" altLang="en-US" sz="2400" dirty="0">
                <a:solidFill>
                  <a:schemeClr val="tx2"/>
                </a:solidFill>
                <a:latin typeface="Tahoma" pitchFamily="34" charset="0"/>
              </a:rPr>
              <a:t>生物统计学</a:t>
            </a:r>
          </a:p>
          <a:p>
            <a:pPr marL="1314450" lvl="2" indent="-228600">
              <a:spcBef>
                <a:spcPct val="20000"/>
              </a:spcBef>
              <a:buClrTx/>
              <a:buFontTx/>
              <a:buBlip>
                <a:blip r:embed="rId2"/>
              </a:buBlip>
            </a:pPr>
            <a:r>
              <a:rPr lang="zh-CN" altLang="en-US" sz="2400" dirty="0">
                <a:solidFill>
                  <a:schemeClr val="tx2"/>
                </a:solidFill>
                <a:latin typeface="Tahoma" pitchFamily="34" charset="0"/>
              </a:rPr>
              <a:t>医药统计学</a:t>
            </a:r>
          </a:p>
          <a:p>
            <a:pPr marL="1314450" lvl="2" indent="-228600">
              <a:spcBef>
                <a:spcPct val="20000"/>
              </a:spcBef>
              <a:buClrTx/>
              <a:buFontTx/>
              <a:buBlip>
                <a:blip r:embed="rId2"/>
              </a:buBlip>
            </a:pPr>
            <a:r>
              <a:rPr lang="zh-CN" altLang="en-US" sz="2400" dirty="0">
                <a:solidFill>
                  <a:srgbClr val="336600"/>
                </a:solidFill>
                <a:latin typeface="Tahoma" pitchFamily="34" charset="0"/>
              </a:rPr>
              <a:t>经济统计学</a:t>
            </a:r>
          </a:p>
          <a:p>
            <a:pPr marL="1314450" lvl="2" indent="-228600">
              <a:spcBef>
                <a:spcPct val="20000"/>
              </a:spcBef>
              <a:buClrTx/>
              <a:buFontTx/>
              <a:buBlip>
                <a:blip r:embed="rId2"/>
              </a:buBlip>
            </a:pPr>
            <a:r>
              <a:rPr lang="zh-CN" altLang="en-US" sz="2400" dirty="0">
                <a:solidFill>
                  <a:schemeClr val="tx2"/>
                </a:solidFill>
                <a:latin typeface="Tahoma" pitchFamily="34" charset="0"/>
              </a:rPr>
              <a:t>气象统计学</a:t>
            </a:r>
          </a:p>
          <a:p>
            <a:pPr marL="1314450" lvl="2" indent="-228600">
              <a:spcBef>
                <a:spcPct val="20000"/>
              </a:spcBef>
              <a:buClrTx/>
              <a:buFontTx/>
              <a:buBlip>
                <a:blip r:embed="rId2"/>
              </a:buBlip>
            </a:pPr>
            <a:r>
              <a:rPr lang="zh-CN" altLang="en-US" sz="2400" dirty="0">
                <a:solidFill>
                  <a:schemeClr val="tx2"/>
                </a:solidFill>
                <a:latin typeface="Tahoma" pitchFamily="34" charset="0"/>
              </a:rPr>
              <a:t>科技统计学</a:t>
            </a:r>
          </a:p>
        </p:txBody>
      </p:sp>
      <p:sp>
        <p:nvSpPr>
          <p:cNvPr id="7" name="灯片编号占位符 6"/>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30</a:t>
            </a:fld>
            <a:endParaRPr lang="en-US" altLang="zh-CN" dirty="0">
              <a:solidFill>
                <a:srgbClr val="545472"/>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40294"/>
                                        </p:tgtEl>
                                        <p:attrNameLst>
                                          <p:attrName>style.visibility</p:attrName>
                                        </p:attrNameLst>
                                      </p:cBhvr>
                                      <p:to>
                                        <p:strVal val="visible"/>
                                      </p:to>
                                    </p:set>
                                    <p:animEffect transition="in" filter="blinds(horizontal)">
                                      <p:cBhvr>
                                        <p:cTn id="7" dur="500"/>
                                        <p:tgtEl>
                                          <p:spTgt spid="14029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140293"/>
                                        </p:tgtEl>
                                        <p:attrNameLst>
                                          <p:attrName>style.visibility</p:attrName>
                                        </p:attrNameLst>
                                      </p:cBhvr>
                                      <p:to>
                                        <p:strVal val="visible"/>
                                      </p:to>
                                    </p:set>
                                    <p:animEffect transition="in" filter="slide(fromLeft)">
                                      <p:cBhvr>
                                        <p:cTn id="12" dur="500"/>
                                        <p:tgtEl>
                                          <p:spTgt spid="140293"/>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40292"/>
                                        </p:tgtEl>
                                        <p:attrNameLst>
                                          <p:attrName>style.visibility</p:attrName>
                                        </p:attrNameLst>
                                      </p:cBhvr>
                                      <p:to>
                                        <p:strVal val="visible"/>
                                      </p:to>
                                    </p:set>
                                    <p:animEffect transition="in" filter="wipe(left)">
                                      <p:cBhvr>
                                        <p:cTn id="15" dur="500"/>
                                        <p:tgtEl>
                                          <p:spTgt spid="1402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2" grpId="0"/>
      <p:bldP spid="140293" grpId="0" animBg="1"/>
      <p:bldP spid="140294" grpId="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3" name="Rectangle 3"/>
          <p:cNvSpPr>
            <a:spLocks noGrp="1" noChangeArrowheads="1"/>
          </p:cNvSpPr>
          <p:nvPr>
            <p:ph type="title"/>
          </p:nvPr>
        </p:nvSpPr>
        <p:spPr>
          <a:xfrm>
            <a:off x="899592" y="548680"/>
            <a:ext cx="7524750" cy="1196975"/>
          </a:xfrm>
          <a:noFill/>
        </p:spPr>
        <p:txBody>
          <a:bodyPr anchor="ctr"/>
          <a:lstStyle/>
          <a:p>
            <a:pPr algn="l" eaLnBrk="1" hangingPunct="1"/>
            <a:r>
              <a:rPr lang="zh-CN" altLang="en-US" sz="5400" dirty="0" smtClean="0">
                <a:latin typeface="华文隶书" pitchFamily="2" charset="-122"/>
                <a:ea typeface="华文隶书" pitchFamily="2" charset="-122"/>
              </a:rPr>
              <a:t>描述统计学</a:t>
            </a:r>
          </a:p>
        </p:txBody>
      </p:sp>
      <p:sp>
        <p:nvSpPr>
          <p:cNvPr id="35842" name="Rectangle 2"/>
          <p:cNvSpPr>
            <a:spLocks noGrp="1" noChangeArrowheads="1"/>
          </p:cNvSpPr>
          <p:nvPr>
            <p:ph idx="1"/>
          </p:nvPr>
        </p:nvSpPr>
        <p:spPr>
          <a:xfrm>
            <a:off x="395536" y="1700808"/>
            <a:ext cx="8135937" cy="4176464"/>
          </a:xfrm>
        </p:spPr>
        <p:txBody>
          <a:bodyPr/>
          <a:lstStyle/>
          <a:p>
            <a:pPr marL="457200" algn="just" eaLnBrk="1" hangingPunct="1">
              <a:lnSpc>
                <a:spcPct val="120000"/>
              </a:lnSpc>
            </a:pPr>
            <a:r>
              <a:rPr lang="zh-CN" altLang="zh-CN" sz="2800" dirty="0" smtClean="0">
                <a:solidFill>
                  <a:srgbClr val="000000"/>
                </a:solidFill>
              </a:rPr>
              <a:t>描述统计学是关于如何对现象的数据特征进行</a:t>
            </a:r>
            <a:r>
              <a:rPr lang="zh-CN" altLang="zh-CN" sz="2800" dirty="0" smtClean="0">
                <a:solidFill>
                  <a:srgbClr val="000000"/>
                </a:solidFill>
                <a:latin typeface="黑体" pitchFamily="49" charset="-122"/>
                <a:ea typeface="黑体" pitchFamily="49" charset="-122"/>
              </a:rPr>
              <a:t>观测、整理、计量、表述</a:t>
            </a:r>
            <a:r>
              <a:rPr lang="zh-CN" altLang="zh-CN" sz="2800" dirty="0" smtClean="0">
                <a:solidFill>
                  <a:srgbClr val="000000"/>
                </a:solidFill>
              </a:rPr>
              <a:t>的理论和方法论科学，研究如何取得反映客观现象的数据，并通过图表形式对所收集的数据进行加工处理和展示，进而通过</a:t>
            </a:r>
            <a:r>
              <a:rPr lang="zh-CN" altLang="zh-CN" sz="2800" dirty="0" smtClean="0">
                <a:solidFill>
                  <a:srgbClr val="000000"/>
                </a:solidFill>
                <a:latin typeface="黑体" pitchFamily="49" charset="-122"/>
                <a:ea typeface="黑体" pitchFamily="49" charset="-122"/>
              </a:rPr>
              <a:t>综合概括与分析</a:t>
            </a:r>
            <a:r>
              <a:rPr lang="zh-CN" altLang="zh-CN" sz="2800" dirty="0" smtClean="0">
                <a:solidFill>
                  <a:srgbClr val="000000"/>
                </a:solidFill>
              </a:rPr>
              <a:t>得出反映客观现象的规律性数量特征。</a:t>
            </a:r>
            <a:endParaRPr lang="en-US" altLang="zh-CN" sz="2800" dirty="0" smtClean="0">
              <a:solidFill>
                <a:srgbClr val="000000"/>
              </a:solidFill>
            </a:endParaRPr>
          </a:p>
          <a:p>
            <a:pPr marL="1276350" lvl="2" eaLnBrk="1" hangingPunct="1"/>
            <a:r>
              <a:rPr lang="zh-CN" altLang="en-US" dirty="0" smtClean="0">
                <a:solidFill>
                  <a:srgbClr val="7030A0"/>
                </a:solidFill>
              </a:rPr>
              <a:t>所论不超出已有数据的范围</a:t>
            </a:r>
            <a:r>
              <a:rPr lang="zh-CN" altLang="en-US" b="0" dirty="0" smtClean="0">
                <a:solidFill>
                  <a:srgbClr val="7030A0"/>
                </a:solidFill>
              </a:rPr>
              <a:t>。 </a:t>
            </a:r>
          </a:p>
        </p:txBody>
      </p:sp>
      <p:sp>
        <p:nvSpPr>
          <p:cNvPr id="26" name="灯片编号占位符 25"/>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31</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7" name="Rectangle 3"/>
          <p:cNvSpPr>
            <a:spLocks noGrp="1" noChangeArrowheads="1"/>
          </p:cNvSpPr>
          <p:nvPr>
            <p:ph type="title"/>
          </p:nvPr>
        </p:nvSpPr>
        <p:spPr>
          <a:xfrm>
            <a:off x="1428750" y="357188"/>
            <a:ext cx="7524750" cy="1196975"/>
          </a:xfrm>
          <a:noFill/>
        </p:spPr>
        <p:txBody>
          <a:bodyPr anchor="ctr"/>
          <a:lstStyle/>
          <a:p>
            <a:pPr algn="l" eaLnBrk="1" hangingPunct="1"/>
            <a:r>
              <a:rPr lang="zh-CN" altLang="en-US" sz="5400" smtClean="0">
                <a:latin typeface="华文隶书" pitchFamily="2" charset="-122"/>
                <a:ea typeface="华文隶书" pitchFamily="2" charset="-122"/>
              </a:rPr>
              <a:t>推断统计学</a:t>
            </a:r>
          </a:p>
        </p:txBody>
      </p:sp>
      <p:sp>
        <p:nvSpPr>
          <p:cNvPr id="36866" name="Rectangle 2"/>
          <p:cNvSpPr>
            <a:spLocks noGrp="1" noChangeArrowheads="1"/>
          </p:cNvSpPr>
          <p:nvPr>
            <p:ph idx="1"/>
          </p:nvPr>
        </p:nvSpPr>
        <p:spPr>
          <a:xfrm>
            <a:off x="179513" y="1340768"/>
            <a:ext cx="8424936" cy="4608513"/>
          </a:xfrm>
        </p:spPr>
        <p:txBody>
          <a:bodyPr/>
          <a:lstStyle/>
          <a:p>
            <a:pPr marL="857250" lvl="1" algn="just" eaLnBrk="1" hangingPunct="1">
              <a:spcBef>
                <a:spcPts val="1200"/>
              </a:spcBef>
            </a:pPr>
            <a:r>
              <a:rPr lang="zh-CN" altLang="zh-CN" dirty="0" smtClean="0"/>
              <a:t>是关于如何抽取样本并利用样本数据推断总体有关数据的理论和方法论科学。</a:t>
            </a:r>
            <a:endParaRPr lang="en-US" altLang="zh-CN" dirty="0" smtClean="0"/>
          </a:p>
          <a:p>
            <a:pPr marL="857250" lvl="1" algn="just" eaLnBrk="1" hangingPunct="1">
              <a:spcBef>
                <a:spcPts val="1200"/>
              </a:spcBef>
            </a:pPr>
            <a:r>
              <a:rPr lang="zh-CN" altLang="en-US" sz="2400" dirty="0" smtClean="0"/>
              <a:t>内容：参数估计、假设检验、相关回归分析等等</a:t>
            </a:r>
            <a:r>
              <a:rPr lang="en-US" altLang="zh-CN" sz="2400" dirty="0" smtClean="0"/>
              <a:t>.</a:t>
            </a:r>
          </a:p>
        </p:txBody>
      </p:sp>
      <p:sp>
        <p:nvSpPr>
          <p:cNvPr id="36868" name="Oval 26"/>
          <p:cNvSpPr>
            <a:spLocks noChangeArrowheads="1"/>
          </p:cNvSpPr>
          <p:nvPr/>
        </p:nvSpPr>
        <p:spPr bwMode="auto">
          <a:xfrm>
            <a:off x="1892300" y="3068638"/>
            <a:ext cx="3184525" cy="2895600"/>
          </a:xfrm>
          <a:prstGeom prst="ellipse">
            <a:avLst/>
          </a:prstGeom>
          <a:gradFill rotWithShape="0">
            <a:gsLst>
              <a:gs pos="0">
                <a:schemeClr val="accent1"/>
              </a:gs>
              <a:gs pos="100000">
                <a:schemeClr val="bg1"/>
              </a:gs>
            </a:gsLst>
            <a:lin ang="5400000" scaled="1"/>
          </a:gradFill>
          <a:ln w="9525">
            <a:solidFill>
              <a:srgbClr val="FF0066"/>
            </a:solidFill>
            <a:round/>
            <a:headEnd/>
            <a:tailEnd/>
          </a:ln>
        </p:spPr>
        <p:txBody>
          <a:bodyPr wrap="none" anchor="ctr"/>
          <a:lstStyle/>
          <a:p>
            <a:endParaRPr lang="zh-CN" altLang="en-US"/>
          </a:p>
        </p:txBody>
      </p:sp>
      <p:sp>
        <p:nvSpPr>
          <p:cNvPr id="287771" name="AutoShape 27"/>
          <p:cNvSpPr>
            <a:spLocks noChangeArrowheads="1"/>
          </p:cNvSpPr>
          <p:nvPr/>
        </p:nvSpPr>
        <p:spPr bwMode="auto">
          <a:xfrm rot="-4579786">
            <a:off x="5678487" y="1962151"/>
            <a:ext cx="989013" cy="3490912"/>
          </a:xfrm>
          <a:prstGeom prst="curvedLeftArrow">
            <a:avLst>
              <a:gd name="adj1" fmla="val 70986"/>
              <a:gd name="adj2" fmla="val 109322"/>
              <a:gd name="adj3" fmla="val 33333"/>
            </a:avLst>
          </a:prstGeom>
          <a:gradFill rotWithShape="0">
            <a:gsLst>
              <a:gs pos="0">
                <a:schemeClr val="accent1"/>
              </a:gs>
              <a:gs pos="100000">
                <a:schemeClr val="bg1"/>
              </a:gs>
            </a:gsLst>
            <a:lin ang="5400000" scaled="1"/>
          </a:gradFill>
          <a:ln w="9525">
            <a:solidFill>
              <a:schemeClr val="tx1"/>
            </a:solidFill>
            <a:miter lim="800000"/>
            <a:headEnd/>
            <a:tailEnd/>
          </a:ln>
        </p:spPr>
        <p:txBody>
          <a:bodyPr vert="eaVert" wrap="none" anchor="ctr"/>
          <a:lstStyle/>
          <a:p>
            <a:pPr algn="ctr">
              <a:lnSpc>
                <a:spcPct val="100000"/>
              </a:lnSpc>
              <a:spcBef>
                <a:spcPct val="0"/>
              </a:spcBef>
              <a:buClrTx/>
              <a:buSzTx/>
              <a:buFontTx/>
              <a:buNone/>
            </a:pPr>
            <a:endParaRPr kumimoji="1" lang="zh-CN" altLang="zh-CN" sz="2400" b="0"/>
          </a:p>
        </p:txBody>
      </p:sp>
      <p:sp>
        <p:nvSpPr>
          <p:cNvPr id="287772" name="AutoShape 28"/>
          <p:cNvSpPr>
            <a:spLocks noChangeArrowheads="1"/>
          </p:cNvSpPr>
          <p:nvPr/>
        </p:nvSpPr>
        <p:spPr bwMode="auto">
          <a:xfrm rot="5400000">
            <a:off x="4862202" y="4146910"/>
            <a:ext cx="864319" cy="4037012"/>
          </a:xfrm>
          <a:prstGeom prst="curvedLeftArrow">
            <a:avLst>
              <a:gd name="adj1" fmla="val 54395"/>
              <a:gd name="adj2" fmla="val 107599"/>
              <a:gd name="adj3" fmla="val 33333"/>
            </a:avLst>
          </a:prstGeom>
          <a:gradFill rotWithShape="0">
            <a:gsLst>
              <a:gs pos="0">
                <a:schemeClr val="accent1"/>
              </a:gs>
              <a:gs pos="100000">
                <a:schemeClr val="bg1"/>
              </a:gs>
            </a:gsLst>
            <a:lin ang="5400000" scaled="1"/>
          </a:gradFill>
          <a:ln w="9525">
            <a:solidFill>
              <a:schemeClr val="tx1"/>
            </a:solidFill>
            <a:miter lim="800000"/>
            <a:headEnd/>
            <a:tailEnd/>
          </a:ln>
        </p:spPr>
        <p:txBody>
          <a:bodyPr wrap="none" anchor="ctr"/>
          <a:lstStyle/>
          <a:p>
            <a:endParaRPr lang="zh-CN" altLang="en-US"/>
          </a:p>
        </p:txBody>
      </p:sp>
      <p:sp>
        <p:nvSpPr>
          <p:cNvPr id="36871" name="Text Box 29"/>
          <p:cNvSpPr txBox="1">
            <a:spLocks noChangeArrowheads="1"/>
          </p:cNvSpPr>
          <p:nvPr/>
        </p:nvSpPr>
        <p:spPr bwMode="auto">
          <a:xfrm rot="-1076802">
            <a:off x="4716463" y="3141663"/>
            <a:ext cx="936625" cy="458787"/>
          </a:xfrm>
          <a:prstGeom prst="rect">
            <a:avLst/>
          </a:prstGeom>
          <a:noFill/>
          <a:ln w="9525">
            <a:noFill/>
            <a:miter lim="800000"/>
            <a:headEnd/>
            <a:tailEnd/>
          </a:ln>
        </p:spPr>
        <p:txBody>
          <a:bodyPr>
            <a:spAutoFit/>
          </a:bodyPr>
          <a:lstStyle/>
          <a:p>
            <a:pPr>
              <a:lnSpc>
                <a:spcPct val="100000"/>
              </a:lnSpc>
              <a:spcBef>
                <a:spcPct val="50000"/>
              </a:spcBef>
              <a:buClrTx/>
              <a:buSzTx/>
              <a:buFontTx/>
              <a:buNone/>
            </a:pPr>
            <a:r>
              <a:rPr kumimoji="1" lang="zh-CN" altLang="en-US" sz="2400">
                <a:solidFill>
                  <a:srgbClr val="CC0099"/>
                </a:solidFill>
              </a:rPr>
              <a:t>抽样</a:t>
            </a:r>
          </a:p>
        </p:txBody>
      </p:sp>
      <p:sp>
        <p:nvSpPr>
          <p:cNvPr id="36872" name="Text Box 30"/>
          <p:cNvSpPr txBox="1">
            <a:spLocks noChangeArrowheads="1"/>
          </p:cNvSpPr>
          <p:nvPr/>
        </p:nvSpPr>
        <p:spPr bwMode="auto">
          <a:xfrm rot="1472640">
            <a:off x="6588125" y="5727333"/>
            <a:ext cx="576263" cy="830997"/>
          </a:xfrm>
          <a:prstGeom prst="rect">
            <a:avLst/>
          </a:prstGeom>
          <a:noFill/>
          <a:ln w="9525">
            <a:noFill/>
            <a:miter lim="800000"/>
            <a:headEnd/>
            <a:tailEnd/>
          </a:ln>
        </p:spPr>
        <p:txBody>
          <a:bodyPr>
            <a:spAutoFit/>
          </a:bodyPr>
          <a:lstStyle/>
          <a:p>
            <a:pPr>
              <a:lnSpc>
                <a:spcPct val="100000"/>
              </a:lnSpc>
              <a:spcBef>
                <a:spcPct val="50000"/>
              </a:spcBef>
              <a:buClrTx/>
              <a:buSzTx/>
              <a:buFontTx/>
              <a:buNone/>
            </a:pPr>
            <a:r>
              <a:rPr kumimoji="1" lang="zh-CN" altLang="en-US" sz="2400" dirty="0" smtClean="0">
                <a:solidFill>
                  <a:srgbClr val="CC0099"/>
                </a:solidFill>
              </a:rPr>
              <a:t>推断</a:t>
            </a:r>
            <a:endParaRPr kumimoji="1" lang="zh-CN" altLang="en-US" sz="2400" dirty="0">
              <a:solidFill>
                <a:srgbClr val="CC0099"/>
              </a:solidFill>
            </a:endParaRPr>
          </a:p>
        </p:txBody>
      </p:sp>
      <p:sp>
        <p:nvSpPr>
          <p:cNvPr id="36873" name="AutoShape 31"/>
          <p:cNvSpPr>
            <a:spLocks noChangeArrowheads="1"/>
          </p:cNvSpPr>
          <p:nvPr/>
        </p:nvSpPr>
        <p:spPr bwMode="auto">
          <a:xfrm>
            <a:off x="2339975" y="4005263"/>
            <a:ext cx="215900" cy="288925"/>
          </a:xfrm>
          <a:prstGeom prst="smileyFace">
            <a:avLst>
              <a:gd name="adj" fmla="val 4653"/>
            </a:avLst>
          </a:prstGeom>
          <a:solidFill>
            <a:schemeClr val="hlink"/>
          </a:solidFill>
          <a:ln w="9525">
            <a:solidFill>
              <a:schemeClr val="tx1"/>
            </a:solidFill>
            <a:miter lim="800000"/>
            <a:headEnd/>
            <a:tailEnd/>
          </a:ln>
        </p:spPr>
        <p:txBody>
          <a:bodyPr wrap="none" anchor="ctr"/>
          <a:lstStyle/>
          <a:p>
            <a:endParaRPr lang="zh-CN" altLang="en-US"/>
          </a:p>
        </p:txBody>
      </p:sp>
      <p:sp>
        <p:nvSpPr>
          <p:cNvPr id="36874" name="AutoShape 32"/>
          <p:cNvSpPr>
            <a:spLocks noChangeArrowheads="1"/>
          </p:cNvSpPr>
          <p:nvPr/>
        </p:nvSpPr>
        <p:spPr bwMode="auto">
          <a:xfrm>
            <a:off x="4213225" y="4365625"/>
            <a:ext cx="287338" cy="287338"/>
          </a:xfrm>
          <a:prstGeom prst="smileyFace">
            <a:avLst>
              <a:gd name="adj" fmla="val 4653"/>
            </a:avLst>
          </a:prstGeom>
          <a:solidFill>
            <a:srgbClr val="FFCC00"/>
          </a:solidFill>
          <a:ln w="9525">
            <a:solidFill>
              <a:schemeClr val="tx1"/>
            </a:solidFill>
            <a:miter lim="800000"/>
            <a:headEnd/>
            <a:tailEnd/>
          </a:ln>
        </p:spPr>
        <p:txBody>
          <a:bodyPr wrap="none" anchor="ctr"/>
          <a:lstStyle/>
          <a:p>
            <a:endParaRPr lang="zh-CN" altLang="en-US"/>
          </a:p>
        </p:txBody>
      </p:sp>
      <p:sp>
        <p:nvSpPr>
          <p:cNvPr id="36875" name="AutoShape 33"/>
          <p:cNvSpPr>
            <a:spLocks noChangeArrowheads="1"/>
          </p:cNvSpPr>
          <p:nvPr/>
        </p:nvSpPr>
        <p:spPr bwMode="auto">
          <a:xfrm>
            <a:off x="4068763" y="3573463"/>
            <a:ext cx="215900" cy="288925"/>
          </a:xfrm>
          <a:prstGeom prst="smileyFace">
            <a:avLst>
              <a:gd name="adj" fmla="val 4653"/>
            </a:avLst>
          </a:prstGeom>
          <a:solidFill>
            <a:schemeClr val="hlink"/>
          </a:solidFill>
          <a:ln w="9525">
            <a:solidFill>
              <a:schemeClr val="tx1"/>
            </a:solidFill>
            <a:miter lim="800000"/>
            <a:headEnd/>
            <a:tailEnd/>
          </a:ln>
        </p:spPr>
        <p:txBody>
          <a:bodyPr wrap="none" anchor="ctr"/>
          <a:lstStyle/>
          <a:p>
            <a:endParaRPr lang="zh-CN" altLang="en-US"/>
          </a:p>
        </p:txBody>
      </p:sp>
      <p:sp>
        <p:nvSpPr>
          <p:cNvPr id="36876" name="AutoShape 34"/>
          <p:cNvSpPr>
            <a:spLocks noChangeArrowheads="1"/>
          </p:cNvSpPr>
          <p:nvPr/>
        </p:nvSpPr>
        <p:spPr bwMode="auto">
          <a:xfrm>
            <a:off x="3276600" y="3571875"/>
            <a:ext cx="215900" cy="288925"/>
          </a:xfrm>
          <a:prstGeom prst="smileyFace">
            <a:avLst>
              <a:gd name="adj" fmla="val 4653"/>
            </a:avLst>
          </a:prstGeom>
          <a:solidFill>
            <a:schemeClr val="bg2"/>
          </a:solidFill>
          <a:ln w="9525">
            <a:solidFill>
              <a:schemeClr val="tx1"/>
            </a:solidFill>
            <a:miter lim="800000"/>
            <a:headEnd/>
            <a:tailEnd/>
          </a:ln>
        </p:spPr>
        <p:txBody>
          <a:bodyPr wrap="none" anchor="ctr"/>
          <a:lstStyle/>
          <a:p>
            <a:endParaRPr lang="zh-CN" altLang="en-US"/>
          </a:p>
        </p:txBody>
      </p:sp>
      <p:sp>
        <p:nvSpPr>
          <p:cNvPr id="36877" name="AutoShape 35"/>
          <p:cNvSpPr>
            <a:spLocks noChangeArrowheads="1"/>
          </p:cNvSpPr>
          <p:nvPr/>
        </p:nvSpPr>
        <p:spPr bwMode="auto">
          <a:xfrm>
            <a:off x="4356100" y="3932238"/>
            <a:ext cx="215900" cy="288925"/>
          </a:xfrm>
          <a:prstGeom prst="smileyFace">
            <a:avLst>
              <a:gd name="adj" fmla="val 4653"/>
            </a:avLst>
          </a:prstGeom>
          <a:solidFill>
            <a:schemeClr val="hlink"/>
          </a:solidFill>
          <a:ln w="9525">
            <a:solidFill>
              <a:schemeClr val="tx1"/>
            </a:solidFill>
            <a:miter lim="800000"/>
            <a:headEnd/>
            <a:tailEnd/>
          </a:ln>
        </p:spPr>
        <p:txBody>
          <a:bodyPr wrap="none" anchor="ctr"/>
          <a:lstStyle/>
          <a:p>
            <a:endParaRPr lang="zh-CN" altLang="en-US"/>
          </a:p>
        </p:txBody>
      </p:sp>
      <p:sp>
        <p:nvSpPr>
          <p:cNvPr id="36878" name="AutoShape 36"/>
          <p:cNvSpPr>
            <a:spLocks noChangeArrowheads="1"/>
          </p:cNvSpPr>
          <p:nvPr/>
        </p:nvSpPr>
        <p:spPr bwMode="auto">
          <a:xfrm>
            <a:off x="4572000" y="4149725"/>
            <a:ext cx="215900" cy="288925"/>
          </a:xfrm>
          <a:prstGeom prst="smileyFace">
            <a:avLst>
              <a:gd name="adj" fmla="val 4653"/>
            </a:avLst>
          </a:prstGeom>
          <a:solidFill>
            <a:schemeClr val="hlink"/>
          </a:solidFill>
          <a:ln w="9525">
            <a:solidFill>
              <a:schemeClr val="tx1"/>
            </a:solidFill>
            <a:miter lim="800000"/>
            <a:headEnd/>
            <a:tailEnd/>
          </a:ln>
        </p:spPr>
        <p:txBody>
          <a:bodyPr wrap="none" anchor="ctr"/>
          <a:lstStyle/>
          <a:p>
            <a:endParaRPr lang="zh-CN" altLang="en-US"/>
          </a:p>
        </p:txBody>
      </p:sp>
      <p:sp>
        <p:nvSpPr>
          <p:cNvPr id="36879" name="AutoShape 37"/>
          <p:cNvSpPr>
            <a:spLocks noChangeArrowheads="1"/>
          </p:cNvSpPr>
          <p:nvPr/>
        </p:nvSpPr>
        <p:spPr bwMode="auto">
          <a:xfrm>
            <a:off x="4429125" y="3500438"/>
            <a:ext cx="215900" cy="288925"/>
          </a:xfrm>
          <a:prstGeom prst="smileyFace">
            <a:avLst>
              <a:gd name="adj" fmla="val 4653"/>
            </a:avLst>
          </a:prstGeom>
          <a:solidFill>
            <a:schemeClr val="hlink"/>
          </a:solidFill>
          <a:ln w="9525">
            <a:solidFill>
              <a:schemeClr val="tx1"/>
            </a:solidFill>
            <a:miter lim="800000"/>
            <a:headEnd/>
            <a:tailEnd/>
          </a:ln>
        </p:spPr>
        <p:txBody>
          <a:bodyPr wrap="none" anchor="ctr"/>
          <a:lstStyle/>
          <a:p>
            <a:endParaRPr lang="zh-CN" altLang="en-US"/>
          </a:p>
        </p:txBody>
      </p:sp>
      <p:sp>
        <p:nvSpPr>
          <p:cNvPr id="36880" name="AutoShape 38"/>
          <p:cNvSpPr>
            <a:spLocks noChangeArrowheads="1"/>
          </p:cNvSpPr>
          <p:nvPr/>
        </p:nvSpPr>
        <p:spPr bwMode="auto">
          <a:xfrm>
            <a:off x="3708400" y="3500438"/>
            <a:ext cx="215900" cy="288925"/>
          </a:xfrm>
          <a:prstGeom prst="smileyFace">
            <a:avLst>
              <a:gd name="adj" fmla="val 4653"/>
            </a:avLst>
          </a:prstGeom>
          <a:solidFill>
            <a:schemeClr val="hlink"/>
          </a:solidFill>
          <a:ln w="9525">
            <a:solidFill>
              <a:schemeClr val="tx1"/>
            </a:solidFill>
            <a:miter lim="800000"/>
            <a:headEnd/>
            <a:tailEnd/>
          </a:ln>
        </p:spPr>
        <p:txBody>
          <a:bodyPr wrap="none" anchor="ctr"/>
          <a:lstStyle/>
          <a:p>
            <a:endParaRPr lang="zh-CN" altLang="en-US"/>
          </a:p>
        </p:txBody>
      </p:sp>
      <p:sp>
        <p:nvSpPr>
          <p:cNvPr id="36881" name="AutoShape 39"/>
          <p:cNvSpPr>
            <a:spLocks noChangeArrowheads="1"/>
          </p:cNvSpPr>
          <p:nvPr/>
        </p:nvSpPr>
        <p:spPr bwMode="auto">
          <a:xfrm>
            <a:off x="3421063" y="3213100"/>
            <a:ext cx="215900" cy="288925"/>
          </a:xfrm>
          <a:prstGeom prst="smileyFace">
            <a:avLst>
              <a:gd name="adj" fmla="val 4653"/>
            </a:avLst>
          </a:prstGeom>
          <a:solidFill>
            <a:schemeClr val="hlink"/>
          </a:solidFill>
          <a:ln w="9525">
            <a:solidFill>
              <a:schemeClr val="tx1"/>
            </a:solidFill>
            <a:miter lim="800000"/>
            <a:headEnd/>
            <a:tailEnd/>
          </a:ln>
        </p:spPr>
        <p:txBody>
          <a:bodyPr wrap="none" anchor="ctr"/>
          <a:lstStyle/>
          <a:p>
            <a:endParaRPr lang="zh-CN" altLang="en-US"/>
          </a:p>
        </p:txBody>
      </p:sp>
      <p:sp>
        <p:nvSpPr>
          <p:cNvPr id="36882" name="AutoShape 40"/>
          <p:cNvSpPr>
            <a:spLocks noChangeArrowheads="1"/>
          </p:cNvSpPr>
          <p:nvPr/>
        </p:nvSpPr>
        <p:spPr bwMode="auto">
          <a:xfrm>
            <a:off x="3060700" y="3284538"/>
            <a:ext cx="215900" cy="288925"/>
          </a:xfrm>
          <a:prstGeom prst="smileyFace">
            <a:avLst>
              <a:gd name="adj" fmla="val 4653"/>
            </a:avLst>
          </a:prstGeom>
          <a:solidFill>
            <a:schemeClr val="hlink"/>
          </a:solidFill>
          <a:ln w="9525">
            <a:solidFill>
              <a:schemeClr val="tx1"/>
            </a:solidFill>
            <a:miter lim="800000"/>
            <a:headEnd/>
            <a:tailEnd/>
          </a:ln>
        </p:spPr>
        <p:txBody>
          <a:bodyPr wrap="none" anchor="ctr"/>
          <a:lstStyle/>
          <a:p>
            <a:endParaRPr lang="zh-CN" altLang="en-US"/>
          </a:p>
        </p:txBody>
      </p:sp>
      <p:sp>
        <p:nvSpPr>
          <p:cNvPr id="36883" name="AutoShape 41"/>
          <p:cNvSpPr>
            <a:spLocks noChangeArrowheads="1"/>
          </p:cNvSpPr>
          <p:nvPr/>
        </p:nvSpPr>
        <p:spPr bwMode="auto">
          <a:xfrm>
            <a:off x="2413000" y="3429000"/>
            <a:ext cx="215900" cy="288925"/>
          </a:xfrm>
          <a:prstGeom prst="smileyFace">
            <a:avLst>
              <a:gd name="adj" fmla="val 4653"/>
            </a:avLst>
          </a:prstGeom>
          <a:solidFill>
            <a:schemeClr val="hlink"/>
          </a:solidFill>
          <a:ln w="9525">
            <a:solidFill>
              <a:schemeClr val="tx1"/>
            </a:solidFill>
            <a:miter lim="800000"/>
            <a:headEnd/>
            <a:tailEnd/>
          </a:ln>
        </p:spPr>
        <p:txBody>
          <a:bodyPr wrap="none" anchor="ctr"/>
          <a:lstStyle/>
          <a:p>
            <a:endParaRPr lang="zh-CN" altLang="en-US"/>
          </a:p>
        </p:txBody>
      </p:sp>
      <p:sp>
        <p:nvSpPr>
          <p:cNvPr id="36884" name="AutoShape 42"/>
          <p:cNvSpPr>
            <a:spLocks noChangeArrowheads="1"/>
          </p:cNvSpPr>
          <p:nvPr/>
        </p:nvSpPr>
        <p:spPr bwMode="auto">
          <a:xfrm>
            <a:off x="3276600" y="5516563"/>
            <a:ext cx="215900" cy="288925"/>
          </a:xfrm>
          <a:prstGeom prst="smileyFace">
            <a:avLst>
              <a:gd name="adj" fmla="val 4653"/>
            </a:avLst>
          </a:prstGeom>
          <a:solidFill>
            <a:schemeClr val="hlink"/>
          </a:solidFill>
          <a:ln w="9525">
            <a:solidFill>
              <a:schemeClr val="tx1"/>
            </a:solidFill>
            <a:miter lim="800000"/>
            <a:headEnd/>
            <a:tailEnd/>
          </a:ln>
        </p:spPr>
        <p:txBody>
          <a:bodyPr wrap="none" anchor="ctr"/>
          <a:lstStyle/>
          <a:p>
            <a:endParaRPr lang="zh-CN" altLang="en-US"/>
          </a:p>
        </p:txBody>
      </p:sp>
      <p:sp>
        <p:nvSpPr>
          <p:cNvPr id="36885" name="AutoShape 43"/>
          <p:cNvSpPr>
            <a:spLocks noChangeArrowheads="1"/>
          </p:cNvSpPr>
          <p:nvPr/>
        </p:nvSpPr>
        <p:spPr bwMode="auto">
          <a:xfrm>
            <a:off x="2484438" y="4437063"/>
            <a:ext cx="215900" cy="288925"/>
          </a:xfrm>
          <a:prstGeom prst="smileyFace">
            <a:avLst>
              <a:gd name="adj" fmla="val 4653"/>
            </a:avLst>
          </a:prstGeom>
          <a:solidFill>
            <a:schemeClr val="hlink"/>
          </a:solidFill>
          <a:ln w="9525">
            <a:solidFill>
              <a:schemeClr val="tx1"/>
            </a:solidFill>
            <a:miter lim="800000"/>
            <a:headEnd/>
            <a:tailEnd/>
          </a:ln>
        </p:spPr>
        <p:txBody>
          <a:bodyPr wrap="none" anchor="ctr"/>
          <a:lstStyle/>
          <a:p>
            <a:endParaRPr lang="zh-CN" altLang="en-US"/>
          </a:p>
        </p:txBody>
      </p:sp>
      <p:sp>
        <p:nvSpPr>
          <p:cNvPr id="36886" name="AutoShape 44"/>
          <p:cNvSpPr>
            <a:spLocks noChangeArrowheads="1"/>
          </p:cNvSpPr>
          <p:nvPr/>
        </p:nvSpPr>
        <p:spPr bwMode="auto">
          <a:xfrm>
            <a:off x="2773363" y="4581525"/>
            <a:ext cx="215900" cy="288925"/>
          </a:xfrm>
          <a:prstGeom prst="smileyFace">
            <a:avLst>
              <a:gd name="adj" fmla="val 4653"/>
            </a:avLst>
          </a:prstGeom>
          <a:solidFill>
            <a:schemeClr val="hlink"/>
          </a:solidFill>
          <a:ln w="9525">
            <a:solidFill>
              <a:schemeClr val="tx1"/>
            </a:solidFill>
            <a:miter lim="800000"/>
            <a:headEnd/>
            <a:tailEnd/>
          </a:ln>
        </p:spPr>
        <p:txBody>
          <a:bodyPr wrap="none" anchor="ctr"/>
          <a:lstStyle/>
          <a:p>
            <a:endParaRPr lang="zh-CN" altLang="en-US"/>
          </a:p>
        </p:txBody>
      </p:sp>
      <p:sp>
        <p:nvSpPr>
          <p:cNvPr id="36887" name="AutoShape 45"/>
          <p:cNvSpPr>
            <a:spLocks noChangeArrowheads="1"/>
          </p:cNvSpPr>
          <p:nvPr/>
        </p:nvSpPr>
        <p:spPr bwMode="auto">
          <a:xfrm>
            <a:off x="3636963" y="4435475"/>
            <a:ext cx="215900" cy="288925"/>
          </a:xfrm>
          <a:prstGeom prst="smileyFace">
            <a:avLst>
              <a:gd name="adj" fmla="val 4653"/>
            </a:avLst>
          </a:prstGeom>
          <a:solidFill>
            <a:schemeClr val="hlink"/>
          </a:solidFill>
          <a:ln w="9525">
            <a:solidFill>
              <a:schemeClr val="tx1"/>
            </a:solidFill>
            <a:miter lim="800000"/>
            <a:headEnd/>
            <a:tailEnd/>
          </a:ln>
        </p:spPr>
        <p:txBody>
          <a:bodyPr wrap="none" anchor="ctr"/>
          <a:lstStyle/>
          <a:p>
            <a:endParaRPr lang="zh-CN" altLang="en-US"/>
          </a:p>
        </p:txBody>
      </p:sp>
      <p:sp>
        <p:nvSpPr>
          <p:cNvPr id="36888" name="AutoShape 46"/>
          <p:cNvSpPr>
            <a:spLocks noChangeArrowheads="1"/>
          </p:cNvSpPr>
          <p:nvPr/>
        </p:nvSpPr>
        <p:spPr bwMode="auto">
          <a:xfrm>
            <a:off x="2989263" y="5011738"/>
            <a:ext cx="215900" cy="288925"/>
          </a:xfrm>
          <a:prstGeom prst="smileyFace">
            <a:avLst>
              <a:gd name="adj" fmla="val 4653"/>
            </a:avLst>
          </a:prstGeom>
          <a:solidFill>
            <a:schemeClr val="hlink"/>
          </a:solidFill>
          <a:ln w="9525">
            <a:solidFill>
              <a:schemeClr val="tx1"/>
            </a:solidFill>
            <a:miter lim="800000"/>
            <a:headEnd/>
            <a:tailEnd/>
          </a:ln>
        </p:spPr>
        <p:txBody>
          <a:bodyPr wrap="none" anchor="ctr"/>
          <a:lstStyle/>
          <a:p>
            <a:endParaRPr lang="zh-CN" altLang="en-US"/>
          </a:p>
        </p:txBody>
      </p:sp>
      <p:sp>
        <p:nvSpPr>
          <p:cNvPr id="36889" name="AutoShape 47"/>
          <p:cNvSpPr>
            <a:spLocks noChangeArrowheads="1"/>
          </p:cNvSpPr>
          <p:nvPr/>
        </p:nvSpPr>
        <p:spPr bwMode="auto">
          <a:xfrm>
            <a:off x="2339975" y="4868863"/>
            <a:ext cx="215900" cy="288925"/>
          </a:xfrm>
          <a:prstGeom prst="smileyFace">
            <a:avLst>
              <a:gd name="adj" fmla="val 4653"/>
            </a:avLst>
          </a:prstGeom>
          <a:solidFill>
            <a:schemeClr val="hlink"/>
          </a:solidFill>
          <a:ln w="9525">
            <a:solidFill>
              <a:schemeClr val="tx1"/>
            </a:solidFill>
            <a:miter lim="800000"/>
            <a:headEnd/>
            <a:tailEnd/>
          </a:ln>
        </p:spPr>
        <p:txBody>
          <a:bodyPr wrap="none" anchor="ctr"/>
          <a:lstStyle/>
          <a:p>
            <a:endParaRPr lang="zh-CN" altLang="en-US"/>
          </a:p>
        </p:txBody>
      </p:sp>
      <p:sp>
        <p:nvSpPr>
          <p:cNvPr id="36890" name="AutoShape 48"/>
          <p:cNvSpPr>
            <a:spLocks noChangeArrowheads="1"/>
          </p:cNvSpPr>
          <p:nvPr/>
        </p:nvSpPr>
        <p:spPr bwMode="auto">
          <a:xfrm>
            <a:off x="2700338" y="5157788"/>
            <a:ext cx="215900" cy="288925"/>
          </a:xfrm>
          <a:prstGeom prst="smileyFace">
            <a:avLst>
              <a:gd name="adj" fmla="val 4653"/>
            </a:avLst>
          </a:prstGeom>
          <a:solidFill>
            <a:schemeClr val="hlink"/>
          </a:solidFill>
          <a:ln w="9525">
            <a:solidFill>
              <a:schemeClr val="tx1"/>
            </a:solidFill>
            <a:miter lim="800000"/>
            <a:headEnd/>
            <a:tailEnd/>
          </a:ln>
        </p:spPr>
        <p:txBody>
          <a:bodyPr wrap="none" anchor="ctr"/>
          <a:lstStyle/>
          <a:p>
            <a:endParaRPr lang="zh-CN" altLang="en-US"/>
          </a:p>
        </p:txBody>
      </p:sp>
      <p:sp>
        <p:nvSpPr>
          <p:cNvPr id="36891" name="AutoShape 49"/>
          <p:cNvSpPr>
            <a:spLocks noChangeArrowheads="1"/>
          </p:cNvSpPr>
          <p:nvPr/>
        </p:nvSpPr>
        <p:spPr bwMode="auto">
          <a:xfrm>
            <a:off x="3563938" y="4940300"/>
            <a:ext cx="215900" cy="288925"/>
          </a:xfrm>
          <a:prstGeom prst="smileyFace">
            <a:avLst>
              <a:gd name="adj" fmla="val 4653"/>
            </a:avLst>
          </a:prstGeom>
          <a:solidFill>
            <a:schemeClr val="hlink"/>
          </a:solidFill>
          <a:ln w="9525">
            <a:solidFill>
              <a:schemeClr val="tx1"/>
            </a:solidFill>
            <a:miter lim="800000"/>
            <a:headEnd/>
            <a:tailEnd/>
          </a:ln>
        </p:spPr>
        <p:txBody>
          <a:bodyPr wrap="none" anchor="ctr"/>
          <a:lstStyle/>
          <a:p>
            <a:endParaRPr lang="zh-CN" altLang="en-US"/>
          </a:p>
        </p:txBody>
      </p:sp>
      <p:sp>
        <p:nvSpPr>
          <p:cNvPr id="36892" name="AutoShape 50"/>
          <p:cNvSpPr>
            <a:spLocks noChangeArrowheads="1"/>
          </p:cNvSpPr>
          <p:nvPr/>
        </p:nvSpPr>
        <p:spPr bwMode="auto">
          <a:xfrm>
            <a:off x="3924300" y="5229225"/>
            <a:ext cx="215900" cy="288925"/>
          </a:xfrm>
          <a:prstGeom prst="smileyFace">
            <a:avLst>
              <a:gd name="adj" fmla="val 4653"/>
            </a:avLst>
          </a:prstGeom>
          <a:solidFill>
            <a:schemeClr val="hlink"/>
          </a:solidFill>
          <a:ln w="9525">
            <a:solidFill>
              <a:schemeClr val="tx1"/>
            </a:solidFill>
            <a:miter lim="800000"/>
            <a:headEnd/>
            <a:tailEnd/>
          </a:ln>
        </p:spPr>
        <p:txBody>
          <a:bodyPr wrap="none" anchor="ctr"/>
          <a:lstStyle/>
          <a:p>
            <a:endParaRPr lang="zh-CN" altLang="en-US"/>
          </a:p>
        </p:txBody>
      </p:sp>
      <p:sp>
        <p:nvSpPr>
          <p:cNvPr id="36893" name="AutoShape 51"/>
          <p:cNvSpPr>
            <a:spLocks noChangeArrowheads="1"/>
          </p:cNvSpPr>
          <p:nvPr/>
        </p:nvSpPr>
        <p:spPr bwMode="auto">
          <a:xfrm>
            <a:off x="4284663" y="4868863"/>
            <a:ext cx="215900" cy="215900"/>
          </a:xfrm>
          <a:prstGeom prst="smileyFace">
            <a:avLst>
              <a:gd name="adj" fmla="val 4653"/>
            </a:avLst>
          </a:prstGeom>
          <a:solidFill>
            <a:srgbClr val="FFCC00"/>
          </a:solidFill>
          <a:ln w="9525">
            <a:solidFill>
              <a:schemeClr val="tx1"/>
            </a:solidFill>
            <a:miter lim="800000"/>
            <a:headEnd/>
            <a:tailEnd/>
          </a:ln>
        </p:spPr>
        <p:txBody>
          <a:bodyPr wrap="none" anchor="ctr"/>
          <a:lstStyle/>
          <a:p>
            <a:endParaRPr lang="zh-CN" altLang="en-US"/>
          </a:p>
        </p:txBody>
      </p:sp>
      <p:sp>
        <p:nvSpPr>
          <p:cNvPr id="36894" name="AutoShape 52"/>
          <p:cNvSpPr>
            <a:spLocks noChangeArrowheads="1"/>
          </p:cNvSpPr>
          <p:nvPr/>
        </p:nvSpPr>
        <p:spPr bwMode="auto">
          <a:xfrm>
            <a:off x="2989263" y="4581525"/>
            <a:ext cx="215900" cy="287338"/>
          </a:xfrm>
          <a:prstGeom prst="smileyFace">
            <a:avLst>
              <a:gd name="adj" fmla="val 4653"/>
            </a:avLst>
          </a:prstGeom>
          <a:solidFill>
            <a:srgbClr val="FFCC00"/>
          </a:solidFill>
          <a:ln w="9525">
            <a:solidFill>
              <a:schemeClr val="tx1"/>
            </a:solidFill>
            <a:miter lim="800000"/>
            <a:headEnd/>
            <a:tailEnd/>
          </a:ln>
        </p:spPr>
        <p:txBody>
          <a:bodyPr wrap="none" anchor="ctr"/>
          <a:lstStyle/>
          <a:p>
            <a:endParaRPr lang="zh-CN" altLang="en-US"/>
          </a:p>
        </p:txBody>
      </p:sp>
      <p:sp>
        <p:nvSpPr>
          <p:cNvPr id="36895" name="AutoShape 53"/>
          <p:cNvSpPr>
            <a:spLocks noChangeArrowheads="1"/>
          </p:cNvSpPr>
          <p:nvPr/>
        </p:nvSpPr>
        <p:spPr bwMode="auto">
          <a:xfrm>
            <a:off x="2701925" y="3500438"/>
            <a:ext cx="287338" cy="287337"/>
          </a:xfrm>
          <a:prstGeom prst="smileyFace">
            <a:avLst>
              <a:gd name="adj" fmla="val 4653"/>
            </a:avLst>
          </a:prstGeom>
          <a:solidFill>
            <a:srgbClr val="FFCC00"/>
          </a:solidFill>
          <a:ln w="9525">
            <a:solidFill>
              <a:schemeClr val="tx1"/>
            </a:solidFill>
            <a:miter lim="800000"/>
            <a:headEnd/>
            <a:tailEnd/>
          </a:ln>
        </p:spPr>
        <p:txBody>
          <a:bodyPr wrap="none" anchor="ctr"/>
          <a:lstStyle/>
          <a:p>
            <a:endParaRPr lang="zh-CN" altLang="en-US"/>
          </a:p>
        </p:txBody>
      </p:sp>
      <p:sp>
        <p:nvSpPr>
          <p:cNvPr id="36896" name="AutoShape 54"/>
          <p:cNvSpPr>
            <a:spLocks noChangeArrowheads="1"/>
          </p:cNvSpPr>
          <p:nvPr/>
        </p:nvSpPr>
        <p:spPr bwMode="auto">
          <a:xfrm>
            <a:off x="2197100" y="3716338"/>
            <a:ext cx="287338" cy="287337"/>
          </a:xfrm>
          <a:prstGeom prst="smileyFace">
            <a:avLst>
              <a:gd name="adj" fmla="val 4653"/>
            </a:avLst>
          </a:prstGeom>
          <a:solidFill>
            <a:srgbClr val="FFCC00"/>
          </a:solidFill>
          <a:ln w="9525">
            <a:solidFill>
              <a:schemeClr val="tx1"/>
            </a:solidFill>
            <a:miter lim="800000"/>
            <a:headEnd/>
            <a:tailEnd/>
          </a:ln>
        </p:spPr>
        <p:txBody>
          <a:bodyPr wrap="none" anchor="ctr"/>
          <a:lstStyle/>
          <a:p>
            <a:endParaRPr lang="zh-CN" altLang="en-US"/>
          </a:p>
        </p:txBody>
      </p:sp>
      <p:sp>
        <p:nvSpPr>
          <p:cNvPr id="36897" name="AutoShape 55"/>
          <p:cNvSpPr>
            <a:spLocks noChangeArrowheads="1"/>
          </p:cNvSpPr>
          <p:nvPr/>
        </p:nvSpPr>
        <p:spPr bwMode="auto">
          <a:xfrm>
            <a:off x="2052638" y="4437063"/>
            <a:ext cx="287337" cy="287337"/>
          </a:xfrm>
          <a:prstGeom prst="smileyFace">
            <a:avLst>
              <a:gd name="adj" fmla="val 4653"/>
            </a:avLst>
          </a:prstGeom>
          <a:solidFill>
            <a:srgbClr val="FFCC00"/>
          </a:solidFill>
          <a:ln w="9525">
            <a:solidFill>
              <a:schemeClr val="tx1"/>
            </a:solidFill>
            <a:miter lim="800000"/>
            <a:headEnd/>
            <a:tailEnd/>
          </a:ln>
        </p:spPr>
        <p:txBody>
          <a:bodyPr wrap="none" anchor="ctr"/>
          <a:lstStyle/>
          <a:p>
            <a:endParaRPr lang="zh-CN" altLang="en-US"/>
          </a:p>
        </p:txBody>
      </p:sp>
      <p:sp>
        <p:nvSpPr>
          <p:cNvPr id="36898" name="AutoShape 56"/>
          <p:cNvSpPr>
            <a:spLocks noChangeArrowheads="1"/>
          </p:cNvSpPr>
          <p:nvPr/>
        </p:nvSpPr>
        <p:spPr bwMode="auto">
          <a:xfrm>
            <a:off x="3205163" y="5157788"/>
            <a:ext cx="287337" cy="287337"/>
          </a:xfrm>
          <a:prstGeom prst="smileyFace">
            <a:avLst>
              <a:gd name="adj" fmla="val 4653"/>
            </a:avLst>
          </a:prstGeom>
          <a:solidFill>
            <a:srgbClr val="FFCC00"/>
          </a:solidFill>
          <a:ln w="9525">
            <a:solidFill>
              <a:schemeClr val="tx1"/>
            </a:solidFill>
            <a:miter lim="800000"/>
            <a:headEnd/>
            <a:tailEnd/>
          </a:ln>
        </p:spPr>
        <p:txBody>
          <a:bodyPr wrap="none" anchor="ctr"/>
          <a:lstStyle/>
          <a:p>
            <a:endParaRPr lang="zh-CN" altLang="en-US"/>
          </a:p>
        </p:txBody>
      </p:sp>
      <p:sp>
        <p:nvSpPr>
          <p:cNvPr id="36899" name="AutoShape 57"/>
          <p:cNvSpPr>
            <a:spLocks noChangeArrowheads="1"/>
          </p:cNvSpPr>
          <p:nvPr/>
        </p:nvSpPr>
        <p:spPr bwMode="auto">
          <a:xfrm>
            <a:off x="3924300" y="4724400"/>
            <a:ext cx="287338" cy="287338"/>
          </a:xfrm>
          <a:prstGeom prst="smileyFace">
            <a:avLst>
              <a:gd name="adj" fmla="val 4653"/>
            </a:avLst>
          </a:prstGeom>
          <a:solidFill>
            <a:srgbClr val="FFCC00"/>
          </a:solidFill>
          <a:ln w="9525">
            <a:solidFill>
              <a:schemeClr val="tx1"/>
            </a:solidFill>
            <a:miter lim="800000"/>
            <a:headEnd/>
            <a:tailEnd/>
          </a:ln>
        </p:spPr>
        <p:txBody>
          <a:bodyPr wrap="none" anchor="ctr"/>
          <a:lstStyle/>
          <a:p>
            <a:endParaRPr lang="zh-CN" altLang="en-US"/>
          </a:p>
        </p:txBody>
      </p:sp>
      <p:sp>
        <p:nvSpPr>
          <p:cNvPr id="36900" name="AutoShape 58"/>
          <p:cNvSpPr>
            <a:spLocks noChangeArrowheads="1"/>
          </p:cNvSpPr>
          <p:nvPr/>
        </p:nvSpPr>
        <p:spPr bwMode="auto">
          <a:xfrm>
            <a:off x="3997325" y="3932238"/>
            <a:ext cx="287338" cy="287337"/>
          </a:xfrm>
          <a:prstGeom prst="smileyFace">
            <a:avLst>
              <a:gd name="adj" fmla="val 4653"/>
            </a:avLst>
          </a:prstGeom>
          <a:solidFill>
            <a:srgbClr val="FFCC00"/>
          </a:solidFill>
          <a:ln w="9525">
            <a:solidFill>
              <a:schemeClr val="tx1"/>
            </a:solidFill>
            <a:miter lim="800000"/>
            <a:headEnd/>
            <a:tailEnd/>
          </a:ln>
        </p:spPr>
        <p:txBody>
          <a:bodyPr wrap="none" anchor="ctr"/>
          <a:lstStyle/>
          <a:p>
            <a:endParaRPr lang="zh-CN" altLang="en-US"/>
          </a:p>
        </p:txBody>
      </p:sp>
      <p:sp>
        <p:nvSpPr>
          <p:cNvPr id="36901" name="AutoShape 59"/>
          <p:cNvSpPr>
            <a:spLocks noChangeArrowheads="1"/>
          </p:cNvSpPr>
          <p:nvPr/>
        </p:nvSpPr>
        <p:spPr bwMode="auto">
          <a:xfrm>
            <a:off x="3997325" y="3213100"/>
            <a:ext cx="287338" cy="287338"/>
          </a:xfrm>
          <a:prstGeom prst="smileyFace">
            <a:avLst>
              <a:gd name="adj" fmla="val 4653"/>
            </a:avLst>
          </a:prstGeom>
          <a:solidFill>
            <a:srgbClr val="FFCC00"/>
          </a:solidFill>
          <a:ln w="9525">
            <a:solidFill>
              <a:schemeClr val="tx1"/>
            </a:solidFill>
            <a:miter lim="800000"/>
            <a:headEnd/>
            <a:tailEnd/>
          </a:ln>
        </p:spPr>
        <p:txBody>
          <a:bodyPr wrap="none" anchor="ctr"/>
          <a:lstStyle/>
          <a:p>
            <a:endParaRPr lang="zh-CN" altLang="en-US"/>
          </a:p>
        </p:txBody>
      </p:sp>
      <p:sp>
        <p:nvSpPr>
          <p:cNvPr id="36902" name="AutoShape 60"/>
          <p:cNvSpPr>
            <a:spLocks noChangeArrowheads="1"/>
          </p:cNvSpPr>
          <p:nvPr/>
        </p:nvSpPr>
        <p:spPr bwMode="auto">
          <a:xfrm>
            <a:off x="2916238" y="5516563"/>
            <a:ext cx="287337" cy="287337"/>
          </a:xfrm>
          <a:prstGeom prst="smileyFace">
            <a:avLst>
              <a:gd name="adj" fmla="val 4653"/>
            </a:avLst>
          </a:prstGeom>
          <a:solidFill>
            <a:srgbClr val="FFCC00"/>
          </a:solidFill>
          <a:ln w="9525">
            <a:solidFill>
              <a:schemeClr val="tx1"/>
            </a:solidFill>
            <a:miter lim="800000"/>
            <a:headEnd/>
            <a:tailEnd/>
          </a:ln>
        </p:spPr>
        <p:txBody>
          <a:bodyPr wrap="none" anchor="ctr"/>
          <a:lstStyle/>
          <a:p>
            <a:endParaRPr lang="zh-CN" altLang="en-US"/>
          </a:p>
        </p:txBody>
      </p:sp>
      <p:sp>
        <p:nvSpPr>
          <p:cNvPr id="36903" name="AutoShape 61"/>
          <p:cNvSpPr>
            <a:spLocks noChangeArrowheads="1"/>
          </p:cNvSpPr>
          <p:nvPr/>
        </p:nvSpPr>
        <p:spPr bwMode="auto">
          <a:xfrm>
            <a:off x="3348038" y="4651375"/>
            <a:ext cx="215900" cy="288925"/>
          </a:xfrm>
          <a:prstGeom prst="smileyFace">
            <a:avLst>
              <a:gd name="adj" fmla="val 4653"/>
            </a:avLst>
          </a:prstGeom>
          <a:solidFill>
            <a:schemeClr val="bg2"/>
          </a:solidFill>
          <a:ln w="9525">
            <a:solidFill>
              <a:schemeClr val="tx1"/>
            </a:solidFill>
            <a:miter lim="800000"/>
            <a:headEnd/>
            <a:tailEnd/>
          </a:ln>
        </p:spPr>
        <p:txBody>
          <a:bodyPr wrap="none" anchor="ctr"/>
          <a:lstStyle/>
          <a:p>
            <a:endParaRPr lang="zh-CN" altLang="en-US"/>
          </a:p>
        </p:txBody>
      </p:sp>
      <p:sp>
        <p:nvSpPr>
          <p:cNvPr id="36904" name="AutoShape 62"/>
          <p:cNvSpPr>
            <a:spLocks noChangeArrowheads="1"/>
          </p:cNvSpPr>
          <p:nvPr/>
        </p:nvSpPr>
        <p:spPr bwMode="auto">
          <a:xfrm>
            <a:off x="3924300" y="4437063"/>
            <a:ext cx="215900" cy="288925"/>
          </a:xfrm>
          <a:prstGeom prst="smileyFace">
            <a:avLst>
              <a:gd name="adj" fmla="val 4653"/>
            </a:avLst>
          </a:prstGeom>
          <a:solidFill>
            <a:schemeClr val="bg2"/>
          </a:solidFill>
          <a:ln w="9525">
            <a:solidFill>
              <a:schemeClr val="tx1"/>
            </a:solidFill>
            <a:miter lim="800000"/>
            <a:headEnd/>
            <a:tailEnd/>
          </a:ln>
        </p:spPr>
        <p:txBody>
          <a:bodyPr wrap="none" anchor="ctr"/>
          <a:lstStyle/>
          <a:p>
            <a:endParaRPr lang="zh-CN" altLang="en-US"/>
          </a:p>
        </p:txBody>
      </p:sp>
      <p:sp>
        <p:nvSpPr>
          <p:cNvPr id="36905" name="AutoShape 63"/>
          <p:cNvSpPr>
            <a:spLocks noChangeArrowheads="1"/>
          </p:cNvSpPr>
          <p:nvPr/>
        </p:nvSpPr>
        <p:spPr bwMode="auto">
          <a:xfrm>
            <a:off x="4645025" y="4652963"/>
            <a:ext cx="215900" cy="288925"/>
          </a:xfrm>
          <a:prstGeom prst="smileyFace">
            <a:avLst>
              <a:gd name="adj" fmla="val 4653"/>
            </a:avLst>
          </a:prstGeom>
          <a:solidFill>
            <a:schemeClr val="bg2"/>
          </a:solidFill>
          <a:ln w="9525">
            <a:solidFill>
              <a:schemeClr val="tx1"/>
            </a:solidFill>
            <a:miter lim="800000"/>
            <a:headEnd/>
            <a:tailEnd/>
          </a:ln>
        </p:spPr>
        <p:txBody>
          <a:bodyPr wrap="none" anchor="ctr"/>
          <a:lstStyle/>
          <a:p>
            <a:endParaRPr lang="zh-CN" altLang="en-US"/>
          </a:p>
        </p:txBody>
      </p:sp>
      <p:sp>
        <p:nvSpPr>
          <p:cNvPr id="36906" name="AutoShape 64"/>
          <p:cNvSpPr>
            <a:spLocks noChangeArrowheads="1"/>
          </p:cNvSpPr>
          <p:nvPr/>
        </p:nvSpPr>
        <p:spPr bwMode="auto">
          <a:xfrm>
            <a:off x="3563938" y="5516563"/>
            <a:ext cx="215900" cy="288925"/>
          </a:xfrm>
          <a:prstGeom prst="smileyFace">
            <a:avLst>
              <a:gd name="adj" fmla="val 4653"/>
            </a:avLst>
          </a:prstGeom>
          <a:solidFill>
            <a:schemeClr val="bg2"/>
          </a:solidFill>
          <a:ln w="9525">
            <a:solidFill>
              <a:schemeClr val="tx1"/>
            </a:solidFill>
            <a:miter lim="800000"/>
            <a:headEnd/>
            <a:tailEnd/>
          </a:ln>
        </p:spPr>
        <p:txBody>
          <a:bodyPr wrap="none" anchor="ctr"/>
          <a:lstStyle/>
          <a:p>
            <a:endParaRPr lang="zh-CN" altLang="en-US"/>
          </a:p>
        </p:txBody>
      </p:sp>
      <p:sp>
        <p:nvSpPr>
          <p:cNvPr id="36907" name="AutoShape 65"/>
          <p:cNvSpPr>
            <a:spLocks noChangeArrowheads="1"/>
          </p:cNvSpPr>
          <p:nvPr/>
        </p:nvSpPr>
        <p:spPr bwMode="auto">
          <a:xfrm>
            <a:off x="4429125" y="5157788"/>
            <a:ext cx="215900" cy="288925"/>
          </a:xfrm>
          <a:prstGeom prst="smileyFace">
            <a:avLst>
              <a:gd name="adj" fmla="val 4653"/>
            </a:avLst>
          </a:prstGeom>
          <a:solidFill>
            <a:schemeClr val="bg2"/>
          </a:solidFill>
          <a:ln w="9525">
            <a:solidFill>
              <a:schemeClr val="tx1"/>
            </a:solidFill>
            <a:miter lim="800000"/>
            <a:headEnd/>
            <a:tailEnd/>
          </a:ln>
        </p:spPr>
        <p:txBody>
          <a:bodyPr wrap="none" anchor="ctr"/>
          <a:lstStyle/>
          <a:p>
            <a:endParaRPr lang="zh-CN" altLang="en-US"/>
          </a:p>
        </p:txBody>
      </p:sp>
      <p:sp>
        <p:nvSpPr>
          <p:cNvPr id="36908" name="AutoShape 66"/>
          <p:cNvSpPr>
            <a:spLocks noChangeArrowheads="1"/>
          </p:cNvSpPr>
          <p:nvPr/>
        </p:nvSpPr>
        <p:spPr bwMode="auto">
          <a:xfrm>
            <a:off x="2413000" y="5300663"/>
            <a:ext cx="215900" cy="288925"/>
          </a:xfrm>
          <a:prstGeom prst="smileyFace">
            <a:avLst>
              <a:gd name="adj" fmla="val 4653"/>
            </a:avLst>
          </a:prstGeom>
          <a:solidFill>
            <a:schemeClr val="bg2"/>
          </a:solidFill>
          <a:ln w="9525">
            <a:solidFill>
              <a:schemeClr val="tx1"/>
            </a:solidFill>
            <a:miter lim="800000"/>
            <a:headEnd/>
            <a:tailEnd/>
          </a:ln>
        </p:spPr>
        <p:txBody>
          <a:bodyPr wrap="none" anchor="ctr"/>
          <a:lstStyle/>
          <a:p>
            <a:endParaRPr lang="zh-CN" altLang="en-US"/>
          </a:p>
        </p:txBody>
      </p:sp>
      <p:grpSp>
        <p:nvGrpSpPr>
          <p:cNvPr id="2" name="Group 67"/>
          <p:cNvGrpSpPr>
            <a:grpSpLocks/>
          </p:cNvGrpSpPr>
          <p:nvPr/>
        </p:nvGrpSpPr>
        <p:grpSpPr bwMode="auto">
          <a:xfrm>
            <a:off x="6589713" y="4365625"/>
            <a:ext cx="1738312" cy="1420813"/>
            <a:chOff x="3833" y="2614"/>
            <a:chExt cx="1095" cy="895"/>
          </a:xfrm>
        </p:grpSpPr>
        <p:sp>
          <p:nvSpPr>
            <p:cNvPr id="36916" name="Oval 68"/>
            <p:cNvSpPr>
              <a:spLocks noChangeArrowheads="1"/>
            </p:cNvSpPr>
            <p:nvPr/>
          </p:nvSpPr>
          <p:spPr bwMode="auto">
            <a:xfrm>
              <a:off x="3833" y="2614"/>
              <a:ext cx="1095" cy="895"/>
            </a:xfrm>
            <a:prstGeom prst="ellipse">
              <a:avLst/>
            </a:prstGeom>
            <a:gradFill rotWithShape="0">
              <a:gsLst>
                <a:gs pos="0">
                  <a:schemeClr val="accent1"/>
                </a:gs>
                <a:gs pos="100000">
                  <a:schemeClr val="bg1"/>
                </a:gs>
              </a:gsLst>
              <a:lin ang="5400000" scaled="1"/>
            </a:gradFill>
            <a:ln w="9525">
              <a:solidFill>
                <a:srgbClr val="FF0066"/>
              </a:solidFill>
              <a:round/>
              <a:headEnd/>
              <a:tailEnd/>
            </a:ln>
          </p:spPr>
          <p:txBody>
            <a:bodyPr wrap="none" anchor="ctr"/>
            <a:lstStyle/>
            <a:p>
              <a:endParaRPr lang="zh-CN" altLang="en-US"/>
            </a:p>
          </p:txBody>
        </p:sp>
        <p:sp>
          <p:nvSpPr>
            <p:cNvPr id="36917" name="AutoShape 69"/>
            <p:cNvSpPr>
              <a:spLocks noChangeArrowheads="1"/>
            </p:cNvSpPr>
            <p:nvPr/>
          </p:nvSpPr>
          <p:spPr bwMode="auto">
            <a:xfrm>
              <a:off x="3923" y="2976"/>
              <a:ext cx="136" cy="182"/>
            </a:xfrm>
            <a:prstGeom prst="smileyFace">
              <a:avLst>
                <a:gd name="adj" fmla="val 4653"/>
              </a:avLst>
            </a:prstGeom>
            <a:solidFill>
              <a:schemeClr val="hlink"/>
            </a:solidFill>
            <a:ln w="9525">
              <a:solidFill>
                <a:schemeClr val="tx1"/>
              </a:solidFill>
              <a:miter lim="800000"/>
              <a:headEnd/>
              <a:tailEnd/>
            </a:ln>
          </p:spPr>
          <p:txBody>
            <a:bodyPr wrap="none" anchor="ctr"/>
            <a:lstStyle/>
            <a:p>
              <a:endParaRPr lang="zh-CN" altLang="en-US"/>
            </a:p>
          </p:txBody>
        </p:sp>
        <p:sp>
          <p:nvSpPr>
            <p:cNvPr id="36918" name="AutoShape 70"/>
            <p:cNvSpPr>
              <a:spLocks noChangeArrowheads="1"/>
            </p:cNvSpPr>
            <p:nvPr/>
          </p:nvSpPr>
          <p:spPr bwMode="auto">
            <a:xfrm>
              <a:off x="4649" y="3158"/>
              <a:ext cx="136" cy="136"/>
            </a:xfrm>
            <a:prstGeom prst="smileyFace">
              <a:avLst>
                <a:gd name="adj" fmla="val 4653"/>
              </a:avLst>
            </a:prstGeom>
            <a:solidFill>
              <a:srgbClr val="FFCC00"/>
            </a:solidFill>
            <a:ln w="9525">
              <a:solidFill>
                <a:schemeClr val="tx1"/>
              </a:solidFill>
              <a:miter lim="800000"/>
              <a:headEnd/>
              <a:tailEnd/>
            </a:ln>
          </p:spPr>
          <p:txBody>
            <a:bodyPr wrap="none" anchor="ctr"/>
            <a:lstStyle/>
            <a:p>
              <a:endParaRPr lang="zh-CN" altLang="en-US"/>
            </a:p>
          </p:txBody>
        </p:sp>
        <p:sp>
          <p:nvSpPr>
            <p:cNvPr id="36919" name="AutoShape 71"/>
            <p:cNvSpPr>
              <a:spLocks noChangeArrowheads="1"/>
            </p:cNvSpPr>
            <p:nvPr/>
          </p:nvSpPr>
          <p:spPr bwMode="auto">
            <a:xfrm>
              <a:off x="4468" y="2840"/>
              <a:ext cx="136" cy="136"/>
            </a:xfrm>
            <a:prstGeom prst="smileyFace">
              <a:avLst>
                <a:gd name="adj" fmla="val 4653"/>
              </a:avLst>
            </a:prstGeom>
            <a:solidFill>
              <a:srgbClr val="FFCC00"/>
            </a:solidFill>
            <a:ln w="9525">
              <a:solidFill>
                <a:schemeClr val="tx1"/>
              </a:solidFill>
              <a:miter lim="800000"/>
              <a:headEnd/>
              <a:tailEnd/>
            </a:ln>
          </p:spPr>
          <p:txBody>
            <a:bodyPr wrap="none" anchor="ctr"/>
            <a:lstStyle/>
            <a:p>
              <a:endParaRPr lang="zh-CN" altLang="en-US"/>
            </a:p>
          </p:txBody>
        </p:sp>
        <p:sp>
          <p:nvSpPr>
            <p:cNvPr id="36920" name="AutoShape 72"/>
            <p:cNvSpPr>
              <a:spLocks noChangeArrowheads="1"/>
            </p:cNvSpPr>
            <p:nvPr/>
          </p:nvSpPr>
          <p:spPr bwMode="auto">
            <a:xfrm>
              <a:off x="4377" y="2659"/>
              <a:ext cx="136" cy="136"/>
            </a:xfrm>
            <a:prstGeom prst="smileyFace">
              <a:avLst>
                <a:gd name="adj" fmla="val 4653"/>
              </a:avLst>
            </a:prstGeom>
            <a:solidFill>
              <a:srgbClr val="FFCC00"/>
            </a:solidFill>
            <a:ln w="9525">
              <a:solidFill>
                <a:schemeClr val="tx1"/>
              </a:solidFill>
              <a:miter lim="800000"/>
              <a:headEnd/>
              <a:tailEnd/>
            </a:ln>
          </p:spPr>
          <p:txBody>
            <a:bodyPr wrap="none" anchor="ctr"/>
            <a:lstStyle/>
            <a:p>
              <a:endParaRPr lang="zh-CN" altLang="en-US"/>
            </a:p>
          </p:txBody>
        </p:sp>
        <p:sp>
          <p:nvSpPr>
            <p:cNvPr id="36921" name="AutoShape 73"/>
            <p:cNvSpPr>
              <a:spLocks noChangeArrowheads="1"/>
            </p:cNvSpPr>
            <p:nvPr/>
          </p:nvSpPr>
          <p:spPr bwMode="auto">
            <a:xfrm>
              <a:off x="4694" y="2931"/>
              <a:ext cx="136" cy="182"/>
            </a:xfrm>
            <a:prstGeom prst="smileyFace">
              <a:avLst>
                <a:gd name="adj" fmla="val 4653"/>
              </a:avLst>
            </a:prstGeom>
            <a:solidFill>
              <a:schemeClr val="hlink"/>
            </a:solidFill>
            <a:ln w="9525">
              <a:solidFill>
                <a:schemeClr val="tx1"/>
              </a:solidFill>
              <a:miter lim="800000"/>
              <a:headEnd/>
              <a:tailEnd/>
            </a:ln>
          </p:spPr>
          <p:txBody>
            <a:bodyPr wrap="none" anchor="ctr"/>
            <a:lstStyle/>
            <a:p>
              <a:endParaRPr lang="zh-CN" altLang="en-US"/>
            </a:p>
          </p:txBody>
        </p:sp>
        <p:sp>
          <p:nvSpPr>
            <p:cNvPr id="36922" name="AutoShape 74"/>
            <p:cNvSpPr>
              <a:spLocks noChangeArrowheads="1"/>
            </p:cNvSpPr>
            <p:nvPr/>
          </p:nvSpPr>
          <p:spPr bwMode="auto">
            <a:xfrm>
              <a:off x="4422" y="3293"/>
              <a:ext cx="136" cy="182"/>
            </a:xfrm>
            <a:prstGeom prst="smileyFace">
              <a:avLst>
                <a:gd name="adj" fmla="val 4653"/>
              </a:avLst>
            </a:prstGeom>
            <a:solidFill>
              <a:schemeClr val="hlink"/>
            </a:solidFill>
            <a:ln w="9525">
              <a:solidFill>
                <a:schemeClr val="tx1"/>
              </a:solidFill>
              <a:miter lim="800000"/>
              <a:headEnd/>
              <a:tailEnd/>
            </a:ln>
          </p:spPr>
          <p:txBody>
            <a:bodyPr wrap="none" anchor="ctr"/>
            <a:lstStyle/>
            <a:p>
              <a:endParaRPr lang="zh-CN" altLang="en-US"/>
            </a:p>
          </p:txBody>
        </p:sp>
        <p:sp>
          <p:nvSpPr>
            <p:cNvPr id="36923" name="AutoShape 75"/>
            <p:cNvSpPr>
              <a:spLocks noChangeArrowheads="1"/>
            </p:cNvSpPr>
            <p:nvPr/>
          </p:nvSpPr>
          <p:spPr bwMode="auto">
            <a:xfrm>
              <a:off x="4422" y="3067"/>
              <a:ext cx="136" cy="182"/>
            </a:xfrm>
            <a:prstGeom prst="smileyFace">
              <a:avLst>
                <a:gd name="adj" fmla="val 4653"/>
              </a:avLst>
            </a:prstGeom>
            <a:solidFill>
              <a:schemeClr val="bg2"/>
            </a:solidFill>
            <a:ln w="9525">
              <a:solidFill>
                <a:schemeClr val="tx1"/>
              </a:solidFill>
              <a:miter lim="800000"/>
              <a:headEnd/>
              <a:tailEnd/>
            </a:ln>
          </p:spPr>
          <p:txBody>
            <a:bodyPr wrap="none" anchor="ctr"/>
            <a:lstStyle/>
            <a:p>
              <a:endParaRPr lang="zh-CN" altLang="en-US"/>
            </a:p>
          </p:txBody>
        </p:sp>
        <p:sp>
          <p:nvSpPr>
            <p:cNvPr id="36924" name="AutoShape 76"/>
            <p:cNvSpPr>
              <a:spLocks noChangeArrowheads="1"/>
            </p:cNvSpPr>
            <p:nvPr/>
          </p:nvSpPr>
          <p:spPr bwMode="auto">
            <a:xfrm>
              <a:off x="4150" y="2750"/>
              <a:ext cx="136" cy="182"/>
            </a:xfrm>
            <a:prstGeom prst="smileyFace">
              <a:avLst>
                <a:gd name="adj" fmla="val 4653"/>
              </a:avLst>
            </a:prstGeom>
            <a:solidFill>
              <a:schemeClr val="bg2"/>
            </a:solidFill>
            <a:ln w="9525">
              <a:solidFill>
                <a:schemeClr val="tx1"/>
              </a:solidFill>
              <a:miter lim="800000"/>
              <a:headEnd/>
              <a:tailEnd/>
            </a:ln>
          </p:spPr>
          <p:txBody>
            <a:bodyPr wrap="none" anchor="ctr"/>
            <a:lstStyle/>
            <a:p>
              <a:endParaRPr lang="zh-CN" altLang="en-US"/>
            </a:p>
          </p:txBody>
        </p:sp>
        <p:sp>
          <p:nvSpPr>
            <p:cNvPr id="36925" name="AutoShape 77"/>
            <p:cNvSpPr>
              <a:spLocks noChangeArrowheads="1"/>
            </p:cNvSpPr>
            <p:nvPr/>
          </p:nvSpPr>
          <p:spPr bwMode="auto">
            <a:xfrm>
              <a:off x="4014" y="3157"/>
              <a:ext cx="136" cy="182"/>
            </a:xfrm>
            <a:prstGeom prst="smileyFace">
              <a:avLst>
                <a:gd name="adj" fmla="val 4653"/>
              </a:avLst>
            </a:prstGeom>
            <a:solidFill>
              <a:schemeClr val="bg2"/>
            </a:solidFill>
            <a:ln w="9525">
              <a:solidFill>
                <a:schemeClr val="tx1"/>
              </a:solidFill>
              <a:miter lim="800000"/>
              <a:headEnd/>
              <a:tailEnd/>
            </a:ln>
          </p:spPr>
          <p:txBody>
            <a:bodyPr wrap="none" anchor="ctr"/>
            <a:lstStyle/>
            <a:p>
              <a:endParaRPr lang="zh-CN" altLang="en-US"/>
            </a:p>
          </p:txBody>
        </p:sp>
        <p:sp>
          <p:nvSpPr>
            <p:cNvPr id="36926" name="AutoShape 78"/>
            <p:cNvSpPr>
              <a:spLocks noChangeArrowheads="1"/>
            </p:cNvSpPr>
            <p:nvPr/>
          </p:nvSpPr>
          <p:spPr bwMode="auto">
            <a:xfrm>
              <a:off x="4195" y="3249"/>
              <a:ext cx="136" cy="136"/>
            </a:xfrm>
            <a:prstGeom prst="smileyFace">
              <a:avLst>
                <a:gd name="adj" fmla="val 4653"/>
              </a:avLst>
            </a:prstGeom>
            <a:solidFill>
              <a:srgbClr val="FFCC00"/>
            </a:solidFill>
            <a:ln w="9525">
              <a:solidFill>
                <a:schemeClr val="tx1"/>
              </a:solidFill>
              <a:miter lim="800000"/>
              <a:headEnd/>
              <a:tailEnd/>
            </a:ln>
          </p:spPr>
          <p:txBody>
            <a:bodyPr wrap="none" anchor="ctr"/>
            <a:lstStyle/>
            <a:p>
              <a:endParaRPr lang="zh-CN" altLang="en-US"/>
            </a:p>
          </p:txBody>
        </p:sp>
        <p:sp>
          <p:nvSpPr>
            <p:cNvPr id="36927" name="AutoShape 79"/>
            <p:cNvSpPr>
              <a:spLocks noChangeArrowheads="1"/>
            </p:cNvSpPr>
            <p:nvPr/>
          </p:nvSpPr>
          <p:spPr bwMode="auto">
            <a:xfrm>
              <a:off x="4195" y="2976"/>
              <a:ext cx="136" cy="182"/>
            </a:xfrm>
            <a:prstGeom prst="smileyFace">
              <a:avLst>
                <a:gd name="adj" fmla="val 4653"/>
              </a:avLst>
            </a:prstGeom>
            <a:solidFill>
              <a:schemeClr val="hlink"/>
            </a:solidFill>
            <a:ln w="9525">
              <a:solidFill>
                <a:schemeClr val="tx1"/>
              </a:solidFill>
              <a:miter lim="800000"/>
              <a:headEnd/>
              <a:tailEnd/>
            </a:ln>
          </p:spPr>
          <p:txBody>
            <a:bodyPr wrap="none" anchor="ctr"/>
            <a:lstStyle/>
            <a:p>
              <a:endParaRPr lang="zh-CN" altLang="en-US"/>
            </a:p>
          </p:txBody>
        </p:sp>
      </p:grpSp>
      <p:sp>
        <p:nvSpPr>
          <p:cNvPr id="36910" name="AutoShape 80"/>
          <p:cNvSpPr>
            <a:spLocks noChangeArrowheads="1"/>
          </p:cNvSpPr>
          <p:nvPr/>
        </p:nvSpPr>
        <p:spPr bwMode="auto">
          <a:xfrm>
            <a:off x="3636963" y="4005263"/>
            <a:ext cx="215900" cy="288925"/>
          </a:xfrm>
          <a:prstGeom prst="smileyFace">
            <a:avLst>
              <a:gd name="adj" fmla="val 4653"/>
            </a:avLst>
          </a:prstGeom>
          <a:solidFill>
            <a:schemeClr val="bg2"/>
          </a:solidFill>
          <a:ln w="9525">
            <a:solidFill>
              <a:schemeClr val="tx1"/>
            </a:solidFill>
            <a:miter lim="800000"/>
            <a:headEnd/>
            <a:tailEnd/>
          </a:ln>
        </p:spPr>
        <p:txBody>
          <a:bodyPr wrap="none" anchor="ctr"/>
          <a:lstStyle/>
          <a:p>
            <a:endParaRPr lang="zh-CN" altLang="en-US"/>
          </a:p>
        </p:txBody>
      </p:sp>
      <p:sp>
        <p:nvSpPr>
          <p:cNvPr id="36911" name="AutoShape 81"/>
          <p:cNvSpPr>
            <a:spLocks noChangeArrowheads="1"/>
          </p:cNvSpPr>
          <p:nvPr/>
        </p:nvSpPr>
        <p:spPr bwMode="auto">
          <a:xfrm>
            <a:off x="2773363" y="4005263"/>
            <a:ext cx="215900" cy="288925"/>
          </a:xfrm>
          <a:prstGeom prst="smileyFace">
            <a:avLst>
              <a:gd name="adj" fmla="val 4653"/>
            </a:avLst>
          </a:prstGeom>
          <a:solidFill>
            <a:schemeClr val="bg2"/>
          </a:solidFill>
          <a:ln w="9525">
            <a:solidFill>
              <a:schemeClr val="tx1"/>
            </a:solidFill>
            <a:miter lim="800000"/>
            <a:headEnd/>
            <a:tailEnd/>
          </a:ln>
        </p:spPr>
        <p:txBody>
          <a:bodyPr wrap="none" anchor="ctr"/>
          <a:lstStyle/>
          <a:p>
            <a:endParaRPr lang="zh-CN" altLang="en-US"/>
          </a:p>
        </p:txBody>
      </p:sp>
      <p:sp>
        <p:nvSpPr>
          <p:cNvPr id="36912" name="AutoShape 82"/>
          <p:cNvSpPr>
            <a:spLocks noChangeArrowheads="1"/>
          </p:cNvSpPr>
          <p:nvPr/>
        </p:nvSpPr>
        <p:spPr bwMode="auto">
          <a:xfrm>
            <a:off x="3132138" y="4005263"/>
            <a:ext cx="215900" cy="288925"/>
          </a:xfrm>
          <a:prstGeom prst="smileyFace">
            <a:avLst>
              <a:gd name="adj" fmla="val 4653"/>
            </a:avLst>
          </a:prstGeom>
          <a:solidFill>
            <a:schemeClr val="hlink"/>
          </a:solidFill>
          <a:ln w="9525">
            <a:solidFill>
              <a:schemeClr val="tx1"/>
            </a:solidFill>
            <a:miter lim="800000"/>
            <a:headEnd/>
            <a:tailEnd/>
          </a:ln>
        </p:spPr>
        <p:txBody>
          <a:bodyPr wrap="none" anchor="ctr"/>
          <a:lstStyle/>
          <a:p>
            <a:endParaRPr lang="zh-CN" altLang="en-US"/>
          </a:p>
        </p:txBody>
      </p:sp>
      <p:sp>
        <p:nvSpPr>
          <p:cNvPr id="36913" name="AutoShape 83"/>
          <p:cNvSpPr>
            <a:spLocks noChangeArrowheads="1"/>
          </p:cNvSpPr>
          <p:nvPr/>
        </p:nvSpPr>
        <p:spPr bwMode="auto">
          <a:xfrm>
            <a:off x="3421063" y="4221163"/>
            <a:ext cx="215900" cy="215900"/>
          </a:xfrm>
          <a:prstGeom prst="smileyFace">
            <a:avLst>
              <a:gd name="adj" fmla="val 4653"/>
            </a:avLst>
          </a:prstGeom>
          <a:solidFill>
            <a:srgbClr val="FFCC00"/>
          </a:solidFill>
          <a:ln w="9525">
            <a:solidFill>
              <a:schemeClr val="tx1"/>
            </a:solidFill>
            <a:miter lim="800000"/>
            <a:headEnd/>
            <a:tailEnd/>
          </a:ln>
        </p:spPr>
        <p:txBody>
          <a:bodyPr wrap="none" anchor="ctr"/>
          <a:lstStyle/>
          <a:p>
            <a:endParaRPr lang="zh-CN" altLang="en-US"/>
          </a:p>
        </p:txBody>
      </p:sp>
      <p:sp>
        <p:nvSpPr>
          <p:cNvPr id="36914" name="AutoShape 84"/>
          <p:cNvSpPr>
            <a:spLocks noChangeArrowheads="1"/>
          </p:cNvSpPr>
          <p:nvPr/>
        </p:nvSpPr>
        <p:spPr bwMode="auto">
          <a:xfrm>
            <a:off x="900113" y="2997200"/>
            <a:ext cx="1081087" cy="647700"/>
          </a:xfrm>
          <a:prstGeom prst="wedgeRoundRectCallout">
            <a:avLst>
              <a:gd name="adj1" fmla="val 65713"/>
              <a:gd name="adj2" fmla="val 151227"/>
              <a:gd name="adj3" fmla="val 16667"/>
            </a:avLst>
          </a:prstGeom>
          <a:solidFill>
            <a:srgbClr val="008000"/>
          </a:solidFill>
          <a:ln w="9525">
            <a:solidFill>
              <a:schemeClr val="tx1"/>
            </a:solidFill>
            <a:miter lim="800000"/>
            <a:headEnd/>
            <a:tailEnd/>
          </a:ln>
        </p:spPr>
        <p:txBody>
          <a:bodyPr/>
          <a:lstStyle/>
          <a:p>
            <a:pPr algn="ctr">
              <a:lnSpc>
                <a:spcPct val="100000"/>
              </a:lnSpc>
              <a:spcBef>
                <a:spcPct val="0"/>
              </a:spcBef>
              <a:buClrTx/>
              <a:buSzTx/>
              <a:buFontTx/>
              <a:buNone/>
            </a:pPr>
            <a:r>
              <a:rPr kumimoji="1" lang="zh-CN" altLang="en-US" sz="3200">
                <a:solidFill>
                  <a:srgbClr val="FFCC00"/>
                </a:solidFill>
              </a:rPr>
              <a:t>总体</a:t>
            </a:r>
          </a:p>
        </p:txBody>
      </p:sp>
      <p:sp>
        <p:nvSpPr>
          <p:cNvPr id="287829" name="AutoShape 85"/>
          <p:cNvSpPr>
            <a:spLocks noChangeArrowheads="1"/>
          </p:cNvSpPr>
          <p:nvPr/>
        </p:nvSpPr>
        <p:spPr bwMode="auto">
          <a:xfrm>
            <a:off x="8243888" y="3357563"/>
            <a:ext cx="719137" cy="1008062"/>
          </a:xfrm>
          <a:prstGeom prst="wedgeRoundRectCallout">
            <a:avLst>
              <a:gd name="adj1" fmla="val -126157"/>
              <a:gd name="adj2" fmla="val 81023"/>
              <a:gd name="adj3" fmla="val 16667"/>
            </a:avLst>
          </a:prstGeom>
          <a:solidFill>
            <a:srgbClr val="008000"/>
          </a:solidFill>
          <a:ln w="9525">
            <a:solidFill>
              <a:schemeClr val="tx1"/>
            </a:solidFill>
            <a:miter lim="800000"/>
            <a:headEnd/>
            <a:tailEnd/>
          </a:ln>
        </p:spPr>
        <p:txBody>
          <a:bodyPr/>
          <a:lstStyle/>
          <a:p>
            <a:pPr>
              <a:lnSpc>
                <a:spcPct val="100000"/>
              </a:lnSpc>
              <a:spcBef>
                <a:spcPct val="0"/>
              </a:spcBef>
              <a:buClrTx/>
              <a:buSzTx/>
              <a:buFontTx/>
              <a:buNone/>
            </a:pPr>
            <a:r>
              <a:rPr kumimoji="1" lang="zh-CN" altLang="en-US">
                <a:solidFill>
                  <a:srgbClr val="FFCC00"/>
                </a:solidFill>
              </a:rPr>
              <a:t>样本</a:t>
            </a:r>
          </a:p>
        </p:txBody>
      </p:sp>
      <p:sp>
        <p:nvSpPr>
          <p:cNvPr id="64" name="灯片编号占位符 63"/>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32</a:t>
            </a:fld>
            <a:endParaRPr lang="en-US" altLang="zh-CN" dirty="0">
              <a:solidFill>
                <a:srgbClr val="545472"/>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7771"/>
                                        </p:tgtEl>
                                        <p:attrNameLst>
                                          <p:attrName>style.visibility</p:attrName>
                                        </p:attrNameLst>
                                      </p:cBhvr>
                                      <p:to>
                                        <p:strVal val="visible"/>
                                      </p:to>
                                    </p:set>
                                    <p:animEffect transition="in" filter="wipe(left)">
                                      <p:cBhvr>
                                        <p:cTn id="7" dur="1000"/>
                                        <p:tgtEl>
                                          <p:spTgt spid="287771"/>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lide(fromLeft)">
                                      <p:cBhvr>
                                        <p:cTn id="12" dur="500"/>
                                        <p:tgtEl>
                                          <p:spTgt spid="2"/>
                                        </p:tgtEl>
                                      </p:cBhvr>
                                    </p:animEffect>
                                  </p:childTnLst>
                                </p:cTn>
                              </p:par>
                              <p:par>
                                <p:cTn id="13" presetID="12" presetClass="entr" presetSubtype="8" fill="hold" grpId="0" nodeType="withEffect">
                                  <p:stCondLst>
                                    <p:cond delay="0"/>
                                  </p:stCondLst>
                                  <p:childTnLst>
                                    <p:set>
                                      <p:cBhvr>
                                        <p:cTn id="14" dur="1" fill="hold">
                                          <p:stCondLst>
                                            <p:cond delay="0"/>
                                          </p:stCondLst>
                                        </p:cTn>
                                        <p:tgtEl>
                                          <p:spTgt spid="287829"/>
                                        </p:tgtEl>
                                        <p:attrNameLst>
                                          <p:attrName>style.visibility</p:attrName>
                                        </p:attrNameLst>
                                      </p:cBhvr>
                                      <p:to>
                                        <p:strVal val="visible"/>
                                      </p:to>
                                    </p:set>
                                    <p:animEffect transition="in" filter="slide(fromLeft)">
                                      <p:cBhvr>
                                        <p:cTn id="15" dur="500"/>
                                        <p:tgtEl>
                                          <p:spTgt spid="28782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grpId="0" nodeType="clickEffect">
                                  <p:stCondLst>
                                    <p:cond delay="0"/>
                                  </p:stCondLst>
                                  <p:childTnLst>
                                    <p:set>
                                      <p:cBhvr>
                                        <p:cTn id="19" dur="1" fill="hold">
                                          <p:stCondLst>
                                            <p:cond delay="0"/>
                                          </p:stCondLst>
                                        </p:cTn>
                                        <p:tgtEl>
                                          <p:spTgt spid="287772"/>
                                        </p:tgtEl>
                                        <p:attrNameLst>
                                          <p:attrName>style.visibility</p:attrName>
                                        </p:attrNameLst>
                                      </p:cBhvr>
                                      <p:to>
                                        <p:strVal val="visible"/>
                                      </p:to>
                                    </p:set>
                                    <p:animEffect transition="in" filter="wipe(right)">
                                      <p:cBhvr>
                                        <p:cTn id="20" dur="1000"/>
                                        <p:tgtEl>
                                          <p:spTgt spid="2877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771" grpId="0" animBg="1"/>
      <p:bldP spid="287772" grpId="0" animBg="1"/>
      <p:bldP spid="287829"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403350" y="260350"/>
            <a:ext cx="7207250" cy="1143000"/>
          </a:xfrm>
          <a:noFill/>
        </p:spPr>
        <p:txBody>
          <a:bodyPr lIns="90488" tIns="44450" rIns="90488" bIns="44450" anchor="ctr" anchorCtr="1"/>
          <a:lstStyle/>
          <a:p>
            <a:pPr eaLnBrk="1" hangingPunct="1"/>
            <a:r>
              <a:rPr lang="zh-CN" altLang="en-US" smtClean="0">
                <a:solidFill>
                  <a:srgbClr val="0000FF"/>
                </a:solidFill>
              </a:rPr>
              <a:t>描述统计与推断统计的关系</a:t>
            </a:r>
          </a:p>
        </p:txBody>
      </p:sp>
      <p:sp>
        <p:nvSpPr>
          <p:cNvPr id="130051" name="Oval 3"/>
          <p:cNvSpPr>
            <a:spLocks noChangeArrowheads="1"/>
          </p:cNvSpPr>
          <p:nvPr/>
        </p:nvSpPr>
        <p:spPr bwMode="auto">
          <a:xfrm>
            <a:off x="105122" y="1556792"/>
            <a:ext cx="2306638" cy="1215169"/>
          </a:xfrm>
          <a:prstGeom prst="ellipse">
            <a:avLst/>
          </a:prstGeom>
          <a:solidFill>
            <a:srgbClr val="92D050"/>
          </a:solidFill>
          <a:ln w="12700">
            <a:noFill/>
            <a:round/>
            <a:headEnd/>
            <a:tailEnd/>
          </a:ln>
          <a:effectLst>
            <a:outerShdw dist="107763" dir="18900000" algn="ctr" rotWithShape="0">
              <a:schemeClr val="bg2"/>
            </a:outerShdw>
          </a:effectLst>
        </p:spPr>
        <p:txBody>
          <a:bodyPr lIns="18000" tIns="10800" rIns="18000" bIns="10800">
            <a:spAutoFit/>
          </a:bodyPr>
          <a:lstStyle/>
          <a:p>
            <a:pPr algn="ctr" eaLnBrk="0" hangingPunct="0">
              <a:lnSpc>
                <a:spcPct val="120000"/>
              </a:lnSpc>
              <a:spcBef>
                <a:spcPts val="0"/>
              </a:spcBef>
              <a:buClrTx/>
              <a:buSzTx/>
              <a:buFontTx/>
              <a:buNone/>
              <a:defRPr/>
            </a:pPr>
            <a:r>
              <a:rPr kumimoji="1" lang="zh-CN" altLang="en-US" sz="2400" dirty="0">
                <a:solidFill>
                  <a:srgbClr val="000000"/>
                </a:solidFill>
                <a:latin typeface="Arial" charset="0"/>
              </a:rPr>
              <a:t>反映客观</a:t>
            </a:r>
          </a:p>
          <a:p>
            <a:pPr algn="ctr" eaLnBrk="0" hangingPunct="0">
              <a:lnSpc>
                <a:spcPct val="120000"/>
              </a:lnSpc>
              <a:spcBef>
                <a:spcPts val="0"/>
              </a:spcBef>
              <a:buClrTx/>
              <a:buSzTx/>
              <a:buFontTx/>
              <a:buNone/>
              <a:defRPr/>
            </a:pPr>
            <a:r>
              <a:rPr kumimoji="1" lang="zh-CN" altLang="en-US" sz="2400" dirty="0">
                <a:solidFill>
                  <a:srgbClr val="000000"/>
                </a:solidFill>
                <a:latin typeface="Arial" charset="0"/>
              </a:rPr>
              <a:t>现象的数据</a:t>
            </a:r>
          </a:p>
        </p:txBody>
      </p:sp>
      <p:sp>
        <p:nvSpPr>
          <p:cNvPr id="130053" name="Oval 5"/>
          <p:cNvSpPr>
            <a:spLocks noChangeArrowheads="1"/>
          </p:cNvSpPr>
          <p:nvPr/>
        </p:nvSpPr>
        <p:spPr bwMode="auto">
          <a:xfrm>
            <a:off x="4628596" y="3297899"/>
            <a:ext cx="2823724" cy="1283229"/>
          </a:xfrm>
          <a:prstGeom prst="ellipse">
            <a:avLst/>
          </a:prstGeom>
          <a:solidFill>
            <a:srgbClr val="FF66FF"/>
          </a:solidFill>
          <a:ln w="57150">
            <a:noFill/>
            <a:round/>
            <a:headEnd/>
            <a:tailEnd/>
          </a:ln>
          <a:effectLst>
            <a:outerShdw dist="107763" dir="18900000" algn="ctr" rotWithShape="0">
              <a:schemeClr val="bg2"/>
            </a:outerShdw>
          </a:effectLst>
        </p:spPr>
        <p:txBody>
          <a:bodyPr wrap="square" lIns="0" tIns="0" rIns="0" bIns="0">
            <a:spAutoFit/>
          </a:bodyPr>
          <a:lstStyle/>
          <a:p>
            <a:pPr algn="ctr" eaLnBrk="0" hangingPunct="0">
              <a:lnSpc>
                <a:spcPct val="120000"/>
              </a:lnSpc>
              <a:spcBef>
                <a:spcPct val="25000"/>
              </a:spcBef>
              <a:buClrTx/>
              <a:buSzTx/>
              <a:buFontTx/>
              <a:buNone/>
              <a:defRPr/>
            </a:pPr>
            <a:r>
              <a:rPr kumimoji="1" lang="zh-CN" altLang="en-US" sz="2600" dirty="0" smtClean="0">
                <a:solidFill>
                  <a:srgbClr val="000000"/>
                </a:solidFill>
                <a:latin typeface="Arial" charset="0"/>
              </a:rPr>
              <a:t>总体数量特征数量</a:t>
            </a:r>
            <a:r>
              <a:rPr kumimoji="1" lang="zh-CN" altLang="en-US" sz="2600" dirty="0">
                <a:solidFill>
                  <a:srgbClr val="000000"/>
                </a:solidFill>
                <a:latin typeface="Arial" charset="0"/>
              </a:rPr>
              <a:t>规律性</a:t>
            </a:r>
          </a:p>
        </p:txBody>
      </p:sp>
      <p:grpSp>
        <p:nvGrpSpPr>
          <p:cNvPr id="3" name="Group 7"/>
          <p:cNvGrpSpPr>
            <a:grpSpLocks/>
          </p:cNvGrpSpPr>
          <p:nvPr/>
        </p:nvGrpSpPr>
        <p:grpSpPr bwMode="auto">
          <a:xfrm>
            <a:off x="5652120" y="1700808"/>
            <a:ext cx="3033713" cy="1706563"/>
            <a:chOff x="3696" y="1298"/>
            <a:chExt cx="1911" cy="1075"/>
          </a:xfrm>
        </p:grpSpPr>
        <p:sp>
          <p:nvSpPr>
            <p:cNvPr id="130056" name="Text Box 8"/>
            <p:cNvSpPr txBox="1">
              <a:spLocks noChangeArrowheads="1"/>
            </p:cNvSpPr>
            <p:nvPr/>
          </p:nvSpPr>
          <p:spPr bwMode="auto">
            <a:xfrm>
              <a:off x="4337" y="1298"/>
              <a:ext cx="1270" cy="635"/>
            </a:xfrm>
            <a:prstGeom prst="rect">
              <a:avLst/>
            </a:prstGeom>
            <a:solidFill>
              <a:schemeClr val="hlink"/>
            </a:solidFill>
            <a:ln w="12700">
              <a:solidFill>
                <a:srgbClr val="0000FF"/>
              </a:solidFill>
              <a:miter lim="800000"/>
              <a:headEnd/>
              <a:tailEnd/>
            </a:ln>
            <a:effectLst>
              <a:outerShdw dist="107763" dir="18900000" algn="ctr" rotWithShape="0">
                <a:schemeClr val="bg2"/>
              </a:outerShdw>
            </a:effectLst>
          </p:spPr>
          <p:txBody>
            <a:bodyPr anchor="ctr" anchorCtr="1"/>
            <a:lstStyle/>
            <a:p>
              <a:pPr algn="ctr" eaLnBrk="0" hangingPunct="0">
                <a:lnSpc>
                  <a:spcPct val="100000"/>
                </a:lnSpc>
                <a:spcBef>
                  <a:spcPct val="50000"/>
                </a:spcBef>
                <a:buClrTx/>
                <a:buSzTx/>
                <a:buFontTx/>
                <a:buNone/>
                <a:defRPr/>
              </a:pPr>
              <a:r>
                <a:rPr kumimoji="1" lang="zh-CN" altLang="en-US" sz="3200">
                  <a:solidFill>
                    <a:srgbClr val="000000"/>
                  </a:solidFill>
                  <a:latin typeface="Arial" charset="0"/>
                </a:rPr>
                <a:t>推断统计</a:t>
              </a:r>
            </a:p>
          </p:txBody>
        </p:sp>
        <p:sp>
          <p:nvSpPr>
            <p:cNvPr id="37903" name="Line 9"/>
            <p:cNvSpPr>
              <a:spLocks noChangeShapeType="1"/>
            </p:cNvSpPr>
            <p:nvPr/>
          </p:nvSpPr>
          <p:spPr bwMode="auto">
            <a:xfrm>
              <a:off x="3696" y="1615"/>
              <a:ext cx="609" cy="0"/>
            </a:xfrm>
            <a:prstGeom prst="line">
              <a:avLst/>
            </a:prstGeom>
            <a:noFill/>
            <a:ln w="76200">
              <a:solidFill>
                <a:srgbClr val="0000FF"/>
              </a:solidFill>
              <a:round/>
              <a:headEnd/>
              <a:tailEnd type="triangle" w="med" len="med"/>
            </a:ln>
          </p:spPr>
          <p:txBody>
            <a:bodyPr wrap="none" anchor="ctr"/>
            <a:lstStyle/>
            <a:p>
              <a:endParaRPr lang="zh-CN" altLang="en-US"/>
            </a:p>
          </p:txBody>
        </p:sp>
        <p:sp>
          <p:nvSpPr>
            <p:cNvPr id="37904" name="Line 10"/>
            <p:cNvSpPr>
              <a:spLocks noChangeShapeType="1"/>
            </p:cNvSpPr>
            <p:nvPr/>
          </p:nvSpPr>
          <p:spPr bwMode="auto">
            <a:xfrm flipH="1">
              <a:off x="4467" y="1933"/>
              <a:ext cx="363" cy="440"/>
            </a:xfrm>
            <a:prstGeom prst="line">
              <a:avLst/>
            </a:prstGeom>
            <a:noFill/>
            <a:ln w="76200">
              <a:solidFill>
                <a:srgbClr val="0000FF"/>
              </a:solidFill>
              <a:round/>
              <a:headEnd/>
              <a:tailEnd type="triangle" w="med" len="med"/>
            </a:ln>
          </p:spPr>
          <p:txBody>
            <a:bodyPr wrap="none" anchor="ctr"/>
            <a:lstStyle/>
            <a:p>
              <a:endParaRPr lang="zh-CN" altLang="en-US"/>
            </a:p>
          </p:txBody>
        </p:sp>
      </p:grpSp>
      <p:sp>
        <p:nvSpPr>
          <p:cNvPr id="130059" name="Text Box 11"/>
          <p:cNvSpPr txBox="1">
            <a:spLocks noChangeArrowheads="1"/>
          </p:cNvSpPr>
          <p:nvPr/>
        </p:nvSpPr>
        <p:spPr bwMode="auto">
          <a:xfrm>
            <a:off x="3347864" y="1772816"/>
            <a:ext cx="2232025" cy="863600"/>
          </a:xfrm>
          <a:prstGeom prst="rect">
            <a:avLst/>
          </a:prstGeom>
          <a:solidFill>
            <a:schemeClr val="accent1"/>
          </a:solidFill>
          <a:ln w="12700">
            <a:noFill/>
            <a:miter lim="800000"/>
            <a:headEnd/>
            <a:tailEnd/>
          </a:ln>
          <a:effectLst>
            <a:outerShdw dist="107763" dir="18900000" algn="ctr" rotWithShape="0">
              <a:schemeClr val="bg2"/>
            </a:outerShdw>
          </a:effectLst>
        </p:spPr>
        <p:txBody>
          <a:bodyPr anchor="ctr" anchorCtr="1"/>
          <a:lstStyle/>
          <a:p>
            <a:pPr algn="ctr" eaLnBrk="0" hangingPunct="0">
              <a:lnSpc>
                <a:spcPct val="100000"/>
              </a:lnSpc>
              <a:spcBef>
                <a:spcPct val="50000"/>
              </a:spcBef>
              <a:buClrTx/>
              <a:buSzTx/>
              <a:buFontTx/>
              <a:buNone/>
              <a:defRPr/>
            </a:pPr>
            <a:r>
              <a:rPr kumimoji="1" lang="zh-CN" altLang="en-US" sz="3200" dirty="0">
                <a:solidFill>
                  <a:srgbClr val="000000"/>
                </a:solidFill>
                <a:latin typeface="Arial" charset="0"/>
              </a:rPr>
              <a:t>描述统计</a:t>
            </a:r>
          </a:p>
        </p:txBody>
      </p:sp>
      <p:grpSp>
        <p:nvGrpSpPr>
          <p:cNvPr id="4" name="Group 12"/>
          <p:cNvGrpSpPr>
            <a:grpSpLocks/>
          </p:cNvGrpSpPr>
          <p:nvPr/>
        </p:nvGrpSpPr>
        <p:grpSpPr bwMode="auto">
          <a:xfrm>
            <a:off x="2266951" y="2420937"/>
            <a:ext cx="1368425" cy="498475"/>
            <a:chOff x="1382" y="2296"/>
            <a:chExt cx="862" cy="314"/>
          </a:xfrm>
        </p:grpSpPr>
        <p:sp>
          <p:nvSpPr>
            <p:cNvPr id="37900" name="Line 13"/>
            <p:cNvSpPr>
              <a:spLocks noChangeShapeType="1"/>
            </p:cNvSpPr>
            <p:nvPr/>
          </p:nvSpPr>
          <p:spPr bwMode="auto">
            <a:xfrm>
              <a:off x="1473" y="2296"/>
              <a:ext cx="576" cy="0"/>
            </a:xfrm>
            <a:prstGeom prst="line">
              <a:avLst/>
            </a:prstGeom>
            <a:noFill/>
            <a:ln w="76200">
              <a:solidFill>
                <a:srgbClr val="D60093"/>
              </a:solidFill>
              <a:round/>
              <a:headEnd/>
              <a:tailEnd type="triangle" w="med" len="med"/>
            </a:ln>
          </p:spPr>
          <p:txBody>
            <a:bodyPr wrap="none" anchor="ctr"/>
            <a:lstStyle/>
            <a:p>
              <a:endParaRPr lang="zh-CN" altLang="en-US"/>
            </a:p>
          </p:txBody>
        </p:sp>
        <p:sp>
          <p:nvSpPr>
            <p:cNvPr id="37901" name="Text Box 14"/>
            <p:cNvSpPr txBox="1">
              <a:spLocks noChangeArrowheads="1"/>
            </p:cNvSpPr>
            <p:nvPr/>
          </p:nvSpPr>
          <p:spPr bwMode="auto">
            <a:xfrm>
              <a:off x="1382" y="2341"/>
              <a:ext cx="862" cy="269"/>
            </a:xfrm>
            <a:prstGeom prst="rect">
              <a:avLst/>
            </a:prstGeom>
            <a:noFill/>
            <a:ln w="12700">
              <a:noFill/>
              <a:miter lim="800000"/>
              <a:headEnd/>
              <a:tailEnd/>
            </a:ln>
          </p:spPr>
          <p:txBody>
            <a:bodyPr>
              <a:spAutoFit/>
            </a:bodyPr>
            <a:lstStyle/>
            <a:p>
              <a:pPr eaLnBrk="0" hangingPunct="0">
                <a:lnSpc>
                  <a:spcPct val="100000"/>
                </a:lnSpc>
                <a:spcBef>
                  <a:spcPct val="50000"/>
                </a:spcBef>
                <a:buClrTx/>
                <a:buSzTx/>
                <a:buFontTx/>
                <a:buNone/>
              </a:pPr>
              <a:r>
                <a:rPr kumimoji="1" lang="zh-CN" altLang="en-US" sz="2200" dirty="0">
                  <a:solidFill>
                    <a:srgbClr val="D60093"/>
                  </a:solidFill>
                  <a:latin typeface="Arial" charset="0"/>
                </a:rPr>
                <a:t>总体数据</a:t>
              </a:r>
            </a:p>
          </p:txBody>
        </p:sp>
      </p:grpSp>
      <p:grpSp>
        <p:nvGrpSpPr>
          <p:cNvPr id="5" name="Group 15"/>
          <p:cNvGrpSpPr>
            <a:grpSpLocks/>
          </p:cNvGrpSpPr>
          <p:nvPr/>
        </p:nvGrpSpPr>
        <p:grpSpPr bwMode="auto">
          <a:xfrm>
            <a:off x="2195513" y="1557338"/>
            <a:ext cx="1368425" cy="504825"/>
            <a:chOff x="1383" y="1434"/>
            <a:chExt cx="862" cy="318"/>
          </a:xfrm>
        </p:grpSpPr>
        <p:sp>
          <p:nvSpPr>
            <p:cNvPr id="37898" name="Line 16"/>
            <p:cNvSpPr>
              <a:spLocks noChangeShapeType="1"/>
            </p:cNvSpPr>
            <p:nvPr/>
          </p:nvSpPr>
          <p:spPr bwMode="auto">
            <a:xfrm>
              <a:off x="1533" y="1752"/>
              <a:ext cx="576" cy="0"/>
            </a:xfrm>
            <a:prstGeom prst="line">
              <a:avLst/>
            </a:prstGeom>
            <a:noFill/>
            <a:ln w="76200">
              <a:solidFill>
                <a:srgbClr val="0000FF"/>
              </a:solidFill>
              <a:round/>
              <a:headEnd/>
              <a:tailEnd type="triangle" w="med" len="med"/>
            </a:ln>
          </p:spPr>
          <p:txBody>
            <a:bodyPr wrap="none" anchor="ctr"/>
            <a:lstStyle/>
            <a:p>
              <a:endParaRPr lang="zh-CN" altLang="en-US"/>
            </a:p>
          </p:txBody>
        </p:sp>
        <p:sp>
          <p:nvSpPr>
            <p:cNvPr id="37899" name="Text Box 17"/>
            <p:cNvSpPr txBox="1">
              <a:spLocks noChangeArrowheads="1"/>
            </p:cNvSpPr>
            <p:nvPr/>
          </p:nvSpPr>
          <p:spPr bwMode="auto">
            <a:xfrm>
              <a:off x="1383" y="1434"/>
              <a:ext cx="862" cy="269"/>
            </a:xfrm>
            <a:prstGeom prst="rect">
              <a:avLst/>
            </a:prstGeom>
            <a:noFill/>
            <a:ln w="12700">
              <a:noFill/>
              <a:miter lim="800000"/>
              <a:headEnd/>
              <a:tailEnd/>
            </a:ln>
          </p:spPr>
          <p:txBody>
            <a:bodyPr>
              <a:spAutoFit/>
            </a:bodyPr>
            <a:lstStyle/>
            <a:p>
              <a:pPr eaLnBrk="0" hangingPunct="0">
                <a:lnSpc>
                  <a:spcPct val="100000"/>
                </a:lnSpc>
                <a:spcBef>
                  <a:spcPct val="50000"/>
                </a:spcBef>
                <a:buClrTx/>
                <a:buSzTx/>
                <a:buFontTx/>
                <a:buNone/>
              </a:pPr>
              <a:r>
                <a:rPr kumimoji="1" lang="zh-CN" altLang="en-US" sz="2200">
                  <a:solidFill>
                    <a:srgbClr val="0000FF"/>
                  </a:solidFill>
                  <a:latin typeface="Arial" charset="0"/>
                </a:rPr>
                <a:t>样本数据</a:t>
              </a:r>
            </a:p>
          </p:txBody>
        </p:sp>
      </p:grpSp>
      <p:sp>
        <p:nvSpPr>
          <p:cNvPr id="130066" name="Rectangle 18"/>
          <p:cNvSpPr>
            <a:spLocks noChangeArrowheads="1"/>
          </p:cNvSpPr>
          <p:nvPr/>
        </p:nvSpPr>
        <p:spPr bwMode="auto">
          <a:xfrm>
            <a:off x="611188" y="4913313"/>
            <a:ext cx="8353425" cy="1323975"/>
          </a:xfrm>
          <a:prstGeom prst="rect">
            <a:avLst/>
          </a:prstGeom>
          <a:solidFill>
            <a:schemeClr val="accent1"/>
          </a:solidFill>
          <a:ln w="12700">
            <a:solidFill>
              <a:schemeClr val="tx2"/>
            </a:solidFill>
            <a:miter lim="800000"/>
            <a:headEnd/>
            <a:tailEnd/>
          </a:ln>
          <a:effectLst>
            <a:outerShdw dist="35921" dir="2700000" algn="ctr" rotWithShape="0">
              <a:schemeClr val="bg2"/>
            </a:outerShdw>
          </a:effectLst>
        </p:spPr>
        <p:txBody>
          <a:bodyPr lIns="90488" tIns="44450" rIns="90488" bIns="44450"/>
          <a:lstStyle/>
          <a:p>
            <a:pPr marL="742950" lvl="1" indent="-285750">
              <a:lnSpc>
                <a:spcPct val="115000"/>
              </a:lnSpc>
              <a:spcBef>
                <a:spcPct val="20000"/>
              </a:spcBef>
              <a:buClrTx/>
              <a:buSzPct val="80000"/>
              <a:buFontTx/>
              <a:buBlip>
                <a:blip r:embed="rId3"/>
              </a:buBlip>
              <a:defRPr/>
            </a:pPr>
            <a:r>
              <a:rPr lang="zh-CN" altLang="en-US" sz="3200" dirty="0">
                <a:solidFill>
                  <a:schemeClr val="tx2"/>
                </a:solidFill>
                <a:latin typeface="Tahoma" pitchFamily="34" charset="0"/>
              </a:rPr>
              <a:t>描述统计学是重要基础，</a:t>
            </a:r>
          </a:p>
          <a:p>
            <a:pPr marL="742950" lvl="1" indent="-285750">
              <a:lnSpc>
                <a:spcPct val="115000"/>
              </a:lnSpc>
              <a:spcBef>
                <a:spcPct val="20000"/>
              </a:spcBef>
              <a:buClrTx/>
              <a:buSzPct val="80000"/>
              <a:buFontTx/>
              <a:buBlip>
                <a:blip r:embed="rId3"/>
              </a:buBlip>
              <a:defRPr/>
            </a:pPr>
            <a:r>
              <a:rPr lang="zh-CN" altLang="en-US" sz="3200" dirty="0">
                <a:solidFill>
                  <a:schemeClr val="tx2"/>
                </a:solidFill>
                <a:latin typeface="Tahoma" pitchFamily="34" charset="0"/>
              </a:rPr>
              <a:t>推断统计学是现代统计学的核心。</a:t>
            </a:r>
          </a:p>
        </p:txBody>
      </p:sp>
      <p:sp>
        <p:nvSpPr>
          <p:cNvPr id="19" name="灯片编号占位符 18"/>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33</a:t>
            </a:fld>
            <a:endParaRPr lang="en-US" altLang="zh-CN" dirty="0">
              <a:solidFill>
                <a:srgbClr val="545472"/>
              </a:solidFill>
            </a:endParaRPr>
          </a:p>
        </p:txBody>
      </p:sp>
      <p:sp>
        <p:nvSpPr>
          <p:cNvPr id="20" name="Line 6"/>
          <p:cNvSpPr>
            <a:spLocks noChangeShapeType="1"/>
          </p:cNvSpPr>
          <p:nvPr/>
        </p:nvSpPr>
        <p:spPr bwMode="auto">
          <a:xfrm>
            <a:off x="4572000" y="2636912"/>
            <a:ext cx="720080" cy="720080"/>
          </a:xfrm>
          <a:prstGeom prst="line">
            <a:avLst/>
          </a:prstGeom>
          <a:noFill/>
          <a:ln w="76200">
            <a:solidFill>
              <a:srgbClr val="D60093"/>
            </a:solidFill>
            <a:round/>
            <a:headEnd/>
            <a:tailEnd type="triangle" w="med" len="med"/>
          </a:ln>
        </p:spPr>
        <p:txBody>
          <a:bodyPr wrap="none" anchor="ctr"/>
          <a:lstStyle/>
          <a:p>
            <a:endParaRPr lang="zh-CN" altLang="en-US"/>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30053"/>
                                        </p:tgtEl>
                                        <p:attrNameLst>
                                          <p:attrName>style.visibility</p:attrName>
                                        </p:attrNameLst>
                                      </p:cBhvr>
                                      <p:to>
                                        <p:strVal val="visible"/>
                                      </p:to>
                                    </p:set>
                                    <p:animEffect transition="in" filter="wipe(left)">
                                      <p:cBhvr>
                                        <p:cTn id="7" dur="500"/>
                                        <p:tgtEl>
                                          <p:spTgt spid="13005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slide(from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0059"/>
                                        </p:tgtEl>
                                        <p:attrNameLst>
                                          <p:attrName>style.visibility</p:attrName>
                                        </p:attrNameLst>
                                      </p:cBhvr>
                                      <p:to>
                                        <p:strVal val="visible"/>
                                      </p:to>
                                    </p:set>
                                    <p:animEffect transition="in" filter="wipe(left)">
                                      <p:cBhvr>
                                        <p:cTn id="17" dur="500"/>
                                        <p:tgtEl>
                                          <p:spTgt spid="130059"/>
                                        </p:tgtEl>
                                      </p:cBhvr>
                                    </p:animEffect>
                                  </p:childTnLst>
                                </p:cTn>
                              </p:par>
                            </p:childTnLst>
                          </p:cTn>
                        </p:par>
                        <p:par>
                          <p:cTn id="18" fill="hold">
                            <p:stCondLst>
                              <p:cond delay="500"/>
                            </p:stCondLst>
                            <p:childTnLst>
                              <p:par>
                                <p:cTn id="19" presetID="22" presetClass="entr" presetSubtype="1" fill="hold" grpId="0" nodeType="after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wipe(up)">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8"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slide(fromLeft)">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8"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slide(fromLeft)">
                                      <p:cBhvr>
                                        <p:cTn id="31" dur="500"/>
                                        <p:tgtEl>
                                          <p:spTgt spid="3"/>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130066"/>
                                        </p:tgtEl>
                                        <p:attrNameLst>
                                          <p:attrName>style.visibility</p:attrName>
                                        </p:attrNameLst>
                                      </p:cBhvr>
                                      <p:to>
                                        <p:strVal val="visible"/>
                                      </p:to>
                                    </p:set>
                                    <p:animEffect transition="in" filter="blinds(horizontal)">
                                      <p:cBhvr>
                                        <p:cTn id="36" dur="500"/>
                                        <p:tgtEl>
                                          <p:spTgt spid="1300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3" grpId="0" animBg="1"/>
      <p:bldP spid="130059" grpId="0" animBg="1"/>
      <p:bldP spid="130066" grpId="0" animBg="1"/>
      <p:bldP spid="20" grpId="0" animBg="1"/>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5" name="Rectangle 4"/>
          <p:cNvSpPr>
            <a:spLocks noGrp="1" noChangeArrowheads="1"/>
          </p:cNvSpPr>
          <p:nvPr>
            <p:ph type="title"/>
          </p:nvPr>
        </p:nvSpPr>
        <p:spPr>
          <a:xfrm>
            <a:off x="611560" y="332656"/>
            <a:ext cx="7772400" cy="990600"/>
          </a:xfrm>
        </p:spPr>
        <p:txBody>
          <a:bodyPr/>
          <a:lstStyle/>
          <a:p>
            <a:pPr eaLnBrk="1" hangingPunct="1"/>
            <a:r>
              <a:rPr lang="en-US" altLang="zh-CN" dirty="0" smtClean="0"/>
              <a:t>§1.2.3  </a:t>
            </a:r>
            <a:r>
              <a:rPr lang="zh-CN" altLang="en-US" dirty="0" smtClean="0"/>
              <a:t>统计的特点</a:t>
            </a:r>
          </a:p>
        </p:txBody>
      </p:sp>
      <p:sp>
        <p:nvSpPr>
          <p:cNvPr id="38914" name="Rectangle 3"/>
          <p:cNvSpPr>
            <a:spLocks noGrp="1" noChangeArrowheads="1"/>
          </p:cNvSpPr>
          <p:nvPr>
            <p:ph idx="1"/>
          </p:nvPr>
        </p:nvSpPr>
        <p:spPr>
          <a:xfrm>
            <a:off x="684213" y="1473200"/>
            <a:ext cx="7848600" cy="5384800"/>
          </a:xfrm>
        </p:spPr>
        <p:txBody>
          <a:bodyPr/>
          <a:lstStyle/>
          <a:p>
            <a:pPr eaLnBrk="1" hangingPunct="1">
              <a:lnSpc>
                <a:spcPct val="120000"/>
              </a:lnSpc>
              <a:spcBef>
                <a:spcPct val="10000"/>
              </a:spcBef>
              <a:buFontTx/>
              <a:buNone/>
            </a:pPr>
            <a:r>
              <a:rPr lang="en-US" altLang="zh-CN" dirty="0" smtClean="0">
                <a:solidFill>
                  <a:srgbClr val="D60093"/>
                </a:solidFill>
              </a:rPr>
              <a:t>1</a:t>
            </a:r>
            <a:r>
              <a:rPr lang="zh-CN" altLang="en-US" smtClean="0">
                <a:solidFill>
                  <a:srgbClr val="D60093"/>
                </a:solidFill>
              </a:rPr>
              <a:t>．数量性</a:t>
            </a:r>
            <a:r>
              <a:rPr lang="zh-CN" altLang="en-US" sz="4000" smtClean="0">
                <a:solidFill>
                  <a:srgbClr val="FF0066"/>
                </a:solidFill>
              </a:rPr>
              <a:t> </a:t>
            </a:r>
          </a:p>
          <a:p>
            <a:pPr lvl="1" eaLnBrk="1" hangingPunct="1">
              <a:lnSpc>
                <a:spcPct val="120000"/>
              </a:lnSpc>
              <a:spcBef>
                <a:spcPct val="10000"/>
              </a:spcBef>
            </a:pPr>
            <a:r>
              <a:rPr lang="en-US" altLang="zh-CN" dirty="0" smtClean="0">
                <a:solidFill>
                  <a:schemeClr val="tx2"/>
                </a:solidFill>
                <a:latin typeface="Arial" charset="0"/>
              </a:rPr>
              <a:t>——</a:t>
            </a:r>
            <a:r>
              <a:rPr lang="zh-CN" altLang="en-US" smtClean="0">
                <a:solidFill>
                  <a:schemeClr val="tx2"/>
                </a:solidFill>
              </a:rPr>
              <a:t>统计总是用数字作为语言来表述事实。</a:t>
            </a:r>
          </a:p>
          <a:p>
            <a:pPr lvl="2" eaLnBrk="1" hangingPunct="1">
              <a:lnSpc>
                <a:spcPct val="115000"/>
              </a:lnSpc>
            </a:pPr>
            <a:r>
              <a:rPr lang="zh-CN" altLang="en-US" smtClean="0"/>
              <a:t>统计用数据说话</a:t>
            </a:r>
          </a:p>
          <a:p>
            <a:pPr lvl="2" eaLnBrk="1" hangingPunct="1">
              <a:lnSpc>
                <a:spcPct val="115000"/>
              </a:lnSpc>
            </a:pPr>
            <a:r>
              <a:rPr lang="zh-CN" altLang="en-US" smtClean="0"/>
              <a:t>数字是统计的语言</a:t>
            </a:r>
          </a:p>
          <a:p>
            <a:pPr lvl="1" eaLnBrk="1" hangingPunct="1">
              <a:lnSpc>
                <a:spcPct val="120000"/>
              </a:lnSpc>
              <a:spcBef>
                <a:spcPct val="10000"/>
              </a:spcBef>
            </a:pPr>
            <a:r>
              <a:rPr lang="en-US" altLang="zh-CN" sz="2400" dirty="0" smtClean="0">
                <a:latin typeface="Arial" charset="0"/>
              </a:rPr>
              <a:t>——</a:t>
            </a:r>
            <a:r>
              <a:rPr lang="zh-CN" altLang="en-US" sz="2400" smtClean="0"/>
              <a:t>统计研究现象的数量特征</a:t>
            </a:r>
          </a:p>
          <a:p>
            <a:pPr lvl="2" eaLnBrk="1" hangingPunct="1">
              <a:lnSpc>
                <a:spcPct val="115000"/>
              </a:lnSpc>
            </a:pPr>
            <a:r>
              <a:rPr lang="zh-CN" altLang="en-US" smtClean="0"/>
              <a:t>在质与量的辨证统一中研究研究现象的数量特征，从数量上认识事物的性质和规律性 </a:t>
            </a:r>
            <a:r>
              <a:rPr lang="en-US" altLang="zh-CN" dirty="0" smtClean="0"/>
              <a:t>;</a:t>
            </a:r>
          </a:p>
          <a:p>
            <a:pPr lvl="2" eaLnBrk="1" hangingPunct="1">
              <a:lnSpc>
                <a:spcPct val="115000"/>
              </a:lnSpc>
            </a:pPr>
            <a:r>
              <a:rPr lang="zh-CN" altLang="en-US" smtClean="0"/>
              <a:t>统计学研究的是有特定内容的具体数量，不同于纯数量的研究。</a:t>
            </a:r>
          </a:p>
        </p:txBody>
      </p:sp>
      <p:sp>
        <p:nvSpPr>
          <p:cNvPr id="4" name="灯片编号占位符 3"/>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34</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940" name="Rectangle 6"/>
          <p:cNvSpPr>
            <a:spLocks noGrp="1" noChangeArrowheads="1"/>
          </p:cNvSpPr>
          <p:nvPr>
            <p:ph type="title"/>
          </p:nvPr>
        </p:nvSpPr>
        <p:spPr>
          <a:xfrm>
            <a:off x="785813" y="500063"/>
            <a:ext cx="7772400" cy="990600"/>
          </a:xfrm>
        </p:spPr>
        <p:txBody>
          <a:bodyPr/>
          <a:lstStyle/>
          <a:p>
            <a:pPr eaLnBrk="1" hangingPunct="1"/>
            <a:r>
              <a:rPr lang="en-US" altLang="zh-CN" dirty="0" smtClean="0"/>
              <a:t>§1.2.3 </a:t>
            </a:r>
            <a:r>
              <a:rPr lang="zh-CN" altLang="en-US" smtClean="0"/>
              <a:t>统计的特点（续）</a:t>
            </a:r>
          </a:p>
        </p:txBody>
      </p:sp>
      <p:sp>
        <p:nvSpPr>
          <p:cNvPr id="39938" name="Rectangle 3"/>
          <p:cNvSpPr>
            <a:spLocks noGrp="1" noChangeArrowheads="1"/>
          </p:cNvSpPr>
          <p:nvPr>
            <p:ph idx="1"/>
          </p:nvPr>
        </p:nvSpPr>
        <p:spPr>
          <a:xfrm>
            <a:off x="857250" y="1889125"/>
            <a:ext cx="7086600" cy="4968875"/>
          </a:xfrm>
        </p:spPr>
        <p:txBody>
          <a:bodyPr/>
          <a:lstStyle/>
          <a:p>
            <a:pPr eaLnBrk="1" hangingPunct="1">
              <a:lnSpc>
                <a:spcPct val="125000"/>
              </a:lnSpc>
              <a:spcBef>
                <a:spcPct val="35000"/>
              </a:spcBef>
              <a:buFontTx/>
              <a:buNone/>
            </a:pPr>
            <a:r>
              <a:rPr lang="en-US" altLang="zh-CN" dirty="0" smtClean="0">
                <a:solidFill>
                  <a:srgbClr val="D60093"/>
                </a:solidFill>
              </a:rPr>
              <a:t>2. </a:t>
            </a:r>
            <a:r>
              <a:rPr lang="zh-CN" altLang="en-US" smtClean="0">
                <a:solidFill>
                  <a:srgbClr val="D60093"/>
                </a:solidFill>
              </a:rPr>
              <a:t>总体性</a:t>
            </a:r>
          </a:p>
          <a:p>
            <a:pPr eaLnBrk="1" hangingPunct="1">
              <a:lnSpc>
                <a:spcPct val="120000"/>
              </a:lnSpc>
              <a:spcBef>
                <a:spcPct val="10000"/>
              </a:spcBef>
              <a:buSzPct val="80000"/>
              <a:buFontTx/>
              <a:buBlip>
                <a:blip r:embed="rId2"/>
              </a:buBlip>
            </a:pPr>
            <a:r>
              <a:rPr lang="en-US" altLang="zh-CN" sz="2800" dirty="0" smtClean="0">
                <a:solidFill>
                  <a:schemeClr val="tx2"/>
                </a:solidFill>
                <a:latin typeface="Arial" charset="0"/>
              </a:rPr>
              <a:t>——</a:t>
            </a:r>
            <a:r>
              <a:rPr lang="zh-CN" altLang="en-US" sz="2800" smtClean="0">
                <a:solidFill>
                  <a:schemeClr val="tx2"/>
                </a:solidFill>
              </a:rPr>
              <a:t>统计研究的是由同类事物构成的群体</a:t>
            </a:r>
            <a:r>
              <a:rPr lang="en-US" altLang="zh-CN" sz="2800" dirty="0" smtClean="0">
                <a:solidFill>
                  <a:schemeClr val="tx2"/>
                </a:solidFill>
              </a:rPr>
              <a:t>(</a:t>
            </a:r>
            <a:r>
              <a:rPr lang="zh-CN" altLang="en-US" sz="2800" smtClean="0">
                <a:solidFill>
                  <a:schemeClr val="tx2"/>
                </a:solidFill>
              </a:rPr>
              <a:t>总体</a:t>
            </a:r>
            <a:r>
              <a:rPr lang="en-US" altLang="zh-CN" sz="2800" dirty="0" smtClean="0">
                <a:solidFill>
                  <a:schemeClr val="tx2"/>
                </a:solidFill>
              </a:rPr>
              <a:t>)</a:t>
            </a:r>
            <a:r>
              <a:rPr lang="zh-CN" altLang="en-US" sz="2800" smtClean="0">
                <a:solidFill>
                  <a:schemeClr val="tx2"/>
                </a:solidFill>
              </a:rPr>
              <a:t>的数量特征 。</a:t>
            </a:r>
          </a:p>
          <a:p>
            <a:pPr lvl="1" eaLnBrk="1" hangingPunct="1">
              <a:lnSpc>
                <a:spcPct val="115000"/>
              </a:lnSpc>
              <a:buFontTx/>
              <a:buBlip>
                <a:blip r:embed="rId3"/>
              </a:buBlip>
            </a:pPr>
            <a:r>
              <a:rPr lang="zh-CN" altLang="en-US" smtClean="0">
                <a:solidFill>
                  <a:schemeClr val="tx2"/>
                </a:solidFill>
              </a:rPr>
              <a:t>规律性只有在总体层面上才能体现出来</a:t>
            </a:r>
            <a:r>
              <a:rPr lang="en-US" altLang="zh-CN" dirty="0" smtClean="0">
                <a:solidFill>
                  <a:schemeClr val="tx2"/>
                </a:solidFill>
              </a:rPr>
              <a:t>;</a:t>
            </a:r>
          </a:p>
          <a:p>
            <a:pPr lvl="1" eaLnBrk="1" hangingPunct="1">
              <a:lnSpc>
                <a:spcPct val="115000"/>
              </a:lnSpc>
              <a:buFontTx/>
              <a:buBlip>
                <a:blip r:embed="rId3"/>
              </a:buBlip>
            </a:pPr>
            <a:r>
              <a:rPr lang="zh-CN" altLang="en-US" smtClean="0">
                <a:solidFill>
                  <a:schemeClr val="tx2"/>
                </a:solidFill>
              </a:rPr>
              <a:t>但研究常常从观察个体数量特征入手，分析时也要注意一般与个别的结合</a:t>
            </a:r>
            <a:r>
              <a:rPr lang="en-US" altLang="zh-CN" dirty="0" smtClean="0">
                <a:solidFill>
                  <a:schemeClr val="tx2"/>
                </a:solidFill>
              </a:rPr>
              <a:t>.</a:t>
            </a:r>
          </a:p>
        </p:txBody>
      </p:sp>
      <p:sp>
        <p:nvSpPr>
          <p:cNvPr id="39939" name="Rectangle 5"/>
          <p:cNvSpPr>
            <a:spLocks noChangeArrowheads="1"/>
          </p:cNvSpPr>
          <p:nvPr/>
        </p:nvSpPr>
        <p:spPr bwMode="auto">
          <a:xfrm>
            <a:off x="1054100" y="444500"/>
            <a:ext cx="7772400" cy="990600"/>
          </a:xfrm>
          <a:prstGeom prst="rect">
            <a:avLst/>
          </a:prstGeom>
          <a:noFill/>
          <a:ln w="9525">
            <a:noFill/>
            <a:miter lim="800000"/>
            <a:headEnd/>
            <a:tailEnd/>
          </a:ln>
        </p:spPr>
        <p:txBody>
          <a:bodyPr anchor="b"/>
          <a:lstStyle/>
          <a:p>
            <a:pPr algn="ctr">
              <a:lnSpc>
                <a:spcPct val="100000"/>
              </a:lnSpc>
              <a:spcBef>
                <a:spcPct val="0"/>
              </a:spcBef>
              <a:buClrTx/>
              <a:buSzTx/>
              <a:buFontTx/>
              <a:buNone/>
            </a:pPr>
            <a:endParaRPr lang="zh-CN" altLang="zh-CN" sz="4400">
              <a:solidFill>
                <a:srgbClr val="3333FF"/>
              </a:solidFill>
              <a:latin typeface="Tahoma" pitchFamily="34" charset="0"/>
            </a:endParaRPr>
          </a:p>
        </p:txBody>
      </p:sp>
      <p:sp>
        <p:nvSpPr>
          <p:cNvPr id="5" name="灯片编号占位符 4"/>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35</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4" name="Rectangle 4"/>
          <p:cNvSpPr>
            <a:spLocks noGrp="1" noChangeArrowheads="1"/>
          </p:cNvSpPr>
          <p:nvPr>
            <p:ph type="title"/>
          </p:nvPr>
        </p:nvSpPr>
        <p:spPr/>
        <p:txBody>
          <a:bodyPr/>
          <a:lstStyle/>
          <a:p>
            <a:pPr eaLnBrk="1" hangingPunct="1"/>
            <a:r>
              <a:rPr lang="en-US" altLang="zh-CN" dirty="0" smtClean="0"/>
              <a:t>§1.2.4 </a:t>
            </a:r>
            <a:r>
              <a:rPr lang="zh-CN" altLang="en-US" dirty="0" smtClean="0"/>
              <a:t>统计研究的基本方法</a:t>
            </a:r>
          </a:p>
        </p:txBody>
      </p:sp>
      <p:sp>
        <p:nvSpPr>
          <p:cNvPr id="40962" name="Rectangle 2"/>
          <p:cNvSpPr>
            <a:spLocks noGrp="1" noChangeArrowheads="1"/>
          </p:cNvSpPr>
          <p:nvPr>
            <p:ph idx="1"/>
          </p:nvPr>
        </p:nvSpPr>
        <p:spPr>
          <a:xfrm>
            <a:off x="827088" y="1557338"/>
            <a:ext cx="7632700" cy="4968875"/>
          </a:xfrm>
        </p:spPr>
        <p:txBody>
          <a:bodyPr/>
          <a:lstStyle/>
          <a:p>
            <a:pPr eaLnBrk="1" hangingPunct="1">
              <a:lnSpc>
                <a:spcPct val="125000"/>
              </a:lnSpc>
              <a:spcBef>
                <a:spcPct val="35000"/>
              </a:spcBef>
              <a:buFontTx/>
              <a:buNone/>
            </a:pPr>
            <a:r>
              <a:rPr lang="en-US" altLang="zh-CN" dirty="0" smtClean="0">
                <a:solidFill>
                  <a:srgbClr val="D60093"/>
                </a:solidFill>
              </a:rPr>
              <a:t>1</a:t>
            </a:r>
            <a:r>
              <a:rPr lang="zh-CN" altLang="en-US" dirty="0" smtClean="0">
                <a:solidFill>
                  <a:srgbClr val="D60093"/>
                </a:solidFill>
              </a:rPr>
              <a:t>．大量观察法</a:t>
            </a:r>
          </a:p>
          <a:p>
            <a:pPr lvl="1" eaLnBrk="1" hangingPunct="1">
              <a:lnSpc>
                <a:spcPct val="125000"/>
              </a:lnSpc>
              <a:spcBef>
                <a:spcPct val="35000"/>
              </a:spcBef>
            </a:pPr>
            <a:r>
              <a:rPr lang="zh-CN" altLang="en-US" dirty="0" smtClean="0"/>
              <a:t>指为了对现象整体的数量规律有所了解，必须对所要研究现象的全部或足够多的个体进行调查的方法。</a:t>
            </a:r>
            <a:endParaRPr lang="en-US" altLang="zh-CN" dirty="0" smtClean="0"/>
          </a:p>
          <a:p>
            <a:pPr lvl="1" eaLnBrk="1" hangingPunct="1">
              <a:lnSpc>
                <a:spcPct val="125000"/>
              </a:lnSpc>
              <a:spcBef>
                <a:spcPct val="35000"/>
              </a:spcBef>
            </a:pPr>
            <a:r>
              <a:rPr lang="zh-CN" altLang="en-US" dirty="0" smtClean="0"/>
              <a:t>大量观察法实际上不是指一种具体方法，而是一种统计思想方法</a:t>
            </a:r>
            <a:r>
              <a:rPr lang="en-US" altLang="zh-CN" dirty="0" smtClean="0"/>
              <a:t>.</a:t>
            </a:r>
            <a:endParaRPr lang="en-US" altLang="zh-CN" sz="2400" dirty="0" smtClean="0"/>
          </a:p>
        </p:txBody>
      </p:sp>
      <p:sp>
        <p:nvSpPr>
          <p:cNvPr id="40963" name="Rectangle 3"/>
          <p:cNvSpPr>
            <a:spLocks noChangeArrowheads="1"/>
          </p:cNvSpPr>
          <p:nvPr/>
        </p:nvSpPr>
        <p:spPr bwMode="auto">
          <a:xfrm>
            <a:off x="1054100" y="444500"/>
            <a:ext cx="7772400" cy="990600"/>
          </a:xfrm>
          <a:prstGeom prst="rect">
            <a:avLst/>
          </a:prstGeom>
          <a:noFill/>
          <a:ln w="9525">
            <a:noFill/>
            <a:miter lim="800000"/>
            <a:headEnd/>
            <a:tailEnd/>
          </a:ln>
        </p:spPr>
        <p:txBody>
          <a:bodyPr anchor="b"/>
          <a:lstStyle/>
          <a:p>
            <a:pPr algn="ctr">
              <a:lnSpc>
                <a:spcPct val="100000"/>
              </a:lnSpc>
              <a:spcBef>
                <a:spcPct val="0"/>
              </a:spcBef>
              <a:buClrTx/>
              <a:buSzTx/>
              <a:buFontTx/>
              <a:buNone/>
            </a:pPr>
            <a:endParaRPr lang="zh-CN" altLang="zh-CN" sz="4400">
              <a:solidFill>
                <a:srgbClr val="3333FF"/>
              </a:solidFill>
              <a:latin typeface="Tahoma" pitchFamily="34" charset="0"/>
            </a:endParaRPr>
          </a:p>
        </p:txBody>
      </p:sp>
      <p:sp>
        <p:nvSpPr>
          <p:cNvPr id="5" name="灯片编号占位符 4"/>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36</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p:cNvSpPr>
            <a:spLocks noGrp="1" noChangeArrowheads="1"/>
          </p:cNvSpPr>
          <p:nvPr>
            <p:ph type="title" idx="4294967295"/>
          </p:nvPr>
        </p:nvSpPr>
        <p:spPr>
          <a:xfrm>
            <a:off x="1371600" y="228600"/>
            <a:ext cx="7772400" cy="990600"/>
          </a:xfrm>
        </p:spPr>
        <p:txBody>
          <a:bodyPr/>
          <a:lstStyle/>
          <a:p>
            <a:pPr eaLnBrk="1" hangingPunct="1"/>
            <a:r>
              <a:rPr lang="zh-CN" altLang="en-US" dirty="0" smtClean="0"/>
              <a:t>图</a:t>
            </a:r>
          </a:p>
        </p:txBody>
      </p:sp>
      <p:pic>
        <p:nvPicPr>
          <p:cNvPr id="41987" name="Picture 2" descr="stat"/>
          <p:cNvPicPr>
            <a:picLocks noChangeAspect="1" noChangeArrowheads="1"/>
          </p:cNvPicPr>
          <p:nvPr/>
        </p:nvPicPr>
        <p:blipFill>
          <a:blip r:embed="rId2" cstate="print"/>
          <a:srcRect/>
          <a:stretch>
            <a:fillRect/>
          </a:stretch>
        </p:blipFill>
        <p:spPr bwMode="auto">
          <a:xfrm>
            <a:off x="0" y="88900"/>
            <a:ext cx="9144000" cy="6769100"/>
          </a:xfrm>
          <a:prstGeom prst="rect">
            <a:avLst/>
          </a:prstGeom>
          <a:noFill/>
          <a:ln w="9525">
            <a:noFill/>
            <a:miter lim="800000"/>
            <a:headEnd/>
            <a:tailEnd/>
          </a:ln>
        </p:spPr>
      </p:pic>
      <p:sp>
        <p:nvSpPr>
          <p:cNvPr id="4" name="灯片编号占位符 3"/>
          <p:cNvSpPr>
            <a:spLocks noGrp="1"/>
          </p:cNvSpPr>
          <p:nvPr>
            <p:ph type="sldNum" sz="quarter" idx="12"/>
          </p:nvPr>
        </p:nvSpPr>
        <p:spPr/>
        <p:txBody>
          <a:bodyPr/>
          <a:lstStyle/>
          <a:p>
            <a:pPr>
              <a:defRPr/>
            </a:pPr>
            <a:fld id="{47B6616A-C4FF-49E2-A2BD-C1BE94A88A57}" type="slidenum">
              <a:rPr lang="en-US" altLang="zh-CN" smtClean="0">
                <a:solidFill>
                  <a:srgbClr val="545472"/>
                </a:solidFill>
              </a:rPr>
              <a:pPr>
                <a:defRPr/>
              </a:pPr>
              <a:t>37</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zh-CN" dirty="0" smtClean="0"/>
              <a:t>2</a:t>
            </a:r>
            <a:r>
              <a:rPr lang="zh-CN" altLang="en-US" dirty="0" smtClean="0"/>
              <a:t>．统计分组法</a:t>
            </a:r>
          </a:p>
        </p:txBody>
      </p:sp>
      <p:sp>
        <p:nvSpPr>
          <p:cNvPr id="43011" name="Rectangle 3"/>
          <p:cNvSpPr>
            <a:spLocks noGrp="1" noChangeArrowheads="1"/>
          </p:cNvSpPr>
          <p:nvPr>
            <p:ph idx="1"/>
          </p:nvPr>
        </p:nvSpPr>
        <p:spPr/>
        <p:txBody>
          <a:bodyPr/>
          <a:lstStyle/>
          <a:p>
            <a:pPr eaLnBrk="1" hangingPunct="1">
              <a:lnSpc>
                <a:spcPct val="115000"/>
              </a:lnSpc>
            </a:pPr>
            <a:r>
              <a:rPr lang="zh-CN" altLang="en-US" smtClean="0">
                <a:solidFill>
                  <a:srgbClr val="000000"/>
                </a:solidFill>
              </a:rPr>
              <a:t>指根据统计研究的需要，按一定的标志把总体分成若干组别的方法。通过统计分组，突出组与组之间的差异、抽象组内各单位差异，以便划分现象的类型、反映总体的内部结构和现象之间的相互关系。</a:t>
            </a:r>
          </a:p>
          <a:p>
            <a:pPr eaLnBrk="1" hangingPunct="1">
              <a:lnSpc>
                <a:spcPct val="115000"/>
              </a:lnSpc>
            </a:pPr>
            <a:r>
              <a:rPr lang="zh-CN" altLang="en-US" smtClean="0">
                <a:solidFill>
                  <a:srgbClr val="000000"/>
                </a:solidFill>
              </a:rPr>
              <a:t>统计分组法贯穿于统计研究和统计工作的全过程。</a:t>
            </a:r>
          </a:p>
        </p:txBody>
      </p:sp>
      <p:sp>
        <p:nvSpPr>
          <p:cNvPr id="4" name="灯片编号占位符 3"/>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38</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55650" y="476250"/>
            <a:ext cx="7772400" cy="990600"/>
          </a:xfrm>
        </p:spPr>
        <p:txBody>
          <a:bodyPr/>
          <a:lstStyle/>
          <a:p>
            <a:pPr eaLnBrk="1" hangingPunct="1"/>
            <a:r>
              <a:rPr lang="en-US" altLang="zh-CN" dirty="0" smtClean="0"/>
              <a:t>3</a:t>
            </a:r>
            <a:r>
              <a:rPr lang="zh-CN" altLang="en-US" dirty="0" smtClean="0"/>
              <a:t>．综合分析法</a:t>
            </a:r>
          </a:p>
        </p:txBody>
      </p:sp>
      <p:sp>
        <p:nvSpPr>
          <p:cNvPr id="44035" name="Rectangle 3"/>
          <p:cNvSpPr>
            <a:spLocks noGrp="1" noChangeArrowheads="1"/>
          </p:cNvSpPr>
          <p:nvPr>
            <p:ph idx="1"/>
          </p:nvPr>
        </p:nvSpPr>
        <p:spPr/>
        <p:txBody>
          <a:bodyPr/>
          <a:lstStyle/>
          <a:p>
            <a:pPr eaLnBrk="1" hangingPunct="1">
              <a:lnSpc>
                <a:spcPct val="115000"/>
              </a:lnSpc>
            </a:pPr>
            <a:r>
              <a:rPr lang="zh-CN" altLang="en-US" smtClean="0">
                <a:solidFill>
                  <a:srgbClr val="000000"/>
                </a:solidFill>
              </a:rPr>
              <a:t>指运用各种经过科学分类汇总的综合指标和各种分析方法，如时间数列分析法、指数分析法、相关回归分析法等，反映现象总体在一定时间、地点、条件下的规模、水平、对比关系、集中趋势、差异程度、依存关系、发展趋势和变化规律等。</a:t>
            </a:r>
          </a:p>
        </p:txBody>
      </p:sp>
      <p:sp>
        <p:nvSpPr>
          <p:cNvPr id="4" name="灯片编号占位符 3"/>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39</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500063" y="500063"/>
            <a:ext cx="7772400" cy="990600"/>
          </a:xfrm>
        </p:spPr>
        <p:txBody>
          <a:bodyPr/>
          <a:lstStyle/>
          <a:p>
            <a:pPr eaLnBrk="1" hangingPunct="1"/>
            <a:r>
              <a:rPr lang="en-US" altLang="zh-CN" dirty="0" smtClean="0"/>
              <a:t>4</a:t>
            </a:r>
            <a:r>
              <a:rPr lang="zh-CN" altLang="en-US" dirty="0" smtClean="0"/>
              <a:t>．归纳推断法</a:t>
            </a:r>
          </a:p>
        </p:txBody>
      </p:sp>
      <p:sp>
        <p:nvSpPr>
          <p:cNvPr id="45059" name="Rectangle 3"/>
          <p:cNvSpPr>
            <a:spLocks noGrp="1" noChangeArrowheads="1"/>
          </p:cNvSpPr>
          <p:nvPr>
            <p:ph idx="1"/>
          </p:nvPr>
        </p:nvSpPr>
        <p:spPr>
          <a:xfrm>
            <a:off x="357188" y="1785938"/>
            <a:ext cx="8501062" cy="4857750"/>
          </a:xfrm>
        </p:spPr>
        <p:txBody>
          <a:bodyPr/>
          <a:lstStyle/>
          <a:p>
            <a:pPr eaLnBrk="1" hangingPunct="1">
              <a:lnSpc>
                <a:spcPct val="110000"/>
              </a:lnSpc>
            </a:pPr>
            <a:r>
              <a:rPr lang="zh-CN" altLang="en-US" dirty="0" smtClean="0">
                <a:solidFill>
                  <a:srgbClr val="000000"/>
                </a:solidFill>
              </a:rPr>
              <a:t>指由大量个别事物的事实，概括出现象总体的一般特征、通过归纳来总结出规律的推理方法。</a:t>
            </a:r>
            <a:endParaRPr lang="en-US" altLang="zh-CN" dirty="0" smtClean="0">
              <a:solidFill>
                <a:srgbClr val="000000"/>
              </a:solidFill>
            </a:endParaRPr>
          </a:p>
          <a:p>
            <a:pPr lvl="1" eaLnBrk="1" hangingPunct="1">
              <a:lnSpc>
                <a:spcPct val="110000"/>
              </a:lnSpc>
              <a:buClr>
                <a:schemeClr val="tx1"/>
              </a:buClr>
              <a:buNone/>
            </a:pPr>
            <a:r>
              <a:rPr lang="zh-CN" altLang="en-US" dirty="0" smtClean="0"/>
              <a:t>     </a:t>
            </a:r>
            <a:r>
              <a:rPr lang="zh-CN" altLang="en-US" dirty="0" smtClean="0">
                <a:solidFill>
                  <a:schemeClr val="tx1"/>
                </a:solidFill>
              </a:rPr>
              <a:t>归纳推断可以使我们从具体的事实中得到一般的知识，扩大知识领域，加深认识程度。</a:t>
            </a:r>
          </a:p>
          <a:p>
            <a:pPr eaLnBrk="1" hangingPunct="1">
              <a:lnSpc>
                <a:spcPct val="110000"/>
              </a:lnSpc>
            </a:pPr>
            <a:r>
              <a:rPr lang="zh-CN" altLang="en-US" dirty="0" smtClean="0">
                <a:solidFill>
                  <a:srgbClr val="000000"/>
                </a:solidFill>
              </a:rPr>
              <a:t>从部分单位的事实归纳推断出现象总体的数量特征</a:t>
            </a:r>
            <a:r>
              <a:rPr lang="en-US" altLang="zh-CN" dirty="0" smtClean="0">
                <a:solidFill>
                  <a:srgbClr val="000000"/>
                </a:solidFill>
              </a:rPr>
              <a:t>——</a:t>
            </a:r>
            <a:r>
              <a:rPr lang="zh-CN" altLang="en-US" dirty="0" smtClean="0">
                <a:solidFill>
                  <a:srgbClr val="000000"/>
                </a:solidFill>
              </a:rPr>
              <a:t>推断统计</a:t>
            </a:r>
            <a:endParaRPr lang="en-US" altLang="zh-CN" dirty="0" smtClean="0">
              <a:solidFill>
                <a:srgbClr val="000000"/>
              </a:solidFill>
            </a:endParaRPr>
          </a:p>
          <a:p>
            <a:pPr eaLnBrk="1" hangingPunct="1">
              <a:lnSpc>
                <a:spcPct val="110000"/>
              </a:lnSpc>
            </a:pPr>
            <a:endParaRPr lang="zh-CN" altLang="en-US" dirty="0" smtClean="0">
              <a:solidFill>
                <a:srgbClr val="000000"/>
              </a:solidFill>
            </a:endParaRPr>
          </a:p>
        </p:txBody>
      </p:sp>
      <p:sp>
        <p:nvSpPr>
          <p:cNvPr id="4" name="灯片编号占位符 3"/>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40</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79388" y="836613"/>
            <a:ext cx="8208962" cy="863600"/>
          </a:xfrm>
        </p:spPr>
        <p:txBody>
          <a:bodyPr/>
          <a:lstStyle/>
          <a:p>
            <a:pPr eaLnBrk="1" hangingPunct="1"/>
            <a:r>
              <a:rPr lang="en-US" altLang="zh-CN" dirty="0" smtClean="0">
                <a:solidFill>
                  <a:srgbClr val="0000FF"/>
                </a:solidFill>
              </a:rPr>
              <a:t>§1.3  </a:t>
            </a:r>
            <a:r>
              <a:rPr lang="zh-CN" altLang="en-US" dirty="0" smtClean="0">
                <a:solidFill>
                  <a:srgbClr val="0000FF"/>
                </a:solidFill>
              </a:rPr>
              <a:t>统计学中的基本概念</a:t>
            </a:r>
          </a:p>
        </p:txBody>
      </p:sp>
      <p:sp>
        <p:nvSpPr>
          <p:cNvPr id="46083" name="Rectangle 3"/>
          <p:cNvSpPr>
            <a:spLocks noGrp="1" noChangeArrowheads="1"/>
          </p:cNvSpPr>
          <p:nvPr>
            <p:ph idx="1"/>
          </p:nvPr>
        </p:nvSpPr>
        <p:spPr>
          <a:xfrm>
            <a:off x="1187624" y="2276872"/>
            <a:ext cx="6954838" cy="4221162"/>
          </a:xfrm>
        </p:spPr>
        <p:txBody>
          <a:bodyPr/>
          <a:lstStyle/>
          <a:p>
            <a:pPr lvl="1" eaLnBrk="1" hangingPunct="1">
              <a:lnSpc>
                <a:spcPct val="150000"/>
              </a:lnSpc>
              <a:spcBef>
                <a:spcPts val="1200"/>
              </a:spcBef>
            </a:pPr>
            <a:r>
              <a:rPr lang="en-US" altLang="zh-CN" sz="3600" dirty="0" smtClean="0"/>
              <a:t>§1.3.1 </a:t>
            </a:r>
            <a:r>
              <a:rPr lang="zh-CN" altLang="en-US" sz="3600" dirty="0" smtClean="0"/>
              <a:t>总体、个体与样本</a:t>
            </a:r>
          </a:p>
          <a:p>
            <a:pPr lvl="1" eaLnBrk="1" hangingPunct="1">
              <a:lnSpc>
                <a:spcPct val="150000"/>
              </a:lnSpc>
              <a:spcBef>
                <a:spcPts val="1200"/>
              </a:spcBef>
            </a:pPr>
            <a:r>
              <a:rPr lang="en-US" altLang="zh-CN" sz="3600" dirty="0" smtClean="0"/>
              <a:t>§1.3.2 </a:t>
            </a:r>
            <a:r>
              <a:rPr lang="zh-CN" altLang="en-US" sz="3600" dirty="0" smtClean="0"/>
              <a:t>标志、指标与变量</a:t>
            </a:r>
          </a:p>
          <a:p>
            <a:pPr lvl="1" eaLnBrk="1" hangingPunct="1">
              <a:lnSpc>
                <a:spcPct val="150000"/>
              </a:lnSpc>
              <a:spcBef>
                <a:spcPts val="1200"/>
              </a:spcBef>
            </a:pPr>
            <a:r>
              <a:rPr lang="en-US" altLang="zh-CN" sz="3600" dirty="0" smtClean="0"/>
              <a:t>§1.3.3 </a:t>
            </a:r>
            <a:r>
              <a:rPr lang="zh-CN" altLang="en-US" sz="3600" dirty="0" smtClean="0"/>
              <a:t>统计数据的计量尺度</a:t>
            </a:r>
          </a:p>
        </p:txBody>
      </p:sp>
      <p:sp>
        <p:nvSpPr>
          <p:cNvPr id="4" name="灯片编号占位符 3"/>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41</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539750" y="1052513"/>
            <a:ext cx="8137525" cy="433387"/>
          </a:xfrm>
        </p:spPr>
        <p:txBody>
          <a:bodyPr/>
          <a:lstStyle/>
          <a:p>
            <a:pPr eaLnBrk="1" hangingPunct="1"/>
            <a:r>
              <a:rPr lang="en-US" altLang="zh-CN" dirty="0" smtClean="0"/>
              <a:t>§1.3.1 </a:t>
            </a:r>
            <a:r>
              <a:rPr lang="zh-CN" altLang="en-US" dirty="0" smtClean="0"/>
              <a:t>总体、个体与样本</a:t>
            </a:r>
          </a:p>
        </p:txBody>
      </p:sp>
      <p:sp>
        <p:nvSpPr>
          <p:cNvPr id="290819" name="Rectangle 3"/>
          <p:cNvSpPr>
            <a:spLocks noGrp="1" noChangeArrowheads="1"/>
          </p:cNvSpPr>
          <p:nvPr>
            <p:ph idx="1"/>
          </p:nvPr>
        </p:nvSpPr>
        <p:spPr>
          <a:xfrm>
            <a:off x="395536" y="1628801"/>
            <a:ext cx="8136904" cy="4868838"/>
          </a:xfrm>
        </p:spPr>
        <p:txBody>
          <a:bodyPr/>
          <a:lstStyle/>
          <a:p>
            <a:pPr lvl="1" eaLnBrk="1" hangingPunct="1">
              <a:lnSpc>
                <a:spcPct val="110000"/>
              </a:lnSpc>
              <a:spcBef>
                <a:spcPts val="600"/>
              </a:spcBef>
            </a:pPr>
            <a:r>
              <a:rPr lang="zh-CN" altLang="en-US" dirty="0" smtClean="0">
                <a:solidFill>
                  <a:srgbClr val="D60093"/>
                </a:solidFill>
              </a:rPr>
              <a:t>总体</a:t>
            </a:r>
            <a:r>
              <a:rPr lang="zh-CN" altLang="en-US" sz="2400" dirty="0" smtClean="0">
                <a:solidFill>
                  <a:srgbClr val="003300"/>
                </a:solidFill>
              </a:rPr>
              <a:t>是在一定的研究目的下，所要研究事物的全体，它是由客观存在的、具有某种共同性质的众多个别事物构成的整体。</a:t>
            </a:r>
            <a:r>
              <a:rPr lang="zh-CN" altLang="zh-CN" sz="2400" dirty="0" smtClean="0">
                <a:solidFill>
                  <a:schemeClr val="tx1"/>
                </a:solidFill>
              </a:rPr>
              <a:t>总体</a:t>
            </a:r>
            <a:r>
              <a:rPr lang="zh-CN" altLang="en-US" sz="2400" dirty="0" smtClean="0">
                <a:solidFill>
                  <a:schemeClr val="tx1"/>
                </a:solidFill>
              </a:rPr>
              <a:t>单位数</a:t>
            </a:r>
            <a:r>
              <a:rPr lang="zh-CN" altLang="zh-CN" sz="2400" dirty="0" smtClean="0">
                <a:solidFill>
                  <a:schemeClr val="tx1"/>
                </a:solidFill>
              </a:rPr>
              <a:t>用 Ｎ 表示。</a:t>
            </a:r>
            <a:endParaRPr lang="zh-CN" altLang="en-US" sz="2400" dirty="0" smtClean="0">
              <a:solidFill>
                <a:schemeClr val="tx1"/>
              </a:solidFill>
            </a:endParaRPr>
          </a:p>
          <a:p>
            <a:pPr lvl="1" eaLnBrk="1" hangingPunct="1">
              <a:lnSpc>
                <a:spcPct val="110000"/>
              </a:lnSpc>
              <a:spcBef>
                <a:spcPts val="600"/>
              </a:spcBef>
            </a:pPr>
            <a:r>
              <a:rPr lang="zh-CN" altLang="en-US" dirty="0" smtClean="0">
                <a:solidFill>
                  <a:srgbClr val="D60093"/>
                </a:solidFill>
              </a:rPr>
              <a:t>总体单位（个体）</a:t>
            </a:r>
            <a:r>
              <a:rPr lang="zh-CN" altLang="en-US" sz="2400" dirty="0" smtClean="0">
                <a:solidFill>
                  <a:srgbClr val="003300"/>
                </a:solidFill>
              </a:rPr>
              <a:t>是</a:t>
            </a:r>
            <a:r>
              <a:rPr lang="zh-CN" altLang="en-US" sz="2400" dirty="0" smtClean="0"/>
              <a:t>构成总体基本单位的个别事物</a:t>
            </a:r>
            <a:r>
              <a:rPr lang="zh-CN" altLang="en-US" sz="2400" dirty="0" smtClean="0">
                <a:solidFill>
                  <a:srgbClr val="003300"/>
                </a:solidFill>
              </a:rPr>
              <a:t>，是所要研究具体问题的承担者。</a:t>
            </a:r>
            <a:endParaRPr lang="en-US" altLang="zh-CN" sz="2400" dirty="0" smtClean="0">
              <a:solidFill>
                <a:srgbClr val="003300"/>
              </a:solidFill>
            </a:endParaRPr>
          </a:p>
          <a:p>
            <a:pPr lvl="2" eaLnBrk="1" hangingPunct="1">
              <a:lnSpc>
                <a:spcPct val="110000"/>
              </a:lnSpc>
              <a:spcBef>
                <a:spcPts val="600"/>
              </a:spcBef>
            </a:pPr>
            <a:r>
              <a:rPr lang="zh-CN" altLang="zh-CN" sz="2000" dirty="0" smtClean="0">
                <a:solidFill>
                  <a:srgbClr val="0070C0"/>
                </a:solidFill>
              </a:rPr>
              <a:t>在统计调查中，常常称总体为调查对象，称个体为调查单位。</a:t>
            </a:r>
            <a:endParaRPr lang="zh-CN" altLang="en-US" sz="2000" dirty="0" smtClean="0">
              <a:solidFill>
                <a:srgbClr val="003300"/>
              </a:solidFill>
            </a:endParaRPr>
          </a:p>
          <a:p>
            <a:pPr lvl="1" eaLnBrk="1" hangingPunct="1">
              <a:lnSpc>
                <a:spcPct val="110000"/>
              </a:lnSpc>
              <a:spcBef>
                <a:spcPts val="600"/>
              </a:spcBef>
            </a:pPr>
            <a:r>
              <a:rPr lang="zh-CN" altLang="en-US" dirty="0" smtClean="0">
                <a:solidFill>
                  <a:srgbClr val="D60093"/>
                </a:solidFill>
              </a:rPr>
              <a:t>样本</a:t>
            </a:r>
            <a:r>
              <a:rPr lang="zh-CN" altLang="en-US" sz="2400" dirty="0" smtClean="0"/>
              <a:t>是从总体中抽取的一部分个体的集合。</a:t>
            </a:r>
          </a:p>
          <a:p>
            <a:pPr lvl="2" eaLnBrk="1" hangingPunct="1">
              <a:lnSpc>
                <a:spcPct val="110000"/>
              </a:lnSpc>
              <a:spcBef>
                <a:spcPts val="600"/>
              </a:spcBef>
            </a:pPr>
            <a:r>
              <a:rPr lang="zh-CN" altLang="en-US" dirty="0" smtClean="0"/>
              <a:t>构成样本的个体的数目称为样本容量。</a:t>
            </a:r>
            <a:r>
              <a:rPr lang="zh-CN" altLang="en-US" sz="2000" dirty="0" smtClean="0">
                <a:solidFill>
                  <a:schemeClr val="tx1"/>
                </a:solidFill>
              </a:rPr>
              <a:t>常</a:t>
            </a:r>
            <a:r>
              <a:rPr lang="zh-CN" altLang="zh-CN" sz="2000" dirty="0" smtClean="0">
                <a:solidFill>
                  <a:schemeClr val="tx1"/>
                </a:solidFill>
              </a:rPr>
              <a:t>用 ｎ 表示</a:t>
            </a:r>
            <a:r>
              <a:rPr lang="zh-CN" altLang="en-US" sz="2000" dirty="0" smtClean="0">
                <a:solidFill>
                  <a:schemeClr val="tx1"/>
                </a:solidFill>
              </a:rPr>
              <a:t>。</a:t>
            </a:r>
            <a:endParaRPr lang="zh-CN" altLang="en-US" dirty="0" smtClean="0">
              <a:solidFill>
                <a:schemeClr val="tx1"/>
              </a:solidFill>
            </a:endParaRPr>
          </a:p>
          <a:p>
            <a:pPr lvl="2" eaLnBrk="1" hangingPunct="1">
              <a:lnSpc>
                <a:spcPct val="110000"/>
              </a:lnSpc>
              <a:spcBef>
                <a:spcPts val="600"/>
              </a:spcBef>
            </a:pPr>
            <a:r>
              <a:rPr lang="zh-CN" altLang="en-US" dirty="0" smtClean="0"/>
              <a:t>样本目的是要根据样本提供的有关信息去推断总体的特征。</a:t>
            </a:r>
          </a:p>
        </p:txBody>
      </p:sp>
      <p:sp>
        <p:nvSpPr>
          <p:cNvPr id="4" name="灯片编号占位符 3"/>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42</a:t>
            </a:fld>
            <a:endParaRPr lang="en-US" altLang="zh-CN" dirty="0">
              <a:solidFill>
                <a:srgbClr val="545472"/>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0819">
                                            <p:txEl>
                                              <p:pRg st="1" end="1"/>
                                            </p:txEl>
                                          </p:spTgt>
                                        </p:tgtEl>
                                        <p:attrNameLst>
                                          <p:attrName>style.visibility</p:attrName>
                                        </p:attrNameLst>
                                      </p:cBhvr>
                                      <p:to>
                                        <p:strVal val="visible"/>
                                      </p:to>
                                    </p:set>
                                    <p:animEffect transition="in" filter="wipe(left)">
                                      <p:cBhvr>
                                        <p:cTn id="7" dur="500"/>
                                        <p:tgtEl>
                                          <p:spTgt spid="290819">
                                            <p:txEl>
                                              <p:pRg st="1" end="1"/>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90819">
                                            <p:txEl>
                                              <p:pRg st="2" end="2"/>
                                            </p:txEl>
                                          </p:spTgt>
                                        </p:tgtEl>
                                        <p:attrNameLst>
                                          <p:attrName>style.visibility</p:attrName>
                                        </p:attrNameLst>
                                      </p:cBhvr>
                                      <p:to>
                                        <p:strVal val="visible"/>
                                      </p:to>
                                    </p:set>
                                    <p:animEffect transition="in" filter="wipe(left)">
                                      <p:cBhvr>
                                        <p:cTn id="10" dur="500"/>
                                        <p:tgtEl>
                                          <p:spTgt spid="290819">
                                            <p:txEl>
                                              <p:pRg st="2" end="2"/>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90819">
                                            <p:txEl>
                                              <p:pRg st="3" end="3"/>
                                            </p:txEl>
                                          </p:spTgt>
                                        </p:tgtEl>
                                        <p:attrNameLst>
                                          <p:attrName>style.visibility</p:attrName>
                                        </p:attrNameLst>
                                      </p:cBhvr>
                                      <p:to>
                                        <p:strVal val="visible"/>
                                      </p:to>
                                    </p:set>
                                    <p:animEffect transition="in" filter="wipe(left)">
                                      <p:cBhvr>
                                        <p:cTn id="13" dur="500"/>
                                        <p:tgtEl>
                                          <p:spTgt spid="290819">
                                            <p:txEl>
                                              <p:pRg st="3" end="3"/>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90819">
                                            <p:txEl>
                                              <p:pRg st="4" end="4"/>
                                            </p:txEl>
                                          </p:spTgt>
                                        </p:tgtEl>
                                        <p:attrNameLst>
                                          <p:attrName>style.visibility</p:attrName>
                                        </p:attrNameLst>
                                      </p:cBhvr>
                                      <p:to>
                                        <p:strVal val="visible"/>
                                      </p:to>
                                    </p:set>
                                    <p:animEffect transition="in" filter="wipe(left)">
                                      <p:cBhvr>
                                        <p:cTn id="16" dur="500"/>
                                        <p:tgtEl>
                                          <p:spTgt spid="290819">
                                            <p:txEl>
                                              <p:pRg st="4" end="4"/>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90819">
                                            <p:txEl>
                                              <p:pRg st="5" end="5"/>
                                            </p:txEl>
                                          </p:spTgt>
                                        </p:tgtEl>
                                        <p:attrNameLst>
                                          <p:attrName>style.visibility</p:attrName>
                                        </p:attrNameLst>
                                      </p:cBhvr>
                                      <p:to>
                                        <p:strVal val="visible"/>
                                      </p:to>
                                    </p:set>
                                    <p:animEffect transition="in" filter="wipe(left)">
                                      <p:cBhvr>
                                        <p:cTn id="19" dur="500"/>
                                        <p:tgtEl>
                                          <p:spTgt spid="2908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19"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1" name="Rectangle 4"/>
          <p:cNvSpPr>
            <a:spLocks noGrp="1" noChangeArrowheads="1"/>
          </p:cNvSpPr>
          <p:nvPr>
            <p:ph type="title"/>
          </p:nvPr>
        </p:nvSpPr>
        <p:spPr>
          <a:xfrm>
            <a:off x="838200" y="228600"/>
            <a:ext cx="7772400" cy="496888"/>
          </a:xfrm>
        </p:spPr>
        <p:txBody>
          <a:bodyPr/>
          <a:lstStyle/>
          <a:p>
            <a:pPr eaLnBrk="1" hangingPunct="1"/>
            <a:r>
              <a:rPr lang="zh-CN" altLang="en-US" dirty="0" smtClean="0"/>
              <a:t>例</a:t>
            </a:r>
          </a:p>
        </p:txBody>
      </p:sp>
      <p:sp>
        <p:nvSpPr>
          <p:cNvPr id="291842" name="Rectangle 2"/>
          <p:cNvSpPr>
            <a:spLocks noGrp="1" noChangeArrowheads="1"/>
          </p:cNvSpPr>
          <p:nvPr>
            <p:ph idx="1"/>
          </p:nvPr>
        </p:nvSpPr>
        <p:spPr>
          <a:xfrm>
            <a:off x="900113" y="1125538"/>
            <a:ext cx="7056437" cy="5240337"/>
          </a:xfrm>
        </p:spPr>
        <p:txBody>
          <a:bodyPr/>
          <a:lstStyle/>
          <a:p>
            <a:pPr eaLnBrk="1" hangingPunct="1">
              <a:spcBef>
                <a:spcPct val="15000"/>
              </a:spcBef>
              <a:buFontTx/>
              <a:buNone/>
            </a:pPr>
            <a:r>
              <a:rPr lang="zh-CN" altLang="en-US" sz="3600" b="0" smtClean="0">
                <a:solidFill>
                  <a:srgbClr val="0000FF"/>
                </a:solidFill>
              </a:rPr>
              <a:t>目的：研究某个班学生的学习情况</a:t>
            </a:r>
            <a:r>
              <a:rPr lang="zh-CN" altLang="en-US" sz="3600" smtClean="0">
                <a:solidFill>
                  <a:srgbClr val="0000FF"/>
                </a:solidFill>
              </a:rPr>
              <a:t> </a:t>
            </a:r>
          </a:p>
          <a:p>
            <a:pPr eaLnBrk="1" hangingPunct="1">
              <a:spcBef>
                <a:spcPct val="15000"/>
              </a:spcBef>
              <a:buFontTx/>
              <a:buNone/>
            </a:pPr>
            <a:r>
              <a:rPr lang="zh-CN" altLang="en-US" sz="3600" b="0" smtClean="0">
                <a:solidFill>
                  <a:srgbClr val="A50021"/>
                </a:solidFill>
              </a:rPr>
              <a:t>    </a:t>
            </a:r>
            <a:r>
              <a:rPr lang="zh-CN" altLang="en-US" sz="3600" b="0" smtClean="0">
                <a:solidFill>
                  <a:schemeClr val="tx2"/>
                </a:solidFill>
              </a:rPr>
              <a:t> 个体：该班每一个学生 </a:t>
            </a:r>
            <a:endParaRPr lang="en-US" altLang="zh-CN" sz="3600" b="0" dirty="0" smtClean="0">
              <a:solidFill>
                <a:schemeClr val="tx2"/>
              </a:solidFill>
            </a:endParaRPr>
          </a:p>
          <a:p>
            <a:pPr eaLnBrk="1" hangingPunct="1">
              <a:spcBef>
                <a:spcPct val="15000"/>
              </a:spcBef>
              <a:buFontTx/>
              <a:buNone/>
            </a:pPr>
            <a:r>
              <a:rPr lang="en-US" altLang="zh-CN" sz="3600" b="0" dirty="0" smtClean="0">
                <a:solidFill>
                  <a:schemeClr val="tx2"/>
                </a:solidFill>
              </a:rPr>
              <a:t>     </a:t>
            </a:r>
            <a:r>
              <a:rPr lang="zh-CN" altLang="en-US" sz="3600" b="0" smtClean="0">
                <a:solidFill>
                  <a:schemeClr val="tx2"/>
                </a:solidFill>
              </a:rPr>
              <a:t>总体：全班所有的学生 </a:t>
            </a:r>
          </a:p>
          <a:p>
            <a:pPr eaLnBrk="1" hangingPunct="1">
              <a:spcBef>
                <a:spcPct val="15000"/>
              </a:spcBef>
              <a:buFontTx/>
              <a:buNone/>
            </a:pPr>
            <a:r>
              <a:rPr lang="zh-CN" altLang="en-US" sz="3600" b="0" smtClean="0">
                <a:solidFill>
                  <a:schemeClr val="tx2"/>
                </a:solidFill>
              </a:rPr>
              <a:t>      样本：从该班抽取的部分学生 </a:t>
            </a:r>
          </a:p>
          <a:p>
            <a:pPr eaLnBrk="1" hangingPunct="1">
              <a:spcBef>
                <a:spcPct val="15000"/>
              </a:spcBef>
              <a:buFontTx/>
              <a:buNone/>
            </a:pPr>
            <a:r>
              <a:rPr lang="zh-CN" altLang="en-US" sz="3600" b="0" smtClean="0">
                <a:solidFill>
                  <a:srgbClr val="0000FF"/>
                </a:solidFill>
              </a:rPr>
              <a:t>目的：了解某市的工业生产情况</a:t>
            </a:r>
            <a:r>
              <a:rPr lang="zh-CN" altLang="en-US" sz="3600" b="0" smtClean="0"/>
              <a:t> </a:t>
            </a:r>
          </a:p>
          <a:p>
            <a:pPr eaLnBrk="1" hangingPunct="1">
              <a:spcBef>
                <a:spcPct val="15000"/>
              </a:spcBef>
              <a:buFontTx/>
              <a:buNone/>
            </a:pPr>
            <a:r>
              <a:rPr lang="zh-CN" altLang="en-US" sz="3600" b="0" smtClean="0">
                <a:solidFill>
                  <a:schemeClr val="tx2"/>
                </a:solidFill>
              </a:rPr>
              <a:t>     个体：每一个工业企业</a:t>
            </a:r>
            <a:endParaRPr lang="en-US" altLang="zh-CN" sz="3600" b="0" dirty="0" smtClean="0">
              <a:solidFill>
                <a:schemeClr val="tx2"/>
              </a:solidFill>
            </a:endParaRPr>
          </a:p>
          <a:p>
            <a:pPr eaLnBrk="1" hangingPunct="1">
              <a:spcBef>
                <a:spcPct val="15000"/>
              </a:spcBef>
              <a:buFontTx/>
              <a:buNone/>
            </a:pPr>
            <a:r>
              <a:rPr lang="zh-CN" altLang="en-US" sz="3600" b="0" smtClean="0">
                <a:solidFill>
                  <a:schemeClr val="tx2"/>
                </a:solidFill>
              </a:rPr>
              <a:t>      总体：所有的工业企业    </a:t>
            </a:r>
          </a:p>
          <a:p>
            <a:pPr eaLnBrk="1" hangingPunct="1">
              <a:spcBef>
                <a:spcPct val="15000"/>
              </a:spcBef>
              <a:buFontTx/>
              <a:buNone/>
            </a:pPr>
            <a:r>
              <a:rPr lang="zh-CN" altLang="en-US" sz="3600" b="0" smtClean="0">
                <a:solidFill>
                  <a:schemeClr val="tx2"/>
                </a:solidFill>
              </a:rPr>
              <a:t>      样本：从该市抽取的部分企业</a:t>
            </a:r>
          </a:p>
        </p:txBody>
      </p:sp>
      <p:sp>
        <p:nvSpPr>
          <p:cNvPr id="4" name="灯片编号占位符 3"/>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43</a:t>
            </a:fld>
            <a:endParaRPr lang="en-US" altLang="zh-CN" dirty="0">
              <a:solidFill>
                <a:srgbClr val="545472"/>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iterate type="lt">
                                    <p:tmPct val="0"/>
                                  </p:iterate>
                                  <p:childTnLst>
                                    <p:set>
                                      <p:cBhvr>
                                        <p:cTn id="6" dur="1" fill="hold">
                                          <p:stCondLst>
                                            <p:cond delay="0"/>
                                          </p:stCondLst>
                                        </p:cTn>
                                        <p:tgtEl>
                                          <p:spTgt spid="291842">
                                            <p:txEl>
                                              <p:pRg st="1" end="1"/>
                                            </p:txEl>
                                          </p:spTgt>
                                        </p:tgtEl>
                                        <p:attrNameLst>
                                          <p:attrName>style.visibility</p:attrName>
                                        </p:attrNameLst>
                                      </p:cBhvr>
                                      <p:to>
                                        <p:strVal val="visible"/>
                                      </p:to>
                                    </p:set>
                                    <p:anim calcmode="lin" valueType="num">
                                      <p:cBhvr additive="base">
                                        <p:cTn id="7" dur="500" fill="hold"/>
                                        <p:tgtEl>
                                          <p:spTgt spid="29184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9184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iterate type="lt">
                                    <p:tmPct val="0"/>
                                  </p:iterate>
                                  <p:childTnLst>
                                    <p:set>
                                      <p:cBhvr>
                                        <p:cTn id="12" dur="1" fill="hold">
                                          <p:stCondLst>
                                            <p:cond delay="0"/>
                                          </p:stCondLst>
                                        </p:cTn>
                                        <p:tgtEl>
                                          <p:spTgt spid="291842">
                                            <p:txEl>
                                              <p:pRg st="2" end="2"/>
                                            </p:txEl>
                                          </p:spTgt>
                                        </p:tgtEl>
                                        <p:attrNameLst>
                                          <p:attrName>style.visibility</p:attrName>
                                        </p:attrNameLst>
                                      </p:cBhvr>
                                      <p:to>
                                        <p:strVal val="visible"/>
                                      </p:to>
                                    </p:set>
                                    <p:anim calcmode="lin" valueType="num">
                                      <p:cBhvr additive="base">
                                        <p:cTn id="13" dur="500" fill="hold"/>
                                        <p:tgtEl>
                                          <p:spTgt spid="29184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9184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iterate type="lt">
                                    <p:tmPct val="0"/>
                                  </p:iterate>
                                  <p:childTnLst>
                                    <p:set>
                                      <p:cBhvr>
                                        <p:cTn id="18" dur="1" fill="hold">
                                          <p:stCondLst>
                                            <p:cond delay="0"/>
                                          </p:stCondLst>
                                        </p:cTn>
                                        <p:tgtEl>
                                          <p:spTgt spid="291842">
                                            <p:txEl>
                                              <p:pRg st="3" end="3"/>
                                            </p:txEl>
                                          </p:spTgt>
                                        </p:tgtEl>
                                        <p:attrNameLst>
                                          <p:attrName>style.visibility</p:attrName>
                                        </p:attrNameLst>
                                      </p:cBhvr>
                                      <p:to>
                                        <p:strVal val="visible"/>
                                      </p:to>
                                    </p:set>
                                    <p:anim calcmode="lin" valueType="num">
                                      <p:cBhvr additive="base">
                                        <p:cTn id="19" dur="500" fill="hold"/>
                                        <p:tgtEl>
                                          <p:spTgt spid="291842">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9184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iterate type="lt">
                                    <p:tmPct val="0"/>
                                  </p:iterate>
                                  <p:childTnLst>
                                    <p:set>
                                      <p:cBhvr>
                                        <p:cTn id="24" dur="1" fill="hold">
                                          <p:stCondLst>
                                            <p:cond delay="0"/>
                                          </p:stCondLst>
                                        </p:cTn>
                                        <p:tgtEl>
                                          <p:spTgt spid="291842">
                                            <p:txEl>
                                              <p:pRg st="4" end="4"/>
                                            </p:txEl>
                                          </p:spTgt>
                                        </p:tgtEl>
                                        <p:attrNameLst>
                                          <p:attrName>style.visibility</p:attrName>
                                        </p:attrNameLst>
                                      </p:cBhvr>
                                      <p:to>
                                        <p:strVal val="visible"/>
                                      </p:to>
                                    </p:set>
                                    <p:anim calcmode="lin" valueType="num">
                                      <p:cBhvr additive="base">
                                        <p:cTn id="25" dur="500" fill="hold"/>
                                        <p:tgtEl>
                                          <p:spTgt spid="291842">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9184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iterate type="lt">
                                    <p:tmPct val="0"/>
                                  </p:iterate>
                                  <p:childTnLst>
                                    <p:set>
                                      <p:cBhvr>
                                        <p:cTn id="30" dur="1" fill="hold">
                                          <p:stCondLst>
                                            <p:cond delay="0"/>
                                          </p:stCondLst>
                                        </p:cTn>
                                        <p:tgtEl>
                                          <p:spTgt spid="291842">
                                            <p:txEl>
                                              <p:pRg st="5" end="5"/>
                                            </p:txEl>
                                          </p:spTgt>
                                        </p:tgtEl>
                                        <p:attrNameLst>
                                          <p:attrName>style.visibility</p:attrName>
                                        </p:attrNameLst>
                                      </p:cBhvr>
                                      <p:to>
                                        <p:strVal val="visible"/>
                                      </p:to>
                                    </p:set>
                                    <p:anim calcmode="lin" valueType="num">
                                      <p:cBhvr additive="base">
                                        <p:cTn id="31" dur="500" fill="hold"/>
                                        <p:tgtEl>
                                          <p:spTgt spid="291842">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9184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iterate type="lt">
                                    <p:tmPct val="0"/>
                                  </p:iterate>
                                  <p:childTnLst>
                                    <p:set>
                                      <p:cBhvr>
                                        <p:cTn id="36" dur="1" fill="hold">
                                          <p:stCondLst>
                                            <p:cond delay="0"/>
                                          </p:stCondLst>
                                        </p:cTn>
                                        <p:tgtEl>
                                          <p:spTgt spid="291842">
                                            <p:txEl>
                                              <p:pRg st="6" end="6"/>
                                            </p:txEl>
                                          </p:spTgt>
                                        </p:tgtEl>
                                        <p:attrNameLst>
                                          <p:attrName>style.visibility</p:attrName>
                                        </p:attrNameLst>
                                      </p:cBhvr>
                                      <p:to>
                                        <p:strVal val="visible"/>
                                      </p:to>
                                    </p:set>
                                    <p:anim calcmode="lin" valueType="num">
                                      <p:cBhvr additive="base">
                                        <p:cTn id="37" dur="500" fill="hold"/>
                                        <p:tgtEl>
                                          <p:spTgt spid="291842">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9184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iterate type="lt">
                                    <p:tmPct val="0"/>
                                  </p:iterate>
                                  <p:childTnLst>
                                    <p:set>
                                      <p:cBhvr>
                                        <p:cTn id="42" dur="1" fill="hold">
                                          <p:stCondLst>
                                            <p:cond delay="0"/>
                                          </p:stCondLst>
                                        </p:cTn>
                                        <p:tgtEl>
                                          <p:spTgt spid="291842">
                                            <p:txEl>
                                              <p:pRg st="7" end="7"/>
                                            </p:txEl>
                                          </p:spTgt>
                                        </p:tgtEl>
                                        <p:attrNameLst>
                                          <p:attrName>style.visibility</p:attrName>
                                        </p:attrNameLst>
                                      </p:cBhvr>
                                      <p:to>
                                        <p:strVal val="visible"/>
                                      </p:to>
                                    </p:set>
                                    <p:anim calcmode="lin" valueType="num">
                                      <p:cBhvr additive="base">
                                        <p:cTn id="43" dur="500" fill="hold"/>
                                        <p:tgtEl>
                                          <p:spTgt spid="291842">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9184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42" grpId="0" build="p"/>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5" name="Rectangle 4"/>
          <p:cNvSpPr>
            <a:spLocks noGrp="1" noChangeArrowheads="1"/>
          </p:cNvSpPr>
          <p:nvPr>
            <p:ph type="title"/>
          </p:nvPr>
        </p:nvSpPr>
        <p:spPr>
          <a:xfrm>
            <a:off x="611188" y="765175"/>
            <a:ext cx="7772400" cy="496888"/>
          </a:xfrm>
        </p:spPr>
        <p:txBody>
          <a:bodyPr/>
          <a:lstStyle/>
          <a:p>
            <a:pPr eaLnBrk="1" hangingPunct="1"/>
            <a:r>
              <a:rPr lang="zh-CN" altLang="en-US" dirty="0" smtClean="0"/>
              <a:t>思考？</a:t>
            </a:r>
          </a:p>
        </p:txBody>
      </p:sp>
      <p:sp>
        <p:nvSpPr>
          <p:cNvPr id="49154" name="Rectangle 2"/>
          <p:cNvSpPr>
            <a:spLocks noGrp="1" noChangeArrowheads="1"/>
          </p:cNvSpPr>
          <p:nvPr>
            <p:ph idx="1"/>
          </p:nvPr>
        </p:nvSpPr>
        <p:spPr>
          <a:xfrm>
            <a:off x="539750" y="1484313"/>
            <a:ext cx="8208963" cy="3816350"/>
          </a:xfrm>
        </p:spPr>
        <p:txBody>
          <a:bodyPr/>
          <a:lstStyle/>
          <a:p>
            <a:pPr eaLnBrk="1" hangingPunct="1">
              <a:lnSpc>
                <a:spcPct val="105000"/>
              </a:lnSpc>
              <a:buFontTx/>
              <a:buNone/>
            </a:pPr>
            <a:r>
              <a:rPr lang="zh-CN" altLang="en-US" sz="3600" dirty="0" smtClean="0">
                <a:solidFill>
                  <a:srgbClr val="0000FF"/>
                </a:solidFill>
              </a:rPr>
              <a:t>目的：了解某市的工业生产设备情况 </a:t>
            </a:r>
          </a:p>
          <a:p>
            <a:pPr lvl="3" eaLnBrk="1" hangingPunct="1">
              <a:lnSpc>
                <a:spcPct val="105000"/>
              </a:lnSpc>
              <a:buFontTx/>
              <a:buNone/>
            </a:pPr>
            <a:endParaRPr lang="zh-CN" altLang="en-US" sz="2400" dirty="0" smtClean="0">
              <a:solidFill>
                <a:srgbClr val="0000FF"/>
              </a:solidFill>
            </a:endParaRPr>
          </a:p>
          <a:p>
            <a:pPr eaLnBrk="1" hangingPunct="1">
              <a:lnSpc>
                <a:spcPct val="105000"/>
              </a:lnSpc>
              <a:buFontTx/>
              <a:buNone/>
            </a:pPr>
            <a:r>
              <a:rPr lang="zh-CN" altLang="en-US" sz="3600" dirty="0" smtClean="0">
                <a:solidFill>
                  <a:srgbClr val="000000"/>
                </a:solidFill>
              </a:rPr>
              <a:t> 个体：</a:t>
            </a:r>
            <a:endParaRPr lang="en-US" altLang="zh-CN" sz="3600" dirty="0" smtClean="0">
              <a:solidFill>
                <a:srgbClr val="000000"/>
              </a:solidFill>
            </a:endParaRPr>
          </a:p>
          <a:p>
            <a:pPr eaLnBrk="1" hangingPunct="1">
              <a:lnSpc>
                <a:spcPct val="105000"/>
              </a:lnSpc>
              <a:buFontTx/>
              <a:buNone/>
            </a:pPr>
            <a:r>
              <a:rPr lang="zh-CN" altLang="en-US" sz="3600" dirty="0" smtClean="0">
                <a:solidFill>
                  <a:srgbClr val="000000"/>
                </a:solidFill>
              </a:rPr>
              <a:t> 总体：</a:t>
            </a:r>
            <a:endParaRPr lang="en-US" altLang="zh-CN" sz="3600" dirty="0" smtClean="0">
              <a:solidFill>
                <a:srgbClr val="000000"/>
              </a:solidFill>
            </a:endParaRPr>
          </a:p>
          <a:p>
            <a:pPr eaLnBrk="1" hangingPunct="1">
              <a:lnSpc>
                <a:spcPct val="105000"/>
              </a:lnSpc>
              <a:buFontTx/>
              <a:buNone/>
            </a:pPr>
            <a:r>
              <a:rPr lang="zh-CN" altLang="en-US" sz="3600" dirty="0" smtClean="0">
                <a:solidFill>
                  <a:srgbClr val="000000"/>
                </a:solidFill>
              </a:rPr>
              <a:t> 样本：</a:t>
            </a:r>
            <a:endParaRPr lang="zh-CN" altLang="en-US" dirty="0" smtClean="0">
              <a:solidFill>
                <a:srgbClr val="000000"/>
              </a:solidFill>
            </a:endParaRPr>
          </a:p>
        </p:txBody>
      </p:sp>
      <p:sp>
        <p:nvSpPr>
          <p:cNvPr id="295941" name="Rectangle 5"/>
          <p:cNvSpPr>
            <a:spLocks noChangeArrowheads="1"/>
          </p:cNvSpPr>
          <p:nvPr/>
        </p:nvSpPr>
        <p:spPr bwMode="auto">
          <a:xfrm>
            <a:off x="2123728" y="2636912"/>
            <a:ext cx="6553200" cy="3816350"/>
          </a:xfrm>
          <a:prstGeom prst="rect">
            <a:avLst/>
          </a:prstGeom>
          <a:noFill/>
          <a:ln w="9525">
            <a:noFill/>
            <a:miter lim="800000"/>
            <a:headEnd/>
            <a:tailEnd/>
          </a:ln>
        </p:spPr>
        <p:txBody>
          <a:bodyPr/>
          <a:lstStyle/>
          <a:p>
            <a:pPr marL="342900" indent="-342900">
              <a:lnSpc>
                <a:spcPct val="105000"/>
              </a:lnSpc>
              <a:spcBef>
                <a:spcPct val="20000"/>
              </a:spcBef>
              <a:buClrTx/>
              <a:buSzPct val="90000"/>
              <a:buFontTx/>
              <a:buNone/>
            </a:pPr>
            <a:r>
              <a:rPr lang="zh-CN" altLang="en-US" sz="3600" dirty="0">
                <a:solidFill>
                  <a:srgbClr val="0070C0"/>
                </a:solidFill>
                <a:latin typeface="Tahoma" pitchFamily="34" charset="0"/>
              </a:rPr>
              <a:t>该</a:t>
            </a:r>
            <a:r>
              <a:rPr lang="zh-CN" altLang="en-US" sz="3600" dirty="0" smtClean="0">
                <a:solidFill>
                  <a:srgbClr val="0070C0"/>
                </a:solidFill>
                <a:latin typeface="Tahoma" pitchFamily="34" charset="0"/>
              </a:rPr>
              <a:t>市每一台工业</a:t>
            </a:r>
            <a:r>
              <a:rPr lang="zh-CN" altLang="en-US" sz="3600" dirty="0">
                <a:solidFill>
                  <a:srgbClr val="0070C0"/>
                </a:solidFill>
                <a:latin typeface="Tahoma" pitchFamily="34" charset="0"/>
              </a:rPr>
              <a:t>生产设备 </a:t>
            </a:r>
          </a:p>
          <a:p>
            <a:pPr marL="342900" indent="-342900">
              <a:lnSpc>
                <a:spcPct val="105000"/>
              </a:lnSpc>
              <a:spcBef>
                <a:spcPct val="20000"/>
              </a:spcBef>
              <a:buClrTx/>
              <a:buSzPct val="90000"/>
              <a:buFontTx/>
              <a:buNone/>
            </a:pPr>
            <a:r>
              <a:rPr lang="zh-CN" altLang="en-US" sz="3600" dirty="0">
                <a:solidFill>
                  <a:srgbClr val="0070C0"/>
                </a:solidFill>
                <a:latin typeface="Tahoma" pitchFamily="34" charset="0"/>
              </a:rPr>
              <a:t>该</a:t>
            </a:r>
            <a:r>
              <a:rPr lang="zh-CN" altLang="en-US" sz="3600" dirty="0" smtClean="0">
                <a:solidFill>
                  <a:srgbClr val="0070C0"/>
                </a:solidFill>
                <a:latin typeface="Tahoma" pitchFamily="34" charset="0"/>
              </a:rPr>
              <a:t>市所有的工业</a:t>
            </a:r>
            <a:r>
              <a:rPr lang="zh-CN" altLang="en-US" sz="3600" dirty="0">
                <a:solidFill>
                  <a:srgbClr val="0070C0"/>
                </a:solidFill>
                <a:latin typeface="Tahoma" pitchFamily="34" charset="0"/>
              </a:rPr>
              <a:t>生产设备</a:t>
            </a:r>
          </a:p>
          <a:p>
            <a:pPr marL="342900" indent="-342900">
              <a:lnSpc>
                <a:spcPct val="105000"/>
              </a:lnSpc>
              <a:spcBef>
                <a:spcPct val="20000"/>
              </a:spcBef>
              <a:buClrTx/>
              <a:buSzPct val="90000"/>
              <a:buFontTx/>
              <a:buNone/>
            </a:pPr>
            <a:r>
              <a:rPr lang="zh-CN" altLang="en-US" sz="3400" dirty="0">
                <a:solidFill>
                  <a:srgbClr val="0070C0"/>
                </a:solidFill>
                <a:latin typeface="Tahoma" pitchFamily="34" charset="0"/>
              </a:rPr>
              <a:t>从该市抽取的部分工业生产设备</a:t>
            </a:r>
          </a:p>
        </p:txBody>
      </p:sp>
      <p:sp>
        <p:nvSpPr>
          <p:cNvPr id="5" name="灯片编号占位符 4"/>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44</a:t>
            </a:fld>
            <a:endParaRPr lang="en-US" altLang="zh-CN" dirty="0">
              <a:solidFill>
                <a:srgbClr val="545472"/>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95941"/>
                                        </p:tgtEl>
                                        <p:attrNameLst>
                                          <p:attrName>style.visibility</p:attrName>
                                        </p:attrNameLst>
                                      </p:cBhvr>
                                      <p:to>
                                        <p:strVal val="visible"/>
                                      </p:to>
                                    </p:set>
                                    <p:anim calcmode="lin" valueType="num">
                                      <p:cBhvr additive="base">
                                        <p:cTn id="7" dur="500" fill="hold"/>
                                        <p:tgtEl>
                                          <p:spTgt spid="295941"/>
                                        </p:tgtEl>
                                        <p:attrNameLst>
                                          <p:attrName>ppt_x</p:attrName>
                                        </p:attrNameLst>
                                      </p:cBhvr>
                                      <p:tavLst>
                                        <p:tav tm="0">
                                          <p:val>
                                            <p:strVal val="#ppt_x"/>
                                          </p:val>
                                        </p:tav>
                                        <p:tav tm="100000">
                                          <p:val>
                                            <p:strVal val="#ppt_x"/>
                                          </p:val>
                                        </p:tav>
                                      </p:tavLst>
                                    </p:anim>
                                    <p:anim calcmode="lin" valueType="num">
                                      <p:cBhvr additive="base">
                                        <p:cTn id="8" dur="500" fill="hold"/>
                                        <p:tgtEl>
                                          <p:spTgt spid="2959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941"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1" name="Rectangle 6"/>
          <p:cNvSpPr>
            <a:spLocks noGrp="1" noChangeArrowheads="1"/>
          </p:cNvSpPr>
          <p:nvPr>
            <p:ph type="title"/>
          </p:nvPr>
        </p:nvSpPr>
        <p:spPr>
          <a:xfrm>
            <a:off x="395288" y="1125538"/>
            <a:ext cx="5111750" cy="631825"/>
          </a:xfrm>
        </p:spPr>
        <p:txBody>
          <a:bodyPr/>
          <a:lstStyle/>
          <a:p>
            <a:pPr eaLnBrk="1" hangingPunct="1"/>
            <a:r>
              <a:rPr kumimoji="1" lang="zh-CN" altLang="en-US" b="0" dirty="0" smtClean="0">
                <a:solidFill>
                  <a:srgbClr val="0000FF"/>
                </a:solidFill>
              </a:rPr>
              <a:t>总体的特点：</a:t>
            </a:r>
          </a:p>
        </p:txBody>
      </p:sp>
      <p:sp>
        <p:nvSpPr>
          <p:cNvPr id="50178" name="Rectangle 2"/>
          <p:cNvSpPr>
            <a:spLocks noGrp="1" noChangeArrowheads="1"/>
          </p:cNvSpPr>
          <p:nvPr>
            <p:ph idx="1"/>
          </p:nvPr>
        </p:nvSpPr>
        <p:spPr>
          <a:xfrm>
            <a:off x="4500562" y="1357298"/>
            <a:ext cx="2160587" cy="2016125"/>
          </a:xfrm>
          <a:ln w="38100">
            <a:solidFill>
              <a:schemeClr val="accent1"/>
            </a:solidFill>
          </a:ln>
        </p:spPr>
        <p:txBody>
          <a:bodyPr/>
          <a:lstStyle/>
          <a:p>
            <a:pPr algn="ctr" eaLnBrk="1" hangingPunct="1">
              <a:buFontTx/>
              <a:buNone/>
            </a:pPr>
            <a:r>
              <a:rPr lang="zh-CN" altLang="en-US" sz="3600" dirty="0" smtClean="0">
                <a:solidFill>
                  <a:srgbClr val="0000FF"/>
                </a:solidFill>
              </a:rPr>
              <a:t>同质性</a:t>
            </a:r>
          </a:p>
          <a:p>
            <a:pPr algn="ctr" eaLnBrk="1" hangingPunct="1">
              <a:buFontTx/>
              <a:buNone/>
            </a:pPr>
            <a:r>
              <a:rPr lang="zh-CN" altLang="en-US" sz="3600" dirty="0" smtClean="0">
                <a:solidFill>
                  <a:srgbClr val="0000FF"/>
                </a:solidFill>
              </a:rPr>
              <a:t>大量性</a:t>
            </a:r>
          </a:p>
          <a:p>
            <a:pPr algn="ctr" eaLnBrk="1" hangingPunct="1">
              <a:buFontTx/>
              <a:buNone/>
            </a:pPr>
            <a:r>
              <a:rPr lang="zh-CN" altLang="en-US" sz="3600" dirty="0" smtClean="0">
                <a:solidFill>
                  <a:srgbClr val="0000FF"/>
                </a:solidFill>
              </a:rPr>
              <a:t>差异性</a:t>
            </a:r>
            <a:endParaRPr lang="zh-CN" altLang="en-US" sz="4400" dirty="0" smtClean="0">
              <a:solidFill>
                <a:srgbClr val="0000FF"/>
              </a:solidFill>
            </a:endParaRPr>
          </a:p>
        </p:txBody>
      </p:sp>
      <p:pic>
        <p:nvPicPr>
          <p:cNvPr id="50179" name="Picture 3" descr="BD06518_"/>
          <p:cNvPicPr>
            <a:picLocks noChangeAspect="1" noChangeArrowheads="1"/>
          </p:cNvPicPr>
          <p:nvPr/>
        </p:nvPicPr>
        <p:blipFill>
          <a:blip r:embed="rId2" cstate="print"/>
          <a:srcRect/>
          <a:stretch>
            <a:fillRect/>
          </a:stretch>
        </p:blipFill>
        <p:spPr bwMode="auto">
          <a:xfrm>
            <a:off x="6732588" y="5133975"/>
            <a:ext cx="2411412" cy="1863725"/>
          </a:xfrm>
          <a:prstGeom prst="rect">
            <a:avLst/>
          </a:prstGeom>
          <a:noFill/>
          <a:ln w="9525">
            <a:noFill/>
            <a:miter lim="800000"/>
            <a:headEnd/>
            <a:tailEnd/>
          </a:ln>
        </p:spPr>
      </p:pic>
      <p:sp>
        <p:nvSpPr>
          <p:cNvPr id="50180" name="Rectangle 5"/>
          <p:cNvSpPr>
            <a:spLocks noChangeArrowheads="1"/>
          </p:cNvSpPr>
          <p:nvPr/>
        </p:nvSpPr>
        <p:spPr bwMode="auto">
          <a:xfrm>
            <a:off x="500034" y="3714752"/>
            <a:ext cx="7812087" cy="1630362"/>
          </a:xfrm>
          <a:prstGeom prst="rect">
            <a:avLst/>
          </a:prstGeom>
          <a:noFill/>
          <a:ln w="9525">
            <a:noFill/>
            <a:miter lim="800000"/>
            <a:headEnd/>
            <a:tailEnd/>
          </a:ln>
        </p:spPr>
        <p:txBody>
          <a:bodyPr>
            <a:spAutoFit/>
          </a:bodyPr>
          <a:lstStyle/>
          <a:p>
            <a:pPr lvl="1">
              <a:lnSpc>
                <a:spcPct val="120000"/>
              </a:lnSpc>
              <a:spcBef>
                <a:spcPct val="20000"/>
              </a:spcBef>
              <a:buFont typeface="Wingdings" pitchFamily="2" charset="2"/>
              <a:buChar char="z"/>
            </a:pPr>
            <a:r>
              <a:rPr lang="zh-CN" altLang="en-US" dirty="0">
                <a:solidFill>
                  <a:srgbClr val="FF0066"/>
                </a:solidFill>
              </a:rPr>
              <a:t>总体</a:t>
            </a:r>
            <a:r>
              <a:rPr lang="zh-CN" altLang="en-US" dirty="0">
                <a:solidFill>
                  <a:srgbClr val="003300"/>
                </a:solidFill>
              </a:rPr>
              <a:t>是在一定的研究目的下，所要研究事物的全体，它是由具有某种共同性质的众多个别事物构成的整体。</a:t>
            </a:r>
            <a:endParaRPr lang="zh-CN" altLang="en-US" dirty="0">
              <a:solidFill>
                <a:schemeClr val="accent2"/>
              </a:solidFill>
            </a:endParaRPr>
          </a:p>
        </p:txBody>
      </p:sp>
      <p:sp>
        <p:nvSpPr>
          <p:cNvPr id="6" name="灯片编号占位符 5"/>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45</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7" name="Rectangle 3"/>
          <p:cNvSpPr>
            <a:spLocks noGrp="1" noChangeArrowheads="1"/>
          </p:cNvSpPr>
          <p:nvPr>
            <p:ph idx="1"/>
          </p:nvPr>
        </p:nvSpPr>
        <p:spPr>
          <a:xfrm>
            <a:off x="468313" y="765175"/>
            <a:ext cx="8353425" cy="6092825"/>
          </a:xfrm>
        </p:spPr>
        <p:txBody>
          <a:bodyPr/>
          <a:lstStyle/>
          <a:p>
            <a:pPr eaLnBrk="1" hangingPunct="1"/>
            <a:r>
              <a:rPr lang="zh-CN" altLang="en-US" smtClean="0">
                <a:solidFill>
                  <a:srgbClr val="D60093"/>
                </a:solidFill>
              </a:rPr>
              <a:t>大量性</a:t>
            </a:r>
            <a:r>
              <a:rPr lang="en-US" altLang="zh-CN" sz="2800" dirty="0" smtClean="0">
                <a:solidFill>
                  <a:srgbClr val="000000"/>
                </a:solidFill>
                <a:latin typeface="Arial" charset="0"/>
              </a:rPr>
              <a:t>——</a:t>
            </a:r>
            <a:r>
              <a:rPr lang="zh-CN" altLang="en-US" sz="2800" smtClean="0">
                <a:solidFill>
                  <a:srgbClr val="000000"/>
                </a:solidFill>
              </a:rPr>
              <a:t>统计总体总是由大量的总体单位构成</a:t>
            </a:r>
            <a:r>
              <a:rPr lang="en-US" altLang="zh-CN" sz="2800" dirty="0" smtClean="0">
                <a:solidFill>
                  <a:srgbClr val="000000"/>
                </a:solidFill>
              </a:rPr>
              <a:t>.</a:t>
            </a:r>
          </a:p>
          <a:p>
            <a:pPr lvl="1" eaLnBrk="1" hangingPunct="1"/>
            <a:r>
              <a:rPr lang="zh-CN" altLang="en-US" sz="2600" smtClean="0">
                <a:solidFill>
                  <a:schemeClr val="tx2"/>
                </a:solidFill>
              </a:rPr>
              <a:t>所谓</a:t>
            </a:r>
            <a:r>
              <a:rPr lang="zh-CN" altLang="en-US" sz="2600" smtClean="0">
                <a:solidFill>
                  <a:schemeClr val="tx2"/>
                </a:solidFill>
                <a:latin typeface="Arial" charset="0"/>
              </a:rPr>
              <a:t>“</a:t>
            </a:r>
            <a:r>
              <a:rPr lang="zh-CN" altLang="en-US" sz="2600" smtClean="0">
                <a:solidFill>
                  <a:schemeClr val="tx2"/>
                </a:solidFill>
              </a:rPr>
              <a:t>大量</a:t>
            </a:r>
            <a:r>
              <a:rPr lang="zh-CN" altLang="en-US" sz="2600" smtClean="0">
                <a:solidFill>
                  <a:schemeClr val="tx2"/>
                </a:solidFill>
                <a:latin typeface="Arial" charset="0"/>
              </a:rPr>
              <a:t>”</a:t>
            </a:r>
            <a:r>
              <a:rPr lang="zh-CN" altLang="en-US" sz="2600" smtClean="0">
                <a:solidFill>
                  <a:schemeClr val="tx2"/>
                </a:solidFill>
              </a:rPr>
              <a:t>单位是相对于</a:t>
            </a:r>
            <a:r>
              <a:rPr lang="zh-CN" altLang="en-US" sz="2600" smtClean="0">
                <a:solidFill>
                  <a:schemeClr val="tx2"/>
                </a:solidFill>
                <a:latin typeface="Arial" charset="0"/>
              </a:rPr>
              <a:t>”</a:t>
            </a:r>
            <a:r>
              <a:rPr lang="zh-CN" altLang="en-US" sz="2600" smtClean="0">
                <a:solidFill>
                  <a:schemeClr val="tx2"/>
                </a:solidFill>
              </a:rPr>
              <a:t>个别</a:t>
            </a:r>
            <a:r>
              <a:rPr lang="zh-CN" altLang="en-US" sz="2600" smtClean="0">
                <a:solidFill>
                  <a:schemeClr val="tx2"/>
                </a:solidFill>
                <a:latin typeface="Arial" charset="0"/>
              </a:rPr>
              <a:t>”</a:t>
            </a:r>
            <a:r>
              <a:rPr lang="zh-CN" altLang="en-US" sz="2600" smtClean="0">
                <a:solidFill>
                  <a:schemeClr val="tx2"/>
                </a:solidFill>
              </a:rPr>
              <a:t>单位而言，足够多</a:t>
            </a:r>
          </a:p>
          <a:p>
            <a:pPr lvl="2" eaLnBrk="1" hangingPunct="1"/>
            <a:r>
              <a:rPr lang="zh-CN" altLang="en-US" smtClean="0">
                <a:solidFill>
                  <a:srgbClr val="D60093"/>
                </a:solidFill>
              </a:rPr>
              <a:t>有限总体</a:t>
            </a:r>
            <a:r>
              <a:rPr lang="en-US" altLang="zh-CN" dirty="0" smtClean="0">
                <a:latin typeface="Arial" charset="0"/>
              </a:rPr>
              <a:t>——</a:t>
            </a:r>
            <a:r>
              <a:rPr lang="zh-CN" altLang="en-US" smtClean="0"/>
              <a:t>构成总体的单位数量是有限的</a:t>
            </a:r>
          </a:p>
          <a:p>
            <a:pPr lvl="2" eaLnBrk="1" hangingPunct="1"/>
            <a:r>
              <a:rPr lang="zh-CN" altLang="en-US" smtClean="0">
                <a:solidFill>
                  <a:srgbClr val="D60093"/>
                </a:solidFill>
              </a:rPr>
              <a:t>无限总体</a:t>
            </a:r>
            <a:r>
              <a:rPr lang="en-US" altLang="zh-CN" dirty="0" smtClean="0">
                <a:latin typeface="Arial" charset="0"/>
              </a:rPr>
              <a:t>——</a:t>
            </a:r>
            <a:r>
              <a:rPr lang="zh-CN" altLang="en-US" smtClean="0"/>
              <a:t>构成总体的单位数量无限多</a:t>
            </a:r>
          </a:p>
          <a:p>
            <a:pPr eaLnBrk="1" hangingPunct="1"/>
            <a:r>
              <a:rPr lang="zh-CN" altLang="en-US" smtClean="0">
                <a:solidFill>
                  <a:srgbClr val="D60093"/>
                </a:solidFill>
              </a:rPr>
              <a:t>同质性</a:t>
            </a:r>
            <a:r>
              <a:rPr lang="en-US" altLang="zh-CN" sz="2800" dirty="0" smtClean="0">
                <a:solidFill>
                  <a:srgbClr val="000000"/>
                </a:solidFill>
                <a:latin typeface="Arial" charset="0"/>
              </a:rPr>
              <a:t>——</a:t>
            </a:r>
            <a:r>
              <a:rPr lang="zh-CN" altLang="en-US" sz="2800" smtClean="0">
                <a:solidFill>
                  <a:srgbClr val="000000"/>
                </a:solidFill>
              </a:rPr>
              <a:t>作为一个总体的各个总体单位</a:t>
            </a:r>
            <a:r>
              <a:rPr lang="en-US" altLang="zh-CN" sz="2800" dirty="0" smtClean="0">
                <a:solidFill>
                  <a:srgbClr val="000000"/>
                </a:solidFill>
              </a:rPr>
              <a:t>,</a:t>
            </a:r>
            <a:r>
              <a:rPr lang="zh-CN" altLang="en-US" sz="2800" smtClean="0">
                <a:solidFill>
                  <a:srgbClr val="000000"/>
                </a:solidFill>
              </a:rPr>
              <a:t>至少在某一个方面具有相同性质的特征。同质性是它们能够构成一个总体的基础。</a:t>
            </a:r>
          </a:p>
          <a:p>
            <a:pPr eaLnBrk="1" hangingPunct="1"/>
            <a:r>
              <a:rPr lang="zh-CN" altLang="en-US" smtClean="0">
                <a:solidFill>
                  <a:srgbClr val="D60093"/>
                </a:solidFill>
              </a:rPr>
              <a:t>差异性</a:t>
            </a:r>
            <a:r>
              <a:rPr lang="en-US" altLang="zh-CN" sz="2800" dirty="0" smtClean="0">
                <a:solidFill>
                  <a:srgbClr val="000000"/>
                </a:solidFill>
                <a:latin typeface="Arial" charset="0"/>
              </a:rPr>
              <a:t>——</a:t>
            </a:r>
            <a:r>
              <a:rPr lang="zh-CN" altLang="en-US" sz="2800" smtClean="0">
                <a:solidFill>
                  <a:srgbClr val="000000"/>
                </a:solidFill>
              </a:rPr>
              <a:t>由于多种因素的影响，各总体单位的数量特征经常有差异，或者说存在着</a:t>
            </a:r>
            <a:r>
              <a:rPr lang="zh-CN" altLang="en-US" sz="2800" smtClean="0">
                <a:solidFill>
                  <a:srgbClr val="000000"/>
                </a:solidFill>
                <a:latin typeface="Arial" charset="0"/>
              </a:rPr>
              <a:t>“</a:t>
            </a:r>
            <a:r>
              <a:rPr lang="zh-CN" altLang="en-US" sz="2800" smtClean="0">
                <a:solidFill>
                  <a:srgbClr val="000000"/>
                </a:solidFill>
              </a:rPr>
              <a:t>变异性”</a:t>
            </a:r>
          </a:p>
          <a:p>
            <a:pPr lvl="1" eaLnBrk="1" hangingPunct="1"/>
            <a:r>
              <a:rPr lang="zh-CN" altLang="en-US" sz="2600" smtClean="0">
                <a:solidFill>
                  <a:schemeClr val="tx2"/>
                </a:solidFill>
              </a:rPr>
              <a:t>没有差异也就不需要统计</a:t>
            </a:r>
          </a:p>
        </p:txBody>
      </p:sp>
      <p:sp>
        <p:nvSpPr>
          <p:cNvPr id="3" name="灯片编号占位符 2"/>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46</a:t>
            </a:fld>
            <a:endParaRPr lang="en-US" altLang="zh-CN" dirty="0">
              <a:solidFill>
                <a:srgbClr val="545472"/>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97987">
                                            <p:txEl>
                                              <p:pRg st="1" end="1"/>
                                            </p:txEl>
                                          </p:spTgt>
                                        </p:tgtEl>
                                        <p:attrNameLst>
                                          <p:attrName>style.visibility</p:attrName>
                                        </p:attrNameLst>
                                      </p:cBhvr>
                                      <p:to>
                                        <p:strVal val="visible"/>
                                      </p:to>
                                    </p:set>
                                    <p:animEffect transition="in" filter="wipe(left)">
                                      <p:cBhvr>
                                        <p:cTn id="7" dur="1000"/>
                                        <p:tgtEl>
                                          <p:spTgt spid="297987">
                                            <p:txEl>
                                              <p:pRg st="1" end="1"/>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97987">
                                            <p:txEl>
                                              <p:pRg st="2" end="2"/>
                                            </p:txEl>
                                          </p:spTgt>
                                        </p:tgtEl>
                                        <p:attrNameLst>
                                          <p:attrName>style.visibility</p:attrName>
                                        </p:attrNameLst>
                                      </p:cBhvr>
                                      <p:to>
                                        <p:strVal val="visible"/>
                                      </p:to>
                                    </p:set>
                                    <p:animEffect transition="in" filter="wipe(left)">
                                      <p:cBhvr>
                                        <p:cTn id="10" dur="1000"/>
                                        <p:tgtEl>
                                          <p:spTgt spid="297987">
                                            <p:txEl>
                                              <p:pRg st="2" end="2"/>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97987">
                                            <p:txEl>
                                              <p:pRg st="3" end="3"/>
                                            </p:txEl>
                                          </p:spTgt>
                                        </p:tgtEl>
                                        <p:attrNameLst>
                                          <p:attrName>style.visibility</p:attrName>
                                        </p:attrNameLst>
                                      </p:cBhvr>
                                      <p:to>
                                        <p:strVal val="visible"/>
                                      </p:to>
                                    </p:set>
                                    <p:animEffect transition="in" filter="wipe(left)">
                                      <p:cBhvr>
                                        <p:cTn id="13" dur="1000"/>
                                        <p:tgtEl>
                                          <p:spTgt spid="297987">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97987">
                                            <p:txEl>
                                              <p:pRg st="4" end="4"/>
                                            </p:txEl>
                                          </p:spTgt>
                                        </p:tgtEl>
                                        <p:attrNameLst>
                                          <p:attrName>style.visibility</p:attrName>
                                        </p:attrNameLst>
                                      </p:cBhvr>
                                      <p:to>
                                        <p:strVal val="visible"/>
                                      </p:to>
                                    </p:set>
                                    <p:animEffect transition="in" filter="wipe(left)">
                                      <p:cBhvr>
                                        <p:cTn id="18" dur="1000"/>
                                        <p:tgtEl>
                                          <p:spTgt spid="297987">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297987">
                                            <p:txEl>
                                              <p:pRg st="5" end="5"/>
                                            </p:txEl>
                                          </p:spTgt>
                                        </p:tgtEl>
                                        <p:attrNameLst>
                                          <p:attrName>style.visibility</p:attrName>
                                        </p:attrNameLst>
                                      </p:cBhvr>
                                      <p:to>
                                        <p:strVal val="visible"/>
                                      </p:to>
                                    </p:set>
                                    <p:animEffect transition="in" filter="wipe(left)">
                                      <p:cBhvr>
                                        <p:cTn id="23" dur="1000"/>
                                        <p:tgtEl>
                                          <p:spTgt spid="297987">
                                            <p:txEl>
                                              <p:pRg st="5" end="5"/>
                                            </p:txEl>
                                          </p:spTgt>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297987">
                                            <p:txEl>
                                              <p:pRg st="6" end="6"/>
                                            </p:txEl>
                                          </p:spTgt>
                                        </p:tgtEl>
                                        <p:attrNameLst>
                                          <p:attrName>style.visibility</p:attrName>
                                        </p:attrNameLst>
                                      </p:cBhvr>
                                      <p:to>
                                        <p:strVal val="visible"/>
                                      </p:to>
                                    </p:set>
                                    <p:animEffect transition="in" filter="wipe(left)">
                                      <p:cBhvr>
                                        <p:cTn id="26" dur="1000"/>
                                        <p:tgtEl>
                                          <p:spTgt spid="29798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87"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395288" y="692150"/>
            <a:ext cx="8748712" cy="719138"/>
          </a:xfrm>
        </p:spPr>
        <p:txBody>
          <a:bodyPr/>
          <a:lstStyle/>
          <a:p>
            <a:pPr eaLnBrk="1" hangingPunct="1"/>
            <a:r>
              <a:rPr lang="en-US" altLang="zh-CN" dirty="0" smtClean="0"/>
              <a:t>§1.3.2 </a:t>
            </a:r>
            <a:r>
              <a:rPr lang="zh-CN" altLang="en-US" dirty="0" smtClean="0"/>
              <a:t>标志、指标与变量</a:t>
            </a:r>
          </a:p>
        </p:txBody>
      </p:sp>
      <p:sp>
        <p:nvSpPr>
          <p:cNvPr id="203779" name="Rectangle 3"/>
          <p:cNvSpPr>
            <a:spLocks noGrp="1" noChangeArrowheads="1"/>
          </p:cNvSpPr>
          <p:nvPr>
            <p:ph idx="1"/>
          </p:nvPr>
        </p:nvSpPr>
        <p:spPr>
          <a:xfrm>
            <a:off x="468313" y="1412875"/>
            <a:ext cx="8172450" cy="4895850"/>
          </a:xfrm>
        </p:spPr>
        <p:txBody>
          <a:bodyPr/>
          <a:lstStyle/>
          <a:p>
            <a:pPr eaLnBrk="1" hangingPunct="1">
              <a:lnSpc>
                <a:spcPct val="105000"/>
              </a:lnSpc>
            </a:pPr>
            <a:r>
              <a:rPr lang="zh-CN" altLang="en-US" dirty="0" smtClean="0"/>
              <a:t>标志（标识）</a:t>
            </a:r>
            <a:endParaRPr lang="zh-CN" altLang="en-US" sz="3600" dirty="0" smtClean="0">
              <a:solidFill>
                <a:srgbClr val="D60093"/>
              </a:solidFill>
            </a:endParaRPr>
          </a:p>
          <a:p>
            <a:pPr lvl="1" eaLnBrk="1" hangingPunct="1">
              <a:lnSpc>
                <a:spcPct val="105000"/>
              </a:lnSpc>
            </a:pPr>
            <a:r>
              <a:rPr lang="zh-CN" altLang="en-US" dirty="0" smtClean="0"/>
              <a:t>说明总体单位（</a:t>
            </a:r>
            <a:r>
              <a:rPr lang="zh-CN" altLang="en-US" b="0" dirty="0" smtClean="0"/>
              <a:t>个体</a:t>
            </a:r>
            <a:r>
              <a:rPr lang="zh-CN" altLang="en-US" dirty="0" smtClean="0"/>
              <a:t>）特征的概念。</a:t>
            </a:r>
          </a:p>
          <a:p>
            <a:pPr lvl="1" eaLnBrk="1" hangingPunct="1">
              <a:lnSpc>
                <a:spcPct val="105000"/>
              </a:lnSpc>
            </a:pPr>
            <a:r>
              <a:rPr lang="zh-CN" altLang="en-US" dirty="0" smtClean="0"/>
              <a:t>在统计调查中称为调查项目或登记项目。</a:t>
            </a:r>
          </a:p>
          <a:p>
            <a:pPr lvl="1" eaLnBrk="1" hangingPunct="1">
              <a:lnSpc>
                <a:spcPct val="105000"/>
              </a:lnSpc>
            </a:pPr>
            <a:r>
              <a:rPr lang="zh-CN" altLang="en-US" dirty="0" smtClean="0"/>
              <a:t>标志的具体表现称为</a:t>
            </a:r>
            <a:r>
              <a:rPr lang="zh-CN" altLang="en-US" dirty="0" smtClean="0">
                <a:solidFill>
                  <a:srgbClr val="D60093"/>
                </a:solidFill>
              </a:rPr>
              <a:t>标志值</a:t>
            </a:r>
            <a:r>
              <a:rPr lang="zh-CN" altLang="en-US" dirty="0" smtClean="0"/>
              <a:t>。</a:t>
            </a:r>
          </a:p>
          <a:p>
            <a:pPr lvl="1" eaLnBrk="1" hangingPunct="1">
              <a:lnSpc>
                <a:spcPct val="105000"/>
              </a:lnSpc>
            </a:pPr>
            <a:r>
              <a:rPr lang="zh-CN" altLang="en-US" dirty="0" smtClean="0"/>
              <a:t>根据标志的具体表现不同，标志可以分为：</a:t>
            </a:r>
          </a:p>
          <a:p>
            <a:pPr lvl="2" eaLnBrk="1" hangingPunct="1">
              <a:lnSpc>
                <a:spcPct val="105000"/>
              </a:lnSpc>
            </a:pPr>
            <a:r>
              <a:rPr lang="zh-CN" altLang="en-US" sz="2800" dirty="0" smtClean="0">
                <a:solidFill>
                  <a:srgbClr val="D60093"/>
                </a:solidFill>
              </a:rPr>
              <a:t>品质标志</a:t>
            </a:r>
            <a:r>
              <a:rPr lang="zh-CN" altLang="en-US" sz="2800" dirty="0" smtClean="0"/>
              <a:t>表明总体单位的属性，只能用文字表示，不能用数值表示；</a:t>
            </a:r>
            <a:r>
              <a:rPr lang="zh-CN" altLang="zh-CN" dirty="0" smtClean="0">
                <a:solidFill>
                  <a:srgbClr val="000000"/>
                </a:solidFill>
              </a:rPr>
              <a:t>有的品质标志只有“ 是” 或“ 非” 两种表现，则称其为</a:t>
            </a:r>
            <a:r>
              <a:rPr lang="zh-CN" altLang="zh-CN" dirty="0" smtClean="0">
                <a:solidFill>
                  <a:srgbClr val="7030A0"/>
                </a:solidFill>
              </a:rPr>
              <a:t>是非标志</a:t>
            </a:r>
            <a:r>
              <a:rPr lang="zh-CN" altLang="zh-CN" dirty="0" smtClean="0">
                <a:solidFill>
                  <a:srgbClr val="000000"/>
                </a:solidFill>
              </a:rPr>
              <a:t>。</a:t>
            </a:r>
            <a:endParaRPr lang="zh-CN" altLang="en-US" sz="2800" dirty="0" smtClean="0"/>
          </a:p>
          <a:p>
            <a:pPr lvl="2" eaLnBrk="1" hangingPunct="1">
              <a:lnSpc>
                <a:spcPct val="105000"/>
              </a:lnSpc>
            </a:pPr>
            <a:r>
              <a:rPr lang="zh-CN" altLang="en-US" sz="2800" dirty="0" smtClean="0">
                <a:solidFill>
                  <a:srgbClr val="D60093"/>
                </a:solidFill>
              </a:rPr>
              <a:t>数量标志</a:t>
            </a:r>
            <a:r>
              <a:rPr lang="zh-CN" altLang="en-US" sz="2800" dirty="0" smtClean="0"/>
              <a:t>表明总体单位的数量特征，可以用数值表示。</a:t>
            </a:r>
          </a:p>
        </p:txBody>
      </p:sp>
      <p:sp>
        <p:nvSpPr>
          <p:cNvPr id="4" name="灯片编号占位符 3"/>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47</a:t>
            </a:fld>
            <a:endParaRPr lang="en-US" altLang="zh-CN" dirty="0">
              <a:solidFill>
                <a:srgbClr val="545472"/>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03779">
                                            <p:txEl>
                                              <p:pRg st="3" end="3"/>
                                            </p:txEl>
                                          </p:spTgt>
                                        </p:tgtEl>
                                        <p:attrNameLst>
                                          <p:attrName>style.visibility</p:attrName>
                                        </p:attrNameLst>
                                      </p:cBhvr>
                                      <p:to>
                                        <p:strVal val="visible"/>
                                      </p:to>
                                    </p:set>
                                    <p:animEffect transition="in" filter="wipe(down)">
                                      <p:cBhvr>
                                        <p:cTn id="7" dur="500"/>
                                        <p:tgtEl>
                                          <p:spTgt spid="203779">
                                            <p:txEl>
                                              <p:pRg st="3" end="3"/>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03779">
                                            <p:txEl>
                                              <p:pRg st="4" end="4"/>
                                            </p:txEl>
                                          </p:spTgt>
                                        </p:tgtEl>
                                        <p:attrNameLst>
                                          <p:attrName>style.visibility</p:attrName>
                                        </p:attrNameLst>
                                      </p:cBhvr>
                                      <p:to>
                                        <p:strVal val="visible"/>
                                      </p:to>
                                    </p:set>
                                    <p:animEffect transition="in" filter="wipe(down)">
                                      <p:cBhvr>
                                        <p:cTn id="10" dur="500"/>
                                        <p:tgtEl>
                                          <p:spTgt spid="203779">
                                            <p:txEl>
                                              <p:pRg st="4" end="4"/>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03779">
                                            <p:txEl>
                                              <p:pRg st="5" end="5"/>
                                            </p:txEl>
                                          </p:spTgt>
                                        </p:tgtEl>
                                        <p:attrNameLst>
                                          <p:attrName>style.visibility</p:attrName>
                                        </p:attrNameLst>
                                      </p:cBhvr>
                                      <p:to>
                                        <p:strVal val="visible"/>
                                      </p:to>
                                    </p:set>
                                    <p:animEffect transition="in" filter="wipe(down)">
                                      <p:cBhvr>
                                        <p:cTn id="13" dur="500"/>
                                        <p:tgtEl>
                                          <p:spTgt spid="203779">
                                            <p:txEl>
                                              <p:pRg st="5" end="5"/>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203779">
                                            <p:txEl>
                                              <p:pRg st="6" end="6"/>
                                            </p:txEl>
                                          </p:spTgt>
                                        </p:tgtEl>
                                        <p:attrNameLst>
                                          <p:attrName>style.visibility</p:attrName>
                                        </p:attrNameLst>
                                      </p:cBhvr>
                                      <p:to>
                                        <p:strVal val="visible"/>
                                      </p:to>
                                    </p:set>
                                    <p:animEffect transition="in" filter="wipe(down)">
                                      <p:cBhvr>
                                        <p:cTn id="16" dur="500"/>
                                        <p:tgtEl>
                                          <p:spTgt spid="20377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79"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65926" y="152384"/>
            <a:ext cx="7772400" cy="990600"/>
          </a:xfrm>
        </p:spPr>
        <p:txBody>
          <a:bodyPr/>
          <a:lstStyle/>
          <a:p>
            <a:pPr eaLnBrk="1" hangingPunct="1"/>
            <a:r>
              <a:rPr lang="zh-CN" altLang="en-US" dirty="0" smtClean="0"/>
              <a:t>统计指标与指标体系 </a:t>
            </a:r>
          </a:p>
        </p:txBody>
      </p:sp>
      <p:sp>
        <p:nvSpPr>
          <p:cNvPr id="215043" name="Rectangle 3"/>
          <p:cNvSpPr>
            <a:spLocks noGrp="1" noChangeArrowheads="1"/>
          </p:cNvSpPr>
          <p:nvPr>
            <p:ph idx="1"/>
          </p:nvPr>
        </p:nvSpPr>
        <p:spPr>
          <a:xfrm>
            <a:off x="285720" y="1142984"/>
            <a:ext cx="8532813" cy="5184775"/>
          </a:xfrm>
        </p:spPr>
        <p:txBody>
          <a:bodyPr/>
          <a:lstStyle/>
          <a:p>
            <a:pPr eaLnBrk="1" hangingPunct="1">
              <a:lnSpc>
                <a:spcPct val="114000"/>
              </a:lnSpc>
              <a:spcBef>
                <a:spcPct val="25000"/>
              </a:spcBef>
              <a:buFontTx/>
              <a:buNone/>
            </a:pPr>
            <a:r>
              <a:rPr lang="zh-CN" altLang="en-US" dirty="0" smtClean="0">
                <a:solidFill>
                  <a:srgbClr val="FF0000"/>
                </a:solidFill>
              </a:rPr>
              <a:t>指标</a:t>
            </a:r>
            <a:r>
              <a:rPr lang="en-US" altLang="zh-CN" sz="2800" dirty="0" smtClean="0">
                <a:solidFill>
                  <a:srgbClr val="FF0000"/>
                </a:solidFill>
                <a:latin typeface="Arial" charset="0"/>
              </a:rPr>
              <a:t>——</a:t>
            </a:r>
            <a:r>
              <a:rPr lang="zh-CN" altLang="en-US" sz="2800" dirty="0" smtClean="0">
                <a:solidFill>
                  <a:srgbClr val="FF0000"/>
                </a:solidFill>
              </a:rPr>
              <a:t>反映统计总体数量特征的概念和数值</a:t>
            </a:r>
            <a:r>
              <a:rPr lang="en-US" altLang="zh-CN" sz="2800" dirty="0" smtClean="0"/>
              <a:t>.</a:t>
            </a:r>
          </a:p>
          <a:p>
            <a:pPr lvl="1" eaLnBrk="1" hangingPunct="1">
              <a:lnSpc>
                <a:spcPct val="114000"/>
              </a:lnSpc>
              <a:spcBef>
                <a:spcPct val="25000"/>
              </a:spcBef>
            </a:pPr>
            <a:r>
              <a:rPr lang="zh-CN" altLang="en-US" sz="2400" dirty="0" smtClean="0"/>
              <a:t>初步核算，</a:t>
            </a:r>
            <a:r>
              <a:rPr lang="zh-CN" altLang="en-US" dirty="0" smtClean="0"/>
              <a:t>中国</a:t>
            </a:r>
            <a:r>
              <a:rPr lang="en-US" altLang="zh-CN" dirty="0" smtClean="0"/>
              <a:t>2023</a:t>
            </a:r>
            <a:r>
              <a:rPr lang="zh-CN" altLang="en-US" dirty="0" smtClean="0"/>
              <a:t>年</a:t>
            </a:r>
            <a:r>
              <a:rPr lang="zh-CN" altLang="en-US" dirty="0" smtClean="0"/>
              <a:t>国内生产总值</a:t>
            </a:r>
            <a:r>
              <a:rPr lang="en-US" altLang="zh-CN" dirty="0" smtClean="0"/>
              <a:t>1260582</a:t>
            </a:r>
            <a:r>
              <a:rPr lang="zh-CN" altLang="en-US" dirty="0" smtClean="0"/>
              <a:t>亿</a:t>
            </a:r>
            <a:r>
              <a:rPr lang="zh-CN" altLang="en-US" dirty="0" smtClean="0"/>
              <a:t>元，按不变价格计算，比上年</a:t>
            </a:r>
            <a:r>
              <a:rPr lang="zh-CN" altLang="en-US" dirty="0" smtClean="0"/>
              <a:t>增长</a:t>
            </a:r>
            <a:r>
              <a:rPr lang="en-US" altLang="zh-CN" dirty="0" smtClean="0"/>
              <a:t>5.2%</a:t>
            </a:r>
            <a:r>
              <a:rPr lang="zh-CN" altLang="en-US" dirty="0" smtClean="0"/>
              <a:t>。          </a:t>
            </a:r>
            <a:r>
              <a:rPr lang="zh-CN" altLang="en-US" sz="2200" b="0" dirty="0" smtClean="0">
                <a:solidFill>
                  <a:srgbClr val="002060"/>
                </a:solidFill>
              </a:rPr>
              <a:t>（</a:t>
            </a:r>
            <a:r>
              <a:rPr lang="en-US" altLang="zh-CN" sz="2200" b="0" dirty="0" smtClean="0">
                <a:solidFill>
                  <a:srgbClr val="002060"/>
                </a:solidFill>
              </a:rPr>
              <a:t>2024.01.17</a:t>
            </a:r>
            <a:r>
              <a:rPr lang="zh-CN" altLang="en-US" sz="2200" b="0" dirty="0" smtClean="0">
                <a:solidFill>
                  <a:srgbClr val="002060"/>
                </a:solidFill>
              </a:rPr>
              <a:t>国家统计局发布）</a:t>
            </a:r>
            <a:endParaRPr lang="en-US" altLang="zh-CN" sz="2200" b="0" dirty="0" smtClean="0">
              <a:solidFill>
                <a:srgbClr val="002060"/>
              </a:solidFill>
            </a:endParaRPr>
          </a:p>
          <a:p>
            <a:pPr lvl="1" eaLnBrk="1" hangingPunct="1">
              <a:lnSpc>
                <a:spcPct val="114000"/>
              </a:lnSpc>
              <a:spcBef>
                <a:spcPct val="25000"/>
              </a:spcBef>
            </a:pPr>
            <a:r>
              <a:rPr lang="zh-CN" altLang="en-US" dirty="0" smtClean="0"/>
              <a:t>指标的两大基本要素</a:t>
            </a:r>
            <a:r>
              <a:rPr lang="zh-CN" altLang="en-US" sz="2400" b="0" dirty="0" smtClean="0">
                <a:solidFill>
                  <a:srgbClr val="0070C0"/>
                </a:solidFill>
              </a:rPr>
              <a:t>（或三大要素） </a:t>
            </a:r>
            <a:r>
              <a:rPr lang="zh-CN" altLang="en-US" dirty="0" smtClean="0"/>
              <a:t>：</a:t>
            </a:r>
          </a:p>
          <a:p>
            <a:pPr lvl="2" eaLnBrk="1" hangingPunct="1">
              <a:lnSpc>
                <a:spcPct val="114000"/>
              </a:lnSpc>
              <a:spcBef>
                <a:spcPct val="25000"/>
              </a:spcBef>
              <a:buFontTx/>
              <a:buNone/>
            </a:pPr>
            <a:r>
              <a:rPr lang="zh-CN" altLang="en-US" sz="2800" dirty="0" smtClean="0">
                <a:solidFill>
                  <a:srgbClr val="006600"/>
                </a:solidFill>
              </a:rPr>
              <a:t>统计指标</a:t>
            </a:r>
            <a:r>
              <a:rPr lang="en-US" altLang="zh-CN" sz="2800" dirty="0" smtClean="0">
                <a:solidFill>
                  <a:srgbClr val="006600"/>
                </a:solidFill>
              </a:rPr>
              <a:t>=</a:t>
            </a:r>
            <a:r>
              <a:rPr lang="zh-CN" altLang="en-US" sz="2800" dirty="0" smtClean="0">
                <a:solidFill>
                  <a:srgbClr val="006600"/>
                </a:solidFill>
              </a:rPr>
              <a:t>指标名称</a:t>
            </a:r>
            <a:r>
              <a:rPr lang="en-US" altLang="zh-CN" sz="2800" dirty="0" smtClean="0">
                <a:solidFill>
                  <a:srgbClr val="006600"/>
                </a:solidFill>
              </a:rPr>
              <a:t>+</a:t>
            </a:r>
            <a:r>
              <a:rPr lang="zh-CN" altLang="en-US" sz="2800" dirty="0" smtClean="0">
                <a:solidFill>
                  <a:srgbClr val="006600"/>
                </a:solidFill>
              </a:rPr>
              <a:t>指标数值（含计量单位）</a:t>
            </a:r>
          </a:p>
          <a:p>
            <a:pPr lvl="2" eaLnBrk="1" hangingPunct="1">
              <a:lnSpc>
                <a:spcPct val="114000"/>
              </a:lnSpc>
              <a:spcBef>
                <a:spcPct val="25000"/>
              </a:spcBef>
            </a:pPr>
            <a:r>
              <a:rPr lang="zh-CN" altLang="en-US" sz="2600" dirty="0" smtClean="0"/>
              <a:t>指标名称</a:t>
            </a:r>
            <a:r>
              <a:rPr lang="en-US" altLang="zh-CN" sz="2600" dirty="0" smtClean="0">
                <a:solidFill>
                  <a:srgbClr val="000000"/>
                </a:solidFill>
                <a:latin typeface="Arial" charset="0"/>
              </a:rPr>
              <a:t>——</a:t>
            </a:r>
            <a:r>
              <a:rPr lang="zh-CN" altLang="en-US" sz="2600" dirty="0" smtClean="0">
                <a:solidFill>
                  <a:srgbClr val="000000"/>
                </a:solidFill>
              </a:rPr>
              <a:t>对所研究现象本质的抽象概括，也是对总体数量特征的质的规定性。</a:t>
            </a:r>
          </a:p>
          <a:p>
            <a:pPr lvl="2" eaLnBrk="1" hangingPunct="1">
              <a:lnSpc>
                <a:spcPct val="114000"/>
              </a:lnSpc>
              <a:spcBef>
                <a:spcPct val="25000"/>
              </a:spcBef>
            </a:pPr>
            <a:r>
              <a:rPr lang="zh-CN" altLang="en-US" sz="2600" dirty="0" smtClean="0"/>
              <a:t>指标数值</a:t>
            </a:r>
            <a:r>
              <a:rPr lang="en-US" altLang="zh-CN" sz="2600" dirty="0" smtClean="0">
                <a:solidFill>
                  <a:srgbClr val="000000"/>
                </a:solidFill>
                <a:latin typeface="Arial" charset="0"/>
              </a:rPr>
              <a:t>——</a:t>
            </a:r>
            <a:r>
              <a:rPr lang="zh-CN" altLang="en-US" sz="2600" dirty="0" smtClean="0">
                <a:solidFill>
                  <a:srgbClr val="000000"/>
                </a:solidFill>
              </a:rPr>
              <a:t>反映所研究现象在具体时间、地点、条件下的规模和水平。</a:t>
            </a:r>
          </a:p>
        </p:txBody>
      </p:sp>
      <p:sp>
        <p:nvSpPr>
          <p:cNvPr id="4" name="灯片编号占位符 3"/>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48</a:t>
            </a:fld>
            <a:endParaRPr lang="en-US" altLang="zh-CN" dirty="0">
              <a:solidFill>
                <a:srgbClr val="545472"/>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215043">
                                            <p:txEl>
                                              <p:pRg st="1" end="1"/>
                                            </p:txEl>
                                          </p:spTgt>
                                        </p:tgtEl>
                                        <p:attrNameLst>
                                          <p:attrName>style.visibility</p:attrName>
                                        </p:attrNameLst>
                                      </p:cBhvr>
                                      <p:to>
                                        <p:strVal val="visible"/>
                                      </p:to>
                                    </p:set>
                                    <p:animEffect transition="in" filter="blinds(horizontal)">
                                      <p:cBhvr>
                                        <p:cTn id="7" dur="500"/>
                                        <p:tgtEl>
                                          <p:spTgt spid="215043">
                                            <p:txEl>
                                              <p:pRg st="1" end="1"/>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15043">
                                            <p:txEl>
                                              <p:pRg st="2" end="2"/>
                                            </p:txEl>
                                          </p:spTgt>
                                        </p:tgtEl>
                                        <p:attrNameLst>
                                          <p:attrName>style.visibility</p:attrName>
                                        </p:attrNameLst>
                                      </p:cBhvr>
                                      <p:to>
                                        <p:strVal val="visible"/>
                                      </p:to>
                                    </p:set>
                                    <p:animEffect transition="in" filter="blinds(horizontal)">
                                      <p:cBhvr>
                                        <p:cTn id="10" dur="500"/>
                                        <p:tgtEl>
                                          <p:spTgt spid="215043">
                                            <p:txEl>
                                              <p:pRg st="2" end="2"/>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15043">
                                            <p:txEl>
                                              <p:pRg st="3" end="3"/>
                                            </p:txEl>
                                          </p:spTgt>
                                        </p:tgtEl>
                                        <p:attrNameLst>
                                          <p:attrName>style.visibility</p:attrName>
                                        </p:attrNameLst>
                                      </p:cBhvr>
                                      <p:to>
                                        <p:strVal val="visible"/>
                                      </p:to>
                                    </p:set>
                                    <p:animEffect transition="in" filter="blinds(horizontal)">
                                      <p:cBhvr>
                                        <p:cTn id="13" dur="500"/>
                                        <p:tgtEl>
                                          <p:spTgt spid="215043">
                                            <p:txEl>
                                              <p:pRg st="3" end="3"/>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15043">
                                            <p:txEl>
                                              <p:pRg st="4" end="4"/>
                                            </p:txEl>
                                          </p:spTgt>
                                        </p:tgtEl>
                                        <p:attrNameLst>
                                          <p:attrName>style.visibility</p:attrName>
                                        </p:attrNameLst>
                                      </p:cBhvr>
                                      <p:to>
                                        <p:strVal val="visible"/>
                                      </p:to>
                                    </p:set>
                                    <p:animEffect transition="in" filter="blinds(horizontal)">
                                      <p:cBhvr>
                                        <p:cTn id="16" dur="500"/>
                                        <p:tgtEl>
                                          <p:spTgt spid="215043">
                                            <p:txEl>
                                              <p:pRg st="4" end="4"/>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215043">
                                            <p:txEl>
                                              <p:pRg st="5" end="5"/>
                                            </p:txEl>
                                          </p:spTgt>
                                        </p:tgtEl>
                                        <p:attrNameLst>
                                          <p:attrName>style.visibility</p:attrName>
                                        </p:attrNameLst>
                                      </p:cBhvr>
                                      <p:to>
                                        <p:strVal val="visible"/>
                                      </p:to>
                                    </p:set>
                                    <p:animEffect transition="in" filter="blinds(horizontal)">
                                      <p:cBhvr>
                                        <p:cTn id="19" dur="500"/>
                                        <p:tgtEl>
                                          <p:spTgt spid="21504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684213" y="692150"/>
            <a:ext cx="7772400" cy="792634"/>
          </a:xfrm>
        </p:spPr>
        <p:txBody>
          <a:bodyPr/>
          <a:lstStyle/>
          <a:p>
            <a:pPr eaLnBrk="1" hangingPunct="1"/>
            <a:r>
              <a:rPr lang="zh-CN" altLang="en-US" dirty="0" smtClean="0"/>
              <a:t>统计指标的两种分类</a:t>
            </a:r>
          </a:p>
        </p:txBody>
      </p:sp>
      <p:sp>
        <p:nvSpPr>
          <p:cNvPr id="5124" name="Rectangle 3"/>
          <p:cNvSpPr>
            <a:spLocks noGrp="1" noChangeArrowheads="1"/>
          </p:cNvSpPr>
          <p:nvPr>
            <p:ph idx="1"/>
          </p:nvPr>
        </p:nvSpPr>
        <p:spPr>
          <a:xfrm>
            <a:off x="714375" y="1772245"/>
            <a:ext cx="4176713" cy="792163"/>
          </a:xfrm>
        </p:spPr>
        <p:txBody>
          <a:bodyPr/>
          <a:lstStyle/>
          <a:p>
            <a:pPr lvl="1" eaLnBrk="1" hangingPunct="1"/>
            <a:r>
              <a:rPr lang="zh-CN" altLang="en-US" sz="3600" dirty="0" smtClean="0">
                <a:solidFill>
                  <a:srgbClr val="D60093"/>
                </a:solidFill>
              </a:rPr>
              <a:t>按表现形式分：</a:t>
            </a:r>
          </a:p>
        </p:txBody>
      </p:sp>
      <p:sp>
        <p:nvSpPr>
          <p:cNvPr id="5125" name="Rectangle 5"/>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122" name="Object 4"/>
          <p:cNvGraphicFramePr>
            <a:graphicFrameLocks noChangeAspect="1"/>
          </p:cNvGraphicFramePr>
          <p:nvPr/>
        </p:nvGraphicFramePr>
        <p:xfrm>
          <a:off x="323529" y="3131269"/>
          <a:ext cx="6984776" cy="2124075"/>
        </p:xfrm>
        <a:graphic>
          <a:graphicData uri="http://schemas.openxmlformats.org/presentationml/2006/ole">
            <mc:AlternateContent xmlns:mc="http://schemas.openxmlformats.org/markup-compatibility/2006">
              <mc:Choice xmlns:v="urn:schemas-microsoft-com:vml" Requires="v">
                <p:oleObj spid="_x0000_s251935" name="公式" r:id="rId3" imgW="2374900" imgH="736600" progId="">
                  <p:embed/>
                </p:oleObj>
              </mc:Choice>
              <mc:Fallback>
                <p:oleObj name="公式" r:id="rId3" imgW="2374900" imgH="7366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529" y="3131269"/>
                        <a:ext cx="6984776" cy="2124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6" name="Rectangle 8"/>
          <p:cNvSpPr>
            <a:spLocks noChangeArrowheads="1"/>
          </p:cNvSpPr>
          <p:nvPr/>
        </p:nvSpPr>
        <p:spPr bwMode="auto">
          <a:xfrm>
            <a:off x="4714875" y="1700808"/>
            <a:ext cx="3816350" cy="2089150"/>
          </a:xfrm>
          <a:prstGeom prst="rect">
            <a:avLst/>
          </a:prstGeom>
          <a:noFill/>
          <a:ln w="9525">
            <a:noFill/>
            <a:miter lim="800000"/>
            <a:headEnd/>
            <a:tailEnd/>
          </a:ln>
        </p:spPr>
        <p:txBody>
          <a:bodyPr/>
          <a:lstStyle/>
          <a:p>
            <a:pPr marL="742950" lvl="1" indent="-285750">
              <a:lnSpc>
                <a:spcPct val="100000"/>
              </a:lnSpc>
              <a:spcBef>
                <a:spcPct val="20000"/>
              </a:spcBef>
              <a:buClrTx/>
              <a:buSzPct val="80000"/>
              <a:buFontTx/>
              <a:buBlip>
                <a:blip r:embed="rId5"/>
              </a:buBlip>
            </a:pPr>
            <a:r>
              <a:rPr lang="zh-CN" altLang="en-US" sz="3600">
                <a:solidFill>
                  <a:srgbClr val="D60093"/>
                </a:solidFill>
                <a:latin typeface="Tahoma" pitchFamily="34" charset="0"/>
              </a:rPr>
              <a:t>按反映的数量特点分：</a:t>
            </a:r>
          </a:p>
        </p:txBody>
      </p:sp>
      <p:sp>
        <p:nvSpPr>
          <p:cNvPr id="5127" name="AutoShape 10"/>
          <p:cNvSpPr>
            <a:spLocks noChangeArrowheads="1"/>
          </p:cNvSpPr>
          <p:nvPr/>
        </p:nvSpPr>
        <p:spPr bwMode="auto">
          <a:xfrm>
            <a:off x="3059113" y="2410420"/>
            <a:ext cx="217487" cy="504825"/>
          </a:xfrm>
          <a:prstGeom prst="downArrow">
            <a:avLst>
              <a:gd name="adj1" fmla="val 50000"/>
              <a:gd name="adj2" fmla="val 58029"/>
            </a:avLst>
          </a:prstGeom>
          <a:solidFill>
            <a:schemeClr val="accent2"/>
          </a:solidFill>
          <a:ln w="9525" algn="ctr">
            <a:solidFill>
              <a:schemeClr val="tx1"/>
            </a:solidFill>
            <a:miter lim="800000"/>
            <a:headEnd/>
            <a:tailEnd/>
          </a:ln>
        </p:spPr>
        <p:txBody>
          <a:bodyPr wrap="none" anchor="ctr"/>
          <a:lstStyle/>
          <a:p>
            <a:endParaRPr lang="zh-CN" altLang="en-US"/>
          </a:p>
        </p:txBody>
      </p:sp>
      <p:sp>
        <p:nvSpPr>
          <p:cNvPr id="5128" name="AutoShape 11"/>
          <p:cNvSpPr>
            <a:spLocks noChangeArrowheads="1"/>
          </p:cNvSpPr>
          <p:nvPr/>
        </p:nvSpPr>
        <p:spPr bwMode="auto">
          <a:xfrm>
            <a:off x="6948264" y="2411189"/>
            <a:ext cx="217488" cy="504825"/>
          </a:xfrm>
          <a:prstGeom prst="downArrow">
            <a:avLst>
              <a:gd name="adj1" fmla="val 50000"/>
              <a:gd name="adj2" fmla="val 58029"/>
            </a:avLst>
          </a:prstGeom>
          <a:solidFill>
            <a:schemeClr val="accent2"/>
          </a:solidFill>
          <a:ln w="9525" algn="ctr">
            <a:solidFill>
              <a:schemeClr val="tx1"/>
            </a:solidFill>
            <a:miter lim="800000"/>
            <a:headEnd/>
            <a:tailEnd/>
          </a:ln>
        </p:spPr>
        <p:txBody>
          <a:bodyPr wrap="none" anchor="ctr"/>
          <a:lstStyle/>
          <a:p>
            <a:endParaRPr lang="zh-CN" altLang="en-US" dirty="0"/>
          </a:p>
        </p:txBody>
      </p:sp>
      <p:sp>
        <p:nvSpPr>
          <p:cNvPr id="10" name="TextBox 9"/>
          <p:cNvSpPr txBox="1"/>
          <p:nvPr/>
        </p:nvSpPr>
        <p:spPr>
          <a:xfrm>
            <a:off x="6876256" y="3275285"/>
            <a:ext cx="1907704" cy="452432"/>
          </a:xfrm>
          <a:prstGeom prst="rect">
            <a:avLst/>
          </a:prstGeom>
          <a:noFill/>
        </p:spPr>
        <p:txBody>
          <a:bodyPr wrap="square" rtlCol="0">
            <a:spAutoFit/>
          </a:bodyPr>
          <a:lstStyle/>
          <a:p>
            <a:pPr>
              <a:buNone/>
            </a:pPr>
            <a:r>
              <a:rPr lang="zh-CN" altLang="en-US" sz="2400" dirty="0" smtClean="0">
                <a:solidFill>
                  <a:srgbClr val="7030A0"/>
                </a:solidFill>
              </a:rPr>
              <a:t>（</a:t>
            </a:r>
            <a:r>
              <a:rPr lang="zh-CN" altLang="en-US" sz="2600" dirty="0" smtClean="0">
                <a:solidFill>
                  <a:srgbClr val="7030A0"/>
                </a:solidFill>
              </a:rPr>
              <a:t>外延指标</a:t>
            </a:r>
            <a:r>
              <a:rPr lang="zh-CN" altLang="en-US" sz="2400" dirty="0" smtClean="0">
                <a:solidFill>
                  <a:srgbClr val="7030A0"/>
                </a:solidFill>
              </a:rPr>
              <a:t>）</a:t>
            </a:r>
            <a:endParaRPr lang="zh-CN" altLang="en-US" sz="2400" dirty="0">
              <a:solidFill>
                <a:srgbClr val="7030A0"/>
              </a:solidFill>
            </a:endParaRPr>
          </a:p>
        </p:txBody>
      </p:sp>
      <p:sp>
        <p:nvSpPr>
          <p:cNvPr id="11" name="TextBox 10"/>
          <p:cNvSpPr txBox="1"/>
          <p:nvPr/>
        </p:nvSpPr>
        <p:spPr>
          <a:xfrm>
            <a:off x="7092280" y="4283397"/>
            <a:ext cx="1907704" cy="452432"/>
          </a:xfrm>
          <a:prstGeom prst="rect">
            <a:avLst/>
          </a:prstGeom>
          <a:noFill/>
        </p:spPr>
        <p:txBody>
          <a:bodyPr wrap="square" rtlCol="0">
            <a:spAutoFit/>
          </a:bodyPr>
          <a:lstStyle/>
          <a:p>
            <a:pPr>
              <a:buNone/>
            </a:pPr>
            <a:r>
              <a:rPr lang="zh-CN" altLang="en-US" sz="2400" dirty="0" smtClean="0">
                <a:solidFill>
                  <a:srgbClr val="7030A0"/>
                </a:solidFill>
              </a:rPr>
              <a:t>（</a:t>
            </a:r>
            <a:r>
              <a:rPr lang="zh-CN" altLang="en-US" sz="2600" dirty="0" smtClean="0">
                <a:solidFill>
                  <a:srgbClr val="7030A0"/>
                </a:solidFill>
              </a:rPr>
              <a:t>内涵指标</a:t>
            </a:r>
            <a:r>
              <a:rPr lang="zh-CN" altLang="en-US" sz="2400" dirty="0" smtClean="0">
                <a:solidFill>
                  <a:srgbClr val="7030A0"/>
                </a:solidFill>
              </a:rPr>
              <a:t>）</a:t>
            </a:r>
            <a:endParaRPr lang="zh-CN" altLang="en-US" sz="2400" dirty="0">
              <a:solidFill>
                <a:srgbClr val="7030A0"/>
              </a:solidFill>
            </a:endParaRPr>
          </a:p>
        </p:txBody>
      </p:sp>
      <p:sp>
        <p:nvSpPr>
          <p:cNvPr id="12" name="灯片编号占位符 11"/>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49</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71600" y="62136"/>
            <a:ext cx="7772400" cy="990600"/>
          </a:xfrm>
        </p:spPr>
        <p:txBody>
          <a:bodyPr/>
          <a:lstStyle/>
          <a:p>
            <a:r>
              <a:rPr lang="zh-CN" altLang="en-US" sz="3600" dirty="0" smtClean="0"/>
              <a:t>数量指标与质量指标的比较（例）</a:t>
            </a:r>
            <a:endParaRPr lang="zh-CN" altLang="en-US" sz="3600" dirty="0"/>
          </a:p>
        </p:txBody>
      </p:sp>
      <p:graphicFrame>
        <p:nvGraphicFramePr>
          <p:cNvPr id="4" name="内容占位符 3"/>
          <p:cNvGraphicFramePr>
            <a:graphicFrameLocks noGrp="1"/>
          </p:cNvGraphicFramePr>
          <p:nvPr>
            <p:ph idx="1"/>
          </p:nvPr>
        </p:nvGraphicFramePr>
        <p:xfrm>
          <a:off x="2051720" y="1124744"/>
          <a:ext cx="6840760" cy="1989622"/>
        </p:xfrm>
        <a:graphic>
          <a:graphicData uri="http://schemas.openxmlformats.org/drawingml/2006/table">
            <a:tbl>
              <a:tblPr firstRow="1" bandRow="1">
                <a:tableStyleId>{5C22544A-7EE6-4342-B048-85BDC9FD1C3A}</a:tableStyleId>
              </a:tblPr>
              <a:tblGrid>
                <a:gridCol w="3024336">
                  <a:extLst>
                    <a:ext uri="{9D8B030D-6E8A-4147-A177-3AD203B41FA5}">
                      <a16:colId xmlns:a16="http://schemas.microsoft.com/office/drawing/2014/main" val="20000"/>
                    </a:ext>
                  </a:extLst>
                </a:gridCol>
                <a:gridCol w="1824203">
                  <a:extLst>
                    <a:ext uri="{9D8B030D-6E8A-4147-A177-3AD203B41FA5}">
                      <a16:colId xmlns:a16="http://schemas.microsoft.com/office/drawing/2014/main" val="20001"/>
                    </a:ext>
                  </a:extLst>
                </a:gridCol>
                <a:gridCol w="1992221">
                  <a:extLst>
                    <a:ext uri="{9D8B030D-6E8A-4147-A177-3AD203B41FA5}">
                      <a16:colId xmlns:a16="http://schemas.microsoft.com/office/drawing/2014/main" val="20002"/>
                    </a:ext>
                  </a:extLst>
                </a:gridCol>
              </a:tblGrid>
              <a:tr h="669791">
                <a:tc>
                  <a:txBody>
                    <a:bodyPr/>
                    <a:lstStyle/>
                    <a:p>
                      <a:pPr algn="ctr"/>
                      <a:endParaRPr lang="zh-CN" altLang="en-US" sz="2400" b="1" dirty="0">
                        <a:solidFill>
                          <a:srgbClr val="FF0000"/>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CN" sz="2400" b="1" dirty="0" smtClean="0">
                          <a:solidFill>
                            <a:srgbClr val="C00000"/>
                          </a:solidFill>
                        </a:rPr>
                        <a:t>A</a:t>
                      </a:r>
                      <a:r>
                        <a:rPr lang="zh-CN" altLang="en-US" sz="2400" b="1" dirty="0" smtClean="0">
                          <a:solidFill>
                            <a:srgbClr val="C00000"/>
                          </a:solidFill>
                        </a:rPr>
                        <a:t>班</a:t>
                      </a:r>
                      <a:endParaRPr lang="zh-CN" altLang="en-US" sz="2400" b="1" dirty="0">
                        <a:solidFill>
                          <a:srgbClr val="C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r>
                        <a:rPr lang="en-US" altLang="zh-CN" sz="2400" b="1" dirty="0" smtClean="0">
                          <a:solidFill>
                            <a:srgbClr val="C00000"/>
                          </a:solidFill>
                        </a:rPr>
                        <a:t>B</a:t>
                      </a:r>
                      <a:r>
                        <a:rPr lang="zh-CN" altLang="en-US" sz="2400" b="1" dirty="0" smtClean="0">
                          <a:solidFill>
                            <a:srgbClr val="C00000"/>
                          </a:solidFill>
                        </a:rPr>
                        <a:t>班</a:t>
                      </a:r>
                      <a:endParaRPr lang="zh-CN" altLang="en-US" sz="2400" b="1" dirty="0">
                        <a:solidFill>
                          <a:srgbClr val="C00000"/>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55434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400" b="1" dirty="0" smtClean="0">
                          <a:solidFill>
                            <a:srgbClr val="000000"/>
                          </a:solidFill>
                        </a:rPr>
                        <a:t>及格人数（人）</a:t>
                      </a:r>
                      <a:endParaRPr lang="zh-CN" altLang="en-US" sz="2400" b="1" dirty="0">
                        <a:solidFill>
                          <a:srgbClr val="000000"/>
                        </a:solidFill>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r>
                        <a:rPr lang="en-US" altLang="zh-CN" sz="2400" b="1" dirty="0" smtClean="0">
                          <a:solidFill>
                            <a:srgbClr val="000000"/>
                          </a:solidFill>
                        </a:rPr>
                        <a:t>80</a:t>
                      </a:r>
                      <a:endParaRPr lang="zh-CN" altLang="en-US" sz="2400" b="1" dirty="0">
                        <a:solidFill>
                          <a:srgbClr val="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r>
                        <a:rPr lang="en-US" altLang="zh-CN" sz="2400" b="1" dirty="0" smtClean="0">
                          <a:solidFill>
                            <a:srgbClr val="000000"/>
                          </a:solidFill>
                        </a:rPr>
                        <a:t>50</a:t>
                      </a:r>
                      <a:endParaRPr lang="zh-CN" altLang="en-US" sz="2400" b="1" dirty="0">
                        <a:solidFill>
                          <a:srgbClr val="000000"/>
                        </a:solidFill>
                      </a:endParaRP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1"/>
                  </a:ext>
                </a:extLst>
              </a:tr>
              <a:tr h="765486">
                <a:tc>
                  <a:txBody>
                    <a:bodyPr/>
                    <a:lstStyle/>
                    <a:p>
                      <a:pPr algn="l"/>
                      <a:r>
                        <a:rPr lang="zh-CN" altLang="en-US" sz="2400" b="1" dirty="0" smtClean="0">
                          <a:solidFill>
                            <a:srgbClr val="000000"/>
                          </a:solidFill>
                        </a:rPr>
                        <a:t>月消费支出总额（元）</a:t>
                      </a:r>
                      <a:endParaRPr lang="zh-CN" altLang="en-US" sz="2400" b="1" dirty="0">
                        <a:solidFill>
                          <a:srgbClr val="000000"/>
                        </a:solidFill>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0070C0"/>
                      </a:solidFill>
                      <a:prstDash val="solid"/>
                      <a:round/>
                      <a:headEnd type="none" w="med" len="med"/>
                      <a:tailEnd type="none" w="med" len="med"/>
                    </a:lnB>
                    <a:solidFill>
                      <a:schemeClr val="bg2">
                        <a:lumMod val="20000"/>
                        <a:lumOff val="80000"/>
                      </a:schemeClr>
                    </a:solidFill>
                  </a:tcPr>
                </a:tc>
                <a:tc>
                  <a:txBody>
                    <a:bodyPr/>
                    <a:lstStyle/>
                    <a:p>
                      <a:pPr algn="ctr"/>
                      <a:r>
                        <a:rPr lang="en-US" altLang="zh-CN" sz="2400" b="1" dirty="0" smtClean="0">
                          <a:solidFill>
                            <a:srgbClr val="000000"/>
                          </a:solidFill>
                        </a:rPr>
                        <a:t>100000</a:t>
                      </a:r>
                      <a:endParaRPr lang="zh-CN" altLang="en-US" sz="2400" b="1" dirty="0">
                        <a:solidFill>
                          <a:srgbClr val="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0070C0"/>
                      </a:solidFill>
                      <a:prstDash val="solid"/>
                      <a:round/>
                      <a:headEnd type="none" w="med" len="med"/>
                      <a:tailEnd type="none" w="med" len="med"/>
                    </a:lnB>
                    <a:solidFill>
                      <a:schemeClr val="bg2">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solidFill>
                            <a:srgbClr val="000000"/>
                          </a:solidFill>
                        </a:rPr>
                        <a:t>100000</a:t>
                      </a:r>
                      <a:endParaRPr lang="zh-CN" altLang="en-US" sz="2400" b="1" dirty="0">
                        <a:solidFill>
                          <a:srgbClr val="000000"/>
                        </a:solidFill>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38100" cap="flat" cmpd="sng" algn="ctr">
                      <a:solidFill>
                        <a:srgbClr val="0070C0"/>
                      </a:solidFill>
                      <a:prstDash val="solid"/>
                      <a:round/>
                      <a:headEnd type="none" w="med" len="med"/>
                      <a:tailEnd type="none" w="med" len="med"/>
                    </a:lnB>
                    <a:solidFill>
                      <a:schemeClr val="bg2">
                        <a:lumMod val="20000"/>
                        <a:lumOff val="80000"/>
                      </a:schemeClr>
                    </a:solidFill>
                  </a:tcPr>
                </a:tc>
                <a:extLst>
                  <a:ext uri="{0D108BD9-81ED-4DB2-BD59-A6C34878D82A}">
                    <a16:rowId xmlns:a16="http://schemas.microsoft.com/office/drawing/2014/main" val="10002"/>
                  </a:ext>
                </a:extLst>
              </a:tr>
            </a:tbl>
          </a:graphicData>
        </a:graphic>
      </p:graphicFrame>
      <p:grpSp>
        <p:nvGrpSpPr>
          <p:cNvPr id="10" name="组合 9"/>
          <p:cNvGrpSpPr/>
          <p:nvPr/>
        </p:nvGrpSpPr>
        <p:grpSpPr>
          <a:xfrm>
            <a:off x="35496" y="2060848"/>
            <a:ext cx="2088232" cy="729430"/>
            <a:chOff x="-108520" y="2348880"/>
            <a:chExt cx="2088232" cy="729430"/>
          </a:xfrm>
        </p:grpSpPr>
        <p:sp>
          <p:nvSpPr>
            <p:cNvPr id="12" name="TextBox 11"/>
            <p:cNvSpPr txBox="1"/>
            <p:nvPr/>
          </p:nvSpPr>
          <p:spPr>
            <a:xfrm>
              <a:off x="-108520" y="2348880"/>
              <a:ext cx="1907704" cy="729430"/>
            </a:xfrm>
            <a:prstGeom prst="rect">
              <a:avLst/>
            </a:prstGeom>
            <a:noFill/>
          </p:spPr>
          <p:txBody>
            <a:bodyPr wrap="square" rtlCol="0">
              <a:spAutoFit/>
            </a:bodyPr>
            <a:lstStyle/>
            <a:p>
              <a:pPr algn="ctr"/>
              <a:r>
                <a:rPr lang="zh-CN" altLang="en-US" sz="2600" dirty="0" smtClean="0">
                  <a:solidFill>
                    <a:srgbClr val="0000FF"/>
                  </a:solidFill>
                </a:rPr>
                <a:t>数量指标</a:t>
              </a:r>
              <a:r>
                <a:rPr lang="zh-CN" altLang="en-US" sz="2000" dirty="0" smtClean="0">
                  <a:solidFill>
                    <a:srgbClr val="0000FF"/>
                  </a:solidFill>
                </a:rPr>
                <a:t>（总量指标）</a:t>
              </a:r>
              <a:endParaRPr lang="zh-CN" altLang="en-US" sz="2400" dirty="0">
                <a:solidFill>
                  <a:srgbClr val="0000FF"/>
                </a:solidFill>
              </a:endParaRPr>
            </a:p>
          </p:txBody>
        </p:sp>
        <p:sp>
          <p:nvSpPr>
            <p:cNvPr id="14" name="左大括号 13"/>
            <p:cNvSpPr/>
            <p:nvPr/>
          </p:nvSpPr>
          <p:spPr bwMode="auto">
            <a:xfrm>
              <a:off x="1619672" y="2348880"/>
              <a:ext cx="360040" cy="720080"/>
            </a:xfrm>
            <a:prstGeom prst="leftBrace">
              <a:avLst/>
            </a:prstGeom>
            <a:noFill/>
            <a:ln w="28575"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marR="0" indent="-342900" algn="l" defTabSz="914400" rtl="0" eaLnBrk="1" fontAlgn="base" latinLnBrk="0" hangingPunct="1">
                <a:lnSpc>
                  <a:spcPct val="90000"/>
                </a:lnSpc>
                <a:spcBef>
                  <a:spcPct val="15000"/>
                </a:spcBef>
                <a:spcAft>
                  <a:spcPct val="0"/>
                </a:spcAft>
                <a:buClr>
                  <a:srgbClr val="FF3300"/>
                </a:buClr>
                <a:buSzPct val="70000"/>
                <a:buFont typeface="Wingdings" pitchFamily="2" charset="2"/>
                <a:buChar char="|"/>
                <a:tabLst/>
              </a:pPr>
              <a:endParaRPr kumimoji="0" lang="zh-CN" altLang="en-US" sz="2800" b="1" i="0" u="none" strike="noStrike" cap="none" normalizeH="0" baseline="0" dirty="0" smtClean="0">
                <a:ln w="28575">
                  <a:solidFill>
                    <a:schemeClr val="tx1"/>
                  </a:solidFill>
                </a:ln>
                <a:noFill/>
                <a:effectLst/>
                <a:latin typeface="Times New Roman" pitchFamily="18" charset="0"/>
                <a:ea typeface="宋体" pitchFamily="2" charset="-122"/>
              </a:endParaRPr>
            </a:p>
          </p:txBody>
        </p:sp>
      </p:grpSp>
      <p:grpSp>
        <p:nvGrpSpPr>
          <p:cNvPr id="11" name="组合 10"/>
          <p:cNvGrpSpPr/>
          <p:nvPr/>
        </p:nvGrpSpPr>
        <p:grpSpPr>
          <a:xfrm>
            <a:off x="179512" y="3212976"/>
            <a:ext cx="1944216" cy="1006429"/>
            <a:chOff x="35496" y="3645024"/>
            <a:chExt cx="1944216" cy="1006429"/>
          </a:xfrm>
        </p:grpSpPr>
        <p:sp>
          <p:nvSpPr>
            <p:cNvPr id="13" name="TextBox 12"/>
            <p:cNvSpPr txBox="1"/>
            <p:nvPr/>
          </p:nvSpPr>
          <p:spPr>
            <a:xfrm>
              <a:off x="35496" y="3645024"/>
              <a:ext cx="1763688" cy="1006429"/>
            </a:xfrm>
            <a:prstGeom prst="rect">
              <a:avLst/>
            </a:prstGeom>
            <a:noFill/>
          </p:spPr>
          <p:txBody>
            <a:bodyPr wrap="square" rtlCol="0">
              <a:spAutoFit/>
            </a:bodyPr>
            <a:lstStyle/>
            <a:p>
              <a:pPr algn="ctr"/>
              <a:r>
                <a:rPr lang="zh-CN" altLang="en-US" sz="2600" dirty="0" smtClean="0">
                  <a:solidFill>
                    <a:srgbClr val="0000FF"/>
                  </a:solidFill>
                </a:rPr>
                <a:t>质量指标</a:t>
              </a:r>
              <a:r>
                <a:rPr lang="zh-CN" altLang="en-US" sz="2000" dirty="0" smtClean="0">
                  <a:solidFill>
                    <a:srgbClr val="0000FF"/>
                  </a:solidFill>
                </a:rPr>
                <a:t>（相对指标，平均指标）</a:t>
              </a:r>
              <a:endParaRPr lang="zh-CN" altLang="en-US" sz="2000" dirty="0">
                <a:solidFill>
                  <a:srgbClr val="0000FF"/>
                </a:solidFill>
              </a:endParaRPr>
            </a:p>
          </p:txBody>
        </p:sp>
        <p:sp>
          <p:nvSpPr>
            <p:cNvPr id="15" name="左大括号 14"/>
            <p:cNvSpPr/>
            <p:nvPr/>
          </p:nvSpPr>
          <p:spPr bwMode="auto">
            <a:xfrm>
              <a:off x="1619672" y="3861048"/>
              <a:ext cx="360040" cy="720080"/>
            </a:xfrm>
            <a:prstGeom prst="leftBrace">
              <a:avLst/>
            </a:prstGeom>
            <a:noFill/>
            <a:ln w="28575"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marR="0" indent="-342900" algn="l" defTabSz="914400" rtl="0" eaLnBrk="1" fontAlgn="base" latinLnBrk="0" hangingPunct="1">
                <a:lnSpc>
                  <a:spcPct val="90000"/>
                </a:lnSpc>
                <a:spcBef>
                  <a:spcPct val="15000"/>
                </a:spcBef>
                <a:spcAft>
                  <a:spcPct val="0"/>
                </a:spcAft>
                <a:buClr>
                  <a:srgbClr val="FF3300"/>
                </a:buClr>
                <a:buSzPct val="70000"/>
                <a:buFont typeface="Wingdings" pitchFamily="2" charset="2"/>
                <a:buChar char="|"/>
                <a:tabLst/>
              </a:pPr>
              <a:endParaRPr kumimoji="0" lang="zh-CN" altLang="en-US" sz="2800" b="1" i="0" u="none" strike="noStrike" cap="none" normalizeH="0" baseline="0" dirty="0" smtClean="0">
                <a:ln w="28575">
                  <a:solidFill>
                    <a:schemeClr val="tx1"/>
                  </a:solidFill>
                </a:ln>
                <a:noFill/>
                <a:effectLst/>
                <a:latin typeface="Times New Roman" pitchFamily="18" charset="0"/>
                <a:ea typeface="宋体" pitchFamily="2" charset="-122"/>
              </a:endParaRPr>
            </a:p>
          </p:txBody>
        </p:sp>
      </p:grpSp>
      <p:sp>
        <p:nvSpPr>
          <p:cNvPr id="16" name="TextBox 15"/>
          <p:cNvSpPr txBox="1"/>
          <p:nvPr/>
        </p:nvSpPr>
        <p:spPr>
          <a:xfrm>
            <a:off x="323528" y="4581128"/>
            <a:ext cx="8568952" cy="1660455"/>
          </a:xfrm>
          <a:prstGeom prst="rect">
            <a:avLst/>
          </a:prstGeom>
          <a:noFill/>
        </p:spPr>
        <p:txBody>
          <a:bodyPr wrap="square" rtlCol="0">
            <a:spAutoFit/>
          </a:bodyPr>
          <a:lstStyle/>
          <a:p>
            <a:pPr>
              <a:lnSpc>
                <a:spcPct val="95000"/>
              </a:lnSpc>
              <a:spcBef>
                <a:spcPts val="600"/>
              </a:spcBef>
              <a:buFont typeface="Wingdings" pitchFamily="2" charset="2"/>
              <a:buChar char="Ø"/>
            </a:pPr>
            <a:r>
              <a:rPr lang="zh-CN" altLang="en-US" sz="2600" dirty="0" smtClean="0">
                <a:solidFill>
                  <a:srgbClr val="0000FF"/>
                </a:solidFill>
              </a:rPr>
              <a:t>总量指标的数值大小受总体规模大小的影响，不能直接说明现象内在水平高低或质量好坏，故称为数量指标。</a:t>
            </a:r>
            <a:endParaRPr lang="en-US" altLang="zh-CN" sz="2600" dirty="0" smtClean="0">
              <a:solidFill>
                <a:srgbClr val="0000FF"/>
              </a:solidFill>
            </a:endParaRPr>
          </a:p>
          <a:p>
            <a:pPr>
              <a:lnSpc>
                <a:spcPct val="95000"/>
              </a:lnSpc>
              <a:spcBef>
                <a:spcPts val="600"/>
              </a:spcBef>
              <a:buFont typeface="Wingdings" pitchFamily="2" charset="2"/>
              <a:buChar char="Ø"/>
            </a:pPr>
            <a:r>
              <a:rPr lang="zh-CN" altLang="en-US" sz="2500" dirty="0" smtClean="0">
                <a:solidFill>
                  <a:srgbClr val="0000FF"/>
                </a:solidFill>
              </a:rPr>
              <a:t>相对指标和平均指标的数值大小与总体规模大小</a:t>
            </a:r>
            <a:r>
              <a:rPr lang="zh-CN" altLang="en-US" sz="2500" dirty="0" smtClean="0">
                <a:solidFill>
                  <a:srgbClr val="D60093"/>
                </a:solidFill>
              </a:rPr>
              <a:t>无</a:t>
            </a:r>
            <a:r>
              <a:rPr lang="zh-CN" altLang="en-US" sz="2500" dirty="0" smtClean="0">
                <a:solidFill>
                  <a:srgbClr val="0000FF"/>
                </a:solidFill>
              </a:rPr>
              <a:t>直接关系</a:t>
            </a:r>
            <a:r>
              <a:rPr lang="en-US" altLang="zh-CN" sz="2500" dirty="0" smtClean="0">
                <a:solidFill>
                  <a:srgbClr val="0000FF"/>
                </a:solidFill>
              </a:rPr>
              <a:t>,</a:t>
            </a:r>
            <a:r>
              <a:rPr lang="zh-CN" altLang="en-US" sz="2500" dirty="0" smtClean="0">
                <a:solidFill>
                  <a:srgbClr val="0000FF"/>
                </a:solidFill>
              </a:rPr>
              <a:t>能直接说明现象内在水平高低和质量好坏，故称质量指标。</a:t>
            </a:r>
            <a:endParaRPr lang="zh-CN" altLang="en-US" sz="2500" dirty="0">
              <a:solidFill>
                <a:srgbClr val="0000FF"/>
              </a:solidFill>
            </a:endParaRPr>
          </a:p>
        </p:txBody>
      </p:sp>
      <p:graphicFrame>
        <p:nvGraphicFramePr>
          <p:cNvPr id="9" name="表格 8"/>
          <p:cNvGraphicFramePr>
            <a:graphicFrameLocks noGrp="1"/>
          </p:cNvGraphicFramePr>
          <p:nvPr/>
        </p:nvGraphicFramePr>
        <p:xfrm>
          <a:off x="2051720" y="3140968"/>
          <a:ext cx="6840760" cy="1351316"/>
        </p:xfrm>
        <a:graphic>
          <a:graphicData uri="http://schemas.openxmlformats.org/drawingml/2006/table">
            <a:tbl>
              <a:tblPr firstRow="1" bandRow="1">
                <a:tableStyleId>{5C22544A-7EE6-4342-B048-85BDC9FD1C3A}</a:tableStyleId>
              </a:tblPr>
              <a:tblGrid>
                <a:gridCol w="3024336">
                  <a:extLst>
                    <a:ext uri="{9D8B030D-6E8A-4147-A177-3AD203B41FA5}">
                      <a16:colId xmlns:a16="http://schemas.microsoft.com/office/drawing/2014/main" val="20000"/>
                    </a:ext>
                  </a:extLst>
                </a:gridCol>
                <a:gridCol w="1824203">
                  <a:extLst>
                    <a:ext uri="{9D8B030D-6E8A-4147-A177-3AD203B41FA5}">
                      <a16:colId xmlns:a16="http://schemas.microsoft.com/office/drawing/2014/main" val="20001"/>
                    </a:ext>
                  </a:extLst>
                </a:gridCol>
                <a:gridCol w="1992221">
                  <a:extLst>
                    <a:ext uri="{9D8B030D-6E8A-4147-A177-3AD203B41FA5}">
                      <a16:colId xmlns:a16="http://schemas.microsoft.com/office/drawing/2014/main" val="20002"/>
                    </a:ext>
                  </a:extLst>
                </a:gridCol>
              </a:tblGrid>
              <a:tr h="625478">
                <a:tc>
                  <a:txBody>
                    <a:bodyPr/>
                    <a:lstStyle/>
                    <a:p>
                      <a:pPr algn="l"/>
                      <a:r>
                        <a:rPr lang="zh-CN" altLang="en-US" sz="2400" b="1" dirty="0" smtClean="0">
                          <a:solidFill>
                            <a:srgbClr val="000000"/>
                          </a:solidFill>
                        </a:rPr>
                        <a:t>及格率（</a:t>
                      </a:r>
                      <a:r>
                        <a:rPr lang="en-US" altLang="zh-CN" sz="2400" b="1" dirty="0" smtClean="0">
                          <a:solidFill>
                            <a:srgbClr val="000000"/>
                          </a:solidFill>
                        </a:rPr>
                        <a:t>%</a:t>
                      </a:r>
                      <a:r>
                        <a:rPr lang="zh-CN" altLang="en-US" sz="2400" b="1" dirty="0" smtClean="0">
                          <a:solidFill>
                            <a:srgbClr val="000000"/>
                          </a:solidFill>
                        </a:rPr>
                        <a:t>）</a:t>
                      </a:r>
                      <a:endParaRPr lang="zh-CN" altLang="en-US" sz="2400" b="1" dirty="0">
                        <a:solidFill>
                          <a:srgbClr val="000000"/>
                        </a:solidFill>
                      </a:endParaRPr>
                    </a:p>
                  </a:txBody>
                  <a:tcPr anchor="ctr">
                    <a:lnR w="12700" cap="flat" cmpd="sng" algn="ctr">
                      <a:solidFill>
                        <a:schemeClr val="tx1"/>
                      </a:solidFill>
                      <a:prstDash val="solid"/>
                      <a:round/>
                      <a:headEnd type="none" w="med" len="med"/>
                      <a:tailEnd type="none" w="med" len="med"/>
                    </a:lnR>
                    <a:lnT w="38100" cap="flat" cmpd="sng" algn="ctr">
                      <a:solidFill>
                        <a:srgbClr val="0070C0"/>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CCCCFF"/>
                    </a:solidFill>
                  </a:tcPr>
                </a:tc>
                <a:tc>
                  <a:txBody>
                    <a:bodyPr/>
                    <a:lstStyle/>
                    <a:p>
                      <a:pPr algn="ctr"/>
                      <a:r>
                        <a:rPr lang="en-US" altLang="zh-CN" sz="2400" b="1" dirty="0" smtClean="0">
                          <a:solidFill>
                            <a:srgbClr val="000000"/>
                          </a:solidFill>
                        </a:rPr>
                        <a:t>80</a:t>
                      </a:r>
                      <a:endParaRPr lang="zh-CN" altLang="en-US" sz="2400" b="1" dirty="0">
                        <a:solidFill>
                          <a:srgbClr val="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rgbClr val="0070C0"/>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CCCC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solidFill>
                            <a:srgbClr val="000000"/>
                          </a:solidFill>
                        </a:rPr>
                        <a:t>100</a:t>
                      </a:r>
                      <a:endParaRPr lang="zh-CN" altLang="en-US" sz="2400" b="1" dirty="0">
                        <a:solidFill>
                          <a:srgbClr val="000000"/>
                        </a:solidFill>
                      </a:endParaRPr>
                    </a:p>
                  </a:txBody>
                  <a:tcPr anchor="ctr">
                    <a:lnL w="12700" cap="flat" cmpd="sng" algn="ctr">
                      <a:solidFill>
                        <a:schemeClr val="tx1"/>
                      </a:solidFill>
                      <a:prstDash val="solid"/>
                      <a:round/>
                      <a:headEnd type="none" w="med" len="med"/>
                      <a:tailEnd type="none" w="med" len="med"/>
                    </a:lnL>
                    <a:lnT w="38100" cap="flat" cmpd="sng" algn="ctr">
                      <a:solidFill>
                        <a:srgbClr val="0070C0"/>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CCCCFF"/>
                    </a:solidFill>
                  </a:tcPr>
                </a:tc>
                <a:extLst>
                  <a:ext uri="{0D108BD9-81ED-4DB2-BD59-A6C34878D82A}">
                    <a16:rowId xmlns:a16="http://schemas.microsoft.com/office/drawing/2014/main" val="10000"/>
                  </a:ext>
                </a:extLst>
              </a:tr>
              <a:tr h="72583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2400" b="1" dirty="0" smtClean="0">
                          <a:solidFill>
                            <a:srgbClr val="000000"/>
                          </a:solidFill>
                        </a:rPr>
                        <a:t>人均月消费支出（元）</a:t>
                      </a:r>
                      <a:endParaRPr lang="zh-CN" altLang="en-US" sz="2400" b="1" dirty="0">
                        <a:solidFill>
                          <a:srgbClr val="000000"/>
                        </a:solidFill>
                      </a:endParaRPr>
                    </a:p>
                  </a:txBody>
                  <a:tcPr anchor="ctr">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CCCCFF"/>
                    </a:solidFill>
                  </a:tcPr>
                </a:tc>
                <a:tc>
                  <a:txBody>
                    <a:bodyPr/>
                    <a:lstStyle/>
                    <a:p>
                      <a:pPr algn="ctr"/>
                      <a:r>
                        <a:rPr lang="en-US" altLang="zh-CN" sz="2400" b="1" dirty="0" smtClean="0">
                          <a:solidFill>
                            <a:srgbClr val="000000"/>
                          </a:solidFill>
                        </a:rPr>
                        <a:t>1000</a:t>
                      </a:r>
                      <a:endParaRPr lang="zh-CN" altLang="en-US" sz="2400" b="1" dirty="0">
                        <a:solidFill>
                          <a:srgbClr val="00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CCCCFF"/>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400" b="1" dirty="0" smtClean="0">
                          <a:solidFill>
                            <a:srgbClr val="000000"/>
                          </a:solidFill>
                        </a:rPr>
                        <a:t>2000</a:t>
                      </a:r>
                      <a:endParaRPr lang="zh-CN" altLang="en-US" sz="2400" b="1" dirty="0">
                        <a:solidFill>
                          <a:srgbClr val="000000"/>
                        </a:solidFill>
                      </a:endParaRPr>
                    </a:p>
                  </a:txBody>
                  <a:tcPr anchor="ctr">
                    <a:lnL w="127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rgbClr val="CCCCFF"/>
                    </a:solidFill>
                  </a:tcPr>
                </a:tc>
                <a:extLst>
                  <a:ext uri="{0D108BD9-81ED-4DB2-BD59-A6C34878D82A}">
                    <a16:rowId xmlns:a16="http://schemas.microsoft.com/office/drawing/2014/main" val="10001"/>
                  </a:ext>
                </a:extLst>
              </a:tr>
            </a:tbl>
          </a:graphicData>
        </a:graphic>
      </p:graphicFrame>
      <p:sp>
        <p:nvSpPr>
          <p:cNvPr id="17" name="灯片编号占位符 16"/>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50</a:t>
            </a:fld>
            <a:endParaRPr lang="en-US" altLang="zh-CN" dirty="0">
              <a:solidFill>
                <a:srgbClr val="545472"/>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1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right)">
                                      <p:cBhvr>
                                        <p:cTn id="12" dur="500"/>
                                        <p:tgtEl>
                                          <p:spTgt spid="10"/>
                                        </p:tgtEl>
                                      </p:cBhvr>
                                    </p:animEffect>
                                  </p:childTnLst>
                                </p:cTn>
                              </p:par>
                            </p:childTnLst>
                          </p:cTn>
                        </p:par>
                        <p:par>
                          <p:cTn id="13" fill="hold">
                            <p:stCondLst>
                              <p:cond delay="500"/>
                            </p:stCondLst>
                            <p:childTnLst>
                              <p:par>
                                <p:cTn id="14" presetID="22" presetClass="entr" presetSubtype="2" fill="hold"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right)">
                                      <p:cBhvr>
                                        <p:cTn id="16" dur="1000"/>
                                        <p:tgtEl>
                                          <p:spTgt spid="11"/>
                                        </p:tgtEl>
                                      </p:cBhvr>
                                    </p:animEffect>
                                  </p:childTnLst>
                                </p:cTn>
                              </p:par>
                            </p:childTnLst>
                          </p:cTn>
                        </p:par>
                        <p:par>
                          <p:cTn id="17" fill="hold">
                            <p:stCondLst>
                              <p:cond delay="1500"/>
                            </p:stCondLst>
                            <p:childTnLst>
                              <p:par>
                                <p:cTn id="18" presetID="3" presetClass="entr" presetSubtype="10" fill="hold" grpId="0" nodeType="after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blinds(horizontal)">
                                      <p:cBhvr>
                                        <p:cTn id="20" dur="2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827" name="Rectangle 2"/>
          <p:cNvSpPr>
            <a:spLocks noGrp="1" noChangeArrowheads="1"/>
          </p:cNvSpPr>
          <p:nvPr>
            <p:ph type="title"/>
          </p:nvPr>
        </p:nvSpPr>
        <p:spPr>
          <a:xfrm>
            <a:off x="685800" y="228600"/>
            <a:ext cx="7772400" cy="968152"/>
          </a:xfrm>
        </p:spPr>
        <p:txBody>
          <a:bodyPr/>
          <a:lstStyle/>
          <a:p>
            <a:pPr eaLnBrk="1" hangingPunct="1"/>
            <a:r>
              <a:rPr lang="en-US" altLang="zh-CN" sz="3600" b="0" dirty="0" smtClean="0">
                <a:solidFill>
                  <a:srgbClr val="1313FF"/>
                </a:solidFill>
              </a:rPr>
              <a:t>【</a:t>
            </a:r>
            <a:r>
              <a:rPr lang="zh-CN" altLang="en-US" sz="3600" b="0" dirty="0" smtClean="0">
                <a:solidFill>
                  <a:srgbClr val="1313FF"/>
                </a:solidFill>
              </a:rPr>
              <a:t>附</a:t>
            </a:r>
            <a:r>
              <a:rPr lang="en-US" altLang="zh-CN" sz="3600" b="0" dirty="0" smtClean="0">
                <a:solidFill>
                  <a:srgbClr val="1313FF"/>
                </a:solidFill>
              </a:rPr>
              <a:t>】</a:t>
            </a:r>
            <a:r>
              <a:rPr lang="zh-CN" altLang="en-US" sz="3600" dirty="0" smtClean="0">
                <a:solidFill>
                  <a:srgbClr val="1313FF"/>
                </a:solidFill>
              </a:rPr>
              <a:t>统计指标的分类（续）</a:t>
            </a:r>
          </a:p>
        </p:txBody>
      </p:sp>
      <p:sp>
        <p:nvSpPr>
          <p:cNvPr id="282627" name="Rectangle 3"/>
          <p:cNvSpPr>
            <a:spLocks noGrp="1" noChangeArrowheads="1"/>
          </p:cNvSpPr>
          <p:nvPr>
            <p:ph idx="1"/>
          </p:nvPr>
        </p:nvSpPr>
        <p:spPr>
          <a:xfrm>
            <a:off x="685800" y="1268760"/>
            <a:ext cx="7772400" cy="4968552"/>
          </a:xfrm>
        </p:spPr>
        <p:txBody>
          <a:bodyPr/>
          <a:lstStyle/>
          <a:p>
            <a:pPr algn="just" eaLnBrk="1" hangingPunct="1">
              <a:spcBef>
                <a:spcPts val="600"/>
              </a:spcBef>
              <a:buFontTx/>
              <a:buNone/>
            </a:pPr>
            <a:r>
              <a:rPr lang="zh-CN" altLang="en-US" sz="2800" dirty="0" smtClean="0">
                <a:solidFill>
                  <a:srgbClr val="FF0000"/>
                </a:solidFill>
                <a:latin typeface="Times New Roman" pitchFamily="18" charset="0"/>
              </a:rPr>
              <a:t>统计指标按性质（方向）不同，可分为：</a:t>
            </a:r>
          </a:p>
          <a:p>
            <a:pPr algn="just" eaLnBrk="1" hangingPunct="1">
              <a:spcBef>
                <a:spcPts val="600"/>
              </a:spcBef>
            </a:pPr>
            <a:r>
              <a:rPr lang="zh-CN" altLang="en-US" sz="2800" dirty="0" smtClean="0">
                <a:solidFill>
                  <a:srgbClr val="FF0000"/>
                </a:solidFill>
                <a:latin typeface="Times New Roman" pitchFamily="18" charset="0"/>
              </a:rPr>
              <a:t>正指标</a:t>
            </a:r>
            <a:r>
              <a:rPr lang="en-US" altLang="zh-CN" sz="2400" dirty="0" smtClean="0">
                <a:latin typeface="Times New Roman" pitchFamily="18" charset="0"/>
              </a:rPr>
              <a:t>(</a:t>
            </a:r>
            <a:r>
              <a:rPr lang="zh-CN" altLang="en-US" sz="2400" dirty="0" smtClean="0">
                <a:latin typeface="Times New Roman" pitchFamily="18" charset="0"/>
              </a:rPr>
              <a:t>正向指标）</a:t>
            </a:r>
            <a:endParaRPr lang="zh-CN" altLang="en-US" sz="2800" dirty="0" smtClean="0">
              <a:latin typeface="Times New Roman" pitchFamily="18" charset="0"/>
            </a:endParaRPr>
          </a:p>
          <a:p>
            <a:pPr lvl="1" algn="just" eaLnBrk="1" hangingPunct="1">
              <a:spcBef>
                <a:spcPts val="600"/>
              </a:spcBef>
            </a:pPr>
            <a:r>
              <a:rPr lang="zh-CN" altLang="en-US" sz="2400" dirty="0" smtClean="0">
                <a:latin typeface="Times New Roman" pitchFamily="18" charset="0"/>
              </a:rPr>
              <a:t>指标数值越大越好</a:t>
            </a:r>
          </a:p>
          <a:p>
            <a:pPr lvl="1" algn="just" eaLnBrk="1" hangingPunct="1">
              <a:spcBef>
                <a:spcPts val="600"/>
              </a:spcBef>
            </a:pPr>
            <a:r>
              <a:rPr lang="zh-CN" altLang="en-US" sz="2400" dirty="0" smtClean="0">
                <a:latin typeface="Times New Roman" pitchFamily="18" charset="0"/>
              </a:rPr>
              <a:t>如利税总额、劳动生产率、人均收入等 </a:t>
            </a:r>
          </a:p>
          <a:p>
            <a:pPr algn="just" eaLnBrk="1" hangingPunct="1">
              <a:spcBef>
                <a:spcPts val="600"/>
              </a:spcBef>
            </a:pPr>
            <a:r>
              <a:rPr lang="zh-CN" altLang="en-US" sz="2800" dirty="0" smtClean="0">
                <a:solidFill>
                  <a:srgbClr val="FF0000"/>
                </a:solidFill>
                <a:latin typeface="Times New Roman" pitchFamily="18" charset="0"/>
              </a:rPr>
              <a:t>逆指标</a:t>
            </a:r>
            <a:r>
              <a:rPr lang="en-US" altLang="zh-CN" sz="2400" dirty="0" smtClean="0">
                <a:latin typeface="Times New Roman" pitchFamily="18" charset="0"/>
              </a:rPr>
              <a:t>(</a:t>
            </a:r>
            <a:r>
              <a:rPr lang="zh-CN" altLang="en-US" sz="2400" dirty="0" smtClean="0">
                <a:latin typeface="Times New Roman" pitchFamily="18" charset="0"/>
              </a:rPr>
              <a:t>逆向指标）</a:t>
            </a:r>
            <a:endParaRPr lang="zh-CN" altLang="en-US" sz="2800" dirty="0" smtClean="0">
              <a:solidFill>
                <a:srgbClr val="FF0000"/>
              </a:solidFill>
              <a:latin typeface="Times New Roman" pitchFamily="18" charset="0"/>
            </a:endParaRPr>
          </a:p>
          <a:p>
            <a:pPr lvl="1" algn="just" eaLnBrk="1" hangingPunct="1">
              <a:spcBef>
                <a:spcPts val="600"/>
              </a:spcBef>
            </a:pPr>
            <a:r>
              <a:rPr lang="zh-CN" altLang="en-US" sz="2400" dirty="0" smtClean="0">
                <a:latin typeface="Times New Roman" pitchFamily="18" charset="0"/>
              </a:rPr>
              <a:t>指标数值越小越好</a:t>
            </a:r>
          </a:p>
          <a:p>
            <a:pPr lvl="1" algn="just" eaLnBrk="1" hangingPunct="1">
              <a:spcBef>
                <a:spcPts val="600"/>
              </a:spcBef>
            </a:pPr>
            <a:r>
              <a:rPr lang="zh-CN" altLang="en-US" sz="2200" dirty="0" smtClean="0">
                <a:latin typeface="Times New Roman" pitchFamily="18" charset="0"/>
              </a:rPr>
              <a:t>如单位成本、废品率、犯罪率、病死率、能耗系数等</a:t>
            </a:r>
            <a:r>
              <a:rPr lang="zh-CN" altLang="en-US" sz="2400" dirty="0" smtClean="0">
                <a:latin typeface="Times New Roman" pitchFamily="18" charset="0"/>
              </a:rPr>
              <a:t> </a:t>
            </a:r>
          </a:p>
          <a:p>
            <a:pPr algn="just" eaLnBrk="1" hangingPunct="1">
              <a:spcBef>
                <a:spcPts val="600"/>
              </a:spcBef>
            </a:pPr>
            <a:r>
              <a:rPr lang="zh-CN" altLang="en-US" sz="2800" dirty="0" smtClean="0">
                <a:solidFill>
                  <a:srgbClr val="FF0000"/>
                </a:solidFill>
                <a:latin typeface="Times New Roman" pitchFamily="18" charset="0"/>
              </a:rPr>
              <a:t>适度指标</a:t>
            </a:r>
            <a:r>
              <a:rPr lang="en-US" altLang="zh-CN" sz="2400" dirty="0" smtClean="0">
                <a:latin typeface="Times New Roman" pitchFamily="18" charset="0"/>
              </a:rPr>
              <a:t>(</a:t>
            </a:r>
            <a:r>
              <a:rPr lang="zh-CN" altLang="en-US" sz="2400" dirty="0" smtClean="0">
                <a:latin typeface="Times New Roman" pitchFamily="18" charset="0"/>
              </a:rPr>
              <a:t>中性指标）</a:t>
            </a:r>
            <a:endParaRPr lang="zh-CN" altLang="en-US" sz="2800" dirty="0" smtClean="0">
              <a:solidFill>
                <a:srgbClr val="FF0000"/>
              </a:solidFill>
              <a:latin typeface="Times New Roman" pitchFamily="18" charset="0"/>
            </a:endParaRPr>
          </a:p>
          <a:p>
            <a:pPr lvl="1" algn="just" eaLnBrk="1" hangingPunct="1">
              <a:spcBef>
                <a:spcPts val="600"/>
              </a:spcBef>
            </a:pPr>
            <a:r>
              <a:rPr lang="zh-CN" altLang="en-US" sz="2400" dirty="0" smtClean="0">
                <a:latin typeface="Times New Roman" pitchFamily="18" charset="0"/>
              </a:rPr>
              <a:t>在一定范围内波动才说明现象变化处于正常状态，过高或过低都不理想</a:t>
            </a:r>
          </a:p>
          <a:p>
            <a:pPr lvl="1" algn="just" eaLnBrk="1" hangingPunct="1">
              <a:spcBef>
                <a:spcPts val="600"/>
              </a:spcBef>
            </a:pPr>
            <a:r>
              <a:rPr lang="zh-CN" altLang="en-US" sz="2200" dirty="0" smtClean="0">
                <a:latin typeface="Times New Roman" pitchFamily="18" charset="0"/>
              </a:rPr>
              <a:t>如基尼系数</a:t>
            </a:r>
            <a:r>
              <a:rPr lang="zh-CN" altLang="en-US" sz="2000" dirty="0" smtClean="0">
                <a:latin typeface="Times New Roman" pitchFamily="18" charset="0"/>
              </a:rPr>
              <a:t>（在</a:t>
            </a:r>
            <a:r>
              <a:rPr lang="en-US" altLang="zh-CN" sz="2000" dirty="0" smtClean="0">
                <a:latin typeface="Times New Roman" pitchFamily="18" charset="0"/>
              </a:rPr>
              <a:t>0.3—0.4</a:t>
            </a:r>
            <a:r>
              <a:rPr lang="zh-CN" altLang="en-US" sz="2000" dirty="0" smtClean="0">
                <a:latin typeface="Times New Roman" pitchFamily="18" charset="0"/>
              </a:rPr>
              <a:t>之间比较合理），</a:t>
            </a:r>
            <a:r>
              <a:rPr lang="zh-CN" altLang="en-US" sz="2200" dirty="0" smtClean="0">
                <a:latin typeface="Times New Roman" pitchFamily="18" charset="0"/>
              </a:rPr>
              <a:t>企业资产负债率</a:t>
            </a:r>
          </a:p>
        </p:txBody>
      </p:sp>
      <p:sp>
        <p:nvSpPr>
          <p:cNvPr id="5" name="灯片编号占位符 4"/>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51</a:t>
            </a:fld>
            <a:endParaRPr lang="en-US" altLang="zh-CN" dirty="0">
              <a:solidFill>
                <a:srgbClr val="545472"/>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82627">
                                            <p:txEl>
                                              <p:pRg st="2" end="2"/>
                                            </p:txEl>
                                          </p:spTgt>
                                        </p:tgtEl>
                                        <p:attrNameLst>
                                          <p:attrName>style.visibility</p:attrName>
                                        </p:attrNameLst>
                                      </p:cBhvr>
                                      <p:to>
                                        <p:strVal val="visible"/>
                                      </p:to>
                                    </p:set>
                                    <p:anim calcmode="lin" valueType="num">
                                      <p:cBhvr additive="base">
                                        <p:cTn id="7" dur="500" fill="hold"/>
                                        <p:tgtEl>
                                          <p:spTgt spid="282627">
                                            <p:txEl>
                                              <p:pRg st="2" end="2"/>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82627">
                                            <p:txEl>
                                              <p:pRg st="2" end="2"/>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282627">
                                            <p:txEl>
                                              <p:pRg st="3" end="3"/>
                                            </p:txEl>
                                          </p:spTgt>
                                        </p:tgtEl>
                                        <p:attrNameLst>
                                          <p:attrName>style.visibility</p:attrName>
                                        </p:attrNameLst>
                                      </p:cBhvr>
                                      <p:to>
                                        <p:strVal val="visible"/>
                                      </p:to>
                                    </p:set>
                                    <p:anim calcmode="lin" valueType="num">
                                      <p:cBhvr additive="base">
                                        <p:cTn id="11" dur="500" fill="hold"/>
                                        <p:tgtEl>
                                          <p:spTgt spid="282627">
                                            <p:txEl>
                                              <p:pRg st="3" end="3"/>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28262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282627">
                                            <p:txEl>
                                              <p:pRg st="5" end="5"/>
                                            </p:txEl>
                                          </p:spTgt>
                                        </p:tgtEl>
                                        <p:attrNameLst>
                                          <p:attrName>style.visibility</p:attrName>
                                        </p:attrNameLst>
                                      </p:cBhvr>
                                      <p:to>
                                        <p:strVal val="visible"/>
                                      </p:to>
                                    </p:set>
                                    <p:anim calcmode="lin" valueType="num">
                                      <p:cBhvr additive="base">
                                        <p:cTn id="17" dur="500" fill="hold"/>
                                        <p:tgtEl>
                                          <p:spTgt spid="282627">
                                            <p:txEl>
                                              <p:pRg st="5" end="5"/>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282627">
                                            <p:txEl>
                                              <p:pRg st="5" end="5"/>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282627">
                                            <p:txEl>
                                              <p:pRg st="6" end="6"/>
                                            </p:txEl>
                                          </p:spTgt>
                                        </p:tgtEl>
                                        <p:attrNameLst>
                                          <p:attrName>style.visibility</p:attrName>
                                        </p:attrNameLst>
                                      </p:cBhvr>
                                      <p:to>
                                        <p:strVal val="visible"/>
                                      </p:to>
                                    </p:set>
                                    <p:anim calcmode="lin" valueType="num">
                                      <p:cBhvr additive="base">
                                        <p:cTn id="21" dur="500" fill="hold"/>
                                        <p:tgtEl>
                                          <p:spTgt spid="282627">
                                            <p:txEl>
                                              <p:pRg st="6" end="6"/>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28262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282627">
                                            <p:txEl>
                                              <p:pRg st="7" end="7"/>
                                            </p:txEl>
                                          </p:spTgt>
                                        </p:tgtEl>
                                        <p:attrNameLst>
                                          <p:attrName>style.visibility</p:attrName>
                                        </p:attrNameLst>
                                      </p:cBhvr>
                                      <p:to>
                                        <p:strVal val="visible"/>
                                      </p:to>
                                    </p:set>
                                    <p:anim calcmode="lin" valueType="num">
                                      <p:cBhvr additive="base">
                                        <p:cTn id="27" dur="500" fill="hold"/>
                                        <p:tgtEl>
                                          <p:spTgt spid="282627">
                                            <p:txEl>
                                              <p:pRg st="7" end="7"/>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282627">
                                            <p:txEl>
                                              <p:pRg st="7" end="7"/>
                                            </p:txEl>
                                          </p:spTgt>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282627">
                                            <p:txEl>
                                              <p:pRg st="8" end="8"/>
                                            </p:txEl>
                                          </p:spTgt>
                                        </p:tgtEl>
                                        <p:attrNameLst>
                                          <p:attrName>style.visibility</p:attrName>
                                        </p:attrNameLst>
                                      </p:cBhvr>
                                      <p:to>
                                        <p:strVal val="visible"/>
                                      </p:to>
                                    </p:set>
                                    <p:anim calcmode="lin" valueType="num">
                                      <p:cBhvr additive="base">
                                        <p:cTn id="31" dur="500" fill="hold"/>
                                        <p:tgtEl>
                                          <p:spTgt spid="282627">
                                            <p:txEl>
                                              <p:pRg st="8" end="8"/>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82627">
                                            <p:txEl>
                                              <p:pRg st="8" end="8"/>
                                            </p:txEl>
                                          </p:spTgt>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282627">
                                            <p:txEl>
                                              <p:pRg st="9" end="9"/>
                                            </p:txEl>
                                          </p:spTgt>
                                        </p:tgtEl>
                                        <p:attrNameLst>
                                          <p:attrName>style.visibility</p:attrName>
                                        </p:attrNameLst>
                                      </p:cBhvr>
                                      <p:to>
                                        <p:strVal val="visible"/>
                                      </p:to>
                                    </p:set>
                                    <p:anim calcmode="lin" valueType="num">
                                      <p:cBhvr additive="base">
                                        <p:cTn id="35" dur="500" fill="hold"/>
                                        <p:tgtEl>
                                          <p:spTgt spid="282627">
                                            <p:txEl>
                                              <p:pRg st="9" end="9"/>
                                            </p:txEl>
                                          </p:spTgt>
                                        </p:tgtEl>
                                        <p:attrNameLst>
                                          <p:attrName>ppt_x</p:attrName>
                                        </p:attrNameLst>
                                      </p:cBhvr>
                                      <p:tavLst>
                                        <p:tav tm="0">
                                          <p:val>
                                            <p:strVal val="0-#ppt_w/2"/>
                                          </p:val>
                                        </p:tav>
                                        <p:tav tm="100000">
                                          <p:val>
                                            <p:strVal val="#ppt_x"/>
                                          </p:val>
                                        </p:tav>
                                      </p:tavLst>
                                    </p:anim>
                                    <p:anim calcmode="lin" valueType="num">
                                      <p:cBhvr additive="base">
                                        <p:cTn id="36" dur="500" fill="hold"/>
                                        <p:tgtEl>
                                          <p:spTgt spid="282627">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2627" grpId="0" build="p"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zh-CN" altLang="en-US" dirty="0" smtClean="0"/>
              <a:t>统计指标体系</a:t>
            </a:r>
          </a:p>
        </p:txBody>
      </p:sp>
      <p:sp>
        <p:nvSpPr>
          <p:cNvPr id="54275" name="Rectangle 3"/>
          <p:cNvSpPr>
            <a:spLocks noGrp="1" noChangeArrowheads="1"/>
          </p:cNvSpPr>
          <p:nvPr>
            <p:ph idx="1"/>
          </p:nvPr>
        </p:nvSpPr>
        <p:spPr/>
        <p:txBody>
          <a:bodyPr/>
          <a:lstStyle/>
          <a:p>
            <a:pPr eaLnBrk="1" hangingPunct="1">
              <a:buFontTx/>
              <a:buNone/>
            </a:pPr>
            <a:r>
              <a:rPr lang="en-US" altLang="zh-CN" dirty="0" smtClean="0">
                <a:solidFill>
                  <a:srgbClr val="D60093"/>
                </a:solidFill>
                <a:latin typeface="Arial" charset="0"/>
              </a:rPr>
              <a:t>——</a:t>
            </a:r>
            <a:r>
              <a:rPr lang="zh-CN" altLang="en-US" smtClean="0">
                <a:solidFill>
                  <a:srgbClr val="D60093"/>
                </a:solidFill>
              </a:rPr>
              <a:t>若干个有联系的统计指标构成的有机整体。</a:t>
            </a:r>
          </a:p>
          <a:p>
            <a:pPr eaLnBrk="1" hangingPunct="1">
              <a:buFontTx/>
              <a:buNone/>
            </a:pPr>
            <a:r>
              <a:rPr lang="zh-CN" altLang="en-US" smtClean="0">
                <a:solidFill>
                  <a:srgbClr val="000000"/>
                </a:solidFill>
              </a:rPr>
              <a:t>统计指标体系分为两大类：</a:t>
            </a:r>
          </a:p>
          <a:p>
            <a:pPr lvl="1" eaLnBrk="1" hangingPunct="1"/>
            <a:r>
              <a:rPr lang="zh-CN" altLang="en-US" smtClean="0">
                <a:solidFill>
                  <a:srgbClr val="D60093"/>
                </a:solidFill>
              </a:rPr>
              <a:t>基本统计指标体系</a:t>
            </a:r>
            <a:r>
              <a:rPr lang="en-US" altLang="zh-CN" dirty="0" smtClean="0">
                <a:latin typeface="Arial" charset="0"/>
              </a:rPr>
              <a:t>——</a:t>
            </a:r>
            <a:r>
              <a:rPr lang="zh-CN" altLang="en-US" smtClean="0"/>
              <a:t>全面反映经济和社会发展基本情况；</a:t>
            </a:r>
          </a:p>
          <a:p>
            <a:pPr lvl="1" eaLnBrk="1" hangingPunct="1"/>
            <a:r>
              <a:rPr lang="zh-CN" altLang="en-US" smtClean="0">
                <a:solidFill>
                  <a:srgbClr val="D60093"/>
                </a:solidFill>
              </a:rPr>
              <a:t>专题统计指标体系</a:t>
            </a:r>
            <a:r>
              <a:rPr lang="en-US" altLang="zh-CN" dirty="0" smtClean="0">
                <a:latin typeface="Arial" charset="0"/>
              </a:rPr>
              <a:t>——</a:t>
            </a:r>
            <a:r>
              <a:rPr lang="zh-CN" altLang="en-US" smtClean="0"/>
              <a:t>反映某一经济或社会现象的情况</a:t>
            </a:r>
          </a:p>
          <a:p>
            <a:pPr lvl="2" eaLnBrk="1" hangingPunct="1"/>
            <a:r>
              <a:rPr lang="zh-CN" altLang="en-US" smtClean="0">
                <a:solidFill>
                  <a:srgbClr val="000000"/>
                </a:solidFill>
              </a:rPr>
              <a:t>如科技进步指标体系、环境监测指标体系、国民经济效益指标体系。</a:t>
            </a:r>
          </a:p>
        </p:txBody>
      </p:sp>
      <p:sp>
        <p:nvSpPr>
          <p:cNvPr id="4" name="灯片编号占位符 3"/>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52</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p:cNvSpPr>
          <p:nvPr>
            <p:ph type="title"/>
          </p:nvPr>
        </p:nvSpPr>
        <p:spPr>
          <a:xfrm>
            <a:off x="539552" y="692696"/>
            <a:ext cx="8129588" cy="990600"/>
          </a:xfrm>
        </p:spPr>
        <p:txBody>
          <a:bodyPr/>
          <a:lstStyle/>
          <a:p>
            <a:r>
              <a:rPr lang="zh-CN" altLang="en-US" dirty="0" smtClean="0">
                <a:solidFill>
                  <a:srgbClr val="0000FF"/>
                </a:solidFill>
              </a:rPr>
              <a:t>例：经济发展新动能</a:t>
            </a:r>
            <a:r>
              <a:rPr lang="zh-CN" altLang="en-US" dirty="0" smtClean="0">
                <a:solidFill>
                  <a:srgbClr val="0070C0"/>
                </a:solidFill>
              </a:rPr>
              <a:t>指标体系</a:t>
            </a:r>
            <a:endParaRPr lang="zh-CN" altLang="en-US" dirty="0" smtClean="0">
              <a:solidFill>
                <a:srgbClr val="0000FF"/>
              </a:solidFill>
            </a:endParaRPr>
          </a:p>
        </p:txBody>
      </p:sp>
      <p:sp>
        <p:nvSpPr>
          <p:cNvPr id="55299" name="内容占位符 2"/>
          <p:cNvSpPr>
            <a:spLocks noGrp="1"/>
          </p:cNvSpPr>
          <p:nvPr>
            <p:ph idx="1"/>
          </p:nvPr>
        </p:nvSpPr>
        <p:spPr>
          <a:xfrm>
            <a:off x="323528" y="1895475"/>
            <a:ext cx="8286808" cy="4413845"/>
          </a:xfrm>
        </p:spPr>
        <p:txBody>
          <a:bodyPr/>
          <a:lstStyle/>
          <a:p>
            <a:pPr>
              <a:lnSpc>
                <a:spcPct val="110000"/>
              </a:lnSpc>
              <a:spcBef>
                <a:spcPts val="1200"/>
              </a:spcBef>
            </a:pPr>
            <a:r>
              <a:rPr lang="zh-CN" altLang="en-US" b="0" dirty="0" smtClean="0"/>
              <a:t>经济发展新动能</a:t>
            </a:r>
            <a:r>
              <a:rPr lang="en-US" altLang="zh-CN" b="0" dirty="0" smtClean="0">
                <a:solidFill>
                  <a:schemeClr val="tx1"/>
                </a:solidFill>
              </a:rPr>
              <a:t>——</a:t>
            </a:r>
            <a:r>
              <a:rPr lang="zh-CN" altLang="en-US" b="0" dirty="0" smtClean="0">
                <a:solidFill>
                  <a:schemeClr val="tx1"/>
                </a:solidFill>
              </a:rPr>
              <a:t>以</a:t>
            </a:r>
            <a:r>
              <a:rPr lang="zh-CN" altLang="en-US" b="0" dirty="0" smtClean="0">
                <a:solidFill>
                  <a:srgbClr val="00B0F0"/>
                </a:solidFill>
              </a:rPr>
              <a:t>新产业、新业态、新商业模式（简称“三新”）</a:t>
            </a:r>
            <a:r>
              <a:rPr lang="zh-CN" altLang="en-US" b="0" dirty="0" smtClean="0">
                <a:solidFill>
                  <a:schemeClr val="tx1"/>
                </a:solidFill>
              </a:rPr>
              <a:t>为主要内容</a:t>
            </a:r>
            <a:endParaRPr lang="en-US" altLang="zh-CN" b="0" dirty="0" smtClean="0">
              <a:solidFill>
                <a:schemeClr val="tx1"/>
              </a:solidFill>
            </a:endParaRPr>
          </a:p>
          <a:p>
            <a:pPr>
              <a:lnSpc>
                <a:spcPct val="110000"/>
              </a:lnSpc>
              <a:spcBef>
                <a:spcPts val="1200"/>
              </a:spcBef>
            </a:pPr>
            <a:r>
              <a:rPr lang="zh-CN" altLang="en-US" sz="2800" b="0" dirty="0" smtClean="0">
                <a:solidFill>
                  <a:srgbClr val="000000"/>
                </a:solidFill>
              </a:rPr>
              <a:t>为动态监测我国经济发展新动能变动情况，国家统计局统计科学研究</a:t>
            </a:r>
            <a:r>
              <a:rPr lang="zh-CN" altLang="en-US" sz="2800" dirty="0" smtClean="0">
                <a:solidFill>
                  <a:srgbClr val="000000"/>
                </a:solidFill>
              </a:rPr>
              <a:t>所在</a:t>
            </a:r>
            <a:r>
              <a:rPr lang="en-US" altLang="zh-CN" sz="2800" dirty="0" smtClean="0">
                <a:solidFill>
                  <a:srgbClr val="000000"/>
                </a:solidFill>
              </a:rPr>
              <a:t>《</a:t>
            </a:r>
            <a:r>
              <a:rPr lang="zh-CN" altLang="en-US" sz="2800" dirty="0" smtClean="0">
                <a:solidFill>
                  <a:srgbClr val="000000"/>
                </a:solidFill>
              </a:rPr>
              <a:t>新产业新业态新商业模式统计监测制度</a:t>
            </a:r>
            <a:r>
              <a:rPr lang="en-US" altLang="zh-CN" sz="2800" dirty="0" smtClean="0">
                <a:solidFill>
                  <a:srgbClr val="000000"/>
                </a:solidFill>
              </a:rPr>
              <a:t>》</a:t>
            </a:r>
            <a:r>
              <a:rPr lang="zh-CN" altLang="en-US" sz="2800" dirty="0" smtClean="0">
                <a:solidFill>
                  <a:srgbClr val="000000"/>
                </a:solidFill>
              </a:rPr>
              <a:t>和经济发展新动能统计指标体系的基础上，</a:t>
            </a:r>
            <a:r>
              <a:rPr lang="zh-CN" altLang="en-US" sz="2800" b="0" dirty="0" smtClean="0">
                <a:solidFill>
                  <a:srgbClr val="000000"/>
                </a:solidFill>
              </a:rPr>
              <a:t>采用定基指数方法测算了</a:t>
            </a:r>
            <a:r>
              <a:rPr lang="en-US" altLang="zh-CN" sz="2800" b="0" dirty="0" smtClean="0">
                <a:solidFill>
                  <a:srgbClr val="000000"/>
                </a:solidFill>
              </a:rPr>
              <a:t>2020</a:t>
            </a:r>
            <a:r>
              <a:rPr lang="zh-CN" altLang="en-US" sz="2800" b="0" dirty="0" smtClean="0">
                <a:solidFill>
                  <a:srgbClr val="000000"/>
                </a:solidFill>
              </a:rPr>
              <a:t>年我国</a:t>
            </a:r>
            <a:r>
              <a:rPr lang="zh-CN" altLang="en-US" sz="2800" dirty="0" smtClean="0">
                <a:solidFill>
                  <a:srgbClr val="0070C0"/>
                </a:solidFill>
              </a:rPr>
              <a:t>经济发展新动能指数</a:t>
            </a:r>
            <a:r>
              <a:rPr lang="zh-CN" altLang="en-US" sz="2800" b="0" dirty="0" smtClean="0">
                <a:solidFill>
                  <a:srgbClr val="000000"/>
                </a:solidFill>
              </a:rPr>
              <a:t>，并修订了</a:t>
            </a:r>
            <a:r>
              <a:rPr lang="en-US" altLang="zh-CN" sz="2800" b="0" dirty="0" smtClean="0">
                <a:solidFill>
                  <a:srgbClr val="000000"/>
                </a:solidFill>
              </a:rPr>
              <a:t>2015-2019</a:t>
            </a:r>
            <a:r>
              <a:rPr lang="zh-CN" altLang="en-US" sz="2800" b="0" dirty="0" smtClean="0">
                <a:solidFill>
                  <a:srgbClr val="000000"/>
                </a:solidFill>
              </a:rPr>
              <a:t>年历史指数数据。</a:t>
            </a:r>
          </a:p>
        </p:txBody>
      </p:sp>
      <p:sp>
        <p:nvSpPr>
          <p:cNvPr id="55300" name="Rectangle 2"/>
          <p:cNvSpPr>
            <a:spLocks noChangeArrowheads="1"/>
          </p:cNvSpPr>
          <p:nvPr/>
        </p:nvSpPr>
        <p:spPr bwMode="auto">
          <a:xfrm>
            <a:off x="0" y="0"/>
            <a:ext cx="9144000" cy="457200"/>
          </a:xfrm>
          <a:prstGeom prst="rect">
            <a:avLst/>
          </a:prstGeom>
          <a:noFill/>
          <a:ln w="9525" algn="ctr">
            <a:noFill/>
            <a:miter lim="800000"/>
            <a:headEnd/>
            <a:tailEnd/>
          </a:ln>
        </p:spPr>
        <p:txBody>
          <a:bodyPr wrap="none" anchor="ctr">
            <a:spAutoFit/>
          </a:bodyPr>
          <a:lstStyle/>
          <a:p>
            <a:pPr eaLnBrk="0" hangingPunct="0"/>
            <a:r>
              <a:rPr lang="en-US" altLang="zh-CN" sz="1200" dirty="0"/>
              <a:t> </a:t>
            </a:r>
            <a:endParaRPr lang="en-US" altLang="zh-CN" dirty="0"/>
          </a:p>
        </p:txBody>
      </p:sp>
      <p:sp>
        <p:nvSpPr>
          <p:cNvPr id="5" name="灯片编号占位符 4"/>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53</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28600"/>
            <a:ext cx="7772400" cy="608112"/>
          </a:xfrm>
        </p:spPr>
        <p:txBody>
          <a:bodyPr/>
          <a:lstStyle/>
          <a:p>
            <a:r>
              <a:rPr lang="zh-CN" altLang="en-US" sz="3200" dirty="0" smtClean="0"/>
              <a:t>经济发展新动能指数统计指标体系</a:t>
            </a:r>
            <a:endParaRPr lang="zh-CN" altLang="en-US" sz="3200" dirty="0"/>
          </a:p>
        </p:txBody>
      </p:sp>
      <p:pic>
        <p:nvPicPr>
          <p:cNvPr id="4" name="Picture 1"/>
          <p:cNvPicPr>
            <a:picLocks noGrp="1" noChangeAspect="1" noChangeArrowheads="1"/>
          </p:cNvPicPr>
          <p:nvPr>
            <p:ph idx="1"/>
          </p:nvPr>
        </p:nvPicPr>
        <p:blipFill>
          <a:blip r:embed="rId2" cstate="print"/>
          <a:srcRect/>
          <a:stretch>
            <a:fillRect/>
          </a:stretch>
        </p:blipFill>
        <p:spPr bwMode="auto">
          <a:xfrm>
            <a:off x="971600" y="764704"/>
            <a:ext cx="7416824" cy="5929807"/>
          </a:xfrm>
          <a:prstGeom prst="rect">
            <a:avLst/>
          </a:prstGeom>
          <a:noFill/>
          <a:ln w="9525">
            <a:noFill/>
            <a:miter lim="800000"/>
            <a:headEnd/>
            <a:tailEnd/>
          </a:ln>
        </p:spPr>
      </p:pic>
      <p:sp>
        <p:nvSpPr>
          <p:cNvPr id="5" name="灯片编号占位符 4"/>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54</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331640" y="2204864"/>
            <a:ext cx="6984776" cy="3847782"/>
          </a:xfrm>
          <a:prstGeom prst="rect">
            <a:avLst/>
          </a:prstGeom>
        </p:spPr>
      </p:pic>
      <p:sp>
        <p:nvSpPr>
          <p:cNvPr id="56323" name="Rectangle 2"/>
          <p:cNvSpPr>
            <a:spLocks noChangeArrowheads="1"/>
          </p:cNvSpPr>
          <p:nvPr/>
        </p:nvSpPr>
        <p:spPr bwMode="auto">
          <a:xfrm>
            <a:off x="0" y="0"/>
            <a:ext cx="9144000" cy="457200"/>
          </a:xfrm>
          <a:prstGeom prst="rect">
            <a:avLst/>
          </a:prstGeom>
          <a:noFill/>
          <a:ln w="9525" algn="ctr">
            <a:noFill/>
            <a:miter lim="800000"/>
            <a:headEnd/>
            <a:tailEnd/>
          </a:ln>
        </p:spPr>
        <p:txBody>
          <a:bodyPr wrap="none" anchor="ctr">
            <a:spAutoFit/>
          </a:bodyPr>
          <a:lstStyle/>
          <a:p>
            <a:pPr eaLnBrk="0" hangingPunct="0"/>
            <a:r>
              <a:rPr lang="en-US" altLang="zh-CN" sz="1200" dirty="0"/>
              <a:t> </a:t>
            </a:r>
            <a:endParaRPr lang="en-US" altLang="zh-CN" dirty="0"/>
          </a:p>
        </p:txBody>
      </p:sp>
      <p:sp>
        <p:nvSpPr>
          <p:cNvPr id="9" name="矩形 8"/>
          <p:cNvSpPr/>
          <p:nvPr/>
        </p:nvSpPr>
        <p:spPr>
          <a:xfrm>
            <a:off x="1259632" y="6052646"/>
            <a:ext cx="5184576" cy="369332"/>
          </a:xfrm>
          <a:prstGeom prst="rect">
            <a:avLst/>
          </a:prstGeom>
        </p:spPr>
        <p:txBody>
          <a:bodyPr wrap="square">
            <a:spAutoFit/>
          </a:bodyPr>
          <a:lstStyle/>
          <a:p>
            <a:pPr>
              <a:buClr>
                <a:srgbClr val="0070C0"/>
              </a:buClr>
            </a:pPr>
            <a:r>
              <a:rPr lang="zh-CN" altLang="en-US" sz="2000" dirty="0" smtClean="0"/>
              <a:t>来源</a:t>
            </a:r>
            <a:r>
              <a:rPr lang="zh-CN" altLang="en-US" sz="2000" dirty="0"/>
              <a:t>：（国家统计局</a:t>
            </a:r>
            <a:r>
              <a:rPr lang="en-US" altLang="zh-CN" sz="2000" dirty="0" smtClean="0"/>
              <a:t>2023.08.22</a:t>
            </a:r>
            <a:r>
              <a:rPr lang="zh-CN" altLang="en-US" sz="2000" dirty="0" smtClean="0"/>
              <a:t>）</a:t>
            </a:r>
            <a:endParaRPr lang="zh-CN" altLang="en-US" sz="2000" dirty="0"/>
          </a:p>
        </p:txBody>
      </p:sp>
      <p:sp>
        <p:nvSpPr>
          <p:cNvPr id="6" name="灯片编号占位符 5"/>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55</a:t>
            </a:fld>
            <a:endParaRPr lang="en-US" altLang="zh-CN" dirty="0">
              <a:solidFill>
                <a:srgbClr val="545472"/>
              </a:solidFill>
            </a:endParaRPr>
          </a:p>
        </p:txBody>
      </p:sp>
      <p:sp>
        <p:nvSpPr>
          <p:cNvPr id="5" name="矩形 4"/>
          <p:cNvSpPr/>
          <p:nvPr/>
        </p:nvSpPr>
        <p:spPr>
          <a:xfrm>
            <a:off x="539552" y="928997"/>
            <a:ext cx="8064896" cy="1200329"/>
          </a:xfrm>
          <a:prstGeom prst="rect">
            <a:avLst/>
          </a:prstGeom>
        </p:spPr>
        <p:txBody>
          <a:bodyPr wrap="square">
            <a:spAutoFit/>
          </a:bodyPr>
          <a:lstStyle/>
          <a:p>
            <a:pPr>
              <a:lnSpc>
                <a:spcPct val="100000"/>
              </a:lnSpc>
              <a:buClr>
                <a:srgbClr val="FFC000"/>
              </a:buClr>
            </a:pPr>
            <a:r>
              <a:rPr lang="en-US" altLang="zh-CN" sz="2400" b="0" dirty="0">
                <a:latin typeface="黑体" panose="02010609060101010101" pitchFamily="49" charset="-122"/>
                <a:ea typeface="黑体" panose="02010609060101010101" pitchFamily="49" charset="-122"/>
              </a:rPr>
              <a:t>2022</a:t>
            </a:r>
            <a:r>
              <a:rPr lang="zh-CN" altLang="en-US" sz="2400" b="0" dirty="0">
                <a:latin typeface="黑体" panose="02010609060101010101" pitchFamily="49" charset="-122"/>
                <a:ea typeface="黑体" panose="02010609060101010101" pitchFamily="49" charset="-122"/>
              </a:rPr>
              <a:t>年我国经济发展新动能指数（以</a:t>
            </a:r>
            <a:r>
              <a:rPr lang="en-US" altLang="zh-CN" sz="2400" b="0" dirty="0">
                <a:latin typeface="黑体" panose="02010609060101010101" pitchFamily="49" charset="-122"/>
                <a:ea typeface="黑体" panose="02010609060101010101" pitchFamily="49" charset="-122"/>
              </a:rPr>
              <a:t>2014</a:t>
            </a:r>
            <a:r>
              <a:rPr lang="zh-CN" altLang="en-US" sz="2400" b="0" dirty="0">
                <a:latin typeface="黑体" panose="02010609060101010101" pitchFamily="49" charset="-122"/>
                <a:ea typeface="黑体" panose="02010609060101010101" pitchFamily="49" charset="-122"/>
              </a:rPr>
              <a:t>年为</a:t>
            </a:r>
            <a:r>
              <a:rPr lang="en-US" altLang="zh-CN" sz="2400" b="0" dirty="0">
                <a:latin typeface="黑体" panose="02010609060101010101" pitchFamily="49" charset="-122"/>
                <a:ea typeface="黑体" panose="02010609060101010101" pitchFamily="49" charset="-122"/>
              </a:rPr>
              <a:t>100</a:t>
            </a:r>
            <a:r>
              <a:rPr lang="zh-CN" altLang="en-US" sz="2400" b="0" dirty="0">
                <a:latin typeface="黑体" panose="02010609060101010101" pitchFamily="49" charset="-122"/>
                <a:ea typeface="黑体" panose="02010609060101010101" pitchFamily="49" charset="-122"/>
              </a:rPr>
              <a:t>）为</a:t>
            </a:r>
            <a:r>
              <a:rPr lang="en-US" altLang="zh-CN" sz="2400" b="0" dirty="0">
                <a:latin typeface="黑体" panose="02010609060101010101" pitchFamily="49" charset="-122"/>
                <a:ea typeface="黑体" panose="02010609060101010101" pitchFamily="49" charset="-122"/>
              </a:rPr>
              <a:t>766.8</a:t>
            </a:r>
            <a:r>
              <a:rPr lang="zh-CN" altLang="en-US" sz="2400" b="0" dirty="0">
                <a:latin typeface="黑体" panose="02010609060101010101" pitchFamily="49" charset="-122"/>
                <a:ea typeface="黑体" panose="02010609060101010101" pitchFamily="49" charset="-122"/>
              </a:rPr>
              <a:t>，比上年增长</a:t>
            </a:r>
            <a:r>
              <a:rPr lang="en-US" altLang="zh-CN" sz="2400" b="0" dirty="0">
                <a:latin typeface="黑体" panose="02010609060101010101" pitchFamily="49" charset="-122"/>
                <a:ea typeface="黑体" panose="02010609060101010101" pitchFamily="49" charset="-122"/>
              </a:rPr>
              <a:t>28.4%</a:t>
            </a:r>
            <a:r>
              <a:rPr lang="zh-CN" altLang="en-US" sz="2400" b="0" dirty="0" smtClean="0"/>
              <a:t>。</a:t>
            </a:r>
            <a:r>
              <a:rPr lang="zh-CN" altLang="en-US" sz="2400" b="0" dirty="0"/>
              <a:t>其中</a:t>
            </a:r>
            <a:r>
              <a:rPr lang="zh-CN" altLang="en-US" sz="2400" b="0" dirty="0" smtClean="0"/>
              <a:t>，</a:t>
            </a:r>
            <a:r>
              <a:rPr lang="zh-CN" altLang="en-US" sz="2400" b="0" dirty="0">
                <a:solidFill>
                  <a:srgbClr val="FFC000"/>
                </a:solidFill>
                <a:latin typeface="黑体" panose="02010609060101010101" pitchFamily="49" charset="-122"/>
                <a:ea typeface="黑体" panose="02010609060101010101" pitchFamily="49" charset="-122"/>
              </a:rPr>
              <a:t>网络经济指数为</a:t>
            </a:r>
            <a:r>
              <a:rPr lang="en-US" altLang="zh-CN" sz="2400" b="0" dirty="0" smtClean="0">
                <a:solidFill>
                  <a:srgbClr val="FFC000"/>
                </a:solidFill>
                <a:latin typeface="黑体" panose="02010609060101010101" pitchFamily="49" charset="-122"/>
                <a:ea typeface="黑体" panose="02010609060101010101" pitchFamily="49" charset="-122"/>
              </a:rPr>
              <a:t>2739.0</a:t>
            </a:r>
            <a:r>
              <a:rPr lang="zh-CN" altLang="en-US" sz="2400" b="0" dirty="0" smtClean="0"/>
              <a:t>，</a:t>
            </a:r>
            <a:r>
              <a:rPr lang="zh-CN" altLang="en-US" sz="2400" b="0" dirty="0"/>
              <a:t>比上年增长</a:t>
            </a:r>
            <a:r>
              <a:rPr lang="en-US" altLang="zh-CN" sz="2400" b="0" dirty="0"/>
              <a:t>39.6%</a:t>
            </a:r>
            <a:r>
              <a:rPr lang="zh-CN" altLang="en-US" sz="2400" b="0" dirty="0"/>
              <a:t>，对总指数增长的贡献率为</a:t>
            </a:r>
            <a:r>
              <a:rPr lang="en-US" altLang="zh-CN" sz="2400" b="0" dirty="0"/>
              <a:t>91.6%</a:t>
            </a:r>
            <a:r>
              <a:rPr lang="zh-CN" altLang="en-US" sz="2400" b="0" dirty="0" smtClean="0"/>
              <a:t>。</a:t>
            </a:r>
            <a:endParaRPr lang="zh-CN" altLang="en-US" sz="2400" dirty="0"/>
          </a:p>
        </p:txBody>
      </p:sp>
      <p:sp>
        <p:nvSpPr>
          <p:cNvPr id="7" name="矩形 6"/>
          <p:cNvSpPr/>
          <p:nvPr/>
        </p:nvSpPr>
        <p:spPr>
          <a:xfrm>
            <a:off x="1979712" y="266798"/>
            <a:ext cx="5472608" cy="535531"/>
          </a:xfrm>
          <a:prstGeom prst="rect">
            <a:avLst/>
          </a:prstGeom>
        </p:spPr>
        <p:txBody>
          <a:bodyPr wrap="square">
            <a:spAutoFit/>
          </a:bodyPr>
          <a:lstStyle/>
          <a:p>
            <a:pPr algn="ctr"/>
            <a:r>
              <a:rPr lang="zh-CN" altLang="en-US" dirty="0" smtClean="0">
                <a:solidFill>
                  <a:srgbClr val="0070C0"/>
                </a:solidFill>
              </a:rPr>
              <a:t>我国</a:t>
            </a:r>
            <a:r>
              <a:rPr lang="zh-CN" altLang="en-US" sz="3200" dirty="0">
                <a:solidFill>
                  <a:srgbClr val="0000FF"/>
                </a:solidFill>
                <a:latin typeface="黑体" panose="02010609060101010101" pitchFamily="49" charset="-122"/>
                <a:ea typeface="黑体" panose="02010609060101010101" pitchFamily="49" charset="-122"/>
              </a:rPr>
              <a:t>经济发展新动能</a:t>
            </a:r>
            <a:r>
              <a:rPr lang="zh-CN" altLang="en-US" sz="3200" dirty="0" smtClean="0">
                <a:solidFill>
                  <a:srgbClr val="0000FF"/>
                </a:solidFill>
                <a:latin typeface="黑体" panose="02010609060101010101" pitchFamily="49" charset="-122"/>
                <a:ea typeface="黑体" panose="02010609060101010101" pitchFamily="49" charset="-122"/>
              </a:rPr>
              <a:t>指数</a:t>
            </a:r>
            <a:endParaRPr lang="zh-CN" altLang="en-US" sz="3200" dirty="0">
              <a:solidFill>
                <a:srgbClr val="0000FF"/>
              </a:solidFill>
            </a:endParaRPr>
          </a:p>
        </p:txBody>
      </p:sp>
    </p:spTree>
  </p:cSld>
  <p:clrMapOvr>
    <a:masterClrMapping/>
  </p:clrMapOvr>
  <p:transition>
    <p:wipe dir="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8364" y="148862"/>
            <a:ext cx="7772400" cy="771508"/>
          </a:xfrm>
        </p:spPr>
        <p:txBody>
          <a:bodyPr/>
          <a:lstStyle/>
          <a:p>
            <a:r>
              <a:rPr lang="zh-CN" altLang="en-US" sz="4000" b="0" dirty="0" smtClean="0">
                <a:latin typeface="黑体" panose="02010609060101010101" pitchFamily="49" charset="-122"/>
                <a:ea typeface="黑体" panose="02010609060101010101" pitchFamily="49" charset="-122"/>
              </a:rPr>
              <a:t>中国创新指数</a:t>
            </a:r>
            <a:endParaRPr lang="zh-CN" altLang="en-US" sz="4000" dirty="0">
              <a:latin typeface="黑体" panose="02010609060101010101" pitchFamily="49" charset="-122"/>
              <a:ea typeface="黑体" panose="02010609060101010101" pitchFamily="49" charset="-122"/>
            </a:endParaRPr>
          </a:p>
        </p:txBody>
      </p:sp>
      <p:sp>
        <p:nvSpPr>
          <p:cNvPr id="3" name="内容占位符 2"/>
          <p:cNvSpPr>
            <a:spLocks noGrp="1"/>
          </p:cNvSpPr>
          <p:nvPr>
            <p:ph idx="1"/>
          </p:nvPr>
        </p:nvSpPr>
        <p:spPr>
          <a:xfrm>
            <a:off x="971600" y="908720"/>
            <a:ext cx="7672366" cy="4672912"/>
          </a:xfrm>
        </p:spPr>
        <p:txBody>
          <a:bodyPr/>
          <a:lstStyle/>
          <a:p>
            <a:pPr marL="0" indent="0">
              <a:spcBef>
                <a:spcPts val="0"/>
              </a:spcBef>
              <a:buNone/>
            </a:pPr>
            <a:r>
              <a:rPr lang="zh-CN" altLang="en-US" sz="2600" dirty="0" smtClean="0">
                <a:solidFill>
                  <a:srgbClr val="000000"/>
                </a:solidFill>
              </a:rPr>
              <a:t>国家统计局</a:t>
            </a:r>
            <a:r>
              <a:rPr lang="zh-CN" altLang="en-US" sz="2600" dirty="0">
                <a:solidFill>
                  <a:srgbClr val="000000"/>
                </a:solidFill>
              </a:rPr>
              <a:t>社科文</a:t>
            </a:r>
            <a:r>
              <a:rPr lang="zh-CN" altLang="en-US" sz="2600" dirty="0" smtClean="0">
                <a:solidFill>
                  <a:srgbClr val="000000"/>
                </a:solidFill>
              </a:rPr>
              <a:t>司测算，</a:t>
            </a:r>
            <a:r>
              <a:rPr lang="zh-CN" altLang="en-US" sz="2600" b="0" dirty="0">
                <a:solidFill>
                  <a:srgbClr val="000000"/>
                </a:solidFill>
              </a:rPr>
              <a:t>以</a:t>
            </a:r>
            <a:r>
              <a:rPr lang="en-US" altLang="zh-CN" sz="2600" b="0" dirty="0">
                <a:solidFill>
                  <a:srgbClr val="000000"/>
                </a:solidFill>
              </a:rPr>
              <a:t>2015</a:t>
            </a:r>
            <a:r>
              <a:rPr lang="zh-CN" altLang="en-US" sz="2600" b="0" dirty="0">
                <a:solidFill>
                  <a:srgbClr val="000000"/>
                </a:solidFill>
              </a:rPr>
              <a:t>年为基期，</a:t>
            </a:r>
            <a:r>
              <a:rPr lang="en-US" altLang="zh-CN" sz="2600" b="0" dirty="0">
                <a:solidFill>
                  <a:srgbClr val="000000"/>
                </a:solidFill>
              </a:rPr>
              <a:t>2022</a:t>
            </a:r>
            <a:r>
              <a:rPr lang="zh-CN" altLang="en-US" sz="2600" b="0" dirty="0">
                <a:solidFill>
                  <a:srgbClr val="000000"/>
                </a:solidFill>
              </a:rPr>
              <a:t>年中国创新指数为</a:t>
            </a:r>
            <a:r>
              <a:rPr lang="en-US" altLang="zh-CN" sz="2600" b="0" dirty="0">
                <a:solidFill>
                  <a:srgbClr val="000000"/>
                </a:solidFill>
              </a:rPr>
              <a:t>155.7</a:t>
            </a:r>
            <a:r>
              <a:rPr lang="zh-CN" altLang="en-US" sz="2600" b="0" dirty="0">
                <a:solidFill>
                  <a:srgbClr val="000000"/>
                </a:solidFill>
              </a:rPr>
              <a:t>，</a:t>
            </a:r>
            <a:r>
              <a:rPr lang="en-US" altLang="zh-CN" sz="2600" b="0" dirty="0">
                <a:solidFill>
                  <a:srgbClr val="000000"/>
                </a:solidFill>
              </a:rPr>
              <a:t>4</a:t>
            </a:r>
            <a:r>
              <a:rPr lang="zh-CN" altLang="en-US" sz="2600" b="0" dirty="0">
                <a:solidFill>
                  <a:srgbClr val="000000"/>
                </a:solidFill>
              </a:rPr>
              <a:t>个分领域指数创新环境指数、创新投入指数、创新产出指数和创新成效指数分别为</a:t>
            </a:r>
            <a:r>
              <a:rPr lang="en-US" altLang="zh-CN" sz="2600" b="0" dirty="0">
                <a:solidFill>
                  <a:srgbClr val="000000"/>
                </a:solidFill>
              </a:rPr>
              <a:t>160.4</a:t>
            </a:r>
            <a:r>
              <a:rPr lang="zh-CN" altLang="en-US" sz="2600" b="0" dirty="0">
                <a:solidFill>
                  <a:srgbClr val="000000"/>
                </a:solidFill>
              </a:rPr>
              <a:t>、</a:t>
            </a:r>
            <a:r>
              <a:rPr lang="en-US" altLang="zh-CN" sz="2600" b="0" dirty="0">
                <a:solidFill>
                  <a:srgbClr val="000000"/>
                </a:solidFill>
              </a:rPr>
              <a:t>146.7</a:t>
            </a:r>
            <a:r>
              <a:rPr lang="zh-CN" altLang="en-US" sz="2600" b="0" dirty="0">
                <a:solidFill>
                  <a:srgbClr val="000000"/>
                </a:solidFill>
              </a:rPr>
              <a:t>、</a:t>
            </a:r>
            <a:r>
              <a:rPr lang="en-US" altLang="zh-CN" sz="2600" b="0" dirty="0">
                <a:solidFill>
                  <a:srgbClr val="000000"/>
                </a:solidFill>
              </a:rPr>
              <a:t>187.5</a:t>
            </a:r>
            <a:r>
              <a:rPr lang="zh-CN" altLang="en-US" sz="2600" b="0" dirty="0">
                <a:solidFill>
                  <a:srgbClr val="000000"/>
                </a:solidFill>
              </a:rPr>
              <a:t>和</a:t>
            </a:r>
            <a:r>
              <a:rPr lang="en-US" altLang="zh-CN" sz="2600" b="0" dirty="0">
                <a:solidFill>
                  <a:srgbClr val="000000"/>
                </a:solidFill>
              </a:rPr>
              <a:t>128.2</a:t>
            </a:r>
            <a:r>
              <a:rPr lang="zh-CN" altLang="en-US" sz="2600" b="0" dirty="0">
                <a:solidFill>
                  <a:srgbClr val="000000"/>
                </a:solidFill>
              </a:rPr>
              <a:t>。与</a:t>
            </a:r>
            <a:r>
              <a:rPr lang="en-US" altLang="zh-CN" sz="2600" b="0" dirty="0">
                <a:solidFill>
                  <a:srgbClr val="000000"/>
                </a:solidFill>
              </a:rPr>
              <a:t>2015</a:t>
            </a:r>
            <a:r>
              <a:rPr lang="zh-CN" altLang="en-US" sz="2600" b="0" dirty="0">
                <a:solidFill>
                  <a:srgbClr val="000000"/>
                </a:solidFill>
              </a:rPr>
              <a:t>年相比，中国创新指数年均增长</a:t>
            </a:r>
            <a:r>
              <a:rPr lang="en-US" altLang="zh-CN" sz="2600" b="0" dirty="0">
                <a:solidFill>
                  <a:srgbClr val="000000"/>
                </a:solidFill>
              </a:rPr>
              <a:t>6.5</a:t>
            </a:r>
            <a:r>
              <a:rPr lang="en-US" altLang="zh-CN" sz="2600" b="0" dirty="0" smtClean="0">
                <a:solidFill>
                  <a:srgbClr val="000000"/>
                </a:solidFill>
              </a:rPr>
              <a:t>%</a:t>
            </a:r>
            <a:r>
              <a:rPr lang="zh-CN" altLang="en-US" sz="2600" b="0" dirty="0" smtClean="0">
                <a:solidFill>
                  <a:srgbClr val="000000"/>
                </a:solidFill>
              </a:rPr>
              <a:t>。</a:t>
            </a:r>
            <a:endParaRPr lang="zh-CN" altLang="en-US" sz="2600" dirty="0">
              <a:solidFill>
                <a:srgbClr val="000000"/>
              </a:solidFill>
            </a:endParaRPr>
          </a:p>
        </p:txBody>
      </p:sp>
      <p:sp>
        <p:nvSpPr>
          <p:cNvPr id="5" name="灯片编号占位符 4"/>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56</a:t>
            </a:fld>
            <a:endParaRPr lang="en-US" altLang="zh-CN" dirty="0">
              <a:solidFill>
                <a:srgbClr val="545472"/>
              </a:solidFill>
            </a:endParaRPr>
          </a:p>
        </p:txBody>
      </p:sp>
      <p:sp>
        <p:nvSpPr>
          <p:cNvPr id="8" name="矩形 7"/>
          <p:cNvSpPr/>
          <p:nvPr/>
        </p:nvSpPr>
        <p:spPr>
          <a:xfrm>
            <a:off x="5903640" y="6296220"/>
            <a:ext cx="3240360" cy="341632"/>
          </a:xfrm>
          <a:prstGeom prst="rect">
            <a:avLst/>
          </a:prstGeom>
          <a:solidFill>
            <a:schemeClr val="accent2"/>
          </a:solidFill>
        </p:spPr>
        <p:txBody>
          <a:bodyPr wrap="square">
            <a:spAutoFit/>
          </a:bodyPr>
          <a:lstStyle/>
          <a:p>
            <a:pPr>
              <a:buClr>
                <a:srgbClr val="0070C0"/>
              </a:buClr>
            </a:pPr>
            <a:r>
              <a:rPr lang="zh-CN" altLang="en-US" sz="1800" b="0" dirty="0"/>
              <a:t>来源</a:t>
            </a:r>
            <a:r>
              <a:rPr lang="zh-CN" altLang="en-US" sz="1800" b="0" dirty="0" smtClean="0"/>
              <a:t>：国家统计局</a:t>
            </a:r>
            <a:r>
              <a:rPr lang="en-US" altLang="zh-CN" sz="1800" b="0" dirty="0" smtClean="0"/>
              <a:t>2023.10.20</a:t>
            </a:r>
            <a:endParaRPr lang="zh-CN" altLang="en-US" sz="1800" b="0" dirty="0"/>
          </a:p>
        </p:txBody>
      </p:sp>
      <p:pic>
        <p:nvPicPr>
          <p:cNvPr id="4" name="图片 3"/>
          <p:cNvPicPr>
            <a:picLocks noChangeAspect="1"/>
          </p:cNvPicPr>
          <p:nvPr/>
        </p:nvPicPr>
        <p:blipFill>
          <a:blip r:embed="rId3"/>
          <a:stretch>
            <a:fillRect/>
          </a:stretch>
        </p:blipFill>
        <p:spPr>
          <a:xfrm>
            <a:off x="876470" y="3140968"/>
            <a:ext cx="7024294" cy="3433102"/>
          </a:xfrm>
          <a:prstGeom prst="rect">
            <a:avLst/>
          </a:prstGeom>
        </p:spPr>
      </p:pic>
      <p:sp>
        <p:nvSpPr>
          <p:cNvPr id="6" name="矩形 5"/>
          <p:cNvSpPr/>
          <p:nvPr/>
        </p:nvSpPr>
        <p:spPr>
          <a:xfrm>
            <a:off x="1138518" y="3032810"/>
            <a:ext cx="7262192" cy="369332"/>
          </a:xfrm>
          <a:prstGeom prst="rect">
            <a:avLst/>
          </a:prstGeom>
        </p:spPr>
        <p:txBody>
          <a:bodyPr wrap="square">
            <a:spAutoFit/>
          </a:bodyPr>
          <a:lstStyle/>
          <a:p>
            <a:pPr algn="ctr">
              <a:buNone/>
            </a:pPr>
            <a:r>
              <a:rPr lang="en-US" altLang="zh-CN" sz="2000" dirty="0">
                <a:solidFill>
                  <a:srgbClr val="000000"/>
                </a:solidFill>
                <a:latin typeface="黑体" panose="02010609060101010101" pitchFamily="49" charset="-122"/>
                <a:ea typeface="黑体" panose="02010609060101010101" pitchFamily="49" charset="-122"/>
              </a:rPr>
              <a:t>2015—2022</a:t>
            </a:r>
            <a:r>
              <a:rPr lang="zh-CN" altLang="en-US" sz="2000" dirty="0">
                <a:solidFill>
                  <a:srgbClr val="000000"/>
                </a:solidFill>
                <a:latin typeface="黑体" panose="02010609060101010101" pitchFamily="49" charset="-122"/>
                <a:ea typeface="黑体" panose="02010609060101010101" pitchFamily="49" charset="-122"/>
              </a:rPr>
              <a:t>年中国创新指数及分领域</a:t>
            </a:r>
            <a:r>
              <a:rPr lang="zh-CN" altLang="en-US" sz="2000" dirty="0" smtClean="0">
                <a:solidFill>
                  <a:srgbClr val="000000"/>
                </a:solidFill>
                <a:latin typeface="黑体" panose="02010609060101010101" pitchFamily="49" charset="-122"/>
                <a:ea typeface="黑体" panose="02010609060101010101" pitchFamily="49" charset="-122"/>
              </a:rPr>
              <a:t>指数</a:t>
            </a:r>
            <a:r>
              <a:rPr lang="zh-CN" altLang="en-US" sz="1800" b="0" dirty="0" smtClean="0">
                <a:solidFill>
                  <a:srgbClr val="000000"/>
                </a:solidFill>
                <a:latin typeface="黑体" panose="02010609060101010101" pitchFamily="49" charset="-122"/>
                <a:ea typeface="黑体" panose="02010609060101010101" pitchFamily="49" charset="-122"/>
              </a:rPr>
              <a:t>（</a:t>
            </a:r>
            <a:r>
              <a:rPr lang="en-US" altLang="zh-CN" sz="1800" b="0" dirty="0">
                <a:solidFill>
                  <a:srgbClr val="000000"/>
                </a:solidFill>
                <a:latin typeface="黑体" panose="02010609060101010101" pitchFamily="49" charset="-122"/>
                <a:ea typeface="黑体" panose="02010609060101010101" pitchFamily="49" charset="-122"/>
              </a:rPr>
              <a:t>2015</a:t>
            </a:r>
            <a:r>
              <a:rPr lang="zh-CN" altLang="en-US" sz="1800" b="0" dirty="0">
                <a:solidFill>
                  <a:srgbClr val="000000"/>
                </a:solidFill>
                <a:latin typeface="黑体" panose="02010609060101010101" pitchFamily="49" charset="-122"/>
                <a:ea typeface="黑体" panose="02010609060101010101" pitchFamily="49" charset="-122"/>
              </a:rPr>
              <a:t>年</a:t>
            </a:r>
            <a:r>
              <a:rPr lang="en-US" altLang="zh-CN" sz="1800" b="0" dirty="0">
                <a:solidFill>
                  <a:srgbClr val="000000"/>
                </a:solidFill>
                <a:latin typeface="黑体" panose="02010609060101010101" pitchFamily="49" charset="-122"/>
                <a:ea typeface="黑体" panose="02010609060101010101" pitchFamily="49" charset="-122"/>
              </a:rPr>
              <a:t>=100</a:t>
            </a:r>
            <a:r>
              <a:rPr lang="zh-CN" altLang="en-US" sz="1800" b="0" dirty="0">
                <a:solidFill>
                  <a:srgbClr val="000000"/>
                </a:solidFill>
                <a:latin typeface="黑体" panose="02010609060101010101" pitchFamily="49" charset="-122"/>
                <a:ea typeface="黑体" panose="02010609060101010101" pitchFamily="49" charset="-122"/>
              </a:rPr>
              <a:t>）</a:t>
            </a:r>
            <a:endParaRPr lang="zh-CN" altLang="en-US" sz="1800" b="0" i="0" dirty="0">
              <a:solidFill>
                <a:srgbClr val="000000"/>
              </a:solidFill>
              <a:effectLst/>
              <a:latin typeface="黑体" panose="02010609060101010101" pitchFamily="49" charset="-122"/>
              <a:ea typeface="黑体" panose="02010609060101010101" pitchFamily="49" charset="-122"/>
            </a:endParaRPr>
          </a:p>
        </p:txBody>
      </p:sp>
    </p:spTree>
  </p:cSld>
  <p:clrMapOvr>
    <a:masterClrMapping/>
  </p:clrMapOvr>
  <p:transition>
    <p:wipe dir="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57</a:t>
            </a:fld>
            <a:endParaRPr lang="en-US" altLang="zh-CN" dirty="0">
              <a:solidFill>
                <a:srgbClr val="545472"/>
              </a:solidFill>
            </a:endParaRPr>
          </a:p>
        </p:txBody>
      </p:sp>
      <p:pic>
        <p:nvPicPr>
          <p:cNvPr id="5" name="图片 4"/>
          <p:cNvPicPr>
            <a:picLocks noChangeAspect="1"/>
          </p:cNvPicPr>
          <p:nvPr/>
        </p:nvPicPr>
        <p:blipFill>
          <a:blip r:embed="rId2"/>
          <a:stretch>
            <a:fillRect/>
          </a:stretch>
        </p:blipFill>
        <p:spPr>
          <a:xfrm>
            <a:off x="761999" y="228600"/>
            <a:ext cx="7770441" cy="6296744"/>
          </a:xfrm>
          <a:prstGeom prst="rect">
            <a:avLst/>
          </a:prstGeom>
        </p:spPr>
      </p:pic>
    </p:spTree>
    <p:extLst>
      <p:ext uri="{BB962C8B-B14F-4D97-AF65-F5344CB8AC3E}">
        <p14:creationId xmlns:p14="http://schemas.microsoft.com/office/powerpoint/2010/main" val="3767382455"/>
      </p:ext>
    </p:extLst>
  </p:cSld>
  <p:clrMapOvr>
    <a:masterClrMapping/>
  </p:clrMapOvr>
  <p:transition>
    <p:wipe dir="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857250" y="214313"/>
            <a:ext cx="7772400" cy="990600"/>
          </a:xfrm>
        </p:spPr>
        <p:txBody>
          <a:bodyPr/>
          <a:lstStyle/>
          <a:p>
            <a:pPr eaLnBrk="1" hangingPunct="1"/>
            <a:r>
              <a:rPr lang="zh-CN" altLang="en-US" dirty="0" smtClean="0"/>
              <a:t>指标与标志的关系</a:t>
            </a:r>
          </a:p>
        </p:txBody>
      </p:sp>
      <p:sp>
        <p:nvSpPr>
          <p:cNvPr id="57347" name="Rectangle 3"/>
          <p:cNvSpPr>
            <a:spLocks noGrp="1" noChangeArrowheads="1"/>
          </p:cNvSpPr>
          <p:nvPr>
            <p:ph idx="1"/>
          </p:nvPr>
        </p:nvSpPr>
        <p:spPr>
          <a:xfrm>
            <a:off x="500063" y="857250"/>
            <a:ext cx="7772400" cy="3616325"/>
          </a:xfrm>
        </p:spPr>
        <p:txBody>
          <a:bodyPr/>
          <a:lstStyle/>
          <a:p>
            <a:pPr eaLnBrk="1" hangingPunct="1">
              <a:lnSpc>
                <a:spcPct val="115000"/>
              </a:lnSpc>
            </a:pPr>
            <a:r>
              <a:rPr lang="zh-CN" altLang="en-US" sz="2800" smtClean="0">
                <a:solidFill>
                  <a:srgbClr val="D60093"/>
                </a:solidFill>
              </a:rPr>
              <a:t>区别：</a:t>
            </a:r>
          </a:p>
          <a:p>
            <a:pPr lvl="1" eaLnBrk="1" hangingPunct="1">
              <a:lnSpc>
                <a:spcPct val="115000"/>
              </a:lnSpc>
            </a:pPr>
            <a:r>
              <a:rPr lang="zh-CN" altLang="en-US" smtClean="0"/>
              <a:t>标志是反映现象</a:t>
            </a:r>
            <a:r>
              <a:rPr lang="zh-CN" altLang="en-US" smtClean="0">
                <a:solidFill>
                  <a:schemeClr val="tx2"/>
                </a:solidFill>
              </a:rPr>
              <a:t>个体</a:t>
            </a:r>
            <a:r>
              <a:rPr lang="zh-CN" altLang="en-US" smtClean="0"/>
              <a:t>特征的概念；指标是反映现象</a:t>
            </a:r>
            <a:r>
              <a:rPr lang="zh-CN" altLang="en-US" smtClean="0">
                <a:solidFill>
                  <a:schemeClr val="tx2"/>
                </a:solidFill>
              </a:rPr>
              <a:t>总体</a:t>
            </a:r>
            <a:r>
              <a:rPr lang="zh-CN" altLang="en-US" smtClean="0"/>
              <a:t>数量特征的。</a:t>
            </a:r>
          </a:p>
          <a:p>
            <a:pPr lvl="1" eaLnBrk="1" hangingPunct="1">
              <a:lnSpc>
                <a:spcPct val="90000"/>
              </a:lnSpc>
              <a:spcBef>
                <a:spcPct val="35000"/>
              </a:spcBef>
            </a:pPr>
            <a:r>
              <a:rPr lang="zh-CN" altLang="en-US" smtClean="0"/>
              <a:t>标志有的不能用数量表示的（品质标志），而所有指标都可以用数量表示；</a:t>
            </a:r>
          </a:p>
          <a:p>
            <a:pPr eaLnBrk="1" hangingPunct="1">
              <a:lnSpc>
                <a:spcPct val="90000"/>
              </a:lnSpc>
              <a:spcBef>
                <a:spcPct val="35000"/>
              </a:spcBef>
            </a:pPr>
            <a:r>
              <a:rPr lang="zh-CN" altLang="en-US" sz="2800" smtClean="0">
                <a:solidFill>
                  <a:srgbClr val="D60093"/>
                </a:solidFill>
              </a:rPr>
              <a:t>联系：</a:t>
            </a:r>
          </a:p>
          <a:p>
            <a:pPr lvl="1" eaLnBrk="1" hangingPunct="1">
              <a:lnSpc>
                <a:spcPct val="90000"/>
              </a:lnSpc>
              <a:spcBef>
                <a:spcPct val="35000"/>
              </a:spcBef>
            </a:pPr>
            <a:r>
              <a:rPr lang="zh-CN" altLang="en-US" smtClean="0"/>
              <a:t>指标数值是标志值的汇总结果 。</a:t>
            </a:r>
          </a:p>
        </p:txBody>
      </p:sp>
      <p:sp>
        <p:nvSpPr>
          <p:cNvPr id="4" name="椭圆 3"/>
          <p:cNvSpPr/>
          <p:nvPr/>
        </p:nvSpPr>
        <p:spPr bwMode="auto">
          <a:xfrm>
            <a:off x="2071688" y="4572000"/>
            <a:ext cx="928687" cy="428625"/>
          </a:xfrm>
          <a:prstGeom prst="ellipse">
            <a:avLst/>
          </a:prstGeom>
          <a:solidFill>
            <a:schemeClr val="accent5">
              <a:lumMod val="90000"/>
            </a:schemeClr>
          </a:solidFill>
          <a:ln w="9525" cap="flat" cmpd="sng" algn="ctr">
            <a:noFill/>
            <a:prstDash val="solid"/>
            <a:round/>
            <a:headEnd type="none" w="med" len="med"/>
            <a:tailEnd type="none" w="med" len="med"/>
          </a:ln>
          <a:effectLst/>
        </p:spPr>
        <p:txBody>
          <a:bodyPr lIns="0" tIns="0" rIns="0" bIns="0"/>
          <a:lstStyle/>
          <a:p>
            <a:pPr marL="342900" indent="-342900">
              <a:buFont typeface="Wingdings" pitchFamily="2" charset="2"/>
              <a:buNone/>
              <a:defRPr/>
            </a:pPr>
            <a:r>
              <a:rPr lang="zh-CN" altLang="en-US" sz="2400" dirty="0">
                <a:solidFill>
                  <a:srgbClr val="D60093"/>
                </a:solidFill>
              </a:rPr>
              <a:t>个体</a:t>
            </a:r>
          </a:p>
        </p:txBody>
      </p:sp>
      <p:sp>
        <p:nvSpPr>
          <p:cNvPr id="57349" name="椭圆 4"/>
          <p:cNvSpPr>
            <a:spLocks noChangeArrowheads="1"/>
          </p:cNvSpPr>
          <p:nvPr/>
        </p:nvSpPr>
        <p:spPr bwMode="auto">
          <a:xfrm>
            <a:off x="5214938" y="4429125"/>
            <a:ext cx="1285875" cy="714375"/>
          </a:xfrm>
          <a:prstGeom prst="ellipse">
            <a:avLst/>
          </a:prstGeom>
          <a:solidFill>
            <a:schemeClr val="hlink"/>
          </a:solidFill>
          <a:ln w="9525" algn="ctr">
            <a:noFill/>
            <a:round/>
            <a:headEnd/>
            <a:tailEnd/>
          </a:ln>
        </p:spPr>
        <p:txBody>
          <a:bodyPr lIns="0" tIns="0" rIns="0" bIns="0"/>
          <a:lstStyle/>
          <a:p>
            <a:pPr marL="342900" indent="-342900">
              <a:buFont typeface="Wingdings" pitchFamily="2" charset="2"/>
              <a:buNone/>
            </a:pPr>
            <a:r>
              <a:rPr lang="zh-CN" altLang="en-US" sz="3200">
                <a:solidFill>
                  <a:srgbClr val="D60093"/>
                </a:solidFill>
              </a:rPr>
              <a:t>总体</a:t>
            </a:r>
          </a:p>
        </p:txBody>
      </p:sp>
      <p:sp>
        <p:nvSpPr>
          <p:cNvPr id="6" name="矩形 5"/>
          <p:cNvSpPr/>
          <p:nvPr/>
        </p:nvSpPr>
        <p:spPr bwMode="auto">
          <a:xfrm>
            <a:off x="1928813" y="5429250"/>
            <a:ext cx="1428750" cy="857250"/>
          </a:xfrm>
          <a:prstGeom prst="rect">
            <a:avLst/>
          </a:prstGeom>
          <a:solidFill>
            <a:schemeClr val="accent5">
              <a:lumMod val="90000"/>
            </a:schemeClr>
          </a:solidFill>
          <a:ln w="9525" cap="flat" cmpd="sng" algn="ctr">
            <a:noFill/>
            <a:prstDash val="solid"/>
            <a:round/>
            <a:headEnd type="none" w="med" len="med"/>
            <a:tailEnd type="none" w="med" len="med"/>
          </a:ln>
          <a:effectLst/>
        </p:spPr>
        <p:txBody>
          <a:bodyPr/>
          <a:lstStyle/>
          <a:p>
            <a:pPr marL="342900" indent="-342900" algn="ctr">
              <a:lnSpc>
                <a:spcPct val="100000"/>
              </a:lnSpc>
              <a:spcBef>
                <a:spcPts val="0"/>
              </a:spcBef>
              <a:buFont typeface="Wingdings" pitchFamily="2" charset="2"/>
              <a:buNone/>
              <a:defRPr/>
            </a:pPr>
            <a:r>
              <a:rPr lang="zh-CN" altLang="en-US" dirty="0">
                <a:solidFill>
                  <a:srgbClr val="D60093"/>
                </a:solidFill>
              </a:rPr>
              <a:t>标志</a:t>
            </a:r>
            <a:endParaRPr lang="en-US" altLang="zh-CN" dirty="0">
              <a:solidFill>
                <a:srgbClr val="D60093"/>
              </a:solidFill>
            </a:endParaRPr>
          </a:p>
          <a:p>
            <a:pPr marL="342900" indent="-342900" algn="ctr">
              <a:lnSpc>
                <a:spcPct val="100000"/>
              </a:lnSpc>
              <a:spcBef>
                <a:spcPts val="0"/>
              </a:spcBef>
              <a:buFont typeface="Wingdings" pitchFamily="2" charset="2"/>
              <a:buNone/>
              <a:defRPr/>
            </a:pPr>
            <a:r>
              <a:rPr lang="zh-CN" altLang="en-US" dirty="0">
                <a:solidFill>
                  <a:srgbClr val="00B050"/>
                </a:solidFill>
              </a:rPr>
              <a:t>标志值</a:t>
            </a:r>
          </a:p>
        </p:txBody>
      </p:sp>
      <p:sp>
        <p:nvSpPr>
          <p:cNvPr id="57351" name="上下箭头 7"/>
          <p:cNvSpPr>
            <a:spLocks noChangeArrowheads="1"/>
          </p:cNvSpPr>
          <p:nvPr/>
        </p:nvSpPr>
        <p:spPr bwMode="auto">
          <a:xfrm>
            <a:off x="2500313" y="5000625"/>
            <a:ext cx="285750" cy="428625"/>
          </a:xfrm>
          <a:prstGeom prst="upDownArrow">
            <a:avLst>
              <a:gd name="adj1" fmla="val 50000"/>
              <a:gd name="adj2" fmla="val 50000"/>
            </a:avLst>
          </a:prstGeom>
          <a:solidFill>
            <a:srgbClr val="7030A0"/>
          </a:solidFill>
          <a:ln w="9525" algn="ctr">
            <a:noFill/>
            <a:round/>
            <a:headEnd/>
            <a:tailEnd/>
          </a:ln>
        </p:spPr>
        <p:txBody>
          <a:bodyPr/>
          <a:lstStyle/>
          <a:p>
            <a:pPr marL="342900" indent="-342900"/>
            <a:endParaRPr lang="zh-CN" altLang="en-US"/>
          </a:p>
        </p:txBody>
      </p:sp>
      <p:sp>
        <p:nvSpPr>
          <p:cNvPr id="57352" name="矩形 8"/>
          <p:cNvSpPr>
            <a:spLocks noChangeArrowheads="1"/>
          </p:cNvSpPr>
          <p:nvPr/>
        </p:nvSpPr>
        <p:spPr bwMode="auto">
          <a:xfrm>
            <a:off x="5000625" y="5500688"/>
            <a:ext cx="1785938" cy="857250"/>
          </a:xfrm>
          <a:prstGeom prst="rect">
            <a:avLst/>
          </a:prstGeom>
          <a:solidFill>
            <a:schemeClr val="hlink"/>
          </a:solidFill>
          <a:ln w="9525" algn="ctr">
            <a:noFill/>
            <a:round/>
            <a:headEnd/>
            <a:tailEnd/>
          </a:ln>
        </p:spPr>
        <p:txBody>
          <a:bodyPr/>
          <a:lstStyle/>
          <a:p>
            <a:pPr marL="342900" indent="-342900" algn="ctr">
              <a:lnSpc>
                <a:spcPct val="100000"/>
              </a:lnSpc>
              <a:spcBef>
                <a:spcPct val="0"/>
              </a:spcBef>
              <a:buFont typeface="Wingdings" pitchFamily="2" charset="2"/>
              <a:buNone/>
            </a:pPr>
            <a:r>
              <a:rPr lang="zh-CN" altLang="en-US">
                <a:solidFill>
                  <a:srgbClr val="D60093"/>
                </a:solidFill>
              </a:rPr>
              <a:t>指标</a:t>
            </a:r>
            <a:endParaRPr lang="en-US" altLang="zh-CN" dirty="0">
              <a:solidFill>
                <a:srgbClr val="D60093"/>
              </a:solidFill>
            </a:endParaRPr>
          </a:p>
          <a:p>
            <a:pPr marL="342900" indent="-342900" algn="ctr">
              <a:lnSpc>
                <a:spcPct val="100000"/>
              </a:lnSpc>
              <a:spcBef>
                <a:spcPct val="0"/>
              </a:spcBef>
              <a:buFont typeface="Wingdings" pitchFamily="2" charset="2"/>
              <a:buNone/>
            </a:pPr>
            <a:r>
              <a:rPr lang="zh-CN" altLang="en-US">
                <a:solidFill>
                  <a:srgbClr val="0000FF"/>
                </a:solidFill>
              </a:rPr>
              <a:t>指标数值</a:t>
            </a:r>
          </a:p>
        </p:txBody>
      </p:sp>
      <p:sp>
        <p:nvSpPr>
          <p:cNvPr id="57353" name="上下箭头 9"/>
          <p:cNvSpPr>
            <a:spLocks noChangeArrowheads="1"/>
          </p:cNvSpPr>
          <p:nvPr/>
        </p:nvSpPr>
        <p:spPr bwMode="auto">
          <a:xfrm>
            <a:off x="5715000" y="5072063"/>
            <a:ext cx="285750" cy="428625"/>
          </a:xfrm>
          <a:prstGeom prst="upDownArrow">
            <a:avLst>
              <a:gd name="adj1" fmla="val 50000"/>
              <a:gd name="adj2" fmla="val 50000"/>
            </a:avLst>
          </a:prstGeom>
          <a:solidFill>
            <a:srgbClr val="FF00FF"/>
          </a:solidFill>
          <a:ln w="9525" algn="ctr">
            <a:noFill/>
            <a:round/>
            <a:headEnd/>
            <a:tailEnd/>
          </a:ln>
        </p:spPr>
        <p:txBody>
          <a:bodyPr/>
          <a:lstStyle/>
          <a:p>
            <a:pPr marL="342900" indent="-342900"/>
            <a:endParaRPr lang="zh-CN" altLang="en-US"/>
          </a:p>
        </p:txBody>
      </p:sp>
      <p:sp>
        <p:nvSpPr>
          <p:cNvPr id="11" name="虚尾箭头 10"/>
          <p:cNvSpPr/>
          <p:nvPr/>
        </p:nvSpPr>
        <p:spPr bwMode="auto">
          <a:xfrm>
            <a:off x="3500438" y="5857875"/>
            <a:ext cx="1549400" cy="484188"/>
          </a:xfrm>
          <a:prstGeom prst="stripedRightArrow">
            <a:avLst>
              <a:gd name="adj1" fmla="val 51167"/>
              <a:gd name="adj2" fmla="val 126997"/>
            </a:avLst>
          </a:prstGeom>
          <a:solidFill>
            <a:srgbClr val="92D050"/>
          </a:solidFill>
          <a:ln w="9525" cap="flat" cmpd="sng" algn="ctr">
            <a:noFill/>
            <a:prstDash val="solid"/>
            <a:round/>
            <a:headEnd type="none" w="med" len="med"/>
            <a:tailEnd type="none" w="med" len="med"/>
          </a:ln>
          <a:effectLst/>
        </p:spPr>
        <p:txBody>
          <a:bodyPr/>
          <a:lstStyle/>
          <a:p>
            <a:pPr marL="342900" indent="-342900">
              <a:defRPr/>
            </a:pPr>
            <a:endParaRPr lang="zh-CN" altLang="en-US" dirty="0"/>
          </a:p>
        </p:txBody>
      </p:sp>
      <p:sp>
        <p:nvSpPr>
          <p:cNvPr id="12" name="灯片编号占位符 11"/>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58</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1196752"/>
            <a:ext cx="8352928" cy="4968552"/>
          </a:xfrm>
        </p:spPr>
        <p:txBody>
          <a:bodyPr/>
          <a:lstStyle/>
          <a:p>
            <a:pPr>
              <a:lnSpc>
                <a:spcPct val="114000"/>
              </a:lnSpc>
            </a:pPr>
            <a:r>
              <a:rPr lang="zh-CN" altLang="zh-CN" sz="2800" dirty="0" smtClean="0">
                <a:solidFill>
                  <a:srgbClr val="000000"/>
                </a:solidFill>
              </a:rPr>
              <a:t>标志与指标的区分不是绝对的，因为统计基本单位也不是一成不变的。</a:t>
            </a:r>
            <a:endParaRPr lang="en-US" altLang="zh-CN" sz="2800" dirty="0" smtClean="0">
              <a:solidFill>
                <a:srgbClr val="000000"/>
              </a:solidFill>
            </a:endParaRPr>
          </a:p>
          <a:p>
            <a:pPr lvl="1">
              <a:lnSpc>
                <a:spcPct val="114000"/>
              </a:lnSpc>
            </a:pPr>
            <a:r>
              <a:rPr lang="zh-CN" altLang="zh-CN" dirty="0" smtClean="0">
                <a:solidFill>
                  <a:srgbClr val="002060"/>
                </a:solidFill>
              </a:rPr>
              <a:t>如总体是某校全体学生时，该校的学生人数、性别比、及格率是指标，但当我们要分析全国所有高校学生的情况，以每个学校为基本单位收集数据时，这些就是标志了。</a:t>
            </a:r>
            <a:endParaRPr lang="en-US" altLang="zh-CN" dirty="0" smtClean="0">
              <a:solidFill>
                <a:srgbClr val="002060"/>
              </a:solidFill>
            </a:endParaRPr>
          </a:p>
          <a:p>
            <a:pPr>
              <a:lnSpc>
                <a:spcPct val="114000"/>
              </a:lnSpc>
            </a:pPr>
            <a:r>
              <a:rPr lang="zh-CN" altLang="zh-CN" dirty="0" smtClean="0">
                <a:solidFill>
                  <a:srgbClr val="000000"/>
                </a:solidFill>
              </a:rPr>
              <a:t>一些统计方法的运用并不太关心这些数据在说明总体特征的</a:t>
            </a:r>
            <a:r>
              <a:rPr lang="zh-CN" altLang="zh-CN" dirty="0" smtClean="0">
                <a:solidFill>
                  <a:srgbClr val="7030A0"/>
                </a:solidFill>
              </a:rPr>
              <a:t>指标</a:t>
            </a:r>
            <a:r>
              <a:rPr lang="zh-CN" altLang="zh-CN" dirty="0" smtClean="0">
                <a:solidFill>
                  <a:srgbClr val="000000"/>
                </a:solidFill>
              </a:rPr>
              <a:t>，还是</a:t>
            </a:r>
            <a:r>
              <a:rPr lang="zh-CN" altLang="en-US" dirty="0" smtClean="0">
                <a:solidFill>
                  <a:srgbClr val="000000"/>
                </a:solidFill>
              </a:rPr>
              <a:t>反映</a:t>
            </a:r>
            <a:r>
              <a:rPr lang="zh-CN" altLang="zh-CN" dirty="0" smtClean="0">
                <a:solidFill>
                  <a:srgbClr val="000000"/>
                </a:solidFill>
              </a:rPr>
              <a:t>个体特征的</a:t>
            </a:r>
            <a:r>
              <a:rPr lang="zh-CN" altLang="zh-CN" dirty="0" smtClean="0">
                <a:solidFill>
                  <a:srgbClr val="7030A0"/>
                </a:solidFill>
              </a:rPr>
              <a:t>标志</a:t>
            </a:r>
            <a:r>
              <a:rPr lang="zh-CN" altLang="zh-CN" dirty="0" smtClean="0">
                <a:solidFill>
                  <a:srgbClr val="000000"/>
                </a:solidFill>
              </a:rPr>
              <a:t>，为了简便，统称为“</a:t>
            </a:r>
            <a:r>
              <a:rPr lang="zh-CN" altLang="zh-CN" dirty="0" smtClean="0">
                <a:solidFill>
                  <a:srgbClr val="FF0000"/>
                </a:solidFill>
              </a:rPr>
              <a:t>变量</a:t>
            </a:r>
            <a:r>
              <a:rPr lang="zh-CN" altLang="zh-CN" dirty="0" smtClean="0">
                <a:solidFill>
                  <a:srgbClr val="000000"/>
                </a:solidFill>
              </a:rPr>
              <a:t>”</a:t>
            </a:r>
            <a:r>
              <a:rPr lang="zh-CN" altLang="en-US" dirty="0" smtClean="0">
                <a:solidFill>
                  <a:srgbClr val="000000"/>
                </a:solidFill>
              </a:rPr>
              <a:t>。</a:t>
            </a:r>
            <a:endParaRPr lang="zh-CN" altLang="en-US" dirty="0">
              <a:solidFill>
                <a:srgbClr val="000000"/>
              </a:solidFill>
            </a:endParaRPr>
          </a:p>
        </p:txBody>
      </p:sp>
      <p:sp>
        <p:nvSpPr>
          <p:cNvPr id="4" name="灯片编号占位符 3"/>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59</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395288" y="692150"/>
            <a:ext cx="8748712" cy="719138"/>
          </a:xfrm>
        </p:spPr>
        <p:txBody>
          <a:bodyPr/>
          <a:lstStyle/>
          <a:p>
            <a:pPr eaLnBrk="1" hangingPunct="1"/>
            <a:r>
              <a:rPr lang="zh-CN" altLang="en-US" dirty="0" smtClean="0"/>
              <a:t>变量</a:t>
            </a:r>
            <a:r>
              <a:rPr lang="zh-CN" altLang="en-US" sz="4800" dirty="0" smtClean="0">
                <a:solidFill>
                  <a:srgbClr val="D60093"/>
                </a:solidFill>
              </a:rPr>
              <a:t>（</a:t>
            </a:r>
            <a:r>
              <a:rPr lang="en-US" altLang="zh-CN" sz="4800" b="0" dirty="0" smtClean="0">
                <a:solidFill>
                  <a:srgbClr val="D60093"/>
                </a:solidFill>
              </a:rPr>
              <a:t>variable</a:t>
            </a:r>
            <a:r>
              <a:rPr lang="zh-CN" altLang="en-US" sz="4800" dirty="0" smtClean="0">
                <a:solidFill>
                  <a:srgbClr val="D60093"/>
                </a:solidFill>
              </a:rPr>
              <a:t>）</a:t>
            </a:r>
          </a:p>
        </p:txBody>
      </p:sp>
      <p:sp>
        <p:nvSpPr>
          <p:cNvPr id="300035" name="Rectangle 3"/>
          <p:cNvSpPr>
            <a:spLocks noGrp="1" noChangeArrowheads="1"/>
          </p:cNvSpPr>
          <p:nvPr>
            <p:ph idx="1"/>
          </p:nvPr>
        </p:nvSpPr>
        <p:spPr>
          <a:xfrm>
            <a:off x="323850" y="1484313"/>
            <a:ext cx="8172450" cy="4895850"/>
          </a:xfrm>
        </p:spPr>
        <p:txBody>
          <a:bodyPr/>
          <a:lstStyle/>
          <a:p>
            <a:pPr eaLnBrk="1" hangingPunct="1">
              <a:lnSpc>
                <a:spcPct val="115000"/>
              </a:lnSpc>
              <a:buFontTx/>
              <a:buNone/>
            </a:pPr>
            <a:r>
              <a:rPr lang="en-US" altLang="zh-CN" sz="2800" b="0" dirty="0" smtClean="0">
                <a:solidFill>
                  <a:srgbClr val="000000"/>
                </a:solidFill>
                <a:latin typeface="Arial" charset="0"/>
              </a:rPr>
              <a:t>——</a:t>
            </a:r>
            <a:r>
              <a:rPr lang="zh-CN" altLang="en-US" sz="2800" dirty="0" smtClean="0">
                <a:solidFill>
                  <a:srgbClr val="002060"/>
                </a:solidFill>
                <a:latin typeface="Arial" charset="0"/>
              </a:rPr>
              <a:t>可变的量。</a:t>
            </a:r>
            <a:r>
              <a:rPr lang="zh-CN" altLang="zh-CN" sz="2800" dirty="0" smtClean="0">
                <a:solidFill>
                  <a:srgbClr val="000000"/>
                </a:solidFill>
              </a:rPr>
              <a:t>变量可以是标志——各个总体单位某一属性或数量特征的具体表现不尽相同等；变量也可以是指标——同种指标在不同空间或不同时间的指标数值不尽相同</a:t>
            </a:r>
            <a:r>
              <a:rPr lang="zh-CN" altLang="en-US" sz="2800" dirty="0" smtClean="0">
                <a:solidFill>
                  <a:srgbClr val="000000"/>
                </a:solidFill>
              </a:rPr>
              <a:t>、</a:t>
            </a:r>
            <a:r>
              <a:rPr lang="zh-CN" altLang="zh-CN" sz="2800" dirty="0" smtClean="0">
                <a:solidFill>
                  <a:srgbClr val="000000"/>
                </a:solidFill>
              </a:rPr>
              <a:t>有变化等。</a:t>
            </a:r>
            <a:endParaRPr lang="zh-CN" altLang="en-US" sz="2800" b="0" dirty="0" smtClean="0">
              <a:solidFill>
                <a:srgbClr val="000000"/>
              </a:solidFill>
            </a:endParaRPr>
          </a:p>
          <a:p>
            <a:pPr lvl="1" eaLnBrk="1" hangingPunct="1">
              <a:lnSpc>
                <a:spcPct val="115000"/>
              </a:lnSpc>
            </a:pPr>
            <a:r>
              <a:rPr lang="zh-CN" altLang="en-US" dirty="0" smtClean="0">
                <a:solidFill>
                  <a:srgbClr val="002060"/>
                </a:solidFill>
              </a:rPr>
              <a:t>变量的具体取值称为</a:t>
            </a:r>
            <a:r>
              <a:rPr lang="zh-CN" altLang="en-US" dirty="0" smtClean="0">
                <a:solidFill>
                  <a:srgbClr val="D60093"/>
                </a:solidFill>
              </a:rPr>
              <a:t>变量值或数据（</a:t>
            </a:r>
            <a:r>
              <a:rPr lang="en-US" altLang="zh-CN" dirty="0" smtClean="0">
                <a:solidFill>
                  <a:srgbClr val="D60093"/>
                </a:solidFill>
              </a:rPr>
              <a:t>data</a:t>
            </a:r>
            <a:r>
              <a:rPr lang="zh-CN" altLang="en-US" dirty="0" smtClean="0">
                <a:solidFill>
                  <a:srgbClr val="D60093"/>
                </a:solidFill>
              </a:rPr>
              <a:t>）</a:t>
            </a:r>
            <a:r>
              <a:rPr lang="zh-CN" altLang="en-US" sz="2400" b="0" dirty="0" smtClean="0">
                <a:solidFill>
                  <a:schemeClr val="accent2"/>
                </a:solidFill>
              </a:rPr>
              <a:t>。</a:t>
            </a:r>
          </a:p>
          <a:p>
            <a:pPr lvl="2" eaLnBrk="1" hangingPunct="1">
              <a:spcBef>
                <a:spcPts val="600"/>
              </a:spcBef>
            </a:pPr>
            <a:r>
              <a:rPr lang="zh-CN" altLang="en-US" b="0" dirty="0" smtClean="0"/>
              <a:t>例，  </a:t>
            </a:r>
            <a:r>
              <a:rPr lang="zh-CN" altLang="en-US" sz="3000" dirty="0" smtClean="0">
                <a:solidFill>
                  <a:srgbClr val="0070C0"/>
                </a:solidFill>
              </a:rPr>
              <a:t>变  量</a:t>
            </a:r>
            <a:r>
              <a:rPr lang="zh-CN" altLang="en-US" sz="2800" dirty="0" smtClean="0"/>
              <a:t>         </a:t>
            </a:r>
            <a:r>
              <a:rPr lang="en-US" altLang="zh-CN" sz="2800" dirty="0" smtClean="0">
                <a:solidFill>
                  <a:srgbClr val="00B050"/>
                </a:solidFill>
              </a:rPr>
              <a:t>【</a:t>
            </a:r>
            <a:r>
              <a:rPr lang="zh-CN" altLang="en-US" sz="2800" dirty="0" smtClean="0">
                <a:solidFill>
                  <a:srgbClr val="00B050"/>
                </a:solidFill>
              </a:rPr>
              <a:t>变量值</a:t>
            </a:r>
            <a:r>
              <a:rPr lang="en-US" altLang="zh-CN" sz="2800" dirty="0" smtClean="0">
                <a:solidFill>
                  <a:srgbClr val="00B050"/>
                </a:solidFill>
              </a:rPr>
              <a:t>】</a:t>
            </a:r>
          </a:p>
          <a:p>
            <a:pPr lvl="2" eaLnBrk="1" hangingPunct="1">
              <a:spcBef>
                <a:spcPts val="600"/>
              </a:spcBef>
              <a:buFontTx/>
              <a:buNone/>
            </a:pPr>
            <a:r>
              <a:rPr lang="en-US" altLang="zh-CN" sz="2000" b="0" dirty="0" smtClean="0"/>
              <a:t>           </a:t>
            </a:r>
            <a:r>
              <a:rPr lang="zh-CN" altLang="en-US" b="0" dirty="0" smtClean="0">
                <a:solidFill>
                  <a:srgbClr val="000000"/>
                </a:solidFill>
              </a:rPr>
              <a:t>学生性别         </a:t>
            </a:r>
            <a:r>
              <a:rPr lang="en-US" altLang="zh-CN" b="0" dirty="0" smtClean="0">
                <a:solidFill>
                  <a:srgbClr val="336600"/>
                </a:solidFill>
              </a:rPr>
              <a:t>【</a:t>
            </a:r>
            <a:r>
              <a:rPr lang="zh-CN" altLang="en-US" b="0" dirty="0" smtClean="0">
                <a:solidFill>
                  <a:srgbClr val="336600"/>
                </a:solidFill>
              </a:rPr>
              <a:t>男，女</a:t>
            </a:r>
            <a:r>
              <a:rPr lang="en-US" altLang="zh-CN" b="0" dirty="0" smtClean="0">
                <a:solidFill>
                  <a:srgbClr val="336600"/>
                </a:solidFill>
              </a:rPr>
              <a:t>】</a:t>
            </a:r>
            <a:endParaRPr lang="zh-CN" altLang="en-US" b="0" dirty="0" smtClean="0">
              <a:solidFill>
                <a:srgbClr val="000000"/>
              </a:solidFill>
            </a:endParaRPr>
          </a:p>
          <a:p>
            <a:pPr lvl="2" eaLnBrk="1" hangingPunct="1">
              <a:spcBef>
                <a:spcPts val="600"/>
              </a:spcBef>
              <a:buFontTx/>
              <a:buNone/>
            </a:pPr>
            <a:r>
              <a:rPr lang="zh-CN" altLang="en-US" b="0" dirty="0" smtClean="0">
                <a:solidFill>
                  <a:srgbClr val="000000"/>
                </a:solidFill>
              </a:rPr>
              <a:t>         成      绩         </a:t>
            </a:r>
            <a:r>
              <a:rPr lang="en-US" altLang="zh-CN" b="0" dirty="0" smtClean="0">
                <a:solidFill>
                  <a:srgbClr val="336600"/>
                </a:solidFill>
              </a:rPr>
              <a:t>【80,90,95</a:t>
            </a:r>
            <a:r>
              <a:rPr lang="en-US" altLang="zh-CN" b="0" dirty="0" smtClean="0">
                <a:solidFill>
                  <a:srgbClr val="336600"/>
                </a:solidFill>
                <a:latin typeface="Arial" charset="0"/>
              </a:rPr>
              <a:t>…</a:t>
            </a:r>
            <a:r>
              <a:rPr lang="zh-CN" altLang="en-US" b="0" dirty="0" smtClean="0">
                <a:solidFill>
                  <a:srgbClr val="336600"/>
                </a:solidFill>
              </a:rPr>
              <a:t>分</a:t>
            </a:r>
            <a:r>
              <a:rPr lang="en-US" altLang="zh-CN" b="0" dirty="0" smtClean="0">
                <a:solidFill>
                  <a:srgbClr val="336600"/>
                </a:solidFill>
              </a:rPr>
              <a:t>】</a:t>
            </a:r>
          </a:p>
          <a:p>
            <a:pPr lvl="2" eaLnBrk="1" hangingPunct="1">
              <a:spcBef>
                <a:spcPts val="600"/>
              </a:spcBef>
              <a:buFontTx/>
              <a:buNone/>
            </a:pPr>
            <a:r>
              <a:rPr lang="en-US" altLang="zh-CN" b="0" dirty="0" smtClean="0">
                <a:solidFill>
                  <a:srgbClr val="000000"/>
                </a:solidFill>
              </a:rPr>
              <a:t>         </a:t>
            </a:r>
            <a:r>
              <a:rPr lang="zh-CN" altLang="en-US" b="0" dirty="0" smtClean="0">
                <a:solidFill>
                  <a:srgbClr val="000000"/>
                </a:solidFill>
              </a:rPr>
              <a:t>企业利润         </a:t>
            </a:r>
            <a:r>
              <a:rPr lang="en-US" altLang="zh-CN" b="0" dirty="0" smtClean="0">
                <a:solidFill>
                  <a:srgbClr val="336600"/>
                </a:solidFill>
              </a:rPr>
              <a:t>【1000,5000</a:t>
            </a:r>
            <a:r>
              <a:rPr lang="en-US" altLang="zh-CN" b="0" dirty="0" smtClean="0">
                <a:solidFill>
                  <a:srgbClr val="336600"/>
                </a:solidFill>
                <a:latin typeface="Arial" charset="0"/>
              </a:rPr>
              <a:t>…</a:t>
            </a:r>
            <a:r>
              <a:rPr lang="zh-CN" altLang="en-US" b="0" dirty="0" smtClean="0">
                <a:solidFill>
                  <a:srgbClr val="336600"/>
                </a:solidFill>
              </a:rPr>
              <a:t>万元</a:t>
            </a:r>
            <a:r>
              <a:rPr lang="en-US" altLang="zh-CN" b="0" dirty="0" smtClean="0">
                <a:solidFill>
                  <a:srgbClr val="336600"/>
                </a:solidFill>
              </a:rPr>
              <a:t>】</a:t>
            </a:r>
            <a:endParaRPr lang="zh-CN" altLang="en-US" b="0" dirty="0" smtClean="0">
              <a:solidFill>
                <a:srgbClr val="000000"/>
              </a:solidFill>
            </a:endParaRPr>
          </a:p>
          <a:p>
            <a:pPr lvl="2" eaLnBrk="1" hangingPunct="1">
              <a:spcBef>
                <a:spcPts val="600"/>
              </a:spcBef>
              <a:buFontTx/>
              <a:buNone/>
            </a:pPr>
            <a:r>
              <a:rPr lang="zh-CN" altLang="en-US" b="0" dirty="0" smtClean="0">
                <a:solidFill>
                  <a:srgbClr val="000000"/>
                </a:solidFill>
              </a:rPr>
              <a:t>         地区生产总值  </a:t>
            </a:r>
            <a:r>
              <a:rPr lang="en-US" altLang="zh-CN" b="0" dirty="0" smtClean="0">
                <a:solidFill>
                  <a:srgbClr val="336600"/>
                </a:solidFill>
              </a:rPr>
              <a:t>【300</a:t>
            </a:r>
            <a:r>
              <a:rPr lang="zh-CN" altLang="en-US" b="0" dirty="0" smtClean="0">
                <a:solidFill>
                  <a:srgbClr val="336600"/>
                </a:solidFill>
              </a:rPr>
              <a:t>，</a:t>
            </a:r>
            <a:r>
              <a:rPr lang="en-US" altLang="zh-CN" b="0" dirty="0" smtClean="0">
                <a:solidFill>
                  <a:srgbClr val="336600"/>
                </a:solidFill>
              </a:rPr>
              <a:t>470</a:t>
            </a:r>
            <a:r>
              <a:rPr lang="zh-CN" altLang="en-US" b="0" dirty="0" smtClean="0">
                <a:solidFill>
                  <a:srgbClr val="336600"/>
                </a:solidFill>
              </a:rPr>
              <a:t>，</a:t>
            </a:r>
            <a:r>
              <a:rPr lang="en-US" altLang="zh-CN" b="0" dirty="0" smtClean="0">
                <a:solidFill>
                  <a:srgbClr val="336600"/>
                </a:solidFill>
              </a:rPr>
              <a:t>910</a:t>
            </a:r>
            <a:r>
              <a:rPr lang="en-US" altLang="zh-CN" b="0" dirty="0" smtClean="0">
                <a:solidFill>
                  <a:srgbClr val="336600"/>
                </a:solidFill>
                <a:latin typeface="Arial" charset="0"/>
              </a:rPr>
              <a:t>…</a:t>
            </a:r>
            <a:r>
              <a:rPr lang="zh-CN" altLang="en-US" b="0" dirty="0" smtClean="0">
                <a:solidFill>
                  <a:srgbClr val="336600"/>
                </a:solidFill>
              </a:rPr>
              <a:t>亿元</a:t>
            </a:r>
            <a:r>
              <a:rPr lang="en-US" altLang="zh-CN" b="0" dirty="0" smtClean="0">
                <a:solidFill>
                  <a:srgbClr val="336600"/>
                </a:solidFill>
              </a:rPr>
              <a:t>】</a:t>
            </a:r>
          </a:p>
        </p:txBody>
      </p:sp>
      <p:sp>
        <p:nvSpPr>
          <p:cNvPr id="4" name="灯片编号占位符 3"/>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60</a:t>
            </a:fld>
            <a:endParaRPr lang="en-US" altLang="zh-CN" dirty="0">
              <a:solidFill>
                <a:srgbClr val="545472"/>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00035">
                                            <p:txEl>
                                              <p:pRg st="2" end="2"/>
                                            </p:txEl>
                                          </p:spTgt>
                                        </p:tgtEl>
                                        <p:attrNameLst>
                                          <p:attrName>style.visibility</p:attrName>
                                        </p:attrNameLst>
                                      </p:cBhvr>
                                      <p:to>
                                        <p:strVal val="visible"/>
                                      </p:to>
                                    </p:set>
                                    <p:animEffect transition="in" filter="wipe(left)">
                                      <p:cBhvr>
                                        <p:cTn id="7" dur="500"/>
                                        <p:tgtEl>
                                          <p:spTgt spid="300035">
                                            <p:txEl>
                                              <p:pRg st="2" end="2"/>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00035">
                                            <p:txEl>
                                              <p:pRg st="3" end="3"/>
                                            </p:txEl>
                                          </p:spTgt>
                                        </p:tgtEl>
                                        <p:attrNameLst>
                                          <p:attrName>style.visibility</p:attrName>
                                        </p:attrNameLst>
                                      </p:cBhvr>
                                      <p:to>
                                        <p:strVal val="visible"/>
                                      </p:to>
                                    </p:set>
                                    <p:animEffect transition="in" filter="wipe(left)">
                                      <p:cBhvr>
                                        <p:cTn id="10" dur="500"/>
                                        <p:tgtEl>
                                          <p:spTgt spid="300035">
                                            <p:txEl>
                                              <p:pRg st="3" end="3"/>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300035">
                                            <p:txEl>
                                              <p:pRg st="4" end="4"/>
                                            </p:txEl>
                                          </p:spTgt>
                                        </p:tgtEl>
                                        <p:attrNameLst>
                                          <p:attrName>style.visibility</p:attrName>
                                        </p:attrNameLst>
                                      </p:cBhvr>
                                      <p:to>
                                        <p:strVal val="visible"/>
                                      </p:to>
                                    </p:set>
                                    <p:animEffect transition="in" filter="wipe(left)">
                                      <p:cBhvr>
                                        <p:cTn id="13" dur="500"/>
                                        <p:tgtEl>
                                          <p:spTgt spid="300035">
                                            <p:txEl>
                                              <p:pRg st="4" end="4"/>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300035">
                                            <p:txEl>
                                              <p:pRg st="5" end="5"/>
                                            </p:txEl>
                                          </p:spTgt>
                                        </p:tgtEl>
                                        <p:attrNameLst>
                                          <p:attrName>style.visibility</p:attrName>
                                        </p:attrNameLst>
                                      </p:cBhvr>
                                      <p:to>
                                        <p:strVal val="visible"/>
                                      </p:to>
                                    </p:set>
                                    <p:animEffect transition="in" filter="wipe(left)">
                                      <p:cBhvr>
                                        <p:cTn id="16" dur="500"/>
                                        <p:tgtEl>
                                          <p:spTgt spid="300035">
                                            <p:txEl>
                                              <p:pRg st="5" end="5"/>
                                            </p:txEl>
                                          </p:spTgt>
                                        </p:tgtEl>
                                      </p:cBhvr>
                                    </p:animEffect>
                                  </p:childTnLst>
                                </p:cTn>
                              </p:par>
                              <p:par>
                                <p:cTn id="17" presetID="22" presetClass="entr" presetSubtype="8" fill="hold" nodeType="withEffect">
                                  <p:stCondLst>
                                    <p:cond delay="0"/>
                                  </p:stCondLst>
                                  <p:childTnLst>
                                    <p:set>
                                      <p:cBhvr>
                                        <p:cTn id="18" dur="1" fill="hold">
                                          <p:stCondLst>
                                            <p:cond delay="0"/>
                                          </p:stCondLst>
                                        </p:cTn>
                                        <p:tgtEl>
                                          <p:spTgt spid="300035">
                                            <p:txEl>
                                              <p:pRg st="6" end="6"/>
                                            </p:txEl>
                                          </p:spTgt>
                                        </p:tgtEl>
                                        <p:attrNameLst>
                                          <p:attrName>style.visibility</p:attrName>
                                        </p:attrNameLst>
                                      </p:cBhvr>
                                      <p:to>
                                        <p:strVal val="visible"/>
                                      </p:to>
                                    </p:set>
                                    <p:animEffect transition="in" filter="wipe(left)">
                                      <p:cBhvr>
                                        <p:cTn id="19" dur="500"/>
                                        <p:tgtEl>
                                          <p:spTgt spid="30003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827088" y="476250"/>
            <a:ext cx="7772400" cy="990600"/>
          </a:xfrm>
        </p:spPr>
        <p:txBody>
          <a:bodyPr/>
          <a:lstStyle/>
          <a:p>
            <a:pPr eaLnBrk="1" hangingPunct="1"/>
            <a:r>
              <a:rPr lang="zh-CN" altLang="en-US" dirty="0" smtClean="0"/>
              <a:t>变量的分类 </a:t>
            </a:r>
          </a:p>
        </p:txBody>
      </p:sp>
      <p:sp>
        <p:nvSpPr>
          <p:cNvPr id="6148" name="Rectangle 5"/>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149" name="Rectangle 6"/>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6146" name="Object 5"/>
          <p:cNvGraphicFramePr>
            <a:graphicFrameLocks noChangeAspect="1"/>
          </p:cNvGraphicFramePr>
          <p:nvPr/>
        </p:nvGraphicFramePr>
        <p:xfrm>
          <a:off x="214313" y="1562100"/>
          <a:ext cx="8518525" cy="4867275"/>
        </p:xfrm>
        <a:graphic>
          <a:graphicData uri="http://schemas.openxmlformats.org/presentationml/2006/ole">
            <mc:AlternateContent xmlns:mc="http://schemas.openxmlformats.org/markup-compatibility/2006">
              <mc:Choice xmlns:v="urn:schemas-microsoft-com:vml" Requires="v">
                <p:oleObj spid="_x0000_s285727" name="Equation" r:id="rId3" imgW="2667000" imgH="1524000" progId="Equation.DSMT4">
                  <p:embed/>
                </p:oleObj>
              </mc:Choice>
              <mc:Fallback>
                <p:oleObj name="Equation" r:id="rId3" imgW="2667000" imgH="152400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313" y="1562100"/>
                        <a:ext cx="8518525" cy="4867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50" name="Rectangle 7"/>
          <p:cNvSpPr>
            <a:spLocks noChangeArrowheads="1"/>
          </p:cNvSpPr>
          <p:nvPr/>
        </p:nvSpPr>
        <p:spPr bwMode="auto">
          <a:xfrm>
            <a:off x="0" y="1295400"/>
            <a:ext cx="9144000" cy="0"/>
          </a:xfrm>
          <a:prstGeom prst="rect">
            <a:avLst/>
          </a:prstGeom>
          <a:noFill/>
          <a:ln w="9525" algn="ctr">
            <a:noFill/>
            <a:miter lim="800000"/>
            <a:headEnd/>
            <a:tailEnd/>
          </a:ln>
        </p:spPr>
        <p:txBody>
          <a:bodyPr wrap="none" anchor="ctr">
            <a:spAutoFit/>
          </a:bodyPr>
          <a:lstStyle/>
          <a:p>
            <a:endParaRPr lang="zh-CN" altLang="en-US"/>
          </a:p>
        </p:txBody>
      </p:sp>
      <p:sp>
        <p:nvSpPr>
          <p:cNvPr id="7" name="灯片编号占位符 6"/>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61</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28600"/>
            <a:ext cx="7772400" cy="896144"/>
          </a:xfrm>
        </p:spPr>
        <p:txBody>
          <a:bodyPr/>
          <a:lstStyle/>
          <a:p>
            <a:r>
              <a:rPr lang="zh-CN" altLang="en-US" sz="4000" dirty="0" smtClean="0"/>
              <a:t>如何理解诸概念之间的关系</a:t>
            </a:r>
            <a:endParaRPr lang="zh-CN" altLang="en-US" sz="4000" dirty="0"/>
          </a:p>
        </p:txBody>
      </p:sp>
      <p:sp>
        <p:nvSpPr>
          <p:cNvPr id="3" name="内容占位符 2"/>
          <p:cNvSpPr>
            <a:spLocks noGrp="1"/>
          </p:cNvSpPr>
          <p:nvPr>
            <p:ph idx="1"/>
          </p:nvPr>
        </p:nvSpPr>
        <p:spPr>
          <a:xfrm>
            <a:off x="467544" y="1124744"/>
            <a:ext cx="8352928" cy="5184576"/>
          </a:xfrm>
        </p:spPr>
        <p:txBody>
          <a:bodyPr/>
          <a:lstStyle/>
          <a:p>
            <a:pPr>
              <a:lnSpc>
                <a:spcPct val="105000"/>
              </a:lnSpc>
              <a:spcBef>
                <a:spcPts val="600"/>
              </a:spcBef>
              <a:buNone/>
            </a:pPr>
            <a:r>
              <a:rPr lang="zh-CN" altLang="zh-CN" sz="2800" dirty="0" smtClean="0">
                <a:solidFill>
                  <a:srgbClr val="000000"/>
                </a:solidFill>
              </a:rPr>
              <a:t>统计研究</a:t>
            </a:r>
            <a:r>
              <a:rPr lang="zh-CN" altLang="zh-CN" sz="2800" dirty="0" smtClean="0">
                <a:solidFill>
                  <a:srgbClr val="FF0000"/>
                </a:solidFill>
              </a:rPr>
              <a:t>目的</a:t>
            </a:r>
            <a:r>
              <a:rPr lang="zh-CN" altLang="zh-CN" sz="2800" dirty="0" smtClean="0">
                <a:solidFill>
                  <a:srgbClr val="000000"/>
                </a:solidFill>
              </a:rPr>
              <a:t>——反映总体的数量特征</a:t>
            </a:r>
            <a:endParaRPr lang="en-US" altLang="zh-CN" sz="2800" dirty="0" smtClean="0">
              <a:solidFill>
                <a:srgbClr val="000000"/>
              </a:solidFill>
            </a:endParaRPr>
          </a:p>
          <a:p>
            <a:pPr lvl="1">
              <a:lnSpc>
                <a:spcPct val="105000"/>
              </a:lnSpc>
              <a:spcBef>
                <a:spcPts val="600"/>
              </a:spcBef>
            </a:pPr>
            <a:r>
              <a:rPr lang="zh-CN" altLang="zh-CN" dirty="0" smtClean="0">
                <a:solidFill>
                  <a:srgbClr val="000000"/>
                </a:solidFill>
              </a:rPr>
              <a:t>先要根据研究目的明确研究</a:t>
            </a:r>
            <a:r>
              <a:rPr lang="zh-CN" altLang="en-US" dirty="0" smtClean="0">
                <a:solidFill>
                  <a:srgbClr val="000000"/>
                </a:solidFill>
              </a:rPr>
              <a:t>对象</a:t>
            </a:r>
            <a:r>
              <a:rPr lang="en-US" altLang="zh-CN" dirty="0" smtClean="0">
                <a:solidFill>
                  <a:srgbClr val="000000"/>
                </a:solidFill>
              </a:rPr>
              <a:t>——</a:t>
            </a:r>
            <a:r>
              <a:rPr lang="zh-CN" altLang="zh-CN" dirty="0" smtClean="0">
                <a:solidFill>
                  <a:srgbClr val="FF0000"/>
                </a:solidFill>
              </a:rPr>
              <a:t>总体</a:t>
            </a:r>
            <a:r>
              <a:rPr lang="zh-CN" altLang="zh-CN" dirty="0" smtClean="0">
                <a:solidFill>
                  <a:srgbClr val="000000"/>
                </a:solidFill>
              </a:rPr>
              <a:t>；</a:t>
            </a:r>
            <a:endParaRPr lang="en-US" altLang="zh-CN" dirty="0" smtClean="0">
              <a:solidFill>
                <a:srgbClr val="000000"/>
              </a:solidFill>
            </a:endParaRPr>
          </a:p>
          <a:p>
            <a:pPr marL="444500" lvl="1" indent="12700">
              <a:lnSpc>
                <a:spcPct val="105000"/>
              </a:lnSpc>
              <a:spcBef>
                <a:spcPts val="600"/>
              </a:spcBef>
            </a:pPr>
            <a:r>
              <a:rPr lang="zh-CN" altLang="en-US" dirty="0" smtClean="0"/>
              <a:t>其次要明确</a:t>
            </a:r>
            <a:r>
              <a:rPr lang="zh-CN" altLang="zh-CN" dirty="0" smtClean="0"/>
              <a:t>用反映总体</a:t>
            </a:r>
            <a:r>
              <a:rPr lang="zh-CN" altLang="en-US" dirty="0" smtClean="0"/>
              <a:t>什么</a:t>
            </a:r>
            <a:r>
              <a:rPr lang="zh-CN" altLang="zh-CN" dirty="0" smtClean="0"/>
              <a:t>特征</a:t>
            </a:r>
            <a:r>
              <a:rPr lang="en-US" altLang="zh-CN" dirty="0" smtClean="0"/>
              <a:t>——</a:t>
            </a:r>
            <a:r>
              <a:rPr lang="zh-CN" altLang="zh-CN" dirty="0" smtClean="0">
                <a:solidFill>
                  <a:srgbClr val="FF0000"/>
                </a:solidFill>
              </a:rPr>
              <a:t>统计指标</a:t>
            </a:r>
            <a:r>
              <a:rPr lang="zh-CN" altLang="zh-CN" dirty="0" smtClean="0"/>
              <a:t>；</a:t>
            </a:r>
            <a:endParaRPr lang="en-US" altLang="zh-CN" dirty="0" smtClean="0"/>
          </a:p>
          <a:p>
            <a:pPr marL="44450" indent="12700">
              <a:lnSpc>
                <a:spcPct val="105000"/>
              </a:lnSpc>
              <a:spcBef>
                <a:spcPts val="600"/>
              </a:spcBef>
              <a:buNone/>
            </a:pPr>
            <a:r>
              <a:rPr lang="zh-CN" altLang="en-US" sz="2800" dirty="0" smtClean="0">
                <a:solidFill>
                  <a:srgbClr val="000000"/>
                </a:solidFill>
              </a:rPr>
              <a:t>要</a:t>
            </a:r>
            <a:r>
              <a:rPr lang="zh-CN" altLang="zh-CN" sz="2800" dirty="0" smtClean="0">
                <a:solidFill>
                  <a:srgbClr val="000000"/>
                </a:solidFill>
              </a:rPr>
              <a:t>得到统计指标的数值，就需要收集</a:t>
            </a:r>
            <a:r>
              <a:rPr lang="zh-CN" altLang="en-US" sz="2800" dirty="0" smtClean="0">
                <a:solidFill>
                  <a:srgbClr val="000000"/>
                </a:solidFill>
              </a:rPr>
              <a:t>原始</a:t>
            </a:r>
            <a:r>
              <a:rPr lang="zh-CN" altLang="zh-CN" sz="2800" dirty="0" smtClean="0">
                <a:solidFill>
                  <a:srgbClr val="000000"/>
                </a:solidFill>
              </a:rPr>
              <a:t>数据</a:t>
            </a:r>
            <a:endParaRPr lang="en-US" altLang="zh-CN" sz="2800" dirty="0" smtClean="0">
              <a:solidFill>
                <a:srgbClr val="000000"/>
              </a:solidFill>
            </a:endParaRPr>
          </a:p>
          <a:p>
            <a:pPr lvl="1">
              <a:lnSpc>
                <a:spcPct val="105000"/>
              </a:lnSpc>
              <a:spcBef>
                <a:spcPts val="600"/>
              </a:spcBef>
            </a:pPr>
            <a:r>
              <a:rPr lang="zh-CN" altLang="zh-CN" sz="2600" dirty="0" smtClean="0">
                <a:solidFill>
                  <a:srgbClr val="000000"/>
                </a:solidFill>
              </a:rPr>
              <a:t>谁的数据呢？这就要明确</a:t>
            </a:r>
            <a:r>
              <a:rPr lang="zh-CN" altLang="zh-CN" sz="2600" dirty="0" smtClean="0"/>
              <a:t>基本的统计单位——</a:t>
            </a:r>
            <a:r>
              <a:rPr lang="zh-CN" altLang="zh-CN" sz="2600" dirty="0" smtClean="0">
                <a:solidFill>
                  <a:srgbClr val="FF0000"/>
                </a:solidFill>
              </a:rPr>
              <a:t>总体单位</a:t>
            </a:r>
            <a:r>
              <a:rPr lang="zh-CN" altLang="zh-CN" sz="2600" dirty="0" smtClean="0">
                <a:solidFill>
                  <a:srgbClr val="000000"/>
                </a:solidFill>
              </a:rPr>
              <a:t>（个体）；</a:t>
            </a:r>
            <a:endParaRPr lang="en-US" altLang="zh-CN" sz="2600" dirty="0" smtClean="0">
              <a:solidFill>
                <a:srgbClr val="000000"/>
              </a:solidFill>
            </a:endParaRPr>
          </a:p>
          <a:p>
            <a:pPr lvl="1">
              <a:lnSpc>
                <a:spcPct val="105000"/>
              </a:lnSpc>
              <a:spcBef>
                <a:spcPts val="600"/>
              </a:spcBef>
            </a:pPr>
            <a:r>
              <a:rPr lang="zh-CN" altLang="zh-CN" sz="2600" dirty="0" smtClean="0">
                <a:solidFill>
                  <a:srgbClr val="000000"/>
                </a:solidFill>
              </a:rPr>
              <a:t>哪些原始数据呢？这就必须明确应该对总体单位的哪些特征</a:t>
            </a:r>
            <a:r>
              <a:rPr lang="zh-CN" altLang="zh-CN" sz="2600" dirty="0" smtClean="0"/>
              <a:t>——</a:t>
            </a:r>
            <a:r>
              <a:rPr lang="zh-CN" altLang="zh-CN" sz="2600" dirty="0" smtClean="0">
                <a:solidFill>
                  <a:srgbClr val="FF0000"/>
                </a:solidFill>
              </a:rPr>
              <a:t>标志</a:t>
            </a:r>
            <a:r>
              <a:rPr lang="zh-CN" altLang="zh-CN" sz="2600" dirty="0" smtClean="0">
                <a:solidFill>
                  <a:srgbClr val="000000"/>
                </a:solidFill>
              </a:rPr>
              <a:t>进行观察，</a:t>
            </a:r>
            <a:r>
              <a:rPr lang="zh-CN" altLang="en-US" sz="2600" dirty="0" smtClean="0">
                <a:solidFill>
                  <a:srgbClr val="000000"/>
                </a:solidFill>
              </a:rPr>
              <a:t>了解</a:t>
            </a:r>
            <a:r>
              <a:rPr lang="zh-CN" altLang="zh-CN" sz="2600" dirty="0" smtClean="0">
                <a:solidFill>
                  <a:srgbClr val="000000"/>
                </a:solidFill>
              </a:rPr>
              <a:t>每个单位的</a:t>
            </a:r>
            <a:r>
              <a:rPr lang="zh-CN" altLang="zh-CN" sz="2600" smtClean="0">
                <a:solidFill>
                  <a:srgbClr val="000000"/>
                </a:solidFill>
              </a:rPr>
              <a:t>具体情况</a:t>
            </a:r>
            <a:r>
              <a:rPr lang="zh-CN" altLang="en-US" sz="2600" smtClean="0"/>
              <a:t>（原始数据）</a:t>
            </a:r>
            <a:r>
              <a:rPr lang="en-US" altLang="zh-CN" sz="2600" dirty="0" smtClean="0">
                <a:solidFill>
                  <a:srgbClr val="000000"/>
                </a:solidFill>
              </a:rPr>
              <a:t>——</a:t>
            </a:r>
            <a:r>
              <a:rPr lang="zh-CN" altLang="zh-CN" sz="2600" dirty="0" smtClean="0">
                <a:solidFill>
                  <a:srgbClr val="FF0000"/>
                </a:solidFill>
              </a:rPr>
              <a:t>标志值</a:t>
            </a:r>
            <a:r>
              <a:rPr lang="zh-CN" altLang="zh-CN" sz="2600" dirty="0" smtClean="0">
                <a:solidFill>
                  <a:srgbClr val="000000"/>
                </a:solidFill>
              </a:rPr>
              <a:t>。</a:t>
            </a:r>
            <a:endParaRPr lang="en-US" altLang="zh-CN" sz="2600" dirty="0" smtClean="0">
              <a:solidFill>
                <a:srgbClr val="000000"/>
              </a:solidFill>
            </a:endParaRPr>
          </a:p>
          <a:p>
            <a:pPr marL="541338" lvl="1" indent="-96838">
              <a:lnSpc>
                <a:spcPct val="105000"/>
              </a:lnSpc>
              <a:spcBef>
                <a:spcPts val="600"/>
              </a:spcBef>
            </a:pPr>
            <a:r>
              <a:rPr lang="zh-CN" altLang="zh-CN" sz="2600" dirty="0" smtClean="0"/>
              <a:t>指标</a:t>
            </a:r>
            <a:r>
              <a:rPr lang="zh-CN" altLang="en-US" sz="2600" dirty="0" smtClean="0"/>
              <a:t>（指标名称）和</a:t>
            </a:r>
            <a:r>
              <a:rPr lang="zh-CN" altLang="zh-CN" sz="2600" dirty="0" smtClean="0"/>
              <a:t>标志</a:t>
            </a:r>
            <a:r>
              <a:rPr lang="zh-CN" altLang="en-US" sz="2600" dirty="0" smtClean="0"/>
              <a:t>都可</a:t>
            </a:r>
            <a:r>
              <a:rPr lang="zh-CN" altLang="zh-CN" sz="2600" dirty="0" smtClean="0"/>
              <a:t>统称为“</a:t>
            </a:r>
            <a:r>
              <a:rPr lang="zh-CN" altLang="zh-CN" sz="2600" dirty="0" smtClean="0">
                <a:solidFill>
                  <a:srgbClr val="FF0000"/>
                </a:solidFill>
              </a:rPr>
              <a:t>变量</a:t>
            </a:r>
            <a:r>
              <a:rPr lang="zh-CN" altLang="zh-CN" sz="2600" dirty="0" smtClean="0"/>
              <a:t>”</a:t>
            </a:r>
            <a:r>
              <a:rPr lang="zh-CN" altLang="en-US" sz="2600" dirty="0" smtClean="0"/>
              <a:t>，</a:t>
            </a:r>
            <a:r>
              <a:rPr lang="zh-CN" altLang="en-US" sz="2600" dirty="0" smtClean="0">
                <a:solidFill>
                  <a:srgbClr val="002060"/>
                </a:solidFill>
              </a:rPr>
              <a:t>变量的具体取值</a:t>
            </a:r>
            <a:r>
              <a:rPr lang="zh-CN" altLang="en-US" sz="2000" dirty="0" smtClean="0">
                <a:solidFill>
                  <a:srgbClr val="002060"/>
                </a:solidFill>
              </a:rPr>
              <a:t>（指标数值或标志值）</a:t>
            </a:r>
            <a:r>
              <a:rPr lang="zh-CN" altLang="en-US" sz="2600" dirty="0" smtClean="0">
                <a:solidFill>
                  <a:srgbClr val="002060"/>
                </a:solidFill>
              </a:rPr>
              <a:t>称为</a:t>
            </a:r>
            <a:r>
              <a:rPr lang="zh-CN" altLang="en-US" sz="2600" dirty="0" smtClean="0">
                <a:solidFill>
                  <a:srgbClr val="C00000"/>
                </a:solidFill>
              </a:rPr>
              <a:t>变量值即数据。</a:t>
            </a:r>
            <a:endParaRPr lang="en-US" altLang="zh-CN" sz="2600" dirty="0" smtClean="0">
              <a:solidFill>
                <a:srgbClr val="C00000"/>
              </a:solidFill>
            </a:endParaRPr>
          </a:p>
        </p:txBody>
      </p:sp>
      <p:sp>
        <p:nvSpPr>
          <p:cNvPr id="4" name="灯片编号占位符 3"/>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62</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539552" y="548680"/>
            <a:ext cx="7917185" cy="1422648"/>
          </a:xfrm>
        </p:spPr>
        <p:txBody>
          <a:bodyPr/>
          <a:lstStyle/>
          <a:p>
            <a:pPr eaLnBrk="1" hangingPunct="1"/>
            <a:r>
              <a:rPr lang="en-US" altLang="zh-CN" dirty="0" smtClean="0"/>
              <a:t>§1.3.3  </a:t>
            </a:r>
            <a:r>
              <a:rPr lang="zh-CN" altLang="en-US" dirty="0" smtClean="0"/>
              <a:t>统计</a:t>
            </a:r>
            <a:r>
              <a:rPr lang="zh-CN" altLang="en-US" dirty="0" smtClean="0">
                <a:ea typeface="黑体" pitchFamily="49" charset="-122"/>
              </a:rPr>
              <a:t>数据的分类</a:t>
            </a:r>
            <a:r>
              <a:rPr lang="en-US" altLang="zh-CN" dirty="0" smtClean="0">
                <a:ea typeface="黑体" pitchFamily="49" charset="-122"/>
              </a:rPr>
              <a:t/>
            </a:r>
            <a:br>
              <a:rPr lang="en-US" altLang="zh-CN" dirty="0" smtClean="0">
                <a:ea typeface="黑体" pitchFamily="49" charset="-122"/>
              </a:rPr>
            </a:br>
            <a:r>
              <a:rPr lang="zh-CN" altLang="en-US" dirty="0" smtClean="0">
                <a:ea typeface="黑体" pitchFamily="49" charset="-122"/>
              </a:rPr>
              <a:t>和计量尺度</a:t>
            </a:r>
          </a:p>
        </p:txBody>
      </p:sp>
      <p:sp>
        <p:nvSpPr>
          <p:cNvPr id="305155" name="Rectangle 3"/>
          <p:cNvSpPr>
            <a:spLocks noGrp="1" noChangeArrowheads="1"/>
          </p:cNvSpPr>
          <p:nvPr>
            <p:ph idx="1"/>
          </p:nvPr>
        </p:nvSpPr>
        <p:spPr>
          <a:xfrm>
            <a:off x="323528" y="2060848"/>
            <a:ext cx="8280920" cy="4608512"/>
          </a:xfrm>
        </p:spPr>
        <p:txBody>
          <a:bodyPr/>
          <a:lstStyle/>
          <a:p>
            <a:pPr lvl="1" eaLnBrk="1" hangingPunct="1">
              <a:lnSpc>
                <a:spcPct val="105000"/>
              </a:lnSpc>
              <a:spcBef>
                <a:spcPts val="600"/>
              </a:spcBef>
            </a:pPr>
            <a:r>
              <a:rPr lang="zh-CN" altLang="en-US" sz="3200" dirty="0" smtClean="0"/>
              <a:t>按是否可以直接用数字表示，分为：</a:t>
            </a:r>
            <a:endParaRPr lang="en-US" altLang="zh-CN" sz="3200" dirty="0" smtClean="0"/>
          </a:p>
          <a:p>
            <a:pPr lvl="1" eaLnBrk="1" hangingPunct="1">
              <a:lnSpc>
                <a:spcPct val="105000"/>
              </a:lnSpc>
              <a:spcBef>
                <a:spcPts val="600"/>
              </a:spcBef>
              <a:buNone/>
            </a:pPr>
            <a:r>
              <a:rPr lang="en-US" altLang="zh-CN" sz="3200" dirty="0" smtClean="0">
                <a:solidFill>
                  <a:srgbClr val="D60093"/>
                </a:solidFill>
              </a:rPr>
              <a:t>    </a:t>
            </a:r>
            <a:r>
              <a:rPr lang="zh-CN" altLang="en-US" sz="3200" dirty="0" smtClean="0">
                <a:solidFill>
                  <a:srgbClr val="D60093"/>
                </a:solidFill>
              </a:rPr>
              <a:t>定性数据和定量数据</a:t>
            </a:r>
            <a:endParaRPr lang="zh-CN" altLang="en-US" sz="3200" dirty="0" smtClean="0"/>
          </a:p>
          <a:p>
            <a:pPr lvl="1" eaLnBrk="1" hangingPunct="1">
              <a:lnSpc>
                <a:spcPct val="105000"/>
              </a:lnSpc>
              <a:spcBef>
                <a:spcPts val="600"/>
              </a:spcBef>
            </a:pPr>
            <a:r>
              <a:rPr lang="zh-CN" altLang="en-US" sz="3200" dirty="0" smtClean="0"/>
              <a:t>按是否经过加工处理，分为：</a:t>
            </a:r>
            <a:endParaRPr lang="en-US" altLang="zh-CN" sz="3200" dirty="0" smtClean="0"/>
          </a:p>
          <a:p>
            <a:pPr lvl="1" eaLnBrk="1" hangingPunct="1">
              <a:lnSpc>
                <a:spcPct val="105000"/>
              </a:lnSpc>
              <a:spcBef>
                <a:spcPts val="600"/>
              </a:spcBef>
              <a:buNone/>
            </a:pPr>
            <a:r>
              <a:rPr lang="en-US" altLang="zh-CN" sz="3200" dirty="0" smtClean="0">
                <a:solidFill>
                  <a:srgbClr val="D60093"/>
                </a:solidFill>
              </a:rPr>
              <a:t>    </a:t>
            </a:r>
            <a:r>
              <a:rPr lang="zh-CN" altLang="en-US" sz="3200" dirty="0" smtClean="0">
                <a:solidFill>
                  <a:srgbClr val="D60093"/>
                </a:solidFill>
              </a:rPr>
              <a:t>原始数据和综合数据</a:t>
            </a:r>
            <a:endParaRPr lang="zh-CN" altLang="en-US" sz="3200" dirty="0" smtClean="0"/>
          </a:p>
          <a:p>
            <a:pPr lvl="1" eaLnBrk="1" hangingPunct="1">
              <a:lnSpc>
                <a:spcPct val="105000"/>
              </a:lnSpc>
              <a:spcBef>
                <a:spcPts val="600"/>
              </a:spcBef>
            </a:pPr>
            <a:r>
              <a:rPr lang="zh-CN" altLang="en-US" sz="3200" dirty="0" smtClean="0"/>
              <a:t>按时间状况，统计数据可以分为</a:t>
            </a:r>
            <a:endParaRPr lang="en-US" altLang="zh-CN" sz="3200" dirty="0" smtClean="0"/>
          </a:p>
          <a:p>
            <a:pPr lvl="1" eaLnBrk="1" hangingPunct="1">
              <a:lnSpc>
                <a:spcPct val="105000"/>
              </a:lnSpc>
              <a:spcBef>
                <a:spcPts val="600"/>
              </a:spcBef>
              <a:buNone/>
            </a:pPr>
            <a:r>
              <a:rPr lang="zh-CN" altLang="en-US" sz="3200" dirty="0" smtClean="0">
                <a:solidFill>
                  <a:srgbClr val="D60093"/>
                </a:solidFill>
              </a:rPr>
              <a:t>   截面数据</a:t>
            </a:r>
            <a:r>
              <a:rPr lang="zh-CN" altLang="en-US" sz="3200" b="0" dirty="0" smtClean="0"/>
              <a:t>（静态数据）</a:t>
            </a:r>
            <a:endParaRPr lang="en-US" altLang="zh-CN" sz="3200" dirty="0" smtClean="0">
              <a:solidFill>
                <a:srgbClr val="D60093"/>
              </a:solidFill>
            </a:endParaRPr>
          </a:p>
          <a:p>
            <a:pPr lvl="1" eaLnBrk="1" hangingPunct="1">
              <a:lnSpc>
                <a:spcPct val="105000"/>
              </a:lnSpc>
              <a:spcBef>
                <a:spcPts val="600"/>
              </a:spcBef>
              <a:buNone/>
            </a:pPr>
            <a:r>
              <a:rPr lang="zh-CN" altLang="en-US" sz="3200" dirty="0" smtClean="0">
                <a:solidFill>
                  <a:srgbClr val="D60093"/>
                </a:solidFill>
              </a:rPr>
              <a:t>   时序数据</a:t>
            </a:r>
            <a:r>
              <a:rPr lang="zh-CN" altLang="en-US" sz="3200" b="0" dirty="0" smtClean="0"/>
              <a:t>（动态数据、时间序列）</a:t>
            </a:r>
          </a:p>
        </p:txBody>
      </p:sp>
      <p:sp>
        <p:nvSpPr>
          <p:cNvPr id="4" name="TextBox 3"/>
          <p:cNvSpPr txBox="1"/>
          <p:nvPr/>
        </p:nvSpPr>
        <p:spPr>
          <a:xfrm>
            <a:off x="7452320" y="5157192"/>
            <a:ext cx="1548680" cy="812530"/>
          </a:xfrm>
          <a:prstGeom prst="rect">
            <a:avLst/>
          </a:prstGeom>
          <a:noFill/>
        </p:spPr>
        <p:txBody>
          <a:bodyPr wrap="square" rtlCol="0">
            <a:spAutoFit/>
          </a:bodyPr>
          <a:lstStyle/>
          <a:p>
            <a:pPr>
              <a:buNone/>
            </a:pPr>
            <a:r>
              <a:rPr lang="zh-CN" altLang="en-US" sz="2400" dirty="0" smtClean="0">
                <a:solidFill>
                  <a:srgbClr val="7030A0"/>
                </a:solidFill>
              </a:rPr>
              <a:t>面板数据</a:t>
            </a:r>
            <a:endParaRPr lang="en-US" altLang="zh-CN" sz="2400" dirty="0" smtClean="0">
              <a:solidFill>
                <a:srgbClr val="7030A0"/>
              </a:solidFill>
            </a:endParaRPr>
          </a:p>
          <a:p>
            <a:pPr>
              <a:buNone/>
            </a:pPr>
            <a:r>
              <a:rPr lang="en-US" altLang="zh-CN" sz="2400" dirty="0" smtClean="0">
                <a:solidFill>
                  <a:srgbClr val="7030A0"/>
                </a:solidFill>
              </a:rPr>
              <a:t>panel data</a:t>
            </a:r>
            <a:endParaRPr lang="zh-CN" altLang="en-US" sz="2400" dirty="0">
              <a:solidFill>
                <a:srgbClr val="7030A0"/>
              </a:solidFill>
            </a:endParaRPr>
          </a:p>
        </p:txBody>
      </p:sp>
      <p:sp>
        <p:nvSpPr>
          <p:cNvPr id="5" name="右大括号 4"/>
          <p:cNvSpPr/>
          <p:nvPr/>
        </p:nvSpPr>
        <p:spPr bwMode="auto">
          <a:xfrm>
            <a:off x="7164288" y="5229200"/>
            <a:ext cx="360040" cy="792088"/>
          </a:xfrm>
          <a:prstGeom prst="rightBrace">
            <a:avLst/>
          </a:pr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342900" marR="0" indent="-342900" algn="l" defTabSz="914400" rtl="0" eaLnBrk="1" fontAlgn="base" latinLnBrk="0" hangingPunct="1">
              <a:lnSpc>
                <a:spcPct val="90000"/>
              </a:lnSpc>
              <a:spcBef>
                <a:spcPct val="15000"/>
              </a:spcBef>
              <a:spcAft>
                <a:spcPct val="0"/>
              </a:spcAft>
              <a:buClr>
                <a:srgbClr val="FF3300"/>
              </a:buClr>
              <a:buSzPct val="70000"/>
              <a:buFont typeface="Wingdings" pitchFamily="2" charset="2"/>
              <a:buChar char="|"/>
              <a:tabLst/>
            </a:pPr>
            <a:endParaRPr kumimoji="0" lang="zh-CN" altLang="en-US" sz="28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6" name="灯片编号占位符 5"/>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63</a:t>
            </a:fld>
            <a:endParaRPr lang="en-US" altLang="zh-CN" dirty="0">
              <a:solidFill>
                <a:srgbClr val="545472"/>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5155">
                                            <p:txEl>
                                              <p:pRg st="2" end="2"/>
                                            </p:txEl>
                                          </p:spTgt>
                                        </p:tgtEl>
                                        <p:attrNameLst>
                                          <p:attrName>style.visibility</p:attrName>
                                        </p:attrNameLst>
                                      </p:cBhvr>
                                      <p:to>
                                        <p:strVal val="visible"/>
                                      </p:to>
                                    </p:set>
                                    <p:animEffect transition="in" filter="wipe(left)">
                                      <p:cBhvr>
                                        <p:cTn id="7" dur="500"/>
                                        <p:tgtEl>
                                          <p:spTgt spid="305155">
                                            <p:txEl>
                                              <p:pRg st="2" end="2"/>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05155">
                                            <p:txEl>
                                              <p:pRg st="3" end="3"/>
                                            </p:txEl>
                                          </p:spTgt>
                                        </p:tgtEl>
                                        <p:attrNameLst>
                                          <p:attrName>style.visibility</p:attrName>
                                        </p:attrNameLst>
                                      </p:cBhvr>
                                      <p:to>
                                        <p:strVal val="visible"/>
                                      </p:to>
                                    </p:set>
                                    <p:animEffect transition="in" filter="wipe(left)">
                                      <p:cBhvr>
                                        <p:cTn id="11" dur="500"/>
                                        <p:tgtEl>
                                          <p:spTgt spid="305155">
                                            <p:txEl>
                                              <p:pRg st="3" end="3"/>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305155">
                                            <p:txEl>
                                              <p:pRg st="4" end="4"/>
                                            </p:txEl>
                                          </p:spTgt>
                                        </p:tgtEl>
                                        <p:attrNameLst>
                                          <p:attrName>style.visibility</p:attrName>
                                        </p:attrNameLst>
                                      </p:cBhvr>
                                      <p:to>
                                        <p:strVal val="visible"/>
                                      </p:to>
                                    </p:set>
                                    <p:animEffect transition="in" filter="wipe(left)">
                                      <p:cBhvr>
                                        <p:cTn id="16" dur="500"/>
                                        <p:tgtEl>
                                          <p:spTgt spid="305155">
                                            <p:txEl>
                                              <p:pRg st="4" end="4"/>
                                            </p:txEl>
                                          </p:spTgt>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305155">
                                            <p:txEl>
                                              <p:pRg st="5" end="5"/>
                                            </p:txEl>
                                          </p:spTgt>
                                        </p:tgtEl>
                                        <p:attrNameLst>
                                          <p:attrName>style.visibility</p:attrName>
                                        </p:attrNameLst>
                                      </p:cBhvr>
                                      <p:to>
                                        <p:strVal val="visible"/>
                                      </p:to>
                                    </p:set>
                                    <p:animEffect transition="in" filter="wipe(left)">
                                      <p:cBhvr>
                                        <p:cTn id="20" dur="500"/>
                                        <p:tgtEl>
                                          <p:spTgt spid="305155">
                                            <p:txEl>
                                              <p:pRg st="5" end="5"/>
                                            </p:txEl>
                                          </p:spTgt>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305155">
                                            <p:txEl>
                                              <p:pRg st="6" end="6"/>
                                            </p:txEl>
                                          </p:spTgt>
                                        </p:tgtEl>
                                        <p:attrNameLst>
                                          <p:attrName>style.visibility</p:attrName>
                                        </p:attrNameLst>
                                      </p:cBhvr>
                                      <p:to>
                                        <p:strVal val="visible"/>
                                      </p:to>
                                    </p:set>
                                    <p:animEffect transition="in" filter="wipe(left)">
                                      <p:cBhvr>
                                        <p:cTn id="24" dur="500"/>
                                        <p:tgtEl>
                                          <p:spTgt spid="305155">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2"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right)">
                                      <p:cBhvr>
                                        <p:cTn id="29" dur="1000"/>
                                        <p:tgtEl>
                                          <p:spTgt spid="5"/>
                                        </p:tgtEl>
                                      </p:cBhvr>
                                    </p:animEffect>
                                  </p:childTnLst>
                                </p:cTn>
                              </p:par>
                            </p:childTnLst>
                          </p:cTn>
                        </p:par>
                        <p:par>
                          <p:cTn id="30" fill="hold">
                            <p:stCondLst>
                              <p:cond delay="1000"/>
                            </p:stCondLst>
                            <p:childTnLst>
                              <p:par>
                                <p:cTn id="31" presetID="4" presetClass="entr" presetSubtype="16" fill="hold" grpId="0" nodeType="after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box(in)">
                                      <p:cBhvr>
                                        <p:cTn id="33"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55" grpId="0" uiExpand="1" build="p"/>
      <p:bldP spid="4" grpId="0"/>
      <p:bldP spid="5"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539552" y="260648"/>
            <a:ext cx="7129462" cy="1008063"/>
          </a:xfrm>
        </p:spPr>
        <p:txBody>
          <a:bodyPr/>
          <a:lstStyle/>
          <a:p>
            <a:pPr eaLnBrk="1" hangingPunct="1"/>
            <a:r>
              <a:rPr lang="zh-CN" altLang="en-US" dirty="0" smtClean="0">
                <a:ea typeface="黑体" pitchFamily="49" charset="-122"/>
              </a:rPr>
              <a:t>数据的计量尺度</a:t>
            </a:r>
          </a:p>
        </p:txBody>
      </p:sp>
      <p:sp>
        <p:nvSpPr>
          <p:cNvPr id="217091" name="AutoShape 3"/>
          <p:cNvSpPr>
            <a:spLocks noChangeArrowheads="1"/>
          </p:cNvSpPr>
          <p:nvPr/>
        </p:nvSpPr>
        <p:spPr bwMode="auto">
          <a:xfrm>
            <a:off x="323850" y="2995514"/>
            <a:ext cx="2303463" cy="1154112"/>
          </a:xfrm>
          <a:prstGeom prst="cube">
            <a:avLst>
              <a:gd name="adj" fmla="val 25000"/>
            </a:avLst>
          </a:prstGeom>
          <a:solidFill>
            <a:schemeClr val="accent1"/>
          </a:solidFill>
          <a:ln w="9525">
            <a:solidFill>
              <a:schemeClr val="tx1"/>
            </a:solidFill>
            <a:miter lim="800000"/>
            <a:headEnd/>
            <a:tailEnd/>
          </a:ln>
        </p:spPr>
        <p:txBody>
          <a:bodyPr wrap="none" anchor="ctr"/>
          <a:lstStyle/>
          <a:p>
            <a:endParaRPr lang="zh-CN" altLang="en-US" dirty="0"/>
          </a:p>
        </p:txBody>
      </p:sp>
      <p:sp>
        <p:nvSpPr>
          <p:cNvPr id="217092" name="AutoShape 4"/>
          <p:cNvSpPr>
            <a:spLocks noChangeArrowheads="1"/>
          </p:cNvSpPr>
          <p:nvPr/>
        </p:nvSpPr>
        <p:spPr bwMode="auto">
          <a:xfrm>
            <a:off x="2339975" y="2492276"/>
            <a:ext cx="2463800" cy="1657350"/>
          </a:xfrm>
          <a:prstGeom prst="cube">
            <a:avLst>
              <a:gd name="adj" fmla="val 18361"/>
            </a:avLst>
          </a:prstGeom>
          <a:solidFill>
            <a:schemeClr val="accent1"/>
          </a:solidFill>
          <a:ln w="9525">
            <a:solidFill>
              <a:schemeClr val="tx1"/>
            </a:solidFill>
            <a:miter lim="800000"/>
            <a:headEnd/>
            <a:tailEnd/>
          </a:ln>
        </p:spPr>
        <p:txBody>
          <a:bodyPr wrap="none" anchor="ctr"/>
          <a:lstStyle/>
          <a:p>
            <a:pPr>
              <a:buNone/>
            </a:pPr>
            <a:endParaRPr lang="en-US" altLang="zh-CN" dirty="0" smtClean="0">
              <a:latin typeface="Arial" charset="0"/>
            </a:endParaRPr>
          </a:p>
          <a:p>
            <a:pPr>
              <a:buNone/>
            </a:pPr>
            <a:r>
              <a:rPr lang="en-US" altLang="zh-CN" dirty="0" smtClean="0">
                <a:latin typeface="Arial" charset="0"/>
              </a:rPr>
              <a:t>   </a:t>
            </a:r>
            <a:r>
              <a:rPr lang="en-US" altLang="zh-CN" dirty="0" smtClean="0">
                <a:solidFill>
                  <a:srgbClr val="7030A0"/>
                </a:solidFill>
                <a:latin typeface="Arial" charset="0"/>
              </a:rPr>
              <a:t>Ordinal</a:t>
            </a:r>
            <a:endParaRPr lang="zh-CN" altLang="en-US" dirty="0">
              <a:solidFill>
                <a:srgbClr val="7030A0"/>
              </a:solidFill>
            </a:endParaRPr>
          </a:p>
        </p:txBody>
      </p:sp>
      <p:sp>
        <p:nvSpPr>
          <p:cNvPr id="217093" name="AutoShape 5"/>
          <p:cNvSpPr>
            <a:spLocks noChangeArrowheads="1"/>
          </p:cNvSpPr>
          <p:nvPr/>
        </p:nvSpPr>
        <p:spPr bwMode="auto">
          <a:xfrm>
            <a:off x="4356100" y="1916014"/>
            <a:ext cx="2376488" cy="2232025"/>
          </a:xfrm>
          <a:prstGeom prst="cube">
            <a:avLst>
              <a:gd name="adj" fmla="val 14523"/>
            </a:avLst>
          </a:prstGeom>
          <a:solidFill>
            <a:schemeClr val="accent1"/>
          </a:solidFill>
          <a:ln w="9525">
            <a:solidFill>
              <a:schemeClr val="tx1"/>
            </a:solidFill>
            <a:miter lim="800000"/>
            <a:headEnd/>
            <a:tailEnd/>
          </a:ln>
        </p:spPr>
        <p:txBody>
          <a:bodyPr wrap="none" anchor="ctr"/>
          <a:lstStyle/>
          <a:p>
            <a:pPr algn="ctr">
              <a:buNone/>
            </a:pPr>
            <a:endParaRPr lang="en-US" altLang="zh-CN" dirty="0" smtClean="0">
              <a:solidFill>
                <a:srgbClr val="7030A0"/>
              </a:solidFill>
              <a:latin typeface="Arial" charset="0"/>
            </a:endParaRPr>
          </a:p>
          <a:p>
            <a:pPr algn="ctr">
              <a:buNone/>
            </a:pPr>
            <a:r>
              <a:rPr lang="en-US" altLang="zh-CN" dirty="0" smtClean="0">
                <a:solidFill>
                  <a:srgbClr val="7030A0"/>
                </a:solidFill>
                <a:latin typeface="Arial" charset="0"/>
              </a:rPr>
              <a:t>Interval</a:t>
            </a:r>
            <a:endParaRPr lang="zh-CN" altLang="en-US" dirty="0">
              <a:solidFill>
                <a:srgbClr val="7030A0"/>
              </a:solidFill>
            </a:endParaRPr>
          </a:p>
        </p:txBody>
      </p:sp>
      <p:sp>
        <p:nvSpPr>
          <p:cNvPr id="217095" name="Text Box 7"/>
          <p:cNvSpPr txBox="1">
            <a:spLocks noChangeArrowheads="1"/>
          </p:cNvSpPr>
          <p:nvPr/>
        </p:nvSpPr>
        <p:spPr bwMode="auto">
          <a:xfrm>
            <a:off x="395536" y="3272444"/>
            <a:ext cx="1873250" cy="579438"/>
          </a:xfrm>
          <a:prstGeom prst="rect">
            <a:avLst/>
          </a:prstGeom>
          <a:noFill/>
          <a:ln w="9525">
            <a:noFill/>
            <a:miter lim="800000"/>
            <a:headEnd/>
            <a:tailEnd/>
          </a:ln>
        </p:spPr>
        <p:txBody>
          <a:bodyPr>
            <a:spAutoFit/>
          </a:bodyPr>
          <a:lstStyle/>
          <a:p>
            <a:pPr>
              <a:lnSpc>
                <a:spcPct val="100000"/>
              </a:lnSpc>
              <a:spcBef>
                <a:spcPct val="50000"/>
              </a:spcBef>
              <a:buClrTx/>
              <a:buSzTx/>
              <a:buFontTx/>
              <a:buNone/>
            </a:pPr>
            <a:r>
              <a:rPr kumimoji="1" lang="zh-CN" altLang="en-US" sz="3200" dirty="0">
                <a:solidFill>
                  <a:srgbClr val="D60093"/>
                </a:solidFill>
              </a:rPr>
              <a:t>定类尺度</a:t>
            </a:r>
          </a:p>
        </p:txBody>
      </p:sp>
      <p:sp>
        <p:nvSpPr>
          <p:cNvPr id="217096" name="Text Box 8"/>
          <p:cNvSpPr txBox="1">
            <a:spLocks noChangeArrowheads="1"/>
          </p:cNvSpPr>
          <p:nvPr/>
        </p:nvSpPr>
        <p:spPr bwMode="auto">
          <a:xfrm>
            <a:off x="2411413" y="2852639"/>
            <a:ext cx="2047875" cy="579437"/>
          </a:xfrm>
          <a:prstGeom prst="rect">
            <a:avLst/>
          </a:prstGeom>
          <a:noFill/>
          <a:ln w="9525">
            <a:noFill/>
            <a:miter lim="800000"/>
            <a:headEnd/>
            <a:tailEnd/>
          </a:ln>
        </p:spPr>
        <p:txBody>
          <a:bodyPr>
            <a:spAutoFit/>
          </a:bodyPr>
          <a:lstStyle/>
          <a:p>
            <a:pPr>
              <a:lnSpc>
                <a:spcPct val="100000"/>
              </a:lnSpc>
              <a:spcBef>
                <a:spcPct val="50000"/>
              </a:spcBef>
              <a:buClrTx/>
              <a:buSzTx/>
              <a:buFontTx/>
              <a:buNone/>
            </a:pPr>
            <a:r>
              <a:rPr kumimoji="1" lang="zh-CN" altLang="en-US" sz="3200" dirty="0">
                <a:solidFill>
                  <a:srgbClr val="D60093"/>
                </a:solidFill>
              </a:rPr>
              <a:t>定序尺度</a:t>
            </a:r>
          </a:p>
        </p:txBody>
      </p:sp>
      <p:sp>
        <p:nvSpPr>
          <p:cNvPr id="217097" name="Text Box 9"/>
          <p:cNvSpPr txBox="1">
            <a:spLocks noChangeArrowheads="1"/>
          </p:cNvSpPr>
          <p:nvPr/>
        </p:nvSpPr>
        <p:spPr bwMode="auto">
          <a:xfrm>
            <a:off x="4427984" y="2420888"/>
            <a:ext cx="2047875" cy="579438"/>
          </a:xfrm>
          <a:prstGeom prst="rect">
            <a:avLst/>
          </a:prstGeom>
          <a:noFill/>
          <a:ln w="9525">
            <a:noFill/>
            <a:miter lim="800000"/>
            <a:headEnd/>
            <a:tailEnd/>
          </a:ln>
        </p:spPr>
        <p:txBody>
          <a:bodyPr>
            <a:spAutoFit/>
          </a:bodyPr>
          <a:lstStyle/>
          <a:p>
            <a:pPr>
              <a:lnSpc>
                <a:spcPct val="100000"/>
              </a:lnSpc>
              <a:spcBef>
                <a:spcPct val="50000"/>
              </a:spcBef>
              <a:buClrTx/>
              <a:buSzTx/>
              <a:buFontTx/>
              <a:buNone/>
            </a:pPr>
            <a:r>
              <a:rPr kumimoji="1" lang="zh-CN" altLang="en-US" sz="3200" dirty="0">
                <a:solidFill>
                  <a:srgbClr val="D60093"/>
                </a:solidFill>
              </a:rPr>
              <a:t>定距尺度</a:t>
            </a:r>
          </a:p>
        </p:txBody>
      </p:sp>
      <p:sp>
        <p:nvSpPr>
          <p:cNvPr id="217099" name="Line 11"/>
          <p:cNvSpPr>
            <a:spLocks noChangeShapeType="1"/>
          </p:cNvSpPr>
          <p:nvPr/>
        </p:nvSpPr>
        <p:spPr bwMode="auto">
          <a:xfrm>
            <a:off x="1403350" y="4221064"/>
            <a:ext cx="576263" cy="574675"/>
          </a:xfrm>
          <a:prstGeom prst="line">
            <a:avLst/>
          </a:prstGeom>
          <a:noFill/>
          <a:ln w="57150">
            <a:solidFill>
              <a:schemeClr val="tx1"/>
            </a:solidFill>
            <a:miter lim="800000"/>
            <a:headEnd/>
            <a:tailEnd type="triangle" w="med" len="med"/>
          </a:ln>
        </p:spPr>
        <p:txBody>
          <a:bodyPr wrap="none"/>
          <a:lstStyle/>
          <a:p>
            <a:endParaRPr lang="zh-CN" altLang="en-US"/>
          </a:p>
        </p:txBody>
      </p:sp>
      <p:sp>
        <p:nvSpPr>
          <p:cNvPr id="217100" name="Rectangle 12"/>
          <p:cNvSpPr>
            <a:spLocks noChangeArrowheads="1"/>
          </p:cNvSpPr>
          <p:nvPr/>
        </p:nvSpPr>
        <p:spPr bwMode="auto">
          <a:xfrm>
            <a:off x="1258888" y="4795739"/>
            <a:ext cx="2006600" cy="528637"/>
          </a:xfrm>
          <a:prstGeom prst="rect">
            <a:avLst/>
          </a:prstGeom>
          <a:solidFill>
            <a:srgbClr val="33CCFF"/>
          </a:solidFill>
          <a:ln w="9525">
            <a:solidFill>
              <a:schemeClr val="hlink"/>
            </a:solidFill>
            <a:miter lim="800000"/>
            <a:headEnd/>
            <a:tailEnd/>
          </a:ln>
        </p:spPr>
        <p:txBody>
          <a:bodyPr>
            <a:spAutoFit/>
          </a:bodyPr>
          <a:lstStyle/>
          <a:p>
            <a:pPr algn="ctr">
              <a:lnSpc>
                <a:spcPct val="100000"/>
              </a:lnSpc>
              <a:spcBef>
                <a:spcPct val="0"/>
              </a:spcBef>
              <a:buClrTx/>
              <a:buSzTx/>
              <a:buFontTx/>
              <a:buNone/>
            </a:pPr>
            <a:r>
              <a:rPr kumimoji="1" lang="zh-CN" altLang="en-US">
                <a:solidFill>
                  <a:srgbClr val="CC0066"/>
                </a:solidFill>
              </a:rPr>
              <a:t>定性数据</a:t>
            </a:r>
          </a:p>
        </p:txBody>
      </p:sp>
      <p:sp>
        <p:nvSpPr>
          <p:cNvPr id="217101" name="Rectangle 13"/>
          <p:cNvSpPr>
            <a:spLocks noChangeArrowheads="1"/>
          </p:cNvSpPr>
          <p:nvPr/>
        </p:nvSpPr>
        <p:spPr bwMode="auto">
          <a:xfrm>
            <a:off x="5575300" y="4652864"/>
            <a:ext cx="2693988" cy="955675"/>
          </a:xfrm>
          <a:prstGeom prst="rect">
            <a:avLst/>
          </a:prstGeom>
          <a:solidFill>
            <a:srgbClr val="33CCFF"/>
          </a:solidFill>
          <a:ln w="9525">
            <a:solidFill>
              <a:schemeClr val="hlink"/>
            </a:solidFill>
            <a:miter lim="800000"/>
            <a:headEnd/>
            <a:tailEnd/>
          </a:ln>
        </p:spPr>
        <p:txBody>
          <a:bodyPr wrap="none">
            <a:spAutoFit/>
          </a:bodyPr>
          <a:lstStyle/>
          <a:p>
            <a:pPr algn="ctr">
              <a:lnSpc>
                <a:spcPct val="100000"/>
              </a:lnSpc>
              <a:spcBef>
                <a:spcPct val="0"/>
              </a:spcBef>
              <a:buClrTx/>
              <a:buSzTx/>
              <a:buFontTx/>
              <a:buNone/>
            </a:pPr>
            <a:r>
              <a:rPr kumimoji="1" lang="zh-CN" altLang="en-US" dirty="0">
                <a:solidFill>
                  <a:srgbClr val="CC0066"/>
                </a:solidFill>
              </a:rPr>
              <a:t>定量数据</a:t>
            </a:r>
          </a:p>
          <a:p>
            <a:pPr algn="ctr">
              <a:lnSpc>
                <a:spcPct val="100000"/>
              </a:lnSpc>
              <a:spcBef>
                <a:spcPct val="0"/>
              </a:spcBef>
              <a:buClrTx/>
              <a:buSzTx/>
              <a:buFontTx/>
              <a:buNone/>
            </a:pPr>
            <a:r>
              <a:rPr kumimoji="1" lang="zh-CN" altLang="en-US" dirty="0">
                <a:solidFill>
                  <a:srgbClr val="CC0066"/>
                </a:solidFill>
              </a:rPr>
              <a:t>（数值型数据）</a:t>
            </a:r>
          </a:p>
        </p:txBody>
      </p:sp>
      <p:sp>
        <p:nvSpPr>
          <p:cNvPr id="217102" name="Line 14"/>
          <p:cNvSpPr>
            <a:spLocks noChangeShapeType="1"/>
          </p:cNvSpPr>
          <p:nvPr/>
        </p:nvSpPr>
        <p:spPr bwMode="auto">
          <a:xfrm>
            <a:off x="5580063" y="4076601"/>
            <a:ext cx="936625" cy="623888"/>
          </a:xfrm>
          <a:prstGeom prst="line">
            <a:avLst/>
          </a:prstGeom>
          <a:noFill/>
          <a:ln w="57150">
            <a:solidFill>
              <a:schemeClr val="tx1"/>
            </a:solidFill>
            <a:miter lim="800000"/>
            <a:headEnd/>
            <a:tailEnd type="triangle" w="med" len="med"/>
          </a:ln>
        </p:spPr>
        <p:txBody>
          <a:bodyPr wrap="none"/>
          <a:lstStyle/>
          <a:p>
            <a:endParaRPr lang="zh-CN" altLang="en-US"/>
          </a:p>
        </p:txBody>
      </p:sp>
      <p:sp>
        <p:nvSpPr>
          <p:cNvPr id="217103" name="Line 15"/>
          <p:cNvSpPr>
            <a:spLocks noChangeShapeType="1"/>
          </p:cNvSpPr>
          <p:nvPr/>
        </p:nvSpPr>
        <p:spPr bwMode="auto">
          <a:xfrm flipH="1">
            <a:off x="2627313" y="4148039"/>
            <a:ext cx="603250" cy="647700"/>
          </a:xfrm>
          <a:prstGeom prst="line">
            <a:avLst/>
          </a:prstGeom>
          <a:noFill/>
          <a:ln w="57150">
            <a:solidFill>
              <a:schemeClr val="tx1"/>
            </a:solidFill>
            <a:miter lim="800000"/>
            <a:headEnd/>
            <a:tailEnd type="triangle" w="med" len="med"/>
          </a:ln>
        </p:spPr>
        <p:txBody>
          <a:bodyPr wrap="none"/>
          <a:lstStyle/>
          <a:p>
            <a:endParaRPr lang="zh-CN" altLang="en-US"/>
          </a:p>
        </p:txBody>
      </p:sp>
      <p:sp>
        <p:nvSpPr>
          <p:cNvPr id="217106" name="AutoShape 18"/>
          <p:cNvSpPr>
            <a:spLocks noChangeArrowheads="1"/>
          </p:cNvSpPr>
          <p:nvPr/>
        </p:nvSpPr>
        <p:spPr bwMode="auto">
          <a:xfrm>
            <a:off x="6300788" y="1412776"/>
            <a:ext cx="2232025" cy="2735263"/>
          </a:xfrm>
          <a:prstGeom prst="cube">
            <a:avLst>
              <a:gd name="adj" fmla="val 14523"/>
            </a:avLst>
          </a:prstGeom>
          <a:solidFill>
            <a:schemeClr val="accent1"/>
          </a:solidFill>
          <a:ln w="9525">
            <a:solidFill>
              <a:schemeClr val="tx1"/>
            </a:solidFill>
            <a:miter lim="800000"/>
            <a:headEnd/>
            <a:tailEnd/>
          </a:ln>
        </p:spPr>
        <p:txBody>
          <a:bodyPr wrap="none" anchor="ctr"/>
          <a:lstStyle/>
          <a:p>
            <a:pPr algn="ctr">
              <a:buNone/>
            </a:pPr>
            <a:endParaRPr lang="en-US" altLang="zh-CN" dirty="0" smtClean="0">
              <a:solidFill>
                <a:srgbClr val="7030A0"/>
              </a:solidFill>
              <a:latin typeface="Arial" charset="0"/>
            </a:endParaRPr>
          </a:p>
          <a:p>
            <a:pPr algn="ctr">
              <a:buNone/>
            </a:pPr>
            <a:endParaRPr lang="en-US" altLang="zh-CN" dirty="0" smtClean="0">
              <a:solidFill>
                <a:srgbClr val="7030A0"/>
              </a:solidFill>
              <a:latin typeface="Arial" charset="0"/>
            </a:endParaRPr>
          </a:p>
          <a:p>
            <a:pPr algn="ctr">
              <a:buNone/>
            </a:pPr>
            <a:r>
              <a:rPr lang="en-US" altLang="zh-CN" dirty="0" smtClean="0">
                <a:solidFill>
                  <a:srgbClr val="7030A0"/>
                </a:solidFill>
                <a:latin typeface="Arial" charset="0"/>
              </a:rPr>
              <a:t>Ratio</a:t>
            </a:r>
            <a:endParaRPr lang="zh-CN" altLang="en-US" dirty="0" smtClean="0">
              <a:solidFill>
                <a:srgbClr val="7030A0"/>
              </a:solidFill>
            </a:endParaRPr>
          </a:p>
          <a:p>
            <a:endParaRPr lang="zh-CN" altLang="en-US" dirty="0"/>
          </a:p>
        </p:txBody>
      </p:sp>
      <p:sp>
        <p:nvSpPr>
          <p:cNvPr id="217107" name="Text Box 19"/>
          <p:cNvSpPr txBox="1">
            <a:spLocks noChangeArrowheads="1"/>
          </p:cNvSpPr>
          <p:nvPr/>
        </p:nvSpPr>
        <p:spPr bwMode="auto">
          <a:xfrm>
            <a:off x="6372200" y="1988840"/>
            <a:ext cx="2047875" cy="579438"/>
          </a:xfrm>
          <a:prstGeom prst="rect">
            <a:avLst/>
          </a:prstGeom>
          <a:noFill/>
          <a:ln w="9525">
            <a:noFill/>
            <a:miter lim="800000"/>
            <a:headEnd/>
            <a:tailEnd/>
          </a:ln>
        </p:spPr>
        <p:txBody>
          <a:bodyPr>
            <a:spAutoFit/>
          </a:bodyPr>
          <a:lstStyle/>
          <a:p>
            <a:pPr>
              <a:lnSpc>
                <a:spcPct val="100000"/>
              </a:lnSpc>
              <a:spcBef>
                <a:spcPct val="50000"/>
              </a:spcBef>
              <a:buClrTx/>
              <a:buSzTx/>
              <a:buFontTx/>
              <a:buNone/>
            </a:pPr>
            <a:r>
              <a:rPr kumimoji="1" lang="zh-CN" altLang="en-US" sz="3200" dirty="0">
                <a:solidFill>
                  <a:srgbClr val="D60093"/>
                </a:solidFill>
              </a:rPr>
              <a:t>定比尺度</a:t>
            </a:r>
          </a:p>
        </p:txBody>
      </p:sp>
      <p:sp>
        <p:nvSpPr>
          <p:cNvPr id="217108" name="Line 20"/>
          <p:cNvSpPr>
            <a:spLocks noChangeShapeType="1"/>
          </p:cNvSpPr>
          <p:nvPr/>
        </p:nvSpPr>
        <p:spPr bwMode="auto">
          <a:xfrm flipH="1">
            <a:off x="6877050" y="4003576"/>
            <a:ext cx="457200" cy="720725"/>
          </a:xfrm>
          <a:prstGeom prst="line">
            <a:avLst/>
          </a:prstGeom>
          <a:noFill/>
          <a:ln w="57150">
            <a:solidFill>
              <a:schemeClr val="tx1"/>
            </a:solidFill>
            <a:miter lim="800000"/>
            <a:headEnd/>
            <a:tailEnd type="triangle" w="med" len="med"/>
          </a:ln>
        </p:spPr>
        <p:txBody>
          <a:bodyPr wrap="none"/>
          <a:lstStyle/>
          <a:p>
            <a:endParaRPr lang="zh-CN" altLang="en-US"/>
          </a:p>
        </p:txBody>
      </p:sp>
      <p:sp>
        <p:nvSpPr>
          <p:cNvPr id="17" name="矩形 16"/>
          <p:cNvSpPr/>
          <p:nvPr/>
        </p:nvSpPr>
        <p:spPr>
          <a:xfrm>
            <a:off x="683568" y="3776500"/>
            <a:ext cx="1512168" cy="424732"/>
          </a:xfrm>
          <a:prstGeom prst="rect">
            <a:avLst/>
          </a:prstGeom>
        </p:spPr>
        <p:txBody>
          <a:bodyPr wrap="square">
            <a:spAutoFit/>
          </a:bodyPr>
          <a:lstStyle/>
          <a:p>
            <a:pPr>
              <a:buNone/>
            </a:pPr>
            <a:r>
              <a:rPr lang="en-US" altLang="zh-CN" sz="2400" dirty="0" smtClean="0">
                <a:solidFill>
                  <a:srgbClr val="7030A0"/>
                </a:solidFill>
                <a:latin typeface="Arial" charset="0"/>
              </a:rPr>
              <a:t>Nominal</a:t>
            </a:r>
            <a:endParaRPr lang="zh-CN" altLang="en-US" sz="2400" dirty="0">
              <a:solidFill>
                <a:srgbClr val="7030A0"/>
              </a:solidFill>
            </a:endParaRPr>
          </a:p>
        </p:txBody>
      </p:sp>
      <p:sp>
        <p:nvSpPr>
          <p:cNvPr id="18" name="灯片编号占位符 17"/>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64</a:t>
            </a:fld>
            <a:endParaRPr lang="en-US" altLang="zh-CN" dirty="0">
              <a:solidFill>
                <a:srgbClr val="545472"/>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217091"/>
                                        </p:tgtEl>
                                        <p:attrNameLst>
                                          <p:attrName>style.visibility</p:attrName>
                                        </p:attrNameLst>
                                      </p:cBhvr>
                                      <p:to>
                                        <p:strVal val="visible"/>
                                      </p:to>
                                    </p:set>
                                    <p:animEffect transition="in" filter="box(in)">
                                      <p:cBhvr>
                                        <p:cTn id="7" dur="2000"/>
                                        <p:tgtEl>
                                          <p:spTgt spid="217091"/>
                                        </p:tgtEl>
                                      </p:cBhvr>
                                    </p:animEffect>
                                  </p:childTnLst>
                                </p:cTn>
                              </p:par>
                              <p:par>
                                <p:cTn id="8" presetID="22" presetClass="entr" presetSubtype="8" fill="hold" grpId="0" nodeType="withEffect">
                                  <p:stCondLst>
                                    <p:cond delay="1000"/>
                                  </p:stCondLst>
                                  <p:childTnLst>
                                    <p:set>
                                      <p:cBhvr>
                                        <p:cTn id="9" dur="1" fill="hold">
                                          <p:stCondLst>
                                            <p:cond delay="0"/>
                                          </p:stCondLst>
                                        </p:cTn>
                                        <p:tgtEl>
                                          <p:spTgt spid="217095"/>
                                        </p:tgtEl>
                                        <p:attrNameLst>
                                          <p:attrName>style.visibility</p:attrName>
                                        </p:attrNameLst>
                                      </p:cBhvr>
                                      <p:to>
                                        <p:strVal val="visible"/>
                                      </p:to>
                                    </p:set>
                                    <p:animEffect transition="in" filter="wipe(left)">
                                      <p:cBhvr>
                                        <p:cTn id="10" dur="2000"/>
                                        <p:tgtEl>
                                          <p:spTgt spid="217095"/>
                                        </p:tgtEl>
                                      </p:cBhvr>
                                    </p:animEffect>
                                  </p:childTnLst>
                                </p:cTn>
                              </p:par>
                            </p:childTnLst>
                          </p:cTn>
                        </p:par>
                        <p:par>
                          <p:cTn id="11" fill="hold">
                            <p:stCondLst>
                              <p:cond delay="3000"/>
                            </p:stCondLst>
                            <p:childTnLst>
                              <p:par>
                                <p:cTn id="12" presetID="4" presetClass="entr" presetSubtype="16" fill="hold" grpId="0" nodeType="afterEffect">
                                  <p:stCondLst>
                                    <p:cond delay="0"/>
                                  </p:stCondLst>
                                  <p:childTnLst>
                                    <p:set>
                                      <p:cBhvr>
                                        <p:cTn id="13" dur="1" fill="hold">
                                          <p:stCondLst>
                                            <p:cond delay="0"/>
                                          </p:stCondLst>
                                        </p:cTn>
                                        <p:tgtEl>
                                          <p:spTgt spid="217092"/>
                                        </p:tgtEl>
                                        <p:attrNameLst>
                                          <p:attrName>style.visibility</p:attrName>
                                        </p:attrNameLst>
                                      </p:cBhvr>
                                      <p:to>
                                        <p:strVal val="visible"/>
                                      </p:to>
                                    </p:set>
                                    <p:animEffect transition="in" filter="box(in)">
                                      <p:cBhvr>
                                        <p:cTn id="14" dur="1000"/>
                                        <p:tgtEl>
                                          <p:spTgt spid="217092"/>
                                        </p:tgtEl>
                                      </p:cBhvr>
                                    </p:animEffect>
                                  </p:childTnLst>
                                </p:cTn>
                              </p:par>
                              <p:par>
                                <p:cTn id="15" presetID="22" presetClass="entr" presetSubtype="8" fill="hold" nodeType="withEffect">
                                  <p:stCondLst>
                                    <p:cond delay="1000"/>
                                  </p:stCondLst>
                                  <p:childTnLst>
                                    <p:set>
                                      <p:cBhvr>
                                        <p:cTn id="16" dur="1" fill="hold">
                                          <p:stCondLst>
                                            <p:cond delay="0"/>
                                          </p:stCondLst>
                                        </p:cTn>
                                        <p:tgtEl>
                                          <p:spTgt spid="217096"/>
                                        </p:tgtEl>
                                        <p:attrNameLst>
                                          <p:attrName>style.visibility</p:attrName>
                                        </p:attrNameLst>
                                      </p:cBhvr>
                                      <p:to>
                                        <p:strVal val="visible"/>
                                      </p:to>
                                    </p:set>
                                    <p:animEffect transition="in" filter="wipe(left)">
                                      <p:cBhvr>
                                        <p:cTn id="17" dur="2000"/>
                                        <p:tgtEl>
                                          <p:spTgt spid="217096"/>
                                        </p:tgtEl>
                                      </p:cBhvr>
                                    </p:animEffect>
                                  </p:childTnLst>
                                </p:cTn>
                              </p:par>
                            </p:childTnLst>
                          </p:cTn>
                        </p:par>
                        <p:par>
                          <p:cTn id="18" fill="hold">
                            <p:stCondLst>
                              <p:cond delay="6000"/>
                            </p:stCondLst>
                            <p:childTnLst>
                              <p:par>
                                <p:cTn id="19" presetID="4" presetClass="entr" presetSubtype="16" fill="hold" grpId="0" nodeType="afterEffect">
                                  <p:stCondLst>
                                    <p:cond delay="0"/>
                                  </p:stCondLst>
                                  <p:childTnLst>
                                    <p:set>
                                      <p:cBhvr>
                                        <p:cTn id="20" dur="1" fill="hold">
                                          <p:stCondLst>
                                            <p:cond delay="0"/>
                                          </p:stCondLst>
                                        </p:cTn>
                                        <p:tgtEl>
                                          <p:spTgt spid="217093"/>
                                        </p:tgtEl>
                                        <p:attrNameLst>
                                          <p:attrName>style.visibility</p:attrName>
                                        </p:attrNameLst>
                                      </p:cBhvr>
                                      <p:to>
                                        <p:strVal val="visible"/>
                                      </p:to>
                                    </p:set>
                                    <p:animEffect transition="in" filter="box(in)">
                                      <p:cBhvr>
                                        <p:cTn id="21" dur="500"/>
                                        <p:tgtEl>
                                          <p:spTgt spid="217093"/>
                                        </p:tgtEl>
                                      </p:cBhvr>
                                    </p:animEffect>
                                  </p:childTnLst>
                                </p:cTn>
                              </p:par>
                              <p:par>
                                <p:cTn id="22" presetID="22" presetClass="entr" presetSubtype="8" fill="hold" nodeType="withEffect">
                                  <p:stCondLst>
                                    <p:cond delay="1000"/>
                                  </p:stCondLst>
                                  <p:childTnLst>
                                    <p:set>
                                      <p:cBhvr>
                                        <p:cTn id="23" dur="1" fill="hold">
                                          <p:stCondLst>
                                            <p:cond delay="0"/>
                                          </p:stCondLst>
                                        </p:cTn>
                                        <p:tgtEl>
                                          <p:spTgt spid="217097"/>
                                        </p:tgtEl>
                                        <p:attrNameLst>
                                          <p:attrName>style.visibility</p:attrName>
                                        </p:attrNameLst>
                                      </p:cBhvr>
                                      <p:to>
                                        <p:strVal val="visible"/>
                                      </p:to>
                                    </p:set>
                                    <p:animEffect transition="in" filter="wipe(left)">
                                      <p:cBhvr>
                                        <p:cTn id="24" dur="2000"/>
                                        <p:tgtEl>
                                          <p:spTgt spid="217097"/>
                                        </p:tgtEl>
                                      </p:cBhvr>
                                    </p:animEffect>
                                  </p:childTnLst>
                                </p:cTn>
                              </p:par>
                            </p:childTnLst>
                          </p:cTn>
                        </p:par>
                        <p:par>
                          <p:cTn id="25" fill="hold">
                            <p:stCondLst>
                              <p:cond delay="9000"/>
                            </p:stCondLst>
                            <p:childTnLst>
                              <p:par>
                                <p:cTn id="26" presetID="4" presetClass="entr" presetSubtype="16" fill="hold" grpId="0" nodeType="afterEffect">
                                  <p:stCondLst>
                                    <p:cond delay="0"/>
                                  </p:stCondLst>
                                  <p:childTnLst>
                                    <p:set>
                                      <p:cBhvr>
                                        <p:cTn id="27" dur="1" fill="hold">
                                          <p:stCondLst>
                                            <p:cond delay="0"/>
                                          </p:stCondLst>
                                        </p:cTn>
                                        <p:tgtEl>
                                          <p:spTgt spid="217106"/>
                                        </p:tgtEl>
                                        <p:attrNameLst>
                                          <p:attrName>style.visibility</p:attrName>
                                        </p:attrNameLst>
                                      </p:cBhvr>
                                      <p:to>
                                        <p:strVal val="visible"/>
                                      </p:to>
                                    </p:set>
                                    <p:animEffect transition="in" filter="box(in)">
                                      <p:cBhvr>
                                        <p:cTn id="28" dur="500"/>
                                        <p:tgtEl>
                                          <p:spTgt spid="217106"/>
                                        </p:tgtEl>
                                      </p:cBhvr>
                                    </p:animEffect>
                                  </p:childTnLst>
                                </p:cTn>
                              </p:par>
                              <p:par>
                                <p:cTn id="29" presetID="22" presetClass="entr" presetSubtype="8" fill="hold" nodeType="withEffect">
                                  <p:stCondLst>
                                    <p:cond delay="1000"/>
                                  </p:stCondLst>
                                  <p:childTnLst>
                                    <p:set>
                                      <p:cBhvr>
                                        <p:cTn id="30" dur="1" fill="hold">
                                          <p:stCondLst>
                                            <p:cond delay="0"/>
                                          </p:stCondLst>
                                        </p:cTn>
                                        <p:tgtEl>
                                          <p:spTgt spid="217107"/>
                                        </p:tgtEl>
                                        <p:attrNameLst>
                                          <p:attrName>style.visibility</p:attrName>
                                        </p:attrNameLst>
                                      </p:cBhvr>
                                      <p:to>
                                        <p:strVal val="visible"/>
                                      </p:to>
                                    </p:set>
                                    <p:animEffect transition="in" filter="wipe(left)">
                                      <p:cBhvr>
                                        <p:cTn id="31" dur="2000"/>
                                        <p:tgtEl>
                                          <p:spTgt spid="21710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17099"/>
                                        </p:tgtEl>
                                        <p:attrNameLst>
                                          <p:attrName>style.visibility</p:attrName>
                                        </p:attrNameLst>
                                      </p:cBhvr>
                                      <p:to>
                                        <p:strVal val="visible"/>
                                      </p:to>
                                    </p:set>
                                    <p:animEffect transition="in" filter="wipe(left)">
                                      <p:cBhvr>
                                        <p:cTn id="36" dur="500"/>
                                        <p:tgtEl>
                                          <p:spTgt spid="217099"/>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217103"/>
                                        </p:tgtEl>
                                        <p:attrNameLst>
                                          <p:attrName>style.visibility</p:attrName>
                                        </p:attrNameLst>
                                      </p:cBhvr>
                                      <p:to>
                                        <p:strVal val="visible"/>
                                      </p:to>
                                    </p:set>
                                    <p:animEffect transition="in" filter="wipe(up)">
                                      <p:cBhvr>
                                        <p:cTn id="39" dur="500"/>
                                        <p:tgtEl>
                                          <p:spTgt spid="217103"/>
                                        </p:tgtEl>
                                      </p:cBhvr>
                                    </p:animEffect>
                                  </p:childTnLst>
                                </p:cTn>
                              </p:par>
                              <p:par>
                                <p:cTn id="40" presetID="2" presetClass="entr" presetSubtype="4" fill="hold" grpId="0" nodeType="withEffect">
                                  <p:stCondLst>
                                    <p:cond delay="0"/>
                                  </p:stCondLst>
                                  <p:childTnLst>
                                    <p:set>
                                      <p:cBhvr>
                                        <p:cTn id="41" dur="1" fill="hold">
                                          <p:stCondLst>
                                            <p:cond delay="0"/>
                                          </p:stCondLst>
                                        </p:cTn>
                                        <p:tgtEl>
                                          <p:spTgt spid="217100"/>
                                        </p:tgtEl>
                                        <p:attrNameLst>
                                          <p:attrName>style.visibility</p:attrName>
                                        </p:attrNameLst>
                                      </p:cBhvr>
                                      <p:to>
                                        <p:strVal val="visible"/>
                                      </p:to>
                                    </p:set>
                                    <p:anim calcmode="lin" valueType="num">
                                      <p:cBhvr additive="base">
                                        <p:cTn id="42" dur="500" fill="hold"/>
                                        <p:tgtEl>
                                          <p:spTgt spid="217100"/>
                                        </p:tgtEl>
                                        <p:attrNameLst>
                                          <p:attrName>ppt_x</p:attrName>
                                        </p:attrNameLst>
                                      </p:cBhvr>
                                      <p:tavLst>
                                        <p:tav tm="0">
                                          <p:val>
                                            <p:strVal val="#ppt_x"/>
                                          </p:val>
                                        </p:tav>
                                        <p:tav tm="100000">
                                          <p:val>
                                            <p:strVal val="#ppt_x"/>
                                          </p:val>
                                        </p:tav>
                                      </p:tavLst>
                                    </p:anim>
                                    <p:anim calcmode="lin" valueType="num">
                                      <p:cBhvr additive="base">
                                        <p:cTn id="43" dur="500" fill="hold"/>
                                        <p:tgtEl>
                                          <p:spTgt spid="217100"/>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17102"/>
                                        </p:tgtEl>
                                        <p:attrNameLst>
                                          <p:attrName>style.visibility</p:attrName>
                                        </p:attrNameLst>
                                      </p:cBhvr>
                                      <p:to>
                                        <p:strVal val="visible"/>
                                      </p:to>
                                    </p:set>
                                    <p:animEffect transition="in" filter="wipe(left)">
                                      <p:cBhvr>
                                        <p:cTn id="48" dur="500"/>
                                        <p:tgtEl>
                                          <p:spTgt spid="217102"/>
                                        </p:tgtEl>
                                      </p:cBhvr>
                                    </p:animEffect>
                                  </p:childTnLst>
                                </p:cTn>
                              </p:par>
                              <p:par>
                                <p:cTn id="49" presetID="2" presetClass="entr" presetSubtype="4" fill="hold" grpId="0" nodeType="withEffect">
                                  <p:stCondLst>
                                    <p:cond delay="0"/>
                                  </p:stCondLst>
                                  <p:childTnLst>
                                    <p:set>
                                      <p:cBhvr>
                                        <p:cTn id="50" dur="1" fill="hold">
                                          <p:stCondLst>
                                            <p:cond delay="0"/>
                                          </p:stCondLst>
                                        </p:cTn>
                                        <p:tgtEl>
                                          <p:spTgt spid="217101"/>
                                        </p:tgtEl>
                                        <p:attrNameLst>
                                          <p:attrName>style.visibility</p:attrName>
                                        </p:attrNameLst>
                                      </p:cBhvr>
                                      <p:to>
                                        <p:strVal val="visible"/>
                                      </p:to>
                                    </p:set>
                                    <p:anim calcmode="lin" valueType="num">
                                      <p:cBhvr additive="base">
                                        <p:cTn id="51" dur="500" fill="hold"/>
                                        <p:tgtEl>
                                          <p:spTgt spid="217101"/>
                                        </p:tgtEl>
                                        <p:attrNameLst>
                                          <p:attrName>ppt_x</p:attrName>
                                        </p:attrNameLst>
                                      </p:cBhvr>
                                      <p:tavLst>
                                        <p:tav tm="0">
                                          <p:val>
                                            <p:strVal val="#ppt_x"/>
                                          </p:val>
                                        </p:tav>
                                        <p:tav tm="100000">
                                          <p:val>
                                            <p:strVal val="#ppt_x"/>
                                          </p:val>
                                        </p:tav>
                                      </p:tavLst>
                                    </p:anim>
                                    <p:anim calcmode="lin" valueType="num">
                                      <p:cBhvr additive="base">
                                        <p:cTn id="52" dur="500" fill="hold"/>
                                        <p:tgtEl>
                                          <p:spTgt spid="217101"/>
                                        </p:tgtEl>
                                        <p:attrNameLst>
                                          <p:attrName>ppt_y</p:attrName>
                                        </p:attrNameLst>
                                      </p:cBhvr>
                                      <p:tavLst>
                                        <p:tav tm="0">
                                          <p:val>
                                            <p:strVal val="1+#ppt_h/2"/>
                                          </p:val>
                                        </p:tav>
                                        <p:tav tm="100000">
                                          <p:val>
                                            <p:strVal val="#ppt_y"/>
                                          </p:val>
                                        </p:tav>
                                      </p:tavLst>
                                    </p:anim>
                                  </p:childTnLst>
                                </p:cTn>
                              </p:par>
                              <p:par>
                                <p:cTn id="53" presetID="22" presetClass="entr" presetSubtype="1" fill="hold" grpId="0" nodeType="withEffect">
                                  <p:stCondLst>
                                    <p:cond delay="0"/>
                                  </p:stCondLst>
                                  <p:childTnLst>
                                    <p:set>
                                      <p:cBhvr>
                                        <p:cTn id="54" dur="1" fill="hold">
                                          <p:stCondLst>
                                            <p:cond delay="0"/>
                                          </p:stCondLst>
                                        </p:cTn>
                                        <p:tgtEl>
                                          <p:spTgt spid="217108"/>
                                        </p:tgtEl>
                                        <p:attrNameLst>
                                          <p:attrName>style.visibility</p:attrName>
                                        </p:attrNameLst>
                                      </p:cBhvr>
                                      <p:to>
                                        <p:strVal val="visible"/>
                                      </p:to>
                                    </p:set>
                                    <p:animEffect transition="in" filter="wipe(up)">
                                      <p:cBhvr>
                                        <p:cTn id="55" dur="500"/>
                                        <p:tgtEl>
                                          <p:spTgt spid="217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1" grpId="0" animBg="1"/>
      <p:bldP spid="217092" grpId="0" animBg="1"/>
      <p:bldP spid="217093" grpId="0" animBg="1"/>
      <p:bldP spid="217095" grpId="0"/>
      <p:bldP spid="217099" grpId="0" animBg="1"/>
      <p:bldP spid="217100" grpId="0" animBg="1" autoUpdateAnimBg="0"/>
      <p:bldP spid="217101" grpId="0" animBg="1" autoUpdateAnimBg="0"/>
      <p:bldP spid="217102" grpId="0" animBg="1"/>
      <p:bldP spid="217103" grpId="0" animBg="1"/>
      <p:bldP spid="217106" grpId="0" animBg="1"/>
      <p:bldP spid="217108" grpId="0" animBg="1"/>
    </p:bld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1187450" y="549275"/>
            <a:ext cx="6781800" cy="923925"/>
          </a:xfrm>
          <a:noFill/>
        </p:spPr>
        <p:txBody>
          <a:bodyPr lIns="90488" tIns="44450" rIns="90488" bIns="44450" anchor="ctr" anchorCtr="1"/>
          <a:lstStyle/>
          <a:p>
            <a:pPr eaLnBrk="1" hangingPunct="1"/>
            <a:r>
              <a:rPr lang="zh-CN" altLang="en-US" dirty="0" smtClean="0">
                <a:solidFill>
                  <a:srgbClr val="0000FF"/>
                </a:solidFill>
              </a:rPr>
              <a:t>定类尺度</a:t>
            </a:r>
            <a:r>
              <a:rPr lang="zh-CN" altLang="en-US" b="0" dirty="0" smtClean="0">
                <a:solidFill>
                  <a:srgbClr val="0000FF"/>
                </a:solidFill>
              </a:rPr>
              <a:t>（名义尺度）</a:t>
            </a:r>
            <a:r>
              <a:rPr lang="en-US" altLang="zh-CN" b="0" dirty="0" smtClean="0">
                <a:solidFill>
                  <a:srgbClr val="0000FF"/>
                </a:solidFill>
              </a:rPr>
              <a:t/>
            </a:r>
            <a:br>
              <a:rPr lang="en-US" altLang="zh-CN" b="0" dirty="0" smtClean="0">
                <a:solidFill>
                  <a:srgbClr val="0000FF"/>
                </a:solidFill>
              </a:rPr>
            </a:br>
            <a:r>
              <a:rPr lang="zh-CN" altLang="en-US" sz="4000" b="0" dirty="0" smtClean="0">
                <a:solidFill>
                  <a:srgbClr val="0000FF"/>
                </a:solidFill>
              </a:rPr>
              <a:t>（</a:t>
            </a:r>
            <a:r>
              <a:rPr lang="en-US" altLang="zh-CN" sz="4000" dirty="0" smtClean="0">
                <a:latin typeface="Arial" charset="0"/>
              </a:rPr>
              <a:t>Nominal  Data</a:t>
            </a:r>
            <a:r>
              <a:rPr lang="zh-CN" altLang="en-US" sz="4000" b="0" dirty="0" smtClean="0">
                <a:solidFill>
                  <a:srgbClr val="0000FF"/>
                </a:solidFill>
              </a:rPr>
              <a:t>）</a:t>
            </a:r>
            <a:endParaRPr lang="zh-CN" altLang="en-US" b="0" dirty="0" smtClean="0">
              <a:solidFill>
                <a:srgbClr val="0000FF"/>
              </a:solidFill>
            </a:endParaRPr>
          </a:p>
        </p:txBody>
      </p:sp>
      <p:sp>
        <p:nvSpPr>
          <p:cNvPr id="218115" name="Rectangle 3"/>
          <p:cNvSpPr>
            <a:spLocks noGrp="1" noChangeArrowheads="1"/>
          </p:cNvSpPr>
          <p:nvPr>
            <p:ph idx="1"/>
          </p:nvPr>
        </p:nvSpPr>
        <p:spPr>
          <a:xfrm>
            <a:off x="1042988" y="1700213"/>
            <a:ext cx="7743825" cy="4402137"/>
          </a:xfrm>
          <a:noFill/>
        </p:spPr>
        <p:txBody>
          <a:bodyPr lIns="90488" tIns="44450" rIns="90488" bIns="44450"/>
          <a:lstStyle/>
          <a:p>
            <a:pPr marL="609600" indent="-609600" eaLnBrk="1" hangingPunct="1">
              <a:lnSpc>
                <a:spcPct val="110000"/>
              </a:lnSpc>
              <a:spcBef>
                <a:spcPct val="30000"/>
              </a:spcBef>
              <a:buFontTx/>
              <a:buAutoNum type="arabicPeriod"/>
            </a:pPr>
            <a:r>
              <a:rPr lang="zh-CN" altLang="en-US" dirty="0" smtClean="0">
                <a:solidFill>
                  <a:srgbClr val="000000"/>
                </a:solidFill>
              </a:rPr>
              <a:t>对事物进行</a:t>
            </a:r>
            <a:r>
              <a:rPr lang="zh-CN" altLang="en-US" dirty="0" smtClean="0">
                <a:solidFill>
                  <a:srgbClr val="990000"/>
                </a:solidFill>
              </a:rPr>
              <a:t>平行的分类</a:t>
            </a:r>
            <a:r>
              <a:rPr lang="zh-CN" altLang="en-US" dirty="0" smtClean="0">
                <a:solidFill>
                  <a:srgbClr val="000000"/>
                </a:solidFill>
              </a:rPr>
              <a:t>，数据表现为</a:t>
            </a:r>
            <a:r>
              <a:rPr lang="zh-CN" altLang="en-US" dirty="0" smtClean="0">
                <a:solidFill>
                  <a:srgbClr val="000000"/>
                </a:solidFill>
                <a:latin typeface="Arial" charset="0"/>
              </a:rPr>
              <a:t>“</a:t>
            </a:r>
            <a:r>
              <a:rPr lang="zh-CN" altLang="en-US" dirty="0" smtClean="0">
                <a:solidFill>
                  <a:srgbClr val="000000"/>
                </a:solidFill>
              </a:rPr>
              <a:t>类别</a:t>
            </a:r>
            <a:r>
              <a:rPr lang="zh-CN" altLang="en-US" dirty="0" smtClean="0">
                <a:solidFill>
                  <a:srgbClr val="000000"/>
                </a:solidFill>
                <a:latin typeface="Arial" charset="0"/>
              </a:rPr>
              <a:t>”</a:t>
            </a:r>
            <a:r>
              <a:rPr lang="zh-CN" altLang="en-US" dirty="0" smtClean="0">
                <a:solidFill>
                  <a:srgbClr val="000000"/>
                </a:solidFill>
              </a:rPr>
              <a:t>；各类别可以指定数字代码表示</a:t>
            </a:r>
          </a:p>
          <a:p>
            <a:pPr marL="1071563" lvl="1" indent="-385763" eaLnBrk="1" hangingPunct="1">
              <a:lnSpc>
                <a:spcPct val="110000"/>
              </a:lnSpc>
              <a:spcBef>
                <a:spcPct val="30000"/>
              </a:spcBef>
              <a:buClr>
                <a:srgbClr val="7030A0"/>
              </a:buClr>
              <a:buFont typeface="Wingdings" pitchFamily="2" charset="2"/>
              <a:buChar char="Ø"/>
            </a:pPr>
            <a:r>
              <a:rPr lang="zh-CN" altLang="en-US" b="0" dirty="0" smtClean="0"/>
              <a:t>如专业：金融、会计、统计</a:t>
            </a:r>
            <a:r>
              <a:rPr lang="en-US" altLang="zh-CN" b="0" dirty="0" smtClean="0">
                <a:latin typeface="Arial" charset="0"/>
              </a:rPr>
              <a:t>…</a:t>
            </a:r>
            <a:endParaRPr lang="en-US" altLang="zh-CN" b="0" dirty="0" smtClean="0"/>
          </a:p>
          <a:p>
            <a:pPr marL="609600" indent="-609600" eaLnBrk="1" hangingPunct="1">
              <a:lnSpc>
                <a:spcPct val="110000"/>
              </a:lnSpc>
              <a:spcBef>
                <a:spcPct val="30000"/>
              </a:spcBef>
              <a:buFontTx/>
              <a:buAutoNum type="arabicPeriod"/>
            </a:pPr>
            <a:r>
              <a:rPr lang="zh-CN" altLang="en-US" dirty="0" smtClean="0">
                <a:solidFill>
                  <a:srgbClr val="000000"/>
                </a:solidFill>
              </a:rPr>
              <a:t>使用时必须符合类别穷尽和互斥的要求</a:t>
            </a:r>
          </a:p>
          <a:p>
            <a:pPr marL="609600" indent="-609600" eaLnBrk="1" hangingPunct="1">
              <a:lnSpc>
                <a:spcPct val="110000"/>
              </a:lnSpc>
              <a:spcBef>
                <a:spcPct val="30000"/>
              </a:spcBef>
              <a:buFontTx/>
              <a:buAutoNum type="arabicPeriod"/>
            </a:pPr>
            <a:r>
              <a:rPr lang="zh-CN" altLang="en-US" dirty="0" smtClean="0">
                <a:solidFill>
                  <a:srgbClr val="000000"/>
                </a:solidFill>
              </a:rPr>
              <a:t>具有＝或≠的数学特性</a:t>
            </a:r>
          </a:p>
          <a:p>
            <a:pPr marL="609600" indent="-609600" eaLnBrk="1" hangingPunct="1">
              <a:lnSpc>
                <a:spcPct val="110000"/>
              </a:lnSpc>
              <a:spcBef>
                <a:spcPct val="30000"/>
              </a:spcBef>
              <a:buFontTx/>
              <a:buAutoNum type="arabicPeriod"/>
            </a:pPr>
            <a:r>
              <a:rPr lang="zh-CN" altLang="en-US" dirty="0" smtClean="0">
                <a:solidFill>
                  <a:srgbClr val="000000"/>
                </a:solidFill>
              </a:rPr>
              <a:t>最低计量层次</a:t>
            </a:r>
          </a:p>
        </p:txBody>
      </p:sp>
      <p:sp>
        <p:nvSpPr>
          <p:cNvPr id="4" name="灯片编号占位符 3"/>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65</a:t>
            </a:fld>
            <a:endParaRPr lang="en-US" altLang="zh-CN" dirty="0">
              <a:solidFill>
                <a:srgbClr val="545472"/>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8115">
                                            <p:txEl>
                                              <p:pRg st="2" end="2"/>
                                            </p:txEl>
                                          </p:spTgt>
                                        </p:tgtEl>
                                        <p:attrNameLst>
                                          <p:attrName>style.visibility</p:attrName>
                                        </p:attrNameLst>
                                      </p:cBhvr>
                                      <p:to>
                                        <p:strVal val="visible"/>
                                      </p:to>
                                    </p:set>
                                    <p:animEffect transition="in" filter="wipe(left)">
                                      <p:cBhvr>
                                        <p:cTn id="7" dur="500"/>
                                        <p:tgtEl>
                                          <p:spTgt spid="218115">
                                            <p:txEl>
                                              <p:pRg st="2" end="2"/>
                                            </p:txEl>
                                          </p:spTgt>
                                        </p:tgtEl>
                                      </p:cBhvr>
                                    </p:animEffect>
                                  </p:childTnLst>
                                  <p:subTnLst>
                                    <p:animClr clrSpc="rgb" dir="cw">
                                      <p:cBhvr override="childStyle">
                                        <p:cTn dur="1" fill="hold" display="0" masterRel="nextClick" afterEffect="1"/>
                                        <p:tgtEl>
                                          <p:spTgt spid="218115">
                                            <p:txEl>
                                              <p:pRg st="2" end="2"/>
                                            </p:txEl>
                                          </p:spTgt>
                                        </p:tgtEl>
                                        <p:attrNameLst>
                                          <p:attrName>ppt_c</p:attrName>
                                        </p:attrNameLst>
                                      </p:cBhvr>
                                      <p:to>
                                        <a:schemeClr val="folHlink"/>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8115">
                                            <p:txEl>
                                              <p:pRg st="3" end="3"/>
                                            </p:txEl>
                                          </p:spTgt>
                                        </p:tgtEl>
                                        <p:attrNameLst>
                                          <p:attrName>style.visibility</p:attrName>
                                        </p:attrNameLst>
                                      </p:cBhvr>
                                      <p:to>
                                        <p:strVal val="visible"/>
                                      </p:to>
                                    </p:set>
                                    <p:animEffect transition="in" filter="wipe(left)">
                                      <p:cBhvr>
                                        <p:cTn id="12" dur="500"/>
                                        <p:tgtEl>
                                          <p:spTgt spid="218115">
                                            <p:txEl>
                                              <p:pRg st="3" end="3"/>
                                            </p:txEl>
                                          </p:spTgt>
                                        </p:tgtEl>
                                      </p:cBhvr>
                                    </p:animEffect>
                                  </p:childTnLst>
                                  <p:subTnLst>
                                    <p:animClr clrSpc="rgb" dir="cw">
                                      <p:cBhvr override="childStyle">
                                        <p:cTn dur="1" fill="hold" display="0" masterRel="nextClick" afterEffect="1"/>
                                        <p:tgtEl>
                                          <p:spTgt spid="218115">
                                            <p:txEl>
                                              <p:pRg st="3" end="3"/>
                                            </p:txEl>
                                          </p:spTgt>
                                        </p:tgtEl>
                                        <p:attrNameLst>
                                          <p:attrName>ppt_c</p:attrName>
                                        </p:attrNameLst>
                                      </p:cBhvr>
                                      <p:to>
                                        <a:schemeClr val="folHlink"/>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8115">
                                            <p:txEl>
                                              <p:pRg st="4" end="4"/>
                                            </p:txEl>
                                          </p:spTgt>
                                        </p:tgtEl>
                                        <p:attrNameLst>
                                          <p:attrName>style.visibility</p:attrName>
                                        </p:attrNameLst>
                                      </p:cBhvr>
                                      <p:to>
                                        <p:strVal val="visible"/>
                                      </p:to>
                                    </p:set>
                                    <p:animEffect transition="in" filter="wipe(left)">
                                      <p:cBhvr>
                                        <p:cTn id="17" dur="500"/>
                                        <p:tgtEl>
                                          <p:spTgt spid="218115">
                                            <p:txEl>
                                              <p:pRg st="4" end="4"/>
                                            </p:txEl>
                                          </p:spTgt>
                                        </p:tgtEl>
                                      </p:cBhvr>
                                    </p:animEffect>
                                  </p:childTnLst>
                                  <p:subTnLst>
                                    <p:animClr clrSpc="rgb" dir="cw">
                                      <p:cBhvr override="childStyle">
                                        <p:cTn dur="1" fill="hold" display="0" masterRel="nextClick" afterEffect="1"/>
                                        <p:tgtEl>
                                          <p:spTgt spid="218115">
                                            <p:txEl>
                                              <p:pRg st="4" end="4"/>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5" grpId="0" build="p"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1403350" y="620713"/>
            <a:ext cx="6781800" cy="923925"/>
          </a:xfrm>
          <a:noFill/>
        </p:spPr>
        <p:txBody>
          <a:bodyPr lIns="90488" tIns="44450" rIns="90488" bIns="44450" anchor="ctr" anchorCtr="1"/>
          <a:lstStyle/>
          <a:p>
            <a:pPr eaLnBrk="1" hangingPunct="1"/>
            <a:r>
              <a:rPr lang="zh-CN" altLang="en-US" dirty="0" smtClean="0">
                <a:solidFill>
                  <a:srgbClr val="0000FF"/>
                </a:solidFill>
              </a:rPr>
              <a:t>定序尺度</a:t>
            </a:r>
            <a:r>
              <a:rPr lang="zh-CN" altLang="en-US" b="0" dirty="0" smtClean="0"/>
              <a:t>（顺序尺度</a:t>
            </a:r>
            <a:r>
              <a:rPr lang="zh-CN" altLang="en-US" b="0" dirty="0" smtClean="0">
                <a:solidFill>
                  <a:srgbClr val="0000FF"/>
                </a:solidFill>
              </a:rPr>
              <a:t>）</a:t>
            </a:r>
            <a:r>
              <a:rPr lang="en-US" altLang="zh-CN" b="0" dirty="0" smtClean="0">
                <a:solidFill>
                  <a:srgbClr val="0000FF"/>
                </a:solidFill>
              </a:rPr>
              <a:t/>
            </a:r>
            <a:br>
              <a:rPr lang="en-US" altLang="zh-CN" b="0" dirty="0" smtClean="0">
                <a:solidFill>
                  <a:srgbClr val="0000FF"/>
                </a:solidFill>
              </a:rPr>
            </a:br>
            <a:r>
              <a:rPr lang="zh-CN" altLang="en-US" sz="4000" b="0" dirty="0" smtClean="0">
                <a:solidFill>
                  <a:srgbClr val="0000FF"/>
                </a:solidFill>
              </a:rPr>
              <a:t>（</a:t>
            </a:r>
            <a:r>
              <a:rPr lang="en-US" altLang="zh-CN" sz="4000" dirty="0" smtClean="0">
                <a:latin typeface="Arial" charset="0"/>
              </a:rPr>
              <a:t>Ordinal  Data</a:t>
            </a:r>
            <a:r>
              <a:rPr lang="zh-CN" altLang="en-US" sz="4000" b="0" dirty="0" smtClean="0">
                <a:solidFill>
                  <a:srgbClr val="0000FF"/>
                </a:solidFill>
              </a:rPr>
              <a:t>） </a:t>
            </a:r>
            <a:r>
              <a:rPr lang="zh-CN" altLang="en-US" sz="4000" dirty="0" smtClean="0"/>
              <a:t> </a:t>
            </a:r>
            <a:endParaRPr lang="zh-CN" altLang="en-US" dirty="0" smtClean="0"/>
          </a:p>
        </p:txBody>
      </p:sp>
      <p:sp>
        <p:nvSpPr>
          <p:cNvPr id="220163" name="Rectangle 3"/>
          <p:cNvSpPr>
            <a:spLocks noGrp="1" noChangeArrowheads="1"/>
          </p:cNvSpPr>
          <p:nvPr>
            <p:ph idx="1"/>
          </p:nvPr>
        </p:nvSpPr>
        <p:spPr>
          <a:xfrm>
            <a:off x="1115616" y="1772816"/>
            <a:ext cx="7343775" cy="4645025"/>
          </a:xfrm>
          <a:noFill/>
        </p:spPr>
        <p:txBody>
          <a:bodyPr lIns="90488" tIns="44450" rIns="90488" bIns="44450"/>
          <a:lstStyle/>
          <a:p>
            <a:pPr marL="609600" indent="-609600" eaLnBrk="1" hangingPunct="1">
              <a:lnSpc>
                <a:spcPct val="110000"/>
              </a:lnSpc>
              <a:spcBef>
                <a:spcPct val="25000"/>
              </a:spcBef>
              <a:buFontTx/>
              <a:buAutoNum type="arabicPeriod"/>
            </a:pPr>
            <a:r>
              <a:rPr lang="zh-CN" altLang="en-US" dirty="0" smtClean="0">
                <a:solidFill>
                  <a:srgbClr val="000000"/>
                </a:solidFill>
              </a:rPr>
              <a:t>对事物分类，并给出各类别的顺序，数据表现为</a:t>
            </a:r>
            <a:r>
              <a:rPr lang="zh-CN" altLang="en-US" dirty="0" smtClean="0">
                <a:solidFill>
                  <a:srgbClr val="000000"/>
                </a:solidFill>
                <a:latin typeface="Arial" charset="0"/>
              </a:rPr>
              <a:t>“</a:t>
            </a:r>
            <a:r>
              <a:rPr lang="zh-CN" altLang="en-US" dirty="0" smtClean="0">
                <a:solidFill>
                  <a:srgbClr val="990000"/>
                </a:solidFill>
              </a:rPr>
              <a:t>有序的类别</a:t>
            </a:r>
            <a:r>
              <a:rPr lang="zh-CN" altLang="en-US" dirty="0" smtClean="0">
                <a:solidFill>
                  <a:srgbClr val="000000"/>
                </a:solidFill>
                <a:latin typeface="Arial" charset="0"/>
              </a:rPr>
              <a:t>”</a:t>
            </a:r>
            <a:r>
              <a:rPr lang="zh-CN" altLang="en-US" dirty="0" smtClean="0">
                <a:solidFill>
                  <a:srgbClr val="000000"/>
                </a:solidFill>
              </a:rPr>
              <a:t>或</a:t>
            </a:r>
            <a:r>
              <a:rPr lang="zh-CN" altLang="en-US" dirty="0" smtClean="0">
                <a:solidFill>
                  <a:srgbClr val="000000"/>
                </a:solidFill>
                <a:latin typeface="Arial" charset="0"/>
              </a:rPr>
              <a:t>“</a:t>
            </a:r>
            <a:r>
              <a:rPr lang="zh-CN" altLang="en-US" dirty="0" smtClean="0">
                <a:solidFill>
                  <a:srgbClr val="000000"/>
                </a:solidFill>
              </a:rPr>
              <a:t>等级</a:t>
            </a:r>
            <a:r>
              <a:rPr lang="zh-CN" altLang="en-US" dirty="0" smtClean="0">
                <a:solidFill>
                  <a:srgbClr val="000000"/>
                </a:solidFill>
                <a:latin typeface="Arial" charset="0"/>
              </a:rPr>
              <a:t>”</a:t>
            </a:r>
            <a:endParaRPr lang="zh-CN" altLang="en-US" dirty="0" smtClean="0">
              <a:solidFill>
                <a:srgbClr val="000000"/>
              </a:solidFill>
            </a:endParaRPr>
          </a:p>
          <a:p>
            <a:pPr marL="1219200" lvl="1" indent="-533400" eaLnBrk="1" hangingPunct="1">
              <a:lnSpc>
                <a:spcPct val="110000"/>
              </a:lnSpc>
              <a:spcBef>
                <a:spcPct val="25000"/>
              </a:spcBef>
              <a:buFontTx/>
              <a:buChar char="•"/>
            </a:pPr>
            <a:r>
              <a:rPr lang="zh-CN" altLang="en-US" b="0" dirty="0" smtClean="0"/>
              <a:t> 如成绩：优秀、良好、中等、及格和不及格 </a:t>
            </a:r>
          </a:p>
          <a:p>
            <a:pPr marL="609600" indent="-609600" eaLnBrk="1" hangingPunct="1">
              <a:lnSpc>
                <a:spcPct val="110000"/>
              </a:lnSpc>
              <a:spcBef>
                <a:spcPct val="25000"/>
              </a:spcBef>
              <a:buFontTx/>
              <a:buAutoNum type="arabicPeriod"/>
            </a:pPr>
            <a:r>
              <a:rPr lang="zh-CN" altLang="en-US" dirty="0" smtClean="0">
                <a:solidFill>
                  <a:srgbClr val="000000"/>
                </a:solidFill>
              </a:rPr>
              <a:t>具有 </a:t>
            </a:r>
            <a:r>
              <a:rPr lang="en-US" altLang="zh-CN" dirty="0" smtClean="0">
                <a:solidFill>
                  <a:srgbClr val="C00000"/>
                </a:solidFill>
              </a:rPr>
              <a:t>&gt; </a:t>
            </a:r>
            <a:r>
              <a:rPr lang="zh-CN" altLang="en-US" dirty="0" smtClean="0">
                <a:solidFill>
                  <a:srgbClr val="000000"/>
                </a:solidFill>
              </a:rPr>
              <a:t>或 </a:t>
            </a:r>
            <a:r>
              <a:rPr lang="en-US" altLang="zh-CN" dirty="0" smtClean="0">
                <a:solidFill>
                  <a:srgbClr val="C00000"/>
                </a:solidFill>
              </a:rPr>
              <a:t>&lt; </a:t>
            </a:r>
            <a:r>
              <a:rPr lang="zh-CN" altLang="en-US" dirty="0" smtClean="0">
                <a:solidFill>
                  <a:srgbClr val="000000"/>
                </a:solidFill>
              </a:rPr>
              <a:t>的数学特性</a:t>
            </a:r>
          </a:p>
          <a:p>
            <a:pPr marL="609600" indent="-609600" eaLnBrk="1" hangingPunct="1">
              <a:lnSpc>
                <a:spcPct val="110000"/>
              </a:lnSpc>
              <a:spcBef>
                <a:spcPct val="25000"/>
              </a:spcBef>
              <a:buFontTx/>
              <a:buAutoNum type="arabicPeriod"/>
            </a:pPr>
            <a:r>
              <a:rPr lang="zh-CN" altLang="en-US" dirty="0" smtClean="0">
                <a:solidFill>
                  <a:srgbClr val="000000"/>
                </a:solidFill>
              </a:rPr>
              <a:t>比定类尺度精确</a:t>
            </a:r>
          </a:p>
          <a:p>
            <a:pPr marL="609600" indent="-609600" eaLnBrk="1" hangingPunct="1">
              <a:lnSpc>
                <a:spcPct val="110000"/>
              </a:lnSpc>
              <a:spcBef>
                <a:spcPct val="25000"/>
              </a:spcBef>
              <a:buFontTx/>
              <a:buAutoNum type="arabicPeriod"/>
            </a:pPr>
            <a:r>
              <a:rPr lang="zh-CN" altLang="en-US" dirty="0" smtClean="0">
                <a:solidFill>
                  <a:srgbClr val="000000"/>
                </a:solidFill>
              </a:rPr>
              <a:t>不能测量出类别之间的准确差值</a:t>
            </a:r>
          </a:p>
        </p:txBody>
      </p:sp>
      <p:sp>
        <p:nvSpPr>
          <p:cNvPr id="4" name="灯片编号占位符 3"/>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66</a:t>
            </a:fld>
            <a:endParaRPr lang="en-US" altLang="zh-CN" dirty="0">
              <a:solidFill>
                <a:srgbClr val="545472"/>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0163">
                                            <p:txEl>
                                              <p:pRg st="2" end="2"/>
                                            </p:txEl>
                                          </p:spTgt>
                                        </p:tgtEl>
                                        <p:attrNameLst>
                                          <p:attrName>style.visibility</p:attrName>
                                        </p:attrNameLst>
                                      </p:cBhvr>
                                      <p:to>
                                        <p:strVal val="visible"/>
                                      </p:to>
                                    </p:set>
                                    <p:animEffect transition="in" filter="wipe(left)">
                                      <p:cBhvr>
                                        <p:cTn id="7" dur="500"/>
                                        <p:tgtEl>
                                          <p:spTgt spid="220163">
                                            <p:txEl>
                                              <p:pRg st="2" end="2"/>
                                            </p:txEl>
                                          </p:spTgt>
                                        </p:tgtEl>
                                      </p:cBhvr>
                                    </p:animEffect>
                                  </p:childTnLst>
                                  <p:subTnLst>
                                    <p:animClr clrSpc="rgb" dir="cw">
                                      <p:cBhvr override="childStyle">
                                        <p:cTn dur="1" fill="hold" display="0" masterRel="nextClick" afterEffect="1"/>
                                        <p:tgtEl>
                                          <p:spTgt spid="220163">
                                            <p:txEl>
                                              <p:pRg st="2" end="2"/>
                                            </p:txEl>
                                          </p:spTgt>
                                        </p:tgtEl>
                                        <p:attrNameLst>
                                          <p:attrName>ppt_c</p:attrName>
                                        </p:attrNameLst>
                                      </p:cBhvr>
                                      <p:to>
                                        <a:schemeClr val="folHlink"/>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0163">
                                            <p:txEl>
                                              <p:pRg st="3" end="3"/>
                                            </p:txEl>
                                          </p:spTgt>
                                        </p:tgtEl>
                                        <p:attrNameLst>
                                          <p:attrName>style.visibility</p:attrName>
                                        </p:attrNameLst>
                                      </p:cBhvr>
                                      <p:to>
                                        <p:strVal val="visible"/>
                                      </p:to>
                                    </p:set>
                                    <p:animEffect transition="in" filter="wipe(left)">
                                      <p:cBhvr>
                                        <p:cTn id="12" dur="500"/>
                                        <p:tgtEl>
                                          <p:spTgt spid="220163">
                                            <p:txEl>
                                              <p:pRg st="3" end="3"/>
                                            </p:txEl>
                                          </p:spTgt>
                                        </p:tgtEl>
                                      </p:cBhvr>
                                    </p:animEffect>
                                  </p:childTnLst>
                                  <p:subTnLst>
                                    <p:animClr clrSpc="rgb" dir="cw">
                                      <p:cBhvr override="childStyle">
                                        <p:cTn dur="1" fill="hold" display="0" masterRel="nextClick" afterEffect="1"/>
                                        <p:tgtEl>
                                          <p:spTgt spid="220163">
                                            <p:txEl>
                                              <p:pRg st="3" end="3"/>
                                            </p:txEl>
                                          </p:spTgt>
                                        </p:tgtEl>
                                        <p:attrNameLst>
                                          <p:attrName>ppt_c</p:attrName>
                                        </p:attrNameLst>
                                      </p:cBhvr>
                                      <p:to>
                                        <a:schemeClr val="folHlink"/>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0163">
                                            <p:txEl>
                                              <p:pRg st="4" end="4"/>
                                            </p:txEl>
                                          </p:spTgt>
                                        </p:tgtEl>
                                        <p:attrNameLst>
                                          <p:attrName>style.visibility</p:attrName>
                                        </p:attrNameLst>
                                      </p:cBhvr>
                                      <p:to>
                                        <p:strVal val="visible"/>
                                      </p:to>
                                    </p:set>
                                    <p:animEffect transition="in" filter="wipe(left)">
                                      <p:cBhvr>
                                        <p:cTn id="17" dur="500"/>
                                        <p:tgtEl>
                                          <p:spTgt spid="220163">
                                            <p:txEl>
                                              <p:pRg st="4" end="4"/>
                                            </p:txEl>
                                          </p:spTgt>
                                        </p:tgtEl>
                                      </p:cBhvr>
                                    </p:animEffect>
                                  </p:childTnLst>
                                  <p:subTnLst>
                                    <p:animClr clrSpc="rgb" dir="cw">
                                      <p:cBhvr override="childStyle">
                                        <p:cTn dur="1" fill="hold" display="0" masterRel="nextClick" afterEffect="1"/>
                                        <p:tgtEl>
                                          <p:spTgt spid="220163">
                                            <p:txEl>
                                              <p:pRg st="4" end="4"/>
                                            </p:txEl>
                                          </p:spTgt>
                                        </p:tgtEl>
                                        <p:attrNameLst>
                                          <p:attrName>ppt_c</p:attrName>
                                        </p:attrNameLst>
                                      </p:cBhvr>
                                      <p:to>
                                        <a:schemeClr val="fo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63" grpId="0" build="p"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899592" y="332656"/>
            <a:ext cx="7920037" cy="1440160"/>
          </a:xfrm>
          <a:noFill/>
        </p:spPr>
        <p:txBody>
          <a:bodyPr lIns="90488" tIns="44450" rIns="90488" bIns="44450" anchor="ctr" anchorCtr="1"/>
          <a:lstStyle/>
          <a:p>
            <a:pPr eaLnBrk="1" hangingPunct="1"/>
            <a:r>
              <a:rPr lang="zh-CN" altLang="en-US" dirty="0" smtClean="0"/>
              <a:t>定距尺度</a:t>
            </a:r>
            <a:r>
              <a:rPr lang="zh-CN" altLang="en-US" sz="3600" b="0" dirty="0" smtClean="0"/>
              <a:t>（间隔尺度、区间尺度）</a:t>
            </a:r>
            <a:r>
              <a:rPr lang="en-US" altLang="zh-CN" sz="3600" b="0" dirty="0" smtClean="0"/>
              <a:t/>
            </a:r>
            <a:br>
              <a:rPr lang="en-US" altLang="zh-CN" sz="3600" b="0" dirty="0" smtClean="0"/>
            </a:br>
            <a:r>
              <a:rPr lang="zh-CN" altLang="en-US" sz="3600" b="0" dirty="0" smtClean="0">
                <a:solidFill>
                  <a:srgbClr val="0000FF"/>
                </a:solidFill>
              </a:rPr>
              <a:t>（</a:t>
            </a:r>
            <a:r>
              <a:rPr lang="en-US" altLang="zh-CN" sz="3600" dirty="0" smtClean="0">
                <a:solidFill>
                  <a:srgbClr val="0000FF"/>
                </a:solidFill>
                <a:latin typeface="Arial" charset="0"/>
              </a:rPr>
              <a:t>Interval Data</a:t>
            </a:r>
            <a:r>
              <a:rPr lang="zh-CN" altLang="en-US" sz="3600" b="0" dirty="0" smtClean="0">
                <a:solidFill>
                  <a:srgbClr val="0000FF"/>
                </a:solidFill>
              </a:rPr>
              <a:t>）</a:t>
            </a:r>
            <a:endParaRPr lang="zh-CN" altLang="en-US" sz="3600" b="0" dirty="0" smtClean="0"/>
          </a:p>
        </p:txBody>
      </p:sp>
      <p:sp>
        <p:nvSpPr>
          <p:cNvPr id="63491" name="Rectangle 3"/>
          <p:cNvSpPr>
            <a:spLocks noGrp="1" noChangeArrowheads="1"/>
          </p:cNvSpPr>
          <p:nvPr>
            <p:ph idx="1"/>
          </p:nvPr>
        </p:nvSpPr>
        <p:spPr>
          <a:xfrm>
            <a:off x="827088" y="1916113"/>
            <a:ext cx="7791450" cy="4321175"/>
          </a:xfrm>
          <a:noFill/>
        </p:spPr>
        <p:txBody>
          <a:bodyPr lIns="90488" tIns="44450" rIns="90488" bIns="44450"/>
          <a:lstStyle/>
          <a:p>
            <a:pPr lvl="1" eaLnBrk="1" hangingPunct="1"/>
            <a:r>
              <a:rPr lang="zh-CN" altLang="en-US" sz="3200" dirty="0" smtClean="0"/>
              <a:t>对现象类别或顺序之间的间距进行的测度。数据表现为</a:t>
            </a:r>
            <a:r>
              <a:rPr lang="zh-CN" altLang="en-US" sz="3200" dirty="0" smtClean="0">
                <a:latin typeface="Arial" charset="0"/>
              </a:rPr>
              <a:t>“</a:t>
            </a:r>
            <a:r>
              <a:rPr lang="zh-CN" altLang="en-US" sz="3200" dirty="0" smtClean="0"/>
              <a:t>数值</a:t>
            </a:r>
            <a:r>
              <a:rPr lang="zh-CN" altLang="en-US" sz="3200" dirty="0" smtClean="0">
                <a:latin typeface="Arial" charset="0"/>
              </a:rPr>
              <a:t>”</a:t>
            </a:r>
            <a:endParaRPr lang="zh-CN" altLang="en-US" sz="3200" dirty="0" smtClean="0"/>
          </a:p>
          <a:p>
            <a:pPr lvl="2" eaLnBrk="1" hangingPunct="1">
              <a:buFontTx/>
              <a:buChar char="•"/>
            </a:pPr>
            <a:r>
              <a:rPr lang="zh-CN" altLang="en-US" sz="3200" b="0" dirty="0" smtClean="0">
                <a:solidFill>
                  <a:srgbClr val="000000"/>
                </a:solidFill>
              </a:rPr>
              <a:t> 如气温： </a:t>
            </a:r>
            <a:r>
              <a:rPr lang="en-US" altLang="zh-CN" sz="3200" b="0" dirty="0" smtClean="0">
                <a:solidFill>
                  <a:srgbClr val="000000"/>
                </a:solidFill>
              </a:rPr>
              <a:t>-8</a:t>
            </a:r>
            <a:r>
              <a:rPr lang="zh-CN" altLang="en-US" sz="3200" b="0" dirty="0" smtClean="0">
                <a:solidFill>
                  <a:srgbClr val="000000"/>
                </a:solidFill>
              </a:rPr>
              <a:t>、 </a:t>
            </a:r>
            <a:r>
              <a:rPr lang="en-US" altLang="zh-CN" sz="3200" b="0" dirty="0" smtClean="0">
                <a:solidFill>
                  <a:srgbClr val="000000"/>
                </a:solidFill>
              </a:rPr>
              <a:t>10</a:t>
            </a:r>
            <a:r>
              <a:rPr lang="zh-CN" altLang="en-US" sz="3200" b="0" dirty="0" smtClean="0">
                <a:solidFill>
                  <a:srgbClr val="000000"/>
                </a:solidFill>
              </a:rPr>
              <a:t>、</a:t>
            </a:r>
            <a:r>
              <a:rPr lang="en-US" altLang="zh-CN" sz="3200" b="0" dirty="0" smtClean="0">
                <a:solidFill>
                  <a:srgbClr val="000000"/>
                </a:solidFill>
              </a:rPr>
              <a:t>25</a:t>
            </a:r>
            <a:r>
              <a:rPr lang="zh-CN" altLang="en-US" sz="3200" b="0" dirty="0" smtClean="0">
                <a:solidFill>
                  <a:srgbClr val="000000"/>
                </a:solidFill>
              </a:rPr>
              <a:t>、</a:t>
            </a:r>
            <a:r>
              <a:rPr lang="en-US" altLang="zh-CN" sz="3200" b="0" dirty="0" smtClean="0">
                <a:solidFill>
                  <a:srgbClr val="000000"/>
                </a:solidFill>
                <a:latin typeface="Arial" charset="0"/>
              </a:rPr>
              <a:t>…</a:t>
            </a:r>
            <a:r>
              <a:rPr lang="zh-CN" altLang="en-US" sz="3200" b="0" dirty="0" smtClean="0">
                <a:solidFill>
                  <a:srgbClr val="000000"/>
                </a:solidFill>
              </a:rPr>
              <a:t>（</a:t>
            </a:r>
            <a:r>
              <a:rPr lang="en-US" altLang="zh-CN" sz="3200" b="0" baseline="30000" dirty="0" smtClean="0">
                <a:solidFill>
                  <a:srgbClr val="000000"/>
                </a:solidFill>
              </a:rPr>
              <a:t>0</a:t>
            </a:r>
            <a:r>
              <a:rPr lang="en-US" altLang="zh-CN" sz="3200" b="0" dirty="0" smtClean="0">
                <a:solidFill>
                  <a:srgbClr val="000000"/>
                </a:solidFill>
              </a:rPr>
              <a:t>C</a:t>
            </a:r>
            <a:r>
              <a:rPr lang="zh-CN" altLang="en-US" sz="3200" b="0" dirty="0" smtClean="0">
                <a:solidFill>
                  <a:srgbClr val="000000"/>
                </a:solidFill>
              </a:rPr>
              <a:t>）</a:t>
            </a:r>
            <a:r>
              <a:rPr lang="zh-CN" altLang="en-US" sz="3200" dirty="0" smtClean="0">
                <a:solidFill>
                  <a:srgbClr val="000000"/>
                </a:solidFill>
              </a:rPr>
              <a:t> </a:t>
            </a:r>
          </a:p>
          <a:p>
            <a:pPr lvl="1" eaLnBrk="1" hangingPunct="1"/>
            <a:r>
              <a:rPr lang="zh-CN" altLang="en-US" sz="3200" dirty="0" smtClean="0"/>
              <a:t>定距数据之间</a:t>
            </a:r>
            <a:r>
              <a:rPr lang="zh-CN" altLang="en-US" sz="3200" dirty="0" smtClean="0">
                <a:solidFill>
                  <a:srgbClr val="990000"/>
                </a:solidFill>
              </a:rPr>
              <a:t>等量的差值具有同样的含义；</a:t>
            </a:r>
            <a:r>
              <a:rPr lang="zh-CN" altLang="en-US" sz="3200" dirty="0" smtClean="0">
                <a:solidFill>
                  <a:srgbClr val="990000"/>
                </a:solidFill>
                <a:latin typeface="Arial" charset="0"/>
              </a:rPr>
              <a:t>“</a:t>
            </a:r>
            <a:r>
              <a:rPr lang="en-US" altLang="zh-CN" sz="3200" dirty="0" smtClean="0">
                <a:solidFill>
                  <a:srgbClr val="990000"/>
                </a:solidFill>
              </a:rPr>
              <a:t>0</a:t>
            </a:r>
            <a:r>
              <a:rPr lang="en-US" altLang="zh-CN" sz="3200" dirty="0" smtClean="0">
                <a:solidFill>
                  <a:srgbClr val="990000"/>
                </a:solidFill>
                <a:latin typeface="Arial" charset="0"/>
              </a:rPr>
              <a:t>”</a:t>
            </a:r>
            <a:r>
              <a:rPr lang="zh-CN" altLang="en-US" sz="3200" dirty="0" smtClean="0">
                <a:solidFill>
                  <a:srgbClr val="990000"/>
                </a:solidFill>
              </a:rPr>
              <a:t>并不表示不存在</a:t>
            </a:r>
            <a:r>
              <a:rPr lang="zh-CN" altLang="en-US" sz="3200" dirty="0" smtClean="0"/>
              <a:t>，定距数据之间比值没有意义 </a:t>
            </a:r>
          </a:p>
          <a:p>
            <a:pPr lvl="1" eaLnBrk="1" hangingPunct="1">
              <a:spcBef>
                <a:spcPct val="24000"/>
              </a:spcBef>
            </a:pPr>
            <a:r>
              <a:rPr lang="zh-CN" altLang="en-US" sz="3200" dirty="0" smtClean="0"/>
              <a:t>具有 </a:t>
            </a:r>
            <a:r>
              <a:rPr lang="en-US" altLang="zh-CN" sz="3200" dirty="0" smtClean="0">
                <a:solidFill>
                  <a:srgbClr val="C00000"/>
                </a:solidFill>
                <a:cs typeface="Times New Roman" pitchFamily="18" charset="0"/>
              </a:rPr>
              <a:t>+</a:t>
            </a:r>
            <a:r>
              <a:rPr lang="zh-CN" altLang="en-US" sz="3200" dirty="0" smtClean="0"/>
              <a:t>或 </a:t>
            </a:r>
            <a:r>
              <a:rPr lang="en-US" altLang="zh-CN" sz="3200" dirty="0" smtClean="0">
                <a:solidFill>
                  <a:srgbClr val="C00000"/>
                </a:solidFill>
                <a:ea typeface="华文宋体" pitchFamily="2" charset="-122"/>
                <a:cs typeface="Times New Roman" pitchFamily="18" charset="0"/>
              </a:rPr>
              <a:t>-</a:t>
            </a:r>
            <a:r>
              <a:rPr lang="en-US" altLang="zh-CN" sz="3200" dirty="0" smtClean="0"/>
              <a:t> </a:t>
            </a:r>
            <a:r>
              <a:rPr lang="zh-CN" altLang="en-US" sz="3200" dirty="0" smtClean="0"/>
              <a:t>的数学特性，不能运用</a:t>
            </a:r>
            <a:r>
              <a:rPr lang="en-US" altLang="zh-CN" sz="3200" dirty="0" smtClean="0"/>
              <a:t>×</a:t>
            </a:r>
            <a:r>
              <a:rPr lang="zh-CN" altLang="en-US" sz="3200" dirty="0" smtClean="0"/>
              <a:t>或</a:t>
            </a:r>
            <a:r>
              <a:rPr lang="en-US" altLang="zh-CN" sz="3200" dirty="0" smtClean="0"/>
              <a:t>÷</a:t>
            </a:r>
          </a:p>
        </p:txBody>
      </p:sp>
      <p:sp>
        <p:nvSpPr>
          <p:cNvPr id="4" name="灯片编号占位符 3"/>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67</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900113" y="0"/>
            <a:ext cx="7920037" cy="1616075"/>
          </a:xfrm>
          <a:noFill/>
        </p:spPr>
        <p:txBody>
          <a:bodyPr lIns="90488" tIns="44450" rIns="90488" bIns="44450" anchor="ctr" anchorCtr="1"/>
          <a:lstStyle/>
          <a:p>
            <a:pPr eaLnBrk="1" hangingPunct="1"/>
            <a:r>
              <a:rPr lang="zh-CN" altLang="en-US" dirty="0" smtClean="0"/>
              <a:t>定比尺度</a:t>
            </a:r>
            <a:r>
              <a:rPr lang="zh-CN" altLang="en-US" b="0" dirty="0" smtClean="0"/>
              <a:t>（比率尺度）</a:t>
            </a:r>
            <a:r>
              <a:rPr lang="en-US" altLang="zh-CN" b="0" dirty="0" smtClean="0"/>
              <a:t/>
            </a:r>
            <a:br>
              <a:rPr lang="en-US" altLang="zh-CN" b="0" dirty="0" smtClean="0"/>
            </a:br>
            <a:r>
              <a:rPr lang="zh-CN" altLang="en-US" sz="4000" b="0" dirty="0" smtClean="0">
                <a:solidFill>
                  <a:srgbClr val="0000FF"/>
                </a:solidFill>
              </a:rPr>
              <a:t> </a:t>
            </a:r>
            <a:r>
              <a:rPr lang="zh-CN" altLang="en-US" sz="4000" dirty="0" smtClean="0">
                <a:solidFill>
                  <a:srgbClr val="0000FF"/>
                </a:solidFill>
                <a:latin typeface="Arial" charset="0"/>
              </a:rPr>
              <a:t>（</a:t>
            </a:r>
            <a:r>
              <a:rPr lang="en-US" altLang="zh-CN" sz="4000" dirty="0" smtClean="0">
                <a:solidFill>
                  <a:srgbClr val="0000FF"/>
                </a:solidFill>
                <a:latin typeface="Arial" charset="0"/>
              </a:rPr>
              <a:t>Ratio Data</a:t>
            </a:r>
            <a:r>
              <a:rPr lang="zh-CN" altLang="en-US" sz="4000" b="0" dirty="0" smtClean="0">
                <a:solidFill>
                  <a:srgbClr val="0000FF"/>
                </a:solidFill>
              </a:rPr>
              <a:t>） </a:t>
            </a:r>
            <a:endParaRPr lang="zh-CN" altLang="en-US" b="0" dirty="0" smtClean="0"/>
          </a:p>
        </p:txBody>
      </p:sp>
      <p:sp>
        <p:nvSpPr>
          <p:cNvPr id="306179" name="Rectangle 3"/>
          <p:cNvSpPr>
            <a:spLocks noGrp="1" noChangeArrowheads="1"/>
          </p:cNvSpPr>
          <p:nvPr>
            <p:ph idx="1"/>
          </p:nvPr>
        </p:nvSpPr>
        <p:spPr>
          <a:xfrm>
            <a:off x="611560" y="1628800"/>
            <a:ext cx="7975600" cy="4321175"/>
          </a:xfrm>
          <a:noFill/>
        </p:spPr>
        <p:txBody>
          <a:bodyPr lIns="90488" tIns="44450" rIns="90488" bIns="44450"/>
          <a:lstStyle/>
          <a:p>
            <a:pPr lvl="1" eaLnBrk="1" hangingPunct="1"/>
            <a:r>
              <a:rPr lang="zh-CN" altLang="en-US" sz="3200" dirty="0" smtClean="0"/>
              <a:t>数据表现为</a:t>
            </a:r>
            <a:r>
              <a:rPr lang="zh-CN" altLang="en-US" sz="3200" dirty="0" smtClean="0">
                <a:latin typeface="Arial" charset="0"/>
              </a:rPr>
              <a:t>“</a:t>
            </a:r>
            <a:r>
              <a:rPr lang="zh-CN" altLang="en-US" sz="3200" dirty="0" smtClean="0"/>
              <a:t>数值</a:t>
            </a:r>
            <a:r>
              <a:rPr lang="zh-CN" altLang="en-US" sz="3200" dirty="0" smtClean="0">
                <a:latin typeface="Arial" charset="0"/>
              </a:rPr>
              <a:t>”</a:t>
            </a:r>
            <a:r>
              <a:rPr lang="zh-CN" altLang="en-US" sz="3200" dirty="0" smtClean="0"/>
              <a:t>；</a:t>
            </a:r>
          </a:p>
          <a:p>
            <a:pPr lvl="2" eaLnBrk="1" hangingPunct="1">
              <a:buFontTx/>
              <a:buChar char="•"/>
            </a:pPr>
            <a:r>
              <a:rPr lang="zh-CN" altLang="en-US" sz="3200" b="0" dirty="0" smtClean="0">
                <a:solidFill>
                  <a:srgbClr val="000000"/>
                </a:solidFill>
              </a:rPr>
              <a:t> </a:t>
            </a:r>
            <a:r>
              <a:rPr lang="zh-CN" altLang="en-US" sz="2800" b="0" dirty="0" smtClean="0">
                <a:solidFill>
                  <a:srgbClr val="000000"/>
                </a:solidFill>
              </a:rPr>
              <a:t>如设备台数、粮食库存量、销售额</a:t>
            </a:r>
            <a:r>
              <a:rPr lang="en-US" altLang="zh-CN" sz="2800" b="0" dirty="0" smtClean="0">
                <a:solidFill>
                  <a:srgbClr val="000000"/>
                </a:solidFill>
                <a:latin typeface="Arial" charset="0"/>
              </a:rPr>
              <a:t>…</a:t>
            </a:r>
            <a:r>
              <a:rPr lang="en-US" altLang="zh-CN" sz="3200" dirty="0" smtClean="0">
                <a:solidFill>
                  <a:srgbClr val="000000"/>
                </a:solidFill>
              </a:rPr>
              <a:t> </a:t>
            </a:r>
          </a:p>
          <a:p>
            <a:pPr lvl="1" eaLnBrk="1" hangingPunct="1"/>
            <a:r>
              <a:rPr lang="en-US" altLang="zh-CN" sz="3200" dirty="0" smtClean="0">
                <a:solidFill>
                  <a:srgbClr val="990000"/>
                </a:solidFill>
                <a:latin typeface="Arial" charset="0"/>
              </a:rPr>
              <a:t>“</a:t>
            </a:r>
            <a:r>
              <a:rPr lang="en-US" altLang="zh-CN" sz="3200" dirty="0" smtClean="0">
                <a:solidFill>
                  <a:srgbClr val="990000"/>
                </a:solidFill>
              </a:rPr>
              <a:t>0</a:t>
            </a:r>
            <a:r>
              <a:rPr lang="en-US" altLang="zh-CN" sz="3200" dirty="0" smtClean="0">
                <a:solidFill>
                  <a:srgbClr val="990000"/>
                </a:solidFill>
                <a:latin typeface="Arial" charset="0"/>
              </a:rPr>
              <a:t>”</a:t>
            </a:r>
            <a:r>
              <a:rPr lang="en-US" altLang="zh-CN" sz="3200" dirty="0" smtClean="0">
                <a:solidFill>
                  <a:srgbClr val="990000"/>
                </a:solidFill>
              </a:rPr>
              <a:t> </a:t>
            </a:r>
            <a:r>
              <a:rPr lang="zh-CN" altLang="en-US" sz="3200" dirty="0" smtClean="0">
                <a:solidFill>
                  <a:srgbClr val="990000"/>
                </a:solidFill>
              </a:rPr>
              <a:t>表示没有</a:t>
            </a:r>
            <a:r>
              <a:rPr lang="zh-CN" altLang="en-US" sz="3200" dirty="0" smtClean="0"/>
              <a:t>，具有 </a:t>
            </a:r>
            <a:r>
              <a:rPr lang="en-US" altLang="zh-CN" sz="3200" dirty="0" smtClean="0">
                <a:solidFill>
                  <a:srgbClr val="990000"/>
                </a:solidFill>
                <a:cs typeface="Times New Roman" pitchFamily="18" charset="0"/>
              </a:rPr>
              <a:t>+</a:t>
            </a:r>
            <a:r>
              <a:rPr lang="zh-CN" altLang="en-US" sz="3200" dirty="0" smtClean="0"/>
              <a:t>或</a:t>
            </a:r>
            <a:r>
              <a:rPr lang="zh-CN" altLang="en-US" sz="3200" dirty="0" smtClean="0">
                <a:solidFill>
                  <a:srgbClr val="990000"/>
                </a:solidFill>
              </a:rPr>
              <a:t> </a:t>
            </a:r>
            <a:r>
              <a:rPr lang="en-US" altLang="zh-CN" sz="3200" dirty="0" smtClean="0">
                <a:solidFill>
                  <a:srgbClr val="990000"/>
                </a:solidFill>
                <a:ea typeface="华文宋体" pitchFamily="2" charset="-122"/>
                <a:cs typeface="Times New Roman" pitchFamily="18" charset="0"/>
              </a:rPr>
              <a:t>-</a:t>
            </a:r>
            <a:r>
              <a:rPr lang="zh-CN" altLang="en-US" sz="3200" dirty="0" smtClean="0">
                <a:solidFill>
                  <a:srgbClr val="990000"/>
                </a:solidFill>
                <a:ea typeface="华文宋体" pitchFamily="2" charset="-122"/>
                <a:cs typeface="Times New Roman" pitchFamily="18" charset="0"/>
              </a:rPr>
              <a:t>、</a:t>
            </a:r>
            <a:r>
              <a:rPr lang="zh-CN" altLang="en-US" sz="3200" dirty="0" smtClean="0">
                <a:solidFill>
                  <a:srgbClr val="990000"/>
                </a:solidFill>
              </a:rPr>
              <a:t> </a:t>
            </a:r>
            <a:r>
              <a:rPr lang="en-US" altLang="zh-CN" sz="3200" dirty="0" smtClean="0">
                <a:solidFill>
                  <a:srgbClr val="990000"/>
                </a:solidFill>
              </a:rPr>
              <a:t>×</a:t>
            </a:r>
            <a:r>
              <a:rPr lang="zh-CN" altLang="en-US" sz="3200" dirty="0" smtClean="0"/>
              <a:t>或</a:t>
            </a:r>
            <a:r>
              <a:rPr lang="en-US" altLang="zh-CN" sz="3200" dirty="0" smtClean="0">
                <a:solidFill>
                  <a:srgbClr val="990000"/>
                </a:solidFill>
              </a:rPr>
              <a:t>÷</a:t>
            </a:r>
            <a:r>
              <a:rPr lang="zh-CN" altLang="en-US" sz="3200" dirty="0" smtClean="0"/>
              <a:t>的数学特性；</a:t>
            </a:r>
          </a:p>
          <a:p>
            <a:pPr lvl="1" eaLnBrk="1" hangingPunct="1"/>
            <a:r>
              <a:rPr lang="zh-CN" altLang="en-US" sz="3200" dirty="0" smtClean="0"/>
              <a:t>是最高的计量层次</a:t>
            </a:r>
          </a:p>
          <a:p>
            <a:pPr lvl="2" eaLnBrk="1" hangingPunct="1"/>
            <a:r>
              <a:rPr lang="zh-CN" altLang="en-US" sz="2800" dirty="0" smtClean="0"/>
              <a:t>高层次的数据包含了低层次数据的全部信息，能够转换为低层次的数据，但反之则不然。 </a:t>
            </a:r>
          </a:p>
        </p:txBody>
      </p:sp>
      <p:sp>
        <p:nvSpPr>
          <p:cNvPr id="4" name="灯片编号占位符 3"/>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68</a:t>
            </a:fld>
            <a:endParaRPr lang="en-US" altLang="zh-CN" dirty="0">
              <a:solidFill>
                <a:srgbClr val="545472"/>
              </a:solidFill>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06179">
                                            <p:txEl>
                                              <p:pRg st="1" end="1"/>
                                            </p:txEl>
                                          </p:spTgt>
                                        </p:tgtEl>
                                        <p:attrNameLst>
                                          <p:attrName>style.visibility</p:attrName>
                                        </p:attrNameLst>
                                      </p:cBhvr>
                                      <p:to>
                                        <p:strVal val="visible"/>
                                      </p:to>
                                    </p:set>
                                    <p:animEffect transition="in" filter="wipe(left)">
                                      <p:cBhvr>
                                        <p:cTn id="7" dur="500"/>
                                        <p:tgtEl>
                                          <p:spTgt spid="306179">
                                            <p:txEl>
                                              <p:pRg st="1" end="1"/>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06179">
                                            <p:txEl>
                                              <p:pRg st="2" end="2"/>
                                            </p:txEl>
                                          </p:spTgt>
                                        </p:tgtEl>
                                        <p:attrNameLst>
                                          <p:attrName>style.visibility</p:attrName>
                                        </p:attrNameLst>
                                      </p:cBhvr>
                                      <p:to>
                                        <p:strVal val="visible"/>
                                      </p:to>
                                    </p:set>
                                    <p:animEffect transition="in" filter="wipe(down)">
                                      <p:cBhvr>
                                        <p:cTn id="10" dur="500"/>
                                        <p:tgtEl>
                                          <p:spTgt spid="306179">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306179">
                                            <p:txEl>
                                              <p:pRg st="3" end="3"/>
                                            </p:txEl>
                                          </p:spTgt>
                                        </p:tgtEl>
                                        <p:attrNameLst>
                                          <p:attrName>style.visibility</p:attrName>
                                        </p:attrNameLst>
                                      </p:cBhvr>
                                      <p:to>
                                        <p:strVal val="visible"/>
                                      </p:to>
                                    </p:set>
                                    <p:animEffect transition="in" filter="wipe(down)">
                                      <p:cBhvr>
                                        <p:cTn id="15" dur="500"/>
                                        <p:tgtEl>
                                          <p:spTgt spid="306179">
                                            <p:txEl>
                                              <p:pRg st="3" end="3"/>
                                            </p:txEl>
                                          </p:spTgt>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306179">
                                            <p:txEl>
                                              <p:pRg st="4" end="4"/>
                                            </p:txEl>
                                          </p:spTgt>
                                        </p:tgtEl>
                                        <p:attrNameLst>
                                          <p:attrName>style.visibility</p:attrName>
                                        </p:attrNameLst>
                                      </p:cBhvr>
                                      <p:to>
                                        <p:strVal val="visible"/>
                                      </p:to>
                                    </p:set>
                                    <p:animEffect transition="in" filter="wipe(down)">
                                      <p:cBhvr>
                                        <p:cTn id="18" dur="500"/>
                                        <p:tgtEl>
                                          <p:spTgt spid="30617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179"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smtClean="0"/>
              <a:t>四个计量尺度的主要特征</a:t>
            </a:r>
            <a:endParaRPr lang="zh-CN" altLang="en-US" dirty="0"/>
          </a:p>
        </p:txBody>
      </p:sp>
      <p:sp>
        <p:nvSpPr>
          <p:cNvPr id="3" name="内容占位符 2"/>
          <p:cNvSpPr>
            <a:spLocks noGrp="1"/>
          </p:cNvSpPr>
          <p:nvPr>
            <p:ph idx="1"/>
          </p:nvPr>
        </p:nvSpPr>
        <p:spPr>
          <a:xfrm>
            <a:off x="755576" y="5002088"/>
            <a:ext cx="7772400" cy="1307232"/>
          </a:xfrm>
        </p:spPr>
        <p:txBody>
          <a:bodyPr/>
          <a:lstStyle/>
          <a:p>
            <a:pPr marL="84138" lvl="1" indent="373063"/>
            <a:r>
              <a:rPr lang="zh-CN" altLang="en-US" sz="2400" dirty="0" smtClean="0">
                <a:solidFill>
                  <a:srgbClr val="0070C0"/>
                </a:solidFill>
              </a:rPr>
              <a:t>不同量化层次的数据，表现形式不同、信息量不同、分析功能、分析方法也不同。</a:t>
            </a:r>
            <a:endParaRPr lang="en-US" altLang="zh-CN" sz="2400" dirty="0" smtClean="0">
              <a:solidFill>
                <a:srgbClr val="0070C0"/>
              </a:solidFill>
            </a:endParaRPr>
          </a:p>
          <a:p>
            <a:pPr marL="484188" lvl="2" indent="373063"/>
            <a:r>
              <a:rPr lang="zh-CN" altLang="en-US" sz="1800" dirty="0" smtClean="0">
                <a:solidFill>
                  <a:srgbClr val="0070C0"/>
                </a:solidFill>
              </a:rPr>
              <a:t>如研究相关关系，不同类型的数据，测度相关程度的方法就不同。</a:t>
            </a:r>
            <a:endParaRPr lang="zh-CN" altLang="en-US" sz="1800" dirty="0">
              <a:solidFill>
                <a:srgbClr val="0070C0"/>
              </a:solidFill>
            </a:endParaRPr>
          </a:p>
        </p:txBody>
      </p:sp>
      <p:pic>
        <p:nvPicPr>
          <p:cNvPr id="4" name="image10.png"/>
          <p:cNvPicPr/>
          <p:nvPr/>
        </p:nvPicPr>
        <p:blipFill>
          <a:blip r:embed="rId2" cstate="print"/>
          <a:stretch>
            <a:fillRect/>
          </a:stretch>
        </p:blipFill>
        <p:spPr>
          <a:xfrm>
            <a:off x="755576" y="1412776"/>
            <a:ext cx="7848872" cy="3456384"/>
          </a:xfrm>
          <a:prstGeom prst="rect">
            <a:avLst/>
          </a:prstGeom>
        </p:spPr>
      </p:pic>
      <p:sp>
        <p:nvSpPr>
          <p:cNvPr id="6" name="灯片编号占位符 5"/>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69</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611188" y="908050"/>
            <a:ext cx="7772400" cy="990600"/>
          </a:xfrm>
        </p:spPr>
        <p:txBody>
          <a:bodyPr/>
          <a:lstStyle/>
          <a:p>
            <a:pPr eaLnBrk="1" hangingPunct="1"/>
            <a:r>
              <a:rPr lang="en-US" altLang="zh-CN" dirty="0" smtClean="0"/>
              <a:t>§1.4  </a:t>
            </a:r>
            <a:r>
              <a:rPr lang="zh-CN" altLang="en-US" dirty="0" smtClean="0"/>
              <a:t>用</a:t>
            </a:r>
            <a:r>
              <a:rPr lang="en-US" altLang="zh-CN" dirty="0" smtClean="0"/>
              <a:t>EXCEL</a:t>
            </a:r>
            <a:r>
              <a:rPr lang="zh-CN" altLang="en-US" dirty="0" smtClean="0"/>
              <a:t>进行统计分析 </a:t>
            </a:r>
          </a:p>
        </p:txBody>
      </p:sp>
      <p:sp>
        <p:nvSpPr>
          <p:cNvPr id="66563" name="Rectangle 3"/>
          <p:cNvSpPr>
            <a:spLocks noGrp="1" noChangeArrowheads="1"/>
          </p:cNvSpPr>
          <p:nvPr>
            <p:ph idx="1"/>
          </p:nvPr>
        </p:nvSpPr>
        <p:spPr>
          <a:xfrm>
            <a:off x="2411413" y="2420938"/>
            <a:ext cx="5184775" cy="2808287"/>
          </a:xfrm>
        </p:spPr>
        <p:txBody>
          <a:bodyPr/>
          <a:lstStyle/>
          <a:p>
            <a:pPr lvl="1" algn="just" eaLnBrk="1" hangingPunct="1">
              <a:lnSpc>
                <a:spcPct val="110000"/>
              </a:lnSpc>
              <a:spcBef>
                <a:spcPct val="35000"/>
              </a:spcBef>
            </a:pPr>
            <a:r>
              <a:rPr lang="zh-CN" altLang="en-US" sz="4000" smtClean="0"/>
              <a:t>统计函数</a:t>
            </a:r>
          </a:p>
          <a:p>
            <a:pPr lvl="1" algn="just" eaLnBrk="1" hangingPunct="1">
              <a:lnSpc>
                <a:spcPct val="110000"/>
              </a:lnSpc>
              <a:spcBef>
                <a:spcPct val="35000"/>
              </a:spcBef>
            </a:pPr>
            <a:r>
              <a:rPr lang="zh-CN" altLang="en-US" sz="4000" smtClean="0"/>
              <a:t>统计图表</a:t>
            </a:r>
          </a:p>
          <a:p>
            <a:pPr lvl="1" algn="just" eaLnBrk="1" hangingPunct="1">
              <a:lnSpc>
                <a:spcPct val="110000"/>
              </a:lnSpc>
              <a:spcBef>
                <a:spcPct val="35000"/>
              </a:spcBef>
            </a:pPr>
            <a:r>
              <a:rPr lang="zh-CN" altLang="en-US" sz="4000" smtClean="0"/>
              <a:t>数据分析工具</a:t>
            </a:r>
            <a:endParaRPr lang="zh-CN" altLang="en-US" sz="3600" smtClean="0"/>
          </a:p>
        </p:txBody>
      </p:sp>
      <p:sp>
        <p:nvSpPr>
          <p:cNvPr id="4" name="灯片编号占位符 3"/>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70</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827584" y="620688"/>
            <a:ext cx="7772400" cy="604837"/>
          </a:xfrm>
        </p:spPr>
        <p:txBody>
          <a:bodyPr/>
          <a:lstStyle/>
          <a:p>
            <a:pPr eaLnBrk="1" hangingPunct="1"/>
            <a:r>
              <a:rPr lang="zh-CN" altLang="en-US" b="0" dirty="0" smtClean="0"/>
              <a:t>本章小结</a:t>
            </a:r>
          </a:p>
        </p:txBody>
      </p:sp>
      <p:sp>
        <p:nvSpPr>
          <p:cNvPr id="67587" name="Rectangle 3"/>
          <p:cNvSpPr>
            <a:spLocks noGrp="1" noChangeArrowheads="1"/>
          </p:cNvSpPr>
          <p:nvPr>
            <p:ph idx="1"/>
          </p:nvPr>
        </p:nvSpPr>
        <p:spPr>
          <a:xfrm>
            <a:off x="0" y="1412775"/>
            <a:ext cx="8820150" cy="5113437"/>
          </a:xfrm>
        </p:spPr>
        <p:txBody>
          <a:bodyPr/>
          <a:lstStyle/>
          <a:p>
            <a:pPr lvl="1" algn="just" eaLnBrk="1" hangingPunct="1"/>
            <a:r>
              <a:rPr lang="en-US" altLang="zh-CN" b="0" dirty="0" smtClean="0">
                <a:cs typeface="Times New Roman" pitchFamily="18" charset="0"/>
              </a:rPr>
              <a:t>1</a:t>
            </a:r>
            <a:r>
              <a:rPr lang="zh-CN" altLang="en-US" b="0" dirty="0" smtClean="0">
                <a:cs typeface="Times New Roman" pitchFamily="18" charset="0"/>
              </a:rPr>
              <a:t>．统计的三种涵义及其关系；统计学的主要学派和代表人物；统计研究的总体性和数量性特点。</a:t>
            </a:r>
          </a:p>
          <a:p>
            <a:pPr lvl="1" algn="just" eaLnBrk="1" hangingPunct="1"/>
            <a:r>
              <a:rPr lang="en-US" altLang="zh-CN" b="0" dirty="0" smtClean="0">
                <a:cs typeface="Times New Roman" pitchFamily="18" charset="0"/>
              </a:rPr>
              <a:t>2</a:t>
            </a:r>
            <a:r>
              <a:rPr lang="zh-CN" altLang="en-US" b="0" dirty="0" smtClean="0">
                <a:cs typeface="Times New Roman" pitchFamily="18" charset="0"/>
              </a:rPr>
              <a:t>．统计研究的基本方法</a:t>
            </a:r>
            <a:r>
              <a:rPr lang="en-US" altLang="zh-CN" b="0" dirty="0" smtClean="0">
                <a:latin typeface="Arial" charset="0"/>
                <a:cs typeface="Times New Roman" pitchFamily="18" charset="0"/>
              </a:rPr>
              <a:t>——</a:t>
            </a:r>
            <a:r>
              <a:rPr lang="zh-CN" altLang="en-US" b="0" dirty="0" smtClean="0">
                <a:cs typeface="Times New Roman" pitchFamily="18" charset="0"/>
              </a:rPr>
              <a:t>大量观察法、分组法、综合分析法、归纳推断法。</a:t>
            </a:r>
          </a:p>
          <a:p>
            <a:pPr lvl="1" algn="just" eaLnBrk="1" hangingPunct="1"/>
            <a:r>
              <a:rPr lang="en-US" altLang="zh-CN" b="0" dirty="0" smtClean="0">
                <a:cs typeface="Times New Roman" pitchFamily="18" charset="0"/>
              </a:rPr>
              <a:t>3</a:t>
            </a:r>
            <a:r>
              <a:rPr lang="zh-CN" altLang="en-US" b="0" dirty="0" smtClean="0">
                <a:cs typeface="Times New Roman" pitchFamily="18" charset="0"/>
              </a:rPr>
              <a:t>．统计的基本概念</a:t>
            </a:r>
            <a:r>
              <a:rPr lang="en-US" altLang="zh-CN" b="0" dirty="0" smtClean="0">
                <a:latin typeface="Arial" charset="0"/>
                <a:cs typeface="Times New Roman" pitchFamily="18" charset="0"/>
              </a:rPr>
              <a:t>——</a:t>
            </a:r>
            <a:r>
              <a:rPr lang="zh-CN" altLang="en-US" b="0" dirty="0" smtClean="0">
                <a:cs typeface="Times New Roman" pitchFamily="18" charset="0"/>
              </a:rPr>
              <a:t>总体、个体与样本及其关系；标志、指标与变量及其关系。</a:t>
            </a:r>
          </a:p>
          <a:p>
            <a:pPr lvl="1" algn="just" eaLnBrk="1" hangingPunct="1"/>
            <a:r>
              <a:rPr lang="en-US" altLang="zh-CN" b="0" dirty="0" smtClean="0">
                <a:cs typeface="Times New Roman" pitchFamily="18" charset="0"/>
              </a:rPr>
              <a:t>4</a:t>
            </a:r>
            <a:r>
              <a:rPr lang="zh-CN" altLang="en-US" b="0" dirty="0" smtClean="0">
                <a:cs typeface="Times New Roman" pitchFamily="18" charset="0"/>
              </a:rPr>
              <a:t>．统计数据的概念和分类</a:t>
            </a:r>
            <a:r>
              <a:rPr lang="en-US" altLang="zh-CN" b="0" dirty="0" smtClean="0">
                <a:latin typeface="Arial" charset="0"/>
                <a:cs typeface="Times New Roman" pitchFamily="18" charset="0"/>
              </a:rPr>
              <a:t>——</a:t>
            </a:r>
            <a:r>
              <a:rPr lang="zh-CN" altLang="en-US" b="0" dirty="0" smtClean="0">
                <a:cs typeface="Times New Roman" pitchFamily="18" charset="0"/>
              </a:rPr>
              <a:t>定性数据和定量数据；原始数据和综合数据；截面数据和时序数据；按计量尺度，统计数据可以分为定类数据、定序数据、定距数据和定比数据。</a:t>
            </a:r>
          </a:p>
        </p:txBody>
      </p:sp>
      <p:sp>
        <p:nvSpPr>
          <p:cNvPr id="4" name="灯片编号占位符 3"/>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71</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476672"/>
            <a:ext cx="7772400" cy="990600"/>
          </a:xfrm>
        </p:spPr>
        <p:txBody>
          <a:bodyPr/>
          <a:lstStyle/>
          <a:p>
            <a:r>
              <a:rPr lang="zh-CN" altLang="en-US" dirty="0" smtClean="0"/>
              <a:t>如何学好统计</a:t>
            </a:r>
            <a:endParaRPr lang="zh-CN" altLang="en-US" dirty="0"/>
          </a:p>
        </p:txBody>
      </p:sp>
      <p:sp>
        <p:nvSpPr>
          <p:cNvPr id="3" name="内容占位符 2"/>
          <p:cNvSpPr>
            <a:spLocks noGrp="1"/>
          </p:cNvSpPr>
          <p:nvPr>
            <p:ph idx="1"/>
          </p:nvPr>
        </p:nvSpPr>
        <p:spPr>
          <a:xfrm>
            <a:off x="755576" y="1772816"/>
            <a:ext cx="7776864" cy="4547592"/>
          </a:xfrm>
        </p:spPr>
        <p:txBody>
          <a:bodyPr/>
          <a:lstStyle/>
          <a:p>
            <a:pPr>
              <a:lnSpc>
                <a:spcPct val="130000"/>
              </a:lnSpc>
              <a:spcBef>
                <a:spcPts val="600"/>
              </a:spcBef>
            </a:pPr>
            <a:r>
              <a:rPr lang="zh-CN" altLang="en-US" dirty="0" smtClean="0">
                <a:solidFill>
                  <a:srgbClr val="000000"/>
                </a:solidFill>
              </a:rPr>
              <a:t>看（听）</a:t>
            </a:r>
            <a:r>
              <a:rPr lang="en-US" altLang="zh-CN" sz="2800" dirty="0" smtClean="0">
                <a:solidFill>
                  <a:srgbClr val="000000"/>
                </a:solidFill>
              </a:rPr>
              <a:t>——</a:t>
            </a:r>
            <a:r>
              <a:rPr lang="zh-CN" altLang="en-US" sz="2800" dirty="0" smtClean="0">
                <a:solidFill>
                  <a:srgbClr val="000000"/>
                </a:solidFill>
              </a:rPr>
              <a:t>认真听讲、读教材（包括指导书）和参考文献（包括其他教材、案例分析、热点问题分析）</a:t>
            </a:r>
            <a:endParaRPr lang="en-US" altLang="zh-CN" dirty="0" smtClean="0">
              <a:solidFill>
                <a:srgbClr val="000000"/>
              </a:solidFill>
            </a:endParaRPr>
          </a:p>
          <a:p>
            <a:pPr>
              <a:lnSpc>
                <a:spcPct val="130000"/>
              </a:lnSpc>
              <a:spcBef>
                <a:spcPts val="600"/>
              </a:spcBef>
            </a:pPr>
            <a:r>
              <a:rPr lang="zh-CN" altLang="en-US" dirty="0" smtClean="0">
                <a:solidFill>
                  <a:srgbClr val="000000"/>
                </a:solidFill>
              </a:rPr>
              <a:t>练</a:t>
            </a:r>
            <a:r>
              <a:rPr lang="en-US" altLang="zh-CN" sz="2800" dirty="0" smtClean="0">
                <a:solidFill>
                  <a:srgbClr val="000000"/>
                </a:solidFill>
              </a:rPr>
              <a:t>——</a:t>
            </a:r>
            <a:r>
              <a:rPr lang="zh-CN" altLang="en-US" sz="2800" dirty="0" smtClean="0">
                <a:solidFill>
                  <a:srgbClr val="000000"/>
                </a:solidFill>
              </a:rPr>
              <a:t>复习，及时练习（包括后面的计算所需运用的上机操作练习），</a:t>
            </a:r>
            <a:endParaRPr lang="en-US" altLang="zh-CN" sz="2800" dirty="0" smtClean="0">
              <a:solidFill>
                <a:srgbClr val="000000"/>
              </a:solidFill>
            </a:endParaRPr>
          </a:p>
          <a:p>
            <a:pPr>
              <a:lnSpc>
                <a:spcPct val="130000"/>
              </a:lnSpc>
              <a:spcBef>
                <a:spcPts val="600"/>
              </a:spcBef>
            </a:pPr>
            <a:r>
              <a:rPr lang="zh-CN" altLang="en-US" dirty="0" smtClean="0">
                <a:solidFill>
                  <a:srgbClr val="000000"/>
                </a:solidFill>
              </a:rPr>
              <a:t>想</a:t>
            </a:r>
            <a:r>
              <a:rPr lang="en-US" altLang="zh-CN" sz="2800" dirty="0" smtClean="0">
                <a:solidFill>
                  <a:srgbClr val="000000"/>
                </a:solidFill>
              </a:rPr>
              <a:t>——</a:t>
            </a:r>
            <a:r>
              <a:rPr lang="zh-CN" altLang="en-US" sz="2800" dirty="0" smtClean="0">
                <a:solidFill>
                  <a:srgbClr val="000000"/>
                </a:solidFill>
              </a:rPr>
              <a:t>积极思考，讨论，紧密联系实际</a:t>
            </a:r>
            <a:endParaRPr lang="zh-CN" altLang="en-US" dirty="0">
              <a:solidFill>
                <a:srgbClr val="000000"/>
              </a:solidFill>
            </a:endParaRPr>
          </a:p>
        </p:txBody>
      </p:sp>
      <p:sp>
        <p:nvSpPr>
          <p:cNvPr id="4" name="灯片编号占位符 3"/>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72</a:t>
            </a:fld>
            <a:endParaRPr lang="en-US" altLang="zh-CN" dirty="0">
              <a:solidFill>
                <a:srgbClr val="545472"/>
              </a:solidFill>
            </a:endParaRPr>
          </a:p>
        </p:txBody>
      </p:sp>
    </p:spTree>
    <p:extLst>
      <p:ext uri="{BB962C8B-B14F-4D97-AF65-F5344CB8AC3E}">
        <p14:creationId xmlns:p14="http://schemas.microsoft.com/office/powerpoint/2010/main" val="809247875"/>
      </p:ext>
    </p:extLst>
  </p:cSld>
  <p:clrMapOvr>
    <a:masterClrMapping/>
  </p:clrMapOvr>
  <p:transition>
    <p:wipe dir="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2"/>
          <p:cNvSpPr txBox="1">
            <a:spLocks noChangeArrowheads="1"/>
          </p:cNvSpPr>
          <p:nvPr/>
        </p:nvSpPr>
        <p:spPr bwMode="auto">
          <a:xfrm>
            <a:off x="1043756" y="908720"/>
            <a:ext cx="7632700" cy="5016758"/>
          </a:xfrm>
          <a:prstGeom prst="rect">
            <a:avLst/>
          </a:prstGeom>
          <a:noFill/>
          <a:ln w="9525">
            <a:noFill/>
            <a:miter lim="800000"/>
            <a:headEnd/>
            <a:tailEnd/>
          </a:ln>
        </p:spPr>
        <p:txBody>
          <a:bodyPr>
            <a:spAutoFit/>
          </a:bodyPr>
          <a:lstStyle/>
          <a:p>
            <a:pPr algn="just">
              <a:lnSpc>
                <a:spcPct val="100000"/>
              </a:lnSpc>
              <a:spcBef>
                <a:spcPts val="1200"/>
              </a:spcBef>
              <a:buClrTx/>
              <a:buSzTx/>
              <a:buFontTx/>
              <a:buChar char="•"/>
            </a:pPr>
            <a:r>
              <a:rPr kumimoji="1" lang="en-US" altLang="zh-CN" u="sng" dirty="0" smtClean="0">
                <a:solidFill>
                  <a:srgbClr val="FF3399"/>
                </a:solidFill>
              </a:rPr>
              <a:t>《</a:t>
            </a:r>
            <a:r>
              <a:rPr kumimoji="1" lang="zh-CN" altLang="en-US" u="sng" dirty="0">
                <a:solidFill>
                  <a:srgbClr val="FF3399"/>
                </a:solidFill>
              </a:rPr>
              <a:t>商务与经济统计</a:t>
            </a:r>
            <a:r>
              <a:rPr kumimoji="1" lang="en-US" altLang="zh-CN" u="sng" dirty="0" smtClean="0">
                <a:solidFill>
                  <a:srgbClr val="FF3399"/>
                </a:solidFill>
              </a:rPr>
              <a:t>》(</a:t>
            </a:r>
            <a:r>
              <a:rPr kumimoji="1" lang="zh-CN" altLang="en-US" u="sng" dirty="0" smtClean="0">
                <a:solidFill>
                  <a:srgbClr val="FF3399"/>
                </a:solidFill>
              </a:rPr>
              <a:t>中</a:t>
            </a:r>
            <a:r>
              <a:rPr kumimoji="1" lang="en-US" altLang="zh-CN" u="sng" dirty="0" smtClean="0">
                <a:solidFill>
                  <a:srgbClr val="FF3399"/>
                </a:solidFill>
              </a:rPr>
              <a:t>/</a:t>
            </a:r>
            <a:r>
              <a:rPr kumimoji="1" lang="zh-CN" altLang="en-US" u="sng" dirty="0" smtClean="0">
                <a:solidFill>
                  <a:srgbClr val="FF3399"/>
                </a:solidFill>
              </a:rPr>
              <a:t>英文）</a:t>
            </a:r>
            <a:r>
              <a:rPr kumimoji="1" lang="zh-CN" altLang="en-US" dirty="0" smtClean="0">
                <a:solidFill>
                  <a:srgbClr val="006600"/>
                </a:solidFill>
              </a:rPr>
              <a:t>，（</a:t>
            </a:r>
            <a:r>
              <a:rPr lang="zh-CN" altLang="en-US" dirty="0"/>
              <a:t>戴维</a:t>
            </a:r>
            <a:r>
              <a:rPr lang="en-US" altLang="zh-CN" dirty="0"/>
              <a:t>.</a:t>
            </a:r>
            <a:r>
              <a:rPr lang="zh-CN" altLang="en-US" dirty="0"/>
              <a:t>安德森</a:t>
            </a:r>
            <a:r>
              <a:rPr lang="en-US" altLang="zh-CN" dirty="0"/>
              <a:t>〔</a:t>
            </a:r>
            <a:r>
              <a:rPr lang="zh-CN" altLang="en-US" dirty="0"/>
              <a:t>美</a:t>
            </a:r>
            <a:r>
              <a:rPr lang="en-US" altLang="zh-CN" dirty="0"/>
              <a:t>〕</a:t>
            </a:r>
            <a:r>
              <a:rPr kumimoji="1" lang="zh-CN" altLang="en-US" dirty="0">
                <a:solidFill>
                  <a:srgbClr val="006600"/>
                </a:solidFill>
              </a:rPr>
              <a:t>）张建华等译，机械工业出版社</a:t>
            </a:r>
          </a:p>
          <a:p>
            <a:pPr algn="just">
              <a:lnSpc>
                <a:spcPct val="100000"/>
              </a:lnSpc>
              <a:spcBef>
                <a:spcPts val="1200"/>
              </a:spcBef>
              <a:buClrTx/>
              <a:buSzTx/>
              <a:buFontTx/>
              <a:buChar char="•"/>
            </a:pPr>
            <a:r>
              <a:rPr kumimoji="1" lang="en-US" altLang="zh-CN" dirty="0">
                <a:solidFill>
                  <a:srgbClr val="FF3399"/>
                </a:solidFill>
              </a:rPr>
              <a:t>《 </a:t>
            </a:r>
            <a:r>
              <a:rPr kumimoji="1" lang="zh-CN" altLang="en-US" dirty="0">
                <a:solidFill>
                  <a:srgbClr val="FF3399"/>
                </a:solidFill>
              </a:rPr>
              <a:t>统计学</a:t>
            </a:r>
            <a:r>
              <a:rPr kumimoji="1" lang="en-US" altLang="zh-CN" dirty="0">
                <a:solidFill>
                  <a:srgbClr val="FF3399"/>
                </a:solidFill>
              </a:rPr>
              <a:t>》</a:t>
            </a:r>
            <a:r>
              <a:rPr kumimoji="1" lang="zh-CN" altLang="en-US" sz="2000" b="0" dirty="0" smtClean="0">
                <a:solidFill>
                  <a:srgbClr val="006600"/>
                </a:solidFill>
              </a:rPr>
              <a:t>，</a:t>
            </a:r>
            <a:r>
              <a:rPr kumimoji="1" lang="zh-CN" altLang="en-US" dirty="0" smtClean="0">
                <a:solidFill>
                  <a:srgbClr val="006600"/>
                </a:solidFill>
              </a:rPr>
              <a:t>袁 卫  庞皓  </a:t>
            </a:r>
            <a:r>
              <a:rPr kumimoji="1" lang="zh-CN" altLang="en-US" dirty="0">
                <a:solidFill>
                  <a:srgbClr val="006600"/>
                </a:solidFill>
              </a:rPr>
              <a:t>曾五一  等主编 ，高等教育出版社  </a:t>
            </a:r>
            <a:r>
              <a:rPr kumimoji="1" lang="en-US" altLang="zh-CN" sz="2400" dirty="0">
                <a:solidFill>
                  <a:srgbClr val="006600"/>
                </a:solidFill>
              </a:rPr>
              <a:t>【</a:t>
            </a:r>
            <a:r>
              <a:rPr kumimoji="1" lang="zh-CN" altLang="en-US" sz="2400" dirty="0">
                <a:solidFill>
                  <a:srgbClr val="006600"/>
                </a:solidFill>
              </a:rPr>
              <a:t>配</a:t>
            </a:r>
            <a:r>
              <a:rPr kumimoji="1" lang="en-US" altLang="zh-CN" sz="2400" dirty="0">
                <a:solidFill>
                  <a:srgbClr val="006600"/>
                </a:solidFill>
              </a:rPr>
              <a:t>《</a:t>
            </a:r>
            <a:r>
              <a:rPr kumimoji="1" lang="zh-CN" altLang="en-US" sz="2400" dirty="0">
                <a:solidFill>
                  <a:srgbClr val="006600"/>
                </a:solidFill>
              </a:rPr>
              <a:t>案例与习题</a:t>
            </a:r>
            <a:r>
              <a:rPr kumimoji="1" lang="en-US" altLang="zh-CN" sz="2400" dirty="0">
                <a:solidFill>
                  <a:srgbClr val="006600"/>
                </a:solidFill>
              </a:rPr>
              <a:t>》】</a:t>
            </a:r>
          </a:p>
          <a:p>
            <a:pPr algn="just">
              <a:lnSpc>
                <a:spcPct val="100000"/>
              </a:lnSpc>
              <a:spcBef>
                <a:spcPts val="1200"/>
              </a:spcBef>
              <a:buClrTx/>
              <a:buSzTx/>
              <a:buFontTx/>
              <a:buChar char="•"/>
            </a:pPr>
            <a:r>
              <a:rPr kumimoji="1" lang="en-US" altLang="zh-CN" dirty="0">
                <a:solidFill>
                  <a:srgbClr val="FF3399"/>
                </a:solidFill>
              </a:rPr>
              <a:t>《</a:t>
            </a:r>
            <a:r>
              <a:rPr kumimoji="1" lang="zh-CN" altLang="en-US" dirty="0">
                <a:solidFill>
                  <a:srgbClr val="FF3399"/>
                </a:solidFill>
              </a:rPr>
              <a:t>统计学导论</a:t>
            </a:r>
            <a:r>
              <a:rPr kumimoji="1" lang="en-US" altLang="zh-CN" dirty="0">
                <a:solidFill>
                  <a:srgbClr val="FF3399"/>
                </a:solidFill>
              </a:rPr>
              <a:t>》</a:t>
            </a:r>
            <a:r>
              <a:rPr lang="zh-CN" altLang="en-US" dirty="0">
                <a:solidFill>
                  <a:srgbClr val="000000"/>
                </a:solidFill>
              </a:rPr>
              <a:t>（</a:t>
            </a:r>
            <a:r>
              <a:rPr lang="zh-CN" altLang="en-US" dirty="0" smtClean="0">
                <a:solidFill>
                  <a:srgbClr val="000000"/>
                </a:solidFill>
              </a:rPr>
              <a:t>第三版）</a:t>
            </a:r>
            <a:r>
              <a:rPr lang="zh-CN" altLang="en-US" dirty="0">
                <a:solidFill>
                  <a:srgbClr val="000000"/>
                </a:solidFill>
              </a:rPr>
              <a:t>科学</a:t>
            </a:r>
            <a:r>
              <a:rPr lang="zh-CN" altLang="en-US" dirty="0" smtClean="0">
                <a:solidFill>
                  <a:srgbClr val="000000"/>
                </a:solidFill>
              </a:rPr>
              <a:t>出版社  </a:t>
            </a:r>
            <a:r>
              <a:rPr lang="zh-CN" altLang="en-US" dirty="0" smtClean="0"/>
              <a:t>曾</a:t>
            </a:r>
            <a:r>
              <a:rPr lang="zh-CN" altLang="en-US" dirty="0"/>
              <a:t>五一、肖红叶主编</a:t>
            </a:r>
          </a:p>
          <a:p>
            <a:pPr algn="just">
              <a:lnSpc>
                <a:spcPct val="100000"/>
              </a:lnSpc>
              <a:spcBef>
                <a:spcPts val="1200"/>
              </a:spcBef>
              <a:buClrTx/>
              <a:buSzTx/>
              <a:buFontTx/>
              <a:buChar char="•"/>
            </a:pPr>
            <a:r>
              <a:rPr kumimoji="1" lang="en-US" altLang="zh-CN" dirty="0">
                <a:solidFill>
                  <a:srgbClr val="FF3399"/>
                </a:solidFill>
              </a:rPr>
              <a:t>《</a:t>
            </a:r>
            <a:r>
              <a:rPr kumimoji="1" lang="zh-CN" altLang="en-US" dirty="0">
                <a:solidFill>
                  <a:srgbClr val="FF3399"/>
                </a:solidFill>
              </a:rPr>
              <a:t>统计学：从数据到结论</a:t>
            </a:r>
            <a:r>
              <a:rPr kumimoji="1" lang="en-US" altLang="zh-CN" dirty="0">
                <a:solidFill>
                  <a:srgbClr val="FF3399"/>
                </a:solidFill>
              </a:rPr>
              <a:t>》</a:t>
            </a:r>
            <a:r>
              <a:rPr kumimoji="1" lang="zh-CN" altLang="en-US" b="0" dirty="0">
                <a:solidFill>
                  <a:srgbClr val="006600"/>
                </a:solidFill>
              </a:rPr>
              <a:t>，</a:t>
            </a:r>
            <a:r>
              <a:rPr kumimoji="1" lang="zh-CN" altLang="en-US" dirty="0">
                <a:solidFill>
                  <a:srgbClr val="006600"/>
                </a:solidFill>
              </a:rPr>
              <a:t>吴喜之，中国统计出版社</a:t>
            </a:r>
            <a:r>
              <a:rPr kumimoji="1" lang="en-US" altLang="zh-CN" b="0" dirty="0">
                <a:solidFill>
                  <a:srgbClr val="006600"/>
                </a:solidFill>
              </a:rPr>
              <a:t>【+SPSS,</a:t>
            </a:r>
            <a:r>
              <a:rPr kumimoji="1" lang="zh-CN" altLang="en-US" b="0" dirty="0">
                <a:solidFill>
                  <a:srgbClr val="006600"/>
                </a:solidFill>
              </a:rPr>
              <a:t>另有配套的学习指导书</a:t>
            </a:r>
            <a:r>
              <a:rPr kumimoji="1" lang="en-US" altLang="zh-CN" b="0" dirty="0">
                <a:solidFill>
                  <a:srgbClr val="006600"/>
                </a:solidFill>
              </a:rPr>
              <a:t>】</a:t>
            </a:r>
            <a:r>
              <a:rPr kumimoji="1" lang="en-US" altLang="zh-CN" dirty="0">
                <a:solidFill>
                  <a:srgbClr val="006600"/>
                </a:solidFill>
              </a:rPr>
              <a:t> </a:t>
            </a:r>
          </a:p>
          <a:p>
            <a:pPr algn="just">
              <a:lnSpc>
                <a:spcPct val="100000"/>
              </a:lnSpc>
              <a:spcBef>
                <a:spcPts val="1200"/>
              </a:spcBef>
              <a:buClrTx/>
              <a:buSzTx/>
              <a:buFontTx/>
              <a:buChar char="•"/>
            </a:pPr>
            <a:r>
              <a:rPr kumimoji="1" lang="en-US" altLang="zh-CN" dirty="0">
                <a:solidFill>
                  <a:srgbClr val="FF3399"/>
                </a:solidFill>
              </a:rPr>
              <a:t>《</a:t>
            </a:r>
            <a:r>
              <a:rPr kumimoji="1" lang="zh-CN" altLang="en-US" dirty="0">
                <a:solidFill>
                  <a:srgbClr val="FF3399"/>
                </a:solidFill>
              </a:rPr>
              <a:t>国民经济核算及分析</a:t>
            </a:r>
            <a:r>
              <a:rPr kumimoji="1" lang="en-US" altLang="zh-CN" dirty="0" smtClean="0">
                <a:solidFill>
                  <a:srgbClr val="FF3399"/>
                </a:solidFill>
              </a:rPr>
              <a:t>》</a:t>
            </a:r>
            <a:r>
              <a:rPr kumimoji="1" lang="zh-CN" altLang="en-US" b="0" dirty="0" smtClean="0">
                <a:solidFill>
                  <a:srgbClr val="006600"/>
                </a:solidFill>
              </a:rPr>
              <a:t>，</a:t>
            </a:r>
            <a:r>
              <a:rPr kumimoji="1" lang="zh-CN" altLang="en-US" b="0" dirty="0">
                <a:solidFill>
                  <a:srgbClr val="006600"/>
                </a:solidFill>
              </a:rPr>
              <a:t>向蓉美 杨作廪 王青华   西南财大</a:t>
            </a:r>
            <a:r>
              <a:rPr kumimoji="1" lang="zh-CN" altLang="en-US" b="0" dirty="0" smtClean="0">
                <a:solidFill>
                  <a:srgbClr val="006600"/>
                </a:solidFill>
              </a:rPr>
              <a:t>出版社</a:t>
            </a:r>
            <a:endParaRPr kumimoji="1" lang="en-US" altLang="zh-CN" b="0" dirty="0">
              <a:solidFill>
                <a:srgbClr val="006600"/>
              </a:solidFill>
            </a:endParaRPr>
          </a:p>
        </p:txBody>
      </p:sp>
      <p:sp>
        <p:nvSpPr>
          <p:cNvPr id="69635" name="Rectangle 3"/>
          <p:cNvSpPr>
            <a:spLocks noGrp="1" noChangeArrowheads="1"/>
          </p:cNvSpPr>
          <p:nvPr>
            <p:ph type="title"/>
          </p:nvPr>
        </p:nvSpPr>
        <p:spPr>
          <a:xfrm>
            <a:off x="0" y="981075"/>
            <a:ext cx="1143000" cy="2590800"/>
          </a:xfrm>
        </p:spPr>
        <p:txBody>
          <a:bodyPr/>
          <a:lstStyle/>
          <a:p>
            <a:pPr eaLnBrk="1" hangingPunct="1"/>
            <a:r>
              <a:rPr lang="zh-CN" altLang="en-US" dirty="0" smtClean="0"/>
              <a:t>参考书目</a:t>
            </a:r>
          </a:p>
        </p:txBody>
      </p:sp>
      <p:sp>
        <p:nvSpPr>
          <p:cNvPr id="4" name="灯片编号占位符 3"/>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73</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3" name="Rectangle 5"/>
          <p:cNvSpPr>
            <a:spLocks noGrp="1" noChangeArrowheads="1"/>
          </p:cNvSpPr>
          <p:nvPr>
            <p:ph type="title"/>
          </p:nvPr>
        </p:nvSpPr>
        <p:spPr>
          <a:xfrm>
            <a:off x="1143000" y="357188"/>
            <a:ext cx="6885384" cy="785812"/>
          </a:xfrm>
        </p:spPr>
        <p:txBody>
          <a:bodyPr/>
          <a:lstStyle/>
          <a:p>
            <a:pPr eaLnBrk="1" hangingPunct="1"/>
            <a:r>
              <a:rPr lang="zh-CN" altLang="en-US" dirty="0" smtClean="0">
                <a:solidFill>
                  <a:srgbClr val="0000FF"/>
                </a:solidFill>
              </a:rPr>
              <a:t>学习</a:t>
            </a:r>
            <a:r>
              <a:rPr lang="zh-CN" altLang="en-US" dirty="0" smtClean="0"/>
              <a:t>要求与考试</a:t>
            </a:r>
          </a:p>
        </p:txBody>
      </p:sp>
      <p:sp>
        <p:nvSpPr>
          <p:cNvPr id="68610" name="Rectangle 2"/>
          <p:cNvSpPr>
            <a:spLocks noGrp="1" noChangeArrowheads="1"/>
          </p:cNvSpPr>
          <p:nvPr>
            <p:ph idx="1"/>
          </p:nvPr>
        </p:nvSpPr>
        <p:spPr>
          <a:xfrm>
            <a:off x="642938" y="1286446"/>
            <a:ext cx="7572375" cy="1998538"/>
          </a:xfrm>
        </p:spPr>
        <p:txBody>
          <a:bodyPr/>
          <a:lstStyle/>
          <a:p>
            <a:pPr marL="571500" indent="-571500" eaLnBrk="1" hangingPunct="1">
              <a:lnSpc>
                <a:spcPct val="115000"/>
              </a:lnSpc>
              <a:buNone/>
            </a:pPr>
            <a:r>
              <a:rPr lang="zh-CN" altLang="en-US" sz="3000" dirty="0" smtClean="0">
                <a:solidFill>
                  <a:srgbClr val="FF0000"/>
                </a:solidFill>
              </a:rPr>
              <a:t>作业</a:t>
            </a:r>
            <a:r>
              <a:rPr lang="zh-CN" altLang="en-US" sz="3000" b="0" dirty="0" smtClean="0">
                <a:solidFill>
                  <a:srgbClr val="FF0000"/>
                </a:solidFill>
              </a:rPr>
              <a:t>：</a:t>
            </a:r>
            <a:r>
              <a:rPr lang="zh-CN" altLang="en-US" sz="3000" b="0" dirty="0" smtClean="0">
                <a:solidFill>
                  <a:srgbClr val="000000"/>
                </a:solidFill>
              </a:rPr>
              <a:t>课外练习为主，随堂练习为辅</a:t>
            </a:r>
            <a:endParaRPr lang="en-US" altLang="zh-CN" sz="3000" b="0" dirty="0" smtClean="0">
              <a:solidFill>
                <a:srgbClr val="000000"/>
              </a:solidFill>
            </a:endParaRPr>
          </a:p>
          <a:p>
            <a:pPr marL="571500" indent="-571500" eaLnBrk="1" hangingPunct="1">
              <a:lnSpc>
                <a:spcPct val="115000"/>
              </a:lnSpc>
              <a:buNone/>
            </a:pPr>
            <a:r>
              <a:rPr lang="zh-CN" altLang="en-US" sz="3000" dirty="0" smtClean="0"/>
              <a:t>课后辅导答疑</a:t>
            </a:r>
            <a:r>
              <a:rPr lang="en-US" altLang="zh-CN" sz="2800" b="0" dirty="0" smtClean="0">
                <a:solidFill>
                  <a:srgbClr val="000000"/>
                </a:solidFill>
                <a:latin typeface="+mn-ea"/>
              </a:rPr>
              <a:t>:</a:t>
            </a:r>
            <a:r>
              <a:rPr lang="zh-CN" altLang="en-US" sz="2800" b="0" dirty="0" smtClean="0">
                <a:solidFill>
                  <a:srgbClr val="000000"/>
                </a:solidFill>
                <a:latin typeface="+mn-ea"/>
              </a:rPr>
              <a:t>线上（学习通、</a:t>
            </a:r>
            <a:r>
              <a:rPr lang="en-US" altLang="zh-CN" sz="2800" b="0" dirty="0" smtClean="0">
                <a:solidFill>
                  <a:srgbClr val="000000"/>
                </a:solidFill>
                <a:latin typeface="+mn-ea"/>
              </a:rPr>
              <a:t>QQ</a:t>
            </a:r>
            <a:r>
              <a:rPr lang="zh-CN" altLang="en-US" sz="2800" b="0" dirty="0" smtClean="0">
                <a:solidFill>
                  <a:srgbClr val="000000"/>
                </a:solidFill>
                <a:latin typeface="+mn-ea"/>
              </a:rPr>
              <a:t>群）、现场</a:t>
            </a:r>
            <a:endParaRPr lang="en-US" altLang="zh-CN" sz="2800" b="0" dirty="0" smtClean="0">
              <a:solidFill>
                <a:srgbClr val="000000"/>
              </a:solidFill>
              <a:latin typeface="+mn-ea"/>
            </a:endParaRPr>
          </a:p>
          <a:p>
            <a:pPr marL="571500" indent="-571500" eaLnBrk="1" hangingPunct="1">
              <a:lnSpc>
                <a:spcPct val="115000"/>
              </a:lnSpc>
              <a:buNone/>
            </a:pPr>
            <a:r>
              <a:rPr lang="zh-CN" altLang="en-US" sz="3000" dirty="0" smtClean="0">
                <a:solidFill>
                  <a:srgbClr val="FF0066"/>
                </a:solidFill>
              </a:rPr>
              <a:t>考核方式：</a:t>
            </a:r>
            <a:endParaRPr lang="en-US" altLang="zh-CN" sz="3000" dirty="0" smtClean="0">
              <a:solidFill>
                <a:srgbClr val="000000"/>
              </a:solidFill>
            </a:endParaRPr>
          </a:p>
          <a:p>
            <a:pPr marL="571500" indent="-571500" eaLnBrk="1" hangingPunct="1">
              <a:lnSpc>
                <a:spcPct val="115000"/>
              </a:lnSpc>
            </a:pPr>
            <a:endParaRPr lang="zh-CN" altLang="en-US" sz="3000" b="0" dirty="0" smtClean="0">
              <a:solidFill>
                <a:srgbClr val="000000"/>
              </a:solidFill>
            </a:endParaRPr>
          </a:p>
          <a:p>
            <a:pPr marL="571500" indent="-571500" eaLnBrk="1" hangingPunct="1">
              <a:lnSpc>
                <a:spcPct val="115000"/>
              </a:lnSpc>
            </a:pPr>
            <a:endParaRPr lang="zh-CN" altLang="en-US" sz="3000" dirty="0" smtClean="0">
              <a:solidFill>
                <a:srgbClr val="FF0066"/>
              </a:solidFill>
            </a:endParaRPr>
          </a:p>
        </p:txBody>
      </p:sp>
      <p:pic>
        <p:nvPicPr>
          <p:cNvPr id="68611" name="Picture 3" descr="Ar_021"/>
          <p:cNvPicPr>
            <a:picLocks noChangeAspect="1" noChangeArrowheads="1"/>
          </p:cNvPicPr>
          <p:nvPr/>
        </p:nvPicPr>
        <p:blipFill>
          <a:blip r:embed="rId3" cstate="print"/>
          <a:srcRect/>
          <a:stretch>
            <a:fillRect/>
          </a:stretch>
        </p:blipFill>
        <p:spPr bwMode="auto">
          <a:xfrm>
            <a:off x="971600" y="404664"/>
            <a:ext cx="647700" cy="581025"/>
          </a:xfrm>
          <a:prstGeom prst="rect">
            <a:avLst/>
          </a:prstGeom>
          <a:noFill/>
          <a:ln w="9525">
            <a:noFill/>
            <a:miter lim="800000"/>
            <a:headEnd/>
            <a:tailEnd/>
          </a:ln>
        </p:spPr>
      </p:pic>
      <p:pic>
        <p:nvPicPr>
          <p:cNvPr id="68612" name="Picture 4" descr="z025"/>
          <p:cNvPicPr>
            <a:picLocks noChangeAspect="1" noChangeArrowheads="1" noCrop="1"/>
          </p:cNvPicPr>
          <p:nvPr/>
        </p:nvPicPr>
        <p:blipFill>
          <a:blip r:embed="rId4" cstate="print"/>
          <a:srcRect/>
          <a:stretch>
            <a:fillRect/>
          </a:stretch>
        </p:blipFill>
        <p:spPr bwMode="auto">
          <a:xfrm>
            <a:off x="8067675" y="0"/>
            <a:ext cx="1076325" cy="1000125"/>
          </a:xfrm>
          <a:prstGeom prst="rect">
            <a:avLst/>
          </a:prstGeom>
          <a:noFill/>
          <a:ln w="9525">
            <a:noFill/>
            <a:miter lim="800000"/>
            <a:headEnd/>
            <a:tailEnd/>
          </a:ln>
        </p:spPr>
      </p:pic>
      <p:graphicFrame>
        <p:nvGraphicFramePr>
          <p:cNvPr id="6" name="表格 5"/>
          <p:cNvGraphicFramePr>
            <a:graphicFrameLocks noGrp="1"/>
          </p:cNvGraphicFramePr>
          <p:nvPr/>
        </p:nvGraphicFramePr>
        <p:xfrm>
          <a:off x="395536" y="3247714"/>
          <a:ext cx="8358246" cy="2125502"/>
        </p:xfrm>
        <a:graphic>
          <a:graphicData uri="http://schemas.openxmlformats.org/drawingml/2006/table">
            <a:tbl>
              <a:tblPr/>
              <a:tblGrid>
                <a:gridCol w="857256">
                  <a:extLst>
                    <a:ext uri="{9D8B030D-6E8A-4147-A177-3AD203B41FA5}">
                      <a16:colId xmlns:a16="http://schemas.microsoft.com/office/drawing/2014/main" val="20000"/>
                    </a:ext>
                  </a:extLst>
                </a:gridCol>
                <a:gridCol w="2214578">
                  <a:extLst>
                    <a:ext uri="{9D8B030D-6E8A-4147-A177-3AD203B41FA5}">
                      <a16:colId xmlns:a16="http://schemas.microsoft.com/office/drawing/2014/main" val="20001"/>
                    </a:ext>
                  </a:extLst>
                </a:gridCol>
                <a:gridCol w="4236912">
                  <a:extLst>
                    <a:ext uri="{9D8B030D-6E8A-4147-A177-3AD203B41FA5}">
                      <a16:colId xmlns:a16="http://schemas.microsoft.com/office/drawing/2014/main" val="20002"/>
                    </a:ext>
                  </a:extLst>
                </a:gridCol>
                <a:gridCol w="1049500">
                  <a:extLst>
                    <a:ext uri="{9D8B030D-6E8A-4147-A177-3AD203B41FA5}">
                      <a16:colId xmlns:a16="http://schemas.microsoft.com/office/drawing/2014/main" val="20003"/>
                    </a:ext>
                  </a:extLst>
                </a:gridCol>
              </a:tblGrid>
              <a:tr h="497084">
                <a:tc>
                  <a:txBody>
                    <a:bodyPr/>
                    <a:lstStyle/>
                    <a:p>
                      <a:pPr algn="ctr">
                        <a:lnSpc>
                          <a:spcPct val="150000"/>
                        </a:lnSpc>
                        <a:spcAft>
                          <a:spcPts val="0"/>
                        </a:spcAft>
                      </a:pPr>
                      <a:endParaRPr lang="zh-CN" sz="2200" b="1"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2200" b="1" kern="0">
                          <a:solidFill>
                            <a:srgbClr val="000000"/>
                          </a:solidFill>
                          <a:latin typeface="Times New Roman"/>
                          <a:ea typeface="宋体"/>
                          <a:cs typeface="宋体"/>
                        </a:rPr>
                        <a:t>考察内容</a:t>
                      </a:r>
                      <a:endParaRPr lang="zh-CN" sz="2200" b="1"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2200" b="1" kern="0">
                          <a:solidFill>
                            <a:srgbClr val="000000"/>
                          </a:solidFill>
                          <a:latin typeface="Times New Roman"/>
                          <a:ea typeface="宋体"/>
                          <a:cs typeface="宋体"/>
                        </a:rPr>
                        <a:t>考察方式</a:t>
                      </a:r>
                      <a:endParaRPr lang="zh-CN" sz="2200" b="1"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2200" b="1" kern="0">
                          <a:solidFill>
                            <a:srgbClr val="000000"/>
                          </a:solidFill>
                          <a:latin typeface="Times New Roman"/>
                          <a:ea typeface="宋体"/>
                          <a:cs typeface="宋体"/>
                        </a:rPr>
                        <a:t>分值</a:t>
                      </a:r>
                      <a:endParaRPr lang="zh-CN" sz="2200" b="1"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622582">
                <a:tc>
                  <a:txBody>
                    <a:bodyPr/>
                    <a:lstStyle/>
                    <a:p>
                      <a:pPr algn="ctr">
                        <a:lnSpc>
                          <a:spcPct val="150000"/>
                        </a:lnSpc>
                        <a:spcAft>
                          <a:spcPts val="0"/>
                        </a:spcAft>
                      </a:pPr>
                      <a:r>
                        <a:rPr lang="zh-CN" sz="2200" b="1" kern="0" dirty="0" smtClean="0">
                          <a:solidFill>
                            <a:srgbClr val="000000"/>
                          </a:solidFill>
                          <a:latin typeface="Times New Roman"/>
                          <a:ea typeface="宋体"/>
                          <a:cs typeface="宋体"/>
                        </a:rPr>
                        <a:t>平时</a:t>
                      </a:r>
                      <a:endParaRPr lang="zh-CN" sz="2200" b="1"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2200" b="1" kern="0" dirty="0" smtClean="0">
                          <a:solidFill>
                            <a:srgbClr val="000000"/>
                          </a:solidFill>
                          <a:latin typeface="Times New Roman"/>
                          <a:ea typeface="宋体"/>
                          <a:cs typeface="宋体"/>
                        </a:rPr>
                        <a:t>课外作业</a:t>
                      </a:r>
                      <a:r>
                        <a:rPr lang="zh-CN" altLang="en-US" sz="2200" b="1" kern="0" dirty="0" smtClean="0">
                          <a:solidFill>
                            <a:srgbClr val="000000"/>
                          </a:solidFill>
                          <a:latin typeface="Times New Roman"/>
                          <a:ea typeface="宋体"/>
                          <a:cs typeface="宋体"/>
                        </a:rPr>
                        <a:t>、</a:t>
                      </a:r>
                      <a:endParaRPr lang="en-US" sz="2200" b="1" kern="0" dirty="0" smtClean="0">
                        <a:solidFill>
                          <a:srgbClr val="000000"/>
                        </a:solidFill>
                        <a:latin typeface="Times New Roman"/>
                        <a:ea typeface="宋体"/>
                        <a:cs typeface="宋体"/>
                      </a:endParaRPr>
                    </a:p>
                    <a:p>
                      <a:pPr algn="ctr">
                        <a:lnSpc>
                          <a:spcPct val="150000"/>
                        </a:lnSpc>
                        <a:spcAft>
                          <a:spcPts val="0"/>
                        </a:spcAft>
                      </a:pPr>
                      <a:r>
                        <a:rPr lang="zh-CN" sz="2200" b="1" kern="0" dirty="0" smtClean="0">
                          <a:solidFill>
                            <a:srgbClr val="000000"/>
                          </a:solidFill>
                          <a:latin typeface="Times New Roman"/>
                          <a:ea typeface="宋体"/>
                          <a:cs typeface="宋体"/>
                        </a:rPr>
                        <a:t>课堂表现</a:t>
                      </a:r>
                      <a:r>
                        <a:rPr lang="zh-CN" altLang="en-US" sz="2200" b="1" kern="0" dirty="0" smtClean="0">
                          <a:solidFill>
                            <a:srgbClr val="000000"/>
                          </a:solidFill>
                          <a:latin typeface="Times New Roman"/>
                          <a:ea typeface="宋体"/>
                          <a:cs typeface="宋体"/>
                        </a:rPr>
                        <a:t>等</a:t>
                      </a:r>
                      <a:endParaRPr lang="zh-CN" sz="2200" b="1"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2200" b="1" kern="0" dirty="0">
                          <a:solidFill>
                            <a:srgbClr val="000000"/>
                          </a:solidFill>
                          <a:latin typeface="Times New Roman"/>
                          <a:ea typeface="宋体"/>
                          <a:cs typeface="宋体"/>
                        </a:rPr>
                        <a:t>课后作业（纸</a:t>
                      </a:r>
                      <a:r>
                        <a:rPr lang="zh-CN" sz="2200" b="1" kern="0" dirty="0" smtClean="0">
                          <a:solidFill>
                            <a:srgbClr val="000000"/>
                          </a:solidFill>
                          <a:latin typeface="Times New Roman"/>
                          <a:ea typeface="宋体"/>
                          <a:cs typeface="宋体"/>
                        </a:rPr>
                        <a:t>质</a:t>
                      </a:r>
                      <a:r>
                        <a:rPr lang="zh-CN" altLang="en-US" sz="2200" b="1" kern="0" dirty="0" smtClean="0">
                          <a:solidFill>
                            <a:srgbClr val="000000"/>
                          </a:solidFill>
                          <a:latin typeface="Times New Roman"/>
                          <a:ea typeface="宋体"/>
                          <a:cs typeface="宋体"/>
                        </a:rPr>
                        <a:t>或电子</a:t>
                      </a:r>
                      <a:r>
                        <a:rPr lang="zh-CN" altLang="en-US" sz="2200" b="1" kern="0" dirty="0" smtClean="0">
                          <a:solidFill>
                            <a:srgbClr val="000000"/>
                          </a:solidFill>
                          <a:latin typeface="Times New Roman"/>
                          <a:ea typeface="+mn-ea"/>
                          <a:cs typeface="宋体"/>
                        </a:rPr>
                        <a:t>稿，网上测试</a:t>
                      </a:r>
                      <a:r>
                        <a:rPr lang="zh-CN" sz="2200" b="1" kern="0" dirty="0" smtClean="0">
                          <a:solidFill>
                            <a:srgbClr val="000000"/>
                          </a:solidFill>
                          <a:latin typeface="Times New Roman"/>
                          <a:ea typeface="宋体"/>
                          <a:cs typeface="宋体"/>
                        </a:rPr>
                        <a:t>），</a:t>
                      </a:r>
                      <a:r>
                        <a:rPr lang="zh-CN" altLang="en-US" sz="2200" b="1" kern="0" dirty="0" smtClean="0">
                          <a:solidFill>
                            <a:srgbClr val="000000"/>
                          </a:solidFill>
                          <a:latin typeface="Times New Roman"/>
                          <a:ea typeface="宋体"/>
                          <a:cs typeface="宋体"/>
                        </a:rPr>
                        <a:t>每次</a:t>
                      </a:r>
                      <a:r>
                        <a:rPr lang="zh-CN" sz="2200" b="1" kern="0" dirty="0" smtClean="0">
                          <a:solidFill>
                            <a:srgbClr val="000000"/>
                          </a:solidFill>
                          <a:latin typeface="Times New Roman"/>
                          <a:ea typeface="宋体"/>
                          <a:cs typeface="宋体"/>
                        </a:rPr>
                        <a:t>按时</a:t>
                      </a:r>
                      <a:r>
                        <a:rPr lang="zh-CN" altLang="en-US" sz="2200" b="1" kern="0" dirty="0" smtClean="0">
                          <a:solidFill>
                            <a:srgbClr val="000000"/>
                          </a:solidFill>
                          <a:latin typeface="Times New Roman"/>
                          <a:ea typeface="宋体"/>
                          <a:cs typeface="宋体"/>
                        </a:rPr>
                        <a:t>提交；</a:t>
                      </a:r>
                      <a:endParaRPr lang="en-US" altLang="zh-CN" sz="2200" b="1" kern="0" dirty="0" smtClean="0">
                        <a:solidFill>
                          <a:srgbClr val="000000"/>
                        </a:solidFill>
                        <a:latin typeface="Times New Roman"/>
                        <a:ea typeface="宋体"/>
                        <a:cs typeface="宋体"/>
                      </a:endParaRPr>
                    </a:p>
                    <a:p>
                      <a:pPr algn="l">
                        <a:lnSpc>
                          <a:spcPct val="150000"/>
                        </a:lnSpc>
                        <a:spcAft>
                          <a:spcPts val="0"/>
                        </a:spcAft>
                      </a:pPr>
                      <a:r>
                        <a:rPr lang="zh-CN" sz="2200" b="1" kern="0" dirty="0" smtClean="0">
                          <a:solidFill>
                            <a:srgbClr val="000000"/>
                          </a:solidFill>
                          <a:latin typeface="Times New Roman"/>
                          <a:ea typeface="宋体"/>
                          <a:cs typeface="宋体"/>
                        </a:rPr>
                        <a:t>课堂</a:t>
                      </a:r>
                      <a:r>
                        <a:rPr lang="zh-CN" sz="2200" b="1" kern="0" dirty="0">
                          <a:solidFill>
                            <a:srgbClr val="000000"/>
                          </a:solidFill>
                          <a:latin typeface="Times New Roman"/>
                          <a:ea typeface="宋体"/>
                          <a:cs typeface="宋体"/>
                        </a:rPr>
                        <a:t>回答与出勤</a:t>
                      </a:r>
                      <a:r>
                        <a:rPr lang="zh-CN" sz="2200" b="1" kern="0" dirty="0" smtClean="0">
                          <a:solidFill>
                            <a:srgbClr val="000000"/>
                          </a:solidFill>
                          <a:latin typeface="Times New Roman"/>
                          <a:ea typeface="宋体"/>
                          <a:cs typeface="宋体"/>
                        </a:rPr>
                        <a:t>记录</a:t>
                      </a:r>
                      <a:r>
                        <a:rPr lang="zh-CN" altLang="en-US" sz="2200" b="1" kern="0" dirty="0" smtClean="0">
                          <a:solidFill>
                            <a:srgbClr val="000000"/>
                          </a:solidFill>
                          <a:latin typeface="Times New Roman"/>
                          <a:ea typeface="宋体"/>
                          <a:cs typeface="宋体"/>
                        </a:rPr>
                        <a:t>。</a:t>
                      </a:r>
                      <a:endParaRPr lang="zh-CN" sz="2200" b="1"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400" b="1" kern="0" dirty="0">
                          <a:solidFill>
                            <a:srgbClr val="C00000"/>
                          </a:solidFill>
                          <a:latin typeface="宋体"/>
                          <a:ea typeface="宋体"/>
                          <a:cs typeface="宋体"/>
                        </a:rPr>
                        <a:t>40</a:t>
                      </a:r>
                      <a:endParaRPr lang="zh-CN" sz="2400" b="1" kern="100" dirty="0">
                        <a:solidFill>
                          <a:srgbClr val="C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7" name="表格 6"/>
          <p:cNvGraphicFramePr>
            <a:graphicFrameLocks noGrp="1"/>
          </p:cNvGraphicFramePr>
          <p:nvPr/>
        </p:nvGraphicFramePr>
        <p:xfrm>
          <a:off x="395536" y="5373216"/>
          <a:ext cx="8358246" cy="548640"/>
        </p:xfrm>
        <a:graphic>
          <a:graphicData uri="http://schemas.openxmlformats.org/drawingml/2006/table">
            <a:tbl>
              <a:tblPr/>
              <a:tblGrid>
                <a:gridCol w="857256">
                  <a:extLst>
                    <a:ext uri="{9D8B030D-6E8A-4147-A177-3AD203B41FA5}">
                      <a16:colId xmlns:a16="http://schemas.microsoft.com/office/drawing/2014/main" val="20000"/>
                    </a:ext>
                  </a:extLst>
                </a:gridCol>
                <a:gridCol w="2214578">
                  <a:extLst>
                    <a:ext uri="{9D8B030D-6E8A-4147-A177-3AD203B41FA5}">
                      <a16:colId xmlns:a16="http://schemas.microsoft.com/office/drawing/2014/main" val="20001"/>
                    </a:ext>
                  </a:extLst>
                </a:gridCol>
                <a:gridCol w="4236912">
                  <a:extLst>
                    <a:ext uri="{9D8B030D-6E8A-4147-A177-3AD203B41FA5}">
                      <a16:colId xmlns:a16="http://schemas.microsoft.com/office/drawing/2014/main" val="20002"/>
                    </a:ext>
                  </a:extLst>
                </a:gridCol>
                <a:gridCol w="1049500">
                  <a:extLst>
                    <a:ext uri="{9D8B030D-6E8A-4147-A177-3AD203B41FA5}">
                      <a16:colId xmlns:a16="http://schemas.microsoft.com/office/drawing/2014/main" val="20003"/>
                    </a:ext>
                  </a:extLst>
                </a:gridCol>
              </a:tblGrid>
              <a:tr h="493234">
                <a:tc>
                  <a:txBody>
                    <a:bodyPr/>
                    <a:lstStyle/>
                    <a:p>
                      <a:pPr algn="ctr">
                        <a:lnSpc>
                          <a:spcPct val="150000"/>
                        </a:lnSpc>
                        <a:spcAft>
                          <a:spcPts val="0"/>
                        </a:spcAft>
                      </a:pPr>
                      <a:r>
                        <a:rPr lang="zh-CN" sz="2200" b="1" kern="0" dirty="0" smtClean="0">
                          <a:solidFill>
                            <a:srgbClr val="000000"/>
                          </a:solidFill>
                          <a:latin typeface="Times New Roman"/>
                          <a:ea typeface="宋体"/>
                          <a:cs typeface="宋体"/>
                        </a:rPr>
                        <a:t>期末</a:t>
                      </a:r>
                      <a:endParaRPr lang="zh-CN" sz="2200" b="1"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zh-CN" sz="2200" b="1" kern="0" dirty="0" smtClean="0">
                          <a:solidFill>
                            <a:srgbClr val="000000"/>
                          </a:solidFill>
                          <a:latin typeface="Times New Roman"/>
                          <a:ea typeface="宋体"/>
                          <a:cs typeface="宋体"/>
                        </a:rPr>
                        <a:t>教学</a:t>
                      </a:r>
                      <a:r>
                        <a:rPr lang="zh-CN" altLang="en-US" sz="2200" b="1" kern="0" dirty="0" smtClean="0">
                          <a:solidFill>
                            <a:srgbClr val="000000"/>
                          </a:solidFill>
                          <a:latin typeface="Times New Roman"/>
                          <a:ea typeface="宋体"/>
                          <a:cs typeface="宋体"/>
                        </a:rPr>
                        <a:t>大纲</a:t>
                      </a:r>
                      <a:r>
                        <a:rPr lang="zh-CN" sz="2200" b="1" kern="0" dirty="0" smtClean="0">
                          <a:solidFill>
                            <a:srgbClr val="000000"/>
                          </a:solidFill>
                          <a:latin typeface="Times New Roman"/>
                          <a:ea typeface="宋体"/>
                          <a:cs typeface="宋体"/>
                        </a:rPr>
                        <a:t>内容</a:t>
                      </a:r>
                      <a:endParaRPr lang="zh-CN" sz="2200" b="1"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50000"/>
                        </a:lnSpc>
                        <a:spcAft>
                          <a:spcPts val="0"/>
                        </a:spcAft>
                      </a:pPr>
                      <a:r>
                        <a:rPr lang="zh-CN" sz="2200" b="1" kern="0" dirty="0">
                          <a:solidFill>
                            <a:srgbClr val="000000"/>
                          </a:solidFill>
                          <a:latin typeface="Times New Roman"/>
                          <a:ea typeface="宋体"/>
                          <a:cs typeface="宋体"/>
                        </a:rPr>
                        <a:t>闭卷考试，统一考试</a:t>
                      </a:r>
                      <a:endParaRPr lang="zh-CN" sz="2200" b="1"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400" b="1" kern="0" dirty="0">
                          <a:solidFill>
                            <a:srgbClr val="C00000"/>
                          </a:solidFill>
                          <a:latin typeface="宋体"/>
                          <a:ea typeface="宋体"/>
                          <a:cs typeface="宋体"/>
                        </a:rPr>
                        <a:t>60</a:t>
                      </a:r>
                      <a:endParaRPr lang="zh-CN" sz="2400" b="1" kern="100" dirty="0">
                        <a:solidFill>
                          <a:srgbClr val="C00000"/>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8" name="灯片编号占位符 7"/>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74</a:t>
            </a:fld>
            <a:endParaRPr lang="en-US" altLang="zh-CN" dirty="0">
              <a:solidFill>
                <a:srgbClr val="545472"/>
              </a:solidFill>
            </a:endParaRPr>
          </a:p>
        </p:txBody>
      </p:sp>
    </p:spTree>
    <p:extLst>
      <p:ext uri="{BB962C8B-B14F-4D97-AF65-F5344CB8AC3E}">
        <p14:creationId xmlns:p14="http://schemas.microsoft.com/office/powerpoint/2010/main" val="136548948"/>
      </p:ext>
    </p:extLst>
  </p:cSld>
  <p:clrMapOvr>
    <a:masterClrMapping/>
  </p:clrMapOvr>
  <p:transition>
    <p:wipe dir="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标题 1"/>
          <p:cNvSpPr>
            <a:spLocks noGrp="1"/>
          </p:cNvSpPr>
          <p:nvPr>
            <p:ph type="title"/>
          </p:nvPr>
        </p:nvSpPr>
        <p:spPr>
          <a:xfrm>
            <a:off x="755576" y="188640"/>
            <a:ext cx="7772400" cy="990600"/>
          </a:xfrm>
        </p:spPr>
        <p:txBody>
          <a:bodyPr/>
          <a:lstStyle/>
          <a:p>
            <a:r>
              <a:rPr lang="zh-CN" altLang="en-US" dirty="0" smtClean="0"/>
              <a:t>阅读与思考</a:t>
            </a:r>
          </a:p>
        </p:txBody>
      </p:sp>
      <p:sp>
        <p:nvSpPr>
          <p:cNvPr id="3" name="内容占位符 2"/>
          <p:cNvSpPr>
            <a:spLocks noGrp="1"/>
          </p:cNvSpPr>
          <p:nvPr>
            <p:ph idx="1"/>
          </p:nvPr>
        </p:nvSpPr>
        <p:spPr>
          <a:xfrm>
            <a:off x="467544" y="1268761"/>
            <a:ext cx="8247831" cy="5017740"/>
          </a:xfrm>
        </p:spPr>
        <p:txBody>
          <a:bodyPr/>
          <a:lstStyle/>
          <a:p>
            <a:pPr>
              <a:spcBef>
                <a:spcPts val="1200"/>
              </a:spcBef>
              <a:defRPr/>
            </a:pPr>
            <a:r>
              <a:rPr lang="zh-CN" altLang="en-US" sz="2800" b="0" dirty="0" smtClean="0">
                <a:solidFill>
                  <a:srgbClr val="000000"/>
                </a:solidFill>
              </a:rPr>
              <a:t>国家统计局</a:t>
            </a:r>
            <a:r>
              <a:rPr lang="en-US" altLang="zh-CN" sz="2400" dirty="0" smtClean="0">
                <a:solidFill>
                  <a:srgbClr val="0070C0"/>
                </a:solidFill>
              </a:rPr>
              <a:t>《</a:t>
            </a:r>
            <a:r>
              <a:rPr lang="zh-CN" altLang="en-US" sz="2400" dirty="0" smtClean="0">
                <a:solidFill>
                  <a:srgbClr val="0070C0"/>
                </a:solidFill>
              </a:rPr>
              <a:t>国民经济与社会发展统计公报</a:t>
            </a:r>
            <a:r>
              <a:rPr lang="en-US" altLang="zh-CN" sz="2400" dirty="0" smtClean="0">
                <a:solidFill>
                  <a:srgbClr val="0070C0"/>
                </a:solidFill>
              </a:rPr>
              <a:t>》</a:t>
            </a:r>
            <a:r>
              <a:rPr lang="en-US" altLang="zh-CN" sz="2400" b="0" dirty="0" smtClean="0">
                <a:solidFill>
                  <a:srgbClr val="0070C0"/>
                </a:solidFill>
              </a:rPr>
              <a:t>2024.02</a:t>
            </a:r>
          </a:p>
          <a:p>
            <a:pPr lvl="1">
              <a:spcBef>
                <a:spcPts val="1200"/>
              </a:spcBef>
              <a:defRPr/>
            </a:pPr>
            <a:r>
              <a:rPr lang="zh-CN" altLang="en-US" sz="2000" dirty="0" smtClean="0">
                <a:solidFill>
                  <a:schemeClr val="accent4"/>
                </a:solidFill>
              </a:rPr>
              <a:t>体会统计的分析研究具有哪些特点？研究报告是运用哪些统计研究的基本方法取得的成果？</a:t>
            </a:r>
            <a:endParaRPr lang="en-US" altLang="zh-CN" sz="2000" dirty="0" smtClean="0">
              <a:solidFill>
                <a:schemeClr val="accent4"/>
              </a:solidFill>
            </a:endParaRPr>
          </a:p>
          <a:p>
            <a:pPr lvl="1">
              <a:spcBef>
                <a:spcPts val="1200"/>
              </a:spcBef>
              <a:defRPr/>
            </a:pPr>
            <a:r>
              <a:rPr lang="zh-CN" altLang="en-US" sz="2000" dirty="0" smtClean="0">
                <a:solidFill>
                  <a:schemeClr val="accent4"/>
                </a:solidFill>
              </a:rPr>
              <a:t>国民经济统计指标体系至少包括了哪几大方面的统计指标？从中举几个例子来说明每个统计指标包括了哪些构成因素，并体会怎样在分析报告中运用统计指标的信息、理解统计指标具有可量性和综合性两个特点</a:t>
            </a:r>
            <a:r>
              <a:rPr lang="en-US" altLang="zh-CN" sz="2000" dirty="0" smtClean="0">
                <a:solidFill>
                  <a:schemeClr val="accent4"/>
                </a:solidFill>
              </a:rPr>
              <a:t>.</a:t>
            </a:r>
          </a:p>
          <a:p>
            <a:r>
              <a:rPr lang="zh-CN" altLang="zh-CN" sz="2800" b="0" dirty="0" smtClean="0">
                <a:solidFill>
                  <a:srgbClr val="000000"/>
                </a:solidFill>
              </a:rPr>
              <a:t>李金昌</a:t>
            </a:r>
            <a:r>
              <a:rPr lang="en-US" altLang="zh-CN" sz="2800" b="0" dirty="0" smtClean="0">
                <a:solidFill>
                  <a:srgbClr val="000000"/>
                </a:solidFill>
              </a:rPr>
              <a:t>:  </a:t>
            </a:r>
            <a:r>
              <a:rPr lang="zh-CN" altLang="zh-CN" sz="2600" dirty="0" smtClean="0">
                <a:solidFill>
                  <a:srgbClr val="0070C0"/>
                </a:solidFill>
              </a:rPr>
              <a:t>说文解字“统”与“计”</a:t>
            </a:r>
            <a:r>
              <a:rPr lang="en-US" altLang="zh-CN" sz="2000" b="0" dirty="0" smtClean="0">
                <a:solidFill>
                  <a:srgbClr val="000000"/>
                </a:solidFill>
              </a:rPr>
              <a:t>(</a:t>
            </a:r>
            <a:r>
              <a:rPr lang="zh-CN" altLang="en-US" sz="2000" b="0" dirty="0" smtClean="0">
                <a:solidFill>
                  <a:srgbClr val="000000"/>
                </a:solidFill>
              </a:rPr>
              <a:t>学习通</a:t>
            </a:r>
            <a:r>
              <a:rPr lang="en-US" altLang="zh-CN" sz="2000" b="0" dirty="0" smtClean="0">
                <a:solidFill>
                  <a:srgbClr val="000000"/>
                </a:solidFill>
              </a:rPr>
              <a:t>)</a:t>
            </a:r>
            <a:endParaRPr lang="en-US" altLang="zh-CN" sz="2800" b="0" dirty="0" smtClean="0">
              <a:solidFill>
                <a:srgbClr val="000000"/>
              </a:solidFill>
            </a:endParaRPr>
          </a:p>
          <a:p>
            <a:pPr>
              <a:spcBef>
                <a:spcPts val="1200"/>
              </a:spcBef>
              <a:defRPr/>
            </a:pPr>
            <a:r>
              <a:rPr lang="zh-CN" altLang="zh-CN" sz="2800" b="0" dirty="0" smtClean="0">
                <a:solidFill>
                  <a:srgbClr val="000000"/>
                </a:solidFill>
              </a:rPr>
              <a:t>高敏雪</a:t>
            </a:r>
            <a:r>
              <a:rPr lang="zh-CN" altLang="en-US" sz="2800" b="0" dirty="0" smtClean="0">
                <a:solidFill>
                  <a:srgbClr val="000000"/>
                </a:solidFill>
              </a:rPr>
              <a:t>：</a:t>
            </a:r>
            <a:r>
              <a:rPr lang="zh-CN" altLang="zh-CN" sz="2800" dirty="0" smtClean="0">
                <a:solidFill>
                  <a:srgbClr val="0070C0"/>
                </a:solidFill>
              </a:rPr>
              <a:t>政府统计应该“统”什么</a:t>
            </a:r>
            <a:endParaRPr lang="en-US" altLang="zh-CN" sz="2800" b="0" dirty="0" smtClean="0">
              <a:solidFill>
                <a:srgbClr val="0070C0"/>
              </a:solidFill>
            </a:endParaRPr>
          </a:p>
          <a:p>
            <a:pPr>
              <a:spcBef>
                <a:spcPts val="1200"/>
              </a:spcBef>
              <a:defRPr/>
            </a:pPr>
            <a:r>
              <a:rPr lang="zh-CN" altLang="en-US" sz="2400" b="0" dirty="0" smtClean="0">
                <a:solidFill>
                  <a:srgbClr val="000000"/>
                </a:solidFill>
              </a:rPr>
              <a:t>清华大学统计学研究中心主任</a:t>
            </a:r>
            <a:r>
              <a:rPr lang="zh-CN" altLang="en-US" sz="2400" dirty="0" smtClean="0">
                <a:solidFill>
                  <a:srgbClr val="000000"/>
                </a:solidFill>
              </a:rPr>
              <a:t>刘军</a:t>
            </a:r>
            <a:r>
              <a:rPr lang="en-US" altLang="zh-CN" sz="2400" dirty="0" smtClean="0">
                <a:solidFill>
                  <a:srgbClr val="000000"/>
                </a:solidFill>
              </a:rPr>
              <a:t>. </a:t>
            </a:r>
            <a:r>
              <a:rPr lang="zh-CN" altLang="en-US" sz="2400" dirty="0" smtClean="0">
                <a:solidFill>
                  <a:srgbClr val="0070C0"/>
                </a:solidFill>
              </a:rPr>
              <a:t>大数据时代 </a:t>
            </a:r>
            <a:r>
              <a:rPr lang="en-US" altLang="zh-CN" sz="2400" dirty="0" smtClean="0">
                <a:solidFill>
                  <a:srgbClr val="0070C0"/>
                </a:solidFill>
              </a:rPr>
              <a:t> </a:t>
            </a:r>
            <a:r>
              <a:rPr lang="zh-CN" altLang="en-US" sz="2400" dirty="0" smtClean="0">
                <a:solidFill>
                  <a:srgbClr val="0070C0"/>
                </a:solidFill>
              </a:rPr>
              <a:t>统计学依然是数据分析灵魂</a:t>
            </a:r>
            <a:r>
              <a:rPr lang="en-US" altLang="zh-CN" sz="2400" dirty="0" smtClean="0">
                <a:solidFill>
                  <a:srgbClr val="0070C0"/>
                </a:solidFill>
              </a:rPr>
              <a:t>.</a:t>
            </a:r>
            <a:r>
              <a:rPr lang="zh-CN" altLang="en-US" sz="2000" b="0" dirty="0" smtClean="0">
                <a:solidFill>
                  <a:srgbClr val="000000"/>
                </a:solidFill>
              </a:rPr>
              <a:t>量化研究方法 </a:t>
            </a:r>
            <a:r>
              <a:rPr lang="en-US" altLang="zh-CN" sz="2000" b="0" dirty="0" smtClean="0">
                <a:solidFill>
                  <a:srgbClr val="000000"/>
                </a:solidFill>
              </a:rPr>
              <a:t>2017-02</a:t>
            </a:r>
            <a:r>
              <a:rPr lang="zh-CN" altLang="en-US" sz="2000" b="0" dirty="0" smtClean="0">
                <a:solidFill>
                  <a:srgbClr val="000000"/>
                </a:solidFill>
              </a:rPr>
              <a:t>。</a:t>
            </a:r>
            <a:endParaRPr lang="en-US" altLang="zh-CN" sz="2800" dirty="0" smtClean="0">
              <a:solidFill>
                <a:srgbClr val="0099FF"/>
              </a:solidFill>
            </a:endParaRPr>
          </a:p>
          <a:p>
            <a:pPr>
              <a:spcBef>
                <a:spcPts val="1200"/>
              </a:spcBef>
              <a:defRPr/>
            </a:pPr>
            <a:endParaRPr lang="en-US" altLang="zh-CN" sz="2800" dirty="0" smtClean="0">
              <a:solidFill>
                <a:srgbClr val="0099FF"/>
              </a:solidFill>
            </a:endParaRPr>
          </a:p>
          <a:p>
            <a:pPr lvl="1">
              <a:spcBef>
                <a:spcPts val="1200"/>
              </a:spcBef>
              <a:defRPr/>
            </a:pPr>
            <a:endParaRPr lang="en-US" altLang="zh-CN" sz="2400" dirty="0" smtClean="0">
              <a:solidFill>
                <a:schemeClr val="accent4"/>
              </a:solidFill>
            </a:endParaRPr>
          </a:p>
          <a:p>
            <a:pPr>
              <a:spcBef>
                <a:spcPts val="1200"/>
              </a:spcBef>
              <a:defRPr/>
            </a:pPr>
            <a:endParaRPr lang="zh-CN" altLang="en-US" sz="2800" dirty="0" smtClean="0">
              <a:solidFill>
                <a:schemeClr val="accent4"/>
              </a:solidFill>
            </a:endParaRPr>
          </a:p>
          <a:p>
            <a:pPr marL="914400" lvl="1" indent="-514350">
              <a:spcBef>
                <a:spcPts val="1200"/>
              </a:spcBef>
              <a:buFontTx/>
              <a:buNone/>
              <a:defRPr/>
            </a:pPr>
            <a:endParaRPr lang="zh-CN" altLang="en-US" sz="2400" dirty="0">
              <a:solidFill>
                <a:schemeClr val="accent4"/>
              </a:solidFill>
            </a:endParaRPr>
          </a:p>
        </p:txBody>
      </p:sp>
      <p:sp>
        <p:nvSpPr>
          <p:cNvPr id="4" name="灯片编号占位符 3"/>
          <p:cNvSpPr>
            <a:spLocks noGrp="1"/>
          </p:cNvSpPr>
          <p:nvPr>
            <p:ph type="sldNum" sz="quarter" idx="12"/>
          </p:nvPr>
        </p:nvSpPr>
        <p:spPr/>
        <p:txBody>
          <a:bodyPr/>
          <a:lstStyle/>
          <a:p>
            <a:pPr>
              <a:defRPr/>
            </a:pPr>
            <a:fld id="{C1467358-15B4-4F20-B401-AEDE43D029E2}" type="slidenum">
              <a:rPr lang="en-US" altLang="zh-CN" smtClean="0">
                <a:solidFill>
                  <a:srgbClr val="545472"/>
                </a:solidFill>
              </a:rPr>
              <a:pPr>
                <a:defRPr/>
              </a:pPr>
              <a:t>75</a:t>
            </a:fld>
            <a:endParaRPr lang="en-US" altLang="zh-CN" dirty="0">
              <a:solidFill>
                <a:srgbClr val="545472"/>
              </a:solidFill>
            </a:endParaRPr>
          </a:p>
        </p:txBody>
      </p:sp>
    </p:spTree>
  </p:cSld>
  <p:clrMapOvr>
    <a:masterClrMapping/>
  </p:clrMapOvr>
  <p:transition>
    <p:wipe dir="r"/>
  </p:transition>
  <p:timing>
    <p:tnLst>
      <p:par>
        <p:cTn id="1" dur="indefinite" restart="never" nodeType="tmRoot"/>
      </p:par>
    </p:tnLst>
  </p:timing>
</p:sld>
</file>

<file path=ppt/theme/theme1.xml><?xml version="1.0" encoding="utf-8"?>
<a:theme xmlns:a="http://schemas.openxmlformats.org/drawingml/2006/main" name="1_Sumi Painting">
  <a:themeElements>
    <a:clrScheme name="Sumi Painting 1">
      <a:dk1>
        <a:srgbClr val="545472"/>
      </a:dk1>
      <a:lt1>
        <a:srgbClr val="FFFFFF"/>
      </a:lt1>
      <a:dk2>
        <a:srgbClr val="660066"/>
      </a:dk2>
      <a:lt2>
        <a:srgbClr val="9797B7"/>
      </a:lt2>
      <a:accent1>
        <a:srgbClr val="A7CCD9"/>
      </a:accent1>
      <a:accent2>
        <a:srgbClr val="C7C7DF"/>
      </a:accent2>
      <a:accent3>
        <a:srgbClr val="FFFFFF"/>
      </a:accent3>
      <a:accent4>
        <a:srgbClr val="464660"/>
      </a:accent4>
      <a:accent5>
        <a:srgbClr val="D0E2E9"/>
      </a:accent5>
      <a:accent6>
        <a:srgbClr val="B4B4CA"/>
      </a:accent6>
      <a:hlink>
        <a:srgbClr val="9595FF"/>
      </a:hlink>
      <a:folHlink>
        <a:srgbClr val="8888AE"/>
      </a:folHlink>
    </a:clrScheme>
    <a:fontScheme name="Sumi Painting">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hlink"/>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90000"/>
          </a:lnSpc>
          <a:spcBef>
            <a:spcPct val="15000"/>
          </a:spcBef>
          <a:spcAft>
            <a:spcPct val="0"/>
          </a:spcAft>
          <a:buClr>
            <a:srgbClr val="FF3300"/>
          </a:buClr>
          <a:buSzPct val="70000"/>
          <a:buFont typeface="Wingdings" pitchFamily="2" charset="2"/>
          <a:buChar char="|"/>
          <a:tabLst/>
          <a:defRPr kumimoji="0" lang="zh-CN" altLang="en-US" sz="2800" b="1"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hlink"/>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90000"/>
          </a:lnSpc>
          <a:spcBef>
            <a:spcPct val="15000"/>
          </a:spcBef>
          <a:spcAft>
            <a:spcPct val="0"/>
          </a:spcAft>
          <a:buClr>
            <a:srgbClr val="FF3300"/>
          </a:buClr>
          <a:buSzPct val="70000"/>
          <a:buFont typeface="Wingdings" pitchFamily="2" charset="2"/>
          <a:buChar char="|"/>
          <a:tabLst/>
          <a:defRPr kumimoji="0" lang="zh-CN" altLang="en-US" sz="2800" b="1"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Sumi Painting 1">
        <a:dk1>
          <a:srgbClr val="545472"/>
        </a:dk1>
        <a:lt1>
          <a:srgbClr val="FFFFFF"/>
        </a:lt1>
        <a:dk2>
          <a:srgbClr val="660066"/>
        </a:dk2>
        <a:lt2>
          <a:srgbClr val="9797B7"/>
        </a:lt2>
        <a:accent1>
          <a:srgbClr val="A7CCD9"/>
        </a:accent1>
        <a:accent2>
          <a:srgbClr val="C7C7DF"/>
        </a:accent2>
        <a:accent3>
          <a:srgbClr val="FFFFFF"/>
        </a:accent3>
        <a:accent4>
          <a:srgbClr val="464660"/>
        </a:accent4>
        <a:accent5>
          <a:srgbClr val="D0E2E9"/>
        </a:accent5>
        <a:accent6>
          <a:srgbClr val="B4B4CA"/>
        </a:accent6>
        <a:hlink>
          <a:srgbClr val="9595FF"/>
        </a:hlink>
        <a:folHlink>
          <a:srgbClr val="8888AE"/>
        </a:folHlink>
      </a:clrScheme>
      <a:clrMap bg1="lt1" tx1="dk1" bg2="lt2" tx2="dk2" accent1="accent1" accent2="accent2" accent3="accent3" accent4="accent4" accent5="accent5" accent6="accent6" hlink="hlink" folHlink="folHlink"/>
    </a:extraClrScheme>
    <a:extraClrScheme>
      <a:clrScheme name="Sumi Painting 2">
        <a:dk1>
          <a:srgbClr val="545472"/>
        </a:dk1>
        <a:lt1>
          <a:srgbClr val="FFFFFF"/>
        </a:lt1>
        <a:dk2>
          <a:srgbClr val="892D5B"/>
        </a:dk2>
        <a:lt2>
          <a:srgbClr val="68A7BE"/>
        </a:lt2>
        <a:accent1>
          <a:srgbClr val="CAACCC"/>
        </a:accent1>
        <a:accent2>
          <a:srgbClr val="A7CCD9"/>
        </a:accent2>
        <a:accent3>
          <a:srgbClr val="FFFFFF"/>
        </a:accent3>
        <a:accent4>
          <a:srgbClr val="464660"/>
        </a:accent4>
        <a:accent5>
          <a:srgbClr val="E1D2E2"/>
        </a:accent5>
        <a:accent6>
          <a:srgbClr val="97B9C4"/>
        </a:accent6>
        <a:hlink>
          <a:srgbClr val="9595FF"/>
        </a:hlink>
        <a:folHlink>
          <a:srgbClr val="8888AE"/>
        </a:folHlink>
      </a:clrScheme>
      <a:clrMap bg1="lt1" tx1="dk1" bg2="lt2" tx2="dk2" accent1="accent1" accent2="accent2" accent3="accent3" accent4="accent4" accent5="accent5" accent6="accent6" hlink="hlink" folHlink="folHlink"/>
    </a:extraClrScheme>
    <a:extraClrScheme>
      <a:clrScheme name="Sumi Painting 3">
        <a:dk1>
          <a:srgbClr val="000000"/>
        </a:dk1>
        <a:lt1>
          <a:srgbClr val="FFFFFF"/>
        </a:lt1>
        <a:dk2>
          <a:srgbClr val="000000"/>
        </a:dk2>
        <a:lt2>
          <a:srgbClr val="333333"/>
        </a:lt2>
        <a:accent1>
          <a:srgbClr val="B2B2B2"/>
        </a:accent1>
        <a:accent2>
          <a:srgbClr val="DDDDDD"/>
        </a:accent2>
        <a:accent3>
          <a:srgbClr val="FFFFFF"/>
        </a:accent3>
        <a:accent4>
          <a:srgbClr val="000000"/>
        </a:accent4>
        <a:accent5>
          <a:srgbClr val="D5D5D5"/>
        </a:accent5>
        <a:accent6>
          <a:srgbClr val="C8C8C8"/>
        </a:accent6>
        <a:hlink>
          <a:srgbClr val="4D4D4D"/>
        </a:hlink>
        <a:folHlink>
          <a:srgbClr val="969696"/>
        </a:folHlink>
      </a:clrScheme>
      <a:clrMap bg1="lt1" tx1="dk1" bg2="lt2" tx2="dk2" accent1="accent1" accent2="accent2" accent3="accent3" accent4="accent4" accent5="accent5" accent6="accent6" hlink="hlink" folHlink="folHlink"/>
    </a:extraClrScheme>
    <a:extraClrScheme>
      <a:clrScheme name="Sumi Painting 4">
        <a:dk1>
          <a:srgbClr val="545472"/>
        </a:dk1>
        <a:lt1>
          <a:srgbClr val="FFFFFF"/>
        </a:lt1>
        <a:dk2>
          <a:srgbClr val="892D5B"/>
        </a:dk2>
        <a:lt2>
          <a:srgbClr val="AC3872"/>
        </a:lt2>
        <a:accent1>
          <a:srgbClr val="660066"/>
        </a:accent1>
        <a:accent2>
          <a:srgbClr val="E2A6C4"/>
        </a:accent2>
        <a:accent3>
          <a:srgbClr val="FFFFFF"/>
        </a:accent3>
        <a:accent4>
          <a:srgbClr val="464660"/>
        </a:accent4>
        <a:accent5>
          <a:srgbClr val="B8AAB8"/>
        </a:accent5>
        <a:accent6>
          <a:srgbClr val="CD96B1"/>
        </a:accent6>
        <a:hlink>
          <a:srgbClr val="8585FF"/>
        </a:hlink>
        <a:folHlink>
          <a:srgbClr val="563EE8"/>
        </a:folHlink>
      </a:clrScheme>
      <a:clrMap bg1="lt1" tx1="dk1" bg2="lt2" tx2="dk2" accent1="accent1" accent2="accent2" accent3="accent3" accent4="accent4" accent5="accent5" accent6="accent6" hlink="hlink" folHlink="folHlink"/>
    </a:extraClrScheme>
    <a:extraClrScheme>
      <a:clrScheme name="Sumi Painting 5">
        <a:dk1>
          <a:srgbClr val="545472"/>
        </a:dk1>
        <a:lt1>
          <a:srgbClr val="FFFFFF"/>
        </a:lt1>
        <a:dk2>
          <a:srgbClr val="892D5B"/>
        </a:dk2>
        <a:lt2>
          <a:srgbClr val="515BA7"/>
        </a:lt2>
        <a:accent1>
          <a:srgbClr val="8BD8E7"/>
        </a:accent1>
        <a:accent2>
          <a:srgbClr val="A5AAD3"/>
        </a:accent2>
        <a:accent3>
          <a:srgbClr val="FFFFFF"/>
        </a:accent3>
        <a:accent4>
          <a:srgbClr val="464660"/>
        </a:accent4>
        <a:accent5>
          <a:srgbClr val="C4E9F1"/>
        </a:accent5>
        <a:accent6>
          <a:srgbClr val="959ABF"/>
        </a:accent6>
        <a:hlink>
          <a:srgbClr val="B78AFA"/>
        </a:hlink>
        <a:folHlink>
          <a:srgbClr val="A0A5D0"/>
        </a:folHlink>
      </a:clrScheme>
      <a:clrMap bg1="lt1" tx1="dk1" bg2="lt2" tx2="dk2" accent1="accent1" accent2="accent2" accent3="accent3" accent4="accent4" accent5="accent5" accent6="accent6" hlink="hlink" folHlink="folHlink"/>
    </a:extraClrScheme>
    <a:extraClrScheme>
      <a:clrScheme name="Sumi Painting 6">
        <a:dk1>
          <a:srgbClr val="545472"/>
        </a:dk1>
        <a:lt1>
          <a:srgbClr val="FFFFFF"/>
        </a:lt1>
        <a:dk2>
          <a:srgbClr val="37467F"/>
        </a:dk2>
        <a:lt2>
          <a:srgbClr val="547A3C"/>
        </a:lt2>
        <a:accent1>
          <a:srgbClr val="8BD8E7"/>
        </a:accent1>
        <a:accent2>
          <a:srgbClr val="B7D3A5"/>
        </a:accent2>
        <a:accent3>
          <a:srgbClr val="FFFFFF"/>
        </a:accent3>
        <a:accent4>
          <a:srgbClr val="464660"/>
        </a:accent4>
        <a:accent5>
          <a:srgbClr val="C4E9F1"/>
        </a:accent5>
        <a:accent6>
          <a:srgbClr val="A6BF95"/>
        </a:accent6>
        <a:hlink>
          <a:srgbClr val="619147"/>
        </a:hlink>
        <a:folHlink>
          <a:srgbClr val="94BE7C"/>
        </a:folHlink>
      </a:clrScheme>
      <a:clrMap bg1="lt1" tx1="dk1" bg2="lt2" tx2="dk2" accent1="accent1" accent2="accent2" accent3="accent3" accent4="accent4" accent5="accent5" accent6="accent6" hlink="hlink" folHlink="folHlink"/>
    </a:extraClrScheme>
    <a:extraClrScheme>
      <a:clrScheme name="Sumi Painting 7">
        <a:dk1>
          <a:srgbClr val="545472"/>
        </a:dk1>
        <a:lt1>
          <a:srgbClr val="FFFFFF"/>
        </a:lt1>
        <a:dk2>
          <a:srgbClr val="655851"/>
        </a:dk2>
        <a:lt2>
          <a:srgbClr val="B49234"/>
        </a:lt2>
        <a:accent1>
          <a:srgbClr val="F8C684"/>
        </a:accent1>
        <a:accent2>
          <a:srgbClr val="E1CE97"/>
        </a:accent2>
        <a:accent3>
          <a:srgbClr val="FFFFFF"/>
        </a:accent3>
        <a:accent4>
          <a:srgbClr val="464660"/>
        </a:accent4>
        <a:accent5>
          <a:srgbClr val="FBDFC2"/>
        </a:accent5>
        <a:accent6>
          <a:srgbClr val="CCBA88"/>
        </a:accent6>
        <a:hlink>
          <a:srgbClr val="7C6148"/>
        </a:hlink>
        <a:folHlink>
          <a:srgbClr val="8E856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8554</TotalTime>
  <Words>5522</Words>
  <Application>Microsoft Office PowerPoint</Application>
  <PresentationFormat>全屏显示(4:3)</PresentationFormat>
  <Paragraphs>613</Paragraphs>
  <Slides>75</Slides>
  <Notes>18</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4</vt:i4>
      </vt:variant>
      <vt:variant>
        <vt:lpstr>幻灯片标题</vt:lpstr>
      </vt:variant>
      <vt:variant>
        <vt:i4>75</vt:i4>
      </vt:variant>
    </vt:vector>
  </HeadingPairs>
  <TitlesOfParts>
    <vt:vector size="95" baseType="lpstr">
      <vt:lpstr>BatangChe</vt:lpstr>
      <vt:lpstr>黑体</vt:lpstr>
      <vt:lpstr>华文隶书</vt:lpstr>
      <vt:lpstr>华文宋体</vt:lpstr>
      <vt:lpstr>华文行楷</vt:lpstr>
      <vt:lpstr>华文中宋</vt:lpstr>
      <vt:lpstr>隶书</vt:lpstr>
      <vt:lpstr>宋体</vt:lpstr>
      <vt:lpstr>微软雅黑</vt:lpstr>
      <vt:lpstr>圆体-简</vt:lpstr>
      <vt:lpstr>Arial</vt:lpstr>
      <vt:lpstr>Calibri</vt:lpstr>
      <vt:lpstr>Tahoma</vt:lpstr>
      <vt:lpstr>Times New Roman</vt:lpstr>
      <vt:lpstr>Wingdings</vt:lpstr>
      <vt:lpstr>1_Sumi Painting</vt:lpstr>
      <vt:lpstr>BMP 图象</vt:lpstr>
      <vt:lpstr>剪辑</vt:lpstr>
      <vt:lpstr>公式</vt:lpstr>
      <vt:lpstr>Equation</vt:lpstr>
      <vt:lpstr>统计学</vt:lpstr>
      <vt:lpstr>第 1 章  总  论</vt:lpstr>
      <vt:lpstr>1.1  为什么要学习统计学</vt:lpstr>
      <vt:lpstr>感悟统计</vt:lpstr>
      <vt:lpstr>PowerPoint 演示文稿</vt:lpstr>
      <vt:lpstr>中国国内生产总值及其增长速度</vt:lpstr>
      <vt:lpstr>PowerPoint 演示文稿</vt:lpstr>
      <vt:lpstr>疫情期间最受关注的统计数据</vt:lpstr>
      <vt:lpstr>死亡率？病死率？</vt:lpstr>
      <vt:lpstr>严重指数</vt:lpstr>
      <vt:lpstr>统计学是一门应用很广的学科</vt:lpstr>
      <vt:lpstr>统计与大数据</vt:lpstr>
      <vt:lpstr>大数据的4 V 特性</vt:lpstr>
      <vt:lpstr>大数据产业方兴未艾</vt:lpstr>
      <vt:lpstr>习近平：实施国家大数据战略加快建设数字中国</vt:lpstr>
      <vt:lpstr>企业家谈统计学</vt:lpstr>
      <vt:lpstr>诺奖得主谈统计学</vt:lpstr>
      <vt:lpstr>统计与人生</vt:lpstr>
      <vt:lpstr>统计的误用</vt:lpstr>
      <vt:lpstr>§1.2  什么是统计</vt:lpstr>
      <vt:lpstr>§1.2.1  统计学的类型</vt:lpstr>
      <vt:lpstr>统计工作</vt:lpstr>
      <vt:lpstr>PowerPoint 演示文稿</vt:lpstr>
      <vt:lpstr>统计研究的基本环节 </vt:lpstr>
      <vt:lpstr>统计资料</vt:lpstr>
      <vt:lpstr>统计学（statistics ）</vt:lpstr>
      <vt:lpstr>统计学的产生与主要学派</vt:lpstr>
      <vt:lpstr>§1.2.2  统计学的类型</vt:lpstr>
      <vt:lpstr>理论统计学</vt:lpstr>
      <vt:lpstr>应用统计学</vt:lpstr>
      <vt:lpstr>描述统计学</vt:lpstr>
      <vt:lpstr>推断统计学</vt:lpstr>
      <vt:lpstr>描述统计与推断统计的关系</vt:lpstr>
      <vt:lpstr>§1.2.3  统计的特点</vt:lpstr>
      <vt:lpstr>§1.2.3 统计的特点（续）</vt:lpstr>
      <vt:lpstr>§1.2.4 统计研究的基本方法</vt:lpstr>
      <vt:lpstr>图</vt:lpstr>
      <vt:lpstr>2．统计分组法</vt:lpstr>
      <vt:lpstr>3．综合分析法</vt:lpstr>
      <vt:lpstr>4．归纳推断法</vt:lpstr>
      <vt:lpstr>§1.3  统计学中的基本概念</vt:lpstr>
      <vt:lpstr>§1.3.1 总体、个体与样本</vt:lpstr>
      <vt:lpstr>例</vt:lpstr>
      <vt:lpstr>思考？</vt:lpstr>
      <vt:lpstr>总体的特点：</vt:lpstr>
      <vt:lpstr>PowerPoint 演示文稿</vt:lpstr>
      <vt:lpstr>§1.3.2 标志、指标与变量</vt:lpstr>
      <vt:lpstr>统计指标与指标体系 </vt:lpstr>
      <vt:lpstr>统计指标的两种分类</vt:lpstr>
      <vt:lpstr>数量指标与质量指标的比较（例）</vt:lpstr>
      <vt:lpstr>【附】统计指标的分类（续）</vt:lpstr>
      <vt:lpstr>统计指标体系</vt:lpstr>
      <vt:lpstr>例：经济发展新动能指标体系</vt:lpstr>
      <vt:lpstr>经济发展新动能指数统计指标体系</vt:lpstr>
      <vt:lpstr>PowerPoint 演示文稿</vt:lpstr>
      <vt:lpstr>中国创新指数</vt:lpstr>
      <vt:lpstr>PowerPoint 演示文稿</vt:lpstr>
      <vt:lpstr>指标与标志的关系</vt:lpstr>
      <vt:lpstr>PowerPoint 演示文稿</vt:lpstr>
      <vt:lpstr>变量（variable）</vt:lpstr>
      <vt:lpstr>变量的分类 </vt:lpstr>
      <vt:lpstr>如何理解诸概念之间的关系</vt:lpstr>
      <vt:lpstr>§1.3.3  统计数据的分类 和计量尺度</vt:lpstr>
      <vt:lpstr>数据的计量尺度</vt:lpstr>
      <vt:lpstr>定类尺度（名义尺度） （Nominal  Data）</vt:lpstr>
      <vt:lpstr>定序尺度（顺序尺度） （Ordinal  Data）  </vt:lpstr>
      <vt:lpstr>定距尺度（间隔尺度、区间尺度） （Interval Data）</vt:lpstr>
      <vt:lpstr>定比尺度（比率尺度）  （Ratio Data） </vt:lpstr>
      <vt:lpstr>四个计量尺度的主要特征</vt:lpstr>
      <vt:lpstr>§1.4  用EXCEL进行统计分析 </vt:lpstr>
      <vt:lpstr>本章小结</vt:lpstr>
      <vt:lpstr>如何学好统计</vt:lpstr>
      <vt:lpstr>参考书目</vt:lpstr>
      <vt:lpstr>学习要求与考试</vt:lpstr>
      <vt:lpstr>阅读与思考</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dc:title>
  <dc:creator>wqh</dc:creator>
  <cp:lastModifiedBy>Windows User</cp:lastModifiedBy>
  <cp:revision>854</cp:revision>
  <dcterms:created xsi:type="dcterms:W3CDTF">2004-02-16T15:57:20Z</dcterms:created>
  <dcterms:modified xsi:type="dcterms:W3CDTF">2024-03-01T03:35:52Z</dcterms:modified>
</cp:coreProperties>
</file>